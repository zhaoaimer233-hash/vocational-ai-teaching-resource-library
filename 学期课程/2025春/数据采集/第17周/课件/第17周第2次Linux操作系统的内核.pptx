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475" Type="http://schemas.openxmlformats.org/officeDocument/2006/relationships/slide" Target="slides/slide474.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slide" Target="slides/slide454.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466" Type="http://schemas.openxmlformats.org/officeDocument/2006/relationships/slide" Target="slides/slide465.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477" Type="http://schemas.openxmlformats.org/officeDocument/2006/relationships/notesMaster" Target="notesMasters/notesMaster1.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25" Type="http://schemas.openxmlformats.org/officeDocument/2006/relationships/slide" Target="slides/slide424.xml"/><Relationship Id="rId446" Type="http://schemas.openxmlformats.org/officeDocument/2006/relationships/slide" Target="slides/slide445.xml"/><Relationship Id="rId467" Type="http://schemas.openxmlformats.org/officeDocument/2006/relationships/slide" Target="slides/slide466.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slide" Target="slides/slide379.xml"/><Relationship Id="rId415" Type="http://schemas.openxmlformats.org/officeDocument/2006/relationships/slide" Target="slides/slide414.xml"/><Relationship Id="rId436" Type="http://schemas.openxmlformats.org/officeDocument/2006/relationships/slide" Target="slides/slide435.xml"/><Relationship Id="rId457" Type="http://schemas.openxmlformats.org/officeDocument/2006/relationships/slide" Target="slides/slide456.xml"/><Relationship Id="rId240" Type="http://schemas.openxmlformats.org/officeDocument/2006/relationships/slide" Target="slides/slide239.xml"/><Relationship Id="rId261" Type="http://schemas.openxmlformats.org/officeDocument/2006/relationships/slide" Target="slides/slide260.xml"/><Relationship Id="rId478" Type="http://schemas.openxmlformats.org/officeDocument/2006/relationships/presProps" Target="pres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391" Type="http://schemas.openxmlformats.org/officeDocument/2006/relationships/slide" Target="slides/slide390.xml"/><Relationship Id="rId405" Type="http://schemas.openxmlformats.org/officeDocument/2006/relationships/slide" Target="slides/slide404.xml"/><Relationship Id="rId426" Type="http://schemas.openxmlformats.org/officeDocument/2006/relationships/slide" Target="slides/slide425.xml"/><Relationship Id="rId447" Type="http://schemas.openxmlformats.org/officeDocument/2006/relationships/slide" Target="slides/slide446.xml"/><Relationship Id="rId230" Type="http://schemas.openxmlformats.org/officeDocument/2006/relationships/slide" Target="slides/slide229.xml"/><Relationship Id="rId251" Type="http://schemas.openxmlformats.org/officeDocument/2006/relationships/slide" Target="slides/slide250.xml"/><Relationship Id="rId468" Type="http://schemas.openxmlformats.org/officeDocument/2006/relationships/slide" Target="slides/slide467.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slide" Target="slides/slide380.xml"/><Relationship Id="rId416" Type="http://schemas.openxmlformats.org/officeDocument/2006/relationships/slide" Target="slides/slide415.xml"/><Relationship Id="rId220" Type="http://schemas.openxmlformats.org/officeDocument/2006/relationships/slide" Target="slides/slide219.xml"/><Relationship Id="rId241" Type="http://schemas.openxmlformats.org/officeDocument/2006/relationships/slide" Target="slides/slide240.xml"/><Relationship Id="rId437" Type="http://schemas.openxmlformats.org/officeDocument/2006/relationships/slide" Target="slides/slide436.xml"/><Relationship Id="rId458" Type="http://schemas.openxmlformats.org/officeDocument/2006/relationships/slide" Target="slides/slide457.xml"/><Relationship Id="rId479"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27" Type="http://schemas.openxmlformats.org/officeDocument/2006/relationships/slide" Target="slides/slide426.xml"/><Relationship Id="rId448" Type="http://schemas.openxmlformats.org/officeDocument/2006/relationships/slide" Target="slides/slide447.xml"/><Relationship Id="rId469" Type="http://schemas.openxmlformats.org/officeDocument/2006/relationships/slide" Target="slides/slide468.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80"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417" Type="http://schemas.openxmlformats.org/officeDocument/2006/relationships/slide" Target="slides/slide416.xml"/><Relationship Id="rId438" Type="http://schemas.openxmlformats.org/officeDocument/2006/relationships/slide" Target="slides/slide437.xml"/><Relationship Id="rId459" Type="http://schemas.openxmlformats.org/officeDocument/2006/relationships/slide" Target="slides/slide458.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470" Type="http://schemas.openxmlformats.org/officeDocument/2006/relationships/slide" Target="slides/slide469.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slide" Target="slides/slide392.xml"/><Relationship Id="rId407" Type="http://schemas.openxmlformats.org/officeDocument/2006/relationships/slide" Target="slides/slide406.xml"/><Relationship Id="rId428" Type="http://schemas.openxmlformats.org/officeDocument/2006/relationships/slide" Target="slides/slide427.xml"/><Relationship Id="rId449" Type="http://schemas.openxmlformats.org/officeDocument/2006/relationships/slide" Target="slides/slide448.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481"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418" Type="http://schemas.openxmlformats.org/officeDocument/2006/relationships/slide" Target="slides/slide417.xml"/><Relationship Id="rId439" Type="http://schemas.openxmlformats.org/officeDocument/2006/relationships/slide" Target="slides/slide438.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450" Type="http://schemas.openxmlformats.org/officeDocument/2006/relationships/slide" Target="slides/slide449.xml"/><Relationship Id="rId471" Type="http://schemas.openxmlformats.org/officeDocument/2006/relationships/slide" Target="slides/slide47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429" Type="http://schemas.openxmlformats.org/officeDocument/2006/relationships/slide" Target="slides/slide428.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440" Type="http://schemas.openxmlformats.org/officeDocument/2006/relationships/slide" Target="slides/slide439.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461" Type="http://schemas.openxmlformats.org/officeDocument/2006/relationships/slide" Target="slides/slide460.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419" Type="http://schemas.openxmlformats.org/officeDocument/2006/relationships/slide" Target="slides/slide418.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slide" Target="slides/slide429.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451" Type="http://schemas.openxmlformats.org/officeDocument/2006/relationships/slide" Target="slides/slide450.xml"/><Relationship Id="rId472" Type="http://schemas.openxmlformats.org/officeDocument/2006/relationships/slide" Target="slides/slide471.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62" Type="http://schemas.openxmlformats.org/officeDocument/2006/relationships/slide" Target="slides/slide46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slide" Target="slides/slide451.xml"/><Relationship Id="rId473" Type="http://schemas.openxmlformats.org/officeDocument/2006/relationships/slide" Target="slides/slide472.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463" Type="http://schemas.openxmlformats.org/officeDocument/2006/relationships/slide" Target="slides/slide462.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474" Type="http://schemas.openxmlformats.org/officeDocument/2006/relationships/slide" Target="slides/slide473.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464" Type="http://schemas.openxmlformats.org/officeDocument/2006/relationships/slide" Target="slides/slide463.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slide" Target="slides/slide464.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476" Type="http://schemas.openxmlformats.org/officeDocument/2006/relationships/slide" Target="slides/slide475.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0.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image" Target="../media/image8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05.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image" Target="../media/image10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27F5E9-6C4C-49E8-AA2A-0B814261FD92}" type="datetimeFigureOut">
              <a:rPr lang="zh-CN" altLang="en-US" smtClean="0"/>
              <a:t>2017/1/18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51CE6B-C6C2-4153-9B12-7766DCF07C8A}" type="slidenum">
              <a:rPr lang="zh-CN" altLang="en-US" smtClean="0"/>
              <a:t>‹#›</a:t>
            </a:fld>
            <a:endParaRPr lang="zh-CN" altLang="en-US"/>
          </a:p>
        </p:txBody>
      </p:sp>
    </p:spTree>
    <p:extLst>
      <p:ext uri="{BB962C8B-B14F-4D97-AF65-F5344CB8AC3E}">
        <p14:creationId xmlns:p14="http://schemas.microsoft.com/office/powerpoint/2010/main" val="338914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baike.baidu.com/view/47173.htm" TargetMode="External"/><Relationship Id="rId2" Type="http://schemas.openxmlformats.org/officeDocument/2006/relationships/slide" Target="../slides/slide216.xml"/><Relationship Id="rId1" Type="http://schemas.openxmlformats.org/officeDocument/2006/relationships/notesMaster" Target="../notesMasters/notesMaster1.xml"/><Relationship Id="rId4" Type="http://schemas.openxmlformats.org/officeDocument/2006/relationships/hyperlink" Target="http://baike.baidu.com/view/300881.htm"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baike.baidu.com/view/11757945.htm" TargetMode="External"/><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baike.baidu.com/view/2143270.htm" TargetMode="External"/><Relationship Id="rId3" Type="http://schemas.openxmlformats.org/officeDocument/2006/relationships/hyperlink" Target="http://baike.baidu.com/view/21249.htm" TargetMode="External"/><Relationship Id="rId7" Type="http://schemas.openxmlformats.org/officeDocument/2006/relationships/hyperlink" Target="http://baike.baidu.com/view/1507129.htm" TargetMode="External"/><Relationship Id="rId2" Type="http://schemas.openxmlformats.org/officeDocument/2006/relationships/slide" Target="../slides/slide232.xml"/><Relationship Id="rId1" Type="http://schemas.openxmlformats.org/officeDocument/2006/relationships/notesMaster" Target="../notesMasters/notesMaster1.xml"/><Relationship Id="rId6" Type="http://schemas.openxmlformats.org/officeDocument/2006/relationships/hyperlink" Target="http://baike.baidu.com/view/1366.htm" TargetMode="External"/><Relationship Id="rId5" Type="http://schemas.openxmlformats.org/officeDocument/2006/relationships/hyperlink" Target="http://baike.baidu.com/view/2480679.htm" TargetMode="External"/><Relationship Id="rId10" Type="http://schemas.openxmlformats.org/officeDocument/2006/relationships/hyperlink" Target="http://baike.baidu.com/subview/26337/12488714.htm" TargetMode="External"/><Relationship Id="rId4" Type="http://schemas.openxmlformats.org/officeDocument/2006/relationships/hyperlink" Target="http://baike.baidu.com/view/3047230.htm" TargetMode="External"/><Relationship Id="rId9" Type="http://schemas.openxmlformats.org/officeDocument/2006/relationships/hyperlink" Target="http://baike.baidu.com/view/2429077.htm"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1" dirty="0" smtClean="0"/>
              <a:t>堆（</a:t>
            </a:r>
            <a:r>
              <a:rPr lang="en-US" altLang="zh-CN" b="1" i="1" dirty="0" smtClean="0"/>
              <a:t>heap</a:t>
            </a:r>
            <a:r>
              <a:rPr lang="zh-CN" altLang="en-US" b="1" i="1" dirty="0" smtClean="0"/>
              <a:t>）：</a:t>
            </a:r>
            <a:r>
              <a:rPr lang="zh-CN" altLang="en-US" dirty="0" smtClean="0"/>
              <a:t>堆是用于存放进程运行中被动态分配的内存段，它的大小并不固定，可动态扩张或缩减。当进程调用</a:t>
            </a:r>
            <a:r>
              <a:rPr lang="en-US" altLang="zh-CN" dirty="0" err="1" smtClean="0"/>
              <a:t>malloc</a:t>
            </a:r>
            <a:r>
              <a:rPr lang="zh-CN" altLang="en-US" dirty="0" smtClean="0"/>
              <a:t>等函数分配内存时，新分配的内存就被动态添加到堆上（堆被扩张）；当利用</a:t>
            </a:r>
            <a:r>
              <a:rPr lang="en-US" altLang="zh-CN" dirty="0" smtClean="0"/>
              <a:t>free</a:t>
            </a:r>
            <a:r>
              <a:rPr lang="zh-CN" altLang="en-US" dirty="0" smtClean="0"/>
              <a:t>等函数释放内存时，被释放的内存从堆中被剔除（堆被缩减）</a:t>
            </a:r>
          </a:p>
          <a:p>
            <a:r>
              <a:rPr lang="zh-CN" altLang="en-US" b="1" i="1" dirty="0" smtClean="0"/>
              <a:t>栈</a:t>
            </a:r>
            <a:r>
              <a:rPr lang="en-US" altLang="zh-CN" b="1" i="1" dirty="0" smtClean="0"/>
              <a:t>(stack)</a:t>
            </a:r>
            <a:r>
              <a:rPr lang="zh-CN" altLang="en-US" dirty="0" smtClean="0"/>
              <a:t>：栈又称堆栈， 是用户存放程序临时创建的局部变量，也就是说我们函数括弧“</a:t>
            </a:r>
            <a:r>
              <a:rPr lang="en-US" altLang="zh-CN" dirty="0" smtClean="0"/>
              <a:t>{}”</a:t>
            </a:r>
            <a:r>
              <a:rPr lang="zh-CN" altLang="en-US" dirty="0" smtClean="0"/>
              <a:t>中定义的变量（但不包括</a:t>
            </a:r>
            <a:r>
              <a:rPr lang="en-US" altLang="zh-CN" dirty="0" smtClean="0"/>
              <a:t>static</a:t>
            </a:r>
            <a:r>
              <a:rPr lang="zh-CN" altLang="en-US" dirty="0" smtClean="0"/>
              <a:t>声明的变量，</a:t>
            </a:r>
            <a:r>
              <a:rPr lang="en-US" altLang="zh-CN" dirty="0" smtClean="0"/>
              <a:t>static</a:t>
            </a:r>
            <a:r>
              <a:rPr lang="zh-CN" altLang="en-US" dirty="0" smtClean="0"/>
              <a:t>意味着在数据段中存放变量）。除此以外，在函数被调用时，其参数也会被压入发起调用的进程栈中，并且待到调用结束后，函数的返回值也会被存放回栈中。由于栈的先进后出特点，所以栈特别方便用来保存</a:t>
            </a:r>
            <a:r>
              <a:rPr lang="en-US" altLang="zh-CN" dirty="0" smtClean="0"/>
              <a:t>/</a:t>
            </a:r>
            <a:r>
              <a:rPr lang="zh-CN" altLang="en-US" dirty="0" smtClean="0"/>
              <a:t>恢复调用现场。从这个意义上讲，我们可以把堆栈看成一个寄存、交换临时数据的内存区。</a:t>
            </a:r>
          </a:p>
          <a:p>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212</a:t>
            </a:fld>
            <a:endParaRPr lang="zh-CN" altLang="en-US"/>
          </a:p>
        </p:txBody>
      </p:sp>
    </p:spTree>
    <p:extLst>
      <p:ext uri="{BB962C8B-B14F-4D97-AF65-F5344CB8AC3E}">
        <p14:creationId xmlns:p14="http://schemas.microsoft.com/office/powerpoint/2010/main" val="2929240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Ctrl-z</a:t>
            </a:r>
            <a:r>
              <a:rPr lang="zh-CN" altLang="en-US" dirty="0" smtClean="0"/>
              <a:t>， </a:t>
            </a:r>
            <a:r>
              <a:rPr lang="en-US" altLang="zh-CN" dirty="0" smtClean="0"/>
              <a:t>jobs, </a:t>
            </a:r>
            <a:r>
              <a:rPr lang="en-US" altLang="zh-CN" dirty="0" err="1" smtClean="0"/>
              <a:t>bg</a:t>
            </a:r>
            <a:r>
              <a:rPr lang="en-US" altLang="zh-CN" dirty="0" smtClean="0"/>
              <a:t>,</a:t>
            </a:r>
            <a:r>
              <a:rPr lang="en-US" altLang="zh-CN" baseline="0" dirty="0" smtClean="0"/>
              <a:t> </a:t>
            </a:r>
            <a:r>
              <a:rPr lang="en-US" altLang="zh-CN" baseline="0" dirty="0" err="1" smtClean="0"/>
              <a:t>fg</a:t>
            </a:r>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214</a:t>
            </a:fld>
            <a:endParaRPr lang="zh-CN" altLang="en-US"/>
          </a:p>
        </p:txBody>
      </p:sp>
    </p:spTree>
    <p:extLst>
      <p:ext uri="{BB962C8B-B14F-4D97-AF65-F5344CB8AC3E}">
        <p14:creationId xmlns:p14="http://schemas.microsoft.com/office/powerpoint/2010/main" val="3702879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对于类 </a:t>
            </a:r>
            <a:r>
              <a:rPr lang="en-US" altLang="zh-CN" dirty="0" smtClean="0"/>
              <a:t>Unix </a:t>
            </a:r>
            <a:r>
              <a:rPr lang="zh-CN" altLang="en-US" dirty="0" smtClean="0"/>
              <a:t>系统，</a:t>
            </a:r>
            <a:r>
              <a:rPr lang="en-US" altLang="zh-CN" dirty="0" err="1" smtClean="0"/>
              <a:t>unistd.h</a:t>
            </a:r>
            <a:r>
              <a:rPr lang="en-US" altLang="zh-CN" dirty="0" smtClean="0"/>
              <a:t> </a:t>
            </a:r>
            <a:r>
              <a:rPr lang="zh-CN" altLang="en-US" dirty="0" smtClean="0"/>
              <a:t>中所定义的接口通常都是大量针对</a:t>
            </a:r>
            <a:r>
              <a:rPr lang="zh-CN" altLang="en-US" dirty="0" smtClean="0">
                <a:hlinkClick r:id="rId3"/>
              </a:rPr>
              <a:t>系统调用</a:t>
            </a:r>
            <a:r>
              <a:rPr lang="zh-CN" altLang="en-US" dirty="0" smtClean="0"/>
              <a:t>的封装（英语：</a:t>
            </a:r>
            <a:r>
              <a:rPr lang="en-US" altLang="zh-CN" dirty="0" smtClean="0"/>
              <a:t>wrapper functions</a:t>
            </a:r>
            <a:r>
              <a:rPr lang="zh-CN" altLang="en-US" dirty="0" smtClean="0"/>
              <a:t>），如 </a:t>
            </a:r>
            <a:r>
              <a:rPr lang="en-US" altLang="zh-CN" dirty="0" smtClean="0"/>
              <a:t>fork</a:t>
            </a:r>
            <a:r>
              <a:rPr lang="zh-CN" altLang="en-US" dirty="0" smtClean="0"/>
              <a:t>、</a:t>
            </a:r>
            <a:r>
              <a:rPr lang="en-US" altLang="zh-CN" dirty="0" smtClean="0"/>
              <a:t>pipe </a:t>
            </a:r>
            <a:r>
              <a:rPr lang="zh-CN" altLang="en-US" dirty="0" smtClean="0"/>
              <a:t>以及各种 </a:t>
            </a:r>
            <a:r>
              <a:rPr lang="en-US" altLang="zh-CN" dirty="0" smtClean="0">
                <a:hlinkClick r:id="rId4"/>
              </a:rPr>
              <a:t>I/O</a:t>
            </a:r>
            <a:r>
              <a:rPr lang="en-US" altLang="zh-CN" dirty="0" smtClean="0"/>
              <a:t> </a:t>
            </a:r>
            <a:r>
              <a:rPr lang="zh-CN" altLang="en-US" dirty="0" smtClean="0"/>
              <a:t>原语（</a:t>
            </a:r>
            <a:r>
              <a:rPr lang="en-US" altLang="zh-CN" dirty="0" smtClean="0"/>
              <a:t>read</a:t>
            </a:r>
            <a:r>
              <a:rPr lang="zh-CN" altLang="en-US" dirty="0" smtClean="0"/>
              <a:t>、</a:t>
            </a:r>
            <a:r>
              <a:rPr lang="en-US" altLang="zh-CN" dirty="0" smtClean="0"/>
              <a:t>write</a:t>
            </a:r>
            <a:r>
              <a:rPr lang="zh-CN" altLang="en-US" dirty="0" smtClean="0"/>
              <a:t>、</a:t>
            </a:r>
            <a:r>
              <a:rPr lang="en-US" altLang="zh-CN" dirty="0" smtClean="0"/>
              <a:t>close </a:t>
            </a:r>
            <a:r>
              <a:rPr lang="zh-CN" altLang="en-US" dirty="0" smtClean="0"/>
              <a:t>等等）。</a:t>
            </a:r>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216</a:t>
            </a:fld>
            <a:endParaRPr lang="zh-CN" altLang="en-US"/>
          </a:p>
        </p:txBody>
      </p:sp>
    </p:spTree>
    <p:extLst>
      <p:ext uri="{BB962C8B-B14F-4D97-AF65-F5344CB8AC3E}">
        <p14:creationId xmlns:p14="http://schemas.microsoft.com/office/powerpoint/2010/main" val="1995399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POSIX </a:t>
            </a:r>
            <a:r>
              <a:rPr lang="zh-CN" altLang="en-US" dirty="0" smtClean="0"/>
              <a:t>表示</a:t>
            </a:r>
            <a:r>
              <a:rPr lang="zh-CN" altLang="en-US" dirty="0" smtClean="0">
                <a:hlinkClick r:id="rId3"/>
              </a:rPr>
              <a:t>可移植操作系统接口</a:t>
            </a:r>
            <a:r>
              <a:rPr lang="zh-CN" altLang="en-US" dirty="0" smtClean="0"/>
              <a:t>（</a:t>
            </a:r>
            <a:r>
              <a:rPr lang="en-US" altLang="zh-CN" dirty="0" smtClean="0"/>
              <a:t>Portable Operating System Interface </a:t>
            </a:r>
            <a:r>
              <a:rPr lang="zh-CN" altLang="en-US" dirty="0" smtClean="0"/>
              <a:t>，缩写为 </a:t>
            </a:r>
            <a:r>
              <a:rPr lang="en-US" altLang="zh-CN" dirty="0" smtClean="0"/>
              <a:t>POSIX </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217</a:t>
            </a:fld>
            <a:endParaRPr lang="zh-CN" altLang="en-US"/>
          </a:p>
        </p:txBody>
      </p:sp>
    </p:spTree>
    <p:extLst>
      <p:ext uri="{BB962C8B-B14F-4D97-AF65-F5344CB8AC3E}">
        <p14:creationId xmlns:p14="http://schemas.microsoft.com/office/powerpoint/2010/main" val="3650559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15.22.c</a:t>
            </a:r>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224</a:t>
            </a:fld>
            <a:endParaRPr lang="zh-CN" altLang="en-US"/>
          </a:p>
        </p:txBody>
      </p:sp>
    </p:spTree>
    <p:extLst>
      <p:ext uri="{BB962C8B-B14F-4D97-AF65-F5344CB8AC3E}">
        <p14:creationId xmlns:p14="http://schemas.microsoft.com/office/powerpoint/2010/main" val="3805996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15.23</a:t>
            </a:r>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229</a:t>
            </a:fld>
            <a:endParaRPr lang="zh-CN" altLang="en-US"/>
          </a:p>
        </p:txBody>
      </p:sp>
    </p:spTree>
    <p:extLst>
      <p:ext uri="{BB962C8B-B14F-4D97-AF65-F5344CB8AC3E}">
        <p14:creationId xmlns:p14="http://schemas.microsoft.com/office/powerpoint/2010/main" val="598588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15.24.c</a:t>
            </a:r>
          </a:p>
          <a:p>
            <a:r>
              <a:rPr lang="en-US" altLang="zh-CN" dirty="0" smtClean="0"/>
              <a:t>void* </a:t>
            </a:r>
            <a:r>
              <a:rPr lang="en-US" altLang="zh-CN" dirty="0" err="1" smtClean="0"/>
              <a:t>mmap</a:t>
            </a:r>
            <a:r>
              <a:rPr lang="en-US" altLang="zh-CN" dirty="0" smtClean="0"/>
              <a:t>(void* </a:t>
            </a:r>
            <a:r>
              <a:rPr lang="en-US" altLang="zh-CN" dirty="0" err="1" smtClean="0"/>
              <a:t>start,size_t</a:t>
            </a:r>
            <a:r>
              <a:rPr lang="en-US" altLang="zh-CN" dirty="0" smtClean="0"/>
              <a:t> </a:t>
            </a:r>
            <a:r>
              <a:rPr lang="en-US" altLang="zh-CN" dirty="0" err="1" smtClean="0"/>
              <a:t>length,int</a:t>
            </a:r>
            <a:r>
              <a:rPr lang="en-US" altLang="zh-CN" dirty="0" smtClean="0"/>
              <a:t> </a:t>
            </a:r>
            <a:r>
              <a:rPr lang="en-US" altLang="zh-CN" dirty="0" err="1" smtClean="0"/>
              <a:t>prot,int</a:t>
            </a:r>
            <a:r>
              <a:rPr lang="en-US" altLang="zh-CN" dirty="0" smtClean="0"/>
              <a:t> </a:t>
            </a:r>
            <a:r>
              <a:rPr lang="en-US" altLang="zh-CN" dirty="0" err="1" smtClean="0"/>
              <a:t>flags,int</a:t>
            </a:r>
            <a:r>
              <a:rPr lang="en-US" altLang="zh-CN" dirty="0" smtClean="0"/>
              <a:t> </a:t>
            </a:r>
            <a:r>
              <a:rPr lang="en-US" altLang="zh-CN" dirty="0" err="1" smtClean="0"/>
              <a:t>fd,off_t</a:t>
            </a:r>
            <a:r>
              <a:rPr lang="en-US" altLang="zh-CN" dirty="0" smtClean="0"/>
              <a:t> offset);</a:t>
            </a:r>
          </a:p>
          <a:p>
            <a:r>
              <a:rPr lang="en-US" altLang="zh-CN" dirty="0" err="1" smtClean="0"/>
              <a:t>int</a:t>
            </a:r>
            <a:r>
              <a:rPr lang="en-US" altLang="zh-CN" dirty="0" smtClean="0"/>
              <a:t> </a:t>
            </a:r>
            <a:r>
              <a:rPr lang="en-US" altLang="zh-CN" dirty="0" err="1" smtClean="0"/>
              <a:t>munmap</a:t>
            </a:r>
            <a:r>
              <a:rPr lang="en-US" altLang="zh-CN" dirty="0" smtClean="0"/>
              <a:t>(void* </a:t>
            </a:r>
            <a:r>
              <a:rPr lang="en-US" altLang="zh-CN" dirty="0" err="1" smtClean="0"/>
              <a:t>start,size_t</a:t>
            </a:r>
            <a:r>
              <a:rPr lang="en-US" altLang="zh-CN" dirty="0" smtClean="0"/>
              <a:t> length);</a:t>
            </a:r>
          </a:p>
          <a:p>
            <a:r>
              <a:rPr lang="en-US" altLang="zh-CN" dirty="0" err="1" smtClean="0"/>
              <a:t>mmap</a:t>
            </a:r>
            <a:r>
              <a:rPr lang="en-US" altLang="zh-CN" dirty="0" smtClean="0"/>
              <a:t>()</a:t>
            </a:r>
            <a:r>
              <a:rPr lang="en-US" altLang="zh-CN" baseline="30000" dirty="0" smtClean="0"/>
              <a:t>[1]</a:t>
            </a:r>
            <a:r>
              <a:rPr lang="zh-CN" altLang="en-US" dirty="0" smtClean="0"/>
              <a:t>  必须以</a:t>
            </a:r>
            <a:r>
              <a:rPr lang="en-US" altLang="zh-CN" dirty="0" smtClean="0"/>
              <a:t>PAGE_SIZE</a:t>
            </a:r>
            <a:r>
              <a:rPr lang="zh-CN" altLang="en-US" dirty="0" smtClean="0"/>
              <a:t>为单位进行映射，而内存也只能以页为单位进行</a:t>
            </a:r>
            <a:r>
              <a:rPr lang="zh-CN" altLang="en-US" dirty="0" smtClean="0">
                <a:hlinkClick r:id="rId3"/>
              </a:rPr>
              <a:t>映射</a:t>
            </a:r>
            <a:r>
              <a:rPr lang="zh-CN" altLang="en-US" dirty="0" smtClean="0"/>
              <a:t>，若要映射非</a:t>
            </a:r>
            <a:r>
              <a:rPr lang="en-US" altLang="zh-CN" dirty="0" smtClean="0"/>
              <a:t>PAGE_SIZE</a:t>
            </a:r>
            <a:r>
              <a:rPr lang="zh-CN" altLang="en-US" dirty="0" smtClean="0"/>
              <a:t>整数倍的地址范围，要先进行内存对齐，强行以</a:t>
            </a:r>
            <a:r>
              <a:rPr lang="en-US" altLang="zh-CN" dirty="0" smtClean="0"/>
              <a:t>PAGE_SIZE</a:t>
            </a:r>
            <a:r>
              <a:rPr lang="zh-CN" altLang="en-US" dirty="0" smtClean="0"/>
              <a:t>的倍数大小进行映射。</a:t>
            </a:r>
            <a:endParaRPr lang="en-US" altLang="zh-CN" dirty="0" smtClean="0"/>
          </a:p>
          <a:p>
            <a:r>
              <a:rPr lang="en-US" altLang="zh-CN" dirty="0" smtClean="0"/>
              <a:t>start</a:t>
            </a:r>
            <a:r>
              <a:rPr lang="zh-CN" altLang="en-US" dirty="0" smtClean="0"/>
              <a:t>：映射区的开始地址，设置为</a:t>
            </a:r>
            <a:r>
              <a:rPr lang="en-US" altLang="zh-CN" dirty="0" smtClean="0"/>
              <a:t>0</a:t>
            </a:r>
            <a:r>
              <a:rPr lang="zh-CN" altLang="en-US" dirty="0" smtClean="0"/>
              <a:t>时表示由系统决定映射区的起始地址。</a:t>
            </a:r>
          </a:p>
          <a:p>
            <a:r>
              <a:rPr lang="en-US" altLang="zh-CN" dirty="0" smtClean="0"/>
              <a:t>length</a:t>
            </a:r>
            <a:r>
              <a:rPr lang="zh-CN" altLang="en-US" dirty="0" smtClean="0"/>
              <a:t>：映射区的长度。</a:t>
            </a:r>
            <a:r>
              <a:rPr lang="en-US" altLang="zh-CN" dirty="0" smtClean="0"/>
              <a:t>//</a:t>
            </a:r>
            <a:r>
              <a:rPr lang="zh-CN" altLang="en-US" dirty="0" smtClean="0"/>
              <a:t>长度单位是 以字节为单位，不足一内存页按一内存页处理</a:t>
            </a:r>
          </a:p>
          <a:p>
            <a:r>
              <a:rPr lang="en-US" altLang="zh-CN" dirty="0" err="1" smtClean="0"/>
              <a:t>prot</a:t>
            </a:r>
            <a:r>
              <a:rPr lang="zh-CN" altLang="en-US" dirty="0" smtClean="0"/>
              <a:t>：期望的内存保护标志，不能与文件的打开模式冲突。是以下的某个值，可以通过</a:t>
            </a:r>
            <a:r>
              <a:rPr lang="en-US" altLang="zh-CN" dirty="0" smtClean="0"/>
              <a:t>or</a:t>
            </a:r>
            <a:r>
              <a:rPr lang="zh-CN" altLang="en-US" dirty="0" smtClean="0"/>
              <a:t>运算合理地组合在一起</a:t>
            </a:r>
          </a:p>
          <a:p>
            <a:r>
              <a:rPr lang="en-US" altLang="zh-CN" dirty="0" smtClean="0"/>
              <a:t>PROT_EXEC //</a:t>
            </a:r>
            <a:r>
              <a:rPr lang="zh-CN" altLang="en-US" dirty="0" smtClean="0"/>
              <a:t>页内容可以被执行</a:t>
            </a:r>
          </a:p>
          <a:p>
            <a:r>
              <a:rPr lang="en-US" altLang="zh-CN" dirty="0" smtClean="0"/>
              <a:t>PROT_READ //</a:t>
            </a:r>
            <a:r>
              <a:rPr lang="zh-CN" altLang="en-US" dirty="0" smtClean="0"/>
              <a:t>页内容可以被读取</a:t>
            </a:r>
          </a:p>
          <a:p>
            <a:r>
              <a:rPr lang="en-US" altLang="zh-CN" dirty="0" smtClean="0"/>
              <a:t>PROT_WRITE //</a:t>
            </a:r>
            <a:r>
              <a:rPr lang="zh-CN" altLang="en-US" dirty="0" smtClean="0"/>
              <a:t>页可以被写入</a:t>
            </a:r>
          </a:p>
          <a:p>
            <a:r>
              <a:rPr lang="en-US" altLang="zh-CN" dirty="0" smtClean="0"/>
              <a:t>PROT_NONE //</a:t>
            </a:r>
            <a:r>
              <a:rPr lang="zh-CN" altLang="en-US" dirty="0" smtClean="0"/>
              <a:t>页不可访问</a:t>
            </a:r>
          </a:p>
          <a:p>
            <a:r>
              <a:rPr lang="en-US" altLang="zh-CN" dirty="0" smtClean="0"/>
              <a:t>flags</a:t>
            </a:r>
            <a:r>
              <a:rPr lang="zh-CN" altLang="en-US" dirty="0" smtClean="0"/>
              <a:t>：指定映射对象的类型，映射选项和映射页是否可以共享。它的值可以是一个或者多个以下位的组合体</a:t>
            </a:r>
          </a:p>
          <a:p>
            <a:r>
              <a:rPr lang="en-US" altLang="zh-CN" dirty="0" smtClean="0"/>
              <a:t>MAP_FIXED //</a:t>
            </a:r>
            <a:r>
              <a:rPr lang="zh-CN" altLang="en-US" dirty="0" smtClean="0"/>
              <a:t>使用指定的映射起始地址，如果由</a:t>
            </a:r>
            <a:r>
              <a:rPr lang="en-US" altLang="zh-CN" dirty="0" smtClean="0"/>
              <a:t>start</a:t>
            </a:r>
            <a:r>
              <a:rPr lang="zh-CN" altLang="en-US" dirty="0" smtClean="0"/>
              <a:t>和</a:t>
            </a:r>
            <a:r>
              <a:rPr lang="en-US" altLang="zh-CN" dirty="0" err="1" smtClean="0"/>
              <a:t>len</a:t>
            </a:r>
            <a:r>
              <a:rPr lang="zh-CN" altLang="en-US" dirty="0" smtClean="0"/>
              <a:t>参数指定的内存区重叠于现存的映射空间，重叠部分将会被丢弃。如果指定的起始地址不可用，操作将会失败。并且起始地址必须落在页的边界上。</a:t>
            </a:r>
          </a:p>
          <a:p>
            <a:r>
              <a:rPr lang="en-US" altLang="zh-CN" dirty="0" smtClean="0"/>
              <a:t>MAP_SHARED //</a:t>
            </a:r>
            <a:r>
              <a:rPr lang="zh-CN" altLang="en-US" dirty="0" smtClean="0"/>
              <a:t>与其它所有映射这个对象的进程共享映射空间。对共享区的写入，相当于输出到文件。直到</a:t>
            </a:r>
            <a:r>
              <a:rPr lang="en-US" altLang="zh-CN" dirty="0" err="1" smtClean="0"/>
              <a:t>msync</a:t>
            </a:r>
            <a:r>
              <a:rPr lang="en-US" altLang="zh-CN" dirty="0" smtClean="0"/>
              <a:t>()</a:t>
            </a:r>
            <a:r>
              <a:rPr lang="zh-CN" altLang="en-US" dirty="0" smtClean="0"/>
              <a:t>或者</a:t>
            </a:r>
            <a:r>
              <a:rPr lang="en-US" altLang="zh-CN" dirty="0" err="1" smtClean="0">
                <a:hlinkClick r:id="rId4"/>
              </a:rPr>
              <a:t>munmap</a:t>
            </a:r>
            <a:r>
              <a:rPr lang="en-US" altLang="zh-CN" dirty="0" smtClean="0"/>
              <a:t>()</a:t>
            </a:r>
            <a:r>
              <a:rPr lang="zh-CN" altLang="en-US" dirty="0" smtClean="0"/>
              <a:t>被调用，文件实际上不会被更新。</a:t>
            </a:r>
          </a:p>
          <a:p>
            <a:r>
              <a:rPr lang="en-US" altLang="zh-CN" dirty="0" smtClean="0"/>
              <a:t>MAP_PRIVATE //</a:t>
            </a:r>
            <a:r>
              <a:rPr lang="zh-CN" altLang="en-US" dirty="0" smtClean="0"/>
              <a:t>建立一个写入时拷贝的私有映射。内存区域的写入不会影响到原文件。这个标志和以上标志是互斥的，只能使用其中一个。</a:t>
            </a:r>
          </a:p>
          <a:p>
            <a:r>
              <a:rPr lang="en-US" altLang="zh-CN" dirty="0" smtClean="0"/>
              <a:t>MAP_DENYWRITE //</a:t>
            </a:r>
            <a:r>
              <a:rPr lang="zh-CN" altLang="en-US" dirty="0" smtClean="0"/>
              <a:t>这个标志被忽略。</a:t>
            </a:r>
          </a:p>
          <a:p>
            <a:r>
              <a:rPr lang="en-US" altLang="zh-CN" dirty="0" smtClean="0"/>
              <a:t>MAP_EXECUTABLE //</a:t>
            </a:r>
            <a:r>
              <a:rPr lang="zh-CN" altLang="en-US" dirty="0" smtClean="0"/>
              <a:t>同上</a:t>
            </a:r>
          </a:p>
          <a:p>
            <a:r>
              <a:rPr lang="en-US" altLang="zh-CN" dirty="0" smtClean="0"/>
              <a:t>MAP_NORESERVE //</a:t>
            </a:r>
            <a:r>
              <a:rPr lang="zh-CN" altLang="en-US" dirty="0" smtClean="0"/>
              <a:t>不要为这个映射保留交换空间。当交换空间被保留，对映射区修改的可能会得到保证。当交换空间不被保留，同时</a:t>
            </a:r>
            <a:r>
              <a:rPr lang="zh-CN" altLang="en-US" dirty="0" smtClean="0">
                <a:hlinkClick r:id="rId5"/>
              </a:rPr>
              <a:t>内存不足</a:t>
            </a:r>
            <a:r>
              <a:rPr lang="zh-CN" altLang="en-US" dirty="0" smtClean="0"/>
              <a:t>，对映射区的修改会引起段违例信号。</a:t>
            </a:r>
          </a:p>
          <a:p>
            <a:r>
              <a:rPr lang="en-US" altLang="zh-CN" dirty="0" smtClean="0"/>
              <a:t>MAP_LOCKED //</a:t>
            </a:r>
            <a:r>
              <a:rPr lang="zh-CN" altLang="en-US" dirty="0" smtClean="0"/>
              <a:t>锁定映射区的页面，从而防止页面被交换出内存。</a:t>
            </a:r>
          </a:p>
          <a:p>
            <a:r>
              <a:rPr lang="en-US" altLang="zh-CN" dirty="0" smtClean="0"/>
              <a:t>MAP_GROWSDOWN //</a:t>
            </a:r>
            <a:r>
              <a:rPr lang="zh-CN" altLang="en-US" dirty="0" smtClean="0"/>
              <a:t>用于堆栈，告诉</a:t>
            </a:r>
            <a:r>
              <a:rPr lang="zh-CN" altLang="en-US" dirty="0" smtClean="0">
                <a:hlinkClick r:id="rId6"/>
              </a:rPr>
              <a:t>内核</a:t>
            </a:r>
            <a:r>
              <a:rPr lang="en-US" altLang="zh-CN" dirty="0" smtClean="0"/>
              <a:t>VM</a:t>
            </a:r>
            <a:r>
              <a:rPr lang="zh-CN" altLang="en-US" dirty="0" smtClean="0"/>
              <a:t>系统，映射区可以向下扩展。</a:t>
            </a:r>
          </a:p>
          <a:p>
            <a:r>
              <a:rPr lang="en-US" altLang="zh-CN" dirty="0" smtClean="0"/>
              <a:t>MAP_ANONYMOUS //</a:t>
            </a:r>
            <a:r>
              <a:rPr lang="zh-CN" altLang="en-US" dirty="0" smtClean="0"/>
              <a:t>匿名映射，映射区不与任何文件关联。</a:t>
            </a:r>
          </a:p>
          <a:p>
            <a:r>
              <a:rPr lang="en-US" altLang="zh-CN" dirty="0" smtClean="0"/>
              <a:t>MAP_ANON //MAP_ANONYMOUS</a:t>
            </a:r>
            <a:r>
              <a:rPr lang="zh-CN" altLang="en-US" dirty="0" smtClean="0"/>
              <a:t>的别称，不再被使用。</a:t>
            </a:r>
          </a:p>
          <a:p>
            <a:r>
              <a:rPr lang="en-US" altLang="zh-CN" dirty="0" smtClean="0"/>
              <a:t>MAP_FILE //</a:t>
            </a:r>
            <a:r>
              <a:rPr lang="zh-CN" altLang="en-US" dirty="0" smtClean="0"/>
              <a:t>兼容标志，被忽略。</a:t>
            </a:r>
          </a:p>
          <a:p>
            <a:r>
              <a:rPr lang="en-US" altLang="zh-CN" dirty="0" smtClean="0"/>
              <a:t>MAP_32BIT //</a:t>
            </a:r>
            <a:r>
              <a:rPr lang="zh-CN" altLang="en-US" dirty="0" smtClean="0"/>
              <a:t>将映射区放在进程</a:t>
            </a:r>
            <a:r>
              <a:rPr lang="zh-CN" altLang="en-US" dirty="0" smtClean="0">
                <a:hlinkClick r:id="rId7"/>
              </a:rPr>
              <a:t>地址空间</a:t>
            </a:r>
            <a:r>
              <a:rPr lang="zh-CN" altLang="en-US" dirty="0" smtClean="0"/>
              <a:t>的低</a:t>
            </a:r>
            <a:r>
              <a:rPr lang="en-US" altLang="zh-CN" dirty="0" smtClean="0"/>
              <a:t>2GB</a:t>
            </a:r>
            <a:r>
              <a:rPr lang="zh-CN" altLang="en-US" dirty="0" smtClean="0"/>
              <a:t>，</a:t>
            </a:r>
            <a:r>
              <a:rPr lang="en-US" altLang="zh-CN" dirty="0" smtClean="0"/>
              <a:t>MAP_FIXED</a:t>
            </a:r>
            <a:r>
              <a:rPr lang="zh-CN" altLang="en-US" dirty="0" smtClean="0"/>
              <a:t>指定时会被忽略。当前这个标志只在</a:t>
            </a:r>
            <a:r>
              <a:rPr lang="en-US" altLang="zh-CN" dirty="0" smtClean="0"/>
              <a:t>x86-64</a:t>
            </a:r>
            <a:r>
              <a:rPr lang="zh-CN" altLang="en-US" dirty="0" smtClean="0"/>
              <a:t>平台上得到支持。</a:t>
            </a:r>
          </a:p>
          <a:p>
            <a:r>
              <a:rPr lang="en-US" altLang="zh-CN" dirty="0" smtClean="0"/>
              <a:t>MAP_POPULATE //</a:t>
            </a:r>
            <a:r>
              <a:rPr lang="zh-CN" altLang="en-US" dirty="0" smtClean="0"/>
              <a:t>为文件映射通过预读的方式准备好页表。随后对映射区的访问不会被页违例阻塞。</a:t>
            </a:r>
          </a:p>
          <a:p>
            <a:r>
              <a:rPr lang="en-US" altLang="zh-CN" dirty="0" smtClean="0"/>
              <a:t>MAP_NONBLOCK //</a:t>
            </a:r>
            <a:r>
              <a:rPr lang="zh-CN" altLang="en-US" dirty="0" smtClean="0"/>
              <a:t>仅和</a:t>
            </a:r>
            <a:r>
              <a:rPr lang="en-US" altLang="zh-CN" dirty="0" smtClean="0"/>
              <a:t>MAP_POPULATE</a:t>
            </a:r>
            <a:r>
              <a:rPr lang="zh-CN" altLang="en-US" dirty="0" smtClean="0"/>
              <a:t>一起使用时才有意义。不执行预读，只为已存在于内存中的页面建立</a:t>
            </a:r>
            <a:r>
              <a:rPr lang="zh-CN" altLang="en-US" dirty="0" smtClean="0">
                <a:hlinkClick r:id="rId8"/>
              </a:rPr>
              <a:t>页表</a:t>
            </a:r>
            <a:r>
              <a:rPr lang="zh-CN" altLang="en-US" dirty="0" smtClean="0"/>
              <a:t>入口。</a:t>
            </a:r>
          </a:p>
          <a:p>
            <a:r>
              <a:rPr lang="en-US" altLang="zh-CN" dirty="0" err="1" smtClean="0"/>
              <a:t>fd</a:t>
            </a:r>
            <a:r>
              <a:rPr lang="zh-CN" altLang="en-US" dirty="0" smtClean="0"/>
              <a:t>：有效的</a:t>
            </a:r>
            <a:r>
              <a:rPr lang="zh-CN" altLang="en-US" dirty="0" smtClean="0">
                <a:hlinkClick r:id="rId9"/>
              </a:rPr>
              <a:t>文件描述词</a:t>
            </a:r>
            <a:r>
              <a:rPr lang="zh-CN" altLang="en-US" dirty="0" smtClean="0"/>
              <a:t>。一般是由</a:t>
            </a:r>
            <a:r>
              <a:rPr lang="en-US" altLang="zh-CN" dirty="0" smtClean="0">
                <a:hlinkClick r:id="rId10"/>
              </a:rPr>
              <a:t>open</a:t>
            </a:r>
            <a:r>
              <a:rPr lang="en-US" altLang="zh-CN" dirty="0" smtClean="0"/>
              <a:t>()</a:t>
            </a:r>
            <a:r>
              <a:rPr lang="zh-CN" altLang="en-US" dirty="0" smtClean="0"/>
              <a:t>函数返回，其值也可以设置为</a:t>
            </a:r>
            <a:r>
              <a:rPr lang="en-US" altLang="zh-CN" dirty="0" smtClean="0"/>
              <a:t>-1</a:t>
            </a:r>
            <a:r>
              <a:rPr lang="zh-CN" altLang="en-US" dirty="0" smtClean="0"/>
              <a:t>，此时需要指定</a:t>
            </a:r>
            <a:r>
              <a:rPr lang="en-US" altLang="zh-CN" dirty="0" smtClean="0"/>
              <a:t>flags</a:t>
            </a:r>
            <a:r>
              <a:rPr lang="zh-CN" altLang="en-US" dirty="0" smtClean="0"/>
              <a:t>参数中的</a:t>
            </a:r>
            <a:r>
              <a:rPr lang="en-US" altLang="zh-CN" dirty="0" smtClean="0"/>
              <a:t>MAP_ANON,</a:t>
            </a:r>
            <a:r>
              <a:rPr lang="zh-CN" altLang="en-US" dirty="0" smtClean="0"/>
              <a:t>表明进行的是匿名映射。</a:t>
            </a:r>
          </a:p>
          <a:p>
            <a:r>
              <a:rPr lang="en-US" altLang="zh-CN" dirty="0" err="1" smtClean="0"/>
              <a:t>off_toffset</a:t>
            </a:r>
            <a:r>
              <a:rPr lang="zh-CN" altLang="en-US" dirty="0" smtClean="0"/>
              <a:t>：被映射对象内容的起点。</a:t>
            </a:r>
          </a:p>
          <a:p>
            <a:endParaRPr lang="zh-CN" altLang="en-US" dirty="0"/>
          </a:p>
        </p:txBody>
      </p:sp>
      <p:sp>
        <p:nvSpPr>
          <p:cNvPr id="4" name="灯片编号占位符 3"/>
          <p:cNvSpPr>
            <a:spLocks noGrp="1"/>
          </p:cNvSpPr>
          <p:nvPr>
            <p:ph type="sldNum" sz="quarter" idx="10"/>
          </p:nvPr>
        </p:nvSpPr>
        <p:spPr/>
        <p:txBody>
          <a:bodyPr/>
          <a:lstStyle/>
          <a:p>
            <a:fld id="{5E4D5050-B663-4EB1-BD9A-F60C9FF532BF}" type="slidenum">
              <a:rPr lang="zh-CN" altLang="en-US" smtClean="0"/>
              <a:t>232</a:t>
            </a:fld>
            <a:endParaRPr lang="zh-CN" altLang="en-US"/>
          </a:p>
        </p:txBody>
      </p:sp>
    </p:spTree>
    <p:extLst>
      <p:ext uri="{BB962C8B-B14F-4D97-AF65-F5344CB8AC3E}">
        <p14:creationId xmlns:p14="http://schemas.microsoft.com/office/powerpoint/2010/main" val="880543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C7C93DD8-FDEC-4F91-BAB6-BBF96785BDB8}" type="slidenum">
              <a:rPr lang="en-US" altLang="zh-CN" sz="1200">
                <a:latin typeface="Arial" charset="0"/>
              </a:rPr>
              <a:pPr algn="r"/>
              <a:t>300</a:t>
            </a:fld>
            <a:endParaRPr lang="en-US" altLang="zh-CN" sz="1200">
              <a:latin typeface="Arial" charset="0"/>
            </a:endParaRPr>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r>
              <a:rPr lang="en-US" altLang="zh-CN" smtClean="0">
                <a:latin typeface="Arial" charset="0"/>
                <a:cs typeface="Arial" charset="0"/>
              </a:rPr>
              <a:t>POSIX </a:t>
            </a:r>
            <a:r>
              <a:rPr lang="zh-CN" altLang="en-US" smtClean="0">
                <a:latin typeface="Arial" charset="0"/>
                <a:cs typeface="Arial" charset="0"/>
              </a:rPr>
              <a:t>表示可移植操作系统接口（</a:t>
            </a:r>
            <a:r>
              <a:rPr lang="en-US" altLang="zh-CN" smtClean="0">
                <a:latin typeface="Arial" charset="0"/>
                <a:cs typeface="Arial" charset="0"/>
              </a:rPr>
              <a:t>Portable Operating System Interface </a:t>
            </a:r>
            <a:r>
              <a:rPr lang="zh-CN" altLang="en-US" smtClean="0">
                <a:latin typeface="Arial" charset="0"/>
                <a:cs typeface="Arial" charset="0"/>
              </a:rPr>
              <a:t>，缩写为 </a:t>
            </a:r>
            <a:r>
              <a:rPr lang="en-US" altLang="zh-CN" smtClean="0">
                <a:latin typeface="Arial" charset="0"/>
                <a:cs typeface="Arial" charset="0"/>
              </a:rPr>
              <a:t>POSIX </a:t>
            </a:r>
            <a:r>
              <a:rPr lang="zh-CN" altLang="en-US" smtClean="0">
                <a:latin typeface="Arial" charset="0"/>
                <a:cs typeface="Arial" charset="0"/>
              </a:rPr>
              <a:t>是为了读音更像 </a:t>
            </a:r>
            <a:r>
              <a:rPr lang="en-US" altLang="zh-CN" smtClean="0">
                <a:latin typeface="Arial" charset="0"/>
                <a:cs typeface="Arial" charset="0"/>
              </a:rPr>
              <a:t>UNIX</a:t>
            </a:r>
            <a:r>
              <a:rPr lang="zh-CN" altLang="en-US" smtClean="0">
                <a:latin typeface="Arial" charset="0"/>
                <a:cs typeface="Arial" charset="0"/>
              </a:rPr>
              <a:t>）。电气和电子工程师协会（</a:t>
            </a:r>
            <a:r>
              <a:rPr lang="en-US" altLang="zh-CN" smtClean="0">
                <a:latin typeface="Arial" charset="0"/>
                <a:cs typeface="Arial" charset="0"/>
              </a:rPr>
              <a:t>Institute of Electrical and Electronics Engineers</a:t>
            </a:r>
            <a:r>
              <a:rPr lang="zh-CN" altLang="en-US" smtClean="0">
                <a:latin typeface="Arial" charset="0"/>
                <a:cs typeface="Arial" charset="0"/>
              </a:rPr>
              <a:t>，</a:t>
            </a:r>
            <a:r>
              <a:rPr lang="en-US" altLang="zh-CN" smtClean="0">
                <a:latin typeface="Arial" charset="0"/>
                <a:cs typeface="Arial" charset="0"/>
              </a:rPr>
              <a:t>IEEE</a:t>
            </a:r>
            <a:r>
              <a:rPr lang="zh-CN" altLang="en-US" smtClean="0">
                <a:latin typeface="Arial" charset="0"/>
                <a:cs typeface="Arial" charset="0"/>
              </a:rPr>
              <a:t>）最初开发 </a:t>
            </a:r>
            <a:r>
              <a:rPr lang="en-US" altLang="zh-CN" smtClean="0">
                <a:latin typeface="Arial" charset="0"/>
                <a:cs typeface="Arial" charset="0"/>
              </a:rPr>
              <a:t>POSIX </a:t>
            </a:r>
            <a:r>
              <a:rPr lang="zh-CN" altLang="en-US" smtClean="0">
                <a:latin typeface="Arial" charset="0"/>
                <a:cs typeface="Arial" charset="0"/>
              </a:rPr>
              <a:t>标准，是为了提高 </a:t>
            </a:r>
            <a:r>
              <a:rPr lang="en-US" altLang="zh-CN" smtClean="0">
                <a:latin typeface="Arial" charset="0"/>
                <a:cs typeface="Arial" charset="0"/>
              </a:rPr>
              <a:t>UNIX </a:t>
            </a:r>
            <a:r>
              <a:rPr lang="zh-CN" altLang="en-US" smtClean="0">
                <a:latin typeface="Arial" charset="0"/>
                <a:cs typeface="Arial" charset="0"/>
              </a:rPr>
              <a:t>环境下应用程序的可移植性。然而，</a:t>
            </a:r>
            <a:r>
              <a:rPr lang="en-US" altLang="zh-CN" smtClean="0">
                <a:latin typeface="Arial" charset="0"/>
                <a:cs typeface="Arial" charset="0"/>
              </a:rPr>
              <a:t>POSIX </a:t>
            </a:r>
            <a:r>
              <a:rPr lang="zh-CN" altLang="en-US" smtClean="0">
                <a:latin typeface="Arial" charset="0"/>
                <a:cs typeface="Arial" charset="0"/>
              </a:rPr>
              <a:t>并不局限于 </a:t>
            </a:r>
            <a:r>
              <a:rPr lang="en-US" altLang="zh-CN" smtClean="0">
                <a:latin typeface="Arial" charset="0"/>
                <a:cs typeface="Arial" charset="0"/>
              </a:rPr>
              <a:t>UNIX</a:t>
            </a:r>
            <a:r>
              <a:rPr lang="zh-CN" altLang="en-US" smtClean="0">
                <a:latin typeface="Arial" charset="0"/>
                <a:cs typeface="Arial" charset="0"/>
              </a:rPr>
              <a:t>。许多其它的操作系统，例如 </a:t>
            </a:r>
            <a:r>
              <a:rPr lang="en-US" altLang="zh-CN" smtClean="0">
                <a:latin typeface="Arial" charset="0"/>
                <a:cs typeface="Arial" charset="0"/>
              </a:rPr>
              <a:t>DEC OpenVMS </a:t>
            </a:r>
            <a:r>
              <a:rPr lang="zh-CN" altLang="en-US" smtClean="0">
                <a:latin typeface="Arial" charset="0"/>
                <a:cs typeface="Arial" charset="0"/>
              </a:rPr>
              <a:t>和 </a:t>
            </a:r>
            <a:r>
              <a:rPr lang="en-US" altLang="zh-CN" smtClean="0">
                <a:latin typeface="Arial" charset="0"/>
                <a:cs typeface="Arial" charset="0"/>
              </a:rPr>
              <a:t>Microsoft Windows NT</a:t>
            </a:r>
            <a:r>
              <a:rPr lang="zh-CN" altLang="en-US" smtClean="0">
                <a:latin typeface="Arial" charset="0"/>
                <a:cs typeface="Arial" charset="0"/>
              </a:rPr>
              <a:t>，都支持 </a:t>
            </a:r>
            <a:r>
              <a:rPr lang="en-US" altLang="zh-CN" smtClean="0">
                <a:latin typeface="Arial" charset="0"/>
                <a:cs typeface="Arial" charset="0"/>
              </a:rPr>
              <a:t>POSIX </a:t>
            </a:r>
            <a:r>
              <a:rPr lang="zh-CN" altLang="en-US" smtClean="0">
                <a:latin typeface="Arial" charset="0"/>
                <a:cs typeface="Arial" charset="0"/>
              </a:rPr>
              <a:t>标准，尤其是 </a:t>
            </a:r>
            <a:r>
              <a:rPr lang="en-US" altLang="zh-CN" smtClean="0">
                <a:latin typeface="Arial" charset="0"/>
                <a:cs typeface="Arial" charset="0"/>
              </a:rPr>
              <a:t>IEEE Std. 1003.1-1990</a:t>
            </a:r>
            <a:r>
              <a:rPr lang="zh-CN" altLang="en-US" smtClean="0">
                <a:latin typeface="Arial" charset="0"/>
                <a:cs typeface="Arial" charset="0"/>
              </a:rPr>
              <a:t>（</a:t>
            </a:r>
            <a:r>
              <a:rPr lang="en-US" altLang="zh-CN" smtClean="0">
                <a:latin typeface="Arial" charset="0"/>
                <a:cs typeface="Arial" charset="0"/>
              </a:rPr>
              <a:t>1995 </a:t>
            </a:r>
            <a:r>
              <a:rPr lang="zh-CN" altLang="en-US" smtClean="0">
                <a:latin typeface="Arial" charset="0"/>
                <a:cs typeface="Arial" charset="0"/>
              </a:rPr>
              <a:t>年修订）或 </a:t>
            </a:r>
            <a:r>
              <a:rPr lang="en-US" altLang="zh-CN" smtClean="0">
                <a:latin typeface="Arial" charset="0"/>
                <a:cs typeface="Arial" charset="0"/>
              </a:rPr>
              <a:t>POSIX.1</a:t>
            </a:r>
            <a:r>
              <a:rPr lang="zh-CN" altLang="en-US" smtClean="0">
                <a:latin typeface="Arial" charset="0"/>
                <a:cs typeface="Arial" charset="0"/>
              </a:rPr>
              <a:t>，</a:t>
            </a:r>
            <a:r>
              <a:rPr lang="en-US" altLang="zh-CN" smtClean="0">
                <a:latin typeface="Arial" charset="0"/>
                <a:cs typeface="Arial" charset="0"/>
              </a:rPr>
              <a:t>POSIX.1 </a:t>
            </a:r>
            <a:r>
              <a:rPr lang="zh-CN" altLang="en-US" smtClean="0">
                <a:latin typeface="Arial" charset="0"/>
                <a:cs typeface="Arial" charset="0"/>
              </a:rPr>
              <a:t>提供了源代码级别的 </a:t>
            </a:r>
            <a:r>
              <a:rPr lang="en-US" altLang="zh-CN" smtClean="0">
                <a:latin typeface="Arial" charset="0"/>
                <a:cs typeface="Arial" charset="0"/>
              </a:rPr>
              <a:t>C </a:t>
            </a:r>
            <a:r>
              <a:rPr lang="zh-CN" altLang="en-US" smtClean="0">
                <a:latin typeface="Arial" charset="0"/>
                <a:cs typeface="Arial" charset="0"/>
              </a:rPr>
              <a:t>语言应用编程接口（</a:t>
            </a:r>
            <a:r>
              <a:rPr lang="en-US" altLang="zh-CN" smtClean="0">
                <a:latin typeface="Arial" charset="0"/>
                <a:cs typeface="Arial" charset="0"/>
              </a:rPr>
              <a:t>API</a:t>
            </a:r>
            <a:r>
              <a:rPr lang="zh-CN" altLang="en-US" smtClean="0">
                <a:latin typeface="Arial" charset="0"/>
                <a:cs typeface="Arial" charset="0"/>
              </a:rPr>
              <a:t>）给操作系统的服务程序，例如读写文件。</a:t>
            </a:r>
            <a:r>
              <a:rPr lang="en-US" altLang="zh-CN" smtClean="0">
                <a:latin typeface="Arial" charset="0"/>
                <a:cs typeface="Arial" charset="0"/>
              </a:rPr>
              <a:t>POSIX.1 </a:t>
            </a:r>
            <a:r>
              <a:rPr lang="zh-CN" altLang="en-US" smtClean="0">
                <a:latin typeface="Arial" charset="0"/>
                <a:cs typeface="Arial" charset="0"/>
              </a:rPr>
              <a:t>已经被国际标准化组织（</a:t>
            </a:r>
            <a:r>
              <a:rPr lang="en-US" altLang="zh-CN" smtClean="0">
                <a:latin typeface="Arial" charset="0"/>
                <a:cs typeface="Arial" charset="0"/>
              </a:rPr>
              <a:t>International Standards Organization</a:t>
            </a:r>
            <a:r>
              <a:rPr lang="zh-CN" altLang="en-US" smtClean="0">
                <a:latin typeface="Arial" charset="0"/>
                <a:cs typeface="Arial" charset="0"/>
              </a:rPr>
              <a:t>，</a:t>
            </a:r>
            <a:r>
              <a:rPr lang="en-US" altLang="zh-CN" smtClean="0">
                <a:latin typeface="Arial" charset="0"/>
                <a:cs typeface="Arial" charset="0"/>
              </a:rPr>
              <a:t>ISO</a:t>
            </a:r>
            <a:r>
              <a:rPr lang="zh-CN" altLang="en-US" smtClean="0">
                <a:latin typeface="Arial" charset="0"/>
                <a:cs typeface="Arial" charset="0"/>
              </a:rPr>
              <a:t>）所接受，被命名为 </a:t>
            </a:r>
            <a:r>
              <a:rPr lang="en-US" altLang="zh-CN" smtClean="0">
                <a:latin typeface="Arial" charset="0"/>
                <a:cs typeface="Arial" charset="0"/>
              </a:rPr>
              <a:t>ISO/IEC 9945-1:1990 </a:t>
            </a:r>
            <a:r>
              <a:rPr lang="zh-CN" altLang="en-US" smtClean="0">
                <a:latin typeface="Arial" charset="0"/>
                <a:cs typeface="Arial" charset="0"/>
              </a:rPr>
              <a:t>标准。 </a:t>
            </a:r>
          </a:p>
          <a:p>
            <a:pPr eaLnBrk="1" hangingPunct="1"/>
            <a:r>
              <a:rPr lang="zh-CN" altLang="en-US" smtClean="0">
                <a:latin typeface="Arial" charset="0"/>
                <a:cs typeface="Arial" charset="0"/>
              </a:rPr>
              <a:t/>
            </a:r>
            <a:br>
              <a:rPr lang="zh-CN" altLang="en-US" smtClean="0">
                <a:latin typeface="Arial" charset="0"/>
                <a:cs typeface="Arial" charset="0"/>
              </a:rPr>
            </a:br>
            <a:endParaRPr lang="zh-CN" altLang="en-US" smtClean="0">
              <a:latin typeface="Arial" charset="0"/>
              <a:cs typeface="Arial" charset="0"/>
            </a:endParaRPr>
          </a:p>
          <a:p>
            <a:pPr eaLnBrk="1" hangingPunct="1"/>
            <a:r>
              <a:rPr lang="en-US" altLang="zh-CN" smtClean="0">
                <a:latin typeface="Arial" charset="0"/>
                <a:cs typeface="Arial" charset="0"/>
              </a:rPr>
              <a:t>POSIX </a:t>
            </a:r>
            <a:r>
              <a:rPr lang="zh-CN" altLang="en-US" smtClean="0">
                <a:latin typeface="Arial" charset="0"/>
                <a:cs typeface="Arial" charset="0"/>
              </a:rPr>
              <a:t>现在已经发展成为一个非常庞大的标准族，某些部分正处在开发过程中。表 </a:t>
            </a:r>
            <a:r>
              <a:rPr lang="en-US" altLang="zh-CN" smtClean="0">
                <a:latin typeface="Arial" charset="0"/>
                <a:cs typeface="Arial" charset="0"/>
              </a:rPr>
              <a:t>1-1 </a:t>
            </a:r>
            <a:r>
              <a:rPr lang="zh-CN" altLang="en-US" smtClean="0">
                <a:latin typeface="Arial" charset="0"/>
                <a:cs typeface="Arial" charset="0"/>
              </a:rPr>
              <a:t>给出了 </a:t>
            </a:r>
            <a:r>
              <a:rPr lang="en-US" altLang="zh-CN" smtClean="0">
                <a:latin typeface="Arial" charset="0"/>
                <a:cs typeface="Arial" charset="0"/>
              </a:rPr>
              <a:t>POSIX </a:t>
            </a:r>
            <a:r>
              <a:rPr lang="zh-CN" altLang="en-US" smtClean="0">
                <a:latin typeface="Arial" charset="0"/>
                <a:cs typeface="Arial" charset="0"/>
              </a:rPr>
              <a:t>标准的几个重要组成部分。</a:t>
            </a:r>
            <a:r>
              <a:rPr lang="en-US" altLang="zh-CN" smtClean="0">
                <a:latin typeface="Arial" charset="0"/>
                <a:cs typeface="Arial" charset="0"/>
              </a:rPr>
              <a:t>POSIX </a:t>
            </a:r>
            <a:r>
              <a:rPr lang="zh-CN" altLang="en-US" smtClean="0">
                <a:latin typeface="Arial" charset="0"/>
                <a:cs typeface="Arial" charset="0"/>
              </a:rPr>
              <a:t>与 </a:t>
            </a:r>
            <a:r>
              <a:rPr lang="en-US" altLang="zh-CN" smtClean="0">
                <a:latin typeface="Arial" charset="0"/>
                <a:cs typeface="Arial" charset="0"/>
              </a:rPr>
              <a:t>IEEE 1003 </a:t>
            </a:r>
            <a:r>
              <a:rPr lang="zh-CN" altLang="en-US" smtClean="0">
                <a:latin typeface="Arial" charset="0"/>
                <a:cs typeface="Arial" charset="0"/>
              </a:rPr>
              <a:t>和 </a:t>
            </a:r>
            <a:r>
              <a:rPr lang="en-US" altLang="zh-CN" smtClean="0">
                <a:latin typeface="Arial" charset="0"/>
                <a:cs typeface="Arial" charset="0"/>
              </a:rPr>
              <a:t>2003 </a:t>
            </a:r>
            <a:r>
              <a:rPr lang="zh-CN" altLang="en-US" smtClean="0">
                <a:latin typeface="Arial" charset="0"/>
                <a:cs typeface="Arial" charset="0"/>
              </a:rPr>
              <a:t>家族的标准是可互换的。除 </a:t>
            </a:r>
            <a:r>
              <a:rPr lang="en-US" altLang="zh-CN" smtClean="0">
                <a:latin typeface="Arial" charset="0"/>
                <a:cs typeface="Arial" charset="0"/>
              </a:rPr>
              <a:t>1003.1 </a:t>
            </a:r>
            <a:r>
              <a:rPr lang="zh-CN" altLang="en-US" smtClean="0">
                <a:latin typeface="Arial" charset="0"/>
                <a:cs typeface="Arial" charset="0"/>
              </a:rPr>
              <a:t>之外，</a:t>
            </a:r>
            <a:r>
              <a:rPr lang="en-US" altLang="zh-CN" smtClean="0">
                <a:latin typeface="Arial" charset="0"/>
                <a:cs typeface="Arial" charset="0"/>
              </a:rPr>
              <a:t>1003 </a:t>
            </a:r>
            <a:r>
              <a:rPr lang="zh-CN" altLang="en-US" smtClean="0">
                <a:latin typeface="Arial" charset="0"/>
                <a:cs typeface="Arial" charset="0"/>
              </a:rPr>
              <a:t>和 </a:t>
            </a:r>
            <a:r>
              <a:rPr lang="en-US" altLang="zh-CN" smtClean="0">
                <a:latin typeface="Arial" charset="0"/>
                <a:cs typeface="Arial" charset="0"/>
              </a:rPr>
              <a:t>2003 </a:t>
            </a:r>
            <a:r>
              <a:rPr lang="zh-CN" altLang="en-US" smtClean="0">
                <a:latin typeface="Arial" charset="0"/>
                <a:cs typeface="Arial" charset="0"/>
              </a:rPr>
              <a:t>家族也包括在表中。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80A904A7-D6CF-43B1-989F-DAA214A83AB6}" type="slidenum">
              <a:rPr lang="en-US" altLang="zh-CN" sz="1200">
                <a:latin typeface="Arial" charset="0"/>
              </a:rPr>
              <a:pPr algn="r"/>
              <a:t>309</a:t>
            </a:fld>
            <a:endParaRPr lang="en-US" altLang="zh-CN" sz="1200">
              <a:latin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marL="228600" indent="-228600" eaLnBrk="1" hangingPunct="1"/>
            <a:r>
              <a:rPr lang="en-US" altLang="zh-CN" smtClean="0">
                <a:latin typeface="Arial" charset="0"/>
                <a:cs typeface="Arial" charset="0"/>
              </a:rPr>
              <a:t>IPC_STAT</a:t>
            </a:r>
            <a:r>
              <a:rPr lang="zh-CN" altLang="en-US" smtClean="0">
                <a:latin typeface="Arial" charset="0"/>
                <a:cs typeface="Arial" charset="0"/>
              </a:rPr>
              <a:t>：该命令用来获取消息队列信息，返回的信息存贮在</a:t>
            </a:r>
            <a:r>
              <a:rPr lang="en-US" altLang="zh-CN" smtClean="0">
                <a:latin typeface="Arial" charset="0"/>
                <a:cs typeface="Arial" charset="0"/>
              </a:rPr>
              <a:t>buf</a:t>
            </a:r>
            <a:r>
              <a:rPr lang="zh-CN" altLang="en-US" smtClean="0">
                <a:latin typeface="Arial" charset="0"/>
                <a:cs typeface="Arial" charset="0"/>
              </a:rPr>
              <a:t>指向的</a:t>
            </a:r>
            <a:r>
              <a:rPr lang="en-US" altLang="zh-CN" smtClean="0">
                <a:latin typeface="Arial" charset="0"/>
                <a:cs typeface="Arial" charset="0"/>
              </a:rPr>
              <a:t>msqid</a:t>
            </a:r>
            <a:r>
              <a:rPr lang="zh-CN" altLang="en-US" smtClean="0">
                <a:latin typeface="Arial" charset="0"/>
                <a:cs typeface="Arial" charset="0"/>
              </a:rPr>
              <a:t>结构中； </a:t>
            </a:r>
          </a:p>
          <a:p>
            <a:pPr marL="228600" indent="-228600" eaLnBrk="1" hangingPunct="1"/>
            <a:r>
              <a:rPr lang="en-US" altLang="zh-CN" smtClean="0">
                <a:latin typeface="Arial" charset="0"/>
                <a:cs typeface="Arial" charset="0"/>
              </a:rPr>
              <a:t>IPC_SET</a:t>
            </a:r>
            <a:r>
              <a:rPr lang="zh-CN" altLang="en-US" smtClean="0">
                <a:latin typeface="Arial" charset="0"/>
                <a:cs typeface="Arial" charset="0"/>
              </a:rPr>
              <a:t>：该命令用来设置消息队列的属性，要设置的属性存储在</a:t>
            </a:r>
            <a:r>
              <a:rPr lang="en-US" altLang="zh-CN" smtClean="0">
                <a:latin typeface="Arial" charset="0"/>
                <a:cs typeface="Arial" charset="0"/>
              </a:rPr>
              <a:t>buf</a:t>
            </a:r>
            <a:r>
              <a:rPr lang="zh-CN" altLang="en-US" smtClean="0">
                <a:latin typeface="Arial" charset="0"/>
                <a:cs typeface="Arial" charset="0"/>
              </a:rPr>
              <a:t>指向的</a:t>
            </a:r>
            <a:r>
              <a:rPr lang="en-US" altLang="zh-CN" smtClean="0">
                <a:latin typeface="Arial" charset="0"/>
                <a:cs typeface="Arial" charset="0"/>
              </a:rPr>
              <a:t>msqid</a:t>
            </a:r>
            <a:r>
              <a:rPr lang="zh-CN" altLang="en-US" smtClean="0">
                <a:latin typeface="Arial" charset="0"/>
                <a:cs typeface="Arial" charset="0"/>
              </a:rPr>
              <a:t>结构中；可设置属性包括：</a:t>
            </a:r>
            <a:r>
              <a:rPr lang="en-US" altLang="zh-CN" smtClean="0">
                <a:latin typeface="Arial" charset="0"/>
                <a:cs typeface="Arial" charset="0"/>
              </a:rPr>
              <a:t>msg_perm.uid</a:t>
            </a:r>
            <a:r>
              <a:rPr lang="zh-CN" altLang="en-US" smtClean="0">
                <a:latin typeface="Arial" charset="0"/>
                <a:cs typeface="Arial" charset="0"/>
              </a:rPr>
              <a:t>、</a:t>
            </a:r>
            <a:r>
              <a:rPr lang="en-US" altLang="zh-CN" smtClean="0">
                <a:latin typeface="Arial" charset="0"/>
                <a:cs typeface="Arial" charset="0"/>
              </a:rPr>
              <a:t>msg_perm.gid</a:t>
            </a:r>
            <a:r>
              <a:rPr lang="zh-CN" altLang="en-US" smtClean="0">
                <a:latin typeface="Arial" charset="0"/>
                <a:cs typeface="Arial" charset="0"/>
              </a:rPr>
              <a:t>、</a:t>
            </a:r>
            <a:r>
              <a:rPr lang="en-US" altLang="zh-CN" smtClean="0">
                <a:latin typeface="Arial" charset="0"/>
                <a:cs typeface="Arial" charset="0"/>
              </a:rPr>
              <a:t>msg_perm.mode</a:t>
            </a:r>
            <a:r>
              <a:rPr lang="zh-CN" altLang="en-US" smtClean="0">
                <a:latin typeface="Arial" charset="0"/>
                <a:cs typeface="Arial" charset="0"/>
              </a:rPr>
              <a:t>以及</a:t>
            </a:r>
            <a:r>
              <a:rPr lang="en-US" altLang="zh-CN" smtClean="0">
                <a:latin typeface="Arial" charset="0"/>
                <a:cs typeface="Arial" charset="0"/>
              </a:rPr>
              <a:t>msg_qbytes</a:t>
            </a:r>
            <a:r>
              <a:rPr lang="zh-CN" altLang="en-US" smtClean="0">
                <a:latin typeface="Arial" charset="0"/>
                <a:cs typeface="Arial" charset="0"/>
              </a:rPr>
              <a:t>，同时，也影响</a:t>
            </a:r>
            <a:r>
              <a:rPr lang="en-US" altLang="zh-CN" smtClean="0">
                <a:latin typeface="Arial" charset="0"/>
                <a:cs typeface="Arial" charset="0"/>
              </a:rPr>
              <a:t>msg_ctime</a:t>
            </a:r>
            <a:r>
              <a:rPr lang="zh-CN" altLang="en-US" smtClean="0">
                <a:latin typeface="Arial" charset="0"/>
                <a:cs typeface="Arial" charset="0"/>
              </a:rPr>
              <a:t>成员。 </a:t>
            </a:r>
          </a:p>
          <a:p>
            <a:pPr marL="228600" indent="-228600" eaLnBrk="1" hangingPunct="1"/>
            <a:r>
              <a:rPr lang="en-US" altLang="zh-CN" smtClean="0">
                <a:latin typeface="Arial" charset="0"/>
                <a:cs typeface="Arial" charset="0"/>
              </a:rPr>
              <a:t>IPC_RMID</a:t>
            </a:r>
            <a:r>
              <a:rPr lang="zh-CN" altLang="en-US" smtClean="0">
                <a:latin typeface="Arial" charset="0"/>
                <a:cs typeface="Arial" charset="0"/>
              </a:rPr>
              <a:t>：删除</a:t>
            </a:r>
            <a:r>
              <a:rPr lang="en-US" altLang="zh-CN" smtClean="0">
                <a:latin typeface="Arial" charset="0"/>
                <a:cs typeface="Arial" charset="0"/>
              </a:rPr>
              <a:t>msqid</a:t>
            </a:r>
            <a:r>
              <a:rPr lang="zh-CN" altLang="en-US" smtClean="0">
                <a:latin typeface="Arial" charset="0"/>
                <a:cs typeface="Arial" charset="0"/>
              </a:rPr>
              <a:t>标识的消息队列； </a:t>
            </a:r>
          </a:p>
          <a:p>
            <a:pPr marL="228600" indent="-228600" eaLnBrk="1" hangingPunct="1"/>
            <a:endParaRPr lang="en-US" altLang="zh-CN" smtClean="0">
              <a:latin typeface="Arial" charset="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DF91B03E-0F6A-4602-B73C-5E0D94F2F29D}" type="slidenum">
              <a:rPr lang="en-US" altLang="zh-CN" sz="1200">
                <a:latin typeface="Arial" charset="0"/>
              </a:rPr>
              <a:pPr algn="r"/>
              <a:t>330</a:t>
            </a:fld>
            <a:endParaRPr lang="en-US" altLang="zh-CN" sz="1200">
              <a:latin typeface="Arial"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r>
              <a:rPr lang="zh-CN" altLang="en-US" smtClean="0">
                <a:latin typeface="Arial" charset="0"/>
                <a:cs typeface="Arial" charset="0"/>
              </a:rPr>
              <a:t>在</a:t>
            </a:r>
            <a:r>
              <a:rPr lang="en-US" altLang="zh-CN" smtClean="0">
                <a:latin typeface="Arial" charset="0"/>
                <a:cs typeface="Arial" charset="0"/>
              </a:rPr>
              <a:t>/proc/sys/kernel/</a:t>
            </a:r>
            <a:r>
              <a:rPr lang="zh-CN" altLang="en-US" smtClean="0">
                <a:latin typeface="Arial" charset="0"/>
                <a:cs typeface="Arial" charset="0"/>
              </a:rPr>
              <a:t>目录下，记录着系统</a:t>
            </a:r>
            <a:r>
              <a:rPr lang="en-US" altLang="zh-CN" smtClean="0">
                <a:latin typeface="Arial" charset="0"/>
                <a:cs typeface="Arial" charset="0"/>
              </a:rPr>
              <a:t>V</a:t>
            </a:r>
            <a:r>
              <a:rPr lang="zh-CN" altLang="en-US" smtClean="0">
                <a:latin typeface="Arial" charset="0"/>
                <a:cs typeface="Arial" charset="0"/>
              </a:rPr>
              <a:t>共享内存的一下限制，如一个共享内存区的最大字节数</a:t>
            </a:r>
            <a:r>
              <a:rPr lang="en-US" altLang="zh-CN" smtClean="0">
                <a:latin typeface="Arial" charset="0"/>
                <a:cs typeface="Arial" charset="0"/>
              </a:rPr>
              <a:t>shmmax</a:t>
            </a:r>
            <a:r>
              <a:rPr lang="zh-CN" altLang="en-US" smtClean="0">
                <a:latin typeface="Arial" charset="0"/>
                <a:cs typeface="Arial" charset="0"/>
              </a:rPr>
              <a:t>，系统范围内最大共享内存区标识符数</a:t>
            </a:r>
            <a:r>
              <a:rPr lang="en-US" altLang="zh-CN" smtClean="0">
                <a:latin typeface="Arial" charset="0"/>
                <a:cs typeface="Arial" charset="0"/>
              </a:rPr>
              <a:t>shmmni</a:t>
            </a:r>
            <a:r>
              <a:rPr lang="zh-CN" altLang="en-US" smtClean="0">
                <a:latin typeface="Arial" charset="0"/>
                <a:cs typeface="Arial" charset="0"/>
              </a:rPr>
              <a:t>等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0B9E3ADE-1BFF-463A-BDE3-088946A5178E}" type="slidenum">
              <a:rPr lang="en-US" altLang="zh-CN" sz="1200">
                <a:latin typeface="Arial" charset="0"/>
              </a:rPr>
              <a:pPr algn="r"/>
              <a:t>344</a:t>
            </a:fld>
            <a:endParaRPr lang="en-US" altLang="zh-CN" sz="1200">
              <a:latin typeface="Arial"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zh-CN" altLang="zh-CN" smtClean="0">
              <a:latin typeface="Arial" charset="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F57414F9-1978-4EF0-B227-4EFDBD13CBFA}" type="slidenum">
              <a:rPr lang="en-US" altLang="zh-CN" sz="1200">
                <a:latin typeface="Arial" charset="0"/>
              </a:rPr>
              <a:pPr algn="r"/>
              <a:t>355</a:t>
            </a:fld>
            <a:endParaRPr lang="en-US" altLang="zh-CN" sz="1200">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r>
              <a:rPr lang="en-US" altLang="zh-CN" smtClean="0">
                <a:latin typeface="Arial" charset="0"/>
                <a:cs typeface="Arial" charset="0"/>
              </a:rPr>
              <a:t>oflag</a:t>
            </a:r>
            <a:r>
              <a:rPr lang="zh-CN" altLang="en-US" smtClean="0">
                <a:latin typeface="Arial" charset="0"/>
                <a:cs typeface="Arial" charset="0"/>
              </a:rPr>
              <a:t>参数可以是</a:t>
            </a:r>
            <a:r>
              <a:rPr lang="en-US" altLang="zh-CN" smtClean="0">
                <a:latin typeface="Arial" charset="0"/>
                <a:cs typeface="Arial" charset="0"/>
              </a:rPr>
              <a:t>0</a:t>
            </a:r>
            <a:r>
              <a:rPr lang="zh-CN" altLang="en-US" smtClean="0">
                <a:latin typeface="Arial" charset="0"/>
                <a:cs typeface="Arial" charset="0"/>
              </a:rPr>
              <a:t>、</a:t>
            </a:r>
            <a:r>
              <a:rPr lang="en-US" altLang="zh-CN" smtClean="0">
                <a:latin typeface="Arial" charset="0"/>
                <a:cs typeface="Arial" charset="0"/>
              </a:rPr>
              <a:t>O_CREAT</a:t>
            </a:r>
            <a:r>
              <a:rPr lang="zh-CN" altLang="en-US" smtClean="0">
                <a:latin typeface="Arial" charset="0"/>
                <a:cs typeface="Arial" charset="0"/>
              </a:rPr>
              <a:t>（创建一个信号灯）或</a:t>
            </a:r>
            <a:r>
              <a:rPr lang="en-US" altLang="zh-CN" smtClean="0">
                <a:latin typeface="Arial" charset="0"/>
                <a:cs typeface="Arial" charset="0"/>
              </a:rPr>
              <a:t>O_CREAT|O_EXCL</a:t>
            </a:r>
            <a:r>
              <a:rPr lang="zh-CN" altLang="en-US" smtClean="0">
                <a:latin typeface="Arial" charset="0"/>
                <a:cs typeface="Arial" charset="0"/>
              </a:rPr>
              <a:t>（如果没有指定的信号灯就创建），如果指定了</a:t>
            </a:r>
            <a:r>
              <a:rPr lang="en-US" altLang="zh-CN" smtClean="0">
                <a:latin typeface="Arial" charset="0"/>
                <a:cs typeface="Arial" charset="0"/>
              </a:rPr>
              <a:t>O_CREAT</a:t>
            </a:r>
            <a:r>
              <a:rPr lang="zh-CN" altLang="en-US" smtClean="0">
                <a:latin typeface="Arial" charset="0"/>
                <a:cs typeface="Arial" charset="0"/>
              </a:rPr>
              <a:t>，那么第三个和第四个参数是需要的；其中</a:t>
            </a:r>
            <a:r>
              <a:rPr lang="en-US" altLang="zh-CN" smtClean="0">
                <a:latin typeface="Arial" charset="0"/>
                <a:cs typeface="Arial" charset="0"/>
              </a:rPr>
              <a:t>mode</a:t>
            </a:r>
            <a:r>
              <a:rPr lang="zh-CN" altLang="en-US" smtClean="0">
                <a:latin typeface="Arial" charset="0"/>
                <a:cs typeface="Arial" charset="0"/>
              </a:rPr>
              <a:t>参数指定权限位，</a:t>
            </a:r>
            <a:r>
              <a:rPr lang="en-US" altLang="zh-CN" smtClean="0">
                <a:latin typeface="Arial" charset="0"/>
                <a:cs typeface="Arial" charset="0"/>
              </a:rPr>
              <a:t>value</a:t>
            </a:r>
            <a:r>
              <a:rPr lang="zh-CN" altLang="en-US" smtClean="0">
                <a:latin typeface="Arial" charset="0"/>
                <a:cs typeface="Arial" charset="0"/>
              </a:rPr>
              <a:t>参数指定信号灯的初始值，通常用来指定共享资源的书面。该初始不能超过</a:t>
            </a:r>
            <a:r>
              <a:rPr lang="en-US" altLang="zh-CN" smtClean="0">
                <a:latin typeface="Arial" charset="0"/>
                <a:cs typeface="Arial" charset="0"/>
              </a:rPr>
              <a:t>SEM_VALUE_MAX</a:t>
            </a:r>
            <a:r>
              <a:rPr lang="zh-CN" altLang="en-US" smtClean="0">
                <a:latin typeface="Arial" charset="0"/>
                <a:cs typeface="Arial" charset="0"/>
              </a:rPr>
              <a:t>，这个常值必须低于为</a:t>
            </a:r>
            <a:r>
              <a:rPr lang="en-US" altLang="zh-CN" smtClean="0">
                <a:latin typeface="Arial" charset="0"/>
                <a:cs typeface="Arial" charset="0"/>
              </a:rPr>
              <a:t>32767</a:t>
            </a:r>
            <a:r>
              <a:rPr lang="zh-CN" altLang="en-US" smtClean="0">
                <a:latin typeface="Arial" charset="0"/>
                <a:cs typeface="Arial" charset="0"/>
              </a:rPr>
              <a:t>。二值信号灯的初始值通常为</a:t>
            </a:r>
            <a:r>
              <a:rPr lang="en-US" altLang="zh-CN" smtClean="0">
                <a:latin typeface="Arial" charset="0"/>
                <a:cs typeface="Arial" charset="0"/>
              </a:rPr>
              <a:t>1</a:t>
            </a:r>
            <a:r>
              <a:rPr lang="zh-CN" altLang="en-US" smtClean="0">
                <a:latin typeface="Arial" charset="0"/>
                <a:cs typeface="Arial" charset="0"/>
              </a:rPr>
              <a:t>，计数信号灯的初始值则往往大于</a:t>
            </a:r>
            <a:r>
              <a:rPr lang="en-US" altLang="zh-CN" smtClean="0">
                <a:latin typeface="Arial" charset="0"/>
                <a:cs typeface="Arial" charset="0"/>
              </a:rPr>
              <a:t>1</a:t>
            </a:r>
            <a:r>
              <a:rPr lang="zh-CN" altLang="en-US" smtClean="0">
                <a:latin typeface="Arial" charset="0"/>
                <a:cs typeface="Arial" charset="0"/>
              </a:rPr>
              <a:t>。</a:t>
            </a:r>
          </a:p>
          <a:p>
            <a:pPr eaLnBrk="1" hangingPunct="1"/>
            <a:r>
              <a:rPr lang="zh-CN" altLang="en-US" smtClean="0">
                <a:latin typeface="Arial" charset="0"/>
                <a:cs typeface="Arial" charset="0"/>
              </a:rPr>
              <a:t>       如果指定了</a:t>
            </a:r>
            <a:r>
              <a:rPr lang="en-US" altLang="zh-CN" smtClean="0">
                <a:latin typeface="Arial" charset="0"/>
                <a:cs typeface="Arial" charset="0"/>
              </a:rPr>
              <a:t>O_CREAT</a:t>
            </a:r>
            <a:r>
              <a:rPr lang="zh-CN" altLang="en-US" smtClean="0">
                <a:latin typeface="Arial" charset="0"/>
                <a:cs typeface="Arial" charset="0"/>
              </a:rPr>
              <a:t>（而没有指定</a:t>
            </a:r>
            <a:r>
              <a:rPr lang="en-US" altLang="zh-CN" smtClean="0">
                <a:latin typeface="Arial" charset="0"/>
                <a:cs typeface="Arial" charset="0"/>
              </a:rPr>
              <a:t>O_EXCL</a:t>
            </a:r>
            <a:r>
              <a:rPr lang="zh-CN" altLang="en-US" smtClean="0">
                <a:latin typeface="Arial" charset="0"/>
                <a:cs typeface="Arial" charset="0"/>
              </a:rPr>
              <a:t>），那么只有所需的信号灯尚未存在时才初始化它。所需信号灯已存在条件下指定</a:t>
            </a:r>
            <a:r>
              <a:rPr lang="en-US" altLang="zh-CN" smtClean="0">
                <a:latin typeface="Arial" charset="0"/>
                <a:cs typeface="Arial" charset="0"/>
              </a:rPr>
              <a:t>O_CREAT</a:t>
            </a:r>
            <a:r>
              <a:rPr lang="zh-CN" altLang="en-US" smtClean="0">
                <a:latin typeface="Arial" charset="0"/>
                <a:cs typeface="Arial" charset="0"/>
              </a:rPr>
              <a:t>不是一个错误。该标志的意思仅仅是“如果所需信号灯尚未存在，那就创建并初始化它”。但是所需信号灯等已存在条件下指定</a:t>
            </a:r>
            <a:r>
              <a:rPr lang="en-US" altLang="zh-CN" smtClean="0">
                <a:latin typeface="Arial" charset="0"/>
                <a:cs typeface="Arial" charset="0"/>
              </a:rPr>
              <a:t>O_CREAT|O_EXCL</a:t>
            </a:r>
            <a:r>
              <a:rPr lang="zh-CN" altLang="en-US" smtClean="0">
                <a:latin typeface="Arial" charset="0"/>
                <a:cs typeface="Arial" charset="0"/>
              </a:rPr>
              <a:t>却是一个错误。</a:t>
            </a:r>
          </a:p>
          <a:p>
            <a:pPr eaLnBrk="1" hangingPunct="1"/>
            <a:r>
              <a:rPr lang="zh-CN" altLang="en-US" smtClean="0">
                <a:latin typeface="Arial" charset="0"/>
                <a:cs typeface="Arial" charset="0"/>
              </a:rPr>
              <a:t>       </a:t>
            </a:r>
            <a:r>
              <a:rPr lang="en-US" altLang="zh-CN" smtClean="0">
                <a:latin typeface="Arial" charset="0"/>
                <a:cs typeface="Arial" charset="0"/>
              </a:rPr>
              <a:t>sem_open</a:t>
            </a:r>
            <a:r>
              <a:rPr lang="zh-CN" altLang="en-US" smtClean="0">
                <a:latin typeface="Arial" charset="0"/>
                <a:cs typeface="Arial" charset="0"/>
              </a:rPr>
              <a:t>返回指向</a:t>
            </a:r>
            <a:r>
              <a:rPr lang="en-US" altLang="zh-CN" smtClean="0">
                <a:latin typeface="Arial" charset="0"/>
                <a:cs typeface="Arial" charset="0"/>
              </a:rPr>
              <a:t>sem_t</a:t>
            </a:r>
            <a:r>
              <a:rPr lang="zh-CN" altLang="en-US" smtClean="0">
                <a:latin typeface="Arial" charset="0"/>
                <a:cs typeface="Arial" charset="0"/>
              </a:rPr>
              <a:t>信号灯的指针，该结构里记录着当前共享资源的数目。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AFE07BB1-6569-4824-A301-BA4AC3246F05}" type="slidenum">
              <a:rPr lang="en-US" altLang="zh-CN" sz="1200">
                <a:latin typeface="Arial" charset="0"/>
              </a:rPr>
              <a:pPr algn="r"/>
              <a:t>356</a:t>
            </a:fld>
            <a:endParaRPr lang="en-US" altLang="zh-CN" sz="1200">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r>
              <a:rPr lang="zh-CN" altLang="en-US" smtClean="0">
                <a:latin typeface="Arial" charset="0"/>
                <a:cs typeface="Arial" charset="0"/>
              </a:rPr>
              <a:t>一个进程终止时，内核还对其上仍然打开着的所有有名信号灯自动执行这样的信号灯关闭操作。不论该进程是自愿终止的还是非自愿终止的，这种自动关闭都会发生。</a:t>
            </a:r>
          </a:p>
          <a:p>
            <a:pPr eaLnBrk="1" hangingPunct="1"/>
            <a:r>
              <a:rPr lang="zh-CN" altLang="en-US" smtClean="0">
                <a:latin typeface="Arial" charset="0"/>
                <a:cs typeface="Arial" charset="0"/>
              </a:rPr>
              <a:t>       但应注意的是关闭一个信号灯并没有将它从系统中删除。这就是说，</a:t>
            </a:r>
            <a:r>
              <a:rPr lang="en-US" altLang="zh-CN" smtClean="0">
                <a:latin typeface="Arial" charset="0"/>
                <a:cs typeface="Arial" charset="0"/>
              </a:rPr>
              <a:t>Posix</a:t>
            </a:r>
            <a:r>
              <a:rPr lang="zh-CN" altLang="en-US" smtClean="0">
                <a:latin typeface="Arial" charset="0"/>
                <a:cs typeface="Arial" charset="0"/>
              </a:rPr>
              <a:t>有名信号灯至少是随内核持续的：即使当前没有进程打开着某个信号灯，它的值仍然保持。</a:t>
            </a:r>
          </a:p>
          <a:p>
            <a:pPr eaLnBrk="1" hangingPunct="1"/>
            <a:r>
              <a:rPr lang="zh-CN" altLang="en-US" smtClean="0">
                <a:latin typeface="Arial" charset="0"/>
                <a:cs typeface="Arial" charset="0"/>
              </a:rPr>
              <a:t>有名信号灯使用</a:t>
            </a:r>
            <a:r>
              <a:rPr lang="en-US" altLang="zh-CN" smtClean="0">
                <a:latin typeface="Arial" charset="0"/>
                <a:cs typeface="Arial" charset="0"/>
              </a:rPr>
              <a:t>sem_unlink</a:t>
            </a:r>
            <a:r>
              <a:rPr lang="zh-CN" altLang="en-US" smtClean="0">
                <a:latin typeface="Arial" charset="0"/>
                <a:cs typeface="Arial" charset="0"/>
              </a:rPr>
              <a:t>从系统中删除。</a:t>
            </a:r>
          </a:p>
          <a:p>
            <a:pPr eaLnBrk="1" hangingPunct="1"/>
            <a:r>
              <a:rPr lang="zh-CN" altLang="en-US" smtClean="0">
                <a:latin typeface="Arial" charset="0"/>
                <a:cs typeface="Arial" charset="0"/>
              </a:rPr>
              <a:t>每个信号灯有一个引用计数器记录当前的打开次数，</a:t>
            </a:r>
            <a:r>
              <a:rPr lang="en-US" altLang="zh-CN" smtClean="0">
                <a:latin typeface="Arial" charset="0"/>
                <a:cs typeface="Arial" charset="0"/>
              </a:rPr>
              <a:t>sem_unlink</a:t>
            </a:r>
            <a:r>
              <a:rPr lang="zh-CN" altLang="en-US" smtClean="0">
                <a:latin typeface="Arial" charset="0"/>
                <a:cs typeface="Arial" charset="0"/>
              </a:rPr>
              <a:t>必须等待这个数为</a:t>
            </a:r>
            <a:r>
              <a:rPr lang="en-US" altLang="zh-CN" smtClean="0">
                <a:latin typeface="Arial" charset="0"/>
                <a:cs typeface="Arial" charset="0"/>
              </a:rPr>
              <a:t>0</a:t>
            </a:r>
            <a:r>
              <a:rPr lang="zh-CN" altLang="en-US" smtClean="0">
                <a:latin typeface="Arial" charset="0"/>
                <a:cs typeface="Arial" charset="0"/>
              </a:rPr>
              <a:t>时才能把</a:t>
            </a:r>
            <a:r>
              <a:rPr lang="en-US" altLang="zh-CN" smtClean="0">
                <a:latin typeface="Arial" charset="0"/>
                <a:cs typeface="Arial" charset="0"/>
              </a:rPr>
              <a:t>name</a:t>
            </a:r>
            <a:r>
              <a:rPr lang="zh-CN" altLang="en-US" smtClean="0">
                <a:latin typeface="Arial" charset="0"/>
                <a:cs typeface="Arial" charset="0"/>
              </a:rPr>
              <a:t>所指的信号灯从文件系统中删除。也就是要等待最后一个</a:t>
            </a:r>
            <a:r>
              <a:rPr lang="en-US" altLang="zh-CN" smtClean="0">
                <a:latin typeface="Arial" charset="0"/>
                <a:cs typeface="Arial" charset="0"/>
              </a:rPr>
              <a:t>sem_close</a:t>
            </a:r>
            <a:r>
              <a:rPr lang="zh-CN" altLang="en-US" smtClean="0">
                <a:latin typeface="Arial" charset="0"/>
                <a:cs typeface="Arial" charset="0"/>
              </a:rPr>
              <a:t>发生。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08C54DE7-B42E-4737-83ED-C9D02E6D6755}" type="slidenum">
              <a:rPr lang="en-US" altLang="zh-CN" sz="1200">
                <a:latin typeface="Arial" charset="0"/>
              </a:rPr>
              <a:pPr algn="r"/>
              <a:t>358</a:t>
            </a:fld>
            <a:endParaRPr lang="en-US" altLang="zh-CN" sz="1200">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lnSpc>
                <a:spcPct val="90000"/>
              </a:lnSpc>
            </a:pPr>
            <a:r>
              <a:rPr lang="zh-CN" altLang="en-US" sz="900" smtClean="0">
                <a:latin typeface="Arial" charset="0"/>
                <a:cs typeface="Arial" charset="0"/>
              </a:rPr>
              <a:t>在由</a:t>
            </a:r>
            <a:r>
              <a:rPr lang="en-US" altLang="zh-CN" sz="900" smtClean="0">
                <a:latin typeface="Arial" charset="0"/>
                <a:cs typeface="Arial" charset="0"/>
              </a:rPr>
              <a:t>valp</a:t>
            </a:r>
            <a:r>
              <a:rPr lang="zh-CN" altLang="en-US" sz="900" smtClean="0">
                <a:latin typeface="Arial" charset="0"/>
                <a:cs typeface="Arial" charset="0"/>
              </a:rPr>
              <a:t>指向的正数中返回所指定信号灯的当前值。如果该信号灯当前已上锁，那么返回值或为</a:t>
            </a:r>
            <a:r>
              <a:rPr lang="en-US" altLang="zh-CN" sz="900" smtClean="0">
                <a:latin typeface="Arial" charset="0"/>
                <a:cs typeface="Arial" charset="0"/>
              </a:rPr>
              <a:t>0</a:t>
            </a:r>
            <a:r>
              <a:rPr lang="zh-CN" altLang="en-US" sz="900" smtClean="0">
                <a:latin typeface="Arial" charset="0"/>
                <a:cs typeface="Arial" charset="0"/>
              </a:rPr>
              <a:t>，或为某个负数，其绝对值就是等待该信号灯解锁的线程数。</a:t>
            </a:r>
          </a:p>
          <a:p>
            <a:pPr eaLnBrk="1" hangingPunct="1">
              <a:lnSpc>
                <a:spcPct val="90000"/>
              </a:lnSpc>
            </a:pPr>
            <a:r>
              <a:rPr lang="zh-CN" altLang="en-US" sz="900" smtClean="0">
                <a:latin typeface="Arial" charset="0"/>
                <a:cs typeface="Arial" charset="0"/>
              </a:rPr>
              <a:t> </a:t>
            </a:r>
          </a:p>
          <a:p>
            <a:pPr eaLnBrk="1" hangingPunct="1">
              <a:lnSpc>
                <a:spcPct val="90000"/>
              </a:lnSpc>
            </a:pPr>
            <a:r>
              <a:rPr lang="en-US" altLang="zh-CN" sz="900" smtClean="0">
                <a:latin typeface="Arial" charset="0"/>
                <a:cs typeface="Arial" charset="0"/>
              </a:rPr>
              <a:t>/*semgetvalue.c*/</a:t>
            </a:r>
          </a:p>
          <a:p>
            <a:pPr eaLnBrk="1" hangingPunct="1">
              <a:lnSpc>
                <a:spcPct val="90000"/>
              </a:lnSpc>
            </a:pPr>
            <a:r>
              <a:rPr lang="en-US" altLang="zh-CN" sz="900" smtClean="0">
                <a:latin typeface="Arial" charset="0"/>
                <a:cs typeface="Arial" charset="0"/>
              </a:rPr>
              <a:t>#include &lt;semaphore.h&gt;</a:t>
            </a:r>
          </a:p>
          <a:p>
            <a:pPr eaLnBrk="1" hangingPunct="1">
              <a:lnSpc>
                <a:spcPct val="90000"/>
              </a:lnSpc>
            </a:pPr>
            <a:r>
              <a:rPr lang="en-US" altLang="zh-CN" sz="900" smtClean="0">
                <a:latin typeface="Arial" charset="0"/>
                <a:cs typeface="Arial" charset="0"/>
              </a:rPr>
              <a:t>#include &lt;unistd.h&gt;</a:t>
            </a:r>
          </a:p>
          <a:p>
            <a:pPr eaLnBrk="1" hangingPunct="1">
              <a:lnSpc>
                <a:spcPct val="90000"/>
              </a:lnSpc>
            </a:pPr>
            <a:r>
              <a:rPr lang="en-US" altLang="zh-CN" sz="900" smtClean="0">
                <a:latin typeface="Arial" charset="0"/>
                <a:cs typeface="Arial" charset="0"/>
              </a:rPr>
              <a:t>#include &lt;stdio.h&gt;</a:t>
            </a:r>
          </a:p>
          <a:p>
            <a:pPr eaLnBrk="1" hangingPunct="1">
              <a:lnSpc>
                <a:spcPct val="90000"/>
              </a:lnSpc>
            </a:pPr>
            <a:r>
              <a:rPr lang="en-US" altLang="zh-CN" sz="900" smtClean="0">
                <a:latin typeface="Arial" charset="0"/>
                <a:cs typeface="Arial" charset="0"/>
              </a:rPr>
              <a:t>#include &lt;stdlib.h&gt;</a:t>
            </a:r>
          </a:p>
          <a:p>
            <a:pPr eaLnBrk="1" hangingPunct="1">
              <a:lnSpc>
                <a:spcPct val="90000"/>
              </a:lnSpc>
            </a:pPr>
            <a:r>
              <a:rPr lang="en-US" altLang="zh-CN" sz="900" smtClean="0">
                <a:latin typeface="Arial" charset="0"/>
                <a:cs typeface="Arial" charset="0"/>
              </a:rPr>
              <a:t>#include &lt;fcntl.h&gt;</a:t>
            </a:r>
          </a:p>
          <a:p>
            <a:pPr eaLnBrk="1" hangingPunct="1">
              <a:lnSpc>
                <a:spcPct val="90000"/>
              </a:lnSpc>
            </a:pPr>
            <a:r>
              <a:rPr lang="en-US" altLang="zh-CN" sz="900" smtClean="0">
                <a:latin typeface="Arial" charset="0"/>
                <a:cs typeface="Arial" charset="0"/>
              </a:rPr>
              <a:t> </a:t>
            </a:r>
          </a:p>
          <a:p>
            <a:pPr eaLnBrk="1" hangingPunct="1">
              <a:lnSpc>
                <a:spcPct val="90000"/>
              </a:lnSpc>
            </a:pPr>
            <a:r>
              <a:rPr lang="en-US" altLang="zh-CN" sz="900" smtClean="0">
                <a:latin typeface="Arial" charset="0"/>
                <a:cs typeface="Arial" charset="0"/>
              </a:rPr>
              <a:t>int main(int argc,char **argv)</a:t>
            </a:r>
          </a:p>
          <a:p>
            <a:pPr eaLnBrk="1" hangingPunct="1">
              <a:lnSpc>
                <a:spcPct val="90000"/>
              </a:lnSpc>
            </a:pPr>
            <a:r>
              <a:rPr lang="en-US" altLang="zh-CN" sz="900" smtClean="0">
                <a:latin typeface="Arial" charset="0"/>
                <a:cs typeface="Arial" charset="0"/>
              </a:rPr>
              <a:t>{</a:t>
            </a:r>
          </a:p>
          <a:p>
            <a:pPr eaLnBrk="1" hangingPunct="1">
              <a:lnSpc>
                <a:spcPct val="90000"/>
              </a:lnSpc>
            </a:pPr>
            <a:r>
              <a:rPr lang="en-US" altLang="zh-CN" sz="900" smtClean="0">
                <a:latin typeface="Arial" charset="0"/>
                <a:cs typeface="Arial" charset="0"/>
              </a:rPr>
              <a:t>sem_t *sem;</a:t>
            </a:r>
          </a:p>
          <a:p>
            <a:pPr eaLnBrk="1" hangingPunct="1">
              <a:lnSpc>
                <a:spcPct val="90000"/>
              </a:lnSpc>
            </a:pPr>
            <a:r>
              <a:rPr lang="en-US" altLang="zh-CN" sz="900" smtClean="0">
                <a:latin typeface="Arial" charset="0"/>
                <a:cs typeface="Arial" charset="0"/>
              </a:rPr>
              <a:t>int val;</a:t>
            </a:r>
          </a:p>
          <a:p>
            <a:pPr eaLnBrk="1" hangingPunct="1">
              <a:lnSpc>
                <a:spcPct val="90000"/>
              </a:lnSpc>
            </a:pPr>
            <a:r>
              <a:rPr lang="en-US" altLang="zh-CN" sz="900" smtClean="0">
                <a:latin typeface="Arial" charset="0"/>
                <a:cs typeface="Arial" charset="0"/>
              </a:rPr>
              <a:t> </a:t>
            </a:r>
          </a:p>
          <a:p>
            <a:pPr eaLnBrk="1" hangingPunct="1">
              <a:lnSpc>
                <a:spcPct val="90000"/>
              </a:lnSpc>
            </a:pPr>
            <a:r>
              <a:rPr lang="en-US" altLang="zh-CN" sz="900" smtClean="0">
                <a:latin typeface="Arial" charset="0"/>
                <a:cs typeface="Arial" charset="0"/>
              </a:rPr>
              <a:t>if(argc!=2)</a:t>
            </a:r>
          </a:p>
          <a:p>
            <a:pPr eaLnBrk="1" hangingPunct="1">
              <a:lnSpc>
                <a:spcPct val="90000"/>
              </a:lnSpc>
            </a:pPr>
            <a:r>
              <a:rPr lang="en-US" altLang="zh-CN" sz="900" smtClean="0">
                <a:latin typeface="Arial" charset="0"/>
                <a:cs typeface="Arial" charset="0"/>
              </a:rPr>
              <a:t>{</a:t>
            </a:r>
          </a:p>
          <a:p>
            <a:pPr eaLnBrk="1" hangingPunct="1">
              <a:lnSpc>
                <a:spcPct val="90000"/>
              </a:lnSpc>
            </a:pPr>
            <a:r>
              <a:rPr lang="en-US" altLang="zh-CN" sz="900" smtClean="0">
                <a:latin typeface="Arial" charset="0"/>
                <a:cs typeface="Arial" charset="0"/>
              </a:rPr>
              <a:t>    printf(“please input a file name!\n”);</a:t>
            </a:r>
          </a:p>
          <a:p>
            <a:pPr eaLnBrk="1" hangingPunct="1">
              <a:lnSpc>
                <a:spcPct val="90000"/>
              </a:lnSpc>
            </a:pPr>
            <a:r>
              <a:rPr lang="en-US" altLang="zh-CN" sz="900" smtClean="0">
                <a:latin typeface="Arial" charset="0"/>
                <a:cs typeface="Arial" charset="0"/>
              </a:rPr>
              <a:t>    exit(1);</a:t>
            </a:r>
          </a:p>
          <a:p>
            <a:pPr eaLnBrk="1" hangingPunct="1">
              <a:lnSpc>
                <a:spcPct val="90000"/>
              </a:lnSpc>
            </a:pPr>
            <a:r>
              <a:rPr lang="en-US" altLang="zh-CN" sz="900" smtClean="0">
                <a:latin typeface="Arial" charset="0"/>
                <a:cs typeface="Arial" charset="0"/>
              </a:rPr>
              <a:t>}</a:t>
            </a:r>
          </a:p>
          <a:p>
            <a:pPr eaLnBrk="1" hangingPunct="1">
              <a:lnSpc>
                <a:spcPct val="90000"/>
              </a:lnSpc>
            </a:pPr>
            <a:r>
              <a:rPr lang="en-US" altLang="zh-CN" sz="900" smtClean="0">
                <a:latin typeface="Arial" charset="0"/>
                <a:cs typeface="Arial" charset="0"/>
              </a:rPr>
              <a:t>sem=sem_open(argv[1],0);</a:t>
            </a:r>
          </a:p>
          <a:p>
            <a:pPr eaLnBrk="1" hangingPunct="1">
              <a:lnSpc>
                <a:spcPct val="90000"/>
              </a:lnSpc>
            </a:pPr>
            <a:r>
              <a:rPr lang="en-US" altLang="zh-CN" sz="900" smtClean="0">
                <a:latin typeface="Arial" charset="0"/>
                <a:cs typeface="Arial" charset="0"/>
              </a:rPr>
              <a:t>sem_getvalue(sem,&amp;val);</a:t>
            </a:r>
          </a:p>
          <a:p>
            <a:pPr eaLnBrk="1" hangingPunct="1">
              <a:lnSpc>
                <a:spcPct val="90000"/>
              </a:lnSpc>
            </a:pPr>
            <a:r>
              <a:rPr lang="en-US" altLang="zh-CN" sz="900" smtClean="0">
                <a:latin typeface="Arial" charset="0"/>
                <a:cs typeface="Arial" charset="0"/>
              </a:rPr>
              <a:t>printf(“getvalue:value=%d\n”,val);</a:t>
            </a:r>
          </a:p>
          <a:p>
            <a:pPr eaLnBrk="1" hangingPunct="1">
              <a:lnSpc>
                <a:spcPct val="90000"/>
              </a:lnSpc>
            </a:pPr>
            <a:r>
              <a:rPr lang="en-US" altLang="zh-CN" sz="900" smtClean="0">
                <a:latin typeface="Arial" charset="0"/>
                <a:cs typeface="Arial" charset="0"/>
              </a:rPr>
              <a:t>exit(0);</a:t>
            </a:r>
          </a:p>
          <a:p>
            <a:pPr eaLnBrk="1" hangingPunct="1">
              <a:lnSpc>
                <a:spcPct val="90000"/>
              </a:lnSpc>
            </a:pPr>
            <a:r>
              <a:rPr lang="en-US" altLang="zh-CN" sz="900" smtClean="0">
                <a:latin typeface="Arial" charset="0"/>
                <a:cs typeface="Arial" charset="0"/>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A1BE2C6F-6A2A-4299-8CCA-B221132B745C}" type="slidenum">
              <a:rPr lang="en-US" altLang="zh-CN" sz="1200">
                <a:latin typeface="Arial" charset="0"/>
              </a:rPr>
              <a:pPr algn="r"/>
              <a:t>359</a:t>
            </a:fld>
            <a:endParaRPr lang="en-US" altLang="zh-CN" sz="1200">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r>
              <a:rPr lang="zh-CN" altLang="en-US" smtClean="0">
                <a:latin typeface="Arial" charset="0"/>
                <a:cs typeface="Arial" charset="0"/>
              </a:rPr>
              <a:t>们可以用</a:t>
            </a:r>
            <a:r>
              <a:rPr lang="en-US" altLang="zh-CN" smtClean="0">
                <a:latin typeface="Arial" charset="0"/>
                <a:cs typeface="Arial" charset="0"/>
              </a:rPr>
              <a:t>sem_wait</a:t>
            </a:r>
            <a:r>
              <a:rPr lang="zh-CN" altLang="en-US" smtClean="0">
                <a:latin typeface="Arial" charset="0"/>
                <a:cs typeface="Arial" charset="0"/>
              </a:rPr>
              <a:t>来申请共享资源，</a:t>
            </a:r>
            <a:r>
              <a:rPr lang="en-US" altLang="zh-CN" smtClean="0">
                <a:latin typeface="Arial" charset="0"/>
                <a:cs typeface="Arial" charset="0"/>
              </a:rPr>
              <a:t>sem_wait</a:t>
            </a:r>
            <a:r>
              <a:rPr lang="zh-CN" altLang="en-US" smtClean="0">
                <a:latin typeface="Arial" charset="0"/>
                <a:cs typeface="Arial" charset="0"/>
              </a:rPr>
              <a:t>函数可以测试所指定信号灯的值，如果该值大于</a:t>
            </a:r>
            <a:r>
              <a:rPr lang="en-US" altLang="zh-CN" smtClean="0">
                <a:latin typeface="Arial" charset="0"/>
                <a:cs typeface="Arial" charset="0"/>
              </a:rPr>
              <a:t>0</a:t>
            </a:r>
            <a:r>
              <a:rPr lang="zh-CN" altLang="en-US" smtClean="0">
                <a:latin typeface="Arial" charset="0"/>
                <a:cs typeface="Arial" charset="0"/>
              </a:rPr>
              <a:t>，那就将它减</a:t>
            </a:r>
            <a:r>
              <a:rPr lang="en-US" altLang="zh-CN" smtClean="0">
                <a:latin typeface="Arial" charset="0"/>
                <a:cs typeface="Arial" charset="0"/>
              </a:rPr>
              <a:t>1</a:t>
            </a:r>
            <a:r>
              <a:rPr lang="zh-CN" altLang="en-US" smtClean="0">
                <a:latin typeface="Arial" charset="0"/>
                <a:cs typeface="Arial" charset="0"/>
              </a:rPr>
              <a:t>并立即返回。我们就可以使用申请来的共享资源了。如果该值等于</a:t>
            </a:r>
            <a:r>
              <a:rPr lang="en-US" altLang="zh-CN" smtClean="0">
                <a:latin typeface="Arial" charset="0"/>
                <a:cs typeface="Arial" charset="0"/>
              </a:rPr>
              <a:t>0</a:t>
            </a:r>
            <a:r>
              <a:rPr lang="zh-CN" altLang="en-US" smtClean="0">
                <a:latin typeface="Arial" charset="0"/>
                <a:cs typeface="Arial" charset="0"/>
              </a:rPr>
              <a:t>，调用线程就被进入睡眠状态，直到该值变为大于</a:t>
            </a:r>
            <a:r>
              <a:rPr lang="en-US" altLang="zh-CN" smtClean="0">
                <a:latin typeface="Arial" charset="0"/>
                <a:cs typeface="Arial" charset="0"/>
              </a:rPr>
              <a:t>0</a:t>
            </a:r>
            <a:r>
              <a:rPr lang="zh-CN" altLang="en-US" smtClean="0">
                <a:latin typeface="Arial" charset="0"/>
                <a:cs typeface="Arial" charset="0"/>
              </a:rPr>
              <a:t>，这时再将它减</a:t>
            </a:r>
            <a:r>
              <a:rPr lang="en-US" altLang="zh-CN" smtClean="0">
                <a:latin typeface="Arial" charset="0"/>
                <a:cs typeface="Arial" charset="0"/>
              </a:rPr>
              <a:t>1</a:t>
            </a:r>
            <a:r>
              <a:rPr lang="zh-CN" altLang="en-US" smtClean="0">
                <a:latin typeface="Arial" charset="0"/>
                <a:cs typeface="Arial" charset="0"/>
              </a:rPr>
              <a:t>，函数随后返回。</a:t>
            </a:r>
            <a:r>
              <a:rPr lang="en-US" altLang="zh-CN" smtClean="0">
                <a:latin typeface="Arial" charset="0"/>
                <a:cs typeface="Arial" charset="0"/>
              </a:rPr>
              <a:t>sem_wait</a:t>
            </a:r>
            <a:r>
              <a:rPr lang="zh-CN" altLang="en-US" smtClean="0">
                <a:latin typeface="Arial" charset="0"/>
                <a:cs typeface="Arial" charset="0"/>
              </a:rPr>
              <a:t>操作必须是原子的。</a:t>
            </a:r>
            <a:r>
              <a:rPr lang="en-US" altLang="zh-CN" smtClean="0">
                <a:latin typeface="Arial" charset="0"/>
                <a:cs typeface="Arial" charset="0"/>
              </a:rPr>
              <a:t>sem_wait</a:t>
            </a:r>
            <a:r>
              <a:rPr lang="zh-CN" altLang="en-US" smtClean="0">
                <a:latin typeface="Arial" charset="0"/>
                <a:cs typeface="Arial" charset="0"/>
              </a:rPr>
              <a:t>和</a:t>
            </a:r>
            <a:r>
              <a:rPr lang="en-US" altLang="zh-CN" smtClean="0">
                <a:latin typeface="Arial" charset="0"/>
                <a:cs typeface="Arial" charset="0"/>
              </a:rPr>
              <a:t>sem_trywait</a:t>
            </a:r>
            <a:r>
              <a:rPr lang="zh-CN" altLang="en-US" smtClean="0">
                <a:latin typeface="Arial" charset="0"/>
                <a:cs typeface="Arial" charset="0"/>
              </a:rPr>
              <a:t>的差别是：当所指定信号灯的值已经是</a:t>
            </a:r>
            <a:r>
              <a:rPr lang="en-US" altLang="zh-CN" smtClean="0">
                <a:latin typeface="Arial" charset="0"/>
                <a:cs typeface="Arial" charset="0"/>
              </a:rPr>
              <a:t>0</a:t>
            </a:r>
            <a:r>
              <a:rPr lang="zh-CN" altLang="en-US" smtClean="0">
                <a:latin typeface="Arial" charset="0"/>
                <a:cs typeface="Arial" charset="0"/>
              </a:rPr>
              <a:t>时，后者并不将调用线程投入睡眠。相反，它返回一个</a:t>
            </a:r>
            <a:r>
              <a:rPr lang="en-US" altLang="zh-CN" smtClean="0">
                <a:latin typeface="Arial" charset="0"/>
                <a:cs typeface="Arial" charset="0"/>
              </a:rPr>
              <a:t>EAGAIN</a:t>
            </a:r>
            <a:r>
              <a:rPr lang="zh-CN" altLang="en-US" smtClean="0">
                <a:latin typeface="Arial" charset="0"/>
                <a:cs typeface="Arial" charset="0"/>
              </a:rPr>
              <a:t>错误。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E2FDD038-E4D8-4351-B2A0-DF03588A5EB0}" type="slidenum">
              <a:rPr lang="en-US" altLang="zh-CN" sz="1200">
                <a:latin typeface="Arial" charset="0"/>
              </a:rPr>
              <a:pPr algn="r"/>
              <a:t>360</a:t>
            </a:fld>
            <a:endParaRPr lang="en-US" altLang="zh-CN" sz="1200">
              <a:latin typeface="Arial"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pPr eaLnBrk="1" hangingPunct="1"/>
            <a:r>
              <a:rPr lang="zh-CN" altLang="en-US" smtClean="0">
                <a:latin typeface="Arial" charset="0"/>
                <a:cs typeface="Arial" charset="0"/>
              </a:rPr>
              <a:t>一个线程使用完某个信号灯时，它应该调用</a:t>
            </a:r>
            <a:r>
              <a:rPr lang="en-US" altLang="zh-CN" smtClean="0">
                <a:latin typeface="Arial" charset="0"/>
                <a:cs typeface="Arial" charset="0"/>
              </a:rPr>
              <a:t>sem_post</a:t>
            </a:r>
            <a:r>
              <a:rPr lang="zh-CN" altLang="en-US" smtClean="0">
                <a:latin typeface="Arial" charset="0"/>
                <a:cs typeface="Arial" charset="0"/>
              </a:rPr>
              <a:t>来告诉系统申请的资源已经用完。本函数和</a:t>
            </a:r>
            <a:r>
              <a:rPr lang="en-US" altLang="zh-CN" smtClean="0">
                <a:latin typeface="Arial" charset="0"/>
                <a:cs typeface="Arial" charset="0"/>
              </a:rPr>
              <a:t>sem_wait</a:t>
            </a:r>
            <a:r>
              <a:rPr lang="zh-CN" altLang="en-US" smtClean="0">
                <a:latin typeface="Arial" charset="0"/>
                <a:cs typeface="Arial" charset="0"/>
              </a:rPr>
              <a:t>函数的功能正好相反，它把所指定的信号灯的值加</a:t>
            </a:r>
            <a:r>
              <a:rPr lang="en-US" altLang="zh-CN" smtClean="0">
                <a:latin typeface="Arial" charset="0"/>
                <a:cs typeface="Arial" charset="0"/>
              </a:rPr>
              <a:t>1</a:t>
            </a:r>
            <a:r>
              <a:rPr lang="zh-CN" altLang="en-US" smtClean="0">
                <a:latin typeface="Arial" charset="0"/>
                <a:cs typeface="Arial" charset="0"/>
              </a:rPr>
              <a:t>，然后唤醒正在等待该信号灯值变为正数的任意线程。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r"/>
            <a:fld id="{C4DA666F-EFB0-4642-B70C-94091B34229C}" type="slidenum">
              <a:rPr lang="en-US" altLang="zh-CN" sz="1200">
                <a:latin typeface="Arial" charset="0"/>
              </a:rPr>
              <a:pPr algn="r"/>
              <a:t>362</a:t>
            </a:fld>
            <a:endParaRPr lang="en-US" altLang="zh-CN" sz="1200">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pPr eaLnBrk="1" hangingPunct="1"/>
            <a:r>
              <a:rPr lang="zh-CN" altLang="en-US" smtClean="0">
                <a:latin typeface="Arial" charset="0"/>
                <a:cs typeface="Arial" charset="0"/>
              </a:rPr>
              <a:t>基于内存的信号灯是由</a:t>
            </a:r>
            <a:r>
              <a:rPr lang="en-US" altLang="zh-CN" smtClean="0">
                <a:latin typeface="Arial" charset="0"/>
                <a:cs typeface="Arial" charset="0"/>
              </a:rPr>
              <a:t>sem_init</a:t>
            </a:r>
            <a:r>
              <a:rPr lang="zh-CN" altLang="en-US" smtClean="0">
                <a:latin typeface="Arial" charset="0"/>
                <a:cs typeface="Arial" charset="0"/>
              </a:rPr>
              <a:t>初始化的。</a:t>
            </a:r>
            <a:r>
              <a:rPr lang="en-US" altLang="zh-CN" smtClean="0">
                <a:latin typeface="Arial" charset="0"/>
                <a:cs typeface="Arial" charset="0"/>
              </a:rPr>
              <a:t>sem</a:t>
            </a:r>
            <a:r>
              <a:rPr lang="zh-CN" altLang="en-US" smtClean="0">
                <a:latin typeface="Arial" charset="0"/>
                <a:cs typeface="Arial" charset="0"/>
              </a:rPr>
              <a:t>参数指向必须由应用程序分配的</a:t>
            </a:r>
            <a:r>
              <a:rPr lang="en-US" altLang="zh-CN" smtClean="0">
                <a:latin typeface="Arial" charset="0"/>
                <a:cs typeface="Arial" charset="0"/>
              </a:rPr>
              <a:t>sem_t</a:t>
            </a:r>
            <a:r>
              <a:rPr lang="zh-CN" altLang="en-US" smtClean="0">
                <a:latin typeface="Arial" charset="0"/>
                <a:cs typeface="Arial" charset="0"/>
              </a:rPr>
              <a:t>变量。如果</a:t>
            </a:r>
            <a:r>
              <a:rPr lang="en-US" altLang="zh-CN" smtClean="0">
                <a:latin typeface="Arial" charset="0"/>
                <a:cs typeface="Arial" charset="0"/>
              </a:rPr>
              <a:t>shared</a:t>
            </a:r>
            <a:r>
              <a:rPr lang="zh-CN" altLang="en-US" smtClean="0">
                <a:latin typeface="Arial" charset="0"/>
                <a:cs typeface="Arial" charset="0"/>
              </a:rPr>
              <a:t>为</a:t>
            </a:r>
            <a:r>
              <a:rPr lang="en-US" altLang="zh-CN" smtClean="0">
                <a:latin typeface="Arial" charset="0"/>
                <a:cs typeface="Arial" charset="0"/>
              </a:rPr>
              <a:t>0</a:t>
            </a:r>
            <a:r>
              <a:rPr lang="zh-CN" altLang="en-US" smtClean="0">
                <a:latin typeface="Arial" charset="0"/>
                <a:cs typeface="Arial" charset="0"/>
              </a:rPr>
              <a:t>，那么待初始化的信号灯是在同一进程的各个线程共享的，否则该信号灯是在进程间共享的。当</a:t>
            </a:r>
            <a:r>
              <a:rPr lang="en-US" altLang="zh-CN" smtClean="0">
                <a:latin typeface="Arial" charset="0"/>
                <a:cs typeface="Arial" charset="0"/>
              </a:rPr>
              <a:t>shared</a:t>
            </a:r>
            <a:r>
              <a:rPr lang="zh-CN" altLang="en-US" smtClean="0">
                <a:latin typeface="Arial" charset="0"/>
                <a:cs typeface="Arial" charset="0"/>
              </a:rPr>
              <a:t>为零时，该信号灯必须存放在即将使用它的所有进程都能访问的某种类型的共享内存中。跟</a:t>
            </a:r>
            <a:r>
              <a:rPr lang="en-US" altLang="zh-CN" smtClean="0">
                <a:latin typeface="Arial" charset="0"/>
                <a:cs typeface="Arial" charset="0"/>
              </a:rPr>
              <a:t>sem_open</a:t>
            </a:r>
            <a:r>
              <a:rPr lang="zh-CN" altLang="en-US" smtClean="0">
                <a:latin typeface="Arial" charset="0"/>
                <a:cs typeface="Arial" charset="0"/>
              </a:rPr>
              <a:t>一样，</a:t>
            </a:r>
            <a:r>
              <a:rPr lang="en-US" altLang="zh-CN" smtClean="0">
                <a:latin typeface="Arial" charset="0"/>
                <a:cs typeface="Arial" charset="0"/>
              </a:rPr>
              <a:t>value</a:t>
            </a:r>
            <a:r>
              <a:rPr lang="zh-CN" altLang="en-US" smtClean="0">
                <a:latin typeface="Arial" charset="0"/>
                <a:cs typeface="Arial" charset="0"/>
              </a:rPr>
              <a:t>参数是该信号灯的初始值。</a:t>
            </a:r>
          </a:p>
          <a:p>
            <a:pPr eaLnBrk="1" hangingPunct="1"/>
            <a:r>
              <a:rPr lang="zh-CN" altLang="en-US" smtClean="0">
                <a:latin typeface="Arial" charset="0"/>
                <a:cs typeface="Arial" charset="0"/>
              </a:rPr>
              <a:t>       使用完一个基于内存的信号灯后，我们调用</a:t>
            </a:r>
            <a:r>
              <a:rPr lang="en-US" altLang="zh-CN" smtClean="0">
                <a:latin typeface="Arial" charset="0"/>
                <a:cs typeface="Arial" charset="0"/>
              </a:rPr>
              <a:t>sem_destroy</a:t>
            </a:r>
            <a:r>
              <a:rPr lang="zh-CN" altLang="en-US" smtClean="0">
                <a:latin typeface="Arial" charset="0"/>
                <a:cs typeface="Arial" charset="0"/>
              </a:rPr>
              <a:t>关闭它。</a:t>
            </a:r>
          </a:p>
          <a:p>
            <a:pPr eaLnBrk="1" hangingPunct="1"/>
            <a:r>
              <a:rPr lang="zh-CN" altLang="en-US" smtClean="0">
                <a:latin typeface="Arial" charset="0"/>
                <a:cs typeface="Arial" charset="0"/>
              </a:rPr>
              <a:t>除了</a:t>
            </a:r>
            <a:r>
              <a:rPr lang="en-US" altLang="zh-CN" smtClean="0">
                <a:latin typeface="Arial" charset="0"/>
                <a:cs typeface="Arial" charset="0"/>
              </a:rPr>
              <a:t>sem_open</a:t>
            </a:r>
            <a:r>
              <a:rPr lang="zh-CN" altLang="en-US" smtClean="0">
                <a:latin typeface="Arial" charset="0"/>
                <a:cs typeface="Arial" charset="0"/>
              </a:rPr>
              <a:t>和</a:t>
            </a:r>
            <a:r>
              <a:rPr lang="en-US" altLang="zh-CN" smtClean="0">
                <a:latin typeface="Arial" charset="0"/>
                <a:cs typeface="Arial" charset="0"/>
              </a:rPr>
              <a:t>sem_close</a:t>
            </a:r>
            <a:r>
              <a:rPr lang="zh-CN" altLang="en-US" smtClean="0">
                <a:latin typeface="Arial" charset="0"/>
                <a:cs typeface="Arial" charset="0"/>
              </a:rPr>
              <a:t>外，其它的</a:t>
            </a:r>
            <a:r>
              <a:rPr lang="en-US" altLang="zh-CN" smtClean="0">
                <a:latin typeface="Arial" charset="0"/>
                <a:cs typeface="Arial" charset="0"/>
              </a:rPr>
              <a:t>poisx</a:t>
            </a:r>
            <a:r>
              <a:rPr lang="zh-CN" altLang="en-US" smtClean="0">
                <a:latin typeface="Arial" charset="0"/>
                <a:cs typeface="Arial" charset="0"/>
              </a:rPr>
              <a:t>有名信号灯函数都可以用于基于内存的信号灯。</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25400364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204025394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39155348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14438"/>
            <a:ext cx="5384800"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214438"/>
            <a:ext cx="5384800"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3068105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8" name="页脚占位符 4"/>
          <p:cNvSpPr>
            <a:spLocks noGrp="1" noChangeArrowheads="1"/>
          </p:cNvSpPr>
          <p:nvPr>
            <p:ph type="ftr" sz="quarter" idx="11"/>
          </p:nvPr>
        </p:nvSpPr>
        <p:spPr>
          <a:ln/>
        </p:spPr>
        <p:txBody>
          <a:bodyPr/>
          <a:lstStyle>
            <a:lvl1pPr>
              <a:defRPr/>
            </a:lvl1pPr>
          </a:lstStyle>
          <a:p>
            <a:endParaRPr lang="zh-CN" altLang="en-US"/>
          </a:p>
        </p:txBody>
      </p:sp>
      <p:sp>
        <p:nvSpPr>
          <p:cNvPr id="9"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30223696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4" name="页脚占位符 4"/>
          <p:cNvSpPr>
            <a:spLocks noGrp="1" noChangeArrowheads="1"/>
          </p:cNvSpPr>
          <p:nvPr>
            <p:ph type="ftr" sz="quarter" idx="11"/>
          </p:nvPr>
        </p:nvSpPr>
        <p:spPr>
          <a:ln/>
        </p:spPr>
        <p:txBody>
          <a:bodyPr/>
          <a:lstStyle>
            <a:lvl1pPr>
              <a:defRPr/>
            </a:lvl1pPr>
          </a:lstStyle>
          <a:p>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240766507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3" name="页脚占位符 4"/>
          <p:cNvSpPr>
            <a:spLocks noGrp="1" noChangeArrowheads="1"/>
          </p:cNvSpPr>
          <p:nvPr>
            <p:ph type="ftr" sz="quarter" idx="11"/>
          </p:nvPr>
        </p:nvSpPr>
        <p:spPr>
          <a:ln/>
        </p:spPr>
        <p:txBody>
          <a:bodyPr/>
          <a:lstStyle>
            <a:lvl1pPr>
              <a:defRPr/>
            </a:lvl1pPr>
          </a:lstStyle>
          <a:p>
            <a:endParaRPr lang="zh-CN" altLang="en-US"/>
          </a:p>
        </p:txBody>
      </p:sp>
      <p:sp>
        <p:nvSpPr>
          <p:cNvPr id="4"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1147630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78658835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sym typeface="Arial" pitchFamily="34" charset="0"/>
              </a:rPr>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5484003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244262978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0"/>
            <a:ext cx="2743200" cy="60721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0"/>
            <a:ext cx="8026400" cy="60721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5804574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1"/>
            <a:ext cx="10972800" cy="981075"/>
          </a:xfr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a:ln/>
        </p:spPr>
        <p:txBody>
          <a:bodyPr/>
          <a:lstStyle>
            <a:lvl1pPr>
              <a:defRPr/>
            </a:lvl1pPr>
          </a:lstStyle>
          <a:p>
            <a:fld id="{05DC57B6-D691-4C7F-A209-EB1C3DA62746}" type="datetimeFigureOut">
              <a:rPr lang="zh-CN" altLang="en-US" smtClean="0"/>
              <a:t>2017/1/18</a:t>
            </a:fld>
            <a:endParaRPr lang="zh-CN" altLang="en-US"/>
          </a:p>
        </p:txBody>
      </p:sp>
      <p:sp>
        <p:nvSpPr>
          <p:cNvPr id="4" name="页脚占位符 4"/>
          <p:cNvSpPr>
            <a:spLocks noGrp="1" noChangeArrowheads="1"/>
          </p:cNvSpPr>
          <p:nvPr>
            <p:ph type="ftr" sz="quarter" idx="11"/>
          </p:nvPr>
        </p:nvSpPr>
        <p:spPr>
          <a:ln/>
        </p:spPr>
        <p:txBody>
          <a:bodyPr/>
          <a:lstStyle>
            <a:lvl1pPr>
              <a:defRPr/>
            </a:lvl1pPr>
          </a:lstStyle>
          <a:p>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16236998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32834" y="879475"/>
            <a:ext cx="11664951" cy="787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232834" y="1673226"/>
            <a:ext cx="11664951" cy="4460875"/>
          </a:xfrm>
        </p:spPr>
        <p:txBody>
          <a:bodyPr/>
          <a:lstStyle/>
          <a:p>
            <a:pPr lvl="0"/>
            <a:r>
              <a:rPr lang="zh-CN" altLang="en-US" noProof="0" smtClean="0">
                <a:sym typeface="Arial" charset="0"/>
              </a:rPr>
              <a:t>单击图标添加表格</a:t>
            </a:r>
            <a:endParaRPr lang="zh-CN" altLang="en-US" noProof="0">
              <a:sym typeface="Arial" charset="0"/>
            </a:endParaRPr>
          </a:p>
        </p:txBody>
      </p:sp>
    </p:spTree>
    <p:extLst>
      <p:ext uri="{BB962C8B-B14F-4D97-AF65-F5344CB8AC3E}">
        <p14:creationId xmlns:p14="http://schemas.microsoft.com/office/powerpoint/2010/main" val="156119512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67" y="0"/>
            <a:ext cx="12200467"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标题占位符 1"/>
          <p:cNvSpPr>
            <a:spLocks noGrp="1" noChangeArrowheads="1"/>
          </p:cNvSpPr>
          <p:nvPr>
            <p:ph type="title" idx="4294967295"/>
          </p:nvPr>
        </p:nvSpPr>
        <p:spPr bwMode="auto">
          <a:xfrm>
            <a:off x="609600" y="1"/>
            <a:ext cx="109728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smtClean="0">
                <a:sym typeface="黑体" pitchFamily="49" charset="-122"/>
              </a:rPr>
              <a:t>单击此处编辑母版标题样式</a:t>
            </a:r>
          </a:p>
        </p:txBody>
      </p:sp>
      <p:sp>
        <p:nvSpPr>
          <p:cNvPr id="1028" name="文本占位符 2"/>
          <p:cNvSpPr>
            <a:spLocks noGrp="1" noChangeArrowheads="1"/>
          </p:cNvSpPr>
          <p:nvPr>
            <p:ph type="body" idx="1"/>
          </p:nvPr>
        </p:nvSpPr>
        <p:spPr bwMode="auto">
          <a:xfrm>
            <a:off x="609600" y="1214438"/>
            <a:ext cx="109728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smtClean="0">
                <a:sym typeface="Arial" charset="0"/>
              </a:rPr>
              <a:t>单击此处编辑母版文本样式</a:t>
            </a:r>
          </a:p>
          <a:p>
            <a:pPr lvl="1"/>
            <a:r>
              <a:rPr lang="zh-CN" altLang="zh-CN" smtClean="0">
                <a:sym typeface="Arial" charset="0"/>
              </a:rPr>
              <a:t>第二级</a:t>
            </a:r>
          </a:p>
          <a:p>
            <a:pPr lvl="2"/>
            <a:r>
              <a:rPr lang="zh-CN" altLang="zh-CN" smtClean="0">
                <a:sym typeface="Arial" charset="0"/>
              </a:rPr>
              <a:t>第三级</a:t>
            </a:r>
          </a:p>
          <a:p>
            <a:pPr lvl="3"/>
            <a:r>
              <a:rPr lang="zh-CN" altLang="zh-CN" smtClean="0">
                <a:sym typeface="Arial" charset="0"/>
              </a:rPr>
              <a:t>第四级</a:t>
            </a:r>
          </a:p>
          <a:p>
            <a:pPr lvl="4"/>
            <a:r>
              <a:rPr lang="zh-CN" altLang="zh-CN" smtClean="0">
                <a:sym typeface="Arial" charset="0"/>
              </a:rPr>
              <a:t>第五级</a:t>
            </a:r>
          </a:p>
        </p:txBody>
      </p:sp>
      <p:sp>
        <p:nvSpPr>
          <p:cNvPr id="1029" name="日期占位符 3"/>
          <p:cNvSpPr>
            <a:spLocks noGrp="1" noChangeArrowheads="1"/>
          </p:cNvSpPr>
          <p:nvPr>
            <p:ph type="dt" sz="half" idx="2"/>
          </p:nvPr>
        </p:nvSpPr>
        <p:spPr bwMode="auto">
          <a:xfrm>
            <a:off x="8763000" y="6357939"/>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buFont typeface="Arial" pitchFamily="34" charset="0"/>
              <a:buNone/>
              <a:defRPr sz="1200">
                <a:solidFill>
                  <a:srgbClr val="898989"/>
                </a:solidFill>
                <a:latin typeface="Arial" pitchFamily="34" charset="0"/>
                <a:ea typeface="+mn-ea"/>
                <a:sym typeface="Arial" pitchFamily="34" charset="0"/>
              </a:defRPr>
            </a:lvl1pPr>
          </a:lstStyle>
          <a:p>
            <a:fld id="{05DC57B6-D691-4C7F-A209-EB1C3DA62746}" type="datetimeFigureOut">
              <a:rPr lang="zh-CN" altLang="en-US" smtClean="0"/>
              <a:t>2017/1/18</a:t>
            </a:fld>
            <a:endParaRPr lang="zh-CN" altLang="en-US"/>
          </a:p>
        </p:txBody>
      </p:sp>
      <p:sp>
        <p:nvSpPr>
          <p:cNvPr id="1030" name="页脚占位符 4"/>
          <p:cNvSpPr>
            <a:spLocks noGrp="1" noChangeArrowheads="1"/>
          </p:cNvSpPr>
          <p:nvPr>
            <p:ph type="ftr" sz="quarter" idx="3"/>
          </p:nvPr>
        </p:nvSpPr>
        <p:spPr bwMode="auto">
          <a:xfrm>
            <a:off x="4165600" y="6356351"/>
            <a:ext cx="3860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buFont typeface="Arial" pitchFamily="34" charset="0"/>
              <a:buNone/>
              <a:defRPr sz="1200">
                <a:solidFill>
                  <a:srgbClr val="898989"/>
                </a:solidFill>
                <a:latin typeface="Arial" pitchFamily="34" charset="0"/>
                <a:ea typeface="+mn-ea"/>
                <a:sym typeface="Arial" pitchFamily="34" charset="0"/>
              </a:defRPr>
            </a:lvl1pPr>
          </a:lstStyle>
          <a:p>
            <a:endParaRPr lang="zh-CN" altLang="en-US"/>
          </a:p>
        </p:txBody>
      </p:sp>
      <p:sp>
        <p:nvSpPr>
          <p:cNvPr id="1031" name="灯片编号占位符 5"/>
          <p:cNvSpPr>
            <a:spLocks noGrp="1" noChangeArrowheads="1"/>
          </p:cNvSpPr>
          <p:nvPr>
            <p:ph type="sldNum" sz="quarter" idx="4"/>
          </p:nvPr>
        </p:nvSpPr>
        <p:spPr bwMode="auto">
          <a:xfrm>
            <a:off x="8737600" y="6356351"/>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buFont typeface="Arial" pitchFamily="34" charset="0"/>
              <a:buNone/>
              <a:defRPr sz="1200">
                <a:solidFill>
                  <a:srgbClr val="898989"/>
                </a:solidFill>
                <a:latin typeface="Arial" pitchFamily="34" charset="0"/>
                <a:ea typeface="+mn-ea"/>
                <a:sym typeface="Arial" pitchFamily="34" charset="0"/>
              </a:defRPr>
            </a:lvl1pPr>
          </a:lstStyle>
          <a:p>
            <a:fld id="{96DB9A26-F9A0-4561-8045-0FA3A99ECCA6}" type="slidenum">
              <a:rPr lang="zh-CN" altLang="en-US" smtClean="0"/>
              <a:t>‹#›</a:t>
            </a:fld>
            <a:endParaRPr lang="zh-CN" altLang="en-US"/>
          </a:p>
        </p:txBody>
      </p:sp>
    </p:spTree>
    <p:extLst>
      <p:ext uri="{BB962C8B-B14F-4D97-AF65-F5344CB8AC3E}">
        <p14:creationId xmlns:p14="http://schemas.microsoft.com/office/powerpoint/2010/main" val="3115209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ctr" rtl="0" eaLnBrk="1" fontAlgn="base" hangingPunct="1">
        <a:spcBef>
          <a:spcPct val="0"/>
        </a:spcBef>
        <a:spcAft>
          <a:spcPct val="0"/>
        </a:spcAft>
        <a:defRPr sz="4400">
          <a:solidFill>
            <a:schemeClr val="tx1"/>
          </a:solidFill>
          <a:latin typeface="+mj-lt"/>
          <a:ea typeface="+mj-ea"/>
          <a:cs typeface="+mj-cs"/>
          <a:sym typeface="黑体" pitchFamily="49" charset="-122"/>
        </a:defRPr>
      </a:lvl1pPr>
      <a:lvl2pPr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2pPr>
      <a:lvl3pPr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3pPr>
      <a:lvl4pPr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4pPr>
      <a:lvl5pPr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5pPr>
      <a:lvl6pPr marL="457200"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6pPr>
      <a:lvl7pPr marL="914400"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7pPr>
      <a:lvl8pPr marL="1371600"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8pPr>
      <a:lvl9pPr marL="1828800" algn="ctr" rtl="0" eaLnBrk="1" fontAlgn="base" hangingPunct="1">
        <a:spcBef>
          <a:spcPct val="0"/>
        </a:spcBef>
        <a:spcAft>
          <a:spcPct val="0"/>
        </a:spcAft>
        <a:defRPr sz="4400">
          <a:solidFill>
            <a:schemeClr val="tx1"/>
          </a:solidFill>
          <a:latin typeface="黑体" pitchFamily="49" charset="-122"/>
          <a:ea typeface="黑体" pitchFamily="49" charset="-122"/>
          <a:sym typeface="黑体" pitchFamily="49" charset="-122"/>
        </a:defRPr>
      </a:lvl9pPr>
    </p:titleStyle>
    <p:bodyStyle>
      <a:lvl1pPr marL="342900" indent="-342900" algn="l" defTabSz="0" rtl="0" eaLnBrk="1" fontAlgn="base" hangingPunct="1">
        <a:spcBef>
          <a:spcPct val="20000"/>
        </a:spcBef>
        <a:spcAft>
          <a:spcPct val="0"/>
        </a:spcAft>
        <a:buClr>
          <a:srgbClr val="0070C0"/>
        </a:buClr>
        <a:buFont typeface="Wingdings" pitchFamily="2" charset="2"/>
        <a:buChar char="n"/>
        <a:defRPr sz="3200">
          <a:solidFill>
            <a:schemeClr val="tx1"/>
          </a:solidFill>
          <a:latin typeface="+mn-lt"/>
          <a:ea typeface="+mn-ea"/>
          <a:cs typeface="+mn-cs"/>
          <a:sym typeface="Arial" charset="0"/>
        </a:defRPr>
      </a:lvl1pPr>
      <a:lvl2pPr marL="742950" indent="-285750" algn="l" defTabSz="0" rtl="0" eaLnBrk="1" fontAlgn="base" hangingPunct="1">
        <a:spcBef>
          <a:spcPct val="20000"/>
        </a:spcBef>
        <a:spcAft>
          <a:spcPct val="0"/>
        </a:spcAft>
        <a:buClr>
          <a:srgbClr val="FFC000"/>
        </a:buClr>
        <a:buSzPct val="70000"/>
        <a:buFont typeface="Wingdings 2" pitchFamily="18" charset="2"/>
        <a:buChar char=""/>
        <a:defRPr sz="2800">
          <a:solidFill>
            <a:schemeClr val="tx1"/>
          </a:solidFill>
          <a:latin typeface="+mn-lt"/>
          <a:ea typeface="+mn-ea"/>
          <a:sym typeface="Arial" charset="0"/>
        </a:defRPr>
      </a:lvl2pPr>
      <a:lvl3pPr marL="1143000" indent="-228600" algn="l" defTabSz="0" rtl="0" eaLnBrk="1" fontAlgn="base" hangingPunct="1">
        <a:spcBef>
          <a:spcPct val="20000"/>
        </a:spcBef>
        <a:spcAft>
          <a:spcPct val="0"/>
        </a:spcAft>
        <a:buClr>
          <a:srgbClr val="FFC000"/>
        </a:buClr>
        <a:buSzPct val="70000"/>
        <a:buFont typeface="Wingdings 2" pitchFamily="18" charset="2"/>
        <a:buChar char=""/>
        <a:defRPr sz="2400">
          <a:solidFill>
            <a:schemeClr val="tx1"/>
          </a:solidFill>
          <a:latin typeface="+mn-lt"/>
          <a:ea typeface="+mn-ea"/>
          <a:sym typeface="Arial" charset="0"/>
        </a:defRPr>
      </a:lvl3pPr>
      <a:lvl4pPr marL="1600200" indent="-228600" algn="l" defTabSz="0" rtl="0" eaLnBrk="1" fontAlgn="base" hangingPunct="1">
        <a:spcBef>
          <a:spcPct val="20000"/>
        </a:spcBef>
        <a:spcAft>
          <a:spcPct val="0"/>
        </a:spcAft>
        <a:buClr>
          <a:srgbClr val="FFC000"/>
        </a:buClr>
        <a:buSzPct val="70000"/>
        <a:buFont typeface="Arial" charset="0"/>
        <a:buChar char="–"/>
        <a:defRPr sz="2000">
          <a:solidFill>
            <a:schemeClr val="tx1"/>
          </a:solidFill>
          <a:latin typeface="+mn-lt"/>
          <a:ea typeface="+mn-ea"/>
          <a:sym typeface="Arial" charset="0"/>
        </a:defRPr>
      </a:lvl4pPr>
      <a:lvl5pPr marL="2057400" indent="-228600" algn="l" defTabSz="0" rtl="0" eaLnBrk="1" fontAlgn="base" hangingPunct="1">
        <a:spcBef>
          <a:spcPct val="20000"/>
        </a:spcBef>
        <a:spcAft>
          <a:spcPct val="0"/>
        </a:spcAft>
        <a:buClr>
          <a:srgbClr val="FFC000"/>
        </a:buClr>
        <a:buSzPct val="70000"/>
        <a:buFont typeface="Arial" charset="0"/>
        <a:buChar char="»"/>
        <a:defRPr>
          <a:solidFill>
            <a:schemeClr val="tx1"/>
          </a:solidFill>
          <a:latin typeface="+mn-lt"/>
          <a:ea typeface="+mn-ea"/>
          <a:sym typeface="Arial" charset="0"/>
        </a:defRPr>
      </a:lvl5pPr>
      <a:lvl6pPr marL="2514600" indent="-228600" algn="l" defTabSz="0" rtl="0" eaLnBrk="1" fontAlgn="base" hangingPunct="1">
        <a:spcBef>
          <a:spcPct val="20000"/>
        </a:spcBef>
        <a:spcAft>
          <a:spcPct val="0"/>
        </a:spcAft>
        <a:buClr>
          <a:srgbClr val="FFC000"/>
        </a:buClr>
        <a:buSzPct val="70000"/>
        <a:buFont typeface="Arial" pitchFamily="34" charset="0"/>
        <a:buChar char="»"/>
        <a:defRPr>
          <a:solidFill>
            <a:schemeClr val="tx1"/>
          </a:solidFill>
          <a:latin typeface="+mn-lt"/>
          <a:ea typeface="+mn-ea"/>
          <a:sym typeface="Arial" pitchFamily="34" charset="0"/>
        </a:defRPr>
      </a:lvl6pPr>
      <a:lvl7pPr marL="2971800" indent="-228600" algn="l" defTabSz="0" rtl="0" eaLnBrk="1" fontAlgn="base" hangingPunct="1">
        <a:spcBef>
          <a:spcPct val="20000"/>
        </a:spcBef>
        <a:spcAft>
          <a:spcPct val="0"/>
        </a:spcAft>
        <a:buClr>
          <a:srgbClr val="FFC000"/>
        </a:buClr>
        <a:buSzPct val="70000"/>
        <a:buFont typeface="Arial" pitchFamily="34" charset="0"/>
        <a:buChar char="»"/>
        <a:defRPr>
          <a:solidFill>
            <a:schemeClr val="tx1"/>
          </a:solidFill>
          <a:latin typeface="+mn-lt"/>
          <a:ea typeface="+mn-ea"/>
          <a:sym typeface="Arial" pitchFamily="34" charset="0"/>
        </a:defRPr>
      </a:lvl7pPr>
      <a:lvl8pPr marL="3429000" indent="-228600" algn="l" defTabSz="0" rtl="0" eaLnBrk="1" fontAlgn="base" hangingPunct="1">
        <a:spcBef>
          <a:spcPct val="20000"/>
        </a:spcBef>
        <a:spcAft>
          <a:spcPct val="0"/>
        </a:spcAft>
        <a:buClr>
          <a:srgbClr val="FFC000"/>
        </a:buClr>
        <a:buSzPct val="70000"/>
        <a:buFont typeface="Arial" pitchFamily="34" charset="0"/>
        <a:buChar char="»"/>
        <a:defRPr>
          <a:solidFill>
            <a:schemeClr val="tx1"/>
          </a:solidFill>
          <a:latin typeface="+mn-lt"/>
          <a:ea typeface="+mn-ea"/>
          <a:sym typeface="Arial" pitchFamily="34" charset="0"/>
        </a:defRPr>
      </a:lvl8pPr>
      <a:lvl9pPr marL="3886200" indent="-228600" algn="l" defTabSz="0" rtl="0" eaLnBrk="1" fontAlgn="base" hangingPunct="1">
        <a:spcBef>
          <a:spcPct val="20000"/>
        </a:spcBef>
        <a:spcAft>
          <a:spcPct val="0"/>
        </a:spcAft>
        <a:buClr>
          <a:srgbClr val="FFC000"/>
        </a:buClr>
        <a:buSzPct val="70000"/>
        <a:buFont typeface="Arial" pitchFamily="34" charset="0"/>
        <a:buChar char="»"/>
        <a:defRPr>
          <a:solidFill>
            <a:schemeClr val="tx1"/>
          </a:solidFill>
          <a:latin typeface="+mn-lt"/>
          <a:ea typeface="+mn-ea"/>
          <a:sym typeface="Arial"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LinuxTimeLine.p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jpg"/><Relationship Id="rId7" Type="http://schemas.openxmlformats.org/officeDocument/2006/relationships/image" Target="../media/image20.png"/><Relationship Id="rId12" Type="http://schemas.openxmlformats.org/officeDocument/2006/relationships/image" Target="../media/image25.jpe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jpg"/><Relationship Id="rId11" Type="http://schemas.openxmlformats.org/officeDocument/2006/relationships/image" Target="../media/image24.png"/><Relationship Id="rId5" Type="http://schemas.openxmlformats.org/officeDocument/2006/relationships/image" Target="../media/image18.jp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4.wmf"/><Relationship Id="rId4" Type="http://schemas.openxmlformats.org/officeDocument/2006/relationships/oleObject" Target="../embeddings/oleObject1.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6.png"/><Relationship Id="rId5" Type="http://schemas.openxmlformats.org/officeDocument/2006/relationships/image" Target="../media/image45.wmf"/><Relationship Id="rId4" Type="http://schemas.openxmlformats.org/officeDocument/2006/relationships/oleObject" Target="../embeddings/oleObject2.bin"/></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7.wmf"/><Relationship Id="rId4" Type="http://schemas.openxmlformats.org/officeDocument/2006/relationships/oleObject" Target="../embeddings/oleObject3.bin"/></Relationships>
</file>

<file path=ppt/slides/_rels/slide9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50.png"/><Relationship Id="rId5" Type="http://schemas.openxmlformats.org/officeDocument/2006/relationships/image" Target="../media/image49.wmf"/><Relationship Id="rId4" Type="http://schemas.openxmlformats.org/officeDocument/2006/relationships/oleObject" Target="../embeddings/oleObject4.bin"/></Relationships>
</file>

<file path=ppt/slides/_rels/slide9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52.png"/><Relationship Id="rId5" Type="http://schemas.openxmlformats.org/officeDocument/2006/relationships/image" Target="../media/image51.wmf"/><Relationship Id="rId4" Type="http://schemas.openxmlformats.org/officeDocument/2006/relationships/oleObject" Target="../embeddings/oleObject5.bin"/></Relationships>
</file>

<file path=ppt/slides/_rels/slide9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54.png"/><Relationship Id="rId5" Type="http://schemas.openxmlformats.org/officeDocument/2006/relationships/image" Target="../media/image53.wmf"/><Relationship Id="rId4" Type="http://schemas.openxmlformats.org/officeDocument/2006/relationships/oleObject" Target="../embeddings/oleObject6.bin"/></Relationships>
</file>

<file path=ppt/slides/_rels/slide10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55.wmf"/><Relationship Id="rId4" Type="http://schemas.openxmlformats.org/officeDocument/2006/relationships/oleObject" Target="../embeddings/oleObject7.bin"/></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7.wmf"/><Relationship Id="rId5" Type="http://schemas.openxmlformats.org/officeDocument/2006/relationships/oleObject" Target="../embeddings/oleObject9.bin"/><Relationship Id="rId4" Type="http://schemas.openxmlformats.org/officeDocument/2006/relationships/image" Target="../media/image56.wmf"/></Relationships>
</file>

<file path=ppt/slides/_rels/slide10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80.emf"/></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82.wmf"/><Relationship Id="rId5" Type="http://schemas.openxmlformats.org/officeDocument/2006/relationships/oleObject" Target="../embeddings/oleObject12.bin"/><Relationship Id="rId4" Type="http://schemas.openxmlformats.org/officeDocument/2006/relationships/image" Target="../media/image81.wmf"/></Relationships>
</file>

<file path=ppt/slides/_rels/slide2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85.emf"/></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87.emf"/><Relationship Id="rId5" Type="http://schemas.openxmlformats.org/officeDocument/2006/relationships/oleObject" Target="../embeddings/oleObject15.bin"/><Relationship Id="rId4" Type="http://schemas.openxmlformats.org/officeDocument/2006/relationships/image" Target="../media/image86.wmf"/></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8" Type="http://schemas.openxmlformats.org/officeDocument/2006/relationships/hyperlink" Target="http://docs.sun.com/app/docs/doc/816-5171/6mbb6dcnn?l=zh&amp;a=view" TargetMode="External"/><Relationship Id="rId3" Type="http://schemas.openxmlformats.org/officeDocument/2006/relationships/hyperlink" Target="http://docs.sun.com/app/docs/doc/816-5171/6mbb6dcnf?l=zh&amp;a=view" TargetMode="External"/><Relationship Id="rId7" Type="http://schemas.openxmlformats.org/officeDocument/2006/relationships/hyperlink" Target="http://docs.sun.com/app/docs/doc/816-5171/6mbb6dcnh?l=zh&amp;a=view" TargetMode="External"/><Relationship Id="rId2" Type="http://schemas.openxmlformats.org/officeDocument/2006/relationships/hyperlink" Target="http://docs.sun.com/app/docs/doc/816-5171/6mbb6dcni?l=zh&amp;a=view" TargetMode="External"/><Relationship Id="rId1" Type="http://schemas.openxmlformats.org/officeDocument/2006/relationships/slideLayout" Target="../slideLayouts/slideLayout2.xml"/><Relationship Id="rId6" Type="http://schemas.openxmlformats.org/officeDocument/2006/relationships/hyperlink" Target="http://docs.sun.com/app/docs/doc/816-5171/6mbb6dcnj?l=zh&amp;a=view" TargetMode="External"/><Relationship Id="rId5" Type="http://schemas.openxmlformats.org/officeDocument/2006/relationships/hyperlink" Target="http://docs.sun.com/app/docs/doc/816-5171/6mbb6dcnm?l=zh&amp;a=view" TargetMode="External"/><Relationship Id="rId4" Type="http://schemas.openxmlformats.org/officeDocument/2006/relationships/hyperlink" Target="http://docs.sun.com/app/docs/doc/816-5171/6mbb6dcnq?l=zh&amp;a=view" TargetMode="External"/><Relationship Id="rId9" Type="http://schemas.openxmlformats.org/officeDocument/2006/relationships/hyperlink" Target="http://docs.sun.com/app/docs/doc/816-5171/6mbb6dcng?l=zh&amp;a=view" TargetMode="Externa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8" Type="http://schemas.openxmlformats.org/officeDocument/2006/relationships/hyperlink" Target="http://docs.sun.com/app/docs/doc/816-5171/6mbb6dcpa?l=zh&amp;a=view" TargetMode="External"/><Relationship Id="rId3" Type="http://schemas.openxmlformats.org/officeDocument/2006/relationships/hyperlink" Target="http://docs.sun.com/app/docs/doc/816-5171/6mbb6dcp3?l=zh&amp;a=view" TargetMode="External"/><Relationship Id="rId7" Type="http://schemas.openxmlformats.org/officeDocument/2006/relationships/hyperlink" Target="http://docs.sun.com/app/docs/doc/816-5171/6mbb6dcp2?l=zh&amp;a=view" TargetMode="External"/><Relationship Id="rId2" Type="http://schemas.openxmlformats.org/officeDocument/2006/relationships/hyperlink" Target="http://docs.sun.com/app/docs/doc/816-5171/6mbb6dcp4?l=zh&amp;a=view" TargetMode="External"/><Relationship Id="rId1" Type="http://schemas.openxmlformats.org/officeDocument/2006/relationships/slideLayout" Target="../slideLayouts/slideLayout2.xml"/><Relationship Id="rId6" Type="http://schemas.openxmlformats.org/officeDocument/2006/relationships/hyperlink" Target="http://docs.sun.com/app/docs/doc/816-5171/6mbb6dcp1?l=zh&amp;a=view" TargetMode="External"/><Relationship Id="rId5" Type="http://schemas.openxmlformats.org/officeDocument/2006/relationships/hyperlink" Target="http://docs.sun.com/app/docs/doc/816-5171/6mbb6dcp9?l=zh&amp;a=view" TargetMode="External"/><Relationship Id="rId10" Type="http://schemas.openxmlformats.org/officeDocument/2006/relationships/hyperlink" Target="http://docs.sun.com/app/docs/doc/816-5171/6mbb6dcp5?l=zh&amp;a=view" TargetMode="External"/><Relationship Id="rId4" Type="http://schemas.openxmlformats.org/officeDocument/2006/relationships/hyperlink" Target="http://docs.sun.com/app/docs/doc/816-5171/6mbb6dcp0?l=zh&amp;a=view" TargetMode="External"/><Relationship Id="rId9" Type="http://schemas.openxmlformats.org/officeDocument/2006/relationships/hyperlink" Target="http://docs.sun.com/app/docs/doc/816-5171/6mbb6dcp8?l=zh&amp;a=view" TargetMode="Externa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05.emf"/></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07.emf"/><Relationship Id="rId5" Type="http://schemas.openxmlformats.org/officeDocument/2006/relationships/oleObject" Target="../embeddings/oleObject18.bin"/><Relationship Id="rId4" Type="http://schemas.openxmlformats.org/officeDocument/2006/relationships/image" Target="../media/image106.emf"/></Relationships>
</file>

<file path=ppt/slides/_rels/slide39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Linux</a:t>
            </a:r>
            <a:r>
              <a:rPr lang="zh-CN" altLang="en-US" dirty="0" smtClean="0"/>
              <a:t>程序设计</a:t>
            </a:r>
            <a:endParaRPr lang="zh-CN" altLang="en-US" dirty="0"/>
          </a:p>
        </p:txBody>
      </p:sp>
      <p:sp>
        <p:nvSpPr>
          <p:cNvPr id="3" name="副标题 2"/>
          <p:cNvSpPr>
            <a:spLocks noGrp="1"/>
          </p:cNvSpPr>
          <p:nvPr>
            <p:ph type="subTitle" idx="1"/>
          </p:nvPr>
        </p:nvSpPr>
        <p:spPr/>
        <p:txBody>
          <a:bodyPr/>
          <a:lstStyle/>
          <a:p>
            <a:r>
              <a:rPr lang="zh-CN" altLang="en-US" dirty="0" smtClean="0"/>
              <a:t>讲师：</a:t>
            </a:r>
            <a:endParaRPr lang="en-US" altLang="zh-CN" dirty="0" smtClean="0"/>
          </a:p>
          <a:p>
            <a:endParaRPr lang="zh-CN" altLang="en-US" dirty="0"/>
          </a:p>
        </p:txBody>
      </p:sp>
    </p:spTree>
    <p:extLst>
      <p:ext uri="{BB962C8B-B14F-4D97-AF65-F5344CB8AC3E}">
        <p14:creationId xmlns:p14="http://schemas.microsoft.com/office/powerpoint/2010/main" val="241917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课程介绍</a:t>
            </a:r>
            <a:endParaRPr lang="zh-CN" altLang="en-US" dirty="0"/>
          </a:p>
        </p:txBody>
      </p:sp>
      <p:sp>
        <p:nvSpPr>
          <p:cNvPr id="3" name="内容占位符 2"/>
          <p:cNvSpPr>
            <a:spLocks noGrp="1"/>
          </p:cNvSpPr>
          <p:nvPr>
            <p:ph idx="1"/>
          </p:nvPr>
        </p:nvSpPr>
        <p:spPr/>
        <p:txBody>
          <a:bodyPr>
            <a:normAutofit lnSpcReduction="10000"/>
          </a:bodyPr>
          <a:lstStyle/>
          <a:p>
            <a:r>
              <a:rPr lang="zh-CN" altLang="zh-CN" dirty="0"/>
              <a:t>课程类别：学科</a:t>
            </a:r>
            <a:r>
              <a:rPr lang="zh-CN" altLang="zh-CN" dirty="0" smtClean="0"/>
              <a:t>专业教育</a:t>
            </a:r>
            <a:endParaRPr lang="en-US" altLang="zh-CN" dirty="0" smtClean="0"/>
          </a:p>
          <a:p>
            <a:r>
              <a:rPr lang="zh-CN" altLang="zh-CN" dirty="0" smtClean="0"/>
              <a:t>课程</a:t>
            </a:r>
            <a:r>
              <a:rPr lang="zh-CN" altLang="zh-CN" dirty="0"/>
              <a:t>编号：</a:t>
            </a:r>
            <a:r>
              <a:rPr lang="en-US" altLang="zh-CN" dirty="0"/>
              <a:t>N03140112</a:t>
            </a:r>
            <a:endParaRPr lang="zh-CN" altLang="zh-CN" dirty="0"/>
          </a:p>
          <a:p>
            <a:r>
              <a:rPr lang="zh-CN" altLang="zh-CN" dirty="0"/>
              <a:t>总 学 时：</a:t>
            </a:r>
            <a:r>
              <a:rPr lang="en-US" altLang="zh-CN" dirty="0"/>
              <a:t>32                                     </a:t>
            </a:r>
            <a:endParaRPr lang="en-US" altLang="zh-CN" dirty="0" smtClean="0"/>
          </a:p>
          <a:p>
            <a:r>
              <a:rPr lang="zh-CN" altLang="zh-CN" dirty="0" smtClean="0"/>
              <a:t>学</a:t>
            </a:r>
            <a:r>
              <a:rPr lang="en-US" altLang="zh-CN" dirty="0" smtClean="0"/>
              <a:t>    </a:t>
            </a:r>
            <a:r>
              <a:rPr lang="zh-CN" altLang="zh-CN" dirty="0"/>
              <a:t>分：</a:t>
            </a:r>
            <a:r>
              <a:rPr lang="en-US" altLang="zh-CN" dirty="0"/>
              <a:t>2</a:t>
            </a:r>
            <a:endParaRPr lang="zh-CN" altLang="zh-CN" dirty="0"/>
          </a:p>
          <a:p>
            <a:r>
              <a:rPr lang="zh-CN" altLang="zh-CN" dirty="0" smtClean="0"/>
              <a:t>先</a:t>
            </a:r>
            <a:r>
              <a:rPr lang="zh-CN" altLang="zh-CN" dirty="0"/>
              <a:t>修课程：程序设计基础</a:t>
            </a:r>
          </a:p>
          <a:p>
            <a:r>
              <a:rPr lang="zh-CN" altLang="zh-CN" dirty="0"/>
              <a:t>主要参考书</a:t>
            </a:r>
          </a:p>
          <a:p>
            <a:pPr marL="457200" lvl="1" indent="0" latinLnBrk="1">
              <a:buNone/>
            </a:pPr>
            <a:r>
              <a:rPr lang="zh-CN" altLang="zh-CN" dirty="0"/>
              <a:t>《</a:t>
            </a:r>
            <a:r>
              <a:rPr lang="en-US" altLang="zh-CN" dirty="0"/>
              <a:t>Linux</a:t>
            </a:r>
            <a:r>
              <a:rPr lang="zh-CN" altLang="zh-CN" dirty="0"/>
              <a:t>环境</a:t>
            </a:r>
            <a:r>
              <a:rPr lang="en-US" altLang="zh-CN" dirty="0"/>
              <a:t>C</a:t>
            </a:r>
            <a:r>
              <a:rPr lang="zh-CN" altLang="zh-CN" dirty="0"/>
              <a:t>程序设计》、《</a:t>
            </a:r>
            <a:r>
              <a:rPr lang="en-US" altLang="zh-CN" dirty="0" err="1"/>
              <a:t>linux</a:t>
            </a:r>
            <a:r>
              <a:rPr lang="zh-CN" altLang="zh-CN" dirty="0"/>
              <a:t>简明教程》、《</a:t>
            </a:r>
            <a:r>
              <a:rPr lang="en-US" altLang="zh-CN" dirty="0" err="1"/>
              <a:t>linux</a:t>
            </a:r>
            <a:r>
              <a:rPr lang="zh-CN" altLang="zh-CN" dirty="0"/>
              <a:t>基础教程</a:t>
            </a:r>
            <a:r>
              <a:rPr lang="zh-CN" altLang="zh-CN" dirty="0" smtClean="0"/>
              <a:t>》</a:t>
            </a:r>
            <a:endParaRPr lang="zh-CN" altLang="zh-CN" dirty="0"/>
          </a:p>
          <a:p>
            <a:r>
              <a:rPr lang="zh-CN" altLang="zh-CN" dirty="0" smtClean="0"/>
              <a:t>考核</a:t>
            </a:r>
            <a:r>
              <a:rPr lang="zh-CN" altLang="zh-CN" dirty="0"/>
              <a:t>方式（包括作业、测验、考试等及其所占比例）</a:t>
            </a:r>
          </a:p>
          <a:p>
            <a:pPr marL="457200" lvl="1" indent="0">
              <a:buNone/>
            </a:pPr>
            <a:r>
              <a:rPr lang="zh-CN" altLang="zh-CN" dirty="0" smtClean="0"/>
              <a:t>考试</a:t>
            </a:r>
            <a:r>
              <a:rPr lang="zh-CN" altLang="zh-CN" dirty="0"/>
              <a:t>：</a:t>
            </a:r>
            <a:r>
              <a:rPr lang="en-US" altLang="zh-CN" dirty="0"/>
              <a:t>60%  </a:t>
            </a:r>
            <a:r>
              <a:rPr lang="zh-CN" altLang="zh-CN" dirty="0"/>
              <a:t>实验：</a:t>
            </a:r>
            <a:r>
              <a:rPr lang="en-US" altLang="zh-CN" dirty="0"/>
              <a:t>30%  </a:t>
            </a:r>
            <a:r>
              <a:rPr lang="zh-CN" altLang="zh-CN" dirty="0"/>
              <a:t>平时：</a:t>
            </a:r>
            <a:r>
              <a:rPr lang="en-US" altLang="zh-CN" dirty="0"/>
              <a:t>10%</a:t>
            </a:r>
            <a:endParaRPr lang="zh-CN" altLang="zh-CN" dirty="0"/>
          </a:p>
          <a:p>
            <a:endParaRPr lang="zh-CN" altLang="en-US" dirty="0"/>
          </a:p>
        </p:txBody>
      </p:sp>
    </p:spTree>
    <p:extLst>
      <p:ext uri="{BB962C8B-B14F-4D97-AF65-F5344CB8AC3E}">
        <p14:creationId xmlns:p14="http://schemas.microsoft.com/office/powerpoint/2010/main" val="4142993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学时安排</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750819067"/>
              </p:ext>
            </p:extLst>
          </p:nvPr>
        </p:nvGraphicFramePr>
        <p:xfrm>
          <a:off x="787866" y="974292"/>
          <a:ext cx="10234211" cy="5296074"/>
        </p:xfrm>
        <a:graphic>
          <a:graphicData uri="http://schemas.openxmlformats.org/drawingml/2006/table">
            <a:tbl>
              <a:tblPr firstRow="1" firstCol="1" bandRow="1">
                <a:tableStyleId>{5C22544A-7EE6-4342-B048-85BDC9FD1C3A}</a:tableStyleId>
              </a:tblPr>
              <a:tblGrid>
                <a:gridCol w="4116746"/>
                <a:gridCol w="2343955"/>
                <a:gridCol w="1649110"/>
                <a:gridCol w="2124400"/>
              </a:tblGrid>
              <a:tr h="652817">
                <a:tc>
                  <a:txBody>
                    <a:bodyPr/>
                    <a:lstStyle/>
                    <a:p>
                      <a:pPr algn="ctr">
                        <a:lnSpc>
                          <a:spcPct val="150000"/>
                        </a:lnSpc>
                        <a:spcAft>
                          <a:spcPts val="0"/>
                        </a:spcAft>
                      </a:pPr>
                      <a:r>
                        <a:rPr lang="zh-CN" sz="2000" kern="100" dirty="0">
                          <a:effectLst/>
                        </a:rPr>
                        <a:t>章节名称</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zh-CN" sz="2000" kern="100">
                          <a:effectLst/>
                        </a:rPr>
                        <a:t>讲授（学时）</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zh-CN" sz="2000" kern="100">
                          <a:effectLst/>
                        </a:rPr>
                        <a:t>实验（学时）</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zh-CN" sz="2000" kern="100">
                          <a:effectLst/>
                        </a:rPr>
                        <a:t>小计</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594424">
                <a:tc>
                  <a:txBody>
                    <a:bodyPr/>
                    <a:lstStyle/>
                    <a:p>
                      <a:pPr algn="just">
                        <a:lnSpc>
                          <a:spcPct val="150000"/>
                        </a:lnSpc>
                        <a:spcAft>
                          <a:spcPts val="0"/>
                        </a:spcAft>
                      </a:pPr>
                      <a:r>
                        <a:rPr lang="zh-CN" sz="2000" kern="100">
                          <a:effectLst/>
                        </a:rPr>
                        <a:t>第一章</a:t>
                      </a:r>
                      <a:r>
                        <a:rPr lang="en-US" sz="2000" kern="100">
                          <a:effectLst/>
                        </a:rPr>
                        <a:t>linux</a:t>
                      </a:r>
                      <a:r>
                        <a:rPr lang="zh-CN" sz="2000" kern="100">
                          <a:effectLst/>
                        </a:rPr>
                        <a:t>基础</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altLang="zh-CN" sz="2000" kern="100" dirty="0" smtClean="0">
                          <a:effectLst/>
                        </a:rPr>
                        <a:t>2</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altLang="zh-CN" sz="2000" kern="100" dirty="0" smtClean="0">
                          <a:effectLst/>
                        </a:rPr>
                        <a:t>4</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513159">
                <a:tc>
                  <a:txBody>
                    <a:bodyPr/>
                    <a:lstStyle/>
                    <a:p>
                      <a:pPr algn="just">
                        <a:lnSpc>
                          <a:spcPct val="150000"/>
                        </a:lnSpc>
                        <a:spcAft>
                          <a:spcPts val="0"/>
                        </a:spcAft>
                      </a:pPr>
                      <a:r>
                        <a:rPr lang="zh-CN" sz="2000" kern="100">
                          <a:effectLst/>
                        </a:rPr>
                        <a:t>第二章 </a:t>
                      </a:r>
                      <a:r>
                        <a:rPr lang="en-US" sz="2000" kern="100">
                          <a:effectLst/>
                        </a:rPr>
                        <a:t>Shell</a:t>
                      </a:r>
                      <a:r>
                        <a:rPr lang="zh-CN" sz="2000" kern="100">
                          <a:effectLst/>
                        </a:rPr>
                        <a:t>程序设计</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altLang="zh-CN" sz="2000" kern="100" dirty="0" smtClean="0">
                          <a:effectLst/>
                        </a:rPr>
                        <a:t>3</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altLang="zh-CN" sz="2000" kern="100" dirty="0" smtClean="0">
                          <a:effectLst/>
                        </a:rPr>
                        <a:t>5</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811369">
                <a:tc>
                  <a:txBody>
                    <a:bodyPr/>
                    <a:lstStyle/>
                    <a:p>
                      <a:pPr algn="just">
                        <a:lnSpc>
                          <a:spcPct val="150000"/>
                        </a:lnSpc>
                        <a:spcAft>
                          <a:spcPts val="0"/>
                        </a:spcAft>
                      </a:pPr>
                      <a:r>
                        <a:rPr lang="zh-CN" sz="2000" kern="100">
                          <a:effectLst/>
                        </a:rPr>
                        <a:t>第三章</a:t>
                      </a:r>
                      <a:r>
                        <a:rPr lang="en-US" sz="2000" kern="100">
                          <a:effectLst/>
                        </a:rPr>
                        <a:t> Linux</a:t>
                      </a:r>
                      <a:r>
                        <a:rPr lang="zh-CN" sz="2000" kern="100">
                          <a:effectLst/>
                        </a:rPr>
                        <a:t>系统程序设计（一）文件操作与文件管理</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4</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594424">
                <a:tc>
                  <a:txBody>
                    <a:bodyPr/>
                    <a:lstStyle/>
                    <a:p>
                      <a:pPr algn="just">
                        <a:lnSpc>
                          <a:spcPct val="150000"/>
                        </a:lnSpc>
                        <a:spcAft>
                          <a:spcPts val="0"/>
                        </a:spcAft>
                      </a:pPr>
                      <a:r>
                        <a:rPr lang="zh-CN" sz="2000" kern="100">
                          <a:effectLst/>
                        </a:rPr>
                        <a:t>第四章 </a:t>
                      </a:r>
                      <a:r>
                        <a:rPr lang="en-US" sz="2000" kern="100">
                          <a:effectLst/>
                        </a:rPr>
                        <a:t>Linux</a:t>
                      </a:r>
                      <a:r>
                        <a:rPr lang="zh-CN" sz="2000" kern="100">
                          <a:effectLst/>
                        </a:rPr>
                        <a:t>下简单的</a:t>
                      </a:r>
                      <a:r>
                        <a:rPr lang="en-US" sz="2000" kern="100">
                          <a:effectLst/>
                        </a:rPr>
                        <a:t>C</a:t>
                      </a:r>
                      <a:r>
                        <a:rPr lang="zh-CN" sz="2000" kern="100">
                          <a:effectLst/>
                        </a:rPr>
                        <a:t>程序设计</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4</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6</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938844">
                <a:tc>
                  <a:txBody>
                    <a:bodyPr/>
                    <a:lstStyle/>
                    <a:p>
                      <a:pPr algn="just">
                        <a:lnSpc>
                          <a:spcPct val="150000"/>
                        </a:lnSpc>
                        <a:spcAft>
                          <a:spcPts val="0"/>
                        </a:spcAft>
                      </a:pPr>
                      <a:r>
                        <a:rPr lang="zh-CN" sz="2000" kern="100">
                          <a:effectLst/>
                        </a:rPr>
                        <a:t>第五章</a:t>
                      </a:r>
                      <a:r>
                        <a:rPr lang="en-US" sz="2000" kern="100">
                          <a:effectLst/>
                        </a:rPr>
                        <a:t> Linux</a:t>
                      </a:r>
                      <a:r>
                        <a:rPr lang="zh-CN" sz="2000" kern="100">
                          <a:effectLst/>
                        </a:rPr>
                        <a:t>系统程序设计（二）：进程控制和进程间通信</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4</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6</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544003">
                <a:tc>
                  <a:txBody>
                    <a:bodyPr/>
                    <a:lstStyle/>
                    <a:p>
                      <a:pPr algn="just">
                        <a:lnSpc>
                          <a:spcPct val="150000"/>
                        </a:lnSpc>
                        <a:spcAft>
                          <a:spcPts val="0"/>
                        </a:spcAft>
                      </a:pPr>
                      <a:r>
                        <a:rPr lang="zh-CN" sz="2000" kern="100">
                          <a:effectLst/>
                        </a:rPr>
                        <a:t>第六章</a:t>
                      </a:r>
                      <a:r>
                        <a:rPr lang="en-US" sz="2000" kern="100">
                          <a:effectLst/>
                        </a:rPr>
                        <a:t> Linux</a:t>
                      </a:r>
                      <a:r>
                        <a:rPr lang="zh-CN" sz="2000" kern="100">
                          <a:effectLst/>
                        </a:rPr>
                        <a:t>网络程序设计</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5</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7</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r h="544003">
                <a:tc>
                  <a:txBody>
                    <a:bodyPr/>
                    <a:lstStyle/>
                    <a:p>
                      <a:pPr algn="just">
                        <a:lnSpc>
                          <a:spcPct val="150000"/>
                        </a:lnSpc>
                        <a:spcAft>
                          <a:spcPts val="0"/>
                        </a:spcAft>
                      </a:pPr>
                      <a:r>
                        <a:rPr lang="zh-CN" sz="2000" kern="100" dirty="0">
                          <a:effectLst/>
                        </a:rPr>
                        <a:t>共计</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20</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a:effectLst/>
                        </a:rPr>
                        <a:t>12</a:t>
                      </a:r>
                      <a:endParaRPr lang="zh-CN" sz="20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c>
                  <a:txBody>
                    <a:bodyPr/>
                    <a:lstStyle/>
                    <a:p>
                      <a:pPr algn="ctr">
                        <a:lnSpc>
                          <a:spcPct val="150000"/>
                        </a:lnSpc>
                        <a:spcAft>
                          <a:spcPts val="0"/>
                        </a:spcAft>
                      </a:pPr>
                      <a:r>
                        <a:rPr lang="en-US" sz="2000" kern="100" dirty="0">
                          <a:effectLst/>
                        </a:rPr>
                        <a:t>32</a:t>
                      </a:r>
                      <a:endParaRPr lang="zh-CN" sz="20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tc>
              </a:tr>
            </a:tbl>
          </a:graphicData>
        </a:graphic>
      </p:graphicFrame>
    </p:spTree>
    <p:extLst>
      <p:ext uri="{BB962C8B-B14F-4D97-AF65-F5344CB8AC3E}">
        <p14:creationId xmlns:p14="http://schemas.microsoft.com/office/powerpoint/2010/main" val="402355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实验项目及学时分配</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168124860"/>
              </p:ext>
            </p:extLst>
          </p:nvPr>
        </p:nvGraphicFramePr>
        <p:xfrm>
          <a:off x="1062684" y="1397656"/>
          <a:ext cx="9968248" cy="4253243"/>
        </p:xfrm>
        <a:graphic>
          <a:graphicData uri="http://schemas.openxmlformats.org/drawingml/2006/table">
            <a:tbl>
              <a:tblPr firstRow="1" firstCol="1" bandRow="1">
                <a:tableStyleId>{5C22544A-7EE6-4342-B048-85BDC9FD1C3A}</a:tableStyleId>
              </a:tblPr>
              <a:tblGrid>
                <a:gridCol w="860204"/>
                <a:gridCol w="5115594"/>
                <a:gridCol w="1854557"/>
                <a:gridCol w="1278955"/>
                <a:gridCol w="858938"/>
              </a:tblGrid>
              <a:tr h="785609">
                <a:tc>
                  <a:txBody>
                    <a:bodyPr/>
                    <a:lstStyle/>
                    <a:p>
                      <a:pPr algn="ctr">
                        <a:spcAft>
                          <a:spcPts val="0"/>
                        </a:spcAft>
                      </a:pPr>
                      <a:r>
                        <a:rPr lang="zh-CN" sz="2800" kern="100" dirty="0">
                          <a:effectLst/>
                        </a:rPr>
                        <a:t>序号</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实验名称</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实验类别</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学时数</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dirty="0">
                          <a:effectLst/>
                        </a:rPr>
                        <a:t>备注</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dirty="0">
                          <a:effectLst/>
                        </a:rPr>
                        <a:t>1</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Linux</a:t>
                      </a:r>
                      <a:r>
                        <a:rPr lang="zh-CN" sz="2800" kern="100">
                          <a:effectLst/>
                        </a:rPr>
                        <a:t>基本命令的使用</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验证型</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 </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Shell</a:t>
                      </a:r>
                      <a:r>
                        <a:rPr lang="zh-CN" sz="2800" kern="100">
                          <a:effectLst/>
                        </a:rPr>
                        <a:t>程序设计</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设计型</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 </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a:effectLst/>
                        </a:rPr>
                        <a:t>3</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文件操作与文件管理</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验证型</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 </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a:effectLst/>
                        </a:rPr>
                        <a:t>4</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Linux</a:t>
                      </a:r>
                      <a:r>
                        <a:rPr lang="zh-CN" sz="2800" kern="100">
                          <a:effectLst/>
                        </a:rPr>
                        <a:t>下简单</a:t>
                      </a:r>
                      <a:r>
                        <a:rPr lang="en-US" sz="2800" kern="100">
                          <a:effectLst/>
                        </a:rPr>
                        <a:t>C</a:t>
                      </a:r>
                      <a:r>
                        <a:rPr lang="zh-CN" sz="2800" kern="100">
                          <a:effectLst/>
                        </a:rPr>
                        <a:t>程序设计</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验证型</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 </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a:effectLst/>
                        </a:rPr>
                        <a:t>5</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进程控制和进程间通信</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a:effectLst/>
                        </a:rPr>
                        <a:t>设计型</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2</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a:effectLst/>
                        </a:rPr>
                        <a:t> </a:t>
                      </a:r>
                      <a:endParaRPr lang="zh-CN" sz="2800" kern="10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r h="577939">
                <a:tc>
                  <a:txBody>
                    <a:bodyPr/>
                    <a:lstStyle/>
                    <a:p>
                      <a:pPr algn="ctr">
                        <a:spcAft>
                          <a:spcPts val="0"/>
                        </a:spcAft>
                      </a:pPr>
                      <a:r>
                        <a:rPr lang="en-US" sz="2800" kern="100" dirty="0">
                          <a:effectLst/>
                        </a:rPr>
                        <a:t>6</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dirty="0">
                          <a:effectLst/>
                        </a:rPr>
                        <a:t>网络程序设计</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zh-CN" sz="2800" kern="100" dirty="0">
                          <a:effectLst/>
                        </a:rPr>
                        <a:t>验证型</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dirty="0">
                          <a:effectLst/>
                        </a:rPr>
                        <a:t>2</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c>
                  <a:txBody>
                    <a:bodyPr/>
                    <a:lstStyle/>
                    <a:p>
                      <a:pPr algn="ctr">
                        <a:spcAft>
                          <a:spcPts val="0"/>
                        </a:spcAft>
                      </a:pPr>
                      <a:r>
                        <a:rPr lang="en-US" sz="2800" kern="100" dirty="0">
                          <a:effectLst/>
                        </a:rPr>
                        <a:t> </a:t>
                      </a:r>
                      <a:endParaRPr lang="zh-CN" sz="2800" kern="100" dirty="0">
                        <a:effectLst/>
                        <a:latin typeface="Calibri" panose="020F0502020204030204" pitchFamily="34" charset="0"/>
                        <a:ea typeface="黑体" panose="02010609060101010101" pitchFamily="49" charset="-122"/>
                        <a:cs typeface="黑体" panose="02010609060101010101" pitchFamily="49" charset="-122"/>
                      </a:endParaRPr>
                    </a:p>
                  </a:txBody>
                  <a:tcPr marL="68580" marR="68580" marT="0" marB="0" anchor="ctr"/>
                </a:tc>
              </a:tr>
            </a:tbl>
          </a:graphicData>
        </a:graphic>
      </p:graphicFrame>
    </p:spTree>
    <p:extLst>
      <p:ext uri="{BB962C8B-B14F-4D97-AF65-F5344CB8AC3E}">
        <p14:creationId xmlns:p14="http://schemas.microsoft.com/office/powerpoint/2010/main" val="349208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第一章 </a:t>
            </a:r>
            <a:r>
              <a:rPr lang="en-US" altLang="zh-CN" dirty="0" smtClean="0"/>
              <a:t>Linux</a:t>
            </a:r>
            <a:r>
              <a:rPr lang="zh-CN" altLang="en-US" dirty="0" smtClean="0"/>
              <a:t>基础</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162746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a:xfrm>
            <a:off x="838200" y="1825625"/>
            <a:ext cx="10727028" cy="4351338"/>
          </a:xfrm>
        </p:spPr>
        <p:txBody>
          <a:bodyPr/>
          <a:lstStyle/>
          <a:p>
            <a:r>
              <a:rPr lang="en-US" altLang="zh-CN" dirty="0"/>
              <a:t>1</a:t>
            </a:r>
            <a:r>
              <a:rPr lang="zh-CN" altLang="zh-CN" dirty="0"/>
              <a:t>、了解什么是</a:t>
            </a:r>
            <a:r>
              <a:rPr lang="en-US" altLang="zh-CN" dirty="0"/>
              <a:t>Linux</a:t>
            </a:r>
            <a:r>
              <a:rPr lang="zh-CN" altLang="zh-CN" dirty="0"/>
              <a:t>，</a:t>
            </a:r>
            <a:r>
              <a:rPr lang="en-US" altLang="zh-CN" dirty="0"/>
              <a:t>UNIX</a:t>
            </a:r>
            <a:r>
              <a:rPr lang="zh-CN" altLang="zh-CN" dirty="0"/>
              <a:t>和</a:t>
            </a:r>
            <a:r>
              <a:rPr lang="en-US" altLang="zh-CN" dirty="0"/>
              <a:t>Linux</a:t>
            </a:r>
            <a:r>
              <a:rPr lang="zh-CN" altLang="zh-CN" dirty="0"/>
              <a:t>的历史，</a:t>
            </a:r>
            <a:r>
              <a:rPr lang="en-US" altLang="zh-CN" dirty="0"/>
              <a:t>Linux/UNIX</a:t>
            </a:r>
            <a:r>
              <a:rPr lang="zh-CN" altLang="zh-CN" dirty="0"/>
              <a:t>的系统结构；</a:t>
            </a:r>
          </a:p>
          <a:p>
            <a:r>
              <a:rPr lang="en-US" altLang="zh-CN" dirty="0"/>
              <a:t>2</a:t>
            </a:r>
            <a:r>
              <a:rPr lang="zh-CN" altLang="zh-CN" dirty="0"/>
              <a:t>、掌握</a:t>
            </a:r>
            <a:r>
              <a:rPr lang="en-US" altLang="zh-CN" dirty="0"/>
              <a:t>Linux</a:t>
            </a:r>
            <a:r>
              <a:rPr lang="zh-CN" altLang="zh-CN" dirty="0"/>
              <a:t>的基本命令和操作使用，</a:t>
            </a:r>
            <a:r>
              <a:rPr lang="en-US" altLang="zh-CN" dirty="0"/>
              <a:t>Linux</a:t>
            </a:r>
            <a:r>
              <a:rPr lang="zh-CN" altLang="zh-CN" dirty="0"/>
              <a:t>程序设计的预备知识。</a:t>
            </a:r>
          </a:p>
          <a:p>
            <a:endParaRPr lang="zh-CN" altLang="en-US" dirty="0"/>
          </a:p>
        </p:txBody>
      </p:sp>
    </p:spTree>
    <p:extLst>
      <p:ext uri="{BB962C8B-B14F-4D97-AF65-F5344CB8AC3E}">
        <p14:creationId xmlns:p14="http://schemas.microsoft.com/office/powerpoint/2010/main" val="1078930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a:t>
            </a:r>
            <a:r>
              <a:rPr lang="en-US" altLang="zh-CN" dirty="0" smtClean="0"/>
              <a:t>Linux</a:t>
            </a:r>
            <a:endParaRPr lang="zh-CN" altLang="en-US" dirty="0"/>
          </a:p>
        </p:txBody>
      </p:sp>
      <p:sp>
        <p:nvSpPr>
          <p:cNvPr id="3" name="内容占位符 2"/>
          <p:cNvSpPr>
            <a:spLocks noGrp="1"/>
          </p:cNvSpPr>
          <p:nvPr>
            <p:ph idx="1"/>
          </p:nvPr>
        </p:nvSpPr>
        <p:spPr>
          <a:xfrm>
            <a:off x="838200" y="1825625"/>
            <a:ext cx="7327006" cy="4351338"/>
          </a:xfrm>
        </p:spPr>
        <p:txBody>
          <a:bodyPr>
            <a:normAutofit fontScale="85000" lnSpcReduction="20000"/>
          </a:bodyPr>
          <a:lstStyle/>
          <a:p>
            <a:r>
              <a:rPr lang="en-US" altLang="zh-CN" b="0" i="0" u="none" strike="noStrike" baseline="0" dirty="0" smtClean="0">
                <a:latin typeface="Times New Roman"/>
              </a:rPr>
              <a:t>Linux</a:t>
            </a:r>
            <a:r>
              <a:rPr lang="zh-CN" altLang="en-US" b="0" i="0" u="none" strike="noStrike" baseline="0" dirty="0" smtClean="0">
                <a:latin typeface="Times New Roman"/>
              </a:rPr>
              <a:t>系统是一种自由和开放源代码的类</a:t>
            </a:r>
            <a:r>
              <a:rPr lang="en-US" altLang="zh-CN" b="0" i="0" u="none" strike="noStrike" baseline="0" dirty="0" smtClean="0">
                <a:latin typeface="Times New Roman"/>
              </a:rPr>
              <a:t>UNIX</a:t>
            </a:r>
            <a:r>
              <a:rPr lang="zh-CN" altLang="en-US" b="0" i="0" u="none" strike="noStrike" baseline="0" dirty="0" smtClean="0">
                <a:latin typeface="Times New Roman"/>
              </a:rPr>
              <a:t>的完整操作系统。</a:t>
            </a:r>
            <a:endParaRPr lang="en-US" altLang="zh-CN" b="0" i="0" u="none" strike="noStrike" baseline="0" dirty="0" smtClean="0">
              <a:latin typeface="Times New Roman"/>
            </a:endParaRPr>
          </a:p>
          <a:p>
            <a:r>
              <a:rPr lang="zh-CN" altLang="en-US" dirty="0" smtClean="0">
                <a:latin typeface="Times New Roman"/>
              </a:rPr>
              <a:t>林纳斯</a:t>
            </a:r>
            <a:r>
              <a:rPr lang="en-US" altLang="zh-CN" dirty="0" smtClean="0">
                <a:latin typeface="Times New Roman"/>
              </a:rPr>
              <a:t>·</a:t>
            </a:r>
            <a:r>
              <a:rPr lang="zh-CN" altLang="en-US" dirty="0" smtClean="0">
                <a:latin typeface="Times New Roman"/>
              </a:rPr>
              <a:t>本纳第克特</a:t>
            </a:r>
            <a:r>
              <a:rPr lang="en-US" altLang="zh-CN" dirty="0" smtClean="0">
                <a:latin typeface="Times New Roman"/>
              </a:rPr>
              <a:t>·</a:t>
            </a:r>
            <a:r>
              <a:rPr lang="zh-CN" altLang="en-US" dirty="0" smtClean="0">
                <a:latin typeface="Times New Roman"/>
              </a:rPr>
              <a:t>托瓦兹</a:t>
            </a:r>
            <a:r>
              <a:rPr lang="en-US" altLang="zh-CN" dirty="0" smtClean="0">
                <a:latin typeface="Times New Roman"/>
              </a:rPr>
              <a:t>(Linus Benedict Torvalds, 1969</a:t>
            </a:r>
            <a:r>
              <a:rPr lang="zh-CN" altLang="en-US" dirty="0" smtClean="0">
                <a:latin typeface="Times New Roman"/>
              </a:rPr>
              <a:t>年</a:t>
            </a:r>
            <a:r>
              <a:rPr lang="en-US" altLang="zh-CN" dirty="0" smtClean="0">
                <a:latin typeface="Times New Roman"/>
              </a:rPr>
              <a:t>~ )</a:t>
            </a:r>
          </a:p>
          <a:p>
            <a:r>
              <a:rPr lang="zh-CN" altLang="en-US" dirty="0" smtClean="0">
                <a:latin typeface="Times New Roman"/>
              </a:rPr>
              <a:t>诞生于</a:t>
            </a:r>
            <a:r>
              <a:rPr lang="en-US" altLang="zh-CN" dirty="0" smtClean="0">
                <a:latin typeface="Times New Roman"/>
              </a:rPr>
              <a:t>1991 </a:t>
            </a:r>
            <a:r>
              <a:rPr lang="zh-CN" altLang="en-US" dirty="0" smtClean="0">
                <a:latin typeface="Times New Roman"/>
              </a:rPr>
              <a:t>年</a:t>
            </a:r>
            <a:r>
              <a:rPr lang="en-US" altLang="zh-CN" dirty="0" smtClean="0">
                <a:latin typeface="Times New Roman"/>
              </a:rPr>
              <a:t>10 </a:t>
            </a:r>
            <a:r>
              <a:rPr lang="zh-CN" altLang="en-US" dirty="0" smtClean="0">
                <a:latin typeface="Times New Roman"/>
              </a:rPr>
              <a:t>月</a:t>
            </a:r>
            <a:r>
              <a:rPr lang="en-US" altLang="zh-CN" dirty="0" smtClean="0">
                <a:latin typeface="Times New Roman"/>
              </a:rPr>
              <a:t>5 </a:t>
            </a:r>
            <a:r>
              <a:rPr lang="zh-CN" altLang="en-US" dirty="0" smtClean="0">
                <a:latin typeface="Times New Roman"/>
              </a:rPr>
              <a:t>日。</a:t>
            </a:r>
            <a:r>
              <a:rPr lang="en-US" altLang="zh-CN" dirty="0" smtClean="0">
                <a:latin typeface="Times New Roman"/>
              </a:rPr>
              <a:t>Linux</a:t>
            </a:r>
            <a:r>
              <a:rPr lang="zh-CN" altLang="en-US" dirty="0" smtClean="0">
                <a:latin typeface="Times New Roman"/>
              </a:rPr>
              <a:t>存在着许多不同的</a:t>
            </a:r>
            <a:r>
              <a:rPr lang="en-US" altLang="zh-CN" dirty="0" smtClean="0">
                <a:latin typeface="Times New Roman"/>
              </a:rPr>
              <a:t>Linux</a:t>
            </a:r>
            <a:r>
              <a:rPr lang="zh-CN" altLang="en-US" dirty="0" smtClean="0">
                <a:latin typeface="Times New Roman"/>
              </a:rPr>
              <a:t>版本，均使用</a:t>
            </a:r>
            <a:r>
              <a:rPr lang="en-US" altLang="zh-CN" dirty="0" smtClean="0">
                <a:latin typeface="Times New Roman"/>
              </a:rPr>
              <a:t>Linux</a:t>
            </a:r>
            <a:r>
              <a:rPr lang="zh-CN" altLang="en-US" dirty="0" smtClean="0">
                <a:latin typeface="Times New Roman"/>
              </a:rPr>
              <a:t>内核。</a:t>
            </a:r>
            <a:endParaRPr lang="en-US" altLang="zh-CN" dirty="0" smtClean="0">
              <a:latin typeface="Times New Roman"/>
            </a:endParaRPr>
          </a:p>
          <a:p>
            <a:r>
              <a:rPr lang="en-US" altLang="zh-CN" dirty="0" smtClean="0">
                <a:latin typeface="Times New Roman"/>
              </a:rPr>
              <a:t>Linux</a:t>
            </a:r>
            <a:r>
              <a:rPr lang="zh-CN" altLang="en-US" dirty="0" smtClean="0">
                <a:latin typeface="Times New Roman"/>
              </a:rPr>
              <a:t>系统基于</a:t>
            </a:r>
            <a:r>
              <a:rPr lang="en-US" altLang="zh-CN" dirty="0" smtClean="0">
                <a:latin typeface="Times New Roman"/>
              </a:rPr>
              <a:t>GPL</a:t>
            </a:r>
            <a:r>
              <a:rPr lang="zh-CN" altLang="en-US" dirty="0" smtClean="0">
                <a:latin typeface="Times New Roman"/>
              </a:rPr>
              <a:t>协议发布，该协议是</a:t>
            </a:r>
            <a:r>
              <a:rPr lang="en-US" altLang="zh-CN" dirty="0" smtClean="0">
                <a:latin typeface="Times New Roman"/>
              </a:rPr>
              <a:t>GNU</a:t>
            </a:r>
            <a:r>
              <a:rPr lang="zh-CN" altLang="en-US" dirty="0" smtClean="0">
                <a:latin typeface="Times New Roman"/>
              </a:rPr>
              <a:t>项目所创立开放源代码的公共许可证。</a:t>
            </a:r>
            <a:endParaRPr lang="en-US" altLang="zh-CN" dirty="0" smtClean="0">
              <a:latin typeface="Times New Roman"/>
            </a:endParaRPr>
          </a:p>
          <a:p>
            <a:r>
              <a:rPr lang="zh-CN" altLang="en-US" dirty="0" smtClean="0">
                <a:latin typeface="Times New Roman"/>
              </a:rPr>
              <a:t>支持各种计算机硬件设备中，比如手机、平板电脑、路由器、视频游戏控制台、台式计算机、大型机和超级计算机。</a:t>
            </a:r>
            <a:endParaRPr lang="en-US" altLang="zh-CN" dirty="0">
              <a:latin typeface="Times New Roman"/>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5969" y="1426153"/>
            <a:ext cx="3097852" cy="475081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6618" y="134937"/>
            <a:ext cx="1291216" cy="1291216"/>
          </a:xfrm>
          <a:prstGeom prst="rect">
            <a:avLst/>
          </a:prstGeom>
        </p:spPr>
      </p:pic>
    </p:spTree>
    <p:extLst>
      <p:ext uri="{BB962C8B-B14F-4D97-AF65-F5344CB8AC3E}">
        <p14:creationId xmlns:p14="http://schemas.microsoft.com/office/powerpoint/2010/main" val="32014653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endParaRPr lang="zh-CN" altLang="en-US" dirty="0"/>
          </a:p>
        </p:txBody>
      </p:sp>
      <p:pic>
        <p:nvPicPr>
          <p:cNvPr id="4" name="内容占位符 3">
            <a:hlinkClick r:id="rId2" action="ppaction://hlinkfile"/>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617995" y="1467351"/>
            <a:ext cx="956010" cy="4351923"/>
          </a:xfrm>
        </p:spPr>
      </p:pic>
    </p:spTree>
    <p:extLst>
      <p:ext uri="{BB962C8B-B14F-4D97-AF65-F5344CB8AC3E}">
        <p14:creationId xmlns:p14="http://schemas.microsoft.com/office/powerpoint/2010/main" val="18696472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GNU</a:t>
            </a:r>
            <a:r>
              <a:rPr lang="zh-CN" altLang="en-US" dirty="0" smtClean="0"/>
              <a:t>项目简介</a:t>
            </a:r>
            <a:endParaRPr lang="zh-CN" altLang="en-US" dirty="0"/>
          </a:p>
        </p:txBody>
      </p:sp>
      <p:sp>
        <p:nvSpPr>
          <p:cNvPr id="3" name="内容占位符 2"/>
          <p:cNvSpPr>
            <a:spLocks noGrp="1"/>
          </p:cNvSpPr>
          <p:nvPr>
            <p:ph idx="1"/>
          </p:nvPr>
        </p:nvSpPr>
        <p:spPr>
          <a:xfrm>
            <a:off x="838200" y="1825625"/>
            <a:ext cx="6296696" cy="4351338"/>
          </a:xfrm>
        </p:spPr>
        <p:txBody>
          <a:bodyPr>
            <a:normAutofit fontScale="92500" lnSpcReduction="10000"/>
          </a:bodyPr>
          <a:lstStyle/>
          <a:p>
            <a:r>
              <a:rPr lang="en-US" altLang="zh-CN" dirty="0" smtClean="0"/>
              <a:t>GNU</a:t>
            </a:r>
            <a:r>
              <a:rPr lang="zh-CN" altLang="en-US" dirty="0" smtClean="0"/>
              <a:t>项目在</a:t>
            </a:r>
            <a:r>
              <a:rPr lang="en-US" altLang="zh-CN" dirty="0" smtClean="0"/>
              <a:t>1983</a:t>
            </a:r>
            <a:r>
              <a:rPr lang="zh-CN" altLang="en-US" dirty="0" smtClean="0"/>
              <a:t>年由理查德</a:t>
            </a:r>
            <a:r>
              <a:rPr lang="en-US" altLang="zh-CN" dirty="0" smtClean="0"/>
              <a:t>·</a:t>
            </a:r>
            <a:r>
              <a:rPr lang="zh-CN" altLang="en-US" dirty="0" smtClean="0"/>
              <a:t>斯托曼（</a:t>
            </a:r>
            <a:r>
              <a:rPr lang="en-US" altLang="zh-CN" dirty="0" smtClean="0"/>
              <a:t>Richard Stallman</a:t>
            </a:r>
            <a:r>
              <a:rPr lang="zh-CN" altLang="en-US" dirty="0" smtClean="0"/>
              <a:t>）创立</a:t>
            </a:r>
          </a:p>
          <a:p>
            <a:r>
              <a:rPr lang="en-US" altLang="zh-CN" dirty="0" smtClean="0"/>
              <a:t>GNU</a:t>
            </a:r>
            <a:r>
              <a:rPr lang="zh-CN" altLang="en-US" dirty="0" smtClean="0"/>
              <a:t>项目花了十余年时间创建了</a:t>
            </a:r>
            <a:r>
              <a:rPr lang="en-US" altLang="zh-CN" dirty="0" smtClean="0"/>
              <a:t>GCC</a:t>
            </a:r>
            <a:r>
              <a:rPr lang="zh-CN" altLang="en-US" dirty="0" smtClean="0"/>
              <a:t>编译器、</a:t>
            </a:r>
            <a:r>
              <a:rPr lang="en-US" altLang="zh-CN" dirty="0" err="1" smtClean="0"/>
              <a:t>Emacs</a:t>
            </a:r>
            <a:r>
              <a:rPr lang="zh-CN" altLang="en-US" dirty="0" smtClean="0"/>
              <a:t>编辑器等多个工具。所有的工具以源代码形式发布，并且无需支付任何费用。只是这些工具的改进版本和衍生品必须遵循同样的发布形式，这就形成了</a:t>
            </a:r>
            <a:r>
              <a:rPr lang="en-US" altLang="zh-CN" dirty="0" smtClean="0"/>
              <a:t>GPL</a:t>
            </a:r>
            <a:r>
              <a:rPr lang="zh-CN" altLang="en-US" dirty="0" smtClean="0"/>
              <a:t>协议。但当时缺少一个最关键的组件</a:t>
            </a:r>
            <a:r>
              <a:rPr lang="en-US" altLang="zh-CN" dirty="0" smtClean="0"/>
              <a:t>——</a:t>
            </a:r>
            <a:r>
              <a:rPr lang="zh-CN" altLang="en-US" dirty="0" smtClean="0"/>
              <a:t>操作系统核心</a:t>
            </a:r>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3225" y="1957587"/>
            <a:ext cx="4326798" cy="3760632"/>
          </a:xfrm>
          <a:prstGeom prst="rect">
            <a:avLst/>
          </a:prstGeom>
        </p:spPr>
      </p:pic>
    </p:spTree>
    <p:extLst>
      <p:ext uri="{BB962C8B-B14F-4D97-AF65-F5344CB8AC3E}">
        <p14:creationId xmlns:p14="http://schemas.microsoft.com/office/powerpoint/2010/main" val="3213830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GNU</a:t>
            </a:r>
            <a:r>
              <a:rPr lang="zh-CN" altLang="en-US" dirty="0" smtClean="0"/>
              <a:t>项目组织结构</a:t>
            </a:r>
            <a:endParaRPr lang="zh-CN" altLang="en-US" dirty="0"/>
          </a:p>
        </p:txBody>
      </p:sp>
      <p:pic>
        <p:nvPicPr>
          <p:cNvPr id="4" name="Picture 2" descr="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3325" y="1195409"/>
            <a:ext cx="5112568" cy="443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06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起源</a:t>
            </a:r>
            <a:endParaRPr lang="zh-CN" altLang="en-US" dirty="0"/>
          </a:p>
        </p:txBody>
      </p:sp>
      <p:sp>
        <p:nvSpPr>
          <p:cNvPr id="3" name="内容占位符 2"/>
          <p:cNvSpPr>
            <a:spLocks noGrp="1"/>
          </p:cNvSpPr>
          <p:nvPr>
            <p:ph idx="1"/>
          </p:nvPr>
        </p:nvSpPr>
        <p:spPr>
          <a:xfrm>
            <a:off x="678810" y="1221618"/>
            <a:ext cx="5923208" cy="4351338"/>
          </a:xfrm>
        </p:spPr>
        <p:txBody>
          <a:bodyPr/>
          <a:lstStyle/>
          <a:p>
            <a:r>
              <a:rPr lang="en-US" altLang="zh-CN" sz="2800" dirty="0" err="1" smtClean="0"/>
              <a:t>Minix</a:t>
            </a:r>
            <a:r>
              <a:rPr lang="en-US" altLang="zh-CN" sz="2800" dirty="0" smtClean="0"/>
              <a:t>——</a:t>
            </a:r>
            <a:r>
              <a:rPr lang="zh-CN" altLang="en-US" sz="2800" dirty="0" smtClean="0"/>
              <a:t>安德鲁</a:t>
            </a:r>
            <a:r>
              <a:rPr lang="en-US" altLang="zh-CN" sz="2800" dirty="0" smtClean="0"/>
              <a:t>·</a:t>
            </a:r>
            <a:r>
              <a:rPr lang="zh-CN" altLang="en-US" sz="2800" dirty="0" smtClean="0"/>
              <a:t>塔能鲍姆（</a:t>
            </a:r>
            <a:r>
              <a:rPr lang="en-US" altLang="zh-CN" sz="2800" dirty="0" smtClean="0"/>
              <a:t>Andrew Tanenbaum</a:t>
            </a:r>
            <a:r>
              <a:rPr lang="zh-CN" altLang="en-US" sz="2800" dirty="0" smtClean="0"/>
              <a:t>）出于教学目的编写的类</a:t>
            </a:r>
            <a:r>
              <a:rPr lang="en-US" altLang="zh-CN" sz="2800" dirty="0" smtClean="0"/>
              <a:t>UNIX</a:t>
            </a:r>
            <a:r>
              <a:rPr lang="zh-CN" altLang="en-US" sz="2800" dirty="0" smtClean="0"/>
              <a:t>操作系统</a:t>
            </a:r>
            <a:endParaRPr lang="en-US" altLang="zh-CN" sz="2800" dirty="0" smtClean="0"/>
          </a:p>
          <a:p>
            <a:r>
              <a:rPr lang="en-US" altLang="zh-CN" sz="2800" dirty="0" err="1" smtClean="0"/>
              <a:t>Freax</a:t>
            </a:r>
            <a:r>
              <a:rPr lang="en-US" altLang="zh-CN" sz="2800" dirty="0" smtClean="0"/>
              <a:t>(</a:t>
            </a:r>
            <a:r>
              <a:rPr lang="en-US" altLang="zh-CN" sz="2800" dirty="0" err="1" smtClean="0"/>
              <a:t>Freak+x</a:t>
            </a:r>
            <a:r>
              <a:rPr lang="en-US" altLang="zh-CN" sz="2800" dirty="0" smtClean="0"/>
              <a:t>)——Linus Torvalds</a:t>
            </a:r>
          </a:p>
          <a:p>
            <a:r>
              <a:rPr lang="en-US" altLang="zh-CN" sz="2800" dirty="0" smtClean="0"/>
              <a:t>Linux——Ari </a:t>
            </a:r>
            <a:r>
              <a:rPr lang="en-US" altLang="zh-CN" sz="2800" dirty="0" err="1" smtClean="0"/>
              <a:t>Lemmke</a:t>
            </a:r>
            <a:endParaRPr lang="en-US" altLang="zh-CN" sz="2800" dirty="0" smtClean="0"/>
          </a:p>
          <a:p>
            <a:r>
              <a:rPr lang="en-US" altLang="zh-CN" sz="2800" dirty="0" smtClean="0"/>
              <a:t>GNU/Linux——Linux</a:t>
            </a:r>
            <a:r>
              <a:rPr lang="zh-CN" altLang="en-US" sz="2800" dirty="0" smtClean="0"/>
              <a:t>内核与</a:t>
            </a:r>
            <a:r>
              <a:rPr lang="en-US" altLang="zh-CN" sz="2800" dirty="0" smtClean="0"/>
              <a:t>GNU</a:t>
            </a:r>
            <a:r>
              <a:rPr lang="zh-CN" altLang="en-US" sz="2800" dirty="0" smtClean="0"/>
              <a:t>工具结合体</a:t>
            </a:r>
            <a:r>
              <a:rPr lang="en-US" altLang="zh-CN" sz="2800" dirty="0" smtClean="0"/>
              <a:t>(GNU</a:t>
            </a:r>
            <a:r>
              <a:rPr lang="zh-CN" altLang="en-US" sz="2800" dirty="0" smtClean="0"/>
              <a:t>是“</a:t>
            </a:r>
            <a:r>
              <a:rPr lang="en-US" altLang="zh-CN" sz="2800" dirty="0" smtClean="0"/>
              <a:t>GNU is Not Unix”</a:t>
            </a:r>
            <a:r>
              <a:rPr lang="zh-CN" altLang="en-US" sz="2800" dirty="0" smtClean="0"/>
              <a:t>的递归缩写</a:t>
            </a:r>
            <a:r>
              <a:rPr lang="en-US" altLang="zh-CN" sz="2800" dirty="0" smtClean="0"/>
              <a:t>)</a:t>
            </a:r>
            <a:endParaRPr lang="zh-CN" altLang="en-US" sz="28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276" y="1344693"/>
            <a:ext cx="5010150" cy="3752850"/>
          </a:xfrm>
          <a:prstGeom prst="rect">
            <a:avLst/>
          </a:prstGeom>
        </p:spPr>
      </p:pic>
    </p:spTree>
    <p:extLst>
      <p:ext uri="{BB962C8B-B14F-4D97-AF65-F5344CB8AC3E}">
        <p14:creationId xmlns:p14="http://schemas.microsoft.com/office/powerpoint/2010/main" val="807232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smtClean="0"/>
              <a:t>1991</a:t>
            </a:r>
            <a:r>
              <a:rPr lang="zh-CN" altLang="en-US" dirty="0" smtClean="0"/>
              <a:t>年</a:t>
            </a:r>
            <a:r>
              <a:rPr lang="en-US" altLang="zh-CN" dirty="0" smtClean="0"/>
              <a:t>8</a:t>
            </a:r>
            <a:r>
              <a:rPr lang="zh-CN" altLang="en-US" dirty="0" smtClean="0"/>
              <a:t>月</a:t>
            </a:r>
            <a:r>
              <a:rPr lang="en-US" altLang="zh-CN" dirty="0" smtClean="0"/>
              <a:t>25</a:t>
            </a:r>
            <a:r>
              <a:rPr lang="zh-CN" altLang="en-US" dirty="0" smtClean="0"/>
              <a:t>号，</a:t>
            </a:r>
            <a:r>
              <a:rPr lang="en-US" altLang="zh-CN" dirty="0" smtClean="0"/>
              <a:t>Linus</a:t>
            </a:r>
            <a:r>
              <a:rPr lang="zh-CN" altLang="en-US" dirty="0" smtClean="0"/>
              <a:t>在</a:t>
            </a:r>
            <a:r>
              <a:rPr lang="en-US" altLang="zh-CN" dirty="0" smtClean="0"/>
              <a:t>MINIX</a:t>
            </a:r>
            <a:r>
              <a:rPr lang="zh-CN" altLang="en-US" dirty="0" smtClean="0"/>
              <a:t>新闻组发出了历史性的一贴，向各位使用</a:t>
            </a:r>
            <a:r>
              <a:rPr lang="en-US" altLang="zh-CN" dirty="0" err="1" smtClean="0"/>
              <a:t>minix</a:t>
            </a:r>
            <a:r>
              <a:rPr lang="zh-CN" altLang="en-US" dirty="0" smtClean="0"/>
              <a:t>的朋友征求意见。</a:t>
            </a:r>
            <a:r>
              <a:rPr lang="en-US" altLang="zh-CN" dirty="0" smtClean="0"/>
              <a:t>Linus</a:t>
            </a:r>
            <a:r>
              <a:rPr lang="zh-CN" altLang="en-US" dirty="0" smtClean="0"/>
              <a:t>自己并没预料到他的小创造将改变整个计算科学领域。</a:t>
            </a:r>
            <a:r>
              <a:rPr lang="en-US" altLang="zh-CN" dirty="0" smtClean="0"/>
              <a:t>1991</a:t>
            </a:r>
            <a:r>
              <a:rPr lang="zh-CN" altLang="en-US" dirty="0" smtClean="0"/>
              <a:t>年</a:t>
            </a:r>
            <a:r>
              <a:rPr lang="en-US" altLang="zh-CN" dirty="0" smtClean="0"/>
              <a:t>9</a:t>
            </a:r>
            <a:r>
              <a:rPr lang="zh-CN" altLang="en-US" dirty="0" smtClean="0"/>
              <a:t>月中旬，</a:t>
            </a:r>
            <a:r>
              <a:rPr lang="en-US" altLang="zh-CN" dirty="0" smtClean="0"/>
              <a:t>Linux 0.01</a:t>
            </a:r>
            <a:r>
              <a:rPr lang="zh-CN" altLang="en-US" dirty="0" smtClean="0"/>
              <a:t>版问世了，并且被放到了网上。它立即引起了人们的注意。源代码被下载、测试、修改，最终被反馈给</a:t>
            </a:r>
            <a:r>
              <a:rPr lang="en-US" altLang="zh-CN" dirty="0" smtClean="0"/>
              <a:t>Linus</a:t>
            </a:r>
            <a:r>
              <a:rPr lang="zh-CN" altLang="en-US" dirty="0" smtClean="0"/>
              <a:t>。</a:t>
            </a:r>
            <a:r>
              <a:rPr lang="en-US" altLang="zh-CN" dirty="0" smtClean="0"/>
              <a:t>10 </a:t>
            </a:r>
            <a:r>
              <a:rPr lang="zh-CN" altLang="en-US" dirty="0" smtClean="0"/>
              <a:t>月</a:t>
            </a:r>
            <a:r>
              <a:rPr lang="en-US" altLang="zh-CN" dirty="0" smtClean="0"/>
              <a:t>5</a:t>
            </a:r>
            <a:r>
              <a:rPr lang="zh-CN" altLang="en-US" dirty="0" smtClean="0"/>
              <a:t>号，</a:t>
            </a:r>
            <a:r>
              <a:rPr lang="en-US" altLang="zh-CN" dirty="0" smtClean="0"/>
              <a:t>0.02</a:t>
            </a:r>
            <a:r>
              <a:rPr lang="zh-CN" altLang="en-US" dirty="0" smtClean="0"/>
              <a:t>版出来了 </a:t>
            </a:r>
          </a:p>
          <a:p>
            <a:r>
              <a:rPr lang="zh-CN" altLang="en-US" dirty="0" smtClean="0"/>
              <a:t>几周以后，</a:t>
            </a:r>
            <a:r>
              <a:rPr lang="en-US" altLang="zh-CN" dirty="0" smtClean="0"/>
              <a:t>Linux 0.03</a:t>
            </a:r>
            <a:r>
              <a:rPr lang="zh-CN" altLang="en-US" dirty="0" smtClean="0"/>
              <a:t>版发布了。</a:t>
            </a:r>
            <a:r>
              <a:rPr lang="en-US" altLang="zh-CN" dirty="0" smtClean="0"/>
              <a:t>12</a:t>
            </a:r>
            <a:r>
              <a:rPr lang="zh-CN" altLang="en-US" dirty="0" smtClean="0"/>
              <a:t>月份，</a:t>
            </a:r>
            <a:r>
              <a:rPr lang="en-US" altLang="zh-CN" dirty="0" smtClean="0"/>
              <a:t>0.10</a:t>
            </a:r>
            <a:r>
              <a:rPr lang="zh-CN" altLang="en-US" dirty="0" smtClean="0"/>
              <a:t>版发布了。这时的</a:t>
            </a:r>
            <a:r>
              <a:rPr lang="en-US" altLang="zh-CN" dirty="0" smtClean="0"/>
              <a:t>Linux</a:t>
            </a:r>
            <a:r>
              <a:rPr lang="zh-CN" altLang="en-US" dirty="0" smtClean="0"/>
              <a:t>还显得很简陋。它只能支持</a:t>
            </a:r>
            <a:r>
              <a:rPr lang="en-US" altLang="zh-CN" dirty="0" smtClean="0"/>
              <a:t>AT</a:t>
            </a:r>
            <a:r>
              <a:rPr lang="zh-CN" altLang="en-US" dirty="0" smtClean="0"/>
              <a:t>硬盘，而且不用登录（启动就进</a:t>
            </a:r>
            <a:r>
              <a:rPr lang="en-US" altLang="zh-CN" dirty="0" smtClean="0"/>
              <a:t>bash</a:t>
            </a:r>
            <a:r>
              <a:rPr lang="zh-CN" altLang="en-US" dirty="0" smtClean="0"/>
              <a:t>）。</a:t>
            </a:r>
            <a:r>
              <a:rPr lang="en-US" altLang="zh-CN" dirty="0" smtClean="0"/>
              <a:t>0.11</a:t>
            </a:r>
            <a:r>
              <a:rPr lang="zh-CN" altLang="en-US" dirty="0" smtClean="0"/>
              <a:t>版有了不少改进，可以支持多国语言键盘、软驱、</a:t>
            </a:r>
            <a:r>
              <a:rPr lang="en-US" altLang="zh-CN" dirty="0" smtClean="0"/>
              <a:t>VGA</a:t>
            </a:r>
            <a:r>
              <a:rPr lang="zh-CN" altLang="en-US" dirty="0" smtClean="0"/>
              <a:t>、</a:t>
            </a:r>
            <a:r>
              <a:rPr lang="en-US" altLang="zh-CN" dirty="0" smtClean="0"/>
              <a:t>EGA</a:t>
            </a:r>
            <a:r>
              <a:rPr lang="zh-CN" altLang="en-US" dirty="0" smtClean="0"/>
              <a:t>、</a:t>
            </a:r>
            <a:r>
              <a:rPr lang="en-US" altLang="zh-CN" dirty="0" smtClean="0"/>
              <a:t>Hercules</a:t>
            </a:r>
            <a:r>
              <a:rPr lang="zh-CN" altLang="en-US" dirty="0" smtClean="0"/>
              <a:t>等等。</a:t>
            </a:r>
            <a:r>
              <a:rPr lang="en-US" altLang="zh-CN" dirty="0" smtClean="0"/>
              <a:t>Linux</a:t>
            </a:r>
            <a:r>
              <a:rPr lang="zh-CN" altLang="en-US" dirty="0" smtClean="0"/>
              <a:t>的版本号从</a:t>
            </a:r>
            <a:r>
              <a:rPr lang="en-US" altLang="zh-CN" dirty="0" smtClean="0"/>
              <a:t>0.12</a:t>
            </a:r>
            <a:r>
              <a:rPr lang="zh-CN" altLang="en-US" dirty="0" smtClean="0"/>
              <a:t>直接上升到了</a:t>
            </a:r>
            <a:r>
              <a:rPr lang="en-US" altLang="zh-CN" dirty="0" smtClean="0"/>
              <a:t>0.95</a:t>
            </a:r>
            <a:r>
              <a:rPr lang="zh-CN" altLang="en-US" dirty="0" smtClean="0"/>
              <a:t>、</a:t>
            </a:r>
            <a:r>
              <a:rPr lang="en-US" altLang="zh-CN" dirty="0" smtClean="0"/>
              <a:t>0.96......</a:t>
            </a:r>
            <a:r>
              <a:rPr lang="zh-CN" altLang="en-US" dirty="0" smtClean="0"/>
              <a:t>不久，</a:t>
            </a:r>
            <a:r>
              <a:rPr lang="en-US" altLang="zh-CN" dirty="0" smtClean="0"/>
              <a:t>Linux</a:t>
            </a:r>
            <a:r>
              <a:rPr lang="zh-CN" altLang="en-US" dirty="0" smtClean="0"/>
              <a:t>的源代码就通过在芬兰和其它一些地方的</a:t>
            </a:r>
            <a:r>
              <a:rPr lang="en-US" altLang="zh-CN" dirty="0" smtClean="0"/>
              <a:t>FTP</a:t>
            </a:r>
            <a:r>
              <a:rPr lang="zh-CN" altLang="en-US" dirty="0" smtClean="0"/>
              <a:t>站点传遍了全世界。 </a:t>
            </a:r>
          </a:p>
          <a:p>
            <a:endParaRPr lang="zh-CN" altLang="en-US" dirty="0"/>
          </a:p>
        </p:txBody>
      </p:sp>
    </p:spTree>
    <p:extLst>
      <p:ext uri="{BB962C8B-B14F-4D97-AF65-F5344CB8AC3E}">
        <p14:creationId xmlns:p14="http://schemas.microsoft.com/office/powerpoint/2010/main" val="3878114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到了</a:t>
            </a:r>
            <a:r>
              <a:rPr lang="en-US" altLang="zh-CN" dirty="0" smtClean="0"/>
              <a:t>1992</a:t>
            </a:r>
            <a:r>
              <a:rPr lang="zh-CN" altLang="en-US" dirty="0" smtClean="0"/>
              <a:t>年，大约有</a:t>
            </a:r>
            <a:r>
              <a:rPr lang="en-US" altLang="zh-CN" dirty="0" smtClean="0"/>
              <a:t>1000</a:t>
            </a:r>
            <a:r>
              <a:rPr lang="zh-CN" altLang="en-US" dirty="0" smtClean="0"/>
              <a:t>人在使用</a:t>
            </a:r>
            <a:r>
              <a:rPr lang="en-US" altLang="zh-CN" dirty="0" smtClean="0"/>
              <a:t>Linux</a:t>
            </a:r>
            <a:r>
              <a:rPr lang="zh-CN" altLang="en-US" dirty="0" smtClean="0"/>
              <a:t>，值得一提的是，他们基本上都属于真正意义上的</a:t>
            </a:r>
            <a:r>
              <a:rPr lang="en-US" altLang="zh-CN" dirty="0" smtClean="0"/>
              <a:t>hacker </a:t>
            </a:r>
          </a:p>
          <a:p>
            <a:r>
              <a:rPr lang="en-US" altLang="zh-CN" dirty="0" smtClean="0"/>
              <a:t>1993</a:t>
            </a:r>
            <a:r>
              <a:rPr lang="zh-CN" altLang="en-US" dirty="0" smtClean="0"/>
              <a:t>年，大约有</a:t>
            </a:r>
            <a:r>
              <a:rPr lang="en-US" altLang="zh-CN" dirty="0" smtClean="0"/>
              <a:t>100</a:t>
            </a:r>
            <a:r>
              <a:rPr lang="zh-CN" altLang="en-US" dirty="0" smtClean="0"/>
              <a:t>余名程序员参与了</a:t>
            </a:r>
            <a:r>
              <a:rPr lang="en-US" altLang="zh-CN" dirty="0" smtClean="0"/>
              <a:t>Linux</a:t>
            </a:r>
            <a:r>
              <a:rPr lang="zh-CN" altLang="en-US" dirty="0" smtClean="0"/>
              <a:t>内核代码编写</a:t>
            </a:r>
            <a:r>
              <a:rPr lang="en-US" altLang="zh-CN" dirty="0" smtClean="0"/>
              <a:t>/</a:t>
            </a:r>
            <a:r>
              <a:rPr lang="zh-CN" altLang="en-US" dirty="0" smtClean="0"/>
              <a:t>修改工作，其中核心组由</a:t>
            </a:r>
            <a:r>
              <a:rPr lang="en-US" altLang="zh-CN" dirty="0" smtClean="0"/>
              <a:t>5</a:t>
            </a:r>
            <a:r>
              <a:rPr lang="zh-CN" altLang="en-US" dirty="0" smtClean="0"/>
              <a:t>人组成，此时</a:t>
            </a:r>
            <a:r>
              <a:rPr lang="en-US" altLang="zh-CN" dirty="0" smtClean="0"/>
              <a:t>Linux 0.99</a:t>
            </a:r>
            <a:r>
              <a:rPr lang="zh-CN" altLang="en-US" dirty="0" smtClean="0"/>
              <a:t>的代码有大约有十万行，用户大约有</a:t>
            </a:r>
            <a:r>
              <a:rPr lang="en-US" altLang="zh-CN" dirty="0" smtClean="0"/>
              <a:t>10</a:t>
            </a:r>
            <a:r>
              <a:rPr lang="zh-CN" altLang="en-US" dirty="0" smtClean="0"/>
              <a:t>万左右。 </a:t>
            </a:r>
          </a:p>
          <a:p>
            <a:r>
              <a:rPr lang="en-US" altLang="zh-CN" dirty="0" smtClean="0"/>
              <a:t>1994</a:t>
            </a:r>
            <a:r>
              <a:rPr lang="zh-CN" altLang="en-US" dirty="0" smtClean="0"/>
              <a:t>年</a:t>
            </a:r>
            <a:r>
              <a:rPr lang="en-US" altLang="zh-CN" dirty="0" smtClean="0"/>
              <a:t>3</a:t>
            </a:r>
            <a:r>
              <a:rPr lang="zh-CN" altLang="en-US" dirty="0" smtClean="0"/>
              <a:t>月，</a:t>
            </a:r>
            <a:r>
              <a:rPr lang="en-US" altLang="zh-CN" dirty="0" smtClean="0"/>
              <a:t>Linux1.0</a:t>
            </a:r>
            <a:r>
              <a:rPr lang="zh-CN" altLang="en-US" dirty="0" smtClean="0"/>
              <a:t>发布，代码量</a:t>
            </a:r>
            <a:r>
              <a:rPr lang="en-US" altLang="zh-CN" dirty="0" smtClean="0"/>
              <a:t>17</a:t>
            </a:r>
            <a:r>
              <a:rPr lang="zh-CN" altLang="en-US" dirty="0" smtClean="0"/>
              <a:t>万行，当时是按照完全自由免费的协议发布，随后正式采用</a:t>
            </a:r>
            <a:r>
              <a:rPr lang="en-US" altLang="zh-CN" dirty="0" smtClean="0"/>
              <a:t>GPL</a:t>
            </a:r>
            <a:r>
              <a:rPr lang="zh-CN" altLang="en-US" dirty="0" smtClean="0"/>
              <a:t>协议。至此， </a:t>
            </a:r>
            <a:r>
              <a:rPr lang="en-US" altLang="zh-CN" dirty="0" smtClean="0"/>
              <a:t>Linux</a:t>
            </a:r>
            <a:r>
              <a:rPr lang="zh-CN" altLang="en-US" dirty="0" smtClean="0"/>
              <a:t>的代码开发进入良性循环。很多系统管理员开始在自己的操作系统环境中尝试</a:t>
            </a:r>
            <a:r>
              <a:rPr lang="en-US" altLang="zh-CN" dirty="0" err="1" smtClean="0"/>
              <a:t>linux</a:t>
            </a:r>
            <a:r>
              <a:rPr lang="zh-CN" altLang="en-US" dirty="0" smtClean="0"/>
              <a:t>，并将修改的代码提交给核心小组。由于拥有了丰富的操作系统平台，因而 </a:t>
            </a:r>
            <a:r>
              <a:rPr lang="en-US" altLang="zh-CN" dirty="0" smtClean="0"/>
              <a:t>Linux</a:t>
            </a:r>
            <a:r>
              <a:rPr lang="zh-CN" altLang="en-US" dirty="0" smtClean="0"/>
              <a:t>的代码中也充实了对不同硬件系统的支持，大大的提高了跨平台移植性。 </a:t>
            </a:r>
          </a:p>
          <a:p>
            <a:endParaRPr lang="zh-CN" altLang="en-US" dirty="0"/>
          </a:p>
        </p:txBody>
      </p:sp>
    </p:spTree>
    <p:extLst>
      <p:ext uri="{BB962C8B-B14F-4D97-AF65-F5344CB8AC3E}">
        <p14:creationId xmlns:p14="http://schemas.microsoft.com/office/powerpoint/2010/main" val="2749897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dirty="0" smtClean="0"/>
              <a:t>1997</a:t>
            </a:r>
            <a:r>
              <a:rPr lang="zh-CN" altLang="en-US" dirty="0" smtClean="0"/>
              <a:t>年夏，大片</a:t>
            </a:r>
            <a:r>
              <a:rPr lang="en-US" altLang="zh-CN" dirty="0" smtClean="0"/>
              <a:t>《</a:t>
            </a:r>
            <a:r>
              <a:rPr lang="zh-CN" altLang="en-US" dirty="0" smtClean="0"/>
              <a:t>泰坦尼克号</a:t>
            </a:r>
            <a:r>
              <a:rPr lang="en-US" altLang="zh-CN" dirty="0" smtClean="0"/>
              <a:t>》</a:t>
            </a:r>
            <a:r>
              <a:rPr lang="zh-CN" altLang="en-US" dirty="0" smtClean="0"/>
              <a:t>在制作特效中使用的</a:t>
            </a:r>
            <a:r>
              <a:rPr lang="en-US" altLang="zh-CN" dirty="0" smtClean="0"/>
              <a:t>160</a:t>
            </a:r>
            <a:r>
              <a:rPr lang="zh-CN" altLang="en-US" dirty="0" smtClean="0"/>
              <a:t>台</a:t>
            </a:r>
            <a:r>
              <a:rPr lang="en-US" altLang="zh-CN" dirty="0" smtClean="0"/>
              <a:t>Alpha</a:t>
            </a:r>
            <a:r>
              <a:rPr lang="zh-CN" altLang="en-US" dirty="0" smtClean="0"/>
              <a:t>图形工作站中，有</a:t>
            </a:r>
            <a:r>
              <a:rPr lang="en-US" altLang="zh-CN" dirty="0" smtClean="0"/>
              <a:t>105</a:t>
            </a:r>
            <a:r>
              <a:rPr lang="zh-CN" altLang="en-US" dirty="0" smtClean="0"/>
              <a:t>台采用了</a:t>
            </a:r>
            <a:r>
              <a:rPr lang="en-US" altLang="zh-CN" dirty="0" smtClean="0"/>
              <a:t>Linux</a:t>
            </a:r>
            <a:r>
              <a:rPr lang="zh-CN" altLang="en-US" dirty="0" smtClean="0"/>
              <a:t>操作系统。 </a:t>
            </a:r>
          </a:p>
          <a:p>
            <a:r>
              <a:rPr lang="en-US" altLang="zh-CN" dirty="0" smtClean="0"/>
              <a:t>1998</a:t>
            </a:r>
            <a:r>
              <a:rPr lang="zh-CN" altLang="en-US" dirty="0" smtClean="0"/>
              <a:t>年是</a:t>
            </a:r>
            <a:r>
              <a:rPr lang="en-US" altLang="zh-CN" dirty="0" smtClean="0"/>
              <a:t>Linux</a:t>
            </a:r>
            <a:r>
              <a:rPr lang="zh-CN" altLang="en-US" dirty="0" smtClean="0"/>
              <a:t>迅猛发展的一年。</a:t>
            </a:r>
            <a:r>
              <a:rPr lang="en-US" altLang="zh-CN" dirty="0" smtClean="0"/>
              <a:t>1</a:t>
            </a:r>
            <a:r>
              <a:rPr lang="zh-CN" altLang="en-US" dirty="0" smtClean="0"/>
              <a:t>月，小红帽高级研发实验室成立，同年</a:t>
            </a:r>
            <a:r>
              <a:rPr lang="en-US" altLang="zh-CN" dirty="0" err="1" smtClean="0"/>
              <a:t>RedHat</a:t>
            </a:r>
            <a:r>
              <a:rPr lang="en-US" altLang="zh-CN" dirty="0" smtClean="0"/>
              <a:t> 5.0</a:t>
            </a:r>
            <a:r>
              <a:rPr lang="zh-CN" altLang="en-US" dirty="0" smtClean="0"/>
              <a:t>获得了</a:t>
            </a:r>
            <a:r>
              <a:rPr lang="en-US" altLang="zh-CN" dirty="0" smtClean="0"/>
              <a:t>InfoWorld</a:t>
            </a:r>
            <a:r>
              <a:rPr lang="zh-CN" altLang="en-US" dirty="0" smtClean="0"/>
              <a:t>的操作系统奖项。</a:t>
            </a:r>
            <a:r>
              <a:rPr lang="en-US" altLang="zh-CN" dirty="0" smtClean="0"/>
              <a:t>4</a:t>
            </a:r>
            <a:r>
              <a:rPr lang="zh-CN" altLang="en-US" dirty="0" smtClean="0"/>
              <a:t>月</a:t>
            </a:r>
            <a:r>
              <a:rPr lang="en-US" altLang="zh-CN" dirty="0" smtClean="0"/>
              <a:t>Mozilla </a:t>
            </a:r>
            <a:r>
              <a:rPr lang="zh-CN" altLang="en-US" dirty="0" smtClean="0"/>
              <a:t>代码发布，成为</a:t>
            </a:r>
            <a:r>
              <a:rPr lang="en-US" altLang="zh-CN" dirty="0" err="1" smtClean="0"/>
              <a:t>linux</a:t>
            </a:r>
            <a:r>
              <a:rPr lang="zh-CN" altLang="en-US" dirty="0" smtClean="0"/>
              <a:t>图形界面上的王牌浏览器。</a:t>
            </a:r>
            <a:r>
              <a:rPr lang="en-US" altLang="zh-CN" dirty="0" smtClean="0"/>
              <a:t>10</a:t>
            </a:r>
            <a:r>
              <a:rPr lang="zh-CN" altLang="en-US" dirty="0" smtClean="0"/>
              <a:t>月，</a:t>
            </a:r>
            <a:r>
              <a:rPr lang="en-US" altLang="zh-CN" dirty="0" smtClean="0"/>
              <a:t>Intel</a:t>
            </a:r>
            <a:r>
              <a:rPr lang="zh-CN" altLang="en-US" dirty="0" smtClean="0"/>
              <a:t>和</a:t>
            </a:r>
            <a:r>
              <a:rPr lang="en-US" altLang="zh-CN" dirty="0" smtClean="0"/>
              <a:t>Netscape</a:t>
            </a:r>
            <a:r>
              <a:rPr lang="zh-CN" altLang="en-US" dirty="0" smtClean="0"/>
              <a:t>宣布小额投资红帽软件，</a:t>
            </a:r>
            <a:r>
              <a:rPr lang="en-US" altLang="zh-CN" dirty="0" smtClean="0"/>
              <a:t>Linux</a:t>
            </a:r>
            <a:r>
              <a:rPr lang="zh-CN" altLang="en-US" dirty="0" smtClean="0"/>
              <a:t>获得商业认同的信号。同月，微软在法国发布了反</a:t>
            </a:r>
            <a:r>
              <a:rPr lang="en-US" altLang="zh-CN" dirty="0" smtClean="0"/>
              <a:t>Linux</a:t>
            </a:r>
            <a:r>
              <a:rPr lang="zh-CN" altLang="en-US" dirty="0" smtClean="0"/>
              <a:t>公开信，这表明微软公司开始将</a:t>
            </a:r>
            <a:r>
              <a:rPr lang="en-US" altLang="zh-CN" dirty="0" smtClean="0"/>
              <a:t>Linux</a:t>
            </a:r>
            <a:r>
              <a:rPr lang="zh-CN" altLang="en-US" dirty="0" smtClean="0"/>
              <a:t>视作了一个对手来对待。 </a:t>
            </a:r>
            <a:endParaRPr lang="zh-CN" altLang="en-US" dirty="0"/>
          </a:p>
        </p:txBody>
      </p:sp>
    </p:spTree>
    <p:extLst>
      <p:ext uri="{BB962C8B-B14F-4D97-AF65-F5344CB8AC3E}">
        <p14:creationId xmlns:p14="http://schemas.microsoft.com/office/powerpoint/2010/main" val="4130967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dirty="0" smtClean="0"/>
              <a:t>1999</a:t>
            </a:r>
            <a:r>
              <a:rPr lang="zh-CN" altLang="en-US" dirty="0" smtClean="0"/>
              <a:t>年，</a:t>
            </a:r>
            <a:r>
              <a:rPr lang="en-US" altLang="zh-CN" dirty="0" smtClean="0"/>
              <a:t>IBM</a:t>
            </a:r>
            <a:r>
              <a:rPr lang="zh-CN" altLang="en-US" dirty="0" smtClean="0"/>
              <a:t>宣布与</a:t>
            </a:r>
            <a:r>
              <a:rPr lang="en-US" altLang="zh-CN" dirty="0" err="1" smtClean="0"/>
              <a:t>Redhat</a:t>
            </a:r>
            <a:r>
              <a:rPr lang="zh-CN" altLang="en-US" dirty="0" smtClean="0"/>
              <a:t>公司建立伙伴关系，以确保</a:t>
            </a:r>
            <a:r>
              <a:rPr lang="en-US" altLang="zh-CN" dirty="0" err="1" smtClean="0"/>
              <a:t>Redhat</a:t>
            </a:r>
            <a:r>
              <a:rPr lang="zh-CN" altLang="en-US" dirty="0" smtClean="0"/>
              <a:t>在</a:t>
            </a:r>
            <a:r>
              <a:rPr lang="en-US" altLang="zh-CN" dirty="0" smtClean="0"/>
              <a:t>IBM</a:t>
            </a:r>
            <a:r>
              <a:rPr lang="zh-CN" altLang="en-US" dirty="0" smtClean="0"/>
              <a:t>机器上正确运行。 </a:t>
            </a:r>
          </a:p>
          <a:p>
            <a:r>
              <a:rPr lang="en-US" altLang="zh-CN" dirty="0" smtClean="0"/>
              <a:t>2000</a:t>
            </a:r>
            <a:r>
              <a:rPr lang="zh-CN" altLang="en-US" dirty="0" smtClean="0"/>
              <a:t>年初始，</a:t>
            </a:r>
            <a:r>
              <a:rPr lang="en-US" altLang="zh-CN" dirty="0" smtClean="0"/>
              <a:t>Sun</a:t>
            </a:r>
            <a:r>
              <a:rPr lang="zh-CN" altLang="en-US" dirty="0" smtClean="0"/>
              <a:t>公司在</a:t>
            </a:r>
            <a:r>
              <a:rPr lang="en-US" altLang="zh-CN" dirty="0" smtClean="0"/>
              <a:t>Linux</a:t>
            </a:r>
            <a:r>
              <a:rPr lang="zh-CN" altLang="en-US" dirty="0" smtClean="0"/>
              <a:t>的压力下宣布</a:t>
            </a:r>
            <a:r>
              <a:rPr lang="en-US" altLang="zh-CN" dirty="0" smtClean="0"/>
              <a:t>Solaris8</a:t>
            </a:r>
            <a:r>
              <a:rPr lang="zh-CN" altLang="en-US" dirty="0" smtClean="0"/>
              <a:t>降低售价。事实上</a:t>
            </a:r>
            <a:r>
              <a:rPr lang="en-US" altLang="zh-CN" dirty="0" smtClean="0"/>
              <a:t>Linux</a:t>
            </a:r>
            <a:r>
              <a:rPr lang="zh-CN" altLang="en-US" dirty="0" smtClean="0"/>
              <a:t>对</a:t>
            </a:r>
            <a:r>
              <a:rPr lang="en-US" altLang="zh-CN" dirty="0" smtClean="0"/>
              <a:t>Sun</a:t>
            </a:r>
            <a:r>
              <a:rPr lang="zh-CN" altLang="en-US" dirty="0" smtClean="0"/>
              <a:t>造成的冲击远比对 </a:t>
            </a:r>
            <a:r>
              <a:rPr lang="en-US" altLang="zh-CN" dirty="0" smtClean="0"/>
              <a:t>Windows</a:t>
            </a:r>
            <a:r>
              <a:rPr lang="zh-CN" altLang="en-US" dirty="0" smtClean="0"/>
              <a:t>来得更大。 </a:t>
            </a:r>
            <a:r>
              <a:rPr lang="en-US" altLang="zh-CN" dirty="0" smtClean="0"/>
              <a:t>2</a:t>
            </a:r>
            <a:r>
              <a:rPr lang="zh-CN" altLang="en-US" dirty="0" smtClean="0"/>
              <a:t>月</a:t>
            </a:r>
            <a:r>
              <a:rPr lang="en-US" altLang="zh-CN" dirty="0" smtClean="0"/>
              <a:t>Red Hat</a:t>
            </a:r>
            <a:r>
              <a:rPr lang="zh-CN" altLang="en-US" dirty="0" smtClean="0"/>
              <a:t>发布了嵌入式</a:t>
            </a:r>
            <a:r>
              <a:rPr lang="en-US" altLang="zh-CN" dirty="0" smtClean="0"/>
              <a:t>Linux</a:t>
            </a:r>
            <a:r>
              <a:rPr lang="zh-CN" altLang="en-US" dirty="0" smtClean="0"/>
              <a:t>的开发环境，</a:t>
            </a:r>
            <a:r>
              <a:rPr lang="en-US" altLang="zh-CN" dirty="0" smtClean="0"/>
              <a:t>Linux</a:t>
            </a:r>
            <a:r>
              <a:rPr lang="zh-CN" altLang="en-US" dirty="0" smtClean="0"/>
              <a:t>在嵌入式行业的潜力逐渐被发掘出来。在</a:t>
            </a:r>
            <a:r>
              <a:rPr lang="en-US" altLang="zh-CN" dirty="0" smtClean="0"/>
              <a:t>4</a:t>
            </a:r>
            <a:r>
              <a:rPr lang="zh-CN" altLang="en-US" dirty="0" smtClean="0"/>
              <a:t>月，拓林思公司宣布了推出中国首家</a:t>
            </a:r>
            <a:r>
              <a:rPr lang="en-US" altLang="zh-CN" dirty="0" smtClean="0"/>
              <a:t>Linux</a:t>
            </a:r>
            <a:r>
              <a:rPr lang="zh-CN" altLang="en-US" dirty="0" smtClean="0"/>
              <a:t>工程师认证考试 </a:t>
            </a:r>
          </a:p>
          <a:p>
            <a:endParaRPr lang="zh-CN" altLang="en-US" dirty="0"/>
          </a:p>
        </p:txBody>
      </p:sp>
    </p:spTree>
    <p:extLst>
      <p:ext uri="{BB962C8B-B14F-4D97-AF65-F5344CB8AC3E}">
        <p14:creationId xmlns:p14="http://schemas.microsoft.com/office/powerpoint/2010/main" val="3351003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smtClean="0"/>
              <a:t>2001</a:t>
            </a:r>
            <a:r>
              <a:rPr lang="zh-CN" altLang="en-US" dirty="0" smtClean="0"/>
              <a:t>月，</a:t>
            </a:r>
            <a:r>
              <a:rPr lang="en-US" altLang="zh-CN" dirty="0" smtClean="0"/>
              <a:t>Oracle</a:t>
            </a:r>
            <a:r>
              <a:rPr lang="zh-CN" altLang="en-US" dirty="0" smtClean="0"/>
              <a:t>宣布在</a:t>
            </a:r>
            <a:r>
              <a:rPr lang="en-US" altLang="zh-CN" dirty="0" smtClean="0"/>
              <a:t>OTN</a:t>
            </a:r>
            <a:r>
              <a:rPr lang="zh-CN" altLang="en-US" dirty="0" smtClean="0"/>
              <a:t>上的所有会员都可免费索取</a:t>
            </a:r>
            <a:r>
              <a:rPr lang="en-US" altLang="zh-CN" dirty="0" smtClean="0"/>
              <a:t>Oracle 9i</a:t>
            </a:r>
            <a:r>
              <a:rPr lang="zh-CN" altLang="en-US" dirty="0" smtClean="0"/>
              <a:t>的</a:t>
            </a:r>
            <a:r>
              <a:rPr lang="en-US" altLang="zh-CN" dirty="0" smtClean="0"/>
              <a:t>Linux</a:t>
            </a:r>
            <a:r>
              <a:rPr lang="zh-CN" altLang="en-US" dirty="0" smtClean="0"/>
              <a:t>版本；</a:t>
            </a:r>
            <a:r>
              <a:rPr lang="en-US" altLang="zh-CN" dirty="0" smtClean="0"/>
              <a:t>IBM</a:t>
            </a:r>
            <a:r>
              <a:rPr lang="zh-CN" altLang="en-US" dirty="0" smtClean="0"/>
              <a:t>则决定投入</a:t>
            </a:r>
            <a:r>
              <a:rPr lang="en-US" altLang="zh-CN" dirty="0" smtClean="0"/>
              <a:t>10</a:t>
            </a:r>
            <a:r>
              <a:rPr lang="zh-CN" altLang="en-US" dirty="0" smtClean="0"/>
              <a:t>亿美元扩大 </a:t>
            </a:r>
            <a:r>
              <a:rPr lang="en-US" altLang="zh-CN" dirty="0" smtClean="0"/>
              <a:t>Linux</a:t>
            </a:r>
            <a:r>
              <a:rPr lang="zh-CN" altLang="en-US" dirty="0" smtClean="0"/>
              <a:t>系统的运用；</a:t>
            </a:r>
            <a:r>
              <a:rPr lang="en-US" altLang="zh-CN" dirty="0" smtClean="0"/>
              <a:t>8</a:t>
            </a:r>
            <a:r>
              <a:rPr lang="zh-CN" altLang="en-US" dirty="0" smtClean="0"/>
              <a:t>月红色代码爆发，引得许多站点纷纷从</a:t>
            </a:r>
            <a:r>
              <a:rPr lang="en-US" altLang="zh-CN" dirty="0" smtClean="0"/>
              <a:t>windows</a:t>
            </a:r>
            <a:r>
              <a:rPr lang="zh-CN" altLang="en-US" dirty="0" smtClean="0"/>
              <a:t>操作系统转向</a:t>
            </a:r>
            <a:r>
              <a:rPr lang="en-US" altLang="zh-CN" dirty="0" err="1" smtClean="0"/>
              <a:t>linux</a:t>
            </a:r>
            <a:r>
              <a:rPr lang="zh-CN" altLang="en-US" dirty="0" smtClean="0"/>
              <a:t>操作系统，</a:t>
            </a:r>
          </a:p>
          <a:p>
            <a:r>
              <a:rPr lang="en-US" altLang="zh-CN" dirty="0" smtClean="0"/>
              <a:t>2002</a:t>
            </a:r>
            <a:r>
              <a:rPr lang="zh-CN" altLang="en-US" dirty="0" smtClean="0"/>
              <a:t>年是</a:t>
            </a:r>
            <a:r>
              <a:rPr lang="en-US" altLang="zh-CN" dirty="0" smtClean="0"/>
              <a:t>Linux</a:t>
            </a:r>
            <a:r>
              <a:rPr lang="zh-CN" altLang="en-US" dirty="0" smtClean="0"/>
              <a:t>企业化的一年。</a:t>
            </a:r>
            <a:r>
              <a:rPr lang="en-US" altLang="zh-CN" dirty="0" smtClean="0"/>
              <a:t>3</a:t>
            </a:r>
            <a:r>
              <a:rPr lang="zh-CN" altLang="en-US" dirty="0" smtClean="0"/>
              <a:t>月，内核开发者宣布新的</a:t>
            </a:r>
            <a:r>
              <a:rPr lang="en-US" altLang="zh-CN" dirty="0" smtClean="0"/>
              <a:t>Linux</a:t>
            </a:r>
            <a:r>
              <a:rPr lang="zh-CN" altLang="en-US" dirty="0" smtClean="0"/>
              <a:t>系统支持</a:t>
            </a:r>
            <a:r>
              <a:rPr lang="en-US" altLang="zh-CN" dirty="0" smtClean="0"/>
              <a:t>64</a:t>
            </a:r>
            <a:r>
              <a:rPr lang="zh-CN" altLang="en-US" dirty="0" smtClean="0"/>
              <a:t>位的计算机。</a:t>
            </a:r>
          </a:p>
          <a:p>
            <a:r>
              <a:rPr lang="en-US" altLang="zh-CN" dirty="0" smtClean="0"/>
              <a:t>2003</a:t>
            </a:r>
            <a:r>
              <a:rPr lang="zh-CN" altLang="en-US" dirty="0" smtClean="0"/>
              <a:t>年</a:t>
            </a:r>
            <a:r>
              <a:rPr lang="en-US" altLang="zh-CN" dirty="0" smtClean="0"/>
              <a:t>1</a:t>
            </a:r>
            <a:r>
              <a:rPr lang="zh-CN" altLang="en-US" dirty="0" smtClean="0"/>
              <a:t>月，</a:t>
            </a:r>
            <a:r>
              <a:rPr lang="en-US" altLang="zh-CN" dirty="0" smtClean="0"/>
              <a:t>NEC</a:t>
            </a:r>
            <a:r>
              <a:rPr lang="zh-CN" altLang="en-US" dirty="0" smtClean="0"/>
              <a:t>宣布将在其手机中使用</a:t>
            </a:r>
            <a:r>
              <a:rPr lang="en-US" altLang="zh-CN" dirty="0" smtClean="0"/>
              <a:t>Linux</a:t>
            </a:r>
            <a:r>
              <a:rPr lang="zh-CN" altLang="en-US" dirty="0" smtClean="0"/>
              <a:t>操作系统，代表着</a:t>
            </a:r>
            <a:r>
              <a:rPr lang="en-US" altLang="zh-CN" dirty="0" smtClean="0"/>
              <a:t>Linux</a:t>
            </a:r>
            <a:r>
              <a:rPr lang="zh-CN" altLang="en-US" dirty="0" smtClean="0"/>
              <a:t>成功进军手机领域。 </a:t>
            </a:r>
            <a:endParaRPr lang="en-US" altLang="zh-CN" dirty="0" smtClean="0"/>
          </a:p>
          <a:p>
            <a:r>
              <a:rPr lang="en-US" altLang="zh-CN" dirty="0" smtClean="0"/>
              <a:t>2007</a:t>
            </a:r>
            <a:r>
              <a:rPr lang="zh-CN" altLang="en-US" dirty="0" smtClean="0"/>
              <a:t>年八月，</a:t>
            </a:r>
            <a:r>
              <a:rPr lang="en-US" altLang="zh-CN" dirty="0" smtClean="0"/>
              <a:t>Linux</a:t>
            </a:r>
            <a:r>
              <a:rPr lang="zh-CN" altLang="en-US" dirty="0" smtClean="0"/>
              <a:t>基金会由开源发展实验室</a:t>
            </a:r>
            <a:r>
              <a:rPr lang="en-US" altLang="zh-CN" dirty="0" smtClean="0"/>
              <a:t>(OSDL)</a:t>
            </a:r>
            <a:r>
              <a:rPr lang="zh-CN" altLang="en-US" dirty="0" smtClean="0"/>
              <a:t>和自由标准组织</a:t>
            </a:r>
            <a:r>
              <a:rPr lang="en-US" altLang="zh-CN" dirty="0" smtClean="0"/>
              <a:t>(FSG)</a:t>
            </a:r>
            <a:r>
              <a:rPr lang="zh-CN" altLang="en-US" dirty="0" smtClean="0"/>
              <a:t>联合成立。这个基金会目的是赞助</a:t>
            </a:r>
            <a:r>
              <a:rPr lang="en-US" altLang="zh-CN" dirty="0" smtClean="0"/>
              <a:t>Linux</a:t>
            </a:r>
            <a:r>
              <a:rPr lang="zh-CN" altLang="en-US" dirty="0" smtClean="0"/>
              <a:t>创始人</a:t>
            </a:r>
            <a:r>
              <a:rPr lang="en-US" altLang="zh-CN" dirty="0" smtClean="0"/>
              <a:t>Linus</a:t>
            </a:r>
            <a:r>
              <a:rPr lang="zh-CN" altLang="en-US" dirty="0" smtClean="0"/>
              <a:t>的工作。基金会得到了主要的</a:t>
            </a:r>
            <a:r>
              <a:rPr lang="en-US" altLang="zh-CN" dirty="0" smtClean="0"/>
              <a:t>Linux</a:t>
            </a:r>
            <a:r>
              <a:rPr lang="zh-CN" altLang="en-US" dirty="0" smtClean="0"/>
              <a:t>和开源公司，包括富士通，</a:t>
            </a:r>
            <a:r>
              <a:rPr lang="en-US" altLang="zh-CN" dirty="0" smtClean="0"/>
              <a:t>HP</a:t>
            </a:r>
            <a:r>
              <a:rPr lang="zh-CN" altLang="en-US" dirty="0" smtClean="0"/>
              <a:t>，</a:t>
            </a:r>
            <a:r>
              <a:rPr lang="en-US" altLang="zh-CN" dirty="0" smtClean="0"/>
              <a:t>IBM</a:t>
            </a:r>
            <a:r>
              <a:rPr lang="zh-CN" altLang="en-US" dirty="0" smtClean="0"/>
              <a:t>，</a:t>
            </a:r>
            <a:r>
              <a:rPr lang="en-US" altLang="zh-CN" dirty="0" smtClean="0"/>
              <a:t>Intel</a:t>
            </a:r>
            <a:r>
              <a:rPr lang="zh-CN" altLang="en-US" dirty="0" smtClean="0"/>
              <a:t>，</a:t>
            </a:r>
            <a:r>
              <a:rPr lang="en-US" altLang="zh-CN" dirty="0" smtClean="0"/>
              <a:t>NEC</a:t>
            </a:r>
            <a:r>
              <a:rPr lang="zh-CN" altLang="en-US" dirty="0" smtClean="0"/>
              <a:t>，</a:t>
            </a:r>
            <a:r>
              <a:rPr lang="en-US" altLang="zh-CN" dirty="0" smtClean="0"/>
              <a:t>Oracle</a:t>
            </a:r>
            <a:r>
              <a:rPr lang="zh-CN" altLang="en-US" dirty="0" smtClean="0"/>
              <a:t>，</a:t>
            </a:r>
            <a:r>
              <a:rPr lang="en-US" altLang="zh-CN" dirty="0" smtClean="0"/>
              <a:t>Qualcomm</a:t>
            </a:r>
            <a:r>
              <a:rPr lang="zh-CN" altLang="en-US" dirty="0" smtClean="0"/>
              <a:t>，三星和来自世界各地的开发者的支持。</a:t>
            </a:r>
            <a:endParaRPr lang="zh-CN" altLang="en-US" dirty="0"/>
          </a:p>
        </p:txBody>
      </p:sp>
    </p:spTree>
    <p:extLst>
      <p:ext uri="{BB962C8B-B14F-4D97-AF65-F5344CB8AC3E}">
        <p14:creationId xmlns:p14="http://schemas.microsoft.com/office/powerpoint/2010/main" val="522947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发展历史</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a:bodyPr>
          <a:lstStyle/>
          <a:p>
            <a:r>
              <a:rPr lang="en-US" altLang="zh-CN" dirty="0" smtClean="0"/>
              <a:t>2007</a:t>
            </a:r>
            <a:r>
              <a:rPr lang="zh-CN" altLang="en-US" dirty="0" smtClean="0"/>
              <a:t>年</a:t>
            </a:r>
            <a:r>
              <a:rPr lang="en-US" altLang="zh-CN" dirty="0" smtClean="0"/>
              <a:t>11</a:t>
            </a:r>
            <a:r>
              <a:rPr lang="zh-CN" altLang="en-US" dirty="0" smtClean="0"/>
              <a:t>月，</a:t>
            </a:r>
            <a:r>
              <a:rPr lang="en-US" altLang="zh-CN" dirty="0" smtClean="0"/>
              <a:t>Google</a:t>
            </a:r>
            <a:r>
              <a:rPr lang="zh-CN" altLang="en-US" dirty="0" smtClean="0"/>
              <a:t>宣布组建开放手机联盟</a:t>
            </a:r>
            <a:r>
              <a:rPr lang="en-US" altLang="zh-CN" dirty="0" smtClean="0"/>
              <a:t>(Open Handset Alliance)</a:t>
            </a:r>
            <a:r>
              <a:rPr lang="zh-CN" altLang="en-US" dirty="0" smtClean="0"/>
              <a:t>和发布</a:t>
            </a:r>
            <a:r>
              <a:rPr lang="en-US" altLang="zh-CN" dirty="0" smtClean="0">
                <a:solidFill>
                  <a:srgbClr val="FF0000"/>
                </a:solidFill>
              </a:rPr>
              <a:t>Android</a:t>
            </a:r>
            <a:r>
              <a:rPr lang="zh-CN" altLang="en-US" dirty="0" smtClean="0"/>
              <a:t>，它被称为“第一个真正开放的综合移动设备平台”。</a:t>
            </a:r>
            <a:endParaRPr lang="en-US" altLang="zh-CN" dirty="0" smtClean="0"/>
          </a:p>
          <a:p>
            <a:r>
              <a:rPr lang="en-US" altLang="zh-CN" dirty="0" smtClean="0"/>
              <a:t>2011</a:t>
            </a:r>
            <a:r>
              <a:rPr lang="zh-CN" altLang="en-US" dirty="0" smtClean="0"/>
              <a:t>年</a:t>
            </a:r>
            <a:r>
              <a:rPr lang="en-US" altLang="zh-CN" dirty="0" smtClean="0"/>
              <a:t>5</a:t>
            </a:r>
            <a:r>
              <a:rPr lang="zh-CN" altLang="en-US" dirty="0" smtClean="0"/>
              <a:t>月，</a:t>
            </a:r>
            <a:r>
              <a:rPr lang="en-US" altLang="zh-CN" dirty="0" smtClean="0"/>
              <a:t>Google I/O</a:t>
            </a:r>
            <a:r>
              <a:rPr lang="zh-CN" altLang="en-US" dirty="0" smtClean="0"/>
              <a:t>大会发布了</a:t>
            </a:r>
            <a:r>
              <a:rPr lang="en-US" altLang="zh-CN" dirty="0" err="1" smtClean="0"/>
              <a:t>Chrombook</a:t>
            </a:r>
            <a:r>
              <a:rPr lang="zh-CN" altLang="en-US" dirty="0" smtClean="0"/>
              <a:t>。这是一款运行着所谓云操作系统</a:t>
            </a:r>
            <a:r>
              <a:rPr lang="en-US" altLang="zh-CN" dirty="0" smtClean="0"/>
              <a:t>Chrome OS</a:t>
            </a:r>
            <a:r>
              <a:rPr lang="zh-CN" altLang="en-US" dirty="0" smtClean="0"/>
              <a:t>的笔记本。</a:t>
            </a:r>
            <a:r>
              <a:rPr lang="en-US" altLang="zh-CN" dirty="0" err="1" smtClean="0"/>
              <a:t>Chome</a:t>
            </a:r>
            <a:r>
              <a:rPr lang="en-US" altLang="zh-CN" dirty="0" smtClean="0"/>
              <a:t> OS</a:t>
            </a:r>
            <a:r>
              <a:rPr lang="zh-CN" altLang="en-US" dirty="0" smtClean="0"/>
              <a:t>是基于</a:t>
            </a:r>
            <a:r>
              <a:rPr lang="en-US" altLang="zh-CN" dirty="0" smtClean="0"/>
              <a:t>Linux</a:t>
            </a:r>
            <a:r>
              <a:rPr lang="zh-CN" altLang="en-US" dirty="0" smtClean="0"/>
              <a:t>内核的。</a:t>
            </a:r>
            <a:endParaRPr lang="en-US" altLang="zh-CN" dirty="0" smtClean="0"/>
          </a:p>
          <a:p>
            <a:r>
              <a:rPr lang="en-US" altLang="zh-CN" dirty="0" smtClean="0"/>
              <a:t>2011</a:t>
            </a:r>
            <a:r>
              <a:rPr lang="zh-CN" altLang="en-US" dirty="0" smtClean="0"/>
              <a:t>年</a:t>
            </a:r>
            <a:r>
              <a:rPr lang="en-US" altLang="zh-CN" dirty="0" smtClean="0"/>
              <a:t>6</a:t>
            </a:r>
            <a:r>
              <a:rPr lang="zh-CN" altLang="en-US" dirty="0" smtClean="0"/>
              <a:t>月，</a:t>
            </a:r>
            <a:r>
              <a:rPr lang="en-US" altLang="zh-CN" dirty="0" smtClean="0"/>
              <a:t>Linus Torvalds </a:t>
            </a:r>
            <a:r>
              <a:rPr lang="zh-CN" altLang="en-US" dirty="0" smtClean="0"/>
              <a:t>发布了</a:t>
            </a:r>
            <a:r>
              <a:rPr lang="en-US" altLang="zh-CN" dirty="0" smtClean="0"/>
              <a:t>Linux3.0</a:t>
            </a:r>
            <a:r>
              <a:rPr lang="zh-CN" altLang="en-US" dirty="0" smtClean="0"/>
              <a:t>版本。</a:t>
            </a:r>
            <a:endParaRPr lang="en-US" altLang="zh-CN" dirty="0" smtClean="0"/>
          </a:p>
          <a:p>
            <a:r>
              <a:rPr lang="en-US" altLang="zh-CN" dirty="0" smtClean="0"/>
              <a:t>2013</a:t>
            </a:r>
            <a:r>
              <a:rPr lang="zh-CN" altLang="en-US" dirty="0" smtClean="0"/>
              <a:t>年</a:t>
            </a:r>
            <a:r>
              <a:rPr lang="en-US" altLang="zh-CN" dirty="0" smtClean="0"/>
              <a:t>12</a:t>
            </a:r>
            <a:r>
              <a:rPr lang="zh-CN" altLang="en-US" dirty="0" smtClean="0"/>
              <a:t>月，</a:t>
            </a:r>
            <a:r>
              <a:rPr lang="en-US" altLang="zh-CN" dirty="0" smtClean="0"/>
              <a:t>Valve</a:t>
            </a:r>
            <a:r>
              <a:rPr lang="zh-CN" altLang="en-US" dirty="0" smtClean="0"/>
              <a:t>公司发布基于</a:t>
            </a:r>
            <a:r>
              <a:rPr lang="en-US" altLang="zh-CN" dirty="0" smtClean="0"/>
              <a:t>Linux</a:t>
            </a:r>
            <a:r>
              <a:rPr lang="zh-CN" altLang="en-US" dirty="0" smtClean="0"/>
              <a:t>的</a:t>
            </a:r>
            <a:r>
              <a:rPr lang="en-US" altLang="zh-CN" dirty="0" err="1" smtClean="0"/>
              <a:t>StreamOS</a:t>
            </a:r>
            <a:r>
              <a:rPr lang="zh-CN" altLang="en-US" dirty="0" smtClean="0"/>
              <a:t>操作系统，这是一个视频游戏控制台系统。</a:t>
            </a:r>
            <a:endParaRPr lang="zh-CN" altLang="en-US" dirty="0"/>
          </a:p>
        </p:txBody>
      </p:sp>
    </p:spTree>
    <p:extLst>
      <p:ext uri="{BB962C8B-B14F-4D97-AF65-F5344CB8AC3E}">
        <p14:creationId xmlns:p14="http://schemas.microsoft.com/office/powerpoint/2010/main" val="961929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endParaRPr lang="zh-CN" altLang="en-US" dirty="0"/>
          </a:p>
        </p:txBody>
      </p:sp>
      <p:sp>
        <p:nvSpPr>
          <p:cNvPr id="3" name="内容占位符 2"/>
          <p:cNvSpPr>
            <a:spLocks noGrp="1"/>
          </p:cNvSpPr>
          <p:nvPr>
            <p:ph idx="1"/>
          </p:nvPr>
        </p:nvSpPr>
        <p:spPr>
          <a:xfrm>
            <a:off x="838200" y="1825625"/>
            <a:ext cx="6889124" cy="4351338"/>
          </a:xfrm>
        </p:spPr>
        <p:txBody>
          <a:bodyPr>
            <a:normAutofit fontScale="85000" lnSpcReduction="20000"/>
          </a:bodyPr>
          <a:lstStyle/>
          <a:p>
            <a:r>
              <a:rPr lang="en-US" altLang="zh-CN" dirty="0" smtClean="0"/>
              <a:t>Red Hat</a:t>
            </a:r>
          </a:p>
          <a:p>
            <a:pPr marL="457200" lvl="1" indent="0">
              <a:buNone/>
            </a:pPr>
            <a:r>
              <a:rPr lang="zh-CN" altLang="en-US" dirty="0" smtClean="0"/>
              <a:t>目前</a:t>
            </a:r>
            <a:r>
              <a:rPr lang="en-US" altLang="zh-CN" dirty="0" smtClean="0"/>
              <a:t>Red Hat</a:t>
            </a:r>
            <a:r>
              <a:rPr lang="zh-CN" altLang="en-US" dirty="0" smtClean="0"/>
              <a:t>分为两个系列：由</a:t>
            </a:r>
            <a:r>
              <a:rPr lang="en-US" altLang="zh-CN" dirty="0" smtClean="0"/>
              <a:t>Red Hat</a:t>
            </a:r>
            <a:r>
              <a:rPr lang="zh-CN" altLang="en-US" dirty="0" smtClean="0"/>
              <a:t>公司提供收费技术支持和更新的</a:t>
            </a:r>
            <a:r>
              <a:rPr lang="en-US" altLang="zh-CN" dirty="0" smtClean="0"/>
              <a:t>Red Hat Enterprise Linux</a:t>
            </a:r>
            <a:r>
              <a:rPr lang="zh-CN" altLang="en-US" dirty="0" smtClean="0"/>
              <a:t>，以及由社区开发的免费的</a:t>
            </a:r>
            <a:r>
              <a:rPr lang="en-US" altLang="zh-CN" dirty="0" smtClean="0"/>
              <a:t>Fedora Core</a:t>
            </a:r>
            <a:r>
              <a:rPr lang="zh-CN" altLang="en-US" dirty="0" smtClean="0"/>
              <a:t>。 </a:t>
            </a:r>
          </a:p>
          <a:p>
            <a:pPr marL="457200" lvl="1" indent="0">
              <a:buNone/>
            </a:pPr>
            <a:r>
              <a:rPr lang="zh-CN" altLang="en-US" dirty="0" smtClean="0"/>
              <a:t>适用于服务器的版本是</a:t>
            </a:r>
            <a:r>
              <a:rPr lang="en-US" altLang="zh-CN" dirty="0" smtClean="0"/>
              <a:t>Red Hat Enterprise Linux</a:t>
            </a:r>
            <a:r>
              <a:rPr lang="zh-CN" altLang="en-US" dirty="0" smtClean="0"/>
              <a:t>，这是个收费的操作系统。 </a:t>
            </a:r>
            <a:br>
              <a:rPr lang="zh-CN" altLang="en-US" dirty="0" smtClean="0"/>
            </a:br>
            <a:endParaRPr lang="zh-CN" altLang="en-US" dirty="0" smtClean="0"/>
          </a:p>
          <a:p>
            <a:pPr marL="457200" lvl="1" indent="0">
              <a:buNone/>
            </a:pPr>
            <a:r>
              <a:rPr lang="zh-CN" altLang="en-US" dirty="0" smtClean="0"/>
              <a:t>优点：拥有数量庞大的用户，优秀的社区技术支持，许多创新</a:t>
            </a:r>
          </a:p>
          <a:p>
            <a:pPr marL="457200" lvl="1" indent="0">
              <a:buNone/>
            </a:pPr>
            <a:r>
              <a:rPr lang="zh-CN" altLang="en-US" dirty="0" smtClean="0"/>
              <a:t>缺点：免费版（</a:t>
            </a:r>
            <a:r>
              <a:rPr lang="en-US" altLang="zh-CN" dirty="0" smtClean="0"/>
              <a:t>Fedora Core</a:t>
            </a:r>
            <a:r>
              <a:rPr lang="zh-CN" altLang="en-US" dirty="0" smtClean="0"/>
              <a:t>）版本生命周期太短，多媒体支持不佳</a:t>
            </a:r>
            <a:br>
              <a:rPr lang="zh-CN" altLang="en-US" dirty="0" smtClean="0"/>
            </a:br>
            <a:endParaRPr lang="zh-CN" altLang="en-US" dirty="0" smtClean="0"/>
          </a:p>
          <a:p>
            <a:endParaRPr lang="zh-CN" altLang="en-US" dirty="0"/>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8070" y="2206580"/>
            <a:ext cx="3752403" cy="3421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642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825625"/>
            <a:ext cx="7133823" cy="4351338"/>
          </a:xfrm>
        </p:spPr>
        <p:txBody>
          <a:bodyPr/>
          <a:lstStyle/>
          <a:p>
            <a:pPr>
              <a:lnSpc>
                <a:spcPct val="80000"/>
              </a:lnSpc>
            </a:pPr>
            <a:r>
              <a:rPr lang="en-US" altLang="zh-CN" b="1" dirty="0">
                <a:solidFill>
                  <a:schemeClr val="tx2"/>
                </a:solidFill>
              </a:rPr>
              <a:t>SUSE</a:t>
            </a:r>
          </a:p>
          <a:p>
            <a:pPr>
              <a:lnSpc>
                <a:spcPct val="80000"/>
              </a:lnSpc>
              <a:buFont typeface="Wingdings" panose="05000000000000000000" pitchFamily="2" charset="2"/>
              <a:buNone/>
            </a:pPr>
            <a:r>
              <a:rPr lang="en-US" altLang="zh-CN" dirty="0"/>
              <a:t>    </a:t>
            </a:r>
            <a:r>
              <a:rPr lang="en-US" altLang="zh-CN" sz="2800" dirty="0"/>
              <a:t>SUSE</a:t>
            </a:r>
            <a:r>
              <a:rPr lang="zh-CN" altLang="en-US" sz="2800" dirty="0"/>
              <a:t>是德国最著名的</a:t>
            </a:r>
            <a:r>
              <a:rPr lang="en-US" altLang="zh-CN" sz="2800" dirty="0"/>
              <a:t>Linux</a:t>
            </a:r>
            <a:r>
              <a:rPr lang="zh-CN" altLang="en-US" sz="2800" dirty="0"/>
              <a:t>发行版，在全世界范围中也享有较高的声誉。</a:t>
            </a:r>
            <a:r>
              <a:rPr lang="en-US" altLang="zh-CN" sz="2800" dirty="0"/>
              <a:t>SUSE</a:t>
            </a:r>
            <a:r>
              <a:rPr lang="zh-CN" altLang="en-US" sz="2800" dirty="0"/>
              <a:t>自主开发的软件包管理系统</a:t>
            </a:r>
            <a:r>
              <a:rPr lang="en-US" altLang="zh-CN" sz="2800" dirty="0" err="1"/>
              <a:t>YaST</a:t>
            </a:r>
            <a:r>
              <a:rPr lang="zh-CN" altLang="en-US" sz="2800" dirty="0"/>
              <a:t>也大受好评。</a:t>
            </a:r>
            <a:r>
              <a:rPr lang="en-US" altLang="zh-CN" sz="2800" dirty="0"/>
              <a:t>SUSE</a:t>
            </a:r>
            <a:r>
              <a:rPr lang="zh-CN" altLang="en-US" sz="2800" dirty="0"/>
              <a:t>于</a:t>
            </a:r>
            <a:r>
              <a:rPr lang="en-US" altLang="zh-CN" sz="2800" dirty="0"/>
              <a:t>2003</a:t>
            </a:r>
            <a:r>
              <a:rPr lang="zh-CN" altLang="en-US" sz="2800" dirty="0"/>
              <a:t>年年末被</a:t>
            </a:r>
            <a:r>
              <a:rPr lang="en-US" altLang="zh-CN" sz="2800" dirty="0"/>
              <a:t>Novell</a:t>
            </a:r>
            <a:r>
              <a:rPr lang="zh-CN" altLang="en-US" sz="2800" dirty="0"/>
              <a:t>收购。 </a:t>
            </a:r>
            <a:br>
              <a:rPr lang="zh-CN" altLang="en-US" sz="2800" dirty="0"/>
            </a:br>
            <a:endParaRPr lang="zh-CN" altLang="en-US" sz="2800" dirty="0"/>
          </a:p>
          <a:p>
            <a:pPr>
              <a:lnSpc>
                <a:spcPct val="80000"/>
              </a:lnSpc>
              <a:buFont typeface="Wingdings" panose="05000000000000000000" pitchFamily="2" charset="2"/>
              <a:buNone/>
            </a:pPr>
            <a:r>
              <a:rPr lang="zh-CN" altLang="en-US" sz="2800" dirty="0"/>
              <a:t>    优点：专业，易用的</a:t>
            </a:r>
            <a:r>
              <a:rPr lang="en-US" altLang="zh-CN" sz="2800" dirty="0" err="1"/>
              <a:t>YaST</a:t>
            </a:r>
            <a:r>
              <a:rPr lang="zh-CN" altLang="en-US" sz="2800" dirty="0"/>
              <a:t>软件包管理系统</a:t>
            </a:r>
          </a:p>
          <a:p>
            <a:pPr>
              <a:lnSpc>
                <a:spcPct val="80000"/>
              </a:lnSpc>
              <a:buFont typeface="Wingdings" panose="05000000000000000000" pitchFamily="2" charset="2"/>
              <a:buNone/>
            </a:pPr>
            <a:r>
              <a:rPr lang="zh-CN" altLang="en-US" sz="2800" dirty="0"/>
              <a:t>    缺点：</a:t>
            </a:r>
            <a:r>
              <a:rPr lang="en-US" altLang="zh-CN" sz="2800" dirty="0"/>
              <a:t>FTP</a:t>
            </a:r>
            <a:r>
              <a:rPr lang="zh-CN" altLang="en-US" sz="2800" dirty="0"/>
              <a:t>发布通常要比零售版晚</a:t>
            </a:r>
            <a:r>
              <a:rPr lang="en-US" altLang="zh-CN" sz="2800" dirty="0"/>
              <a:t>1~3</a:t>
            </a:r>
            <a:r>
              <a:rPr lang="zh-CN" altLang="en-US" sz="2800" dirty="0"/>
              <a:t>个月</a:t>
            </a:r>
            <a:r>
              <a:rPr lang="zh-CN" altLang="en-US" sz="2000" dirty="0" smtClean="0"/>
              <a:t> </a:t>
            </a:r>
          </a:p>
          <a:p>
            <a:endParaRPr lang="zh-CN" altLang="en-US" dirty="0"/>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3704" y="2672367"/>
            <a:ext cx="3198317" cy="2002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807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825625"/>
            <a:ext cx="6773214" cy="4351338"/>
          </a:xfrm>
        </p:spPr>
        <p:txBody>
          <a:bodyPr/>
          <a:lstStyle/>
          <a:p>
            <a:pPr>
              <a:lnSpc>
                <a:spcPct val="80000"/>
              </a:lnSpc>
            </a:pPr>
            <a:r>
              <a:rPr lang="en-US" altLang="zh-CN" b="1" dirty="0" err="1">
                <a:solidFill>
                  <a:schemeClr val="tx2"/>
                </a:solidFill>
              </a:rPr>
              <a:t>Debian</a:t>
            </a:r>
            <a:r>
              <a:rPr lang="en-US" altLang="zh-CN" b="1" dirty="0">
                <a:solidFill>
                  <a:schemeClr val="tx2"/>
                </a:solidFill>
              </a:rPr>
              <a:t> GNU/Linux</a:t>
            </a:r>
            <a:r>
              <a:rPr lang="en-US" altLang="zh-CN" dirty="0">
                <a:solidFill>
                  <a:schemeClr val="tx2"/>
                </a:solidFill>
              </a:rPr>
              <a:t> </a:t>
            </a:r>
            <a:endParaRPr lang="en-US" altLang="zh-CN" b="1" dirty="0">
              <a:solidFill>
                <a:schemeClr val="tx2"/>
              </a:solidFill>
            </a:endParaRPr>
          </a:p>
          <a:p>
            <a:pPr>
              <a:lnSpc>
                <a:spcPct val="80000"/>
              </a:lnSpc>
              <a:buFont typeface="Wingdings" panose="05000000000000000000" pitchFamily="2" charset="2"/>
              <a:buNone/>
            </a:pPr>
            <a:r>
              <a:rPr lang="en-US" altLang="zh-CN" sz="2800" dirty="0"/>
              <a:t>    </a:t>
            </a:r>
            <a:r>
              <a:rPr lang="en-US" altLang="zh-CN" sz="2800" dirty="0" err="1"/>
              <a:t>Debian</a:t>
            </a:r>
            <a:r>
              <a:rPr lang="zh-CN" altLang="en-US" sz="2800" dirty="0"/>
              <a:t>是菜鸟在服务器之前所采用的操作系统。</a:t>
            </a:r>
            <a:r>
              <a:rPr lang="en-US" altLang="zh-CN" sz="2800" dirty="0" err="1"/>
              <a:t>Debian</a:t>
            </a:r>
            <a:r>
              <a:rPr lang="zh-CN" altLang="en-US" sz="2800" dirty="0"/>
              <a:t>最早由</a:t>
            </a:r>
            <a:r>
              <a:rPr lang="en-US" altLang="zh-CN" sz="2800" dirty="0"/>
              <a:t>Ian Murdock</a:t>
            </a:r>
            <a:r>
              <a:rPr lang="zh-CN" altLang="en-US" sz="2800" dirty="0"/>
              <a:t>于</a:t>
            </a:r>
            <a:r>
              <a:rPr lang="en-US" altLang="zh-CN" sz="2800" dirty="0"/>
              <a:t>1993</a:t>
            </a:r>
            <a:r>
              <a:rPr lang="zh-CN" altLang="en-US" sz="2800" dirty="0"/>
              <a:t>年创建。可以算是迄今为止，最遵循</a:t>
            </a:r>
            <a:r>
              <a:rPr lang="en-US" altLang="zh-CN" sz="2800" dirty="0"/>
              <a:t>GNU</a:t>
            </a:r>
            <a:r>
              <a:rPr lang="zh-CN" altLang="en-US" sz="2800" dirty="0"/>
              <a:t>规范的</a:t>
            </a:r>
            <a:r>
              <a:rPr lang="en-US" altLang="zh-CN" sz="2800" dirty="0"/>
              <a:t>Linux</a:t>
            </a:r>
            <a:r>
              <a:rPr lang="zh-CN" altLang="en-US" sz="2800" dirty="0"/>
              <a:t>系统。</a:t>
            </a:r>
          </a:p>
          <a:p>
            <a:pPr>
              <a:lnSpc>
                <a:spcPct val="80000"/>
              </a:lnSpc>
              <a:buFont typeface="Wingdings" panose="05000000000000000000" pitchFamily="2" charset="2"/>
              <a:buNone/>
            </a:pPr>
            <a:r>
              <a:rPr lang="zh-CN" altLang="en-US" sz="2800" dirty="0"/>
              <a:t> </a:t>
            </a:r>
          </a:p>
          <a:p>
            <a:pPr>
              <a:lnSpc>
                <a:spcPct val="80000"/>
              </a:lnSpc>
              <a:buFont typeface="Wingdings" panose="05000000000000000000" pitchFamily="2" charset="2"/>
              <a:buNone/>
            </a:pPr>
            <a:r>
              <a:rPr lang="zh-CN" altLang="en-US" sz="2800" dirty="0"/>
              <a:t>    优点：遵循</a:t>
            </a:r>
            <a:r>
              <a:rPr lang="en-US" altLang="zh-CN" sz="2800" dirty="0"/>
              <a:t>GNU</a:t>
            </a:r>
            <a:r>
              <a:rPr lang="zh-CN" altLang="en-US" sz="2800" dirty="0"/>
              <a:t>规范，</a:t>
            </a:r>
            <a:r>
              <a:rPr lang="en-US" altLang="zh-CN" sz="2800" dirty="0"/>
              <a:t>100%</a:t>
            </a:r>
            <a:r>
              <a:rPr lang="zh-CN" altLang="en-US" sz="2800" dirty="0"/>
              <a:t>免费，优秀的网络和社区资源，强大的</a:t>
            </a:r>
            <a:r>
              <a:rPr lang="en-US" altLang="zh-CN" sz="2800" dirty="0"/>
              <a:t>apt-get</a:t>
            </a:r>
          </a:p>
          <a:p>
            <a:pPr>
              <a:lnSpc>
                <a:spcPct val="80000"/>
              </a:lnSpc>
              <a:buFont typeface="Wingdings" panose="05000000000000000000" pitchFamily="2" charset="2"/>
              <a:buNone/>
            </a:pPr>
            <a:r>
              <a:rPr lang="en-US" altLang="zh-CN" sz="2800" dirty="0"/>
              <a:t>    </a:t>
            </a:r>
            <a:r>
              <a:rPr lang="zh-CN" altLang="en-US" sz="2800" dirty="0"/>
              <a:t>缺点：安装相对不易，</a:t>
            </a:r>
            <a:r>
              <a:rPr lang="en-US" altLang="zh-CN" sz="2800" dirty="0"/>
              <a:t>stable</a:t>
            </a:r>
            <a:r>
              <a:rPr lang="zh-CN" altLang="en-US" sz="2800" dirty="0"/>
              <a:t>分支的软件极度过时</a:t>
            </a:r>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6805" y="2356835"/>
            <a:ext cx="3016995" cy="325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725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825625"/>
            <a:ext cx="6837608" cy="4351338"/>
          </a:xfrm>
        </p:spPr>
        <p:txBody>
          <a:bodyPr/>
          <a:lstStyle/>
          <a:p>
            <a:pPr>
              <a:lnSpc>
                <a:spcPct val="80000"/>
              </a:lnSpc>
            </a:pPr>
            <a:r>
              <a:rPr lang="en-US" altLang="zh-CN" b="1" dirty="0">
                <a:solidFill>
                  <a:schemeClr val="tx2"/>
                </a:solidFill>
              </a:rPr>
              <a:t>Ubuntu</a:t>
            </a:r>
          </a:p>
          <a:p>
            <a:pPr>
              <a:lnSpc>
                <a:spcPct val="80000"/>
              </a:lnSpc>
              <a:buFont typeface="Wingdings" panose="05000000000000000000" pitchFamily="2" charset="2"/>
              <a:buNone/>
            </a:pPr>
            <a:r>
              <a:rPr lang="en-US" altLang="zh-CN" dirty="0"/>
              <a:t>    </a:t>
            </a:r>
            <a:r>
              <a:rPr lang="en-US" altLang="zh-CN" sz="2800" dirty="0"/>
              <a:t>Ubuntu</a:t>
            </a:r>
            <a:r>
              <a:rPr lang="zh-CN" altLang="en-US" sz="2800" dirty="0"/>
              <a:t>就是一个拥有</a:t>
            </a:r>
            <a:r>
              <a:rPr lang="en-US" altLang="zh-CN" sz="2800" dirty="0" err="1"/>
              <a:t>Debian</a:t>
            </a:r>
            <a:r>
              <a:rPr lang="zh-CN" altLang="en-US" sz="2800" dirty="0"/>
              <a:t>所有的优点，以及自己所加强的优点的近乎完美的</a:t>
            </a:r>
            <a:r>
              <a:rPr lang="en-US" altLang="zh-CN" sz="2800" dirty="0"/>
              <a:t>Linux</a:t>
            </a:r>
            <a:r>
              <a:rPr lang="zh-CN" altLang="en-US" sz="2800" dirty="0"/>
              <a:t>操作系统</a:t>
            </a:r>
          </a:p>
          <a:p>
            <a:pPr>
              <a:lnSpc>
                <a:spcPct val="80000"/>
              </a:lnSpc>
              <a:buFont typeface="Wingdings" panose="05000000000000000000" pitchFamily="2" charset="2"/>
              <a:buNone/>
            </a:pPr>
            <a:endParaRPr lang="zh-CN" altLang="en-US" sz="2800" dirty="0"/>
          </a:p>
          <a:p>
            <a:pPr>
              <a:lnSpc>
                <a:spcPct val="80000"/>
              </a:lnSpc>
              <a:buFont typeface="Wingdings" panose="05000000000000000000" pitchFamily="2" charset="2"/>
              <a:buNone/>
            </a:pPr>
            <a:r>
              <a:rPr lang="zh-CN" altLang="en-US" sz="2800" dirty="0"/>
              <a:t>    优点：人气颇高的论坛提供优秀的资源和技术支持，固定的版本更新周期和技术支持，可从</a:t>
            </a:r>
            <a:r>
              <a:rPr lang="en-US" altLang="zh-CN" sz="2800" dirty="0" err="1"/>
              <a:t>Debian</a:t>
            </a:r>
            <a:r>
              <a:rPr lang="en-US" altLang="zh-CN" sz="2800" dirty="0"/>
              <a:t> Woody</a:t>
            </a:r>
            <a:r>
              <a:rPr lang="zh-CN" altLang="en-US" sz="2800" dirty="0"/>
              <a:t>直接升级</a:t>
            </a:r>
          </a:p>
          <a:p>
            <a:pPr>
              <a:lnSpc>
                <a:spcPct val="80000"/>
              </a:lnSpc>
              <a:buFont typeface="Wingdings" panose="05000000000000000000" pitchFamily="2" charset="2"/>
              <a:buNone/>
            </a:pPr>
            <a:r>
              <a:rPr lang="zh-CN" altLang="en-US" sz="2800" dirty="0"/>
              <a:t>    缺点：还未建立成熟的商业模式</a:t>
            </a:r>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5808" y="2351030"/>
            <a:ext cx="3647132" cy="2761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004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825625"/>
            <a:ext cx="7172459" cy="4351338"/>
          </a:xfrm>
        </p:spPr>
        <p:txBody>
          <a:bodyPr/>
          <a:lstStyle/>
          <a:p>
            <a:pPr>
              <a:lnSpc>
                <a:spcPct val="80000"/>
              </a:lnSpc>
            </a:pPr>
            <a:r>
              <a:rPr lang="en-US" altLang="zh-CN" b="1" dirty="0">
                <a:solidFill>
                  <a:schemeClr val="tx2"/>
                </a:solidFill>
              </a:rPr>
              <a:t>Slackware</a:t>
            </a:r>
            <a:r>
              <a:rPr lang="en-US" altLang="zh-CN" dirty="0">
                <a:solidFill>
                  <a:schemeClr val="tx2"/>
                </a:solidFill>
              </a:rPr>
              <a:t> </a:t>
            </a:r>
            <a:endParaRPr lang="en-US" altLang="zh-CN" b="1" dirty="0">
              <a:solidFill>
                <a:schemeClr val="tx2"/>
              </a:solidFill>
            </a:endParaRPr>
          </a:p>
          <a:p>
            <a:pPr>
              <a:lnSpc>
                <a:spcPct val="80000"/>
              </a:lnSpc>
              <a:buFont typeface="Wingdings" panose="05000000000000000000" pitchFamily="2" charset="2"/>
              <a:buNone/>
            </a:pPr>
            <a:r>
              <a:rPr lang="en-US" altLang="zh-CN" dirty="0"/>
              <a:t>    </a:t>
            </a:r>
            <a:r>
              <a:rPr lang="en-US" altLang="zh-CN" sz="2800" dirty="0"/>
              <a:t>Slackware</a:t>
            </a:r>
            <a:r>
              <a:rPr lang="zh-CN" altLang="en-US" sz="2800" dirty="0"/>
              <a:t>由</a:t>
            </a:r>
            <a:r>
              <a:rPr lang="en-US" altLang="zh-CN" sz="2800" dirty="0"/>
              <a:t>Patrick </a:t>
            </a:r>
            <a:r>
              <a:rPr lang="en-US" altLang="zh-CN" sz="2800" dirty="0" err="1"/>
              <a:t>Volkerding</a:t>
            </a:r>
            <a:r>
              <a:rPr lang="zh-CN" altLang="en-US" sz="2800" dirty="0"/>
              <a:t>创建于</a:t>
            </a:r>
            <a:r>
              <a:rPr lang="en-US" altLang="zh-CN" sz="2800" dirty="0"/>
              <a:t>1992</a:t>
            </a:r>
            <a:r>
              <a:rPr lang="zh-CN" altLang="en-US" sz="2800" dirty="0"/>
              <a:t>年。算起来应当是历史最悠久的</a:t>
            </a:r>
            <a:r>
              <a:rPr lang="en-US" altLang="zh-CN" sz="2800" dirty="0"/>
              <a:t>Linux</a:t>
            </a:r>
            <a:r>
              <a:rPr lang="zh-CN" altLang="en-US" sz="2800" dirty="0"/>
              <a:t>发行版。</a:t>
            </a:r>
            <a:r>
              <a:rPr lang="en-US" altLang="zh-CN" sz="2800" dirty="0"/>
              <a:t>Slackware</a:t>
            </a:r>
            <a:r>
              <a:rPr lang="zh-CN" altLang="en-US" sz="2800" dirty="0"/>
              <a:t>依然固执的追求最原始的效率</a:t>
            </a:r>
            <a:r>
              <a:rPr lang="en-US" altLang="zh-CN" sz="2800" dirty="0"/>
              <a:t>——</a:t>
            </a:r>
            <a:r>
              <a:rPr lang="zh-CN" altLang="en-US" sz="2800" dirty="0"/>
              <a:t>所有的配置均还是要通过配置文件来进行。</a:t>
            </a:r>
          </a:p>
          <a:p>
            <a:pPr>
              <a:lnSpc>
                <a:spcPct val="80000"/>
              </a:lnSpc>
              <a:buFont typeface="Wingdings" panose="05000000000000000000" pitchFamily="2" charset="2"/>
              <a:buNone/>
            </a:pPr>
            <a:endParaRPr lang="zh-CN" altLang="en-US" sz="2800" dirty="0"/>
          </a:p>
          <a:p>
            <a:pPr>
              <a:lnSpc>
                <a:spcPct val="80000"/>
              </a:lnSpc>
              <a:buFont typeface="Wingdings" panose="05000000000000000000" pitchFamily="2" charset="2"/>
              <a:buNone/>
            </a:pPr>
            <a:r>
              <a:rPr lang="zh-CN" altLang="en-US" sz="2800" dirty="0"/>
              <a:t>    优点：非常稳定、安全，高度坚持</a:t>
            </a:r>
            <a:r>
              <a:rPr lang="en-US" altLang="zh-CN" sz="2800" dirty="0"/>
              <a:t>UNIX</a:t>
            </a:r>
            <a:r>
              <a:rPr lang="zh-CN" altLang="en-US" sz="2800" dirty="0"/>
              <a:t>的规范</a:t>
            </a:r>
          </a:p>
          <a:p>
            <a:pPr>
              <a:lnSpc>
                <a:spcPct val="80000"/>
              </a:lnSpc>
              <a:buFont typeface="Wingdings" panose="05000000000000000000" pitchFamily="2" charset="2"/>
              <a:buNone/>
            </a:pPr>
            <a:r>
              <a:rPr lang="zh-CN" altLang="en-US" sz="2800" dirty="0"/>
              <a:t>    缺点：所有的配置均通过编辑文件来进行，自动硬件检测能力较差</a:t>
            </a:r>
            <a:endParaRPr lang="zh-CN" altLang="en-US" sz="2000" dirty="0" smtClean="0"/>
          </a:p>
          <a:p>
            <a:endParaRPr lang="zh-CN" altLang="en-US" dirty="0"/>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8237" y="2654378"/>
            <a:ext cx="3297988" cy="2693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800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825625"/>
            <a:ext cx="6824730" cy="4351338"/>
          </a:xfrm>
        </p:spPr>
        <p:txBody>
          <a:bodyPr/>
          <a:lstStyle/>
          <a:p>
            <a:pPr>
              <a:lnSpc>
                <a:spcPct val="80000"/>
              </a:lnSpc>
            </a:pPr>
            <a:r>
              <a:rPr lang="en-US" altLang="zh-CN" b="1" dirty="0" err="1"/>
              <a:t>Knoppix</a:t>
            </a:r>
            <a:r>
              <a:rPr lang="en-US" altLang="zh-CN" dirty="0"/>
              <a:t> </a:t>
            </a:r>
            <a:r>
              <a:rPr lang="en-US" altLang="zh-CN" dirty="0">
                <a:solidFill>
                  <a:schemeClr val="tx2"/>
                </a:solidFill>
              </a:rPr>
              <a:t> </a:t>
            </a:r>
            <a:endParaRPr lang="en-US" altLang="zh-CN" b="1" dirty="0">
              <a:solidFill>
                <a:schemeClr val="tx2"/>
              </a:solidFill>
            </a:endParaRPr>
          </a:p>
          <a:p>
            <a:pPr>
              <a:lnSpc>
                <a:spcPct val="80000"/>
              </a:lnSpc>
              <a:buFont typeface="Wingdings" panose="05000000000000000000" pitchFamily="2" charset="2"/>
              <a:buNone/>
            </a:pPr>
            <a:r>
              <a:rPr lang="en-US" altLang="zh-CN" dirty="0"/>
              <a:t>    </a:t>
            </a:r>
            <a:r>
              <a:rPr lang="zh-CN" altLang="en-US" sz="2800" dirty="0"/>
              <a:t>由德国的</a:t>
            </a:r>
            <a:r>
              <a:rPr lang="en-US" altLang="zh-CN" sz="2800" dirty="0"/>
              <a:t>Klaus </a:t>
            </a:r>
            <a:r>
              <a:rPr lang="en-US" altLang="zh-CN" sz="2800" dirty="0" err="1"/>
              <a:t>Knopper</a:t>
            </a:r>
            <a:r>
              <a:rPr lang="zh-CN" altLang="en-US" sz="2800" dirty="0"/>
              <a:t>开发的</a:t>
            </a:r>
            <a:r>
              <a:rPr lang="en-US" altLang="zh-CN" sz="2800" dirty="0" err="1"/>
              <a:t>Knoppix</a:t>
            </a:r>
            <a:r>
              <a:rPr lang="zh-CN" altLang="en-US" sz="2800" dirty="0"/>
              <a:t>，是一个基于</a:t>
            </a:r>
            <a:r>
              <a:rPr lang="en-US" altLang="zh-CN" sz="2800" dirty="0" err="1"/>
              <a:t>Debian</a:t>
            </a:r>
            <a:r>
              <a:rPr lang="zh-CN" altLang="en-US" sz="2800" dirty="0"/>
              <a:t>的发行版。</a:t>
            </a:r>
            <a:r>
              <a:rPr lang="en-US" altLang="zh-CN" sz="2800" dirty="0" err="1"/>
              <a:t>Knoppix</a:t>
            </a:r>
            <a:r>
              <a:rPr lang="zh-CN" altLang="en-US" sz="2800" dirty="0"/>
              <a:t>严格算起来是一款</a:t>
            </a:r>
            <a:r>
              <a:rPr lang="en-US" altLang="zh-CN" sz="2800" dirty="0" err="1"/>
              <a:t>LiveCD</a:t>
            </a:r>
            <a:r>
              <a:rPr lang="en-US" altLang="zh-CN" sz="2800" dirty="0"/>
              <a:t> </a:t>
            </a:r>
            <a:r>
              <a:rPr lang="zh-CN" altLang="en-US" sz="2800" dirty="0"/>
              <a:t>。可以说，在</a:t>
            </a:r>
            <a:r>
              <a:rPr lang="en-US" altLang="zh-CN" sz="2800" dirty="0" err="1"/>
              <a:t>LiveCD</a:t>
            </a:r>
            <a:r>
              <a:rPr lang="zh-CN" altLang="en-US" sz="2800" dirty="0"/>
              <a:t>界，</a:t>
            </a:r>
            <a:r>
              <a:rPr lang="en-US" altLang="zh-CN" sz="2800" dirty="0" err="1"/>
              <a:t>Knoppix</a:t>
            </a:r>
            <a:r>
              <a:rPr lang="zh-CN" altLang="en-US" sz="2800" dirty="0"/>
              <a:t>是无人能及的 </a:t>
            </a:r>
          </a:p>
          <a:p>
            <a:pPr>
              <a:lnSpc>
                <a:spcPct val="80000"/>
              </a:lnSpc>
              <a:buFont typeface="Wingdings" panose="05000000000000000000" pitchFamily="2" charset="2"/>
              <a:buNone/>
            </a:pPr>
            <a:r>
              <a:rPr lang="zh-CN" altLang="en-US" sz="2800" dirty="0"/>
              <a:t>    优点：无需安装可直接运行于</a:t>
            </a:r>
            <a:r>
              <a:rPr lang="en-US" altLang="zh-CN" sz="2800" dirty="0"/>
              <a:t>CD</a:t>
            </a:r>
            <a:r>
              <a:rPr lang="zh-CN" altLang="en-US" sz="2800" dirty="0"/>
              <a:t>上，优秀的硬件检测能力，可作为系统急救盘使用</a:t>
            </a:r>
          </a:p>
          <a:p>
            <a:pPr>
              <a:lnSpc>
                <a:spcPct val="80000"/>
              </a:lnSpc>
              <a:buFont typeface="Wingdings" panose="05000000000000000000" pitchFamily="2" charset="2"/>
              <a:buNone/>
            </a:pPr>
            <a:r>
              <a:rPr lang="zh-CN" altLang="en-US" sz="2800" dirty="0"/>
              <a:t>    缺点：</a:t>
            </a:r>
            <a:r>
              <a:rPr lang="en-US" altLang="zh-CN" sz="2800" dirty="0" err="1"/>
              <a:t>LiveCD</a:t>
            </a:r>
            <a:r>
              <a:rPr lang="zh-CN" altLang="en-US" sz="2800" dirty="0"/>
              <a:t>由于光盘的数据读取速度限制导致性能大幅下降</a:t>
            </a:r>
          </a:p>
          <a:p>
            <a:endParaRPr lang="zh-CN" altLang="en-US" sz="2800" dirty="0"/>
          </a:p>
        </p:txBody>
      </p:sp>
      <p:pic>
        <p:nvPicPr>
          <p:cNvPr id="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4442" y="2542505"/>
            <a:ext cx="3029358" cy="284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961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各大发行版</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720754" y="1347452"/>
            <a:ext cx="7249732" cy="5036569"/>
          </a:xfrm>
        </p:spPr>
        <p:txBody>
          <a:bodyPr>
            <a:normAutofit fontScale="70000" lnSpcReduction="20000"/>
          </a:bodyPr>
          <a:lstStyle/>
          <a:p>
            <a:pPr>
              <a:lnSpc>
                <a:spcPct val="120000"/>
              </a:lnSpc>
            </a:pPr>
            <a:r>
              <a:rPr lang="en-US" altLang="zh-CN" b="1" dirty="0" smtClean="0"/>
              <a:t>CentOS</a:t>
            </a:r>
            <a:r>
              <a:rPr lang="en-US" altLang="zh-CN" dirty="0" smtClean="0">
                <a:solidFill>
                  <a:schemeClr val="tx2"/>
                </a:solidFill>
              </a:rPr>
              <a:t> </a:t>
            </a:r>
            <a:endParaRPr lang="en-US" altLang="zh-CN" b="1" dirty="0" smtClean="0">
              <a:solidFill>
                <a:schemeClr val="tx2"/>
              </a:solidFill>
            </a:endParaRPr>
          </a:p>
          <a:p>
            <a:pPr>
              <a:lnSpc>
                <a:spcPct val="120000"/>
              </a:lnSpc>
              <a:buFont typeface="Wingdings" panose="05000000000000000000" pitchFamily="2" charset="2"/>
              <a:buNone/>
            </a:pPr>
            <a:r>
              <a:rPr lang="en-US" altLang="zh-CN" sz="2000" dirty="0" smtClean="0"/>
              <a:t>      </a:t>
            </a:r>
            <a:r>
              <a:rPr lang="en-US" altLang="zh-CN" dirty="0" smtClean="0"/>
              <a:t>CentOS</a:t>
            </a:r>
            <a:r>
              <a:rPr lang="zh-CN" altLang="en-US" dirty="0" smtClean="0"/>
              <a:t>，也叫做社区企业操作系统，是企业</a:t>
            </a:r>
            <a:r>
              <a:rPr lang="en-US" altLang="zh-CN" dirty="0" smtClean="0"/>
              <a:t>Linux</a:t>
            </a:r>
            <a:r>
              <a:rPr lang="zh-CN" altLang="en-US" dirty="0" smtClean="0"/>
              <a:t>发行版领头羊</a:t>
            </a:r>
            <a:r>
              <a:rPr lang="en-US" altLang="zh-CN" dirty="0" smtClean="0"/>
              <a:t>Red Hat Enterprise Linux</a:t>
            </a:r>
            <a:r>
              <a:rPr lang="zh-CN" altLang="en-US" dirty="0" smtClean="0"/>
              <a:t>的再编译版本。</a:t>
            </a:r>
            <a:r>
              <a:rPr lang="en-US" altLang="zh-CN" dirty="0" smtClean="0"/>
              <a:t>RHEL</a:t>
            </a:r>
            <a:r>
              <a:rPr lang="zh-CN" altLang="en-US" dirty="0" smtClean="0"/>
              <a:t>是很多企业采用的</a:t>
            </a:r>
            <a:r>
              <a:rPr lang="en-US" altLang="zh-CN" dirty="0" smtClean="0"/>
              <a:t>Linux</a:t>
            </a:r>
            <a:r>
              <a:rPr lang="zh-CN" altLang="en-US" dirty="0" smtClean="0"/>
              <a:t>发行版本，但是如果想得到</a:t>
            </a:r>
            <a:r>
              <a:rPr lang="en-US" altLang="zh-CN" dirty="0" err="1" smtClean="0"/>
              <a:t>RedHat</a:t>
            </a:r>
            <a:r>
              <a:rPr lang="zh-CN" altLang="en-US" dirty="0" smtClean="0"/>
              <a:t>的服务与技术支持，用户必须向</a:t>
            </a:r>
            <a:r>
              <a:rPr lang="en-US" altLang="zh-CN" dirty="0" smtClean="0"/>
              <a:t>Red Hat</a:t>
            </a:r>
            <a:r>
              <a:rPr lang="zh-CN" altLang="en-US" dirty="0" smtClean="0"/>
              <a:t>付费才可以。</a:t>
            </a:r>
            <a:r>
              <a:rPr lang="en-US" altLang="zh-CN" dirty="0" smtClean="0"/>
              <a:t>CentOS</a:t>
            </a:r>
            <a:r>
              <a:rPr lang="zh-CN" altLang="en-US" dirty="0" smtClean="0"/>
              <a:t>的开发者们使用</a:t>
            </a:r>
            <a:r>
              <a:rPr lang="en-US" altLang="zh-CN" dirty="0" smtClean="0"/>
              <a:t>Red Hat Linux</a:t>
            </a:r>
            <a:r>
              <a:rPr lang="zh-CN" altLang="en-US" dirty="0" smtClean="0"/>
              <a:t>的源代码创造了一个和</a:t>
            </a:r>
            <a:r>
              <a:rPr lang="en-US" altLang="zh-CN" dirty="0" smtClean="0"/>
              <a:t>RHEL</a:t>
            </a:r>
            <a:r>
              <a:rPr lang="zh-CN" altLang="en-US" dirty="0" smtClean="0"/>
              <a:t>近乎相同的</a:t>
            </a:r>
            <a:r>
              <a:rPr lang="en-US" altLang="zh-CN" dirty="0" smtClean="0"/>
              <a:t>Linux</a:t>
            </a:r>
            <a:r>
              <a:rPr lang="zh-CN" altLang="en-US" dirty="0" smtClean="0"/>
              <a:t>。但是一切和</a:t>
            </a:r>
            <a:r>
              <a:rPr lang="en-US" altLang="zh-CN" dirty="0" err="1" smtClean="0"/>
              <a:t>RedHat</a:t>
            </a:r>
            <a:r>
              <a:rPr lang="zh-CN" altLang="en-US" dirty="0" smtClean="0"/>
              <a:t>有关的商标都被去除了。</a:t>
            </a:r>
            <a:r>
              <a:rPr lang="en-US" altLang="zh-CN" dirty="0" smtClean="0"/>
              <a:t>CentOS</a:t>
            </a:r>
            <a:r>
              <a:rPr lang="zh-CN" altLang="en-US" dirty="0" smtClean="0"/>
              <a:t>是免费的，可以使用它像使用</a:t>
            </a:r>
            <a:r>
              <a:rPr lang="en-US" altLang="zh-CN" dirty="0" smtClean="0"/>
              <a:t>RHEL</a:t>
            </a:r>
            <a:r>
              <a:rPr lang="zh-CN" altLang="en-US" dirty="0" smtClean="0"/>
              <a:t>一样去构筑企业级的</a:t>
            </a:r>
            <a:r>
              <a:rPr lang="en-US" altLang="zh-CN" dirty="0" smtClean="0"/>
              <a:t>Linux</a:t>
            </a:r>
            <a:r>
              <a:rPr lang="zh-CN" altLang="en-US" dirty="0" smtClean="0"/>
              <a:t>系统环境，但不需要向</a:t>
            </a:r>
            <a:r>
              <a:rPr lang="en-US" altLang="zh-CN" dirty="0" err="1" smtClean="0"/>
              <a:t>RedHat</a:t>
            </a:r>
            <a:r>
              <a:rPr lang="zh-CN" altLang="en-US" dirty="0" smtClean="0"/>
              <a:t>付任何的费用。目前，</a:t>
            </a:r>
            <a:r>
              <a:rPr lang="en-US" altLang="zh-CN" dirty="0" smtClean="0"/>
              <a:t>CentOS</a:t>
            </a:r>
            <a:r>
              <a:rPr lang="zh-CN" altLang="en-US" dirty="0" smtClean="0"/>
              <a:t>的技术支持主要通过社区的官方邮件列表、论坛和聊天室来提供。</a:t>
            </a:r>
          </a:p>
          <a:p>
            <a:endParaRPr lang="zh-CN" altLang="en-US" dirty="0"/>
          </a:p>
        </p:txBody>
      </p:sp>
      <p:pic>
        <p:nvPicPr>
          <p:cNvPr id="4" name="Picture 6" descr="cc11728b4710b912f8905bfbc3fdfc03924522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7932" y="3330261"/>
            <a:ext cx="3709830" cy="1112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72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国产操作系统</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382" y="1384904"/>
            <a:ext cx="2024282" cy="135362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0541" y="1343402"/>
            <a:ext cx="1417817" cy="1350302"/>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5733" y="1086308"/>
            <a:ext cx="1496029" cy="1947493"/>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5676" y="1384904"/>
            <a:ext cx="1267299" cy="1267299"/>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107804"/>
            <a:ext cx="1052177" cy="1890730"/>
          </a:xfrm>
          <a:prstGeom prst="rect">
            <a:avLst/>
          </a:prstGeom>
        </p:spPr>
      </p:pic>
      <p:pic>
        <p:nvPicPr>
          <p:cNvPr id="12" name="图片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57424" y="3868215"/>
            <a:ext cx="2677151" cy="717895"/>
          </a:xfrm>
          <a:prstGeom prst="rect">
            <a:avLst/>
          </a:prstGeom>
          <a:solidFill>
            <a:schemeClr val="accent1"/>
          </a:solidFill>
        </p:spPr>
      </p:pic>
      <p:pic>
        <p:nvPicPr>
          <p:cNvPr id="13" name="图片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25823" y="3726321"/>
            <a:ext cx="2085975" cy="762000"/>
          </a:xfrm>
          <a:prstGeom prst="rect">
            <a:avLst/>
          </a:prstGeom>
        </p:spPr>
      </p:pic>
      <p:pic>
        <p:nvPicPr>
          <p:cNvPr id="14" name="图片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69370" y="3191625"/>
            <a:ext cx="2071077" cy="2071077"/>
          </a:xfrm>
          <a:prstGeom prst="rect">
            <a:avLst/>
          </a:prstGeom>
        </p:spPr>
      </p:pic>
      <p:pic>
        <p:nvPicPr>
          <p:cNvPr id="15" name="图片 1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11798" y="1012304"/>
            <a:ext cx="2095500" cy="2095500"/>
          </a:xfrm>
          <a:prstGeom prst="rect">
            <a:avLst/>
          </a:prstGeom>
        </p:spPr>
      </p:pic>
      <p:pic>
        <p:nvPicPr>
          <p:cNvPr id="16" name="图片 15"/>
          <p:cNvPicPr>
            <a:picLocks noChangeAspect="1"/>
          </p:cNvPicPr>
          <p:nvPr/>
        </p:nvPicPr>
        <p:blipFill>
          <a:blip r:embed="rId11"/>
          <a:stretch>
            <a:fillRect/>
          </a:stretch>
        </p:blipFill>
        <p:spPr>
          <a:xfrm>
            <a:off x="10213667" y="3973971"/>
            <a:ext cx="1752600" cy="514350"/>
          </a:xfrm>
          <a:prstGeom prst="rect">
            <a:avLst/>
          </a:prstGeom>
        </p:spPr>
      </p:pic>
      <p:pic>
        <p:nvPicPr>
          <p:cNvPr id="17" name="图片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97481" y="5174721"/>
            <a:ext cx="2453060" cy="1171803"/>
          </a:xfrm>
          <a:prstGeom prst="rect">
            <a:avLst/>
          </a:prstGeom>
        </p:spPr>
      </p:pic>
      <p:pic>
        <p:nvPicPr>
          <p:cNvPr id="18" name="图片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81528" y="5262702"/>
            <a:ext cx="2173659" cy="852415"/>
          </a:xfrm>
          <a:prstGeom prst="rect">
            <a:avLst/>
          </a:prstGeom>
        </p:spPr>
      </p:pic>
    </p:spTree>
    <p:extLst>
      <p:ext uri="{BB962C8B-B14F-4D97-AF65-F5344CB8AC3E}">
        <p14:creationId xmlns:p14="http://schemas.microsoft.com/office/powerpoint/2010/main" val="1920356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免费软件与开源软件</a:t>
            </a:r>
            <a:endParaRPr lang="zh-CN" altLang="en-US" dirty="0"/>
          </a:p>
        </p:txBody>
      </p:sp>
      <p:sp>
        <p:nvSpPr>
          <p:cNvPr id="3" name="内容占位符 2"/>
          <p:cNvSpPr>
            <a:spLocks noGrp="1"/>
          </p:cNvSpPr>
          <p:nvPr>
            <p:ph idx="1"/>
          </p:nvPr>
        </p:nvSpPr>
        <p:spPr/>
        <p:txBody>
          <a:bodyPr/>
          <a:lstStyle/>
          <a:p>
            <a:r>
              <a:rPr lang="zh-CN" altLang="en-US" dirty="0" smtClean="0"/>
              <a:t>免费软件与开源软件概念并不相同，免费软件通常以</a:t>
            </a:r>
            <a:r>
              <a:rPr lang="zh-CN" altLang="en-US" dirty="0" smtClean="0">
                <a:solidFill>
                  <a:srgbClr val="FF0000"/>
                </a:solidFill>
              </a:rPr>
              <a:t>二进制</a:t>
            </a:r>
            <a:r>
              <a:rPr lang="zh-CN" altLang="en-US" dirty="0" smtClean="0"/>
              <a:t>文件形式发布。用户虽然可以免费使用，但</a:t>
            </a:r>
            <a:r>
              <a:rPr lang="zh-CN" altLang="en-US" dirty="0" smtClean="0">
                <a:solidFill>
                  <a:srgbClr val="FF0000"/>
                </a:solidFill>
              </a:rPr>
              <a:t>无权对软件进行任何修改</a:t>
            </a:r>
            <a:r>
              <a:rPr lang="zh-CN" altLang="en-US" dirty="0" smtClean="0"/>
              <a:t>。开源软件是将软件以</a:t>
            </a:r>
            <a:r>
              <a:rPr lang="zh-CN" altLang="en-US" dirty="0" smtClean="0">
                <a:solidFill>
                  <a:srgbClr val="FF0000"/>
                </a:solidFill>
              </a:rPr>
              <a:t>源代码</a:t>
            </a:r>
            <a:r>
              <a:rPr lang="zh-CN" altLang="en-US" dirty="0" smtClean="0"/>
              <a:t>形式发布，并</a:t>
            </a:r>
            <a:r>
              <a:rPr lang="zh-CN" altLang="en-US" dirty="0" smtClean="0">
                <a:solidFill>
                  <a:srgbClr val="FF0000"/>
                </a:solidFill>
              </a:rPr>
              <a:t>遵循</a:t>
            </a:r>
            <a:r>
              <a:rPr lang="en-US" altLang="zh-CN" dirty="0" smtClean="0">
                <a:solidFill>
                  <a:srgbClr val="FF0000"/>
                </a:solidFill>
              </a:rPr>
              <a:t>GPL</a:t>
            </a:r>
            <a:r>
              <a:rPr lang="zh-CN" altLang="en-US" dirty="0" smtClean="0">
                <a:solidFill>
                  <a:srgbClr val="FF0000"/>
                </a:solidFill>
              </a:rPr>
              <a:t>等开源协议</a:t>
            </a:r>
            <a:r>
              <a:rPr lang="zh-CN" altLang="en-US" dirty="0" smtClean="0"/>
              <a:t>，用户不仅能使用，而且还可对软件进行改进。</a:t>
            </a:r>
          </a:p>
          <a:p>
            <a:r>
              <a:rPr lang="en-US" altLang="zh-CN" dirty="0" smtClean="0"/>
              <a:t>Linux</a:t>
            </a:r>
            <a:r>
              <a:rPr lang="zh-CN" altLang="en-US" dirty="0" smtClean="0"/>
              <a:t>系统是开源软件，所以基于</a:t>
            </a:r>
            <a:r>
              <a:rPr lang="en-US" altLang="zh-CN" dirty="0" smtClean="0"/>
              <a:t>Linux</a:t>
            </a:r>
            <a:r>
              <a:rPr lang="zh-CN" altLang="en-US" dirty="0" smtClean="0"/>
              <a:t>系统开发必须遵循开源规则。这种开发方式最大的优势是，开发者能最大限度的利用现有代码，从而避免重复工作。</a:t>
            </a:r>
            <a:endParaRPr lang="zh-CN" altLang="en-US" dirty="0"/>
          </a:p>
        </p:txBody>
      </p:sp>
    </p:spTree>
    <p:extLst>
      <p:ext uri="{BB962C8B-B14F-4D97-AF65-F5344CB8AC3E}">
        <p14:creationId xmlns:p14="http://schemas.microsoft.com/office/powerpoint/2010/main" val="1530779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内核与版本</a:t>
            </a:r>
            <a:endParaRPr lang="zh-CN" altLang="en-US" dirty="0"/>
          </a:p>
        </p:txBody>
      </p:sp>
      <p:sp>
        <p:nvSpPr>
          <p:cNvPr id="3" name="内容占位符 2"/>
          <p:cNvSpPr>
            <a:spLocks noGrp="1"/>
          </p:cNvSpPr>
          <p:nvPr>
            <p:ph idx="1"/>
          </p:nvPr>
        </p:nvSpPr>
        <p:spPr/>
        <p:txBody>
          <a:bodyPr>
            <a:normAutofit fontScale="85000" lnSpcReduction="10000"/>
          </a:bodyPr>
          <a:lstStyle/>
          <a:p>
            <a:pPr lvl="0"/>
            <a:r>
              <a:rPr lang="zh-CN" altLang="en-US" b="0" i="0" u="none" strike="noStrike" baseline="0" dirty="0" smtClean="0">
                <a:latin typeface="Times New Roman"/>
              </a:rPr>
              <a:t>内核是操作系统的心脏，系统其它部分必须依靠内核这部分软件提供的服务，例如管理硬件设备、分配系统资源等。</a:t>
            </a:r>
            <a:r>
              <a:rPr lang="zh-CN" altLang="en-US" b="0" i="0" u="none" strike="noStrike" baseline="0" dirty="0" smtClean="0">
                <a:solidFill>
                  <a:srgbClr val="FF0000"/>
                </a:solidFill>
                <a:latin typeface="Times New Roman"/>
              </a:rPr>
              <a:t>内核由中断服务程序、调度程序、内存管理程序、网络和进程间通信等系统程序共同组成。</a:t>
            </a:r>
            <a:r>
              <a:rPr lang="en-US" altLang="zh-CN" b="0" i="0" u="none" strike="noStrike" baseline="0" dirty="0" smtClean="0">
                <a:latin typeface="Times New Roman"/>
              </a:rPr>
              <a:t>Linux</a:t>
            </a:r>
            <a:r>
              <a:rPr lang="zh-CN" altLang="en-US" b="0" i="0" u="none" strike="noStrike" baseline="0" dirty="0" smtClean="0">
                <a:latin typeface="Times New Roman"/>
              </a:rPr>
              <a:t>内核是提供保护机制的最前端系统，它独立于普通应用程序，一般处于系统态，拥有受保护的内存空间和访问硬件设备的所有权限。这种系统态和被保护起来的内存空间，统称为内核空间。</a:t>
            </a:r>
          </a:p>
          <a:p>
            <a:pPr lvl="0"/>
            <a:r>
              <a:rPr lang="zh-CN" altLang="en-US" b="0" i="0" u="none" strike="noStrike" baseline="0" dirty="0" smtClean="0">
                <a:latin typeface="Times New Roman"/>
              </a:rPr>
              <a:t>内核负责管理计算机系统的硬件设备，为硬件设备提供驱动。对于操作系统上层的应用程序来说，内核是抽象的硬件，这些应用程序可通过对内核的系统调用访问硬件。这种方式简化了应用程序开发的难度，同时在一定程度上起到了保护硬件的作用。</a:t>
            </a:r>
            <a:r>
              <a:rPr lang="en-US" altLang="zh-CN" b="0" i="0" u="none" strike="noStrike" baseline="0" dirty="0" smtClean="0">
                <a:latin typeface="Times New Roman"/>
              </a:rPr>
              <a:t>Linux</a:t>
            </a:r>
            <a:r>
              <a:rPr lang="zh-CN" altLang="en-US" b="0" i="0" u="none" strike="noStrike" baseline="0" dirty="0" smtClean="0">
                <a:latin typeface="Times New Roman"/>
              </a:rPr>
              <a:t>内核支持几乎所有的计算机系统结构，并将多种系统结构抽象为同样的逻辑结构。</a:t>
            </a:r>
          </a:p>
          <a:p>
            <a:endParaRPr lang="zh-CN" altLang="en-US" dirty="0"/>
          </a:p>
        </p:txBody>
      </p:sp>
    </p:spTree>
    <p:extLst>
      <p:ext uri="{BB962C8B-B14F-4D97-AF65-F5344CB8AC3E}">
        <p14:creationId xmlns:p14="http://schemas.microsoft.com/office/powerpoint/2010/main" val="1182935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内核结构</a:t>
            </a:r>
            <a:endParaRPr lang="zh-CN" altLang="en-US" dirty="0"/>
          </a:p>
        </p:txBody>
      </p:sp>
      <p:pic>
        <p:nvPicPr>
          <p:cNvPr id="4" name="Picture 2" descr="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1872" y="1069902"/>
            <a:ext cx="6336704" cy="470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8427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Android</a:t>
            </a:r>
            <a:r>
              <a:rPr lang="zh-CN" altLang="en-US" dirty="0" smtClean="0"/>
              <a:t>系统结构</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3375" y="1214438"/>
            <a:ext cx="6485250" cy="4857750"/>
          </a:xfrm>
        </p:spPr>
      </p:pic>
    </p:spTree>
    <p:extLst>
      <p:ext uri="{BB962C8B-B14F-4D97-AF65-F5344CB8AC3E}">
        <p14:creationId xmlns:p14="http://schemas.microsoft.com/office/powerpoint/2010/main" val="461453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5828"/>
            <a:ext cx="10515600" cy="1325563"/>
          </a:xfrm>
        </p:spPr>
        <p:txBody>
          <a:bodyPr/>
          <a:lstStyle/>
          <a:p>
            <a:r>
              <a:rPr lang="en-US" altLang="zh-CN" dirty="0" smtClean="0"/>
              <a:t>Linux</a:t>
            </a:r>
            <a:r>
              <a:rPr lang="zh-CN" altLang="en-US" dirty="0" smtClean="0"/>
              <a:t>系统架构和目录</a:t>
            </a:r>
            <a:endParaRPr lang="zh-CN" altLang="en-US" dirty="0"/>
          </a:p>
        </p:txBody>
      </p:sp>
      <p:pic>
        <p:nvPicPr>
          <p:cNvPr id="6" name="内容占位符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1675" y="1094105"/>
            <a:ext cx="8908647" cy="5763895"/>
          </a:xfrm>
        </p:spPr>
      </p:pic>
    </p:spTree>
    <p:extLst>
      <p:ext uri="{BB962C8B-B14F-4D97-AF65-F5344CB8AC3E}">
        <p14:creationId xmlns:p14="http://schemas.microsoft.com/office/powerpoint/2010/main" val="3392976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基本操作</a:t>
            </a:r>
            <a:endParaRPr lang="zh-CN" altLang="en-US" dirty="0"/>
          </a:p>
        </p:txBody>
      </p:sp>
      <p:sp>
        <p:nvSpPr>
          <p:cNvPr id="3" name="内容占位符 2"/>
          <p:cNvSpPr>
            <a:spLocks noGrp="1"/>
          </p:cNvSpPr>
          <p:nvPr>
            <p:ph idx="1"/>
          </p:nvPr>
        </p:nvSpPr>
        <p:spPr/>
        <p:txBody>
          <a:bodyPr/>
          <a:lstStyle/>
          <a:p>
            <a:pPr lvl="0"/>
            <a:r>
              <a:rPr lang="en-US" altLang="zh-CN" b="0" i="0" u="none" strike="noStrike" baseline="0" dirty="0" smtClean="0">
                <a:latin typeface="Times New Roman"/>
              </a:rPr>
              <a:t>Linux</a:t>
            </a:r>
            <a:r>
              <a:rPr lang="zh-CN" altLang="en-US" b="0" i="0" u="none" strike="noStrike" baseline="0" dirty="0" smtClean="0">
                <a:latin typeface="Times New Roman"/>
              </a:rPr>
              <a:t>系统有两种操作方法，一种是使用</a:t>
            </a:r>
            <a:r>
              <a:rPr lang="zh-CN" altLang="en-US" b="0" i="0" u="none" strike="noStrike" baseline="0" dirty="0" smtClean="0">
                <a:solidFill>
                  <a:srgbClr val="FF0000"/>
                </a:solidFill>
                <a:latin typeface="Times New Roman"/>
              </a:rPr>
              <a:t>鼠标键盘</a:t>
            </a:r>
            <a:r>
              <a:rPr lang="zh-CN" altLang="en-US" b="0" i="0" u="none" strike="noStrike" baseline="0" dirty="0" smtClean="0">
                <a:latin typeface="Times New Roman"/>
              </a:rPr>
              <a:t>等输入设备直接在图形界面</a:t>
            </a:r>
            <a:r>
              <a:rPr lang="en-US" altLang="zh-CN" b="0" i="0" u="none" strike="noStrike" baseline="0" dirty="0" smtClean="0">
                <a:latin typeface="Times New Roman"/>
              </a:rPr>
              <a:t>X Window</a:t>
            </a:r>
            <a:r>
              <a:rPr lang="zh-CN" altLang="en-US" b="0" i="0" u="none" strike="noStrike" baseline="0" dirty="0" smtClean="0">
                <a:latin typeface="Times New Roman"/>
              </a:rPr>
              <a:t>上操作，另一种是通过</a:t>
            </a:r>
            <a:r>
              <a:rPr lang="zh-CN" altLang="en-US" b="0" i="0" u="none" strike="noStrike" baseline="0" dirty="0" smtClean="0">
                <a:solidFill>
                  <a:srgbClr val="FF0000"/>
                </a:solidFill>
                <a:latin typeface="Times New Roman"/>
              </a:rPr>
              <a:t>输入文本命令</a:t>
            </a:r>
            <a:r>
              <a:rPr lang="zh-CN" altLang="en-US" b="0" i="0" u="none" strike="noStrike" baseline="0" dirty="0" smtClean="0">
                <a:latin typeface="Times New Roman"/>
              </a:rPr>
              <a:t>方式在控制台上操作。各种</a:t>
            </a:r>
            <a:r>
              <a:rPr lang="en-US" altLang="zh-CN" b="0" i="0" u="none" strike="noStrike" baseline="0" dirty="0" smtClean="0">
                <a:latin typeface="Times New Roman"/>
              </a:rPr>
              <a:t>Linux</a:t>
            </a:r>
            <a:r>
              <a:rPr lang="zh-CN" altLang="en-US" b="0" i="0" u="none" strike="noStrike" baseline="0" dirty="0" smtClean="0">
                <a:latin typeface="Times New Roman"/>
              </a:rPr>
              <a:t>发行版的操作遵循同样的原则，所以操作方法非常相似。</a:t>
            </a:r>
          </a:p>
          <a:p>
            <a:endParaRPr lang="zh-CN" altLang="en-US" dirty="0"/>
          </a:p>
        </p:txBody>
      </p:sp>
      <p:pic>
        <p:nvPicPr>
          <p:cNvPr id="4" name="图片 3"/>
          <p:cNvPicPr>
            <a:picLocks noChangeAspect="1"/>
          </p:cNvPicPr>
          <p:nvPr/>
        </p:nvPicPr>
        <p:blipFill>
          <a:blip r:embed="rId2"/>
          <a:stretch>
            <a:fillRect/>
          </a:stretch>
        </p:blipFill>
        <p:spPr>
          <a:xfrm>
            <a:off x="1284369" y="3304702"/>
            <a:ext cx="4453701" cy="3330545"/>
          </a:xfrm>
          <a:prstGeom prst="rect">
            <a:avLst/>
          </a:prstGeom>
        </p:spPr>
      </p:pic>
      <p:pic>
        <p:nvPicPr>
          <p:cNvPr id="5" name="图片 4"/>
          <p:cNvPicPr>
            <a:picLocks noChangeAspect="1"/>
          </p:cNvPicPr>
          <p:nvPr/>
        </p:nvPicPr>
        <p:blipFill>
          <a:blip r:embed="rId3"/>
          <a:stretch>
            <a:fillRect/>
          </a:stretch>
        </p:blipFill>
        <p:spPr>
          <a:xfrm>
            <a:off x="6536422" y="3238150"/>
            <a:ext cx="5253606" cy="3502404"/>
          </a:xfrm>
          <a:prstGeom prst="rect">
            <a:avLst/>
          </a:prstGeom>
        </p:spPr>
      </p:pic>
    </p:spTree>
    <p:extLst>
      <p:ext uri="{BB962C8B-B14F-4D97-AF65-F5344CB8AC3E}">
        <p14:creationId xmlns:p14="http://schemas.microsoft.com/office/powerpoint/2010/main" val="1124131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smtClean="0">
                <a:latin typeface="Times New Roman"/>
                <a:ea typeface="黑体"/>
              </a:rPr>
              <a:t>Shell</a:t>
            </a:r>
            <a:r>
              <a:rPr lang="zh-CN" altLang="en-US" kern="1800" dirty="0" smtClean="0">
                <a:latin typeface="Times New Roman"/>
                <a:ea typeface="黑体"/>
              </a:rPr>
              <a:t>、控制台、终端</a:t>
            </a:r>
            <a:endParaRPr lang="zh-CN" altLang="en-US" dirty="0"/>
          </a:p>
        </p:txBody>
      </p:sp>
      <p:sp>
        <p:nvSpPr>
          <p:cNvPr id="3" name="内容占位符 2"/>
          <p:cNvSpPr>
            <a:spLocks noGrp="1"/>
          </p:cNvSpPr>
          <p:nvPr>
            <p:ph idx="1"/>
          </p:nvPr>
        </p:nvSpPr>
        <p:spPr>
          <a:xfrm>
            <a:off x="838200" y="1575582"/>
            <a:ext cx="6631745" cy="5078435"/>
          </a:xfrm>
        </p:spPr>
        <p:txBody>
          <a:bodyPr>
            <a:normAutofit fontScale="77500" lnSpcReduction="20000"/>
          </a:bodyPr>
          <a:lstStyle/>
          <a:p>
            <a:pPr lvl="0"/>
            <a:r>
              <a:rPr lang="en-US" altLang="zh-CN" b="0" i="0" u="none" strike="noStrike" baseline="0" dirty="0" smtClean="0">
                <a:latin typeface="Times New Roman"/>
              </a:rPr>
              <a:t>Shell</a:t>
            </a:r>
            <a:r>
              <a:rPr lang="zh-CN" altLang="en-US" b="0" i="0" u="none" strike="noStrike" baseline="0" dirty="0" smtClean="0">
                <a:latin typeface="Times New Roman"/>
              </a:rPr>
              <a:t>是一种具备特殊功能的程序，也是介于用户和</a:t>
            </a:r>
            <a:r>
              <a:rPr lang="en-US" altLang="zh-CN" b="0" i="0" u="none" strike="noStrike" baseline="0" dirty="0" smtClean="0">
                <a:latin typeface="Times New Roman"/>
              </a:rPr>
              <a:t>Linux</a:t>
            </a:r>
            <a:r>
              <a:rPr lang="zh-CN" altLang="en-US" b="0" i="0" u="none" strike="noStrike" baseline="0" dirty="0" smtClean="0">
                <a:latin typeface="Times New Roman"/>
              </a:rPr>
              <a:t>内核间的一个接口。</a:t>
            </a:r>
            <a:r>
              <a:rPr lang="en-US" altLang="zh-CN" b="0" i="0" u="none" strike="noStrike" baseline="0" dirty="0" smtClean="0">
                <a:latin typeface="Times New Roman"/>
              </a:rPr>
              <a:t>Linux</a:t>
            </a:r>
            <a:r>
              <a:rPr lang="zh-CN" altLang="en-US" b="0" i="0" u="none" strike="noStrike" baseline="0" dirty="0" smtClean="0">
                <a:latin typeface="Times New Roman"/>
              </a:rPr>
              <a:t>系统拥有多种</a:t>
            </a:r>
            <a:r>
              <a:rPr lang="en-US" altLang="zh-CN" b="0" i="0" u="none" strike="noStrike" baseline="0" dirty="0" smtClean="0">
                <a:latin typeface="Times New Roman"/>
              </a:rPr>
              <a:t>shell</a:t>
            </a:r>
            <a:r>
              <a:rPr lang="zh-CN" altLang="en-US" b="0" i="0" u="none" strike="noStrike" baseline="0" dirty="0" smtClean="0">
                <a:latin typeface="Times New Roman"/>
              </a:rPr>
              <a:t>，发行版中常用的是名为</a:t>
            </a:r>
            <a:r>
              <a:rPr lang="en-US" altLang="zh-CN" b="0" i="0" u="none" strike="noStrike" baseline="0" dirty="0" smtClean="0">
                <a:latin typeface="Times New Roman"/>
              </a:rPr>
              <a:t>bash</a:t>
            </a:r>
            <a:r>
              <a:rPr lang="zh-CN" altLang="en-US" b="0" i="0" u="none" strike="noStrike" baseline="0" dirty="0" smtClean="0">
                <a:latin typeface="Times New Roman"/>
              </a:rPr>
              <a:t>的</a:t>
            </a:r>
            <a:r>
              <a:rPr lang="en-US" altLang="zh-CN" b="0" i="0" u="none" strike="noStrike" baseline="0" dirty="0" smtClean="0">
                <a:latin typeface="Times New Roman"/>
              </a:rPr>
              <a:t>shell</a:t>
            </a:r>
            <a:r>
              <a:rPr lang="zh-CN" altLang="en-US" b="0" i="0" u="none" strike="noStrike" baseline="0" dirty="0" smtClean="0">
                <a:latin typeface="Times New Roman"/>
              </a:rPr>
              <a:t>。这种</a:t>
            </a:r>
            <a:r>
              <a:rPr lang="en-US" altLang="zh-CN" b="0" i="0" u="none" strike="noStrike" baseline="0" dirty="0" smtClean="0">
                <a:latin typeface="Times New Roman"/>
              </a:rPr>
              <a:t>shell</a:t>
            </a:r>
            <a:r>
              <a:rPr lang="zh-CN" altLang="en-US" b="0" i="0" u="none" strike="noStrike" baseline="0" dirty="0" smtClean="0">
                <a:latin typeface="Times New Roman"/>
              </a:rPr>
              <a:t>不但能执行简单的命令，还能将多个命令、条件和参数编写为程序执行。使用</a:t>
            </a:r>
            <a:r>
              <a:rPr lang="en-US" altLang="zh-CN" b="0" i="0" u="none" strike="noStrike" baseline="0" dirty="0" smtClean="0">
                <a:latin typeface="Times New Roman"/>
              </a:rPr>
              <a:t>Linux</a:t>
            </a:r>
            <a:r>
              <a:rPr lang="zh-CN" altLang="en-US" b="0" i="0" u="none" strike="noStrike" baseline="0" dirty="0" smtClean="0">
                <a:latin typeface="Times New Roman"/>
              </a:rPr>
              <a:t>系统进行程序开发通常需要掌握一些常用</a:t>
            </a:r>
            <a:r>
              <a:rPr lang="en-US" altLang="zh-CN" b="0" i="0" u="none" strike="noStrike" baseline="0" dirty="0" smtClean="0">
                <a:latin typeface="Times New Roman"/>
              </a:rPr>
              <a:t>shell</a:t>
            </a:r>
            <a:r>
              <a:rPr lang="zh-CN" altLang="en-US" b="0" i="0" u="none" strike="noStrike" baseline="0" dirty="0" smtClean="0">
                <a:latin typeface="Times New Roman"/>
              </a:rPr>
              <a:t>命令。</a:t>
            </a:r>
            <a:endParaRPr lang="en-US" altLang="zh-CN" b="0" i="0" u="none" strike="noStrike" baseline="0" dirty="0" smtClean="0">
              <a:latin typeface="Times New Roman"/>
            </a:endParaRPr>
          </a:p>
          <a:p>
            <a:r>
              <a:rPr lang="en-US" altLang="zh-CN" b="0" i="0" u="none" strike="noStrike" baseline="0" dirty="0" smtClean="0">
                <a:latin typeface="Times New Roman"/>
              </a:rPr>
              <a:t>Linux</a:t>
            </a:r>
            <a:r>
              <a:rPr lang="zh-CN" altLang="en-US" b="0" i="0" u="none" strike="noStrike" baseline="0" dirty="0" smtClean="0">
                <a:latin typeface="Times New Roman"/>
              </a:rPr>
              <a:t>系统是一个多用户多任务的分时操作系统。任何一个要使用系统资源的用户都必须先向系统管理员申请一个账号，然后以这个账号的身份进入系统，该账号的名称就是登录名。</a:t>
            </a:r>
            <a:r>
              <a:rPr lang="en-US" altLang="zh-CN" b="0" i="0" u="none" strike="noStrike" baseline="0" dirty="0" smtClean="0">
                <a:latin typeface="Times New Roman"/>
              </a:rPr>
              <a:t>Linux</a:t>
            </a:r>
            <a:r>
              <a:rPr lang="zh-CN" altLang="en-US" b="0" i="0" u="none" strike="noStrike" baseline="0" dirty="0" smtClean="0">
                <a:latin typeface="Times New Roman"/>
              </a:rPr>
              <a:t>系统通常有多个控制台，进入控制台后可使用</a:t>
            </a:r>
            <a:r>
              <a:rPr lang="en-US" altLang="zh-CN" b="0" i="0" u="none" strike="noStrike" baseline="0" dirty="0" smtClean="0">
                <a:latin typeface="Times New Roman"/>
              </a:rPr>
              <a:t>shell</a:t>
            </a:r>
            <a:r>
              <a:rPr lang="zh-CN" altLang="en-US" b="0" i="0" u="none" strike="noStrike" baseline="0" dirty="0" smtClean="0">
                <a:latin typeface="Times New Roman"/>
              </a:rPr>
              <a:t>程序操作计算机。</a:t>
            </a:r>
            <a:endParaRPr lang="en-US" altLang="zh-CN" b="0" i="0" u="none" strike="noStrike" baseline="0" dirty="0" smtClean="0">
              <a:latin typeface="Times New Roman"/>
            </a:endParaRPr>
          </a:p>
          <a:p>
            <a:r>
              <a:rPr lang="zh-CN" altLang="en-US" b="0" i="0" u="none" strike="noStrike" baseline="0" dirty="0" smtClean="0">
                <a:latin typeface="Times New Roman"/>
              </a:rPr>
              <a:t>终端是</a:t>
            </a:r>
            <a:r>
              <a:rPr lang="en-US" altLang="zh-CN" b="0" i="0" u="none" strike="noStrike" baseline="0" dirty="0" smtClean="0">
                <a:latin typeface="Times New Roman"/>
              </a:rPr>
              <a:t>X Window</a:t>
            </a:r>
            <a:r>
              <a:rPr lang="zh-CN" altLang="en-US" b="0" i="0" u="none" strike="noStrike" baseline="0" dirty="0" smtClean="0">
                <a:latin typeface="Times New Roman"/>
              </a:rPr>
              <a:t>里访问</a:t>
            </a:r>
            <a:r>
              <a:rPr lang="en-US" altLang="zh-CN" b="0" i="0" u="none" strike="noStrike" baseline="0" dirty="0" smtClean="0">
                <a:latin typeface="Times New Roman"/>
              </a:rPr>
              <a:t>shell</a:t>
            </a:r>
            <a:r>
              <a:rPr lang="zh-CN" altLang="en-US" b="0" i="0" u="none" strike="noStrike" baseline="0" dirty="0" smtClean="0">
                <a:latin typeface="Times New Roman"/>
              </a:rPr>
              <a:t>程序的接口。</a:t>
            </a:r>
          </a:p>
          <a:p>
            <a:pPr lvl="0"/>
            <a:endParaRPr lang="zh-CN" altLang="en-US" b="0" i="0" u="none" strike="noStrike" baseline="0" dirty="0" smtClean="0">
              <a:latin typeface="Times New Roman"/>
            </a:endParaRPr>
          </a:p>
          <a:p>
            <a:endParaRPr lang="zh-CN" altLang="en-US" dirty="0"/>
          </a:p>
        </p:txBody>
      </p:sp>
      <p:pic>
        <p:nvPicPr>
          <p:cNvPr id="4" name="图片 3"/>
          <p:cNvPicPr>
            <a:picLocks noChangeAspect="1"/>
          </p:cNvPicPr>
          <p:nvPr/>
        </p:nvPicPr>
        <p:blipFill>
          <a:blip r:embed="rId2"/>
          <a:stretch>
            <a:fillRect/>
          </a:stretch>
        </p:blipFill>
        <p:spPr>
          <a:xfrm>
            <a:off x="7793501" y="3879949"/>
            <a:ext cx="3790511" cy="2406922"/>
          </a:xfrm>
          <a:prstGeom prst="rect">
            <a:avLst/>
          </a:prstGeom>
        </p:spPr>
      </p:pic>
      <p:pic>
        <p:nvPicPr>
          <p:cNvPr id="5" name="Picture 6" descr="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0852" y="1027906"/>
            <a:ext cx="2295807" cy="2638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2861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桌面环境</a:t>
            </a:r>
            <a:endParaRPr lang="zh-CN" altLang="en-US" dirty="0"/>
          </a:p>
        </p:txBody>
      </p:sp>
      <p:sp>
        <p:nvSpPr>
          <p:cNvPr id="3" name="内容占位符 2"/>
          <p:cNvSpPr>
            <a:spLocks noGrp="1"/>
          </p:cNvSpPr>
          <p:nvPr>
            <p:ph idx="1"/>
          </p:nvPr>
        </p:nvSpPr>
        <p:spPr/>
        <p:txBody>
          <a:bodyPr/>
          <a:lstStyle/>
          <a:p>
            <a:r>
              <a:rPr lang="en-US" altLang="zh-CN" dirty="0" smtClean="0"/>
              <a:t>GNOME</a:t>
            </a:r>
          </a:p>
          <a:p>
            <a:r>
              <a:rPr lang="en-US" altLang="zh-CN" dirty="0" smtClean="0"/>
              <a:t>Unity</a:t>
            </a:r>
          </a:p>
          <a:p>
            <a:r>
              <a:rPr lang="en-US" altLang="zh-CN" dirty="0" smtClean="0"/>
              <a:t>KDE</a:t>
            </a:r>
          </a:p>
          <a:p>
            <a:r>
              <a:rPr lang="en-US" altLang="zh-CN" dirty="0" smtClean="0"/>
              <a:t>XFCE</a:t>
            </a:r>
          </a:p>
          <a:p>
            <a:r>
              <a:rPr lang="en-US" altLang="zh-CN" dirty="0" smtClean="0"/>
              <a:t>LXDE</a:t>
            </a:r>
          </a:p>
          <a:p>
            <a:endParaRPr lang="en-US" altLang="zh-CN" dirty="0" smtClean="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240696"/>
            <a:ext cx="3989363" cy="2493352"/>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2651" y="240696"/>
            <a:ext cx="3953022" cy="2470639"/>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800" y="3921807"/>
            <a:ext cx="4004056" cy="2916435"/>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9231" y="3908432"/>
            <a:ext cx="3903795" cy="2929810"/>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5136" y="2316203"/>
            <a:ext cx="2969880" cy="2228904"/>
          </a:xfrm>
          <a:prstGeom prst="rect">
            <a:avLst/>
          </a:prstGeom>
        </p:spPr>
      </p:pic>
    </p:spTree>
    <p:extLst>
      <p:ext uri="{BB962C8B-B14F-4D97-AF65-F5344CB8AC3E}">
        <p14:creationId xmlns:p14="http://schemas.microsoft.com/office/powerpoint/2010/main" val="3810906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文件和目录</a:t>
            </a:r>
            <a:endParaRPr lang="zh-CN" altLang="en-US" dirty="0"/>
          </a:p>
        </p:txBody>
      </p:sp>
      <p:sp>
        <p:nvSpPr>
          <p:cNvPr id="3" name="内容占位符 2"/>
          <p:cNvSpPr>
            <a:spLocks noGrp="1"/>
          </p:cNvSpPr>
          <p:nvPr>
            <p:ph idx="1"/>
          </p:nvPr>
        </p:nvSpPr>
        <p:spPr>
          <a:xfrm>
            <a:off x="838200" y="1378634"/>
            <a:ext cx="10515600" cy="5261317"/>
          </a:xfrm>
        </p:spPr>
        <p:txBody>
          <a:bodyPr>
            <a:normAutofit fontScale="85000" lnSpcReduction="20000"/>
          </a:bodyPr>
          <a:lstStyle/>
          <a:p>
            <a:r>
              <a:rPr lang="zh-CN" altLang="en-US" dirty="0" smtClean="0"/>
              <a:t>文件系统是在物理存储设备中存放数据的索引格式，文件和目录是数据的逻辑划分形式。</a:t>
            </a:r>
            <a:r>
              <a:rPr lang="en-US" altLang="zh-CN" dirty="0" smtClean="0"/>
              <a:t>Linux</a:t>
            </a:r>
            <a:r>
              <a:rPr lang="zh-CN" altLang="en-US" dirty="0" smtClean="0"/>
              <a:t>系统的文件类型概括起来可分为</a:t>
            </a:r>
            <a:r>
              <a:rPr lang="en-US" altLang="zh-CN" dirty="0" smtClean="0"/>
              <a:t>5</a:t>
            </a:r>
            <a:r>
              <a:rPr lang="zh-CN" altLang="en-US" dirty="0" smtClean="0"/>
              <a:t>种：</a:t>
            </a:r>
            <a:r>
              <a:rPr lang="zh-CN" altLang="en-US" dirty="0" smtClean="0">
                <a:solidFill>
                  <a:srgbClr val="FF0000"/>
                </a:solidFill>
              </a:rPr>
              <a:t>普通文件、目录文件、链接文件、设备文件和管道文件。</a:t>
            </a:r>
          </a:p>
          <a:p>
            <a:r>
              <a:rPr lang="zh-CN" altLang="en-US" dirty="0" smtClean="0">
                <a:solidFill>
                  <a:srgbClr val="FF0000"/>
                </a:solidFill>
              </a:rPr>
              <a:t>普通文件</a:t>
            </a:r>
            <a:r>
              <a:rPr lang="zh-CN" altLang="en-US" dirty="0" smtClean="0"/>
              <a:t>就是平时所见的大多数文件，它的特点是不包含文件系统的结构信息。</a:t>
            </a:r>
          </a:p>
          <a:p>
            <a:r>
              <a:rPr lang="zh-CN" altLang="en-US" dirty="0" smtClean="0">
                <a:solidFill>
                  <a:srgbClr val="FF0000"/>
                </a:solidFill>
              </a:rPr>
              <a:t>目录文件</a:t>
            </a:r>
            <a:r>
              <a:rPr lang="zh-CN" altLang="en-US" dirty="0" smtClean="0"/>
              <a:t>是用于存放文件路径及相关信息的文件，是文件系统的基本节点。目录文件使文件系统呈现出树形结构。在</a:t>
            </a:r>
            <a:r>
              <a:rPr lang="en-US" altLang="zh-CN" dirty="0" smtClean="0"/>
              <a:t>Linux</a:t>
            </a:r>
            <a:r>
              <a:rPr lang="zh-CN" altLang="en-US" dirty="0" smtClean="0"/>
              <a:t>系统中，通常所说的目录就是指目录文件。</a:t>
            </a:r>
          </a:p>
          <a:p>
            <a:r>
              <a:rPr lang="zh-CN" altLang="en-US" dirty="0" smtClean="0">
                <a:solidFill>
                  <a:srgbClr val="FF0000"/>
                </a:solidFill>
              </a:rPr>
              <a:t>链接文件</a:t>
            </a:r>
            <a:r>
              <a:rPr lang="zh-CN" altLang="en-US" dirty="0" smtClean="0"/>
              <a:t>是指向另一个真实文件的链接，是一种特殊的文件结构。</a:t>
            </a:r>
          </a:p>
          <a:p>
            <a:r>
              <a:rPr lang="zh-CN" altLang="en-US" dirty="0" smtClean="0">
                <a:solidFill>
                  <a:srgbClr val="FF0000"/>
                </a:solidFill>
              </a:rPr>
              <a:t>设备文件</a:t>
            </a:r>
            <a:r>
              <a:rPr lang="zh-CN" altLang="en-US" dirty="0" smtClean="0"/>
              <a:t>是保存计算机设备信息和接口的文件，这是</a:t>
            </a:r>
            <a:r>
              <a:rPr lang="en-US" altLang="zh-CN" dirty="0" smtClean="0"/>
              <a:t>Linux</a:t>
            </a:r>
            <a:r>
              <a:rPr lang="zh-CN" altLang="en-US" dirty="0" smtClean="0"/>
              <a:t>操作系统的独特形式，计算机的所有设备都以文件的形式提供给应用程序使用。</a:t>
            </a:r>
          </a:p>
          <a:p>
            <a:r>
              <a:rPr lang="zh-CN" altLang="en-US" dirty="0" smtClean="0">
                <a:solidFill>
                  <a:srgbClr val="FF0000"/>
                </a:solidFill>
              </a:rPr>
              <a:t>管道文件</a:t>
            </a:r>
            <a:r>
              <a:rPr lang="zh-CN" altLang="en-US" dirty="0" smtClean="0"/>
              <a:t>是用于应用程序之间进行通信的文件。</a:t>
            </a:r>
          </a:p>
          <a:p>
            <a:endParaRPr lang="zh-CN" altLang="en-US" dirty="0"/>
          </a:p>
        </p:txBody>
      </p:sp>
    </p:spTree>
    <p:extLst>
      <p:ext uri="{BB962C8B-B14F-4D97-AF65-F5344CB8AC3E}">
        <p14:creationId xmlns:p14="http://schemas.microsoft.com/office/powerpoint/2010/main" val="1924880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130820"/>
          </a:xfrm>
        </p:spPr>
        <p:txBody>
          <a:bodyPr/>
          <a:lstStyle/>
          <a:p>
            <a:r>
              <a:rPr lang="zh-CN" altLang="en-US" dirty="0" smtClean="0"/>
              <a:t>文件系统</a:t>
            </a:r>
            <a:endParaRPr lang="zh-CN" altLang="en-US" dirty="0"/>
          </a:p>
        </p:txBody>
      </p:sp>
      <p:sp>
        <p:nvSpPr>
          <p:cNvPr id="3" name="内容占位符 2"/>
          <p:cNvSpPr>
            <a:spLocks noGrp="1"/>
          </p:cNvSpPr>
          <p:nvPr>
            <p:ph idx="1"/>
          </p:nvPr>
        </p:nvSpPr>
        <p:spPr>
          <a:xfrm>
            <a:off x="838200" y="1322363"/>
            <a:ext cx="10515600" cy="2064253"/>
          </a:xfrm>
        </p:spPr>
        <p:txBody>
          <a:bodyPr>
            <a:normAutofit fontScale="77500" lnSpcReduction="20000"/>
          </a:bodyPr>
          <a:lstStyle/>
          <a:p>
            <a:r>
              <a:rPr lang="zh-CN" altLang="en-US" dirty="0" smtClean="0"/>
              <a:t>文件系统是磁盘及其逻辑分区的目录结构，一个磁盘设备可包含一个或多个文件系统，但每个文件系统必须占据硬盘中单独的一个分区。按照</a:t>
            </a:r>
            <a:r>
              <a:rPr lang="en-US" altLang="zh-CN" dirty="0" smtClean="0"/>
              <a:t>Linux</a:t>
            </a:r>
            <a:r>
              <a:rPr lang="zh-CN" altLang="en-US" dirty="0" smtClean="0"/>
              <a:t>系统对分区的命名规则，</a:t>
            </a:r>
            <a:r>
              <a:rPr lang="en-US" altLang="zh-CN" dirty="0" smtClean="0"/>
              <a:t>ATA</a:t>
            </a:r>
            <a:r>
              <a:rPr lang="zh-CN" altLang="en-US" dirty="0" smtClean="0"/>
              <a:t>接口的硬盘以字母组合</a:t>
            </a:r>
            <a:r>
              <a:rPr lang="en-US" altLang="zh-CN" dirty="0" err="1" smtClean="0"/>
              <a:t>hd</a:t>
            </a:r>
            <a:r>
              <a:rPr lang="zh-CN" altLang="en-US" dirty="0" smtClean="0"/>
              <a:t>开始，</a:t>
            </a:r>
            <a:r>
              <a:rPr lang="en-US" altLang="zh-CN" dirty="0" smtClean="0"/>
              <a:t>SCSI</a:t>
            </a:r>
            <a:r>
              <a:rPr lang="zh-CN" altLang="en-US" dirty="0" smtClean="0"/>
              <a:t>和</a:t>
            </a:r>
            <a:r>
              <a:rPr lang="en-US" altLang="zh-CN" dirty="0" smtClean="0"/>
              <a:t>SATA</a:t>
            </a:r>
            <a:r>
              <a:rPr lang="zh-CN" altLang="en-US" dirty="0" smtClean="0"/>
              <a:t>接口硬盘以字母组合</a:t>
            </a:r>
            <a:r>
              <a:rPr lang="en-US" altLang="zh-CN" dirty="0" err="1" smtClean="0"/>
              <a:t>sd</a:t>
            </a:r>
            <a:r>
              <a:rPr lang="zh-CN" altLang="en-US" dirty="0" smtClean="0"/>
              <a:t>开始。第</a:t>
            </a:r>
            <a:r>
              <a:rPr lang="en-US" altLang="zh-CN" dirty="0" smtClean="0"/>
              <a:t>3</a:t>
            </a:r>
            <a:r>
              <a:rPr lang="zh-CN" altLang="en-US" dirty="0" smtClean="0"/>
              <a:t>个字母是硬盘的序号，</a:t>
            </a:r>
            <a:r>
              <a:rPr lang="en-US" altLang="zh-CN" dirty="0" smtClean="0"/>
              <a:t>a</a:t>
            </a:r>
            <a:r>
              <a:rPr lang="zh-CN" altLang="en-US" dirty="0" smtClean="0"/>
              <a:t>为第</a:t>
            </a:r>
            <a:r>
              <a:rPr lang="en-US" altLang="zh-CN" dirty="0" smtClean="0"/>
              <a:t>1</a:t>
            </a:r>
            <a:r>
              <a:rPr lang="zh-CN" altLang="en-US" dirty="0" smtClean="0"/>
              <a:t>块硬盘，</a:t>
            </a:r>
            <a:r>
              <a:rPr lang="en-US" altLang="zh-CN" dirty="0" smtClean="0"/>
              <a:t>b</a:t>
            </a:r>
            <a:r>
              <a:rPr lang="zh-CN" altLang="en-US" dirty="0" smtClean="0"/>
              <a:t>为第</a:t>
            </a:r>
            <a:r>
              <a:rPr lang="en-US" altLang="zh-CN" dirty="0" smtClean="0"/>
              <a:t>2</a:t>
            </a:r>
            <a:r>
              <a:rPr lang="zh-CN" altLang="en-US" dirty="0" smtClean="0"/>
              <a:t>块硬盘，依次类推。最后一位数字是分区的序号。</a:t>
            </a:r>
          </a:p>
          <a:p>
            <a:endParaRPr lang="zh-CN" altLang="en-US" dirty="0"/>
          </a:p>
        </p:txBody>
      </p:sp>
      <p:pic>
        <p:nvPicPr>
          <p:cNvPr id="4" name="Picture 2" descr="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1300" y="3386616"/>
            <a:ext cx="7069400" cy="312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6689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文件名及路径名</a:t>
            </a:r>
            <a:endParaRPr lang="zh-CN" altLang="en-US" dirty="0"/>
          </a:p>
        </p:txBody>
      </p:sp>
      <p:sp>
        <p:nvSpPr>
          <p:cNvPr id="3" name="内容占位符 2"/>
          <p:cNvSpPr>
            <a:spLocks noGrp="1"/>
          </p:cNvSpPr>
          <p:nvPr>
            <p:ph idx="1"/>
          </p:nvPr>
        </p:nvSpPr>
        <p:spPr>
          <a:xfrm>
            <a:off x="838200" y="1392702"/>
            <a:ext cx="10515600" cy="5190978"/>
          </a:xfrm>
        </p:spPr>
        <p:txBody>
          <a:bodyPr>
            <a:normAutofit fontScale="77500" lnSpcReduction="20000"/>
          </a:bodyPr>
          <a:lstStyle/>
          <a:p>
            <a:r>
              <a:rPr lang="en-US" altLang="zh-CN" dirty="0" smtClean="0"/>
              <a:t>Linux</a:t>
            </a:r>
            <a:r>
              <a:rPr lang="zh-CN" altLang="en-US" dirty="0" smtClean="0"/>
              <a:t>系统的文件名由字符和数字组成，其中字符可以是大小写英文字母或其他</a:t>
            </a:r>
            <a:r>
              <a:rPr lang="en-US" altLang="zh-CN" dirty="0" smtClean="0"/>
              <a:t>Unicode</a:t>
            </a:r>
            <a:r>
              <a:rPr lang="zh-CN" altLang="en-US" dirty="0" smtClean="0"/>
              <a:t>编码的文字和符号。但不能包括“*”、“</a:t>
            </a:r>
            <a:r>
              <a:rPr lang="en-US" altLang="zh-CN" dirty="0" smtClean="0"/>
              <a:t>?”</a:t>
            </a:r>
            <a:r>
              <a:rPr lang="zh-CN" altLang="en-US" dirty="0" smtClean="0"/>
              <a:t>和“</a:t>
            </a:r>
            <a:r>
              <a:rPr lang="en-US" altLang="zh-CN" dirty="0" smtClean="0"/>
              <a:t>[ ]”</a:t>
            </a:r>
            <a:r>
              <a:rPr lang="zh-CN" altLang="en-US" dirty="0" smtClean="0"/>
              <a:t>文件名通配符。</a:t>
            </a:r>
            <a:endParaRPr lang="en-US" altLang="zh-CN" dirty="0" smtClean="0"/>
          </a:p>
          <a:p>
            <a:r>
              <a:rPr lang="en-US" altLang="zh-CN" dirty="0" smtClean="0"/>
              <a:t>Linux</a:t>
            </a:r>
            <a:r>
              <a:rPr lang="zh-CN" altLang="en-US" dirty="0" smtClean="0"/>
              <a:t>系统的文件名也有类似其他操作系统的扩展名，在文件名最后一个“</a:t>
            </a:r>
            <a:r>
              <a:rPr lang="en-US" altLang="zh-CN" dirty="0" smtClean="0"/>
              <a:t>.”</a:t>
            </a:r>
            <a:r>
              <a:rPr lang="zh-CN" altLang="en-US" dirty="0" smtClean="0"/>
              <a:t>后的内容即是扩展名。例如，</a:t>
            </a:r>
            <a:r>
              <a:rPr lang="en-US" altLang="zh-CN" dirty="0" smtClean="0"/>
              <a:t>C</a:t>
            </a:r>
            <a:r>
              <a:rPr lang="zh-CN" altLang="en-US" dirty="0" smtClean="0"/>
              <a:t>语言源文件的扩展名是</a:t>
            </a:r>
            <a:r>
              <a:rPr lang="en-US" altLang="zh-CN" dirty="0" smtClean="0"/>
              <a:t>c</a:t>
            </a:r>
            <a:r>
              <a:rPr lang="zh-CN" altLang="en-US" dirty="0" smtClean="0"/>
              <a:t>，头文件的扩展名是</a:t>
            </a:r>
            <a:r>
              <a:rPr lang="en-US" altLang="zh-CN" dirty="0" smtClean="0"/>
              <a:t>h</a:t>
            </a:r>
            <a:r>
              <a:rPr lang="zh-CN" altLang="en-US" dirty="0" smtClean="0"/>
              <a:t>。</a:t>
            </a:r>
            <a:endParaRPr lang="en-US" altLang="zh-CN" dirty="0" smtClean="0"/>
          </a:p>
          <a:p>
            <a:pPr lvl="0"/>
            <a:r>
              <a:rPr lang="en-US" altLang="zh-CN" b="0" i="0" u="none" strike="noStrike" baseline="0" dirty="0" smtClean="0">
                <a:latin typeface="Times New Roman"/>
              </a:rPr>
              <a:t>Linux</a:t>
            </a:r>
            <a:r>
              <a:rPr lang="zh-CN" altLang="en-US" b="0" i="0" u="none" strike="noStrike" baseline="0" dirty="0" smtClean="0">
                <a:latin typeface="Times New Roman"/>
              </a:rPr>
              <a:t>文件系统采用带链接的树形目录结构，即只有一个根目录。根目录可含有下级子目录或文件；子目录中又可含有更下级的子目录或者文件。这样一层一层地延伸下去，构成一棵倒置的树，如图所示。</a:t>
            </a:r>
            <a:endParaRPr lang="en-US" altLang="zh-CN" b="0" i="0" u="none" strike="noStrike" baseline="0" dirty="0" smtClean="0">
              <a:latin typeface="Times New Roman"/>
            </a:endParaRPr>
          </a:p>
          <a:p>
            <a:r>
              <a:rPr lang="zh-CN" altLang="en-US" dirty="0" smtClean="0">
                <a:latin typeface="Times New Roman"/>
              </a:rPr>
              <a:t>路径名可分为</a:t>
            </a:r>
            <a:r>
              <a:rPr lang="zh-CN" altLang="en-US" dirty="0" smtClean="0">
                <a:solidFill>
                  <a:srgbClr val="FF0000"/>
                </a:solidFill>
                <a:latin typeface="Times New Roman"/>
              </a:rPr>
              <a:t>绝对路径</a:t>
            </a:r>
            <a:r>
              <a:rPr lang="zh-CN" altLang="en-US" dirty="0" smtClean="0">
                <a:latin typeface="Times New Roman"/>
              </a:rPr>
              <a:t>和</a:t>
            </a:r>
            <a:r>
              <a:rPr lang="zh-CN" altLang="en-US" dirty="0" smtClean="0">
                <a:solidFill>
                  <a:srgbClr val="FF0000"/>
                </a:solidFill>
                <a:latin typeface="Times New Roman"/>
              </a:rPr>
              <a:t>相对路径</a:t>
            </a:r>
            <a:r>
              <a:rPr lang="zh-CN" altLang="en-US" dirty="0" smtClean="0">
                <a:latin typeface="Times New Roman"/>
              </a:rPr>
              <a:t>，绝对路径是从根目录到目标目录或文件所经过的所有节点名称，如文件</a:t>
            </a:r>
            <a:r>
              <a:rPr lang="en-US" altLang="zh-CN" dirty="0" smtClean="0">
                <a:latin typeface="Times New Roman"/>
              </a:rPr>
              <a:t>m1.c</a:t>
            </a:r>
            <a:r>
              <a:rPr lang="zh-CN" altLang="en-US" dirty="0" smtClean="0">
                <a:latin typeface="Times New Roman"/>
              </a:rPr>
              <a:t>的绝对路径是“</a:t>
            </a:r>
            <a:r>
              <a:rPr lang="en-US" altLang="zh-CN" dirty="0" smtClean="0">
                <a:solidFill>
                  <a:srgbClr val="FF0000"/>
                </a:solidFill>
                <a:latin typeface="Times New Roman"/>
              </a:rPr>
              <a:t>/home/</a:t>
            </a:r>
            <a:r>
              <a:rPr lang="en-US" altLang="zh-CN" dirty="0" err="1" smtClean="0">
                <a:solidFill>
                  <a:srgbClr val="FF0000"/>
                </a:solidFill>
                <a:latin typeface="Times New Roman"/>
              </a:rPr>
              <a:t>shizhe</a:t>
            </a:r>
            <a:r>
              <a:rPr lang="en-US" altLang="zh-CN" dirty="0" smtClean="0">
                <a:solidFill>
                  <a:srgbClr val="FF0000"/>
                </a:solidFill>
                <a:latin typeface="Times New Roman"/>
              </a:rPr>
              <a:t>/workspace/m1.c</a:t>
            </a:r>
            <a:r>
              <a:rPr lang="zh-CN" altLang="en-US" dirty="0" smtClean="0">
                <a:latin typeface="Times New Roman"/>
              </a:rPr>
              <a:t>”。相对路径是某一个目录到目标目录或文件所经过的所有节点名称，如文件</a:t>
            </a:r>
            <a:r>
              <a:rPr lang="en-US" altLang="zh-CN" dirty="0" smtClean="0">
                <a:latin typeface="Times New Roman"/>
              </a:rPr>
              <a:t>m1.c</a:t>
            </a:r>
            <a:r>
              <a:rPr lang="zh-CN" altLang="en-US" dirty="0" smtClean="0">
                <a:latin typeface="Times New Roman"/>
              </a:rPr>
              <a:t>的相对于“</a:t>
            </a:r>
            <a:r>
              <a:rPr lang="en-US" altLang="zh-CN" dirty="0" smtClean="0">
                <a:latin typeface="Times New Roman"/>
              </a:rPr>
              <a:t>/home</a:t>
            </a:r>
            <a:r>
              <a:rPr lang="zh-CN" altLang="en-US" dirty="0" smtClean="0">
                <a:latin typeface="Times New Roman"/>
              </a:rPr>
              <a:t>”的相对路径是“</a:t>
            </a:r>
            <a:r>
              <a:rPr lang="en-US" altLang="zh-CN" dirty="0" err="1" smtClean="0">
                <a:solidFill>
                  <a:srgbClr val="FF0000"/>
                </a:solidFill>
                <a:latin typeface="Times New Roman"/>
              </a:rPr>
              <a:t>shizhe</a:t>
            </a:r>
            <a:r>
              <a:rPr lang="en-US" altLang="zh-CN" dirty="0" smtClean="0">
                <a:solidFill>
                  <a:srgbClr val="FF0000"/>
                </a:solidFill>
                <a:latin typeface="Times New Roman"/>
              </a:rPr>
              <a:t>/workspace/m1.c</a:t>
            </a:r>
            <a:r>
              <a:rPr lang="zh-CN" altLang="en-US" dirty="0" smtClean="0">
                <a:latin typeface="Times New Roman"/>
              </a:rPr>
              <a:t>”。</a:t>
            </a:r>
          </a:p>
          <a:p>
            <a:pPr lvl="0"/>
            <a:endParaRPr lang="zh-CN" altLang="en-US" b="0" i="0" u="none" strike="noStrike" baseline="0" dirty="0" smtClean="0">
              <a:latin typeface="Times New Roman"/>
            </a:endParaRPr>
          </a:p>
          <a:p>
            <a:endParaRPr lang="zh-CN" altLang="en-US" dirty="0" smtClean="0"/>
          </a:p>
          <a:p>
            <a:endParaRPr lang="zh-CN" altLang="en-US" dirty="0"/>
          </a:p>
        </p:txBody>
      </p:sp>
    </p:spTree>
    <p:extLst>
      <p:ext uri="{BB962C8B-B14F-4D97-AF65-F5344CB8AC3E}">
        <p14:creationId xmlns:p14="http://schemas.microsoft.com/office/powerpoint/2010/main" val="3726745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工作目录</a:t>
            </a:r>
            <a:endParaRPr lang="zh-CN" altLang="en-US" dirty="0"/>
          </a:p>
        </p:txBody>
      </p:sp>
      <p:sp>
        <p:nvSpPr>
          <p:cNvPr id="3" name="内容占位符 2"/>
          <p:cNvSpPr>
            <a:spLocks noGrp="1"/>
          </p:cNvSpPr>
          <p:nvPr>
            <p:ph idx="1"/>
          </p:nvPr>
        </p:nvSpPr>
        <p:spPr/>
        <p:txBody>
          <a:bodyPr>
            <a:normAutofit fontScale="92500" lnSpcReduction="10000"/>
          </a:bodyPr>
          <a:lstStyle/>
          <a:p>
            <a:pPr lvl="0"/>
            <a:r>
              <a:rPr lang="zh-CN" altLang="en-US" b="0" i="0" u="none" strike="noStrike" baseline="0" dirty="0" smtClean="0">
                <a:latin typeface="Times New Roman"/>
              </a:rPr>
              <a:t>控制台或终端在某个时刻总是对应着一个目录，该目录即工作目录。在控制台或终端执行命令或程序，对某个没有指定路径的文件或子目录进行操作，控制台或终端会自动在文件或子目录前加入当前工作目录的路径。例如，执行</a:t>
            </a:r>
            <a:r>
              <a:rPr lang="en-US" altLang="zh-CN" b="0" i="0" u="none" strike="noStrike" baseline="0" dirty="0" smtClean="0">
                <a:latin typeface="Times New Roman"/>
              </a:rPr>
              <a:t>ls</a:t>
            </a:r>
            <a:r>
              <a:rPr lang="zh-CN" altLang="en-US" b="0" i="0" u="none" strike="noStrike" baseline="0" dirty="0" smtClean="0">
                <a:latin typeface="Times New Roman"/>
              </a:rPr>
              <a:t>命令会将工作目录下的文件和子目录名称显示出来，除非在</a:t>
            </a:r>
            <a:r>
              <a:rPr lang="en-US" altLang="zh-CN" b="0" i="0" u="none" strike="noStrike" baseline="0" dirty="0" smtClean="0">
                <a:latin typeface="Times New Roman"/>
              </a:rPr>
              <a:t>ls</a:t>
            </a:r>
            <a:r>
              <a:rPr lang="zh-CN" altLang="en-US" b="0" i="0" u="none" strike="noStrike" baseline="0" dirty="0" smtClean="0">
                <a:latin typeface="Times New Roman"/>
              </a:rPr>
              <a:t>命令后输入某一具体的路径名称。</a:t>
            </a:r>
            <a:endParaRPr lang="en-US" altLang="zh-CN" b="0" i="0" u="none" strike="noStrike" baseline="0" dirty="0" smtClean="0">
              <a:latin typeface="Times New Roman"/>
            </a:endParaRPr>
          </a:p>
          <a:p>
            <a:pPr lvl="0"/>
            <a:r>
              <a:rPr lang="zh-CN" altLang="en-US" b="0" i="0" u="none" strike="noStrike" baseline="0" dirty="0" smtClean="0">
                <a:latin typeface="Times New Roman"/>
              </a:rPr>
              <a:t>工作目录可用“</a:t>
            </a:r>
            <a:r>
              <a:rPr lang="en-US" altLang="zh-CN" b="0" i="0" u="none" strike="noStrike" baseline="0" dirty="0" smtClean="0">
                <a:latin typeface="Times New Roman"/>
              </a:rPr>
              <a:t>.</a:t>
            </a:r>
            <a:r>
              <a:rPr lang="zh-CN" altLang="en-US" b="0" i="0" u="none" strike="noStrike" baseline="0" dirty="0" smtClean="0">
                <a:latin typeface="Times New Roman"/>
              </a:rPr>
              <a:t>”表示，工作目录上层父目录用“</a:t>
            </a:r>
            <a:r>
              <a:rPr lang="en-US" altLang="zh-CN" b="0" i="0" u="none" strike="noStrike" baseline="0" dirty="0" smtClean="0">
                <a:latin typeface="Times New Roman"/>
              </a:rPr>
              <a:t>..</a:t>
            </a:r>
            <a:r>
              <a:rPr lang="zh-CN" altLang="en-US" b="0" i="0" u="none" strike="noStrike" baseline="0" dirty="0" smtClean="0">
                <a:latin typeface="Times New Roman"/>
              </a:rPr>
              <a:t>”表示。</a:t>
            </a:r>
            <a:r>
              <a:rPr lang="en-US" altLang="zh-CN" b="0" i="0" u="none" strike="noStrike" baseline="0" dirty="0" smtClean="0">
                <a:latin typeface="Times New Roman"/>
              </a:rPr>
              <a:t>cd</a:t>
            </a:r>
            <a:r>
              <a:rPr lang="zh-CN" altLang="en-US" b="0" i="0" u="none" strike="noStrike" baseline="0" dirty="0" smtClean="0">
                <a:latin typeface="Times New Roman"/>
              </a:rPr>
              <a:t>命令用于改变工作目录。</a:t>
            </a:r>
            <a:endParaRPr lang="en-US" altLang="zh-CN" b="0" i="0" u="none" strike="noStrike" baseline="0" dirty="0" smtClean="0">
              <a:latin typeface="Times New Roman"/>
            </a:endParaRPr>
          </a:p>
          <a:p>
            <a:r>
              <a:rPr lang="zh-CN" altLang="en-US" b="0" i="0" u="none" strike="noStrike" baseline="0" dirty="0" smtClean="0">
                <a:latin typeface="Times New Roman"/>
              </a:rPr>
              <a:t>控制台或终端会将“</a:t>
            </a:r>
            <a:r>
              <a:rPr lang="en-US" altLang="zh-CN" b="0" i="0" u="none" strike="noStrike" baseline="0" dirty="0" smtClean="0">
                <a:latin typeface="Times New Roman"/>
              </a:rPr>
              <a:t>~</a:t>
            </a:r>
            <a:r>
              <a:rPr lang="zh-CN" altLang="en-US" b="0" i="0" u="none" strike="noStrike" baseline="0" dirty="0" smtClean="0">
                <a:latin typeface="Times New Roman"/>
              </a:rPr>
              <a:t>”符号替换成用户起始目录的绝对路径，该符号也被认为是环境变量，</a:t>
            </a:r>
            <a:r>
              <a:rPr lang="en-US" altLang="zh-CN" b="0" i="0" u="none" strike="noStrike" baseline="0" dirty="0" smtClean="0">
                <a:latin typeface="Times New Roman"/>
              </a:rPr>
              <a:t>Linux</a:t>
            </a:r>
            <a:r>
              <a:rPr lang="zh-CN" altLang="en-US" b="0" i="0" u="none" strike="noStrike" baseline="0" dirty="0" smtClean="0">
                <a:latin typeface="Times New Roman"/>
              </a:rPr>
              <a:t>系统会自动维护“</a:t>
            </a:r>
            <a:r>
              <a:rPr lang="en-US" altLang="zh-CN" b="0" i="0" u="none" strike="noStrike" baseline="0" dirty="0" smtClean="0">
                <a:latin typeface="Times New Roman"/>
              </a:rPr>
              <a:t>~</a:t>
            </a:r>
            <a:r>
              <a:rPr lang="zh-CN" altLang="en-US" b="0" i="0" u="none" strike="noStrike" baseline="0" dirty="0" smtClean="0">
                <a:latin typeface="Times New Roman"/>
              </a:rPr>
              <a:t>”符号的值。</a:t>
            </a:r>
            <a:endParaRPr lang="zh-CN" altLang="en-US" b="0" i="0" u="none" strike="noStrike" baseline="0" dirty="0" smtClean="0">
              <a:solidFill>
                <a:srgbClr val="FF0000"/>
              </a:solidFill>
              <a:latin typeface="Times New Roman"/>
            </a:endParaRPr>
          </a:p>
          <a:p>
            <a:pPr lvl="0"/>
            <a:endParaRPr lang="zh-CN" altLang="en-US" b="0" i="0" u="none" strike="noStrike" baseline="0" dirty="0" smtClean="0">
              <a:latin typeface="Times New Roman"/>
            </a:endParaRPr>
          </a:p>
          <a:p>
            <a:endParaRPr lang="zh-CN" altLang="en-US" dirty="0"/>
          </a:p>
        </p:txBody>
      </p:sp>
    </p:spTree>
    <p:extLst>
      <p:ext uri="{BB962C8B-B14F-4D97-AF65-F5344CB8AC3E}">
        <p14:creationId xmlns:p14="http://schemas.microsoft.com/office/powerpoint/2010/main" val="2642595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文件描述符</a:t>
            </a:r>
            <a:endParaRPr lang="zh-CN" altLang="en-US" dirty="0"/>
          </a:p>
        </p:txBody>
      </p:sp>
      <p:sp>
        <p:nvSpPr>
          <p:cNvPr id="3" name="内容占位符 2"/>
          <p:cNvSpPr>
            <a:spLocks noGrp="1"/>
          </p:cNvSpPr>
          <p:nvPr>
            <p:ph idx="1"/>
          </p:nvPr>
        </p:nvSpPr>
        <p:spPr/>
        <p:txBody>
          <a:bodyPr/>
          <a:lstStyle/>
          <a:p>
            <a:pPr lvl="0"/>
            <a:r>
              <a:rPr lang="zh-CN" altLang="en-US" b="0" i="0" u="none" strike="noStrike" baseline="0" dirty="0" smtClean="0">
                <a:latin typeface="Times New Roman"/>
              </a:rPr>
              <a:t>文件描述符是一个小的非负整数，内核用以标识某一特定进程正在存访的文件。当内核打开一个现存文件或创建一个新文件时，它会返回一个文件描述符给该进程，这样该进程就能通过内核访问目标文件。</a:t>
            </a:r>
          </a:p>
          <a:p>
            <a:r>
              <a:rPr lang="zh-CN" altLang="en-US" b="0" i="0" u="none" strike="noStrike" baseline="0" dirty="0" smtClean="0">
                <a:latin typeface="Times New Roman"/>
              </a:rPr>
              <a:t>按惯例，每当运行一个新程序时，所有的</a:t>
            </a:r>
            <a:r>
              <a:rPr lang="en-US" altLang="zh-CN" b="0" i="0" u="none" strike="noStrike" baseline="0" dirty="0" smtClean="0">
                <a:latin typeface="Times New Roman"/>
              </a:rPr>
              <a:t>shell</a:t>
            </a:r>
            <a:r>
              <a:rPr lang="zh-CN" altLang="en-US" b="0" i="0" u="none" strike="noStrike" baseline="0" dirty="0" smtClean="0">
                <a:latin typeface="Times New Roman"/>
              </a:rPr>
              <a:t>都为其打开</a:t>
            </a:r>
            <a:r>
              <a:rPr lang="en-US" altLang="zh-CN" b="0" i="0" u="none" strike="noStrike" baseline="0" dirty="0" smtClean="0">
                <a:latin typeface="Times New Roman"/>
              </a:rPr>
              <a:t>3</a:t>
            </a:r>
            <a:r>
              <a:rPr lang="zh-CN" altLang="en-US" b="0" i="0" u="none" strike="noStrike" baseline="0" dirty="0" smtClean="0">
                <a:latin typeface="Times New Roman"/>
              </a:rPr>
              <a:t>个文件描述符：</a:t>
            </a:r>
            <a:r>
              <a:rPr lang="zh-CN" altLang="en-US" b="0" i="0" u="none" strike="noStrike" baseline="0" dirty="0" smtClean="0">
                <a:solidFill>
                  <a:srgbClr val="FF0000"/>
                </a:solidFill>
                <a:latin typeface="Times New Roman"/>
              </a:rPr>
              <a:t>标准输入</a:t>
            </a:r>
            <a:r>
              <a:rPr lang="en-US" altLang="zh-CN" b="0" i="0" u="none" strike="noStrike" baseline="0" dirty="0" smtClean="0">
                <a:solidFill>
                  <a:srgbClr val="FF0000"/>
                </a:solidFill>
                <a:latin typeface="Times New Roman"/>
              </a:rPr>
              <a:t>(0)</a:t>
            </a:r>
            <a:r>
              <a:rPr lang="zh-CN" altLang="en-US" b="0" i="0" u="none" strike="noStrike" baseline="0" dirty="0" smtClean="0">
                <a:latin typeface="Times New Roman"/>
              </a:rPr>
              <a:t>、</a:t>
            </a:r>
            <a:r>
              <a:rPr lang="zh-CN" altLang="en-US" b="0" i="0" u="none" strike="noStrike" baseline="0" dirty="0" smtClean="0">
                <a:solidFill>
                  <a:srgbClr val="FF0000"/>
                </a:solidFill>
                <a:latin typeface="Times New Roman"/>
              </a:rPr>
              <a:t>标准输出</a:t>
            </a:r>
            <a:r>
              <a:rPr lang="en-US" altLang="zh-CN" b="0" i="0" u="none" strike="noStrike" baseline="0" dirty="0" smtClean="0">
                <a:solidFill>
                  <a:srgbClr val="FF0000"/>
                </a:solidFill>
                <a:latin typeface="Times New Roman"/>
              </a:rPr>
              <a:t>(1)</a:t>
            </a:r>
            <a:r>
              <a:rPr lang="zh-CN" altLang="en-US" b="0" i="0" u="none" strike="noStrike" baseline="0" dirty="0" smtClean="0">
                <a:latin typeface="Times New Roman"/>
              </a:rPr>
              <a:t>以及</a:t>
            </a:r>
            <a:r>
              <a:rPr lang="zh-CN" altLang="en-US" b="0" i="0" u="none" strike="noStrike" baseline="0" dirty="0" smtClean="0">
                <a:solidFill>
                  <a:srgbClr val="FF0000"/>
                </a:solidFill>
                <a:latin typeface="Times New Roman"/>
              </a:rPr>
              <a:t>标准错误</a:t>
            </a:r>
            <a:r>
              <a:rPr lang="en-US" altLang="zh-CN" b="0" i="0" u="none" strike="noStrike" baseline="0" dirty="0" smtClean="0">
                <a:solidFill>
                  <a:srgbClr val="FF0000"/>
                </a:solidFill>
                <a:latin typeface="Times New Roman"/>
              </a:rPr>
              <a:t>(2)</a:t>
            </a:r>
            <a:r>
              <a:rPr lang="zh-CN" altLang="en-US" b="0" i="0" u="none" strike="noStrike" baseline="0" dirty="0" smtClean="0">
                <a:latin typeface="Times New Roman"/>
              </a:rPr>
              <a:t>。如果像简单命令</a:t>
            </a:r>
            <a:r>
              <a:rPr lang="en-US" altLang="zh-CN" b="0" i="0" u="none" strike="noStrike" baseline="0" dirty="0" smtClean="0">
                <a:latin typeface="Times New Roman"/>
              </a:rPr>
              <a:t>ls</a:t>
            </a:r>
            <a:r>
              <a:rPr lang="zh-CN" altLang="en-US" b="0" i="0" u="none" strike="noStrike" baseline="0" dirty="0" smtClean="0">
                <a:latin typeface="Times New Roman"/>
              </a:rPr>
              <a:t>那样没有做什么特殊处理，则这</a:t>
            </a:r>
            <a:r>
              <a:rPr lang="en-US" altLang="zh-CN" b="0" i="0" u="none" strike="noStrike" baseline="0" dirty="0" smtClean="0">
                <a:latin typeface="Times New Roman"/>
              </a:rPr>
              <a:t>3</a:t>
            </a:r>
            <a:r>
              <a:rPr lang="zh-CN" altLang="en-US" b="0" i="0" u="none" strike="noStrike" baseline="0" dirty="0" smtClean="0">
                <a:latin typeface="Times New Roman"/>
              </a:rPr>
              <a:t>个描述符都连向终端。</a:t>
            </a:r>
            <a:endParaRPr lang="zh-CN" altLang="en-US" dirty="0"/>
          </a:p>
        </p:txBody>
      </p:sp>
    </p:spTree>
    <p:extLst>
      <p:ext uri="{BB962C8B-B14F-4D97-AF65-F5344CB8AC3E}">
        <p14:creationId xmlns:p14="http://schemas.microsoft.com/office/powerpoint/2010/main" val="3522205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黑洞</a:t>
            </a:r>
            <a:endParaRPr lang="zh-CN" altLang="en-US" dirty="0"/>
          </a:p>
        </p:txBody>
      </p:sp>
      <p:sp>
        <p:nvSpPr>
          <p:cNvPr id="3" name="内容占位符 2"/>
          <p:cNvSpPr>
            <a:spLocks noGrp="1"/>
          </p:cNvSpPr>
          <p:nvPr>
            <p:ph idx="1"/>
          </p:nvPr>
        </p:nvSpPr>
        <p:spPr>
          <a:xfrm>
            <a:off x="829811" y="1422953"/>
            <a:ext cx="6997505" cy="4351338"/>
          </a:xfrm>
        </p:spPr>
        <p:txBody>
          <a:bodyPr/>
          <a:lstStyle/>
          <a:p>
            <a:r>
              <a:rPr lang="en-US" altLang="zh-CN" sz="2800" dirty="0" smtClean="0"/>
              <a:t>/dev/null </a:t>
            </a:r>
          </a:p>
          <a:p>
            <a:pPr marL="0" indent="0">
              <a:buNone/>
            </a:pPr>
            <a:r>
              <a:rPr lang="zh-CN" altLang="en-US" sz="2800" dirty="0" smtClean="0"/>
              <a:t>是一个虚设的设备，俗称“</a:t>
            </a:r>
            <a:r>
              <a:rPr lang="en-US" altLang="zh-CN" sz="2800" dirty="0" smtClean="0"/>
              <a:t>Linux</a:t>
            </a:r>
            <a:r>
              <a:rPr lang="zh-CN" altLang="en-US" sz="2800" dirty="0" smtClean="0"/>
              <a:t>黑洞”</a:t>
            </a:r>
            <a:r>
              <a:rPr lang="en-US" altLang="zh-CN" sz="2800" dirty="0" smtClean="0"/>
              <a:t>,</a:t>
            </a:r>
            <a:r>
              <a:rPr lang="zh-CN" altLang="en-US" sz="2800" dirty="0" smtClean="0"/>
              <a:t>任何对</a:t>
            </a:r>
            <a:r>
              <a:rPr lang="en-US" altLang="zh-CN" sz="2800" dirty="0" smtClean="0"/>
              <a:t>/dev/null</a:t>
            </a:r>
            <a:r>
              <a:rPr lang="zh-CN" altLang="en-US" sz="2800" dirty="0" smtClean="0"/>
              <a:t>的写入都会成功，但数据会消失得无影无踪，没有任何反馈。所以经常把不想在屏幕显示的信息全部送到</a:t>
            </a:r>
            <a:r>
              <a:rPr lang="en-US" altLang="zh-CN" sz="2800" dirty="0" smtClean="0"/>
              <a:t>/dev/null</a:t>
            </a:r>
            <a:r>
              <a:rPr lang="zh-CN" altLang="en-US" sz="2800" dirty="0" smtClean="0"/>
              <a:t>中，在</a:t>
            </a:r>
            <a:r>
              <a:rPr lang="en-US" altLang="zh-CN" sz="2800" dirty="0" smtClean="0"/>
              <a:t>shell</a:t>
            </a:r>
            <a:r>
              <a:rPr lang="zh-CN" altLang="en-US" sz="2800" dirty="0" smtClean="0"/>
              <a:t>脚本中用得比较多。</a:t>
            </a:r>
          </a:p>
          <a:p>
            <a:pPr marL="0" indent="0">
              <a:buNone/>
            </a:pPr>
            <a:r>
              <a:rPr lang="zh-CN" altLang="en-US" sz="2800" dirty="0" smtClean="0"/>
              <a:t>如：</a:t>
            </a:r>
            <a:r>
              <a:rPr lang="en-US" altLang="zh-CN" sz="2800" dirty="0" smtClean="0"/>
              <a:t>ls  –l &gt; /dev/null</a:t>
            </a:r>
          </a:p>
          <a:p>
            <a:r>
              <a:rPr lang="zh-CN" altLang="en-US" sz="2800" dirty="0" smtClean="0"/>
              <a:t>还可以用来清空文件的内容：</a:t>
            </a:r>
            <a:r>
              <a:rPr lang="en-US" altLang="zh-CN" sz="2800" dirty="0" smtClean="0"/>
              <a:t>cat /dev/null &gt; </a:t>
            </a:r>
            <a:r>
              <a:rPr lang="en-US" altLang="zh-CN" sz="2800" dirty="0" err="1" smtClean="0"/>
              <a:t>FileName</a:t>
            </a:r>
            <a:endParaRPr lang="en-US" altLang="zh-CN" sz="2800" dirty="0" smtClean="0"/>
          </a:p>
          <a:p>
            <a:endParaRPr lang="zh-CN" altLang="en-US" sz="2800" dirty="0"/>
          </a:p>
        </p:txBody>
      </p:sp>
      <p:pic>
        <p:nvPicPr>
          <p:cNvPr id="4" name="Picture 4" descr="黑洞"/>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053" y="2084925"/>
            <a:ext cx="3887787"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021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4)">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用户管理</a:t>
            </a:r>
            <a:endParaRPr lang="zh-CN" altLang="en-US" dirty="0"/>
          </a:p>
        </p:txBody>
      </p:sp>
      <p:sp>
        <p:nvSpPr>
          <p:cNvPr id="3" name="内容占位符 2"/>
          <p:cNvSpPr>
            <a:spLocks noGrp="1"/>
          </p:cNvSpPr>
          <p:nvPr>
            <p:ph idx="1"/>
          </p:nvPr>
        </p:nvSpPr>
        <p:spPr>
          <a:xfrm>
            <a:off x="838200" y="1113153"/>
            <a:ext cx="10515600" cy="5451231"/>
          </a:xfrm>
        </p:spPr>
        <p:txBody>
          <a:bodyPr>
            <a:noAutofit/>
          </a:bodyPr>
          <a:lstStyle/>
          <a:p>
            <a:pPr>
              <a:lnSpc>
                <a:spcPct val="120000"/>
              </a:lnSpc>
              <a:defRPr/>
            </a:pPr>
            <a:r>
              <a:rPr lang="zh-CN" altLang="en-US" sz="1800" dirty="0">
                <a:solidFill>
                  <a:schemeClr val="hlink"/>
                </a:solidFill>
                <a:latin typeface="宋体" pitchFamily="2" charset="-122"/>
              </a:rPr>
              <a:t>新建用户</a:t>
            </a:r>
            <a:r>
              <a:rPr lang="en-US" altLang="zh-CN" sz="1800" dirty="0">
                <a:latin typeface="宋体" pitchFamily="2" charset="-122"/>
              </a:rPr>
              <a:t>(</a:t>
            </a:r>
            <a:r>
              <a:rPr lang="en-US" altLang="zh-CN" sz="1800" dirty="0">
                <a:solidFill>
                  <a:srgbClr val="FF3300"/>
                </a:solidFill>
                <a:latin typeface="Arial Unicode MS" pitchFamily="34" charset="-122"/>
                <a:ea typeface="Arial Unicode MS" pitchFamily="34" charset="-122"/>
                <a:cs typeface="Arial Unicode MS" pitchFamily="34" charset="-122"/>
              </a:rPr>
              <a:t>user add</a:t>
            </a:r>
            <a:r>
              <a:rPr lang="en-US" altLang="zh-CN" sz="1800" dirty="0">
                <a:latin typeface="宋体" pitchFamily="2" charset="-122"/>
              </a:rPr>
              <a:t>)</a:t>
            </a:r>
          </a:p>
          <a:p>
            <a:pPr>
              <a:lnSpc>
                <a:spcPct val="120000"/>
              </a:lnSpc>
              <a:buNone/>
              <a:defRPr/>
            </a:pPr>
            <a:r>
              <a:rPr lang="en-US" altLang="zh-CN" sz="1800" dirty="0">
                <a:latin typeface="宋体" pitchFamily="2" charset="-122"/>
              </a:rPr>
              <a:t>   </a:t>
            </a:r>
            <a:r>
              <a:rPr lang="en-US" altLang="zh-CN" sz="1800" dirty="0" err="1">
                <a:solidFill>
                  <a:schemeClr val="hlink"/>
                </a:solidFill>
                <a:latin typeface="Arial Unicode MS" pitchFamily="34" charset="-122"/>
                <a:ea typeface="Arial Unicode MS" pitchFamily="34" charset="-122"/>
                <a:cs typeface="Arial Unicode MS" pitchFamily="34" charset="-122"/>
              </a:rPr>
              <a:t>useradd</a:t>
            </a:r>
            <a:r>
              <a:rPr lang="en-US" altLang="zh-CN" sz="1800" dirty="0">
                <a:latin typeface="Arial Unicode MS" pitchFamily="34" charset="-122"/>
                <a:ea typeface="Arial Unicode MS" pitchFamily="34" charset="-122"/>
                <a:cs typeface="Arial Unicode MS" pitchFamily="34" charset="-122"/>
              </a:rPr>
              <a:t> </a:t>
            </a:r>
            <a:r>
              <a:rPr lang="en-US" altLang="zh-CN" sz="1800" dirty="0" err="1">
                <a:latin typeface="Arial Unicode MS" pitchFamily="34" charset="-122"/>
                <a:ea typeface="Arial Unicode MS" pitchFamily="34" charset="-122"/>
                <a:cs typeface="Arial Unicode MS" pitchFamily="34" charset="-122"/>
              </a:rPr>
              <a:t>UserName</a:t>
            </a:r>
            <a:endParaRPr lang="en-US" altLang="zh-CN" sz="1800" dirty="0">
              <a:latin typeface="Arial Unicode MS" pitchFamily="34" charset="-122"/>
              <a:ea typeface="Arial Unicode MS" pitchFamily="34" charset="-122"/>
              <a:cs typeface="Arial Unicode MS" pitchFamily="34" charset="-122"/>
            </a:endParaRPr>
          </a:p>
          <a:p>
            <a:pPr>
              <a:lnSpc>
                <a:spcPct val="120000"/>
              </a:lnSpc>
              <a:buNone/>
              <a:defRPr/>
            </a:pP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宋体" pitchFamily="2" charset="-122"/>
              </a:rPr>
              <a:t>新建用户后，会在</a:t>
            </a:r>
            <a:r>
              <a:rPr lang="en-US" altLang="zh-CN" sz="1800" dirty="0">
                <a:latin typeface="宋体" pitchFamily="2" charset="-122"/>
              </a:rPr>
              <a:t>/home</a:t>
            </a:r>
            <a:r>
              <a:rPr lang="zh-CN" altLang="en-US" sz="1800" dirty="0">
                <a:latin typeface="宋体" pitchFamily="2" charset="-122"/>
              </a:rPr>
              <a:t>目录下建立一个以</a:t>
            </a:r>
            <a:r>
              <a:rPr lang="en-US" altLang="zh-CN" sz="1800" dirty="0" err="1">
                <a:latin typeface="宋体" pitchFamily="2" charset="-122"/>
              </a:rPr>
              <a:t>UserName</a:t>
            </a:r>
            <a:r>
              <a:rPr lang="zh-CN" altLang="en-US" sz="1800" dirty="0">
                <a:latin typeface="宋体" pitchFamily="2" charset="-122"/>
              </a:rPr>
              <a:t>命名的文件夹，用户每次登录时自动定位到该文件夹下</a:t>
            </a:r>
            <a:r>
              <a:rPr lang="zh-CN" altLang="en-US" sz="1800" dirty="0">
                <a:latin typeface="Arial Unicode MS" pitchFamily="34" charset="-122"/>
                <a:ea typeface="Arial Unicode MS" pitchFamily="34" charset="-122"/>
                <a:cs typeface="Arial Unicode MS" pitchFamily="34" charset="-122"/>
              </a:rPr>
              <a:t>。</a:t>
            </a:r>
          </a:p>
          <a:p>
            <a:pPr>
              <a:lnSpc>
                <a:spcPct val="120000"/>
              </a:lnSpc>
              <a:defRPr/>
            </a:pPr>
            <a:r>
              <a:rPr lang="zh-CN" altLang="en-US" sz="1800" dirty="0">
                <a:solidFill>
                  <a:schemeClr val="hlink"/>
                </a:solidFill>
                <a:latin typeface="宋体" pitchFamily="2" charset="-122"/>
              </a:rPr>
              <a:t>为用户添加密码</a:t>
            </a:r>
            <a:r>
              <a:rPr lang="en-US" altLang="zh-CN" sz="1800" dirty="0">
                <a:latin typeface="宋体" pitchFamily="2" charset="-122"/>
              </a:rPr>
              <a:t>(</a:t>
            </a:r>
            <a:r>
              <a:rPr lang="en-US" altLang="zh-CN" sz="1800" dirty="0">
                <a:solidFill>
                  <a:srgbClr val="FF3300"/>
                </a:solidFill>
                <a:latin typeface="Arial Unicode MS" pitchFamily="34" charset="-122"/>
                <a:ea typeface="Arial Unicode MS" pitchFamily="34" charset="-122"/>
                <a:cs typeface="Arial Unicode MS" pitchFamily="34" charset="-122"/>
              </a:rPr>
              <a:t>passw</a:t>
            </a:r>
            <a:r>
              <a:rPr lang="en-US" altLang="zh-CN" sz="1800" dirty="0">
                <a:latin typeface="Arial Unicode MS" pitchFamily="34" charset="-122"/>
                <a:ea typeface="Arial Unicode MS" pitchFamily="34" charset="-122"/>
                <a:cs typeface="Arial Unicode MS" pitchFamily="34" charset="-122"/>
              </a:rPr>
              <a:t>or</a:t>
            </a:r>
            <a:r>
              <a:rPr lang="en-US" altLang="zh-CN" sz="1800" dirty="0">
                <a:solidFill>
                  <a:srgbClr val="FF3300"/>
                </a:solidFill>
                <a:latin typeface="Arial Unicode MS" pitchFamily="34" charset="-122"/>
                <a:ea typeface="Arial Unicode MS" pitchFamily="34" charset="-122"/>
                <a:cs typeface="Arial Unicode MS" pitchFamily="34" charset="-122"/>
              </a:rPr>
              <a:t>d</a:t>
            </a:r>
            <a:r>
              <a:rPr lang="en-US" altLang="zh-CN" sz="1800" dirty="0">
                <a:latin typeface="宋体" pitchFamily="2" charset="-122"/>
              </a:rPr>
              <a:t>)</a:t>
            </a:r>
          </a:p>
          <a:p>
            <a:pPr>
              <a:lnSpc>
                <a:spcPct val="120000"/>
              </a:lnSpc>
              <a:buNone/>
              <a:defRPr/>
            </a:pPr>
            <a:r>
              <a:rPr lang="en-US" altLang="zh-CN" sz="1800" dirty="0">
                <a:solidFill>
                  <a:schemeClr val="hlink"/>
                </a:solidFill>
                <a:latin typeface="Arial Unicode MS" pitchFamily="34" charset="-122"/>
                <a:ea typeface="Arial Unicode MS" pitchFamily="34" charset="-122"/>
                <a:cs typeface="Arial Unicode MS" pitchFamily="34" charset="-122"/>
              </a:rPr>
              <a:t>     </a:t>
            </a:r>
            <a:r>
              <a:rPr lang="en-US" altLang="zh-CN" sz="1800" dirty="0" err="1">
                <a:solidFill>
                  <a:schemeClr val="hlink"/>
                </a:solidFill>
                <a:latin typeface="Arial Unicode MS" pitchFamily="34" charset="-122"/>
                <a:ea typeface="Arial Unicode MS" pitchFamily="34" charset="-122"/>
                <a:cs typeface="Arial Unicode MS" pitchFamily="34" charset="-122"/>
              </a:rPr>
              <a:t>passwd</a:t>
            </a:r>
            <a:r>
              <a:rPr lang="en-US" altLang="zh-CN" sz="1800" dirty="0">
                <a:latin typeface="Arial Unicode MS" pitchFamily="34" charset="-122"/>
                <a:ea typeface="Arial Unicode MS" pitchFamily="34" charset="-122"/>
                <a:cs typeface="Arial Unicode MS" pitchFamily="34" charset="-122"/>
              </a:rPr>
              <a:t> </a:t>
            </a:r>
            <a:r>
              <a:rPr lang="en-US" altLang="zh-CN" sz="1800" dirty="0" err="1">
                <a:latin typeface="Arial Unicode MS" pitchFamily="34" charset="-122"/>
                <a:ea typeface="Arial Unicode MS" pitchFamily="34" charset="-122"/>
                <a:cs typeface="Arial Unicode MS" pitchFamily="34" charset="-122"/>
              </a:rPr>
              <a:t>UserName</a:t>
            </a:r>
            <a:endParaRPr lang="en-US" altLang="zh-CN" sz="1800" dirty="0">
              <a:latin typeface="宋体" pitchFamily="2" charset="-122"/>
            </a:endParaRPr>
          </a:p>
          <a:p>
            <a:pPr>
              <a:lnSpc>
                <a:spcPct val="120000"/>
              </a:lnSpc>
              <a:defRPr/>
            </a:pPr>
            <a:r>
              <a:rPr lang="zh-CN" altLang="en-US" sz="1800" dirty="0">
                <a:solidFill>
                  <a:schemeClr val="hlink"/>
                </a:solidFill>
                <a:latin typeface="宋体" pitchFamily="2" charset="-122"/>
              </a:rPr>
              <a:t>删除用户</a:t>
            </a:r>
            <a:r>
              <a:rPr lang="en-US" altLang="zh-CN" sz="1800" dirty="0">
                <a:latin typeface="宋体" pitchFamily="2" charset="-122"/>
              </a:rPr>
              <a:t>(</a:t>
            </a:r>
            <a:r>
              <a:rPr lang="en-US" altLang="zh-CN" sz="1800" dirty="0">
                <a:solidFill>
                  <a:srgbClr val="FF3300"/>
                </a:solidFill>
                <a:latin typeface="Arial Unicode MS" pitchFamily="34" charset="-122"/>
                <a:ea typeface="Arial Unicode MS" pitchFamily="34" charset="-122"/>
                <a:cs typeface="Arial Unicode MS" pitchFamily="34" charset="-122"/>
              </a:rPr>
              <a:t>user</a:t>
            </a:r>
            <a:r>
              <a:rPr lang="en-US" altLang="zh-CN" sz="1800" dirty="0">
                <a:latin typeface="Arial Unicode MS" pitchFamily="34" charset="-122"/>
                <a:ea typeface="Arial Unicode MS" pitchFamily="34" charset="-122"/>
                <a:cs typeface="Arial Unicode MS" pitchFamily="34" charset="-122"/>
              </a:rPr>
              <a:t> </a:t>
            </a:r>
            <a:r>
              <a:rPr lang="en-US" altLang="zh-CN" sz="1800" dirty="0">
                <a:solidFill>
                  <a:srgbClr val="FF3300"/>
                </a:solidFill>
                <a:latin typeface="Arial Unicode MS" pitchFamily="34" charset="-122"/>
                <a:ea typeface="Arial Unicode MS" pitchFamily="34" charset="-122"/>
                <a:cs typeface="Arial Unicode MS" pitchFamily="34" charset="-122"/>
              </a:rPr>
              <a:t>del</a:t>
            </a:r>
            <a:r>
              <a:rPr lang="en-US" altLang="zh-CN" sz="1800" dirty="0">
                <a:latin typeface="Arial Unicode MS" pitchFamily="34" charset="-122"/>
                <a:ea typeface="Arial Unicode MS" pitchFamily="34" charset="-122"/>
                <a:cs typeface="Arial Unicode MS" pitchFamily="34" charset="-122"/>
              </a:rPr>
              <a:t>ete</a:t>
            </a:r>
            <a:r>
              <a:rPr lang="en-US" altLang="zh-CN" sz="1800" dirty="0">
                <a:latin typeface="宋体" pitchFamily="2" charset="-122"/>
              </a:rPr>
              <a:t>)</a:t>
            </a:r>
          </a:p>
          <a:p>
            <a:pPr>
              <a:lnSpc>
                <a:spcPct val="120000"/>
              </a:lnSpc>
              <a:buNone/>
              <a:defRPr/>
            </a:pPr>
            <a:r>
              <a:rPr lang="en-US" altLang="zh-CN" sz="1800" dirty="0">
                <a:solidFill>
                  <a:schemeClr val="hlink"/>
                </a:solidFill>
                <a:latin typeface="Arial Unicode MS" pitchFamily="34" charset="-122"/>
                <a:ea typeface="Arial Unicode MS" pitchFamily="34" charset="-122"/>
                <a:cs typeface="Arial Unicode MS" pitchFamily="34" charset="-122"/>
              </a:rPr>
              <a:t>      </a:t>
            </a:r>
            <a:r>
              <a:rPr lang="en-US" altLang="zh-CN" sz="1800" dirty="0" err="1">
                <a:solidFill>
                  <a:schemeClr val="hlink"/>
                </a:solidFill>
                <a:latin typeface="Arial Unicode MS" pitchFamily="34" charset="-122"/>
                <a:ea typeface="Arial Unicode MS" pitchFamily="34" charset="-122"/>
                <a:cs typeface="Arial Unicode MS" pitchFamily="34" charset="-122"/>
              </a:rPr>
              <a:t>userdel</a:t>
            </a:r>
            <a:r>
              <a:rPr lang="en-US" altLang="zh-CN" sz="1800" dirty="0">
                <a:latin typeface="Arial Unicode MS" pitchFamily="34" charset="-122"/>
                <a:ea typeface="Arial Unicode MS" pitchFamily="34" charset="-122"/>
                <a:cs typeface="Arial Unicode MS" pitchFamily="34" charset="-122"/>
              </a:rPr>
              <a:t> </a:t>
            </a:r>
            <a:r>
              <a:rPr lang="en-US" altLang="zh-CN" sz="1800" dirty="0" err="1">
                <a:latin typeface="Arial Unicode MS" pitchFamily="34" charset="-122"/>
                <a:ea typeface="Arial Unicode MS" pitchFamily="34" charset="-122"/>
                <a:cs typeface="Arial Unicode MS" pitchFamily="34" charset="-122"/>
              </a:rPr>
              <a:t>UserName</a:t>
            </a:r>
            <a:r>
              <a:rPr lang="en-US" altLang="zh-CN" sz="1800" dirty="0">
                <a:latin typeface="宋体" pitchFamily="2" charset="-122"/>
              </a:rPr>
              <a:t>  </a:t>
            </a:r>
          </a:p>
          <a:p>
            <a:pPr algn="just">
              <a:lnSpc>
                <a:spcPct val="120000"/>
              </a:lnSpc>
              <a:buNone/>
              <a:defRPr/>
            </a:pPr>
            <a:r>
              <a:rPr lang="en-US" altLang="zh-CN" sz="1800" dirty="0">
                <a:latin typeface="宋体" pitchFamily="2" charset="-122"/>
              </a:rPr>
              <a:t>       </a:t>
            </a:r>
            <a:r>
              <a:rPr lang="zh-CN" altLang="en-US" sz="1800" dirty="0">
                <a:latin typeface="宋体" pitchFamily="2" charset="-122"/>
              </a:rPr>
              <a:t>使用</a:t>
            </a:r>
            <a:r>
              <a:rPr lang="en-US" altLang="zh-CN" sz="1800" dirty="0">
                <a:latin typeface="宋体" pitchFamily="2" charset="-122"/>
              </a:rPr>
              <a:t>–p</a:t>
            </a:r>
            <a:r>
              <a:rPr lang="zh-CN" altLang="en-US" sz="1800" dirty="0">
                <a:latin typeface="宋体" pitchFamily="2" charset="-122"/>
              </a:rPr>
              <a:t>选项可以删除用户目录下的文件及与用户相关联的其他文件。</a:t>
            </a:r>
          </a:p>
          <a:p>
            <a:pPr>
              <a:lnSpc>
                <a:spcPct val="120000"/>
              </a:lnSpc>
              <a:defRPr/>
            </a:pPr>
            <a:r>
              <a:rPr lang="zh-CN" altLang="en-US" sz="1800" dirty="0">
                <a:solidFill>
                  <a:schemeClr val="hlink"/>
                </a:solidFill>
                <a:latin typeface="宋体" pitchFamily="2" charset="-122"/>
              </a:rPr>
              <a:t>新建组群</a:t>
            </a:r>
            <a:r>
              <a:rPr lang="en-US" altLang="zh-CN" sz="1800" dirty="0">
                <a:latin typeface="Arial Unicode MS" pitchFamily="34" charset="-122"/>
                <a:ea typeface="Arial Unicode MS" pitchFamily="34" charset="-122"/>
                <a:cs typeface="Arial Unicode MS" pitchFamily="34" charset="-122"/>
              </a:rPr>
              <a:t>(</a:t>
            </a:r>
            <a:r>
              <a:rPr lang="en-US" altLang="zh-CN" sz="1800" dirty="0">
                <a:solidFill>
                  <a:srgbClr val="FF3300"/>
                </a:solidFill>
                <a:latin typeface="Arial Unicode MS" pitchFamily="34" charset="-122"/>
                <a:ea typeface="Arial Unicode MS" pitchFamily="34" charset="-122"/>
                <a:cs typeface="Arial Unicode MS" pitchFamily="34" charset="-122"/>
              </a:rPr>
              <a:t>group add</a:t>
            </a:r>
            <a:r>
              <a:rPr lang="en-US" altLang="zh-CN" sz="1800" dirty="0">
                <a:latin typeface="Arial Unicode MS" pitchFamily="34" charset="-122"/>
                <a:ea typeface="Arial Unicode MS" pitchFamily="34" charset="-122"/>
                <a:cs typeface="Arial Unicode MS" pitchFamily="34" charset="-122"/>
              </a:rPr>
              <a:t>) </a:t>
            </a:r>
            <a:r>
              <a:rPr lang="en-US" altLang="zh-CN" sz="1800" dirty="0">
                <a:latin typeface="宋体" pitchFamily="2" charset="-122"/>
              </a:rPr>
              <a:t>  </a:t>
            </a:r>
          </a:p>
          <a:p>
            <a:pPr>
              <a:lnSpc>
                <a:spcPct val="120000"/>
              </a:lnSpc>
              <a:buNone/>
              <a:defRPr/>
            </a:pPr>
            <a:r>
              <a:rPr lang="en-US" altLang="zh-CN" sz="1800" dirty="0">
                <a:latin typeface="宋体" pitchFamily="2" charset="-122"/>
              </a:rPr>
              <a:t>   </a:t>
            </a:r>
            <a:r>
              <a:rPr lang="en-US" altLang="zh-CN" sz="1800" dirty="0" err="1">
                <a:solidFill>
                  <a:schemeClr val="hlink"/>
                </a:solidFill>
                <a:latin typeface="Arial Unicode MS" pitchFamily="34" charset="-122"/>
                <a:ea typeface="Arial Unicode MS" pitchFamily="34" charset="-122"/>
                <a:cs typeface="Arial Unicode MS" pitchFamily="34" charset="-122"/>
              </a:rPr>
              <a:t>groupadd</a:t>
            </a:r>
            <a:r>
              <a:rPr lang="en-US" altLang="zh-CN" sz="1800" dirty="0">
                <a:latin typeface="Arial Unicode MS" pitchFamily="34" charset="-122"/>
                <a:ea typeface="Arial Unicode MS" pitchFamily="34" charset="-122"/>
                <a:cs typeface="Arial Unicode MS" pitchFamily="34" charset="-122"/>
              </a:rPr>
              <a:t> </a:t>
            </a:r>
            <a:r>
              <a:rPr lang="en-US" altLang="zh-CN" sz="1800" dirty="0" err="1">
                <a:latin typeface="Arial Unicode MS" pitchFamily="34" charset="-122"/>
                <a:ea typeface="Arial Unicode MS" pitchFamily="34" charset="-122"/>
                <a:cs typeface="Arial Unicode MS" pitchFamily="34" charset="-122"/>
              </a:rPr>
              <a:t>GroupName</a:t>
            </a:r>
            <a:endParaRPr lang="en-US" altLang="zh-CN" sz="1800" dirty="0">
              <a:latin typeface="Arial Unicode MS" pitchFamily="34" charset="-122"/>
              <a:ea typeface="Arial Unicode MS" pitchFamily="34" charset="-122"/>
              <a:cs typeface="Arial Unicode MS" pitchFamily="34" charset="-122"/>
            </a:endParaRPr>
          </a:p>
          <a:p>
            <a:pPr>
              <a:lnSpc>
                <a:spcPct val="120000"/>
              </a:lnSpc>
              <a:defRPr/>
            </a:pPr>
            <a:r>
              <a:rPr lang="zh-CN" altLang="en-US" sz="1800" dirty="0">
                <a:solidFill>
                  <a:schemeClr val="hlink"/>
                </a:solidFill>
                <a:latin typeface="Arial Unicode MS" pitchFamily="34" charset="-122"/>
                <a:ea typeface="Arial Unicode MS" pitchFamily="34" charset="-122"/>
                <a:cs typeface="Arial Unicode MS" pitchFamily="34" charset="-122"/>
              </a:rPr>
              <a:t>删除组群</a:t>
            </a:r>
            <a:r>
              <a:rPr lang="en-US" altLang="zh-CN" sz="1800" dirty="0">
                <a:latin typeface="Arial Unicode MS" pitchFamily="34" charset="-122"/>
                <a:ea typeface="Arial Unicode MS" pitchFamily="34" charset="-122"/>
                <a:cs typeface="Arial Unicode MS" pitchFamily="34" charset="-122"/>
              </a:rPr>
              <a:t>(</a:t>
            </a:r>
            <a:r>
              <a:rPr lang="en-US" altLang="zh-CN" sz="1800" dirty="0">
                <a:solidFill>
                  <a:srgbClr val="FF3300"/>
                </a:solidFill>
                <a:latin typeface="Arial Unicode MS" pitchFamily="34" charset="-122"/>
                <a:ea typeface="Arial Unicode MS" pitchFamily="34" charset="-122"/>
                <a:cs typeface="Arial Unicode MS" pitchFamily="34" charset="-122"/>
              </a:rPr>
              <a:t>group</a:t>
            </a:r>
            <a:r>
              <a:rPr lang="en-US" altLang="zh-CN" sz="1800" dirty="0">
                <a:latin typeface="Arial Unicode MS" pitchFamily="34" charset="-122"/>
                <a:ea typeface="Arial Unicode MS" pitchFamily="34" charset="-122"/>
                <a:cs typeface="Arial Unicode MS" pitchFamily="34" charset="-122"/>
              </a:rPr>
              <a:t> </a:t>
            </a:r>
            <a:r>
              <a:rPr lang="en-US" altLang="zh-CN" sz="1800" dirty="0">
                <a:solidFill>
                  <a:srgbClr val="FF3300"/>
                </a:solidFill>
                <a:latin typeface="Arial Unicode MS" pitchFamily="34" charset="-122"/>
                <a:ea typeface="Arial Unicode MS" pitchFamily="34" charset="-122"/>
                <a:cs typeface="Arial Unicode MS" pitchFamily="34" charset="-122"/>
              </a:rPr>
              <a:t>del</a:t>
            </a:r>
            <a:r>
              <a:rPr lang="en-US" altLang="zh-CN" sz="1800" dirty="0">
                <a:latin typeface="Arial Unicode MS" pitchFamily="34" charset="-122"/>
                <a:ea typeface="Arial Unicode MS" pitchFamily="34" charset="-122"/>
                <a:cs typeface="Arial Unicode MS" pitchFamily="34" charset="-122"/>
              </a:rPr>
              <a:t>ete)</a:t>
            </a:r>
          </a:p>
          <a:p>
            <a:pPr>
              <a:lnSpc>
                <a:spcPct val="120000"/>
              </a:lnSpc>
              <a:buNone/>
              <a:defRPr/>
            </a:pPr>
            <a:r>
              <a:rPr lang="en-US" altLang="zh-CN" sz="1800" dirty="0">
                <a:latin typeface="Arial Unicode MS" pitchFamily="34" charset="-122"/>
                <a:ea typeface="Arial Unicode MS" pitchFamily="34" charset="-122"/>
                <a:cs typeface="Arial Unicode MS" pitchFamily="34" charset="-122"/>
              </a:rPr>
              <a:t>     </a:t>
            </a:r>
            <a:r>
              <a:rPr lang="en-US" altLang="zh-CN" sz="1800" dirty="0" err="1">
                <a:solidFill>
                  <a:schemeClr val="hlink"/>
                </a:solidFill>
                <a:latin typeface="Arial Unicode MS" pitchFamily="34" charset="-122"/>
                <a:ea typeface="Arial Unicode MS" pitchFamily="34" charset="-122"/>
                <a:cs typeface="Arial Unicode MS" pitchFamily="34" charset="-122"/>
              </a:rPr>
              <a:t>groupdel</a:t>
            </a:r>
            <a:r>
              <a:rPr lang="en-US" altLang="zh-CN" sz="1800" dirty="0">
                <a:latin typeface="Arial Unicode MS" pitchFamily="34" charset="-122"/>
                <a:ea typeface="Arial Unicode MS" pitchFamily="34" charset="-122"/>
                <a:cs typeface="Arial Unicode MS" pitchFamily="34" charset="-122"/>
              </a:rPr>
              <a:t> </a:t>
            </a:r>
            <a:r>
              <a:rPr lang="en-US" altLang="zh-CN" sz="1800" dirty="0" err="1">
                <a:latin typeface="Arial Unicode MS" pitchFamily="34" charset="-122"/>
                <a:ea typeface="Arial Unicode MS" pitchFamily="34" charset="-122"/>
                <a:cs typeface="Arial Unicode MS" pitchFamily="34" charset="-122"/>
              </a:rPr>
              <a:t>GroupName</a:t>
            </a:r>
            <a:endParaRPr lang="en-US" altLang="zh-CN" sz="1800" dirty="0">
              <a:latin typeface="Arial Unicode MS" pitchFamily="34" charset="-122"/>
              <a:ea typeface="Arial Unicode MS" pitchFamily="34" charset="-122"/>
              <a:cs typeface="Arial Unicode MS" pitchFamily="34" charset="-122"/>
            </a:endParaRPr>
          </a:p>
          <a:p>
            <a:pPr>
              <a:lnSpc>
                <a:spcPct val="120000"/>
              </a:lnSpc>
            </a:pPr>
            <a:endParaRPr lang="zh-CN" altLang="en-US" sz="1800" dirty="0"/>
          </a:p>
        </p:txBody>
      </p:sp>
    </p:spTree>
    <p:extLst>
      <p:ext uri="{BB962C8B-B14F-4D97-AF65-F5344CB8AC3E}">
        <p14:creationId xmlns:p14="http://schemas.microsoft.com/office/powerpoint/2010/main" val="107980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用户管理</a:t>
            </a:r>
            <a:endParaRPr lang="zh-CN" altLang="en-US" dirty="0"/>
          </a:p>
        </p:txBody>
      </p:sp>
      <p:sp>
        <p:nvSpPr>
          <p:cNvPr id="3" name="内容占位符 2"/>
          <p:cNvSpPr>
            <a:spLocks noGrp="1"/>
          </p:cNvSpPr>
          <p:nvPr>
            <p:ph idx="1"/>
          </p:nvPr>
        </p:nvSpPr>
        <p:spPr>
          <a:xfrm>
            <a:off x="838200" y="1280341"/>
            <a:ext cx="10515600" cy="4898732"/>
          </a:xfrm>
        </p:spPr>
        <p:txBody>
          <a:bodyPr>
            <a:normAutofit fontScale="85000" lnSpcReduction="20000"/>
          </a:bodyPr>
          <a:lstStyle/>
          <a:p>
            <a:pPr>
              <a:defRPr/>
            </a:pPr>
            <a:r>
              <a:rPr lang="zh-CN" altLang="en-US" dirty="0">
                <a:solidFill>
                  <a:schemeClr val="hlink"/>
                </a:solidFill>
                <a:latin typeface="宋体" pitchFamily="2" charset="-122"/>
              </a:rPr>
              <a:t>用户身份</a:t>
            </a:r>
            <a:endParaRPr lang="zh-CN" altLang="en-US" dirty="0">
              <a:solidFill>
                <a:schemeClr val="hlink"/>
              </a:solidFill>
              <a:latin typeface="Arial Unicode MS" pitchFamily="34" charset="-122"/>
              <a:ea typeface="Arial Unicode MS" pitchFamily="34" charset="-122"/>
              <a:cs typeface="Arial Unicode MS" pitchFamily="34" charset="-122"/>
            </a:endParaRP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whoami</a:t>
            </a:r>
            <a:r>
              <a:rPr lang="en-US" altLang="zh-CN" dirty="0">
                <a:latin typeface="Arial Unicode MS" pitchFamily="34" charset="-122"/>
                <a:ea typeface="Arial Unicode MS" pitchFamily="34" charset="-122"/>
                <a:cs typeface="Arial Unicode MS" pitchFamily="34" charset="-122"/>
              </a:rPr>
              <a:t> </a:t>
            </a:r>
            <a:r>
              <a:rPr lang="en-US" altLang="zh-CN" dirty="0">
                <a:latin typeface="宋体" pitchFamily="2" charset="-122"/>
              </a:rPr>
              <a:t>  </a:t>
            </a:r>
          </a:p>
          <a:p>
            <a:pPr>
              <a:defRPr/>
            </a:pPr>
            <a:r>
              <a:rPr lang="zh-CN" altLang="en-US" dirty="0">
                <a:solidFill>
                  <a:schemeClr val="hlink"/>
                </a:solidFill>
                <a:latin typeface="宋体" pitchFamily="2" charset="-122"/>
              </a:rPr>
              <a:t>查看登录用户</a:t>
            </a:r>
          </a:p>
          <a:p>
            <a:pPr>
              <a:buNone/>
              <a:defRPr/>
            </a:pPr>
            <a:r>
              <a:rPr lang="zh-CN" altLang="en-US" dirty="0">
                <a:solidFill>
                  <a:schemeClr val="hlink"/>
                </a:solidFill>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who</a:t>
            </a:r>
            <a:r>
              <a:rPr lang="en-US" altLang="zh-CN" dirty="0">
                <a:solidFill>
                  <a:srgbClr val="FF3300"/>
                </a:solidFill>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a:t>
            </a:r>
            <a:r>
              <a:rPr lang="zh-CN" altLang="en-US" dirty="0">
                <a:latin typeface="Arial Unicode MS" pitchFamily="34" charset="-122"/>
                <a:ea typeface="Arial Unicode MS" pitchFamily="34" charset="-122"/>
                <a:cs typeface="Arial Unicode MS" pitchFamily="34" charset="-122"/>
              </a:rPr>
              <a:t>选项</a:t>
            </a:r>
            <a:r>
              <a:rPr lang="en-US" altLang="zh-CN" dirty="0">
                <a:latin typeface="Arial Unicode MS" pitchFamily="34" charset="-122"/>
                <a:ea typeface="Arial Unicode MS" pitchFamily="34" charset="-122"/>
                <a:cs typeface="Arial Unicode MS" pitchFamily="34" charset="-122"/>
              </a:rPr>
              <a:t>]</a:t>
            </a:r>
          </a:p>
          <a:p>
            <a:pPr>
              <a:buNone/>
              <a:defRPr/>
            </a:pPr>
            <a:r>
              <a:rPr lang="en-US" altLang="zh-CN" dirty="0">
                <a:latin typeface="Arial Unicode MS" pitchFamily="34" charset="-122"/>
                <a:ea typeface="Arial Unicode MS" pitchFamily="34" charset="-122"/>
                <a:cs typeface="Arial Unicode MS" pitchFamily="34" charset="-122"/>
              </a:rPr>
              <a:t>             -a </a:t>
            </a:r>
            <a:r>
              <a:rPr lang="zh-CN" altLang="en-US" dirty="0">
                <a:latin typeface="宋体" pitchFamily="2" charset="-122"/>
              </a:rPr>
              <a:t>显示所有用户的所有信息</a:t>
            </a:r>
          </a:p>
          <a:p>
            <a:pPr>
              <a:buNone/>
              <a:defRPr/>
            </a:pPr>
            <a:r>
              <a:rPr lang="zh-CN" altLang="en-US" dirty="0">
                <a:latin typeface="宋体" pitchFamily="2" charset="-122"/>
              </a:rPr>
              <a:t>       </a:t>
            </a:r>
            <a:r>
              <a:rPr lang="en-US" altLang="zh-CN" dirty="0">
                <a:latin typeface="Arial Unicode MS" pitchFamily="34" charset="-122"/>
                <a:ea typeface="Arial Unicode MS" pitchFamily="34" charset="-122"/>
                <a:cs typeface="Arial Unicode MS" pitchFamily="34" charset="-122"/>
              </a:rPr>
              <a:t>-H</a:t>
            </a:r>
            <a:r>
              <a:rPr lang="en-US" altLang="zh-CN" dirty="0">
                <a:latin typeface="宋体" pitchFamily="2" charset="-122"/>
              </a:rPr>
              <a:t> </a:t>
            </a:r>
            <a:r>
              <a:rPr lang="zh-CN" altLang="en-US" dirty="0">
                <a:latin typeface="宋体" pitchFamily="2" charset="-122"/>
              </a:rPr>
              <a:t>显示列标题</a:t>
            </a:r>
            <a:endParaRPr lang="zh-CN" altLang="en-US" dirty="0">
              <a:solidFill>
                <a:schemeClr val="hlink"/>
              </a:solidFill>
              <a:latin typeface="宋体" pitchFamily="2" charset="-122"/>
            </a:endParaRPr>
          </a:p>
          <a:p>
            <a:pPr>
              <a:defRPr/>
            </a:pPr>
            <a:r>
              <a:rPr lang="zh-CN" altLang="en-US" dirty="0">
                <a:solidFill>
                  <a:schemeClr val="hlink"/>
                </a:solidFill>
                <a:latin typeface="宋体" pitchFamily="2" charset="-122"/>
              </a:rPr>
              <a:t>查看用户的操作</a:t>
            </a:r>
          </a:p>
          <a:p>
            <a:pPr>
              <a:buNone/>
              <a:defRPr/>
            </a:pPr>
            <a:r>
              <a:rPr lang="zh-CN" altLang="en-US" dirty="0">
                <a:solidFill>
                  <a:schemeClr val="hlink"/>
                </a:solidFill>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w      </a:t>
            </a:r>
            <a:r>
              <a:rPr lang="zh-CN" altLang="en-US" dirty="0">
                <a:latin typeface="Arial Unicode MS" pitchFamily="34" charset="-122"/>
                <a:ea typeface="Arial Unicode MS" pitchFamily="34" charset="-122"/>
                <a:cs typeface="Arial Unicode MS" pitchFamily="34" charset="-122"/>
              </a:rPr>
              <a:t>某一时刻用户的行为</a:t>
            </a:r>
          </a:p>
          <a:p>
            <a:pPr>
              <a:defRPr/>
            </a:pPr>
            <a:r>
              <a:rPr lang="zh-CN" altLang="en-US" dirty="0">
                <a:solidFill>
                  <a:schemeClr val="hlink"/>
                </a:solidFill>
                <a:latin typeface="Arial Unicode MS" pitchFamily="34" charset="-122"/>
                <a:ea typeface="Arial Unicode MS" pitchFamily="34" charset="-122"/>
                <a:cs typeface="Arial Unicode MS" pitchFamily="34" charset="-122"/>
              </a:rPr>
              <a:t>用户间切换</a:t>
            </a:r>
            <a:r>
              <a:rPr lang="en-US" altLang="zh-CN" dirty="0">
                <a:latin typeface="Arial Unicode MS" pitchFamily="34" charset="-122"/>
                <a:ea typeface="Arial Unicode MS" pitchFamily="34" charset="-122"/>
                <a:cs typeface="Arial Unicode MS" pitchFamily="34" charset="-122"/>
              </a:rPr>
              <a:t>(</a:t>
            </a:r>
            <a:r>
              <a:rPr lang="en-US" altLang="zh-CN" dirty="0">
                <a:solidFill>
                  <a:srgbClr val="FF3300"/>
                </a:solidFill>
                <a:latin typeface="Arial Unicode MS" pitchFamily="34" charset="-122"/>
                <a:ea typeface="Arial Unicode MS" pitchFamily="34" charset="-122"/>
                <a:cs typeface="Arial Unicode MS" pitchFamily="34" charset="-122"/>
              </a:rPr>
              <a:t>s</a:t>
            </a:r>
            <a:r>
              <a:rPr lang="en-US" altLang="zh-CN" dirty="0">
                <a:latin typeface="Arial Unicode MS" pitchFamily="34" charset="-122"/>
                <a:ea typeface="Arial Unicode MS" pitchFamily="34" charset="-122"/>
                <a:cs typeface="Arial Unicode MS" pitchFamily="34" charset="-122"/>
              </a:rPr>
              <a:t>ubstitute </a:t>
            </a:r>
            <a:r>
              <a:rPr lang="en-US" altLang="zh-CN" dirty="0">
                <a:solidFill>
                  <a:srgbClr val="FF3300"/>
                </a:solidFill>
                <a:latin typeface="Arial Unicode MS" pitchFamily="34" charset="-122"/>
                <a:ea typeface="Arial Unicode MS" pitchFamily="34" charset="-122"/>
                <a:cs typeface="Arial Unicode MS" pitchFamily="34" charset="-122"/>
              </a:rPr>
              <a:t>u</a:t>
            </a:r>
            <a:r>
              <a:rPr lang="en-US" altLang="zh-CN" dirty="0">
                <a:latin typeface="Arial Unicode MS" pitchFamily="34" charset="-122"/>
                <a:ea typeface="Arial Unicode MS" pitchFamily="34" charset="-122"/>
                <a:cs typeface="Arial Unicode MS" pitchFamily="34" charset="-122"/>
              </a:rPr>
              <a:t>ser)</a:t>
            </a:r>
          </a:p>
          <a:p>
            <a:pPr>
              <a:buNone/>
              <a:defRPr/>
            </a:pPr>
            <a:r>
              <a:rPr lang="en-US" altLang="zh-CN" dirty="0">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su</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UserName</a:t>
            </a:r>
            <a:r>
              <a:rPr lang="en-US" altLang="zh-CN" dirty="0">
                <a:latin typeface="Arial Unicode MS" pitchFamily="34" charset="-122"/>
                <a:ea typeface="Arial Unicode MS" pitchFamily="34" charset="-122"/>
                <a:cs typeface="Arial Unicode MS" pitchFamily="34" charset="-122"/>
              </a:rPr>
              <a:t> </a:t>
            </a:r>
            <a:r>
              <a:rPr lang="zh-CN" altLang="en-US" dirty="0">
                <a:latin typeface="Arial Unicode MS" pitchFamily="34" charset="-122"/>
                <a:ea typeface="Arial Unicode MS" pitchFamily="34" charset="-122"/>
                <a:cs typeface="Arial Unicode MS" pitchFamily="34" charset="-122"/>
              </a:rPr>
              <a:t>如：</a:t>
            </a:r>
            <a:r>
              <a:rPr lang="en-US" altLang="zh-CN" dirty="0" err="1">
                <a:latin typeface="Arial Unicode MS" pitchFamily="34" charset="-122"/>
                <a:ea typeface="Arial Unicode MS" pitchFamily="34" charset="-122"/>
                <a:cs typeface="Arial Unicode MS" pitchFamily="34" charset="-122"/>
              </a:rPr>
              <a:t>su</a:t>
            </a:r>
            <a:r>
              <a:rPr lang="en-US" altLang="zh-CN" dirty="0">
                <a:latin typeface="宋体" pitchFamily="2" charset="-122"/>
              </a:rPr>
              <a:t> </a:t>
            </a:r>
            <a:r>
              <a:rPr lang="zh-CN" altLang="en-US" dirty="0">
                <a:latin typeface="宋体" pitchFamily="2" charset="-122"/>
              </a:rPr>
              <a:t>或</a:t>
            </a:r>
            <a:r>
              <a:rPr lang="en-US" altLang="zh-CN" dirty="0" err="1">
                <a:latin typeface="Arial Unicode MS" pitchFamily="34" charset="-122"/>
                <a:ea typeface="Arial Unicode MS" pitchFamily="34" charset="-122"/>
                <a:cs typeface="Arial Unicode MS" pitchFamily="34" charset="-122"/>
              </a:rPr>
              <a:t>su</a:t>
            </a:r>
            <a:r>
              <a:rPr lang="en-US" altLang="zh-CN" dirty="0">
                <a:latin typeface="Arial Unicode MS" pitchFamily="34" charset="-122"/>
                <a:ea typeface="Arial Unicode MS" pitchFamily="34" charset="-122"/>
                <a:cs typeface="Arial Unicode MS" pitchFamily="34" charset="-122"/>
              </a:rPr>
              <a:t> root</a:t>
            </a:r>
            <a:r>
              <a:rPr lang="en-US" altLang="zh-CN" dirty="0">
                <a:latin typeface="宋体" pitchFamily="2" charset="-122"/>
              </a:rPr>
              <a:t> </a:t>
            </a:r>
            <a:r>
              <a:rPr lang="zh-CN" altLang="en-US" dirty="0">
                <a:latin typeface="宋体" pitchFamily="2" charset="-122"/>
              </a:rPr>
              <a:t>切换为根用户</a:t>
            </a:r>
          </a:p>
          <a:p>
            <a:pPr>
              <a:buNone/>
              <a:defRPr/>
            </a:pPr>
            <a:r>
              <a:rPr lang="zh-CN" altLang="en-US" dirty="0">
                <a:latin typeface="宋体" pitchFamily="2" charset="-122"/>
              </a:rPr>
              <a:t>                    </a:t>
            </a:r>
            <a:r>
              <a:rPr lang="en-US" altLang="zh-CN" dirty="0" err="1">
                <a:latin typeface="Arial Unicode MS" pitchFamily="34" charset="-122"/>
                <a:ea typeface="Arial Unicode MS" pitchFamily="34" charset="-122"/>
                <a:cs typeface="Arial Unicode MS" pitchFamily="34" charset="-122"/>
              </a:rPr>
              <a:t>su</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Haison</a:t>
            </a:r>
            <a:r>
              <a:rPr lang="en-US" altLang="zh-CN" dirty="0">
                <a:latin typeface="宋体" pitchFamily="2" charset="-122"/>
              </a:rPr>
              <a:t> </a:t>
            </a:r>
            <a:r>
              <a:rPr lang="zh-CN" altLang="en-US" dirty="0">
                <a:latin typeface="宋体" pitchFamily="2" charset="-122"/>
              </a:rPr>
              <a:t>切换为名为</a:t>
            </a:r>
            <a:r>
              <a:rPr lang="en-US" altLang="zh-CN" dirty="0" err="1">
                <a:latin typeface="Arial Unicode MS" pitchFamily="34" charset="-122"/>
                <a:ea typeface="Arial Unicode MS" pitchFamily="34" charset="-122"/>
                <a:cs typeface="Arial Unicode MS" pitchFamily="34" charset="-122"/>
              </a:rPr>
              <a:t>Haison</a:t>
            </a:r>
            <a:r>
              <a:rPr lang="zh-CN" altLang="en-US" dirty="0">
                <a:latin typeface="宋体" pitchFamily="2" charset="-122"/>
              </a:rPr>
              <a:t>的用户</a:t>
            </a:r>
          </a:p>
          <a:p>
            <a:endParaRPr lang="zh-CN" altLang="en-US" dirty="0"/>
          </a:p>
        </p:txBody>
      </p:sp>
    </p:spTree>
    <p:extLst>
      <p:ext uri="{BB962C8B-B14F-4D97-AF65-F5344CB8AC3E}">
        <p14:creationId xmlns:p14="http://schemas.microsoft.com/office/powerpoint/2010/main" val="4026332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目录管理</a:t>
            </a:r>
            <a:endParaRPr lang="zh-CN" altLang="en-US" dirty="0"/>
          </a:p>
        </p:txBody>
      </p:sp>
      <p:sp>
        <p:nvSpPr>
          <p:cNvPr id="3" name="内容占位符 2"/>
          <p:cNvSpPr>
            <a:spLocks noGrp="1"/>
          </p:cNvSpPr>
          <p:nvPr>
            <p:ph idx="1"/>
          </p:nvPr>
        </p:nvSpPr>
        <p:spPr>
          <a:xfrm>
            <a:off x="838200" y="1169167"/>
            <a:ext cx="10515600" cy="5219114"/>
          </a:xfrm>
        </p:spPr>
        <p:txBody>
          <a:bodyPr>
            <a:normAutofit fontScale="92500" lnSpcReduction="20000"/>
          </a:bodyPr>
          <a:lstStyle/>
          <a:p>
            <a:pPr>
              <a:tabLst>
                <a:tab pos="1884363" algn="l"/>
              </a:tabLst>
              <a:defRPr/>
            </a:pPr>
            <a:r>
              <a:rPr lang="zh-CN" altLang="en-US" dirty="0">
                <a:solidFill>
                  <a:schemeClr val="hlink"/>
                </a:solidFill>
                <a:latin typeface="宋体" pitchFamily="2" charset="-122"/>
              </a:rPr>
              <a:t>创建目录</a:t>
            </a:r>
            <a:r>
              <a:rPr lang="en-US" altLang="zh-CN" dirty="0">
                <a:latin typeface="宋体" pitchFamily="2" charset="-122"/>
              </a:rPr>
              <a:t>(</a:t>
            </a:r>
            <a:r>
              <a:rPr lang="en-US" altLang="zh-CN" dirty="0">
                <a:solidFill>
                  <a:srgbClr val="FF3300"/>
                </a:solidFill>
                <a:latin typeface="Arial Unicode MS" pitchFamily="34" charset="-122"/>
                <a:ea typeface="Arial Unicode MS" pitchFamily="34" charset="-122"/>
                <a:cs typeface="Arial Unicode MS" pitchFamily="34" charset="-122"/>
              </a:rPr>
              <a:t>m</a:t>
            </a:r>
            <a:r>
              <a:rPr lang="en-US" altLang="zh-CN" dirty="0">
                <a:latin typeface="Arial Unicode MS" pitchFamily="34" charset="-122"/>
                <a:ea typeface="Arial Unicode MS" pitchFamily="34" charset="-122"/>
                <a:cs typeface="Arial Unicode MS" pitchFamily="34" charset="-122"/>
              </a:rPr>
              <a:t>ake </a:t>
            </a:r>
            <a:r>
              <a:rPr lang="en-US" altLang="zh-CN" dirty="0">
                <a:solidFill>
                  <a:srgbClr val="FF3300"/>
                </a:solidFill>
                <a:latin typeface="Arial Unicode MS" pitchFamily="34" charset="-122"/>
                <a:ea typeface="Arial Unicode MS" pitchFamily="34" charset="-122"/>
                <a:cs typeface="Arial Unicode MS" pitchFamily="34" charset="-122"/>
              </a:rPr>
              <a:t>dir</a:t>
            </a:r>
            <a:r>
              <a:rPr lang="en-US" altLang="zh-CN" dirty="0">
                <a:latin typeface="Arial Unicode MS" pitchFamily="34" charset="-122"/>
                <a:ea typeface="Arial Unicode MS" pitchFamily="34" charset="-122"/>
                <a:cs typeface="Arial Unicode MS" pitchFamily="34" charset="-122"/>
              </a:rPr>
              <a:t>ectory</a:t>
            </a:r>
            <a:r>
              <a:rPr lang="en-US" altLang="zh-CN" dirty="0">
                <a:latin typeface="宋体" pitchFamily="2" charset="-122"/>
              </a:rPr>
              <a:t>)</a:t>
            </a:r>
          </a:p>
          <a:p>
            <a:pPr>
              <a:buNone/>
              <a:tabLst>
                <a:tab pos="1884363" algn="l"/>
              </a:tabLst>
              <a:defRPr/>
            </a:pPr>
            <a:r>
              <a:rPr lang="en-US" altLang="zh-CN" dirty="0">
                <a:latin typeface="宋体" pitchFamily="2"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mkdir</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DirecName</a:t>
            </a:r>
            <a:endParaRPr lang="en-US" altLang="zh-CN" dirty="0">
              <a:latin typeface="Arial Unicode MS" pitchFamily="34" charset="-122"/>
              <a:ea typeface="Arial Unicode MS" pitchFamily="34" charset="-122"/>
              <a:cs typeface="Arial Unicode MS" pitchFamily="34" charset="-122"/>
            </a:endParaRPr>
          </a:p>
          <a:p>
            <a:pPr>
              <a:tabLst>
                <a:tab pos="1884363" algn="l"/>
              </a:tabLst>
              <a:defRPr/>
            </a:pPr>
            <a:r>
              <a:rPr lang="zh-CN" altLang="en-US" dirty="0">
                <a:solidFill>
                  <a:schemeClr val="hlink"/>
                </a:solidFill>
                <a:latin typeface="宋体" pitchFamily="2" charset="-122"/>
              </a:rPr>
              <a:t>删除目录</a:t>
            </a:r>
            <a:r>
              <a:rPr lang="en-US" altLang="zh-CN" dirty="0">
                <a:latin typeface="宋体" pitchFamily="2" charset="-122"/>
              </a:rPr>
              <a:t>(</a:t>
            </a:r>
            <a:r>
              <a:rPr lang="en-US" altLang="zh-CN" dirty="0">
                <a:solidFill>
                  <a:srgbClr val="FF3300"/>
                </a:solidFill>
                <a:latin typeface="Arial Unicode MS" pitchFamily="34" charset="-122"/>
                <a:ea typeface="Arial Unicode MS" pitchFamily="34" charset="-122"/>
                <a:cs typeface="Arial Unicode MS" pitchFamily="34" charset="-122"/>
              </a:rPr>
              <a:t>r</a:t>
            </a:r>
            <a:r>
              <a:rPr lang="en-US" altLang="zh-CN" dirty="0">
                <a:latin typeface="Arial Unicode MS" pitchFamily="34" charset="-122"/>
                <a:ea typeface="Arial Unicode MS" pitchFamily="34" charset="-122"/>
                <a:cs typeface="Arial Unicode MS" pitchFamily="34" charset="-122"/>
              </a:rPr>
              <a:t>e</a:t>
            </a:r>
            <a:r>
              <a:rPr lang="en-US" altLang="zh-CN" dirty="0">
                <a:solidFill>
                  <a:srgbClr val="FF3300"/>
                </a:solidFill>
                <a:latin typeface="Arial Unicode MS" pitchFamily="34" charset="-122"/>
                <a:ea typeface="Arial Unicode MS" pitchFamily="34" charset="-122"/>
                <a:cs typeface="Arial Unicode MS" pitchFamily="34" charset="-122"/>
              </a:rPr>
              <a:t>m</a:t>
            </a:r>
            <a:r>
              <a:rPr lang="en-US" altLang="zh-CN" dirty="0">
                <a:latin typeface="Arial Unicode MS" pitchFamily="34" charset="-122"/>
                <a:ea typeface="Arial Unicode MS" pitchFamily="34" charset="-122"/>
                <a:cs typeface="Arial Unicode MS" pitchFamily="34" charset="-122"/>
              </a:rPr>
              <a:t>ove </a:t>
            </a:r>
            <a:r>
              <a:rPr lang="en-US" altLang="zh-CN" dirty="0">
                <a:solidFill>
                  <a:srgbClr val="FF3300"/>
                </a:solidFill>
                <a:latin typeface="Arial Unicode MS" pitchFamily="34" charset="-122"/>
                <a:ea typeface="Arial Unicode MS" pitchFamily="34" charset="-122"/>
                <a:cs typeface="Arial Unicode MS" pitchFamily="34" charset="-122"/>
              </a:rPr>
              <a:t>dir</a:t>
            </a:r>
            <a:r>
              <a:rPr lang="en-US" altLang="zh-CN" dirty="0">
                <a:latin typeface="Arial Unicode MS" pitchFamily="34" charset="-122"/>
                <a:ea typeface="Arial Unicode MS" pitchFamily="34" charset="-122"/>
                <a:cs typeface="Arial Unicode MS" pitchFamily="34" charset="-122"/>
              </a:rPr>
              <a:t>ectory</a:t>
            </a:r>
            <a:r>
              <a:rPr lang="en-US" altLang="zh-CN" dirty="0">
                <a:latin typeface="宋体" pitchFamily="2" charset="-122"/>
              </a:rPr>
              <a:t>)</a:t>
            </a:r>
          </a:p>
          <a:p>
            <a:pPr>
              <a:buNone/>
              <a:tabLst>
                <a:tab pos="1884363" algn="l"/>
              </a:tabLst>
              <a:defRPr/>
            </a:pPr>
            <a:r>
              <a:rPr lang="en-US" altLang="zh-CN" dirty="0">
                <a:solidFill>
                  <a:schemeClr val="hlink"/>
                </a:solidFill>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rmdir</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DirecName</a:t>
            </a:r>
            <a:endParaRPr lang="en-US" altLang="zh-CN" dirty="0">
              <a:latin typeface="宋体" pitchFamily="2" charset="-122"/>
            </a:endParaRPr>
          </a:p>
          <a:p>
            <a:pPr>
              <a:tabLst>
                <a:tab pos="1884363" algn="l"/>
              </a:tabLst>
              <a:defRPr/>
            </a:pPr>
            <a:r>
              <a:rPr lang="zh-CN" altLang="en-US" dirty="0">
                <a:solidFill>
                  <a:schemeClr val="hlink"/>
                </a:solidFill>
                <a:latin typeface="宋体" pitchFamily="2" charset="-122"/>
              </a:rPr>
              <a:t>显示工作目录</a:t>
            </a:r>
            <a:r>
              <a:rPr lang="en-US" altLang="zh-CN" dirty="0">
                <a:latin typeface="宋体" pitchFamily="2" charset="-122"/>
              </a:rPr>
              <a:t>(</a:t>
            </a:r>
            <a:r>
              <a:rPr lang="en-US" altLang="zh-CN" dirty="0">
                <a:solidFill>
                  <a:srgbClr val="FF3300"/>
                </a:solidFill>
                <a:latin typeface="Arial Unicode MS" pitchFamily="34" charset="-122"/>
                <a:ea typeface="Arial Unicode MS" pitchFamily="34" charset="-122"/>
                <a:cs typeface="Arial Unicode MS" pitchFamily="34" charset="-122"/>
              </a:rPr>
              <a:t>p</a:t>
            </a:r>
            <a:r>
              <a:rPr lang="en-US" altLang="zh-CN" dirty="0">
                <a:latin typeface="Arial Unicode MS" pitchFamily="34" charset="-122"/>
                <a:ea typeface="Arial Unicode MS" pitchFamily="34" charset="-122"/>
                <a:cs typeface="Arial Unicode MS" pitchFamily="34" charset="-122"/>
              </a:rPr>
              <a:t>rint </a:t>
            </a:r>
            <a:r>
              <a:rPr lang="en-US" altLang="zh-CN" dirty="0">
                <a:solidFill>
                  <a:srgbClr val="FF3300"/>
                </a:solidFill>
                <a:latin typeface="Arial Unicode MS" pitchFamily="34" charset="-122"/>
                <a:ea typeface="Arial Unicode MS" pitchFamily="34" charset="-122"/>
                <a:cs typeface="Arial Unicode MS" pitchFamily="34" charset="-122"/>
              </a:rPr>
              <a:t>w</a:t>
            </a:r>
            <a:r>
              <a:rPr lang="en-US" altLang="zh-CN" dirty="0">
                <a:latin typeface="Arial Unicode MS" pitchFamily="34" charset="-122"/>
                <a:ea typeface="Arial Unicode MS" pitchFamily="34" charset="-122"/>
                <a:cs typeface="Arial Unicode MS" pitchFamily="34" charset="-122"/>
              </a:rPr>
              <a:t>orking </a:t>
            </a:r>
            <a:r>
              <a:rPr lang="en-US" altLang="zh-CN" dirty="0">
                <a:solidFill>
                  <a:srgbClr val="FF3300"/>
                </a:solidFill>
                <a:latin typeface="Arial Unicode MS" pitchFamily="34" charset="-122"/>
                <a:ea typeface="Arial Unicode MS" pitchFamily="34" charset="-122"/>
                <a:cs typeface="Arial Unicode MS" pitchFamily="34" charset="-122"/>
              </a:rPr>
              <a:t>d</a:t>
            </a:r>
            <a:r>
              <a:rPr lang="en-US" altLang="zh-CN" dirty="0">
                <a:latin typeface="Arial Unicode MS" pitchFamily="34" charset="-122"/>
                <a:ea typeface="Arial Unicode MS" pitchFamily="34" charset="-122"/>
                <a:cs typeface="Arial Unicode MS" pitchFamily="34" charset="-122"/>
              </a:rPr>
              <a:t>irectory</a:t>
            </a:r>
            <a:r>
              <a:rPr lang="en-US" altLang="zh-CN" dirty="0">
                <a:latin typeface="宋体" pitchFamily="2" charset="-122"/>
              </a:rPr>
              <a:t>)</a:t>
            </a:r>
          </a:p>
          <a:p>
            <a:pPr>
              <a:buNone/>
              <a:tabLst>
                <a:tab pos="1884363" algn="l"/>
              </a:tabLst>
              <a:defRPr/>
            </a:pPr>
            <a:r>
              <a:rPr lang="en-US" altLang="zh-CN" dirty="0">
                <a:latin typeface="宋体" pitchFamily="2"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pwd</a:t>
            </a:r>
            <a:endParaRPr lang="en-US" altLang="zh-CN" dirty="0">
              <a:solidFill>
                <a:schemeClr val="hlink"/>
              </a:solidFill>
              <a:latin typeface="Arial Unicode MS" pitchFamily="34" charset="-122"/>
              <a:ea typeface="Arial Unicode MS" pitchFamily="34" charset="-122"/>
              <a:cs typeface="Arial Unicode MS" pitchFamily="34" charset="-122"/>
            </a:endParaRPr>
          </a:p>
          <a:p>
            <a:pPr>
              <a:tabLst>
                <a:tab pos="1884363" algn="l"/>
              </a:tabLst>
              <a:defRPr/>
            </a:pPr>
            <a:r>
              <a:rPr lang="zh-CN" altLang="en-US" dirty="0">
                <a:solidFill>
                  <a:schemeClr val="hlink"/>
                </a:solidFill>
                <a:latin typeface="宋体" pitchFamily="2" charset="-122"/>
              </a:rPr>
              <a:t>显示目录内容</a:t>
            </a:r>
            <a:r>
              <a:rPr lang="en-US" altLang="zh-CN" dirty="0">
                <a:latin typeface="宋体" pitchFamily="2" charset="-122"/>
              </a:rPr>
              <a:t>(</a:t>
            </a:r>
            <a:r>
              <a:rPr lang="en-US" altLang="zh-CN" dirty="0">
                <a:solidFill>
                  <a:srgbClr val="FF3300"/>
                </a:solidFill>
                <a:latin typeface="Arial Unicode MS" pitchFamily="34" charset="-122"/>
                <a:ea typeface="Arial Unicode MS" pitchFamily="34" charset="-122"/>
                <a:cs typeface="Arial Unicode MS" pitchFamily="34" charset="-122"/>
              </a:rPr>
              <a:t>l</a:t>
            </a:r>
            <a:r>
              <a:rPr lang="en-US" altLang="zh-CN" dirty="0">
                <a:latin typeface="Arial Unicode MS" pitchFamily="34" charset="-122"/>
                <a:ea typeface="Arial Unicode MS" pitchFamily="34" charset="-122"/>
                <a:cs typeface="Arial Unicode MS" pitchFamily="34" charset="-122"/>
              </a:rPr>
              <a:t>i</a:t>
            </a:r>
            <a:r>
              <a:rPr lang="en-US" altLang="zh-CN" dirty="0">
                <a:solidFill>
                  <a:srgbClr val="FF3300"/>
                </a:solidFill>
                <a:latin typeface="Arial Unicode MS" pitchFamily="34" charset="-122"/>
                <a:ea typeface="Arial Unicode MS" pitchFamily="34" charset="-122"/>
                <a:cs typeface="Arial Unicode MS" pitchFamily="34" charset="-122"/>
              </a:rPr>
              <a:t>s</a:t>
            </a:r>
            <a:r>
              <a:rPr lang="en-US" altLang="zh-CN" dirty="0">
                <a:latin typeface="Arial Unicode MS" pitchFamily="34" charset="-122"/>
                <a:ea typeface="Arial Unicode MS" pitchFamily="34" charset="-122"/>
                <a:cs typeface="Arial Unicode MS" pitchFamily="34" charset="-122"/>
              </a:rPr>
              <a:t>t</a:t>
            </a:r>
            <a:r>
              <a:rPr lang="en-US" altLang="zh-CN" dirty="0">
                <a:latin typeface="宋体" pitchFamily="2" charset="-122"/>
              </a:rPr>
              <a:t>)</a:t>
            </a:r>
          </a:p>
          <a:p>
            <a:pPr>
              <a:lnSpc>
                <a:spcPct val="80000"/>
              </a:lnSpc>
              <a:buNone/>
              <a:tabLst>
                <a:tab pos="1884363" algn="l"/>
              </a:tabLst>
              <a:defRPr/>
            </a:pPr>
            <a:r>
              <a:rPr lang="en-US" altLang="zh-CN" dirty="0">
                <a:solidFill>
                  <a:schemeClr val="hlink"/>
                </a:solidFill>
                <a:latin typeface="Arial Unicode MS" pitchFamily="34" charset="-122"/>
                <a:ea typeface="Arial Unicode MS" pitchFamily="34" charset="-122"/>
                <a:cs typeface="Arial Unicode MS" pitchFamily="34" charset="-122"/>
              </a:rPr>
              <a:t>      ls</a:t>
            </a:r>
            <a:r>
              <a:rPr lang="en-US" altLang="zh-CN" dirty="0">
                <a:latin typeface="宋体" pitchFamily="2" charset="-122"/>
              </a:rPr>
              <a:t> [</a:t>
            </a:r>
            <a:r>
              <a:rPr lang="zh-CN" altLang="en-US" dirty="0">
                <a:latin typeface="宋体" pitchFamily="2" charset="-122"/>
              </a:rPr>
              <a:t>选项</a:t>
            </a:r>
            <a:r>
              <a:rPr lang="en-US" altLang="zh-CN" dirty="0">
                <a:latin typeface="宋体" pitchFamily="2" charset="-122"/>
              </a:rPr>
              <a:t>] </a:t>
            </a:r>
            <a:endParaRPr lang="en-US" altLang="zh-CN" dirty="0">
              <a:latin typeface="Arial Unicode MS" pitchFamily="34" charset="-122"/>
              <a:ea typeface="Arial Unicode MS" pitchFamily="34" charset="-122"/>
              <a:cs typeface="Arial Unicode MS" pitchFamily="34" charset="-122"/>
            </a:endParaRPr>
          </a:p>
          <a:p>
            <a:pPr>
              <a:lnSpc>
                <a:spcPct val="80000"/>
              </a:lnSpc>
              <a:buNone/>
              <a:tabLst>
                <a:tab pos="1884363" algn="l"/>
              </a:tabLst>
              <a:defRPr/>
            </a:pPr>
            <a:r>
              <a:rPr lang="en-US" altLang="zh-CN" dirty="0">
                <a:latin typeface="宋体" pitchFamily="2" charset="-122"/>
              </a:rPr>
              <a:t>   </a:t>
            </a:r>
            <a:r>
              <a:rPr lang="zh-CN" altLang="en-US" dirty="0">
                <a:latin typeface="宋体" pitchFamily="2" charset="-122"/>
              </a:rPr>
              <a:t>选项</a:t>
            </a:r>
            <a:r>
              <a:rPr lang="en-US" altLang="zh-CN" dirty="0">
                <a:latin typeface="宋体" pitchFamily="2" charset="-122"/>
              </a:rPr>
              <a:t>:-a </a:t>
            </a:r>
            <a:r>
              <a:rPr lang="zh-CN" altLang="en-US" dirty="0">
                <a:latin typeface="宋体" pitchFamily="2" charset="-122"/>
              </a:rPr>
              <a:t>显示当前目录下的所有文件，包括以</a:t>
            </a:r>
            <a:r>
              <a:rPr lang="en-US" altLang="zh-CN" dirty="0">
                <a:latin typeface="宋体" pitchFamily="2" charset="-122"/>
              </a:rPr>
              <a:t>.</a:t>
            </a:r>
            <a:r>
              <a:rPr lang="zh-CN" altLang="en-US" dirty="0">
                <a:latin typeface="宋体" pitchFamily="2" charset="-122"/>
              </a:rPr>
              <a:t>开头的文件。</a:t>
            </a:r>
          </a:p>
          <a:p>
            <a:pPr>
              <a:lnSpc>
                <a:spcPct val="80000"/>
              </a:lnSpc>
              <a:buNone/>
              <a:tabLst>
                <a:tab pos="1884363" algn="l"/>
              </a:tabLst>
              <a:defRPr/>
            </a:pPr>
            <a:r>
              <a:rPr lang="zh-CN" altLang="en-US" dirty="0">
                <a:latin typeface="宋体" pitchFamily="2" charset="-122"/>
              </a:rPr>
              <a:t>        </a:t>
            </a:r>
            <a:r>
              <a:rPr lang="en-US" altLang="zh-CN" dirty="0">
                <a:latin typeface="宋体" pitchFamily="2" charset="-122"/>
              </a:rPr>
              <a:t>-l </a:t>
            </a:r>
            <a:r>
              <a:rPr lang="zh-CN" altLang="en-US" dirty="0">
                <a:latin typeface="宋体" pitchFamily="2" charset="-122"/>
              </a:rPr>
              <a:t>以长列表的形式显示文件列表</a:t>
            </a:r>
            <a:r>
              <a:rPr lang="en-US" altLang="zh-CN" dirty="0">
                <a:latin typeface="宋体" pitchFamily="2" charset="-122"/>
              </a:rPr>
              <a:t>,</a:t>
            </a:r>
            <a:r>
              <a:rPr lang="zh-CN" altLang="en-US" dirty="0">
                <a:latin typeface="宋体" pitchFamily="2" charset="-122"/>
              </a:rPr>
              <a:t>如：</a:t>
            </a:r>
          </a:p>
          <a:p>
            <a:pPr>
              <a:lnSpc>
                <a:spcPct val="80000"/>
              </a:lnSpc>
              <a:buNone/>
              <a:tabLst>
                <a:tab pos="1884363" algn="l"/>
              </a:tabLst>
              <a:defRPr/>
            </a:pPr>
            <a:r>
              <a:rPr lang="zh-CN" altLang="en-US" dirty="0">
                <a:latin typeface="宋体" pitchFamily="2" charset="-122"/>
              </a:rPr>
              <a:t>           </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rw</a:t>
            </a:r>
            <a:r>
              <a:rPr lang="en-US" altLang="zh-CN" dirty="0">
                <a:latin typeface="Arial Unicode MS" pitchFamily="34" charset="-122"/>
                <a:ea typeface="Arial Unicode MS" pitchFamily="34" charset="-122"/>
                <a:cs typeface="Arial Unicode MS" pitchFamily="34" charset="-122"/>
              </a:rPr>
              <a:t>-r--r-- 1 </a:t>
            </a:r>
            <a:r>
              <a:rPr lang="en-US" altLang="zh-CN" dirty="0" err="1">
                <a:latin typeface="Arial Unicode MS" pitchFamily="34" charset="-122"/>
                <a:ea typeface="Arial Unicode MS" pitchFamily="34" charset="-122"/>
                <a:cs typeface="Arial Unicode MS" pitchFamily="34" charset="-122"/>
              </a:rPr>
              <a:t>haison</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haison</a:t>
            </a:r>
            <a:r>
              <a:rPr lang="en-US" altLang="zh-CN" dirty="0">
                <a:latin typeface="Arial Unicode MS" pitchFamily="34" charset="-122"/>
                <a:ea typeface="Arial Unicode MS" pitchFamily="34" charset="-122"/>
                <a:cs typeface="Arial Unicode MS" pitchFamily="34" charset="-122"/>
              </a:rPr>
              <a:t> 18 Nov 2 10:10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31993928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目录管理</a:t>
            </a:r>
            <a:endParaRPr lang="zh-CN" altLang="en-US" dirty="0"/>
          </a:p>
        </p:txBody>
      </p:sp>
      <p:sp>
        <p:nvSpPr>
          <p:cNvPr id="3" name="内容占位符 2"/>
          <p:cNvSpPr>
            <a:spLocks noGrp="1"/>
          </p:cNvSpPr>
          <p:nvPr>
            <p:ph idx="1"/>
          </p:nvPr>
        </p:nvSpPr>
        <p:spPr>
          <a:xfrm>
            <a:off x="922090" y="1364230"/>
            <a:ext cx="10515600" cy="4884664"/>
          </a:xfrm>
        </p:spPr>
        <p:txBody>
          <a:bodyPr>
            <a:normAutofit fontScale="85000" lnSpcReduction="20000"/>
          </a:bodyPr>
          <a:lstStyle/>
          <a:p>
            <a:pPr>
              <a:defRPr/>
            </a:pPr>
            <a:r>
              <a:rPr lang="zh-CN" altLang="en-US" dirty="0">
                <a:solidFill>
                  <a:schemeClr val="hlink"/>
                </a:solidFill>
                <a:latin typeface="宋体" pitchFamily="2" charset="-122"/>
              </a:rPr>
              <a:t>改变当前目录</a:t>
            </a:r>
            <a:r>
              <a:rPr lang="en-US" altLang="zh-CN" dirty="0">
                <a:latin typeface="宋体" pitchFamily="2" charset="-122"/>
              </a:rPr>
              <a:t>(</a:t>
            </a:r>
            <a:r>
              <a:rPr lang="en-US" altLang="zh-CN" dirty="0">
                <a:solidFill>
                  <a:srgbClr val="FF3300"/>
                </a:solidFill>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hange </a:t>
            </a:r>
            <a:r>
              <a:rPr lang="en-US" altLang="zh-CN" dirty="0">
                <a:solidFill>
                  <a:srgbClr val="FF3300"/>
                </a:solidFill>
                <a:latin typeface="Arial Unicode MS" pitchFamily="34" charset="-122"/>
                <a:ea typeface="Arial Unicode MS" pitchFamily="34" charset="-122"/>
                <a:cs typeface="Arial Unicode MS" pitchFamily="34" charset="-122"/>
              </a:rPr>
              <a:t>d</a:t>
            </a:r>
            <a:r>
              <a:rPr lang="en-US" altLang="zh-CN" dirty="0">
                <a:latin typeface="Arial Unicode MS" pitchFamily="34" charset="-122"/>
                <a:ea typeface="Arial Unicode MS" pitchFamily="34" charset="-122"/>
                <a:cs typeface="Arial Unicode MS" pitchFamily="34" charset="-122"/>
              </a:rPr>
              <a:t>irectory</a:t>
            </a:r>
            <a:r>
              <a:rPr lang="en-US" altLang="zh-CN" dirty="0">
                <a:latin typeface="宋体" pitchFamily="2" charset="-122"/>
              </a:rPr>
              <a:t>)</a:t>
            </a:r>
          </a:p>
          <a:p>
            <a:pPr>
              <a:buNone/>
              <a:defRPr/>
            </a:pPr>
            <a:r>
              <a:rPr lang="en-US" altLang="zh-CN"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cd</a:t>
            </a:r>
            <a:r>
              <a:rPr lang="en-US" altLang="zh-CN" dirty="0">
                <a:latin typeface="宋体" pitchFamily="2" charset="-122"/>
              </a:rPr>
              <a:t> </a:t>
            </a:r>
            <a:r>
              <a:rPr lang="zh-CN" altLang="en-US" dirty="0">
                <a:latin typeface="宋体" pitchFamily="2" charset="-122"/>
              </a:rPr>
              <a:t>或 </a:t>
            </a:r>
            <a:r>
              <a:rPr lang="en-US" altLang="zh-CN" dirty="0">
                <a:solidFill>
                  <a:schemeClr val="hlink"/>
                </a:solidFill>
                <a:latin typeface="Arial Unicode MS" pitchFamily="34" charset="-122"/>
                <a:ea typeface="Arial Unicode MS" pitchFamily="34" charset="-122"/>
                <a:cs typeface="Arial Unicode MS" pitchFamily="34" charset="-122"/>
              </a:rPr>
              <a:t>cd </a:t>
            </a:r>
            <a:r>
              <a:rPr lang="en-US" altLang="zh-CN" dirty="0">
                <a:latin typeface="Arial Unicode MS" pitchFamily="34" charset="-122"/>
                <a:ea typeface="Arial Unicode MS" pitchFamily="34" charset="-122"/>
                <a:cs typeface="Arial Unicode MS" pitchFamily="34" charset="-122"/>
              </a:rPr>
              <a:t>~</a:t>
            </a:r>
            <a:r>
              <a:rPr lang="en-US" altLang="zh-CN" dirty="0">
                <a:latin typeface="宋体" pitchFamily="2" charset="-122"/>
              </a:rPr>
              <a:t> </a:t>
            </a:r>
            <a:r>
              <a:rPr lang="zh-CN" altLang="en-US" dirty="0">
                <a:latin typeface="宋体" pitchFamily="2" charset="-122"/>
              </a:rPr>
              <a:t>进入登录时的主目录</a:t>
            </a:r>
          </a:p>
          <a:p>
            <a:pPr>
              <a:buNone/>
              <a:defRPr/>
            </a:pPr>
            <a:r>
              <a:rPr lang="zh-CN" altLang="en-US"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cd  </a:t>
            </a:r>
            <a:r>
              <a:rPr lang="en-US" altLang="zh-CN" dirty="0">
                <a:latin typeface="Arial Unicode MS" pitchFamily="34" charset="-122"/>
                <a:ea typeface="Arial Unicode MS" pitchFamily="34" charset="-122"/>
                <a:cs typeface="Arial Unicode MS" pitchFamily="34" charset="-122"/>
              </a:rPr>
              <a:t>/</a:t>
            </a:r>
            <a:r>
              <a:rPr lang="en-US" altLang="zh-CN" dirty="0">
                <a:latin typeface="宋体" pitchFamily="2" charset="-122"/>
              </a:rPr>
              <a:t>       </a:t>
            </a:r>
            <a:r>
              <a:rPr lang="zh-CN" altLang="en-US" dirty="0">
                <a:latin typeface="宋体" pitchFamily="2" charset="-122"/>
              </a:rPr>
              <a:t>进入根目录</a:t>
            </a:r>
          </a:p>
          <a:p>
            <a:pPr>
              <a:buNone/>
              <a:defRPr/>
            </a:pPr>
            <a:r>
              <a:rPr lang="zh-CN" altLang="en-US"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cd </a:t>
            </a:r>
            <a:r>
              <a:rPr lang="en-US" altLang="zh-CN" dirty="0">
                <a:latin typeface="Arial Unicode MS" pitchFamily="34" charset="-122"/>
                <a:ea typeface="Arial Unicode MS" pitchFamily="34" charset="-122"/>
                <a:cs typeface="Arial Unicode MS" pitchFamily="34" charset="-122"/>
              </a:rPr>
              <a:t> ..</a:t>
            </a:r>
            <a:r>
              <a:rPr lang="en-US" altLang="zh-CN" dirty="0">
                <a:latin typeface="宋体" pitchFamily="2" charset="-122"/>
              </a:rPr>
              <a:t>       </a:t>
            </a:r>
            <a:r>
              <a:rPr lang="zh-CN" altLang="en-US" dirty="0">
                <a:latin typeface="宋体" pitchFamily="2" charset="-122"/>
              </a:rPr>
              <a:t>进入上一级目录</a:t>
            </a:r>
          </a:p>
          <a:p>
            <a:pPr>
              <a:buNone/>
              <a:defRPr/>
            </a:pPr>
            <a:r>
              <a:rPr lang="zh-CN" altLang="en-US"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cd  </a:t>
            </a:r>
            <a:r>
              <a:rPr lang="en-US" altLang="zh-CN" dirty="0">
                <a:latin typeface="Arial Unicode MS" pitchFamily="34" charset="-122"/>
                <a:ea typeface="Arial Unicode MS" pitchFamily="34" charset="-122"/>
                <a:cs typeface="Arial Unicode MS" pitchFamily="34" charset="-122"/>
              </a:rPr>
              <a:t>/home</a:t>
            </a:r>
            <a:r>
              <a:rPr lang="en-US" altLang="zh-CN" dirty="0">
                <a:latin typeface="宋体" pitchFamily="2" charset="-122"/>
              </a:rPr>
              <a:t>   </a:t>
            </a:r>
            <a:r>
              <a:rPr lang="zh-CN" altLang="en-US" dirty="0">
                <a:latin typeface="宋体" pitchFamily="2" charset="-122"/>
              </a:rPr>
              <a:t>进入系统的</a:t>
            </a:r>
            <a:r>
              <a:rPr lang="en-US" altLang="zh-CN" dirty="0">
                <a:latin typeface="宋体" pitchFamily="2" charset="-122"/>
              </a:rPr>
              <a:t>home</a:t>
            </a:r>
            <a:r>
              <a:rPr lang="zh-CN" altLang="en-US" dirty="0">
                <a:latin typeface="宋体" pitchFamily="2" charset="-122"/>
              </a:rPr>
              <a:t>目录</a:t>
            </a:r>
          </a:p>
          <a:p>
            <a:pPr>
              <a:buNone/>
              <a:defRPr/>
            </a:pPr>
            <a:r>
              <a:rPr lang="zh-CN" altLang="en-US"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cd</a:t>
            </a:r>
            <a:r>
              <a:rPr lang="en-US" altLang="zh-CN" dirty="0">
                <a:latin typeface="Arial Unicode MS" pitchFamily="34" charset="-122"/>
                <a:ea typeface="Arial Unicode MS" pitchFamily="34" charset="-122"/>
                <a:cs typeface="Arial Unicode MS" pitchFamily="34" charset="-122"/>
              </a:rPr>
              <a:t>  home</a:t>
            </a:r>
            <a:r>
              <a:rPr lang="en-US" altLang="zh-CN" dirty="0">
                <a:latin typeface="宋体" pitchFamily="2" charset="-122"/>
              </a:rPr>
              <a:t>    </a:t>
            </a:r>
            <a:r>
              <a:rPr lang="zh-CN" altLang="en-US" dirty="0">
                <a:latin typeface="宋体" pitchFamily="2" charset="-122"/>
              </a:rPr>
              <a:t>进入当前目录下的</a:t>
            </a:r>
            <a:r>
              <a:rPr lang="en-US" altLang="zh-CN" dirty="0">
                <a:latin typeface="宋体" pitchFamily="2" charset="-122"/>
              </a:rPr>
              <a:t>home</a:t>
            </a:r>
            <a:r>
              <a:rPr lang="zh-CN" altLang="en-US" dirty="0">
                <a:latin typeface="宋体" pitchFamily="2" charset="-122"/>
              </a:rPr>
              <a:t>目录</a:t>
            </a:r>
          </a:p>
          <a:p>
            <a:pPr>
              <a:defRPr/>
            </a:pPr>
            <a:r>
              <a:rPr lang="zh-CN" altLang="en-US" dirty="0">
                <a:solidFill>
                  <a:schemeClr val="hlink"/>
                </a:solidFill>
              </a:rPr>
              <a:t>目录</a:t>
            </a:r>
            <a:r>
              <a:rPr lang="zh-CN" altLang="en-US" dirty="0">
                <a:solidFill>
                  <a:schemeClr val="hlink"/>
                </a:solidFill>
                <a:latin typeface="宋体" pitchFamily="2" charset="-122"/>
              </a:rPr>
              <a:t>重命名</a:t>
            </a:r>
            <a:r>
              <a:rPr lang="en-US" altLang="zh-CN" dirty="0"/>
              <a:t>(</a:t>
            </a:r>
            <a:r>
              <a:rPr lang="en-US" altLang="zh-CN" dirty="0">
                <a:solidFill>
                  <a:srgbClr val="FF3300"/>
                </a:solidFill>
                <a:latin typeface="Arial Unicode MS" pitchFamily="34" charset="-122"/>
                <a:ea typeface="Arial Unicode MS" pitchFamily="34" charset="-122"/>
                <a:cs typeface="Arial Unicode MS" pitchFamily="34" charset="-122"/>
              </a:rPr>
              <a:t>m</a:t>
            </a:r>
            <a:r>
              <a:rPr lang="en-US" altLang="zh-CN" dirty="0">
                <a:latin typeface="Arial Unicode MS" pitchFamily="34" charset="-122"/>
                <a:ea typeface="Arial Unicode MS" pitchFamily="34" charset="-122"/>
                <a:cs typeface="Arial Unicode MS" pitchFamily="34" charset="-122"/>
              </a:rPr>
              <a:t>o</a:t>
            </a:r>
            <a:r>
              <a:rPr lang="en-US" altLang="zh-CN" dirty="0">
                <a:solidFill>
                  <a:srgbClr val="FF3300"/>
                </a:solidFill>
                <a:latin typeface="Arial Unicode MS" pitchFamily="34" charset="-122"/>
                <a:ea typeface="Arial Unicode MS" pitchFamily="34" charset="-122"/>
                <a:cs typeface="Arial Unicode MS" pitchFamily="34" charset="-122"/>
              </a:rPr>
              <a:t>v</a:t>
            </a:r>
            <a:r>
              <a:rPr lang="en-US" altLang="zh-CN" dirty="0">
                <a:latin typeface="Arial Unicode MS" pitchFamily="34" charset="-122"/>
                <a:ea typeface="Arial Unicode MS" pitchFamily="34" charset="-122"/>
                <a:cs typeface="Arial Unicode MS" pitchFamily="34" charset="-122"/>
              </a:rPr>
              <a:t>e</a:t>
            </a:r>
            <a:r>
              <a:rPr lang="en-US" altLang="zh-CN" dirty="0"/>
              <a:t>)</a:t>
            </a:r>
          </a:p>
          <a:p>
            <a:pPr>
              <a:buNone/>
              <a:defRPr/>
            </a:pPr>
            <a:r>
              <a:rPr lang="en-US" altLang="zh-CN" dirty="0">
                <a:solidFill>
                  <a:schemeClr val="hlink"/>
                </a:solidFill>
                <a:latin typeface="Arial Unicode MS" pitchFamily="34" charset="-122"/>
                <a:ea typeface="Arial Unicode MS" pitchFamily="34" charset="-122"/>
                <a:cs typeface="Arial Unicode MS" pitchFamily="34" charset="-122"/>
              </a:rPr>
              <a:t>     mv</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SourceDirecName</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TargetDirecName</a:t>
            </a:r>
            <a:endParaRPr lang="en-US" altLang="zh-CN" dirty="0"/>
          </a:p>
          <a:p>
            <a:pPr>
              <a:defRPr/>
            </a:pPr>
            <a:r>
              <a:rPr lang="zh-CN" altLang="en-US" dirty="0">
                <a:solidFill>
                  <a:schemeClr val="hlink"/>
                </a:solidFill>
              </a:rPr>
              <a:t>目录拷贝</a:t>
            </a:r>
            <a:r>
              <a:rPr lang="en-US" altLang="zh-CN" dirty="0"/>
              <a:t>(</a:t>
            </a:r>
            <a:r>
              <a:rPr lang="en-US" altLang="zh-CN" dirty="0">
                <a:solidFill>
                  <a:srgbClr val="FF3300"/>
                </a:solidFill>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o</a:t>
            </a:r>
            <a:r>
              <a:rPr lang="en-US" altLang="zh-CN" dirty="0">
                <a:solidFill>
                  <a:srgbClr val="FF3300"/>
                </a:solidFill>
                <a:latin typeface="Arial Unicode MS" pitchFamily="34" charset="-122"/>
                <a:ea typeface="Arial Unicode MS" pitchFamily="34" charset="-122"/>
                <a:cs typeface="Arial Unicode MS" pitchFamily="34" charset="-122"/>
              </a:rPr>
              <a:t>p</a:t>
            </a:r>
            <a:r>
              <a:rPr lang="en-US" altLang="zh-CN" dirty="0">
                <a:latin typeface="Arial Unicode MS" pitchFamily="34" charset="-122"/>
                <a:ea typeface="Arial Unicode MS" pitchFamily="34" charset="-122"/>
                <a:cs typeface="Arial Unicode MS" pitchFamily="34" charset="-122"/>
              </a:rPr>
              <a:t>y</a:t>
            </a:r>
            <a:r>
              <a:rPr lang="en-US" altLang="zh-CN" dirty="0"/>
              <a:t>)</a:t>
            </a:r>
          </a:p>
          <a:p>
            <a:pPr>
              <a:buNone/>
              <a:defRPr/>
            </a:pPr>
            <a:r>
              <a:rPr lang="en-US" altLang="zh-CN" dirty="0"/>
              <a:t>     </a:t>
            </a:r>
            <a:r>
              <a:rPr lang="en-US" altLang="zh-CN" dirty="0" err="1">
                <a:solidFill>
                  <a:schemeClr val="hlink"/>
                </a:solidFill>
                <a:latin typeface="Arial Unicode MS" pitchFamily="34" charset="-122"/>
                <a:ea typeface="Arial Unicode MS" pitchFamily="34" charset="-122"/>
                <a:cs typeface="Arial Unicode MS" pitchFamily="34" charset="-122"/>
              </a:rPr>
              <a:t>cp</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SourceDirec</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TargetDirec</a:t>
            </a:r>
            <a:endParaRPr lang="en-US" altLang="zh-CN" dirty="0">
              <a:latin typeface="Arial Unicode MS" pitchFamily="34" charset="-122"/>
              <a:ea typeface="Arial Unicode MS" pitchFamily="34" charset="-122"/>
              <a:cs typeface="Arial Unicode MS" pitchFamily="34" charset="-122"/>
            </a:endParaRPr>
          </a:p>
          <a:p>
            <a:pPr>
              <a:buNone/>
              <a:defRPr/>
            </a:pPr>
            <a:r>
              <a:rPr lang="en-US" altLang="zh-CN" dirty="0">
                <a:latin typeface="Arial Unicode MS" pitchFamily="34" charset="-122"/>
                <a:ea typeface="Arial Unicode MS" pitchFamily="34" charset="-122"/>
                <a:cs typeface="Arial Unicode MS" pitchFamily="34" charset="-122"/>
              </a:rPr>
              <a:t>      -r </a:t>
            </a:r>
            <a:r>
              <a:rPr lang="zh-CN" altLang="en-US" dirty="0">
                <a:latin typeface="Arial Unicode MS" pitchFamily="34" charset="-122"/>
              </a:rPr>
              <a:t>拷贝目录下的文件、子目录及子目录下的文件</a:t>
            </a:r>
            <a:endParaRPr lang="zh-CN" altLang="en-US" dirty="0"/>
          </a:p>
          <a:p>
            <a:endParaRPr lang="zh-CN" altLang="en-US" dirty="0"/>
          </a:p>
        </p:txBody>
      </p:sp>
    </p:spTree>
    <p:extLst>
      <p:ext uri="{BB962C8B-B14F-4D97-AF65-F5344CB8AC3E}">
        <p14:creationId xmlns:p14="http://schemas.microsoft.com/office/powerpoint/2010/main" val="16503211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文件管理</a:t>
            </a:r>
            <a:endParaRPr lang="zh-CN" altLang="en-US" dirty="0"/>
          </a:p>
        </p:txBody>
      </p:sp>
      <p:sp>
        <p:nvSpPr>
          <p:cNvPr id="3" name="内容占位符 2"/>
          <p:cNvSpPr>
            <a:spLocks noGrp="1"/>
          </p:cNvSpPr>
          <p:nvPr>
            <p:ph idx="1"/>
          </p:nvPr>
        </p:nvSpPr>
        <p:spPr>
          <a:xfrm>
            <a:off x="829811" y="1069903"/>
            <a:ext cx="10515600" cy="5019601"/>
          </a:xfrm>
        </p:spPr>
        <p:txBody>
          <a:bodyPr>
            <a:normAutofit fontScale="85000" lnSpcReduction="20000"/>
          </a:bodyPr>
          <a:lstStyle/>
          <a:p>
            <a:pPr>
              <a:defRPr/>
            </a:pPr>
            <a:r>
              <a:rPr lang="zh-CN" altLang="en-US" dirty="0">
                <a:solidFill>
                  <a:schemeClr val="hlink"/>
                </a:solidFill>
              </a:rPr>
              <a:t>新建文件</a:t>
            </a:r>
          </a:p>
          <a:p>
            <a:pPr>
              <a:buNone/>
              <a:defRPr/>
            </a:pPr>
            <a:r>
              <a:rPr lang="zh-CN" altLang="en-US" dirty="0"/>
              <a:t>    </a:t>
            </a:r>
            <a:r>
              <a:rPr lang="en-US" altLang="zh-CN" dirty="0">
                <a:solidFill>
                  <a:schemeClr val="hlink"/>
                </a:solidFill>
              </a:rPr>
              <a:t>&gt;</a:t>
            </a:r>
            <a:r>
              <a:rPr lang="en-US" altLang="zh-CN" dirty="0" err="1">
                <a:latin typeface="Arial Unicode MS" pitchFamily="34" charset="-122"/>
                <a:ea typeface="Arial Unicode MS" pitchFamily="34" charset="-122"/>
                <a:cs typeface="Arial Unicode MS" pitchFamily="34" charset="-122"/>
              </a:rPr>
              <a:t>FileName</a:t>
            </a:r>
            <a:r>
              <a:rPr lang="en-US" altLang="zh-CN" dirty="0"/>
              <a:t> </a:t>
            </a:r>
            <a:r>
              <a:rPr lang="zh-CN" altLang="en-US" dirty="0">
                <a:solidFill>
                  <a:srgbClr val="FF3300"/>
                </a:solidFill>
              </a:rPr>
              <a:t>或</a:t>
            </a:r>
            <a:r>
              <a:rPr lang="zh-CN" altLang="en-US" dirty="0"/>
              <a:t> </a:t>
            </a:r>
            <a:r>
              <a:rPr lang="en-US" altLang="zh-CN" dirty="0">
                <a:solidFill>
                  <a:schemeClr val="hlink"/>
                </a:solidFill>
                <a:latin typeface="Arial Unicode MS" pitchFamily="34" charset="-122"/>
                <a:ea typeface="Arial Unicode MS" pitchFamily="34" charset="-122"/>
                <a:cs typeface="Arial Unicode MS" pitchFamily="34" charset="-122"/>
              </a:rPr>
              <a:t>touch</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r>
              <a:rPr lang="en-US" altLang="zh-CN" dirty="0"/>
              <a:t> </a:t>
            </a:r>
            <a:r>
              <a:rPr lang="zh-CN" altLang="en-US" dirty="0">
                <a:solidFill>
                  <a:srgbClr val="FF3300"/>
                </a:solidFill>
              </a:rPr>
              <a:t>或</a:t>
            </a:r>
            <a:r>
              <a:rPr lang="zh-CN" altLang="en-US" dirty="0"/>
              <a:t> </a:t>
            </a:r>
            <a:r>
              <a:rPr lang="en-US" altLang="zh-CN" dirty="0">
                <a:solidFill>
                  <a:schemeClr val="hlink"/>
                </a:solidFill>
                <a:latin typeface="Arial Unicode MS" pitchFamily="34" charset="-122"/>
                <a:ea typeface="Arial Unicode MS" pitchFamily="34" charset="-122"/>
                <a:cs typeface="Arial Unicode MS" pitchFamily="34" charset="-122"/>
              </a:rPr>
              <a:t>vi</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endParaRPr lang="en-US" altLang="zh-CN" dirty="0">
              <a:latin typeface="Arial Unicode MS" pitchFamily="34" charset="-122"/>
              <a:ea typeface="Arial Unicode MS" pitchFamily="34" charset="-122"/>
              <a:cs typeface="Arial Unicode MS" pitchFamily="34" charset="-122"/>
            </a:endParaRPr>
          </a:p>
          <a:p>
            <a:pPr>
              <a:defRPr/>
            </a:pPr>
            <a:r>
              <a:rPr lang="zh-CN" altLang="en-US" dirty="0">
                <a:solidFill>
                  <a:schemeClr val="hlink"/>
                </a:solidFill>
              </a:rPr>
              <a:t>删除文件</a:t>
            </a:r>
            <a:r>
              <a:rPr lang="en-US" altLang="zh-CN" dirty="0"/>
              <a:t>(</a:t>
            </a:r>
            <a:r>
              <a:rPr lang="en-US" altLang="zh-CN" dirty="0">
                <a:solidFill>
                  <a:srgbClr val="FF3300"/>
                </a:solidFill>
                <a:latin typeface="Arial Unicode MS" pitchFamily="34" charset="-122"/>
                <a:ea typeface="Arial Unicode MS" pitchFamily="34" charset="-122"/>
                <a:cs typeface="Arial Unicode MS" pitchFamily="34" charset="-122"/>
              </a:rPr>
              <a:t>r</a:t>
            </a:r>
            <a:r>
              <a:rPr lang="en-US" altLang="zh-CN" dirty="0">
                <a:latin typeface="Arial Unicode MS" pitchFamily="34" charset="-122"/>
                <a:ea typeface="Arial Unicode MS" pitchFamily="34" charset="-122"/>
                <a:cs typeface="Arial Unicode MS" pitchFamily="34" charset="-122"/>
              </a:rPr>
              <a:t>e</a:t>
            </a:r>
            <a:r>
              <a:rPr lang="en-US" altLang="zh-CN" dirty="0">
                <a:solidFill>
                  <a:srgbClr val="FF3300"/>
                </a:solidFill>
                <a:latin typeface="Arial Unicode MS" pitchFamily="34" charset="-122"/>
                <a:ea typeface="Arial Unicode MS" pitchFamily="34" charset="-122"/>
                <a:cs typeface="Arial Unicode MS" pitchFamily="34" charset="-122"/>
              </a:rPr>
              <a:t>m</a:t>
            </a:r>
            <a:r>
              <a:rPr lang="en-US" altLang="zh-CN" dirty="0">
                <a:latin typeface="Arial Unicode MS" pitchFamily="34" charset="-122"/>
                <a:ea typeface="Arial Unicode MS" pitchFamily="34" charset="-122"/>
                <a:cs typeface="Arial Unicode MS" pitchFamily="34" charset="-122"/>
              </a:rPr>
              <a:t>ove file</a:t>
            </a:r>
            <a:r>
              <a:rPr lang="en-US" altLang="zh-CN" dirty="0"/>
              <a:t>)</a:t>
            </a:r>
          </a:p>
          <a:p>
            <a:pPr>
              <a:buNone/>
              <a:defRPr/>
            </a:pPr>
            <a:r>
              <a:rPr lang="en-US" altLang="zh-CN" dirty="0"/>
              <a:t>     </a:t>
            </a:r>
            <a:r>
              <a:rPr lang="en-US" altLang="zh-CN" dirty="0" err="1">
                <a:solidFill>
                  <a:schemeClr val="hlink"/>
                </a:solidFill>
                <a:latin typeface="Arial Unicode MS" pitchFamily="34" charset="-122"/>
                <a:ea typeface="Arial Unicode MS" pitchFamily="34" charset="-122"/>
                <a:cs typeface="Arial Unicode MS" pitchFamily="34" charset="-122"/>
              </a:rPr>
              <a:t>rm</a:t>
            </a:r>
            <a:r>
              <a:rPr lang="en-US" altLang="zh-CN" dirty="0">
                <a:solidFill>
                  <a:schemeClr val="hlink"/>
                </a:solidFill>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a:t>
            </a:r>
            <a:r>
              <a:rPr lang="zh-CN" altLang="en-US" dirty="0">
                <a:latin typeface="宋体" pitchFamily="2" charset="-122"/>
              </a:rPr>
              <a:t>选项</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endParaRPr lang="en-US" altLang="zh-CN" dirty="0">
              <a:latin typeface="Arial Unicode MS" pitchFamily="34" charset="-122"/>
              <a:ea typeface="Arial Unicode MS" pitchFamily="34" charset="-122"/>
              <a:cs typeface="Arial Unicode MS" pitchFamily="34" charset="-122"/>
            </a:endParaRPr>
          </a:p>
          <a:p>
            <a:pPr>
              <a:buNone/>
              <a:defRPr/>
            </a:pP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rPr>
              <a:t>选项：</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i</a:t>
            </a:r>
            <a:r>
              <a:rPr lang="en-US" altLang="zh-CN" dirty="0">
                <a:latin typeface="宋体" pitchFamily="2" charset="-122"/>
              </a:rPr>
              <a:t> </a:t>
            </a:r>
            <a:r>
              <a:rPr lang="zh-CN" altLang="en-US" dirty="0">
                <a:latin typeface="宋体" pitchFamily="2" charset="-122"/>
              </a:rPr>
              <a:t>系统提示是否真要删除该文件</a:t>
            </a:r>
          </a:p>
          <a:p>
            <a:pPr>
              <a:buNone/>
              <a:defRPr/>
            </a:pPr>
            <a:r>
              <a:rPr lang="zh-CN" altLang="en-US" dirty="0">
                <a:latin typeface="宋体" pitchFamily="2" charset="-122"/>
              </a:rPr>
              <a:t>         </a:t>
            </a:r>
            <a:r>
              <a:rPr lang="en-US" altLang="zh-CN" dirty="0">
                <a:latin typeface="Arial Unicode MS" pitchFamily="34" charset="-122"/>
                <a:ea typeface="Arial Unicode MS" pitchFamily="34" charset="-122"/>
                <a:cs typeface="Arial Unicode MS" pitchFamily="34" charset="-122"/>
              </a:rPr>
              <a:t>-f</a:t>
            </a:r>
            <a:r>
              <a:rPr lang="en-US" altLang="zh-CN" dirty="0">
                <a:latin typeface="宋体" pitchFamily="2" charset="-122"/>
              </a:rPr>
              <a:t> </a:t>
            </a:r>
            <a:r>
              <a:rPr lang="zh-CN" altLang="en-US" dirty="0">
                <a:latin typeface="宋体" pitchFamily="2" charset="-122"/>
              </a:rPr>
              <a:t>删除文件之前不提示任何确认信息</a:t>
            </a:r>
          </a:p>
          <a:p>
            <a:pPr>
              <a:buNone/>
              <a:defRPr/>
            </a:pPr>
            <a:r>
              <a:rPr lang="zh-CN" altLang="en-US" dirty="0">
                <a:latin typeface="宋体" pitchFamily="2" charset="-122"/>
              </a:rPr>
              <a:t>         </a:t>
            </a:r>
            <a:r>
              <a:rPr lang="en-US" altLang="zh-CN" dirty="0">
                <a:latin typeface="Arial Unicode MS" pitchFamily="34" charset="-122"/>
                <a:ea typeface="Arial Unicode MS" pitchFamily="34" charset="-122"/>
                <a:cs typeface="Arial Unicode MS" pitchFamily="34" charset="-122"/>
              </a:rPr>
              <a:t>-r</a:t>
            </a:r>
            <a:r>
              <a:rPr lang="en-US" altLang="zh-CN" dirty="0">
                <a:latin typeface="宋体" pitchFamily="2" charset="-122"/>
              </a:rPr>
              <a:t> </a:t>
            </a:r>
            <a:r>
              <a:rPr lang="zh-CN" altLang="en-US" dirty="0">
                <a:latin typeface="宋体" pitchFamily="2" charset="-122"/>
              </a:rPr>
              <a:t>递归删除目录下所有子目录的内容</a:t>
            </a:r>
          </a:p>
          <a:p>
            <a:pPr>
              <a:defRPr/>
            </a:pPr>
            <a:r>
              <a:rPr lang="zh-CN" altLang="en-US" dirty="0">
                <a:solidFill>
                  <a:schemeClr val="hlink"/>
                </a:solidFill>
              </a:rPr>
              <a:t>文件拷贝</a:t>
            </a:r>
            <a:r>
              <a:rPr lang="en-US" altLang="zh-CN" dirty="0"/>
              <a:t>(</a:t>
            </a:r>
            <a:r>
              <a:rPr lang="en-US" altLang="zh-CN" dirty="0">
                <a:solidFill>
                  <a:srgbClr val="FF3300"/>
                </a:solidFill>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o</a:t>
            </a:r>
            <a:r>
              <a:rPr lang="en-US" altLang="zh-CN" dirty="0">
                <a:solidFill>
                  <a:srgbClr val="FF3300"/>
                </a:solidFill>
                <a:latin typeface="Arial Unicode MS" pitchFamily="34" charset="-122"/>
                <a:ea typeface="Arial Unicode MS" pitchFamily="34" charset="-122"/>
                <a:cs typeface="Arial Unicode MS" pitchFamily="34" charset="-122"/>
              </a:rPr>
              <a:t>p</a:t>
            </a:r>
            <a:r>
              <a:rPr lang="en-US" altLang="zh-CN" dirty="0">
                <a:latin typeface="Arial Unicode MS" pitchFamily="34" charset="-122"/>
                <a:ea typeface="Arial Unicode MS" pitchFamily="34" charset="-122"/>
                <a:cs typeface="Arial Unicode MS" pitchFamily="34" charset="-122"/>
              </a:rPr>
              <a:t>y</a:t>
            </a:r>
            <a:r>
              <a:rPr lang="en-US" altLang="zh-CN" dirty="0"/>
              <a:t>)</a:t>
            </a:r>
          </a:p>
          <a:p>
            <a:pPr>
              <a:buNone/>
              <a:defRPr/>
            </a:pPr>
            <a:r>
              <a:rPr lang="en-US" altLang="zh-CN" dirty="0"/>
              <a:t>     </a:t>
            </a:r>
            <a:r>
              <a:rPr lang="en-US" altLang="zh-CN" dirty="0" err="1">
                <a:solidFill>
                  <a:schemeClr val="hlink"/>
                </a:solidFill>
                <a:latin typeface="Arial Unicode MS" pitchFamily="34" charset="-122"/>
                <a:ea typeface="Arial Unicode MS" pitchFamily="34" charset="-122"/>
                <a:cs typeface="Arial Unicode MS" pitchFamily="34" charset="-122"/>
              </a:rPr>
              <a:t>cp</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SourceFile</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TargetFile</a:t>
            </a:r>
            <a:endParaRPr lang="en-US" altLang="zh-CN" dirty="0">
              <a:latin typeface="Arial Unicode MS" pitchFamily="34" charset="-122"/>
              <a:ea typeface="Arial Unicode MS" pitchFamily="34" charset="-122"/>
              <a:cs typeface="Arial Unicode MS" pitchFamily="34" charset="-122"/>
            </a:endParaRPr>
          </a:p>
          <a:p>
            <a:pPr>
              <a:defRPr/>
            </a:pPr>
            <a:r>
              <a:rPr lang="zh-CN" altLang="en-US" dirty="0">
                <a:solidFill>
                  <a:schemeClr val="hlink"/>
                </a:solidFill>
              </a:rPr>
              <a:t>文件链接</a:t>
            </a:r>
            <a:r>
              <a:rPr lang="en-US" altLang="zh-CN" dirty="0"/>
              <a:t>(</a:t>
            </a:r>
            <a:r>
              <a:rPr lang="en-US" altLang="zh-CN" dirty="0">
                <a:solidFill>
                  <a:srgbClr val="FF3300"/>
                </a:solidFill>
                <a:latin typeface="Arial Unicode MS" pitchFamily="34" charset="-122"/>
                <a:ea typeface="Arial Unicode MS" pitchFamily="34" charset="-122"/>
                <a:cs typeface="Arial Unicode MS" pitchFamily="34" charset="-122"/>
              </a:rPr>
              <a:t>l</a:t>
            </a:r>
            <a:r>
              <a:rPr lang="en-US" altLang="zh-CN" dirty="0">
                <a:latin typeface="Arial Unicode MS" pitchFamily="34" charset="-122"/>
                <a:ea typeface="Arial Unicode MS" pitchFamily="34" charset="-122"/>
                <a:cs typeface="Arial Unicode MS" pitchFamily="34" charset="-122"/>
              </a:rPr>
              <a:t>i</a:t>
            </a:r>
            <a:r>
              <a:rPr lang="en-US" altLang="zh-CN" dirty="0">
                <a:solidFill>
                  <a:srgbClr val="FF3300"/>
                </a:solidFill>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k)</a:t>
            </a:r>
            <a:endParaRPr lang="en-US" altLang="zh-CN" dirty="0"/>
          </a:p>
          <a:p>
            <a:pPr>
              <a:buNone/>
              <a:defRPr/>
            </a:pPr>
            <a:r>
              <a:rPr lang="en-US" altLang="zh-CN" dirty="0"/>
              <a:t>      </a:t>
            </a:r>
            <a:r>
              <a:rPr lang="en-US" altLang="zh-CN" dirty="0">
                <a:solidFill>
                  <a:schemeClr val="hlink"/>
                </a:solidFill>
                <a:latin typeface="Arial Unicode MS" pitchFamily="34" charset="-122"/>
                <a:ea typeface="Arial Unicode MS" pitchFamily="34" charset="-122"/>
                <a:cs typeface="Arial Unicode MS" pitchFamily="34" charset="-122"/>
              </a:rPr>
              <a:t>ln</a:t>
            </a:r>
            <a:r>
              <a:rPr lang="en-US" altLang="zh-CN" dirty="0">
                <a:latin typeface="Arial Unicode MS" pitchFamily="34" charset="-122"/>
                <a:ea typeface="Arial Unicode MS" pitchFamily="34" charset="-122"/>
                <a:cs typeface="Arial Unicode MS" pitchFamily="34" charset="-122"/>
              </a:rPr>
              <a:t> –s  </a:t>
            </a:r>
            <a:r>
              <a:rPr lang="en-US" altLang="zh-CN" dirty="0" err="1">
                <a:latin typeface="Arial Unicode MS" pitchFamily="34" charset="-122"/>
                <a:ea typeface="Arial Unicode MS" pitchFamily="34" charset="-122"/>
                <a:cs typeface="Arial Unicode MS" pitchFamily="34" charset="-122"/>
              </a:rPr>
              <a:t>SourceFile</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TargetFile</a:t>
            </a:r>
            <a:endParaRPr lang="en-US" altLang="zh-CN" dirty="0">
              <a:latin typeface="Arial Unicode MS" pitchFamily="34" charset="-122"/>
              <a:ea typeface="Arial Unicode MS" pitchFamily="34" charset="-122"/>
              <a:cs typeface="Arial Unicode MS" pitchFamily="34" charset="-122"/>
            </a:endParaRPr>
          </a:p>
          <a:p>
            <a:pPr>
              <a:buNone/>
              <a:defRPr/>
            </a:pP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创建文件链接</a:t>
            </a:r>
            <a:r>
              <a:rPr lang="en-US" altLang="zh-CN" dirty="0">
                <a:latin typeface="宋体" pitchFamily="2" charset="-122"/>
                <a:ea typeface="Arial Unicode MS" pitchFamily="34" charset="-122"/>
                <a:cs typeface="Arial Unicode MS" pitchFamily="34" charset="-122"/>
              </a:rPr>
              <a:t>,</a:t>
            </a:r>
            <a:r>
              <a:rPr lang="zh-CN" altLang="en-US" dirty="0">
                <a:latin typeface="宋体" pitchFamily="2" charset="-122"/>
                <a:ea typeface="Arial Unicode MS" pitchFamily="34" charset="-122"/>
                <a:cs typeface="Arial Unicode MS" pitchFamily="34" charset="-122"/>
              </a:rPr>
              <a:t>用</a:t>
            </a:r>
            <a:r>
              <a:rPr lang="en-US" altLang="zh-CN" dirty="0">
                <a:latin typeface="Arial Unicode MS" pitchFamily="34" charset="-122"/>
                <a:ea typeface="Arial Unicode MS" pitchFamily="34" charset="-122"/>
                <a:cs typeface="Arial Unicode MS" pitchFamily="34" charset="-122"/>
              </a:rPr>
              <a:t>ls –l</a:t>
            </a:r>
            <a:r>
              <a:rPr lang="zh-CN" altLang="en-US" dirty="0">
                <a:latin typeface="Arial Unicode MS" pitchFamily="34" charset="-122"/>
                <a:ea typeface="Arial Unicode MS" pitchFamily="34" charset="-122"/>
                <a:cs typeface="Arial Unicode MS" pitchFamily="34" charset="-122"/>
              </a:rPr>
              <a:t>查看，</a:t>
            </a:r>
            <a:r>
              <a:rPr lang="zh-CN" altLang="en-US" dirty="0">
                <a:latin typeface="宋体" pitchFamily="2" charset="-122"/>
                <a:ea typeface="Arial Unicode MS" pitchFamily="34" charset="-122"/>
                <a:cs typeface="Arial Unicode MS" pitchFamily="34" charset="-122"/>
              </a:rPr>
              <a:t>会看到</a:t>
            </a:r>
            <a:r>
              <a:rPr lang="en-US" altLang="zh-CN" dirty="0" err="1">
                <a:latin typeface="Arial Unicode MS" pitchFamily="34" charset="-122"/>
                <a:ea typeface="Arial Unicode MS" pitchFamily="34" charset="-122"/>
                <a:cs typeface="Arial Unicode MS" pitchFamily="34" charset="-122"/>
              </a:rPr>
              <a:t>TargetFile</a:t>
            </a:r>
            <a:r>
              <a:rPr lang="en-US" altLang="zh-CN" dirty="0">
                <a:latin typeface="Arial Unicode MS" pitchFamily="34" charset="-122"/>
                <a:ea typeface="Arial Unicode MS" pitchFamily="34" charset="-122"/>
                <a:cs typeface="Arial Unicode MS" pitchFamily="34" charset="-122"/>
              </a:rPr>
              <a:t>-&gt;</a:t>
            </a:r>
            <a:r>
              <a:rPr lang="en-US" altLang="zh-CN" dirty="0" err="1">
                <a:latin typeface="Arial Unicode MS" pitchFamily="34" charset="-122"/>
                <a:ea typeface="Arial Unicode MS" pitchFamily="34" charset="-122"/>
                <a:cs typeface="Arial Unicode MS" pitchFamily="34" charset="-122"/>
              </a:rPr>
              <a:t>SourceFile</a:t>
            </a:r>
            <a:endParaRPr lang="en-US" altLang="zh-CN"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1888290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文件管理</a:t>
            </a:r>
            <a:endParaRPr lang="zh-CN" altLang="en-US" dirty="0"/>
          </a:p>
        </p:txBody>
      </p:sp>
      <p:sp>
        <p:nvSpPr>
          <p:cNvPr id="3" name="内容占位符 2"/>
          <p:cNvSpPr>
            <a:spLocks noGrp="1"/>
          </p:cNvSpPr>
          <p:nvPr>
            <p:ph idx="1"/>
          </p:nvPr>
        </p:nvSpPr>
        <p:spPr>
          <a:xfrm>
            <a:off x="829811" y="1246784"/>
            <a:ext cx="10515600" cy="4856529"/>
          </a:xfrm>
        </p:spPr>
        <p:txBody>
          <a:bodyPr>
            <a:normAutofit fontScale="77500" lnSpcReduction="20000"/>
          </a:bodyPr>
          <a:lstStyle/>
          <a:p>
            <a:pPr>
              <a:defRPr/>
            </a:pPr>
            <a:r>
              <a:rPr lang="zh-CN" altLang="en-US" dirty="0">
                <a:solidFill>
                  <a:schemeClr val="hlink"/>
                </a:solidFill>
              </a:rPr>
              <a:t>显示文件内容</a:t>
            </a:r>
          </a:p>
          <a:p>
            <a:pPr>
              <a:buNone/>
              <a:defRPr/>
            </a:pPr>
            <a:r>
              <a:rPr lang="zh-CN" altLang="en-US" dirty="0">
                <a:solidFill>
                  <a:schemeClr val="hlink"/>
                </a:solidFill>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more</a:t>
            </a:r>
            <a:r>
              <a:rPr lang="en-US" altLang="zh-CN" dirty="0">
                <a:solidFill>
                  <a:schemeClr val="hlink"/>
                </a:solidFill>
              </a:rPr>
              <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一次一屏的显示文件内容</a:t>
            </a:r>
            <a:r>
              <a:rPr lang="en-US" altLang="zh-CN" dirty="0">
                <a:latin typeface="宋体" pitchFamily="2" charset="-122"/>
                <a:ea typeface="Arial Unicode MS" pitchFamily="34" charset="-122"/>
                <a:cs typeface="Arial Unicode MS" pitchFamily="34" charset="-122"/>
              </a:rPr>
              <a:t>,</a:t>
            </a:r>
            <a:r>
              <a:rPr lang="zh-CN" altLang="en-US" dirty="0">
                <a:latin typeface="宋体" pitchFamily="2" charset="-122"/>
                <a:ea typeface="Arial Unicode MS" pitchFamily="34" charset="-122"/>
                <a:cs typeface="Arial Unicode MS" pitchFamily="34" charset="-122"/>
              </a:rPr>
              <a:t>空格或回车显示下一屏</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less</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一次一屏的显示文件内容</a:t>
            </a:r>
            <a:r>
              <a:rPr lang="en-US" altLang="zh-CN" dirty="0">
                <a:latin typeface="宋体" pitchFamily="2" charset="-122"/>
                <a:ea typeface="Arial Unicode MS" pitchFamily="34" charset="-122"/>
                <a:cs typeface="Arial Unicode MS" pitchFamily="34" charset="-122"/>
              </a:rPr>
              <a:t>,</a:t>
            </a:r>
            <a:r>
              <a:rPr lang="zh-CN" altLang="en-US" dirty="0">
                <a:latin typeface="宋体" pitchFamily="2" charset="-122"/>
                <a:ea typeface="Arial Unicode MS" pitchFamily="34" charset="-122"/>
                <a:cs typeface="Arial Unicode MS" pitchFamily="34" charset="-122"/>
              </a:rPr>
              <a:t>空格或回车显示下一屏</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cat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一次全部显示文件的内容</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cat file1 file2</a:t>
            </a:r>
            <a:r>
              <a:rPr lang="en-US" altLang="zh-CN" dirty="0">
                <a:solidFill>
                  <a:srgbClr val="FF3300"/>
                </a:solidFill>
                <a:latin typeface="Arial Unicode MS" pitchFamily="34" charset="-122"/>
                <a:ea typeface="Arial Unicode MS" pitchFamily="34" charset="-122"/>
                <a:cs typeface="Arial Unicode MS" pitchFamily="34" charset="-122"/>
              </a:rPr>
              <a:t>&gt;</a:t>
            </a:r>
            <a:r>
              <a:rPr lang="en-US" altLang="zh-CN" dirty="0">
                <a:latin typeface="Arial Unicode MS" pitchFamily="34" charset="-122"/>
                <a:ea typeface="Arial Unicode MS" pitchFamily="34" charset="-122"/>
                <a:cs typeface="Arial Unicode MS" pitchFamily="34" charset="-122"/>
              </a:rPr>
              <a:t>file3 </a:t>
            </a:r>
            <a:r>
              <a:rPr lang="zh-CN" altLang="en-US" dirty="0">
                <a:latin typeface="宋体" pitchFamily="2" charset="-122"/>
                <a:ea typeface="Arial Unicode MS" pitchFamily="34" charset="-122"/>
                <a:cs typeface="Arial Unicode MS" pitchFamily="34" charset="-122"/>
              </a:rPr>
              <a:t>将</a:t>
            </a:r>
            <a:r>
              <a:rPr lang="en-US" altLang="zh-CN" dirty="0">
                <a:latin typeface="Arial Unicode MS" pitchFamily="34" charset="-122"/>
                <a:ea typeface="Arial Unicode MS" pitchFamily="34" charset="-122"/>
                <a:cs typeface="Arial Unicode MS" pitchFamily="34" charset="-122"/>
              </a:rPr>
              <a:t>file1</a:t>
            </a:r>
            <a:r>
              <a:rPr lang="zh-CN" altLang="en-US" dirty="0">
                <a:latin typeface="Arial Unicode MS" pitchFamily="34" charset="-122"/>
                <a:ea typeface="Arial Unicode MS" pitchFamily="34" charset="-122"/>
                <a:cs typeface="Arial Unicode MS" pitchFamily="34" charset="-122"/>
              </a:rPr>
              <a:t>、</a:t>
            </a:r>
            <a:r>
              <a:rPr lang="en-US" altLang="zh-CN" dirty="0">
                <a:latin typeface="Arial Unicode MS" pitchFamily="34" charset="-122"/>
                <a:ea typeface="Arial Unicode MS" pitchFamily="34" charset="-122"/>
                <a:cs typeface="Arial Unicode MS" pitchFamily="34" charset="-122"/>
              </a:rPr>
              <a:t>file2</a:t>
            </a:r>
            <a:r>
              <a:rPr lang="zh-CN" altLang="en-US" dirty="0">
                <a:latin typeface="宋体" pitchFamily="2" charset="-122"/>
                <a:ea typeface="Arial Unicode MS" pitchFamily="34" charset="-122"/>
                <a:cs typeface="Arial Unicode MS" pitchFamily="34" charset="-122"/>
              </a:rPr>
              <a:t>的内容写到</a:t>
            </a:r>
            <a:r>
              <a:rPr lang="en-US" altLang="zh-CN" dirty="0">
                <a:latin typeface="Arial Unicode MS" pitchFamily="34" charset="-122"/>
                <a:ea typeface="Arial Unicode MS" pitchFamily="34" charset="-122"/>
                <a:cs typeface="Arial Unicode MS" pitchFamily="34" charset="-122"/>
              </a:rPr>
              <a:t>file3</a:t>
            </a:r>
            <a:r>
              <a:rPr lang="en-US" altLang="zh-CN" dirty="0">
                <a:latin typeface="宋体" pitchFamily="2" charset="-122"/>
                <a:ea typeface="Arial Unicode MS" pitchFamily="34" charset="-122"/>
                <a:cs typeface="Arial Unicode MS" pitchFamily="34" charset="-122"/>
              </a:rPr>
              <a:t>,</a:t>
            </a:r>
            <a:r>
              <a:rPr lang="zh-CN" altLang="en-US" dirty="0">
                <a:latin typeface="宋体" pitchFamily="2" charset="-122"/>
                <a:ea typeface="Arial Unicode MS" pitchFamily="34" charset="-122"/>
                <a:cs typeface="Arial Unicode MS" pitchFamily="34" charset="-122"/>
              </a:rPr>
              <a:t>覆盖</a:t>
            </a:r>
            <a:r>
              <a:rPr lang="en-US" altLang="zh-CN" dirty="0">
                <a:latin typeface="Arial Unicode MS" pitchFamily="34" charset="-122"/>
                <a:ea typeface="Arial Unicode MS" pitchFamily="34" charset="-122"/>
                <a:cs typeface="Arial Unicode MS" pitchFamily="34" charset="-122"/>
              </a:rPr>
              <a:t>file3</a:t>
            </a:r>
            <a:r>
              <a:rPr lang="zh-CN" altLang="en-US" dirty="0">
                <a:latin typeface="宋体" pitchFamily="2" charset="-122"/>
                <a:ea typeface="Arial Unicode MS" pitchFamily="34" charset="-122"/>
                <a:cs typeface="Arial Unicode MS" pitchFamily="34" charset="-122"/>
              </a:rPr>
              <a:t>原内容</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cat file1</a:t>
            </a:r>
            <a:r>
              <a:rPr lang="en-US" altLang="zh-CN" dirty="0">
                <a:solidFill>
                  <a:srgbClr val="FF3300"/>
                </a:solidFill>
                <a:latin typeface="Arial Unicode MS" pitchFamily="34" charset="-122"/>
                <a:ea typeface="Arial Unicode MS" pitchFamily="34" charset="-122"/>
                <a:cs typeface="Arial Unicode MS" pitchFamily="34" charset="-122"/>
              </a:rPr>
              <a:t>&gt;&gt;</a:t>
            </a:r>
            <a:r>
              <a:rPr lang="en-US" altLang="zh-CN" dirty="0">
                <a:latin typeface="Arial Unicode MS" pitchFamily="34" charset="-122"/>
                <a:ea typeface="Arial Unicode MS" pitchFamily="34" charset="-122"/>
                <a:cs typeface="Arial Unicode MS" pitchFamily="34" charset="-122"/>
              </a:rPr>
              <a:t>file2 </a:t>
            </a:r>
            <a:r>
              <a:rPr lang="zh-CN" altLang="en-US" dirty="0">
                <a:latin typeface="宋体" pitchFamily="2" charset="-122"/>
                <a:ea typeface="Arial Unicode MS" pitchFamily="34" charset="-122"/>
                <a:cs typeface="Arial Unicode MS" pitchFamily="34" charset="-122"/>
              </a:rPr>
              <a:t>将</a:t>
            </a:r>
            <a:r>
              <a:rPr lang="en-US" altLang="zh-CN" dirty="0">
                <a:latin typeface="Arial Unicode MS" pitchFamily="34" charset="-122"/>
                <a:ea typeface="Arial Unicode MS" pitchFamily="34" charset="-122"/>
                <a:cs typeface="Arial Unicode MS" pitchFamily="34" charset="-122"/>
              </a:rPr>
              <a:t>file1</a:t>
            </a:r>
            <a:r>
              <a:rPr lang="zh-CN" altLang="en-US" dirty="0">
                <a:latin typeface="宋体" pitchFamily="2" charset="-122"/>
                <a:ea typeface="Arial Unicode MS" pitchFamily="34" charset="-122"/>
                <a:cs typeface="Arial Unicode MS" pitchFamily="34" charset="-122"/>
              </a:rPr>
              <a:t>的内容追加到</a:t>
            </a:r>
            <a:r>
              <a:rPr lang="en-US" altLang="zh-CN" dirty="0">
                <a:latin typeface="Arial Unicode MS" pitchFamily="34" charset="-122"/>
                <a:ea typeface="Arial Unicode MS" pitchFamily="34" charset="-122"/>
                <a:cs typeface="Arial Unicode MS" pitchFamily="34" charset="-122"/>
              </a:rPr>
              <a:t>file2,file2</a:t>
            </a:r>
            <a:r>
              <a:rPr lang="zh-CN" altLang="en-US" dirty="0">
                <a:latin typeface="宋体" pitchFamily="2" charset="-122"/>
                <a:ea typeface="Arial Unicode MS" pitchFamily="34" charset="-122"/>
                <a:cs typeface="Arial Unicode MS" pitchFamily="34" charset="-122"/>
              </a:rPr>
              <a:t>原内容不变</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head</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只显示文件的前</a:t>
            </a:r>
            <a:r>
              <a:rPr lang="en-US" altLang="zh-CN" dirty="0">
                <a:latin typeface="宋体" pitchFamily="2" charset="-122"/>
                <a:ea typeface="Arial Unicode MS" pitchFamily="34" charset="-122"/>
                <a:cs typeface="Arial Unicode MS" pitchFamily="34" charset="-122"/>
              </a:rPr>
              <a:t>10</a:t>
            </a:r>
            <a:r>
              <a:rPr lang="zh-CN" altLang="en-US" dirty="0">
                <a:latin typeface="宋体" pitchFamily="2" charset="-122"/>
                <a:ea typeface="Arial Unicode MS" pitchFamily="34" charset="-122"/>
                <a:cs typeface="Arial Unicode MS" pitchFamily="34" charset="-122"/>
              </a:rPr>
              <a:t>行</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head –n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显示文件的前</a:t>
            </a:r>
            <a:r>
              <a:rPr lang="en-US" altLang="zh-CN" dirty="0">
                <a:latin typeface="宋体" pitchFamily="2" charset="-122"/>
                <a:ea typeface="Arial Unicode MS" pitchFamily="34" charset="-122"/>
                <a:cs typeface="Arial Unicode MS" pitchFamily="34" charset="-122"/>
              </a:rPr>
              <a:t>n</a:t>
            </a:r>
            <a:r>
              <a:rPr lang="zh-CN" altLang="en-US" dirty="0">
                <a:latin typeface="宋体" pitchFamily="2" charset="-122"/>
                <a:ea typeface="Arial Unicode MS" pitchFamily="34" charset="-122"/>
                <a:cs typeface="Arial Unicode MS" pitchFamily="34" charset="-122"/>
              </a:rPr>
              <a:t>行</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solidFill>
                  <a:schemeClr val="hlink"/>
                </a:solidFill>
                <a:latin typeface="Arial Unicode MS" pitchFamily="34" charset="-122"/>
                <a:ea typeface="Arial Unicode MS" pitchFamily="34" charset="-122"/>
                <a:cs typeface="Arial Unicode MS" pitchFamily="34" charset="-122"/>
              </a:rPr>
              <a:t>tail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只显示文件的后</a:t>
            </a:r>
            <a:r>
              <a:rPr lang="en-US" altLang="zh-CN" dirty="0">
                <a:latin typeface="宋体" pitchFamily="2" charset="-122"/>
                <a:ea typeface="Arial Unicode MS" pitchFamily="34" charset="-122"/>
                <a:cs typeface="Arial Unicode MS" pitchFamily="34" charset="-122"/>
              </a:rPr>
              <a:t>10</a:t>
            </a:r>
            <a:r>
              <a:rPr lang="zh-CN" altLang="en-US" dirty="0">
                <a:latin typeface="宋体" pitchFamily="2" charset="-122"/>
                <a:ea typeface="Arial Unicode MS" pitchFamily="34" charset="-122"/>
                <a:cs typeface="Arial Unicode MS" pitchFamily="34" charset="-122"/>
              </a:rPr>
              <a:t>行</a:t>
            </a:r>
          </a:p>
          <a:p>
            <a:pPr>
              <a:buNone/>
              <a:defRPr/>
            </a:pPr>
            <a:r>
              <a:rPr lang="zh-CN" altLang="en-US" dirty="0">
                <a:latin typeface="Arial Unicode MS" pitchFamily="34" charset="-122"/>
                <a:ea typeface="Arial Unicode MS" pitchFamily="34" charset="-122"/>
                <a:cs typeface="Arial Unicode MS" pitchFamily="34" charset="-122"/>
              </a:rPr>
              <a:t>              </a:t>
            </a:r>
            <a:r>
              <a:rPr lang="en-US" altLang="zh-CN" dirty="0">
                <a:latin typeface="Arial Unicode MS" pitchFamily="34" charset="-122"/>
                <a:ea typeface="Arial Unicode MS" pitchFamily="34" charset="-122"/>
                <a:cs typeface="Arial Unicode MS" pitchFamily="34" charset="-122"/>
              </a:rPr>
              <a:t>tail –n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显示文件的后</a:t>
            </a:r>
            <a:r>
              <a:rPr lang="en-US" altLang="zh-CN" dirty="0">
                <a:latin typeface="宋体" pitchFamily="2" charset="-122"/>
                <a:ea typeface="Arial Unicode MS" pitchFamily="34" charset="-122"/>
                <a:cs typeface="Arial Unicode MS" pitchFamily="34" charset="-122"/>
              </a:rPr>
              <a:t>n</a:t>
            </a:r>
            <a:r>
              <a:rPr lang="zh-CN" altLang="en-US" dirty="0">
                <a:latin typeface="宋体" pitchFamily="2" charset="-122"/>
                <a:ea typeface="Arial Unicode MS" pitchFamily="34" charset="-122"/>
                <a:cs typeface="Arial Unicode MS" pitchFamily="34" charset="-122"/>
              </a:rPr>
              <a:t>行</a:t>
            </a:r>
          </a:p>
          <a:p>
            <a:pPr>
              <a:buNone/>
              <a:defRPr/>
            </a:pPr>
            <a:r>
              <a:rPr lang="zh-CN" altLang="en-US" dirty="0"/>
              <a:t>       </a:t>
            </a:r>
            <a:r>
              <a:rPr lang="en-US" altLang="zh-CN" dirty="0" err="1">
                <a:solidFill>
                  <a:schemeClr val="hlink"/>
                </a:solidFill>
                <a:latin typeface="Arial Unicode MS" pitchFamily="34" charset="-122"/>
                <a:ea typeface="Arial Unicode MS" pitchFamily="34" charset="-122"/>
                <a:cs typeface="Arial Unicode MS" pitchFamily="34" charset="-122"/>
              </a:rPr>
              <a:t>nl</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以编号的形式一次全部显示文件的内容</a:t>
            </a:r>
            <a:r>
              <a:rPr lang="en-US" altLang="zh-CN" dirty="0">
                <a:latin typeface="宋体" pitchFamily="2" charset="-122"/>
                <a:ea typeface="Arial Unicode MS" pitchFamily="34" charset="-122"/>
                <a:cs typeface="Arial Unicode MS" pitchFamily="34" charset="-122"/>
              </a:rPr>
              <a:t>,</a:t>
            </a:r>
            <a:r>
              <a:rPr lang="zh-CN" altLang="en-US" dirty="0">
                <a:latin typeface="宋体" pitchFamily="2" charset="-122"/>
                <a:ea typeface="Arial Unicode MS" pitchFamily="34" charset="-122"/>
                <a:cs typeface="Arial Unicode MS" pitchFamily="34" charset="-122"/>
              </a:rPr>
              <a:t>忽略空格</a:t>
            </a:r>
          </a:p>
          <a:p>
            <a:endParaRPr lang="zh-CN" altLang="en-US" dirty="0"/>
          </a:p>
        </p:txBody>
      </p:sp>
    </p:spTree>
    <p:extLst>
      <p:ext uri="{BB962C8B-B14F-4D97-AF65-F5344CB8AC3E}">
        <p14:creationId xmlns:p14="http://schemas.microsoft.com/office/powerpoint/2010/main" val="1313664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6589" y="218113"/>
            <a:ext cx="10515600" cy="691499"/>
          </a:xfrm>
        </p:spPr>
        <p:txBody>
          <a:bodyPr/>
          <a:lstStyle/>
          <a:p>
            <a:r>
              <a:rPr lang="zh-CN" altLang="en-US" dirty="0" smtClean="0"/>
              <a:t>常用命令</a:t>
            </a:r>
            <a:r>
              <a:rPr lang="en-US" altLang="zh-CN" dirty="0" smtClean="0"/>
              <a:t>——</a:t>
            </a:r>
            <a:r>
              <a:rPr lang="zh-CN" altLang="en-US" dirty="0" smtClean="0"/>
              <a:t>文件管理</a:t>
            </a:r>
            <a:endParaRPr lang="zh-CN" altLang="en-US" dirty="0"/>
          </a:p>
        </p:txBody>
      </p:sp>
      <p:sp>
        <p:nvSpPr>
          <p:cNvPr id="3" name="内容占位符 2"/>
          <p:cNvSpPr>
            <a:spLocks noGrp="1"/>
          </p:cNvSpPr>
          <p:nvPr>
            <p:ph idx="1"/>
          </p:nvPr>
        </p:nvSpPr>
        <p:spPr>
          <a:xfrm>
            <a:off x="871756" y="1198078"/>
            <a:ext cx="10515600" cy="3235569"/>
          </a:xfrm>
        </p:spPr>
        <p:txBody>
          <a:bodyPr>
            <a:normAutofit fontScale="47500" lnSpcReduction="20000"/>
          </a:bodyPr>
          <a:lstStyle/>
          <a:p>
            <a:pPr>
              <a:lnSpc>
                <a:spcPct val="120000"/>
              </a:lnSpc>
              <a:defRPr/>
            </a:pPr>
            <a:r>
              <a:rPr lang="zh-CN" altLang="en-US" dirty="0">
                <a:solidFill>
                  <a:schemeClr val="hlink"/>
                </a:solidFill>
                <a:latin typeface="宋体" pitchFamily="2" charset="-122"/>
              </a:rPr>
              <a:t>文件移动</a:t>
            </a:r>
            <a:r>
              <a:rPr lang="en-US" altLang="zh-CN" dirty="0">
                <a:solidFill>
                  <a:schemeClr val="hlink"/>
                </a:solidFill>
                <a:latin typeface="宋体" pitchFamily="2" charset="-122"/>
              </a:rPr>
              <a:t>/</a:t>
            </a:r>
            <a:r>
              <a:rPr lang="zh-CN" altLang="en-US" dirty="0">
                <a:solidFill>
                  <a:schemeClr val="hlink"/>
                </a:solidFill>
                <a:latin typeface="宋体" pitchFamily="2" charset="-122"/>
              </a:rPr>
              <a:t>重命名</a:t>
            </a:r>
            <a:r>
              <a:rPr lang="en-US" altLang="zh-CN" dirty="0">
                <a:latin typeface="宋体" pitchFamily="2" charset="-122"/>
              </a:rPr>
              <a:t>(</a:t>
            </a:r>
            <a:r>
              <a:rPr lang="en-US" altLang="zh-CN" dirty="0">
                <a:solidFill>
                  <a:srgbClr val="FF3300"/>
                </a:solidFill>
                <a:latin typeface="宋体" pitchFamily="2" charset="-122"/>
              </a:rPr>
              <a:t>m</a:t>
            </a:r>
            <a:r>
              <a:rPr lang="en-US" altLang="zh-CN" dirty="0">
                <a:latin typeface="宋体" pitchFamily="2" charset="-122"/>
              </a:rPr>
              <a:t>o</a:t>
            </a:r>
            <a:r>
              <a:rPr lang="en-US" altLang="zh-CN" dirty="0">
                <a:solidFill>
                  <a:srgbClr val="FF3300"/>
                </a:solidFill>
                <a:latin typeface="宋体" pitchFamily="2" charset="-122"/>
              </a:rPr>
              <a:t>v</a:t>
            </a:r>
            <a:r>
              <a:rPr lang="en-US" altLang="zh-CN" dirty="0">
                <a:latin typeface="宋体" pitchFamily="2" charset="-122"/>
              </a:rPr>
              <a:t>e)</a:t>
            </a:r>
          </a:p>
          <a:p>
            <a:pPr>
              <a:lnSpc>
                <a:spcPct val="120000"/>
              </a:lnSpc>
              <a:buNone/>
              <a:defRPr/>
            </a:pPr>
            <a:r>
              <a:rPr lang="en-US" altLang="zh-CN" dirty="0">
                <a:latin typeface="宋体" pitchFamily="2" charset="-122"/>
              </a:rPr>
              <a:t>   </a:t>
            </a:r>
            <a:r>
              <a:rPr lang="en-US" altLang="zh-CN" dirty="0">
                <a:solidFill>
                  <a:schemeClr val="hlink"/>
                </a:solidFill>
                <a:latin typeface="Arial Unicode MS" pitchFamily="34" charset="-122"/>
                <a:ea typeface="Arial Unicode MS" pitchFamily="34" charset="-122"/>
                <a:cs typeface="Arial Unicode MS" pitchFamily="34" charset="-122"/>
              </a:rPr>
              <a:t>mv</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SourceFile</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TargetFile</a:t>
            </a:r>
            <a:r>
              <a:rPr lang="en-US" altLang="zh-CN" dirty="0">
                <a:latin typeface="宋体" pitchFamily="2" charset="-122"/>
              </a:rPr>
              <a:t> </a:t>
            </a:r>
            <a:r>
              <a:rPr lang="zh-CN" altLang="en-US" dirty="0">
                <a:latin typeface="宋体" pitchFamily="2" charset="-122"/>
              </a:rPr>
              <a:t>将一个或多个文件</a:t>
            </a:r>
            <a:r>
              <a:rPr lang="zh-CN" altLang="en-US" dirty="0">
                <a:solidFill>
                  <a:srgbClr val="FF3300"/>
                </a:solidFill>
                <a:latin typeface="宋体" pitchFamily="2" charset="-122"/>
              </a:rPr>
              <a:t>移动</a:t>
            </a:r>
            <a:r>
              <a:rPr lang="zh-CN" altLang="en-US" dirty="0">
                <a:latin typeface="宋体" pitchFamily="2" charset="-122"/>
              </a:rPr>
              <a:t>到另外一个目录下，或者将一个文件</a:t>
            </a:r>
            <a:r>
              <a:rPr lang="zh-CN" altLang="en-US" dirty="0">
                <a:solidFill>
                  <a:srgbClr val="FF3300"/>
                </a:solidFill>
                <a:latin typeface="宋体" pitchFamily="2" charset="-122"/>
              </a:rPr>
              <a:t>重命名</a:t>
            </a:r>
            <a:r>
              <a:rPr lang="zh-CN" altLang="en-US" dirty="0">
                <a:latin typeface="宋体" pitchFamily="2" charset="-122"/>
              </a:rPr>
              <a:t>为另一个文件。</a:t>
            </a:r>
          </a:p>
          <a:p>
            <a:pPr>
              <a:lnSpc>
                <a:spcPct val="120000"/>
              </a:lnSpc>
              <a:defRPr/>
            </a:pPr>
            <a:r>
              <a:rPr lang="zh-CN" altLang="en-US" dirty="0">
                <a:solidFill>
                  <a:schemeClr val="hlink"/>
                </a:solidFill>
                <a:latin typeface="宋体" pitchFamily="2" charset="-122"/>
              </a:rPr>
              <a:t>文件查找</a:t>
            </a:r>
            <a:r>
              <a:rPr lang="en-US" altLang="zh-CN" dirty="0">
                <a:latin typeface="宋体" pitchFamily="2" charset="-122"/>
              </a:rPr>
              <a:t>(</a:t>
            </a:r>
            <a:r>
              <a:rPr lang="en-US" altLang="zh-CN" dirty="0">
                <a:solidFill>
                  <a:srgbClr val="FF3300"/>
                </a:solidFill>
                <a:latin typeface="宋体" pitchFamily="2" charset="-122"/>
              </a:rPr>
              <a:t>find</a:t>
            </a:r>
            <a:r>
              <a:rPr lang="en-US" altLang="zh-CN" dirty="0">
                <a:latin typeface="宋体" pitchFamily="2" charset="-122"/>
              </a:rPr>
              <a:t>) </a:t>
            </a:r>
          </a:p>
          <a:p>
            <a:pPr>
              <a:lnSpc>
                <a:spcPct val="120000"/>
              </a:lnSpc>
              <a:buNone/>
              <a:defRPr/>
            </a:pPr>
            <a:r>
              <a:rPr lang="en-US" altLang="zh-CN" dirty="0">
                <a:latin typeface="宋体" pitchFamily="2" charset="-122"/>
              </a:rPr>
              <a:t>   </a:t>
            </a:r>
            <a:r>
              <a:rPr lang="en-US" altLang="zh-CN" dirty="0">
                <a:solidFill>
                  <a:schemeClr val="hlink"/>
                </a:solidFill>
                <a:latin typeface="宋体" pitchFamily="2" charset="-122"/>
              </a:rPr>
              <a:t>find</a:t>
            </a:r>
            <a:r>
              <a:rPr lang="en-US" altLang="zh-CN" dirty="0">
                <a:latin typeface="宋体" pitchFamily="2" charset="-122"/>
              </a:rPr>
              <a:t> [</a:t>
            </a:r>
            <a:r>
              <a:rPr lang="zh-CN" altLang="en-US" dirty="0">
                <a:latin typeface="宋体" pitchFamily="2" charset="-122"/>
              </a:rPr>
              <a:t>路径</a:t>
            </a:r>
            <a:r>
              <a:rPr lang="en-US" altLang="zh-CN" dirty="0">
                <a:latin typeface="宋体" pitchFamily="2" charset="-122"/>
              </a:rPr>
              <a:t>] [</a:t>
            </a:r>
            <a:r>
              <a:rPr lang="zh-CN" altLang="en-US" dirty="0">
                <a:latin typeface="宋体" pitchFamily="2" charset="-122"/>
              </a:rPr>
              <a:t>选项</a:t>
            </a:r>
            <a:r>
              <a:rPr lang="en-US" altLang="zh-CN" dirty="0">
                <a:latin typeface="宋体" pitchFamily="2" charset="-122"/>
              </a:rPr>
              <a:t>]</a:t>
            </a:r>
          </a:p>
          <a:p>
            <a:pPr>
              <a:lnSpc>
                <a:spcPct val="120000"/>
              </a:lnSpc>
              <a:buNone/>
              <a:defRPr/>
            </a:pPr>
            <a:r>
              <a:rPr lang="en-US" altLang="zh-CN" dirty="0">
                <a:latin typeface="宋体" pitchFamily="2" charset="-122"/>
              </a:rPr>
              <a:t>   </a:t>
            </a:r>
            <a:r>
              <a:rPr lang="zh-CN" altLang="en-US" dirty="0">
                <a:latin typeface="宋体" pitchFamily="2" charset="-122"/>
              </a:rPr>
              <a:t>如：</a:t>
            </a:r>
            <a:r>
              <a:rPr lang="en-US" altLang="zh-CN" dirty="0">
                <a:latin typeface="宋体" pitchFamily="2" charset="-122"/>
              </a:rPr>
              <a:t>find / -name “Linux” -print </a:t>
            </a:r>
          </a:p>
          <a:p>
            <a:pPr>
              <a:lnSpc>
                <a:spcPct val="120000"/>
              </a:lnSpc>
              <a:defRPr/>
            </a:pPr>
            <a:r>
              <a:rPr lang="zh-CN" altLang="en-US" dirty="0">
                <a:solidFill>
                  <a:schemeClr val="hlink"/>
                </a:solidFill>
                <a:latin typeface="宋体" pitchFamily="2" charset="-122"/>
              </a:rPr>
              <a:t>文件内容查找</a:t>
            </a:r>
            <a:r>
              <a:rPr lang="en-US" altLang="zh-CN" dirty="0">
                <a:solidFill>
                  <a:schemeClr val="hlink"/>
                </a:solidFill>
                <a:latin typeface="宋体" pitchFamily="2" charset="-122"/>
              </a:rPr>
              <a:t>(</a:t>
            </a:r>
            <a:r>
              <a:rPr lang="en-US" altLang="zh-CN" dirty="0">
                <a:solidFill>
                  <a:srgbClr val="FF3300"/>
                </a:solidFill>
                <a:latin typeface="宋体" pitchFamily="2" charset="-122"/>
              </a:rPr>
              <a:t>grep</a:t>
            </a:r>
            <a:r>
              <a:rPr lang="en-US" altLang="zh-CN" dirty="0">
                <a:solidFill>
                  <a:schemeClr val="hlink"/>
                </a:solidFill>
                <a:latin typeface="宋体" pitchFamily="2" charset="-122"/>
              </a:rPr>
              <a:t>)</a:t>
            </a:r>
          </a:p>
          <a:p>
            <a:pPr>
              <a:lnSpc>
                <a:spcPct val="120000"/>
              </a:lnSpc>
              <a:buNone/>
              <a:defRPr/>
            </a:pPr>
            <a:r>
              <a:rPr lang="en-US" altLang="zh-CN" dirty="0">
                <a:solidFill>
                  <a:schemeClr val="hlink"/>
                </a:solidFill>
                <a:latin typeface="宋体" pitchFamily="2" charset="-122"/>
              </a:rPr>
              <a:t>   </a:t>
            </a:r>
            <a:r>
              <a:rPr lang="zh-CN" altLang="en-US" dirty="0">
                <a:latin typeface="宋体" pitchFamily="2" charset="-122"/>
              </a:rPr>
              <a:t>如：</a:t>
            </a:r>
            <a:r>
              <a:rPr lang="en-US" altLang="zh-CN" dirty="0">
                <a:solidFill>
                  <a:schemeClr val="hlink"/>
                </a:solidFill>
                <a:latin typeface="Arial Unicode MS" pitchFamily="34" charset="-122"/>
                <a:ea typeface="Arial Unicode MS" pitchFamily="34" charset="-122"/>
                <a:cs typeface="Arial Unicode MS" pitchFamily="34" charset="-122"/>
              </a:rPr>
              <a:t>grep</a:t>
            </a:r>
            <a:r>
              <a:rPr lang="en-US" altLang="zh-CN" dirty="0">
                <a:latin typeface="Arial Unicode MS" pitchFamily="34" charset="-122"/>
                <a:ea typeface="Arial Unicode MS" pitchFamily="34" charset="-122"/>
                <a:cs typeface="Arial Unicode MS" pitchFamily="34" charset="-122"/>
              </a:rPr>
              <a:t> “main”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pPr>
              <a:lnSpc>
                <a:spcPct val="120000"/>
              </a:lnSpc>
              <a:defRPr/>
            </a:pPr>
            <a:r>
              <a:rPr lang="zh-CN" altLang="en-US" dirty="0">
                <a:solidFill>
                  <a:schemeClr val="hlink"/>
                </a:solidFill>
                <a:latin typeface="宋体" pitchFamily="2" charset="-122"/>
              </a:rPr>
              <a:t>文件类型</a:t>
            </a:r>
          </a:p>
          <a:p>
            <a:pPr>
              <a:lnSpc>
                <a:spcPct val="120000"/>
              </a:lnSpc>
              <a:buNone/>
              <a:defRPr/>
            </a:pPr>
            <a:r>
              <a:rPr lang="zh-CN" altLang="en-US" dirty="0">
                <a:latin typeface="宋体" pitchFamily="2" charset="-122"/>
              </a:rPr>
              <a:t>   命令</a:t>
            </a:r>
            <a:r>
              <a:rPr lang="en-US" altLang="zh-CN" dirty="0">
                <a:latin typeface="宋体" pitchFamily="2" charset="-122"/>
              </a:rPr>
              <a:t>ls –l</a:t>
            </a:r>
            <a:r>
              <a:rPr lang="zh-CN" altLang="en-US" dirty="0">
                <a:latin typeface="宋体" pitchFamily="2" charset="-122"/>
              </a:rPr>
              <a:t>以长列表形式显示文件的类型等</a:t>
            </a:r>
            <a:r>
              <a:rPr lang="en-US" altLang="zh-CN" dirty="0">
                <a:latin typeface="宋体" pitchFamily="2" charset="-122"/>
              </a:rPr>
              <a:t>,</a:t>
            </a:r>
            <a:r>
              <a:rPr lang="zh-CN" altLang="en-US" dirty="0">
                <a:latin typeface="宋体" pitchFamily="2" charset="-122"/>
              </a:rPr>
              <a:t>如</a:t>
            </a:r>
            <a:r>
              <a:rPr lang="en-US" altLang="zh-CN" dirty="0">
                <a:latin typeface="宋体" pitchFamily="2" charset="-122"/>
              </a:rPr>
              <a:t>:-</a:t>
            </a:r>
            <a:r>
              <a:rPr lang="en-US" altLang="zh-CN" dirty="0" err="1">
                <a:latin typeface="宋体" pitchFamily="2" charset="-122"/>
              </a:rPr>
              <a:t>rw</a:t>
            </a:r>
            <a:r>
              <a:rPr lang="en-US" altLang="zh-CN" dirty="0">
                <a:latin typeface="宋体" pitchFamily="2" charset="-122"/>
              </a:rPr>
              <a:t>-r--r-</a:t>
            </a:r>
            <a:r>
              <a:rPr lang="en-US" altLang="zh-CN" dirty="0" smtClean="0">
                <a:latin typeface="宋体" pitchFamily="2" charset="-122"/>
              </a:rPr>
              <a:t>-</a:t>
            </a:r>
            <a:endParaRPr lang="en-US" altLang="zh-CN" dirty="0">
              <a:latin typeface="宋体" pitchFamily="2" charset="-122"/>
            </a:endParaRPr>
          </a:p>
        </p:txBody>
      </p:sp>
      <p:graphicFrame>
        <p:nvGraphicFramePr>
          <p:cNvPr id="4" name="Group 363"/>
          <p:cNvGraphicFramePr>
            <a:graphicFrameLocks/>
          </p:cNvGraphicFramePr>
          <p:nvPr>
            <p:extLst>
              <p:ext uri="{D42A27DB-BD31-4B8C-83A1-F6EECF244321}">
                <p14:modId xmlns:p14="http://schemas.microsoft.com/office/powerpoint/2010/main" val="1575694110"/>
              </p:ext>
            </p:extLst>
          </p:nvPr>
        </p:nvGraphicFramePr>
        <p:xfrm>
          <a:off x="3083833" y="3967103"/>
          <a:ext cx="6480175" cy="1726315"/>
        </p:xfrm>
        <a:graphic>
          <a:graphicData uri="http://schemas.openxmlformats.org/drawingml/2006/table">
            <a:tbl>
              <a:tblPr/>
              <a:tblGrid>
                <a:gridCol w="647700"/>
                <a:gridCol w="2447925"/>
                <a:gridCol w="936625"/>
                <a:gridCol w="2447925"/>
              </a:tblGrid>
              <a:tr h="177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800" b="0" i="0" u="none" strike="noStrike" cap="none" normalizeH="0" baseline="0" dirty="0" smtClean="0">
                          <a:ln>
                            <a:noFill/>
                          </a:ln>
                          <a:solidFill>
                            <a:srgbClr val="FF3300"/>
                          </a:solidFill>
                          <a:effectLst/>
                          <a:latin typeface="Garamond" panose="02020404030301010803" pitchFamily="18" charset="0"/>
                          <a:ea typeface="宋体" panose="02010600030101010101" pitchFamily="2" charset="-122"/>
                        </a:rPr>
                        <a:t>前缀</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800" b="0" i="0" u="none" strike="noStrike" cap="none" normalizeH="0" baseline="0" dirty="0" smtClean="0">
                          <a:ln>
                            <a:noFill/>
                          </a:ln>
                          <a:solidFill>
                            <a:srgbClr val="FF3300"/>
                          </a:solidFill>
                          <a:effectLst/>
                          <a:latin typeface="Garamond" panose="02020404030301010803" pitchFamily="18" charset="0"/>
                          <a:ea typeface="宋体" panose="02010600030101010101" pitchFamily="2" charset="-122"/>
                        </a:rPr>
                        <a:t>类型</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800" b="0" i="0" u="none" strike="noStrike" cap="none" normalizeH="0" baseline="0" smtClean="0">
                          <a:ln>
                            <a:noFill/>
                          </a:ln>
                          <a:solidFill>
                            <a:srgbClr val="FF3300"/>
                          </a:solidFill>
                          <a:effectLst/>
                          <a:latin typeface="Garamond" panose="02020404030301010803" pitchFamily="18" charset="0"/>
                          <a:ea typeface="宋体" panose="02010600030101010101" pitchFamily="2" charset="-122"/>
                        </a:rPr>
                        <a:t>前缀</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800" b="0" i="0" u="none" strike="noStrike" cap="none" normalizeH="0" baseline="0" smtClean="0">
                          <a:ln>
                            <a:noFill/>
                          </a:ln>
                          <a:solidFill>
                            <a:srgbClr val="FF3300"/>
                          </a:solidFill>
                          <a:effectLst/>
                          <a:latin typeface="Garamond" panose="02020404030301010803" pitchFamily="18" charset="0"/>
                          <a:ea typeface="宋体" panose="02010600030101010101" pitchFamily="2" charset="-122"/>
                        </a:rPr>
                        <a:t>类型</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7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普通文件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l</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链接</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dirty="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l</a:t>
                      </a: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ink</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文件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60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b</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块</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dirty="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b</a:t>
                      </a: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lock</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设备文件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p</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命名管道</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dirty="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p</a:t>
                      </a: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ipe</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文件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7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c</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字符</a:t>
                      </a:r>
                      <a:r>
                        <a:rPr kumimoji="0" lang="en-US" altLang="zh-CN"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c</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haracter</a:t>
                      </a:r>
                      <a:r>
                        <a:rPr kumimoji="0" lang="en-US" altLang="zh-CN"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a:t>
                      </a: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设备文件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s</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本地套接口</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dirty="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s</a:t>
                      </a: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ocket</a:t>
                      </a:r>
                      <a:r>
                        <a:rPr kumimoji="0" lang="en-US"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177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d</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目录</a:t>
                      </a:r>
                      <a:r>
                        <a:rPr kumimoji="0" lang="en-US" altLang="zh-CN"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a:t>
                      </a:r>
                      <a:r>
                        <a:rPr kumimoji="0" lang="en-US" altLang="zh-CN" sz="1600" b="0" i="0" u="none" strike="noStrike" cap="none" normalizeH="0" baseline="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d</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irectory</a:t>
                      </a:r>
                      <a:r>
                        <a:rPr kumimoji="0" lang="en-US" altLang="zh-CN"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zh-CN"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zh-CN" sz="1600" b="0"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7041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权限管理</a:t>
            </a:r>
            <a:endParaRPr lang="zh-CN" altLang="en-US" dirty="0"/>
          </a:p>
        </p:txBody>
      </p:sp>
      <p:sp>
        <p:nvSpPr>
          <p:cNvPr id="4" name="Rectangle 3"/>
          <p:cNvSpPr txBox="1">
            <a:spLocks noChangeArrowheads="1"/>
          </p:cNvSpPr>
          <p:nvPr/>
        </p:nvSpPr>
        <p:spPr>
          <a:xfrm>
            <a:off x="1146517" y="1239473"/>
            <a:ext cx="8362950" cy="820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1800" smtClean="0">
                <a:solidFill>
                  <a:schemeClr val="hlink"/>
                </a:solidFill>
                <a:latin typeface="宋体" pitchFamily="2" charset="-122"/>
              </a:rPr>
              <a:t>文件访问权限</a:t>
            </a:r>
          </a:p>
          <a:p>
            <a:pPr>
              <a:buFont typeface="Wingdings" panose="05000000000000000000" pitchFamily="2" charset="2"/>
              <a:buNone/>
              <a:defRPr/>
            </a:pPr>
            <a:r>
              <a:rPr lang="zh-CN" altLang="en-US" sz="1800" smtClean="0">
                <a:latin typeface="宋体" pitchFamily="2" charset="-122"/>
              </a:rPr>
              <a:t>     一个文件一经创建，就具有三种访问方式</a:t>
            </a:r>
            <a:r>
              <a:rPr lang="zh-CN" altLang="en-US" sz="2000" smtClean="0">
                <a:latin typeface="Arial Unicode MS" pitchFamily="34" charset="-122"/>
                <a:ea typeface="Arial Unicode MS" pitchFamily="34" charset="-122"/>
                <a:cs typeface="Arial Unicode MS" pitchFamily="34" charset="-122"/>
              </a:rPr>
              <a:t>      </a:t>
            </a:r>
            <a:endParaRPr lang="zh-CN" altLang="en-US" sz="2000" dirty="0">
              <a:latin typeface="Arial Unicode MS" pitchFamily="34" charset="-122"/>
              <a:ea typeface="Arial Unicode MS" pitchFamily="34" charset="-122"/>
              <a:cs typeface="Arial Unicode MS" pitchFamily="34" charset="-122"/>
            </a:endParaRPr>
          </a:p>
        </p:txBody>
      </p:sp>
      <p:graphicFrame>
        <p:nvGraphicFramePr>
          <p:cNvPr id="5" name="Group 116"/>
          <p:cNvGraphicFramePr>
            <a:graphicFrameLocks/>
          </p:cNvGraphicFramePr>
          <p:nvPr>
            <p:extLst>
              <p:ext uri="{D42A27DB-BD31-4B8C-83A1-F6EECF244321}">
                <p14:modId xmlns:p14="http://schemas.microsoft.com/office/powerpoint/2010/main" val="1202481669"/>
              </p:ext>
            </p:extLst>
          </p:nvPr>
        </p:nvGraphicFramePr>
        <p:xfrm>
          <a:off x="1444967" y="1988773"/>
          <a:ext cx="7632700" cy="1394908"/>
        </p:xfrm>
        <a:graphic>
          <a:graphicData uri="http://schemas.openxmlformats.org/drawingml/2006/table">
            <a:tbl>
              <a:tblPr/>
              <a:tblGrid>
                <a:gridCol w="769938"/>
                <a:gridCol w="5029200"/>
                <a:gridCol w="1833562"/>
              </a:tblGrid>
              <a:tr h="25082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smtClean="0">
                          <a:ln>
                            <a:noFill/>
                          </a:ln>
                          <a:solidFill>
                            <a:srgbClr val="FF3300"/>
                          </a:solidFill>
                          <a:effectLst/>
                          <a:latin typeface="Garamond" panose="02020404030301010803" pitchFamily="18" charset="0"/>
                          <a:ea typeface="宋体" panose="02010600030101010101" pitchFamily="2" charset="-122"/>
                        </a:rPr>
                        <a:t>字符</a:t>
                      </a:r>
                    </a:p>
                  </a:txBody>
                  <a:tcPr marL="46800" marR="468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smtClean="0">
                          <a:ln>
                            <a:noFill/>
                          </a:ln>
                          <a:solidFill>
                            <a:srgbClr val="FF3300"/>
                          </a:solidFill>
                          <a:effectLst/>
                          <a:latin typeface="Garamond" panose="02020404030301010803" pitchFamily="18" charset="0"/>
                          <a:ea typeface="宋体" panose="02010600030101010101" pitchFamily="2" charset="-122"/>
                        </a:rPr>
                        <a:t>含义</a:t>
                      </a:r>
                    </a:p>
                  </a:txBody>
                  <a:tcPr marL="46800" marR="468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600" b="0" i="0" u="none" strike="noStrike" cap="none" normalizeH="0" baseline="0" smtClean="0">
                          <a:ln>
                            <a:noFill/>
                          </a:ln>
                          <a:solidFill>
                            <a:srgbClr val="FF3300"/>
                          </a:solidFill>
                          <a:effectLst/>
                          <a:latin typeface="Garamond" panose="02020404030301010803" pitchFamily="18" charset="0"/>
                          <a:ea typeface="宋体" panose="02010600030101010101" pitchFamily="2" charset="-122"/>
                        </a:rPr>
                        <a:t>八进制表示</a:t>
                      </a:r>
                    </a:p>
                  </a:txBody>
                  <a:tcPr marL="46800" marR="468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258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46800" marR="468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r</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ead   </a:t>
                      </a:r>
                      <a:r>
                        <a:rPr kumimoji="0" lang="zh-CN" altLang="en-US"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读，可以显示该文件的内容</a:t>
                      </a:r>
                    </a:p>
                  </a:txBody>
                  <a:tcPr marL="46800" marR="468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kumimoji="0" lang="en-US" altLang="zh-CN" sz="1600" b="0" i="0" u="none" strike="noStrike" cap="none" normalizeH="0" baseline="3000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=4</a:t>
                      </a:r>
                      <a:endParaRPr kumimoji="0" lang="en-US" altLang="zh-CN" sz="1600" b="0" i="0" u="none" strike="noStrike" cap="none" normalizeH="0" baseline="3000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46800" marR="468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w</a:t>
                      </a:r>
                    </a:p>
                  </a:txBody>
                  <a:tcPr marL="46800" marR="468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w</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rite   </a:t>
                      </a:r>
                      <a:r>
                        <a:rPr kumimoji="0" lang="zh-CN" altLang="en-US"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写，可以编辑或删除它</a:t>
                      </a:r>
                    </a:p>
                  </a:txBody>
                  <a:tcPr marL="46800" marR="468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kumimoji="0" lang="en-US" altLang="zh-CN" sz="1600" b="0" i="0" u="none" strike="noStrike" cap="none" normalizeH="0" baseline="3000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1</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=2</a:t>
                      </a:r>
                    </a:p>
                  </a:txBody>
                  <a:tcPr marL="46800" marR="468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971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x</a:t>
                      </a:r>
                    </a:p>
                  </a:txBody>
                  <a:tcPr marL="46800" marR="468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e</a:t>
                      </a:r>
                      <a:r>
                        <a:rPr kumimoji="0" lang="en-US" altLang="zh-CN" sz="1600" b="0" i="0" u="none" strike="noStrike" cap="none" normalizeH="0" baseline="0" smtClean="0">
                          <a:ln>
                            <a:noFill/>
                          </a:ln>
                          <a:solidFill>
                            <a:srgbClr val="FF3300"/>
                          </a:solidFill>
                          <a:effectLst/>
                          <a:latin typeface="Arial Unicode MS" panose="020B0604020202020204" pitchFamily="34" charset="-122"/>
                          <a:ea typeface="Arial Unicode MS" panose="020B0604020202020204" pitchFamily="34" charset="-122"/>
                          <a:cs typeface="Arial Unicode MS" panose="020B0604020202020204" pitchFamily="34" charset="-122"/>
                        </a:rPr>
                        <a:t>x</a:t>
                      </a:r>
                      <a:r>
                        <a:rPr kumimoji="0" lang="en-US" altLang="zh-CN"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cute</a:t>
                      </a:r>
                      <a:r>
                        <a:rPr kumimoji="0" lang="zh-CN" altLang="en-US" sz="1600" b="0" i="0" u="none" strike="noStrike" cap="none" normalizeH="0" baseline="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r>
                        <a:rPr kumimoji="0" lang="zh-CN" altLang="en-US" sz="16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执行，如果是程序的话</a:t>
                      </a:r>
                    </a:p>
                  </a:txBody>
                  <a:tcPr marL="46800" marR="468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kumimoji="0" lang="en-US" altLang="zh-CN" sz="1600" b="0" i="0" u="none" strike="noStrike" cap="none" normalizeH="0" baseline="3000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0</a:t>
                      </a:r>
                      <a:r>
                        <a:rPr kumimoji="0" lang="en-US" altLang="zh-CN" sz="1600" b="0" i="0" u="none" strike="noStrike" cap="none" normalizeH="0" baseline="0" dirty="0" smtClean="0">
                          <a:ln>
                            <a:noFill/>
                          </a:ln>
                          <a:solidFill>
                            <a:schemeClr val="tx1"/>
                          </a:solidFill>
                          <a:effectLst/>
                          <a:latin typeface="Arial Unicode MS" panose="020B0604020202020204" pitchFamily="34" charset="-122"/>
                          <a:ea typeface="Arial Unicode MS" panose="020B0604020202020204" pitchFamily="34" charset="-122"/>
                          <a:cs typeface="Arial Unicode MS" panose="020B0604020202020204" pitchFamily="34" charset="-122"/>
                        </a:rPr>
                        <a:t>=1</a:t>
                      </a:r>
                    </a:p>
                  </a:txBody>
                  <a:tcPr marL="46800" marR="468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 name="Group 111"/>
          <p:cNvGraphicFramePr>
            <a:graphicFrameLocks/>
          </p:cNvGraphicFramePr>
          <p:nvPr>
            <p:extLst>
              <p:ext uri="{D42A27DB-BD31-4B8C-83A1-F6EECF244321}">
                <p14:modId xmlns:p14="http://schemas.microsoft.com/office/powerpoint/2010/main" val="2726409424"/>
              </p:ext>
            </p:extLst>
          </p:nvPr>
        </p:nvGraphicFramePr>
        <p:xfrm>
          <a:off x="1300505" y="4508136"/>
          <a:ext cx="3455987" cy="398400"/>
        </p:xfrm>
        <a:graphic>
          <a:graphicData uri="http://schemas.openxmlformats.org/drawingml/2006/table">
            <a:tbl>
              <a:tblPr/>
              <a:tblGrid>
                <a:gridCol w="346075"/>
                <a:gridCol w="344487"/>
                <a:gridCol w="346075"/>
                <a:gridCol w="346075"/>
                <a:gridCol w="344488"/>
                <a:gridCol w="346075"/>
                <a:gridCol w="346075"/>
                <a:gridCol w="344487"/>
                <a:gridCol w="346075"/>
                <a:gridCol w="346075"/>
              </a:tblGrid>
              <a:tr h="3206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w</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w</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7" name="Group 120"/>
          <p:cNvGrpSpPr>
            <a:grpSpLocks/>
          </p:cNvGrpSpPr>
          <p:nvPr/>
        </p:nvGrpSpPr>
        <p:grpSpPr bwMode="auto">
          <a:xfrm>
            <a:off x="1732305" y="5012961"/>
            <a:ext cx="865187" cy="798512"/>
            <a:chOff x="657" y="3385"/>
            <a:chExt cx="545" cy="503"/>
          </a:xfrm>
        </p:grpSpPr>
        <p:sp>
          <p:nvSpPr>
            <p:cNvPr id="8" name="AutoShape 93"/>
            <p:cNvSpPr>
              <a:spLocks/>
            </p:cNvSpPr>
            <p:nvPr/>
          </p:nvSpPr>
          <p:spPr bwMode="auto">
            <a:xfrm rot="-5400000">
              <a:off x="814" y="3228"/>
              <a:ext cx="232" cy="545"/>
            </a:xfrm>
            <a:prstGeom prst="leftBrace">
              <a:avLst>
                <a:gd name="adj1" fmla="val 19576"/>
                <a:gd name="adj2" fmla="val 4759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9" name="Text Box 96"/>
            <p:cNvSpPr txBox="1">
              <a:spLocks noChangeArrowheads="1"/>
            </p:cNvSpPr>
            <p:nvPr/>
          </p:nvSpPr>
          <p:spPr bwMode="auto">
            <a:xfrm>
              <a:off x="839" y="365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u</a:t>
              </a:r>
            </a:p>
          </p:txBody>
        </p:sp>
      </p:grpSp>
      <p:grpSp>
        <p:nvGrpSpPr>
          <p:cNvPr id="10" name="Group 121"/>
          <p:cNvGrpSpPr>
            <a:grpSpLocks/>
          </p:cNvGrpSpPr>
          <p:nvPr/>
        </p:nvGrpSpPr>
        <p:grpSpPr bwMode="auto">
          <a:xfrm>
            <a:off x="2668930" y="5012961"/>
            <a:ext cx="1079500" cy="798512"/>
            <a:chOff x="1247" y="3385"/>
            <a:chExt cx="680" cy="503"/>
          </a:xfrm>
        </p:grpSpPr>
        <p:sp>
          <p:nvSpPr>
            <p:cNvPr id="11" name="AutoShape 94"/>
            <p:cNvSpPr>
              <a:spLocks/>
            </p:cNvSpPr>
            <p:nvPr/>
          </p:nvSpPr>
          <p:spPr bwMode="auto">
            <a:xfrm rot="-5400000">
              <a:off x="1471" y="3161"/>
              <a:ext cx="232" cy="680"/>
            </a:xfrm>
            <a:prstGeom prst="leftBrace">
              <a:avLst>
                <a:gd name="adj1" fmla="val 55378"/>
                <a:gd name="adj2" fmla="val 4759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12" name="Text Box 97"/>
            <p:cNvSpPr txBox="1">
              <a:spLocks noChangeArrowheads="1"/>
            </p:cNvSpPr>
            <p:nvPr/>
          </p:nvSpPr>
          <p:spPr bwMode="auto">
            <a:xfrm>
              <a:off x="1474" y="365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g</a:t>
              </a:r>
            </a:p>
          </p:txBody>
        </p:sp>
      </p:grpSp>
      <p:grpSp>
        <p:nvGrpSpPr>
          <p:cNvPr id="13" name="Group 122"/>
          <p:cNvGrpSpPr>
            <a:grpSpLocks/>
          </p:cNvGrpSpPr>
          <p:nvPr/>
        </p:nvGrpSpPr>
        <p:grpSpPr bwMode="auto">
          <a:xfrm>
            <a:off x="3821455" y="5012961"/>
            <a:ext cx="935037" cy="798512"/>
            <a:chOff x="1973" y="3385"/>
            <a:chExt cx="589" cy="503"/>
          </a:xfrm>
        </p:grpSpPr>
        <p:sp>
          <p:nvSpPr>
            <p:cNvPr id="14" name="AutoShape 95"/>
            <p:cNvSpPr>
              <a:spLocks/>
            </p:cNvSpPr>
            <p:nvPr/>
          </p:nvSpPr>
          <p:spPr bwMode="auto">
            <a:xfrm rot="-5400000">
              <a:off x="2152" y="3206"/>
              <a:ext cx="232" cy="589"/>
            </a:xfrm>
            <a:prstGeom prst="leftBrace">
              <a:avLst>
                <a:gd name="adj1" fmla="val 21157"/>
                <a:gd name="adj2" fmla="val 4759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15" name="Text Box 98"/>
            <p:cNvSpPr txBox="1">
              <a:spLocks noChangeArrowheads="1"/>
            </p:cNvSpPr>
            <p:nvPr/>
          </p:nvSpPr>
          <p:spPr bwMode="auto">
            <a:xfrm>
              <a:off x="2154" y="365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o</a:t>
              </a:r>
            </a:p>
          </p:txBody>
        </p:sp>
      </p:grpSp>
      <p:grpSp>
        <p:nvGrpSpPr>
          <p:cNvPr id="16" name="Group 119"/>
          <p:cNvGrpSpPr>
            <a:grpSpLocks/>
          </p:cNvGrpSpPr>
          <p:nvPr/>
        </p:nvGrpSpPr>
        <p:grpSpPr bwMode="auto">
          <a:xfrm>
            <a:off x="1229067" y="5012961"/>
            <a:ext cx="647700" cy="768350"/>
            <a:chOff x="340" y="3385"/>
            <a:chExt cx="408" cy="484"/>
          </a:xfrm>
        </p:grpSpPr>
        <p:sp>
          <p:nvSpPr>
            <p:cNvPr id="17" name="AutoShape 112"/>
            <p:cNvSpPr>
              <a:spLocks/>
            </p:cNvSpPr>
            <p:nvPr/>
          </p:nvSpPr>
          <p:spPr bwMode="auto">
            <a:xfrm rot="-5400000">
              <a:off x="372" y="3398"/>
              <a:ext cx="232" cy="205"/>
            </a:xfrm>
            <a:prstGeom prst="leftBrace">
              <a:avLst>
                <a:gd name="adj1" fmla="val 8333"/>
                <a:gd name="adj2" fmla="val 4759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18" name="Text Box 113"/>
            <p:cNvSpPr txBox="1">
              <a:spLocks noChangeArrowheads="1"/>
            </p:cNvSpPr>
            <p:nvPr/>
          </p:nvSpPr>
          <p:spPr bwMode="auto">
            <a:xfrm>
              <a:off x="340" y="3657"/>
              <a:ext cx="4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zh-CN" altLang="en-US" sz="1600">
                  <a:latin typeface="宋体" panose="02010600030101010101" pitchFamily="2" charset="-122"/>
                  <a:ea typeface="Arial Unicode MS" panose="020B0604020202020204" pitchFamily="34" charset="-122"/>
                  <a:cs typeface="Arial Unicode MS" panose="020B0604020202020204" pitchFamily="34" charset="-122"/>
                </a:rPr>
                <a:t>类型</a:t>
              </a:r>
            </a:p>
          </p:txBody>
        </p:sp>
      </p:grpSp>
      <p:sp>
        <p:nvSpPr>
          <p:cNvPr id="19" name="Text Box 115"/>
          <p:cNvSpPr txBox="1">
            <a:spLocks noChangeArrowheads="1"/>
          </p:cNvSpPr>
          <p:nvPr/>
        </p:nvSpPr>
        <p:spPr bwMode="auto">
          <a:xfrm>
            <a:off x="1229067" y="3573098"/>
            <a:ext cx="79930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宋体" panose="02010600030101010101" pitchFamily="2" charset="-122"/>
              </a:rPr>
              <a:t>    </a:t>
            </a:r>
            <a:r>
              <a:rPr lang="zh-CN" altLang="en-US">
                <a:latin typeface="宋体" panose="02010600030101010101" pitchFamily="2" charset="-122"/>
              </a:rPr>
              <a:t>一个文件由</a:t>
            </a:r>
            <a:r>
              <a:rPr lang="en-US" altLang="zh-CN">
                <a:latin typeface="宋体" panose="02010600030101010101" pitchFamily="2" charset="-122"/>
              </a:rPr>
              <a:t>1</a:t>
            </a:r>
            <a:r>
              <a:rPr lang="zh-CN" altLang="en-US">
                <a:latin typeface="宋体" panose="02010600030101010101" pitchFamily="2" charset="-122"/>
              </a:rPr>
              <a:t>个类型和</a:t>
            </a:r>
            <a:r>
              <a:rPr lang="en-US" altLang="zh-CN">
                <a:latin typeface="宋体" panose="02010600030101010101" pitchFamily="2" charset="-122"/>
              </a:rPr>
              <a:t>9</a:t>
            </a:r>
            <a:r>
              <a:rPr lang="zh-CN" altLang="en-US">
                <a:latin typeface="宋体" panose="02010600030101010101" pitchFamily="2" charset="-122"/>
              </a:rPr>
              <a:t>个权限位来描述，</a:t>
            </a:r>
            <a:r>
              <a:rPr lang="en-US" altLang="zh-CN">
                <a:latin typeface="宋体" panose="02010600030101010101" pitchFamily="2" charset="-122"/>
              </a:rPr>
              <a:t>9</a:t>
            </a:r>
            <a:r>
              <a:rPr lang="zh-CN" altLang="en-US">
                <a:latin typeface="宋体" panose="02010600030101010101" pitchFamily="2" charset="-122"/>
              </a:rPr>
              <a:t>个权限位分为</a:t>
            </a:r>
            <a:r>
              <a:rPr lang="en-US" altLang="zh-CN">
                <a:latin typeface="宋体" panose="02010600030101010101" pitchFamily="2" charset="-122"/>
              </a:rPr>
              <a:t>3</a:t>
            </a:r>
            <a:r>
              <a:rPr lang="zh-CN" altLang="en-US">
                <a:latin typeface="宋体" panose="02010600030101010101" pitchFamily="2" charset="-122"/>
              </a:rPr>
              <a:t>组，每组</a:t>
            </a:r>
            <a:r>
              <a:rPr lang="en-US" altLang="zh-CN">
                <a:latin typeface="宋体" panose="02010600030101010101" pitchFamily="2" charset="-122"/>
              </a:rPr>
              <a:t>3</a:t>
            </a:r>
            <a:r>
              <a:rPr lang="zh-CN" altLang="en-US">
                <a:latin typeface="宋体" panose="02010600030101010101" pitchFamily="2" charset="-122"/>
              </a:rPr>
              <a:t>个权限位，具体表示如下所示：</a:t>
            </a:r>
          </a:p>
        </p:txBody>
      </p:sp>
      <p:grpSp>
        <p:nvGrpSpPr>
          <p:cNvPr id="20" name="Group 123"/>
          <p:cNvGrpSpPr>
            <a:grpSpLocks/>
          </p:cNvGrpSpPr>
          <p:nvPr/>
        </p:nvGrpSpPr>
        <p:grpSpPr bwMode="auto">
          <a:xfrm>
            <a:off x="5189880" y="4363673"/>
            <a:ext cx="3814762" cy="1665288"/>
            <a:chOff x="2835" y="2976"/>
            <a:chExt cx="2403" cy="1049"/>
          </a:xfrm>
        </p:grpSpPr>
        <p:sp>
          <p:nvSpPr>
            <p:cNvPr id="21" name="AutoShape 100"/>
            <p:cNvSpPr>
              <a:spLocks/>
            </p:cNvSpPr>
            <p:nvPr/>
          </p:nvSpPr>
          <p:spPr bwMode="auto">
            <a:xfrm>
              <a:off x="2835" y="3067"/>
              <a:ext cx="90" cy="953"/>
            </a:xfrm>
            <a:prstGeom prst="leftBrace">
              <a:avLst>
                <a:gd name="adj1" fmla="val 8824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22" name="Text Box 101"/>
            <p:cNvSpPr txBox="1">
              <a:spLocks noChangeArrowheads="1"/>
            </p:cNvSpPr>
            <p:nvPr/>
          </p:nvSpPr>
          <p:spPr bwMode="auto">
            <a:xfrm>
              <a:off x="2925" y="2976"/>
              <a:ext cx="19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u:</a:t>
              </a:r>
              <a:r>
                <a:rPr lang="en-US" altLang="zh-CN" sz="200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rPr>
                <a:t>u</a:t>
              </a:r>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ser,</a:t>
              </a:r>
              <a:r>
                <a:rPr lang="zh-CN" altLang="en-US" sz="1600">
                  <a:latin typeface="宋体" panose="02010600030101010101" pitchFamily="2" charset="-122"/>
                </a:rPr>
                <a:t>文件的属主</a:t>
              </a:r>
            </a:p>
          </p:txBody>
        </p:sp>
        <p:sp>
          <p:nvSpPr>
            <p:cNvPr id="23" name="Text Box 102"/>
            <p:cNvSpPr txBox="1">
              <a:spLocks noChangeArrowheads="1"/>
            </p:cNvSpPr>
            <p:nvPr/>
          </p:nvSpPr>
          <p:spPr bwMode="auto">
            <a:xfrm>
              <a:off x="2925" y="3258"/>
              <a:ext cx="23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g:</a:t>
              </a:r>
              <a:r>
                <a:rPr lang="en-US" altLang="zh-CN" sz="200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rPr>
                <a:t>g</a:t>
              </a:r>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roup,</a:t>
              </a:r>
              <a:r>
                <a:rPr lang="zh-CN" altLang="en-US" sz="1600">
                  <a:latin typeface="宋体" panose="02010600030101010101" pitchFamily="2" charset="-122"/>
                </a:rPr>
                <a:t>文件的属主所在的组，属组</a:t>
              </a:r>
            </a:p>
          </p:txBody>
        </p:sp>
        <p:sp>
          <p:nvSpPr>
            <p:cNvPr id="24" name="Text Box 103"/>
            <p:cNvSpPr txBox="1">
              <a:spLocks noChangeArrowheads="1"/>
            </p:cNvSpPr>
            <p:nvPr/>
          </p:nvSpPr>
          <p:spPr bwMode="auto">
            <a:xfrm>
              <a:off x="2925" y="3521"/>
              <a:ext cx="19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o:</a:t>
              </a:r>
              <a:r>
                <a:rPr lang="en-US" altLang="zh-CN" sz="200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rPr>
                <a:t>o</a:t>
              </a:r>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ther,</a:t>
              </a:r>
              <a:r>
                <a:rPr lang="zh-CN" altLang="en-US" sz="1600">
                  <a:latin typeface="宋体" panose="02010600030101010101" pitchFamily="2" charset="-122"/>
                  <a:ea typeface="Arial Unicode MS" panose="020B0604020202020204" pitchFamily="34" charset="-122"/>
                  <a:cs typeface="Arial Unicode MS" panose="020B0604020202020204" pitchFamily="34" charset="-122"/>
                </a:rPr>
                <a:t>其他的用户</a:t>
              </a:r>
              <a:endParaRPr lang="zh-CN" altLang="en-US" sz="1600">
                <a:latin typeface="宋体" panose="02010600030101010101" pitchFamily="2" charset="-122"/>
              </a:endParaRPr>
            </a:p>
          </p:txBody>
        </p:sp>
        <p:sp>
          <p:nvSpPr>
            <p:cNvPr id="25" name="Text Box 117"/>
            <p:cNvSpPr txBox="1">
              <a:spLocks noChangeArrowheads="1"/>
            </p:cNvSpPr>
            <p:nvPr/>
          </p:nvSpPr>
          <p:spPr bwMode="auto">
            <a:xfrm>
              <a:off x="2935" y="3775"/>
              <a:ext cx="19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a:</a:t>
              </a:r>
              <a:r>
                <a:rPr lang="en-US" altLang="zh-CN" sz="200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rPr>
                <a:t>a</a:t>
              </a:r>
              <a:r>
                <a:rPr lang="en-US" altLang="zh-CN" sz="2000">
                  <a:latin typeface="Arial Unicode MS" panose="020B0604020202020204" pitchFamily="34" charset="-122"/>
                  <a:ea typeface="Arial Unicode MS" panose="020B0604020202020204" pitchFamily="34" charset="-122"/>
                  <a:cs typeface="Arial Unicode MS" panose="020B0604020202020204" pitchFamily="34" charset="-122"/>
                </a:rPr>
                <a:t>ll,</a:t>
              </a:r>
              <a:r>
                <a:rPr lang="zh-CN" altLang="en-US" sz="1600">
                  <a:latin typeface="宋体" panose="02010600030101010101" pitchFamily="2" charset="-122"/>
                  <a:ea typeface="Arial Unicode MS" panose="020B0604020202020204" pitchFamily="34" charset="-122"/>
                  <a:cs typeface="Arial Unicode MS" panose="020B0604020202020204" pitchFamily="34" charset="-122"/>
                </a:rPr>
                <a:t>以上三种人</a:t>
              </a:r>
              <a:endParaRPr lang="zh-CN" altLang="en-US" sz="1600">
                <a:latin typeface="宋体" panose="02010600030101010101" pitchFamily="2" charset="-122"/>
              </a:endParaRPr>
            </a:p>
          </p:txBody>
        </p:sp>
      </p:grpSp>
    </p:spTree>
    <p:extLst>
      <p:ext uri="{BB962C8B-B14F-4D97-AF65-F5344CB8AC3E}">
        <p14:creationId xmlns:p14="http://schemas.microsoft.com/office/powerpoint/2010/main" val="248428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1000" fill="hold"/>
                                        <p:tgtEl>
                                          <p:spTgt spid="19"/>
                                        </p:tgtEl>
                                        <p:attrNameLst>
                                          <p:attrName>ppt_w</p:attrName>
                                        </p:attrNameLst>
                                      </p:cBhvr>
                                      <p:tavLst>
                                        <p:tav tm="0">
                                          <p:val>
                                            <p:strVal val="#ppt_w*0.70"/>
                                          </p:val>
                                        </p:tav>
                                        <p:tav tm="100000">
                                          <p:val>
                                            <p:strVal val="#ppt_w"/>
                                          </p:val>
                                        </p:tav>
                                      </p:tavLst>
                                    </p:anim>
                                    <p:anim calcmode="lin" valueType="num">
                                      <p:cBhvr>
                                        <p:cTn id="13" dur="1000" fill="hold"/>
                                        <p:tgtEl>
                                          <p:spTgt spid="19"/>
                                        </p:tgtEl>
                                        <p:attrNameLst>
                                          <p:attrName>ppt_h</p:attrName>
                                        </p:attrNameLst>
                                      </p:cBhvr>
                                      <p:tavLst>
                                        <p:tav tm="0">
                                          <p:val>
                                            <p:strVal val="#ppt_h"/>
                                          </p:val>
                                        </p:tav>
                                        <p:tav tm="100000">
                                          <p:val>
                                            <p:strVal val="#ppt_h"/>
                                          </p:val>
                                        </p:tav>
                                      </p:tavLst>
                                    </p:anim>
                                    <p:animEffect transition="in" filter="fade">
                                      <p:cBhvr>
                                        <p:cTn id="14" dur="10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from="(-#ppt_w/2)" to="(#ppt_x)" calcmode="lin" valueType="num">
                                      <p:cBhvr>
                                        <p:cTn id="19" dur="600" fill="hold">
                                          <p:stCondLst>
                                            <p:cond delay="0"/>
                                          </p:stCondLst>
                                        </p:cTn>
                                        <p:tgtEl>
                                          <p:spTgt spid="6"/>
                                        </p:tgtEl>
                                        <p:attrNameLst>
                                          <p:attrName>ppt_x</p:attrName>
                                        </p:attrNameLst>
                                      </p:cBhvr>
                                    </p:anim>
                                    <p:anim from="0" to="-1.0" calcmode="lin" valueType="num">
                                      <p:cBhvr>
                                        <p:cTn id="20" dur="200" decel="50000" autoRev="1" fill="hold">
                                          <p:stCondLst>
                                            <p:cond delay="600"/>
                                          </p:stCondLst>
                                        </p:cTn>
                                        <p:tgtEl>
                                          <p:spTgt spid="6"/>
                                        </p:tgtEl>
                                        <p:attrNameLst>
                                          <p:attrName>xshear</p:attrName>
                                        </p:attrNameLst>
                                      </p:cBhvr>
                                    </p:anim>
                                    <p:animScale>
                                      <p:cBhvr>
                                        <p:cTn id="21" dur="200" decel="100000" autoRev="1" fill="hold">
                                          <p:stCondLst>
                                            <p:cond delay="600"/>
                                          </p:stCondLst>
                                        </p:cTn>
                                        <p:tgtEl>
                                          <p:spTgt spid="6"/>
                                        </p:tgtEl>
                                      </p:cBhvr>
                                      <p:from x="100000" y="100000"/>
                                      <p:to x="80000" y="100000"/>
                                    </p:animScale>
                                    <p:anim by="(#ppt_h/3+#ppt_w*0.1)" calcmode="lin" valueType="num">
                                      <p:cBhvr additive="sum">
                                        <p:cTn id="22" dur="200" decel="100000" autoRev="1" fill="hold">
                                          <p:stCondLst>
                                            <p:cond delay="600"/>
                                          </p:stCondLst>
                                        </p:cTn>
                                        <p:tgtEl>
                                          <p:spTgt spid="6"/>
                                        </p:tgtEl>
                                        <p:attrNameLst>
                                          <p:attrName>ppt_x</p:attrName>
                                        </p:attrNameLst>
                                      </p:cBhvr>
                                    </p:anim>
                                  </p:childTnLst>
                                </p:cTn>
                              </p:par>
                            </p:childTnLst>
                          </p:cTn>
                        </p:par>
                      </p:childTnLst>
                    </p:cTn>
                  </p:par>
                  <p:par>
                    <p:cTn id="23" fill="hold">
                      <p:stCondLst>
                        <p:cond delay="indefinite"/>
                      </p:stCondLst>
                      <p:childTnLst>
                        <p:par>
                          <p:cTn id="24" fill="hold">
                            <p:stCondLst>
                              <p:cond delay="0"/>
                            </p:stCondLst>
                            <p:childTnLst>
                              <p:par>
                                <p:cTn id="25" presetID="54" presetClass="entr" presetSubtype="0" accel="10000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strVal val="#ppt_w*0.05"/>
                                          </p:val>
                                        </p:tav>
                                        <p:tav tm="100000">
                                          <p:val>
                                            <p:strVal val="#ppt_w"/>
                                          </p:val>
                                        </p:tav>
                                      </p:tavLst>
                                    </p:anim>
                                    <p:anim calcmode="lin" valueType="num">
                                      <p:cBhvr>
                                        <p:cTn id="28" dur="500" fill="hold"/>
                                        <p:tgtEl>
                                          <p:spTgt spid="16"/>
                                        </p:tgtEl>
                                        <p:attrNameLst>
                                          <p:attrName>ppt_h</p:attrName>
                                        </p:attrNameLst>
                                      </p:cBhvr>
                                      <p:tavLst>
                                        <p:tav tm="0">
                                          <p:val>
                                            <p:strVal val="#ppt_h"/>
                                          </p:val>
                                        </p:tav>
                                        <p:tav tm="100000">
                                          <p:val>
                                            <p:strVal val="#ppt_h"/>
                                          </p:val>
                                        </p:tav>
                                      </p:tavLst>
                                    </p:anim>
                                    <p:anim calcmode="lin" valueType="num">
                                      <p:cBhvr>
                                        <p:cTn id="29" dur="500" fill="hold"/>
                                        <p:tgtEl>
                                          <p:spTgt spid="16"/>
                                        </p:tgtEl>
                                        <p:attrNameLst>
                                          <p:attrName>ppt_x</p:attrName>
                                        </p:attrNameLst>
                                      </p:cBhvr>
                                      <p:tavLst>
                                        <p:tav tm="0">
                                          <p:val>
                                            <p:strVal val="#ppt_x-.2"/>
                                          </p:val>
                                        </p:tav>
                                        <p:tav tm="100000">
                                          <p:val>
                                            <p:strVal val="#ppt_x"/>
                                          </p:val>
                                        </p:tav>
                                      </p:tavLst>
                                    </p:anim>
                                    <p:anim calcmode="lin" valueType="num">
                                      <p:cBhvr>
                                        <p:cTn id="30" dur="500" fill="hold"/>
                                        <p:tgtEl>
                                          <p:spTgt spid="16"/>
                                        </p:tgtEl>
                                        <p:attrNameLst>
                                          <p:attrName>ppt_y</p:attrName>
                                        </p:attrNameLst>
                                      </p:cBhvr>
                                      <p:tavLst>
                                        <p:tav tm="0">
                                          <p:val>
                                            <p:strVal val="#ppt_y"/>
                                          </p:val>
                                        </p:tav>
                                        <p:tav tm="100000">
                                          <p:val>
                                            <p:strVal val="#ppt_y"/>
                                          </p:val>
                                        </p:tav>
                                      </p:tavLst>
                                    </p:anim>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30"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800" decel="100000"/>
                                        <p:tgtEl>
                                          <p:spTgt spid="7"/>
                                        </p:tgtEl>
                                      </p:cBhvr>
                                    </p:animEffect>
                                    <p:anim calcmode="lin" valueType="num">
                                      <p:cBhvr>
                                        <p:cTn id="37" dur="800" decel="100000" fill="hold"/>
                                        <p:tgtEl>
                                          <p:spTgt spid="7"/>
                                        </p:tgtEl>
                                        <p:attrNameLst>
                                          <p:attrName>style.rotation</p:attrName>
                                        </p:attrNameLst>
                                      </p:cBhvr>
                                      <p:tavLst>
                                        <p:tav tm="0">
                                          <p:val>
                                            <p:fltVal val="-90"/>
                                          </p:val>
                                        </p:tav>
                                        <p:tav tm="100000">
                                          <p:val>
                                            <p:fltVal val="0"/>
                                          </p:val>
                                        </p:tav>
                                      </p:tavLst>
                                    </p:anim>
                                    <p:anim calcmode="lin" valueType="num">
                                      <p:cBhvr>
                                        <p:cTn id="38" dur="800" decel="100000" fill="hold"/>
                                        <p:tgtEl>
                                          <p:spTgt spid="7"/>
                                        </p:tgtEl>
                                        <p:attrNameLst>
                                          <p:attrName>ppt_x</p:attrName>
                                        </p:attrNameLst>
                                      </p:cBhvr>
                                      <p:tavLst>
                                        <p:tav tm="0">
                                          <p:val>
                                            <p:strVal val="#ppt_x+0.4"/>
                                          </p:val>
                                        </p:tav>
                                        <p:tav tm="100000">
                                          <p:val>
                                            <p:strVal val="#ppt_x-0.05"/>
                                          </p:val>
                                        </p:tav>
                                      </p:tavLst>
                                    </p:anim>
                                    <p:anim calcmode="lin" valueType="num">
                                      <p:cBhvr>
                                        <p:cTn id="39" dur="800" decel="100000" fill="hold"/>
                                        <p:tgtEl>
                                          <p:spTgt spid="7"/>
                                        </p:tgtEl>
                                        <p:attrNameLst>
                                          <p:attrName>ppt_y</p:attrName>
                                        </p:attrNameLst>
                                      </p:cBhvr>
                                      <p:tavLst>
                                        <p:tav tm="0">
                                          <p:val>
                                            <p:strVal val="#ppt_y-0.4"/>
                                          </p:val>
                                        </p:tav>
                                        <p:tav tm="100000">
                                          <p:val>
                                            <p:strVal val="#ppt_y+0.1"/>
                                          </p:val>
                                        </p:tav>
                                      </p:tavLst>
                                    </p:anim>
                                    <p:anim calcmode="lin" valueType="num">
                                      <p:cBhvr>
                                        <p:cTn id="40"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41"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0" presetClass="entr" presetSubtype="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800" decel="100000"/>
                                        <p:tgtEl>
                                          <p:spTgt spid="10"/>
                                        </p:tgtEl>
                                      </p:cBhvr>
                                    </p:animEffect>
                                    <p:anim calcmode="lin" valueType="num">
                                      <p:cBhvr>
                                        <p:cTn id="47" dur="800" decel="100000" fill="hold"/>
                                        <p:tgtEl>
                                          <p:spTgt spid="10"/>
                                        </p:tgtEl>
                                        <p:attrNameLst>
                                          <p:attrName>style.rotation</p:attrName>
                                        </p:attrNameLst>
                                      </p:cBhvr>
                                      <p:tavLst>
                                        <p:tav tm="0">
                                          <p:val>
                                            <p:fltVal val="-90"/>
                                          </p:val>
                                        </p:tav>
                                        <p:tav tm="100000">
                                          <p:val>
                                            <p:fltVal val="0"/>
                                          </p:val>
                                        </p:tav>
                                      </p:tavLst>
                                    </p:anim>
                                    <p:anim calcmode="lin" valueType="num">
                                      <p:cBhvr>
                                        <p:cTn id="48" dur="800" decel="100000" fill="hold"/>
                                        <p:tgtEl>
                                          <p:spTgt spid="10"/>
                                        </p:tgtEl>
                                        <p:attrNameLst>
                                          <p:attrName>ppt_x</p:attrName>
                                        </p:attrNameLst>
                                      </p:cBhvr>
                                      <p:tavLst>
                                        <p:tav tm="0">
                                          <p:val>
                                            <p:strVal val="#ppt_x+0.4"/>
                                          </p:val>
                                        </p:tav>
                                        <p:tav tm="100000">
                                          <p:val>
                                            <p:strVal val="#ppt_x-0.05"/>
                                          </p:val>
                                        </p:tav>
                                      </p:tavLst>
                                    </p:anim>
                                    <p:anim calcmode="lin" valueType="num">
                                      <p:cBhvr>
                                        <p:cTn id="49" dur="800" decel="100000" fill="hold"/>
                                        <p:tgtEl>
                                          <p:spTgt spid="10"/>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0" presetClass="entr" presetSubtype="0"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800" decel="100000"/>
                                        <p:tgtEl>
                                          <p:spTgt spid="13"/>
                                        </p:tgtEl>
                                      </p:cBhvr>
                                    </p:animEffect>
                                    <p:anim calcmode="lin" valueType="num">
                                      <p:cBhvr>
                                        <p:cTn id="57" dur="800" decel="100000" fill="hold"/>
                                        <p:tgtEl>
                                          <p:spTgt spid="13"/>
                                        </p:tgtEl>
                                        <p:attrNameLst>
                                          <p:attrName>style.rotation</p:attrName>
                                        </p:attrNameLst>
                                      </p:cBhvr>
                                      <p:tavLst>
                                        <p:tav tm="0">
                                          <p:val>
                                            <p:fltVal val="-90"/>
                                          </p:val>
                                        </p:tav>
                                        <p:tav tm="100000">
                                          <p:val>
                                            <p:fltVal val="0"/>
                                          </p:val>
                                        </p:tav>
                                      </p:tavLst>
                                    </p:anim>
                                    <p:anim calcmode="lin" valueType="num">
                                      <p:cBhvr>
                                        <p:cTn id="58" dur="800" decel="100000" fill="hold"/>
                                        <p:tgtEl>
                                          <p:spTgt spid="13"/>
                                        </p:tgtEl>
                                        <p:attrNameLst>
                                          <p:attrName>ppt_x</p:attrName>
                                        </p:attrNameLst>
                                      </p:cBhvr>
                                      <p:tavLst>
                                        <p:tav tm="0">
                                          <p:val>
                                            <p:strVal val="#ppt_x+0.4"/>
                                          </p:val>
                                        </p:tav>
                                        <p:tav tm="100000">
                                          <p:val>
                                            <p:strVal val="#ppt_x-0.05"/>
                                          </p:val>
                                        </p:tav>
                                      </p:tavLst>
                                    </p:anim>
                                    <p:anim calcmode="lin" valueType="num">
                                      <p:cBhvr>
                                        <p:cTn id="59" dur="800" decel="100000" fill="hold"/>
                                        <p:tgtEl>
                                          <p:spTgt spid="13"/>
                                        </p:tgtEl>
                                        <p:attrNameLst>
                                          <p:attrName>ppt_y</p:attrName>
                                        </p:attrNameLst>
                                      </p:cBhvr>
                                      <p:tavLst>
                                        <p:tav tm="0">
                                          <p:val>
                                            <p:strVal val="#ppt_y-0.4"/>
                                          </p:val>
                                        </p:tav>
                                        <p:tav tm="100000">
                                          <p:val>
                                            <p:strVal val="#ppt_y+0.1"/>
                                          </p:val>
                                        </p:tav>
                                      </p:tavLst>
                                    </p:anim>
                                    <p:anim calcmode="lin" valueType="num">
                                      <p:cBhvr>
                                        <p:cTn id="60"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61"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52" presetClass="entr" presetSubtype="0"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animScale>
                                      <p:cBhvr>
                                        <p:cTn id="66"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7" dur="1000" decel="50000" fill="hold">
                                          <p:stCondLst>
                                            <p:cond delay="0"/>
                                          </p:stCondLst>
                                        </p:cTn>
                                        <p:tgtEl>
                                          <p:spTgt spid="20"/>
                                        </p:tgtEl>
                                        <p:attrNameLst>
                                          <p:attrName>ppt_x</p:attrName>
                                          <p:attrName>ppt_y</p:attrName>
                                        </p:attrNameLst>
                                      </p:cBhvr>
                                    </p:animMotion>
                                    <p:animEffect transition="in" filter="fade">
                                      <p:cBhvr>
                                        <p:cTn id="68"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权限管理</a:t>
            </a:r>
            <a:endParaRPr lang="zh-CN" altLang="en-US" dirty="0"/>
          </a:p>
        </p:txBody>
      </p:sp>
      <p:sp>
        <p:nvSpPr>
          <p:cNvPr id="4" name="Rectangle 3"/>
          <p:cNvSpPr txBox="1">
            <a:spLocks noChangeArrowheads="1"/>
          </p:cNvSpPr>
          <p:nvPr/>
        </p:nvSpPr>
        <p:spPr>
          <a:xfrm>
            <a:off x="879233" y="1348530"/>
            <a:ext cx="8229600" cy="28368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2000" smtClean="0">
                <a:latin typeface="宋体" pitchFamily="2" charset="-122"/>
              </a:rPr>
              <a:t>改变文件</a:t>
            </a:r>
            <a:r>
              <a:rPr lang="en-US" altLang="zh-CN" sz="2000" smtClean="0">
                <a:latin typeface="宋体" pitchFamily="2" charset="-122"/>
              </a:rPr>
              <a:t>/</a:t>
            </a:r>
            <a:r>
              <a:rPr lang="zh-CN" altLang="en-US" sz="2000" smtClean="0">
                <a:latin typeface="宋体" pitchFamily="2" charset="-122"/>
              </a:rPr>
              <a:t>目录的权限</a:t>
            </a:r>
            <a:r>
              <a:rPr lang="en-US" altLang="zh-CN" sz="2000" smtClean="0">
                <a:latin typeface="宋体" pitchFamily="2" charset="-122"/>
              </a:rPr>
              <a:t>(</a:t>
            </a:r>
            <a:r>
              <a:rPr lang="en-US" altLang="zh-CN" sz="2000" smtClean="0">
                <a:solidFill>
                  <a:srgbClr val="FF3300"/>
                </a:solidFill>
                <a:latin typeface="Arial Unicode MS" pitchFamily="34" charset="-122"/>
                <a:ea typeface="Arial Unicode MS" pitchFamily="34" charset="-122"/>
                <a:cs typeface="Arial Unicode MS" pitchFamily="34" charset="-122"/>
              </a:rPr>
              <a:t>ch</a:t>
            </a:r>
            <a:r>
              <a:rPr lang="en-US" altLang="zh-CN" sz="2000" smtClean="0">
                <a:latin typeface="Arial Unicode MS" pitchFamily="34" charset="-122"/>
                <a:ea typeface="Arial Unicode MS" pitchFamily="34" charset="-122"/>
                <a:cs typeface="Arial Unicode MS" pitchFamily="34" charset="-122"/>
              </a:rPr>
              <a:t>ange </a:t>
            </a:r>
            <a:r>
              <a:rPr lang="en-US" altLang="zh-CN" sz="2000" smtClean="0">
                <a:solidFill>
                  <a:srgbClr val="FF3300"/>
                </a:solidFill>
                <a:latin typeface="Arial Unicode MS" pitchFamily="34" charset="-122"/>
                <a:ea typeface="Arial Unicode MS" pitchFamily="34" charset="-122"/>
                <a:cs typeface="Arial Unicode MS" pitchFamily="34" charset="-122"/>
              </a:rPr>
              <a:t>mod</a:t>
            </a:r>
            <a:r>
              <a:rPr lang="en-US" altLang="zh-CN" sz="2000" smtClean="0">
                <a:latin typeface="Arial Unicode MS" pitchFamily="34" charset="-122"/>
                <a:ea typeface="Arial Unicode MS" pitchFamily="34" charset="-122"/>
                <a:cs typeface="Arial Unicode MS" pitchFamily="34" charset="-122"/>
              </a:rPr>
              <a:t>e</a:t>
            </a:r>
            <a:r>
              <a:rPr lang="en-US" altLang="zh-CN" sz="2000" smtClean="0">
                <a:latin typeface="宋体" pitchFamily="2" charset="-122"/>
              </a:rPr>
              <a:t>)</a:t>
            </a:r>
          </a:p>
          <a:p>
            <a:pPr>
              <a:buFont typeface="Wingdings" panose="05000000000000000000" pitchFamily="2" charset="2"/>
              <a:buNone/>
              <a:defRPr/>
            </a:pPr>
            <a:r>
              <a:rPr lang="en-US" altLang="zh-CN" sz="2000" smtClean="0">
                <a:latin typeface="宋体" pitchFamily="2" charset="-122"/>
              </a:rPr>
              <a:t>   </a:t>
            </a:r>
            <a:r>
              <a:rPr lang="en-US" altLang="zh-CN" sz="2000" smtClean="0">
                <a:solidFill>
                  <a:schemeClr val="hlink"/>
                </a:solidFill>
                <a:latin typeface="Arial Unicode MS" pitchFamily="34" charset="-122"/>
                <a:ea typeface="Arial Unicode MS" pitchFamily="34" charset="-122"/>
                <a:cs typeface="Arial Unicode MS" pitchFamily="34" charset="-122"/>
              </a:rPr>
              <a:t>chmod </a:t>
            </a:r>
            <a:r>
              <a:rPr lang="en-US" altLang="zh-CN" sz="2000" smtClean="0">
                <a:latin typeface="Arial Unicode MS" pitchFamily="34" charset="-122"/>
                <a:ea typeface="Arial Unicode MS" pitchFamily="34" charset="-122"/>
                <a:cs typeface="Arial Unicode MS" pitchFamily="34" charset="-122"/>
              </a:rPr>
              <a:t>[u/g/o/a] [+/-/=]</a:t>
            </a:r>
            <a:r>
              <a:rPr lang="en-US" altLang="zh-CN" sz="2000" smtClean="0">
                <a:latin typeface="宋体" pitchFamily="2" charset="-122"/>
              </a:rPr>
              <a:t> [</a:t>
            </a:r>
            <a:r>
              <a:rPr lang="zh-CN" altLang="en-US" sz="2000" smtClean="0">
                <a:latin typeface="宋体" pitchFamily="2" charset="-122"/>
              </a:rPr>
              <a:t>权限</a:t>
            </a:r>
            <a:r>
              <a:rPr lang="en-US" altLang="zh-CN" sz="2000" smtClean="0">
                <a:latin typeface="宋体" pitchFamily="2" charset="-122"/>
              </a:rPr>
              <a:t>] </a:t>
            </a:r>
            <a:r>
              <a:rPr lang="en-US" altLang="zh-CN" sz="2000" smtClean="0">
                <a:latin typeface="Arial Unicode MS" pitchFamily="34" charset="-122"/>
                <a:ea typeface="Arial Unicode MS" pitchFamily="34" charset="-122"/>
                <a:cs typeface="Arial Unicode MS" pitchFamily="34" charset="-122"/>
              </a:rPr>
              <a:t>FileName/DirecName</a:t>
            </a:r>
          </a:p>
          <a:p>
            <a:pPr>
              <a:buFont typeface="Wingdings" panose="05000000000000000000" pitchFamily="2" charset="2"/>
              <a:buNone/>
              <a:defRPr/>
            </a:pPr>
            <a:r>
              <a:rPr lang="en-US" altLang="zh-CN" sz="2000" smtClean="0">
                <a:latin typeface="宋体" pitchFamily="2" charset="-122"/>
              </a:rPr>
              <a:t>   </a:t>
            </a:r>
            <a:r>
              <a:rPr lang="zh-CN" altLang="en-US" sz="2000" smtClean="0">
                <a:latin typeface="宋体" pitchFamily="2" charset="-122"/>
              </a:rPr>
              <a:t>其中：</a:t>
            </a:r>
            <a:r>
              <a:rPr lang="en-US" altLang="zh-CN" sz="2000" smtClean="0">
                <a:latin typeface="宋体" pitchFamily="2" charset="-122"/>
              </a:rPr>
              <a:t>+</a:t>
            </a:r>
            <a:r>
              <a:rPr lang="zh-CN" altLang="en-US" sz="2000" smtClean="0">
                <a:latin typeface="宋体" pitchFamily="2" charset="-122"/>
              </a:rPr>
              <a:t>：增加指定的权限</a:t>
            </a:r>
          </a:p>
          <a:p>
            <a:pPr>
              <a:buFont typeface="Wingdings" panose="05000000000000000000" pitchFamily="2" charset="2"/>
              <a:buNone/>
              <a:defRPr/>
            </a:pPr>
            <a:r>
              <a:rPr lang="zh-CN" altLang="en-US" sz="2000" smtClean="0">
                <a:latin typeface="宋体" pitchFamily="2" charset="-122"/>
              </a:rPr>
              <a:t>         </a:t>
            </a:r>
            <a:r>
              <a:rPr lang="en-US" altLang="zh-CN" sz="2000" smtClean="0">
                <a:latin typeface="宋体" pitchFamily="2" charset="-122"/>
              </a:rPr>
              <a:t>-</a:t>
            </a:r>
            <a:r>
              <a:rPr lang="zh-CN" altLang="en-US" sz="2000" smtClean="0">
                <a:latin typeface="宋体" pitchFamily="2" charset="-122"/>
              </a:rPr>
              <a:t>：去掉指定的权限</a:t>
            </a:r>
          </a:p>
          <a:p>
            <a:pPr>
              <a:buFont typeface="Wingdings" panose="05000000000000000000" pitchFamily="2" charset="2"/>
              <a:buNone/>
              <a:defRPr/>
            </a:pPr>
            <a:r>
              <a:rPr lang="zh-CN" altLang="en-US" sz="2000" smtClean="0">
                <a:latin typeface="宋体" pitchFamily="2" charset="-122"/>
              </a:rPr>
              <a:t>         </a:t>
            </a:r>
            <a:r>
              <a:rPr lang="en-US" altLang="zh-CN" sz="2000" smtClean="0">
                <a:latin typeface="宋体" pitchFamily="2" charset="-122"/>
              </a:rPr>
              <a:t>=</a:t>
            </a:r>
            <a:r>
              <a:rPr lang="zh-CN" altLang="en-US" sz="2000" smtClean="0">
                <a:latin typeface="宋体" pitchFamily="2" charset="-122"/>
              </a:rPr>
              <a:t>：清除所选的权限并将其设置为制定的权限</a:t>
            </a:r>
          </a:p>
          <a:p>
            <a:pPr>
              <a:buFont typeface="Wingdings" panose="05000000000000000000" pitchFamily="2" charset="2"/>
              <a:buNone/>
              <a:defRPr/>
            </a:pPr>
            <a:r>
              <a:rPr lang="zh-CN" altLang="en-US" sz="2000" smtClean="0">
                <a:latin typeface="宋体" pitchFamily="2" charset="-122"/>
              </a:rPr>
              <a:t>   </a:t>
            </a:r>
            <a:r>
              <a:rPr lang="en-US" altLang="zh-CN" sz="2000" smtClean="0">
                <a:latin typeface="Arial Unicode MS" pitchFamily="34" charset="-122"/>
                <a:ea typeface="Arial Unicode MS" pitchFamily="34" charset="-122"/>
                <a:cs typeface="Arial Unicode MS" pitchFamily="34" charset="-122"/>
              </a:rPr>
              <a:t>chmod</a:t>
            </a:r>
            <a:r>
              <a:rPr lang="zh-CN" altLang="en-US" sz="2000" smtClean="0">
                <a:latin typeface="宋体" pitchFamily="2" charset="-122"/>
              </a:rPr>
              <a:t>允许使用八进制符号作为模式，改变权限。</a:t>
            </a:r>
          </a:p>
          <a:p>
            <a:pPr>
              <a:buFont typeface="Wingdings" panose="05000000000000000000" pitchFamily="2" charset="2"/>
              <a:buNone/>
              <a:defRPr/>
            </a:pPr>
            <a:r>
              <a:rPr lang="zh-CN" altLang="en-US" sz="2000" smtClean="0">
                <a:latin typeface="宋体" pitchFamily="2" charset="-122"/>
              </a:rPr>
              <a:t>   </a:t>
            </a:r>
            <a:r>
              <a:rPr lang="en-US" altLang="zh-CN" sz="2000" smtClean="0">
                <a:solidFill>
                  <a:schemeClr val="hlink"/>
                </a:solidFill>
                <a:latin typeface="Arial Unicode MS" pitchFamily="34" charset="-122"/>
                <a:ea typeface="Arial Unicode MS" pitchFamily="34" charset="-122"/>
                <a:cs typeface="Arial Unicode MS" pitchFamily="34" charset="-122"/>
              </a:rPr>
              <a:t>chmod</a:t>
            </a:r>
            <a:r>
              <a:rPr lang="en-US" altLang="zh-CN" sz="2000" smtClean="0">
                <a:latin typeface="Arial Unicode MS" pitchFamily="34" charset="-122"/>
                <a:ea typeface="Arial Unicode MS" pitchFamily="34" charset="-122"/>
                <a:cs typeface="Arial Unicode MS" pitchFamily="34" charset="-122"/>
              </a:rPr>
              <a:t> PermissionCode FileName/DirecName</a:t>
            </a:r>
          </a:p>
          <a:p>
            <a:pPr>
              <a:buFont typeface="Wingdings" panose="05000000000000000000" pitchFamily="2" charset="2"/>
              <a:buNone/>
              <a:defRPr/>
            </a:pPr>
            <a:r>
              <a:rPr lang="en-US" altLang="zh-CN" sz="2000" smtClean="0">
                <a:latin typeface="Arial Unicode MS" pitchFamily="34" charset="-122"/>
                <a:ea typeface="Arial Unicode MS" pitchFamily="34" charset="-122"/>
                <a:cs typeface="Arial Unicode MS" pitchFamily="34" charset="-122"/>
              </a:rPr>
              <a:t>      </a:t>
            </a:r>
            <a:r>
              <a:rPr lang="zh-CN" altLang="en-US" sz="2000" smtClean="0">
                <a:latin typeface="宋体" pitchFamily="2" charset="-122"/>
              </a:rPr>
              <a:t>其中，</a:t>
            </a:r>
            <a:r>
              <a:rPr lang="zh-CN" altLang="en-US" sz="2000" smtClean="0">
                <a:latin typeface="Arial Unicode MS" pitchFamily="34" charset="-122"/>
                <a:ea typeface="Arial Unicode MS" pitchFamily="34" charset="-122"/>
                <a:cs typeface="Arial Unicode MS" pitchFamily="34" charset="-122"/>
              </a:rPr>
              <a:t> </a:t>
            </a:r>
            <a:r>
              <a:rPr lang="en-US" altLang="zh-CN" sz="2000" smtClean="0">
                <a:latin typeface="Arial Unicode MS" pitchFamily="34" charset="-122"/>
                <a:ea typeface="Arial Unicode MS" pitchFamily="34" charset="-122"/>
                <a:cs typeface="Arial Unicode MS" pitchFamily="34" charset="-122"/>
              </a:rPr>
              <a:t>PermissionCode </a:t>
            </a:r>
            <a:r>
              <a:rPr lang="zh-CN" altLang="en-US" sz="2000" smtClean="0">
                <a:latin typeface="宋体" pitchFamily="2" charset="-122"/>
              </a:rPr>
              <a:t>按如下方式计算</a:t>
            </a:r>
            <a:endParaRPr lang="zh-CN" altLang="en-US" sz="2000" dirty="0">
              <a:latin typeface="宋体" pitchFamily="2" charset="-122"/>
            </a:endParaRPr>
          </a:p>
        </p:txBody>
      </p:sp>
      <p:graphicFrame>
        <p:nvGraphicFramePr>
          <p:cNvPr id="5" name="Group 4"/>
          <p:cNvGraphicFramePr>
            <a:graphicFrameLocks noGrp="1"/>
          </p:cNvGraphicFramePr>
          <p:nvPr>
            <p:extLst>
              <p:ext uri="{D42A27DB-BD31-4B8C-83A1-F6EECF244321}">
                <p14:modId xmlns:p14="http://schemas.microsoft.com/office/powerpoint/2010/main" val="455067274"/>
              </p:ext>
            </p:extLst>
          </p:nvPr>
        </p:nvGraphicFramePr>
        <p:xfrm>
          <a:off x="1249121" y="4361605"/>
          <a:ext cx="7129462" cy="398400"/>
        </p:xfrm>
        <a:graphic>
          <a:graphicData uri="http://schemas.openxmlformats.org/drawingml/2006/table">
            <a:tbl>
              <a:tblPr/>
              <a:tblGrid>
                <a:gridCol w="714375"/>
                <a:gridCol w="709612"/>
                <a:gridCol w="714375"/>
                <a:gridCol w="714375"/>
                <a:gridCol w="709613"/>
                <a:gridCol w="714375"/>
                <a:gridCol w="714375"/>
                <a:gridCol w="711200"/>
                <a:gridCol w="712787"/>
                <a:gridCol w="714375"/>
              </a:tblGrid>
              <a:tr h="3206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w</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w</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AutoShape 28"/>
          <p:cNvSpPr>
            <a:spLocks/>
          </p:cNvSpPr>
          <p:nvPr/>
        </p:nvSpPr>
        <p:spPr bwMode="auto">
          <a:xfrm rot="16200000">
            <a:off x="2793759" y="4061567"/>
            <a:ext cx="368300" cy="2016125"/>
          </a:xfrm>
          <a:prstGeom prst="leftBrace">
            <a:avLst>
              <a:gd name="adj1" fmla="val 45618"/>
              <a:gd name="adj2" fmla="val 50315"/>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7" name="AutoShape 29"/>
          <p:cNvSpPr>
            <a:spLocks/>
          </p:cNvSpPr>
          <p:nvPr/>
        </p:nvSpPr>
        <p:spPr bwMode="auto">
          <a:xfrm rot="16200000">
            <a:off x="4954346" y="4061567"/>
            <a:ext cx="368300" cy="2016125"/>
          </a:xfrm>
          <a:prstGeom prst="leftBrace">
            <a:avLst>
              <a:gd name="adj1" fmla="val 103426"/>
              <a:gd name="adj2" fmla="val 5173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8" name="AutoShape 30"/>
          <p:cNvSpPr>
            <a:spLocks/>
          </p:cNvSpPr>
          <p:nvPr/>
        </p:nvSpPr>
        <p:spPr bwMode="auto">
          <a:xfrm rot="16200000">
            <a:off x="7150652" y="4097286"/>
            <a:ext cx="368300" cy="1944688"/>
          </a:xfrm>
          <a:prstGeom prst="leftBrace">
            <a:avLst>
              <a:gd name="adj1" fmla="val 44001"/>
              <a:gd name="adj2" fmla="val 4971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9" name="Text Box 31"/>
          <p:cNvSpPr txBox="1">
            <a:spLocks noChangeArrowheads="1"/>
          </p:cNvSpPr>
          <p:nvPr/>
        </p:nvSpPr>
        <p:spPr bwMode="auto">
          <a:xfrm>
            <a:off x="2473083" y="5318868"/>
            <a:ext cx="1092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4+2+1=7</a:t>
            </a:r>
          </a:p>
        </p:txBody>
      </p:sp>
      <p:sp>
        <p:nvSpPr>
          <p:cNvPr id="10" name="Text Box 32"/>
          <p:cNvSpPr txBox="1">
            <a:spLocks noChangeArrowheads="1"/>
          </p:cNvSpPr>
          <p:nvPr/>
        </p:nvSpPr>
        <p:spPr bwMode="auto">
          <a:xfrm>
            <a:off x="4778133" y="5390305"/>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4+2=6</a:t>
            </a:r>
          </a:p>
        </p:txBody>
      </p:sp>
      <p:sp>
        <p:nvSpPr>
          <p:cNvPr id="11" name="Text Box 33"/>
          <p:cNvSpPr txBox="1">
            <a:spLocks noChangeArrowheads="1"/>
          </p:cNvSpPr>
          <p:nvPr/>
        </p:nvSpPr>
        <p:spPr bwMode="auto">
          <a:xfrm>
            <a:off x="7010158" y="5390305"/>
            <a:ext cx="83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4+1=5</a:t>
            </a:r>
          </a:p>
        </p:txBody>
      </p:sp>
      <p:sp>
        <p:nvSpPr>
          <p:cNvPr id="12" name="Text Box 36"/>
          <p:cNvSpPr txBox="1">
            <a:spLocks noChangeArrowheads="1"/>
          </p:cNvSpPr>
          <p:nvPr/>
        </p:nvSpPr>
        <p:spPr bwMode="auto">
          <a:xfrm>
            <a:off x="1733308" y="5701455"/>
            <a:ext cx="387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zh-CN" altLang="en-US">
                <a:latin typeface="宋体" panose="02010600030101010101" pitchFamily="2" charset="-122"/>
              </a:rPr>
              <a:t>所以该文件</a:t>
            </a:r>
            <a:r>
              <a:rPr lang="en-US" altLang="zh-CN">
                <a:latin typeface="宋体" panose="02010600030101010101" pitchFamily="2" charset="-122"/>
              </a:rPr>
              <a:t>/</a:t>
            </a:r>
            <a:r>
              <a:rPr lang="zh-CN" altLang="en-US">
                <a:latin typeface="宋体" panose="02010600030101010101" pitchFamily="2" charset="-122"/>
              </a:rPr>
              <a:t>目录具有的权限为：</a:t>
            </a:r>
            <a:r>
              <a:rPr lang="en-US" altLang="zh-CN">
                <a:latin typeface="Arial Unicode MS" panose="020B0604020202020204" pitchFamily="34" charset="-122"/>
                <a:ea typeface="Arial Unicode MS" panose="020B0604020202020204" pitchFamily="34" charset="-122"/>
                <a:cs typeface="Arial Unicode MS" panose="020B0604020202020204" pitchFamily="34" charset="-122"/>
              </a:rPr>
              <a:t>765</a:t>
            </a:r>
          </a:p>
        </p:txBody>
      </p:sp>
    </p:spTree>
    <p:extLst>
      <p:ext uri="{BB962C8B-B14F-4D97-AF65-F5344CB8AC3E}">
        <p14:creationId xmlns:p14="http://schemas.microsoft.com/office/powerpoint/2010/main" val="2239733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权限管理</a:t>
            </a:r>
            <a:endParaRPr lang="zh-CN" altLang="en-US" dirty="0"/>
          </a:p>
        </p:txBody>
      </p:sp>
      <p:graphicFrame>
        <p:nvGraphicFramePr>
          <p:cNvPr id="4" name="Group 101"/>
          <p:cNvGraphicFramePr>
            <a:graphicFrameLocks noGrp="1"/>
          </p:cNvGraphicFramePr>
          <p:nvPr>
            <p:ph idx="1"/>
            <p:extLst>
              <p:ext uri="{D42A27DB-BD31-4B8C-83A1-F6EECF244321}">
                <p14:modId xmlns:p14="http://schemas.microsoft.com/office/powerpoint/2010/main" val="3267648809"/>
              </p:ext>
            </p:extLst>
          </p:nvPr>
        </p:nvGraphicFramePr>
        <p:xfrm>
          <a:off x="1837766" y="1973015"/>
          <a:ext cx="7704137" cy="1828800"/>
        </p:xfrm>
        <a:graphic>
          <a:graphicData uri="http://schemas.openxmlformats.org/drawingml/2006/table">
            <a:tbl>
              <a:tblPr/>
              <a:tblGrid>
                <a:gridCol w="2568575"/>
                <a:gridCol w="1462087"/>
                <a:gridCol w="3673475"/>
              </a:tblGrid>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dirty="0" smtClean="0">
                          <a:ln>
                            <a:noFill/>
                          </a:ln>
                          <a:solidFill>
                            <a:srgbClr val="FF3300"/>
                          </a:solidFill>
                          <a:effectLst/>
                          <a:latin typeface="Arial Unicode MS" pitchFamily="34" charset="-122"/>
                          <a:ea typeface="宋体" pitchFamily="2" charset="-122"/>
                        </a:rPr>
                        <a:t>命令</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smtClean="0">
                          <a:ln>
                            <a:noFill/>
                          </a:ln>
                          <a:solidFill>
                            <a:srgbClr val="FF3300"/>
                          </a:solidFill>
                          <a:effectLst/>
                          <a:latin typeface="Garamond" pitchFamily="18" charset="0"/>
                          <a:ea typeface="宋体" pitchFamily="2" charset="-122"/>
                        </a:rPr>
                        <a:t>结果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smtClean="0">
                          <a:ln>
                            <a:noFill/>
                          </a:ln>
                          <a:solidFill>
                            <a:srgbClr val="FF3300"/>
                          </a:solidFill>
                          <a:effectLst/>
                          <a:latin typeface="Garamond" pitchFamily="18" charset="0"/>
                          <a:ea typeface="宋体"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chmod</a:t>
                      </a:r>
                      <a:r>
                        <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rPr>
                        <a:t> a-x </a:t>
                      </a: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haison.c</a:t>
                      </a:r>
                      <a:endPar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rw-rw-rw-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rPr>
                        <a:t>收回所有用户的执行权限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chmod go-w haison.c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 -r-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rPr>
                        <a:t>收回同组用户和其他用户的写权限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chmod g+w haison.c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rw-rw-r-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rPr>
                        <a:t>赋予同组用户写权限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chmod a=   haison.c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 - - - - - - -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rPr>
                        <a:t>清除文件的所有权限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Text Box 4"/>
          <p:cNvSpPr txBox="1">
            <a:spLocks noChangeArrowheads="1"/>
          </p:cNvSpPr>
          <p:nvPr/>
        </p:nvSpPr>
        <p:spPr bwMode="auto">
          <a:xfrm>
            <a:off x="1693303" y="1109415"/>
            <a:ext cx="75612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en-US" altLang="zh-CN" sz="2000" dirty="0" err="1">
                <a:solidFill>
                  <a:schemeClr val="hlink"/>
                </a:solidFill>
                <a:latin typeface="Arial Unicode MS" panose="020B0604020202020204" pitchFamily="34" charset="-122"/>
                <a:ea typeface="Arial Unicode MS" panose="020B0604020202020204" pitchFamily="34" charset="-122"/>
                <a:cs typeface="Arial Unicode MS" panose="020B0604020202020204" pitchFamily="34" charset="-122"/>
              </a:rPr>
              <a:t>chmod</a:t>
            </a:r>
            <a:r>
              <a:rPr lang="zh-CN" altLang="en-US" sz="2000" dirty="0">
                <a:solidFill>
                  <a:schemeClr val="hlink"/>
                </a:solidFill>
              </a:rPr>
              <a:t>命令示例</a:t>
            </a:r>
          </a:p>
          <a:p>
            <a:pPr eaLnBrk="1" hangingPunct="1"/>
            <a:r>
              <a:rPr lang="zh-CN" altLang="en-US" sz="2000" dirty="0"/>
              <a:t>假定</a:t>
            </a:r>
            <a:r>
              <a:rPr lang="en-US" altLang="zh-CN" sz="2000" dirty="0" err="1">
                <a:latin typeface="Arial Unicode MS" panose="020B0604020202020204" pitchFamily="34" charset="-122"/>
                <a:ea typeface="Arial Unicode MS" panose="020B0604020202020204" pitchFamily="34" charset="-122"/>
                <a:cs typeface="Arial Unicode MS" panose="020B0604020202020204" pitchFamily="34" charset="-122"/>
              </a:rPr>
              <a:t>haison.c</a:t>
            </a:r>
            <a:r>
              <a:rPr lang="zh-CN" altLang="en-US" sz="2000" dirty="0"/>
              <a:t>最初具有这样的权限</a:t>
            </a:r>
            <a:r>
              <a:rPr lang="en-US" altLang="zh-CN" sz="2000" dirty="0" err="1">
                <a:latin typeface="Arial Unicode MS" panose="020B0604020202020204" pitchFamily="34" charset="-122"/>
                <a:ea typeface="Arial Unicode MS" panose="020B0604020202020204" pitchFamily="34" charset="-122"/>
                <a:cs typeface="Arial Unicode MS" panose="020B0604020202020204" pitchFamily="34" charset="-122"/>
              </a:rPr>
              <a:t>rwxrwxrwx</a:t>
            </a:r>
            <a:r>
              <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rPr>
              <a:t>，连续操作如下</a:t>
            </a:r>
          </a:p>
        </p:txBody>
      </p:sp>
      <p:graphicFrame>
        <p:nvGraphicFramePr>
          <p:cNvPr id="6" name="Group 147"/>
          <p:cNvGraphicFramePr>
            <a:graphicFrameLocks/>
          </p:cNvGraphicFramePr>
          <p:nvPr>
            <p:extLst>
              <p:ext uri="{D42A27DB-BD31-4B8C-83A1-F6EECF244321}">
                <p14:modId xmlns:p14="http://schemas.microsoft.com/office/powerpoint/2010/main" val="1494509739"/>
              </p:ext>
            </p:extLst>
          </p:nvPr>
        </p:nvGraphicFramePr>
        <p:xfrm>
          <a:off x="1837766" y="4205040"/>
          <a:ext cx="7704137" cy="1828800"/>
        </p:xfrm>
        <a:graphic>
          <a:graphicData uri="http://schemas.openxmlformats.org/drawingml/2006/table">
            <a:tbl>
              <a:tblPr/>
              <a:tblGrid>
                <a:gridCol w="2519362"/>
                <a:gridCol w="1512888"/>
                <a:gridCol w="3671887"/>
              </a:tblGrid>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dirty="0" smtClean="0">
                          <a:ln>
                            <a:noFill/>
                          </a:ln>
                          <a:solidFill>
                            <a:srgbClr val="FF3300"/>
                          </a:solidFill>
                          <a:effectLst/>
                          <a:latin typeface="Arial Unicode MS" pitchFamily="34" charset="-122"/>
                          <a:ea typeface="宋体" pitchFamily="2" charset="-122"/>
                        </a:rPr>
                        <a:t>命令</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smtClean="0">
                          <a:ln>
                            <a:noFill/>
                          </a:ln>
                          <a:solidFill>
                            <a:srgbClr val="FF3300"/>
                          </a:solidFill>
                          <a:effectLst/>
                          <a:latin typeface="Garamond" pitchFamily="18" charset="0"/>
                          <a:ea typeface="宋体" pitchFamily="2" charset="-122"/>
                        </a:rPr>
                        <a:t>结果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800" b="0" i="0" u="none" strike="noStrike" cap="none" normalizeH="0" baseline="0" smtClean="0">
                          <a:ln>
                            <a:noFill/>
                          </a:ln>
                          <a:solidFill>
                            <a:srgbClr val="FF3300"/>
                          </a:solidFill>
                          <a:effectLst/>
                          <a:latin typeface="Garamond" pitchFamily="18" charset="0"/>
                          <a:ea typeface="宋体"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6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chmod</a:t>
                      </a:r>
                      <a:r>
                        <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rPr>
                        <a:t> 666 </a:t>
                      </a: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haison.c</a:t>
                      </a:r>
                      <a:endPar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rw-rw-rw-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Garamond" pitchFamily="18" charset="0"/>
                          <a:ea typeface="宋体" pitchFamily="2" charset="-122"/>
                        </a:rPr>
                        <a:t>赋予所有用户读和写的权限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chmod 644 haison.c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 - r-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Garamond" pitchFamily="18" charset="0"/>
                          <a:ea typeface="宋体" pitchFamily="2" charset="-122"/>
                        </a:rPr>
                        <a:t>赋予属主读、写权限，其他用户读权限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chmod 700 haison.c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rwx- - - - -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Garamond" pitchFamily="18" charset="0"/>
                          <a:ea typeface="宋体" pitchFamily="2" charset="-122"/>
                        </a:rPr>
                        <a:t>赋予属主读、写和执行权限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chmod</a:t>
                      </a:r>
                      <a:r>
                        <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rPr>
                        <a:t> 660 </a:t>
                      </a:r>
                      <a:r>
                        <a:rPr kumimoji="0" lang="en-US" altLang="zh-CN" sz="1800" b="0" i="0" u="none" strike="noStrike" cap="none" normalizeH="0" baseline="0" dirty="0" err="1" smtClean="0">
                          <a:ln>
                            <a:noFill/>
                          </a:ln>
                          <a:solidFill>
                            <a:schemeClr val="tx1"/>
                          </a:solidFill>
                          <a:effectLst/>
                          <a:latin typeface="Arial Unicode MS" pitchFamily="34" charset="-122"/>
                          <a:ea typeface="Arial Unicode MS" pitchFamily="34" charset="-122"/>
                          <a:cs typeface="Arial Unicode MS" pitchFamily="34" charset="-122"/>
                        </a:rPr>
                        <a:t>haison.c</a:t>
                      </a:r>
                      <a:endParaRPr kumimoji="0" lang="en-US" altLang="zh-CN" sz="1800" b="0" i="0" u="none" strike="noStrike" cap="none" normalizeH="0" baseline="0" dirty="0" smtClean="0">
                        <a:ln>
                          <a:noFill/>
                        </a:ln>
                        <a:solidFill>
                          <a:schemeClr val="tx1"/>
                        </a:solidFill>
                        <a:effectLst/>
                        <a:latin typeface="Arial Unicode MS" pitchFamily="34" charset="-122"/>
                        <a:ea typeface="Arial Unicode MS" pitchFamily="34" charset="-122"/>
                        <a:cs typeface="Arial Unicode MS"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1800" b="0" i="0" u="none" strike="noStrike" cap="none" normalizeH="0" baseline="0" smtClean="0">
                          <a:ln>
                            <a:noFill/>
                          </a:ln>
                          <a:solidFill>
                            <a:schemeClr val="tx1"/>
                          </a:solidFill>
                          <a:effectLst/>
                          <a:latin typeface="Arial Unicode MS" pitchFamily="34" charset="-122"/>
                          <a:ea typeface="Arial Unicode MS" pitchFamily="34" charset="-122"/>
                          <a:cs typeface="Arial Unicode MS" pitchFamily="34" charset="-122"/>
                        </a:rPr>
                        <a:t>rw-rw- -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1600" b="0" i="0" u="none" strike="noStrike" cap="none" normalizeH="0" baseline="0" dirty="0" smtClean="0">
                          <a:ln>
                            <a:noFill/>
                          </a:ln>
                          <a:solidFill>
                            <a:schemeClr val="tx1"/>
                          </a:solidFill>
                          <a:effectLst/>
                          <a:latin typeface="Garamond" pitchFamily="18" charset="0"/>
                          <a:ea typeface="宋体" pitchFamily="2" charset="-122"/>
                        </a:rPr>
                        <a:t>赋予属主、属组读和写的权限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525597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常用命令</a:t>
            </a:r>
            <a:r>
              <a:rPr lang="en-US" altLang="zh-CN" dirty="0" smtClean="0"/>
              <a:t>——</a:t>
            </a:r>
            <a:r>
              <a:rPr lang="zh-CN" altLang="en-US" dirty="0" smtClean="0"/>
              <a:t>权限管理</a:t>
            </a:r>
            <a:endParaRPr lang="zh-CN" altLang="en-US" dirty="0"/>
          </a:p>
        </p:txBody>
      </p:sp>
      <p:sp>
        <p:nvSpPr>
          <p:cNvPr id="3" name="内容占位符 2"/>
          <p:cNvSpPr>
            <a:spLocks noGrp="1"/>
          </p:cNvSpPr>
          <p:nvPr>
            <p:ph idx="1"/>
          </p:nvPr>
        </p:nvSpPr>
        <p:spPr>
          <a:xfrm>
            <a:off x="922090" y="1339063"/>
            <a:ext cx="10515600" cy="4476701"/>
          </a:xfrm>
        </p:spPr>
        <p:txBody>
          <a:bodyPr>
            <a:normAutofit fontScale="85000" lnSpcReduction="20000"/>
          </a:bodyPr>
          <a:lstStyle/>
          <a:p>
            <a:pPr>
              <a:buNone/>
              <a:defRPr/>
            </a:pP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rw</a:t>
            </a:r>
            <a:r>
              <a:rPr lang="en-US" altLang="zh-CN" dirty="0">
                <a:latin typeface="Arial Unicode MS" pitchFamily="34" charset="-122"/>
                <a:ea typeface="Arial Unicode MS" pitchFamily="34" charset="-122"/>
                <a:cs typeface="Arial Unicode MS" pitchFamily="34" charset="-122"/>
              </a:rPr>
              <a:t>-r--r-- 1 </a:t>
            </a:r>
            <a:r>
              <a:rPr lang="en-US" altLang="zh-CN" dirty="0" err="1">
                <a:latin typeface="Arial Unicode MS" pitchFamily="34" charset="-122"/>
                <a:ea typeface="Arial Unicode MS" pitchFamily="34" charset="-122"/>
                <a:cs typeface="Arial Unicode MS" pitchFamily="34" charset="-122"/>
              </a:rPr>
              <a:t>haison</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haison</a:t>
            </a:r>
            <a:r>
              <a:rPr lang="en-US" altLang="zh-CN" dirty="0">
                <a:latin typeface="Arial Unicode MS" pitchFamily="34" charset="-122"/>
                <a:ea typeface="Arial Unicode MS" pitchFamily="34" charset="-122"/>
                <a:cs typeface="Arial Unicode MS" pitchFamily="34" charset="-122"/>
              </a:rPr>
              <a:t> 18 Nov 2 10:10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pPr>
              <a:defRPr/>
            </a:pPr>
            <a:r>
              <a:rPr lang="zh-CN" altLang="en-US" dirty="0">
                <a:solidFill>
                  <a:schemeClr val="hlink"/>
                </a:solidFill>
                <a:latin typeface="宋体" pitchFamily="2" charset="-122"/>
                <a:ea typeface="Arial Unicode MS" pitchFamily="34" charset="-122"/>
                <a:cs typeface="Arial Unicode MS" pitchFamily="34" charset="-122"/>
              </a:rPr>
              <a:t>改变文件</a:t>
            </a:r>
            <a:r>
              <a:rPr lang="en-US" altLang="zh-CN" dirty="0">
                <a:solidFill>
                  <a:schemeClr val="hlink"/>
                </a:solidFill>
                <a:latin typeface="宋体" pitchFamily="2" charset="-122"/>
                <a:ea typeface="Arial Unicode MS" pitchFamily="34" charset="-122"/>
                <a:cs typeface="Arial Unicode MS" pitchFamily="34" charset="-122"/>
              </a:rPr>
              <a:t>/</a:t>
            </a:r>
            <a:r>
              <a:rPr lang="zh-CN" altLang="en-US" dirty="0">
                <a:solidFill>
                  <a:schemeClr val="hlink"/>
                </a:solidFill>
                <a:latin typeface="宋体" pitchFamily="2" charset="-122"/>
                <a:ea typeface="Arial Unicode MS" pitchFamily="34" charset="-122"/>
                <a:cs typeface="Arial Unicode MS" pitchFamily="34" charset="-122"/>
              </a:rPr>
              <a:t>目录的属主</a:t>
            </a:r>
            <a:r>
              <a:rPr lang="en-US" altLang="zh-CN" dirty="0">
                <a:latin typeface="Arial Unicode MS" pitchFamily="34" charset="-122"/>
                <a:ea typeface="Arial Unicode MS" pitchFamily="34" charset="-122"/>
                <a:cs typeface="Arial Unicode MS" pitchFamily="34" charset="-122"/>
              </a:rPr>
              <a:t>(</a:t>
            </a:r>
            <a:r>
              <a:rPr lang="en-US" altLang="zh-CN" dirty="0">
                <a:solidFill>
                  <a:srgbClr val="FF3300"/>
                </a:solidFill>
                <a:latin typeface="Arial Unicode MS" pitchFamily="34" charset="-122"/>
                <a:ea typeface="Arial Unicode MS" pitchFamily="34" charset="-122"/>
                <a:cs typeface="Arial Unicode MS" pitchFamily="34" charset="-122"/>
              </a:rPr>
              <a:t>ch</a:t>
            </a:r>
            <a:r>
              <a:rPr lang="en-US" altLang="zh-CN" dirty="0">
                <a:latin typeface="Arial Unicode MS" pitchFamily="34" charset="-122"/>
                <a:ea typeface="Arial Unicode MS" pitchFamily="34" charset="-122"/>
                <a:cs typeface="Arial Unicode MS" pitchFamily="34" charset="-122"/>
              </a:rPr>
              <a:t>ange </a:t>
            </a:r>
            <a:r>
              <a:rPr lang="en-US" altLang="zh-CN" dirty="0">
                <a:solidFill>
                  <a:srgbClr val="FF3300"/>
                </a:solidFill>
                <a:latin typeface="Arial Unicode MS" pitchFamily="34" charset="-122"/>
                <a:ea typeface="Arial Unicode MS" pitchFamily="34" charset="-122"/>
                <a:cs typeface="Arial Unicode MS" pitchFamily="34" charset="-122"/>
              </a:rPr>
              <a:t>own</a:t>
            </a:r>
            <a:r>
              <a:rPr lang="en-US" altLang="zh-CN" dirty="0">
                <a:latin typeface="Arial Unicode MS" pitchFamily="34" charset="-122"/>
                <a:ea typeface="Arial Unicode MS" pitchFamily="34" charset="-122"/>
                <a:cs typeface="Arial Unicode MS" pitchFamily="34" charset="-122"/>
              </a:rPr>
              <a:t>er)</a:t>
            </a:r>
          </a:p>
          <a:p>
            <a:pPr>
              <a:buNone/>
              <a:defRPr/>
            </a:pPr>
            <a:r>
              <a:rPr lang="en-US" altLang="zh-CN" dirty="0">
                <a:solidFill>
                  <a:schemeClr val="hlink"/>
                </a:solidFill>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chown</a:t>
            </a:r>
            <a:r>
              <a:rPr lang="en-US" altLang="zh-CN" dirty="0">
                <a:latin typeface="Arial Unicode MS" pitchFamily="34" charset="-122"/>
                <a:ea typeface="Arial Unicode MS" pitchFamily="34" charset="-122"/>
                <a:cs typeface="Arial Unicode MS" pitchFamily="34" charset="-122"/>
              </a:rPr>
              <a:t> Owner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DirecName</a:t>
            </a:r>
            <a:endParaRPr lang="en-US" altLang="zh-CN" dirty="0">
              <a:latin typeface="Arial Unicode MS" pitchFamily="34" charset="-122"/>
              <a:ea typeface="Arial Unicode MS" pitchFamily="34" charset="-122"/>
              <a:cs typeface="Arial Unicode MS" pitchFamily="34" charset="-122"/>
            </a:endParaRPr>
          </a:p>
          <a:p>
            <a:pPr>
              <a:buNone/>
              <a:defRPr/>
            </a:pP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如：</a:t>
            </a:r>
            <a:r>
              <a:rPr lang="en-US" altLang="zh-CN" dirty="0" err="1">
                <a:latin typeface="Arial Unicode MS" pitchFamily="34" charset="-122"/>
                <a:ea typeface="Arial Unicode MS" pitchFamily="34" charset="-122"/>
                <a:cs typeface="Arial Unicode MS" pitchFamily="34" charset="-122"/>
              </a:rPr>
              <a:t>chown</a:t>
            </a:r>
            <a:r>
              <a:rPr lang="en-US" altLang="zh-CN" dirty="0">
                <a:latin typeface="Arial Unicode MS" pitchFamily="34" charset="-122"/>
                <a:ea typeface="Arial Unicode MS" pitchFamily="34" charset="-122"/>
                <a:cs typeface="Arial Unicode MS" pitchFamily="34" charset="-122"/>
              </a:rPr>
              <a:t> Dave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pPr>
              <a:defRPr/>
            </a:pPr>
            <a:r>
              <a:rPr lang="zh-CN" altLang="en-US" dirty="0">
                <a:solidFill>
                  <a:schemeClr val="hlink"/>
                </a:solidFill>
                <a:latin typeface="宋体" pitchFamily="2" charset="-122"/>
                <a:ea typeface="Arial Unicode MS" pitchFamily="34" charset="-122"/>
                <a:cs typeface="Arial Unicode MS" pitchFamily="34" charset="-122"/>
              </a:rPr>
              <a:t>改变文件</a:t>
            </a:r>
            <a:r>
              <a:rPr lang="en-US" altLang="zh-CN" dirty="0">
                <a:solidFill>
                  <a:schemeClr val="hlink"/>
                </a:solidFill>
                <a:latin typeface="宋体" pitchFamily="2" charset="-122"/>
                <a:ea typeface="Arial Unicode MS" pitchFamily="34" charset="-122"/>
                <a:cs typeface="Arial Unicode MS" pitchFamily="34" charset="-122"/>
              </a:rPr>
              <a:t>/</a:t>
            </a:r>
            <a:r>
              <a:rPr lang="zh-CN" altLang="en-US" dirty="0">
                <a:solidFill>
                  <a:schemeClr val="hlink"/>
                </a:solidFill>
                <a:latin typeface="宋体" pitchFamily="2" charset="-122"/>
                <a:ea typeface="Arial Unicode MS" pitchFamily="34" charset="-122"/>
                <a:cs typeface="Arial Unicode MS" pitchFamily="34" charset="-122"/>
              </a:rPr>
              <a:t>目录的属组</a:t>
            </a:r>
            <a:r>
              <a:rPr lang="en-US" altLang="zh-CN" dirty="0">
                <a:latin typeface="Arial Unicode MS" pitchFamily="34" charset="-122"/>
                <a:ea typeface="Arial Unicode MS" pitchFamily="34" charset="-122"/>
                <a:cs typeface="Arial Unicode MS" pitchFamily="34" charset="-122"/>
              </a:rPr>
              <a:t>(</a:t>
            </a:r>
            <a:r>
              <a:rPr lang="en-US" altLang="zh-CN" dirty="0">
                <a:solidFill>
                  <a:srgbClr val="FF3300"/>
                </a:solidFill>
                <a:latin typeface="Arial Unicode MS" pitchFamily="34" charset="-122"/>
                <a:ea typeface="Arial Unicode MS" pitchFamily="34" charset="-122"/>
                <a:cs typeface="Arial Unicode MS" pitchFamily="34" charset="-122"/>
              </a:rPr>
              <a:t>ch</a:t>
            </a:r>
            <a:r>
              <a:rPr lang="en-US" altLang="zh-CN" dirty="0">
                <a:latin typeface="Arial Unicode MS" pitchFamily="34" charset="-122"/>
                <a:ea typeface="Arial Unicode MS" pitchFamily="34" charset="-122"/>
                <a:cs typeface="Arial Unicode MS" pitchFamily="34" charset="-122"/>
              </a:rPr>
              <a:t>ange </a:t>
            </a:r>
            <a:r>
              <a:rPr lang="en-US" altLang="zh-CN" dirty="0">
                <a:solidFill>
                  <a:srgbClr val="FF3300"/>
                </a:solidFill>
                <a:latin typeface="Arial Unicode MS" pitchFamily="34" charset="-122"/>
                <a:ea typeface="Arial Unicode MS" pitchFamily="34" charset="-122"/>
                <a:cs typeface="Arial Unicode MS" pitchFamily="34" charset="-122"/>
              </a:rPr>
              <a:t>gr</a:t>
            </a:r>
            <a:r>
              <a:rPr lang="en-US" altLang="zh-CN" dirty="0">
                <a:latin typeface="Arial Unicode MS" pitchFamily="34" charset="-122"/>
                <a:ea typeface="Arial Unicode MS" pitchFamily="34" charset="-122"/>
                <a:cs typeface="Arial Unicode MS" pitchFamily="34" charset="-122"/>
              </a:rPr>
              <a:t>ou</a:t>
            </a:r>
            <a:r>
              <a:rPr lang="en-US" altLang="zh-CN" dirty="0">
                <a:solidFill>
                  <a:srgbClr val="FF3300"/>
                </a:solidFill>
                <a:latin typeface="Arial Unicode MS" pitchFamily="34" charset="-122"/>
                <a:ea typeface="Arial Unicode MS" pitchFamily="34" charset="-122"/>
                <a:cs typeface="Arial Unicode MS" pitchFamily="34" charset="-122"/>
              </a:rPr>
              <a:t>p</a:t>
            </a:r>
            <a:r>
              <a:rPr lang="en-US" altLang="zh-CN" dirty="0">
                <a:latin typeface="Arial Unicode MS" pitchFamily="34" charset="-122"/>
                <a:ea typeface="Arial Unicode MS" pitchFamily="34" charset="-122"/>
                <a:cs typeface="Arial Unicode MS" pitchFamily="34" charset="-122"/>
              </a:rPr>
              <a:t>)</a:t>
            </a:r>
          </a:p>
          <a:p>
            <a:pPr>
              <a:buNone/>
              <a:defRPr/>
            </a:pPr>
            <a:r>
              <a:rPr lang="en-US" altLang="zh-CN" dirty="0">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chgrp</a:t>
            </a:r>
            <a:r>
              <a:rPr lang="en-US" altLang="zh-CN" dirty="0">
                <a:latin typeface="Arial Unicode MS" pitchFamily="34" charset="-122"/>
                <a:ea typeface="Arial Unicode MS" pitchFamily="34" charset="-122"/>
                <a:cs typeface="Arial Unicode MS" pitchFamily="34" charset="-122"/>
              </a:rPr>
              <a:t> Group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DirecName</a:t>
            </a:r>
            <a:endParaRPr lang="en-US" altLang="zh-CN" dirty="0">
              <a:latin typeface="Arial Unicode MS" pitchFamily="34" charset="-122"/>
              <a:ea typeface="Arial Unicode MS" pitchFamily="34" charset="-122"/>
              <a:cs typeface="Arial Unicode MS" pitchFamily="34" charset="-122"/>
            </a:endParaRPr>
          </a:p>
          <a:p>
            <a:pPr>
              <a:buNone/>
              <a:defRPr/>
            </a:pP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如：</a:t>
            </a:r>
            <a:r>
              <a:rPr lang="en-US" altLang="zh-CN" dirty="0" err="1">
                <a:latin typeface="Arial Unicode MS" pitchFamily="34" charset="-122"/>
                <a:ea typeface="Arial Unicode MS" pitchFamily="34" charset="-122"/>
                <a:cs typeface="Arial Unicode MS" pitchFamily="34" charset="-122"/>
              </a:rPr>
              <a:t>chgrp</a:t>
            </a:r>
            <a:r>
              <a:rPr lang="en-US" altLang="zh-CN" dirty="0">
                <a:latin typeface="Arial Unicode MS" pitchFamily="34" charset="-122"/>
                <a:ea typeface="Arial Unicode MS" pitchFamily="34" charset="-122"/>
                <a:cs typeface="Arial Unicode MS" pitchFamily="34" charset="-122"/>
              </a:rPr>
              <a:t> Dave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pPr>
              <a:defRPr/>
            </a:pPr>
            <a:r>
              <a:rPr lang="zh-CN" altLang="en-US" dirty="0">
                <a:solidFill>
                  <a:schemeClr val="hlink"/>
                </a:solidFill>
                <a:latin typeface="宋体" pitchFamily="2" charset="-122"/>
                <a:ea typeface="Arial Unicode MS" pitchFamily="34" charset="-122"/>
                <a:cs typeface="Arial Unicode MS" pitchFamily="34" charset="-122"/>
              </a:rPr>
              <a:t>改变文件</a:t>
            </a:r>
            <a:r>
              <a:rPr lang="en-US" altLang="zh-CN" dirty="0">
                <a:solidFill>
                  <a:schemeClr val="hlink"/>
                </a:solidFill>
                <a:latin typeface="宋体" pitchFamily="2" charset="-122"/>
                <a:ea typeface="Arial Unicode MS" pitchFamily="34" charset="-122"/>
                <a:cs typeface="Arial Unicode MS" pitchFamily="34" charset="-122"/>
              </a:rPr>
              <a:t>/</a:t>
            </a:r>
            <a:r>
              <a:rPr lang="zh-CN" altLang="en-US" dirty="0">
                <a:solidFill>
                  <a:schemeClr val="hlink"/>
                </a:solidFill>
                <a:latin typeface="宋体" pitchFamily="2" charset="-122"/>
                <a:ea typeface="Arial Unicode MS" pitchFamily="34" charset="-122"/>
                <a:cs typeface="Arial Unicode MS" pitchFamily="34" charset="-122"/>
              </a:rPr>
              <a:t>目录的属主和属组</a:t>
            </a:r>
            <a:r>
              <a:rPr lang="zh-CN" altLang="en-US" dirty="0">
                <a:latin typeface="Arial Unicode MS" pitchFamily="34" charset="-122"/>
                <a:ea typeface="Arial Unicode MS" pitchFamily="34" charset="-122"/>
                <a:cs typeface="Arial Unicode MS" pitchFamily="34" charset="-122"/>
              </a:rPr>
              <a:t> </a:t>
            </a:r>
          </a:p>
          <a:p>
            <a:pPr>
              <a:buNone/>
              <a:defRPr/>
            </a:pPr>
            <a:r>
              <a:rPr lang="zh-CN" altLang="en-US" dirty="0">
                <a:latin typeface="Arial Unicode MS" pitchFamily="34" charset="-122"/>
                <a:ea typeface="Arial Unicode MS" pitchFamily="34" charset="-122"/>
                <a:cs typeface="Arial Unicode MS" pitchFamily="34" charset="-122"/>
              </a:rPr>
              <a:t>   </a:t>
            </a:r>
            <a:r>
              <a:rPr lang="zh-CN" altLang="en-US" dirty="0">
                <a:solidFill>
                  <a:schemeClr val="hlink"/>
                </a:solidFill>
                <a:latin typeface="Arial Unicode MS" pitchFamily="34" charset="-122"/>
                <a:ea typeface="Arial Unicode MS" pitchFamily="34" charset="-122"/>
                <a:cs typeface="Arial Unicode MS" pitchFamily="34" charset="-122"/>
              </a:rPr>
              <a:t> </a:t>
            </a:r>
            <a:r>
              <a:rPr lang="en-US" altLang="zh-CN" dirty="0" err="1">
                <a:solidFill>
                  <a:schemeClr val="hlink"/>
                </a:solidFill>
                <a:latin typeface="Arial Unicode MS" pitchFamily="34" charset="-122"/>
                <a:ea typeface="Arial Unicode MS" pitchFamily="34" charset="-122"/>
                <a:cs typeface="Arial Unicode MS" pitchFamily="34" charset="-122"/>
              </a:rPr>
              <a:t>chown</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owner:group</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FileName</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DirecName</a:t>
            </a:r>
            <a:r>
              <a:rPr lang="en-US" altLang="zh-CN" dirty="0">
                <a:latin typeface="Arial Unicode MS" pitchFamily="34" charset="-122"/>
                <a:ea typeface="Arial Unicode MS" pitchFamily="34" charset="-122"/>
                <a:cs typeface="Arial Unicode MS" pitchFamily="34" charset="-122"/>
              </a:rPr>
              <a:t> </a:t>
            </a:r>
          </a:p>
          <a:p>
            <a:pPr>
              <a:buNone/>
              <a:defRPr/>
            </a:pPr>
            <a:r>
              <a:rPr lang="en-US" altLang="zh-CN" dirty="0">
                <a:latin typeface="Arial Unicode MS" pitchFamily="34" charset="-122"/>
                <a:ea typeface="Arial Unicode MS" pitchFamily="34" charset="-122"/>
                <a:cs typeface="Arial Unicode MS" pitchFamily="34" charset="-122"/>
              </a:rPr>
              <a:t>     </a:t>
            </a:r>
            <a:r>
              <a:rPr lang="zh-CN" altLang="en-US" dirty="0">
                <a:latin typeface="宋体" pitchFamily="2" charset="-122"/>
                <a:ea typeface="Arial Unicode MS" pitchFamily="34" charset="-122"/>
                <a:cs typeface="Arial Unicode MS" pitchFamily="34" charset="-122"/>
              </a:rPr>
              <a:t>如：</a:t>
            </a:r>
            <a:r>
              <a:rPr lang="en-US" altLang="zh-CN" dirty="0" err="1">
                <a:latin typeface="Arial Unicode MS" pitchFamily="34" charset="-122"/>
                <a:ea typeface="Arial Unicode MS" pitchFamily="34" charset="-122"/>
                <a:cs typeface="Arial Unicode MS" pitchFamily="34" charset="-122"/>
              </a:rPr>
              <a:t>chown</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Dave:Dave</a:t>
            </a:r>
            <a:r>
              <a:rPr lang="en-US" altLang="zh-CN" dirty="0">
                <a:latin typeface="Arial Unicode MS" pitchFamily="34" charset="-122"/>
                <a:ea typeface="Arial Unicode MS" pitchFamily="34" charset="-122"/>
                <a:cs typeface="Arial Unicode MS" pitchFamily="34" charset="-122"/>
              </a:rPr>
              <a:t> </a:t>
            </a:r>
            <a:r>
              <a:rPr lang="en-US" altLang="zh-CN" dirty="0" err="1">
                <a:latin typeface="Arial Unicode MS" pitchFamily="34" charset="-122"/>
                <a:ea typeface="Arial Unicode MS" pitchFamily="34" charset="-122"/>
                <a:cs typeface="Arial Unicode MS" pitchFamily="34" charset="-122"/>
              </a:rPr>
              <a:t>haison.c</a:t>
            </a:r>
            <a:endParaRPr lang="en-US" altLang="zh-CN"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2665044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第二章 </a:t>
            </a:r>
            <a:r>
              <a:rPr lang="en-US" altLang="zh-CN" dirty="0" smtClean="0"/>
              <a:t>Shell</a:t>
            </a:r>
            <a:r>
              <a:rPr lang="zh-CN" altLang="en-US" dirty="0" smtClean="0"/>
              <a:t>程序设计</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98235571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、了解什么是</a:t>
            </a:r>
            <a:r>
              <a:rPr lang="en-US" altLang="zh-CN" dirty="0"/>
              <a:t>shell</a:t>
            </a:r>
            <a:r>
              <a:rPr lang="zh-CN" altLang="zh-CN" dirty="0"/>
              <a:t>；</a:t>
            </a:r>
          </a:p>
          <a:p>
            <a:r>
              <a:rPr lang="en-US" altLang="zh-CN" dirty="0"/>
              <a:t>2</a:t>
            </a:r>
            <a:r>
              <a:rPr lang="zh-CN" altLang="zh-CN" dirty="0"/>
              <a:t>、掌握创建和执行</a:t>
            </a:r>
            <a:r>
              <a:rPr lang="en-US" altLang="zh-CN" dirty="0"/>
              <a:t>Shell</a:t>
            </a:r>
            <a:r>
              <a:rPr lang="zh-CN" altLang="zh-CN" dirty="0"/>
              <a:t>脚本，</a:t>
            </a:r>
            <a:r>
              <a:rPr lang="en-US" altLang="zh-CN" dirty="0"/>
              <a:t>Shell</a:t>
            </a:r>
            <a:r>
              <a:rPr lang="zh-CN" altLang="zh-CN" dirty="0"/>
              <a:t>程序设计的语法。</a:t>
            </a:r>
          </a:p>
          <a:p>
            <a:endParaRPr lang="zh-CN" altLang="en-US" dirty="0"/>
          </a:p>
        </p:txBody>
      </p:sp>
    </p:spTree>
    <p:extLst>
      <p:ext uri="{BB962C8B-B14F-4D97-AF65-F5344CB8AC3E}">
        <p14:creationId xmlns:p14="http://schemas.microsoft.com/office/powerpoint/2010/main" val="137292755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Shell </a:t>
            </a:r>
            <a:r>
              <a:rPr lang="zh-CN" altLang="en-US" dirty="0" smtClean="0"/>
              <a:t>脚本的概念</a:t>
            </a:r>
            <a:endParaRPr lang="zh-CN" altLang="en-US" dirty="0"/>
          </a:p>
        </p:txBody>
      </p:sp>
      <p:sp>
        <p:nvSpPr>
          <p:cNvPr id="3" name="内容占位符 2"/>
          <p:cNvSpPr>
            <a:spLocks noGrp="1"/>
          </p:cNvSpPr>
          <p:nvPr>
            <p:ph idx="1"/>
          </p:nvPr>
        </p:nvSpPr>
        <p:spPr/>
        <p:txBody>
          <a:bodyPr/>
          <a:lstStyle/>
          <a:p>
            <a:r>
              <a:rPr lang="zh-CN" altLang="en-US" dirty="0"/>
              <a:t>在</a:t>
            </a:r>
            <a:r>
              <a:rPr lang="en-US" altLang="zh-CN" dirty="0"/>
              <a:t>Linux</a:t>
            </a:r>
            <a:r>
              <a:rPr lang="zh-CN" altLang="en-US" dirty="0"/>
              <a:t>下</a:t>
            </a:r>
            <a:r>
              <a:rPr lang="en-US" altLang="zh-CN" dirty="0"/>
              <a:t>,Shell</a:t>
            </a:r>
            <a:r>
              <a:rPr lang="zh-CN" altLang="en-US" dirty="0"/>
              <a:t>脚本广泛用于系统管理和</a:t>
            </a:r>
            <a:r>
              <a:rPr lang="zh-CN" altLang="en-US" dirty="0" smtClean="0"/>
              <a:t>软件开发</a:t>
            </a:r>
            <a:r>
              <a:rPr lang="en-US" altLang="zh-CN" dirty="0"/>
              <a:t>,</a:t>
            </a:r>
            <a:r>
              <a:rPr lang="zh-CN" altLang="en-US" dirty="0" smtClean="0"/>
              <a:t>是</a:t>
            </a:r>
            <a:r>
              <a:rPr lang="en-US" altLang="zh-CN" dirty="0"/>
              <a:t>Linux</a:t>
            </a:r>
            <a:r>
              <a:rPr lang="zh-CN" altLang="en-US" dirty="0"/>
              <a:t>系统管理员和开发人员必备知识之一</a:t>
            </a:r>
            <a:r>
              <a:rPr lang="en-US" altLang="zh-CN" dirty="0"/>
              <a:t>.</a:t>
            </a:r>
          </a:p>
          <a:p>
            <a:r>
              <a:rPr lang="en-US" altLang="zh-CN" dirty="0"/>
              <a:t>bash </a:t>
            </a:r>
            <a:r>
              <a:rPr lang="zh-CN" altLang="en-US" dirty="0"/>
              <a:t>或称 </a:t>
            </a:r>
            <a:r>
              <a:rPr lang="en-US" altLang="zh-CN" dirty="0"/>
              <a:t>Bourne Again shell</a:t>
            </a:r>
            <a:r>
              <a:rPr lang="zh-CN" altLang="en-US" dirty="0"/>
              <a:t>：标准的 </a:t>
            </a:r>
            <a:r>
              <a:rPr lang="en-US" altLang="zh-CN" dirty="0"/>
              <a:t>GNU shell</a:t>
            </a:r>
            <a:r>
              <a:rPr lang="zh-CN" altLang="en-US" dirty="0"/>
              <a:t>，直观而又灵活。或 是初学者的最明智选择同时对高级和专业用户来说也是一个强有力的工具 在 </a:t>
            </a:r>
            <a:r>
              <a:rPr lang="en-US" altLang="zh-CN" dirty="0"/>
              <a:t>Linux </a:t>
            </a:r>
            <a:r>
              <a:rPr lang="zh-CN" altLang="en-US" dirty="0"/>
              <a:t>上，</a:t>
            </a:r>
            <a:r>
              <a:rPr lang="en-US" altLang="zh-CN" dirty="0"/>
              <a:t>bash </a:t>
            </a:r>
            <a:r>
              <a:rPr lang="zh-CN" altLang="en-US" dirty="0"/>
              <a:t>是普通用户的标准 </a:t>
            </a:r>
            <a:r>
              <a:rPr lang="en-US" altLang="zh-CN" dirty="0"/>
              <a:t>shell</a:t>
            </a:r>
            <a:r>
              <a:rPr lang="zh-CN" altLang="en-US" dirty="0"/>
              <a:t>这个 </a:t>
            </a:r>
            <a:r>
              <a:rPr lang="en-US" altLang="zh-CN" dirty="0"/>
              <a:t>shell </a:t>
            </a:r>
            <a:r>
              <a:rPr lang="zh-CN" altLang="en-US" dirty="0"/>
              <a:t>因此称为 </a:t>
            </a:r>
            <a:r>
              <a:rPr lang="en-US" altLang="zh-CN" dirty="0"/>
              <a:t>Bourne shell </a:t>
            </a:r>
            <a:r>
              <a:rPr lang="zh-CN" altLang="en-US" dirty="0"/>
              <a:t>的超集</a:t>
            </a:r>
            <a:r>
              <a:rPr lang="en-US" altLang="zh-CN" dirty="0"/>
              <a:t>, </a:t>
            </a:r>
            <a:r>
              <a:rPr lang="zh-CN" altLang="en-US" dirty="0"/>
              <a:t>一套附件和插件。意味 </a:t>
            </a:r>
            <a:r>
              <a:rPr lang="en-US" altLang="zh-CN" dirty="0"/>
              <a:t>bash</a:t>
            </a:r>
            <a:r>
              <a:rPr lang="zh-CN" altLang="en-US" dirty="0"/>
              <a:t>和 </a:t>
            </a:r>
            <a:r>
              <a:rPr lang="en-US" altLang="zh-CN" dirty="0" err="1"/>
              <a:t>sh</a:t>
            </a:r>
            <a:r>
              <a:rPr lang="en-US" altLang="zh-CN" dirty="0"/>
              <a:t> </a:t>
            </a:r>
            <a:r>
              <a:rPr lang="zh-CN" altLang="en-US" dirty="0"/>
              <a:t>是兼容的：在 </a:t>
            </a:r>
            <a:r>
              <a:rPr lang="en-US" altLang="zh-CN" dirty="0" err="1"/>
              <a:t>sh</a:t>
            </a:r>
            <a:r>
              <a:rPr lang="zh-CN" altLang="en-US" dirty="0"/>
              <a:t>中可以工作的命令，在 </a:t>
            </a:r>
            <a:r>
              <a:rPr lang="en-US" altLang="zh-CN" dirty="0"/>
              <a:t>bash</a:t>
            </a:r>
            <a:r>
              <a:rPr lang="zh-CN" altLang="en-US" dirty="0"/>
              <a:t>中也能工作，反之则</a:t>
            </a:r>
            <a:r>
              <a:rPr lang="zh-CN" altLang="en-US" dirty="0" smtClean="0"/>
              <a:t>不然</a:t>
            </a:r>
            <a:r>
              <a:rPr lang="en-US" altLang="zh-CN" dirty="0" smtClean="0"/>
              <a:t>.</a:t>
            </a:r>
            <a:endParaRPr lang="en-US" altLang="zh-CN" dirty="0"/>
          </a:p>
          <a:p>
            <a:r>
              <a:rPr lang="zh-CN" altLang="en-US" dirty="0"/>
              <a:t>用</a:t>
            </a:r>
            <a:r>
              <a:rPr lang="en-US" altLang="zh-CN" dirty="0"/>
              <a:t>cat /</a:t>
            </a:r>
            <a:r>
              <a:rPr lang="en-US" altLang="zh-CN" dirty="0" err="1"/>
              <a:t>etc</a:t>
            </a:r>
            <a:r>
              <a:rPr lang="en-US" altLang="zh-CN" dirty="0"/>
              <a:t>/shells</a:t>
            </a:r>
            <a:r>
              <a:rPr lang="zh-CN" altLang="en-US" dirty="0"/>
              <a:t>可以显示系统安装的</a:t>
            </a:r>
            <a:r>
              <a:rPr lang="en-US" altLang="zh-CN" dirty="0"/>
              <a:t>Shell</a:t>
            </a:r>
          </a:p>
          <a:p>
            <a:endParaRPr lang="zh-CN" altLang="en-US" dirty="0"/>
          </a:p>
        </p:txBody>
      </p:sp>
    </p:spTree>
    <p:extLst>
      <p:ext uri="{BB962C8B-B14F-4D97-AF65-F5344CB8AC3E}">
        <p14:creationId xmlns:p14="http://schemas.microsoft.com/office/powerpoint/2010/main" val="403567293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Shell </a:t>
            </a:r>
            <a:r>
              <a:rPr lang="zh-CN" altLang="en-US" dirty="0" smtClean="0"/>
              <a:t>脚本的概念</a:t>
            </a:r>
            <a:endParaRPr lang="zh-CN" altLang="en-US" dirty="0"/>
          </a:p>
        </p:txBody>
      </p:sp>
      <p:sp>
        <p:nvSpPr>
          <p:cNvPr id="3" name="内容占位符 2"/>
          <p:cNvSpPr>
            <a:spLocks noGrp="1"/>
          </p:cNvSpPr>
          <p:nvPr>
            <p:ph idx="1"/>
          </p:nvPr>
        </p:nvSpPr>
        <p:spPr/>
        <p:txBody>
          <a:bodyPr/>
          <a:lstStyle/>
          <a:p>
            <a:r>
              <a:rPr lang="en-US" altLang="zh-CN" dirty="0"/>
              <a:t>Linux Shell</a:t>
            </a:r>
            <a:r>
              <a:rPr lang="zh-CN" altLang="en-US" dirty="0"/>
              <a:t>脚本是多个</a:t>
            </a:r>
            <a:r>
              <a:rPr lang="en-US" altLang="zh-CN" dirty="0"/>
              <a:t>Linux</a:t>
            </a:r>
            <a:r>
              <a:rPr lang="zh-CN" altLang="en-US" dirty="0"/>
              <a:t>命令的集合</a:t>
            </a:r>
            <a:r>
              <a:rPr lang="en-US" altLang="zh-CN" dirty="0"/>
              <a:t>,</a:t>
            </a:r>
            <a:r>
              <a:rPr lang="zh-CN" altLang="en-US" dirty="0"/>
              <a:t>是一个具有执行权限的文本文件</a:t>
            </a:r>
            <a:endParaRPr lang="zh-CN" altLang="en-US" sz="2400" dirty="0"/>
          </a:p>
          <a:p>
            <a:pPr lvl="1"/>
            <a:r>
              <a:rPr lang="en-US" altLang="zh-CN" sz="2000" dirty="0"/>
              <a:t>Shell </a:t>
            </a:r>
            <a:r>
              <a:rPr lang="zh-CN" altLang="en-US" sz="2000" dirty="0"/>
              <a:t>脚本是一个写入系列命令文本文件里</a:t>
            </a:r>
            <a:r>
              <a:rPr lang="en-US" altLang="zh-CN" sz="2000" dirty="0"/>
              <a:t>,</a:t>
            </a:r>
            <a:r>
              <a:rPr lang="zh-CN" altLang="en-US" sz="2000" dirty="0"/>
              <a:t>可以一次性执行的可执行文件</a:t>
            </a:r>
          </a:p>
          <a:p>
            <a:pPr lvl="1"/>
            <a:r>
              <a:rPr lang="en-US" altLang="zh-CN" sz="2000" dirty="0"/>
              <a:t>Linux </a:t>
            </a:r>
            <a:r>
              <a:rPr lang="zh-CN" altLang="en-US" sz="2000" dirty="0"/>
              <a:t>大量采用</a:t>
            </a:r>
            <a:r>
              <a:rPr lang="en-US" altLang="zh-CN" sz="2000" dirty="0"/>
              <a:t>Shell </a:t>
            </a:r>
            <a:r>
              <a:rPr lang="zh-CN" altLang="en-US" sz="2000" dirty="0"/>
              <a:t>脚本来完成重复性或系统维护工作</a:t>
            </a:r>
          </a:p>
          <a:p>
            <a:pPr lvl="1"/>
            <a:r>
              <a:rPr lang="en-US" altLang="zh-CN" sz="2000" dirty="0"/>
              <a:t>Shell </a:t>
            </a:r>
            <a:r>
              <a:rPr lang="zh-CN" altLang="en-US" sz="2000" dirty="0"/>
              <a:t>脚本类似于</a:t>
            </a:r>
            <a:r>
              <a:rPr lang="en-US" altLang="zh-CN" sz="2000" dirty="0"/>
              <a:t>Windows</a:t>
            </a:r>
            <a:r>
              <a:rPr lang="zh-CN" altLang="en-US" sz="2000" dirty="0"/>
              <a:t>的批处理文件</a:t>
            </a:r>
            <a:r>
              <a:rPr lang="en-US" altLang="zh-CN" sz="2000" dirty="0"/>
              <a:t>(*.bat)</a:t>
            </a:r>
            <a:r>
              <a:rPr lang="zh-CN" altLang="en-US" sz="2000" dirty="0"/>
              <a:t>但是功能远强于它</a:t>
            </a:r>
            <a:r>
              <a:rPr lang="en-US" altLang="zh-CN" sz="2000" dirty="0"/>
              <a:t>.</a:t>
            </a:r>
          </a:p>
          <a:p>
            <a:pPr lvl="1"/>
            <a:r>
              <a:rPr lang="zh-CN" altLang="en-US" sz="2000" dirty="0"/>
              <a:t>可以用</a:t>
            </a:r>
            <a:r>
              <a:rPr lang="en-US" altLang="zh-CN" sz="2000" dirty="0"/>
              <a:t>vi </a:t>
            </a:r>
            <a:r>
              <a:rPr lang="zh-CN" altLang="en-US" sz="2000" dirty="0"/>
              <a:t>创建脚本</a:t>
            </a:r>
            <a:r>
              <a:rPr lang="en-US" altLang="zh-CN" sz="2000" dirty="0"/>
              <a:t>,</a:t>
            </a:r>
            <a:r>
              <a:rPr lang="zh-CN" altLang="en-US" sz="2000" dirty="0"/>
              <a:t>也可以用其它文本工具创建后上传到</a:t>
            </a:r>
            <a:r>
              <a:rPr lang="en-US" altLang="zh-CN" sz="2000" dirty="0"/>
              <a:t>Linux.</a:t>
            </a:r>
            <a:r>
              <a:rPr lang="zh-CN" altLang="en-US" sz="2000" dirty="0"/>
              <a:t>在</a:t>
            </a:r>
            <a:r>
              <a:rPr lang="en-US" altLang="zh-CN" sz="2000" dirty="0"/>
              <a:t>Windows</a:t>
            </a:r>
            <a:r>
              <a:rPr lang="zh-CN" altLang="en-US" sz="2000" dirty="0"/>
              <a:t>下 可以</a:t>
            </a:r>
            <a:r>
              <a:rPr lang="en-US" altLang="zh-CN" sz="2000" dirty="0" err="1"/>
              <a:t>UltraEdit</a:t>
            </a:r>
            <a:r>
              <a:rPr lang="en-US" altLang="zh-CN" sz="2000" dirty="0"/>
              <a:t> </a:t>
            </a:r>
            <a:r>
              <a:rPr lang="zh-CN" altLang="en-US" sz="2000" dirty="0"/>
              <a:t>保存成</a:t>
            </a:r>
            <a:r>
              <a:rPr lang="en-US" altLang="zh-CN" sz="2000" dirty="0"/>
              <a:t>Unix </a:t>
            </a:r>
            <a:r>
              <a:rPr lang="zh-CN" altLang="en-US" sz="2000" dirty="0"/>
              <a:t>文本格式</a:t>
            </a:r>
          </a:p>
          <a:p>
            <a:pPr lvl="1"/>
            <a:r>
              <a:rPr lang="en-US" altLang="zh-CN" sz="2000" dirty="0"/>
              <a:t>Bash  Shell</a:t>
            </a:r>
            <a:r>
              <a:rPr lang="zh-CN" altLang="en-US" sz="2000" dirty="0"/>
              <a:t>脚本与</a:t>
            </a:r>
            <a:r>
              <a:rPr lang="en-US" altLang="zh-CN" sz="2000" dirty="0"/>
              <a:t>C Shell</a:t>
            </a:r>
            <a:r>
              <a:rPr lang="zh-CN" altLang="en-US" sz="2000" dirty="0"/>
              <a:t>脚本语法有差别</a:t>
            </a:r>
            <a:r>
              <a:rPr lang="en-US" altLang="zh-CN" sz="2000" dirty="0"/>
              <a:t>,</a:t>
            </a:r>
            <a:r>
              <a:rPr lang="zh-CN" altLang="en-US" sz="2000" dirty="0" smtClean="0"/>
              <a:t>本</a:t>
            </a:r>
            <a:r>
              <a:rPr lang="zh-CN" altLang="en-US" sz="2000" dirty="0"/>
              <a:t>章</a:t>
            </a:r>
            <a:r>
              <a:rPr lang="zh-CN" altLang="en-US" sz="2000" dirty="0" smtClean="0"/>
              <a:t>主要</a:t>
            </a:r>
            <a:r>
              <a:rPr lang="zh-CN" altLang="en-US" sz="2000" dirty="0"/>
              <a:t>采用</a:t>
            </a:r>
            <a:r>
              <a:rPr lang="en-US" altLang="zh-CN" sz="2000" dirty="0"/>
              <a:t>Bash Shell </a:t>
            </a:r>
            <a:r>
              <a:rPr lang="zh-CN" altLang="en-US" sz="2000" dirty="0"/>
              <a:t>语法</a:t>
            </a:r>
            <a:r>
              <a:rPr lang="en-US" altLang="zh-CN" sz="2000" dirty="0"/>
              <a:t>.</a:t>
            </a:r>
          </a:p>
          <a:p>
            <a:pPr lvl="1"/>
            <a:r>
              <a:rPr lang="en-US" altLang="zh-CN" sz="2000" dirty="0"/>
              <a:t>Shell </a:t>
            </a:r>
            <a:r>
              <a:rPr lang="zh-CN" altLang="en-US" sz="2000" dirty="0"/>
              <a:t>脚本必须有执行权限</a:t>
            </a:r>
          </a:p>
          <a:p>
            <a:endParaRPr lang="zh-CN" altLang="en-US" dirty="0"/>
          </a:p>
        </p:txBody>
      </p:sp>
    </p:spTree>
    <p:extLst>
      <p:ext uri="{BB962C8B-B14F-4D97-AF65-F5344CB8AC3E}">
        <p14:creationId xmlns:p14="http://schemas.microsoft.com/office/powerpoint/2010/main" val="18575012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Shell </a:t>
            </a:r>
            <a:r>
              <a:rPr lang="zh-CN" altLang="en-US" dirty="0" smtClean="0"/>
              <a:t>脚本格式</a:t>
            </a:r>
            <a:endParaRPr lang="zh-CN" altLang="en-US" dirty="0"/>
          </a:p>
        </p:txBody>
      </p:sp>
      <p:sp>
        <p:nvSpPr>
          <p:cNvPr id="3" name="内容占位符 2"/>
          <p:cNvSpPr>
            <a:spLocks noGrp="1"/>
          </p:cNvSpPr>
          <p:nvPr>
            <p:ph idx="1"/>
          </p:nvPr>
        </p:nvSpPr>
        <p:spPr/>
        <p:txBody>
          <a:bodyPr/>
          <a:lstStyle/>
          <a:p>
            <a:r>
              <a:rPr lang="en-US" altLang="zh-CN" sz="2400" dirty="0"/>
              <a:t>Shell </a:t>
            </a:r>
            <a:r>
              <a:rPr lang="zh-CN" altLang="en-US" sz="2400" dirty="0"/>
              <a:t>脚本必须</a:t>
            </a:r>
            <a:r>
              <a:rPr lang="zh-CN" altLang="en-US" sz="2400" dirty="0" smtClean="0"/>
              <a:t>为</a:t>
            </a:r>
            <a:r>
              <a:rPr lang="en-US" altLang="zh-CN" sz="2400" dirty="0" smtClean="0"/>
              <a:t>Linux </a:t>
            </a:r>
            <a:r>
              <a:rPr lang="zh-CN" altLang="en-US" sz="2400" dirty="0"/>
              <a:t>文本文件</a:t>
            </a:r>
          </a:p>
          <a:p>
            <a:r>
              <a:rPr lang="en-US" altLang="zh-CN" sz="2400" dirty="0"/>
              <a:t>Shell </a:t>
            </a:r>
            <a:r>
              <a:rPr lang="zh-CN" altLang="en-US" sz="2400" dirty="0"/>
              <a:t>脚本的第一句必须指定解释的</a:t>
            </a:r>
            <a:r>
              <a:rPr lang="en-US" altLang="zh-CN" sz="2400" dirty="0"/>
              <a:t>Shell</a:t>
            </a:r>
          </a:p>
          <a:p>
            <a:pPr lvl="1"/>
            <a:r>
              <a:rPr lang="zh-CN" altLang="en-US" sz="2000" dirty="0"/>
              <a:t>通常固定为  </a:t>
            </a:r>
            <a:r>
              <a:rPr lang="en-US" altLang="zh-CN" sz="2000" dirty="0"/>
              <a:t>#!/</a:t>
            </a:r>
            <a:r>
              <a:rPr lang="en-US" altLang="zh-CN" sz="2000" dirty="0" smtClean="0"/>
              <a:t>bin/</a:t>
            </a:r>
            <a:r>
              <a:rPr lang="en-US" altLang="zh-CN" sz="2000" dirty="0" err="1" smtClean="0"/>
              <a:t>sh</a:t>
            </a:r>
            <a:endParaRPr lang="en-US" altLang="zh-CN" sz="2000" dirty="0"/>
          </a:p>
          <a:p>
            <a:r>
              <a:rPr lang="en-US" altLang="zh-CN" sz="2400" dirty="0"/>
              <a:t>Shell </a:t>
            </a:r>
            <a:r>
              <a:rPr lang="zh-CN" altLang="en-US" sz="2400" dirty="0"/>
              <a:t>中，以井号 </a:t>
            </a:r>
            <a:r>
              <a:rPr lang="en-US" altLang="zh-CN" sz="2400" dirty="0"/>
              <a:t>(#) </a:t>
            </a:r>
            <a:r>
              <a:rPr lang="zh-CN" altLang="en-US" sz="2400" dirty="0"/>
              <a:t>开始一个注释行 </a:t>
            </a:r>
            <a:r>
              <a:rPr lang="en-US" altLang="zh-CN" sz="2400" dirty="0"/>
              <a:t>,#</a:t>
            </a:r>
            <a:r>
              <a:rPr lang="zh-CN" altLang="en-US" sz="2400" dirty="0"/>
              <a:t>号及其后面跟随的同一行的所有内容都被忽略 </a:t>
            </a:r>
          </a:p>
          <a:p>
            <a:r>
              <a:rPr lang="zh-CN" altLang="en-US" sz="2400" dirty="0"/>
              <a:t>脚本必须有可执行权限</a:t>
            </a:r>
          </a:p>
          <a:p>
            <a:pPr lvl="1"/>
            <a:r>
              <a:rPr lang="en-US" altLang="zh-CN" sz="2000" b="1" dirty="0" err="1"/>
              <a:t>chmod</a:t>
            </a:r>
            <a:r>
              <a:rPr lang="en-US" altLang="zh-CN" sz="2000" b="1" dirty="0"/>
              <a:t> </a:t>
            </a:r>
            <a:r>
              <a:rPr lang="en-US" altLang="zh-CN" sz="2000" b="1" dirty="0" err="1"/>
              <a:t>u+x</a:t>
            </a:r>
            <a:r>
              <a:rPr lang="en-US" altLang="zh-CN" sz="2000" b="1" dirty="0"/>
              <a:t> </a:t>
            </a:r>
            <a:r>
              <a:rPr lang="en-US" altLang="zh-CN" sz="2000" b="1" dirty="0" err="1"/>
              <a:t>myscript</a:t>
            </a:r>
            <a:r>
              <a:rPr lang="en-US" altLang="zh-CN" sz="2000" dirty="0"/>
              <a:t>   </a:t>
            </a:r>
            <a:r>
              <a:rPr lang="zh-CN" altLang="en-US" sz="2000" dirty="0"/>
              <a:t>由所有者执行</a:t>
            </a:r>
          </a:p>
          <a:p>
            <a:pPr lvl="1"/>
            <a:r>
              <a:rPr lang="en-US" altLang="zh-CN" sz="2000" b="1" dirty="0" err="1"/>
              <a:t>chmod</a:t>
            </a:r>
            <a:r>
              <a:rPr lang="en-US" altLang="zh-CN" sz="2000" b="1" dirty="0"/>
              <a:t> </a:t>
            </a:r>
            <a:r>
              <a:rPr lang="en-US" altLang="zh-CN" sz="2000" b="1" dirty="0" err="1"/>
              <a:t>a+x</a:t>
            </a:r>
            <a:r>
              <a:rPr lang="en-US" altLang="zh-CN" sz="2000" b="1" dirty="0"/>
              <a:t> </a:t>
            </a:r>
            <a:r>
              <a:rPr lang="en-US" altLang="zh-CN" sz="2000" b="1" dirty="0" err="1"/>
              <a:t>myscript</a:t>
            </a:r>
            <a:r>
              <a:rPr lang="en-US" altLang="zh-CN" sz="2000" dirty="0"/>
              <a:t>   </a:t>
            </a:r>
            <a:r>
              <a:rPr lang="zh-CN" altLang="en-US" sz="2000" dirty="0"/>
              <a:t>同组加上可执行权限</a:t>
            </a:r>
          </a:p>
          <a:p>
            <a:pPr lvl="1"/>
            <a:r>
              <a:rPr lang="en-US" altLang="zh-CN" sz="2000" b="1" dirty="0" err="1"/>
              <a:t>chmod</a:t>
            </a:r>
            <a:r>
              <a:rPr lang="en-US" altLang="zh-CN" sz="2000" b="1" dirty="0"/>
              <a:t> 777 </a:t>
            </a:r>
            <a:r>
              <a:rPr lang="en-US" altLang="zh-CN" sz="2000" b="1" dirty="0" err="1"/>
              <a:t>myscript</a:t>
            </a:r>
            <a:r>
              <a:rPr lang="en-US" altLang="zh-CN" sz="2000" dirty="0"/>
              <a:t>      </a:t>
            </a:r>
            <a:r>
              <a:rPr lang="zh-CN" altLang="en-US" sz="2000" dirty="0"/>
              <a:t>全部用户加上可执行权限</a:t>
            </a:r>
          </a:p>
          <a:p>
            <a:r>
              <a:rPr lang="en-US" altLang="zh-CN" sz="2400" dirty="0"/>
              <a:t>$,*,</a:t>
            </a:r>
            <a:r>
              <a:rPr lang="en-US" altLang="zh-CN" sz="2400" dirty="0">
                <a:latin typeface="Arial" panose="020B0604020202020204" pitchFamily="34" charset="0"/>
              </a:rPr>
              <a:t>’</a:t>
            </a:r>
            <a:r>
              <a:rPr lang="en-US" altLang="zh-CN" sz="2400" dirty="0"/>
              <a:t>,\</a:t>
            </a:r>
            <a:r>
              <a:rPr lang="zh-CN" altLang="en-US" sz="2400" dirty="0"/>
              <a:t>是脚本保留字符</a:t>
            </a:r>
            <a:r>
              <a:rPr lang="en-US" altLang="zh-CN" sz="2400" dirty="0"/>
              <a:t>,</a:t>
            </a:r>
            <a:r>
              <a:rPr lang="zh-CN" altLang="en-US" sz="2400" dirty="0"/>
              <a:t>如果需要作为显示字符</a:t>
            </a:r>
            <a:r>
              <a:rPr lang="en-US" altLang="zh-CN" sz="2400" dirty="0"/>
              <a:t>,</a:t>
            </a:r>
            <a:r>
              <a:rPr lang="zh-CN" altLang="en-US" sz="2400" dirty="0"/>
              <a:t>则需要在前面加入转义字符</a:t>
            </a:r>
            <a:r>
              <a:rPr lang="en-US" altLang="zh-CN" sz="2400" dirty="0"/>
              <a:t>\,</a:t>
            </a:r>
            <a:r>
              <a:rPr lang="zh-CN" altLang="en-US" sz="2400" dirty="0"/>
              <a:t>如</a:t>
            </a:r>
            <a:r>
              <a:rPr lang="en-US" altLang="zh-CN" sz="2400" dirty="0"/>
              <a:t>\\,\*,\$,\</a:t>
            </a:r>
            <a:r>
              <a:rPr lang="en-US" altLang="zh-CN" sz="2400" dirty="0">
                <a:latin typeface="Arial" panose="020B0604020202020204" pitchFamily="34" charset="0"/>
              </a:rPr>
              <a:t>’</a:t>
            </a:r>
            <a:endParaRPr lang="en-US" altLang="zh-CN" sz="2400" dirty="0"/>
          </a:p>
          <a:p>
            <a:endParaRPr lang="zh-CN" altLang="en-US" dirty="0"/>
          </a:p>
        </p:txBody>
      </p:sp>
    </p:spTree>
    <p:extLst>
      <p:ext uri="{BB962C8B-B14F-4D97-AF65-F5344CB8AC3E}">
        <p14:creationId xmlns:p14="http://schemas.microsoft.com/office/powerpoint/2010/main" val="14196894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Shell </a:t>
            </a:r>
            <a:r>
              <a:rPr lang="zh-CN" altLang="en-US" dirty="0" smtClean="0"/>
              <a:t>变量</a:t>
            </a:r>
            <a:endParaRPr lang="zh-CN" altLang="en-US" dirty="0"/>
          </a:p>
        </p:txBody>
      </p:sp>
      <p:sp>
        <p:nvSpPr>
          <p:cNvPr id="3" name="内容占位符 2"/>
          <p:cNvSpPr>
            <a:spLocks noGrp="1"/>
          </p:cNvSpPr>
          <p:nvPr>
            <p:ph idx="1"/>
          </p:nvPr>
        </p:nvSpPr>
        <p:spPr>
          <a:xfrm>
            <a:off x="838200" y="1825626"/>
            <a:ext cx="10933091" cy="3776685"/>
          </a:xfrm>
        </p:spPr>
        <p:txBody>
          <a:bodyPr>
            <a:normAutofit fontScale="92500" lnSpcReduction="20000"/>
          </a:bodyPr>
          <a:lstStyle/>
          <a:p>
            <a:r>
              <a:rPr lang="en-US" altLang="zh-CN" dirty="0"/>
              <a:t>Shell</a:t>
            </a:r>
            <a:r>
              <a:rPr lang="zh-CN" altLang="en-US" dirty="0"/>
              <a:t>可以使用变量</a:t>
            </a:r>
            <a:r>
              <a:rPr lang="en-US" altLang="zh-CN" dirty="0"/>
              <a:t>,</a:t>
            </a:r>
            <a:r>
              <a:rPr lang="zh-CN" altLang="en-US" dirty="0"/>
              <a:t>对</a:t>
            </a:r>
            <a:r>
              <a:rPr lang="en-US" altLang="zh-CN" dirty="0"/>
              <a:t>Shell</a:t>
            </a:r>
            <a:r>
              <a:rPr lang="zh-CN" altLang="en-US" dirty="0" smtClean="0"/>
              <a:t>而言</a:t>
            </a:r>
            <a:r>
              <a:rPr lang="en-US" altLang="zh-CN" dirty="0" smtClean="0"/>
              <a:t>,</a:t>
            </a:r>
            <a:r>
              <a:rPr lang="zh-CN" altLang="en-US" dirty="0"/>
              <a:t>所有变量值都是字符串类型</a:t>
            </a:r>
          </a:p>
          <a:p>
            <a:r>
              <a:rPr lang="en-US" altLang="zh-CN" dirty="0"/>
              <a:t>Shell </a:t>
            </a:r>
            <a:r>
              <a:rPr lang="zh-CN" altLang="en-US" dirty="0"/>
              <a:t>变量</a:t>
            </a:r>
            <a:r>
              <a:rPr lang="en-US" altLang="zh-CN" dirty="0"/>
              <a:t>,</a:t>
            </a:r>
            <a:r>
              <a:rPr lang="zh-CN" altLang="en-US" dirty="0"/>
              <a:t>分为三大类</a:t>
            </a:r>
            <a:r>
              <a:rPr lang="en-US" altLang="zh-CN" dirty="0"/>
              <a:t>: </a:t>
            </a:r>
            <a:r>
              <a:rPr lang="zh-CN" altLang="en-US" dirty="0"/>
              <a:t>系统变量</a:t>
            </a:r>
            <a:r>
              <a:rPr lang="en-US" altLang="zh-CN" dirty="0"/>
              <a:t>,</a:t>
            </a:r>
            <a:r>
              <a:rPr lang="zh-CN" altLang="en-US" dirty="0"/>
              <a:t>环境变量</a:t>
            </a:r>
            <a:r>
              <a:rPr lang="en-US" altLang="zh-CN" dirty="0"/>
              <a:t>,</a:t>
            </a:r>
            <a:r>
              <a:rPr lang="zh-CN" altLang="en-US" dirty="0"/>
              <a:t>用户自定义变量</a:t>
            </a:r>
          </a:p>
          <a:p>
            <a:pPr lvl="1"/>
            <a:r>
              <a:rPr lang="zh-CN" altLang="en-US" dirty="0"/>
              <a:t>所有变量不需要自定义可以直接使用</a:t>
            </a:r>
          </a:p>
          <a:p>
            <a:pPr lvl="1"/>
            <a:r>
              <a:rPr lang="zh-CN" altLang="en-US" dirty="0"/>
              <a:t>系统变量是指</a:t>
            </a:r>
            <a:r>
              <a:rPr lang="en-US" altLang="zh-CN" dirty="0"/>
              <a:t>Bash Shell</a:t>
            </a:r>
            <a:r>
              <a:rPr lang="zh-CN" altLang="en-US" dirty="0"/>
              <a:t>内部定义的保留</a:t>
            </a:r>
            <a:r>
              <a:rPr lang="zh-CN" altLang="en-US" dirty="0" smtClean="0"/>
              <a:t>变量</a:t>
            </a:r>
            <a:endParaRPr lang="en-US" altLang="zh-CN" dirty="0"/>
          </a:p>
          <a:p>
            <a:pPr lvl="1"/>
            <a:r>
              <a:rPr lang="zh-CN" altLang="en-US" dirty="0"/>
              <a:t>环境变量可以看成是在整个</a:t>
            </a:r>
            <a:r>
              <a:rPr lang="en-US" altLang="zh-CN" dirty="0"/>
              <a:t>Shell</a:t>
            </a:r>
            <a:r>
              <a:rPr lang="zh-CN" altLang="en-US" dirty="0"/>
              <a:t>的各个程序都能访问的全局变量</a:t>
            </a:r>
          </a:p>
          <a:p>
            <a:pPr lvl="1"/>
            <a:r>
              <a:rPr lang="zh-CN" altLang="en-US" dirty="0"/>
              <a:t>用户自定义变量由用户自行定义</a:t>
            </a:r>
            <a:r>
              <a:rPr lang="en-US" altLang="zh-CN" dirty="0"/>
              <a:t>.</a:t>
            </a:r>
            <a:r>
              <a:rPr lang="zh-CN" altLang="en-US" dirty="0"/>
              <a:t>定义格式为 变量名</a:t>
            </a:r>
            <a:r>
              <a:rPr lang="en-US" altLang="zh-CN" dirty="0"/>
              <a:t>=</a:t>
            </a:r>
            <a:r>
              <a:rPr lang="zh-CN" altLang="en-US" dirty="0"/>
              <a:t>值</a:t>
            </a:r>
            <a:r>
              <a:rPr lang="en-US" altLang="zh-CN" dirty="0"/>
              <a:t>,</a:t>
            </a:r>
            <a:r>
              <a:rPr lang="zh-CN" altLang="en-US" b="1" dirty="0"/>
              <a:t>等号两边不能有空格</a:t>
            </a:r>
            <a:r>
              <a:rPr lang="en-US" altLang="zh-CN" dirty="0"/>
              <a:t>,</a:t>
            </a:r>
            <a:r>
              <a:rPr lang="zh-CN" altLang="en-US" dirty="0"/>
              <a:t>引用时用</a:t>
            </a:r>
            <a:r>
              <a:rPr lang="en-US" altLang="zh-CN" dirty="0"/>
              <a:t>$</a:t>
            </a:r>
          </a:p>
          <a:p>
            <a:pPr lvl="2"/>
            <a:r>
              <a:rPr lang="en-US" altLang="zh-CN" dirty="0" err="1"/>
              <a:t>myvar</a:t>
            </a:r>
            <a:r>
              <a:rPr lang="en-US" altLang="zh-CN" dirty="0"/>
              <a:t>=</a:t>
            </a:r>
            <a:r>
              <a:rPr lang="en-US" altLang="zh-CN" dirty="0">
                <a:latin typeface="Arial" panose="020B0604020202020204" pitchFamily="34" charset="0"/>
              </a:rPr>
              <a:t>“</a:t>
            </a:r>
            <a:r>
              <a:rPr lang="en-US" altLang="zh-CN" dirty="0"/>
              <a:t>Hello, world</a:t>
            </a:r>
            <a:r>
              <a:rPr lang="en-US" altLang="zh-CN" dirty="0">
                <a:latin typeface="Arial" panose="020B0604020202020204" pitchFamily="34" charset="0"/>
              </a:rPr>
              <a:t>”</a:t>
            </a:r>
            <a:r>
              <a:rPr lang="en-US" altLang="zh-CN" dirty="0"/>
              <a:t> #</a:t>
            </a:r>
            <a:r>
              <a:rPr lang="zh-CN" altLang="en-US" dirty="0"/>
              <a:t>定义一个变量</a:t>
            </a:r>
          </a:p>
          <a:p>
            <a:pPr lvl="2"/>
            <a:r>
              <a:rPr lang="en-US" altLang="zh-CN" dirty="0" err="1"/>
              <a:t>myvar</a:t>
            </a:r>
            <a:r>
              <a:rPr lang="en-US" altLang="zh-CN" dirty="0"/>
              <a:t> = </a:t>
            </a:r>
            <a:r>
              <a:rPr lang="en-US" altLang="zh-CN" dirty="0">
                <a:latin typeface="Arial" panose="020B0604020202020204" pitchFamily="34" charset="0"/>
              </a:rPr>
              <a:t>“</a:t>
            </a:r>
            <a:r>
              <a:rPr lang="en-US" altLang="zh-CN" dirty="0"/>
              <a:t>hello</a:t>
            </a:r>
            <a:r>
              <a:rPr lang="en-US" altLang="zh-CN" dirty="0">
                <a:latin typeface="Arial" panose="020B0604020202020204" pitchFamily="34" charset="0"/>
              </a:rPr>
              <a:t>”</a:t>
            </a:r>
            <a:r>
              <a:rPr lang="en-US" altLang="zh-CN" dirty="0"/>
              <a:t> #</a:t>
            </a:r>
            <a:r>
              <a:rPr lang="zh-CN" altLang="en-US" dirty="0"/>
              <a:t>错误定义</a:t>
            </a:r>
            <a:r>
              <a:rPr lang="en-US" altLang="zh-CN" dirty="0"/>
              <a:t>,</a:t>
            </a:r>
            <a:r>
              <a:rPr lang="zh-CN" altLang="en-US" dirty="0"/>
              <a:t>等号两边带了空格</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6035" y="5447765"/>
            <a:ext cx="4994831" cy="112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2721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变量的引用和显示</a:t>
            </a:r>
          </a:p>
        </p:txBody>
      </p:sp>
      <p:sp>
        <p:nvSpPr>
          <p:cNvPr id="3" name="内容占位符 2"/>
          <p:cNvSpPr>
            <a:spLocks noGrp="1"/>
          </p:cNvSpPr>
          <p:nvPr>
            <p:ph idx="1"/>
          </p:nvPr>
        </p:nvSpPr>
        <p:spPr/>
        <p:txBody>
          <a:bodyPr/>
          <a:lstStyle/>
          <a:p>
            <a:r>
              <a:rPr lang="zh-CN" altLang="en-US" sz="2400" dirty="0"/>
              <a:t>变量通过</a:t>
            </a:r>
            <a:r>
              <a:rPr lang="en-US" altLang="zh-CN" sz="2400" dirty="0"/>
              <a:t>$</a:t>
            </a:r>
            <a:r>
              <a:rPr lang="zh-CN" altLang="en-US" sz="2400" dirty="0"/>
              <a:t>来引用值</a:t>
            </a:r>
          </a:p>
          <a:p>
            <a:pPr lvl="1"/>
            <a:r>
              <a:rPr lang="en-US" altLang="zh-CN" sz="2000" dirty="0"/>
              <a:t>A=</a:t>
            </a:r>
            <a:r>
              <a:rPr lang="en-US" altLang="zh-CN" sz="2000" dirty="0">
                <a:latin typeface="Arial" panose="020B0604020202020204" pitchFamily="34" charset="0"/>
              </a:rPr>
              <a:t>“</a:t>
            </a:r>
            <a:r>
              <a:rPr lang="en-US" altLang="zh-CN" sz="2000" dirty="0"/>
              <a:t>123</a:t>
            </a:r>
            <a:r>
              <a:rPr lang="en-US" altLang="zh-CN" sz="2000" dirty="0">
                <a:latin typeface="Arial" panose="020B0604020202020204" pitchFamily="34" charset="0"/>
              </a:rPr>
              <a:t>”</a:t>
            </a:r>
            <a:endParaRPr lang="en-US" altLang="zh-CN" sz="2000" dirty="0"/>
          </a:p>
          <a:p>
            <a:pPr lvl="1"/>
            <a:r>
              <a:rPr lang="en-US" altLang="zh-CN" sz="2000" dirty="0"/>
              <a:t>$A </a:t>
            </a:r>
            <a:r>
              <a:rPr lang="zh-CN" altLang="en-US" sz="2000" dirty="0"/>
              <a:t>的值就是</a:t>
            </a:r>
            <a:r>
              <a:rPr lang="zh-CN" altLang="en-US" sz="2000" dirty="0">
                <a:latin typeface="Arial" panose="020B0604020202020204" pitchFamily="34" charset="0"/>
              </a:rPr>
              <a:t>”</a:t>
            </a:r>
            <a:r>
              <a:rPr lang="en-US" altLang="zh-CN" sz="2000" dirty="0"/>
              <a:t>123</a:t>
            </a:r>
            <a:r>
              <a:rPr lang="en-US" altLang="zh-CN" sz="2000" dirty="0">
                <a:latin typeface="Arial" panose="020B0604020202020204" pitchFamily="34" charset="0"/>
              </a:rPr>
              <a:t>”</a:t>
            </a:r>
            <a:r>
              <a:rPr lang="en-US" altLang="zh-CN" sz="2000" dirty="0"/>
              <a:t>,</a:t>
            </a:r>
            <a:r>
              <a:rPr lang="zh-CN" altLang="en-US" sz="2000" dirty="0"/>
              <a:t>并且在运行中可以改变</a:t>
            </a:r>
          </a:p>
          <a:p>
            <a:r>
              <a:rPr lang="zh-CN" altLang="en-US" sz="2400" dirty="0"/>
              <a:t>变量值的显示主要通过</a:t>
            </a:r>
            <a:r>
              <a:rPr lang="en-US" altLang="zh-CN" sz="2400" dirty="0"/>
              <a:t>echo</a:t>
            </a:r>
            <a:r>
              <a:rPr lang="zh-CN" altLang="en-US" sz="2400" dirty="0"/>
              <a:t>命令</a:t>
            </a:r>
          </a:p>
          <a:p>
            <a:pPr lvl="1"/>
            <a:r>
              <a:rPr lang="en-US" altLang="zh-CN" sz="2000" dirty="0"/>
              <a:t>A=100;echo $A</a:t>
            </a:r>
          </a:p>
          <a:p>
            <a:r>
              <a:rPr lang="zh-CN" altLang="en-US" sz="2400" dirty="0"/>
              <a:t>在</a:t>
            </a:r>
            <a:r>
              <a:rPr lang="en-US" altLang="zh-CN" sz="2400" dirty="0"/>
              <a:t>Linux Shell</a:t>
            </a:r>
            <a:r>
              <a:rPr lang="zh-CN" altLang="en-US" sz="2400" dirty="0"/>
              <a:t>脚本里</a:t>
            </a:r>
            <a:r>
              <a:rPr lang="en-US" altLang="zh-CN" sz="2400" dirty="0"/>
              <a:t>,</a:t>
            </a:r>
            <a:r>
              <a:rPr lang="zh-CN" altLang="en-US" sz="2400" dirty="0"/>
              <a:t>字符串 </a:t>
            </a:r>
            <a:r>
              <a:rPr lang="zh-CN" altLang="en-US" sz="2400" dirty="0">
                <a:latin typeface="Arial" panose="020B0604020202020204" pitchFamily="34" charset="0"/>
              </a:rPr>
              <a:t>‘’</a:t>
            </a:r>
            <a:r>
              <a:rPr lang="zh-CN" altLang="en-US" sz="2400" dirty="0"/>
              <a:t>和</a:t>
            </a:r>
            <a:r>
              <a:rPr lang="zh-CN" altLang="en-US" sz="2400" dirty="0">
                <a:latin typeface="Arial" panose="020B0604020202020204" pitchFamily="34" charset="0"/>
              </a:rPr>
              <a:t>””</a:t>
            </a:r>
            <a:r>
              <a:rPr lang="zh-CN" altLang="en-US" sz="2400" dirty="0"/>
              <a:t>表示不同的含义</a:t>
            </a:r>
            <a:r>
              <a:rPr lang="en-US" altLang="zh-CN" sz="2400" dirty="0"/>
              <a:t>,</a:t>
            </a:r>
            <a:r>
              <a:rPr lang="zh-CN" altLang="en-US" sz="2400" dirty="0"/>
              <a:t>最大区别就是在于对变量引用的处理</a:t>
            </a:r>
            <a:r>
              <a:rPr lang="en-US" altLang="zh-CN" sz="2400" dirty="0"/>
              <a:t>.</a:t>
            </a:r>
          </a:p>
          <a:p>
            <a:pPr lvl="1"/>
            <a:r>
              <a:rPr lang="zh-CN" altLang="en-US" sz="2000" dirty="0"/>
              <a:t>单引号</a:t>
            </a:r>
            <a:r>
              <a:rPr lang="zh-CN" altLang="en-US" sz="2000" dirty="0">
                <a:latin typeface="Arial" panose="020B0604020202020204" pitchFamily="34" charset="0"/>
              </a:rPr>
              <a:t>‘’</a:t>
            </a:r>
            <a:r>
              <a:rPr lang="zh-CN" altLang="en-US" sz="2000" dirty="0"/>
              <a:t>包括之中表示字符串</a:t>
            </a:r>
            <a:r>
              <a:rPr lang="en-US" altLang="zh-CN" sz="2000" dirty="0"/>
              <a:t>,</a:t>
            </a:r>
            <a:r>
              <a:rPr lang="zh-CN" altLang="en-US" sz="2000" dirty="0"/>
              <a:t>如果字符串包含保留字符</a:t>
            </a:r>
            <a:r>
              <a:rPr lang="en-US" altLang="zh-CN" sz="2000" dirty="0"/>
              <a:t>,</a:t>
            </a:r>
            <a:r>
              <a:rPr lang="zh-CN" altLang="en-US" sz="2000" dirty="0"/>
              <a:t>则保留字符失效</a:t>
            </a:r>
            <a:r>
              <a:rPr lang="en-US" altLang="zh-CN" sz="2000" dirty="0"/>
              <a:t>,</a:t>
            </a:r>
            <a:r>
              <a:rPr lang="zh-CN" altLang="en-US" sz="2000" dirty="0"/>
              <a:t>按原样输出</a:t>
            </a:r>
          </a:p>
          <a:p>
            <a:pPr lvl="2"/>
            <a:r>
              <a:rPr lang="en-US" altLang="zh-CN" b="1" dirty="0"/>
              <a:t>x=5;echo </a:t>
            </a:r>
            <a:r>
              <a:rPr lang="en-US" altLang="zh-CN" b="1" dirty="0">
                <a:latin typeface="Arial" panose="020B0604020202020204" pitchFamily="34" charset="0"/>
              </a:rPr>
              <a:t>‘</a:t>
            </a:r>
            <a:r>
              <a:rPr lang="en-US" altLang="zh-CN" b="1" dirty="0"/>
              <a:t>x=$x</a:t>
            </a:r>
            <a:r>
              <a:rPr lang="en-US" altLang="zh-CN" b="1" dirty="0">
                <a:latin typeface="Arial" panose="020B0604020202020204" pitchFamily="34" charset="0"/>
              </a:rPr>
              <a:t>’</a:t>
            </a:r>
            <a:r>
              <a:rPr lang="en-US" altLang="zh-CN" dirty="0"/>
              <a:t>  </a:t>
            </a:r>
            <a:r>
              <a:rPr lang="zh-CN" altLang="en-US" dirty="0"/>
              <a:t>输出 </a:t>
            </a:r>
            <a:r>
              <a:rPr lang="en-US" altLang="zh-CN" dirty="0"/>
              <a:t>x=$x</a:t>
            </a:r>
          </a:p>
          <a:p>
            <a:pPr lvl="1"/>
            <a:r>
              <a:rPr lang="zh-CN" altLang="en-US" sz="2000" dirty="0"/>
              <a:t>双引号</a:t>
            </a:r>
            <a:r>
              <a:rPr lang="zh-CN" altLang="en-US" sz="2000" dirty="0">
                <a:latin typeface="Arial" panose="020B0604020202020204" pitchFamily="34" charset="0"/>
              </a:rPr>
              <a:t>“”</a:t>
            </a:r>
            <a:r>
              <a:rPr lang="zh-CN" altLang="en-US" sz="2000" dirty="0"/>
              <a:t>包括之中表示字符串</a:t>
            </a:r>
            <a:r>
              <a:rPr lang="en-US" altLang="zh-CN" sz="2000" dirty="0"/>
              <a:t>,</a:t>
            </a:r>
            <a:r>
              <a:rPr lang="zh-CN" altLang="en-US" sz="2000" dirty="0"/>
              <a:t>如果字符串包含保留字符</a:t>
            </a:r>
            <a:r>
              <a:rPr lang="en-US" altLang="zh-CN" sz="2000" dirty="0"/>
              <a:t>,</a:t>
            </a:r>
            <a:r>
              <a:rPr lang="zh-CN" altLang="en-US" sz="2000" dirty="0"/>
              <a:t>则保留字符生效</a:t>
            </a:r>
            <a:r>
              <a:rPr lang="en-US" altLang="zh-CN" sz="2000" dirty="0"/>
              <a:t>,</a:t>
            </a:r>
            <a:r>
              <a:rPr lang="zh-CN" altLang="en-US" sz="2000" dirty="0"/>
              <a:t>如变量要显示变量值</a:t>
            </a:r>
          </a:p>
          <a:p>
            <a:pPr lvl="2"/>
            <a:r>
              <a:rPr lang="en-US" altLang="zh-CN" b="1" dirty="0"/>
              <a:t>x=5;echo </a:t>
            </a:r>
            <a:r>
              <a:rPr lang="en-US" altLang="zh-CN" b="1" dirty="0">
                <a:latin typeface="Arial" panose="020B0604020202020204" pitchFamily="34" charset="0"/>
              </a:rPr>
              <a:t>“</a:t>
            </a:r>
            <a:r>
              <a:rPr lang="en-US" altLang="zh-CN" b="1" dirty="0"/>
              <a:t>x=$x</a:t>
            </a:r>
            <a:r>
              <a:rPr lang="en-US" altLang="zh-CN" b="1" dirty="0">
                <a:latin typeface="Arial" panose="020B0604020202020204" pitchFamily="34" charset="0"/>
              </a:rPr>
              <a:t>”</a:t>
            </a:r>
            <a:r>
              <a:rPr lang="en-US" altLang="zh-CN" dirty="0"/>
              <a:t>  </a:t>
            </a:r>
            <a:r>
              <a:rPr lang="zh-CN" altLang="en-US" dirty="0"/>
              <a:t>输出 </a:t>
            </a:r>
            <a:r>
              <a:rPr lang="en-US" altLang="zh-CN" dirty="0"/>
              <a:t>x=5</a:t>
            </a:r>
          </a:p>
          <a:p>
            <a:endParaRPr lang="en-US" altLang="zh-CN" sz="2400" dirty="0"/>
          </a:p>
          <a:p>
            <a:endParaRPr lang="zh-CN" altLang="en-US" dirty="0"/>
          </a:p>
        </p:txBody>
      </p:sp>
    </p:spTree>
    <p:extLst>
      <p:ext uri="{BB962C8B-B14F-4D97-AF65-F5344CB8AC3E}">
        <p14:creationId xmlns:p14="http://schemas.microsoft.com/office/powerpoint/2010/main" val="9782682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变量引用</a:t>
            </a:r>
            <a:r>
              <a:rPr lang="zh-CN" altLang="en-US" dirty="0" smtClean="0"/>
              <a:t>实例（</a:t>
            </a:r>
            <a:r>
              <a:rPr lang="en-US" altLang="zh-CN" smtClean="0"/>
              <a:t>456</a:t>
            </a:r>
            <a:r>
              <a:rPr lang="zh-CN" altLang="en-US" smtClean="0"/>
              <a:t>）</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kumimoji="1" lang="en-US" altLang="zh-CN" dirty="0"/>
              <a:t>#!/bin/</a:t>
            </a:r>
            <a:r>
              <a:rPr kumimoji="1" lang="en-US" altLang="zh-CN" dirty="0" err="1"/>
              <a:t>sh</a:t>
            </a:r>
            <a:endParaRPr kumimoji="1" lang="en-US" altLang="zh-CN" dirty="0"/>
          </a:p>
          <a:p>
            <a:pPr marL="0" indent="0">
              <a:buNone/>
            </a:pPr>
            <a:r>
              <a:rPr kumimoji="1" lang="en-US" altLang="zh-CN" dirty="0" smtClean="0"/>
              <a:t> </a:t>
            </a:r>
            <a:r>
              <a:rPr kumimoji="1" lang="en-US" altLang="zh-CN" dirty="0" err="1"/>
              <a:t>myvar</a:t>
            </a:r>
            <a:r>
              <a:rPr kumimoji="1" lang="en-US" altLang="zh-CN" dirty="0"/>
              <a:t>="Hello, world"</a:t>
            </a:r>
          </a:p>
          <a:p>
            <a:pPr marL="0" indent="0">
              <a:buNone/>
            </a:pPr>
            <a:r>
              <a:rPr kumimoji="1" lang="en-US" altLang="zh-CN" dirty="0"/>
              <a:t> </a:t>
            </a:r>
            <a:r>
              <a:rPr kumimoji="1" lang="en-US" altLang="zh-CN" dirty="0" smtClean="0"/>
              <a:t>echo </a:t>
            </a:r>
            <a:r>
              <a:rPr kumimoji="1" lang="en-US" altLang="zh-CN" dirty="0"/>
              <a:t>1= $</a:t>
            </a:r>
            <a:r>
              <a:rPr kumimoji="1" lang="en-US" altLang="zh-CN" dirty="0" err="1"/>
              <a:t>myvar</a:t>
            </a:r>
            <a:endParaRPr kumimoji="1" lang="en-US" altLang="zh-CN" dirty="0"/>
          </a:p>
          <a:p>
            <a:pPr marL="0" indent="0">
              <a:buNone/>
            </a:pPr>
            <a:r>
              <a:rPr kumimoji="1" lang="en-US" altLang="zh-CN" dirty="0" smtClean="0"/>
              <a:t> </a:t>
            </a:r>
            <a:r>
              <a:rPr kumimoji="1" lang="en-US" altLang="zh-CN" dirty="0"/>
              <a:t>echo 2= "$</a:t>
            </a:r>
            <a:r>
              <a:rPr kumimoji="1" lang="en-US" altLang="zh-CN" dirty="0" err="1"/>
              <a:t>myvar</a:t>
            </a:r>
            <a:r>
              <a:rPr kumimoji="1" lang="en-US" altLang="zh-CN" dirty="0"/>
              <a:t>"</a:t>
            </a:r>
          </a:p>
          <a:p>
            <a:pPr marL="0" indent="0">
              <a:buNone/>
            </a:pPr>
            <a:r>
              <a:rPr kumimoji="1" lang="en-US" altLang="zh-CN" dirty="0" smtClean="0"/>
              <a:t> </a:t>
            </a:r>
            <a:r>
              <a:rPr kumimoji="1" lang="en-US" altLang="zh-CN" dirty="0"/>
              <a:t>echo 3= '$</a:t>
            </a:r>
            <a:r>
              <a:rPr kumimoji="1" lang="en-US" altLang="zh-CN" dirty="0" err="1"/>
              <a:t>myvar</a:t>
            </a:r>
            <a:r>
              <a:rPr kumimoji="1" lang="en-US" altLang="zh-CN" dirty="0"/>
              <a:t>'</a:t>
            </a:r>
          </a:p>
          <a:p>
            <a:pPr marL="0" indent="0">
              <a:buNone/>
            </a:pPr>
            <a:r>
              <a:rPr kumimoji="1" lang="en-US" altLang="zh-CN" dirty="0" smtClean="0"/>
              <a:t> </a:t>
            </a:r>
            <a:r>
              <a:rPr kumimoji="1" lang="en-US" altLang="zh-CN" dirty="0"/>
              <a:t>echo 4= \$</a:t>
            </a:r>
            <a:r>
              <a:rPr kumimoji="1" lang="en-US" altLang="zh-CN" dirty="0" err="1"/>
              <a:t>myvar</a:t>
            </a:r>
            <a:endParaRPr kumimoji="1" lang="en-US" altLang="zh-CN" dirty="0"/>
          </a:p>
          <a:p>
            <a:pPr marL="0" indent="0">
              <a:buNone/>
            </a:pPr>
            <a:r>
              <a:rPr kumimoji="1" lang="en-US" altLang="zh-CN" dirty="0" smtClean="0"/>
              <a:t> </a:t>
            </a:r>
            <a:r>
              <a:rPr kumimoji="1" lang="en-US" altLang="zh-CN" dirty="0"/>
              <a:t>echo 5= \'$</a:t>
            </a:r>
            <a:r>
              <a:rPr kumimoji="1" lang="en-US" altLang="zh-CN" dirty="0" err="1"/>
              <a:t>myvar</a:t>
            </a:r>
            <a:r>
              <a:rPr kumimoji="1" lang="en-US" altLang="zh-CN" dirty="0"/>
              <a:t>\'</a:t>
            </a:r>
          </a:p>
          <a:p>
            <a:pPr marL="0" indent="0">
              <a:buNone/>
            </a:pPr>
            <a:r>
              <a:rPr kumimoji="1" lang="en-US" altLang="zh-CN" dirty="0" smtClean="0"/>
              <a:t> </a:t>
            </a:r>
            <a:r>
              <a:rPr kumimoji="1" lang="en-US" altLang="zh-CN" dirty="0"/>
              <a:t>echo 6= "'$</a:t>
            </a:r>
            <a:r>
              <a:rPr kumimoji="1" lang="en-US" altLang="zh-CN" dirty="0" err="1"/>
              <a:t>myvar</a:t>
            </a:r>
            <a:r>
              <a:rPr kumimoji="1" lang="en-US" altLang="zh-CN" dirty="0"/>
              <a:t>'"</a:t>
            </a:r>
          </a:p>
          <a:p>
            <a:pPr marL="0" indent="0">
              <a:buNone/>
            </a:pPr>
            <a:r>
              <a:rPr kumimoji="1" lang="en-US" altLang="zh-CN" dirty="0" smtClean="0"/>
              <a:t> </a:t>
            </a:r>
            <a:r>
              <a:rPr kumimoji="1" lang="en-US" altLang="zh-CN" dirty="0"/>
              <a:t>echo 7= '"$</a:t>
            </a:r>
            <a:r>
              <a:rPr kumimoji="1" lang="en-US" altLang="zh-CN" dirty="0" err="1"/>
              <a:t>myvar</a:t>
            </a:r>
            <a:r>
              <a:rPr kumimoji="1" lang="en-US" altLang="zh-CN" dirty="0"/>
              <a:t>"'</a:t>
            </a:r>
          </a:p>
          <a:p>
            <a:pPr marL="0" indent="0">
              <a:buNone/>
            </a:pPr>
            <a:r>
              <a:rPr kumimoji="1" lang="en-US" altLang="zh-CN" dirty="0" smtClean="0"/>
              <a:t> </a:t>
            </a:r>
            <a:r>
              <a:rPr kumimoji="1" lang="en-US" altLang="zh-CN" dirty="0"/>
              <a:t>echo 8= \"$</a:t>
            </a:r>
            <a:r>
              <a:rPr kumimoji="1" lang="en-US" altLang="zh-CN" dirty="0" err="1"/>
              <a:t>myvar</a:t>
            </a:r>
            <a:r>
              <a:rPr kumimoji="1" lang="en-US" altLang="zh-CN" dirty="0"/>
              <a:t>\"</a:t>
            </a:r>
          </a:p>
          <a:p>
            <a:endParaRPr lang="zh-CN" altLang="en-US" dirty="0"/>
          </a:p>
        </p:txBody>
      </p:sp>
    </p:spTree>
    <p:extLst>
      <p:ext uri="{BB962C8B-B14F-4D97-AF65-F5344CB8AC3E}">
        <p14:creationId xmlns:p14="http://schemas.microsoft.com/office/powerpoint/2010/main" val="19146527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执行脚本注意</a:t>
            </a:r>
          </a:p>
        </p:txBody>
      </p:sp>
      <p:sp>
        <p:nvSpPr>
          <p:cNvPr id="3" name="内容占位符 2"/>
          <p:cNvSpPr>
            <a:spLocks noGrp="1"/>
          </p:cNvSpPr>
          <p:nvPr>
            <p:ph idx="1"/>
          </p:nvPr>
        </p:nvSpPr>
        <p:spPr/>
        <p:txBody>
          <a:bodyPr/>
          <a:lstStyle/>
          <a:p>
            <a:r>
              <a:rPr lang="zh-CN" altLang="en-US" dirty="0"/>
              <a:t>当前路径不在环境变量</a:t>
            </a:r>
            <a:r>
              <a:rPr lang="en-US" altLang="zh-CN" dirty="0"/>
              <a:t>PATH</a:t>
            </a:r>
            <a:r>
              <a:rPr lang="zh-CN" altLang="en-US" dirty="0"/>
              <a:t>当中。换句话在当前目录执行某一个程序（如</a:t>
            </a:r>
            <a:r>
              <a:rPr lang="en-US" altLang="zh-CN" dirty="0"/>
              <a:t>a.sh)</a:t>
            </a:r>
            <a:r>
              <a:rPr lang="zh-CN" altLang="en-US" dirty="0"/>
              <a:t>，必须要加</a:t>
            </a:r>
            <a:r>
              <a:rPr lang="en-US" altLang="zh-CN" dirty="0"/>
              <a:t>.</a:t>
            </a:r>
          </a:p>
          <a:p>
            <a:pPr lvl="1"/>
            <a:r>
              <a:rPr lang="en-US" altLang="zh-CN" dirty="0"/>
              <a:t>./a.sh</a:t>
            </a:r>
          </a:p>
          <a:p>
            <a:pPr lvl="1"/>
            <a:r>
              <a:rPr lang="zh-CN" altLang="en-US" dirty="0"/>
              <a:t>这样主要出于安全考虑</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0028" y="3027365"/>
            <a:ext cx="3960813" cy="3284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55802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变量名保护</a:t>
            </a:r>
          </a:p>
        </p:txBody>
      </p:sp>
      <p:sp>
        <p:nvSpPr>
          <p:cNvPr id="3" name="内容占位符 2"/>
          <p:cNvSpPr>
            <a:spLocks noGrp="1"/>
          </p:cNvSpPr>
          <p:nvPr>
            <p:ph idx="1"/>
          </p:nvPr>
        </p:nvSpPr>
        <p:spPr/>
        <p:txBody>
          <a:bodyPr/>
          <a:lstStyle/>
          <a:p>
            <a:r>
              <a:rPr lang="zh-CN" altLang="en-US" dirty="0"/>
              <a:t>在</a:t>
            </a:r>
            <a:r>
              <a:rPr lang="en-US" altLang="zh-CN" dirty="0"/>
              <a:t>shell</a:t>
            </a:r>
            <a:r>
              <a:rPr lang="zh-CN" altLang="en-US" dirty="0"/>
              <a:t>中</a:t>
            </a:r>
            <a:r>
              <a:rPr lang="en-US" altLang="zh-CN" dirty="0"/>
              <a:t>,</a:t>
            </a:r>
            <a:r>
              <a:rPr lang="zh-CN" altLang="en-US" dirty="0"/>
              <a:t>由于书写比较随意</a:t>
            </a:r>
            <a:r>
              <a:rPr lang="en-US" altLang="zh-CN" dirty="0"/>
              <a:t>,</a:t>
            </a:r>
            <a:r>
              <a:rPr lang="zh-CN" altLang="en-US" dirty="0"/>
              <a:t>很容易造成变量名引写错情况</a:t>
            </a:r>
            <a:r>
              <a:rPr lang="en-US" altLang="zh-CN" dirty="0"/>
              <a:t>.</a:t>
            </a:r>
            <a:r>
              <a:rPr lang="zh-CN" altLang="en-US" dirty="0"/>
              <a:t>由于</a:t>
            </a:r>
            <a:r>
              <a:rPr lang="en-US" altLang="zh-CN" dirty="0"/>
              <a:t>Shell</a:t>
            </a:r>
            <a:r>
              <a:rPr lang="zh-CN" altLang="en-US" dirty="0"/>
              <a:t>不需要变量定义</a:t>
            </a:r>
            <a:r>
              <a:rPr lang="en-US" altLang="zh-CN" dirty="0"/>
              <a:t>,</a:t>
            </a:r>
            <a:r>
              <a:rPr lang="zh-CN" altLang="en-US" dirty="0"/>
              <a:t>所以非常容易出错</a:t>
            </a:r>
            <a:r>
              <a:rPr lang="en-US" altLang="zh-CN" dirty="0"/>
              <a:t>.</a:t>
            </a:r>
          </a:p>
          <a:p>
            <a:pPr lvl="1"/>
            <a:r>
              <a:rPr lang="en-US" altLang="zh-CN" dirty="0"/>
              <a:t>var1 </a:t>
            </a:r>
            <a:r>
              <a:rPr lang="zh-CN" altLang="en-US" dirty="0"/>
              <a:t>书写成 </a:t>
            </a:r>
            <a:r>
              <a:rPr lang="en-US" altLang="zh-CN" dirty="0"/>
              <a:t>$var1hello,</a:t>
            </a:r>
            <a:r>
              <a:rPr lang="zh-CN" altLang="en-US" dirty="0"/>
              <a:t>这样形成新的变量</a:t>
            </a:r>
          </a:p>
          <a:p>
            <a:r>
              <a:rPr lang="en-US" altLang="zh-CN" dirty="0"/>
              <a:t>Shell</a:t>
            </a:r>
            <a:r>
              <a:rPr lang="zh-CN" altLang="en-US" dirty="0"/>
              <a:t>可以用</a:t>
            </a:r>
            <a:r>
              <a:rPr lang="en-US" altLang="zh-CN" dirty="0"/>
              <a:t>{}</a:t>
            </a:r>
            <a:r>
              <a:rPr lang="zh-CN" altLang="en-US" dirty="0"/>
              <a:t>来保护变量的引用</a:t>
            </a:r>
          </a:p>
          <a:p>
            <a:pPr lvl="1"/>
            <a:r>
              <a:rPr lang="en-US" altLang="zh-CN" dirty="0"/>
              <a:t>var1=</a:t>
            </a:r>
            <a:r>
              <a:rPr lang="en-US" altLang="zh-CN" dirty="0" err="1"/>
              <a:t>hello;echo</a:t>
            </a:r>
            <a:r>
              <a:rPr lang="en-US" altLang="zh-CN" dirty="0"/>
              <a:t> </a:t>
            </a:r>
            <a:r>
              <a:rPr lang="en-US" altLang="zh-CN" dirty="0">
                <a:solidFill>
                  <a:srgbClr val="FF0000"/>
                </a:solidFill>
              </a:rPr>
              <a:t>${</a:t>
            </a:r>
            <a:r>
              <a:rPr lang="en-US" altLang="zh-CN" dirty="0"/>
              <a:t>var1</a:t>
            </a:r>
            <a:r>
              <a:rPr lang="en-US" altLang="zh-CN" dirty="0">
                <a:solidFill>
                  <a:srgbClr val="FF0000"/>
                </a:solidFill>
              </a:rPr>
              <a:t>}</a:t>
            </a:r>
            <a:r>
              <a:rPr lang="en-US" altLang="zh-CN" dirty="0"/>
              <a:t>hello</a:t>
            </a:r>
          </a:p>
          <a:p>
            <a:endParaRPr lang="zh-CN" altLang="en-US" dirty="0"/>
          </a:p>
        </p:txBody>
      </p:sp>
    </p:spTree>
    <p:extLst>
      <p:ext uri="{BB962C8B-B14F-4D97-AF65-F5344CB8AC3E}">
        <p14:creationId xmlns:p14="http://schemas.microsoft.com/office/powerpoint/2010/main" val="7608768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变量值的</a:t>
            </a:r>
            <a:r>
              <a:rPr lang="zh-CN" altLang="en-US" dirty="0" smtClean="0"/>
              <a:t>赋值（</a:t>
            </a:r>
            <a:r>
              <a:rPr lang="en-US" altLang="zh-CN" smtClean="0"/>
              <a:t>12378</a:t>
            </a:r>
            <a:r>
              <a:rPr lang="zh-CN" altLang="en-US" dirty="0" smtClean="0"/>
              <a:t>）</a:t>
            </a:r>
            <a:endParaRPr lang="zh-CN" altLang="en-US" dirty="0"/>
          </a:p>
        </p:txBody>
      </p:sp>
      <p:sp>
        <p:nvSpPr>
          <p:cNvPr id="3" name="内容占位符 2"/>
          <p:cNvSpPr>
            <a:spLocks noGrp="1"/>
          </p:cNvSpPr>
          <p:nvPr>
            <p:ph idx="1"/>
          </p:nvPr>
        </p:nvSpPr>
        <p:spPr/>
        <p:txBody>
          <a:bodyPr>
            <a:normAutofit/>
          </a:bodyPr>
          <a:lstStyle/>
          <a:p>
            <a:pPr>
              <a:lnSpc>
                <a:spcPct val="80000"/>
              </a:lnSpc>
            </a:pPr>
            <a:r>
              <a:rPr lang="en-US" altLang="zh-CN" sz="1800" dirty="0"/>
              <a:t>shell</a:t>
            </a:r>
            <a:r>
              <a:rPr lang="zh-CN" altLang="en-US" sz="1800" dirty="0"/>
              <a:t>变量不需定义即可使用</a:t>
            </a:r>
            <a:r>
              <a:rPr lang="en-US" altLang="zh-CN" sz="1800" dirty="0"/>
              <a:t>,</a:t>
            </a:r>
            <a:r>
              <a:rPr lang="zh-CN" altLang="en-US" sz="1800" dirty="0"/>
              <a:t>这样对变量值初始值就有一些问题</a:t>
            </a:r>
            <a:r>
              <a:rPr lang="en-US" altLang="zh-CN" sz="1800" dirty="0"/>
              <a:t>,Shell</a:t>
            </a:r>
            <a:r>
              <a:rPr lang="zh-CN" altLang="en-US" sz="1800" dirty="0"/>
              <a:t>提供一些简单的判断或初始化</a:t>
            </a:r>
            <a:r>
              <a:rPr lang="zh-CN" altLang="en-US" sz="1800" dirty="0" smtClean="0"/>
              <a:t>机制</a:t>
            </a:r>
            <a:endParaRPr lang="zh-CN" altLang="en-US" sz="1800" dirty="0"/>
          </a:p>
          <a:p>
            <a:pPr>
              <a:lnSpc>
                <a:spcPct val="80000"/>
              </a:lnSpc>
            </a:pPr>
            <a:r>
              <a:rPr lang="en-US" altLang="zh-CN" sz="1800" dirty="0" err="1"/>
              <a:t>Var</a:t>
            </a:r>
            <a:r>
              <a:rPr lang="en-US" altLang="zh-CN" sz="1800" dirty="0"/>
              <a:t>=value </a:t>
            </a:r>
            <a:r>
              <a:rPr lang="zh-CN" altLang="en-US" sz="1800" dirty="0"/>
              <a:t>变量赋值</a:t>
            </a:r>
          </a:p>
          <a:p>
            <a:pPr>
              <a:lnSpc>
                <a:spcPct val="80000"/>
              </a:lnSpc>
            </a:pPr>
            <a:r>
              <a:rPr lang="en-US" altLang="zh-CN" sz="1800" dirty="0"/>
              <a:t>${variable:-value} </a:t>
            </a:r>
            <a:r>
              <a:rPr lang="zh-CN" altLang="en-US" sz="1800" dirty="0"/>
              <a:t>空值置换                                                                                                                                                                                                                                                                                                                                                                                                                                                                                                                                                                                                                                   </a:t>
            </a:r>
          </a:p>
          <a:p>
            <a:pPr lvl="1">
              <a:lnSpc>
                <a:spcPct val="80000"/>
              </a:lnSpc>
            </a:pPr>
            <a:r>
              <a:rPr lang="zh-CN" altLang="en-US" sz="1600" dirty="0"/>
              <a:t>如果变量已经赋值，则使用该变量值。如果变量为空，则整个引用值使用</a:t>
            </a:r>
            <a:r>
              <a:rPr lang="en-US" altLang="zh-CN" sz="1600" dirty="0"/>
              <a:t>value</a:t>
            </a:r>
            <a:r>
              <a:rPr lang="zh-CN" altLang="en-US" sz="1600" dirty="0"/>
              <a:t>。需要注意的是，</a:t>
            </a:r>
            <a:r>
              <a:rPr lang="en-US" altLang="zh-CN" sz="1600" dirty="0"/>
              <a:t>value</a:t>
            </a:r>
            <a:r>
              <a:rPr lang="zh-CN" altLang="en-US" sz="1600" dirty="0"/>
              <a:t>并不赋给</a:t>
            </a:r>
            <a:r>
              <a:rPr lang="en-US" altLang="zh-CN" sz="1600" dirty="0"/>
              <a:t>variable</a:t>
            </a:r>
            <a:r>
              <a:rPr lang="zh-CN" altLang="en-US" sz="1600" dirty="0"/>
              <a:t>。                                                                                                                                                                                                                                                                                                                                                                                                                                                                                                                                                    </a:t>
            </a:r>
          </a:p>
          <a:p>
            <a:pPr lvl="2">
              <a:lnSpc>
                <a:spcPct val="80000"/>
              </a:lnSpc>
            </a:pPr>
            <a:r>
              <a:rPr lang="en-US" altLang="zh-CN" sz="1800" dirty="0"/>
              <a:t>var3=11; echo ${var3:-12}</a:t>
            </a:r>
          </a:p>
          <a:p>
            <a:pPr lvl="3">
              <a:lnSpc>
                <a:spcPct val="80000"/>
              </a:lnSpc>
            </a:pPr>
            <a:r>
              <a:rPr lang="zh-CN" altLang="en-US" sz="1600" dirty="0"/>
              <a:t>类似于</a:t>
            </a:r>
            <a:r>
              <a:rPr lang="en-US" altLang="zh-CN" sz="1600" dirty="0"/>
              <a:t>C</a:t>
            </a:r>
            <a:r>
              <a:rPr lang="zh-CN" altLang="en-US" sz="1600" dirty="0"/>
              <a:t>语言的</a:t>
            </a:r>
            <a:r>
              <a:rPr lang="en-US" altLang="zh-CN" sz="1600" dirty="0"/>
              <a:t>var3==NULL?12:var3</a:t>
            </a:r>
            <a:r>
              <a:rPr lang="zh-CN" altLang="en-US" sz="1600" dirty="0"/>
              <a:t>表达</a:t>
            </a:r>
          </a:p>
          <a:p>
            <a:pPr lvl="2">
              <a:lnSpc>
                <a:spcPct val="80000"/>
              </a:lnSpc>
            </a:pPr>
            <a:r>
              <a:rPr lang="en-US" altLang="zh-CN" sz="1800" dirty="0"/>
              <a:t>echo ${var3:-12}</a:t>
            </a:r>
            <a:endParaRPr lang="en-US" altLang="zh-CN" sz="1600" dirty="0"/>
          </a:p>
          <a:p>
            <a:pPr>
              <a:lnSpc>
                <a:spcPct val="80000"/>
              </a:lnSpc>
            </a:pPr>
            <a:r>
              <a:rPr lang="en-US" altLang="zh-CN" sz="1800" dirty="0"/>
              <a:t>${variable:=value}   </a:t>
            </a:r>
            <a:r>
              <a:rPr lang="zh-CN" altLang="en-US" sz="1800" dirty="0"/>
              <a:t>空值赋值                                                                                                                                                                                                                                                                                                                                                                                                                                                                                                                                                                                                                                 </a:t>
            </a:r>
          </a:p>
          <a:p>
            <a:pPr lvl="1">
              <a:lnSpc>
                <a:spcPct val="80000"/>
              </a:lnSpc>
            </a:pPr>
            <a:r>
              <a:rPr lang="zh-CN" altLang="en-US" sz="1600" dirty="0"/>
              <a:t>该表达式上面的区别就是，如果</a:t>
            </a:r>
            <a:r>
              <a:rPr lang="en-US" altLang="zh-CN" sz="1600" dirty="0"/>
              <a:t>variable</a:t>
            </a:r>
            <a:r>
              <a:rPr lang="zh-CN" altLang="en-US" sz="1600" dirty="0"/>
              <a:t>为空，则</a:t>
            </a:r>
            <a:r>
              <a:rPr lang="en-US" altLang="zh-CN" sz="1600" dirty="0"/>
              <a:t>value</a:t>
            </a:r>
            <a:r>
              <a:rPr lang="zh-CN" altLang="en-US" sz="1600" dirty="0"/>
              <a:t>赋给</a:t>
            </a:r>
            <a:r>
              <a:rPr lang="en-US" altLang="zh-CN" sz="1600" dirty="0"/>
              <a:t>variable</a:t>
            </a:r>
            <a:r>
              <a:rPr lang="zh-CN" altLang="en-US" sz="1600" dirty="0"/>
              <a:t>。</a:t>
            </a:r>
          </a:p>
          <a:p>
            <a:pPr lvl="2">
              <a:lnSpc>
                <a:spcPct val="80000"/>
              </a:lnSpc>
            </a:pPr>
            <a:r>
              <a:rPr lang="es-ES" altLang="zh-CN" sz="1600" dirty="0"/>
              <a:t>echo ${var4:=12};echo $var4</a:t>
            </a:r>
            <a:endParaRPr lang="en-US" altLang="zh-CN" sz="1600" dirty="0"/>
          </a:p>
          <a:p>
            <a:pPr>
              <a:lnSpc>
                <a:spcPct val="80000"/>
              </a:lnSpc>
            </a:pPr>
            <a:r>
              <a:rPr lang="en-US" altLang="zh-CN" sz="1800" dirty="0"/>
              <a:t>${variable:?} </a:t>
            </a:r>
            <a:r>
              <a:rPr lang="zh-CN" altLang="en-US" sz="1800" dirty="0"/>
              <a:t>空值出错</a:t>
            </a:r>
          </a:p>
          <a:p>
            <a:pPr lvl="1">
              <a:lnSpc>
                <a:spcPct val="80000"/>
              </a:lnSpc>
            </a:pPr>
            <a:r>
              <a:rPr lang="zh-CN" altLang="en-US" sz="1600" dirty="0"/>
              <a:t>检验变量是否为空，如果为空的话则显示带有系统错误信息                                                                                                                                                                                                                                                                                                                                                                                                                                                                                                                                                                    </a:t>
            </a:r>
          </a:p>
          <a:p>
            <a:pPr>
              <a:lnSpc>
                <a:spcPct val="80000"/>
              </a:lnSpc>
            </a:pPr>
            <a:r>
              <a:rPr lang="en-US" altLang="zh-CN" sz="1800" dirty="0"/>
              <a:t>${variable:?"</a:t>
            </a:r>
            <a:r>
              <a:rPr lang="en-US" altLang="zh-CN" sz="1800" dirty="0" err="1"/>
              <a:t>customed</a:t>
            </a:r>
            <a:r>
              <a:rPr lang="en-US" altLang="zh-CN" sz="1800" dirty="0"/>
              <a:t> message "}  </a:t>
            </a:r>
          </a:p>
          <a:p>
            <a:pPr lvl="1">
              <a:lnSpc>
                <a:spcPct val="80000"/>
              </a:lnSpc>
            </a:pPr>
            <a:r>
              <a:rPr lang="zh-CN" altLang="en-US" sz="1600" dirty="0"/>
              <a:t>检验变量是否为空，如果为空的话则显示自定义错误信息 </a:t>
            </a:r>
          </a:p>
          <a:p>
            <a:pPr>
              <a:lnSpc>
                <a:spcPct val="80000"/>
              </a:lnSpc>
            </a:pPr>
            <a:r>
              <a:rPr lang="en-US" altLang="zh-CN" sz="1800" dirty="0"/>
              <a:t>${variable:+word}</a:t>
            </a:r>
            <a:r>
              <a:rPr lang="zh-CN" altLang="en-US" sz="1800" dirty="0"/>
              <a:t>有值置换     </a:t>
            </a:r>
          </a:p>
          <a:p>
            <a:pPr>
              <a:lnSpc>
                <a:spcPct val="80000"/>
              </a:lnSpc>
              <a:buFont typeface="Wingdings" panose="05000000000000000000" pitchFamily="2" charset="2"/>
              <a:buNone/>
            </a:pPr>
            <a:r>
              <a:rPr lang="zh-CN" altLang="en-US" sz="1800" dirty="0"/>
              <a:t>	</a:t>
            </a:r>
            <a:r>
              <a:rPr lang="en-US" altLang="zh-CN" sz="1800" dirty="0"/>
              <a:t>- </a:t>
            </a:r>
            <a:r>
              <a:rPr lang="zh-CN" altLang="en-US" sz="1800" dirty="0"/>
              <a:t>变量被赋值的情况下置换一个值</a:t>
            </a:r>
          </a:p>
          <a:p>
            <a:pPr>
              <a:lnSpc>
                <a:spcPct val="80000"/>
              </a:lnSpc>
              <a:buFont typeface="Wingdings" panose="05000000000000000000" pitchFamily="2" charset="2"/>
              <a:buNone/>
            </a:pPr>
            <a:r>
              <a:rPr lang="zh-CN" altLang="en-US" sz="1800" dirty="0"/>
              <a:t>    </a:t>
            </a:r>
            <a:r>
              <a:rPr lang="en-US" altLang="zh-CN" sz="1800" dirty="0"/>
              <a:t>echo ${DEBUG</a:t>
            </a:r>
            <a:r>
              <a:rPr lang="en-US" altLang="zh-CN" sz="1800" dirty="0" smtClean="0"/>
              <a:t>:+”Debug </a:t>
            </a:r>
            <a:r>
              <a:rPr lang="en-US" altLang="zh-CN" sz="1800" dirty="0"/>
              <a:t>is active</a:t>
            </a:r>
            <a:r>
              <a:rPr lang="en-US" altLang="zh-CN" sz="1800" dirty="0" smtClean="0"/>
              <a:t>.</a:t>
            </a:r>
            <a:r>
              <a:rPr lang="en-US" altLang="zh-CN" sz="1800" dirty="0" smtClean="0">
                <a:latin typeface="Arial" panose="020B0604020202020204" pitchFamily="34" charset="0"/>
              </a:rPr>
              <a:t>”</a:t>
            </a:r>
            <a:r>
              <a:rPr lang="en-US" altLang="zh-CN" sz="1800" dirty="0" smtClean="0"/>
              <a:t>}      </a:t>
            </a:r>
            <a:endParaRPr lang="en-US" altLang="zh-CN" sz="1800" dirty="0"/>
          </a:p>
          <a:p>
            <a:endParaRPr lang="zh-CN" altLang="en-US" dirty="0"/>
          </a:p>
        </p:txBody>
      </p:sp>
    </p:spTree>
    <p:extLst>
      <p:ext uri="{BB962C8B-B14F-4D97-AF65-F5344CB8AC3E}">
        <p14:creationId xmlns:p14="http://schemas.microsoft.com/office/powerpoint/2010/main" val="135033013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Shell </a:t>
            </a:r>
            <a:r>
              <a:rPr lang="zh-CN" altLang="en-US" dirty="0"/>
              <a:t>环境变量</a:t>
            </a:r>
          </a:p>
        </p:txBody>
      </p:sp>
      <p:sp>
        <p:nvSpPr>
          <p:cNvPr id="3" name="内容占位符 2"/>
          <p:cNvSpPr>
            <a:spLocks noGrp="1"/>
          </p:cNvSpPr>
          <p:nvPr>
            <p:ph idx="1"/>
          </p:nvPr>
        </p:nvSpPr>
        <p:spPr>
          <a:xfrm>
            <a:off x="438150" y="1172380"/>
            <a:ext cx="10515600" cy="5074276"/>
          </a:xfrm>
        </p:spPr>
        <p:txBody>
          <a:bodyPr>
            <a:normAutofit/>
          </a:bodyPr>
          <a:lstStyle/>
          <a:p>
            <a:r>
              <a:rPr lang="en-US" altLang="zh-CN" sz="2000" dirty="0"/>
              <a:t>shell </a:t>
            </a:r>
            <a:r>
              <a:rPr lang="zh-CN" altLang="en-US" sz="2000" dirty="0"/>
              <a:t>环境变量是所有</a:t>
            </a:r>
            <a:r>
              <a:rPr lang="en-US" altLang="zh-CN" sz="2000" dirty="0"/>
              <a:t>shell </a:t>
            </a:r>
            <a:r>
              <a:rPr lang="zh-CN" altLang="en-US" sz="2000" dirty="0"/>
              <a:t>程序都会接受的参数 </a:t>
            </a:r>
          </a:p>
          <a:p>
            <a:pPr lvl="1"/>
            <a:r>
              <a:rPr lang="en-US" altLang="zh-CN" sz="1800" dirty="0"/>
              <a:t>PATH	</a:t>
            </a:r>
            <a:r>
              <a:rPr lang="zh-CN" altLang="en-US" sz="1800" dirty="0"/>
              <a:t>命令搜索路径</a:t>
            </a:r>
            <a:r>
              <a:rPr lang="en-US" altLang="zh-CN" sz="1800" dirty="0"/>
              <a:t>,</a:t>
            </a:r>
            <a:r>
              <a:rPr lang="zh-CN" altLang="en-US" sz="1800" dirty="0"/>
              <a:t>以冒号为分隔符</a:t>
            </a:r>
            <a:r>
              <a:rPr lang="en-US" altLang="zh-CN" sz="1800" dirty="0"/>
              <a:t>.</a:t>
            </a:r>
            <a:r>
              <a:rPr lang="zh-CN" altLang="en-US" sz="1800" dirty="0"/>
              <a:t>注意与</a:t>
            </a:r>
            <a:r>
              <a:rPr lang="en-US" altLang="zh-CN" sz="1800" dirty="0"/>
              <a:t>DOS</a:t>
            </a:r>
            <a:r>
              <a:rPr lang="zh-CN" altLang="en-US" sz="1800" dirty="0"/>
              <a:t>下不同的是</a:t>
            </a:r>
            <a:r>
              <a:rPr lang="en-US" altLang="zh-CN" sz="1800" dirty="0"/>
              <a:t>, </a:t>
            </a:r>
            <a:r>
              <a:rPr lang="zh-CN" altLang="en-US" sz="1800" dirty="0"/>
              <a:t>当前目录不在系统路径里 </a:t>
            </a:r>
          </a:p>
          <a:p>
            <a:pPr lvl="1"/>
            <a:r>
              <a:rPr lang="en-US" altLang="zh-CN" sz="1800" dirty="0"/>
              <a:t>HOME	</a:t>
            </a:r>
            <a:r>
              <a:rPr lang="zh-CN" altLang="en-US" sz="1800" dirty="0"/>
              <a:t>用户</a:t>
            </a:r>
            <a:r>
              <a:rPr lang="en-US" altLang="zh-CN" sz="1800" dirty="0"/>
              <a:t>home</a:t>
            </a:r>
            <a:r>
              <a:rPr lang="zh-CN" altLang="en-US" sz="1800" dirty="0"/>
              <a:t>目录的路径名</a:t>
            </a:r>
            <a:r>
              <a:rPr lang="en-US" altLang="zh-CN" sz="1800" dirty="0"/>
              <a:t>,</a:t>
            </a:r>
            <a:r>
              <a:rPr lang="zh-CN" altLang="en-US" sz="1800" dirty="0"/>
              <a:t>是</a:t>
            </a:r>
            <a:r>
              <a:rPr lang="en-US" altLang="zh-CN" sz="1800" dirty="0"/>
              <a:t>cd</a:t>
            </a:r>
            <a:r>
              <a:rPr lang="zh-CN" altLang="en-US" sz="1800" dirty="0"/>
              <a:t>命令的默认参数 </a:t>
            </a:r>
          </a:p>
          <a:p>
            <a:pPr lvl="1"/>
            <a:r>
              <a:rPr lang="en-US" altLang="zh-CN" sz="1800" dirty="0"/>
              <a:t>IFS	</a:t>
            </a:r>
            <a:r>
              <a:rPr lang="zh-CN" altLang="en-US" sz="1800" dirty="0"/>
              <a:t>定义</a:t>
            </a:r>
            <a:r>
              <a:rPr lang="en-US" altLang="zh-CN" sz="1800" dirty="0"/>
              <a:t>SHELL</a:t>
            </a:r>
            <a:r>
              <a:rPr lang="zh-CN" altLang="en-US" sz="1800" dirty="0"/>
              <a:t>使用的分隔符 </a:t>
            </a:r>
            <a:r>
              <a:rPr lang="en-US" altLang="zh-CN" sz="1800" dirty="0"/>
              <a:t>,</a:t>
            </a:r>
            <a:r>
              <a:rPr lang="zh-CN" altLang="en-US" sz="1800" dirty="0"/>
              <a:t>指命令行参数分隔符</a:t>
            </a:r>
          </a:p>
          <a:p>
            <a:pPr lvl="2"/>
            <a:r>
              <a:rPr lang="en-US" altLang="zh-CN" dirty="0"/>
              <a:t>IFS=$' \t\n'</a:t>
            </a:r>
            <a:endParaRPr lang="en-US" altLang="zh-CN" sz="1800" dirty="0"/>
          </a:p>
          <a:p>
            <a:pPr lvl="1"/>
            <a:r>
              <a:rPr lang="en-US" altLang="zh-CN" sz="1800" dirty="0"/>
              <a:t>LOGNAME	</a:t>
            </a:r>
            <a:r>
              <a:rPr lang="zh-CN" altLang="en-US" sz="1800" dirty="0"/>
              <a:t>用户登录名</a:t>
            </a:r>
          </a:p>
          <a:p>
            <a:pPr lvl="1"/>
            <a:r>
              <a:rPr lang="en-US" altLang="zh-CN" sz="1800" dirty="0"/>
              <a:t>SHELL	SHELL</a:t>
            </a:r>
            <a:r>
              <a:rPr lang="zh-CN" altLang="en-US" sz="1800" dirty="0"/>
              <a:t>的路径名</a:t>
            </a:r>
          </a:p>
          <a:p>
            <a:pPr lvl="1"/>
            <a:r>
              <a:rPr lang="en-US" altLang="zh-CN" sz="1800" dirty="0"/>
              <a:t>TERM	</a:t>
            </a:r>
            <a:r>
              <a:rPr lang="zh-CN" altLang="en-US" sz="1800" dirty="0"/>
              <a:t>终端类型 </a:t>
            </a:r>
          </a:p>
          <a:p>
            <a:pPr lvl="1"/>
            <a:r>
              <a:rPr lang="en-US" altLang="zh-CN" sz="1800" dirty="0"/>
              <a:t>LD_LIBRARY_PATH </a:t>
            </a:r>
            <a:r>
              <a:rPr lang="zh-CN" altLang="en-US" sz="1800" dirty="0"/>
              <a:t>寻找库的路径</a:t>
            </a:r>
            <a:r>
              <a:rPr lang="en-US" altLang="zh-CN" sz="1800" dirty="0"/>
              <a:t>,</a:t>
            </a:r>
            <a:r>
              <a:rPr lang="zh-CN" altLang="en-US" sz="1800" dirty="0"/>
              <a:t>以冒号分隔</a:t>
            </a:r>
          </a:p>
          <a:p>
            <a:r>
              <a:rPr lang="zh-CN" altLang="en-US" sz="2000" dirty="0"/>
              <a:t>定义自定义环境变量</a:t>
            </a:r>
          </a:p>
          <a:p>
            <a:pPr lvl="1"/>
            <a:r>
              <a:rPr lang="en-US" altLang="zh-CN" sz="1800" dirty="0"/>
              <a:t>export MY_NAME=Andrew </a:t>
            </a:r>
          </a:p>
          <a:p>
            <a:pPr lvl="1"/>
            <a:r>
              <a:rPr lang="en-US" altLang="zh-CN" sz="1800" dirty="0"/>
              <a:t>export PATH=/home/</a:t>
            </a:r>
            <a:r>
              <a:rPr lang="en-US" altLang="zh-CN" sz="1800" dirty="0" err="1"/>
              <a:t>hxy</a:t>
            </a:r>
            <a:r>
              <a:rPr lang="en-US" altLang="zh-CN" sz="1800" dirty="0"/>
              <a:t>/bin:$PATH</a:t>
            </a:r>
          </a:p>
          <a:p>
            <a:pPr lvl="1"/>
            <a:r>
              <a:rPr lang="zh-CN" altLang="en-US" sz="1800" dirty="0"/>
              <a:t>如果每次启动想使用自定义环境变量</a:t>
            </a:r>
            <a:r>
              <a:rPr lang="en-US" altLang="zh-CN" sz="1800" dirty="0"/>
              <a:t>,</a:t>
            </a:r>
            <a:r>
              <a:rPr lang="zh-CN" altLang="en-US" sz="1800" dirty="0"/>
              <a:t>需要修改</a:t>
            </a:r>
            <a:r>
              <a:rPr lang="en-US" altLang="zh-CN" sz="1800" dirty="0"/>
              <a:t>home</a:t>
            </a:r>
            <a:r>
              <a:rPr lang="zh-CN" altLang="en-US" sz="1800" dirty="0"/>
              <a:t>目录下</a:t>
            </a:r>
            <a:r>
              <a:rPr lang="en-US" altLang="zh-CN" sz="1800" dirty="0"/>
              <a:t>~/.</a:t>
            </a:r>
            <a:r>
              <a:rPr lang="en-US" altLang="zh-CN" sz="1800" dirty="0" err="1"/>
              <a:t>bash_profile</a:t>
            </a:r>
            <a:r>
              <a:rPr lang="en-US" altLang="zh-CN" sz="1800" dirty="0"/>
              <a:t> </a:t>
            </a:r>
            <a:r>
              <a:rPr lang="zh-CN" altLang="en-US" sz="1800" dirty="0"/>
              <a:t>文件</a:t>
            </a:r>
            <a:r>
              <a:rPr lang="en-US" altLang="zh-CN" sz="1800" dirty="0"/>
              <a:t>,</a:t>
            </a:r>
            <a:r>
              <a:rPr lang="zh-CN" altLang="en-US" sz="1800" dirty="0"/>
              <a:t>可以</a:t>
            </a:r>
            <a:r>
              <a:rPr lang="en-US" altLang="zh-CN" sz="1800" dirty="0"/>
              <a:t>ls </a:t>
            </a:r>
            <a:r>
              <a:rPr lang="en-US" altLang="zh-CN" sz="1800" dirty="0">
                <a:latin typeface="Arial" panose="020B0604020202020204" pitchFamily="34" charset="0"/>
              </a:rPr>
              <a:t>–</a:t>
            </a:r>
            <a:r>
              <a:rPr lang="en-US" altLang="zh-CN" sz="1800" dirty="0"/>
              <a:t>al </a:t>
            </a:r>
            <a:r>
              <a:rPr lang="zh-CN" altLang="en-US" sz="1800" dirty="0"/>
              <a:t>查看</a:t>
            </a:r>
          </a:p>
          <a:p>
            <a:pPr lvl="1"/>
            <a:r>
              <a:rPr lang="zh-CN" altLang="en-US" sz="1800" dirty="0"/>
              <a:t>取消环境变量和自定义变量用 </a:t>
            </a:r>
            <a:r>
              <a:rPr lang="en-US" altLang="zh-CN" sz="1800" dirty="0"/>
              <a:t>unset </a:t>
            </a:r>
            <a:r>
              <a:rPr lang="zh-CN" altLang="en-US" sz="1800" dirty="0"/>
              <a:t>变量名  如 </a:t>
            </a:r>
            <a:r>
              <a:rPr lang="en-US" altLang="zh-CN" sz="1800" dirty="0"/>
              <a:t>unset USER</a:t>
            </a:r>
          </a:p>
          <a:p>
            <a:endParaRPr lang="zh-CN" altLang="en-US" dirty="0"/>
          </a:p>
        </p:txBody>
      </p:sp>
    </p:spTree>
    <p:extLst>
      <p:ext uri="{BB962C8B-B14F-4D97-AF65-F5344CB8AC3E}">
        <p14:creationId xmlns:p14="http://schemas.microsoft.com/office/powerpoint/2010/main" val="23949688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Shell</a:t>
            </a:r>
            <a:r>
              <a:rPr lang="zh-CN" altLang="en-US" dirty="0"/>
              <a:t>环境变量规定</a:t>
            </a:r>
          </a:p>
        </p:txBody>
      </p:sp>
      <p:sp>
        <p:nvSpPr>
          <p:cNvPr id="3" name="内容占位符 2"/>
          <p:cNvSpPr>
            <a:spLocks noGrp="1"/>
          </p:cNvSpPr>
          <p:nvPr>
            <p:ph idx="1"/>
          </p:nvPr>
        </p:nvSpPr>
        <p:spPr/>
        <p:txBody>
          <a:bodyPr/>
          <a:lstStyle/>
          <a:p>
            <a:r>
              <a:rPr lang="zh-CN" altLang="en-US" dirty="0"/>
              <a:t>一个程序在</a:t>
            </a:r>
            <a:r>
              <a:rPr lang="en-US" altLang="zh-CN" dirty="0"/>
              <a:t>Shell</a:t>
            </a:r>
            <a:r>
              <a:rPr lang="zh-CN" altLang="en-US" dirty="0"/>
              <a:t>下被执行，那么首先是在这个</a:t>
            </a:r>
            <a:r>
              <a:rPr lang="en-US" altLang="zh-CN" dirty="0"/>
              <a:t>Shell</a:t>
            </a:r>
            <a:r>
              <a:rPr lang="zh-CN" altLang="en-US" dirty="0"/>
              <a:t>下创建一个子</a:t>
            </a:r>
            <a:r>
              <a:rPr lang="en-US" altLang="zh-CN" dirty="0"/>
              <a:t>shell.</a:t>
            </a:r>
            <a:r>
              <a:rPr lang="zh-CN" altLang="en-US" dirty="0"/>
              <a:t>在这个子</a:t>
            </a:r>
            <a:r>
              <a:rPr lang="en-US" altLang="zh-CN" dirty="0"/>
              <a:t>Shell</a:t>
            </a:r>
            <a:r>
              <a:rPr lang="zh-CN" altLang="en-US" dirty="0"/>
              <a:t>再执行程序。</a:t>
            </a:r>
          </a:p>
          <a:p>
            <a:r>
              <a:rPr lang="zh-CN" altLang="en-US" dirty="0"/>
              <a:t>子</a:t>
            </a:r>
            <a:r>
              <a:rPr lang="en-US" altLang="zh-CN" dirty="0"/>
              <a:t>Shell</a:t>
            </a:r>
            <a:r>
              <a:rPr lang="zh-CN" altLang="en-US" dirty="0" smtClean="0"/>
              <a:t>所有变量从上</a:t>
            </a:r>
            <a:r>
              <a:rPr lang="zh-CN" altLang="en-US" dirty="0"/>
              <a:t>一级</a:t>
            </a:r>
            <a:r>
              <a:rPr lang="en-US" altLang="zh-CN" dirty="0"/>
              <a:t>Shell</a:t>
            </a:r>
            <a:r>
              <a:rPr lang="zh-CN" altLang="en-US" dirty="0"/>
              <a:t>继承下来</a:t>
            </a:r>
          </a:p>
          <a:p>
            <a:r>
              <a:rPr lang="zh-CN" altLang="en-US" dirty="0"/>
              <a:t>程序</a:t>
            </a:r>
            <a:r>
              <a:rPr lang="en-US" altLang="zh-CN" dirty="0"/>
              <a:t>/</a:t>
            </a:r>
            <a:r>
              <a:rPr lang="zh-CN" altLang="en-US" dirty="0"/>
              <a:t>脚本</a:t>
            </a:r>
            <a:r>
              <a:rPr lang="zh-CN" altLang="en-US" dirty="0" smtClean="0"/>
              <a:t>修改子</a:t>
            </a:r>
            <a:r>
              <a:rPr lang="en-US" altLang="zh-CN" dirty="0"/>
              <a:t>Shell</a:t>
            </a:r>
            <a:r>
              <a:rPr lang="zh-CN" altLang="en-US" dirty="0"/>
              <a:t>的环境变量。父</a:t>
            </a:r>
            <a:r>
              <a:rPr lang="en-US" altLang="zh-CN" dirty="0"/>
              <a:t>Shell</a:t>
            </a:r>
            <a:r>
              <a:rPr lang="zh-CN" altLang="en-US" dirty="0"/>
              <a:t>不受影响</a:t>
            </a:r>
            <a:r>
              <a:rPr lang="en-US" altLang="zh-CN" dirty="0"/>
              <a:t>,</a:t>
            </a:r>
            <a:r>
              <a:rPr lang="zh-CN" altLang="en-US" dirty="0"/>
              <a:t>这个主要为了安全考虑。</a:t>
            </a:r>
          </a:p>
          <a:p>
            <a:endParaRPr lang="zh-CN" altLang="en-US" dirty="0"/>
          </a:p>
        </p:txBody>
      </p:sp>
    </p:spTree>
    <p:extLst>
      <p:ext uri="{BB962C8B-B14F-4D97-AF65-F5344CB8AC3E}">
        <p14:creationId xmlns:p14="http://schemas.microsoft.com/office/powerpoint/2010/main" val="10640588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Shell </a:t>
            </a:r>
            <a:r>
              <a:rPr lang="zh-CN" altLang="en-US" dirty="0"/>
              <a:t>系统变量</a:t>
            </a:r>
          </a:p>
        </p:txBody>
      </p:sp>
      <p:sp>
        <p:nvSpPr>
          <p:cNvPr id="3" name="内容占位符 2"/>
          <p:cNvSpPr>
            <a:spLocks noGrp="1"/>
          </p:cNvSpPr>
          <p:nvPr>
            <p:ph idx="1"/>
          </p:nvPr>
        </p:nvSpPr>
        <p:spPr/>
        <p:txBody>
          <a:bodyPr/>
          <a:lstStyle/>
          <a:p>
            <a:r>
              <a:rPr lang="zh-CN" altLang="en-US" dirty="0"/>
              <a:t>常用系统变量</a:t>
            </a:r>
          </a:p>
          <a:p>
            <a:pPr lvl="1"/>
            <a:r>
              <a:rPr lang="en-US" altLang="zh-CN" dirty="0"/>
              <a:t>$n	$1 </a:t>
            </a:r>
            <a:r>
              <a:rPr lang="zh-CN" altLang="en-US" dirty="0"/>
              <a:t>表示第一个参数，</a:t>
            </a:r>
            <a:r>
              <a:rPr lang="en-US" altLang="zh-CN" dirty="0"/>
              <a:t>$2 </a:t>
            </a:r>
            <a:r>
              <a:rPr lang="zh-CN" altLang="en-US" dirty="0"/>
              <a:t>表示第二个参数 </a:t>
            </a:r>
            <a:r>
              <a:rPr lang="en-US" altLang="zh-CN" dirty="0"/>
              <a:t>... </a:t>
            </a:r>
          </a:p>
          <a:p>
            <a:pPr lvl="1"/>
            <a:r>
              <a:rPr lang="en-US" altLang="zh-CN" dirty="0"/>
              <a:t>$#	</a:t>
            </a:r>
            <a:r>
              <a:rPr lang="zh-CN" altLang="en-US" dirty="0"/>
              <a:t>命令行参数的个数 </a:t>
            </a:r>
          </a:p>
          <a:p>
            <a:pPr lvl="1"/>
            <a:r>
              <a:rPr lang="en-US" altLang="zh-CN" dirty="0"/>
              <a:t>$0	</a:t>
            </a:r>
            <a:r>
              <a:rPr lang="zh-CN" altLang="en-US" dirty="0"/>
              <a:t>当前程序的名称</a:t>
            </a:r>
          </a:p>
          <a:p>
            <a:pPr lvl="1"/>
            <a:r>
              <a:rPr lang="en-US" altLang="zh-CN" dirty="0"/>
              <a:t>$?	</a:t>
            </a:r>
            <a:r>
              <a:rPr lang="zh-CN" altLang="en-US" dirty="0"/>
              <a:t>前一个命令或函数的返回码</a:t>
            </a:r>
          </a:p>
          <a:p>
            <a:pPr lvl="1"/>
            <a:r>
              <a:rPr lang="en-US" altLang="zh-CN" dirty="0"/>
              <a:t>$*	</a:t>
            </a:r>
            <a:r>
              <a:rPr lang="zh-CN" altLang="en-US" dirty="0"/>
              <a:t>以</a:t>
            </a:r>
            <a:r>
              <a:rPr lang="zh-CN" altLang="en-US" dirty="0">
                <a:latin typeface="Arial" panose="020B0604020202020204" pitchFamily="34" charset="0"/>
              </a:rPr>
              <a:t>“</a:t>
            </a:r>
            <a:r>
              <a:rPr lang="zh-CN" altLang="en-US" dirty="0"/>
              <a:t>参数</a:t>
            </a:r>
            <a:r>
              <a:rPr lang="en-US" altLang="zh-CN" dirty="0"/>
              <a:t>1 </a:t>
            </a:r>
            <a:r>
              <a:rPr lang="zh-CN" altLang="en-US" dirty="0"/>
              <a:t>参数</a:t>
            </a:r>
            <a:r>
              <a:rPr lang="en-US" altLang="zh-CN" dirty="0"/>
              <a:t>2 ... </a:t>
            </a:r>
            <a:r>
              <a:rPr lang="en-US" altLang="zh-CN" dirty="0">
                <a:latin typeface="Arial" panose="020B0604020202020204" pitchFamily="34" charset="0"/>
              </a:rPr>
              <a:t>”</a:t>
            </a:r>
            <a:r>
              <a:rPr lang="en-US" altLang="zh-CN" dirty="0"/>
              <a:t> </a:t>
            </a:r>
            <a:r>
              <a:rPr lang="zh-CN" altLang="en-US" dirty="0"/>
              <a:t>形式保存所有参数</a:t>
            </a:r>
          </a:p>
          <a:p>
            <a:pPr lvl="1"/>
            <a:r>
              <a:rPr lang="en-US" altLang="zh-CN" dirty="0"/>
              <a:t>$@	</a:t>
            </a:r>
            <a:r>
              <a:rPr lang="zh-CN" altLang="en-US" dirty="0"/>
              <a:t>以</a:t>
            </a:r>
            <a:r>
              <a:rPr lang="zh-CN" altLang="en-US" dirty="0">
                <a:latin typeface="Arial" panose="020B0604020202020204" pitchFamily="34" charset="0"/>
              </a:rPr>
              <a:t>“</a:t>
            </a:r>
            <a:r>
              <a:rPr lang="zh-CN" altLang="en-US" dirty="0"/>
              <a:t>参数</a:t>
            </a:r>
            <a:r>
              <a:rPr lang="en-US" altLang="zh-CN" dirty="0"/>
              <a:t>1</a:t>
            </a:r>
            <a:r>
              <a:rPr lang="en-US" altLang="zh-CN" dirty="0">
                <a:latin typeface="Arial" panose="020B0604020202020204" pitchFamily="34" charset="0"/>
              </a:rPr>
              <a:t>”</a:t>
            </a:r>
            <a:r>
              <a:rPr lang="en-US" altLang="zh-CN" dirty="0"/>
              <a:t> </a:t>
            </a:r>
            <a:r>
              <a:rPr lang="en-US" altLang="zh-CN" dirty="0">
                <a:latin typeface="Arial" panose="020B0604020202020204" pitchFamily="34" charset="0"/>
              </a:rPr>
              <a:t>“</a:t>
            </a:r>
            <a:r>
              <a:rPr lang="zh-CN" altLang="en-US" dirty="0"/>
              <a:t>参数</a:t>
            </a:r>
            <a:r>
              <a:rPr lang="en-US" altLang="zh-CN" dirty="0"/>
              <a:t>2</a:t>
            </a:r>
            <a:r>
              <a:rPr lang="en-US" altLang="zh-CN" dirty="0">
                <a:latin typeface="Arial" panose="020B0604020202020204" pitchFamily="34" charset="0"/>
              </a:rPr>
              <a:t>”</a:t>
            </a:r>
            <a:r>
              <a:rPr lang="en-US" altLang="zh-CN" dirty="0"/>
              <a:t> ... </a:t>
            </a:r>
            <a:r>
              <a:rPr lang="zh-CN" altLang="en-US" dirty="0"/>
              <a:t>形式保存所有参数</a:t>
            </a:r>
          </a:p>
          <a:p>
            <a:pPr lvl="1"/>
            <a:r>
              <a:rPr lang="en-US" altLang="zh-CN" dirty="0"/>
              <a:t>$$	</a:t>
            </a:r>
            <a:r>
              <a:rPr lang="zh-CN" altLang="en-US" dirty="0"/>
              <a:t>本程序的</a:t>
            </a:r>
            <a:r>
              <a:rPr lang="en-US" altLang="zh-CN" dirty="0"/>
              <a:t>(</a:t>
            </a:r>
            <a:r>
              <a:rPr lang="zh-CN" altLang="en-US" dirty="0"/>
              <a:t>进程</a:t>
            </a:r>
            <a:r>
              <a:rPr lang="en-US" altLang="zh-CN" dirty="0"/>
              <a:t>ID</a:t>
            </a:r>
            <a:r>
              <a:rPr lang="zh-CN" altLang="en-US" dirty="0"/>
              <a:t>号</a:t>
            </a:r>
            <a:r>
              <a:rPr lang="en-US" altLang="zh-CN" dirty="0"/>
              <a:t>)PID  </a:t>
            </a:r>
          </a:p>
          <a:p>
            <a:pPr lvl="1"/>
            <a:r>
              <a:rPr lang="en-US" altLang="zh-CN" dirty="0"/>
              <a:t>$! 	</a:t>
            </a:r>
            <a:r>
              <a:rPr lang="zh-CN" altLang="en-US" dirty="0"/>
              <a:t>上一个命令的</a:t>
            </a:r>
            <a:r>
              <a:rPr lang="en-US" altLang="zh-CN" dirty="0"/>
              <a:t>PID </a:t>
            </a:r>
          </a:p>
          <a:p>
            <a:endParaRPr lang="zh-CN" altLang="en-US" dirty="0"/>
          </a:p>
        </p:txBody>
      </p:sp>
    </p:spTree>
    <p:extLst>
      <p:ext uri="{BB962C8B-B14F-4D97-AF65-F5344CB8AC3E}">
        <p14:creationId xmlns:p14="http://schemas.microsoft.com/office/powerpoint/2010/main" val="15844410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系统变量的实例</a:t>
            </a:r>
          </a:p>
        </p:txBody>
      </p:sp>
      <p:sp>
        <p:nvSpPr>
          <p:cNvPr id="3" name="内容占位符 2"/>
          <p:cNvSpPr>
            <a:spLocks noGrp="1"/>
          </p:cNvSpPr>
          <p:nvPr>
            <p:ph idx="1"/>
          </p:nvPr>
        </p:nvSpPr>
        <p:spPr/>
        <p:txBody>
          <a:bodyPr/>
          <a:lstStyle/>
          <a:p>
            <a:r>
              <a:rPr lang="en-US" altLang="zh-CN" dirty="0"/>
              <a:t>./sys_var.sh Andrew </a:t>
            </a:r>
            <a:r>
              <a:rPr lang="en-US" altLang="zh-CN" dirty="0" err="1"/>
              <a:t>hxy</a:t>
            </a:r>
            <a:endParaRPr lang="en-US" altLang="zh-CN" dirty="0"/>
          </a:p>
          <a:p>
            <a:endParaRPr lang="zh-CN" altLang="en-US" dirty="0"/>
          </a:p>
        </p:txBody>
      </p:sp>
      <p:sp>
        <p:nvSpPr>
          <p:cNvPr id="4" name="Text Box 4"/>
          <p:cNvSpPr txBox="1">
            <a:spLocks noChangeArrowheads="1"/>
          </p:cNvSpPr>
          <p:nvPr/>
        </p:nvSpPr>
        <p:spPr bwMode="auto">
          <a:xfrm>
            <a:off x="3167756" y="2527010"/>
            <a:ext cx="5199063" cy="3482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a:ea typeface="宋体" panose="02010600030101010101" pitchFamily="2" charset="-122"/>
              </a:rPr>
              <a:t>#!/bin/sh</a:t>
            </a:r>
          </a:p>
          <a:p>
            <a:pPr algn="l"/>
            <a:r>
              <a:rPr kumimoji="1" lang="en-US" altLang="zh-CN">
                <a:ea typeface="宋体" panose="02010600030101010101" pitchFamily="2" charset="-122"/>
              </a:rPr>
              <a:t>#This file is used to explain the shell system variable.</a:t>
            </a:r>
          </a:p>
          <a:p>
            <a:pPr algn="l"/>
            <a:r>
              <a:rPr kumimoji="1" lang="en-US" altLang="zh-CN">
                <a:ea typeface="宋体" panose="02010600030101010101" pitchFamily="2" charset="-122"/>
              </a:rPr>
              <a:t>echo "the number of parameter is $# ";</a:t>
            </a:r>
          </a:p>
          <a:p>
            <a:pPr algn="l"/>
            <a:r>
              <a:rPr kumimoji="1" lang="en-US" altLang="zh-CN">
                <a:ea typeface="宋体" panose="02010600030101010101" pitchFamily="2" charset="-122"/>
              </a:rPr>
              <a:t>echo "the return code of last command is $?";</a:t>
            </a:r>
          </a:p>
          <a:p>
            <a:pPr algn="l"/>
            <a:r>
              <a:rPr kumimoji="1" lang="en-US" altLang="zh-CN">
                <a:ea typeface="宋体" panose="02010600030101010101" pitchFamily="2" charset="-122"/>
              </a:rPr>
              <a:t>echo "the script name is $0 ";</a:t>
            </a:r>
          </a:p>
          <a:p>
            <a:pPr algn="l"/>
            <a:r>
              <a:rPr kumimoji="1" lang="en-US" altLang="zh-CN">
                <a:ea typeface="宋体" panose="02010600030101010101" pitchFamily="2" charset="-122"/>
              </a:rPr>
              <a:t>echo "the parameters are $* ";</a:t>
            </a:r>
          </a:p>
          <a:p>
            <a:pPr algn="l"/>
            <a:r>
              <a:rPr kumimoji="1" lang="en-US" altLang="zh-CN">
                <a:ea typeface="宋体" panose="02010600030101010101" pitchFamily="2" charset="-122"/>
              </a:rPr>
              <a:t>xxx=10</a:t>
            </a:r>
          </a:p>
          <a:p>
            <a:pPr algn="l"/>
            <a:r>
              <a:rPr kumimoji="1" lang="en-US" altLang="zh-CN">
                <a:ea typeface="宋体" panose="02010600030101010101" pitchFamily="2" charset="-122"/>
              </a:rPr>
              <a:t>echo "\$1 = $1 ; \$2 = $2 ";</a:t>
            </a:r>
          </a:p>
          <a:p>
            <a:pPr algn="l"/>
            <a:r>
              <a:rPr kumimoji="1" lang="en-US" altLang="zh-CN">
                <a:ea typeface="宋体" panose="02010600030101010101" pitchFamily="2" charset="-122"/>
              </a:rPr>
              <a:t>echo "\$* = $*"</a:t>
            </a:r>
          </a:p>
          <a:p>
            <a:pPr algn="l"/>
            <a:r>
              <a:rPr kumimoji="1" lang="en-US" altLang="zh-CN">
                <a:ea typeface="宋体" panose="02010600030101010101" pitchFamily="2" charset="-122"/>
              </a:rPr>
              <a:t>echo "\$@ = $@"</a:t>
            </a:r>
          </a:p>
        </p:txBody>
      </p:sp>
    </p:spTree>
    <p:extLst>
      <p:ext uri="{BB962C8B-B14F-4D97-AF65-F5344CB8AC3E}">
        <p14:creationId xmlns:p14="http://schemas.microsoft.com/office/powerpoint/2010/main" val="102879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Shell</a:t>
            </a:r>
            <a:r>
              <a:rPr lang="zh-CN" altLang="en-US" dirty="0"/>
              <a:t>表达式运算</a:t>
            </a:r>
          </a:p>
        </p:txBody>
      </p:sp>
      <p:sp>
        <p:nvSpPr>
          <p:cNvPr id="3" name="内容占位符 2"/>
          <p:cNvSpPr>
            <a:spLocks noGrp="1"/>
          </p:cNvSpPr>
          <p:nvPr>
            <p:ph idx="1"/>
          </p:nvPr>
        </p:nvSpPr>
        <p:spPr>
          <a:xfrm>
            <a:off x="838200" y="1365161"/>
            <a:ext cx="10515600" cy="5280338"/>
          </a:xfrm>
        </p:spPr>
        <p:txBody>
          <a:bodyPr>
            <a:normAutofit/>
          </a:bodyPr>
          <a:lstStyle/>
          <a:p>
            <a:pPr>
              <a:lnSpc>
                <a:spcPct val="80000"/>
              </a:lnSpc>
            </a:pPr>
            <a:r>
              <a:rPr lang="en-US" altLang="zh-CN" sz="1800" b="1" dirty="0"/>
              <a:t>Shell</a:t>
            </a:r>
            <a:r>
              <a:rPr lang="zh-CN" altLang="en-US" sz="1800" b="1" dirty="0"/>
              <a:t>用</a:t>
            </a:r>
            <a:r>
              <a:rPr lang="en-US" altLang="zh-CN" sz="1800" b="1" dirty="0">
                <a:solidFill>
                  <a:srgbClr val="FF0000"/>
                </a:solidFill>
              </a:rPr>
              <a:t>$((</a:t>
            </a:r>
            <a:r>
              <a:rPr lang="en-US" altLang="zh-CN" sz="1800" b="1" dirty="0"/>
              <a:t>expr</a:t>
            </a:r>
            <a:r>
              <a:rPr lang="en-US" altLang="zh-CN" sz="1800" b="1" dirty="0">
                <a:solidFill>
                  <a:srgbClr val="FF0000"/>
                </a:solidFill>
              </a:rPr>
              <a:t>))</a:t>
            </a:r>
            <a:r>
              <a:rPr lang="en-US" altLang="zh-CN" sz="1800" dirty="0">
                <a:solidFill>
                  <a:srgbClr val="FF0000"/>
                </a:solidFill>
              </a:rPr>
              <a:t> </a:t>
            </a:r>
            <a:r>
              <a:rPr lang="zh-CN" altLang="en-US" sz="1800" b="1" dirty="0"/>
              <a:t>来进行表达式运算</a:t>
            </a:r>
          </a:p>
          <a:p>
            <a:pPr lvl="1">
              <a:lnSpc>
                <a:spcPct val="80000"/>
              </a:lnSpc>
            </a:pPr>
            <a:r>
              <a:rPr lang="en-US" altLang="zh-CN" sz="1600" b="1" dirty="0"/>
              <a:t>echo $((1+3))</a:t>
            </a:r>
          </a:p>
          <a:p>
            <a:pPr lvl="1">
              <a:lnSpc>
                <a:spcPct val="80000"/>
              </a:lnSpc>
            </a:pPr>
            <a:r>
              <a:rPr lang="zh-CN" altLang="en-US" sz="1600" b="1" dirty="0"/>
              <a:t>它等效于</a:t>
            </a:r>
            <a:r>
              <a:rPr lang="en-US" altLang="zh-CN" sz="1600" b="1" dirty="0"/>
              <a:t>let</a:t>
            </a:r>
            <a:r>
              <a:rPr lang="zh-CN" altLang="en-US" sz="1600" b="1" dirty="0"/>
              <a:t>命令</a:t>
            </a:r>
            <a:r>
              <a:rPr lang="en-US" altLang="zh-CN" sz="1600" b="1" dirty="0"/>
              <a:t>,</a:t>
            </a:r>
            <a:r>
              <a:rPr lang="zh-CN" altLang="en-US" sz="1600" b="1" dirty="0"/>
              <a:t>即 </a:t>
            </a:r>
            <a:r>
              <a:rPr lang="en-US" altLang="zh-CN" sz="1600" b="1" dirty="0"/>
              <a:t>let expr </a:t>
            </a:r>
            <a:r>
              <a:rPr lang="zh-CN" altLang="en-US" sz="1600" b="1" dirty="0"/>
              <a:t>等效于 </a:t>
            </a:r>
            <a:r>
              <a:rPr lang="en-US" altLang="zh-CN" sz="1600" b="1" dirty="0"/>
              <a:t>$((expr))</a:t>
            </a:r>
          </a:p>
          <a:p>
            <a:pPr lvl="2">
              <a:lnSpc>
                <a:spcPct val="80000"/>
              </a:lnSpc>
            </a:pPr>
            <a:r>
              <a:rPr lang="en-US" altLang="zh-CN" sz="1600" b="1" dirty="0"/>
              <a:t>let x=1+3;echo $x</a:t>
            </a:r>
          </a:p>
          <a:p>
            <a:pPr>
              <a:lnSpc>
                <a:spcPct val="80000"/>
              </a:lnSpc>
            </a:pPr>
            <a:r>
              <a:rPr lang="en-US" altLang="zh-CN" sz="1800" b="1" dirty="0"/>
              <a:t>$(())</a:t>
            </a:r>
            <a:r>
              <a:rPr lang="zh-CN" altLang="en-US" sz="1800" b="1" dirty="0"/>
              <a:t>支持多种进制表示</a:t>
            </a:r>
          </a:p>
          <a:p>
            <a:pPr lvl="1">
              <a:lnSpc>
                <a:spcPct val="80000"/>
              </a:lnSpc>
            </a:pPr>
            <a:r>
              <a:rPr lang="en-US" altLang="zh-CN" sz="1600" b="1" dirty="0"/>
              <a:t>echo $((013))</a:t>
            </a:r>
            <a:r>
              <a:rPr lang="en-US" altLang="zh-CN" sz="1600" dirty="0"/>
              <a:t>  #</a:t>
            </a:r>
            <a:r>
              <a:rPr lang="zh-CN" altLang="en-US" sz="1600" dirty="0"/>
              <a:t>八进制</a:t>
            </a:r>
          </a:p>
          <a:p>
            <a:pPr lvl="1">
              <a:lnSpc>
                <a:spcPct val="80000"/>
              </a:lnSpc>
            </a:pPr>
            <a:r>
              <a:rPr lang="en-US" altLang="zh-CN" sz="1600" b="1" dirty="0"/>
              <a:t>echo $((0xA4))</a:t>
            </a:r>
            <a:r>
              <a:rPr lang="en-US" altLang="zh-CN" sz="1600" dirty="0"/>
              <a:t>  #</a:t>
            </a:r>
            <a:r>
              <a:rPr lang="zh-CN" altLang="en-US" sz="1600" dirty="0"/>
              <a:t>十六进制</a:t>
            </a:r>
          </a:p>
          <a:p>
            <a:pPr>
              <a:lnSpc>
                <a:spcPct val="80000"/>
              </a:lnSpc>
            </a:pPr>
            <a:r>
              <a:rPr lang="zh-CN" altLang="en-US" sz="1800" dirty="0"/>
              <a:t>任意进制表示 </a:t>
            </a:r>
            <a:r>
              <a:rPr lang="en-US" altLang="zh-CN" sz="1800" dirty="0"/>
              <a:t>$((</a:t>
            </a:r>
            <a:r>
              <a:rPr lang="zh-CN" altLang="en-US" sz="1800" dirty="0"/>
              <a:t>进制</a:t>
            </a:r>
            <a:r>
              <a:rPr lang="en-US" altLang="zh-CN" sz="1800" dirty="0"/>
              <a:t>#</a:t>
            </a:r>
            <a:r>
              <a:rPr lang="zh-CN" altLang="en-US" sz="1800" dirty="0"/>
              <a:t>数</a:t>
            </a:r>
            <a:r>
              <a:rPr lang="en-US" altLang="zh-CN" sz="1800" dirty="0"/>
              <a:t>))</a:t>
            </a:r>
          </a:p>
          <a:p>
            <a:pPr lvl="1">
              <a:lnSpc>
                <a:spcPct val="80000"/>
              </a:lnSpc>
            </a:pPr>
            <a:r>
              <a:rPr lang="en-US" altLang="zh-CN" sz="1600" dirty="0"/>
              <a:t>echo $((2#1101010))  #2</a:t>
            </a:r>
            <a:r>
              <a:rPr lang="zh-CN" altLang="en-US" sz="1600" dirty="0"/>
              <a:t>进制表示</a:t>
            </a:r>
          </a:p>
          <a:p>
            <a:pPr lvl="1">
              <a:lnSpc>
                <a:spcPct val="80000"/>
              </a:lnSpc>
            </a:pPr>
            <a:r>
              <a:rPr lang="en-US" altLang="zh-CN" sz="1600" dirty="0"/>
              <a:t>echo $((8#377)) #8</a:t>
            </a:r>
            <a:r>
              <a:rPr lang="zh-CN" altLang="en-US" sz="1600" dirty="0"/>
              <a:t>进制表示</a:t>
            </a:r>
          </a:p>
          <a:p>
            <a:pPr lvl="1">
              <a:lnSpc>
                <a:spcPct val="80000"/>
              </a:lnSpc>
            </a:pPr>
            <a:r>
              <a:rPr lang="en-US" altLang="zh-CN" sz="1600" dirty="0"/>
              <a:t>echo $((16#D8)) #16</a:t>
            </a:r>
            <a:r>
              <a:rPr lang="zh-CN" altLang="en-US" sz="1600" dirty="0"/>
              <a:t>进制表示</a:t>
            </a:r>
          </a:p>
          <a:p>
            <a:pPr lvl="1">
              <a:lnSpc>
                <a:spcPct val="80000"/>
              </a:lnSpc>
            </a:pPr>
            <a:r>
              <a:rPr lang="en-US" altLang="zh-CN" sz="1600" dirty="0"/>
              <a:t>echo $((12#10)) #12</a:t>
            </a:r>
            <a:r>
              <a:rPr lang="zh-CN" altLang="en-US" sz="1600" dirty="0"/>
              <a:t>进制表示</a:t>
            </a:r>
          </a:p>
          <a:p>
            <a:pPr lvl="1">
              <a:lnSpc>
                <a:spcPct val="80000"/>
              </a:lnSpc>
            </a:pPr>
            <a:r>
              <a:rPr lang="en-US" altLang="zh-CN" sz="1600" dirty="0"/>
              <a:t>echo $((36#ZZYY)) #36</a:t>
            </a:r>
            <a:r>
              <a:rPr lang="zh-CN" altLang="en-US" sz="1600" dirty="0"/>
              <a:t>进制表示</a:t>
            </a:r>
          </a:p>
          <a:p>
            <a:pPr>
              <a:lnSpc>
                <a:spcPct val="80000"/>
              </a:lnSpc>
            </a:pPr>
            <a:r>
              <a:rPr lang="zh-CN" altLang="en-US" sz="1800" dirty="0"/>
              <a:t>支持运算符 </a:t>
            </a:r>
            <a:r>
              <a:rPr lang="en-US" altLang="zh-CN" sz="1800" dirty="0"/>
              <a:t>+ - * \ % &lt; &gt; &lt;= &gt;= &lt;&lt; &gt;&gt;</a:t>
            </a:r>
          </a:p>
          <a:p>
            <a:pPr>
              <a:lnSpc>
                <a:spcPct val="80000"/>
              </a:lnSpc>
            </a:pPr>
            <a:r>
              <a:rPr lang="en-US" altLang="zh-CN" sz="1800" dirty="0"/>
              <a:t>expr </a:t>
            </a:r>
            <a:r>
              <a:rPr lang="zh-CN" altLang="en-US" sz="1800" dirty="0"/>
              <a:t>把后面字符串当成数学表达式计算</a:t>
            </a:r>
          </a:p>
          <a:p>
            <a:pPr>
              <a:lnSpc>
                <a:spcPct val="80000"/>
              </a:lnSpc>
            </a:pPr>
            <a:r>
              <a:rPr lang="zh-CN" altLang="en-US" sz="1800" dirty="0"/>
              <a:t>注意每个数之间的空格</a:t>
            </a:r>
          </a:p>
          <a:p>
            <a:pPr lvl="1">
              <a:lnSpc>
                <a:spcPct val="80000"/>
              </a:lnSpc>
            </a:pPr>
            <a:r>
              <a:rPr lang="en-US" altLang="zh-CN" sz="1600" dirty="0"/>
              <a:t>expr 2 + 4</a:t>
            </a:r>
          </a:p>
          <a:p>
            <a:pPr lvl="1">
              <a:lnSpc>
                <a:spcPct val="80000"/>
              </a:lnSpc>
            </a:pPr>
            <a:r>
              <a:rPr lang="en-US" altLang="zh-CN" sz="1600" dirty="0"/>
              <a:t>expr 3 \* 5</a:t>
            </a:r>
          </a:p>
          <a:p>
            <a:pPr lvl="1">
              <a:lnSpc>
                <a:spcPct val="80000"/>
              </a:lnSpc>
            </a:pPr>
            <a:r>
              <a:rPr lang="en-US" altLang="zh-CN" sz="1600" dirty="0"/>
              <a:t>VAR=`expr 2 +  4` #</a:t>
            </a:r>
            <a:r>
              <a:rPr lang="zh-CN" altLang="en-US" sz="1600" dirty="0"/>
              <a:t>这里是</a:t>
            </a:r>
            <a:r>
              <a:rPr lang="en-US" altLang="zh-CN" sz="1600" dirty="0"/>
              <a:t>`, </a:t>
            </a:r>
            <a:r>
              <a:rPr lang="zh-CN" altLang="en-US" sz="1600" dirty="0"/>
              <a:t>即</a:t>
            </a:r>
            <a:r>
              <a:rPr lang="en-US" altLang="zh-CN" sz="1600" dirty="0"/>
              <a:t>ESC</a:t>
            </a:r>
            <a:r>
              <a:rPr lang="zh-CN" altLang="en-US" sz="1600" dirty="0"/>
              <a:t>下面键</a:t>
            </a:r>
            <a:r>
              <a:rPr lang="en-US" altLang="zh-CN" sz="1600" dirty="0"/>
              <a:t>,</a:t>
            </a:r>
            <a:r>
              <a:rPr lang="zh-CN" altLang="en-US" sz="1600" dirty="0"/>
              <a:t>不是</a:t>
            </a:r>
            <a:r>
              <a:rPr lang="zh-CN" altLang="en-US" sz="1600" dirty="0">
                <a:latin typeface="Arial" panose="020B0604020202020204" pitchFamily="34" charset="0"/>
              </a:rPr>
              <a:t>’</a:t>
            </a:r>
            <a:endParaRPr lang="zh-CN" altLang="en-US" sz="1600" dirty="0"/>
          </a:p>
          <a:p>
            <a:endParaRPr lang="zh-CN" altLang="en-US" dirty="0"/>
          </a:p>
        </p:txBody>
      </p:sp>
    </p:spTree>
    <p:extLst>
      <p:ext uri="{BB962C8B-B14F-4D97-AF65-F5344CB8AC3E}">
        <p14:creationId xmlns:p14="http://schemas.microsoft.com/office/powerpoint/2010/main" val="23117492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a:t>
            </a:r>
            <a:r>
              <a:rPr lang="en-US" altLang="zh-CN" dirty="0"/>
              <a:t>:</a:t>
            </a:r>
            <a:r>
              <a:rPr lang="zh-CN" altLang="en-US" dirty="0"/>
              <a:t>条件语句</a:t>
            </a:r>
          </a:p>
        </p:txBody>
      </p:sp>
      <p:sp>
        <p:nvSpPr>
          <p:cNvPr id="3" name="内容占位符 2"/>
          <p:cNvSpPr>
            <a:spLocks noGrp="1"/>
          </p:cNvSpPr>
          <p:nvPr>
            <p:ph idx="1"/>
          </p:nvPr>
        </p:nvSpPr>
        <p:spPr>
          <a:xfrm>
            <a:off x="847725" y="1098460"/>
            <a:ext cx="10515600" cy="5492839"/>
          </a:xfrm>
        </p:spPr>
        <p:txBody>
          <a:bodyPr>
            <a:normAutofit/>
          </a:bodyPr>
          <a:lstStyle/>
          <a:p>
            <a:pPr>
              <a:lnSpc>
                <a:spcPct val="80000"/>
              </a:lnSpc>
            </a:pPr>
            <a:r>
              <a:rPr lang="en-US" altLang="zh-CN" sz="2000" dirty="0"/>
              <a:t>If</a:t>
            </a:r>
            <a:r>
              <a:rPr lang="zh-CN" altLang="en-US" sz="2000" dirty="0"/>
              <a:t>判断命令语法结构</a:t>
            </a:r>
          </a:p>
          <a:p>
            <a:pPr lvl="1">
              <a:lnSpc>
                <a:spcPct val="80000"/>
              </a:lnSpc>
            </a:pPr>
            <a:r>
              <a:rPr lang="en-US" altLang="zh-CN" sz="2000" b="1" dirty="0"/>
              <a:t>if TEST-COMMANDS; then CONSEQUENT-COMMANDS;[else ELSE-</a:t>
            </a:r>
            <a:r>
              <a:rPr lang="en-US" altLang="zh-CN" sz="2000" b="1" dirty="0" err="1"/>
              <a:t>Commnds</a:t>
            </a:r>
            <a:r>
              <a:rPr lang="en-US" altLang="zh-CN" sz="2000" b="1" dirty="0"/>
              <a:t>;] fi</a:t>
            </a:r>
            <a:r>
              <a:rPr lang="en-US" altLang="zh-CN" sz="2000" dirty="0"/>
              <a:t> </a:t>
            </a:r>
          </a:p>
          <a:p>
            <a:pPr lvl="2">
              <a:lnSpc>
                <a:spcPct val="80000"/>
              </a:lnSpc>
            </a:pPr>
            <a:r>
              <a:rPr lang="zh-CN" altLang="en-US" dirty="0"/>
              <a:t>注意上面在写在一整行里的</a:t>
            </a:r>
            <a:r>
              <a:rPr lang="en-US" altLang="zh-CN" dirty="0"/>
              <a:t>,</a:t>
            </a:r>
            <a:r>
              <a:rPr lang="zh-CN" altLang="en-US" dirty="0"/>
              <a:t>所以在</a:t>
            </a:r>
            <a:r>
              <a:rPr lang="en-US" altLang="zh-CN" dirty="0"/>
              <a:t>if then fi</a:t>
            </a:r>
            <a:r>
              <a:rPr lang="zh-CN" altLang="en-US" dirty="0"/>
              <a:t>三个命令之间要加入</a:t>
            </a:r>
            <a:r>
              <a:rPr lang="en-US" altLang="zh-CN" dirty="0"/>
              <a:t>;</a:t>
            </a:r>
          </a:p>
          <a:p>
            <a:pPr lvl="1">
              <a:lnSpc>
                <a:spcPct val="80000"/>
              </a:lnSpc>
            </a:pPr>
            <a:r>
              <a:rPr lang="zh-CN" altLang="en-US" sz="2000" dirty="0"/>
              <a:t>如果是多行定义</a:t>
            </a:r>
            <a:r>
              <a:rPr lang="en-US" altLang="zh-CN" sz="2000" dirty="0"/>
              <a:t>;</a:t>
            </a:r>
            <a:r>
              <a:rPr lang="zh-CN" altLang="en-US" sz="2000" dirty="0"/>
              <a:t>不是必要的</a:t>
            </a:r>
            <a:r>
              <a:rPr lang="en-US" altLang="zh-CN" sz="2000" dirty="0"/>
              <a:t>,</a:t>
            </a:r>
            <a:r>
              <a:rPr lang="zh-CN" altLang="en-US" sz="2000" dirty="0"/>
              <a:t>如下面定义</a:t>
            </a:r>
          </a:p>
          <a:p>
            <a:pPr lvl="2">
              <a:lnSpc>
                <a:spcPct val="80000"/>
              </a:lnSpc>
              <a:buFont typeface="Wingdings" panose="05000000000000000000" pitchFamily="2" charset="2"/>
              <a:buNone/>
            </a:pPr>
            <a:r>
              <a:rPr lang="en-US" altLang="zh-CN" b="1" dirty="0"/>
              <a:t>if TEST-COMMANDS</a:t>
            </a:r>
          </a:p>
          <a:p>
            <a:pPr lvl="2">
              <a:lnSpc>
                <a:spcPct val="80000"/>
              </a:lnSpc>
              <a:buFont typeface="Wingdings" panose="05000000000000000000" pitchFamily="2" charset="2"/>
              <a:buNone/>
            </a:pPr>
            <a:r>
              <a:rPr lang="en-US" altLang="zh-CN" b="1" dirty="0"/>
              <a:t> then CONSEQUENT-COMMANDS</a:t>
            </a:r>
          </a:p>
          <a:p>
            <a:pPr lvl="2">
              <a:lnSpc>
                <a:spcPct val="80000"/>
              </a:lnSpc>
              <a:buFont typeface="Wingdings" panose="05000000000000000000" pitchFamily="2" charset="2"/>
              <a:buNone/>
            </a:pPr>
            <a:r>
              <a:rPr lang="en-US" altLang="zh-CN" b="1" dirty="0"/>
              <a:t> fi</a:t>
            </a:r>
            <a:r>
              <a:rPr lang="en-US" altLang="zh-CN" dirty="0"/>
              <a:t> </a:t>
            </a:r>
          </a:p>
          <a:p>
            <a:pPr>
              <a:lnSpc>
                <a:spcPct val="80000"/>
              </a:lnSpc>
            </a:pPr>
            <a:r>
              <a:rPr lang="en-US" altLang="zh-CN" sz="2000" dirty="0"/>
              <a:t>TEST-COMMANDS</a:t>
            </a:r>
            <a:r>
              <a:rPr lang="zh-CN" altLang="en-US" sz="2000" dirty="0"/>
              <a:t>多是一些固定检测</a:t>
            </a:r>
            <a:r>
              <a:rPr lang="en-US" altLang="zh-CN" sz="2000" dirty="0"/>
              <a:t>,</a:t>
            </a:r>
            <a:r>
              <a:rPr lang="zh-CN" altLang="en-US" sz="2000" dirty="0"/>
              <a:t>包含在</a:t>
            </a:r>
            <a:r>
              <a:rPr lang="en-US" altLang="zh-CN" sz="2000" dirty="0"/>
              <a:t>test </a:t>
            </a:r>
            <a:r>
              <a:rPr lang="zh-CN" altLang="en-US" sz="2000" dirty="0"/>
              <a:t>或</a:t>
            </a:r>
            <a:r>
              <a:rPr lang="en-US" altLang="zh-CN" sz="2000" dirty="0"/>
              <a:t>[]</a:t>
            </a:r>
            <a:r>
              <a:rPr lang="zh-CN" altLang="en-US" sz="2000" dirty="0"/>
              <a:t>之中</a:t>
            </a:r>
            <a:r>
              <a:rPr lang="en-US" altLang="zh-CN" sz="2000" dirty="0"/>
              <a:t>,</a:t>
            </a:r>
            <a:r>
              <a:rPr lang="zh-CN" altLang="en-US" sz="2000" dirty="0"/>
              <a:t>在下一节会详细讲解</a:t>
            </a:r>
          </a:p>
          <a:p>
            <a:pPr lvl="1">
              <a:lnSpc>
                <a:spcPct val="80000"/>
              </a:lnSpc>
            </a:pPr>
            <a:r>
              <a:rPr lang="en-US" altLang="zh-CN" sz="2000" b="1" dirty="0"/>
              <a:t>[ -a FILE ]</a:t>
            </a:r>
            <a:r>
              <a:rPr lang="en-US" altLang="zh-CN" sz="2000" dirty="0"/>
              <a:t> </a:t>
            </a:r>
            <a:r>
              <a:rPr lang="zh-CN" altLang="en-US" sz="2000" dirty="0"/>
              <a:t>如果 </a:t>
            </a:r>
            <a:r>
              <a:rPr lang="en-US" altLang="zh-CN" sz="2000" dirty="0"/>
              <a:t>FILE </a:t>
            </a:r>
            <a:r>
              <a:rPr lang="zh-CN" altLang="en-US" sz="2000" dirty="0"/>
              <a:t>存在则为真。</a:t>
            </a:r>
            <a:r>
              <a:rPr lang="en-US" altLang="zh-CN" sz="2000" dirty="0"/>
              <a:t>Test </a:t>
            </a:r>
            <a:r>
              <a:rPr lang="en-US" altLang="zh-CN" sz="2000" dirty="0">
                <a:latin typeface="Arial" panose="020B0604020202020204" pitchFamily="34" charset="0"/>
              </a:rPr>
              <a:t>–</a:t>
            </a:r>
            <a:r>
              <a:rPr lang="en-US" altLang="zh-CN" sz="2000" dirty="0"/>
              <a:t>a FILE</a:t>
            </a:r>
          </a:p>
          <a:p>
            <a:pPr lvl="1">
              <a:lnSpc>
                <a:spcPct val="80000"/>
              </a:lnSpc>
            </a:pPr>
            <a:r>
              <a:rPr lang="en-US" altLang="zh-CN" sz="2000" b="1" dirty="0"/>
              <a:t>test -z STRING</a:t>
            </a:r>
            <a:r>
              <a:rPr lang="en-US" altLang="zh-CN" sz="2000" dirty="0"/>
              <a:t>  </a:t>
            </a:r>
            <a:r>
              <a:rPr lang="en-US" altLang="zh-CN" sz="2000" dirty="0">
                <a:latin typeface="Arial" panose="020B0604020202020204" pitchFamily="34" charset="0"/>
              </a:rPr>
              <a:t>“</a:t>
            </a:r>
            <a:r>
              <a:rPr lang="en-US" altLang="zh-CN" sz="2000" dirty="0"/>
              <a:t>STRING</a:t>
            </a:r>
            <a:r>
              <a:rPr lang="en-US" altLang="zh-CN" sz="2000" dirty="0">
                <a:latin typeface="Arial" panose="020B0604020202020204" pitchFamily="34" charset="0"/>
              </a:rPr>
              <a:t>”</a:t>
            </a:r>
            <a:r>
              <a:rPr lang="en-US" altLang="zh-CN" sz="2000" dirty="0"/>
              <a:t> </a:t>
            </a:r>
            <a:r>
              <a:rPr lang="zh-CN" altLang="en-US" sz="2000" dirty="0"/>
              <a:t>的长度为零则为真。</a:t>
            </a:r>
          </a:p>
          <a:p>
            <a:pPr>
              <a:lnSpc>
                <a:spcPct val="80000"/>
              </a:lnSpc>
            </a:pPr>
            <a:r>
              <a:rPr lang="en-US" altLang="zh-CN" sz="2000" dirty="0"/>
              <a:t>if/then/</a:t>
            </a:r>
            <a:r>
              <a:rPr lang="en-US" altLang="zh-CN" sz="2000" dirty="0" err="1"/>
              <a:t>elif</a:t>
            </a:r>
            <a:r>
              <a:rPr lang="en-US" altLang="zh-CN" sz="2000" dirty="0"/>
              <a:t>/fi </a:t>
            </a:r>
            <a:r>
              <a:rPr lang="zh-CN" altLang="en-US" sz="2000" dirty="0"/>
              <a:t>用来表示更复杂的结构</a:t>
            </a:r>
            <a:r>
              <a:rPr lang="en-US" altLang="zh-CN" sz="2000" dirty="0"/>
              <a:t>,</a:t>
            </a:r>
            <a:r>
              <a:rPr lang="zh-CN" altLang="en-US" sz="2000" dirty="0"/>
              <a:t>这跟</a:t>
            </a:r>
            <a:r>
              <a:rPr lang="en-US" altLang="zh-CN" sz="2000" dirty="0"/>
              <a:t>C</a:t>
            </a:r>
            <a:r>
              <a:rPr lang="zh-CN" altLang="en-US" sz="2000" dirty="0"/>
              <a:t>语言的的</a:t>
            </a:r>
            <a:r>
              <a:rPr lang="en-US" altLang="zh-CN" sz="2000" dirty="0"/>
              <a:t>if() else if () </a:t>
            </a:r>
            <a:r>
              <a:rPr lang="zh-CN" altLang="en-US" sz="2000" dirty="0"/>
              <a:t>类似</a:t>
            </a:r>
          </a:p>
          <a:p>
            <a:pPr>
              <a:lnSpc>
                <a:spcPct val="80000"/>
              </a:lnSpc>
            </a:pPr>
            <a:r>
              <a:rPr lang="en-US" altLang="zh-CN" sz="2000" dirty="0"/>
              <a:t>if/then/else/fi </a:t>
            </a:r>
            <a:r>
              <a:rPr lang="zh-CN" altLang="en-US" sz="2000" dirty="0"/>
              <a:t>可以简化成 </a:t>
            </a:r>
            <a:r>
              <a:rPr lang="en-US" altLang="zh-CN" sz="2000" dirty="0"/>
              <a:t>[ expr ] &amp;&amp; </a:t>
            </a:r>
            <a:r>
              <a:rPr lang="en-US" altLang="zh-CN" sz="2000" dirty="0" err="1"/>
              <a:t>true_command</a:t>
            </a:r>
            <a:r>
              <a:rPr lang="en-US" altLang="zh-CN" sz="2000" dirty="0"/>
              <a:t> || </a:t>
            </a:r>
            <a:r>
              <a:rPr lang="en-US" altLang="zh-CN" sz="2000" dirty="0" err="1"/>
              <a:t>false_command</a:t>
            </a:r>
            <a:r>
              <a:rPr lang="en-US" altLang="zh-CN" sz="2000" dirty="0"/>
              <a:t>,</a:t>
            </a:r>
            <a:r>
              <a:rPr lang="zh-CN" altLang="en-US" sz="2000" dirty="0"/>
              <a:t>这样更简洁</a:t>
            </a:r>
            <a:r>
              <a:rPr lang="en-US" altLang="zh-CN" sz="2000" dirty="0"/>
              <a:t>,</a:t>
            </a:r>
            <a:r>
              <a:rPr lang="zh-CN" altLang="en-US" sz="2000" dirty="0"/>
              <a:t>但也更能看懂</a:t>
            </a:r>
          </a:p>
          <a:p>
            <a:pPr lvl="1">
              <a:lnSpc>
                <a:spcPct val="80000"/>
              </a:lnSpc>
            </a:pPr>
            <a:r>
              <a:rPr lang="en-US" altLang="zh-CN" sz="2000" dirty="0"/>
              <a:t>[ -a hello.txt ] &amp;&amp; echo true || echo false </a:t>
            </a:r>
          </a:p>
          <a:p>
            <a:pPr lvl="1">
              <a:lnSpc>
                <a:spcPct val="80000"/>
              </a:lnSpc>
            </a:pPr>
            <a:r>
              <a:rPr lang="zh-CN" altLang="en-US" sz="2000" dirty="0"/>
              <a:t>等同</a:t>
            </a:r>
            <a:r>
              <a:rPr lang="zh-CN" altLang="en-US" sz="2000" dirty="0" smtClean="0"/>
              <a:t>于</a:t>
            </a:r>
            <a:r>
              <a:rPr lang="en-US" altLang="zh-CN" sz="2000" dirty="0" smtClean="0"/>
              <a:t>If </a:t>
            </a:r>
            <a:r>
              <a:rPr lang="en-US" altLang="zh-CN" sz="2000" dirty="0"/>
              <a:t>[ -a hello.txt ]; then echo </a:t>
            </a:r>
            <a:r>
              <a:rPr lang="en-US" altLang="zh-CN" sz="2000" dirty="0" err="1"/>
              <a:t>true;else</a:t>
            </a:r>
            <a:r>
              <a:rPr lang="en-US" altLang="zh-CN" sz="2000" dirty="0"/>
              <a:t> echo false </a:t>
            </a:r>
          </a:p>
          <a:p>
            <a:pPr marL="0" indent="0">
              <a:buNone/>
            </a:pPr>
            <a:endParaRPr lang="zh-CN" altLang="en-US" sz="2000" dirty="0"/>
          </a:p>
        </p:txBody>
      </p:sp>
    </p:spTree>
    <p:extLst>
      <p:ext uri="{BB962C8B-B14F-4D97-AF65-F5344CB8AC3E}">
        <p14:creationId xmlns:p14="http://schemas.microsoft.com/office/powerpoint/2010/main" val="34166063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条件判断式</a:t>
            </a:r>
          </a:p>
        </p:txBody>
      </p:sp>
      <p:sp>
        <p:nvSpPr>
          <p:cNvPr id="3" name="内容占位符 2"/>
          <p:cNvSpPr>
            <a:spLocks noGrp="1"/>
          </p:cNvSpPr>
          <p:nvPr>
            <p:ph idx="1"/>
          </p:nvPr>
        </p:nvSpPr>
        <p:spPr>
          <a:xfrm>
            <a:off x="838200" y="1493949"/>
            <a:ext cx="10515600" cy="5164428"/>
          </a:xfrm>
        </p:spPr>
        <p:txBody>
          <a:bodyPr>
            <a:normAutofit/>
          </a:bodyPr>
          <a:lstStyle/>
          <a:p>
            <a:pPr>
              <a:lnSpc>
                <a:spcPct val="80000"/>
              </a:lnSpc>
            </a:pPr>
            <a:r>
              <a:rPr lang="zh-CN" altLang="en-US" sz="2400" dirty="0"/>
              <a:t>我们来看繁多的</a:t>
            </a:r>
            <a:r>
              <a:rPr lang="en-US" altLang="zh-CN" sz="2400" dirty="0"/>
              <a:t>test</a:t>
            </a:r>
            <a:r>
              <a:rPr lang="zh-CN" altLang="en-US" sz="2400" dirty="0"/>
              <a:t>测试表达式</a:t>
            </a:r>
            <a:r>
              <a:rPr lang="en-US" altLang="zh-CN" sz="2400" dirty="0"/>
              <a:t>,</a:t>
            </a:r>
            <a:r>
              <a:rPr lang="zh-CN" altLang="en-US" sz="2400" dirty="0"/>
              <a:t>他们出现</a:t>
            </a:r>
            <a:r>
              <a:rPr lang="en-US" altLang="zh-CN" sz="2400" dirty="0" err="1"/>
              <a:t>if,while,case</a:t>
            </a:r>
            <a:r>
              <a:rPr lang="zh-CN" altLang="en-US" sz="2400" dirty="0"/>
              <a:t>的条件判断位置</a:t>
            </a:r>
            <a:r>
              <a:rPr lang="en-US" altLang="zh-CN" sz="2400" dirty="0"/>
              <a:t>. </a:t>
            </a:r>
          </a:p>
          <a:p>
            <a:pPr>
              <a:lnSpc>
                <a:spcPct val="80000"/>
              </a:lnSpc>
            </a:pPr>
            <a:r>
              <a:rPr lang="zh-CN" altLang="en-US" sz="2400" dirty="0"/>
              <a:t>条件表达式是有两种等效的格式</a:t>
            </a:r>
            <a:r>
              <a:rPr lang="en-US" altLang="zh-CN" sz="2400" dirty="0"/>
              <a:t>,</a:t>
            </a:r>
            <a:r>
              <a:rPr lang="zh-CN" altLang="en-US" sz="2400" dirty="0"/>
              <a:t>一种是 </a:t>
            </a:r>
            <a:r>
              <a:rPr lang="en-US" altLang="zh-CN" sz="2400" dirty="0"/>
              <a:t>test expr ,</a:t>
            </a:r>
            <a:r>
              <a:rPr lang="zh-CN" altLang="en-US" sz="2400" dirty="0"/>
              <a:t>还是有一种是 </a:t>
            </a:r>
            <a:r>
              <a:rPr lang="en-US" altLang="zh-CN" sz="2400" dirty="0"/>
              <a:t>[ expr ] ,</a:t>
            </a:r>
          </a:p>
          <a:p>
            <a:pPr lvl="1">
              <a:lnSpc>
                <a:spcPct val="80000"/>
              </a:lnSpc>
            </a:pPr>
            <a:r>
              <a:rPr lang="en-US" altLang="zh-CN" dirty="0"/>
              <a:t>test </a:t>
            </a:r>
            <a:r>
              <a:rPr lang="zh-CN" altLang="en-US" dirty="0"/>
              <a:t>内嵌命令会根据对表达式 </a:t>
            </a:r>
            <a:r>
              <a:rPr lang="en-US" altLang="zh-CN" dirty="0"/>
              <a:t>expr </a:t>
            </a:r>
            <a:r>
              <a:rPr lang="zh-CN" altLang="en-US" dirty="0"/>
              <a:t>的计算结果来确定返回 </a:t>
            </a:r>
            <a:r>
              <a:rPr lang="en-US" altLang="zh-CN" dirty="0"/>
              <a:t>0</a:t>
            </a:r>
            <a:r>
              <a:rPr lang="zh-CN" altLang="en-US" dirty="0"/>
              <a:t>（成功）或 </a:t>
            </a:r>
            <a:r>
              <a:rPr lang="en-US" altLang="zh-CN" dirty="0"/>
              <a:t>1</a:t>
            </a:r>
            <a:r>
              <a:rPr lang="zh-CN" altLang="en-US" dirty="0"/>
              <a:t>（失败） 。</a:t>
            </a:r>
          </a:p>
          <a:p>
            <a:pPr lvl="1">
              <a:lnSpc>
                <a:spcPct val="80000"/>
              </a:lnSpc>
            </a:pPr>
            <a:r>
              <a:rPr lang="zh-CN" altLang="en-US" dirty="0"/>
              <a:t>可以通过显示 </a:t>
            </a:r>
            <a:r>
              <a:rPr lang="en-US" altLang="zh-CN" dirty="0"/>
              <a:t>$? </a:t>
            </a:r>
            <a:r>
              <a:rPr lang="zh-CN" altLang="en-US" dirty="0"/>
              <a:t>来检查返回值</a:t>
            </a:r>
          </a:p>
          <a:p>
            <a:pPr>
              <a:lnSpc>
                <a:spcPct val="80000"/>
              </a:lnSpc>
            </a:pPr>
            <a:r>
              <a:rPr lang="zh-CN" altLang="en-US" sz="2400" dirty="0"/>
              <a:t>在这里</a:t>
            </a:r>
            <a:r>
              <a:rPr lang="en-US" altLang="zh-CN" sz="2400" dirty="0"/>
              <a:t>test,[,]</a:t>
            </a:r>
            <a:r>
              <a:rPr lang="zh-CN" altLang="en-US" sz="2400" dirty="0"/>
              <a:t>都是命令</a:t>
            </a:r>
            <a:r>
              <a:rPr lang="en-US" altLang="zh-CN" sz="2400" dirty="0"/>
              <a:t>!</a:t>
            </a:r>
            <a:r>
              <a:rPr lang="zh-CN" altLang="en-US" sz="2400" dirty="0"/>
              <a:t>换句话说</a:t>
            </a:r>
            <a:r>
              <a:rPr lang="en-US" altLang="zh-CN" sz="2400" dirty="0"/>
              <a:t>,</a:t>
            </a:r>
            <a:r>
              <a:rPr lang="zh-CN" altLang="en-US" sz="2400" dirty="0"/>
              <a:t>它们必须与</a:t>
            </a:r>
            <a:r>
              <a:rPr lang="en-US" altLang="zh-CN" sz="2400" dirty="0"/>
              <a:t>expr</a:t>
            </a:r>
            <a:r>
              <a:rPr lang="zh-CN" altLang="en-US" sz="2400" dirty="0"/>
              <a:t>要隔着至少一个空格</a:t>
            </a:r>
            <a:r>
              <a:rPr lang="en-US" altLang="zh-CN" sz="2400" dirty="0"/>
              <a:t>.</a:t>
            </a:r>
            <a:r>
              <a:rPr lang="zh-CN" altLang="en-US" sz="2400" dirty="0"/>
              <a:t>象</a:t>
            </a:r>
            <a:r>
              <a:rPr lang="en-US" altLang="zh-CN" sz="2400" dirty="0"/>
              <a:t>C</a:t>
            </a:r>
            <a:r>
              <a:rPr lang="zh-CN" altLang="en-US" sz="2400" dirty="0"/>
              <a:t>语言一样</a:t>
            </a:r>
            <a:r>
              <a:rPr lang="en-US" altLang="zh-CN" sz="2400" dirty="0"/>
              <a:t>[expr]</a:t>
            </a:r>
            <a:r>
              <a:rPr lang="zh-CN" altLang="en-US" sz="2400" dirty="0"/>
              <a:t>的书写是错误的</a:t>
            </a:r>
            <a:r>
              <a:rPr lang="en-US" altLang="zh-CN" sz="2400" dirty="0"/>
              <a:t>,</a:t>
            </a:r>
            <a:r>
              <a:rPr lang="zh-CN" altLang="en-US" sz="2400" dirty="0"/>
              <a:t>而且从错误提示中很难看出这个问题来</a:t>
            </a:r>
            <a:r>
              <a:rPr lang="en-US" altLang="zh-CN" sz="2400" dirty="0"/>
              <a:t>.</a:t>
            </a:r>
            <a:r>
              <a:rPr lang="zh-CN" altLang="en-US" sz="2400" dirty="0"/>
              <a:t>这是</a:t>
            </a:r>
            <a:r>
              <a:rPr lang="en-US" altLang="zh-CN" sz="2400" dirty="0"/>
              <a:t>C</a:t>
            </a:r>
            <a:r>
              <a:rPr lang="zh-CN" altLang="en-US" sz="2400" dirty="0"/>
              <a:t>开发者要特别注意的</a:t>
            </a:r>
            <a:r>
              <a:rPr lang="en-US" altLang="zh-CN" sz="2400" dirty="0"/>
              <a:t>.</a:t>
            </a:r>
            <a:r>
              <a:rPr lang="zh-CN" altLang="en-US" sz="2400" dirty="0"/>
              <a:t>后面都是以</a:t>
            </a:r>
            <a:r>
              <a:rPr lang="en-US" altLang="zh-CN" sz="2400" dirty="0"/>
              <a:t>[]</a:t>
            </a:r>
            <a:r>
              <a:rPr lang="zh-CN" altLang="en-US" sz="2400" dirty="0"/>
              <a:t>为例来讲解条件判断表</a:t>
            </a:r>
          </a:p>
          <a:p>
            <a:pPr>
              <a:lnSpc>
                <a:spcPct val="80000"/>
              </a:lnSpc>
            </a:pPr>
            <a:r>
              <a:rPr lang="zh-CN" altLang="en-US" sz="2400" dirty="0"/>
              <a:t>条件判断分为几大类</a:t>
            </a:r>
            <a:endParaRPr lang="zh-CN" altLang="en-US" sz="2400" b="1" dirty="0"/>
          </a:p>
          <a:p>
            <a:pPr lvl="1">
              <a:lnSpc>
                <a:spcPct val="80000"/>
              </a:lnSpc>
            </a:pPr>
            <a:r>
              <a:rPr lang="zh-CN" altLang="en-US" b="1" dirty="0"/>
              <a:t>文件判断运算符</a:t>
            </a:r>
            <a:r>
              <a:rPr lang="en-US" altLang="zh-CN" b="1" dirty="0"/>
              <a:t>,</a:t>
            </a:r>
            <a:r>
              <a:rPr lang="zh-CN" altLang="en-US" dirty="0"/>
              <a:t>主要用于判断文件类型或是否存在的条件</a:t>
            </a:r>
            <a:endParaRPr lang="zh-CN" altLang="en-US" b="1" dirty="0"/>
          </a:p>
          <a:p>
            <a:pPr lvl="1">
              <a:lnSpc>
                <a:spcPct val="80000"/>
              </a:lnSpc>
            </a:pPr>
            <a:r>
              <a:rPr lang="zh-CN" altLang="en-US" b="1" dirty="0"/>
              <a:t>字符串比较运算符</a:t>
            </a:r>
            <a:r>
              <a:rPr lang="en-US" altLang="zh-CN" b="1" dirty="0"/>
              <a:t>,</a:t>
            </a:r>
            <a:r>
              <a:rPr lang="zh-CN" altLang="en-US" dirty="0"/>
              <a:t>主要为比较字符串是否相同</a:t>
            </a:r>
            <a:endParaRPr lang="zh-CN" altLang="en-US" b="1" dirty="0"/>
          </a:p>
          <a:p>
            <a:pPr lvl="1">
              <a:lnSpc>
                <a:spcPct val="80000"/>
              </a:lnSpc>
            </a:pPr>
            <a:r>
              <a:rPr lang="zh-CN" altLang="en-US" b="1" dirty="0"/>
              <a:t>算术比较运算符 </a:t>
            </a:r>
            <a:r>
              <a:rPr lang="en-US" altLang="zh-CN" dirty="0"/>
              <a:t>,</a:t>
            </a:r>
            <a:r>
              <a:rPr lang="zh-CN" altLang="en-US" dirty="0"/>
              <a:t>主要和于判断两个数之间大小关系</a:t>
            </a:r>
          </a:p>
          <a:p>
            <a:endParaRPr lang="zh-CN" altLang="en-US" sz="2400" dirty="0"/>
          </a:p>
        </p:txBody>
      </p:sp>
    </p:spTree>
    <p:extLst>
      <p:ext uri="{BB962C8B-B14F-4D97-AF65-F5344CB8AC3E}">
        <p14:creationId xmlns:p14="http://schemas.microsoft.com/office/powerpoint/2010/main" val="41336540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433" y="76200"/>
            <a:ext cx="10515600" cy="887370"/>
          </a:xfrm>
        </p:spPr>
        <p:txBody>
          <a:bodyPr/>
          <a:lstStyle/>
          <a:p>
            <a:r>
              <a:rPr lang="zh-CN" altLang="en-US" dirty="0"/>
              <a:t>条件判断式</a:t>
            </a:r>
            <a:r>
              <a:rPr lang="en-US" altLang="zh-CN" dirty="0" smtClean="0"/>
              <a:t>(</a:t>
            </a:r>
            <a:r>
              <a:rPr lang="zh-CN" altLang="en-US" dirty="0" smtClean="0"/>
              <a:t>续</a:t>
            </a:r>
            <a:r>
              <a:rPr lang="en-US" altLang="zh-CN" dirty="0" smtClean="0"/>
              <a:t>)</a:t>
            </a:r>
            <a:endParaRPr lang="zh-CN" altLang="en-US" dirty="0"/>
          </a:p>
        </p:txBody>
      </p:sp>
      <p:graphicFrame>
        <p:nvGraphicFramePr>
          <p:cNvPr id="4" name="Group 74"/>
          <p:cNvGraphicFramePr>
            <a:graphicFrameLocks noGrp="1"/>
          </p:cNvGraphicFramePr>
          <p:nvPr>
            <p:ph idx="1"/>
            <p:extLst>
              <p:ext uri="{D42A27DB-BD31-4B8C-83A1-F6EECF244321}">
                <p14:modId xmlns:p14="http://schemas.microsoft.com/office/powerpoint/2010/main" val="2379758071"/>
              </p:ext>
            </p:extLst>
          </p:nvPr>
        </p:nvGraphicFramePr>
        <p:xfrm>
          <a:off x="1777016" y="1172844"/>
          <a:ext cx="8362950" cy="5513706"/>
        </p:xfrm>
        <a:graphic>
          <a:graphicData uri="http://schemas.openxmlformats.org/drawingml/2006/table">
            <a:tbl>
              <a:tblPr>
                <a:tableStyleId>{775DCB02-9BB8-47FD-8907-85C794F793BA}</a:tableStyleId>
              </a:tblPr>
              <a:tblGrid>
                <a:gridCol w="2228850"/>
                <a:gridCol w="3019425"/>
                <a:gridCol w="3114675"/>
              </a:tblGrid>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运算符 </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描述 </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示例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90538">
                <a:tc gridSpan="3">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文件比较运算符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hMerge="1">
                  <a:txBody>
                    <a:bodyPr/>
                    <a:lstStyle/>
                    <a:p>
                      <a:endParaRPr lang="zh-CN" altLang="en-US"/>
                    </a:p>
                  </a:txBody>
                  <a:tcPr/>
                </a:tc>
                <a:tc hMerge="1">
                  <a:txBody>
                    <a:bodyPr/>
                    <a:lstStyle/>
                    <a:p>
                      <a:endParaRPr lang="zh-CN" altLang="en-US"/>
                    </a:p>
                  </a:txBody>
                  <a:tcPr/>
                </a:tc>
              </a:tr>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-e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存在，则为真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-e /var/log/syslog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-d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为目录，则为真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-d /tmp/mydir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243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-f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为常规文件，则为真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-f /usr/bin/grep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-L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为符号链接，则为真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-L /usr/bin/grep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243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-r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可读，则为真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-r /var/log/syslog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-w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可写，则为真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-w /var/mytmp.txt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08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-x filename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a:t>
                      </a:r>
                      <a:r>
                        <a:rPr kumimoji="0" lang="zh-CN" altLang="en-US" sz="1600" u="none" strike="noStrike" cap="none" normalizeH="0" baseline="0" smtClean="0">
                          <a:ln>
                            <a:noFill/>
                          </a:ln>
                          <a:effectLst/>
                        </a:rPr>
                        <a:t>可执行，则为真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-x /usr/bin/grep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5613">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filename1-nt filename2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filename1</a:t>
                      </a:r>
                      <a:r>
                        <a:rPr kumimoji="0" lang="zh-CN" altLang="en-US" sz="1600" u="none" strike="noStrike" cap="none" normalizeH="0" baseline="0" smtClean="0">
                          <a:ln>
                            <a:noFill/>
                          </a:ln>
                          <a:effectLst/>
                        </a:rPr>
                        <a:t>比 </a:t>
                      </a:r>
                      <a:r>
                        <a:rPr kumimoji="0" lang="en-US" altLang="zh-CN" sz="1600" u="none" strike="noStrike" cap="none" normalizeH="0" baseline="0" smtClean="0">
                          <a:ln>
                            <a:noFill/>
                          </a:ln>
                          <a:effectLst/>
                        </a:rPr>
                        <a:t>filename2</a:t>
                      </a:r>
                      <a:r>
                        <a:rPr kumimoji="0" lang="zh-CN" altLang="en-US" sz="1600" u="none" strike="noStrike" cap="none" normalizeH="0" baseline="0" smtClean="0">
                          <a:ln>
                            <a:noFill/>
                          </a:ln>
                          <a:effectLst/>
                        </a:rPr>
                        <a:t>新，则为真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/tmp/install/etc/services -nt /etc/services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54025">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filename1-ot filename2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filename1</a:t>
                      </a:r>
                      <a:r>
                        <a:rPr kumimoji="0" lang="zh-CN" altLang="en-US" sz="1600" u="none" strike="noStrike" cap="none" normalizeH="0" baseline="0" smtClean="0">
                          <a:ln>
                            <a:noFill/>
                          </a:ln>
                          <a:effectLst/>
                        </a:rPr>
                        <a:t>比 </a:t>
                      </a:r>
                      <a:r>
                        <a:rPr kumimoji="0" lang="en-US" altLang="zh-CN" sz="1600" u="none" strike="noStrike" cap="none" normalizeH="0" baseline="0" smtClean="0">
                          <a:ln>
                            <a:noFill/>
                          </a:ln>
                          <a:effectLst/>
                        </a:rPr>
                        <a:t>filename2</a:t>
                      </a:r>
                      <a:r>
                        <a:rPr kumimoji="0" lang="zh-CN" altLang="en-US" sz="1600" u="none" strike="noStrike" cap="none" normalizeH="0" baseline="0" smtClean="0">
                          <a:ln>
                            <a:noFill/>
                          </a:ln>
                          <a:effectLst/>
                        </a:rPr>
                        <a:t>旧，则为真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smtClean="0">
                          <a:ln>
                            <a:noFill/>
                          </a:ln>
                          <a:effectLst/>
                        </a:rPr>
                        <a:t>[ /boot/</a:t>
                      </a:r>
                      <a:r>
                        <a:rPr kumimoji="0" lang="en-US" altLang="zh-CN" sz="1600" u="none" strike="noStrike" cap="none" normalizeH="0" baseline="0" dirty="0" err="1" smtClean="0">
                          <a:ln>
                            <a:noFill/>
                          </a:ln>
                          <a:effectLst/>
                        </a:rPr>
                        <a:t>bzImage</a:t>
                      </a:r>
                      <a:r>
                        <a:rPr kumimoji="0" lang="en-US" altLang="zh-CN" sz="1600" u="none" strike="noStrike" cap="none" normalizeH="0" baseline="0" dirty="0" smtClean="0">
                          <a:ln>
                            <a:noFill/>
                          </a:ln>
                          <a:effectLst/>
                        </a:rPr>
                        <a:t> -</a:t>
                      </a:r>
                      <a:r>
                        <a:rPr kumimoji="0" lang="en-US" altLang="zh-CN" sz="1600" u="none" strike="noStrike" cap="none" normalizeH="0" baseline="0" dirty="0" err="1" smtClean="0">
                          <a:ln>
                            <a:noFill/>
                          </a:ln>
                          <a:effectLst/>
                        </a:rPr>
                        <a:t>ot</a:t>
                      </a:r>
                      <a:r>
                        <a:rPr kumimoji="0" lang="en-US" altLang="zh-CN" sz="1600" u="none" strike="noStrike" cap="none" normalizeH="0" baseline="0" dirty="0" smtClean="0">
                          <a:ln>
                            <a:noFill/>
                          </a:ln>
                          <a:effectLst/>
                        </a:rPr>
                        <a:t> arch/i386/boot/</a:t>
                      </a:r>
                      <a:r>
                        <a:rPr kumimoji="0" lang="en-US" altLang="zh-CN" sz="1600" u="none" strike="noStrike" cap="none" normalizeH="0" baseline="0" dirty="0" err="1" smtClean="0">
                          <a:ln>
                            <a:noFill/>
                          </a:ln>
                          <a:effectLst/>
                        </a:rPr>
                        <a:t>bzImage</a:t>
                      </a:r>
                      <a:r>
                        <a:rPr kumimoji="0" lang="en-US" altLang="zh-CN" sz="1600" u="none" strike="noStrike" cap="none" normalizeH="0" baseline="0" dirty="0" smtClean="0">
                          <a:ln>
                            <a:noFill/>
                          </a:ln>
                          <a:effectLst/>
                        </a:rPr>
                        <a:t> ]</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bl>
          </a:graphicData>
        </a:graphic>
      </p:graphicFrame>
    </p:spTree>
    <p:extLst>
      <p:ext uri="{BB962C8B-B14F-4D97-AF65-F5344CB8AC3E}">
        <p14:creationId xmlns:p14="http://schemas.microsoft.com/office/powerpoint/2010/main" val="37273106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619" y="-111391"/>
            <a:ext cx="10515600" cy="1325563"/>
          </a:xfrm>
        </p:spPr>
        <p:txBody>
          <a:bodyPr/>
          <a:lstStyle/>
          <a:p>
            <a:r>
              <a:rPr lang="zh-CN" altLang="en-US" dirty="0"/>
              <a:t>条件判断式</a:t>
            </a:r>
            <a:r>
              <a:rPr lang="en-US" altLang="zh-CN" dirty="0" smtClean="0"/>
              <a:t>(</a:t>
            </a:r>
            <a:r>
              <a:rPr lang="zh-CN" altLang="en-US" dirty="0" smtClean="0"/>
              <a:t>续</a:t>
            </a:r>
            <a:r>
              <a:rPr lang="en-US" altLang="zh-CN" dirty="0" smtClean="0"/>
              <a:t>)</a:t>
            </a:r>
            <a:endParaRPr lang="zh-CN" altLang="en-US" dirty="0"/>
          </a:p>
        </p:txBody>
      </p:sp>
      <p:graphicFrame>
        <p:nvGraphicFramePr>
          <p:cNvPr id="4" name="Group 150"/>
          <p:cNvGraphicFramePr>
            <a:graphicFrameLocks noGrp="1"/>
          </p:cNvGraphicFramePr>
          <p:nvPr>
            <p:ph idx="1"/>
            <p:extLst>
              <p:ext uri="{D42A27DB-BD31-4B8C-83A1-F6EECF244321}">
                <p14:modId xmlns:p14="http://schemas.microsoft.com/office/powerpoint/2010/main" val="3174346257"/>
              </p:ext>
            </p:extLst>
          </p:nvPr>
        </p:nvGraphicFramePr>
        <p:xfrm>
          <a:off x="1896145" y="924877"/>
          <a:ext cx="8362950" cy="5705161"/>
        </p:xfrm>
        <a:graphic>
          <a:graphicData uri="http://schemas.openxmlformats.org/drawingml/2006/table">
            <a:tbl>
              <a:tblPr>
                <a:tableStyleId>{775DCB02-9BB8-47FD-8907-85C794F793BA}</a:tableStyleId>
              </a:tblPr>
              <a:tblGrid>
                <a:gridCol w="2228850"/>
                <a:gridCol w="3019425"/>
                <a:gridCol w="3114675"/>
              </a:tblGrid>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运算符 </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描述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示例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6400">
                <a:tc gridSpan="3">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字符串比较运算符 （请注意引号的使用，这是防止空格扰乱代码的好方法）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hMerge="1">
                  <a:txBody>
                    <a:bodyPr/>
                    <a:lstStyle/>
                    <a:p>
                      <a:endParaRPr lang="zh-CN" altLang="en-US"/>
                    </a:p>
                  </a:txBody>
                  <a:tcPr/>
                </a:tc>
                <a:tc hMerge="1">
                  <a:txBody>
                    <a:bodyPr/>
                    <a:lstStyle/>
                    <a:p>
                      <a:endParaRPr lang="zh-CN" altLang="en-US"/>
                    </a:p>
                  </a:txBody>
                  <a:tcPr/>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-z string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string</a:t>
                      </a:r>
                      <a:r>
                        <a:rPr kumimoji="0" lang="zh-CN" altLang="en-US" sz="1600" u="none" strike="noStrike" cap="none" normalizeH="0" baseline="0" smtClean="0">
                          <a:ln>
                            <a:noFill/>
                          </a:ln>
                          <a:effectLst/>
                        </a:rPr>
                        <a:t>长度为零，则为真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-z "$myvar"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3225">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 string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string</a:t>
                      </a:r>
                      <a:r>
                        <a:rPr kumimoji="0" lang="zh-CN" altLang="en-US" sz="1600" u="none" strike="noStrike" cap="none" normalizeH="0" baseline="0" smtClean="0">
                          <a:ln>
                            <a:noFill/>
                          </a:ln>
                          <a:effectLst/>
                        </a:rPr>
                        <a:t>长度非零，则为真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-n "$myvar"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64770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smtClean="0">
                          <a:ln>
                            <a:noFill/>
                          </a:ln>
                          <a:effectLst/>
                        </a:rPr>
                        <a:t>string = string2 </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string1</a:t>
                      </a:r>
                      <a:r>
                        <a:rPr kumimoji="0" lang="zh-CN" altLang="en-US" sz="1600" u="none" strike="noStrike" cap="none" normalizeH="0" baseline="0" smtClean="0">
                          <a:ln>
                            <a:noFill/>
                          </a:ln>
                          <a:effectLst/>
                        </a:rPr>
                        <a:t>与 </a:t>
                      </a:r>
                      <a:r>
                        <a:rPr kumimoji="0" lang="en-US" altLang="zh-CN" sz="1600" u="none" strike="noStrike" cap="none" normalizeH="0" baseline="0" smtClean="0">
                          <a:ln>
                            <a:noFill/>
                          </a:ln>
                          <a:effectLst/>
                        </a:rPr>
                        <a:t>string2</a:t>
                      </a:r>
                      <a:r>
                        <a:rPr kumimoji="0" lang="zh-CN" altLang="en-US" sz="1600" u="none" strike="noStrike" cap="none" normalizeH="0" baseline="0" smtClean="0">
                          <a:ln>
                            <a:noFill/>
                          </a:ln>
                          <a:effectLst/>
                        </a:rPr>
                        <a:t>相同，则为真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"$myvar" = "one two three"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smtClean="0">
                          <a:ln>
                            <a:noFill/>
                          </a:ln>
                          <a:effectLst/>
                        </a:rPr>
                        <a:t>string1 != string2 </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如果 </a:t>
                      </a:r>
                      <a:r>
                        <a:rPr kumimoji="0" lang="en-US" altLang="zh-CN" sz="1600" u="none" strike="noStrike" cap="none" normalizeH="0" baseline="0" smtClean="0">
                          <a:ln>
                            <a:noFill/>
                          </a:ln>
                          <a:effectLst/>
                        </a:rPr>
                        <a:t>string1</a:t>
                      </a:r>
                      <a:r>
                        <a:rPr kumimoji="0" lang="zh-CN" altLang="en-US" sz="1600" u="none" strike="noStrike" cap="none" normalizeH="0" baseline="0" smtClean="0">
                          <a:ln>
                            <a:noFill/>
                          </a:ln>
                          <a:effectLst/>
                        </a:rPr>
                        <a:t>与 </a:t>
                      </a:r>
                      <a:r>
                        <a:rPr kumimoji="0" lang="en-US" altLang="zh-CN" sz="1600" u="none" strike="noStrike" cap="none" normalizeH="0" baseline="0" smtClean="0">
                          <a:ln>
                            <a:noFill/>
                          </a:ln>
                          <a:effectLst/>
                        </a:rPr>
                        <a:t>string2</a:t>
                      </a:r>
                      <a:r>
                        <a:rPr kumimoji="0" lang="zh-CN" altLang="en-US" sz="1600" u="none" strike="noStrike" cap="none" normalizeH="0" baseline="0" smtClean="0">
                          <a:ln>
                            <a:noFill/>
                          </a:ln>
                          <a:effectLst/>
                        </a:rPr>
                        <a:t>不同，则为真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"$myvar" != "one two three"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7988">
                <a:tc gridSpan="3">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算术比较运算符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hMerge="1">
                  <a:txBody>
                    <a:bodyPr/>
                    <a:lstStyle/>
                    <a:p>
                      <a:endParaRPr lang="zh-CN" altLang="en-US"/>
                    </a:p>
                  </a:txBody>
                  <a:tcPr/>
                </a:tc>
                <a:tc hMerge="1">
                  <a:txBody>
                    <a:bodyPr/>
                    <a:lstStyle/>
                    <a:p>
                      <a:endParaRPr lang="zh-CN" altLang="en-US"/>
                    </a:p>
                  </a:txBody>
                  <a:tcPr/>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num1-eq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等于</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[ 3 -eq $mynum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640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num1-ne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不等于</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[ 3 -ne $mynum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num1-lt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小于</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[ 3 -lt $mynum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num1-le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小于或等于</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[ 3 -le $mynum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640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num1-gt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大于</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[ 3 -gt $mynum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079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Num1 -ge num2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大于或等于</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smtClean="0">
                          <a:ln>
                            <a:noFill/>
                          </a:ln>
                          <a:effectLst/>
                        </a:rPr>
                        <a:t>[ 3 -</a:t>
                      </a:r>
                      <a:r>
                        <a:rPr kumimoji="0" lang="en-US" altLang="zh-CN" sz="1600" u="none" strike="noStrike" cap="none" normalizeH="0" baseline="0" dirty="0" err="1" smtClean="0">
                          <a:ln>
                            <a:noFill/>
                          </a:ln>
                          <a:effectLst/>
                        </a:rPr>
                        <a:t>ge</a:t>
                      </a:r>
                      <a:r>
                        <a:rPr kumimoji="0" lang="en-US" altLang="zh-CN" sz="1600" u="none" strike="noStrike" cap="none" normalizeH="0" baseline="0" dirty="0" smtClean="0">
                          <a:ln>
                            <a:noFill/>
                          </a:ln>
                          <a:effectLst/>
                        </a:rPr>
                        <a:t> $</a:t>
                      </a:r>
                      <a:r>
                        <a:rPr kumimoji="0" lang="en-US" altLang="zh-CN" sz="1600" u="none" strike="noStrike" cap="none" normalizeH="0" baseline="0" dirty="0" err="1" smtClean="0">
                          <a:ln>
                            <a:noFill/>
                          </a:ln>
                          <a:effectLst/>
                        </a:rPr>
                        <a:t>mynum</a:t>
                      </a:r>
                      <a:r>
                        <a:rPr kumimoji="0" lang="en-US" altLang="zh-CN" sz="1600" u="none" strike="noStrike" cap="none" normalizeH="0" baseline="0" dirty="0" smtClean="0">
                          <a:ln>
                            <a:noFill/>
                          </a:ln>
                          <a:effectLst/>
                        </a:rPr>
                        <a:t> ]</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bl>
          </a:graphicData>
        </a:graphic>
      </p:graphicFrame>
    </p:spTree>
    <p:extLst>
      <p:ext uri="{BB962C8B-B14F-4D97-AF65-F5344CB8AC3E}">
        <p14:creationId xmlns:p14="http://schemas.microsoft.com/office/powerpoint/2010/main" val="31976197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条件判断实例</a:t>
            </a:r>
          </a:p>
        </p:txBody>
      </p:sp>
      <p:sp>
        <p:nvSpPr>
          <p:cNvPr id="3" name="内容占位符 2"/>
          <p:cNvSpPr>
            <a:spLocks noGrp="1"/>
          </p:cNvSpPr>
          <p:nvPr>
            <p:ph idx="1"/>
          </p:nvPr>
        </p:nvSpPr>
        <p:spPr>
          <a:xfrm>
            <a:off x="838200" y="1339403"/>
            <a:ext cx="10515600" cy="4837560"/>
          </a:xfrm>
        </p:spPr>
        <p:txBody>
          <a:bodyPr>
            <a:normAutofit fontScale="92500" lnSpcReduction="10000"/>
          </a:bodyPr>
          <a:lstStyle/>
          <a:p>
            <a:r>
              <a:rPr lang="en-US" altLang="zh-CN" b="1" dirty="0"/>
              <a:t>test 3 -</a:t>
            </a:r>
            <a:r>
              <a:rPr lang="en-US" altLang="zh-CN" b="1" dirty="0" err="1"/>
              <a:t>gt</a:t>
            </a:r>
            <a:r>
              <a:rPr lang="en-US" altLang="zh-CN" b="1" dirty="0"/>
              <a:t> 4 &amp;&amp; echo True || echo false</a:t>
            </a:r>
            <a:endParaRPr lang="en-US" altLang="zh-CN" dirty="0"/>
          </a:p>
          <a:p>
            <a:pPr lvl="1"/>
            <a:r>
              <a:rPr lang="zh-CN" altLang="en-US" dirty="0"/>
              <a:t>判断</a:t>
            </a:r>
            <a:r>
              <a:rPr lang="en-US" altLang="zh-CN" dirty="0"/>
              <a:t>3</a:t>
            </a:r>
            <a:r>
              <a:rPr lang="zh-CN" altLang="en-US" dirty="0"/>
              <a:t>是否大于</a:t>
            </a:r>
            <a:r>
              <a:rPr lang="en-US" altLang="zh-CN" dirty="0"/>
              <a:t>4</a:t>
            </a:r>
          </a:p>
          <a:p>
            <a:r>
              <a:rPr lang="en-US" altLang="zh-CN" dirty="0"/>
              <a:t>if [ $? -</a:t>
            </a:r>
            <a:r>
              <a:rPr lang="en-US" altLang="zh-CN" dirty="0" err="1"/>
              <a:t>eq</a:t>
            </a:r>
            <a:r>
              <a:rPr lang="en-US" altLang="zh-CN" dirty="0"/>
              <a:t> 0 ]; then echo 'That was a good job!';if    </a:t>
            </a:r>
          </a:p>
          <a:p>
            <a:pPr lvl="1"/>
            <a:r>
              <a:rPr lang="zh-CN" altLang="en-US" dirty="0"/>
              <a:t>判断上一个程序返回值是否为</a:t>
            </a:r>
            <a:r>
              <a:rPr lang="en-US" altLang="zh-CN" dirty="0"/>
              <a:t>0</a:t>
            </a:r>
            <a:endParaRPr lang="en-US" altLang="zh-CN" b="1" dirty="0"/>
          </a:p>
          <a:p>
            <a:r>
              <a:rPr lang="en-US" altLang="zh-CN" b="1" dirty="0"/>
              <a:t>test -d "$HOME" ;echo $?</a:t>
            </a:r>
            <a:endParaRPr lang="en-US" altLang="zh-CN" dirty="0"/>
          </a:p>
          <a:p>
            <a:pPr lvl="1"/>
            <a:r>
              <a:rPr lang="zh-CN" altLang="en-US" dirty="0"/>
              <a:t>判断用户的主目录是否存在</a:t>
            </a:r>
            <a:endParaRPr lang="zh-CN" altLang="en-US" b="1" dirty="0"/>
          </a:p>
          <a:p>
            <a:r>
              <a:rPr lang="en-US" altLang="zh-CN" b="1" dirty="0"/>
              <a:t>test "</a:t>
            </a:r>
            <a:r>
              <a:rPr lang="en-US" altLang="zh-CN" b="1" dirty="0" err="1"/>
              <a:t>abc</a:t>
            </a:r>
            <a:r>
              <a:rPr lang="en-US" altLang="zh-CN" b="1" dirty="0"/>
              <a:t>" = "</a:t>
            </a:r>
            <a:r>
              <a:rPr lang="en-US" altLang="zh-CN" b="1" dirty="0" err="1"/>
              <a:t>def</a:t>
            </a:r>
            <a:r>
              <a:rPr lang="en-US" altLang="zh-CN" b="1" dirty="0"/>
              <a:t>" ;echo $?</a:t>
            </a:r>
            <a:endParaRPr lang="en-US" altLang="zh-CN" dirty="0"/>
          </a:p>
          <a:p>
            <a:pPr lvl="1"/>
            <a:r>
              <a:rPr lang="zh-CN" altLang="en-US" dirty="0"/>
              <a:t>判断两个字符串是否相等</a:t>
            </a:r>
            <a:endParaRPr lang="zh-CN" altLang="en-US" b="1" dirty="0"/>
          </a:p>
          <a:p>
            <a:r>
              <a:rPr lang="en-US" altLang="zh-CN" b="1" dirty="0"/>
              <a:t>[ -f hello.txt ] ;echo $?</a:t>
            </a:r>
            <a:endParaRPr lang="en-US" altLang="zh-CN" dirty="0"/>
          </a:p>
          <a:p>
            <a:pPr lvl="1"/>
            <a:r>
              <a:rPr lang="zh-CN" altLang="en-US" dirty="0"/>
              <a:t>判断文件</a:t>
            </a:r>
            <a:r>
              <a:rPr lang="en-US" altLang="zh-CN" dirty="0"/>
              <a:t>hello.txt</a:t>
            </a:r>
            <a:r>
              <a:rPr lang="zh-CN" altLang="en-US" dirty="0"/>
              <a:t>是否存在</a:t>
            </a:r>
          </a:p>
          <a:p>
            <a:endParaRPr lang="zh-CN" altLang="en-US" dirty="0"/>
          </a:p>
        </p:txBody>
      </p:sp>
    </p:spTree>
    <p:extLst>
      <p:ext uri="{BB962C8B-B14F-4D97-AF65-F5344CB8AC3E}">
        <p14:creationId xmlns:p14="http://schemas.microsoft.com/office/powerpoint/2010/main" val="37699507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If</a:t>
            </a:r>
            <a:r>
              <a:rPr lang="zh-CN" altLang="en-US" dirty="0"/>
              <a:t>实例</a:t>
            </a:r>
          </a:p>
        </p:txBody>
      </p:sp>
      <p:sp>
        <p:nvSpPr>
          <p:cNvPr id="3" name="内容占位符 2"/>
          <p:cNvSpPr>
            <a:spLocks noGrp="1"/>
          </p:cNvSpPr>
          <p:nvPr>
            <p:ph idx="1"/>
          </p:nvPr>
        </p:nvSpPr>
        <p:spPr>
          <a:xfrm>
            <a:off x="847724" y="1111338"/>
            <a:ext cx="10714149" cy="5293217"/>
          </a:xfrm>
        </p:spPr>
        <p:txBody>
          <a:bodyPr>
            <a:noAutofit/>
          </a:bodyPr>
          <a:lstStyle/>
          <a:p>
            <a:r>
              <a:rPr lang="zh-CN" altLang="en-US" sz="2000" dirty="0"/>
              <a:t>对上一个命令返回值作判断</a:t>
            </a:r>
          </a:p>
          <a:p>
            <a:pPr lvl="1"/>
            <a:r>
              <a:rPr lang="en-US" altLang="zh-CN" sz="2000" dirty="0"/>
              <a:t>#</a:t>
            </a:r>
            <a:r>
              <a:rPr lang="zh-CN" altLang="en-US" sz="2000" dirty="0"/>
              <a:t>查找本地密码文件是否包含当前用户</a:t>
            </a:r>
          </a:p>
          <a:p>
            <a:pPr lvl="1"/>
            <a:r>
              <a:rPr lang="en-US" altLang="zh-CN" sz="2000" dirty="0"/>
              <a:t>grep $USER /</a:t>
            </a:r>
            <a:r>
              <a:rPr lang="en-US" altLang="zh-CN" sz="2000" dirty="0" err="1"/>
              <a:t>etc</a:t>
            </a:r>
            <a:r>
              <a:rPr lang="en-US" altLang="zh-CN" sz="2000" dirty="0"/>
              <a:t>/</a:t>
            </a:r>
            <a:r>
              <a:rPr lang="en-US" altLang="zh-CN" sz="2000" dirty="0" err="1"/>
              <a:t>passwd</a:t>
            </a:r>
            <a:r>
              <a:rPr lang="en-US" altLang="zh-CN" sz="2000" dirty="0"/>
              <a:t> </a:t>
            </a:r>
          </a:p>
          <a:p>
            <a:pPr lvl="1"/>
            <a:r>
              <a:rPr lang="en-US" altLang="zh-CN" sz="2000" dirty="0"/>
              <a:t>if [ $? -ne 0 ] ; then echo "not a local account" ; fi </a:t>
            </a:r>
          </a:p>
          <a:p>
            <a:r>
              <a:rPr lang="zh-CN" altLang="en-US" sz="2000" dirty="0"/>
              <a:t>检测脚本执行是否有参数</a:t>
            </a:r>
          </a:p>
          <a:p>
            <a:pPr lvl="1"/>
            <a:r>
              <a:rPr lang="en-US" altLang="zh-CN" sz="2000" dirty="0"/>
              <a:t>if [ $# -</a:t>
            </a:r>
            <a:r>
              <a:rPr lang="en-US" altLang="zh-CN" sz="2000" dirty="0" err="1"/>
              <a:t>eq</a:t>
            </a:r>
            <a:r>
              <a:rPr lang="en-US" altLang="zh-CN" sz="2000" dirty="0"/>
              <a:t> 0 ]; then</a:t>
            </a:r>
          </a:p>
          <a:p>
            <a:pPr lvl="1"/>
            <a:r>
              <a:rPr lang="en-US" altLang="zh-CN" sz="2000" dirty="0"/>
              <a:t>   echo " $0 no parameter " &gt;&amp;2</a:t>
            </a:r>
          </a:p>
          <a:p>
            <a:pPr lvl="1"/>
            <a:r>
              <a:rPr lang="en-US" altLang="zh-CN" sz="2000" dirty="0"/>
              <a:t>   exit 1</a:t>
            </a:r>
          </a:p>
          <a:p>
            <a:pPr lvl="1"/>
            <a:r>
              <a:rPr lang="en-US" altLang="zh-CN" sz="2000" dirty="0" smtClean="0"/>
              <a:t>fi</a:t>
            </a:r>
            <a:endParaRPr lang="en-US" altLang="zh-CN" sz="2000" dirty="0"/>
          </a:p>
          <a:p>
            <a:r>
              <a:rPr lang="zh-CN" altLang="en-US" sz="2000" dirty="0"/>
              <a:t>字符串比较</a:t>
            </a:r>
          </a:p>
          <a:p>
            <a:pPr lvl="1">
              <a:buNone/>
            </a:pPr>
            <a:r>
              <a:rPr lang="en-US" altLang="zh-CN" sz="2000" dirty="0"/>
              <a:t>if [ "$(</a:t>
            </a:r>
            <a:r>
              <a:rPr lang="en-US" altLang="zh-CN" sz="2000" dirty="0" err="1"/>
              <a:t>whoami</a:t>
            </a:r>
            <a:r>
              <a:rPr lang="en-US" altLang="zh-CN" sz="2000" dirty="0"/>
              <a:t>)" != 'root' ]; then </a:t>
            </a:r>
          </a:p>
          <a:p>
            <a:pPr lvl="1">
              <a:buNone/>
            </a:pPr>
            <a:r>
              <a:rPr lang="en-US" altLang="zh-CN" sz="2000" dirty="0"/>
              <a:t>echo "You have no permission to run $0 as non-root user." </a:t>
            </a:r>
          </a:p>
          <a:p>
            <a:pPr lvl="1">
              <a:buNone/>
            </a:pPr>
            <a:r>
              <a:rPr lang="en-US" altLang="zh-CN" sz="2000" dirty="0"/>
              <a:t>exit 1; </a:t>
            </a:r>
          </a:p>
          <a:p>
            <a:pPr lvl="1">
              <a:buNone/>
            </a:pPr>
            <a:r>
              <a:rPr lang="en-US" altLang="zh-CN" sz="2000" dirty="0"/>
              <a:t>fi </a:t>
            </a:r>
          </a:p>
          <a:p>
            <a:pPr lvl="1"/>
            <a:r>
              <a:rPr lang="zh-CN" altLang="en-US" sz="2000" dirty="0"/>
              <a:t>上面等效于 </a:t>
            </a:r>
            <a:r>
              <a:rPr lang="en-US" altLang="zh-CN" sz="2000" dirty="0"/>
              <a:t>[ "$(</a:t>
            </a:r>
            <a:r>
              <a:rPr lang="en-US" altLang="zh-CN" sz="2000" dirty="0" err="1"/>
              <a:t>whoami</a:t>
            </a:r>
            <a:r>
              <a:rPr lang="en-US" altLang="zh-CN" sz="2000" dirty="0"/>
              <a:t>)" != 'root' ] &amp;&amp; ( echo you are using a non-privileged account; exit 1 ) </a:t>
            </a:r>
          </a:p>
          <a:p>
            <a:endParaRPr lang="zh-CN" altLang="en-US" sz="2000" dirty="0"/>
          </a:p>
        </p:txBody>
      </p:sp>
    </p:spTree>
    <p:extLst>
      <p:ext uri="{BB962C8B-B14F-4D97-AF65-F5344CB8AC3E}">
        <p14:creationId xmlns:p14="http://schemas.microsoft.com/office/powerpoint/2010/main" val="35332194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流程控制</a:t>
            </a:r>
            <a:r>
              <a:rPr lang="en-US" altLang="zh-CN" dirty="0" smtClean="0"/>
              <a:t>:</a:t>
            </a:r>
            <a:r>
              <a:rPr lang="zh-CN" altLang="en-US" dirty="0" smtClean="0"/>
              <a:t>多向分支</a:t>
            </a:r>
            <a:r>
              <a:rPr lang="en-US" altLang="zh-CN" dirty="0" smtClean="0"/>
              <a:t>Case</a:t>
            </a:r>
            <a:r>
              <a:rPr lang="zh-CN" altLang="en-US" dirty="0" smtClean="0"/>
              <a:t>语句</a:t>
            </a:r>
            <a:endParaRPr lang="zh-CN" altLang="en-US" dirty="0"/>
          </a:p>
        </p:txBody>
      </p:sp>
      <p:sp>
        <p:nvSpPr>
          <p:cNvPr id="3" name="内容占位符 2"/>
          <p:cNvSpPr>
            <a:spLocks noGrp="1"/>
          </p:cNvSpPr>
          <p:nvPr>
            <p:ph idx="1"/>
          </p:nvPr>
        </p:nvSpPr>
        <p:spPr>
          <a:xfrm>
            <a:off x="838200" y="1481070"/>
            <a:ext cx="10515600" cy="5035640"/>
          </a:xfrm>
        </p:spPr>
        <p:txBody>
          <a:bodyPr>
            <a:normAutofit/>
          </a:bodyPr>
          <a:lstStyle/>
          <a:p>
            <a:pPr>
              <a:lnSpc>
                <a:spcPct val="80000"/>
              </a:lnSpc>
            </a:pPr>
            <a:r>
              <a:rPr lang="zh-CN" altLang="en-US" sz="2400" dirty="0"/>
              <a:t>类似于</a:t>
            </a:r>
            <a:r>
              <a:rPr lang="en-US" altLang="zh-CN" sz="2400" dirty="0"/>
              <a:t>C</a:t>
            </a:r>
            <a:r>
              <a:rPr lang="zh-CN" altLang="en-US" sz="2400" dirty="0"/>
              <a:t>语言中</a:t>
            </a:r>
            <a:r>
              <a:rPr lang="zh-CN" altLang="en-US" sz="2400" dirty="0" smtClean="0"/>
              <a:t>的</a:t>
            </a:r>
            <a:r>
              <a:rPr lang="en-US" altLang="zh-CN" sz="2400" dirty="0" smtClean="0"/>
              <a:t>switch</a:t>
            </a:r>
            <a:endParaRPr lang="en-US" altLang="zh-CN" sz="2400" dirty="0"/>
          </a:p>
          <a:p>
            <a:pPr>
              <a:lnSpc>
                <a:spcPct val="80000"/>
              </a:lnSpc>
            </a:pPr>
            <a:r>
              <a:rPr lang="zh-CN" altLang="en-US" sz="2400" dirty="0"/>
              <a:t>多向</a:t>
            </a:r>
            <a:r>
              <a:rPr lang="zh-CN" altLang="en-US" sz="2400" dirty="0" smtClean="0"/>
              <a:t>分支</a:t>
            </a:r>
            <a:r>
              <a:rPr lang="en-US" altLang="zh-CN" sz="2400" dirty="0" err="1" smtClean="0"/>
              <a:t>sase</a:t>
            </a:r>
            <a:r>
              <a:rPr lang="en-US" altLang="zh-CN" sz="2400" dirty="0" smtClean="0"/>
              <a:t> </a:t>
            </a:r>
            <a:r>
              <a:rPr lang="zh-CN" altLang="en-US" sz="2400" dirty="0"/>
              <a:t>语法结构</a:t>
            </a:r>
          </a:p>
          <a:p>
            <a:pPr lvl="1">
              <a:lnSpc>
                <a:spcPct val="80000"/>
              </a:lnSpc>
            </a:pPr>
            <a:r>
              <a:rPr lang="zh-CN" altLang="en-US" sz="2000" dirty="0"/>
              <a:t> </a:t>
            </a:r>
            <a:r>
              <a:rPr lang="en-US" altLang="zh-CN" sz="2000" b="1" dirty="0"/>
              <a:t>case </a:t>
            </a:r>
            <a:r>
              <a:rPr lang="zh-CN" altLang="en-US" sz="2000" b="1" dirty="0"/>
              <a:t>字符串  </a:t>
            </a:r>
            <a:r>
              <a:rPr lang="en-US" altLang="zh-CN" sz="2000" b="1" dirty="0"/>
              <a:t>in ; </a:t>
            </a:r>
            <a:r>
              <a:rPr lang="zh-CN" altLang="en-US" sz="2000" b="1" dirty="0"/>
              <a:t>模式</a:t>
            </a:r>
            <a:r>
              <a:rPr lang="en-US" altLang="zh-CN" sz="2000" b="1" dirty="0"/>
              <a:t>1) command;;</a:t>
            </a:r>
            <a:r>
              <a:rPr lang="zh-CN" altLang="en-US" sz="2000" b="1" dirty="0"/>
              <a:t>模式</a:t>
            </a:r>
            <a:r>
              <a:rPr lang="en-US" altLang="zh-CN" sz="2000" b="1" dirty="0"/>
              <a:t>2 ) command;; </a:t>
            </a:r>
            <a:r>
              <a:rPr lang="en-US" altLang="zh-CN" sz="2000" b="1" dirty="0" err="1"/>
              <a:t>esac</a:t>
            </a:r>
            <a:endParaRPr lang="en-US" altLang="zh-CN" sz="2000" b="1" dirty="0"/>
          </a:p>
          <a:p>
            <a:pPr>
              <a:lnSpc>
                <a:spcPct val="80000"/>
              </a:lnSpc>
            </a:pPr>
            <a:r>
              <a:rPr lang="en-US" altLang="zh-CN" sz="2400" dirty="0"/>
              <a:t>C</a:t>
            </a:r>
            <a:r>
              <a:rPr lang="zh-CN" altLang="en-US" sz="2400" dirty="0"/>
              <a:t>语言开发者又要注意了</a:t>
            </a:r>
            <a:r>
              <a:rPr lang="en-US" altLang="zh-CN" sz="2400" dirty="0"/>
              <a:t>,</a:t>
            </a:r>
            <a:r>
              <a:rPr lang="zh-CN" altLang="en-US" sz="2400" dirty="0"/>
              <a:t>模式后是</a:t>
            </a:r>
            <a:r>
              <a:rPr lang="en-US" altLang="zh-CN" sz="2400" dirty="0"/>
              <a:t>)</a:t>
            </a:r>
            <a:r>
              <a:rPr lang="zh-CN" altLang="en-US" sz="2400" dirty="0"/>
              <a:t>而不是</a:t>
            </a:r>
            <a:r>
              <a:rPr lang="en-US" altLang="zh-CN" sz="2400" dirty="0"/>
              <a:t>:</a:t>
            </a:r>
            <a:r>
              <a:rPr lang="zh-CN" altLang="en-US" sz="2400" dirty="0"/>
              <a:t>因为</a:t>
            </a:r>
            <a:r>
              <a:rPr lang="en-US" altLang="zh-CN" sz="2400" dirty="0" smtClean="0"/>
              <a:t>:</a:t>
            </a:r>
            <a:r>
              <a:rPr lang="zh-CN" altLang="en-US" sz="2400" dirty="0" smtClean="0"/>
              <a:t>也</a:t>
            </a:r>
            <a:r>
              <a:rPr lang="zh-CN" altLang="en-US" sz="2400" dirty="0"/>
              <a:t>是保留字</a:t>
            </a:r>
            <a:r>
              <a:rPr lang="en-US" altLang="zh-CN" sz="2400" dirty="0"/>
              <a:t>,</a:t>
            </a:r>
            <a:r>
              <a:rPr lang="zh-CN" altLang="en-US" sz="2400" dirty="0"/>
              <a:t>而且执行语句后面是</a:t>
            </a:r>
            <a:r>
              <a:rPr lang="en-US" altLang="zh-CN" sz="2400" dirty="0"/>
              <a:t>;;</a:t>
            </a:r>
          </a:p>
          <a:p>
            <a:pPr>
              <a:lnSpc>
                <a:spcPct val="80000"/>
              </a:lnSpc>
            </a:pPr>
            <a:r>
              <a:rPr lang="zh-CN" altLang="en-US" sz="2400" dirty="0"/>
              <a:t>这还是单行定义语句</a:t>
            </a:r>
            <a:r>
              <a:rPr lang="en-US" altLang="zh-CN" sz="2400" dirty="0"/>
              <a:t>,</a:t>
            </a:r>
            <a:r>
              <a:rPr lang="zh-CN" altLang="en-US" sz="2400" dirty="0"/>
              <a:t>多行定义如下</a:t>
            </a:r>
          </a:p>
          <a:p>
            <a:pPr lvl="1">
              <a:lnSpc>
                <a:spcPct val="80000"/>
              </a:lnSpc>
              <a:buNone/>
            </a:pPr>
            <a:r>
              <a:rPr lang="zh-CN" altLang="en-US" sz="2000" dirty="0"/>
              <a:t> </a:t>
            </a:r>
            <a:r>
              <a:rPr lang="en-US" altLang="zh-CN" sz="2000" b="1" dirty="0"/>
              <a:t>case </a:t>
            </a:r>
            <a:r>
              <a:rPr lang="zh-CN" altLang="en-US" sz="2000" b="1" dirty="0"/>
              <a:t>字符串  </a:t>
            </a:r>
            <a:r>
              <a:rPr lang="en-US" altLang="zh-CN" sz="2000" b="1" dirty="0"/>
              <a:t>in </a:t>
            </a:r>
          </a:p>
          <a:p>
            <a:pPr lvl="1">
              <a:lnSpc>
                <a:spcPct val="80000"/>
              </a:lnSpc>
              <a:buNone/>
            </a:pPr>
            <a:r>
              <a:rPr lang="en-US" altLang="zh-CN" sz="2000" b="1" dirty="0"/>
              <a:t> </a:t>
            </a:r>
            <a:r>
              <a:rPr lang="zh-CN" altLang="en-US" sz="2000" b="1" dirty="0"/>
              <a:t>模式</a:t>
            </a:r>
            <a:r>
              <a:rPr lang="en-US" altLang="zh-CN" sz="2000" b="1" dirty="0"/>
              <a:t>1) command;;</a:t>
            </a:r>
          </a:p>
          <a:p>
            <a:pPr lvl="1">
              <a:lnSpc>
                <a:spcPct val="80000"/>
              </a:lnSpc>
              <a:buNone/>
            </a:pPr>
            <a:r>
              <a:rPr lang="zh-CN" altLang="en-US" sz="2000" b="1" dirty="0"/>
              <a:t>模式</a:t>
            </a:r>
            <a:r>
              <a:rPr lang="en-US" altLang="zh-CN" sz="2000" b="1" dirty="0"/>
              <a:t>2 ) command;;</a:t>
            </a:r>
          </a:p>
          <a:p>
            <a:pPr lvl="1">
              <a:lnSpc>
                <a:spcPct val="80000"/>
              </a:lnSpc>
              <a:buNone/>
            </a:pPr>
            <a:r>
              <a:rPr lang="en-US" altLang="zh-CN" sz="2000" b="1" dirty="0"/>
              <a:t>    </a:t>
            </a:r>
            <a:r>
              <a:rPr lang="en-US" altLang="zh-CN" sz="2000" b="1" dirty="0">
                <a:latin typeface="Arial" panose="020B0604020202020204" pitchFamily="34" charset="0"/>
              </a:rPr>
              <a:t>…</a:t>
            </a:r>
            <a:endParaRPr lang="en-US" altLang="zh-CN" sz="2000" b="1" dirty="0"/>
          </a:p>
          <a:p>
            <a:pPr lvl="1">
              <a:lnSpc>
                <a:spcPct val="80000"/>
              </a:lnSpc>
              <a:buNone/>
            </a:pPr>
            <a:r>
              <a:rPr lang="en-US" altLang="zh-CN" sz="2000" b="1" dirty="0"/>
              <a:t> </a:t>
            </a:r>
            <a:r>
              <a:rPr lang="en-US" altLang="zh-CN" sz="2000" b="1" dirty="0" err="1"/>
              <a:t>esac</a:t>
            </a:r>
            <a:endParaRPr lang="en-US" altLang="zh-CN" sz="2000" b="1" dirty="0"/>
          </a:p>
          <a:p>
            <a:pPr>
              <a:lnSpc>
                <a:spcPct val="80000"/>
              </a:lnSpc>
            </a:pPr>
            <a:r>
              <a:rPr lang="zh-CN" altLang="en-US" sz="2400" b="1" dirty="0"/>
              <a:t>模式可以用多个值</a:t>
            </a:r>
            <a:r>
              <a:rPr lang="en-US" altLang="zh-CN" sz="2400" b="1" dirty="0"/>
              <a:t>,</a:t>
            </a:r>
            <a:r>
              <a:rPr lang="zh-CN" altLang="en-US" sz="2400" b="1" dirty="0"/>
              <a:t>用</a:t>
            </a:r>
            <a:r>
              <a:rPr lang="en-US" altLang="zh-CN" sz="2400" b="1" dirty="0"/>
              <a:t>|</a:t>
            </a:r>
            <a:r>
              <a:rPr lang="zh-CN" altLang="en-US" sz="2400" b="1" dirty="0"/>
              <a:t>隔开</a:t>
            </a:r>
          </a:p>
          <a:p>
            <a:pPr lvl="1">
              <a:lnSpc>
                <a:spcPct val="80000"/>
              </a:lnSpc>
            </a:pPr>
            <a:r>
              <a:rPr lang="en-US" altLang="zh-CN" sz="2000" b="1" dirty="0"/>
              <a:t>1|2|3|8|9 )</a:t>
            </a:r>
          </a:p>
          <a:p>
            <a:endParaRPr lang="zh-CN" altLang="en-US" dirty="0"/>
          </a:p>
        </p:txBody>
      </p:sp>
    </p:spTree>
    <p:extLst>
      <p:ext uri="{BB962C8B-B14F-4D97-AF65-F5344CB8AC3E}">
        <p14:creationId xmlns:p14="http://schemas.microsoft.com/office/powerpoint/2010/main" val="3005175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case </a:t>
            </a:r>
            <a:r>
              <a:rPr lang="zh-CN" altLang="en-US" dirty="0" smtClean="0"/>
              <a:t>实例</a:t>
            </a:r>
            <a:r>
              <a:rPr lang="en-US" altLang="zh-CN" dirty="0" smtClean="0"/>
              <a:t>,</a:t>
            </a:r>
            <a:r>
              <a:rPr lang="zh-CN" altLang="en-US" dirty="0" smtClean="0"/>
              <a:t>菜单选择</a:t>
            </a:r>
            <a:endParaRPr lang="zh-CN" altLang="en-US" dirty="0"/>
          </a:p>
        </p:txBody>
      </p:sp>
      <p:sp>
        <p:nvSpPr>
          <p:cNvPr id="4" name="Text Box 4"/>
          <p:cNvSpPr txBox="1">
            <a:spLocks noChangeArrowheads="1"/>
          </p:cNvSpPr>
          <p:nvPr/>
        </p:nvSpPr>
        <p:spPr bwMode="auto">
          <a:xfrm>
            <a:off x="5775727" y="1172283"/>
            <a:ext cx="5567877" cy="4526497"/>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l"/>
            <a:r>
              <a:rPr kumimoji="1" lang="en-US" altLang="zh-CN" dirty="0">
                <a:ea typeface="宋体" panose="02010600030101010101" pitchFamily="2" charset="-122"/>
              </a:rPr>
              <a:t>#Display a menu                               </a:t>
            </a:r>
          </a:p>
          <a:p>
            <a:pPr algn="l"/>
            <a:r>
              <a:rPr kumimoji="1" lang="en-US" altLang="zh-CN" dirty="0">
                <a:ea typeface="宋体" panose="02010600030101010101" pitchFamily="2" charset="-122"/>
              </a:rPr>
              <a:t>echo _                                        </a:t>
            </a:r>
          </a:p>
          <a:p>
            <a:pPr algn="l"/>
            <a:r>
              <a:rPr kumimoji="1" lang="en-US" altLang="zh-CN" dirty="0">
                <a:ea typeface="宋体" panose="02010600030101010101" pitchFamily="2" charset="-122"/>
              </a:rPr>
              <a:t>echo "1 Restore"                              </a:t>
            </a:r>
          </a:p>
          <a:p>
            <a:pPr algn="l"/>
            <a:r>
              <a:rPr kumimoji="1" lang="en-US" altLang="zh-CN" dirty="0">
                <a:ea typeface="宋体" panose="02010600030101010101" pitchFamily="2" charset="-122"/>
              </a:rPr>
              <a:t>echo "2 Backup"                               </a:t>
            </a:r>
          </a:p>
          <a:p>
            <a:pPr algn="l"/>
            <a:r>
              <a:rPr kumimoji="1" lang="en-US" altLang="zh-CN" dirty="0">
                <a:ea typeface="宋体" panose="02010600030101010101" pitchFamily="2" charset="-122"/>
              </a:rPr>
              <a:t>echo "3 Unload"                               </a:t>
            </a:r>
          </a:p>
          <a:p>
            <a:pPr algn="l"/>
            <a:r>
              <a:rPr kumimoji="1" lang="en-US" altLang="zh-CN" dirty="0">
                <a:ea typeface="宋体" panose="02010600030101010101" pitchFamily="2" charset="-122"/>
              </a:rPr>
              <a:t>echo                                          </a:t>
            </a:r>
          </a:p>
          <a:p>
            <a:pPr algn="l"/>
            <a:r>
              <a:rPr kumimoji="1" lang="en-US" altLang="zh-CN" dirty="0">
                <a:ea typeface="宋体" panose="02010600030101010101" pitchFamily="2" charset="-122"/>
              </a:rPr>
              <a:t>#Read and </a:t>
            </a:r>
            <a:r>
              <a:rPr kumimoji="1" lang="en-US" altLang="zh-CN" dirty="0" err="1">
                <a:ea typeface="宋体" panose="02010600030101010101" pitchFamily="2" charset="-122"/>
              </a:rPr>
              <a:t>excute</a:t>
            </a:r>
            <a:r>
              <a:rPr kumimoji="1" lang="en-US" altLang="zh-CN" dirty="0">
                <a:ea typeface="宋体" panose="02010600030101010101" pitchFamily="2" charset="-122"/>
              </a:rPr>
              <a:t> the user's selection         </a:t>
            </a:r>
          </a:p>
          <a:p>
            <a:pPr algn="l"/>
            <a:r>
              <a:rPr kumimoji="1" lang="en-US" altLang="zh-CN" dirty="0">
                <a:ea typeface="宋体" panose="02010600030101010101" pitchFamily="2" charset="-122"/>
              </a:rPr>
              <a:t>echo -n "Enter Choice:"                       </a:t>
            </a:r>
          </a:p>
          <a:p>
            <a:pPr algn="l"/>
            <a:r>
              <a:rPr kumimoji="1" lang="en-US" altLang="zh-CN" dirty="0">
                <a:ea typeface="宋体" panose="02010600030101010101" pitchFamily="2" charset="-122"/>
              </a:rPr>
              <a:t>read CHOICE                                   </a:t>
            </a:r>
          </a:p>
          <a:p>
            <a:pPr algn="l"/>
            <a:r>
              <a:rPr kumimoji="1" lang="en-US" altLang="zh-CN" dirty="0">
                <a:solidFill>
                  <a:srgbClr val="FF0000"/>
                </a:solidFill>
                <a:ea typeface="宋体" panose="02010600030101010101" pitchFamily="2" charset="-122"/>
              </a:rPr>
              <a:t>case "$CHOICE" in                             </a:t>
            </a:r>
          </a:p>
          <a:p>
            <a:pPr algn="l"/>
            <a:r>
              <a:rPr kumimoji="1" lang="en-US" altLang="zh-CN" dirty="0">
                <a:solidFill>
                  <a:srgbClr val="FF0000"/>
                </a:solidFill>
                <a:ea typeface="宋体" panose="02010600030101010101" pitchFamily="2" charset="-122"/>
              </a:rPr>
              <a:t>1) echo "Restore";;                           </a:t>
            </a:r>
          </a:p>
          <a:p>
            <a:pPr algn="l"/>
            <a:r>
              <a:rPr kumimoji="1" lang="en-US" altLang="zh-CN" dirty="0">
                <a:solidFill>
                  <a:srgbClr val="FF0000"/>
                </a:solidFill>
                <a:ea typeface="宋体" panose="02010600030101010101" pitchFamily="2" charset="-122"/>
              </a:rPr>
              <a:t>2) echo "Backup";;                            </a:t>
            </a:r>
          </a:p>
          <a:p>
            <a:pPr algn="l"/>
            <a:r>
              <a:rPr kumimoji="1" lang="en-US" altLang="zh-CN" dirty="0">
                <a:solidFill>
                  <a:srgbClr val="FF0000"/>
                </a:solidFill>
                <a:ea typeface="宋体" panose="02010600030101010101" pitchFamily="2" charset="-122"/>
              </a:rPr>
              <a:t>3) echo "Unload";;                            </a:t>
            </a:r>
          </a:p>
          <a:p>
            <a:pPr algn="l"/>
            <a:r>
              <a:rPr kumimoji="1" lang="en-US" altLang="zh-CN" dirty="0">
                <a:solidFill>
                  <a:srgbClr val="FF0000"/>
                </a:solidFill>
                <a:ea typeface="宋体" panose="02010600030101010101" pitchFamily="2" charset="-122"/>
              </a:rPr>
              <a:t>*) echo "Sorry $CHOICE is not a valid choice “</a:t>
            </a:r>
          </a:p>
          <a:p>
            <a:pPr algn="l"/>
            <a:r>
              <a:rPr kumimoji="1" lang="en-US" altLang="zh-CN" dirty="0">
                <a:solidFill>
                  <a:srgbClr val="FF0000"/>
                </a:solidFill>
                <a:ea typeface="宋体" panose="02010600030101010101" pitchFamily="2" charset="-122"/>
              </a:rPr>
              <a:t>exit 1</a:t>
            </a:r>
            <a:r>
              <a:rPr kumimoji="1" lang="en-US" altLang="zh-CN" dirty="0">
                <a:ea typeface="宋体" panose="02010600030101010101" pitchFamily="2" charset="-122"/>
              </a:rPr>
              <a:t>                                        </a:t>
            </a:r>
          </a:p>
          <a:p>
            <a:pPr algn="l"/>
            <a:r>
              <a:rPr kumimoji="1" lang="en-US" altLang="zh-CN" dirty="0" err="1">
                <a:solidFill>
                  <a:srgbClr val="FF0000"/>
                </a:solidFill>
                <a:ea typeface="宋体" panose="02010600030101010101" pitchFamily="2" charset="-122"/>
              </a:rPr>
              <a:t>esac</a:t>
            </a:r>
            <a:r>
              <a:rPr kumimoji="1" lang="en-US" altLang="zh-CN" dirty="0">
                <a:solidFill>
                  <a:srgbClr val="FF0000"/>
                </a:solidFill>
                <a:ea typeface="宋体" panose="02010600030101010101" pitchFamily="2" charset="-122"/>
              </a:rPr>
              <a:t> </a:t>
            </a:r>
          </a:p>
        </p:txBody>
      </p:sp>
      <p:sp>
        <p:nvSpPr>
          <p:cNvPr id="5" name="矩形 4"/>
          <p:cNvSpPr/>
          <p:nvPr/>
        </p:nvSpPr>
        <p:spPr>
          <a:xfrm>
            <a:off x="124496" y="1690690"/>
            <a:ext cx="5117205" cy="1569660"/>
          </a:xfrm>
          <a:prstGeom prst="rect">
            <a:avLst/>
          </a:prstGeom>
        </p:spPr>
        <p:txBody>
          <a:bodyPr wrap="square">
            <a:spAutoFit/>
          </a:bodyPr>
          <a:lstStyle/>
          <a:p>
            <a:pPr marL="342900" indent="-342900">
              <a:buFont typeface="Arial" panose="020B0604020202020204" pitchFamily="34" charset="0"/>
              <a:buChar char="•"/>
            </a:pPr>
            <a:r>
              <a:rPr lang="en-US" altLang="zh-CN" sz="2400" dirty="0"/>
              <a:t>*)</a:t>
            </a:r>
            <a:r>
              <a:rPr lang="zh-CN" altLang="en-US" sz="2400" dirty="0"/>
              <a:t>表示类似于</a:t>
            </a:r>
            <a:r>
              <a:rPr lang="en-US" altLang="zh-CN" sz="2400" dirty="0"/>
              <a:t>C</a:t>
            </a:r>
            <a:r>
              <a:rPr lang="zh-CN" altLang="en-US" sz="2400" dirty="0"/>
              <a:t>语言的</a:t>
            </a:r>
            <a:r>
              <a:rPr lang="en-US" altLang="zh-CN" sz="2400" dirty="0"/>
              <a:t>default</a:t>
            </a:r>
            <a:r>
              <a:rPr lang="zh-CN" altLang="en-US" sz="2400" dirty="0"/>
              <a:t>分支</a:t>
            </a:r>
          </a:p>
          <a:p>
            <a:pPr marL="342900" indent="-342900">
              <a:buFont typeface="Arial" panose="020B0604020202020204" pitchFamily="34" charset="0"/>
              <a:buChar char="•"/>
            </a:pPr>
            <a:r>
              <a:rPr lang="zh-CN" altLang="en-US" sz="2400" dirty="0"/>
              <a:t>模式可以是正则表达式，或通配符</a:t>
            </a:r>
          </a:p>
          <a:p>
            <a:pPr lvl="1"/>
            <a:r>
              <a:rPr lang="zh-CN" altLang="en-US" sz="2400" dirty="0"/>
              <a:t>*</a:t>
            </a:r>
            <a:r>
              <a:rPr lang="en-US" altLang="zh-CN" sz="2400" dirty="0"/>
              <a:t>.txt</a:t>
            </a:r>
          </a:p>
          <a:p>
            <a:pPr lvl="1"/>
            <a:r>
              <a:rPr lang="en-US" altLang="zh-CN" sz="2400" dirty="0"/>
              <a:t>[ab].out</a:t>
            </a:r>
          </a:p>
        </p:txBody>
      </p:sp>
    </p:spTree>
    <p:extLst>
      <p:ext uri="{BB962C8B-B14F-4D97-AF65-F5344CB8AC3E}">
        <p14:creationId xmlns:p14="http://schemas.microsoft.com/office/powerpoint/2010/main" val="380276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复杂实例</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870" y="1066482"/>
            <a:ext cx="7019679" cy="5166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6028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流程控制</a:t>
            </a:r>
            <a:r>
              <a:rPr lang="en-US" altLang="zh-CN" dirty="0" smtClean="0"/>
              <a:t>:bash </a:t>
            </a:r>
            <a:r>
              <a:rPr lang="zh-CN" altLang="en-US" dirty="0" smtClean="0"/>
              <a:t>循环机制</a:t>
            </a:r>
            <a:endParaRPr lang="zh-CN" altLang="en-US" dirty="0"/>
          </a:p>
        </p:txBody>
      </p:sp>
      <p:sp>
        <p:nvSpPr>
          <p:cNvPr id="3" name="内容占位符 2"/>
          <p:cNvSpPr>
            <a:spLocks noGrp="1"/>
          </p:cNvSpPr>
          <p:nvPr>
            <p:ph idx="1"/>
          </p:nvPr>
        </p:nvSpPr>
        <p:spPr>
          <a:xfrm>
            <a:off x="628650" y="1187450"/>
            <a:ext cx="10515600" cy="4819874"/>
          </a:xfrm>
        </p:spPr>
        <p:txBody>
          <a:bodyPr>
            <a:noAutofit/>
          </a:bodyPr>
          <a:lstStyle/>
          <a:p>
            <a:r>
              <a:rPr lang="en-US" altLang="zh-CN" sz="2800" dirty="0"/>
              <a:t>Bash </a:t>
            </a:r>
            <a:r>
              <a:rPr lang="zh-CN" altLang="en-US" sz="2800" dirty="0"/>
              <a:t>支持三种循环</a:t>
            </a:r>
          </a:p>
          <a:p>
            <a:pPr lvl="1"/>
            <a:r>
              <a:rPr lang="en-US" altLang="zh-CN" sz="2400" b="1" dirty="0"/>
              <a:t>for</a:t>
            </a:r>
            <a:r>
              <a:rPr lang="en-US" altLang="zh-CN" sz="2400" dirty="0"/>
              <a:t> </a:t>
            </a:r>
            <a:r>
              <a:rPr lang="zh-CN" altLang="en-US" sz="2400" dirty="0"/>
              <a:t>循环有两种形式。</a:t>
            </a:r>
            <a:r>
              <a:rPr lang="en-US" altLang="zh-CN" sz="2400" dirty="0"/>
              <a:t>shell </a:t>
            </a:r>
            <a:r>
              <a:rPr lang="zh-CN" altLang="en-US" sz="2400" dirty="0"/>
              <a:t>脚本编程中最常见的形式是对一组值进行迭代，对每个值都执行命令列表一次。这组值可能为空，在这种情况下命令列表就不会被执行。另外一种形式更加类似于传统的 </a:t>
            </a:r>
            <a:r>
              <a:rPr lang="en-US" altLang="zh-CN" sz="2400" dirty="0"/>
              <a:t>C for </a:t>
            </a:r>
            <a:r>
              <a:rPr lang="zh-CN" altLang="en-US" sz="2400" dirty="0"/>
              <a:t>循环，使用 </a:t>
            </a:r>
            <a:r>
              <a:rPr lang="en-US" altLang="zh-CN" sz="2400" dirty="0"/>
              <a:t>3 </a:t>
            </a:r>
            <a:r>
              <a:rPr lang="zh-CN" altLang="en-US" sz="2400" dirty="0"/>
              <a:t>个数学表达式来控制循环的起始条件、步进函数和结束条件。 </a:t>
            </a:r>
          </a:p>
          <a:p>
            <a:pPr lvl="1"/>
            <a:r>
              <a:rPr lang="en-US" altLang="zh-CN" sz="2400" b="1" dirty="0"/>
              <a:t>while</a:t>
            </a:r>
            <a:r>
              <a:rPr lang="en-US" altLang="zh-CN" sz="2400" dirty="0"/>
              <a:t> </a:t>
            </a:r>
            <a:r>
              <a:rPr lang="zh-CN" altLang="en-US" sz="2400" dirty="0"/>
              <a:t>循环每次都在循环开始时计算一个条件的值，如果这个条件为 </a:t>
            </a:r>
            <a:r>
              <a:rPr lang="en-US" altLang="zh-CN" sz="2400" dirty="0"/>
              <a:t>true</a:t>
            </a:r>
            <a:r>
              <a:rPr lang="zh-CN" altLang="en-US" sz="2400" dirty="0"/>
              <a:t>，就执行命令列表。如果这个条件最初不为 </a:t>
            </a:r>
            <a:r>
              <a:rPr lang="en-US" altLang="zh-CN" sz="2400" dirty="0"/>
              <a:t>true</a:t>
            </a:r>
            <a:r>
              <a:rPr lang="zh-CN" altLang="en-US" sz="2400" dirty="0"/>
              <a:t>，那么这些命令就永远都不会执行</a:t>
            </a:r>
            <a:r>
              <a:rPr lang="zh-CN" altLang="en-US" sz="2400" dirty="0" smtClean="0"/>
              <a:t>。</a:t>
            </a:r>
            <a:endParaRPr lang="en-US" altLang="zh-CN" sz="2400" dirty="0" smtClean="0"/>
          </a:p>
          <a:p>
            <a:pPr lvl="1"/>
            <a:r>
              <a:rPr lang="en-US" altLang="zh-CN" sz="2400" b="1" dirty="0"/>
              <a:t>until</a:t>
            </a:r>
            <a:r>
              <a:rPr lang="en-US" altLang="zh-CN" sz="2400" dirty="0"/>
              <a:t> </a:t>
            </a:r>
            <a:r>
              <a:rPr lang="zh-CN" altLang="en-US" sz="2400" dirty="0"/>
              <a:t>循环执行一个命令列表，并在每个循环结束时计算某个条件的值。如果这个条件为 </a:t>
            </a:r>
            <a:r>
              <a:rPr lang="en-US" altLang="zh-CN" sz="2400" dirty="0"/>
              <a:t>true</a:t>
            </a:r>
            <a:r>
              <a:rPr lang="zh-CN" altLang="en-US" sz="2400" dirty="0"/>
              <a:t>，就再次执行这个循环。即使条件最初不为 </a:t>
            </a:r>
            <a:r>
              <a:rPr lang="en-US" altLang="zh-CN" sz="2400" dirty="0"/>
              <a:t>true</a:t>
            </a:r>
            <a:r>
              <a:rPr lang="zh-CN" altLang="en-US" sz="2400" dirty="0"/>
              <a:t>，这些命令也会至少被执行一次。 </a:t>
            </a:r>
          </a:p>
          <a:p>
            <a:pPr lvl="1"/>
            <a:r>
              <a:rPr lang="zh-CN" altLang="en-US" sz="2400" dirty="0" smtClean="0"/>
              <a:t> </a:t>
            </a:r>
            <a:endParaRPr lang="zh-CN" altLang="en-US" sz="2400" dirty="0"/>
          </a:p>
          <a:p>
            <a:endParaRPr lang="zh-CN" altLang="en-US" sz="2800" dirty="0"/>
          </a:p>
        </p:txBody>
      </p:sp>
    </p:spTree>
    <p:extLst>
      <p:ext uri="{BB962C8B-B14F-4D97-AF65-F5344CB8AC3E}">
        <p14:creationId xmlns:p14="http://schemas.microsoft.com/office/powerpoint/2010/main" val="14886776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流程控制</a:t>
            </a:r>
            <a:r>
              <a:rPr lang="en-US" altLang="zh-CN" dirty="0" smtClean="0"/>
              <a:t>:for </a:t>
            </a:r>
            <a:r>
              <a:rPr lang="zh-CN" altLang="en-US" dirty="0" smtClean="0"/>
              <a:t>循环</a:t>
            </a:r>
            <a:endParaRPr lang="zh-CN" altLang="en-US" dirty="0"/>
          </a:p>
        </p:txBody>
      </p:sp>
      <p:sp>
        <p:nvSpPr>
          <p:cNvPr id="3" name="内容占位符 2"/>
          <p:cNvSpPr>
            <a:spLocks noGrp="1"/>
          </p:cNvSpPr>
          <p:nvPr>
            <p:ph idx="1"/>
          </p:nvPr>
        </p:nvSpPr>
        <p:spPr>
          <a:xfrm>
            <a:off x="676275" y="1153329"/>
            <a:ext cx="10515600" cy="4971245"/>
          </a:xfrm>
        </p:spPr>
        <p:txBody>
          <a:bodyPr>
            <a:noAutofit/>
          </a:bodyPr>
          <a:lstStyle/>
          <a:p>
            <a:r>
              <a:rPr lang="en-US" altLang="zh-CN" sz="2400" dirty="0" smtClean="0"/>
              <a:t>for</a:t>
            </a:r>
            <a:r>
              <a:rPr lang="zh-CN" altLang="en-US" sz="2400" dirty="0"/>
              <a:t>循环在</a:t>
            </a:r>
            <a:r>
              <a:rPr lang="en-US" altLang="zh-CN" sz="2400" dirty="0"/>
              <a:t>shell</a:t>
            </a:r>
            <a:r>
              <a:rPr lang="zh-CN" altLang="en-US" sz="2400" dirty="0"/>
              <a:t>并不是象</a:t>
            </a:r>
            <a:r>
              <a:rPr lang="en-US" altLang="zh-CN" sz="2400" dirty="0"/>
              <a:t>C</a:t>
            </a:r>
            <a:r>
              <a:rPr lang="zh-CN" altLang="en-US" sz="2400" dirty="0"/>
              <a:t>语言累加的形式</a:t>
            </a:r>
            <a:r>
              <a:rPr lang="en-US" altLang="zh-CN" sz="2400" dirty="0"/>
              <a:t>,</a:t>
            </a:r>
            <a:r>
              <a:rPr lang="zh-CN" altLang="en-US" sz="2400" dirty="0"/>
              <a:t>而是</a:t>
            </a:r>
            <a:r>
              <a:rPr lang="zh-CN" altLang="en-US" sz="2400" dirty="0" smtClean="0"/>
              <a:t>采用脚本</a:t>
            </a:r>
            <a:r>
              <a:rPr lang="zh-CN" altLang="en-US" sz="2400" dirty="0"/>
              <a:t>中特有的</a:t>
            </a:r>
            <a:r>
              <a:rPr lang="en-US" altLang="zh-CN" sz="2400" dirty="0"/>
              <a:t>for do</a:t>
            </a:r>
            <a:r>
              <a:rPr lang="zh-CN" altLang="en-US" sz="2400" dirty="0"/>
              <a:t>格式 </a:t>
            </a:r>
          </a:p>
          <a:p>
            <a:r>
              <a:rPr lang="zh-CN" altLang="en-US" sz="2400" dirty="0"/>
              <a:t>语法结构</a:t>
            </a:r>
          </a:p>
          <a:p>
            <a:pPr lvl="1"/>
            <a:r>
              <a:rPr lang="en-US" altLang="zh-CN" dirty="0"/>
              <a:t>for NAME [in LIST ]; do COMMANDS; done </a:t>
            </a:r>
          </a:p>
          <a:p>
            <a:pPr lvl="2"/>
            <a:r>
              <a:rPr lang="zh-CN" altLang="en-US" sz="2400" dirty="0"/>
              <a:t>这里表示从</a:t>
            </a:r>
            <a:r>
              <a:rPr lang="en-US" altLang="zh-CN" sz="2400" dirty="0"/>
              <a:t>LIST</a:t>
            </a:r>
            <a:r>
              <a:rPr lang="zh-CN" altLang="en-US" sz="2400" dirty="0"/>
              <a:t>依次取值</a:t>
            </a:r>
            <a:r>
              <a:rPr lang="en-US" altLang="zh-CN" sz="2400" dirty="0"/>
              <a:t>(</a:t>
            </a:r>
            <a:r>
              <a:rPr lang="zh-CN" altLang="en-US" sz="2400" dirty="0"/>
              <a:t>以空格为界</a:t>
            </a:r>
            <a:r>
              <a:rPr lang="en-US" altLang="zh-CN" sz="2400" dirty="0"/>
              <a:t>)</a:t>
            </a:r>
            <a:r>
              <a:rPr lang="zh-CN" altLang="en-US" sz="2400" dirty="0"/>
              <a:t>赋给变量</a:t>
            </a:r>
            <a:r>
              <a:rPr lang="en-US" altLang="zh-CN" sz="2400" dirty="0"/>
              <a:t>Name,</a:t>
            </a:r>
            <a:r>
              <a:rPr lang="zh-CN" altLang="en-US" sz="2400" dirty="0"/>
              <a:t>然后执行</a:t>
            </a:r>
            <a:r>
              <a:rPr lang="en-US" altLang="zh-CN" sz="2400" dirty="0"/>
              <a:t>do done</a:t>
            </a:r>
            <a:r>
              <a:rPr lang="zh-CN" altLang="en-US" sz="2400" dirty="0"/>
              <a:t>中的命令</a:t>
            </a:r>
            <a:r>
              <a:rPr lang="en-US" altLang="zh-CN" sz="2400" dirty="0"/>
              <a:t>,</a:t>
            </a:r>
            <a:r>
              <a:rPr lang="zh-CN" altLang="en-US" sz="2400" dirty="0"/>
              <a:t>这跟</a:t>
            </a:r>
            <a:r>
              <a:rPr lang="en-US" altLang="zh-CN" sz="2400" dirty="0"/>
              <a:t>C</a:t>
            </a:r>
            <a:r>
              <a:rPr lang="zh-CN" altLang="en-US" sz="2400" dirty="0"/>
              <a:t>语言差别非常大</a:t>
            </a:r>
            <a:r>
              <a:rPr lang="en-US" altLang="zh-CN" sz="2400" dirty="0"/>
              <a:t>.</a:t>
            </a:r>
          </a:p>
          <a:p>
            <a:pPr lvl="1"/>
            <a:r>
              <a:rPr lang="zh-CN" altLang="en-US" dirty="0"/>
              <a:t>如果 </a:t>
            </a:r>
            <a:r>
              <a:rPr lang="en-US" altLang="zh-CN" b="1" dirty="0"/>
              <a:t>[in LIST]</a:t>
            </a:r>
            <a:r>
              <a:rPr lang="en-US" altLang="zh-CN" dirty="0"/>
              <a:t> </a:t>
            </a:r>
            <a:r>
              <a:rPr lang="zh-CN" altLang="en-US" dirty="0"/>
              <a:t>不存在的话，就使用 </a:t>
            </a:r>
            <a:r>
              <a:rPr lang="en-US" altLang="zh-CN" b="1" dirty="0"/>
              <a:t>in $@</a:t>
            </a:r>
            <a:r>
              <a:rPr lang="en-US" altLang="zh-CN" dirty="0"/>
              <a:t> </a:t>
            </a:r>
            <a:r>
              <a:rPr lang="zh-CN" altLang="en-US" dirty="0"/>
              <a:t>替换且 </a:t>
            </a:r>
            <a:r>
              <a:rPr lang="en-US" altLang="zh-CN" b="1" dirty="0"/>
              <a:t>for</a:t>
            </a:r>
            <a:r>
              <a:rPr lang="en-US" altLang="zh-CN" dirty="0"/>
              <a:t> </a:t>
            </a:r>
            <a:r>
              <a:rPr lang="zh-CN" altLang="en-US" dirty="0"/>
              <a:t>对每个位置参数执行一次 </a:t>
            </a:r>
            <a:r>
              <a:rPr lang="en-US" altLang="zh-CN" b="1" dirty="0"/>
              <a:t>COMMANDS,</a:t>
            </a:r>
            <a:r>
              <a:rPr lang="en-US" altLang="zh-CN" dirty="0"/>
              <a:t>$@</a:t>
            </a:r>
            <a:r>
              <a:rPr lang="zh-CN" altLang="en-US" dirty="0"/>
              <a:t>是指命令行参数列表 </a:t>
            </a:r>
          </a:p>
          <a:p>
            <a:r>
              <a:rPr lang="zh-CN" altLang="en-US" sz="2400" dirty="0"/>
              <a:t>例子</a:t>
            </a:r>
            <a:r>
              <a:rPr lang="en-US" altLang="zh-CN" sz="2400" dirty="0"/>
              <a:t>:</a:t>
            </a:r>
          </a:p>
          <a:p>
            <a:pPr lvl="1"/>
            <a:r>
              <a:rPr lang="en-US" altLang="zh-CN" dirty="0"/>
              <a:t>   </a:t>
            </a:r>
            <a:r>
              <a:rPr lang="en-US" altLang="zh-CN" b="1" dirty="0"/>
              <a:t>for x in </a:t>
            </a:r>
            <a:r>
              <a:rPr lang="en-US" altLang="zh-CN" b="1" dirty="0" err="1"/>
              <a:t>abd</a:t>
            </a:r>
            <a:r>
              <a:rPr lang="en-US" altLang="zh-CN" b="1" dirty="0"/>
              <a:t> 2 "my stuff"; do echo $x; done</a:t>
            </a:r>
            <a:endParaRPr lang="en-US" altLang="zh-CN" dirty="0"/>
          </a:p>
          <a:p>
            <a:r>
              <a:rPr lang="zh-CN" altLang="en-US" sz="2400" dirty="0"/>
              <a:t>如果想</a:t>
            </a:r>
            <a:r>
              <a:rPr lang="en-US" altLang="zh-CN" sz="2400" dirty="0"/>
              <a:t>for</a:t>
            </a:r>
            <a:r>
              <a:rPr lang="zh-CN" altLang="en-US" sz="2400" dirty="0"/>
              <a:t>实现象</a:t>
            </a:r>
            <a:r>
              <a:rPr lang="en-US" altLang="zh-CN" sz="2400" dirty="0"/>
              <a:t>C</a:t>
            </a:r>
            <a:r>
              <a:rPr lang="zh-CN" altLang="en-US" sz="2400" dirty="0"/>
              <a:t>中循环累加的结果需要用到</a:t>
            </a:r>
            <a:r>
              <a:rPr lang="en-US" altLang="zh-CN" sz="2400" dirty="0"/>
              <a:t>$(())</a:t>
            </a:r>
            <a:r>
              <a:rPr lang="zh-CN" altLang="en-US" sz="2400" dirty="0"/>
              <a:t>表达式</a:t>
            </a:r>
            <a:endParaRPr lang="zh-CN" altLang="pt-BR" sz="2400" b="1" dirty="0"/>
          </a:p>
          <a:p>
            <a:pPr lvl="1"/>
            <a:r>
              <a:rPr lang="pt-BR" altLang="zh-CN" b="1" dirty="0"/>
              <a:t>for </a:t>
            </a:r>
            <a:r>
              <a:rPr lang="pt-BR" altLang="zh-CN" b="1" dirty="0">
                <a:solidFill>
                  <a:srgbClr val="FF0000"/>
                </a:solidFill>
              </a:rPr>
              <a:t>(( x=2; x&lt;5; x++ ));</a:t>
            </a:r>
            <a:r>
              <a:rPr lang="pt-BR" altLang="zh-CN" b="1" dirty="0"/>
              <a:t> do echo $x; done</a:t>
            </a:r>
            <a:endParaRPr lang="en-US" altLang="zh-CN" b="1" dirty="0"/>
          </a:p>
          <a:p>
            <a:endParaRPr lang="zh-CN" altLang="en-US" sz="2400" dirty="0"/>
          </a:p>
        </p:txBody>
      </p:sp>
    </p:spTree>
    <p:extLst>
      <p:ext uri="{BB962C8B-B14F-4D97-AF65-F5344CB8AC3E}">
        <p14:creationId xmlns:p14="http://schemas.microsoft.com/office/powerpoint/2010/main" val="38307889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for </a:t>
            </a:r>
            <a:r>
              <a:rPr lang="zh-CN" altLang="en-US" dirty="0" smtClean="0"/>
              <a:t>实例</a:t>
            </a:r>
            <a:endParaRPr lang="zh-CN" altLang="en-US" dirty="0"/>
          </a:p>
        </p:txBody>
      </p:sp>
      <p:sp>
        <p:nvSpPr>
          <p:cNvPr id="4" name="Text Box 5"/>
          <p:cNvSpPr txBox="1">
            <a:spLocks noChangeArrowheads="1"/>
          </p:cNvSpPr>
          <p:nvPr/>
        </p:nvSpPr>
        <p:spPr bwMode="auto">
          <a:xfrm>
            <a:off x="1901868" y="1403912"/>
            <a:ext cx="8401229" cy="415716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l"/>
            <a:r>
              <a:rPr kumimoji="1" lang="en-US" altLang="zh-CN" sz="2400" dirty="0">
                <a:ea typeface="宋体" panose="02010600030101010101" pitchFamily="2" charset="-122"/>
              </a:rPr>
              <a:t> #!/</a:t>
            </a:r>
            <a:r>
              <a:rPr kumimoji="1" lang="en-US" altLang="zh-CN" sz="2400" dirty="0" err="1">
                <a:ea typeface="宋体" panose="02010600030101010101" pitchFamily="2" charset="-122"/>
              </a:rPr>
              <a:t>usr</a:t>
            </a:r>
            <a:r>
              <a:rPr kumimoji="1" lang="en-US" altLang="zh-CN" sz="2400" dirty="0">
                <a:ea typeface="宋体" panose="02010600030101010101" pitchFamily="2" charset="-122"/>
              </a:rPr>
              <a:t>/bin/</a:t>
            </a:r>
            <a:r>
              <a:rPr kumimoji="1" lang="en-US" altLang="zh-CN" sz="2400" dirty="0" err="1">
                <a:ea typeface="宋体" panose="02010600030101010101" pitchFamily="2" charset="-122"/>
              </a:rPr>
              <a:t>env</a:t>
            </a:r>
            <a:r>
              <a:rPr kumimoji="1" lang="en-US" altLang="zh-CN" sz="2400" dirty="0">
                <a:ea typeface="宋体" panose="02010600030101010101" pitchFamily="2" charset="-122"/>
              </a:rPr>
              <a:t> bash</a:t>
            </a:r>
          </a:p>
          <a:p>
            <a:pPr algn="l"/>
            <a:r>
              <a:rPr kumimoji="1" lang="en-US" altLang="zh-CN" sz="2400" dirty="0">
                <a:ea typeface="宋体" panose="02010600030101010101" pitchFamily="2" charset="-122"/>
              </a:rPr>
              <a:t> #</a:t>
            </a:r>
            <a:r>
              <a:rPr kumimoji="1" lang="zh-CN" altLang="en-US" sz="2400" dirty="0">
                <a:ea typeface="宋体" panose="02010600030101010101" pitchFamily="2" charset="-122"/>
              </a:rPr>
              <a:t>取得</a:t>
            </a:r>
            <a:r>
              <a:rPr kumimoji="1" lang="en-US" altLang="zh-CN" sz="2400" dirty="0">
                <a:ea typeface="宋体" panose="02010600030101010101" pitchFamily="2" charset="-122"/>
              </a:rPr>
              <a:t>/</a:t>
            </a:r>
            <a:r>
              <a:rPr kumimoji="1" lang="en-US" altLang="zh-CN" sz="2400" dirty="0" err="1">
                <a:ea typeface="宋体" panose="02010600030101010101" pitchFamily="2" charset="-122"/>
              </a:rPr>
              <a:t>etc</a:t>
            </a:r>
            <a:r>
              <a:rPr kumimoji="1" lang="en-US" altLang="zh-CN" sz="2400" dirty="0">
                <a:ea typeface="宋体" panose="02010600030101010101" pitchFamily="2" charset="-122"/>
              </a:rPr>
              <a:t>/</a:t>
            </a:r>
            <a:r>
              <a:rPr kumimoji="1" lang="zh-CN" altLang="en-US" sz="2400" dirty="0">
                <a:ea typeface="宋体" panose="02010600030101010101" pitchFamily="2" charset="-122"/>
              </a:rPr>
              <a:t>目录下所有以</a:t>
            </a:r>
            <a:r>
              <a:rPr kumimoji="1" lang="en-US" altLang="zh-CN" sz="2400" dirty="0">
                <a:ea typeface="宋体" panose="02010600030101010101" pitchFamily="2" charset="-122"/>
              </a:rPr>
              <a:t>r</a:t>
            </a:r>
            <a:r>
              <a:rPr kumimoji="1" lang="zh-CN" altLang="en-US" sz="2400" dirty="0">
                <a:ea typeface="宋体" panose="02010600030101010101" pitchFamily="2" charset="-122"/>
              </a:rPr>
              <a:t>打头的文件名</a:t>
            </a:r>
            <a:r>
              <a:rPr kumimoji="1" lang="en-US" altLang="zh-CN" sz="2400" dirty="0">
                <a:ea typeface="宋体" panose="02010600030101010101" pitchFamily="2" charset="-122"/>
              </a:rPr>
              <a:t>,</a:t>
            </a:r>
            <a:r>
              <a:rPr kumimoji="1" lang="zh-CN" altLang="en-US" sz="2400" dirty="0">
                <a:ea typeface="宋体" panose="02010600030101010101" pitchFamily="2" charset="-122"/>
              </a:rPr>
              <a:t>判断是不是目录</a:t>
            </a:r>
          </a:p>
          <a:p>
            <a:pPr algn="l"/>
            <a:r>
              <a:rPr kumimoji="1" lang="zh-CN" altLang="en-US" sz="2400" dirty="0">
                <a:ea typeface="宋体" panose="02010600030101010101" pitchFamily="2" charset="-122"/>
              </a:rPr>
              <a:t> </a:t>
            </a:r>
            <a:r>
              <a:rPr kumimoji="1" lang="en-US" altLang="zh-CN" sz="2400" dirty="0">
                <a:ea typeface="宋体" panose="02010600030101010101" pitchFamily="2" charset="-122"/>
              </a:rPr>
              <a:t>for </a:t>
            </a:r>
            <a:r>
              <a:rPr kumimoji="1" lang="en-US" altLang="zh-CN" sz="2400" dirty="0" err="1">
                <a:ea typeface="宋体" panose="02010600030101010101" pitchFamily="2" charset="-122"/>
              </a:rPr>
              <a:t>myfile</a:t>
            </a:r>
            <a:r>
              <a:rPr kumimoji="1" lang="en-US" altLang="zh-CN" sz="2400" dirty="0">
                <a:ea typeface="宋体" panose="02010600030101010101" pitchFamily="2" charset="-122"/>
              </a:rPr>
              <a:t> in /</a:t>
            </a:r>
            <a:r>
              <a:rPr kumimoji="1" lang="en-US" altLang="zh-CN" sz="2400" dirty="0" err="1">
                <a:ea typeface="宋体" panose="02010600030101010101" pitchFamily="2" charset="-122"/>
              </a:rPr>
              <a:t>etc</a:t>
            </a:r>
            <a:r>
              <a:rPr kumimoji="1" lang="en-US" altLang="zh-CN" sz="2400" dirty="0">
                <a:ea typeface="宋体" panose="02010600030101010101" pitchFamily="2" charset="-122"/>
              </a:rPr>
              <a:t>/r*</a:t>
            </a:r>
          </a:p>
          <a:p>
            <a:pPr algn="l"/>
            <a:r>
              <a:rPr kumimoji="1" lang="en-US" altLang="zh-CN" sz="2400" dirty="0">
                <a:ea typeface="宋体" panose="02010600030101010101" pitchFamily="2" charset="-122"/>
              </a:rPr>
              <a:t> do</a:t>
            </a:r>
          </a:p>
          <a:p>
            <a:pPr lvl="1" algn="l"/>
            <a:r>
              <a:rPr kumimoji="1" lang="en-US" altLang="zh-CN" sz="2400" dirty="0">
                <a:ea typeface="宋体" panose="02010600030101010101" pitchFamily="2" charset="-122"/>
              </a:rPr>
              <a:t> if [ -d "$</a:t>
            </a:r>
            <a:r>
              <a:rPr kumimoji="1" lang="en-US" altLang="zh-CN" sz="2400" dirty="0" err="1">
                <a:ea typeface="宋体" panose="02010600030101010101" pitchFamily="2" charset="-122"/>
              </a:rPr>
              <a:t>myfile</a:t>
            </a:r>
            <a:r>
              <a:rPr kumimoji="1" lang="en-US" altLang="zh-CN" sz="2400" dirty="0">
                <a:ea typeface="宋体" panose="02010600030101010101" pitchFamily="2" charset="-122"/>
              </a:rPr>
              <a:t>" ] </a:t>
            </a:r>
          </a:p>
          <a:p>
            <a:pPr lvl="1" algn="l"/>
            <a:r>
              <a:rPr kumimoji="1" lang="en-US" altLang="zh-CN" sz="2400" dirty="0">
                <a:ea typeface="宋体" panose="02010600030101010101" pitchFamily="2" charset="-122"/>
              </a:rPr>
              <a:t>then </a:t>
            </a:r>
          </a:p>
          <a:p>
            <a:pPr lvl="1" algn="l"/>
            <a:r>
              <a:rPr kumimoji="1" lang="en-US" altLang="zh-CN" sz="2400" dirty="0">
                <a:ea typeface="宋体" panose="02010600030101010101" pitchFamily="2" charset="-122"/>
              </a:rPr>
              <a:t>       echo "$</a:t>
            </a:r>
            <a:r>
              <a:rPr kumimoji="1" lang="en-US" altLang="zh-CN" sz="2400" dirty="0" err="1">
                <a:ea typeface="宋体" panose="02010600030101010101" pitchFamily="2" charset="-122"/>
              </a:rPr>
              <a:t>myfile</a:t>
            </a:r>
            <a:r>
              <a:rPr kumimoji="1" lang="en-US" altLang="zh-CN" sz="2400" dirty="0">
                <a:ea typeface="宋体" panose="02010600030101010101" pitchFamily="2" charset="-122"/>
              </a:rPr>
              <a:t> (</a:t>
            </a:r>
            <a:r>
              <a:rPr kumimoji="1" lang="en-US" altLang="zh-CN" sz="2400" dirty="0" err="1">
                <a:ea typeface="宋体" panose="02010600030101010101" pitchFamily="2" charset="-122"/>
              </a:rPr>
              <a:t>dir</a:t>
            </a:r>
            <a:r>
              <a:rPr kumimoji="1" lang="en-US" altLang="zh-CN" sz="2400" dirty="0">
                <a:ea typeface="宋体" panose="02010600030101010101" pitchFamily="2" charset="-122"/>
              </a:rPr>
              <a:t>)"</a:t>
            </a:r>
          </a:p>
          <a:p>
            <a:pPr lvl="1" algn="l"/>
            <a:r>
              <a:rPr kumimoji="1" lang="en-US" altLang="zh-CN" sz="2400" dirty="0">
                <a:ea typeface="宋体" panose="02010600030101010101" pitchFamily="2" charset="-122"/>
              </a:rPr>
              <a:t>else</a:t>
            </a:r>
          </a:p>
          <a:p>
            <a:pPr lvl="1" algn="l"/>
            <a:r>
              <a:rPr kumimoji="1" lang="en-US" altLang="zh-CN" sz="2400" dirty="0">
                <a:ea typeface="宋体" panose="02010600030101010101" pitchFamily="2" charset="-122"/>
              </a:rPr>
              <a:t>       echo "$</a:t>
            </a:r>
            <a:r>
              <a:rPr kumimoji="1" lang="en-US" altLang="zh-CN" sz="2400" dirty="0" err="1">
                <a:ea typeface="宋体" panose="02010600030101010101" pitchFamily="2" charset="-122"/>
              </a:rPr>
              <a:t>myfile</a:t>
            </a:r>
            <a:r>
              <a:rPr kumimoji="1" lang="en-US" altLang="zh-CN" sz="2400" dirty="0">
                <a:ea typeface="宋体" panose="02010600030101010101" pitchFamily="2" charset="-122"/>
              </a:rPr>
              <a:t>"</a:t>
            </a:r>
          </a:p>
          <a:p>
            <a:pPr lvl="1" algn="l"/>
            <a:r>
              <a:rPr kumimoji="1" lang="en-US" altLang="zh-CN" sz="2400" dirty="0">
                <a:ea typeface="宋体" panose="02010600030101010101" pitchFamily="2" charset="-122"/>
              </a:rPr>
              <a:t>fi</a:t>
            </a:r>
          </a:p>
          <a:p>
            <a:pPr algn="l"/>
            <a:r>
              <a:rPr kumimoji="1" lang="en-US" altLang="zh-CN" sz="2400" dirty="0">
                <a:ea typeface="宋体" panose="02010600030101010101" pitchFamily="2" charset="-122"/>
              </a:rPr>
              <a:t> done</a:t>
            </a:r>
          </a:p>
        </p:txBody>
      </p:sp>
    </p:spTree>
    <p:extLst>
      <p:ext uri="{BB962C8B-B14F-4D97-AF65-F5344CB8AC3E}">
        <p14:creationId xmlns:p14="http://schemas.microsoft.com/office/powerpoint/2010/main" val="311546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流程控制</a:t>
            </a:r>
            <a:r>
              <a:rPr lang="en-US" altLang="zh-CN" dirty="0" smtClean="0"/>
              <a:t>:while</a:t>
            </a:r>
            <a:r>
              <a:rPr lang="zh-CN" altLang="en-US" dirty="0" smtClean="0"/>
              <a:t>循环</a:t>
            </a:r>
            <a:endParaRPr lang="zh-CN" altLang="en-US" dirty="0"/>
          </a:p>
        </p:txBody>
      </p:sp>
      <p:sp>
        <p:nvSpPr>
          <p:cNvPr id="3" name="内容占位符 2"/>
          <p:cNvSpPr>
            <a:spLocks noGrp="1"/>
          </p:cNvSpPr>
          <p:nvPr>
            <p:ph idx="1"/>
          </p:nvPr>
        </p:nvSpPr>
        <p:spPr/>
        <p:txBody>
          <a:bodyPr>
            <a:normAutofit/>
          </a:bodyPr>
          <a:lstStyle/>
          <a:p>
            <a:r>
              <a:rPr lang="en-US" altLang="zh-CN" sz="3200" b="1" dirty="0"/>
              <a:t>while</a:t>
            </a:r>
            <a:r>
              <a:rPr lang="en-US" altLang="zh-CN" sz="3200" dirty="0"/>
              <a:t> </a:t>
            </a:r>
            <a:r>
              <a:rPr lang="zh-CN" altLang="en-US" sz="3200" dirty="0"/>
              <a:t>结构允许重复执行一系列命令，只要控制 </a:t>
            </a:r>
            <a:r>
              <a:rPr lang="en-US" altLang="zh-CN" sz="3200" b="1" dirty="0"/>
              <a:t>while</a:t>
            </a:r>
            <a:r>
              <a:rPr lang="en-US" altLang="zh-CN" sz="3200" dirty="0"/>
              <a:t> </a:t>
            </a:r>
            <a:r>
              <a:rPr lang="zh-CN" altLang="en-US" sz="3200" dirty="0"/>
              <a:t>循环的命令执行成功（退出状态是零） </a:t>
            </a:r>
          </a:p>
          <a:p>
            <a:r>
              <a:rPr lang="zh-CN" altLang="en-US" sz="3200" b="1" dirty="0"/>
              <a:t>语法格式</a:t>
            </a:r>
          </a:p>
          <a:p>
            <a:pPr lvl="1"/>
            <a:r>
              <a:rPr lang="en-US" altLang="zh-CN" sz="3200" b="1" dirty="0"/>
              <a:t>while CONTROL-COMMAND; do CONSEQUENT-COMMANDS; done </a:t>
            </a:r>
            <a:endParaRPr lang="en-US" altLang="zh-CN" sz="3200" dirty="0"/>
          </a:p>
          <a:p>
            <a:pPr lvl="1"/>
            <a:r>
              <a:rPr lang="en-US" altLang="zh-CN" sz="3200" dirty="0"/>
              <a:t>  CONTROL-COMMAND</a:t>
            </a:r>
            <a:r>
              <a:rPr lang="zh-CN" altLang="en-US" sz="3200" dirty="0"/>
              <a:t>采用</a:t>
            </a:r>
            <a:r>
              <a:rPr lang="en-US" altLang="zh-CN" sz="3200" dirty="0"/>
              <a:t>if</a:t>
            </a:r>
            <a:r>
              <a:rPr lang="zh-CN" altLang="en-US" sz="3200" dirty="0"/>
              <a:t>同样的判断</a:t>
            </a:r>
            <a:r>
              <a:rPr lang="en-US" altLang="zh-CN" sz="3200" dirty="0"/>
              <a:t>test</a:t>
            </a:r>
            <a:r>
              <a:rPr lang="zh-CN" altLang="en-US" sz="3200" dirty="0"/>
              <a:t>表达式</a:t>
            </a:r>
          </a:p>
          <a:p>
            <a:pPr lvl="1"/>
            <a:r>
              <a:rPr lang="zh-CN" altLang="en-US" sz="3200" dirty="0"/>
              <a:t>  这里</a:t>
            </a:r>
            <a:r>
              <a:rPr lang="en-US" altLang="zh-CN" sz="3200" dirty="0" err="1"/>
              <a:t>while,do,done</a:t>
            </a:r>
            <a:r>
              <a:rPr lang="zh-CN" altLang="en-US" sz="3200" dirty="0"/>
              <a:t>都是命令</a:t>
            </a:r>
            <a:r>
              <a:rPr lang="en-US" altLang="zh-CN" sz="3200" dirty="0"/>
              <a:t>,</a:t>
            </a:r>
            <a:r>
              <a:rPr lang="zh-CN" altLang="en-US" sz="3200" dirty="0"/>
              <a:t>在一行内要</a:t>
            </a:r>
            <a:r>
              <a:rPr lang="en-US" altLang="zh-CN" sz="3200" dirty="0"/>
              <a:t>;</a:t>
            </a:r>
            <a:r>
              <a:rPr lang="zh-CN" altLang="en-US" sz="3200" dirty="0"/>
              <a:t>隔开</a:t>
            </a:r>
          </a:p>
          <a:p>
            <a:endParaRPr lang="zh-CN" altLang="en-US" sz="3200" dirty="0"/>
          </a:p>
        </p:txBody>
      </p:sp>
    </p:spTree>
    <p:extLst>
      <p:ext uri="{BB962C8B-B14F-4D97-AF65-F5344CB8AC3E}">
        <p14:creationId xmlns:p14="http://schemas.microsoft.com/office/powerpoint/2010/main" val="35498692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while</a:t>
            </a:r>
            <a:r>
              <a:rPr lang="zh-CN" altLang="en-US" dirty="0" smtClean="0"/>
              <a:t>实例</a:t>
            </a:r>
            <a:endParaRPr lang="zh-CN" altLang="en-US" dirty="0"/>
          </a:p>
        </p:txBody>
      </p:sp>
      <p:sp>
        <p:nvSpPr>
          <p:cNvPr id="4" name="Text Box 4"/>
          <p:cNvSpPr txBox="1">
            <a:spLocks noChangeArrowheads="1"/>
          </p:cNvSpPr>
          <p:nvPr/>
        </p:nvSpPr>
        <p:spPr bwMode="auto">
          <a:xfrm>
            <a:off x="2696827" y="2450160"/>
            <a:ext cx="5257800" cy="2679837"/>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r>
              <a:rPr kumimoji="1" lang="en-US" altLang="zh-CN" sz="2800" dirty="0"/>
              <a:t>X=1</a:t>
            </a:r>
          </a:p>
          <a:p>
            <a:r>
              <a:rPr kumimoji="1" lang="en-US" altLang="zh-CN" sz="2800" dirty="0"/>
              <a:t>while (( X &lt;= 10 ))</a:t>
            </a:r>
          </a:p>
          <a:p>
            <a:r>
              <a:rPr kumimoji="1" lang="en-US" altLang="zh-CN" sz="2800" dirty="0"/>
              <a:t>do</a:t>
            </a:r>
          </a:p>
          <a:p>
            <a:r>
              <a:rPr kumimoji="1" lang="en-US" altLang="zh-CN" sz="2800" dirty="0"/>
              <a:t>	echo hello X is $X</a:t>
            </a:r>
          </a:p>
          <a:p>
            <a:r>
              <a:rPr kumimoji="1" lang="en-US" altLang="zh-CN" sz="2800" dirty="0"/>
              <a:t>	let X=X+1</a:t>
            </a:r>
          </a:p>
          <a:p>
            <a:r>
              <a:rPr kumimoji="1" lang="en-US" altLang="zh-CN" sz="2800" dirty="0"/>
              <a:t>done</a:t>
            </a:r>
            <a:endParaRPr kumimoji="1" lang="en-US" altLang="zh-CN" sz="2800" dirty="0">
              <a:ea typeface="宋体" panose="02010600030101010101" pitchFamily="2" charset="-122"/>
            </a:endParaRPr>
          </a:p>
        </p:txBody>
      </p:sp>
    </p:spTree>
    <p:extLst>
      <p:ext uri="{BB962C8B-B14F-4D97-AF65-F5344CB8AC3E}">
        <p14:creationId xmlns:p14="http://schemas.microsoft.com/office/powerpoint/2010/main" val="2652136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流程控制</a:t>
            </a:r>
            <a:r>
              <a:rPr lang="en-US" altLang="zh-CN" dirty="0" smtClean="0"/>
              <a:t>:</a:t>
            </a:r>
            <a:r>
              <a:rPr lang="en-US" altLang="zh-CN" dirty="0" err="1" smtClean="0"/>
              <a:t>util</a:t>
            </a:r>
            <a:r>
              <a:rPr lang="zh-CN" altLang="en-US" dirty="0" smtClean="0"/>
              <a:t>循环</a:t>
            </a:r>
            <a:endParaRPr lang="zh-CN" altLang="en-US" dirty="0"/>
          </a:p>
        </p:txBody>
      </p:sp>
      <p:sp>
        <p:nvSpPr>
          <p:cNvPr id="3" name="内容占位符 2"/>
          <p:cNvSpPr>
            <a:spLocks noGrp="1"/>
          </p:cNvSpPr>
          <p:nvPr>
            <p:ph idx="1"/>
          </p:nvPr>
        </p:nvSpPr>
        <p:spPr/>
        <p:txBody>
          <a:bodyPr>
            <a:normAutofit/>
          </a:bodyPr>
          <a:lstStyle/>
          <a:p>
            <a:r>
              <a:rPr lang="zh-CN" altLang="en-US" b="1" dirty="0"/>
              <a:t>重复循环直到条件为真为止。</a:t>
            </a:r>
          </a:p>
          <a:p>
            <a:r>
              <a:rPr lang="en-US" altLang="zh-CN" b="1" dirty="0"/>
              <a:t>until</a:t>
            </a:r>
            <a:r>
              <a:rPr lang="en-US" altLang="zh-CN" dirty="0"/>
              <a:t> </a:t>
            </a:r>
            <a:r>
              <a:rPr lang="zh-CN" altLang="en-US" dirty="0"/>
              <a:t>循环和 </a:t>
            </a:r>
            <a:r>
              <a:rPr lang="en-US" altLang="zh-CN" b="1" dirty="0"/>
              <a:t>while</a:t>
            </a:r>
            <a:r>
              <a:rPr lang="en-US" altLang="zh-CN" dirty="0"/>
              <a:t> </a:t>
            </a:r>
            <a:r>
              <a:rPr lang="zh-CN" altLang="en-US" dirty="0"/>
              <a:t>循环非常相似， 但是正好相反</a:t>
            </a:r>
            <a:r>
              <a:rPr lang="en-US" altLang="zh-CN" dirty="0"/>
              <a:t>,</a:t>
            </a:r>
            <a:r>
              <a:rPr lang="zh-CN" altLang="en-US" dirty="0"/>
              <a:t>除了循环执行直到 </a:t>
            </a:r>
            <a:r>
              <a:rPr lang="en-US" altLang="zh-CN" b="1" dirty="0"/>
              <a:t>TEST-COMMAND</a:t>
            </a:r>
            <a:r>
              <a:rPr lang="en-US" altLang="zh-CN" dirty="0"/>
              <a:t> </a:t>
            </a:r>
            <a:r>
              <a:rPr lang="zh-CN" altLang="en-US" dirty="0"/>
              <a:t>执行成功。只要这个命令测试失败，循环就继续。</a:t>
            </a:r>
          </a:p>
          <a:p>
            <a:pPr lvl="1"/>
            <a:r>
              <a:rPr lang="en-US" altLang="zh-CN" sz="2800" dirty="0"/>
              <a:t>until TEST-COMMAND; do CONSEQUENT-COMMANDS; done </a:t>
            </a:r>
          </a:p>
          <a:p>
            <a:endParaRPr lang="zh-CN" altLang="en-US" dirty="0"/>
          </a:p>
        </p:txBody>
      </p:sp>
    </p:spTree>
    <p:extLst>
      <p:ext uri="{BB962C8B-B14F-4D97-AF65-F5344CB8AC3E}">
        <p14:creationId xmlns:p14="http://schemas.microsoft.com/office/powerpoint/2010/main" val="13592996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util</a:t>
            </a:r>
            <a:r>
              <a:rPr lang="zh-CN" altLang="en-US" dirty="0"/>
              <a:t>表达式</a:t>
            </a:r>
          </a:p>
        </p:txBody>
      </p:sp>
      <p:sp>
        <p:nvSpPr>
          <p:cNvPr id="4" name="Text Box 4"/>
          <p:cNvSpPr txBox="1">
            <a:spLocks noChangeArrowheads="1"/>
          </p:cNvSpPr>
          <p:nvPr/>
        </p:nvSpPr>
        <p:spPr bwMode="auto">
          <a:xfrm>
            <a:off x="2768019" y="2520030"/>
            <a:ext cx="5257800" cy="3049169"/>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r>
              <a:rPr kumimoji="1" lang="en-US" altLang="zh-CN" sz="3200" dirty="0"/>
              <a:t>X=1</a:t>
            </a:r>
          </a:p>
          <a:p>
            <a:r>
              <a:rPr kumimoji="1" lang="en-US" altLang="zh-CN" sz="3200" dirty="0"/>
              <a:t>until (( X &gt; 10 ))</a:t>
            </a:r>
          </a:p>
          <a:p>
            <a:r>
              <a:rPr kumimoji="1" lang="en-US" altLang="zh-CN" sz="3200" dirty="0"/>
              <a:t>do </a:t>
            </a:r>
          </a:p>
          <a:p>
            <a:r>
              <a:rPr kumimoji="1" lang="en-US" altLang="zh-CN" sz="3200" dirty="0"/>
              <a:t>	echo hello X is $X</a:t>
            </a:r>
          </a:p>
          <a:p>
            <a:r>
              <a:rPr kumimoji="1" lang="en-US" altLang="zh-CN" sz="3200" dirty="0"/>
              <a:t>	let X=X+1</a:t>
            </a:r>
          </a:p>
          <a:p>
            <a:r>
              <a:rPr kumimoji="1" lang="en-US" altLang="zh-CN" sz="3200" dirty="0"/>
              <a:t>done</a:t>
            </a:r>
            <a:endParaRPr kumimoji="1" lang="en-US" altLang="zh-CN" sz="3200" dirty="0">
              <a:ea typeface="宋体" panose="02010600030101010101" pitchFamily="2" charset="-122"/>
            </a:endParaRPr>
          </a:p>
        </p:txBody>
      </p:sp>
    </p:spTree>
    <p:extLst>
      <p:ext uri="{BB962C8B-B14F-4D97-AF65-F5344CB8AC3E}">
        <p14:creationId xmlns:p14="http://schemas.microsoft.com/office/powerpoint/2010/main" val="411956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Shift</a:t>
            </a:r>
            <a:r>
              <a:rPr lang="zh-CN" altLang="en-US" b="1" dirty="0"/>
              <a:t>命令</a:t>
            </a:r>
            <a:endParaRPr lang="zh-CN" altLang="en-US" dirty="0"/>
          </a:p>
        </p:txBody>
      </p:sp>
      <p:sp>
        <p:nvSpPr>
          <p:cNvPr id="3" name="内容占位符 2"/>
          <p:cNvSpPr>
            <a:spLocks noGrp="1"/>
          </p:cNvSpPr>
          <p:nvPr>
            <p:ph idx="1"/>
          </p:nvPr>
        </p:nvSpPr>
        <p:spPr>
          <a:xfrm>
            <a:off x="838200" y="1584101"/>
            <a:ext cx="10515600" cy="4592862"/>
          </a:xfrm>
        </p:spPr>
        <p:txBody>
          <a:bodyPr>
            <a:normAutofit fontScale="92500" lnSpcReduction="10000"/>
          </a:bodyPr>
          <a:lstStyle/>
          <a:p>
            <a:r>
              <a:rPr lang="zh-CN" altLang="en-US" dirty="0"/>
              <a:t>很多时候</a:t>
            </a:r>
            <a:r>
              <a:rPr lang="en-US" altLang="zh-CN" dirty="0"/>
              <a:t>,</a:t>
            </a:r>
            <a:r>
              <a:rPr lang="zh-CN" altLang="en-US" dirty="0"/>
              <a:t>变量值是一组以空格隔开的列表</a:t>
            </a:r>
            <a:r>
              <a:rPr lang="en-US" altLang="zh-CN" dirty="0"/>
              <a:t>,</a:t>
            </a:r>
            <a:r>
              <a:rPr lang="zh-CN" altLang="en-US" dirty="0"/>
              <a:t>如命令行参数</a:t>
            </a:r>
            <a:r>
              <a:rPr lang="en-US" altLang="zh-CN" dirty="0"/>
              <a:t>,</a:t>
            </a:r>
            <a:r>
              <a:rPr lang="zh-CN" altLang="en-US" dirty="0"/>
              <a:t>一组文件名列表等等</a:t>
            </a:r>
            <a:r>
              <a:rPr lang="en-US" altLang="zh-CN" dirty="0"/>
              <a:t>.</a:t>
            </a:r>
            <a:r>
              <a:rPr lang="zh-CN" altLang="en-US" dirty="0"/>
              <a:t>在循环中可能需要逐一处理</a:t>
            </a:r>
            <a:r>
              <a:rPr lang="en-US" altLang="zh-CN" dirty="0"/>
              <a:t>.C</a:t>
            </a:r>
            <a:r>
              <a:rPr lang="zh-CN" altLang="en-US" dirty="0"/>
              <a:t>语言</a:t>
            </a:r>
            <a:r>
              <a:rPr lang="zh-CN" altLang="en-US" dirty="0" smtClean="0"/>
              <a:t>只能数组</a:t>
            </a:r>
            <a:r>
              <a:rPr lang="zh-CN" altLang="en-US" dirty="0"/>
              <a:t>加下标</a:t>
            </a:r>
            <a:r>
              <a:rPr lang="en-US" altLang="zh-CN" dirty="0"/>
              <a:t>,</a:t>
            </a:r>
            <a:r>
              <a:rPr lang="zh-CN" altLang="en-US" dirty="0"/>
              <a:t>或指针变量移动来处理</a:t>
            </a:r>
            <a:r>
              <a:rPr lang="en-US" altLang="zh-CN" dirty="0"/>
              <a:t>.</a:t>
            </a:r>
            <a:r>
              <a:rPr lang="zh-CN" altLang="en-US" dirty="0"/>
              <a:t>那</a:t>
            </a:r>
            <a:r>
              <a:rPr lang="en-US" altLang="zh-CN" dirty="0"/>
              <a:t>Shell</a:t>
            </a:r>
            <a:r>
              <a:rPr lang="zh-CN" altLang="en-US" dirty="0"/>
              <a:t>脚本呢</a:t>
            </a:r>
            <a:r>
              <a:rPr lang="en-US" altLang="zh-CN" dirty="0"/>
              <a:t>,</a:t>
            </a:r>
            <a:r>
              <a:rPr lang="zh-CN" altLang="en-US" dirty="0"/>
              <a:t>当然开发者可以自己处理字符串</a:t>
            </a:r>
            <a:r>
              <a:rPr lang="en-US" altLang="zh-CN" dirty="0"/>
              <a:t>,</a:t>
            </a:r>
            <a:r>
              <a:rPr lang="zh-CN" altLang="en-US" dirty="0"/>
              <a:t>一个一个把值分离出来</a:t>
            </a:r>
            <a:r>
              <a:rPr lang="en-US" altLang="zh-CN" dirty="0"/>
              <a:t>,</a:t>
            </a:r>
            <a:r>
              <a:rPr lang="zh-CN" altLang="en-US" dirty="0"/>
              <a:t>但是在</a:t>
            </a:r>
            <a:r>
              <a:rPr lang="en-US" altLang="zh-CN" dirty="0"/>
              <a:t>Shell</a:t>
            </a:r>
            <a:r>
              <a:rPr lang="zh-CN" altLang="en-US" dirty="0"/>
              <a:t>脚本里有更简单办法</a:t>
            </a:r>
            <a:r>
              <a:rPr lang="en-US" altLang="zh-CN" dirty="0"/>
              <a:t>.</a:t>
            </a:r>
          </a:p>
          <a:p>
            <a:r>
              <a:rPr lang="zh-CN" altLang="en-US" dirty="0"/>
              <a:t>使用</a:t>
            </a:r>
            <a:r>
              <a:rPr lang="en-US" altLang="zh-CN" dirty="0"/>
              <a:t>Shift</a:t>
            </a:r>
            <a:r>
              <a:rPr lang="zh-CN" altLang="en-US" dirty="0"/>
              <a:t>命令来处理</a:t>
            </a:r>
            <a:r>
              <a:rPr lang="en-US" altLang="zh-CN" dirty="0"/>
              <a:t>.Shift</a:t>
            </a:r>
            <a:r>
              <a:rPr lang="zh-CN" altLang="en-US" dirty="0"/>
              <a:t>命令每次把从命令行参数位置变量值取一个值出来</a:t>
            </a:r>
            <a:r>
              <a:rPr lang="en-US" altLang="zh-CN" dirty="0"/>
              <a:t>,</a:t>
            </a:r>
            <a:r>
              <a:rPr lang="zh-CN" altLang="en-US" dirty="0"/>
              <a:t>并且把总数减一</a:t>
            </a:r>
            <a:r>
              <a:rPr lang="en-US" altLang="zh-CN" dirty="0"/>
              <a:t>.</a:t>
            </a:r>
            <a:r>
              <a:rPr lang="zh-CN" altLang="en-US" dirty="0"/>
              <a:t>这样处理循环起来非常简单</a:t>
            </a:r>
          </a:p>
          <a:p>
            <a:r>
              <a:rPr lang="en-US" altLang="zh-CN" dirty="0"/>
              <a:t>shift</a:t>
            </a:r>
            <a:r>
              <a:rPr lang="zh-CN" altLang="en-US" dirty="0"/>
              <a:t>后可加整数进行一次多个移位</a:t>
            </a:r>
          </a:p>
          <a:p>
            <a:pPr lvl="1"/>
            <a:r>
              <a:rPr lang="en-US" altLang="zh-CN" sz="2800" dirty="0"/>
              <a:t>shift 3</a:t>
            </a:r>
          </a:p>
          <a:p>
            <a:endParaRPr lang="zh-CN" altLang="en-US" dirty="0"/>
          </a:p>
        </p:txBody>
      </p:sp>
    </p:spTree>
    <p:extLst>
      <p:ext uri="{BB962C8B-B14F-4D97-AF65-F5344CB8AC3E}">
        <p14:creationId xmlns:p14="http://schemas.microsoft.com/office/powerpoint/2010/main" val="29984600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shift</a:t>
            </a:r>
            <a:r>
              <a:rPr lang="zh-CN" altLang="en-US" dirty="0"/>
              <a:t>实例</a:t>
            </a:r>
          </a:p>
        </p:txBody>
      </p:sp>
      <p:sp>
        <p:nvSpPr>
          <p:cNvPr id="3" name="内容占位符 2"/>
          <p:cNvSpPr>
            <a:spLocks noGrp="1"/>
          </p:cNvSpPr>
          <p:nvPr>
            <p:ph idx="1"/>
          </p:nvPr>
        </p:nvSpPr>
        <p:spPr>
          <a:xfrm>
            <a:off x="838200" y="1328494"/>
            <a:ext cx="9464899" cy="724392"/>
          </a:xfrm>
        </p:spPr>
        <p:txBody>
          <a:bodyPr/>
          <a:lstStyle/>
          <a:p>
            <a:r>
              <a:rPr lang="zh-CN" altLang="en-US" dirty="0"/>
              <a:t>注意命令行参数总数</a:t>
            </a:r>
            <a:r>
              <a:rPr lang="en-US" altLang="zh-CN" dirty="0"/>
              <a:t>,$#</a:t>
            </a:r>
            <a:r>
              <a:rPr lang="zh-CN" altLang="en-US" dirty="0"/>
              <a:t>每</a:t>
            </a:r>
            <a:r>
              <a:rPr lang="en-US" altLang="zh-CN" dirty="0"/>
              <a:t>shift</a:t>
            </a:r>
            <a:r>
              <a:rPr lang="zh-CN" altLang="en-US" dirty="0"/>
              <a:t>一次</a:t>
            </a:r>
            <a:r>
              <a:rPr lang="en-US" altLang="zh-CN" dirty="0"/>
              <a:t>,</a:t>
            </a:r>
            <a:r>
              <a:rPr lang="zh-CN" altLang="en-US" dirty="0"/>
              <a:t>值减一</a:t>
            </a:r>
            <a:r>
              <a:rPr lang="en-US" altLang="zh-CN" dirty="0"/>
              <a:t>.</a:t>
            </a:r>
          </a:p>
          <a:p>
            <a:endParaRPr lang="zh-CN" altLang="en-US" dirty="0"/>
          </a:p>
        </p:txBody>
      </p:sp>
      <p:sp>
        <p:nvSpPr>
          <p:cNvPr id="4" name="Text Box 4"/>
          <p:cNvSpPr txBox="1">
            <a:spLocks noChangeArrowheads="1"/>
          </p:cNvSpPr>
          <p:nvPr/>
        </p:nvSpPr>
        <p:spPr bwMode="auto">
          <a:xfrm>
            <a:off x="5758265" y="2173347"/>
            <a:ext cx="6264275" cy="2587504"/>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a:t>
            </a:r>
            <a:r>
              <a:rPr kumimoji="1" lang="zh-CN" altLang="en-US" dirty="0">
                <a:ea typeface="宋体" panose="02010600030101010101" pitchFamily="2" charset="-122"/>
              </a:rPr>
              <a:t>利用</a:t>
            </a:r>
            <a:r>
              <a:rPr kumimoji="1" lang="en-US" altLang="zh-CN" dirty="0">
                <a:ea typeface="宋体" panose="02010600030101010101" pitchFamily="2" charset="-122"/>
              </a:rPr>
              <a:t>shift</a:t>
            </a:r>
            <a:r>
              <a:rPr kumimoji="1" lang="zh-CN" altLang="en-US" dirty="0">
                <a:ea typeface="宋体" panose="02010600030101010101" pitchFamily="2" charset="-122"/>
              </a:rPr>
              <a:t>计算所有参数乘积，假设参数均为整数</a:t>
            </a:r>
          </a:p>
          <a:p>
            <a:pPr algn="l"/>
            <a:r>
              <a:rPr kumimoji="1" lang="en-US" altLang="zh-CN" dirty="0">
                <a:ea typeface="宋体" panose="02010600030101010101" pitchFamily="2" charset="-122"/>
              </a:rPr>
              <a:t>#! /bin/</a:t>
            </a:r>
            <a:r>
              <a:rPr kumimoji="1" lang="en-US" altLang="zh-CN" dirty="0" err="1">
                <a:ea typeface="宋体" panose="02010600030101010101" pitchFamily="2" charset="-122"/>
              </a:rPr>
              <a:t>sh</a:t>
            </a:r>
            <a:endParaRPr kumimoji="1" lang="en-US" altLang="zh-CN" dirty="0">
              <a:ea typeface="宋体" panose="02010600030101010101" pitchFamily="2" charset="-122"/>
            </a:endParaRPr>
          </a:p>
          <a:p>
            <a:pPr algn="l"/>
            <a:r>
              <a:rPr kumimoji="1" lang="en-US" altLang="zh-CN" dirty="0">
                <a:ea typeface="宋体" panose="02010600030101010101" pitchFamily="2" charset="-122"/>
              </a:rPr>
              <a:t>result=1</a:t>
            </a:r>
          </a:p>
          <a:p>
            <a:pPr algn="l"/>
            <a:r>
              <a:rPr kumimoji="1" lang="en-US" altLang="zh-CN" dirty="0">
                <a:ea typeface="宋体" panose="02010600030101010101" pitchFamily="2" charset="-122"/>
              </a:rPr>
              <a:t>while [ $# -</a:t>
            </a:r>
            <a:r>
              <a:rPr kumimoji="1" lang="en-US" altLang="zh-CN" dirty="0" err="1">
                <a:ea typeface="宋体" panose="02010600030101010101" pitchFamily="2" charset="-122"/>
              </a:rPr>
              <a:t>gt</a:t>
            </a:r>
            <a:r>
              <a:rPr kumimoji="1" lang="en-US" altLang="zh-CN" dirty="0">
                <a:ea typeface="宋体" panose="02010600030101010101" pitchFamily="2" charset="-122"/>
              </a:rPr>
              <a:t> 0 ]</a:t>
            </a:r>
          </a:p>
          <a:p>
            <a:pPr algn="l"/>
            <a:r>
              <a:rPr kumimoji="1" lang="en-US" altLang="zh-CN" dirty="0">
                <a:ea typeface="宋体" panose="02010600030101010101" pitchFamily="2" charset="-122"/>
              </a:rPr>
              <a:t>do</a:t>
            </a:r>
          </a:p>
          <a:p>
            <a:pPr algn="l"/>
            <a:r>
              <a:rPr kumimoji="1" lang="en-US" altLang="zh-CN" dirty="0">
                <a:ea typeface="宋体" panose="02010600030101010101" pitchFamily="2" charset="-122"/>
              </a:rPr>
              <a:t>     result=`expr $result </a:t>
            </a:r>
            <a:r>
              <a:rPr kumimoji="1" lang="en-US" altLang="zh-CN" dirty="0" smtClean="0">
                <a:ea typeface="宋体" panose="02010600030101010101" pitchFamily="2" charset="-122"/>
              </a:rPr>
              <a:t>\* </a:t>
            </a:r>
            <a:r>
              <a:rPr kumimoji="1" lang="en-US" altLang="zh-CN" dirty="0">
                <a:ea typeface="宋体" panose="02010600030101010101" pitchFamily="2" charset="-122"/>
              </a:rPr>
              <a:t>$1`</a:t>
            </a:r>
          </a:p>
          <a:p>
            <a:pPr algn="l"/>
            <a:r>
              <a:rPr kumimoji="1" lang="en-US" altLang="zh-CN" dirty="0">
                <a:ea typeface="宋体" panose="02010600030101010101" pitchFamily="2" charset="-122"/>
              </a:rPr>
              <a:t>     shift</a:t>
            </a:r>
          </a:p>
          <a:p>
            <a:pPr algn="l"/>
            <a:r>
              <a:rPr kumimoji="1" lang="en-US" altLang="zh-CN" dirty="0">
                <a:ea typeface="宋体" panose="02010600030101010101" pitchFamily="2" charset="-122"/>
              </a:rPr>
              <a:t>done</a:t>
            </a:r>
          </a:p>
          <a:p>
            <a:pPr algn="l"/>
            <a:r>
              <a:rPr kumimoji="1" lang="en-US" altLang="zh-CN" dirty="0">
                <a:ea typeface="宋体" panose="02010600030101010101" pitchFamily="2" charset="-122"/>
              </a:rPr>
              <a:t>echo $result</a:t>
            </a:r>
          </a:p>
        </p:txBody>
      </p:sp>
      <p:sp>
        <p:nvSpPr>
          <p:cNvPr id="5" name="Text Box 6"/>
          <p:cNvSpPr txBox="1">
            <a:spLocks noChangeArrowheads="1"/>
          </p:cNvSpPr>
          <p:nvPr/>
        </p:nvSpPr>
        <p:spPr bwMode="auto">
          <a:xfrm>
            <a:off x="352827" y="2805361"/>
            <a:ext cx="5257800" cy="16541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a:t>
            </a:r>
            <a:r>
              <a:rPr kumimoji="1" lang="zh-CN" altLang="en-US" dirty="0">
                <a:ea typeface="宋体" panose="02010600030101010101" pitchFamily="2" charset="-122"/>
              </a:rPr>
              <a:t>打印所有命令行参数</a:t>
            </a:r>
          </a:p>
          <a:p>
            <a:pPr algn="l"/>
            <a:r>
              <a:rPr kumimoji="1" lang="en-US" altLang="zh-CN" dirty="0">
                <a:ea typeface="宋体" panose="02010600030101010101" pitchFamily="2" charset="-122"/>
              </a:rPr>
              <a:t>until [ $# -</a:t>
            </a:r>
            <a:r>
              <a:rPr kumimoji="1" lang="en-US" altLang="zh-CN" dirty="0" err="1">
                <a:ea typeface="宋体" panose="02010600030101010101" pitchFamily="2" charset="-122"/>
              </a:rPr>
              <a:t>eq</a:t>
            </a:r>
            <a:r>
              <a:rPr kumimoji="1" lang="en-US" altLang="zh-CN" dirty="0">
                <a:ea typeface="宋体" panose="02010600030101010101" pitchFamily="2" charset="-122"/>
              </a:rPr>
              <a:t> 0 ] ; do</a:t>
            </a:r>
          </a:p>
          <a:p>
            <a:pPr algn="l"/>
            <a:r>
              <a:rPr kumimoji="1" lang="en-US" altLang="zh-CN" dirty="0">
                <a:ea typeface="宋体" panose="02010600030101010101" pitchFamily="2" charset="-122"/>
              </a:rPr>
              <a:t>         echo “para= $1 count $#"</a:t>
            </a:r>
          </a:p>
          <a:p>
            <a:pPr algn="l"/>
            <a:r>
              <a:rPr kumimoji="1" lang="en-US" altLang="zh-CN" dirty="0">
                <a:ea typeface="宋体" panose="02010600030101010101" pitchFamily="2" charset="-122"/>
              </a:rPr>
              <a:t>         </a:t>
            </a:r>
            <a:r>
              <a:rPr kumimoji="1" lang="en-US" altLang="zh-CN" dirty="0">
                <a:solidFill>
                  <a:srgbClr val="FF0000"/>
                </a:solidFill>
                <a:ea typeface="宋体" panose="02010600030101010101" pitchFamily="2" charset="-122"/>
              </a:rPr>
              <a:t>shift</a:t>
            </a:r>
          </a:p>
          <a:p>
            <a:pPr algn="l"/>
            <a:r>
              <a:rPr kumimoji="1" lang="en-US" altLang="zh-CN" dirty="0">
                <a:ea typeface="宋体" panose="02010600030101010101" pitchFamily="2" charset="-122"/>
              </a:rPr>
              <a:t>    done</a:t>
            </a:r>
          </a:p>
        </p:txBody>
      </p:sp>
    </p:spTree>
    <p:extLst>
      <p:ext uri="{BB962C8B-B14F-4D97-AF65-F5344CB8AC3E}">
        <p14:creationId xmlns:p14="http://schemas.microsoft.com/office/powerpoint/2010/main" val="373278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循环跳转机制</a:t>
            </a:r>
            <a:endParaRPr lang="zh-CN" altLang="en-US" dirty="0"/>
          </a:p>
        </p:txBody>
      </p:sp>
      <p:sp>
        <p:nvSpPr>
          <p:cNvPr id="3" name="内容占位符 2"/>
          <p:cNvSpPr>
            <a:spLocks noGrp="1"/>
          </p:cNvSpPr>
          <p:nvPr>
            <p:ph idx="1"/>
          </p:nvPr>
        </p:nvSpPr>
        <p:spPr>
          <a:xfrm>
            <a:off x="809625" y="1201492"/>
            <a:ext cx="10515600" cy="4945487"/>
          </a:xfrm>
        </p:spPr>
        <p:txBody>
          <a:bodyPr>
            <a:noAutofit/>
          </a:bodyPr>
          <a:lstStyle/>
          <a:p>
            <a:pPr>
              <a:lnSpc>
                <a:spcPct val="80000"/>
              </a:lnSpc>
            </a:pPr>
            <a:r>
              <a:rPr lang="en-US" altLang="zh-CN" sz="2400" b="1" dirty="0" err="1"/>
              <a:t>exit,break</a:t>
            </a:r>
            <a:r>
              <a:rPr lang="en-US" altLang="zh-CN" sz="2400" b="1" dirty="0"/>
              <a:t> </a:t>
            </a:r>
            <a:r>
              <a:rPr lang="zh-CN" altLang="en-US" sz="2400" b="1" dirty="0"/>
              <a:t>和 </a:t>
            </a:r>
            <a:r>
              <a:rPr lang="en-US" altLang="zh-CN" sz="2400" b="1" dirty="0"/>
              <a:t>continue</a:t>
            </a:r>
            <a:r>
              <a:rPr lang="en-US" altLang="zh-CN" sz="2400" dirty="0"/>
              <a:t> </a:t>
            </a:r>
            <a:r>
              <a:rPr lang="zh-CN" altLang="en-US" sz="2400" dirty="0"/>
              <a:t>跳出机制</a:t>
            </a:r>
          </a:p>
          <a:p>
            <a:pPr>
              <a:lnSpc>
                <a:spcPct val="80000"/>
              </a:lnSpc>
            </a:pPr>
            <a:r>
              <a:rPr lang="zh-CN" altLang="en-US" sz="2400" dirty="0"/>
              <a:t>这些机制跟</a:t>
            </a:r>
            <a:r>
              <a:rPr lang="en-US" altLang="zh-CN" sz="2400" dirty="0"/>
              <a:t>C</a:t>
            </a:r>
            <a:r>
              <a:rPr lang="zh-CN" altLang="en-US" sz="2400" dirty="0"/>
              <a:t>语言是一样的</a:t>
            </a:r>
            <a:r>
              <a:rPr lang="en-US" altLang="zh-CN" sz="2400" dirty="0"/>
              <a:t>,</a:t>
            </a:r>
            <a:r>
              <a:rPr lang="zh-CN" altLang="en-US" sz="2400" dirty="0"/>
              <a:t>可用于</a:t>
            </a:r>
            <a:r>
              <a:rPr lang="en-US" altLang="zh-CN" sz="2400" dirty="0"/>
              <a:t>if</a:t>
            </a:r>
            <a:r>
              <a:rPr lang="zh-CN" altLang="en-US" sz="2400" dirty="0"/>
              <a:t>和循环中</a:t>
            </a:r>
            <a:r>
              <a:rPr lang="en-US" altLang="zh-CN" sz="2400" dirty="0"/>
              <a:t>.</a:t>
            </a:r>
            <a:r>
              <a:rPr lang="zh-CN" altLang="en-US" sz="2400" dirty="0"/>
              <a:t>都是用于提前跳出 </a:t>
            </a:r>
          </a:p>
          <a:p>
            <a:pPr lvl="1">
              <a:lnSpc>
                <a:spcPct val="80000"/>
              </a:lnSpc>
            </a:pPr>
            <a:r>
              <a:rPr lang="en-US" altLang="zh-CN" dirty="0"/>
              <a:t>break [n]     </a:t>
            </a:r>
            <a:r>
              <a:rPr lang="zh-CN" altLang="en-US" dirty="0"/>
              <a:t>中止循环过程的执行，并且跳到下一个命令。</a:t>
            </a:r>
            <a:r>
              <a:rPr lang="en-US" altLang="zh-CN" dirty="0"/>
              <a:t>N</a:t>
            </a:r>
            <a:r>
              <a:rPr lang="zh-CN" altLang="en-US" dirty="0"/>
              <a:t>表示跳出嵌套的层数</a:t>
            </a:r>
          </a:p>
          <a:p>
            <a:pPr lvl="1">
              <a:lnSpc>
                <a:spcPct val="80000"/>
              </a:lnSpc>
            </a:pPr>
            <a:r>
              <a:rPr lang="en-US" altLang="zh-CN" dirty="0"/>
              <a:t>continue [n]  </a:t>
            </a:r>
            <a:r>
              <a:rPr lang="zh-CN" altLang="en-US" dirty="0"/>
              <a:t>停止循环过程的当前一个反复并且跳到循环中的下一个反复过程的开始部分</a:t>
            </a:r>
            <a:r>
              <a:rPr lang="en-US" altLang="zh-CN" dirty="0"/>
              <a:t>,n</a:t>
            </a:r>
            <a:r>
              <a:rPr lang="zh-CN" altLang="en-US" dirty="0"/>
              <a:t>表示忽略的层数</a:t>
            </a:r>
          </a:p>
          <a:p>
            <a:pPr lvl="1">
              <a:lnSpc>
                <a:spcPct val="80000"/>
              </a:lnSpc>
            </a:pPr>
            <a:r>
              <a:rPr lang="en-US" altLang="zh-CN" dirty="0"/>
              <a:t>exit [n]     </a:t>
            </a:r>
            <a:r>
              <a:rPr lang="zh-CN" altLang="en-US" dirty="0"/>
              <a:t>停止</a:t>
            </a:r>
            <a:r>
              <a:rPr lang="en-US" altLang="zh-CN" dirty="0"/>
              <a:t>shell</a:t>
            </a:r>
            <a:r>
              <a:rPr lang="zh-CN" altLang="en-US" dirty="0"/>
              <a:t>程序的执行，并且将返回值设置为</a:t>
            </a:r>
            <a:r>
              <a:rPr lang="en-US" altLang="zh-CN" dirty="0"/>
              <a:t>n</a:t>
            </a:r>
            <a:r>
              <a:rPr lang="zh-CN" altLang="en-US" dirty="0"/>
              <a:t>。</a:t>
            </a:r>
          </a:p>
          <a:p>
            <a:pPr>
              <a:lnSpc>
                <a:spcPct val="80000"/>
              </a:lnSpc>
            </a:pPr>
            <a:r>
              <a:rPr lang="en-US" altLang="zh-CN" sz="2400" dirty="0"/>
              <a:t>break </a:t>
            </a:r>
            <a:r>
              <a:rPr lang="zh-CN" altLang="en-US" sz="2400" dirty="0"/>
              <a:t>命令让您可以从一个循环中立即退出。如果使用了嵌套循环，也可以指定退出的层次数。因此如果在 </a:t>
            </a:r>
            <a:r>
              <a:rPr lang="en-US" altLang="zh-CN" sz="2400" dirty="0"/>
              <a:t>for </a:t>
            </a:r>
            <a:r>
              <a:rPr lang="zh-CN" altLang="en-US" sz="2400" dirty="0"/>
              <a:t>循环中有一个 </a:t>
            </a:r>
            <a:r>
              <a:rPr lang="en-US" altLang="zh-CN" sz="2400" dirty="0"/>
              <a:t>until </a:t>
            </a:r>
            <a:r>
              <a:rPr lang="zh-CN" altLang="en-US" sz="2400" dirty="0"/>
              <a:t>循环，而这个 </a:t>
            </a:r>
            <a:r>
              <a:rPr lang="en-US" altLang="zh-CN" sz="2400" dirty="0"/>
              <a:t>for </a:t>
            </a:r>
            <a:r>
              <a:rPr lang="zh-CN" altLang="en-US" sz="2400" dirty="0"/>
              <a:t>循环在另外一个 </a:t>
            </a:r>
            <a:r>
              <a:rPr lang="en-US" altLang="zh-CN" sz="2400" dirty="0"/>
              <a:t>for </a:t>
            </a:r>
            <a:r>
              <a:rPr lang="zh-CN" altLang="en-US" sz="2400" dirty="0"/>
              <a:t>循环之中，所有这些循环又全部在一个 </a:t>
            </a:r>
            <a:r>
              <a:rPr lang="en-US" altLang="zh-CN" sz="2400" dirty="0"/>
              <a:t>while </a:t>
            </a:r>
            <a:r>
              <a:rPr lang="zh-CN" altLang="en-US" sz="2400" dirty="0"/>
              <a:t>循环中，那么 </a:t>
            </a:r>
            <a:r>
              <a:rPr lang="en-US" altLang="zh-CN" sz="2400" dirty="0"/>
              <a:t>break</a:t>
            </a:r>
            <a:r>
              <a:rPr lang="en-US" altLang="zh-CN" sz="2400" dirty="0">
                <a:latin typeface="Arial" panose="020B0604020202020204" pitchFamily="34" charset="0"/>
              </a:rPr>
              <a:t> </a:t>
            </a:r>
            <a:r>
              <a:rPr lang="en-US" altLang="zh-CN" sz="2400" dirty="0"/>
              <a:t>3 </a:t>
            </a:r>
            <a:r>
              <a:rPr lang="zh-CN" altLang="en-US" sz="2400" dirty="0"/>
              <a:t>就会立即结束 </a:t>
            </a:r>
            <a:r>
              <a:rPr lang="en-US" altLang="zh-CN" sz="2400" dirty="0"/>
              <a:t>until </a:t>
            </a:r>
            <a:r>
              <a:rPr lang="zh-CN" altLang="en-US" sz="2400" dirty="0"/>
              <a:t>循环和 </a:t>
            </a:r>
            <a:r>
              <a:rPr lang="en-US" altLang="zh-CN" sz="2400" dirty="0"/>
              <a:t>2 </a:t>
            </a:r>
            <a:r>
              <a:rPr lang="zh-CN" altLang="en-US" sz="2400" dirty="0"/>
              <a:t>个 </a:t>
            </a:r>
            <a:r>
              <a:rPr lang="en-US" altLang="zh-CN" sz="2400" dirty="0"/>
              <a:t>for </a:t>
            </a:r>
            <a:r>
              <a:rPr lang="zh-CN" altLang="en-US" sz="2400" dirty="0"/>
              <a:t>循环，并将控制权返回给 </a:t>
            </a:r>
            <a:r>
              <a:rPr lang="en-US" altLang="zh-CN" sz="2400" dirty="0"/>
              <a:t>while </a:t>
            </a:r>
            <a:r>
              <a:rPr lang="zh-CN" altLang="en-US" sz="2400" dirty="0"/>
              <a:t>循环中的代码 </a:t>
            </a:r>
          </a:p>
          <a:p>
            <a:pPr>
              <a:lnSpc>
                <a:spcPct val="80000"/>
              </a:lnSpc>
            </a:pPr>
            <a:r>
              <a:rPr lang="en-US" altLang="zh-CN" sz="2400" dirty="0"/>
              <a:t>continue </a:t>
            </a:r>
            <a:r>
              <a:rPr lang="zh-CN" altLang="en-US" sz="2400" dirty="0"/>
              <a:t>语句可以跳过命令列表中的剩下的语句，直接跳转到下一次循环的开头 </a:t>
            </a:r>
          </a:p>
          <a:p>
            <a:endParaRPr lang="zh-CN" altLang="en-US" sz="2400" dirty="0"/>
          </a:p>
        </p:txBody>
      </p:sp>
    </p:spTree>
    <p:extLst>
      <p:ext uri="{BB962C8B-B14F-4D97-AF65-F5344CB8AC3E}">
        <p14:creationId xmlns:p14="http://schemas.microsoft.com/office/powerpoint/2010/main" val="216296480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continue</a:t>
            </a:r>
            <a:r>
              <a:rPr lang="zh-CN" altLang="en-US" dirty="0" smtClean="0"/>
              <a:t>和</a:t>
            </a:r>
            <a:r>
              <a:rPr lang="en-US" altLang="zh-CN" dirty="0" smtClean="0"/>
              <a:t>break</a:t>
            </a:r>
            <a:r>
              <a:rPr lang="zh-CN" altLang="en-US" dirty="0" smtClean="0"/>
              <a:t>的应用</a:t>
            </a:r>
            <a:endParaRPr lang="zh-CN" altLang="en-US" dirty="0"/>
          </a:p>
        </p:txBody>
      </p:sp>
      <p:sp>
        <p:nvSpPr>
          <p:cNvPr id="3" name="内容占位符 2"/>
          <p:cNvSpPr>
            <a:spLocks noGrp="1"/>
          </p:cNvSpPr>
          <p:nvPr>
            <p:ph idx="1"/>
          </p:nvPr>
        </p:nvSpPr>
        <p:spPr/>
        <p:txBody>
          <a:bodyPr/>
          <a:lstStyle/>
          <a:p>
            <a:endParaRPr lang="zh-CN" altLang="en-US"/>
          </a:p>
        </p:txBody>
      </p:sp>
      <p:sp>
        <p:nvSpPr>
          <p:cNvPr id="4" name="Text Box 4"/>
          <p:cNvSpPr txBox="1">
            <a:spLocks noChangeArrowheads="1"/>
          </p:cNvSpPr>
          <p:nvPr/>
        </p:nvSpPr>
        <p:spPr bwMode="auto">
          <a:xfrm>
            <a:off x="1607199" y="1414465"/>
            <a:ext cx="8115300" cy="43973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a:ea typeface="宋体" panose="02010600030101010101" pitchFamily="2" charset="-122"/>
              </a:rPr>
              <a:t>while</a:t>
            </a:r>
          </a:p>
          <a:p>
            <a:pPr algn="l"/>
            <a:r>
              <a:rPr kumimoji="1" lang="zh-CN" altLang="en-US">
                <a:ea typeface="宋体" panose="02010600030101010101" pitchFamily="2" charset="-122"/>
              </a:rPr>
              <a:t>　　</a:t>
            </a:r>
            <a:r>
              <a:rPr kumimoji="1" lang="en-US" altLang="zh-CN">
                <a:ea typeface="宋体" panose="02010600030101010101" pitchFamily="2" charset="-122"/>
              </a:rPr>
              <a:t>true</a:t>
            </a:r>
          </a:p>
          <a:p>
            <a:pPr algn="l"/>
            <a:r>
              <a:rPr kumimoji="1" lang="en-US" altLang="zh-CN">
                <a:ea typeface="宋体" panose="02010600030101010101" pitchFamily="2" charset="-122"/>
              </a:rPr>
              <a:t>do</a:t>
            </a:r>
          </a:p>
          <a:p>
            <a:pPr algn="l"/>
            <a:r>
              <a:rPr kumimoji="1" lang="zh-CN" altLang="en-US">
                <a:ea typeface="宋体" panose="02010600030101010101" pitchFamily="2" charset="-122"/>
              </a:rPr>
              <a:t>　　</a:t>
            </a:r>
            <a:r>
              <a:rPr kumimoji="1" lang="en-US" altLang="zh-CN">
                <a:ea typeface="宋体" panose="02010600030101010101" pitchFamily="2" charset="-122"/>
              </a:rPr>
              <a:t>echo "Enter file to remove: c"</a:t>
            </a:r>
          </a:p>
          <a:p>
            <a:pPr algn="l"/>
            <a:r>
              <a:rPr kumimoji="1" lang="zh-CN" altLang="en-US">
                <a:ea typeface="宋体" panose="02010600030101010101" pitchFamily="2" charset="-122"/>
              </a:rPr>
              <a:t>　　</a:t>
            </a:r>
            <a:r>
              <a:rPr kumimoji="1" lang="en-US" altLang="zh-CN">
                <a:ea typeface="宋体" panose="02010600030101010101" pitchFamily="2" charset="-122"/>
              </a:rPr>
              <a:t>read FILE</a:t>
            </a:r>
          </a:p>
          <a:p>
            <a:pPr algn="l"/>
            <a:r>
              <a:rPr kumimoji="1" lang="zh-CN" altLang="en-US">
                <a:ea typeface="宋体" panose="02010600030101010101" pitchFamily="2" charset="-122"/>
              </a:rPr>
              <a:t>　　</a:t>
            </a:r>
            <a:r>
              <a:rPr kumimoji="1" lang="en-US" altLang="zh-CN">
                <a:ea typeface="宋体" panose="02010600030101010101" pitchFamily="2" charset="-122"/>
              </a:rPr>
              <a:t>if test ! -f $FILE</a:t>
            </a:r>
          </a:p>
          <a:p>
            <a:pPr algn="l"/>
            <a:r>
              <a:rPr kumimoji="1" lang="zh-CN" altLang="en-US">
                <a:ea typeface="宋体" panose="02010600030101010101" pitchFamily="2" charset="-122"/>
              </a:rPr>
              <a:t>　　</a:t>
            </a:r>
            <a:r>
              <a:rPr kumimoji="1" lang="en-US" altLang="zh-CN">
                <a:ea typeface="宋体" panose="02010600030101010101" pitchFamily="2" charset="-122"/>
              </a:rPr>
              <a:t>then</a:t>
            </a:r>
          </a:p>
          <a:p>
            <a:pPr algn="l"/>
            <a:r>
              <a:rPr kumimoji="1" lang="zh-CN" altLang="en-US">
                <a:ea typeface="宋体" panose="02010600030101010101" pitchFamily="2" charset="-122"/>
              </a:rPr>
              <a:t>　　　　</a:t>
            </a:r>
            <a:r>
              <a:rPr kumimoji="1" lang="en-US" altLang="zh-CN">
                <a:ea typeface="宋体" panose="02010600030101010101" pitchFamily="2" charset="-122"/>
              </a:rPr>
              <a:t>echo $FILE is not a regular file</a:t>
            </a:r>
          </a:p>
          <a:p>
            <a:pPr algn="l"/>
            <a:r>
              <a:rPr kumimoji="1" lang="zh-CN" altLang="en-US">
                <a:ea typeface="宋体" panose="02010600030101010101" pitchFamily="2" charset="-122"/>
              </a:rPr>
              <a:t>　　　　</a:t>
            </a:r>
            <a:r>
              <a:rPr kumimoji="1" lang="en-US" altLang="zh-CN">
                <a:solidFill>
                  <a:srgbClr val="FF0000"/>
                </a:solidFill>
                <a:ea typeface="宋体" panose="02010600030101010101" pitchFamily="2" charset="-122"/>
              </a:rPr>
              <a:t>continue</a:t>
            </a:r>
          </a:p>
          <a:p>
            <a:pPr algn="l"/>
            <a:r>
              <a:rPr kumimoji="1" lang="zh-CN" altLang="en-US">
                <a:ea typeface="宋体" panose="02010600030101010101" pitchFamily="2" charset="-122"/>
              </a:rPr>
              <a:t>　　</a:t>
            </a:r>
            <a:r>
              <a:rPr kumimoji="1" lang="en-US" altLang="zh-CN">
                <a:ea typeface="宋体" panose="02010600030101010101" pitchFamily="2" charset="-122"/>
              </a:rPr>
              <a:t>fi</a:t>
            </a:r>
          </a:p>
          <a:p>
            <a:pPr algn="l"/>
            <a:r>
              <a:rPr kumimoji="1" lang="zh-CN" altLang="en-US">
                <a:ea typeface="宋体" panose="02010600030101010101" pitchFamily="2" charset="-122"/>
              </a:rPr>
              <a:t>　　</a:t>
            </a:r>
            <a:r>
              <a:rPr kumimoji="1" lang="en-US" altLang="zh-CN">
                <a:ea typeface="宋体" panose="02010600030101010101" pitchFamily="2" charset="-122"/>
              </a:rPr>
              <a:t>echo removing $FILE</a:t>
            </a:r>
          </a:p>
          <a:p>
            <a:pPr algn="l"/>
            <a:r>
              <a:rPr kumimoji="1" lang="zh-CN" altLang="en-US">
                <a:ea typeface="宋体" panose="02010600030101010101" pitchFamily="2" charset="-122"/>
              </a:rPr>
              <a:t>　　</a:t>
            </a:r>
            <a:r>
              <a:rPr kumimoji="1" lang="en-US" altLang="zh-CN">
                <a:ea typeface="宋体" panose="02010600030101010101" pitchFamily="2" charset="-122"/>
              </a:rPr>
              <a:t>rm $FILE</a:t>
            </a:r>
          </a:p>
          <a:p>
            <a:pPr algn="l"/>
            <a:r>
              <a:rPr kumimoji="1" lang="zh-CN" altLang="en-US">
                <a:ea typeface="宋体" panose="02010600030101010101" pitchFamily="2" charset="-122"/>
              </a:rPr>
              <a:t>　　</a:t>
            </a:r>
            <a:r>
              <a:rPr kumimoji="1" lang="en-US" altLang="zh-CN">
                <a:solidFill>
                  <a:srgbClr val="FF0000"/>
                </a:solidFill>
                <a:ea typeface="宋体" panose="02010600030101010101" pitchFamily="2" charset="-122"/>
              </a:rPr>
              <a:t>break</a:t>
            </a:r>
          </a:p>
          <a:p>
            <a:pPr algn="l"/>
            <a:r>
              <a:rPr kumimoji="1" lang="en-US" altLang="zh-CN">
                <a:ea typeface="宋体" panose="02010600030101010101" pitchFamily="2" charset="-122"/>
              </a:rPr>
              <a:t>done</a:t>
            </a:r>
          </a:p>
        </p:txBody>
      </p:sp>
    </p:spTree>
    <p:extLst>
      <p:ext uri="{BB962C8B-B14F-4D97-AF65-F5344CB8AC3E}">
        <p14:creationId xmlns:p14="http://schemas.microsoft.com/office/powerpoint/2010/main" val="217388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建立交互式脚本</a:t>
            </a:r>
            <a:r>
              <a:rPr lang="en-US" altLang="zh-CN" dirty="0" smtClean="0"/>
              <a:t>(1)</a:t>
            </a:r>
            <a:endParaRPr lang="zh-CN" altLang="en-US" dirty="0"/>
          </a:p>
        </p:txBody>
      </p:sp>
      <p:sp>
        <p:nvSpPr>
          <p:cNvPr id="3" name="内容占位符 2"/>
          <p:cNvSpPr>
            <a:spLocks noGrp="1"/>
          </p:cNvSpPr>
          <p:nvPr>
            <p:ph idx="1"/>
          </p:nvPr>
        </p:nvSpPr>
        <p:spPr>
          <a:xfrm>
            <a:off x="609600" y="995363"/>
            <a:ext cx="10972800" cy="4857750"/>
          </a:xfrm>
        </p:spPr>
        <p:txBody>
          <a:bodyPr/>
          <a:lstStyle/>
          <a:p>
            <a:r>
              <a:rPr lang="zh-CN" altLang="en-US" sz="2400" dirty="0"/>
              <a:t>用</a:t>
            </a:r>
            <a:r>
              <a:rPr lang="en-US" altLang="zh-CN" sz="2400" dirty="0"/>
              <a:t>echo</a:t>
            </a:r>
            <a:r>
              <a:rPr lang="zh-CN" altLang="en-US" sz="2400" dirty="0"/>
              <a:t>来输出信息</a:t>
            </a:r>
          </a:p>
          <a:p>
            <a:r>
              <a:rPr lang="en-US" altLang="zh-CN" sz="2400" dirty="0"/>
              <a:t>read</a:t>
            </a:r>
            <a:r>
              <a:rPr lang="zh-CN" altLang="en-US" sz="2400" dirty="0"/>
              <a:t>接收用户的输入</a:t>
            </a:r>
          </a:p>
          <a:p>
            <a:pPr lvl="1"/>
            <a:r>
              <a:rPr lang="zh-CN" altLang="en-US" sz="2000" dirty="0"/>
              <a:t>使用内建命令</a:t>
            </a:r>
            <a:r>
              <a:rPr lang="en-US" altLang="zh-CN" sz="2000" dirty="0"/>
              <a:t>read ,</a:t>
            </a:r>
            <a:r>
              <a:rPr lang="zh-CN" altLang="en-US" sz="2000" dirty="0"/>
              <a:t>它从标准输入读取变量的值，读入单行输入并将各个输入词分配给各个变量 </a:t>
            </a:r>
          </a:p>
          <a:p>
            <a:pPr lvl="2"/>
            <a:r>
              <a:rPr lang="en-US" altLang="zh-CN" dirty="0"/>
              <a:t>read VAR ;echo $VAR</a:t>
            </a:r>
          </a:p>
          <a:p>
            <a:pPr lvl="1"/>
            <a:r>
              <a:rPr lang="zh-CN" altLang="en-US" sz="2000" dirty="0"/>
              <a:t>使用 </a:t>
            </a:r>
            <a:r>
              <a:rPr lang="en-US" altLang="zh-CN" sz="2000" dirty="0"/>
              <a:t>-p </a:t>
            </a:r>
            <a:r>
              <a:rPr lang="zh-CN" altLang="en-US" sz="2000" dirty="0"/>
              <a:t>选项为每次 </a:t>
            </a:r>
            <a:r>
              <a:rPr lang="en-US" altLang="zh-CN" sz="2000" dirty="0"/>
              <a:t>read </a:t>
            </a:r>
            <a:r>
              <a:rPr lang="zh-CN" altLang="en-US" sz="2000" dirty="0"/>
              <a:t>提供提示。使用以引号括起来的字符串提供提示 </a:t>
            </a:r>
          </a:p>
          <a:p>
            <a:pPr lvl="2"/>
            <a:r>
              <a:rPr lang="en-US" altLang="zh-CN" dirty="0"/>
              <a:t>read -p "Instead of $VAR, what number would you like? " VAR ;$echo VAR</a:t>
            </a:r>
          </a:p>
          <a:p>
            <a:pPr lvl="1"/>
            <a:r>
              <a:rPr lang="zh-CN" altLang="en-US" sz="2000" dirty="0"/>
              <a:t>从管道里读取</a:t>
            </a:r>
          </a:p>
          <a:p>
            <a:pPr lvl="2"/>
            <a:r>
              <a:rPr lang="en-US" altLang="zh-CN" b="1" dirty="0"/>
              <a:t>ls | while read file; do ls $file; done</a:t>
            </a:r>
            <a:r>
              <a:rPr lang="en-US" altLang="zh-CN" dirty="0"/>
              <a:t> </a:t>
            </a:r>
          </a:p>
          <a:p>
            <a:pPr lvl="1"/>
            <a:r>
              <a:rPr lang="en-US" altLang="zh-CN" sz="2000" dirty="0"/>
              <a:t>read</a:t>
            </a:r>
            <a:r>
              <a:rPr lang="zh-CN" altLang="en-US" sz="2000" dirty="0"/>
              <a:t>可一次性读取多个变量 </a:t>
            </a:r>
          </a:p>
          <a:p>
            <a:pPr lvl="2"/>
            <a:r>
              <a:rPr lang="en-US" altLang="zh-CN" b="1" dirty="0"/>
              <a:t>ls -</a:t>
            </a:r>
            <a:r>
              <a:rPr lang="en-US" altLang="zh-CN" b="1" dirty="0" err="1"/>
              <a:t>i</a:t>
            </a:r>
            <a:r>
              <a:rPr lang="en-US" altLang="zh-CN" b="1" dirty="0"/>
              <a:t> | while read </a:t>
            </a:r>
            <a:r>
              <a:rPr lang="en-US" altLang="zh-CN" b="1" dirty="0" err="1"/>
              <a:t>inode</a:t>
            </a:r>
            <a:r>
              <a:rPr lang="en-US" altLang="zh-CN" b="1" dirty="0"/>
              <a:t> file; do \</a:t>
            </a:r>
            <a:endParaRPr lang="en-US" altLang="zh-CN" dirty="0"/>
          </a:p>
          <a:p>
            <a:pPr lvl="2"/>
            <a:r>
              <a:rPr lang="en-US" altLang="zh-CN" b="1" dirty="0"/>
              <a:t>echo "File $file has </a:t>
            </a:r>
            <a:r>
              <a:rPr lang="en-US" altLang="zh-CN" b="1" dirty="0" err="1"/>
              <a:t>inode</a:t>
            </a:r>
            <a:r>
              <a:rPr lang="en-US" altLang="zh-CN" b="1" dirty="0"/>
              <a:t> $</a:t>
            </a:r>
            <a:r>
              <a:rPr lang="en-US" altLang="zh-CN" b="1" dirty="0" err="1"/>
              <a:t>inode</a:t>
            </a:r>
            <a:r>
              <a:rPr lang="en-US" altLang="zh-CN" b="1" dirty="0"/>
              <a:t>"; done</a:t>
            </a:r>
          </a:p>
          <a:p>
            <a:endParaRPr lang="zh-CN" altLang="en-US" dirty="0"/>
          </a:p>
        </p:txBody>
      </p:sp>
    </p:spTree>
    <p:extLst>
      <p:ext uri="{BB962C8B-B14F-4D97-AF65-F5344CB8AC3E}">
        <p14:creationId xmlns:p14="http://schemas.microsoft.com/office/powerpoint/2010/main" val="23337378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交互式菜单</a:t>
            </a:r>
          </a:p>
        </p:txBody>
      </p:sp>
      <p:graphicFrame>
        <p:nvGraphicFramePr>
          <p:cNvPr id="5" name="Object 5"/>
          <p:cNvGraphicFramePr>
            <a:graphicFrameLocks noGrp="1" noChangeAspect="1"/>
          </p:cNvGraphicFramePr>
          <p:nvPr>
            <p:ph idx="1"/>
            <p:extLst>
              <p:ext uri="{D42A27DB-BD31-4B8C-83A1-F6EECF244321}">
                <p14:modId xmlns:p14="http://schemas.microsoft.com/office/powerpoint/2010/main" val="2082222340"/>
              </p:ext>
            </p:extLst>
          </p:nvPr>
        </p:nvGraphicFramePr>
        <p:xfrm>
          <a:off x="1476375" y="2998788"/>
          <a:ext cx="1555328" cy="1249362"/>
        </p:xfrm>
        <a:graphic>
          <a:graphicData uri="http://schemas.openxmlformats.org/presentationml/2006/ole">
            <mc:AlternateContent xmlns:mc="http://schemas.openxmlformats.org/markup-compatibility/2006">
              <mc:Choice xmlns:v="urn:schemas-microsoft-com:vml" Requires="v">
                <p:oleObj spid="_x0000_s1026" name="包" r:id="rId4" imgW="581040" imgH="466560" progId="Package">
                  <p:embed/>
                </p:oleObj>
              </mc:Choice>
              <mc:Fallback>
                <p:oleObj name="包" r:id="rId4" imgW="581040" imgH="466560" progId="Pack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2998788"/>
                        <a:ext cx="1555328" cy="1249362"/>
                      </a:xfrm>
                      <a:prstGeom prst="rect">
                        <a:avLst/>
                      </a:prstGeom>
                      <a:noFill/>
                      <a:ln>
                        <a:noFill/>
                      </a:ln>
                      <a:effectLst/>
                      <a:extLst/>
                    </p:spPr>
                  </p:pic>
                </p:oleObj>
              </mc:Fallback>
            </mc:AlternateContent>
          </a:graphicData>
        </a:graphic>
      </p:graphicFrame>
      <p:sp>
        <p:nvSpPr>
          <p:cNvPr id="4" name="Text Box 4"/>
          <p:cNvSpPr txBox="1">
            <a:spLocks noChangeArrowheads="1"/>
          </p:cNvSpPr>
          <p:nvPr/>
        </p:nvSpPr>
        <p:spPr bwMode="auto">
          <a:xfrm>
            <a:off x="3903931" y="849089"/>
            <a:ext cx="8115300" cy="5897562"/>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sz="1800">
                <a:ea typeface="宋体" panose="02010600030101010101" pitchFamily="2" charset="-122"/>
              </a:rPr>
              <a:t>#! /bin/bash</a:t>
            </a:r>
          </a:p>
          <a:p>
            <a:pPr algn="l"/>
            <a:r>
              <a:rPr kumimoji="1" lang="en-US" altLang="zh-CN" sz="1800">
                <a:ea typeface="宋体" panose="02010600030101010101" pitchFamily="2" charset="-122"/>
              </a:rPr>
              <a:t>echo "*******************************"</a:t>
            </a:r>
          </a:p>
          <a:p>
            <a:pPr algn="l"/>
            <a:r>
              <a:rPr kumimoji="1" lang="en-US" altLang="zh-CN" sz="1800">
                <a:ea typeface="宋体" panose="02010600030101010101" pitchFamily="2" charset="-122"/>
              </a:rPr>
              <a:t>echo "Please select your operation:"</a:t>
            </a:r>
          </a:p>
          <a:p>
            <a:pPr algn="l"/>
            <a:r>
              <a:rPr kumimoji="1" lang="en-US" altLang="zh-CN" sz="1800">
                <a:ea typeface="宋体" panose="02010600030101010101" pitchFamily="2" charset="-122"/>
              </a:rPr>
              <a:t>echo " 1  Copy"</a:t>
            </a:r>
          </a:p>
          <a:p>
            <a:pPr algn="l"/>
            <a:r>
              <a:rPr kumimoji="1" lang="en-US" altLang="zh-CN" sz="1800">
                <a:ea typeface="宋体" panose="02010600030101010101" pitchFamily="2" charset="-122"/>
              </a:rPr>
              <a:t>echo " 2  Delete"</a:t>
            </a:r>
          </a:p>
          <a:p>
            <a:pPr algn="l"/>
            <a:r>
              <a:rPr kumimoji="1" lang="en-US" altLang="zh-CN" sz="1800">
                <a:ea typeface="宋体" panose="02010600030101010101" pitchFamily="2" charset="-122"/>
              </a:rPr>
              <a:t>echo " 3  Backup"</a:t>
            </a:r>
          </a:p>
          <a:p>
            <a:pPr algn="l"/>
            <a:r>
              <a:rPr kumimoji="1" lang="en-US" altLang="zh-CN" sz="1800">
                <a:ea typeface="宋体" panose="02010600030101010101" pitchFamily="2" charset="-122"/>
              </a:rPr>
              <a:t>echo "*******************************"</a:t>
            </a:r>
          </a:p>
          <a:p>
            <a:pPr algn="l"/>
            <a:r>
              <a:rPr kumimoji="1" lang="en-US" altLang="zh-CN" sz="1800">
                <a:ea typeface="宋体" panose="02010600030101010101" pitchFamily="2" charset="-122"/>
              </a:rPr>
              <a:t>read op</a:t>
            </a:r>
          </a:p>
          <a:p>
            <a:pPr algn="l"/>
            <a:r>
              <a:rPr kumimoji="1" lang="en-US" altLang="zh-CN" sz="1800">
                <a:ea typeface="宋体" panose="02010600030101010101" pitchFamily="2" charset="-122"/>
              </a:rPr>
              <a:t>case $op in</a:t>
            </a:r>
          </a:p>
          <a:p>
            <a:pPr algn="l"/>
            <a:r>
              <a:rPr kumimoji="1" lang="en-US" altLang="zh-CN" sz="1800">
                <a:ea typeface="宋体" panose="02010600030101010101" pitchFamily="2" charset="-122"/>
              </a:rPr>
              <a:t>     C)</a:t>
            </a:r>
          </a:p>
          <a:p>
            <a:pPr algn="l"/>
            <a:r>
              <a:rPr kumimoji="1" lang="en-US" altLang="zh-CN" sz="1800">
                <a:ea typeface="宋体" panose="02010600030101010101" pitchFamily="2" charset="-122"/>
              </a:rPr>
              <a:t>       echo "your selection is Copy"</a:t>
            </a:r>
          </a:p>
          <a:p>
            <a:pPr algn="l"/>
            <a:r>
              <a:rPr kumimoji="1" lang="en-US" altLang="zh-CN" sz="1800">
                <a:ea typeface="宋体" panose="02010600030101010101" pitchFamily="2" charset="-122"/>
              </a:rPr>
              <a:t>     ;;</a:t>
            </a:r>
          </a:p>
          <a:p>
            <a:pPr algn="l"/>
            <a:r>
              <a:rPr kumimoji="1" lang="en-US" altLang="zh-CN" sz="1800">
                <a:ea typeface="宋体" panose="02010600030101010101" pitchFamily="2" charset="-122"/>
              </a:rPr>
              <a:t>     D)</a:t>
            </a:r>
          </a:p>
          <a:p>
            <a:pPr algn="l"/>
            <a:r>
              <a:rPr kumimoji="1" lang="en-US" altLang="zh-CN" sz="1800">
                <a:ea typeface="宋体" panose="02010600030101010101" pitchFamily="2" charset="-122"/>
              </a:rPr>
              <a:t>       echo "your selection is Delete"</a:t>
            </a:r>
          </a:p>
          <a:p>
            <a:pPr algn="l"/>
            <a:r>
              <a:rPr kumimoji="1" lang="en-US" altLang="zh-CN" sz="1800">
                <a:ea typeface="宋体" panose="02010600030101010101" pitchFamily="2" charset="-122"/>
              </a:rPr>
              <a:t>     ;;</a:t>
            </a:r>
          </a:p>
          <a:p>
            <a:pPr algn="l"/>
            <a:r>
              <a:rPr kumimoji="1" lang="en-US" altLang="zh-CN" sz="1800">
                <a:ea typeface="宋体" panose="02010600030101010101" pitchFamily="2" charset="-122"/>
              </a:rPr>
              <a:t>     B)</a:t>
            </a:r>
          </a:p>
          <a:p>
            <a:pPr algn="l"/>
            <a:r>
              <a:rPr kumimoji="1" lang="en-US" altLang="zh-CN" sz="1800">
                <a:ea typeface="宋体" panose="02010600030101010101" pitchFamily="2" charset="-122"/>
              </a:rPr>
              <a:t>       echo "your selection is Backup"</a:t>
            </a:r>
          </a:p>
          <a:p>
            <a:pPr algn="l"/>
            <a:r>
              <a:rPr kumimoji="1" lang="en-US" altLang="zh-CN" sz="1800">
                <a:ea typeface="宋体" panose="02010600030101010101" pitchFamily="2" charset="-122"/>
              </a:rPr>
              <a:t>     ;;</a:t>
            </a:r>
          </a:p>
          <a:p>
            <a:pPr algn="l"/>
            <a:r>
              <a:rPr kumimoji="1" lang="en-US" altLang="zh-CN" sz="1800">
                <a:ea typeface="宋体" panose="02010600030101010101" pitchFamily="2" charset="-122"/>
              </a:rPr>
              <a:t>     *)</a:t>
            </a:r>
          </a:p>
          <a:p>
            <a:pPr algn="l"/>
            <a:r>
              <a:rPr kumimoji="1" lang="en-US" altLang="zh-CN" sz="1800">
                <a:ea typeface="宋体" panose="02010600030101010101" pitchFamily="2" charset="-122"/>
              </a:rPr>
              <a:t>       echo "invalid selection"</a:t>
            </a:r>
          </a:p>
          <a:p>
            <a:pPr algn="l"/>
            <a:r>
              <a:rPr kumimoji="1" lang="en-US" altLang="zh-CN" sz="1800">
                <a:ea typeface="宋体" panose="02010600030101010101" pitchFamily="2" charset="-122"/>
              </a:rPr>
              <a:t>esac</a:t>
            </a:r>
          </a:p>
        </p:txBody>
      </p:sp>
    </p:spTree>
    <p:extLst>
      <p:ext uri="{BB962C8B-B14F-4D97-AF65-F5344CB8AC3E}">
        <p14:creationId xmlns:p14="http://schemas.microsoft.com/office/powerpoint/2010/main" val="894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建立交互式脚本</a:t>
            </a:r>
            <a:r>
              <a:rPr lang="en-US" altLang="zh-CN" dirty="0"/>
              <a:t>(2)</a:t>
            </a:r>
            <a:endParaRPr lang="zh-CN" altLang="en-US" dirty="0"/>
          </a:p>
        </p:txBody>
      </p:sp>
      <p:sp>
        <p:nvSpPr>
          <p:cNvPr id="3" name="内容占位符 2"/>
          <p:cNvSpPr>
            <a:spLocks noGrp="1"/>
          </p:cNvSpPr>
          <p:nvPr>
            <p:ph idx="1"/>
          </p:nvPr>
        </p:nvSpPr>
        <p:spPr/>
        <p:txBody>
          <a:bodyPr>
            <a:normAutofit/>
          </a:bodyPr>
          <a:lstStyle/>
          <a:p>
            <a:r>
              <a:rPr lang="en-US" altLang="zh-CN" dirty="0"/>
              <a:t>select </a:t>
            </a:r>
            <a:r>
              <a:rPr lang="zh-CN" altLang="en-US" dirty="0"/>
              <a:t>表达式是一种</a:t>
            </a:r>
            <a:r>
              <a:rPr lang="en-US" altLang="zh-CN" dirty="0"/>
              <a:t>bash</a:t>
            </a:r>
            <a:r>
              <a:rPr lang="zh-CN" altLang="en-US" dirty="0"/>
              <a:t>的扩展应用</a:t>
            </a:r>
            <a:r>
              <a:rPr lang="en-US" altLang="zh-CN" dirty="0"/>
              <a:t>,</a:t>
            </a:r>
            <a:r>
              <a:rPr lang="zh-CN" altLang="en-US" dirty="0"/>
              <a:t>用户可以从一组不同的值中进行选择</a:t>
            </a:r>
            <a:r>
              <a:rPr lang="en-US" altLang="zh-CN" dirty="0"/>
              <a:t>.</a:t>
            </a:r>
          </a:p>
          <a:p>
            <a:r>
              <a:rPr lang="zh-CN" altLang="en-US" dirty="0"/>
              <a:t>语句结构</a:t>
            </a:r>
            <a:r>
              <a:rPr lang="en-US" altLang="zh-CN" dirty="0"/>
              <a:t>:</a:t>
            </a:r>
          </a:p>
          <a:p>
            <a:pPr lvl="1">
              <a:buNone/>
            </a:pPr>
            <a:r>
              <a:rPr lang="en-US" altLang="zh-CN" sz="2800" dirty="0"/>
              <a:t>select </a:t>
            </a:r>
            <a:r>
              <a:rPr lang="en-US" altLang="zh-CN" sz="2800" dirty="0" err="1"/>
              <a:t>var</a:t>
            </a:r>
            <a:r>
              <a:rPr lang="en-US" altLang="zh-CN" sz="2800" dirty="0"/>
              <a:t> in ... ; do </a:t>
            </a:r>
          </a:p>
          <a:p>
            <a:pPr lvl="1">
              <a:buNone/>
            </a:pPr>
            <a:r>
              <a:rPr lang="zh-CN" altLang="en-US" sz="2800" dirty="0"/>
              <a:t>　</a:t>
            </a:r>
            <a:r>
              <a:rPr lang="en-US" altLang="zh-CN" sz="2800" dirty="0"/>
              <a:t>break </a:t>
            </a:r>
          </a:p>
          <a:p>
            <a:pPr lvl="1">
              <a:buNone/>
            </a:pPr>
            <a:r>
              <a:rPr lang="en-US" altLang="zh-CN" sz="2800" dirty="0" smtClean="0"/>
              <a:t>done</a:t>
            </a:r>
            <a:endParaRPr lang="en-US" altLang="zh-CN" sz="2800" dirty="0"/>
          </a:p>
          <a:p>
            <a:pPr lvl="1"/>
            <a:r>
              <a:rPr lang="en-US" altLang="zh-CN" sz="2800" dirty="0"/>
              <a:t>$</a:t>
            </a:r>
            <a:r>
              <a:rPr lang="en-US" altLang="zh-CN" sz="2800" dirty="0" err="1"/>
              <a:t>var</a:t>
            </a:r>
            <a:r>
              <a:rPr lang="zh-CN" altLang="en-US" sz="2800" dirty="0" smtClean="0"/>
              <a:t>存储</a:t>
            </a:r>
            <a:r>
              <a:rPr lang="zh-CN" altLang="en-US" sz="2800" dirty="0"/>
              <a:t>用户所选的值</a:t>
            </a:r>
          </a:p>
          <a:p>
            <a:endParaRPr lang="zh-CN" altLang="en-US" dirty="0"/>
          </a:p>
        </p:txBody>
      </p:sp>
    </p:spTree>
    <p:extLst>
      <p:ext uri="{BB962C8B-B14F-4D97-AF65-F5344CB8AC3E}">
        <p14:creationId xmlns:p14="http://schemas.microsoft.com/office/powerpoint/2010/main" val="20106156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select</a:t>
            </a:r>
            <a:r>
              <a:rPr lang="zh-CN" altLang="en-US" dirty="0"/>
              <a:t>实例</a:t>
            </a:r>
          </a:p>
        </p:txBody>
      </p:sp>
      <p:graphicFrame>
        <p:nvGraphicFramePr>
          <p:cNvPr id="4" name="Object 4"/>
          <p:cNvGraphicFramePr>
            <a:graphicFrameLocks noGrp="1" noChangeAspect="1"/>
          </p:cNvGraphicFramePr>
          <p:nvPr>
            <p:ph idx="1"/>
            <p:extLst>
              <p:ext uri="{D42A27DB-BD31-4B8C-83A1-F6EECF244321}">
                <p14:modId xmlns:p14="http://schemas.microsoft.com/office/powerpoint/2010/main" val="1411253541"/>
              </p:ext>
            </p:extLst>
          </p:nvPr>
        </p:nvGraphicFramePr>
        <p:xfrm>
          <a:off x="2190749" y="4946650"/>
          <a:ext cx="1542143" cy="1111250"/>
        </p:xfrm>
        <a:graphic>
          <a:graphicData uri="http://schemas.openxmlformats.org/presentationml/2006/ole">
            <mc:AlternateContent xmlns:mc="http://schemas.openxmlformats.org/markup-compatibility/2006">
              <mc:Choice xmlns:v="urn:schemas-microsoft-com:vml" Requires="v">
                <p:oleObj spid="_x0000_s2050" name="包" r:id="rId4" imgW="647640" imgH="466560" progId="Package">
                  <p:embed/>
                </p:oleObj>
              </mc:Choice>
              <mc:Fallback>
                <p:oleObj name="包" r:id="rId4" imgW="647640" imgH="466560" progId="Pack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0749" y="4946650"/>
                        <a:ext cx="1542143" cy="1111250"/>
                      </a:xfrm>
                      <a:prstGeom prst="rect">
                        <a:avLst/>
                      </a:prstGeom>
                      <a:noFill/>
                      <a:ln>
                        <a:noFill/>
                      </a:ln>
                      <a:effectLst/>
                      <a:extLst/>
                    </p:spPr>
                  </p:pic>
                </p:oleObj>
              </mc:Fallback>
            </mc:AlternateContent>
          </a:graphicData>
        </a:graphic>
      </p:graphicFrame>
      <p:sp>
        <p:nvSpPr>
          <p:cNvPr id="5" name="Text Box 7"/>
          <p:cNvSpPr txBox="1">
            <a:spLocks noChangeArrowheads="1"/>
          </p:cNvSpPr>
          <p:nvPr/>
        </p:nvSpPr>
        <p:spPr bwMode="auto">
          <a:xfrm>
            <a:off x="2992573" y="1412875"/>
            <a:ext cx="8115300" cy="1958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#!/bin/</a:t>
            </a:r>
            <a:r>
              <a:rPr kumimoji="1" lang="en-US" altLang="zh-CN" dirty="0" err="1">
                <a:ea typeface="宋体" panose="02010600030101010101" pitchFamily="2" charset="-122"/>
              </a:rPr>
              <a:t>sh</a:t>
            </a:r>
            <a:r>
              <a:rPr kumimoji="1" lang="en-US" altLang="zh-CN" dirty="0">
                <a:ea typeface="宋体" panose="02010600030101010101" pitchFamily="2" charset="-122"/>
              </a:rPr>
              <a:t> </a:t>
            </a:r>
          </a:p>
          <a:p>
            <a:pPr algn="l"/>
            <a:r>
              <a:rPr kumimoji="1" lang="en-US" altLang="zh-CN" dirty="0">
                <a:ea typeface="宋体" panose="02010600030101010101" pitchFamily="2" charset="-122"/>
              </a:rPr>
              <a:t>echo "What is your </a:t>
            </a:r>
            <a:r>
              <a:rPr kumimoji="1" lang="en-US" altLang="zh-CN" dirty="0" err="1">
                <a:ea typeface="宋体" panose="02010600030101010101" pitchFamily="2" charset="-122"/>
              </a:rPr>
              <a:t>favourite</a:t>
            </a:r>
            <a:r>
              <a:rPr kumimoji="1" lang="en-US" altLang="zh-CN" dirty="0">
                <a:ea typeface="宋体" panose="02010600030101010101" pitchFamily="2" charset="-122"/>
              </a:rPr>
              <a:t> OS?" </a:t>
            </a:r>
          </a:p>
          <a:p>
            <a:pPr algn="l"/>
            <a:r>
              <a:rPr kumimoji="1" lang="en-US" altLang="zh-CN" dirty="0">
                <a:ea typeface="宋体" panose="02010600030101010101" pitchFamily="2" charset="-122"/>
              </a:rPr>
              <a:t>select </a:t>
            </a:r>
            <a:r>
              <a:rPr kumimoji="1" lang="en-US" altLang="zh-CN" dirty="0" err="1">
                <a:ea typeface="宋体" panose="02010600030101010101" pitchFamily="2" charset="-122"/>
              </a:rPr>
              <a:t>var</a:t>
            </a:r>
            <a:r>
              <a:rPr kumimoji="1" lang="en-US" altLang="zh-CN" dirty="0">
                <a:ea typeface="宋体" panose="02010600030101010101" pitchFamily="2" charset="-122"/>
              </a:rPr>
              <a:t> in "Linux" "Gnu Hurd" "Free BSD" "Other"; do</a:t>
            </a:r>
          </a:p>
          <a:p>
            <a:pPr algn="l"/>
            <a:r>
              <a:rPr kumimoji="1" lang="en-US" altLang="zh-CN" dirty="0">
                <a:ea typeface="宋体" panose="02010600030101010101" pitchFamily="2" charset="-122"/>
              </a:rPr>
              <a:t>  break</a:t>
            </a:r>
          </a:p>
          <a:p>
            <a:pPr algn="l"/>
            <a:r>
              <a:rPr kumimoji="1" lang="en-US" altLang="zh-CN" dirty="0">
                <a:ea typeface="宋体" panose="02010600030101010101" pitchFamily="2" charset="-122"/>
              </a:rPr>
              <a:t>done </a:t>
            </a:r>
          </a:p>
          <a:p>
            <a:pPr algn="l"/>
            <a:r>
              <a:rPr kumimoji="1" lang="en-US" altLang="zh-CN" dirty="0">
                <a:ea typeface="宋体" panose="02010600030101010101" pitchFamily="2" charset="-122"/>
              </a:rPr>
              <a:t>echo "You have selected $</a:t>
            </a:r>
            <a:r>
              <a:rPr kumimoji="1" lang="en-US" altLang="zh-CN" dirty="0" err="1">
                <a:ea typeface="宋体" panose="02010600030101010101" pitchFamily="2" charset="-122"/>
              </a:rPr>
              <a:t>var</a:t>
            </a:r>
            <a:r>
              <a:rPr kumimoji="1" lang="en-US" altLang="zh-CN" dirty="0">
                <a:ea typeface="宋体" panose="02010600030101010101" pitchFamily="2" charset="-122"/>
              </a:rPr>
              <a:t>"</a:t>
            </a:r>
          </a:p>
        </p:txBody>
      </p:sp>
      <p:pic>
        <p:nvPicPr>
          <p:cNvPr id="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6360" y="3505200"/>
            <a:ext cx="4679950" cy="244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65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使用函数</a:t>
            </a:r>
          </a:p>
        </p:txBody>
      </p:sp>
      <p:sp>
        <p:nvSpPr>
          <p:cNvPr id="3" name="内容占位符 2"/>
          <p:cNvSpPr>
            <a:spLocks noGrp="1"/>
          </p:cNvSpPr>
          <p:nvPr>
            <p:ph idx="1"/>
          </p:nvPr>
        </p:nvSpPr>
        <p:spPr/>
        <p:txBody>
          <a:bodyPr/>
          <a:lstStyle/>
          <a:p>
            <a:r>
              <a:rPr lang="zh-CN" altLang="en-US" dirty="0"/>
              <a:t>脚本的函数比较受限制</a:t>
            </a:r>
          </a:p>
          <a:p>
            <a:pPr lvl="1"/>
            <a:r>
              <a:rPr lang="zh-CN" altLang="en-US" dirty="0"/>
              <a:t>不能单独写在一个脚本里</a:t>
            </a:r>
            <a:r>
              <a:rPr lang="en-US" altLang="zh-CN" dirty="0"/>
              <a:t>,</a:t>
            </a:r>
            <a:r>
              <a:rPr lang="zh-CN" altLang="en-US" dirty="0"/>
              <a:t>至少有一个调用语句</a:t>
            </a:r>
          </a:p>
          <a:p>
            <a:r>
              <a:rPr lang="zh-CN" altLang="en-US" dirty="0"/>
              <a:t>定义</a:t>
            </a:r>
          </a:p>
          <a:p>
            <a:pPr lvl="1"/>
            <a:r>
              <a:rPr lang="en-US" altLang="zh-CN" dirty="0" err="1"/>
              <a:t>function_name</a:t>
            </a:r>
            <a:r>
              <a:rPr lang="en-US" altLang="zh-CN" dirty="0"/>
              <a:t>(){...} </a:t>
            </a:r>
          </a:p>
          <a:p>
            <a:pPr lvl="1"/>
            <a:r>
              <a:rPr lang="zh-CN" altLang="en-US" dirty="0"/>
              <a:t>函数用</a:t>
            </a:r>
            <a:r>
              <a:rPr lang="en-US" altLang="zh-CN" dirty="0"/>
              <a:t>return </a:t>
            </a:r>
            <a:r>
              <a:rPr lang="zh-CN" altLang="en-US" dirty="0"/>
              <a:t>返回值</a:t>
            </a:r>
          </a:p>
          <a:p>
            <a:pPr lvl="1"/>
            <a:r>
              <a:rPr lang="zh-CN" altLang="en-US" dirty="0"/>
              <a:t>函数参数也采用</a:t>
            </a:r>
            <a:r>
              <a:rPr lang="en-US" altLang="zh-CN" dirty="0"/>
              <a:t>$1,$2</a:t>
            </a:r>
            <a:r>
              <a:rPr lang="zh-CN" altLang="en-US" dirty="0"/>
              <a:t>之类进行传输</a:t>
            </a:r>
          </a:p>
          <a:p>
            <a:endParaRPr lang="zh-CN" altLang="en-US" dirty="0"/>
          </a:p>
        </p:txBody>
      </p:sp>
      <p:sp>
        <p:nvSpPr>
          <p:cNvPr id="4" name="Text Box 4"/>
          <p:cNvSpPr txBox="1">
            <a:spLocks noChangeArrowheads="1"/>
          </p:cNvSpPr>
          <p:nvPr/>
        </p:nvSpPr>
        <p:spPr bwMode="auto">
          <a:xfrm>
            <a:off x="7701566" y="2893131"/>
            <a:ext cx="4134118" cy="2679837"/>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l"/>
            <a:r>
              <a:rPr kumimoji="1" lang="en-US" altLang="zh-CN" sz="2400" dirty="0">
                <a:ea typeface="宋体" panose="02010600030101010101" pitchFamily="2" charset="-122"/>
              </a:rPr>
              <a:t>show(){</a:t>
            </a:r>
          </a:p>
          <a:p>
            <a:pPr algn="l"/>
            <a:r>
              <a:rPr kumimoji="1" lang="en-US" altLang="zh-CN" sz="2400" dirty="0">
                <a:ea typeface="宋体" panose="02010600030101010101" pitchFamily="2" charset="-122"/>
              </a:rPr>
              <a:t> echo "show $*" </a:t>
            </a:r>
          </a:p>
          <a:p>
            <a:pPr algn="l"/>
            <a:r>
              <a:rPr kumimoji="1" lang="en-US" altLang="zh-CN" sz="2400" dirty="0">
                <a:ea typeface="宋体" panose="02010600030101010101" pitchFamily="2" charset="-122"/>
              </a:rPr>
              <a:t>} </a:t>
            </a:r>
          </a:p>
          <a:p>
            <a:pPr algn="l"/>
            <a:r>
              <a:rPr kumimoji="1" lang="en-US" altLang="zh-CN" sz="2400" dirty="0">
                <a:ea typeface="宋体" panose="02010600030101010101" pitchFamily="2" charset="-122"/>
              </a:rPr>
              <a:t>echo $* </a:t>
            </a:r>
          </a:p>
          <a:p>
            <a:pPr algn="l"/>
            <a:r>
              <a:rPr kumimoji="1" lang="en-US" altLang="zh-CN" sz="2400" dirty="0">
                <a:ea typeface="宋体" panose="02010600030101010101" pitchFamily="2" charset="-122"/>
              </a:rPr>
              <a:t>echo "after function" </a:t>
            </a:r>
          </a:p>
          <a:p>
            <a:pPr algn="l"/>
            <a:r>
              <a:rPr kumimoji="1" lang="en-US" altLang="zh-CN" sz="2400" dirty="0">
                <a:ea typeface="宋体" panose="02010600030101010101" pitchFamily="2" charset="-122"/>
              </a:rPr>
              <a:t>show c d </a:t>
            </a:r>
          </a:p>
          <a:p>
            <a:pPr algn="l"/>
            <a:r>
              <a:rPr kumimoji="1" lang="en-US" altLang="zh-CN" sz="2400" dirty="0">
                <a:ea typeface="宋体" panose="02010600030101010101" pitchFamily="2" charset="-122"/>
              </a:rPr>
              <a:t>echo $* </a:t>
            </a:r>
          </a:p>
        </p:txBody>
      </p:sp>
    </p:spTree>
    <p:extLst>
      <p:ext uri="{BB962C8B-B14F-4D97-AF65-F5344CB8AC3E}">
        <p14:creationId xmlns:p14="http://schemas.microsoft.com/office/powerpoint/2010/main" val="50844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函数实例</a:t>
            </a:r>
            <a:endParaRPr lang="zh-CN" altLang="en-US" dirty="0"/>
          </a:p>
        </p:txBody>
      </p:sp>
      <p:graphicFrame>
        <p:nvGraphicFramePr>
          <p:cNvPr id="5" name="Object 8"/>
          <p:cNvGraphicFramePr>
            <a:graphicFrameLocks noGrp="1" noChangeAspect="1"/>
          </p:cNvGraphicFramePr>
          <p:nvPr>
            <p:ph idx="1"/>
            <p:extLst>
              <p:ext uri="{D42A27DB-BD31-4B8C-83A1-F6EECF244321}">
                <p14:modId xmlns:p14="http://schemas.microsoft.com/office/powerpoint/2010/main" val="3860120923"/>
              </p:ext>
            </p:extLst>
          </p:nvPr>
        </p:nvGraphicFramePr>
        <p:xfrm>
          <a:off x="1754188" y="3029129"/>
          <a:ext cx="1225895" cy="723721"/>
        </p:xfrm>
        <a:graphic>
          <a:graphicData uri="http://schemas.openxmlformats.org/presentationml/2006/ole">
            <mc:AlternateContent xmlns:mc="http://schemas.openxmlformats.org/markup-compatibility/2006">
              <mc:Choice xmlns:v="urn:schemas-microsoft-com:vml" Requires="v">
                <p:oleObj spid="_x0000_s3074" name="包" r:id="rId4" imgW="790560" imgH="466560" progId="Package">
                  <p:embed/>
                </p:oleObj>
              </mc:Choice>
              <mc:Fallback>
                <p:oleObj name="包" r:id="rId4" imgW="790560" imgH="466560" progId="Package">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4188" y="3029129"/>
                        <a:ext cx="1225895" cy="723721"/>
                      </a:xfrm>
                      <a:prstGeom prst="rect">
                        <a:avLst/>
                      </a:prstGeom>
                      <a:noFill/>
                      <a:ln>
                        <a:noFill/>
                      </a:ln>
                      <a:effectLst/>
                      <a:extLst/>
                    </p:spPr>
                  </p:pic>
                </p:oleObj>
              </mc:Fallback>
            </mc:AlternateContent>
          </a:graphicData>
        </a:graphic>
      </p:graphicFrame>
      <p:sp>
        <p:nvSpPr>
          <p:cNvPr id="4" name="Text Box 4"/>
          <p:cNvSpPr txBox="1">
            <a:spLocks noChangeArrowheads="1"/>
          </p:cNvSpPr>
          <p:nvPr/>
        </p:nvSpPr>
        <p:spPr bwMode="auto">
          <a:xfrm>
            <a:off x="5215608" y="992367"/>
            <a:ext cx="5040312" cy="5006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a:t>
            </a:r>
            <a:r>
              <a:rPr kumimoji="1" lang="en-US" altLang="zh-CN" dirty="0" err="1">
                <a:ea typeface="宋体" panose="02010600030101010101" pitchFamily="2" charset="-122"/>
              </a:rPr>
              <a:t>usr</a:t>
            </a:r>
            <a:r>
              <a:rPr kumimoji="1" lang="en-US" altLang="zh-CN" dirty="0">
                <a:ea typeface="宋体" panose="02010600030101010101" pitchFamily="2" charset="-122"/>
              </a:rPr>
              <a:t>/bin/</a:t>
            </a:r>
            <a:r>
              <a:rPr kumimoji="1" lang="en-US" altLang="zh-CN" dirty="0" err="1">
                <a:ea typeface="宋体" panose="02010600030101010101" pitchFamily="2" charset="-122"/>
              </a:rPr>
              <a:t>env</a:t>
            </a:r>
            <a:r>
              <a:rPr kumimoji="1" lang="en-US" altLang="zh-CN" dirty="0">
                <a:ea typeface="宋体" panose="02010600030101010101" pitchFamily="2" charset="-122"/>
              </a:rPr>
              <a:t> bash</a:t>
            </a:r>
          </a:p>
          <a:p>
            <a:pPr algn="l"/>
            <a:r>
              <a:rPr kumimoji="1" lang="en-US" altLang="zh-CN" dirty="0">
                <a:ea typeface="宋体" panose="02010600030101010101" pitchFamily="2" charset="-122"/>
              </a:rPr>
              <a:t> </a:t>
            </a:r>
          </a:p>
          <a:p>
            <a:pPr algn="l"/>
            <a:r>
              <a:rPr kumimoji="1" lang="en-US" altLang="zh-CN" dirty="0">
                <a:ea typeface="宋体" panose="02010600030101010101" pitchFamily="2" charset="-122"/>
              </a:rPr>
              <a:t> </a:t>
            </a:r>
            <a:r>
              <a:rPr kumimoji="1" lang="en-US" altLang="zh-CN" dirty="0" err="1">
                <a:ea typeface="宋体" panose="02010600030101010101" pitchFamily="2" charset="-122"/>
              </a:rPr>
              <a:t>myvar</a:t>
            </a:r>
            <a:r>
              <a:rPr kumimoji="1" lang="en-US" altLang="zh-CN" dirty="0">
                <a:ea typeface="宋体" panose="02010600030101010101" pitchFamily="2" charset="-122"/>
              </a:rPr>
              <a:t>="hello he h"</a:t>
            </a:r>
          </a:p>
          <a:p>
            <a:pPr algn="l"/>
            <a:r>
              <a:rPr kumimoji="1" lang="en-US" altLang="zh-CN" dirty="0">
                <a:ea typeface="宋体" panose="02010600030101010101" pitchFamily="2" charset="-122"/>
              </a:rPr>
              <a:t> </a:t>
            </a:r>
          </a:p>
          <a:p>
            <a:pPr algn="l"/>
            <a:r>
              <a:rPr kumimoji="1" lang="en-US" altLang="zh-CN" dirty="0">
                <a:ea typeface="宋体" panose="02010600030101010101" pitchFamily="2" charset="-122"/>
              </a:rPr>
              <a:t> </a:t>
            </a:r>
            <a:r>
              <a:rPr kumimoji="1" lang="en-US" altLang="zh-CN" dirty="0" err="1">
                <a:ea typeface="宋体" panose="02010600030101010101" pitchFamily="2" charset="-122"/>
              </a:rPr>
              <a:t>myfunc</a:t>
            </a:r>
            <a:r>
              <a:rPr kumimoji="1" lang="en-US" altLang="zh-CN" dirty="0">
                <a:ea typeface="宋体" panose="02010600030101010101" pitchFamily="2" charset="-122"/>
              </a:rPr>
              <a:t>() {</a:t>
            </a:r>
          </a:p>
          <a:p>
            <a:pPr algn="l"/>
            <a:r>
              <a:rPr kumimoji="1" lang="en-US" altLang="zh-CN" dirty="0">
                <a:ea typeface="宋体" panose="02010600030101010101" pitchFamily="2" charset="-122"/>
              </a:rPr>
              <a:t>     local x</a:t>
            </a:r>
          </a:p>
          <a:p>
            <a:pPr algn="l"/>
            <a:r>
              <a:rPr kumimoji="1" lang="en-US" altLang="zh-CN" dirty="0">
                <a:ea typeface="宋体" panose="02010600030101010101" pitchFamily="2" charset="-122"/>
              </a:rPr>
              <a:t>     local </a:t>
            </a:r>
            <a:r>
              <a:rPr kumimoji="1" lang="en-US" altLang="zh-CN" dirty="0" err="1">
                <a:ea typeface="宋体" panose="02010600030101010101" pitchFamily="2" charset="-122"/>
              </a:rPr>
              <a:t>myvar</a:t>
            </a:r>
            <a:r>
              <a:rPr kumimoji="1" lang="en-US" altLang="zh-CN" dirty="0">
                <a:ea typeface="宋体" panose="02010600030101010101" pitchFamily="2" charset="-122"/>
              </a:rPr>
              <a:t>="one two three"</a:t>
            </a:r>
          </a:p>
          <a:p>
            <a:pPr algn="l"/>
            <a:r>
              <a:rPr kumimoji="1" lang="en-US" altLang="zh-CN" dirty="0">
                <a:ea typeface="宋体" panose="02010600030101010101" pitchFamily="2" charset="-122"/>
              </a:rPr>
              <a:t>     for x in $</a:t>
            </a:r>
            <a:r>
              <a:rPr kumimoji="1" lang="en-US" altLang="zh-CN" dirty="0" err="1">
                <a:ea typeface="宋体" panose="02010600030101010101" pitchFamily="2" charset="-122"/>
              </a:rPr>
              <a:t>myvar</a:t>
            </a:r>
            <a:endParaRPr kumimoji="1" lang="en-US" altLang="zh-CN" dirty="0">
              <a:ea typeface="宋体" panose="02010600030101010101" pitchFamily="2" charset="-122"/>
            </a:endParaRPr>
          </a:p>
          <a:p>
            <a:pPr algn="l"/>
            <a:r>
              <a:rPr kumimoji="1" lang="en-US" altLang="zh-CN" dirty="0">
                <a:ea typeface="宋体" panose="02010600030101010101" pitchFamily="2" charset="-122"/>
              </a:rPr>
              <a:t>     do</a:t>
            </a:r>
          </a:p>
          <a:p>
            <a:pPr algn="l"/>
            <a:r>
              <a:rPr kumimoji="1" lang="en-US" altLang="zh-CN" dirty="0">
                <a:ea typeface="宋体" panose="02010600030101010101" pitchFamily="2" charset="-122"/>
              </a:rPr>
              <a:t>         echo $x</a:t>
            </a:r>
          </a:p>
          <a:p>
            <a:pPr algn="l"/>
            <a:r>
              <a:rPr kumimoji="1" lang="en-US" altLang="zh-CN" dirty="0">
                <a:ea typeface="宋体" panose="02010600030101010101" pitchFamily="2" charset="-122"/>
              </a:rPr>
              <a:t>     done</a:t>
            </a:r>
          </a:p>
          <a:p>
            <a:pPr algn="l"/>
            <a:r>
              <a:rPr kumimoji="1" lang="en-US" altLang="zh-CN" dirty="0">
                <a:ea typeface="宋体" panose="02010600030101010101" pitchFamily="2" charset="-122"/>
              </a:rPr>
              <a:t> }</a:t>
            </a:r>
          </a:p>
          <a:p>
            <a:pPr algn="l"/>
            <a:r>
              <a:rPr kumimoji="1" lang="en-US" altLang="zh-CN" dirty="0">
                <a:ea typeface="宋体" panose="02010600030101010101" pitchFamily="2" charset="-122"/>
              </a:rPr>
              <a:t> </a:t>
            </a:r>
          </a:p>
          <a:p>
            <a:pPr algn="l"/>
            <a:r>
              <a:rPr kumimoji="1" lang="en-US" altLang="zh-CN" dirty="0">
                <a:ea typeface="宋体" panose="02010600030101010101" pitchFamily="2" charset="-122"/>
              </a:rPr>
              <a:t> </a:t>
            </a:r>
            <a:r>
              <a:rPr kumimoji="1" lang="en-US" altLang="zh-CN" dirty="0" err="1">
                <a:ea typeface="宋体" panose="02010600030101010101" pitchFamily="2" charset="-122"/>
              </a:rPr>
              <a:t>myfunc</a:t>
            </a:r>
            <a:endParaRPr kumimoji="1" lang="en-US" altLang="zh-CN" dirty="0">
              <a:ea typeface="宋体" panose="02010600030101010101" pitchFamily="2" charset="-122"/>
            </a:endParaRPr>
          </a:p>
          <a:p>
            <a:pPr algn="l"/>
            <a:r>
              <a:rPr kumimoji="1" lang="en-US" altLang="zh-CN" dirty="0">
                <a:ea typeface="宋体" panose="02010600030101010101" pitchFamily="2" charset="-122"/>
              </a:rPr>
              <a:t> </a:t>
            </a:r>
          </a:p>
          <a:p>
            <a:pPr algn="l"/>
            <a:r>
              <a:rPr kumimoji="1" lang="en-US" altLang="zh-CN" dirty="0">
                <a:ea typeface="宋体" panose="02010600030101010101" pitchFamily="2" charset="-122"/>
              </a:rPr>
              <a:t> echo $</a:t>
            </a:r>
            <a:r>
              <a:rPr kumimoji="1" lang="en-US" altLang="zh-CN" dirty="0" err="1">
                <a:ea typeface="宋体" panose="02010600030101010101" pitchFamily="2" charset="-122"/>
              </a:rPr>
              <a:t>myvar</a:t>
            </a:r>
            <a:r>
              <a:rPr kumimoji="1" lang="en-US" altLang="zh-CN" dirty="0">
                <a:ea typeface="宋体" panose="02010600030101010101" pitchFamily="2" charset="-122"/>
              </a:rPr>
              <a:t> $x</a:t>
            </a:r>
          </a:p>
        </p:txBody>
      </p:sp>
    </p:spTree>
    <p:extLst>
      <p:ext uri="{BB962C8B-B14F-4D97-AF65-F5344CB8AC3E}">
        <p14:creationId xmlns:p14="http://schemas.microsoft.com/office/powerpoint/2010/main" val="81445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简单脚本调试</a:t>
            </a:r>
            <a:endParaRPr lang="zh-CN" altLang="en-US" dirty="0"/>
          </a:p>
        </p:txBody>
      </p:sp>
      <p:sp>
        <p:nvSpPr>
          <p:cNvPr id="3" name="内容占位符 2"/>
          <p:cNvSpPr>
            <a:spLocks noGrp="1"/>
          </p:cNvSpPr>
          <p:nvPr>
            <p:ph idx="1"/>
          </p:nvPr>
        </p:nvSpPr>
        <p:spPr>
          <a:xfrm>
            <a:off x="685800" y="1320800"/>
            <a:ext cx="6605789" cy="4351338"/>
          </a:xfrm>
        </p:spPr>
        <p:txBody>
          <a:bodyPr/>
          <a:lstStyle/>
          <a:p>
            <a:r>
              <a:rPr lang="zh-CN" altLang="en-US" sz="2800" dirty="0"/>
              <a:t>简单一般用</a:t>
            </a:r>
            <a:r>
              <a:rPr lang="en-US" altLang="zh-CN" sz="2800" dirty="0"/>
              <a:t>echo</a:t>
            </a:r>
            <a:r>
              <a:rPr lang="zh-CN" altLang="en-US" sz="2800" dirty="0"/>
              <a:t>直接输出内部变量</a:t>
            </a:r>
            <a:r>
              <a:rPr lang="en-US" altLang="zh-CN" sz="2800" dirty="0"/>
              <a:t>,</a:t>
            </a:r>
            <a:r>
              <a:rPr lang="zh-CN" altLang="en-US" sz="2800" dirty="0"/>
              <a:t>复杂一点采用</a:t>
            </a:r>
            <a:r>
              <a:rPr lang="en-US" altLang="zh-CN" sz="2800" dirty="0"/>
              <a:t>trap</a:t>
            </a:r>
            <a:r>
              <a:rPr lang="zh-CN" altLang="en-US" sz="2800" dirty="0"/>
              <a:t>命令</a:t>
            </a:r>
          </a:p>
          <a:p>
            <a:r>
              <a:rPr lang="zh-CN" altLang="en-US" sz="2800" dirty="0"/>
              <a:t>也在脚本执行时加入</a:t>
            </a:r>
            <a:r>
              <a:rPr lang="en-US" altLang="zh-CN" sz="2800" dirty="0"/>
              <a:t>-x</a:t>
            </a:r>
            <a:r>
              <a:rPr lang="zh-CN" altLang="en-US" sz="2800" dirty="0"/>
              <a:t>参数</a:t>
            </a:r>
          </a:p>
          <a:p>
            <a:pPr lvl="1"/>
            <a:r>
              <a:rPr lang="en-US" altLang="zh-CN" sz="2400" dirty="0" err="1"/>
              <a:t>sh</a:t>
            </a:r>
            <a:r>
              <a:rPr lang="en-US" altLang="zh-CN" sz="2400" dirty="0"/>
              <a:t> </a:t>
            </a:r>
            <a:r>
              <a:rPr lang="en-US" altLang="zh-CN" sz="2400" dirty="0">
                <a:latin typeface="Arial" panose="020B0604020202020204" pitchFamily="34" charset="0"/>
              </a:rPr>
              <a:t>–</a:t>
            </a:r>
            <a:r>
              <a:rPr lang="en-US" altLang="zh-CN" sz="2400" dirty="0"/>
              <a:t>x menu1.sh #</a:t>
            </a:r>
            <a:r>
              <a:rPr lang="en-US" altLang="zh-CN" sz="2400" dirty="0" err="1"/>
              <a:t>sh</a:t>
            </a:r>
            <a:r>
              <a:rPr lang="zh-CN" altLang="en-US" sz="2400" dirty="0"/>
              <a:t>是</a:t>
            </a:r>
            <a:r>
              <a:rPr lang="en-US" altLang="zh-CN" sz="2400" dirty="0"/>
              <a:t>Shell</a:t>
            </a:r>
            <a:r>
              <a:rPr lang="zh-CN" altLang="en-US" sz="2400" dirty="0"/>
              <a:t>程序名字</a:t>
            </a:r>
            <a:r>
              <a:rPr lang="en-US" altLang="zh-CN" sz="2400" dirty="0"/>
              <a:t>,</a:t>
            </a:r>
            <a:r>
              <a:rPr lang="zh-CN" altLang="en-US" sz="2400" dirty="0"/>
              <a:t>表示运行</a:t>
            </a:r>
            <a:r>
              <a:rPr lang="en-US" altLang="zh-CN" sz="2400" dirty="0"/>
              <a:t>menu1.sh</a:t>
            </a:r>
            <a:r>
              <a:rPr lang="zh-CN" altLang="en-US" sz="2400" dirty="0"/>
              <a:t>并显示内部变量值</a:t>
            </a:r>
          </a:p>
          <a:p>
            <a:pPr lvl="1"/>
            <a:r>
              <a:rPr lang="zh-CN" altLang="en-US" sz="2400" dirty="0"/>
              <a:t>或</a:t>
            </a:r>
            <a:r>
              <a:rPr lang="en-US" altLang="zh-CN" sz="2400" dirty="0"/>
              <a:t>bash </a:t>
            </a:r>
            <a:r>
              <a:rPr lang="en-US" altLang="zh-CN" sz="2400" dirty="0">
                <a:latin typeface="Arial" panose="020B0604020202020204" pitchFamily="34" charset="0"/>
              </a:rPr>
              <a:t>–</a:t>
            </a:r>
            <a:r>
              <a:rPr lang="en-US" altLang="zh-CN" sz="2400" dirty="0"/>
              <a:t>x menu1.sh </a:t>
            </a:r>
            <a:r>
              <a:rPr lang="zh-CN" altLang="en-US" sz="2400" dirty="0"/>
              <a:t>也可</a:t>
            </a:r>
          </a:p>
          <a:p>
            <a:pPr lvl="1"/>
            <a:r>
              <a:rPr lang="zh-CN" altLang="en-US" sz="2400" dirty="0"/>
              <a:t>执行该脚本并显示所有变量的值。</a:t>
            </a:r>
          </a:p>
          <a:p>
            <a:r>
              <a:rPr lang="zh-CN" altLang="en-US" sz="2800" dirty="0"/>
              <a:t>不执行</a:t>
            </a:r>
            <a:r>
              <a:rPr lang="en-US" altLang="zh-CN" sz="2800" dirty="0"/>
              <a:t>,</a:t>
            </a:r>
            <a:r>
              <a:rPr lang="zh-CN" altLang="en-US" sz="2800" dirty="0"/>
              <a:t>只执行语法检查</a:t>
            </a:r>
            <a:r>
              <a:rPr lang="en-US" altLang="zh-CN" sz="2800" dirty="0"/>
              <a:t>-n</a:t>
            </a:r>
            <a:r>
              <a:rPr lang="zh-CN" altLang="en-US" sz="2800" dirty="0"/>
              <a:t>参数</a:t>
            </a:r>
          </a:p>
          <a:p>
            <a:pPr lvl="1"/>
            <a:r>
              <a:rPr lang="en-US" altLang="zh-CN" sz="2400" dirty="0" err="1"/>
              <a:t>sh</a:t>
            </a:r>
            <a:r>
              <a:rPr lang="en-US" altLang="zh-CN" sz="2400" dirty="0"/>
              <a:t> </a:t>
            </a:r>
            <a:r>
              <a:rPr lang="en-US" altLang="zh-CN" sz="2400" dirty="0">
                <a:latin typeface="Arial" panose="020B0604020202020204" pitchFamily="34" charset="0"/>
              </a:rPr>
              <a:t>–</a:t>
            </a:r>
            <a:r>
              <a:rPr lang="en-US" altLang="zh-CN" sz="2400" dirty="0"/>
              <a:t>n menu1.sh</a:t>
            </a:r>
          </a:p>
          <a:p>
            <a:pPr lvl="1"/>
            <a:r>
              <a:rPr lang="zh-CN" altLang="en-US" sz="2400" dirty="0"/>
              <a:t>不报错表示没有错误</a:t>
            </a:r>
          </a:p>
          <a:p>
            <a:endParaRPr lang="zh-CN" alt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689" y="3246939"/>
            <a:ext cx="5770627" cy="2753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96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a:t>
            </a:r>
            <a:r>
              <a:rPr lang="en-US" altLang="zh-CN" dirty="0" smtClean="0"/>
              <a:t>trap</a:t>
            </a:r>
            <a:r>
              <a:rPr lang="zh-CN" altLang="en-US" dirty="0" smtClean="0"/>
              <a:t>调试脚本</a:t>
            </a:r>
            <a:endParaRPr lang="zh-CN" altLang="en-US" dirty="0"/>
          </a:p>
        </p:txBody>
      </p:sp>
      <p:sp>
        <p:nvSpPr>
          <p:cNvPr id="3" name="内容占位符 2"/>
          <p:cNvSpPr>
            <a:spLocks noGrp="1"/>
          </p:cNvSpPr>
          <p:nvPr>
            <p:ph idx="1"/>
          </p:nvPr>
        </p:nvSpPr>
        <p:spPr>
          <a:xfrm>
            <a:off x="785477" y="1029147"/>
            <a:ext cx="10515600" cy="5457377"/>
          </a:xfrm>
        </p:spPr>
        <p:txBody>
          <a:bodyPr>
            <a:noAutofit/>
          </a:bodyPr>
          <a:lstStyle/>
          <a:p>
            <a:pPr>
              <a:lnSpc>
                <a:spcPct val="80000"/>
              </a:lnSpc>
            </a:pPr>
            <a:r>
              <a:rPr lang="en-US" altLang="zh-CN" sz="2400" dirty="0"/>
              <a:t>trap</a:t>
            </a:r>
            <a:r>
              <a:rPr lang="zh-CN" altLang="en-US" sz="2400" dirty="0"/>
              <a:t>命令用于捕获指定的信号并执行预定义的命令。</a:t>
            </a:r>
          </a:p>
          <a:p>
            <a:pPr>
              <a:lnSpc>
                <a:spcPct val="80000"/>
              </a:lnSpc>
            </a:pPr>
            <a:r>
              <a:rPr lang="zh-CN" altLang="en-US" sz="2400" dirty="0"/>
              <a:t>其基本的语法是</a:t>
            </a:r>
            <a:r>
              <a:rPr lang="en-US" altLang="zh-CN" sz="2400" dirty="0"/>
              <a:t>:</a:t>
            </a:r>
            <a:br>
              <a:rPr lang="en-US" altLang="zh-CN" sz="2400" dirty="0"/>
            </a:br>
            <a:r>
              <a:rPr lang="en-US" altLang="zh-CN" sz="2400" dirty="0">
                <a:latin typeface="Arial" panose="020B0604020202020204" pitchFamily="34" charset="0"/>
              </a:rPr>
              <a:t>   </a:t>
            </a:r>
            <a:r>
              <a:rPr lang="en-US" altLang="zh-CN" sz="2400" dirty="0"/>
              <a:t> trap </a:t>
            </a:r>
            <a:r>
              <a:rPr lang="en-US" altLang="zh-CN" sz="2400" dirty="0">
                <a:latin typeface="Arial" panose="020B0604020202020204" pitchFamily="34" charset="0"/>
              </a:rPr>
              <a:t>‘</a:t>
            </a:r>
            <a:r>
              <a:rPr lang="en-US" altLang="zh-CN" sz="2400" dirty="0"/>
              <a:t>command</a:t>
            </a:r>
            <a:r>
              <a:rPr lang="en-US" altLang="zh-CN" sz="2400" dirty="0">
                <a:latin typeface="Arial" panose="020B0604020202020204" pitchFamily="34" charset="0"/>
              </a:rPr>
              <a:t>’</a:t>
            </a:r>
            <a:r>
              <a:rPr lang="en-US" altLang="zh-CN" sz="2400" dirty="0"/>
              <a:t> </a:t>
            </a:r>
            <a:r>
              <a:rPr lang="en-US" altLang="zh-CN" sz="2400" dirty="0" smtClean="0"/>
              <a:t>signal</a:t>
            </a:r>
            <a:endParaRPr lang="en-US" altLang="zh-CN" sz="2400" dirty="0"/>
          </a:p>
          <a:p>
            <a:pPr lvl="1">
              <a:lnSpc>
                <a:spcPct val="80000"/>
              </a:lnSpc>
            </a:pPr>
            <a:r>
              <a:rPr lang="zh-CN" altLang="en-US" dirty="0" smtClean="0"/>
              <a:t>其中</a:t>
            </a:r>
            <a:r>
              <a:rPr lang="en-US" altLang="zh-CN" dirty="0"/>
              <a:t>signal</a:t>
            </a:r>
            <a:r>
              <a:rPr lang="zh-CN" altLang="en-US" dirty="0"/>
              <a:t>是要捕获的信号，</a:t>
            </a:r>
            <a:r>
              <a:rPr lang="en-US" altLang="zh-CN" dirty="0"/>
              <a:t>command</a:t>
            </a:r>
            <a:r>
              <a:rPr lang="zh-CN" altLang="en-US" dirty="0"/>
              <a:t>是捕获到指定的信号之后，所要执行的命令。可以用</a:t>
            </a:r>
            <a:r>
              <a:rPr lang="en-US" altLang="zh-CN" dirty="0"/>
              <a:t>kill </a:t>
            </a:r>
            <a:r>
              <a:rPr lang="en-US" altLang="zh-CN" dirty="0">
                <a:latin typeface="Arial" panose="020B0604020202020204" pitchFamily="34" charset="0"/>
              </a:rPr>
              <a:t>–</a:t>
            </a:r>
            <a:r>
              <a:rPr lang="en-US" altLang="zh-CN" dirty="0"/>
              <a:t>l</a:t>
            </a:r>
            <a:r>
              <a:rPr lang="zh-CN" altLang="en-US" dirty="0"/>
              <a:t>命令看到系统中全部可用的信号名，捕获信号后所执行的命令可以是任何一条或多条合法的</a:t>
            </a:r>
            <a:r>
              <a:rPr lang="en-US" altLang="zh-CN" dirty="0"/>
              <a:t>shell</a:t>
            </a:r>
            <a:r>
              <a:rPr lang="zh-CN" altLang="en-US" dirty="0"/>
              <a:t>语句，也可以是一个函数名。</a:t>
            </a:r>
          </a:p>
          <a:p>
            <a:pPr>
              <a:lnSpc>
                <a:spcPct val="80000"/>
              </a:lnSpc>
            </a:pPr>
            <a:r>
              <a:rPr lang="en-US" altLang="zh-CN" sz="2400" dirty="0" smtClean="0"/>
              <a:t>shell</a:t>
            </a:r>
            <a:r>
              <a:rPr lang="zh-CN" altLang="en-US" sz="2400" dirty="0"/>
              <a:t>脚本在执行时，会产生三个所谓的</a:t>
            </a:r>
            <a:r>
              <a:rPr lang="zh-CN" altLang="en-US" sz="2400" dirty="0">
                <a:latin typeface="Arial" panose="020B0604020202020204" pitchFamily="34" charset="0"/>
              </a:rPr>
              <a:t>“</a:t>
            </a:r>
            <a:r>
              <a:rPr lang="zh-CN" altLang="en-US" sz="2400" dirty="0"/>
              <a:t>伪信号</a:t>
            </a:r>
            <a:r>
              <a:rPr lang="zh-CN" altLang="en-US" sz="2400" dirty="0">
                <a:latin typeface="Arial" panose="020B0604020202020204" pitchFamily="34" charset="0"/>
              </a:rPr>
              <a:t>”</a:t>
            </a:r>
            <a:r>
              <a:rPr lang="zh-CN" altLang="en-US" sz="2400" dirty="0"/>
              <a:t>，</a:t>
            </a:r>
            <a:r>
              <a:rPr lang="en-US" altLang="zh-CN" sz="2400" dirty="0"/>
              <a:t>(</a:t>
            </a:r>
            <a:r>
              <a:rPr lang="zh-CN" altLang="en-US" sz="2400" dirty="0"/>
              <a:t>之所以称之为</a:t>
            </a:r>
            <a:r>
              <a:rPr lang="zh-CN" altLang="en-US" sz="2400" dirty="0">
                <a:latin typeface="Arial" panose="020B0604020202020204" pitchFamily="34" charset="0"/>
              </a:rPr>
              <a:t>“</a:t>
            </a:r>
            <a:r>
              <a:rPr lang="zh-CN" altLang="en-US" sz="2400" dirty="0"/>
              <a:t>伪信号</a:t>
            </a:r>
            <a:r>
              <a:rPr lang="zh-CN" altLang="en-US" sz="2400" dirty="0">
                <a:latin typeface="Arial" panose="020B0604020202020204" pitchFamily="34" charset="0"/>
              </a:rPr>
              <a:t>”</a:t>
            </a:r>
            <a:r>
              <a:rPr lang="zh-CN" altLang="en-US" sz="2400" dirty="0"/>
              <a:t>是因为这三个信号是由</a:t>
            </a:r>
            <a:r>
              <a:rPr lang="en-US" altLang="zh-CN" sz="2400" dirty="0"/>
              <a:t>shell</a:t>
            </a:r>
            <a:r>
              <a:rPr lang="zh-CN" altLang="en-US" sz="2400" dirty="0"/>
              <a:t>产生的，而其它的信号是由操作系统产生的</a:t>
            </a:r>
            <a:r>
              <a:rPr lang="en-US" altLang="zh-CN" sz="2400" dirty="0"/>
              <a:t>)</a:t>
            </a:r>
            <a:r>
              <a:rPr lang="zh-CN" altLang="en-US" sz="2400" dirty="0"/>
              <a:t>，通过使用</a:t>
            </a:r>
            <a:r>
              <a:rPr lang="en-US" altLang="zh-CN" sz="2400" dirty="0"/>
              <a:t>trap</a:t>
            </a:r>
            <a:r>
              <a:rPr lang="zh-CN" altLang="en-US" sz="2400" dirty="0"/>
              <a:t>命令捕获这三个</a:t>
            </a:r>
            <a:r>
              <a:rPr lang="zh-CN" altLang="en-US" sz="2400" dirty="0">
                <a:latin typeface="Arial" panose="020B0604020202020204" pitchFamily="34" charset="0"/>
              </a:rPr>
              <a:t>“</a:t>
            </a:r>
            <a:r>
              <a:rPr lang="zh-CN" altLang="en-US" sz="2400" dirty="0"/>
              <a:t>伪信号</a:t>
            </a:r>
            <a:r>
              <a:rPr lang="zh-CN" altLang="en-US" sz="2400" dirty="0">
                <a:latin typeface="Arial" panose="020B0604020202020204" pitchFamily="34" charset="0"/>
              </a:rPr>
              <a:t>”</a:t>
            </a:r>
            <a:r>
              <a:rPr lang="zh-CN" altLang="en-US" sz="2400" dirty="0"/>
              <a:t>并输出相关信息对调试非常有帮助。 </a:t>
            </a:r>
          </a:p>
          <a:p>
            <a:pPr>
              <a:lnSpc>
                <a:spcPct val="80000"/>
              </a:lnSpc>
            </a:pPr>
            <a:r>
              <a:rPr lang="en-US" altLang="zh-CN" sz="2400" dirty="0"/>
              <a:t>Shell</a:t>
            </a:r>
            <a:r>
              <a:rPr lang="zh-CN" altLang="en-US" sz="2400" dirty="0"/>
              <a:t>伪信号</a:t>
            </a:r>
          </a:p>
          <a:p>
            <a:pPr lvl="1">
              <a:lnSpc>
                <a:spcPct val="80000"/>
              </a:lnSpc>
            </a:pPr>
            <a:r>
              <a:rPr lang="zh-CN" altLang="en-US" dirty="0"/>
              <a:t>   </a:t>
            </a:r>
            <a:r>
              <a:rPr lang="en-US" altLang="zh-CN" sz="2000" dirty="0"/>
              <a:t>EXIT </a:t>
            </a:r>
            <a:r>
              <a:rPr lang="zh-CN" altLang="en-US" sz="2000" dirty="0"/>
              <a:t>从一个函数中退出或整个脚本执行完毕</a:t>
            </a:r>
          </a:p>
          <a:p>
            <a:pPr lvl="1">
              <a:lnSpc>
                <a:spcPct val="80000"/>
              </a:lnSpc>
            </a:pPr>
            <a:r>
              <a:rPr lang="zh-CN" altLang="en-US" sz="2000" dirty="0">
                <a:latin typeface="Arial" panose="020B0604020202020204" pitchFamily="34" charset="0"/>
              </a:rPr>
              <a:t>   </a:t>
            </a:r>
            <a:r>
              <a:rPr lang="zh-CN" altLang="en-US" sz="2000" dirty="0"/>
              <a:t> </a:t>
            </a:r>
            <a:r>
              <a:rPr lang="en-US" altLang="zh-CN" sz="2000" dirty="0"/>
              <a:t>ERR </a:t>
            </a:r>
            <a:r>
              <a:rPr lang="zh-CN" altLang="en-US" sz="2000" dirty="0"/>
              <a:t>当一条命令返回非零状态时</a:t>
            </a:r>
            <a:r>
              <a:rPr lang="en-US" altLang="zh-CN" sz="2000" dirty="0"/>
              <a:t>(</a:t>
            </a:r>
            <a:r>
              <a:rPr lang="zh-CN" altLang="en-US" sz="2000" dirty="0"/>
              <a:t>代表命令执行不成功</a:t>
            </a:r>
          </a:p>
          <a:p>
            <a:pPr lvl="1">
              <a:lnSpc>
                <a:spcPct val="80000"/>
              </a:lnSpc>
            </a:pPr>
            <a:r>
              <a:rPr lang="zh-CN" altLang="en-US" sz="2000" dirty="0">
                <a:latin typeface="Arial" panose="020B0604020202020204" pitchFamily="34" charset="0"/>
              </a:rPr>
              <a:t>   </a:t>
            </a:r>
            <a:r>
              <a:rPr lang="zh-CN" altLang="en-US" sz="2000" dirty="0"/>
              <a:t> </a:t>
            </a:r>
            <a:r>
              <a:rPr lang="en-US" altLang="zh-CN" sz="2000" dirty="0"/>
              <a:t>DEBUG </a:t>
            </a:r>
            <a:r>
              <a:rPr lang="zh-CN" altLang="en-US" sz="2000" dirty="0"/>
              <a:t>脚本中每一条命令执行之前 </a:t>
            </a:r>
          </a:p>
          <a:p>
            <a:endParaRPr lang="zh-CN" altLang="en-US" sz="2400" dirty="0"/>
          </a:p>
        </p:txBody>
      </p:sp>
    </p:spTree>
    <p:extLst>
      <p:ext uri="{BB962C8B-B14F-4D97-AF65-F5344CB8AC3E}">
        <p14:creationId xmlns:p14="http://schemas.microsoft.com/office/powerpoint/2010/main" val="33838594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trap</a:t>
            </a:r>
            <a:r>
              <a:rPr lang="zh-CN" altLang="en-US" dirty="0"/>
              <a:t>调试脚本</a:t>
            </a:r>
          </a:p>
        </p:txBody>
      </p:sp>
      <p:sp>
        <p:nvSpPr>
          <p:cNvPr id="3" name="内容占位符 2"/>
          <p:cNvSpPr>
            <a:spLocks noGrp="1"/>
          </p:cNvSpPr>
          <p:nvPr>
            <p:ph idx="1"/>
          </p:nvPr>
        </p:nvSpPr>
        <p:spPr/>
        <p:txBody>
          <a:bodyPr/>
          <a:lstStyle/>
          <a:p>
            <a:r>
              <a:rPr lang="zh-CN" altLang="en-US" dirty="0"/>
              <a:t>通过捕获</a:t>
            </a:r>
            <a:r>
              <a:rPr lang="en-US" altLang="zh-CN" dirty="0"/>
              <a:t>EXIT</a:t>
            </a:r>
            <a:r>
              <a:rPr lang="zh-CN" altLang="en-US" dirty="0"/>
              <a:t>信号</a:t>
            </a:r>
            <a:r>
              <a:rPr lang="en-US" altLang="zh-CN" dirty="0"/>
              <a:t>,</a:t>
            </a:r>
            <a:r>
              <a:rPr lang="zh-CN" altLang="en-US" dirty="0"/>
              <a:t>我们可以在</a:t>
            </a:r>
            <a:r>
              <a:rPr lang="en-US" altLang="zh-CN" dirty="0"/>
              <a:t>shell</a:t>
            </a:r>
            <a:r>
              <a:rPr lang="zh-CN" altLang="en-US" dirty="0"/>
              <a:t>脚本中止执行或从函数中退出时，输出某些想要跟踪的变量的值，并由此来判断脚本的执行状态以及出错原因</a:t>
            </a:r>
            <a:r>
              <a:rPr lang="en-US" altLang="zh-CN" dirty="0"/>
              <a:t>,</a:t>
            </a:r>
            <a:r>
              <a:rPr lang="zh-CN" altLang="en-US" dirty="0"/>
              <a:t>其使用方法是：</a:t>
            </a:r>
          </a:p>
          <a:p>
            <a:pPr lvl="1"/>
            <a:r>
              <a:rPr lang="en-US" altLang="zh-CN" dirty="0"/>
              <a:t>trap 'command' EXIT</a:t>
            </a:r>
            <a:r>
              <a:rPr lang="zh-CN" altLang="en-US" dirty="0"/>
              <a:t>　或　</a:t>
            </a:r>
            <a:r>
              <a:rPr lang="en-US" altLang="zh-CN" dirty="0"/>
              <a:t>trap 'command' 0 </a:t>
            </a:r>
          </a:p>
          <a:p>
            <a:r>
              <a:rPr lang="zh-CN" altLang="en-US" dirty="0"/>
              <a:t>通过捕获</a:t>
            </a:r>
            <a:r>
              <a:rPr lang="en-US" altLang="zh-CN" dirty="0"/>
              <a:t>ERR</a:t>
            </a:r>
            <a:r>
              <a:rPr lang="zh-CN" altLang="en-US" dirty="0"/>
              <a:t>信号</a:t>
            </a:r>
            <a:r>
              <a:rPr lang="en-US" altLang="zh-CN" dirty="0"/>
              <a:t>,</a:t>
            </a:r>
            <a:r>
              <a:rPr lang="zh-CN" altLang="en-US" dirty="0"/>
              <a:t>我们可以方便的追踪执行不成功的命令或函数，并输出相关的调试信息，以下是一个捕获</a:t>
            </a:r>
            <a:r>
              <a:rPr lang="en-US" altLang="zh-CN" dirty="0"/>
              <a:t>ERR</a:t>
            </a:r>
            <a:r>
              <a:rPr lang="zh-CN" altLang="en-US" dirty="0"/>
              <a:t>信号的示例程序，其中的</a:t>
            </a:r>
            <a:r>
              <a:rPr lang="en-US" altLang="zh-CN" dirty="0"/>
              <a:t>$LINENO</a:t>
            </a:r>
            <a:r>
              <a:rPr lang="zh-CN" altLang="en-US" dirty="0"/>
              <a:t>是一个</a:t>
            </a:r>
            <a:r>
              <a:rPr lang="en-US" altLang="zh-CN" dirty="0"/>
              <a:t>shell</a:t>
            </a:r>
            <a:r>
              <a:rPr lang="zh-CN" altLang="en-US" dirty="0"/>
              <a:t>的内置变量，代表</a:t>
            </a:r>
            <a:r>
              <a:rPr lang="en-US" altLang="zh-CN" dirty="0"/>
              <a:t>shell</a:t>
            </a:r>
            <a:r>
              <a:rPr lang="zh-CN" altLang="en-US" dirty="0"/>
              <a:t>脚本的当前行号。 </a:t>
            </a:r>
          </a:p>
          <a:p>
            <a:pPr lvl="1"/>
            <a:r>
              <a:rPr lang="en-US" altLang="zh-CN" dirty="0"/>
              <a:t>trap 'ERRTRAP $LINENO' ERR</a:t>
            </a:r>
            <a:endParaRPr lang="zh-CN" altLang="en-US" dirty="0"/>
          </a:p>
        </p:txBody>
      </p:sp>
    </p:spTree>
    <p:extLst>
      <p:ext uri="{BB962C8B-B14F-4D97-AF65-F5344CB8AC3E}">
        <p14:creationId xmlns:p14="http://schemas.microsoft.com/office/powerpoint/2010/main" val="6861290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trap</a:t>
            </a:r>
            <a:r>
              <a:rPr lang="zh-CN" altLang="en-US" dirty="0" smtClean="0"/>
              <a:t>调试脚本</a:t>
            </a:r>
            <a:endParaRPr lang="zh-CN" altLang="en-US" dirty="0"/>
          </a:p>
        </p:txBody>
      </p:sp>
      <p:sp>
        <p:nvSpPr>
          <p:cNvPr id="3" name="内容占位符 2"/>
          <p:cNvSpPr>
            <a:spLocks noGrp="1"/>
          </p:cNvSpPr>
          <p:nvPr>
            <p:ph idx="1"/>
          </p:nvPr>
        </p:nvSpPr>
        <p:spPr/>
        <p:txBody>
          <a:bodyPr/>
          <a:lstStyle/>
          <a:p>
            <a:r>
              <a:rPr lang="zh-CN" altLang="en-US" dirty="0"/>
              <a:t>在调试过程中，为了跟踪某些变量的值，我们常常需要在</a:t>
            </a:r>
            <a:r>
              <a:rPr lang="en-US" altLang="zh-CN" dirty="0"/>
              <a:t>shell</a:t>
            </a:r>
            <a:r>
              <a:rPr lang="zh-CN" altLang="en-US" dirty="0"/>
              <a:t>脚本的许多地方插入相同的</a:t>
            </a:r>
            <a:r>
              <a:rPr lang="en-US" altLang="zh-CN" dirty="0"/>
              <a:t>echo</a:t>
            </a:r>
            <a:r>
              <a:rPr lang="zh-CN" altLang="en-US" dirty="0"/>
              <a:t>语句来打印相关变量的值，这种做法显得烦琐而笨拙。而通过捕获</a:t>
            </a:r>
            <a:r>
              <a:rPr lang="en-US" altLang="zh-CN" dirty="0"/>
              <a:t>DEBUG</a:t>
            </a:r>
            <a:r>
              <a:rPr lang="zh-CN" altLang="en-US" dirty="0"/>
              <a:t>信号，我们只需要一条</a:t>
            </a:r>
            <a:r>
              <a:rPr lang="en-US" altLang="zh-CN" dirty="0"/>
              <a:t>trap</a:t>
            </a:r>
            <a:r>
              <a:rPr lang="zh-CN" altLang="en-US" dirty="0"/>
              <a:t>语句就可以完成对相关变量的全程跟踪。 </a:t>
            </a:r>
          </a:p>
          <a:p>
            <a:pPr lvl="1"/>
            <a:r>
              <a:rPr lang="en-US" altLang="zh-CN" dirty="0"/>
              <a:t>trap 'echo </a:t>
            </a:r>
            <a:r>
              <a:rPr lang="en-US" altLang="zh-CN" dirty="0">
                <a:latin typeface="Arial" panose="020B0604020202020204" pitchFamily="34" charset="0"/>
              </a:rPr>
              <a:t>“</a:t>
            </a:r>
            <a:r>
              <a:rPr lang="en-US" altLang="zh-CN" dirty="0"/>
              <a:t>before execute line:$LINENO, a=$</a:t>
            </a:r>
            <a:r>
              <a:rPr lang="en-US" altLang="zh-CN" dirty="0" err="1"/>
              <a:t>a,b</a:t>
            </a:r>
            <a:r>
              <a:rPr lang="en-US" altLang="zh-CN" dirty="0"/>
              <a:t>=$</a:t>
            </a:r>
            <a:r>
              <a:rPr lang="en-US" altLang="zh-CN" dirty="0" err="1"/>
              <a:t>b,c</a:t>
            </a:r>
            <a:r>
              <a:rPr lang="en-US" altLang="zh-CN" dirty="0"/>
              <a:t>=$c</a:t>
            </a:r>
            <a:r>
              <a:rPr lang="en-US" altLang="zh-CN" dirty="0">
                <a:latin typeface="Arial" panose="020B0604020202020204" pitchFamily="34" charset="0"/>
              </a:rPr>
              <a:t>”</a:t>
            </a:r>
            <a:r>
              <a:rPr lang="en-US" altLang="zh-CN" dirty="0"/>
              <a:t>' DEBUG</a:t>
            </a:r>
            <a:r>
              <a:rPr lang="en-US" altLang="zh-CN" dirty="0">
                <a:latin typeface="Arial" panose="020B0604020202020204" pitchFamily="34" charset="0"/>
              </a:rPr>
              <a:t>    </a:t>
            </a:r>
            <a:endParaRPr lang="zh-CN" altLang="en-US" dirty="0"/>
          </a:p>
        </p:txBody>
      </p:sp>
    </p:spTree>
    <p:extLst>
      <p:ext uri="{BB962C8B-B14F-4D97-AF65-F5344CB8AC3E}">
        <p14:creationId xmlns:p14="http://schemas.microsoft.com/office/powerpoint/2010/main" val="134300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trap ERR</a:t>
            </a:r>
            <a:r>
              <a:rPr lang="zh-CN" altLang="en-US" dirty="0" smtClean="0"/>
              <a:t>实例</a:t>
            </a:r>
            <a:endParaRPr lang="zh-CN" altLang="en-US" dirty="0"/>
          </a:p>
        </p:txBody>
      </p:sp>
      <p:graphicFrame>
        <p:nvGraphicFramePr>
          <p:cNvPr id="5" name="Object 5"/>
          <p:cNvGraphicFramePr>
            <a:graphicFrameLocks noGrp="1" noChangeAspect="1"/>
          </p:cNvGraphicFramePr>
          <p:nvPr>
            <p:ph idx="1"/>
            <p:extLst>
              <p:ext uri="{D42A27DB-BD31-4B8C-83A1-F6EECF244321}">
                <p14:modId xmlns:p14="http://schemas.microsoft.com/office/powerpoint/2010/main" val="2592699799"/>
              </p:ext>
            </p:extLst>
          </p:nvPr>
        </p:nvGraphicFramePr>
        <p:xfrm>
          <a:off x="1309688" y="1058193"/>
          <a:ext cx="1264734" cy="865187"/>
        </p:xfrm>
        <a:graphic>
          <a:graphicData uri="http://schemas.openxmlformats.org/presentationml/2006/ole">
            <mc:AlternateContent xmlns:mc="http://schemas.openxmlformats.org/markup-compatibility/2006">
              <mc:Choice xmlns:v="urn:schemas-microsoft-com:vml" Requires="v">
                <p:oleObj spid="_x0000_s4098" name="包装程序外壳对象" showAsIcon="1" r:id="rId4" imgW="667800" imgH="456840" progId="Package">
                  <p:embed/>
                </p:oleObj>
              </mc:Choice>
              <mc:Fallback>
                <p:oleObj name="包装程序外壳对象" showAsIcon="1" r:id="rId4" imgW="667800" imgH="456840" progId="Package">
                  <p:embed/>
                  <p:pic>
                    <p:nvPicPr>
                      <p:cNvPr id="0" name=""/>
                      <p:cNvPicPr>
                        <a:picLocks noChangeAspect="1" noChangeArrowheads="1"/>
                      </p:cNvPicPr>
                      <p:nvPr/>
                    </p:nvPicPr>
                    <p:blipFill>
                      <a:blip r:embed="rId5"/>
                      <a:srcRect/>
                      <a:stretch>
                        <a:fillRect/>
                      </a:stretch>
                    </p:blipFill>
                    <p:spPr bwMode="auto">
                      <a:xfrm>
                        <a:off x="1309688" y="1058193"/>
                        <a:ext cx="1264734" cy="865187"/>
                      </a:xfrm>
                      <a:prstGeom prst="rect">
                        <a:avLst/>
                      </a:prstGeom>
                      <a:noFill/>
                      <a:ln>
                        <a:noFill/>
                      </a:ln>
                      <a:effectLst/>
                      <a:extLst/>
                    </p:spPr>
                  </p:pic>
                </p:oleObj>
              </mc:Fallback>
            </mc:AlternateContent>
          </a:graphicData>
        </a:graphic>
      </p:graphicFrame>
      <p:sp>
        <p:nvSpPr>
          <p:cNvPr id="4" name="Text Box 4"/>
          <p:cNvSpPr txBox="1">
            <a:spLocks noChangeArrowheads="1"/>
          </p:cNvSpPr>
          <p:nvPr/>
        </p:nvSpPr>
        <p:spPr bwMode="auto">
          <a:xfrm>
            <a:off x="3243441" y="1058193"/>
            <a:ext cx="8115300" cy="3482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ERRTRAP()</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echo "[LINE:$1] Error: Command or function exited with status $?“</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foo()</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return 1;</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trap 'ERRTRAP $LINENO' ERR</a:t>
            </a:r>
          </a:p>
          <a:p>
            <a:pPr algn="l"/>
            <a:r>
              <a:rPr kumimoji="1" lang="en-US" altLang="zh-CN" dirty="0" err="1">
                <a:solidFill>
                  <a:srgbClr val="FF0000"/>
                </a:solidFill>
                <a:ea typeface="宋体" panose="02010600030101010101" pitchFamily="2" charset="-122"/>
              </a:rPr>
              <a:t>abc</a:t>
            </a:r>
            <a:endParaRPr kumimoji="1" lang="en-US" altLang="zh-CN" dirty="0">
              <a:solidFill>
                <a:srgbClr val="FF0000"/>
              </a:solidFill>
              <a:ea typeface="宋体" panose="02010600030101010101" pitchFamily="2" charset="-122"/>
            </a:endParaRPr>
          </a:p>
          <a:p>
            <a:pPr algn="l"/>
            <a:r>
              <a:rPr kumimoji="1" lang="en-US" altLang="zh-CN" dirty="0">
                <a:ea typeface="宋体" panose="02010600030101010101" pitchFamily="2" charset="-122"/>
              </a:rPr>
              <a:t>foo</a:t>
            </a:r>
          </a:p>
        </p:txBody>
      </p:sp>
      <p:pic>
        <p:nvPicPr>
          <p:cNvPr id="6"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846" y="4674518"/>
            <a:ext cx="7346279" cy="177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32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Trap EXIT</a:t>
            </a:r>
            <a:endParaRPr lang="zh-CN" altLang="en-US" dirty="0"/>
          </a:p>
        </p:txBody>
      </p:sp>
      <p:graphicFrame>
        <p:nvGraphicFramePr>
          <p:cNvPr id="5" name="Object 5"/>
          <p:cNvGraphicFramePr>
            <a:graphicFrameLocks noGrp="1" noChangeAspect="1"/>
          </p:cNvGraphicFramePr>
          <p:nvPr>
            <p:ph idx="1"/>
            <p:extLst>
              <p:ext uri="{D42A27DB-BD31-4B8C-83A1-F6EECF244321}">
                <p14:modId xmlns:p14="http://schemas.microsoft.com/office/powerpoint/2010/main" val="3817592005"/>
              </p:ext>
            </p:extLst>
          </p:nvPr>
        </p:nvGraphicFramePr>
        <p:xfrm>
          <a:off x="1020763" y="1960562"/>
          <a:ext cx="1728857" cy="1182687"/>
        </p:xfrm>
        <a:graphic>
          <a:graphicData uri="http://schemas.openxmlformats.org/presentationml/2006/ole">
            <mc:AlternateContent xmlns:mc="http://schemas.openxmlformats.org/markup-compatibility/2006">
              <mc:Choice xmlns:v="urn:schemas-microsoft-com:vml" Requires="v">
                <p:oleObj spid="_x0000_s5122" name="包装程序外壳对象" showAsIcon="1" r:id="rId4" imgW="667800" imgH="456840" progId="Package">
                  <p:embed/>
                </p:oleObj>
              </mc:Choice>
              <mc:Fallback>
                <p:oleObj name="包装程序外壳对象" showAsIcon="1" r:id="rId4" imgW="667800" imgH="456840" progId="Package">
                  <p:embed/>
                  <p:pic>
                    <p:nvPicPr>
                      <p:cNvPr id="0" name=""/>
                      <p:cNvPicPr>
                        <a:picLocks noChangeAspect="1" noChangeArrowheads="1"/>
                      </p:cNvPicPr>
                      <p:nvPr/>
                    </p:nvPicPr>
                    <p:blipFill>
                      <a:blip r:embed="rId5"/>
                      <a:srcRect/>
                      <a:stretch>
                        <a:fillRect/>
                      </a:stretch>
                    </p:blipFill>
                    <p:spPr bwMode="auto">
                      <a:xfrm>
                        <a:off x="1020763" y="1960562"/>
                        <a:ext cx="1728857" cy="1182687"/>
                      </a:xfrm>
                      <a:prstGeom prst="rect">
                        <a:avLst/>
                      </a:prstGeom>
                      <a:noFill/>
                      <a:ln>
                        <a:noFill/>
                      </a:ln>
                      <a:effectLst/>
                      <a:extLst/>
                    </p:spPr>
                  </p:pic>
                </p:oleObj>
              </mc:Fallback>
            </mc:AlternateContent>
          </a:graphicData>
        </a:graphic>
      </p:graphicFrame>
      <p:sp>
        <p:nvSpPr>
          <p:cNvPr id="4" name="Text Box 4"/>
          <p:cNvSpPr txBox="1">
            <a:spLocks noChangeArrowheads="1"/>
          </p:cNvSpPr>
          <p:nvPr/>
        </p:nvSpPr>
        <p:spPr bwMode="auto">
          <a:xfrm>
            <a:off x="3237963" y="1166815"/>
            <a:ext cx="8115300" cy="3482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ERRTRAP()</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echo "[LINE:$1] Error: Command or function exited with status $?“</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foo()</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return 1;</a:t>
            </a:r>
          </a:p>
          <a:p>
            <a:pPr algn="l"/>
            <a:r>
              <a:rPr kumimoji="1" lang="en-US" altLang="zh-CN" dirty="0">
                <a:ea typeface="宋体" panose="02010600030101010101" pitchFamily="2" charset="-122"/>
              </a:rPr>
              <a:t>}</a:t>
            </a:r>
          </a:p>
          <a:p>
            <a:pPr algn="l"/>
            <a:r>
              <a:rPr kumimoji="1" lang="en-US" altLang="zh-CN" dirty="0">
                <a:ea typeface="宋体" panose="02010600030101010101" pitchFamily="2" charset="-122"/>
              </a:rPr>
              <a:t>trap 'ERRTRAP $LINENO' EXIT</a:t>
            </a:r>
          </a:p>
          <a:p>
            <a:pPr algn="l"/>
            <a:r>
              <a:rPr kumimoji="1" lang="en-US" altLang="zh-CN" dirty="0" err="1">
                <a:solidFill>
                  <a:srgbClr val="FF0000"/>
                </a:solidFill>
                <a:ea typeface="宋体" panose="02010600030101010101" pitchFamily="2" charset="-122"/>
              </a:rPr>
              <a:t>abc</a:t>
            </a:r>
            <a:endParaRPr kumimoji="1" lang="en-US" altLang="zh-CN" dirty="0">
              <a:solidFill>
                <a:srgbClr val="FF0000"/>
              </a:solidFill>
              <a:ea typeface="宋体" panose="02010600030101010101" pitchFamily="2" charset="-122"/>
            </a:endParaRPr>
          </a:p>
          <a:p>
            <a:pPr algn="l"/>
            <a:r>
              <a:rPr kumimoji="1" lang="en-US" altLang="zh-CN" dirty="0">
                <a:ea typeface="宋体" panose="02010600030101010101" pitchFamily="2" charset="-122"/>
              </a:rPr>
              <a:t>foo</a:t>
            </a:r>
          </a:p>
        </p:txBody>
      </p:sp>
      <p:pic>
        <p:nvPicPr>
          <p:cNvPr id="6"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3300" y="4836325"/>
            <a:ext cx="9485121" cy="168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49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Trap Debug</a:t>
            </a:r>
            <a:endParaRPr lang="zh-CN" altLang="en-US" dirty="0"/>
          </a:p>
        </p:txBody>
      </p:sp>
      <p:graphicFrame>
        <p:nvGraphicFramePr>
          <p:cNvPr id="5" name="Object 7"/>
          <p:cNvGraphicFramePr>
            <a:graphicFrameLocks noGrp="1" noChangeAspect="1"/>
          </p:cNvGraphicFramePr>
          <p:nvPr>
            <p:ph idx="1"/>
            <p:extLst>
              <p:ext uri="{D42A27DB-BD31-4B8C-83A1-F6EECF244321}">
                <p14:modId xmlns:p14="http://schemas.microsoft.com/office/powerpoint/2010/main" val="2817304796"/>
              </p:ext>
            </p:extLst>
          </p:nvPr>
        </p:nvGraphicFramePr>
        <p:xfrm>
          <a:off x="8961593" y="1565275"/>
          <a:ext cx="2486769" cy="1328738"/>
        </p:xfrm>
        <a:graphic>
          <a:graphicData uri="http://schemas.openxmlformats.org/presentationml/2006/ole">
            <mc:AlternateContent xmlns:mc="http://schemas.openxmlformats.org/markup-compatibility/2006">
              <mc:Choice xmlns:v="urn:schemas-microsoft-com:vml" Requires="v">
                <p:oleObj spid="_x0000_s6146" name="包装程序外壳对象" showAsIcon="1" r:id="rId4" imgW="855000" imgH="456840" progId="Package">
                  <p:embed/>
                </p:oleObj>
              </mc:Choice>
              <mc:Fallback>
                <p:oleObj name="包装程序外壳对象" showAsIcon="1" r:id="rId4" imgW="855000" imgH="456840" progId="Package">
                  <p:embed/>
                  <p:pic>
                    <p:nvPicPr>
                      <p:cNvPr id="0" name=""/>
                      <p:cNvPicPr>
                        <a:picLocks noGrp="1" noChangeAspect="1" noChangeArrowheads="1"/>
                      </p:cNvPicPr>
                      <p:nvPr/>
                    </p:nvPicPr>
                    <p:blipFill>
                      <a:blip r:embed="rId5"/>
                      <a:srcRect/>
                      <a:stretch>
                        <a:fillRect/>
                      </a:stretch>
                    </p:blipFill>
                    <p:spPr bwMode="auto">
                      <a:xfrm>
                        <a:off x="8961593" y="1565275"/>
                        <a:ext cx="2486769" cy="1328738"/>
                      </a:xfrm>
                      <a:prstGeom prst="rect">
                        <a:avLst/>
                      </a:prstGeom>
                      <a:noFill/>
                      <a:ln>
                        <a:noFill/>
                      </a:ln>
                      <a:effectLst/>
                      <a:extLst/>
                    </p:spPr>
                  </p:pic>
                </p:oleObj>
              </mc:Fallback>
            </mc:AlternateContent>
          </a:graphicData>
        </a:graphic>
      </p:graphicFrame>
      <p:sp>
        <p:nvSpPr>
          <p:cNvPr id="4" name="Text Box 3"/>
          <p:cNvSpPr txBox="1">
            <a:spLocks noChangeArrowheads="1"/>
          </p:cNvSpPr>
          <p:nvPr/>
        </p:nvSpPr>
        <p:spPr bwMode="auto">
          <a:xfrm>
            <a:off x="232725" y="1152526"/>
            <a:ext cx="8115300" cy="34829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dirty="0">
                <a:ea typeface="宋体" panose="02010600030101010101" pitchFamily="2" charset="-122"/>
              </a:rPr>
              <a:t>#!/bin/bash</a:t>
            </a:r>
          </a:p>
          <a:p>
            <a:pPr algn="l"/>
            <a:r>
              <a:rPr kumimoji="1" lang="en-US" altLang="zh-CN" dirty="0">
                <a:ea typeface="宋体" panose="02010600030101010101" pitchFamily="2" charset="-122"/>
              </a:rPr>
              <a:t>trap 'echo "before execute line:$LINENO, a=$</a:t>
            </a:r>
            <a:r>
              <a:rPr kumimoji="1" lang="en-US" altLang="zh-CN" dirty="0" err="1">
                <a:ea typeface="宋体" panose="02010600030101010101" pitchFamily="2" charset="-122"/>
              </a:rPr>
              <a:t>a,b</a:t>
            </a:r>
            <a:r>
              <a:rPr kumimoji="1" lang="en-US" altLang="zh-CN" dirty="0">
                <a:ea typeface="宋体" panose="02010600030101010101" pitchFamily="2" charset="-122"/>
              </a:rPr>
              <a:t>=$</a:t>
            </a:r>
            <a:r>
              <a:rPr kumimoji="1" lang="en-US" altLang="zh-CN" dirty="0" err="1">
                <a:ea typeface="宋体" panose="02010600030101010101" pitchFamily="2" charset="-122"/>
              </a:rPr>
              <a:t>b,c</a:t>
            </a:r>
            <a:r>
              <a:rPr kumimoji="1" lang="en-US" altLang="zh-CN" dirty="0">
                <a:ea typeface="宋体" panose="02010600030101010101" pitchFamily="2" charset="-122"/>
              </a:rPr>
              <a:t>=$c"' DEBUG</a:t>
            </a:r>
          </a:p>
          <a:p>
            <a:pPr algn="l"/>
            <a:r>
              <a:rPr kumimoji="1" lang="en-US" altLang="zh-CN" dirty="0">
                <a:ea typeface="宋体" panose="02010600030101010101" pitchFamily="2" charset="-122"/>
              </a:rPr>
              <a:t>a=1</a:t>
            </a:r>
          </a:p>
          <a:p>
            <a:pPr algn="l"/>
            <a:r>
              <a:rPr kumimoji="1" lang="en-US" altLang="zh-CN" dirty="0">
                <a:ea typeface="宋体" panose="02010600030101010101" pitchFamily="2" charset="-122"/>
              </a:rPr>
              <a:t>if [ "$a" -</a:t>
            </a:r>
            <a:r>
              <a:rPr kumimoji="1" lang="en-US" altLang="zh-CN" dirty="0" err="1">
                <a:ea typeface="宋体" panose="02010600030101010101" pitchFamily="2" charset="-122"/>
              </a:rPr>
              <a:t>eq</a:t>
            </a:r>
            <a:r>
              <a:rPr kumimoji="1" lang="en-US" altLang="zh-CN" dirty="0">
                <a:ea typeface="宋体" panose="02010600030101010101" pitchFamily="2" charset="-122"/>
              </a:rPr>
              <a:t> 1 ]</a:t>
            </a:r>
          </a:p>
          <a:p>
            <a:pPr algn="l"/>
            <a:r>
              <a:rPr kumimoji="1" lang="en-US" altLang="zh-CN" dirty="0">
                <a:ea typeface="宋体" panose="02010600030101010101" pitchFamily="2" charset="-122"/>
              </a:rPr>
              <a:t>Then</a:t>
            </a:r>
          </a:p>
          <a:p>
            <a:pPr algn="l"/>
            <a:r>
              <a:rPr kumimoji="1" lang="en-US" altLang="zh-CN" dirty="0">
                <a:ea typeface="宋体" panose="02010600030101010101" pitchFamily="2" charset="-122"/>
              </a:rPr>
              <a:t>b=2</a:t>
            </a:r>
          </a:p>
          <a:p>
            <a:pPr algn="l"/>
            <a:r>
              <a:rPr kumimoji="1" lang="en-US" altLang="zh-CN" dirty="0">
                <a:ea typeface="宋体" panose="02010600030101010101" pitchFamily="2" charset="-122"/>
              </a:rPr>
              <a:t>Else</a:t>
            </a:r>
          </a:p>
          <a:p>
            <a:pPr algn="l"/>
            <a:r>
              <a:rPr kumimoji="1" lang="en-US" altLang="zh-CN" dirty="0">
                <a:ea typeface="宋体" panose="02010600030101010101" pitchFamily="2" charset="-122"/>
              </a:rPr>
              <a:t>b=1</a:t>
            </a:r>
          </a:p>
          <a:p>
            <a:pPr algn="l"/>
            <a:r>
              <a:rPr kumimoji="1" lang="en-US" altLang="zh-CN" dirty="0">
                <a:ea typeface="宋体" panose="02010600030101010101" pitchFamily="2" charset="-122"/>
              </a:rPr>
              <a:t>Fi</a:t>
            </a:r>
          </a:p>
          <a:p>
            <a:pPr algn="l"/>
            <a:r>
              <a:rPr kumimoji="1" lang="en-US" altLang="zh-CN" dirty="0">
                <a:ea typeface="宋体" panose="02010600030101010101" pitchFamily="2" charset="-122"/>
              </a:rPr>
              <a:t>c=3</a:t>
            </a:r>
          </a:p>
          <a:p>
            <a:pPr algn="l"/>
            <a:r>
              <a:rPr kumimoji="1" lang="en-US" altLang="zh-CN" dirty="0">
                <a:ea typeface="宋体" panose="02010600030101010101" pitchFamily="2" charset="-122"/>
              </a:rPr>
              <a:t>echo "End"</a:t>
            </a:r>
          </a:p>
        </p:txBody>
      </p:sp>
      <p:pic>
        <p:nvPicPr>
          <p:cNvPr id="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757" y="2894013"/>
            <a:ext cx="6838793" cy="3046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97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:Service</a:t>
            </a:r>
            <a:r>
              <a:rPr lang="zh-CN" altLang="en-US" dirty="0"/>
              <a:t>脚本</a:t>
            </a:r>
          </a:p>
        </p:txBody>
      </p:sp>
      <p:sp>
        <p:nvSpPr>
          <p:cNvPr id="3" name="内容占位符 2"/>
          <p:cNvSpPr>
            <a:spLocks noGrp="1"/>
          </p:cNvSpPr>
          <p:nvPr>
            <p:ph idx="1"/>
          </p:nvPr>
        </p:nvSpPr>
        <p:spPr>
          <a:xfrm>
            <a:off x="419100" y="1088088"/>
            <a:ext cx="10515600" cy="595603"/>
          </a:xfrm>
        </p:spPr>
        <p:txBody>
          <a:bodyPr/>
          <a:lstStyle/>
          <a:p>
            <a:r>
              <a:rPr lang="en-US" altLang="zh-CN" dirty="0"/>
              <a:t>/</a:t>
            </a:r>
            <a:r>
              <a:rPr lang="en-US" altLang="zh-CN" dirty="0" err="1"/>
              <a:t>sbin</a:t>
            </a:r>
            <a:r>
              <a:rPr lang="en-US" altLang="zh-CN" dirty="0"/>
              <a:t>/service </a:t>
            </a:r>
            <a:r>
              <a:rPr lang="zh-CN" altLang="en-US" dirty="0"/>
              <a:t>用于控制各种服务的启动和停止</a:t>
            </a:r>
          </a:p>
          <a:p>
            <a:endParaRPr lang="zh-CN" altLang="en-US" dirty="0"/>
          </a:p>
        </p:txBody>
      </p:sp>
      <p:sp>
        <p:nvSpPr>
          <p:cNvPr id="4" name="Text Box 4"/>
          <p:cNvSpPr txBox="1">
            <a:spLocks noChangeArrowheads="1"/>
          </p:cNvSpPr>
          <p:nvPr/>
        </p:nvSpPr>
        <p:spPr bwMode="auto">
          <a:xfrm>
            <a:off x="3180702" y="1785247"/>
            <a:ext cx="8115300" cy="4829175"/>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a:r>
              <a:rPr kumimoji="1" lang="en-US" altLang="zh-CN" sz="1800" dirty="0">
                <a:ea typeface="宋体" panose="02010600030101010101" pitchFamily="2" charset="-122"/>
              </a:rPr>
              <a:t>#!/bin/</a:t>
            </a:r>
            <a:r>
              <a:rPr kumimoji="1" lang="en-US" altLang="zh-CN" sz="1800" dirty="0" err="1">
                <a:ea typeface="宋体" panose="02010600030101010101" pitchFamily="2" charset="-122"/>
              </a:rPr>
              <a:t>sh</a:t>
            </a:r>
            <a:endParaRPr kumimoji="1" lang="en-US" altLang="zh-CN" sz="1800" dirty="0">
              <a:ea typeface="宋体" panose="02010600030101010101" pitchFamily="2" charset="-122"/>
            </a:endParaRPr>
          </a:p>
          <a:p>
            <a:pPr algn="l"/>
            <a:endParaRPr kumimoji="1" lang="en-US" altLang="zh-CN" sz="1800" dirty="0">
              <a:ea typeface="宋体" panose="02010600030101010101" pitchFamily="2" charset="-122"/>
            </a:endParaRPr>
          </a:p>
          <a:p>
            <a:pPr algn="l"/>
            <a:r>
              <a:rPr kumimoji="1" lang="en-US" altLang="zh-CN" sz="1800" dirty="0">
                <a:ea typeface="宋体" panose="02010600030101010101" pitchFamily="2" charset="-122"/>
              </a:rPr>
              <a:t># Set up a default search path.</a:t>
            </a:r>
          </a:p>
          <a:p>
            <a:pPr algn="l"/>
            <a:r>
              <a:rPr kumimoji="1" lang="en-US" altLang="zh-CN" sz="1800" dirty="0">
                <a:ea typeface="宋体" panose="02010600030101010101" pitchFamily="2" charset="-122"/>
              </a:rPr>
              <a:t>PATH="/</a:t>
            </a:r>
            <a:r>
              <a:rPr kumimoji="1" lang="en-US" altLang="zh-CN" sz="1800" dirty="0" err="1">
                <a:ea typeface="宋体" panose="02010600030101010101" pitchFamily="2" charset="-122"/>
              </a:rPr>
              <a:t>sbin</a:t>
            </a:r>
            <a:r>
              <a:rPr kumimoji="1" lang="en-US" altLang="zh-CN" sz="1800" dirty="0">
                <a:ea typeface="宋体" panose="02010600030101010101" pitchFamily="2" charset="-122"/>
              </a:rPr>
              <a:t>:/</a:t>
            </a:r>
            <a:r>
              <a:rPr kumimoji="1" lang="en-US" altLang="zh-CN" sz="1800" dirty="0" err="1">
                <a:ea typeface="宋体" panose="02010600030101010101" pitchFamily="2" charset="-122"/>
              </a:rPr>
              <a:t>usr</a:t>
            </a:r>
            <a:r>
              <a:rPr kumimoji="1" lang="en-US" altLang="zh-CN" sz="1800" dirty="0">
                <a:ea typeface="宋体" panose="02010600030101010101" pitchFamily="2" charset="-122"/>
              </a:rPr>
              <a:t>/</a:t>
            </a:r>
            <a:r>
              <a:rPr kumimoji="1" lang="en-US" altLang="zh-CN" sz="1800" dirty="0" err="1">
                <a:ea typeface="宋体" panose="02010600030101010101" pitchFamily="2" charset="-122"/>
              </a:rPr>
              <a:t>sbin</a:t>
            </a:r>
            <a:r>
              <a:rPr kumimoji="1" lang="en-US" altLang="zh-CN" sz="1800" dirty="0">
                <a:ea typeface="宋体" panose="02010600030101010101" pitchFamily="2" charset="-122"/>
              </a:rPr>
              <a:t>:/bin:/</a:t>
            </a:r>
            <a:r>
              <a:rPr kumimoji="1" lang="en-US" altLang="zh-CN" sz="1800" dirty="0" err="1">
                <a:ea typeface="宋体" panose="02010600030101010101" pitchFamily="2" charset="-122"/>
              </a:rPr>
              <a:t>usr</a:t>
            </a:r>
            <a:r>
              <a:rPr kumimoji="1" lang="en-US" altLang="zh-CN" sz="1800" dirty="0">
                <a:ea typeface="宋体" panose="02010600030101010101" pitchFamily="2" charset="-122"/>
              </a:rPr>
              <a:t>/bin:/</a:t>
            </a:r>
            <a:r>
              <a:rPr kumimoji="1" lang="en-US" altLang="zh-CN" sz="1800" dirty="0" err="1">
                <a:ea typeface="宋体" panose="02010600030101010101" pitchFamily="2" charset="-122"/>
              </a:rPr>
              <a:t>usr</a:t>
            </a:r>
            <a:r>
              <a:rPr kumimoji="1" lang="en-US" altLang="zh-CN" sz="1800" dirty="0">
                <a:ea typeface="宋体" panose="02010600030101010101" pitchFamily="2" charset="-122"/>
              </a:rPr>
              <a:t>/X11R6/bin"</a:t>
            </a:r>
          </a:p>
          <a:p>
            <a:pPr algn="l"/>
            <a:r>
              <a:rPr kumimoji="1" lang="en-US" altLang="zh-CN" sz="1800" dirty="0">
                <a:ea typeface="宋体" panose="02010600030101010101" pitchFamily="2" charset="-122"/>
              </a:rPr>
              <a:t>export PATH</a:t>
            </a:r>
          </a:p>
          <a:p>
            <a:pPr algn="l"/>
            <a:endParaRPr kumimoji="1" lang="en-US" altLang="zh-CN" sz="1800" dirty="0">
              <a:ea typeface="宋体" panose="02010600030101010101" pitchFamily="2" charset="-122"/>
            </a:endParaRPr>
          </a:p>
          <a:p>
            <a:pPr algn="l"/>
            <a:r>
              <a:rPr kumimoji="1" lang="en-US" altLang="zh-CN" sz="1800" dirty="0">
                <a:ea typeface="宋体" panose="02010600030101010101" pitchFamily="2" charset="-122"/>
              </a:rPr>
              <a:t>VERSION="`</a:t>
            </a:r>
            <a:r>
              <a:rPr kumimoji="1" lang="en-US" altLang="zh-CN" sz="1800" dirty="0" err="1">
                <a:ea typeface="宋体" panose="02010600030101010101" pitchFamily="2" charset="-122"/>
              </a:rPr>
              <a:t>basename</a:t>
            </a:r>
            <a:r>
              <a:rPr kumimoji="1" lang="en-US" altLang="zh-CN" sz="1800" dirty="0">
                <a:ea typeface="宋体" panose="02010600030101010101" pitchFamily="2" charset="-122"/>
              </a:rPr>
              <a:t> $0` ver. 0.91"</a:t>
            </a:r>
          </a:p>
          <a:p>
            <a:pPr algn="l"/>
            <a:r>
              <a:rPr kumimoji="1" lang="en-US" altLang="zh-CN" sz="1800" dirty="0">
                <a:ea typeface="宋体" panose="02010600030101010101" pitchFamily="2" charset="-122"/>
              </a:rPr>
              <a:t>USAGE="Usage: `</a:t>
            </a:r>
            <a:r>
              <a:rPr kumimoji="1" lang="en-US" altLang="zh-CN" sz="1800" dirty="0" err="1">
                <a:ea typeface="宋体" panose="02010600030101010101" pitchFamily="2" charset="-122"/>
              </a:rPr>
              <a:t>basename</a:t>
            </a:r>
            <a:r>
              <a:rPr kumimoji="1" lang="en-US" altLang="zh-CN" sz="1800" dirty="0">
                <a:ea typeface="宋体" panose="02010600030101010101" pitchFamily="2" charset="-122"/>
              </a:rPr>
              <a:t> $0` &lt; option &gt; | --status-all | \</a:t>
            </a:r>
          </a:p>
          <a:p>
            <a:pPr algn="l"/>
            <a:r>
              <a:rPr kumimoji="1" lang="en-US" altLang="zh-CN" sz="1800" dirty="0">
                <a:ea typeface="宋体" panose="02010600030101010101" pitchFamily="2" charset="-122"/>
              </a:rPr>
              <a:t>[ </a:t>
            </a:r>
            <a:r>
              <a:rPr kumimoji="1" lang="en-US" altLang="zh-CN" sz="1800" dirty="0" err="1">
                <a:ea typeface="宋体" panose="02010600030101010101" pitchFamily="2" charset="-122"/>
              </a:rPr>
              <a:t>service_name</a:t>
            </a:r>
            <a:r>
              <a:rPr kumimoji="1" lang="en-US" altLang="zh-CN" sz="1800" dirty="0">
                <a:ea typeface="宋体" panose="02010600030101010101" pitchFamily="2" charset="-122"/>
              </a:rPr>
              <a:t> [ command | --full-restart ] ]"</a:t>
            </a:r>
          </a:p>
          <a:p>
            <a:pPr algn="l"/>
            <a:r>
              <a:rPr kumimoji="1" lang="en-US" altLang="zh-CN" sz="1800" dirty="0">
                <a:ea typeface="宋体" panose="02010600030101010101" pitchFamily="2" charset="-122"/>
              </a:rPr>
              <a:t>SERVICE=</a:t>
            </a:r>
          </a:p>
          <a:p>
            <a:pPr algn="l"/>
            <a:r>
              <a:rPr kumimoji="1" lang="en-US" altLang="zh-CN" sz="1800" dirty="0">
                <a:ea typeface="宋体" panose="02010600030101010101" pitchFamily="2" charset="-122"/>
              </a:rPr>
              <a:t>SERVICEDIR="/</a:t>
            </a:r>
            <a:r>
              <a:rPr kumimoji="1" lang="en-US" altLang="zh-CN" sz="1800" dirty="0" err="1">
                <a:ea typeface="宋体" panose="02010600030101010101" pitchFamily="2" charset="-122"/>
              </a:rPr>
              <a:t>etc</a:t>
            </a:r>
            <a:r>
              <a:rPr kumimoji="1" lang="en-US" altLang="zh-CN" sz="1800" dirty="0">
                <a:ea typeface="宋体" panose="02010600030101010101" pitchFamily="2" charset="-122"/>
              </a:rPr>
              <a:t>/</a:t>
            </a:r>
            <a:r>
              <a:rPr kumimoji="1" lang="en-US" altLang="zh-CN" sz="1800" dirty="0" err="1">
                <a:ea typeface="宋体" panose="02010600030101010101" pitchFamily="2" charset="-122"/>
              </a:rPr>
              <a:t>init.d</a:t>
            </a:r>
            <a:r>
              <a:rPr kumimoji="1" lang="en-US" altLang="zh-CN" sz="1800" dirty="0">
                <a:ea typeface="宋体" panose="02010600030101010101" pitchFamily="2" charset="-122"/>
              </a:rPr>
              <a:t>"</a:t>
            </a:r>
          </a:p>
          <a:p>
            <a:pPr algn="l"/>
            <a:r>
              <a:rPr kumimoji="1" lang="en-US" altLang="zh-CN" sz="1800" dirty="0">
                <a:ea typeface="宋体" panose="02010600030101010101" pitchFamily="2" charset="-122"/>
              </a:rPr>
              <a:t>OPTIONS=</a:t>
            </a:r>
          </a:p>
          <a:p>
            <a:pPr algn="l"/>
            <a:endParaRPr kumimoji="1" lang="en-US" altLang="zh-CN" sz="1800" dirty="0">
              <a:ea typeface="宋体" panose="02010600030101010101" pitchFamily="2" charset="-122"/>
            </a:endParaRPr>
          </a:p>
          <a:p>
            <a:pPr algn="l"/>
            <a:r>
              <a:rPr kumimoji="1" lang="en-US" altLang="zh-CN" sz="1800" dirty="0">
                <a:ea typeface="宋体" panose="02010600030101010101" pitchFamily="2" charset="-122"/>
              </a:rPr>
              <a:t>if </a:t>
            </a:r>
            <a:r>
              <a:rPr kumimoji="1" lang="en-US" altLang="zh-CN" sz="1800" b="1" dirty="0">
                <a:ea typeface="宋体" panose="02010600030101010101" pitchFamily="2" charset="-122"/>
              </a:rPr>
              <a:t>[ $# -</a:t>
            </a:r>
            <a:r>
              <a:rPr kumimoji="1" lang="en-US" altLang="zh-CN" sz="1800" b="1" dirty="0" err="1">
                <a:ea typeface="宋体" panose="02010600030101010101" pitchFamily="2" charset="-122"/>
              </a:rPr>
              <a:t>eq</a:t>
            </a:r>
            <a:r>
              <a:rPr kumimoji="1" lang="en-US" altLang="zh-CN" sz="1800" b="1" dirty="0">
                <a:ea typeface="宋体" panose="02010600030101010101" pitchFamily="2" charset="-122"/>
              </a:rPr>
              <a:t> 0 ];</a:t>
            </a:r>
            <a:r>
              <a:rPr kumimoji="1" lang="en-US" altLang="zh-CN" sz="1800" dirty="0">
                <a:ea typeface="宋体" panose="02010600030101010101" pitchFamily="2" charset="-122"/>
              </a:rPr>
              <a:t> then #</a:t>
            </a:r>
            <a:r>
              <a:rPr kumimoji="1" lang="zh-CN" altLang="en-US" sz="1800" dirty="0">
                <a:ea typeface="宋体" panose="02010600030101010101" pitchFamily="2" charset="-122"/>
              </a:rPr>
              <a:t>判断参数是否</a:t>
            </a:r>
            <a:r>
              <a:rPr kumimoji="1" lang="en-US" altLang="zh-CN" sz="1800" dirty="0">
                <a:ea typeface="宋体" panose="02010600030101010101" pitchFamily="2" charset="-122"/>
              </a:rPr>
              <a:t>0,</a:t>
            </a:r>
            <a:r>
              <a:rPr kumimoji="1" lang="zh-CN" altLang="en-US" sz="1800" dirty="0">
                <a:ea typeface="宋体" panose="02010600030101010101" pitchFamily="2" charset="-122"/>
              </a:rPr>
              <a:t>脚本要求必须有参数</a:t>
            </a:r>
          </a:p>
          <a:p>
            <a:pPr algn="l"/>
            <a:r>
              <a:rPr kumimoji="1" lang="zh-CN" altLang="en-US" sz="1800" dirty="0">
                <a:ea typeface="宋体" panose="02010600030101010101" pitchFamily="2" charset="-122"/>
              </a:rPr>
              <a:t>   </a:t>
            </a:r>
            <a:r>
              <a:rPr kumimoji="1" lang="en-US" altLang="zh-CN" sz="1800" dirty="0">
                <a:ea typeface="宋体" panose="02010600030101010101" pitchFamily="2" charset="-122"/>
              </a:rPr>
              <a:t>echo $"${USAGE}" &gt;&amp;2</a:t>
            </a:r>
          </a:p>
          <a:p>
            <a:pPr algn="l"/>
            <a:r>
              <a:rPr kumimoji="1" lang="en-US" altLang="zh-CN" sz="1800" dirty="0">
                <a:ea typeface="宋体" panose="02010600030101010101" pitchFamily="2" charset="-122"/>
              </a:rPr>
              <a:t>   exit 1</a:t>
            </a:r>
          </a:p>
          <a:p>
            <a:pPr algn="l"/>
            <a:r>
              <a:rPr kumimoji="1" lang="en-US" altLang="zh-CN" sz="1800" dirty="0">
                <a:ea typeface="宋体" panose="02010600030101010101" pitchFamily="2" charset="-122"/>
              </a:rPr>
              <a:t>fi</a:t>
            </a:r>
            <a:r>
              <a:rPr kumimoji="1" lang="en-US" altLang="zh-CN" dirty="0">
                <a:ea typeface="宋体" panose="02010600030101010101" pitchFamily="2" charset="-122"/>
              </a:rPr>
              <a:t>        </a:t>
            </a:r>
          </a:p>
        </p:txBody>
      </p:sp>
      <p:graphicFrame>
        <p:nvGraphicFramePr>
          <p:cNvPr id="5" name="Object 5"/>
          <p:cNvGraphicFramePr>
            <a:graphicFrameLocks noChangeAspect="1"/>
          </p:cNvGraphicFramePr>
          <p:nvPr>
            <p:extLst>
              <p:ext uri="{D42A27DB-BD31-4B8C-83A1-F6EECF244321}">
                <p14:modId xmlns:p14="http://schemas.microsoft.com/office/powerpoint/2010/main" val="4031382422"/>
              </p:ext>
            </p:extLst>
          </p:nvPr>
        </p:nvGraphicFramePr>
        <p:xfrm>
          <a:off x="1266501" y="2913043"/>
          <a:ext cx="1279255" cy="1182707"/>
        </p:xfrm>
        <a:graphic>
          <a:graphicData uri="http://schemas.openxmlformats.org/presentationml/2006/ole">
            <mc:AlternateContent xmlns:mc="http://schemas.openxmlformats.org/markup-compatibility/2006">
              <mc:Choice xmlns:v="urn:schemas-microsoft-com:vml" Requires="v">
                <p:oleObj spid="_x0000_s7170" name="包装程序外壳对象" showAsIcon="1" r:id="rId4" imgW="504720" imgH="466560" progId="Package">
                  <p:embed/>
                </p:oleObj>
              </mc:Choice>
              <mc:Fallback>
                <p:oleObj name="包装程序外壳对象" showAsIcon="1" r:id="rId4" imgW="504720" imgH="466560" progId="Package">
                  <p:embed/>
                  <p:pic>
                    <p:nvPicPr>
                      <p:cNvPr id="0" name=""/>
                      <p:cNvPicPr>
                        <a:picLocks noChangeAspect="1" noChangeArrowheads="1"/>
                      </p:cNvPicPr>
                      <p:nvPr/>
                    </p:nvPicPr>
                    <p:blipFill>
                      <a:blip r:embed="rId5"/>
                      <a:srcRect/>
                      <a:stretch>
                        <a:fillRect/>
                      </a:stretch>
                    </p:blipFill>
                    <p:spPr bwMode="auto">
                      <a:xfrm>
                        <a:off x="1266501" y="2913043"/>
                        <a:ext cx="1279255" cy="1182707"/>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60806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复杂脚本样例</a:t>
            </a:r>
          </a:p>
        </p:txBody>
      </p:sp>
      <p:sp>
        <p:nvSpPr>
          <p:cNvPr id="3" name="内容占位符 2"/>
          <p:cNvSpPr>
            <a:spLocks noGrp="1"/>
          </p:cNvSpPr>
          <p:nvPr>
            <p:ph idx="1"/>
          </p:nvPr>
        </p:nvSpPr>
        <p:spPr/>
        <p:txBody>
          <a:bodyPr/>
          <a:lstStyle/>
          <a:p>
            <a:r>
              <a:rPr lang="en-US" altLang="zh-CN" sz="2400" dirty="0"/>
              <a:t>1.</a:t>
            </a:r>
            <a:r>
              <a:rPr lang="zh-CN" altLang="en-US" sz="2400" dirty="0"/>
              <a:t>检测某个进程是否正常工作</a:t>
            </a:r>
          </a:p>
          <a:p>
            <a:pPr lvl="1"/>
            <a:r>
              <a:rPr lang="en-US" altLang="zh-CN" sz="2000" dirty="0"/>
              <a:t>check_process.sh</a:t>
            </a:r>
          </a:p>
          <a:p>
            <a:r>
              <a:rPr lang="en-US" altLang="zh-CN" sz="2400" dirty="0"/>
              <a:t>2.</a:t>
            </a:r>
            <a:r>
              <a:rPr lang="zh-CN" altLang="en-US" sz="2400" dirty="0"/>
              <a:t>检测磁盘空间是否足够</a:t>
            </a:r>
            <a:r>
              <a:rPr lang="en-US" altLang="zh-CN" sz="2400" dirty="0"/>
              <a:t>,</a:t>
            </a:r>
            <a:r>
              <a:rPr lang="zh-CN" altLang="en-US" sz="2400" dirty="0"/>
              <a:t>并报警</a:t>
            </a:r>
          </a:p>
          <a:p>
            <a:pPr lvl="1"/>
            <a:r>
              <a:rPr lang="en-US" altLang="zh-CN" sz="2000" dirty="0"/>
              <a:t>check_disk.sh</a:t>
            </a:r>
          </a:p>
          <a:p>
            <a:endParaRPr lang="zh-CN" altLang="en-US" dirty="0"/>
          </a:p>
        </p:txBody>
      </p:sp>
      <p:graphicFrame>
        <p:nvGraphicFramePr>
          <p:cNvPr id="4" name="Object 5"/>
          <p:cNvGraphicFramePr>
            <a:graphicFrameLocks noChangeAspect="1"/>
          </p:cNvGraphicFramePr>
          <p:nvPr>
            <p:extLst>
              <p:ext uri="{D42A27DB-BD31-4B8C-83A1-F6EECF244321}">
                <p14:modId xmlns:p14="http://schemas.microsoft.com/office/powerpoint/2010/main" val="616922638"/>
              </p:ext>
            </p:extLst>
          </p:nvPr>
        </p:nvGraphicFramePr>
        <p:xfrm>
          <a:off x="2524836" y="3948520"/>
          <a:ext cx="2238257" cy="1319185"/>
        </p:xfrm>
        <a:graphic>
          <a:graphicData uri="http://schemas.openxmlformats.org/presentationml/2006/ole">
            <mc:AlternateContent xmlns:mc="http://schemas.openxmlformats.org/markup-compatibility/2006">
              <mc:Choice xmlns:v="urn:schemas-microsoft-com:vml" Requires="v">
                <p:oleObj spid="_x0000_s8194" name="包装程序外壳对象" showAsIcon="1" r:id="rId3" imgW="1026000" imgH="456840" progId="Package">
                  <p:embed/>
                </p:oleObj>
              </mc:Choice>
              <mc:Fallback>
                <p:oleObj name="包装程序外壳对象" showAsIcon="1" r:id="rId3" imgW="1026000" imgH="456840" progId="Package">
                  <p:embed/>
                  <p:pic>
                    <p:nvPicPr>
                      <p:cNvPr id="0" name=""/>
                      <p:cNvPicPr>
                        <a:picLocks noChangeAspect="1" noChangeArrowheads="1"/>
                      </p:cNvPicPr>
                      <p:nvPr/>
                    </p:nvPicPr>
                    <p:blipFill>
                      <a:blip r:embed="rId4"/>
                      <a:srcRect/>
                      <a:stretch>
                        <a:fillRect/>
                      </a:stretch>
                    </p:blipFill>
                    <p:spPr bwMode="auto">
                      <a:xfrm>
                        <a:off x="2524836" y="3948520"/>
                        <a:ext cx="2238257" cy="1319185"/>
                      </a:xfrm>
                      <a:prstGeom prst="rect">
                        <a:avLst/>
                      </a:prstGeom>
                      <a:noFill/>
                      <a:ln>
                        <a:noFill/>
                      </a:ln>
                      <a:effectLs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1424671259"/>
              </p:ext>
            </p:extLst>
          </p:nvPr>
        </p:nvGraphicFramePr>
        <p:xfrm>
          <a:off x="6593089" y="4372355"/>
          <a:ext cx="1354138" cy="895350"/>
        </p:xfrm>
        <a:graphic>
          <a:graphicData uri="http://schemas.openxmlformats.org/presentationml/2006/ole">
            <mc:AlternateContent xmlns:mc="http://schemas.openxmlformats.org/markup-compatibility/2006">
              <mc:Choice xmlns:v="urn:schemas-microsoft-com:vml" Requires="v">
                <p:oleObj spid="_x0000_s8195" name="包装程序外壳对象" showAsIcon="1" r:id="rId5" imgW="798120" imgH="456840" progId="Package">
                  <p:embed/>
                </p:oleObj>
              </mc:Choice>
              <mc:Fallback>
                <p:oleObj name="包装程序外壳对象" showAsIcon="1" r:id="rId5" imgW="798120" imgH="456840" progId="Package">
                  <p:embed/>
                  <p:pic>
                    <p:nvPicPr>
                      <p:cNvPr id="0" name=""/>
                      <p:cNvPicPr>
                        <a:picLocks noChangeAspect="1" noChangeArrowheads="1"/>
                      </p:cNvPicPr>
                      <p:nvPr/>
                    </p:nvPicPr>
                    <p:blipFill>
                      <a:blip r:embed="rId6"/>
                      <a:srcRect/>
                      <a:stretch>
                        <a:fillRect/>
                      </a:stretch>
                    </p:blipFill>
                    <p:spPr bwMode="auto">
                      <a:xfrm>
                        <a:off x="6593089" y="4372355"/>
                        <a:ext cx="135413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1479172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列出目录树</a:t>
            </a:r>
          </a:p>
        </p:txBody>
      </p:sp>
      <p:sp>
        <p:nvSpPr>
          <p:cNvPr id="4" name="Text Box 4"/>
          <p:cNvSpPr txBox="1">
            <a:spLocks noChangeArrowheads="1"/>
          </p:cNvSpPr>
          <p:nvPr/>
        </p:nvSpPr>
        <p:spPr bwMode="auto">
          <a:xfrm>
            <a:off x="1458153" y="1614204"/>
            <a:ext cx="8986613" cy="3418501"/>
          </a:xfrm>
          <a:prstGeom prst="rect">
            <a:avLst/>
          </a:prstGeom>
          <a:solidFill>
            <a:srgbClr val="CCECFF"/>
          </a:solidFill>
          <a:ln w="38100">
            <a:solidFill>
              <a:srgbClr val="33CC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l"/>
            <a:r>
              <a:rPr kumimoji="1" lang="en-US" altLang="zh-CN" sz="2400" dirty="0">
                <a:ea typeface="宋体" panose="02010600030101010101" pitchFamily="2" charset="-122"/>
              </a:rPr>
              <a:t>#!/bin/</a:t>
            </a:r>
            <a:r>
              <a:rPr kumimoji="1" lang="en-US" altLang="zh-CN" sz="2400" dirty="0" err="1">
                <a:ea typeface="宋体" panose="02010600030101010101" pitchFamily="2" charset="-122"/>
              </a:rPr>
              <a:t>sh</a:t>
            </a:r>
            <a:r>
              <a:rPr kumimoji="1" lang="en-US" altLang="zh-CN" sz="2400" dirty="0">
                <a:ea typeface="宋体" panose="02010600030101010101" pitchFamily="2" charset="-122"/>
              </a:rPr>
              <a:t/>
            </a:r>
            <a:br>
              <a:rPr kumimoji="1" lang="en-US" altLang="zh-CN" sz="2400" dirty="0">
                <a:ea typeface="宋体" panose="02010600030101010101" pitchFamily="2" charset="-122"/>
              </a:rPr>
            </a:br>
            <a:r>
              <a:rPr kumimoji="1" lang="en-US" altLang="zh-CN" sz="2400" dirty="0">
                <a:ea typeface="宋体" panose="02010600030101010101" pitchFamily="2" charset="-122"/>
              </a:rPr>
              <a:t/>
            </a:r>
            <a:br>
              <a:rPr kumimoji="1" lang="en-US" altLang="zh-CN" sz="2400" dirty="0">
                <a:ea typeface="宋体" panose="02010600030101010101" pitchFamily="2" charset="-122"/>
              </a:rPr>
            </a:br>
            <a:r>
              <a:rPr kumimoji="1" lang="en-US" altLang="zh-CN" sz="2400" dirty="0">
                <a:ea typeface="宋体" panose="02010600030101010101" pitchFamily="2" charset="-122"/>
              </a:rPr>
              <a:t># </a:t>
            </a:r>
            <a:r>
              <a:rPr kumimoji="1" lang="en-US" altLang="zh-CN" sz="2400" dirty="0" err="1">
                <a:ea typeface="宋体" panose="02010600030101010101" pitchFamily="2" charset="-122"/>
              </a:rPr>
              <a:t>dtree</a:t>
            </a:r>
            <a:r>
              <a:rPr kumimoji="1" lang="en-US" altLang="zh-CN" sz="2400" dirty="0">
                <a:ea typeface="宋体" panose="02010600030101010101" pitchFamily="2" charset="-122"/>
              </a:rPr>
              <a:t>: Usage: </a:t>
            </a:r>
            <a:r>
              <a:rPr kumimoji="1" lang="en-US" altLang="zh-CN" sz="2400" dirty="0" err="1">
                <a:ea typeface="宋体" panose="02010600030101010101" pitchFamily="2" charset="-122"/>
              </a:rPr>
              <a:t>dtree</a:t>
            </a:r>
            <a:r>
              <a:rPr kumimoji="1" lang="en-US" altLang="zh-CN" sz="2400" dirty="0">
                <a:ea typeface="宋体" panose="02010600030101010101" pitchFamily="2" charset="-122"/>
              </a:rPr>
              <a:t> [any directory]</a:t>
            </a:r>
            <a:br>
              <a:rPr kumimoji="1" lang="en-US" altLang="zh-CN" sz="2400" dirty="0">
                <a:ea typeface="宋体" panose="02010600030101010101" pitchFamily="2" charset="-122"/>
              </a:rPr>
            </a:br>
            <a:r>
              <a:rPr kumimoji="1" lang="en-US" altLang="zh-CN" sz="2400" dirty="0">
                <a:ea typeface="宋体" panose="02010600030101010101" pitchFamily="2" charset="-122"/>
              </a:rPr>
              <a:t/>
            </a:r>
            <a:br>
              <a:rPr kumimoji="1" lang="en-US" altLang="zh-CN" sz="2400" dirty="0">
                <a:ea typeface="宋体" panose="02010600030101010101" pitchFamily="2" charset="-122"/>
              </a:rPr>
            </a:br>
            <a:r>
              <a:rPr kumimoji="1" lang="zh-CN" altLang="en-US" sz="2400" dirty="0">
                <a:ea typeface="宋体" panose="02010600030101010101" pitchFamily="2" charset="-122"/>
              </a:rPr>
              <a:t>　　</a:t>
            </a:r>
            <a:r>
              <a:rPr kumimoji="1" lang="en-US" altLang="zh-CN" sz="2400" dirty="0" err="1">
                <a:ea typeface="宋体" panose="02010600030101010101" pitchFamily="2" charset="-122"/>
              </a:rPr>
              <a:t>dir</a:t>
            </a:r>
            <a:r>
              <a:rPr kumimoji="1" lang="en-US" altLang="zh-CN" sz="2400" dirty="0">
                <a:ea typeface="宋体" panose="02010600030101010101" pitchFamily="2" charset="-122"/>
              </a:rPr>
              <a:t>=${1</a:t>
            </a:r>
            <a:r>
              <a:rPr kumimoji="1" lang="en-US" altLang="zh-CN" sz="2400" dirty="0" smtClean="0">
                <a:ea typeface="宋体" panose="02010600030101010101" pitchFamily="2" charset="-122"/>
              </a:rPr>
              <a:t>:-.}</a:t>
            </a:r>
            <a:r>
              <a:rPr kumimoji="1" lang="en-US" altLang="zh-CN" sz="2400" dirty="0">
                <a:ea typeface="宋体" panose="02010600030101010101" pitchFamily="2" charset="-122"/>
              </a:rPr>
              <a:t/>
            </a:r>
            <a:br>
              <a:rPr kumimoji="1" lang="en-US" altLang="zh-CN" sz="2400" dirty="0">
                <a:ea typeface="宋体" panose="02010600030101010101" pitchFamily="2" charset="-122"/>
              </a:rPr>
            </a:br>
            <a:r>
              <a:rPr kumimoji="1" lang="en-US" altLang="zh-CN" sz="2400" dirty="0">
                <a:ea typeface="宋体" panose="02010600030101010101" pitchFamily="2" charset="-122"/>
              </a:rPr>
              <a:t/>
            </a:r>
            <a:br>
              <a:rPr kumimoji="1" lang="en-US" altLang="zh-CN" sz="2400" dirty="0">
                <a:ea typeface="宋体" panose="02010600030101010101" pitchFamily="2" charset="-122"/>
              </a:rPr>
            </a:br>
            <a:r>
              <a:rPr kumimoji="1" lang="zh-CN" altLang="en-US" sz="2400" dirty="0">
                <a:ea typeface="宋体" panose="02010600030101010101" pitchFamily="2" charset="-122"/>
              </a:rPr>
              <a:t>　　</a:t>
            </a:r>
            <a:r>
              <a:rPr kumimoji="1" lang="en-US" altLang="zh-CN" sz="2400" dirty="0">
                <a:ea typeface="宋体" panose="02010600030101010101" pitchFamily="2" charset="-122"/>
              </a:rPr>
              <a:t>find $</a:t>
            </a:r>
            <a:r>
              <a:rPr kumimoji="1" lang="en-US" altLang="zh-CN" sz="2400" dirty="0" err="1">
                <a:ea typeface="宋体" panose="02010600030101010101" pitchFamily="2" charset="-122"/>
              </a:rPr>
              <a:t>dir</a:t>
            </a:r>
            <a:r>
              <a:rPr kumimoji="1" lang="en-US" altLang="zh-CN" sz="2400" dirty="0">
                <a:ea typeface="宋体" panose="02010600030101010101" pitchFamily="2" charset="-122"/>
              </a:rPr>
              <a:t> -type d -print | sort -f | </a:t>
            </a:r>
            <a:r>
              <a:rPr kumimoji="1" lang="en-US" altLang="zh-CN" sz="2400" dirty="0" err="1">
                <a:ea typeface="宋体" panose="02010600030101010101" pitchFamily="2" charset="-122"/>
              </a:rPr>
              <a:t>sed</a:t>
            </a:r>
            <a:r>
              <a:rPr kumimoji="1" lang="en-US" altLang="zh-CN" sz="2400" dirty="0">
                <a:ea typeface="宋体" panose="02010600030101010101" pitchFamily="2" charset="-122"/>
              </a:rPr>
              <a:t> -e "s,^$1,," -e "/^$/d" -e "s</a:t>
            </a:r>
            <a:r>
              <a:rPr kumimoji="1" lang="en-US" altLang="zh-CN" sz="2400" dirty="0" smtClean="0">
                <a:ea typeface="宋体" panose="02010600030101010101" pitchFamily="2" charset="-122"/>
              </a:rPr>
              <a:t>,[^/]*/([^/]*)$,’----1’," </a:t>
            </a:r>
            <a:r>
              <a:rPr kumimoji="1" lang="en-US" altLang="zh-CN" sz="2400" dirty="0">
                <a:ea typeface="宋体" panose="02010600030101010101" pitchFamily="2" charset="-122"/>
              </a:rPr>
              <a:t>-e "s,[^/]*/,| ,g"</a:t>
            </a:r>
            <a:br>
              <a:rPr kumimoji="1" lang="en-US" altLang="zh-CN" sz="2400" dirty="0">
                <a:ea typeface="宋体" panose="02010600030101010101" pitchFamily="2" charset="-122"/>
              </a:rPr>
            </a:br>
            <a:endParaRPr kumimoji="1" lang="en-US" altLang="zh-CN" sz="2400" dirty="0">
              <a:ea typeface="宋体" panose="02010600030101010101" pitchFamily="2" charset="-122"/>
            </a:endParaRPr>
          </a:p>
        </p:txBody>
      </p:sp>
    </p:spTree>
    <p:extLst>
      <p:ext uri="{BB962C8B-B14F-4D97-AF65-F5344CB8AC3E}">
        <p14:creationId xmlns:p14="http://schemas.microsoft.com/office/powerpoint/2010/main" val="134808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init</a:t>
            </a:r>
            <a:r>
              <a:rPr lang="zh-CN" altLang="en-US" dirty="0"/>
              <a:t>脚本例子 </a:t>
            </a:r>
          </a:p>
        </p:txBody>
      </p:sp>
      <p:sp>
        <p:nvSpPr>
          <p:cNvPr id="3" name="内容占位符 2"/>
          <p:cNvSpPr>
            <a:spLocks noGrp="1"/>
          </p:cNvSpPr>
          <p:nvPr>
            <p:ph idx="1"/>
          </p:nvPr>
        </p:nvSpPr>
        <p:spPr/>
        <p:txBody>
          <a:bodyPr/>
          <a:lstStyle/>
          <a:p>
            <a:r>
              <a:rPr lang="zh-CN" altLang="en-US" dirty="0"/>
              <a:t>一个</a:t>
            </a:r>
            <a:r>
              <a:rPr lang="en-US" altLang="zh-CN" dirty="0" err="1"/>
              <a:t>init</a:t>
            </a:r>
            <a:r>
              <a:rPr lang="zh-CN" altLang="en-US" dirty="0"/>
              <a:t>脚本启动在</a:t>
            </a:r>
            <a:r>
              <a:rPr lang="en-US" altLang="zh-CN" dirty="0"/>
              <a:t>UNIX</a:t>
            </a:r>
            <a:r>
              <a:rPr lang="zh-CN" altLang="en-US" dirty="0"/>
              <a:t>和</a:t>
            </a:r>
            <a:r>
              <a:rPr lang="en-US" altLang="zh-CN" dirty="0"/>
              <a:t>Linux</a:t>
            </a:r>
            <a:r>
              <a:rPr lang="zh-CN" altLang="en-US" dirty="0"/>
              <a:t>机器上的系统服务 </a:t>
            </a:r>
          </a:p>
          <a:p>
            <a:r>
              <a:rPr lang="zh-CN" altLang="en-US" dirty="0"/>
              <a:t>存储在系统的特定位置，比如 </a:t>
            </a:r>
            <a:r>
              <a:rPr lang="en-US" altLang="zh-CN" dirty="0"/>
              <a:t>/</a:t>
            </a:r>
            <a:r>
              <a:rPr lang="en-US" altLang="zh-CN" dirty="0" err="1"/>
              <a:t>etc</a:t>
            </a:r>
            <a:r>
              <a:rPr lang="en-US" altLang="zh-CN" dirty="0"/>
              <a:t>/</a:t>
            </a:r>
            <a:r>
              <a:rPr lang="en-US" altLang="zh-CN" dirty="0" err="1"/>
              <a:t>rc</a:t>
            </a:r>
            <a:r>
              <a:rPr lang="en-US" altLang="zh-CN" dirty="0"/>
              <a:t> ,/</a:t>
            </a:r>
            <a:r>
              <a:rPr lang="en-US" altLang="zh-CN" dirty="0" err="1"/>
              <a:t>etc</a:t>
            </a:r>
            <a:r>
              <a:rPr lang="en-US" altLang="zh-CN" dirty="0"/>
              <a:t>/</a:t>
            </a:r>
            <a:r>
              <a:rPr lang="en-US" altLang="zh-CN" dirty="0" err="1"/>
              <a:t>rc.d</a:t>
            </a:r>
            <a:r>
              <a:rPr lang="en-US" altLang="zh-CN" dirty="0"/>
              <a:t>/</a:t>
            </a:r>
            <a:r>
              <a:rPr lang="en-US" altLang="zh-CN" dirty="0" err="1"/>
              <a:t>init.d</a:t>
            </a:r>
            <a:r>
              <a:rPr lang="en-US" altLang="zh-CN" dirty="0"/>
              <a:t> </a:t>
            </a:r>
            <a:r>
              <a:rPr lang="zh-CN" altLang="en-US" dirty="0"/>
              <a:t>或者 </a:t>
            </a:r>
            <a:r>
              <a:rPr lang="en-US" altLang="zh-CN" dirty="0"/>
              <a:t>/</a:t>
            </a:r>
            <a:r>
              <a:rPr lang="en-US" altLang="zh-CN" dirty="0" err="1"/>
              <a:t>etc</a:t>
            </a:r>
            <a:r>
              <a:rPr lang="en-US" altLang="zh-CN" dirty="0"/>
              <a:t>/</a:t>
            </a:r>
            <a:r>
              <a:rPr lang="en-US" altLang="zh-CN" dirty="0" err="1"/>
              <a:t>init.d</a:t>
            </a:r>
            <a:r>
              <a:rPr lang="en-US" altLang="zh-CN" dirty="0"/>
              <a:t> </a:t>
            </a:r>
            <a:r>
              <a:rPr lang="zh-CN" altLang="en-US" dirty="0"/>
              <a:t>目录</a:t>
            </a:r>
            <a:r>
              <a:rPr lang="zh-CN" altLang="en-US" dirty="0" smtClean="0"/>
              <a:t>下</a:t>
            </a:r>
            <a:endParaRPr lang="zh-CN" altLang="en-US" dirty="0"/>
          </a:p>
        </p:txBody>
      </p:sp>
    </p:spTree>
    <p:extLst>
      <p:ext uri="{BB962C8B-B14F-4D97-AF65-F5344CB8AC3E}">
        <p14:creationId xmlns:p14="http://schemas.microsoft.com/office/powerpoint/2010/main" val="208518563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awk</a:t>
            </a:r>
            <a:endParaRPr lang="zh-CN" altLang="en-US" dirty="0"/>
          </a:p>
        </p:txBody>
      </p:sp>
      <p:sp>
        <p:nvSpPr>
          <p:cNvPr id="4" name="Text Box 2"/>
          <p:cNvSpPr txBox="1">
            <a:spLocks noChangeArrowheads="1"/>
          </p:cNvSpPr>
          <p:nvPr/>
        </p:nvSpPr>
        <p:spPr bwMode="auto">
          <a:xfrm>
            <a:off x="436563" y="1954213"/>
            <a:ext cx="2428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000FF"/>
                </a:solidFill>
              </a:rPr>
              <a:t>2、awk模式</a:t>
            </a:r>
          </a:p>
        </p:txBody>
      </p:sp>
      <p:sp>
        <p:nvSpPr>
          <p:cNvPr id="5" name="Text Box 3"/>
          <p:cNvSpPr txBox="1">
            <a:spLocks noChangeArrowheads="1"/>
          </p:cNvSpPr>
          <p:nvPr/>
        </p:nvSpPr>
        <p:spPr bwMode="auto">
          <a:xfrm>
            <a:off x="477838" y="2339975"/>
            <a:ext cx="60610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dirty="0">
                <a:solidFill>
                  <a:schemeClr val="accent2"/>
                </a:solidFill>
              </a:rPr>
              <a:t>模式可匹配特定行，可以是以下任意一个：</a:t>
            </a:r>
          </a:p>
          <a:p>
            <a:pPr marL="285750" indent="-285750">
              <a:lnSpc>
                <a:spcPct val="120000"/>
              </a:lnSpc>
              <a:buSzPct val="100000"/>
              <a:buFont typeface="Wingdings" panose="05000000000000000000" pitchFamily="2" charset="2"/>
              <a:buChar char="ü"/>
            </a:pPr>
            <a:r>
              <a:rPr lang="zh-CN" altLang="en-US" sz="2000" dirty="0">
                <a:solidFill>
                  <a:srgbClr val="FF0000"/>
                </a:solidFill>
              </a:rPr>
              <a:t>/正则表达式/</a:t>
            </a:r>
            <a:r>
              <a:rPr lang="zh-CN" altLang="en-US" sz="2000" dirty="0">
                <a:solidFill>
                  <a:schemeClr val="accent2"/>
                </a:solidFill>
              </a:rPr>
              <a:t>：如 </a:t>
            </a:r>
            <a:r>
              <a:rPr lang="zh-CN" altLang="en-US" sz="2000" i="1" dirty="0">
                <a:solidFill>
                  <a:schemeClr val="accent2"/>
                </a:solidFill>
              </a:rPr>
              <a:t>awk '/[0-9]+\.[0-9]*/ { print }' file</a:t>
            </a:r>
          </a:p>
          <a:p>
            <a:pPr marL="285750" indent="-285750">
              <a:lnSpc>
                <a:spcPct val="120000"/>
              </a:lnSpc>
              <a:buSzPct val="100000"/>
              <a:buFont typeface="Wingdings" panose="05000000000000000000" pitchFamily="2" charset="2"/>
              <a:buChar char="ü"/>
            </a:pPr>
            <a:r>
              <a:rPr lang="zh-CN" altLang="en-US" sz="2000" dirty="0">
                <a:solidFill>
                  <a:srgbClr val="FF0000"/>
                </a:solidFill>
              </a:rPr>
              <a:t>关系表达式</a:t>
            </a:r>
            <a:r>
              <a:rPr lang="zh-CN" altLang="en-US" sz="2000" dirty="0">
                <a:solidFill>
                  <a:schemeClr val="accent2"/>
                </a:solidFill>
              </a:rPr>
              <a:t>：如 </a:t>
            </a:r>
            <a:r>
              <a:rPr lang="zh-CN" altLang="en-US" sz="2000" i="1" dirty="0">
                <a:solidFill>
                  <a:schemeClr val="accent2"/>
                </a:solidFill>
              </a:rPr>
              <a:t>awk '$1 == "fred" { print $3 }' file</a:t>
            </a:r>
          </a:p>
          <a:p>
            <a:pPr marL="285750" indent="-285750">
              <a:lnSpc>
                <a:spcPct val="120000"/>
              </a:lnSpc>
              <a:buSzPct val="100000"/>
              <a:buFont typeface="Wingdings" panose="05000000000000000000" pitchFamily="2" charset="2"/>
              <a:buChar char="ü"/>
            </a:pPr>
            <a:r>
              <a:rPr lang="zh-CN" altLang="en-US" sz="2000" dirty="0">
                <a:solidFill>
                  <a:srgbClr val="FF0000"/>
                </a:solidFill>
              </a:rPr>
              <a:t>模式匹配表达式</a:t>
            </a:r>
            <a:r>
              <a:rPr lang="zh-CN" altLang="en-US" sz="2000" dirty="0">
                <a:solidFill>
                  <a:schemeClr val="accent2"/>
                </a:solidFill>
              </a:rPr>
              <a:t>：如 </a:t>
            </a:r>
            <a:r>
              <a:rPr lang="zh-CN" altLang="en-US" sz="2000" i="1" dirty="0">
                <a:solidFill>
                  <a:schemeClr val="accent2"/>
                </a:solidFill>
              </a:rPr>
              <a:t>awk '$5 ~ /root/{print }' file</a:t>
            </a:r>
          </a:p>
        </p:txBody>
      </p:sp>
      <p:sp>
        <p:nvSpPr>
          <p:cNvPr id="6" name="Text Box 4"/>
          <p:cNvSpPr txBox="1">
            <a:spLocks noChangeArrowheads="1"/>
          </p:cNvSpPr>
          <p:nvPr/>
        </p:nvSpPr>
        <p:spPr bwMode="auto">
          <a:xfrm>
            <a:off x="428625" y="3814731"/>
            <a:ext cx="35290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000FF"/>
                </a:solidFill>
              </a:rPr>
              <a:t>3、awk操作</a:t>
            </a:r>
          </a:p>
        </p:txBody>
      </p:sp>
      <p:sp>
        <p:nvSpPr>
          <p:cNvPr id="7" name="Text Box 5"/>
          <p:cNvSpPr txBox="1">
            <a:spLocks noChangeArrowheads="1"/>
          </p:cNvSpPr>
          <p:nvPr/>
        </p:nvSpPr>
        <p:spPr bwMode="auto">
          <a:xfrm>
            <a:off x="477838" y="4214841"/>
            <a:ext cx="860608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chemeClr val="accent2"/>
                </a:solidFill>
              </a:rPr>
              <a:t>操作位于{}内，由换行符或分号隔开，对匹配的行进行操作，包括：</a:t>
            </a:r>
          </a:p>
          <a:p>
            <a:pPr marL="285750" indent="-285750">
              <a:lnSpc>
                <a:spcPct val="120000"/>
              </a:lnSpc>
              <a:buSzPct val="100000"/>
              <a:buFont typeface="Wingdings" panose="05000000000000000000" pitchFamily="2" charset="2"/>
              <a:buChar char="ü"/>
            </a:pPr>
            <a:r>
              <a:rPr lang="zh-CN" altLang="en-US" sz="2000" dirty="0">
                <a:solidFill>
                  <a:srgbClr val="FF0000"/>
                </a:solidFill>
              </a:rPr>
              <a:t>变量或数组赋值</a:t>
            </a:r>
          </a:p>
          <a:p>
            <a:pPr marL="285750" indent="-285750">
              <a:lnSpc>
                <a:spcPct val="120000"/>
              </a:lnSpc>
              <a:buSzPct val="100000"/>
              <a:buFont typeface="Wingdings" panose="05000000000000000000" pitchFamily="2" charset="2"/>
              <a:buChar char="ü"/>
            </a:pPr>
            <a:r>
              <a:rPr lang="zh-CN" altLang="en-US" sz="2000" dirty="0">
                <a:solidFill>
                  <a:srgbClr val="FF0000"/>
                </a:solidFill>
              </a:rPr>
              <a:t>输出命令</a:t>
            </a:r>
            <a:r>
              <a:rPr lang="zh-CN" altLang="en-US" sz="2000" dirty="0">
                <a:solidFill>
                  <a:schemeClr val="accent2"/>
                </a:solidFill>
              </a:rPr>
              <a:t>：如 </a:t>
            </a:r>
            <a:r>
              <a:rPr lang="zh-CN" altLang="en-US" sz="2000" i="1" dirty="0">
                <a:solidFill>
                  <a:schemeClr val="accent2"/>
                </a:solidFill>
              </a:rPr>
              <a:t>print printf</a:t>
            </a:r>
          </a:p>
          <a:p>
            <a:pPr marL="285750" indent="-285750">
              <a:lnSpc>
                <a:spcPct val="120000"/>
              </a:lnSpc>
              <a:buSzPct val="100000"/>
              <a:buFont typeface="Wingdings" panose="05000000000000000000" pitchFamily="2" charset="2"/>
              <a:buChar char="ü"/>
            </a:pPr>
            <a:r>
              <a:rPr lang="zh-CN" altLang="en-US" sz="2000" dirty="0">
                <a:solidFill>
                  <a:srgbClr val="FF0000"/>
                </a:solidFill>
              </a:rPr>
              <a:t>内置函数</a:t>
            </a:r>
            <a:r>
              <a:rPr lang="zh-CN" altLang="en-US" sz="2000" dirty="0">
                <a:solidFill>
                  <a:schemeClr val="accent2"/>
                </a:solidFill>
              </a:rPr>
              <a:t>：如 </a:t>
            </a:r>
            <a:r>
              <a:rPr lang="zh-CN" altLang="en-US" sz="2000" i="1" dirty="0">
                <a:solidFill>
                  <a:schemeClr val="accent2"/>
                </a:solidFill>
              </a:rPr>
              <a:t>split index match substr </a:t>
            </a:r>
            <a:r>
              <a:rPr lang="zh-CN" altLang="en-US" sz="2000" dirty="0">
                <a:solidFill>
                  <a:schemeClr val="accent2"/>
                </a:solidFill>
              </a:rPr>
              <a:t>等</a:t>
            </a:r>
          </a:p>
          <a:p>
            <a:pPr marL="285750" indent="-285750">
              <a:lnSpc>
                <a:spcPct val="120000"/>
              </a:lnSpc>
              <a:buSzPct val="100000"/>
              <a:buFont typeface="Wingdings" panose="05000000000000000000" pitchFamily="2" charset="2"/>
              <a:buChar char="ü"/>
            </a:pPr>
            <a:r>
              <a:rPr lang="zh-CN" altLang="en-US" sz="2000" dirty="0">
                <a:solidFill>
                  <a:srgbClr val="FF0000"/>
                </a:solidFill>
              </a:rPr>
              <a:t>控制流命令</a:t>
            </a:r>
            <a:r>
              <a:rPr lang="zh-CN" altLang="en-US" sz="2000" dirty="0">
                <a:solidFill>
                  <a:schemeClr val="accent2"/>
                </a:solidFill>
              </a:rPr>
              <a:t>：如 </a:t>
            </a:r>
            <a:r>
              <a:rPr lang="zh-CN" altLang="en-US" sz="2000" i="1" dirty="0">
                <a:solidFill>
                  <a:schemeClr val="accent2"/>
                </a:solidFill>
              </a:rPr>
              <a:t>if for while</a:t>
            </a:r>
            <a:r>
              <a:rPr lang="zh-CN" altLang="en-US" sz="2000" dirty="0">
                <a:solidFill>
                  <a:schemeClr val="accent2"/>
                </a:solidFill>
              </a:rPr>
              <a:t> 等</a:t>
            </a:r>
          </a:p>
        </p:txBody>
      </p:sp>
      <p:sp>
        <p:nvSpPr>
          <p:cNvPr id="8" name="Text Box 9"/>
          <p:cNvSpPr txBox="1">
            <a:spLocks noChangeArrowheads="1"/>
          </p:cNvSpPr>
          <p:nvPr/>
        </p:nvSpPr>
        <p:spPr bwMode="auto">
          <a:xfrm>
            <a:off x="457199" y="1157288"/>
            <a:ext cx="228854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sz="2000" b="1" dirty="0">
                <a:solidFill>
                  <a:srgbClr val="0000FF"/>
                </a:solidFill>
              </a:rPr>
              <a:t>1、awk脚本组成</a:t>
            </a:r>
          </a:p>
        </p:txBody>
      </p:sp>
      <p:sp>
        <p:nvSpPr>
          <p:cNvPr id="9" name="Text Box 10"/>
          <p:cNvSpPr txBox="1">
            <a:spLocks noChangeArrowheads="1"/>
          </p:cNvSpPr>
          <p:nvPr/>
        </p:nvSpPr>
        <p:spPr bwMode="auto">
          <a:xfrm>
            <a:off x="272813" y="1557398"/>
            <a:ext cx="12319237"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zh-CN" sz="2000" dirty="0">
                <a:solidFill>
                  <a:schemeClr val="accent2"/>
                </a:solidFill>
              </a:rPr>
              <a:t>awk脚本是由模式和操作组成的</a:t>
            </a:r>
            <a:r>
              <a:rPr lang="zh-CN" altLang="zh-CN" sz="2000" dirty="0" smtClean="0">
                <a:solidFill>
                  <a:schemeClr val="accent2"/>
                </a:solidFill>
              </a:rPr>
              <a:t>：</a:t>
            </a:r>
            <a:r>
              <a:rPr lang="en-US" altLang="zh-CN" sz="2000" dirty="0" err="1" smtClean="0">
                <a:solidFill>
                  <a:schemeClr val="accent2"/>
                </a:solidFill>
              </a:rPr>
              <a:t>awk</a:t>
            </a:r>
            <a:r>
              <a:rPr lang="en-US" altLang="zh-CN" sz="2000" dirty="0" smtClean="0">
                <a:solidFill>
                  <a:schemeClr val="accent2"/>
                </a:solidFill>
              </a:rPr>
              <a:t>  ‘BEGIN{ print “start” } pattern { commands } END{ print “end” }’ file</a:t>
            </a:r>
            <a:endParaRPr lang="zh-CN" altLang="zh-CN" sz="2000" dirty="0">
              <a:solidFill>
                <a:schemeClr val="accent2"/>
              </a:solidFill>
            </a:endParaRPr>
          </a:p>
        </p:txBody>
      </p:sp>
    </p:spTree>
    <p:extLst>
      <p:ext uri="{BB962C8B-B14F-4D97-AF65-F5344CB8AC3E}">
        <p14:creationId xmlns:p14="http://schemas.microsoft.com/office/powerpoint/2010/main" val="277558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linds(horizontal)">
                                      <p:cBhvr>
                                        <p:cTn id="22" dur="500"/>
                                        <p:tgtEl>
                                          <p:spTgt spid="5">
                                            <p:txEl>
                                              <p:pRg st="0" end="0"/>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blinds(horizontal)">
                                      <p:cBhvr>
                                        <p:cTn id="25" dur="500"/>
                                        <p:tgtEl>
                                          <p:spTgt spid="5">
                                            <p:txEl>
                                              <p:pRg st="1" end="1"/>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linds(horizontal)">
                                      <p:cBhvr>
                                        <p:cTn id="28" dur="500"/>
                                        <p:tgtEl>
                                          <p:spTgt spid="5">
                                            <p:txEl>
                                              <p:pRg st="2" end="2"/>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blinds(horizontal)">
                                      <p:cBhvr>
                                        <p:cTn id="31" dur="500"/>
                                        <p:tgtEl>
                                          <p:spTgt spid="5">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animEffect transition="in" filter="blinds(horizontal)">
                                      <p:cBhvr>
                                        <p:cTn id="36" dur="500"/>
                                        <p:tgtEl>
                                          <p:spTgt spid="6">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blinds(horizontal)">
                                      <p:cBhvr>
                                        <p:cTn id="41" dur="500"/>
                                        <p:tgtEl>
                                          <p:spTgt spid="7">
                                            <p:txEl>
                                              <p:pRg st="0" end="0"/>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
                                            <p:txEl>
                                              <p:pRg st="1" end="1"/>
                                            </p:txEl>
                                          </p:spTgt>
                                        </p:tgtEl>
                                        <p:attrNameLst>
                                          <p:attrName>style.visibility</p:attrName>
                                        </p:attrNameLst>
                                      </p:cBhvr>
                                      <p:to>
                                        <p:strVal val="visible"/>
                                      </p:to>
                                    </p:set>
                                    <p:animEffect transition="in" filter="blinds(horizontal)">
                                      <p:cBhvr>
                                        <p:cTn id="44" dur="500"/>
                                        <p:tgtEl>
                                          <p:spTgt spid="7">
                                            <p:txEl>
                                              <p:pRg st="1" end="1"/>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Effect transition="in" filter="blinds(horizontal)">
                                      <p:cBhvr>
                                        <p:cTn id="47" dur="500"/>
                                        <p:tgtEl>
                                          <p:spTgt spid="7">
                                            <p:txEl>
                                              <p:pRg st="2" end="2"/>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blinds(horizontal)">
                                      <p:cBhvr>
                                        <p:cTn id="50" dur="500"/>
                                        <p:tgtEl>
                                          <p:spTgt spid="7">
                                            <p:txEl>
                                              <p:pRg st="3" end="3"/>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
                                            <p:txEl>
                                              <p:pRg st="4" end="4"/>
                                            </p:txEl>
                                          </p:spTgt>
                                        </p:tgtEl>
                                        <p:attrNameLst>
                                          <p:attrName>style.visibility</p:attrName>
                                        </p:attrNameLst>
                                      </p:cBhvr>
                                      <p:to>
                                        <p:strVal val="visible"/>
                                      </p:to>
                                    </p:set>
                                    <p:animEffect transition="in" filter="blinds(horizontal)">
                                      <p:cBhvr>
                                        <p:cTn id="53"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utoUpdateAnimBg="0"/>
      <p:bldP spid="8" grpId="0" bldLvl="0" autoUpdateAnimBg="0"/>
      <p:bldP spid="9" grpId="0" bldLvl="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awk</a:t>
            </a:r>
            <a:endParaRPr lang="zh-CN" altLang="en-US" dirty="0"/>
          </a:p>
        </p:txBody>
      </p:sp>
      <p:sp>
        <p:nvSpPr>
          <p:cNvPr id="4" name="Text Box 5"/>
          <p:cNvSpPr txBox="1">
            <a:spLocks noChangeArrowheads="1"/>
          </p:cNvSpPr>
          <p:nvPr/>
        </p:nvSpPr>
        <p:spPr bwMode="auto">
          <a:xfrm>
            <a:off x="1702426" y="1585779"/>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b="1" dirty="0">
                <a:solidFill>
                  <a:srgbClr val="0000FF"/>
                </a:solidFill>
              </a:rPr>
              <a:t>4、awk内置变量</a:t>
            </a:r>
          </a:p>
        </p:txBody>
      </p:sp>
      <p:sp>
        <p:nvSpPr>
          <p:cNvPr id="5" name="Text Box 6"/>
          <p:cNvSpPr txBox="1">
            <a:spLocks noChangeArrowheads="1"/>
          </p:cNvSpPr>
          <p:nvPr/>
        </p:nvSpPr>
        <p:spPr bwMode="auto">
          <a:xfrm>
            <a:off x="1778626" y="1952491"/>
            <a:ext cx="370205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10000"/>
              </a:lnSpc>
              <a:buSzPct val="100000"/>
              <a:buFont typeface="Wingdings" panose="05000000000000000000" pitchFamily="2" charset="2"/>
              <a:buChar char="ü"/>
            </a:pPr>
            <a:r>
              <a:rPr lang="zh-CN" altLang="en-US" sz="1400" dirty="0">
                <a:solidFill>
                  <a:srgbClr val="FF0000"/>
                </a:solidFill>
              </a:rPr>
              <a:t>ARGC</a:t>
            </a:r>
            <a:r>
              <a:rPr lang="zh-CN" altLang="en-US" sz="1400" dirty="0">
                <a:solidFill>
                  <a:schemeClr val="accent2"/>
                </a:solidFill>
              </a:rPr>
              <a:t>：</a:t>
            </a:r>
            <a:r>
              <a:rPr lang="zh-CN" altLang="en-US" sz="1400" dirty="0">
                <a:solidFill>
                  <a:schemeClr val="accent2"/>
                </a:solidFill>
                <a:latin typeface="Calibri" panose="020F0502020204030204" pitchFamily="34" charset="0"/>
              </a:rPr>
              <a:t>命令行参数个数</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rPr>
              <a:t>ARGV</a:t>
            </a:r>
            <a:r>
              <a:rPr lang="zh-CN" altLang="en-US" sz="1400" dirty="0">
                <a:solidFill>
                  <a:schemeClr val="accent2"/>
                </a:solidFill>
                <a:latin typeface="Calibri" panose="020F0502020204030204" pitchFamily="34" charset="0"/>
              </a:rPr>
              <a:t>：命令行参数数组</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ARGIND</a:t>
            </a:r>
            <a:r>
              <a:rPr lang="zh-CN" altLang="en-US" sz="1400" dirty="0">
                <a:solidFill>
                  <a:schemeClr val="accent2"/>
                </a:solidFill>
                <a:latin typeface="Calibri" panose="020F0502020204030204" pitchFamily="34" charset="0"/>
              </a:rPr>
              <a:t>：当前文件索引(从1开始)</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FILENAME</a:t>
            </a:r>
            <a:r>
              <a:rPr lang="zh-CN" altLang="en-US" sz="1400" dirty="0">
                <a:solidFill>
                  <a:schemeClr val="accent2"/>
                </a:solidFill>
                <a:latin typeface="Calibri" panose="020F0502020204030204" pitchFamily="34" charset="0"/>
              </a:rPr>
              <a:t>：当前输入文件名</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FS</a:t>
            </a:r>
            <a:r>
              <a:rPr lang="zh-CN" altLang="en-US" sz="1400" dirty="0">
                <a:solidFill>
                  <a:schemeClr val="accent2"/>
                </a:solidFill>
                <a:latin typeface="Calibri" panose="020F0502020204030204" pitchFamily="34" charset="0"/>
              </a:rPr>
              <a:t>：输入字段分隔符(默认空格)</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NR</a:t>
            </a:r>
            <a:r>
              <a:rPr lang="zh-CN" altLang="en-US" sz="1400" dirty="0">
                <a:solidFill>
                  <a:schemeClr val="accent2"/>
                </a:solidFill>
                <a:latin typeface="Calibri" panose="020F0502020204030204" pitchFamily="34" charset="0"/>
              </a:rPr>
              <a:t>：当前记录数</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NF</a:t>
            </a:r>
            <a:r>
              <a:rPr lang="zh-CN" altLang="en-US" sz="1400" dirty="0">
                <a:solidFill>
                  <a:schemeClr val="accent2"/>
                </a:solidFill>
                <a:latin typeface="Calibri" panose="020F0502020204030204" pitchFamily="34" charset="0"/>
              </a:rPr>
              <a:t>：当前记录字段数</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OFS</a:t>
            </a:r>
            <a:r>
              <a:rPr lang="zh-CN" altLang="en-US" sz="1400" dirty="0">
                <a:solidFill>
                  <a:schemeClr val="accent2"/>
                </a:solidFill>
                <a:latin typeface="Calibri" panose="020F0502020204030204" pitchFamily="34" charset="0"/>
              </a:rPr>
              <a:t>：输出字段分隔符(默认空格)</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ORS</a:t>
            </a:r>
            <a:r>
              <a:rPr lang="zh-CN" altLang="en-US" sz="1400" dirty="0">
                <a:solidFill>
                  <a:schemeClr val="accent2"/>
                </a:solidFill>
                <a:latin typeface="Calibri" panose="020F0502020204030204" pitchFamily="34" charset="0"/>
              </a:rPr>
              <a:t>：输出记录分隔符(新行)</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RS</a:t>
            </a:r>
            <a:r>
              <a:rPr lang="zh-CN" altLang="en-US" sz="1400" dirty="0">
                <a:solidFill>
                  <a:schemeClr val="accent2"/>
                </a:solidFill>
                <a:latin typeface="Calibri" panose="020F0502020204030204" pitchFamily="34" charset="0"/>
                <a:sym typeface="Arial" panose="020B0604020202020204" pitchFamily="34" charset="0"/>
              </a:rPr>
              <a:t>：</a:t>
            </a:r>
            <a:r>
              <a:rPr lang="zh-CN" altLang="en-US" sz="1400" dirty="0">
                <a:solidFill>
                  <a:schemeClr val="accent2"/>
                </a:solidFill>
                <a:latin typeface="Calibri" panose="020F0502020204030204" pitchFamily="34" charset="0"/>
              </a:rPr>
              <a:t>输入记录分隔符(新行)</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RSTART</a:t>
            </a:r>
            <a:r>
              <a:rPr lang="zh-CN" altLang="en-US" sz="1400" dirty="0">
                <a:solidFill>
                  <a:schemeClr val="accent2"/>
                </a:solidFill>
                <a:latin typeface="Calibri" panose="020F0502020204030204" pitchFamily="34" charset="0"/>
              </a:rPr>
              <a:t>：被匹配函数匹配的字符串首</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rPr>
              <a:t>RLENGTH</a:t>
            </a:r>
            <a:r>
              <a:rPr lang="zh-CN" altLang="en-US" sz="1400" dirty="0">
                <a:solidFill>
                  <a:schemeClr val="accent2"/>
                </a:solidFill>
                <a:latin typeface="Calibri" panose="020F0502020204030204" pitchFamily="34" charset="0"/>
              </a:rPr>
              <a:t>：被匹配函数匹配的字符串长度</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OFMT</a:t>
            </a:r>
            <a:r>
              <a:rPr lang="zh-CN" altLang="en-US" sz="1400" dirty="0">
                <a:solidFill>
                  <a:schemeClr val="accent2"/>
                </a:solidFill>
                <a:latin typeface="Calibri" panose="020F0502020204030204" pitchFamily="34" charset="0"/>
              </a:rPr>
              <a:t>：数字的输出格式(%.6g)</a:t>
            </a:r>
          </a:p>
          <a:p>
            <a:pPr marL="285750" indent="-285750">
              <a:lnSpc>
                <a:spcPct val="110000"/>
              </a:lnSpc>
              <a:buSzPct val="100000"/>
              <a:buFont typeface="Wingdings" panose="05000000000000000000" pitchFamily="2" charset="2"/>
              <a:buChar char="ü"/>
            </a:pPr>
            <a:r>
              <a:rPr lang="zh-CN" altLang="en-US" sz="1400" dirty="0">
                <a:solidFill>
                  <a:srgbClr val="FF0000"/>
                </a:solidFill>
                <a:latin typeface="Calibri" panose="020F0502020204030204" pitchFamily="34" charset="0"/>
                <a:sym typeface="Arial" panose="020B0604020202020204" pitchFamily="34" charset="0"/>
              </a:rPr>
              <a:t>IGNORECASE</a:t>
            </a:r>
            <a:r>
              <a:rPr lang="zh-CN" altLang="en-US" sz="1400" dirty="0">
                <a:solidFill>
                  <a:schemeClr val="accent2"/>
                </a:solidFill>
                <a:latin typeface="Calibri" panose="020F0502020204030204" pitchFamily="34" charset="0"/>
              </a:rPr>
              <a:t>：控制大小写敏感(0：敏感)</a:t>
            </a:r>
          </a:p>
        </p:txBody>
      </p:sp>
      <p:sp>
        <p:nvSpPr>
          <p:cNvPr id="6" name="Text Box 7"/>
          <p:cNvSpPr txBox="1">
            <a:spLocks noChangeArrowheads="1"/>
          </p:cNvSpPr>
          <p:nvPr/>
        </p:nvSpPr>
        <p:spPr bwMode="auto">
          <a:xfrm>
            <a:off x="5763251" y="2766879"/>
            <a:ext cx="3892550" cy="181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90000"/>
              </a:lnSpc>
            </a:pPr>
            <a:r>
              <a:rPr lang="zh-CN" altLang="en-US" sz="1400">
                <a:solidFill>
                  <a:schemeClr val="accent2"/>
                </a:solidFill>
              </a:rPr>
              <a:t>awk -F'%' 'BEGIN{</a:t>
            </a:r>
            <a:br>
              <a:rPr lang="zh-CN" altLang="en-US" sz="1400">
                <a:solidFill>
                  <a:schemeClr val="accent2"/>
                </a:solidFill>
              </a:rPr>
            </a:br>
            <a:r>
              <a:rPr lang="zh-CN" altLang="en-US" sz="1400"/>
              <a:t>    </a:t>
            </a:r>
            <a:r>
              <a:rPr lang="zh-CN" altLang="en-US" sz="1400">
                <a:solidFill>
                  <a:schemeClr val="accent2"/>
                </a:solidFill>
                <a:sym typeface="Arial" panose="020B0604020202020204" pitchFamily="34" charset="0"/>
              </a:rPr>
              <a:t>OFMT="%.3g"; </a:t>
            </a:r>
            <a:r>
              <a:rPr lang="zh-CN" altLang="en-US" sz="1400"/>
              <a:t>	</a:t>
            </a:r>
            <a:r>
              <a:rPr lang="zh-CN" altLang="en-US" sz="1400" i="1">
                <a:solidFill>
                  <a:srgbClr val="FF0000"/>
                </a:solidFill>
              </a:rPr>
              <a:t># 输出数字保留3位</a:t>
            </a:r>
          </a:p>
          <a:p>
            <a:pPr>
              <a:lnSpc>
                <a:spcPct val="90000"/>
              </a:lnSpc>
            </a:pPr>
            <a:r>
              <a:rPr lang="zh-CN" altLang="en-US" sz="1400"/>
              <a:t>    </a:t>
            </a:r>
            <a:r>
              <a:rPr lang="zh-CN" altLang="en-US" sz="1400">
                <a:solidFill>
                  <a:schemeClr val="accent2"/>
                </a:solidFill>
                <a:sym typeface="Arial" panose="020B0604020202020204" pitchFamily="34" charset="0"/>
              </a:rPr>
              <a:t>IGNORECASE=1;</a:t>
            </a:r>
            <a:r>
              <a:rPr lang="zh-CN" altLang="en-US" sz="1400"/>
              <a:t>    </a:t>
            </a:r>
            <a:r>
              <a:rPr lang="zh-CN" altLang="en-US" sz="1400" i="1">
                <a:solidFill>
                  <a:srgbClr val="FF0000"/>
                </a:solidFill>
                <a:sym typeface="Arial" panose="020B0604020202020204" pitchFamily="34" charset="0"/>
              </a:rPr>
              <a:t># 忽略大小写</a:t>
            </a:r>
          </a:p>
          <a:p>
            <a:pPr>
              <a:lnSpc>
                <a:spcPct val="90000"/>
              </a:lnSpc>
            </a:pPr>
            <a:r>
              <a:rPr lang="zh-CN" altLang="en-US" sz="1400"/>
              <a:t>    </a:t>
            </a:r>
            <a:r>
              <a:rPr lang="zh-CN" altLang="en-US" sz="1400">
                <a:solidFill>
                  <a:schemeClr val="accent2"/>
                </a:solidFill>
                <a:sym typeface="Arial" panose="020B0604020202020204" pitchFamily="34" charset="0"/>
              </a:rPr>
              <a:t>OFS="&amp;";</a:t>
            </a:r>
            <a:r>
              <a:rPr lang="zh-CN" altLang="en-US" sz="1400"/>
              <a:t>	</a:t>
            </a:r>
            <a:r>
              <a:rPr lang="zh-CN" altLang="en-US" sz="1400" i="1">
                <a:solidFill>
                  <a:srgbClr val="FF0000"/>
                </a:solidFill>
                <a:sym typeface="Arial" panose="020B0604020202020204" pitchFamily="34" charset="0"/>
              </a:rPr>
              <a:t># 输出字段分隔符</a:t>
            </a:r>
          </a:p>
          <a:p>
            <a:pPr>
              <a:lnSpc>
                <a:spcPct val="90000"/>
              </a:lnSpc>
            </a:pPr>
            <a:r>
              <a:rPr lang="zh-CN" altLang="en-US" sz="1400">
                <a:solidFill>
                  <a:schemeClr val="accent2"/>
                </a:solidFill>
                <a:sym typeface="Arial" panose="020B0604020202020204" pitchFamily="34" charset="0"/>
              </a:rPr>
              <a:t>}{</a:t>
            </a:r>
          </a:p>
          <a:p>
            <a:pPr>
              <a:lnSpc>
                <a:spcPct val="90000"/>
              </a:lnSpc>
            </a:pPr>
            <a:r>
              <a:rPr lang="zh-CN" altLang="en-US" sz="1400"/>
              <a:t>    </a:t>
            </a:r>
            <a:r>
              <a:rPr lang="zh-CN" altLang="en-US" sz="1400">
                <a:solidFill>
                  <a:schemeClr val="accent2"/>
                </a:solidFill>
                <a:sym typeface="Arial" panose="020B0604020202020204" pitchFamily="34" charset="0"/>
              </a:rPr>
              <a:t>if (match($1,/^A.*f$/)&gt;0){</a:t>
            </a:r>
            <a:r>
              <a:rPr lang="zh-CN" altLang="en-US" sz="1400"/>
              <a:t> </a:t>
            </a:r>
            <a:r>
              <a:rPr lang="zh-CN" altLang="en-US" sz="1400" i="1">
                <a:solidFill>
                  <a:srgbClr val="FF0000"/>
                </a:solidFill>
                <a:sym typeface="Arial" panose="020B0604020202020204" pitchFamily="34" charset="0"/>
              </a:rPr>
              <a:t># 匹配函数</a:t>
            </a:r>
            <a:r>
              <a:rPr lang="zh-CN" altLang="en-US" sz="1400"/>
              <a:t> </a:t>
            </a:r>
          </a:p>
          <a:p>
            <a:pPr>
              <a:lnSpc>
                <a:spcPct val="90000"/>
              </a:lnSpc>
            </a:pPr>
            <a:r>
              <a:rPr lang="zh-CN" altLang="en-US" sz="1400"/>
              <a:t>        </a:t>
            </a:r>
            <a:r>
              <a:rPr lang="zh-CN" altLang="en-US" sz="1400">
                <a:solidFill>
                  <a:schemeClr val="accent2"/>
                </a:solidFill>
                <a:sym typeface="Arial" panose="020B0604020202020204" pitchFamily="34" charset="0"/>
              </a:rPr>
              <a:t>print NR, NF, RSTART, RLENGTH, $2+0;</a:t>
            </a:r>
          </a:p>
          <a:p>
            <a:pPr>
              <a:lnSpc>
                <a:spcPct val="90000"/>
              </a:lnSpc>
            </a:pPr>
            <a:r>
              <a:rPr lang="zh-CN" altLang="en-US" sz="1400">
                <a:solidFill>
                  <a:schemeClr val="accent2"/>
                </a:solidFill>
                <a:sym typeface="Arial" panose="020B0604020202020204" pitchFamily="34" charset="0"/>
              </a:rPr>
              <a:t>}</a:t>
            </a:r>
          </a:p>
          <a:p>
            <a:pPr>
              <a:lnSpc>
                <a:spcPct val="90000"/>
              </a:lnSpc>
            </a:pPr>
            <a:r>
              <a:rPr lang="zh-CN" altLang="en-US" sz="1400">
                <a:solidFill>
                  <a:schemeClr val="accent2"/>
                </a:solidFill>
                <a:sym typeface="Arial" panose="020B0604020202020204" pitchFamily="34" charset="0"/>
              </a:rPr>
              <a:t>}' file</a:t>
            </a:r>
          </a:p>
        </p:txBody>
      </p:sp>
      <p:sp>
        <p:nvSpPr>
          <p:cNvPr id="7" name="Text Box 8"/>
          <p:cNvSpPr txBox="1">
            <a:spLocks noChangeArrowheads="1"/>
          </p:cNvSpPr>
          <p:nvPr/>
        </p:nvSpPr>
        <p:spPr bwMode="auto">
          <a:xfrm>
            <a:off x="5788651" y="4746491"/>
            <a:ext cx="2790825"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1400" i="1">
                <a:solidFill>
                  <a:schemeClr val="accent2"/>
                </a:solidFill>
                <a:sym typeface="Arial" panose="020B0604020202020204" pitchFamily="34" charset="0"/>
              </a:rPr>
              <a:t># 输出</a:t>
            </a:r>
          </a:p>
          <a:p>
            <a:r>
              <a:rPr lang="zh-CN" altLang="en-US" sz="1400" i="1">
                <a:solidFill>
                  <a:schemeClr val="accent2"/>
                </a:solidFill>
              </a:rPr>
              <a:t>1&amp;3&amp;1&amp;2&amp;2.23</a:t>
            </a:r>
          </a:p>
          <a:p>
            <a:r>
              <a:rPr lang="zh-CN" altLang="en-US" sz="1400" i="1">
                <a:solidFill>
                  <a:schemeClr val="accent2"/>
                </a:solidFill>
              </a:rPr>
              <a:t>3&amp;4&amp;1&amp;4&amp;1.32</a:t>
            </a:r>
            <a:endParaRPr lang="zh-CN" altLang="en-US" sz="1400" b="1">
              <a:solidFill>
                <a:schemeClr val="accent2"/>
              </a:solidFill>
            </a:endParaRPr>
          </a:p>
        </p:txBody>
      </p:sp>
      <p:sp>
        <p:nvSpPr>
          <p:cNvPr id="8" name="Text Box 9"/>
          <p:cNvSpPr txBox="1">
            <a:spLocks noChangeArrowheads="1"/>
          </p:cNvSpPr>
          <p:nvPr/>
        </p:nvSpPr>
        <p:spPr bwMode="auto">
          <a:xfrm>
            <a:off x="5768014" y="1717541"/>
            <a:ext cx="316865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i="1">
                <a:solidFill>
                  <a:schemeClr val="accent2"/>
                </a:solidFill>
              </a:rPr>
              <a:t># 假设file内容如下</a:t>
            </a:r>
          </a:p>
          <a:p>
            <a:r>
              <a:rPr lang="zh-CN" altLang="en-US" sz="1400" i="1">
                <a:solidFill>
                  <a:schemeClr val="accent2"/>
                </a:solidFill>
              </a:rPr>
              <a:t>af%2.23423%ss</a:t>
            </a:r>
          </a:p>
          <a:p>
            <a:r>
              <a:rPr lang="zh-CN" altLang="en-US" sz="1400" i="1">
                <a:solidFill>
                  <a:schemeClr val="accent2"/>
                </a:solidFill>
              </a:rPr>
              <a:t>xxx%1.2</a:t>
            </a:r>
          </a:p>
          <a:p>
            <a:r>
              <a:rPr lang="zh-CN" altLang="en-US" sz="1400" i="1">
                <a:solidFill>
                  <a:schemeClr val="accent2"/>
                </a:solidFill>
              </a:rPr>
              <a:t>asdf%1.323242%xx%ss</a:t>
            </a:r>
          </a:p>
        </p:txBody>
      </p:sp>
    </p:spTree>
    <p:extLst>
      <p:ext uri="{BB962C8B-B14F-4D97-AF65-F5344CB8AC3E}">
        <p14:creationId xmlns:p14="http://schemas.microsoft.com/office/powerpoint/2010/main" val="200310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blinds(horizontal)">
                                      <p:cBhvr>
                                        <p:cTn id="15" dur="500"/>
                                        <p:tgtEl>
                                          <p:spTgt spid="5">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blinds(horizontal)">
                                      <p:cBhvr>
                                        <p:cTn id="18" dur="500"/>
                                        <p:tgtEl>
                                          <p:spTgt spid="5">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blinds(horizontal)">
                                      <p:cBhvr>
                                        <p:cTn id="21" dur="500"/>
                                        <p:tgtEl>
                                          <p:spTgt spid="5">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blinds(horizontal)">
                                      <p:cBhvr>
                                        <p:cTn id="24" dur="500"/>
                                        <p:tgtEl>
                                          <p:spTgt spid="5">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blinds(horizontal)">
                                      <p:cBhvr>
                                        <p:cTn id="30" dur="500"/>
                                        <p:tgtEl>
                                          <p:spTgt spid="5">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blinds(horizontal)">
                                      <p:cBhvr>
                                        <p:cTn id="33" dur="500"/>
                                        <p:tgtEl>
                                          <p:spTgt spid="5">
                                            <p:txEl>
                                              <p:pRg st="7" end="7"/>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blinds(horizontal)">
                                      <p:cBhvr>
                                        <p:cTn id="36" dur="500"/>
                                        <p:tgtEl>
                                          <p:spTgt spid="5">
                                            <p:txEl>
                                              <p:pRg st="8" end="8"/>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animEffect transition="in" filter="blinds(horizontal)">
                                      <p:cBhvr>
                                        <p:cTn id="39" dur="500"/>
                                        <p:tgtEl>
                                          <p:spTgt spid="5">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blinds(horizontal)">
                                      <p:cBhvr>
                                        <p:cTn id="42" dur="500"/>
                                        <p:tgtEl>
                                          <p:spTgt spid="5">
                                            <p:txEl>
                                              <p:pRg st="10" end="1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5">
                                            <p:txEl>
                                              <p:pRg st="11" end="11"/>
                                            </p:txEl>
                                          </p:spTgt>
                                        </p:tgtEl>
                                        <p:attrNameLst>
                                          <p:attrName>style.visibility</p:attrName>
                                        </p:attrNameLst>
                                      </p:cBhvr>
                                      <p:to>
                                        <p:strVal val="visible"/>
                                      </p:to>
                                    </p:set>
                                    <p:animEffect transition="in" filter="blinds(horizontal)">
                                      <p:cBhvr>
                                        <p:cTn id="45" dur="500"/>
                                        <p:tgtEl>
                                          <p:spTgt spid="5">
                                            <p:txEl>
                                              <p:pRg st="11" end="1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5">
                                            <p:txEl>
                                              <p:pRg st="12" end="12"/>
                                            </p:txEl>
                                          </p:spTgt>
                                        </p:tgtEl>
                                        <p:attrNameLst>
                                          <p:attrName>style.visibility</p:attrName>
                                        </p:attrNameLst>
                                      </p:cBhvr>
                                      <p:to>
                                        <p:strVal val="visible"/>
                                      </p:to>
                                    </p:set>
                                    <p:animEffect transition="in" filter="blinds(horizontal)">
                                      <p:cBhvr>
                                        <p:cTn id="48" dur="500"/>
                                        <p:tgtEl>
                                          <p:spTgt spid="5">
                                            <p:txEl>
                                              <p:pRg st="12" end="12"/>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animEffect transition="in" filter="blinds(horizontal)">
                                      <p:cBhvr>
                                        <p:cTn id="51" dur="500"/>
                                        <p:tgtEl>
                                          <p:spTgt spid="5">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8">
                                            <p:txEl>
                                              <p:pRg st="0" end="0"/>
                                            </p:txEl>
                                          </p:spTgt>
                                        </p:tgtEl>
                                        <p:attrNameLst>
                                          <p:attrName>style.visibility</p:attrName>
                                        </p:attrNameLst>
                                      </p:cBhvr>
                                      <p:to>
                                        <p:strVal val="visible"/>
                                      </p:to>
                                    </p:set>
                                    <p:animEffect transition="in" filter="blinds(horizontal)">
                                      <p:cBhvr>
                                        <p:cTn id="56" dur="500"/>
                                        <p:tgtEl>
                                          <p:spTgt spid="8">
                                            <p:txEl>
                                              <p:pRg st="0" end="0"/>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8">
                                            <p:txEl>
                                              <p:pRg st="1" end="1"/>
                                            </p:txEl>
                                          </p:spTgt>
                                        </p:tgtEl>
                                        <p:attrNameLst>
                                          <p:attrName>style.visibility</p:attrName>
                                        </p:attrNameLst>
                                      </p:cBhvr>
                                      <p:to>
                                        <p:strVal val="visible"/>
                                      </p:to>
                                    </p:set>
                                    <p:animEffect transition="in" filter="blinds(horizontal)">
                                      <p:cBhvr>
                                        <p:cTn id="59" dur="500"/>
                                        <p:tgtEl>
                                          <p:spTgt spid="8">
                                            <p:txEl>
                                              <p:pRg st="1" end="1"/>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8">
                                            <p:txEl>
                                              <p:pRg st="2" end="2"/>
                                            </p:txEl>
                                          </p:spTgt>
                                        </p:tgtEl>
                                        <p:attrNameLst>
                                          <p:attrName>style.visibility</p:attrName>
                                        </p:attrNameLst>
                                      </p:cBhvr>
                                      <p:to>
                                        <p:strVal val="visible"/>
                                      </p:to>
                                    </p:set>
                                    <p:animEffect transition="in" filter="blinds(horizontal)">
                                      <p:cBhvr>
                                        <p:cTn id="62" dur="500"/>
                                        <p:tgtEl>
                                          <p:spTgt spid="8">
                                            <p:txEl>
                                              <p:pRg st="2" end="2"/>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8">
                                            <p:txEl>
                                              <p:pRg st="3" end="3"/>
                                            </p:txEl>
                                          </p:spTgt>
                                        </p:tgtEl>
                                        <p:attrNameLst>
                                          <p:attrName>style.visibility</p:attrName>
                                        </p:attrNameLst>
                                      </p:cBhvr>
                                      <p:to>
                                        <p:strVal val="visible"/>
                                      </p:to>
                                    </p:set>
                                    <p:animEffect transition="in" filter="blinds(horizontal)">
                                      <p:cBhvr>
                                        <p:cTn id="65" dur="500"/>
                                        <p:tgtEl>
                                          <p:spTgt spid="8">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
                                            <p:txEl>
                                              <p:pRg st="0" end="0"/>
                                            </p:txEl>
                                          </p:spTgt>
                                        </p:tgtEl>
                                        <p:attrNameLst>
                                          <p:attrName>style.visibility</p:attrName>
                                        </p:attrNameLst>
                                      </p:cBhvr>
                                      <p:to>
                                        <p:strVal val="visible"/>
                                      </p:to>
                                    </p:set>
                                    <p:animEffect transition="in" filter="blinds(horizontal)">
                                      <p:cBhvr>
                                        <p:cTn id="70" dur="500"/>
                                        <p:tgtEl>
                                          <p:spTgt spid="6">
                                            <p:txEl>
                                              <p:pRg st="0" end="0"/>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6">
                                            <p:txEl>
                                              <p:pRg st="1" end="1"/>
                                            </p:txEl>
                                          </p:spTgt>
                                        </p:tgtEl>
                                        <p:attrNameLst>
                                          <p:attrName>style.visibility</p:attrName>
                                        </p:attrNameLst>
                                      </p:cBhvr>
                                      <p:to>
                                        <p:strVal val="visible"/>
                                      </p:to>
                                    </p:set>
                                    <p:animEffect transition="in" filter="blinds(horizontal)">
                                      <p:cBhvr>
                                        <p:cTn id="73" dur="500"/>
                                        <p:tgtEl>
                                          <p:spTgt spid="6">
                                            <p:txEl>
                                              <p:pRg st="1" end="1"/>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6">
                                            <p:txEl>
                                              <p:pRg st="2" end="2"/>
                                            </p:txEl>
                                          </p:spTgt>
                                        </p:tgtEl>
                                        <p:attrNameLst>
                                          <p:attrName>style.visibility</p:attrName>
                                        </p:attrNameLst>
                                      </p:cBhvr>
                                      <p:to>
                                        <p:strVal val="visible"/>
                                      </p:to>
                                    </p:set>
                                    <p:animEffect transition="in" filter="blinds(horizontal)">
                                      <p:cBhvr>
                                        <p:cTn id="76" dur="500"/>
                                        <p:tgtEl>
                                          <p:spTgt spid="6">
                                            <p:txEl>
                                              <p:pRg st="2" end="2"/>
                                            </p:txEl>
                                          </p:spTgt>
                                        </p:tgtEl>
                                      </p:cBhvr>
                                    </p:animEffect>
                                  </p:childTnLst>
                                </p:cTn>
                              </p:par>
                              <p:par>
                                <p:cTn id="77" presetID="3" presetClass="entr" presetSubtype="10" fill="hold" nodeType="withEffect">
                                  <p:stCondLst>
                                    <p:cond delay="0"/>
                                  </p:stCondLst>
                                  <p:childTnLst>
                                    <p:set>
                                      <p:cBhvr>
                                        <p:cTn id="78" dur="1" fill="hold">
                                          <p:stCondLst>
                                            <p:cond delay="0"/>
                                          </p:stCondLst>
                                        </p:cTn>
                                        <p:tgtEl>
                                          <p:spTgt spid="6">
                                            <p:txEl>
                                              <p:pRg st="3" end="3"/>
                                            </p:txEl>
                                          </p:spTgt>
                                        </p:tgtEl>
                                        <p:attrNameLst>
                                          <p:attrName>style.visibility</p:attrName>
                                        </p:attrNameLst>
                                      </p:cBhvr>
                                      <p:to>
                                        <p:strVal val="visible"/>
                                      </p:to>
                                    </p:set>
                                    <p:animEffect transition="in" filter="blinds(horizontal)">
                                      <p:cBhvr>
                                        <p:cTn id="79" dur="500"/>
                                        <p:tgtEl>
                                          <p:spTgt spid="6">
                                            <p:txEl>
                                              <p:pRg st="3" end="3"/>
                                            </p:txEl>
                                          </p:spTgt>
                                        </p:tgtEl>
                                      </p:cBhvr>
                                    </p:animEffect>
                                  </p:childTnLst>
                                </p:cTn>
                              </p:par>
                              <p:par>
                                <p:cTn id="80" presetID="3" presetClass="entr" presetSubtype="10" fill="hold" nodeType="withEffect">
                                  <p:stCondLst>
                                    <p:cond delay="0"/>
                                  </p:stCondLst>
                                  <p:childTnLst>
                                    <p:set>
                                      <p:cBhvr>
                                        <p:cTn id="81" dur="1" fill="hold">
                                          <p:stCondLst>
                                            <p:cond delay="0"/>
                                          </p:stCondLst>
                                        </p:cTn>
                                        <p:tgtEl>
                                          <p:spTgt spid="6">
                                            <p:txEl>
                                              <p:pRg st="4" end="4"/>
                                            </p:txEl>
                                          </p:spTgt>
                                        </p:tgtEl>
                                        <p:attrNameLst>
                                          <p:attrName>style.visibility</p:attrName>
                                        </p:attrNameLst>
                                      </p:cBhvr>
                                      <p:to>
                                        <p:strVal val="visible"/>
                                      </p:to>
                                    </p:set>
                                    <p:animEffect transition="in" filter="blinds(horizontal)">
                                      <p:cBhvr>
                                        <p:cTn id="82" dur="500"/>
                                        <p:tgtEl>
                                          <p:spTgt spid="6">
                                            <p:txEl>
                                              <p:pRg st="4" end="4"/>
                                            </p:txEl>
                                          </p:spTgt>
                                        </p:tgtEl>
                                      </p:cBhvr>
                                    </p:animEffect>
                                  </p:childTnLst>
                                </p:cTn>
                              </p:par>
                              <p:par>
                                <p:cTn id="83" presetID="3" presetClass="entr" presetSubtype="10" fill="hold" nodeType="withEffect">
                                  <p:stCondLst>
                                    <p:cond delay="0"/>
                                  </p:stCondLst>
                                  <p:childTnLst>
                                    <p:set>
                                      <p:cBhvr>
                                        <p:cTn id="84" dur="1" fill="hold">
                                          <p:stCondLst>
                                            <p:cond delay="0"/>
                                          </p:stCondLst>
                                        </p:cTn>
                                        <p:tgtEl>
                                          <p:spTgt spid="6">
                                            <p:txEl>
                                              <p:pRg st="5" end="5"/>
                                            </p:txEl>
                                          </p:spTgt>
                                        </p:tgtEl>
                                        <p:attrNameLst>
                                          <p:attrName>style.visibility</p:attrName>
                                        </p:attrNameLst>
                                      </p:cBhvr>
                                      <p:to>
                                        <p:strVal val="visible"/>
                                      </p:to>
                                    </p:set>
                                    <p:animEffect transition="in" filter="blinds(horizontal)">
                                      <p:cBhvr>
                                        <p:cTn id="85" dur="500"/>
                                        <p:tgtEl>
                                          <p:spTgt spid="6">
                                            <p:txEl>
                                              <p:pRg st="5" end="5"/>
                                            </p:txEl>
                                          </p:spTgt>
                                        </p:tgtEl>
                                      </p:cBhvr>
                                    </p:animEffect>
                                  </p:childTnLst>
                                </p:cTn>
                              </p:par>
                              <p:par>
                                <p:cTn id="86" presetID="3" presetClass="entr" presetSubtype="10" fill="hold" nodeType="withEffect">
                                  <p:stCondLst>
                                    <p:cond delay="0"/>
                                  </p:stCondLst>
                                  <p:childTnLst>
                                    <p:set>
                                      <p:cBhvr>
                                        <p:cTn id="87" dur="1" fill="hold">
                                          <p:stCondLst>
                                            <p:cond delay="0"/>
                                          </p:stCondLst>
                                        </p:cTn>
                                        <p:tgtEl>
                                          <p:spTgt spid="6">
                                            <p:txEl>
                                              <p:pRg st="6" end="6"/>
                                            </p:txEl>
                                          </p:spTgt>
                                        </p:tgtEl>
                                        <p:attrNameLst>
                                          <p:attrName>style.visibility</p:attrName>
                                        </p:attrNameLst>
                                      </p:cBhvr>
                                      <p:to>
                                        <p:strVal val="visible"/>
                                      </p:to>
                                    </p:set>
                                    <p:animEffect transition="in" filter="blinds(horizontal)">
                                      <p:cBhvr>
                                        <p:cTn id="88" dur="500"/>
                                        <p:tgtEl>
                                          <p:spTgt spid="6">
                                            <p:txEl>
                                              <p:pRg st="6" end="6"/>
                                            </p:txEl>
                                          </p:spTgt>
                                        </p:tgtEl>
                                      </p:cBhvr>
                                    </p:animEffect>
                                  </p:childTnLst>
                                </p:cTn>
                              </p:par>
                              <p:par>
                                <p:cTn id="89" presetID="3" presetClass="entr" presetSubtype="10" fill="hold" nodeType="withEffect">
                                  <p:stCondLst>
                                    <p:cond delay="0"/>
                                  </p:stCondLst>
                                  <p:childTnLst>
                                    <p:set>
                                      <p:cBhvr>
                                        <p:cTn id="90" dur="1" fill="hold">
                                          <p:stCondLst>
                                            <p:cond delay="0"/>
                                          </p:stCondLst>
                                        </p:cTn>
                                        <p:tgtEl>
                                          <p:spTgt spid="6">
                                            <p:txEl>
                                              <p:pRg st="7" end="7"/>
                                            </p:txEl>
                                          </p:spTgt>
                                        </p:tgtEl>
                                        <p:attrNameLst>
                                          <p:attrName>style.visibility</p:attrName>
                                        </p:attrNameLst>
                                      </p:cBhvr>
                                      <p:to>
                                        <p:strVal val="visible"/>
                                      </p:to>
                                    </p:set>
                                    <p:animEffect transition="in" filter="blinds(horizontal)">
                                      <p:cBhvr>
                                        <p:cTn id="91" dur="500"/>
                                        <p:tgtEl>
                                          <p:spTgt spid="6">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7">
                                            <p:txEl>
                                              <p:pRg st="0" end="0"/>
                                            </p:txEl>
                                          </p:spTgt>
                                        </p:tgtEl>
                                        <p:attrNameLst>
                                          <p:attrName>style.visibility</p:attrName>
                                        </p:attrNameLst>
                                      </p:cBhvr>
                                      <p:to>
                                        <p:strVal val="visible"/>
                                      </p:to>
                                    </p:set>
                                    <p:animEffect transition="in" filter="blinds(horizontal)">
                                      <p:cBhvr>
                                        <p:cTn id="96" dur="500"/>
                                        <p:tgtEl>
                                          <p:spTgt spid="7">
                                            <p:txEl>
                                              <p:pRg st="0" end="0"/>
                                            </p:txEl>
                                          </p:spTgt>
                                        </p:tgtEl>
                                      </p:cBhvr>
                                    </p:animEffect>
                                  </p:childTnLst>
                                </p:cTn>
                              </p:par>
                              <p:par>
                                <p:cTn id="97" presetID="3" presetClass="entr" presetSubtype="10" fill="hold" nodeType="withEffect">
                                  <p:stCondLst>
                                    <p:cond delay="0"/>
                                  </p:stCondLst>
                                  <p:childTnLst>
                                    <p:set>
                                      <p:cBhvr>
                                        <p:cTn id="98" dur="1" fill="hold">
                                          <p:stCondLst>
                                            <p:cond delay="0"/>
                                          </p:stCondLst>
                                        </p:cTn>
                                        <p:tgtEl>
                                          <p:spTgt spid="7">
                                            <p:txEl>
                                              <p:pRg st="1" end="1"/>
                                            </p:txEl>
                                          </p:spTgt>
                                        </p:tgtEl>
                                        <p:attrNameLst>
                                          <p:attrName>style.visibility</p:attrName>
                                        </p:attrNameLst>
                                      </p:cBhvr>
                                      <p:to>
                                        <p:strVal val="visible"/>
                                      </p:to>
                                    </p:set>
                                    <p:animEffect transition="in" filter="blinds(horizontal)">
                                      <p:cBhvr>
                                        <p:cTn id="99" dur="500"/>
                                        <p:tgtEl>
                                          <p:spTgt spid="7">
                                            <p:txEl>
                                              <p:pRg st="1" end="1"/>
                                            </p:txEl>
                                          </p:spTgt>
                                        </p:tgtEl>
                                      </p:cBhvr>
                                    </p:animEffect>
                                  </p:childTnLst>
                                </p:cTn>
                              </p:par>
                              <p:par>
                                <p:cTn id="100" presetID="3" presetClass="entr" presetSubtype="10" fill="hold" nodeType="withEffect">
                                  <p:stCondLst>
                                    <p:cond delay="0"/>
                                  </p:stCondLst>
                                  <p:childTnLst>
                                    <p:set>
                                      <p:cBhvr>
                                        <p:cTn id="101" dur="1" fill="hold">
                                          <p:stCondLst>
                                            <p:cond delay="0"/>
                                          </p:stCondLst>
                                        </p:cTn>
                                        <p:tgtEl>
                                          <p:spTgt spid="7">
                                            <p:txEl>
                                              <p:pRg st="2" end="2"/>
                                            </p:txEl>
                                          </p:spTgt>
                                        </p:tgtEl>
                                        <p:attrNameLst>
                                          <p:attrName>style.visibility</p:attrName>
                                        </p:attrNameLst>
                                      </p:cBhvr>
                                      <p:to>
                                        <p:strVal val="visible"/>
                                      </p:to>
                                    </p:set>
                                    <p:animEffect transition="in" filter="blinds(horizontal)">
                                      <p:cBhvr>
                                        <p:cTn id="10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awk</a:t>
            </a:r>
            <a:endParaRPr lang="zh-CN" altLang="en-US" dirty="0"/>
          </a:p>
        </p:txBody>
      </p:sp>
      <p:graphicFrame>
        <p:nvGraphicFramePr>
          <p:cNvPr id="4" name="Group 2"/>
          <p:cNvGraphicFramePr>
            <a:graphicFrameLocks/>
          </p:cNvGraphicFramePr>
          <p:nvPr>
            <p:extLst>
              <p:ext uri="{D42A27DB-BD31-4B8C-83A1-F6EECF244321}">
                <p14:modId xmlns:p14="http://schemas.microsoft.com/office/powerpoint/2010/main" val="3910396320"/>
              </p:ext>
            </p:extLst>
          </p:nvPr>
        </p:nvGraphicFramePr>
        <p:xfrm>
          <a:off x="1579272" y="1566865"/>
          <a:ext cx="4386263" cy="3352800"/>
        </p:xfrm>
        <a:graphic>
          <a:graphicData uri="http://schemas.openxmlformats.org/drawingml/2006/table">
            <a:tbl>
              <a:tblPr/>
              <a:tblGrid>
                <a:gridCol w="1362075"/>
                <a:gridCol w="3024188"/>
              </a:tblGrid>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函数名</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含义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sub(e,r,src)</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将src中匹配e的</a:t>
                      </a:r>
                      <a:r>
                        <a:rPr kumimoji="0" lang="zh-CN" altLang="en-US" sz="1400" b="0" i="1"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第一个</a:t>
                      </a: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字串替换为r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gsub(e,r,src)</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将src中匹配e的</a:t>
                      </a:r>
                      <a:r>
                        <a:rPr kumimoji="0" lang="zh-CN" altLang="en-US" sz="1400" b="0" i="1"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全部</a:t>
                      </a: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字串替换为r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index(s1,s2)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返回s2在s1的索引(未找到返回0)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length(s)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返回s的长度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substr(s,i,len)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返回s中从i位置起，长度为len的字串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match(s,e)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返回e在s中匹配的字串的起始位置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split(s,arr,sep)</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将s按sep分割，元素存于数组arr中</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tolower(s)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将s转换为小写</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toupper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将s转换为大写</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strftime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将时间戳转换为时间字符串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Text Box 82"/>
          <p:cNvSpPr txBox="1">
            <a:spLocks noChangeArrowheads="1"/>
          </p:cNvSpPr>
          <p:nvPr/>
        </p:nvSpPr>
        <p:spPr bwMode="auto">
          <a:xfrm>
            <a:off x="1536410" y="5202240"/>
            <a:ext cx="4443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i="1">
                <a:solidFill>
                  <a:srgbClr val="FF0000"/>
                </a:solidFill>
              </a:rPr>
              <a:t>注：</a:t>
            </a:r>
            <a:r>
              <a:rPr lang="zh-CN" altLang="en-US" sz="1400" i="1">
                <a:solidFill>
                  <a:schemeClr val="accent2"/>
                </a:solidFill>
              </a:rPr>
              <a:t>awk函数返回的下标从</a:t>
            </a:r>
            <a:r>
              <a:rPr lang="zh-CN" altLang="en-US" sz="1400" i="1">
                <a:solidFill>
                  <a:srgbClr val="FF0000"/>
                </a:solidFill>
              </a:rPr>
              <a:t>1</a:t>
            </a:r>
            <a:r>
              <a:rPr lang="zh-CN" altLang="en-US" sz="1400" i="1">
                <a:solidFill>
                  <a:schemeClr val="accent2"/>
                </a:solidFill>
              </a:rPr>
              <a:t>开始，数组下标也从</a:t>
            </a:r>
            <a:r>
              <a:rPr lang="zh-CN" altLang="en-US" sz="1400" i="1">
                <a:solidFill>
                  <a:srgbClr val="FF0000"/>
                </a:solidFill>
              </a:rPr>
              <a:t>1</a:t>
            </a:r>
            <a:r>
              <a:rPr lang="zh-CN" altLang="en-US" sz="1400" i="1">
                <a:solidFill>
                  <a:schemeClr val="accent2"/>
                </a:solidFill>
              </a:rPr>
              <a:t>开始</a:t>
            </a:r>
          </a:p>
        </p:txBody>
      </p:sp>
      <p:sp>
        <p:nvSpPr>
          <p:cNvPr id="6" name="Text Box 83"/>
          <p:cNvSpPr txBox="1">
            <a:spLocks noChangeArrowheads="1"/>
          </p:cNvSpPr>
          <p:nvPr/>
        </p:nvSpPr>
        <p:spPr bwMode="auto">
          <a:xfrm>
            <a:off x="6125872" y="1525590"/>
            <a:ext cx="3673475" cy="444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i="1">
                <a:solidFill>
                  <a:srgbClr val="0070C0"/>
                </a:solidFill>
              </a:rPr>
              <a:t>假设awk变量s="this is a test2010test!"</a:t>
            </a:r>
          </a:p>
          <a:p>
            <a:endParaRPr lang="zh-CN" altLang="en-US" sz="1400">
              <a:solidFill>
                <a:srgbClr val="0070C0"/>
              </a:solidFill>
            </a:endParaRPr>
          </a:p>
          <a:p>
            <a:pPr marL="285750" indent="-285750">
              <a:lnSpc>
                <a:spcPct val="130000"/>
              </a:lnSpc>
              <a:buSzPct val="100000"/>
              <a:buFont typeface="Wingdings" panose="05000000000000000000" pitchFamily="2" charset="2"/>
              <a:buChar char="ü"/>
            </a:pPr>
            <a:r>
              <a:rPr lang="zh-CN" altLang="en-US" sz="1400">
                <a:solidFill>
                  <a:srgbClr val="0070C0"/>
                </a:solidFill>
              </a:rPr>
              <a:t>awk 'BEGIN{gsub(/[0-9]+/,"!",s); print s;}'  </a:t>
            </a:r>
            <a:r>
              <a:rPr lang="zh-CN" altLang="en-US" sz="1400" i="1">
                <a:solidFill>
                  <a:srgbClr val="0070C0"/>
                </a:solidFill>
              </a:rPr>
              <a:t># this is a test!test!"</a:t>
            </a:r>
          </a:p>
          <a:p>
            <a:pPr marL="285750" indent="-285750">
              <a:lnSpc>
                <a:spcPct val="130000"/>
              </a:lnSpc>
              <a:buSzPct val="100000"/>
              <a:buFont typeface="Wingdings" panose="05000000000000000000" pitchFamily="2" charset="2"/>
              <a:buChar char="ü"/>
            </a:pPr>
            <a:r>
              <a:rPr lang="zh-CN" altLang="en-US" sz="1400" i="1">
                <a:solidFill>
                  <a:srgbClr val="0070C0"/>
                </a:solidFill>
              </a:rPr>
              <a:t>awk 'BEGIN{print index(info,"test");}'</a:t>
            </a:r>
          </a:p>
          <a:p>
            <a:pPr>
              <a:lnSpc>
                <a:spcPct val="130000"/>
              </a:lnSpc>
              <a:buSzPct val="100000"/>
              <a:buFont typeface="Wingdings" panose="05000000000000000000" pitchFamily="2" charset="2"/>
              <a:buNone/>
            </a:pPr>
            <a:r>
              <a:rPr lang="zh-CN" altLang="en-US" sz="1400" i="1">
                <a:solidFill>
                  <a:srgbClr val="0070C0"/>
                </a:solidFill>
              </a:rPr>
              <a:t>      # 11</a:t>
            </a:r>
          </a:p>
          <a:p>
            <a:pPr marL="285750" indent="-285750">
              <a:lnSpc>
                <a:spcPct val="130000"/>
              </a:lnSpc>
              <a:buSzPct val="100000"/>
              <a:buFont typeface="Wingdings" panose="05000000000000000000" pitchFamily="2" charset="2"/>
              <a:buChar char="ü"/>
            </a:pPr>
            <a:r>
              <a:rPr lang="zh-CN" altLang="en-US" sz="1400">
                <a:solidFill>
                  <a:srgbClr val="0070C0"/>
                </a:solidFill>
              </a:rPr>
              <a:t>awk 'BEGIN{print match(s,/[0-9]+/);}'</a:t>
            </a:r>
          </a:p>
          <a:p>
            <a:pPr>
              <a:lnSpc>
                <a:spcPct val="130000"/>
              </a:lnSpc>
              <a:buSzPct val="100000"/>
              <a:buFont typeface="Wingdings" panose="05000000000000000000" pitchFamily="2" charset="2"/>
              <a:buNone/>
            </a:pPr>
            <a:r>
              <a:rPr lang="zh-CN" altLang="en-US" sz="1400" i="1">
                <a:solidFill>
                  <a:srgbClr val="0070C0"/>
                </a:solidFill>
              </a:rPr>
              <a:t>      # 15</a:t>
            </a:r>
          </a:p>
          <a:p>
            <a:pPr marL="285750" indent="-285750">
              <a:lnSpc>
                <a:spcPct val="130000"/>
              </a:lnSpc>
              <a:buSzPct val="100000"/>
              <a:buFont typeface="Wingdings" panose="05000000000000000000" pitchFamily="2" charset="2"/>
              <a:buChar char="ü"/>
            </a:pPr>
            <a:r>
              <a:rPr lang="zh-CN" altLang="en-US" sz="1400">
                <a:solidFill>
                  <a:srgbClr val="0070C0"/>
                </a:solidFill>
              </a:rPr>
              <a:t>awk 'BEGIN{print substr(s,4,10);}'  </a:t>
            </a:r>
          </a:p>
          <a:p>
            <a:pPr>
              <a:lnSpc>
                <a:spcPct val="130000"/>
              </a:lnSpc>
            </a:pPr>
            <a:r>
              <a:rPr lang="zh-CN" altLang="en-US" sz="1400" i="1">
                <a:solidFill>
                  <a:srgbClr val="0070C0"/>
                </a:solidFill>
              </a:rPr>
              <a:t>      # s is a tes</a:t>
            </a:r>
          </a:p>
          <a:p>
            <a:pPr marL="285750" indent="-285750">
              <a:lnSpc>
                <a:spcPct val="130000"/>
              </a:lnSpc>
              <a:buSzPct val="100000"/>
              <a:buFont typeface="Wingdings" panose="05000000000000000000" pitchFamily="2" charset="2"/>
              <a:buChar char="ü"/>
            </a:pPr>
            <a:r>
              <a:rPr lang="zh-CN" altLang="en-US" sz="1400">
                <a:solidFill>
                  <a:srgbClr val="0070C0"/>
                </a:solidFill>
              </a:rPr>
              <a:t>awk 'BEGIN{split(info,a," ");for(k in a){printf("%s %s,",k,a[k]);} printf("\n");}'</a:t>
            </a:r>
          </a:p>
          <a:p>
            <a:pPr>
              <a:lnSpc>
                <a:spcPct val="130000"/>
              </a:lnSpc>
            </a:pPr>
            <a:r>
              <a:rPr lang="zh-CN" altLang="en-US" sz="1400" i="1">
                <a:solidFill>
                  <a:srgbClr val="0070C0"/>
                </a:solidFill>
              </a:rPr>
              <a:t>      # 4 test,1 this,2 is,3 a,</a:t>
            </a:r>
          </a:p>
          <a:p>
            <a:pPr marL="285750" indent="-285750">
              <a:lnSpc>
                <a:spcPct val="130000"/>
              </a:lnSpc>
              <a:buSzPct val="100000"/>
              <a:buFont typeface="Wingdings" panose="05000000000000000000" pitchFamily="2" charset="2"/>
              <a:buChar char="ü"/>
            </a:pPr>
            <a:r>
              <a:rPr lang="zh-CN" altLang="en-US" sz="1400">
                <a:solidFill>
                  <a:srgbClr val="0070C0"/>
                </a:solidFill>
              </a:rPr>
              <a:t>echo `date +%s` | awk '{print strftime("%Y-%m-%d %H:%M:%S", $0)}'</a:t>
            </a:r>
          </a:p>
          <a:p>
            <a:pPr>
              <a:lnSpc>
                <a:spcPct val="130000"/>
              </a:lnSpc>
            </a:pPr>
            <a:r>
              <a:rPr lang="zh-CN" altLang="en-US" sz="1400" i="1">
                <a:solidFill>
                  <a:srgbClr val="0070C0"/>
                </a:solidFill>
              </a:rPr>
              <a:t>      # 2015-04-02 16:24:52</a:t>
            </a:r>
          </a:p>
        </p:txBody>
      </p:sp>
      <p:sp>
        <p:nvSpPr>
          <p:cNvPr id="7" name="Text Box 87"/>
          <p:cNvSpPr txBox="1">
            <a:spLocks noChangeArrowheads="1"/>
          </p:cNvSpPr>
          <p:nvPr/>
        </p:nvSpPr>
        <p:spPr bwMode="auto">
          <a:xfrm>
            <a:off x="1484022" y="1166815"/>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b="1" dirty="0">
                <a:solidFill>
                  <a:srgbClr val="0000FF"/>
                </a:solidFill>
              </a:rPr>
              <a:t>5、awk内置函数</a:t>
            </a:r>
          </a:p>
        </p:txBody>
      </p:sp>
    </p:spTree>
    <p:extLst>
      <p:ext uri="{BB962C8B-B14F-4D97-AF65-F5344CB8AC3E}">
        <p14:creationId xmlns:p14="http://schemas.microsoft.com/office/powerpoint/2010/main" val="312331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linds(horizontal)">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linds(horizontal)">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blinds(horizontal)">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blinds(horizontal)">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blinds(horizontal)">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blinds(horizontal)">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blinds(horizontal)">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blinds(horizontal)">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blinds(horizontal)">
                                      <p:cBhvr>
                                        <p:cTn id="62" dur="500"/>
                                        <p:tgtEl>
                                          <p:spTgt spid="6">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6">
                                            <p:txEl>
                                              <p:pRg st="11" end="11"/>
                                            </p:txEl>
                                          </p:spTgt>
                                        </p:tgtEl>
                                        <p:attrNameLst>
                                          <p:attrName>style.visibility</p:attrName>
                                        </p:attrNameLst>
                                      </p:cBhvr>
                                      <p:to>
                                        <p:strVal val="visible"/>
                                      </p:to>
                                    </p:set>
                                    <p:animEffect transition="in" filter="blinds(horizontal)">
                                      <p:cBhvr>
                                        <p:cTn id="67" dur="500"/>
                                        <p:tgtEl>
                                          <p:spTgt spid="6">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6">
                                            <p:txEl>
                                              <p:pRg st="12" end="12"/>
                                            </p:txEl>
                                          </p:spTgt>
                                        </p:tgtEl>
                                        <p:attrNameLst>
                                          <p:attrName>style.visibility</p:attrName>
                                        </p:attrNameLst>
                                      </p:cBhvr>
                                      <p:to>
                                        <p:strVal val="visible"/>
                                      </p:to>
                                    </p:set>
                                    <p:animEffect transition="in" filter="blinds(horizontal)">
                                      <p:cBhvr>
                                        <p:cTn id="72" dur="500"/>
                                        <p:tgtEl>
                                          <p:spTgt spid="6">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 calcmode="lin" valueType="num">
                                      <p:cBhvr additive="base">
                                        <p:cTn id="77" dur="500" fill="hold"/>
                                        <p:tgtEl>
                                          <p:spTgt spid="5"/>
                                        </p:tgtEl>
                                        <p:attrNameLst>
                                          <p:attrName>ppt_x</p:attrName>
                                        </p:attrNameLst>
                                      </p:cBhvr>
                                      <p:tavLst>
                                        <p:tav tm="0">
                                          <p:val>
                                            <p:strVal val="#ppt_x"/>
                                          </p:val>
                                        </p:tav>
                                        <p:tav tm="100000">
                                          <p:val>
                                            <p:strVal val="#ppt_x"/>
                                          </p:val>
                                        </p:tav>
                                      </p:tavLst>
                                    </p:anim>
                                    <p:anim calcmode="lin" valueType="num">
                                      <p:cBhvr additive="base">
                                        <p:cTn id="7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utoUpdateAnimBg="0"/>
      <p:bldP spid="7" grpId="0" bldLvl="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awk</a:t>
            </a:r>
            <a:endParaRPr lang="zh-CN" altLang="en-US" dirty="0"/>
          </a:p>
        </p:txBody>
      </p:sp>
      <p:sp>
        <p:nvSpPr>
          <p:cNvPr id="10" name="Text Box 2"/>
          <p:cNvSpPr txBox="1">
            <a:spLocks noChangeArrowheads="1"/>
          </p:cNvSpPr>
          <p:nvPr/>
        </p:nvSpPr>
        <p:spPr bwMode="auto">
          <a:xfrm>
            <a:off x="5349965" y="1227140"/>
            <a:ext cx="4178300" cy="456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awk -F"|" 'BEGIN{</a:t>
            </a:r>
          </a:p>
          <a:p>
            <a:pPr fontAlgn="base">
              <a:lnSpc>
                <a:spcPct val="140000"/>
              </a:lnSpc>
              <a:spcBef>
                <a:spcPct val="0"/>
              </a:spcBef>
              <a:spcAft>
                <a:spcPct val="0"/>
              </a:spcAft>
              <a:buFont typeface="Arial" panose="020B0604020202020204" pitchFamily="34" charset="0"/>
              <a:buNone/>
            </a:pPr>
            <a:r>
              <a:rPr lang="zh-CN" altLang="en-US" sz="1400" i="1" dirty="0" smtClean="0">
                <a:solidFill>
                  <a:srgbClr val="FF0000"/>
                </a:solidFill>
                <a:latin typeface="Arial" panose="020B0604020202020204" pitchFamily="34" charset="0"/>
              </a:rPr>
              <a:t>    #</a:t>
            </a:r>
            <a:r>
              <a:rPr lang="zh-CN" altLang="en-US" sz="1400" i="1" dirty="0" smtClean="0">
                <a:solidFill>
                  <a:srgbClr val="FF0000"/>
                </a:solidFill>
                <a:latin typeface="Arial" panose="020B0604020202020204" pitchFamily="34" charset="0"/>
                <a:sym typeface="Arial" panose="020B0604020202020204" pitchFamily="34" charset="0"/>
              </a:rPr>
              <a:t>点击应用推荐行为ID</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a:t>
            </a:r>
            <a:r>
              <a:rPr lang="zh-CN" altLang="en-US" sz="1400" dirty="0" smtClean="0">
                <a:solidFill>
                  <a:srgbClr val="333399"/>
                </a:solidFill>
                <a:latin typeface="Arial" panose="020B0604020202020204" pitchFamily="34" charset="0"/>
                <a:sym typeface="Arial" panose="020B0604020202020204" pitchFamily="34" charset="0"/>
              </a:rPr>
              <a:t>CLICK_APP_REC_ACTION_ID = 321 </a:t>
            </a:r>
            <a:r>
              <a:rPr lang="zh-CN" altLang="en-US" sz="1400" dirty="0" smtClean="0">
                <a:solidFill>
                  <a:srgbClr val="333399"/>
                </a:solidFill>
                <a:latin typeface="Arial" panose="020B0604020202020204" pitchFamily="34" charset="0"/>
              </a:rPr>
              <a:t>   </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click_user_num = 0; 	</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for (i=1;i &lt;= NF;i++){	</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split($i,arr,":");</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if (arr[1] == CLICK_APP_REC_ACTION_ID){</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click_user_num = arr[3];</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break;		</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}END{</a:t>
            </a: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print click_user_num;</a:t>
            </a:r>
            <a:endParaRPr lang="zh-CN" altLang="en-US" sz="1400" i="1" dirty="0" smtClean="0">
              <a:solidFill>
                <a:srgbClr val="FF0000"/>
              </a:solidFill>
              <a:latin typeface="Arial" panose="020B0604020202020204" pitchFamily="34" charset="0"/>
            </a:endParaRPr>
          </a:p>
          <a:p>
            <a:pPr fontAlgn="base">
              <a:lnSpc>
                <a:spcPct val="140000"/>
              </a:lnSpc>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 ${file}</a:t>
            </a:r>
          </a:p>
        </p:txBody>
      </p:sp>
      <p:sp>
        <p:nvSpPr>
          <p:cNvPr id="11" name="Text Box 6"/>
          <p:cNvSpPr txBox="1">
            <a:spLocks noChangeArrowheads="1"/>
          </p:cNvSpPr>
          <p:nvPr/>
        </p:nvSpPr>
        <p:spPr bwMode="auto">
          <a:xfrm>
            <a:off x="1330415" y="1690690"/>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6、一个实例</a:t>
            </a:r>
            <a:endParaRPr lang="zh-CN" altLang="en-US" dirty="0" smtClean="0">
              <a:solidFill>
                <a:srgbClr val="000000"/>
              </a:solidFill>
              <a:latin typeface="Arial" panose="020B0604020202020204" pitchFamily="34" charset="0"/>
            </a:endParaRPr>
          </a:p>
        </p:txBody>
      </p:sp>
      <p:sp>
        <p:nvSpPr>
          <p:cNvPr id="12" name="Text Box 7"/>
          <p:cNvSpPr txBox="1">
            <a:spLocks noChangeArrowheads="1"/>
          </p:cNvSpPr>
          <p:nvPr/>
        </p:nvSpPr>
        <p:spPr bwMode="auto">
          <a:xfrm>
            <a:off x="1363753" y="2098677"/>
            <a:ext cx="3529012"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333399"/>
                </a:solidFill>
                <a:latin typeface="Arial" panose="020B0604020202020204" pitchFamily="34" charset="0"/>
              </a:rPr>
              <a:t>需求：统计点击应用推荐的用户数</a:t>
            </a:r>
          </a:p>
          <a:p>
            <a:pPr fontAlgn="base">
              <a:spcBef>
                <a:spcPct val="0"/>
              </a:spcBef>
              <a:spcAft>
                <a:spcPct val="0"/>
              </a:spcAft>
              <a:buFont typeface="Arial" panose="020B0604020202020204" pitchFamily="34" charset="0"/>
              <a:buNone/>
            </a:pPr>
            <a:endParaRPr lang="zh-CN" altLang="en-US" sz="1400" dirty="0" smtClean="0">
              <a:solidFill>
                <a:srgbClr val="333399"/>
              </a:solidFill>
              <a:latin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333399"/>
                </a:solidFill>
                <a:latin typeface="Arial" panose="020B0604020202020204" pitchFamily="34" charset="0"/>
              </a:rPr>
              <a:t>文件file格式为：</a:t>
            </a:r>
            <a:r>
              <a:rPr lang="zh-CN" altLang="en-US" sz="1400" i="1" dirty="0" smtClean="0">
                <a:solidFill>
                  <a:srgbClr val="333399"/>
                </a:solidFill>
                <a:latin typeface="Arial" panose="020B0604020202020204" pitchFamily="34" charset="0"/>
              </a:rPr>
              <a:t>110:138:86|111:7:5|</a:t>
            </a:r>
            <a:r>
              <a:rPr lang="zh-CN" altLang="en-US" sz="1400" b="1" i="1" dirty="0" smtClean="0">
                <a:solidFill>
                  <a:srgbClr val="333399"/>
                </a:solidFill>
                <a:latin typeface="Arial" panose="020B0604020202020204" pitchFamily="34" charset="0"/>
              </a:rPr>
              <a:t>321</a:t>
            </a:r>
            <a:r>
              <a:rPr lang="zh-CN" altLang="en-US" sz="1400" i="1" dirty="0" smtClean="0">
                <a:solidFill>
                  <a:srgbClr val="333399"/>
                </a:solidFill>
                <a:latin typeface="Arial" panose="020B0604020202020204" pitchFamily="34" charset="0"/>
              </a:rPr>
              <a:t>:6:6|9:72:62|113:27:23|...</a:t>
            </a:r>
          </a:p>
          <a:p>
            <a:pPr marL="285750" indent="-285750" fontAlgn="base">
              <a:spcBef>
                <a:spcPct val="0"/>
              </a:spcBef>
              <a:spcAft>
                <a:spcPct val="0"/>
              </a:spcAft>
              <a:buSzPct val="100000"/>
              <a:buFont typeface="Wingdings" panose="05000000000000000000" pitchFamily="2" charset="2"/>
              <a:buChar char="ü"/>
            </a:pPr>
            <a:endParaRPr lang="zh-CN" altLang="en-US" sz="1400" dirty="0" smtClean="0">
              <a:solidFill>
                <a:srgbClr val="333399"/>
              </a:solidFill>
              <a:latin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333399"/>
                </a:solidFill>
                <a:latin typeface="Arial" panose="020B0604020202020204" pitchFamily="34" charset="0"/>
              </a:rPr>
              <a:t>格式含义如下：</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行为ID:点击次数:点击用户数</a:t>
            </a:r>
          </a:p>
        </p:txBody>
      </p:sp>
    </p:spTree>
    <p:extLst>
      <p:ext uri="{BB962C8B-B14F-4D97-AF65-F5344CB8AC3E}">
        <p14:creationId xmlns:p14="http://schemas.microsoft.com/office/powerpoint/2010/main" val="404116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blinds(horizontal)">
                                      <p:cBhvr>
                                        <p:cTn id="12" dur="500"/>
                                        <p:tgtEl>
                                          <p:spTgt spid="12">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blinds(horizontal)">
                                      <p:cBhvr>
                                        <p:cTn id="15" dur="500"/>
                                        <p:tgtEl>
                                          <p:spTgt spid="12">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xEl>
                                              <p:pRg st="4" end="4"/>
                                            </p:txEl>
                                          </p:spTgt>
                                        </p:tgtEl>
                                        <p:attrNameLst>
                                          <p:attrName>style.visibility</p:attrName>
                                        </p:attrNameLst>
                                      </p:cBhvr>
                                      <p:to>
                                        <p:strVal val="visible"/>
                                      </p:to>
                                    </p:set>
                                    <p:animEffect transition="in" filter="blinds(horizontal)">
                                      <p:cBhvr>
                                        <p:cTn id="18" dur="500"/>
                                        <p:tgtEl>
                                          <p:spTgt spid="12">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animEffect transition="in" filter="blinds(horizontal)">
                                      <p:cBhvr>
                                        <p:cTn id="21" dur="500"/>
                                        <p:tgtEl>
                                          <p:spTgt spid="12">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blinds(horizontal)">
                                      <p:cBhvr>
                                        <p:cTn id="26" dur="500"/>
                                        <p:tgtEl>
                                          <p:spTgt spid="10">
                                            <p:txEl>
                                              <p:pRg st="0" end="0"/>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Effect transition="in" filter="blinds(horizontal)">
                                      <p:cBhvr>
                                        <p:cTn id="29" dur="500"/>
                                        <p:tgtEl>
                                          <p:spTgt spid="10">
                                            <p:txEl>
                                              <p:pRg st="1" end="1"/>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blinds(horizontal)">
                                      <p:cBhvr>
                                        <p:cTn id="32" dur="500"/>
                                        <p:tgtEl>
                                          <p:spTgt spid="10">
                                            <p:txEl>
                                              <p:pRg st="2" end="2"/>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Effect transition="in" filter="blinds(horizontal)">
                                      <p:cBhvr>
                                        <p:cTn id="35" dur="500"/>
                                        <p:tgtEl>
                                          <p:spTgt spid="10">
                                            <p:txEl>
                                              <p:pRg st="3" end="3"/>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0">
                                            <p:txEl>
                                              <p:pRg st="4" end="4"/>
                                            </p:txEl>
                                          </p:spTgt>
                                        </p:tgtEl>
                                        <p:attrNameLst>
                                          <p:attrName>style.visibility</p:attrName>
                                        </p:attrNameLst>
                                      </p:cBhvr>
                                      <p:to>
                                        <p:strVal val="visible"/>
                                      </p:to>
                                    </p:set>
                                    <p:animEffect transition="in" filter="blinds(horizontal)">
                                      <p:cBhvr>
                                        <p:cTn id="38" dur="500"/>
                                        <p:tgtEl>
                                          <p:spTgt spid="10">
                                            <p:txEl>
                                              <p:pRg st="4" end="4"/>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0">
                                            <p:txEl>
                                              <p:pRg st="5" end="5"/>
                                            </p:txEl>
                                          </p:spTgt>
                                        </p:tgtEl>
                                        <p:attrNameLst>
                                          <p:attrName>style.visibility</p:attrName>
                                        </p:attrNameLst>
                                      </p:cBhvr>
                                      <p:to>
                                        <p:strVal val="visible"/>
                                      </p:to>
                                    </p:set>
                                    <p:animEffect transition="in" filter="blinds(horizontal)">
                                      <p:cBhvr>
                                        <p:cTn id="41" dur="500"/>
                                        <p:tgtEl>
                                          <p:spTgt spid="10">
                                            <p:txEl>
                                              <p:pRg st="5" end="5"/>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10">
                                            <p:txEl>
                                              <p:pRg st="6" end="6"/>
                                            </p:txEl>
                                          </p:spTgt>
                                        </p:tgtEl>
                                        <p:attrNameLst>
                                          <p:attrName>style.visibility</p:attrName>
                                        </p:attrNameLst>
                                      </p:cBhvr>
                                      <p:to>
                                        <p:strVal val="visible"/>
                                      </p:to>
                                    </p:set>
                                    <p:animEffect transition="in" filter="blinds(horizontal)">
                                      <p:cBhvr>
                                        <p:cTn id="44" dur="500"/>
                                        <p:tgtEl>
                                          <p:spTgt spid="10">
                                            <p:txEl>
                                              <p:pRg st="6" end="6"/>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10">
                                            <p:txEl>
                                              <p:pRg st="7" end="7"/>
                                            </p:txEl>
                                          </p:spTgt>
                                        </p:tgtEl>
                                        <p:attrNameLst>
                                          <p:attrName>style.visibility</p:attrName>
                                        </p:attrNameLst>
                                      </p:cBhvr>
                                      <p:to>
                                        <p:strVal val="visible"/>
                                      </p:to>
                                    </p:set>
                                    <p:animEffect transition="in" filter="blinds(horizontal)">
                                      <p:cBhvr>
                                        <p:cTn id="47" dur="500"/>
                                        <p:tgtEl>
                                          <p:spTgt spid="10">
                                            <p:txEl>
                                              <p:pRg st="7" end="7"/>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10">
                                            <p:txEl>
                                              <p:pRg st="8" end="8"/>
                                            </p:txEl>
                                          </p:spTgt>
                                        </p:tgtEl>
                                        <p:attrNameLst>
                                          <p:attrName>style.visibility</p:attrName>
                                        </p:attrNameLst>
                                      </p:cBhvr>
                                      <p:to>
                                        <p:strVal val="visible"/>
                                      </p:to>
                                    </p:set>
                                    <p:animEffect transition="in" filter="blinds(horizontal)">
                                      <p:cBhvr>
                                        <p:cTn id="50" dur="500"/>
                                        <p:tgtEl>
                                          <p:spTgt spid="10">
                                            <p:txEl>
                                              <p:pRg st="8" end="8"/>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10">
                                            <p:txEl>
                                              <p:pRg st="9" end="9"/>
                                            </p:txEl>
                                          </p:spTgt>
                                        </p:tgtEl>
                                        <p:attrNameLst>
                                          <p:attrName>style.visibility</p:attrName>
                                        </p:attrNameLst>
                                      </p:cBhvr>
                                      <p:to>
                                        <p:strVal val="visible"/>
                                      </p:to>
                                    </p:set>
                                    <p:animEffect transition="in" filter="blinds(horizontal)">
                                      <p:cBhvr>
                                        <p:cTn id="53" dur="500"/>
                                        <p:tgtEl>
                                          <p:spTgt spid="10">
                                            <p:txEl>
                                              <p:pRg st="9" end="9"/>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10">
                                            <p:txEl>
                                              <p:pRg st="10" end="10"/>
                                            </p:txEl>
                                          </p:spTgt>
                                        </p:tgtEl>
                                        <p:attrNameLst>
                                          <p:attrName>style.visibility</p:attrName>
                                        </p:attrNameLst>
                                      </p:cBhvr>
                                      <p:to>
                                        <p:strVal val="visible"/>
                                      </p:to>
                                    </p:set>
                                    <p:animEffect transition="in" filter="blinds(horizontal)">
                                      <p:cBhvr>
                                        <p:cTn id="56" dur="500"/>
                                        <p:tgtEl>
                                          <p:spTgt spid="10">
                                            <p:txEl>
                                              <p:pRg st="10" end="10"/>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10">
                                            <p:txEl>
                                              <p:pRg st="11" end="11"/>
                                            </p:txEl>
                                          </p:spTgt>
                                        </p:tgtEl>
                                        <p:attrNameLst>
                                          <p:attrName>style.visibility</p:attrName>
                                        </p:attrNameLst>
                                      </p:cBhvr>
                                      <p:to>
                                        <p:strVal val="visible"/>
                                      </p:to>
                                    </p:set>
                                    <p:animEffect transition="in" filter="blinds(horizontal)">
                                      <p:cBhvr>
                                        <p:cTn id="59" dur="500"/>
                                        <p:tgtEl>
                                          <p:spTgt spid="10">
                                            <p:txEl>
                                              <p:pRg st="11" end="11"/>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0">
                                            <p:txEl>
                                              <p:pRg st="12" end="12"/>
                                            </p:txEl>
                                          </p:spTgt>
                                        </p:tgtEl>
                                        <p:attrNameLst>
                                          <p:attrName>style.visibility</p:attrName>
                                        </p:attrNameLst>
                                      </p:cBhvr>
                                      <p:to>
                                        <p:strVal val="visible"/>
                                      </p:to>
                                    </p:set>
                                    <p:animEffect transition="in" filter="blinds(horizontal)">
                                      <p:cBhvr>
                                        <p:cTn id="62" dur="500"/>
                                        <p:tgtEl>
                                          <p:spTgt spid="10">
                                            <p:txEl>
                                              <p:pRg st="12" end="12"/>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10">
                                            <p:txEl>
                                              <p:pRg st="13" end="13"/>
                                            </p:txEl>
                                          </p:spTgt>
                                        </p:tgtEl>
                                        <p:attrNameLst>
                                          <p:attrName>style.visibility</p:attrName>
                                        </p:attrNameLst>
                                      </p:cBhvr>
                                      <p:to>
                                        <p:strVal val="visible"/>
                                      </p:to>
                                    </p:set>
                                    <p:animEffect transition="in" filter="blinds(horizontal)">
                                      <p:cBhvr>
                                        <p:cTn id="65" dur="500"/>
                                        <p:tgtEl>
                                          <p:spTgt spid="10">
                                            <p:txEl>
                                              <p:pRg st="13" end="13"/>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10">
                                            <p:txEl>
                                              <p:pRg st="14" end="14"/>
                                            </p:txEl>
                                          </p:spTgt>
                                        </p:tgtEl>
                                        <p:attrNameLst>
                                          <p:attrName>style.visibility</p:attrName>
                                        </p:attrNameLst>
                                      </p:cBhvr>
                                      <p:to>
                                        <p:strVal val="visible"/>
                                      </p:to>
                                    </p:set>
                                    <p:animEffect transition="in" filter="blinds(horizontal)">
                                      <p:cBhvr>
                                        <p:cTn id="68" dur="500"/>
                                        <p:tgtEl>
                                          <p:spTgt spid="10">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sed</a:t>
            </a:r>
            <a:endParaRPr lang="zh-CN" altLang="en-US" dirty="0"/>
          </a:p>
        </p:txBody>
      </p:sp>
      <p:sp>
        <p:nvSpPr>
          <p:cNvPr id="13" name="Text Box 2"/>
          <p:cNvSpPr txBox="1">
            <a:spLocks noChangeArrowheads="1"/>
          </p:cNvSpPr>
          <p:nvPr/>
        </p:nvSpPr>
        <p:spPr bwMode="auto">
          <a:xfrm>
            <a:off x="2071083" y="3683002"/>
            <a:ext cx="316865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b="1" smtClean="0">
                <a:solidFill>
                  <a:srgbClr val="0000FF"/>
                </a:solidFill>
                <a:latin typeface="Arial" panose="020B0604020202020204" pitchFamily="34" charset="0"/>
              </a:rPr>
              <a:t>sed选项</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-n：关闭默认输出</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-r：支持扩展正则+ ? () {} |</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-i：修改原文件，慎用！</a:t>
            </a:r>
          </a:p>
        </p:txBody>
      </p:sp>
      <p:sp>
        <p:nvSpPr>
          <p:cNvPr id="14" name="Text Box 3"/>
          <p:cNvSpPr txBox="1">
            <a:spLocks noChangeArrowheads="1"/>
          </p:cNvSpPr>
          <p:nvPr/>
        </p:nvSpPr>
        <p:spPr bwMode="auto">
          <a:xfrm>
            <a:off x="2071083" y="4835527"/>
            <a:ext cx="7343775" cy="1401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b="1" smtClean="0">
                <a:solidFill>
                  <a:srgbClr val="0000FF"/>
                </a:solidFill>
                <a:latin typeface="Arial" panose="020B0604020202020204" pitchFamily="34" charset="0"/>
              </a:rPr>
              <a:t>sed定址</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$：表示文件最后一行</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0个：没有定址，所有行</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1个：行号，处理行号所在位置的行</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2个：行号、正则表达式，处理被行号或正则表达式包起来的行</a:t>
            </a:r>
          </a:p>
          <a:p>
            <a:pPr fontAlgn="base">
              <a:spcBef>
                <a:spcPct val="0"/>
              </a:spcBef>
              <a:spcAft>
                <a:spcPct val="0"/>
              </a:spcAft>
              <a:buFont typeface="Arial" panose="020B0604020202020204" pitchFamily="34" charset="0"/>
              <a:buNone/>
            </a:pPr>
            <a:endParaRPr lang="zh-CN" altLang="en-US" sz="1400" smtClean="0">
              <a:solidFill>
                <a:srgbClr val="333399"/>
              </a:solidFill>
              <a:latin typeface="Arial" panose="020B0604020202020204" pitchFamily="34" charset="0"/>
            </a:endParaRPr>
          </a:p>
        </p:txBody>
      </p:sp>
      <p:sp>
        <p:nvSpPr>
          <p:cNvPr id="15" name="Text Box 4"/>
          <p:cNvSpPr txBox="1">
            <a:spLocks noChangeArrowheads="1"/>
          </p:cNvSpPr>
          <p:nvPr/>
        </p:nvSpPr>
        <p:spPr bwMode="auto">
          <a:xfrm>
            <a:off x="5481033" y="3683002"/>
            <a:ext cx="3922713" cy="174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b="1" smtClean="0">
                <a:solidFill>
                  <a:srgbClr val="0000FF"/>
                </a:solidFill>
                <a:latin typeface="Arial" panose="020B0604020202020204" pitchFamily="34" charset="0"/>
              </a:rPr>
              <a:t>sed命令</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p：打印行</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d：删除行</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s：替换</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w：另存为</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a：当前行后添加一行</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i：在当前行上面插入文本</a:t>
            </a:r>
          </a:p>
        </p:txBody>
      </p:sp>
      <p:sp>
        <p:nvSpPr>
          <p:cNvPr id="16" name="Text Box 8"/>
          <p:cNvSpPr txBox="1">
            <a:spLocks noChangeArrowheads="1"/>
          </p:cNvSpPr>
          <p:nvPr/>
        </p:nvSpPr>
        <p:spPr bwMode="auto">
          <a:xfrm>
            <a:off x="2109183" y="1166815"/>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1、sed简介</a:t>
            </a:r>
          </a:p>
        </p:txBody>
      </p:sp>
      <p:sp>
        <p:nvSpPr>
          <p:cNvPr id="17" name="Text Box 9"/>
          <p:cNvSpPr txBox="1">
            <a:spLocks noChangeArrowheads="1"/>
          </p:cNvSpPr>
          <p:nvPr/>
        </p:nvSpPr>
        <p:spPr bwMode="auto">
          <a:xfrm>
            <a:off x="2177446" y="1538290"/>
            <a:ext cx="78136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sed用来对文本进行过滤与替换，一次仅读取一行内容。</a:t>
            </a:r>
          </a:p>
        </p:txBody>
      </p:sp>
      <p:sp>
        <p:nvSpPr>
          <p:cNvPr id="18" name="Text Box 10"/>
          <p:cNvSpPr txBox="1">
            <a:spLocks noChangeArrowheads="1"/>
          </p:cNvSpPr>
          <p:nvPr/>
        </p:nvSpPr>
        <p:spPr bwMode="auto">
          <a:xfrm>
            <a:off x="2088546" y="1963740"/>
            <a:ext cx="242887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2、sed工作原理</a:t>
            </a:r>
          </a:p>
        </p:txBody>
      </p:sp>
      <p:sp>
        <p:nvSpPr>
          <p:cNvPr id="19" name="Text Box 11"/>
          <p:cNvSpPr txBox="1">
            <a:spLocks noChangeArrowheads="1"/>
          </p:cNvSpPr>
          <p:nvPr/>
        </p:nvSpPr>
        <p:spPr bwMode="auto">
          <a:xfrm>
            <a:off x="2129821" y="2276477"/>
            <a:ext cx="7573962"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sed把当前行存储在临时缓冲区中(称为“模式空间”)，用sed命令处理缓冲区中的内容，处理完成后，把缓冲区的内容送往屏幕。</a:t>
            </a:r>
          </a:p>
        </p:txBody>
      </p:sp>
      <p:sp>
        <p:nvSpPr>
          <p:cNvPr id="20" name="Text Box 12"/>
          <p:cNvSpPr txBox="1">
            <a:spLocks noChangeArrowheads="1"/>
          </p:cNvSpPr>
          <p:nvPr/>
        </p:nvSpPr>
        <p:spPr bwMode="auto">
          <a:xfrm>
            <a:off x="2071083" y="2994027"/>
            <a:ext cx="352901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3、sed语法</a:t>
            </a:r>
          </a:p>
        </p:txBody>
      </p:sp>
      <p:sp>
        <p:nvSpPr>
          <p:cNvPr id="21" name="Text Box 13"/>
          <p:cNvSpPr txBox="1">
            <a:spLocks noChangeArrowheads="1"/>
          </p:cNvSpPr>
          <p:nvPr/>
        </p:nvSpPr>
        <p:spPr bwMode="auto">
          <a:xfrm>
            <a:off x="2071083" y="3308352"/>
            <a:ext cx="5400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zh-CN" sz="1400" i="1" smtClean="0">
                <a:solidFill>
                  <a:srgbClr val="FF0000"/>
                </a:solidFill>
                <a:latin typeface="Arial" panose="020B0604020202020204" pitchFamily="34" charset="0"/>
              </a:rPr>
              <a:t>sed [选项]  [定址commands] [inputfile]</a:t>
            </a:r>
          </a:p>
        </p:txBody>
      </p:sp>
    </p:spTree>
    <p:extLst>
      <p:ext uri="{BB962C8B-B14F-4D97-AF65-F5344CB8AC3E}">
        <p14:creationId xmlns:p14="http://schemas.microsoft.com/office/powerpoint/2010/main" val="221130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linds(horizontal)">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linds(horizontal)">
                                      <p:cBhvr>
                                        <p:cTn id="23" dur="500"/>
                                        <p:tgtEl>
                                          <p:spTgt spid="2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blinds(horizontal)">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animEffect transition="in" filter="blinds(horizontal)">
                                      <p:cBhvr>
                                        <p:cTn id="36" dur="500"/>
                                        <p:tgtEl>
                                          <p:spTgt spid="15">
                                            <p:txEl>
                                              <p:pRg st="0" end="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animEffect transition="in" filter="blinds(horizontal)">
                                      <p:cBhvr>
                                        <p:cTn id="39" dur="500"/>
                                        <p:tgtEl>
                                          <p:spTgt spid="15">
                                            <p:txEl>
                                              <p:pRg st="1" end="1"/>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blinds(horizontal)">
                                      <p:cBhvr>
                                        <p:cTn id="42" dur="500"/>
                                        <p:tgtEl>
                                          <p:spTgt spid="15">
                                            <p:txEl>
                                              <p:pRg st="2" end="2"/>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5">
                                            <p:txEl>
                                              <p:pRg st="3" end="3"/>
                                            </p:txEl>
                                          </p:spTgt>
                                        </p:tgtEl>
                                        <p:attrNameLst>
                                          <p:attrName>style.visibility</p:attrName>
                                        </p:attrNameLst>
                                      </p:cBhvr>
                                      <p:to>
                                        <p:strVal val="visible"/>
                                      </p:to>
                                    </p:set>
                                    <p:animEffect transition="in" filter="blinds(horizontal)">
                                      <p:cBhvr>
                                        <p:cTn id="45" dur="500"/>
                                        <p:tgtEl>
                                          <p:spTgt spid="15">
                                            <p:txEl>
                                              <p:pRg st="3" end="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5">
                                            <p:txEl>
                                              <p:pRg st="4" end="4"/>
                                            </p:txEl>
                                          </p:spTgt>
                                        </p:tgtEl>
                                        <p:attrNameLst>
                                          <p:attrName>style.visibility</p:attrName>
                                        </p:attrNameLst>
                                      </p:cBhvr>
                                      <p:to>
                                        <p:strVal val="visible"/>
                                      </p:to>
                                    </p:set>
                                    <p:animEffect transition="in" filter="blinds(horizontal)">
                                      <p:cBhvr>
                                        <p:cTn id="48" dur="500"/>
                                        <p:tgtEl>
                                          <p:spTgt spid="15">
                                            <p:txEl>
                                              <p:pRg st="4" end="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15">
                                            <p:txEl>
                                              <p:pRg st="5" end="5"/>
                                            </p:txEl>
                                          </p:spTgt>
                                        </p:tgtEl>
                                        <p:attrNameLst>
                                          <p:attrName>style.visibility</p:attrName>
                                        </p:attrNameLst>
                                      </p:cBhvr>
                                      <p:to>
                                        <p:strVal val="visible"/>
                                      </p:to>
                                    </p:set>
                                    <p:animEffect transition="in" filter="blinds(horizontal)">
                                      <p:cBhvr>
                                        <p:cTn id="51" dur="500"/>
                                        <p:tgtEl>
                                          <p:spTgt spid="15">
                                            <p:txEl>
                                              <p:pRg st="5" end="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5">
                                            <p:txEl>
                                              <p:pRg st="6" end="6"/>
                                            </p:txEl>
                                          </p:spTgt>
                                        </p:tgtEl>
                                        <p:attrNameLst>
                                          <p:attrName>style.visibility</p:attrName>
                                        </p:attrNameLst>
                                      </p:cBhvr>
                                      <p:to>
                                        <p:strVal val="visible"/>
                                      </p:to>
                                    </p:set>
                                    <p:animEffect transition="in" filter="blinds(horizontal)">
                                      <p:cBhvr>
                                        <p:cTn id="54" dur="500"/>
                                        <p:tgtEl>
                                          <p:spTgt spid="15">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4">
                                            <p:txEl>
                                              <p:pRg st="0" end="0"/>
                                            </p:txEl>
                                          </p:spTgt>
                                        </p:tgtEl>
                                        <p:attrNameLst>
                                          <p:attrName>style.visibility</p:attrName>
                                        </p:attrNameLst>
                                      </p:cBhvr>
                                      <p:to>
                                        <p:strVal val="visible"/>
                                      </p:to>
                                    </p:set>
                                    <p:animEffect transition="in" filter="blinds(horizontal)">
                                      <p:cBhvr>
                                        <p:cTn id="59" dur="500"/>
                                        <p:tgtEl>
                                          <p:spTgt spid="14">
                                            <p:txEl>
                                              <p:pRg st="0" end="0"/>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4">
                                            <p:txEl>
                                              <p:pRg st="1" end="1"/>
                                            </p:txEl>
                                          </p:spTgt>
                                        </p:tgtEl>
                                        <p:attrNameLst>
                                          <p:attrName>style.visibility</p:attrName>
                                        </p:attrNameLst>
                                      </p:cBhvr>
                                      <p:to>
                                        <p:strVal val="visible"/>
                                      </p:to>
                                    </p:set>
                                    <p:animEffect transition="in" filter="blinds(horizontal)">
                                      <p:cBhvr>
                                        <p:cTn id="62" dur="500"/>
                                        <p:tgtEl>
                                          <p:spTgt spid="14">
                                            <p:txEl>
                                              <p:pRg st="1" end="1"/>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14">
                                            <p:txEl>
                                              <p:pRg st="2" end="2"/>
                                            </p:txEl>
                                          </p:spTgt>
                                        </p:tgtEl>
                                        <p:attrNameLst>
                                          <p:attrName>style.visibility</p:attrName>
                                        </p:attrNameLst>
                                      </p:cBhvr>
                                      <p:to>
                                        <p:strVal val="visible"/>
                                      </p:to>
                                    </p:set>
                                    <p:animEffect transition="in" filter="blinds(horizontal)">
                                      <p:cBhvr>
                                        <p:cTn id="65" dur="500"/>
                                        <p:tgtEl>
                                          <p:spTgt spid="14">
                                            <p:txEl>
                                              <p:pRg st="2" end="2"/>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14">
                                            <p:txEl>
                                              <p:pRg st="3" end="3"/>
                                            </p:txEl>
                                          </p:spTgt>
                                        </p:tgtEl>
                                        <p:attrNameLst>
                                          <p:attrName>style.visibility</p:attrName>
                                        </p:attrNameLst>
                                      </p:cBhvr>
                                      <p:to>
                                        <p:strVal val="visible"/>
                                      </p:to>
                                    </p:set>
                                    <p:animEffect transition="in" filter="blinds(horizontal)">
                                      <p:cBhvr>
                                        <p:cTn id="68" dur="500"/>
                                        <p:tgtEl>
                                          <p:spTgt spid="14">
                                            <p:txEl>
                                              <p:pRg st="3" end="3"/>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14">
                                            <p:txEl>
                                              <p:pRg st="4" end="4"/>
                                            </p:txEl>
                                          </p:spTgt>
                                        </p:tgtEl>
                                        <p:attrNameLst>
                                          <p:attrName>style.visibility</p:attrName>
                                        </p:attrNameLst>
                                      </p:cBhvr>
                                      <p:to>
                                        <p:strVal val="visible"/>
                                      </p:to>
                                    </p:set>
                                    <p:animEffect transition="in" filter="blinds(horizontal)">
                                      <p:cBhvr>
                                        <p:cTn id="71"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utoUpdateAnimBg="0"/>
      <p:bldP spid="16" grpId="0" bldLvl="0" autoUpdateAnimBg="0"/>
      <p:bldP spid="17" grpId="0" bldLvl="0" autoUpdateAnimBg="0"/>
      <p:bldP spid="18" grpId="0" bldLvl="0" autoUpdateAnimBg="0"/>
      <p:bldP spid="19" grpId="0" bldLvl="0" autoUpdateAnimBg="0"/>
      <p:bldP spid="20" grpId="0" bldLvl="0" autoUpdateAnimBg="0"/>
      <p:bldP spid="21" grpId="0" bldLvl="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sed</a:t>
            </a:r>
            <a:endParaRPr lang="zh-CN" altLang="en-US" dirty="0"/>
          </a:p>
        </p:txBody>
      </p:sp>
      <p:sp>
        <p:nvSpPr>
          <p:cNvPr id="6" name="Text Box 3"/>
          <p:cNvSpPr txBox="1">
            <a:spLocks noChangeArrowheads="1"/>
          </p:cNvSpPr>
          <p:nvPr/>
        </p:nvSpPr>
        <p:spPr bwMode="auto">
          <a:xfrm>
            <a:off x="2037187" y="1520827"/>
            <a:ext cx="77041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0000FF"/>
                </a:solidFill>
                <a:latin typeface="Arial" panose="020B0604020202020204" pitchFamily="34" charset="0"/>
              </a:rPr>
              <a:t>删除命令：d命令</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'2d' file </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 删除file文件的第二行</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'2,$d'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删除file文件的第二行到末尾所有行</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'$d'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删除file文件的最后一行</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'/test/d'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删除file文件所有包含test的行</a:t>
            </a:r>
          </a:p>
          <a:p>
            <a:pPr fontAlgn="base">
              <a:spcBef>
                <a:spcPct val="0"/>
              </a:spcBef>
              <a:spcAft>
                <a:spcPct val="0"/>
              </a:spcAft>
              <a:buSzPct val="100000"/>
              <a:buFont typeface="Wingdings" panose="05000000000000000000" pitchFamily="2" charset="2"/>
              <a:buNone/>
            </a:pPr>
            <a:endParaRPr lang="zh-CN" altLang="en-US" sz="1400" i="1" dirty="0" smtClean="0">
              <a:solidFill>
                <a:srgbClr val="333399"/>
              </a:solidFill>
              <a:latin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0000FF"/>
                </a:solidFill>
                <a:latin typeface="Arial" panose="020B0604020202020204" pitchFamily="34" charset="0"/>
              </a:rPr>
              <a:t>选定行的范围：逗号</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-n '/test/,/check/p' file 	</a:t>
            </a:r>
            <a:r>
              <a:rPr lang="zh-CN" altLang="en-US" sz="1400" i="1" dirty="0" smtClean="0">
                <a:solidFill>
                  <a:srgbClr val="333399"/>
                </a:solidFill>
                <a:latin typeface="Arial" panose="020B0604020202020204" pitchFamily="34" charset="0"/>
              </a:rPr>
              <a:t># 打印所有在模板test和check所确定的范围内的行</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-n '5,/^test/p' file		</a:t>
            </a:r>
            <a:r>
              <a:rPr lang="zh-CN" altLang="en-US" sz="1400" i="1" dirty="0" smtClean="0">
                <a:solidFill>
                  <a:srgbClr val="333399"/>
                </a:solidFill>
                <a:latin typeface="Arial" panose="020B0604020202020204" pitchFamily="34" charset="0"/>
              </a:rPr>
              <a:t># 打印从第五行到第一个包含以test开始的行之间的所有行</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'/test/,/love/s/$/xxx/'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对于模板test和love之间的行，每行的末尾用xxx替换</a:t>
            </a:r>
          </a:p>
          <a:p>
            <a:pPr fontAlgn="base">
              <a:spcBef>
                <a:spcPct val="0"/>
              </a:spcBef>
              <a:spcAft>
                <a:spcPct val="0"/>
              </a:spcAft>
              <a:buSzPct val="100000"/>
              <a:buFont typeface="Wingdings" panose="05000000000000000000" pitchFamily="2" charset="2"/>
              <a:buNone/>
            </a:pPr>
            <a:endParaRPr lang="zh-CN" altLang="en-US" sz="1400" i="1" dirty="0" smtClean="0">
              <a:solidFill>
                <a:srgbClr val="333399"/>
              </a:solidFill>
              <a:latin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0000FF"/>
                </a:solidFill>
                <a:latin typeface="Arial" panose="020B0604020202020204" pitchFamily="34" charset="0"/>
              </a:rPr>
              <a:t>替换：s命令</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's/test/xxx/g'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把行中所有的test替换为xxx；若无g，则只替换第一个</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-n -r 's/(love)ab/1rs/' file</a:t>
            </a:r>
            <a:r>
              <a:rPr lang="zh-CN" altLang="en-US" sz="1400" i="1" dirty="0" smtClean="0">
                <a:solidFill>
                  <a:srgbClr val="333399"/>
                </a:solidFill>
                <a:latin typeface="Arial" panose="020B0604020202020204" pitchFamily="34" charset="0"/>
              </a:rPr>
              <a:t> 	# love被标记为1，所有loveab会被替换成lovers</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sed 's#10#100#g' file</a:t>
            </a:r>
            <a:r>
              <a:rPr lang="zh-CN" altLang="en-US" sz="1400" i="1" dirty="0" smtClean="0">
                <a:solidFill>
                  <a:srgbClr val="333399"/>
                </a:solidFill>
                <a:latin typeface="Arial" panose="020B0604020202020204" pitchFamily="34" charset="0"/>
              </a:rPr>
              <a:t> 	# “#”紧跟s后，是分隔符，代替了默认的“/”分隔符</a:t>
            </a:r>
          </a:p>
          <a:p>
            <a:pPr fontAlgn="base">
              <a:spcBef>
                <a:spcPct val="0"/>
              </a:spcBef>
              <a:spcAft>
                <a:spcPct val="0"/>
              </a:spcAft>
              <a:buSzPct val="100000"/>
              <a:buFont typeface="Wingdings" panose="05000000000000000000" pitchFamily="2" charset="2"/>
              <a:buNone/>
            </a:pPr>
            <a:endParaRPr lang="zh-CN" altLang="en-US" sz="1400" i="1" dirty="0" smtClean="0">
              <a:solidFill>
                <a:srgbClr val="333399"/>
              </a:solidFill>
              <a:latin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0000FF"/>
                </a:solidFill>
                <a:latin typeface="Arial" panose="020B0604020202020204" pitchFamily="34" charset="0"/>
                <a:sym typeface="Arial" panose="020B0604020202020204" pitchFamily="34" charset="0"/>
              </a:rPr>
              <a:t>追加命令：a命令</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a:t>
            </a:r>
            <a:r>
              <a:rPr lang="zh-CN" altLang="en-US" sz="1400" dirty="0" smtClean="0">
                <a:solidFill>
                  <a:srgbClr val="FF0000"/>
                </a:solidFill>
                <a:latin typeface="Arial" panose="020B0604020202020204" pitchFamily="34" charset="0"/>
              </a:rPr>
              <a:t> sed '/^test/axxxx' file</a:t>
            </a:r>
            <a:r>
              <a:rPr lang="zh-CN" altLang="en-US" sz="1400" dirty="0" smtClean="0">
                <a:solidFill>
                  <a:srgbClr val="000000"/>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在以test开头的行后插入新行xxxx</a:t>
            </a:r>
          </a:p>
          <a:p>
            <a:pPr fontAlgn="base">
              <a:spcBef>
                <a:spcPct val="0"/>
              </a:spcBef>
              <a:spcAft>
                <a:spcPct val="0"/>
              </a:spcAft>
              <a:buSzPct val="100000"/>
              <a:buFont typeface="Wingdings" panose="05000000000000000000" pitchFamily="2" charset="2"/>
              <a:buNone/>
            </a:pPr>
            <a:endParaRPr lang="zh-CN" altLang="en-US" sz="1400" i="1" dirty="0" smtClean="0">
              <a:solidFill>
                <a:srgbClr val="333399"/>
              </a:solidFill>
              <a:latin typeface="Arial" panose="020B0604020202020204" pitchFamily="34" charset="0"/>
              <a:sym typeface="Arial" panose="020B0604020202020204" pitchFamily="34" charset="0"/>
            </a:endParaRPr>
          </a:p>
          <a:p>
            <a:pPr marL="285750" indent="-285750" fontAlgn="base">
              <a:spcBef>
                <a:spcPct val="0"/>
              </a:spcBef>
              <a:spcAft>
                <a:spcPct val="0"/>
              </a:spcAft>
              <a:buSzPct val="100000"/>
              <a:buFont typeface="Wingdings" panose="05000000000000000000" pitchFamily="2" charset="2"/>
              <a:buChar char="ü"/>
            </a:pPr>
            <a:r>
              <a:rPr lang="zh-CN" altLang="en-US" sz="1400" dirty="0" smtClean="0">
                <a:solidFill>
                  <a:srgbClr val="0000FF"/>
                </a:solidFill>
                <a:latin typeface="Arial" panose="020B0604020202020204" pitchFamily="34" charset="0"/>
              </a:rPr>
              <a:t>插入命令：i命令</a:t>
            </a:r>
          </a:p>
          <a:p>
            <a:pPr fontAlgn="base">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a:t>
            </a:r>
            <a:r>
              <a:rPr lang="zh-CN" altLang="en-US" sz="1400" dirty="0" smtClean="0">
                <a:solidFill>
                  <a:srgbClr val="FF0000"/>
                </a:solidFill>
                <a:latin typeface="Arial" panose="020B0604020202020204" pitchFamily="34" charset="0"/>
              </a:rPr>
              <a:t> sed '/^test/ixxxx' file</a:t>
            </a:r>
            <a:r>
              <a:rPr lang="zh-CN" altLang="en-US" sz="1400" dirty="0" smtClean="0">
                <a:solidFill>
                  <a:srgbClr val="000000"/>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在以test开头的行前插入新行xxxx</a:t>
            </a:r>
            <a:endParaRPr lang="zh-CN" altLang="en-US" sz="1400" dirty="0" smtClean="0">
              <a:solidFill>
                <a:srgbClr val="000000"/>
              </a:solidFill>
              <a:latin typeface="Arial" panose="020B0604020202020204" pitchFamily="34" charset="0"/>
            </a:endParaRPr>
          </a:p>
        </p:txBody>
      </p:sp>
      <p:sp>
        <p:nvSpPr>
          <p:cNvPr id="7" name="Text Box 7"/>
          <p:cNvSpPr txBox="1">
            <a:spLocks noChangeArrowheads="1"/>
          </p:cNvSpPr>
          <p:nvPr/>
        </p:nvSpPr>
        <p:spPr bwMode="auto">
          <a:xfrm>
            <a:off x="2002262" y="1100140"/>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4、sed实例</a:t>
            </a:r>
          </a:p>
        </p:txBody>
      </p:sp>
    </p:spTree>
    <p:extLst>
      <p:ext uri="{BB962C8B-B14F-4D97-AF65-F5344CB8AC3E}">
        <p14:creationId xmlns:p14="http://schemas.microsoft.com/office/powerpoint/2010/main" val="62022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linds(horizontal)">
                                      <p:cBhvr>
                                        <p:cTn id="17" dur="500"/>
                                        <p:tgtEl>
                                          <p:spTgt spid="6">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blinds(horizontal)">
                                      <p:cBhvr>
                                        <p:cTn id="20" dur="500"/>
                                        <p:tgtEl>
                                          <p:spTgt spid="6">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blinds(horizontal)">
                                      <p:cBhvr>
                                        <p:cTn id="23" dur="500"/>
                                        <p:tgtEl>
                                          <p:spTgt spid="6">
                                            <p:txEl>
                                              <p:pRg st="3" end="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blinds(horizontal)">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blinds(horizontal)">
                                      <p:cBhvr>
                                        <p:cTn id="31" dur="500"/>
                                        <p:tgtEl>
                                          <p:spTgt spid="6">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blinds(horizontal)">
                                      <p:cBhvr>
                                        <p:cTn id="36" dur="500"/>
                                        <p:tgtEl>
                                          <p:spTgt spid="6">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Effect transition="in" filter="blinds(horizontal)">
                                      <p:cBhvr>
                                        <p:cTn id="39" dur="500"/>
                                        <p:tgtEl>
                                          <p:spTgt spid="6">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blinds(horizontal)">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animEffect transition="in" filter="blinds(horizontal)">
                                      <p:cBhvr>
                                        <p:cTn id="47" dur="500"/>
                                        <p:tgtEl>
                                          <p:spTgt spid="6">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xEl>
                                              <p:pRg st="12" end="12"/>
                                            </p:txEl>
                                          </p:spTgt>
                                        </p:tgtEl>
                                        <p:attrNameLst>
                                          <p:attrName>style.visibility</p:attrName>
                                        </p:attrNameLst>
                                      </p:cBhvr>
                                      <p:to>
                                        <p:strVal val="visible"/>
                                      </p:to>
                                    </p:set>
                                    <p:animEffect transition="in" filter="blinds(horizontal)">
                                      <p:cBhvr>
                                        <p:cTn id="52" dur="500"/>
                                        <p:tgtEl>
                                          <p:spTgt spid="6">
                                            <p:txEl>
                                              <p:pRg st="12" end="12"/>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6">
                                            <p:txEl>
                                              <p:pRg st="13" end="13"/>
                                            </p:txEl>
                                          </p:spTgt>
                                        </p:tgtEl>
                                        <p:attrNameLst>
                                          <p:attrName>style.visibility</p:attrName>
                                        </p:attrNameLst>
                                      </p:cBhvr>
                                      <p:to>
                                        <p:strVal val="visible"/>
                                      </p:to>
                                    </p:set>
                                    <p:animEffect transition="in" filter="blinds(horizontal)">
                                      <p:cBhvr>
                                        <p:cTn id="55" dur="500"/>
                                        <p:tgtEl>
                                          <p:spTgt spid="6">
                                            <p:txEl>
                                              <p:pRg st="13" end="13"/>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6">
                                            <p:txEl>
                                              <p:pRg st="14" end="14"/>
                                            </p:txEl>
                                          </p:spTgt>
                                        </p:tgtEl>
                                        <p:attrNameLst>
                                          <p:attrName>style.visibility</p:attrName>
                                        </p:attrNameLst>
                                      </p:cBhvr>
                                      <p:to>
                                        <p:strVal val="visible"/>
                                      </p:to>
                                    </p:set>
                                    <p:animEffect transition="in" filter="blinds(horizontal)">
                                      <p:cBhvr>
                                        <p:cTn id="58" dur="500"/>
                                        <p:tgtEl>
                                          <p:spTgt spid="6">
                                            <p:txEl>
                                              <p:pRg st="14" end="1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6">
                                            <p:txEl>
                                              <p:pRg st="16" end="16"/>
                                            </p:txEl>
                                          </p:spTgt>
                                        </p:tgtEl>
                                        <p:attrNameLst>
                                          <p:attrName>style.visibility</p:attrName>
                                        </p:attrNameLst>
                                      </p:cBhvr>
                                      <p:to>
                                        <p:strVal val="visible"/>
                                      </p:to>
                                    </p:set>
                                    <p:animEffect transition="in" filter="blinds(horizontal)">
                                      <p:cBhvr>
                                        <p:cTn id="63" dur="500"/>
                                        <p:tgtEl>
                                          <p:spTgt spid="6">
                                            <p:txEl>
                                              <p:pRg st="16" end="1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6">
                                            <p:txEl>
                                              <p:pRg st="17" end="17"/>
                                            </p:txEl>
                                          </p:spTgt>
                                        </p:tgtEl>
                                        <p:attrNameLst>
                                          <p:attrName>style.visibility</p:attrName>
                                        </p:attrNameLst>
                                      </p:cBhvr>
                                      <p:to>
                                        <p:strVal val="visible"/>
                                      </p:to>
                                    </p:set>
                                    <p:animEffect transition="in" filter="blinds(horizontal)">
                                      <p:cBhvr>
                                        <p:cTn id="68" dur="500"/>
                                        <p:tgtEl>
                                          <p:spTgt spid="6">
                                            <p:txEl>
                                              <p:pRg st="17" end="1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6">
                                            <p:txEl>
                                              <p:pRg st="19" end="19"/>
                                            </p:txEl>
                                          </p:spTgt>
                                        </p:tgtEl>
                                        <p:attrNameLst>
                                          <p:attrName>style.visibility</p:attrName>
                                        </p:attrNameLst>
                                      </p:cBhvr>
                                      <p:to>
                                        <p:strVal val="visible"/>
                                      </p:to>
                                    </p:set>
                                    <p:animEffect transition="in" filter="blinds(horizontal)">
                                      <p:cBhvr>
                                        <p:cTn id="73" dur="500"/>
                                        <p:tgtEl>
                                          <p:spTgt spid="6">
                                            <p:txEl>
                                              <p:pRg st="19" end="19"/>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6">
                                            <p:txEl>
                                              <p:pRg st="20" end="20"/>
                                            </p:txEl>
                                          </p:spTgt>
                                        </p:tgtEl>
                                        <p:attrNameLst>
                                          <p:attrName>style.visibility</p:attrName>
                                        </p:attrNameLst>
                                      </p:cBhvr>
                                      <p:to>
                                        <p:strVal val="visible"/>
                                      </p:to>
                                    </p:set>
                                    <p:animEffect transition="in" filter="blinds(horizontal)">
                                      <p:cBhvr>
                                        <p:cTn id="78" dur="500"/>
                                        <p:tgtEl>
                                          <p:spTgt spid="6">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cut</a:t>
            </a:r>
            <a:endParaRPr lang="zh-CN" altLang="en-US" dirty="0"/>
          </a:p>
        </p:txBody>
      </p:sp>
      <p:sp>
        <p:nvSpPr>
          <p:cNvPr id="11" name="Text Box 2"/>
          <p:cNvSpPr txBox="1">
            <a:spLocks noChangeArrowheads="1"/>
          </p:cNvSpPr>
          <p:nvPr/>
        </p:nvSpPr>
        <p:spPr bwMode="auto">
          <a:xfrm>
            <a:off x="1990301" y="2734592"/>
            <a:ext cx="3238500" cy="1252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dirty="0" smtClean="0">
                <a:solidFill>
                  <a:srgbClr val="0000FF"/>
                </a:solidFill>
                <a:latin typeface="Arial" panose="020B0604020202020204" pitchFamily="34" charset="0"/>
              </a:rPr>
              <a:t>cut选项</a:t>
            </a:r>
          </a:p>
          <a:p>
            <a:pPr fontAlgn="base">
              <a:lnSpc>
                <a:spcPct val="13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-b：以字节为单位显示选中内容</a:t>
            </a:r>
          </a:p>
          <a:p>
            <a:pPr fontAlgn="base">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-c：以字符为单位显示选中内容</a:t>
            </a:r>
          </a:p>
          <a:p>
            <a:pPr fontAlgn="base">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-f： 以字段为单位显示选中内容</a:t>
            </a:r>
          </a:p>
          <a:p>
            <a:pPr fontAlgn="base">
              <a:spcBef>
                <a:spcPct val="0"/>
              </a:spcBef>
              <a:spcAft>
                <a:spcPct val="0"/>
              </a:spcAft>
              <a:buFont typeface="Arial" panose="020B0604020202020204" pitchFamily="34" charset="0"/>
              <a:buNone/>
            </a:pPr>
            <a:r>
              <a:rPr lang="zh-CN" altLang="en-US" sz="1400" dirty="0" smtClean="0">
                <a:solidFill>
                  <a:srgbClr val="333399"/>
                </a:solidFill>
                <a:latin typeface="Arial" panose="020B0604020202020204" pitchFamily="34" charset="0"/>
              </a:rPr>
              <a:t>-d：指定字段的分界符，默认为制表符</a:t>
            </a:r>
          </a:p>
        </p:txBody>
      </p:sp>
      <p:sp>
        <p:nvSpPr>
          <p:cNvPr id="12" name="Text Box 3"/>
          <p:cNvSpPr txBox="1">
            <a:spLocks noChangeArrowheads="1"/>
          </p:cNvSpPr>
          <p:nvPr/>
        </p:nvSpPr>
        <p:spPr bwMode="auto">
          <a:xfrm>
            <a:off x="1988713" y="4099842"/>
            <a:ext cx="3240088" cy="180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0000FF"/>
                </a:solidFill>
                <a:latin typeface="Arial" panose="020B0604020202020204" pitchFamily="34" charset="0"/>
              </a:rPr>
              <a:t>cut范围</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n：    第n个字段</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n-：   从第n个到最后一个字段</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n-m：从第n到第m个字段，包括m</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-m：  从第1到第m个字段，包括m</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从行开头到行的最后</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n,m： 第n个和第m个字段</a:t>
            </a:r>
          </a:p>
        </p:txBody>
      </p:sp>
      <p:sp>
        <p:nvSpPr>
          <p:cNvPr id="13" name="Text Box 4"/>
          <p:cNvSpPr txBox="1">
            <a:spLocks noChangeArrowheads="1"/>
          </p:cNvSpPr>
          <p:nvPr/>
        </p:nvSpPr>
        <p:spPr bwMode="auto">
          <a:xfrm>
            <a:off x="5446288" y="2731417"/>
            <a:ext cx="4600575"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0000FF"/>
                </a:solidFill>
                <a:latin typeface="Arial" panose="020B0604020202020204" pitchFamily="34" charset="0"/>
              </a:rPr>
              <a:t>常用实例</a:t>
            </a:r>
          </a:p>
          <a:p>
            <a:pPr fontAlgn="base">
              <a:spcBef>
                <a:spcPct val="0"/>
              </a:spcBef>
              <a:spcAft>
                <a:spcPct val="0"/>
              </a:spcAft>
              <a:buSzPct val="100000"/>
              <a:buFont typeface="Wingdings" panose="05000000000000000000" pitchFamily="2" charset="2"/>
              <a:buNone/>
            </a:pPr>
            <a:endParaRPr lang="zh-CN" altLang="en-US" sz="1400" smtClean="0">
              <a:solidFill>
                <a:srgbClr val="000000"/>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截取指定字段</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-d : -f 1,5</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-d : -f 1-</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-d : -f 2-4</a:t>
            </a:r>
          </a:p>
          <a:p>
            <a:pPr fontAlgn="base">
              <a:lnSpc>
                <a:spcPct val="120000"/>
              </a:lnSpc>
              <a:spcBef>
                <a:spcPct val="0"/>
              </a:spcBef>
              <a:spcAft>
                <a:spcPct val="0"/>
              </a:spcAft>
              <a:buFont typeface="Arial" panose="020B0604020202020204" pitchFamily="34" charset="0"/>
              <a:buNone/>
            </a:pPr>
            <a:endParaRPr lang="zh-CN" altLang="en-US" sz="1400" smtClean="0">
              <a:solidFill>
                <a:srgbClr val="333399"/>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截取指定个数的字符</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-c 2-5 </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-c -2</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root:x:0:0:root:/root:/bin/bash | cut -c 2-</a:t>
            </a:r>
          </a:p>
        </p:txBody>
      </p:sp>
      <p:sp>
        <p:nvSpPr>
          <p:cNvPr id="14" name="Text Box 8"/>
          <p:cNvSpPr txBox="1">
            <a:spLocks noChangeArrowheads="1"/>
          </p:cNvSpPr>
          <p:nvPr/>
        </p:nvSpPr>
        <p:spPr bwMode="auto">
          <a:xfrm>
            <a:off x="2026813" y="1223292"/>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1、cut简介</a:t>
            </a:r>
          </a:p>
        </p:txBody>
      </p:sp>
      <p:sp>
        <p:nvSpPr>
          <p:cNvPr id="15" name="Text Box 9"/>
          <p:cNvSpPr txBox="1">
            <a:spLocks noChangeArrowheads="1"/>
          </p:cNvSpPr>
          <p:nvPr/>
        </p:nvSpPr>
        <p:spPr bwMode="auto">
          <a:xfrm>
            <a:off x="2095076" y="1594767"/>
            <a:ext cx="78136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从文件的每一行剪切字节、字符和字段并将它们写至标准输出。</a:t>
            </a:r>
          </a:p>
        </p:txBody>
      </p:sp>
      <p:sp>
        <p:nvSpPr>
          <p:cNvPr id="16" name="Text Box 10"/>
          <p:cNvSpPr txBox="1">
            <a:spLocks noChangeArrowheads="1"/>
          </p:cNvSpPr>
          <p:nvPr/>
        </p:nvSpPr>
        <p:spPr bwMode="auto">
          <a:xfrm>
            <a:off x="2060151" y="1974179"/>
            <a:ext cx="3530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2、cut语法</a:t>
            </a:r>
          </a:p>
        </p:txBody>
      </p:sp>
      <p:sp>
        <p:nvSpPr>
          <p:cNvPr id="17" name="Text Box 11"/>
          <p:cNvSpPr txBox="1">
            <a:spLocks noChangeArrowheads="1"/>
          </p:cNvSpPr>
          <p:nvPr/>
        </p:nvSpPr>
        <p:spPr bwMode="auto">
          <a:xfrm>
            <a:off x="2060151" y="2288504"/>
            <a:ext cx="54006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zh-CN" sz="1400" i="1" smtClean="0">
                <a:solidFill>
                  <a:srgbClr val="FF0000"/>
                </a:solidFill>
                <a:latin typeface="Arial" panose="020B0604020202020204" pitchFamily="34" charset="0"/>
              </a:rPr>
              <a:t>cut [选项] [范围] 文件</a:t>
            </a:r>
          </a:p>
        </p:txBody>
      </p:sp>
    </p:spTree>
    <p:extLst>
      <p:ext uri="{BB962C8B-B14F-4D97-AF65-F5344CB8AC3E}">
        <p14:creationId xmlns:p14="http://schemas.microsoft.com/office/powerpoint/2010/main" val="372178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blinds(horizontal)">
                                      <p:cBhvr>
                                        <p:cTn id="23" dur="500"/>
                                        <p:tgtEl>
                                          <p:spTgt spid="11">
                                            <p:txEl>
                                              <p:pRg st="0" end="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blinds(horizontal)">
                                      <p:cBhvr>
                                        <p:cTn id="26" dur="500"/>
                                        <p:tgtEl>
                                          <p:spTgt spid="11">
                                            <p:txEl>
                                              <p:pRg st="1" end="1"/>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animEffect transition="in" filter="blinds(horizontal)">
                                      <p:cBhvr>
                                        <p:cTn id="29" dur="500"/>
                                        <p:tgtEl>
                                          <p:spTgt spid="11">
                                            <p:txEl>
                                              <p:pRg st="2" end="2"/>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1">
                                            <p:txEl>
                                              <p:pRg st="3" end="3"/>
                                            </p:txEl>
                                          </p:spTgt>
                                        </p:tgtEl>
                                        <p:attrNameLst>
                                          <p:attrName>style.visibility</p:attrName>
                                        </p:attrNameLst>
                                      </p:cBhvr>
                                      <p:to>
                                        <p:strVal val="visible"/>
                                      </p:to>
                                    </p:set>
                                    <p:animEffect transition="in" filter="blinds(horizontal)">
                                      <p:cBhvr>
                                        <p:cTn id="32" dur="500"/>
                                        <p:tgtEl>
                                          <p:spTgt spid="11">
                                            <p:txEl>
                                              <p:pRg st="3" end="3"/>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1">
                                            <p:txEl>
                                              <p:pRg st="4" end="4"/>
                                            </p:txEl>
                                          </p:spTgt>
                                        </p:tgtEl>
                                        <p:attrNameLst>
                                          <p:attrName>style.visibility</p:attrName>
                                        </p:attrNameLst>
                                      </p:cBhvr>
                                      <p:to>
                                        <p:strVal val="visible"/>
                                      </p:to>
                                    </p:set>
                                    <p:animEffect transition="in" filter="blinds(horizontal)">
                                      <p:cBhvr>
                                        <p:cTn id="35" dur="500"/>
                                        <p:tgtEl>
                                          <p:spTgt spid="11">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Effect transition="in" filter="blinds(horizontal)">
                                      <p:cBhvr>
                                        <p:cTn id="40" dur="500"/>
                                        <p:tgtEl>
                                          <p:spTgt spid="12">
                                            <p:txEl>
                                              <p:pRg st="0" end="0"/>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animEffect transition="in" filter="blinds(horizontal)">
                                      <p:cBhvr>
                                        <p:cTn id="43" dur="500"/>
                                        <p:tgtEl>
                                          <p:spTgt spid="12">
                                            <p:txEl>
                                              <p:pRg st="1" end="1"/>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2">
                                            <p:txEl>
                                              <p:pRg st="2" end="2"/>
                                            </p:txEl>
                                          </p:spTgt>
                                        </p:tgtEl>
                                        <p:attrNameLst>
                                          <p:attrName>style.visibility</p:attrName>
                                        </p:attrNameLst>
                                      </p:cBhvr>
                                      <p:to>
                                        <p:strVal val="visible"/>
                                      </p:to>
                                    </p:set>
                                    <p:animEffect transition="in" filter="blinds(horizontal)">
                                      <p:cBhvr>
                                        <p:cTn id="46" dur="500"/>
                                        <p:tgtEl>
                                          <p:spTgt spid="12">
                                            <p:txEl>
                                              <p:pRg st="2" end="2"/>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2">
                                            <p:txEl>
                                              <p:pRg st="3" end="3"/>
                                            </p:txEl>
                                          </p:spTgt>
                                        </p:tgtEl>
                                        <p:attrNameLst>
                                          <p:attrName>style.visibility</p:attrName>
                                        </p:attrNameLst>
                                      </p:cBhvr>
                                      <p:to>
                                        <p:strVal val="visible"/>
                                      </p:to>
                                    </p:set>
                                    <p:animEffect transition="in" filter="blinds(horizontal)">
                                      <p:cBhvr>
                                        <p:cTn id="49" dur="500"/>
                                        <p:tgtEl>
                                          <p:spTgt spid="12">
                                            <p:txEl>
                                              <p:pRg st="3" end="3"/>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12">
                                            <p:txEl>
                                              <p:pRg st="4" end="4"/>
                                            </p:txEl>
                                          </p:spTgt>
                                        </p:tgtEl>
                                        <p:attrNameLst>
                                          <p:attrName>style.visibility</p:attrName>
                                        </p:attrNameLst>
                                      </p:cBhvr>
                                      <p:to>
                                        <p:strVal val="visible"/>
                                      </p:to>
                                    </p:set>
                                    <p:animEffect transition="in" filter="blinds(horizontal)">
                                      <p:cBhvr>
                                        <p:cTn id="52" dur="500"/>
                                        <p:tgtEl>
                                          <p:spTgt spid="12">
                                            <p:txEl>
                                              <p:pRg st="4" end="4"/>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12">
                                            <p:txEl>
                                              <p:pRg st="5" end="5"/>
                                            </p:txEl>
                                          </p:spTgt>
                                        </p:tgtEl>
                                        <p:attrNameLst>
                                          <p:attrName>style.visibility</p:attrName>
                                        </p:attrNameLst>
                                      </p:cBhvr>
                                      <p:to>
                                        <p:strVal val="visible"/>
                                      </p:to>
                                    </p:set>
                                    <p:animEffect transition="in" filter="blinds(horizontal)">
                                      <p:cBhvr>
                                        <p:cTn id="55" dur="500"/>
                                        <p:tgtEl>
                                          <p:spTgt spid="12">
                                            <p:txEl>
                                              <p:pRg st="5" end="5"/>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12">
                                            <p:txEl>
                                              <p:pRg st="6" end="6"/>
                                            </p:txEl>
                                          </p:spTgt>
                                        </p:tgtEl>
                                        <p:attrNameLst>
                                          <p:attrName>style.visibility</p:attrName>
                                        </p:attrNameLst>
                                      </p:cBhvr>
                                      <p:to>
                                        <p:strVal val="visible"/>
                                      </p:to>
                                    </p:set>
                                    <p:animEffect transition="in" filter="blinds(horizontal)">
                                      <p:cBhvr>
                                        <p:cTn id="58" dur="500"/>
                                        <p:tgtEl>
                                          <p:spTgt spid="12">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3">
                                            <p:txEl>
                                              <p:pRg st="0" end="0"/>
                                            </p:txEl>
                                          </p:spTgt>
                                        </p:tgtEl>
                                        <p:attrNameLst>
                                          <p:attrName>style.visibility</p:attrName>
                                        </p:attrNameLst>
                                      </p:cBhvr>
                                      <p:to>
                                        <p:strVal val="visible"/>
                                      </p:to>
                                    </p:set>
                                    <p:animEffect transition="in" filter="blinds(horizontal)">
                                      <p:cBhvr>
                                        <p:cTn id="63" dur="500"/>
                                        <p:tgtEl>
                                          <p:spTgt spid="13">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3">
                                            <p:txEl>
                                              <p:pRg st="2" end="2"/>
                                            </p:txEl>
                                          </p:spTgt>
                                        </p:tgtEl>
                                        <p:attrNameLst>
                                          <p:attrName>style.visibility</p:attrName>
                                        </p:attrNameLst>
                                      </p:cBhvr>
                                      <p:to>
                                        <p:strVal val="visible"/>
                                      </p:to>
                                    </p:set>
                                    <p:animEffect transition="in" filter="blinds(horizontal)">
                                      <p:cBhvr>
                                        <p:cTn id="68" dur="500"/>
                                        <p:tgtEl>
                                          <p:spTgt spid="13">
                                            <p:txEl>
                                              <p:pRg st="2" end="2"/>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13">
                                            <p:txEl>
                                              <p:pRg st="3" end="3"/>
                                            </p:txEl>
                                          </p:spTgt>
                                        </p:tgtEl>
                                        <p:attrNameLst>
                                          <p:attrName>style.visibility</p:attrName>
                                        </p:attrNameLst>
                                      </p:cBhvr>
                                      <p:to>
                                        <p:strVal val="visible"/>
                                      </p:to>
                                    </p:set>
                                    <p:animEffect transition="in" filter="blinds(horizontal)">
                                      <p:cBhvr>
                                        <p:cTn id="71" dur="500"/>
                                        <p:tgtEl>
                                          <p:spTgt spid="13">
                                            <p:txEl>
                                              <p:pRg st="3" end="3"/>
                                            </p:txEl>
                                          </p:spTgt>
                                        </p:tgtEl>
                                      </p:cBhvr>
                                    </p:animEffect>
                                  </p:childTnLst>
                                </p:cTn>
                              </p:par>
                              <p:par>
                                <p:cTn id="72" presetID="3" presetClass="entr" presetSubtype="10" fill="hold" nodeType="withEffect">
                                  <p:stCondLst>
                                    <p:cond delay="0"/>
                                  </p:stCondLst>
                                  <p:childTnLst>
                                    <p:set>
                                      <p:cBhvr>
                                        <p:cTn id="73" dur="1" fill="hold">
                                          <p:stCondLst>
                                            <p:cond delay="0"/>
                                          </p:stCondLst>
                                        </p:cTn>
                                        <p:tgtEl>
                                          <p:spTgt spid="13">
                                            <p:txEl>
                                              <p:pRg st="4" end="4"/>
                                            </p:txEl>
                                          </p:spTgt>
                                        </p:tgtEl>
                                        <p:attrNameLst>
                                          <p:attrName>style.visibility</p:attrName>
                                        </p:attrNameLst>
                                      </p:cBhvr>
                                      <p:to>
                                        <p:strVal val="visible"/>
                                      </p:to>
                                    </p:set>
                                    <p:animEffect transition="in" filter="blinds(horizontal)">
                                      <p:cBhvr>
                                        <p:cTn id="74" dur="500"/>
                                        <p:tgtEl>
                                          <p:spTgt spid="13">
                                            <p:txEl>
                                              <p:pRg st="4" end="4"/>
                                            </p:txEl>
                                          </p:spTgt>
                                        </p:tgtEl>
                                      </p:cBhvr>
                                    </p:animEffect>
                                  </p:childTnLst>
                                </p:cTn>
                              </p:par>
                              <p:par>
                                <p:cTn id="75" presetID="3" presetClass="entr" presetSubtype="10" fill="hold" nodeType="withEffect">
                                  <p:stCondLst>
                                    <p:cond delay="0"/>
                                  </p:stCondLst>
                                  <p:childTnLst>
                                    <p:set>
                                      <p:cBhvr>
                                        <p:cTn id="76" dur="1" fill="hold">
                                          <p:stCondLst>
                                            <p:cond delay="0"/>
                                          </p:stCondLst>
                                        </p:cTn>
                                        <p:tgtEl>
                                          <p:spTgt spid="13">
                                            <p:txEl>
                                              <p:pRg st="5" end="5"/>
                                            </p:txEl>
                                          </p:spTgt>
                                        </p:tgtEl>
                                        <p:attrNameLst>
                                          <p:attrName>style.visibility</p:attrName>
                                        </p:attrNameLst>
                                      </p:cBhvr>
                                      <p:to>
                                        <p:strVal val="visible"/>
                                      </p:to>
                                    </p:set>
                                    <p:animEffect transition="in" filter="blinds(horizontal)">
                                      <p:cBhvr>
                                        <p:cTn id="77" dur="500"/>
                                        <p:tgtEl>
                                          <p:spTgt spid="13">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3">
                                            <p:txEl>
                                              <p:pRg st="7" end="7"/>
                                            </p:txEl>
                                          </p:spTgt>
                                        </p:tgtEl>
                                        <p:attrNameLst>
                                          <p:attrName>style.visibility</p:attrName>
                                        </p:attrNameLst>
                                      </p:cBhvr>
                                      <p:to>
                                        <p:strVal val="visible"/>
                                      </p:to>
                                    </p:set>
                                    <p:animEffect transition="in" filter="blinds(horizontal)">
                                      <p:cBhvr>
                                        <p:cTn id="82" dur="500"/>
                                        <p:tgtEl>
                                          <p:spTgt spid="13">
                                            <p:txEl>
                                              <p:pRg st="7" end="7"/>
                                            </p:txEl>
                                          </p:spTgt>
                                        </p:tgtEl>
                                      </p:cBhvr>
                                    </p:animEffect>
                                  </p:childTnLst>
                                </p:cTn>
                              </p:par>
                              <p:par>
                                <p:cTn id="83" presetID="3" presetClass="entr" presetSubtype="10" fill="hold" nodeType="withEffect">
                                  <p:stCondLst>
                                    <p:cond delay="0"/>
                                  </p:stCondLst>
                                  <p:childTnLst>
                                    <p:set>
                                      <p:cBhvr>
                                        <p:cTn id="84" dur="1" fill="hold">
                                          <p:stCondLst>
                                            <p:cond delay="0"/>
                                          </p:stCondLst>
                                        </p:cTn>
                                        <p:tgtEl>
                                          <p:spTgt spid="13">
                                            <p:txEl>
                                              <p:pRg st="8" end="8"/>
                                            </p:txEl>
                                          </p:spTgt>
                                        </p:tgtEl>
                                        <p:attrNameLst>
                                          <p:attrName>style.visibility</p:attrName>
                                        </p:attrNameLst>
                                      </p:cBhvr>
                                      <p:to>
                                        <p:strVal val="visible"/>
                                      </p:to>
                                    </p:set>
                                    <p:animEffect transition="in" filter="blinds(horizontal)">
                                      <p:cBhvr>
                                        <p:cTn id="85" dur="500"/>
                                        <p:tgtEl>
                                          <p:spTgt spid="13">
                                            <p:txEl>
                                              <p:pRg st="8" end="8"/>
                                            </p:txEl>
                                          </p:spTgt>
                                        </p:tgtEl>
                                      </p:cBhvr>
                                    </p:animEffect>
                                  </p:childTnLst>
                                </p:cTn>
                              </p:par>
                              <p:par>
                                <p:cTn id="86" presetID="3" presetClass="entr" presetSubtype="10" fill="hold" nodeType="withEffect">
                                  <p:stCondLst>
                                    <p:cond delay="0"/>
                                  </p:stCondLst>
                                  <p:childTnLst>
                                    <p:set>
                                      <p:cBhvr>
                                        <p:cTn id="87" dur="1" fill="hold">
                                          <p:stCondLst>
                                            <p:cond delay="0"/>
                                          </p:stCondLst>
                                        </p:cTn>
                                        <p:tgtEl>
                                          <p:spTgt spid="13">
                                            <p:txEl>
                                              <p:pRg st="9" end="9"/>
                                            </p:txEl>
                                          </p:spTgt>
                                        </p:tgtEl>
                                        <p:attrNameLst>
                                          <p:attrName>style.visibility</p:attrName>
                                        </p:attrNameLst>
                                      </p:cBhvr>
                                      <p:to>
                                        <p:strVal val="visible"/>
                                      </p:to>
                                    </p:set>
                                    <p:animEffect transition="in" filter="blinds(horizontal)">
                                      <p:cBhvr>
                                        <p:cTn id="88" dur="500"/>
                                        <p:tgtEl>
                                          <p:spTgt spid="13">
                                            <p:txEl>
                                              <p:pRg st="9" end="9"/>
                                            </p:txEl>
                                          </p:spTgt>
                                        </p:tgtEl>
                                      </p:cBhvr>
                                    </p:animEffect>
                                  </p:childTnLst>
                                </p:cTn>
                              </p:par>
                              <p:par>
                                <p:cTn id="89" presetID="3" presetClass="entr" presetSubtype="10" fill="hold" nodeType="withEffect">
                                  <p:stCondLst>
                                    <p:cond delay="0"/>
                                  </p:stCondLst>
                                  <p:childTnLst>
                                    <p:set>
                                      <p:cBhvr>
                                        <p:cTn id="90" dur="1" fill="hold">
                                          <p:stCondLst>
                                            <p:cond delay="0"/>
                                          </p:stCondLst>
                                        </p:cTn>
                                        <p:tgtEl>
                                          <p:spTgt spid="13">
                                            <p:txEl>
                                              <p:pRg st="10" end="10"/>
                                            </p:txEl>
                                          </p:spTgt>
                                        </p:tgtEl>
                                        <p:attrNameLst>
                                          <p:attrName>style.visibility</p:attrName>
                                        </p:attrNameLst>
                                      </p:cBhvr>
                                      <p:to>
                                        <p:strVal val="visible"/>
                                      </p:to>
                                    </p:set>
                                    <p:animEffect transition="in" filter="blinds(horizontal)">
                                      <p:cBhvr>
                                        <p:cTn id="91" dur="500"/>
                                        <p:tgtEl>
                                          <p:spTgt spid="1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utoUpdateAnimBg="0"/>
      <p:bldP spid="15" grpId="0" bldLvl="0" autoUpdateAnimBg="0"/>
      <p:bldP spid="16" grpId="0" bldLvl="0" autoUpdateAnimBg="0"/>
      <p:bldP spid="17" grpId="0" bldLvl="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tr</a:t>
            </a:r>
            <a:endParaRPr lang="zh-CN" altLang="en-US" dirty="0"/>
          </a:p>
        </p:txBody>
      </p:sp>
      <p:sp>
        <p:nvSpPr>
          <p:cNvPr id="11" name="Text Box 2"/>
          <p:cNvSpPr txBox="1">
            <a:spLocks noChangeArrowheads="1"/>
          </p:cNvSpPr>
          <p:nvPr/>
        </p:nvSpPr>
        <p:spPr bwMode="auto">
          <a:xfrm>
            <a:off x="2082040" y="1425577"/>
            <a:ext cx="7996238"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用一个字符来替换另外一个字符</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删除字符串中的指定子串</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合并字符串中重复串</a:t>
            </a:r>
          </a:p>
        </p:txBody>
      </p:sp>
      <p:sp>
        <p:nvSpPr>
          <p:cNvPr id="12" name="Text Box 3"/>
          <p:cNvSpPr txBox="1">
            <a:spLocks noChangeArrowheads="1"/>
          </p:cNvSpPr>
          <p:nvPr/>
        </p:nvSpPr>
        <p:spPr bwMode="auto">
          <a:xfrm>
            <a:off x="2082040" y="2592390"/>
            <a:ext cx="3241675"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tr [option] set1 set2 &lt; input-file</a:t>
            </a:r>
          </a:p>
        </p:txBody>
      </p:sp>
      <p:sp>
        <p:nvSpPr>
          <p:cNvPr id="13" name="Text Box 4"/>
          <p:cNvSpPr txBox="1">
            <a:spLocks noChangeArrowheads="1"/>
          </p:cNvSpPr>
          <p:nvPr/>
        </p:nvSpPr>
        <p:spPr bwMode="auto">
          <a:xfrm>
            <a:off x="2088390" y="3079752"/>
            <a:ext cx="3379788" cy="116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0000FF"/>
                </a:solidFill>
                <a:latin typeface="Arial" panose="020B0604020202020204" pitchFamily="34" charset="0"/>
              </a:rPr>
              <a:t>tr选项</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默认：用str2替换str1</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-d：删除str1中所有输入字符</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-s：删除重复字符序列，只保留第一个</a:t>
            </a:r>
          </a:p>
        </p:txBody>
      </p:sp>
      <p:sp>
        <p:nvSpPr>
          <p:cNvPr id="14" name="Text Box 5"/>
          <p:cNvSpPr txBox="1">
            <a:spLocks noChangeArrowheads="1"/>
          </p:cNvSpPr>
          <p:nvPr/>
        </p:nvSpPr>
        <p:spPr bwMode="auto">
          <a:xfrm>
            <a:off x="5612640" y="2071690"/>
            <a:ext cx="4679950" cy="4014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400" b="1" smtClean="0">
                <a:solidFill>
                  <a:srgbClr val="0000FF"/>
                </a:solidFill>
                <a:latin typeface="Arial" panose="020B0604020202020204" pitchFamily="34" charset="0"/>
              </a:rPr>
              <a:t>常用实例</a:t>
            </a:r>
          </a:p>
          <a:p>
            <a:pPr fontAlgn="base">
              <a:spcBef>
                <a:spcPct val="0"/>
              </a:spcBef>
              <a:spcAft>
                <a:spcPct val="0"/>
              </a:spcAft>
              <a:buSzPct val="100000"/>
              <a:buFont typeface="Wingdings" panose="05000000000000000000" pitchFamily="2" charset="2"/>
              <a:buNone/>
            </a:pPr>
            <a:endParaRPr lang="zh-CN" altLang="en-US" sz="1400" b="1" smtClean="0">
              <a:solidFill>
                <a:srgbClr val="0000FF"/>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 小写转大写</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tr 'r' 'R' &lt; ./pass.txt</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tr '[a-z]' '[A-Z]' &lt; ./pass.txt  </a:t>
            </a:r>
          </a:p>
          <a:p>
            <a:pPr fontAlgn="base">
              <a:lnSpc>
                <a:spcPct val="120000"/>
              </a:lnSpc>
              <a:spcBef>
                <a:spcPct val="0"/>
              </a:spcBef>
              <a:spcAft>
                <a:spcPct val="0"/>
              </a:spcAft>
              <a:buFont typeface="Arial" panose="020B0604020202020204" pitchFamily="34" charset="0"/>
              <a:buNone/>
            </a:pPr>
            <a:endParaRPr lang="zh-CN" altLang="en-US" sz="1400" smtClean="0">
              <a:solidFill>
                <a:srgbClr val="333399"/>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删除字符</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tr -d [0-9] &lt; filename  </a:t>
            </a:r>
            <a:r>
              <a:rPr lang="zh-CN" altLang="en-US" sz="1400" i="1" smtClean="0">
                <a:solidFill>
                  <a:srgbClr val="FF0000"/>
                </a:solidFill>
                <a:latin typeface="Arial" panose="020B0604020202020204" pitchFamily="34" charset="0"/>
              </a:rPr>
              <a:t># 删除所有数字</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tr -d ' ' &lt; filename 	</a:t>
            </a:r>
            <a:r>
              <a:rPr lang="zh-CN" altLang="en-US" sz="1400" i="1" smtClean="0">
                <a:solidFill>
                  <a:srgbClr val="FF0000"/>
                </a:solidFill>
                <a:latin typeface="Arial" panose="020B0604020202020204" pitchFamily="34" charset="0"/>
              </a:rPr>
              <a:t># 删除所有空格</a:t>
            </a:r>
          </a:p>
          <a:p>
            <a:pPr fontAlgn="base">
              <a:lnSpc>
                <a:spcPct val="120000"/>
              </a:lnSpc>
              <a:spcBef>
                <a:spcPct val="0"/>
              </a:spcBef>
              <a:spcAft>
                <a:spcPct val="0"/>
              </a:spcAft>
              <a:buFont typeface="Arial" panose="020B0604020202020204" pitchFamily="34" charset="0"/>
              <a:buNone/>
            </a:pPr>
            <a:endParaRPr lang="zh-CN" altLang="en-US" sz="1400" smtClean="0">
              <a:solidFill>
                <a:srgbClr val="333399"/>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合并重复字符</a:t>
            </a: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aaaabbbbccccddddddd | tr -s "[a-z]"    </a:t>
            </a:r>
            <a:r>
              <a:rPr lang="zh-CN" altLang="en-US" sz="1400" i="1" smtClean="0">
                <a:solidFill>
                  <a:srgbClr val="FF0000"/>
                </a:solidFill>
                <a:latin typeface="Arial" panose="020B0604020202020204" pitchFamily="34" charset="0"/>
              </a:rPr>
              <a:t>#abcd</a:t>
            </a:r>
          </a:p>
          <a:p>
            <a:pPr fontAlgn="base">
              <a:lnSpc>
                <a:spcPct val="120000"/>
              </a:lnSpc>
              <a:spcBef>
                <a:spcPct val="0"/>
              </a:spcBef>
              <a:spcAft>
                <a:spcPct val="0"/>
              </a:spcAft>
              <a:buFont typeface="Arial" panose="020B0604020202020204" pitchFamily="34" charset="0"/>
              <a:buNone/>
            </a:pPr>
            <a:endParaRPr lang="zh-CN" altLang="en-US" sz="1400" i="1" smtClean="0">
              <a:solidFill>
                <a:srgbClr val="FF0000"/>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字符串的替换</a:t>
            </a:r>
            <a:endParaRPr lang="zh-CN" altLang="en-US" sz="1400" smtClean="0">
              <a:solidFill>
                <a:srgbClr val="333399"/>
              </a:solidFill>
              <a:latin typeface="Arial" panose="020B0604020202020204" pitchFamily="34" charset="0"/>
            </a:endParaRPr>
          </a:p>
          <a:p>
            <a:pPr fontAlgn="base">
              <a:lnSpc>
                <a:spcPct val="12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123456789 | tr '1-9' '[A*5]'BCDE   </a:t>
            </a:r>
            <a:r>
              <a:rPr lang="zh-CN" altLang="en-US" sz="1400" i="1" smtClean="0">
                <a:solidFill>
                  <a:srgbClr val="FF0000"/>
                </a:solidFill>
                <a:latin typeface="Arial" panose="020B0604020202020204" pitchFamily="34" charset="0"/>
              </a:rPr>
              <a:t># AAAAABCDE</a:t>
            </a:r>
            <a:r>
              <a:rPr lang="zh-CN" altLang="en-US" sz="1400" smtClean="0">
                <a:solidFill>
                  <a:srgbClr val="333399"/>
                </a:solidFill>
                <a:latin typeface="Arial" panose="020B0604020202020204" pitchFamily="34" charset="0"/>
              </a:rPr>
              <a:t>  $ echo 123456789 | tr '1-9' '[A*6]'BCDE   </a:t>
            </a:r>
            <a:r>
              <a:rPr lang="zh-CN" altLang="en-US" sz="1400" i="1" smtClean="0">
                <a:solidFill>
                  <a:srgbClr val="FF0000"/>
                </a:solidFill>
                <a:latin typeface="Arial" panose="020B0604020202020204" pitchFamily="34" charset="0"/>
              </a:rPr>
              <a:t># AAAAAABCD</a:t>
            </a:r>
          </a:p>
        </p:txBody>
      </p:sp>
      <p:sp>
        <p:nvSpPr>
          <p:cNvPr id="15" name="Text Box 6"/>
          <p:cNvSpPr txBox="1">
            <a:spLocks noChangeArrowheads="1"/>
          </p:cNvSpPr>
          <p:nvPr/>
        </p:nvSpPr>
        <p:spPr bwMode="auto">
          <a:xfrm>
            <a:off x="2083628" y="4356102"/>
            <a:ext cx="3297237" cy="171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b="1" smtClean="0">
                <a:solidFill>
                  <a:srgbClr val="0000FF"/>
                </a:solidFill>
                <a:latin typeface="Arial" panose="020B0604020202020204" pitchFamily="34" charset="0"/>
              </a:rPr>
              <a:t>tr字符串范围列表</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[a-z]：a-z内的字符组成的字符串</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[A-Z]：A-Z内的字符组成的字符串</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[0-9]：数字串</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\octal：一个三位的八进制数</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[O*n]：表示字符O重复出现指定次数n</a:t>
            </a:r>
          </a:p>
        </p:txBody>
      </p:sp>
      <p:sp>
        <p:nvSpPr>
          <p:cNvPr id="16" name="Text Box 10"/>
          <p:cNvSpPr txBox="1">
            <a:spLocks noChangeArrowheads="1"/>
          </p:cNvSpPr>
          <p:nvPr/>
        </p:nvSpPr>
        <p:spPr bwMode="auto">
          <a:xfrm>
            <a:off x="2050290" y="1138240"/>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1、tr简介</a:t>
            </a:r>
          </a:p>
        </p:txBody>
      </p:sp>
      <p:sp>
        <p:nvSpPr>
          <p:cNvPr id="17" name="Text Box 11"/>
          <p:cNvSpPr txBox="1">
            <a:spLocks noChangeArrowheads="1"/>
          </p:cNvSpPr>
          <p:nvPr/>
        </p:nvSpPr>
        <p:spPr bwMode="auto">
          <a:xfrm>
            <a:off x="2083628" y="2319340"/>
            <a:ext cx="3530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2、tr语法</a:t>
            </a:r>
          </a:p>
        </p:txBody>
      </p:sp>
    </p:spTree>
    <p:extLst>
      <p:ext uri="{BB962C8B-B14F-4D97-AF65-F5344CB8AC3E}">
        <p14:creationId xmlns:p14="http://schemas.microsoft.com/office/powerpoint/2010/main" val="218524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blinds(horizontal)">
                                      <p:cBhvr>
                                        <p:cTn id="15" dur="500"/>
                                        <p:tgtEl>
                                          <p:spTgt spid="11">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blinds(horizontal)">
                                      <p:cBhvr>
                                        <p:cTn id="18" dur="500"/>
                                        <p:tgtEl>
                                          <p:spTgt spid="1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linds(horizontal)">
                                      <p:cBhvr>
                                        <p:cTn id="23" dur="500"/>
                                        <p:tgtEl>
                                          <p:spTgt spid="1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blinds(horizontal)">
                                      <p:cBhvr>
                                        <p:cTn id="31" dur="500"/>
                                        <p:tgtEl>
                                          <p:spTgt spid="13">
                                            <p:txEl>
                                              <p:pRg st="0" end="0"/>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3">
                                            <p:txEl>
                                              <p:pRg st="1" end="1"/>
                                            </p:txEl>
                                          </p:spTgt>
                                        </p:tgtEl>
                                        <p:attrNameLst>
                                          <p:attrName>style.visibility</p:attrName>
                                        </p:attrNameLst>
                                      </p:cBhvr>
                                      <p:to>
                                        <p:strVal val="visible"/>
                                      </p:to>
                                    </p:set>
                                    <p:animEffect transition="in" filter="blinds(horizontal)">
                                      <p:cBhvr>
                                        <p:cTn id="34" dur="500"/>
                                        <p:tgtEl>
                                          <p:spTgt spid="13">
                                            <p:txEl>
                                              <p:pRg st="1" end="1"/>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3">
                                            <p:txEl>
                                              <p:pRg st="2" end="2"/>
                                            </p:txEl>
                                          </p:spTgt>
                                        </p:tgtEl>
                                        <p:attrNameLst>
                                          <p:attrName>style.visibility</p:attrName>
                                        </p:attrNameLst>
                                      </p:cBhvr>
                                      <p:to>
                                        <p:strVal val="visible"/>
                                      </p:to>
                                    </p:set>
                                    <p:animEffect transition="in" filter="blinds(horizontal)">
                                      <p:cBhvr>
                                        <p:cTn id="37" dur="500"/>
                                        <p:tgtEl>
                                          <p:spTgt spid="13">
                                            <p:txEl>
                                              <p:pRg st="2" end="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3">
                                            <p:txEl>
                                              <p:pRg st="3" end="3"/>
                                            </p:txEl>
                                          </p:spTgt>
                                        </p:tgtEl>
                                        <p:attrNameLst>
                                          <p:attrName>style.visibility</p:attrName>
                                        </p:attrNameLst>
                                      </p:cBhvr>
                                      <p:to>
                                        <p:strVal val="visible"/>
                                      </p:to>
                                    </p:set>
                                    <p:animEffect transition="in" filter="blinds(horizontal)">
                                      <p:cBhvr>
                                        <p:cTn id="40" dur="500"/>
                                        <p:tgtEl>
                                          <p:spTgt spid="1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animEffect transition="in" filter="blinds(horizontal)">
                                      <p:cBhvr>
                                        <p:cTn id="45" dur="500"/>
                                        <p:tgtEl>
                                          <p:spTgt spid="15">
                                            <p:txEl>
                                              <p:pRg st="0" end="0"/>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5">
                                            <p:txEl>
                                              <p:pRg st="1" end="1"/>
                                            </p:txEl>
                                          </p:spTgt>
                                        </p:tgtEl>
                                        <p:attrNameLst>
                                          <p:attrName>style.visibility</p:attrName>
                                        </p:attrNameLst>
                                      </p:cBhvr>
                                      <p:to>
                                        <p:strVal val="visible"/>
                                      </p:to>
                                    </p:set>
                                    <p:animEffect transition="in" filter="blinds(horizontal)">
                                      <p:cBhvr>
                                        <p:cTn id="48" dur="500"/>
                                        <p:tgtEl>
                                          <p:spTgt spid="15">
                                            <p:txEl>
                                              <p:pRg st="1" end="1"/>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15">
                                            <p:txEl>
                                              <p:pRg st="2" end="2"/>
                                            </p:txEl>
                                          </p:spTgt>
                                        </p:tgtEl>
                                        <p:attrNameLst>
                                          <p:attrName>style.visibility</p:attrName>
                                        </p:attrNameLst>
                                      </p:cBhvr>
                                      <p:to>
                                        <p:strVal val="visible"/>
                                      </p:to>
                                    </p:set>
                                    <p:animEffect transition="in" filter="blinds(horizontal)">
                                      <p:cBhvr>
                                        <p:cTn id="51" dur="500"/>
                                        <p:tgtEl>
                                          <p:spTgt spid="15">
                                            <p:txEl>
                                              <p:pRg st="2" end="2"/>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5">
                                            <p:txEl>
                                              <p:pRg st="3" end="3"/>
                                            </p:txEl>
                                          </p:spTgt>
                                        </p:tgtEl>
                                        <p:attrNameLst>
                                          <p:attrName>style.visibility</p:attrName>
                                        </p:attrNameLst>
                                      </p:cBhvr>
                                      <p:to>
                                        <p:strVal val="visible"/>
                                      </p:to>
                                    </p:set>
                                    <p:animEffect transition="in" filter="blinds(horizontal)">
                                      <p:cBhvr>
                                        <p:cTn id="54" dur="500"/>
                                        <p:tgtEl>
                                          <p:spTgt spid="15">
                                            <p:txEl>
                                              <p:pRg st="3" end="3"/>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5">
                                            <p:txEl>
                                              <p:pRg st="4" end="4"/>
                                            </p:txEl>
                                          </p:spTgt>
                                        </p:tgtEl>
                                        <p:attrNameLst>
                                          <p:attrName>style.visibility</p:attrName>
                                        </p:attrNameLst>
                                      </p:cBhvr>
                                      <p:to>
                                        <p:strVal val="visible"/>
                                      </p:to>
                                    </p:set>
                                    <p:animEffect transition="in" filter="blinds(horizontal)">
                                      <p:cBhvr>
                                        <p:cTn id="57" dur="500"/>
                                        <p:tgtEl>
                                          <p:spTgt spid="15">
                                            <p:txEl>
                                              <p:pRg st="4" end="4"/>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5">
                                            <p:txEl>
                                              <p:pRg st="5" end="5"/>
                                            </p:txEl>
                                          </p:spTgt>
                                        </p:tgtEl>
                                        <p:attrNameLst>
                                          <p:attrName>style.visibility</p:attrName>
                                        </p:attrNameLst>
                                      </p:cBhvr>
                                      <p:to>
                                        <p:strVal val="visible"/>
                                      </p:to>
                                    </p:set>
                                    <p:animEffect transition="in" filter="blinds(horizontal)">
                                      <p:cBhvr>
                                        <p:cTn id="60" dur="500"/>
                                        <p:tgtEl>
                                          <p:spTgt spid="15">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4">
                                            <p:txEl>
                                              <p:pRg st="0" end="0"/>
                                            </p:txEl>
                                          </p:spTgt>
                                        </p:tgtEl>
                                        <p:attrNameLst>
                                          <p:attrName>style.visibility</p:attrName>
                                        </p:attrNameLst>
                                      </p:cBhvr>
                                      <p:to>
                                        <p:strVal val="visible"/>
                                      </p:to>
                                    </p:set>
                                    <p:animEffect transition="in" filter="blinds(horizontal)">
                                      <p:cBhvr>
                                        <p:cTn id="65" dur="500"/>
                                        <p:tgtEl>
                                          <p:spTgt spid="14">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4">
                                            <p:txEl>
                                              <p:pRg st="2" end="2"/>
                                            </p:txEl>
                                          </p:spTgt>
                                        </p:tgtEl>
                                        <p:attrNameLst>
                                          <p:attrName>style.visibility</p:attrName>
                                        </p:attrNameLst>
                                      </p:cBhvr>
                                      <p:to>
                                        <p:strVal val="visible"/>
                                      </p:to>
                                    </p:set>
                                    <p:animEffect transition="in" filter="blinds(horizontal)">
                                      <p:cBhvr>
                                        <p:cTn id="70" dur="500"/>
                                        <p:tgtEl>
                                          <p:spTgt spid="14">
                                            <p:txEl>
                                              <p:pRg st="2" end="2"/>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14">
                                            <p:txEl>
                                              <p:pRg st="3" end="3"/>
                                            </p:txEl>
                                          </p:spTgt>
                                        </p:tgtEl>
                                        <p:attrNameLst>
                                          <p:attrName>style.visibility</p:attrName>
                                        </p:attrNameLst>
                                      </p:cBhvr>
                                      <p:to>
                                        <p:strVal val="visible"/>
                                      </p:to>
                                    </p:set>
                                    <p:animEffect transition="in" filter="blinds(horizontal)">
                                      <p:cBhvr>
                                        <p:cTn id="73" dur="500"/>
                                        <p:tgtEl>
                                          <p:spTgt spid="14">
                                            <p:txEl>
                                              <p:pRg st="3" end="3"/>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14">
                                            <p:txEl>
                                              <p:pRg st="4" end="4"/>
                                            </p:txEl>
                                          </p:spTgt>
                                        </p:tgtEl>
                                        <p:attrNameLst>
                                          <p:attrName>style.visibility</p:attrName>
                                        </p:attrNameLst>
                                      </p:cBhvr>
                                      <p:to>
                                        <p:strVal val="visible"/>
                                      </p:to>
                                    </p:set>
                                    <p:animEffect transition="in" filter="blinds(horizontal)">
                                      <p:cBhvr>
                                        <p:cTn id="76" dur="500"/>
                                        <p:tgtEl>
                                          <p:spTgt spid="14">
                                            <p:txEl>
                                              <p:pRg st="4" end="4"/>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4">
                                            <p:txEl>
                                              <p:pRg st="6" end="6"/>
                                            </p:txEl>
                                          </p:spTgt>
                                        </p:tgtEl>
                                        <p:attrNameLst>
                                          <p:attrName>style.visibility</p:attrName>
                                        </p:attrNameLst>
                                      </p:cBhvr>
                                      <p:to>
                                        <p:strVal val="visible"/>
                                      </p:to>
                                    </p:set>
                                    <p:animEffect transition="in" filter="blinds(horizontal)">
                                      <p:cBhvr>
                                        <p:cTn id="81" dur="500"/>
                                        <p:tgtEl>
                                          <p:spTgt spid="14">
                                            <p:txEl>
                                              <p:pRg st="6" end="6"/>
                                            </p:txEl>
                                          </p:spTgt>
                                        </p:tgtEl>
                                      </p:cBhvr>
                                    </p:animEffect>
                                  </p:childTnLst>
                                </p:cTn>
                              </p:par>
                              <p:par>
                                <p:cTn id="82" presetID="3" presetClass="entr" presetSubtype="10" fill="hold" nodeType="withEffect">
                                  <p:stCondLst>
                                    <p:cond delay="0"/>
                                  </p:stCondLst>
                                  <p:childTnLst>
                                    <p:set>
                                      <p:cBhvr>
                                        <p:cTn id="83" dur="1" fill="hold">
                                          <p:stCondLst>
                                            <p:cond delay="0"/>
                                          </p:stCondLst>
                                        </p:cTn>
                                        <p:tgtEl>
                                          <p:spTgt spid="14">
                                            <p:txEl>
                                              <p:pRg st="7" end="7"/>
                                            </p:txEl>
                                          </p:spTgt>
                                        </p:tgtEl>
                                        <p:attrNameLst>
                                          <p:attrName>style.visibility</p:attrName>
                                        </p:attrNameLst>
                                      </p:cBhvr>
                                      <p:to>
                                        <p:strVal val="visible"/>
                                      </p:to>
                                    </p:set>
                                    <p:animEffect transition="in" filter="blinds(horizontal)">
                                      <p:cBhvr>
                                        <p:cTn id="84" dur="500"/>
                                        <p:tgtEl>
                                          <p:spTgt spid="14">
                                            <p:txEl>
                                              <p:pRg st="7" end="7"/>
                                            </p:txEl>
                                          </p:spTgt>
                                        </p:tgtEl>
                                      </p:cBhvr>
                                    </p:animEffect>
                                  </p:childTnLst>
                                </p:cTn>
                              </p:par>
                              <p:par>
                                <p:cTn id="85" presetID="3" presetClass="entr" presetSubtype="10" fill="hold" nodeType="withEffect">
                                  <p:stCondLst>
                                    <p:cond delay="0"/>
                                  </p:stCondLst>
                                  <p:childTnLst>
                                    <p:set>
                                      <p:cBhvr>
                                        <p:cTn id="86" dur="1" fill="hold">
                                          <p:stCondLst>
                                            <p:cond delay="0"/>
                                          </p:stCondLst>
                                        </p:cTn>
                                        <p:tgtEl>
                                          <p:spTgt spid="14">
                                            <p:txEl>
                                              <p:pRg st="8" end="8"/>
                                            </p:txEl>
                                          </p:spTgt>
                                        </p:tgtEl>
                                        <p:attrNameLst>
                                          <p:attrName>style.visibility</p:attrName>
                                        </p:attrNameLst>
                                      </p:cBhvr>
                                      <p:to>
                                        <p:strVal val="visible"/>
                                      </p:to>
                                    </p:set>
                                    <p:animEffect transition="in" filter="blinds(horizontal)">
                                      <p:cBhvr>
                                        <p:cTn id="87" dur="500"/>
                                        <p:tgtEl>
                                          <p:spTgt spid="14">
                                            <p:txEl>
                                              <p:pRg st="8"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4">
                                            <p:txEl>
                                              <p:pRg st="10" end="10"/>
                                            </p:txEl>
                                          </p:spTgt>
                                        </p:tgtEl>
                                        <p:attrNameLst>
                                          <p:attrName>style.visibility</p:attrName>
                                        </p:attrNameLst>
                                      </p:cBhvr>
                                      <p:to>
                                        <p:strVal val="visible"/>
                                      </p:to>
                                    </p:set>
                                    <p:animEffect transition="in" filter="blinds(horizontal)">
                                      <p:cBhvr>
                                        <p:cTn id="92" dur="500"/>
                                        <p:tgtEl>
                                          <p:spTgt spid="14">
                                            <p:txEl>
                                              <p:pRg st="10" end="10"/>
                                            </p:txEl>
                                          </p:spTgt>
                                        </p:tgtEl>
                                      </p:cBhvr>
                                    </p:animEffect>
                                  </p:childTnLst>
                                </p:cTn>
                              </p:par>
                              <p:par>
                                <p:cTn id="93" presetID="3" presetClass="entr" presetSubtype="10" fill="hold" nodeType="withEffect">
                                  <p:stCondLst>
                                    <p:cond delay="0"/>
                                  </p:stCondLst>
                                  <p:childTnLst>
                                    <p:set>
                                      <p:cBhvr>
                                        <p:cTn id="94" dur="1" fill="hold">
                                          <p:stCondLst>
                                            <p:cond delay="0"/>
                                          </p:stCondLst>
                                        </p:cTn>
                                        <p:tgtEl>
                                          <p:spTgt spid="14">
                                            <p:txEl>
                                              <p:pRg st="11" end="11"/>
                                            </p:txEl>
                                          </p:spTgt>
                                        </p:tgtEl>
                                        <p:attrNameLst>
                                          <p:attrName>style.visibility</p:attrName>
                                        </p:attrNameLst>
                                      </p:cBhvr>
                                      <p:to>
                                        <p:strVal val="visible"/>
                                      </p:to>
                                    </p:set>
                                    <p:animEffect transition="in" filter="blinds(horizontal)">
                                      <p:cBhvr>
                                        <p:cTn id="95" dur="500"/>
                                        <p:tgtEl>
                                          <p:spTgt spid="14">
                                            <p:txEl>
                                              <p:pRg st="11" end="11"/>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14">
                                            <p:txEl>
                                              <p:pRg st="13" end="13"/>
                                            </p:txEl>
                                          </p:spTgt>
                                        </p:tgtEl>
                                        <p:attrNameLst>
                                          <p:attrName>style.visibility</p:attrName>
                                        </p:attrNameLst>
                                      </p:cBhvr>
                                      <p:to>
                                        <p:strVal val="visible"/>
                                      </p:to>
                                    </p:set>
                                    <p:animEffect transition="in" filter="blinds(horizontal)">
                                      <p:cBhvr>
                                        <p:cTn id="100" dur="500"/>
                                        <p:tgtEl>
                                          <p:spTgt spid="14">
                                            <p:txEl>
                                              <p:pRg st="13" end="13"/>
                                            </p:txEl>
                                          </p:spTgt>
                                        </p:tgtEl>
                                      </p:cBhvr>
                                    </p:animEffect>
                                  </p:childTnLst>
                                </p:cTn>
                              </p:par>
                              <p:par>
                                <p:cTn id="101" presetID="3" presetClass="entr" presetSubtype="10" fill="hold" nodeType="withEffect">
                                  <p:stCondLst>
                                    <p:cond delay="0"/>
                                  </p:stCondLst>
                                  <p:childTnLst>
                                    <p:set>
                                      <p:cBhvr>
                                        <p:cTn id="102" dur="1" fill="hold">
                                          <p:stCondLst>
                                            <p:cond delay="0"/>
                                          </p:stCondLst>
                                        </p:cTn>
                                        <p:tgtEl>
                                          <p:spTgt spid="14">
                                            <p:txEl>
                                              <p:pRg st="14" end="14"/>
                                            </p:txEl>
                                          </p:spTgt>
                                        </p:tgtEl>
                                        <p:attrNameLst>
                                          <p:attrName>style.visibility</p:attrName>
                                        </p:attrNameLst>
                                      </p:cBhvr>
                                      <p:to>
                                        <p:strVal val="visible"/>
                                      </p:to>
                                    </p:set>
                                    <p:animEffect transition="in" filter="blinds(horizontal)">
                                      <p:cBhvr>
                                        <p:cTn id="103" dur="500"/>
                                        <p:tgtEl>
                                          <p:spTgt spid="1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utoUpdateAnimBg="0"/>
      <p:bldP spid="17" grpId="0" bldLvl="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grep</a:t>
            </a:r>
            <a:endParaRPr lang="zh-CN" altLang="en-US" dirty="0"/>
          </a:p>
        </p:txBody>
      </p:sp>
      <p:sp>
        <p:nvSpPr>
          <p:cNvPr id="10" name="Text Box 2"/>
          <p:cNvSpPr txBox="1">
            <a:spLocks noChangeArrowheads="1"/>
          </p:cNvSpPr>
          <p:nvPr/>
        </p:nvSpPr>
        <p:spPr bwMode="auto">
          <a:xfrm>
            <a:off x="1801790" y="1281113"/>
            <a:ext cx="7996238"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grep [options] pattern files</a:t>
            </a:r>
          </a:p>
        </p:txBody>
      </p:sp>
      <p:sp>
        <p:nvSpPr>
          <p:cNvPr id="11" name="Text Box 3"/>
          <p:cNvSpPr txBox="1">
            <a:spLocks noChangeArrowheads="1"/>
          </p:cNvSpPr>
          <p:nvPr/>
        </p:nvSpPr>
        <p:spPr bwMode="auto">
          <a:xfrm>
            <a:off x="1803378" y="2005013"/>
            <a:ext cx="4752975" cy="418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rPr>
              <a:t>-c</a:t>
            </a:r>
            <a:r>
              <a:rPr lang="zh-CN" altLang="en-US" sz="1400" i="1" smtClean="0">
                <a:solidFill>
                  <a:srgbClr val="333399"/>
                </a:solidFill>
                <a:latin typeface="Arial" panose="020B0604020202020204" pitchFamily="34" charset="0"/>
              </a:rPr>
              <a:t>：只显示有多少行匹配，而不具体显示匹配的行</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-h</a:t>
            </a:r>
            <a:r>
              <a:rPr lang="zh-CN" altLang="en-US" sz="1400" i="1" smtClean="0">
                <a:solidFill>
                  <a:srgbClr val="333399"/>
                </a:solidFill>
                <a:latin typeface="Arial" panose="020B0604020202020204" pitchFamily="34" charset="0"/>
              </a:rPr>
              <a:t>：不显示文件名</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rPr>
              <a:t>-H</a:t>
            </a:r>
            <a:r>
              <a:rPr lang="zh-CN" altLang="en-US" sz="1400" i="1" smtClean="0">
                <a:solidFill>
                  <a:srgbClr val="333399"/>
                </a:solidFill>
                <a:latin typeface="Arial" panose="020B0604020202020204" pitchFamily="34" charset="0"/>
              </a:rPr>
              <a:t>：在每个符合的行前加上符合的文件名称</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-i </a:t>
            </a:r>
            <a:r>
              <a:rPr lang="zh-CN" altLang="en-US" sz="1400" i="1" smtClean="0">
                <a:solidFill>
                  <a:srgbClr val="333399"/>
                </a:solidFill>
                <a:latin typeface="Arial" panose="020B0604020202020204" pitchFamily="34" charset="0"/>
              </a:rPr>
              <a:t>：在字符串比较的时候忽略大小写</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-l</a:t>
            </a:r>
            <a:r>
              <a:rPr lang="zh-CN" altLang="en-US" sz="1400" i="1" smtClean="0">
                <a:solidFill>
                  <a:srgbClr val="333399"/>
                </a:solidFill>
                <a:latin typeface="Arial" panose="020B0604020202020204" pitchFamily="34" charset="0"/>
              </a:rPr>
              <a:t>：只显示包含匹配模板的行的文件名清单</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-L</a:t>
            </a:r>
            <a:r>
              <a:rPr lang="zh-CN" altLang="en-US" sz="1400" i="1" smtClean="0">
                <a:solidFill>
                  <a:srgbClr val="333399"/>
                </a:solidFill>
                <a:latin typeface="Arial" panose="020B0604020202020204" pitchFamily="34" charset="0"/>
              </a:rPr>
              <a:t>：只显示不包含匹配模板的行的文件名清单</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-n</a:t>
            </a:r>
            <a:r>
              <a:rPr lang="zh-CN" altLang="en-US" sz="1400" i="1" smtClean="0">
                <a:solidFill>
                  <a:srgbClr val="333399"/>
                </a:solidFill>
                <a:latin typeface="Arial" panose="020B0604020202020204" pitchFamily="34" charset="0"/>
              </a:rPr>
              <a:t>：在每一行前面打印该行在文件中的行数</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-v</a:t>
            </a:r>
            <a:r>
              <a:rPr lang="zh-CN" altLang="en-US" sz="1400" i="1" smtClean="0">
                <a:solidFill>
                  <a:srgbClr val="333399"/>
                </a:solidFill>
                <a:latin typeface="Arial" panose="020B0604020202020204" pitchFamily="34" charset="0"/>
              </a:rPr>
              <a:t>：反向检索，只显示不匹配的行</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-w</a:t>
            </a:r>
            <a:r>
              <a:rPr lang="zh-CN" altLang="en-US" sz="1400" i="1" smtClean="0">
                <a:solidFill>
                  <a:srgbClr val="333399"/>
                </a:solidFill>
                <a:latin typeface="Arial" panose="020B0604020202020204" pitchFamily="34" charset="0"/>
              </a:rPr>
              <a:t>：只显示完整单词的匹配</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-x</a:t>
            </a:r>
            <a:r>
              <a:rPr lang="zh-CN" altLang="en-US" sz="1400" i="1" smtClean="0">
                <a:solidFill>
                  <a:srgbClr val="333399"/>
                </a:solidFill>
                <a:latin typeface="Arial" panose="020B0604020202020204" pitchFamily="34" charset="0"/>
              </a:rPr>
              <a:t>：只显示完整行的匹配</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rPr>
              <a:t>-q</a:t>
            </a:r>
            <a:r>
              <a:rPr lang="zh-CN" altLang="en-US" sz="1400" i="1" smtClean="0">
                <a:solidFill>
                  <a:srgbClr val="333399"/>
                </a:solidFill>
                <a:latin typeface="Arial" panose="020B0604020202020204" pitchFamily="34" charset="0"/>
              </a:rPr>
              <a:t>：不显示任何输出</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rPr>
              <a:t>-C</a:t>
            </a:r>
            <a:r>
              <a:rPr lang="zh-CN" altLang="en-US" sz="1400" i="1" smtClean="0">
                <a:solidFill>
                  <a:srgbClr val="333399"/>
                </a:solidFill>
                <a:latin typeface="Arial" panose="020B0604020202020204" pitchFamily="34" charset="0"/>
              </a:rPr>
              <a:t>：列出符合行外并列出上下各NUM行，默认为2</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-B</a:t>
            </a:r>
            <a:r>
              <a:rPr lang="zh-CN" altLang="en-US" sz="1400" i="1" smtClean="0">
                <a:solidFill>
                  <a:srgbClr val="333399"/>
                </a:solidFill>
                <a:latin typeface="Arial" panose="020B0604020202020204" pitchFamily="34" charset="0"/>
              </a:rPr>
              <a:t>：列出符合行外并列出之前的NUM行</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-A</a:t>
            </a:r>
            <a:r>
              <a:rPr lang="zh-CN" altLang="en-US" sz="1400" i="1" smtClean="0">
                <a:solidFill>
                  <a:srgbClr val="333399"/>
                </a:solidFill>
                <a:latin typeface="Arial" panose="020B0604020202020204" pitchFamily="34" charset="0"/>
              </a:rPr>
              <a:t>：列出符合行外并列出之后的NUM行</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rPr>
              <a:t>-E</a:t>
            </a:r>
            <a:r>
              <a:rPr lang="zh-CN" altLang="en-US" sz="1400" i="1" smtClean="0">
                <a:solidFill>
                  <a:srgbClr val="333399"/>
                </a:solidFill>
                <a:latin typeface="Arial" panose="020B0604020202020204" pitchFamily="34" charset="0"/>
              </a:rPr>
              <a:t>：扩展正则表达式</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i="1" smtClean="0">
                <a:solidFill>
                  <a:srgbClr val="FF0000"/>
                </a:solidFill>
                <a:latin typeface="Arial" panose="020B0604020202020204" pitchFamily="34" charset="0"/>
                <a:sym typeface="Arial" panose="020B0604020202020204" pitchFamily="34" charset="0"/>
              </a:rPr>
              <a:t>-r/-R</a:t>
            </a:r>
            <a:r>
              <a:rPr lang="zh-CN" altLang="en-US" sz="1400" i="1" smtClean="0">
                <a:solidFill>
                  <a:srgbClr val="333399"/>
                </a:solidFill>
                <a:latin typeface="Arial" panose="020B0604020202020204" pitchFamily="34" charset="0"/>
              </a:rPr>
              <a:t>：若是目录，则递归搜索其所有子目录和文件</a:t>
            </a:r>
          </a:p>
        </p:txBody>
      </p:sp>
      <p:sp>
        <p:nvSpPr>
          <p:cNvPr id="12" name="Text Box 7"/>
          <p:cNvSpPr txBox="1">
            <a:spLocks noChangeArrowheads="1"/>
          </p:cNvSpPr>
          <p:nvPr/>
        </p:nvSpPr>
        <p:spPr bwMode="auto">
          <a:xfrm>
            <a:off x="1770040" y="935038"/>
            <a:ext cx="19050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1、grep语法</a:t>
            </a:r>
          </a:p>
        </p:txBody>
      </p:sp>
      <p:sp>
        <p:nvSpPr>
          <p:cNvPr id="13" name="Text Box 8"/>
          <p:cNvSpPr txBox="1">
            <a:spLocks noChangeArrowheads="1"/>
          </p:cNvSpPr>
          <p:nvPr/>
        </p:nvSpPr>
        <p:spPr bwMode="auto">
          <a:xfrm>
            <a:off x="1803378" y="1658938"/>
            <a:ext cx="35306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2、grep参数</a:t>
            </a:r>
          </a:p>
        </p:txBody>
      </p:sp>
      <p:sp>
        <p:nvSpPr>
          <p:cNvPr id="14" name="Text Box 9"/>
          <p:cNvSpPr txBox="1">
            <a:spLocks noChangeArrowheads="1"/>
          </p:cNvSpPr>
          <p:nvPr/>
        </p:nvSpPr>
        <p:spPr bwMode="auto">
          <a:xfrm>
            <a:off x="6708753" y="954088"/>
            <a:ext cx="2295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3、grep退出状态</a:t>
            </a:r>
          </a:p>
        </p:txBody>
      </p:sp>
      <p:sp>
        <p:nvSpPr>
          <p:cNvPr id="15" name="Text Box 10"/>
          <p:cNvSpPr txBox="1">
            <a:spLocks noChangeArrowheads="1"/>
          </p:cNvSpPr>
          <p:nvPr/>
        </p:nvSpPr>
        <p:spPr bwMode="auto">
          <a:xfrm>
            <a:off x="6772253" y="1346200"/>
            <a:ext cx="29527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0</a:t>
            </a:r>
            <a:r>
              <a:rPr lang="zh-CN" altLang="en-US" sz="1400" smtClean="0">
                <a:solidFill>
                  <a:srgbClr val="333399"/>
                </a:solidFill>
                <a:latin typeface="Arial" panose="020B0604020202020204" pitchFamily="34" charset="0"/>
              </a:rPr>
              <a:t>：成功</a:t>
            </a:r>
          </a:p>
          <a:p>
            <a:pPr marL="285750" indent="-285750" fontAlgn="base">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1</a:t>
            </a:r>
            <a:r>
              <a:rPr lang="zh-CN" altLang="en-US" sz="1400" smtClean="0">
                <a:solidFill>
                  <a:srgbClr val="333399"/>
                </a:solidFill>
                <a:latin typeface="Arial" panose="020B0604020202020204" pitchFamily="34" charset="0"/>
              </a:rPr>
              <a:t>：无法找到匹配的pattern</a:t>
            </a:r>
          </a:p>
          <a:p>
            <a:pPr marL="285750" indent="-285750" fontAlgn="base">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2</a:t>
            </a:r>
            <a:r>
              <a:rPr lang="zh-CN" altLang="en-US" sz="1400" smtClean="0">
                <a:solidFill>
                  <a:srgbClr val="333399"/>
                </a:solidFill>
                <a:latin typeface="Arial" panose="020B0604020202020204" pitchFamily="34" charset="0"/>
              </a:rPr>
              <a:t>：文件不存在</a:t>
            </a:r>
          </a:p>
          <a:p>
            <a:pPr fontAlgn="base">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grep 'root' /etc/passwd</a:t>
            </a:r>
          </a:p>
          <a:p>
            <a:pPr fontAlgn="base">
              <a:spcBef>
                <a:spcPct val="0"/>
              </a:spcBef>
              <a:spcAft>
                <a:spcPct val="0"/>
              </a:spcAft>
              <a:buSzPct val="100000"/>
              <a:buFont typeface="Wingdings" panose="05000000000000000000" pitchFamily="2" charset="2"/>
              <a:buNone/>
            </a:pPr>
            <a:r>
              <a:rPr lang="zh-CN" altLang="en-US" sz="1400" smtClean="0">
                <a:solidFill>
                  <a:srgbClr val="808080"/>
                </a:solidFill>
                <a:latin typeface="Arial" panose="020B0604020202020204" pitchFamily="34" charset="0"/>
              </a:rPr>
              <a:t>root:x:0:0:root:/root:/bin/bash</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echo $?</a:t>
            </a:r>
          </a:p>
          <a:p>
            <a:pPr fontAlgn="base">
              <a:spcBef>
                <a:spcPct val="0"/>
              </a:spcBef>
              <a:spcAft>
                <a:spcPct val="0"/>
              </a:spcAft>
              <a:buSzPct val="100000"/>
              <a:buFont typeface="Wingdings" panose="05000000000000000000" pitchFamily="2" charset="2"/>
              <a:buNone/>
            </a:pPr>
            <a:r>
              <a:rPr lang="zh-CN" altLang="en-US" sz="1400" smtClean="0">
                <a:solidFill>
                  <a:srgbClr val="808080"/>
                </a:solidFill>
                <a:latin typeface="Arial" panose="020B0604020202020204" pitchFamily="34" charset="0"/>
              </a:rPr>
              <a:t>0</a:t>
            </a:r>
          </a:p>
          <a:p>
            <a:pPr fontAlgn="base">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#用户root1并不存在</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grep 'root1' /etc/passwd      </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echo $?</a:t>
            </a:r>
          </a:p>
          <a:p>
            <a:pPr fontAlgn="base">
              <a:spcBef>
                <a:spcPct val="0"/>
              </a:spcBef>
              <a:spcAft>
                <a:spcPct val="0"/>
              </a:spcAft>
              <a:buSzPct val="100000"/>
              <a:buFont typeface="Wingdings" panose="05000000000000000000" pitchFamily="2" charset="2"/>
              <a:buNone/>
            </a:pPr>
            <a:r>
              <a:rPr lang="zh-CN" altLang="en-US" sz="1400" smtClean="0">
                <a:solidFill>
                  <a:srgbClr val="808080"/>
                </a:solidFill>
                <a:latin typeface="Arial" panose="020B0604020202020204" pitchFamily="34" charset="0"/>
              </a:rPr>
              <a:t>1</a:t>
            </a:r>
          </a:p>
          <a:p>
            <a:pPr fontAlgn="base">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#/etc/passwd1文件并不存在</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grep 'root' /etc/passwd1 </a:t>
            </a:r>
          </a:p>
          <a:p>
            <a:pPr fontAlgn="base">
              <a:spcBef>
                <a:spcPct val="0"/>
              </a:spcBef>
              <a:spcAft>
                <a:spcPct val="0"/>
              </a:spcAft>
              <a:buSzPct val="100000"/>
              <a:buFont typeface="Wingdings" panose="05000000000000000000" pitchFamily="2" charset="2"/>
              <a:buNone/>
            </a:pPr>
            <a:r>
              <a:rPr lang="zh-CN" altLang="en-US" sz="1400" smtClean="0">
                <a:solidFill>
                  <a:srgbClr val="808080"/>
                </a:solidFill>
                <a:latin typeface="Arial" panose="020B0604020202020204" pitchFamily="34" charset="0"/>
              </a:rPr>
              <a:t>grep: /etc/passwd1: No such file or directory</a:t>
            </a:r>
          </a:p>
          <a:p>
            <a:pPr fontAlgn="base">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echo $?</a:t>
            </a:r>
          </a:p>
          <a:p>
            <a:pPr fontAlgn="base">
              <a:spcBef>
                <a:spcPct val="0"/>
              </a:spcBef>
              <a:spcAft>
                <a:spcPct val="0"/>
              </a:spcAft>
              <a:buSzPct val="100000"/>
              <a:buFont typeface="Wingdings" panose="05000000000000000000" pitchFamily="2" charset="2"/>
              <a:buNone/>
            </a:pPr>
            <a:r>
              <a:rPr lang="zh-CN" altLang="en-US" sz="1400" smtClean="0">
                <a:solidFill>
                  <a:srgbClr val="808080"/>
                </a:solidFill>
                <a:latin typeface="Arial" panose="020B0604020202020204" pitchFamily="34" charset="0"/>
              </a:rPr>
              <a:t>2</a:t>
            </a:r>
          </a:p>
        </p:txBody>
      </p:sp>
    </p:spTree>
    <p:extLst>
      <p:ext uri="{BB962C8B-B14F-4D97-AF65-F5344CB8AC3E}">
        <p14:creationId xmlns:p14="http://schemas.microsoft.com/office/powerpoint/2010/main" val="82857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blinds(horizontal)">
                                      <p:cBhvr>
                                        <p:cTn id="32" dur="500"/>
                                        <p:tgtEl>
                                          <p:spTgt spid="15">
                                            <p:txEl>
                                              <p:pRg st="0" end="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5">
                                            <p:txEl>
                                              <p:pRg st="1" end="1"/>
                                            </p:txEl>
                                          </p:spTgt>
                                        </p:tgtEl>
                                        <p:attrNameLst>
                                          <p:attrName>style.visibility</p:attrName>
                                        </p:attrNameLst>
                                      </p:cBhvr>
                                      <p:to>
                                        <p:strVal val="visible"/>
                                      </p:to>
                                    </p:set>
                                    <p:animEffect transition="in" filter="blinds(horizontal)">
                                      <p:cBhvr>
                                        <p:cTn id="35" dur="500"/>
                                        <p:tgtEl>
                                          <p:spTgt spid="15">
                                            <p:txEl>
                                              <p:pRg st="1" end="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5">
                                            <p:txEl>
                                              <p:pRg st="2" end="2"/>
                                            </p:txEl>
                                          </p:spTgt>
                                        </p:tgtEl>
                                        <p:attrNameLst>
                                          <p:attrName>style.visibility</p:attrName>
                                        </p:attrNameLst>
                                      </p:cBhvr>
                                      <p:to>
                                        <p:strVal val="visible"/>
                                      </p:to>
                                    </p:set>
                                    <p:animEffect transition="in" filter="blinds(horizontal)">
                                      <p:cBhvr>
                                        <p:cTn id="38" dur="500"/>
                                        <p:tgtEl>
                                          <p:spTgt spid="15">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5">
                                            <p:txEl>
                                              <p:pRg st="4" end="4"/>
                                            </p:txEl>
                                          </p:spTgt>
                                        </p:tgtEl>
                                        <p:attrNameLst>
                                          <p:attrName>style.visibility</p:attrName>
                                        </p:attrNameLst>
                                      </p:cBhvr>
                                      <p:to>
                                        <p:strVal val="visible"/>
                                      </p:to>
                                    </p:set>
                                    <p:animEffect transition="in" filter="blinds(horizontal)">
                                      <p:cBhvr>
                                        <p:cTn id="43" dur="500"/>
                                        <p:tgtEl>
                                          <p:spTgt spid="15">
                                            <p:txEl>
                                              <p:pRg st="4" end="4"/>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5">
                                            <p:txEl>
                                              <p:pRg st="5" end="5"/>
                                            </p:txEl>
                                          </p:spTgt>
                                        </p:tgtEl>
                                        <p:attrNameLst>
                                          <p:attrName>style.visibility</p:attrName>
                                        </p:attrNameLst>
                                      </p:cBhvr>
                                      <p:to>
                                        <p:strVal val="visible"/>
                                      </p:to>
                                    </p:set>
                                    <p:animEffect transition="in" filter="blinds(horizontal)">
                                      <p:cBhvr>
                                        <p:cTn id="46" dur="500"/>
                                        <p:tgtEl>
                                          <p:spTgt spid="15">
                                            <p:txEl>
                                              <p:pRg st="5" end="5"/>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5">
                                            <p:txEl>
                                              <p:pRg st="6" end="6"/>
                                            </p:txEl>
                                          </p:spTgt>
                                        </p:tgtEl>
                                        <p:attrNameLst>
                                          <p:attrName>style.visibility</p:attrName>
                                        </p:attrNameLst>
                                      </p:cBhvr>
                                      <p:to>
                                        <p:strVal val="visible"/>
                                      </p:to>
                                    </p:set>
                                    <p:animEffect transition="in" filter="blinds(horizontal)">
                                      <p:cBhvr>
                                        <p:cTn id="49" dur="500"/>
                                        <p:tgtEl>
                                          <p:spTgt spid="15">
                                            <p:txEl>
                                              <p:pRg st="6" end="6"/>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15">
                                            <p:txEl>
                                              <p:pRg st="7" end="7"/>
                                            </p:txEl>
                                          </p:spTgt>
                                        </p:tgtEl>
                                        <p:attrNameLst>
                                          <p:attrName>style.visibility</p:attrName>
                                        </p:attrNameLst>
                                      </p:cBhvr>
                                      <p:to>
                                        <p:strVal val="visible"/>
                                      </p:to>
                                    </p:set>
                                    <p:animEffect transition="in" filter="blinds(horizontal)">
                                      <p:cBhvr>
                                        <p:cTn id="52" dur="500"/>
                                        <p:tgtEl>
                                          <p:spTgt spid="15">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
                                            <p:txEl>
                                              <p:pRg st="9" end="9"/>
                                            </p:txEl>
                                          </p:spTgt>
                                        </p:tgtEl>
                                        <p:attrNameLst>
                                          <p:attrName>style.visibility</p:attrName>
                                        </p:attrNameLst>
                                      </p:cBhvr>
                                      <p:to>
                                        <p:strVal val="visible"/>
                                      </p:to>
                                    </p:set>
                                    <p:animEffect transition="in" filter="blinds(horizontal)">
                                      <p:cBhvr>
                                        <p:cTn id="57" dur="500"/>
                                        <p:tgtEl>
                                          <p:spTgt spid="15">
                                            <p:txEl>
                                              <p:pRg st="9" end="9"/>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5">
                                            <p:txEl>
                                              <p:pRg st="10" end="10"/>
                                            </p:txEl>
                                          </p:spTgt>
                                        </p:tgtEl>
                                        <p:attrNameLst>
                                          <p:attrName>style.visibility</p:attrName>
                                        </p:attrNameLst>
                                      </p:cBhvr>
                                      <p:to>
                                        <p:strVal val="visible"/>
                                      </p:to>
                                    </p:set>
                                    <p:animEffect transition="in" filter="blinds(horizontal)">
                                      <p:cBhvr>
                                        <p:cTn id="60" dur="500"/>
                                        <p:tgtEl>
                                          <p:spTgt spid="15">
                                            <p:txEl>
                                              <p:pRg st="10" end="10"/>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15">
                                            <p:txEl>
                                              <p:pRg st="11" end="11"/>
                                            </p:txEl>
                                          </p:spTgt>
                                        </p:tgtEl>
                                        <p:attrNameLst>
                                          <p:attrName>style.visibility</p:attrName>
                                        </p:attrNameLst>
                                      </p:cBhvr>
                                      <p:to>
                                        <p:strVal val="visible"/>
                                      </p:to>
                                    </p:set>
                                    <p:animEffect transition="in" filter="blinds(horizontal)">
                                      <p:cBhvr>
                                        <p:cTn id="63" dur="500"/>
                                        <p:tgtEl>
                                          <p:spTgt spid="15">
                                            <p:txEl>
                                              <p:pRg st="11" end="11"/>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15">
                                            <p:txEl>
                                              <p:pRg st="12" end="12"/>
                                            </p:txEl>
                                          </p:spTgt>
                                        </p:tgtEl>
                                        <p:attrNameLst>
                                          <p:attrName>style.visibility</p:attrName>
                                        </p:attrNameLst>
                                      </p:cBhvr>
                                      <p:to>
                                        <p:strVal val="visible"/>
                                      </p:to>
                                    </p:set>
                                    <p:animEffect transition="in" filter="blinds(horizontal)">
                                      <p:cBhvr>
                                        <p:cTn id="66" dur="500"/>
                                        <p:tgtEl>
                                          <p:spTgt spid="15">
                                            <p:txEl>
                                              <p:pRg st="12" end="1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5">
                                            <p:txEl>
                                              <p:pRg st="14" end="14"/>
                                            </p:txEl>
                                          </p:spTgt>
                                        </p:tgtEl>
                                        <p:attrNameLst>
                                          <p:attrName>style.visibility</p:attrName>
                                        </p:attrNameLst>
                                      </p:cBhvr>
                                      <p:to>
                                        <p:strVal val="visible"/>
                                      </p:to>
                                    </p:set>
                                    <p:animEffect transition="in" filter="blinds(horizontal)">
                                      <p:cBhvr>
                                        <p:cTn id="71" dur="500"/>
                                        <p:tgtEl>
                                          <p:spTgt spid="15">
                                            <p:txEl>
                                              <p:pRg st="14" end="14"/>
                                            </p:txEl>
                                          </p:spTgt>
                                        </p:tgtEl>
                                      </p:cBhvr>
                                    </p:animEffect>
                                  </p:childTnLst>
                                </p:cTn>
                              </p:par>
                              <p:par>
                                <p:cTn id="72" presetID="3" presetClass="entr" presetSubtype="10" fill="hold" nodeType="withEffect">
                                  <p:stCondLst>
                                    <p:cond delay="0"/>
                                  </p:stCondLst>
                                  <p:childTnLst>
                                    <p:set>
                                      <p:cBhvr>
                                        <p:cTn id="73" dur="1" fill="hold">
                                          <p:stCondLst>
                                            <p:cond delay="0"/>
                                          </p:stCondLst>
                                        </p:cTn>
                                        <p:tgtEl>
                                          <p:spTgt spid="15">
                                            <p:txEl>
                                              <p:pRg st="15" end="15"/>
                                            </p:txEl>
                                          </p:spTgt>
                                        </p:tgtEl>
                                        <p:attrNameLst>
                                          <p:attrName>style.visibility</p:attrName>
                                        </p:attrNameLst>
                                      </p:cBhvr>
                                      <p:to>
                                        <p:strVal val="visible"/>
                                      </p:to>
                                    </p:set>
                                    <p:animEffect transition="in" filter="blinds(horizontal)">
                                      <p:cBhvr>
                                        <p:cTn id="74" dur="500"/>
                                        <p:tgtEl>
                                          <p:spTgt spid="15">
                                            <p:txEl>
                                              <p:pRg st="15" end="15"/>
                                            </p:txEl>
                                          </p:spTgt>
                                        </p:tgtEl>
                                      </p:cBhvr>
                                    </p:animEffect>
                                  </p:childTnLst>
                                </p:cTn>
                              </p:par>
                              <p:par>
                                <p:cTn id="75" presetID="3" presetClass="entr" presetSubtype="10" fill="hold" nodeType="withEffect">
                                  <p:stCondLst>
                                    <p:cond delay="0"/>
                                  </p:stCondLst>
                                  <p:childTnLst>
                                    <p:set>
                                      <p:cBhvr>
                                        <p:cTn id="76" dur="1" fill="hold">
                                          <p:stCondLst>
                                            <p:cond delay="0"/>
                                          </p:stCondLst>
                                        </p:cTn>
                                        <p:tgtEl>
                                          <p:spTgt spid="15">
                                            <p:txEl>
                                              <p:pRg st="16" end="16"/>
                                            </p:txEl>
                                          </p:spTgt>
                                        </p:tgtEl>
                                        <p:attrNameLst>
                                          <p:attrName>style.visibility</p:attrName>
                                        </p:attrNameLst>
                                      </p:cBhvr>
                                      <p:to>
                                        <p:strVal val="visible"/>
                                      </p:to>
                                    </p:set>
                                    <p:animEffect transition="in" filter="blinds(horizontal)">
                                      <p:cBhvr>
                                        <p:cTn id="77" dur="500"/>
                                        <p:tgtEl>
                                          <p:spTgt spid="15">
                                            <p:txEl>
                                              <p:pRg st="16" end="16"/>
                                            </p:txEl>
                                          </p:spTgt>
                                        </p:tgtEl>
                                      </p:cBhvr>
                                    </p:animEffect>
                                  </p:childTnLst>
                                </p:cTn>
                              </p:par>
                              <p:par>
                                <p:cTn id="78" presetID="3" presetClass="entr" presetSubtype="10" fill="hold" nodeType="withEffect">
                                  <p:stCondLst>
                                    <p:cond delay="0"/>
                                  </p:stCondLst>
                                  <p:childTnLst>
                                    <p:set>
                                      <p:cBhvr>
                                        <p:cTn id="79" dur="1" fill="hold">
                                          <p:stCondLst>
                                            <p:cond delay="0"/>
                                          </p:stCondLst>
                                        </p:cTn>
                                        <p:tgtEl>
                                          <p:spTgt spid="15">
                                            <p:txEl>
                                              <p:pRg st="17" end="17"/>
                                            </p:txEl>
                                          </p:spTgt>
                                        </p:tgtEl>
                                        <p:attrNameLst>
                                          <p:attrName>style.visibility</p:attrName>
                                        </p:attrNameLst>
                                      </p:cBhvr>
                                      <p:to>
                                        <p:strVal val="visible"/>
                                      </p:to>
                                    </p:set>
                                    <p:animEffect transition="in" filter="blinds(horizontal)">
                                      <p:cBhvr>
                                        <p:cTn id="80" dur="500"/>
                                        <p:tgtEl>
                                          <p:spTgt spid="15">
                                            <p:txEl>
                                              <p:pRg st="17" end="17"/>
                                            </p:txEl>
                                          </p:spTgt>
                                        </p:tgtEl>
                                      </p:cBhvr>
                                    </p:animEffect>
                                  </p:childTnLst>
                                </p:cTn>
                              </p:par>
                              <p:par>
                                <p:cTn id="81" presetID="3" presetClass="entr" presetSubtype="10" fill="hold" nodeType="withEffect">
                                  <p:stCondLst>
                                    <p:cond delay="0"/>
                                  </p:stCondLst>
                                  <p:childTnLst>
                                    <p:set>
                                      <p:cBhvr>
                                        <p:cTn id="82" dur="1" fill="hold">
                                          <p:stCondLst>
                                            <p:cond delay="0"/>
                                          </p:stCondLst>
                                        </p:cTn>
                                        <p:tgtEl>
                                          <p:spTgt spid="15">
                                            <p:txEl>
                                              <p:pRg st="18" end="18"/>
                                            </p:txEl>
                                          </p:spTgt>
                                        </p:tgtEl>
                                        <p:attrNameLst>
                                          <p:attrName>style.visibility</p:attrName>
                                        </p:attrNameLst>
                                      </p:cBhvr>
                                      <p:to>
                                        <p:strVal val="visible"/>
                                      </p:to>
                                    </p:set>
                                    <p:animEffect transition="in" filter="blinds(horizontal)">
                                      <p:cBhvr>
                                        <p:cTn id="83" dur="500"/>
                                        <p:tgtEl>
                                          <p:spTgt spid="15">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utoUpdateAnimBg="0"/>
      <p:bldP spid="11" grpId="0" bldLvl="0" autoUpdateAnimBg="0"/>
      <p:bldP spid="12" grpId="0" bldLvl="0" autoUpdateAnimBg="0"/>
      <p:bldP spid="13" grpId="0" bldLvl="0" autoUpdateAnimBg="0"/>
      <p:bldP spid="14" grpId="0" bldLvl="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grep</a:t>
            </a:r>
            <a:endParaRPr lang="zh-CN" altLang="en-US" dirty="0"/>
          </a:p>
        </p:txBody>
      </p:sp>
      <p:sp>
        <p:nvSpPr>
          <p:cNvPr id="6" name="Text Box 2"/>
          <p:cNvSpPr txBox="1">
            <a:spLocks noChangeArrowheads="1"/>
          </p:cNvSpPr>
          <p:nvPr/>
        </p:nvSpPr>
        <p:spPr bwMode="auto">
          <a:xfrm>
            <a:off x="1684136" y="1795687"/>
            <a:ext cx="7996238"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grep NW file </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rPr>
              <a:t># 打印出file中所有包含NW的行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rPr>
              <a:t>grep '^n' file </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打印出以n开头的行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'4$'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打印出以4结尾的行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'5\..'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打印出第一个字符是5，后面跟着一个.字符，再后面是任意字符的行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'\.5'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打印出所有包含.5的行</a:t>
            </a:r>
          </a:p>
          <a:p>
            <a:pPr fontAlgn="base">
              <a:lnSpc>
                <a:spcPct val="13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'^[we]'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打印出所有以w或e开头的行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'[^0-9]'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打印出所有不是以0-9开头的行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'[A-Z] [A-Z]'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打印出所有前一个字符是大写，后跟一个空格及一个大写字母的行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'[a-z]\{9\}'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打印所有包含至少有9个连续小写字符的字符串的行</a:t>
            </a:r>
            <a:endParaRPr lang="zh-CN" altLang="en-US" sz="1400" dirty="0" smtClean="0">
              <a:solidFill>
                <a:srgbClr val="FF0000"/>
              </a:solidFill>
              <a:latin typeface="Arial" panose="020B0604020202020204" pitchFamily="34" charset="0"/>
              <a:sym typeface="Arial" panose="020B0604020202020204" pitchFamily="34" charset="0"/>
            </a:endParaRP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a:t>
            </a:r>
            <a:r>
              <a:rPr lang="zh-CN" altLang="en-US" sz="1400" dirty="0" smtClean="0">
                <a:solidFill>
                  <a:srgbClr val="FF0000"/>
                </a:solidFill>
                <a:latin typeface="Arial" panose="020B0604020202020204" pitchFamily="34" charset="0"/>
                <a:sym typeface="Arial" panose="020B0604020202020204" pitchFamily="34" charset="0"/>
              </a:rPr>
              <a:t> grep '\&lt;north' file </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打印所有以north开头的单词的行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'\&lt;north\&gt;'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打印所有包含单词north的行</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'^n\w*'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第一个字符是n，后面是任意字母或者数字</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egrep 'NW|EA' file</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打印所有包含NW或EA的行。或grep -E</a:t>
            </a:r>
          </a:p>
          <a:p>
            <a:pPr fontAlgn="base">
              <a:lnSpc>
                <a:spcPct val="120000"/>
              </a:lnSpc>
              <a:spcBef>
                <a:spcPct val="0"/>
              </a:spcBef>
              <a:spcAft>
                <a:spcPct val="0"/>
              </a:spcAft>
              <a:buSzPct val="100000"/>
              <a:buFont typeface="Wingdings" panose="05000000000000000000" pitchFamily="2" charset="2"/>
              <a:buNone/>
            </a:pPr>
            <a:r>
              <a:rPr lang="zh-CN" altLang="en-US" sz="1400" dirty="0" smtClean="0">
                <a:solidFill>
                  <a:srgbClr val="333399"/>
                </a:solidFill>
                <a:latin typeface="Arial" panose="020B0604020202020204" pitchFamily="34" charset="0"/>
              </a:rPr>
              <a:t>$ </a:t>
            </a:r>
            <a:r>
              <a:rPr lang="zh-CN" altLang="en-US" sz="1400" dirty="0" smtClean="0">
                <a:solidFill>
                  <a:srgbClr val="FF0000"/>
                </a:solidFill>
                <a:latin typeface="Arial" panose="020B0604020202020204" pitchFamily="34" charset="0"/>
                <a:sym typeface="Arial" panose="020B0604020202020204" pitchFamily="34" charset="0"/>
              </a:rPr>
              <a:t>grep 'NW\|EA' file </a:t>
            </a:r>
            <a:r>
              <a:rPr lang="zh-CN" altLang="en-US" sz="1400" dirty="0" smtClean="0">
                <a:solidFill>
                  <a:srgbClr val="333399"/>
                </a:solidFill>
                <a:latin typeface="Arial" panose="020B0604020202020204" pitchFamily="34" charset="0"/>
              </a:rPr>
              <a:t>    	</a:t>
            </a:r>
            <a:r>
              <a:rPr lang="zh-CN" altLang="en-US" sz="1400" i="1" dirty="0" smtClean="0">
                <a:solidFill>
                  <a:srgbClr val="333399"/>
                </a:solidFill>
                <a:latin typeface="Arial" panose="020B0604020202020204" pitchFamily="34" charset="0"/>
                <a:sym typeface="Arial" panose="020B0604020202020204" pitchFamily="34" charset="0"/>
              </a:rPr>
              <a:t># 对于标准grep，若在扩展元字符前面加\，grep会自动启用-E</a:t>
            </a:r>
          </a:p>
        </p:txBody>
      </p:sp>
      <p:sp>
        <p:nvSpPr>
          <p:cNvPr id="7" name="Text Box 6"/>
          <p:cNvSpPr txBox="1">
            <a:spLocks noChangeArrowheads="1"/>
          </p:cNvSpPr>
          <p:nvPr/>
        </p:nvSpPr>
        <p:spPr bwMode="auto">
          <a:xfrm>
            <a:off x="1652386" y="1449612"/>
            <a:ext cx="26257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4、grep pattern实例</a:t>
            </a:r>
          </a:p>
        </p:txBody>
      </p:sp>
    </p:spTree>
    <p:extLst>
      <p:ext uri="{BB962C8B-B14F-4D97-AF65-F5344CB8AC3E}">
        <p14:creationId xmlns:p14="http://schemas.microsoft.com/office/powerpoint/2010/main" val="10378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utoUpdateAnimBg="0"/>
      <p:bldP spid="7" grpId="0" bldLvl="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dd</a:t>
            </a:r>
            <a:endParaRPr lang="zh-CN" altLang="en-US" dirty="0"/>
          </a:p>
        </p:txBody>
      </p:sp>
      <p:sp>
        <p:nvSpPr>
          <p:cNvPr id="12" name="Text Box 2"/>
          <p:cNvSpPr txBox="1">
            <a:spLocks noChangeArrowheads="1"/>
          </p:cNvSpPr>
          <p:nvPr/>
        </p:nvSpPr>
        <p:spPr bwMode="auto">
          <a:xfrm>
            <a:off x="1903078" y="1547500"/>
            <a:ext cx="7996238"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用指定大小的块拷贝一个文件，并在拷贝的同时进行指定的转换</a:t>
            </a:r>
          </a:p>
        </p:txBody>
      </p:sp>
      <p:sp>
        <p:nvSpPr>
          <p:cNvPr id="13" name="Text Box 6"/>
          <p:cNvSpPr txBox="1">
            <a:spLocks noChangeArrowheads="1"/>
          </p:cNvSpPr>
          <p:nvPr/>
        </p:nvSpPr>
        <p:spPr bwMode="auto">
          <a:xfrm>
            <a:off x="1871328" y="1201425"/>
            <a:ext cx="19050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1、dd描述</a:t>
            </a:r>
          </a:p>
        </p:txBody>
      </p:sp>
      <p:sp>
        <p:nvSpPr>
          <p:cNvPr id="14" name="Text Box 7"/>
          <p:cNvSpPr txBox="1">
            <a:spLocks noChangeArrowheads="1"/>
          </p:cNvSpPr>
          <p:nvPr/>
        </p:nvSpPr>
        <p:spPr bwMode="auto">
          <a:xfrm>
            <a:off x="1877678" y="1939612"/>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2、dd格式</a:t>
            </a:r>
            <a:endParaRPr lang="zh-CN" altLang="en-US" smtClean="0">
              <a:solidFill>
                <a:srgbClr val="000000"/>
              </a:solidFill>
              <a:latin typeface="Arial" panose="020B0604020202020204" pitchFamily="34" charset="0"/>
            </a:endParaRPr>
          </a:p>
        </p:txBody>
      </p:sp>
      <p:sp>
        <p:nvSpPr>
          <p:cNvPr id="15" name="Text Box 8"/>
          <p:cNvSpPr txBox="1">
            <a:spLocks noChangeArrowheads="1"/>
          </p:cNvSpPr>
          <p:nvPr/>
        </p:nvSpPr>
        <p:spPr bwMode="auto">
          <a:xfrm>
            <a:off x="1898316" y="2295212"/>
            <a:ext cx="7996237"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2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dd -if= -of= ...</a:t>
            </a:r>
          </a:p>
        </p:txBody>
      </p:sp>
      <p:sp>
        <p:nvSpPr>
          <p:cNvPr id="16" name="Text Box 9"/>
          <p:cNvSpPr txBox="1">
            <a:spLocks noChangeArrowheads="1"/>
          </p:cNvSpPr>
          <p:nvPr/>
        </p:nvSpPr>
        <p:spPr bwMode="auto">
          <a:xfrm>
            <a:off x="1880853" y="2671450"/>
            <a:ext cx="175101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3、dd常用参数</a:t>
            </a:r>
            <a:endParaRPr lang="zh-CN" altLang="en-US" smtClean="0">
              <a:solidFill>
                <a:srgbClr val="000000"/>
              </a:solidFill>
              <a:latin typeface="Arial" panose="020B0604020202020204" pitchFamily="34" charset="0"/>
            </a:endParaRPr>
          </a:p>
        </p:txBody>
      </p:sp>
      <p:sp>
        <p:nvSpPr>
          <p:cNvPr id="17" name="Text Box 10"/>
          <p:cNvSpPr txBox="1">
            <a:spLocks noChangeArrowheads="1"/>
          </p:cNvSpPr>
          <p:nvPr/>
        </p:nvSpPr>
        <p:spPr bwMode="auto">
          <a:xfrm>
            <a:off x="1903078" y="3028637"/>
            <a:ext cx="7346950" cy="213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if</a:t>
            </a:r>
            <a:r>
              <a:rPr lang="zh-CN" altLang="en-US" sz="1400" smtClean="0">
                <a:solidFill>
                  <a:srgbClr val="333399"/>
                </a:solidFill>
                <a:latin typeface="Arial" panose="020B0604020202020204" pitchFamily="34" charset="0"/>
              </a:rPr>
              <a:t>=输入文件名：缺省为标准输入</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of</a:t>
            </a:r>
            <a:r>
              <a:rPr lang="zh-CN" altLang="en-US" sz="1400" smtClean="0">
                <a:solidFill>
                  <a:srgbClr val="333399"/>
                </a:solidFill>
                <a:latin typeface="Arial" panose="020B0604020202020204" pitchFamily="34" charset="0"/>
              </a:rPr>
              <a:t>=输出文件名：缺省为标准输出</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ibs</a:t>
            </a:r>
            <a:r>
              <a:rPr lang="zh-CN" altLang="en-US" sz="1400" smtClean="0">
                <a:solidFill>
                  <a:srgbClr val="333399"/>
                </a:solidFill>
                <a:latin typeface="Arial" panose="020B0604020202020204" pitchFamily="34" charset="0"/>
              </a:rPr>
              <a:t>=bytes：一次读入bytes个字节，即指定一个块大小为bytes个字节</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obs</a:t>
            </a:r>
            <a:r>
              <a:rPr lang="zh-CN" altLang="en-US" sz="1400" smtClean="0">
                <a:solidFill>
                  <a:srgbClr val="333399"/>
                </a:solidFill>
                <a:latin typeface="Arial" panose="020B0604020202020204" pitchFamily="34" charset="0"/>
              </a:rPr>
              <a:t>=bytes：一次输出bytes个字节，即指定一个块大小为bytes个字节</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bs</a:t>
            </a:r>
            <a:r>
              <a:rPr lang="zh-CN" altLang="en-US" sz="1400" smtClean="0">
                <a:solidFill>
                  <a:srgbClr val="333399"/>
                </a:solidFill>
                <a:latin typeface="Arial" panose="020B0604020202020204" pitchFamily="34" charset="0"/>
              </a:rPr>
              <a:t>=bytes：同时设置读入/输出的块大小为bytes个字节</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skip</a:t>
            </a:r>
            <a:r>
              <a:rPr lang="zh-CN" altLang="en-US" sz="1400" smtClean="0">
                <a:solidFill>
                  <a:srgbClr val="333399"/>
                </a:solidFill>
                <a:latin typeface="Arial" panose="020B0604020202020204" pitchFamily="34" charset="0"/>
              </a:rPr>
              <a:t>=blocks：从输入文件开头跳过blocks个块后再开始复制</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count</a:t>
            </a:r>
            <a:r>
              <a:rPr lang="zh-CN" altLang="en-US" sz="1400" smtClean="0">
                <a:solidFill>
                  <a:srgbClr val="333399"/>
                </a:solidFill>
                <a:latin typeface="Arial" panose="020B0604020202020204" pitchFamily="34" charset="0"/>
              </a:rPr>
              <a:t>=blocks：仅拷贝blocks个块，块大小等于ibs指定的字节数</a:t>
            </a:r>
          </a:p>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conv</a:t>
            </a:r>
            <a:r>
              <a:rPr lang="zh-CN" altLang="en-US" sz="1400" smtClean="0">
                <a:solidFill>
                  <a:srgbClr val="333399"/>
                </a:solidFill>
                <a:latin typeface="Arial" panose="020B0604020202020204" pitchFamily="34" charset="0"/>
              </a:rPr>
              <a:t>=conversion：用指定的参数转换文件(lcase：大写转小写；ucase：小写转大写)</a:t>
            </a:r>
          </a:p>
        </p:txBody>
      </p:sp>
      <p:sp>
        <p:nvSpPr>
          <p:cNvPr id="18" name="Text Box 11"/>
          <p:cNvSpPr txBox="1">
            <a:spLocks noChangeArrowheads="1"/>
          </p:cNvSpPr>
          <p:nvPr/>
        </p:nvSpPr>
        <p:spPr bwMode="auto">
          <a:xfrm>
            <a:off x="1884028" y="5170175"/>
            <a:ext cx="22526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4、dd备份与恢复</a:t>
            </a:r>
            <a:endParaRPr lang="zh-CN" altLang="en-US" smtClean="0">
              <a:solidFill>
                <a:srgbClr val="000000"/>
              </a:solidFill>
              <a:latin typeface="Arial" panose="020B0604020202020204" pitchFamily="34" charset="0"/>
            </a:endParaRPr>
          </a:p>
        </p:txBody>
      </p:sp>
      <p:sp>
        <p:nvSpPr>
          <p:cNvPr id="19" name="Text Box 12"/>
          <p:cNvSpPr txBox="1">
            <a:spLocks noChangeArrowheads="1"/>
          </p:cNvSpPr>
          <p:nvPr/>
        </p:nvSpPr>
        <p:spPr bwMode="auto">
          <a:xfrm>
            <a:off x="1899903" y="5541650"/>
            <a:ext cx="50498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备份并压缩</a:t>
            </a:r>
            <a:r>
              <a:rPr lang="zh-CN" altLang="en-US" sz="1400" smtClean="0">
                <a:solidFill>
                  <a:srgbClr val="333399"/>
                </a:solidFill>
                <a:latin typeface="Arial" panose="020B0604020202020204" pitchFamily="34" charset="0"/>
              </a:rPr>
              <a:t>：</a:t>
            </a:r>
            <a:r>
              <a:rPr lang="zh-CN" altLang="en-US" sz="1400" i="1" smtClean="0">
                <a:solidFill>
                  <a:srgbClr val="333399"/>
                </a:solidFill>
                <a:latin typeface="Arial" panose="020B0604020202020204" pitchFamily="34" charset="0"/>
              </a:rPr>
              <a:t>dd if=/dev/hdb | gzip &gt; /root/image.gz</a:t>
            </a:r>
          </a:p>
          <a:p>
            <a:pPr marL="285750" indent="-285750" fontAlgn="base">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恢复压缩文件</a:t>
            </a:r>
            <a:r>
              <a:rPr lang="zh-CN" altLang="en-US" sz="1400" smtClean="0">
                <a:solidFill>
                  <a:srgbClr val="333399"/>
                </a:solidFill>
                <a:latin typeface="Arial" panose="020B0604020202020204" pitchFamily="34" charset="0"/>
              </a:rPr>
              <a:t>：</a:t>
            </a:r>
            <a:r>
              <a:rPr lang="zh-CN" altLang="en-US" sz="1400" i="1" smtClean="0">
                <a:solidFill>
                  <a:srgbClr val="333399"/>
                </a:solidFill>
                <a:latin typeface="Arial" panose="020B0604020202020204" pitchFamily="34" charset="0"/>
              </a:rPr>
              <a:t>gzip -dc /root/image.gz | dd of=/dev/hdb</a:t>
            </a:r>
          </a:p>
        </p:txBody>
      </p:sp>
    </p:spTree>
    <p:extLst>
      <p:ext uri="{BB962C8B-B14F-4D97-AF65-F5344CB8AC3E}">
        <p14:creationId xmlns:p14="http://schemas.microsoft.com/office/powerpoint/2010/main" val="231949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linds(horizontal)">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
                                            <p:txEl>
                                              <p:pRg st="0" end="0"/>
                                            </p:txEl>
                                          </p:spTgt>
                                        </p:tgtEl>
                                        <p:attrNameLst>
                                          <p:attrName>style.visibility</p:attrName>
                                        </p:attrNameLst>
                                      </p:cBhvr>
                                      <p:to>
                                        <p:strVal val="visible"/>
                                      </p:to>
                                    </p:set>
                                    <p:animEffect transition="in" filter="blinds(horizontal)">
                                      <p:cBhvr>
                                        <p:cTn id="42" dur="500"/>
                                        <p:tgtEl>
                                          <p:spTgt spid="1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9">
                                            <p:txEl>
                                              <p:pRg st="1" end="1"/>
                                            </p:txEl>
                                          </p:spTgt>
                                        </p:tgtEl>
                                        <p:attrNameLst>
                                          <p:attrName>style.visibility</p:attrName>
                                        </p:attrNameLst>
                                      </p:cBhvr>
                                      <p:to>
                                        <p:strVal val="visible"/>
                                      </p:to>
                                    </p:set>
                                    <p:animEffect transition="in" filter="blinds(horizontal)">
                                      <p:cBhvr>
                                        <p:cTn id="47" dur="500"/>
                                        <p:tgtEl>
                                          <p:spTgt spid="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utoUpdateAnimBg="0"/>
      <p:bldP spid="13" grpId="0" bldLvl="0" autoUpdateAnimBg="0"/>
      <p:bldP spid="14" grpId="0" bldLvl="0" autoUpdateAnimBg="0"/>
      <p:bldP spid="15" grpId="0" bldLvl="0" autoUpdateAnimBg="0"/>
      <p:bldP spid="16" grpId="0" bldLvl="0" autoUpdateAnimBg="0"/>
      <p:bldP spid="17" grpId="0" bldLvl="0" autoUpdateAnimBg="0"/>
      <p:bldP spid="18" grpId="0" bldLvl="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用法</a:t>
            </a:r>
          </a:p>
        </p:txBody>
      </p:sp>
      <p:graphicFrame>
        <p:nvGraphicFramePr>
          <p:cNvPr id="7" name="Group 2"/>
          <p:cNvGraphicFramePr>
            <a:graphicFrameLocks/>
          </p:cNvGraphicFramePr>
          <p:nvPr>
            <p:extLst>
              <p:ext uri="{D42A27DB-BD31-4B8C-83A1-F6EECF244321}">
                <p14:modId xmlns:p14="http://schemas.microsoft.com/office/powerpoint/2010/main" val="1515081067"/>
              </p:ext>
            </p:extLst>
          </p:nvPr>
        </p:nvGraphicFramePr>
        <p:xfrm>
          <a:off x="1723980" y="2156384"/>
          <a:ext cx="6353175" cy="3352800"/>
        </p:xfrm>
        <a:graphic>
          <a:graphicData uri="http://schemas.openxmlformats.org/drawingml/2006/table">
            <a:tbl>
              <a:tblPr/>
              <a:tblGrid>
                <a:gridCol w="1311275"/>
                <a:gridCol w="2986088"/>
                <a:gridCol w="2055812"/>
              </a:tblGrid>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dirty="0" smtClean="0">
                          <a:ln>
                            <a:noFill/>
                          </a:ln>
                          <a:solidFill>
                            <a:srgbClr val="FFFF00"/>
                          </a:solidFill>
                          <a:effectLst/>
                          <a:latin typeface="Calibri" panose="020F0502020204030204" pitchFamily="34" charset="0"/>
                          <a:ea typeface="宋体" panose="02010600030101010101" pitchFamily="2" charset="-122"/>
                        </a:rPr>
                        <a:t>取值</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含义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结果</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拿掉第一条 / 及其左边的字串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dir1/dir2/dir3/my.file.txt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拿掉最后一条 / 及其左边的字串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my.file.txt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拿掉第一个 . 及其左边的字串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file.txt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拿掉最后一个 . 及其左边的字串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拿掉最后条 / 及其右边的字串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/dir1/dir2/dir3</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拿掉第一条 / 及其右边的字串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(空值)</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拿掉最后一个 . 及其右边的字串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/dir1/dir2/dir3/my.file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拿掉第一个 . 及其右边的字串</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/dir1/dir2/dir3/my</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${file:0:5}</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提取最左边的 5 个字符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/dir1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${file:5:5}</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提取第5个字符右边的连续5个字符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rPr>
                        <a:t>/dir2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bl>
          </a:graphicData>
        </a:graphic>
      </p:graphicFrame>
      <p:sp>
        <p:nvSpPr>
          <p:cNvPr id="8" name="Text Box 119"/>
          <p:cNvSpPr txBox="1">
            <a:spLocks noChangeArrowheads="1"/>
          </p:cNvSpPr>
          <p:nvPr/>
        </p:nvSpPr>
        <p:spPr bwMode="auto">
          <a:xfrm>
            <a:off x="1620793" y="1794434"/>
            <a:ext cx="745013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400" i="1" smtClean="0">
                <a:solidFill>
                  <a:srgbClr val="333399"/>
                </a:solidFill>
                <a:latin typeface="Arial" panose="020B0604020202020204" pitchFamily="34" charset="0"/>
              </a:rPr>
              <a:t>假设：file=/dir1/dir2/dir3/my.file.txt </a:t>
            </a:r>
          </a:p>
        </p:txBody>
      </p:sp>
      <p:sp>
        <p:nvSpPr>
          <p:cNvPr id="9" name="Text Box 120"/>
          <p:cNvSpPr txBox="1">
            <a:spLocks noChangeArrowheads="1"/>
          </p:cNvSpPr>
          <p:nvPr/>
        </p:nvSpPr>
        <p:spPr bwMode="auto">
          <a:xfrm>
            <a:off x="1549355" y="1435659"/>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1、字符串取值</a:t>
            </a:r>
          </a:p>
        </p:txBody>
      </p:sp>
    </p:spTree>
    <p:extLst>
      <p:ext uri="{BB962C8B-B14F-4D97-AF65-F5344CB8AC3E}">
        <p14:creationId xmlns:p14="http://schemas.microsoft.com/office/powerpoint/2010/main" val="339320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用法</a:t>
            </a:r>
          </a:p>
        </p:txBody>
      </p:sp>
      <p:graphicFrame>
        <p:nvGraphicFramePr>
          <p:cNvPr id="9" name="Group 2"/>
          <p:cNvGraphicFramePr>
            <a:graphicFrameLocks noGrp="1"/>
          </p:cNvGraphicFramePr>
          <p:nvPr>
            <p:extLst>
              <p:ext uri="{D42A27DB-BD31-4B8C-83A1-F6EECF244321}">
                <p14:modId xmlns:p14="http://schemas.microsoft.com/office/powerpoint/2010/main" val="3418469247"/>
              </p:ext>
            </p:extLst>
          </p:nvPr>
        </p:nvGraphicFramePr>
        <p:xfrm>
          <a:off x="1815720" y="1713606"/>
          <a:ext cx="6999287" cy="1219200"/>
        </p:xfrm>
        <a:graphic>
          <a:graphicData uri="http://schemas.openxmlformats.org/drawingml/2006/table">
            <a:tbl>
              <a:tblPr/>
              <a:tblGrid>
                <a:gridCol w="1508125"/>
                <a:gridCol w="2125662"/>
                <a:gridCol w="3365500"/>
              </a:tblGrid>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00"/>
                          </a:solidFill>
                          <a:effectLst/>
                          <a:latin typeface="Calibri" panose="020F0502020204030204" pitchFamily="34" charset="0"/>
                          <a:ea typeface="宋体" panose="02010600030101010101" pitchFamily="2" charset="-122"/>
                        </a:rPr>
                        <a:t>字符串替换</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含义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结果</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${file/dir/path}</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将第一个 dir 提换为 path</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/path1/dir2/dir3/my.file.txt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${file//dir/path}</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将全部 dir 提换为 path</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/path1/path2/path3/my.file.txt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${#file}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计算出变量值的长度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27</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D0D8E8"/>
                    </a:solidFill>
                  </a:tcPr>
                </a:tc>
              </a:tr>
            </a:tbl>
          </a:graphicData>
        </a:graphic>
      </p:graphicFrame>
      <p:graphicFrame>
        <p:nvGraphicFramePr>
          <p:cNvPr id="10" name="Group 46"/>
          <p:cNvGraphicFramePr>
            <a:graphicFrameLocks noGrp="1"/>
          </p:cNvGraphicFramePr>
          <p:nvPr>
            <p:extLst>
              <p:ext uri="{D42A27DB-BD31-4B8C-83A1-F6EECF244321}">
                <p14:modId xmlns:p14="http://schemas.microsoft.com/office/powerpoint/2010/main" val="2731371051"/>
              </p:ext>
            </p:extLst>
          </p:nvPr>
        </p:nvGraphicFramePr>
        <p:xfrm>
          <a:off x="1814132" y="3405881"/>
          <a:ext cx="6997700" cy="2743200"/>
        </p:xfrm>
        <a:graphic>
          <a:graphicData uri="http://schemas.openxmlformats.org/drawingml/2006/table">
            <a:tbl>
              <a:tblPr/>
              <a:tblGrid>
                <a:gridCol w="1516063"/>
                <a:gridCol w="5481637"/>
              </a:tblGrid>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00"/>
                          </a:solidFill>
                          <a:effectLst/>
                          <a:latin typeface="Calibri" panose="020F0502020204030204" pitchFamily="34" charset="0"/>
                          <a:ea typeface="宋体" panose="02010600030101010101" pitchFamily="2" charset="-122"/>
                        </a:rPr>
                        <a:t>赋值</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4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rPr>
                        <a:t>含义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当str未定义时，var=expr；否则var=$str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当str未定义或为空值时，var=expr； 否则var=$str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与-正好相反：当str未定义时，var=$str；否则var=expr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与:-正好相反：当str未定义或为空值时，var=$str；否则var=expr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当str未定义时，var=expr, str=expr；否则str不变，var=$str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当str未定义或为空值时，var=expr, str=expr；否则str不变，var=$str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当str未定义时，expr输出至stderr；否则var=$str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304800">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var=${str:?expr}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377"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defRPr>
                      </a:lvl1pPr>
                      <a:lvl2pPr marL="457189" algn="l" defTabSz="914377" rtl="0" eaLnBrk="1" latinLnBrk="0" hangingPunct="1">
                        <a:spcBef>
                          <a:spcPct val="20000"/>
                        </a:spcBef>
                        <a:defRPr sz="2400" kern="1200">
                          <a:solidFill>
                            <a:schemeClr val="tx1"/>
                          </a:solidFill>
                          <a:latin typeface="Arial" panose="020B0604020202020204" pitchFamily="34" charset="0"/>
                          <a:ea typeface="宋体" panose="02010600030101010101" pitchFamily="2" charset="-122"/>
                        </a:defRPr>
                      </a:lvl2pPr>
                      <a:lvl3pPr marL="914377" algn="l" defTabSz="914377" rtl="0" eaLnBrk="1" latinLnBrk="0" hangingPunct="1">
                        <a:spcBef>
                          <a:spcPct val="20000"/>
                        </a:spcBef>
                        <a:defRPr sz="2000" kern="1200">
                          <a:solidFill>
                            <a:schemeClr val="tx1"/>
                          </a:solidFill>
                          <a:latin typeface="Arial" panose="020B0604020202020204" pitchFamily="34" charset="0"/>
                          <a:ea typeface="宋体" panose="02010600030101010101" pitchFamily="2" charset="-122"/>
                        </a:defRPr>
                      </a:lvl3pPr>
                      <a:lvl4pPr marL="1371566"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4pPr>
                      <a:lvl5pPr marL="1828754" algn="l" defTabSz="914377" rtl="0" eaLnBrk="1" latinLnBrk="0" hangingPunct="1">
                        <a:spcBef>
                          <a:spcPct val="20000"/>
                        </a:spcBef>
                        <a:defRPr sz="1800" kern="1200">
                          <a:solidFill>
                            <a:schemeClr val="tx1"/>
                          </a:solidFill>
                          <a:latin typeface="Arial" panose="020B0604020202020204" pitchFamily="34" charset="0"/>
                          <a:ea typeface="宋体" panose="02010600030101010101" pitchFamily="2" charset="-122"/>
                        </a:defRPr>
                      </a:lvl5pPr>
                      <a:lvl6pPr marL="2285943"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131"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320"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509" algn="l" defTabSz="914377"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400" b="0" i="0" u="none" strike="noStrike" cap="none" normalizeH="0" baseline="0" smtClean="0">
                          <a:ln>
                            <a:noFill/>
                          </a:ln>
                          <a:solidFill>
                            <a:schemeClr val="accent2"/>
                          </a:solidFill>
                          <a:effectLst/>
                          <a:latin typeface="Calibri" panose="020F0502020204030204" pitchFamily="34" charset="0"/>
                          <a:ea typeface="宋体" panose="02010600030101010101" pitchFamily="2" charset="-122"/>
                        </a:rPr>
                        <a:t>当str未定义或为空值时，expr输出至stderr；否则var=$str</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bl>
          </a:graphicData>
        </a:graphic>
      </p:graphicFrame>
      <p:sp>
        <p:nvSpPr>
          <p:cNvPr id="11" name="Text Box 115"/>
          <p:cNvSpPr txBox="1">
            <a:spLocks noChangeArrowheads="1"/>
          </p:cNvSpPr>
          <p:nvPr/>
        </p:nvSpPr>
        <p:spPr bwMode="auto">
          <a:xfrm>
            <a:off x="1710945" y="1356419"/>
            <a:ext cx="745013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400" i="1" smtClean="0">
                <a:solidFill>
                  <a:srgbClr val="333399"/>
                </a:solidFill>
                <a:latin typeface="Arial" panose="020B0604020202020204" pitchFamily="34" charset="0"/>
              </a:rPr>
              <a:t>假设：file=/dir1/dir2/dir3/my.file.txt </a:t>
            </a:r>
            <a:endParaRPr lang="zh-CN" altLang="en-US" sz="1400" i="1" smtClean="0">
              <a:solidFill>
                <a:srgbClr val="000000"/>
              </a:solidFill>
              <a:latin typeface="Arial" panose="020B0604020202020204" pitchFamily="34" charset="0"/>
            </a:endParaRPr>
          </a:p>
        </p:txBody>
      </p:sp>
      <p:sp>
        <p:nvSpPr>
          <p:cNvPr id="12" name="Text Box 116"/>
          <p:cNvSpPr txBox="1">
            <a:spLocks noChangeArrowheads="1"/>
          </p:cNvSpPr>
          <p:nvPr/>
        </p:nvSpPr>
        <p:spPr bwMode="auto">
          <a:xfrm>
            <a:off x="1639507" y="997644"/>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2、字符串替换</a:t>
            </a:r>
            <a:endParaRPr lang="zh-CN" altLang="en-US" dirty="0" smtClean="0">
              <a:solidFill>
                <a:srgbClr val="000000"/>
              </a:solidFill>
              <a:latin typeface="Arial" panose="020B0604020202020204" pitchFamily="34" charset="0"/>
            </a:endParaRPr>
          </a:p>
        </p:txBody>
      </p:sp>
      <p:sp>
        <p:nvSpPr>
          <p:cNvPr id="13" name="Text Box 117"/>
          <p:cNvSpPr txBox="1">
            <a:spLocks noChangeArrowheads="1"/>
          </p:cNvSpPr>
          <p:nvPr/>
        </p:nvSpPr>
        <p:spPr bwMode="auto">
          <a:xfrm>
            <a:off x="1622045" y="2989956"/>
            <a:ext cx="1905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3、字符串赋值</a:t>
            </a:r>
            <a:endParaRPr lang="zh-CN" altLang="en-US" smtClean="0">
              <a:solidFill>
                <a:srgbClr val="000000"/>
              </a:solidFill>
              <a:latin typeface="Arial" panose="020B0604020202020204" pitchFamily="34" charset="0"/>
            </a:endParaRPr>
          </a:p>
        </p:txBody>
      </p:sp>
    </p:spTree>
    <p:extLst>
      <p:ext uri="{BB962C8B-B14F-4D97-AF65-F5344CB8AC3E}">
        <p14:creationId xmlns:p14="http://schemas.microsoft.com/office/powerpoint/2010/main" val="58263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blinds(horizontal)">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smtClean="0"/>
              <a:t>用法</a:t>
            </a:r>
            <a:endParaRPr lang="zh-CN" altLang="en-US" dirty="0"/>
          </a:p>
        </p:txBody>
      </p:sp>
      <p:sp>
        <p:nvSpPr>
          <p:cNvPr id="8" name="Text Box 2"/>
          <p:cNvSpPr txBox="1">
            <a:spLocks noChangeArrowheads="1"/>
          </p:cNvSpPr>
          <p:nvPr/>
        </p:nvSpPr>
        <p:spPr bwMode="auto">
          <a:xfrm>
            <a:off x="2073678" y="1642034"/>
            <a:ext cx="273526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a:t>
            </a:r>
            <a:r>
              <a:rPr lang="zh-CN" altLang="en-US" sz="1600" smtClean="0">
                <a:solidFill>
                  <a:srgbClr val="FF0000"/>
                </a:solidFill>
                <a:latin typeface="Arial" panose="020B0604020202020204" pitchFamily="34" charset="0"/>
              </a:rPr>
              <a:t> 加法</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a:t>
            </a:r>
            <a:r>
              <a:rPr lang="zh-CN" altLang="en-US" sz="1600" smtClean="0">
                <a:solidFill>
                  <a:srgbClr val="FF0000"/>
                </a:solidFill>
                <a:latin typeface="Arial" panose="020B0604020202020204" pitchFamily="34" charset="0"/>
                <a:sym typeface="Arial" panose="020B0604020202020204" pitchFamily="34" charset="0"/>
              </a:rPr>
              <a:t> 减法</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 </a:t>
            </a:r>
            <a:r>
              <a:rPr lang="zh-CN" altLang="en-US" sz="1600" smtClean="0">
                <a:solidFill>
                  <a:srgbClr val="FF0000"/>
                </a:solidFill>
                <a:latin typeface="Arial" panose="020B0604020202020204" pitchFamily="34" charset="0"/>
              </a:rPr>
              <a:t>乘法</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 </a:t>
            </a:r>
            <a:r>
              <a:rPr lang="zh-CN" altLang="en-US" sz="1600" smtClean="0">
                <a:solidFill>
                  <a:srgbClr val="FF0000"/>
                </a:solidFill>
                <a:latin typeface="Arial" panose="020B0604020202020204" pitchFamily="34" charset="0"/>
              </a:rPr>
              <a:t>除法</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 </a:t>
            </a:r>
            <a:r>
              <a:rPr lang="zh-CN" altLang="en-US" sz="1600" smtClean="0">
                <a:solidFill>
                  <a:srgbClr val="FF0000"/>
                </a:solidFill>
                <a:latin typeface="Arial" panose="020B0604020202020204" pitchFamily="34" charset="0"/>
              </a:rPr>
              <a:t>幂运算</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a=$(( 5 % 3 ))   #</a:t>
            </a:r>
            <a:r>
              <a:rPr lang="zh-CN" altLang="en-US" sz="1600" smtClean="0">
                <a:solidFill>
                  <a:srgbClr val="000000"/>
                </a:solidFill>
                <a:latin typeface="Arial" panose="020B0604020202020204" pitchFamily="34" charset="0"/>
              </a:rPr>
              <a:t> </a:t>
            </a:r>
            <a:r>
              <a:rPr lang="zh-CN" altLang="en-US" sz="1600" smtClean="0">
                <a:solidFill>
                  <a:srgbClr val="FF0000"/>
                </a:solidFill>
                <a:latin typeface="Arial" panose="020B0604020202020204" pitchFamily="34" charset="0"/>
              </a:rPr>
              <a:t>取模</a:t>
            </a:r>
          </a:p>
        </p:txBody>
      </p:sp>
      <p:sp>
        <p:nvSpPr>
          <p:cNvPr id="9" name="Text Box 3"/>
          <p:cNvSpPr txBox="1">
            <a:spLocks noChangeArrowheads="1"/>
          </p:cNvSpPr>
          <p:nvPr/>
        </p:nvSpPr>
        <p:spPr bwMode="auto">
          <a:xfrm>
            <a:off x="2007003" y="3237471"/>
            <a:ext cx="29845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600" b="1" smtClean="0">
                <a:solidFill>
                  <a:srgbClr val="0000FF"/>
                </a:solidFill>
                <a:latin typeface="Arial" panose="020B0604020202020204" pitchFamily="34" charset="0"/>
              </a:rPr>
              <a:t>2、使用 C 风格的变量处理</a:t>
            </a:r>
          </a:p>
        </p:txBody>
      </p:sp>
      <p:sp>
        <p:nvSpPr>
          <p:cNvPr id="10" name="Text Box 4"/>
          <p:cNvSpPr txBox="1">
            <a:spLocks noChangeArrowheads="1"/>
          </p:cNvSpPr>
          <p:nvPr/>
        </p:nvSpPr>
        <p:spPr bwMode="auto">
          <a:xfrm>
            <a:off x="2011766" y="3707371"/>
            <a:ext cx="4897437" cy="2308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 a = 23 ))  	# </a:t>
            </a:r>
            <a:r>
              <a:rPr lang="zh-CN" altLang="en-US" sz="1600" i="1" smtClean="0">
                <a:solidFill>
                  <a:srgbClr val="FF0000"/>
                </a:solidFill>
                <a:latin typeface="Arial" panose="020B0604020202020204" pitchFamily="34" charset="0"/>
              </a:rPr>
              <a:t>给一个变量赋值</a:t>
            </a:r>
          </a:p>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 a++ ))     	# </a:t>
            </a:r>
            <a:r>
              <a:rPr lang="zh-CN" altLang="en-US" sz="1600" i="1" smtClean="0">
                <a:solidFill>
                  <a:srgbClr val="FF0000"/>
                </a:solidFill>
                <a:latin typeface="Arial" panose="020B0604020202020204" pitchFamily="34" charset="0"/>
                <a:sym typeface="Arial" panose="020B0604020202020204" pitchFamily="34" charset="0"/>
              </a:rPr>
              <a:t>变量'a'后加 1</a:t>
            </a:r>
          </a:p>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 a-- ))     	# </a:t>
            </a:r>
            <a:r>
              <a:rPr lang="zh-CN" altLang="en-US" sz="1600" i="1" smtClean="0">
                <a:solidFill>
                  <a:srgbClr val="FF0000"/>
                </a:solidFill>
                <a:latin typeface="Arial" panose="020B0604020202020204" pitchFamily="34" charset="0"/>
                <a:sym typeface="Arial" panose="020B0604020202020204" pitchFamily="34" charset="0"/>
              </a:rPr>
              <a:t>变量'a'后减 1</a:t>
            </a:r>
          </a:p>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 ++a ))     	# </a:t>
            </a:r>
            <a:r>
              <a:rPr lang="zh-CN" altLang="en-US" sz="1600" i="1" smtClean="0">
                <a:solidFill>
                  <a:srgbClr val="FF0000"/>
                </a:solidFill>
                <a:latin typeface="Arial" panose="020B0604020202020204" pitchFamily="34" charset="0"/>
                <a:sym typeface="Arial" panose="020B0604020202020204" pitchFamily="34" charset="0"/>
              </a:rPr>
              <a:t>变量'a'预加 1</a:t>
            </a:r>
          </a:p>
          <a:p>
            <a:pPr marL="285750" indent="-285750" fontAlgn="base">
              <a:spcBef>
                <a:spcPct val="0"/>
              </a:spcBef>
              <a:spcAft>
                <a:spcPct val="0"/>
              </a:spcAft>
              <a:buSzPct val="100000"/>
              <a:buFont typeface="Wingdings" panose="05000000000000000000" pitchFamily="2" charset="2"/>
              <a:buChar char="ü"/>
            </a:pPr>
            <a:r>
              <a:rPr lang="zh-CN" altLang="en-US" sz="1600" smtClean="0">
                <a:solidFill>
                  <a:srgbClr val="333399"/>
                </a:solidFill>
                <a:latin typeface="Arial" panose="020B0604020202020204" pitchFamily="34" charset="0"/>
              </a:rPr>
              <a:t>(( --a ))     	# </a:t>
            </a:r>
            <a:r>
              <a:rPr lang="zh-CN" altLang="en-US" sz="1600" i="1" smtClean="0">
                <a:solidFill>
                  <a:srgbClr val="FF0000"/>
                </a:solidFill>
                <a:latin typeface="Arial" panose="020B0604020202020204" pitchFamily="34" charset="0"/>
                <a:sym typeface="Arial" panose="020B0604020202020204" pitchFamily="34" charset="0"/>
              </a:rPr>
              <a:t>变量'a'预减 1</a:t>
            </a:r>
          </a:p>
          <a:p>
            <a:pPr fontAlgn="base">
              <a:spcBef>
                <a:spcPct val="0"/>
              </a:spcBef>
              <a:spcAft>
                <a:spcPct val="0"/>
              </a:spcAft>
              <a:buSzPct val="100000"/>
              <a:buFont typeface="Wingdings" panose="05000000000000000000" pitchFamily="2" charset="2"/>
              <a:buNone/>
            </a:pPr>
            <a:endParaRPr lang="zh-CN" altLang="en-US" sz="1600" smtClean="0">
              <a:solidFill>
                <a:srgbClr val="333399"/>
              </a:solidFill>
              <a:latin typeface="Arial" panose="020B0604020202020204" pitchFamily="34" charset="0"/>
            </a:endParaRPr>
          </a:p>
          <a:p>
            <a:pPr fontAlgn="base">
              <a:spcBef>
                <a:spcPct val="0"/>
              </a:spcBef>
              <a:spcAft>
                <a:spcPct val="0"/>
              </a:spcAft>
              <a:buFont typeface="Arial" panose="020B0604020202020204" pitchFamily="34" charset="0"/>
              <a:buNone/>
            </a:pPr>
            <a:r>
              <a:rPr lang="zh-CN" altLang="en-US" sz="1600" smtClean="0">
                <a:solidFill>
                  <a:srgbClr val="333399"/>
                </a:solidFill>
                <a:latin typeface="Arial" panose="020B0604020202020204" pitchFamily="34" charset="0"/>
              </a:rPr>
              <a:t>n=1; (( --a )) &amp;&amp; echo "</a:t>
            </a:r>
            <a:r>
              <a:rPr lang="zh-CN" altLang="en-US" sz="1600" i="1" smtClean="0">
                <a:solidFill>
                  <a:srgbClr val="333399"/>
                </a:solidFill>
                <a:latin typeface="Arial" panose="020B0604020202020204" pitchFamily="34" charset="0"/>
                <a:sym typeface="Arial" panose="020B0604020202020204" pitchFamily="34" charset="0"/>
              </a:rPr>
              <a:t>True</a:t>
            </a:r>
            <a:r>
              <a:rPr lang="zh-CN" altLang="en-US" sz="1600" smtClean="0">
                <a:solidFill>
                  <a:srgbClr val="333399"/>
                </a:solidFill>
                <a:latin typeface="Arial" panose="020B0604020202020204" pitchFamily="34" charset="0"/>
              </a:rPr>
              <a:t>" || echo "False" # </a:t>
            </a:r>
            <a:r>
              <a:rPr lang="zh-CN" altLang="en-US" sz="1600" i="1" smtClean="0">
                <a:solidFill>
                  <a:srgbClr val="FF0000"/>
                </a:solidFill>
                <a:latin typeface="Arial" panose="020B0604020202020204" pitchFamily="34" charset="0"/>
                <a:sym typeface="Arial" panose="020B0604020202020204" pitchFamily="34" charset="0"/>
              </a:rPr>
              <a:t>False</a:t>
            </a:r>
          </a:p>
          <a:p>
            <a:pPr fontAlgn="base">
              <a:spcBef>
                <a:spcPct val="0"/>
              </a:spcBef>
              <a:spcAft>
                <a:spcPct val="0"/>
              </a:spcAft>
              <a:buFont typeface="Arial" panose="020B0604020202020204" pitchFamily="34" charset="0"/>
              <a:buNone/>
            </a:pPr>
            <a:endParaRPr lang="zh-CN" altLang="en-US" sz="1600" smtClean="0">
              <a:solidFill>
                <a:srgbClr val="333399"/>
              </a:solidFill>
              <a:latin typeface="Arial" panose="020B0604020202020204" pitchFamily="34" charset="0"/>
            </a:endParaRPr>
          </a:p>
          <a:p>
            <a:pPr fontAlgn="base">
              <a:spcBef>
                <a:spcPct val="0"/>
              </a:spcBef>
              <a:spcAft>
                <a:spcPct val="0"/>
              </a:spcAft>
              <a:buFont typeface="Arial" panose="020B0604020202020204" pitchFamily="34" charset="0"/>
              <a:buNone/>
            </a:pPr>
            <a:r>
              <a:rPr lang="zh-CN" altLang="en-US" sz="1600" smtClean="0">
                <a:solidFill>
                  <a:srgbClr val="333399"/>
                </a:solidFill>
                <a:latin typeface="Arial" panose="020B0604020202020204" pitchFamily="34" charset="0"/>
              </a:rPr>
              <a:t>n=1; (( a-- )) &amp;&amp; echo "True" || echo "False" # </a:t>
            </a:r>
            <a:r>
              <a:rPr lang="zh-CN" altLang="en-US" sz="1600" i="1" smtClean="0">
                <a:solidFill>
                  <a:srgbClr val="FF0000"/>
                </a:solidFill>
                <a:latin typeface="Arial" panose="020B0604020202020204" pitchFamily="34" charset="0"/>
                <a:sym typeface="Arial" panose="020B0604020202020204" pitchFamily="34" charset="0"/>
              </a:rPr>
              <a:t>True </a:t>
            </a:r>
          </a:p>
        </p:txBody>
      </p:sp>
      <p:sp>
        <p:nvSpPr>
          <p:cNvPr id="11" name="Text Box 8"/>
          <p:cNvSpPr txBox="1">
            <a:spLocks noChangeArrowheads="1"/>
          </p:cNvSpPr>
          <p:nvPr/>
        </p:nvSpPr>
        <p:spPr bwMode="auto">
          <a:xfrm>
            <a:off x="2038753" y="1159434"/>
            <a:ext cx="2193925"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sz="1600" b="1" dirty="0" smtClean="0">
                <a:solidFill>
                  <a:srgbClr val="0000FF"/>
                </a:solidFill>
                <a:latin typeface="Arial" panose="020B0604020202020204" pitchFamily="34" charset="0"/>
              </a:rPr>
              <a:t>1、算术扩展和赋值</a:t>
            </a:r>
          </a:p>
        </p:txBody>
      </p:sp>
    </p:spTree>
    <p:extLst>
      <p:ext uri="{BB962C8B-B14F-4D97-AF65-F5344CB8AC3E}">
        <p14:creationId xmlns:p14="http://schemas.microsoft.com/office/powerpoint/2010/main" val="98213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blinds(horizontal)">
                                      <p:cBhvr>
                                        <p:cTn id="15" dur="500"/>
                                        <p:tgtEl>
                                          <p:spTgt spid="8">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blinds(horizontal)">
                                      <p:cBhvr>
                                        <p:cTn id="18" dur="500"/>
                                        <p:tgtEl>
                                          <p:spTgt spid="8">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blinds(horizontal)">
                                      <p:cBhvr>
                                        <p:cTn id="21" dur="500"/>
                                        <p:tgtEl>
                                          <p:spTgt spid="8">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blinds(horizontal)">
                                      <p:cBhvr>
                                        <p:cTn id="24" dur="500"/>
                                        <p:tgtEl>
                                          <p:spTgt spid="8">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blinds(horizontal)">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blinds(horizontal)">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blinds(horizontal)">
                                      <p:cBhvr>
                                        <p:cTn id="37" dur="500"/>
                                        <p:tgtEl>
                                          <p:spTgt spid="10">
                                            <p:txEl>
                                              <p:pRg st="0" end="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0">
                                            <p:txEl>
                                              <p:pRg st="1" end="1"/>
                                            </p:txEl>
                                          </p:spTgt>
                                        </p:tgtEl>
                                        <p:attrNameLst>
                                          <p:attrName>style.visibility</p:attrName>
                                        </p:attrNameLst>
                                      </p:cBhvr>
                                      <p:to>
                                        <p:strVal val="visible"/>
                                      </p:to>
                                    </p:set>
                                    <p:animEffect transition="in" filter="blinds(horizontal)">
                                      <p:cBhvr>
                                        <p:cTn id="40" dur="500"/>
                                        <p:tgtEl>
                                          <p:spTgt spid="10">
                                            <p:txEl>
                                              <p:pRg st="1" end="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0">
                                            <p:txEl>
                                              <p:pRg st="2" end="2"/>
                                            </p:txEl>
                                          </p:spTgt>
                                        </p:tgtEl>
                                        <p:attrNameLst>
                                          <p:attrName>style.visibility</p:attrName>
                                        </p:attrNameLst>
                                      </p:cBhvr>
                                      <p:to>
                                        <p:strVal val="visible"/>
                                      </p:to>
                                    </p:set>
                                    <p:animEffect transition="in" filter="blinds(horizontal)">
                                      <p:cBhvr>
                                        <p:cTn id="43" dur="500"/>
                                        <p:tgtEl>
                                          <p:spTgt spid="10">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0">
                                            <p:txEl>
                                              <p:pRg st="3" end="3"/>
                                            </p:txEl>
                                          </p:spTgt>
                                        </p:tgtEl>
                                        <p:attrNameLst>
                                          <p:attrName>style.visibility</p:attrName>
                                        </p:attrNameLst>
                                      </p:cBhvr>
                                      <p:to>
                                        <p:strVal val="visible"/>
                                      </p:to>
                                    </p:set>
                                    <p:animEffect transition="in" filter="blinds(horizontal)">
                                      <p:cBhvr>
                                        <p:cTn id="46" dur="500"/>
                                        <p:tgtEl>
                                          <p:spTgt spid="10">
                                            <p:txEl>
                                              <p:pRg st="3" end="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blinds(horizontal)">
                                      <p:cBhvr>
                                        <p:cTn id="49" dur="500"/>
                                        <p:tgtEl>
                                          <p:spTgt spid="10">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0">
                                            <p:txEl>
                                              <p:pRg st="6" end="6"/>
                                            </p:txEl>
                                          </p:spTgt>
                                        </p:tgtEl>
                                        <p:attrNameLst>
                                          <p:attrName>style.visibility</p:attrName>
                                        </p:attrNameLst>
                                      </p:cBhvr>
                                      <p:to>
                                        <p:strVal val="visible"/>
                                      </p:to>
                                    </p:set>
                                    <p:animEffect transition="in" filter="blinds(horizontal)">
                                      <p:cBhvr>
                                        <p:cTn id="54" dur="500"/>
                                        <p:tgtEl>
                                          <p:spTgt spid="10">
                                            <p:txEl>
                                              <p:pRg st="6" end="6"/>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0">
                                            <p:txEl>
                                              <p:pRg st="8" end="8"/>
                                            </p:txEl>
                                          </p:spTgt>
                                        </p:tgtEl>
                                        <p:attrNameLst>
                                          <p:attrName>style.visibility</p:attrName>
                                        </p:attrNameLst>
                                      </p:cBhvr>
                                      <p:to>
                                        <p:strVal val="visible"/>
                                      </p:to>
                                    </p:set>
                                    <p:animEffect transition="in" filter="blinds(horizontal)">
                                      <p:cBhvr>
                                        <p:cTn id="5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求交集、并集、</a:t>
            </a:r>
            <a:r>
              <a:rPr lang="zh-CN" altLang="en-US" dirty="0" smtClean="0"/>
              <a:t>差集</a:t>
            </a:r>
            <a:endParaRPr lang="zh-CN" altLang="en-US" dirty="0"/>
          </a:p>
        </p:txBody>
      </p:sp>
      <p:sp>
        <p:nvSpPr>
          <p:cNvPr id="10" name="Text Box 5"/>
          <p:cNvSpPr txBox="1">
            <a:spLocks noChangeArrowheads="1"/>
          </p:cNvSpPr>
          <p:nvPr/>
        </p:nvSpPr>
        <p:spPr bwMode="auto">
          <a:xfrm>
            <a:off x="1562234" y="1176340"/>
            <a:ext cx="21939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1、求文件交集</a:t>
            </a:r>
          </a:p>
        </p:txBody>
      </p:sp>
      <p:sp>
        <p:nvSpPr>
          <p:cNvPr id="11" name="Text Box 6"/>
          <p:cNvSpPr txBox="1">
            <a:spLocks noChangeArrowheads="1"/>
          </p:cNvSpPr>
          <p:nvPr/>
        </p:nvSpPr>
        <p:spPr bwMode="auto">
          <a:xfrm>
            <a:off x="1598747" y="1517652"/>
            <a:ext cx="4102100" cy="173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awk 'ARGIND==1{ g[$1]=1 }</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ARGIND&gt;1&amp;&amp;(g[$1]==ARGIND-1){g[$1]++}</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END{</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for (i in g){</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if (g[i]==ARGIND){print i;}</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 f1 f2 f3 ... fn</a:t>
            </a:r>
          </a:p>
        </p:txBody>
      </p:sp>
      <p:sp>
        <p:nvSpPr>
          <p:cNvPr id="12" name="Text Box 7"/>
          <p:cNvSpPr txBox="1">
            <a:spLocks noChangeArrowheads="1"/>
          </p:cNvSpPr>
          <p:nvPr/>
        </p:nvSpPr>
        <p:spPr bwMode="auto">
          <a:xfrm>
            <a:off x="1546359" y="3311527"/>
            <a:ext cx="219392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2、求文件并集</a:t>
            </a:r>
            <a:endParaRPr lang="zh-CN" altLang="en-US" smtClean="0">
              <a:solidFill>
                <a:srgbClr val="000000"/>
              </a:solidFill>
              <a:latin typeface="Arial" panose="020B0604020202020204" pitchFamily="34" charset="0"/>
            </a:endParaRPr>
          </a:p>
        </p:txBody>
      </p:sp>
      <p:sp>
        <p:nvSpPr>
          <p:cNvPr id="13" name="Text Box 8"/>
          <p:cNvSpPr txBox="1">
            <a:spLocks noChangeArrowheads="1"/>
          </p:cNvSpPr>
          <p:nvPr/>
        </p:nvSpPr>
        <p:spPr bwMode="auto">
          <a:xfrm>
            <a:off x="1636847" y="3683002"/>
            <a:ext cx="3632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zh-CN" sz="1400" smtClean="0">
                <a:solidFill>
                  <a:srgbClr val="333399"/>
                </a:solidFill>
                <a:latin typeface="Arial" panose="020B0604020202020204" pitchFamily="34" charset="0"/>
              </a:rPr>
              <a:t>awk '{a[$1]}END{print length(a)}'  f1 f2 f3  </a:t>
            </a:r>
          </a:p>
        </p:txBody>
      </p:sp>
      <p:sp>
        <p:nvSpPr>
          <p:cNvPr id="14" name="Text Box 9"/>
          <p:cNvSpPr txBox="1">
            <a:spLocks noChangeArrowheads="1"/>
          </p:cNvSpPr>
          <p:nvPr/>
        </p:nvSpPr>
        <p:spPr bwMode="auto">
          <a:xfrm>
            <a:off x="1528897" y="4084640"/>
            <a:ext cx="21939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3、求文件差集</a:t>
            </a:r>
            <a:endParaRPr lang="zh-CN" altLang="en-US" smtClean="0">
              <a:solidFill>
                <a:srgbClr val="000000"/>
              </a:solidFill>
              <a:latin typeface="Arial" panose="020B0604020202020204" pitchFamily="34" charset="0"/>
            </a:endParaRPr>
          </a:p>
        </p:txBody>
      </p:sp>
      <p:sp>
        <p:nvSpPr>
          <p:cNvPr id="15" name="Text Box 10"/>
          <p:cNvSpPr txBox="1">
            <a:spLocks noChangeArrowheads="1"/>
          </p:cNvSpPr>
          <p:nvPr/>
        </p:nvSpPr>
        <p:spPr bwMode="auto">
          <a:xfrm>
            <a:off x="1611447" y="4473577"/>
            <a:ext cx="632142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awk 'ARGIND==1{g[$1]}</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ARGIND&gt;1&amp;&amp;!($1 in g){b[$1]}</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END{</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for(i in b){</a:t>
            </a:r>
            <a:br>
              <a:rPr lang="zh-CN" altLang="en-US" sz="1400" smtClean="0">
                <a:solidFill>
                  <a:srgbClr val="333399"/>
                </a:solidFill>
                <a:latin typeface="Arial" panose="020B0604020202020204" pitchFamily="34" charset="0"/>
              </a:rPr>
            </a:br>
            <a:r>
              <a:rPr lang="zh-CN" altLang="en-US" sz="1400" smtClean="0">
                <a:solidFill>
                  <a:srgbClr val="333399"/>
                </a:solidFill>
                <a:latin typeface="Arial" panose="020B0604020202020204" pitchFamily="34" charset="0"/>
              </a:rPr>
              <a:t>                print i;</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 f1 f2</a:t>
            </a:r>
          </a:p>
        </p:txBody>
      </p:sp>
    </p:spTree>
    <p:extLst>
      <p:ext uri="{BB962C8B-B14F-4D97-AF65-F5344CB8AC3E}">
        <p14:creationId xmlns:p14="http://schemas.microsoft.com/office/powerpoint/2010/main" val="304559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blinds(horizontal)">
                                      <p:cBhvr>
                                        <p:cTn id="15" dur="500"/>
                                        <p:tgtEl>
                                          <p:spTgt spid="11">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blinds(horizontal)">
                                      <p:cBhvr>
                                        <p:cTn id="18" dur="500"/>
                                        <p:tgtEl>
                                          <p:spTgt spid="11">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blinds(horizontal)">
                                      <p:cBhvr>
                                        <p:cTn id="21" dur="500"/>
                                        <p:tgtEl>
                                          <p:spTgt spid="11">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animEffect transition="in" filter="blinds(horizontal)">
                                      <p:cBhvr>
                                        <p:cTn id="27" dur="500"/>
                                        <p:tgtEl>
                                          <p:spTgt spid="11">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1">
                                            <p:txEl>
                                              <p:pRg st="6" end="6"/>
                                            </p:txEl>
                                          </p:spTgt>
                                        </p:tgtEl>
                                        <p:attrNameLst>
                                          <p:attrName>style.visibility</p:attrName>
                                        </p:attrNameLst>
                                      </p:cBhvr>
                                      <p:to>
                                        <p:strVal val="visible"/>
                                      </p:to>
                                    </p:set>
                                    <p:animEffect transition="in" filter="blinds(horizontal)">
                                      <p:cBhvr>
                                        <p:cTn id="30" dur="500"/>
                                        <p:tgtEl>
                                          <p:spTgt spid="11">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blinds(horizontal)">
                                      <p:cBhvr>
                                        <p:cTn id="35" dur="500"/>
                                        <p:tgtEl>
                                          <p:spTgt spid="12">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3">
                                            <p:txEl>
                                              <p:pRg st="0" end="0"/>
                                            </p:txEl>
                                          </p:spTgt>
                                        </p:tgtEl>
                                        <p:attrNameLst>
                                          <p:attrName>style.visibility</p:attrName>
                                        </p:attrNameLst>
                                      </p:cBhvr>
                                      <p:to>
                                        <p:strVal val="visible"/>
                                      </p:to>
                                    </p:set>
                                    <p:animEffect transition="in" filter="blinds(horizontal)">
                                      <p:cBhvr>
                                        <p:cTn id="40" dur="500"/>
                                        <p:tgtEl>
                                          <p:spTgt spid="13">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animEffect transition="in" filter="blinds(horizontal)">
                                      <p:cBhvr>
                                        <p:cTn id="45" dur="500"/>
                                        <p:tgtEl>
                                          <p:spTgt spid="14">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5">
                                            <p:txEl>
                                              <p:pRg st="0" end="0"/>
                                            </p:txEl>
                                          </p:spTgt>
                                        </p:tgtEl>
                                        <p:attrNameLst>
                                          <p:attrName>style.visibility</p:attrName>
                                        </p:attrNameLst>
                                      </p:cBhvr>
                                      <p:to>
                                        <p:strVal val="visible"/>
                                      </p:to>
                                    </p:set>
                                    <p:animEffect transition="in" filter="blinds(horizontal)">
                                      <p:cBhvr>
                                        <p:cTn id="50" dur="500"/>
                                        <p:tgtEl>
                                          <p:spTgt spid="15">
                                            <p:txEl>
                                              <p:pRg st="0" end="0"/>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15">
                                            <p:txEl>
                                              <p:pRg st="1" end="1"/>
                                            </p:txEl>
                                          </p:spTgt>
                                        </p:tgtEl>
                                        <p:attrNameLst>
                                          <p:attrName>style.visibility</p:attrName>
                                        </p:attrNameLst>
                                      </p:cBhvr>
                                      <p:to>
                                        <p:strVal val="visible"/>
                                      </p:to>
                                    </p:set>
                                    <p:animEffect transition="in" filter="blinds(horizontal)">
                                      <p:cBhvr>
                                        <p:cTn id="53" dur="500"/>
                                        <p:tgtEl>
                                          <p:spTgt spid="15">
                                            <p:txEl>
                                              <p:pRg st="1" end="1"/>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15">
                                            <p:txEl>
                                              <p:pRg st="2" end="2"/>
                                            </p:txEl>
                                          </p:spTgt>
                                        </p:tgtEl>
                                        <p:attrNameLst>
                                          <p:attrName>style.visibility</p:attrName>
                                        </p:attrNameLst>
                                      </p:cBhvr>
                                      <p:to>
                                        <p:strVal val="visible"/>
                                      </p:to>
                                    </p:set>
                                    <p:animEffect transition="in" filter="blinds(horizontal)">
                                      <p:cBhvr>
                                        <p:cTn id="56" dur="500"/>
                                        <p:tgtEl>
                                          <p:spTgt spid="15">
                                            <p:txEl>
                                              <p:pRg st="2" end="2"/>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15">
                                            <p:txEl>
                                              <p:pRg st="3" end="3"/>
                                            </p:txEl>
                                          </p:spTgt>
                                        </p:tgtEl>
                                        <p:attrNameLst>
                                          <p:attrName>style.visibility</p:attrName>
                                        </p:attrNameLst>
                                      </p:cBhvr>
                                      <p:to>
                                        <p:strVal val="visible"/>
                                      </p:to>
                                    </p:set>
                                    <p:animEffect transition="in" filter="blinds(horizontal)">
                                      <p:cBhvr>
                                        <p:cTn id="59" dur="500"/>
                                        <p:tgtEl>
                                          <p:spTgt spid="15">
                                            <p:txEl>
                                              <p:pRg st="3" end="3"/>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5">
                                            <p:txEl>
                                              <p:pRg st="4" end="4"/>
                                            </p:txEl>
                                          </p:spTgt>
                                        </p:tgtEl>
                                        <p:attrNameLst>
                                          <p:attrName>style.visibility</p:attrName>
                                        </p:attrNameLst>
                                      </p:cBhvr>
                                      <p:to>
                                        <p:strVal val="visible"/>
                                      </p:to>
                                    </p:set>
                                    <p:animEffect transition="in" filter="blinds(horizontal)">
                                      <p:cBhvr>
                                        <p:cTn id="62" dur="500"/>
                                        <p:tgtEl>
                                          <p:spTgt spid="15">
                                            <p:txEl>
                                              <p:pRg st="4" end="4"/>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15">
                                            <p:txEl>
                                              <p:pRg st="5" end="5"/>
                                            </p:txEl>
                                          </p:spTgt>
                                        </p:tgtEl>
                                        <p:attrNameLst>
                                          <p:attrName>style.visibility</p:attrName>
                                        </p:attrNameLst>
                                      </p:cBhvr>
                                      <p:to>
                                        <p:strVal val="visible"/>
                                      </p:to>
                                    </p:set>
                                    <p:animEffect transition="in" filter="blinds(horizontal)">
                                      <p:cBhvr>
                                        <p:cTn id="65"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shell</a:t>
            </a:r>
            <a:r>
              <a:rPr lang="zh-CN" altLang="en-US" dirty="0"/>
              <a:t>与</a:t>
            </a:r>
            <a:r>
              <a:rPr lang="en-US" altLang="zh-CN" dirty="0" err="1"/>
              <a:t>awk</a:t>
            </a:r>
            <a:r>
              <a:rPr lang="zh-CN" altLang="en-US" dirty="0"/>
              <a:t>间变量传递</a:t>
            </a:r>
          </a:p>
        </p:txBody>
      </p:sp>
      <p:sp>
        <p:nvSpPr>
          <p:cNvPr id="8" name="Text Box 5"/>
          <p:cNvSpPr txBox="1">
            <a:spLocks noChangeArrowheads="1"/>
          </p:cNvSpPr>
          <p:nvPr/>
        </p:nvSpPr>
        <p:spPr bwMode="auto">
          <a:xfrm>
            <a:off x="2257694" y="1462090"/>
            <a:ext cx="26971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1、awk使用shell变量</a:t>
            </a:r>
          </a:p>
        </p:txBody>
      </p:sp>
      <p:sp>
        <p:nvSpPr>
          <p:cNvPr id="9" name="Text Box 6"/>
          <p:cNvSpPr txBox="1">
            <a:spLocks noChangeArrowheads="1"/>
          </p:cNvSpPr>
          <p:nvPr/>
        </p:nvSpPr>
        <p:spPr bwMode="auto">
          <a:xfrm>
            <a:off x="2295794" y="1803402"/>
            <a:ext cx="3451225" cy="373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使用"'$var'"</a:t>
            </a:r>
          </a:p>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export变量，用ENVIRON［“var”］</a:t>
            </a:r>
          </a:p>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使用-v选项</a:t>
            </a:r>
          </a:p>
          <a:p>
            <a:pPr fontAlgn="base">
              <a:lnSpc>
                <a:spcPct val="110000"/>
              </a:lnSpc>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lnSpc>
                <a:spcPct val="110000"/>
              </a:lnSpc>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 若var中有空格，用"'"$var"'"</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var="test"</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awk 'BEGIN{print "'$var'"}'</a:t>
            </a:r>
          </a:p>
          <a:p>
            <a:pPr fontAlgn="base">
              <a:lnSpc>
                <a:spcPct val="110000"/>
              </a:lnSpc>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var="test"</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export var</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awk 'BEGIN{print ENVIRON["var"]}'</a:t>
            </a:r>
          </a:p>
          <a:p>
            <a:pPr fontAlgn="base">
              <a:lnSpc>
                <a:spcPct val="110000"/>
              </a:lnSpc>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var="test"</a:t>
            </a:r>
          </a:p>
          <a:p>
            <a:pPr fontAlgn="base">
              <a:lnSpc>
                <a:spcPct val="11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awk -v nvar="$var" 'BEGIN{print nvar}'</a:t>
            </a:r>
          </a:p>
          <a:p>
            <a:pPr fontAlgn="base">
              <a:lnSpc>
                <a:spcPct val="110000"/>
              </a:lnSpc>
              <a:spcBef>
                <a:spcPct val="0"/>
              </a:spcBef>
              <a:spcAft>
                <a:spcPct val="0"/>
              </a:spcAft>
              <a:buSzPct val="100000"/>
              <a:buFont typeface="Wingdings" panose="05000000000000000000" pitchFamily="2" charset="2"/>
              <a:buNone/>
            </a:pPr>
            <a:endParaRPr lang="zh-CN" altLang="en-US" sz="1400" smtClean="0">
              <a:solidFill>
                <a:srgbClr val="333399"/>
              </a:solidFill>
              <a:latin typeface="Arial" panose="020B0604020202020204" pitchFamily="34" charset="0"/>
            </a:endParaRPr>
          </a:p>
        </p:txBody>
      </p:sp>
      <p:sp>
        <p:nvSpPr>
          <p:cNvPr id="10" name="Text Box 7"/>
          <p:cNvSpPr txBox="1">
            <a:spLocks noChangeArrowheads="1"/>
          </p:cNvSpPr>
          <p:nvPr/>
        </p:nvSpPr>
        <p:spPr bwMode="auto">
          <a:xfrm>
            <a:off x="6270894" y="1462090"/>
            <a:ext cx="27797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2、shell使用awk变量</a:t>
            </a:r>
          </a:p>
        </p:txBody>
      </p:sp>
      <p:sp>
        <p:nvSpPr>
          <p:cNvPr id="11" name="Text Box 8"/>
          <p:cNvSpPr txBox="1">
            <a:spLocks noChangeArrowheads="1"/>
          </p:cNvSpPr>
          <p:nvPr/>
        </p:nvSpPr>
        <p:spPr bwMode="auto">
          <a:xfrm>
            <a:off x="6297882" y="1830390"/>
            <a:ext cx="3486150" cy="376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lnSpc>
                <a:spcPct val="12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使用eval</a:t>
            </a:r>
          </a:p>
          <a:p>
            <a:pPr marL="285750" indent="-285750" fontAlgn="base">
              <a:spcBef>
                <a:spcPct val="0"/>
              </a:spcBef>
              <a:spcAft>
                <a:spcPct val="0"/>
              </a:spcAft>
              <a:buSzPct val="100000"/>
              <a:buFont typeface="Wingdings" panose="05000000000000000000" pitchFamily="2" charset="2"/>
              <a:buChar char="ü"/>
            </a:pPr>
            <a:endParaRPr lang="zh-CN" altLang="en-US" sz="1400"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smtClean="0">
                <a:solidFill>
                  <a:srgbClr val="FF0000"/>
                </a:solidFill>
                <a:latin typeface="Arial" panose="020B0604020202020204" pitchFamily="34" charset="0"/>
              </a:rPr>
              <a:t>$ cat awktest.sh</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#!/bin/bash</a:t>
            </a:r>
          </a:p>
          <a:p>
            <a:pPr fontAlgn="base">
              <a:spcBef>
                <a:spcPct val="0"/>
              </a:spcBef>
              <a:spcAft>
                <a:spcPct val="0"/>
              </a:spcAft>
              <a:buSzPct val="100000"/>
              <a:buFont typeface="Wingdings" panose="05000000000000000000" pitchFamily="2" charset="2"/>
              <a:buNone/>
            </a:pPr>
            <a:endParaRPr lang="zh-CN" altLang="en-US" sz="1400" i="1"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var1="test"</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var2="along"</a:t>
            </a:r>
          </a:p>
          <a:p>
            <a:pPr fontAlgn="base">
              <a:spcBef>
                <a:spcPct val="0"/>
              </a:spcBef>
              <a:spcAft>
                <a:spcPct val="0"/>
              </a:spcAft>
              <a:buSzPct val="100000"/>
              <a:buFont typeface="Wingdings" panose="05000000000000000000" pitchFamily="2" charset="2"/>
              <a:buNone/>
            </a:pPr>
            <a:endParaRPr lang="zh-CN" altLang="en-US" sz="1400" i="1"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eval $(awk 'BEGIN{</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print "var1=along;var2=test"}')</a:t>
            </a:r>
          </a:p>
          <a:p>
            <a:pPr fontAlgn="base">
              <a:spcBef>
                <a:spcPct val="0"/>
              </a:spcBef>
              <a:spcAft>
                <a:spcPct val="0"/>
              </a:spcAft>
              <a:buSzPct val="100000"/>
              <a:buFont typeface="Wingdings" panose="05000000000000000000" pitchFamily="2" charset="2"/>
              <a:buNone/>
            </a:pPr>
            <a:endParaRPr lang="zh-CN" altLang="en-US" sz="1400" i="1" smtClean="0">
              <a:solidFill>
                <a:srgbClr val="333399"/>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echo "var1:"$var1</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echo "var2:"$var2</a:t>
            </a:r>
          </a:p>
          <a:p>
            <a:pPr fontAlgn="base">
              <a:spcBef>
                <a:spcPct val="0"/>
              </a:spcBef>
              <a:spcAft>
                <a:spcPct val="0"/>
              </a:spcAft>
              <a:buSzPct val="100000"/>
              <a:buFont typeface="Wingdings" panose="05000000000000000000" pitchFamily="2" charset="2"/>
              <a:buNone/>
            </a:pPr>
            <a:endParaRPr lang="zh-CN" altLang="en-US" sz="1400" smtClean="0">
              <a:solidFill>
                <a:srgbClr val="FF0000"/>
              </a:solidFill>
              <a:latin typeface="Arial" panose="020B0604020202020204" pitchFamily="34" charset="0"/>
            </a:endParaRPr>
          </a:p>
          <a:p>
            <a:pPr fontAlgn="base">
              <a:spcBef>
                <a:spcPct val="0"/>
              </a:spcBef>
              <a:spcAft>
                <a:spcPct val="0"/>
              </a:spcAft>
              <a:buSzPct val="100000"/>
              <a:buFont typeface="Wingdings" panose="05000000000000000000" pitchFamily="2" charset="2"/>
              <a:buNone/>
            </a:pPr>
            <a:r>
              <a:rPr lang="zh-CN" altLang="en-US" sz="1400" smtClean="0">
                <a:solidFill>
                  <a:srgbClr val="FF0000"/>
                </a:solidFill>
                <a:latin typeface="Arial" panose="020B0604020202020204" pitchFamily="34" charset="0"/>
              </a:rPr>
              <a:t>$ ./awktest.sh </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var1:along</a:t>
            </a:r>
          </a:p>
          <a:p>
            <a:pPr fontAlgn="base">
              <a:spcBef>
                <a:spcPct val="0"/>
              </a:spcBef>
              <a:spcAft>
                <a:spcPct val="0"/>
              </a:spcAft>
              <a:buSzPct val="100000"/>
              <a:buFont typeface="Wingdings" panose="05000000000000000000" pitchFamily="2" charset="2"/>
              <a:buNone/>
            </a:pPr>
            <a:r>
              <a:rPr lang="zh-CN" altLang="en-US" sz="1400" i="1" smtClean="0">
                <a:solidFill>
                  <a:srgbClr val="333399"/>
                </a:solidFill>
                <a:latin typeface="Arial" panose="020B0604020202020204" pitchFamily="34" charset="0"/>
              </a:rPr>
              <a:t>var2:test</a:t>
            </a:r>
          </a:p>
        </p:txBody>
      </p:sp>
    </p:spTree>
    <p:extLst>
      <p:ext uri="{BB962C8B-B14F-4D97-AF65-F5344CB8AC3E}">
        <p14:creationId xmlns:p14="http://schemas.microsoft.com/office/powerpoint/2010/main" val="303037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blinds(horizontal)">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blinds(horizontal)">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blinds(horizontal)">
                                      <p:cBhvr>
                                        <p:cTn id="27" dur="500"/>
                                        <p:tgtEl>
                                          <p:spTgt spid="9">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blinds(horizontal)">
                                      <p:cBhvr>
                                        <p:cTn id="30" dur="500"/>
                                        <p:tgtEl>
                                          <p:spTgt spid="9">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blinds(horizontal)">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9">
                                            <p:txEl>
                                              <p:pRg st="8" end="8"/>
                                            </p:txEl>
                                          </p:spTgt>
                                        </p:tgtEl>
                                        <p:attrNameLst>
                                          <p:attrName>style.visibility</p:attrName>
                                        </p:attrNameLst>
                                      </p:cBhvr>
                                      <p:to>
                                        <p:strVal val="visible"/>
                                      </p:to>
                                    </p:set>
                                    <p:animEffect transition="in" filter="blinds(horizontal)">
                                      <p:cBhvr>
                                        <p:cTn id="38" dur="500"/>
                                        <p:tgtEl>
                                          <p:spTgt spid="9">
                                            <p:txEl>
                                              <p:pRg st="8" end="8"/>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9">
                                            <p:txEl>
                                              <p:pRg st="9" end="9"/>
                                            </p:txEl>
                                          </p:spTgt>
                                        </p:tgtEl>
                                        <p:attrNameLst>
                                          <p:attrName>style.visibility</p:attrName>
                                        </p:attrNameLst>
                                      </p:cBhvr>
                                      <p:to>
                                        <p:strVal val="visible"/>
                                      </p:to>
                                    </p:set>
                                    <p:animEffect transition="in" filter="blinds(horizontal)">
                                      <p:cBhvr>
                                        <p:cTn id="41" dur="500"/>
                                        <p:tgtEl>
                                          <p:spTgt spid="9">
                                            <p:txEl>
                                              <p:pRg st="9" end="9"/>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9">
                                            <p:txEl>
                                              <p:pRg st="10" end="10"/>
                                            </p:txEl>
                                          </p:spTgt>
                                        </p:tgtEl>
                                        <p:attrNameLst>
                                          <p:attrName>style.visibility</p:attrName>
                                        </p:attrNameLst>
                                      </p:cBhvr>
                                      <p:to>
                                        <p:strVal val="visible"/>
                                      </p:to>
                                    </p:set>
                                    <p:animEffect transition="in" filter="blinds(horizontal)">
                                      <p:cBhvr>
                                        <p:cTn id="44" dur="500"/>
                                        <p:tgtEl>
                                          <p:spTgt spid="9">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9">
                                            <p:txEl>
                                              <p:pRg st="12" end="12"/>
                                            </p:txEl>
                                          </p:spTgt>
                                        </p:tgtEl>
                                        <p:attrNameLst>
                                          <p:attrName>style.visibility</p:attrName>
                                        </p:attrNameLst>
                                      </p:cBhvr>
                                      <p:to>
                                        <p:strVal val="visible"/>
                                      </p:to>
                                    </p:set>
                                    <p:animEffect transition="in" filter="blinds(horizontal)">
                                      <p:cBhvr>
                                        <p:cTn id="49" dur="500"/>
                                        <p:tgtEl>
                                          <p:spTgt spid="9">
                                            <p:txEl>
                                              <p:pRg st="12" end="12"/>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9">
                                            <p:txEl>
                                              <p:pRg st="13" end="13"/>
                                            </p:txEl>
                                          </p:spTgt>
                                        </p:tgtEl>
                                        <p:attrNameLst>
                                          <p:attrName>style.visibility</p:attrName>
                                        </p:attrNameLst>
                                      </p:cBhvr>
                                      <p:to>
                                        <p:strVal val="visible"/>
                                      </p:to>
                                    </p:set>
                                    <p:animEffect transition="in" filter="blinds(horizontal)">
                                      <p:cBhvr>
                                        <p:cTn id="52" dur="500"/>
                                        <p:tgtEl>
                                          <p:spTgt spid="9">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blinds(horizontal)">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1">
                                            <p:txEl>
                                              <p:pRg st="0" end="0"/>
                                            </p:txEl>
                                          </p:spTgt>
                                        </p:tgtEl>
                                        <p:attrNameLst>
                                          <p:attrName>style.visibility</p:attrName>
                                        </p:attrNameLst>
                                      </p:cBhvr>
                                      <p:to>
                                        <p:strVal val="visible"/>
                                      </p:to>
                                    </p:set>
                                    <p:animEffect transition="in" filter="blinds(horizontal)">
                                      <p:cBhvr>
                                        <p:cTn id="62" dur="500"/>
                                        <p:tgtEl>
                                          <p:spTgt spid="11">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1">
                                            <p:txEl>
                                              <p:pRg st="2" end="2"/>
                                            </p:txEl>
                                          </p:spTgt>
                                        </p:tgtEl>
                                        <p:attrNameLst>
                                          <p:attrName>style.visibility</p:attrName>
                                        </p:attrNameLst>
                                      </p:cBhvr>
                                      <p:to>
                                        <p:strVal val="visible"/>
                                      </p:to>
                                    </p:set>
                                    <p:animEffect transition="in" filter="blinds(horizontal)">
                                      <p:cBhvr>
                                        <p:cTn id="67" dur="500"/>
                                        <p:tgtEl>
                                          <p:spTgt spid="11">
                                            <p:txEl>
                                              <p:pRg st="2" end="2"/>
                                            </p:txEl>
                                          </p:spTgt>
                                        </p:tgtEl>
                                      </p:cBhvr>
                                    </p:animEffect>
                                  </p:childTnLst>
                                </p:cTn>
                              </p:par>
                              <p:par>
                                <p:cTn id="68" presetID="3" presetClass="entr" presetSubtype="10" fill="hold" nodeType="withEffect">
                                  <p:stCondLst>
                                    <p:cond delay="0"/>
                                  </p:stCondLst>
                                  <p:childTnLst>
                                    <p:set>
                                      <p:cBhvr>
                                        <p:cTn id="69" dur="1" fill="hold">
                                          <p:stCondLst>
                                            <p:cond delay="0"/>
                                          </p:stCondLst>
                                        </p:cTn>
                                        <p:tgtEl>
                                          <p:spTgt spid="11">
                                            <p:txEl>
                                              <p:pRg st="3" end="3"/>
                                            </p:txEl>
                                          </p:spTgt>
                                        </p:tgtEl>
                                        <p:attrNameLst>
                                          <p:attrName>style.visibility</p:attrName>
                                        </p:attrNameLst>
                                      </p:cBhvr>
                                      <p:to>
                                        <p:strVal val="visible"/>
                                      </p:to>
                                    </p:set>
                                    <p:animEffect transition="in" filter="blinds(horizontal)">
                                      <p:cBhvr>
                                        <p:cTn id="70" dur="500"/>
                                        <p:tgtEl>
                                          <p:spTgt spid="11">
                                            <p:txEl>
                                              <p:pRg st="3" end="3"/>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11">
                                            <p:txEl>
                                              <p:pRg st="5" end="5"/>
                                            </p:txEl>
                                          </p:spTgt>
                                        </p:tgtEl>
                                        <p:attrNameLst>
                                          <p:attrName>style.visibility</p:attrName>
                                        </p:attrNameLst>
                                      </p:cBhvr>
                                      <p:to>
                                        <p:strVal val="visible"/>
                                      </p:to>
                                    </p:set>
                                    <p:animEffect transition="in" filter="blinds(horizontal)">
                                      <p:cBhvr>
                                        <p:cTn id="73" dur="500"/>
                                        <p:tgtEl>
                                          <p:spTgt spid="11">
                                            <p:txEl>
                                              <p:pRg st="5" end="5"/>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11">
                                            <p:txEl>
                                              <p:pRg st="6" end="6"/>
                                            </p:txEl>
                                          </p:spTgt>
                                        </p:tgtEl>
                                        <p:attrNameLst>
                                          <p:attrName>style.visibility</p:attrName>
                                        </p:attrNameLst>
                                      </p:cBhvr>
                                      <p:to>
                                        <p:strVal val="visible"/>
                                      </p:to>
                                    </p:set>
                                    <p:animEffect transition="in" filter="blinds(horizontal)">
                                      <p:cBhvr>
                                        <p:cTn id="76" dur="500"/>
                                        <p:tgtEl>
                                          <p:spTgt spid="11">
                                            <p:txEl>
                                              <p:pRg st="6" end="6"/>
                                            </p:txEl>
                                          </p:spTgt>
                                        </p:tgtEl>
                                      </p:cBhvr>
                                    </p:animEffect>
                                  </p:childTnLst>
                                </p:cTn>
                              </p:par>
                              <p:par>
                                <p:cTn id="77" presetID="3" presetClass="entr" presetSubtype="10" fill="hold" nodeType="withEffect">
                                  <p:stCondLst>
                                    <p:cond delay="0"/>
                                  </p:stCondLst>
                                  <p:childTnLst>
                                    <p:set>
                                      <p:cBhvr>
                                        <p:cTn id="78" dur="1" fill="hold">
                                          <p:stCondLst>
                                            <p:cond delay="0"/>
                                          </p:stCondLst>
                                        </p:cTn>
                                        <p:tgtEl>
                                          <p:spTgt spid="11">
                                            <p:txEl>
                                              <p:pRg st="8" end="8"/>
                                            </p:txEl>
                                          </p:spTgt>
                                        </p:tgtEl>
                                        <p:attrNameLst>
                                          <p:attrName>style.visibility</p:attrName>
                                        </p:attrNameLst>
                                      </p:cBhvr>
                                      <p:to>
                                        <p:strVal val="visible"/>
                                      </p:to>
                                    </p:set>
                                    <p:animEffect transition="in" filter="blinds(horizontal)">
                                      <p:cBhvr>
                                        <p:cTn id="79" dur="500"/>
                                        <p:tgtEl>
                                          <p:spTgt spid="11">
                                            <p:txEl>
                                              <p:pRg st="8" end="8"/>
                                            </p:txEl>
                                          </p:spTgt>
                                        </p:tgtEl>
                                      </p:cBhvr>
                                    </p:animEffect>
                                  </p:childTnLst>
                                </p:cTn>
                              </p:par>
                              <p:par>
                                <p:cTn id="80" presetID="3" presetClass="entr" presetSubtype="10" fill="hold" nodeType="withEffect">
                                  <p:stCondLst>
                                    <p:cond delay="0"/>
                                  </p:stCondLst>
                                  <p:childTnLst>
                                    <p:set>
                                      <p:cBhvr>
                                        <p:cTn id="81" dur="1" fill="hold">
                                          <p:stCondLst>
                                            <p:cond delay="0"/>
                                          </p:stCondLst>
                                        </p:cTn>
                                        <p:tgtEl>
                                          <p:spTgt spid="11">
                                            <p:txEl>
                                              <p:pRg st="9" end="9"/>
                                            </p:txEl>
                                          </p:spTgt>
                                        </p:tgtEl>
                                        <p:attrNameLst>
                                          <p:attrName>style.visibility</p:attrName>
                                        </p:attrNameLst>
                                      </p:cBhvr>
                                      <p:to>
                                        <p:strVal val="visible"/>
                                      </p:to>
                                    </p:set>
                                    <p:animEffect transition="in" filter="blinds(horizontal)">
                                      <p:cBhvr>
                                        <p:cTn id="82" dur="500"/>
                                        <p:tgtEl>
                                          <p:spTgt spid="11">
                                            <p:txEl>
                                              <p:pRg st="9" end="9"/>
                                            </p:txEl>
                                          </p:spTgt>
                                        </p:tgtEl>
                                      </p:cBhvr>
                                    </p:animEffect>
                                  </p:childTnLst>
                                </p:cTn>
                              </p:par>
                              <p:par>
                                <p:cTn id="83" presetID="3" presetClass="entr" presetSubtype="10" fill="hold" nodeType="withEffect">
                                  <p:stCondLst>
                                    <p:cond delay="0"/>
                                  </p:stCondLst>
                                  <p:childTnLst>
                                    <p:set>
                                      <p:cBhvr>
                                        <p:cTn id="84" dur="1" fill="hold">
                                          <p:stCondLst>
                                            <p:cond delay="0"/>
                                          </p:stCondLst>
                                        </p:cTn>
                                        <p:tgtEl>
                                          <p:spTgt spid="11">
                                            <p:txEl>
                                              <p:pRg st="11" end="11"/>
                                            </p:txEl>
                                          </p:spTgt>
                                        </p:tgtEl>
                                        <p:attrNameLst>
                                          <p:attrName>style.visibility</p:attrName>
                                        </p:attrNameLst>
                                      </p:cBhvr>
                                      <p:to>
                                        <p:strVal val="visible"/>
                                      </p:to>
                                    </p:set>
                                    <p:animEffect transition="in" filter="blinds(horizontal)">
                                      <p:cBhvr>
                                        <p:cTn id="85" dur="500"/>
                                        <p:tgtEl>
                                          <p:spTgt spid="11">
                                            <p:txEl>
                                              <p:pRg st="11" end="11"/>
                                            </p:txEl>
                                          </p:spTgt>
                                        </p:tgtEl>
                                      </p:cBhvr>
                                    </p:animEffect>
                                  </p:childTnLst>
                                </p:cTn>
                              </p:par>
                              <p:par>
                                <p:cTn id="86" presetID="3" presetClass="entr" presetSubtype="10" fill="hold" nodeType="withEffect">
                                  <p:stCondLst>
                                    <p:cond delay="0"/>
                                  </p:stCondLst>
                                  <p:childTnLst>
                                    <p:set>
                                      <p:cBhvr>
                                        <p:cTn id="87" dur="1" fill="hold">
                                          <p:stCondLst>
                                            <p:cond delay="0"/>
                                          </p:stCondLst>
                                        </p:cTn>
                                        <p:tgtEl>
                                          <p:spTgt spid="11">
                                            <p:txEl>
                                              <p:pRg st="12" end="12"/>
                                            </p:txEl>
                                          </p:spTgt>
                                        </p:tgtEl>
                                        <p:attrNameLst>
                                          <p:attrName>style.visibility</p:attrName>
                                        </p:attrNameLst>
                                      </p:cBhvr>
                                      <p:to>
                                        <p:strVal val="visible"/>
                                      </p:to>
                                    </p:set>
                                    <p:animEffect transition="in" filter="blinds(horizontal)">
                                      <p:cBhvr>
                                        <p:cTn id="88" dur="500"/>
                                        <p:tgtEl>
                                          <p:spTgt spid="11">
                                            <p:txEl>
                                              <p:pRg st="12" end="12"/>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nodeType="clickEffect">
                                  <p:stCondLst>
                                    <p:cond delay="0"/>
                                  </p:stCondLst>
                                  <p:childTnLst>
                                    <p:set>
                                      <p:cBhvr>
                                        <p:cTn id="92" dur="1" fill="hold">
                                          <p:stCondLst>
                                            <p:cond delay="0"/>
                                          </p:stCondLst>
                                        </p:cTn>
                                        <p:tgtEl>
                                          <p:spTgt spid="11">
                                            <p:txEl>
                                              <p:pRg st="14" end="14"/>
                                            </p:txEl>
                                          </p:spTgt>
                                        </p:tgtEl>
                                        <p:attrNameLst>
                                          <p:attrName>style.visibility</p:attrName>
                                        </p:attrNameLst>
                                      </p:cBhvr>
                                      <p:to>
                                        <p:strVal val="visible"/>
                                      </p:to>
                                    </p:set>
                                    <p:animEffect transition="in" filter="blinds(horizontal)">
                                      <p:cBhvr>
                                        <p:cTn id="93" dur="500"/>
                                        <p:tgtEl>
                                          <p:spTgt spid="11">
                                            <p:txEl>
                                              <p:pRg st="14" end="14"/>
                                            </p:txEl>
                                          </p:spTgt>
                                        </p:tgtEl>
                                      </p:cBhvr>
                                    </p:animEffect>
                                  </p:childTnLst>
                                </p:cTn>
                              </p:par>
                              <p:par>
                                <p:cTn id="94" presetID="3" presetClass="entr" presetSubtype="10" fill="hold" nodeType="withEffect">
                                  <p:stCondLst>
                                    <p:cond delay="0"/>
                                  </p:stCondLst>
                                  <p:childTnLst>
                                    <p:set>
                                      <p:cBhvr>
                                        <p:cTn id="95" dur="1" fill="hold">
                                          <p:stCondLst>
                                            <p:cond delay="0"/>
                                          </p:stCondLst>
                                        </p:cTn>
                                        <p:tgtEl>
                                          <p:spTgt spid="11">
                                            <p:txEl>
                                              <p:pRg st="15" end="15"/>
                                            </p:txEl>
                                          </p:spTgt>
                                        </p:tgtEl>
                                        <p:attrNameLst>
                                          <p:attrName>style.visibility</p:attrName>
                                        </p:attrNameLst>
                                      </p:cBhvr>
                                      <p:to>
                                        <p:strVal val="visible"/>
                                      </p:to>
                                    </p:set>
                                    <p:animEffect transition="in" filter="blinds(horizontal)">
                                      <p:cBhvr>
                                        <p:cTn id="96" dur="500"/>
                                        <p:tgtEl>
                                          <p:spTgt spid="11">
                                            <p:txEl>
                                              <p:pRg st="15" end="15"/>
                                            </p:txEl>
                                          </p:spTgt>
                                        </p:tgtEl>
                                      </p:cBhvr>
                                    </p:animEffect>
                                  </p:childTnLst>
                                </p:cTn>
                              </p:par>
                              <p:par>
                                <p:cTn id="97" presetID="3" presetClass="entr" presetSubtype="10" fill="hold" nodeType="withEffect">
                                  <p:stCondLst>
                                    <p:cond delay="0"/>
                                  </p:stCondLst>
                                  <p:childTnLst>
                                    <p:set>
                                      <p:cBhvr>
                                        <p:cTn id="98" dur="1" fill="hold">
                                          <p:stCondLst>
                                            <p:cond delay="0"/>
                                          </p:stCondLst>
                                        </p:cTn>
                                        <p:tgtEl>
                                          <p:spTgt spid="11">
                                            <p:txEl>
                                              <p:pRg st="16" end="16"/>
                                            </p:txEl>
                                          </p:spTgt>
                                        </p:tgtEl>
                                        <p:attrNameLst>
                                          <p:attrName>style.visibility</p:attrName>
                                        </p:attrNameLst>
                                      </p:cBhvr>
                                      <p:to>
                                        <p:strVal val="visible"/>
                                      </p:to>
                                    </p:set>
                                    <p:animEffect transition="in" filter="blinds(horizontal)">
                                      <p:cBhvr>
                                        <p:cTn id="99" dur="500"/>
                                        <p:tgtEl>
                                          <p:spTgt spid="11">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utoUpdateAnimBg="0"/>
      <p:bldP spid="10" grpId="0" bldLvl="0"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a:t>
            </a:r>
            <a:r>
              <a:rPr lang="zh-CN" altLang="en-US" dirty="0"/>
              <a:t>用法</a:t>
            </a:r>
          </a:p>
        </p:txBody>
      </p:sp>
      <p:sp>
        <p:nvSpPr>
          <p:cNvPr id="8" name="Text Box 5"/>
          <p:cNvSpPr txBox="1">
            <a:spLocks noChangeArrowheads="1"/>
          </p:cNvSpPr>
          <p:nvPr/>
        </p:nvSpPr>
        <p:spPr bwMode="auto">
          <a:xfrm>
            <a:off x="1266020" y="1404940"/>
            <a:ext cx="26971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1、常用用法</a:t>
            </a:r>
          </a:p>
        </p:txBody>
      </p:sp>
      <p:sp>
        <p:nvSpPr>
          <p:cNvPr id="9" name="Text Box 6"/>
          <p:cNvSpPr txBox="1">
            <a:spLocks noChangeArrowheads="1"/>
          </p:cNvSpPr>
          <p:nvPr/>
        </p:nvSpPr>
        <p:spPr bwMode="auto">
          <a:xfrm>
            <a:off x="1304120" y="1746252"/>
            <a:ext cx="7340600"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今天：	</a:t>
            </a:r>
            <a:r>
              <a:rPr lang="zh-CN" altLang="en-US" sz="1400" i="1" smtClean="0">
                <a:solidFill>
                  <a:srgbClr val="FF0000"/>
                </a:solidFill>
                <a:latin typeface="Arial" panose="020B0604020202020204" pitchFamily="34" charset="0"/>
              </a:rPr>
              <a:t>`date +%Y%m%d`</a:t>
            </a:r>
            <a:r>
              <a:rPr lang="zh-CN" altLang="en-US" sz="1400" smtClean="0">
                <a:solidFill>
                  <a:srgbClr val="FF0000"/>
                </a:solidFill>
                <a:latin typeface="Arial" panose="020B0604020202020204" pitchFamily="34" charset="0"/>
              </a:rPr>
              <a:t> </a:t>
            </a:r>
            <a:r>
              <a:rPr lang="zh-CN" altLang="en-US" sz="1400" smtClean="0">
                <a:solidFill>
                  <a:srgbClr val="333399"/>
                </a:solidFill>
                <a:latin typeface="Arial" panose="020B0604020202020204" pitchFamily="34" charset="0"/>
              </a:rPr>
              <a:t>or</a:t>
            </a:r>
            <a:r>
              <a:rPr lang="zh-CN" altLang="en-US" sz="1400" smtClean="0">
                <a:solidFill>
                  <a:srgbClr val="FF0000"/>
                </a:solidFill>
                <a:latin typeface="Arial" panose="020B0604020202020204" pitchFamily="34" charset="0"/>
              </a:rPr>
              <a:t> date +%F </a:t>
            </a:r>
            <a:r>
              <a:rPr lang="zh-CN" altLang="en-US" sz="1400" smtClean="0">
                <a:solidFill>
                  <a:srgbClr val="333399"/>
                </a:solidFill>
                <a:latin typeface="Arial" panose="020B0604020202020204" pitchFamily="34" charset="0"/>
                <a:sym typeface="Arial" panose="020B0604020202020204" pitchFamily="34" charset="0"/>
              </a:rPr>
              <a:t>or</a:t>
            </a:r>
            <a:r>
              <a:rPr lang="zh-CN" altLang="en-US" sz="1400" i="1" smtClean="0">
                <a:solidFill>
                  <a:srgbClr val="FF0000"/>
                </a:solidFill>
                <a:latin typeface="Arial" panose="020B0604020202020204" pitchFamily="34" charset="0"/>
                <a:sym typeface="Arial" panose="020B0604020202020204" pitchFamily="34" charset="0"/>
              </a:rPr>
              <a:t> $(date +%y%m%d)</a:t>
            </a:r>
          </a:p>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昨天：	</a:t>
            </a:r>
            <a:r>
              <a:rPr lang="zh-CN" altLang="en-US" sz="1400" i="1" smtClean="0">
                <a:solidFill>
                  <a:srgbClr val="FF0000"/>
                </a:solidFill>
                <a:latin typeface="Arial" panose="020B0604020202020204" pitchFamily="34" charset="0"/>
                <a:sym typeface="Arial" panose="020B0604020202020204" pitchFamily="34" charset="0"/>
              </a:rPr>
              <a:t>`date -d yesterday +%Y%m%d`</a:t>
            </a:r>
            <a:r>
              <a:rPr lang="zh-CN" altLang="en-US" sz="1400" smtClean="0">
                <a:solidFill>
                  <a:srgbClr val="FF0000"/>
                </a:solidFill>
                <a:latin typeface="Arial" panose="020B0604020202020204" pitchFamily="34" charset="0"/>
              </a:rPr>
              <a:t> </a:t>
            </a:r>
            <a:r>
              <a:rPr lang="zh-CN" altLang="en-US" sz="1400" smtClean="0">
                <a:solidFill>
                  <a:srgbClr val="333399"/>
                </a:solidFill>
                <a:latin typeface="Arial" panose="020B0604020202020204" pitchFamily="34" charset="0"/>
                <a:sym typeface="Arial" panose="020B0604020202020204" pitchFamily="34" charset="0"/>
              </a:rPr>
              <a:t>or </a:t>
            </a:r>
            <a:r>
              <a:rPr lang="zh-CN" altLang="en-US" sz="1400" i="1" smtClean="0">
                <a:solidFill>
                  <a:srgbClr val="FF0000"/>
                </a:solidFill>
                <a:latin typeface="Arial" panose="020B0604020202020204" pitchFamily="34" charset="0"/>
                <a:sym typeface="Arial" panose="020B0604020202020204" pitchFamily="34" charset="0"/>
              </a:rPr>
              <a:t>`date -d -1day +%Y%m%d`</a:t>
            </a:r>
          </a:p>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n天前：</a:t>
            </a:r>
            <a:r>
              <a:rPr lang="zh-CN" altLang="en-US" sz="1400" i="1" smtClean="0">
                <a:solidFill>
                  <a:srgbClr val="FF0000"/>
                </a:solidFill>
                <a:latin typeface="Arial" panose="020B0604020202020204" pitchFamily="34" charset="0"/>
                <a:sym typeface="Arial" panose="020B0604020202020204" pitchFamily="34" charset="0"/>
              </a:rPr>
              <a:t>`date -d -nday %Y%m%d`</a:t>
            </a:r>
            <a:r>
              <a:rPr lang="zh-CN" altLang="en-US" sz="1400" smtClean="0">
                <a:solidFill>
                  <a:srgbClr val="FF0000"/>
                </a:solidFill>
                <a:latin typeface="Arial" panose="020B0604020202020204" pitchFamily="34" charset="0"/>
              </a:rPr>
              <a:t> </a:t>
            </a:r>
            <a:r>
              <a:rPr lang="zh-CN" altLang="en-US" sz="1400" smtClean="0">
                <a:solidFill>
                  <a:srgbClr val="333399"/>
                </a:solidFill>
                <a:latin typeface="Arial" panose="020B0604020202020204" pitchFamily="34" charset="0"/>
                <a:sym typeface="Arial" panose="020B0604020202020204" pitchFamily="34" charset="0"/>
              </a:rPr>
              <a:t>or</a:t>
            </a:r>
            <a:r>
              <a:rPr lang="zh-CN" altLang="en-US" sz="1400" smtClean="0">
                <a:solidFill>
                  <a:srgbClr val="FF0000"/>
                </a:solidFill>
                <a:latin typeface="Arial" panose="020B0604020202020204" pitchFamily="34" charset="0"/>
              </a:rPr>
              <a:t> </a:t>
            </a:r>
            <a:r>
              <a:rPr lang="zh-CN" altLang="en-US" sz="1400" i="1" smtClean="0">
                <a:solidFill>
                  <a:srgbClr val="FF0000"/>
                </a:solidFill>
                <a:latin typeface="Arial" panose="020B0604020202020204" pitchFamily="34" charset="0"/>
                <a:sym typeface="Arial" panose="020B0604020202020204" pitchFamily="34" charset="0"/>
              </a:rPr>
              <a:t>`date -d "n days ago" +%Y%m%d`</a:t>
            </a:r>
          </a:p>
          <a:p>
            <a:pPr marL="285750" indent="-285750" fontAlgn="base">
              <a:lnSpc>
                <a:spcPct val="13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n天后：</a:t>
            </a:r>
            <a:r>
              <a:rPr lang="zh-CN" altLang="en-US" sz="1400" i="1" smtClean="0">
                <a:solidFill>
                  <a:srgbClr val="FF0000"/>
                </a:solidFill>
                <a:latin typeface="Arial" panose="020B0604020202020204" pitchFamily="34" charset="0"/>
                <a:sym typeface="Arial" panose="020B0604020202020204" pitchFamily="34" charset="0"/>
              </a:rPr>
              <a:t>`date -d nday +%Y%m%d`</a:t>
            </a:r>
            <a:r>
              <a:rPr lang="zh-CN" altLang="en-US" sz="1400" smtClean="0">
                <a:solidFill>
                  <a:srgbClr val="FF0000"/>
                </a:solidFill>
                <a:latin typeface="Arial" panose="020B0604020202020204" pitchFamily="34" charset="0"/>
              </a:rPr>
              <a:t> </a:t>
            </a:r>
            <a:r>
              <a:rPr lang="zh-CN" altLang="en-US" sz="1400" smtClean="0">
                <a:solidFill>
                  <a:srgbClr val="333399"/>
                </a:solidFill>
                <a:latin typeface="Arial" panose="020B0604020202020204" pitchFamily="34" charset="0"/>
                <a:sym typeface="Arial" panose="020B0604020202020204" pitchFamily="34" charset="0"/>
              </a:rPr>
              <a:t>or</a:t>
            </a:r>
            <a:r>
              <a:rPr lang="zh-CN" altLang="en-US" sz="1400" smtClean="0">
                <a:solidFill>
                  <a:srgbClr val="FF0000"/>
                </a:solidFill>
                <a:latin typeface="Arial" panose="020B0604020202020204" pitchFamily="34" charset="0"/>
              </a:rPr>
              <a:t> </a:t>
            </a:r>
            <a:r>
              <a:rPr lang="zh-CN" altLang="en-US" sz="1400" i="1" smtClean="0">
                <a:solidFill>
                  <a:srgbClr val="FF0000"/>
                </a:solidFill>
                <a:latin typeface="Arial" panose="020B0604020202020204" pitchFamily="34" charset="0"/>
                <a:sym typeface="Arial" panose="020B0604020202020204" pitchFamily="34" charset="0"/>
              </a:rPr>
              <a:t>`date -d "10 </a:t>
            </a:r>
            <a:r>
              <a:rPr lang="zh-CN" altLang="en-US" sz="1400" smtClean="0">
                <a:solidFill>
                  <a:srgbClr val="FF0000"/>
                </a:solidFill>
                <a:latin typeface="Arial" panose="020B0604020202020204" pitchFamily="34" charset="0"/>
                <a:sym typeface="Arial" panose="020B0604020202020204" pitchFamily="34" charset="0"/>
              </a:rPr>
              <a:t>days</a:t>
            </a:r>
            <a:r>
              <a:rPr lang="zh-CN" altLang="en-US" sz="1400" i="1" smtClean="0">
                <a:solidFill>
                  <a:srgbClr val="FF0000"/>
                </a:solidFill>
                <a:latin typeface="Arial" panose="020B0604020202020204" pitchFamily="34" charset="0"/>
                <a:sym typeface="Arial" panose="020B0604020202020204" pitchFamily="34" charset="0"/>
              </a:rPr>
              <a:t>" +%Y%m%d`</a:t>
            </a:r>
            <a:endParaRPr lang="zh-CN" altLang="en-US" sz="1400" smtClean="0">
              <a:solidFill>
                <a:srgbClr val="333399"/>
              </a:solidFill>
              <a:latin typeface="Arial" panose="020B0604020202020204" pitchFamily="34" charset="0"/>
            </a:endParaRPr>
          </a:p>
        </p:txBody>
      </p:sp>
      <p:sp>
        <p:nvSpPr>
          <p:cNvPr id="10" name="Text Box 7"/>
          <p:cNvSpPr txBox="1">
            <a:spLocks noChangeArrowheads="1"/>
          </p:cNvSpPr>
          <p:nvPr/>
        </p:nvSpPr>
        <p:spPr bwMode="auto">
          <a:xfrm>
            <a:off x="1269195" y="2990852"/>
            <a:ext cx="25479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2、date时间域</a:t>
            </a:r>
          </a:p>
        </p:txBody>
      </p:sp>
      <p:sp>
        <p:nvSpPr>
          <p:cNvPr id="11" name="Text Box 8"/>
          <p:cNvSpPr txBox="1">
            <a:spLocks noChangeArrowheads="1"/>
          </p:cNvSpPr>
          <p:nvPr/>
        </p:nvSpPr>
        <p:spPr bwMode="auto">
          <a:xfrm>
            <a:off x="1307295" y="3344865"/>
            <a:ext cx="4745038" cy="266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rPr>
              <a:t>%n</a:t>
            </a:r>
            <a:r>
              <a:rPr lang="zh-CN" altLang="en-US" sz="1400" smtClean="0">
                <a:solidFill>
                  <a:srgbClr val="333399"/>
                </a:solidFill>
                <a:latin typeface="Arial" panose="020B0604020202020204" pitchFamily="34" charset="0"/>
              </a:rPr>
              <a:t>：换行</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%t</a:t>
            </a:r>
            <a:r>
              <a:rPr lang="zh-CN" altLang="en-US" sz="1400" smtClean="0">
                <a:solidFill>
                  <a:srgbClr val="333399"/>
                </a:solidFill>
                <a:latin typeface="Arial" panose="020B0604020202020204" pitchFamily="34" charset="0"/>
              </a:rPr>
              <a:t>：tab制表符</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小时：</a:t>
            </a:r>
            <a:r>
              <a:rPr lang="zh-CN" altLang="en-US" sz="1400" smtClean="0">
                <a:solidFill>
                  <a:srgbClr val="FF0000"/>
                </a:solidFill>
                <a:latin typeface="Arial" panose="020B0604020202020204" pitchFamily="34" charset="0"/>
                <a:sym typeface="Arial" panose="020B0604020202020204" pitchFamily="34" charset="0"/>
              </a:rPr>
              <a:t>%H</a:t>
            </a:r>
            <a:r>
              <a:rPr lang="zh-CN" altLang="en-US" sz="1400" smtClean="0">
                <a:solidFill>
                  <a:srgbClr val="333399"/>
                </a:solidFill>
                <a:latin typeface="Arial" panose="020B0604020202020204" pitchFamily="34" charset="0"/>
              </a:rPr>
              <a:t>(00..23) </a:t>
            </a:r>
            <a:r>
              <a:rPr lang="zh-CN" altLang="en-US" sz="1400" smtClean="0">
                <a:solidFill>
                  <a:srgbClr val="FF0000"/>
                </a:solidFill>
                <a:latin typeface="Arial" panose="020B0604020202020204" pitchFamily="34" charset="0"/>
                <a:sym typeface="Arial" panose="020B0604020202020204" pitchFamily="34" charset="0"/>
              </a:rPr>
              <a:t>%I</a:t>
            </a:r>
            <a:r>
              <a:rPr lang="zh-CN" altLang="en-US" sz="1400" smtClean="0">
                <a:solidFill>
                  <a:srgbClr val="333399"/>
                </a:solidFill>
                <a:latin typeface="Arial" panose="020B0604020202020204" pitchFamily="34" charset="0"/>
              </a:rPr>
              <a:t>(01..12) </a:t>
            </a:r>
            <a:r>
              <a:rPr lang="zh-CN" altLang="en-US" sz="1400" smtClean="0">
                <a:solidFill>
                  <a:srgbClr val="FF0000"/>
                </a:solidFill>
                <a:latin typeface="Arial" panose="020B0604020202020204" pitchFamily="34" charset="0"/>
                <a:sym typeface="Arial" panose="020B0604020202020204" pitchFamily="34" charset="0"/>
              </a:rPr>
              <a:t>%k</a:t>
            </a:r>
            <a:r>
              <a:rPr lang="zh-CN" altLang="en-US" sz="1400" smtClean="0">
                <a:solidFill>
                  <a:srgbClr val="333399"/>
                </a:solidFill>
                <a:latin typeface="Arial" panose="020B0604020202020204" pitchFamily="34" charset="0"/>
              </a:rPr>
              <a:t>(0..23) </a:t>
            </a:r>
            <a:r>
              <a:rPr lang="zh-CN" altLang="en-US" sz="1400" smtClean="0">
                <a:solidFill>
                  <a:srgbClr val="FF0000"/>
                </a:solidFill>
                <a:latin typeface="Arial" panose="020B0604020202020204" pitchFamily="34" charset="0"/>
                <a:sym typeface="Arial" panose="020B0604020202020204" pitchFamily="34" charset="0"/>
              </a:rPr>
              <a:t>%l</a:t>
            </a:r>
            <a:r>
              <a:rPr lang="zh-CN" altLang="en-US" sz="1400" smtClean="0">
                <a:solidFill>
                  <a:srgbClr val="333399"/>
                </a:solidFill>
                <a:latin typeface="Arial" panose="020B0604020202020204" pitchFamily="34" charset="0"/>
              </a:rPr>
              <a:t>(1..12)</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分钟：</a:t>
            </a:r>
            <a:r>
              <a:rPr lang="zh-CN" altLang="en-US" sz="1400" smtClean="0">
                <a:solidFill>
                  <a:srgbClr val="FF0000"/>
                </a:solidFill>
                <a:latin typeface="Arial" panose="020B0604020202020204" pitchFamily="34" charset="0"/>
                <a:sym typeface="Arial" panose="020B0604020202020204" pitchFamily="34" charset="0"/>
              </a:rPr>
              <a:t>%M</a:t>
            </a:r>
            <a:r>
              <a:rPr lang="zh-CN" altLang="en-US" sz="1400" smtClean="0">
                <a:solidFill>
                  <a:srgbClr val="333399"/>
                </a:solidFill>
                <a:latin typeface="Arial" panose="020B0604020202020204" pitchFamily="34" charset="0"/>
              </a:rPr>
              <a:t>(00..59)</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秒：</a:t>
            </a:r>
            <a:r>
              <a:rPr lang="zh-CN" altLang="en-US" sz="1400" smtClean="0">
                <a:solidFill>
                  <a:srgbClr val="FF0000"/>
                </a:solidFill>
                <a:latin typeface="Arial" panose="020B0604020202020204" pitchFamily="34" charset="0"/>
                <a:sym typeface="Arial" panose="020B0604020202020204" pitchFamily="34" charset="0"/>
              </a:rPr>
              <a:t>%S</a:t>
            </a:r>
            <a:r>
              <a:rPr lang="zh-CN" altLang="en-US" sz="1400" smtClean="0">
                <a:solidFill>
                  <a:srgbClr val="333399"/>
                </a:solidFill>
                <a:latin typeface="Arial" panose="020B0604020202020204" pitchFamily="34" charset="0"/>
              </a:rPr>
              <a:t>(00..61)</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秒数：</a:t>
            </a:r>
            <a:r>
              <a:rPr lang="zh-CN" altLang="en-US" sz="1400" smtClean="0">
                <a:solidFill>
                  <a:srgbClr val="FF0000"/>
                </a:solidFill>
                <a:latin typeface="Arial" panose="020B0604020202020204" pitchFamily="34" charset="0"/>
                <a:sym typeface="Arial" panose="020B0604020202020204" pitchFamily="34" charset="0"/>
              </a:rPr>
              <a:t>%s</a:t>
            </a:r>
            <a:r>
              <a:rPr lang="zh-CN" altLang="en-US" sz="1400" smtClean="0">
                <a:solidFill>
                  <a:srgbClr val="333399"/>
                </a:solidFill>
                <a:latin typeface="Arial" panose="020B0604020202020204" pitchFamily="34" charset="0"/>
              </a:rPr>
              <a:t>(从1970年1月1日00:00:00UTC到现在的秒数)</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[AP]M：</a:t>
            </a:r>
            <a:r>
              <a:rPr lang="zh-CN" altLang="en-US" sz="1400" smtClean="0">
                <a:solidFill>
                  <a:srgbClr val="FF0000"/>
                </a:solidFill>
                <a:latin typeface="Arial" panose="020B0604020202020204" pitchFamily="34" charset="0"/>
                <a:sym typeface="Arial" panose="020B0604020202020204" pitchFamily="34" charset="0"/>
              </a:rPr>
              <a:t>%p</a:t>
            </a:r>
            <a:r>
              <a:rPr lang="zh-CN" altLang="en-US" sz="1400" smtClean="0">
                <a:solidFill>
                  <a:srgbClr val="333399"/>
                </a:solidFill>
                <a:latin typeface="Arial" panose="020B0604020202020204" pitchFamily="34" charset="0"/>
              </a:rPr>
              <a:t>(AM或PM)</a:t>
            </a:r>
            <a:r>
              <a:rPr lang="zh-CN" altLang="en-US" sz="1400" smtClean="0">
                <a:solidFill>
                  <a:srgbClr val="FF0000"/>
                </a:solidFill>
                <a:latin typeface="Arial" panose="020B0604020202020204" pitchFamily="34" charset="0"/>
                <a:sym typeface="Arial" panose="020B0604020202020204" pitchFamily="34" charset="0"/>
              </a:rPr>
              <a:t> %P</a:t>
            </a:r>
            <a:r>
              <a:rPr lang="zh-CN" altLang="en-US" sz="1400" smtClean="0">
                <a:solidFill>
                  <a:srgbClr val="333399"/>
                </a:solidFill>
                <a:latin typeface="Arial" panose="020B0604020202020204" pitchFamily="34" charset="0"/>
              </a:rPr>
              <a:t>(am或pm)</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%r </a:t>
            </a:r>
            <a:r>
              <a:rPr lang="zh-CN" altLang="en-US" sz="1400" smtClean="0">
                <a:solidFill>
                  <a:srgbClr val="333399"/>
                </a:solidFill>
                <a:latin typeface="Arial" panose="020B0604020202020204" pitchFamily="34" charset="0"/>
              </a:rPr>
              <a:t>: hh:mm:ss [AP]M，12小时制</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%X</a:t>
            </a:r>
            <a:r>
              <a:rPr lang="zh-CN" altLang="en-US" sz="1400" smtClean="0">
                <a:solidFill>
                  <a:srgbClr val="333399"/>
                </a:solidFill>
                <a:latin typeface="Arial" panose="020B0604020202020204" pitchFamily="34" charset="0"/>
              </a:rPr>
              <a:t> : 同%r </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%T</a:t>
            </a:r>
            <a:r>
              <a:rPr lang="zh-CN" altLang="en-US" sz="1400" smtClean="0">
                <a:solidFill>
                  <a:srgbClr val="333399"/>
                </a:solidFill>
                <a:latin typeface="Arial" panose="020B0604020202020204" pitchFamily="34" charset="0"/>
              </a:rPr>
              <a:t> : hh:mm:ss，24 小时制</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FF0000"/>
                </a:solidFill>
                <a:latin typeface="Arial" panose="020B0604020202020204" pitchFamily="34" charset="0"/>
                <a:sym typeface="Arial" panose="020B0604020202020204" pitchFamily="34" charset="0"/>
              </a:rPr>
              <a:t>%Z</a:t>
            </a:r>
            <a:r>
              <a:rPr lang="zh-CN" altLang="en-US" sz="1400" smtClean="0">
                <a:solidFill>
                  <a:srgbClr val="333399"/>
                </a:solidFill>
                <a:latin typeface="Arial" panose="020B0604020202020204" pitchFamily="34" charset="0"/>
              </a:rPr>
              <a:t> : 显示时区</a:t>
            </a:r>
          </a:p>
        </p:txBody>
      </p:sp>
    </p:spTree>
    <p:extLst>
      <p:ext uri="{BB962C8B-B14F-4D97-AF65-F5344CB8AC3E}">
        <p14:creationId xmlns:p14="http://schemas.microsoft.com/office/powerpoint/2010/main" val="2631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blinds(horizontal)">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blinds(horizontal)">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blinds(horizontal)">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blinds(horizontal)">
                                      <p:cBhvr>
                                        <p:cTn id="37" dur="500"/>
                                        <p:tgtEl>
                                          <p:spTgt spid="11">
                                            <p:txEl>
                                              <p:pRg st="0" end="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1">
                                            <p:txEl>
                                              <p:pRg st="1" end="1"/>
                                            </p:txEl>
                                          </p:spTgt>
                                        </p:tgtEl>
                                        <p:attrNameLst>
                                          <p:attrName>style.visibility</p:attrName>
                                        </p:attrNameLst>
                                      </p:cBhvr>
                                      <p:to>
                                        <p:strVal val="visible"/>
                                      </p:to>
                                    </p:set>
                                    <p:animEffect transition="in" filter="blinds(horizontal)">
                                      <p:cBhvr>
                                        <p:cTn id="40" dur="500"/>
                                        <p:tgtEl>
                                          <p:spTgt spid="11">
                                            <p:txEl>
                                              <p:pRg st="1" end="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animEffect transition="in" filter="blinds(horizontal)">
                                      <p:cBhvr>
                                        <p:cTn id="43" dur="500"/>
                                        <p:tgtEl>
                                          <p:spTgt spid="11">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1">
                                            <p:txEl>
                                              <p:pRg st="3" end="3"/>
                                            </p:txEl>
                                          </p:spTgt>
                                        </p:tgtEl>
                                        <p:attrNameLst>
                                          <p:attrName>style.visibility</p:attrName>
                                        </p:attrNameLst>
                                      </p:cBhvr>
                                      <p:to>
                                        <p:strVal val="visible"/>
                                      </p:to>
                                    </p:set>
                                    <p:animEffect transition="in" filter="blinds(horizontal)">
                                      <p:cBhvr>
                                        <p:cTn id="46" dur="500"/>
                                        <p:tgtEl>
                                          <p:spTgt spid="11">
                                            <p:txEl>
                                              <p:pRg st="3" end="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animEffect transition="in" filter="blinds(horizontal)">
                                      <p:cBhvr>
                                        <p:cTn id="49" dur="500"/>
                                        <p:tgtEl>
                                          <p:spTgt spid="11">
                                            <p:txEl>
                                              <p:pRg st="4" end="4"/>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11">
                                            <p:txEl>
                                              <p:pRg st="5" end="5"/>
                                            </p:txEl>
                                          </p:spTgt>
                                        </p:tgtEl>
                                        <p:attrNameLst>
                                          <p:attrName>style.visibility</p:attrName>
                                        </p:attrNameLst>
                                      </p:cBhvr>
                                      <p:to>
                                        <p:strVal val="visible"/>
                                      </p:to>
                                    </p:set>
                                    <p:animEffect transition="in" filter="blinds(horizontal)">
                                      <p:cBhvr>
                                        <p:cTn id="52" dur="500"/>
                                        <p:tgtEl>
                                          <p:spTgt spid="11">
                                            <p:txEl>
                                              <p:pRg st="5" end="5"/>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11">
                                            <p:txEl>
                                              <p:pRg st="6" end="6"/>
                                            </p:txEl>
                                          </p:spTgt>
                                        </p:tgtEl>
                                        <p:attrNameLst>
                                          <p:attrName>style.visibility</p:attrName>
                                        </p:attrNameLst>
                                      </p:cBhvr>
                                      <p:to>
                                        <p:strVal val="visible"/>
                                      </p:to>
                                    </p:set>
                                    <p:animEffect transition="in" filter="blinds(horizontal)">
                                      <p:cBhvr>
                                        <p:cTn id="55" dur="500"/>
                                        <p:tgtEl>
                                          <p:spTgt spid="11">
                                            <p:txEl>
                                              <p:pRg st="6" end="6"/>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11">
                                            <p:txEl>
                                              <p:pRg st="7" end="7"/>
                                            </p:txEl>
                                          </p:spTgt>
                                        </p:tgtEl>
                                        <p:attrNameLst>
                                          <p:attrName>style.visibility</p:attrName>
                                        </p:attrNameLst>
                                      </p:cBhvr>
                                      <p:to>
                                        <p:strVal val="visible"/>
                                      </p:to>
                                    </p:set>
                                    <p:animEffect transition="in" filter="blinds(horizontal)">
                                      <p:cBhvr>
                                        <p:cTn id="58" dur="500"/>
                                        <p:tgtEl>
                                          <p:spTgt spid="11">
                                            <p:txEl>
                                              <p:pRg st="7" end="7"/>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11">
                                            <p:txEl>
                                              <p:pRg st="8" end="8"/>
                                            </p:txEl>
                                          </p:spTgt>
                                        </p:tgtEl>
                                        <p:attrNameLst>
                                          <p:attrName>style.visibility</p:attrName>
                                        </p:attrNameLst>
                                      </p:cBhvr>
                                      <p:to>
                                        <p:strVal val="visible"/>
                                      </p:to>
                                    </p:set>
                                    <p:animEffect transition="in" filter="blinds(horizontal)">
                                      <p:cBhvr>
                                        <p:cTn id="61" dur="500"/>
                                        <p:tgtEl>
                                          <p:spTgt spid="11">
                                            <p:txEl>
                                              <p:pRg st="8" end="8"/>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11">
                                            <p:txEl>
                                              <p:pRg st="9" end="9"/>
                                            </p:txEl>
                                          </p:spTgt>
                                        </p:tgtEl>
                                        <p:attrNameLst>
                                          <p:attrName>style.visibility</p:attrName>
                                        </p:attrNameLst>
                                      </p:cBhvr>
                                      <p:to>
                                        <p:strVal val="visible"/>
                                      </p:to>
                                    </p:set>
                                    <p:animEffect transition="in" filter="blinds(horizontal)">
                                      <p:cBhvr>
                                        <p:cTn id="64" dur="500"/>
                                        <p:tgtEl>
                                          <p:spTgt spid="11">
                                            <p:txEl>
                                              <p:pRg st="9" end="9"/>
                                            </p:txEl>
                                          </p:spTgt>
                                        </p:tgtEl>
                                      </p:cBhvr>
                                    </p:animEffect>
                                  </p:childTnLst>
                                </p:cTn>
                              </p:par>
                              <p:par>
                                <p:cTn id="65" presetID="3" presetClass="entr" presetSubtype="10" fill="hold" nodeType="withEffect">
                                  <p:stCondLst>
                                    <p:cond delay="0"/>
                                  </p:stCondLst>
                                  <p:childTnLst>
                                    <p:set>
                                      <p:cBhvr>
                                        <p:cTn id="66" dur="1" fill="hold">
                                          <p:stCondLst>
                                            <p:cond delay="0"/>
                                          </p:stCondLst>
                                        </p:cTn>
                                        <p:tgtEl>
                                          <p:spTgt spid="11">
                                            <p:txEl>
                                              <p:pRg st="10" end="10"/>
                                            </p:txEl>
                                          </p:spTgt>
                                        </p:tgtEl>
                                        <p:attrNameLst>
                                          <p:attrName>style.visibility</p:attrName>
                                        </p:attrNameLst>
                                      </p:cBhvr>
                                      <p:to>
                                        <p:strVal val="visible"/>
                                      </p:to>
                                    </p:set>
                                    <p:animEffect transition="in" filter="blinds(horizontal)">
                                      <p:cBhvr>
                                        <p:cTn id="67" dur="500"/>
                                        <p:tgtEl>
                                          <p:spTgt spid="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utoUpdateAnimBg="0"/>
      <p:bldP spid="10" grpId="0" bldLvl="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a:t>
            </a:r>
            <a:r>
              <a:rPr lang="zh-CN" altLang="en-US" dirty="0"/>
              <a:t>用法</a:t>
            </a:r>
          </a:p>
        </p:txBody>
      </p:sp>
      <p:sp>
        <p:nvSpPr>
          <p:cNvPr id="9" name="Text Box 5"/>
          <p:cNvSpPr txBox="1">
            <a:spLocks noChangeArrowheads="1"/>
          </p:cNvSpPr>
          <p:nvPr/>
        </p:nvSpPr>
        <p:spPr bwMode="auto">
          <a:xfrm>
            <a:off x="866775" y="1147763"/>
            <a:ext cx="26971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3、date日期域</a:t>
            </a:r>
          </a:p>
        </p:txBody>
      </p:sp>
      <p:sp>
        <p:nvSpPr>
          <p:cNvPr id="10" name="Text Box 6"/>
          <p:cNvSpPr txBox="1">
            <a:spLocks noChangeArrowheads="1"/>
          </p:cNvSpPr>
          <p:nvPr/>
        </p:nvSpPr>
        <p:spPr bwMode="auto">
          <a:xfrm>
            <a:off x="908050" y="1509713"/>
            <a:ext cx="7697788" cy="196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年：</a:t>
            </a:r>
            <a:r>
              <a:rPr lang="zh-CN" altLang="en-US" sz="1400" smtClean="0">
                <a:solidFill>
                  <a:srgbClr val="FF0000"/>
                </a:solidFill>
                <a:latin typeface="Arial" panose="020B0604020202020204" pitchFamily="34" charset="0"/>
              </a:rPr>
              <a:t>%y</a:t>
            </a:r>
            <a:r>
              <a:rPr lang="zh-CN" altLang="en-US" sz="1400" smtClean="0">
                <a:solidFill>
                  <a:srgbClr val="333399"/>
                </a:solidFill>
                <a:latin typeface="Arial" panose="020B0604020202020204" pitchFamily="34" charset="0"/>
              </a:rPr>
              <a:t>(00.99) </a:t>
            </a:r>
            <a:r>
              <a:rPr lang="zh-CN" altLang="en-US" sz="1400" smtClean="0">
                <a:solidFill>
                  <a:srgbClr val="FF0000"/>
                </a:solidFill>
                <a:latin typeface="Arial" panose="020B0604020202020204" pitchFamily="34" charset="0"/>
              </a:rPr>
              <a:t>%Y</a:t>
            </a:r>
            <a:r>
              <a:rPr lang="zh-CN" altLang="en-US" sz="1400" smtClean="0">
                <a:solidFill>
                  <a:srgbClr val="333399"/>
                </a:solidFill>
                <a:latin typeface="Arial" panose="020B0604020202020204" pitchFamily="34" charset="0"/>
              </a:rPr>
              <a:t>(0000..9999)</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月份：</a:t>
            </a:r>
            <a:r>
              <a:rPr lang="zh-CN" altLang="en-US" sz="1400" smtClean="0">
                <a:solidFill>
                  <a:srgbClr val="FF0000"/>
                </a:solidFill>
                <a:latin typeface="Arial" panose="020B0604020202020204" pitchFamily="34" charset="0"/>
                <a:sym typeface="Arial" panose="020B0604020202020204" pitchFamily="34" charset="0"/>
              </a:rPr>
              <a:t>%b</a:t>
            </a:r>
            <a:r>
              <a:rPr lang="zh-CN" altLang="en-US" sz="1400" smtClean="0">
                <a:solidFill>
                  <a:srgbClr val="333399"/>
                </a:solidFill>
                <a:latin typeface="Arial" panose="020B0604020202020204" pitchFamily="34" charset="0"/>
              </a:rPr>
              <a:t>(Jan..Dec) </a:t>
            </a:r>
            <a:r>
              <a:rPr lang="zh-CN" altLang="en-US" sz="1400" smtClean="0">
                <a:solidFill>
                  <a:srgbClr val="FF0000"/>
                </a:solidFill>
                <a:latin typeface="Arial" panose="020B0604020202020204" pitchFamily="34" charset="0"/>
              </a:rPr>
              <a:t>%B</a:t>
            </a:r>
            <a:r>
              <a:rPr lang="zh-CN" altLang="en-US" sz="1400" smtClean="0">
                <a:solidFill>
                  <a:srgbClr val="333399"/>
                </a:solidFill>
                <a:latin typeface="Arial" panose="020B0604020202020204" pitchFamily="34" charset="0"/>
              </a:rPr>
              <a:t>(January..December) %m(01..12)</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日：</a:t>
            </a:r>
            <a:r>
              <a:rPr lang="zh-CN" altLang="en-US" sz="1400" smtClean="0">
                <a:solidFill>
                  <a:srgbClr val="FF0000"/>
                </a:solidFill>
                <a:latin typeface="Arial" panose="020B0604020202020204" pitchFamily="34" charset="0"/>
                <a:sym typeface="Arial" panose="020B0604020202020204" pitchFamily="34" charset="0"/>
              </a:rPr>
              <a:t>%d</a:t>
            </a:r>
            <a:r>
              <a:rPr lang="zh-CN" altLang="en-US" sz="1400" smtClean="0">
                <a:solidFill>
                  <a:srgbClr val="333399"/>
                </a:solidFill>
                <a:latin typeface="Arial" panose="020B0604020202020204" pitchFamily="34" charset="0"/>
              </a:rPr>
              <a:t>(01..31)</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星期几：</a:t>
            </a:r>
            <a:r>
              <a:rPr lang="zh-CN" altLang="en-US" sz="1400" smtClean="0">
                <a:solidFill>
                  <a:srgbClr val="333399"/>
                </a:solidFill>
                <a:latin typeface="Arial" panose="020B0604020202020204" pitchFamily="34" charset="0"/>
                <a:sym typeface="Arial" panose="020B0604020202020204" pitchFamily="34" charset="0"/>
              </a:rPr>
              <a:t>%a</a:t>
            </a:r>
            <a:r>
              <a:rPr lang="zh-CN" altLang="en-US" sz="1400" smtClean="0">
                <a:solidFill>
                  <a:srgbClr val="333399"/>
                </a:solidFill>
                <a:latin typeface="Arial" panose="020B0604020202020204" pitchFamily="34" charset="0"/>
              </a:rPr>
              <a:t>(Sun..Sat) </a:t>
            </a:r>
            <a:r>
              <a:rPr lang="zh-CN" altLang="en-US" sz="1400" smtClean="0">
                <a:solidFill>
                  <a:srgbClr val="333399"/>
                </a:solidFill>
                <a:latin typeface="Arial" panose="020B0604020202020204" pitchFamily="34" charset="0"/>
                <a:sym typeface="Arial" panose="020B0604020202020204" pitchFamily="34" charset="0"/>
              </a:rPr>
              <a:t>%A</a:t>
            </a:r>
            <a:r>
              <a:rPr lang="zh-CN" altLang="en-US" sz="1400" smtClean="0">
                <a:solidFill>
                  <a:srgbClr val="333399"/>
                </a:solidFill>
                <a:latin typeface="Arial" panose="020B0604020202020204" pitchFamily="34" charset="0"/>
              </a:rPr>
              <a:t>(Sunday..Saturday) </a:t>
            </a:r>
            <a:r>
              <a:rPr lang="zh-CN" altLang="en-US" sz="1400" smtClean="0">
                <a:solidFill>
                  <a:srgbClr val="333399"/>
                </a:solidFill>
                <a:latin typeface="Arial" panose="020B0604020202020204" pitchFamily="34" charset="0"/>
                <a:sym typeface="Arial" panose="020B0604020202020204" pitchFamily="34" charset="0"/>
              </a:rPr>
              <a:t>%k</a:t>
            </a:r>
            <a:r>
              <a:rPr lang="zh-CN" altLang="en-US" sz="1400" smtClean="0">
                <a:solidFill>
                  <a:srgbClr val="333399"/>
                </a:solidFill>
                <a:latin typeface="Arial" panose="020B0604020202020204" pitchFamily="34" charset="0"/>
              </a:rPr>
              <a:t>(0..23) </a:t>
            </a:r>
            <a:r>
              <a:rPr lang="zh-CN" altLang="en-US" sz="1400" smtClean="0">
                <a:solidFill>
                  <a:srgbClr val="333399"/>
                </a:solidFill>
                <a:latin typeface="Arial" panose="020B0604020202020204" pitchFamily="34" charset="0"/>
                <a:sym typeface="Arial" panose="020B0604020202020204" pitchFamily="34" charset="0"/>
              </a:rPr>
              <a:t>%l</a:t>
            </a:r>
            <a:r>
              <a:rPr lang="zh-CN" altLang="en-US" sz="1400" smtClean="0">
                <a:solidFill>
                  <a:srgbClr val="333399"/>
                </a:solidFill>
                <a:latin typeface="Arial" panose="020B0604020202020204" pitchFamily="34" charset="0"/>
              </a:rPr>
              <a:t>(1..12)</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一年中的第几天：</a:t>
            </a:r>
            <a:r>
              <a:rPr lang="zh-CN" altLang="en-US" sz="1400" smtClean="0">
                <a:solidFill>
                  <a:srgbClr val="FF0000"/>
                </a:solidFill>
                <a:latin typeface="Arial" panose="020B0604020202020204" pitchFamily="34" charset="0"/>
                <a:sym typeface="Arial" panose="020B0604020202020204" pitchFamily="34" charset="0"/>
              </a:rPr>
              <a:t>%j</a:t>
            </a:r>
            <a:r>
              <a:rPr lang="zh-CN" altLang="en-US" sz="1400" smtClean="0">
                <a:solidFill>
                  <a:srgbClr val="333399"/>
                </a:solidFill>
                <a:latin typeface="Arial" panose="020B0604020202020204" pitchFamily="34" charset="0"/>
              </a:rPr>
              <a:t>(001..366)</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一年中的第几周：</a:t>
            </a:r>
            <a:r>
              <a:rPr lang="zh-CN" altLang="en-US" sz="1400" smtClean="0">
                <a:solidFill>
                  <a:srgbClr val="FF0000"/>
                </a:solidFill>
                <a:latin typeface="Arial" panose="020B0604020202020204" pitchFamily="34" charset="0"/>
                <a:sym typeface="Arial" panose="020B0604020202020204" pitchFamily="34" charset="0"/>
              </a:rPr>
              <a:t>%U</a:t>
            </a:r>
            <a:r>
              <a:rPr lang="zh-CN" altLang="en-US" sz="1400" smtClean="0">
                <a:solidFill>
                  <a:srgbClr val="333399"/>
                </a:solidFill>
                <a:latin typeface="Arial" panose="020B0604020202020204" pitchFamily="34" charset="0"/>
                <a:sym typeface="Arial" panose="020B0604020202020204" pitchFamily="34" charset="0"/>
              </a:rPr>
              <a:t>(00..53,以Sunday为一周第一天) </a:t>
            </a:r>
            <a:r>
              <a:rPr lang="zh-CN" altLang="en-US" sz="1400" smtClean="0">
                <a:solidFill>
                  <a:srgbClr val="FF0000"/>
                </a:solidFill>
                <a:latin typeface="Arial" panose="020B0604020202020204" pitchFamily="34" charset="0"/>
                <a:sym typeface="Arial" panose="020B0604020202020204" pitchFamily="34" charset="0"/>
              </a:rPr>
              <a:t>%W</a:t>
            </a:r>
            <a:r>
              <a:rPr lang="zh-CN" altLang="en-US" sz="1400" smtClean="0">
                <a:solidFill>
                  <a:srgbClr val="333399"/>
                </a:solidFill>
                <a:latin typeface="Arial" panose="020B0604020202020204" pitchFamily="34" charset="0"/>
                <a:sym typeface="Arial" panose="020B0604020202020204" pitchFamily="34" charset="0"/>
              </a:rPr>
              <a:t>(以Monday为一周第一天)</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一周中的第几天：</a:t>
            </a:r>
            <a:r>
              <a:rPr lang="zh-CN" altLang="en-US" sz="1400" smtClean="0">
                <a:solidFill>
                  <a:srgbClr val="FF0000"/>
                </a:solidFill>
                <a:latin typeface="Arial" panose="020B0604020202020204" pitchFamily="34" charset="0"/>
                <a:sym typeface="Arial" panose="020B0604020202020204" pitchFamily="34" charset="0"/>
              </a:rPr>
              <a:t>%w</a:t>
            </a:r>
            <a:r>
              <a:rPr lang="zh-CN" altLang="en-US" sz="1400" smtClean="0">
                <a:solidFill>
                  <a:srgbClr val="333399"/>
                </a:solidFill>
                <a:latin typeface="Arial" panose="020B0604020202020204" pitchFamily="34" charset="0"/>
                <a:sym typeface="Arial" panose="020B0604020202020204" pitchFamily="34" charset="0"/>
              </a:rPr>
              <a:t>(0..6)</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sym typeface="Arial" panose="020B0604020202020204" pitchFamily="34" charset="0"/>
              </a:rPr>
              <a:t>日期：</a:t>
            </a:r>
            <a:r>
              <a:rPr lang="zh-CN" altLang="en-US" sz="1400" smtClean="0">
                <a:solidFill>
                  <a:srgbClr val="FF0000"/>
                </a:solidFill>
                <a:latin typeface="Arial" panose="020B0604020202020204" pitchFamily="34" charset="0"/>
                <a:sym typeface="Arial" panose="020B0604020202020204" pitchFamily="34" charset="0"/>
              </a:rPr>
              <a:t>%D</a:t>
            </a:r>
            <a:r>
              <a:rPr lang="zh-CN" altLang="en-US" sz="1400" smtClean="0">
                <a:solidFill>
                  <a:srgbClr val="333399"/>
                </a:solidFill>
                <a:latin typeface="Arial" panose="020B0604020202020204" pitchFamily="34" charset="0"/>
                <a:sym typeface="Arial" panose="020B0604020202020204" pitchFamily="34" charset="0"/>
              </a:rPr>
              <a:t>(mm/dd/yy) </a:t>
            </a:r>
            <a:r>
              <a:rPr lang="zh-CN" altLang="en-US" sz="1400" smtClean="0">
                <a:solidFill>
                  <a:srgbClr val="FF0000"/>
                </a:solidFill>
                <a:latin typeface="Arial" panose="020B0604020202020204" pitchFamily="34" charset="0"/>
                <a:sym typeface="Arial" panose="020B0604020202020204" pitchFamily="34" charset="0"/>
              </a:rPr>
              <a:t>%x</a:t>
            </a:r>
            <a:r>
              <a:rPr lang="zh-CN" altLang="en-US" sz="1400" smtClean="0">
                <a:solidFill>
                  <a:srgbClr val="333399"/>
                </a:solidFill>
                <a:latin typeface="Arial" panose="020B0604020202020204" pitchFamily="34" charset="0"/>
                <a:sym typeface="Arial" panose="020B0604020202020204" pitchFamily="34" charset="0"/>
              </a:rPr>
              <a:t>(mm/dd/yyyy)</a:t>
            </a:r>
          </a:p>
        </p:txBody>
      </p:sp>
      <p:sp>
        <p:nvSpPr>
          <p:cNvPr id="11" name="Text Box 7"/>
          <p:cNvSpPr txBox="1">
            <a:spLocks noChangeArrowheads="1"/>
          </p:cNvSpPr>
          <p:nvPr/>
        </p:nvSpPr>
        <p:spPr bwMode="auto">
          <a:xfrm>
            <a:off x="865188" y="3521075"/>
            <a:ext cx="2211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4、时间加减法</a:t>
            </a:r>
          </a:p>
        </p:txBody>
      </p:sp>
      <p:sp>
        <p:nvSpPr>
          <p:cNvPr id="12" name="Text Box 8"/>
          <p:cNvSpPr txBox="1">
            <a:spLocks noChangeArrowheads="1"/>
          </p:cNvSpPr>
          <p:nvPr/>
        </p:nvSpPr>
        <p:spPr bwMode="auto">
          <a:xfrm>
            <a:off x="914400" y="3862388"/>
            <a:ext cx="342900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将基础时间转为时间戳</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将增加时间变成秒</a:t>
            </a:r>
          </a:p>
          <a:p>
            <a:pPr marL="285750" indent="-285750" fontAlgn="base">
              <a:lnSpc>
                <a:spcPct val="110000"/>
              </a:lnSpc>
              <a:spcBef>
                <a:spcPct val="0"/>
              </a:spcBef>
              <a:spcAft>
                <a:spcPct val="0"/>
              </a:spcAft>
              <a:buSzPct val="100000"/>
              <a:buFont typeface="Wingdings" panose="05000000000000000000" pitchFamily="2" charset="2"/>
              <a:buChar char="ü"/>
            </a:pPr>
            <a:r>
              <a:rPr lang="zh-CN" altLang="en-US" sz="1400" smtClean="0">
                <a:solidFill>
                  <a:srgbClr val="333399"/>
                </a:solidFill>
                <a:latin typeface="Arial" panose="020B0604020202020204" pitchFamily="34" charset="0"/>
              </a:rPr>
              <a:t>两个时间相加(减)，计算出结果时间</a:t>
            </a:r>
          </a:p>
        </p:txBody>
      </p:sp>
      <p:sp>
        <p:nvSpPr>
          <p:cNvPr id="13" name="Text Box 9"/>
          <p:cNvSpPr txBox="1">
            <a:spLocks noChangeArrowheads="1"/>
          </p:cNvSpPr>
          <p:nvPr/>
        </p:nvSpPr>
        <p:spPr bwMode="auto">
          <a:xfrm>
            <a:off x="4271963" y="3595688"/>
            <a:ext cx="46037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1990-01-01 01:01:01  加上 1小时 20分</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time1=$(date +%s -d '1990-01-01 01:01:01')</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time2=$((1*60*60+20*60))</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time1=$((time1+time2))</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time1=$(date +%Y-%m-%d\ %H:%M:%S -d "1970-01-01 UTC $time1 seconds");</a:t>
            </a:r>
          </a:p>
          <a:p>
            <a:pPr fontAlgn="base">
              <a:spcBef>
                <a:spcPct val="0"/>
              </a:spcBef>
              <a:spcAft>
                <a:spcPct val="0"/>
              </a:spcAft>
              <a:buFont typeface="Arial" panose="020B0604020202020204" pitchFamily="34" charset="0"/>
              <a:buNone/>
            </a:pPr>
            <a:endParaRPr lang="zh-CN" altLang="en-US" sz="1400" smtClean="0">
              <a:solidFill>
                <a:srgbClr val="333399"/>
              </a:solidFill>
              <a:latin typeface="Arial" panose="020B0604020202020204" pitchFamily="34" charset="0"/>
            </a:endParaRPr>
          </a:p>
          <a:p>
            <a:pPr fontAlgn="base">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2010-01-01 与 2009-01-01 11:11:11 时间差</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time1=$(($(date +%s -d '2010-01-01') - $(date +%s -d '2009-01-01 11:11:11')));</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将time1 / 60 秒，就变成分了</a:t>
            </a:r>
          </a:p>
        </p:txBody>
      </p:sp>
    </p:spTree>
    <p:extLst>
      <p:ext uri="{BB962C8B-B14F-4D97-AF65-F5344CB8AC3E}">
        <p14:creationId xmlns:p14="http://schemas.microsoft.com/office/powerpoint/2010/main" val="3225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linds(horizontal)">
                                      <p:cBhvr>
                                        <p:cTn id="12" dur="500"/>
                                        <p:tgtEl>
                                          <p:spTgt spid="10">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blinds(horizontal)">
                                      <p:cBhvr>
                                        <p:cTn id="15" dur="500"/>
                                        <p:tgtEl>
                                          <p:spTgt spid="10">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blinds(horizontal)">
                                      <p:cBhvr>
                                        <p:cTn id="18" dur="500"/>
                                        <p:tgtEl>
                                          <p:spTgt spid="10">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blinds(horizontal)">
                                      <p:cBhvr>
                                        <p:cTn id="21" dur="500"/>
                                        <p:tgtEl>
                                          <p:spTgt spid="10">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xEl>
                                              <p:pRg st="4" end="4"/>
                                            </p:txEl>
                                          </p:spTgt>
                                        </p:tgtEl>
                                        <p:attrNameLst>
                                          <p:attrName>style.visibility</p:attrName>
                                        </p:attrNameLst>
                                      </p:cBhvr>
                                      <p:to>
                                        <p:strVal val="visible"/>
                                      </p:to>
                                    </p:set>
                                    <p:animEffect transition="in" filter="blinds(horizontal)">
                                      <p:cBhvr>
                                        <p:cTn id="24" dur="500"/>
                                        <p:tgtEl>
                                          <p:spTgt spid="10">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blinds(horizontal)">
                                      <p:cBhvr>
                                        <p:cTn id="27" dur="500"/>
                                        <p:tgtEl>
                                          <p:spTgt spid="10">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0">
                                            <p:txEl>
                                              <p:pRg st="6" end="6"/>
                                            </p:txEl>
                                          </p:spTgt>
                                        </p:tgtEl>
                                        <p:attrNameLst>
                                          <p:attrName>style.visibility</p:attrName>
                                        </p:attrNameLst>
                                      </p:cBhvr>
                                      <p:to>
                                        <p:strVal val="visible"/>
                                      </p:to>
                                    </p:set>
                                    <p:animEffect transition="in" filter="blinds(horizontal)">
                                      <p:cBhvr>
                                        <p:cTn id="30" dur="500"/>
                                        <p:tgtEl>
                                          <p:spTgt spid="10">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animEffect transition="in" filter="blinds(horizontal)">
                                      <p:cBhvr>
                                        <p:cTn id="33" dur="500"/>
                                        <p:tgtEl>
                                          <p:spTgt spid="10">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blinds(horizontal)">
                                      <p:cBhvr>
                                        <p:cTn id="43" dur="500"/>
                                        <p:tgtEl>
                                          <p:spTgt spid="12">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2">
                                            <p:txEl>
                                              <p:pRg st="1" end="1"/>
                                            </p:txEl>
                                          </p:spTgt>
                                        </p:tgtEl>
                                        <p:attrNameLst>
                                          <p:attrName>style.visibility</p:attrName>
                                        </p:attrNameLst>
                                      </p:cBhvr>
                                      <p:to>
                                        <p:strVal val="visible"/>
                                      </p:to>
                                    </p:set>
                                    <p:animEffect transition="in" filter="blinds(horizontal)">
                                      <p:cBhvr>
                                        <p:cTn id="48" dur="500"/>
                                        <p:tgtEl>
                                          <p:spTgt spid="12">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2">
                                            <p:txEl>
                                              <p:pRg st="2" end="2"/>
                                            </p:txEl>
                                          </p:spTgt>
                                        </p:tgtEl>
                                        <p:attrNameLst>
                                          <p:attrName>style.visibility</p:attrName>
                                        </p:attrNameLst>
                                      </p:cBhvr>
                                      <p:to>
                                        <p:strVal val="visible"/>
                                      </p:to>
                                    </p:set>
                                    <p:animEffect transition="in" filter="blinds(horizontal)">
                                      <p:cBhvr>
                                        <p:cTn id="53" dur="500"/>
                                        <p:tgtEl>
                                          <p:spTgt spid="12">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3">
                                            <p:txEl>
                                              <p:pRg st="0" end="0"/>
                                            </p:txEl>
                                          </p:spTgt>
                                        </p:tgtEl>
                                        <p:attrNameLst>
                                          <p:attrName>style.visibility</p:attrName>
                                        </p:attrNameLst>
                                      </p:cBhvr>
                                      <p:to>
                                        <p:strVal val="visible"/>
                                      </p:to>
                                    </p:set>
                                    <p:animEffect transition="in" filter="blinds(horizontal)">
                                      <p:cBhvr>
                                        <p:cTn id="58" dur="500"/>
                                        <p:tgtEl>
                                          <p:spTgt spid="13">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3">
                                            <p:txEl>
                                              <p:pRg st="1" end="1"/>
                                            </p:txEl>
                                          </p:spTgt>
                                        </p:tgtEl>
                                        <p:attrNameLst>
                                          <p:attrName>style.visibility</p:attrName>
                                        </p:attrNameLst>
                                      </p:cBhvr>
                                      <p:to>
                                        <p:strVal val="visible"/>
                                      </p:to>
                                    </p:set>
                                    <p:animEffect transition="in" filter="blinds(horizontal)">
                                      <p:cBhvr>
                                        <p:cTn id="63" dur="500"/>
                                        <p:tgtEl>
                                          <p:spTgt spid="13">
                                            <p:txEl>
                                              <p:pRg st="1" end="1"/>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13">
                                            <p:txEl>
                                              <p:pRg st="2" end="2"/>
                                            </p:txEl>
                                          </p:spTgt>
                                        </p:tgtEl>
                                        <p:attrNameLst>
                                          <p:attrName>style.visibility</p:attrName>
                                        </p:attrNameLst>
                                      </p:cBhvr>
                                      <p:to>
                                        <p:strVal val="visible"/>
                                      </p:to>
                                    </p:set>
                                    <p:animEffect transition="in" filter="blinds(horizontal)">
                                      <p:cBhvr>
                                        <p:cTn id="66" dur="500"/>
                                        <p:tgtEl>
                                          <p:spTgt spid="13">
                                            <p:txEl>
                                              <p:pRg st="2" end="2"/>
                                            </p:txEl>
                                          </p:spTgt>
                                        </p:tgtEl>
                                      </p:cBhvr>
                                    </p:animEffect>
                                  </p:childTnLst>
                                </p:cTn>
                              </p:par>
                              <p:par>
                                <p:cTn id="67" presetID="3" presetClass="entr" presetSubtype="10" fill="hold" nodeType="withEffect">
                                  <p:stCondLst>
                                    <p:cond delay="0"/>
                                  </p:stCondLst>
                                  <p:childTnLst>
                                    <p:set>
                                      <p:cBhvr>
                                        <p:cTn id="68" dur="1" fill="hold">
                                          <p:stCondLst>
                                            <p:cond delay="0"/>
                                          </p:stCondLst>
                                        </p:cTn>
                                        <p:tgtEl>
                                          <p:spTgt spid="13">
                                            <p:txEl>
                                              <p:pRg st="3" end="3"/>
                                            </p:txEl>
                                          </p:spTgt>
                                        </p:tgtEl>
                                        <p:attrNameLst>
                                          <p:attrName>style.visibility</p:attrName>
                                        </p:attrNameLst>
                                      </p:cBhvr>
                                      <p:to>
                                        <p:strVal val="visible"/>
                                      </p:to>
                                    </p:set>
                                    <p:animEffect transition="in" filter="blinds(horizontal)">
                                      <p:cBhvr>
                                        <p:cTn id="69" dur="500"/>
                                        <p:tgtEl>
                                          <p:spTgt spid="13">
                                            <p:txEl>
                                              <p:pRg st="3" end="3"/>
                                            </p:txEl>
                                          </p:spTgt>
                                        </p:tgtEl>
                                      </p:cBhvr>
                                    </p:animEffect>
                                  </p:childTnLst>
                                </p:cTn>
                              </p:par>
                              <p:par>
                                <p:cTn id="70" presetID="3" presetClass="entr" presetSubtype="10" fill="hold" nodeType="withEffect">
                                  <p:stCondLst>
                                    <p:cond delay="0"/>
                                  </p:stCondLst>
                                  <p:childTnLst>
                                    <p:set>
                                      <p:cBhvr>
                                        <p:cTn id="71" dur="1" fill="hold">
                                          <p:stCondLst>
                                            <p:cond delay="0"/>
                                          </p:stCondLst>
                                        </p:cTn>
                                        <p:tgtEl>
                                          <p:spTgt spid="13">
                                            <p:txEl>
                                              <p:pRg st="4" end="4"/>
                                            </p:txEl>
                                          </p:spTgt>
                                        </p:tgtEl>
                                        <p:attrNameLst>
                                          <p:attrName>style.visibility</p:attrName>
                                        </p:attrNameLst>
                                      </p:cBhvr>
                                      <p:to>
                                        <p:strVal val="visible"/>
                                      </p:to>
                                    </p:set>
                                    <p:animEffect transition="in" filter="blinds(horizontal)">
                                      <p:cBhvr>
                                        <p:cTn id="72" dur="500"/>
                                        <p:tgtEl>
                                          <p:spTgt spid="13">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3">
                                            <p:txEl>
                                              <p:pRg st="6" end="6"/>
                                            </p:txEl>
                                          </p:spTgt>
                                        </p:tgtEl>
                                        <p:attrNameLst>
                                          <p:attrName>style.visibility</p:attrName>
                                        </p:attrNameLst>
                                      </p:cBhvr>
                                      <p:to>
                                        <p:strVal val="visible"/>
                                      </p:to>
                                    </p:set>
                                    <p:animEffect transition="in" filter="blinds(horizontal)">
                                      <p:cBhvr>
                                        <p:cTn id="77" dur="500"/>
                                        <p:tgtEl>
                                          <p:spTgt spid="13">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3">
                                            <p:txEl>
                                              <p:pRg st="7" end="7"/>
                                            </p:txEl>
                                          </p:spTgt>
                                        </p:tgtEl>
                                        <p:attrNameLst>
                                          <p:attrName>style.visibility</p:attrName>
                                        </p:attrNameLst>
                                      </p:cBhvr>
                                      <p:to>
                                        <p:strVal val="visible"/>
                                      </p:to>
                                    </p:set>
                                    <p:animEffect transition="in" filter="blinds(horizontal)">
                                      <p:cBhvr>
                                        <p:cTn id="82" dur="500"/>
                                        <p:tgtEl>
                                          <p:spTgt spid="13">
                                            <p:txEl>
                                              <p:pRg st="7" end="7"/>
                                            </p:txEl>
                                          </p:spTgt>
                                        </p:tgtEl>
                                      </p:cBhvr>
                                    </p:animEffect>
                                  </p:childTnLst>
                                </p:cTn>
                              </p:par>
                              <p:par>
                                <p:cTn id="83" presetID="3" presetClass="entr" presetSubtype="10" fill="hold" nodeType="withEffect">
                                  <p:stCondLst>
                                    <p:cond delay="0"/>
                                  </p:stCondLst>
                                  <p:childTnLst>
                                    <p:set>
                                      <p:cBhvr>
                                        <p:cTn id="84" dur="1" fill="hold">
                                          <p:stCondLst>
                                            <p:cond delay="0"/>
                                          </p:stCondLst>
                                        </p:cTn>
                                        <p:tgtEl>
                                          <p:spTgt spid="13">
                                            <p:txEl>
                                              <p:pRg st="8" end="8"/>
                                            </p:txEl>
                                          </p:spTgt>
                                        </p:tgtEl>
                                        <p:attrNameLst>
                                          <p:attrName>style.visibility</p:attrName>
                                        </p:attrNameLst>
                                      </p:cBhvr>
                                      <p:to>
                                        <p:strVal val="visible"/>
                                      </p:to>
                                    </p:set>
                                    <p:animEffect transition="in" filter="blinds(horizontal)">
                                      <p:cBhvr>
                                        <p:cTn id="85" dur="500"/>
                                        <p:tgtEl>
                                          <p:spTgt spid="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utoUpdateAnimBg="0"/>
      <p:bldP spid="11" grpId="0" bldLvl="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文件分割</a:t>
            </a:r>
          </a:p>
        </p:txBody>
      </p:sp>
      <p:sp>
        <p:nvSpPr>
          <p:cNvPr id="8" name="Text Box 5"/>
          <p:cNvSpPr txBox="1">
            <a:spLocks noChangeArrowheads="1"/>
          </p:cNvSpPr>
          <p:nvPr/>
        </p:nvSpPr>
        <p:spPr bwMode="auto">
          <a:xfrm>
            <a:off x="1278899" y="1985965"/>
            <a:ext cx="26971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2、按文件大小分割</a:t>
            </a:r>
          </a:p>
        </p:txBody>
      </p:sp>
      <p:sp>
        <p:nvSpPr>
          <p:cNvPr id="9" name="Text Box 6"/>
          <p:cNvSpPr txBox="1">
            <a:spLocks noChangeArrowheads="1"/>
          </p:cNvSpPr>
          <p:nvPr/>
        </p:nvSpPr>
        <p:spPr bwMode="auto">
          <a:xfrm>
            <a:off x="1316999" y="2327277"/>
            <a:ext cx="7843838" cy="368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30000"/>
              </a:lnSpc>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 假设文件file存在，分割大小size不为0</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file=$1</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declare -i size=$2</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filesize=`/bin/ls -l $file | awk '{print $5}'`</a:t>
            </a:r>
          </a:p>
          <a:p>
            <a:pPr fontAlgn="base">
              <a:lnSpc>
                <a:spcPct val="130000"/>
              </a:lnSpc>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 计算分割后子文件个数</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`expr $filesize % $size` -ne 0 ]] &amp;&amp;  pieces=$((filesize / size + 1)) || pieces=$((filesize / size))</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i=0</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while [ $i -lt $pieces ]; do</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echo split: $file.$i:</a:t>
            </a:r>
          </a:p>
          <a:p>
            <a:pPr fontAlgn="base">
              <a:lnSpc>
                <a:spcPct val="130000"/>
              </a:lnSpc>
              <a:spcBef>
                <a:spcPct val="0"/>
              </a:spcBef>
              <a:spcAft>
                <a:spcPct val="0"/>
              </a:spcAft>
              <a:buSzPct val="100000"/>
              <a:buFont typeface="Wingdings" panose="05000000000000000000" pitchFamily="2" charset="2"/>
              <a:buNone/>
            </a:pPr>
            <a:r>
              <a:rPr lang="zh-CN" altLang="en-US" sz="1400" i="1" smtClean="0">
                <a:solidFill>
                  <a:srgbClr val="FF0000"/>
                </a:solidFill>
                <a:latin typeface="Arial" panose="020B0604020202020204" pitchFamily="34" charset="0"/>
              </a:rPr>
              <a:t>    # 按块大小为size，每次读写1个块，将file分割到file.i中。i为分割时原文件的偏移位置</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dd if=$file of=$file.$i bs=$size count=1 skip=$i</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    let i=$i+1</a:t>
            </a:r>
          </a:p>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done</a:t>
            </a:r>
          </a:p>
        </p:txBody>
      </p:sp>
      <p:sp>
        <p:nvSpPr>
          <p:cNvPr id="10" name="Text Box 7"/>
          <p:cNvSpPr txBox="1">
            <a:spLocks noChangeArrowheads="1"/>
          </p:cNvSpPr>
          <p:nvPr/>
        </p:nvSpPr>
        <p:spPr bwMode="auto">
          <a:xfrm>
            <a:off x="1278899" y="1185865"/>
            <a:ext cx="26971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1、应用场景</a:t>
            </a:r>
          </a:p>
        </p:txBody>
      </p:sp>
      <p:sp>
        <p:nvSpPr>
          <p:cNvPr id="11" name="Text Box 8"/>
          <p:cNvSpPr txBox="1">
            <a:spLocks noChangeArrowheads="1"/>
          </p:cNvSpPr>
          <p:nvPr/>
        </p:nvSpPr>
        <p:spPr bwMode="auto">
          <a:xfrm>
            <a:off x="1316999" y="1539877"/>
            <a:ext cx="734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30000"/>
              </a:lnSpc>
              <a:spcBef>
                <a:spcPct val="0"/>
              </a:spcBef>
              <a:spcAft>
                <a:spcPct val="0"/>
              </a:spcAft>
              <a:buSzPct val="100000"/>
              <a:buFont typeface="Wingdings" panose="05000000000000000000" pitchFamily="2" charset="2"/>
              <a:buNone/>
            </a:pPr>
            <a:r>
              <a:rPr lang="zh-CN" altLang="en-US" sz="1400" smtClean="0">
                <a:solidFill>
                  <a:srgbClr val="333399"/>
                </a:solidFill>
                <a:latin typeface="Arial" panose="020B0604020202020204" pitchFamily="34" charset="0"/>
              </a:rPr>
              <a:t>在处理大文件时，经常需要将其分割成多个小文件并行处理。</a:t>
            </a:r>
          </a:p>
        </p:txBody>
      </p:sp>
    </p:spTree>
    <p:extLst>
      <p:ext uri="{BB962C8B-B14F-4D97-AF65-F5344CB8AC3E}">
        <p14:creationId xmlns:p14="http://schemas.microsoft.com/office/powerpoint/2010/main" val="319164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utoUpdateAnimBg="0"/>
      <p:bldP spid="9" grpId="0" bldLvl="0" autoUpdateAnimBg="0"/>
      <p:bldP spid="10" grpId="0" bldLvl="0" autoUpdateAnimBg="0"/>
      <p:bldP spid="11" grpId="0" bldLvl="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文件分割</a:t>
            </a:r>
          </a:p>
        </p:txBody>
      </p:sp>
      <p:sp>
        <p:nvSpPr>
          <p:cNvPr id="8" name="Text Box 2"/>
          <p:cNvSpPr txBox="1">
            <a:spLocks noChangeArrowheads="1"/>
          </p:cNvSpPr>
          <p:nvPr/>
        </p:nvSpPr>
        <p:spPr bwMode="auto">
          <a:xfrm>
            <a:off x="1657328" y="1377952"/>
            <a:ext cx="7169150" cy="149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split_num=10</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awk 'BEGIN{ num="'${split_num}'"}{</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idx=NR%num; </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print $0 &gt; "file."idx</a:t>
            </a:r>
          </a:p>
          <a:p>
            <a:pPr fontAlgn="base">
              <a:lnSpc>
                <a:spcPct val="110000"/>
              </a:lnSpc>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${file}</a:t>
            </a:r>
          </a:p>
          <a:p>
            <a:pPr fontAlgn="base">
              <a:lnSpc>
                <a:spcPct val="110000"/>
              </a:lnSpc>
              <a:spcBef>
                <a:spcPct val="0"/>
              </a:spcBef>
              <a:spcAft>
                <a:spcPct val="0"/>
              </a:spcAft>
              <a:buFont typeface="Arial" panose="020B0604020202020204" pitchFamily="34" charset="0"/>
              <a:buNone/>
            </a:pPr>
            <a:r>
              <a:rPr lang="zh-CN" altLang="en-US" sz="1400" i="1" smtClean="0">
                <a:solidFill>
                  <a:srgbClr val="FF0000"/>
                </a:solidFill>
                <a:latin typeface="Arial" panose="020B0604020202020204" pitchFamily="34" charset="0"/>
              </a:rPr>
              <a:t># 注：此方法分割时，原文件中的数据并非连续的分割到子文件中</a:t>
            </a:r>
          </a:p>
        </p:txBody>
      </p:sp>
      <p:sp>
        <p:nvSpPr>
          <p:cNvPr id="9" name="Text Box 3"/>
          <p:cNvSpPr txBox="1">
            <a:spLocks noChangeArrowheads="1"/>
          </p:cNvSpPr>
          <p:nvPr/>
        </p:nvSpPr>
        <p:spPr bwMode="auto">
          <a:xfrm>
            <a:off x="1665265" y="976315"/>
            <a:ext cx="26971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dirty="0" smtClean="0">
                <a:solidFill>
                  <a:srgbClr val="0000FF"/>
                </a:solidFill>
                <a:latin typeface="Arial" panose="020B0604020202020204" pitchFamily="34" charset="0"/>
              </a:rPr>
              <a:t>3、按文件个数分割</a:t>
            </a:r>
          </a:p>
        </p:txBody>
      </p:sp>
      <p:sp>
        <p:nvSpPr>
          <p:cNvPr id="10" name="Text Box 7"/>
          <p:cNvSpPr txBox="1">
            <a:spLocks noChangeArrowheads="1"/>
          </p:cNvSpPr>
          <p:nvPr/>
        </p:nvSpPr>
        <p:spPr bwMode="auto">
          <a:xfrm>
            <a:off x="1666853" y="2968627"/>
            <a:ext cx="26971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buFont typeface="Arial" panose="020B0604020202020204" pitchFamily="34" charset="0"/>
              <a:buNone/>
            </a:pPr>
            <a:r>
              <a:rPr lang="zh-CN" altLang="en-US" b="1" smtClean="0">
                <a:solidFill>
                  <a:srgbClr val="0000FF"/>
                </a:solidFill>
                <a:latin typeface="Arial" panose="020B0604020202020204" pitchFamily="34" charset="0"/>
              </a:rPr>
              <a:t>4、按指定行数分割</a:t>
            </a:r>
            <a:endParaRPr lang="zh-CN" altLang="en-US" smtClean="0">
              <a:solidFill>
                <a:srgbClr val="000000"/>
              </a:solidFill>
              <a:latin typeface="Arial" panose="020B0604020202020204" pitchFamily="34" charset="0"/>
            </a:endParaRPr>
          </a:p>
        </p:txBody>
      </p:sp>
      <p:sp>
        <p:nvSpPr>
          <p:cNvPr id="11" name="Text Box 8"/>
          <p:cNvSpPr txBox="1">
            <a:spLocks noChangeArrowheads="1"/>
          </p:cNvSpPr>
          <p:nvPr/>
        </p:nvSpPr>
        <p:spPr bwMode="auto">
          <a:xfrm>
            <a:off x="1668440" y="3409952"/>
            <a:ext cx="7375525"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lines=500000			# </a:t>
            </a:r>
            <a:r>
              <a:rPr lang="zh-CN" altLang="en-US" sz="1400" i="1" smtClean="0">
                <a:solidFill>
                  <a:srgbClr val="FF0000"/>
                </a:solidFill>
                <a:latin typeface="Arial" panose="020B0604020202020204" pitchFamily="34" charset="0"/>
              </a:rPr>
              <a:t>指定的分割行数</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sline=1				# </a:t>
            </a:r>
            <a:r>
              <a:rPr lang="zh-CN" altLang="en-US" sz="1400" i="1" smtClean="0">
                <a:solidFill>
                  <a:srgbClr val="FF0000"/>
                </a:solidFill>
                <a:latin typeface="Arial" panose="020B0604020202020204" pitchFamily="34" charset="0"/>
              </a:rPr>
              <a:t>分割时起始行号</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eline=0				# </a:t>
            </a:r>
            <a:r>
              <a:rPr lang="zh-CN" altLang="en-US" sz="1400" i="1" smtClean="0">
                <a:solidFill>
                  <a:srgbClr val="FF0000"/>
                </a:solidFill>
                <a:latin typeface="Arial" panose="020B0604020202020204" pitchFamily="34" charset="0"/>
                <a:sym typeface="Arial" panose="020B0604020202020204" pitchFamily="34" charset="0"/>
              </a:rPr>
              <a:t>分割时结束行号</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index=1				# </a:t>
            </a:r>
            <a:r>
              <a:rPr lang="zh-CN" altLang="en-US" sz="1400" i="1" smtClean="0">
                <a:solidFill>
                  <a:srgbClr val="FF0000"/>
                </a:solidFill>
                <a:latin typeface="Arial" panose="020B0604020202020204" pitchFamily="34" charset="0"/>
                <a:sym typeface="Arial" panose="020B0604020202020204" pitchFamily="34" charset="0"/>
              </a:rPr>
              <a:t>分割后的子文件索引</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declare -i linesum=`wc -l $1 | awk '{print $1}'`		# </a:t>
            </a:r>
            <a:r>
              <a:rPr lang="zh-CN" altLang="en-US" sz="1400" i="1" smtClean="0">
                <a:solidFill>
                  <a:srgbClr val="FF0000"/>
                </a:solidFill>
                <a:latin typeface="Arial" panose="020B0604020202020204" pitchFamily="34" charset="0"/>
                <a:sym typeface="Arial" panose="020B0604020202020204" pitchFamily="34" charset="0"/>
              </a:rPr>
              <a:t>原文件总行数</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while [[ $sline -le $linesum ]]; do</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let "eline = $sline + $lines - 1"			# </a:t>
            </a:r>
            <a:r>
              <a:rPr lang="zh-CN" altLang="en-US" sz="1400" i="1" smtClean="0">
                <a:solidFill>
                  <a:srgbClr val="FF0000"/>
                </a:solidFill>
                <a:latin typeface="Arial" panose="020B0604020202020204" pitchFamily="34" charset="0"/>
                <a:sym typeface="Arial" panose="020B0604020202020204" pitchFamily="34" charset="0"/>
              </a:rPr>
              <a:t>计算结束行号</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echo "file$index: $sline ~ $eline"		# </a:t>
            </a:r>
            <a:r>
              <a:rPr lang="zh-CN" altLang="en-US" sz="1400" i="1" smtClean="0">
                <a:solidFill>
                  <a:srgbClr val="FF0000"/>
                </a:solidFill>
                <a:latin typeface="Arial" panose="020B0604020202020204" pitchFamily="34" charset="0"/>
                <a:sym typeface="Arial" panose="020B0604020202020204" pitchFamily="34" charset="0"/>
              </a:rPr>
              <a:t>输出当前要分割的行范围</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sed -n "${sline},${eline}p" $1 &gt; file$index		# </a:t>
            </a:r>
            <a:r>
              <a:rPr lang="zh-CN" altLang="en-US" sz="1400" i="1" smtClean="0">
                <a:solidFill>
                  <a:srgbClr val="FF0000"/>
                </a:solidFill>
                <a:latin typeface="Arial" panose="020B0604020202020204" pitchFamily="34" charset="0"/>
                <a:sym typeface="Arial" panose="020B0604020202020204" pitchFamily="34" charset="0"/>
              </a:rPr>
              <a:t>利用sed命令的范围匹配输出行</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let "sline = $eline + 1"			# </a:t>
            </a:r>
            <a:r>
              <a:rPr lang="zh-CN" altLang="en-US" sz="1400" i="1" smtClean="0">
                <a:solidFill>
                  <a:srgbClr val="FF0000"/>
                </a:solidFill>
                <a:latin typeface="Arial" panose="020B0604020202020204" pitchFamily="34" charset="0"/>
                <a:sym typeface="Arial" panose="020B0604020202020204" pitchFamily="34" charset="0"/>
              </a:rPr>
              <a:t>更新起始行号</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        let "index += 1"			</a:t>
            </a:r>
            <a:r>
              <a:rPr lang="zh-CN" altLang="en-US" sz="1400" i="1" smtClean="0">
                <a:solidFill>
                  <a:srgbClr val="FF0000"/>
                </a:solidFill>
                <a:latin typeface="Arial" panose="020B0604020202020204" pitchFamily="34" charset="0"/>
                <a:sym typeface="Arial" panose="020B0604020202020204" pitchFamily="34" charset="0"/>
              </a:rPr>
              <a:t>	</a:t>
            </a:r>
            <a:r>
              <a:rPr lang="zh-CN" altLang="en-US" sz="1400" smtClean="0">
                <a:solidFill>
                  <a:srgbClr val="333399"/>
                </a:solidFill>
                <a:latin typeface="Arial" panose="020B0604020202020204" pitchFamily="34" charset="0"/>
              </a:rPr>
              <a:t># </a:t>
            </a:r>
            <a:r>
              <a:rPr lang="zh-CN" altLang="en-US" sz="1400" i="1" smtClean="0">
                <a:solidFill>
                  <a:srgbClr val="FF0000"/>
                </a:solidFill>
                <a:latin typeface="Arial" panose="020B0604020202020204" pitchFamily="34" charset="0"/>
                <a:sym typeface="Arial" panose="020B0604020202020204" pitchFamily="34" charset="0"/>
              </a:rPr>
              <a:t>更新子文件索引</a:t>
            </a:r>
          </a:p>
          <a:p>
            <a:pPr fontAlgn="base">
              <a:spcBef>
                <a:spcPct val="0"/>
              </a:spcBef>
              <a:spcAft>
                <a:spcPct val="0"/>
              </a:spcAft>
              <a:buFont typeface="Arial" panose="020B0604020202020204" pitchFamily="34" charset="0"/>
              <a:buNone/>
            </a:pPr>
            <a:r>
              <a:rPr lang="zh-CN" altLang="en-US" sz="1400" smtClean="0">
                <a:solidFill>
                  <a:srgbClr val="333399"/>
                </a:solidFill>
                <a:latin typeface="Arial" panose="020B0604020202020204" pitchFamily="34" charset="0"/>
              </a:rPr>
              <a:t>done</a:t>
            </a:r>
          </a:p>
        </p:txBody>
      </p:sp>
    </p:spTree>
    <p:extLst>
      <p:ext uri="{BB962C8B-B14F-4D97-AF65-F5344CB8AC3E}">
        <p14:creationId xmlns:p14="http://schemas.microsoft.com/office/powerpoint/2010/main" val="33628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blinds(horizontal)">
                                      <p:cBhvr>
                                        <p:cTn id="15" dur="500"/>
                                        <p:tgtEl>
                                          <p:spTgt spid="8">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blinds(horizontal)">
                                      <p:cBhvr>
                                        <p:cTn id="18" dur="500"/>
                                        <p:tgtEl>
                                          <p:spTgt spid="8">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blinds(horizontal)">
                                      <p:cBhvr>
                                        <p:cTn id="21" dur="500"/>
                                        <p:tgtEl>
                                          <p:spTgt spid="8">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blinds(horizontal)">
                                      <p:cBhvr>
                                        <p:cTn id="24" dur="500"/>
                                        <p:tgtEl>
                                          <p:spTgt spid="8">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blinds(horizontal)">
                                      <p:cBhvr>
                                        <p:cTn id="29" dur="500"/>
                                        <p:tgtEl>
                                          <p:spTgt spid="8">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blinds(horizontal)">
                                      <p:cBhvr>
                                        <p:cTn id="34" dur="500"/>
                                        <p:tgtEl>
                                          <p:spTgt spid="10">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linds(horizontal)">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utoUpdateAnimBg="0"/>
      <p:bldP spid="11" grpId="0" bldLvl="0"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第三章 </a:t>
            </a:r>
            <a:r>
              <a:rPr lang="en-US" altLang="zh-CN" dirty="0" smtClean="0"/>
              <a:t>Linux</a:t>
            </a:r>
            <a:r>
              <a:rPr lang="zh-CN" altLang="en-US" dirty="0" smtClean="0"/>
              <a:t>下简单的</a:t>
            </a:r>
            <a:r>
              <a:rPr lang="en-US" altLang="zh-CN" dirty="0" smtClean="0"/>
              <a:t/>
            </a:r>
            <a:br>
              <a:rPr lang="en-US" altLang="zh-CN" dirty="0" smtClean="0"/>
            </a:br>
            <a:r>
              <a:rPr lang="en-US" altLang="zh-CN" dirty="0" smtClean="0"/>
              <a:t>C</a:t>
            </a:r>
            <a:r>
              <a:rPr lang="zh-CN" altLang="en-US" dirty="0" smtClean="0"/>
              <a:t>程序设计</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1169250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、掌握</a:t>
            </a:r>
            <a:r>
              <a:rPr lang="en-US" altLang="zh-CN" dirty="0"/>
              <a:t>GCC</a:t>
            </a:r>
            <a:r>
              <a:rPr lang="zh-CN" altLang="zh-CN" dirty="0"/>
              <a:t>的使方法</a:t>
            </a:r>
          </a:p>
          <a:p>
            <a:r>
              <a:rPr lang="en-US" altLang="zh-CN" dirty="0"/>
              <a:t>2</a:t>
            </a:r>
            <a:r>
              <a:rPr lang="zh-CN" altLang="zh-CN" dirty="0"/>
              <a:t>、掌握在</a:t>
            </a:r>
            <a:r>
              <a:rPr lang="en-US" altLang="zh-CN" dirty="0" err="1"/>
              <a:t>linux</a:t>
            </a:r>
            <a:r>
              <a:rPr lang="zh-CN" altLang="zh-CN" dirty="0"/>
              <a:t>下编写基本</a:t>
            </a:r>
            <a:r>
              <a:rPr lang="en-US" altLang="zh-CN" dirty="0"/>
              <a:t>C</a:t>
            </a:r>
            <a:r>
              <a:rPr lang="zh-CN" altLang="zh-CN" dirty="0"/>
              <a:t>程序。</a:t>
            </a:r>
            <a:endParaRPr lang="zh-CN" altLang="en-US" dirty="0"/>
          </a:p>
        </p:txBody>
      </p:sp>
    </p:spTree>
    <p:extLst>
      <p:ext uri="{BB962C8B-B14F-4D97-AF65-F5344CB8AC3E}">
        <p14:creationId xmlns:p14="http://schemas.microsoft.com/office/powerpoint/2010/main" val="131507934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a:t>
            </a:r>
            <a:endParaRPr lang="zh-CN" altLang="en-US" dirty="0"/>
          </a:p>
        </p:txBody>
      </p:sp>
      <p:sp>
        <p:nvSpPr>
          <p:cNvPr id="3" name="内容占位符 2"/>
          <p:cNvSpPr>
            <a:spLocks noGrp="1"/>
          </p:cNvSpPr>
          <p:nvPr>
            <p:ph idx="1"/>
          </p:nvPr>
        </p:nvSpPr>
        <p:spPr/>
        <p:txBody>
          <a:bodyPr/>
          <a:lstStyle/>
          <a:p>
            <a:r>
              <a:rPr lang="en-US" altLang="zh-CN" dirty="0" smtClean="0"/>
              <a:t>C</a:t>
            </a:r>
            <a:r>
              <a:rPr lang="zh-CN" altLang="en-US" dirty="0" smtClean="0"/>
              <a:t>语言最早是由贝尔实验室的</a:t>
            </a:r>
            <a:r>
              <a:rPr lang="en-US" altLang="zh-CN" dirty="0" smtClean="0"/>
              <a:t>Dennis Ritchie</a:t>
            </a:r>
            <a:r>
              <a:rPr lang="zh-CN" altLang="en-US" dirty="0" smtClean="0"/>
              <a:t>为了</a:t>
            </a:r>
            <a:r>
              <a:rPr lang="en-US" altLang="zh-CN" dirty="0" smtClean="0"/>
              <a:t>UNIX</a:t>
            </a:r>
            <a:r>
              <a:rPr lang="zh-CN" altLang="en-US" dirty="0" smtClean="0"/>
              <a:t>的辅助开发而编写的，它是在</a:t>
            </a:r>
            <a:r>
              <a:rPr lang="en-US" altLang="zh-CN" dirty="0" smtClean="0"/>
              <a:t>B</a:t>
            </a:r>
            <a:r>
              <a:rPr lang="zh-CN" altLang="en-US" dirty="0" smtClean="0"/>
              <a:t>语言的基础上开发出来的。尽管Ｃ语言不是专门针对</a:t>
            </a:r>
            <a:r>
              <a:rPr lang="en-US" altLang="zh-CN" dirty="0" smtClean="0"/>
              <a:t>UNIX</a:t>
            </a:r>
            <a:r>
              <a:rPr lang="zh-CN" altLang="en-US" dirty="0" smtClean="0"/>
              <a:t>操作系统或机器编写的，但它与</a:t>
            </a:r>
            <a:r>
              <a:rPr lang="en-US" altLang="zh-CN" dirty="0" smtClean="0"/>
              <a:t>UNIX</a:t>
            </a:r>
            <a:r>
              <a:rPr lang="zh-CN" altLang="en-US" dirty="0" smtClean="0"/>
              <a:t>系统的关系十分紧密。由于它的硬件无关性和可移植性，使</a:t>
            </a:r>
            <a:r>
              <a:rPr lang="en-US" altLang="zh-CN" dirty="0" smtClean="0"/>
              <a:t>C</a:t>
            </a:r>
            <a:r>
              <a:rPr lang="zh-CN" altLang="en-US" dirty="0" smtClean="0"/>
              <a:t>语言逐渐成为世界上使用最广泛计算机语言。</a:t>
            </a:r>
          </a:p>
          <a:p>
            <a:r>
              <a:rPr lang="zh-CN" altLang="en-US" dirty="0" smtClean="0"/>
              <a:t>为了进一步规范</a:t>
            </a:r>
            <a:r>
              <a:rPr lang="en-US" altLang="zh-CN" dirty="0" smtClean="0"/>
              <a:t>C</a:t>
            </a:r>
            <a:r>
              <a:rPr lang="zh-CN" altLang="en-US" dirty="0" smtClean="0"/>
              <a:t>语言的硬件无关性，</a:t>
            </a:r>
            <a:r>
              <a:rPr lang="en-US" altLang="zh-CN" dirty="0" smtClean="0"/>
              <a:t>1987</a:t>
            </a:r>
            <a:r>
              <a:rPr lang="zh-CN" altLang="en-US" dirty="0" smtClean="0"/>
              <a:t>年，美国国家标准协会（</a:t>
            </a:r>
            <a:r>
              <a:rPr lang="en-US" altLang="zh-CN" dirty="0" smtClean="0"/>
              <a:t>ANSI</a:t>
            </a:r>
            <a:r>
              <a:rPr lang="zh-CN" altLang="en-US" dirty="0" smtClean="0"/>
              <a:t>）根据</a:t>
            </a:r>
            <a:r>
              <a:rPr lang="en-US" altLang="zh-CN" dirty="0" smtClean="0"/>
              <a:t>C</a:t>
            </a:r>
            <a:r>
              <a:rPr lang="zh-CN" altLang="en-US" dirty="0" smtClean="0"/>
              <a:t>语言问世以来各种版本对</a:t>
            </a:r>
            <a:r>
              <a:rPr lang="en-US" altLang="zh-CN" dirty="0" smtClean="0"/>
              <a:t>C</a:t>
            </a:r>
            <a:r>
              <a:rPr lang="zh-CN" altLang="en-US" dirty="0" smtClean="0"/>
              <a:t>语言的发展和扩充，制定了新的标准，称为</a:t>
            </a:r>
            <a:r>
              <a:rPr lang="en-US" altLang="zh-CN" dirty="0" smtClean="0"/>
              <a:t>ANSI C</a:t>
            </a:r>
            <a:r>
              <a:rPr lang="zh-CN" altLang="en-US" dirty="0" smtClean="0"/>
              <a:t>。</a:t>
            </a:r>
            <a:r>
              <a:rPr lang="en-US" altLang="zh-CN" dirty="0" smtClean="0"/>
              <a:t>ANSI C</a:t>
            </a:r>
            <a:r>
              <a:rPr lang="zh-CN" altLang="en-US" dirty="0" smtClean="0"/>
              <a:t>语言比原来的标准</a:t>
            </a:r>
            <a:r>
              <a:rPr lang="en-US" altLang="zh-CN" dirty="0" smtClean="0"/>
              <a:t>C</a:t>
            </a:r>
            <a:r>
              <a:rPr lang="zh-CN" altLang="en-US" dirty="0" smtClean="0"/>
              <a:t>语言有了很大的发展。目前流行的</a:t>
            </a:r>
            <a:r>
              <a:rPr lang="en-US" altLang="zh-CN" dirty="0" smtClean="0"/>
              <a:t>C</a:t>
            </a:r>
            <a:r>
              <a:rPr lang="zh-CN" altLang="en-US" dirty="0" smtClean="0"/>
              <a:t>语言编译系统都是以它为基础的。</a:t>
            </a:r>
          </a:p>
          <a:p>
            <a:endParaRPr lang="zh-CN" altLang="en-US" dirty="0"/>
          </a:p>
        </p:txBody>
      </p:sp>
    </p:spTree>
    <p:extLst>
      <p:ext uri="{BB962C8B-B14F-4D97-AF65-F5344CB8AC3E}">
        <p14:creationId xmlns:p14="http://schemas.microsoft.com/office/powerpoint/2010/main" val="257396237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语言的特点</a:t>
            </a:r>
            <a:endParaRPr lang="zh-CN" altLang="en-US" dirty="0"/>
          </a:p>
        </p:txBody>
      </p:sp>
      <p:sp>
        <p:nvSpPr>
          <p:cNvPr id="3" name="内容占位符 2"/>
          <p:cNvSpPr>
            <a:spLocks noGrp="1"/>
          </p:cNvSpPr>
          <p:nvPr>
            <p:ph idx="1"/>
          </p:nvPr>
        </p:nvSpPr>
        <p:spPr>
          <a:xfrm>
            <a:off x="838200" y="1262130"/>
            <a:ext cx="10070206" cy="5595870"/>
          </a:xfrm>
        </p:spPr>
        <p:txBody>
          <a:bodyPr>
            <a:noAutofit/>
          </a:bodyPr>
          <a:lstStyle/>
          <a:p>
            <a:pPr>
              <a:buNone/>
            </a:pPr>
            <a:r>
              <a:rPr lang="zh-CN" altLang="en-US" sz="2200" dirty="0" smtClean="0">
                <a:sym typeface="Symbol" panose="05050102010706020507" pitchFamily="18" charset="2"/>
              </a:rPr>
              <a:t>	</a:t>
            </a:r>
            <a:r>
              <a:rPr lang="zh-CN" altLang="en-US" sz="2200" dirty="0" smtClean="0"/>
              <a:t>  </a:t>
            </a:r>
            <a:r>
              <a:rPr lang="en-US" altLang="zh-CN" sz="2200" b="1" dirty="0" smtClean="0"/>
              <a:t>C</a:t>
            </a:r>
            <a:r>
              <a:rPr lang="zh-CN" altLang="en-US" sz="2200" b="1" dirty="0" smtClean="0"/>
              <a:t>语言是</a:t>
            </a:r>
            <a:r>
              <a:rPr lang="zh-CN" altLang="en-US" sz="2200" b="1" dirty="0" smtClean="0">
                <a:latin typeface="Arial" panose="020B0604020202020204" pitchFamily="34" charset="0"/>
              </a:rPr>
              <a:t>“</a:t>
            </a:r>
            <a:r>
              <a:rPr lang="zh-CN" altLang="en-US" sz="2200" b="1" dirty="0" smtClean="0"/>
              <a:t>中级语言</a:t>
            </a:r>
            <a:r>
              <a:rPr lang="zh-CN" altLang="en-US" sz="2200" b="1" dirty="0" smtClean="0">
                <a:latin typeface="Arial" panose="020B0604020202020204" pitchFamily="34" charset="0"/>
              </a:rPr>
              <a:t>”</a:t>
            </a:r>
            <a:r>
              <a:rPr lang="zh-CN" altLang="en-US" sz="2200" dirty="0" smtClean="0"/>
              <a:t>。它把高级语言的基本结构和语句与低级语言的实用性结合起来。</a:t>
            </a:r>
            <a:r>
              <a:rPr lang="en-US" altLang="zh-CN" sz="2200" dirty="0" smtClean="0"/>
              <a:t>C</a:t>
            </a:r>
            <a:r>
              <a:rPr lang="zh-CN" altLang="en-US" sz="2200" dirty="0" smtClean="0"/>
              <a:t>语言可以像汇编语言一样对位、字节和地址进行操作，而这三者是计算机最基本的工作单元。</a:t>
            </a:r>
            <a:endParaRPr lang="zh-CN" altLang="en-US" sz="2200" dirty="0" smtClean="0">
              <a:sym typeface="Symbol" panose="05050102010706020507" pitchFamily="18" charset="2"/>
            </a:endParaRPr>
          </a:p>
          <a:p>
            <a:pPr>
              <a:buNone/>
            </a:pPr>
            <a:r>
              <a:rPr lang="zh-CN" altLang="en-US" sz="2200" dirty="0" smtClean="0">
                <a:sym typeface="Symbol" panose="05050102010706020507" pitchFamily="18" charset="2"/>
              </a:rPr>
              <a:t>	</a:t>
            </a:r>
            <a:r>
              <a:rPr lang="zh-CN" altLang="en-US" sz="2200" dirty="0" smtClean="0"/>
              <a:t>  </a:t>
            </a:r>
            <a:r>
              <a:rPr lang="en-US" altLang="zh-CN" sz="2200" b="1" dirty="0" smtClean="0"/>
              <a:t>C</a:t>
            </a:r>
            <a:r>
              <a:rPr lang="zh-CN" altLang="en-US" sz="2200" b="1" dirty="0" smtClean="0"/>
              <a:t>语言是结构化的语言</a:t>
            </a:r>
            <a:r>
              <a:rPr lang="zh-CN" altLang="en-US" sz="2200" dirty="0" smtClean="0"/>
              <a:t>。</a:t>
            </a:r>
            <a:r>
              <a:rPr lang="en-US" altLang="zh-CN" sz="2200" dirty="0" smtClean="0"/>
              <a:t>C</a:t>
            </a:r>
            <a:r>
              <a:rPr lang="zh-CN" altLang="en-US" sz="2200" dirty="0" smtClean="0"/>
              <a:t>语言采用代码及数据分隔，使程序的各个部分除了必要的信息交流外彼此独立。这种结构化方式可使程序层次清晰，便于使用、维护以及调试。</a:t>
            </a:r>
            <a:r>
              <a:rPr lang="en-US" altLang="zh-CN" sz="2200" dirty="0" smtClean="0"/>
              <a:t>C</a:t>
            </a:r>
            <a:r>
              <a:rPr lang="zh-CN" altLang="en-US" sz="2200" dirty="0" smtClean="0"/>
              <a:t>语言是以函数形式提供给用户的，这些函数可方便地调用，并具有多种循环、条件语句控制程序流向，从而使程序完全结构化。</a:t>
            </a:r>
            <a:endParaRPr lang="zh-CN" altLang="en-US" sz="2200" dirty="0" smtClean="0">
              <a:sym typeface="Symbol" panose="05050102010706020507" pitchFamily="18" charset="2"/>
            </a:endParaRPr>
          </a:p>
          <a:p>
            <a:pPr>
              <a:buNone/>
            </a:pPr>
            <a:r>
              <a:rPr lang="zh-CN" altLang="en-US" sz="2200" dirty="0" smtClean="0">
                <a:sym typeface="Symbol" panose="05050102010706020507" pitchFamily="18" charset="2"/>
              </a:rPr>
              <a:t>	</a:t>
            </a:r>
            <a:r>
              <a:rPr lang="zh-CN" altLang="en-US" sz="2200" dirty="0" smtClean="0"/>
              <a:t>  </a:t>
            </a:r>
            <a:r>
              <a:rPr lang="en-US" altLang="zh-CN" sz="2200" b="1" dirty="0" smtClean="0"/>
              <a:t>C</a:t>
            </a:r>
            <a:r>
              <a:rPr lang="zh-CN" altLang="en-US" sz="2200" b="1" dirty="0" smtClean="0"/>
              <a:t>语言功能齐全</a:t>
            </a:r>
            <a:r>
              <a:rPr lang="zh-CN" altLang="en-US" sz="2200" dirty="0" smtClean="0"/>
              <a:t>。</a:t>
            </a:r>
            <a:r>
              <a:rPr lang="en-US" altLang="zh-CN" sz="2200" dirty="0" smtClean="0"/>
              <a:t>C</a:t>
            </a:r>
            <a:r>
              <a:rPr lang="zh-CN" altLang="en-US" sz="2200" dirty="0" smtClean="0"/>
              <a:t>语言具有各种各样的数据类型，并引入了指针概念，可使程序效率更高。另外，</a:t>
            </a:r>
            <a:r>
              <a:rPr lang="en-US" altLang="zh-CN" sz="2200" dirty="0" smtClean="0"/>
              <a:t>C</a:t>
            </a:r>
            <a:r>
              <a:rPr lang="zh-CN" altLang="en-US" sz="2200" dirty="0" smtClean="0"/>
              <a:t>语言也具有强大的图形功能，支持多种显示器和驱动器，而且计算功能、逻辑判断功能也比较强大，可以实现决策目的。</a:t>
            </a:r>
            <a:endParaRPr lang="zh-CN" altLang="en-US" sz="2200" dirty="0" smtClean="0">
              <a:sym typeface="Symbol" panose="05050102010706020507" pitchFamily="18" charset="2"/>
            </a:endParaRPr>
          </a:p>
          <a:p>
            <a:pPr>
              <a:buNone/>
            </a:pPr>
            <a:r>
              <a:rPr lang="zh-CN" altLang="en-US" sz="2200" dirty="0" smtClean="0">
                <a:sym typeface="Symbol" panose="05050102010706020507" pitchFamily="18" charset="2"/>
              </a:rPr>
              <a:t>	</a:t>
            </a:r>
            <a:r>
              <a:rPr lang="zh-CN" altLang="en-US" sz="2200" dirty="0" smtClean="0"/>
              <a:t>  </a:t>
            </a:r>
            <a:r>
              <a:rPr lang="en-US" altLang="zh-CN" sz="2200" b="1" dirty="0" smtClean="0"/>
              <a:t>C</a:t>
            </a:r>
            <a:r>
              <a:rPr lang="zh-CN" altLang="en-US" sz="2200" b="1" dirty="0" smtClean="0"/>
              <a:t>语言可移植性强</a:t>
            </a:r>
            <a:r>
              <a:rPr lang="zh-CN" altLang="en-US" sz="2200" dirty="0" smtClean="0"/>
              <a:t>。</a:t>
            </a:r>
            <a:r>
              <a:rPr lang="en-US" altLang="zh-CN" sz="2200" dirty="0" smtClean="0"/>
              <a:t>C</a:t>
            </a:r>
            <a:r>
              <a:rPr lang="zh-CN" altLang="en-US" sz="2200" dirty="0" smtClean="0"/>
              <a:t>语言适合多种操作系统，如</a:t>
            </a:r>
            <a:r>
              <a:rPr lang="en-US" altLang="zh-CN" sz="2200" dirty="0" smtClean="0"/>
              <a:t>DOS</a:t>
            </a:r>
            <a:r>
              <a:rPr lang="zh-CN" altLang="en-US" sz="2200" dirty="0" smtClean="0"/>
              <a:t>、</a:t>
            </a:r>
            <a:r>
              <a:rPr lang="en-US" altLang="zh-CN" sz="2200" dirty="0" smtClean="0"/>
              <a:t>Windows</a:t>
            </a:r>
            <a:r>
              <a:rPr lang="zh-CN" altLang="en-US" sz="2200" dirty="0" smtClean="0"/>
              <a:t>、</a:t>
            </a:r>
            <a:r>
              <a:rPr lang="en-US" altLang="zh-CN" sz="2200" dirty="0" smtClean="0"/>
              <a:t>Linux</a:t>
            </a:r>
            <a:r>
              <a:rPr lang="zh-CN" altLang="en-US" sz="2200" dirty="0" smtClean="0"/>
              <a:t>，也适合多种体系结构。 </a:t>
            </a:r>
          </a:p>
          <a:p>
            <a:endParaRPr lang="zh-CN" altLang="en-US" sz="2200" dirty="0"/>
          </a:p>
        </p:txBody>
      </p:sp>
    </p:spTree>
    <p:extLst>
      <p:ext uri="{BB962C8B-B14F-4D97-AF65-F5344CB8AC3E}">
        <p14:creationId xmlns:p14="http://schemas.microsoft.com/office/powerpoint/2010/main" val="273516256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下的编辑器</a:t>
            </a:r>
            <a:endParaRPr lang="zh-CN" altLang="en-US" dirty="0"/>
          </a:p>
        </p:txBody>
      </p:sp>
      <p:sp>
        <p:nvSpPr>
          <p:cNvPr id="3" name="内容占位符 2"/>
          <p:cNvSpPr>
            <a:spLocks noGrp="1"/>
          </p:cNvSpPr>
          <p:nvPr>
            <p:ph idx="1"/>
          </p:nvPr>
        </p:nvSpPr>
        <p:spPr>
          <a:xfrm>
            <a:off x="838200" y="1825625"/>
            <a:ext cx="4377744" cy="4351338"/>
          </a:xfrm>
        </p:spPr>
        <p:txBody>
          <a:bodyPr/>
          <a:lstStyle/>
          <a:p>
            <a:r>
              <a:rPr lang="en-US" altLang="zh-CN" dirty="0" smtClean="0"/>
              <a:t>Linux</a:t>
            </a:r>
            <a:r>
              <a:rPr lang="zh-CN" altLang="en-US" dirty="0" smtClean="0"/>
              <a:t>中最常用的编辑器有</a:t>
            </a:r>
            <a:r>
              <a:rPr lang="en-US" altLang="zh-CN" dirty="0" smtClean="0"/>
              <a:t>vi</a:t>
            </a:r>
            <a:r>
              <a:rPr lang="zh-CN" altLang="en-US" dirty="0" smtClean="0"/>
              <a:t>（</a:t>
            </a:r>
            <a:r>
              <a:rPr lang="en-US" altLang="zh-CN" dirty="0" smtClean="0"/>
              <a:t>vim</a:t>
            </a:r>
            <a:r>
              <a:rPr lang="zh-CN" altLang="en-US" dirty="0" smtClean="0"/>
              <a:t>）和</a:t>
            </a:r>
            <a:r>
              <a:rPr lang="en-US" altLang="zh-CN" dirty="0" err="1" smtClean="0"/>
              <a:t>emacs</a:t>
            </a:r>
            <a:r>
              <a:rPr lang="en-US" altLang="zh-CN" dirty="0" smtClean="0"/>
              <a:t> </a:t>
            </a:r>
          </a:p>
          <a:p>
            <a:endParaRPr lang="en-US" altLang="zh-CN" dirty="0" smtClean="0"/>
          </a:p>
          <a:p>
            <a:endParaRPr lang="zh-CN" altLang="en-US" dirty="0"/>
          </a:p>
        </p:txBody>
      </p:sp>
      <p:pic>
        <p:nvPicPr>
          <p:cNvPr id="5" name="图片 4"/>
          <p:cNvPicPr>
            <a:picLocks noChangeAspect="1"/>
          </p:cNvPicPr>
          <p:nvPr/>
        </p:nvPicPr>
        <p:blipFill>
          <a:blip r:embed="rId2"/>
          <a:stretch>
            <a:fillRect/>
          </a:stretch>
        </p:blipFill>
        <p:spPr>
          <a:xfrm>
            <a:off x="5215944" y="1167606"/>
            <a:ext cx="6879832" cy="5322094"/>
          </a:xfrm>
          <a:prstGeom prst="rect">
            <a:avLst/>
          </a:prstGeom>
        </p:spPr>
      </p:pic>
    </p:spTree>
    <p:extLst>
      <p:ext uri="{BB962C8B-B14F-4D97-AF65-F5344CB8AC3E}">
        <p14:creationId xmlns:p14="http://schemas.microsoft.com/office/powerpoint/2010/main" val="31396542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：命令</a:t>
            </a:r>
            <a:r>
              <a:rPr lang="en-US" altLang="zh-CN" dirty="0" smtClean="0"/>
              <a:t>-</a:t>
            </a:r>
            <a:r>
              <a:rPr lang="zh-CN" altLang="en-US" dirty="0" smtClean="0"/>
              <a:t>输入</a:t>
            </a:r>
            <a:r>
              <a:rPr lang="en-US" altLang="zh-CN" dirty="0" smtClean="0"/>
              <a:t>-</a:t>
            </a:r>
            <a:r>
              <a:rPr lang="zh-CN" altLang="en-US" dirty="0" smtClean="0"/>
              <a:t>底行模式</a:t>
            </a:r>
            <a:endParaRPr lang="zh-CN" altLang="en-US" dirty="0"/>
          </a:p>
        </p:txBody>
      </p:sp>
      <p:pic>
        <p:nvPicPr>
          <p:cNvPr id="7" name="Picture 4" descr="vi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55800" y="1485900"/>
            <a:ext cx="4876800" cy="3505200"/>
          </a:xfrm>
          <a:prstGeom prst="rect">
            <a:avLst/>
          </a:prstGeom>
          <a:noFill/>
          <a:ln/>
        </p:spPr>
      </p:pic>
      <p:pic>
        <p:nvPicPr>
          <p:cNvPr id="8" name="Picture 6" descr="vi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0" y="2705100"/>
            <a:ext cx="5343525"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vi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400" y="1790700"/>
            <a:ext cx="487362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2184400" y="4076700"/>
            <a:ext cx="1066800" cy="457200"/>
          </a:xfrm>
          <a:prstGeom prst="rect">
            <a:avLst/>
          </a:prstGeom>
          <a:solidFill>
            <a:srgbClr val="F5F3A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命令模式</a:t>
            </a:r>
          </a:p>
        </p:txBody>
      </p:sp>
      <p:sp>
        <p:nvSpPr>
          <p:cNvPr id="11" name="Rectangle 8"/>
          <p:cNvSpPr>
            <a:spLocks noChangeArrowheads="1"/>
          </p:cNvSpPr>
          <p:nvPr/>
        </p:nvSpPr>
        <p:spPr bwMode="auto">
          <a:xfrm>
            <a:off x="4089400" y="5829300"/>
            <a:ext cx="1066800" cy="457200"/>
          </a:xfrm>
          <a:prstGeom prst="rect">
            <a:avLst/>
          </a:prstGeom>
          <a:solidFill>
            <a:srgbClr val="F5F3A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底行模式</a:t>
            </a:r>
          </a:p>
        </p:txBody>
      </p:sp>
      <p:sp>
        <p:nvSpPr>
          <p:cNvPr id="12" name="Rectangle 9"/>
          <p:cNvSpPr>
            <a:spLocks noChangeArrowheads="1"/>
          </p:cNvSpPr>
          <p:nvPr/>
        </p:nvSpPr>
        <p:spPr bwMode="auto">
          <a:xfrm>
            <a:off x="5765800" y="4610100"/>
            <a:ext cx="1066800" cy="457200"/>
          </a:xfrm>
          <a:prstGeom prst="rect">
            <a:avLst/>
          </a:prstGeom>
          <a:solidFill>
            <a:srgbClr val="F5F3A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输入模式</a:t>
            </a:r>
          </a:p>
        </p:txBody>
      </p:sp>
    </p:spTree>
    <p:extLst>
      <p:ext uri="{BB962C8B-B14F-4D97-AF65-F5344CB8AC3E}">
        <p14:creationId xmlns:p14="http://schemas.microsoft.com/office/powerpoint/2010/main" val="87797464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编辑</a:t>
            </a:r>
            <a:endParaRPr lang="zh-CN" altLang="en-US" dirty="0"/>
          </a:p>
        </p:txBody>
      </p:sp>
      <p:sp>
        <p:nvSpPr>
          <p:cNvPr id="3" name="内容占位符 2"/>
          <p:cNvSpPr>
            <a:spLocks noGrp="1"/>
          </p:cNvSpPr>
          <p:nvPr>
            <p:ph idx="1"/>
          </p:nvPr>
        </p:nvSpPr>
        <p:spPr/>
        <p:txBody>
          <a:bodyPr>
            <a:normAutofit fontScale="92500"/>
          </a:bodyPr>
          <a:lstStyle/>
          <a:p>
            <a:pPr>
              <a:lnSpc>
                <a:spcPct val="80000"/>
              </a:lnSpc>
            </a:pPr>
            <a:r>
              <a:rPr lang="zh-CN" altLang="en-US" b="1" dirty="0" smtClean="0"/>
              <a:t>新增 </a:t>
            </a:r>
            <a:r>
              <a:rPr lang="en-US" altLang="zh-CN" b="1" dirty="0" smtClean="0"/>
              <a:t>(append)</a:t>
            </a:r>
            <a:r>
              <a:rPr lang="en-US" altLang="zh-CN" dirty="0" smtClean="0"/>
              <a:t/>
            </a:r>
            <a:br>
              <a:rPr lang="en-US" altLang="zh-CN" dirty="0" smtClean="0"/>
            </a:br>
            <a:r>
              <a:rPr lang="en-US" altLang="zh-CN" dirty="0" smtClean="0"/>
              <a:t>-- </a:t>
            </a:r>
            <a:r>
              <a:rPr lang="en-US" altLang="zh-CN" b="1" i="1" u="sng" dirty="0" smtClean="0">
                <a:solidFill>
                  <a:srgbClr val="FF0000"/>
                </a:solidFill>
                <a:effectLst>
                  <a:outerShdw blurRad="38100" dist="38100" dir="2700000" algn="tl">
                    <a:srgbClr val="C0C0C0"/>
                  </a:outerShdw>
                </a:effectLst>
              </a:rPr>
              <a:t>a</a:t>
            </a:r>
            <a:r>
              <a:rPr lang="en-US" altLang="zh-CN" dirty="0" smtClean="0">
                <a:solidFill>
                  <a:srgbClr val="3333CC"/>
                </a:solidFill>
              </a:rPr>
              <a:t> </a:t>
            </a:r>
            <a:r>
              <a:rPr lang="zh-CN" altLang="en-US" dirty="0" smtClean="0"/>
              <a:t>从 光 标 所 在 位 置 後 面 开 始 新 增 资 料， 光 标 後 的 资 料 随 新 增 资 料 向 後 移 动。</a:t>
            </a:r>
            <a:br>
              <a:rPr lang="zh-CN" altLang="en-US" dirty="0" smtClean="0"/>
            </a:br>
            <a:r>
              <a:rPr lang="en-US" altLang="zh-CN" dirty="0" smtClean="0"/>
              <a:t>-- </a:t>
            </a:r>
            <a:r>
              <a:rPr lang="en-US" altLang="zh-CN" b="1" i="1" u="sng" dirty="0" smtClean="0">
                <a:solidFill>
                  <a:srgbClr val="FF0000"/>
                </a:solidFill>
                <a:effectLst>
                  <a:outerShdw blurRad="38100" dist="38100" dir="2700000" algn="tl">
                    <a:srgbClr val="C0C0C0"/>
                  </a:outerShdw>
                </a:effectLst>
              </a:rPr>
              <a:t>A</a:t>
            </a:r>
            <a:r>
              <a:rPr lang="en-US" altLang="zh-CN" dirty="0" smtClean="0">
                <a:solidFill>
                  <a:srgbClr val="FF0000"/>
                </a:solidFill>
              </a:rPr>
              <a:t> </a:t>
            </a:r>
            <a:r>
              <a:rPr lang="zh-CN" altLang="en-US" dirty="0" smtClean="0"/>
              <a:t>从 光 标 所 在 列 最 後 面 的 地 方 开 始 新 增 资 料。 </a:t>
            </a:r>
            <a:endParaRPr lang="zh-CN" altLang="en-US" b="1" dirty="0" smtClean="0"/>
          </a:p>
          <a:p>
            <a:pPr>
              <a:lnSpc>
                <a:spcPct val="80000"/>
              </a:lnSpc>
            </a:pPr>
            <a:r>
              <a:rPr lang="zh-CN" altLang="en-US" b="1" dirty="0" smtClean="0"/>
              <a:t>插 入 </a:t>
            </a:r>
            <a:r>
              <a:rPr lang="en-US" altLang="zh-CN" b="1" dirty="0" smtClean="0"/>
              <a:t>(insert) </a:t>
            </a:r>
            <a:br>
              <a:rPr lang="en-US" altLang="zh-CN" b="1" dirty="0" smtClean="0"/>
            </a:br>
            <a:r>
              <a:rPr lang="en-US" altLang="zh-CN" dirty="0" smtClean="0"/>
              <a:t>-- </a:t>
            </a:r>
            <a:r>
              <a:rPr lang="en-US" altLang="zh-CN" b="1" i="1" u="sng" dirty="0" err="1" smtClean="0">
                <a:solidFill>
                  <a:srgbClr val="FF0000"/>
                </a:solidFill>
                <a:effectLst>
                  <a:outerShdw blurRad="38100" dist="38100" dir="2700000" algn="tl">
                    <a:srgbClr val="C0C0C0"/>
                  </a:outerShdw>
                </a:effectLst>
              </a:rPr>
              <a:t>i</a:t>
            </a:r>
            <a:r>
              <a:rPr lang="en-US" altLang="zh-CN" sz="4000" b="1" i="1" u="sng" dirty="0" smtClean="0">
                <a:solidFill>
                  <a:srgbClr val="FF0000"/>
                </a:solidFill>
                <a:effectLst>
                  <a:outerShdw blurRad="38100" dist="38100" dir="2700000" algn="tl">
                    <a:srgbClr val="C0C0C0"/>
                  </a:outerShdw>
                </a:effectLst>
              </a:rPr>
              <a:t> </a:t>
            </a:r>
            <a:r>
              <a:rPr lang="zh-CN" altLang="en-US" dirty="0" smtClean="0"/>
              <a:t>从 光 标 所 在 位 置 前 面 开 始 插 入 资 料， 光 标 後 的 资 料 随 新 增 资 料 向 後 移 动。</a:t>
            </a:r>
            <a:br>
              <a:rPr lang="zh-CN" altLang="en-US" dirty="0" smtClean="0"/>
            </a:br>
            <a:r>
              <a:rPr lang="en-US" altLang="zh-CN" dirty="0" smtClean="0"/>
              <a:t>-- </a:t>
            </a:r>
            <a:r>
              <a:rPr lang="en-US" altLang="zh-CN" b="1" i="1" u="sng" dirty="0" smtClean="0">
                <a:solidFill>
                  <a:srgbClr val="FF0000"/>
                </a:solidFill>
                <a:effectLst>
                  <a:outerShdw blurRad="38100" dist="38100" dir="2700000" algn="tl">
                    <a:srgbClr val="C0C0C0"/>
                  </a:outerShdw>
                </a:effectLst>
              </a:rPr>
              <a:t>I</a:t>
            </a:r>
            <a:r>
              <a:rPr lang="en-US" altLang="zh-CN" sz="4000" b="1" i="1" u="sng" dirty="0" smtClean="0">
                <a:solidFill>
                  <a:srgbClr val="FF0000"/>
                </a:solidFill>
                <a:effectLst>
                  <a:outerShdw blurRad="38100" dist="38100" dir="2700000" algn="tl">
                    <a:srgbClr val="C0C0C0"/>
                  </a:outerShdw>
                </a:effectLst>
              </a:rPr>
              <a:t> </a:t>
            </a:r>
            <a:r>
              <a:rPr lang="zh-CN" altLang="en-US" dirty="0" smtClean="0"/>
              <a:t>从 光 标列 的 第 一 个 非 空 白 字 符 前 面 开 始 插 入 资 料。 </a:t>
            </a:r>
            <a:endParaRPr lang="zh-CN" altLang="en-US" b="1" dirty="0" smtClean="0"/>
          </a:p>
          <a:p>
            <a:pPr>
              <a:lnSpc>
                <a:spcPct val="80000"/>
              </a:lnSpc>
            </a:pPr>
            <a:r>
              <a:rPr lang="zh-CN" altLang="en-US" b="1" dirty="0" smtClean="0"/>
              <a:t>开 始 </a:t>
            </a:r>
            <a:r>
              <a:rPr lang="en-US" altLang="zh-CN" b="1" dirty="0" smtClean="0"/>
              <a:t>(open)</a:t>
            </a:r>
            <a:r>
              <a:rPr lang="en-US" altLang="zh-CN" dirty="0" smtClean="0"/>
              <a:t/>
            </a:r>
            <a:br>
              <a:rPr lang="en-US" altLang="zh-CN" dirty="0" smtClean="0"/>
            </a:br>
            <a:r>
              <a:rPr lang="en-US" altLang="zh-CN" dirty="0" smtClean="0"/>
              <a:t>-- </a:t>
            </a:r>
            <a:r>
              <a:rPr lang="en-US" altLang="zh-CN" b="1" i="1" u="sng" dirty="0" smtClean="0">
                <a:solidFill>
                  <a:srgbClr val="FF0000"/>
                </a:solidFill>
                <a:effectLst>
                  <a:outerShdw blurRad="38100" dist="38100" dir="2700000" algn="tl">
                    <a:srgbClr val="C0C0C0"/>
                  </a:outerShdw>
                </a:effectLst>
              </a:rPr>
              <a:t>o</a:t>
            </a:r>
            <a:r>
              <a:rPr lang="en-US" altLang="zh-CN" dirty="0" smtClean="0"/>
              <a:t> </a:t>
            </a:r>
            <a:r>
              <a:rPr lang="zh-CN" altLang="en-US" dirty="0" smtClean="0"/>
              <a:t>在 光 标 所 在 列 下 新 增 一 列 并 进 入 输 入 模 式。</a:t>
            </a:r>
            <a:br>
              <a:rPr lang="zh-CN" altLang="en-US" dirty="0" smtClean="0"/>
            </a:br>
            <a:r>
              <a:rPr lang="en-US" altLang="zh-CN" dirty="0" smtClean="0"/>
              <a:t>-- </a:t>
            </a:r>
            <a:r>
              <a:rPr lang="en-US" altLang="zh-CN" b="1" i="1" u="sng" dirty="0" smtClean="0">
                <a:solidFill>
                  <a:srgbClr val="FF0000"/>
                </a:solidFill>
                <a:effectLst>
                  <a:outerShdw blurRad="38100" dist="38100" dir="2700000" algn="tl">
                    <a:srgbClr val="C0C0C0"/>
                  </a:outerShdw>
                </a:effectLst>
              </a:rPr>
              <a:t>O</a:t>
            </a:r>
            <a:r>
              <a:rPr lang="en-US" altLang="zh-CN" dirty="0" smtClean="0"/>
              <a:t> </a:t>
            </a:r>
            <a:r>
              <a:rPr lang="zh-CN" altLang="en-US" dirty="0" smtClean="0"/>
              <a:t>在 光 标 所 在 列 上 方 新 增 一 列 并 进 入 输 入 模 式。 </a:t>
            </a:r>
          </a:p>
          <a:p>
            <a:endParaRPr lang="zh-CN" altLang="en-US" dirty="0"/>
          </a:p>
        </p:txBody>
      </p:sp>
    </p:spTree>
    <p:extLst>
      <p:ext uri="{BB962C8B-B14F-4D97-AF65-F5344CB8AC3E}">
        <p14:creationId xmlns:p14="http://schemas.microsoft.com/office/powerpoint/2010/main" val="83371542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修改和删除</a:t>
            </a:r>
            <a:endParaRPr lang="zh-CN" altLang="en-US" dirty="0"/>
          </a:p>
        </p:txBody>
      </p:sp>
      <p:sp>
        <p:nvSpPr>
          <p:cNvPr id="3" name="内容占位符 2"/>
          <p:cNvSpPr>
            <a:spLocks noGrp="1"/>
          </p:cNvSpPr>
          <p:nvPr>
            <p:ph idx="1"/>
          </p:nvPr>
        </p:nvSpPr>
        <p:spPr/>
        <p:txBody>
          <a:bodyPr/>
          <a:lstStyle/>
          <a:p>
            <a:r>
              <a:rPr lang="en-US" altLang="zh-CN" b="1" i="1" u="sng" dirty="0" smtClean="0">
                <a:solidFill>
                  <a:srgbClr val="FF0000"/>
                </a:solidFill>
                <a:effectLst>
                  <a:outerShdw blurRad="38100" dist="38100" dir="2700000" algn="tl">
                    <a:srgbClr val="C0C0C0"/>
                  </a:outerShdw>
                </a:effectLst>
              </a:rPr>
              <a:t>x</a:t>
            </a:r>
            <a:r>
              <a:rPr lang="en-US" altLang="zh-CN" dirty="0" smtClean="0">
                <a:solidFill>
                  <a:srgbClr val="FF0000"/>
                </a:solidFill>
              </a:rPr>
              <a:t> </a:t>
            </a:r>
            <a:r>
              <a:rPr lang="zh-CN" altLang="en-US" dirty="0" smtClean="0"/>
              <a:t>删除光标所在字符。</a:t>
            </a:r>
          </a:p>
          <a:p>
            <a:r>
              <a:rPr lang="en-US" altLang="zh-CN" b="1" i="1" u="sng" dirty="0" err="1" smtClean="0">
                <a:solidFill>
                  <a:srgbClr val="FF0000"/>
                </a:solidFill>
                <a:effectLst>
                  <a:outerShdw blurRad="38100" dist="38100" dir="2700000" algn="tl">
                    <a:srgbClr val="C0C0C0"/>
                  </a:outerShdw>
                </a:effectLst>
              </a:rPr>
              <a:t>dd</a:t>
            </a:r>
            <a:r>
              <a:rPr lang="en-US" altLang="zh-CN" dirty="0" smtClean="0">
                <a:solidFill>
                  <a:srgbClr val="FF0000"/>
                </a:solidFill>
              </a:rPr>
              <a:t> </a:t>
            </a:r>
            <a:r>
              <a:rPr lang="zh-CN" altLang="en-US" dirty="0" smtClean="0"/>
              <a:t>删除光标所在的列。</a:t>
            </a:r>
          </a:p>
          <a:p>
            <a:r>
              <a:rPr lang="en-US" altLang="zh-CN" b="1" i="1" u="sng" dirty="0" smtClean="0">
                <a:solidFill>
                  <a:srgbClr val="FF0000"/>
                </a:solidFill>
                <a:effectLst>
                  <a:outerShdw blurRad="38100" dist="38100" dir="2700000" algn="tl">
                    <a:srgbClr val="C0C0C0"/>
                  </a:outerShdw>
                </a:effectLst>
              </a:rPr>
              <a:t>r </a:t>
            </a:r>
            <a:r>
              <a:rPr lang="zh-CN" altLang="en-US" dirty="0" smtClean="0"/>
              <a:t>修改光标所在字符，</a:t>
            </a:r>
            <a:r>
              <a:rPr lang="en-US" altLang="zh-CN" dirty="0" smtClean="0"/>
              <a:t>r</a:t>
            </a:r>
            <a:r>
              <a:rPr lang="zh-CN" altLang="en-US" dirty="0" smtClean="0"/>
              <a:t>後接著要修正的字符</a:t>
            </a:r>
          </a:p>
          <a:p>
            <a:r>
              <a:rPr lang="en-US" altLang="zh-CN" b="1" i="1" u="sng" dirty="0" smtClean="0">
                <a:solidFill>
                  <a:srgbClr val="FF0000"/>
                </a:solidFill>
                <a:effectLst>
                  <a:outerShdw blurRad="38100" dist="38100" dir="2700000" algn="tl">
                    <a:srgbClr val="C0C0C0"/>
                  </a:outerShdw>
                </a:effectLst>
              </a:rPr>
              <a:t>R</a:t>
            </a:r>
            <a:r>
              <a:rPr lang="zh-CN" altLang="en-US" dirty="0" smtClean="0"/>
              <a:t>进入取代状态，新增资料会覆改原先资料， 直到按</a:t>
            </a:r>
            <a:r>
              <a:rPr lang="en-US" altLang="zh-CN" dirty="0" smtClean="0"/>
              <a:t>[ESC]</a:t>
            </a:r>
            <a:r>
              <a:rPr lang="zh-CN" altLang="en-US" dirty="0" smtClean="0"/>
              <a:t>回到指令模式下为止。</a:t>
            </a:r>
          </a:p>
          <a:p>
            <a:r>
              <a:rPr lang="en-US" altLang="zh-CN" b="1" i="1" u="sng" dirty="0" smtClean="0">
                <a:solidFill>
                  <a:srgbClr val="FF0000"/>
                </a:solidFill>
                <a:effectLst>
                  <a:outerShdw blurRad="38100" dist="38100" dir="2700000" algn="tl">
                    <a:srgbClr val="C0C0C0"/>
                  </a:outerShdw>
                </a:effectLst>
              </a:rPr>
              <a:t>s</a:t>
            </a:r>
            <a:r>
              <a:rPr lang="en-US" altLang="zh-CN" dirty="0" smtClean="0">
                <a:solidFill>
                  <a:srgbClr val="FF0000"/>
                </a:solidFill>
              </a:rPr>
              <a:t> </a:t>
            </a:r>
            <a:r>
              <a:rPr lang="zh-CN" altLang="en-US" dirty="0" smtClean="0"/>
              <a:t>删除光标所在字符，并进入输入模式。</a:t>
            </a:r>
          </a:p>
          <a:p>
            <a:r>
              <a:rPr lang="en-US" altLang="zh-CN" b="1" i="1" u="sng" dirty="0" smtClean="0">
                <a:solidFill>
                  <a:srgbClr val="FF0000"/>
                </a:solidFill>
                <a:effectLst>
                  <a:outerShdw blurRad="38100" dist="38100" dir="2700000" algn="tl">
                    <a:srgbClr val="C0C0C0"/>
                  </a:outerShdw>
                </a:effectLst>
              </a:rPr>
              <a:t>S</a:t>
            </a:r>
            <a:r>
              <a:rPr lang="en-US" altLang="zh-CN" dirty="0" smtClean="0">
                <a:solidFill>
                  <a:srgbClr val="FF0000"/>
                </a:solidFill>
              </a:rPr>
              <a:t> </a:t>
            </a:r>
            <a:r>
              <a:rPr lang="zh-CN" altLang="en-US" dirty="0" smtClean="0"/>
              <a:t>删除光标所在的列，并进入输入模式。</a:t>
            </a:r>
          </a:p>
          <a:p>
            <a:endParaRPr lang="zh-CN" altLang="en-US" dirty="0"/>
          </a:p>
        </p:txBody>
      </p:sp>
    </p:spTree>
    <p:extLst>
      <p:ext uri="{BB962C8B-B14F-4D97-AF65-F5344CB8AC3E}">
        <p14:creationId xmlns:p14="http://schemas.microsoft.com/office/powerpoint/2010/main" val="348789973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退出</a:t>
            </a:r>
            <a:endParaRPr lang="zh-CN" altLang="en-US" dirty="0"/>
          </a:p>
        </p:txBody>
      </p:sp>
      <p:sp>
        <p:nvSpPr>
          <p:cNvPr id="3" name="内容占位符 2"/>
          <p:cNvSpPr>
            <a:spLocks noGrp="1"/>
          </p:cNvSpPr>
          <p:nvPr>
            <p:ph idx="1"/>
          </p:nvPr>
        </p:nvSpPr>
        <p:spPr/>
        <p:txBody>
          <a:bodyPr/>
          <a:lstStyle/>
          <a:p>
            <a:r>
              <a:rPr lang="en-US" altLang="zh-CN" dirty="0" smtClean="0"/>
              <a:t>&lt;:q&gt;</a:t>
            </a:r>
            <a:r>
              <a:rPr lang="zh-CN" altLang="en-US" dirty="0" smtClean="0"/>
              <a:t>不保存退出</a:t>
            </a:r>
          </a:p>
          <a:p>
            <a:r>
              <a:rPr lang="en-US" altLang="zh-CN" dirty="0" smtClean="0"/>
              <a:t>&lt;:q!&gt;</a:t>
            </a:r>
            <a:r>
              <a:rPr lang="zh-CN" altLang="en-US" dirty="0" smtClean="0"/>
              <a:t>不保存强制性退出</a:t>
            </a:r>
          </a:p>
          <a:p>
            <a:r>
              <a:rPr lang="en-US" altLang="zh-CN" dirty="0" smtClean="0"/>
              <a:t>&lt;:w&gt;</a:t>
            </a:r>
            <a:r>
              <a:rPr lang="zh-CN" altLang="en-US" dirty="0" smtClean="0"/>
              <a:t>保存编辑</a:t>
            </a:r>
          </a:p>
          <a:p>
            <a:r>
              <a:rPr lang="en-US" altLang="zh-CN" dirty="0" smtClean="0"/>
              <a:t>&lt;:w filename&gt;</a:t>
            </a:r>
            <a:r>
              <a:rPr lang="zh-CN" altLang="en-US" dirty="0" smtClean="0"/>
              <a:t>存入文件</a:t>
            </a:r>
            <a:r>
              <a:rPr lang="en-US" altLang="zh-CN" dirty="0" smtClean="0"/>
              <a:t>filename </a:t>
            </a:r>
            <a:r>
              <a:rPr lang="zh-CN" altLang="en-US" dirty="0" smtClean="0"/>
              <a:t>中</a:t>
            </a:r>
          </a:p>
          <a:p>
            <a:r>
              <a:rPr lang="en-US" altLang="zh-CN" dirty="0" smtClean="0"/>
              <a:t>&lt;:w! filename&gt;</a:t>
            </a:r>
            <a:r>
              <a:rPr lang="zh-CN" altLang="en-US" dirty="0" smtClean="0"/>
              <a:t>强制性存入文件</a:t>
            </a:r>
            <a:r>
              <a:rPr lang="en-US" altLang="zh-CN" dirty="0" smtClean="0"/>
              <a:t>filename </a:t>
            </a:r>
            <a:r>
              <a:rPr lang="zh-CN" altLang="en-US" dirty="0" smtClean="0"/>
              <a:t>中</a:t>
            </a:r>
          </a:p>
          <a:p>
            <a:r>
              <a:rPr lang="en-US" altLang="zh-CN" dirty="0" smtClean="0"/>
              <a:t>&lt;:</a:t>
            </a:r>
            <a:r>
              <a:rPr lang="en-US" altLang="zh-CN" dirty="0" err="1" smtClean="0"/>
              <a:t>wq</a:t>
            </a:r>
            <a:r>
              <a:rPr lang="en-US" altLang="zh-CN" dirty="0" smtClean="0"/>
              <a:t>&gt;(&lt;:x&gt;)</a:t>
            </a:r>
            <a:r>
              <a:rPr lang="zh-CN" altLang="en-US" dirty="0" smtClean="0"/>
              <a:t>保存并退出（</a:t>
            </a:r>
            <a:r>
              <a:rPr lang="en-US" altLang="zh-CN" dirty="0" err="1" smtClean="0"/>
              <a:t>shift+zz</a:t>
            </a:r>
            <a:r>
              <a:rPr lang="zh-CN" altLang="en-US" dirty="0" smtClean="0"/>
              <a:t>）</a:t>
            </a:r>
          </a:p>
          <a:p>
            <a:endParaRPr lang="zh-CN" altLang="en-US" dirty="0"/>
          </a:p>
        </p:txBody>
      </p:sp>
    </p:spTree>
    <p:extLst>
      <p:ext uri="{BB962C8B-B14F-4D97-AF65-F5344CB8AC3E}">
        <p14:creationId xmlns:p14="http://schemas.microsoft.com/office/powerpoint/2010/main" val="18009398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光标移动</a:t>
            </a:r>
            <a:endParaRPr lang="zh-CN" altLang="en-US" dirty="0"/>
          </a:p>
        </p:txBody>
      </p:sp>
      <p:sp>
        <p:nvSpPr>
          <p:cNvPr id="3" name="内容占位符 2"/>
          <p:cNvSpPr>
            <a:spLocks noGrp="1"/>
          </p:cNvSpPr>
          <p:nvPr>
            <p:ph idx="1"/>
          </p:nvPr>
        </p:nvSpPr>
        <p:spPr/>
        <p:txBody>
          <a:bodyPr/>
          <a:lstStyle/>
          <a:p>
            <a:r>
              <a:rPr lang="en-US" altLang="zh-CN" dirty="0" smtClean="0"/>
              <a:t>&lt;b&gt;</a:t>
            </a:r>
            <a:r>
              <a:rPr lang="zh-CN" altLang="en-US" dirty="0" smtClean="0"/>
              <a:t>移动到当前单词的开始</a:t>
            </a:r>
          </a:p>
          <a:p>
            <a:r>
              <a:rPr lang="en-US" altLang="zh-CN" dirty="0" smtClean="0"/>
              <a:t>&lt;e&gt;</a:t>
            </a:r>
            <a:r>
              <a:rPr lang="zh-CN" altLang="en-US" dirty="0" smtClean="0"/>
              <a:t>移动到当前单词的结尾</a:t>
            </a:r>
          </a:p>
          <a:p>
            <a:r>
              <a:rPr lang="en-US" altLang="zh-CN" dirty="0" smtClean="0"/>
              <a:t>&lt;w&gt;</a:t>
            </a:r>
            <a:r>
              <a:rPr lang="zh-CN" altLang="en-US" dirty="0" smtClean="0"/>
              <a:t>向前移动一个单词</a:t>
            </a:r>
          </a:p>
          <a:p>
            <a:r>
              <a:rPr lang="en-US" altLang="zh-CN" dirty="0" smtClean="0"/>
              <a:t>&lt;h&gt;</a:t>
            </a:r>
            <a:r>
              <a:rPr lang="zh-CN" altLang="en-US" dirty="0" smtClean="0"/>
              <a:t>向前移动一个字符</a:t>
            </a:r>
          </a:p>
          <a:p>
            <a:r>
              <a:rPr lang="en-US" altLang="zh-CN" dirty="0" smtClean="0"/>
              <a:t>&lt;j&gt;</a:t>
            </a:r>
            <a:r>
              <a:rPr lang="zh-CN" altLang="en-US" dirty="0" smtClean="0"/>
              <a:t>向上移动一行</a:t>
            </a:r>
          </a:p>
          <a:p>
            <a:r>
              <a:rPr lang="en-US" altLang="zh-CN" dirty="0" smtClean="0"/>
              <a:t>&lt;k&gt;</a:t>
            </a:r>
            <a:r>
              <a:rPr lang="zh-CN" altLang="en-US" dirty="0" smtClean="0"/>
              <a:t>向下移动一行</a:t>
            </a:r>
          </a:p>
          <a:p>
            <a:r>
              <a:rPr lang="en-US" altLang="zh-CN" dirty="0" smtClean="0"/>
              <a:t>&lt;l&gt;</a:t>
            </a:r>
            <a:r>
              <a:rPr lang="zh-CN" altLang="en-US" dirty="0" smtClean="0"/>
              <a:t>向后移动一个字符</a:t>
            </a:r>
          </a:p>
          <a:p>
            <a:endParaRPr lang="zh-CN" altLang="en-US" dirty="0"/>
          </a:p>
        </p:txBody>
      </p:sp>
    </p:spTree>
    <p:extLst>
      <p:ext uri="{BB962C8B-B14F-4D97-AF65-F5344CB8AC3E}">
        <p14:creationId xmlns:p14="http://schemas.microsoft.com/office/powerpoint/2010/main" val="38522355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替换操作</a:t>
            </a:r>
            <a:endParaRPr lang="zh-CN" altLang="en-US" dirty="0"/>
          </a:p>
        </p:txBody>
      </p:sp>
      <p:sp>
        <p:nvSpPr>
          <p:cNvPr id="3" name="内容占位符 2"/>
          <p:cNvSpPr>
            <a:spLocks noGrp="1"/>
          </p:cNvSpPr>
          <p:nvPr>
            <p:ph idx="1"/>
          </p:nvPr>
        </p:nvSpPr>
        <p:spPr/>
        <p:txBody>
          <a:bodyPr/>
          <a:lstStyle/>
          <a:p>
            <a:r>
              <a:rPr lang="en-US" altLang="zh-CN" dirty="0" smtClean="0"/>
              <a:t>&lt;r&gt;</a:t>
            </a:r>
            <a:r>
              <a:rPr lang="zh-CN" altLang="en-US" dirty="0" smtClean="0"/>
              <a:t>替换光标所在的字符</a:t>
            </a:r>
          </a:p>
          <a:p>
            <a:r>
              <a:rPr lang="en-US" altLang="zh-CN" dirty="0" smtClean="0"/>
              <a:t>&lt;R&gt;</a:t>
            </a:r>
            <a:r>
              <a:rPr lang="zh-CN" altLang="en-US" dirty="0" smtClean="0"/>
              <a:t>替换字符序列</a:t>
            </a:r>
          </a:p>
          <a:p>
            <a:r>
              <a:rPr lang="en-US" altLang="zh-CN" dirty="0" smtClean="0"/>
              <a:t>&lt;</a:t>
            </a:r>
            <a:r>
              <a:rPr lang="en-US" altLang="zh-CN" dirty="0" err="1" smtClean="0"/>
              <a:t>cw</a:t>
            </a:r>
            <a:r>
              <a:rPr lang="en-US" altLang="zh-CN" dirty="0" smtClean="0"/>
              <a:t>&gt;</a:t>
            </a:r>
            <a:r>
              <a:rPr lang="zh-CN" altLang="en-US" dirty="0" smtClean="0"/>
              <a:t>替换一个单词</a:t>
            </a:r>
          </a:p>
          <a:p>
            <a:r>
              <a:rPr lang="en-US" altLang="zh-CN" dirty="0" smtClean="0"/>
              <a:t>&lt;</a:t>
            </a:r>
            <a:r>
              <a:rPr lang="en-US" altLang="zh-CN" dirty="0" err="1" smtClean="0"/>
              <a:t>ce</a:t>
            </a:r>
            <a:r>
              <a:rPr lang="en-US" altLang="zh-CN" dirty="0" smtClean="0"/>
              <a:t>&gt;</a:t>
            </a:r>
            <a:r>
              <a:rPr lang="zh-CN" altLang="en-US" dirty="0" smtClean="0"/>
              <a:t>同</a:t>
            </a:r>
            <a:r>
              <a:rPr lang="en-US" altLang="zh-CN" dirty="0" smtClean="0"/>
              <a:t>&lt;</a:t>
            </a:r>
            <a:r>
              <a:rPr lang="en-US" altLang="zh-CN" dirty="0" err="1" smtClean="0"/>
              <a:t>cw</a:t>
            </a:r>
            <a:r>
              <a:rPr lang="en-US" altLang="zh-CN" dirty="0" smtClean="0"/>
              <a:t>&gt;</a:t>
            </a:r>
          </a:p>
          <a:p>
            <a:r>
              <a:rPr lang="en-US" altLang="zh-CN" dirty="0" smtClean="0"/>
              <a:t>&lt;</a:t>
            </a:r>
            <a:r>
              <a:rPr lang="en-US" altLang="zh-CN" dirty="0" err="1" smtClean="0"/>
              <a:t>cb</a:t>
            </a:r>
            <a:r>
              <a:rPr lang="en-US" altLang="zh-CN" dirty="0" smtClean="0"/>
              <a:t>&gt;</a:t>
            </a:r>
            <a:r>
              <a:rPr lang="zh-CN" altLang="en-US" dirty="0" smtClean="0"/>
              <a:t>替换光标所在的前一字符</a:t>
            </a:r>
          </a:p>
          <a:p>
            <a:r>
              <a:rPr lang="en-US" altLang="zh-CN" dirty="0" smtClean="0"/>
              <a:t>&lt;c$&gt;</a:t>
            </a:r>
            <a:r>
              <a:rPr lang="zh-CN" altLang="en-US" dirty="0" smtClean="0"/>
              <a:t>替换自光标位置至行尾的所有字符</a:t>
            </a:r>
          </a:p>
          <a:p>
            <a:r>
              <a:rPr lang="en-US" altLang="zh-CN" dirty="0" smtClean="0"/>
              <a:t>&lt;C&gt;</a:t>
            </a:r>
            <a:r>
              <a:rPr lang="zh-CN" altLang="en-US" dirty="0" smtClean="0"/>
              <a:t>同</a:t>
            </a:r>
            <a:r>
              <a:rPr lang="en-US" altLang="zh-CN" dirty="0" smtClean="0"/>
              <a:t>&lt;c$&gt;</a:t>
            </a:r>
          </a:p>
          <a:p>
            <a:r>
              <a:rPr lang="en-US" altLang="zh-CN" dirty="0" smtClean="0"/>
              <a:t>&lt;cc&gt;</a:t>
            </a:r>
            <a:r>
              <a:rPr lang="zh-CN" altLang="en-US" dirty="0" smtClean="0"/>
              <a:t>替换当前行</a:t>
            </a:r>
          </a:p>
          <a:p>
            <a:endParaRPr lang="zh-CN" altLang="en-US" dirty="0"/>
          </a:p>
        </p:txBody>
      </p:sp>
    </p:spTree>
    <p:extLst>
      <p:ext uri="{BB962C8B-B14F-4D97-AF65-F5344CB8AC3E}">
        <p14:creationId xmlns:p14="http://schemas.microsoft.com/office/powerpoint/2010/main" val="42187311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vi</a:t>
            </a:r>
            <a:r>
              <a:rPr lang="zh-CN" altLang="en-US" dirty="0" smtClean="0"/>
              <a:t>用法 </a:t>
            </a:r>
            <a:r>
              <a:rPr lang="en-US" altLang="zh-CN" dirty="0" smtClean="0"/>
              <a:t>--- </a:t>
            </a:r>
            <a:r>
              <a:rPr lang="zh-CN" altLang="en-US" dirty="0" smtClean="0"/>
              <a:t>复制与粘贴</a:t>
            </a:r>
            <a:endParaRPr lang="zh-CN" altLang="en-US" dirty="0"/>
          </a:p>
        </p:txBody>
      </p:sp>
      <p:sp>
        <p:nvSpPr>
          <p:cNvPr id="3" name="内容占位符 2"/>
          <p:cNvSpPr>
            <a:spLocks noGrp="1"/>
          </p:cNvSpPr>
          <p:nvPr>
            <p:ph idx="1"/>
          </p:nvPr>
        </p:nvSpPr>
        <p:spPr/>
        <p:txBody>
          <a:bodyPr/>
          <a:lstStyle/>
          <a:p>
            <a:r>
              <a:rPr lang="en-US" altLang="zh-CN" dirty="0" smtClean="0"/>
              <a:t>&lt;/</a:t>
            </a:r>
            <a:r>
              <a:rPr lang="en-US" altLang="zh-CN" dirty="0" err="1" smtClean="0"/>
              <a:t>yw</a:t>
            </a:r>
            <a:r>
              <a:rPr lang="en-US" altLang="zh-CN" dirty="0" smtClean="0"/>
              <a:t>&gt;</a:t>
            </a:r>
            <a:r>
              <a:rPr lang="zh-CN" altLang="en-US" dirty="0" smtClean="0"/>
              <a:t>将光标所在单词拷入剪贴板</a:t>
            </a:r>
          </a:p>
          <a:p>
            <a:r>
              <a:rPr lang="en-US" altLang="zh-CN" dirty="0" smtClean="0"/>
              <a:t>&lt;y$&gt;</a:t>
            </a:r>
            <a:r>
              <a:rPr lang="zh-CN" altLang="en-US" dirty="0" smtClean="0"/>
              <a:t>将光标至行尾的字符拷入剪贴板</a:t>
            </a:r>
          </a:p>
          <a:p>
            <a:r>
              <a:rPr lang="en-US" altLang="zh-CN" dirty="0" smtClean="0"/>
              <a:t>&lt;Y&gt;</a:t>
            </a:r>
            <a:r>
              <a:rPr lang="zh-CN" altLang="en-US" dirty="0" smtClean="0"/>
              <a:t>同</a:t>
            </a:r>
            <a:r>
              <a:rPr lang="en-US" altLang="zh-CN" dirty="0" smtClean="0"/>
              <a:t>&lt;y$&gt;</a:t>
            </a:r>
          </a:p>
          <a:p>
            <a:r>
              <a:rPr lang="en-US" altLang="zh-CN" dirty="0" smtClean="0"/>
              <a:t>&lt;</a:t>
            </a:r>
            <a:r>
              <a:rPr lang="en-US" altLang="zh-CN" dirty="0" err="1" smtClean="0"/>
              <a:t>yy</a:t>
            </a:r>
            <a:r>
              <a:rPr lang="en-US" altLang="zh-CN" dirty="0" smtClean="0"/>
              <a:t>&gt;</a:t>
            </a:r>
            <a:r>
              <a:rPr lang="zh-CN" altLang="en-US" dirty="0" smtClean="0"/>
              <a:t>将当前行拷入剪贴板</a:t>
            </a:r>
          </a:p>
          <a:p>
            <a:r>
              <a:rPr lang="en-US" altLang="zh-CN" dirty="0" smtClean="0"/>
              <a:t>&lt;p&gt;</a:t>
            </a:r>
            <a:r>
              <a:rPr lang="zh-CN" altLang="en-US" dirty="0" smtClean="0"/>
              <a:t>将剪贴板中的内容粘贴在光标后</a:t>
            </a:r>
          </a:p>
          <a:p>
            <a:r>
              <a:rPr lang="en-US" altLang="zh-CN" dirty="0" smtClean="0"/>
              <a:t>&lt;P&gt;</a:t>
            </a:r>
            <a:r>
              <a:rPr lang="zh-CN" altLang="en-US" dirty="0" smtClean="0"/>
              <a:t>将剪贴板中的内容粘贴在光标前</a:t>
            </a:r>
          </a:p>
          <a:p>
            <a:endParaRPr lang="zh-CN" altLang="en-US" dirty="0"/>
          </a:p>
        </p:txBody>
      </p:sp>
    </p:spTree>
    <p:extLst>
      <p:ext uri="{BB962C8B-B14F-4D97-AF65-F5344CB8AC3E}">
        <p14:creationId xmlns:p14="http://schemas.microsoft.com/office/powerpoint/2010/main" val="31054108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zh-CN" altLang="en-US" dirty="0" smtClean="0"/>
              <a:t>编译器 </a:t>
            </a:r>
            <a:endParaRPr lang="zh-CN" altLang="en-US" dirty="0"/>
          </a:p>
        </p:txBody>
      </p:sp>
      <p:sp>
        <p:nvSpPr>
          <p:cNvPr id="3" name="内容占位符 2"/>
          <p:cNvSpPr>
            <a:spLocks noGrp="1"/>
          </p:cNvSpPr>
          <p:nvPr>
            <p:ph idx="1"/>
          </p:nvPr>
        </p:nvSpPr>
        <p:spPr/>
        <p:txBody>
          <a:bodyPr/>
          <a:lstStyle/>
          <a:p>
            <a:r>
              <a:rPr lang="en-US" altLang="zh-CN" dirty="0" smtClean="0"/>
              <a:t>GNU CC</a:t>
            </a:r>
            <a:r>
              <a:rPr lang="zh-CN" altLang="en-US" dirty="0" smtClean="0"/>
              <a:t>（简称为</a:t>
            </a:r>
            <a:r>
              <a:rPr lang="en-US" altLang="zh-CN" dirty="0" err="1" smtClean="0"/>
              <a:t>gcc</a:t>
            </a:r>
            <a:r>
              <a:rPr lang="zh-CN" altLang="en-US" dirty="0" smtClean="0"/>
              <a:t>）是</a:t>
            </a:r>
            <a:r>
              <a:rPr lang="en-US" altLang="zh-CN" dirty="0" smtClean="0"/>
              <a:t>GNU</a:t>
            </a:r>
            <a:r>
              <a:rPr lang="zh-CN" altLang="en-US" dirty="0" smtClean="0"/>
              <a:t>项目中符合</a:t>
            </a:r>
            <a:r>
              <a:rPr lang="en-US" altLang="zh-CN" dirty="0" smtClean="0"/>
              <a:t>ANSI C</a:t>
            </a:r>
            <a:r>
              <a:rPr lang="zh-CN" altLang="en-US" dirty="0" smtClean="0"/>
              <a:t>标准的编译系统，能够编译用</a:t>
            </a:r>
            <a:r>
              <a:rPr lang="en-US" altLang="zh-CN" dirty="0" smtClean="0"/>
              <a:t>C</a:t>
            </a:r>
            <a:r>
              <a:rPr lang="zh-CN" altLang="en-US" dirty="0" smtClean="0"/>
              <a:t>、</a:t>
            </a:r>
            <a:r>
              <a:rPr lang="en-US" altLang="zh-CN" dirty="0" smtClean="0"/>
              <a:t>C++</a:t>
            </a:r>
            <a:r>
              <a:rPr lang="zh-CN" altLang="en-US" dirty="0" smtClean="0"/>
              <a:t>和</a:t>
            </a:r>
            <a:r>
              <a:rPr lang="en-US" altLang="zh-CN" dirty="0" smtClean="0"/>
              <a:t>Object C</a:t>
            </a:r>
            <a:r>
              <a:rPr lang="zh-CN" altLang="en-US" dirty="0" smtClean="0"/>
              <a:t>等语言编写的程序。</a:t>
            </a:r>
            <a:r>
              <a:rPr lang="en-US" altLang="zh-CN" dirty="0" err="1" smtClean="0"/>
              <a:t>gcc</a:t>
            </a:r>
            <a:r>
              <a:rPr lang="zh-CN" altLang="en-US" dirty="0" smtClean="0"/>
              <a:t>不仅功能强大，而且可以编译如</a:t>
            </a:r>
            <a:r>
              <a:rPr lang="en-US" altLang="zh-CN" dirty="0" smtClean="0"/>
              <a:t>C</a:t>
            </a:r>
            <a:r>
              <a:rPr lang="zh-CN" altLang="en-US" dirty="0" smtClean="0"/>
              <a:t>、</a:t>
            </a:r>
            <a:r>
              <a:rPr lang="en-US" altLang="zh-CN" dirty="0" smtClean="0"/>
              <a:t>C++</a:t>
            </a:r>
            <a:r>
              <a:rPr lang="zh-CN" altLang="en-US" dirty="0" smtClean="0"/>
              <a:t>、</a:t>
            </a:r>
            <a:r>
              <a:rPr lang="en-US" altLang="zh-CN" dirty="0" smtClean="0"/>
              <a:t>Object C</a:t>
            </a:r>
            <a:r>
              <a:rPr lang="zh-CN" altLang="en-US" dirty="0" smtClean="0"/>
              <a:t>、</a:t>
            </a:r>
            <a:r>
              <a:rPr lang="en-US" altLang="zh-CN" dirty="0" smtClean="0"/>
              <a:t>Java</a:t>
            </a:r>
            <a:r>
              <a:rPr lang="zh-CN" altLang="en-US" dirty="0" smtClean="0"/>
              <a:t>、</a:t>
            </a:r>
            <a:r>
              <a:rPr lang="en-US" altLang="zh-CN" dirty="0" smtClean="0"/>
              <a:t>Fortran</a:t>
            </a:r>
            <a:r>
              <a:rPr lang="zh-CN" altLang="en-US" dirty="0" smtClean="0"/>
              <a:t>、</a:t>
            </a:r>
            <a:r>
              <a:rPr lang="en-US" altLang="zh-CN" dirty="0" smtClean="0"/>
              <a:t>Pascal</a:t>
            </a:r>
            <a:r>
              <a:rPr lang="zh-CN" altLang="en-US" dirty="0" smtClean="0"/>
              <a:t>、</a:t>
            </a:r>
            <a:r>
              <a:rPr lang="en-US" altLang="zh-CN" dirty="0" smtClean="0"/>
              <a:t>Modula-3</a:t>
            </a:r>
            <a:r>
              <a:rPr lang="zh-CN" altLang="en-US" dirty="0" smtClean="0"/>
              <a:t>和</a:t>
            </a:r>
            <a:r>
              <a:rPr lang="en-US" altLang="zh-CN" dirty="0" smtClean="0"/>
              <a:t>Ada</a:t>
            </a:r>
            <a:r>
              <a:rPr lang="zh-CN" altLang="en-US" dirty="0" smtClean="0"/>
              <a:t>等多种语言，而且</a:t>
            </a:r>
            <a:r>
              <a:rPr lang="en-US" altLang="zh-CN" dirty="0" err="1" smtClean="0"/>
              <a:t>gcc</a:t>
            </a:r>
            <a:r>
              <a:rPr lang="zh-CN" altLang="en-US" dirty="0" smtClean="0"/>
              <a:t>又是一个交叉平台编译器，它能够在当前</a:t>
            </a:r>
            <a:r>
              <a:rPr lang="en-US" altLang="zh-CN" dirty="0" smtClean="0"/>
              <a:t>CPU</a:t>
            </a:r>
            <a:r>
              <a:rPr lang="zh-CN" altLang="en-US" dirty="0" smtClean="0"/>
              <a:t>平台上为多种不同体系结构的硬件平台开发软件。 </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6787" y="4054474"/>
            <a:ext cx="1992313" cy="2376153"/>
          </a:xfrm>
          <a:prstGeom prst="rect">
            <a:avLst/>
          </a:prstGeom>
        </p:spPr>
      </p:pic>
    </p:spTree>
    <p:extLst>
      <p:ext uri="{BB962C8B-B14F-4D97-AF65-F5344CB8AC3E}">
        <p14:creationId xmlns:p14="http://schemas.microsoft.com/office/powerpoint/2010/main" val="18470063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zh-CN" altLang="en-US" dirty="0" smtClean="0"/>
              <a:t>编译过程</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38200" y="978915"/>
            <a:ext cx="3517900" cy="5484307"/>
          </a:xfrm>
          <a:prstGeom prst="rect">
            <a:avLst/>
          </a:prstGeom>
          <a:ln/>
        </p:spPr>
      </p:pic>
      <p:pic>
        <p:nvPicPr>
          <p:cNvPr id="6" name="图片 5"/>
          <p:cNvPicPr>
            <a:picLocks noChangeAspect="1"/>
          </p:cNvPicPr>
          <p:nvPr/>
        </p:nvPicPr>
        <p:blipFill>
          <a:blip r:embed="rId3"/>
          <a:stretch>
            <a:fillRect/>
          </a:stretch>
        </p:blipFill>
        <p:spPr>
          <a:xfrm>
            <a:off x="8543018" y="264540"/>
            <a:ext cx="2390775" cy="1619250"/>
          </a:xfrm>
          <a:prstGeom prst="rect">
            <a:avLst/>
          </a:prstGeom>
        </p:spPr>
      </p:pic>
      <p:sp>
        <p:nvSpPr>
          <p:cNvPr id="9" name="矩形 8"/>
          <p:cNvSpPr/>
          <p:nvPr/>
        </p:nvSpPr>
        <p:spPr>
          <a:xfrm>
            <a:off x="4965247" y="1458910"/>
            <a:ext cx="6096000" cy="4524315"/>
          </a:xfrm>
          <a:prstGeom prst="rect">
            <a:avLst/>
          </a:prstGeom>
        </p:spPr>
        <p:txBody>
          <a:bodyPr>
            <a:spAutoFit/>
          </a:bodyPr>
          <a:lstStyle/>
          <a:p>
            <a:r>
              <a:rPr lang="zh-CN" altLang="en-US" dirty="0" smtClean="0"/>
              <a:t>$ ls </a:t>
            </a:r>
          </a:p>
          <a:p>
            <a:r>
              <a:rPr lang="zh-CN" altLang="en-US" dirty="0" smtClean="0"/>
              <a:t>hello.c</a:t>
            </a:r>
          </a:p>
          <a:p>
            <a:r>
              <a:rPr lang="zh-CN" altLang="en-US" dirty="0" smtClean="0"/>
              <a:t>$ gcc -E hello.c -o hello.i  #预处理，把预处理的结果输出为hello.i 文件</a:t>
            </a:r>
          </a:p>
          <a:p>
            <a:r>
              <a:rPr lang="zh-CN" altLang="en-US" dirty="0" smtClean="0"/>
              <a:t>$ ls </a:t>
            </a:r>
          </a:p>
          <a:p>
            <a:r>
              <a:rPr lang="zh-CN" altLang="en-US" dirty="0" smtClean="0"/>
              <a:t>hello.c  hello.i</a:t>
            </a:r>
          </a:p>
          <a:p>
            <a:r>
              <a:rPr lang="zh-CN" altLang="en-US" dirty="0" smtClean="0"/>
              <a:t>$ gcc -S hello.i    #编译，把预处理的结果编译为汇编文件</a:t>
            </a:r>
          </a:p>
          <a:p>
            <a:r>
              <a:rPr lang="zh-CN" altLang="en-US" dirty="0" smtClean="0"/>
              <a:t>$ ls </a:t>
            </a:r>
          </a:p>
          <a:p>
            <a:r>
              <a:rPr lang="zh-CN" altLang="en-US" dirty="0" smtClean="0"/>
              <a:t>hello.c  hello.i  hello.s</a:t>
            </a:r>
          </a:p>
          <a:p>
            <a:r>
              <a:rPr lang="zh-CN" altLang="en-US" dirty="0" smtClean="0"/>
              <a:t>$ gcc -c hello.s   #汇编，把汇编文件转换成目标文件</a:t>
            </a:r>
          </a:p>
          <a:p>
            <a:r>
              <a:rPr lang="zh-CN" altLang="en-US" dirty="0" smtClean="0"/>
              <a:t>$ ls </a:t>
            </a:r>
          </a:p>
          <a:p>
            <a:r>
              <a:rPr lang="zh-CN" altLang="en-US" dirty="0" smtClean="0"/>
              <a:t>hello.c  hello.i  hello.o  hello.s</a:t>
            </a:r>
          </a:p>
          <a:p>
            <a:r>
              <a:rPr lang="zh-CN" altLang="en-US" dirty="0" smtClean="0"/>
              <a:t>$ gcc hello.o -o hello  #链接，把目标文件连接成一个名为hello的二进制可执行文件</a:t>
            </a:r>
          </a:p>
          <a:p>
            <a:r>
              <a:rPr lang="zh-CN" altLang="en-US" dirty="0" smtClean="0"/>
              <a:t>$ ls </a:t>
            </a:r>
          </a:p>
          <a:p>
            <a:r>
              <a:rPr lang="zh-CN" altLang="en-US" dirty="0" smtClean="0"/>
              <a:t>hello  hello.c  hello.i  hello.o  hello.s</a:t>
            </a:r>
            <a:endParaRPr lang="zh-CN" altLang="en-US" dirty="0"/>
          </a:p>
        </p:txBody>
      </p:sp>
    </p:spTree>
    <p:extLst>
      <p:ext uri="{BB962C8B-B14F-4D97-AF65-F5344CB8AC3E}">
        <p14:creationId xmlns:p14="http://schemas.microsoft.com/office/powerpoint/2010/main" val="348581287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zh-CN" altLang="en-US" dirty="0" smtClean="0"/>
              <a:t>所支持后缀名解释 </a:t>
            </a:r>
            <a:endParaRPr lang="zh-CN" altLang="en-US"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30400"/>
            <a:ext cx="10355891" cy="2745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437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预处理阶段</a:t>
            </a:r>
            <a:endParaRPr lang="zh-CN" altLang="en-US" dirty="0"/>
          </a:p>
        </p:txBody>
      </p:sp>
      <p:sp>
        <p:nvSpPr>
          <p:cNvPr id="3" name="内容占位符 2"/>
          <p:cNvSpPr>
            <a:spLocks noGrp="1"/>
          </p:cNvSpPr>
          <p:nvPr>
            <p:ph idx="1"/>
          </p:nvPr>
        </p:nvSpPr>
        <p:spPr/>
        <p:txBody>
          <a:bodyPr/>
          <a:lstStyle/>
          <a:p>
            <a:pPr>
              <a:lnSpc>
                <a:spcPct val="80000"/>
              </a:lnSpc>
            </a:pPr>
            <a:r>
              <a:rPr lang="zh-CN" altLang="en-US" sz="2000" dirty="0" smtClean="0"/>
              <a:t>在该阶段，对包含的头文件（</a:t>
            </a:r>
            <a:r>
              <a:rPr lang="en-US" altLang="zh-CN" sz="2000" dirty="0" smtClean="0"/>
              <a:t>#include</a:t>
            </a:r>
            <a:r>
              <a:rPr lang="zh-CN" altLang="en-US" sz="2000" dirty="0" smtClean="0"/>
              <a:t>）和宏定义（</a:t>
            </a:r>
            <a:r>
              <a:rPr lang="en-US" altLang="zh-CN" sz="2000" dirty="0" smtClean="0"/>
              <a:t>#define</a:t>
            </a:r>
            <a:r>
              <a:rPr lang="zh-CN" altLang="en-US" sz="2000" dirty="0" smtClean="0"/>
              <a:t>、</a:t>
            </a:r>
            <a:r>
              <a:rPr lang="en-US" altLang="zh-CN" sz="2000" dirty="0" smtClean="0"/>
              <a:t>#</a:t>
            </a:r>
            <a:r>
              <a:rPr lang="en-US" altLang="zh-CN" sz="2000" dirty="0" err="1" smtClean="0"/>
              <a:t>ifdef</a:t>
            </a:r>
            <a:r>
              <a:rPr lang="zh-CN" altLang="en-US" sz="2000" dirty="0" smtClean="0"/>
              <a:t>等）进行处理 。可以使用</a:t>
            </a:r>
            <a:r>
              <a:rPr lang="en-US" altLang="zh-CN" sz="2000" dirty="0" err="1" smtClean="0"/>
              <a:t>gcc</a:t>
            </a:r>
            <a:r>
              <a:rPr lang="zh-CN" altLang="en-US" sz="2000" dirty="0" smtClean="0"/>
              <a:t>的选项</a:t>
            </a:r>
            <a:r>
              <a:rPr lang="zh-CN" altLang="en-US" sz="2000" dirty="0" smtClean="0">
                <a:latin typeface="Arial" panose="020B0604020202020204" pitchFamily="34" charset="0"/>
              </a:rPr>
              <a:t>“</a:t>
            </a:r>
            <a:r>
              <a:rPr lang="en-US" altLang="zh-CN" sz="2000" dirty="0" smtClean="0"/>
              <a:t>-E</a:t>
            </a:r>
            <a:r>
              <a:rPr lang="en-US" altLang="zh-CN" sz="2000" dirty="0" smtClean="0">
                <a:latin typeface="Arial" panose="020B0604020202020204" pitchFamily="34" charset="0"/>
              </a:rPr>
              <a:t>”</a:t>
            </a:r>
            <a:r>
              <a:rPr lang="en-US" altLang="zh-CN" sz="2000" dirty="0" smtClean="0"/>
              <a:t> </a:t>
            </a:r>
            <a:r>
              <a:rPr lang="zh-CN" altLang="en-US" sz="2000" dirty="0" smtClean="0"/>
              <a:t>让</a:t>
            </a:r>
            <a:r>
              <a:rPr lang="en-US" altLang="zh-CN" sz="2000" dirty="0" err="1" smtClean="0"/>
              <a:t>gcc</a:t>
            </a:r>
            <a:r>
              <a:rPr lang="zh-CN" altLang="en-US" sz="2000" dirty="0" smtClean="0"/>
              <a:t>在预处理结束后停止编译过程。</a:t>
            </a:r>
          </a:p>
          <a:p>
            <a:pPr>
              <a:lnSpc>
                <a:spcPct val="80000"/>
              </a:lnSpc>
              <a:buFont typeface="Wingdings 3" panose="05040102010807070707" pitchFamily="18" charset="2"/>
              <a:buNone/>
            </a:pPr>
            <a:r>
              <a:rPr lang="zh-CN" altLang="en-US" sz="1600" dirty="0" smtClean="0"/>
              <a:t>	 </a:t>
            </a:r>
            <a:r>
              <a:rPr lang="en-US" altLang="zh-CN" sz="1600" dirty="0" smtClean="0"/>
              <a:t>[</a:t>
            </a:r>
            <a:r>
              <a:rPr lang="en-US" altLang="zh-CN" sz="1600" dirty="0" err="1" smtClean="0"/>
              <a:t>root@localhost</a:t>
            </a:r>
            <a:r>
              <a:rPr lang="en-US" altLang="zh-CN" sz="1600" dirty="0" smtClean="0"/>
              <a:t> </a:t>
            </a:r>
            <a:r>
              <a:rPr lang="en-US" altLang="zh-CN" sz="1600" dirty="0" err="1" smtClean="0"/>
              <a:t>gcc</a:t>
            </a:r>
            <a:r>
              <a:rPr lang="en-US" altLang="zh-CN" sz="1600" dirty="0" smtClean="0"/>
              <a:t>]# </a:t>
            </a:r>
            <a:r>
              <a:rPr lang="en-US" altLang="zh-CN" sz="1600" b="1" dirty="0" err="1" smtClean="0"/>
              <a:t>gcc</a:t>
            </a:r>
            <a:r>
              <a:rPr lang="en-US" altLang="zh-CN" sz="1600" b="1" dirty="0" smtClean="0"/>
              <a:t> </a:t>
            </a:r>
            <a:r>
              <a:rPr lang="en-US" altLang="zh-CN" sz="1600" b="1" dirty="0" smtClean="0">
                <a:latin typeface="Arial" panose="020B0604020202020204" pitchFamily="34" charset="0"/>
              </a:rPr>
              <a:t>–</a:t>
            </a:r>
            <a:r>
              <a:rPr lang="en-US" altLang="zh-CN" sz="1600" b="1" dirty="0" smtClean="0"/>
              <a:t>E </a:t>
            </a:r>
            <a:r>
              <a:rPr lang="en-US" altLang="zh-CN" sz="1600" b="1" dirty="0" err="1" smtClean="0"/>
              <a:t>hello.c</a:t>
            </a:r>
            <a:r>
              <a:rPr lang="en-US" altLang="zh-CN" sz="1600" b="1" dirty="0" smtClean="0"/>
              <a:t> </a:t>
            </a:r>
            <a:r>
              <a:rPr lang="en-US" altLang="zh-CN" sz="1600" b="1" dirty="0" smtClean="0">
                <a:latin typeface="Arial" panose="020B0604020202020204" pitchFamily="34" charset="0"/>
              </a:rPr>
              <a:t>–</a:t>
            </a:r>
            <a:r>
              <a:rPr lang="en-US" altLang="zh-CN" sz="1600" b="1" dirty="0" smtClean="0"/>
              <a:t>o </a:t>
            </a:r>
            <a:r>
              <a:rPr lang="en-US" altLang="zh-CN" sz="1600" b="1" dirty="0" err="1" smtClean="0"/>
              <a:t>hello.i</a:t>
            </a:r>
            <a:endParaRPr lang="en-US" altLang="zh-CN" sz="1600" b="1" dirty="0" smtClean="0"/>
          </a:p>
          <a:p>
            <a:pPr lvl="2">
              <a:lnSpc>
                <a:spcPct val="80000"/>
              </a:lnSpc>
              <a:buFont typeface="Wingdings 3" panose="05040102010807070707" pitchFamily="18" charset="2"/>
              <a:buNone/>
            </a:pPr>
            <a:endParaRPr lang="en-US" altLang="zh-CN" sz="1200" b="1" dirty="0" smtClean="0"/>
          </a:p>
          <a:p>
            <a:pPr lvl="2">
              <a:lnSpc>
                <a:spcPct val="80000"/>
              </a:lnSpc>
              <a:buFont typeface="Wingdings 3" panose="05040102010807070707" pitchFamily="18" charset="2"/>
              <a:buNone/>
            </a:pPr>
            <a:r>
              <a:rPr lang="en-US" altLang="zh-CN" sz="1200" b="1" dirty="0" smtClean="0"/>
              <a:t>/* </a:t>
            </a:r>
            <a:r>
              <a:rPr lang="en-US" altLang="zh-CN" sz="1200" b="1" dirty="0" err="1" smtClean="0"/>
              <a:t>hello.i</a:t>
            </a:r>
            <a:r>
              <a:rPr lang="en-US" altLang="zh-CN" sz="1200" b="1" dirty="0" smtClean="0"/>
              <a:t> */</a:t>
            </a:r>
          </a:p>
          <a:p>
            <a:pPr lvl="2">
              <a:lnSpc>
                <a:spcPct val="80000"/>
              </a:lnSpc>
              <a:buFont typeface="Wingdings 3" panose="05040102010807070707" pitchFamily="18" charset="2"/>
              <a:buNone/>
            </a:pPr>
            <a:r>
              <a:rPr lang="en-US" altLang="zh-CN" sz="1200" b="1" dirty="0" smtClean="0">
                <a:latin typeface="Arial" panose="020B0604020202020204" pitchFamily="34" charset="0"/>
              </a:rPr>
              <a:t>……</a:t>
            </a:r>
            <a:endParaRPr lang="en-US" altLang="zh-CN" sz="1200" b="1" dirty="0" smtClean="0"/>
          </a:p>
          <a:p>
            <a:pPr lvl="2">
              <a:lnSpc>
                <a:spcPct val="80000"/>
              </a:lnSpc>
              <a:buFont typeface="Wingdings 3" panose="05040102010807070707" pitchFamily="18" charset="2"/>
              <a:buNone/>
            </a:pPr>
            <a:r>
              <a:rPr lang="en-US" altLang="zh-CN" sz="1200" b="1" dirty="0" err="1" smtClean="0"/>
              <a:t>typedef</a:t>
            </a:r>
            <a:r>
              <a:rPr lang="en-US" altLang="zh-CN" sz="1200" b="1" dirty="0" smtClean="0"/>
              <a:t> </a:t>
            </a:r>
            <a:r>
              <a:rPr lang="en-US" altLang="zh-CN" sz="1200" b="1" dirty="0" err="1" smtClean="0"/>
              <a:t>int</a:t>
            </a:r>
            <a:r>
              <a:rPr lang="en-US" altLang="zh-CN" sz="1200" b="1" dirty="0" smtClean="0"/>
              <a:t> (*__</a:t>
            </a:r>
            <a:r>
              <a:rPr lang="en-US" altLang="zh-CN" sz="1200" b="1" dirty="0" err="1" smtClean="0"/>
              <a:t>gconv_trans_fct</a:t>
            </a:r>
            <a:r>
              <a:rPr lang="en-US" altLang="zh-CN" sz="1200" b="1" dirty="0" smtClean="0"/>
              <a:t>) (</a:t>
            </a:r>
            <a:r>
              <a:rPr lang="en-US" altLang="zh-CN" sz="1200" b="1" dirty="0" err="1" smtClean="0"/>
              <a:t>struct</a:t>
            </a:r>
            <a:r>
              <a:rPr lang="en-US" altLang="zh-CN" sz="1200" b="1" dirty="0" smtClean="0"/>
              <a:t> __</a:t>
            </a:r>
            <a:r>
              <a:rPr lang="en-US" altLang="zh-CN" sz="1200" b="1" dirty="0" err="1" smtClean="0"/>
              <a:t>gconv_step</a:t>
            </a:r>
            <a:r>
              <a:rPr lang="en-US" altLang="zh-CN" sz="1200" b="1" dirty="0" smtClean="0"/>
              <a:t> *,</a:t>
            </a:r>
          </a:p>
          <a:p>
            <a:pPr lvl="2">
              <a:lnSpc>
                <a:spcPct val="80000"/>
              </a:lnSpc>
              <a:buFont typeface="Wingdings 3" panose="05040102010807070707" pitchFamily="18" charset="2"/>
              <a:buNone/>
            </a:pPr>
            <a:r>
              <a:rPr lang="en-US" altLang="zh-CN" sz="1200" b="1" dirty="0" smtClean="0"/>
              <a:t>         </a:t>
            </a:r>
            <a:r>
              <a:rPr lang="en-US" altLang="zh-CN" sz="1200" b="1" dirty="0" err="1" smtClean="0"/>
              <a:t>struct</a:t>
            </a:r>
            <a:r>
              <a:rPr lang="en-US" altLang="zh-CN" sz="1200" b="1" dirty="0" smtClean="0"/>
              <a:t> __</a:t>
            </a:r>
            <a:r>
              <a:rPr lang="en-US" altLang="zh-CN" sz="1200" b="1" dirty="0" err="1" smtClean="0"/>
              <a:t>gconv_step_data</a:t>
            </a:r>
            <a:r>
              <a:rPr lang="en-US" altLang="zh-CN" sz="1200" b="1" dirty="0" smtClean="0"/>
              <a:t> *, void *,</a:t>
            </a:r>
          </a:p>
          <a:p>
            <a:pPr lvl="2">
              <a:lnSpc>
                <a:spcPct val="80000"/>
              </a:lnSpc>
              <a:buFont typeface="Wingdings 3" panose="05040102010807070707" pitchFamily="18" charset="2"/>
              <a:buNone/>
            </a:pPr>
            <a:r>
              <a:rPr lang="en-US" altLang="zh-CN" sz="1200" b="1" dirty="0" smtClean="0"/>
              <a:t>         __</a:t>
            </a:r>
            <a:r>
              <a:rPr lang="en-US" altLang="zh-CN" sz="1200" b="1" dirty="0" err="1" smtClean="0"/>
              <a:t>const</a:t>
            </a:r>
            <a:r>
              <a:rPr lang="en-US" altLang="zh-CN" sz="1200" b="1" dirty="0" smtClean="0"/>
              <a:t> unsigned char *,</a:t>
            </a:r>
          </a:p>
          <a:p>
            <a:pPr lvl="2">
              <a:lnSpc>
                <a:spcPct val="80000"/>
              </a:lnSpc>
              <a:buFont typeface="Wingdings 3" panose="05040102010807070707" pitchFamily="18" charset="2"/>
              <a:buNone/>
            </a:pPr>
            <a:r>
              <a:rPr lang="en-US" altLang="zh-CN" sz="1200" b="1" dirty="0" smtClean="0"/>
              <a:t>         __</a:t>
            </a:r>
            <a:r>
              <a:rPr lang="en-US" altLang="zh-CN" sz="1200" b="1" dirty="0" err="1" smtClean="0"/>
              <a:t>const</a:t>
            </a:r>
            <a:r>
              <a:rPr lang="en-US" altLang="zh-CN" sz="1200" b="1" dirty="0" smtClean="0"/>
              <a:t> unsigned char **,</a:t>
            </a:r>
          </a:p>
          <a:p>
            <a:pPr lvl="2">
              <a:lnSpc>
                <a:spcPct val="80000"/>
              </a:lnSpc>
              <a:buFont typeface="Wingdings 3" panose="05040102010807070707" pitchFamily="18" charset="2"/>
              <a:buNone/>
            </a:pPr>
            <a:r>
              <a:rPr lang="en-US" altLang="zh-CN" sz="1200" b="1" dirty="0" smtClean="0"/>
              <a:t>         __</a:t>
            </a:r>
            <a:r>
              <a:rPr lang="en-US" altLang="zh-CN" sz="1200" b="1" dirty="0" err="1" smtClean="0"/>
              <a:t>const</a:t>
            </a:r>
            <a:r>
              <a:rPr lang="en-US" altLang="zh-CN" sz="1200" b="1" dirty="0" smtClean="0"/>
              <a:t> unsigned char *, unsigned char **,</a:t>
            </a:r>
          </a:p>
          <a:p>
            <a:pPr lvl="2">
              <a:lnSpc>
                <a:spcPct val="80000"/>
              </a:lnSpc>
              <a:buFont typeface="Wingdings 3" panose="05040102010807070707" pitchFamily="18" charset="2"/>
              <a:buNone/>
            </a:pPr>
            <a:r>
              <a:rPr lang="en-US" altLang="zh-CN" sz="1200" b="1" dirty="0" smtClean="0"/>
              <a:t>         </a:t>
            </a:r>
            <a:r>
              <a:rPr lang="en-US" altLang="zh-CN" sz="1200" b="1" dirty="0" err="1" smtClean="0"/>
              <a:t>size_t</a:t>
            </a:r>
            <a:r>
              <a:rPr lang="en-US" altLang="zh-CN" sz="1200" b="1" dirty="0" smtClean="0"/>
              <a:t> *);</a:t>
            </a:r>
          </a:p>
          <a:p>
            <a:pPr lvl="2">
              <a:lnSpc>
                <a:spcPct val="80000"/>
              </a:lnSpc>
              <a:buFont typeface="Wingdings 3" panose="05040102010807070707" pitchFamily="18" charset="2"/>
              <a:buNone/>
            </a:pPr>
            <a:r>
              <a:rPr lang="en-US" altLang="zh-CN" sz="1200" b="1" dirty="0" smtClean="0">
                <a:latin typeface="Arial" panose="020B0604020202020204" pitchFamily="34" charset="0"/>
              </a:rPr>
              <a:t>……</a:t>
            </a:r>
            <a:endParaRPr lang="en-US" altLang="zh-CN" sz="1200" b="1" dirty="0" smtClean="0"/>
          </a:p>
          <a:p>
            <a:pPr lvl="2">
              <a:lnSpc>
                <a:spcPct val="80000"/>
              </a:lnSpc>
              <a:buFont typeface="Wingdings 3" panose="05040102010807070707" pitchFamily="18" charset="2"/>
              <a:buNone/>
            </a:pPr>
            <a:r>
              <a:rPr lang="en-US" altLang="zh-CN" sz="1200" b="1" dirty="0" smtClean="0"/>
              <a:t># 2 "</a:t>
            </a:r>
            <a:r>
              <a:rPr lang="en-US" altLang="zh-CN" sz="1200" b="1" dirty="0" err="1" smtClean="0"/>
              <a:t>hello.c</a:t>
            </a:r>
            <a:r>
              <a:rPr lang="en-US" altLang="zh-CN" sz="1200" b="1" dirty="0" smtClean="0"/>
              <a:t>" 2</a:t>
            </a:r>
          </a:p>
          <a:p>
            <a:pPr lvl="2">
              <a:lnSpc>
                <a:spcPct val="80000"/>
              </a:lnSpc>
              <a:buFont typeface="Wingdings 3" panose="05040102010807070707" pitchFamily="18" charset="2"/>
              <a:buNone/>
            </a:pPr>
            <a:r>
              <a:rPr lang="en-US" altLang="zh-CN" sz="1200" b="1" dirty="0" err="1" smtClean="0"/>
              <a:t>int</a:t>
            </a:r>
            <a:r>
              <a:rPr lang="en-US" altLang="zh-CN" sz="1200" b="1" dirty="0" smtClean="0"/>
              <a:t> main()</a:t>
            </a:r>
          </a:p>
          <a:p>
            <a:pPr lvl="2">
              <a:lnSpc>
                <a:spcPct val="80000"/>
              </a:lnSpc>
              <a:buFont typeface="Wingdings 3" panose="05040102010807070707" pitchFamily="18" charset="2"/>
              <a:buNone/>
            </a:pPr>
            <a:r>
              <a:rPr lang="en-US" altLang="zh-CN" sz="1200" b="1" dirty="0" smtClean="0"/>
              <a:t>{</a:t>
            </a:r>
          </a:p>
          <a:p>
            <a:pPr lvl="2">
              <a:lnSpc>
                <a:spcPct val="80000"/>
              </a:lnSpc>
              <a:buFont typeface="Wingdings 3" panose="05040102010807070707" pitchFamily="18" charset="2"/>
              <a:buNone/>
            </a:pPr>
            <a:r>
              <a:rPr lang="en-US" altLang="zh-CN" sz="1200" b="1" dirty="0" smtClean="0"/>
              <a:t>	</a:t>
            </a:r>
            <a:r>
              <a:rPr lang="en-US" altLang="zh-CN" sz="1200" b="1" dirty="0" err="1" smtClean="0"/>
              <a:t>printf</a:t>
            </a:r>
            <a:r>
              <a:rPr lang="en-US" altLang="zh-CN" sz="1200" b="1" dirty="0" smtClean="0"/>
              <a:t>("Hello! This is our embedded world!\n");</a:t>
            </a:r>
          </a:p>
          <a:p>
            <a:pPr lvl="2">
              <a:lnSpc>
                <a:spcPct val="80000"/>
              </a:lnSpc>
              <a:buFont typeface="Wingdings 3" panose="05040102010807070707" pitchFamily="18" charset="2"/>
              <a:buNone/>
            </a:pPr>
            <a:r>
              <a:rPr lang="en-US" altLang="zh-CN" sz="1200" b="1" dirty="0" smtClean="0"/>
              <a:t>	return 0;</a:t>
            </a:r>
          </a:p>
          <a:p>
            <a:pPr lvl="2">
              <a:lnSpc>
                <a:spcPct val="80000"/>
              </a:lnSpc>
              <a:buFont typeface="Wingdings 3" panose="05040102010807070707" pitchFamily="18" charset="2"/>
              <a:buNone/>
            </a:pPr>
            <a:r>
              <a:rPr lang="en-US" altLang="zh-CN" sz="1200" b="1" dirty="0" smtClean="0"/>
              <a:t>}</a:t>
            </a:r>
          </a:p>
          <a:p>
            <a:endParaRPr lang="zh-CN" altLang="en-US" dirty="0"/>
          </a:p>
        </p:txBody>
      </p:sp>
    </p:spTree>
    <p:extLst>
      <p:ext uri="{BB962C8B-B14F-4D97-AF65-F5344CB8AC3E}">
        <p14:creationId xmlns:p14="http://schemas.microsoft.com/office/powerpoint/2010/main" val="179775350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a:t>
            </a:r>
            <a:r>
              <a:rPr lang="zh-CN" altLang="en-US" dirty="0" smtClean="0"/>
              <a:t>编译阶段（</a:t>
            </a:r>
            <a:r>
              <a:rPr lang="en-US" altLang="zh-CN" dirty="0" smtClean="0"/>
              <a:t>1</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接下来进行的是编译阶段，在这个阶段中，</a:t>
            </a:r>
            <a:r>
              <a:rPr lang="en-US" altLang="zh-CN" dirty="0" err="1" smtClean="0"/>
              <a:t>gcc</a:t>
            </a:r>
            <a:r>
              <a:rPr lang="zh-CN" altLang="en-US" dirty="0" smtClean="0"/>
              <a:t>首先要检查代码的规范性、是否有语法错误等，以确定代码的实际要做的工作，在检查无误后，</a:t>
            </a:r>
            <a:r>
              <a:rPr lang="en-US" altLang="zh-CN" dirty="0" err="1" smtClean="0"/>
              <a:t>gcc</a:t>
            </a:r>
            <a:r>
              <a:rPr lang="zh-CN" altLang="en-US" dirty="0" smtClean="0"/>
              <a:t>把代码翻译成汇编语言。用户可以使用</a:t>
            </a:r>
            <a:r>
              <a:rPr lang="zh-CN" altLang="en-US" dirty="0" smtClean="0">
                <a:latin typeface="Arial" panose="020B0604020202020204" pitchFamily="34" charset="0"/>
              </a:rPr>
              <a:t>“</a:t>
            </a:r>
            <a:r>
              <a:rPr lang="en-US" altLang="zh-CN" dirty="0" smtClean="0"/>
              <a:t>-S</a:t>
            </a:r>
            <a:r>
              <a:rPr lang="en-US" altLang="zh-CN" dirty="0" smtClean="0">
                <a:latin typeface="Arial" panose="020B0604020202020204" pitchFamily="34" charset="0"/>
              </a:rPr>
              <a:t>”</a:t>
            </a:r>
            <a:r>
              <a:rPr lang="zh-CN" altLang="en-US" dirty="0" smtClean="0"/>
              <a:t>选项来进行查看，该选项只进行编译而不进行汇编，生成汇编代码。</a:t>
            </a:r>
          </a:p>
          <a:p>
            <a:r>
              <a:rPr lang="en-US" altLang="zh-CN" dirty="0" smtClean="0"/>
              <a:t>[</a:t>
            </a:r>
            <a:r>
              <a:rPr lang="en-US" altLang="zh-CN" dirty="0" err="1" smtClean="0"/>
              <a:t>root@localhost</a:t>
            </a:r>
            <a:r>
              <a:rPr lang="en-US" altLang="zh-CN" dirty="0" smtClean="0"/>
              <a:t> </a:t>
            </a:r>
            <a:r>
              <a:rPr lang="en-US" altLang="zh-CN" dirty="0" err="1" smtClean="0"/>
              <a:t>gcc</a:t>
            </a:r>
            <a:r>
              <a:rPr lang="en-US" altLang="zh-CN" dirty="0" smtClean="0"/>
              <a:t>]# </a:t>
            </a:r>
            <a:r>
              <a:rPr lang="en-US" altLang="zh-CN" b="1" dirty="0" err="1" smtClean="0"/>
              <a:t>gcc</a:t>
            </a:r>
            <a:r>
              <a:rPr lang="en-US" altLang="zh-CN" b="1" dirty="0" smtClean="0"/>
              <a:t> </a:t>
            </a:r>
            <a:r>
              <a:rPr lang="en-US" altLang="zh-CN" b="1" dirty="0" smtClean="0">
                <a:latin typeface="Arial" panose="020B0604020202020204" pitchFamily="34" charset="0"/>
              </a:rPr>
              <a:t>–</a:t>
            </a:r>
            <a:r>
              <a:rPr lang="en-US" altLang="zh-CN" b="1" dirty="0" smtClean="0"/>
              <a:t>S </a:t>
            </a:r>
            <a:r>
              <a:rPr lang="en-US" altLang="zh-CN" b="1" dirty="0" err="1" smtClean="0"/>
              <a:t>hello.i</a:t>
            </a:r>
            <a:r>
              <a:rPr lang="en-US" altLang="zh-CN" b="1" dirty="0" smtClean="0"/>
              <a:t> </a:t>
            </a:r>
            <a:r>
              <a:rPr lang="en-US" altLang="zh-CN" b="1" dirty="0" smtClean="0">
                <a:latin typeface="Arial" panose="020B0604020202020204" pitchFamily="34" charset="0"/>
              </a:rPr>
              <a:t>–</a:t>
            </a:r>
            <a:r>
              <a:rPr lang="en-US" altLang="zh-CN" b="1" dirty="0" smtClean="0"/>
              <a:t>o </a:t>
            </a:r>
            <a:r>
              <a:rPr lang="en-US" altLang="zh-CN" b="1" dirty="0" err="1" smtClean="0"/>
              <a:t>hello.s</a:t>
            </a:r>
            <a:endParaRPr lang="en-US" altLang="zh-CN" b="1" dirty="0" smtClean="0"/>
          </a:p>
          <a:p>
            <a:endParaRPr lang="zh-CN" altLang="en-US" dirty="0"/>
          </a:p>
        </p:txBody>
      </p:sp>
    </p:spTree>
    <p:extLst>
      <p:ext uri="{BB962C8B-B14F-4D97-AF65-F5344CB8AC3E}">
        <p14:creationId xmlns:p14="http://schemas.microsoft.com/office/powerpoint/2010/main" val="402443729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a:t>
            </a:r>
            <a:r>
              <a:rPr lang="zh-CN" altLang="en-US" dirty="0" smtClean="0"/>
              <a:t>编译阶段（</a:t>
            </a:r>
            <a:r>
              <a:rPr lang="en-US" altLang="zh-CN" dirty="0" smtClean="0"/>
              <a:t>2</a:t>
            </a:r>
            <a:r>
              <a:rPr lang="zh-CN" altLang="en-US" dirty="0" smtClean="0"/>
              <a:t>）</a:t>
            </a:r>
            <a:endParaRPr lang="zh-CN" altLang="en-US" dirty="0"/>
          </a:p>
        </p:txBody>
      </p:sp>
      <p:sp>
        <p:nvSpPr>
          <p:cNvPr id="9" name="Rectangle 3"/>
          <p:cNvSpPr txBox="1">
            <a:spLocks/>
          </p:cNvSpPr>
          <p:nvPr/>
        </p:nvSpPr>
        <p:spPr bwMode="auto">
          <a:xfrm>
            <a:off x="1221467" y="1281339"/>
            <a:ext cx="4038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600"/>
              </a:spcBef>
              <a:spcAft>
                <a:spcPct val="0"/>
              </a:spcAft>
              <a:buClr>
                <a:schemeClr val="accent1"/>
              </a:buClr>
              <a:buSzPct val="76000"/>
              <a:buFont typeface="Wingdings 3" panose="05040102010807070707" pitchFamily="18" charset="2"/>
              <a:buChar char=""/>
              <a:defRPr sz="2800" kern="1200">
                <a:solidFill>
                  <a:schemeClr val="tx1"/>
                </a:solidFill>
                <a:latin typeface="+mn-lt"/>
                <a:ea typeface="+mn-ea"/>
                <a:cs typeface="+mn-cs"/>
              </a:defRPr>
            </a:lvl1pPr>
            <a:lvl2pPr marL="547688" indent="-273050" algn="l" rtl="0" fontAlgn="base">
              <a:spcBef>
                <a:spcPts val="500"/>
              </a:spcBef>
              <a:spcAft>
                <a:spcPct val="0"/>
              </a:spcAft>
              <a:buClr>
                <a:schemeClr val="accent2"/>
              </a:buClr>
              <a:buSzPct val="76000"/>
              <a:buFont typeface="Wingdings 3" panose="05040102010807070707" pitchFamily="18" charset="2"/>
              <a:buChar char=""/>
              <a:defRPr sz="2400" kern="1200">
                <a:solidFill>
                  <a:schemeClr val="tx2"/>
                </a:solidFill>
                <a:latin typeface="+mn-lt"/>
                <a:ea typeface="+mn-ea"/>
                <a:cs typeface="+mn-cs"/>
              </a:defRPr>
            </a:lvl2pPr>
            <a:lvl3pPr marL="822325" indent="-228600" algn="l" rtl="0" fontAlgn="base">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fontAlgn="base">
              <a:spcBef>
                <a:spcPts val="400"/>
              </a:spcBef>
              <a:spcAft>
                <a:spcPct val="0"/>
              </a:spcAft>
              <a:buClr>
                <a:srgbClr val="8BA2B4"/>
              </a:buClr>
              <a:buSzPct val="70000"/>
              <a:buFont typeface="Wingdings" panose="05000000000000000000" pitchFamily="2" charset="2"/>
              <a:buChar char=""/>
              <a:defRPr sz="2000" kern="1200">
                <a:solidFill>
                  <a:schemeClr val="tx1"/>
                </a:solidFill>
                <a:latin typeface="+mn-lt"/>
                <a:ea typeface="+mn-ea"/>
                <a:cs typeface="+mn-cs"/>
              </a:defRPr>
            </a:lvl4pPr>
            <a:lvl5pPr marL="1371600" indent="-228600" algn="l" rtl="0" fontAlgn="base">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hello.s</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.file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hello.c</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.section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rodata</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.align 4</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.LC0:</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.string		"Hello! This is our embedded world!"</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.text</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globl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main</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.type main, @function</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main:</a:t>
            </a: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pushl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ebp</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movl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esp</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ebp</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subl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$8,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esp</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andl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$-16,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esp</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movl</a:t>
            </a: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$0, %</a:t>
            </a:r>
            <a:r>
              <a:rPr kumimoji="0" lang="en-US" altLang="zh-CN" sz="1800" b="0" i="0" u="none" strike="noStrike" kern="1200" cap="none" spc="0" normalizeH="0" baseline="0" noProof="0" dirty="0" err="1" smtClean="0">
                <a:ln>
                  <a:noFill/>
                </a:ln>
                <a:solidFill>
                  <a:srgbClr val="000000"/>
                </a:solidFill>
                <a:effectLst/>
                <a:uLnTx/>
                <a:uFillTx/>
                <a:latin typeface="Times New Roman"/>
                <a:ea typeface="宋体"/>
                <a:cs typeface="+mn-cs"/>
              </a:rPr>
              <a:t>eax</a:t>
            </a:r>
            <a:endPar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endParaRPr>
          </a:p>
          <a:p>
            <a:pPr marL="273050" marR="0" lvl="0" indent="-273050" algn="l" defTabSz="914400" rtl="0" eaLnBrk="1" fontAlgn="base" latinLnBrk="0" hangingPunct="1">
              <a:lnSpc>
                <a:spcPct val="80000"/>
              </a:lnSpc>
              <a:spcBef>
                <a:spcPts val="600"/>
              </a:spcBef>
              <a:spcAft>
                <a:spcPct val="0"/>
              </a:spcAft>
              <a:buClr>
                <a:srgbClr val="727CA3"/>
              </a:buClr>
              <a:buSzPct val="76000"/>
              <a:buFont typeface="Wingdings 3" panose="05040102010807070707" pitchFamily="18" charset="2"/>
              <a:buNone/>
              <a:tabLst/>
              <a:defRPr/>
            </a:pPr>
            <a:r>
              <a:rPr kumimoji="0" lang="en-US" altLang="zh-CN" sz="1800" b="0" i="0" u="none" strike="noStrike" kern="1200" cap="none" spc="0" normalizeH="0" baseline="0" noProof="0" dirty="0" smtClean="0">
                <a:ln>
                  <a:noFill/>
                </a:ln>
                <a:solidFill>
                  <a:srgbClr val="000000"/>
                </a:solidFill>
                <a:effectLst/>
                <a:uLnTx/>
                <a:uFillTx/>
                <a:latin typeface="Times New Roman"/>
                <a:ea typeface="宋体"/>
                <a:cs typeface="+mn-cs"/>
              </a:rPr>
              <a:t>     </a:t>
            </a:r>
          </a:p>
        </p:txBody>
      </p:sp>
      <p:sp>
        <p:nvSpPr>
          <p:cNvPr id="10" name="Text Box 4"/>
          <p:cNvSpPr txBox="1">
            <a:spLocks noChangeArrowheads="1"/>
          </p:cNvSpPr>
          <p:nvPr/>
        </p:nvSpPr>
        <p:spPr bwMode="auto">
          <a:xfrm>
            <a:off x="4945742" y="1462314"/>
            <a:ext cx="5334000" cy="489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addl</a:t>
            </a:r>
            <a:r>
              <a:rPr lang="en-US" altLang="zh-CN" dirty="0">
                <a:solidFill>
                  <a:srgbClr val="000000"/>
                </a:solidFill>
                <a:latin typeface="Arial" panose="020B0604020202020204" pitchFamily="34" charset="0"/>
              </a:rPr>
              <a:t> $15, %</a:t>
            </a:r>
            <a:r>
              <a:rPr lang="en-US" altLang="zh-CN" dirty="0" err="1">
                <a:solidFill>
                  <a:srgbClr val="000000"/>
                </a:solidFill>
                <a:latin typeface="Arial" panose="020B0604020202020204" pitchFamily="34" charset="0"/>
              </a:rPr>
              <a:t>eax</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addl</a:t>
            </a:r>
            <a:r>
              <a:rPr lang="en-US" altLang="zh-CN" dirty="0">
                <a:solidFill>
                  <a:srgbClr val="000000"/>
                </a:solidFill>
                <a:latin typeface="Arial" panose="020B0604020202020204" pitchFamily="34" charset="0"/>
              </a:rPr>
              <a:t> $15, %</a:t>
            </a:r>
            <a:r>
              <a:rPr lang="en-US" altLang="zh-CN" dirty="0" err="1">
                <a:solidFill>
                  <a:srgbClr val="000000"/>
                </a:solidFill>
                <a:latin typeface="Arial" panose="020B0604020202020204" pitchFamily="34" charset="0"/>
              </a:rPr>
              <a:t>eax</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shrl</a:t>
            </a:r>
            <a:r>
              <a:rPr lang="en-US" altLang="zh-CN" dirty="0">
                <a:solidFill>
                  <a:srgbClr val="000000"/>
                </a:solidFill>
                <a:latin typeface="Arial" panose="020B0604020202020204" pitchFamily="34" charset="0"/>
              </a:rPr>
              <a:t> $4, %</a:t>
            </a:r>
            <a:r>
              <a:rPr lang="en-US" altLang="zh-CN" dirty="0" err="1">
                <a:solidFill>
                  <a:srgbClr val="000000"/>
                </a:solidFill>
                <a:latin typeface="Arial" panose="020B0604020202020204" pitchFamily="34" charset="0"/>
              </a:rPr>
              <a:t>eax</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sall</a:t>
            </a:r>
            <a:r>
              <a:rPr lang="en-US" altLang="zh-CN" dirty="0">
                <a:solidFill>
                  <a:srgbClr val="000000"/>
                </a:solidFill>
                <a:latin typeface="Arial" panose="020B0604020202020204" pitchFamily="34" charset="0"/>
              </a:rPr>
              <a:t> $4, %</a:t>
            </a:r>
            <a:r>
              <a:rPr lang="en-US" altLang="zh-CN" dirty="0" err="1">
                <a:solidFill>
                  <a:srgbClr val="000000"/>
                </a:solidFill>
                <a:latin typeface="Arial" panose="020B0604020202020204" pitchFamily="34" charset="0"/>
              </a:rPr>
              <a:t>eax</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subl</a:t>
            </a: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eax</a:t>
            </a: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esp</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subl</a:t>
            </a:r>
            <a:r>
              <a:rPr lang="en-US" altLang="zh-CN" dirty="0">
                <a:solidFill>
                  <a:srgbClr val="000000"/>
                </a:solidFill>
                <a:latin typeface="Arial" panose="020B0604020202020204" pitchFamily="34" charset="0"/>
              </a:rPr>
              <a:t> $12, %</a:t>
            </a:r>
            <a:r>
              <a:rPr lang="en-US" altLang="zh-CN" dirty="0" err="1">
                <a:solidFill>
                  <a:srgbClr val="000000"/>
                </a:solidFill>
                <a:latin typeface="Arial" panose="020B0604020202020204" pitchFamily="34" charset="0"/>
              </a:rPr>
              <a:t>esp</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pushl</a:t>
            </a:r>
            <a:r>
              <a:rPr lang="en-US" altLang="zh-CN" dirty="0">
                <a:solidFill>
                  <a:srgbClr val="000000"/>
                </a:solidFill>
                <a:latin typeface="Arial" panose="020B0604020202020204" pitchFamily="34" charset="0"/>
              </a:rPr>
              <a:t> $.LC0</a:t>
            </a:r>
          </a:p>
          <a:p>
            <a:pPr fontAlgn="base">
              <a:spcBef>
                <a:spcPct val="0"/>
              </a:spcBef>
              <a:spcAft>
                <a:spcPct val="0"/>
              </a:spcAft>
            </a:pPr>
            <a:r>
              <a:rPr lang="en-US" altLang="zh-CN" dirty="0">
                <a:solidFill>
                  <a:srgbClr val="000000"/>
                </a:solidFill>
                <a:latin typeface="Arial" panose="020B0604020202020204" pitchFamily="34" charset="0"/>
              </a:rPr>
              <a:t>     call puts</a:t>
            </a: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addl</a:t>
            </a:r>
            <a:r>
              <a:rPr lang="en-US" altLang="zh-CN" dirty="0">
                <a:solidFill>
                  <a:srgbClr val="000000"/>
                </a:solidFill>
                <a:latin typeface="Arial" panose="020B0604020202020204" pitchFamily="34" charset="0"/>
              </a:rPr>
              <a:t> $16, %</a:t>
            </a:r>
            <a:r>
              <a:rPr lang="en-US" altLang="zh-CN" dirty="0" err="1">
                <a:solidFill>
                  <a:srgbClr val="000000"/>
                </a:solidFill>
                <a:latin typeface="Arial" panose="020B0604020202020204" pitchFamily="34" charset="0"/>
              </a:rPr>
              <a:t>esp</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movl</a:t>
            </a:r>
            <a:r>
              <a:rPr lang="en-US" altLang="zh-CN" dirty="0">
                <a:solidFill>
                  <a:srgbClr val="000000"/>
                </a:solidFill>
                <a:latin typeface="Arial" panose="020B0604020202020204" pitchFamily="34" charset="0"/>
              </a:rPr>
              <a:t> $0, %</a:t>
            </a:r>
            <a:r>
              <a:rPr lang="en-US" altLang="zh-CN" dirty="0" err="1">
                <a:solidFill>
                  <a:srgbClr val="000000"/>
                </a:solidFill>
                <a:latin typeface="Arial" panose="020B0604020202020204" pitchFamily="34" charset="0"/>
              </a:rPr>
              <a:t>eax</a:t>
            </a:r>
            <a:endParaRPr lang="en-US" altLang="zh-CN" dirty="0">
              <a:solidFill>
                <a:srgbClr val="000000"/>
              </a:solidFill>
              <a:latin typeface="Arial" panose="020B0604020202020204" pitchFamily="34" charset="0"/>
            </a:endParaRPr>
          </a:p>
          <a:p>
            <a:pPr fontAlgn="base">
              <a:spcBef>
                <a:spcPct val="0"/>
              </a:spcBef>
              <a:spcAft>
                <a:spcPct val="0"/>
              </a:spcAft>
            </a:pPr>
            <a:r>
              <a:rPr lang="en-US" altLang="zh-CN" dirty="0">
                <a:solidFill>
                  <a:srgbClr val="000000"/>
                </a:solidFill>
                <a:latin typeface="Arial" panose="020B0604020202020204" pitchFamily="34" charset="0"/>
              </a:rPr>
              <a:t>     leave</a:t>
            </a:r>
          </a:p>
          <a:p>
            <a:pPr fontAlgn="base">
              <a:spcBef>
                <a:spcPct val="0"/>
              </a:spcBef>
              <a:spcAft>
                <a:spcPct val="0"/>
              </a:spcAft>
            </a:pPr>
            <a:r>
              <a:rPr lang="en-US" altLang="zh-CN" dirty="0">
                <a:solidFill>
                  <a:srgbClr val="000000"/>
                </a:solidFill>
                <a:latin typeface="Arial" panose="020B0604020202020204" pitchFamily="34" charset="0"/>
              </a:rPr>
              <a:t>     ret</a:t>
            </a:r>
          </a:p>
          <a:p>
            <a:pPr fontAlgn="base">
              <a:spcBef>
                <a:spcPct val="0"/>
              </a:spcBef>
              <a:spcAft>
                <a:spcPct val="0"/>
              </a:spcAft>
            </a:pPr>
            <a:r>
              <a:rPr lang="en-US" altLang="zh-CN" dirty="0">
                <a:solidFill>
                  <a:srgbClr val="000000"/>
                </a:solidFill>
                <a:latin typeface="Arial" panose="020B0604020202020204" pitchFamily="34" charset="0"/>
              </a:rPr>
              <a:t>     .size	main, .-main</a:t>
            </a:r>
          </a:p>
          <a:p>
            <a:pPr fontAlgn="base">
              <a:spcBef>
                <a:spcPct val="0"/>
              </a:spcBef>
              <a:spcAft>
                <a:spcPct val="0"/>
              </a:spcAft>
            </a:pPr>
            <a:r>
              <a:rPr lang="en-US" altLang="zh-CN" dirty="0">
                <a:solidFill>
                  <a:srgbClr val="000000"/>
                </a:solidFill>
                <a:latin typeface="Arial" panose="020B0604020202020204" pitchFamily="34" charset="0"/>
              </a:rPr>
              <a:t>     .</a:t>
            </a:r>
            <a:r>
              <a:rPr lang="en-US" altLang="zh-CN" dirty="0" err="1">
                <a:solidFill>
                  <a:srgbClr val="000000"/>
                </a:solidFill>
                <a:latin typeface="Arial" panose="020B0604020202020204" pitchFamily="34" charset="0"/>
              </a:rPr>
              <a:t>ident</a:t>
            </a:r>
            <a:r>
              <a:rPr lang="en-US" altLang="zh-CN" dirty="0">
                <a:solidFill>
                  <a:srgbClr val="000000"/>
                </a:solidFill>
                <a:latin typeface="Arial" panose="020B0604020202020204" pitchFamily="34" charset="0"/>
              </a:rPr>
              <a:t>	"GCC: (GNU) 4.0.0 200X0Y19 (Red Hat 4.0.0-8)"</a:t>
            </a:r>
          </a:p>
          <a:p>
            <a:pPr fontAlgn="base">
              <a:spcBef>
                <a:spcPct val="0"/>
              </a:spcBef>
              <a:spcAft>
                <a:spcPct val="0"/>
              </a:spcAft>
            </a:pPr>
            <a:r>
              <a:rPr lang="en-US" altLang="zh-CN" dirty="0">
                <a:solidFill>
                  <a:srgbClr val="000000"/>
                </a:solidFill>
                <a:latin typeface="Arial" panose="020B0604020202020204" pitchFamily="34" charset="0"/>
              </a:rPr>
              <a:t>     .section	.note.GNU-stack,"",@</a:t>
            </a:r>
            <a:r>
              <a:rPr lang="en-US" altLang="zh-CN" dirty="0" err="1">
                <a:solidFill>
                  <a:srgbClr val="000000"/>
                </a:solidFill>
                <a:latin typeface="Arial" panose="020B0604020202020204" pitchFamily="34" charset="0"/>
              </a:rPr>
              <a:t>progbits</a:t>
            </a:r>
            <a:endParaRPr lang="en-US" altLang="zh-CN" dirty="0">
              <a:solidFill>
                <a:srgbClr val="000000"/>
              </a:solidFill>
              <a:latin typeface="Arial" panose="020B0604020202020204" pitchFamily="34" charset="0"/>
            </a:endParaRPr>
          </a:p>
          <a:p>
            <a:pPr fontAlgn="base">
              <a:spcBef>
                <a:spcPct val="50000"/>
              </a:spcBef>
              <a:spcAft>
                <a:spcPct val="0"/>
              </a:spcAft>
            </a:pPr>
            <a:endParaRPr lang="en-US" altLang="zh-CN" dirty="0">
              <a:solidFill>
                <a:srgbClr val="000000"/>
              </a:solidFill>
              <a:latin typeface="Arial" panose="020B0604020202020204" pitchFamily="34" charset="0"/>
            </a:endParaRPr>
          </a:p>
        </p:txBody>
      </p:sp>
    </p:spTree>
    <p:extLst>
      <p:ext uri="{BB962C8B-B14F-4D97-AF65-F5344CB8AC3E}">
        <p14:creationId xmlns:p14="http://schemas.microsoft.com/office/powerpoint/2010/main" val="287068101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常用选项</a:t>
            </a:r>
            <a:endParaRPr lang="zh-CN" alt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 y="1489303"/>
            <a:ext cx="8370888" cy="3057525"/>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6"/>
          <p:cNvSpPr txBox="1">
            <a:spLocks noChangeArrowheads="1"/>
          </p:cNvSpPr>
          <p:nvPr/>
        </p:nvSpPr>
        <p:spPr bwMode="auto">
          <a:xfrm>
            <a:off x="838200" y="4971142"/>
            <a:ext cx="838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t>[</a:t>
            </a:r>
            <a:r>
              <a:rPr lang="en-US" altLang="zh-CN" sz="2000" dirty="0" err="1"/>
              <a:t>root@localhost</a:t>
            </a:r>
            <a:r>
              <a:rPr lang="en-US" altLang="zh-CN" sz="2000" dirty="0"/>
              <a:t> </a:t>
            </a:r>
            <a:r>
              <a:rPr lang="en-US" altLang="zh-CN" sz="2000" dirty="0" err="1"/>
              <a:t>gcc</a:t>
            </a:r>
            <a:r>
              <a:rPr lang="en-US" altLang="zh-CN" sz="2000" dirty="0"/>
              <a:t>] </a:t>
            </a:r>
            <a:r>
              <a:rPr lang="en-US" altLang="zh-CN" sz="2000" b="1" dirty="0" err="1"/>
              <a:t>gcc</a:t>
            </a:r>
            <a:r>
              <a:rPr lang="en-US" altLang="zh-CN" sz="2000" b="1" dirty="0"/>
              <a:t>  hello1.c  –I  /root/workplace/</a:t>
            </a:r>
            <a:r>
              <a:rPr lang="en-US" altLang="zh-CN" sz="2000" b="1" dirty="0" err="1"/>
              <a:t>gcc</a:t>
            </a:r>
            <a:r>
              <a:rPr lang="en-US" altLang="zh-CN" sz="2000" b="1" dirty="0"/>
              <a:t>/  -o  hello1</a:t>
            </a:r>
          </a:p>
        </p:txBody>
      </p:sp>
    </p:spTree>
    <p:extLst>
      <p:ext uri="{BB962C8B-B14F-4D97-AF65-F5344CB8AC3E}">
        <p14:creationId xmlns:p14="http://schemas.microsoft.com/office/powerpoint/2010/main" val="227635508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a:t>
            </a:r>
            <a:r>
              <a:rPr lang="zh-CN" altLang="en-US" dirty="0" smtClean="0"/>
              <a:t>库选项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350" y="1131206"/>
            <a:ext cx="9368490" cy="34979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txBox="1">
            <a:spLocks/>
          </p:cNvSpPr>
          <p:nvPr/>
        </p:nvSpPr>
        <p:spPr>
          <a:xfrm>
            <a:off x="880835" y="4648200"/>
            <a:ext cx="10768240" cy="2090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smtClean="0"/>
              <a:t>函数库分为静态库和动态库两种，静态库是一系列的目标文件（</a:t>
            </a:r>
            <a:r>
              <a:rPr lang="en-US" altLang="zh-CN" sz="2000" dirty="0" smtClean="0"/>
              <a:t>.o</a:t>
            </a:r>
            <a:r>
              <a:rPr lang="zh-CN" altLang="en-US" sz="2000" dirty="0" smtClean="0"/>
              <a:t>文件）的归档文件（文件名格式为</a:t>
            </a:r>
            <a:r>
              <a:rPr lang="en-US" altLang="zh-CN" sz="2000" dirty="0" err="1" smtClean="0"/>
              <a:t>lib</a:t>
            </a:r>
            <a:r>
              <a:rPr lang="en-US" altLang="zh-CN" sz="2000" i="1" dirty="0" err="1" smtClean="0"/>
              <a:t>name</a:t>
            </a:r>
            <a:r>
              <a:rPr lang="en-US" altLang="zh-CN" sz="2000" dirty="0" err="1" smtClean="0"/>
              <a:t>.a</a:t>
            </a:r>
            <a:r>
              <a:rPr lang="zh-CN" altLang="en-US" sz="2000" dirty="0" smtClean="0"/>
              <a:t>），如果在编译某个程序时链接静态库，则链接器将会搜索静态库，从中提取出它所需要的目标文件并直接拷贝到该程序的可执行二进制文件</a:t>
            </a:r>
            <a:r>
              <a:rPr lang="en-US" altLang="zh-CN" sz="2000" dirty="0" smtClean="0"/>
              <a:t>(ELF</a:t>
            </a:r>
            <a:r>
              <a:rPr lang="zh-CN" altLang="en-US" sz="2000" dirty="0" smtClean="0"/>
              <a:t>格式文件</a:t>
            </a:r>
            <a:r>
              <a:rPr lang="en-US" altLang="zh-CN" sz="2000" dirty="0" smtClean="0"/>
              <a:t>)</a:t>
            </a:r>
            <a:r>
              <a:rPr lang="zh-CN" altLang="en-US" sz="2000" dirty="0" smtClean="0"/>
              <a:t>之中；动态库（文件名格式为</a:t>
            </a:r>
            <a:r>
              <a:rPr lang="en-US" altLang="zh-CN" sz="2000" dirty="0" smtClean="0"/>
              <a:t>lib</a:t>
            </a:r>
            <a:r>
              <a:rPr lang="en-US" altLang="zh-CN" sz="2000" i="1" dirty="0" smtClean="0"/>
              <a:t>name</a:t>
            </a:r>
            <a:r>
              <a:rPr lang="en-US" altLang="zh-CN" sz="2000" dirty="0" smtClean="0"/>
              <a:t>.so[</a:t>
            </a:r>
            <a:r>
              <a:rPr lang="en-US" altLang="zh-CN" sz="2000" i="1" dirty="0" smtClean="0"/>
              <a:t>.</a:t>
            </a:r>
            <a:r>
              <a:rPr lang="zh-CN" altLang="en-US" sz="2000" i="1" dirty="0" smtClean="0"/>
              <a:t>主版本号</a:t>
            </a:r>
            <a:r>
              <a:rPr lang="en-US" altLang="zh-CN" sz="2000" i="1" dirty="0" smtClean="0"/>
              <a:t>.</a:t>
            </a:r>
            <a:r>
              <a:rPr lang="zh-CN" altLang="en-US" sz="2000" i="1" dirty="0" smtClean="0"/>
              <a:t>次版本号</a:t>
            </a:r>
            <a:r>
              <a:rPr lang="en-US" altLang="zh-CN" sz="2000" i="1" dirty="0" smtClean="0"/>
              <a:t>.</a:t>
            </a:r>
            <a:r>
              <a:rPr lang="zh-CN" altLang="en-US" sz="2000" i="1" dirty="0" smtClean="0"/>
              <a:t>发行号</a:t>
            </a:r>
            <a:r>
              <a:rPr lang="en-US" altLang="zh-CN" sz="2000" dirty="0" smtClean="0"/>
              <a:t>]</a:t>
            </a:r>
            <a:r>
              <a:rPr lang="zh-CN" altLang="en-US" sz="2000" dirty="0" smtClean="0"/>
              <a:t>）在程序编译时并不会被链接到目标代码中，而是在程序运行时才被载入。 </a:t>
            </a:r>
            <a:endParaRPr lang="zh-CN" altLang="en-US" sz="2000" dirty="0"/>
          </a:p>
        </p:txBody>
      </p:sp>
    </p:spTree>
    <p:extLst>
      <p:ext uri="{BB962C8B-B14F-4D97-AF65-F5344CB8AC3E}">
        <p14:creationId xmlns:p14="http://schemas.microsoft.com/office/powerpoint/2010/main" val="31626561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函数库的创建与使用（</a:t>
            </a:r>
            <a:r>
              <a:rPr lang="en-US" altLang="zh-CN" dirty="0" smtClean="0"/>
              <a:t>1</a:t>
            </a:r>
            <a:r>
              <a:rPr lang="zh-CN" altLang="en-US" dirty="0" smtClean="0"/>
              <a:t>）</a:t>
            </a:r>
            <a:endParaRPr lang="zh-CN" altLang="en-US" dirty="0"/>
          </a:p>
        </p:txBody>
      </p:sp>
      <p:sp>
        <p:nvSpPr>
          <p:cNvPr id="4" name="Rectangle 7"/>
          <p:cNvSpPr>
            <a:spLocks noChangeArrowheads="1"/>
          </p:cNvSpPr>
          <p:nvPr/>
        </p:nvSpPr>
        <p:spPr bwMode="auto">
          <a:xfrm>
            <a:off x="1052286" y="1654730"/>
            <a:ext cx="3886200" cy="42576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b="1" dirty="0"/>
              <a:t>/* </a:t>
            </a:r>
            <a:r>
              <a:rPr lang="en-US" altLang="zh-CN" sz="1400" b="1" dirty="0" err="1"/>
              <a:t>unsgn_pow.c</a:t>
            </a:r>
            <a:r>
              <a:rPr lang="zh-CN" altLang="en-US" sz="1400" b="1" dirty="0"/>
              <a:t>：库程序 *</a:t>
            </a:r>
            <a:r>
              <a:rPr lang="en-US" altLang="zh-CN" sz="1400" b="1" dirty="0"/>
              <a:t>/</a:t>
            </a:r>
            <a:endParaRPr lang="en-US" altLang="zh-CN" sz="1400" dirty="0"/>
          </a:p>
          <a:p>
            <a:r>
              <a:rPr lang="en-US" altLang="zh-CN" sz="1400" dirty="0"/>
              <a:t>unsigned long </a:t>
            </a:r>
            <a:r>
              <a:rPr lang="en-US" altLang="zh-CN" sz="1400" dirty="0" err="1"/>
              <a:t>long</a:t>
            </a:r>
            <a:r>
              <a:rPr lang="en-US" altLang="zh-CN" sz="1400" dirty="0"/>
              <a:t> </a:t>
            </a:r>
            <a:r>
              <a:rPr lang="en-US" altLang="zh-CN" sz="1400" b="1" dirty="0" err="1"/>
              <a:t>unsgn_pow</a:t>
            </a:r>
            <a:r>
              <a:rPr lang="en-US" altLang="zh-CN" sz="1400" dirty="0"/>
              <a:t>(unsigned </a:t>
            </a:r>
            <a:r>
              <a:rPr lang="en-US" altLang="zh-CN" sz="1400" dirty="0" err="1"/>
              <a:t>int</a:t>
            </a:r>
            <a:r>
              <a:rPr lang="en-US" altLang="zh-CN" sz="1400" dirty="0"/>
              <a:t> x, unsigned </a:t>
            </a:r>
            <a:r>
              <a:rPr lang="en-US" altLang="zh-CN" sz="1400" dirty="0" err="1"/>
              <a:t>int</a:t>
            </a:r>
            <a:r>
              <a:rPr lang="en-US" altLang="zh-CN" sz="1400" dirty="0"/>
              <a:t> y)</a:t>
            </a:r>
          </a:p>
          <a:p>
            <a:r>
              <a:rPr lang="en-US" altLang="zh-CN" sz="1400" dirty="0"/>
              <a:t>{</a:t>
            </a:r>
          </a:p>
          <a:p>
            <a:r>
              <a:rPr lang="en-US" altLang="zh-CN" dirty="0"/>
              <a:t>   </a:t>
            </a:r>
            <a:r>
              <a:rPr lang="en-US" altLang="zh-CN" sz="1400" dirty="0"/>
              <a:t>unsigned long </a:t>
            </a:r>
            <a:r>
              <a:rPr lang="en-US" altLang="zh-CN" sz="1400" dirty="0" err="1"/>
              <a:t>long</a:t>
            </a:r>
            <a:r>
              <a:rPr lang="en-US" altLang="zh-CN" sz="1400" dirty="0"/>
              <a:t> res = 1;        </a:t>
            </a:r>
          </a:p>
          <a:p>
            <a:r>
              <a:rPr lang="en-US" altLang="zh-CN" dirty="0"/>
              <a:t>   </a:t>
            </a:r>
            <a:r>
              <a:rPr lang="en-US" altLang="zh-CN" sz="1400" dirty="0"/>
              <a:t>if (y == 0)</a:t>
            </a:r>
          </a:p>
          <a:p>
            <a:r>
              <a:rPr lang="en-US" altLang="zh-CN" sz="1400" dirty="0"/>
              <a:t>    {</a:t>
            </a:r>
          </a:p>
          <a:p>
            <a:r>
              <a:rPr lang="en-US" altLang="zh-CN" sz="1400" dirty="0"/>
              <a:t>        res = 1;</a:t>
            </a:r>
          </a:p>
          <a:p>
            <a:r>
              <a:rPr lang="en-US" altLang="zh-CN" sz="1400" dirty="0"/>
              <a:t>    }</a:t>
            </a:r>
          </a:p>
          <a:p>
            <a:r>
              <a:rPr lang="en-US" altLang="zh-CN" sz="1400" dirty="0"/>
              <a:t>    else if (y == 1)</a:t>
            </a:r>
          </a:p>
          <a:p>
            <a:r>
              <a:rPr lang="en-US" altLang="zh-CN" sz="1400" dirty="0"/>
              <a:t>    {</a:t>
            </a:r>
          </a:p>
          <a:p>
            <a:r>
              <a:rPr lang="en-US" altLang="zh-CN" sz="1400" dirty="0"/>
              <a:t>        res = x;</a:t>
            </a:r>
          </a:p>
          <a:p>
            <a:r>
              <a:rPr lang="en-US" altLang="zh-CN" sz="1400" dirty="0"/>
              <a:t>    </a:t>
            </a:r>
            <a:r>
              <a:rPr lang="fr-FR" altLang="zh-CN" sz="1400" dirty="0"/>
              <a:t>}</a:t>
            </a:r>
          </a:p>
          <a:p>
            <a:r>
              <a:rPr lang="fr-FR" altLang="zh-CN" sz="1400" dirty="0"/>
              <a:t>    else</a:t>
            </a:r>
          </a:p>
          <a:p>
            <a:r>
              <a:rPr lang="fr-FR" altLang="zh-CN" sz="1400" dirty="0"/>
              <a:t>    {</a:t>
            </a:r>
          </a:p>
          <a:p>
            <a:r>
              <a:rPr lang="fr-FR" altLang="zh-CN" sz="1400" dirty="0"/>
              <a:t>        res = x * unsgn_pow(x, y - 1);</a:t>
            </a:r>
          </a:p>
          <a:p>
            <a:r>
              <a:rPr lang="fr-FR" altLang="zh-CN" sz="1400" dirty="0"/>
              <a:t>    </a:t>
            </a:r>
            <a:r>
              <a:rPr lang="en-US" altLang="zh-CN" sz="1400" dirty="0"/>
              <a:t>}</a:t>
            </a:r>
          </a:p>
          <a:p>
            <a:r>
              <a:rPr lang="en-US" altLang="zh-CN" sz="1400" dirty="0"/>
              <a:t>    return res;</a:t>
            </a:r>
          </a:p>
          <a:p>
            <a:r>
              <a:rPr lang="en-US" altLang="zh-CN" sz="1400" dirty="0"/>
              <a:t>}</a:t>
            </a:r>
          </a:p>
        </p:txBody>
      </p:sp>
      <p:sp>
        <p:nvSpPr>
          <p:cNvPr id="5" name="Rectangle 9"/>
          <p:cNvSpPr>
            <a:spLocks noChangeArrowheads="1"/>
          </p:cNvSpPr>
          <p:nvPr/>
        </p:nvSpPr>
        <p:spPr bwMode="auto">
          <a:xfrm>
            <a:off x="5152571" y="1654730"/>
            <a:ext cx="6333671" cy="4185761"/>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187007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b="1" dirty="0"/>
              <a:t>/* </a:t>
            </a:r>
            <a:r>
              <a:rPr lang="en-US" altLang="zh-CN" sz="1400" b="1" dirty="0" err="1"/>
              <a:t>pow_test.c</a:t>
            </a:r>
            <a:r>
              <a:rPr lang="en-US" altLang="zh-CN" sz="1400" b="1" dirty="0"/>
              <a:t> */</a:t>
            </a:r>
            <a:endParaRPr lang="en-US" altLang="zh-CN" sz="1400" dirty="0"/>
          </a:p>
          <a:p>
            <a:r>
              <a:rPr lang="en-US" altLang="zh-CN" sz="1400" dirty="0"/>
              <a:t>#include &lt;</a:t>
            </a:r>
            <a:r>
              <a:rPr lang="en-US" altLang="zh-CN" sz="1400" dirty="0" err="1"/>
              <a:t>stdio.h</a:t>
            </a:r>
            <a:r>
              <a:rPr lang="en-US" altLang="zh-CN" sz="1400" dirty="0"/>
              <a:t>&gt;</a:t>
            </a:r>
          </a:p>
          <a:p>
            <a:r>
              <a:rPr lang="en-US" altLang="zh-CN" sz="1400" dirty="0"/>
              <a:t>#include &lt;</a:t>
            </a:r>
            <a:r>
              <a:rPr lang="en-US" altLang="zh-CN" sz="1400" dirty="0" err="1"/>
              <a:t>stdlib.h</a:t>
            </a:r>
            <a:r>
              <a:rPr lang="en-US" altLang="zh-CN" sz="1400" dirty="0"/>
              <a:t>&gt;</a:t>
            </a:r>
          </a:p>
          <a:p>
            <a:r>
              <a:rPr lang="en-US" altLang="zh-CN" sz="1400" dirty="0" err="1"/>
              <a:t>int</a:t>
            </a:r>
            <a:r>
              <a:rPr lang="en-US" altLang="zh-CN" sz="1400" dirty="0"/>
              <a:t> main(</a:t>
            </a:r>
            <a:r>
              <a:rPr lang="en-US" altLang="zh-CN" sz="1400" dirty="0" err="1"/>
              <a:t>int</a:t>
            </a:r>
            <a:r>
              <a:rPr lang="en-US" altLang="zh-CN" sz="1400" dirty="0"/>
              <a:t> </a:t>
            </a:r>
            <a:r>
              <a:rPr lang="en-US" altLang="zh-CN" sz="1400" dirty="0" err="1"/>
              <a:t>argc</a:t>
            </a:r>
            <a:r>
              <a:rPr lang="en-US" altLang="zh-CN" sz="1400" dirty="0"/>
              <a:t>, char *</a:t>
            </a:r>
            <a:r>
              <a:rPr lang="en-US" altLang="zh-CN" sz="1400" dirty="0" err="1"/>
              <a:t>argv</a:t>
            </a:r>
            <a:r>
              <a:rPr lang="en-US" altLang="zh-CN" sz="1400" dirty="0"/>
              <a:t>[])</a:t>
            </a:r>
          </a:p>
          <a:p>
            <a:r>
              <a:rPr lang="en-US" altLang="zh-CN" sz="1400" dirty="0"/>
              <a:t>{</a:t>
            </a:r>
          </a:p>
          <a:p>
            <a:r>
              <a:rPr lang="en-US" altLang="zh-CN" sz="1400" dirty="0"/>
              <a:t>    unsigned </a:t>
            </a:r>
            <a:r>
              <a:rPr lang="en-US" altLang="zh-CN" sz="1400" dirty="0" err="1"/>
              <a:t>int</a:t>
            </a:r>
            <a:r>
              <a:rPr lang="en-US" altLang="zh-CN" sz="1400" dirty="0"/>
              <a:t> x, y;</a:t>
            </a:r>
          </a:p>
          <a:p>
            <a:r>
              <a:rPr lang="en-US" altLang="zh-CN" sz="1400" dirty="0"/>
              <a:t>    unsigned long </a:t>
            </a:r>
            <a:r>
              <a:rPr lang="en-US" altLang="zh-CN" sz="1400" dirty="0" err="1"/>
              <a:t>long</a:t>
            </a:r>
            <a:r>
              <a:rPr lang="en-US" altLang="zh-CN" sz="1400" dirty="0"/>
              <a:t> res;</a:t>
            </a:r>
          </a:p>
          <a:p>
            <a:r>
              <a:rPr lang="en-US" altLang="zh-CN" sz="1400" dirty="0"/>
              <a:t>    if ((</a:t>
            </a:r>
            <a:r>
              <a:rPr lang="en-US" altLang="zh-CN" sz="1400" dirty="0" err="1"/>
              <a:t>argc</a:t>
            </a:r>
            <a:r>
              <a:rPr lang="en-US" altLang="zh-CN" sz="1400" dirty="0"/>
              <a:t> &lt; 3) || (</a:t>
            </a:r>
            <a:r>
              <a:rPr lang="en-US" altLang="zh-CN" sz="1400" dirty="0" err="1"/>
              <a:t>sscanf</a:t>
            </a:r>
            <a:r>
              <a:rPr lang="en-US" altLang="zh-CN" sz="1400" dirty="0"/>
              <a:t>(</a:t>
            </a:r>
            <a:r>
              <a:rPr lang="en-US" altLang="zh-CN" sz="1400" dirty="0" err="1"/>
              <a:t>argv</a:t>
            </a:r>
            <a:r>
              <a:rPr lang="en-US" altLang="zh-CN" sz="1400" dirty="0"/>
              <a:t>[1], "%u", &amp;x) != 1) </a:t>
            </a:r>
          </a:p>
          <a:p>
            <a:r>
              <a:rPr lang="en-US" altLang="zh-CN" sz="1400" dirty="0"/>
              <a:t>                           || (</a:t>
            </a:r>
            <a:r>
              <a:rPr lang="en-US" altLang="zh-CN" sz="1400" dirty="0" err="1"/>
              <a:t>sscanf</a:t>
            </a:r>
            <a:r>
              <a:rPr lang="en-US" altLang="zh-CN" sz="1400" dirty="0"/>
              <a:t>(</a:t>
            </a:r>
            <a:r>
              <a:rPr lang="en-US" altLang="zh-CN" sz="1400" dirty="0" err="1"/>
              <a:t>argv</a:t>
            </a:r>
            <a:r>
              <a:rPr lang="en-US" altLang="zh-CN" sz="1400" dirty="0"/>
              <a:t>[2], "%u", &amp;y)) != 1)</a:t>
            </a:r>
          </a:p>
          <a:p>
            <a:r>
              <a:rPr lang="en-US" altLang="zh-CN" sz="1400" dirty="0"/>
              <a:t>    </a:t>
            </a:r>
            <a:r>
              <a:rPr lang="fr-FR" altLang="zh-CN" sz="1400" dirty="0"/>
              <a:t>{</a:t>
            </a:r>
          </a:p>
          <a:p>
            <a:r>
              <a:rPr lang="fr-FR" altLang="zh-CN" sz="1400" dirty="0"/>
              <a:t>        printf("Usage: pow base exponent\n");</a:t>
            </a:r>
          </a:p>
          <a:p>
            <a:r>
              <a:rPr lang="fr-FR" altLang="zh-CN" sz="1400" dirty="0"/>
              <a:t>        exit(1);</a:t>
            </a:r>
          </a:p>
          <a:p>
            <a:r>
              <a:rPr lang="fr-FR" altLang="zh-CN" sz="1400" dirty="0"/>
              <a:t>    }</a:t>
            </a:r>
          </a:p>
          <a:p>
            <a:endParaRPr lang="fr-FR" altLang="zh-CN" sz="1400" dirty="0"/>
          </a:p>
          <a:p>
            <a:r>
              <a:rPr lang="fr-FR" altLang="zh-CN" sz="1400" dirty="0"/>
              <a:t>    res = unsgn_pow(x, y);</a:t>
            </a:r>
          </a:p>
          <a:p>
            <a:r>
              <a:rPr lang="fr-FR" altLang="zh-CN" sz="1400" dirty="0"/>
              <a:t>    printf("%u ^ %u = %u\n", x, y, res);</a:t>
            </a:r>
          </a:p>
          <a:p>
            <a:r>
              <a:rPr lang="fr-FR" altLang="zh-CN" sz="1400" dirty="0"/>
              <a:t>    exit(0);</a:t>
            </a:r>
          </a:p>
          <a:p>
            <a:r>
              <a:rPr lang="fr-FR" altLang="zh-CN" sz="1400" dirty="0"/>
              <a:t>}</a:t>
            </a:r>
          </a:p>
          <a:p>
            <a:endParaRPr lang="fr-FR" altLang="zh-CN" sz="1400" dirty="0"/>
          </a:p>
        </p:txBody>
      </p:sp>
    </p:spTree>
    <p:extLst>
      <p:ext uri="{BB962C8B-B14F-4D97-AF65-F5344CB8AC3E}">
        <p14:creationId xmlns:p14="http://schemas.microsoft.com/office/powerpoint/2010/main" val="31770503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静态库</a:t>
            </a:r>
            <a:endParaRPr lang="zh-CN" altLang="en-US" dirty="0"/>
          </a:p>
        </p:txBody>
      </p:sp>
      <p:sp>
        <p:nvSpPr>
          <p:cNvPr id="3" name="内容占位符 2"/>
          <p:cNvSpPr>
            <a:spLocks noGrp="1"/>
          </p:cNvSpPr>
          <p:nvPr>
            <p:ph idx="1"/>
          </p:nvPr>
        </p:nvSpPr>
        <p:spPr/>
        <p:txBody>
          <a:bodyPr/>
          <a:lstStyle/>
          <a:p>
            <a:pPr>
              <a:buFont typeface="Wingdings 3" panose="05040102010807070707" pitchFamily="18" charset="2"/>
              <a:buNone/>
            </a:pPr>
            <a:r>
              <a:rPr lang="en-US" altLang="zh-CN" b="1" dirty="0" smtClean="0"/>
              <a:t>$ </a:t>
            </a:r>
            <a:r>
              <a:rPr lang="en-US" altLang="zh-CN" b="1" dirty="0" err="1" smtClean="0"/>
              <a:t>gcc</a:t>
            </a:r>
            <a:r>
              <a:rPr lang="en-US" altLang="zh-CN" b="1" dirty="0" smtClean="0"/>
              <a:t>  -c  </a:t>
            </a:r>
            <a:r>
              <a:rPr lang="en-US" altLang="zh-CN" b="1" dirty="0" err="1" smtClean="0"/>
              <a:t>unsgn_pow.c</a:t>
            </a:r>
            <a:r>
              <a:rPr lang="en-US" altLang="zh-CN" dirty="0" smtClean="0"/>
              <a:t> </a:t>
            </a:r>
          </a:p>
          <a:p>
            <a:pPr>
              <a:buFont typeface="Wingdings 3" panose="05040102010807070707" pitchFamily="18" charset="2"/>
              <a:buNone/>
            </a:pPr>
            <a:r>
              <a:rPr lang="en-US" altLang="zh-CN" b="1" dirty="0" smtClean="0"/>
              <a:t>$ </a:t>
            </a:r>
            <a:r>
              <a:rPr lang="en-US" altLang="zh-CN" b="1" dirty="0" err="1" smtClean="0"/>
              <a:t>ar</a:t>
            </a:r>
            <a:r>
              <a:rPr lang="en-US" altLang="zh-CN" b="1" dirty="0" smtClean="0"/>
              <a:t>  </a:t>
            </a:r>
            <a:r>
              <a:rPr lang="en-US" altLang="zh-CN" b="1" dirty="0" err="1" smtClean="0"/>
              <a:t>rcsv</a:t>
            </a:r>
            <a:r>
              <a:rPr lang="en-US" altLang="zh-CN" b="1" dirty="0" smtClean="0"/>
              <a:t>  </a:t>
            </a:r>
            <a:r>
              <a:rPr lang="en-US" altLang="zh-CN" b="1" dirty="0" err="1" smtClean="0"/>
              <a:t>libpow.a</a:t>
            </a:r>
            <a:r>
              <a:rPr lang="en-US" altLang="zh-CN" b="1" dirty="0" smtClean="0"/>
              <a:t>  </a:t>
            </a:r>
            <a:r>
              <a:rPr lang="en-US" altLang="zh-CN" b="1" dirty="0" err="1" smtClean="0"/>
              <a:t>unsgn_pow.o</a:t>
            </a:r>
            <a:endParaRPr lang="en-US" altLang="zh-CN" b="1" dirty="0" smtClean="0"/>
          </a:p>
          <a:p>
            <a:pPr>
              <a:buFont typeface="Wingdings 3" panose="05040102010807070707" pitchFamily="18" charset="2"/>
              <a:buNone/>
            </a:pPr>
            <a:r>
              <a:rPr lang="en-US" altLang="zh-CN" b="1" dirty="0" smtClean="0"/>
              <a:t>		a - </a:t>
            </a:r>
            <a:r>
              <a:rPr lang="en-US" altLang="zh-CN" b="1" dirty="0" err="1" smtClean="0"/>
              <a:t>unsgn_pow.o</a:t>
            </a:r>
            <a:endParaRPr lang="en-US" altLang="zh-CN" dirty="0" smtClean="0"/>
          </a:p>
          <a:p>
            <a:pPr>
              <a:buFont typeface="Wingdings 3" panose="05040102010807070707" pitchFamily="18" charset="2"/>
              <a:buNone/>
            </a:pPr>
            <a:r>
              <a:rPr lang="en-US" altLang="zh-CN" dirty="0" smtClean="0"/>
              <a:t>$  </a:t>
            </a:r>
            <a:r>
              <a:rPr lang="en-US" altLang="zh-CN" b="1" dirty="0" err="1" smtClean="0"/>
              <a:t>gcc</a:t>
            </a:r>
            <a:r>
              <a:rPr lang="en-US" altLang="zh-CN" b="1" dirty="0" smtClean="0"/>
              <a:t>  -o  </a:t>
            </a:r>
            <a:r>
              <a:rPr lang="en-US" altLang="zh-CN" b="1" dirty="0" err="1" smtClean="0"/>
              <a:t>pow_test</a:t>
            </a:r>
            <a:r>
              <a:rPr lang="en-US" altLang="zh-CN" b="1" dirty="0" smtClean="0"/>
              <a:t> </a:t>
            </a:r>
            <a:r>
              <a:rPr lang="en-US" altLang="zh-CN" b="1" dirty="0" err="1" smtClean="0"/>
              <a:t>pow_test.c</a:t>
            </a:r>
            <a:r>
              <a:rPr lang="en-US" altLang="zh-CN" b="1" dirty="0" smtClean="0"/>
              <a:t>  -L.  </a:t>
            </a:r>
            <a:r>
              <a:rPr lang="en-US" altLang="zh-CN" b="1" dirty="0" smtClean="0">
                <a:latin typeface="Arial" panose="020B0604020202020204" pitchFamily="34" charset="0"/>
              </a:rPr>
              <a:t>–</a:t>
            </a:r>
            <a:r>
              <a:rPr lang="en-US" altLang="zh-CN" b="1" dirty="0" err="1" smtClean="0"/>
              <a:t>lpow</a:t>
            </a:r>
            <a:endParaRPr lang="en-US" altLang="zh-CN" dirty="0" smtClean="0"/>
          </a:p>
          <a:p>
            <a:pPr>
              <a:buFont typeface="Wingdings 3" panose="05040102010807070707" pitchFamily="18" charset="2"/>
              <a:buNone/>
            </a:pPr>
            <a:r>
              <a:rPr lang="en-US" altLang="zh-CN" b="1" dirty="0" smtClean="0"/>
              <a:t>$ ./</a:t>
            </a:r>
            <a:r>
              <a:rPr lang="en-US" altLang="zh-CN" b="1" dirty="0" err="1" smtClean="0"/>
              <a:t>pow_test</a:t>
            </a:r>
            <a:r>
              <a:rPr lang="en-US" altLang="zh-CN" b="1" dirty="0" smtClean="0"/>
              <a:t>   2   10</a:t>
            </a:r>
          </a:p>
          <a:p>
            <a:pPr>
              <a:buFont typeface="Wingdings 3" panose="05040102010807070707" pitchFamily="18" charset="2"/>
              <a:buNone/>
            </a:pPr>
            <a:r>
              <a:rPr lang="en-US" altLang="zh-CN" b="1" dirty="0" smtClean="0"/>
              <a:t>		2 ^ 10 = 1024</a:t>
            </a:r>
            <a:r>
              <a:rPr lang="en-US" altLang="zh-CN" dirty="0" smtClean="0"/>
              <a:t> </a:t>
            </a:r>
          </a:p>
          <a:p>
            <a:endParaRPr lang="zh-CN" altLang="en-US" dirty="0"/>
          </a:p>
        </p:txBody>
      </p:sp>
    </p:spTree>
    <p:extLst>
      <p:ext uri="{BB962C8B-B14F-4D97-AF65-F5344CB8AC3E}">
        <p14:creationId xmlns:p14="http://schemas.microsoft.com/office/powerpoint/2010/main" val="413155748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动态库</a:t>
            </a:r>
            <a:endParaRPr lang="zh-CN" altLang="en-US" dirty="0"/>
          </a:p>
        </p:txBody>
      </p:sp>
      <p:sp>
        <p:nvSpPr>
          <p:cNvPr id="3" name="内容占位符 2"/>
          <p:cNvSpPr>
            <a:spLocks noGrp="1"/>
          </p:cNvSpPr>
          <p:nvPr>
            <p:ph idx="1"/>
          </p:nvPr>
        </p:nvSpPr>
        <p:spPr/>
        <p:txBody>
          <a:bodyPr>
            <a:normAutofit fontScale="92500" lnSpcReduction="10000"/>
          </a:bodyPr>
          <a:lstStyle/>
          <a:p>
            <a:pPr>
              <a:buNone/>
            </a:pPr>
            <a:r>
              <a:rPr lang="en-US" altLang="zh-CN" b="1" dirty="0" smtClean="0"/>
              <a:t>$ </a:t>
            </a:r>
            <a:r>
              <a:rPr lang="en-US" altLang="zh-CN" b="1" dirty="0" err="1" smtClean="0"/>
              <a:t>gcc</a:t>
            </a:r>
            <a:r>
              <a:rPr lang="en-US" altLang="zh-CN" b="1" dirty="0" smtClean="0"/>
              <a:t>  -</a:t>
            </a:r>
            <a:r>
              <a:rPr lang="en-US" altLang="zh-CN" b="1" dirty="0" err="1" smtClean="0"/>
              <a:t>fPIC</a:t>
            </a:r>
            <a:r>
              <a:rPr lang="en-US" altLang="zh-CN" b="1" dirty="0" smtClean="0"/>
              <a:t>  -Wall  -c  </a:t>
            </a:r>
            <a:r>
              <a:rPr lang="en-US" altLang="zh-CN" b="1" dirty="0" err="1" smtClean="0"/>
              <a:t>unsgn_pow.c</a:t>
            </a:r>
            <a:endParaRPr lang="en-US" altLang="zh-CN" dirty="0" smtClean="0"/>
          </a:p>
          <a:p>
            <a:pPr>
              <a:buNone/>
            </a:pPr>
            <a:r>
              <a:rPr lang="en-US" altLang="zh-CN" b="1" dirty="0" smtClean="0"/>
              <a:t>$ </a:t>
            </a:r>
            <a:r>
              <a:rPr lang="en-US" altLang="zh-CN" b="1" dirty="0" err="1" smtClean="0"/>
              <a:t>gcc</a:t>
            </a:r>
            <a:r>
              <a:rPr lang="en-US" altLang="zh-CN" b="1" dirty="0" smtClean="0"/>
              <a:t>  -shared  -o  libpow.so </a:t>
            </a:r>
            <a:r>
              <a:rPr lang="en-US" altLang="zh-CN" b="1" dirty="0" err="1" smtClean="0"/>
              <a:t>unsgn_pow.o</a:t>
            </a:r>
            <a:endParaRPr lang="en-US" altLang="zh-CN" dirty="0" smtClean="0"/>
          </a:p>
          <a:p>
            <a:pPr>
              <a:buNone/>
            </a:pPr>
            <a:r>
              <a:rPr lang="en-US" altLang="zh-CN" b="1" dirty="0" smtClean="0"/>
              <a:t>$ </a:t>
            </a:r>
            <a:r>
              <a:rPr lang="en-US" altLang="zh-CN" b="1" dirty="0" err="1" smtClean="0"/>
              <a:t>gcc</a:t>
            </a:r>
            <a:r>
              <a:rPr lang="en-US" altLang="zh-CN" b="1" dirty="0" smtClean="0"/>
              <a:t>  -o  </a:t>
            </a:r>
            <a:r>
              <a:rPr lang="en-US" altLang="zh-CN" b="1" dirty="0" err="1" smtClean="0"/>
              <a:t>pow_test</a:t>
            </a:r>
            <a:r>
              <a:rPr lang="en-US" altLang="zh-CN" b="1" dirty="0" smtClean="0"/>
              <a:t> </a:t>
            </a:r>
            <a:r>
              <a:rPr lang="en-US" altLang="zh-CN" b="1" dirty="0" err="1" smtClean="0"/>
              <a:t>pow_test.c</a:t>
            </a:r>
            <a:r>
              <a:rPr lang="en-US" altLang="zh-CN" b="1" dirty="0" smtClean="0"/>
              <a:t>  -L.  </a:t>
            </a:r>
            <a:r>
              <a:rPr lang="en-US" altLang="zh-CN" b="1" dirty="0" smtClean="0">
                <a:latin typeface="Arial" panose="020B0604020202020204" pitchFamily="34" charset="0"/>
              </a:rPr>
              <a:t>–</a:t>
            </a:r>
            <a:r>
              <a:rPr lang="en-US" altLang="zh-CN" b="1" dirty="0" err="1" smtClean="0"/>
              <a:t>lpow</a:t>
            </a:r>
            <a:endParaRPr lang="en-US" altLang="zh-CN" dirty="0" smtClean="0"/>
          </a:p>
          <a:p>
            <a:pPr>
              <a:buNone/>
            </a:pPr>
            <a:r>
              <a:rPr lang="en-US" altLang="zh-CN" dirty="0" smtClean="0"/>
              <a:t>   </a:t>
            </a:r>
            <a:r>
              <a:rPr lang="zh-CN" altLang="en-US" dirty="0" smtClean="0"/>
              <a:t>在运行可执行程序之前，需要注册动态库的路径名。其方法有几种</a:t>
            </a:r>
            <a:r>
              <a:rPr lang="zh-CN" altLang="pt-BR" dirty="0" smtClean="0"/>
              <a:t>：修改</a:t>
            </a:r>
            <a:r>
              <a:rPr lang="pt-BR" altLang="zh-CN" dirty="0" smtClean="0"/>
              <a:t>/etc/ld.so.conf</a:t>
            </a:r>
            <a:r>
              <a:rPr lang="zh-CN" altLang="pt-BR" dirty="0" smtClean="0"/>
              <a:t>文件，或者修改</a:t>
            </a:r>
            <a:r>
              <a:rPr lang="pt-BR" altLang="zh-CN" dirty="0" smtClean="0"/>
              <a:t>LD_LIBRARY_PATH</a:t>
            </a:r>
            <a:r>
              <a:rPr lang="zh-CN" altLang="pt-BR" dirty="0" smtClean="0"/>
              <a:t>环境变量，或者将库文件直接拷贝到</a:t>
            </a:r>
            <a:r>
              <a:rPr lang="pt-BR" altLang="zh-CN" dirty="0" smtClean="0"/>
              <a:t>/lib</a:t>
            </a:r>
            <a:r>
              <a:rPr lang="zh-CN" altLang="pt-BR" dirty="0" smtClean="0"/>
              <a:t>或者</a:t>
            </a:r>
            <a:r>
              <a:rPr lang="pt-BR" altLang="zh-CN" dirty="0" smtClean="0"/>
              <a:t>/usr/lib</a:t>
            </a:r>
            <a:r>
              <a:rPr lang="zh-CN" altLang="pt-BR" dirty="0" smtClean="0"/>
              <a:t>目录下（这两个目录为系统的默认的库路径名）。</a:t>
            </a:r>
            <a:endParaRPr lang="zh-CN" altLang="en-US" dirty="0" smtClean="0"/>
          </a:p>
          <a:p>
            <a:pPr>
              <a:buNone/>
            </a:pPr>
            <a:r>
              <a:rPr lang="en-US" altLang="zh-CN" b="1" dirty="0" smtClean="0"/>
              <a:t>$ </a:t>
            </a:r>
            <a:r>
              <a:rPr lang="en-US" altLang="zh-CN" b="1" dirty="0" err="1" smtClean="0"/>
              <a:t>cp</a:t>
            </a:r>
            <a:r>
              <a:rPr lang="en-US" altLang="zh-CN" b="1" dirty="0" smtClean="0"/>
              <a:t> libpow.so /lib</a:t>
            </a:r>
            <a:endParaRPr lang="en-US" altLang="zh-CN" dirty="0" smtClean="0"/>
          </a:p>
          <a:p>
            <a:pPr>
              <a:buNone/>
            </a:pPr>
            <a:r>
              <a:rPr lang="en-US" altLang="zh-CN" b="1" dirty="0" smtClean="0"/>
              <a:t>$ ./</a:t>
            </a:r>
            <a:r>
              <a:rPr lang="en-US" altLang="zh-CN" b="1" dirty="0" err="1" smtClean="0"/>
              <a:t>pow_test</a:t>
            </a:r>
            <a:r>
              <a:rPr lang="en-US" altLang="zh-CN" b="1" dirty="0" smtClean="0"/>
              <a:t>  2  10</a:t>
            </a:r>
          </a:p>
          <a:p>
            <a:pPr>
              <a:buNone/>
            </a:pPr>
            <a:r>
              <a:rPr lang="en-US" altLang="zh-CN" b="1" dirty="0" smtClean="0"/>
              <a:t>	2 ^ 10 = 1024</a:t>
            </a:r>
            <a:r>
              <a:rPr lang="en-US" altLang="zh-CN" dirty="0" smtClean="0"/>
              <a:t> </a:t>
            </a:r>
          </a:p>
          <a:p>
            <a:endParaRPr lang="zh-CN" altLang="en-US" dirty="0"/>
          </a:p>
        </p:txBody>
      </p:sp>
    </p:spTree>
    <p:extLst>
      <p:ext uri="{BB962C8B-B14F-4D97-AF65-F5344CB8AC3E}">
        <p14:creationId xmlns:p14="http://schemas.microsoft.com/office/powerpoint/2010/main" val="41702916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静态库与动态库的比较</a:t>
            </a:r>
            <a:endParaRPr lang="zh-CN" altLang="en-US" dirty="0"/>
          </a:p>
        </p:txBody>
      </p:sp>
      <p:sp>
        <p:nvSpPr>
          <p:cNvPr id="3" name="内容占位符 2"/>
          <p:cNvSpPr>
            <a:spLocks noGrp="1"/>
          </p:cNvSpPr>
          <p:nvPr>
            <p:ph idx="1"/>
          </p:nvPr>
        </p:nvSpPr>
        <p:spPr/>
        <p:txBody>
          <a:bodyPr/>
          <a:lstStyle/>
          <a:p>
            <a:r>
              <a:rPr lang="zh-CN" altLang="en-US" dirty="0" smtClean="0"/>
              <a:t>动态库只有在使用它的程序执行时才被链接使用，而不是将需要的部分直接编译入可执行文件中，并且一个动态库可以被多个程序使用故可称为共享库，而静态库将会整合到程序中，因此在程序执行时不用加载静态库。 从而可知，链接到静态库会使你的程序臃肿，并且难以升级，但是可能会比较容易部署。而链接到动态库会使你的程序轻便，并且易于升级，但是会难以部署。 </a:t>
            </a:r>
          </a:p>
          <a:p>
            <a:endParaRPr lang="zh-CN" altLang="en-US" dirty="0"/>
          </a:p>
        </p:txBody>
      </p:sp>
    </p:spTree>
    <p:extLst>
      <p:ext uri="{BB962C8B-B14F-4D97-AF65-F5344CB8AC3E}">
        <p14:creationId xmlns:p14="http://schemas.microsoft.com/office/powerpoint/2010/main" val="8334828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警告选项（</a:t>
            </a:r>
            <a:r>
              <a:rPr lang="en-US" altLang="zh-CN" dirty="0" smtClean="0"/>
              <a:t>1</a:t>
            </a:r>
            <a:r>
              <a:rPr lang="zh-CN" altLang="en-US" dirty="0" smtClean="0"/>
              <a:t>）</a:t>
            </a:r>
            <a:endParaRPr lang="zh-CN" altLang="en-US" dirty="0"/>
          </a:p>
        </p:txBody>
      </p:sp>
      <p:sp>
        <p:nvSpPr>
          <p:cNvPr id="4" name="Rectangle 3"/>
          <p:cNvSpPr txBox="1">
            <a:spLocks/>
          </p:cNvSpPr>
          <p:nvPr/>
        </p:nvSpPr>
        <p:spPr>
          <a:xfrm>
            <a:off x="1139372" y="4538662"/>
            <a:ext cx="8229600" cy="2319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3" panose="05040102010807070707" pitchFamily="18" charset="2"/>
              <a:buNone/>
            </a:pPr>
            <a:r>
              <a:rPr lang="en-US" altLang="zh-CN" dirty="0" smtClean="0"/>
              <a:t>$ </a:t>
            </a:r>
            <a:r>
              <a:rPr lang="en-US" altLang="zh-CN" dirty="0" err="1" smtClean="0"/>
              <a:t>gcc</a:t>
            </a:r>
            <a:r>
              <a:rPr lang="en-US" altLang="zh-CN" dirty="0" smtClean="0"/>
              <a:t> </a:t>
            </a:r>
            <a:r>
              <a:rPr lang="en-US" altLang="zh-CN" b="1" dirty="0" smtClean="0">
                <a:latin typeface="Arial" panose="020B0604020202020204" pitchFamily="34" charset="0"/>
              </a:rPr>
              <a:t>–</a:t>
            </a:r>
            <a:r>
              <a:rPr lang="en-US" altLang="zh-CN" b="1" dirty="0" err="1" smtClean="0"/>
              <a:t>ansi</a:t>
            </a:r>
            <a:r>
              <a:rPr lang="en-US" altLang="zh-CN" b="1" dirty="0" smtClean="0"/>
              <a:t> </a:t>
            </a:r>
            <a:r>
              <a:rPr lang="en-US" altLang="zh-CN" b="1" dirty="0" err="1" smtClean="0"/>
              <a:t>warning.c</a:t>
            </a:r>
            <a:r>
              <a:rPr lang="en-US" altLang="zh-CN" b="1" dirty="0" smtClean="0"/>
              <a:t> </a:t>
            </a:r>
            <a:r>
              <a:rPr lang="en-US" altLang="zh-CN" b="1" dirty="0" smtClean="0">
                <a:latin typeface="Arial" panose="020B0604020202020204" pitchFamily="34" charset="0"/>
              </a:rPr>
              <a:t>–</a:t>
            </a:r>
            <a:r>
              <a:rPr lang="en-US" altLang="zh-CN" b="1" dirty="0" smtClean="0"/>
              <a:t>o warning</a:t>
            </a:r>
            <a:endParaRPr lang="en-US" altLang="zh-CN" dirty="0" smtClean="0"/>
          </a:p>
          <a:p>
            <a:pPr lvl="1">
              <a:buFont typeface="Wingdings 3" panose="05040102010807070707" pitchFamily="18" charset="2"/>
              <a:buNone/>
            </a:pPr>
            <a:r>
              <a:rPr lang="en-US" altLang="zh-CN" sz="2000" dirty="0" err="1" smtClean="0"/>
              <a:t>warning.c</a:t>
            </a:r>
            <a:r>
              <a:rPr lang="en-US" altLang="zh-CN" sz="2000" dirty="0" smtClean="0"/>
              <a:t>: </a:t>
            </a:r>
            <a:r>
              <a:rPr lang="zh-CN" altLang="en-US" sz="2000" dirty="0" smtClean="0"/>
              <a:t>在函数</a:t>
            </a:r>
            <a:r>
              <a:rPr lang="zh-CN" altLang="en-US" sz="2000" dirty="0" smtClean="0">
                <a:latin typeface="Arial" panose="020B0604020202020204" pitchFamily="34" charset="0"/>
              </a:rPr>
              <a:t>“</a:t>
            </a:r>
            <a:r>
              <a:rPr lang="en-US" altLang="zh-CN" sz="2000" dirty="0" smtClean="0"/>
              <a:t>main</a:t>
            </a:r>
            <a:r>
              <a:rPr lang="en-US" altLang="zh-CN" sz="2000" dirty="0" smtClean="0">
                <a:latin typeface="Arial" panose="020B0604020202020204" pitchFamily="34" charset="0"/>
              </a:rPr>
              <a:t>”</a:t>
            </a:r>
            <a:r>
              <a:rPr lang="zh-CN" altLang="en-US" sz="2000" dirty="0" smtClean="0"/>
              <a:t>中：</a:t>
            </a:r>
          </a:p>
          <a:p>
            <a:pPr lvl="1">
              <a:buFont typeface="Wingdings 3" panose="05040102010807070707" pitchFamily="18" charset="2"/>
              <a:buNone/>
            </a:pPr>
            <a:r>
              <a:rPr lang="en-US" altLang="zh-CN" sz="2000" dirty="0" smtClean="0"/>
              <a:t>warning.c:7 </a:t>
            </a:r>
            <a:r>
              <a:rPr lang="zh-CN" altLang="en-US" sz="2000" dirty="0" smtClean="0"/>
              <a:t>警告：在无返回值的函数中，</a:t>
            </a:r>
            <a:r>
              <a:rPr lang="zh-CN" altLang="en-US" sz="2000" dirty="0" smtClean="0">
                <a:latin typeface="Arial" panose="020B0604020202020204" pitchFamily="34" charset="0"/>
              </a:rPr>
              <a:t>“</a:t>
            </a:r>
            <a:r>
              <a:rPr lang="en-US" altLang="zh-CN" sz="2000" dirty="0" smtClean="0"/>
              <a:t>return</a:t>
            </a:r>
            <a:r>
              <a:rPr lang="en-US" altLang="zh-CN" sz="2000" dirty="0" smtClean="0">
                <a:latin typeface="Arial" panose="020B0604020202020204" pitchFamily="34" charset="0"/>
              </a:rPr>
              <a:t>”</a:t>
            </a:r>
            <a:r>
              <a:rPr lang="zh-CN" altLang="en-US" sz="2000" dirty="0" smtClean="0"/>
              <a:t>带返回值</a:t>
            </a:r>
          </a:p>
          <a:p>
            <a:pPr lvl="1">
              <a:buFont typeface="Wingdings 3" panose="05040102010807070707" pitchFamily="18" charset="2"/>
              <a:buNone/>
            </a:pPr>
            <a:r>
              <a:rPr lang="en-US" altLang="zh-CN" sz="2000" dirty="0" smtClean="0"/>
              <a:t>warning.c:4 </a:t>
            </a:r>
            <a:r>
              <a:rPr lang="zh-CN" altLang="en-US" sz="2000" dirty="0" smtClean="0"/>
              <a:t>警告：</a:t>
            </a:r>
            <a:r>
              <a:rPr lang="zh-CN" altLang="en-US" sz="2000" dirty="0" smtClean="0">
                <a:latin typeface="Arial" panose="020B0604020202020204" pitchFamily="34" charset="0"/>
              </a:rPr>
              <a:t>“</a:t>
            </a:r>
            <a:r>
              <a:rPr lang="en-US" altLang="zh-CN" sz="2000" dirty="0" smtClean="0"/>
              <a:t>main</a:t>
            </a:r>
            <a:r>
              <a:rPr lang="en-US" altLang="zh-CN" sz="2000" dirty="0" smtClean="0">
                <a:latin typeface="Arial" panose="020B0604020202020204" pitchFamily="34" charset="0"/>
              </a:rPr>
              <a:t>”</a:t>
            </a:r>
            <a:r>
              <a:rPr lang="zh-CN" altLang="en-US" sz="2000" dirty="0" smtClean="0"/>
              <a:t>的返回类型不是</a:t>
            </a:r>
            <a:r>
              <a:rPr lang="zh-CN" altLang="en-US" sz="2000" dirty="0" smtClean="0">
                <a:latin typeface="Arial" panose="020B0604020202020204" pitchFamily="34" charset="0"/>
              </a:rPr>
              <a:t>“</a:t>
            </a:r>
            <a:r>
              <a:rPr lang="en-US" altLang="zh-CN" sz="2000" dirty="0" err="1" smtClean="0"/>
              <a:t>int</a:t>
            </a:r>
            <a:r>
              <a:rPr lang="en-US" altLang="zh-CN" sz="2000" dirty="0" smtClean="0">
                <a:latin typeface="Arial" panose="020B0604020202020204" pitchFamily="34" charset="0"/>
              </a:rPr>
              <a:t>”</a:t>
            </a:r>
            <a:r>
              <a:rPr lang="en-US" altLang="zh-CN" sz="2000" dirty="0" smtClean="0"/>
              <a:t> </a:t>
            </a:r>
            <a:endParaRPr lang="en-US" altLang="zh-CN" sz="2000"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372" y="1494971"/>
            <a:ext cx="9607903" cy="2960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52923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警告选项（</a:t>
            </a:r>
            <a:r>
              <a:rPr lang="en-US" altLang="zh-CN" dirty="0" smtClean="0"/>
              <a:t>2</a:t>
            </a:r>
            <a:r>
              <a:rPr lang="zh-CN" altLang="en-US" dirty="0" smtClean="0"/>
              <a:t>）</a:t>
            </a:r>
            <a:endParaRPr lang="zh-CN" altLang="en-US" dirty="0"/>
          </a:p>
        </p:txBody>
      </p:sp>
      <p:sp>
        <p:nvSpPr>
          <p:cNvPr id="3" name="内容占位符 2"/>
          <p:cNvSpPr>
            <a:spLocks noGrp="1"/>
          </p:cNvSpPr>
          <p:nvPr>
            <p:ph idx="1"/>
          </p:nvPr>
        </p:nvSpPr>
        <p:spPr/>
        <p:txBody>
          <a:bodyPr/>
          <a:lstStyle/>
          <a:p>
            <a:pPr>
              <a:buFont typeface="Wingdings 3" panose="05040102010807070707" pitchFamily="18" charset="2"/>
              <a:buNone/>
            </a:pPr>
            <a:r>
              <a:rPr lang="en-US" altLang="zh-CN" sz="2800" dirty="0" smtClean="0"/>
              <a:t>$ </a:t>
            </a:r>
            <a:r>
              <a:rPr lang="en-US" altLang="zh-CN" sz="2800" dirty="0" err="1" smtClean="0"/>
              <a:t>gcc</a:t>
            </a:r>
            <a:r>
              <a:rPr lang="en-US" altLang="zh-CN" sz="2800" dirty="0" smtClean="0"/>
              <a:t> </a:t>
            </a:r>
            <a:r>
              <a:rPr lang="en-US" altLang="zh-CN" sz="2800" dirty="0" smtClean="0">
                <a:latin typeface="Arial" panose="020B0604020202020204" pitchFamily="34" charset="0"/>
              </a:rPr>
              <a:t>–</a:t>
            </a:r>
            <a:r>
              <a:rPr lang="en-US" altLang="zh-CN" sz="2800" b="1" dirty="0" smtClean="0"/>
              <a:t>pedantic </a:t>
            </a:r>
            <a:r>
              <a:rPr lang="en-US" altLang="zh-CN" sz="2800" b="1" dirty="0" err="1" smtClean="0"/>
              <a:t>warning.c</a:t>
            </a:r>
            <a:r>
              <a:rPr lang="en-US" altLang="zh-CN" sz="2800" b="1" dirty="0" smtClean="0"/>
              <a:t> </a:t>
            </a:r>
            <a:r>
              <a:rPr lang="en-US" altLang="zh-CN" sz="2800" b="1" dirty="0" smtClean="0">
                <a:latin typeface="Arial" panose="020B0604020202020204" pitchFamily="34" charset="0"/>
              </a:rPr>
              <a:t>–</a:t>
            </a:r>
            <a:r>
              <a:rPr lang="en-US" altLang="zh-CN" sz="2800" b="1" dirty="0" smtClean="0"/>
              <a:t>o warning</a:t>
            </a:r>
            <a:endParaRPr lang="en-US" altLang="zh-CN" sz="2800" dirty="0" smtClean="0"/>
          </a:p>
          <a:p>
            <a:pPr lvl="1">
              <a:buFont typeface="Wingdings 3" panose="05040102010807070707" pitchFamily="18" charset="2"/>
              <a:buNone/>
            </a:pPr>
            <a:r>
              <a:rPr lang="en-US" altLang="zh-CN" sz="2400" dirty="0" err="1" smtClean="0"/>
              <a:t>warning.c</a:t>
            </a:r>
            <a:r>
              <a:rPr lang="en-US" altLang="zh-CN" sz="2400" dirty="0" smtClean="0"/>
              <a:t>: </a:t>
            </a:r>
            <a:r>
              <a:rPr lang="zh-CN" altLang="en-US" sz="2400" dirty="0" smtClean="0"/>
              <a:t>在函数</a:t>
            </a:r>
            <a:r>
              <a:rPr lang="zh-CN" altLang="en-US" sz="2400" dirty="0" smtClean="0">
                <a:latin typeface="Arial" panose="020B0604020202020204" pitchFamily="34" charset="0"/>
              </a:rPr>
              <a:t>“</a:t>
            </a:r>
            <a:r>
              <a:rPr lang="en-US" altLang="zh-CN" sz="2400" dirty="0" smtClean="0"/>
              <a:t>main</a:t>
            </a:r>
            <a:r>
              <a:rPr lang="en-US" altLang="zh-CN" sz="2400" dirty="0" smtClean="0">
                <a:latin typeface="Arial" panose="020B0604020202020204" pitchFamily="34" charset="0"/>
              </a:rPr>
              <a:t>”</a:t>
            </a:r>
            <a:r>
              <a:rPr lang="zh-CN" altLang="en-US" sz="2400" dirty="0" smtClean="0"/>
              <a:t>中：</a:t>
            </a:r>
          </a:p>
          <a:p>
            <a:pPr lvl="1">
              <a:buFont typeface="Wingdings 3" panose="05040102010807070707" pitchFamily="18" charset="2"/>
              <a:buNone/>
            </a:pPr>
            <a:r>
              <a:rPr lang="en-US" altLang="zh-CN" sz="2400" dirty="0" smtClean="0"/>
              <a:t>warning.c:5 </a:t>
            </a:r>
            <a:r>
              <a:rPr lang="zh-CN" altLang="en-US" sz="2400" dirty="0" smtClean="0"/>
              <a:t>警告：</a:t>
            </a:r>
            <a:r>
              <a:rPr lang="en-US" altLang="zh-CN" sz="2400" dirty="0" smtClean="0"/>
              <a:t>ISO C90</a:t>
            </a:r>
            <a:r>
              <a:rPr lang="zh-CN" altLang="en-US" sz="2400" dirty="0" smtClean="0"/>
              <a:t>不支持</a:t>
            </a:r>
            <a:r>
              <a:rPr lang="zh-CN" altLang="en-US" sz="2400" dirty="0" smtClean="0">
                <a:latin typeface="Arial" panose="020B0604020202020204" pitchFamily="34" charset="0"/>
              </a:rPr>
              <a:t>“</a:t>
            </a:r>
            <a:r>
              <a:rPr lang="en-US" altLang="zh-CN" sz="2400" dirty="0" smtClean="0"/>
              <a:t>long </a:t>
            </a:r>
            <a:r>
              <a:rPr lang="en-US" altLang="zh-CN" sz="2400" dirty="0" err="1" smtClean="0"/>
              <a:t>long</a:t>
            </a:r>
            <a:r>
              <a:rPr lang="en-US" altLang="zh-CN" sz="2400" dirty="0" smtClean="0">
                <a:latin typeface="Arial" panose="020B0604020202020204" pitchFamily="34" charset="0"/>
              </a:rPr>
              <a:t>”</a:t>
            </a:r>
            <a:endParaRPr lang="en-US" altLang="zh-CN" sz="2400" dirty="0" smtClean="0"/>
          </a:p>
          <a:p>
            <a:pPr lvl="1">
              <a:buFont typeface="Wingdings 3" panose="05040102010807070707" pitchFamily="18" charset="2"/>
              <a:buNone/>
            </a:pPr>
            <a:r>
              <a:rPr lang="en-US" altLang="zh-CN" sz="2400" dirty="0" smtClean="0"/>
              <a:t>warning.c:7 </a:t>
            </a:r>
            <a:r>
              <a:rPr lang="zh-CN" altLang="en-US" sz="2400" dirty="0" smtClean="0"/>
              <a:t>警告：在无返回值的函数中，</a:t>
            </a:r>
            <a:r>
              <a:rPr lang="zh-CN" altLang="en-US" sz="2400" dirty="0" smtClean="0">
                <a:latin typeface="Arial" panose="020B0604020202020204" pitchFamily="34" charset="0"/>
              </a:rPr>
              <a:t>“</a:t>
            </a:r>
            <a:r>
              <a:rPr lang="en-US" altLang="zh-CN" sz="2400" dirty="0" smtClean="0"/>
              <a:t>return</a:t>
            </a:r>
            <a:r>
              <a:rPr lang="en-US" altLang="zh-CN" sz="2400" dirty="0" smtClean="0">
                <a:latin typeface="Arial" panose="020B0604020202020204" pitchFamily="34" charset="0"/>
              </a:rPr>
              <a:t>”</a:t>
            </a:r>
            <a:r>
              <a:rPr lang="zh-CN" altLang="en-US" sz="2400" dirty="0" smtClean="0"/>
              <a:t>带返回值</a:t>
            </a:r>
          </a:p>
          <a:p>
            <a:pPr lvl="1">
              <a:buFont typeface="Wingdings 3" panose="05040102010807070707" pitchFamily="18" charset="2"/>
              <a:buNone/>
            </a:pPr>
            <a:r>
              <a:rPr lang="en-US" altLang="zh-CN" sz="2400" dirty="0" smtClean="0"/>
              <a:t>warning.c:4 </a:t>
            </a:r>
            <a:r>
              <a:rPr lang="zh-CN" altLang="en-US" sz="2400" dirty="0" smtClean="0"/>
              <a:t>警告：</a:t>
            </a:r>
            <a:r>
              <a:rPr lang="zh-CN" altLang="en-US" sz="2400" dirty="0" smtClean="0">
                <a:latin typeface="Arial" panose="020B0604020202020204" pitchFamily="34" charset="0"/>
              </a:rPr>
              <a:t>“</a:t>
            </a:r>
            <a:r>
              <a:rPr lang="en-US" altLang="zh-CN" sz="2400" dirty="0" smtClean="0"/>
              <a:t>main</a:t>
            </a:r>
            <a:r>
              <a:rPr lang="en-US" altLang="zh-CN" sz="2400" dirty="0" smtClean="0">
                <a:latin typeface="Arial" panose="020B0604020202020204" pitchFamily="34" charset="0"/>
              </a:rPr>
              <a:t>”</a:t>
            </a:r>
            <a:r>
              <a:rPr lang="zh-CN" altLang="en-US" sz="2400" dirty="0" smtClean="0"/>
              <a:t>的返回类型不是</a:t>
            </a:r>
            <a:r>
              <a:rPr lang="zh-CN" altLang="en-US" sz="2400" dirty="0" smtClean="0">
                <a:latin typeface="Arial" panose="020B0604020202020204" pitchFamily="34" charset="0"/>
              </a:rPr>
              <a:t>“</a:t>
            </a:r>
            <a:r>
              <a:rPr lang="en-US" altLang="zh-CN" sz="2400" dirty="0" err="1" smtClean="0"/>
              <a:t>int</a:t>
            </a:r>
            <a:r>
              <a:rPr lang="en-US" altLang="zh-CN" sz="2400" dirty="0" smtClean="0">
                <a:latin typeface="Arial" panose="020B0604020202020204" pitchFamily="34" charset="0"/>
              </a:rPr>
              <a:t>”</a:t>
            </a:r>
            <a:r>
              <a:rPr lang="en-US" altLang="zh-CN" sz="2400" dirty="0" smtClean="0"/>
              <a:t> </a:t>
            </a:r>
          </a:p>
          <a:p>
            <a:pPr>
              <a:buFont typeface="Wingdings 3" panose="05040102010807070707" pitchFamily="18" charset="2"/>
              <a:buNone/>
            </a:pPr>
            <a:r>
              <a:rPr lang="en-US" altLang="zh-CN" sz="2800" dirty="0" smtClean="0"/>
              <a:t>$ </a:t>
            </a:r>
            <a:r>
              <a:rPr lang="en-US" altLang="zh-CN" sz="2800" dirty="0" err="1" smtClean="0"/>
              <a:t>gcc</a:t>
            </a:r>
            <a:r>
              <a:rPr lang="en-US" altLang="zh-CN" sz="2800" dirty="0" smtClean="0"/>
              <a:t> </a:t>
            </a:r>
            <a:r>
              <a:rPr lang="en-US" altLang="zh-CN" sz="2800" b="1" dirty="0" smtClean="0">
                <a:latin typeface="Arial" panose="020B0604020202020204" pitchFamily="34" charset="0"/>
              </a:rPr>
              <a:t>–</a:t>
            </a:r>
            <a:r>
              <a:rPr lang="en-US" altLang="zh-CN" sz="2800" b="1" dirty="0" smtClean="0"/>
              <a:t>Wall </a:t>
            </a:r>
            <a:r>
              <a:rPr lang="en-US" altLang="zh-CN" sz="2800" b="1" dirty="0" err="1" smtClean="0"/>
              <a:t>warning.c</a:t>
            </a:r>
            <a:r>
              <a:rPr lang="en-US" altLang="zh-CN" sz="2800" b="1" dirty="0" smtClean="0"/>
              <a:t> </a:t>
            </a:r>
            <a:r>
              <a:rPr lang="en-US" altLang="zh-CN" sz="2800" b="1" dirty="0" smtClean="0">
                <a:latin typeface="Arial" panose="020B0604020202020204" pitchFamily="34" charset="0"/>
              </a:rPr>
              <a:t>–</a:t>
            </a:r>
            <a:r>
              <a:rPr lang="en-US" altLang="zh-CN" sz="2800" b="1" dirty="0" smtClean="0"/>
              <a:t>o warning</a:t>
            </a:r>
            <a:endParaRPr lang="en-US" altLang="zh-CN" sz="2800" dirty="0" smtClean="0"/>
          </a:p>
          <a:p>
            <a:pPr lvl="1">
              <a:buFont typeface="Wingdings 3" panose="05040102010807070707" pitchFamily="18" charset="2"/>
              <a:buNone/>
            </a:pPr>
            <a:r>
              <a:rPr lang="en-US" altLang="zh-CN" sz="2400" dirty="0" smtClean="0"/>
              <a:t>warning.c:4 </a:t>
            </a:r>
            <a:r>
              <a:rPr lang="zh-CN" altLang="en-US" sz="2400" dirty="0" smtClean="0"/>
              <a:t>警告：</a:t>
            </a:r>
            <a:r>
              <a:rPr lang="zh-CN" altLang="en-US" sz="2400" dirty="0" smtClean="0">
                <a:latin typeface="Arial" panose="020B0604020202020204" pitchFamily="34" charset="0"/>
              </a:rPr>
              <a:t>“</a:t>
            </a:r>
            <a:r>
              <a:rPr lang="en-US" altLang="zh-CN" sz="2400" dirty="0" smtClean="0"/>
              <a:t>main</a:t>
            </a:r>
            <a:r>
              <a:rPr lang="en-US" altLang="zh-CN" sz="2400" dirty="0" smtClean="0">
                <a:latin typeface="Arial" panose="020B0604020202020204" pitchFamily="34" charset="0"/>
              </a:rPr>
              <a:t>”</a:t>
            </a:r>
            <a:r>
              <a:rPr lang="zh-CN" altLang="en-US" sz="2400" dirty="0" smtClean="0"/>
              <a:t>的返回类型不是</a:t>
            </a:r>
            <a:r>
              <a:rPr lang="zh-CN" altLang="en-US" sz="2400" dirty="0" smtClean="0">
                <a:latin typeface="Arial" panose="020B0604020202020204" pitchFamily="34" charset="0"/>
              </a:rPr>
              <a:t>“</a:t>
            </a:r>
            <a:r>
              <a:rPr lang="en-US" altLang="zh-CN" sz="2400" dirty="0" err="1" smtClean="0"/>
              <a:t>int</a:t>
            </a:r>
            <a:r>
              <a:rPr lang="en-US" altLang="zh-CN" sz="2400" dirty="0" smtClean="0">
                <a:latin typeface="Arial" panose="020B0604020202020204" pitchFamily="34" charset="0"/>
              </a:rPr>
              <a:t>”</a:t>
            </a:r>
            <a:endParaRPr lang="en-US" altLang="zh-CN" sz="2400" dirty="0" smtClean="0"/>
          </a:p>
          <a:p>
            <a:pPr lvl="1">
              <a:buFont typeface="Wingdings 3" panose="05040102010807070707" pitchFamily="18" charset="2"/>
              <a:buNone/>
            </a:pPr>
            <a:r>
              <a:rPr lang="en-US" altLang="zh-CN" sz="2400" dirty="0" err="1" smtClean="0"/>
              <a:t>warning.c</a:t>
            </a:r>
            <a:r>
              <a:rPr lang="en-US" altLang="zh-CN" sz="2400" dirty="0" smtClean="0"/>
              <a:t>: </a:t>
            </a:r>
            <a:r>
              <a:rPr lang="zh-CN" altLang="en-US" sz="2400" dirty="0" smtClean="0"/>
              <a:t>在函数</a:t>
            </a:r>
            <a:r>
              <a:rPr lang="zh-CN" altLang="en-US" sz="2400" dirty="0" smtClean="0">
                <a:latin typeface="Arial" panose="020B0604020202020204" pitchFamily="34" charset="0"/>
              </a:rPr>
              <a:t>“</a:t>
            </a:r>
            <a:r>
              <a:rPr lang="en-US" altLang="zh-CN" sz="2400" dirty="0" smtClean="0"/>
              <a:t>main</a:t>
            </a:r>
            <a:r>
              <a:rPr lang="en-US" altLang="zh-CN" sz="2400" dirty="0" smtClean="0">
                <a:latin typeface="Arial" panose="020B0604020202020204" pitchFamily="34" charset="0"/>
              </a:rPr>
              <a:t>”</a:t>
            </a:r>
            <a:r>
              <a:rPr lang="zh-CN" altLang="en-US" sz="2400" dirty="0" smtClean="0"/>
              <a:t>中：</a:t>
            </a:r>
          </a:p>
          <a:p>
            <a:pPr lvl="1">
              <a:buFont typeface="Wingdings 3" panose="05040102010807070707" pitchFamily="18" charset="2"/>
              <a:buNone/>
            </a:pPr>
            <a:r>
              <a:rPr lang="en-US" altLang="zh-CN" sz="2400" dirty="0" smtClean="0"/>
              <a:t>warning.c:7 </a:t>
            </a:r>
            <a:r>
              <a:rPr lang="zh-CN" altLang="en-US" sz="2400" dirty="0" smtClean="0"/>
              <a:t>警告：在无返回值的函数中，</a:t>
            </a:r>
            <a:r>
              <a:rPr lang="zh-CN" altLang="en-US" sz="2400" dirty="0" smtClean="0">
                <a:latin typeface="Arial" panose="020B0604020202020204" pitchFamily="34" charset="0"/>
              </a:rPr>
              <a:t>“</a:t>
            </a:r>
            <a:r>
              <a:rPr lang="en-US" altLang="zh-CN" sz="2400" dirty="0" smtClean="0"/>
              <a:t>return</a:t>
            </a:r>
            <a:r>
              <a:rPr lang="en-US" altLang="zh-CN" sz="2400" dirty="0" smtClean="0">
                <a:latin typeface="Arial" panose="020B0604020202020204" pitchFamily="34" charset="0"/>
              </a:rPr>
              <a:t>”</a:t>
            </a:r>
            <a:r>
              <a:rPr lang="zh-CN" altLang="en-US" sz="2400" dirty="0" smtClean="0"/>
              <a:t>带返回值</a:t>
            </a:r>
          </a:p>
          <a:p>
            <a:pPr lvl="1">
              <a:buFont typeface="Wingdings 3" panose="05040102010807070707" pitchFamily="18" charset="2"/>
              <a:buNone/>
            </a:pPr>
            <a:r>
              <a:rPr lang="en-US" altLang="zh-CN" sz="2400" dirty="0" smtClean="0"/>
              <a:t>warning.c:5 </a:t>
            </a:r>
            <a:r>
              <a:rPr lang="zh-CN" altLang="en-US" sz="2400" dirty="0" smtClean="0"/>
              <a:t>警告：未使用的变量</a:t>
            </a:r>
            <a:r>
              <a:rPr lang="zh-CN" altLang="en-US" sz="2400" dirty="0" smtClean="0">
                <a:latin typeface="Arial" panose="020B0604020202020204" pitchFamily="34" charset="0"/>
              </a:rPr>
              <a:t>“</a:t>
            </a:r>
            <a:r>
              <a:rPr lang="en-US" altLang="zh-CN" sz="2400" dirty="0" err="1" smtClean="0"/>
              <a:t>tmp</a:t>
            </a:r>
            <a:r>
              <a:rPr lang="en-US" altLang="zh-CN" sz="2400" dirty="0" smtClean="0">
                <a:latin typeface="Arial" panose="020B0604020202020204" pitchFamily="34" charset="0"/>
              </a:rPr>
              <a:t>”</a:t>
            </a:r>
            <a:r>
              <a:rPr lang="en-US" altLang="zh-CN" sz="2400" dirty="0" smtClean="0"/>
              <a:t> </a:t>
            </a:r>
          </a:p>
          <a:p>
            <a:endParaRPr lang="zh-CN" altLang="en-US" sz="2800" dirty="0"/>
          </a:p>
        </p:txBody>
      </p:sp>
    </p:spTree>
    <p:extLst>
      <p:ext uri="{BB962C8B-B14F-4D97-AF65-F5344CB8AC3E}">
        <p14:creationId xmlns:p14="http://schemas.microsoft.com/office/powerpoint/2010/main" val="426905622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优化选项</a:t>
            </a:r>
            <a:endParaRPr lang="zh-CN" altLang="en-US" dirty="0"/>
          </a:p>
        </p:txBody>
      </p:sp>
      <p:sp>
        <p:nvSpPr>
          <p:cNvPr id="3" name="内容占位符 2"/>
          <p:cNvSpPr>
            <a:spLocks noGrp="1"/>
          </p:cNvSpPr>
          <p:nvPr>
            <p:ph idx="1"/>
          </p:nvPr>
        </p:nvSpPr>
        <p:spPr/>
        <p:txBody>
          <a:bodyPr/>
          <a:lstStyle/>
          <a:p>
            <a:r>
              <a:rPr lang="en-US" altLang="zh-CN" sz="2800" dirty="0" err="1" smtClean="0"/>
              <a:t>gcc</a:t>
            </a:r>
            <a:r>
              <a:rPr lang="zh-CN" altLang="en-US" sz="2800" dirty="0" smtClean="0"/>
              <a:t>可以对代码进行优化，它通过编译选项</a:t>
            </a:r>
            <a:r>
              <a:rPr lang="zh-CN" altLang="en-US" sz="2800" dirty="0" smtClean="0">
                <a:latin typeface="Arial" panose="020B0604020202020204" pitchFamily="34" charset="0"/>
              </a:rPr>
              <a:t>“</a:t>
            </a:r>
            <a:r>
              <a:rPr lang="en-US" altLang="zh-CN" sz="2800" dirty="0" smtClean="0"/>
              <a:t>-On</a:t>
            </a:r>
            <a:r>
              <a:rPr lang="en-US" altLang="zh-CN" sz="2800" dirty="0" smtClean="0">
                <a:latin typeface="Arial" panose="020B0604020202020204" pitchFamily="34" charset="0"/>
              </a:rPr>
              <a:t>”</a:t>
            </a:r>
            <a:r>
              <a:rPr lang="zh-CN" altLang="en-US" sz="2800" dirty="0" smtClean="0"/>
              <a:t>来控制优化代码的生成，其中</a:t>
            </a:r>
            <a:r>
              <a:rPr lang="en-US" altLang="zh-CN" sz="2800" dirty="0" smtClean="0"/>
              <a:t>n</a:t>
            </a:r>
            <a:r>
              <a:rPr lang="zh-CN" altLang="en-US" sz="2800" dirty="0" smtClean="0"/>
              <a:t>是一个代表优化级别的整数。</a:t>
            </a:r>
          </a:p>
          <a:p>
            <a:r>
              <a:rPr lang="zh-CN" altLang="en-US" sz="2800" dirty="0" smtClean="0"/>
              <a:t>不同的优化级别对应不同的优化处理工作。如使用优化选项</a:t>
            </a:r>
            <a:r>
              <a:rPr lang="zh-CN" altLang="en-US" sz="2800" dirty="0" smtClean="0">
                <a:latin typeface="Arial" panose="020B0604020202020204" pitchFamily="34" charset="0"/>
              </a:rPr>
              <a:t>“</a:t>
            </a:r>
            <a:r>
              <a:rPr lang="en-US" altLang="zh-CN" sz="2800" dirty="0" smtClean="0"/>
              <a:t>-O</a:t>
            </a:r>
            <a:r>
              <a:rPr lang="en-US" altLang="zh-CN" sz="2800" dirty="0" smtClean="0">
                <a:latin typeface="Arial" panose="020B0604020202020204" pitchFamily="34" charset="0"/>
              </a:rPr>
              <a:t>”</a:t>
            </a:r>
            <a:r>
              <a:rPr lang="zh-CN" altLang="en-US" sz="2800" dirty="0" smtClean="0"/>
              <a:t>主要进行线程跳转（</a:t>
            </a:r>
            <a:r>
              <a:rPr lang="en-US" altLang="zh-CN" sz="2800" dirty="0" smtClean="0"/>
              <a:t>Thread Jump</a:t>
            </a:r>
            <a:r>
              <a:rPr lang="zh-CN" altLang="en-US" sz="2800" dirty="0" smtClean="0"/>
              <a:t>）和延迟退栈（</a:t>
            </a:r>
            <a:r>
              <a:rPr lang="en-US" altLang="zh-CN" sz="2800" dirty="0" smtClean="0"/>
              <a:t>Deferred Stack Pops</a:t>
            </a:r>
            <a:r>
              <a:rPr lang="zh-CN" altLang="en-US" sz="2800" dirty="0" smtClean="0"/>
              <a:t>）两种优化。使用优化选项</a:t>
            </a:r>
            <a:r>
              <a:rPr lang="zh-CN" altLang="en-US" sz="2800" dirty="0" smtClean="0">
                <a:latin typeface="Arial" panose="020B0604020202020204" pitchFamily="34" charset="0"/>
              </a:rPr>
              <a:t>“</a:t>
            </a:r>
            <a:r>
              <a:rPr lang="en-US" altLang="zh-CN" sz="2800" dirty="0" smtClean="0"/>
              <a:t>-O2</a:t>
            </a:r>
            <a:r>
              <a:rPr lang="en-US" altLang="zh-CN" sz="2800" dirty="0" smtClean="0">
                <a:latin typeface="Arial" panose="020B0604020202020204" pitchFamily="34" charset="0"/>
              </a:rPr>
              <a:t>”</a:t>
            </a:r>
            <a:r>
              <a:rPr lang="zh-CN" altLang="en-US" sz="2800" dirty="0" smtClean="0"/>
              <a:t>除了完成所有</a:t>
            </a:r>
            <a:r>
              <a:rPr lang="zh-CN" altLang="en-US" sz="2800" dirty="0" smtClean="0">
                <a:latin typeface="Arial" panose="020B0604020202020204" pitchFamily="34" charset="0"/>
              </a:rPr>
              <a:t>“</a:t>
            </a:r>
            <a:r>
              <a:rPr lang="en-US" altLang="zh-CN" sz="2800" dirty="0" smtClean="0"/>
              <a:t>-O1</a:t>
            </a:r>
            <a:r>
              <a:rPr lang="en-US" altLang="zh-CN" sz="2800" dirty="0" smtClean="0">
                <a:latin typeface="Arial" panose="020B0604020202020204" pitchFamily="34" charset="0"/>
              </a:rPr>
              <a:t>”</a:t>
            </a:r>
            <a:r>
              <a:rPr lang="zh-CN" altLang="en-US" sz="2800" dirty="0" smtClean="0"/>
              <a:t>级别的优化之外，同时还要进行一些额外的调整工作，如处理器指令调度等。选项</a:t>
            </a:r>
            <a:r>
              <a:rPr lang="zh-CN" altLang="en-US" sz="2800" dirty="0" smtClean="0">
                <a:latin typeface="Arial" panose="020B0604020202020204" pitchFamily="34" charset="0"/>
              </a:rPr>
              <a:t>“</a:t>
            </a:r>
            <a:r>
              <a:rPr lang="en-US" altLang="zh-CN" sz="2800" dirty="0" smtClean="0"/>
              <a:t>-O3</a:t>
            </a:r>
            <a:r>
              <a:rPr lang="en-US" altLang="zh-CN" sz="2800" dirty="0" smtClean="0">
                <a:latin typeface="Arial" panose="020B0604020202020204" pitchFamily="34" charset="0"/>
              </a:rPr>
              <a:t>”</a:t>
            </a:r>
            <a:r>
              <a:rPr lang="zh-CN" altLang="en-US" sz="2800" dirty="0" smtClean="0"/>
              <a:t>则还包括循环展开和其他一些与处理器特性相关的优化工作。</a:t>
            </a:r>
          </a:p>
          <a:p>
            <a:r>
              <a:rPr lang="zh-CN" altLang="en-US" sz="2800" dirty="0" smtClean="0"/>
              <a:t>可能适合使用优化选项的场合：程序发行</a:t>
            </a:r>
          </a:p>
          <a:p>
            <a:r>
              <a:rPr lang="zh-CN" altLang="en-US" sz="2800" dirty="0" smtClean="0"/>
              <a:t>不太适合使用优化选项的场合：程序开发</a:t>
            </a:r>
          </a:p>
          <a:p>
            <a:endParaRPr lang="zh-CN" altLang="en-US" dirty="0"/>
          </a:p>
        </p:txBody>
      </p:sp>
    </p:spTree>
    <p:extLst>
      <p:ext uri="{BB962C8B-B14F-4D97-AF65-F5344CB8AC3E}">
        <p14:creationId xmlns:p14="http://schemas.microsoft.com/office/powerpoint/2010/main" val="115331589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gcc</a:t>
            </a:r>
            <a:r>
              <a:rPr lang="en-US" altLang="zh-CN" dirty="0" smtClean="0"/>
              <a:t> --- </a:t>
            </a:r>
            <a:r>
              <a:rPr lang="zh-CN" altLang="en-US" dirty="0" smtClean="0"/>
              <a:t>体系结构相关选项</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932" y="1977569"/>
            <a:ext cx="10938136" cy="301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7862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使用方法（</a:t>
            </a:r>
            <a:r>
              <a:rPr lang="en-US" altLang="zh-CN" dirty="0" smtClean="0"/>
              <a:t>1</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dirty="0" err="1" smtClean="0"/>
              <a:t>gdb</a:t>
            </a:r>
            <a:r>
              <a:rPr lang="zh-CN" altLang="en-US" dirty="0" smtClean="0"/>
              <a:t>调试器是一款</a:t>
            </a:r>
            <a:r>
              <a:rPr lang="en-US" altLang="zh-CN" dirty="0" smtClean="0"/>
              <a:t>GNU</a:t>
            </a:r>
            <a:r>
              <a:rPr lang="zh-CN" altLang="en-US" dirty="0" smtClean="0"/>
              <a:t>开发组织并发布的</a:t>
            </a:r>
            <a:r>
              <a:rPr lang="en-US" altLang="zh-CN" dirty="0" smtClean="0"/>
              <a:t>UNIX/Linux</a:t>
            </a:r>
            <a:r>
              <a:rPr lang="zh-CN" altLang="en-US" dirty="0" smtClean="0"/>
              <a:t>下的程序调试工具。虽然，它没有图形化的友好界面，但是它强大的功能也足以与微软的</a:t>
            </a:r>
            <a:r>
              <a:rPr lang="en-US" altLang="zh-CN" dirty="0" smtClean="0"/>
              <a:t>VC</a:t>
            </a:r>
            <a:r>
              <a:rPr lang="zh-CN" altLang="en-US" dirty="0" smtClean="0"/>
              <a:t>工具等媲美。 </a:t>
            </a:r>
          </a:p>
          <a:p>
            <a:endParaRPr lang="zh-CN" altLang="en-US" dirty="0"/>
          </a:p>
        </p:txBody>
      </p:sp>
      <p:sp>
        <p:nvSpPr>
          <p:cNvPr id="4" name="Rectangle 4"/>
          <p:cNvSpPr>
            <a:spLocks noChangeArrowheads="1"/>
          </p:cNvSpPr>
          <p:nvPr/>
        </p:nvSpPr>
        <p:spPr bwMode="auto">
          <a:xfrm>
            <a:off x="1237797" y="2717402"/>
            <a:ext cx="9423400" cy="34778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000" dirty="0"/>
              <a:t>$ </a:t>
            </a:r>
            <a:r>
              <a:rPr lang="en-US" altLang="zh-CN" sz="2000" b="1" dirty="0" err="1"/>
              <a:t>gcc</a:t>
            </a:r>
            <a:r>
              <a:rPr lang="en-US" altLang="zh-CN" sz="2000" b="1" dirty="0"/>
              <a:t> -g </a:t>
            </a:r>
            <a:r>
              <a:rPr lang="en-US" altLang="zh-CN" sz="2000" b="1" dirty="0" err="1"/>
              <a:t>test.c</a:t>
            </a:r>
            <a:r>
              <a:rPr lang="en-US" altLang="zh-CN" sz="2000" b="1" dirty="0"/>
              <a:t> -o test</a:t>
            </a:r>
            <a:endParaRPr lang="en-US" altLang="zh-CN" sz="2000" dirty="0"/>
          </a:p>
          <a:p>
            <a:r>
              <a:rPr lang="en-US" altLang="zh-CN" sz="2000" b="1" dirty="0"/>
              <a:t>$ </a:t>
            </a:r>
            <a:r>
              <a:rPr lang="en-US" altLang="zh-CN" sz="2000" b="1" dirty="0" err="1"/>
              <a:t>gdb</a:t>
            </a:r>
            <a:r>
              <a:rPr lang="en-US" altLang="zh-CN" sz="2000" b="1" dirty="0"/>
              <a:t> test</a:t>
            </a:r>
            <a:endParaRPr lang="en-US" altLang="zh-CN" sz="2000" dirty="0"/>
          </a:p>
          <a:p>
            <a:r>
              <a:rPr lang="en-US" altLang="zh-CN" sz="2000" dirty="0"/>
              <a:t>GNU </a:t>
            </a:r>
            <a:r>
              <a:rPr lang="en-US" altLang="zh-CN" sz="2000" dirty="0" err="1"/>
              <a:t>gdb</a:t>
            </a:r>
            <a:r>
              <a:rPr lang="en-US" altLang="zh-CN" sz="2000" dirty="0"/>
              <a:t> Red Hat Linux (6.3.0.0-1.21rh)</a:t>
            </a:r>
          </a:p>
          <a:p>
            <a:r>
              <a:rPr lang="en-US" altLang="zh-CN" sz="2000" dirty="0"/>
              <a:t>Copyright 2004 Free Software Foundation, Inc.</a:t>
            </a:r>
          </a:p>
          <a:p>
            <a:r>
              <a:rPr lang="en-US" altLang="zh-CN" sz="2000" dirty="0"/>
              <a:t>GDB is free software, covered by the GNU General Public License, and you are</a:t>
            </a:r>
          </a:p>
          <a:p>
            <a:r>
              <a:rPr lang="en-US" altLang="zh-CN" sz="2000" dirty="0"/>
              <a:t>welcome to change it and/or distribute copies of it under certain conditions.</a:t>
            </a:r>
          </a:p>
          <a:p>
            <a:r>
              <a:rPr lang="en-US" altLang="zh-CN" sz="2000" dirty="0"/>
              <a:t>Type "show copying" to see the conditions.</a:t>
            </a:r>
          </a:p>
          <a:p>
            <a:r>
              <a:rPr lang="en-US" altLang="zh-CN" sz="2000" dirty="0"/>
              <a:t>There is absolutely no warranty for GDB.  Type "show warranty" for details.</a:t>
            </a:r>
          </a:p>
          <a:p>
            <a:r>
              <a:rPr lang="en-US" altLang="zh-CN" sz="2000" dirty="0"/>
              <a:t>This GDB was configured as "i386-redhat-linux-gnu"...Using host </a:t>
            </a:r>
            <a:r>
              <a:rPr lang="en-US" altLang="zh-CN" sz="2000" dirty="0" err="1"/>
              <a:t>libthread_db</a:t>
            </a:r>
            <a:r>
              <a:rPr lang="en-US" altLang="zh-CN" sz="2000" dirty="0"/>
              <a:t> library "/lib/libthread_db.so.1".</a:t>
            </a:r>
          </a:p>
          <a:p>
            <a:r>
              <a:rPr lang="en-US" altLang="zh-CN" sz="2000" b="1" dirty="0"/>
              <a:t>(</a:t>
            </a:r>
            <a:r>
              <a:rPr lang="en-US" altLang="zh-CN" sz="2000" b="1" dirty="0" err="1"/>
              <a:t>gdb</a:t>
            </a:r>
            <a:r>
              <a:rPr lang="en-US" altLang="zh-CN" sz="2000" b="1" dirty="0"/>
              <a:t>)</a:t>
            </a:r>
          </a:p>
        </p:txBody>
      </p:sp>
    </p:spTree>
    <p:extLst>
      <p:ext uri="{BB962C8B-B14F-4D97-AF65-F5344CB8AC3E}">
        <p14:creationId xmlns:p14="http://schemas.microsoft.com/office/powerpoint/2010/main" val="208543880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使用方法（</a:t>
            </a:r>
            <a:r>
              <a:rPr lang="en-US" altLang="zh-CN" dirty="0" smtClean="0"/>
              <a:t>2</a:t>
            </a:r>
            <a:r>
              <a:rPr lang="zh-CN" altLang="en-US" dirty="0" smtClean="0"/>
              <a:t>）</a:t>
            </a:r>
            <a:endParaRPr lang="zh-CN" altLang="en-US" dirty="0"/>
          </a:p>
        </p:txBody>
      </p:sp>
      <p:sp>
        <p:nvSpPr>
          <p:cNvPr id="4" name="Rectangle 4"/>
          <p:cNvSpPr>
            <a:spLocks noChangeArrowheads="1"/>
          </p:cNvSpPr>
          <p:nvPr/>
        </p:nvSpPr>
        <p:spPr bwMode="auto">
          <a:xfrm>
            <a:off x="5675540" y="1098550"/>
            <a:ext cx="4419600" cy="51752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a:t>
            </a:r>
            <a:r>
              <a:rPr lang="en-US" altLang="zh-CN" sz="1400" b="1"/>
              <a:t> b 6</a:t>
            </a:r>
            <a:endParaRPr lang="en-US" altLang="zh-CN" sz="1400"/>
          </a:p>
          <a:p>
            <a:r>
              <a:rPr lang="en-US" altLang="zh-CN" sz="1400"/>
              <a:t>Breakpoint 1 at 0x804846d: file test.c, line 6. </a:t>
            </a:r>
          </a:p>
        </p:txBody>
      </p:sp>
      <p:sp>
        <p:nvSpPr>
          <p:cNvPr id="5" name="Rectangle 5"/>
          <p:cNvSpPr>
            <a:spLocks noChangeArrowheads="1"/>
          </p:cNvSpPr>
          <p:nvPr/>
        </p:nvSpPr>
        <p:spPr bwMode="auto">
          <a:xfrm>
            <a:off x="1484540" y="1022350"/>
            <a:ext cx="3962400" cy="51974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dirty="0"/>
              <a:t>(</a:t>
            </a:r>
            <a:r>
              <a:rPr lang="en-US" altLang="zh-CN" sz="1400" dirty="0" err="1"/>
              <a:t>gdb</a:t>
            </a:r>
            <a:r>
              <a:rPr lang="en-US" altLang="zh-CN" sz="1400" dirty="0"/>
              <a:t>)</a:t>
            </a:r>
            <a:r>
              <a:rPr lang="en-US" altLang="zh-CN" sz="1400" b="1" dirty="0"/>
              <a:t> l</a:t>
            </a:r>
            <a:endParaRPr lang="en-US" altLang="zh-CN" sz="1400" dirty="0"/>
          </a:p>
          <a:p>
            <a:r>
              <a:rPr lang="en-US" altLang="zh-CN" sz="1400" dirty="0"/>
              <a:t>1       #include &lt;</a:t>
            </a:r>
            <a:r>
              <a:rPr lang="en-US" altLang="zh-CN" sz="1400" dirty="0" err="1"/>
              <a:t>stdio.h</a:t>
            </a:r>
            <a:r>
              <a:rPr lang="en-US" altLang="zh-CN" sz="1400" dirty="0"/>
              <a:t>&gt;</a:t>
            </a:r>
          </a:p>
          <a:p>
            <a:r>
              <a:rPr lang="en-US" altLang="zh-CN" sz="1400" dirty="0"/>
              <a:t>2       </a:t>
            </a:r>
            <a:r>
              <a:rPr lang="en-US" altLang="zh-CN" sz="1400" dirty="0" err="1"/>
              <a:t>int</a:t>
            </a:r>
            <a:r>
              <a:rPr lang="en-US" altLang="zh-CN" sz="1400" dirty="0"/>
              <a:t> sum(</a:t>
            </a:r>
            <a:r>
              <a:rPr lang="en-US" altLang="zh-CN" sz="1400" dirty="0" err="1"/>
              <a:t>int</a:t>
            </a:r>
            <a:r>
              <a:rPr lang="en-US" altLang="zh-CN" sz="1400" dirty="0"/>
              <a:t> m);</a:t>
            </a:r>
          </a:p>
          <a:p>
            <a:r>
              <a:rPr lang="en-US" altLang="zh-CN" sz="1400" dirty="0"/>
              <a:t>3       </a:t>
            </a:r>
            <a:r>
              <a:rPr lang="en-US" altLang="zh-CN" sz="1400" dirty="0" err="1"/>
              <a:t>int</a:t>
            </a:r>
            <a:r>
              <a:rPr lang="en-US" altLang="zh-CN" sz="1400" dirty="0"/>
              <a:t> main()</a:t>
            </a:r>
          </a:p>
          <a:p>
            <a:r>
              <a:rPr lang="sv-SE" altLang="zh-CN" sz="1400" dirty="0"/>
              <a:t>4       {</a:t>
            </a:r>
          </a:p>
          <a:p>
            <a:r>
              <a:rPr lang="sv-SE" altLang="zh-CN" sz="1400" dirty="0"/>
              <a:t>5             int i,n = 0;</a:t>
            </a:r>
          </a:p>
          <a:p>
            <a:r>
              <a:rPr lang="sv-SE" altLang="zh-CN" sz="1400" dirty="0"/>
              <a:t>6             sum(50);</a:t>
            </a:r>
          </a:p>
          <a:p>
            <a:r>
              <a:rPr lang="sv-SE" altLang="zh-CN" sz="1400" dirty="0"/>
              <a:t>7             for(i = 1; i &lt;= 50; i++)</a:t>
            </a:r>
          </a:p>
          <a:p>
            <a:r>
              <a:rPr lang="sv-SE" altLang="zh-CN" sz="1400" dirty="0"/>
              <a:t>8             {</a:t>
            </a:r>
          </a:p>
          <a:p>
            <a:r>
              <a:rPr lang="sv-SE" altLang="zh-CN" sz="1400" dirty="0"/>
              <a:t>9             	n += i;</a:t>
            </a:r>
          </a:p>
          <a:p>
            <a:r>
              <a:rPr lang="en-US" altLang="zh-CN" sz="1400" dirty="0"/>
              <a:t>10           }</a:t>
            </a:r>
          </a:p>
          <a:p>
            <a:r>
              <a:rPr lang="en-US" altLang="zh-CN" sz="1400" dirty="0"/>
              <a:t>(</a:t>
            </a:r>
            <a:r>
              <a:rPr lang="en-US" altLang="zh-CN" sz="1400" dirty="0" err="1"/>
              <a:t>gdb</a:t>
            </a:r>
            <a:r>
              <a:rPr lang="en-US" altLang="zh-CN" sz="1400" dirty="0"/>
              <a:t>) </a:t>
            </a:r>
            <a:r>
              <a:rPr lang="en-US" altLang="zh-CN" sz="1400" b="1" dirty="0"/>
              <a:t>l</a:t>
            </a:r>
            <a:endParaRPr lang="en-US" altLang="zh-CN" sz="1400" dirty="0"/>
          </a:p>
          <a:p>
            <a:r>
              <a:rPr lang="en-US" altLang="zh-CN" sz="1400" dirty="0"/>
              <a:t>11            </a:t>
            </a:r>
            <a:r>
              <a:rPr lang="en-US" altLang="zh-CN" sz="1400" dirty="0" err="1"/>
              <a:t>printf</a:t>
            </a:r>
            <a:r>
              <a:rPr lang="en-US" altLang="zh-CN" sz="1400" dirty="0"/>
              <a:t>("The sum of 1</a:t>
            </a:r>
            <a:r>
              <a:rPr lang="zh-CN" altLang="en-US" sz="1400" dirty="0"/>
              <a:t>～</a:t>
            </a:r>
            <a:r>
              <a:rPr lang="en-US" altLang="zh-CN" sz="1400" dirty="0"/>
              <a:t>50 is %d \n", n );</a:t>
            </a:r>
          </a:p>
          <a:p>
            <a:r>
              <a:rPr lang="en-US" altLang="zh-CN" sz="1400" dirty="0"/>
              <a:t>12       </a:t>
            </a:r>
          </a:p>
          <a:p>
            <a:r>
              <a:rPr lang="en-US" altLang="zh-CN" sz="1400" dirty="0"/>
              <a:t>13      }</a:t>
            </a:r>
          </a:p>
          <a:p>
            <a:r>
              <a:rPr lang="en-US" altLang="zh-CN" sz="1400" dirty="0"/>
              <a:t>14      </a:t>
            </a:r>
            <a:r>
              <a:rPr lang="en-US" altLang="zh-CN" sz="1400" dirty="0" err="1"/>
              <a:t>int</a:t>
            </a:r>
            <a:r>
              <a:rPr lang="en-US" altLang="zh-CN" sz="1400" dirty="0"/>
              <a:t> sum(</a:t>
            </a:r>
            <a:r>
              <a:rPr lang="en-US" altLang="zh-CN" sz="1400" dirty="0" err="1"/>
              <a:t>int</a:t>
            </a:r>
            <a:r>
              <a:rPr lang="en-US" altLang="zh-CN" sz="1400" dirty="0"/>
              <a:t> m)</a:t>
            </a:r>
          </a:p>
          <a:p>
            <a:r>
              <a:rPr lang="en-US" altLang="zh-CN" sz="1400" dirty="0"/>
              <a:t>15      {</a:t>
            </a:r>
          </a:p>
          <a:p>
            <a:r>
              <a:rPr lang="en-US" altLang="zh-CN" sz="1400" dirty="0"/>
              <a:t>16          </a:t>
            </a:r>
            <a:r>
              <a:rPr lang="en-US" altLang="zh-CN" sz="1400" dirty="0" err="1"/>
              <a:t>int</a:t>
            </a:r>
            <a:r>
              <a:rPr lang="en-US" altLang="zh-CN" sz="1400" dirty="0"/>
              <a:t> </a:t>
            </a:r>
            <a:r>
              <a:rPr lang="en-US" altLang="zh-CN" sz="1400" dirty="0" err="1"/>
              <a:t>i</a:t>
            </a:r>
            <a:r>
              <a:rPr lang="en-US" altLang="zh-CN" sz="1400" dirty="0"/>
              <a:t>, n = 0;</a:t>
            </a:r>
          </a:p>
          <a:p>
            <a:r>
              <a:rPr lang="en-US" altLang="zh-CN" sz="1400" dirty="0"/>
              <a:t>17          for(</a:t>
            </a:r>
            <a:r>
              <a:rPr lang="en-US" altLang="zh-CN" sz="1400" dirty="0" err="1"/>
              <a:t>i</a:t>
            </a:r>
            <a:r>
              <a:rPr lang="en-US" altLang="zh-CN" sz="1400" dirty="0"/>
              <a:t> = 1; </a:t>
            </a:r>
            <a:r>
              <a:rPr lang="en-US" altLang="zh-CN" sz="1400" dirty="0" err="1"/>
              <a:t>i</a:t>
            </a:r>
            <a:r>
              <a:rPr lang="en-US" altLang="zh-CN" sz="1400" dirty="0"/>
              <a:t> &lt;= m; </a:t>
            </a:r>
            <a:r>
              <a:rPr lang="en-US" altLang="zh-CN" sz="1400" dirty="0" err="1"/>
              <a:t>i</a:t>
            </a:r>
            <a:r>
              <a:rPr lang="en-US" altLang="zh-CN" sz="1400" dirty="0"/>
              <a:t>++)</a:t>
            </a:r>
          </a:p>
          <a:p>
            <a:r>
              <a:rPr lang="en-US" altLang="zh-CN" sz="1400" dirty="0"/>
              <a:t>18          {</a:t>
            </a:r>
          </a:p>
          <a:p>
            <a:r>
              <a:rPr lang="en-US" altLang="zh-CN" sz="1400" dirty="0"/>
              <a:t>19	n += </a:t>
            </a:r>
            <a:r>
              <a:rPr lang="en-US" altLang="zh-CN" sz="1400" dirty="0" err="1"/>
              <a:t>i</a:t>
            </a:r>
            <a:r>
              <a:rPr lang="en-US" altLang="zh-CN" sz="1400" dirty="0"/>
              <a:t>;</a:t>
            </a:r>
          </a:p>
          <a:p>
            <a:r>
              <a:rPr lang="en-US" altLang="zh-CN" sz="1400" dirty="0"/>
              <a:t>20          }</a:t>
            </a:r>
          </a:p>
          <a:p>
            <a:r>
              <a:rPr lang="en-US" altLang="zh-CN" sz="1400" dirty="0"/>
              <a:t>21            </a:t>
            </a:r>
            <a:r>
              <a:rPr lang="en-US" altLang="zh-CN" sz="1400" dirty="0" err="1"/>
              <a:t>printf</a:t>
            </a:r>
            <a:r>
              <a:rPr lang="en-US" altLang="zh-CN" sz="1400" dirty="0"/>
              <a:t>("The sum of 1</a:t>
            </a:r>
            <a:r>
              <a:rPr lang="zh-CN" altLang="en-US" sz="1400" dirty="0"/>
              <a:t>～</a:t>
            </a:r>
            <a:r>
              <a:rPr lang="en-US" altLang="zh-CN" sz="1400" dirty="0"/>
              <a:t>m is = %d\n", n);</a:t>
            </a:r>
          </a:p>
          <a:p>
            <a:r>
              <a:rPr lang="en-US" altLang="zh-CN" sz="1400" dirty="0"/>
              <a:t>20      }</a:t>
            </a:r>
          </a:p>
        </p:txBody>
      </p:sp>
      <p:sp>
        <p:nvSpPr>
          <p:cNvPr id="6" name="Rectangle 7"/>
          <p:cNvSpPr>
            <a:spLocks noChangeArrowheads="1"/>
          </p:cNvSpPr>
          <p:nvPr/>
        </p:nvSpPr>
        <p:spPr bwMode="auto">
          <a:xfrm>
            <a:off x="5675540" y="2805113"/>
            <a:ext cx="4419600" cy="15811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 b 19</a:t>
            </a:r>
          </a:p>
          <a:p>
            <a:r>
              <a:rPr lang="en-US" altLang="zh-CN" sz="1400"/>
              <a:t>(gdb) </a:t>
            </a:r>
            <a:r>
              <a:rPr lang="en-US" altLang="zh-CN" sz="1400" b="1"/>
              <a:t>c</a:t>
            </a:r>
          </a:p>
          <a:p>
            <a:r>
              <a:rPr lang="en-US" altLang="zh-CN" sz="1400"/>
              <a:t>Breakpoin 2, sum(m=50) at test.c:19</a:t>
            </a:r>
          </a:p>
          <a:p>
            <a:r>
              <a:rPr lang="en-US" altLang="zh-CN" sz="1400"/>
              <a:t>19	printf(“The sum of 1-m is %d\n”, n)</a:t>
            </a:r>
            <a:r>
              <a:rPr lang="en-US" altLang="zh-CN" sz="1400" b="1"/>
              <a:t>;</a:t>
            </a:r>
            <a:endParaRPr lang="en-US" altLang="zh-CN" sz="1400"/>
          </a:p>
          <a:p>
            <a:r>
              <a:rPr lang="en-US" altLang="zh-CN" sz="1400" b="1"/>
              <a:t>(gdb) bt</a:t>
            </a:r>
            <a:endParaRPr lang="en-US" altLang="zh-CN" sz="1400"/>
          </a:p>
          <a:p>
            <a:r>
              <a:rPr lang="en-US" altLang="zh-CN" sz="1400" b="1"/>
              <a:t>#0	sum(m=50) at test.c:19</a:t>
            </a:r>
            <a:endParaRPr lang="en-US" altLang="zh-CN" sz="1400"/>
          </a:p>
          <a:p>
            <a:r>
              <a:rPr lang="en-US" altLang="zh-CN" sz="1400" b="1"/>
              <a:t>#1	0x080483e8 in main() at test.c:6</a:t>
            </a:r>
            <a:endParaRPr lang="en-US" altLang="zh-CN" sz="1400"/>
          </a:p>
        </p:txBody>
      </p:sp>
      <p:sp>
        <p:nvSpPr>
          <p:cNvPr id="7" name="Rectangle 8"/>
          <p:cNvSpPr>
            <a:spLocks noChangeArrowheads="1"/>
          </p:cNvSpPr>
          <p:nvPr/>
        </p:nvSpPr>
        <p:spPr bwMode="auto">
          <a:xfrm>
            <a:off x="5675540" y="1738313"/>
            <a:ext cx="4419600" cy="9429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 </a:t>
            </a:r>
            <a:r>
              <a:rPr lang="en-US" altLang="zh-CN" sz="1400" b="1"/>
              <a:t>info b</a:t>
            </a:r>
            <a:endParaRPr lang="en-US" altLang="zh-CN" sz="1400"/>
          </a:p>
          <a:p>
            <a:r>
              <a:rPr lang="en-US" altLang="zh-CN" sz="1400"/>
              <a:t>Num Type           Disp Enb Address    What</a:t>
            </a:r>
          </a:p>
          <a:p>
            <a:r>
              <a:rPr lang="en-US" altLang="zh-CN" sz="1400"/>
              <a:t>1   breakpoint     keep y   0x0804846d in main at test.c:6</a:t>
            </a:r>
          </a:p>
        </p:txBody>
      </p:sp>
      <p:sp>
        <p:nvSpPr>
          <p:cNvPr id="8" name="Rectangle 9"/>
          <p:cNvSpPr>
            <a:spLocks noChangeArrowheads="1"/>
          </p:cNvSpPr>
          <p:nvPr/>
        </p:nvSpPr>
        <p:spPr bwMode="auto">
          <a:xfrm>
            <a:off x="5675540" y="4451350"/>
            <a:ext cx="4419600" cy="15811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 </a:t>
            </a:r>
            <a:r>
              <a:rPr lang="en-US" altLang="zh-CN" sz="1400" b="1"/>
              <a:t>r</a:t>
            </a:r>
            <a:endParaRPr lang="en-US" altLang="zh-CN" sz="1400"/>
          </a:p>
          <a:p>
            <a:r>
              <a:rPr lang="en-US" altLang="zh-CN" sz="1400"/>
              <a:t>Starting program: /root/workplace/gdb/test</a:t>
            </a:r>
          </a:p>
          <a:p>
            <a:r>
              <a:rPr lang="en-US" altLang="zh-CN" sz="1400"/>
              <a:t>Reading symbols from shared object read from target memory...done.</a:t>
            </a:r>
          </a:p>
          <a:p>
            <a:r>
              <a:rPr lang="en-US" altLang="zh-CN" sz="1400"/>
              <a:t>Loaded system supplied DSO at 0x5fb000</a:t>
            </a:r>
          </a:p>
          <a:p>
            <a:r>
              <a:rPr lang="en-US" altLang="zh-CN" sz="1400"/>
              <a:t>Breakpoint 1, main () at test.c:6</a:t>
            </a:r>
          </a:p>
          <a:p>
            <a:r>
              <a:rPr lang="en-US" altLang="zh-CN" sz="1400"/>
              <a:t>6                 sum(50);</a:t>
            </a:r>
          </a:p>
        </p:txBody>
      </p:sp>
    </p:spTree>
    <p:extLst>
      <p:ext uri="{BB962C8B-B14F-4D97-AF65-F5344CB8AC3E}">
        <p14:creationId xmlns:p14="http://schemas.microsoft.com/office/powerpoint/2010/main" val="181868284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使用方法（</a:t>
            </a:r>
            <a:r>
              <a:rPr lang="en-US" altLang="zh-CN" dirty="0" smtClean="0"/>
              <a:t>3</a:t>
            </a:r>
            <a:r>
              <a:rPr lang="zh-CN" altLang="en-US" dirty="0" smtClean="0"/>
              <a:t>）</a:t>
            </a:r>
            <a:endParaRPr lang="zh-CN" altLang="en-US" dirty="0"/>
          </a:p>
        </p:txBody>
      </p:sp>
      <p:sp>
        <p:nvSpPr>
          <p:cNvPr id="4" name="Rectangle 4"/>
          <p:cNvSpPr>
            <a:spLocks noChangeArrowheads="1"/>
          </p:cNvSpPr>
          <p:nvPr/>
        </p:nvSpPr>
        <p:spPr bwMode="auto">
          <a:xfrm>
            <a:off x="1647371" y="1581605"/>
            <a:ext cx="3124200" cy="9429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sv-SE" altLang="zh-CN" sz="1400" dirty="0"/>
              <a:t>(gdb) </a:t>
            </a:r>
            <a:r>
              <a:rPr lang="sv-SE" altLang="zh-CN" sz="1400" b="1" dirty="0"/>
              <a:t>p n</a:t>
            </a:r>
            <a:endParaRPr lang="sv-SE" altLang="zh-CN" sz="1400" dirty="0"/>
          </a:p>
          <a:p>
            <a:r>
              <a:rPr lang="sv-SE" altLang="zh-CN" sz="1400" dirty="0"/>
              <a:t>$1 = 0</a:t>
            </a:r>
          </a:p>
          <a:p>
            <a:r>
              <a:rPr lang="sv-SE" altLang="zh-CN" sz="1400" dirty="0"/>
              <a:t>(gdb)</a:t>
            </a:r>
            <a:r>
              <a:rPr lang="sv-SE" altLang="zh-CN" sz="1400" b="1" dirty="0"/>
              <a:t> p i</a:t>
            </a:r>
            <a:endParaRPr lang="sv-SE" altLang="zh-CN" sz="1400" dirty="0"/>
          </a:p>
          <a:p>
            <a:r>
              <a:rPr lang="sv-SE" altLang="zh-CN" sz="1400" dirty="0"/>
              <a:t>$2 = 134518440</a:t>
            </a:r>
          </a:p>
        </p:txBody>
      </p:sp>
      <p:sp>
        <p:nvSpPr>
          <p:cNvPr id="5" name="Rectangle 5"/>
          <p:cNvSpPr>
            <a:spLocks noChangeArrowheads="1"/>
          </p:cNvSpPr>
          <p:nvPr/>
        </p:nvSpPr>
        <p:spPr bwMode="auto">
          <a:xfrm>
            <a:off x="1647371" y="2676980"/>
            <a:ext cx="3124200" cy="136842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 </a:t>
            </a:r>
            <a:r>
              <a:rPr lang="en-US" altLang="zh-CN" sz="1400" b="1"/>
              <a:t>n</a:t>
            </a:r>
            <a:endParaRPr lang="en-US" altLang="zh-CN" sz="1400"/>
          </a:p>
          <a:p>
            <a:r>
              <a:rPr lang="en-US" altLang="zh-CN" sz="1400"/>
              <a:t>The sum of 1-m is 1275</a:t>
            </a:r>
          </a:p>
          <a:p>
            <a:r>
              <a:rPr lang="en-US" altLang="zh-CN" sz="1400"/>
              <a:t>7            for (i = 1; i &lt;= 50; i++) </a:t>
            </a:r>
          </a:p>
          <a:p>
            <a:r>
              <a:rPr lang="en-US" altLang="zh-CN" sz="1400"/>
              <a:t>(gdb)</a:t>
            </a:r>
            <a:r>
              <a:rPr lang="en-US" altLang="zh-CN" sz="1400" b="1"/>
              <a:t> s</a:t>
            </a:r>
            <a:endParaRPr lang="en-US" altLang="zh-CN" sz="1400"/>
          </a:p>
          <a:p>
            <a:r>
              <a:rPr lang="en-US" altLang="zh-CN" sz="1400"/>
              <a:t>sum (m=50) at test.c:16</a:t>
            </a:r>
          </a:p>
          <a:p>
            <a:r>
              <a:rPr lang="en-US" altLang="zh-CN" sz="1400"/>
              <a:t>16              int i, n = 0;</a:t>
            </a:r>
          </a:p>
        </p:txBody>
      </p:sp>
      <p:sp>
        <p:nvSpPr>
          <p:cNvPr id="6" name="Rectangle 6"/>
          <p:cNvSpPr>
            <a:spLocks noChangeArrowheads="1"/>
          </p:cNvSpPr>
          <p:nvPr/>
        </p:nvSpPr>
        <p:spPr bwMode="auto">
          <a:xfrm>
            <a:off x="1647371" y="4200980"/>
            <a:ext cx="3124200" cy="9429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a:t>
            </a:r>
            <a:r>
              <a:rPr lang="en-US" altLang="zh-CN" sz="1400" b="1"/>
              <a:t> c</a:t>
            </a:r>
            <a:endParaRPr lang="en-US" altLang="zh-CN" sz="1400"/>
          </a:p>
          <a:p>
            <a:r>
              <a:rPr lang="en-US" altLang="zh-CN" sz="1400"/>
              <a:t>Continuing.</a:t>
            </a:r>
          </a:p>
          <a:p>
            <a:r>
              <a:rPr lang="en-US" altLang="zh-CN" sz="1400"/>
              <a:t>The sum of 1-50 is :1275</a:t>
            </a:r>
          </a:p>
          <a:p>
            <a:r>
              <a:rPr lang="en-US" altLang="zh-CN" sz="1400"/>
              <a:t>Program exited with code 031. </a:t>
            </a:r>
          </a:p>
        </p:txBody>
      </p:sp>
      <p:sp>
        <p:nvSpPr>
          <p:cNvPr id="7" name="Rectangle 7"/>
          <p:cNvSpPr>
            <a:spLocks noChangeArrowheads="1"/>
          </p:cNvSpPr>
          <p:nvPr/>
        </p:nvSpPr>
        <p:spPr bwMode="auto">
          <a:xfrm>
            <a:off x="5000171" y="1272043"/>
            <a:ext cx="5105400" cy="264477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 </a:t>
            </a:r>
            <a:r>
              <a:rPr lang="en-US" altLang="zh-CN" sz="1400" b="1"/>
              <a:t>help</a:t>
            </a:r>
            <a:endParaRPr lang="en-US" altLang="zh-CN" sz="1400"/>
          </a:p>
          <a:p>
            <a:r>
              <a:rPr lang="en-US" altLang="zh-CN" sz="1400"/>
              <a:t>List of classes of commands:</a:t>
            </a:r>
          </a:p>
          <a:p>
            <a:r>
              <a:rPr lang="en-US" altLang="zh-CN" sz="1400"/>
              <a:t>aliases -- Aliases of other commands</a:t>
            </a:r>
          </a:p>
          <a:p>
            <a:r>
              <a:rPr lang="en-US" altLang="zh-CN" sz="1400"/>
              <a:t>breakpoints -- Making program stop at certain points</a:t>
            </a:r>
          </a:p>
          <a:p>
            <a:r>
              <a:rPr lang="en-US" altLang="zh-CN" sz="1400"/>
              <a:t>data -- Examining data</a:t>
            </a:r>
          </a:p>
          <a:p>
            <a:r>
              <a:rPr lang="en-US" altLang="zh-CN" sz="1400"/>
              <a:t>files -- Specifying and examining files</a:t>
            </a:r>
          </a:p>
          <a:p>
            <a:r>
              <a:rPr lang="en-US" altLang="zh-CN" sz="1400"/>
              <a:t>internals -- Maintenance commands</a:t>
            </a:r>
          </a:p>
          <a:p>
            <a:r>
              <a:rPr lang="en-US" altLang="zh-CN" sz="1400"/>
              <a:t>…</a:t>
            </a:r>
          </a:p>
          <a:p>
            <a:r>
              <a:rPr lang="en-US" altLang="zh-CN" sz="1400" b="1"/>
              <a:t>Type "help" followed by a class name for a list of commands in that class.</a:t>
            </a:r>
            <a:endParaRPr lang="en-US" altLang="zh-CN" sz="1400"/>
          </a:p>
          <a:p>
            <a:r>
              <a:rPr lang="en-US" altLang="zh-CN" sz="1400"/>
              <a:t>Type "help" followed by command name for full documentation.</a:t>
            </a:r>
          </a:p>
          <a:p>
            <a:r>
              <a:rPr lang="en-US" altLang="zh-CN" sz="1400"/>
              <a:t>Command name abbreviations are allowed if unambiguous.</a:t>
            </a:r>
          </a:p>
        </p:txBody>
      </p:sp>
      <p:sp>
        <p:nvSpPr>
          <p:cNvPr id="8" name="Rectangle 9"/>
          <p:cNvSpPr>
            <a:spLocks noChangeArrowheads="1"/>
          </p:cNvSpPr>
          <p:nvPr/>
        </p:nvSpPr>
        <p:spPr bwMode="auto">
          <a:xfrm>
            <a:off x="5000171" y="4077155"/>
            <a:ext cx="5105400" cy="15811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400"/>
              <a:t>(gdb)</a:t>
            </a:r>
            <a:r>
              <a:rPr lang="en-US" altLang="zh-CN" sz="1400" b="1"/>
              <a:t> help call</a:t>
            </a:r>
            <a:endParaRPr lang="en-US" altLang="zh-CN" sz="1400"/>
          </a:p>
          <a:p>
            <a:r>
              <a:rPr lang="en-US" altLang="zh-CN" sz="1400"/>
              <a:t>Call a function in the program.</a:t>
            </a:r>
          </a:p>
          <a:p>
            <a:r>
              <a:rPr lang="en-US" altLang="zh-CN" sz="1400"/>
              <a:t>The argument is the function name and arguments, in the notation of the</a:t>
            </a:r>
          </a:p>
          <a:p>
            <a:r>
              <a:rPr lang="en-US" altLang="zh-CN" sz="1400"/>
              <a:t>current working language.  The result is printed and saved in the value</a:t>
            </a:r>
          </a:p>
          <a:p>
            <a:r>
              <a:rPr lang="en-US" altLang="zh-CN" sz="1400"/>
              <a:t>history, if it is not void.</a:t>
            </a:r>
          </a:p>
        </p:txBody>
      </p:sp>
    </p:spTree>
    <p:extLst>
      <p:ext uri="{BB962C8B-B14F-4D97-AF65-F5344CB8AC3E}">
        <p14:creationId xmlns:p14="http://schemas.microsoft.com/office/powerpoint/2010/main" val="310369111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工作环境相关命令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412" y="1414463"/>
            <a:ext cx="9904575" cy="432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47171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设置断点与恢复命令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510" y="1032782"/>
            <a:ext cx="8335737" cy="5192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3670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中源码查看相关相关命令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743" y="1796142"/>
            <a:ext cx="10497114" cy="367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26585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gdb</a:t>
            </a:r>
            <a:r>
              <a:rPr lang="zh-CN" altLang="en-US" dirty="0" smtClean="0"/>
              <a:t>中查看运行数据的相关命令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633" y="2090056"/>
            <a:ext cx="11238734" cy="281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38479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make </a:t>
            </a:r>
            <a:r>
              <a:rPr lang="zh-CN" altLang="en-US" dirty="0" smtClean="0"/>
              <a:t>工程管理器</a:t>
            </a:r>
            <a:endParaRPr lang="zh-CN" altLang="en-US" dirty="0"/>
          </a:p>
        </p:txBody>
      </p:sp>
      <p:sp>
        <p:nvSpPr>
          <p:cNvPr id="3" name="内容占位符 2"/>
          <p:cNvSpPr>
            <a:spLocks noGrp="1"/>
          </p:cNvSpPr>
          <p:nvPr>
            <p:ph idx="1"/>
          </p:nvPr>
        </p:nvSpPr>
        <p:spPr/>
        <p:txBody>
          <a:bodyPr/>
          <a:lstStyle/>
          <a:p>
            <a:pPr marL="342900" lvl="0" indent="-342900" algn="just" fontAlgn="base">
              <a:lnSpc>
                <a:spcPct val="100000"/>
              </a:lnSpc>
              <a:spcBef>
                <a:spcPct val="20000"/>
              </a:spcBef>
              <a:spcAft>
                <a:spcPct val="0"/>
              </a:spcAft>
              <a:buClr>
                <a:srgbClr val="3333CC"/>
              </a:buClr>
              <a:buSzPct val="60000"/>
              <a:buFont typeface="Wingdings" panose="05000000000000000000" pitchFamily="2" charset="2"/>
              <a:buChar char="n"/>
            </a:pPr>
            <a:r>
              <a:rPr lang="zh-CN" altLang="en-US" sz="2400" b="1" dirty="0">
                <a:solidFill>
                  <a:srgbClr val="000000"/>
                </a:solidFill>
                <a:latin typeface="Tahoma"/>
                <a:ea typeface="宋体"/>
              </a:rPr>
              <a:t>编译和连接的一般步骤是：</a:t>
            </a:r>
          </a:p>
          <a:p>
            <a:pPr marL="742950" lvl="1" indent="-285750" algn="just" fontAlgn="base">
              <a:lnSpc>
                <a:spcPct val="100000"/>
              </a:lnSpc>
              <a:spcBef>
                <a:spcPct val="20000"/>
              </a:spcBef>
              <a:spcAft>
                <a:spcPct val="0"/>
              </a:spcAft>
              <a:buClr>
                <a:srgbClr val="FF0000"/>
              </a:buClr>
              <a:buSzPct val="55000"/>
              <a:buFont typeface="Wingdings" panose="05000000000000000000" pitchFamily="2" charset="2"/>
              <a:buChar char="n"/>
            </a:pPr>
            <a:r>
              <a:rPr lang="zh-CN" altLang="en-US" b="1" dirty="0">
                <a:solidFill>
                  <a:srgbClr val="000000"/>
                </a:solidFill>
                <a:latin typeface="Tahoma"/>
                <a:ea typeface="宋体"/>
              </a:rPr>
              <a:t>第一阶段把源文件一个一个的编译成目标文件，</a:t>
            </a:r>
          </a:p>
          <a:p>
            <a:pPr marL="742950" lvl="1" indent="-285750" algn="just" fontAlgn="base">
              <a:lnSpc>
                <a:spcPct val="100000"/>
              </a:lnSpc>
              <a:spcBef>
                <a:spcPct val="20000"/>
              </a:spcBef>
              <a:spcAft>
                <a:spcPct val="0"/>
              </a:spcAft>
              <a:buClr>
                <a:srgbClr val="FF0000"/>
              </a:buClr>
              <a:buSzPct val="55000"/>
              <a:buFont typeface="Wingdings" panose="05000000000000000000" pitchFamily="2" charset="2"/>
              <a:buChar char="n"/>
            </a:pPr>
            <a:r>
              <a:rPr lang="zh-CN" altLang="en-US" b="1" dirty="0">
                <a:solidFill>
                  <a:srgbClr val="000000"/>
                </a:solidFill>
                <a:latin typeface="Tahoma"/>
                <a:ea typeface="宋体"/>
              </a:rPr>
              <a:t>第二阶段把所有的目标文件加上需要的程序包连接成一个可执行文件。</a:t>
            </a:r>
          </a:p>
          <a:p>
            <a:pPr marL="742950" lvl="1" indent="-285750" algn="just" fontAlgn="base">
              <a:lnSpc>
                <a:spcPct val="100000"/>
              </a:lnSpc>
              <a:spcBef>
                <a:spcPct val="20000"/>
              </a:spcBef>
              <a:spcAft>
                <a:spcPct val="0"/>
              </a:spcAft>
              <a:buClr>
                <a:srgbClr val="FF0000"/>
              </a:buClr>
              <a:buSzPct val="55000"/>
              <a:buFont typeface="Wingdings" panose="05000000000000000000" pitchFamily="2" charset="2"/>
              <a:buChar char="n"/>
            </a:pPr>
            <a:endParaRPr lang="zh-CN" altLang="en-US" sz="800" b="1" dirty="0">
              <a:solidFill>
                <a:srgbClr val="000000"/>
              </a:solidFill>
              <a:latin typeface="Tahoma"/>
              <a:ea typeface="宋体"/>
            </a:endParaRPr>
          </a:p>
          <a:p>
            <a:pPr marL="342900" lvl="0" indent="-342900" algn="just" fontAlgn="base">
              <a:lnSpc>
                <a:spcPct val="100000"/>
              </a:lnSpc>
              <a:spcBef>
                <a:spcPct val="20000"/>
              </a:spcBef>
              <a:spcAft>
                <a:spcPct val="0"/>
              </a:spcAft>
              <a:buClr>
                <a:srgbClr val="3333CC"/>
              </a:buClr>
              <a:buSzPct val="60000"/>
              <a:buFont typeface="Wingdings" panose="05000000000000000000" pitchFamily="2" charset="2"/>
              <a:buChar char="n"/>
            </a:pPr>
            <a:r>
              <a:rPr lang="zh-CN" altLang="en-US" sz="2400" b="1" dirty="0">
                <a:solidFill>
                  <a:srgbClr val="000000"/>
                </a:solidFill>
                <a:latin typeface="Tahoma"/>
                <a:ea typeface="宋体"/>
              </a:rPr>
              <a:t>这样的过程需要使用大量的</a:t>
            </a:r>
            <a:r>
              <a:rPr lang="en-US" altLang="zh-CN" sz="2400" b="1" dirty="0" err="1">
                <a:solidFill>
                  <a:srgbClr val="000000"/>
                </a:solidFill>
                <a:latin typeface="Tahoma"/>
                <a:ea typeface="宋体"/>
              </a:rPr>
              <a:t>gcc</a:t>
            </a:r>
            <a:r>
              <a:rPr lang="zh-CN" altLang="en-US" sz="2400" b="1" dirty="0">
                <a:solidFill>
                  <a:srgbClr val="000000"/>
                </a:solidFill>
                <a:latin typeface="Tahoma"/>
                <a:ea typeface="宋体"/>
              </a:rPr>
              <a:t>命令。而</a:t>
            </a:r>
            <a:r>
              <a:rPr lang="en-US" altLang="zh-CN" sz="2400" b="1" dirty="0">
                <a:solidFill>
                  <a:srgbClr val="FF0000"/>
                </a:solidFill>
                <a:latin typeface="Tahoma"/>
                <a:ea typeface="宋体"/>
              </a:rPr>
              <a:t>make</a:t>
            </a:r>
            <a:r>
              <a:rPr lang="zh-CN" altLang="en-US" sz="2400" b="1" dirty="0">
                <a:solidFill>
                  <a:srgbClr val="FF0000"/>
                </a:solidFill>
                <a:latin typeface="Tahoma"/>
                <a:ea typeface="宋体"/>
              </a:rPr>
              <a:t>则使从大量源文件的编译和连接工作中解放出来，综合为一步完成</a:t>
            </a:r>
            <a:r>
              <a:rPr lang="zh-CN" altLang="en-US" sz="2400" b="1" dirty="0" smtClean="0">
                <a:solidFill>
                  <a:srgbClr val="000000"/>
                </a:solidFill>
                <a:latin typeface="Tahoma"/>
                <a:ea typeface="宋体"/>
              </a:rPr>
              <a:t>。</a:t>
            </a:r>
            <a:endParaRPr lang="en-US" altLang="zh-CN" sz="2400" b="1" dirty="0" smtClean="0">
              <a:solidFill>
                <a:srgbClr val="000000"/>
              </a:solidFill>
              <a:latin typeface="Tahoma"/>
              <a:ea typeface="宋体"/>
            </a:endParaRPr>
          </a:p>
          <a:p>
            <a:r>
              <a:rPr lang="zh-CN" altLang="en-US" sz="2400" b="1" dirty="0" smtClean="0">
                <a:sym typeface="Symbol" panose="05050102010706020507" pitchFamily="18" charset="2"/>
              </a:rPr>
              <a:t>工程管理器，顾名思义，是指管理较多的文件 </a:t>
            </a:r>
          </a:p>
          <a:p>
            <a:r>
              <a:rPr lang="en-US" altLang="zh-CN" sz="2400" b="1" dirty="0" smtClean="0">
                <a:sym typeface="Symbol" panose="05050102010706020507" pitchFamily="18" charset="2"/>
              </a:rPr>
              <a:t>Make</a:t>
            </a:r>
            <a:r>
              <a:rPr lang="zh-CN" altLang="en-US" sz="2400" b="1" dirty="0" smtClean="0">
                <a:sym typeface="Symbol" panose="05050102010706020507" pitchFamily="18" charset="2"/>
              </a:rPr>
              <a:t>工程管理器也就是个</a:t>
            </a:r>
            <a:r>
              <a:rPr lang="zh-CN" altLang="en-US" sz="2400" b="1" dirty="0" smtClean="0">
                <a:latin typeface="Arial" panose="020B0604020202020204" pitchFamily="34" charset="0"/>
                <a:sym typeface="Symbol" panose="05050102010706020507" pitchFamily="18" charset="2"/>
              </a:rPr>
              <a:t>“</a:t>
            </a:r>
            <a:r>
              <a:rPr lang="zh-CN" altLang="en-US" sz="2400" b="1" dirty="0" smtClean="0">
                <a:sym typeface="Symbol" panose="05050102010706020507" pitchFamily="18" charset="2"/>
              </a:rPr>
              <a:t>自动编译管理器</a:t>
            </a:r>
            <a:r>
              <a:rPr lang="zh-CN" altLang="en-US" sz="2400" b="1" dirty="0" smtClean="0">
                <a:latin typeface="Arial" panose="020B0604020202020204" pitchFamily="34" charset="0"/>
                <a:sym typeface="Symbol" panose="05050102010706020507" pitchFamily="18" charset="2"/>
              </a:rPr>
              <a:t>”</a:t>
            </a:r>
            <a:r>
              <a:rPr lang="zh-CN" altLang="en-US" sz="2400" b="1" dirty="0" smtClean="0">
                <a:sym typeface="Symbol" panose="05050102010706020507" pitchFamily="18" charset="2"/>
              </a:rPr>
              <a:t>，这里的</a:t>
            </a:r>
            <a:r>
              <a:rPr lang="zh-CN" altLang="en-US" sz="2400" b="1" dirty="0" smtClean="0">
                <a:latin typeface="Arial" panose="020B0604020202020204" pitchFamily="34" charset="0"/>
                <a:sym typeface="Symbol" panose="05050102010706020507" pitchFamily="18" charset="2"/>
              </a:rPr>
              <a:t>“</a:t>
            </a:r>
            <a:r>
              <a:rPr lang="zh-CN" altLang="en-US" sz="2400" b="1" dirty="0" smtClean="0">
                <a:sym typeface="Symbol" panose="05050102010706020507" pitchFamily="18" charset="2"/>
              </a:rPr>
              <a:t>自动</a:t>
            </a:r>
            <a:r>
              <a:rPr lang="zh-CN" altLang="en-US" sz="2400" b="1" dirty="0" smtClean="0">
                <a:latin typeface="Arial" panose="020B0604020202020204" pitchFamily="34" charset="0"/>
                <a:sym typeface="Symbol" panose="05050102010706020507" pitchFamily="18" charset="2"/>
              </a:rPr>
              <a:t>”</a:t>
            </a:r>
            <a:r>
              <a:rPr lang="zh-CN" altLang="en-US" sz="2400" b="1" dirty="0" smtClean="0">
                <a:sym typeface="Symbol" panose="05050102010706020507" pitchFamily="18" charset="2"/>
              </a:rPr>
              <a:t>是指它能构根据文件时间戳自动发现更新过的文件而减少编译的工作量，同时，它通过读入</a:t>
            </a:r>
            <a:r>
              <a:rPr lang="en-US" altLang="zh-CN" sz="2400" b="1" dirty="0" err="1" smtClean="0">
                <a:sym typeface="Symbol" panose="05050102010706020507" pitchFamily="18" charset="2"/>
              </a:rPr>
              <a:t>Makefile</a:t>
            </a:r>
            <a:r>
              <a:rPr lang="zh-CN" altLang="en-US" sz="2400" b="1" dirty="0" smtClean="0">
                <a:sym typeface="Symbol" panose="05050102010706020507" pitchFamily="18" charset="2"/>
              </a:rPr>
              <a:t>文件文件的内容来执行大量的编译工作 </a:t>
            </a:r>
          </a:p>
          <a:p>
            <a:pPr marL="342900" lvl="0" indent="-342900" algn="just" fontAlgn="base">
              <a:lnSpc>
                <a:spcPct val="100000"/>
              </a:lnSpc>
              <a:spcBef>
                <a:spcPct val="20000"/>
              </a:spcBef>
              <a:spcAft>
                <a:spcPct val="0"/>
              </a:spcAft>
              <a:buClr>
                <a:srgbClr val="3333CC"/>
              </a:buClr>
              <a:buSzPct val="60000"/>
              <a:buFont typeface="Wingdings" panose="05000000000000000000" pitchFamily="2" charset="2"/>
              <a:buChar char="n"/>
            </a:pPr>
            <a:endParaRPr lang="zh-CN" altLang="en-US" sz="2400" b="1" dirty="0">
              <a:solidFill>
                <a:srgbClr val="000000"/>
              </a:solidFill>
              <a:latin typeface="Tahoma"/>
              <a:ea typeface="宋体"/>
            </a:endParaRPr>
          </a:p>
          <a:p>
            <a:endParaRPr lang="zh-CN" altLang="en-US" dirty="0"/>
          </a:p>
        </p:txBody>
      </p:sp>
    </p:spTree>
    <p:extLst>
      <p:ext uri="{BB962C8B-B14F-4D97-AF65-F5344CB8AC3E}">
        <p14:creationId xmlns:p14="http://schemas.microsoft.com/office/powerpoint/2010/main" val="168917031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latin typeface="宋体" panose="02010600030101010101" pitchFamily="2" charset="-122"/>
              </a:rPr>
              <a:t>makefile</a:t>
            </a:r>
            <a:r>
              <a:rPr lang="zh-CN" altLang="en-US" dirty="0" smtClean="0">
                <a:latin typeface="宋体" panose="02010600030101010101" pitchFamily="2" charset="-122"/>
              </a:rPr>
              <a:t>基本结构（</a:t>
            </a:r>
            <a:r>
              <a:rPr lang="en-US" altLang="zh-CN" dirty="0" smtClean="0">
                <a:latin typeface="宋体" panose="02010600030101010101" pitchFamily="2" charset="-122"/>
              </a:rPr>
              <a:t>1</a:t>
            </a:r>
            <a:r>
              <a:rPr lang="zh-CN" altLang="en-US" dirty="0" smtClean="0">
                <a:latin typeface="宋体" panose="02010600030101010101" pitchFamily="2" charset="-122"/>
              </a:rPr>
              <a:t>）</a:t>
            </a:r>
            <a:endParaRPr lang="zh-CN" altLang="en-US" dirty="0"/>
          </a:p>
        </p:txBody>
      </p:sp>
      <p:sp>
        <p:nvSpPr>
          <p:cNvPr id="3" name="内容占位符 2"/>
          <p:cNvSpPr>
            <a:spLocks noGrp="1"/>
          </p:cNvSpPr>
          <p:nvPr>
            <p:ph idx="1"/>
          </p:nvPr>
        </p:nvSpPr>
        <p:spPr/>
        <p:txBody>
          <a:bodyPr/>
          <a:lstStyle/>
          <a:p>
            <a:pPr marL="273050" lvl="0" indent="-273050" fontAlgn="base">
              <a:lnSpc>
                <a:spcPct val="100000"/>
              </a:lnSpc>
              <a:spcBef>
                <a:spcPts val="600"/>
              </a:spcBef>
              <a:spcAft>
                <a:spcPct val="0"/>
              </a:spcAft>
              <a:buClr>
                <a:srgbClr val="727CA3"/>
              </a:buClr>
              <a:buSzPct val="76000"/>
              <a:buFont typeface="Wingdings 3" panose="05040102010807070707" pitchFamily="18" charset="2"/>
              <a:buChar char=""/>
            </a:pPr>
            <a:r>
              <a:rPr lang="en-US" altLang="zh-CN" dirty="0" err="1">
                <a:solidFill>
                  <a:srgbClr val="000000"/>
                </a:solidFill>
                <a:latin typeface="Times New Roman"/>
                <a:ea typeface="宋体"/>
                <a:sym typeface="Symbol" panose="05050102010706020507" pitchFamily="18" charset="2"/>
              </a:rPr>
              <a:t>makefile</a:t>
            </a:r>
            <a:r>
              <a:rPr lang="zh-CN" altLang="en-US" dirty="0">
                <a:solidFill>
                  <a:srgbClr val="000000"/>
                </a:solidFill>
                <a:latin typeface="Times New Roman"/>
                <a:ea typeface="宋体"/>
                <a:sym typeface="Symbol" panose="05050102010706020507" pitchFamily="18" charset="2"/>
              </a:rPr>
              <a:t>是</a:t>
            </a:r>
            <a:r>
              <a:rPr lang="en-US" altLang="zh-CN" dirty="0">
                <a:solidFill>
                  <a:srgbClr val="000000"/>
                </a:solidFill>
                <a:latin typeface="Times New Roman"/>
                <a:ea typeface="宋体"/>
                <a:sym typeface="Symbol" panose="05050102010706020507" pitchFamily="18" charset="2"/>
              </a:rPr>
              <a:t>make</a:t>
            </a:r>
            <a:r>
              <a:rPr lang="zh-CN" altLang="en-US" dirty="0">
                <a:solidFill>
                  <a:srgbClr val="000000"/>
                </a:solidFill>
                <a:latin typeface="Times New Roman"/>
                <a:ea typeface="宋体"/>
                <a:sym typeface="Symbol" panose="05050102010706020507" pitchFamily="18" charset="2"/>
              </a:rPr>
              <a:t>读入的惟一配置文件，因此本节的内容实际就是讲述</a:t>
            </a:r>
            <a:r>
              <a:rPr lang="en-US" altLang="zh-CN" dirty="0" err="1">
                <a:solidFill>
                  <a:srgbClr val="000000"/>
                </a:solidFill>
                <a:latin typeface="Times New Roman"/>
                <a:ea typeface="宋体"/>
                <a:sym typeface="Symbol" panose="05050102010706020507" pitchFamily="18" charset="2"/>
              </a:rPr>
              <a:t>makefile</a:t>
            </a:r>
            <a:r>
              <a:rPr lang="zh-CN" altLang="en-US" dirty="0">
                <a:solidFill>
                  <a:srgbClr val="000000"/>
                </a:solidFill>
                <a:latin typeface="Times New Roman"/>
                <a:ea typeface="宋体"/>
                <a:sym typeface="Symbol" panose="05050102010706020507" pitchFamily="18" charset="2"/>
              </a:rPr>
              <a:t>的编写规则。在一个</a:t>
            </a:r>
            <a:r>
              <a:rPr lang="en-US" altLang="zh-CN" dirty="0" err="1">
                <a:solidFill>
                  <a:srgbClr val="000000"/>
                </a:solidFill>
                <a:latin typeface="Times New Roman"/>
                <a:ea typeface="宋体"/>
                <a:sym typeface="Symbol" panose="05050102010706020507" pitchFamily="18" charset="2"/>
              </a:rPr>
              <a:t>makefile</a:t>
            </a:r>
            <a:r>
              <a:rPr lang="zh-CN" altLang="en-US" dirty="0">
                <a:solidFill>
                  <a:srgbClr val="000000"/>
                </a:solidFill>
                <a:latin typeface="Times New Roman"/>
                <a:ea typeface="宋体"/>
                <a:sym typeface="Symbol" panose="05050102010706020507" pitchFamily="18" charset="2"/>
              </a:rPr>
              <a:t>中通常包含如下内容：</a:t>
            </a:r>
          </a:p>
          <a:p>
            <a:pPr marL="547688" lvl="1" indent="-273050" fontAlgn="base">
              <a:lnSpc>
                <a:spcPct val="100000"/>
              </a:lnSpc>
              <a:spcAft>
                <a:spcPct val="0"/>
              </a:spcAft>
              <a:buClr>
                <a:srgbClr val="9FB8CD"/>
              </a:buClr>
              <a:buSzPct val="76000"/>
              <a:buNone/>
            </a:pPr>
            <a:r>
              <a:rPr lang="zh-CN" altLang="en-US" dirty="0">
                <a:solidFill>
                  <a:srgbClr val="464653"/>
                </a:solidFill>
                <a:latin typeface="Times New Roman"/>
                <a:ea typeface="宋体"/>
                <a:sym typeface="Symbol" panose="05050102010706020507" pitchFamily="18" charset="2"/>
              </a:rPr>
              <a:t>  需要由</a:t>
            </a:r>
            <a:r>
              <a:rPr lang="en-US" altLang="zh-CN" dirty="0">
                <a:solidFill>
                  <a:srgbClr val="464653"/>
                </a:solidFill>
                <a:latin typeface="Times New Roman"/>
                <a:ea typeface="宋体"/>
                <a:sym typeface="Symbol" panose="05050102010706020507" pitchFamily="18" charset="2"/>
              </a:rPr>
              <a:t>make</a:t>
            </a:r>
            <a:r>
              <a:rPr lang="zh-CN" altLang="en-US" dirty="0">
                <a:solidFill>
                  <a:srgbClr val="464653"/>
                </a:solidFill>
                <a:latin typeface="Times New Roman"/>
                <a:ea typeface="宋体"/>
                <a:sym typeface="Symbol" panose="05050102010706020507" pitchFamily="18" charset="2"/>
              </a:rPr>
              <a:t>工具创建的目标体（</a:t>
            </a:r>
            <a:r>
              <a:rPr lang="en-US" altLang="zh-CN" dirty="0">
                <a:solidFill>
                  <a:srgbClr val="464653"/>
                </a:solidFill>
                <a:latin typeface="Times New Roman"/>
                <a:ea typeface="宋体"/>
                <a:sym typeface="Symbol" panose="05050102010706020507" pitchFamily="18" charset="2"/>
              </a:rPr>
              <a:t>target</a:t>
            </a:r>
            <a:r>
              <a:rPr lang="zh-CN" altLang="en-US" dirty="0">
                <a:solidFill>
                  <a:srgbClr val="464653"/>
                </a:solidFill>
                <a:latin typeface="Times New Roman"/>
                <a:ea typeface="宋体"/>
                <a:sym typeface="Symbol" panose="05050102010706020507" pitchFamily="18" charset="2"/>
              </a:rPr>
              <a:t>），通常是目标文件或可执行文件；</a:t>
            </a:r>
          </a:p>
          <a:p>
            <a:pPr marL="547688" lvl="1" indent="-273050" fontAlgn="base">
              <a:lnSpc>
                <a:spcPct val="100000"/>
              </a:lnSpc>
              <a:spcAft>
                <a:spcPct val="0"/>
              </a:spcAft>
              <a:buClr>
                <a:srgbClr val="9FB8CD"/>
              </a:buClr>
              <a:buSzPct val="76000"/>
              <a:buNone/>
            </a:pPr>
            <a:r>
              <a:rPr lang="zh-CN" altLang="en-US" dirty="0">
                <a:solidFill>
                  <a:srgbClr val="464653"/>
                </a:solidFill>
                <a:latin typeface="Times New Roman"/>
                <a:ea typeface="宋体"/>
                <a:sym typeface="Symbol" panose="05050102010706020507" pitchFamily="18" charset="2"/>
              </a:rPr>
              <a:t>  要创建的目标体所依赖的文件（</a:t>
            </a:r>
            <a:r>
              <a:rPr lang="en-US" altLang="zh-CN" dirty="0" err="1">
                <a:solidFill>
                  <a:srgbClr val="464653"/>
                </a:solidFill>
                <a:latin typeface="Times New Roman"/>
                <a:ea typeface="宋体"/>
                <a:sym typeface="Symbol" panose="05050102010706020507" pitchFamily="18" charset="2"/>
              </a:rPr>
              <a:t>dependency_file</a:t>
            </a:r>
            <a:r>
              <a:rPr lang="zh-CN" altLang="en-US" dirty="0">
                <a:solidFill>
                  <a:srgbClr val="464653"/>
                </a:solidFill>
                <a:latin typeface="Times New Roman"/>
                <a:ea typeface="宋体"/>
                <a:sym typeface="Symbol" panose="05050102010706020507" pitchFamily="18" charset="2"/>
              </a:rPr>
              <a:t>）；</a:t>
            </a:r>
          </a:p>
          <a:p>
            <a:pPr marL="547688" lvl="1" indent="-273050" fontAlgn="base">
              <a:lnSpc>
                <a:spcPct val="100000"/>
              </a:lnSpc>
              <a:spcAft>
                <a:spcPct val="0"/>
              </a:spcAft>
              <a:buClr>
                <a:srgbClr val="9FB8CD"/>
              </a:buClr>
              <a:buSzPct val="76000"/>
              <a:buFont typeface="Symbol" panose="05050102010706020507" pitchFamily="18" charset="2"/>
              <a:buChar char="·"/>
            </a:pPr>
            <a:r>
              <a:rPr lang="zh-CN" altLang="en-US" dirty="0">
                <a:solidFill>
                  <a:srgbClr val="464653"/>
                </a:solidFill>
                <a:latin typeface="Times New Roman"/>
                <a:ea typeface="宋体"/>
                <a:sym typeface="Symbol" panose="05050102010706020507" pitchFamily="18" charset="2"/>
              </a:rPr>
              <a:t>创建每个目标体时需要运行的命令（</a:t>
            </a:r>
            <a:r>
              <a:rPr lang="en-US" altLang="zh-CN" dirty="0">
                <a:solidFill>
                  <a:srgbClr val="464653"/>
                </a:solidFill>
                <a:latin typeface="Times New Roman"/>
                <a:ea typeface="宋体"/>
                <a:sym typeface="Symbol" panose="05050102010706020507" pitchFamily="18" charset="2"/>
              </a:rPr>
              <a:t>command</a:t>
            </a:r>
            <a:r>
              <a:rPr lang="zh-CN" altLang="en-US" dirty="0">
                <a:solidFill>
                  <a:srgbClr val="464653"/>
                </a:solidFill>
                <a:latin typeface="Times New Roman"/>
                <a:ea typeface="宋体"/>
                <a:sym typeface="Symbol" panose="05050102010706020507" pitchFamily="18" charset="2"/>
              </a:rPr>
              <a:t>），这一行必须以制表符（</a:t>
            </a:r>
            <a:r>
              <a:rPr lang="en-US" altLang="zh-CN" dirty="0">
                <a:solidFill>
                  <a:srgbClr val="464653"/>
                </a:solidFill>
                <a:latin typeface="Times New Roman"/>
                <a:ea typeface="宋体"/>
                <a:sym typeface="Symbol" panose="05050102010706020507" pitchFamily="18" charset="2"/>
              </a:rPr>
              <a:t>tab</a:t>
            </a:r>
            <a:r>
              <a:rPr lang="zh-CN" altLang="en-US" dirty="0">
                <a:solidFill>
                  <a:srgbClr val="464653"/>
                </a:solidFill>
                <a:latin typeface="Times New Roman"/>
                <a:ea typeface="宋体"/>
                <a:sym typeface="Symbol" panose="05050102010706020507" pitchFamily="18" charset="2"/>
              </a:rPr>
              <a:t>键）开头。</a:t>
            </a:r>
          </a:p>
          <a:p>
            <a:endParaRPr lang="zh-CN" altLang="en-US" dirty="0"/>
          </a:p>
        </p:txBody>
      </p:sp>
    </p:spTree>
    <p:extLst>
      <p:ext uri="{BB962C8B-B14F-4D97-AF65-F5344CB8AC3E}">
        <p14:creationId xmlns:p14="http://schemas.microsoft.com/office/powerpoint/2010/main" val="181453367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latin typeface="宋体" panose="02010600030101010101" pitchFamily="2" charset="-122"/>
              </a:rPr>
              <a:t>makefile</a:t>
            </a:r>
            <a:r>
              <a:rPr lang="zh-CN" altLang="en-US" dirty="0" smtClean="0">
                <a:latin typeface="宋体" panose="02010600030101010101" pitchFamily="2" charset="-122"/>
              </a:rPr>
              <a:t>基本结构（</a:t>
            </a:r>
            <a:r>
              <a:rPr lang="en-US" altLang="zh-CN" dirty="0" smtClean="0">
                <a:latin typeface="宋体" panose="02010600030101010101" pitchFamily="2" charset="-122"/>
              </a:rPr>
              <a:t>2</a:t>
            </a:r>
            <a:r>
              <a:rPr lang="zh-CN" altLang="en-US" dirty="0" smtClean="0">
                <a:latin typeface="宋体" panose="02010600030101010101" pitchFamily="2" charset="-122"/>
              </a:rPr>
              <a:t>）</a:t>
            </a:r>
            <a:endParaRPr lang="zh-CN" altLang="en-US" dirty="0"/>
          </a:p>
        </p:txBody>
      </p:sp>
      <p:sp>
        <p:nvSpPr>
          <p:cNvPr id="4" name="Rectangle 3"/>
          <p:cNvSpPr txBox="1">
            <a:spLocks/>
          </p:cNvSpPr>
          <p:nvPr/>
        </p:nvSpPr>
        <p:spPr>
          <a:xfrm>
            <a:off x="1850571" y="1357313"/>
            <a:ext cx="8229600" cy="4910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smtClean="0">
                <a:sym typeface="Symbol" panose="05050102010706020507" pitchFamily="18" charset="2"/>
              </a:rPr>
              <a:t>makefile</a:t>
            </a:r>
            <a:r>
              <a:rPr lang="zh-CN" altLang="en-US" sz="3200" smtClean="0">
                <a:sym typeface="Symbol" panose="05050102010706020507" pitchFamily="18" charset="2"/>
              </a:rPr>
              <a:t>格式</a:t>
            </a:r>
          </a:p>
          <a:p>
            <a:pPr lvl="1">
              <a:buFont typeface="Wingdings 3" panose="05040102010807070707" pitchFamily="18" charset="2"/>
              <a:buNone/>
            </a:pPr>
            <a:endParaRPr lang="zh-CN" altLang="en-US" smtClean="0">
              <a:sym typeface="Symbol" panose="05050102010706020507" pitchFamily="18" charset="2"/>
            </a:endParaRPr>
          </a:p>
          <a:p>
            <a:endParaRPr lang="zh-CN" altLang="en-US" sz="3200" smtClean="0">
              <a:sym typeface="Symbol" panose="05050102010706020507" pitchFamily="18" charset="2"/>
            </a:endParaRPr>
          </a:p>
          <a:p>
            <a:r>
              <a:rPr lang="zh-CN" altLang="en-US" sz="3200" smtClean="0">
                <a:sym typeface="Symbol" panose="05050102010706020507" pitchFamily="18" charset="2"/>
              </a:rPr>
              <a:t>例子</a:t>
            </a:r>
          </a:p>
          <a:p>
            <a:endParaRPr lang="zh-CN" altLang="en-US" sz="3200" smtClean="0">
              <a:sym typeface="Symbol" panose="05050102010706020507" pitchFamily="18" charset="2"/>
            </a:endParaRPr>
          </a:p>
          <a:p>
            <a:r>
              <a:rPr lang="zh-CN" altLang="en-US" sz="3200" smtClean="0">
                <a:sym typeface="Symbol" panose="05050102010706020507" pitchFamily="18" charset="2"/>
              </a:rPr>
              <a:t>使用</a:t>
            </a:r>
            <a:r>
              <a:rPr lang="en-US" altLang="zh-CN" sz="3200" smtClean="0">
                <a:sym typeface="Symbol" panose="05050102010706020507" pitchFamily="18" charset="2"/>
              </a:rPr>
              <a:t>makefile</a:t>
            </a:r>
          </a:p>
          <a:p>
            <a:pPr>
              <a:buFont typeface="Wingdings 3" panose="05040102010807070707" pitchFamily="18" charset="2"/>
              <a:buNone/>
            </a:pPr>
            <a:r>
              <a:rPr lang="en-US" altLang="zh-CN" sz="3200" smtClean="0">
                <a:sym typeface="Symbol" panose="05050102010706020507" pitchFamily="18" charset="2"/>
              </a:rPr>
              <a:t>	</a:t>
            </a:r>
            <a:endParaRPr lang="en-US" altLang="zh-CN" dirty="0">
              <a:sym typeface="Symbol" panose="05050102010706020507" pitchFamily="18" charset="2"/>
            </a:endParaRPr>
          </a:p>
        </p:txBody>
      </p:sp>
      <p:sp>
        <p:nvSpPr>
          <p:cNvPr id="5" name="Rectangle 4"/>
          <p:cNvSpPr>
            <a:spLocks noChangeArrowheads="1"/>
          </p:cNvSpPr>
          <p:nvPr/>
        </p:nvSpPr>
        <p:spPr bwMode="auto">
          <a:xfrm>
            <a:off x="2231571" y="1912938"/>
            <a:ext cx="4813300" cy="6413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a:t>target: dependency_files</a:t>
            </a:r>
          </a:p>
          <a:p>
            <a:r>
              <a:rPr lang="en-US" altLang="zh-CN"/>
              <a:t>&lt;  TAB	&gt;command /* </a:t>
            </a:r>
            <a:r>
              <a:rPr lang="zh-CN" altLang="en-US"/>
              <a:t>该行必须以</a:t>
            </a:r>
            <a:r>
              <a:rPr lang="en-US" altLang="zh-CN"/>
              <a:t>tab</a:t>
            </a:r>
            <a:r>
              <a:rPr lang="zh-CN" altLang="en-US"/>
              <a:t>键开头*</a:t>
            </a:r>
            <a:r>
              <a:rPr lang="en-US" altLang="zh-CN"/>
              <a:t>/</a:t>
            </a:r>
          </a:p>
        </p:txBody>
      </p:sp>
      <p:sp>
        <p:nvSpPr>
          <p:cNvPr id="6" name="Rectangle 5"/>
          <p:cNvSpPr>
            <a:spLocks noChangeArrowheads="1"/>
          </p:cNvSpPr>
          <p:nvPr/>
        </p:nvSpPr>
        <p:spPr bwMode="auto">
          <a:xfrm>
            <a:off x="3374571" y="2957513"/>
            <a:ext cx="4371975" cy="6413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1"/>
              <a:t>hello.o: hello.c hello.h</a:t>
            </a:r>
            <a:endParaRPr lang="en-US" altLang="zh-CN"/>
          </a:p>
          <a:p>
            <a:r>
              <a:rPr lang="en-US" altLang="zh-CN"/>
              <a:t>       </a:t>
            </a:r>
            <a:r>
              <a:rPr lang="en-US" altLang="zh-CN" b="1"/>
              <a:t>gcc –c hello.c –o hello.o</a:t>
            </a:r>
          </a:p>
        </p:txBody>
      </p:sp>
      <p:sp>
        <p:nvSpPr>
          <p:cNvPr id="7" name="Rectangle 6"/>
          <p:cNvSpPr>
            <a:spLocks noChangeArrowheads="1"/>
          </p:cNvSpPr>
          <p:nvPr/>
        </p:nvSpPr>
        <p:spPr bwMode="auto">
          <a:xfrm>
            <a:off x="2383971" y="4557713"/>
            <a:ext cx="4953000" cy="1190625"/>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a:t>$</a:t>
            </a:r>
            <a:r>
              <a:rPr lang="en-US" altLang="zh-CN" b="1"/>
              <a:t> make hello.o</a:t>
            </a:r>
            <a:endParaRPr lang="en-US" altLang="zh-CN"/>
          </a:p>
          <a:p>
            <a:r>
              <a:rPr lang="en-US" altLang="zh-CN" b="1"/>
              <a:t>gcc –c hello.c –o hello.o</a:t>
            </a:r>
            <a:endParaRPr lang="en-US" altLang="zh-CN"/>
          </a:p>
          <a:p>
            <a:r>
              <a:rPr lang="en-US" altLang="zh-CN"/>
              <a:t>$ ls</a:t>
            </a:r>
          </a:p>
          <a:p>
            <a:r>
              <a:rPr lang="en-US" altLang="zh-CN"/>
              <a:t>hello.c  hello.h  </a:t>
            </a:r>
            <a:r>
              <a:rPr lang="en-US" altLang="zh-CN" b="1"/>
              <a:t>hello.o</a:t>
            </a:r>
            <a:r>
              <a:rPr lang="en-US" altLang="zh-CN"/>
              <a:t>  makefile </a:t>
            </a:r>
          </a:p>
        </p:txBody>
      </p:sp>
    </p:spTree>
    <p:extLst>
      <p:ext uri="{BB962C8B-B14F-4D97-AF65-F5344CB8AC3E}">
        <p14:creationId xmlns:p14="http://schemas.microsoft.com/office/powerpoint/2010/main" val="92728660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rPr>
              <a:t>创建和使用</a:t>
            </a:r>
            <a:r>
              <a:rPr lang="en-US" altLang="zh-CN" dirty="0" err="1" smtClean="0">
                <a:latin typeface="宋体" panose="02010600030101010101" pitchFamily="2" charset="-122"/>
              </a:rPr>
              <a:t>makefile</a:t>
            </a:r>
            <a:r>
              <a:rPr lang="zh-CN" altLang="en-US" dirty="0" smtClean="0">
                <a:latin typeface="宋体" panose="02010600030101010101" pitchFamily="2" charset="-122"/>
              </a:rPr>
              <a:t>变量</a:t>
            </a:r>
            <a:endParaRPr lang="zh-CN" altLang="en-US" dirty="0"/>
          </a:p>
        </p:txBody>
      </p:sp>
      <p:sp>
        <p:nvSpPr>
          <p:cNvPr id="4" name="Rectangle 3"/>
          <p:cNvSpPr txBox="1">
            <a:spLocks/>
          </p:cNvSpPr>
          <p:nvPr/>
        </p:nvSpPr>
        <p:spPr>
          <a:xfrm>
            <a:off x="1386114" y="1690688"/>
            <a:ext cx="8229600" cy="4910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mtClean="0">
                <a:sym typeface="Symbol" panose="05050102010706020507" pitchFamily="18" charset="2"/>
              </a:rPr>
              <a:t>用来代替一个文本字符串 </a:t>
            </a:r>
          </a:p>
          <a:p>
            <a:r>
              <a:rPr lang="zh-CN" altLang="en-US" smtClean="0">
                <a:sym typeface="Symbol" panose="05050102010706020507" pitchFamily="18" charset="2"/>
              </a:rPr>
              <a:t>变量定义的两种方式</a:t>
            </a:r>
          </a:p>
          <a:p>
            <a:pPr lvl="1"/>
            <a:r>
              <a:rPr lang="zh-CN" altLang="en-US" smtClean="0">
                <a:sym typeface="Symbol" panose="05050102010706020507" pitchFamily="18" charset="2"/>
              </a:rPr>
              <a:t>递归展开方式</a:t>
            </a:r>
            <a:r>
              <a:rPr lang="en-US" altLang="zh-CN" smtClean="0">
                <a:sym typeface="Symbol" panose="05050102010706020507" pitchFamily="18" charset="2"/>
              </a:rPr>
              <a:t>VAR=var</a:t>
            </a:r>
          </a:p>
          <a:p>
            <a:pPr lvl="1"/>
            <a:r>
              <a:rPr lang="zh-CN" altLang="en-US" smtClean="0">
                <a:sym typeface="Symbol" panose="05050102010706020507" pitchFamily="18" charset="2"/>
              </a:rPr>
              <a:t>简单方式 </a:t>
            </a:r>
            <a:r>
              <a:rPr lang="en-US" altLang="zh-CN" smtClean="0">
                <a:sym typeface="Symbol" panose="05050102010706020507" pitchFamily="18" charset="2"/>
              </a:rPr>
              <a:t>VAR</a:t>
            </a:r>
            <a:r>
              <a:rPr lang="zh-CN" altLang="en-US" smtClean="0">
                <a:sym typeface="Symbol" panose="05050102010706020507" pitchFamily="18" charset="2"/>
              </a:rPr>
              <a:t>：</a:t>
            </a:r>
            <a:r>
              <a:rPr lang="en-US" altLang="zh-CN" smtClean="0">
                <a:sym typeface="Symbol" panose="05050102010706020507" pitchFamily="18" charset="2"/>
              </a:rPr>
              <a:t>=var</a:t>
            </a:r>
          </a:p>
          <a:p>
            <a:r>
              <a:rPr lang="zh-CN" altLang="en-US" smtClean="0">
                <a:sym typeface="Symbol" panose="05050102010706020507" pitchFamily="18" charset="2"/>
              </a:rPr>
              <a:t>变量使用</a:t>
            </a:r>
            <a:r>
              <a:rPr lang="en-US" altLang="zh-CN" smtClean="0">
                <a:sym typeface="Symbol" panose="05050102010706020507" pitchFamily="18" charset="2"/>
              </a:rPr>
              <a:t>$(VAR)</a:t>
            </a:r>
          </a:p>
          <a:p>
            <a:endParaRPr lang="en-US" altLang="zh-CN" dirty="0"/>
          </a:p>
        </p:txBody>
      </p:sp>
      <p:sp>
        <p:nvSpPr>
          <p:cNvPr id="5" name="Rectangle 4"/>
          <p:cNvSpPr>
            <a:spLocks noChangeArrowheads="1"/>
          </p:cNvSpPr>
          <p:nvPr/>
        </p:nvSpPr>
        <p:spPr bwMode="auto">
          <a:xfrm>
            <a:off x="6205764" y="1836060"/>
            <a:ext cx="4502150" cy="2677656"/>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1" dirty="0"/>
              <a:t>OBJS = </a:t>
            </a:r>
            <a:r>
              <a:rPr lang="en-US" altLang="zh-CN" b="1" dirty="0" err="1"/>
              <a:t>kang.o</a:t>
            </a:r>
            <a:r>
              <a:rPr lang="en-US" altLang="zh-CN" b="1" dirty="0"/>
              <a:t> </a:t>
            </a:r>
            <a:r>
              <a:rPr lang="en-US" altLang="zh-CN" b="1" dirty="0" err="1"/>
              <a:t>yul.o</a:t>
            </a:r>
            <a:endParaRPr lang="en-US" altLang="zh-CN" dirty="0"/>
          </a:p>
          <a:p>
            <a:r>
              <a:rPr lang="en-US" altLang="zh-CN" dirty="0"/>
              <a:t>CC = </a:t>
            </a:r>
            <a:r>
              <a:rPr lang="en-US" altLang="zh-CN" dirty="0" err="1"/>
              <a:t>gcc</a:t>
            </a:r>
            <a:endParaRPr lang="en-US" altLang="zh-CN" dirty="0"/>
          </a:p>
          <a:p>
            <a:r>
              <a:rPr lang="en-US" altLang="zh-CN" dirty="0"/>
              <a:t>CFLAGS = -Wall -O -g</a:t>
            </a:r>
          </a:p>
          <a:p>
            <a:r>
              <a:rPr lang="en-US" altLang="zh-CN" dirty="0" err="1"/>
              <a:t>david</a:t>
            </a:r>
            <a:r>
              <a:rPr lang="en-US" altLang="zh-CN" dirty="0"/>
              <a:t> : $(OBJS)</a:t>
            </a:r>
          </a:p>
          <a:p>
            <a:r>
              <a:rPr lang="en-US" altLang="zh-CN" dirty="0"/>
              <a:t>       $(CC) $(OBJS) -o </a:t>
            </a:r>
            <a:r>
              <a:rPr lang="en-US" altLang="zh-CN" dirty="0" err="1"/>
              <a:t>david</a:t>
            </a:r>
            <a:endParaRPr lang="en-US" altLang="zh-CN" dirty="0"/>
          </a:p>
          <a:p>
            <a:r>
              <a:rPr lang="en-US" altLang="zh-CN" dirty="0" err="1"/>
              <a:t>kang.o</a:t>
            </a:r>
            <a:r>
              <a:rPr lang="en-US" altLang="zh-CN" dirty="0"/>
              <a:t> : </a:t>
            </a:r>
            <a:r>
              <a:rPr lang="en-US" altLang="zh-CN" dirty="0" err="1"/>
              <a:t>kang.c</a:t>
            </a:r>
            <a:r>
              <a:rPr lang="en-US" altLang="zh-CN" dirty="0"/>
              <a:t> </a:t>
            </a:r>
            <a:r>
              <a:rPr lang="en-US" altLang="zh-CN" dirty="0" err="1"/>
              <a:t>kang.h</a:t>
            </a:r>
            <a:endParaRPr lang="en-US" altLang="zh-CN" dirty="0"/>
          </a:p>
          <a:p>
            <a:r>
              <a:rPr lang="en-US" altLang="zh-CN" dirty="0"/>
              <a:t>       </a:t>
            </a:r>
            <a:r>
              <a:rPr lang="pt-BR" altLang="zh-CN" dirty="0"/>
              <a:t>$(CC) $(CFLAGS) -c kang.c -o </a:t>
            </a:r>
            <a:r>
              <a:rPr lang="pt-BR" altLang="zh-CN" sz="2400" dirty="0"/>
              <a:t>kang.o</a:t>
            </a:r>
          </a:p>
          <a:p>
            <a:r>
              <a:rPr lang="pt-BR" altLang="zh-CN" dirty="0"/>
              <a:t>yul.o : yul.c yul.h</a:t>
            </a:r>
          </a:p>
          <a:p>
            <a:r>
              <a:rPr lang="pt-BR" altLang="zh-CN" dirty="0"/>
              <a:t>       $(CC) $(CFLAGS) -c yul.c -o yul.o</a:t>
            </a:r>
          </a:p>
        </p:txBody>
      </p:sp>
    </p:spTree>
    <p:extLst>
      <p:ext uri="{BB962C8B-B14F-4D97-AF65-F5344CB8AC3E}">
        <p14:creationId xmlns:p14="http://schemas.microsoft.com/office/powerpoint/2010/main" val="39115430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latin typeface="宋体" panose="02010600030101010101" pitchFamily="2" charset="-122"/>
              </a:rPr>
              <a:t>makefile</a:t>
            </a:r>
            <a:r>
              <a:rPr lang="zh-CN" altLang="en-US" dirty="0" smtClean="0">
                <a:latin typeface="宋体" panose="02010600030101010101" pitchFamily="2" charset="-122"/>
              </a:rPr>
              <a:t>变量</a:t>
            </a:r>
            <a:endParaRPr lang="zh-CN" altLang="en-US" dirty="0"/>
          </a:p>
        </p:txBody>
      </p:sp>
      <p:sp>
        <p:nvSpPr>
          <p:cNvPr id="4" name="Rectangle 3"/>
          <p:cNvSpPr txBox="1">
            <a:spLocks/>
          </p:cNvSpPr>
          <p:nvPr/>
        </p:nvSpPr>
        <p:spPr>
          <a:xfrm>
            <a:off x="838200" y="1690688"/>
            <a:ext cx="8229600" cy="4910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mtClean="0">
                <a:sym typeface="Symbol" panose="05050102010706020507" pitchFamily="18" charset="2"/>
              </a:rPr>
              <a:t>变量种类</a:t>
            </a:r>
          </a:p>
          <a:p>
            <a:pPr lvl="1"/>
            <a:r>
              <a:rPr lang="zh-CN" altLang="en-US" smtClean="0">
                <a:sym typeface="Symbol" panose="05050102010706020507" pitchFamily="18" charset="2"/>
              </a:rPr>
              <a:t>用户自定义变量</a:t>
            </a:r>
          </a:p>
          <a:p>
            <a:pPr lvl="1"/>
            <a:r>
              <a:rPr lang="zh-CN" altLang="en-US" smtClean="0">
                <a:sym typeface="Symbol" panose="05050102010706020507" pitchFamily="18" charset="2"/>
              </a:rPr>
              <a:t>预定义变量</a:t>
            </a:r>
          </a:p>
          <a:p>
            <a:pPr lvl="1"/>
            <a:r>
              <a:rPr lang="zh-CN" altLang="en-US" smtClean="0">
                <a:sym typeface="Symbol" panose="05050102010706020507" pitchFamily="18" charset="2"/>
              </a:rPr>
              <a:t>自动变量</a:t>
            </a:r>
          </a:p>
          <a:p>
            <a:pPr lvl="1"/>
            <a:r>
              <a:rPr lang="zh-CN" altLang="en-US" smtClean="0">
                <a:sym typeface="Symbol" panose="05050102010706020507" pitchFamily="18" charset="2"/>
              </a:rPr>
              <a:t>环境变量 </a:t>
            </a:r>
          </a:p>
          <a:p>
            <a:endParaRPr lang="en-US" altLang="zh-CN" dirty="0"/>
          </a:p>
        </p:txBody>
      </p:sp>
      <p:sp>
        <p:nvSpPr>
          <p:cNvPr id="5" name="Rectangle 4"/>
          <p:cNvSpPr>
            <a:spLocks noChangeArrowheads="1"/>
          </p:cNvSpPr>
          <p:nvPr/>
        </p:nvSpPr>
        <p:spPr bwMode="auto">
          <a:xfrm>
            <a:off x="5029200" y="1657351"/>
            <a:ext cx="4856163" cy="337820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a:t>OBJS = kang.o yul.o</a:t>
            </a:r>
          </a:p>
          <a:p>
            <a:r>
              <a:rPr lang="en-US" altLang="zh-CN" sz="2400"/>
              <a:t>CC = gcc</a:t>
            </a:r>
          </a:p>
          <a:p>
            <a:r>
              <a:rPr lang="en-US" altLang="zh-CN" sz="2400"/>
              <a:t>CFLAGS = -Wall -O -g</a:t>
            </a:r>
          </a:p>
          <a:p>
            <a:r>
              <a:rPr lang="en-US" altLang="zh-CN" sz="2400"/>
              <a:t>david : $(OBJS)</a:t>
            </a:r>
          </a:p>
          <a:p>
            <a:r>
              <a:rPr lang="en-US" altLang="zh-CN" sz="2400"/>
              <a:t>      </a:t>
            </a:r>
            <a:r>
              <a:rPr lang="pt-BR" altLang="zh-CN" sz="2400"/>
              <a:t>$(CC) </a:t>
            </a:r>
            <a:r>
              <a:rPr lang="pt-BR" altLang="zh-CN" sz="2400" b="1"/>
              <a:t>$^</a:t>
            </a:r>
            <a:r>
              <a:rPr lang="pt-BR" altLang="zh-CN" sz="2400"/>
              <a:t> -o </a:t>
            </a:r>
            <a:r>
              <a:rPr lang="pt-BR" altLang="zh-CN" sz="2400" b="1"/>
              <a:t>$@</a:t>
            </a:r>
            <a:endParaRPr lang="pt-BR" altLang="zh-CN" sz="2400"/>
          </a:p>
          <a:p>
            <a:r>
              <a:rPr lang="pt-BR" altLang="zh-CN" sz="2400"/>
              <a:t>kang.o : kang.c kang.h </a:t>
            </a:r>
          </a:p>
          <a:p>
            <a:r>
              <a:rPr lang="pt-BR" altLang="zh-CN" sz="2400"/>
              <a:t>      $(CC) $(CFLAGS) -c</a:t>
            </a:r>
            <a:r>
              <a:rPr lang="pt-BR" altLang="zh-CN" sz="2400" b="1"/>
              <a:t> $&lt;</a:t>
            </a:r>
            <a:r>
              <a:rPr lang="pt-BR" altLang="zh-CN" sz="2400"/>
              <a:t> -o </a:t>
            </a:r>
            <a:r>
              <a:rPr lang="pt-BR" altLang="zh-CN" sz="2400" b="1"/>
              <a:t>$@</a:t>
            </a:r>
            <a:endParaRPr lang="pt-BR" altLang="zh-CN" sz="2400"/>
          </a:p>
          <a:p>
            <a:r>
              <a:rPr lang="pt-BR" altLang="zh-CN" sz="2400"/>
              <a:t>yul.o : yul.c yul.h</a:t>
            </a:r>
          </a:p>
          <a:p>
            <a:r>
              <a:rPr lang="pt-BR" altLang="zh-CN" sz="2400"/>
              <a:t>      </a:t>
            </a:r>
            <a:r>
              <a:rPr lang="sv-SE" altLang="zh-CN" sz="2400"/>
              <a:t>$(CC) $(CFLAGS) -c </a:t>
            </a:r>
            <a:r>
              <a:rPr lang="sv-SE" altLang="zh-CN" sz="2400" b="1"/>
              <a:t>$&lt;</a:t>
            </a:r>
            <a:r>
              <a:rPr lang="sv-SE" altLang="zh-CN" sz="2400"/>
              <a:t> -o </a:t>
            </a:r>
            <a:r>
              <a:rPr lang="sv-SE" altLang="zh-CN" sz="2400" b="1"/>
              <a:t>$@</a:t>
            </a:r>
          </a:p>
        </p:txBody>
      </p:sp>
    </p:spTree>
    <p:extLst>
      <p:ext uri="{BB962C8B-B14F-4D97-AF65-F5344CB8AC3E}">
        <p14:creationId xmlns:p14="http://schemas.microsoft.com/office/powerpoint/2010/main" val="116233036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latin typeface="宋体" panose="02010600030101010101" pitchFamily="2" charset="-122"/>
              </a:rPr>
              <a:t>makefile</a:t>
            </a:r>
            <a:r>
              <a:rPr lang="zh-CN" altLang="en-US" dirty="0" smtClean="0">
                <a:latin typeface="宋体" panose="02010600030101010101" pitchFamily="2" charset="-122"/>
              </a:rPr>
              <a:t>中常用的预定义变量</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2946" y="1071563"/>
            <a:ext cx="8085138" cy="492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59486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makefile</a:t>
            </a:r>
            <a:r>
              <a:rPr lang="zh-CN" altLang="en-US" dirty="0" smtClean="0"/>
              <a:t>中常见的自动变量 和环境变量</a:t>
            </a:r>
            <a:endParaRPr lang="zh-CN" alt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7885" y="1195388"/>
            <a:ext cx="9426713" cy="334576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6"/>
          <p:cNvSpPr txBox="1">
            <a:spLocks/>
          </p:cNvSpPr>
          <p:nvPr/>
        </p:nvSpPr>
        <p:spPr>
          <a:xfrm>
            <a:off x="1407885" y="4541157"/>
            <a:ext cx="8686800" cy="1600200"/>
          </a:xfrm>
          <a:prstGeom prst="rect">
            <a:avLst/>
          </a:prstGeom>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dirty="0" smtClean="0">
                <a:sym typeface="Symbol" panose="05050102010706020507" pitchFamily="18" charset="2"/>
              </a:rPr>
              <a:t> make</a:t>
            </a:r>
            <a:r>
              <a:rPr lang="zh-CN" altLang="en-US" dirty="0" smtClean="0">
                <a:sym typeface="Symbol" panose="05050102010706020507" pitchFamily="18" charset="2"/>
              </a:rPr>
              <a:t>在启动时会自动读取系统当前已经定义了的环境变量，并且会创建与之具有相同名称和数值的变量</a:t>
            </a:r>
          </a:p>
          <a:p>
            <a:pPr lvl="1"/>
            <a:r>
              <a:rPr lang="zh-CN" altLang="en-US" dirty="0" smtClean="0">
                <a:sym typeface="Symbol" panose="05050102010706020507" pitchFamily="18" charset="2"/>
              </a:rPr>
              <a:t> 如果用户在</a:t>
            </a:r>
            <a:r>
              <a:rPr lang="en-US" altLang="zh-CN" dirty="0" err="1" smtClean="0">
                <a:sym typeface="Symbol" panose="05050102010706020507" pitchFamily="18" charset="2"/>
              </a:rPr>
              <a:t>makefile</a:t>
            </a:r>
            <a:r>
              <a:rPr lang="zh-CN" altLang="en-US" dirty="0" smtClean="0">
                <a:sym typeface="Symbol" panose="05050102010706020507" pitchFamily="18" charset="2"/>
              </a:rPr>
              <a:t>中定义了相同名称的变量，那么用户自定义变量将会覆盖同名的环境变量 </a:t>
            </a:r>
            <a:endParaRPr lang="zh-CN" altLang="en-US" dirty="0">
              <a:sym typeface="Symbol" panose="05050102010706020507" pitchFamily="18" charset="2"/>
            </a:endParaRPr>
          </a:p>
        </p:txBody>
      </p:sp>
    </p:spTree>
    <p:extLst>
      <p:ext uri="{BB962C8B-B14F-4D97-AF65-F5344CB8AC3E}">
        <p14:creationId xmlns:p14="http://schemas.microsoft.com/office/powerpoint/2010/main" val="333453559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makefile</a:t>
            </a:r>
            <a:r>
              <a:rPr lang="zh-CN" altLang="en-US" dirty="0" smtClean="0"/>
              <a:t>规则 </a:t>
            </a:r>
            <a:endParaRPr lang="zh-CN" altLang="en-US" dirty="0"/>
          </a:p>
        </p:txBody>
      </p:sp>
      <p:sp>
        <p:nvSpPr>
          <p:cNvPr id="3" name="内容占位符 2"/>
          <p:cNvSpPr>
            <a:spLocks noGrp="1"/>
          </p:cNvSpPr>
          <p:nvPr>
            <p:ph idx="1"/>
          </p:nvPr>
        </p:nvSpPr>
        <p:spPr/>
        <p:txBody>
          <a:bodyPr/>
          <a:lstStyle/>
          <a:p>
            <a:r>
              <a:rPr lang="en-US" altLang="zh-CN" dirty="0" err="1" smtClean="0"/>
              <a:t>makefile</a:t>
            </a:r>
            <a:r>
              <a:rPr lang="zh-CN" altLang="en-US" dirty="0" smtClean="0"/>
              <a:t>的规则是</a:t>
            </a:r>
            <a:r>
              <a:rPr lang="en-US" altLang="zh-CN" dirty="0" smtClean="0"/>
              <a:t>make</a:t>
            </a:r>
            <a:r>
              <a:rPr lang="zh-CN" altLang="en-US" dirty="0" smtClean="0"/>
              <a:t>进行处理的依据，它包括了目标体、依赖文件及其之间的命令语句。</a:t>
            </a:r>
          </a:p>
          <a:p>
            <a:r>
              <a:rPr lang="zh-CN" altLang="en-US" dirty="0" smtClean="0"/>
              <a:t>普通规则</a:t>
            </a:r>
          </a:p>
          <a:p>
            <a:r>
              <a:rPr lang="zh-CN" altLang="en-US" dirty="0" smtClean="0">
                <a:sym typeface="Symbol" panose="05050102010706020507" pitchFamily="18" charset="2"/>
              </a:rPr>
              <a:t>隐含规则</a:t>
            </a:r>
          </a:p>
          <a:p>
            <a:r>
              <a:rPr lang="zh-CN" altLang="en-US" dirty="0" smtClean="0">
                <a:sym typeface="Symbol" panose="05050102010706020507" pitchFamily="18" charset="2"/>
              </a:rPr>
              <a:t>模式规则</a:t>
            </a:r>
          </a:p>
          <a:p>
            <a:endParaRPr lang="zh-CN" altLang="en-US" dirty="0"/>
          </a:p>
        </p:txBody>
      </p:sp>
    </p:spTree>
    <p:extLst>
      <p:ext uri="{BB962C8B-B14F-4D97-AF65-F5344CB8AC3E}">
        <p14:creationId xmlns:p14="http://schemas.microsoft.com/office/powerpoint/2010/main" val="123587828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隐式规则</a:t>
            </a:r>
            <a:endParaRPr lang="zh-CN" altLang="en-US" dirty="0"/>
          </a:p>
        </p:txBody>
      </p:sp>
      <p:sp>
        <p:nvSpPr>
          <p:cNvPr id="3" name="内容占位符 2"/>
          <p:cNvSpPr>
            <a:spLocks noGrp="1"/>
          </p:cNvSpPr>
          <p:nvPr>
            <p:ph idx="1"/>
          </p:nvPr>
        </p:nvSpPr>
        <p:spPr>
          <a:xfrm>
            <a:off x="819150" y="1206500"/>
            <a:ext cx="10515600" cy="1817461"/>
          </a:xfrm>
        </p:spPr>
        <p:txBody>
          <a:bodyPr/>
          <a:lstStyle/>
          <a:p>
            <a:r>
              <a:rPr lang="zh-CN" altLang="en-US" dirty="0" smtClean="0">
                <a:sym typeface="Symbol" panose="05050102010706020507" pitchFamily="18" charset="2"/>
              </a:rPr>
              <a:t>隐含规则能够告诉</a:t>
            </a:r>
            <a:r>
              <a:rPr lang="en-US" altLang="zh-CN" dirty="0" smtClean="0">
                <a:sym typeface="Symbol" panose="05050102010706020507" pitchFamily="18" charset="2"/>
              </a:rPr>
              <a:t>make</a:t>
            </a:r>
            <a:r>
              <a:rPr lang="zh-CN" altLang="en-US" dirty="0" smtClean="0">
                <a:sym typeface="Symbol" panose="05050102010706020507" pitchFamily="18" charset="2"/>
              </a:rPr>
              <a:t>怎样使用传统的规则完成任务，这样，当用户使用它们时就不必详细指定编译的具体细节，而只需把目标文件列出即可 </a:t>
            </a:r>
          </a:p>
          <a:p>
            <a:r>
              <a:rPr lang="zh-CN" altLang="en-US" dirty="0" smtClean="0">
                <a:sym typeface="Symbol" panose="05050102010706020507" pitchFamily="18" charset="2"/>
              </a:rPr>
              <a:t>例子</a:t>
            </a:r>
          </a:p>
          <a:p>
            <a:endParaRPr lang="zh-CN" altLang="en-US" dirty="0"/>
          </a:p>
        </p:txBody>
      </p:sp>
      <p:sp>
        <p:nvSpPr>
          <p:cNvPr id="4" name="Rectangle 4"/>
          <p:cNvSpPr>
            <a:spLocks noChangeArrowheads="1"/>
          </p:cNvSpPr>
          <p:nvPr/>
        </p:nvSpPr>
        <p:spPr bwMode="auto">
          <a:xfrm>
            <a:off x="3864428" y="2845707"/>
            <a:ext cx="3581400" cy="13144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1600" dirty="0"/>
              <a:t>OBJS = </a:t>
            </a:r>
            <a:r>
              <a:rPr lang="en-US" altLang="zh-CN" sz="1600" dirty="0" err="1"/>
              <a:t>kang.o</a:t>
            </a:r>
            <a:r>
              <a:rPr lang="en-US" altLang="zh-CN" sz="1600" dirty="0"/>
              <a:t> </a:t>
            </a:r>
            <a:r>
              <a:rPr lang="en-US" altLang="zh-CN" sz="1600" dirty="0" err="1"/>
              <a:t>yul.o</a:t>
            </a:r>
            <a:endParaRPr lang="en-US" altLang="zh-CN" sz="1600" dirty="0"/>
          </a:p>
          <a:p>
            <a:r>
              <a:rPr lang="en-US" altLang="zh-CN" sz="1600" dirty="0"/>
              <a:t>CC = </a:t>
            </a:r>
            <a:r>
              <a:rPr lang="en-US" altLang="zh-CN" sz="1600" dirty="0" err="1"/>
              <a:t>gcc</a:t>
            </a:r>
            <a:endParaRPr lang="en-US" altLang="zh-CN" sz="1600" dirty="0"/>
          </a:p>
          <a:p>
            <a:r>
              <a:rPr lang="en-US" altLang="zh-CN" sz="1600" dirty="0"/>
              <a:t>CFLAGS = -Wall -O -g</a:t>
            </a:r>
          </a:p>
          <a:p>
            <a:r>
              <a:rPr lang="en-US" altLang="zh-CN" sz="1600" dirty="0" err="1"/>
              <a:t>david</a:t>
            </a:r>
            <a:r>
              <a:rPr lang="en-US" altLang="zh-CN" sz="1600" dirty="0"/>
              <a:t> : $(OBJS)</a:t>
            </a:r>
          </a:p>
          <a:p>
            <a:r>
              <a:rPr lang="en-US" altLang="zh-CN" sz="1600" dirty="0"/>
              <a:t>      </a:t>
            </a:r>
            <a:r>
              <a:rPr lang="pt-BR" altLang="zh-CN" sz="1600" dirty="0"/>
              <a:t>$(CC) $^ -o $@</a:t>
            </a: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778" y="4245882"/>
            <a:ext cx="8059738"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26723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模式规则</a:t>
            </a:r>
            <a:endParaRPr lang="zh-CN" altLang="en-US" dirty="0"/>
          </a:p>
        </p:txBody>
      </p:sp>
      <p:sp>
        <p:nvSpPr>
          <p:cNvPr id="3" name="内容占位符 2"/>
          <p:cNvSpPr>
            <a:spLocks noGrp="1"/>
          </p:cNvSpPr>
          <p:nvPr>
            <p:ph idx="1"/>
          </p:nvPr>
        </p:nvSpPr>
        <p:spPr>
          <a:xfrm>
            <a:off x="676273" y="1263650"/>
            <a:ext cx="10915651" cy="2688318"/>
          </a:xfrm>
        </p:spPr>
        <p:txBody>
          <a:bodyPr/>
          <a:lstStyle/>
          <a:p>
            <a:r>
              <a:rPr lang="zh-CN" altLang="en-US" dirty="0" smtClean="0">
                <a:sym typeface="Symbol" panose="05050102010706020507" pitchFamily="18" charset="2"/>
              </a:rPr>
              <a:t>模式规则是用来定义相同处理规则的多个文件的。它不同于隐式规则，隐式规则仅仅能够用</a:t>
            </a:r>
            <a:r>
              <a:rPr lang="en-US" altLang="zh-CN" dirty="0" smtClean="0">
                <a:sym typeface="Symbol" panose="05050102010706020507" pitchFamily="18" charset="2"/>
              </a:rPr>
              <a:t>make</a:t>
            </a:r>
            <a:r>
              <a:rPr lang="zh-CN" altLang="en-US" dirty="0" smtClean="0">
                <a:sym typeface="Symbol" panose="05050102010706020507" pitchFamily="18" charset="2"/>
              </a:rPr>
              <a:t>默认的变量来进行操作，而模式规则还能引入用户自定义变量，为多个文件建立相同的规则，从而简化了</a:t>
            </a:r>
            <a:r>
              <a:rPr lang="en-US" altLang="zh-CN" dirty="0" err="1" smtClean="0">
                <a:sym typeface="Symbol" panose="05050102010706020507" pitchFamily="18" charset="2"/>
              </a:rPr>
              <a:t>makefile</a:t>
            </a:r>
            <a:r>
              <a:rPr lang="zh-CN" altLang="en-US" dirty="0" smtClean="0">
                <a:sym typeface="Symbol" panose="05050102010706020507" pitchFamily="18" charset="2"/>
              </a:rPr>
              <a:t>的编写</a:t>
            </a:r>
          </a:p>
          <a:p>
            <a:r>
              <a:rPr lang="zh-CN" altLang="en-US" dirty="0" smtClean="0">
                <a:sym typeface="Symbol" panose="05050102010706020507" pitchFamily="18" charset="2"/>
              </a:rPr>
              <a:t>模式规则的格式类似于普通规则，这个规则中的相关文件前必须用</a:t>
            </a:r>
            <a:r>
              <a:rPr lang="zh-CN" altLang="en-US" dirty="0" smtClean="0">
                <a:latin typeface="Arial" panose="020B0604020202020204" pitchFamily="34" charset="0"/>
                <a:sym typeface="Symbol" panose="05050102010706020507" pitchFamily="18" charset="2"/>
              </a:rPr>
              <a:t>“</a:t>
            </a:r>
            <a:r>
              <a:rPr lang="en-US" altLang="zh-CN" dirty="0" smtClean="0">
                <a:sym typeface="Symbol" panose="05050102010706020507" pitchFamily="18" charset="2"/>
              </a:rPr>
              <a:t>%</a:t>
            </a:r>
            <a:r>
              <a:rPr lang="en-US" altLang="zh-CN" dirty="0" smtClean="0">
                <a:latin typeface="Arial" panose="020B0604020202020204" pitchFamily="34" charset="0"/>
                <a:sym typeface="Symbol" panose="05050102010706020507" pitchFamily="18" charset="2"/>
              </a:rPr>
              <a:t>”</a:t>
            </a:r>
            <a:r>
              <a:rPr lang="zh-CN" altLang="en-US" dirty="0" smtClean="0">
                <a:sym typeface="Symbol" panose="05050102010706020507" pitchFamily="18" charset="2"/>
              </a:rPr>
              <a:t>标明</a:t>
            </a:r>
          </a:p>
          <a:p>
            <a:endParaRPr lang="zh-CN" altLang="en-US" dirty="0"/>
          </a:p>
        </p:txBody>
      </p:sp>
      <p:sp>
        <p:nvSpPr>
          <p:cNvPr id="4" name="Rectangle 4"/>
          <p:cNvSpPr>
            <a:spLocks noChangeArrowheads="1"/>
          </p:cNvSpPr>
          <p:nvPr/>
        </p:nvSpPr>
        <p:spPr bwMode="auto">
          <a:xfrm>
            <a:off x="5611018" y="3942216"/>
            <a:ext cx="4856163" cy="2647950"/>
          </a:xfrm>
          <a:prstGeom prst="rect">
            <a:avLst/>
          </a:prstGeom>
          <a:solidFill>
            <a:srgbClr val="D9D9D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dirty="0"/>
              <a:t>OBJS = </a:t>
            </a:r>
            <a:r>
              <a:rPr lang="en-US" altLang="zh-CN" sz="2400" dirty="0" err="1"/>
              <a:t>kang.o</a:t>
            </a:r>
            <a:r>
              <a:rPr lang="en-US" altLang="zh-CN" sz="2400" dirty="0"/>
              <a:t> </a:t>
            </a:r>
            <a:r>
              <a:rPr lang="en-US" altLang="zh-CN" sz="2400" dirty="0" err="1"/>
              <a:t>yul.o</a:t>
            </a:r>
            <a:endParaRPr lang="en-US" altLang="zh-CN" sz="2400" dirty="0"/>
          </a:p>
          <a:p>
            <a:r>
              <a:rPr lang="en-US" altLang="zh-CN" sz="2400" dirty="0"/>
              <a:t>CC = </a:t>
            </a:r>
            <a:r>
              <a:rPr lang="en-US" altLang="zh-CN" sz="2400" dirty="0" err="1"/>
              <a:t>gcc</a:t>
            </a:r>
            <a:endParaRPr lang="en-US" altLang="zh-CN" sz="2400" dirty="0"/>
          </a:p>
          <a:p>
            <a:r>
              <a:rPr lang="en-US" altLang="zh-CN" sz="2400" dirty="0"/>
              <a:t>CFLAGS = -Wall -O -g</a:t>
            </a:r>
          </a:p>
          <a:p>
            <a:r>
              <a:rPr lang="en-US" altLang="zh-CN" sz="2400" dirty="0" err="1"/>
              <a:t>david</a:t>
            </a:r>
            <a:r>
              <a:rPr lang="en-US" altLang="zh-CN" sz="2400" dirty="0"/>
              <a:t> : $(OBJS)</a:t>
            </a:r>
          </a:p>
          <a:p>
            <a:r>
              <a:rPr lang="en-US" altLang="zh-CN" sz="2400" dirty="0"/>
              <a:t>      </a:t>
            </a:r>
            <a:r>
              <a:rPr lang="pt-BR" altLang="zh-CN" sz="2400" dirty="0"/>
              <a:t>$(CC) </a:t>
            </a:r>
            <a:r>
              <a:rPr lang="pt-BR" altLang="zh-CN" sz="2400" b="1" dirty="0"/>
              <a:t>$^</a:t>
            </a:r>
            <a:r>
              <a:rPr lang="pt-BR" altLang="zh-CN" sz="2400" dirty="0"/>
              <a:t> -o </a:t>
            </a:r>
            <a:r>
              <a:rPr lang="pt-BR" altLang="zh-CN" sz="2400" b="1" dirty="0"/>
              <a:t>$@</a:t>
            </a:r>
            <a:endParaRPr lang="pt-BR" altLang="zh-CN" sz="2400" dirty="0"/>
          </a:p>
          <a:p>
            <a:r>
              <a:rPr lang="sv-SE" altLang="zh-CN" sz="2400" b="1" dirty="0"/>
              <a:t>%.o : %.c</a:t>
            </a:r>
            <a:endParaRPr lang="sv-SE" altLang="zh-CN" sz="2400" dirty="0"/>
          </a:p>
          <a:p>
            <a:r>
              <a:rPr lang="pt-BR" altLang="zh-CN" sz="2400" dirty="0"/>
              <a:t>      </a:t>
            </a:r>
            <a:r>
              <a:rPr lang="sv-SE" altLang="zh-CN" sz="2400" dirty="0"/>
              <a:t>$(CC) $(CFLAGS) -c</a:t>
            </a:r>
            <a:r>
              <a:rPr lang="sv-SE" altLang="zh-CN" sz="2400" b="1" dirty="0"/>
              <a:t> $&lt;</a:t>
            </a:r>
            <a:r>
              <a:rPr lang="sv-SE" altLang="zh-CN" sz="2400" dirty="0"/>
              <a:t> -o </a:t>
            </a:r>
            <a:r>
              <a:rPr lang="sv-SE" altLang="zh-CN" sz="2400" b="1" dirty="0"/>
              <a:t>$@</a:t>
            </a:r>
          </a:p>
        </p:txBody>
      </p:sp>
    </p:spTree>
    <p:extLst>
      <p:ext uri="{BB962C8B-B14F-4D97-AF65-F5344CB8AC3E}">
        <p14:creationId xmlns:p14="http://schemas.microsoft.com/office/powerpoint/2010/main" val="355312552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make</a:t>
            </a:r>
            <a:r>
              <a:rPr lang="zh-CN" altLang="en-US" dirty="0" smtClean="0"/>
              <a:t>的命令行选项 </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366867" cy="4082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26369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autotools</a:t>
            </a:r>
            <a:endParaRPr lang="zh-CN" altLang="en-US" dirty="0"/>
          </a:p>
        </p:txBody>
      </p:sp>
      <p:sp>
        <p:nvSpPr>
          <p:cNvPr id="3" name="内容占位符 2"/>
          <p:cNvSpPr>
            <a:spLocks noGrp="1"/>
          </p:cNvSpPr>
          <p:nvPr>
            <p:ph idx="1"/>
          </p:nvPr>
        </p:nvSpPr>
        <p:spPr/>
        <p:txBody>
          <a:bodyPr/>
          <a:lstStyle/>
          <a:p>
            <a:r>
              <a:rPr lang="zh-CN" altLang="en-US" b="1" dirty="0" smtClean="0">
                <a:sym typeface="Symbol" panose="05050102010706020507" pitchFamily="18" charset="2"/>
              </a:rPr>
              <a:t>对于一个较大的项目而言编写</a:t>
            </a:r>
            <a:r>
              <a:rPr lang="en-US" altLang="zh-CN" b="1" dirty="0" err="1" smtClean="0">
                <a:sym typeface="Symbol" panose="05050102010706020507" pitchFamily="18" charset="2"/>
              </a:rPr>
              <a:t>makefile</a:t>
            </a:r>
            <a:r>
              <a:rPr lang="zh-CN" altLang="en-US" b="1" dirty="0" smtClean="0">
                <a:sym typeface="Symbol" panose="05050102010706020507" pitchFamily="18" charset="2"/>
              </a:rPr>
              <a:t>难度较大</a:t>
            </a:r>
          </a:p>
          <a:p>
            <a:r>
              <a:rPr lang="en-US" altLang="zh-CN" b="1" dirty="0" err="1" smtClean="0">
                <a:sym typeface="Symbol" panose="05050102010706020507" pitchFamily="18" charset="2"/>
              </a:rPr>
              <a:t>autotools</a:t>
            </a:r>
            <a:r>
              <a:rPr lang="zh-CN" altLang="en-US" b="1" dirty="0" smtClean="0">
                <a:sym typeface="Symbol" panose="05050102010706020507" pitchFamily="18" charset="2"/>
              </a:rPr>
              <a:t>系列工具只需用户输入简单的目标文件、依赖文件、文件目录等就可以轻松地生成</a:t>
            </a:r>
            <a:r>
              <a:rPr lang="en-US" altLang="zh-CN" b="1" dirty="0" err="1" smtClean="0">
                <a:sym typeface="Symbol" panose="05050102010706020507" pitchFamily="18" charset="2"/>
              </a:rPr>
              <a:t>makefile</a:t>
            </a:r>
            <a:endParaRPr lang="en-US" altLang="zh-CN" b="1" dirty="0" smtClean="0">
              <a:sym typeface="Symbol" panose="05050102010706020507" pitchFamily="18" charset="2"/>
            </a:endParaRPr>
          </a:p>
          <a:p>
            <a:r>
              <a:rPr lang="en-US" altLang="zh-CN" b="1" dirty="0" err="1" smtClean="0">
                <a:sym typeface="Symbol" panose="05050102010706020507" pitchFamily="18" charset="2"/>
              </a:rPr>
              <a:t>autotools</a:t>
            </a:r>
            <a:r>
              <a:rPr lang="zh-CN" altLang="en-US" b="1" dirty="0" smtClean="0">
                <a:sym typeface="Symbol" panose="05050102010706020507" pitchFamily="18" charset="2"/>
              </a:rPr>
              <a:t>工具还可以完成系统配置信息的收集，从而可以方便地处理各种移植性的问题</a:t>
            </a:r>
          </a:p>
          <a:p>
            <a:r>
              <a:rPr lang="en-US" altLang="zh-CN" b="1" dirty="0" smtClean="0">
                <a:sym typeface="Symbol" panose="05050102010706020507" pitchFamily="18" charset="2"/>
              </a:rPr>
              <a:t>Linux</a:t>
            </a:r>
            <a:r>
              <a:rPr lang="zh-CN" altLang="en-US" b="1" dirty="0" smtClean="0">
                <a:sym typeface="Symbol" panose="05050102010706020507" pitchFamily="18" charset="2"/>
              </a:rPr>
              <a:t>上的软件开发一般都用</a:t>
            </a:r>
            <a:r>
              <a:rPr lang="en-US" altLang="zh-CN" b="1" dirty="0" err="1" smtClean="0">
                <a:sym typeface="Symbol" panose="05050102010706020507" pitchFamily="18" charset="2"/>
              </a:rPr>
              <a:t>autotools</a:t>
            </a:r>
            <a:r>
              <a:rPr lang="zh-CN" altLang="en-US" b="1" dirty="0" smtClean="0">
                <a:sym typeface="Symbol" panose="05050102010706020507" pitchFamily="18" charset="2"/>
              </a:rPr>
              <a:t>来制作</a:t>
            </a:r>
            <a:r>
              <a:rPr lang="en-US" altLang="zh-CN" b="1" dirty="0" err="1" smtClean="0">
                <a:sym typeface="Symbol" panose="05050102010706020507" pitchFamily="18" charset="2"/>
              </a:rPr>
              <a:t>makefile</a:t>
            </a:r>
            <a:endParaRPr lang="en-US" altLang="zh-CN" b="1" dirty="0" smtClean="0">
              <a:sym typeface="Symbol" panose="05050102010706020507" pitchFamily="18" charset="2"/>
            </a:endParaRPr>
          </a:p>
          <a:p>
            <a:endParaRPr lang="zh-CN" altLang="en-US" dirty="0"/>
          </a:p>
        </p:txBody>
      </p:sp>
    </p:spTree>
    <p:extLst>
      <p:ext uri="{BB962C8B-B14F-4D97-AF65-F5344CB8AC3E}">
        <p14:creationId xmlns:p14="http://schemas.microsoft.com/office/powerpoint/2010/main" val="10747825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autotools</a:t>
            </a:r>
            <a:r>
              <a:rPr lang="zh-CN" altLang="en-US" dirty="0" smtClean="0"/>
              <a:t>流程图</a:t>
            </a:r>
            <a:endParaRPr lang="zh-CN" altLang="en-US" dirty="0"/>
          </a:p>
        </p:txBody>
      </p:sp>
      <p:pic>
        <p:nvPicPr>
          <p:cNvPr id="38" name="图片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1415143"/>
            <a:ext cx="6096000" cy="5334000"/>
          </a:xfrm>
          <a:prstGeom prst="rect">
            <a:avLst/>
          </a:prstGeom>
        </p:spPr>
      </p:pic>
    </p:spTree>
    <p:extLst>
      <p:ext uri="{BB962C8B-B14F-4D97-AF65-F5344CB8AC3E}">
        <p14:creationId xmlns:p14="http://schemas.microsoft.com/office/powerpoint/2010/main" val="32814306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流程说明</a:t>
            </a:r>
            <a:endParaRPr lang="zh-CN" altLang="en-US" dirty="0"/>
          </a:p>
        </p:txBody>
      </p:sp>
      <p:sp>
        <p:nvSpPr>
          <p:cNvPr id="3" name="内容占位符 2"/>
          <p:cNvSpPr>
            <a:spLocks noGrp="1"/>
          </p:cNvSpPr>
          <p:nvPr>
            <p:ph idx="1"/>
          </p:nvPr>
        </p:nvSpPr>
        <p:spPr/>
        <p:txBody>
          <a:bodyPr/>
          <a:lstStyle/>
          <a:p>
            <a:pPr algn="just"/>
            <a:r>
              <a:rPr lang="zh-CN" altLang="en-US" sz="2200" b="1" dirty="0" smtClean="0">
                <a:latin typeface="Times New Roman" panose="02020603050405020304" pitchFamily="18" charset="0"/>
              </a:rPr>
              <a:t>自动化配置和生成</a:t>
            </a:r>
            <a:r>
              <a:rPr lang="en-US" altLang="zh-CN" sz="2200" b="1" dirty="0" err="1" smtClean="0">
                <a:latin typeface="Times New Roman" panose="02020603050405020304" pitchFamily="18" charset="0"/>
              </a:rPr>
              <a:t>Makefile</a:t>
            </a:r>
            <a:r>
              <a:rPr lang="zh-CN" altLang="en-US" sz="2200" b="1" dirty="0" smtClean="0">
                <a:latin typeface="Times New Roman" panose="02020603050405020304" pitchFamily="18" charset="0"/>
              </a:rPr>
              <a:t>的流程可以概括如下：</a:t>
            </a:r>
          </a:p>
          <a:p>
            <a:pPr lvl="1" algn="just"/>
            <a:r>
              <a:rPr lang="zh-CN" altLang="en-US" sz="2200" b="1" dirty="0" smtClean="0">
                <a:latin typeface="Times New Roman" panose="02020603050405020304" pitchFamily="18" charset="0"/>
              </a:rPr>
              <a:t>运行</a:t>
            </a:r>
            <a:r>
              <a:rPr lang="en-US" altLang="zh-CN" sz="2200" b="1" dirty="0" err="1" smtClean="0">
                <a:latin typeface="Times New Roman" panose="02020603050405020304" pitchFamily="18" charset="0"/>
              </a:rPr>
              <a:t>autoscan</a:t>
            </a:r>
            <a:r>
              <a:rPr lang="zh-CN" altLang="en-US" sz="2200" b="1" dirty="0" smtClean="0">
                <a:latin typeface="Times New Roman" panose="02020603050405020304" pitchFamily="18" charset="0"/>
              </a:rPr>
              <a:t>命令。</a:t>
            </a:r>
          </a:p>
          <a:p>
            <a:pPr lvl="1" algn="just"/>
            <a:r>
              <a:rPr lang="zh-CN" altLang="en-US" sz="2200" b="1" dirty="0" smtClean="0">
                <a:latin typeface="Times New Roman" panose="02020603050405020304" pitchFamily="18" charset="0"/>
              </a:rPr>
              <a:t>将</a:t>
            </a:r>
            <a:r>
              <a:rPr lang="en-US" altLang="zh-CN" sz="2200" b="1" dirty="0" err="1" smtClean="0">
                <a:latin typeface="Times New Roman" panose="02020603050405020304" pitchFamily="18" charset="0"/>
              </a:rPr>
              <a:t>configure.scan</a:t>
            </a:r>
            <a:r>
              <a:rPr lang="zh-CN" altLang="en-US" sz="2200" b="1" dirty="0" smtClean="0">
                <a:latin typeface="Times New Roman" panose="02020603050405020304" pitchFamily="18" charset="0"/>
              </a:rPr>
              <a:t>文件重命名为</a:t>
            </a:r>
            <a:r>
              <a:rPr lang="en-US" altLang="zh-CN" sz="2200" b="1" dirty="0" smtClean="0">
                <a:latin typeface="Times New Roman" panose="02020603050405020304" pitchFamily="18" charset="0"/>
              </a:rPr>
              <a:t>configure.in</a:t>
            </a:r>
            <a:r>
              <a:rPr lang="zh-CN" altLang="en-US" sz="2200" b="1" dirty="0" smtClean="0">
                <a:latin typeface="Times New Roman" panose="02020603050405020304" pitchFamily="18" charset="0"/>
              </a:rPr>
              <a:t>，并修改</a:t>
            </a:r>
            <a:r>
              <a:rPr lang="en-US" altLang="zh-CN" sz="2200" b="1" dirty="0" smtClean="0">
                <a:latin typeface="Times New Roman" panose="02020603050405020304" pitchFamily="18" charset="0"/>
              </a:rPr>
              <a:t>configure.in</a:t>
            </a:r>
            <a:r>
              <a:rPr lang="zh-CN" altLang="en-US" sz="2200" b="1" dirty="0" smtClean="0">
                <a:latin typeface="Times New Roman" panose="02020603050405020304" pitchFamily="18" charset="0"/>
              </a:rPr>
              <a:t>文件。</a:t>
            </a:r>
          </a:p>
          <a:p>
            <a:pPr lvl="1" algn="just"/>
            <a:r>
              <a:rPr lang="zh-CN" altLang="en-US" sz="2200" b="1" dirty="0" smtClean="0">
                <a:latin typeface="Times New Roman" panose="02020603050405020304" pitchFamily="18" charset="0"/>
              </a:rPr>
              <a:t>运行</a:t>
            </a:r>
            <a:r>
              <a:rPr lang="en-US" altLang="zh-CN" sz="2200" b="1" dirty="0" err="1" smtClean="0">
                <a:latin typeface="Times New Roman" panose="02020603050405020304" pitchFamily="18" charset="0"/>
              </a:rPr>
              <a:t>aclocal</a:t>
            </a:r>
            <a:r>
              <a:rPr lang="zh-CN" altLang="en-US" sz="2200" b="1" dirty="0" smtClean="0">
                <a:latin typeface="Times New Roman" panose="02020603050405020304" pitchFamily="18" charset="0"/>
              </a:rPr>
              <a:t>命令得到</a:t>
            </a:r>
            <a:r>
              <a:rPr lang="en-US" altLang="zh-CN" sz="2200" b="1" dirty="0" smtClean="0">
                <a:latin typeface="Times New Roman" panose="02020603050405020304" pitchFamily="18" charset="0"/>
              </a:rPr>
              <a:t>aclocal.m4</a:t>
            </a:r>
            <a:r>
              <a:rPr lang="zh-CN" altLang="en-US" sz="2200" b="1" dirty="0" smtClean="0">
                <a:latin typeface="Times New Roman" panose="02020603050405020304" pitchFamily="18" charset="0"/>
              </a:rPr>
              <a:t>文件。</a:t>
            </a:r>
          </a:p>
          <a:p>
            <a:pPr lvl="1" algn="just"/>
            <a:r>
              <a:rPr lang="zh-CN" altLang="en-US" sz="2200" b="1" dirty="0" smtClean="0">
                <a:latin typeface="Times New Roman" panose="02020603050405020304" pitchFamily="18" charset="0"/>
              </a:rPr>
              <a:t>运行</a:t>
            </a:r>
            <a:r>
              <a:rPr lang="en-US" altLang="zh-CN" sz="2200" b="1" dirty="0" err="1" smtClean="0">
                <a:latin typeface="Times New Roman" panose="02020603050405020304" pitchFamily="18" charset="0"/>
              </a:rPr>
              <a:t>autoconf</a:t>
            </a:r>
            <a:r>
              <a:rPr lang="zh-CN" altLang="en-US" sz="2200" b="1" dirty="0" smtClean="0">
                <a:latin typeface="Times New Roman" panose="02020603050405020304" pitchFamily="18" charset="0"/>
              </a:rPr>
              <a:t>命令得到</a:t>
            </a:r>
            <a:r>
              <a:rPr lang="en-US" altLang="zh-CN" sz="2200" b="1" dirty="0" smtClean="0">
                <a:latin typeface="Times New Roman" panose="02020603050405020304" pitchFamily="18" charset="0"/>
              </a:rPr>
              <a:t>configure</a:t>
            </a:r>
            <a:r>
              <a:rPr lang="zh-CN" altLang="en-US" sz="2200" b="1" dirty="0" smtClean="0">
                <a:latin typeface="Times New Roman" panose="02020603050405020304" pitchFamily="18" charset="0"/>
              </a:rPr>
              <a:t>文件。</a:t>
            </a:r>
          </a:p>
          <a:p>
            <a:pPr lvl="1" algn="just"/>
            <a:r>
              <a:rPr lang="zh-CN" altLang="en-US" sz="2200" b="1" dirty="0" smtClean="0">
                <a:latin typeface="Times New Roman" panose="02020603050405020304" pitchFamily="18" charset="0"/>
              </a:rPr>
              <a:t>在工程目录下新建</a:t>
            </a:r>
            <a:r>
              <a:rPr lang="en-US" altLang="zh-CN" sz="2200" b="1" dirty="0" smtClean="0">
                <a:latin typeface="Times New Roman" panose="02020603050405020304" pitchFamily="18" charset="0"/>
              </a:rPr>
              <a:t>Makefile.am</a:t>
            </a:r>
            <a:r>
              <a:rPr lang="zh-CN" altLang="en-US" sz="2200" b="1" dirty="0" smtClean="0">
                <a:latin typeface="Times New Roman" panose="02020603050405020304" pitchFamily="18" charset="0"/>
              </a:rPr>
              <a:t>文件，如果存在子目录，子目录中也要创建此文件。</a:t>
            </a:r>
          </a:p>
          <a:p>
            <a:pPr lvl="1" algn="just"/>
            <a:r>
              <a:rPr lang="zh-CN" altLang="en-US" sz="2200" b="1" dirty="0" smtClean="0">
                <a:latin typeface="Times New Roman" panose="02020603050405020304" pitchFamily="18" charset="0"/>
              </a:rPr>
              <a:t>将</a:t>
            </a:r>
            <a:r>
              <a:rPr lang="en-US" altLang="zh-CN" sz="2200" b="1" dirty="0" smtClean="0">
                <a:latin typeface="Times New Roman" panose="02020603050405020304" pitchFamily="18" charset="0"/>
              </a:rPr>
              <a:t>/</a:t>
            </a:r>
            <a:r>
              <a:rPr lang="en-US" altLang="zh-CN" sz="2200" b="1" dirty="0" err="1" smtClean="0">
                <a:latin typeface="Times New Roman" panose="02020603050405020304" pitchFamily="18" charset="0"/>
              </a:rPr>
              <a:t>usr</a:t>
            </a:r>
            <a:r>
              <a:rPr lang="en-US" altLang="zh-CN" sz="2200" b="1" dirty="0" smtClean="0">
                <a:latin typeface="Times New Roman" panose="02020603050405020304" pitchFamily="18" charset="0"/>
              </a:rPr>
              <a:t>/share/automake-1.X/</a:t>
            </a:r>
            <a:r>
              <a:rPr lang="zh-CN" altLang="en-US" sz="2200" b="1" dirty="0" smtClean="0">
                <a:latin typeface="Times New Roman" panose="02020603050405020304" pitchFamily="18" charset="0"/>
              </a:rPr>
              <a:t>目录下的</a:t>
            </a:r>
            <a:r>
              <a:rPr lang="en-US" altLang="zh-CN" sz="2200" b="1" dirty="0" err="1" smtClean="0">
                <a:latin typeface="Times New Roman" panose="02020603050405020304" pitchFamily="18" charset="0"/>
              </a:rPr>
              <a:t>depcomp</a:t>
            </a:r>
            <a:r>
              <a:rPr lang="zh-CN" altLang="en-US" sz="2200" b="1" dirty="0" smtClean="0">
                <a:latin typeface="Times New Roman" panose="02020603050405020304" pitchFamily="18" charset="0"/>
              </a:rPr>
              <a:t>和</a:t>
            </a:r>
            <a:r>
              <a:rPr lang="en-US" altLang="zh-CN" sz="2200" b="1" dirty="0" smtClean="0">
                <a:latin typeface="Times New Roman" panose="02020603050405020304" pitchFamily="18" charset="0"/>
              </a:rPr>
              <a:t>compile</a:t>
            </a:r>
            <a:r>
              <a:rPr lang="zh-CN" altLang="en-US" sz="2200" b="1" dirty="0" smtClean="0">
                <a:latin typeface="Times New Roman" panose="02020603050405020304" pitchFamily="18" charset="0"/>
              </a:rPr>
              <a:t>文件复制到需要处理目录下。</a:t>
            </a:r>
          </a:p>
          <a:p>
            <a:pPr lvl="1" algn="just"/>
            <a:r>
              <a:rPr lang="zh-CN" altLang="en-US" sz="2200" b="1" dirty="0" smtClean="0">
                <a:latin typeface="Times New Roman" panose="02020603050405020304" pitchFamily="18" charset="0"/>
              </a:rPr>
              <a:t>运行</a:t>
            </a:r>
            <a:r>
              <a:rPr lang="en-US" altLang="zh-CN" sz="2200" b="1" dirty="0" err="1" smtClean="0">
                <a:latin typeface="Times New Roman" panose="02020603050405020304" pitchFamily="18" charset="0"/>
              </a:rPr>
              <a:t>automake</a:t>
            </a:r>
            <a:r>
              <a:rPr lang="en-US" altLang="zh-CN" sz="2200" b="1" dirty="0" smtClean="0">
                <a:latin typeface="Times New Roman" panose="02020603050405020304" pitchFamily="18" charset="0"/>
              </a:rPr>
              <a:t> -a</a:t>
            </a:r>
            <a:r>
              <a:rPr lang="zh-CN" altLang="en-US" sz="2200" b="1" dirty="0" smtClean="0">
                <a:latin typeface="Times New Roman" panose="02020603050405020304" pitchFamily="18" charset="0"/>
              </a:rPr>
              <a:t>命令得到</a:t>
            </a:r>
            <a:r>
              <a:rPr lang="en-US" altLang="zh-CN" sz="2200" b="1" dirty="0" smtClean="0">
                <a:latin typeface="Times New Roman" panose="02020603050405020304" pitchFamily="18" charset="0"/>
              </a:rPr>
              <a:t>Makefile.in</a:t>
            </a:r>
            <a:r>
              <a:rPr lang="zh-CN" altLang="en-US" sz="2200" b="1" dirty="0" smtClean="0">
                <a:latin typeface="Times New Roman" panose="02020603050405020304" pitchFamily="18" charset="0"/>
              </a:rPr>
              <a:t>文件。</a:t>
            </a:r>
          </a:p>
          <a:p>
            <a:pPr lvl="1" algn="just"/>
            <a:r>
              <a:rPr lang="zh-CN" altLang="en-US" sz="2200" b="1" dirty="0" smtClean="0">
                <a:latin typeface="Times New Roman" panose="02020603050405020304" pitchFamily="18" charset="0"/>
              </a:rPr>
              <a:t>运行</a:t>
            </a:r>
            <a:r>
              <a:rPr lang="en-US" altLang="zh-CN" sz="2200" b="1" dirty="0" smtClean="0">
                <a:latin typeface="Times New Roman" panose="02020603050405020304" pitchFamily="18" charset="0"/>
              </a:rPr>
              <a:t>./configure</a:t>
            </a:r>
            <a:r>
              <a:rPr lang="zh-CN" altLang="en-US" sz="2200" b="1" dirty="0" smtClean="0">
                <a:latin typeface="Times New Roman" panose="02020603050405020304" pitchFamily="18" charset="0"/>
              </a:rPr>
              <a:t>脚本 </a:t>
            </a:r>
          </a:p>
          <a:p>
            <a:endParaRPr lang="zh-CN" altLang="en-US" dirty="0"/>
          </a:p>
        </p:txBody>
      </p:sp>
    </p:spTree>
    <p:extLst>
      <p:ext uri="{BB962C8B-B14F-4D97-AF65-F5344CB8AC3E}">
        <p14:creationId xmlns:p14="http://schemas.microsoft.com/office/powerpoint/2010/main" val="55147179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629104" cy="2387600"/>
          </a:xfrm>
        </p:spPr>
        <p:txBody>
          <a:bodyPr/>
          <a:lstStyle/>
          <a:p>
            <a:r>
              <a:rPr lang="zh-CN" altLang="en-US" dirty="0" smtClean="0"/>
              <a:t>第四章 文件操作与文件管理</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95635671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p:txBody>
          <a:bodyPr/>
          <a:lstStyle/>
          <a:p>
            <a:r>
              <a:rPr lang="zh-CN" altLang="zh-CN" dirty="0"/>
              <a:t>掌握</a:t>
            </a:r>
            <a:r>
              <a:rPr lang="en-US" altLang="zh-CN" dirty="0"/>
              <a:t>Linux</a:t>
            </a:r>
            <a:r>
              <a:rPr lang="zh-CN" altLang="zh-CN" dirty="0"/>
              <a:t>文件系统的实现，系统调用和标准</a:t>
            </a:r>
            <a:r>
              <a:rPr lang="en-US" altLang="zh-CN" dirty="0"/>
              <a:t>I/O</a:t>
            </a:r>
            <a:r>
              <a:rPr lang="zh-CN" altLang="zh-CN" dirty="0"/>
              <a:t>库，文件属性目录的实现和操作，系统数据文件，文件锁，高级</a:t>
            </a:r>
            <a:r>
              <a:rPr lang="en-US" altLang="zh-CN" dirty="0"/>
              <a:t>I/O</a:t>
            </a:r>
            <a:r>
              <a:rPr lang="zh-CN" altLang="zh-CN" dirty="0"/>
              <a:t>。</a:t>
            </a:r>
            <a:endParaRPr lang="zh-CN" altLang="en-US" dirty="0"/>
          </a:p>
        </p:txBody>
      </p:sp>
    </p:spTree>
    <p:extLst>
      <p:ext uri="{BB962C8B-B14F-4D97-AF65-F5344CB8AC3E}">
        <p14:creationId xmlns:p14="http://schemas.microsoft.com/office/powerpoint/2010/main" val="178950669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平台下文件编程</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在</a:t>
            </a:r>
            <a:r>
              <a:rPr lang="en-US" altLang="zh-CN" sz="2400" b="1" dirty="0" smtClean="0">
                <a:latin typeface="Times New Roman" panose="02020603050405020304" pitchFamily="18" charset="0"/>
              </a:rPr>
              <a:t>Linux</a:t>
            </a:r>
            <a:r>
              <a:rPr lang="zh-CN" altLang="en-US" sz="2400" b="1" dirty="0" smtClean="0">
                <a:latin typeface="Times New Roman" panose="02020603050405020304" pitchFamily="18" charset="0"/>
              </a:rPr>
              <a:t>平台下对文件编程可以使用两类函数：</a:t>
            </a:r>
          </a:p>
          <a:p>
            <a:pPr lvl="1" algn="just"/>
            <a:r>
              <a:rPr lang="en-US" altLang="zh-CN" b="1" dirty="0">
                <a:latin typeface="Times New Roman" panose="02020603050405020304" pitchFamily="18" charset="0"/>
              </a:rPr>
              <a:t>Linux</a:t>
            </a:r>
            <a:r>
              <a:rPr lang="zh-CN" altLang="en-US" b="1" dirty="0">
                <a:latin typeface="Times New Roman" panose="02020603050405020304" pitchFamily="18" charset="0"/>
              </a:rPr>
              <a:t>操作系统文件</a:t>
            </a:r>
            <a:r>
              <a:rPr lang="en-US" altLang="zh-CN" b="1" dirty="0">
                <a:latin typeface="Times New Roman" panose="02020603050405020304" pitchFamily="18" charset="0"/>
              </a:rPr>
              <a:t>API</a:t>
            </a:r>
            <a:r>
              <a:rPr lang="zh-CN" altLang="en-US" b="1" dirty="0">
                <a:latin typeface="Times New Roman" panose="02020603050405020304" pitchFamily="18" charset="0"/>
              </a:rPr>
              <a:t>；</a:t>
            </a:r>
          </a:p>
          <a:p>
            <a:pPr lvl="1" algn="just"/>
            <a:r>
              <a:rPr lang="en-US" altLang="zh-CN" b="1" dirty="0">
                <a:latin typeface="Times New Roman" panose="02020603050405020304" pitchFamily="18" charset="0"/>
              </a:rPr>
              <a:t>C</a:t>
            </a:r>
            <a:r>
              <a:rPr lang="zh-CN" altLang="en-US" b="1" dirty="0">
                <a:latin typeface="Times New Roman" panose="02020603050405020304" pitchFamily="18" charset="0"/>
              </a:rPr>
              <a:t>语言</a:t>
            </a:r>
            <a:r>
              <a:rPr lang="en-US" altLang="zh-CN" b="1" dirty="0">
                <a:latin typeface="Times New Roman" panose="02020603050405020304" pitchFamily="18" charset="0"/>
              </a:rPr>
              <a:t>I/O</a:t>
            </a:r>
            <a:r>
              <a:rPr lang="zh-CN" altLang="en-US" b="1" dirty="0">
                <a:latin typeface="Times New Roman" panose="02020603050405020304" pitchFamily="18" charset="0"/>
              </a:rPr>
              <a:t>库函数。 </a:t>
            </a:r>
          </a:p>
          <a:p>
            <a:pPr lvl="1" algn="just"/>
            <a:endParaRPr lang="zh-CN" altLang="en-US" sz="800" b="1" dirty="0" smtClean="0">
              <a:latin typeface="Times New Roman" panose="02020603050405020304" pitchFamily="18" charset="0"/>
            </a:endParaRPr>
          </a:p>
          <a:p>
            <a:pPr algn="just">
              <a:lnSpc>
                <a:spcPct val="130000"/>
              </a:lnSpc>
            </a:pPr>
            <a:r>
              <a:rPr lang="zh-CN" altLang="en-US" sz="2400" b="1" dirty="0" smtClean="0">
                <a:latin typeface="Times New Roman" panose="02020603050405020304" pitchFamily="18" charset="0"/>
              </a:rPr>
              <a:t>前者依赖于</a:t>
            </a:r>
            <a:r>
              <a:rPr lang="en-US" altLang="zh-CN" sz="2400" b="1" dirty="0" smtClean="0">
                <a:latin typeface="Times New Roman" panose="02020603050405020304" pitchFamily="18" charset="0"/>
              </a:rPr>
              <a:t>Linux</a:t>
            </a:r>
            <a:r>
              <a:rPr lang="zh-CN" altLang="en-US" sz="2400" b="1" dirty="0" smtClean="0">
                <a:latin typeface="Times New Roman" panose="02020603050405020304" pitchFamily="18" charset="0"/>
              </a:rPr>
              <a:t>系统调用，后者实际上与操作系统是独立的，因为在任何操作系统下，使用</a:t>
            </a:r>
            <a:r>
              <a:rPr lang="en-US" altLang="zh-CN" sz="2400" b="1" dirty="0" smtClean="0">
                <a:latin typeface="Times New Roman" panose="02020603050405020304" pitchFamily="18" charset="0"/>
              </a:rPr>
              <a:t>C</a:t>
            </a:r>
            <a:r>
              <a:rPr lang="zh-CN" altLang="en-US" sz="2400" b="1" dirty="0" smtClean="0">
                <a:latin typeface="Times New Roman" panose="02020603050405020304" pitchFamily="18" charset="0"/>
              </a:rPr>
              <a:t>语言</a:t>
            </a:r>
            <a:r>
              <a:rPr lang="en-US" altLang="zh-CN" sz="2400" b="1" dirty="0" smtClean="0">
                <a:latin typeface="Times New Roman" panose="02020603050405020304" pitchFamily="18" charset="0"/>
              </a:rPr>
              <a:t>I/O</a:t>
            </a:r>
            <a:r>
              <a:rPr lang="zh-CN" altLang="en-US" sz="2400" b="1" dirty="0" smtClean="0">
                <a:latin typeface="Times New Roman" panose="02020603050405020304" pitchFamily="18" charset="0"/>
              </a:rPr>
              <a:t>库函数操作文件的方法都是相同的。 </a:t>
            </a:r>
          </a:p>
          <a:p>
            <a:endParaRPr lang="zh-CN" altLang="en-US" dirty="0"/>
          </a:p>
        </p:txBody>
      </p:sp>
    </p:spTree>
    <p:extLst>
      <p:ext uri="{BB962C8B-B14F-4D97-AF65-F5344CB8AC3E}">
        <p14:creationId xmlns:p14="http://schemas.microsoft.com/office/powerpoint/2010/main" val="114520342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创建</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创建</a:t>
            </a: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create(</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*filename, </a:t>
            </a:r>
            <a:r>
              <a:rPr lang="en-US" altLang="zh-CN" b="1" dirty="0" err="1">
                <a:latin typeface="Times New Roman" panose="02020603050405020304" pitchFamily="18" charset="0"/>
              </a:rPr>
              <a:t>mode_t</a:t>
            </a:r>
            <a:r>
              <a:rPr lang="en-US" altLang="zh-CN" b="1" dirty="0">
                <a:latin typeface="Times New Roman" panose="02020603050405020304" pitchFamily="18" charset="0"/>
              </a:rPr>
              <a:t> mode);</a:t>
            </a:r>
          </a:p>
          <a:p>
            <a:pPr lvl="1" algn="just">
              <a:buFont typeface="Wingdings" panose="05000000000000000000" pitchFamily="2"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参数</a:t>
            </a:r>
            <a:r>
              <a:rPr lang="en-US" altLang="zh-CN" b="1" dirty="0">
                <a:latin typeface="Times New Roman" panose="02020603050405020304" pitchFamily="18" charset="0"/>
              </a:rPr>
              <a:t>mode</a:t>
            </a:r>
            <a:r>
              <a:rPr lang="zh-CN" altLang="en-US" b="1" dirty="0">
                <a:latin typeface="Times New Roman" panose="02020603050405020304" pitchFamily="18" charset="0"/>
              </a:rPr>
              <a:t>指定新建文件的存取权限，它同</a:t>
            </a:r>
            <a:r>
              <a:rPr lang="en-US" altLang="zh-CN" b="1" dirty="0" err="1">
                <a:latin typeface="Times New Roman" panose="02020603050405020304" pitchFamily="18" charset="0"/>
              </a:rPr>
              <a:t>umask</a:t>
            </a:r>
            <a:r>
              <a:rPr lang="zh-CN" altLang="en-US" b="1" dirty="0">
                <a:latin typeface="Times New Roman" panose="02020603050405020304" pitchFamily="18" charset="0"/>
              </a:rPr>
              <a:t>一起决定文件的最终权限（</a:t>
            </a:r>
            <a:r>
              <a:rPr lang="en-US" altLang="zh-CN" b="1" dirty="0" err="1">
                <a:latin typeface="Times New Roman" panose="02020603050405020304" pitchFamily="18" charset="0"/>
              </a:rPr>
              <a:t>mode&amp;umask</a:t>
            </a:r>
            <a:r>
              <a:rPr lang="en-US" altLang="zh-CN" b="1" dirty="0">
                <a:latin typeface="Times New Roman" panose="02020603050405020304" pitchFamily="18" charset="0"/>
              </a:rPr>
              <a:t>).</a:t>
            </a:r>
          </a:p>
          <a:p>
            <a:pPr lvl="1" algn="just">
              <a:buFont typeface="Wingdings" panose="05000000000000000000" pitchFamily="2" charset="2"/>
              <a:buNone/>
            </a:pPr>
            <a:endParaRPr lang="en-US" altLang="zh-CN" b="1" dirty="0">
              <a:latin typeface="Times New Roman" panose="02020603050405020304" pitchFamily="18" charset="0"/>
            </a:endParaRPr>
          </a:p>
          <a:p>
            <a:pPr lvl="1" algn="just"/>
            <a:r>
              <a:rPr lang="en-US" altLang="zh-CN" b="1" dirty="0" err="1">
                <a:latin typeface="Times New Roman" panose="02020603050405020304" pitchFamily="18" charset="0"/>
              </a:rPr>
              <a:t>umask</a:t>
            </a:r>
            <a:r>
              <a:rPr lang="zh-CN" altLang="en-US" b="1" dirty="0">
                <a:latin typeface="Times New Roman" panose="02020603050405020304" pitchFamily="18" charset="0"/>
              </a:rPr>
              <a:t>代表了文件在创建时需要去掉的一些存取权限。</a:t>
            </a:r>
            <a:r>
              <a:rPr lang="en-US" altLang="zh-CN" b="1" dirty="0" err="1">
                <a:latin typeface="Times New Roman" panose="02020603050405020304" pitchFamily="18" charset="0"/>
              </a:rPr>
              <a:t>umask</a:t>
            </a:r>
            <a:r>
              <a:rPr lang="zh-CN" altLang="en-US" b="1" dirty="0">
                <a:latin typeface="Times New Roman" panose="02020603050405020304" pitchFamily="18" charset="0"/>
              </a:rPr>
              <a:t>可通过系统调用</a:t>
            </a:r>
            <a:r>
              <a:rPr lang="en-US" altLang="zh-CN" b="1" dirty="0" err="1">
                <a:latin typeface="Times New Roman" panose="02020603050405020304" pitchFamily="18" charset="0"/>
              </a:rPr>
              <a:t>umask</a:t>
            </a:r>
            <a:r>
              <a:rPr lang="en-US" altLang="zh-CN" b="1" dirty="0">
                <a:latin typeface="Times New Roman" panose="02020603050405020304" pitchFamily="18" charset="0"/>
              </a:rPr>
              <a:t>()</a:t>
            </a:r>
            <a:r>
              <a:rPr lang="zh-CN" altLang="en-US" b="1" dirty="0">
                <a:latin typeface="Times New Roman" panose="02020603050405020304" pitchFamily="18" charset="0"/>
              </a:rPr>
              <a:t>来改变：</a:t>
            </a:r>
          </a:p>
          <a:p>
            <a:pPr lvl="1" algn="just">
              <a:buFont typeface="Wingdings" panose="05000000000000000000" pitchFamily="2" charset="2"/>
              <a:buNone/>
            </a:pPr>
            <a:r>
              <a:rPr lang="zh-CN" altLang="en-US" b="1" dirty="0">
                <a:latin typeface="Times New Roman" panose="02020603050405020304" pitchFamily="18" charset="0"/>
              </a:rPr>
              <a:t>           </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umask</a:t>
            </a:r>
            <a:r>
              <a:rPr lang="en-US" altLang="zh-CN" b="1" dirty="0">
                <a:latin typeface="Times New Roman" panose="02020603050405020304" pitchFamily="18" charset="0"/>
              </a:rPr>
              <a:t>(</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newmask</a:t>
            </a:r>
            <a:r>
              <a:rPr lang="en-US" altLang="zh-CN" b="1" dirty="0">
                <a:latin typeface="Times New Roman" panose="02020603050405020304" pitchFamily="18" charset="0"/>
              </a:rPr>
              <a:t>);</a:t>
            </a:r>
          </a:p>
          <a:p>
            <a:pPr lvl="1" algn="just">
              <a:buFont typeface="Wingdings" panose="05000000000000000000" pitchFamily="2"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该调用将</a:t>
            </a:r>
            <a:r>
              <a:rPr lang="en-US" altLang="zh-CN" b="1" dirty="0" err="1">
                <a:latin typeface="Times New Roman" panose="02020603050405020304" pitchFamily="18" charset="0"/>
              </a:rPr>
              <a:t>umask</a:t>
            </a:r>
            <a:r>
              <a:rPr lang="zh-CN" altLang="en-US" b="1" dirty="0">
                <a:latin typeface="Times New Roman" panose="02020603050405020304" pitchFamily="18" charset="0"/>
              </a:rPr>
              <a:t>设置为</a:t>
            </a:r>
            <a:r>
              <a:rPr lang="en-US" altLang="zh-CN" b="1" dirty="0" err="1">
                <a:latin typeface="Times New Roman" panose="02020603050405020304" pitchFamily="18" charset="0"/>
              </a:rPr>
              <a:t>newmask</a:t>
            </a:r>
            <a:r>
              <a:rPr lang="zh-CN" altLang="en-US" b="1" dirty="0">
                <a:latin typeface="Times New Roman" panose="02020603050405020304" pitchFamily="18" charset="0"/>
              </a:rPr>
              <a:t>，然后返回旧的</a:t>
            </a:r>
            <a:r>
              <a:rPr lang="en-US" altLang="zh-CN" b="1" dirty="0" err="1">
                <a:latin typeface="Times New Roman" panose="02020603050405020304" pitchFamily="18" charset="0"/>
              </a:rPr>
              <a:t>umask</a:t>
            </a:r>
            <a:r>
              <a:rPr lang="zh-CN" altLang="en-US" b="1" dirty="0">
                <a:latin typeface="Times New Roman" panose="02020603050405020304" pitchFamily="18" charset="0"/>
              </a:rPr>
              <a:t>，它只影响读、写和执行权限。</a:t>
            </a:r>
          </a:p>
          <a:p>
            <a:endParaRPr lang="zh-CN" altLang="en-US" dirty="0"/>
          </a:p>
        </p:txBody>
      </p:sp>
    </p:spTree>
    <p:extLst>
      <p:ext uri="{BB962C8B-B14F-4D97-AF65-F5344CB8AC3E}">
        <p14:creationId xmlns:p14="http://schemas.microsoft.com/office/powerpoint/2010/main" val="234576211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创建</a:t>
            </a:r>
            <a:endParaRPr lang="zh-CN" altLang="en-US" dirty="0"/>
          </a:p>
        </p:txBody>
      </p:sp>
      <p:sp>
        <p:nvSpPr>
          <p:cNvPr id="3" name="内容占位符 2"/>
          <p:cNvSpPr>
            <a:spLocks noGrp="1"/>
          </p:cNvSpPr>
          <p:nvPr>
            <p:ph idx="1"/>
          </p:nvPr>
        </p:nvSpPr>
        <p:spPr/>
        <p:txBody>
          <a:bodyPr/>
          <a:lstStyle/>
          <a:p>
            <a:r>
              <a:rPr lang="en-US" altLang="zh-CN" b="1" dirty="0" smtClean="0">
                <a:latin typeface="Times New Roman" panose="02020603050405020304" pitchFamily="18" charset="0"/>
              </a:rPr>
              <a:t>mode</a:t>
            </a:r>
            <a:r>
              <a:rPr lang="zh-CN" altLang="en-US" b="1" dirty="0" smtClean="0">
                <a:latin typeface="Times New Roman" panose="02020603050405020304" pitchFamily="18" charset="0"/>
              </a:rPr>
              <a:t>可以是以下情况的组合，</a:t>
            </a:r>
            <a:r>
              <a:rPr lang="zh-CN" altLang="en-US" b="1" dirty="0" smtClean="0"/>
              <a:t>可以通过上述宏进行</a:t>
            </a:r>
            <a:r>
              <a:rPr lang="zh-CN" altLang="en-US" b="1" dirty="0" smtClean="0">
                <a:latin typeface="Arial" panose="020B0604020202020204" pitchFamily="34" charset="0"/>
              </a:rPr>
              <a:t>“</a:t>
            </a:r>
            <a:r>
              <a:rPr lang="zh-CN" altLang="en-US" b="1" dirty="0" smtClean="0"/>
              <a:t>或</a:t>
            </a:r>
            <a:r>
              <a:rPr lang="zh-CN" altLang="en-US" b="1" dirty="0" smtClean="0">
                <a:latin typeface="Arial" panose="020B0604020202020204" pitchFamily="34" charset="0"/>
              </a:rPr>
              <a:t>”</a:t>
            </a:r>
            <a:r>
              <a:rPr lang="zh-CN" altLang="en-US" b="1" dirty="0" smtClean="0"/>
              <a:t>逻辑产生标志。</a:t>
            </a:r>
            <a:r>
              <a:rPr lang="zh-CN" altLang="en-US" dirty="0" smtClean="0"/>
              <a:t> </a:t>
            </a:r>
            <a:endParaRPr lang="zh-CN" altLang="en-US" b="1" dirty="0" smtClean="0">
              <a:latin typeface="Times New Roman" panose="02020603050405020304" pitchFamily="18" charset="0"/>
            </a:endParaRPr>
          </a:p>
          <a:p>
            <a:endParaRPr lang="zh-CN" altLang="en-US" dirty="0"/>
          </a:p>
        </p:txBody>
      </p:sp>
      <p:graphicFrame>
        <p:nvGraphicFramePr>
          <p:cNvPr id="4" name="Group 60"/>
          <p:cNvGraphicFramePr>
            <a:graphicFrameLocks/>
          </p:cNvGraphicFramePr>
          <p:nvPr>
            <p:extLst>
              <p:ext uri="{D42A27DB-BD31-4B8C-83A1-F6EECF244321}">
                <p14:modId xmlns:p14="http://schemas.microsoft.com/office/powerpoint/2010/main" val="1107270201"/>
              </p:ext>
            </p:extLst>
          </p:nvPr>
        </p:nvGraphicFramePr>
        <p:xfrm>
          <a:off x="2552806" y="2349491"/>
          <a:ext cx="6911975" cy="3655378"/>
        </p:xfrm>
        <a:graphic>
          <a:graphicData uri="http://schemas.openxmlformats.org/drawingml/2006/table">
            <a:tbl>
              <a:tblPr/>
              <a:tblGrid>
                <a:gridCol w="2590800"/>
                <a:gridCol w="4321175"/>
              </a:tblGrid>
              <a:tr h="40798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标志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S_IRUSR</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用户可以读</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S_IWUSR</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用户可以写</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S_IXUSR</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用户可以执行</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S_IRWXU</a:t>
                      </a: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用户可以读、写、执行</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S_IRGRP</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rPr>
                        <a:t>组可以读</a:t>
                      </a:r>
                      <a:r>
                        <a:rPr kumimoji="0" lang="zh-CN" altLang="en-US"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S_IWGRP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组可以写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S_IXGRP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组可以执行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S_IRWXG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组可以读写执行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92038067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创建</a:t>
            </a:r>
            <a:endParaRPr lang="zh-CN" altLang="en-US" dirty="0"/>
          </a:p>
        </p:txBody>
      </p:sp>
      <p:sp>
        <p:nvSpPr>
          <p:cNvPr id="3" name="内容占位符 2"/>
          <p:cNvSpPr>
            <a:spLocks noGrp="1"/>
          </p:cNvSpPr>
          <p:nvPr>
            <p:ph idx="1"/>
          </p:nvPr>
        </p:nvSpPr>
        <p:spPr/>
        <p:txBody>
          <a:bodyPr/>
          <a:lstStyle/>
          <a:p>
            <a:r>
              <a:rPr lang="en-US" altLang="zh-CN" b="1" dirty="0" smtClean="0">
                <a:latin typeface="Times New Roman" panose="02020603050405020304" pitchFamily="18" charset="0"/>
              </a:rPr>
              <a:t>mode</a:t>
            </a:r>
            <a:r>
              <a:rPr lang="zh-CN" altLang="en-US" b="1" dirty="0" smtClean="0">
                <a:latin typeface="Times New Roman" panose="02020603050405020304" pitchFamily="18" charset="0"/>
              </a:rPr>
              <a:t>可以是以下情况的组合，</a:t>
            </a:r>
            <a:r>
              <a:rPr lang="zh-CN" altLang="en-US" b="1" dirty="0" smtClean="0"/>
              <a:t>可以通过上述宏进行</a:t>
            </a:r>
            <a:r>
              <a:rPr lang="zh-CN" altLang="en-US" b="1" dirty="0" smtClean="0">
                <a:latin typeface="Arial" panose="020B0604020202020204" pitchFamily="34" charset="0"/>
              </a:rPr>
              <a:t>“</a:t>
            </a:r>
            <a:r>
              <a:rPr lang="zh-CN" altLang="en-US" b="1" dirty="0" smtClean="0"/>
              <a:t>或</a:t>
            </a:r>
            <a:r>
              <a:rPr lang="zh-CN" altLang="en-US" b="1" dirty="0" smtClean="0">
                <a:latin typeface="Arial" panose="020B0604020202020204" pitchFamily="34" charset="0"/>
              </a:rPr>
              <a:t>”</a:t>
            </a:r>
            <a:r>
              <a:rPr lang="zh-CN" altLang="en-US" b="1" dirty="0" smtClean="0"/>
              <a:t>逻辑产生标志。</a:t>
            </a:r>
            <a:endParaRPr lang="zh-CN" altLang="en-US" b="1" dirty="0" smtClean="0">
              <a:latin typeface="Times New Roman" panose="02020603050405020304" pitchFamily="18" charset="0"/>
            </a:endParaRPr>
          </a:p>
          <a:p>
            <a:endParaRPr lang="zh-CN" altLang="en-US" dirty="0"/>
          </a:p>
        </p:txBody>
      </p:sp>
      <p:graphicFrame>
        <p:nvGraphicFramePr>
          <p:cNvPr id="4" name="Group 60"/>
          <p:cNvGraphicFramePr>
            <a:graphicFrameLocks/>
          </p:cNvGraphicFramePr>
          <p:nvPr>
            <p:extLst>
              <p:ext uri="{D42A27DB-BD31-4B8C-83A1-F6EECF244321}">
                <p14:modId xmlns:p14="http://schemas.microsoft.com/office/powerpoint/2010/main" val="4131370935"/>
              </p:ext>
            </p:extLst>
          </p:nvPr>
        </p:nvGraphicFramePr>
        <p:xfrm>
          <a:off x="2379947" y="2673889"/>
          <a:ext cx="6911975" cy="2860040"/>
        </p:xfrm>
        <a:graphic>
          <a:graphicData uri="http://schemas.openxmlformats.org/drawingml/2006/table">
            <a:tbl>
              <a:tblPr/>
              <a:tblGrid>
                <a:gridCol w="2590800"/>
                <a:gridCol w="4321175"/>
              </a:tblGrid>
              <a:tr h="4318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标志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S_IROTH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其他人可以读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S_IWOTH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其他人可以写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S_IXOTH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其他人可以执行</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S_IRWXO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其他人可以读、写、执行</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S_ISUID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设置用户执行</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S_ISGID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设置组的执行</a:t>
                      </a: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76593962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创建</a:t>
            </a:r>
            <a:endParaRPr lang="zh-CN" altLang="en-US" dirty="0"/>
          </a:p>
        </p:txBody>
      </p:sp>
      <p:sp>
        <p:nvSpPr>
          <p:cNvPr id="3" name="内容占位符 2"/>
          <p:cNvSpPr>
            <a:spLocks noGrp="1"/>
          </p:cNvSpPr>
          <p:nvPr>
            <p:ph idx="1"/>
          </p:nvPr>
        </p:nvSpPr>
        <p:spPr/>
        <p:txBody>
          <a:bodyPr/>
          <a:lstStyle/>
          <a:p>
            <a:pPr algn="just"/>
            <a:r>
              <a:rPr lang="zh-CN" altLang="en-US" sz="2400" b="1" dirty="0" smtClean="0"/>
              <a:t>用数字来表示：</a:t>
            </a:r>
            <a:r>
              <a:rPr lang="en-US" altLang="zh-CN" sz="2400" b="1" dirty="0" smtClean="0"/>
              <a:t>Linux</a:t>
            </a:r>
            <a:r>
              <a:rPr lang="zh-CN" altLang="en-US" sz="2400" b="1" dirty="0" smtClean="0"/>
              <a:t>总共用</a:t>
            </a:r>
            <a:r>
              <a:rPr lang="en-US" altLang="zh-CN" sz="2400" b="1" dirty="0" smtClean="0"/>
              <a:t>5</a:t>
            </a:r>
            <a:r>
              <a:rPr lang="zh-CN" altLang="en-US" sz="2400" b="1" dirty="0" smtClean="0"/>
              <a:t>个数字来表示文件的各种权限：</a:t>
            </a:r>
          </a:p>
          <a:p>
            <a:pPr lvl="1" algn="just"/>
            <a:r>
              <a:rPr lang="zh-CN" altLang="en-US" b="1" dirty="0"/>
              <a:t>第一位表示设置用户</a:t>
            </a:r>
            <a:r>
              <a:rPr lang="en-US" altLang="zh-CN" b="1" dirty="0"/>
              <a:t>ID</a:t>
            </a:r>
            <a:r>
              <a:rPr lang="zh-CN" altLang="en-US" b="1" dirty="0"/>
              <a:t>；</a:t>
            </a:r>
          </a:p>
          <a:p>
            <a:pPr lvl="1" algn="just"/>
            <a:r>
              <a:rPr lang="zh-CN" altLang="en-US" b="1" dirty="0"/>
              <a:t>第二位表示设置组</a:t>
            </a:r>
            <a:r>
              <a:rPr lang="en-US" altLang="zh-CN" b="1" dirty="0"/>
              <a:t>ID</a:t>
            </a:r>
            <a:r>
              <a:rPr lang="zh-CN" altLang="en-US" b="1" dirty="0"/>
              <a:t>；</a:t>
            </a:r>
          </a:p>
          <a:p>
            <a:pPr lvl="1" algn="just"/>
            <a:r>
              <a:rPr lang="zh-CN" altLang="en-US" b="1" dirty="0"/>
              <a:t>第三位表示用户自己的权限位；</a:t>
            </a:r>
          </a:p>
          <a:p>
            <a:pPr lvl="1" algn="just"/>
            <a:r>
              <a:rPr lang="zh-CN" altLang="en-US" b="1" dirty="0"/>
              <a:t>第四位表示组的权限；</a:t>
            </a:r>
          </a:p>
          <a:p>
            <a:pPr lvl="1" algn="just"/>
            <a:r>
              <a:rPr lang="zh-CN" altLang="en-US" b="1" dirty="0"/>
              <a:t>最后一位表示其他人的权限。每个数字可以取</a:t>
            </a:r>
            <a:r>
              <a:rPr lang="en-US" altLang="zh-CN" b="1" dirty="0"/>
              <a:t>1(</a:t>
            </a:r>
            <a:r>
              <a:rPr lang="zh-CN" altLang="en-US" b="1" dirty="0"/>
              <a:t>执行权限</a:t>
            </a:r>
            <a:r>
              <a:rPr lang="en-US" altLang="zh-CN" b="1" dirty="0"/>
              <a:t>)</a:t>
            </a:r>
            <a:r>
              <a:rPr lang="zh-CN" altLang="en-US" b="1" dirty="0"/>
              <a:t>、</a:t>
            </a:r>
            <a:r>
              <a:rPr lang="en-US" altLang="zh-CN" b="1" dirty="0"/>
              <a:t>2(</a:t>
            </a:r>
            <a:r>
              <a:rPr lang="zh-CN" altLang="en-US" b="1" dirty="0"/>
              <a:t>写权限</a:t>
            </a:r>
            <a:r>
              <a:rPr lang="en-US" altLang="zh-CN" b="1" dirty="0"/>
              <a:t>)</a:t>
            </a:r>
            <a:r>
              <a:rPr lang="zh-CN" altLang="en-US" b="1" dirty="0"/>
              <a:t>、</a:t>
            </a:r>
            <a:r>
              <a:rPr lang="en-US" altLang="zh-CN" b="1" dirty="0"/>
              <a:t>4(</a:t>
            </a:r>
            <a:r>
              <a:rPr lang="zh-CN" altLang="en-US" b="1" dirty="0"/>
              <a:t>读权限</a:t>
            </a:r>
            <a:r>
              <a:rPr lang="en-US" altLang="zh-CN" b="1" dirty="0"/>
              <a:t>)</a:t>
            </a:r>
            <a:r>
              <a:rPr lang="zh-CN" altLang="en-US" b="1" dirty="0"/>
              <a:t>、</a:t>
            </a:r>
            <a:r>
              <a:rPr lang="en-US" altLang="zh-CN" b="1" dirty="0"/>
              <a:t>0(</a:t>
            </a:r>
            <a:r>
              <a:rPr lang="zh-CN" altLang="en-US" b="1" dirty="0"/>
              <a:t>无</a:t>
            </a:r>
            <a:r>
              <a:rPr lang="en-US" altLang="zh-CN" b="1" dirty="0"/>
              <a:t>)</a:t>
            </a:r>
            <a:r>
              <a:rPr lang="zh-CN" altLang="en-US" b="1" dirty="0"/>
              <a:t>或者是这些值的和。</a:t>
            </a:r>
          </a:p>
          <a:p>
            <a:endParaRPr lang="zh-CN" altLang="en-US" dirty="0"/>
          </a:p>
        </p:txBody>
      </p:sp>
    </p:spTree>
    <p:extLst>
      <p:ext uri="{BB962C8B-B14F-4D97-AF65-F5344CB8AC3E}">
        <p14:creationId xmlns:p14="http://schemas.microsoft.com/office/powerpoint/2010/main" val="21553410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创建</a:t>
            </a:r>
            <a:endParaRPr lang="zh-CN" altLang="en-US" dirty="0"/>
          </a:p>
        </p:txBody>
      </p:sp>
      <p:sp>
        <p:nvSpPr>
          <p:cNvPr id="3" name="内容占位符 2"/>
          <p:cNvSpPr>
            <a:spLocks noGrp="1"/>
          </p:cNvSpPr>
          <p:nvPr>
            <p:ph idx="1"/>
          </p:nvPr>
        </p:nvSpPr>
        <p:spPr/>
        <p:txBody>
          <a:bodyPr/>
          <a:lstStyle/>
          <a:p>
            <a:pPr algn="just"/>
            <a:r>
              <a:rPr lang="en-US" altLang="zh-CN" b="1" dirty="0" smtClean="0">
                <a:solidFill>
                  <a:schemeClr val="hlink"/>
                </a:solidFill>
              </a:rPr>
              <a:t>★</a:t>
            </a:r>
            <a:r>
              <a:rPr lang="zh-CN" altLang="en-US" sz="2400" b="1" dirty="0" smtClean="0">
                <a:latin typeface="Times New Roman" panose="02020603050405020304" pitchFamily="18" charset="0"/>
              </a:rPr>
              <a:t>用数字来表示：</a:t>
            </a:r>
          </a:p>
          <a:p>
            <a:pPr lvl="1" algn="just"/>
            <a:r>
              <a:rPr lang="zh-CN" altLang="en-US" b="1" dirty="0">
                <a:latin typeface="Times New Roman" panose="02020603050405020304" pitchFamily="18" charset="0"/>
              </a:rPr>
              <a:t>例如，要创建一个用户可读、可写、可执行，但是组没有权限，其他人可以读、可以执行的文件，并设置用户</a:t>
            </a:r>
            <a:r>
              <a:rPr lang="en-US" altLang="zh-CN" b="1" dirty="0">
                <a:latin typeface="Times New Roman" panose="02020603050405020304" pitchFamily="18" charset="0"/>
              </a:rPr>
              <a:t>ID</a:t>
            </a:r>
            <a:r>
              <a:rPr lang="zh-CN" altLang="en-US" b="1" dirty="0">
                <a:latin typeface="Times New Roman" panose="02020603050405020304" pitchFamily="18" charset="0"/>
              </a:rPr>
              <a:t>位。</a:t>
            </a:r>
          </a:p>
          <a:p>
            <a:pPr lvl="1" algn="just"/>
            <a:r>
              <a:rPr lang="zh-CN" altLang="en-US" b="1" dirty="0">
                <a:latin typeface="Times New Roman" panose="02020603050405020304" pitchFamily="18" charset="0"/>
              </a:rPr>
              <a:t>应该使用的模式是</a:t>
            </a:r>
            <a:r>
              <a:rPr lang="en-US" altLang="zh-CN" b="1" dirty="0">
                <a:latin typeface="Times New Roman" panose="02020603050405020304" pitchFamily="18" charset="0"/>
              </a:rPr>
              <a:t>1(</a:t>
            </a:r>
            <a:r>
              <a:rPr lang="zh-CN" altLang="en-US" b="1" dirty="0">
                <a:latin typeface="Times New Roman" panose="02020603050405020304" pitchFamily="18" charset="0"/>
              </a:rPr>
              <a:t>设置用户</a:t>
            </a:r>
            <a:r>
              <a:rPr lang="en-US" altLang="zh-CN" b="1" dirty="0">
                <a:latin typeface="Times New Roman" panose="02020603050405020304" pitchFamily="18" charset="0"/>
              </a:rPr>
              <a:t>ID)</a:t>
            </a:r>
            <a:r>
              <a:rPr lang="zh-CN" altLang="en-US" b="1" dirty="0">
                <a:latin typeface="Times New Roman" panose="02020603050405020304" pitchFamily="18" charset="0"/>
              </a:rPr>
              <a:t>、</a:t>
            </a:r>
            <a:r>
              <a:rPr lang="en-US" altLang="zh-CN" b="1" dirty="0">
                <a:latin typeface="Times New Roman" panose="02020603050405020304" pitchFamily="18" charset="0"/>
              </a:rPr>
              <a:t>0(</a:t>
            </a:r>
            <a:r>
              <a:rPr lang="zh-CN" altLang="en-US" b="1" dirty="0">
                <a:latin typeface="Times New Roman" panose="02020603050405020304" pitchFamily="18" charset="0"/>
              </a:rPr>
              <a:t>不设置组</a:t>
            </a:r>
            <a:r>
              <a:rPr lang="en-US" altLang="zh-CN" b="1" dirty="0">
                <a:latin typeface="Times New Roman" panose="02020603050405020304" pitchFamily="18" charset="0"/>
              </a:rPr>
              <a:t>ID)</a:t>
            </a:r>
            <a:r>
              <a:rPr lang="zh-CN" altLang="en-US" b="1" dirty="0">
                <a:latin typeface="Times New Roman" panose="02020603050405020304" pitchFamily="18" charset="0"/>
              </a:rPr>
              <a:t>、</a:t>
            </a:r>
            <a:r>
              <a:rPr lang="en-US" altLang="zh-CN" b="1" dirty="0">
                <a:latin typeface="Times New Roman" panose="02020603050405020304" pitchFamily="18" charset="0"/>
              </a:rPr>
              <a:t>7(1+2+4</a:t>
            </a:r>
            <a:r>
              <a:rPr lang="zh-CN" altLang="en-US" b="1" dirty="0">
                <a:latin typeface="Times New Roman" panose="02020603050405020304" pitchFamily="18" charset="0"/>
              </a:rPr>
              <a:t>，读、写、执行</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0(</a:t>
            </a:r>
            <a:r>
              <a:rPr lang="zh-CN" altLang="en-US" b="1" dirty="0">
                <a:latin typeface="Times New Roman" panose="02020603050405020304" pitchFamily="18" charset="0"/>
              </a:rPr>
              <a:t>没有权限</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5(1+4</a:t>
            </a:r>
            <a:r>
              <a:rPr lang="zh-CN" altLang="en-US" b="1" dirty="0">
                <a:latin typeface="Times New Roman" panose="02020603050405020304" pitchFamily="18" charset="0"/>
              </a:rPr>
              <a:t>，读、执行</a:t>
            </a:r>
            <a:r>
              <a:rPr lang="en-US" altLang="zh-CN" b="1" dirty="0">
                <a:latin typeface="Times New Roman" panose="02020603050405020304" pitchFamily="18" charset="0"/>
              </a:rPr>
              <a:t>)</a:t>
            </a:r>
            <a:r>
              <a:rPr lang="zh-CN" altLang="en-US" b="1" dirty="0">
                <a:latin typeface="Times New Roman" panose="02020603050405020304" pitchFamily="18" charset="0"/>
              </a:rPr>
              <a:t>即</a:t>
            </a:r>
            <a:r>
              <a:rPr lang="en-US" altLang="zh-CN" b="1" dirty="0">
                <a:latin typeface="Times New Roman" panose="02020603050405020304" pitchFamily="18" charset="0"/>
              </a:rPr>
              <a:t>10705</a:t>
            </a:r>
          </a:p>
          <a:p>
            <a:endParaRPr lang="zh-CN" altLang="en-US" dirty="0"/>
          </a:p>
        </p:txBody>
      </p:sp>
    </p:spTree>
    <p:extLst>
      <p:ext uri="{BB962C8B-B14F-4D97-AF65-F5344CB8AC3E}">
        <p14:creationId xmlns:p14="http://schemas.microsoft.com/office/powerpoint/2010/main" val="301439588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打开</a:t>
            </a:r>
            <a:endParaRPr lang="zh-CN" altLang="en-US" dirty="0"/>
          </a:p>
        </p:txBody>
      </p:sp>
      <p:sp>
        <p:nvSpPr>
          <p:cNvPr id="3" name="内容占位符 2"/>
          <p:cNvSpPr>
            <a:spLocks noGrp="1"/>
          </p:cNvSpPr>
          <p:nvPr>
            <p:ph idx="1"/>
          </p:nvPr>
        </p:nvSpPr>
        <p:spPr/>
        <p:txBody>
          <a:bodyPr/>
          <a:lstStyle/>
          <a:p>
            <a:r>
              <a:rPr lang="zh-CN" altLang="en-US" sz="2400" b="1" dirty="0" smtClean="0">
                <a:latin typeface="Times New Roman" panose="02020603050405020304" pitchFamily="18" charset="0"/>
              </a:rPr>
              <a:t>打开</a:t>
            </a: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open(</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*pathname, </a:t>
            </a:r>
            <a:r>
              <a:rPr lang="en-US" altLang="zh-CN" b="1" dirty="0" err="1">
                <a:latin typeface="Times New Roman" panose="02020603050405020304" pitchFamily="18" charset="0"/>
              </a:rPr>
              <a:t>int</a:t>
            </a:r>
            <a:r>
              <a:rPr lang="en-US" altLang="zh-CN" b="1" dirty="0">
                <a:latin typeface="Times New Roman" panose="02020603050405020304" pitchFamily="18" charset="0"/>
              </a:rPr>
              <a:t> flags);</a:t>
            </a: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open(</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*pathname, </a:t>
            </a:r>
            <a:r>
              <a:rPr lang="en-US" altLang="zh-CN" b="1" dirty="0" err="1">
                <a:latin typeface="Times New Roman" panose="02020603050405020304" pitchFamily="18" charset="0"/>
              </a:rPr>
              <a:t>int</a:t>
            </a:r>
            <a:r>
              <a:rPr lang="en-US" altLang="zh-CN" b="1" dirty="0">
                <a:latin typeface="Times New Roman" panose="02020603050405020304" pitchFamily="18" charset="0"/>
              </a:rPr>
              <a:t> flags, </a:t>
            </a:r>
            <a:r>
              <a:rPr lang="en-US" altLang="zh-CN" b="1" dirty="0" err="1">
                <a:latin typeface="Times New Roman" panose="02020603050405020304" pitchFamily="18" charset="0"/>
              </a:rPr>
              <a:t>mode_t</a:t>
            </a:r>
            <a:r>
              <a:rPr lang="en-US" altLang="zh-CN" b="1" dirty="0">
                <a:latin typeface="Times New Roman" panose="02020603050405020304" pitchFamily="18" charset="0"/>
              </a:rPr>
              <a:t> mode); </a:t>
            </a:r>
          </a:p>
          <a:p>
            <a:pPr lvl="1" algn="just">
              <a:lnSpc>
                <a:spcPct val="130000"/>
              </a:lnSpc>
            </a:pPr>
            <a:r>
              <a:rPr lang="zh-CN" altLang="en-US" sz="2200" b="1" dirty="0" smtClean="0"/>
              <a:t>如果文件打开成功，</a:t>
            </a:r>
            <a:r>
              <a:rPr lang="en-US" altLang="zh-CN" sz="2200" b="1" dirty="0" smtClean="0"/>
              <a:t>open</a:t>
            </a:r>
            <a:r>
              <a:rPr lang="zh-CN" altLang="en-US" sz="2200" b="1" dirty="0" smtClean="0"/>
              <a:t>函数会返回一个文件描述符，以后对该文件的所有操作就可以通过对这个文件描述符进行操作来实现。</a:t>
            </a:r>
          </a:p>
          <a:p>
            <a:pPr lvl="1" algn="just">
              <a:lnSpc>
                <a:spcPct val="130000"/>
              </a:lnSpc>
            </a:pPr>
            <a:r>
              <a:rPr lang="en-US" altLang="zh-CN" sz="2200" b="1" dirty="0" smtClean="0">
                <a:latin typeface="Times New Roman" panose="02020603050405020304" pitchFamily="18" charset="0"/>
              </a:rPr>
              <a:t>open</a:t>
            </a:r>
            <a:r>
              <a:rPr lang="zh-CN" altLang="en-US" sz="2200" b="1" dirty="0" smtClean="0">
                <a:latin typeface="Times New Roman" panose="02020603050405020304" pitchFamily="18" charset="0"/>
              </a:rPr>
              <a:t>函数有两个形式，其中</a:t>
            </a:r>
            <a:r>
              <a:rPr lang="en-US" altLang="zh-CN" sz="2200" b="1" dirty="0" smtClean="0">
                <a:latin typeface="Times New Roman" panose="02020603050405020304" pitchFamily="18" charset="0"/>
              </a:rPr>
              <a:t>pathname</a:t>
            </a:r>
            <a:r>
              <a:rPr lang="zh-CN" altLang="en-US" sz="2200" b="1" dirty="0" smtClean="0">
                <a:latin typeface="Times New Roman" panose="02020603050405020304" pitchFamily="18" charset="0"/>
              </a:rPr>
              <a:t>是要打开的文件名</a:t>
            </a:r>
            <a:r>
              <a:rPr lang="en-US" altLang="zh-CN" sz="2200" b="1" dirty="0" smtClean="0">
                <a:latin typeface="Times New Roman" panose="02020603050405020304" pitchFamily="18" charset="0"/>
              </a:rPr>
              <a:t>(</a:t>
            </a:r>
            <a:r>
              <a:rPr lang="zh-CN" altLang="en-US" sz="2200" b="1" dirty="0" smtClean="0">
                <a:latin typeface="Times New Roman" panose="02020603050405020304" pitchFamily="18" charset="0"/>
              </a:rPr>
              <a:t>包含路径名称，缺省是认为在当前路径下面</a:t>
            </a:r>
            <a:r>
              <a:rPr lang="en-US" altLang="zh-CN" sz="2200" b="1" dirty="0" smtClean="0">
                <a:latin typeface="Times New Roman" panose="02020603050405020304" pitchFamily="18" charset="0"/>
              </a:rPr>
              <a:t>) </a:t>
            </a:r>
            <a:r>
              <a:rPr lang="zh-CN" altLang="en-US" sz="2200" b="1" dirty="0" smtClean="0">
                <a:latin typeface="Times New Roman" panose="02020603050405020304" pitchFamily="18" charset="0"/>
              </a:rPr>
              <a:t>。</a:t>
            </a:r>
            <a:endParaRPr lang="zh-CN" altLang="en-US" dirty="0"/>
          </a:p>
        </p:txBody>
      </p:sp>
    </p:spTree>
    <p:extLst>
      <p:ext uri="{BB962C8B-B14F-4D97-AF65-F5344CB8AC3E}">
        <p14:creationId xmlns:p14="http://schemas.microsoft.com/office/powerpoint/2010/main" val="184087610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打开</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打开</a:t>
            </a:r>
          </a:p>
          <a:p>
            <a:pPr lvl="1" algn="just"/>
            <a:r>
              <a:rPr lang="en-US" altLang="zh-CN" sz="2200" b="1" dirty="0" smtClean="0">
                <a:latin typeface="Times New Roman" panose="02020603050405020304" pitchFamily="18" charset="0"/>
              </a:rPr>
              <a:t>flags</a:t>
            </a:r>
            <a:r>
              <a:rPr lang="zh-CN" altLang="en-US" sz="2200" b="1" dirty="0" smtClean="0">
                <a:latin typeface="Times New Roman" panose="02020603050405020304" pitchFamily="18" charset="0"/>
              </a:rPr>
              <a:t>可以是下面的一个值或者是几个值的组合，</a:t>
            </a:r>
            <a:r>
              <a:rPr lang="en-US" altLang="zh-CN" sz="2200" b="1" dirty="0" smtClean="0">
                <a:latin typeface="Times New Roman" panose="02020603050405020304" pitchFamily="18" charset="0"/>
              </a:rPr>
              <a:t>O_RDONLY</a:t>
            </a:r>
            <a:r>
              <a:rPr lang="zh-CN" altLang="en-US" sz="2200" b="1" dirty="0" smtClean="0">
                <a:latin typeface="Times New Roman" panose="02020603050405020304" pitchFamily="18" charset="0"/>
              </a:rPr>
              <a:t>、</a:t>
            </a:r>
            <a:r>
              <a:rPr lang="en-US" altLang="zh-CN" sz="2200" b="1" dirty="0" smtClean="0">
                <a:latin typeface="Times New Roman" panose="02020603050405020304" pitchFamily="18" charset="0"/>
              </a:rPr>
              <a:t>O_WRONLY</a:t>
            </a:r>
            <a:r>
              <a:rPr lang="zh-CN" altLang="en-US" sz="2200" b="1" dirty="0" smtClean="0">
                <a:latin typeface="Times New Roman" panose="02020603050405020304" pitchFamily="18" charset="0"/>
              </a:rPr>
              <a:t>、</a:t>
            </a:r>
            <a:r>
              <a:rPr lang="en-US" altLang="zh-CN" sz="2200" b="1" dirty="0" smtClean="0">
                <a:latin typeface="Times New Roman" panose="02020603050405020304" pitchFamily="18" charset="0"/>
              </a:rPr>
              <a:t>O_RDWR</a:t>
            </a:r>
            <a:r>
              <a:rPr lang="zh-CN" altLang="en-US" sz="2200" b="1" dirty="0" smtClean="0">
                <a:latin typeface="Times New Roman" panose="02020603050405020304" pitchFamily="18" charset="0"/>
              </a:rPr>
              <a:t>三个标志只能使用任意的一个</a:t>
            </a:r>
            <a:r>
              <a:rPr lang="zh-CN" altLang="en-US" sz="2200" b="1" dirty="0" smtClean="0"/>
              <a:t>。</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531" y="2498434"/>
            <a:ext cx="6696075" cy="3024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34306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打开</a:t>
            </a:r>
            <a:endParaRPr lang="zh-CN" altLang="en-US" dirty="0"/>
          </a:p>
        </p:txBody>
      </p:sp>
      <p:sp>
        <p:nvSpPr>
          <p:cNvPr id="3" name="内容占位符 2"/>
          <p:cNvSpPr>
            <a:spLocks noGrp="1"/>
          </p:cNvSpPr>
          <p:nvPr>
            <p:ph idx="1"/>
          </p:nvPr>
        </p:nvSpPr>
        <p:spPr/>
        <p:txBody>
          <a:bodyPr/>
          <a:lstStyle/>
          <a:p>
            <a:pPr algn="just"/>
            <a:r>
              <a:rPr lang="zh-CN" altLang="en-US" b="1" dirty="0">
                <a:latin typeface="Times New Roman" panose="02020603050405020304" pitchFamily="18" charset="0"/>
              </a:rPr>
              <a:t>打开</a:t>
            </a:r>
          </a:p>
          <a:p>
            <a:pPr lvl="1" algn="just">
              <a:lnSpc>
                <a:spcPct val="120000"/>
              </a:lnSpc>
            </a:pPr>
            <a:r>
              <a:rPr lang="zh-CN" altLang="en-US" sz="2200" b="1" dirty="0" smtClean="0">
                <a:latin typeface="Times New Roman" panose="02020603050405020304" pitchFamily="18" charset="0"/>
              </a:rPr>
              <a:t>如果使用了</a:t>
            </a:r>
            <a:r>
              <a:rPr lang="en-US" altLang="zh-CN" sz="2200" b="1" dirty="0" smtClean="0">
                <a:latin typeface="Times New Roman" panose="02020603050405020304" pitchFamily="18" charset="0"/>
              </a:rPr>
              <a:t>O_CREATE</a:t>
            </a:r>
            <a:r>
              <a:rPr lang="zh-CN" altLang="en-US" sz="2200" b="1" dirty="0" smtClean="0">
                <a:latin typeface="Times New Roman" panose="02020603050405020304" pitchFamily="18" charset="0"/>
              </a:rPr>
              <a:t>标志，则使用的函数是</a:t>
            </a: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open(</a:t>
            </a:r>
            <a:r>
              <a:rPr lang="en-US" altLang="zh-CN" sz="2200" b="1" dirty="0" err="1" smtClean="0">
                <a:latin typeface="Times New Roman" panose="02020603050405020304" pitchFamily="18" charset="0"/>
              </a:rPr>
              <a:t>const</a:t>
            </a:r>
            <a:r>
              <a:rPr lang="en-US" altLang="zh-CN" sz="2200" b="1" dirty="0" smtClean="0">
                <a:latin typeface="Times New Roman" panose="02020603050405020304" pitchFamily="18" charset="0"/>
              </a:rPr>
              <a:t> char *</a:t>
            </a:r>
            <a:r>
              <a:rPr lang="en-US" altLang="zh-CN" sz="2200" b="1" dirty="0" err="1" smtClean="0">
                <a:latin typeface="Times New Roman" panose="02020603050405020304" pitchFamily="18" charset="0"/>
              </a:rPr>
              <a:t>pathname,int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flags,mode_t</a:t>
            </a:r>
            <a:r>
              <a:rPr lang="en-US" altLang="zh-CN" sz="2200" b="1" dirty="0" smtClean="0">
                <a:latin typeface="Times New Roman" panose="02020603050405020304" pitchFamily="18" charset="0"/>
              </a:rPr>
              <a:t> mode); </a:t>
            </a:r>
            <a:r>
              <a:rPr lang="zh-CN" altLang="en-US" sz="2200" b="1" dirty="0" smtClean="0">
                <a:latin typeface="Times New Roman" panose="02020603050405020304" pitchFamily="18" charset="0"/>
              </a:rPr>
              <a:t>这时要指定</a:t>
            </a:r>
            <a:r>
              <a:rPr lang="en-US" altLang="zh-CN" sz="2200" b="1" dirty="0" smtClean="0">
                <a:latin typeface="Times New Roman" panose="02020603050405020304" pitchFamily="18" charset="0"/>
              </a:rPr>
              <a:t>mode</a:t>
            </a:r>
            <a:r>
              <a:rPr lang="zh-CN" altLang="en-US" sz="2200" b="1" dirty="0" smtClean="0">
                <a:latin typeface="Times New Roman" panose="02020603050405020304" pitchFamily="18" charset="0"/>
              </a:rPr>
              <a:t>标志，用来表示文件的访问权限。以</a:t>
            </a:r>
            <a:r>
              <a:rPr lang="en-US" altLang="zh-CN" sz="2200" b="1" dirty="0" smtClean="0">
                <a:latin typeface="Times New Roman" panose="02020603050405020304" pitchFamily="18" charset="0"/>
              </a:rPr>
              <a:t>O_CREAT</a:t>
            </a:r>
            <a:r>
              <a:rPr lang="zh-CN" altLang="en-US" sz="2200" b="1" dirty="0" smtClean="0">
                <a:latin typeface="Times New Roman" panose="02020603050405020304" pitchFamily="18" charset="0"/>
              </a:rPr>
              <a:t>为标志的</a:t>
            </a:r>
            <a:r>
              <a:rPr lang="en-US" altLang="zh-CN" sz="2200" b="1" dirty="0" smtClean="0">
                <a:latin typeface="Times New Roman" panose="02020603050405020304" pitchFamily="18" charset="0"/>
              </a:rPr>
              <a:t>open</a:t>
            </a:r>
            <a:r>
              <a:rPr lang="zh-CN" altLang="en-US" sz="2200" b="1" dirty="0" smtClean="0">
                <a:latin typeface="Times New Roman" panose="02020603050405020304" pitchFamily="18" charset="0"/>
              </a:rPr>
              <a:t>实际上实现了文件创建的功能。</a:t>
            </a:r>
          </a:p>
          <a:p>
            <a:pPr lvl="1" algn="just">
              <a:lnSpc>
                <a:spcPct val="120000"/>
              </a:lnSpc>
            </a:pPr>
            <a:r>
              <a:rPr lang="zh-CN" altLang="en-US" sz="2200" b="1" dirty="0" smtClean="0">
                <a:latin typeface="Times New Roman" panose="02020603050405020304" pitchFamily="18" charset="0"/>
              </a:rPr>
              <a:t>例如：</a:t>
            </a:r>
          </a:p>
          <a:p>
            <a:pPr lvl="1" algn="just">
              <a:lnSpc>
                <a:spcPct val="120000"/>
              </a:lnSpc>
              <a:buFont typeface="Wingdings" panose="05000000000000000000" pitchFamily="2" charset="2"/>
              <a:buNone/>
            </a:pP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open("test", O_CREAT, 10705);</a:t>
            </a:r>
          </a:p>
          <a:p>
            <a:pPr lvl="1" algn="just">
              <a:lnSpc>
                <a:spcPct val="120000"/>
              </a:lnSpc>
              <a:buFont typeface="Wingdings" panose="05000000000000000000" pitchFamily="2" charset="2"/>
              <a:buNone/>
            </a:pPr>
            <a:r>
              <a:rPr lang="en-US" altLang="zh-CN" sz="2200" b="1" dirty="0" smtClean="0">
                <a:latin typeface="Times New Roman" panose="02020603050405020304" pitchFamily="18" charset="0"/>
              </a:rPr>
              <a:t>    open("test", O_CREAT, S_IRWXU | S_IROTH | S_IXOTH | S_ISUID );</a:t>
            </a:r>
          </a:p>
          <a:p>
            <a:endParaRPr lang="zh-CN" altLang="en-US" dirty="0"/>
          </a:p>
        </p:txBody>
      </p:sp>
    </p:spTree>
    <p:extLst>
      <p:ext uri="{BB962C8B-B14F-4D97-AF65-F5344CB8AC3E}">
        <p14:creationId xmlns:p14="http://schemas.microsoft.com/office/powerpoint/2010/main" val="108742913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读写</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读写</a:t>
            </a:r>
          </a:p>
          <a:p>
            <a:pPr lvl="1" algn="just"/>
            <a:r>
              <a:rPr lang="en-US" altLang="zh-CN" b="1" dirty="0">
                <a:latin typeface="Times New Roman" panose="02020603050405020304" pitchFamily="18" charset="0"/>
              </a:rPr>
              <a:t>Linux</a:t>
            </a:r>
            <a:r>
              <a:rPr lang="zh-CN" altLang="en-US" b="1" dirty="0">
                <a:latin typeface="Times New Roman" panose="02020603050405020304" pitchFamily="18" charset="0"/>
              </a:rPr>
              <a:t>中提供文件读写的系统调用是</a:t>
            </a:r>
            <a:r>
              <a:rPr lang="en-US" altLang="zh-CN" b="1" dirty="0">
                <a:latin typeface="Times New Roman" panose="02020603050405020304" pitchFamily="18" charset="0"/>
              </a:rPr>
              <a:t>read</a:t>
            </a:r>
            <a:r>
              <a:rPr lang="zh-CN" altLang="en-US" b="1" dirty="0">
                <a:latin typeface="Times New Roman" panose="02020603050405020304" pitchFamily="18" charset="0"/>
              </a:rPr>
              <a:t>、</a:t>
            </a:r>
            <a:r>
              <a:rPr lang="en-US" altLang="zh-CN" b="1" dirty="0">
                <a:latin typeface="Times New Roman" panose="02020603050405020304" pitchFamily="18" charset="0"/>
              </a:rPr>
              <a:t>write</a:t>
            </a:r>
            <a:r>
              <a:rPr lang="zh-CN" altLang="en-US" b="1" dirty="0">
                <a:latin typeface="Times New Roman" panose="02020603050405020304" pitchFamily="18" charset="0"/>
              </a:rPr>
              <a:t>函数：</a:t>
            </a:r>
          </a:p>
          <a:p>
            <a:pPr lvl="1" algn="just">
              <a:buFont typeface="Wingdings" panose="05000000000000000000" pitchFamily="2" charset="2"/>
              <a:buNone/>
            </a:pPr>
            <a:r>
              <a:rPr lang="zh-CN" altLang="en-US" b="1" dirty="0">
                <a:latin typeface="Times New Roman" panose="02020603050405020304" pitchFamily="18" charset="0"/>
              </a:rPr>
              <a:t>          </a:t>
            </a:r>
            <a:r>
              <a:rPr lang="en-US" altLang="zh-CN" b="1" dirty="0" err="1">
                <a:latin typeface="Times New Roman" panose="02020603050405020304" pitchFamily="18" charset="0"/>
              </a:rPr>
              <a:t>int</a:t>
            </a:r>
            <a:r>
              <a:rPr lang="en-US" altLang="zh-CN" b="1" dirty="0">
                <a:latin typeface="Times New Roman" panose="02020603050405020304" pitchFamily="18" charset="0"/>
              </a:rPr>
              <a:t> read(</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fd</a:t>
            </a:r>
            <a:r>
              <a:rPr lang="en-US" altLang="zh-CN" b="1" dirty="0">
                <a:latin typeface="Times New Roman" panose="02020603050405020304" pitchFamily="18" charset="0"/>
              </a:rPr>
              <a:t>, </a:t>
            </a:r>
            <a:r>
              <a:rPr lang="en-US" altLang="zh-CN" b="1" dirty="0" err="1">
                <a:latin typeface="Times New Roman" panose="02020603050405020304" pitchFamily="18" charset="0"/>
              </a:rPr>
              <a:t>const</a:t>
            </a:r>
            <a:r>
              <a:rPr lang="en-US" altLang="zh-CN" b="1" dirty="0">
                <a:latin typeface="Times New Roman" panose="02020603050405020304" pitchFamily="18" charset="0"/>
              </a:rPr>
              <a:t> void *</a:t>
            </a:r>
            <a:r>
              <a:rPr lang="en-US" altLang="zh-CN" b="1" dirty="0" err="1">
                <a:latin typeface="Times New Roman" panose="02020603050405020304" pitchFamily="18" charset="0"/>
              </a:rPr>
              <a:t>buf</a:t>
            </a:r>
            <a:r>
              <a:rPr lang="en-US" altLang="zh-CN" b="1" dirty="0">
                <a:latin typeface="Times New Roman" panose="02020603050405020304" pitchFamily="18" charset="0"/>
              </a:rPr>
              <a:t>, </a:t>
            </a:r>
            <a:r>
              <a:rPr lang="en-US" altLang="zh-CN" b="1" dirty="0" err="1">
                <a:latin typeface="Times New Roman" panose="02020603050405020304" pitchFamily="18" charset="0"/>
              </a:rPr>
              <a:t>size_t</a:t>
            </a:r>
            <a:r>
              <a:rPr lang="en-US" altLang="zh-CN" b="1" dirty="0">
                <a:latin typeface="Times New Roman" panose="02020603050405020304" pitchFamily="18" charset="0"/>
              </a:rPr>
              <a:t> length);</a:t>
            </a:r>
          </a:p>
          <a:p>
            <a:pPr lvl="1" algn="just">
              <a:buFont typeface="Wingdings" panose="05000000000000000000" pitchFamily="2" charset="2"/>
              <a:buNone/>
            </a:pPr>
            <a:r>
              <a:rPr lang="en-US" altLang="zh-CN" b="1" dirty="0">
                <a:latin typeface="Times New Roman" panose="02020603050405020304" pitchFamily="18" charset="0"/>
              </a:rPr>
              <a:t>          </a:t>
            </a:r>
            <a:r>
              <a:rPr lang="en-US" altLang="zh-CN" b="1" dirty="0" err="1">
                <a:latin typeface="Times New Roman" panose="02020603050405020304" pitchFamily="18" charset="0"/>
              </a:rPr>
              <a:t>int</a:t>
            </a:r>
            <a:r>
              <a:rPr lang="en-US" altLang="zh-CN" b="1" dirty="0">
                <a:latin typeface="Times New Roman" panose="02020603050405020304" pitchFamily="18" charset="0"/>
              </a:rPr>
              <a:t>  write(</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fd</a:t>
            </a:r>
            <a:r>
              <a:rPr lang="en-US" altLang="zh-CN" b="1" dirty="0">
                <a:latin typeface="Times New Roman" panose="02020603050405020304" pitchFamily="18" charset="0"/>
              </a:rPr>
              <a:t>, </a:t>
            </a:r>
            <a:r>
              <a:rPr lang="en-US" altLang="zh-CN" b="1" dirty="0" err="1">
                <a:latin typeface="Times New Roman" panose="02020603050405020304" pitchFamily="18" charset="0"/>
              </a:rPr>
              <a:t>const</a:t>
            </a:r>
            <a:r>
              <a:rPr lang="en-US" altLang="zh-CN" b="1" dirty="0">
                <a:latin typeface="Times New Roman" panose="02020603050405020304" pitchFamily="18" charset="0"/>
              </a:rPr>
              <a:t> void *</a:t>
            </a:r>
            <a:r>
              <a:rPr lang="en-US" altLang="zh-CN" b="1" dirty="0" err="1">
                <a:latin typeface="Times New Roman" panose="02020603050405020304" pitchFamily="18" charset="0"/>
              </a:rPr>
              <a:t>buf</a:t>
            </a:r>
            <a:r>
              <a:rPr lang="en-US" altLang="zh-CN" b="1" dirty="0">
                <a:latin typeface="Times New Roman" panose="02020603050405020304" pitchFamily="18" charset="0"/>
              </a:rPr>
              <a:t>, </a:t>
            </a:r>
            <a:r>
              <a:rPr lang="en-US" altLang="zh-CN" b="1" dirty="0" err="1">
                <a:latin typeface="Times New Roman" panose="02020603050405020304" pitchFamily="18" charset="0"/>
              </a:rPr>
              <a:t>size_t</a:t>
            </a:r>
            <a:r>
              <a:rPr lang="en-US" altLang="zh-CN" b="1" dirty="0">
                <a:latin typeface="Times New Roman" panose="02020603050405020304" pitchFamily="18" charset="0"/>
              </a:rPr>
              <a:t> length);</a:t>
            </a:r>
          </a:p>
          <a:p>
            <a:pPr lvl="1" algn="just">
              <a:buFont typeface="Wingdings" panose="05000000000000000000" pitchFamily="2" charset="2"/>
              <a:buNone/>
            </a:pPr>
            <a:endParaRPr lang="en-US" altLang="zh-CN" sz="800" b="1" dirty="0" smtClean="0">
              <a:latin typeface="Times New Roman" panose="02020603050405020304" pitchFamily="18" charset="0"/>
            </a:endParaRPr>
          </a:p>
          <a:p>
            <a:pPr lvl="1" algn="just">
              <a:lnSpc>
                <a:spcPct val="150000"/>
              </a:lnSpc>
            </a:pPr>
            <a:r>
              <a:rPr lang="zh-CN" altLang="en-US" b="1" dirty="0">
                <a:latin typeface="Times New Roman" panose="02020603050405020304" pitchFamily="18" charset="0"/>
              </a:rPr>
              <a:t>参数</a:t>
            </a:r>
            <a:r>
              <a:rPr lang="en-US" altLang="zh-CN" b="1" dirty="0" err="1">
                <a:latin typeface="Times New Roman" panose="02020603050405020304" pitchFamily="18" charset="0"/>
              </a:rPr>
              <a:t>buf</a:t>
            </a:r>
            <a:r>
              <a:rPr lang="zh-CN" altLang="en-US" b="1" dirty="0">
                <a:latin typeface="Times New Roman" panose="02020603050405020304" pitchFamily="18" charset="0"/>
              </a:rPr>
              <a:t>为指向缓冲区的指针，</a:t>
            </a:r>
            <a:r>
              <a:rPr lang="en-US" altLang="zh-CN" b="1" dirty="0">
                <a:latin typeface="Times New Roman" panose="02020603050405020304" pitchFamily="18" charset="0"/>
              </a:rPr>
              <a:t>length</a:t>
            </a:r>
            <a:r>
              <a:rPr lang="zh-CN" altLang="en-US" b="1" dirty="0">
                <a:latin typeface="Times New Roman" panose="02020603050405020304" pitchFamily="18" charset="0"/>
              </a:rPr>
              <a:t>为缓冲区的大小（以字节为单位）。</a:t>
            </a:r>
          </a:p>
          <a:p>
            <a:endParaRPr lang="zh-CN" altLang="en-US" dirty="0"/>
          </a:p>
        </p:txBody>
      </p:sp>
    </p:spTree>
    <p:extLst>
      <p:ext uri="{BB962C8B-B14F-4D97-AF65-F5344CB8AC3E}">
        <p14:creationId xmlns:p14="http://schemas.microsoft.com/office/powerpoint/2010/main" val="117537147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读写</a:t>
            </a:r>
            <a:endParaRPr lang="zh-CN" altLang="en-US" dirty="0"/>
          </a:p>
        </p:txBody>
      </p:sp>
      <p:sp>
        <p:nvSpPr>
          <p:cNvPr id="3" name="内容占位符 2"/>
          <p:cNvSpPr>
            <a:spLocks noGrp="1"/>
          </p:cNvSpPr>
          <p:nvPr>
            <p:ph idx="1"/>
          </p:nvPr>
        </p:nvSpPr>
        <p:spPr/>
        <p:txBody>
          <a:bodyPr/>
          <a:lstStyle/>
          <a:p>
            <a:pPr algn="just"/>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read(</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fd</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const</a:t>
            </a:r>
            <a:r>
              <a:rPr lang="en-US" altLang="zh-CN" sz="2400" b="1" dirty="0" smtClean="0">
                <a:latin typeface="Times New Roman" panose="02020603050405020304" pitchFamily="18" charset="0"/>
              </a:rPr>
              <a:t> void *</a:t>
            </a:r>
            <a:r>
              <a:rPr lang="en-US" altLang="zh-CN" sz="2400" b="1" dirty="0" err="1" smtClean="0">
                <a:latin typeface="Times New Roman" panose="02020603050405020304" pitchFamily="18" charset="0"/>
              </a:rPr>
              <a:t>buf</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size_t</a:t>
            </a:r>
            <a:r>
              <a:rPr lang="en-US" altLang="zh-CN" sz="2400" b="1" dirty="0" smtClean="0">
                <a:latin typeface="Times New Roman" panose="02020603050405020304" pitchFamily="18" charset="0"/>
              </a:rPr>
              <a:t> length);</a:t>
            </a:r>
          </a:p>
          <a:p>
            <a:pPr lvl="1" algn="just">
              <a:lnSpc>
                <a:spcPct val="120000"/>
              </a:lnSpc>
            </a:pPr>
            <a:r>
              <a:rPr lang="zh-CN" altLang="en-US" sz="2200" b="1" dirty="0" smtClean="0">
                <a:latin typeface="Times New Roman" panose="02020603050405020304" pitchFamily="18" charset="0"/>
              </a:rPr>
              <a:t>函数</a:t>
            </a:r>
            <a:r>
              <a:rPr lang="en-US" altLang="zh-CN" sz="2200" b="1" dirty="0" smtClean="0">
                <a:latin typeface="Times New Roman" panose="02020603050405020304" pitchFamily="18" charset="0"/>
              </a:rPr>
              <a:t>read</a:t>
            </a:r>
            <a:r>
              <a:rPr lang="zh-CN" altLang="en-US" sz="2200" b="1" dirty="0" smtClean="0">
                <a:latin typeface="Times New Roman" panose="02020603050405020304" pitchFamily="18" charset="0"/>
              </a:rPr>
              <a:t>实现从文件描述符</a:t>
            </a:r>
            <a:r>
              <a:rPr lang="en-US" altLang="zh-CN" sz="2200" b="1" dirty="0" err="1" smtClean="0">
                <a:latin typeface="Times New Roman" panose="02020603050405020304" pitchFamily="18" charset="0"/>
              </a:rPr>
              <a:t>fd</a:t>
            </a:r>
            <a:r>
              <a:rPr lang="zh-CN" altLang="en-US" sz="2200" b="1" dirty="0" smtClean="0">
                <a:latin typeface="Times New Roman" panose="02020603050405020304" pitchFamily="18" charset="0"/>
              </a:rPr>
              <a:t>所指定的文件中读取</a:t>
            </a:r>
            <a:r>
              <a:rPr lang="en-US" altLang="zh-CN" sz="2200" b="1" dirty="0" smtClean="0">
                <a:latin typeface="Times New Roman" panose="02020603050405020304" pitchFamily="18" charset="0"/>
              </a:rPr>
              <a:t>length</a:t>
            </a:r>
            <a:r>
              <a:rPr lang="zh-CN" altLang="en-US" sz="2200" b="1" dirty="0" smtClean="0">
                <a:latin typeface="Times New Roman" panose="02020603050405020304" pitchFamily="18" charset="0"/>
              </a:rPr>
              <a:t>个字节到</a:t>
            </a:r>
            <a:r>
              <a:rPr lang="en-US" altLang="zh-CN" sz="2200" b="1" dirty="0" err="1" smtClean="0">
                <a:latin typeface="Times New Roman" panose="02020603050405020304" pitchFamily="18" charset="0"/>
              </a:rPr>
              <a:t>buf</a:t>
            </a:r>
            <a:r>
              <a:rPr lang="zh-CN" altLang="en-US" sz="2200" b="1" dirty="0" smtClean="0">
                <a:latin typeface="Times New Roman" panose="02020603050405020304" pitchFamily="18" charset="0"/>
              </a:rPr>
              <a:t>所指向的缓冲区中，返回值为实际读取的字节数。</a:t>
            </a:r>
          </a:p>
          <a:p>
            <a:pPr lvl="1" algn="just"/>
            <a:endParaRPr lang="zh-CN" altLang="en-US" sz="2200" b="1" dirty="0" smtClean="0">
              <a:latin typeface="Times New Roman" panose="02020603050405020304" pitchFamily="18" charset="0"/>
            </a:endParaRPr>
          </a:p>
          <a:p>
            <a:pPr algn="just"/>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write(</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fd</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const</a:t>
            </a:r>
            <a:r>
              <a:rPr lang="en-US" altLang="zh-CN" sz="2400" b="1" dirty="0" smtClean="0">
                <a:latin typeface="Times New Roman" panose="02020603050405020304" pitchFamily="18" charset="0"/>
              </a:rPr>
              <a:t> void *</a:t>
            </a:r>
            <a:r>
              <a:rPr lang="en-US" altLang="zh-CN" sz="2400" b="1" dirty="0" err="1" smtClean="0">
                <a:latin typeface="Times New Roman" panose="02020603050405020304" pitchFamily="18" charset="0"/>
              </a:rPr>
              <a:t>buf</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size_t</a:t>
            </a:r>
            <a:r>
              <a:rPr lang="en-US" altLang="zh-CN" sz="2400" b="1" dirty="0" smtClean="0">
                <a:latin typeface="Times New Roman" panose="02020603050405020304" pitchFamily="18" charset="0"/>
              </a:rPr>
              <a:t> length);</a:t>
            </a:r>
          </a:p>
          <a:p>
            <a:pPr lvl="1" algn="just">
              <a:lnSpc>
                <a:spcPct val="130000"/>
              </a:lnSpc>
            </a:pPr>
            <a:r>
              <a:rPr lang="zh-CN" altLang="en-US" sz="2200" b="1" dirty="0" smtClean="0">
                <a:latin typeface="Times New Roman" panose="02020603050405020304" pitchFamily="18" charset="0"/>
              </a:rPr>
              <a:t>函数</a:t>
            </a:r>
            <a:r>
              <a:rPr lang="en-US" altLang="zh-CN" sz="2200" b="1" dirty="0" smtClean="0">
                <a:latin typeface="Times New Roman" panose="02020603050405020304" pitchFamily="18" charset="0"/>
              </a:rPr>
              <a:t>write</a:t>
            </a:r>
            <a:r>
              <a:rPr lang="zh-CN" altLang="en-US" sz="2200" b="1" dirty="0" smtClean="0">
                <a:latin typeface="Times New Roman" panose="02020603050405020304" pitchFamily="18" charset="0"/>
              </a:rPr>
              <a:t>实现将把</a:t>
            </a:r>
            <a:r>
              <a:rPr lang="en-US" altLang="zh-CN" sz="2200" b="1" dirty="0" smtClean="0">
                <a:latin typeface="Times New Roman" panose="02020603050405020304" pitchFamily="18" charset="0"/>
              </a:rPr>
              <a:t>length</a:t>
            </a:r>
            <a:r>
              <a:rPr lang="zh-CN" altLang="en-US" sz="2200" b="1" dirty="0" smtClean="0">
                <a:latin typeface="Times New Roman" panose="02020603050405020304" pitchFamily="18" charset="0"/>
              </a:rPr>
              <a:t>个字节从</a:t>
            </a:r>
            <a:r>
              <a:rPr lang="en-US" altLang="zh-CN" sz="2200" b="1" dirty="0" err="1" smtClean="0">
                <a:latin typeface="Times New Roman" panose="02020603050405020304" pitchFamily="18" charset="0"/>
              </a:rPr>
              <a:t>buf</a:t>
            </a:r>
            <a:r>
              <a:rPr lang="zh-CN" altLang="en-US" sz="2200" b="1" dirty="0" smtClean="0">
                <a:latin typeface="Times New Roman" panose="02020603050405020304" pitchFamily="18" charset="0"/>
              </a:rPr>
              <a:t>指向的缓冲区中写到文件描述符</a:t>
            </a:r>
            <a:r>
              <a:rPr lang="en-US" altLang="zh-CN" sz="2200" b="1" dirty="0" err="1" smtClean="0">
                <a:latin typeface="Times New Roman" panose="02020603050405020304" pitchFamily="18" charset="0"/>
              </a:rPr>
              <a:t>fd</a:t>
            </a:r>
            <a:r>
              <a:rPr lang="zh-CN" altLang="en-US" sz="2200" b="1" dirty="0" smtClean="0">
                <a:latin typeface="Times New Roman" panose="02020603050405020304" pitchFamily="18" charset="0"/>
              </a:rPr>
              <a:t>所指向的文件中，返回值为实际写入的字节数。</a:t>
            </a:r>
          </a:p>
          <a:p>
            <a:endParaRPr lang="zh-CN" altLang="en-US" dirty="0"/>
          </a:p>
        </p:txBody>
      </p:sp>
    </p:spTree>
    <p:extLst>
      <p:ext uri="{BB962C8B-B14F-4D97-AF65-F5344CB8AC3E}">
        <p14:creationId xmlns:p14="http://schemas.microsoft.com/office/powerpoint/2010/main" val="322465947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定位</a:t>
            </a:r>
            <a:endParaRPr lang="zh-CN" altLang="en-US" dirty="0"/>
          </a:p>
        </p:txBody>
      </p:sp>
      <p:sp>
        <p:nvSpPr>
          <p:cNvPr id="3" name="内容占位符 2"/>
          <p:cNvSpPr>
            <a:spLocks noGrp="1"/>
          </p:cNvSpPr>
          <p:nvPr>
            <p:ph idx="1"/>
          </p:nvPr>
        </p:nvSpPr>
        <p:spPr/>
        <p:txBody>
          <a:bodyPr/>
          <a:lstStyle/>
          <a:p>
            <a:pPr algn="just"/>
            <a:r>
              <a:rPr lang="zh-CN" altLang="en-US" b="1" dirty="0">
                <a:latin typeface="Times New Roman" panose="02020603050405020304" pitchFamily="18" charset="0"/>
              </a:rPr>
              <a:t>定位：</a:t>
            </a:r>
          </a:p>
          <a:p>
            <a:pPr lvl="1" algn="just">
              <a:lnSpc>
                <a:spcPct val="120000"/>
              </a:lnSpc>
            </a:pPr>
            <a:r>
              <a:rPr lang="zh-CN" altLang="en-US" sz="2200" b="1" dirty="0" smtClean="0">
                <a:latin typeface="Times New Roman" panose="02020603050405020304" pitchFamily="18" charset="0"/>
              </a:rPr>
              <a:t>对于随机文件，我们可以随机的指定位置读写，使用如下函数进行定位：</a:t>
            </a:r>
          </a:p>
          <a:p>
            <a:pPr algn="just">
              <a:buFont typeface="Wingdings" panose="05000000000000000000" pitchFamily="2" charset="2"/>
              <a:buNone/>
            </a:pPr>
            <a:r>
              <a:rPr lang="zh-CN" altLang="en-US" sz="2200" b="1" dirty="0" smtClean="0">
                <a:latin typeface="Times New Roman" panose="02020603050405020304" pitchFamily="18" charset="0"/>
              </a:rPr>
              <a:t>            </a:t>
            </a: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lseek</a:t>
            </a:r>
            <a:r>
              <a:rPr lang="en-US" altLang="zh-CN" sz="2200" b="1" dirty="0" smtClean="0">
                <a:latin typeface="Times New Roman" panose="02020603050405020304" pitchFamily="18" charset="0"/>
              </a:rPr>
              <a:t>(</a:t>
            </a: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fd</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offset_t</a:t>
            </a:r>
            <a:r>
              <a:rPr lang="en-US" altLang="zh-CN" sz="2200" b="1" dirty="0" smtClean="0">
                <a:latin typeface="Times New Roman" panose="02020603050405020304" pitchFamily="18" charset="0"/>
              </a:rPr>
              <a:t> offset, </a:t>
            </a: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whence);</a:t>
            </a:r>
          </a:p>
          <a:p>
            <a:pPr lvl="1" algn="just"/>
            <a:r>
              <a:rPr lang="en-US" altLang="zh-CN" sz="2200" b="1" dirty="0" err="1" smtClean="0">
                <a:latin typeface="Times New Roman" panose="02020603050405020304" pitchFamily="18" charset="0"/>
              </a:rPr>
              <a:t>lseek</a:t>
            </a:r>
            <a:r>
              <a:rPr lang="en-US" altLang="zh-CN" sz="2200" b="1" dirty="0" smtClean="0">
                <a:latin typeface="Times New Roman" panose="02020603050405020304" pitchFamily="18" charset="0"/>
              </a:rPr>
              <a:t>()</a:t>
            </a:r>
            <a:r>
              <a:rPr lang="zh-CN" altLang="en-US" sz="2200" b="1" dirty="0" smtClean="0">
                <a:latin typeface="Times New Roman" panose="02020603050405020304" pitchFamily="18" charset="0"/>
              </a:rPr>
              <a:t>将文件读写指针相对</a:t>
            </a:r>
            <a:r>
              <a:rPr lang="en-US" altLang="zh-CN" sz="2200" b="1" dirty="0" smtClean="0">
                <a:latin typeface="Times New Roman" panose="02020603050405020304" pitchFamily="18" charset="0"/>
              </a:rPr>
              <a:t>whence</a:t>
            </a:r>
            <a:r>
              <a:rPr lang="zh-CN" altLang="en-US" sz="2200" b="1" dirty="0" smtClean="0">
                <a:latin typeface="Times New Roman" panose="02020603050405020304" pitchFamily="18" charset="0"/>
              </a:rPr>
              <a:t>移动</a:t>
            </a:r>
            <a:r>
              <a:rPr lang="en-US" altLang="zh-CN" sz="2200" b="1" dirty="0" smtClean="0">
                <a:latin typeface="Times New Roman" panose="02020603050405020304" pitchFamily="18" charset="0"/>
              </a:rPr>
              <a:t>offset</a:t>
            </a:r>
            <a:r>
              <a:rPr lang="zh-CN" altLang="en-US" sz="2200" b="1" dirty="0" smtClean="0">
                <a:latin typeface="Times New Roman" panose="02020603050405020304" pitchFamily="18" charset="0"/>
              </a:rPr>
              <a:t>个字节。操作成功时，返回文件指针相对于文件头的位置。参数</a:t>
            </a:r>
            <a:r>
              <a:rPr lang="en-US" altLang="zh-CN" sz="2200" b="1" dirty="0" smtClean="0">
                <a:latin typeface="Times New Roman" panose="02020603050405020304" pitchFamily="18" charset="0"/>
              </a:rPr>
              <a:t>whence</a:t>
            </a:r>
            <a:r>
              <a:rPr lang="zh-CN" altLang="en-US" sz="2200" b="1" dirty="0" smtClean="0">
                <a:latin typeface="Times New Roman" panose="02020603050405020304" pitchFamily="18" charset="0"/>
              </a:rPr>
              <a:t>可使用下述值：</a:t>
            </a:r>
          </a:p>
          <a:p>
            <a:pPr lvl="2" algn="just"/>
            <a:r>
              <a:rPr lang="en-US" altLang="zh-CN" sz="2200" b="1" dirty="0" smtClean="0">
                <a:latin typeface="Times New Roman" panose="02020603050405020304" pitchFamily="18" charset="0"/>
              </a:rPr>
              <a:t>SEEK_SET</a:t>
            </a:r>
            <a:r>
              <a:rPr lang="zh-CN" altLang="en-US" sz="2200" b="1" dirty="0" smtClean="0">
                <a:latin typeface="Times New Roman" panose="02020603050405020304" pitchFamily="18" charset="0"/>
              </a:rPr>
              <a:t>：相对文件开头</a:t>
            </a:r>
          </a:p>
          <a:p>
            <a:pPr lvl="2" algn="just"/>
            <a:r>
              <a:rPr lang="en-US" altLang="zh-CN" sz="2200" b="1" dirty="0" smtClean="0">
                <a:latin typeface="Times New Roman" panose="02020603050405020304" pitchFamily="18" charset="0"/>
              </a:rPr>
              <a:t>SEEK_CUR</a:t>
            </a:r>
            <a:r>
              <a:rPr lang="zh-CN" altLang="en-US" sz="2200" b="1" dirty="0" smtClean="0">
                <a:latin typeface="Times New Roman" panose="02020603050405020304" pitchFamily="18" charset="0"/>
              </a:rPr>
              <a:t>：相对文件读写指针的当前位置</a:t>
            </a:r>
          </a:p>
          <a:p>
            <a:pPr lvl="2" algn="just"/>
            <a:r>
              <a:rPr lang="en-US" altLang="zh-CN" sz="2200" b="1" dirty="0" smtClean="0">
                <a:latin typeface="Times New Roman" panose="02020603050405020304" pitchFamily="18" charset="0"/>
              </a:rPr>
              <a:t>SEEK_END</a:t>
            </a:r>
            <a:r>
              <a:rPr lang="zh-CN" altLang="en-US" sz="2200" b="1" dirty="0" smtClean="0">
                <a:latin typeface="Times New Roman" panose="02020603050405020304" pitchFamily="18" charset="0"/>
              </a:rPr>
              <a:t>：相对文件末尾</a:t>
            </a:r>
          </a:p>
          <a:p>
            <a:endParaRPr lang="zh-CN" altLang="en-US" dirty="0"/>
          </a:p>
        </p:txBody>
      </p:sp>
    </p:spTree>
    <p:extLst>
      <p:ext uri="{BB962C8B-B14F-4D97-AF65-F5344CB8AC3E}">
        <p14:creationId xmlns:p14="http://schemas.microsoft.com/office/powerpoint/2010/main" val="179670779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定位</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定位：</a:t>
            </a:r>
          </a:p>
          <a:p>
            <a:pPr lvl="1" algn="just">
              <a:lnSpc>
                <a:spcPct val="130000"/>
              </a:lnSpc>
            </a:pPr>
            <a:r>
              <a:rPr lang="en-US" altLang="zh-CN" sz="2200" b="1" dirty="0" smtClean="0">
                <a:latin typeface="Times New Roman" panose="02020603050405020304" pitchFamily="18" charset="0"/>
              </a:rPr>
              <a:t>offset</a:t>
            </a:r>
            <a:r>
              <a:rPr lang="zh-CN" altLang="en-US" sz="2200" b="1" dirty="0" smtClean="0">
                <a:latin typeface="Times New Roman" panose="02020603050405020304" pitchFamily="18" charset="0"/>
              </a:rPr>
              <a:t>可取负值，例如下述调用可将文件指针相对当前位置向前移动</a:t>
            </a:r>
            <a:r>
              <a:rPr lang="en-US" altLang="zh-CN" sz="2200" b="1" dirty="0" smtClean="0">
                <a:latin typeface="Times New Roman" panose="02020603050405020304" pitchFamily="18" charset="0"/>
              </a:rPr>
              <a:t>5</a:t>
            </a:r>
            <a:r>
              <a:rPr lang="zh-CN" altLang="en-US" sz="2200" b="1" dirty="0" smtClean="0">
                <a:latin typeface="Times New Roman" panose="02020603050405020304" pitchFamily="18" charset="0"/>
              </a:rPr>
              <a:t>个字节：</a:t>
            </a:r>
          </a:p>
          <a:p>
            <a:pPr lvl="1" algn="just">
              <a:lnSpc>
                <a:spcPct val="130000"/>
              </a:lnSpc>
              <a:buFont typeface="Wingdings" panose="05000000000000000000" pitchFamily="2" charset="2"/>
              <a:buNone/>
            </a:pPr>
            <a:r>
              <a:rPr lang="zh-CN" altLang="en-US" sz="2200" b="1" dirty="0" smtClean="0">
                <a:latin typeface="Times New Roman" panose="02020603050405020304" pitchFamily="18" charset="0"/>
              </a:rPr>
              <a:t>          </a:t>
            </a:r>
            <a:r>
              <a:rPr lang="en-US" altLang="zh-CN" sz="2200" b="1" dirty="0" err="1" smtClean="0">
                <a:latin typeface="Times New Roman" panose="02020603050405020304" pitchFamily="18" charset="0"/>
              </a:rPr>
              <a:t>lseek</a:t>
            </a:r>
            <a:r>
              <a:rPr lang="en-US" altLang="zh-CN" sz="2200" b="1" dirty="0" smtClean="0">
                <a:latin typeface="Times New Roman" panose="02020603050405020304" pitchFamily="18" charset="0"/>
              </a:rPr>
              <a:t>(</a:t>
            </a:r>
            <a:r>
              <a:rPr lang="en-US" altLang="zh-CN" sz="2200" b="1" dirty="0" err="1" smtClean="0">
                <a:latin typeface="Times New Roman" panose="02020603050405020304" pitchFamily="18" charset="0"/>
              </a:rPr>
              <a:t>fd</a:t>
            </a:r>
            <a:r>
              <a:rPr lang="en-US" altLang="zh-CN" sz="2200" b="1" dirty="0" smtClean="0">
                <a:latin typeface="Times New Roman" panose="02020603050405020304" pitchFamily="18" charset="0"/>
              </a:rPr>
              <a:t>, -5, SEEK_CUR);</a:t>
            </a:r>
          </a:p>
          <a:p>
            <a:pPr lvl="1" algn="just">
              <a:lnSpc>
                <a:spcPct val="130000"/>
              </a:lnSpc>
            </a:pPr>
            <a:r>
              <a:rPr lang="zh-CN" altLang="en-US" sz="2200" b="1" dirty="0" smtClean="0">
                <a:latin typeface="Times New Roman" panose="02020603050405020304" pitchFamily="18" charset="0"/>
              </a:rPr>
              <a:t>由于</a:t>
            </a:r>
            <a:r>
              <a:rPr lang="en-US" altLang="zh-CN" sz="2200" b="1" dirty="0" err="1" smtClean="0">
                <a:latin typeface="Times New Roman" panose="02020603050405020304" pitchFamily="18" charset="0"/>
              </a:rPr>
              <a:t>lseek</a:t>
            </a:r>
            <a:r>
              <a:rPr lang="zh-CN" altLang="en-US" sz="2200" b="1" dirty="0" smtClean="0">
                <a:latin typeface="Times New Roman" panose="02020603050405020304" pitchFamily="18" charset="0"/>
              </a:rPr>
              <a:t>函数的返回值为文件指针相对于文件头的位置，因此下列调用的返回值就是文件的长度：</a:t>
            </a:r>
          </a:p>
          <a:p>
            <a:pPr lvl="1" algn="just">
              <a:lnSpc>
                <a:spcPct val="130000"/>
              </a:lnSpc>
              <a:buFont typeface="Wingdings" panose="05000000000000000000" pitchFamily="2" charset="2"/>
              <a:buNone/>
            </a:pPr>
            <a:r>
              <a:rPr lang="zh-CN" altLang="en-US" sz="2200" b="1" dirty="0" smtClean="0">
                <a:latin typeface="Times New Roman" panose="02020603050405020304" pitchFamily="18" charset="0"/>
              </a:rPr>
              <a:t>         </a:t>
            </a:r>
            <a:r>
              <a:rPr lang="en-US" altLang="zh-CN" sz="2200" b="1" dirty="0" err="1" smtClean="0">
                <a:latin typeface="Times New Roman" panose="02020603050405020304" pitchFamily="18" charset="0"/>
              </a:rPr>
              <a:t>lseek</a:t>
            </a:r>
            <a:r>
              <a:rPr lang="en-US" altLang="zh-CN" sz="2200" b="1" dirty="0" smtClean="0">
                <a:latin typeface="Times New Roman" panose="02020603050405020304" pitchFamily="18" charset="0"/>
              </a:rPr>
              <a:t>(</a:t>
            </a:r>
            <a:r>
              <a:rPr lang="en-US" altLang="zh-CN" sz="2200" b="1" dirty="0" err="1" smtClean="0">
                <a:latin typeface="Times New Roman" panose="02020603050405020304" pitchFamily="18" charset="0"/>
              </a:rPr>
              <a:t>fd</a:t>
            </a:r>
            <a:r>
              <a:rPr lang="en-US" altLang="zh-CN" sz="2200" b="1" dirty="0" smtClean="0">
                <a:latin typeface="Times New Roman" panose="02020603050405020304" pitchFamily="18" charset="0"/>
              </a:rPr>
              <a:t>, 0, SEEK_END);</a:t>
            </a:r>
          </a:p>
          <a:p>
            <a:endParaRPr lang="zh-CN" altLang="en-US" dirty="0"/>
          </a:p>
        </p:txBody>
      </p:sp>
    </p:spTree>
    <p:extLst>
      <p:ext uri="{BB962C8B-B14F-4D97-AF65-F5344CB8AC3E}">
        <p14:creationId xmlns:p14="http://schemas.microsoft.com/office/powerpoint/2010/main" val="161735339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关闭</a:t>
            </a:r>
            <a:endParaRPr lang="zh-CN" altLang="en-US" dirty="0"/>
          </a:p>
        </p:txBody>
      </p:sp>
      <p:sp>
        <p:nvSpPr>
          <p:cNvPr id="3" name="内容占位符 2"/>
          <p:cNvSpPr>
            <a:spLocks noGrp="1"/>
          </p:cNvSpPr>
          <p:nvPr>
            <p:ph idx="1"/>
          </p:nvPr>
        </p:nvSpPr>
        <p:spPr>
          <a:xfrm>
            <a:off x="838200" y="1825625"/>
            <a:ext cx="10868696" cy="4351338"/>
          </a:xfrm>
        </p:spPr>
        <p:txBody>
          <a:bodyPr/>
          <a:lstStyle/>
          <a:p>
            <a:pPr algn="just"/>
            <a:r>
              <a:rPr lang="zh-CN" altLang="en-US" sz="2400" b="1" dirty="0" smtClean="0"/>
              <a:t>关闭</a:t>
            </a:r>
          </a:p>
          <a:p>
            <a:pPr lvl="1" algn="just">
              <a:lnSpc>
                <a:spcPct val="140000"/>
              </a:lnSpc>
            </a:pPr>
            <a:r>
              <a:rPr lang="zh-CN" altLang="en-US" b="1" dirty="0">
                <a:latin typeface="Times New Roman" panose="02020603050405020304" pitchFamily="18" charset="0"/>
              </a:rPr>
              <a:t>当操作完成以后，要关闭文件，只要调用</a:t>
            </a:r>
            <a:r>
              <a:rPr lang="en-US" altLang="zh-CN" b="1" dirty="0">
                <a:latin typeface="Times New Roman" panose="02020603050405020304" pitchFamily="18" charset="0"/>
              </a:rPr>
              <a:t>close</a:t>
            </a:r>
            <a:r>
              <a:rPr lang="zh-CN" altLang="en-US" b="1" dirty="0">
                <a:latin typeface="Times New Roman" panose="02020603050405020304" pitchFamily="18" charset="0"/>
              </a:rPr>
              <a:t>即可，其中</a:t>
            </a:r>
            <a:r>
              <a:rPr lang="en-US" altLang="zh-CN" b="1" dirty="0" err="1">
                <a:latin typeface="Times New Roman" panose="02020603050405020304" pitchFamily="18" charset="0"/>
              </a:rPr>
              <a:t>fd</a:t>
            </a:r>
            <a:r>
              <a:rPr lang="zh-CN" altLang="en-US" b="1" dirty="0">
                <a:latin typeface="Times New Roman" panose="02020603050405020304" pitchFamily="18" charset="0"/>
              </a:rPr>
              <a:t>是要关闭的文件描述符</a:t>
            </a:r>
            <a:r>
              <a:rPr lang="zh-CN" altLang="en-US" b="1" dirty="0" smtClean="0">
                <a:latin typeface="Times New Roman" panose="02020603050405020304" pitchFamily="18" charset="0"/>
              </a:rPr>
              <a:t>：</a:t>
            </a:r>
            <a:endParaRPr lang="en-US" altLang="zh-CN" b="1" dirty="0" smtClean="0">
              <a:latin typeface="Times New Roman" panose="02020603050405020304" pitchFamily="18" charset="0"/>
            </a:endParaRPr>
          </a:p>
          <a:p>
            <a:pPr marL="457200" lvl="1" indent="0" algn="just">
              <a:lnSpc>
                <a:spcPct val="140000"/>
              </a:lnSpc>
              <a:buNone/>
            </a:pPr>
            <a:r>
              <a:rPr lang="zh-CN" altLang="en-US" b="1" dirty="0" smtClean="0">
                <a:latin typeface="Times New Roman" panose="02020603050405020304" pitchFamily="18" charset="0"/>
              </a:rPr>
              <a:t> </a:t>
            </a:r>
            <a:r>
              <a:rPr lang="zh-CN" altLang="en-US" b="1" dirty="0">
                <a:latin typeface="Times New Roman" panose="02020603050405020304" pitchFamily="18" charset="0"/>
              </a:rPr>
              <a:t/>
            </a:r>
            <a:br>
              <a:rPr lang="zh-CN" altLang="en-US" b="1" dirty="0">
                <a:latin typeface="Times New Roman" panose="02020603050405020304" pitchFamily="18" charset="0"/>
              </a:rPr>
            </a:br>
            <a:r>
              <a:rPr lang="en-US" altLang="zh-CN" b="1" dirty="0" err="1">
                <a:latin typeface="Times New Roman" panose="02020603050405020304" pitchFamily="18" charset="0"/>
              </a:rPr>
              <a:t>int</a:t>
            </a:r>
            <a:r>
              <a:rPr lang="en-US" altLang="zh-CN" b="1" dirty="0">
                <a:latin typeface="Times New Roman" panose="02020603050405020304" pitchFamily="18" charset="0"/>
              </a:rPr>
              <a:t> close(</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fd</a:t>
            </a:r>
            <a:r>
              <a:rPr lang="en-US" altLang="zh-CN" b="1" dirty="0">
                <a:latin typeface="Times New Roman" panose="02020603050405020304" pitchFamily="18" charset="0"/>
              </a:rPr>
              <a:t>);</a:t>
            </a:r>
          </a:p>
          <a:p>
            <a:endParaRPr lang="zh-CN" altLang="en-US" dirty="0"/>
          </a:p>
        </p:txBody>
      </p:sp>
    </p:spTree>
    <p:extLst>
      <p:ext uri="{BB962C8B-B14F-4D97-AF65-F5344CB8AC3E}">
        <p14:creationId xmlns:p14="http://schemas.microsoft.com/office/powerpoint/2010/main" val="167129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编程实例</a:t>
            </a:r>
            <a:endParaRPr lang="zh-CN" altLang="en-US" dirty="0"/>
          </a:p>
        </p:txBody>
      </p:sp>
      <p:sp>
        <p:nvSpPr>
          <p:cNvPr id="3" name="内容占位符 2"/>
          <p:cNvSpPr>
            <a:spLocks noGrp="1"/>
          </p:cNvSpPr>
          <p:nvPr>
            <p:ph idx="1"/>
          </p:nvPr>
        </p:nvSpPr>
        <p:spPr/>
        <p:txBody>
          <a:bodyPr/>
          <a:lstStyle/>
          <a:p>
            <a:r>
              <a:rPr lang="zh-CN" altLang="en-US" b="1" dirty="0" smtClean="0">
                <a:latin typeface="Times New Roman" panose="02020603050405020304" pitchFamily="18" charset="0"/>
              </a:rPr>
              <a:t>例程：编写一个程序，在当前目录下创建用户可读写文件“</a:t>
            </a:r>
            <a:r>
              <a:rPr lang="en-US" altLang="zh-CN" b="1" dirty="0" smtClean="0">
                <a:latin typeface="Times New Roman" panose="02020603050405020304" pitchFamily="18" charset="0"/>
              </a:rPr>
              <a:t>hello.txt”</a:t>
            </a:r>
            <a:r>
              <a:rPr lang="zh-CN" altLang="en-US" b="1" dirty="0" smtClean="0">
                <a:latin typeface="Times New Roman" panose="02020603050405020304" pitchFamily="18" charset="0"/>
              </a:rPr>
              <a:t>，在其中写入“</a:t>
            </a:r>
            <a:r>
              <a:rPr lang="en-US" altLang="zh-CN" b="1" dirty="0" smtClean="0">
                <a:latin typeface="Times New Roman" panose="02020603050405020304" pitchFamily="18" charset="0"/>
              </a:rPr>
              <a:t>Hello, software weekly”</a:t>
            </a:r>
            <a:r>
              <a:rPr lang="zh-CN" altLang="en-US" b="1" dirty="0" smtClean="0">
                <a:latin typeface="Times New Roman" panose="02020603050405020304" pitchFamily="18" charset="0"/>
              </a:rPr>
              <a:t>，关闭该文件。再次打开该文件，读取其中的内容并输出在屏幕上。</a:t>
            </a:r>
          </a:p>
          <a:p>
            <a:endParaRPr lang="zh-CN" altLang="en-US" dirty="0"/>
          </a:p>
        </p:txBody>
      </p:sp>
    </p:spTree>
    <p:extLst>
      <p:ext uri="{BB962C8B-B14F-4D97-AF65-F5344CB8AC3E}">
        <p14:creationId xmlns:p14="http://schemas.microsoft.com/office/powerpoint/2010/main" val="40171087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编程实例</a:t>
            </a:r>
            <a:endParaRPr lang="zh-CN" altLang="en-US" dirty="0"/>
          </a:p>
        </p:txBody>
      </p:sp>
      <p:sp>
        <p:nvSpPr>
          <p:cNvPr id="3" name="内容占位符 2"/>
          <p:cNvSpPr>
            <a:spLocks noGrp="1"/>
          </p:cNvSpPr>
          <p:nvPr>
            <p:ph idx="1"/>
          </p:nvPr>
        </p:nvSpPr>
        <p:spPr>
          <a:xfrm>
            <a:off x="261713" y="1047561"/>
            <a:ext cx="10915918" cy="5241701"/>
          </a:xfrm>
        </p:spPr>
        <p:txBody>
          <a:bodyPr>
            <a:noAutofit/>
          </a:bodyPr>
          <a:lstStyle/>
          <a:p>
            <a:pPr marL="0" indent="0">
              <a:buNone/>
            </a:pPr>
            <a:r>
              <a:rPr lang="en-US" altLang="zh-CN" sz="1600" b="1" dirty="0" smtClean="0">
                <a:latin typeface="Times New Roman" panose="02020603050405020304" pitchFamily="18" charset="0"/>
              </a:rPr>
              <a:t>#include &lt;sys/</a:t>
            </a:r>
            <a:r>
              <a:rPr lang="en-US" altLang="zh-CN" sz="1600" b="1" dirty="0" err="1" smtClean="0">
                <a:latin typeface="Times New Roman" panose="02020603050405020304" pitchFamily="18" charset="0"/>
              </a:rPr>
              <a:t>types.h</a:t>
            </a:r>
            <a:r>
              <a:rPr lang="en-US" altLang="zh-CN" sz="1600" b="1" dirty="0" smtClean="0">
                <a:latin typeface="Times New Roman" panose="02020603050405020304" pitchFamily="18" charset="0"/>
              </a:rPr>
              <a:t>&gt;  //</a:t>
            </a:r>
            <a:r>
              <a:rPr lang="zh-CN" altLang="en-US" sz="1600" b="1" dirty="0" smtClean="0">
                <a:latin typeface="Times New Roman" panose="02020603050405020304" pitchFamily="18" charset="0"/>
              </a:rPr>
              <a:t>类型</a:t>
            </a:r>
          </a:p>
          <a:p>
            <a:pPr marL="0" indent="0">
              <a:buNone/>
            </a:pPr>
            <a:r>
              <a:rPr lang="en-US" altLang="zh-CN" sz="1600" b="1" dirty="0" smtClean="0">
                <a:latin typeface="Times New Roman" panose="02020603050405020304" pitchFamily="18" charset="0"/>
              </a:rPr>
              <a:t>#include &lt;sys/</a:t>
            </a:r>
            <a:r>
              <a:rPr lang="en-US" altLang="zh-CN" sz="1600" b="1" dirty="0" err="1" smtClean="0">
                <a:latin typeface="Times New Roman" panose="02020603050405020304" pitchFamily="18" charset="0"/>
              </a:rPr>
              <a:t>stat.h</a:t>
            </a:r>
            <a:r>
              <a:rPr lang="en-US" altLang="zh-CN" sz="1600" b="1" dirty="0" smtClean="0">
                <a:latin typeface="Times New Roman" panose="02020603050405020304" pitchFamily="18" charset="0"/>
              </a:rPr>
              <a:t>&gt;  //</a:t>
            </a:r>
            <a:r>
              <a:rPr lang="zh-CN" altLang="en-US" sz="1600" b="1" dirty="0" smtClean="0">
                <a:latin typeface="Times New Roman" panose="02020603050405020304" pitchFamily="18" charset="0"/>
              </a:rPr>
              <a:t>获取文件属性</a:t>
            </a:r>
          </a:p>
          <a:p>
            <a:pPr marL="0" indent="0">
              <a:buNone/>
            </a:pPr>
            <a:r>
              <a:rPr lang="en-US" altLang="zh-CN" sz="1600" b="1" dirty="0" smtClean="0">
                <a:latin typeface="Times New Roman" panose="02020603050405020304" pitchFamily="18" charset="0"/>
              </a:rPr>
              <a:t>#include &lt;</a:t>
            </a:r>
            <a:r>
              <a:rPr lang="en-US" altLang="zh-CN" sz="1600" b="1" dirty="0" err="1" smtClean="0">
                <a:latin typeface="Times New Roman" panose="02020603050405020304" pitchFamily="18" charset="0"/>
              </a:rPr>
              <a:t>fcntl.h</a:t>
            </a:r>
            <a:r>
              <a:rPr lang="en-US" altLang="zh-CN" sz="1600" b="1" dirty="0" smtClean="0">
                <a:latin typeface="Times New Roman" panose="02020603050405020304" pitchFamily="18" charset="0"/>
              </a:rPr>
              <a:t>&gt; //</a:t>
            </a:r>
            <a:r>
              <a:rPr lang="zh-CN" altLang="en-US" sz="1600" b="1" dirty="0" smtClean="0">
                <a:latin typeface="Times New Roman" panose="02020603050405020304" pitchFamily="18" charset="0"/>
              </a:rPr>
              <a:t>文件描述词操作</a:t>
            </a:r>
          </a:p>
          <a:p>
            <a:pPr marL="0" indent="0">
              <a:buNone/>
            </a:pPr>
            <a:r>
              <a:rPr lang="en-US" altLang="zh-CN" sz="1600" b="1" dirty="0" smtClean="0">
                <a:latin typeface="Times New Roman" panose="02020603050405020304" pitchFamily="18" charset="0"/>
              </a:rPr>
              <a:t>#include &lt;</a:t>
            </a:r>
            <a:r>
              <a:rPr lang="en-US" altLang="zh-CN" sz="1600" b="1" dirty="0" err="1" smtClean="0">
                <a:latin typeface="Times New Roman" panose="02020603050405020304" pitchFamily="18" charset="0"/>
              </a:rPr>
              <a:t>stdio.h</a:t>
            </a:r>
            <a:r>
              <a:rPr lang="en-US" altLang="zh-CN" sz="1600" b="1" dirty="0" smtClean="0">
                <a:latin typeface="Times New Roman" panose="02020603050405020304" pitchFamily="18" charset="0"/>
              </a:rPr>
              <a:t>&gt;</a:t>
            </a:r>
            <a:br>
              <a:rPr lang="en-US" altLang="zh-CN" sz="1600" b="1" dirty="0" smtClean="0">
                <a:latin typeface="Times New Roman" panose="02020603050405020304" pitchFamily="18" charset="0"/>
              </a:rPr>
            </a:br>
            <a:r>
              <a:rPr lang="en-US" altLang="zh-CN" sz="1600" b="1" dirty="0" smtClean="0">
                <a:latin typeface="Times New Roman" panose="02020603050405020304" pitchFamily="18" charset="0"/>
              </a:rPr>
              <a:t>#define LENGTH 100</a:t>
            </a:r>
            <a:br>
              <a:rPr lang="en-US" altLang="zh-CN" sz="1600" b="1" dirty="0" smtClean="0">
                <a:latin typeface="Times New Roman" panose="02020603050405020304" pitchFamily="18" charset="0"/>
              </a:rPr>
            </a:br>
            <a:endParaRPr lang="en-US" altLang="zh-CN" sz="600" b="1" dirty="0" smtClean="0">
              <a:latin typeface="Times New Roman" panose="02020603050405020304" pitchFamily="18" charset="0"/>
            </a:endParaRPr>
          </a:p>
          <a:p>
            <a:pPr marL="0" indent="0">
              <a:buNone/>
            </a:pPr>
            <a:r>
              <a:rPr lang="en-US" altLang="zh-CN" sz="1600" b="1" dirty="0" smtClean="0">
                <a:latin typeface="Times New Roman" panose="02020603050405020304" pitchFamily="18" charset="0"/>
              </a:rPr>
              <a:t>main(){</a:t>
            </a:r>
            <a:br>
              <a:rPr lang="en-US" altLang="zh-CN" sz="1600" b="1" dirty="0" smtClean="0">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err="1" smtClean="0">
                <a:latin typeface="Times New Roman" panose="02020603050405020304" pitchFamily="18" charset="0"/>
              </a:rPr>
              <a:t>int</a:t>
            </a:r>
            <a:r>
              <a:rPr lang="en-US" altLang="zh-CN" sz="1600" b="1" dirty="0" smtClean="0">
                <a:latin typeface="Times New Roman" panose="02020603050405020304" pitchFamily="18" charset="0"/>
              </a:rPr>
              <a:t> </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a:t>
            </a:r>
            <a:r>
              <a:rPr lang="en-US" altLang="zh-CN" sz="1600" b="1" dirty="0" err="1" smtClean="0">
                <a:latin typeface="Times New Roman" panose="02020603050405020304" pitchFamily="18" charset="0"/>
              </a:rPr>
              <a:t>len</a:t>
            </a:r>
            <a:r>
              <a:rPr lang="en-US" altLang="zh-CN" sz="1600" b="1" dirty="0" smtClean="0">
                <a:latin typeface="Times New Roman" panose="02020603050405020304" pitchFamily="18" charset="0"/>
              </a:rPr>
              <a:t>;</a:t>
            </a:r>
            <a:br>
              <a:rPr lang="en-US" altLang="zh-CN" sz="1600" b="1" dirty="0" smtClean="0">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smtClean="0">
                <a:latin typeface="Times New Roman" panose="02020603050405020304" pitchFamily="18" charset="0"/>
              </a:rPr>
              <a:t>char </a:t>
            </a:r>
            <a:r>
              <a:rPr lang="en-US" altLang="zh-CN" sz="1600" b="1" dirty="0" err="1" smtClean="0">
                <a:latin typeface="Times New Roman" panose="02020603050405020304" pitchFamily="18" charset="0"/>
              </a:rPr>
              <a:t>str</a:t>
            </a:r>
            <a:r>
              <a:rPr lang="en-US" altLang="zh-CN" sz="1600" b="1" dirty="0" smtClean="0">
                <a:latin typeface="Times New Roman" panose="02020603050405020304" pitchFamily="18" charset="0"/>
              </a:rPr>
              <a:t>[LENGTH]; </a:t>
            </a:r>
            <a:br>
              <a:rPr lang="en-US" altLang="zh-CN" sz="1600" b="1" dirty="0" smtClean="0">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 open(“hello.txt”, O_CREAT | O_RDWR, S_IRUSR | S_IWUSR);       </a:t>
            </a:r>
          </a:p>
          <a:p>
            <a:pPr marL="0" indent="0">
              <a:buNone/>
            </a:pPr>
            <a:r>
              <a:rPr lang="en-US" altLang="zh-CN" sz="1600" b="1" dirty="0">
                <a:solidFill>
                  <a:srgbClr val="008000"/>
                </a:solidFill>
                <a:latin typeface="Times New Roman" panose="02020603050405020304" pitchFamily="18" charset="0"/>
              </a:rPr>
              <a:t> </a:t>
            </a:r>
            <a:r>
              <a:rPr lang="en-US" altLang="zh-CN" sz="1600" b="1" dirty="0" smtClean="0">
                <a:solidFill>
                  <a:srgbClr val="008000"/>
                </a:solidFill>
                <a:latin typeface="Times New Roman" panose="02020603050405020304" pitchFamily="18" charset="0"/>
              </a:rPr>
              <a:t>           /* </a:t>
            </a:r>
            <a:r>
              <a:rPr lang="zh-CN" altLang="en-US" sz="1600" b="1" dirty="0" smtClean="0">
                <a:solidFill>
                  <a:srgbClr val="008000"/>
                </a:solidFill>
                <a:latin typeface="Times New Roman" panose="02020603050405020304" pitchFamily="18" charset="0"/>
              </a:rPr>
              <a:t>创建并打开文件 ，以读写的方式打开，用户可以读、用户可以写*</a:t>
            </a:r>
            <a:r>
              <a:rPr lang="en-US" altLang="zh-CN" sz="1600" b="1" dirty="0" smtClean="0">
                <a:solidFill>
                  <a:srgbClr val="008000"/>
                </a:solidFill>
                <a:latin typeface="Times New Roman" panose="02020603050405020304" pitchFamily="18" charset="0"/>
              </a:rPr>
              <a:t>/</a:t>
            </a:r>
            <a:r>
              <a:rPr lang="en-US" altLang="zh-CN" sz="1600" b="1" dirty="0" smtClean="0">
                <a:solidFill>
                  <a:schemeClr val="tx2"/>
                </a:solidFill>
                <a:latin typeface="Times New Roman" panose="02020603050405020304" pitchFamily="18" charset="0"/>
              </a:rPr>
              <a:t/>
            </a:r>
            <a:br>
              <a:rPr lang="en-US" altLang="zh-CN" sz="1600" b="1" dirty="0" smtClean="0">
                <a:solidFill>
                  <a:schemeClr val="tx2"/>
                </a:solidFill>
                <a:latin typeface="Times New Roman" panose="02020603050405020304" pitchFamily="18" charset="0"/>
              </a:rPr>
            </a:br>
            <a:r>
              <a:rPr lang="en-US" altLang="zh-CN" sz="1600" b="1" dirty="0" smtClean="0">
                <a:solidFill>
                  <a:schemeClr val="tx2"/>
                </a:solidFill>
                <a:latin typeface="Times New Roman" panose="02020603050405020304" pitchFamily="18" charset="0"/>
              </a:rPr>
              <a:t>    </a:t>
            </a:r>
            <a:r>
              <a:rPr lang="en-US" altLang="zh-CN" sz="1600" b="1" dirty="0" smtClean="0">
                <a:latin typeface="Times New Roman" panose="02020603050405020304" pitchFamily="18" charset="0"/>
              </a:rPr>
              <a:t>if (</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a:t>
            </a:r>
            <a:br>
              <a:rPr lang="en-US" altLang="zh-CN" sz="1600" b="1" dirty="0" smtClean="0">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smtClean="0">
                <a:latin typeface="Times New Roman" panose="02020603050405020304" pitchFamily="18" charset="0"/>
              </a:rPr>
              <a:t>write(</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"Hello, Software Weekly", </a:t>
            </a:r>
            <a:r>
              <a:rPr lang="en-US" altLang="zh-CN" sz="1600" b="1" dirty="0" err="1" smtClean="0">
                <a:latin typeface="Times New Roman" panose="02020603050405020304" pitchFamily="18" charset="0"/>
              </a:rPr>
              <a:t>strlen</a:t>
            </a:r>
            <a:r>
              <a:rPr lang="en-US" altLang="zh-CN" sz="1600" b="1" dirty="0" smtClean="0">
                <a:latin typeface="Times New Roman" panose="02020603050405020304" pitchFamily="18" charset="0"/>
              </a:rPr>
              <a:t>("Hello, software weekly")); </a:t>
            </a:r>
            <a:r>
              <a:rPr lang="en-US" altLang="zh-CN" sz="1600" b="1" dirty="0" smtClean="0">
                <a:solidFill>
                  <a:schemeClr val="tx2"/>
                </a:solidFill>
                <a:latin typeface="Times New Roman" panose="02020603050405020304" pitchFamily="18" charset="0"/>
              </a:rPr>
              <a:t>/* </a:t>
            </a:r>
            <a:r>
              <a:rPr lang="zh-CN" altLang="en-US" sz="1600" b="1" dirty="0" smtClean="0">
                <a:solidFill>
                  <a:schemeClr val="tx2"/>
                </a:solidFill>
                <a:latin typeface="Times New Roman" panose="02020603050405020304" pitchFamily="18" charset="0"/>
              </a:rPr>
              <a:t>写入　</a:t>
            </a:r>
            <a:r>
              <a:rPr lang="en-US" altLang="zh-CN" sz="1600" b="1" dirty="0" smtClean="0">
                <a:solidFill>
                  <a:schemeClr val="tx2"/>
                </a:solidFill>
                <a:latin typeface="Times New Roman" panose="02020603050405020304" pitchFamily="18" charset="0"/>
              </a:rPr>
              <a:t>Hello, software weekly</a:t>
            </a:r>
            <a:r>
              <a:rPr lang="zh-CN" altLang="en-US" sz="1600" b="1" dirty="0" smtClean="0">
                <a:solidFill>
                  <a:schemeClr val="tx2"/>
                </a:solidFill>
                <a:latin typeface="Times New Roman" panose="02020603050405020304" pitchFamily="18" charset="0"/>
              </a:rPr>
              <a:t>字符串 *</a:t>
            </a:r>
            <a:r>
              <a:rPr lang="en-US" altLang="zh-CN" sz="1600" b="1" dirty="0" smtClean="0">
                <a:solidFill>
                  <a:schemeClr val="tx2"/>
                </a:solidFill>
                <a:latin typeface="Times New Roman" panose="02020603050405020304" pitchFamily="18" charset="0"/>
              </a:rPr>
              <a:t>/</a:t>
            </a:r>
            <a:br>
              <a:rPr lang="en-US" altLang="zh-CN" sz="1600" b="1" dirty="0" smtClean="0">
                <a:solidFill>
                  <a:schemeClr val="tx2"/>
                </a:solidFill>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smtClean="0">
                <a:latin typeface="Times New Roman" panose="02020603050405020304" pitchFamily="18" charset="0"/>
              </a:rPr>
              <a:t>close(</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a:t>
            </a:r>
            <a:br>
              <a:rPr lang="en-US" altLang="zh-CN" sz="1600" b="1" dirty="0" smtClean="0">
                <a:latin typeface="Times New Roman" panose="02020603050405020304" pitchFamily="18" charset="0"/>
              </a:rPr>
            </a:br>
            <a:r>
              <a:rPr lang="zh-CN" altLang="en-US" sz="1600" b="1" dirty="0" smtClean="0">
                <a:latin typeface="Times New Roman" panose="02020603050405020304" pitchFamily="18" charset="0"/>
              </a:rPr>
              <a:t>　</a:t>
            </a:r>
            <a:r>
              <a:rPr lang="en-US" altLang="zh-CN" sz="1600" b="1" dirty="0" smtClean="0">
                <a:latin typeface="Times New Roman" panose="02020603050405020304" pitchFamily="18" charset="0"/>
              </a:rPr>
              <a:t>}</a:t>
            </a:r>
            <a:br>
              <a:rPr lang="en-US" altLang="zh-CN" sz="1600" b="1" dirty="0" smtClean="0">
                <a:latin typeface="Times New Roman" panose="02020603050405020304" pitchFamily="18" charset="0"/>
              </a:rPr>
            </a:br>
            <a:endParaRPr lang="en-US" altLang="zh-CN" sz="1600" b="1" dirty="0" smtClean="0">
              <a:latin typeface="Times New Roman" panose="02020603050405020304" pitchFamily="18" charset="0"/>
            </a:endParaRPr>
          </a:p>
          <a:p>
            <a:pPr marL="0" indent="0">
              <a:buNone/>
            </a:pP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 open(“hello.txt”, O_RDWR); </a:t>
            </a:r>
            <a:r>
              <a:rPr lang="en-US" altLang="zh-CN" sz="1600" b="1" dirty="0" smtClean="0">
                <a:solidFill>
                  <a:schemeClr val="folHlink"/>
                </a:solidFill>
                <a:latin typeface="Times New Roman" panose="02020603050405020304" pitchFamily="18" charset="0"/>
              </a:rPr>
              <a:t>//</a:t>
            </a:r>
            <a:r>
              <a:rPr lang="zh-CN" altLang="en-US" sz="1600" b="1" dirty="0" smtClean="0">
                <a:solidFill>
                  <a:schemeClr val="folHlink"/>
                </a:solidFill>
                <a:latin typeface="Times New Roman" panose="02020603050405020304" pitchFamily="18" charset="0"/>
              </a:rPr>
              <a:t>以读写方式打开</a:t>
            </a:r>
          </a:p>
          <a:p>
            <a:pPr marL="0" indent="0">
              <a:buNone/>
            </a:pPr>
            <a:r>
              <a:rPr lang="zh-CN" altLang="en-US" sz="1600" b="1" dirty="0" smtClean="0">
                <a:latin typeface="Times New Roman" panose="02020603050405020304" pitchFamily="18" charset="0"/>
              </a:rPr>
              <a:t>     </a:t>
            </a:r>
            <a:r>
              <a:rPr lang="en-US" altLang="zh-CN" sz="1600" b="1" dirty="0" err="1" smtClean="0">
                <a:latin typeface="Times New Roman" panose="02020603050405020304" pitchFamily="18" charset="0"/>
              </a:rPr>
              <a:t>len</a:t>
            </a:r>
            <a:r>
              <a:rPr lang="en-US" altLang="zh-CN" sz="1600" b="1" dirty="0" smtClean="0">
                <a:latin typeface="Times New Roman" panose="02020603050405020304" pitchFamily="18" charset="0"/>
              </a:rPr>
              <a:t> = read(</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 </a:t>
            </a:r>
            <a:r>
              <a:rPr lang="en-US" altLang="zh-CN" sz="1600" b="1" dirty="0" err="1" smtClean="0">
                <a:latin typeface="Times New Roman" panose="02020603050405020304" pitchFamily="18" charset="0"/>
              </a:rPr>
              <a:t>str</a:t>
            </a:r>
            <a:r>
              <a:rPr lang="en-US" altLang="zh-CN" sz="1600" b="1" dirty="0" smtClean="0">
                <a:latin typeface="Times New Roman" panose="02020603050405020304" pitchFamily="18" charset="0"/>
              </a:rPr>
              <a:t>, LENGTH); </a:t>
            </a:r>
            <a:r>
              <a:rPr lang="en-US" altLang="zh-CN" sz="1600" b="1" dirty="0" smtClean="0">
                <a:solidFill>
                  <a:schemeClr val="tx2"/>
                </a:solidFill>
                <a:latin typeface="Times New Roman" panose="02020603050405020304" pitchFamily="18" charset="0"/>
              </a:rPr>
              <a:t>/* </a:t>
            </a:r>
            <a:r>
              <a:rPr lang="zh-CN" altLang="en-US" sz="1600" b="1" dirty="0" smtClean="0">
                <a:solidFill>
                  <a:schemeClr val="tx2"/>
                </a:solidFill>
                <a:latin typeface="Times New Roman" panose="02020603050405020304" pitchFamily="18" charset="0"/>
              </a:rPr>
              <a:t>读取文件内容 *</a:t>
            </a:r>
            <a:r>
              <a:rPr lang="en-US" altLang="zh-CN" sz="1600" b="1" dirty="0" smtClean="0">
                <a:solidFill>
                  <a:schemeClr val="tx2"/>
                </a:solidFill>
                <a:latin typeface="Times New Roman" panose="02020603050405020304" pitchFamily="18" charset="0"/>
              </a:rPr>
              <a:t>/</a:t>
            </a:r>
            <a:br>
              <a:rPr lang="en-US" altLang="zh-CN" sz="1600" b="1" dirty="0" smtClean="0">
                <a:solidFill>
                  <a:schemeClr val="tx2"/>
                </a:solidFill>
                <a:latin typeface="Times New Roman" panose="02020603050405020304" pitchFamily="18" charset="0"/>
              </a:rPr>
            </a:br>
            <a:r>
              <a:rPr lang="en-US" altLang="zh-CN" sz="1600" b="1" dirty="0" err="1" smtClean="0">
                <a:latin typeface="Times New Roman" panose="02020603050405020304" pitchFamily="18" charset="0"/>
              </a:rPr>
              <a:t>str</a:t>
            </a:r>
            <a:r>
              <a:rPr lang="en-US" altLang="zh-CN" sz="1600" b="1" dirty="0" smtClean="0">
                <a:latin typeface="Times New Roman" panose="02020603050405020304" pitchFamily="18" charset="0"/>
              </a:rPr>
              <a:t>[</a:t>
            </a:r>
            <a:r>
              <a:rPr lang="en-US" altLang="zh-CN" sz="1600" b="1" dirty="0" err="1" smtClean="0">
                <a:latin typeface="Times New Roman" panose="02020603050405020304" pitchFamily="18" charset="0"/>
              </a:rPr>
              <a:t>len</a:t>
            </a:r>
            <a:r>
              <a:rPr lang="en-US" altLang="zh-CN" sz="1600" b="1" dirty="0" smtClean="0">
                <a:latin typeface="Times New Roman" panose="02020603050405020304" pitchFamily="18" charset="0"/>
              </a:rPr>
              <a:t>] = '\0';</a:t>
            </a:r>
            <a:br>
              <a:rPr lang="en-US" altLang="zh-CN" sz="1600" b="1" dirty="0" smtClean="0">
                <a:latin typeface="Times New Roman" panose="02020603050405020304" pitchFamily="18" charset="0"/>
              </a:rPr>
            </a:br>
            <a:r>
              <a:rPr lang="en-US" altLang="zh-CN" sz="1600" b="1" dirty="0" err="1" smtClean="0">
                <a:latin typeface="Times New Roman" panose="02020603050405020304" pitchFamily="18" charset="0"/>
              </a:rPr>
              <a:t>printf</a:t>
            </a:r>
            <a:r>
              <a:rPr lang="en-US" altLang="zh-CN" sz="1600" b="1" dirty="0" smtClean="0">
                <a:latin typeface="Times New Roman" panose="02020603050405020304" pitchFamily="18" charset="0"/>
              </a:rPr>
              <a:t>("%s\n", </a:t>
            </a:r>
            <a:r>
              <a:rPr lang="en-US" altLang="zh-CN" sz="1600" b="1" dirty="0" err="1" smtClean="0">
                <a:latin typeface="Times New Roman" panose="02020603050405020304" pitchFamily="18" charset="0"/>
              </a:rPr>
              <a:t>str</a:t>
            </a:r>
            <a:r>
              <a:rPr lang="en-US" altLang="zh-CN" sz="1600" b="1" dirty="0" smtClean="0">
                <a:latin typeface="Times New Roman" panose="02020603050405020304" pitchFamily="18" charset="0"/>
              </a:rPr>
              <a:t>);</a:t>
            </a:r>
            <a:br>
              <a:rPr lang="en-US" altLang="zh-CN" sz="1600" b="1" dirty="0" smtClean="0">
                <a:latin typeface="Times New Roman" panose="02020603050405020304" pitchFamily="18" charset="0"/>
              </a:rPr>
            </a:br>
            <a:r>
              <a:rPr lang="en-US" altLang="zh-CN" sz="1600" b="1" dirty="0" smtClean="0">
                <a:latin typeface="Times New Roman" panose="02020603050405020304" pitchFamily="18" charset="0"/>
              </a:rPr>
              <a:t>close(</a:t>
            </a:r>
            <a:r>
              <a:rPr lang="en-US" altLang="zh-CN" sz="1600" b="1" dirty="0" err="1" smtClean="0">
                <a:latin typeface="Times New Roman" panose="02020603050405020304" pitchFamily="18" charset="0"/>
              </a:rPr>
              <a:t>fd</a:t>
            </a:r>
            <a:r>
              <a:rPr lang="en-US" altLang="zh-CN" sz="1600" b="1" dirty="0" smtClean="0">
                <a:latin typeface="Times New Roman" panose="02020603050405020304" pitchFamily="18" charset="0"/>
              </a:rPr>
              <a:t>);</a:t>
            </a:r>
            <a:br>
              <a:rPr lang="en-US" altLang="zh-CN" sz="1600" b="1" dirty="0" smtClean="0">
                <a:latin typeface="Times New Roman" panose="02020603050405020304" pitchFamily="18" charset="0"/>
              </a:rPr>
            </a:br>
            <a:r>
              <a:rPr lang="en-US" altLang="zh-CN" sz="1600" b="1" dirty="0" smtClean="0">
                <a:latin typeface="Times New Roman" panose="02020603050405020304" pitchFamily="18" charset="0"/>
              </a:rPr>
              <a:t>} </a:t>
            </a:r>
          </a:p>
        </p:txBody>
      </p:sp>
    </p:spTree>
    <p:extLst>
      <p:ext uri="{BB962C8B-B14F-4D97-AF65-F5344CB8AC3E}">
        <p14:creationId xmlns:p14="http://schemas.microsoft.com/office/powerpoint/2010/main" val="323392346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a:t>
            </a:r>
            <a:r>
              <a:rPr lang="en-US" altLang="zh-CN" dirty="0" smtClean="0"/>
              <a:t>API-</a:t>
            </a:r>
            <a:r>
              <a:rPr lang="zh-CN" altLang="en-US" dirty="0" smtClean="0"/>
              <a:t>编程实例</a:t>
            </a:r>
            <a:endParaRPr lang="zh-CN" altLang="en-US" dirty="0"/>
          </a:p>
        </p:txBody>
      </p:sp>
      <p:sp>
        <p:nvSpPr>
          <p:cNvPr id="3" name="内容占位符 2"/>
          <p:cNvSpPr>
            <a:spLocks noGrp="1"/>
          </p:cNvSpPr>
          <p:nvPr>
            <p:ph idx="1"/>
          </p:nvPr>
        </p:nvSpPr>
        <p:spPr/>
        <p:txBody>
          <a:bodyPr/>
          <a:lstStyle/>
          <a:p>
            <a:r>
              <a:rPr lang="zh-CN" altLang="en-US" sz="2400" b="1" dirty="0" smtClean="0"/>
              <a:t>编译并运行，执行结果如下</a:t>
            </a:r>
          </a:p>
          <a:p>
            <a:endParaRPr lang="zh-CN" altLang="en-US" sz="900" b="1" dirty="0" smtClean="0"/>
          </a:p>
          <a:p>
            <a:pPr marL="457200" lvl="1" indent="0">
              <a:buNone/>
            </a:pPr>
            <a:r>
              <a:rPr lang="en-US" altLang="zh-CN" b="1" dirty="0">
                <a:latin typeface="Times New Roman" panose="02020603050405020304" pitchFamily="18" charset="0"/>
              </a:rPr>
              <a:t>[</a:t>
            </a:r>
            <a:r>
              <a:rPr lang="en-US" altLang="zh-CN" b="1" dirty="0" err="1">
                <a:latin typeface="Times New Roman" panose="02020603050405020304" pitchFamily="18" charset="0"/>
              </a:rPr>
              <a:t>root@dl</a:t>
            </a:r>
            <a:r>
              <a:rPr lang="en-US" altLang="zh-CN" b="1" dirty="0">
                <a:latin typeface="Times New Roman" panose="02020603050405020304" pitchFamily="18" charset="0"/>
              </a:rPr>
              <a:t> root]#</a:t>
            </a:r>
            <a:r>
              <a:rPr lang="en-US" altLang="zh-CN" b="1" dirty="0" err="1">
                <a:latin typeface="Times New Roman" panose="02020603050405020304" pitchFamily="18" charset="0"/>
              </a:rPr>
              <a:t>gcc</a:t>
            </a:r>
            <a:r>
              <a:rPr lang="en-US" altLang="zh-CN" b="1" dirty="0">
                <a:latin typeface="Times New Roman" panose="02020603050405020304" pitchFamily="18" charset="0"/>
              </a:rPr>
              <a:t> –g –o hello ./</a:t>
            </a:r>
            <a:r>
              <a:rPr lang="en-US" altLang="zh-CN" b="1" dirty="0" err="1">
                <a:latin typeface="Times New Roman" panose="02020603050405020304" pitchFamily="18" charset="0"/>
              </a:rPr>
              <a:t>hello.c</a:t>
            </a:r>
            <a:endParaRPr lang="en-US" altLang="zh-CN" b="1" dirty="0">
              <a:latin typeface="Times New Roman" panose="02020603050405020304" pitchFamily="18" charset="0"/>
            </a:endParaRPr>
          </a:p>
          <a:p>
            <a:pPr marL="457200" lvl="1" indent="0">
              <a:buNone/>
            </a:pPr>
            <a:r>
              <a:rPr lang="en-US" altLang="zh-CN" b="1" dirty="0">
                <a:latin typeface="Times New Roman" panose="02020603050405020304" pitchFamily="18" charset="0"/>
              </a:rPr>
              <a:t>[</a:t>
            </a:r>
            <a:r>
              <a:rPr lang="en-US" altLang="zh-CN" b="1" dirty="0" err="1">
                <a:latin typeface="Times New Roman" panose="02020603050405020304" pitchFamily="18" charset="0"/>
              </a:rPr>
              <a:t>root@dl</a:t>
            </a:r>
            <a:r>
              <a:rPr lang="en-US" altLang="zh-CN" b="1" dirty="0">
                <a:latin typeface="Times New Roman" panose="02020603050405020304" pitchFamily="18" charset="0"/>
              </a:rPr>
              <a:t> root]# ./hello</a:t>
            </a:r>
          </a:p>
          <a:p>
            <a:pPr marL="457200" lvl="1" indent="0">
              <a:buNone/>
            </a:pPr>
            <a:r>
              <a:rPr lang="en-US" altLang="zh-CN" b="1" dirty="0" err="1">
                <a:latin typeface="Times New Roman" panose="02020603050405020304" pitchFamily="18" charset="0"/>
              </a:rPr>
              <a:t>Hello,software</a:t>
            </a:r>
            <a:r>
              <a:rPr lang="en-US" altLang="zh-CN" b="1" dirty="0">
                <a:latin typeface="Times New Roman" panose="02020603050405020304" pitchFamily="18" charset="0"/>
              </a:rPr>
              <a:t> weekly</a:t>
            </a:r>
            <a:r>
              <a:rPr lang="en-US" altLang="zh-CN" dirty="0">
                <a:latin typeface="Times New Roman" panose="02020603050405020304" pitchFamily="18" charset="0"/>
              </a:rPr>
              <a:t/>
            </a:r>
            <a:br>
              <a:rPr lang="en-US" altLang="zh-CN" dirty="0">
                <a:latin typeface="Times New Roman" panose="02020603050405020304" pitchFamily="18" charset="0"/>
              </a:rPr>
            </a:br>
            <a:endParaRPr lang="en-US" altLang="zh-CN" dirty="0">
              <a:latin typeface="Times New Roman" panose="02020603050405020304" pitchFamily="18" charset="0"/>
            </a:endParaRPr>
          </a:p>
          <a:p>
            <a:endParaRPr lang="zh-CN" altLang="en-US" dirty="0"/>
          </a:p>
        </p:txBody>
      </p:sp>
    </p:spTree>
    <p:extLst>
      <p:ext uri="{BB962C8B-B14F-4D97-AF65-F5344CB8AC3E}">
        <p14:creationId xmlns:p14="http://schemas.microsoft.com/office/powerpoint/2010/main" val="392193778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endParaRPr lang="zh-CN" altLang="en-US" dirty="0"/>
          </a:p>
        </p:txBody>
      </p:sp>
      <p:sp>
        <p:nvSpPr>
          <p:cNvPr id="3" name="内容占位符 2"/>
          <p:cNvSpPr>
            <a:spLocks noGrp="1"/>
          </p:cNvSpPr>
          <p:nvPr>
            <p:ph idx="1"/>
          </p:nvPr>
        </p:nvSpPr>
        <p:spPr/>
        <p:txBody>
          <a:bodyPr/>
          <a:lstStyle/>
          <a:p>
            <a:r>
              <a:rPr lang="en-US" altLang="zh-CN" b="1" dirty="0" smtClean="0">
                <a:latin typeface="Times New Roman" panose="02020603050405020304" pitchFamily="18" charset="0"/>
              </a:rPr>
              <a:t>C</a:t>
            </a:r>
            <a:r>
              <a:rPr lang="zh-CN" altLang="en-US" b="1" dirty="0" smtClean="0">
                <a:latin typeface="Times New Roman" panose="02020603050405020304" pitchFamily="18" charset="0"/>
              </a:rPr>
              <a:t>库函数的文件操作实际上是独立于具体的操作系统平台的，不管是在</a:t>
            </a:r>
            <a:r>
              <a:rPr lang="en-US" altLang="zh-CN" b="1" dirty="0" smtClean="0">
                <a:latin typeface="Times New Roman" panose="02020603050405020304" pitchFamily="18" charset="0"/>
              </a:rPr>
              <a:t>DOS</a:t>
            </a:r>
            <a:r>
              <a:rPr lang="zh-CN" altLang="en-US" b="1" dirty="0" smtClean="0">
                <a:latin typeface="Times New Roman" panose="02020603050405020304" pitchFamily="18" charset="0"/>
              </a:rPr>
              <a:t>、</a:t>
            </a:r>
            <a:r>
              <a:rPr lang="en-US" altLang="zh-CN" b="1" dirty="0" smtClean="0">
                <a:latin typeface="Times New Roman" panose="02020603050405020304" pitchFamily="18" charset="0"/>
              </a:rPr>
              <a:t>Windows</a:t>
            </a:r>
            <a:r>
              <a:rPr lang="zh-CN" altLang="en-US" b="1" dirty="0" smtClean="0">
                <a:latin typeface="Times New Roman" panose="02020603050405020304" pitchFamily="18" charset="0"/>
              </a:rPr>
              <a:t>、</a:t>
            </a:r>
            <a:r>
              <a:rPr lang="en-US" altLang="zh-CN" b="1" dirty="0" smtClean="0">
                <a:latin typeface="Times New Roman" panose="02020603050405020304" pitchFamily="18" charset="0"/>
              </a:rPr>
              <a:t>Linux</a:t>
            </a:r>
            <a:r>
              <a:rPr lang="zh-CN" altLang="en-US" b="1" dirty="0" smtClean="0">
                <a:latin typeface="Times New Roman" panose="02020603050405020304" pitchFamily="18" charset="0"/>
              </a:rPr>
              <a:t>中都是这些函数</a:t>
            </a:r>
            <a:r>
              <a:rPr lang="en-US" altLang="zh-CN" b="1" dirty="0" smtClean="0">
                <a:latin typeface="Times New Roman" panose="02020603050405020304" pitchFamily="18" charset="0"/>
              </a:rPr>
              <a:t>.</a:t>
            </a:r>
          </a:p>
          <a:p>
            <a:endParaRPr lang="zh-CN" altLang="en-US" dirty="0"/>
          </a:p>
        </p:txBody>
      </p:sp>
    </p:spTree>
    <p:extLst>
      <p:ext uri="{BB962C8B-B14F-4D97-AF65-F5344CB8AC3E}">
        <p14:creationId xmlns:p14="http://schemas.microsoft.com/office/powerpoint/2010/main" val="79477823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创建和打开</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创建和打开</a:t>
            </a:r>
          </a:p>
          <a:p>
            <a:pPr lvl="1" algn="just"/>
            <a:r>
              <a:rPr lang="en-US" altLang="zh-CN" b="1" dirty="0">
                <a:latin typeface="Times New Roman" panose="02020603050405020304" pitchFamily="18" charset="0"/>
              </a:rPr>
              <a:t>FILE *</a:t>
            </a:r>
            <a:r>
              <a:rPr lang="en-US" altLang="zh-CN" b="1" dirty="0" err="1">
                <a:latin typeface="Times New Roman" panose="02020603050405020304" pitchFamily="18" charset="0"/>
              </a:rPr>
              <a:t>fopen</a:t>
            </a:r>
            <a:r>
              <a:rPr lang="en-US" altLang="zh-CN" b="1" dirty="0">
                <a:latin typeface="Times New Roman" panose="02020603050405020304" pitchFamily="18" charset="0"/>
              </a:rPr>
              <a:t>(</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*path, </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*mode);</a:t>
            </a:r>
          </a:p>
          <a:p>
            <a:pPr lvl="1" algn="just"/>
            <a:r>
              <a:rPr lang="en-US" altLang="zh-CN" b="1" dirty="0" err="1">
                <a:latin typeface="Times New Roman" panose="02020603050405020304" pitchFamily="18" charset="0"/>
              </a:rPr>
              <a:t>fopen</a:t>
            </a:r>
            <a:r>
              <a:rPr lang="en-US" altLang="zh-CN" b="1" dirty="0">
                <a:latin typeface="Times New Roman" panose="02020603050405020304" pitchFamily="18" charset="0"/>
              </a:rPr>
              <a:t>()</a:t>
            </a:r>
            <a:r>
              <a:rPr lang="zh-CN" altLang="en-US" b="1" dirty="0">
                <a:latin typeface="Times New Roman" panose="02020603050405020304" pitchFamily="18" charset="0"/>
              </a:rPr>
              <a:t>实现打开指定文件，</a:t>
            </a:r>
            <a:r>
              <a:rPr lang="zh-CN" altLang="en-US" b="1" u="sng" dirty="0">
                <a:latin typeface="Times New Roman" panose="02020603050405020304" pitchFamily="18" charset="0"/>
              </a:rPr>
              <a:t>参数</a:t>
            </a:r>
            <a:r>
              <a:rPr lang="en-US" altLang="zh-CN" b="1" u="sng" dirty="0">
                <a:latin typeface="Times New Roman" panose="02020603050405020304" pitchFamily="18" charset="0"/>
              </a:rPr>
              <a:t>path</a:t>
            </a:r>
            <a:r>
              <a:rPr lang="zh-CN" altLang="en-US" b="1" dirty="0">
                <a:latin typeface="Times New Roman" panose="02020603050405020304" pitchFamily="18" charset="0"/>
              </a:rPr>
              <a:t>字符串包含欲打开的文件路径及文件名</a:t>
            </a:r>
            <a:r>
              <a:rPr lang="zh-CN" altLang="en-US"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mode</a:t>
            </a:r>
            <a:r>
              <a:rPr lang="zh-CN" altLang="en-US" b="1" dirty="0">
                <a:latin typeface="Times New Roman" panose="02020603050405020304" pitchFamily="18" charset="0"/>
              </a:rPr>
              <a:t>为打开模式</a:t>
            </a:r>
            <a:r>
              <a:rPr lang="en-US" altLang="zh-CN" b="1" dirty="0">
                <a:latin typeface="Times New Roman" panose="02020603050405020304" pitchFamily="18" charset="0"/>
              </a:rPr>
              <a:t>.</a:t>
            </a:r>
          </a:p>
          <a:p>
            <a:pPr lvl="1" algn="just"/>
            <a:r>
              <a:rPr lang="zh-CN" altLang="en-US" b="1" dirty="0">
                <a:latin typeface="Times New Roman" panose="02020603050405020304" pitchFamily="18" charset="0"/>
              </a:rPr>
              <a:t>返回值：文件指针名。必须被说明为</a:t>
            </a:r>
            <a:r>
              <a:rPr lang="en-US" altLang="zh-CN" b="1" dirty="0">
                <a:latin typeface="Times New Roman" panose="02020603050405020304" pitchFamily="18" charset="0"/>
              </a:rPr>
              <a:t>FILE</a:t>
            </a:r>
            <a:r>
              <a:rPr lang="zh-CN" altLang="en-US" b="1" dirty="0">
                <a:latin typeface="Times New Roman" panose="02020603050405020304" pitchFamily="18" charset="0"/>
              </a:rPr>
              <a:t>类型的指针变量 。</a:t>
            </a:r>
          </a:p>
          <a:p>
            <a:endParaRPr lang="zh-CN" altLang="en-US" dirty="0"/>
          </a:p>
        </p:txBody>
      </p:sp>
    </p:spTree>
    <p:extLst>
      <p:ext uri="{BB962C8B-B14F-4D97-AF65-F5344CB8AC3E}">
        <p14:creationId xmlns:p14="http://schemas.microsoft.com/office/powerpoint/2010/main" val="396931980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创建和打开</a:t>
            </a:r>
            <a:endParaRPr lang="zh-CN" altLang="en-US" dirty="0"/>
          </a:p>
        </p:txBody>
      </p:sp>
      <p:sp>
        <p:nvSpPr>
          <p:cNvPr id="3" name="内容占位符 2"/>
          <p:cNvSpPr>
            <a:spLocks noGrp="1"/>
          </p:cNvSpPr>
          <p:nvPr>
            <p:ph idx="1"/>
          </p:nvPr>
        </p:nvSpPr>
        <p:spPr/>
        <p:txBody>
          <a:bodyPr/>
          <a:lstStyle/>
          <a:p>
            <a:r>
              <a:rPr lang="en-US" altLang="zh-CN" b="1" dirty="0" smtClean="0">
                <a:latin typeface="Times New Roman" panose="02020603050405020304" pitchFamily="18" charset="0"/>
              </a:rPr>
              <a:t>C</a:t>
            </a:r>
            <a:r>
              <a:rPr lang="zh-CN" altLang="en-US" b="1" dirty="0" smtClean="0">
                <a:latin typeface="Times New Roman" panose="02020603050405020304" pitchFamily="18" charset="0"/>
              </a:rPr>
              <a:t>语言中支持的打开模式如下表，其中</a:t>
            </a:r>
            <a:r>
              <a:rPr lang="en-US" altLang="zh-CN" b="1" dirty="0" smtClean="0">
                <a:latin typeface="Times New Roman" panose="02020603050405020304" pitchFamily="18" charset="0"/>
              </a:rPr>
              <a:t>b</a:t>
            </a:r>
            <a:r>
              <a:rPr lang="zh-CN" altLang="en-US" b="1" dirty="0" smtClean="0">
                <a:latin typeface="Times New Roman" panose="02020603050405020304" pitchFamily="18" charset="0"/>
              </a:rPr>
              <a:t>用于区分二进制文件和文本文件，在</a:t>
            </a:r>
            <a:r>
              <a:rPr lang="en-US" altLang="zh-CN" b="1" dirty="0" smtClean="0">
                <a:latin typeface="Times New Roman" panose="02020603050405020304" pitchFamily="18" charset="0"/>
              </a:rPr>
              <a:t>DOS</a:t>
            </a:r>
            <a:r>
              <a:rPr lang="zh-CN" altLang="en-US" b="1" dirty="0" smtClean="0">
                <a:latin typeface="Times New Roman" panose="02020603050405020304" pitchFamily="18" charset="0"/>
              </a:rPr>
              <a:t>、</a:t>
            </a:r>
            <a:r>
              <a:rPr lang="en-US" altLang="zh-CN" b="1" dirty="0" smtClean="0">
                <a:latin typeface="Times New Roman" panose="02020603050405020304" pitchFamily="18" charset="0"/>
              </a:rPr>
              <a:t>Windows</a:t>
            </a:r>
            <a:r>
              <a:rPr lang="zh-CN" altLang="en-US" b="1" dirty="0" smtClean="0">
                <a:latin typeface="Times New Roman" panose="02020603050405020304" pitchFamily="18" charset="0"/>
              </a:rPr>
              <a:t>系统中是有区分的，但</a:t>
            </a:r>
            <a:r>
              <a:rPr lang="en-US" altLang="zh-CN" b="1" dirty="0" smtClean="0">
                <a:latin typeface="Times New Roman" panose="02020603050405020304" pitchFamily="18" charset="0"/>
              </a:rPr>
              <a:t>Linux</a:t>
            </a:r>
            <a:r>
              <a:rPr lang="zh-CN" altLang="en-US" b="1" dirty="0" smtClean="0">
                <a:latin typeface="Times New Roman" panose="02020603050405020304" pitchFamily="18" charset="0"/>
              </a:rPr>
              <a:t>不区分二进制文件和文本文件。</a:t>
            </a:r>
          </a:p>
          <a:p>
            <a:endParaRPr lang="zh-CN" altLang="en-US" dirty="0"/>
          </a:p>
        </p:txBody>
      </p:sp>
      <p:graphicFrame>
        <p:nvGraphicFramePr>
          <p:cNvPr id="4" name="Group 73"/>
          <p:cNvGraphicFramePr>
            <a:graphicFrameLocks/>
          </p:cNvGraphicFramePr>
          <p:nvPr>
            <p:extLst>
              <p:ext uri="{D42A27DB-BD31-4B8C-83A1-F6EECF244321}">
                <p14:modId xmlns:p14="http://schemas.microsoft.com/office/powerpoint/2010/main" val="56746963"/>
              </p:ext>
            </p:extLst>
          </p:nvPr>
        </p:nvGraphicFramePr>
        <p:xfrm>
          <a:off x="1985514" y="2785261"/>
          <a:ext cx="7777162" cy="3383280"/>
        </p:xfrm>
        <a:graphic>
          <a:graphicData uri="http://schemas.openxmlformats.org/drawingml/2006/table">
            <a:tbl>
              <a:tblPr/>
              <a:tblGrid>
                <a:gridCol w="1666875"/>
                <a:gridCol w="6110287"/>
              </a:tblGrid>
              <a:tr h="36036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标志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3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 rb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以只读方式打开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w, wb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以只写方式打开。如果文件不存在，则创建该文件，否则文件被截断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以追加方式打开。如果文件不存在，则创建该文件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 r+b, rb+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以读写方式打开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3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w+b, wh+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以读写方式打开。如果文件不存在时，创建新文件，否则文件被截断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a+b, 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以读和追加方式打开。如果文件不存在，创建新文件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84230012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读写</a:t>
            </a:r>
            <a:endParaRPr lang="zh-CN" altLang="en-US" dirty="0"/>
          </a:p>
        </p:txBody>
      </p:sp>
      <p:sp>
        <p:nvSpPr>
          <p:cNvPr id="3" name="内容占位符 2"/>
          <p:cNvSpPr>
            <a:spLocks noGrp="1"/>
          </p:cNvSpPr>
          <p:nvPr>
            <p:ph idx="1"/>
          </p:nvPr>
        </p:nvSpPr>
        <p:spPr/>
        <p:txBody>
          <a:bodyPr/>
          <a:lstStyle/>
          <a:p>
            <a:pPr algn="just"/>
            <a:r>
              <a:rPr lang="zh-CN" altLang="en-US" sz="2400" b="1" dirty="0" smtClean="0">
                <a:latin typeface="Times New Roman" panose="02020603050405020304" pitchFamily="18" charset="0"/>
              </a:rPr>
              <a:t>读写：</a:t>
            </a:r>
            <a:r>
              <a:rPr lang="en-US" altLang="zh-CN" sz="2400" b="1" dirty="0" smtClean="0">
                <a:latin typeface="Times New Roman" panose="02020603050405020304" pitchFamily="18" charset="0"/>
              </a:rPr>
              <a:t>C</a:t>
            </a:r>
            <a:r>
              <a:rPr lang="zh-CN" altLang="en-US" sz="2400" b="1" dirty="0" smtClean="0">
                <a:latin typeface="Times New Roman" panose="02020603050405020304" pitchFamily="18" charset="0"/>
              </a:rPr>
              <a:t>库函数支持以字符、字符串等为单位，支持按照某种格式进行文件的读写，这一组函数为：</a:t>
            </a:r>
          </a:p>
          <a:p>
            <a:pPr algn="just"/>
            <a:endParaRPr lang="zh-CN" altLang="en-US" sz="800" b="1" dirty="0" smtClean="0">
              <a:latin typeface="Times New Roman" panose="02020603050405020304" pitchFamily="18" charset="0"/>
            </a:endParaRP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fgetc</a:t>
            </a:r>
            <a:r>
              <a:rPr lang="en-US" altLang="zh-CN" b="1" dirty="0">
                <a:latin typeface="Times New Roman" panose="02020603050405020304" pitchFamily="18" charset="0"/>
              </a:rPr>
              <a:t>(FILE *stream);  </a:t>
            </a:r>
            <a:r>
              <a:rPr lang="zh-CN" altLang="en-US" b="1" dirty="0">
                <a:solidFill>
                  <a:srgbClr val="008000"/>
                </a:solidFill>
                <a:latin typeface="Times New Roman" panose="02020603050405020304" pitchFamily="18" charset="0"/>
              </a:rPr>
              <a:t>从流中读一个字符</a:t>
            </a: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fputc</a:t>
            </a:r>
            <a:r>
              <a:rPr lang="en-US" altLang="zh-CN" b="1" dirty="0">
                <a:latin typeface="Times New Roman" panose="02020603050405020304" pitchFamily="18" charset="0"/>
              </a:rPr>
              <a:t>(</a:t>
            </a:r>
            <a:r>
              <a:rPr lang="en-US" altLang="zh-CN" b="1" dirty="0" err="1">
                <a:latin typeface="Times New Roman" panose="02020603050405020304" pitchFamily="18" charset="0"/>
              </a:rPr>
              <a:t>int</a:t>
            </a:r>
            <a:r>
              <a:rPr lang="en-US" altLang="zh-CN" b="1" dirty="0">
                <a:latin typeface="Times New Roman" panose="02020603050405020304" pitchFamily="18" charset="0"/>
              </a:rPr>
              <a:t> c, FILE *stream);</a:t>
            </a:r>
            <a:r>
              <a:rPr lang="zh-CN" altLang="en-US" b="1" dirty="0">
                <a:solidFill>
                  <a:srgbClr val="008000"/>
                </a:solidFill>
                <a:latin typeface="Times New Roman" panose="02020603050405020304" pitchFamily="18" charset="0"/>
              </a:rPr>
              <a:t>送一个字符到流中</a:t>
            </a:r>
          </a:p>
          <a:p>
            <a:pPr lvl="1" algn="just"/>
            <a:r>
              <a:rPr lang="en-US" altLang="zh-CN" b="1" dirty="0">
                <a:latin typeface="Times New Roman" panose="02020603050405020304" pitchFamily="18" charset="0"/>
              </a:rPr>
              <a:t>char *</a:t>
            </a:r>
            <a:r>
              <a:rPr lang="en-US" altLang="zh-CN" b="1" dirty="0" err="1">
                <a:latin typeface="Times New Roman" panose="02020603050405020304" pitchFamily="18" charset="0"/>
              </a:rPr>
              <a:t>fgets</a:t>
            </a:r>
            <a:r>
              <a:rPr lang="en-US" altLang="zh-CN" b="1" dirty="0">
                <a:latin typeface="Times New Roman" panose="02020603050405020304" pitchFamily="18" charset="0"/>
              </a:rPr>
              <a:t>(char *s, </a:t>
            </a:r>
            <a:r>
              <a:rPr lang="en-US" altLang="zh-CN" b="1" dirty="0" err="1">
                <a:latin typeface="Times New Roman" panose="02020603050405020304" pitchFamily="18" charset="0"/>
              </a:rPr>
              <a:t>int</a:t>
            </a:r>
            <a:r>
              <a:rPr lang="en-US" altLang="zh-CN" b="1" dirty="0">
                <a:latin typeface="Times New Roman" panose="02020603050405020304" pitchFamily="18" charset="0"/>
              </a:rPr>
              <a:t> n, FILE *stream);</a:t>
            </a:r>
            <a:r>
              <a:rPr lang="zh-CN" altLang="en-US" b="1" dirty="0">
                <a:solidFill>
                  <a:srgbClr val="008000"/>
                </a:solidFill>
              </a:rPr>
              <a:t>从流中读取一字符串</a:t>
            </a:r>
            <a:r>
              <a:rPr lang="zh-CN" altLang="en-US" dirty="0">
                <a:solidFill>
                  <a:srgbClr val="008000"/>
                </a:solidFill>
              </a:rPr>
              <a:t> </a:t>
            </a:r>
            <a:endParaRPr lang="zh-CN" altLang="en-US" b="1" dirty="0">
              <a:solidFill>
                <a:srgbClr val="008000"/>
              </a:solidFill>
              <a:latin typeface="Times New Roman" panose="02020603050405020304" pitchFamily="18" charset="0"/>
            </a:endParaRPr>
          </a:p>
          <a:p>
            <a:pPr lvl="1" algn="just"/>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fputs</a:t>
            </a:r>
            <a:r>
              <a:rPr lang="en-US" altLang="zh-CN" b="1" dirty="0">
                <a:latin typeface="Times New Roman" panose="02020603050405020304" pitchFamily="18" charset="0"/>
              </a:rPr>
              <a:t>(</a:t>
            </a:r>
            <a:r>
              <a:rPr lang="en-US" altLang="zh-CN" b="1" dirty="0" err="1">
                <a:latin typeface="Times New Roman" panose="02020603050405020304" pitchFamily="18" charset="0"/>
              </a:rPr>
              <a:t>const</a:t>
            </a:r>
            <a:r>
              <a:rPr lang="en-US" altLang="zh-CN" b="1" dirty="0">
                <a:latin typeface="Times New Roman" panose="02020603050405020304" pitchFamily="18" charset="0"/>
              </a:rPr>
              <a:t> char *s, FILE *stream);</a:t>
            </a:r>
            <a:r>
              <a:rPr lang="zh-CN" altLang="en-US" b="1" dirty="0">
                <a:solidFill>
                  <a:srgbClr val="008000"/>
                </a:solidFill>
                <a:latin typeface="Times New Roman" panose="02020603050405020304" pitchFamily="18" charset="0"/>
              </a:rPr>
              <a:t>送一个字符串到流中</a:t>
            </a:r>
          </a:p>
          <a:p>
            <a:endParaRPr lang="zh-CN" altLang="en-US" dirty="0"/>
          </a:p>
        </p:txBody>
      </p:sp>
    </p:spTree>
    <p:extLst>
      <p:ext uri="{BB962C8B-B14F-4D97-AF65-F5344CB8AC3E}">
        <p14:creationId xmlns:p14="http://schemas.microsoft.com/office/powerpoint/2010/main" val="56221724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读写</a:t>
            </a:r>
            <a:endParaRPr lang="zh-CN" altLang="en-US" dirty="0"/>
          </a:p>
        </p:txBody>
      </p:sp>
      <p:sp>
        <p:nvSpPr>
          <p:cNvPr id="3" name="内容占位符 2"/>
          <p:cNvSpPr>
            <a:spLocks noGrp="1"/>
          </p:cNvSpPr>
          <p:nvPr>
            <p:ph idx="1"/>
          </p:nvPr>
        </p:nvSpPr>
        <p:spPr/>
        <p:txBody>
          <a:bodyPr/>
          <a:lstStyle/>
          <a:p>
            <a:pPr algn="just"/>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fprintf</a:t>
            </a:r>
            <a:r>
              <a:rPr lang="en-US" altLang="zh-CN" sz="2400" b="1" dirty="0" smtClean="0">
                <a:latin typeface="Times New Roman" panose="02020603050405020304" pitchFamily="18" charset="0"/>
              </a:rPr>
              <a:t>(FILE *stream, </a:t>
            </a:r>
            <a:r>
              <a:rPr lang="en-US" altLang="zh-CN" sz="2400" b="1" dirty="0" err="1" smtClean="0">
                <a:latin typeface="Times New Roman" panose="02020603050405020304" pitchFamily="18" charset="0"/>
              </a:rPr>
              <a:t>const</a:t>
            </a:r>
            <a:r>
              <a:rPr lang="en-US" altLang="zh-CN" sz="2400" b="1" dirty="0" smtClean="0">
                <a:latin typeface="Times New Roman" panose="02020603050405020304" pitchFamily="18" charset="0"/>
              </a:rPr>
              <a:t> char *format, ...);</a:t>
            </a:r>
          </a:p>
          <a:p>
            <a:pPr lvl="1"/>
            <a:r>
              <a:rPr lang="zh-CN" altLang="en-US" b="1" dirty="0">
                <a:latin typeface="Times New Roman" panose="02020603050405020304" pitchFamily="18" charset="0"/>
              </a:rPr>
              <a:t>传送格式化输出到一个文件中，成功时返回转换的字节数，失败时返回一个负数。</a:t>
            </a:r>
            <a:br>
              <a:rPr lang="zh-CN" altLang="en-US" b="1" dirty="0">
                <a:latin typeface="Times New Roman" panose="02020603050405020304" pitchFamily="18" charset="0"/>
              </a:rPr>
            </a:br>
            <a:r>
              <a:rPr lang="zh-CN" altLang="en-US" b="1" dirty="0">
                <a:latin typeface="Times New Roman" panose="02020603050405020304" pitchFamily="18" charset="0"/>
              </a:rPr>
              <a:t>    </a:t>
            </a:r>
            <a:r>
              <a:rPr lang="en-US" altLang="zh-CN" b="1" dirty="0" err="1">
                <a:latin typeface="Times New Roman" panose="02020603050405020304" pitchFamily="18" charset="0"/>
              </a:rPr>
              <a:t>fprintf</a:t>
            </a:r>
            <a:r>
              <a:rPr lang="en-US" altLang="zh-CN" b="1" dirty="0">
                <a:latin typeface="Times New Roman" panose="02020603050405020304" pitchFamily="18" charset="0"/>
              </a:rPr>
              <a:t>( stream, "%</a:t>
            </a:r>
            <a:r>
              <a:rPr lang="en-US" altLang="zh-CN" b="1" dirty="0" err="1">
                <a:latin typeface="Times New Roman" panose="02020603050405020304" pitchFamily="18" charset="0"/>
              </a:rPr>
              <a:t>s%c</a:t>
            </a:r>
            <a:r>
              <a:rPr lang="en-US" altLang="zh-CN" b="1" dirty="0">
                <a:latin typeface="Times New Roman" panose="02020603050405020304" pitchFamily="18" charset="0"/>
              </a:rPr>
              <a:t>", s, c ); </a:t>
            </a:r>
            <a:br>
              <a:rPr lang="en-US" altLang="zh-CN" b="1" dirty="0">
                <a:latin typeface="Times New Roman" panose="02020603050405020304" pitchFamily="18" charset="0"/>
              </a:rPr>
            </a:br>
            <a:r>
              <a:rPr lang="en-US" altLang="zh-CN" b="1" dirty="0">
                <a:latin typeface="Times New Roman" panose="02020603050405020304" pitchFamily="18" charset="0"/>
              </a:rPr>
              <a:t>    </a:t>
            </a:r>
            <a:r>
              <a:rPr lang="en-US" altLang="zh-CN" b="1" dirty="0" err="1">
                <a:latin typeface="Times New Roman" panose="02020603050405020304" pitchFamily="18" charset="0"/>
              </a:rPr>
              <a:t>fprintf</a:t>
            </a:r>
            <a:r>
              <a:rPr lang="en-US" altLang="zh-CN" b="1" dirty="0">
                <a:latin typeface="Times New Roman" panose="02020603050405020304" pitchFamily="18" charset="0"/>
              </a:rPr>
              <a:t>( stream, "%d\n", </a:t>
            </a:r>
            <a:r>
              <a:rPr lang="en-US" altLang="zh-CN" b="1" dirty="0" err="1">
                <a:latin typeface="Times New Roman" panose="02020603050405020304" pitchFamily="18" charset="0"/>
              </a:rPr>
              <a:t>i</a:t>
            </a:r>
            <a:r>
              <a:rPr lang="en-US" altLang="zh-CN" b="1" dirty="0">
                <a:latin typeface="Times New Roman" panose="02020603050405020304" pitchFamily="18" charset="0"/>
              </a:rPr>
              <a:t> ); </a:t>
            </a:r>
          </a:p>
          <a:p>
            <a:pPr algn="just"/>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fscanf</a:t>
            </a:r>
            <a:r>
              <a:rPr lang="en-US" altLang="zh-CN" sz="2400" b="1" dirty="0" smtClean="0">
                <a:latin typeface="Times New Roman" panose="02020603050405020304" pitchFamily="18" charset="0"/>
              </a:rPr>
              <a:t> (FILE *stream, </a:t>
            </a:r>
            <a:r>
              <a:rPr lang="en-US" altLang="zh-CN" sz="2400" b="1" dirty="0" err="1" smtClean="0">
                <a:latin typeface="Times New Roman" panose="02020603050405020304" pitchFamily="18" charset="0"/>
              </a:rPr>
              <a:t>const</a:t>
            </a:r>
            <a:r>
              <a:rPr lang="en-US" altLang="zh-CN" sz="2400" b="1" dirty="0" smtClean="0">
                <a:latin typeface="Times New Roman" panose="02020603050405020304" pitchFamily="18" charset="0"/>
              </a:rPr>
              <a:t> char *format, ...);</a:t>
            </a:r>
          </a:p>
          <a:p>
            <a:pPr lvl="1" algn="just"/>
            <a:r>
              <a:rPr lang="zh-CN" altLang="en-US" b="1" dirty="0">
                <a:latin typeface="Times New Roman" panose="02020603050405020304" pitchFamily="18" charset="0"/>
              </a:rPr>
              <a:t>从一个流中执行格式化输入</a:t>
            </a:r>
          </a:p>
          <a:p>
            <a:pPr lvl="1">
              <a:buFont typeface="Wingdings" panose="05000000000000000000" pitchFamily="2" charset="2"/>
              <a:buNone/>
            </a:pPr>
            <a:r>
              <a:rPr lang="zh-CN" altLang="en-US" b="1" dirty="0">
                <a:latin typeface="Times New Roman" panose="02020603050405020304" pitchFamily="18" charset="0"/>
              </a:rPr>
              <a:t>   </a:t>
            </a:r>
            <a:r>
              <a:rPr lang="en-US" altLang="zh-CN" b="1" dirty="0">
                <a:latin typeface="Times New Roman" panose="02020603050405020304" pitchFamily="18" charset="0"/>
              </a:rPr>
              <a:t>if (</a:t>
            </a:r>
            <a:r>
              <a:rPr lang="en-US" altLang="zh-CN" b="1" dirty="0" err="1">
                <a:latin typeface="Times New Roman" panose="02020603050405020304" pitchFamily="18" charset="0"/>
              </a:rPr>
              <a:t>fscanf</a:t>
            </a:r>
            <a:r>
              <a:rPr lang="en-US" altLang="zh-CN" b="1" dirty="0">
                <a:latin typeface="Times New Roman" panose="02020603050405020304" pitchFamily="18" charset="0"/>
              </a:rPr>
              <a:t>(</a:t>
            </a:r>
            <a:r>
              <a:rPr lang="en-US" altLang="zh-CN" b="1" dirty="0" err="1">
                <a:latin typeface="Times New Roman" panose="02020603050405020304" pitchFamily="18" charset="0"/>
              </a:rPr>
              <a:t>stdin</a:t>
            </a:r>
            <a:r>
              <a:rPr lang="en-US" altLang="zh-CN" b="1" dirty="0">
                <a:latin typeface="Times New Roman" panose="02020603050405020304" pitchFamily="18" charset="0"/>
              </a:rPr>
              <a:t>, "%d", &amp;</a:t>
            </a:r>
            <a:r>
              <a:rPr lang="en-US" altLang="zh-CN" b="1" dirty="0" err="1">
                <a:latin typeface="Times New Roman" panose="02020603050405020304" pitchFamily="18" charset="0"/>
              </a:rPr>
              <a:t>i</a:t>
            </a:r>
            <a:r>
              <a:rPr lang="en-US" altLang="zh-CN" b="1" dirty="0">
                <a:latin typeface="Times New Roman" panose="02020603050405020304" pitchFamily="18" charset="0"/>
              </a:rPr>
              <a:t>))</a:t>
            </a:r>
          </a:p>
          <a:p>
            <a:pPr lvl="1">
              <a:buFont typeface="Wingdings" panose="05000000000000000000" pitchFamily="2" charset="2"/>
              <a:buNone/>
            </a:pPr>
            <a:r>
              <a:rPr lang="en-US" altLang="zh-CN" b="1" dirty="0">
                <a:latin typeface="Times New Roman" panose="02020603050405020304" pitchFamily="18" charset="0"/>
              </a:rPr>
              <a:t>       </a:t>
            </a:r>
            <a:r>
              <a:rPr lang="en-US" altLang="zh-CN" b="1" dirty="0" err="1">
                <a:latin typeface="Times New Roman" panose="02020603050405020304" pitchFamily="18" charset="0"/>
              </a:rPr>
              <a:t>printf</a:t>
            </a:r>
            <a:r>
              <a:rPr lang="en-US" altLang="zh-CN" b="1" dirty="0">
                <a:latin typeface="Times New Roman" panose="02020603050405020304" pitchFamily="18" charset="0"/>
              </a:rPr>
              <a:t>("The integer read was: %d\n",</a:t>
            </a:r>
            <a:r>
              <a:rPr lang="en-US" altLang="zh-CN" b="1" dirty="0" err="1">
                <a:latin typeface="Times New Roman" panose="02020603050405020304" pitchFamily="18" charset="0"/>
              </a:rPr>
              <a:t>i</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b="1" dirty="0">
                <a:latin typeface="Times New Roman" panose="02020603050405020304" pitchFamily="18" charset="0"/>
              </a:rPr>
              <a:t/>
            </a:r>
            <a:br>
              <a:rPr lang="en-US" altLang="zh-CN" b="1" dirty="0">
                <a:latin typeface="Times New Roman" panose="02020603050405020304" pitchFamily="18" charset="0"/>
              </a:rPr>
            </a:br>
            <a:r>
              <a:rPr lang="en-US" altLang="zh-CN" b="1" dirty="0" smtClean="0">
                <a:latin typeface="Times New Roman" panose="02020603050405020304" pitchFamily="18" charset="0"/>
              </a:rPr>
              <a:t/>
            </a:r>
            <a:br>
              <a:rPr lang="en-US" altLang="zh-CN" b="1" dirty="0" smtClean="0">
                <a:latin typeface="Times New Roman" panose="02020603050405020304" pitchFamily="18" charset="0"/>
              </a:rPr>
            </a:br>
            <a:endParaRPr lang="en-US" altLang="zh-CN" b="1" dirty="0" smtClean="0">
              <a:latin typeface="Times New Roman" panose="02020603050405020304" pitchFamily="18" charset="0"/>
            </a:endParaRPr>
          </a:p>
          <a:p>
            <a:endParaRPr lang="zh-CN" altLang="en-US" dirty="0"/>
          </a:p>
        </p:txBody>
      </p:sp>
    </p:spTree>
    <p:extLst>
      <p:ext uri="{BB962C8B-B14F-4D97-AF65-F5344CB8AC3E}">
        <p14:creationId xmlns:p14="http://schemas.microsoft.com/office/powerpoint/2010/main" val="401090591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读写</a:t>
            </a:r>
            <a:endParaRPr lang="zh-CN" altLang="en-US" dirty="0"/>
          </a:p>
        </p:txBody>
      </p:sp>
      <p:sp>
        <p:nvSpPr>
          <p:cNvPr id="3" name="内容占位符 2"/>
          <p:cNvSpPr>
            <a:spLocks noGrp="1"/>
          </p:cNvSpPr>
          <p:nvPr>
            <p:ph idx="1"/>
          </p:nvPr>
        </p:nvSpPr>
        <p:spPr/>
        <p:txBody>
          <a:bodyPr/>
          <a:lstStyle/>
          <a:p>
            <a:pPr algn="just"/>
            <a:r>
              <a:rPr lang="zh-CN" altLang="en-US" b="1" dirty="0">
                <a:latin typeface="Times New Roman" panose="02020603050405020304" pitchFamily="18" charset="0"/>
              </a:rPr>
              <a:t>读写：</a:t>
            </a:r>
          </a:p>
          <a:p>
            <a:pPr lvl="1" algn="just"/>
            <a:r>
              <a:rPr lang="en-US" altLang="zh-CN" b="1" dirty="0" err="1">
                <a:latin typeface="Times New Roman" panose="02020603050405020304" pitchFamily="18" charset="0"/>
              </a:rPr>
              <a:t>size_t</a:t>
            </a:r>
            <a:r>
              <a:rPr lang="en-US" altLang="zh-CN" b="1" dirty="0">
                <a:latin typeface="Times New Roman" panose="02020603050405020304" pitchFamily="18" charset="0"/>
              </a:rPr>
              <a:t> </a:t>
            </a:r>
            <a:r>
              <a:rPr lang="en-US" altLang="zh-CN" b="1" dirty="0" err="1">
                <a:latin typeface="Times New Roman" panose="02020603050405020304" pitchFamily="18" charset="0"/>
              </a:rPr>
              <a:t>fread</a:t>
            </a:r>
            <a:r>
              <a:rPr lang="en-US" altLang="zh-CN" b="1" dirty="0">
                <a:latin typeface="Times New Roman" panose="02020603050405020304" pitchFamily="18" charset="0"/>
              </a:rPr>
              <a:t>(void *</a:t>
            </a:r>
            <a:r>
              <a:rPr lang="en-US" altLang="zh-CN" b="1" dirty="0" err="1">
                <a:latin typeface="Times New Roman" panose="02020603050405020304" pitchFamily="18" charset="0"/>
              </a:rPr>
              <a:t>ptr</a:t>
            </a:r>
            <a:r>
              <a:rPr lang="en-US" altLang="zh-CN" b="1" dirty="0">
                <a:latin typeface="Times New Roman" panose="02020603050405020304" pitchFamily="18" charset="0"/>
              </a:rPr>
              <a:t>, </a:t>
            </a:r>
            <a:r>
              <a:rPr lang="en-US" altLang="zh-CN" b="1" dirty="0" err="1">
                <a:latin typeface="Times New Roman" panose="02020603050405020304" pitchFamily="18" charset="0"/>
              </a:rPr>
              <a:t>size_t</a:t>
            </a:r>
            <a:r>
              <a:rPr lang="en-US" altLang="zh-CN" b="1" dirty="0">
                <a:latin typeface="Times New Roman" panose="02020603050405020304" pitchFamily="18" charset="0"/>
              </a:rPr>
              <a:t> size, </a:t>
            </a:r>
            <a:r>
              <a:rPr lang="en-US" altLang="zh-CN" b="1" dirty="0" err="1">
                <a:latin typeface="Times New Roman" panose="02020603050405020304" pitchFamily="18" charset="0"/>
              </a:rPr>
              <a:t>size_t</a:t>
            </a:r>
            <a:r>
              <a:rPr lang="en-US" altLang="zh-CN" b="1" dirty="0">
                <a:latin typeface="Times New Roman" panose="02020603050405020304" pitchFamily="18" charset="0"/>
              </a:rPr>
              <a:t> n, FILE *stream);</a:t>
            </a:r>
          </a:p>
          <a:p>
            <a:pPr lvl="1" algn="just"/>
            <a:r>
              <a:rPr lang="en-US" altLang="zh-CN" b="1" dirty="0" err="1">
                <a:latin typeface="Times New Roman" panose="02020603050405020304" pitchFamily="18" charset="0"/>
              </a:rPr>
              <a:t>size_t</a:t>
            </a:r>
            <a:r>
              <a:rPr lang="en-US" altLang="zh-CN" b="1" dirty="0">
                <a:latin typeface="Times New Roman" panose="02020603050405020304" pitchFamily="18" charset="0"/>
              </a:rPr>
              <a:t> </a:t>
            </a:r>
            <a:r>
              <a:rPr lang="en-US" altLang="zh-CN" b="1" dirty="0" err="1">
                <a:latin typeface="Times New Roman" panose="02020603050405020304" pitchFamily="18" charset="0"/>
              </a:rPr>
              <a:t>fwrite</a:t>
            </a:r>
            <a:r>
              <a:rPr lang="en-US" altLang="zh-CN" b="1" dirty="0">
                <a:latin typeface="Times New Roman" panose="02020603050405020304" pitchFamily="18" charset="0"/>
              </a:rPr>
              <a:t> (</a:t>
            </a:r>
            <a:r>
              <a:rPr lang="en-US" altLang="zh-CN" b="1" dirty="0" err="1">
                <a:latin typeface="Times New Roman" panose="02020603050405020304" pitchFamily="18" charset="0"/>
              </a:rPr>
              <a:t>const</a:t>
            </a:r>
            <a:r>
              <a:rPr lang="en-US" altLang="zh-CN" b="1" dirty="0">
                <a:latin typeface="Times New Roman" panose="02020603050405020304" pitchFamily="18" charset="0"/>
              </a:rPr>
              <a:t> void *</a:t>
            </a:r>
            <a:r>
              <a:rPr lang="en-US" altLang="zh-CN" b="1" dirty="0" err="1">
                <a:latin typeface="Times New Roman" panose="02020603050405020304" pitchFamily="18" charset="0"/>
              </a:rPr>
              <a:t>ptr</a:t>
            </a:r>
            <a:r>
              <a:rPr lang="en-US" altLang="zh-CN" b="1" dirty="0">
                <a:latin typeface="Times New Roman" panose="02020603050405020304" pitchFamily="18" charset="0"/>
              </a:rPr>
              <a:t>, </a:t>
            </a:r>
            <a:r>
              <a:rPr lang="en-US" altLang="zh-CN" b="1" dirty="0" err="1">
                <a:latin typeface="Times New Roman" panose="02020603050405020304" pitchFamily="18" charset="0"/>
              </a:rPr>
              <a:t>size_t</a:t>
            </a:r>
            <a:r>
              <a:rPr lang="en-US" altLang="zh-CN" b="1" dirty="0">
                <a:latin typeface="Times New Roman" panose="02020603050405020304" pitchFamily="18" charset="0"/>
              </a:rPr>
              <a:t> size, </a:t>
            </a:r>
            <a:r>
              <a:rPr lang="en-US" altLang="zh-CN" b="1" dirty="0" err="1">
                <a:latin typeface="Times New Roman" panose="02020603050405020304" pitchFamily="18" charset="0"/>
              </a:rPr>
              <a:t>size_t</a:t>
            </a:r>
            <a:r>
              <a:rPr lang="en-US" altLang="zh-CN" b="1" dirty="0">
                <a:latin typeface="Times New Roman" panose="02020603050405020304" pitchFamily="18" charset="0"/>
              </a:rPr>
              <a:t> n, FILE *stream);</a:t>
            </a:r>
          </a:p>
          <a:p>
            <a:pPr lvl="2" algn="just">
              <a:lnSpc>
                <a:spcPct val="120000"/>
              </a:lnSpc>
            </a:pPr>
            <a:r>
              <a:rPr lang="en-US" altLang="zh-CN" sz="2200" b="1" dirty="0" err="1" smtClean="0">
                <a:latin typeface="Times New Roman" panose="02020603050405020304" pitchFamily="18" charset="0"/>
              </a:rPr>
              <a:t>fread</a:t>
            </a:r>
            <a:r>
              <a:rPr lang="en-US" altLang="zh-CN" sz="2200" b="1" dirty="0" smtClean="0">
                <a:latin typeface="Times New Roman" panose="02020603050405020304" pitchFamily="18" charset="0"/>
              </a:rPr>
              <a:t>()</a:t>
            </a:r>
            <a:r>
              <a:rPr lang="zh-CN" altLang="en-US" sz="2200" b="1" dirty="0" smtClean="0">
                <a:latin typeface="Times New Roman" panose="02020603050405020304" pitchFamily="18" charset="0"/>
              </a:rPr>
              <a:t>实现从流</a:t>
            </a:r>
            <a:r>
              <a:rPr lang="en-US" altLang="zh-CN" sz="2200" b="1" dirty="0" smtClean="0">
                <a:latin typeface="Times New Roman" panose="02020603050405020304" pitchFamily="18" charset="0"/>
              </a:rPr>
              <a:t>stream</a:t>
            </a:r>
            <a:r>
              <a:rPr lang="zh-CN" altLang="en-US" sz="2200" b="1" dirty="0" smtClean="0">
                <a:latin typeface="Times New Roman" panose="02020603050405020304" pitchFamily="18" charset="0"/>
              </a:rPr>
              <a:t>中读取</a:t>
            </a:r>
            <a:r>
              <a:rPr lang="en-US" altLang="zh-CN" sz="2200" b="1" dirty="0" smtClean="0">
                <a:latin typeface="Times New Roman" panose="02020603050405020304" pitchFamily="18" charset="0"/>
              </a:rPr>
              <a:t>n</a:t>
            </a:r>
            <a:r>
              <a:rPr lang="zh-CN" altLang="en-US" sz="2200" b="1" dirty="0" smtClean="0">
                <a:latin typeface="Times New Roman" panose="02020603050405020304" pitchFamily="18" charset="0"/>
              </a:rPr>
              <a:t>个字段，每个字段为</a:t>
            </a:r>
            <a:r>
              <a:rPr lang="en-US" altLang="zh-CN" sz="2200" b="1" dirty="0" smtClean="0">
                <a:latin typeface="Times New Roman" panose="02020603050405020304" pitchFamily="18" charset="0"/>
              </a:rPr>
              <a:t>size</a:t>
            </a:r>
            <a:r>
              <a:rPr lang="zh-CN" altLang="en-US" sz="2200" b="1" dirty="0" smtClean="0">
                <a:latin typeface="Times New Roman" panose="02020603050405020304" pitchFamily="18" charset="0"/>
              </a:rPr>
              <a:t>字节，并将读取的字段放入</a:t>
            </a:r>
            <a:r>
              <a:rPr lang="en-US" altLang="zh-CN" sz="2200" b="1" dirty="0" err="1" smtClean="0">
                <a:latin typeface="Times New Roman" panose="02020603050405020304" pitchFamily="18" charset="0"/>
              </a:rPr>
              <a:t>ptr</a:t>
            </a:r>
            <a:r>
              <a:rPr lang="zh-CN" altLang="en-US" sz="2200" b="1" dirty="0" smtClean="0">
                <a:latin typeface="Times New Roman" panose="02020603050405020304" pitchFamily="18" charset="0"/>
              </a:rPr>
              <a:t>所指的字符数组中，返回实际已读取的字段数。</a:t>
            </a:r>
          </a:p>
          <a:p>
            <a:pPr lvl="2" algn="just">
              <a:lnSpc>
                <a:spcPct val="120000"/>
              </a:lnSpc>
            </a:pPr>
            <a:r>
              <a:rPr lang="en-US" altLang="zh-CN" sz="2200" b="1" dirty="0" smtClean="0">
                <a:latin typeface="Times New Roman" panose="02020603050405020304" pitchFamily="18" charset="0"/>
              </a:rPr>
              <a:t>write()</a:t>
            </a:r>
            <a:r>
              <a:rPr lang="zh-CN" altLang="en-US" sz="2200" b="1" dirty="0" smtClean="0">
                <a:latin typeface="Times New Roman" panose="02020603050405020304" pitchFamily="18" charset="0"/>
              </a:rPr>
              <a:t>实现从缓冲区</a:t>
            </a:r>
            <a:r>
              <a:rPr lang="en-US" altLang="zh-CN" sz="2200" b="1" dirty="0" err="1" smtClean="0">
                <a:latin typeface="Times New Roman" panose="02020603050405020304" pitchFamily="18" charset="0"/>
              </a:rPr>
              <a:t>ptr</a:t>
            </a:r>
            <a:r>
              <a:rPr lang="zh-CN" altLang="en-US" sz="2200" b="1" dirty="0" smtClean="0">
                <a:latin typeface="Times New Roman" panose="02020603050405020304" pitchFamily="18" charset="0"/>
              </a:rPr>
              <a:t>所指的数组中把</a:t>
            </a:r>
            <a:r>
              <a:rPr lang="en-US" altLang="zh-CN" sz="2200" b="1" dirty="0" smtClean="0">
                <a:latin typeface="Times New Roman" panose="02020603050405020304" pitchFamily="18" charset="0"/>
              </a:rPr>
              <a:t>n</a:t>
            </a:r>
            <a:r>
              <a:rPr lang="zh-CN" altLang="en-US" sz="2200" b="1" dirty="0" smtClean="0">
                <a:latin typeface="Times New Roman" panose="02020603050405020304" pitchFamily="18" charset="0"/>
              </a:rPr>
              <a:t>个字段写到流</a:t>
            </a:r>
            <a:r>
              <a:rPr lang="en-US" altLang="zh-CN" sz="2200" b="1" dirty="0" smtClean="0">
                <a:latin typeface="Times New Roman" panose="02020603050405020304" pitchFamily="18" charset="0"/>
              </a:rPr>
              <a:t>stream</a:t>
            </a:r>
            <a:r>
              <a:rPr lang="zh-CN" altLang="en-US" sz="2200" b="1" dirty="0" smtClean="0">
                <a:latin typeface="Times New Roman" panose="02020603050405020304" pitchFamily="18" charset="0"/>
              </a:rPr>
              <a:t>中，每个字段长为</a:t>
            </a:r>
            <a:r>
              <a:rPr lang="en-US" altLang="zh-CN" sz="2200" b="1" dirty="0" smtClean="0">
                <a:latin typeface="Times New Roman" panose="02020603050405020304" pitchFamily="18" charset="0"/>
              </a:rPr>
              <a:t>size</a:t>
            </a:r>
            <a:r>
              <a:rPr lang="zh-CN" altLang="en-US" sz="2200" b="1" dirty="0" smtClean="0">
                <a:latin typeface="Times New Roman" panose="02020603050405020304" pitchFamily="18" charset="0"/>
              </a:rPr>
              <a:t>个字节，返回实际写入的字段数。</a:t>
            </a:r>
            <a:endParaRPr lang="zh-CN" altLang="en-US" sz="2200" b="1" dirty="0" smtClean="0"/>
          </a:p>
          <a:p>
            <a:endParaRPr lang="zh-CN" altLang="en-US" dirty="0"/>
          </a:p>
        </p:txBody>
      </p:sp>
    </p:spTree>
    <p:extLst>
      <p:ext uri="{BB962C8B-B14F-4D97-AF65-F5344CB8AC3E}">
        <p14:creationId xmlns:p14="http://schemas.microsoft.com/office/powerpoint/2010/main" val="1658027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定位</a:t>
            </a:r>
            <a:endParaRPr lang="zh-CN" altLang="en-US" dirty="0"/>
          </a:p>
        </p:txBody>
      </p:sp>
      <p:sp>
        <p:nvSpPr>
          <p:cNvPr id="3" name="内容占位符 2"/>
          <p:cNvSpPr>
            <a:spLocks noGrp="1"/>
          </p:cNvSpPr>
          <p:nvPr>
            <p:ph idx="1"/>
          </p:nvPr>
        </p:nvSpPr>
        <p:spPr/>
        <p:txBody>
          <a:bodyPr/>
          <a:lstStyle/>
          <a:p>
            <a:pPr algn="just">
              <a:lnSpc>
                <a:spcPct val="120000"/>
              </a:lnSpc>
            </a:pPr>
            <a:r>
              <a:rPr lang="zh-CN" altLang="en-US" sz="2200" b="1" dirty="0" smtClean="0">
                <a:latin typeface="Times New Roman" panose="02020603050405020304" pitchFamily="18" charset="0"/>
              </a:rPr>
              <a:t>定位 ：</a:t>
            </a:r>
            <a:r>
              <a:rPr lang="en-US" altLang="zh-CN" sz="2200" b="1" dirty="0" smtClean="0">
                <a:latin typeface="Times New Roman" panose="02020603050405020304" pitchFamily="18" charset="0"/>
              </a:rPr>
              <a:t>C</a:t>
            </a:r>
            <a:r>
              <a:rPr lang="zh-CN" altLang="en-US" sz="2200" b="1" dirty="0" smtClean="0">
                <a:latin typeface="Times New Roman" panose="02020603050405020304" pitchFamily="18" charset="0"/>
              </a:rPr>
              <a:t>库函数还提供了读写过程中的定位能力，这些函数包括：</a:t>
            </a:r>
          </a:p>
          <a:p>
            <a:pPr lvl="1" algn="just">
              <a:lnSpc>
                <a:spcPct val="120000"/>
              </a:lnSpc>
            </a:pP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fgetpos</a:t>
            </a:r>
            <a:r>
              <a:rPr lang="en-US" altLang="zh-CN" sz="2200" b="1" dirty="0" smtClean="0">
                <a:latin typeface="Times New Roman" panose="02020603050405020304" pitchFamily="18" charset="0"/>
              </a:rPr>
              <a:t>(FILE *stream, </a:t>
            </a:r>
            <a:r>
              <a:rPr lang="en-US" altLang="zh-CN" sz="2200" b="1" dirty="0" err="1" smtClean="0">
                <a:latin typeface="Times New Roman" panose="02020603050405020304" pitchFamily="18" charset="0"/>
              </a:rPr>
              <a:t>fpos_t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pos</a:t>
            </a:r>
            <a:r>
              <a:rPr lang="en-US" altLang="zh-CN" sz="2200" b="1" dirty="0" smtClean="0">
                <a:latin typeface="Times New Roman" panose="02020603050405020304" pitchFamily="18" charset="0"/>
              </a:rPr>
              <a:t>); </a:t>
            </a:r>
          </a:p>
          <a:p>
            <a:pPr lvl="1" algn="just">
              <a:lnSpc>
                <a:spcPct val="120000"/>
              </a:lnSpc>
              <a:buFont typeface="Wingdings" panose="05000000000000000000" pitchFamily="2" charset="2"/>
              <a:buNone/>
            </a:pPr>
            <a:r>
              <a:rPr lang="en-US" altLang="zh-CN" sz="2200" b="1" dirty="0" smtClean="0">
                <a:latin typeface="Times New Roman" panose="02020603050405020304" pitchFamily="18" charset="0"/>
              </a:rPr>
              <a:t>//</a:t>
            </a:r>
            <a:r>
              <a:rPr lang="zh-CN" altLang="en-US" sz="2200" b="1" dirty="0" smtClean="0">
                <a:solidFill>
                  <a:srgbClr val="008000"/>
                </a:solidFill>
                <a:latin typeface="Times New Roman" panose="02020603050405020304" pitchFamily="18" charset="0"/>
              </a:rPr>
              <a:t>将文件流的文件位置指示符存储在</a:t>
            </a:r>
            <a:r>
              <a:rPr lang="en-US" altLang="zh-CN" sz="2200" b="1" dirty="0" err="1" smtClean="0">
                <a:solidFill>
                  <a:srgbClr val="008000"/>
                </a:solidFill>
                <a:latin typeface="Times New Roman" panose="02020603050405020304" pitchFamily="18" charset="0"/>
              </a:rPr>
              <a:t>pos</a:t>
            </a:r>
            <a:r>
              <a:rPr lang="zh-CN" altLang="en-US" sz="2200" b="1" dirty="0" smtClean="0">
                <a:solidFill>
                  <a:srgbClr val="008000"/>
                </a:solidFill>
                <a:latin typeface="Times New Roman" panose="02020603050405020304" pitchFamily="18" charset="0"/>
              </a:rPr>
              <a:t>变量中</a:t>
            </a:r>
            <a:endParaRPr lang="zh-CN" altLang="en-US" sz="2200" b="1" dirty="0" smtClean="0">
              <a:latin typeface="Times New Roman" panose="02020603050405020304" pitchFamily="18" charset="0"/>
            </a:endParaRPr>
          </a:p>
          <a:p>
            <a:pPr lvl="1" algn="just">
              <a:lnSpc>
                <a:spcPct val="120000"/>
              </a:lnSpc>
            </a:pPr>
            <a:r>
              <a:rPr lang="en-US" altLang="zh-CN" sz="2200" b="1" dirty="0" err="1" smtClean="0">
                <a:latin typeface="Times New Roman" panose="02020603050405020304" pitchFamily="18" charset="0"/>
              </a:rPr>
              <a:t>int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fsetpos</a:t>
            </a:r>
            <a:r>
              <a:rPr lang="en-US" altLang="zh-CN" sz="2200" b="1" dirty="0" smtClean="0">
                <a:latin typeface="Times New Roman" panose="02020603050405020304" pitchFamily="18" charset="0"/>
              </a:rPr>
              <a:t>(FILE *stream, </a:t>
            </a:r>
            <a:r>
              <a:rPr lang="en-US" altLang="zh-CN" sz="2200" b="1" dirty="0" err="1" smtClean="0">
                <a:latin typeface="Times New Roman" panose="02020603050405020304" pitchFamily="18" charset="0"/>
              </a:rPr>
              <a:t>const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fpos_t</a:t>
            </a:r>
            <a:r>
              <a:rPr lang="en-US" altLang="zh-CN" sz="2200" b="1" dirty="0" smtClean="0">
                <a:latin typeface="Times New Roman" panose="02020603050405020304" pitchFamily="18" charset="0"/>
              </a:rPr>
              <a:t> *</a:t>
            </a:r>
            <a:r>
              <a:rPr lang="en-US" altLang="zh-CN" sz="2200" b="1" dirty="0" err="1" smtClean="0">
                <a:latin typeface="Times New Roman" panose="02020603050405020304" pitchFamily="18" charset="0"/>
              </a:rPr>
              <a:t>pos</a:t>
            </a:r>
            <a:r>
              <a:rPr lang="en-US" altLang="zh-CN" sz="2200" b="1" dirty="0" smtClean="0">
                <a:solidFill>
                  <a:srgbClr val="008000"/>
                </a:solidFill>
                <a:latin typeface="Times New Roman" panose="02020603050405020304" pitchFamily="18" charset="0"/>
              </a:rPr>
              <a:t>);</a:t>
            </a:r>
          </a:p>
          <a:p>
            <a:pPr lvl="1" algn="just">
              <a:lnSpc>
                <a:spcPct val="120000"/>
              </a:lnSpc>
              <a:buFont typeface="Wingdings" panose="05000000000000000000" pitchFamily="2" charset="2"/>
              <a:buNone/>
            </a:pPr>
            <a:r>
              <a:rPr lang="en-US" altLang="zh-CN" sz="2200" b="1" dirty="0" smtClean="0">
                <a:latin typeface="Times New Roman" panose="02020603050405020304" pitchFamily="18" charset="0"/>
              </a:rPr>
              <a:t>//</a:t>
            </a:r>
            <a:r>
              <a:rPr lang="zh-CN" altLang="en-US" sz="2200" b="1" dirty="0" smtClean="0">
                <a:solidFill>
                  <a:srgbClr val="008000"/>
                </a:solidFill>
                <a:latin typeface="Times New Roman" panose="02020603050405020304" pitchFamily="18" charset="0"/>
              </a:rPr>
              <a:t>将文件指针定位在</a:t>
            </a:r>
            <a:r>
              <a:rPr lang="en-US" altLang="zh-CN" sz="2200" b="1" dirty="0" err="1" smtClean="0">
                <a:solidFill>
                  <a:srgbClr val="008000"/>
                </a:solidFill>
                <a:latin typeface="Times New Roman" panose="02020603050405020304" pitchFamily="18" charset="0"/>
              </a:rPr>
              <a:t>pos</a:t>
            </a:r>
            <a:r>
              <a:rPr lang="zh-CN" altLang="en-US" sz="2200" b="1" dirty="0" smtClean="0">
                <a:solidFill>
                  <a:srgbClr val="008000"/>
                </a:solidFill>
                <a:latin typeface="Times New Roman" panose="02020603050405020304" pitchFamily="18" charset="0"/>
              </a:rPr>
              <a:t>指定的位置上 </a:t>
            </a:r>
          </a:p>
          <a:p>
            <a:pPr lvl="1" algn="just">
              <a:lnSpc>
                <a:spcPct val="120000"/>
              </a:lnSpc>
            </a:pPr>
            <a:endParaRPr lang="zh-CN" altLang="en-US" sz="2200" b="1" dirty="0" smtClean="0">
              <a:latin typeface="Times New Roman" panose="02020603050405020304" pitchFamily="18" charset="0"/>
            </a:endParaRPr>
          </a:p>
          <a:p>
            <a:pPr algn="just">
              <a:lnSpc>
                <a:spcPct val="120000"/>
              </a:lnSpc>
            </a:pPr>
            <a:r>
              <a:rPr lang="zh-CN" altLang="en-US" sz="2200" b="1" dirty="0" smtClean="0">
                <a:latin typeface="Times New Roman" panose="02020603050405020304" pitchFamily="18" charset="0"/>
              </a:rPr>
              <a:t>返回值：成功返回</a:t>
            </a:r>
            <a:r>
              <a:rPr lang="en-US" altLang="zh-CN" sz="2200" b="1" dirty="0" smtClean="0">
                <a:latin typeface="Times New Roman" panose="02020603050405020304" pitchFamily="18" charset="0"/>
              </a:rPr>
              <a:t>0</a:t>
            </a:r>
            <a:r>
              <a:rPr lang="zh-CN" altLang="en-US" sz="2200" b="1" dirty="0" smtClean="0">
                <a:latin typeface="Times New Roman" panose="02020603050405020304" pitchFamily="18" charset="0"/>
              </a:rPr>
              <a:t>，否则返回非</a:t>
            </a:r>
            <a:r>
              <a:rPr lang="en-US" altLang="zh-CN" sz="2200" b="1" dirty="0" smtClean="0">
                <a:latin typeface="Times New Roman" panose="02020603050405020304" pitchFamily="18" charset="0"/>
              </a:rPr>
              <a:t>0</a:t>
            </a:r>
            <a:r>
              <a:rPr lang="zh-CN" altLang="en-US" sz="2200" b="1" dirty="0" smtClean="0">
                <a:latin typeface="Times New Roman" panose="02020603050405020304" pitchFamily="18" charset="0"/>
              </a:rPr>
              <a:t>。</a:t>
            </a:r>
          </a:p>
          <a:p>
            <a:endParaRPr lang="zh-CN" altLang="en-US" dirty="0"/>
          </a:p>
        </p:txBody>
      </p:sp>
    </p:spTree>
    <p:extLst>
      <p:ext uri="{BB962C8B-B14F-4D97-AF65-F5344CB8AC3E}">
        <p14:creationId xmlns:p14="http://schemas.microsoft.com/office/powerpoint/2010/main" val="224675643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定位实例</a:t>
            </a:r>
            <a:endParaRPr lang="zh-CN" altLang="en-US" dirty="0"/>
          </a:p>
        </p:txBody>
      </p:sp>
      <p:sp>
        <p:nvSpPr>
          <p:cNvPr id="3" name="内容占位符 2"/>
          <p:cNvSpPr>
            <a:spLocks noGrp="1"/>
          </p:cNvSpPr>
          <p:nvPr>
            <p:ph idx="1"/>
          </p:nvPr>
        </p:nvSpPr>
        <p:spPr>
          <a:xfrm>
            <a:off x="456127" y="1352282"/>
            <a:ext cx="5639873" cy="5505718"/>
          </a:xfrm>
        </p:spPr>
        <p:txBody>
          <a:bodyPr>
            <a:normAutofit fontScale="47500" lnSpcReduction="20000"/>
          </a:bodyPr>
          <a:lstStyle/>
          <a:p>
            <a:pPr marL="0" indent="0">
              <a:buNone/>
            </a:pPr>
            <a:r>
              <a:rPr lang="en-US" altLang="zh-CN" sz="4000" b="1" dirty="0" smtClean="0">
                <a:latin typeface="Times New Roman" panose="02020603050405020304" pitchFamily="18" charset="0"/>
              </a:rPr>
              <a:t>#include &lt;</a:t>
            </a:r>
            <a:r>
              <a:rPr lang="en-US" altLang="zh-CN" sz="4000" b="1" dirty="0" err="1" smtClean="0">
                <a:latin typeface="Times New Roman" panose="02020603050405020304" pitchFamily="18" charset="0"/>
              </a:rPr>
              <a:t>stdio.h</a:t>
            </a:r>
            <a:r>
              <a:rPr lang="en-US" altLang="zh-CN" sz="4000" b="1" dirty="0" smtClean="0">
                <a:latin typeface="Times New Roman" panose="02020603050405020304" pitchFamily="18" charset="0"/>
              </a:rPr>
              <a:t>&gt;</a:t>
            </a:r>
          </a:p>
          <a:p>
            <a:pPr marL="0" indent="0">
              <a:buNone/>
            </a:pPr>
            <a:r>
              <a:rPr lang="en-US" altLang="zh-CN" sz="4000" b="1" dirty="0" smtClean="0">
                <a:latin typeface="Times New Roman" panose="02020603050405020304" pitchFamily="18" charset="0"/>
              </a:rPr>
              <a:t>void main( void )</a:t>
            </a:r>
          </a:p>
          <a:p>
            <a:pPr marL="0" indent="0">
              <a:buNone/>
            </a:pPr>
            <a:r>
              <a:rPr lang="en-US" altLang="zh-CN" sz="4000" b="1" dirty="0" smtClean="0">
                <a:latin typeface="Times New Roman" panose="02020603050405020304" pitchFamily="18" charset="0"/>
              </a:rPr>
              <a:t>{</a:t>
            </a:r>
          </a:p>
          <a:p>
            <a:pPr marL="0" indent="0">
              <a:buNone/>
            </a:pPr>
            <a:r>
              <a:rPr lang="en-US" altLang="zh-CN" sz="4000" b="1" dirty="0" smtClean="0">
                <a:latin typeface="Times New Roman" panose="02020603050405020304" pitchFamily="18" charset="0"/>
              </a:rPr>
              <a:t>   FILE   *</a:t>
            </a:r>
            <a:r>
              <a:rPr lang="en-US" altLang="zh-CN" sz="4000" b="1" dirty="0" err="1" smtClean="0">
                <a:latin typeface="Times New Roman" panose="02020603050405020304" pitchFamily="18" charset="0"/>
              </a:rPr>
              <a:t>fp</a:t>
            </a:r>
            <a:r>
              <a:rPr lang="en-US" altLang="zh-CN" sz="4000" b="1" dirty="0" smtClean="0">
                <a:latin typeface="Times New Roman" panose="02020603050405020304" pitchFamily="18" charset="0"/>
              </a:rPr>
              <a:t>;</a:t>
            </a:r>
          </a:p>
          <a:p>
            <a:pPr marL="0" indent="0">
              <a:buNone/>
            </a:pP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fpos_t</a:t>
            </a: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pos</a:t>
            </a:r>
            <a:r>
              <a:rPr lang="en-US" altLang="zh-CN" sz="4000" b="1" dirty="0" smtClean="0">
                <a:latin typeface="Times New Roman" panose="02020603050405020304" pitchFamily="18" charset="0"/>
              </a:rPr>
              <a:t>;</a:t>
            </a:r>
          </a:p>
          <a:p>
            <a:pPr marL="0" indent="0">
              <a:buNone/>
            </a:pPr>
            <a:r>
              <a:rPr lang="en-US" altLang="zh-CN" sz="4000" b="1" dirty="0" smtClean="0">
                <a:latin typeface="Times New Roman" panose="02020603050405020304" pitchFamily="18" charset="0"/>
              </a:rPr>
              <a:t>   char   buffer[50];</a:t>
            </a:r>
          </a:p>
          <a:p>
            <a:pPr marL="0" indent="0">
              <a:buNone/>
            </a:pPr>
            <a:r>
              <a:rPr lang="en-US" altLang="zh-CN" sz="4000" b="1" dirty="0" smtClean="0">
                <a:latin typeface="Times New Roman" panose="02020603050405020304" pitchFamily="18" charset="0"/>
              </a:rPr>
              <a:t>   if( (</a:t>
            </a:r>
            <a:r>
              <a:rPr lang="en-US" altLang="zh-CN" sz="4000" b="1" dirty="0" err="1" smtClean="0">
                <a:latin typeface="Times New Roman" panose="02020603050405020304" pitchFamily="18" charset="0"/>
              </a:rPr>
              <a:t>fp</a:t>
            </a:r>
            <a:r>
              <a:rPr lang="en-US" altLang="zh-CN" sz="4000" b="1" dirty="0" smtClean="0">
                <a:latin typeface="Times New Roman" panose="02020603050405020304" pitchFamily="18" charset="0"/>
              </a:rPr>
              <a:t> = </a:t>
            </a:r>
            <a:r>
              <a:rPr lang="en-US" altLang="zh-CN" sz="4000" b="1" dirty="0" err="1" smtClean="0">
                <a:latin typeface="Times New Roman" panose="02020603050405020304" pitchFamily="18" charset="0"/>
              </a:rPr>
              <a:t>fopen</a:t>
            </a:r>
            <a:r>
              <a:rPr lang="en-US" altLang="zh-CN" sz="4000" b="1" dirty="0" smtClean="0">
                <a:latin typeface="Times New Roman" panose="02020603050405020304" pitchFamily="18" charset="0"/>
              </a:rPr>
              <a:t>( "test.txt", "</a:t>
            </a:r>
            <a:r>
              <a:rPr lang="en-US" altLang="zh-CN" sz="4000" b="1" dirty="0" err="1" smtClean="0">
                <a:latin typeface="Times New Roman" panose="02020603050405020304" pitchFamily="18" charset="0"/>
              </a:rPr>
              <a:t>rb</a:t>
            </a:r>
            <a:r>
              <a:rPr lang="en-US" altLang="zh-CN" sz="4000" b="1" dirty="0" smtClean="0">
                <a:latin typeface="Times New Roman" panose="02020603050405020304" pitchFamily="18" charset="0"/>
              </a:rPr>
              <a:t>" )) == NULL ) </a:t>
            </a:r>
            <a:r>
              <a:rPr lang="en-US" altLang="zh-CN" sz="4000" b="1" dirty="0" smtClean="0">
                <a:solidFill>
                  <a:schemeClr val="folHlink"/>
                </a:solidFill>
                <a:latin typeface="Times New Roman" panose="02020603050405020304" pitchFamily="18" charset="0"/>
              </a:rPr>
              <a:t>/*</a:t>
            </a:r>
            <a:r>
              <a:rPr lang="zh-CN" altLang="en-US" sz="4000" b="1" dirty="0" smtClean="0">
                <a:solidFill>
                  <a:schemeClr val="folHlink"/>
                </a:solidFill>
                <a:latin typeface="Times New Roman" panose="02020603050405020304" pitchFamily="18" charset="0"/>
              </a:rPr>
              <a:t>以只读方式打开名为</a:t>
            </a:r>
            <a:r>
              <a:rPr lang="en-US" altLang="zh-CN" sz="4000" b="1" dirty="0" smtClean="0">
                <a:solidFill>
                  <a:schemeClr val="folHlink"/>
                </a:solidFill>
                <a:latin typeface="Times New Roman" panose="02020603050405020304" pitchFamily="18" charset="0"/>
              </a:rPr>
              <a:t>test.txt</a:t>
            </a:r>
            <a:r>
              <a:rPr lang="zh-CN" altLang="en-US" sz="4000" b="1" dirty="0" smtClean="0">
                <a:solidFill>
                  <a:schemeClr val="folHlink"/>
                </a:solidFill>
                <a:latin typeface="Times New Roman" panose="02020603050405020304" pitchFamily="18" charset="0"/>
              </a:rPr>
              <a:t>的文件*</a:t>
            </a:r>
            <a:r>
              <a:rPr lang="en-US" altLang="zh-CN" sz="4000" b="1" dirty="0" smtClean="0">
                <a:solidFill>
                  <a:schemeClr val="folHlink"/>
                </a:solidFill>
                <a:latin typeface="Times New Roman" panose="02020603050405020304" pitchFamily="18" charset="0"/>
              </a:rPr>
              <a:t>/</a:t>
            </a:r>
          </a:p>
          <a:p>
            <a:pPr marL="0" indent="0">
              <a:buNone/>
            </a:pP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printf</a:t>
            </a:r>
            <a:r>
              <a:rPr lang="en-US" altLang="zh-CN" sz="4000" b="1" dirty="0" smtClean="0">
                <a:latin typeface="Times New Roman" panose="02020603050405020304" pitchFamily="18" charset="0"/>
              </a:rPr>
              <a:t>( "Trouble opening file\n" );</a:t>
            </a:r>
          </a:p>
          <a:p>
            <a:pPr marL="0" indent="0">
              <a:buNone/>
            </a:pPr>
            <a:r>
              <a:rPr lang="en-US" altLang="zh-CN" sz="4000" b="1" dirty="0" smtClean="0">
                <a:latin typeface="Times New Roman" panose="02020603050405020304" pitchFamily="18" charset="0"/>
              </a:rPr>
              <a:t>   else</a:t>
            </a:r>
          </a:p>
          <a:p>
            <a:pPr marL="0" indent="0">
              <a:buNone/>
            </a:pPr>
            <a:r>
              <a:rPr lang="en-US" altLang="zh-CN" sz="4000" b="1" dirty="0" smtClean="0">
                <a:latin typeface="Times New Roman" panose="02020603050405020304" pitchFamily="18" charset="0"/>
              </a:rPr>
              <a:t>   {</a:t>
            </a:r>
          </a:p>
          <a:p>
            <a:pPr marL="0" indent="0">
              <a:buNone/>
            </a:pP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pos</a:t>
            </a:r>
            <a:r>
              <a:rPr lang="en-US" altLang="zh-CN" sz="4000" b="1" dirty="0" smtClean="0">
                <a:latin typeface="Times New Roman" panose="02020603050405020304" pitchFamily="18" charset="0"/>
              </a:rPr>
              <a:t> = 10; </a:t>
            </a:r>
            <a:r>
              <a:rPr lang="en-US" altLang="zh-CN" sz="4000" b="1" dirty="0" smtClean="0">
                <a:solidFill>
                  <a:schemeClr val="folHlink"/>
                </a:solidFill>
                <a:latin typeface="Times New Roman" panose="02020603050405020304" pitchFamily="18" charset="0"/>
              </a:rPr>
              <a:t>/*</a:t>
            </a:r>
            <a:r>
              <a:rPr lang="zh-CN" altLang="en-US" sz="4000" b="1" dirty="0" smtClean="0">
                <a:solidFill>
                  <a:schemeClr val="folHlink"/>
                </a:solidFill>
                <a:latin typeface="Times New Roman" panose="02020603050405020304" pitchFamily="18" charset="0"/>
              </a:rPr>
              <a:t>设置</a:t>
            </a:r>
            <a:r>
              <a:rPr lang="en-US" altLang="zh-CN" sz="4000" b="1" dirty="0" err="1" smtClean="0">
                <a:solidFill>
                  <a:schemeClr val="folHlink"/>
                </a:solidFill>
                <a:latin typeface="Times New Roman" panose="02020603050405020304" pitchFamily="18" charset="0"/>
              </a:rPr>
              <a:t>pos</a:t>
            </a:r>
            <a:r>
              <a:rPr lang="zh-CN" altLang="en-US" sz="4000" b="1" dirty="0" smtClean="0">
                <a:solidFill>
                  <a:schemeClr val="folHlink"/>
                </a:solidFill>
                <a:latin typeface="Times New Roman" panose="02020603050405020304" pitchFamily="18" charset="0"/>
              </a:rPr>
              <a:t>值*</a:t>
            </a:r>
            <a:r>
              <a:rPr lang="en-US" altLang="zh-CN" sz="4000" b="1" dirty="0" smtClean="0">
                <a:solidFill>
                  <a:schemeClr val="folHlink"/>
                </a:solidFill>
                <a:latin typeface="Times New Roman" panose="02020603050405020304" pitchFamily="18" charset="0"/>
              </a:rPr>
              <a:t>/</a:t>
            </a:r>
          </a:p>
          <a:p>
            <a:pPr marL="0" indent="0">
              <a:buNone/>
            </a:pPr>
            <a:r>
              <a:rPr lang="en-US" altLang="zh-CN" sz="4000" b="1" dirty="0" smtClean="0">
                <a:latin typeface="Times New Roman" panose="02020603050405020304" pitchFamily="18" charset="0"/>
              </a:rPr>
              <a:t>      if( </a:t>
            </a:r>
            <a:r>
              <a:rPr lang="en-US" altLang="zh-CN" sz="4000" b="1" dirty="0" err="1" smtClean="0">
                <a:latin typeface="Times New Roman" panose="02020603050405020304" pitchFamily="18" charset="0"/>
              </a:rPr>
              <a:t>fsetpos</a:t>
            </a: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fp</a:t>
            </a:r>
            <a:r>
              <a:rPr lang="en-US" altLang="zh-CN" sz="4000" b="1" dirty="0" smtClean="0">
                <a:latin typeface="Times New Roman" panose="02020603050405020304" pitchFamily="18" charset="0"/>
              </a:rPr>
              <a:t>, &amp;</a:t>
            </a:r>
            <a:r>
              <a:rPr lang="en-US" altLang="zh-CN" sz="4000" b="1" dirty="0" err="1" smtClean="0">
                <a:latin typeface="Times New Roman" panose="02020603050405020304" pitchFamily="18" charset="0"/>
              </a:rPr>
              <a:t>pos</a:t>
            </a:r>
            <a:r>
              <a:rPr lang="en-US" altLang="zh-CN" sz="4000" b="1" dirty="0" smtClean="0">
                <a:latin typeface="Times New Roman" panose="02020603050405020304" pitchFamily="18" charset="0"/>
              </a:rPr>
              <a:t> ) != 0 ) </a:t>
            </a:r>
            <a:r>
              <a:rPr lang="en-US" altLang="zh-CN" sz="4000" b="1" dirty="0" smtClean="0">
                <a:solidFill>
                  <a:schemeClr val="folHlink"/>
                </a:solidFill>
                <a:latin typeface="Times New Roman" panose="02020603050405020304" pitchFamily="18" charset="0"/>
              </a:rPr>
              <a:t>/*</a:t>
            </a:r>
            <a:r>
              <a:rPr lang="zh-CN" altLang="en-US" sz="4000" b="1" dirty="0" smtClean="0">
                <a:solidFill>
                  <a:schemeClr val="folHlink"/>
                </a:solidFill>
                <a:latin typeface="Times New Roman" panose="02020603050405020304" pitchFamily="18" charset="0"/>
              </a:rPr>
              <a:t>应用</a:t>
            </a:r>
            <a:r>
              <a:rPr lang="en-US" altLang="zh-CN" sz="4000" b="1" dirty="0" err="1" smtClean="0">
                <a:solidFill>
                  <a:schemeClr val="folHlink"/>
                </a:solidFill>
                <a:latin typeface="Times New Roman" panose="02020603050405020304" pitchFamily="18" charset="0"/>
              </a:rPr>
              <a:t>fsetpos</a:t>
            </a:r>
            <a:r>
              <a:rPr lang="zh-CN" altLang="en-US" sz="4000" b="1" dirty="0" smtClean="0">
                <a:solidFill>
                  <a:schemeClr val="folHlink"/>
                </a:solidFill>
                <a:latin typeface="Times New Roman" panose="02020603050405020304" pitchFamily="18" charset="0"/>
              </a:rPr>
              <a:t>函数将文件指针</a:t>
            </a:r>
            <a:r>
              <a:rPr lang="en-US" altLang="zh-CN" sz="4000" b="1" dirty="0" err="1" smtClean="0">
                <a:solidFill>
                  <a:schemeClr val="folHlink"/>
                </a:solidFill>
                <a:latin typeface="Times New Roman" panose="02020603050405020304" pitchFamily="18" charset="0"/>
              </a:rPr>
              <a:t>fp</a:t>
            </a:r>
            <a:r>
              <a:rPr lang="zh-CN" altLang="en-US" sz="4000" b="1" dirty="0" smtClean="0">
                <a:solidFill>
                  <a:schemeClr val="folHlink"/>
                </a:solidFill>
                <a:latin typeface="Times New Roman" panose="02020603050405020304" pitchFamily="18" charset="0"/>
              </a:rPr>
              <a:t>按照</a:t>
            </a:r>
            <a:r>
              <a:rPr lang="en-US" altLang="zh-CN" sz="4000" b="1" dirty="0" err="1" smtClean="0">
                <a:solidFill>
                  <a:schemeClr val="folHlink"/>
                </a:solidFill>
                <a:latin typeface="Times New Roman" panose="02020603050405020304" pitchFamily="18" charset="0"/>
              </a:rPr>
              <a:t>pos</a:t>
            </a:r>
            <a:r>
              <a:rPr lang="zh-CN" altLang="en-US" sz="4000" b="1" dirty="0" smtClean="0">
                <a:solidFill>
                  <a:schemeClr val="folHlink"/>
                </a:solidFill>
                <a:latin typeface="Times New Roman" panose="02020603050405020304" pitchFamily="18" charset="0"/>
              </a:rPr>
              <a:t>指定的位置在文件中定位*</a:t>
            </a:r>
            <a:r>
              <a:rPr lang="en-US" altLang="zh-CN" sz="4000" b="1" dirty="0" smtClean="0">
                <a:solidFill>
                  <a:schemeClr val="folHlink"/>
                </a:solidFill>
                <a:latin typeface="Times New Roman" panose="02020603050405020304" pitchFamily="18" charset="0"/>
              </a:rPr>
              <a:t>/</a:t>
            </a:r>
          </a:p>
          <a:p>
            <a:pPr marL="0" indent="0">
              <a:buNone/>
            </a:pP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perror</a:t>
            </a:r>
            <a:r>
              <a:rPr lang="en-US" altLang="zh-CN" sz="4000" b="1" dirty="0" smtClean="0">
                <a:latin typeface="Times New Roman" panose="02020603050405020304" pitchFamily="18" charset="0"/>
              </a:rPr>
              <a:t>( "</a:t>
            </a:r>
            <a:r>
              <a:rPr lang="en-US" altLang="zh-CN" sz="4000" b="1" dirty="0" err="1" smtClean="0">
                <a:latin typeface="Times New Roman" panose="02020603050405020304" pitchFamily="18" charset="0"/>
              </a:rPr>
              <a:t>fsetpos</a:t>
            </a:r>
            <a:r>
              <a:rPr lang="en-US" altLang="zh-CN" sz="4000" b="1" dirty="0" smtClean="0">
                <a:latin typeface="Times New Roman" panose="02020603050405020304" pitchFamily="18" charset="0"/>
              </a:rPr>
              <a:t> error" );</a:t>
            </a:r>
          </a:p>
          <a:p>
            <a:pPr marL="0" indent="0">
              <a:buNone/>
            </a:pPr>
            <a:r>
              <a:rPr lang="en-US" altLang="zh-CN" b="1" dirty="0" smtClean="0">
                <a:latin typeface="Times New Roman" panose="02020603050405020304" pitchFamily="18" charset="0"/>
              </a:rPr>
              <a:t/>
            </a:r>
            <a:br>
              <a:rPr lang="en-US" altLang="zh-CN" b="1" dirty="0" smtClean="0">
                <a:latin typeface="Times New Roman" panose="02020603050405020304" pitchFamily="18" charset="0"/>
              </a:rPr>
            </a:br>
            <a:endParaRPr lang="en-US" altLang="zh-CN" b="1" dirty="0" smtClean="0">
              <a:latin typeface="Times New Roman" panose="02020603050405020304" pitchFamily="18" charset="0"/>
            </a:endParaRPr>
          </a:p>
          <a:p>
            <a:endParaRPr lang="zh-CN" altLang="en-US" dirty="0"/>
          </a:p>
        </p:txBody>
      </p:sp>
      <p:sp>
        <p:nvSpPr>
          <p:cNvPr id="4" name="矩形 3"/>
          <p:cNvSpPr/>
          <p:nvPr/>
        </p:nvSpPr>
        <p:spPr>
          <a:xfrm>
            <a:off x="6190445" y="1242819"/>
            <a:ext cx="6096000" cy="2862322"/>
          </a:xfrm>
          <a:prstGeom prst="rect">
            <a:avLst/>
          </a:prstGeom>
        </p:spPr>
        <p:txBody>
          <a:bodyPr>
            <a:spAutoFit/>
          </a:bodyPr>
          <a:lstStyle/>
          <a:p>
            <a:r>
              <a:rPr lang="en-US" altLang="zh-CN" b="1" dirty="0" smtClean="0">
                <a:latin typeface="Times New Roman" panose="02020603050405020304" pitchFamily="18" charset="0"/>
              </a:rPr>
              <a:t>else</a:t>
            </a:r>
          </a:p>
          <a:p>
            <a:r>
              <a:rPr lang="en-US" altLang="zh-CN" b="1" dirty="0" smtClean="0">
                <a:latin typeface="Times New Roman" panose="02020603050405020304" pitchFamily="18" charset="0"/>
              </a:rPr>
              <a:t>    {</a:t>
            </a:r>
          </a:p>
          <a:p>
            <a:r>
              <a:rPr lang="en-US" altLang="zh-CN" b="1" dirty="0" smtClean="0">
                <a:latin typeface="Times New Roman" panose="02020603050405020304" pitchFamily="18" charset="0"/>
              </a:rPr>
              <a:t> </a:t>
            </a:r>
            <a:r>
              <a:rPr lang="en-US" altLang="zh-CN" b="1" dirty="0" smtClean="0">
                <a:solidFill>
                  <a:schemeClr val="folHlink"/>
                </a:solidFill>
                <a:latin typeface="Times New Roman" panose="02020603050405020304" pitchFamily="18" charset="0"/>
              </a:rPr>
              <a:t>/*</a:t>
            </a:r>
            <a:r>
              <a:rPr lang="zh-CN" altLang="en-US" b="1" dirty="0" smtClean="0">
                <a:solidFill>
                  <a:schemeClr val="folHlink"/>
                </a:solidFill>
                <a:latin typeface="Times New Roman" panose="02020603050405020304" pitchFamily="18" charset="0"/>
              </a:rPr>
              <a:t>从新定位的文件指针开始读取</a:t>
            </a:r>
            <a:r>
              <a:rPr lang="en-US" altLang="zh-CN" b="1" dirty="0" smtClean="0">
                <a:solidFill>
                  <a:schemeClr val="folHlink"/>
                </a:solidFill>
                <a:latin typeface="Times New Roman" panose="02020603050405020304" pitchFamily="18" charset="0"/>
              </a:rPr>
              <a:t>16</a:t>
            </a:r>
            <a:r>
              <a:rPr lang="zh-CN" altLang="en-US" b="1" dirty="0" smtClean="0">
                <a:solidFill>
                  <a:schemeClr val="folHlink"/>
                </a:solidFill>
                <a:latin typeface="Times New Roman" panose="02020603050405020304" pitchFamily="18" charset="0"/>
              </a:rPr>
              <a:t>个字符到</a:t>
            </a:r>
            <a:r>
              <a:rPr lang="en-US" altLang="zh-CN" b="1" dirty="0" smtClean="0">
                <a:solidFill>
                  <a:schemeClr val="folHlink"/>
                </a:solidFill>
                <a:latin typeface="Times New Roman" panose="02020603050405020304" pitchFamily="18" charset="0"/>
              </a:rPr>
              <a:t>buffer</a:t>
            </a:r>
            <a:r>
              <a:rPr lang="zh-CN" altLang="en-US" b="1" dirty="0" smtClean="0">
                <a:solidFill>
                  <a:schemeClr val="folHlink"/>
                </a:solidFill>
                <a:latin typeface="Times New Roman" panose="02020603050405020304" pitchFamily="18" charset="0"/>
              </a:rPr>
              <a:t>缓冲区*</a:t>
            </a:r>
            <a:r>
              <a:rPr lang="en-US" altLang="zh-CN" b="1" dirty="0" smtClean="0">
                <a:solidFill>
                  <a:schemeClr val="folHlink"/>
                </a:solidFill>
                <a:latin typeface="Times New Roman" panose="02020603050405020304" pitchFamily="18" charset="0"/>
              </a:rPr>
              <a:t>/</a:t>
            </a:r>
          </a:p>
          <a:p>
            <a:r>
              <a:rPr lang="en-US" altLang="zh-CN" b="1" dirty="0" err="1" smtClean="0">
                <a:latin typeface="Times New Roman" panose="02020603050405020304" pitchFamily="18" charset="0"/>
              </a:rPr>
              <a:t>fread</a:t>
            </a:r>
            <a:r>
              <a:rPr lang="en-US" altLang="zh-CN" b="1" dirty="0" smtClean="0">
                <a:latin typeface="Times New Roman" panose="02020603050405020304" pitchFamily="18" charset="0"/>
              </a:rPr>
              <a:t>( buffer, </a:t>
            </a:r>
            <a:r>
              <a:rPr lang="en-US" altLang="zh-CN" b="1" dirty="0" err="1" smtClean="0">
                <a:latin typeface="Times New Roman" panose="02020603050405020304" pitchFamily="18" charset="0"/>
              </a:rPr>
              <a:t>sizeof</a:t>
            </a:r>
            <a:r>
              <a:rPr lang="en-US" altLang="zh-CN" b="1" dirty="0" smtClean="0">
                <a:latin typeface="Times New Roman" panose="02020603050405020304" pitchFamily="18" charset="0"/>
              </a:rPr>
              <a:t>( char ), 16, </a:t>
            </a:r>
            <a:r>
              <a:rPr lang="en-US" altLang="zh-CN" b="1" dirty="0" err="1" smtClean="0">
                <a:latin typeface="Times New Roman" panose="02020603050405020304" pitchFamily="18" charset="0"/>
              </a:rPr>
              <a:t>fp</a:t>
            </a:r>
            <a:r>
              <a:rPr lang="en-US" altLang="zh-CN" b="1" dirty="0" smtClean="0">
                <a:latin typeface="Times New Roman" panose="02020603050405020304" pitchFamily="18" charset="0"/>
              </a:rPr>
              <a:t> );</a:t>
            </a:r>
          </a:p>
          <a:p>
            <a:r>
              <a:rPr lang="en-US" altLang="zh-CN" b="1" dirty="0" err="1" smtClean="0">
                <a:latin typeface="Times New Roman" panose="02020603050405020304" pitchFamily="18" charset="0"/>
              </a:rPr>
              <a:t>printf</a:t>
            </a:r>
            <a:r>
              <a:rPr lang="en-US" altLang="zh-CN" b="1" dirty="0" smtClean="0">
                <a:latin typeface="Times New Roman" panose="02020603050405020304" pitchFamily="18" charset="0"/>
              </a:rPr>
              <a:t>( "16 bytes at byte %</a:t>
            </a:r>
            <a:r>
              <a:rPr lang="en-US" altLang="zh-CN" b="1" dirty="0" err="1" smtClean="0">
                <a:latin typeface="Times New Roman" panose="02020603050405020304" pitchFamily="18" charset="0"/>
              </a:rPr>
              <a:t>ld</a:t>
            </a:r>
            <a:r>
              <a:rPr lang="en-US" altLang="zh-CN" b="1" dirty="0" smtClean="0">
                <a:latin typeface="Times New Roman" panose="02020603050405020304" pitchFamily="18" charset="0"/>
              </a:rPr>
              <a:t>: %.16s\n", </a:t>
            </a:r>
            <a:r>
              <a:rPr lang="en-US" altLang="zh-CN" b="1" dirty="0" err="1" smtClean="0">
                <a:latin typeface="Times New Roman" panose="02020603050405020304" pitchFamily="18" charset="0"/>
              </a:rPr>
              <a:t>pos</a:t>
            </a:r>
            <a:r>
              <a:rPr lang="en-US" altLang="zh-CN" b="1" dirty="0" smtClean="0">
                <a:latin typeface="Times New Roman" panose="02020603050405020304" pitchFamily="18" charset="0"/>
              </a:rPr>
              <a:t>, buffer ); </a:t>
            </a:r>
            <a:r>
              <a:rPr lang="en-US" altLang="zh-CN" b="1" dirty="0" smtClean="0">
                <a:solidFill>
                  <a:schemeClr val="folHlink"/>
                </a:solidFill>
                <a:latin typeface="Times New Roman" panose="02020603050405020304" pitchFamily="18" charset="0"/>
              </a:rPr>
              <a:t>/*</a:t>
            </a:r>
            <a:r>
              <a:rPr lang="zh-CN" altLang="en-US" b="1" dirty="0" smtClean="0">
                <a:solidFill>
                  <a:schemeClr val="folHlink"/>
                </a:solidFill>
                <a:latin typeface="Times New Roman" panose="02020603050405020304" pitchFamily="18" charset="0"/>
              </a:rPr>
              <a:t>显示结果*</a:t>
            </a:r>
            <a:r>
              <a:rPr lang="en-US" altLang="zh-CN" b="1" dirty="0" smtClean="0">
                <a:solidFill>
                  <a:schemeClr val="folHlink"/>
                </a:solidFill>
                <a:latin typeface="Times New Roman" panose="02020603050405020304" pitchFamily="18" charset="0"/>
              </a:rPr>
              <a:t>/</a:t>
            </a:r>
          </a:p>
          <a:p>
            <a:r>
              <a:rPr lang="en-US" altLang="zh-CN" b="1" dirty="0" smtClean="0">
                <a:latin typeface="Times New Roman" panose="02020603050405020304" pitchFamily="18" charset="0"/>
              </a:rPr>
              <a:t>                }</a:t>
            </a:r>
          </a:p>
          <a:p>
            <a:r>
              <a:rPr lang="en-US" altLang="zh-CN" b="1" dirty="0" smtClean="0">
                <a:latin typeface="Times New Roman" panose="02020603050405020304" pitchFamily="18" charset="0"/>
              </a:rPr>
              <a:t>      }</a:t>
            </a:r>
          </a:p>
          <a:p>
            <a:r>
              <a:rPr lang="en-US" altLang="zh-CN" b="1" dirty="0" smtClean="0">
                <a:latin typeface="Times New Roman" panose="02020603050405020304" pitchFamily="18" charset="0"/>
              </a:rPr>
              <a:t>   </a:t>
            </a:r>
            <a:r>
              <a:rPr lang="en-US" altLang="zh-CN" b="1" dirty="0" err="1" smtClean="0">
                <a:latin typeface="Times New Roman" panose="02020603050405020304" pitchFamily="18" charset="0"/>
              </a:rPr>
              <a:t>fclose</a:t>
            </a:r>
            <a:r>
              <a:rPr lang="en-US" altLang="zh-CN" b="1" dirty="0" smtClean="0">
                <a:latin typeface="Times New Roman" panose="02020603050405020304" pitchFamily="18" charset="0"/>
              </a:rPr>
              <a:t>( </a:t>
            </a:r>
            <a:r>
              <a:rPr lang="en-US" altLang="zh-CN" b="1" dirty="0" err="1" smtClean="0">
                <a:latin typeface="Times New Roman" panose="02020603050405020304" pitchFamily="18" charset="0"/>
              </a:rPr>
              <a:t>fp</a:t>
            </a:r>
            <a:r>
              <a:rPr lang="en-US" altLang="zh-CN" b="1" dirty="0" smtClean="0">
                <a:latin typeface="Times New Roman" panose="02020603050405020304" pitchFamily="18" charset="0"/>
              </a:rPr>
              <a:t> );</a:t>
            </a:r>
          </a:p>
          <a:p>
            <a:r>
              <a:rPr lang="en-US" altLang="zh-CN" b="1" dirty="0" smtClean="0">
                <a:latin typeface="Times New Roman" panose="02020603050405020304" pitchFamily="18" charset="0"/>
              </a:rPr>
              <a:t>} </a:t>
            </a:r>
            <a:endParaRPr lang="zh-CN" altLang="en-US" dirty="0"/>
          </a:p>
        </p:txBody>
      </p:sp>
    </p:spTree>
    <p:extLst>
      <p:ext uri="{BB962C8B-B14F-4D97-AF65-F5344CB8AC3E}">
        <p14:creationId xmlns:p14="http://schemas.microsoft.com/office/powerpoint/2010/main" val="308020328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定位实例说明</a:t>
            </a:r>
            <a:endParaRPr lang="zh-CN" altLang="en-US" dirty="0"/>
          </a:p>
        </p:txBody>
      </p:sp>
      <p:sp>
        <p:nvSpPr>
          <p:cNvPr id="3" name="内容占位符 2"/>
          <p:cNvSpPr>
            <a:spLocks noGrp="1"/>
          </p:cNvSpPr>
          <p:nvPr>
            <p:ph idx="1"/>
          </p:nvPr>
        </p:nvSpPr>
        <p:spPr/>
        <p:txBody>
          <a:bodyPr/>
          <a:lstStyle/>
          <a:p>
            <a:pPr algn="just"/>
            <a:r>
              <a:rPr lang="zh-CN" altLang="en-US" b="1" dirty="0" smtClean="0">
                <a:latin typeface="Times New Roman" panose="02020603050405020304" pitchFamily="18" charset="0"/>
              </a:rPr>
              <a:t>首先，程序以只读方式打开名为</a:t>
            </a:r>
            <a:r>
              <a:rPr lang="en-US" altLang="zh-CN" b="1" dirty="0" smtClean="0">
                <a:latin typeface="Times New Roman" panose="02020603050405020304" pitchFamily="18" charset="0"/>
              </a:rPr>
              <a:t>test.txt</a:t>
            </a:r>
            <a:r>
              <a:rPr lang="zh-CN" altLang="en-US" b="1" dirty="0" smtClean="0">
                <a:latin typeface="Times New Roman" panose="02020603050405020304" pitchFamily="18" charset="0"/>
              </a:rPr>
              <a:t>的文件。在这里，</a:t>
            </a:r>
            <a:r>
              <a:rPr lang="en-US" altLang="zh-CN" b="1" dirty="0" smtClean="0">
                <a:latin typeface="Times New Roman" panose="02020603050405020304" pitchFamily="18" charset="0"/>
              </a:rPr>
              <a:t>test.txt</a:t>
            </a:r>
            <a:r>
              <a:rPr lang="zh-CN" altLang="en-US" b="1" dirty="0" smtClean="0">
                <a:latin typeface="Times New Roman" panose="02020603050405020304" pitchFamily="18" charset="0"/>
              </a:rPr>
              <a:t>文件中已存入字符串</a:t>
            </a:r>
            <a:r>
              <a:rPr lang="en-US" altLang="zh-CN" b="1" dirty="0" smtClean="0">
                <a:latin typeface="Times New Roman" panose="02020603050405020304" pitchFamily="18" charset="0"/>
              </a:rPr>
              <a:t>This is a test for testing the function of </a:t>
            </a:r>
            <a:r>
              <a:rPr lang="en-US" altLang="zh-CN" b="1" dirty="0" err="1" smtClean="0">
                <a:latin typeface="Times New Roman" panose="02020603050405020304" pitchFamily="18" charset="0"/>
              </a:rPr>
              <a:t>fsetpos</a:t>
            </a:r>
            <a:r>
              <a:rPr lang="en-US" altLang="zh-CN" b="1" dirty="0" smtClean="0">
                <a:latin typeface="Times New Roman" panose="02020603050405020304" pitchFamily="18" charset="0"/>
              </a:rPr>
              <a:t>.</a:t>
            </a:r>
          </a:p>
          <a:p>
            <a:pPr algn="just"/>
            <a:r>
              <a:rPr lang="zh-CN" altLang="en-US" b="1" dirty="0" smtClean="0">
                <a:latin typeface="Times New Roman" panose="02020603050405020304" pitchFamily="18" charset="0"/>
              </a:rPr>
              <a:t>将</a:t>
            </a:r>
            <a:r>
              <a:rPr lang="en-US" altLang="zh-CN" b="1" dirty="0" err="1" smtClean="0">
                <a:latin typeface="Times New Roman" panose="02020603050405020304" pitchFamily="18" charset="0"/>
              </a:rPr>
              <a:t>pos</a:t>
            </a:r>
            <a:r>
              <a:rPr lang="zh-CN" altLang="en-US" b="1" dirty="0" smtClean="0">
                <a:latin typeface="Times New Roman" panose="02020603050405020304" pitchFamily="18" charset="0"/>
              </a:rPr>
              <a:t>设置为</a:t>
            </a:r>
            <a:r>
              <a:rPr lang="en-US" altLang="zh-CN" b="1" dirty="0" smtClean="0">
                <a:latin typeface="Times New Roman" panose="02020603050405020304" pitchFamily="18" charset="0"/>
              </a:rPr>
              <a:t>10</a:t>
            </a:r>
            <a:r>
              <a:rPr lang="zh-CN" altLang="en-US" b="1" dirty="0" smtClean="0">
                <a:latin typeface="Times New Roman" panose="02020603050405020304" pitchFamily="18" charset="0"/>
              </a:rPr>
              <a:t>。应用</a:t>
            </a:r>
            <a:r>
              <a:rPr lang="en-US" altLang="zh-CN" b="1" dirty="0" err="1" smtClean="0">
                <a:latin typeface="Times New Roman" panose="02020603050405020304" pitchFamily="18" charset="0"/>
              </a:rPr>
              <a:t>fsetpos</a:t>
            </a:r>
            <a:r>
              <a:rPr lang="zh-CN" altLang="en-US" b="1" dirty="0" smtClean="0">
                <a:latin typeface="Times New Roman" panose="02020603050405020304" pitchFamily="18" charset="0"/>
              </a:rPr>
              <a:t>函数将文件指针</a:t>
            </a:r>
            <a:r>
              <a:rPr lang="en-US" altLang="zh-CN" b="1" dirty="0" err="1" smtClean="0">
                <a:latin typeface="Times New Roman" panose="02020603050405020304" pitchFamily="18" charset="0"/>
              </a:rPr>
              <a:t>fp</a:t>
            </a:r>
            <a:r>
              <a:rPr lang="zh-CN" altLang="en-US" b="1" dirty="0" smtClean="0">
                <a:latin typeface="Times New Roman" panose="02020603050405020304" pitchFamily="18" charset="0"/>
              </a:rPr>
              <a:t>按照</a:t>
            </a:r>
            <a:r>
              <a:rPr lang="en-US" altLang="zh-CN" b="1" dirty="0" err="1" smtClean="0">
                <a:latin typeface="Times New Roman" panose="02020603050405020304" pitchFamily="18" charset="0"/>
              </a:rPr>
              <a:t>pos</a:t>
            </a:r>
            <a:r>
              <a:rPr lang="zh-CN" altLang="en-US" b="1" dirty="0" smtClean="0">
                <a:latin typeface="Times New Roman" panose="02020603050405020304" pitchFamily="18" charset="0"/>
              </a:rPr>
              <a:t>指定的位置在文件中定位。这样文件指针</a:t>
            </a:r>
            <a:r>
              <a:rPr lang="en-US" altLang="zh-CN" b="1" dirty="0" err="1" smtClean="0">
                <a:latin typeface="Times New Roman" panose="02020603050405020304" pitchFamily="18" charset="0"/>
              </a:rPr>
              <a:t>fp</a:t>
            </a:r>
            <a:r>
              <a:rPr lang="zh-CN" altLang="en-US" b="1" dirty="0" smtClean="0">
                <a:latin typeface="Times New Roman" panose="02020603050405020304" pitchFamily="18" charset="0"/>
              </a:rPr>
              <a:t>指向字符串中</a:t>
            </a:r>
            <a:r>
              <a:rPr lang="en-US" altLang="zh-CN" b="1" dirty="0" smtClean="0">
                <a:latin typeface="Times New Roman" panose="02020603050405020304" pitchFamily="18" charset="0"/>
              </a:rPr>
              <a:t>test</a:t>
            </a:r>
            <a:r>
              <a:rPr lang="zh-CN" altLang="en-US" b="1" dirty="0" smtClean="0">
                <a:latin typeface="Times New Roman" panose="02020603050405020304" pitchFamily="18" charset="0"/>
              </a:rPr>
              <a:t>的字母</a:t>
            </a:r>
            <a:r>
              <a:rPr lang="en-US" altLang="zh-CN" b="1" dirty="0" smtClean="0">
                <a:latin typeface="Times New Roman" panose="02020603050405020304" pitchFamily="18" charset="0"/>
              </a:rPr>
              <a:t>t</a:t>
            </a:r>
            <a:r>
              <a:rPr lang="zh-CN" altLang="en-US" b="1" dirty="0" smtClean="0">
                <a:latin typeface="Times New Roman" panose="02020603050405020304" pitchFamily="18" charset="0"/>
              </a:rPr>
              <a:t>。</a:t>
            </a:r>
          </a:p>
          <a:p>
            <a:pPr algn="just"/>
            <a:r>
              <a:rPr lang="zh-CN" altLang="en-US" b="1" dirty="0" smtClean="0">
                <a:latin typeface="Times New Roman" panose="02020603050405020304" pitchFamily="18" charset="0"/>
              </a:rPr>
              <a:t>再从新定位的文件指针开始读取</a:t>
            </a:r>
            <a:r>
              <a:rPr lang="en-US" altLang="zh-CN" b="1" dirty="0" smtClean="0">
                <a:latin typeface="Times New Roman" panose="02020603050405020304" pitchFamily="18" charset="0"/>
              </a:rPr>
              <a:t>16</a:t>
            </a:r>
            <a:r>
              <a:rPr lang="zh-CN" altLang="en-US" b="1" dirty="0" smtClean="0">
                <a:latin typeface="Times New Roman" panose="02020603050405020304" pitchFamily="18" charset="0"/>
              </a:rPr>
              <a:t>个字符到</a:t>
            </a:r>
            <a:r>
              <a:rPr lang="en-US" altLang="zh-CN" b="1" dirty="0" smtClean="0">
                <a:latin typeface="Times New Roman" panose="02020603050405020304" pitchFamily="18" charset="0"/>
              </a:rPr>
              <a:t>buffer</a:t>
            </a:r>
            <a:r>
              <a:rPr lang="zh-CN" altLang="en-US" b="1" dirty="0" smtClean="0">
                <a:latin typeface="Times New Roman" panose="02020603050405020304" pitchFamily="18" charset="0"/>
              </a:rPr>
              <a:t>缓冲区，也就是说读取字符串</a:t>
            </a:r>
            <a:r>
              <a:rPr lang="en-US" altLang="zh-CN" b="1" dirty="0" smtClean="0">
                <a:latin typeface="Times New Roman" panose="02020603050405020304" pitchFamily="18" charset="0"/>
              </a:rPr>
              <a:t>"test for testing"</a:t>
            </a:r>
            <a:r>
              <a:rPr lang="zh-CN" altLang="en-US" b="1" dirty="0" smtClean="0">
                <a:latin typeface="Times New Roman" panose="02020603050405020304" pitchFamily="18" charset="0"/>
              </a:rPr>
              <a:t>到缓冲区</a:t>
            </a:r>
            <a:r>
              <a:rPr lang="en-US" altLang="zh-CN" b="1" dirty="0" smtClean="0">
                <a:latin typeface="Times New Roman" panose="02020603050405020304" pitchFamily="18" charset="0"/>
              </a:rPr>
              <a:t>buffer</a:t>
            </a:r>
            <a:r>
              <a:rPr lang="zh-CN" altLang="en-US" b="1" dirty="0" smtClean="0">
                <a:latin typeface="Times New Roman" panose="02020603050405020304" pitchFamily="18" charset="0"/>
              </a:rPr>
              <a:t>。</a:t>
            </a:r>
          </a:p>
          <a:p>
            <a:pPr algn="just"/>
            <a:r>
              <a:rPr lang="zh-CN" altLang="en-US" b="1" dirty="0" smtClean="0">
                <a:latin typeface="Times New Roman" panose="02020603050405020304" pitchFamily="18" charset="0"/>
              </a:rPr>
              <a:t>最后显示结果：</a:t>
            </a:r>
            <a:r>
              <a:rPr lang="en-US" altLang="zh-CN" b="1" dirty="0" smtClean="0">
                <a:latin typeface="Times New Roman" panose="02020603050405020304" pitchFamily="18" charset="0"/>
              </a:rPr>
              <a:t>16 bytes at byte 10: test for testing</a:t>
            </a:r>
            <a:r>
              <a:rPr lang="en-US" altLang="zh-CN" dirty="0" smtClean="0">
                <a:latin typeface="Times New Roman" panose="02020603050405020304" pitchFamily="18" charset="0"/>
              </a:rPr>
              <a:t> </a:t>
            </a:r>
          </a:p>
          <a:p>
            <a:endParaRPr lang="zh-CN" altLang="en-US" dirty="0"/>
          </a:p>
        </p:txBody>
      </p:sp>
    </p:spTree>
    <p:extLst>
      <p:ext uri="{BB962C8B-B14F-4D97-AF65-F5344CB8AC3E}">
        <p14:creationId xmlns:p14="http://schemas.microsoft.com/office/powerpoint/2010/main" val="214969797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定位</a:t>
            </a:r>
            <a:endParaRPr lang="zh-CN" altLang="en-US" dirty="0"/>
          </a:p>
        </p:txBody>
      </p:sp>
      <p:sp>
        <p:nvSpPr>
          <p:cNvPr id="3" name="内容占位符 2"/>
          <p:cNvSpPr>
            <a:spLocks noGrp="1"/>
          </p:cNvSpPr>
          <p:nvPr>
            <p:ph idx="1"/>
          </p:nvPr>
        </p:nvSpPr>
        <p:spPr/>
        <p:txBody>
          <a:bodyPr/>
          <a:lstStyle/>
          <a:p>
            <a:pPr algn="just"/>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fseek</a:t>
            </a:r>
            <a:r>
              <a:rPr lang="en-US" altLang="zh-CN" sz="2400" b="1" dirty="0" smtClean="0">
                <a:latin typeface="Times New Roman" panose="02020603050405020304" pitchFamily="18" charset="0"/>
              </a:rPr>
              <a:t>(FILE *stream, long offset, </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whence);</a:t>
            </a:r>
          </a:p>
          <a:p>
            <a:pPr lvl="1">
              <a:lnSpc>
                <a:spcPct val="110000"/>
              </a:lnSpc>
            </a:pPr>
            <a:r>
              <a:rPr lang="en-US" altLang="zh-CN" sz="2200" b="1" dirty="0" smtClean="0">
                <a:latin typeface="Times New Roman" panose="02020603050405020304" pitchFamily="18" charset="0"/>
              </a:rPr>
              <a:t>stream</a:t>
            </a:r>
            <a:r>
              <a:rPr lang="zh-CN" altLang="en-US" sz="2200" b="1" dirty="0" smtClean="0">
                <a:latin typeface="Times New Roman" panose="02020603050405020304" pitchFamily="18" charset="0"/>
              </a:rPr>
              <a:t>为文件指针</a:t>
            </a:r>
          </a:p>
          <a:p>
            <a:pPr lvl="1">
              <a:lnSpc>
                <a:spcPct val="110000"/>
              </a:lnSpc>
            </a:pPr>
            <a:r>
              <a:rPr lang="en-US" altLang="zh-CN" sz="2200" b="1" dirty="0" smtClean="0">
                <a:latin typeface="Times New Roman" panose="02020603050405020304" pitchFamily="18" charset="0"/>
              </a:rPr>
              <a:t>offset</a:t>
            </a:r>
            <a:r>
              <a:rPr lang="zh-CN" altLang="en-US" sz="2200" b="1" dirty="0" smtClean="0">
                <a:latin typeface="Times New Roman" panose="02020603050405020304" pitchFamily="18" charset="0"/>
              </a:rPr>
              <a:t>为偏移量，整数表示正向偏移，负数为负向偏移</a:t>
            </a:r>
          </a:p>
          <a:p>
            <a:pPr lvl="1">
              <a:lnSpc>
                <a:spcPct val="110000"/>
              </a:lnSpc>
            </a:pPr>
            <a:r>
              <a:rPr lang="en-US" altLang="zh-CN" sz="2200" b="1" dirty="0" smtClean="0">
                <a:latin typeface="Times New Roman" panose="02020603050405020304" pitchFamily="18" charset="0"/>
              </a:rPr>
              <a:t>whence</a:t>
            </a:r>
            <a:r>
              <a:rPr lang="zh-CN" altLang="en-US" sz="2200" b="1" dirty="0" smtClean="0">
                <a:latin typeface="Times New Roman" panose="02020603050405020304" pitchFamily="18" charset="0"/>
              </a:rPr>
              <a:t>设定从文件的哪里开始偏移，可能取值为：</a:t>
            </a:r>
          </a:p>
          <a:p>
            <a:pPr lvl="1">
              <a:lnSpc>
                <a:spcPct val="110000"/>
              </a:lnSpc>
            </a:pPr>
            <a:r>
              <a:rPr lang="en-US" altLang="zh-CN" sz="2200" b="1" dirty="0" smtClean="0">
                <a:latin typeface="Times New Roman" panose="02020603050405020304" pitchFamily="18" charset="0"/>
              </a:rPr>
              <a:t>SEEK_SET</a:t>
            </a:r>
            <a:r>
              <a:rPr lang="zh-CN" altLang="en-US" sz="2200" b="1" dirty="0" smtClean="0">
                <a:latin typeface="Times New Roman" panose="02020603050405020304" pitchFamily="18" charset="0"/>
              </a:rPr>
              <a:t>： 文件开头        </a:t>
            </a:r>
            <a:r>
              <a:rPr lang="en-US" altLang="zh-CN" sz="2200" b="1" dirty="0" smtClean="0">
                <a:latin typeface="Times New Roman" panose="02020603050405020304" pitchFamily="18" charset="0"/>
              </a:rPr>
              <a:t>0</a:t>
            </a:r>
          </a:p>
          <a:p>
            <a:pPr lvl="1">
              <a:lnSpc>
                <a:spcPct val="110000"/>
              </a:lnSpc>
            </a:pPr>
            <a:r>
              <a:rPr lang="en-US" altLang="zh-CN" sz="2200" b="1" dirty="0" smtClean="0">
                <a:latin typeface="Times New Roman" panose="02020603050405020304" pitchFamily="18" charset="0"/>
              </a:rPr>
              <a:t>SEEK_CUR</a:t>
            </a:r>
            <a:r>
              <a:rPr lang="zh-CN" altLang="en-US" sz="2200" b="1" dirty="0" smtClean="0">
                <a:latin typeface="Times New Roman" panose="02020603050405020304" pitchFamily="18" charset="0"/>
              </a:rPr>
              <a:t>： 当前位置       </a:t>
            </a:r>
            <a:r>
              <a:rPr lang="en-US" altLang="zh-CN" sz="2200" b="1" dirty="0" smtClean="0">
                <a:latin typeface="Times New Roman" panose="02020603050405020304" pitchFamily="18" charset="0"/>
              </a:rPr>
              <a:t>1</a:t>
            </a:r>
          </a:p>
          <a:p>
            <a:pPr lvl="1">
              <a:lnSpc>
                <a:spcPct val="110000"/>
              </a:lnSpc>
            </a:pPr>
            <a:r>
              <a:rPr lang="en-US" altLang="zh-CN" sz="2200" b="1" dirty="0" smtClean="0">
                <a:latin typeface="Times New Roman" panose="02020603050405020304" pitchFamily="18" charset="0"/>
              </a:rPr>
              <a:t>SEEK_END</a:t>
            </a:r>
            <a:r>
              <a:rPr lang="zh-CN" altLang="en-US" sz="2200" b="1" dirty="0" smtClean="0">
                <a:latin typeface="Times New Roman" panose="02020603050405020304" pitchFamily="18" charset="0"/>
              </a:rPr>
              <a:t>： 文件结尾       </a:t>
            </a:r>
            <a:r>
              <a:rPr lang="en-US" altLang="zh-CN" sz="2200" b="1" dirty="0" smtClean="0">
                <a:latin typeface="Times New Roman" panose="02020603050405020304" pitchFamily="18" charset="0"/>
              </a:rPr>
              <a:t>2</a:t>
            </a:r>
          </a:p>
          <a:p>
            <a:pPr lvl="1">
              <a:lnSpc>
                <a:spcPct val="110000"/>
              </a:lnSpc>
            </a:pPr>
            <a:r>
              <a:rPr lang="en-US" altLang="zh-CN" sz="2200" b="1" dirty="0" err="1" smtClean="0">
                <a:latin typeface="Times New Roman" panose="02020603050405020304" pitchFamily="18" charset="0"/>
              </a:rPr>
              <a:t>fseek</a:t>
            </a:r>
            <a:r>
              <a:rPr lang="en-US" altLang="zh-CN" sz="2200" b="1" dirty="0" smtClean="0">
                <a:latin typeface="Times New Roman" panose="02020603050405020304" pitchFamily="18" charset="0"/>
              </a:rPr>
              <a:t>(fp,100L,0);</a:t>
            </a:r>
            <a:r>
              <a:rPr lang="zh-CN" altLang="en-US" sz="2200" b="1" dirty="0" smtClean="0">
                <a:latin typeface="Times New Roman" panose="02020603050405020304" pitchFamily="18" charset="0"/>
              </a:rPr>
              <a:t>把</a:t>
            </a:r>
            <a:r>
              <a:rPr lang="en-US" altLang="zh-CN" sz="2200" b="1" dirty="0" err="1" smtClean="0">
                <a:latin typeface="Times New Roman" panose="02020603050405020304" pitchFamily="18" charset="0"/>
              </a:rPr>
              <a:t>fp</a:t>
            </a:r>
            <a:r>
              <a:rPr lang="zh-CN" altLang="en-US" sz="2200" b="1" dirty="0" smtClean="0">
                <a:latin typeface="Times New Roman" panose="02020603050405020304" pitchFamily="18" charset="0"/>
              </a:rPr>
              <a:t>指针移动到离文件开头</a:t>
            </a:r>
            <a:r>
              <a:rPr lang="en-US" altLang="zh-CN" sz="2200" b="1" dirty="0" smtClean="0">
                <a:latin typeface="Times New Roman" panose="02020603050405020304" pitchFamily="18" charset="0"/>
              </a:rPr>
              <a:t>100</a:t>
            </a:r>
            <a:r>
              <a:rPr lang="zh-CN" altLang="en-US" sz="2200" b="1" dirty="0" smtClean="0">
                <a:latin typeface="Times New Roman" panose="02020603050405020304" pitchFamily="18" charset="0"/>
              </a:rPr>
              <a:t>字节处；</a:t>
            </a:r>
          </a:p>
          <a:p>
            <a:pPr lvl="1">
              <a:lnSpc>
                <a:spcPct val="110000"/>
              </a:lnSpc>
            </a:pPr>
            <a:r>
              <a:rPr lang="en-US" altLang="zh-CN" sz="2200" b="1" dirty="0" err="1" smtClean="0">
                <a:latin typeface="Times New Roman" panose="02020603050405020304" pitchFamily="18" charset="0"/>
              </a:rPr>
              <a:t>fseek</a:t>
            </a:r>
            <a:r>
              <a:rPr lang="en-US" altLang="zh-CN" sz="2200" b="1" dirty="0" smtClean="0">
                <a:latin typeface="Times New Roman" panose="02020603050405020304" pitchFamily="18" charset="0"/>
              </a:rPr>
              <a:t>(fp,100L,1);</a:t>
            </a:r>
            <a:r>
              <a:rPr lang="zh-CN" altLang="en-US" sz="2200" b="1" dirty="0" smtClean="0">
                <a:latin typeface="Times New Roman" panose="02020603050405020304" pitchFamily="18" charset="0"/>
              </a:rPr>
              <a:t>把</a:t>
            </a:r>
            <a:r>
              <a:rPr lang="en-US" altLang="zh-CN" sz="2200" b="1" dirty="0" err="1" smtClean="0">
                <a:latin typeface="Times New Roman" panose="02020603050405020304" pitchFamily="18" charset="0"/>
              </a:rPr>
              <a:t>fp</a:t>
            </a:r>
            <a:r>
              <a:rPr lang="zh-CN" altLang="en-US" sz="2200" b="1" dirty="0" smtClean="0">
                <a:latin typeface="Times New Roman" panose="02020603050405020304" pitchFamily="18" charset="0"/>
              </a:rPr>
              <a:t>指针移动到离文件当前位置</a:t>
            </a:r>
            <a:r>
              <a:rPr lang="en-US" altLang="zh-CN" sz="2200" b="1" dirty="0" smtClean="0">
                <a:latin typeface="Times New Roman" panose="02020603050405020304" pitchFamily="18" charset="0"/>
              </a:rPr>
              <a:t>100</a:t>
            </a:r>
            <a:r>
              <a:rPr lang="zh-CN" altLang="en-US" sz="2200" b="1" dirty="0" smtClean="0">
                <a:latin typeface="Times New Roman" panose="02020603050405020304" pitchFamily="18" charset="0"/>
              </a:rPr>
              <a:t>字节处；</a:t>
            </a:r>
          </a:p>
          <a:p>
            <a:pPr lvl="1">
              <a:lnSpc>
                <a:spcPct val="110000"/>
              </a:lnSpc>
            </a:pPr>
            <a:r>
              <a:rPr lang="en-US" altLang="zh-CN" sz="2200" b="1" dirty="0" err="1" smtClean="0">
                <a:latin typeface="Times New Roman" panose="02020603050405020304" pitchFamily="18" charset="0"/>
              </a:rPr>
              <a:t>fseek</a:t>
            </a:r>
            <a:r>
              <a:rPr lang="en-US" altLang="zh-CN" sz="2200" b="1" dirty="0" smtClean="0">
                <a:latin typeface="Times New Roman" panose="02020603050405020304" pitchFamily="18" charset="0"/>
              </a:rPr>
              <a:t>(fp,100L,2);</a:t>
            </a:r>
            <a:r>
              <a:rPr lang="zh-CN" altLang="en-US" sz="2200" b="1" dirty="0" smtClean="0">
                <a:latin typeface="Times New Roman" panose="02020603050405020304" pitchFamily="18" charset="0"/>
              </a:rPr>
              <a:t>把</a:t>
            </a:r>
            <a:r>
              <a:rPr lang="en-US" altLang="zh-CN" sz="2200" b="1" dirty="0" err="1" smtClean="0">
                <a:latin typeface="Times New Roman" panose="02020603050405020304" pitchFamily="18" charset="0"/>
              </a:rPr>
              <a:t>fp</a:t>
            </a:r>
            <a:r>
              <a:rPr lang="zh-CN" altLang="en-US" sz="2200" b="1" dirty="0" smtClean="0">
                <a:latin typeface="Times New Roman" panose="02020603050405020304" pitchFamily="18" charset="0"/>
              </a:rPr>
              <a:t>指针退回到离文件结尾</a:t>
            </a:r>
            <a:r>
              <a:rPr lang="en-US" altLang="zh-CN" sz="2200" b="1" dirty="0" smtClean="0">
                <a:latin typeface="Times New Roman" panose="02020603050405020304" pitchFamily="18" charset="0"/>
              </a:rPr>
              <a:t>100</a:t>
            </a:r>
            <a:r>
              <a:rPr lang="zh-CN" altLang="en-US" sz="2200" b="1" dirty="0" smtClean="0">
                <a:latin typeface="Times New Roman" panose="02020603050405020304" pitchFamily="18" charset="0"/>
              </a:rPr>
              <a:t>字节处。</a:t>
            </a:r>
          </a:p>
          <a:p>
            <a:endParaRPr lang="zh-CN" altLang="en-US" dirty="0"/>
          </a:p>
        </p:txBody>
      </p:sp>
    </p:spTree>
    <p:extLst>
      <p:ext uri="{BB962C8B-B14F-4D97-AF65-F5344CB8AC3E}">
        <p14:creationId xmlns:p14="http://schemas.microsoft.com/office/powerpoint/2010/main" val="363378611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语言库函数</a:t>
            </a:r>
            <a:r>
              <a:rPr lang="en-US" altLang="zh-CN" dirty="0" smtClean="0"/>
              <a:t>-</a:t>
            </a:r>
            <a:r>
              <a:rPr lang="zh-CN" altLang="en-US" dirty="0" smtClean="0"/>
              <a:t>关闭</a:t>
            </a:r>
            <a:endParaRPr lang="zh-CN" altLang="en-US" dirty="0"/>
          </a:p>
        </p:txBody>
      </p:sp>
      <p:sp>
        <p:nvSpPr>
          <p:cNvPr id="3" name="内容占位符 2"/>
          <p:cNvSpPr>
            <a:spLocks noGrp="1"/>
          </p:cNvSpPr>
          <p:nvPr>
            <p:ph idx="1"/>
          </p:nvPr>
        </p:nvSpPr>
        <p:spPr/>
        <p:txBody>
          <a:bodyPr/>
          <a:lstStyle/>
          <a:p>
            <a:r>
              <a:rPr lang="zh-CN" altLang="en-US" sz="2400" b="1" dirty="0" smtClean="0">
                <a:latin typeface="Times New Roman" panose="02020603050405020304" pitchFamily="18" charset="0"/>
              </a:rPr>
              <a:t>关闭：</a:t>
            </a:r>
          </a:p>
          <a:p>
            <a:pPr lvl="1"/>
            <a:r>
              <a:rPr lang="zh-CN" altLang="en-US" b="1" dirty="0">
                <a:latin typeface="Times New Roman" panose="02020603050405020304" pitchFamily="18" charset="0"/>
              </a:rPr>
              <a:t>利用</a:t>
            </a:r>
            <a:r>
              <a:rPr lang="en-US" altLang="zh-CN" b="1" dirty="0">
                <a:latin typeface="Times New Roman" panose="02020603050405020304" pitchFamily="18" charset="0"/>
              </a:rPr>
              <a:t>C</a:t>
            </a:r>
            <a:r>
              <a:rPr lang="zh-CN" altLang="en-US" b="1" dirty="0">
                <a:latin typeface="Times New Roman" panose="02020603050405020304" pitchFamily="18" charset="0"/>
              </a:rPr>
              <a:t>库函数关闭文件的操作：</a:t>
            </a:r>
          </a:p>
          <a:p>
            <a:pPr lvl="1">
              <a:buFont typeface="Wingdings" panose="05000000000000000000" pitchFamily="2" charset="2"/>
              <a:buNone/>
            </a:pPr>
            <a:r>
              <a:rPr lang="zh-CN" altLang="en-US" sz="800" b="1" dirty="0" smtClean="0">
                <a:latin typeface="Times New Roman" panose="02020603050405020304" pitchFamily="18" charset="0"/>
              </a:rPr>
              <a:t/>
            </a:r>
            <a:br>
              <a:rPr lang="zh-CN" altLang="en-US" sz="800" b="1" dirty="0" smtClean="0">
                <a:latin typeface="Times New Roman" panose="02020603050405020304" pitchFamily="18" charset="0"/>
              </a:rPr>
            </a:br>
            <a:r>
              <a:rPr lang="zh-CN" altLang="en-US" b="1" dirty="0">
                <a:latin typeface="Times New Roman" panose="02020603050405020304" pitchFamily="18" charset="0"/>
              </a:rPr>
              <a:t>       </a:t>
            </a:r>
            <a:r>
              <a:rPr lang="en-US" altLang="zh-CN" b="1" dirty="0" err="1">
                <a:latin typeface="Times New Roman" panose="02020603050405020304" pitchFamily="18" charset="0"/>
              </a:rPr>
              <a:t>int</a:t>
            </a:r>
            <a:r>
              <a:rPr lang="en-US" altLang="zh-CN" b="1" dirty="0">
                <a:latin typeface="Times New Roman" panose="02020603050405020304" pitchFamily="18" charset="0"/>
              </a:rPr>
              <a:t> </a:t>
            </a:r>
            <a:r>
              <a:rPr lang="en-US" altLang="zh-CN" b="1" dirty="0" err="1">
                <a:latin typeface="Times New Roman" panose="02020603050405020304" pitchFamily="18" charset="0"/>
              </a:rPr>
              <a:t>fclose</a:t>
            </a:r>
            <a:r>
              <a:rPr lang="en-US" altLang="zh-CN" b="1" dirty="0">
                <a:latin typeface="Times New Roman" panose="02020603050405020304" pitchFamily="18" charset="0"/>
              </a:rPr>
              <a:t> (FILE *stream);</a:t>
            </a:r>
          </a:p>
          <a:p>
            <a:endParaRPr lang="zh-CN" altLang="en-US" dirty="0"/>
          </a:p>
        </p:txBody>
      </p:sp>
    </p:spTree>
    <p:extLst>
      <p:ext uri="{BB962C8B-B14F-4D97-AF65-F5344CB8AC3E}">
        <p14:creationId xmlns:p14="http://schemas.microsoft.com/office/powerpoint/2010/main" val="427535194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目录操作</a:t>
            </a:r>
            <a:endParaRPr lang="zh-CN" altLang="en-US" dirty="0"/>
          </a:p>
        </p:txBody>
      </p:sp>
      <p:sp>
        <p:nvSpPr>
          <p:cNvPr id="3" name="内容占位符 2"/>
          <p:cNvSpPr>
            <a:spLocks noGrp="1"/>
          </p:cNvSpPr>
          <p:nvPr>
            <p:ph idx="1"/>
          </p:nvPr>
        </p:nvSpPr>
        <p:spPr/>
        <p:txBody>
          <a:bodyPr>
            <a:normAutofit fontScale="92500"/>
          </a:bodyPr>
          <a:lstStyle/>
          <a:p>
            <a:pPr lvl="0"/>
            <a:r>
              <a:rPr lang="zh-CN" altLang="en-US" b="0" i="0" u="none" strike="noStrike" baseline="0" dirty="0" smtClean="0">
                <a:latin typeface="Times New Roman"/>
              </a:rPr>
              <a:t>新建目录操作可使用函数</a:t>
            </a:r>
            <a:r>
              <a:rPr lang="en-US" altLang="zh-CN" b="0" i="0" u="none" strike="noStrike" baseline="0" dirty="0" err="1" smtClean="0">
                <a:latin typeface="Times New Roman"/>
              </a:rPr>
              <a:t>mkdir</a:t>
            </a:r>
            <a:r>
              <a:rPr lang="en-US" altLang="zh-CN" b="0" i="0" u="none" strike="noStrike" baseline="0" dirty="0" smtClean="0">
                <a:latin typeface="Times New Roman"/>
              </a:rPr>
              <a:t>()</a:t>
            </a:r>
            <a:r>
              <a:rPr lang="zh-CN" altLang="en-US" b="0" i="0" u="none" strike="noStrike" baseline="0" dirty="0" smtClean="0">
                <a:latin typeface="Times New Roman"/>
              </a:rPr>
              <a:t>实现，该函数的一般形式是：</a:t>
            </a:r>
          </a:p>
          <a:p>
            <a:pPr lvl="0"/>
            <a:r>
              <a:rPr lang="en-US" altLang="zh-CN" b="0" i="0" u="none" strike="noStrike" baseline="0" dirty="0" err="1" smtClean="0">
                <a:latin typeface="Times New Roman"/>
              </a:rPr>
              <a:t>mkdir</a:t>
            </a:r>
            <a:r>
              <a:rPr lang="en-US" altLang="zh-CN" b="0" i="0" u="none" strike="noStrike" baseline="0" dirty="0" smtClean="0">
                <a:latin typeface="Times New Roman"/>
              </a:rPr>
              <a:t>(</a:t>
            </a:r>
            <a:r>
              <a:rPr lang="zh-CN" altLang="en-US" b="0" i="0" u="none" strike="noStrike" baseline="0" dirty="0" smtClean="0">
                <a:latin typeface="Times New Roman"/>
              </a:rPr>
              <a:t>路径</a:t>
            </a:r>
            <a:r>
              <a:rPr lang="en-US" altLang="zh-CN" b="0" i="0" u="none" strike="noStrike" baseline="0" dirty="0" smtClean="0">
                <a:latin typeface="Times New Roman"/>
              </a:rPr>
              <a:t>, </a:t>
            </a:r>
            <a:r>
              <a:rPr lang="en-US" altLang="zh-CN" b="0" i="0" u="none" strike="noStrike" baseline="0" dirty="0" err="1" smtClean="0">
                <a:latin typeface="Times New Roman"/>
              </a:rPr>
              <a:t>umask</a:t>
            </a:r>
            <a:r>
              <a:rPr lang="en-US" altLang="zh-CN" b="0" i="0" u="none" strike="noStrike" baseline="0" dirty="0" smtClean="0">
                <a:latin typeface="Times New Roman"/>
              </a:rPr>
              <a:t>)</a:t>
            </a:r>
            <a:endParaRPr lang="zh-CN" altLang="en-US" b="0" i="0" u="none" strike="noStrike" baseline="0" dirty="0" smtClean="0">
              <a:latin typeface="Times New Roman"/>
            </a:endParaRPr>
          </a:p>
          <a:p>
            <a:pPr lvl="0"/>
            <a:r>
              <a:rPr lang="zh-CN" altLang="en-US" b="0" i="0" u="none" strike="noStrike" baseline="0" dirty="0" smtClean="0">
                <a:latin typeface="Times New Roman"/>
              </a:rPr>
              <a:t>当目录被成功创建函数的返回值为</a:t>
            </a:r>
            <a:r>
              <a:rPr lang="en-US" altLang="zh-CN" b="0" i="0" u="none" strike="noStrike" baseline="0" dirty="0" smtClean="0">
                <a:latin typeface="Times New Roman"/>
              </a:rPr>
              <a:t>0</a:t>
            </a:r>
            <a:r>
              <a:rPr lang="zh-CN" altLang="en-US" b="0" i="0" u="none" strike="noStrike" baseline="0" dirty="0" smtClean="0">
                <a:latin typeface="Times New Roman"/>
              </a:rPr>
              <a:t>，否则为</a:t>
            </a:r>
            <a:r>
              <a:rPr lang="en-US" altLang="zh-CN" b="0" i="0" u="none" strike="noStrike" baseline="0" dirty="0" smtClean="0">
                <a:latin typeface="Times New Roman"/>
              </a:rPr>
              <a:t>–1</a:t>
            </a:r>
            <a:r>
              <a:rPr lang="zh-CN" altLang="en-US" b="0" i="0" u="none" strike="noStrike" baseline="0" dirty="0" smtClean="0">
                <a:latin typeface="Times New Roman"/>
              </a:rPr>
              <a:t>。</a:t>
            </a:r>
          </a:p>
          <a:p>
            <a:pPr lvl="0"/>
            <a:r>
              <a:rPr lang="zh-CN" altLang="en-US" b="0" i="0" u="none" strike="noStrike" baseline="0" dirty="0" smtClean="0">
                <a:latin typeface="Times New Roman"/>
              </a:rPr>
              <a:t>获得当前工作目录的操作可使用函数</a:t>
            </a:r>
            <a:r>
              <a:rPr lang="en-US" altLang="zh-CN" b="0" i="0" u="none" strike="noStrike" baseline="0" dirty="0" err="1" smtClean="0">
                <a:latin typeface="Times New Roman"/>
              </a:rPr>
              <a:t>getcwd</a:t>
            </a:r>
            <a:r>
              <a:rPr lang="en-US" altLang="zh-CN" b="0" i="0" u="none" strike="noStrike" baseline="0" dirty="0" smtClean="0">
                <a:latin typeface="Times New Roman"/>
              </a:rPr>
              <a:t>()</a:t>
            </a:r>
            <a:r>
              <a:rPr lang="zh-CN" altLang="en-US" b="0" i="0" u="none" strike="noStrike" baseline="0" dirty="0" smtClean="0">
                <a:latin typeface="Times New Roman"/>
              </a:rPr>
              <a:t>，该函数的一般形式是：</a:t>
            </a:r>
          </a:p>
          <a:p>
            <a:pPr lvl="0"/>
            <a:r>
              <a:rPr lang="en-US" altLang="zh-CN" b="0" i="0" u="none" strike="noStrike" baseline="0" dirty="0" err="1" smtClean="0">
                <a:latin typeface="Times New Roman"/>
              </a:rPr>
              <a:t>getcwd</a:t>
            </a:r>
            <a:r>
              <a:rPr lang="en-US" altLang="zh-CN" b="0" i="0" u="none" strike="noStrike" baseline="0" dirty="0" smtClean="0">
                <a:latin typeface="Times New Roman"/>
              </a:rPr>
              <a:t>(char </a:t>
            </a:r>
            <a:r>
              <a:rPr lang="zh-CN" altLang="en-US" b="0" i="0" u="none" strike="noStrike" baseline="-25000" dirty="0" smtClean="0">
                <a:latin typeface="Times New Roman"/>
              </a:rPr>
              <a:t>*</a:t>
            </a:r>
            <a:r>
              <a:rPr lang="en-US" altLang="zh-CN" b="0" i="0" u="none" strike="noStrike" baseline="0" dirty="0" err="1" smtClean="0">
                <a:latin typeface="Times New Roman"/>
              </a:rPr>
              <a:t>buf</a:t>
            </a:r>
            <a:r>
              <a:rPr lang="en-US" altLang="zh-CN" b="0" i="0" u="none" strike="noStrike" baseline="0" dirty="0" smtClean="0">
                <a:latin typeface="Times New Roman"/>
              </a:rPr>
              <a:t>, </a:t>
            </a:r>
            <a:r>
              <a:rPr lang="en-US" altLang="zh-CN" b="0" i="0" u="none" strike="noStrike" baseline="0" dirty="0" err="1" smtClean="0">
                <a:latin typeface="Times New Roman"/>
              </a:rPr>
              <a:t>size_t</a:t>
            </a:r>
            <a:r>
              <a:rPr lang="en-US" altLang="zh-CN" b="0" i="0" u="none" strike="noStrike" baseline="0" dirty="0" smtClean="0">
                <a:latin typeface="Times New Roman"/>
              </a:rPr>
              <a:t> size);</a:t>
            </a:r>
            <a:endParaRPr lang="zh-CN" altLang="en-US" b="0" i="0" u="none" strike="noStrike" baseline="0" dirty="0" smtClean="0">
              <a:latin typeface="Times New Roman"/>
            </a:endParaRPr>
          </a:p>
          <a:p>
            <a:pPr lvl="0"/>
            <a:r>
              <a:rPr lang="zh-CN" altLang="en-US" b="0" i="0" u="none" strike="noStrike" baseline="0" dirty="0" smtClean="0">
                <a:latin typeface="Times New Roman"/>
              </a:rPr>
              <a:t>其中，</a:t>
            </a:r>
            <a:r>
              <a:rPr lang="zh-CN" altLang="en-US" b="0" i="0" u="none" strike="noStrike" baseline="-25000" dirty="0" smtClean="0">
                <a:latin typeface="Times New Roman"/>
              </a:rPr>
              <a:t>*</a:t>
            </a:r>
            <a:r>
              <a:rPr lang="en-US" altLang="zh-CN" b="0" i="0" u="none" strike="noStrike" baseline="0" dirty="0" err="1" smtClean="0">
                <a:latin typeface="Times New Roman"/>
              </a:rPr>
              <a:t>buf</a:t>
            </a:r>
            <a:r>
              <a:rPr lang="zh-CN" altLang="en-US" b="0" i="0" u="none" strike="noStrike" baseline="0" dirty="0" smtClean="0">
                <a:latin typeface="Times New Roman"/>
              </a:rPr>
              <a:t>是存放当前目录的缓冲区，</a:t>
            </a:r>
            <a:r>
              <a:rPr lang="en-US" altLang="zh-CN" b="0" i="0" u="none" strike="noStrike" baseline="0" dirty="0" smtClean="0">
                <a:latin typeface="Times New Roman"/>
              </a:rPr>
              <a:t>size</a:t>
            </a:r>
            <a:r>
              <a:rPr lang="zh-CN" altLang="en-US" b="0" i="0" u="none" strike="noStrike" baseline="0" dirty="0" smtClean="0">
                <a:latin typeface="Times New Roman"/>
              </a:rPr>
              <a:t>是缓冲区的大小。如果函数返回当前目录的字符串长度超过</a:t>
            </a:r>
            <a:r>
              <a:rPr lang="en-US" altLang="zh-CN" b="0" i="0" u="none" strike="noStrike" baseline="0" dirty="0" smtClean="0">
                <a:latin typeface="Times New Roman"/>
              </a:rPr>
              <a:t>size</a:t>
            </a:r>
            <a:r>
              <a:rPr lang="zh-CN" altLang="en-US" b="0" i="0" u="none" strike="noStrike" baseline="0" dirty="0" smtClean="0">
                <a:latin typeface="Times New Roman"/>
              </a:rPr>
              <a:t>规定的大小，它将返回</a:t>
            </a:r>
            <a:r>
              <a:rPr lang="en-US" altLang="zh-CN" b="0" i="0" u="none" strike="noStrike" baseline="0" dirty="0" smtClean="0">
                <a:latin typeface="Times New Roman"/>
              </a:rPr>
              <a:t>NULL</a:t>
            </a:r>
            <a:r>
              <a:rPr lang="zh-CN" altLang="en-US" b="0" i="0" u="none" strike="noStrike" baseline="0" dirty="0" smtClean="0">
                <a:latin typeface="Times New Roman"/>
              </a:rPr>
              <a:t>。</a:t>
            </a:r>
          </a:p>
          <a:p>
            <a:endParaRPr lang="zh-CN" altLang="en-US" dirty="0"/>
          </a:p>
        </p:txBody>
      </p:sp>
    </p:spTree>
    <p:extLst>
      <p:ext uri="{BB962C8B-B14F-4D97-AF65-F5344CB8AC3E}">
        <p14:creationId xmlns:p14="http://schemas.microsoft.com/office/powerpoint/2010/main" val="255546918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目录操作</a:t>
            </a:r>
            <a:endParaRPr lang="zh-CN" altLang="en-US" dirty="0"/>
          </a:p>
        </p:txBody>
      </p:sp>
      <p:sp>
        <p:nvSpPr>
          <p:cNvPr id="3" name="内容占位符 2"/>
          <p:cNvSpPr>
            <a:spLocks noGrp="1"/>
          </p:cNvSpPr>
          <p:nvPr>
            <p:ph idx="1"/>
          </p:nvPr>
        </p:nvSpPr>
        <p:spPr>
          <a:xfrm>
            <a:off x="620086" y="1112561"/>
            <a:ext cx="10515600" cy="2463040"/>
          </a:xfrm>
        </p:spPr>
        <p:txBody>
          <a:bodyPr>
            <a:noAutofit/>
          </a:bodyPr>
          <a:lstStyle/>
          <a:p>
            <a:pPr lvl="0"/>
            <a:r>
              <a:rPr lang="zh-CN" altLang="en-US" sz="2400" b="0" i="0" u="none" strike="noStrike" baseline="0" dirty="0" smtClean="0">
                <a:latin typeface="Times New Roman"/>
              </a:rPr>
              <a:t>执行程序的工作目录就是当前子目录，如果要改变执行程序的工作目录，可以使用函数</a:t>
            </a:r>
            <a:r>
              <a:rPr lang="en-US" altLang="zh-CN" sz="2400" b="0" i="0" u="none" strike="noStrike" baseline="0" dirty="0" err="1" smtClean="0">
                <a:latin typeface="Times New Roman"/>
              </a:rPr>
              <a:t>chdir</a:t>
            </a:r>
            <a:r>
              <a:rPr lang="en-US" altLang="zh-CN" sz="2400" b="0" i="0" u="none" strike="noStrike" baseline="0" dirty="0" smtClean="0">
                <a:latin typeface="Times New Roman"/>
              </a:rPr>
              <a:t>()</a:t>
            </a:r>
            <a:r>
              <a:rPr lang="zh-CN" altLang="en-US" sz="2400" b="0" i="0" u="none" strike="noStrike" baseline="0" dirty="0" smtClean="0">
                <a:latin typeface="Times New Roman"/>
              </a:rPr>
              <a:t>。这个函数的作用如同</a:t>
            </a:r>
            <a:r>
              <a:rPr lang="en-US" altLang="zh-CN" sz="2400" b="0" i="0" u="none" strike="noStrike" baseline="0" dirty="0" smtClean="0">
                <a:latin typeface="Times New Roman"/>
              </a:rPr>
              <a:t>shell</a:t>
            </a:r>
            <a:r>
              <a:rPr lang="zh-CN" altLang="en-US" sz="2400" b="0" i="0" u="none" strike="noStrike" baseline="0" dirty="0" smtClean="0">
                <a:latin typeface="Times New Roman"/>
              </a:rPr>
              <a:t>里的</a:t>
            </a:r>
            <a:r>
              <a:rPr lang="en-US" altLang="zh-CN" sz="2400" b="0" i="0" u="none" strike="noStrike" baseline="0" dirty="0" smtClean="0">
                <a:latin typeface="Times New Roman"/>
              </a:rPr>
              <a:t>cd</a:t>
            </a:r>
            <a:r>
              <a:rPr lang="zh-CN" altLang="en-US" sz="2400" b="0" i="0" u="none" strike="noStrike" baseline="0" dirty="0" smtClean="0">
                <a:latin typeface="Times New Roman"/>
              </a:rPr>
              <a:t>命令一样，它的一般形式是：</a:t>
            </a:r>
          </a:p>
          <a:p>
            <a:pPr lvl="0"/>
            <a:r>
              <a:rPr lang="en-US" altLang="zh-CN" sz="2400" b="0" i="0" u="none" strike="noStrike" baseline="0" dirty="0" err="1" smtClean="0">
                <a:latin typeface="Times New Roman"/>
              </a:rPr>
              <a:t>chdir</a:t>
            </a:r>
            <a:r>
              <a:rPr lang="en-US" altLang="zh-CN" sz="2400" b="0" i="0" u="none" strike="noStrike" baseline="0" dirty="0" smtClean="0">
                <a:latin typeface="Times New Roman"/>
              </a:rPr>
              <a:t>(</a:t>
            </a:r>
            <a:r>
              <a:rPr lang="zh-CN" altLang="en-US" sz="2400" b="0" i="0" u="none" strike="noStrike" baseline="0" dirty="0" smtClean="0">
                <a:latin typeface="Times New Roman"/>
              </a:rPr>
              <a:t>路径</a:t>
            </a:r>
            <a:r>
              <a:rPr lang="en-US" altLang="zh-CN" sz="2400" b="0" i="0" u="none" strike="noStrike" baseline="0" dirty="0" smtClean="0">
                <a:latin typeface="Times New Roman"/>
              </a:rPr>
              <a:t>);</a:t>
            </a:r>
            <a:endParaRPr lang="zh-CN" altLang="en-US" sz="2400" b="0" i="0" u="none" strike="noStrike" baseline="0" dirty="0" smtClean="0">
              <a:latin typeface="Times New Roman"/>
            </a:endParaRPr>
          </a:p>
          <a:p>
            <a:pPr lvl="0"/>
            <a:r>
              <a:rPr lang="zh-CN" altLang="en-US" sz="2400" b="0" i="0" u="none" strike="noStrike" baseline="0" dirty="0" smtClean="0">
                <a:latin typeface="Times New Roman"/>
              </a:rPr>
              <a:t>另一个常用目录操作是扫描子目录，与此相关的函数被封装在头文件</a:t>
            </a:r>
            <a:r>
              <a:rPr lang="en-US" altLang="zh-CN" sz="2400" b="0" i="0" u="none" strike="noStrike" baseline="0" dirty="0" err="1" smtClean="0">
                <a:latin typeface="Times New Roman"/>
              </a:rPr>
              <a:t>dirent.h</a:t>
            </a:r>
            <a:r>
              <a:rPr lang="zh-CN" altLang="en-US" sz="2400" b="0" i="0" u="none" strike="noStrike" baseline="0" dirty="0" smtClean="0">
                <a:latin typeface="Times New Roman"/>
              </a:rPr>
              <a:t>里。它们使用一个名为</a:t>
            </a:r>
            <a:r>
              <a:rPr lang="en-US" altLang="zh-CN" sz="2400" b="0" i="0" u="none" strike="noStrike" baseline="0" dirty="0" smtClean="0">
                <a:latin typeface="Times New Roman"/>
              </a:rPr>
              <a:t>DIR</a:t>
            </a:r>
            <a:r>
              <a:rPr lang="zh-CN" altLang="en-US" sz="2400" b="0" i="0" u="none" strike="noStrike" baseline="0" dirty="0" smtClean="0">
                <a:latin typeface="Times New Roman"/>
              </a:rPr>
              <a:t>的结构作为子目录处理的基础，这个结构的指针所指向的内存空间被称之为子目录流。与子目录流操作相关的函数如表所示。</a:t>
            </a:r>
          </a:p>
        </p:txBody>
      </p:sp>
      <p:graphicFrame>
        <p:nvGraphicFramePr>
          <p:cNvPr id="4" name="表格 3"/>
          <p:cNvGraphicFramePr>
            <a:graphicFrameLocks noGrp="1"/>
          </p:cNvGraphicFramePr>
          <p:nvPr>
            <p:extLst>
              <p:ext uri="{D42A27DB-BD31-4B8C-83A1-F6EECF244321}">
                <p14:modId xmlns:p14="http://schemas.microsoft.com/office/powerpoint/2010/main" val="456621567"/>
              </p:ext>
            </p:extLst>
          </p:nvPr>
        </p:nvGraphicFramePr>
        <p:xfrm>
          <a:off x="2666914" y="4138365"/>
          <a:ext cx="8537705" cy="2550851"/>
        </p:xfrm>
        <a:graphic>
          <a:graphicData uri="http://schemas.openxmlformats.org/drawingml/2006/table">
            <a:tbl>
              <a:tblPr>
                <a:tableStyleId>{5C22544A-7EE6-4342-B048-85BDC9FD1C3A}</a:tableStyleId>
              </a:tblPr>
              <a:tblGrid>
                <a:gridCol w="2773739"/>
                <a:gridCol w="5763966"/>
              </a:tblGrid>
              <a:tr h="242697">
                <a:tc>
                  <a:txBody>
                    <a:bodyPr/>
                    <a:lstStyle/>
                    <a:p>
                      <a:pPr algn="ctr">
                        <a:lnSpc>
                          <a:spcPts val="1350"/>
                        </a:lnSpc>
                        <a:spcAft>
                          <a:spcPts val="100"/>
                        </a:spcAft>
                      </a:pPr>
                      <a:r>
                        <a:rPr lang="zh-CN" sz="1400" dirty="0">
                          <a:effectLst/>
                        </a:rPr>
                        <a:t>函</a:t>
                      </a:r>
                      <a:r>
                        <a:rPr lang="en-US" sz="1400" dirty="0">
                          <a:effectLst/>
                        </a:rPr>
                        <a:t>  </a:t>
                      </a:r>
                      <a:r>
                        <a:rPr lang="zh-CN" sz="1400" dirty="0">
                          <a:effectLst/>
                        </a:rPr>
                        <a:t>数</a:t>
                      </a:r>
                      <a:r>
                        <a:rPr lang="en-US" sz="1400" dirty="0">
                          <a:effectLst/>
                        </a:rPr>
                        <a:t>  </a:t>
                      </a:r>
                      <a:r>
                        <a:rPr lang="zh-CN" sz="1400" dirty="0">
                          <a:effectLst/>
                        </a:rPr>
                        <a:t>名</a:t>
                      </a:r>
                      <a:endParaRPr lang="zh-CN" sz="1400" dirty="0">
                        <a:effectLst/>
                        <a:latin typeface="Times New Roman"/>
                        <a:ea typeface="宋体"/>
                      </a:endParaRPr>
                    </a:p>
                  </a:txBody>
                  <a:tcPr marL="68580" marR="68580" marT="0" marB="0" anchor="ctr"/>
                </a:tc>
                <a:tc>
                  <a:txBody>
                    <a:bodyPr/>
                    <a:lstStyle/>
                    <a:p>
                      <a:pPr algn="ctr">
                        <a:lnSpc>
                          <a:spcPts val="1350"/>
                        </a:lnSpc>
                        <a:spcAft>
                          <a:spcPts val="100"/>
                        </a:spcAft>
                      </a:pPr>
                      <a:r>
                        <a:rPr lang="zh-CN" sz="1400">
                          <a:effectLst/>
                        </a:rPr>
                        <a:t>说</a:t>
                      </a:r>
                      <a:r>
                        <a:rPr lang="en-US" sz="1400">
                          <a:effectLst/>
                        </a:rPr>
                        <a:t>    </a:t>
                      </a:r>
                      <a:r>
                        <a:rPr lang="zh-CN" sz="1400">
                          <a:effectLst/>
                        </a:rPr>
                        <a:t>明</a:t>
                      </a:r>
                      <a:endParaRPr lang="zh-CN" sz="1400">
                        <a:effectLst/>
                        <a:latin typeface="Times New Roman"/>
                        <a:ea typeface="宋体"/>
                      </a:endParaRPr>
                    </a:p>
                  </a:txBody>
                  <a:tcPr marL="68580" marR="68580" marT="0" marB="0" anchor="ctr"/>
                </a:tc>
              </a:tr>
              <a:tr h="516364">
                <a:tc>
                  <a:txBody>
                    <a:bodyPr/>
                    <a:lstStyle/>
                    <a:p>
                      <a:pPr algn="just">
                        <a:lnSpc>
                          <a:spcPts val="1350"/>
                        </a:lnSpc>
                        <a:spcAft>
                          <a:spcPts val="100"/>
                        </a:spcAft>
                      </a:pPr>
                      <a:r>
                        <a:rPr lang="en-US" sz="1400" dirty="0">
                          <a:effectLst/>
                        </a:rPr>
                        <a:t>DIR *</a:t>
                      </a:r>
                      <a:r>
                        <a:rPr lang="en-US" sz="1400" dirty="0" err="1">
                          <a:effectLst/>
                        </a:rPr>
                        <a:t>opendir</a:t>
                      </a:r>
                      <a:r>
                        <a:rPr lang="en-US" sz="1400" dirty="0">
                          <a:effectLst/>
                        </a:rPr>
                        <a:t>(</a:t>
                      </a:r>
                      <a:r>
                        <a:rPr lang="en-US" sz="1400" dirty="0" err="1">
                          <a:effectLst/>
                        </a:rPr>
                        <a:t>const</a:t>
                      </a:r>
                      <a:r>
                        <a:rPr lang="en-US" sz="1400" dirty="0">
                          <a:effectLst/>
                        </a:rPr>
                        <a:t> char *name);</a:t>
                      </a:r>
                      <a:endParaRPr lang="zh-CN" sz="1400" dirty="0">
                        <a:effectLst/>
                        <a:latin typeface="Times New Roman"/>
                        <a:ea typeface="宋体"/>
                      </a:endParaRPr>
                    </a:p>
                  </a:txBody>
                  <a:tcPr marL="68580" marR="68580" marT="0" marB="0" anchor="ctr"/>
                </a:tc>
                <a:tc>
                  <a:txBody>
                    <a:bodyPr/>
                    <a:lstStyle/>
                    <a:p>
                      <a:pPr algn="just">
                        <a:lnSpc>
                          <a:spcPts val="1350"/>
                        </a:lnSpc>
                        <a:spcAft>
                          <a:spcPts val="100"/>
                        </a:spcAft>
                      </a:pPr>
                      <a:r>
                        <a:rPr lang="zh-CN" sz="1400" dirty="0">
                          <a:effectLst/>
                        </a:rPr>
                        <a:t>打开路径并建立子目录流，返回子目录流指针</a:t>
                      </a:r>
                      <a:endParaRPr lang="zh-CN" sz="1400" dirty="0">
                        <a:effectLst/>
                        <a:latin typeface="Times New Roman"/>
                        <a:ea typeface="宋体"/>
                      </a:endParaRPr>
                    </a:p>
                  </a:txBody>
                  <a:tcPr marL="68580" marR="68580" marT="0" marB="0" anchor="ctr"/>
                </a:tc>
              </a:tr>
              <a:tr h="786340">
                <a:tc>
                  <a:txBody>
                    <a:bodyPr/>
                    <a:lstStyle/>
                    <a:p>
                      <a:pPr algn="just">
                        <a:lnSpc>
                          <a:spcPts val="1350"/>
                        </a:lnSpc>
                        <a:spcAft>
                          <a:spcPts val="100"/>
                        </a:spcAft>
                      </a:pPr>
                      <a:r>
                        <a:rPr lang="en-US" sz="1400">
                          <a:effectLst/>
                        </a:rPr>
                        <a:t>struct dirent *readdir(DIR *dirp);</a:t>
                      </a:r>
                      <a:endParaRPr lang="zh-CN" sz="1400">
                        <a:effectLst/>
                        <a:latin typeface="Times New Roman"/>
                        <a:ea typeface="宋体"/>
                      </a:endParaRPr>
                    </a:p>
                  </a:txBody>
                  <a:tcPr marL="68580" marR="68580" marT="0" marB="0" anchor="ctr"/>
                </a:tc>
                <a:tc>
                  <a:txBody>
                    <a:bodyPr/>
                    <a:lstStyle/>
                    <a:p>
                      <a:pPr algn="just">
                        <a:lnSpc>
                          <a:spcPts val="1350"/>
                        </a:lnSpc>
                        <a:spcAft>
                          <a:spcPts val="100"/>
                        </a:spcAft>
                      </a:pPr>
                      <a:r>
                        <a:rPr lang="zh-CN" sz="1400">
                          <a:effectLst/>
                        </a:rPr>
                        <a:t>函数返回一个指针，指针指向的结构里保存着子目录流</a:t>
                      </a:r>
                      <a:r>
                        <a:rPr lang="en-US" sz="1400">
                          <a:effectLst/>
                        </a:rPr>
                        <a:t>dirp</a:t>
                      </a:r>
                      <a:r>
                        <a:rPr lang="zh-CN" sz="1400">
                          <a:effectLst/>
                        </a:rPr>
                        <a:t>中下一个目录数据项的有关资料。后续的</a:t>
                      </a:r>
                      <a:r>
                        <a:rPr lang="en-US" sz="1400">
                          <a:effectLst/>
                        </a:rPr>
                        <a:t>readdir</a:t>
                      </a:r>
                      <a:r>
                        <a:rPr lang="zh-CN" sz="1400">
                          <a:effectLst/>
                        </a:rPr>
                        <a:t>调用将返回后续的目录数据。如果错误或到达子目录尾，将返回</a:t>
                      </a:r>
                      <a:r>
                        <a:rPr lang="en-US" sz="1400">
                          <a:effectLst/>
                        </a:rPr>
                        <a:t>NULL</a:t>
                      </a:r>
                      <a:r>
                        <a:rPr lang="zh-CN" sz="1400">
                          <a:effectLst/>
                        </a:rPr>
                        <a:t>值</a:t>
                      </a:r>
                      <a:endParaRPr lang="zh-CN" sz="1400">
                        <a:effectLst/>
                        <a:latin typeface="Times New Roman"/>
                        <a:ea typeface="宋体"/>
                      </a:endParaRPr>
                    </a:p>
                  </a:txBody>
                  <a:tcPr marL="68580" marR="68580" marT="0" marB="0" anchor="ctr"/>
                </a:tc>
              </a:tr>
              <a:tr h="244543">
                <a:tc>
                  <a:txBody>
                    <a:bodyPr/>
                    <a:lstStyle/>
                    <a:p>
                      <a:pPr algn="just">
                        <a:lnSpc>
                          <a:spcPts val="1350"/>
                        </a:lnSpc>
                        <a:spcAft>
                          <a:spcPts val="100"/>
                        </a:spcAft>
                      </a:pPr>
                      <a:r>
                        <a:rPr lang="en-US" sz="1400">
                          <a:effectLst/>
                        </a:rPr>
                        <a:t>long int telldir(DIR *dirp);</a:t>
                      </a:r>
                      <a:endParaRPr lang="zh-CN" sz="1400">
                        <a:effectLst/>
                        <a:latin typeface="Times New Roman"/>
                        <a:ea typeface="宋体"/>
                      </a:endParaRPr>
                    </a:p>
                  </a:txBody>
                  <a:tcPr marL="68580" marR="68580" marT="0" marB="0" anchor="ctr"/>
                </a:tc>
                <a:tc>
                  <a:txBody>
                    <a:bodyPr/>
                    <a:lstStyle/>
                    <a:p>
                      <a:pPr algn="just">
                        <a:lnSpc>
                          <a:spcPts val="1350"/>
                        </a:lnSpc>
                        <a:spcAft>
                          <a:spcPts val="100"/>
                        </a:spcAft>
                      </a:pPr>
                      <a:r>
                        <a:rPr lang="zh-CN" sz="1400">
                          <a:effectLst/>
                        </a:rPr>
                        <a:t>函数返回值里记录着子目录流里的当前位置</a:t>
                      </a:r>
                      <a:endParaRPr lang="zh-CN" sz="1400">
                        <a:effectLst/>
                        <a:latin typeface="Times New Roman"/>
                        <a:ea typeface="宋体"/>
                      </a:endParaRPr>
                    </a:p>
                  </a:txBody>
                  <a:tcPr marL="68580" marR="68580" marT="0" marB="0" anchor="ctr"/>
                </a:tc>
              </a:tr>
              <a:tr h="516364">
                <a:tc>
                  <a:txBody>
                    <a:bodyPr/>
                    <a:lstStyle/>
                    <a:p>
                      <a:pPr algn="just">
                        <a:lnSpc>
                          <a:spcPts val="1350"/>
                        </a:lnSpc>
                        <a:spcAft>
                          <a:spcPts val="100"/>
                        </a:spcAft>
                      </a:pPr>
                      <a:r>
                        <a:rPr lang="en-US" sz="1400">
                          <a:effectLst/>
                        </a:rPr>
                        <a:t>void seekdir(DIR *dirp, long int loc);</a:t>
                      </a:r>
                      <a:endParaRPr lang="zh-CN" sz="1400">
                        <a:effectLst/>
                        <a:latin typeface="Times New Roman"/>
                        <a:ea typeface="宋体"/>
                      </a:endParaRPr>
                    </a:p>
                  </a:txBody>
                  <a:tcPr marL="68580" marR="68580" marT="0" marB="0" anchor="ctr"/>
                </a:tc>
                <a:tc>
                  <a:txBody>
                    <a:bodyPr/>
                    <a:lstStyle/>
                    <a:p>
                      <a:pPr algn="just">
                        <a:lnSpc>
                          <a:spcPts val="1350"/>
                        </a:lnSpc>
                        <a:spcAft>
                          <a:spcPts val="100"/>
                        </a:spcAft>
                      </a:pPr>
                      <a:r>
                        <a:rPr lang="zh-CN" sz="1400">
                          <a:effectLst/>
                        </a:rPr>
                        <a:t>对</a:t>
                      </a:r>
                      <a:r>
                        <a:rPr lang="en-US" sz="1400">
                          <a:effectLst/>
                        </a:rPr>
                        <a:t>dirp</a:t>
                      </a:r>
                      <a:r>
                        <a:rPr lang="zh-CN" sz="1400">
                          <a:effectLst/>
                        </a:rPr>
                        <a:t>指定的子目录流中的目录数据项的指针进行设置。</a:t>
                      </a:r>
                      <a:r>
                        <a:rPr lang="en-US" sz="1400">
                          <a:effectLst/>
                        </a:rPr>
                        <a:t>loc</a:t>
                      </a:r>
                      <a:r>
                        <a:rPr lang="zh-CN" sz="1400">
                          <a:effectLst/>
                        </a:rPr>
                        <a:t>的值用来设置指针位置，它应该通过前一个</a:t>
                      </a:r>
                      <a:r>
                        <a:rPr lang="en-US" sz="1400">
                          <a:effectLst/>
                        </a:rPr>
                        <a:t>telldir</a:t>
                      </a:r>
                      <a:r>
                        <a:rPr lang="zh-CN" sz="1400">
                          <a:effectLst/>
                        </a:rPr>
                        <a:t>调用获得</a:t>
                      </a:r>
                      <a:endParaRPr lang="zh-CN" sz="1400">
                        <a:effectLst/>
                        <a:latin typeface="Times New Roman"/>
                        <a:ea typeface="宋体"/>
                      </a:endParaRPr>
                    </a:p>
                  </a:txBody>
                  <a:tcPr marL="68580" marR="68580" marT="0" marB="0" anchor="ctr"/>
                </a:tc>
              </a:tr>
              <a:tr h="244543">
                <a:tc>
                  <a:txBody>
                    <a:bodyPr/>
                    <a:lstStyle/>
                    <a:p>
                      <a:pPr algn="just">
                        <a:lnSpc>
                          <a:spcPts val="1350"/>
                        </a:lnSpc>
                        <a:spcAft>
                          <a:spcPts val="100"/>
                        </a:spcAft>
                      </a:pPr>
                      <a:r>
                        <a:rPr lang="en-US" sz="1400" dirty="0" err="1">
                          <a:effectLst/>
                        </a:rPr>
                        <a:t>int</a:t>
                      </a:r>
                      <a:r>
                        <a:rPr lang="en-US" sz="1400" dirty="0">
                          <a:effectLst/>
                        </a:rPr>
                        <a:t> </a:t>
                      </a:r>
                      <a:r>
                        <a:rPr lang="en-US" sz="1400" dirty="0" err="1">
                          <a:effectLst/>
                        </a:rPr>
                        <a:t>closedir</a:t>
                      </a:r>
                      <a:r>
                        <a:rPr lang="en-US" sz="1400" dirty="0">
                          <a:effectLst/>
                        </a:rPr>
                        <a:t>(DIR *</a:t>
                      </a:r>
                      <a:r>
                        <a:rPr lang="en-US" sz="1400" dirty="0" err="1">
                          <a:effectLst/>
                        </a:rPr>
                        <a:t>dirp</a:t>
                      </a:r>
                      <a:r>
                        <a:rPr lang="en-US" sz="1400" dirty="0">
                          <a:effectLst/>
                        </a:rPr>
                        <a:t>);</a:t>
                      </a:r>
                      <a:endParaRPr lang="zh-CN" sz="1400" dirty="0">
                        <a:effectLst/>
                        <a:latin typeface="Times New Roman"/>
                        <a:ea typeface="宋体"/>
                      </a:endParaRPr>
                    </a:p>
                  </a:txBody>
                  <a:tcPr marL="68580" marR="68580" marT="0" marB="0" anchor="ctr"/>
                </a:tc>
                <a:tc>
                  <a:txBody>
                    <a:bodyPr/>
                    <a:lstStyle/>
                    <a:p>
                      <a:pPr algn="just">
                        <a:lnSpc>
                          <a:spcPts val="1350"/>
                        </a:lnSpc>
                        <a:spcAft>
                          <a:spcPts val="100"/>
                        </a:spcAft>
                      </a:pPr>
                      <a:r>
                        <a:rPr lang="zh-CN" sz="1400" dirty="0">
                          <a:effectLst/>
                        </a:rPr>
                        <a:t>关闭子目录流，返回关闭操作结果</a:t>
                      </a:r>
                      <a:endParaRPr lang="zh-CN" sz="14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306217417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删除目录或文件操作</a:t>
            </a:r>
            <a:endParaRPr lang="zh-CN" altLang="en-US" dirty="0"/>
          </a:p>
        </p:txBody>
      </p:sp>
      <p:sp>
        <p:nvSpPr>
          <p:cNvPr id="3" name="内容占位符 2"/>
          <p:cNvSpPr>
            <a:spLocks noGrp="1"/>
          </p:cNvSpPr>
          <p:nvPr>
            <p:ph idx="1"/>
          </p:nvPr>
        </p:nvSpPr>
        <p:spPr>
          <a:xfrm>
            <a:off x="838200" y="1378039"/>
            <a:ext cx="10515600" cy="5241702"/>
          </a:xfrm>
        </p:spPr>
        <p:txBody>
          <a:bodyPr>
            <a:normAutofit fontScale="55000" lnSpcReduction="20000"/>
          </a:bodyPr>
          <a:lstStyle/>
          <a:p>
            <a:pPr lvl="0"/>
            <a:r>
              <a:rPr lang="zh-CN" altLang="en-US" b="0" i="0" u="none" strike="noStrike" baseline="0" dirty="0" smtClean="0">
                <a:latin typeface="Times New Roman"/>
              </a:rPr>
              <a:t>删除目录操作可使用函数</a:t>
            </a:r>
            <a:r>
              <a:rPr lang="en-US" altLang="zh-CN" b="0" i="0" u="none" strike="noStrike" baseline="0" dirty="0" err="1" smtClean="0">
                <a:latin typeface="Times New Roman"/>
              </a:rPr>
              <a:t>rmdir</a:t>
            </a:r>
            <a:r>
              <a:rPr lang="en-US" altLang="zh-CN" b="0" i="0" u="none" strike="noStrike" baseline="0" dirty="0" smtClean="0">
                <a:latin typeface="Times New Roman"/>
              </a:rPr>
              <a:t>()</a:t>
            </a:r>
            <a:r>
              <a:rPr lang="zh-CN" altLang="en-US" b="0" i="0" u="none" strike="noStrike" baseline="0" dirty="0" smtClean="0">
                <a:latin typeface="Times New Roman"/>
              </a:rPr>
              <a:t>完成，该函数的一般形式是：</a:t>
            </a:r>
            <a:r>
              <a:rPr lang="en-US" altLang="zh-CN" b="0" i="0" u="none" strike="noStrike" baseline="0" dirty="0" err="1" smtClean="0">
                <a:latin typeface="Times New Roman"/>
              </a:rPr>
              <a:t>rmdir</a:t>
            </a:r>
            <a:r>
              <a:rPr lang="en-US" altLang="zh-CN" b="0" i="0" u="none" strike="noStrike" baseline="0" dirty="0" smtClean="0">
                <a:latin typeface="Times New Roman"/>
              </a:rPr>
              <a:t>(</a:t>
            </a:r>
            <a:r>
              <a:rPr lang="zh-CN" altLang="en-US" b="0" i="0" u="none" strike="noStrike" baseline="0" dirty="0" smtClean="0">
                <a:latin typeface="Times New Roman"/>
              </a:rPr>
              <a:t>路径</a:t>
            </a:r>
            <a:r>
              <a:rPr lang="en-US" altLang="zh-CN" b="0" i="0" u="none" strike="noStrike" baseline="0" dirty="0" smtClean="0">
                <a:latin typeface="Times New Roman"/>
              </a:rPr>
              <a:t>)</a:t>
            </a:r>
            <a:r>
              <a:rPr lang="zh-CN" altLang="en-US" b="0" i="0" u="none" strike="noStrike" baseline="0" dirty="0" smtClean="0">
                <a:latin typeface="Times New Roman"/>
              </a:rPr>
              <a:t>，该函数必须是在该目录下没有子目录或文件的情况下才能运行。删除文件操作可使用函数</a:t>
            </a:r>
            <a:r>
              <a:rPr lang="en-US" altLang="zh-CN" b="0" i="0" u="none" strike="noStrike" baseline="0" dirty="0" smtClean="0">
                <a:latin typeface="Times New Roman"/>
              </a:rPr>
              <a:t>unlink()</a:t>
            </a:r>
            <a:r>
              <a:rPr lang="zh-CN" altLang="en-US" b="0" i="0" u="none" strike="noStrike" baseline="0" dirty="0" smtClean="0">
                <a:latin typeface="Times New Roman"/>
              </a:rPr>
              <a:t>，该函数的一般形式是：</a:t>
            </a:r>
          </a:p>
          <a:p>
            <a:pPr lvl="0"/>
            <a:r>
              <a:rPr lang="en-US" altLang="zh-CN" b="0" i="0" u="none" strike="noStrike" baseline="0" dirty="0" smtClean="0">
                <a:latin typeface="Times New Roman"/>
              </a:rPr>
              <a:t>unlink(</a:t>
            </a:r>
            <a:r>
              <a:rPr lang="zh-CN" altLang="en-US" b="0" i="0" u="none" strike="noStrike" baseline="0" dirty="0" smtClean="0">
                <a:latin typeface="Times New Roman"/>
              </a:rPr>
              <a:t>路径</a:t>
            </a:r>
            <a:r>
              <a:rPr lang="en-US" altLang="zh-CN" b="0" i="0" u="none" strike="noStrike" baseline="0" dirty="0" smtClean="0">
                <a:latin typeface="Times New Roman"/>
              </a:rPr>
              <a:t>);  </a:t>
            </a:r>
            <a:r>
              <a:rPr lang="zh-CN" altLang="en-US" b="0" i="0" u="none" strike="noStrike" baseline="0" dirty="0" smtClean="0">
                <a:latin typeface="Times New Roman"/>
              </a:rPr>
              <a:t>如下例所示：</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if(</a:t>
            </a:r>
            <a:r>
              <a:rPr lang="en-US" altLang="zh-CN" b="1" i="0" u="none" strike="noStrike" baseline="0" dirty="0" err="1" smtClean="0">
                <a:latin typeface="Times New Roman"/>
              </a:rPr>
              <a:t>mkdir</a:t>
            </a:r>
            <a:r>
              <a:rPr lang="en-US" altLang="zh-CN" b="1" i="0" u="none" strike="noStrike" baseline="0" dirty="0" smtClean="0">
                <a:latin typeface="Times New Roman"/>
              </a:rPr>
              <a:t>("</a:t>
            </a:r>
            <a:r>
              <a:rPr lang="en-US" altLang="zh-CN" b="1" i="0" u="none" strike="noStrike" baseline="0" dirty="0" err="1" smtClean="0">
                <a:latin typeface="Times New Roman"/>
              </a:rPr>
              <a:t>testdir</a:t>
            </a:r>
            <a:r>
              <a:rPr lang="en-US" altLang="zh-CN" b="1" i="0" u="none" strike="noStrike" baseline="0" dirty="0" smtClean="0">
                <a:latin typeface="Times New Roman"/>
              </a:rPr>
              <a:t>", 0774)</a:t>
            </a:r>
            <a:r>
              <a:rPr lang="zh-CN" altLang="en-US" b="0" i="0" u="none" strike="noStrike" baseline="0" dirty="0" smtClean="0">
                <a:latin typeface="Times New Roman"/>
              </a:rPr>
              <a:t> </a:t>
            </a:r>
            <a:r>
              <a:rPr lang="en-US" altLang="zh-CN" b="0" i="0" u="none" strike="noStrike" baseline="0" dirty="0" smtClean="0">
                <a:latin typeface="Times New Roman"/>
              </a:rPr>
              <a:t>!= -1)</a:t>
            </a:r>
            <a:r>
              <a:rPr lang="zh-CN" altLang="en-US" b="0" i="0" u="none" strike="noStrike" baseline="0" dirty="0" smtClean="0">
                <a:latin typeface="Times New Roman"/>
              </a:rPr>
              <a:t>	</a:t>
            </a:r>
            <a:r>
              <a:rPr lang="en-US" altLang="zh-CN" b="0" i="0" u="none" strike="noStrike" baseline="0" dirty="0" smtClean="0">
                <a:latin typeface="Times New Roman"/>
              </a:rPr>
              <a:t>// </a:t>
            </a:r>
            <a:r>
              <a:rPr lang="zh-CN" altLang="en-US" b="0" i="0" u="none" strike="noStrike" baseline="0" dirty="0" smtClean="0">
                <a:latin typeface="Times New Roman"/>
              </a:rPr>
              <a:t>创建一个新目录</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puts("</a:t>
            </a:r>
            <a:r>
              <a:rPr lang="zh-CN" altLang="en-US" b="0" i="0" u="none" strike="noStrike" baseline="0" dirty="0" smtClean="0">
                <a:latin typeface="Times New Roman"/>
              </a:rPr>
              <a:t>创建目录成功</a:t>
            </a:r>
            <a:r>
              <a:rPr lang="en-US" altLang="zh-CN" b="0" i="0" u="none" strike="noStrike" baseline="0" dirty="0" smtClean="0">
                <a:latin typeface="Times New Roman"/>
              </a:rPr>
              <a:t>");</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else</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return 1;</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if (</a:t>
            </a:r>
            <a:r>
              <a:rPr lang="en-US" altLang="zh-CN" b="1" i="0" u="none" strike="noStrike" baseline="0" dirty="0" err="1" smtClean="0">
                <a:latin typeface="Times New Roman"/>
              </a:rPr>
              <a:t>creat</a:t>
            </a:r>
            <a:r>
              <a:rPr lang="en-US" altLang="zh-CN" b="1" i="0" u="none" strike="noStrike" baseline="0" dirty="0" smtClean="0">
                <a:latin typeface="Times New Roman"/>
              </a:rPr>
              <a:t>("test1", 0664)</a:t>
            </a:r>
            <a:r>
              <a:rPr lang="zh-CN" altLang="en-US" b="0" i="0" u="none" strike="noStrike" baseline="0" dirty="0" smtClean="0">
                <a:latin typeface="Times New Roman"/>
              </a:rPr>
              <a:t> </a:t>
            </a:r>
            <a:r>
              <a:rPr lang="en-US" altLang="zh-CN" b="0" i="0" u="none" strike="noStrike" baseline="0" dirty="0" smtClean="0">
                <a:latin typeface="Times New Roman"/>
              </a:rPr>
              <a:t>!= -1)</a:t>
            </a:r>
            <a:r>
              <a:rPr lang="zh-CN" altLang="en-US" b="0" i="0" u="none" strike="noStrike" baseline="0" dirty="0" smtClean="0">
                <a:latin typeface="Times New Roman"/>
              </a:rPr>
              <a:t>		</a:t>
            </a:r>
            <a:r>
              <a:rPr lang="en-US" altLang="zh-CN" b="0" i="0" u="none" strike="noStrike" baseline="0" dirty="0" smtClean="0">
                <a:latin typeface="Times New Roman"/>
              </a:rPr>
              <a:t>// </a:t>
            </a:r>
            <a:r>
              <a:rPr lang="zh-CN" altLang="en-US" b="0" i="0" u="none" strike="noStrike" baseline="0" dirty="0" smtClean="0">
                <a:latin typeface="Times New Roman"/>
              </a:rPr>
              <a:t>创建一个新文件</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puts("</a:t>
            </a:r>
            <a:r>
              <a:rPr lang="zh-CN" altLang="en-US" b="0" i="0" u="none" strike="noStrike" baseline="0" dirty="0" smtClean="0">
                <a:latin typeface="Times New Roman"/>
              </a:rPr>
              <a:t>创建文件成功</a:t>
            </a:r>
            <a:r>
              <a:rPr lang="en-US" altLang="zh-CN" b="0" i="0" u="none" strike="noStrike" baseline="0" dirty="0" smtClean="0">
                <a:latin typeface="Times New Roman"/>
              </a:rPr>
              <a:t>");</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else</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return 1;</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if (</a:t>
            </a:r>
            <a:r>
              <a:rPr lang="en-US" altLang="zh-CN" b="1" i="0" u="none" strike="noStrike" baseline="0" dirty="0" smtClean="0">
                <a:latin typeface="Times New Roman"/>
              </a:rPr>
              <a:t>unlink("test1")</a:t>
            </a:r>
            <a:r>
              <a:rPr lang="zh-CN" altLang="en-US" b="0" i="0" u="none" strike="noStrike" baseline="0" dirty="0" smtClean="0">
                <a:latin typeface="Times New Roman"/>
              </a:rPr>
              <a:t> </a:t>
            </a:r>
            <a:r>
              <a:rPr lang="en-US" altLang="zh-CN" b="0" i="0" u="none" strike="noStrike" baseline="0" dirty="0" smtClean="0">
                <a:latin typeface="Times New Roman"/>
              </a:rPr>
              <a:t>!= -1)</a:t>
            </a:r>
            <a:r>
              <a:rPr lang="zh-CN" altLang="en-US" b="0" i="0" u="none" strike="noStrike" baseline="0" dirty="0" smtClean="0">
                <a:latin typeface="Times New Roman"/>
              </a:rPr>
              <a:t>		</a:t>
            </a:r>
            <a:r>
              <a:rPr lang="en-US" altLang="zh-CN" b="0" i="0" u="none" strike="noStrike" baseline="0" dirty="0" smtClean="0">
                <a:latin typeface="Times New Roman"/>
              </a:rPr>
              <a:t>// </a:t>
            </a:r>
            <a:r>
              <a:rPr lang="zh-CN" altLang="en-US" b="0" i="0" u="none" strike="noStrike" baseline="0" dirty="0" smtClean="0">
                <a:latin typeface="Times New Roman"/>
              </a:rPr>
              <a:t>删除刚才创建的文件</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puts("</a:t>
            </a:r>
            <a:r>
              <a:rPr lang="zh-CN" altLang="en-US" b="0" i="0" u="none" strike="noStrike" baseline="0" dirty="0" smtClean="0">
                <a:latin typeface="Times New Roman"/>
              </a:rPr>
              <a:t>删除文件成功</a:t>
            </a:r>
            <a:r>
              <a:rPr lang="en-US" altLang="zh-CN" b="0" i="0" u="none" strike="noStrike" baseline="0" dirty="0" smtClean="0">
                <a:latin typeface="Times New Roman"/>
              </a:rPr>
              <a:t>");</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else</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return 1;</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if (</a:t>
            </a:r>
            <a:r>
              <a:rPr lang="en-US" altLang="zh-CN" b="1" i="0" u="none" strike="noStrike" baseline="0" dirty="0" err="1" smtClean="0">
                <a:latin typeface="Times New Roman"/>
              </a:rPr>
              <a:t>rmdir</a:t>
            </a:r>
            <a:r>
              <a:rPr lang="en-US" altLang="zh-CN" b="1" i="0" u="none" strike="noStrike" baseline="0" dirty="0" smtClean="0">
                <a:latin typeface="Times New Roman"/>
              </a:rPr>
              <a:t>("</a:t>
            </a:r>
            <a:r>
              <a:rPr lang="en-US" altLang="zh-CN" b="1" i="0" u="none" strike="noStrike" baseline="0" dirty="0" err="1" smtClean="0">
                <a:latin typeface="Times New Roman"/>
              </a:rPr>
              <a:t>testdir</a:t>
            </a:r>
            <a:r>
              <a:rPr lang="en-US" altLang="zh-CN" b="1" i="0" u="none" strike="noStrike" baseline="0" dirty="0" smtClean="0">
                <a:latin typeface="Times New Roman"/>
              </a:rPr>
              <a:t>")</a:t>
            </a:r>
            <a:r>
              <a:rPr lang="zh-CN" altLang="en-US" b="0" i="0" u="none" strike="noStrike" baseline="0" dirty="0" smtClean="0">
                <a:latin typeface="Times New Roman"/>
              </a:rPr>
              <a:t> </a:t>
            </a:r>
            <a:r>
              <a:rPr lang="en-US" altLang="zh-CN" b="0" i="0" u="none" strike="noStrike" baseline="0" dirty="0" smtClean="0">
                <a:latin typeface="Times New Roman"/>
              </a:rPr>
              <a:t>!= -1)</a:t>
            </a:r>
            <a:r>
              <a:rPr lang="zh-CN" altLang="en-US" b="0" i="0" u="none" strike="noStrike" baseline="0" dirty="0" smtClean="0">
                <a:latin typeface="Times New Roman"/>
              </a:rPr>
              <a:t>		</a:t>
            </a:r>
            <a:r>
              <a:rPr lang="en-US" altLang="zh-CN" b="0" i="0" u="none" strike="noStrike" baseline="0" dirty="0" smtClean="0">
                <a:latin typeface="Times New Roman"/>
              </a:rPr>
              <a:t>// </a:t>
            </a:r>
            <a:r>
              <a:rPr lang="zh-CN" altLang="en-US" b="0" i="0" u="none" strike="noStrike" baseline="0" dirty="0" smtClean="0">
                <a:latin typeface="Times New Roman"/>
              </a:rPr>
              <a:t>删除刚才创建的目录</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puts("</a:t>
            </a:r>
            <a:r>
              <a:rPr lang="zh-CN" altLang="en-US" b="0" i="0" u="none" strike="noStrike" baseline="0" dirty="0" smtClean="0">
                <a:latin typeface="Times New Roman"/>
              </a:rPr>
              <a:t>删除目录成功</a:t>
            </a:r>
            <a:r>
              <a:rPr lang="en-US" altLang="zh-CN" b="0" i="0" u="none" strike="noStrike" baseline="0" dirty="0" smtClean="0">
                <a:latin typeface="Times New Roman"/>
              </a:rPr>
              <a:t>");</a:t>
            </a:r>
          </a:p>
          <a:p>
            <a:pPr marL="0" lvl="0" indent="0">
              <a:buNone/>
            </a:pPr>
            <a:r>
              <a:rPr lang="zh-CN" altLang="en-US" b="0" i="0" u="none" strike="noStrike" baseline="0" dirty="0" smtClean="0">
                <a:latin typeface="Times New Roman"/>
              </a:rPr>
              <a:t>   </a:t>
            </a:r>
            <a:r>
              <a:rPr lang="en-US" altLang="zh-CN" b="0" i="0" u="none" strike="noStrike" baseline="0" dirty="0" smtClean="0">
                <a:latin typeface="Times New Roman"/>
              </a:rPr>
              <a:t>else</a:t>
            </a:r>
          </a:p>
          <a:p>
            <a:pPr marL="0" lvl="0" indent="0">
              <a:buNone/>
            </a:pPr>
            <a:r>
              <a:rPr lang="en-US" altLang="zh-CN" b="0" i="0" u="none" strike="noStrike" baseline="0" dirty="0" smtClean="0">
                <a:latin typeface="Times New Roman"/>
              </a:rPr>
              <a:t>return 1;</a:t>
            </a:r>
          </a:p>
          <a:p>
            <a:endParaRPr lang="zh-CN" altLang="en-US" dirty="0"/>
          </a:p>
        </p:txBody>
      </p:sp>
    </p:spTree>
    <p:extLst>
      <p:ext uri="{BB962C8B-B14F-4D97-AF65-F5344CB8AC3E}">
        <p14:creationId xmlns:p14="http://schemas.microsoft.com/office/powerpoint/2010/main" val="217514537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第五章 进程控制和进程间通信</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95142711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、了解进程的概念；</a:t>
            </a:r>
          </a:p>
          <a:p>
            <a:r>
              <a:rPr lang="en-US" altLang="zh-CN" dirty="0"/>
              <a:t>2</a:t>
            </a:r>
            <a:r>
              <a:rPr lang="zh-CN" altLang="zh-CN" dirty="0"/>
              <a:t>、掌握</a:t>
            </a:r>
            <a:r>
              <a:rPr lang="en-US" altLang="zh-CN" dirty="0"/>
              <a:t>Linux</a:t>
            </a:r>
            <a:r>
              <a:rPr lang="zh-CN" altLang="zh-CN" dirty="0"/>
              <a:t>中的进程和进程环境，进程控制，进程间的关系，信号，</a:t>
            </a:r>
            <a:r>
              <a:rPr lang="en-US" altLang="zh-CN" dirty="0"/>
              <a:t>daemon</a:t>
            </a:r>
            <a:r>
              <a:rPr lang="zh-CN" altLang="zh-CN" dirty="0"/>
              <a:t>进程，进程间通信，线程。</a:t>
            </a:r>
            <a:endParaRPr lang="zh-CN" altLang="en-US" dirty="0"/>
          </a:p>
        </p:txBody>
      </p:sp>
    </p:spTree>
    <p:extLst>
      <p:ext uri="{BB962C8B-B14F-4D97-AF65-F5344CB8AC3E}">
        <p14:creationId xmlns:p14="http://schemas.microsoft.com/office/powerpoint/2010/main" val="73283966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程序和进程</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solidFill>
                  <a:srgbClr val="FF0000"/>
                </a:solidFill>
                <a:latin typeface="宋体" panose="02010600030101010101" pitchFamily="2" charset="-122"/>
              </a:rPr>
              <a:t>程序</a:t>
            </a:r>
            <a:r>
              <a:rPr lang="zh-CN" altLang="en-US" dirty="0" smtClean="0">
                <a:latin typeface="宋体" panose="02010600030101010101" pitchFamily="2" charset="-122"/>
              </a:rPr>
              <a:t>：程序</a:t>
            </a:r>
            <a:r>
              <a:rPr lang="zh-CN" altLang="en-US" dirty="0">
                <a:latin typeface="宋体" panose="02010600030101010101" pitchFamily="2" charset="-122"/>
              </a:rPr>
              <a:t>（</a:t>
            </a:r>
            <a:r>
              <a:rPr lang="en-US" altLang="zh-CN" dirty="0">
                <a:latin typeface="宋体" panose="02010600030101010101" pitchFamily="2" charset="-122"/>
              </a:rPr>
              <a:t>program</a:t>
            </a:r>
            <a:r>
              <a:rPr lang="zh-CN" altLang="en-US" dirty="0">
                <a:latin typeface="宋体" panose="02010600030101010101" pitchFamily="2" charset="-122"/>
              </a:rPr>
              <a:t>）是静态的，它是一些保存在磁盘上的指令的有序集合，是可执行文件，但没有任何执行的概念</a:t>
            </a:r>
            <a:r>
              <a:rPr lang="zh-CN" altLang="en-US" dirty="0" smtClean="0">
                <a:latin typeface="宋体" panose="02010600030101010101" pitchFamily="2" charset="-122"/>
              </a:rPr>
              <a:t>；</a:t>
            </a:r>
            <a:endParaRPr lang="en-US" altLang="zh-CN" dirty="0" smtClean="0">
              <a:latin typeface="宋体" panose="02010600030101010101" pitchFamily="2" charset="-122"/>
            </a:endParaRPr>
          </a:p>
          <a:p>
            <a:pPr marL="0" indent="0">
              <a:buNone/>
            </a:pPr>
            <a:endParaRPr lang="zh-CN" altLang="en-US" dirty="0">
              <a:latin typeface="宋体" panose="02010600030101010101" pitchFamily="2" charset="-122"/>
            </a:endParaRPr>
          </a:p>
          <a:p>
            <a:pPr marL="0" indent="0">
              <a:buNone/>
            </a:pPr>
            <a:r>
              <a:rPr lang="zh-CN" altLang="en-US" dirty="0" smtClean="0">
                <a:solidFill>
                  <a:srgbClr val="FF0000"/>
                </a:solidFill>
                <a:latin typeface="宋体" panose="02010600030101010101" pitchFamily="2" charset="-122"/>
              </a:rPr>
              <a:t>进程</a:t>
            </a:r>
            <a:r>
              <a:rPr lang="zh-CN" altLang="en-US" dirty="0" smtClean="0">
                <a:latin typeface="宋体" panose="02010600030101010101" pitchFamily="2" charset="-122"/>
              </a:rPr>
              <a:t>：进程</a:t>
            </a:r>
            <a:r>
              <a:rPr lang="en-US" altLang="zh-CN" dirty="0">
                <a:latin typeface="宋体" panose="02010600030101010101" pitchFamily="2" charset="-122"/>
              </a:rPr>
              <a:t>(process)</a:t>
            </a:r>
            <a:r>
              <a:rPr lang="zh-CN" altLang="en-US" dirty="0">
                <a:latin typeface="宋体" panose="02010600030101010101" pitchFamily="2" charset="-122"/>
              </a:rPr>
              <a:t>是一个动态的概念，它是程序执行的过程，包括了动态创建、调度和消亡的整个过程。它是程序执行和资源管理的最小单位</a:t>
            </a:r>
            <a:r>
              <a:rPr lang="zh-CN" altLang="en-US" dirty="0" smtClean="0">
                <a:latin typeface="宋体" panose="02010600030101010101" pitchFamily="2" charset="-122"/>
              </a:rPr>
              <a:t>。程序</a:t>
            </a:r>
            <a:r>
              <a:rPr lang="zh-CN" altLang="en-US" dirty="0">
                <a:latin typeface="宋体" panose="02010600030101010101" pitchFamily="2" charset="-122"/>
              </a:rPr>
              <a:t>的执行实例被称为进程，某些操作系统用任务表示正被执行的程序。</a:t>
            </a:r>
          </a:p>
          <a:p>
            <a:endParaRPr lang="zh-CN" altLang="en-US" dirty="0"/>
          </a:p>
        </p:txBody>
      </p:sp>
    </p:spTree>
    <p:extLst>
      <p:ext uri="{BB962C8B-B14F-4D97-AF65-F5344CB8AC3E}">
        <p14:creationId xmlns:p14="http://schemas.microsoft.com/office/powerpoint/2010/main" val="125551618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进程控制块和标识符 </a:t>
            </a:r>
            <a:endParaRPr lang="zh-CN" altLang="en-US" dirty="0"/>
          </a:p>
        </p:txBody>
      </p:sp>
      <p:sp>
        <p:nvSpPr>
          <p:cNvPr id="3" name="内容占位符 2"/>
          <p:cNvSpPr>
            <a:spLocks noGrp="1"/>
          </p:cNvSpPr>
          <p:nvPr>
            <p:ph idx="1"/>
          </p:nvPr>
        </p:nvSpPr>
        <p:spPr/>
        <p:txBody>
          <a:bodyPr/>
          <a:lstStyle/>
          <a:p>
            <a:r>
              <a:rPr lang="zh-CN" altLang="en-US" dirty="0"/>
              <a:t>进程是</a:t>
            </a:r>
            <a:r>
              <a:rPr lang="en-US" altLang="zh-CN" dirty="0"/>
              <a:t>Linux</a:t>
            </a:r>
            <a:r>
              <a:rPr lang="zh-CN" altLang="en-US" dirty="0"/>
              <a:t>系统的基本调度和管理资源的单位，它是通过进程控制块来描述的。</a:t>
            </a:r>
            <a:r>
              <a:rPr lang="zh-CN" altLang="en-US" dirty="0">
                <a:solidFill>
                  <a:srgbClr val="FF0000"/>
                </a:solidFill>
              </a:rPr>
              <a:t>进程控制块</a:t>
            </a:r>
            <a:r>
              <a:rPr lang="zh-CN" altLang="en-US" dirty="0"/>
              <a:t>包含了进程的描述信息、控制信息以及资源信息，它是进程的一个</a:t>
            </a:r>
            <a:r>
              <a:rPr lang="zh-CN" altLang="en-US" dirty="0">
                <a:solidFill>
                  <a:srgbClr val="FF0000"/>
                </a:solidFill>
              </a:rPr>
              <a:t>静态描述</a:t>
            </a:r>
            <a:r>
              <a:rPr lang="zh-CN" altLang="en-US" dirty="0"/>
              <a:t>。在</a:t>
            </a:r>
            <a:r>
              <a:rPr lang="en-US" altLang="zh-CN" dirty="0"/>
              <a:t>Linux</a:t>
            </a:r>
            <a:r>
              <a:rPr lang="zh-CN" altLang="en-US" dirty="0"/>
              <a:t>中，进程控制块中的每一项都是一个</a:t>
            </a:r>
            <a:r>
              <a:rPr lang="en-US" altLang="zh-CN" dirty="0" err="1"/>
              <a:t>task_struct</a:t>
            </a:r>
            <a:r>
              <a:rPr lang="zh-CN" altLang="en-US" dirty="0"/>
              <a:t>结构。 </a:t>
            </a:r>
          </a:p>
          <a:p>
            <a:r>
              <a:rPr lang="zh-CN" altLang="en-US" dirty="0"/>
              <a:t>每个</a:t>
            </a:r>
            <a:r>
              <a:rPr lang="en-US" altLang="zh-CN" dirty="0" err="1"/>
              <a:t>linux</a:t>
            </a:r>
            <a:r>
              <a:rPr lang="zh-CN" altLang="en-US" dirty="0"/>
              <a:t>进程都一定有一个唯一的数字标识符，称为进程</a:t>
            </a:r>
            <a:r>
              <a:rPr lang="en-US" altLang="zh-CN" dirty="0"/>
              <a:t>ID</a:t>
            </a:r>
            <a:r>
              <a:rPr lang="zh-CN" altLang="en-US" dirty="0"/>
              <a:t>（</a:t>
            </a:r>
            <a:r>
              <a:rPr lang="en-US" altLang="zh-CN" dirty="0"/>
              <a:t>process ID</a:t>
            </a:r>
            <a:r>
              <a:rPr lang="zh-CN" altLang="en-US" dirty="0"/>
              <a:t>）。进程</a:t>
            </a:r>
            <a:r>
              <a:rPr lang="en-US" altLang="zh-CN" dirty="0"/>
              <a:t>ID</a:t>
            </a:r>
            <a:r>
              <a:rPr lang="zh-CN" altLang="en-US" dirty="0"/>
              <a:t>总是一非负整数。</a:t>
            </a:r>
          </a:p>
          <a:p>
            <a:endParaRPr lang="zh-CN" altLang="en-US" dirty="0"/>
          </a:p>
        </p:txBody>
      </p:sp>
    </p:spTree>
    <p:extLst>
      <p:ext uri="{BB962C8B-B14F-4D97-AF65-F5344CB8AC3E}">
        <p14:creationId xmlns:p14="http://schemas.microsoft.com/office/powerpoint/2010/main" val="102819999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进程的状态</a:t>
            </a:r>
            <a:endParaRPr lang="zh-CN" altLang="en-US" dirty="0"/>
          </a:p>
        </p:txBody>
      </p:sp>
      <p:sp>
        <p:nvSpPr>
          <p:cNvPr id="3" name="内容占位符 2"/>
          <p:cNvSpPr>
            <a:spLocks noGrp="1"/>
          </p:cNvSpPr>
          <p:nvPr>
            <p:ph idx="1"/>
          </p:nvPr>
        </p:nvSpPr>
        <p:spPr>
          <a:xfrm>
            <a:off x="820615" y="1236541"/>
            <a:ext cx="10515600" cy="2405181"/>
          </a:xfrm>
        </p:spPr>
        <p:txBody>
          <a:bodyPr/>
          <a:lstStyle/>
          <a:p>
            <a:r>
              <a:rPr lang="zh-CN" altLang="en-US" sz="2400" dirty="0" smtClean="0"/>
              <a:t>进程是程序的执行过程，根据它的生命周期可以划分成</a:t>
            </a:r>
            <a:r>
              <a:rPr lang="en-US" altLang="zh-CN" sz="2400" dirty="0" smtClean="0"/>
              <a:t>3</a:t>
            </a:r>
            <a:r>
              <a:rPr lang="zh-CN" altLang="en-US" sz="2400" dirty="0" smtClean="0"/>
              <a:t>种状态。</a:t>
            </a:r>
            <a:endParaRPr lang="zh-CN" altLang="en-US" sz="2400" dirty="0" smtClean="0">
              <a:sym typeface="Symbol" panose="05050102010706020507" pitchFamily="18" charset="2"/>
            </a:endParaRPr>
          </a:p>
          <a:p>
            <a:pPr lvl="1">
              <a:buNone/>
            </a:pPr>
            <a:r>
              <a:rPr lang="zh-CN" altLang="en-US" dirty="0">
                <a:sym typeface="Symbol" panose="05050102010706020507" pitchFamily="18" charset="2"/>
              </a:rPr>
              <a:t></a:t>
            </a:r>
            <a:r>
              <a:rPr lang="zh-CN" altLang="en-US" dirty="0"/>
              <a:t>  执行态：该进程正在运行，即进程正在占用</a:t>
            </a:r>
            <a:r>
              <a:rPr lang="en-US" altLang="zh-CN" dirty="0"/>
              <a:t>CPU</a:t>
            </a:r>
            <a:r>
              <a:rPr lang="zh-CN" altLang="en-US" dirty="0"/>
              <a:t>。</a:t>
            </a:r>
            <a:endParaRPr lang="zh-CN" altLang="en-US" dirty="0">
              <a:sym typeface="Symbol" panose="05050102010706020507" pitchFamily="18" charset="2"/>
            </a:endParaRPr>
          </a:p>
          <a:p>
            <a:pPr lvl="1">
              <a:buNone/>
            </a:pPr>
            <a:r>
              <a:rPr lang="zh-CN" altLang="en-US" dirty="0">
                <a:sym typeface="Symbol" panose="05050102010706020507" pitchFamily="18" charset="2"/>
              </a:rPr>
              <a:t></a:t>
            </a:r>
            <a:r>
              <a:rPr lang="zh-CN" altLang="en-US" dirty="0"/>
              <a:t>  就绪态：进程已经具备执行的一切条件，正在等待分配</a:t>
            </a:r>
            <a:r>
              <a:rPr lang="en-US" altLang="zh-CN" dirty="0"/>
              <a:t>CPU</a:t>
            </a:r>
            <a:r>
              <a:rPr lang="zh-CN" altLang="en-US" dirty="0"/>
              <a:t>的处理时间片。</a:t>
            </a:r>
            <a:endParaRPr lang="zh-CN" altLang="en-US" dirty="0">
              <a:sym typeface="Symbol" panose="05050102010706020507" pitchFamily="18" charset="2"/>
            </a:endParaRPr>
          </a:p>
          <a:p>
            <a:pPr lvl="1">
              <a:buNone/>
            </a:pPr>
            <a:r>
              <a:rPr lang="zh-CN" altLang="en-US" dirty="0">
                <a:sym typeface="Symbol" panose="05050102010706020507" pitchFamily="18" charset="2"/>
              </a:rPr>
              <a:t></a:t>
            </a:r>
            <a:r>
              <a:rPr lang="zh-CN" altLang="en-US" dirty="0"/>
              <a:t>  等待态：进程不能使用</a:t>
            </a:r>
            <a:r>
              <a:rPr lang="en-US" altLang="zh-CN" dirty="0"/>
              <a:t>CPU</a:t>
            </a:r>
            <a:r>
              <a:rPr lang="zh-CN" altLang="en-US" dirty="0"/>
              <a:t>，若等待事件发生（等待的资源分配到）则可将其唤醒。 </a:t>
            </a:r>
          </a:p>
          <a:p>
            <a:endParaRPr lang="zh-CN" altLang="en-US" dirty="0"/>
          </a:p>
        </p:txBody>
      </p:sp>
      <p:graphicFrame>
        <p:nvGraphicFramePr>
          <p:cNvPr id="4" name="Object 5"/>
          <p:cNvGraphicFramePr>
            <a:graphicFrameLocks noChangeAspect="1"/>
          </p:cNvGraphicFramePr>
          <p:nvPr>
            <p:extLst>
              <p:ext uri="{D42A27DB-BD31-4B8C-83A1-F6EECF244321}">
                <p14:modId xmlns:p14="http://schemas.microsoft.com/office/powerpoint/2010/main" val="2223588243"/>
              </p:ext>
            </p:extLst>
          </p:nvPr>
        </p:nvGraphicFramePr>
        <p:xfrm>
          <a:off x="2808927" y="4230806"/>
          <a:ext cx="5562600" cy="1905000"/>
        </p:xfrm>
        <a:graphic>
          <a:graphicData uri="http://schemas.openxmlformats.org/presentationml/2006/ole">
            <mc:AlternateContent xmlns:mc="http://schemas.openxmlformats.org/markup-compatibility/2006">
              <mc:Choice xmlns:v="urn:schemas-microsoft-com:vml" Requires="v">
                <p:oleObj spid="_x0000_s9218" name="Visio" r:id="rId3" imgW="3616833" imgH="1238250" progId="Visio.Drawing.11">
                  <p:embed/>
                </p:oleObj>
              </mc:Choice>
              <mc:Fallback>
                <p:oleObj name="Visio" r:id="rId3" imgW="3616833" imgH="123825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927" y="4230806"/>
                        <a:ext cx="55626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444009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t>
            </a:r>
            <a:r>
              <a:rPr lang="en-US" altLang="zh-CN" dirty="0" smtClean="0"/>
              <a:t>inux</a:t>
            </a:r>
            <a:r>
              <a:rPr lang="zh-CN" altLang="en-US" dirty="0" smtClean="0"/>
              <a:t>下的进程结构</a:t>
            </a:r>
            <a:endParaRPr lang="zh-CN" altLang="en-US" dirty="0"/>
          </a:p>
        </p:txBody>
      </p:sp>
      <p:sp>
        <p:nvSpPr>
          <p:cNvPr id="3" name="内容占位符 2"/>
          <p:cNvSpPr>
            <a:spLocks noGrp="1"/>
          </p:cNvSpPr>
          <p:nvPr>
            <p:ph idx="1"/>
          </p:nvPr>
        </p:nvSpPr>
        <p:spPr>
          <a:xfrm>
            <a:off x="609600" y="1214438"/>
            <a:ext cx="10972800" cy="4087324"/>
          </a:xfrm>
        </p:spPr>
        <p:txBody>
          <a:bodyPr/>
          <a:lstStyle/>
          <a:p>
            <a:pPr marL="0" indent="0">
              <a:buNone/>
            </a:pPr>
            <a:r>
              <a:rPr lang="en-US" altLang="zh-CN" dirty="0"/>
              <a:t>Linux</a:t>
            </a:r>
            <a:r>
              <a:rPr lang="zh-CN" altLang="en-US" dirty="0"/>
              <a:t>系统是一个多进程的系统，进程之间具有并行性、互不干扰的特点</a:t>
            </a:r>
            <a:r>
              <a:rPr lang="zh-CN" altLang="en-US" dirty="0" smtClean="0"/>
              <a:t>。</a:t>
            </a:r>
            <a:endParaRPr lang="zh-CN" altLang="en-US" dirty="0"/>
          </a:p>
          <a:p>
            <a:pPr marL="0" indent="0">
              <a:buNone/>
            </a:pPr>
            <a:r>
              <a:rPr lang="zh-CN" altLang="en-US" dirty="0" smtClean="0"/>
              <a:t>每个</a:t>
            </a:r>
            <a:r>
              <a:rPr lang="zh-CN" altLang="en-US" dirty="0"/>
              <a:t>进程都是一个独立的运行单位，拥有各自的权利和责任。其中，各个进程都运行在独立的虚拟地址空间，因此，即使一个进程发生异常，它也不会影响到系统中的其他进程</a:t>
            </a:r>
            <a:r>
              <a:rPr lang="zh-CN" altLang="en-US" dirty="0" smtClean="0"/>
              <a:t>。</a:t>
            </a:r>
            <a:endParaRPr lang="zh-CN" altLang="en-US" dirty="0"/>
          </a:p>
          <a:p>
            <a:pPr marL="0" indent="0">
              <a:buNone/>
            </a:pPr>
            <a:r>
              <a:rPr lang="en-US" altLang="zh-CN" dirty="0" err="1" smtClean="0"/>
              <a:t>linux</a:t>
            </a:r>
            <a:r>
              <a:rPr lang="zh-CN" altLang="en-US" dirty="0"/>
              <a:t>中进程包含</a:t>
            </a:r>
            <a:r>
              <a:rPr lang="en-US" altLang="zh-CN" dirty="0"/>
              <a:t>3</a:t>
            </a:r>
            <a:r>
              <a:rPr lang="zh-CN" altLang="en-US" dirty="0"/>
              <a:t>个段，分别为</a:t>
            </a:r>
            <a:r>
              <a:rPr lang="zh-CN" altLang="en-US" dirty="0">
                <a:latin typeface="Arial" panose="020B0604020202020204" pitchFamily="34" charset="0"/>
              </a:rPr>
              <a:t>“</a:t>
            </a:r>
            <a:r>
              <a:rPr lang="zh-CN" altLang="en-US" dirty="0"/>
              <a:t>代码段</a:t>
            </a:r>
            <a:r>
              <a:rPr lang="zh-CN" altLang="en-US" dirty="0">
                <a:latin typeface="Arial" panose="020B0604020202020204" pitchFamily="34" charset="0"/>
              </a:rPr>
              <a:t>”</a:t>
            </a:r>
            <a:r>
              <a:rPr lang="zh-CN" altLang="en-US" dirty="0"/>
              <a:t>、</a:t>
            </a:r>
            <a:r>
              <a:rPr lang="zh-CN" altLang="en-US" dirty="0">
                <a:latin typeface="Arial" panose="020B0604020202020204" pitchFamily="34" charset="0"/>
              </a:rPr>
              <a:t>“</a:t>
            </a:r>
            <a:r>
              <a:rPr lang="zh-CN" altLang="en-US" dirty="0"/>
              <a:t>数据段</a:t>
            </a:r>
            <a:r>
              <a:rPr lang="zh-CN" altLang="en-US" dirty="0">
                <a:latin typeface="Arial" panose="020B0604020202020204" pitchFamily="34" charset="0"/>
              </a:rPr>
              <a:t>”</a:t>
            </a:r>
            <a:r>
              <a:rPr lang="zh-CN" altLang="en-US" dirty="0"/>
              <a:t>和</a:t>
            </a:r>
            <a:r>
              <a:rPr lang="zh-CN" altLang="en-US" dirty="0">
                <a:latin typeface="Arial" panose="020B0604020202020204" pitchFamily="34" charset="0"/>
              </a:rPr>
              <a:t>“</a:t>
            </a:r>
            <a:r>
              <a:rPr lang="zh-CN" altLang="en-US" dirty="0"/>
              <a:t>堆栈段</a:t>
            </a:r>
            <a:r>
              <a:rPr lang="zh-CN" altLang="en-US" dirty="0">
                <a:latin typeface="Arial" panose="020B0604020202020204" pitchFamily="34" charset="0"/>
              </a:rPr>
              <a:t>”</a:t>
            </a:r>
            <a:r>
              <a:rPr lang="zh-CN" altLang="en-US" dirty="0"/>
              <a:t>。</a:t>
            </a:r>
          </a:p>
          <a:p>
            <a:endParaRPr lang="zh-CN" altLang="en-US" dirty="0"/>
          </a:p>
        </p:txBody>
      </p:sp>
      <p:grpSp>
        <p:nvGrpSpPr>
          <p:cNvPr id="4" name="Group 14"/>
          <p:cNvGrpSpPr>
            <a:grpSpLocks/>
          </p:cNvGrpSpPr>
          <p:nvPr/>
        </p:nvGrpSpPr>
        <p:grpSpPr bwMode="auto">
          <a:xfrm>
            <a:off x="3839949" y="5121565"/>
            <a:ext cx="3671888" cy="792162"/>
            <a:chOff x="1701" y="2795"/>
            <a:chExt cx="2313" cy="499"/>
          </a:xfrm>
        </p:grpSpPr>
        <p:sp>
          <p:nvSpPr>
            <p:cNvPr id="5" name="Rectangle 4"/>
            <p:cNvSpPr>
              <a:spLocks noChangeArrowheads="1"/>
            </p:cNvSpPr>
            <p:nvPr/>
          </p:nvSpPr>
          <p:spPr bwMode="auto">
            <a:xfrm>
              <a:off x="1701" y="2795"/>
              <a:ext cx="771" cy="49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代码段</a:t>
              </a:r>
            </a:p>
          </p:txBody>
        </p:sp>
        <p:sp>
          <p:nvSpPr>
            <p:cNvPr id="6" name="Rectangle 5"/>
            <p:cNvSpPr>
              <a:spLocks noChangeArrowheads="1"/>
            </p:cNvSpPr>
            <p:nvPr/>
          </p:nvSpPr>
          <p:spPr bwMode="auto">
            <a:xfrm>
              <a:off x="2472" y="2795"/>
              <a:ext cx="771" cy="49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dirty="0"/>
                <a:t>数据段</a:t>
              </a:r>
            </a:p>
          </p:txBody>
        </p:sp>
        <p:sp>
          <p:nvSpPr>
            <p:cNvPr id="7" name="Rectangle 6"/>
            <p:cNvSpPr>
              <a:spLocks noChangeArrowheads="1"/>
            </p:cNvSpPr>
            <p:nvPr/>
          </p:nvSpPr>
          <p:spPr bwMode="auto">
            <a:xfrm>
              <a:off x="3243" y="2795"/>
              <a:ext cx="771" cy="49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堆栈段</a:t>
              </a:r>
            </a:p>
          </p:txBody>
        </p:sp>
      </p:grpSp>
    </p:spTree>
    <p:extLst>
      <p:ext uri="{BB962C8B-B14F-4D97-AF65-F5344CB8AC3E}">
        <p14:creationId xmlns:p14="http://schemas.microsoft.com/office/powerpoint/2010/main" val="173986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lvl="0" indent="0" fontAlgn="base">
              <a:spcBef>
                <a:spcPct val="20000"/>
              </a:spcBef>
              <a:spcAft>
                <a:spcPct val="0"/>
              </a:spcAft>
              <a:buClr>
                <a:srgbClr val="3333CC"/>
              </a:buClr>
              <a:buSzPct val="60000"/>
              <a:buFont typeface="Wingdings" panose="05000000000000000000" pitchFamily="2" charset="2"/>
              <a:buChar char="n"/>
            </a:pPr>
            <a:r>
              <a:rPr lang="zh-CN" altLang="en-US" kern="0" dirty="0" smtClean="0">
                <a:solidFill>
                  <a:srgbClr val="FF0000"/>
                </a:solidFill>
                <a:latin typeface="Tahoma"/>
                <a:ea typeface="宋体"/>
              </a:rPr>
              <a:t>代码段</a:t>
            </a:r>
            <a:r>
              <a:rPr lang="zh-CN" altLang="en-US" kern="0" dirty="0" smtClean="0">
                <a:solidFill>
                  <a:srgbClr val="FF0000"/>
                </a:solidFill>
                <a:latin typeface="Arial" panose="020B0604020202020204" pitchFamily="34" charset="0"/>
                <a:ea typeface="宋体"/>
              </a:rPr>
              <a:t>：</a:t>
            </a:r>
            <a:r>
              <a:rPr lang="zh-CN" altLang="en-US" kern="0" dirty="0" smtClean="0">
                <a:solidFill>
                  <a:srgbClr val="000000"/>
                </a:solidFill>
                <a:latin typeface="Tahoma"/>
                <a:ea typeface="宋体"/>
              </a:rPr>
              <a:t>存放</a:t>
            </a:r>
            <a:r>
              <a:rPr lang="zh-CN" altLang="en-US" kern="0" dirty="0">
                <a:solidFill>
                  <a:srgbClr val="000000"/>
                </a:solidFill>
                <a:latin typeface="Tahoma"/>
                <a:ea typeface="宋体"/>
              </a:rPr>
              <a:t>程序代码；</a:t>
            </a:r>
          </a:p>
          <a:p>
            <a:pPr marL="0" lvl="0" indent="0" fontAlgn="base">
              <a:spcBef>
                <a:spcPct val="20000"/>
              </a:spcBef>
              <a:spcAft>
                <a:spcPct val="0"/>
              </a:spcAft>
              <a:buClr>
                <a:srgbClr val="3333CC"/>
              </a:buClr>
              <a:buSzPct val="60000"/>
              <a:buFont typeface="Wingdings" panose="05000000000000000000" pitchFamily="2" charset="2"/>
              <a:buChar char="n"/>
            </a:pPr>
            <a:r>
              <a:rPr lang="zh-CN" altLang="en-US" kern="0" dirty="0" smtClean="0">
                <a:solidFill>
                  <a:srgbClr val="FF0000"/>
                </a:solidFill>
                <a:latin typeface="Tahoma"/>
                <a:ea typeface="宋体"/>
              </a:rPr>
              <a:t>数据段</a:t>
            </a:r>
            <a:r>
              <a:rPr lang="zh-CN" altLang="en-US" kern="0" dirty="0" smtClean="0">
                <a:solidFill>
                  <a:srgbClr val="FF0000"/>
                </a:solidFill>
                <a:latin typeface="Arial" panose="020B0604020202020204" pitchFamily="34" charset="0"/>
                <a:ea typeface="宋体"/>
              </a:rPr>
              <a:t>：</a:t>
            </a:r>
            <a:r>
              <a:rPr lang="zh-CN" altLang="en-US" kern="0" dirty="0" smtClean="0">
                <a:solidFill>
                  <a:srgbClr val="000000"/>
                </a:solidFill>
                <a:latin typeface="Tahoma"/>
                <a:ea typeface="宋体"/>
              </a:rPr>
              <a:t>存放</a:t>
            </a:r>
            <a:r>
              <a:rPr lang="zh-CN" altLang="en-US" kern="0" dirty="0">
                <a:solidFill>
                  <a:srgbClr val="000000"/>
                </a:solidFill>
                <a:latin typeface="Tahoma"/>
                <a:ea typeface="宋体"/>
              </a:rPr>
              <a:t>全局变量、常数以及动态数据分配的空间（</a:t>
            </a:r>
            <a:r>
              <a:rPr lang="en-US" altLang="zh-CN" kern="0" dirty="0" err="1">
                <a:solidFill>
                  <a:srgbClr val="000000"/>
                </a:solidFill>
                <a:latin typeface="Tahoma"/>
                <a:ea typeface="宋体"/>
              </a:rPr>
              <a:t>malloc</a:t>
            </a:r>
            <a:r>
              <a:rPr lang="zh-CN" altLang="en-US" kern="0" dirty="0">
                <a:solidFill>
                  <a:srgbClr val="000000"/>
                </a:solidFill>
                <a:latin typeface="Tahoma"/>
                <a:ea typeface="宋体"/>
              </a:rPr>
              <a:t>函数取得的空间）；</a:t>
            </a:r>
          </a:p>
          <a:p>
            <a:pPr marL="0" lvl="0" indent="0" fontAlgn="base">
              <a:spcBef>
                <a:spcPct val="20000"/>
              </a:spcBef>
              <a:spcAft>
                <a:spcPct val="0"/>
              </a:spcAft>
              <a:buClr>
                <a:srgbClr val="3333CC"/>
              </a:buClr>
              <a:buSzPct val="60000"/>
              <a:buNone/>
            </a:pPr>
            <a:r>
              <a:rPr lang="zh-CN" altLang="en-US" kern="0" dirty="0">
                <a:solidFill>
                  <a:srgbClr val="000000"/>
                </a:solidFill>
                <a:latin typeface="Tahoma"/>
                <a:ea typeface="宋体"/>
              </a:rPr>
              <a:t>      根据存放的数据，数据段又可以分成普通数据段（包括可读可写</a:t>
            </a:r>
            <a:r>
              <a:rPr lang="en-US" altLang="zh-CN" kern="0" dirty="0">
                <a:solidFill>
                  <a:srgbClr val="000000"/>
                </a:solidFill>
                <a:latin typeface="Tahoma"/>
                <a:ea typeface="宋体"/>
              </a:rPr>
              <a:t>/</a:t>
            </a:r>
            <a:r>
              <a:rPr lang="zh-CN" altLang="en-US" kern="0" dirty="0">
                <a:solidFill>
                  <a:srgbClr val="000000"/>
                </a:solidFill>
                <a:latin typeface="Tahoma"/>
                <a:ea typeface="宋体"/>
              </a:rPr>
              <a:t>只读数据段，存放静态初始化的全局变量或常量）、</a:t>
            </a:r>
            <a:r>
              <a:rPr lang="en-US" altLang="zh-CN" kern="0" dirty="0">
                <a:solidFill>
                  <a:srgbClr val="000000"/>
                </a:solidFill>
                <a:latin typeface="Tahoma"/>
                <a:ea typeface="宋体"/>
              </a:rPr>
              <a:t>BSS</a:t>
            </a:r>
            <a:r>
              <a:rPr lang="zh-CN" altLang="en-US" kern="0" dirty="0">
                <a:solidFill>
                  <a:srgbClr val="000000"/>
                </a:solidFill>
                <a:latin typeface="Tahoma"/>
                <a:ea typeface="宋体"/>
              </a:rPr>
              <a:t>数据段</a:t>
            </a:r>
            <a:r>
              <a:rPr lang="zh-CN" altLang="en-US" kern="0" dirty="0" smtClean="0">
                <a:solidFill>
                  <a:srgbClr val="000000"/>
                </a:solidFill>
                <a:latin typeface="Tahoma"/>
                <a:ea typeface="宋体"/>
              </a:rPr>
              <a:t>（</a:t>
            </a:r>
            <a:r>
              <a:rPr lang="en-US" altLang="zh-CN" dirty="0"/>
              <a:t> Block Started by Symbol</a:t>
            </a:r>
            <a:r>
              <a:rPr lang="zh-CN" altLang="en-US" kern="0" dirty="0" smtClean="0">
                <a:solidFill>
                  <a:srgbClr val="000000"/>
                </a:solidFill>
                <a:latin typeface="Tahoma"/>
                <a:ea typeface="宋体"/>
              </a:rPr>
              <a:t>存放</a:t>
            </a:r>
            <a:r>
              <a:rPr lang="zh-CN" altLang="en-US" kern="0" dirty="0">
                <a:solidFill>
                  <a:srgbClr val="000000"/>
                </a:solidFill>
                <a:latin typeface="Tahoma"/>
                <a:ea typeface="宋体"/>
              </a:rPr>
              <a:t>未初始化的全局变量）以及堆（存放动态分配的数据）。</a:t>
            </a:r>
          </a:p>
          <a:p>
            <a:pPr marL="0" lvl="0" indent="0" fontAlgn="base">
              <a:spcBef>
                <a:spcPct val="20000"/>
              </a:spcBef>
              <a:spcAft>
                <a:spcPct val="0"/>
              </a:spcAft>
              <a:buClr>
                <a:srgbClr val="3333CC"/>
              </a:buClr>
              <a:buSzPct val="60000"/>
              <a:buFont typeface="Wingdings" panose="05000000000000000000" pitchFamily="2" charset="2"/>
              <a:buChar char="n"/>
            </a:pPr>
            <a:r>
              <a:rPr lang="zh-CN" altLang="en-US" kern="0" dirty="0" smtClean="0">
                <a:solidFill>
                  <a:srgbClr val="FF0000"/>
                </a:solidFill>
                <a:latin typeface="Tahoma"/>
                <a:ea typeface="宋体"/>
              </a:rPr>
              <a:t>堆栈段</a:t>
            </a:r>
            <a:r>
              <a:rPr lang="zh-CN" altLang="en-US" kern="0" dirty="0" smtClean="0">
                <a:solidFill>
                  <a:srgbClr val="FF0000"/>
                </a:solidFill>
                <a:latin typeface="Arial" panose="020B0604020202020204" pitchFamily="34" charset="0"/>
                <a:ea typeface="宋体"/>
              </a:rPr>
              <a:t>：</a:t>
            </a:r>
            <a:r>
              <a:rPr lang="zh-CN" altLang="en-US" kern="0" dirty="0" smtClean="0">
                <a:solidFill>
                  <a:srgbClr val="000000"/>
                </a:solidFill>
                <a:latin typeface="Tahoma"/>
                <a:ea typeface="宋体"/>
              </a:rPr>
              <a:t>存放</a:t>
            </a:r>
            <a:r>
              <a:rPr lang="zh-CN" altLang="en-US" kern="0" dirty="0">
                <a:solidFill>
                  <a:srgbClr val="000000"/>
                </a:solidFill>
                <a:latin typeface="Tahoma"/>
                <a:ea typeface="宋体"/>
              </a:rPr>
              <a:t>子程序的返回地址、子程序的参数以及程序的局部变量。</a:t>
            </a:r>
          </a:p>
          <a:p>
            <a:endParaRPr lang="zh-CN" altLang="en-US" dirty="0"/>
          </a:p>
        </p:txBody>
      </p:sp>
    </p:spTree>
    <p:extLst>
      <p:ext uri="{BB962C8B-B14F-4D97-AF65-F5344CB8AC3E}">
        <p14:creationId xmlns:p14="http://schemas.microsoft.com/office/powerpoint/2010/main" val="381846839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下进程地址空间、用户态和内核态</a:t>
            </a:r>
            <a:endParaRPr lang="zh-CN" altLang="en-US" dirty="0"/>
          </a:p>
        </p:txBody>
      </p:sp>
      <p:graphicFrame>
        <p:nvGraphicFramePr>
          <p:cNvPr id="4" name="Object 3"/>
          <p:cNvGraphicFramePr>
            <a:graphicFrameLocks noGrp="1" noChangeAspect="1"/>
          </p:cNvGraphicFramePr>
          <p:nvPr>
            <p:ph idx="1"/>
            <p:extLst>
              <p:ext uri="{D42A27DB-BD31-4B8C-83A1-F6EECF244321}">
                <p14:modId xmlns:p14="http://schemas.microsoft.com/office/powerpoint/2010/main" val="3921857143"/>
              </p:ext>
            </p:extLst>
          </p:nvPr>
        </p:nvGraphicFramePr>
        <p:xfrm>
          <a:off x="1990725" y="1204690"/>
          <a:ext cx="3194050" cy="4776787"/>
        </p:xfrm>
        <a:graphic>
          <a:graphicData uri="http://schemas.openxmlformats.org/presentationml/2006/ole">
            <mc:AlternateContent xmlns:mc="http://schemas.openxmlformats.org/markup-compatibility/2006">
              <mc:Choice xmlns:v="urn:schemas-microsoft-com:vml" Requires="v">
                <p:oleObj spid="_x0000_s10242" name="Visio" r:id="rId3" imgW="2090520" imgH="3128040" progId="Visio.Drawing.11">
                  <p:embed/>
                </p:oleObj>
              </mc:Choice>
              <mc:Fallback>
                <p:oleObj name="Visio" r:id="rId3" imgW="2090520" imgH="312804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725" y="1204690"/>
                        <a:ext cx="3194050"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137853346"/>
              </p:ext>
            </p:extLst>
          </p:nvPr>
        </p:nvGraphicFramePr>
        <p:xfrm>
          <a:off x="5534736" y="1708306"/>
          <a:ext cx="5118100" cy="3055938"/>
        </p:xfrm>
        <a:graphic>
          <a:graphicData uri="http://schemas.openxmlformats.org/presentationml/2006/ole">
            <mc:AlternateContent xmlns:mc="http://schemas.openxmlformats.org/markup-compatibility/2006">
              <mc:Choice xmlns:v="urn:schemas-microsoft-com:vml" Requires="v">
                <p:oleObj spid="_x0000_s10243" name="Visio" r:id="rId5" imgW="3241800" imgH="2181960" progId="Visio.Drawing.11">
                  <p:embed/>
                </p:oleObj>
              </mc:Choice>
              <mc:Fallback>
                <p:oleObj name="Visio" r:id="rId5" imgW="3241800" imgH="218196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4736" y="1708306"/>
                        <a:ext cx="5118100" cy="305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815381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下的进程管理</a:t>
            </a:r>
            <a:endParaRPr lang="zh-CN" altLang="en-US" dirty="0"/>
          </a:p>
        </p:txBody>
      </p:sp>
      <p:sp>
        <p:nvSpPr>
          <p:cNvPr id="3" name="内容占位符 2"/>
          <p:cNvSpPr>
            <a:spLocks noGrp="1"/>
          </p:cNvSpPr>
          <p:nvPr>
            <p:ph idx="1"/>
          </p:nvPr>
        </p:nvSpPr>
        <p:spPr>
          <a:xfrm>
            <a:off x="767861" y="1403594"/>
            <a:ext cx="10515600" cy="1750088"/>
          </a:xfrm>
        </p:spPr>
        <p:txBody>
          <a:bodyPr/>
          <a:lstStyle/>
          <a:p>
            <a:r>
              <a:rPr lang="zh-CN" altLang="en-US" sz="2400" dirty="0" smtClean="0"/>
              <a:t>启动进程 </a:t>
            </a:r>
          </a:p>
          <a:p>
            <a:pPr lvl="1">
              <a:buFont typeface="Wingdings" panose="05000000000000000000" pitchFamily="2" charset="2"/>
              <a:buChar char="l"/>
            </a:pPr>
            <a:r>
              <a:rPr lang="zh-CN" altLang="en-US" dirty="0"/>
              <a:t>手工启动 </a:t>
            </a:r>
          </a:p>
          <a:p>
            <a:pPr lvl="1">
              <a:buFont typeface="Wingdings" panose="05000000000000000000" pitchFamily="2" charset="2"/>
              <a:buChar char="l"/>
            </a:pPr>
            <a:r>
              <a:rPr lang="zh-CN" altLang="en-US" dirty="0"/>
              <a:t>调度启动 </a:t>
            </a:r>
          </a:p>
          <a:p>
            <a:r>
              <a:rPr lang="zh-CN" altLang="en-US" sz="2400" dirty="0" smtClean="0"/>
              <a:t>进程相关命令 </a:t>
            </a:r>
          </a:p>
          <a:p>
            <a:endParaRPr lang="zh-CN" altLang="en-US" dirty="0"/>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724" y="2582182"/>
            <a:ext cx="78486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031387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init</a:t>
            </a:r>
            <a:r>
              <a:rPr lang="zh-CN" altLang="en-US" dirty="0" smtClean="0"/>
              <a:t>进程</a:t>
            </a:r>
            <a:endParaRPr lang="zh-CN" altLang="en-US" dirty="0"/>
          </a:p>
        </p:txBody>
      </p:sp>
      <p:sp>
        <p:nvSpPr>
          <p:cNvPr id="3" name="内容占位符 2"/>
          <p:cNvSpPr>
            <a:spLocks noGrp="1"/>
          </p:cNvSpPr>
          <p:nvPr>
            <p:ph idx="1"/>
          </p:nvPr>
        </p:nvSpPr>
        <p:spPr/>
        <p:txBody>
          <a:bodyPr/>
          <a:lstStyle/>
          <a:p>
            <a:pPr>
              <a:lnSpc>
                <a:spcPct val="80000"/>
              </a:lnSpc>
            </a:pPr>
            <a:r>
              <a:rPr lang="zh-CN" altLang="en-US" dirty="0">
                <a:latin typeface="宋体" panose="02010600030101010101" pitchFamily="2" charset="-122"/>
              </a:rPr>
              <a:t>进程</a:t>
            </a:r>
            <a:r>
              <a:rPr lang="en-US" altLang="zh-CN" dirty="0">
                <a:latin typeface="宋体" panose="02010600030101010101" pitchFamily="2" charset="-122"/>
              </a:rPr>
              <a:t>ID</a:t>
            </a:r>
            <a:r>
              <a:rPr lang="zh-CN" altLang="en-US" dirty="0">
                <a:latin typeface="宋体" panose="02010600030101010101" pitchFamily="2" charset="-122"/>
              </a:rPr>
              <a:t>为</a:t>
            </a:r>
            <a:r>
              <a:rPr lang="en-US" altLang="zh-CN" dirty="0">
                <a:latin typeface="宋体" panose="02010600030101010101" pitchFamily="2" charset="-122"/>
              </a:rPr>
              <a:t>1</a:t>
            </a:r>
            <a:r>
              <a:rPr lang="zh-CN" altLang="en-US" dirty="0">
                <a:latin typeface="宋体" panose="02010600030101010101" pitchFamily="2" charset="-122"/>
              </a:rPr>
              <a:t>通常是</a:t>
            </a:r>
            <a:r>
              <a:rPr lang="en-US" altLang="zh-CN" dirty="0" err="1">
                <a:latin typeface="宋体" panose="02010600030101010101" pitchFamily="2" charset="-122"/>
              </a:rPr>
              <a:t>init</a:t>
            </a:r>
            <a:r>
              <a:rPr lang="zh-CN" altLang="en-US" dirty="0">
                <a:latin typeface="宋体" panose="02010600030101010101" pitchFamily="2" charset="-122"/>
              </a:rPr>
              <a:t>进</a:t>
            </a:r>
            <a:r>
              <a:rPr lang="zh-CN" altLang="en-US" dirty="0">
                <a:latin typeface="Times New Roman" panose="02020603050405020304" pitchFamily="18" charset="0"/>
              </a:rPr>
              <a:t>程，在自举过程结束时由内核调用。</a:t>
            </a:r>
          </a:p>
          <a:p>
            <a:pPr>
              <a:lnSpc>
                <a:spcPct val="80000"/>
              </a:lnSpc>
            </a:pPr>
            <a:r>
              <a:rPr lang="en-US" altLang="zh-CN" dirty="0" err="1" smtClean="0">
                <a:latin typeface="宋体" panose="02010600030101010101" pitchFamily="2" charset="-122"/>
              </a:rPr>
              <a:t>init</a:t>
            </a:r>
            <a:r>
              <a:rPr lang="zh-CN" altLang="en-US" dirty="0"/>
              <a:t>进程绝不会终止。</a:t>
            </a:r>
          </a:p>
          <a:p>
            <a:pPr>
              <a:lnSpc>
                <a:spcPct val="80000"/>
              </a:lnSpc>
            </a:pPr>
            <a:r>
              <a:rPr lang="zh-CN" altLang="en-US" dirty="0"/>
              <a:t>系统运行时分用户空间和内核空间， </a:t>
            </a:r>
            <a:r>
              <a:rPr lang="en-US" altLang="zh-CN" dirty="0" err="1">
                <a:latin typeface="宋体" panose="02010600030101010101" pitchFamily="2" charset="-122"/>
              </a:rPr>
              <a:t>init</a:t>
            </a:r>
            <a:r>
              <a:rPr lang="zh-CN" altLang="en-US" dirty="0"/>
              <a:t>进程是一个普通的用户进程</a:t>
            </a:r>
            <a:r>
              <a:rPr lang="en-US" altLang="zh-CN" dirty="0"/>
              <a:t>(</a:t>
            </a:r>
            <a:r>
              <a:rPr lang="zh-CN" altLang="en-US" dirty="0"/>
              <a:t>与交换进程不同，它不是内核中的系统进程</a:t>
            </a:r>
            <a:r>
              <a:rPr lang="en-US" altLang="zh-CN" dirty="0" smtClean="0"/>
              <a:t>)</a:t>
            </a:r>
            <a:endParaRPr lang="zh-CN" altLang="en-US" dirty="0"/>
          </a:p>
          <a:p>
            <a:endParaRPr lang="zh-CN" altLang="en-US" dirty="0"/>
          </a:p>
        </p:txBody>
      </p:sp>
    </p:spTree>
    <p:extLst>
      <p:ext uri="{BB962C8B-B14F-4D97-AF65-F5344CB8AC3E}">
        <p14:creationId xmlns:p14="http://schemas.microsoft.com/office/powerpoint/2010/main" val="388312155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获取进程标识</a:t>
            </a:r>
            <a:endParaRPr lang="zh-CN" altLang="en-US" dirty="0"/>
          </a:p>
        </p:txBody>
      </p:sp>
      <p:sp>
        <p:nvSpPr>
          <p:cNvPr id="3" name="内容占位符 2"/>
          <p:cNvSpPr>
            <a:spLocks noGrp="1"/>
          </p:cNvSpPr>
          <p:nvPr>
            <p:ph idx="1"/>
          </p:nvPr>
        </p:nvSpPr>
        <p:spPr/>
        <p:txBody>
          <a:bodyPr/>
          <a:lstStyle/>
          <a:p>
            <a:r>
              <a:rPr lang="en-US" altLang="zh-CN" dirty="0" smtClean="0"/>
              <a:t>#include &lt;sys/</a:t>
            </a:r>
            <a:r>
              <a:rPr lang="en-US" altLang="zh-CN" dirty="0" err="1" smtClean="0"/>
              <a:t>types.h</a:t>
            </a:r>
            <a:r>
              <a:rPr lang="en-US" altLang="zh-CN" dirty="0" smtClean="0"/>
              <a:t>&gt;</a:t>
            </a:r>
          </a:p>
          <a:p>
            <a:r>
              <a:rPr lang="en-US" altLang="zh-CN" dirty="0" smtClean="0"/>
              <a:t>#include &lt;</a:t>
            </a:r>
            <a:r>
              <a:rPr lang="en-US" altLang="zh-CN" dirty="0" err="1" smtClean="0"/>
              <a:t>unistd.h</a:t>
            </a:r>
            <a:r>
              <a:rPr lang="en-US" altLang="zh-CN" dirty="0" smtClean="0"/>
              <a:t>&gt;</a:t>
            </a:r>
          </a:p>
          <a:p>
            <a:r>
              <a:rPr lang="en-US" altLang="zh-CN" dirty="0" err="1" smtClean="0"/>
              <a:t>pid_t</a:t>
            </a:r>
            <a:r>
              <a:rPr lang="en-US" altLang="zh-CN" dirty="0" smtClean="0"/>
              <a:t> </a:t>
            </a:r>
            <a:r>
              <a:rPr lang="en-US" altLang="zh-CN" dirty="0" err="1" smtClean="0"/>
              <a:t>getpid</a:t>
            </a:r>
            <a:r>
              <a:rPr lang="en-US" altLang="zh-CN" dirty="0" smtClean="0"/>
              <a:t>(void); 	</a:t>
            </a:r>
            <a:r>
              <a:rPr lang="zh-CN" altLang="en-US" dirty="0" smtClean="0"/>
              <a:t>返回：调用进程的进程</a:t>
            </a:r>
            <a:r>
              <a:rPr lang="en-US" altLang="zh-CN" dirty="0" smtClean="0"/>
              <a:t>I D</a:t>
            </a:r>
          </a:p>
          <a:p>
            <a:r>
              <a:rPr lang="en-US" altLang="zh-CN" dirty="0" err="1" smtClean="0"/>
              <a:t>pid_t</a:t>
            </a:r>
            <a:r>
              <a:rPr lang="en-US" altLang="zh-CN" dirty="0" smtClean="0"/>
              <a:t> </a:t>
            </a:r>
            <a:r>
              <a:rPr lang="en-US" altLang="zh-CN" dirty="0" err="1" smtClean="0"/>
              <a:t>getppid</a:t>
            </a:r>
            <a:r>
              <a:rPr lang="en-US" altLang="zh-CN" dirty="0" smtClean="0"/>
              <a:t>(void); 	</a:t>
            </a:r>
            <a:r>
              <a:rPr lang="zh-CN" altLang="en-US" dirty="0" smtClean="0"/>
              <a:t>返回：调用进程的父进程</a:t>
            </a:r>
            <a:r>
              <a:rPr lang="en-US" altLang="zh-CN" dirty="0" smtClean="0"/>
              <a:t>I D</a:t>
            </a:r>
          </a:p>
          <a:p>
            <a:r>
              <a:rPr lang="en-US" altLang="zh-CN" dirty="0" err="1" smtClean="0"/>
              <a:t>uid_t</a:t>
            </a:r>
            <a:r>
              <a:rPr lang="en-US" altLang="zh-CN" dirty="0" smtClean="0"/>
              <a:t> </a:t>
            </a:r>
            <a:r>
              <a:rPr lang="en-US" altLang="zh-CN" dirty="0" err="1" smtClean="0"/>
              <a:t>getuid</a:t>
            </a:r>
            <a:r>
              <a:rPr lang="en-US" altLang="zh-CN" dirty="0" smtClean="0"/>
              <a:t>(void); 	</a:t>
            </a:r>
            <a:r>
              <a:rPr lang="zh-CN" altLang="en-US" dirty="0" smtClean="0"/>
              <a:t>返回：调用进程的实际用户</a:t>
            </a:r>
            <a:r>
              <a:rPr lang="en-US" altLang="zh-CN" dirty="0" smtClean="0"/>
              <a:t>I D</a:t>
            </a:r>
          </a:p>
          <a:p>
            <a:r>
              <a:rPr lang="en-US" altLang="zh-CN" dirty="0" err="1" smtClean="0"/>
              <a:t>uid_t</a:t>
            </a:r>
            <a:r>
              <a:rPr lang="en-US" altLang="zh-CN" dirty="0" smtClean="0"/>
              <a:t> </a:t>
            </a:r>
            <a:r>
              <a:rPr lang="en-US" altLang="zh-CN" dirty="0" err="1" smtClean="0"/>
              <a:t>geteuid</a:t>
            </a:r>
            <a:r>
              <a:rPr lang="en-US" altLang="zh-CN" dirty="0" smtClean="0"/>
              <a:t>(void); 	</a:t>
            </a:r>
            <a:r>
              <a:rPr lang="zh-CN" altLang="en-US" dirty="0" smtClean="0"/>
              <a:t>返回：调用进程的有效用户</a:t>
            </a:r>
            <a:r>
              <a:rPr lang="en-US" altLang="zh-CN" dirty="0" smtClean="0"/>
              <a:t>I D</a:t>
            </a:r>
          </a:p>
          <a:p>
            <a:r>
              <a:rPr lang="en-US" altLang="zh-CN" dirty="0" err="1" smtClean="0"/>
              <a:t>gid_t</a:t>
            </a:r>
            <a:r>
              <a:rPr lang="en-US" altLang="zh-CN" dirty="0" smtClean="0"/>
              <a:t> </a:t>
            </a:r>
            <a:r>
              <a:rPr lang="en-US" altLang="zh-CN" dirty="0" err="1" smtClean="0"/>
              <a:t>getgid</a:t>
            </a:r>
            <a:r>
              <a:rPr lang="en-US" altLang="zh-CN" dirty="0" smtClean="0"/>
              <a:t>(void); 	</a:t>
            </a:r>
            <a:r>
              <a:rPr lang="zh-CN" altLang="en-US" dirty="0" smtClean="0"/>
              <a:t>返回：调用进程的实际组</a:t>
            </a:r>
            <a:r>
              <a:rPr lang="en-US" altLang="zh-CN" dirty="0" smtClean="0"/>
              <a:t>I D</a:t>
            </a:r>
          </a:p>
          <a:p>
            <a:r>
              <a:rPr lang="en-US" altLang="zh-CN" dirty="0" err="1" smtClean="0"/>
              <a:t>gid_t</a:t>
            </a:r>
            <a:r>
              <a:rPr lang="en-US" altLang="zh-CN" dirty="0" smtClean="0"/>
              <a:t> </a:t>
            </a:r>
            <a:r>
              <a:rPr lang="en-US" altLang="zh-CN" dirty="0" err="1" smtClean="0"/>
              <a:t>getegid</a:t>
            </a:r>
            <a:r>
              <a:rPr lang="en-US" altLang="zh-CN" dirty="0" smtClean="0"/>
              <a:t>(void); 	</a:t>
            </a:r>
            <a:r>
              <a:rPr lang="zh-CN" altLang="en-US" dirty="0" smtClean="0"/>
              <a:t>返回：调用进程的有效组</a:t>
            </a:r>
            <a:r>
              <a:rPr lang="en-US" altLang="zh-CN" dirty="0" smtClean="0"/>
              <a:t>I D</a:t>
            </a:r>
          </a:p>
        </p:txBody>
      </p:sp>
    </p:spTree>
    <p:extLst>
      <p:ext uri="{BB962C8B-B14F-4D97-AF65-F5344CB8AC3E}">
        <p14:creationId xmlns:p14="http://schemas.microsoft.com/office/powerpoint/2010/main" val="61999937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fork</a:t>
            </a:r>
            <a:r>
              <a:rPr lang="zh-CN" altLang="en-US" dirty="0" smtClean="0"/>
              <a:t>函数</a:t>
            </a:r>
            <a:endParaRPr lang="zh-CN" altLang="en-US" dirty="0"/>
          </a:p>
        </p:txBody>
      </p:sp>
      <p:sp>
        <p:nvSpPr>
          <p:cNvPr id="3" name="内容占位符 2"/>
          <p:cNvSpPr>
            <a:spLocks noGrp="1"/>
          </p:cNvSpPr>
          <p:nvPr>
            <p:ph idx="1"/>
          </p:nvPr>
        </p:nvSpPr>
        <p:spPr/>
        <p:txBody>
          <a:bodyPr/>
          <a:lstStyle/>
          <a:p>
            <a:pPr>
              <a:lnSpc>
                <a:spcPct val="80000"/>
              </a:lnSpc>
            </a:pPr>
            <a:r>
              <a:rPr lang="en-US" altLang="zh-CN" dirty="0"/>
              <a:t>fork()</a:t>
            </a:r>
            <a:r>
              <a:rPr lang="zh-CN" altLang="en-US" dirty="0"/>
              <a:t>函数用于从已存在的进程中创建一个新进程</a:t>
            </a:r>
            <a:r>
              <a:rPr lang="zh-CN" altLang="en-US" dirty="0" smtClean="0"/>
              <a:t>。</a:t>
            </a:r>
            <a:r>
              <a:rPr lang="en-US" altLang="zh-CN" dirty="0" smtClean="0">
                <a:solidFill>
                  <a:srgbClr val="FF0000"/>
                </a:solidFill>
              </a:rPr>
              <a:t>(15.2)</a:t>
            </a:r>
            <a:endParaRPr lang="zh-CN" altLang="en-US" dirty="0">
              <a:solidFill>
                <a:srgbClr val="FF0000"/>
              </a:solidFill>
            </a:endParaRPr>
          </a:p>
          <a:p>
            <a:pPr>
              <a:lnSpc>
                <a:spcPct val="80000"/>
              </a:lnSpc>
            </a:pPr>
            <a:endParaRPr lang="zh-CN" altLang="en-US" dirty="0"/>
          </a:p>
          <a:p>
            <a:pPr>
              <a:buNone/>
            </a:pPr>
            <a:r>
              <a:rPr lang="zh-CN" altLang="en-US" sz="2400" dirty="0" smtClean="0"/>
              <a:t>	</a:t>
            </a:r>
            <a:r>
              <a:rPr lang="en-US" altLang="zh-CN" dirty="0"/>
              <a:t>#include &lt;sys/</a:t>
            </a:r>
            <a:r>
              <a:rPr lang="en-US" altLang="zh-CN" dirty="0" err="1"/>
              <a:t>types.h</a:t>
            </a:r>
            <a:r>
              <a:rPr lang="en-US" altLang="zh-CN" dirty="0"/>
              <a:t>&gt;/*</a:t>
            </a:r>
            <a:r>
              <a:rPr lang="zh-CN" altLang="en-US" dirty="0"/>
              <a:t>提供类型</a:t>
            </a:r>
            <a:r>
              <a:rPr lang="en-US" altLang="zh-CN" dirty="0" err="1"/>
              <a:t>pid_t</a:t>
            </a:r>
            <a:r>
              <a:rPr lang="en-US" altLang="zh-CN" dirty="0"/>
              <a:t> </a:t>
            </a:r>
            <a:r>
              <a:rPr lang="zh-CN" altLang="en-US" dirty="0"/>
              <a:t>的定义*</a:t>
            </a:r>
            <a:r>
              <a:rPr lang="en-US" altLang="zh-CN" dirty="0"/>
              <a:t>/</a:t>
            </a:r>
          </a:p>
          <a:p>
            <a:pPr>
              <a:buNone/>
            </a:pPr>
            <a:r>
              <a:rPr lang="en-US" altLang="zh-CN" dirty="0"/>
              <a:t>	#include &lt;</a:t>
            </a:r>
            <a:r>
              <a:rPr lang="en-US" altLang="zh-CN" dirty="0" err="1"/>
              <a:t>unistd.h</a:t>
            </a:r>
            <a:r>
              <a:rPr lang="en-US" altLang="zh-CN" dirty="0"/>
              <a:t>&gt;</a:t>
            </a:r>
          </a:p>
          <a:p>
            <a:pPr>
              <a:buNone/>
            </a:pPr>
            <a:r>
              <a:rPr lang="en-US" altLang="zh-CN" dirty="0"/>
              <a:t>		</a:t>
            </a:r>
            <a:r>
              <a:rPr lang="en-US" altLang="zh-CN" dirty="0" err="1"/>
              <a:t>pid_t</a:t>
            </a:r>
            <a:r>
              <a:rPr lang="en-US" altLang="zh-CN" dirty="0"/>
              <a:t> fork(void);</a:t>
            </a:r>
          </a:p>
          <a:p>
            <a:pPr>
              <a:buNone/>
            </a:pPr>
            <a:r>
              <a:rPr lang="en-US" altLang="zh-CN" sz="2400" dirty="0" smtClean="0"/>
              <a:t>	</a:t>
            </a:r>
            <a:r>
              <a:rPr lang="zh-CN" altLang="en-US" sz="2400" dirty="0" smtClean="0"/>
              <a:t>返回：子进程中为</a:t>
            </a:r>
            <a:r>
              <a:rPr lang="en-US" altLang="zh-CN" sz="2400" dirty="0" smtClean="0"/>
              <a:t>0</a:t>
            </a:r>
            <a:r>
              <a:rPr lang="zh-CN" altLang="en-US" sz="2400" dirty="0" smtClean="0"/>
              <a:t>，父进程中为子进程</a:t>
            </a:r>
            <a:r>
              <a:rPr lang="en-US" altLang="zh-CN" sz="2400" dirty="0" smtClean="0"/>
              <a:t>ID</a:t>
            </a:r>
            <a:r>
              <a:rPr lang="zh-CN" altLang="en-US" sz="2400" dirty="0" smtClean="0"/>
              <a:t>，出错为</a:t>
            </a:r>
            <a:r>
              <a:rPr lang="en-US" altLang="zh-CN" sz="2400" dirty="0" smtClean="0"/>
              <a:t>-1</a:t>
            </a:r>
          </a:p>
          <a:p>
            <a:pPr>
              <a:lnSpc>
                <a:spcPct val="80000"/>
              </a:lnSpc>
            </a:pPr>
            <a:endParaRPr lang="en-US" altLang="zh-CN" sz="2400" dirty="0" smtClean="0"/>
          </a:p>
        </p:txBody>
      </p:sp>
    </p:spTree>
    <p:extLst>
      <p:ext uri="{BB962C8B-B14F-4D97-AF65-F5344CB8AC3E}">
        <p14:creationId xmlns:p14="http://schemas.microsoft.com/office/powerpoint/2010/main" val="52027639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a:t>
            </a:r>
            <a:endParaRPr lang="zh-CN" altLang="en-US" dirty="0"/>
          </a:p>
        </p:txBody>
      </p:sp>
      <p:sp>
        <p:nvSpPr>
          <p:cNvPr id="3" name="内容占位符 2"/>
          <p:cNvSpPr>
            <a:spLocks noGrp="1"/>
          </p:cNvSpPr>
          <p:nvPr>
            <p:ph idx="1"/>
          </p:nvPr>
        </p:nvSpPr>
        <p:spPr/>
        <p:txBody>
          <a:bodyPr/>
          <a:lstStyle/>
          <a:p>
            <a:pPr marL="0" indent="0">
              <a:buNone/>
            </a:pPr>
            <a:r>
              <a:rPr lang="zh-CN" altLang="en-US" dirty="0"/>
              <a:t>由</a:t>
            </a:r>
            <a:r>
              <a:rPr lang="en-US" altLang="zh-CN" dirty="0"/>
              <a:t>fork</a:t>
            </a:r>
            <a:r>
              <a:rPr lang="zh-CN" altLang="en-US" dirty="0"/>
              <a:t>创建的新进程被称为子进程</a:t>
            </a:r>
            <a:r>
              <a:rPr lang="en-US" altLang="zh-CN" sz="2400" dirty="0" smtClean="0"/>
              <a:t>( child process)</a:t>
            </a:r>
            <a:r>
              <a:rPr lang="zh-CN" altLang="en-US" sz="2400" dirty="0" smtClean="0"/>
              <a:t>。</a:t>
            </a:r>
          </a:p>
          <a:p>
            <a:pPr marL="0" indent="0">
              <a:buNone/>
            </a:pPr>
            <a:r>
              <a:rPr lang="zh-CN" altLang="en-US" dirty="0"/>
              <a:t>    使用</a:t>
            </a:r>
            <a:r>
              <a:rPr lang="en-US" altLang="zh-CN" dirty="0"/>
              <a:t>fork</a:t>
            </a:r>
            <a:r>
              <a:rPr lang="zh-CN" altLang="en-US" dirty="0"/>
              <a:t>函数得到的子进程是父进程的一个复制品，它从父进程的处继承了整个进程的地址空间，包括：</a:t>
            </a:r>
          </a:p>
          <a:p>
            <a:pPr marL="0" indent="0">
              <a:buNone/>
            </a:pPr>
            <a:r>
              <a:rPr lang="zh-CN" altLang="en-US" dirty="0"/>
              <a:t>    进程上下文、代码段、进程堆栈、内存信息、打开的文件描述符、信号控制设定、进程优先级、进程组号、当前工作目录、根目录、资源限制和控制终端等，</a:t>
            </a:r>
          </a:p>
          <a:p>
            <a:pPr marL="0" indent="0">
              <a:buNone/>
            </a:pPr>
            <a:r>
              <a:rPr lang="zh-CN" altLang="en-US" dirty="0"/>
              <a:t>    而子进程所</a:t>
            </a:r>
            <a:r>
              <a:rPr lang="zh-CN" altLang="en-US" dirty="0">
                <a:solidFill>
                  <a:srgbClr val="FF0000"/>
                </a:solidFill>
              </a:rPr>
              <a:t>独有</a:t>
            </a:r>
            <a:r>
              <a:rPr lang="zh-CN" altLang="en-US" dirty="0"/>
              <a:t>的只有它的</a:t>
            </a:r>
            <a:r>
              <a:rPr lang="zh-CN" altLang="en-US" dirty="0">
                <a:solidFill>
                  <a:srgbClr val="FF0000"/>
                </a:solidFill>
              </a:rPr>
              <a:t>进程号、资源使用和计时器</a:t>
            </a:r>
            <a:r>
              <a:rPr lang="zh-CN" altLang="en-US" dirty="0"/>
              <a:t>等。</a:t>
            </a:r>
          </a:p>
          <a:p>
            <a:endParaRPr lang="zh-CN" altLang="en-US" dirty="0"/>
          </a:p>
        </p:txBody>
      </p:sp>
    </p:spTree>
    <p:extLst>
      <p:ext uri="{BB962C8B-B14F-4D97-AF65-F5344CB8AC3E}">
        <p14:creationId xmlns:p14="http://schemas.microsoft.com/office/powerpoint/2010/main" val="48737136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pPr marL="0" indent="0"/>
            <a:r>
              <a:rPr lang="zh-CN" altLang="en-US" dirty="0"/>
              <a:t>在父进程中执行</a:t>
            </a:r>
            <a:r>
              <a:rPr lang="en-US" altLang="zh-CN" dirty="0"/>
              <a:t>fork()</a:t>
            </a:r>
            <a:r>
              <a:rPr lang="zh-CN" altLang="en-US" dirty="0"/>
              <a:t>函数时，父进程会复制出一个子进程，而且父子进程的代码从</a:t>
            </a:r>
            <a:r>
              <a:rPr lang="en-US" altLang="zh-CN" dirty="0"/>
              <a:t>fork()</a:t>
            </a:r>
            <a:r>
              <a:rPr lang="zh-CN" altLang="en-US" dirty="0"/>
              <a:t>函数的返回开始分别在两个地址空间中同时运行，从而两个进程分别获得其所属</a:t>
            </a:r>
            <a:r>
              <a:rPr lang="en-US" altLang="zh-CN" dirty="0"/>
              <a:t>fork()</a:t>
            </a:r>
            <a:r>
              <a:rPr lang="zh-CN" altLang="en-US" dirty="0"/>
              <a:t>的返回值，</a:t>
            </a:r>
          </a:p>
          <a:p>
            <a:pPr marL="0" indent="0"/>
            <a:r>
              <a:rPr lang="zh-CN" altLang="en-US" dirty="0"/>
              <a:t>因此，该函数被调用一次，但返回两次。两次返回的区别是在父进程中的返回值是子进程的进程号，而在子进程中返回</a:t>
            </a:r>
            <a:r>
              <a:rPr lang="en-US" altLang="zh-CN" dirty="0"/>
              <a:t>0</a:t>
            </a:r>
            <a:r>
              <a:rPr lang="zh-CN" altLang="en-US" dirty="0"/>
              <a:t>。因此，可以通过返回值来判定该进程是父进程还是子进程。</a:t>
            </a:r>
          </a:p>
          <a:p>
            <a:pPr marL="0" indent="0"/>
            <a:r>
              <a:rPr lang="zh-CN" altLang="en-US" dirty="0">
                <a:solidFill>
                  <a:srgbClr val="FF0000"/>
                </a:solidFill>
              </a:rPr>
              <a:t>一般来说，在</a:t>
            </a:r>
            <a:r>
              <a:rPr lang="en-US" altLang="zh-CN" dirty="0">
                <a:solidFill>
                  <a:srgbClr val="FF0000"/>
                </a:solidFill>
              </a:rPr>
              <a:t>fork</a:t>
            </a:r>
            <a:r>
              <a:rPr lang="zh-CN" altLang="en-US" dirty="0">
                <a:solidFill>
                  <a:srgbClr val="FF0000"/>
                </a:solidFill>
              </a:rPr>
              <a:t>之后是父进程先执行还是子进程先执行是不确定的。这取决于内核所使用的调度算法。</a:t>
            </a:r>
          </a:p>
          <a:p>
            <a:endParaRPr lang="zh-CN" altLang="en-US" dirty="0"/>
          </a:p>
        </p:txBody>
      </p:sp>
    </p:spTree>
    <p:extLst>
      <p:ext uri="{BB962C8B-B14F-4D97-AF65-F5344CB8AC3E}">
        <p14:creationId xmlns:p14="http://schemas.microsoft.com/office/powerpoint/2010/main" val="193642733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父、子进程之间的区别</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t>fork</a:t>
            </a:r>
            <a:r>
              <a:rPr lang="zh-CN" altLang="en-US" dirty="0"/>
              <a:t>的返回值不同；</a:t>
            </a:r>
          </a:p>
          <a:p>
            <a:pPr>
              <a:buNone/>
            </a:pPr>
            <a:r>
              <a:rPr lang="zh-CN" altLang="en-US" dirty="0"/>
              <a:t>   子进程的返回值是</a:t>
            </a:r>
            <a:r>
              <a:rPr lang="en-US" altLang="zh-CN" dirty="0"/>
              <a:t>0</a:t>
            </a:r>
            <a:r>
              <a:rPr lang="zh-CN" altLang="en-US" dirty="0"/>
              <a:t>，</a:t>
            </a:r>
          </a:p>
          <a:p>
            <a:pPr>
              <a:buNone/>
            </a:pPr>
            <a:r>
              <a:rPr lang="zh-CN" altLang="en-US" dirty="0"/>
              <a:t>   父进程的返回值则是子进程的进程</a:t>
            </a:r>
            <a:r>
              <a:rPr lang="en-US" altLang="zh-CN" dirty="0"/>
              <a:t>ID </a:t>
            </a:r>
          </a:p>
          <a:p>
            <a:r>
              <a:rPr lang="zh-CN" altLang="en-US" dirty="0"/>
              <a:t>进程</a:t>
            </a:r>
            <a:r>
              <a:rPr lang="en-US" altLang="zh-CN" dirty="0"/>
              <a:t>ID</a:t>
            </a:r>
            <a:r>
              <a:rPr lang="zh-CN" altLang="en-US" dirty="0"/>
              <a:t>、不同的父进程</a:t>
            </a:r>
            <a:r>
              <a:rPr lang="en-US" altLang="zh-CN" dirty="0"/>
              <a:t>ID</a:t>
            </a:r>
            <a:r>
              <a:rPr lang="zh-CN" altLang="en-US" dirty="0"/>
              <a:t>；</a:t>
            </a:r>
          </a:p>
          <a:p>
            <a:r>
              <a:rPr lang="zh-CN" altLang="en-US" dirty="0"/>
              <a:t>子进程的</a:t>
            </a:r>
            <a:r>
              <a:rPr lang="en-US" altLang="zh-CN" dirty="0" err="1"/>
              <a:t>tms</a:t>
            </a:r>
            <a:r>
              <a:rPr lang="en-US" altLang="zh-CN" dirty="0"/>
              <a:t> _ </a:t>
            </a:r>
            <a:r>
              <a:rPr lang="en-US" altLang="zh-CN" dirty="0" err="1"/>
              <a:t>utime</a:t>
            </a:r>
            <a:r>
              <a:rPr lang="en-US" altLang="zh-CN" dirty="0"/>
              <a:t> , </a:t>
            </a:r>
            <a:r>
              <a:rPr lang="en-US" altLang="zh-CN" dirty="0" err="1"/>
              <a:t>tms</a:t>
            </a:r>
            <a:r>
              <a:rPr lang="en-US" altLang="zh-CN" dirty="0"/>
              <a:t> _ </a:t>
            </a:r>
            <a:r>
              <a:rPr lang="en-US" altLang="zh-CN" dirty="0" err="1"/>
              <a:t>stime</a:t>
            </a:r>
            <a:r>
              <a:rPr lang="en-US" altLang="zh-CN" dirty="0"/>
              <a:t> , </a:t>
            </a:r>
            <a:r>
              <a:rPr lang="en-US" altLang="zh-CN" dirty="0" err="1"/>
              <a:t>tms</a:t>
            </a:r>
            <a:r>
              <a:rPr lang="en-US" altLang="zh-CN" dirty="0"/>
              <a:t> _ </a:t>
            </a:r>
            <a:r>
              <a:rPr lang="en-US" altLang="zh-CN" dirty="0" err="1"/>
              <a:t>cutime</a:t>
            </a:r>
            <a:r>
              <a:rPr lang="zh-CN" altLang="en-US" dirty="0"/>
              <a:t>以及</a:t>
            </a:r>
            <a:r>
              <a:rPr lang="en-US" altLang="zh-CN" dirty="0" err="1"/>
              <a:t>tms</a:t>
            </a:r>
            <a:r>
              <a:rPr lang="en-US" altLang="zh-CN" dirty="0"/>
              <a:t> _</a:t>
            </a:r>
            <a:r>
              <a:rPr lang="en-US" altLang="zh-CN" dirty="0" err="1"/>
              <a:t>ustime</a:t>
            </a:r>
            <a:r>
              <a:rPr lang="zh-CN" altLang="en-US" dirty="0"/>
              <a:t>设置为</a:t>
            </a:r>
            <a:r>
              <a:rPr lang="en-US" altLang="zh-CN" dirty="0"/>
              <a:t>0</a:t>
            </a:r>
            <a:r>
              <a:rPr lang="zh-CN" altLang="en-US" dirty="0"/>
              <a:t>；</a:t>
            </a:r>
          </a:p>
          <a:p>
            <a:r>
              <a:rPr lang="zh-CN" altLang="en-US" dirty="0"/>
              <a:t>父进程设置的锁，子进程不继承；</a:t>
            </a:r>
          </a:p>
          <a:p>
            <a:r>
              <a:rPr lang="zh-CN" altLang="en-US" dirty="0"/>
              <a:t>子进程的未决告警被清除；</a:t>
            </a:r>
          </a:p>
          <a:p>
            <a:r>
              <a:rPr lang="zh-CN" altLang="en-US" dirty="0"/>
              <a:t>子进程的未决信号集设置为空集。</a:t>
            </a:r>
          </a:p>
          <a:p>
            <a:pPr>
              <a:buNone/>
            </a:pPr>
            <a:r>
              <a:rPr lang="zh-CN" altLang="en-US" dirty="0"/>
              <a:t>    </a:t>
            </a:r>
            <a:r>
              <a:rPr lang="en-US" altLang="zh-CN" dirty="0"/>
              <a:t>Fork </a:t>
            </a:r>
            <a:r>
              <a:rPr lang="zh-CN" altLang="en-US" dirty="0"/>
              <a:t>例如：</a:t>
            </a:r>
            <a:r>
              <a:rPr lang="en-US" altLang="zh-CN" dirty="0" err="1"/>
              <a:t>fork.c</a:t>
            </a:r>
            <a:endParaRPr lang="en-US" altLang="zh-CN" dirty="0"/>
          </a:p>
          <a:p>
            <a:endParaRPr lang="zh-CN" altLang="en-US" dirty="0"/>
          </a:p>
        </p:txBody>
      </p:sp>
    </p:spTree>
    <p:extLst>
      <p:ext uri="{BB962C8B-B14F-4D97-AF65-F5344CB8AC3E}">
        <p14:creationId xmlns:p14="http://schemas.microsoft.com/office/powerpoint/2010/main" val="68144983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135" y="0"/>
            <a:ext cx="10515600" cy="1325563"/>
          </a:xfrm>
        </p:spPr>
        <p:txBody>
          <a:bodyPr/>
          <a:lstStyle/>
          <a:p>
            <a:r>
              <a:rPr lang="zh-CN" altLang="en-US" dirty="0" smtClean="0"/>
              <a:t>拷贝代码段的实例</a:t>
            </a:r>
          </a:p>
        </p:txBody>
      </p:sp>
      <p:sp>
        <p:nvSpPr>
          <p:cNvPr id="4" name="Rectangle 3"/>
          <p:cNvSpPr txBox="1">
            <a:spLocks noChangeArrowheads="1"/>
          </p:cNvSpPr>
          <p:nvPr/>
        </p:nvSpPr>
        <p:spPr>
          <a:xfrm>
            <a:off x="248613" y="1025525"/>
            <a:ext cx="5340818" cy="5645731"/>
          </a:xfrm>
          <a:prstGeom prst="rect">
            <a:avLst/>
          </a:prstGeom>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 typeface="Wingdings" panose="05000000000000000000" pitchFamily="2" charset="2"/>
              <a:buNone/>
            </a:pPr>
            <a:r>
              <a:rPr lang="en-US" altLang="zh-CN" sz="2000" b="1" dirty="0" smtClean="0"/>
              <a:t>#include&lt;sys/</a:t>
            </a:r>
            <a:r>
              <a:rPr lang="en-US" altLang="zh-CN" sz="2000" b="1" dirty="0" err="1" smtClean="0"/>
              <a:t>types.h</a:t>
            </a:r>
            <a:r>
              <a:rPr lang="en-US" altLang="zh-CN" sz="2000" b="1" dirty="0" smtClean="0"/>
              <a:t>&gt;</a:t>
            </a:r>
          </a:p>
          <a:p>
            <a:pPr>
              <a:spcBef>
                <a:spcPct val="0"/>
              </a:spcBef>
              <a:buFont typeface="Wingdings" panose="05000000000000000000" pitchFamily="2" charset="2"/>
              <a:buNone/>
            </a:pPr>
            <a:r>
              <a:rPr lang="en-US" altLang="zh-CN" sz="2000" b="1" dirty="0" smtClean="0"/>
              <a:t>#include&lt;</a:t>
            </a:r>
            <a:r>
              <a:rPr lang="en-US" altLang="zh-CN" sz="2000" b="1" dirty="0" err="1" smtClean="0"/>
              <a:t>stdio.h</a:t>
            </a:r>
            <a:r>
              <a:rPr lang="en-US" altLang="zh-CN" sz="2000" b="1" dirty="0" smtClean="0"/>
              <a:t>&gt;</a:t>
            </a:r>
          </a:p>
          <a:p>
            <a:pPr>
              <a:spcBef>
                <a:spcPct val="0"/>
              </a:spcBef>
              <a:buFont typeface="Wingdings" panose="05000000000000000000" pitchFamily="2" charset="2"/>
              <a:buNone/>
            </a:pPr>
            <a:r>
              <a:rPr lang="en-US" altLang="zh-CN" sz="2000" b="1" dirty="0" smtClean="0"/>
              <a:t>#include&lt;</a:t>
            </a:r>
            <a:r>
              <a:rPr lang="en-US" altLang="zh-CN" sz="2000" b="1" dirty="0" err="1" smtClean="0"/>
              <a:t>unistd.h</a:t>
            </a:r>
            <a:r>
              <a:rPr lang="en-US" altLang="zh-CN" sz="2000" b="1" dirty="0" smtClean="0"/>
              <a:t>&gt;</a:t>
            </a:r>
          </a:p>
          <a:p>
            <a:pPr>
              <a:spcBef>
                <a:spcPct val="0"/>
              </a:spcBef>
              <a:buFont typeface="Wingdings" panose="05000000000000000000" pitchFamily="2" charset="2"/>
              <a:buNone/>
            </a:pPr>
            <a:endParaRPr lang="en-US" altLang="zh-CN" sz="800" b="1" dirty="0" smtClean="0"/>
          </a:p>
          <a:p>
            <a:pPr>
              <a:spcBef>
                <a:spcPct val="0"/>
              </a:spcBef>
              <a:buFont typeface="Wingdings" panose="05000000000000000000" pitchFamily="2" charset="2"/>
              <a:buNone/>
            </a:pPr>
            <a:r>
              <a:rPr lang="en-US" altLang="zh-CN" sz="2000" b="1" dirty="0" err="1" smtClean="0"/>
              <a:t>int</a:t>
            </a:r>
            <a:r>
              <a:rPr lang="en-US" altLang="zh-CN" sz="2000" b="1" dirty="0" smtClean="0"/>
              <a:t> main( )</a:t>
            </a:r>
          </a:p>
          <a:p>
            <a:pPr>
              <a:spcBef>
                <a:spcPct val="0"/>
              </a:spcBef>
              <a:buFont typeface="Wingdings" panose="05000000000000000000" pitchFamily="2" charset="2"/>
              <a:buNone/>
            </a:pPr>
            <a:r>
              <a:rPr lang="en-US" altLang="zh-CN" sz="2000" b="1" dirty="0" smtClean="0"/>
              <a:t>{</a:t>
            </a:r>
          </a:p>
          <a:p>
            <a:pPr>
              <a:spcBef>
                <a:spcPct val="0"/>
              </a:spcBef>
              <a:buFont typeface="Wingdings" panose="05000000000000000000" pitchFamily="2" charset="2"/>
              <a:buNone/>
            </a:pPr>
            <a:r>
              <a:rPr lang="en-US" altLang="zh-CN" sz="2000" b="1" dirty="0" smtClean="0"/>
              <a:t>     </a:t>
            </a:r>
            <a:r>
              <a:rPr lang="en-US" altLang="zh-CN" sz="2000" b="1" dirty="0" err="1" smtClean="0"/>
              <a:t>pid_t</a:t>
            </a:r>
            <a:r>
              <a:rPr lang="en-US" altLang="zh-CN" sz="2000" b="1" dirty="0" smtClean="0"/>
              <a:t> </a:t>
            </a:r>
            <a:r>
              <a:rPr lang="en-US" altLang="zh-CN" sz="2000" b="1" dirty="0" err="1" smtClean="0"/>
              <a:t>pid</a:t>
            </a:r>
            <a:r>
              <a:rPr lang="zh-CN" altLang="en-US" sz="2000" b="1" dirty="0" smtClean="0"/>
              <a:t>；</a:t>
            </a:r>
          </a:p>
          <a:p>
            <a:pPr>
              <a:spcBef>
                <a:spcPct val="0"/>
              </a:spcBef>
              <a:buFont typeface="Wingdings" panose="05000000000000000000" pitchFamily="2" charset="2"/>
              <a:buNone/>
            </a:pPr>
            <a:r>
              <a:rPr lang="zh-CN" altLang="en-US" sz="2000" b="1" dirty="0" smtClean="0"/>
              <a:t>     </a:t>
            </a:r>
            <a:r>
              <a:rPr lang="en-US" altLang="zh-CN" sz="2000" b="1" dirty="0" err="1" smtClean="0"/>
              <a:t>pid</a:t>
            </a:r>
            <a:r>
              <a:rPr lang="en-US" altLang="zh-CN" sz="2000" b="1" dirty="0" smtClean="0"/>
              <a:t>=fork()</a:t>
            </a:r>
            <a:r>
              <a:rPr lang="zh-CN" altLang="en-US" sz="2000" b="1" dirty="0" smtClean="0"/>
              <a:t>；</a:t>
            </a:r>
          </a:p>
          <a:p>
            <a:pPr>
              <a:spcBef>
                <a:spcPct val="0"/>
              </a:spcBef>
              <a:buFont typeface="Wingdings" panose="05000000000000000000" pitchFamily="2" charset="2"/>
              <a:buNone/>
            </a:pPr>
            <a:r>
              <a:rPr lang="zh-CN" altLang="en-US" sz="2000" b="1" dirty="0" smtClean="0"/>
              <a:t>     </a:t>
            </a:r>
            <a:r>
              <a:rPr lang="en-US" altLang="zh-CN" sz="2000" b="1" dirty="0" smtClean="0">
                <a:solidFill>
                  <a:schemeClr val="folHlink"/>
                </a:solidFill>
              </a:rPr>
              <a:t>if((</a:t>
            </a:r>
            <a:r>
              <a:rPr lang="en-US" altLang="zh-CN" sz="2000" b="1" dirty="0" err="1" smtClean="0">
                <a:solidFill>
                  <a:schemeClr val="folHlink"/>
                </a:solidFill>
              </a:rPr>
              <a:t>pid</a:t>
            </a:r>
            <a:r>
              <a:rPr lang="en-US" altLang="zh-CN" sz="2000" b="1" dirty="0" smtClean="0">
                <a:solidFill>
                  <a:schemeClr val="folHlink"/>
                </a:solidFill>
              </a:rPr>
              <a:t>)&lt;0)</a:t>
            </a:r>
          </a:p>
          <a:p>
            <a:pPr>
              <a:spcBef>
                <a:spcPct val="0"/>
              </a:spcBef>
              <a:buFont typeface="Wingdings" panose="05000000000000000000" pitchFamily="2" charset="2"/>
              <a:buNone/>
            </a:pPr>
            <a:r>
              <a:rPr lang="en-US" altLang="zh-CN" sz="2000" b="1" dirty="0" smtClean="0">
                <a:solidFill>
                  <a:schemeClr val="folHlink"/>
                </a:solidFill>
              </a:rPr>
              <a:t>     {</a:t>
            </a:r>
          </a:p>
          <a:p>
            <a:pPr>
              <a:spcBef>
                <a:spcPct val="0"/>
              </a:spcBef>
              <a:buFont typeface="Wingdings" panose="05000000000000000000" pitchFamily="2" charset="2"/>
              <a:buNone/>
            </a:pPr>
            <a:r>
              <a:rPr lang="en-US" altLang="zh-CN" sz="2000" b="1" dirty="0" smtClean="0">
                <a:solidFill>
                  <a:schemeClr val="folHlink"/>
                </a:solidFill>
              </a:rPr>
              <a:t>           </a:t>
            </a:r>
            <a:r>
              <a:rPr lang="en-US" altLang="zh-CN" sz="2000" b="1" dirty="0" err="1" smtClean="0">
                <a:solidFill>
                  <a:schemeClr val="folHlink"/>
                </a:solidFill>
              </a:rPr>
              <a:t>printf</a:t>
            </a:r>
            <a:r>
              <a:rPr lang="en-US" altLang="zh-CN" sz="2000" b="1" dirty="0" smtClean="0">
                <a:solidFill>
                  <a:schemeClr val="folHlink"/>
                </a:solidFill>
              </a:rPr>
              <a:t>(</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fork error!\n</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a:t>
            </a:r>
          </a:p>
          <a:p>
            <a:pPr>
              <a:spcBef>
                <a:spcPct val="0"/>
              </a:spcBef>
              <a:buFont typeface="Wingdings" panose="05000000000000000000" pitchFamily="2" charset="2"/>
              <a:buNone/>
            </a:pPr>
            <a:r>
              <a:rPr lang="en-US" altLang="zh-CN" sz="2000" b="1" dirty="0" smtClean="0">
                <a:solidFill>
                  <a:schemeClr val="folHlink"/>
                </a:solidFill>
              </a:rPr>
              <a:t>           exit(1);</a:t>
            </a:r>
          </a:p>
          <a:p>
            <a:pPr>
              <a:spcBef>
                <a:spcPct val="0"/>
              </a:spcBef>
              <a:buFont typeface="Wingdings" panose="05000000000000000000" pitchFamily="2" charset="2"/>
              <a:buNone/>
            </a:pPr>
            <a:r>
              <a:rPr lang="en-US" altLang="zh-CN" sz="2000" b="1" dirty="0" smtClean="0">
                <a:solidFill>
                  <a:schemeClr val="folHlink"/>
                </a:solidFill>
              </a:rPr>
              <a:t>     }</a:t>
            </a:r>
          </a:p>
          <a:p>
            <a:pPr>
              <a:spcBef>
                <a:spcPct val="0"/>
              </a:spcBef>
              <a:buFont typeface="Wingdings" panose="05000000000000000000" pitchFamily="2" charset="2"/>
              <a:buNone/>
            </a:pPr>
            <a:r>
              <a:rPr lang="en-US" altLang="zh-CN" sz="2000" b="1" dirty="0" smtClean="0">
                <a:solidFill>
                  <a:schemeClr val="folHlink"/>
                </a:solidFill>
              </a:rPr>
              <a:t>     else if(</a:t>
            </a:r>
            <a:r>
              <a:rPr lang="en-US" altLang="zh-CN" sz="2000" b="1" dirty="0" err="1" smtClean="0">
                <a:solidFill>
                  <a:schemeClr val="folHlink"/>
                </a:solidFill>
              </a:rPr>
              <a:t>pid</a:t>
            </a:r>
            <a:r>
              <a:rPr lang="en-US" altLang="zh-CN" sz="2000" b="1" dirty="0" smtClean="0">
                <a:solidFill>
                  <a:schemeClr val="folHlink"/>
                </a:solidFill>
              </a:rPr>
              <a:t>=0)</a:t>
            </a:r>
          </a:p>
          <a:p>
            <a:pPr>
              <a:spcBef>
                <a:spcPct val="0"/>
              </a:spcBef>
              <a:buFont typeface="Wingdings" panose="05000000000000000000" pitchFamily="2" charset="2"/>
              <a:buNone/>
            </a:pPr>
            <a:r>
              <a:rPr lang="en-US" altLang="zh-CN" sz="2000" b="1" dirty="0" smtClean="0">
                <a:solidFill>
                  <a:schemeClr val="folHlink"/>
                </a:solidFill>
              </a:rPr>
              <a:t>           </a:t>
            </a:r>
            <a:r>
              <a:rPr lang="en-US" altLang="zh-CN" sz="2000" b="1" dirty="0" err="1" smtClean="0">
                <a:solidFill>
                  <a:schemeClr val="folHlink"/>
                </a:solidFill>
              </a:rPr>
              <a:t>printf</a:t>
            </a:r>
            <a:r>
              <a:rPr lang="en-US" altLang="zh-CN" sz="2000" b="1" dirty="0" smtClean="0">
                <a:solidFill>
                  <a:schemeClr val="folHlink"/>
                </a:solidFill>
              </a:rPr>
              <a:t>(</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child process is </a:t>
            </a:r>
            <a:r>
              <a:rPr lang="en-US" altLang="zh-CN" sz="2000" b="1" dirty="0" err="1" smtClean="0">
                <a:solidFill>
                  <a:schemeClr val="folHlink"/>
                </a:solidFill>
              </a:rPr>
              <a:t>printing.IDis</a:t>
            </a:r>
            <a:r>
              <a:rPr lang="en-US" altLang="zh-CN" sz="2000" b="1" dirty="0" smtClean="0">
                <a:solidFill>
                  <a:schemeClr val="folHlink"/>
                </a:solidFill>
              </a:rPr>
              <a:t> %d\n</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a:t>
            </a:r>
            <a:r>
              <a:rPr lang="en-US" altLang="zh-CN" sz="2000" b="1" dirty="0" err="1" smtClean="0">
                <a:solidFill>
                  <a:schemeClr val="folHlink"/>
                </a:solidFill>
              </a:rPr>
              <a:t>getpid</a:t>
            </a:r>
            <a:r>
              <a:rPr lang="en-US" altLang="zh-CN" sz="2000" b="1" dirty="0" smtClean="0">
                <a:solidFill>
                  <a:schemeClr val="folHlink"/>
                </a:solidFill>
              </a:rPr>
              <a:t>());</a:t>
            </a:r>
          </a:p>
          <a:p>
            <a:pPr>
              <a:spcBef>
                <a:spcPct val="0"/>
              </a:spcBef>
              <a:buFont typeface="Wingdings" panose="05000000000000000000" pitchFamily="2" charset="2"/>
              <a:buNone/>
            </a:pPr>
            <a:r>
              <a:rPr lang="en-US" altLang="zh-CN" sz="2000" b="1" dirty="0" smtClean="0">
                <a:solidFill>
                  <a:schemeClr val="folHlink"/>
                </a:solidFill>
              </a:rPr>
              <a:t>     else </a:t>
            </a:r>
          </a:p>
          <a:p>
            <a:pPr>
              <a:spcBef>
                <a:spcPct val="0"/>
              </a:spcBef>
              <a:buFont typeface="Wingdings" panose="05000000000000000000" pitchFamily="2" charset="2"/>
              <a:buNone/>
            </a:pPr>
            <a:r>
              <a:rPr lang="en-US" altLang="zh-CN" sz="2000" b="1" dirty="0" smtClean="0">
                <a:solidFill>
                  <a:schemeClr val="folHlink"/>
                </a:solidFill>
              </a:rPr>
              <a:t>           </a:t>
            </a:r>
            <a:r>
              <a:rPr lang="en-US" altLang="zh-CN" sz="2000" b="1" dirty="0" err="1" smtClean="0">
                <a:solidFill>
                  <a:schemeClr val="folHlink"/>
                </a:solidFill>
              </a:rPr>
              <a:t>printf</a:t>
            </a:r>
            <a:r>
              <a:rPr lang="en-US" altLang="zh-CN" sz="2000" b="1" dirty="0" smtClean="0">
                <a:solidFill>
                  <a:schemeClr val="folHlink"/>
                </a:solidFill>
              </a:rPr>
              <a:t>(</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parent process is printing. ID is %d\n</a:t>
            </a:r>
            <a:r>
              <a:rPr lang="en-US" altLang="zh-CN" sz="2000" b="1" dirty="0" smtClean="0">
                <a:solidFill>
                  <a:schemeClr val="folHlink"/>
                </a:solidFill>
                <a:latin typeface="Arial" panose="020B0604020202020204" pitchFamily="34" charset="0"/>
              </a:rPr>
              <a:t>”</a:t>
            </a:r>
            <a:r>
              <a:rPr lang="en-US" altLang="zh-CN" sz="2000" b="1" dirty="0" smtClean="0">
                <a:solidFill>
                  <a:schemeClr val="folHlink"/>
                </a:solidFill>
              </a:rPr>
              <a:t>,</a:t>
            </a:r>
            <a:r>
              <a:rPr lang="en-US" altLang="zh-CN" sz="2000" b="1" dirty="0" err="1" smtClean="0">
                <a:solidFill>
                  <a:schemeClr val="folHlink"/>
                </a:solidFill>
              </a:rPr>
              <a:t>getpid</a:t>
            </a:r>
            <a:r>
              <a:rPr lang="en-US" altLang="zh-CN" sz="2000" b="1" dirty="0" smtClean="0">
                <a:solidFill>
                  <a:schemeClr val="folHlink"/>
                </a:solidFill>
              </a:rPr>
              <a:t>()); </a:t>
            </a:r>
          </a:p>
          <a:p>
            <a:pPr>
              <a:spcBef>
                <a:spcPct val="0"/>
              </a:spcBef>
              <a:buFont typeface="Wingdings" panose="05000000000000000000" pitchFamily="2" charset="2"/>
              <a:buNone/>
            </a:pPr>
            <a:r>
              <a:rPr lang="en-US" altLang="zh-CN" sz="2000" b="1" dirty="0" smtClean="0"/>
              <a:t>} </a:t>
            </a:r>
            <a:endParaRPr lang="en-US" altLang="zh-CN" sz="2000" b="1" dirty="0"/>
          </a:p>
        </p:txBody>
      </p:sp>
      <p:sp>
        <p:nvSpPr>
          <p:cNvPr id="5" name="Rectangle 3"/>
          <p:cNvSpPr txBox="1">
            <a:spLocks noChangeArrowheads="1"/>
          </p:cNvSpPr>
          <p:nvPr/>
        </p:nvSpPr>
        <p:spPr>
          <a:xfrm>
            <a:off x="5630909" y="1025524"/>
            <a:ext cx="6561091" cy="564573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 typeface="Wingdings" panose="05000000000000000000" pitchFamily="2" charset="2"/>
              <a:buNone/>
            </a:pPr>
            <a:r>
              <a:rPr lang="zh-CN" altLang="en-US" sz="2400" b="1" dirty="0" smtClean="0">
                <a:latin typeface="Times New Roman" panose="02020603050405020304" pitchFamily="18" charset="0"/>
              </a:rPr>
              <a:t>运行结果：</a:t>
            </a:r>
            <a:br>
              <a:rPr lang="zh-CN" altLang="en-US" sz="2400" b="1" dirty="0" smtClean="0">
                <a:latin typeface="Times New Roman" panose="02020603050405020304" pitchFamily="18" charset="0"/>
              </a:rPr>
            </a:br>
            <a:r>
              <a:rPr lang="en-US" altLang="zh-CN" sz="2400" b="1" dirty="0" smtClean="0">
                <a:latin typeface="Times New Roman" panose="02020603050405020304" pitchFamily="18" charset="0"/>
              </a:rPr>
              <a:t>[</a:t>
            </a:r>
            <a:r>
              <a:rPr lang="en-US" altLang="zh-CN" sz="2400" b="1" dirty="0" err="1" smtClean="0">
                <a:latin typeface="Times New Roman" panose="02020603050405020304" pitchFamily="18" charset="0"/>
              </a:rPr>
              <a:t>root@lwm</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liweimeng</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gcc</a:t>
            </a:r>
            <a:r>
              <a:rPr lang="en-US" altLang="zh-CN" sz="2400" b="1" dirty="0" smtClean="0">
                <a:latin typeface="Times New Roman" panose="02020603050405020304" pitchFamily="18" charset="0"/>
              </a:rPr>
              <a:t> fork1.c -o fork1</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a:t>
            </a:r>
            <a:r>
              <a:rPr lang="en-US" altLang="zh-CN" sz="2400" b="1" dirty="0" err="1" smtClean="0">
                <a:latin typeface="Times New Roman" panose="02020603050405020304" pitchFamily="18" charset="0"/>
              </a:rPr>
              <a:t>root@lwm</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liweimeng</a:t>
            </a:r>
            <a:r>
              <a:rPr lang="en-US" altLang="zh-CN" sz="2400" b="1" dirty="0" smtClean="0">
                <a:latin typeface="Times New Roman" panose="02020603050405020304" pitchFamily="18" charset="0"/>
              </a:rPr>
              <a:t>]# ./fork1</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I am the child </a:t>
            </a:r>
            <a:r>
              <a:rPr lang="en-US" altLang="zh-CN" sz="2400" b="1" dirty="0" err="1" smtClean="0">
                <a:latin typeface="Times New Roman" panose="02020603050405020304" pitchFamily="18" charset="0"/>
              </a:rPr>
              <a:t>process,ID</a:t>
            </a:r>
            <a:r>
              <a:rPr lang="en-US" altLang="zh-CN" sz="2400" b="1" dirty="0" smtClean="0">
                <a:latin typeface="Times New Roman" panose="02020603050405020304" pitchFamily="18" charset="0"/>
              </a:rPr>
              <a:t> is 4238</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I am the parent </a:t>
            </a:r>
            <a:r>
              <a:rPr lang="en-US" altLang="zh-CN" sz="2400" b="1" dirty="0" err="1" smtClean="0">
                <a:latin typeface="Times New Roman" panose="02020603050405020304" pitchFamily="18" charset="0"/>
              </a:rPr>
              <a:t>process,ID</a:t>
            </a:r>
            <a:r>
              <a:rPr lang="en-US" altLang="zh-CN" sz="2400" b="1" dirty="0" smtClean="0">
                <a:latin typeface="Times New Roman" panose="02020603050405020304" pitchFamily="18" charset="0"/>
              </a:rPr>
              <a:t> is 4237</a:t>
            </a:r>
          </a:p>
          <a:p>
            <a:pPr>
              <a:spcBef>
                <a:spcPct val="0"/>
              </a:spcBef>
            </a:pPr>
            <a:endParaRPr lang="en-US" altLang="zh-CN" sz="800" b="1" dirty="0" smtClean="0">
              <a:latin typeface="Times New Roman" panose="02020603050405020304" pitchFamily="18" charset="0"/>
            </a:endParaRPr>
          </a:p>
          <a:p>
            <a:pPr lvl="1" algn="just">
              <a:spcBef>
                <a:spcPct val="0"/>
              </a:spcBef>
              <a:buFont typeface="Wingdings" panose="05000000000000000000" pitchFamily="2" charset="2"/>
              <a:buChar char="l"/>
            </a:pPr>
            <a:r>
              <a:rPr lang="zh-CN" altLang="en-US" b="1" dirty="0" smtClean="0">
                <a:latin typeface="Times New Roman" panose="02020603050405020304" pitchFamily="18" charset="0"/>
              </a:rPr>
              <a:t>因为 </a:t>
            </a:r>
            <a:r>
              <a:rPr lang="en-US" altLang="zh-CN" b="1" dirty="0" smtClean="0">
                <a:latin typeface="Times New Roman" panose="02020603050405020304" pitchFamily="18" charset="0"/>
              </a:rPr>
              <a:t>fork</a:t>
            </a:r>
            <a:r>
              <a:rPr lang="zh-CN" altLang="en-US" b="1" dirty="0" smtClean="0">
                <a:latin typeface="Times New Roman" panose="02020603050405020304" pitchFamily="18" charset="0"/>
              </a:rPr>
              <a:t>（）函数用于从已存在的进程中创建一个新的子进程，在 </a:t>
            </a:r>
            <a:r>
              <a:rPr lang="en-US" altLang="zh-CN" b="1" dirty="0" err="1" smtClean="0">
                <a:latin typeface="Times New Roman" panose="02020603050405020304" pitchFamily="18" charset="0"/>
              </a:rPr>
              <a:t>pid</a:t>
            </a:r>
            <a:r>
              <a:rPr lang="en-US" altLang="zh-CN" b="1" dirty="0" smtClean="0">
                <a:latin typeface="Times New Roman" panose="02020603050405020304" pitchFamily="18" charset="0"/>
              </a:rPr>
              <a:t>=fork();</a:t>
            </a:r>
            <a:r>
              <a:rPr lang="zh-CN" altLang="en-US" b="1" dirty="0" smtClean="0">
                <a:latin typeface="Times New Roman" panose="02020603050405020304" pitchFamily="18" charset="0"/>
              </a:rPr>
              <a:t>语句之前只有父进程在运行，而在之后，父进程和新创建的子进程都在运行，子进程拷贝父进程的代码段，所以子进程中同样有</a:t>
            </a:r>
          </a:p>
          <a:p>
            <a:pPr lvl="1" algn="just">
              <a:spcBef>
                <a:spcPct val="0"/>
              </a:spcBef>
              <a:buFont typeface="Wingdings" panose="05000000000000000000" pitchFamily="2" charset="2"/>
              <a:buChar char="l"/>
            </a:pPr>
            <a:endParaRPr lang="zh-CN" altLang="en-US" sz="800" b="1" dirty="0" smtClean="0">
              <a:latin typeface="Times New Roman" panose="02020603050405020304" pitchFamily="18" charset="0"/>
            </a:endParaRPr>
          </a:p>
          <a:p>
            <a:pPr lvl="1">
              <a:spcBef>
                <a:spcPct val="0"/>
              </a:spcBef>
              <a:buFont typeface="Wingdings" panose="05000000000000000000" pitchFamily="2" charset="2"/>
              <a:buNone/>
            </a:pPr>
            <a:r>
              <a:rPr lang="zh-CN" altLang="en-US" b="1" dirty="0" smtClean="0">
                <a:latin typeface="Times New Roman" panose="02020603050405020304" pitchFamily="18" charset="0"/>
              </a:rPr>
              <a:t>     </a:t>
            </a:r>
            <a:r>
              <a:rPr lang="en-US" altLang="zh-CN" b="1" dirty="0" smtClean="0">
                <a:latin typeface="Times New Roman" panose="02020603050405020304" pitchFamily="18" charset="0"/>
              </a:rPr>
              <a:t>if(</a:t>
            </a:r>
            <a:r>
              <a:rPr lang="en-US" altLang="zh-CN" b="1" dirty="0" err="1" smtClean="0">
                <a:latin typeface="Times New Roman" panose="02020603050405020304" pitchFamily="18" charset="0"/>
              </a:rPr>
              <a:t>pid</a:t>
            </a:r>
            <a:r>
              <a:rPr lang="en-US" altLang="zh-CN" b="1" dirty="0" smtClean="0">
                <a:latin typeface="Times New Roman" panose="02020603050405020304" pitchFamily="18" charset="0"/>
              </a:rPr>
              <a:t>&lt;0)  </a:t>
            </a:r>
            <a:r>
              <a:rPr lang="en-US" altLang="zh-CN" b="1" dirty="0" err="1" smtClean="0">
                <a:latin typeface="Times New Roman" panose="02020603050405020304" pitchFamily="18" charset="0"/>
              </a:rPr>
              <a:t>printf</a:t>
            </a:r>
            <a:r>
              <a:rPr lang="en-US" altLang="zh-CN" b="1" dirty="0" smtClean="0">
                <a:latin typeface="Times New Roman" panose="02020603050405020304" pitchFamily="18" charset="0"/>
              </a:rPr>
              <a:t>("error in fork!");</a:t>
            </a:r>
            <a:br>
              <a:rPr lang="en-US" altLang="zh-CN" b="1" dirty="0" smtClean="0">
                <a:latin typeface="Times New Roman" panose="02020603050405020304" pitchFamily="18" charset="0"/>
              </a:rPr>
            </a:br>
            <a:r>
              <a:rPr lang="en-US" altLang="zh-CN" b="1" dirty="0" smtClean="0">
                <a:latin typeface="Times New Roman" panose="02020603050405020304" pitchFamily="18" charset="0"/>
              </a:rPr>
              <a:t> else if(</a:t>
            </a:r>
            <a:r>
              <a:rPr lang="en-US" altLang="zh-CN" b="1" dirty="0" err="1" smtClean="0">
                <a:latin typeface="Times New Roman" panose="02020603050405020304" pitchFamily="18" charset="0"/>
              </a:rPr>
              <a:t>pid</a:t>
            </a:r>
            <a:r>
              <a:rPr lang="en-US" altLang="zh-CN" b="1" dirty="0" smtClean="0">
                <a:latin typeface="Times New Roman" panose="02020603050405020304" pitchFamily="18" charset="0"/>
              </a:rPr>
              <a:t>==0)</a:t>
            </a:r>
            <a:br>
              <a:rPr lang="en-US" altLang="zh-CN" b="1" dirty="0" smtClean="0">
                <a:latin typeface="Times New Roman" panose="02020603050405020304" pitchFamily="18" charset="0"/>
              </a:rPr>
            </a:br>
            <a:r>
              <a:rPr lang="en-US" altLang="zh-CN" b="1" dirty="0" smtClean="0">
                <a:latin typeface="Times New Roman" panose="02020603050405020304" pitchFamily="18" charset="0"/>
              </a:rPr>
              <a:t>      </a:t>
            </a:r>
            <a:r>
              <a:rPr lang="en-US" altLang="zh-CN" b="1" dirty="0" err="1" smtClean="0">
                <a:latin typeface="Times New Roman" panose="02020603050405020304" pitchFamily="18" charset="0"/>
              </a:rPr>
              <a:t>printf</a:t>
            </a:r>
            <a:r>
              <a:rPr lang="en-US" altLang="zh-CN" b="1" dirty="0" smtClean="0">
                <a:latin typeface="Times New Roman" panose="02020603050405020304" pitchFamily="18" charset="0"/>
              </a:rPr>
              <a:t>("I am the child </a:t>
            </a:r>
            <a:r>
              <a:rPr lang="en-US" altLang="zh-CN" b="1" dirty="0" err="1" smtClean="0">
                <a:latin typeface="Times New Roman" panose="02020603050405020304" pitchFamily="18" charset="0"/>
              </a:rPr>
              <a:t>process,ID</a:t>
            </a:r>
            <a:r>
              <a:rPr lang="en-US" altLang="zh-CN" b="1" dirty="0" smtClean="0">
                <a:latin typeface="Times New Roman" panose="02020603050405020304" pitchFamily="18" charset="0"/>
              </a:rPr>
              <a:t> is %d\n",</a:t>
            </a:r>
            <a:r>
              <a:rPr lang="en-US" altLang="zh-CN" b="1" dirty="0" err="1" smtClean="0">
                <a:latin typeface="Times New Roman" panose="02020603050405020304" pitchFamily="18" charset="0"/>
              </a:rPr>
              <a:t>getpid</a:t>
            </a:r>
            <a:r>
              <a:rPr lang="en-US" altLang="zh-CN" b="1" dirty="0" smtClean="0">
                <a:latin typeface="Times New Roman" panose="02020603050405020304" pitchFamily="18" charset="0"/>
              </a:rPr>
              <a:t>());</a:t>
            </a:r>
            <a:br>
              <a:rPr lang="en-US" altLang="zh-CN" b="1" dirty="0" smtClean="0">
                <a:latin typeface="Times New Roman" panose="02020603050405020304" pitchFamily="18" charset="0"/>
              </a:rPr>
            </a:br>
            <a:r>
              <a:rPr lang="en-US" altLang="zh-CN" b="1" dirty="0" smtClean="0">
                <a:latin typeface="Times New Roman" panose="02020603050405020304" pitchFamily="18" charset="0"/>
              </a:rPr>
              <a:t> else   </a:t>
            </a:r>
          </a:p>
          <a:p>
            <a:pPr>
              <a:spcBef>
                <a:spcPct val="0"/>
              </a:spcBef>
              <a:buFont typeface="Wingdings" panose="05000000000000000000" pitchFamily="2" charset="2"/>
              <a:buNone/>
            </a:pP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printf</a:t>
            </a:r>
            <a:r>
              <a:rPr lang="en-US" altLang="zh-CN" sz="2400" b="1" dirty="0" smtClean="0">
                <a:latin typeface="Times New Roman" panose="02020603050405020304" pitchFamily="18" charset="0"/>
              </a:rPr>
              <a:t>("I am the parent </a:t>
            </a:r>
            <a:r>
              <a:rPr lang="en-US" altLang="zh-CN" sz="2400" b="1" dirty="0" err="1" smtClean="0">
                <a:latin typeface="Times New Roman" panose="02020603050405020304" pitchFamily="18" charset="0"/>
              </a:rPr>
              <a:t>process,ID</a:t>
            </a:r>
            <a:r>
              <a:rPr lang="en-US" altLang="zh-CN" sz="2400" b="1" dirty="0" smtClean="0">
                <a:latin typeface="Times New Roman" panose="02020603050405020304" pitchFamily="18" charset="0"/>
              </a:rPr>
              <a:t> is %d\n",</a:t>
            </a:r>
            <a:r>
              <a:rPr lang="en-US" altLang="zh-CN" sz="2400" b="1" dirty="0" err="1" smtClean="0">
                <a:latin typeface="Times New Roman" panose="02020603050405020304" pitchFamily="18" charset="0"/>
              </a:rPr>
              <a:t>getpid</a:t>
            </a:r>
            <a:r>
              <a:rPr lang="en-US" altLang="zh-CN" sz="2400" b="1" dirty="0" smtClean="0">
                <a:latin typeface="Times New Roman" panose="02020603050405020304" pitchFamily="18" charset="0"/>
              </a:rPr>
              <a:t>());</a:t>
            </a:r>
            <a:endParaRPr lang="en-US" altLang="zh-CN" sz="2400" b="1" dirty="0">
              <a:latin typeface="Times New Roman" panose="02020603050405020304" pitchFamily="18" charset="0"/>
            </a:endParaRPr>
          </a:p>
        </p:txBody>
      </p:sp>
    </p:spTree>
    <p:extLst>
      <p:ext uri="{BB962C8B-B14F-4D97-AF65-F5344CB8AC3E}">
        <p14:creationId xmlns:p14="http://schemas.microsoft.com/office/powerpoint/2010/main" val="227347003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拷贝数据段的实例（</a:t>
            </a:r>
            <a:r>
              <a:rPr lang="en-US" altLang="zh-CN" dirty="0" smtClean="0"/>
              <a:t>15.21</a:t>
            </a:r>
            <a:r>
              <a:rPr lang="zh-CN" altLang="en-US" dirty="0" smtClean="0"/>
              <a:t>）</a:t>
            </a:r>
            <a:br>
              <a:rPr lang="zh-CN" altLang="en-US" dirty="0" smtClean="0"/>
            </a:br>
            <a:endParaRPr lang="zh-CN" altLang="en-US" dirty="0"/>
          </a:p>
        </p:txBody>
      </p:sp>
      <p:sp>
        <p:nvSpPr>
          <p:cNvPr id="4" name="Rectangle 3"/>
          <p:cNvSpPr txBox="1">
            <a:spLocks noChangeArrowheads="1"/>
          </p:cNvSpPr>
          <p:nvPr/>
        </p:nvSpPr>
        <p:spPr>
          <a:xfrm>
            <a:off x="1035945" y="1577014"/>
            <a:ext cx="7772400" cy="411480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zh-CN" sz="2400" b="1" dirty="0" smtClean="0">
                <a:latin typeface="Times New Roman" panose="02020603050405020304" pitchFamily="18" charset="0"/>
              </a:rPr>
              <a:t>#include&lt;</a:t>
            </a:r>
            <a:r>
              <a:rPr lang="en-US" altLang="zh-CN" sz="2400" b="1" dirty="0" err="1" smtClean="0">
                <a:latin typeface="Times New Roman" panose="02020603050405020304" pitchFamily="18" charset="0"/>
              </a:rPr>
              <a:t>unistd.h</a:t>
            </a:r>
            <a:r>
              <a:rPr lang="en-US" altLang="zh-CN" sz="2400" b="1" dirty="0" smtClean="0">
                <a:latin typeface="Times New Roman" panose="02020603050405020304" pitchFamily="18" charset="0"/>
              </a:rPr>
              <a:t>&gt;</a:t>
            </a:r>
          </a:p>
          <a:p>
            <a:pPr>
              <a:lnSpc>
                <a:spcPct val="80000"/>
              </a:lnSpc>
              <a:buFont typeface="Wingdings" panose="05000000000000000000" pitchFamily="2" charset="2"/>
              <a:buNone/>
            </a:pP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main( )</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pid_t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a:t>
            </a:r>
            <a:r>
              <a:rPr lang="zh-CN" altLang="en-US" sz="2400" b="1" dirty="0" smtClean="0">
                <a:latin typeface="Times New Roman" panose="02020603050405020304" pitchFamily="18" charset="0"/>
              </a:rPr>
              <a:t>；</a:t>
            </a:r>
          </a:p>
          <a:p>
            <a:pPr>
              <a:lnSpc>
                <a:spcPct val="80000"/>
              </a:lnSpc>
              <a:buFont typeface="Wingdings" panose="05000000000000000000" pitchFamily="2" charset="2"/>
              <a:buNone/>
            </a:pPr>
            <a:r>
              <a:rPr lang="zh-CN" altLang="en-US" sz="2400" b="1" dirty="0" smtClean="0">
                <a:latin typeface="Times New Roman" panose="02020603050405020304" pitchFamily="18" charset="0"/>
              </a:rPr>
              <a:t>     </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count =0;</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a:t>
            </a:r>
            <a:r>
              <a:rPr lang="en-US" altLang="zh-CN" sz="2400" b="1" dirty="0" smtClean="0">
                <a:latin typeface="Times New Roman" panose="02020603050405020304" pitchFamily="18" charset="0"/>
              </a:rPr>
              <a:t>=fork();</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     </a:t>
            </a:r>
            <a:r>
              <a:rPr lang="en-US" altLang="zh-CN" sz="2400" b="1" dirty="0" smtClean="0">
                <a:solidFill>
                  <a:schemeClr val="folHlink"/>
                </a:solidFill>
                <a:latin typeface="Times New Roman" panose="02020603050405020304" pitchFamily="18" charset="0"/>
              </a:rPr>
              <a:t>count++;</a:t>
            </a:r>
          </a:p>
          <a:p>
            <a:pPr>
              <a:lnSpc>
                <a:spcPct val="80000"/>
              </a:lnSpc>
              <a:buFont typeface="Wingdings" panose="05000000000000000000" pitchFamily="2" charset="2"/>
              <a:buNone/>
            </a:pPr>
            <a:r>
              <a:rPr lang="en-US" altLang="zh-CN" sz="2400" b="1" dirty="0" smtClean="0">
                <a:solidFill>
                  <a:schemeClr val="folHlink"/>
                </a:solidFill>
                <a:latin typeface="Times New Roman" panose="02020603050405020304" pitchFamily="18" charset="0"/>
              </a:rPr>
              <a:t>     </a:t>
            </a:r>
            <a:r>
              <a:rPr lang="en-US" altLang="zh-CN" sz="2400" b="1" dirty="0" err="1" smtClean="0">
                <a:solidFill>
                  <a:schemeClr val="folHlink"/>
                </a:solidFill>
                <a:latin typeface="Times New Roman" panose="02020603050405020304" pitchFamily="18" charset="0"/>
              </a:rPr>
              <a:t>printf</a:t>
            </a:r>
            <a:r>
              <a:rPr lang="en-US" altLang="zh-CN" sz="2400" b="1" dirty="0" smtClean="0">
                <a:solidFill>
                  <a:schemeClr val="folHlink"/>
                </a:solidFill>
                <a:latin typeface="Times New Roman" panose="02020603050405020304" pitchFamily="18" charset="0"/>
              </a:rPr>
              <a:t>(“count=%d\</a:t>
            </a:r>
            <a:r>
              <a:rPr lang="en-US" altLang="zh-CN" sz="2400" b="1" dirty="0" err="1" smtClean="0">
                <a:solidFill>
                  <a:schemeClr val="folHlink"/>
                </a:solidFill>
                <a:latin typeface="Times New Roman" panose="02020603050405020304" pitchFamily="18" charset="0"/>
              </a:rPr>
              <a:t>n”,count</a:t>
            </a:r>
            <a:r>
              <a:rPr lang="en-US" altLang="zh-CN" sz="2400" b="1" dirty="0" smtClean="0">
                <a:solidFill>
                  <a:schemeClr val="folHlink"/>
                </a:solidFill>
                <a:latin typeface="Times New Roman" panose="02020603050405020304" pitchFamily="18" charset="0"/>
              </a:rPr>
              <a:t>);</a:t>
            </a:r>
          </a:p>
          <a:p>
            <a:pPr>
              <a:lnSpc>
                <a:spcPct val="80000"/>
              </a:lnSpc>
              <a:buFont typeface="Wingdings" panose="05000000000000000000" pitchFamily="2" charset="2"/>
              <a:buNone/>
            </a:pPr>
            <a:r>
              <a:rPr lang="en-US" altLang="zh-CN" sz="2400" b="1" dirty="0" smtClean="0">
                <a:solidFill>
                  <a:schemeClr val="folHlink"/>
                </a:solidFill>
                <a:latin typeface="Times New Roman" panose="02020603050405020304" pitchFamily="18" charset="0"/>
              </a:rPr>
              <a:t>     return 0;</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a:t>
            </a:r>
          </a:p>
          <a:p>
            <a:pPr>
              <a:lnSpc>
                <a:spcPct val="80000"/>
              </a:lnSpc>
              <a:buFont typeface="Wingdings" panose="05000000000000000000" pitchFamily="2" charset="2"/>
              <a:buNone/>
            </a:pPr>
            <a:r>
              <a:rPr lang="zh-CN" altLang="en-US" sz="2400" b="1" dirty="0" smtClean="0">
                <a:latin typeface="Times New Roman" panose="02020603050405020304" pitchFamily="18" charset="0"/>
              </a:rPr>
              <a:t>输出：</a:t>
            </a:r>
            <a:r>
              <a:rPr lang="en-US" altLang="zh-CN" sz="2400" b="1" dirty="0" smtClean="0">
                <a:latin typeface="Times New Roman" panose="02020603050405020304" pitchFamily="18" charset="0"/>
              </a:rPr>
              <a:t>Count=1</a:t>
            </a:r>
          </a:p>
          <a:p>
            <a:pPr>
              <a:lnSpc>
                <a:spcPct val="80000"/>
              </a:lnSpc>
              <a:buFont typeface="Wingdings" panose="05000000000000000000" pitchFamily="2" charset="2"/>
              <a:buNone/>
            </a:pPr>
            <a:r>
              <a:rPr lang="en-US" altLang="zh-CN" sz="2400" b="1" dirty="0" smtClean="0">
                <a:latin typeface="Times New Roman" panose="02020603050405020304" pitchFamily="18" charset="0"/>
              </a:rPr>
              <a:t>            Count=1</a:t>
            </a:r>
            <a:endParaRPr lang="en-US" altLang="zh-CN" sz="2400" b="1" dirty="0">
              <a:latin typeface="Times New Roman" panose="02020603050405020304" pitchFamily="18" charset="0"/>
            </a:endParaRPr>
          </a:p>
        </p:txBody>
      </p:sp>
      <p:sp>
        <p:nvSpPr>
          <p:cNvPr id="5" name="Text Box 5"/>
          <p:cNvSpPr txBox="1">
            <a:spLocks noChangeArrowheads="1"/>
          </p:cNvSpPr>
          <p:nvPr/>
        </p:nvSpPr>
        <p:spPr bwMode="auto">
          <a:xfrm>
            <a:off x="5430145" y="1943726"/>
            <a:ext cx="3382963"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b="1"/>
              <a:t>    </a:t>
            </a:r>
            <a:r>
              <a:rPr lang="zh-CN" altLang="en-US" b="1"/>
              <a:t>将被父子进程各执行一次，但是子进程执行时使自己的数据段里面的（这个数据段是从父进程那 </a:t>
            </a:r>
            <a:r>
              <a:rPr lang="en-US" altLang="zh-CN" b="1"/>
              <a:t>copy</a:t>
            </a:r>
            <a:r>
              <a:rPr lang="zh-CN" altLang="en-US" b="1"/>
              <a:t>过来的一模一样）</a:t>
            </a:r>
            <a:r>
              <a:rPr lang="en-US" altLang="zh-CN" b="1"/>
              <a:t>count+1</a:t>
            </a:r>
            <a:r>
              <a:rPr lang="zh-CN" altLang="en-US" b="1"/>
              <a:t>，同样父进程执行时使自己的数据段里面</a:t>
            </a:r>
            <a:r>
              <a:rPr lang="en-US" altLang="zh-CN" b="1"/>
              <a:t>count+1</a:t>
            </a:r>
            <a:r>
              <a:rPr lang="zh-CN" altLang="en-US" b="1"/>
              <a:t>，互不影响</a:t>
            </a:r>
          </a:p>
        </p:txBody>
      </p:sp>
    </p:spTree>
    <p:extLst>
      <p:ext uri="{BB962C8B-B14F-4D97-AF65-F5344CB8AC3E}">
        <p14:creationId xmlns:p14="http://schemas.microsoft.com/office/powerpoint/2010/main" val="103056612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进程创建（续）</a:t>
            </a:r>
            <a:endParaRPr lang="zh-CN" altLang="en-US" dirty="0"/>
          </a:p>
        </p:txBody>
      </p:sp>
      <p:sp>
        <p:nvSpPr>
          <p:cNvPr id="3" name="内容占位符 2"/>
          <p:cNvSpPr>
            <a:spLocks noGrp="1"/>
          </p:cNvSpPr>
          <p:nvPr>
            <p:ph idx="1"/>
          </p:nvPr>
        </p:nvSpPr>
        <p:spPr/>
        <p:txBody>
          <a:bodyPr/>
          <a:lstStyle/>
          <a:p>
            <a:pPr algn="just">
              <a:lnSpc>
                <a:spcPct val="130000"/>
              </a:lnSpc>
            </a:pPr>
            <a:r>
              <a:rPr lang="en-US" altLang="zh-CN" sz="2400" b="1" dirty="0" err="1" smtClean="0"/>
              <a:t>vfork</a:t>
            </a:r>
            <a:r>
              <a:rPr lang="zh-CN" altLang="en-US" sz="2400" b="1" dirty="0" smtClean="0"/>
              <a:t>的作用和</a:t>
            </a:r>
            <a:r>
              <a:rPr lang="en-US" altLang="zh-CN" sz="2400" b="1" dirty="0" smtClean="0"/>
              <a:t>fork</a:t>
            </a:r>
            <a:r>
              <a:rPr lang="zh-CN" altLang="en-US" sz="2400" b="1" dirty="0" smtClean="0"/>
              <a:t>基本相同，区别在于：</a:t>
            </a:r>
          </a:p>
          <a:p>
            <a:pPr lvl="1" algn="just">
              <a:lnSpc>
                <a:spcPct val="130000"/>
              </a:lnSpc>
            </a:pPr>
            <a:r>
              <a:rPr lang="en-US" altLang="zh-CN" b="1" dirty="0" err="1"/>
              <a:t>vfork</a:t>
            </a:r>
            <a:r>
              <a:rPr lang="zh-CN" altLang="en-US" b="1" dirty="0"/>
              <a:t>并不完全复制父进程的数据段，而是和父进程共享数据段。</a:t>
            </a:r>
          </a:p>
          <a:p>
            <a:pPr lvl="1" algn="just">
              <a:lnSpc>
                <a:spcPct val="130000"/>
              </a:lnSpc>
            </a:pPr>
            <a:r>
              <a:rPr lang="zh-CN" altLang="en-US" b="1" dirty="0"/>
              <a:t>调用</a:t>
            </a:r>
            <a:r>
              <a:rPr lang="en-US" altLang="zh-CN" b="1" dirty="0" err="1"/>
              <a:t>vfork</a:t>
            </a:r>
            <a:r>
              <a:rPr lang="zh-CN" altLang="en-US" b="1" dirty="0"/>
              <a:t>对于父子进程的执行次序有所限制。调用</a:t>
            </a:r>
            <a:r>
              <a:rPr lang="en-US" altLang="zh-CN" b="1" dirty="0" err="1"/>
              <a:t>vfork</a:t>
            </a:r>
            <a:r>
              <a:rPr lang="zh-CN" altLang="en-US" b="1" dirty="0"/>
              <a:t>函数将使父进程挂起，直至子进程返回。</a:t>
            </a:r>
          </a:p>
          <a:p>
            <a:pPr lvl="1" algn="just">
              <a:lnSpc>
                <a:spcPct val="130000"/>
              </a:lnSpc>
            </a:pPr>
            <a:r>
              <a:rPr lang="en-US" altLang="zh-CN" b="1" dirty="0" err="1"/>
              <a:t>vfork</a:t>
            </a:r>
            <a:r>
              <a:rPr lang="en-US" altLang="zh-CN" b="1" dirty="0"/>
              <a:t> </a:t>
            </a:r>
            <a:r>
              <a:rPr lang="zh-CN" altLang="en-US" b="1" dirty="0"/>
              <a:t>保证子进程先运行，在她调用 </a:t>
            </a:r>
            <a:r>
              <a:rPr lang="en-US" altLang="zh-CN" b="1" dirty="0"/>
              <a:t>exec </a:t>
            </a:r>
            <a:r>
              <a:rPr lang="zh-CN" altLang="en-US" b="1" dirty="0"/>
              <a:t>或 </a:t>
            </a:r>
            <a:r>
              <a:rPr lang="en-US" altLang="zh-CN" b="1" dirty="0"/>
              <a:t>exit </a:t>
            </a:r>
            <a:r>
              <a:rPr lang="zh-CN" altLang="en-US" b="1" dirty="0"/>
              <a:t>之后父进程才可能被调度运行。</a:t>
            </a:r>
          </a:p>
          <a:p>
            <a:endParaRPr lang="zh-CN" altLang="en-US" dirty="0"/>
          </a:p>
        </p:txBody>
      </p:sp>
    </p:spTree>
    <p:extLst>
      <p:ext uri="{BB962C8B-B14F-4D97-AF65-F5344CB8AC3E}">
        <p14:creationId xmlns:p14="http://schemas.microsoft.com/office/powerpoint/2010/main" val="196811237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755650" y="260350"/>
            <a:ext cx="4756508" cy="633730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pPr>
            <a:r>
              <a:rPr lang="en-US" altLang="zh-CN" sz="2400" b="1" dirty="0" smtClean="0">
                <a:latin typeface="Times New Roman" panose="02020603050405020304" pitchFamily="18" charset="0"/>
              </a:rPr>
              <a:t>#include &lt;</a:t>
            </a:r>
            <a:r>
              <a:rPr lang="en-US" altLang="zh-CN" sz="2400" b="1" dirty="0" err="1" smtClean="0">
                <a:latin typeface="Times New Roman" panose="02020603050405020304" pitchFamily="18" charset="0"/>
              </a:rPr>
              <a:t>unistd.h</a:t>
            </a:r>
            <a:r>
              <a:rPr lang="en-US" altLang="zh-CN" sz="2400" b="1" dirty="0" smtClean="0">
                <a:latin typeface="Times New Roman" panose="02020603050405020304" pitchFamily="18" charset="0"/>
              </a:rPr>
              <a:t>&gt;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#include &lt;</a:t>
            </a:r>
            <a:r>
              <a:rPr lang="en-US" altLang="zh-CN" sz="2400" b="1" dirty="0" err="1" smtClean="0">
                <a:latin typeface="Times New Roman" panose="02020603050405020304" pitchFamily="18" charset="0"/>
              </a:rPr>
              <a:t>stdio.h</a:t>
            </a:r>
            <a:r>
              <a:rPr lang="en-US" altLang="zh-CN" sz="2400" b="1" dirty="0" smtClean="0">
                <a:latin typeface="Times New Roman" panose="02020603050405020304" pitchFamily="18" charset="0"/>
              </a:rPr>
              <a:t>&gt;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#include &lt;sys/</a:t>
            </a:r>
            <a:r>
              <a:rPr lang="en-US" altLang="zh-CN" sz="2400" b="1" dirty="0" err="1" smtClean="0">
                <a:latin typeface="Times New Roman" panose="02020603050405020304" pitchFamily="18" charset="0"/>
              </a:rPr>
              <a:t>types.h</a:t>
            </a:r>
            <a:r>
              <a:rPr lang="en-US" altLang="zh-CN" sz="2400" b="1" dirty="0" smtClean="0">
                <a:latin typeface="Times New Roman" panose="02020603050405020304" pitchFamily="18" charset="0"/>
              </a:rPr>
              <a:t>&gt;</a:t>
            </a:r>
            <a:br>
              <a:rPr lang="en-US" altLang="zh-CN" sz="2400" b="1" dirty="0" smtClean="0">
                <a:latin typeface="Times New Roman" panose="02020603050405020304" pitchFamily="18" charset="0"/>
              </a:rPr>
            </a:b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main(void)</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pid_t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a:t>
            </a:r>
            <a:r>
              <a:rPr lang="en-US" altLang="zh-CN" sz="2400" b="1" dirty="0" smtClean="0">
                <a:latin typeface="Times New Roman" panose="02020603050405020304" pitchFamily="18" charset="0"/>
              </a:rPr>
              <a: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count=0;</a:t>
            </a:r>
          </a:p>
          <a:p>
            <a:pPr>
              <a:spcBef>
                <a:spcPct val="0"/>
              </a:spcBef>
            </a:pP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pid</a:t>
            </a:r>
            <a:r>
              <a:rPr lang="en-US" altLang="zh-CN" sz="2400" b="1" dirty="0" smtClean="0">
                <a:latin typeface="Times New Roman" panose="02020603050405020304" pitchFamily="18" charset="0"/>
              </a:rPr>
              <a:t>=</a:t>
            </a:r>
            <a:r>
              <a:rPr lang="en-US" altLang="zh-CN" sz="2400" b="1" dirty="0" err="1" smtClean="0">
                <a:latin typeface="Times New Roman" panose="02020603050405020304" pitchFamily="18" charset="0"/>
              </a:rPr>
              <a:t>vfork</a:t>
            </a:r>
            <a:r>
              <a:rPr lang="en-US" altLang="zh-CN" sz="2400" b="1" dirty="0" smtClean="0">
                <a:latin typeface="Times New Roman" panose="02020603050405020304" pitchFamily="18" charset="0"/>
              </a:rPr>
              <a:t>();</a:t>
            </a:r>
          </a:p>
          <a:p>
            <a:pPr>
              <a:spcBef>
                <a:spcPct val="0"/>
              </a:spcBef>
            </a:pPr>
            <a:r>
              <a:rPr lang="en-US" altLang="zh-CN" sz="2400" b="1" dirty="0" smtClean="0">
                <a:latin typeface="Times New Roman" panose="02020603050405020304" pitchFamily="18" charset="0"/>
              </a:rPr>
              <a:t> if(</a:t>
            </a:r>
            <a:r>
              <a:rPr lang="en-US" altLang="zh-CN" sz="2400" b="1" dirty="0" err="1" smtClean="0">
                <a:latin typeface="Times New Roman" panose="02020603050405020304" pitchFamily="18" charset="0"/>
              </a:rPr>
              <a:t>pid</a:t>
            </a:r>
            <a:r>
              <a:rPr lang="en-US" altLang="zh-CN" sz="2400" b="1" dirty="0" smtClean="0">
                <a:latin typeface="Times New Roman" panose="02020603050405020304" pitchFamily="18" charset="0"/>
              </a:rPr>
              <a:t>==0)</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count++;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a:t>
            </a:r>
            <a:r>
              <a:rPr lang="en-US" altLang="zh-CN" sz="2400" b="1" dirty="0" smtClean="0">
                <a:solidFill>
                  <a:schemeClr val="folHlink"/>
                </a:solidFill>
                <a:latin typeface="Times New Roman" panose="02020603050405020304" pitchFamily="18" charset="0"/>
              </a:rPr>
              <a:t>_exit(0);</a:t>
            </a:r>
            <a:r>
              <a:rPr lang="en-US" altLang="zh-CN" sz="2400" b="1" dirty="0" smtClean="0">
                <a:latin typeface="Times New Roman" panose="02020603050405020304" pitchFamily="18" charset="0"/>
              </a:rPr>
              <a:t> } </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else</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count++;</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printf</a:t>
            </a:r>
            <a:r>
              <a:rPr lang="en-US" altLang="zh-CN" sz="2400" b="1" dirty="0" smtClean="0">
                <a:latin typeface="Times New Roman" panose="02020603050405020304" pitchFamily="18" charset="0"/>
              </a:rPr>
              <a:t>("count= %d\</a:t>
            </a:r>
            <a:r>
              <a:rPr lang="en-US" altLang="zh-CN" sz="2400" b="1" dirty="0" err="1" smtClean="0">
                <a:latin typeface="Times New Roman" panose="02020603050405020304" pitchFamily="18" charset="0"/>
              </a:rPr>
              <a:t>n",count</a:t>
            </a:r>
            <a:r>
              <a:rPr lang="en-US" altLang="zh-CN" sz="2400" b="1" dirty="0" smtClean="0">
                <a:latin typeface="Times New Roman" panose="02020603050405020304" pitchFamily="18" charset="0"/>
              </a:rPr>
              <a:t>);</a:t>
            </a:r>
          </a:p>
          <a:p>
            <a:pPr>
              <a:spcBef>
                <a:spcPct val="0"/>
              </a:spcBef>
              <a:buFont typeface="Wingdings" panose="05000000000000000000" pitchFamily="2" charset="2"/>
              <a:buNone/>
            </a:pPr>
            <a:r>
              <a:rPr lang="en-US" altLang="zh-CN" sz="2400" b="1" dirty="0" smtClean="0">
                <a:latin typeface="Times New Roman" panose="02020603050405020304" pitchFamily="18" charset="0"/>
              </a:rPr>
              <a:t>     return 0;</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a:t>
            </a:r>
            <a:endParaRPr lang="en-US" altLang="zh-CN" sz="2400" b="1" dirty="0">
              <a:latin typeface="Times New Roman" panose="02020603050405020304" pitchFamily="18" charset="0"/>
            </a:endParaRPr>
          </a:p>
        </p:txBody>
      </p:sp>
      <p:sp>
        <p:nvSpPr>
          <p:cNvPr id="5" name="Rectangle 3"/>
          <p:cNvSpPr txBox="1">
            <a:spLocks noChangeArrowheads="1"/>
          </p:cNvSpPr>
          <p:nvPr/>
        </p:nvSpPr>
        <p:spPr>
          <a:xfrm>
            <a:off x="5615189" y="260350"/>
            <a:ext cx="6349286" cy="63373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ct val="0"/>
              </a:spcBef>
            </a:pPr>
            <a:r>
              <a:rPr lang="zh-CN" altLang="en-US" sz="2400" b="1" smtClean="0"/>
              <a:t>在子进程调用 </a:t>
            </a:r>
            <a:r>
              <a:rPr lang="en-US" altLang="zh-CN" sz="2400" b="1" smtClean="0"/>
              <a:t>exec </a:t>
            </a:r>
            <a:r>
              <a:rPr lang="zh-CN" altLang="en-US" sz="2400" b="1" smtClean="0"/>
              <a:t>或 </a:t>
            </a:r>
            <a:r>
              <a:rPr lang="en-US" altLang="zh-CN" sz="2400" b="1" smtClean="0"/>
              <a:t>exit </a:t>
            </a:r>
            <a:r>
              <a:rPr lang="zh-CN" altLang="en-US" sz="2400" b="1" smtClean="0"/>
              <a:t>之前与父进程数据是共享的，所以子进程退出后把父进程的数据段 </a:t>
            </a:r>
            <a:r>
              <a:rPr lang="en-US" altLang="zh-CN" sz="2400" b="1" smtClean="0"/>
              <a:t>count </a:t>
            </a:r>
            <a:r>
              <a:rPr lang="zh-CN" altLang="en-US" sz="2400" b="1" smtClean="0"/>
              <a:t>改成 </a:t>
            </a:r>
            <a:r>
              <a:rPr lang="en-US" altLang="zh-CN" sz="2400" b="1" smtClean="0"/>
              <a:t>1 </a:t>
            </a:r>
            <a:r>
              <a:rPr lang="zh-CN" altLang="en-US" sz="2400" b="1" smtClean="0"/>
              <a:t>了，子进程退出后，父进程又执行，最终就将</a:t>
            </a:r>
            <a:r>
              <a:rPr lang="en-US" altLang="zh-CN" sz="2400" b="1" smtClean="0"/>
              <a:t>count </a:t>
            </a:r>
            <a:r>
              <a:rPr lang="zh-CN" altLang="en-US" sz="2400" b="1" smtClean="0"/>
              <a:t>变成了 </a:t>
            </a:r>
            <a:r>
              <a:rPr lang="en-US" altLang="zh-CN" sz="2400" b="1" smtClean="0"/>
              <a:t>2</a:t>
            </a:r>
          </a:p>
          <a:p>
            <a:pPr algn="just">
              <a:lnSpc>
                <a:spcPct val="110000"/>
              </a:lnSpc>
              <a:spcBef>
                <a:spcPct val="0"/>
              </a:spcBef>
            </a:pPr>
            <a:endParaRPr lang="en-US" altLang="zh-CN" sz="2400" b="1" smtClean="0"/>
          </a:p>
          <a:p>
            <a:pPr>
              <a:lnSpc>
                <a:spcPct val="110000"/>
              </a:lnSpc>
              <a:spcBef>
                <a:spcPct val="0"/>
              </a:spcBef>
            </a:pPr>
            <a:r>
              <a:rPr lang="zh-CN" altLang="en-US" sz="2400" b="1" smtClean="0"/>
              <a:t>运行结果：</a:t>
            </a:r>
            <a:r>
              <a:rPr lang="zh-CN" altLang="en-US" sz="2400" b="1" smtClean="0">
                <a:latin typeface="Times New Roman" panose="02020603050405020304" pitchFamily="18" charset="0"/>
              </a:rPr>
              <a:t/>
            </a:r>
            <a:br>
              <a:rPr lang="zh-CN" altLang="en-US" sz="2400" b="1" smtClean="0">
                <a:latin typeface="Times New Roman" panose="02020603050405020304" pitchFamily="18" charset="0"/>
              </a:rPr>
            </a:br>
            <a:r>
              <a:rPr lang="zh-CN" altLang="en-US" sz="2400" b="1" smtClean="0">
                <a:latin typeface="Times New Roman" panose="02020603050405020304" pitchFamily="18" charset="0"/>
              </a:rPr>
              <a:t>    </a:t>
            </a:r>
            <a:r>
              <a:rPr lang="en-US" altLang="zh-CN" sz="2400" b="1" smtClean="0">
                <a:latin typeface="Times New Roman" panose="02020603050405020304" pitchFamily="18" charset="0"/>
              </a:rPr>
              <a:t>[root@lwm liweimeng]# gcc fork2.c -o fork2</a:t>
            </a:r>
            <a:br>
              <a:rPr lang="en-US" altLang="zh-CN" sz="2400" b="1" smtClean="0">
                <a:latin typeface="Times New Roman" panose="02020603050405020304" pitchFamily="18" charset="0"/>
              </a:rPr>
            </a:br>
            <a:r>
              <a:rPr lang="en-US" altLang="zh-CN" sz="2400" b="1" smtClean="0">
                <a:latin typeface="Times New Roman" panose="02020603050405020304" pitchFamily="18" charset="0"/>
              </a:rPr>
              <a:t>    [root@lwm liweimeng]# ./fork2</a:t>
            </a:r>
            <a:br>
              <a:rPr lang="en-US" altLang="zh-CN" sz="2400" b="1" smtClean="0">
                <a:latin typeface="Times New Roman" panose="02020603050405020304" pitchFamily="18" charset="0"/>
              </a:rPr>
            </a:br>
            <a:r>
              <a:rPr lang="en-US" altLang="zh-CN" sz="2400" b="1" smtClean="0">
                <a:latin typeface="Times New Roman" panose="02020603050405020304" pitchFamily="18" charset="0"/>
              </a:rPr>
              <a:t>    count= 2</a:t>
            </a:r>
            <a:endParaRPr lang="en-US" altLang="zh-CN" sz="2400" b="1" dirty="0">
              <a:latin typeface="Times New Roman" panose="02020603050405020304" pitchFamily="18" charset="0"/>
            </a:endParaRPr>
          </a:p>
        </p:txBody>
      </p:sp>
    </p:spTree>
    <p:extLst>
      <p:ext uri="{BB962C8B-B14F-4D97-AF65-F5344CB8AC3E}">
        <p14:creationId xmlns:p14="http://schemas.microsoft.com/office/powerpoint/2010/main" val="226745864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exec</a:t>
            </a:r>
            <a:r>
              <a:rPr lang="zh-CN" altLang="en-US" dirty="0" smtClean="0"/>
              <a:t>函数</a:t>
            </a:r>
            <a:endParaRPr lang="zh-CN" altLang="en-US" dirty="0"/>
          </a:p>
        </p:txBody>
      </p:sp>
      <p:sp>
        <p:nvSpPr>
          <p:cNvPr id="3" name="内容占位符 2"/>
          <p:cNvSpPr>
            <a:spLocks noGrp="1"/>
          </p:cNvSpPr>
          <p:nvPr>
            <p:ph idx="1"/>
          </p:nvPr>
        </p:nvSpPr>
        <p:spPr/>
        <p:txBody>
          <a:bodyPr>
            <a:normAutofit/>
          </a:bodyPr>
          <a:lstStyle/>
          <a:p>
            <a:r>
              <a:rPr lang="zh-CN" altLang="en-US" dirty="0"/>
              <a:t>在用</a:t>
            </a:r>
            <a:r>
              <a:rPr lang="en-US" altLang="zh-CN" dirty="0"/>
              <a:t>fork</a:t>
            </a:r>
            <a:r>
              <a:rPr lang="zh-CN" altLang="en-US" dirty="0"/>
              <a:t>函数创建子进程后，子进程往往要调用一种</a:t>
            </a:r>
            <a:r>
              <a:rPr lang="en-US" altLang="zh-CN" dirty="0"/>
              <a:t>exec</a:t>
            </a:r>
            <a:r>
              <a:rPr lang="zh-CN" altLang="en-US" dirty="0"/>
              <a:t>函数以执行另一个程序。</a:t>
            </a:r>
          </a:p>
          <a:p>
            <a:r>
              <a:rPr lang="en-US" altLang="zh-CN" dirty="0"/>
              <a:t>exec</a:t>
            </a:r>
            <a:r>
              <a:rPr lang="zh-CN" altLang="en-US" dirty="0"/>
              <a:t>函数提供了一个在进程中启动另一个程序执行的方法。</a:t>
            </a:r>
          </a:p>
          <a:p>
            <a:r>
              <a:rPr lang="zh-CN" altLang="en-US" dirty="0"/>
              <a:t>它可以根据指定的文件名或目录名找到可执行文件，并用它来取代原调用进程的数据段、代码段和堆栈段，在执行完之后，原调用进程的内容除了进程号外，其他全部被新的进程替换了。</a:t>
            </a:r>
          </a:p>
          <a:p>
            <a:r>
              <a:rPr lang="zh-CN" altLang="en-US" dirty="0"/>
              <a:t>另外，这里的可执行文件既可以是二进制文件，也可以是</a:t>
            </a:r>
            <a:r>
              <a:rPr lang="en-US" altLang="zh-CN" dirty="0"/>
              <a:t>Linux</a:t>
            </a:r>
            <a:r>
              <a:rPr lang="zh-CN" altLang="en-US" dirty="0"/>
              <a:t>下任何可执行的脚本文件。</a:t>
            </a:r>
          </a:p>
          <a:p>
            <a:endParaRPr lang="zh-CN" altLang="en-US" dirty="0"/>
          </a:p>
        </p:txBody>
      </p:sp>
    </p:spTree>
    <p:extLst>
      <p:ext uri="{BB962C8B-B14F-4D97-AF65-F5344CB8AC3E}">
        <p14:creationId xmlns:p14="http://schemas.microsoft.com/office/powerpoint/2010/main" val="3915715925"/>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3370" y="0"/>
            <a:ext cx="10515600" cy="981563"/>
          </a:xfrm>
        </p:spPr>
        <p:txBody>
          <a:bodyPr/>
          <a:lstStyle/>
          <a:p>
            <a:r>
              <a:rPr lang="en-US" altLang="zh-CN" dirty="0" smtClean="0"/>
              <a:t>exec</a:t>
            </a:r>
            <a:r>
              <a:rPr lang="zh-CN" altLang="en-US" dirty="0" smtClean="0"/>
              <a:t>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当进程调用一种</a:t>
            </a:r>
            <a:r>
              <a:rPr lang="en-US" altLang="zh-CN" dirty="0" smtClean="0"/>
              <a:t>exec</a:t>
            </a:r>
            <a:r>
              <a:rPr lang="zh-CN" altLang="en-US" dirty="0" smtClean="0"/>
              <a:t>函数时，该进程完全由新程序代换，而新程序则从其</a:t>
            </a:r>
            <a:r>
              <a:rPr lang="en-US" altLang="zh-CN" dirty="0" smtClean="0"/>
              <a:t>main</a:t>
            </a:r>
            <a:r>
              <a:rPr lang="zh-CN" altLang="en-US" dirty="0" smtClean="0"/>
              <a:t>函数开始执行。因为调用</a:t>
            </a:r>
            <a:r>
              <a:rPr lang="en-US" altLang="zh-CN" dirty="0" smtClean="0"/>
              <a:t>exec</a:t>
            </a:r>
            <a:r>
              <a:rPr lang="zh-CN" altLang="en-US" dirty="0" smtClean="0"/>
              <a:t>并不创建新进程，所以前后的进程</a:t>
            </a:r>
            <a:r>
              <a:rPr lang="en-US" altLang="zh-CN" dirty="0" smtClean="0"/>
              <a:t>ID</a:t>
            </a:r>
            <a:r>
              <a:rPr lang="zh-CN" altLang="en-US" dirty="0" smtClean="0"/>
              <a:t>并未改变。</a:t>
            </a:r>
          </a:p>
          <a:p>
            <a:r>
              <a:rPr lang="zh-CN" altLang="en-US" dirty="0" smtClean="0"/>
              <a:t>因此，</a:t>
            </a:r>
            <a:r>
              <a:rPr lang="en-US" altLang="zh-CN" dirty="0" smtClean="0"/>
              <a:t>exec</a:t>
            </a:r>
            <a:r>
              <a:rPr lang="zh-CN" altLang="en-US" dirty="0" smtClean="0"/>
              <a:t>只是用另一个</a:t>
            </a:r>
            <a:r>
              <a:rPr lang="zh-CN" altLang="en-US" dirty="0" smtClean="0">
                <a:solidFill>
                  <a:srgbClr val="FF0000"/>
                </a:solidFill>
              </a:rPr>
              <a:t>新程序替换</a:t>
            </a:r>
            <a:r>
              <a:rPr lang="zh-CN" altLang="en-US" dirty="0" smtClean="0"/>
              <a:t>了当前进程的正文、数据、堆和栈段。</a:t>
            </a:r>
            <a:endParaRPr lang="en-US" altLang="zh-CN" dirty="0" smtClean="0">
              <a:sym typeface="Symbol" panose="05050102010706020507" pitchFamily="18" charset="2"/>
            </a:endParaRPr>
          </a:p>
          <a:p>
            <a:r>
              <a:rPr lang="zh-CN" altLang="en-US" dirty="0" smtClean="0">
                <a:sym typeface="Symbol" panose="05050102010706020507" pitchFamily="18" charset="2"/>
              </a:rPr>
              <a:t>使用</a:t>
            </a:r>
            <a:r>
              <a:rPr lang="en-US" altLang="zh-CN" dirty="0">
                <a:sym typeface="Symbol" panose="05050102010706020507" pitchFamily="18" charset="2"/>
              </a:rPr>
              <a:t>exec</a:t>
            </a:r>
            <a:r>
              <a:rPr lang="zh-CN" altLang="en-US" dirty="0">
                <a:sym typeface="Symbol" panose="05050102010706020507" pitchFamily="18" charset="2"/>
              </a:rPr>
              <a:t>函数族主要有两种情况 </a:t>
            </a:r>
          </a:p>
          <a:p>
            <a:pPr lvl="1">
              <a:buNone/>
            </a:pPr>
            <a:r>
              <a:rPr lang="zh-CN" altLang="en-US" dirty="0" smtClean="0">
                <a:sym typeface="Symbol" panose="05050102010706020507" pitchFamily="18" charset="2"/>
              </a:rPr>
              <a:t></a:t>
            </a:r>
            <a:r>
              <a:rPr lang="zh-CN" altLang="en-US" dirty="0" smtClean="0"/>
              <a:t>  当进程认为自己不能再为系统和用户做出任何贡献时，就可以调用</a:t>
            </a:r>
            <a:r>
              <a:rPr lang="en-US" altLang="zh-CN" dirty="0" smtClean="0"/>
              <a:t>exec</a:t>
            </a:r>
            <a:r>
              <a:rPr lang="zh-CN" altLang="en-US" dirty="0" smtClean="0"/>
              <a:t>函数族中的任意一个函数让自己重生；</a:t>
            </a:r>
            <a:endParaRPr lang="zh-CN" altLang="en-US" dirty="0" smtClean="0">
              <a:sym typeface="Symbol" panose="05050102010706020507" pitchFamily="18" charset="2"/>
            </a:endParaRPr>
          </a:p>
          <a:p>
            <a:pPr lvl="1">
              <a:buNone/>
            </a:pPr>
            <a:r>
              <a:rPr lang="zh-CN" altLang="en-US" dirty="0" smtClean="0">
                <a:sym typeface="Symbol" panose="05050102010706020507" pitchFamily="18" charset="2"/>
              </a:rPr>
              <a:t></a:t>
            </a:r>
            <a:r>
              <a:rPr lang="zh-CN" altLang="en-US" dirty="0" smtClean="0"/>
              <a:t>  如果一个进程想执行另一个程序，那么它就可以调用</a:t>
            </a:r>
            <a:r>
              <a:rPr lang="en-US" altLang="zh-CN" dirty="0" smtClean="0"/>
              <a:t>fork()</a:t>
            </a:r>
            <a:r>
              <a:rPr lang="zh-CN" altLang="en-US" dirty="0" smtClean="0"/>
              <a:t>函数新建一个进程，然后调用</a:t>
            </a:r>
            <a:r>
              <a:rPr lang="en-US" altLang="zh-CN" dirty="0" smtClean="0"/>
              <a:t>exec</a:t>
            </a:r>
            <a:r>
              <a:rPr lang="zh-CN" altLang="en-US" dirty="0" smtClean="0"/>
              <a:t>函数族中的任意一个函数，这样看起来就像通过执行应用程序而产生了一个新进程（这种情况非常普遍）。</a:t>
            </a:r>
          </a:p>
          <a:p>
            <a:endParaRPr lang="zh-CN" altLang="en-US" dirty="0"/>
          </a:p>
        </p:txBody>
      </p:sp>
    </p:spTree>
    <p:extLst>
      <p:ext uri="{BB962C8B-B14F-4D97-AF65-F5344CB8AC3E}">
        <p14:creationId xmlns:p14="http://schemas.microsoft.com/office/powerpoint/2010/main" val="2153839417"/>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进程创建（续）</a:t>
            </a:r>
            <a:endParaRPr lang="zh-CN" altLang="en-US" dirty="0"/>
          </a:p>
        </p:txBody>
      </p:sp>
      <p:sp>
        <p:nvSpPr>
          <p:cNvPr id="3" name="内容占位符 2"/>
          <p:cNvSpPr>
            <a:spLocks noGrp="1"/>
          </p:cNvSpPr>
          <p:nvPr>
            <p:ph idx="1"/>
          </p:nvPr>
        </p:nvSpPr>
        <p:spPr>
          <a:xfrm>
            <a:off x="838200" y="1402544"/>
            <a:ext cx="10515600" cy="4351338"/>
          </a:xfrm>
        </p:spPr>
        <p:txBody>
          <a:bodyPr/>
          <a:lstStyle/>
          <a:p>
            <a:r>
              <a:rPr lang="zh-CN" altLang="en-US" sz="2400" b="1" dirty="0" smtClean="0"/>
              <a:t>创建执行其他程序的进程</a:t>
            </a:r>
          </a:p>
          <a:p>
            <a:pPr>
              <a:buFont typeface="Wingdings" panose="05000000000000000000" pitchFamily="2" charset="2"/>
              <a:buNone/>
            </a:pPr>
            <a:r>
              <a:rPr lang="zh-CN" altLang="en-US" sz="2400" b="1" dirty="0" smtClean="0"/>
              <a:t>          使用</a:t>
            </a:r>
            <a:r>
              <a:rPr lang="en-US" altLang="zh-CN" sz="2400" b="1" dirty="0" smtClean="0"/>
              <a:t>exec</a:t>
            </a:r>
            <a:r>
              <a:rPr lang="zh-CN" altLang="en-US" sz="2400" b="1" dirty="0" smtClean="0"/>
              <a:t>族的函数执行新的程序，以新的子进程完全替代原有的进程。</a:t>
            </a:r>
          </a:p>
          <a:p>
            <a:pPr lvl="1"/>
            <a:r>
              <a:rPr lang="en-US" altLang="zh-CN" sz="2100" b="1" dirty="0" err="1" smtClean="0">
                <a:solidFill>
                  <a:schemeClr val="hlink"/>
                </a:solidFill>
                <a:latin typeface="Times New Roman" panose="02020603050405020304" pitchFamily="18" charset="0"/>
              </a:rPr>
              <a:t>int</a:t>
            </a:r>
            <a:r>
              <a:rPr lang="en-US" altLang="zh-CN" sz="2100" b="1" dirty="0" smtClean="0">
                <a:solidFill>
                  <a:schemeClr val="hlink"/>
                </a:solidFill>
                <a:latin typeface="Times New Roman" panose="02020603050405020304" pitchFamily="18" charset="0"/>
              </a:rPr>
              <a:t> </a:t>
            </a:r>
            <a:r>
              <a:rPr lang="en-US" altLang="zh-CN" sz="2100" b="1" dirty="0" err="1" smtClean="0">
                <a:solidFill>
                  <a:schemeClr val="hlink"/>
                </a:solidFill>
                <a:latin typeface="Times New Roman" panose="02020603050405020304" pitchFamily="18" charset="0"/>
              </a:rPr>
              <a:t>execl</a:t>
            </a:r>
            <a:r>
              <a:rPr lang="en-US" altLang="zh-CN" sz="2100" b="1" dirty="0" smtClean="0">
                <a:solidFill>
                  <a:schemeClr val="hlink"/>
                </a:solidFill>
                <a:latin typeface="Times New Roman" panose="02020603050405020304" pitchFamily="18" charset="0"/>
              </a:rPr>
              <a:t>(</a:t>
            </a:r>
            <a:r>
              <a:rPr lang="en-US" altLang="zh-CN" sz="2100" b="1" dirty="0" err="1" smtClean="0">
                <a:solidFill>
                  <a:schemeClr val="hlink"/>
                </a:solidFill>
                <a:latin typeface="Times New Roman" panose="02020603050405020304" pitchFamily="18" charset="0"/>
              </a:rPr>
              <a:t>const</a:t>
            </a:r>
            <a:r>
              <a:rPr lang="en-US" altLang="zh-CN" sz="2100" b="1" dirty="0" smtClean="0">
                <a:solidFill>
                  <a:schemeClr val="hlink"/>
                </a:solidFill>
                <a:latin typeface="Times New Roman" panose="02020603050405020304" pitchFamily="18" charset="0"/>
              </a:rPr>
              <a:t> char *</a:t>
            </a:r>
            <a:r>
              <a:rPr lang="en-US" altLang="zh-CN" sz="2100" b="1" dirty="0" err="1" smtClean="0">
                <a:solidFill>
                  <a:schemeClr val="hlink"/>
                </a:solidFill>
                <a:latin typeface="Times New Roman" panose="02020603050405020304" pitchFamily="18" charset="0"/>
              </a:rPr>
              <a:t>pathname,const</a:t>
            </a:r>
            <a:r>
              <a:rPr lang="en-US" altLang="zh-CN" sz="2100" b="1" dirty="0" smtClean="0">
                <a:solidFill>
                  <a:schemeClr val="hlink"/>
                </a:solidFill>
                <a:latin typeface="Times New Roman" panose="02020603050405020304" pitchFamily="18" charset="0"/>
              </a:rPr>
              <a:t> char *</a:t>
            </a:r>
            <a:r>
              <a:rPr lang="en-US" altLang="zh-CN" sz="2100" b="1" dirty="0" err="1" smtClean="0">
                <a:solidFill>
                  <a:schemeClr val="hlink"/>
                </a:solidFill>
                <a:latin typeface="Times New Roman" panose="02020603050405020304" pitchFamily="18" charset="0"/>
              </a:rPr>
              <a:t>arg</a:t>
            </a:r>
            <a:r>
              <a:rPr lang="en-US" altLang="zh-CN" sz="2100" b="1" dirty="0" smtClean="0">
                <a:solidFill>
                  <a:schemeClr val="hlink"/>
                </a:solidFill>
                <a:latin typeface="Times New Roman" panose="02020603050405020304" pitchFamily="18" charset="0"/>
              </a:rPr>
              <a:t>,…);</a:t>
            </a:r>
          </a:p>
          <a:p>
            <a:pPr lvl="1"/>
            <a:r>
              <a:rPr lang="en-US" altLang="zh-CN" sz="2100" b="1" dirty="0" err="1" smtClean="0">
                <a:latin typeface="Times New Roman" panose="02020603050405020304" pitchFamily="18" charset="0"/>
              </a:rPr>
              <a:t>int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execlp</a:t>
            </a:r>
            <a:r>
              <a:rPr lang="en-US" altLang="zh-CN" sz="2100" b="1" dirty="0" smtClean="0">
                <a:latin typeface="Times New Roman" panose="02020603050405020304" pitchFamily="18" charset="0"/>
              </a:rPr>
              <a:t>(</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char *</a:t>
            </a:r>
            <a:r>
              <a:rPr lang="en-US" altLang="zh-CN" sz="2100" b="1" dirty="0" err="1" smtClean="0">
                <a:latin typeface="Times New Roman" panose="02020603050405020304" pitchFamily="18" charset="0"/>
              </a:rPr>
              <a:t>filename,conxt</a:t>
            </a:r>
            <a:r>
              <a:rPr lang="en-US" altLang="zh-CN" sz="2100" b="1" dirty="0" smtClean="0">
                <a:latin typeface="Times New Roman" panose="02020603050405020304" pitchFamily="18" charset="0"/>
              </a:rPr>
              <a:t> char *</a:t>
            </a:r>
            <a:r>
              <a:rPr lang="en-US" altLang="zh-CN" sz="2100" b="1" dirty="0" err="1" smtClean="0">
                <a:latin typeface="Times New Roman" panose="02020603050405020304" pitchFamily="18" charset="0"/>
              </a:rPr>
              <a:t>arg</a:t>
            </a:r>
            <a:r>
              <a:rPr lang="en-US" altLang="zh-CN" sz="2100" b="1" dirty="0" smtClean="0">
                <a:latin typeface="Times New Roman" panose="02020603050405020304" pitchFamily="18" charset="0"/>
              </a:rPr>
              <a:t>,…);</a:t>
            </a:r>
          </a:p>
          <a:p>
            <a:pPr lvl="1"/>
            <a:r>
              <a:rPr lang="en-US" altLang="zh-CN" sz="2100" b="1" dirty="0" err="1" smtClean="0">
                <a:latin typeface="Times New Roman" panose="02020603050405020304" pitchFamily="18" charset="0"/>
              </a:rPr>
              <a:t>int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execle</a:t>
            </a:r>
            <a:r>
              <a:rPr lang="en-US" altLang="zh-CN" sz="2100" b="1" dirty="0" smtClean="0">
                <a:latin typeface="Times New Roman" panose="02020603050405020304" pitchFamily="18" charset="0"/>
              </a:rPr>
              <a:t>(</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char *</a:t>
            </a:r>
            <a:r>
              <a:rPr lang="en-US" altLang="zh-CN" sz="2100" b="1" dirty="0" err="1" smtClean="0">
                <a:latin typeface="Times New Roman" panose="02020603050405020304" pitchFamily="18" charset="0"/>
              </a:rPr>
              <a:t>pathname,conxt</a:t>
            </a:r>
            <a:r>
              <a:rPr lang="en-US" altLang="zh-CN" sz="2100" b="1" dirty="0" smtClean="0">
                <a:latin typeface="Times New Roman" panose="02020603050405020304" pitchFamily="18" charset="0"/>
              </a:rPr>
              <a:t> char *</a:t>
            </a:r>
            <a:r>
              <a:rPr lang="en-US" altLang="zh-CN" sz="2100" b="1" dirty="0" err="1" smtClean="0">
                <a:latin typeface="Times New Roman" panose="02020603050405020304" pitchFamily="18" charset="0"/>
              </a:rPr>
              <a:t>arg</a:t>
            </a:r>
            <a:r>
              <a:rPr lang="en-US" altLang="zh-CN" sz="2100" b="1" dirty="0" smtClean="0">
                <a:latin typeface="Times New Roman" panose="02020603050405020304" pitchFamily="18" charset="0"/>
              </a:rPr>
              <a:t>,…,char #</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encp</a:t>
            </a:r>
            <a:r>
              <a:rPr lang="en-US" altLang="zh-CN" sz="2100" b="1" dirty="0" smtClean="0">
                <a:latin typeface="Times New Roman" panose="02020603050405020304" pitchFamily="18" charset="0"/>
              </a:rPr>
              <a:t>[]);</a:t>
            </a:r>
          </a:p>
          <a:p>
            <a:pPr lvl="1"/>
            <a:r>
              <a:rPr lang="en-US" altLang="zh-CN" sz="2100" b="1" dirty="0" err="1" smtClean="0">
                <a:latin typeface="Times New Roman" panose="02020603050405020304" pitchFamily="18" charset="0"/>
              </a:rPr>
              <a:t>int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execv</a:t>
            </a:r>
            <a:r>
              <a:rPr lang="en-US" altLang="zh-CN" sz="2100" b="1" dirty="0" smtClean="0">
                <a:latin typeface="Times New Roman" panose="02020603050405020304" pitchFamily="18" charset="0"/>
              </a:rPr>
              <a:t>(</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char *pathname, char *</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argv</a:t>
            </a:r>
            <a:r>
              <a:rPr lang="en-US" altLang="zh-CN" sz="2100" b="1" dirty="0" smtClean="0">
                <a:latin typeface="Times New Roman" panose="02020603050405020304" pitchFamily="18" charset="0"/>
              </a:rPr>
              <a:t>[]);</a:t>
            </a:r>
          </a:p>
          <a:p>
            <a:pPr lvl="1"/>
            <a:r>
              <a:rPr lang="en-US" altLang="zh-CN" sz="2100" b="1" dirty="0" err="1" smtClean="0">
                <a:latin typeface="Times New Roman" panose="02020603050405020304" pitchFamily="18" charset="0"/>
              </a:rPr>
              <a:t>int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execvp</a:t>
            </a:r>
            <a:r>
              <a:rPr lang="en-US" altLang="zh-CN" sz="2100" b="1" dirty="0" smtClean="0">
                <a:latin typeface="Times New Roman" panose="02020603050405020304" pitchFamily="18" charset="0"/>
              </a:rPr>
              <a:t>(</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char *filename, char *</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argv</a:t>
            </a:r>
            <a:r>
              <a:rPr lang="en-US" altLang="zh-CN" sz="2100" b="1" dirty="0" smtClean="0">
                <a:latin typeface="Times New Roman" panose="02020603050405020304" pitchFamily="18" charset="0"/>
              </a:rPr>
              <a:t>[]);</a:t>
            </a:r>
          </a:p>
          <a:p>
            <a:pPr lvl="1"/>
            <a:r>
              <a:rPr lang="en-US" altLang="zh-CN" sz="2100" b="1" dirty="0" err="1" smtClean="0">
                <a:latin typeface="Times New Roman" panose="02020603050405020304" pitchFamily="18" charset="0"/>
              </a:rPr>
              <a:t>int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execve</a:t>
            </a:r>
            <a:r>
              <a:rPr lang="en-US" altLang="zh-CN" sz="2100" b="1" dirty="0" smtClean="0">
                <a:latin typeface="Times New Roman" panose="02020603050405020304" pitchFamily="18" charset="0"/>
              </a:rPr>
              <a:t>(</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char *pathname, char *</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argv</a:t>
            </a:r>
            <a:r>
              <a:rPr lang="en-US" altLang="zh-CN" sz="2100" b="1" dirty="0" smtClean="0">
                <a:latin typeface="Times New Roman" panose="02020603050405020304" pitchFamily="18" charset="0"/>
              </a:rPr>
              <a:t>[],char *</a:t>
            </a:r>
            <a:r>
              <a:rPr lang="en-US" altLang="zh-CN" sz="2100" b="1" dirty="0" err="1" smtClean="0">
                <a:latin typeface="Times New Roman" panose="02020603050405020304" pitchFamily="18" charset="0"/>
              </a:rPr>
              <a:t>const</a:t>
            </a:r>
            <a:r>
              <a:rPr lang="en-US" altLang="zh-CN" sz="2100" b="1" dirty="0" smtClean="0">
                <a:latin typeface="Times New Roman" panose="02020603050405020304" pitchFamily="18" charset="0"/>
              </a:rPr>
              <a:t> </a:t>
            </a:r>
            <a:r>
              <a:rPr lang="en-US" altLang="zh-CN" sz="2100" b="1" dirty="0" err="1" smtClean="0">
                <a:latin typeface="Times New Roman" panose="02020603050405020304" pitchFamily="18" charset="0"/>
              </a:rPr>
              <a:t>envp</a:t>
            </a:r>
            <a:r>
              <a:rPr lang="en-US" altLang="zh-CN" sz="2100" b="1" dirty="0" smtClean="0">
                <a:latin typeface="Times New Roman" panose="02020603050405020304" pitchFamily="18" charset="0"/>
              </a:rPr>
              <a:t>[]);</a:t>
            </a:r>
          </a:p>
          <a:p>
            <a:endParaRPr lang="zh-CN" altLang="en-US" dirty="0"/>
          </a:p>
        </p:txBody>
      </p:sp>
      <p:sp>
        <p:nvSpPr>
          <p:cNvPr id="4" name="Rectangle 7"/>
          <p:cNvSpPr txBox="1">
            <a:spLocks/>
          </p:cNvSpPr>
          <p:nvPr/>
        </p:nvSpPr>
        <p:spPr>
          <a:xfrm>
            <a:off x="1536037" y="4551576"/>
            <a:ext cx="8229600" cy="381000"/>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3" panose="05040102010807070707" pitchFamily="18" charset="2"/>
              <a:buNone/>
            </a:pPr>
            <a:r>
              <a:rPr lang="en-US" altLang="zh-CN" sz="2400" b="1" dirty="0"/>
              <a:t>exec</a:t>
            </a:r>
            <a:r>
              <a:rPr lang="zh-CN" altLang="en-US" sz="2400" b="1" dirty="0"/>
              <a:t>函数族对应位的含义</a:t>
            </a:r>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7475" y="5008776"/>
            <a:ext cx="8059737"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8295927"/>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进程创建（续）</a:t>
            </a:r>
            <a:endParaRPr lang="zh-CN" altLang="en-US" dirty="0"/>
          </a:p>
        </p:txBody>
      </p:sp>
      <p:sp>
        <p:nvSpPr>
          <p:cNvPr id="3" name="内容占位符 2"/>
          <p:cNvSpPr>
            <a:spLocks noGrp="1"/>
          </p:cNvSpPr>
          <p:nvPr>
            <p:ph idx="1"/>
          </p:nvPr>
        </p:nvSpPr>
        <p:spPr/>
        <p:txBody>
          <a:bodyPr>
            <a:normAutofit lnSpcReduction="10000"/>
          </a:bodyPr>
          <a:lstStyle/>
          <a:p>
            <a:r>
              <a:rPr lang="en-US" altLang="zh-CN" sz="2400" b="1" dirty="0" smtClean="0">
                <a:latin typeface="Times New Roman" panose="02020603050405020304" pitchFamily="18" charset="0"/>
              </a:rPr>
              <a:t>exec</a:t>
            </a:r>
            <a:r>
              <a:rPr lang="zh-CN" altLang="en-US" sz="2400" b="1" dirty="0" smtClean="0">
                <a:latin typeface="Times New Roman" panose="02020603050405020304" pitchFamily="18" charset="0"/>
              </a:rPr>
              <a:t>函数族的特点</a:t>
            </a:r>
          </a:p>
          <a:p>
            <a:pPr lvl="1">
              <a:lnSpc>
                <a:spcPct val="130000"/>
              </a:lnSpc>
            </a:pPr>
            <a:r>
              <a:rPr lang="zh-CN" altLang="en-US" b="1" dirty="0">
                <a:latin typeface="Times New Roman" panose="02020603050405020304" pitchFamily="18" charset="0"/>
              </a:rPr>
              <a:t>用于启动一个指定路径和文件名的进程。</a:t>
            </a:r>
          </a:p>
          <a:p>
            <a:pPr lvl="1">
              <a:lnSpc>
                <a:spcPct val="130000"/>
              </a:lnSpc>
            </a:pPr>
            <a:r>
              <a:rPr lang="zh-CN" altLang="en-US" b="1" dirty="0">
                <a:latin typeface="Times New Roman" panose="02020603050405020304" pitchFamily="18" charset="0"/>
              </a:rPr>
              <a:t>某进程一旦调用了</a:t>
            </a:r>
            <a:r>
              <a:rPr lang="en-US" altLang="zh-CN" b="1" dirty="0">
                <a:latin typeface="Times New Roman" panose="02020603050405020304" pitchFamily="18" charset="0"/>
              </a:rPr>
              <a:t>exec</a:t>
            </a:r>
            <a:r>
              <a:rPr lang="zh-CN" altLang="en-US" b="1" dirty="0">
                <a:latin typeface="Times New Roman" panose="02020603050405020304" pitchFamily="18" charset="0"/>
              </a:rPr>
              <a:t>类函数，正在执行的程序结束，系统把代码段换成新的程序的代码，原有的数据段和堆栈段也被放弃，新的数据段和堆栈段被分配，但是进程号被保留。</a:t>
            </a:r>
          </a:p>
          <a:p>
            <a:pPr lvl="1">
              <a:lnSpc>
                <a:spcPct val="130000"/>
              </a:lnSpc>
            </a:pPr>
            <a:r>
              <a:rPr lang="zh-CN" altLang="en-US" b="1" dirty="0">
                <a:latin typeface="Times New Roman" panose="02020603050405020304" pitchFamily="18" charset="0"/>
              </a:rPr>
              <a:t>结果为：系统认为正在执行的还是原来的进程，但是进程对应的程序被替换了。</a:t>
            </a:r>
          </a:p>
          <a:p>
            <a:r>
              <a:rPr lang="en-US" altLang="zh-CN" b="1" dirty="0" smtClean="0"/>
              <a:t>fork</a:t>
            </a:r>
            <a:r>
              <a:rPr lang="zh-CN" altLang="en-US" b="1" dirty="0" smtClean="0"/>
              <a:t>和</a:t>
            </a:r>
            <a:r>
              <a:rPr lang="en-US" altLang="zh-CN" b="1" dirty="0" smtClean="0"/>
              <a:t>exec</a:t>
            </a:r>
            <a:r>
              <a:rPr lang="zh-CN" altLang="en-US" b="1" dirty="0" smtClean="0"/>
              <a:t>搭配实现让父进程的代码执行又启动一个新的指定的进程。</a:t>
            </a:r>
          </a:p>
          <a:p>
            <a:endParaRPr lang="zh-CN" altLang="en-US" dirty="0"/>
          </a:p>
        </p:txBody>
      </p:sp>
    </p:spTree>
    <p:extLst>
      <p:ext uri="{BB962C8B-B14F-4D97-AF65-F5344CB8AC3E}">
        <p14:creationId xmlns:p14="http://schemas.microsoft.com/office/powerpoint/2010/main" val="1147872987"/>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44261" y="118683"/>
            <a:ext cx="4917136" cy="6410906"/>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b="1" dirty="0" err="1" smtClean="0">
                <a:latin typeface="Times New Roman" panose="02020603050405020304" pitchFamily="18" charset="0"/>
              </a:rPr>
              <a:t>execl</a:t>
            </a:r>
            <a:r>
              <a:rPr lang="en-US" altLang="zh-CN" sz="2000" b="1" dirty="0" smtClean="0">
                <a:latin typeface="Times New Roman" panose="02020603050405020304" pitchFamily="18" charset="0"/>
              </a:rPr>
              <a:t>()</a:t>
            </a:r>
            <a:r>
              <a:rPr lang="zh-CN" altLang="en-US" sz="2000" b="1" dirty="0" smtClean="0">
                <a:latin typeface="Times New Roman" panose="02020603050405020304" pitchFamily="18" charset="0"/>
              </a:rPr>
              <a:t>使用范例</a:t>
            </a:r>
          </a:p>
          <a:p>
            <a:pPr marL="0" indent="0">
              <a:buNone/>
            </a:pPr>
            <a:r>
              <a:rPr lang="en-US" altLang="zh-CN" sz="2000" b="1" dirty="0" smtClean="0">
                <a:latin typeface="Times New Roman" panose="02020603050405020304" pitchFamily="18" charset="0"/>
              </a:rPr>
              <a:t>#include &lt;</a:t>
            </a:r>
            <a:r>
              <a:rPr lang="en-US" altLang="zh-CN" sz="2000" b="1" dirty="0" err="1" smtClean="0">
                <a:latin typeface="Times New Roman" panose="02020603050405020304" pitchFamily="18" charset="0"/>
              </a:rPr>
              <a:t>stdio.h</a:t>
            </a:r>
            <a:r>
              <a:rPr lang="en-US" altLang="zh-CN" sz="2000" b="1" dirty="0" smtClean="0">
                <a:latin typeface="Times New Roman" panose="02020603050405020304" pitchFamily="18" charset="0"/>
              </a:rPr>
              <a:t>&gt;</a:t>
            </a:r>
          </a:p>
          <a:p>
            <a:pPr marL="0" indent="0">
              <a:buNone/>
            </a:pPr>
            <a:r>
              <a:rPr lang="en-US" altLang="zh-CN" sz="2000" b="1" dirty="0" smtClean="0">
                <a:latin typeface="Times New Roman" panose="02020603050405020304" pitchFamily="18" charset="0"/>
              </a:rPr>
              <a:t>#include &lt;</a:t>
            </a:r>
            <a:r>
              <a:rPr lang="en-US" altLang="zh-CN" sz="2000" b="1" dirty="0" err="1" smtClean="0">
                <a:latin typeface="Times New Roman" panose="02020603050405020304" pitchFamily="18" charset="0"/>
              </a:rPr>
              <a:t>unistd.h</a:t>
            </a:r>
            <a:r>
              <a:rPr lang="en-US" altLang="zh-CN" sz="2000" b="1" dirty="0" smtClean="0">
                <a:latin typeface="Times New Roman" panose="02020603050405020304" pitchFamily="18" charset="0"/>
              </a:rPr>
              <a:t>&gt;</a:t>
            </a:r>
          </a:p>
          <a:p>
            <a:pPr marL="0" indent="0">
              <a:buNone/>
            </a:pPr>
            <a:r>
              <a:rPr lang="en-US" altLang="zh-CN" sz="2000" b="1" dirty="0" smtClean="0">
                <a:latin typeface="Times New Roman" panose="02020603050405020304" pitchFamily="18" charset="0"/>
              </a:rPr>
              <a:t>#include &lt;sys/</a:t>
            </a:r>
            <a:r>
              <a:rPr lang="en-US" altLang="zh-CN" sz="2000" b="1" dirty="0" err="1" smtClean="0">
                <a:latin typeface="Times New Roman" panose="02020603050405020304" pitchFamily="18" charset="0"/>
              </a:rPr>
              <a:t>types.h</a:t>
            </a:r>
            <a:r>
              <a:rPr lang="en-US" altLang="zh-CN" sz="2000" b="1" dirty="0" smtClean="0">
                <a:latin typeface="Times New Roman" panose="02020603050405020304" pitchFamily="18" charset="0"/>
              </a:rPr>
              <a:t>&gt;</a:t>
            </a:r>
          </a:p>
          <a:p>
            <a:pPr marL="0" indent="0">
              <a:buNone/>
            </a:pPr>
            <a:r>
              <a:rPr lang="en-US" altLang="zh-CN" sz="2000" b="1" dirty="0" smtClean="0">
                <a:latin typeface="Times New Roman" panose="02020603050405020304" pitchFamily="18" charset="0"/>
              </a:rPr>
              <a:t>main()</a:t>
            </a:r>
          </a:p>
          <a:p>
            <a:pPr marL="0" indent="0">
              <a:buNone/>
            </a:pPr>
            <a:r>
              <a:rPr lang="en-US" altLang="zh-CN" sz="2000" b="1" dirty="0" smtClean="0">
                <a:latin typeface="Times New Roman" panose="02020603050405020304" pitchFamily="18" charset="0"/>
              </a:rPr>
              <a:t>{</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pid_t</a:t>
            </a: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pid</a:t>
            </a:r>
            <a:r>
              <a:rPr lang="en-US" altLang="zh-CN" sz="2000" b="1" dirty="0" smtClean="0">
                <a:latin typeface="Times New Roman" panose="02020603050405020304" pitchFamily="18" charset="0"/>
              </a:rPr>
              <a:t>;</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printf</a:t>
            </a:r>
            <a:r>
              <a:rPr lang="en-US" altLang="zh-CN" sz="2000" b="1" dirty="0" smtClean="0">
                <a:latin typeface="Times New Roman" panose="02020603050405020304" pitchFamily="18" charset="0"/>
              </a:rPr>
              <a:t>("Now only one process\n");</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printf</a:t>
            </a:r>
            <a:r>
              <a:rPr lang="en-US" altLang="zh-CN" sz="2000" b="1" dirty="0" smtClean="0">
                <a:latin typeface="Times New Roman" panose="02020603050405020304" pitchFamily="18" charset="0"/>
              </a:rPr>
              <a:t>("Calling fork...\n");</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pid</a:t>
            </a:r>
            <a:r>
              <a:rPr lang="en-US" altLang="zh-CN" sz="2000" b="1" dirty="0" smtClean="0">
                <a:latin typeface="Times New Roman" panose="02020603050405020304" pitchFamily="18" charset="0"/>
              </a:rPr>
              <a:t>=fork();</a:t>
            </a:r>
          </a:p>
          <a:p>
            <a:pPr marL="0" indent="0">
              <a:buNone/>
            </a:pPr>
            <a:r>
              <a:rPr lang="en-US" altLang="zh-CN" sz="2000" b="1" dirty="0" smtClean="0">
                <a:latin typeface="Times New Roman" panose="02020603050405020304" pitchFamily="18" charset="0"/>
              </a:rPr>
              <a:t>   if(</a:t>
            </a:r>
            <a:r>
              <a:rPr lang="en-US" altLang="zh-CN" sz="2000" b="1" dirty="0" err="1" smtClean="0">
                <a:latin typeface="Times New Roman" panose="02020603050405020304" pitchFamily="18" charset="0"/>
              </a:rPr>
              <a:t>pid</a:t>
            </a:r>
            <a:r>
              <a:rPr lang="en-US" altLang="zh-CN" sz="2000" b="1" dirty="0" smtClean="0">
                <a:latin typeface="Times New Roman" panose="02020603050405020304" pitchFamily="18" charset="0"/>
              </a:rPr>
              <a:t>==0)    </a:t>
            </a:r>
            <a:r>
              <a:rPr lang="en-US" altLang="zh-CN" sz="2000" b="1" dirty="0" smtClean="0">
                <a:solidFill>
                  <a:schemeClr val="folHlink"/>
                </a:solidFill>
                <a:latin typeface="Times New Roman" panose="02020603050405020304" pitchFamily="18" charset="0"/>
              </a:rPr>
              <a:t>/*</a:t>
            </a:r>
            <a:r>
              <a:rPr lang="zh-CN" altLang="en-US" sz="2000" b="1" dirty="0" smtClean="0">
                <a:solidFill>
                  <a:schemeClr val="folHlink"/>
                </a:solidFill>
                <a:latin typeface="Times New Roman" panose="02020603050405020304" pitchFamily="18" charset="0"/>
              </a:rPr>
              <a:t>进程为子进程*</a:t>
            </a:r>
            <a:r>
              <a:rPr lang="en-US" altLang="zh-CN" sz="2000" b="1" dirty="0" smtClean="0">
                <a:solidFill>
                  <a:schemeClr val="folHlink"/>
                </a:solidFill>
                <a:latin typeface="Times New Roman" panose="02020603050405020304" pitchFamily="18" charset="0"/>
              </a:rPr>
              <a:t>/</a:t>
            </a:r>
          </a:p>
          <a:p>
            <a:pPr marL="0" indent="0">
              <a:buNone/>
            </a:pPr>
            <a:r>
              <a:rPr lang="en-US" altLang="zh-CN" sz="2000" b="1" dirty="0" smtClean="0">
                <a:latin typeface="Times New Roman" panose="02020603050405020304" pitchFamily="18" charset="0"/>
              </a:rPr>
              <a:t>      { </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printf</a:t>
            </a:r>
            <a:r>
              <a:rPr lang="en-US" altLang="zh-CN" sz="2000" b="1" dirty="0" smtClean="0">
                <a:latin typeface="Times New Roman" panose="02020603050405020304" pitchFamily="18" charset="0"/>
              </a:rPr>
              <a:t>("I am the child\n");</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execl</a:t>
            </a:r>
            <a:r>
              <a:rPr lang="en-US" altLang="zh-CN" sz="2000" b="1" dirty="0" smtClean="0">
                <a:latin typeface="Times New Roman" panose="02020603050405020304" pitchFamily="18" charset="0"/>
              </a:rPr>
              <a:t>("/bin/ls","-</a:t>
            </a:r>
            <a:r>
              <a:rPr lang="en-US" altLang="zh-CN" sz="2000" b="1" dirty="0" err="1" smtClean="0">
                <a:latin typeface="Times New Roman" panose="02020603050405020304" pitchFamily="18" charset="0"/>
              </a:rPr>
              <a:t>l",NULL</a:t>
            </a:r>
            <a:r>
              <a:rPr lang="en-US" altLang="zh-CN" sz="2000" b="1" dirty="0" smtClean="0">
                <a:latin typeface="Times New Roman" panose="02020603050405020304" pitchFamily="18" charset="0"/>
              </a:rPr>
              <a:t>);</a:t>
            </a:r>
          </a:p>
          <a:p>
            <a:pPr marL="0" indent="0">
              <a:buNone/>
            </a:pPr>
            <a:r>
              <a:rPr lang="en-US" altLang="zh-CN" sz="2000" b="1" dirty="0" smtClean="0">
                <a:latin typeface="Times New Roman" panose="02020603050405020304" pitchFamily="18" charset="0"/>
              </a:rPr>
              <a:t>	</a:t>
            </a:r>
            <a:r>
              <a:rPr lang="en-US" altLang="zh-CN" sz="2000" b="1" dirty="0" smtClean="0">
                <a:solidFill>
                  <a:schemeClr val="folHlink"/>
                </a:solidFill>
                <a:latin typeface="Times New Roman" panose="02020603050405020304" pitchFamily="18" charset="0"/>
              </a:rPr>
              <a:t>/*</a:t>
            </a:r>
            <a:r>
              <a:rPr lang="zh-CN" altLang="en-US" sz="2000" b="1" dirty="0" smtClean="0">
                <a:solidFill>
                  <a:schemeClr val="folHlink"/>
                </a:solidFill>
                <a:latin typeface="Times New Roman" panose="02020603050405020304" pitchFamily="18" charset="0"/>
              </a:rPr>
              <a:t>如果</a:t>
            </a:r>
            <a:r>
              <a:rPr lang="en-US" altLang="zh-CN" sz="2000" b="1" dirty="0" err="1" smtClean="0">
                <a:solidFill>
                  <a:schemeClr val="folHlink"/>
                </a:solidFill>
                <a:latin typeface="Times New Roman" panose="02020603050405020304" pitchFamily="18" charset="0"/>
              </a:rPr>
              <a:t>execl</a:t>
            </a:r>
            <a:r>
              <a:rPr lang="zh-CN" altLang="en-US" sz="2000" b="1" dirty="0" smtClean="0">
                <a:solidFill>
                  <a:schemeClr val="folHlink"/>
                </a:solidFill>
                <a:latin typeface="Times New Roman" panose="02020603050405020304" pitchFamily="18" charset="0"/>
              </a:rPr>
              <a:t>返回</a:t>
            </a:r>
            <a:r>
              <a:rPr lang="en-US" altLang="zh-CN" sz="2000" b="1" dirty="0" smtClean="0">
                <a:solidFill>
                  <a:schemeClr val="folHlink"/>
                </a:solidFill>
                <a:latin typeface="Times New Roman" panose="02020603050405020304" pitchFamily="18" charset="0"/>
              </a:rPr>
              <a:t>,</a:t>
            </a:r>
            <a:r>
              <a:rPr lang="zh-CN" altLang="en-US" sz="2000" b="1" dirty="0" smtClean="0">
                <a:solidFill>
                  <a:schemeClr val="folHlink"/>
                </a:solidFill>
                <a:latin typeface="Times New Roman" panose="02020603050405020304" pitchFamily="18" charset="0"/>
              </a:rPr>
              <a:t>说明调用失败*</a:t>
            </a:r>
            <a:r>
              <a:rPr lang="en-US" altLang="zh-CN" sz="2000" b="1" dirty="0" smtClean="0">
                <a:solidFill>
                  <a:schemeClr val="folHlink"/>
                </a:solidFill>
                <a:latin typeface="Times New Roman" panose="02020603050405020304" pitchFamily="18" charset="0"/>
              </a:rPr>
              <a:t>/</a:t>
            </a:r>
          </a:p>
          <a:p>
            <a:pPr marL="0" indent="0">
              <a:buNone/>
            </a:pPr>
            <a:r>
              <a:rPr lang="en-US" altLang="zh-CN" sz="2000" b="1" dirty="0" smtClean="0">
                <a:latin typeface="Times New Roman" panose="02020603050405020304" pitchFamily="18" charset="0"/>
              </a:rPr>
              <a:t>	</a:t>
            </a:r>
            <a:r>
              <a:rPr lang="en-US" altLang="zh-CN" sz="2000" b="1" dirty="0" err="1" smtClean="0">
                <a:latin typeface="Times New Roman" panose="02020603050405020304" pitchFamily="18" charset="0"/>
              </a:rPr>
              <a:t>perror</a:t>
            </a:r>
            <a:r>
              <a:rPr lang="en-US" altLang="zh-CN" sz="2000" b="1" dirty="0" smtClean="0">
                <a:latin typeface="Times New Roman" panose="02020603050405020304" pitchFamily="18" charset="0"/>
              </a:rPr>
              <a:t>("</a:t>
            </a:r>
            <a:r>
              <a:rPr lang="en-US" altLang="zh-CN" sz="2000" b="1" dirty="0" err="1" smtClean="0">
                <a:latin typeface="Times New Roman" panose="02020603050405020304" pitchFamily="18" charset="0"/>
              </a:rPr>
              <a:t>execl</a:t>
            </a:r>
            <a:r>
              <a:rPr lang="en-US" altLang="zh-CN" sz="2000" b="1" dirty="0" smtClean="0">
                <a:latin typeface="Times New Roman" panose="02020603050405020304" pitchFamily="18" charset="0"/>
              </a:rPr>
              <a:t> failed to run ls");</a:t>
            </a:r>
          </a:p>
          <a:p>
            <a:pPr marL="0" indent="0">
              <a:buNone/>
            </a:pPr>
            <a:r>
              <a:rPr lang="en-US" altLang="zh-CN" sz="2000" b="1" dirty="0" smtClean="0">
                <a:latin typeface="Times New Roman" panose="02020603050405020304" pitchFamily="18" charset="0"/>
              </a:rPr>
              <a:t>        exit(1);</a:t>
            </a:r>
          </a:p>
          <a:p>
            <a:pPr marL="0" indent="0">
              <a:buNone/>
            </a:pPr>
            <a:r>
              <a:rPr lang="en-US" altLang="zh-CN" sz="2000" b="1" dirty="0" smtClean="0">
                <a:latin typeface="Times New Roman" panose="02020603050405020304" pitchFamily="18" charset="0"/>
              </a:rPr>
              <a:t>      }</a:t>
            </a:r>
            <a:endParaRPr lang="en-US" altLang="zh-CN" sz="2000" b="1" dirty="0">
              <a:latin typeface="Times New Roman" panose="02020603050405020304" pitchFamily="18" charset="0"/>
            </a:endParaRPr>
          </a:p>
        </p:txBody>
      </p:sp>
      <p:sp>
        <p:nvSpPr>
          <p:cNvPr id="5" name="Rectangle 3"/>
          <p:cNvSpPr>
            <a:spLocks noGrp="1" noChangeArrowheads="1"/>
          </p:cNvSpPr>
          <p:nvPr>
            <p:ph idx="1"/>
          </p:nvPr>
        </p:nvSpPr>
        <p:spPr>
          <a:xfrm>
            <a:off x="5164428" y="118683"/>
            <a:ext cx="6915955" cy="4351338"/>
          </a:xfrm>
        </p:spPr>
        <p:style>
          <a:lnRef idx="1">
            <a:schemeClr val="accent1"/>
          </a:lnRef>
          <a:fillRef idx="2">
            <a:schemeClr val="accent1"/>
          </a:fillRef>
          <a:effectRef idx="1">
            <a:schemeClr val="accent1"/>
          </a:effectRef>
          <a:fontRef idx="minor">
            <a:schemeClr val="dk1"/>
          </a:fontRef>
        </p:style>
        <p:txBody>
          <a:bodyPr/>
          <a:lstStyle/>
          <a:p>
            <a:pPr marL="0" indent="0">
              <a:lnSpc>
                <a:spcPct val="80000"/>
              </a:lnSpc>
              <a:buNone/>
            </a:pPr>
            <a:r>
              <a:rPr lang="en-US" altLang="zh-CN" sz="2000" b="1" dirty="0">
                <a:latin typeface="Times New Roman" panose="02020603050405020304" pitchFamily="18" charset="0"/>
              </a:rPr>
              <a:t>else if(</a:t>
            </a:r>
            <a:r>
              <a:rPr lang="en-US" altLang="zh-CN" sz="2000" b="1" dirty="0" err="1">
                <a:latin typeface="Times New Roman" panose="02020603050405020304" pitchFamily="18" charset="0"/>
              </a:rPr>
              <a:t>pid</a:t>
            </a:r>
            <a:r>
              <a:rPr lang="en-US" altLang="zh-CN" sz="2000" b="1" dirty="0">
                <a:latin typeface="Times New Roman" panose="02020603050405020304" pitchFamily="18" charset="0"/>
              </a:rPr>
              <a:t>&gt;0) /*</a:t>
            </a:r>
            <a:r>
              <a:rPr lang="zh-CN" altLang="en-US" sz="2000" b="1" dirty="0">
                <a:latin typeface="Times New Roman" panose="02020603050405020304" pitchFamily="18" charset="0"/>
              </a:rPr>
              <a:t>进程为父进程*</a:t>
            </a:r>
            <a:r>
              <a:rPr lang="en-US" altLang="zh-CN" sz="2000" b="1" dirty="0">
                <a:latin typeface="Times New Roman" panose="02020603050405020304" pitchFamily="18" charset="0"/>
              </a:rPr>
              <a:t>/</a:t>
            </a:r>
          </a:p>
          <a:p>
            <a:pPr marL="0" indent="0">
              <a:lnSpc>
                <a:spcPct val="80000"/>
              </a:lnSpc>
              <a:buNone/>
            </a:pPr>
            <a:r>
              <a:rPr lang="en-US" altLang="zh-CN" sz="2000" b="1" dirty="0">
                <a:latin typeface="Times New Roman" panose="02020603050405020304" pitchFamily="18" charset="0"/>
              </a:rPr>
              <a:t>      	{</a:t>
            </a:r>
          </a:p>
          <a:p>
            <a:pPr marL="0" indent="0">
              <a:lnSpc>
                <a:spcPct val="80000"/>
              </a:lnSpc>
              <a:buNone/>
            </a:pP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printf</a:t>
            </a:r>
            <a:r>
              <a:rPr lang="en-US" altLang="zh-CN" sz="2000" b="1" dirty="0">
                <a:latin typeface="Times New Roman" panose="02020603050405020304" pitchFamily="18" charset="0"/>
              </a:rPr>
              <a:t>("I'm the parent, my child's </a:t>
            </a:r>
            <a:r>
              <a:rPr lang="en-US" altLang="zh-CN" sz="2000" b="1" dirty="0" err="1">
                <a:latin typeface="Times New Roman" panose="02020603050405020304" pitchFamily="18" charset="0"/>
              </a:rPr>
              <a:t>pid</a:t>
            </a:r>
            <a:r>
              <a:rPr lang="en-US" altLang="zh-CN" sz="2000" b="1" dirty="0">
                <a:latin typeface="Times New Roman" panose="02020603050405020304" pitchFamily="18" charset="0"/>
              </a:rPr>
              <a:t> is %d\n",</a:t>
            </a:r>
            <a:r>
              <a:rPr lang="en-US" altLang="zh-CN" sz="2000" b="1" dirty="0" err="1">
                <a:latin typeface="Times New Roman" panose="02020603050405020304" pitchFamily="18" charset="0"/>
              </a:rPr>
              <a:t>pid</a:t>
            </a:r>
            <a:r>
              <a:rPr lang="en-US" altLang="zh-CN" sz="2000" b="1" dirty="0">
                <a:latin typeface="Times New Roman" panose="02020603050405020304" pitchFamily="18" charset="0"/>
              </a:rPr>
              <a:t>);</a:t>
            </a:r>
          </a:p>
          <a:p>
            <a:pPr marL="0" indent="0">
              <a:lnSpc>
                <a:spcPct val="80000"/>
              </a:lnSpc>
              <a:buNone/>
            </a:pP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execl</a:t>
            </a:r>
            <a:r>
              <a:rPr lang="en-US" altLang="zh-CN" sz="2000" b="1" dirty="0">
                <a:latin typeface="Times New Roman" panose="02020603050405020304" pitchFamily="18" charset="0"/>
              </a:rPr>
              <a:t>("/</a:t>
            </a:r>
            <a:r>
              <a:rPr lang="en-US" altLang="zh-CN" sz="2000" b="1" dirty="0" smtClean="0">
                <a:latin typeface="Times New Roman" panose="02020603050405020304" pitchFamily="18" charset="0"/>
              </a:rPr>
              <a:t>bin/</a:t>
            </a:r>
            <a:r>
              <a:rPr lang="en-US" altLang="zh-CN" sz="2000" b="1" dirty="0" err="1" smtClean="0">
                <a:latin typeface="Times New Roman" panose="02020603050405020304" pitchFamily="18" charset="0"/>
              </a:rPr>
              <a:t>top","",</a:t>
            </a:r>
            <a:r>
              <a:rPr lang="en-US" altLang="zh-CN" sz="2000" b="1" dirty="0" err="1">
                <a:latin typeface="Times New Roman" panose="02020603050405020304" pitchFamily="18" charset="0"/>
              </a:rPr>
              <a:t>NULL</a:t>
            </a:r>
            <a:r>
              <a:rPr lang="en-US" altLang="zh-CN" sz="2000" b="1" dirty="0">
                <a:latin typeface="Times New Roman" panose="02020603050405020304" pitchFamily="18" charset="0"/>
              </a:rPr>
              <a:t>);</a:t>
            </a:r>
          </a:p>
          <a:p>
            <a:pPr marL="0" indent="0">
              <a:lnSpc>
                <a:spcPct val="80000"/>
              </a:lnSpc>
              <a:buNone/>
            </a:pPr>
            <a:r>
              <a:rPr lang="en-US" altLang="zh-CN" sz="2000" b="1" dirty="0">
                <a:solidFill>
                  <a:schemeClr val="folHlink"/>
                </a:solidFill>
                <a:latin typeface="Times New Roman" panose="02020603050405020304" pitchFamily="18" charset="0"/>
              </a:rPr>
              <a:t>          /*</a:t>
            </a:r>
            <a:r>
              <a:rPr lang="zh-CN" altLang="en-US" sz="2000" b="1" dirty="0">
                <a:solidFill>
                  <a:schemeClr val="folHlink"/>
                </a:solidFill>
                <a:latin typeface="Times New Roman" panose="02020603050405020304" pitchFamily="18" charset="0"/>
              </a:rPr>
              <a:t>如果</a:t>
            </a:r>
            <a:r>
              <a:rPr lang="en-US" altLang="zh-CN" sz="2000" b="1" dirty="0" err="1">
                <a:solidFill>
                  <a:schemeClr val="folHlink"/>
                </a:solidFill>
                <a:latin typeface="Times New Roman" panose="02020603050405020304" pitchFamily="18" charset="0"/>
              </a:rPr>
              <a:t>execl</a:t>
            </a:r>
            <a:r>
              <a:rPr lang="zh-CN" altLang="en-US" sz="2000" b="1" dirty="0">
                <a:solidFill>
                  <a:schemeClr val="folHlink"/>
                </a:solidFill>
                <a:latin typeface="Times New Roman" panose="02020603050405020304" pitchFamily="18" charset="0"/>
              </a:rPr>
              <a:t>返回</a:t>
            </a:r>
            <a:r>
              <a:rPr lang="en-US" altLang="zh-CN" sz="2000" b="1" dirty="0">
                <a:solidFill>
                  <a:schemeClr val="folHlink"/>
                </a:solidFill>
                <a:latin typeface="Times New Roman" panose="02020603050405020304" pitchFamily="18" charset="0"/>
              </a:rPr>
              <a:t>,</a:t>
            </a:r>
            <a:r>
              <a:rPr lang="zh-CN" altLang="en-US" sz="2000" b="1" dirty="0">
                <a:solidFill>
                  <a:schemeClr val="folHlink"/>
                </a:solidFill>
                <a:latin typeface="Times New Roman" panose="02020603050405020304" pitchFamily="18" charset="0"/>
              </a:rPr>
              <a:t>说明调用失败*</a:t>
            </a:r>
            <a:r>
              <a:rPr lang="en-US" altLang="zh-CN" sz="2000" b="1" dirty="0">
                <a:solidFill>
                  <a:schemeClr val="folHlink"/>
                </a:solidFill>
                <a:latin typeface="Times New Roman" panose="02020603050405020304" pitchFamily="18" charset="0"/>
              </a:rPr>
              <a:t>/</a:t>
            </a:r>
          </a:p>
          <a:p>
            <a:pPr marL="0" indent="0">
              <a:lnSpc>
                <a:spcPct val="80000"/>
              </a:lnSpc>
              <a:buNone/>
            </a:pP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perror</a:t>
            </a:r>
            <a:r>
              <a:rPr lang="en-US" altLang="zh-CN" sz="2000" b="1" dirty="0">
                <a:latin typeface="Times New Roman" panose="02020603050405020304" pitchFamily="18" charset="0"/>
              </a:rPr>
              <a:t>("</a:t>
            </a:r>
            <a:r>
              <a:rPr lang="en-US" altLang="zh-CN" sz="2000" b="1" dirty="0" err="1">
                <a:latin typeface="Times New Roman" panose="02020603050405020304" pitchFamily="18" charset="0"/>
              </a:rPr>
              <a:t>execl</a:t>
            </a:r>
            <a:r>
              <a:rPr lang="en-US" altLang="zh-CN" sz="2000" b="1" dirty="0">
                <a:latin typeface="Times New Roman" panose="02020603050405020304" pitchFamily="18" charset="0"/>
              </a:rPr>
              <a:t> failed to run </a:t>
            </a:r>
            <a:r>
              <a:rPr lang="en-US" altLang="zh-CN" sz="2000" b="1" dirty="0" smtClean="0">
                <a:latin typeface="Times New Roman" panose="02020603050405020304" pitchFamily="18" charset="0"/>
              </a:rPr>
              <a:t>top");</a:t>
            </a:r>
            <a:endParaRPr lang="en-US" altLang="zh-CN" sz="2000" b="1" dirty="0">
              <a:latin typeface="Times New Roman" panose="02020603050405020304" pitchFamily="18" charset="0"/>
            </a:endParaRPr>
          </a:p>
          <a:p>
            <a:pPr marL="0" indent="0">
              <a:lnSpc>
                <a:spcPct val="80000"/>
              </a:lnSpc>
              <a:buNone/>
            </a:pPr>
            <a:r>
              <a:rPr lang="en-US" altLang="zh-CN" sz="2000" b="1" dirty="0">
                <a:latin typeface="Times New Roman" panose="02020603050405020304" pitchFamily="18" charset="0"/>
              </a:rPr>
              <a:t>         exit(1);</a:t>
            </a:r>
          </a:p>
          <a:p>
            <a:pPr marL="0" indent="0">
              <a:lnSpc>
                <a:spcPct val="80000"/>
              </a:lnSpc>
              <a:buNone/>
            </a:pPr>
            <a:r>
              <a:rPr lang="en-US" altLang="zh-CN" sz="2000" b="1" dirty="0">
                <a:latin typeface="Times New Roman" panose="02020603050405020304" pitchFamily="18" charset="0"/>
              </a:rPr>
              <a:t>        }</a:t>
            </a:r>
          </a:p>
          <a:p>
            <a:pPr marL="0" indent="0">
              <a:lnSpc>
                <a:spcPct val="80000"/>
              </a:lnSpc>
              <a:buNone/>
            </a:pPr>
            <a:r>
              <a:rPr lang="en-US" altLang="zh-CN" sz="2000" b="1" dirty="0">
                <a:latin typeface="Times New Roman" panose="02020603050405020304" pitchFamily="18" charset="0"/>
              </a:rPr>
              <a:t>   else</a:t>
            </a:r>
          </a:p>
          <a:p>
            <a:pPr marL="0" indent="0">
              <a:lnSpc>
                <a:spcPct val="80000"/>
              </a:lnSpc>
              <a:buNone/>
            </a:pP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printf</a:t>
            </a:r>
            <a:r>
              <a:rPr lang="en-US" altLang="zh-CN" sz="2000" b="1" dirty="0">
                <a:latin typeface="Times New Roman" panose="02020603050405020304" pitchFamily="18" charset="0"/>
              </a:rPr>
              <a:t>("Fork fall!\n");</a:t>
            </a:r>
          </a:p>
          <a:p>
            <a:pPr marL="0" indent="0">
              <a:lnSpc>
                <a:spcPct val="80000"/>
              </a:lnSpc>
              <a:buNone/>
            </a:pPr>
            <a:r>
              <a:rPr lang="en-US" altLang="zh-CN" sz="2000" b="1" dirty="0">
                <a:latin typeface="Times New Roman" panose="02020603050405020304" pitchFamily="18" charset="0"/>
              </a:rPr>
              <a:t>}</a:t>
            </a:r>
          </a:p>
          <a:p>
            <a:pPr>
              <a:lnSpc>
                <a:spcPct val="80000"/>
              </a:lnSpc>
            </a:pPr>
            <a:endParaRPr lang="en-US" altLang="zh-CN" sz="2000" b="1" dirty="0">
              <a:latin typeface="Times New Roman" panose="02020603050405020304" pitchFamily="18" charset="0"/>
            </a:endParaRPr>
          </a:p>
        </p:txBody>
      </p:sp>
    </p:spTree>
    <p:extLst>
      <p:ext uri="{BB962C8B-B14F-4D97-AF65-F5344CB8AC3E}">
        <p14:creationId xmlns:p14="http://schemas.microsoft.com/office/powerpoint/2010/main" val="267565798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进程创建（续）</a:t>
            </a:r>
            <a:endParaRPr lang="zh-CN" altLang="en-US" dirty="0"/>
          </a:p>
        </p:txBody>
      </p:sp>
      <p:sp>
        <p:nvSpPr>
          <p:cNvPr id="3" name="内容占位符 2"/>
          <p:cNvSpPr>
            <a:spLocks noGrp="1"/>
          </p:cNvSpPr>
          <p:nvPr>
            <p:ph idx="1"/>
          </p:nvPr>
        </p:nvSpPr>
        <p:spPr/>
        <p:txBody>
          <a:bodyPr/>
          <a:lstStyle/>
          <a:p>
            <a:r>
              <a:rPr lang="en-US" altLang="zh-CN" sz="2400" b="1" dirty="0" smtClean="0">
                <a:latin typeface="Times New Roman" panose="02020603050405020304" pitchFamily="18" charset="0"/>
              </a:rPr>
              <a:t>clone</a:t>
            </a:r>
          </a:p>
          <a:p>
            <a:pPr lvl="1">
              <a:lnSpc>
                <a:spcPct val="110000"/>
              </a:lnSpc>
            </a:pPr>
            <a:r>
              <a:rPr lang="zh-CN" altLang="en-US" b="1" dirty="0">
                <a:latin typeface="Times New Roman" panose="02020603050405020304" pitchFamily="18" charset="0"/>
              </a:rPr>
              <a:t>此函数是</a:t>
            </a:r>
            <a:r>
              <a:rPr lang="en-US" altLang="zh-CN" b="1" dirty="0">
                <a:latin typeface="Times New Roman" panose="02020603050405020304" pitchFamily="18" charset="0"/>
              </a:rPr>
              <a:t>fork</a:t>
            </a:r>
            <a:r>
              <a:rPr lang="zh-CN" altLang="en-US" b="1" dirty="0">
                <a:latin typeface="Times New Roman" panose="02020603050405020304" pitchFamily="18" charset="0"/>
              </a:rPr>
              <a:t>的变形，对父子进程的共享资源提供了更多的控制。可以使得创建的子进程共享父进程的资源。</a:t>
            </a:r>
          </a:p>
          <a:p>
            <a:pPr lvl="1">
              <a:lnSpc>
                <a:spcPct val="110000"/>
              </a:lnSpc>
            </a:pPr>
            <a:r>
              <a:rPr lang="zh-CN" altLang="en-US" b="1" dirty="0">
                <a:latin typeface="Times New Roman" panose="02020603050405020304" pitchFamily="18" charset="0"/>
              </a:rPr>
              <a:t>函数原型：</a:t>
            </a:r>
            <a:r>
              <a:rPr lang="en-US" altLang="zh-CN" b="1" dirty="0" err="1">
                <a:latin typeface="Times New Roman" panose="02020603050405020304" pitchFamily="18" charset="0"/>
              </a:rPr>
              <a:t>int</a:t>
            </a:r>
            <a:r>
              <a:rPr lang="en-US" altLang="zh-CN" b="1" dirty="0">
                <a:latin typeface="Times New Roman" panose="02020603050405020304" pitchFamily="18" charset="0"/>
              </a:rPr>
              <a:t> clone(</a:t>
            </a:r>
            <a:r>
              <a:rPr lang="en-US" altLang="zh-CN" b="1" dirty="0" err="1">
                <a:latin typeface="Times New Roman" panose="02020603050405020304" pitchFamily="18" charset="0"/>
              </a:rPr>
              <a:t>int</a:t>
            </a:r>
            <a:r>
              <a:rPr lang="en-US" altLang="zh-CN" b="1" dirty="0">
                <a:latin typeface="Times New Roman" panose="02020603050405020304" pitchFamily="18" charset="0"/>
              </a:rPr>
              <a:t>(*</a:t>
            </a:r>
            <a:r>
              <a:rPr lang="en-US" altLang="zh-CN" b="1" dirty="0" err="1">
                <a:latin typeface="Times New Roman" panose="02020603050405020304" pitchFamily="18" charset="0"/>
              </a:rPr>
              <a:t>fn</a:t>
            </a:r>
            <a:r>
              <a:rPr lang="en-US" altLang="zh-CN" b="1" dirty="0">
                <a:latin typeface="Times New Roman" panose="02020603050405020304" pitchFamily="18" charset="0"/>
              </a:rPr>
              <a:t>)(void),</a:t>
            </a:r>
            <a:r>
              <a:rPr lang="en-US" altLang="zh-CN" b="1" dirty="0" smtClean="0">
                <a:latin typeface="Times New Roman" panose="02020603050405020304" pitchFamily="18" charset="0"/>
              </a:rPr>
              <a:t>void *</a:t>
            </a:r>
            <a:r>
              <a:rPr lang="en-US" altLang="zh-CN" b="1" dirty="0" err="1" smtClean="0">
                <a:latin typeface="Times New Roman" panose="02020603050405020304" pitchFamily="18" charset="0"/>
              </a:rPr>
              <a:t>child_stack,int</a:t>
            </a:r>
            <a:r>
              <a:rPr lang="en-US" altLang="zh-CN" b="1" dirty="0" smtClean="0">
                <a:latin typeface="Times New Roman" panose="02020603050405020304" pitchFamily="18" charset="0"/>
              </a:rPr>
              <a:t> </a:t>
            </a:r>
            <a:r>
              <a:rPr lang="en-US" altLang="zh-CN" b="1" dirty="0" err="1">
                <a:latin typeface="Times New Roman" panose="02020603050405020304" pitchFamily="18" charset="0"/>
              </a:rPr>
              <a:t>flags,void</a:t>
            </a:r>
            <a:r>
              <a:rPr lang="en-US" altLang="zh-CN" b="1" dirty="0">
                <a:latin typeface="Times New Roman" panose="02020603050405020304" pitchFamily="18" charset="0"/>
              </a:rPr>
              <a:t> *</a:t>
            </a:r>
            <a:r>
              <a:rPr lang="en-US" altLang="zh-CN" b="1" dirty="0" err="1">
                <a:latin typeface="Times New Roman" panose="02020603050405020304" pitchFamily="18" charset="0"/>
              </a:rPr>
              <a:t>arg</a:t>
            </a:r>
            <a:r>
              <a:rPr lang="en-US" altLang="zh-CN" b="1" dirty="0">
                <a:latin typeface="Times New Roman" panose="02020603050405020304" pitchFamily="18" charset="0"/>
              </a:rPr>
              <a:t>)</a:t>
            </a:r>
          </a:p>
          <a:p>
            <a:pPr lvl="2">
              <a:lnSpc>
                <a:spcPct val="110000"/>
              </a:lnSpc>
            </a:pPr>
            <a:r>
              <a:rPr lang="en-US" altLang="zh-CN" b="1" dirty="0" err="1" smtClean="0">
                <a:latin typeface="Times New Roman" panose="02020603050405020304" pitchFamily="18" charset="0"/>
              </a:rPr>
              <a:t>fn</a:t>
            </a:r>
            <a:r>
              <a:rPr lang="zh-CN" altLang="en-US" b="1" dirty="0" smtClean="0">
                <a:latin typeface="Times New Roman" panose="02020603050405020304" pitchFamily="18" charset="0"/>
              </a:rPr>
              <a:t>是函数指针，指向要执行的函数</a:t>
            </a:r>
          </a:p>
          <a:p>
            <a:pPr lvl="2">
              <a:lnSpc>
                <a:spcPct val="110000"/>
              </a:lnSpc>
            </a:pPr>
            <a:r>
              <a:rPr lang="en-US" altLang="zh-CN" b="1" dirty="0" err="1" smtClean="0">
                <a:latin typeface="Times New Roman" panose="02020603050405020304" pitchFamily="18" charset="0"/>
              </a:rPr>
              <a:t>child_stack</a:t>
            </a:r>
            <a:r>
              <a:rPr lang="zh-CN" altLang="en-US" b="1" dirty="0" smtClean="0">
                <a:latin typeface="Times New Roman" panose="02020603050405020304" pitchFamily="18" charset="0"/>
              </a:rPr>
              <a:t>子进程堆栈段的指针</a:t>
            </a:r>
          </a:p>
          <a:p>
            <a:pPr lvl="2">
              <a:lnSpc>
                <a:spcPct val="110000"/>
              </a:lnSpc>
            </a:pPr>
            <a:r>
              <a:rPr lang="en-US" altLang="zh-CN" b="1" dirty="0" smtClean="0">
                <a:latin typeface="Times New Roman" panose="02020603050405020304" pitchFamily="18" charset="0"/>
              </a:rPr>
              <a:t>flags</a:t>
            </a:r>
            <a:r>
              <a:rPr lang="zh-CN" altLang="en-US" b="1" dirty="0" smtClean="0">
                <a:latin typeface="Times New Roman" panose="02020603050405020304" pitchFamily="18" charset="0"/>
              </a:rPr>
              <a:t>用于不同继承内容的标识</a:t>
            </a:r>
          </a:p>
          <a:p>
            <a:endParaRPr lang="zh-CN" altLang="en-US" dirty="0"/>
          </a:p>
        </p:txBody>
      </p:sp>
    </p:spTree>
    <p:extLst>
      <p:ext uri="{BB962C8B-B14F-4D97-AF65-F5344CB8AC3E}">
        <p14:creationId xmlns:p14="http://schemas.microsoft.com/office/powerpoint/2010/main" val="146932298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进程创建（续）</a:t>
            </a:r>
            <a:endParaRPr lang="zh-CN" altLang="en-US" dirty="0"/>
          </a:p>
        </p:txBody>
      </p:sp>
      <p:graphicFrame>
        <p:nvGraphicFramePr>
          <p:cNvPr id="8" name="Group 47"/>
          <p:cNvGraphicFramePr>
            <a:graphicFrameLocks/>
          </p:cNvGraphicFramePr>
          <p:nvPr>
            <p:extLst>
              <p:ext uri="{D42A27DB-BD31-4B8C-83A1-F6EECF244321}">
                <p14:modId xmlns:p14="http://schemas.microsoft.com/office/powerpoint/2010/main" val="3739283652"/>
              </p:ext>
            </p:extLst>
          </p:nvPr>
        </p:nvGraphicFramePr>
        <p:xfrm>
          <a:off x="1891786" y="2289623"/>
          <a:ext cx="7848600" cy="3024189"/>
        </p:xfrm>
        <a:graphic>
          <a:graphicData uri="http://schemas.openxmlformats.org/drawingml/2006/table">
            <a:tbl>
              <a:tblPr/>
              <a:tblGrid>
                <a:gridCol w="2765425"/>
                <a:gridCol w="5083175"/>
              </a:tblGrid>
              <a:tr h="504825">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Flags</a:t>
                      </a: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标识</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含义</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3238">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CLONE_VM</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继承父进程的虚拟存储器属性</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4825">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CLONE_FS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继承父进程的</a:t>
                      </a: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chroot chdir </a:t>
                      </a: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和</a:t>
                      </a: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umask</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3238">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CLONE_FILES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继承父进程的文件描述符</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3238">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CLONE_PID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继承父进程的文件锁、进程号及时间片</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4825">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CLONE_SIGHAND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folHlink"/>
                        </a:buClr>
                        <a:buSzPct val="60000"/>
                        <a:buFont typeface="Wingdings" panose="05000000000000000000" pitchFamily="2" charset="2"/>
                        <a:defRPr sz="2800" kern="1200">
                          <a:solidFill>
                            <a:schemeClr val="tx1"/>
                          </a:solidFill>
                          <a:latin typeface="Tahoma" panose="020B0604030504040204" pitchFamily="34" charset="0"/>
                          <a:ea typeface="宋体" panose="02010600030101010101" pitchFamily="2" charset="-122"/>
                        </a:defRPr>
                      </a:lvl1pPr>
                      <a:lvl2pPr marL="457200" algn="l" defTabSz="914400" rtl="0" eaLnBrk="1" latinLnBrk="0" hangingPunct="1">
                        <a:spcBef>
                          <a:spcPct val="20000"/>
                        </a:spcBef>
                        <a:buClr>
                          <a:schemeClr val="hlink"/>
                        </a:buClr>
                        <a:buSzPct val="55000"/>
                        <a:buFont typeface="Wingdings" panose="05000000000000000000" pitchFamily="2" charset="2"/>
                        <a:defRPr sz="2400" kern="1200">
                          <a:solidFill>
                            <a:schemeClr val="tx1"/>
                          </a:solidFill>
                          <a:latin typeface="Tahoma" panose="020B0604030504040204" pitchFamily="34" charset="0"/>
                          <a:ea typeface="宋体" panose="02010600030101010101" pitchFamily="2" charset="-122"/>
                        </a:defRPr>
                      </a:lvl2pPr>
                      <a:lvl3pPr marL="914400" algn="l" defTabSz="914400" rtl="0" eaLnBrk="1" latinLnBrk="0" hangingPunct="1">
                        <a:spcBef>
                          <a:spcPct val="20000"/>
                        </a:spcBef>
                        <a:buClr>
                          <a:schemeClr val="folHlink"/>
                        </a:buClr>
                        <a:buSzPct val="50000"/>
                        <a:buFont typeface="Wingdings" panose="05000000000000000000" pitchFamily="2" charset="2"/>
                        <a:defRPr sz="2000" kern="1200">
                          <a:solidFill>
                            <a:schemeClr val="tx1"/>
                          </a:solidFill>
                          <a:latin typeface="Tahoma" panose="020B0604030504040204" pitchFamily="34" charset="0"/>
                          <a:ea typeface="宋体" panose="02010600030101010101" pitchFamily="2" charset="-122"/>
                        </a:defRPr>
                      </a:lvl3pPr>
                      <a:lvl4pPr marL="1371600" algn="l" defTabSz="914400" rtl="0" eaLnBrk="1" latinLnBrk="0" hangingPunct="1">
                        <a:spcBef>
                          <a:spcPct val="20000"/>
                        </a:spcBef>
                        <a:buClr>
                          <a:schemeClr val="accent2"/>
                        </a:buClr>
                        <a:buSzPct val="55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4pPr>
                      <a:lvl5pPr marL="1828800" algn="l" defTabSz="914400" rtl="0" eaLnBrk="1" latinLnBrk="0" hangingPunct="1">
                        <a:spcBef>
                          <a:spcPct val="20000"/>
                        </a:spcBef>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accent1"/>
                        </a:buClr>
                        <a:buSzPct val="5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继承父进程的信号处理程序</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 name="Text Box 48"/>
          <p:cNvSpPr txBox="1">
            <a:spLocks noChangeArrowheads="1"/>
          </p:cNvSpPr>
          <p:nvPr/>
        </p:nvSpPr>
        <p:spPr bwMode="auto">
          <a:xfrm>
            <a:off x="4664969" y="1629044"/>
            <a:ext cx="360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sz="2400" b="1" dirty="0">
                <a:solidFill>
                  <a:srgbClr val="000000"/>
                </a:solidFill>
                <a:latin typeface="Tahoma" panose="020B0604030504040204" pitchFamily="34" charset="0"/>
              </a:rPr>
              <a:t>Flags</a:t>
            </a:r>
            <a:r>
              <a:rPr lang="zh-CN" altLang="en-US" sz="2400" b="1" dirty="0">
                <a:solidFill>
                  <a:srgbClr val="000000"/>
                </a:solidFill>
                <a:latin typeface="Tahoma" panose="020B0604030504040204" pitchFamily="34" charset="0"/>
              </a:rPr>
              <a:t>标识的选取</a:t>
            </a:r>
          </a:p>
        </p:txBody>
      </p:sp>
    </p:spTree>
    <p:extLst>
      <p:ext uri="{BB962C8B-B14F-4D97-AF65-F5344CB8AC3E}">
        <p14:creationId xmlns:p14="http://schemas.microsoft.com/office/powerpoint/2010/main" val="117191499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323045" y="128789"/>
            <a:ext cx="4096555" cy="6073932"/>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pPr marL="0" indent="0">
              <a:buNone/>
            </a:pP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variable, </a:t>
            </a:r>
            <a:r>
              <a:rPr lang="en-US" altLang="zh-CN" sz="2400" b="1" dirty="0" err="1" smtClean="0">
                <a:latin typeface="Times New Roman" panose="02020603050405020304" pitchFamily="18" charset="0"/>
              </a:rPr>
              <a:t>fd</a:t>
            </a:r>
            <a:r>
              <a:rPr lang="en-US" altLang="zh-CN" sz="2400" b="1" dirty="0" smtClean="0">
                <a:latin typeface="Times New Roman" panose="02020603050405020304" pitchFamily="18" charset="0"/>
              </a:rPr>
              <a:t>; </a:t>
            </a:r>
            <a:br>
              <a:rPr lang="en-US" altLang="zh-CN" sz="2400" b="1" dirty="0" smtClean="0">
                <a:latin typeface="Times New Roman" panose="02020603050405020304" pitchFamily="18" charset="0"/>
              </a:rPr>
            </a:br>
            <a:endParaRPr lang="en-US" altLang="zh-CN" sz="2400" b="1" dirty="0" smtClean="0">
              <a:latin typeface="Times New Roman" panose="02020603050405020304" pitchFamily="18" charset="0"/>
            </a:endParaRPr>
          </a:p>
          <a:p>
            <a:pPr marL="0" indent="0">
              <a:buNone/>
            </a:pP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do_something</a:t>
            </a:r>
            <a:r>
              <a:rPr lang="en-US" altLang="zh-CN" sz="2400" b="1" dirty="0" smtClean="0">
                <a:latin typeface="Times New Roman" panose="02020603050405020304" pitchFamily="18" charset="0"/>
              </a:rPr>
              <a:t>() {</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variable = 42;</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close(</a:t>
            </a:r>
            <a:r>
              <a:rPr lang="en-US" altLang="zh-CN" sz="2400" b="1" dirty="0" err="1" smtClean="0">
                <a:latin typeface="Times New Roman" panose="02020603050405020304" pitchFamily="18" charset="0"/>
              </a:rPr>
              <a:t>fd</a:t>
            </a:r>
            <a:r>
              <a:rPr lang="en-US" altLang="zh-CN" sz="2400" b="1" dirty="0" smtClean="0">
                <a:latin typeface="Times New Roman" panose="02020603050405020304" pitchFamily="18" charset="0"/>
              </a:rPr>
              <a:t>);</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_exit(0);</a:t>
            </a:r>
            <a:br>
              <a:rPr lang="en-US" altLang="zh-CN" sz="2400" b="1" dirty="0" smtClean="0">
                <a:latin typeface="Times New Roman" panose="02020603050405020304" pitchFamily="18" charset="0"/>
              </a:rPr>
            </a:br>
            <a:r>
              <a:rPr lang="en-US" altLang="zh-CN" sz="2400" b="1" dirty="0" smtClean="0">
                <a:latin typeface="Times New Roman" panose="02020603050405020304" pitchFamily="18" charset="0"/>
              </a:rPr>
              <a:t>}</a:t>
            </a:r>
          </a:p>
          <a:p>
            <a:pPr marL="0" indent="0">
              <a:buNone/>
            </a:pPr>
            <a:r>
              <a:rPr lang="en-US" altLang="zh-CN" sz="2400" b="1" dirty="0" smtClean="0">
                <a:latin typeface="Times New Roman" panose="02020603050405020304" pitchFamily="18" charset="0"/>
              </a:rPr>
              <a:t/>
            </a:r>
            <a:br>
              <a:rPr lang="en-US" altLang="zh-CN" sz="2400" b="1" dirty="0" smtClean="0">
                <a:latin typeface="Times New Roman" panose="02020603050405020304" pitchFamily="18" charset="0"/>
              </a:rPr>
            </a:b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main(</a:t>
            </a:r>
            <a:r>
              <a:rPr lang="en-US" altLang="zh-CN" sz="2400" b="1" dirty="0" err="1" smtClean="0">
                <a:latin typeface="Times New Roman" panose="02020603050405020304" pitchFamily="18" charset="0"/>
              </a:rPr>
              <a:t>int</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argc</a:t>
            </a:r>
            <a:r>
              <a:rPr lang="en-US" altLang="zh-CN" sz="2400" b="1" dirty="0" smtClean="0">
                <a:latin typeface="Times New Roman" panose="02020603050405020304" pitchFamily="18" charset="0"/>
              </a:rPr>
              <a:t>, char *</a:t>
            </a:r>
            <a:r>
              <a:rPr lang="en-US" altLang="zh-CN" sz="2400" b="1" dirty="0" err="1" smtClean="0">
                <a:latin typeface="Times New Roman" panose="02020603050405020304" pitchFamily="18" charset="0"/>
              </a:rPr>
              <a:t>argv</a:t>
            </a:r>
            <a:r>
              <a:rPr lang="en-US" altLang="zh-CN" sz="2400" b="1" dirty="0" smtClean="0">
                <a:latin typeface="Times New Roman" panose="02020603050405020304" pitchFamily="18" charset="0"/>
              </a:rPr>
              <a:t>[]) {</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void **</a:t>
            </a:r>
            <a:r>
              <a:rPr lang="en-US" altLang="zh-CN" sz="2400" b="1" dirty="0" err="1" smtClean="0">
                <a:latin typeface="Times New Roman" panose="02020603050405020304" pitchFamily="18" charset="0"/>
              </a:rPr>
              <a:t>child_stack</a:t>
            </a:r>
            <a:r>
              <a:rPr lang="en-US" altLang="zh-CN" sz="2400" b="1" dirty="0" smtClean="0">
                <a:latin typeface="Times New Roman" panose="02020603050405020304" pitchFamily="18" charset="0"/>
              </a:rPr>
              <a:t>;</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char </a:t>
            </a:r>
            <a:r>
              <a:rPr lang="en-US" altLang="zh-CN" sz="2400" b="1" dirty="0" err="1" smtClean="0">
                <a:latin typeface="Times New Roman" panose="02020603050405020304" pitchFamily="18" charset="0"/>
              </a:rPr>
              <a:t>tempch</a:t>
            </a:r>
            <a:r>
              <a:rPr lang="en-US" altLang="zh-CN" sz="2400" b="1" dirty="0" smtClean="0">
                <a:latin typeface="Times New Roman" panose="02020603050405020304" pitchFamily="18" charset="0"/>
              </a:rPr>
              <a:t>;</a:t>
            </a:r>
            <a:br>
              <a:rPr lang="en-US" altLang="zh-CN" sz="2400" b="1" dirty="0" smtClean="0">
                <a:latin typeface="Times New Roman" panose="02020603050405020304" pitchFamily="18" charset="0"/>
              </a:rPr>
            </a:br>
            <a:r>
              <a:rPr lang="en-US" altLang="zh-CN" sz="900" b="1" dirty="0" smtClean="0">
                <a:latin typeface="Times New Roman" panose="02020603050405020304" pitchFamily="18" charset="0"/>
              </a:rPr>
              <a:t/>
            </a:r>
            <a:br>
              <a:rPr lang="en-US" altLang="zh-CN" sz="900" b="1" dirty="0" smtClean="0">
                <a:latin typeface="Times New Roman" panose="02020603050405020304" pitchFamily="18" charset="0"/>
              </a:rPr>
            </a:br>
            <a:r>
              <a:rPr lang="zh-CN" altLang="en-US" sz="2600" b="1" dirty="0" smtClean="0">
                <a:latin typeface="Times New Roman" panose="02020603050405020304" pitchFamily="18" charset="0"/>
              </a:rPr>
              <a:t>　</a:t>
            </a:r>
            <a:r>
              <a:rPr lang="en-US" altLang="zh-CN" sz="2400" b="1" dirty="0" smtClean="0">
                <a:latin typeface="Times New Roman" panose="02020603050405020304" pitchFamily="18" charset="0"/>
              </a:rPr>
              <a:t>variable = 9;</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err="1" smtClean="0">
                <a:latin typeface="Times New Roman" panose="02020603050405020304" pitchFamily="18" charset="0"/>
              </a:rPr>
              <a:t>fd</a:t>
            </a:r>
            <a:r>
              <a:rPr lang="en-US" altLang="zh-CN" sz="2400" b="1" dirty="0" smtClean="0">
                <a:latin typeface="Times New Roman" panose="02020603050405020304" pitchFamily="18" charset="0"/>
              </a:rPr>
              <a:t> = open("</a:t>
            </a:r>
            <a:r>
              <a:rPr lang="en-US" altLang="zh-CN" sz="2400" b="1" dirty="0" err="1" smtClean="0">
                <a:latin typeface="Times New Roman" panose="02020603050405020304" pitchFamily="18" charset="0"/>
              </a:rPr>
              <a:t>test.file</a:t>
            </a:r>
            <a:r>
              <a:rPr lang="en-US" altLang="zh-CN" sz="2400" b="1" dirty="0" smtClean="0">
                <a:latin typeface="Times New Roman" panose="02020603050405020304" pitchFamily="18" charset="0"/>
              </a:rPr>
              <a:t>", O_RDONLY);</a:t>
            </a:r>
          </a:p>
          <a:p>
            <a:pPr marL="0" indent="0">
              <a:buNone/>
            </a:pPr>
            <a:r>
              <a:rPr lang="zh-CN" altLang="en-US" sz="2400" b="1" dirty="0" smtClean="0">
                <a:latin typeface="Times New Roman" panose="02020603050405020304" pitchFamily="18" charset="0"/>
              </a:rPr>
              <a:t>　</a:t>
            </a:r>
            <a:r>
              <a:rPr lang="en-US" altLang="zh-CN" sz="2400" b="1" dirty="0" err="1" smtClean="0">
                <a:latin typeface="Times New Roman" panose="02020603050405020304" pitchFamily="18" charset="0"/>
              </a:rPr>
              <a:t>child_stack</a:t>
            </a:r>
            <a:r>
              <a:rPr lang="en-US" altLang="zh-CN" sz="2400" b="1" dirty="0" smtClean="0">
                <a:latin typeface="Times New Roman" panose="02020603050405020304" pitchFamily="18" charset="0"/>
              </a:rPr>
              <a:t> = (void **) </a:t>
            </a:r>
            <a:r>
              <a:rPr lang="en-US" altLang="zh-CN" sz="2400" b="1" dirty="0" err="1" smtClean="0">
                <a:latin typeface="Times New Roman" panose="02020603050405020304" pitchFamily="18" charset="0"/>
              </a:rPr>
              <a:t>malloc</a:t>
            </a:r>
            <a:r>
              <a:rPr lang="en-US" altLang="zh-CN" sz="2400" b="1" dirty="0" smtClean="0">
                <a:latin typeface="Times New Roman" panose="02020603050405020304" pitchFamily="18" charset="0"/>
              </a:rPr>
              <a:t>(16384);</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err="1" smtClean="0">
                <a:latin typeface="Times New Roman" panose="02020603050405020304" pitchFamily="18" charset="0"/>
              </a:rPr>
              <a:t>printf</a:t>
            </a:r>
            <a:r>
              <a:rPr lang="en-US" altLang="zh-CN" sz="2400" b="1" dirty="0" smtClean="0">
                <a:latin typeface="Times New Roman" panose="02020603050405020304" pitchFamily="18" charset="0"/>
              </a:rPr>
              <a:t>("The variable was %d\n", variable);</a:t>
            </a:r>
            <a:br>
              <a:rPr lang="en-US" altLang="zh-CN" sz="2400" b="1" dirty="0" smtClean="0">
                <a:latin typeface="Times New Roman" panose="02020603050405020304" pitchFamily="18" charset="0"/>
              </a:rPr>
            </a:br>
            <a:r>
              <a:rPr lang="en-US" altLang="zh-CN" sz="900" b="1" dirty="0" smtClean="0">
                <a:latin typeface="Times New Roman" panose="02020603050405020304" pitchFamily="18" charset="0"/>
              </a:rPr>
              <a:t/>
            </a:r>
            <a:br>
              <a:rPr lang="en-US" altLang="zh-CN" sz="900" b="1" dirty="0" smtClean="0">
                <a:latin typeface="Times New Roman" panose="02020603050405020304" pitchFamily="18" charset="0"/>
              </a:rPr>
            </a:br>
            <a:r>
              <a:rPr lang="zh-CN" altLang="en-US" sz="2600" b="1" dirty="0" smtClean="0">
                <a:latin typeface="Times New Roman" panose="02020603050405020304" pitchFamily="18" charset="0"/>
              </a:rPr>
              <a:t>　</a:t>
            </a:r>
            <a:r>
              <a:rPr lang="en-US" altLang="zh-CN" sz="2400" b="1" dirty="0" smtClean="0">
                <a:latin typeface="Times New Roman" panose="02020603050405020304" pitchFamily="18" charset="0"/>
              </a:rPr>
              <a:t>clone(</a:t>
            </a:r>
            <a:r>
              <a:rPr lang="en-US" altLang="zh-CN" sz="2400" b="1" dirty="0" err="1" smtClean="0">
                <a:latin typeface="Times New Roman" panose="02020603050405020304" pitchFamily="18" charset="0"/>
              </a:rPr>
              <a:t>do_something</a:t>
            </a:r>
            <a:r>
              <a:rPr lang="en-US" altLang="zh-CN" sz="2400" b="1" dirty="0" smtClean="0">
                <a:latin typeface="Times New Roman" panose="02020603050405020304" pitchFamily="18" charset="0"/>
              </a:rPr>
              <a:t>, </a:t>
            </a:r>
            <a:r>
              <a:rPr lang="en-US" altLang="zh-CN" sz="2400" b="1" dirty="0" err="1" smtClean="0">
                <a:latin typeface="Times New Roman" panose="02020603050405020304" pitchFamily="18" charset="0"/>
              </a:rPr>
              <a:t>child_stack</a:t>
            </a:r>
            <a:r>
              <a:rPr lang="en-US" altLang="zh-CN" sz="2400" b="1" dirty="0" smtClean="0">
                <a:latin typeface="Times New Roman" panose="02020603050405020304" pitchFamily="18" charset="0"/>
              </a:rPr>
              <a:t>, </a:t>
            </a:r>
            <a:endParaRPr lang="en-US" altLang="zh-CN" sz="2400" b="1" dirty="0">
              <a:latin typeface="Times New Roman" panose="02020603050405020304" pitchFamily="18" charset="0"/>
            </a:endParaRPr>
          </a:p>
        </p:txBody>
      </p:sp>
      <p:sp>
        <p:nvSpPr>
          <p:cNvPr id="5" name="Rectangle 3"/>
          <p:cNvSpPr txBox="1">
            <a:spLocks noChangeArrowheads="1"/>
          </p:cNvSpPr>
          <p:nvPr/>
        </p:nvSpPr>
        <p:spPr>
          <a:xfrm>
            <a:off x="4559121" y="128790"/>
            <a:ext cx="7237927" cy="3451538"/>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200" b="1" dirty="0" smtClean="0">
                <a:latin typeface="Times New Roman" panose="02020603050405020304" pitchFamily="18" charset="0"/>
              </a:rPr>
              <a:t>CLONE_VM|CLONE_FILES, NULL);</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sleep(1);   </a:t>
            </a:r>
            <a:r>
              <a:rPr lang="en-US" altLang="zh-CN" sz="2200" b="1" dirty="0" smtClean="0">
                <a:solidFill>
                  <a:srgbClr val="008000"/>
                </a:solidFill>
                <a:latin typeface="Times New Roman" panose="02020603050405020304" pitchFamily="18" charset="0"/>
              </a:rPr>
              <a:t>/* </a:t>
            </a:r>
            <a:r>
              <a:rPr lang="zh-CN" altLang="en-US" sz="2200" b="1" dirty="0" smtClean="0">
                <a:solidFill>
                  <a:srgbClr val="008000"/>
                </a:solidFill>
                <a:latin typeface="Times New Roman" panose="02020603050405020304" pitchFamily="18" charset="0"/>
              </a:rPr>
              <a:t>延时以便子进程完成关闭文件操作、修改变量　*</a:t>
            </a:r>
            <a:r>
              <a:rPr lang="en-US" altLang="zh-CN" sz="2200" b="1" dirty="0" smtClean="0">
                <a:solidFill>
                  <a:srgbClr val="008000"/>
                </a:solidFill>
                <a:latin typeface="Times New Roman" panose="02020603050405020304" pitchFamily="18" charset="0"/>
              </a:rPr>
              <a:t>/</a:t>
            </a:r>
            <a:br>
              <a:rPr lang="en-US" altLang="zh-CN" sz="2200" b="1" dirty="0" smtClean="0">
                <a:solidFill>
                  <a:srgbClr val="008000"/>
                </a:solidFill>
                <a:latin typeface="Times New Roman" panose="02020603050405020304" pitchFamily="18" charset="0"/>
              </a:rPr>
            </a:br>
            <a:r>
              <a:rPr lang="en-US" altLang="zh-CN" sz="2200" b="1" dirty="0" err="1" smtClean="0">
                <a:latin typeface="Times New Roman" panose="02020603050405020304" pitchFamily="18" charset="0"/>
              </a:rPr>
              <a:t>printf</a:t>
            </a:r>
            <a:r>
              <a:rPr lang="en-US" altLang="zh-CN" sz="2200" b="1" dirty="0" smtClean="0">
                <a:latin typeface="Times New Roman" panose="02020603050405020304" pitchFamily="18" charset="0"/>
              </a:rPr>
              <a:t>("The variable is now %d\n", variable);</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if (read(</a:t>
            </a:r>
            <a:r>
              <a:rPr lang="en-US" altLang="zh-CN" sz="2200" b="1" dirty="0" err="1" smtClean="0">
                <a:latin typeface="Times New Roman" panose="02020603050405020304" pitchFamily="18" charset="0"/>
              </a:rPr>
              <a:t>fd</a:t>
            </a:r>
            <a:r>
              <a:rPr lang="en-US" altLang="zh-CN" sz="2200" b="1" dirty="0" smtClean="0">
                <a:latin typeface="Times New Roman" panose="02020603050405020304" pitchFamily="18" charset="0"/>
              </a:rPr>
              <a:t>, &amp;</a:t>
            </a:r>
            <a:r>
              <a:rPr lang="en-US" altLang="zh-CN" sz="2200" b="1" dirty="0" err="1" smtClean="0">
                <a:latin typeface="Times New Roman" panose="02020603050405020304" pitchFamily="18" charset="0"/>
              </a:rPr>
              <a:t>tempch</a:t>
            </a:r>
            <a:r>
              <a:rPr lang="en-US" altLang="zh-CN" sz="2200" b="1" dirty="0" smtClean="0">
                <a:latin typeface="Times New Roman" panose="02020603050405020304" pitchFamily="18" charset="0"/>
              </a:rPr>
              <a:t>, 1) &lt; 1) {</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err="1" smtClean="0">
                <a:latin typeface="Times New Roman" panose="02020603050405020304" pitchFamily="18" charset="0"/>
              </a:rPr>
              <a:t>perror</a:t>
            </a:r>
            <a:r>
              <a:rPr lang="en-US" altLang="zh-CN" sz="2200" b="1" dirty="0" smtClean="0">
                <a:latin typeface="Times New Roman" panose="02020603050405020304" pitchFamily="18" charset="0"/>
              </a:rPr>
              <a:t>("File Read Error");</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exit(1);</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err="1" smtClean="0">
                <a:latin typeface="Times New Roman" panose="02020603050405020304" pitchFamily="18" charset="0"/>
              </a:rPr>
              <a:t>printf</a:t>
            </a:r>
            <a:r>
              <a:rPr lang="en-US" altLang="zh-CN" sz="2200" b="1" dirty="0" smtClean="0">
                <a:latin typeface="Times New Roman" panose="02020603050405020304" pitchFamily="18" charset="0"/>
              </a:rPr>
              <a:t>("We could read from the file\n");</a:t>
            </a:r>
            <a:br>
              <a:rPr lang="en-US" altLang="zh-CN" sz="2200" b="1" dirty="0" smtClean="0">
                <a:latin typeface="Times New Roman" panose="02020603050405020304" pitchFamily="18" charset="0"/>
              </a:rPr>
            </a:br>
            <a:r>
              <a:rPr lang="zh-CN" altLang="en-US" sz="2200" b="1" dirty="0" smtClean="0">
                <a:latin typeface="Times New Roman" panose="02020603050405020304" pitchFamily="18" charset="0"/>
              </a:rPr>
              <a:t>　</a:t>
            </a:r>
            <a:r>
              <a:rPr lang="en-US" altLang="zh-CN" sz="2200" b="1" dirty="0" smtClean="0">
                <a:latin typeface="Times New Roman" panose="02020603050405020304" pitchFamily="18" charset="0"/>
              </a:rPr>
              <a:t>return 0;</a:t>
            </a:r>
            <a:br>
              <a:rPr lang="en-US" altLang="zh-CN" sz="2200" b="1" dirty="0" smtClean="0">
                <a:latin typeface="Times New Roman" panose="02020603050405020304" pitchFamily="18" charset="0"/>
              </a:rPr>
            </a:br>
            <a:r>
              <a:rPr lang="en-US" altLang="zh-CN" sz="2200" b="1" dirty="0" smtClean="0">
                <a:latin typeface="Times New Roman" panose="02020603050405020304" pitchFamily="18" charset="0"/>
              </a:rPr>
              <a:t>} </a:t>
            </a:r>
          </a:p>
          <a:p>
            <a:endParaRPr lang="en-US" altLang="zh-CN" sz="2200" b="1" dirty="0">
              <a:solidFill>
                <a:srgbClr val="008000"/>
              </a:solidFill>
              <a:latin typeface="Times New Roman" panose="02020603050405020304" pitchFamily="18" charset="0"/>
            </a:endParaRPr>
          </a:p>
        </p:txBody>
      </p:sp>
      <p:sp>
        <p:nvSpPr>
          <p:cNvPr id="6" name="Rectangle 3"/>
          <p:cNvSpPr txBox="1">
            <a:spLocks noChangeArrowheads="1"/>
          </p:cNvSpPr>
          <p:nvPr/>
        </p:nvSpPr>
        <p:spPr>
          <a:xfrm>
            <a:off x="4967660" y="3815874"/>
            <a:ext cx="7013331" cy="292092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smtClean="0">
                <a:latin typeface="Times New Roman" panose="02020603050405020304" pitchFamily="18" charset="0"/>
              </a:rPr>
              <a:t>运行输出：</a:t>
            </a:r>
          </a:p>
          <a:p>
            <a:r>
              <a:rPr lang="zh-CN" altLang="en-US" sz="800" b="1" dirty="0" smtClean="0">
                <a:latin typeface="Times New Roman" panose="02020603050405020304" pitchFamily="18" charset="0"/>
              </a:rPr>
              <a:t/>
            </a:r>
            <a:br>
              <a:rPr lang="zh-CN" altLang="en-US" sz="8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The variable is now 42</a:t>
            </a:r>
            <a:br>
              <a:rPr lang="en-US" altLang="zh-CN" sz="2400" b="1" dirty="0" smtClean="0">
                <a:latin typeface="Times New Roman" panose="02020603050405020304" pitchFamily="18" charset="0"/>
              </a:rPr>
            </a:b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File Read Error</a:t>
            </a:r>
          </a:p>
          <a:p>
            <a:r>
              <a:rPr lang="zh-CN" altLang="en-US" sz="2400" b="1" dirty="0" smtClean="0">
                <a:latin typeface="Times New Roman" panose="02020603050405020304" pitchFamily="18" charset="0"/>
              </a:rPr>
              <a:t>程序的输出结果说明，子进程将文件关闭并将变量修改（调用</a:t>
            </a:r>
            <a:r>
              <a:rPr lang="en-US" altLang="zh-CN" sz="2400" b="1" dirty="0" smtClean="0">
                <a:latin typeface="Times New Roman" panose="02020603050405020304" pitchFamily="18" charset="0"/>
              </a:rPr>
              <a:t>clone</a:t>
            </a:r>
            <a:r>
              <a:rPr lang="zh-CN" altLang="en-US" sz="2400" b="1" dirty="0" smtClean="0">
                <a:latin typeface="Times New Roman" panose="02020603050405020304" pitchFamily="18" charset="0"/>
              </a:rPr>
              <a:t>时用到的</a:t>
            </a:r>
            <a:r>
              <a:rPr lang="en-US" altLang="zh-CN" sz="2400" b="1" dirty="0" smtClean="0">
                <a:latin typeface="Times New Roman" panose="02020603050405020304" pitchFamily="18" charset="0"/>
              </a:rPr>
              <a:t>CLONE_VM</a:t>
            </a:r>
            <a:r>
              <a:rPr lang="zh-CN" altLang="en-US" sz="2400" b="1" dirty="0" smtClean="0">
                <a:latin typeface="Times New Roman" panose="02020603050405020304" pitchFamily="18" charset="0"/>
              </a:rPr>
              <a:t>、</a:t>
            </a:r>
            <a:r>
              <a:rPr lang="en-US" altLang="zh-CN" sz="2400" b="1" dirty="0" smtClean="0">
                <a:latin typeface="Times New Roman" panose="02020603050405020304" pitchFamily="18" charset="0"/>
              </a:rPr>
              <a:t>CLONE_FILES</a:t>
            </a:r>
            <a:r>
              <a:rPr lang="zh-CN" altLang="en-US" sz="2400" b="1" dirty="0" smtClean="0">
                <a:latin typeface="Times New Roman" panose="02020603050405020304" pitchFamily="18" charset="0"/>
              </a:rPr>
              <a:t>标志将使得变量和文件描述符表被共享），父进程随即就感觉到了，这就是</a:t>
            </a:r>
            <a:r>
              <a:rPr lang="en-US" altLang="zh-CN" sz="2400" b="1" dirty="0" smtClean="0">
                <a:latin typeface="Times New Roman" panose="02020603050405020304" pitchFamily="18" charset="0"/>
              </a:rPr>
              <a:t>clone</a:t>
            </a:r>
            <a:r>
              <a:rPr lang="zh-CN" altLang="en-US" sz="2400" b="1" dirty="0" smtClean="0">
                <a:latin typeface="Times New Roman" panose="02020603050405020304" pitchFamily="18" charset="0"/>
              </a:rPr>
              <a:t>的特点。</a:t>
            </a:r>
            <a:endParaRPr lang="zh-CN" altLang="en-US" sz="2400" dirty="0"/>
          </a:p>
        </p:txBody>
      </p:sp>
    </p:spTree>
    <p:extLst>
      <p:ext uri="{BB962C8B-B14F-4D97-AF65-F5344CB8AC3E}">
        <p14:creationId xmlns:p14="http://schemas.microsoft.com/office/powerpoint/2010/main" val="11114309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进程挂起</a:t>
            </a:r>
            <a:endParaRPr lang="zh-CN" altLang="en-US" dirty="0"/>
          </a:p>
        </p:txBody>
      </p:sp>
      <p:sp>
        <p:nvSpPr>
          <p:cNvPr id="3" name="内容占位符 2"/>
          <p:cNvSpPr>
            <a:spLocks noGrp="1"/>
          </p:cNvSpPr>
          <p:nvPr>
            <p:ph idx="1"/>
          </p:nvPr>
        </p:nvSpPr>
        <p:spPr/>
        <p:txBody>
          <a:bodyPr/>
          <a:lstStyle/>
          <a:p>
            <a:pPr algn="just"/>
            <a:r>
              <a:rPr lang="en-US" altLang="zh-CN" sz="2400" b="1" dirty="0" smtClean="0">
                <a:latin typeface="Times New Roman" panose="02020603050405020304" pitchFamily="18" charset="0"/>
              </a:rPr>
              <a:t>Sleep</a:t>
            </a:r>
          </a:p>
          <a:p>
            <a:pPr lvl="1" algn="just">
              <a:lnSpc>
                <a:spcPct val="130000"/>
              </a:lnSpc>
            </a:pPr>
            <a:r>
              <a:rPr lang="zh-CN" altLang="en-US" b="1" dirty="0">
                <a:latin typeface="Times New Roman" panose="02020603050405020304" pitchFamily="18" charset="0"/>
              </a:rPr>
              <a:t>函数调用</a:t>
            </a:r>
            <a:r>
              <a:rPr lang="en-US" altLang="zh-CN" b="1" dirty="0">
                <a:latin typeface="Times New Roman" panose="02020603050405020304" pitchFamily="18" charset="0"/>
              </a:rPr>
              <a:t>sleep</a:t>
            </a:r>
            <a:r>
              <a:rPr lang="zh-CN" altLang="en-US" b="1" dirty="0">
                <a:latin typeface="Times New Roman" panose="02020603050405020304" pitchFamily="18" charset="0"/>
              </a:rPr>
              <a:t>可以用来使进程挂起指定的秒数。如果指定的挂起的时间到了，该调用的返回值为</a:t>
            </a:r>
            <a:r>
              <a:rPr lang="en-US" altLang="zh-CN" b="1" dirty="0">
                <a:latin typeface="Times New Roman" panose="02020603050405020304" pitchFamily="18" charset="0"/>
              </a:rPr>
              <a:t>0</a:t>
            </a:r>
            <a:r>
              <a:rPr lang="zh-CN" altLang="en-US" b="1" dirty="0">
                <a:latin typeface="Times New Roman" panose="02020603050405020304" pitchFamily="18" charset="0"/>
              </a:rPr>
              <a:t>；如果该函数调用被信号打断，则返回剩余挂起的时间数（指定的时间减去已经挂起的时间）</a:t>
            </a:r>
          </a:p>
          <a:p>
            <a:pPr lvl="1" algn="just"/>
            <a:endParaRPr lang="zh-CN" altLang="en-US" sz="800" b="1" dirty="0" smtClean="0">
              <a:latin typeface="Times New Roman" panose="02020603050405020304" pitchFamily="18" charset="0"/>
            </a:endParaRPr>
          </a:p>
          <a:p>
            <a:pPr lvl="1" algn="just"/>
            <a:r>
              <a:rPr lang="zh-CN" altLang="en-US" b="1" dirty="0">
                <a:latin typeface="Times New Roman" panose="02020603050405020304" pitchFamily="18" charset="0"/>
              </a:rPr>
              <a:t>函数原型 </a:t>
            </a:r>
            <a:r>
              <a:rPr lang="en-US" altLang="zh-CN" b="1" dirty="0">
                <a:latin typeface="Times New Roman" panose="02020603050405020304" pitchFamily="18" charset="0"/>
              </a:rPr>
              <a:t>unsigned </a:t>
            </a:r>
            <a:r>
              <a:rPr lang="en-US" altLang="zh-CN" b="1" dirty="0" err="1">
                <a:latin typeface="Times New Roman" panose="02020603050405020304" pitchFamily="18" charset="0"/>
              </a:rPr>
              <a:t>int</a:t>
            </a:r>
            <a:r>
              <a:rPr lang="en-US" altLang="zh-CN" b="1" dirty="0">
                <a:latin typeface="Times New Roman" panose="02020603050405020304" pitchFamily="18" charset="0"/>
              </a:rPr>
              <a:t> sleep(unsigned </a:t>
            </a:r>
            <a:r>
              <a:rPr lang="en-US" altLang="zh-CN" b="1" dirty="0" err="1">
                <a:latin typeface="Times New Roman" panose="02020603050405020304" pitchFamily="18" charset="0"/>
              </a:rPr>
              <a:t>int</a:t>
            </a:r>
            <a:r>
              <a:rPr lang="en-US" altLang="zh-CN" b="1" dirty="0">
                <a:latin typeface="Times New Roman" panose="02020603050405020304" pitchFamily="18" charset="0"/>
              </a:rPr>
              <a:t> seconds)</a:t>
            </a:r>
          </a:p>
          <a:p>
            <a:endParaRPr lang="zh-CN" altLang="en-US" dirty="0"/>
          </a:p>
        </p:txBody>
      </p:sp>
    </p:spTree>
    <p:extLst>
      <p:ext uri="{BB962C8B-B14F-4D97-AF65-F5344CB8AC3E}">
        <p14:creationId xmlns:p14="http://schemas.microsoft.com/office/powerpoint/2010/main" val="56937637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进程等待</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sz="2400" b="1" dirty="0" smtClean="0">
                <a:latin typeface="Times New Roman" panose="02020603050405020304" pitchFamily="18" charset="0"/>
              </a:rPr>
              <a:t>Wait</a:t>
            </a:r>
          </a:p>
          <a:p>
            <a:pPr lvl="1">
              <a:lnSpc>
                <a:spcPct val="115000"/>
              </a:lnSpc>
            </a:pPr>
            <a:r>
              <a:rPr lang="en-US" altLang="zh-CN" sz="2200" b="1" dirty="0" smtClean="0">
                <a:latin typeface="Times New Roman" panose="02020603050405020304" pitchFamily="18" charset="0"/>
              </a:rPr>
              <a:t>Wait</a:t>
            </a:r>
            <a:r>
              <a:rPr lang="zh-CN" altLang="en-US" sz="2200" b="1" dirty="0" smtClean="0">
                <a:latin typeface="Times New Roman" panose="02020603050405020304" pitchFamily="18" charset="0"/>
              </a:rPr>
              <a:t>的作用是为发出调用的进程只要有子进程，就睡眠到他们中的一个终止为止。</a:t>
            </a:r>
          </a:p>
          <a:p>
            <a:pPr lvl="1">
              <a:lnSpc>
                <a:spcPct val="115000"/>
              </a:lnSpc>
            </a:pPr>
            <a:r>
              <a:rPr lang="zh-CN" altLang="en-US" sz="2200" b="1" dirty="0" smtClean="0">
                <a:latin typeface="Times New Roman" panose="02020603050405020304" pitchFamily="18" charset="0"/>
              </a:rPr>
              <a:t>函数原型 </a:t>
            </a:r>
          </a:p>
          <a:p>
            <a:pPr marL="0" indent="365125">
              <a:buNone/>
            </a:pPr>
            <a:r>
              <a:rPr lang="en-US" altLang="zh-CN" dirty="0"/>
              <a:t>#include &lt;sys/</a:t>
            </a:r>
            <a:r>
              <a:rPr lang="en-US" altLang="zh-CN" dirty="0" err="1"/>
              <a:t>types.h</a:t>
            </a:r>
            <a:r>
              <a:rPr lang="en-US" altLang="zh-CN" dirty="0"/>
              <a:t>&gt;</a:t>
            </a:r>
          </a:p>
          <a:p>
            <a:pPr marL="0" indent="365125">
              <a:buNone/>
            </a:pPr>
            <a:r>
              <a:rPr lang="en-US" altLang="zh-CN" dirty="0"/>
              <a:t>#include &lt;sys/</a:t>
            </a:r>
            <a:r>
              <a:rPr lang="en-US" altLang="zh-CN" dirty="0" err="1"/>
              <a:t>wait.h</a:t>
            </a:r>
            <a:r>
              <a:rPr lang="en-US" altLang="zh-CN" dirty="0"/>
              <a:t>&gt;</a:t>
            </a:r>
          </a:p>
          <a:p>
            <a:pPr marL="0" indent="365125">
              <a:buNone/>
            </a:pPr>
            <a:r>
              <a:rPr lang="en-US" altLang="zh-CN" dirty="0" err="1"/>
              <a:t>pid_t</a:t>
            </a:r>
            <a:r>
              <a:rPr lang="en-US" altLang="zh-CN" dirty="0"/>
              <a:t> wait(</a:t>
            </a:r>
            <a:r>
              <a:rPr lang="en-US" altLang="zh-CN" dirty="0" err="1"/>
              <a:t>int</a:t>
            </a:r>
            <a:r>
              <a:rPr lang="en-US" altLang="zh-CN" dirty="0"/>
              <a:t> * </a:t>
            </a:r>
            <a:r>
              <a:rPr lang="en-US" altLang="zh-CN" i="1" dirty="0"/>
              <a:t>status</a:t>
            </a:r>
            <a:r>
              <a:rPr lang="en-US" altLang="zh-CN" dirty="0"/>
              <a:t>) ;</a:t>
            </a:r>
          </a:p>
          <a:p>
            <a:pPr marL="0" indent="365125">
              <a:buNone/>
            </a:pPr>
            <a:r>
              <a:rPr lang="en-US" altLang="zh-CN" dirty="0" err="1"/>
              <a:t>pid_t</a:t>
            </a:r>
            <a:r>
              <a:rPr lang="en-US" altLang="zh-CN" dirty="0"/>
              <a:t> </a:t>
            </a:r>
            <a:r>
              <a:rPr lang="en-US" altLang="zh-CN" dirty="0" err="1"/>
              <a:t>waitpid</a:t>
            </a:r>
            <a:r>
              <a:rPr lang="en-US" altLang="zh-CN" dirty="0"/>
              <a:t>(</a:t>
            </a:r>
            <a:r>
              <a:rPr lang="en-US" altLang="zh-CN" dirty="0" err="1"/>
              <a:t>pid_t</a:t>
            </a:r>
            <a:r>
              <a:rPr lang="en-US" altLang="zh-CN" dirty="0"/>
              <a:t> </a:t>
            </a:r>
            <a:r>
              <a:rPr lang="en-US" altLang="zh-CN" i="1" dirty="0" err="1"/>
              <a:t>pid</a:t>
            </a:r>
            <a:r>
              <a:rPr lang="en-US" altLang="zh-CN" dirty="0"/>
              <a:t>, </a:t>
            </a:r>
            <a:r>
              <a:rPr lang="en-US" altLang="zh-CN" dirty="0" err="1"/>
              <a:t>int</a:t>
            </a:r>
            <a:r>
              <a:rPr lang="en-US" altLang="zh-CN" dirty="0"/>
              <a:t> * </a:t>
            </a:r>
            <a:r>
              <a:rPr lang="en-US" altLang="zh-CN" i="1" dirty="0"/>
              <a:t>status</a:t>
            </a:r>
            <a:r>
              <a:rPr lang="en-US" altLang="zh-CN" dirty="0"/>
              <a:t>, </a:t>
            </a:r>
            <a:r>
              <a:rPr lang="en-US" altLang="zh-CN" dirty="0" err="1"/>
              <a:t>int</a:t>
            </a:r>
            <a:r>
              <a:rPr lang="en-US" altLang="zh-CN" dirty="0"/>
              <a:t> </a:t>
            </a:r>
            <a:r>
              <a:rPr lang="en-US" altLang="zh-CN" i="1" dirty="0"/>
              <a:t>options</a:t>
            </a:r>
            <a:r>
              <a:rPr lang="en-US" altLang="zh-CN" dirty="0"/>
              <a:t>) ;</a:t>
            </a:r>
          </a:p>
          <a:p>
            <a:pPr marL="0" indent="365125">
              <a:buNone/>
            </a:pPr>
            <a:r>
              <a:rPr lang="zh-CN" altLang="en-US" dirty="0"/>
              <a:t>两个函数返回：若成功则为子进程</a:t>
            </a:r>
            <a:r>
              <a:rPr lang="en-US" altLang="zh-CN" dirty="0"/>
              <a:t>ID</a:t>
            </a:r>
            <a:r>
              <a:rPr lang="zh-CN" altLang="en-US" dirty="0"/>
              <a:t>号，</a:t>
            </a:r>
          </a:p>
          <a:p>
            <a:pPr marL="0" indent="365125">
              <a:buNone/>
            </a:pPr>
            <a:r>
              <a:rPr lang="zh-CN" altLang="en-US" dirty="0"/>
              <a:t>                       若出错则为</a:t>
            </a:r>
            <a:r>
              <a:rPr lang="en-US" altLang="zh-CN" dirty="0"/>
              <a:t>-1. </a:t>
            </a:r>
          </a:p>
          <a:p>
            <a:pPr marL="0" indent="365125">
              <a:buNone/>
            </a:pPr>
            <a:r>
              <a:rPr lang="en-US" altLang="zh-CN" dirty="0"/>
              <a:t>Status</a:t>
            </a:r>
            <a:r>
              <a:rPr lang="zh-CN" altLang="en-US" dirty="0"/>
              <a:t>选项：</a:t>
            </a:r>
          </a:p>
          <a:p>
            <a:pPr marL="0" indent="365125">
              <a:buNone/>
            </a:pPr>
            <a:r>
              <a:rPr lang="zh-CN" altLang="en-US" dirty="0"/>
              <a:t>    为空时，代表任意状态结束的子进程，</a:t>
            </a:r>
          </a:p>
          <a:p>
            <a:pPr marL="0" indent="365125">
              <a:buNone/>
            </a:pPr>
            <a:r>
              <a:rPr lang="zh-CN" altLang="en-US" dirty="0"/>
              <a:t>    若不为空，则代表指定状态结束的子进程。</a:t>
            </a:r>
          </a:p>
          <a:p>
            <a:endParaRPr lang="zh-CN" altLang="en-US" dirty="0"/>
          </a:p>
        </p:txBody>
      </p:sp>
    </p:spTree>
    <p:extLst>
      <p:ext uri="{BB962C8B-B14F-4D97-AF65-F5344CB8AC3E}">
        <p14:creationId xmlns:p14="http://schemas.microsoft.com/office/powerpoint/2010/main" val="393987713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wait</a:t>
            </a:r>
            <a:r>
              <a:rPr lang="zh-CN" altLang="en-US" dirty="0" smtClean="0"/>
              <a:t>和</a:t>
            </a:r>
            <a:r>
              <a:rPr lang="en-US" altLang="zh-CN" dirty="0" err="1" smtClean="0"/>
              <a:t>waitpid</a:t>
            </a:r>
            <a:r>
              <a:rPr lang="zh-CN" altLang="en-US" dirty="0" smtClean="0"/>
              <a:t>函数</a:t>
            </a:r>
            <a:endParaRPr lang="zh-CN" altLang="en-US" dirty="0"/>
          </a:p>
        </p:txBody>
      </p:sp>
      <p:sp>
        <p:nvSpPr>
          <p:cNvPr id="3" name="内容占位符 2"/>
          <p:cNvSpPr>
            <a:spLocks noGrp="1"/>
          </p:cNvSpPr>
          <p:nvPr>
            <p:ph idx="1"/>
          </p:nvPr>
        </p:nvSpPr>
        <p:spPr>
          <a:xfrm>
            <a:off x="838200" y="1487606"/>
            <a:ext cx="10515600" cy="4995081"/>
          </a:xfrm>
        </p:spPr>
        <p:txBody>
          <a:bodyPr>
            <a:normAutofit fontScale="85000" lnSpcReduction="20000"/>
          </a:bodyPr>
          <a:lstStyle/>
          <a:p>
            <a:pPr marL="0" indent="365125">
              <a:buNone/>
            </a:pPr>
            <a:r>
              <a:rPr lang="zh-CN" altLang="en-US" dirty="0"/>
              <a:t>当一个进程正常或异常终止时，内核就向其父进程发送</a:t>
            </a:r>
            <a:r>
              <a:rPr lang="en-US" altLang="zh-CN" dirty="0"/>
              <a:t>SIGCHLD</a:t>
            </a:r>
            <a:r>
              <a:rPr lang="zh-CN" altLang="en-US" dirty="0"/>
              <a:t>信号。因为子进程终止是个异步事件</a:t>
            </a:r>
            <a:r>
              <a:rPr lang="en-US" altLang="zh-CN" dirty="0"/>
              <a:t>(</a:t>
            </a:r>
            <a:r>
              <a:rPr lang="zh-CN" altLang="en-US" dirty="0"/>
              <a:t>这可以在父进程运行的任何时候发生</a:t>
            </a:r>
            <a:r>
              <a:rPr lang="en-US" altLang="zh-CN" dirty="0"/>
              <a:t>)</a:t>
            </a:r>
            <a:r>
              <a:rPr lang="zh-CN" altLang="en-US" dirty="0"/>
              <a:t>，所以这种信号也是内核向父进程发的异步通知。父进程可以忽略该信号，或者提供一个该信号发生时即被调用执行的函数</a:t>
            </a:r>
            <a:r>
              <a:rPr lang="en-US" altLang="zh-CN" dirty="0"/>
              <a:t>(</a:t>
            </a:r>
            <a:r>
              <a:rPr lang="zh-CN" altLang="en-US" dirty="0"/>
              <a:t>信号处理程序</a:t>
            </a:r>
            <a:r>
              <a:rPr lang="en-US" altLang="zh-CN" dirty="0"/>
              <a:t>)</a:t>
            </a:r>
            <a:r>
              <a:rPr lang="zh-CN" altLang="en-US" dirty="0"/>
              <a:t>。对于这种信号的系统默认动作是忽略它。</a:t>
            </a:r>
          </a:p>
          <a:p>
            <a:pPr marL="0" indent="365125">
              <a:buNone/>
            </a:pPr>
            <a:r>
              <a:rPr lang="en-US" altLang="zh-CN" dirty="0"/>
              <a:t>wait</a:t>
            </a:r>
            <a:r>
              <a:rPr lang="zh-CN" altLang="en-US" dirty="0"/>
              <a:t>函数用于使父进程阻塞，直到一个子进程结束或者该进程接收到一个指定信号为止。如果该父进程没有子进程或者他的子进程已经结束，则</a:t>
            </a:r>
            <a:r>
              <a:rPr lang="en-US" altLang="zh-CN" dirty="0"/>
              <a:t>wait()</a:t>
            </a:r>
            <a:r>
              <a:rPr lang="zh-CN" altLang="en-US" dirty="0"/>
              <a:t>就会立即返回。</a:t>
            </a:r>
          </a:p>
          <a:p>
            <a:pPr>
              <a:buNone/>
            </a:pPr>
            <a:r>
              <a:rPr lang="zh-CN" altLang="en-US" dirty="0" smtClean="0"/>
              <a:t>调用</a:t>
            </a:r>
            <a:r>
              <a:rPr lang="en-US" altLang="zh-CN" dirty="0" smtClean="0"/>
              <a:t>wait</a:t>
            </a:r>
            <a:r>
              <a:rPr lang="zh-CN" altLang="en-US" dirty="0" smtClean="0"/>
              <a:t>或</a:t>
            </a:r>
            <a:r>
              <a:rPr lang="en-US" altLang="zh-CN" dirty="0" err="1" smtClean="0"/>
              <a:t>waitpid</a:t>
            </a:r>
            <a:r>
              <a:rPr lang="zh-CN" altLang="en-US" dirty="0" smtClean="0"/>
              <a:t>的进程可能会：</a:t>
            </a:r>
          </a:p>
          <a:p>
            <a:r>
              <a:rPr lang="zh-CN" altLang="en-US" dirty="0" smtClean="0"/>
              <a:t>阻塞</a:t>
            </a:r>
            <a:r>
              <a:rPr lang="en-US" altLang="zh-CN" dirty="0" smtClean="0"/>
              <a:t>(</a:t>
            </a:r>
            <a:r>
              <a:rPr lang="zh-CN" altLang="en-US" dirty="0" smtClean="0"/>
              <a:t>如果其所有子进程都还在运行</a:t>
            </a:r>
            <a:r>
              <a:rPr lang="en-US" altLang="zh-CN" dirty="0" smtClean="0"/>
              <a:t>)</a:t>
            </a:r>
            <a:r>
              <a:rPr lang="zh-CN" altLang="en-US" dirty="0" smtClean="0"/>
              <a:t>。</a:t>
            </a:r>
          </a:p>
          <a:p>
            <a:r>
              <a:rPr lang="zh-CN" altLang="en-US" dirty="0" smtClean="0"/>
              <a:t>带子进程的终止状态立即返回</a:t>
            </a:r>
            <a:r>
              <a:rPr lang="en-US" altLang="zh-CN" dirty="0" smtClean="0"/>
              <a:t>(</a:t>
            </a:r>
            <a:r>
              <a:rPr lang="zh-CN" altLang="en-US" dirty="0" smtClean="0"/>
              <a:t>如果一个子进程已终止，正等待父进程存取其终止状态</a:t>
            </a:r>
            <a:r>
              <a:rPr lang="en-US" altLang="zh-CN" dirty="0" smtClean="0"/>
              <a:t>)</a:t>
            </a:r>
            <a:r>
              <a:rPr lang="zh-CN" altLang="en-US" dirty="0" smtClean="0"/>
              <a:t>。</a:t>
            </a:r>
          </a:p>
          <a:p>
            <a:r>
              <a:rPr lang="zh-CN" altLang="en-US" dirty="0" smtClean="0"/>
              <a:t>出错立即返回</a:t>
            </a:r>
            <a:r>
              <a:rPr lang="en-US" altLang="zh-CN" dirty="0" smtClean="0"/>
              <a:t>(</a:t>
            </a:r>
            <a:r>
              <a:rPr lang="zh-CN" altLang="en-US" dirty="0" smtClean="0"/>
              <a:t>如果它没有任何子进程</a:t>
            </a:r>
            <a:r>
              <a:rPr lang="en-US" altLang="zh-CN" dirty="0" smtClean="0"/>
              <a:t>)</a:t>
            </a:r>
            <a:r>
              <a:rPr lang="zh-CN" altLang="en-US" dirty="0" smtClean="0"/>
              <a:t>。</a:t>
            </a:r>
          </a:p>
          <a:p>
            <a:endParaRPr lang="en-US" altLang="zh-CN" dirty="0" smtClean="0"/>
          </a:p>
          <a:p>
            <a:endParaRPr lang="zh-CN" altLang="en-US" dirty="0"/>
          </a:p>
        </p:txBody>
      </p:sp>
    </p:spTree>
    <p:extLst>
      <p:ext uri="{BB962C8B-B14F-4D97-AF65-F5344CB8AC3E}">
        <p14:creationId xmlns:p14="http://schemas.microsoft.com/office/powerpoint/2010/main" val="395887428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wait</a:t>
            </a:r>
            <a:r>
              <a:rPr lang="zh-CN" altLang="en-US" dirty="0" smtClean="0"/>
              <a:t>和</a:t>
            </a:r>
            <a:r>
              <a:rPr lang="en-US" altLang="zh-CN" dirty="0" err="1" smtClean="0"/>
              <a:t>waitpid</a:t>
            </a:r>
            <a:r>
              <a:rPr lang="zh-CN" altLang="en-US" dirty="0" smtClean="0"/>
              <a:t>函数的区别</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在一个子进程终止前， </a:t>
            </a:r>
            <a:r>
              <a:rPr lang="en-US" altLang="zh-CN" dirty="0" smtClean="0"/>
              <a:t>wait </a:t>
            </a:r>
            <a:r>
              <a:rPr lang="zh-CN" altLang="en-US" dirty="0" smtClean="0"/>
              <a:t>使其调用者阻塞，而</a:t>
            </a:r>
            <a:r>
              <a:rPr lang="en-US" altLang="zh-CN" dirty="0" err="1" smtClean="0"/>
              <a:t>waitpid</a:t>
            </a:r>
            <a:r>
              <a:rPr lang="en-US" altLang="zh-CN" dirty="0" smtClean="0"/>
              <a:t> </a:t>
            </a:r>
            <a:r>
              <a:rPr lang="zh-CN" altLang="en-US" dirty="0" smtClean="0"/>
              <a:t>有一选择项，可使调用者不阻塞。</a:t>
            </a:r>
          </a:p>
          <a:p>
            <a:r>
              <a:rPr lang="en-US" altLang="zh-CN" dirty="0" err="1" smtClean="0"/>
              <a:t>waitpid</a:t>
            </a:r>
            <a:r>
              <a:rPr lang="zh-CN" altLang="en-US" dirty="0" smtClean="0"/>
              <a:t>并不等待第一个终止的子进程</a:t>
            </a:r>
            <a:r>
              <a:rPr lang="en-US" altLang="zh-CN" dirty="0" smtClean="0">
                <a:latin typeface="Arial" panose="020B0604020202020204" pitchFamily="34" charset="0"/>
              </a:rPr>
              <a:t>—</a:t>
            </a:r>
            <a:r>
              <a:rPr lang="zh-CN" altLang="en-US" dirty="0" smtClean="0"/>
              <a:t>它有若干个选择项，可以控制它所等待的特定进程。</a:t>
            </a:r>
          </a:p>
          <a:p>
            <a:r>
              <a:rPr lang="zh-CN" altLang="en-US" dirty="0" smtClean="0"/>
              <a:t>实际上</a:t>
            </a:r>
            <a:r>
              <a:rPr lang="en-US" altLang="zh-CN" dirty="0" smtClean="0"/>
              <a:t>wait</a:t>
            </a:r>
            <a:r>
              <a:rPr lang="zh-CN" altLang="en-US" dirty="0" smtClean="0"/>
              <a:t>函数是</a:t>
            </a:r>
            <a:r>
              <a:rPr lang="en-US" altLang="zh-CN" dirty="0" err="1" smtClean="0"/>
              <a:t>waitpid</a:t>
            </a:r>
            <a:r>
              <a:rPr lang="zh-CN" altLang="en-US" dirty="0" smtClean="0"/>
              <a:t>函数的一个特例。</a:t>
            </a:r>
          </a:p>
          <a:p>
            <a:pPr>
              <a:buNone/>
            </a:pPr>
            <a:r>
              <a:rPr lang="zh-CN" altLang="en-US" dirty="0"/>
              <a:t>对于</a:t>
            </a:r>
            <a:r>
              <a:rPr lang="en-US" altLang="zh-CN" dirty="0" err="1"/>
              <a:t>waitpid</a:t>
            </a:r>
            <a:r>
              <a:rPr lang="zh-CN" altLang="en-US" dirty="0"/>
              <a:t>的</a:t>
            </a:r>
            <a:r>
              <a:rPr lang="en-US" altLang="zh-CN" i="1" dirty="0" err="1"/>
              <a:t>pid</a:t>
            </a:r>
            <a:r>
              <a:rPr lang="zh-CN" altLang="en-US" dirty="0"/>
              <a:t>参数的解释与其值有关：</a:t>
            </a:r>
          </a:p>
          <a:p>
            <a:r>
              <a:rPr lang="en-US" altLang="zh-CN" i="1" dirty="0" err="1"/>
              <a:t>pid</a:t>
            </a:r>
            <a:r>
              <a:rPr lang="en-US" altLang="zh-CN" i="1" dirty="0"/>
              <a:t> </a:t>
            </a:r>
            <a:r>
              <a:rPr lang="en-US" altLang="zh-CN" dirty="0"/>
              <a:t>== -1 </a:t>
            </a:r>
            <a:r>
              <a:rPr lang="zh-CN" altLang="en-US" dirty="0"/>
              <a:t>等待任一子进程。于是在这一功能方面</a:t>
            </a:r>
            <a:r>
              <a:rPr lang="en-US" altLang="zh-CN" dirty="0" err="1"/>
              <a:t>waitpid</a:t>
            </a:r>
            <a:r>
              <a:rPr lang="zh-CN" altLang="en-US" dirty="0"/>
              <a:t>与</a:t>
            </a:r>
            <a:r>
              <a:rPr lang="en-US" altLang="zh-CN" dirty="0"/>
              <a:t>wait</a:t>
            </a:r>
            <a:r>
              <a:rPr lang="zh-CN" altLang="en-US" dirty="0"/>
              <a:t>等效。</a:t>
            </a:r>
          </a:p>
          <a:p>
            <a:r>
              <a:rPr lang="en-US" altLang="zh-CN" i="1" dirty="0" err="1"/>
              <a:t>pid</a:t>
            </a:r>
            <a:r>
              <a:rPr lang="en-US" altLang="zh-CN" i="1" dirty="0"/>
              <a:t> </a:t>
            </a:r>
            <a:r>
              <a:rPr lang="en-US" altLang="zh-CN" dirty="0"/>
              <a:t>&gt; 0 </a:t>
            </a:r>
            <a:r>
              <a:rPr lang="zh-CN" altLang="en-US" dirty="0"/>
              <a:t>等待其进程</a:t>
            </a:r>
            <a:r>
              <a:rPr lang="en-US" altLang="zh-CN" dirty="0"/>
              <a:t>ID</a:t>
            </a:r>
            <a:r>
              <a:rPr lang="zh-CN" altLang="en-US" dirty="0"/>
              <a:t>与</a:t>
            </a:r>
            <a:r>
              <a:rPr lang="en-US" altLang="zh-CN" i="1" dirty="0" err="1"/>
              <a:t>pid</a:t>
            </a:r>
            <a:r>
              <a:rPr lang="zh-CN" altLang="en-US" dirty="0"/>
              <a:t>相等的子进程。</a:t>
            </a:r>
          </a:p>
          <a:p>
            <a:r>
              <a:rPr lang="en-US" altLang="zh-CN" i="1" dirty="0" err="1"/>
              <a:t>pid</a:t>
            </a:r>
            <a:r>
              <a:rPr lang="en-US" altLang="zh-CN" i="1" dirty="0"/>
              <a:t> </a:t>
            </a:r>
            <a:r>
              <a:rPr lang="en-US" altLang="zh-CN" dirty="0"/>
              <a:t>== 0 </a:t>
            </a:r>
            <a:r>
              <a:rPr lang="zh-CN" altLang="en-US" dirty="0"/>
              <a:t>等待其组</a:t>
            </a:r>
            <a:r>
              <a:rPr lang="en-US" altLang="zh-CN" dirty="0"/>
              <a:t>ID</a:t>
            </a:r>
            <a:r>
              <a:rPr lang="zh-CN" altLang="en-US" dirty="0"/>
              <a:t>等于调用进程的组</a:t>
            </a:r>
            <a:r>
              <a:rPr lang="en-US" altLang="zh-CN" dirty="0"/>
              <a:t>I D</a:t>
            </a:r>
            <a:r>
              <a:rPr lang="zh-CN" altLang="en-US" dirty="0"/>
              <a:t>的任一子进程。</a:t>
            </a:r>
          </a:p>
          <a:p>
            <a:r>
              <a:rPr lang="en-US" altLang="zh-CN" i="1" dirty="0" err="1"/>
              <a:t>pid</a:t>
            </a:r>
            <a:r>
              <a:rPr lang="en-US" altLang="zh-CN" i="1" dirty="0"/>
              <a:t> </a:t>
            </a:r>
            <a:r>
              <a:rPr lang="en-US" altLang="zh-CN" dirty="0"/>
              <a:t>&lt; -1 </a:t>
            </a:r>
            <a:r>
              <a:rPr lang="zh-CN" altLang="en-US" dirty="0"/>
              <a:t>等待其组</a:t>
            </a:r>
            <a:r>
              <a:rPr lang="en-US" altLang="zh-CN" dirty="0"/>
              <a:t>ID</a:t>
            </a:r>
            <a:r>
              <a:rPr lang="zh-CN" altLang="en-US" dirty="0"/>
              <a:t>等于</a:t>
            </a:r>
            <a:r>
              <a:rPr lang="en-US" altLang="zh-CN" i="1" dirty="0" err="1"/>
              <a:t>pid</a:t>
            </a:r>
            <a:r>
              <a:rPr lang="zh-CN" altLang="en-US" dirty="0"/>
              <a:t>的绝对值的任一子进程。</a:t>
            </a:r>
          </a:p>
          <a:p>
            <a:endParaRPr lang="zh-CN" altLang="en-US" dirty="0"/>
          </a:p>
        </p:txBody>
      </p:sp>
    </p:spTree>
    <p:extLst>
      <p:ext uri="{BB962C8B-B14F-4D97-AF65-F5344CB8AC3E}">
        <p14:creationId xmlns:p14="http://schemas.microsoft.com/office/powerpoint/2010/main" val="19223289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waitpid</a:t>
            </a:r>
            <a:r>
              <a:rPr lang="zh-CN" altLang="en-US" dirty="0" smtClean="0"/>
              <a:t>函数特有功能</a:t>
            </a:r>
            <a:endParaRPr lang="zh-CN" altLang="en-US" dirty="0"/>
          </a:p>
        </p:txBody>
      </p:sp>
      <p:sp>
        <p:nvSpPr>
          <p:cNvPr id="3" name="内容占位符 2"/>
          <p:cNvSpPr>
            <a:spLocks noGrp="1"/>
          </p:cNvSpPr>
          <p:nvPr>
            <p:ph idx="1"/>
          </p:nvPr>
        </p:nvSpPr>
        <p:spPr>
          <a:xfrm>
            <a:off x="838200" y="1825625"/>
            <a:ext cx="6190397" cy="4351338"/>
          </a:xfrm>
        </p:spPr>
        <p:txBody>
          <a:bodyPr>
            <a:normAutofit fontScale="92500" lnSpcReduction="20000"/>
          </a:bodyPr>
          <a:lstStyle/>
          <a:p>
            <a:pPr marL="0" indent="365125">
              <a:buNone/>
            </a:pPr>
            <a:r>
              <a:rPr lang="en-US" altLang="zh-CN" dirty="0" err="1"/>
              <a:t>waitpid</a:t>
            </a:r>
            <a:r>
              <a:rPr lang="zh-CN" altLang="en-US" dirty="0"/>
              <a:t>函数提供了</a:t>
            </a:r>
            <a:r>
              <a:rPr lang="en-US" altLang="zh-CN" dirty="0"/>
              <a:t>wait</a:t>
            </a:r>
            <a:r>
              <a:rPr lang="zh-CN" altLang="en-US" dirty="0"/>
              <a:t>函数没有提供的三个功能：</a:t>
            </a:r>
          </a:p>
          <a:p>
            <a:pPr marL="0" indent="365125">
              <a:buNone/>
            </a:pPr>
            <a:r>
              <a:rPr lang="en-US" altLang="zh-CN" dirty="0"/>
              <a:t>(1) </a:t>
            </a:r>
            <a:r>
              <a:rPr lang="en-US" altLang="zh-CN" dirty="0" err="1"/>
              <a:t>waitpid</a:t>
            </a:r>
            <a:r>
              <a:rPr lang="zh-CN" altLang="en-US" dirty="0"/>
              <a:t>等待一个特定的进程</a:t>
            </a:r>
            <a:r>
              <a:rPr lang="en-US" altLang="zh-CN" dirty="0"/>
              <a:t>(</a:t>
            </a:r>
            <a:r>
              <a:rPr lang="zh-CN" altLang="en-US" dirty="0" smtClean="0"/>
              <a:t>而</a:t>
            </a:r>
            <a:r>
              <a:rPr lang="en-US" altLang="zh-CN" dirty="0" smtClean="0"/>
              <a:t>wait</a:t>
            </a:r>
            <a:r>
              <a:rPr lang="zh-CN" altLang="en-US" dirty="0" smtClean="0"/>
              <a:t>则</a:t>
            </a:r>
            <a:r>
              <a:rPr lang="zh-CN" altLang="en-US" dirty="0"/>
              <a:t>返回任一终止子进程的状态</a:t>
            </a:r>
            <a:r>
              <a:rPr lang="en-US" altLang="zh-CN" dirty="0"/>
              <a:t>)</a:t>
            </a:r>
            <a:r>
              <a:rPr lang="zh-CN" altLang="en-US" dirty="0"/>
              <a:t>。 </a:t>
            </a:r>
          </a:p>
          <a:p>
            <a:pPr marL="0" indent="365125">
              <a:buNone/>
            </a:pPr>
            <a:r>
              <a:rPr lang="en-US" altLang="zh-CN" dirty="0"/>
              <a:t>(2) </a:t>
            </a:r>
            <a:r>
              <a:rPr lang="en-US" altLang="zh-CN" dirty="0" err="1"/>
              <a:t>waitpid</a:t>
            </a:r>
            <a:r>
              <a:rPr lang="zh-CN" altLang="en-US" dirty="0"/>
              <a:t>提供了一个</a:t>
            </a:r>
            <a:r>
              <a:rPr lang="en-US" altLang="zh-CN" dirty="0"/>
              <a:t>wait</a:t>
            </a:r>
            <a:r>
              <a:rPr lang="zh-CN" altLang="en-US" dirty="0"/>
              <a:t>的非阻塞版本。有时希望取得一个子进程的状态，但不想阻塞。</a:t>
            </a:r>
          </a:p>
          <a:p>
            <a:pPr marL="0" indent="365125">
              <a:buNone/>
            </a:pPr>
            <a:r>
              <a:rPr lang="en-US" altLang="zh-CN" dirty="0"/>
              <a:t>(3) </a:t>
            </a:r>
            <a:r>
              <a:rPr lang="en-US" altLang="zh-CN" dirty="0" err="1"/>
              <a:t>waitpid</a:t>
            </a:r>
            <a:r>
              <a:rPr lang="zh-CN" altLang="en-US" dirty="0"/>
              <a:t>支持作业控制（以</a:t>
            </a:r>
            <a:r>
              <a:rPr lang="en-US" altLang="zh-CN" dirty="0"/>
              <a:t>WUNTRACED</a:t>
            </a:r>
            <a:r>
              <a:rPr lang="zh-CN" altLang="en-US" dirty="0"/>
              <a:t>选择项）。</a:t>
            </a:r>
          </a:p>
          <a:p>
            <a:endParaRPr lang="zh-CN" alt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2887247239"/>
              </p:ext>
            </p:extLst>
          </p:nvPr>
        </p:nvGraphicFramePr>
        <p:xfrm>
          <a:off x="7142240" y="996655"/>
          <a:ext cx="5049760" cy="5634891"/>
        </p:xfrm>
        <a:graphic>
          <a:graphicData uri="http://schemas.openxmlformats.org/presentationml/2006/ole">
            <mc:AlternateContent xmlns:mc="http://schemas.openxmlformats.org/markup-compatibility/2006">
              <mc:Choice xmlns:v="urn:schemas-microsoft-com:vml" Requires="v">
                <p:oleObj spid="_x0000_s11266" name="Visio" r:id="rId3" imgW="4084701" imgH="4557141" progId="Visio.Drawing.11">
                  <p:embed/>
                </p:oleObj>
              </mc:Choice>
              <mc:Fallback>
                <p:oleObj name="Visio" r:id="rId3" imgW="4084701" imgH="455714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2240" y="996655"/>
                        <a:ext cx="5049760" cy="563489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3389607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进程等待（续）</a:t>
            </a:r>
            <a:endParaRPr lang="zh-CN" altLang="en-US" dirty="0"/>
          </a:p>
        </p:txBody>
      </p:sp>
      <p:sp>
        <p:nvSpPr>
          <p:cNvPr id="3" name="内容占位符 2"/>
          <p:cNvSpPr>
            <a:spLocks noGrp="1"/>
          </p:cNvSpPr>
          <p:nvPr>
            <p:ph idx="1"/>
          </p:nvPr>
        </p:nvSpPr>
        <p:spPr/>
        <p:txBody>
          <a:bodyPr>
            <a:normAutofit fontScale="92500" lnSpcReduction="10000"/>
          </a:bodyPr>
          <a:lstStyle/>
          <a:p>
            <a:pPr algn="just">
              <a:lnSpc>
                <a:spcPct val="120000"/>
              </a:lnSpc>
            </a:pPr>
            <a:r>
              <a:rPr lang="zh-CN" altLang="en-US" b="1" dirty="0" smtClean="0">
                <a:latin typeface="Times New Roman" panose="02020603050405020304" pitchFamily="18" charset="0"/>
              </a:rPr>
              <a:t>在子进程终止的情况下，</a:t>
            </a:r>
            <a:r>
              <a:rPr lang="en-US" altLang="zh-CN" b="1" dirty="0" smtClean="0">
                <a:latin typeface="Times New Roman" panose="02020603050405020304" pitchFamily="18" charset="0"/>
              </a:rPr>
              <a:t>wait</a:t>
            </a:r>
            <a:r>
              <a:rPr lang="zh-CN" altLang="en-US" b="1" dirty="0" smtClean="0">
                <a:latin typeface="Times New Roman" panose="02020603050405020304" pitchFamily="18" charset="0"/>
              </a:rPr>
              <a:t>调用将允许系统释放与子进程关联的资源。 </a:t>
            </a:r>
          </a:p>
          <a:p>
            <a:pPr algn="just">
              <a:lnSpc>
                <a:spcPct val="120000"/>
              </a:lnSpc>
            </a:pPr>
            <a:r>
              <a:rPr lang="zh-CN" altLang="en-US" b="1" dirty="0" smtClean="0">
                <a:latin typeface="Times New Roman" panose="02020603050405020304" pitchFamily="18" charset="0"/>
              </a:rPr>
              <a:t>子进程已终止，父进程尚未对其执行</a:t>
            </a:r>
            <a:r>
              <a:rPr lang="en-US" altLang="zh-CN" b="1" dirty="0" smtClean="0">
                <a:latin typeface="Times New Roman" panose="02020603050405020304" pitchFamily="18" charset="0"/>
              </a:rPr>
              <a:t>wait</a:t>
            </a:r>
            <a:r>
              <a:rPr lang="zh-CN" altLang="en-US" b="1" dirty="0" smtClean="0">
                <a:latin typeface="Times New Roman" panose="02020603050405020304" pitchFamily="18" charset="0"/>
              </a:rPr>
              <a:t>操作，子进程会转入“僵死”状态。内核为“僵死”状态的进程保留最少的信息量</a:t>
            </a:r>
            <a:r>
              <a:rPr lang="en-US" altLang="zh-CN" b="1" dirty="0" smtClean="0">
                <a:latin typeface="Times New Roman" panose="02020603050405020304" pitchFamily="18" charset="0"/>
              </a:rPr>
              <a:t>(</a:t>
            </a:r>
            <a:r>
              <a:rPr lang="zh-CN" altLang="en-US" b="1" dirty="0" smtClean="0">
                <a:latin typeface="Times New Roman" panose="02020603050405020304" pitchFamily="18" charset="0"/>
              </a:rPr>
              <a:t>进程标识，终止状态，资源使用信息</a:t>
            </a:r>
            <a:r>
              <a:rPr lang="en-US" altLang="zh-CN" b="1" dirty="0" smtClean="0">
                <a:latin typeface="Times New Roman" panose="02020603050405020304" pitchFamily="18" charset="0"/>
              </a:rPr>
              <a:t>)</a:t>
            </a:r>
            <a:r>
              <a:rPr lang="zh-CN" altLang="en-US" b="1" dirty="0" smtClean="0">
                <a:latin typeface="Times New Roman" panose="02020603050405020304" pitchFamily="18" charset="0"/>
              </a:rPr>
              <a:t>，过后父进程执行</a:t>
            </a:r>
            <a:r>
              <a:rPr lang="en-US" altLang="zh-CN" b="1" dirty="0" smtClean="0">
                <a:latin typeface="Times New Roman" panose="02020603050405020304" pitchFamily="18" charset="0"/>
              </a:rPr>
              <a:t>wait</a:t>
            </a:r>
            <a:r>
              <a:rPr lang="zh-CN" altLang="en-US" b="1" dirty="0" smtClean="0">
                <a:latin typeface="Times New Roman" panose="02020603050405020304" pitchFamily="18" charset="0"/>
              </a:rPr>
              <a:t>时可以获取子进程信息。</a:t>
            </a:r>
          </a:p>
          <a:p>
            <a:pPr algn="just">
              <a:lnSpc>
                <a:spcPct val="120000"/>
              </a:lnSpc>
            </a:pPr>
            <a:r>
              <a:rPr lang="zh-CN" altLang="en-US" b="1" dirty="0" smtClean="0">
                <a:latin typeface="Times New Roman" panose="02020603050405020304" pitchFamily="18" charset="0"/>
              </a:rPr>
              <a:t>只要僵死的进程不通过</a:t>
            </a:r>
            <a:r>
              <a:rPr lang="en-US" altLang="zh-CN" b="1" dirty="0" smtClean="0">
                <a:latin typeface="Times New Roman" panose="02020603050405020304" pitchFamily="18" charset="0"/>
              </a:rPr>
              <a:t>wait</a:t>
            </a:r>
            <a:r>
              <a:rPr lang="zh-CN" altLang="en-US" b="1" dirty="0" smtClean="0">
                <a:latin typeface="Times New Roman" panose="02020603050405020304" pitchFamily="18" charset="0"/>
              </a:rPr>
              <a:t>从系统中移去，它将会占据内核进程表中的一个栏位。如果进程表被填满，内核将不能再产生新进程。</a:t>
            </a:r>
            <a:r>
              <a:rPr lang="zh-CN" altLang="en-US" dirty="0" smtClean="0">
                <a:latin typeface="Times New Roman" panose="02020603050405020304" pitchFamily="18" charset="0"/>
              </a:rPr>
              <a:t> </a:t>
            </a:r>
          </a:p>
          <a:p>
            <a:endParaRPr lang="zh-CN" altLang="en-US" dirty="0"/>
          </a:p>
        </p:txBody>
      </p:sp>
    </p:spTree>
    <p:extLst>
      <p:ext uri="{BB962C8B-B14F-4D97-AF65-F5344CB8AC3E}">
        <p14:creationId xmlns:p14="http://schemas.microsoft.com/office/powerpoint/2010/main" val="324348686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进程终止</a:t>
            </a:r>
            <a:endParaRPr lang="zh-CN" altLang="en-US" dirty="0"/>
          </a:p>
        </p:txBody>
      </p:sp>
      <p:sp>
        <p:nvSpPr>
          <p:cNvPr id="3" name="内容占位符 2"/>
          <p:cNvSpPr>
            <a:spLocks noGrp="1"/>
          </p:cNvSpPr>
          <p:nvPr>
            <p:ph idx="1"/>
          </p:nvPr>
        </p:nvSpPr>
        <p:spPr>
          <a:xfrm>
            <a:off x="829408" y="1488696"/>
            <a:ext cx="5794612" cy="4351338"/>
          </a:xfrm>
        </p:spPr>
        <p:txBody>
          <a:bodyPr/>
          <a:lstStyle/>
          <a:p>
            <a:pPr algn="just"/>
            <a:r>
              <a:rPr lang="en-US" altLang="zh-CN" sz="2400" b="1" dirty="0" smtClean="0">
                <a:latin typeface="Times New Roman" panose="02020603050405020304" pitchFamily="18" charset="0"/>
              </a:rPr>
              <a:t>exit</a:t>
            </a:r>
            <a:r>
              <a:rPr lang="zh-CN" altLang="en-US" sz="2400" b="1" dirty="0" smtClean="0">
                <a:latin typeface="Times New Roman" panose="02020603050405020304" pitchFamily="18" charset="0"/>
              </a:rPr>
              <a:t>和</a:t>
            </a:r>
            <a:r>
              <a:rPr lang="en-US" altLang="zh-CN" sz="2400" b="1" dirty="0" smtClean="0">
                <a:latin typeface="Times New Roman" panose="02020603050405020304" pitchFamily="18" charset="0"/>
              </a:rPr>
              <a:t>_exit</a:t>
            </a:r>
            <a:r>
              <a:rPr lang="zh-CN" altLang="en-US" sz="2400" b="1" dirty="0" smtClean="0">
                <a:latin typeface="Times New Roman" panose="02020603050405020304" pitchFamily="18" charset="0"/>
              </a:rPr>
              <a:t>用于中止进程；</a:t>
            </a:r>
          </a:p>
          <a:p>
            <a:pPr algn="just"/>
            <a:r>
              <a:rPr lang="en-US" altLang="zh-CN" sz="2400" b="1" dirty="0" smtClean="0">
                <a:latin typeface="Times New Roman" panose="02020603050405020304" pitchFamily="18" charset="0"/>
              </a:rPr>
              <a:t>_exit</a:t>
            </a:r>
            <a:r>
              <a:rPr lang="zh-CN" altLang="en-US" sz="2400" b="1" dirty="0" smtClean="0">
                <a:latin typeface="Times New Roman" panose="02020603050405020304" pitchFamily="18" charset="0"/>
              </a:rPr>
              <a:t>的作用：直接使进程停止运行，清除其使用的内存空间，并清除其在内核中的数据结构；</a:t>
            </a:r>
          </a:p>
          <a:p>
            <a:pPr algn="just"/>
            <a:r>
              <a:rPr lang="en-US" altLang="zh-CN" sz="2400" b="1" dirty="0" smtClean="0">
                <a:latin typeface="Times New Roman" panose="02020603050405020304" pitchFamily="18" charset="0"/>
              </a:rPr>
              <a:t>exit()</a:t>
            </a:r>
            <a:r>
              <a:rPr lang="zh-CN" altLang="en-US" sz="2400" b="1" dirty="0" smtClean="0">
                <a:latin typeface="Times New Roman" panose="02020603050405020304" pitchFamily="18" charset="0"/>
              </a:rPr>
              <a:t>函数则在这些基础上做了一些包装，在执行退出之前加了若干道工序。</a:t>
            </a:r>
          </a:p>
          <a:p>
            <a:pPr algn="just"/>
            <a:r>
              <a:rPr lang="en-US" altLang="zh-CN" sz="2400" b="1" dirty="0" smtClean="0">
                <a:latin typeface="Times New Roman" panose="02020603050405020304" pitchFamily="18" charset="0"/>
              </a:rPr>
              <a:t>exit</a:t>
            </a:r>
            <a:r>
              <a:rPr lang="zh-CN" altLang="en-US" sz="2400" b="1" dirty="0" smtClean="0">
                <a:latin typeface="Times New Roman" panose="02020603050405020304" pitchFamily="18" charset="0"/>
              </a:rPr>
              <a:t>与</a:t>
            </a:r>
            <a:r>
              <a:rPr lang="en-US" altLang="zh-CN" sz="2400" b="1" dirty="0" smtClean="0">
                <a:latin typeface="Times New Roman" panose="02020603050405020304" pitchFamily="18" charset="0"/>
              </a:rPr>
              <a:t>_exit</a:t>
            </a:r>
            <a:r>
              <a:rPr lang="zh-CN" altLang="en-US" sz="2400" b="1" dirty="0" smtClean="0">
                <a:latin typeface="Times New Roman" panose="02020603050405020304" pitchFamily="18" charset="0"/>
              </a:rPr>
              <a:t>函数不同，</a:t>
            </a:r>
            <a:r>
              <a:rPr lang="en-US" altLang="zh-CN" sz="2400" b="1" dirty="0" smtClean="0">
                <a:latin typeface="Times New Roman" panose="02020603050405020304" pitchFamily="18" charset="0"/>
              </a:rPr>
              <a:t>exit</a:t>
            </a:r>
            <a:r>
              <a:rPr lang="zh-CN" altLang="en-US" sz="2400" b="1" dirty="0" smtClean="0">
                <a:latin typeface="Times New Roman" panose="02020603050405020304" pitchFamily="18" charset="0"/>
              </a:rPr>
              <a:t>函数在调用</a:t>
            </a:r>
            <a:r>
              <a:rPr lang="en-US" altLang="zh-CN" sz="2400" b="1" dirty="0" smtClean="0">
                <a:latin typeface="Times New Roman" panose="02020603050405020304" pitchFamily="18" charset="0"/>
              </a:rPr>
              <a:t>exit</a:t>
            </a:r>
            <a:r>
              <a:rPr lang="zh-CN" altLang="en-US" sz="2400" b="1" dirty="0" smtClean="0">
                <a:latin typeface="Times New Roman" panose="02020603050405020304" pitchFamily="18" charset="0"/>
              </a:rPr>
              <a:t>系统之前要检查文件打开情况把文件缓冲区的内容写回文件中去，就是图中的“清理</a:t>
            </a:r>
            <a:r>
              <a:rPr lang="en-US" altLang="zh-CN" sz="2400" b="1" dirty="0" smtClean="0">
                <a:latin typeface="Times New Roman" panose="02020603050405020304" pitchFamily="18" charset="0"/>
              </a:rPr>
              <a:t>I/O</a:t>
            </a:r>
            <a:r>
              <a:rPr lang="zh-CN" altLang="en-US" sz="2400" b="1" dirty="0" smtClean="0">
                <a:latin typeface="Times New Roman" panose="02020603050405020304" pitchFamily="18" charset="0"/>
              </a:rPr>
              <a:t>缓冲”一项。如调用</a:t>
            </a:r>
            <a:r>
              <a:rPr lang="en-US" altLang="zh-CN" sz="2400" b="1" dirty="0" err="1" smtClean="0">
                <a:latin typeface="Times New Roman" panose="02020603050405020304" pitchFamily="18" charset="0"/>
              </a:rPr>
              <a:t>printf</a:t>
            </a:r>
            <a:r>
              <a:rPr lang="zh-CN" altLang="en-US" sz="2400" b="1" dirty="0" smtClean="0">
                <a:latin typeface="Times New Roman" panose="02020603050405020304" pitchFamily="18" charset="0"/>
              </a:rPr>
              <a:t>（）函数。</a:t>
            </a:r>
          </a:p>
          <a:p>
            <a:endParaRPr lang="zh-CN" altLang="en-US" dirty="0"/>
          </a:p>
        </p:txBody>
      </p:sp>
      <p:grpSp>
        <p:nvGrpSpPr>
          <p:cNvPr id="5" name="Group 17"/>
          <p:cNvGrpSpPr>
            <a:grpSpLocks/>
          </p:cNvGrpSpPr>
          <p:nvPr/>
        </p:nvGrpSpPr>
        <p:grpSpPr bwMode="auto">
          <a:xfrm>
            <a:off x="7389646" y="1158496"/>
            <a:ext cx="4581525" cy="5186363"/>
            <a:chOff x="1474" y="618"/>
            <a:chExt cx="2886" cy="3267"/>
          </a:xfrm>
        </p:grpSpPr>
        <p:grpSp>
          <p:nvGrpSpPr>
            <p:cNvPr id="6" name="Group 14"/>
            <p:cNvGrpSpPr>
              <a:grpSpLocks/>
            </p:cNvGrpSpPr>
            <p:nvPr/>
          </p:nvGrpSpPr>
          <p:grpSpPr bwMode="auto">
            <a:xfrm>
              <a:off x="1474" y="618"/>
              <a:ext cx="2449" cy="3267"/>
              <a:chOff x="1429" y="663"/>
              <a:chExt cx="2449" cy="3267"/>
            </a:xfrm>
          </p:grpSpPr>
          <p:sp>
            <p:nvSpPr>
              <p:cNvPr id="9" name="Rectangle 4"/>
              <p:cNvSpPr>
                <a:spLocks noChangeArrowheads="1"/>
              </p:cNvSpPr>
              <p:nvPr/>
            </p:nvSpPr>
            <p:spPr bwMode="auto">
              <a:xfrm>
                <a:off x="1429" y="663"/>
                <a:ext cx="2449" cy="3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进程运行</a:t>
                </a:r>
              </a:p>
            </p:txBody>
          </p:sp>
          <p:sp>
            <p:nvSpPr>
              <p:cNvPr id="10" name="Rectangle 5"/>
              <p:cNvSpPr>
                <a:spLocks noChangeArrowheads="1"/>
              </p:cNvSpPr>
              <p:nvPr/>
            </p:nvSpPr>
            <p:spPr bwMode="auto">
              <a:xfrm>
                <a:off x="2517" y="1434"/>
                <a:ext cx="1315" cy="3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调用退出处理函数</a:t>
                </a:r>
              </a:p>
            </p:txBody>
          </p:sp>
          <p:sp>
            <p:nvSpPr>
              <p:cNvPr id="11" name="Rectangle 6"/>
              <p:cNvSpPr>
                <a:spLocks noChangeArrowheads="1"/>
              </p:cNvSpPr>
              <p:nvPr/>
            </p:nvSpPr>
            <p:spPr bwMode="auto">
              <a:xfrm>
                <a:off x="2562" y="2205"/>
                <a:ext cx="1270" cy="3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清除</a:t>
                </a:r>
                <a:r>
                  <a:rPr lang="en-US" altLang="zh-CN" sz="1800"/>
                  <a:t>I/O</a:t>
                </a:r>
                <a:r>
                  <a:rPr lang="zh-CN" altLang="en-US" sz="1800"/>
                  <a:t>缓冲</a:t>
                </a:r>
              </a:p>
            </p:txBody>
          </p:sp>
          <p:sp>
            <p:nvSpPr>
              <p:cNvPr id="12" name="Line 7"/>
              <p:cNvSpPr>
                <a:spLocks noChangeShapeType="1"/>
              </p:cNvSpPr>
              <p:nvPr/>
            </p:nvSpPr>
            <p:spPr bwMode="auto">
              <a:xfrm>
                <a:off x="3198" y="981"/>
                <a:ext cx="0" cy="453"/>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3" name="Line 8"/>
              <p:cNvSpPr>
                <a:spLocks noChangeShapeType="1"/>
              </p:cNvSpPr>
              <p:nvPr/>
            </p:nvSpPr>
            <p:spPr bwMode="auto">
              <a:xfrm>
                <a:off x="3198" y="1752"/>
                <a:ext cx="0" cy="453"/>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 name="Rectangle 9"/>
              <p:cNvSpPr>
                <a:spLocks noChangeArrowheads="1"/>
              </p:cNvSpPr>
              <p:nvPr/>
            </p:nvSpPr>
            <p:spPr bwMode="auto">
              <a:xfrm>
                <a:off x="1474" y="2976"/>
                <a:ext cx="2359" cy="3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dirty="0"/>
                  <a:t>调用</a:t>
                </a:r>
                <a:r>
                  <a:rPr lang="en-US" altLang="zh-CN" sz="1800" dirty="0"/>
                  <a:t>exit</a:t>
                </a:r>
                <a:r>
                  <a:rPr lang="zh-CN" altLang="en-US" sz="1800" dirty="0"/>
                  <a:t>系统调用</a:t>
                </a:r>
              </a:p>
            </p:txBody>
          </p:sp>
          <p:sp>
            <p:nvSpPr>
              <p:cNvPr id="15" name="Line 10"/>
              <p:cNvSpPr>
                <a:spLocks noChangeShapeType="1"/>
              </p:cNvSpPr>
              <p:nvPr/>
            </p:nvSpPr>
            <p:spPr bwMode="auto">
              <a:xfrm>
                <a:off x="3198" y="2523"/>
                <a:ext cx="0" cy="453"/>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6" name="Line 11"/>
              <p:cNvSpPr>
                <a:spLocks noChangeShapeType="1"/>
              </p:cNvSpPr>
              <p:nvPr/>
            </p:nvSpPr>
            <p:spPr bwMode="auto">
              <a:xfrm>
                <a:off x="2064" y="981"/>
                <a:ext cx="0" cy="1995"/>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12"/>
              <p:cNvSpPr>
                <a:spLocks noChangeShapeType="1"/>
              </p:cNvSpPr>
              <p:nvPr/>
            </p:nvSpPr>
            <p:spPr bwMode="auto">
              <a:xfrm>
                <a:off x="2608" y="3294"/>
                <a:ext cx="0" cy="318"/>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8" name="Rectangle 13"/>
              <p:cNvSpPr>
                <a:spLocks noChangeArrowheads="1"/>
              </p:cNvSpPr>
              <p:nvPr/>
            </p:nvSpPr>
            <p:spPr bwMode="auto">
              <a:xfrm>
                <a:off x="1474" y="3612"/>
                <a:ext cx="2359" cy="3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进程终止运行</a:t>
                </a:r>
              </a:p>
            </p:txBody>
          </p:sp>
        </p:grpSp>
        <p:sp>
          <p:nvSpPr>
            <p:cNvPr id="7" name="Text Box 15"/>
            <p:cNvSpPr txBox="1">
              <a:spLocks noChangeArrowheads="1"/>
            </p:cNvSpPr>
            <p:nvPr/>
          </p:nvSpPr>
          <p:spPr bwMode="auto">
            <a:xfrm>
              <a:off x="1701" y="1706"/>
              <a:ext cx="346"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400"/>
                <a:t>_exit</a:t>
              </a:r>
            </a:p>
          </p:txBody>
        </p:sp>
        <p:sp>
          <p:nvSpPr>
            <p:cNvPr id="8" name="Text Box 16"/>
            <p:cNvSpPr txBox="1">
              <a:spLocks noChangeArrowheads="1"/>
            </p:cNvSpPr>
            <p:nvPr/>
          </p:nvSpPr>
          <p:spPr bwMode="auto">
            <a:xfrm>
              <a:off x="4014" y="1706"/>
              <a:ext cx="346"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400"/>
                <a:t>exit</a:t>
              </a:r>
            </a:p>
          </p:txBody>
        </p:sp>
      </p:grpSp>
    </p:spTree>
    <p:extLst>
      <p:ext uri="{BB962C8B-B14F-4D97-AF65-F5344CB8AC3E}">
        <p14:creationId xmlns:p14="http://schemas.microsoft.com/office/powerpoint/2010/main" val="260247359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exit()</a:t>
            </a:r>
            <a:r>
              <a:rPr lang="zh-CN" altLang="en-US" dirty="0" smtClean="0"/>
              <a:t>和</a:t>
            </a:r>
            <a:r>
              <a:rPr lang="en-US" altLang="zh-CN" dirty="0" smtClean="0"/>
              <a:t>_exit()</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由于在</a:t>
            </a:r>
            <a:r>
              <a:rPr lang="en-US" altLang="zh-CN" dirty="0"/>
              <a:t>Linux</a:t>
            </a:r>
            <a:r>
              <a:rPr lang="zh-CN" altLang="en-US" dirty="0"/>
              <a:t>的标准函数库中，有一种被称作</a:t>
            </a:r>
            <a:r>
              <a:rPr lang="zh-CN" altLang="en-US" dirty="0">
                <a:latin typeface="Arial" panose="020B0604020202020204" pitchFamily="34" charset="0"/>
              </a:rPr>
              <a:t>“</a:t>
            </a:r>
            <a:r>
              <a:rPr lang="zh-CN" altLang="en-US" dirty="0"/>
              <a:t>缓冲</a:t>
            </a:r>
            <a:r>
              <a:rPr lang="en-US" altLang="zh-CN" dirty="0"/>
              <a:t>I/O</a:t>
            </a:r>
            <a:r>
              <a:rPr lang="zh-CN" altLang="en-US" dirty="0"/>
              <a:t>（</a:t>
            </a:r>
            <a:r>
              <a:rPr lang="en-US" altLang="zh-CN" dirty="0"/>
              <a:t>buffered I/O</a:t>
            </a:r>
            <a:r>
              <a:rPr lang="zh-CN" altLang="en-US" dirty="0"/>
              <a:t>）</a:t>
            </a:r>
            <a:r>
              <a:rPr lang="zh-CN" altLang="en-US" dirty="0">
                <a:latin typeface="Arial" panose="020B0604020202020204" pitchFamily="34" charset="0"/>
              </a:rPr>
              <a:t>”</a:t>
            </a:r>
            <a:r>
              <a:rPr lang="zh-CN" altLang="en-US" dirty="0"/>
              <a:t>操作，其特征就是对应每一个打开的文件，在内存中都有一片缓冲区。每次读文件时，会连续读出若干条记录，这样在下次读文件时就可以直接从内存的缓冲区中读取；同样，每次写文件的时候，也仅仅是写入内存中的缓冲区，等满足了一定的条件（如达到一定数量或遇到特定字符等），再将缓冲区中的内容一次性写入文件</a:t>
            </a:r>
            <a:r>
              <a:rPr lang="zh-CN" altLang="en-US" dirty="0" smtClean="0"/>
              <a:t>。</a:t>
            </a:r>
            <a:endParaRPr lang="en-US" altLang="zh-CN" dirty="0" smtClean="0"/>
          </a:p>
          <a:p>
            <a:r>
              <a:rPr lang="zh-CN" altLang="en-US" dirty="0" smtClean="0">
                <a:latin typeface="Arial" panose="020B0604020202020204" pitchFamily="34" charset="0"/>
              </a:rPr>
              <a:t>这种技术大大增加了文件读写的速度，但也为编程带来了一些麻烦。比如有些数据，认为已经被写入到文件中，实际上因为没有满足特定的条件，它们还只是被保存在缓冲区内，这时用</a:t>
            </a:r>
            <a:r>
              <a:rPr lang="en-US" altLang="zh-CN" dirty="0" smtClean="0">
                <a:latin typeface="Arial" panose="020B0604020202020204" pitchFamily="34" charset="0"/>
              </a:rPr>
              <a:t>_exit()</a:t>
            </a:r>
            <a:r>
              <a:rPr lang="zh-CN" altLang="en-US" dirty="0" smtClean="0">
                <a:latin typeface="Arial" panose="020B0604020202020204" pitchFamily="34" charset="0"/>
              </a:rPr>
              <a:t>函数直接将进程关闭，缓冲区中的数据就会丢失。因此，若想保证数据的完整性，就一定要使用</a:t>
            </a:r>
            <a:r>
              <a:rPr lang="en-US" altLang="zh-CN" dirty="0" smtClean="0">
                <a:latin typeface="Arial" panose="020B0604020202020204" pitchFamily="34" charset="0"/>
              </a:rPr>
              <a:t>exit()</a:t>
            </a:r>
            <a:r>
              <a:rPr lang="zh-CN" altLang="en-US" dirty="0" smtClean="0">
                <a:latin typeface="Arial" panose="020B0604020202020204" pitchFamily="34" charset="0"/>
              </a:rPr>
              <a:t>函数。</a:t>
            </a:r>
            <a:endParaRPr lang="zh-CN" altLang="en-US" dirty="0"/>
          </a:p>
        </p:txBody>
      </p:sp>
    </p:spTree>
    <p:extLst>
      <p:ext uri="{BB962C8B-B14F-4D97-AF65-F5344CB8AC3E}">
        <p14:creationId xmlns:p14="http://schemas.microsoft.com/office/powerpoint/2010/main" val="368826854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a:t>
            </a:r>
            <a:endParaRPr lang="zh-CN" altLang="en-US" dirty="0"/>
          </a:p>
        </p:txBody>
      </p:sp>
      <p:sp>
        <p:nvSpPr>
          <p:cNvPr id="3" name="内容占位符 2"/>
          <p:cNvSpPr>
            <a:spLocks noGrp="1"/>
          </p:cNvSpPr>
          <p:nvPr>
            <p:ph idx="1"/>
          </p:nvPr>
        </p:nvSpPr>
        <p:spPr/>
        <p:txBody>
          <a:bodyPr>
            <a:normAutofit fontScale="77500" lnSpcReduction="20000"/>
          </a:bodyPr>
          <a:lstStyle/>
          <a:p>
            <a:pPr marL="4763" indent="360363">
              <a:buNone/>
            </a:pPr>
            <a:r>
              <a:rPr lang="zh-CN" altLang="en-US" dirty="0"/>
              <a:t>守护进程（ </a:t>
            </a:r>
            <a:r>
              <a:rPr lang="en-US" altLang="zh-CN" dirty="0"/>
              <a:t>daemon</a:t>
            </a:r>
            <a:r>
              <a:rPr lang="zh-CN" altLang="en-US" dirty="0"/>
              <a:t>）就是后台服务进程，它是一个生存期较长的进程，通常独立于控制终端并且周期性地执行某种任务或等待处理某些发生的事件。</a:t>
            </a:r>
          </a:p>
          <a:p>
            <a:pPr marL="4763" indent="360363">
              <a:buNone/>
            </a:pPr>
            <a:r>
              <a:rPr lang="zh-CN" altLang="en-US" dirty="0"/>
              <a:t>它们常常在系统引导装入时起动，在系统关闭时终止。因为它们没有控制终端，所以说它们是在后台运行的。 </a:t>
            </a:r>
            <a:r>
              <a:rPr lang="en-US" altLang="zh-CN" dirty="0"/>
              <a:t>Linux</a:t>
            </a:r>
            <a:r>
              <a:rPr lang="zh-CN" altLang="en-US" dirty="0"/>
              <a:t>有很多系统服务，大多数服务都是通过守护进程实现的，守护进程还能完成许多系统任务，例如，作业规划进程</a:t>
            </a:r>
            <a:r>
              <a:rPr lang="en-US" altLang="zh-CN" dirty="0" err="1"/>
              <a:t>crond</a:t>
            </a:r>
            <a:r>
              <a:rPr lang="zh-CN" altLang="en-US" dirty="0"/>
              <a:t>、打印进程</a:t>
            </a:r>
            <a:r>
              <a:rPr lang="en-US" altLang="zh-CN" dirty="0" err="1"/>
              <a:t>lqd</a:t>
            </a:r>
            <a:r>
              <a:rPr lang="zh-CN" altLang="en-US" dirty="0"/>
              <a:t>等（这里的结尾字母</a:t>
            </a:r>
            <a:r>
              <a:rPr lang="en-US" altLang="zh-CN" dirty="0"/>
              <a:t>d</a:t>
            </a:r>
            <a:r>
              <a:rPr lang="zh-CN" altLang="en-US" dirty="0"/>
              <a:t>就是</a:t>
            </a:r>
            <a:r>
              <a:rPr lang="en-US" altLang="zh-CN" dirty="0"/>
              <a:t>Daemon</a:t>
            </a:r>
            <a:r>
              <a:rPr lang="zh-CN" altLang="en-US" dirty="0"/>
              <a:t>的意思） </a:t>
            </a:r>
            <a:r>
              <a:rPr lang="zh-CN" altLang="en-US" dirty="0" smtClean="0"/>
              <a:t>。</a:t>
            </a:r>
            <a:endParaRPr lang="en-US" altLang="zh-CN" dirty="0" smtClean="0"/>
          </a:p>
          <a:p>
            <a:pPr marL="4763" indent="360363">
              <a:buNone/>
            </a:pPr>
            <a:r>
              <a:rPr lang="zh-CN" altLang="en-US" dirty="0" smtClean="0"/>
              <a:t>由于在</a:t>
            </a:r>
            <a:r>
              <a:rPr lang="en-US" altLang="zh-CN" dirty="0" smtClean="0"/>
              <a:t>Linux</a:t>
            </a:r>
            <a:r>
              <a:rPr lang="zh-CN" altLang="en-US" dirty="0" smtClean="0"/>
              <a:t>中，每一个系统与用户进行交流的界面称为终端，每一个从此终端开始运行的进程都会依附于这个终端，这个终端就称为这些进程的控制终端，当控制终端被关闭时，相应的进程都会自动关闭。</a:t>
            </a:r>
          </a:p>
          <a:p>
            <a:pPr marL="4763" indent="360363">
              <a:buNone/>
            </a:pPr>
            <a:r>
              <a:rPr lang="zh-CN" altLang="en-US" dirty="0" smtClean="0"/>
              <a:t>但是守护进程却能够突破这种限制，它从被执行开始运转，直到整个系统关闭时才会退出。如果想让某个进程不因为用户、终端或者其他的变化而受到影响，那么就必须把这个进程变成一个守护进程。</a:t>
            </a:r>
          </a:p>
          <a:p>
            <a:pPr marL="4763" indent="360363">
              <a:buNone/>
            </a:pPr>
            <a:endParaRPr lang="zh-CN" altLang="en-US" dirty="0" smtClean="0"/>
          </a:p>
          <a:p>
            <a:pPr marL="4763" indent="360363">
              <a:buNone/>
            </a:pPr>
            <a:endParaRPr lang="zh-CN" altLang="en-US" dirty="0" smtClean="0"/>
          </a:p>
          <a:p>
            <a:endParaRPr lang="zh-CN" altLang="en-US" dirty="0"/>
          </a:p>
        </p:txBody>
      </p:sp>
    </p:spTree>
    <p:extLst>
      <p:ext uri="{BB962C8B-B14F-4D97-AF65-F5344CB8AC3E}">
        <p14:creationId xmlns:p14="http://schemas.microsoft.com/office/powerpoint/2010/main" val="56286623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守护进程特征</a:t>
            </a:r>
            <a:endParaRPr lang="zh-CN" altLang="en-US" dirty="0"/>
          </a:p>
        </p:txBody>
      </p:sp>
      <p:sp>
        <p:nvSpPr>
          <p:cNvPr id="3" name="内容占位符 2"/>
          <p:cNvSpPr>
            <a:spLocks noGrp="1"/>
          </p:cNvSpPr>
          <p:nvPr>
            <p:ph idx="1"/>
          </p:nvPr>
        </p:nvSpPr>
        <p:spPr/>
        <p:txBody>
          <a:bodyPr/>
          <a:lstStyle/>
          <a:p>
            <a:r>
              <a:rPr lang="zh-CN" altLang="en-US" dirty="0"/>
              <a:t>所有守护进程都以超级用户（用户</a:t>
            </a:r>
            <a:r>
              <a:rPr lang="en-US" altLang="zh-CN" dirty="0"/>
              <a:t>ID</a:t>
            </a:r>
            <a:r>
              <a:rPr lang="zh-CN" altLang="en-US" dirty="0"/>
              <a:t>为</a:t>
            </a:r>
            <a:r>
              <a:rPr lang="en-US" altLang="zh-CN" dirty="0"/>
              <a:t>0</a:t>
            </a:r>
            <a:r>
              <a:rPr lang="zh-CN" altLang="en-US" dirty="0"/>
              <a:t>）的优先权运行。</a:t>
            </a:r>
          </a:p>
          <a:p>
            <a:r>
              <a:rPr lang="zh-CN" altLang="en-US" dirty="0"/>
              <a:t>没有一个守护进程具有控制终端</a:t>
            </a:r>
            <a:r>
              <a:rPr lang="en-US" altLang="zh-CN" dirty="0">
                <a:latin typeface="Arial" panose="020B0604020202020204" pitchFamily="34" charset="0"/>
              </a:rPr>
              <a:t>—</a:t>
            </a:r>
            <a:r>
              <a:rPr lang="zh-CN" altLang="en-US" dirty="0"/>
              <a:t>终端名称设置为问号（？）、终端前台进程组</a:t>
            </a:r>
            <a:r>
              <a:rPr lang="en-US" altLang="zh-CN" dirty="0"/>
              <a:t>I D</a:t>
            </a:r>
            <a:r>
              <a:rPr lang="zh-CN" altLang="en-US" dirty="0"/>
              <a:t>设置为－</a:t>
            </a:r>
            <a:r>
              <a:rPr lang="en-US" altLang="zh-CN" dirty="0"/>
              <a:t>1</a:t>
            </a:r>
            <a:r>
              <a:rPr lang="zh-CN" altLang="en-US" dirty="0"/>
              <a:t>。缺少控制终端可能是精灵进程调用了</a:t>
            </a:r>
            <a:r>
              <a:rPr lang="en-US" altLang="zh-CN" dirty="0" err="1"/>
              <a:t>setsid</a:t>
            </a:r>
            <a:r>
              <a:rPr lang="zh-CN" altLang="en-US" dirty="0"/>
              <a:t>的结果。</a:t>
            </a:r>
          </a:p>
          <a:p>
            <a:r>
              <a:rPr lang="zh-CN" altLang="en-US" dirty="0"/>
              <a:t>除</a:t>
            </a:r>
            <a:r>
              <a:rPr lang="en-US" altLang="zh-CN" dirty="0"/>
              <a:t>update</a:t>
            </a:r>
            <a:r>
              <a:rPr lang="zh-CN" altLang="en-US" dirty="0"/>
              <a:t>以外的所有精灵进程都是进程组的首进程，对话期的首进程，而且是这些进程组和对话期中的唯一进程。</a:t>
            </a:r>
            <a:r>
              <a:rPr lang="en-US" altLang="zh-CN" dirty="0"/>
              <a:t>update</a:t>
            </a:r>
            <a:r>
              <a:rPr lang="zh-CN" altLang="en-US" dirty="0"/>
              <a:t>是它所在进程组和对话期中的唯一进程，但是该进程组的首进程（可能也是该对话期的首进程）已经终止。</a:t>
            </a:r>
          </a:p>
          <a:p>
            <a:r>
              <a:rPr lang="zh-CN" altLang="en-US" dirty="0"/>
              <a:t>所有这些守护进程的父进程都是</a:t>
            </a:r>
            <a:r>
              <a:rPr lang="en-US" altLang="zh-CN" dirty="0" err="1"/>
              <a:t>init</a:t>
            </a:r>
            <a:r>
              <a:rPr lang="zh-CN" altLang="en-US" dirty="0"/>
              <a:t>进程。</a:t>
            </a:r>
          </a:p>
          <a:p>
            <a:endParaRPr lang="zh-CN" altLang="en-US" dirty="0"/>
          </a:p>
        </p:txBody>
      </p:sp>
    </p:spTree>
    <p:extLst>
      <p:ext uri="{BB962C8B-B14F-4D97-AF65-F5344CB8AC3E}">
        <p14:creationId xmlns:p14="http://schemas.microsoft.com/office/powerpoint/2010/main" val="368555555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守护进程编程规则</a:t>
            </a:r>
            <a:r>
              <a:rPr lang="en-US" altLang="zh-CN" dirty="0" smtClean="0"/>
              <a:t>(</a:t>
            </a:r>
            <a:r>
              <a:rPr lang="zh-CN" altLang="en-US" dirty="0" smtClean="0"/>
              <a:t>第一步</a:t>
            </a:r>
            <a:r>
              <a:rPr lang="en-US" altLang="zh-CN" dirty="0" smtClean="0"/>
              <a:t>)</a:t>
            </a:r>
            <a:endParaRPr lang="zh-CN" altLang="en-US" dirty="0"/>
          </a:p>
        </p:txBody>
      </p:sp>
      <p:sp>
        <p:nvSpPr>
          <p:cNvPr id="3" name="内容占位符 2"/>
          <p:cNvSpPr>
            <a:spLocks noGrp="1"/>
          </p:cNvSpPr>
          <p:nvPr>
            <p:ph idx="1"/>
          </p:nvPr>
        </p:nvSpPr>
        <p:spPr/>
        <p:txBody>
          <a:bodyPr/>
          <a:lstStyle/>
          <a:p>
            <a:pPr marL="449263" indent="-449263">
              <a:buClr>
                <a:schemeClr val="hlink"/>
              </a:buClr>
              <a:buSzPct val="70000"/>
              <a:buNone/>
            </a:pPr>
            <a:r>
              <a:rPr lang="zh-CN" altLang="en-US" dirty="0"/>
              <a:t>（</a:t>
            </a:r>
            <a:r>
              <a:rPr lang="en-US" altLang="zh-CN" dirty="0"/>
              <a:t>1</a:t>
            </a:r>
            <a:r>
              <a:rPr lang="zh-CN" altLang="en-US" dirty="0"/>
              <a:t>）创建子进程，父进程退出： </a:t>
            </a:r>
          </a:p>
          <a:p>
            <a:pPr marL="449263" indent="-449263">
              <a:buClr>
                <a:schemeClr val="hlink"/>
              </a:buClr>
              <a:buSzPct val="70000"/>
              <a:buNone/>
            </a:pPr>
            <a:r>
              <a:rPr lang="zh-CN" altLang="en-US" dirty="0"/>
              <a:t>         首先做的是调用</a:t>
            </a:r>
            <a:r>
              <a:rPr lang="en-US" altLang="zh-CN" dirty="0"/>
              <a:t>fork</a:t>
            </a:r>
            <a:r>
              <a:rPr lang="zh-CN" altLang="en-US" dirty="0"/>
              <a:t>，然后使父</a:t>
            </a:r>
            <a:r>
              <a:rPr lang="zh-CN" altLang="en-US" dirty="0" smtClean="0"/>
              <a:t>进程</a:t>
            </a:r>
            <a:r>
              <a:rPr lang="en-US" altLang="zh-CN" dirty="0" smtClean="0"/>
              <a:t>exit</a:t>
            </a:r>
            <a:r>
              <a:rPr lang="zh-CN" altLang="en-US" dirty="0" smtClean="0"/>
              <a:t>。</a:t>
            </a:r>
            <a:r>
              <a:rPr lang="zh-CN" altLang="en-US" dirty="0"/>
              <a:t>这样做实现了下面几点：第一，如果该守护进程是由一条</a:t>
            </a:r>
            <a:r>
              <a:rPr lang="zh-CN" altLang="en-US" dirty="0" smtClean="0"/>
              <a:t>简单</a:t>
            </a:r>
            <a:r>
              <a:rPr lang="en-US" altLang="zh-CN" dirty="0" smtClean="0"/>
              <a:t>shell</a:t>
            </a:r>
            <a:r>
              <a:rPr lang="zh-CN" altLang="en-US" dirty="0" smtClean="0"/>
              <a:t>命令</a:t>
            </a:r>
            <a:r>
              <a:rPr lang="zh-CN" altLang="en-US" dirty="0"/>
              <a:t>起动的，那么使父进程终止</a:t>
            </a:r>
            <a:r>
              <a:rPr lang="zh-CN" altLang="en-US" dirty="0" smtClean="0"/>
              <a:t>使得</a:t>
            </a:r>
            <a:r>
              <a:rPr lang="en-US" altLang="zh-CN" dirty="0" smtClean="0"/>
              <a:t>shell</a:t>
            </a:r>
            <a:r>
              <a:rPr lang="zh-CN" altLang="en-US" dirty="0" smtClean="0"/>
              <a:t>认为</a:t>
            </a:r>
            <a:r>
              <a:rPr lang="zh-CN" altLang="en-US" dirty="0"/>
              <a:t>这条命令已经执行完成。第二，子进程继承了父进程的进程组</a:t>
            </a:r>
            <a:r>
              <a:rPr lang="en-US" altLang="zh-CN" dirty="0"/>
              <a:t>I D</a:t>
            </a:r>
            <a:r>
              <a:rPr lang="zh-CN" altLang="en-US" dirty="0"/>
              <a:t>，但具有一个新的进程</a:t>
            </a:r>
            <a:r>
              <a:rPr lang="en-US" altLang="zh-CN" dirty="0"/>
              <a:t>I D</a:t>
            </a:r>
            <a:r>
              <a:rPr lang="zh-CN" altLang="en-US" dirty="0"/>
              <a:t>，这就保证了子进程不是一个进程组的首进程。这对于下面就要做的</a:t>
            </a:r>
            <a:r>
              <a:rPr lang="en-US" altLang="zh-CN" dirty="0" err="1"/>
              <a:t>setsid</a:t>
            </a:r>
            <a:r>
              <a:rPr lang="zh-CN" altLang="en-US" dirty="0"/>
              <a:t>调用是必要的前提条件。</a:t>
            </a:r>
          </a:p>
          <a:p>
            <a:endParaRPr lang="zh-CN" altLang="en-US" dirty="0"/>
          </a:p>
        </p:txBody>
      </p:sp>
    </p:spTree>
    <p:extLst>
      <p:ext uri="{BB962C8B-B14F-4D97-AF65-F5344CB8AC3E}">
        <p14:creationId xmlns:p14="http://schemas.microsoft.com/office/powerpoint/2010/main" val="24543248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守护进程编程规则</a:t>
            </a:r>
            <a:r>
              <a:rPr lang="en-US" altLang="zh-CN" dirty="0" smtClean="0"/>
              <a:t>(</a:t>
            </a:r>
            <a:r>
              <a:rPr lang="zh-CN" altLang="en-US" dirty="0" smtClean="0"/>
              <a:t>第</a:t>
            </a:r>
            <a:r>
              <a:rPr lang="zh-CN" altLang="en-US" dirty="0"/>
              <a:t>二</a:t>
            </a:r>
            <a:r>
              <a:rPr lang="zh-CN" altLang="en-US" dirty="0" smtClean="0"/>
              <a:t>步</a:t>
            </a:r>
            <a:r>
              <a:rPr lang="en-US" altLang="zh-CN" dirty="0" smtClean="0"/>
              <a:t>)</a:t>
            </a:r>
            <a:endParaRPr lang="zh-CN" altLang="en-US" dirty="0"/>
          </a:p>
        </p:txBody>
      </p:sp>
      <p:sp>
        <p:nvSpPr>
          <p:cNvPr id="3" name="内容占位符 2"/>
          <p:cNvSpPr>
            <a:spLocks noGrp="1"/>
          </p:cNvSpPr>
          <p:nvPr>
            <p:ph idx="1"/>
          </p:nvPr>
        </p:nvSpPr>
        <p:spPr/>
        <p:txBody>
          <a:bodyPr>
            <a:normAutofit fontScale="85000" lnSpcReduction="20000"/>
          </a:bodyPr>
          <a:lstStyle/>
          <a:p>
            <a:pPr marL="623888" indent="-623888">
              <a:buNone/>
            </a:pPr>
            <a:r>
              <a:rPr lang="zh-CN" altLang="en-US" dirty="0" smtClean="0"/>
              <a:t>（</a:t>
            </a:r>
            <a:r>
              <a:rPr lang="en-US" altLang="zh-CN" dirty="0" smtClean="0"/>
              <a:t>2</a:t>
            </a:r>
            <a:r>
              <a:rPr lang="zh-CN" altLang="en-US" dirty="0" smtClean="0"/>
              <a:t>）调用</a:t>
            </a:r>
            <a:r>
              <a:rPr lang="en-US" altLang="zh-CN" dirty="0" err="1" smtClean="0"/>
              <a:t>setsid</a:t>
            </a:r>
            <a:r>
              <a:rPr lang="zh-CN" altLang="en-US" dirty="0" smtClean="0"/>
              <a:t>以创建一个新的会话，并担任该会话组的组长。调用</a:t>
            </a:r>
            <a:r>
              <a:rPr lang="en-US" altLang="zh-CN" dirty="0" err="1" smtClean="0"/>
              <a:t>setsid</a:t>
            </a:r>
            <a:r>
              <a:rPr lang="en-US" altLang="zh-CN" dirty="0" smtClean="0"/>
              <a:t> </a:t>
            </a:r>
            <a:r>
              <a:rPr lang="zh-CN" altLang="en-US" dirty="0" smtClean="0"/>
              <a:t>作用有三个：</a:t>
            </a:r>
          </a:p>
          <a:p>
            <a:pPr marL="623888" indent="-623888">
              <a:buNone/>
            </a:pPr>
            <a:r>
              <a:rPr lang="zh-CN" altLang="en-US" dirty="0" smtClean="0"/>
              <a:t>    （</a:t>
            </a:r>
            <a:r>
              <a:rPr lang="en-US" altLang="zh-CN" dirty="0" smtClean="0"/>
              <a:t>a</a:t>
            </a:r>
            <a:r>
              <a:rPr lang="zh-CN" altLang="en-US" dirty="0" smtClean="0"/>
              <a:t>）成为新对话期的首进程，</a:t>
            </a:r>
          </a:p>
          <a:p>
            <a:pPr marL="623888" indent="-623888">
              <a:buNone/>
            </a:pPr>
            <a:r>
              <a:rPr lang="zh-CN" altLang="en-US" dirty="0" smtClean="0"/>
              <a:t>    （</a:t>
            </a:r>
            <a:r>
              <a:rPr lang="en-US" altLang="zh-CN" dirty="0" smtClean="0"/>
              <a:t>b</a:t>
            </a:r>
            <a:r>
              <a:rPr lang="zh-CN" altLang="en-US" dirty="0" smtClean="0"/>
              <a:t>）成为一个新进程组的首进程，</a:t>
            </a:r>
          </a:p>
          <a:p>
            <a:pPr marL="623888" indent="-623888">
              <a:buNone/>
            </a:pPr>
            <a:r>
              <a:rPr lang="zh-CN" altLang="en-US" dirty="0" smtClean="0"/>
              <a:t>    （</a:t>
            </a:r>
            <a:r>
              <a:rPr lang="en-US" altLang="zh-CN" dirty="0" smtClean="0"/>
              <a:t>c</a:t>
            </a:r>
            <a:r>
              <a:rPr lang="zh-CN" altLang="en-US" dirty="0" smtClean="0"/>
              <a:t>）脱离控制终端。</a:t>
            </a:r>
          </a:p>
          <a:p>
            <a:pPr marL="623888" indent="-623888">
              <a:buNone/>
            </a:pPr>
            <a:r>
              <a:rPr lang="zh-CN" altLang="en-US" dirty="0" smtClean="0"/>
              <a:t>	（会话组是一个或多个进程组的集合）</a:t>
            </a:r>
          </a:p>
          <a:p>
            <a:pPr marL="723900">
              <a:buNone/>
            </a:pPr>
            <a:r>
              <a:rPr lang="en-US" altLang="zh-CN" dirty="0" err="1" smtClean="0"/>
              <a:t>setsid</a:t>
            </a:r>
            <a:r>
              <a:rPr lang="zh-CN" altLang="en-US" dirty="0" smtClean="0"/>
              <a:t>（）函数格式：</a:t>
            </a:r>
          </a:p>
          <a:p>
            <a:pPr marL="723900">
              <a:buNone/>
            </a:pPr>
            <a:r>
              <a:rPr lang="zh-CN" altLang="en-US" dirty="0" smtClean="0"/>
              <a:t>＃</a:t>
            </a:r>
            <a:r>
              <a:rPr lang="en-US" altLang="zh-CN" dirty="0" smtClean="0"/>
              <a:t>include &lt;sys/</a:t>
            </a:r>
            <a:r>
              <a:rPr lang="en-US" altLang="zh-CN" dirty="0" err="1" smtClean="0"/>
              <a:t>types.h</a:t>
            </a:r>
            <a:r>
              <a:rPr lang="en-US" altLang="zh-CN" dirty="0" smtClean="0"/>
              <a:t>&gt;</a:t>
            </a:r>
          </a:p>
          <a:p>
            <a:pPr marL="723900">
              <a:buNone/>
            </a:pPr>
            <a:r>
              <a:rPr lang="zh-CN" altLang="en-US" dirty="0" smtClean="0"/>
              <a:t>＃</a:t>
            </a:r>
            <a:r>
              <a:rPr lang="en-US" altLang="zh-CN" dirty="0" smtClean="0"/>
              <a:t>include &lt;</a:t>
            </a:r>
            <a:r>
              <a:rPr lang="en-US" altLang="zh-CN" dirty="0" err="1" smtClean="0"/>
              <a:t>unist.h</a:t>
            </a:r>
            <a:r>
              <a:rPr lang="en-US" altLang="zh-CN" dirty="0" smtClean="0"/>
              <a:t>&gt;</a:t>
            </a:r>
          </a:p>
          <a:p>
            <a:pPr marL="723900">
              <a:buNone/>
            </a:pPr>
            <a:r>
              <a:rPr lang="en-US" altLang="zh-CN" dirty="0" smtClean="0"/>
              <a:t>	</a:t>
            </a:r>
            <a:r>
              <a:rPr lang="en-US" altLang="zh-CN" dirty="0" err="1" smtClean="0"/>
              <a:t>pid_t</a:t>
            </a:r>
            <a:r>
              <a:rPr lang="en-US" altLang="zh-CN" dirty="0" smtClean="0"/>
              <a:t> </a:t>
            </a:r>
            <a:r>
              <a:rPr lang="en-US" altLang="zh-CN" dirty="0" err="1" smtClean="0"/>
              <a:t>setsid</a:t>
            </a:r>
            <a:r>
              <a:rPr lang="en-US" altLang="zh-CN" dirty="0" smtClean="0"/>
              <a:t>(void)</a:t>
            </a:r>
          </a:p>
          <a:p>
            <a:pPr marL="723900">
              <a:buNone/>
            </a:pPr>
            <a:r>
              <a:rPr lang="en-US" altLang="zh-CN" dirty="0" smtClean="0"/>
              <a:t>		</a:t>
            </a:r>
            <a:r>
              <a:rPr lang="zh-CN" altLang="en-US" dirty="0" smtClean="0"/>
              <a:t>函数成功时返回该进程组</a:t>
            </a:r>
            <a:r>
              <a:rPr lang="en-US" altLang="zh-CN" dirty="0" smtClean="0"/>
              <a:t>ID, </a:t>
            </a:r>
            <a:r>
              <a:rPr lang="zh-CN" altLang="en-US" dirty="0" smtClean="0"/>
              <a:t>出错时返回</a:t>
            </a:r>
            <a:r>
              <a:rPr lang="en-US" altLang="zh-CN" dirty="0" smtClean="0"/>
              <a:t>-1</a:t>
            </a:r>
          </a:p>
          <a:p>
            <a:endParaRPr lang="zh-CN" altLang="en-US" dirty="0"/>
          </a:p>
        </p:txBody>
      </p:sp>
    </p:spTree>
    <p:extLst>
      <p:ext uri="{BB962C8B-B14F-4D97-AF65-F5344CB8AC3E}">
        <p14:creationId xmlns:p14="http://schemas.microsoft.com/office/powerpoint/2010/main" val="40345763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守护进程编程规则</a:t>
            </a:r>
            <a:r>
              <a:rPr lang="en-US" altLang="zh-CN" dirty="0" smtClean="0"/>
              <a:t>(</a:t>
            </a:r>
            <a:r>
              <a:rPr lang="zh-CN" altLang="en-US" dirty="0" smtClean="0"/>
              <a:t>第三步</a:t>
            </a:r>
            <a:r>
              <a:rPr lang="en-US" altLang="zh-CN" dirty="0" smtClean="0"/>
              <a:t>)</a:t>
            </a:r>
            <a:endParaRPr lang="zh-CN" altLang="en-US" dirty="0"/>
          </a:p>
        </p:txBody>
      </p:sp>
      <p:sp>
        <p:nvSpPr>
          <p:cNvPr id="3" name="内容占位符 2"/>
          <p:cNvSpPr>
            <a:spLocks noGrp="1"/>
          </p:cNvSpPr>
          <p:nvPr>
            <p:ph idx="1"/>
          </p:nvPr>
        </p:nvSpPr>
        <p:spPr/>
        <p:txBody>
          <a:bodyPr/>
          <a:lstStyle/>
          <a:p>
            <a:pPr>
              <a:buNone/>
            </a:pPr>
            <a:r>
              <a:rPr lang="en-US" altLang="zh-CN" dirty="0" smtClean="0"/>
              <a:t>3</a:t>
            </a:r>
            <a:r>
              <a:rPr lang="zh-CN" altLang="en-US" dirty="0" smtClean="0"/>
              <a:t>）改变当前目录为根目录</a:t>
            </a:r>
          </a:p>
          <a:p>
            <a:pPr>
              <a:buNone/>
            </a:pPr>
            <a:r>
              <a:rPr lang="zh-CN" altLang="en-US" dirty="0" smtClean="0"/>
              <a:t>		</a:t>
            </a:r>
            <a:r>
              <a:rPr lang="en-US" altLang="zh-CN" dirty="0" err="1" smtClean="0"/>
              <a:t>chdir</a:t>
            </a:r>
            <a:r>
              <a:rPr lang="en-US" altLang="zh-CN" dirty="0" smtClean="0"/>
              <a:t>(</a:t>
            </a:r>
            <a:r>
              <a:rPr lang="en-US" altLang="zh-CN" dirty="0" smtClean="0">
                <a:latin typeface="Arial" panose="020B0604020202020204" pitchFamily="34" charset="0"/>
              </a:rPr>
              <a:t>“</a:t>
            </a:r>
            <a:r>
              <a:rPr lang="en-US" altLang="zh-CN" dirty="0" smtClean="0"/>
              <a:t>/</a:t>
            </a:r>
            <a:r>
              <a:rPr lang="en-US" altLang="zh-CN" dirty="0" smtClean="0">
                <a:latin typeface="Arial" panose="020B0604020202020204" pitchFamily="34" charset="0"/>
              </a:rPr>
              <a:t>”</a:t>
            </a:r>
            <a:r>
              <a:rPr lang="en-US" altLang="zh-CN" dirty="0" smtClean="0"/>
              <a:t>);</a:t>
            </a:r>
          </a:p>
          <a:p>
            <a:pPr>
              <a:buNone/>
            </a:pPr>
            <a:r>
              <a:rPr lang="en-US" altLang="zh-CN" dirty="0" smtClean="0"/>
              <a:t>        </a:t>
            </a:r>
            <a:r>
              <a:rPr lang="zh-CN" altLang="en-US" dirty="0" smtClean="0"/>
              <a:t>从父进程继承过来的当前工作目录可能在一个</a:t>
            </a:r>
            <a:r>
              <a:rPr lang="en-US" altLang="zh-CN" dirty="0" err="1" smtClean="0"/>
              <a:t>mnt</a:t>
            </a:r>
            <a:r>
              <a:rPr lang="zh-CN" altLang="en-US" dirty="0" smtClean="0"/>
              <a:t>的文件系统中。因为守护进程通常在系统再引导之前是一直存在的，所以如果守护进程的当前工作目录在一个</a:t>
            </a:r>
            <a:r>
              <a:rPr lang="en-US" altLang="zh-CN" dirty="0" err="1" smtClean="0"/>
              <a:t>mnt</a:t>
            </a:r>
            <a:r>
              <a:rPr lang="zh-CN" altLang="en-US" dirty="0" smtClean="0"/>
              <a:t>文件系统中，那么该文件系统就不能被拆卸。</a:t>
            </a:r>
          </a:p>
          <a:p>
            <a:endParaRPr lang="zh-CN" altLang="en-US" dirty="0"/>
          </a:p>
        </p:txBody>
      </p:sp>
    </p:spTree>
    <p:extLst>
      <p:ext uri="{BB962C8B-B14F-4D97-AF65-F5344CB8AC3E}">
        <p14:creationId xmlns:p14="http://schemas.microsoft.com/office/powerpoint/2010/main" val="8713921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守护进程编程规则</a:t>
            </a:r>
            <a:r>
              <a:rPr lang="en-US" altLang="zh-CN" dirty="0" smtClean="0"/>
              <a:t>(</a:t>
            </a:r>
            <a:r>
              <a:rPr lang="zh-CN" altLang="en-US" dirty="0" smtClean="0"/>
              <a:t>第四步</a:t>
            </a:r>
            <a:r>
              <a:rPr lang="en-US" altLang="zh-CN" dirty="0" smtClean="0"/>
              <a:t>)</a:t>
            </a:r>
            <a:endParaRPr lang="zh-CN" altLang="en-US" dirty="0"/>
          </a:p>
        </p:txBody>
      </p:sp>
      <p:sp>
        <p:nvSpPr>
          <p:cNvPr id="3" name="内容占位符 2"/>
          <p:cNvSpPr>
            <a:spLocks noGrp="1"/>
          </p:cNvSpPr>
          <p:nvPr>
            <p:ph idx="1"/>
          </p:nvPr>
        </p:nvSpPr>
        <p:spPr/>
        <p:txBody>
          <a:bodyPr/>
          <a:lstStyle/>
          <a:p>
            <a:pPr>
              <a:buNone/>
            </a:pPr>
            <a:r>
              <a:rPr lang="zh-CN" altLang="en-US" dirty="0" smtClean="0"/>
              <a:t>（</a:t>
            </a:r>
            <a:r>
              <a:rPr lang="en-US" altLang="zh-CN" dirty="0" smtClean="0"/>
              <a:t>4</a:t>
            </a:r>
            <a:r>
              <a:rPr lang="zh-CN" altLang="en-US" dirty="0" smtClean="0"/>
              <a:t>）重设文件权限掩码</a:t>
            </a:r>
          </a:p>
          <a:p>
            <a:pPr>
              <a:buNone/>
            </a:pPr>
            <a:r>
              <a:rPr lang="zh-CN" altLang="en-US" dirty="0" smtClean="0"/>
              <a:t>        </a:t>
            </a:r>
            <a:r>
              <a:rPr lang="en-US" altLang="zh-CN" dirty="0" err="1" smtClean="0"/>
              <a:t>umask</a:t>
            </a:r>
            <a:r>
              <a:rPr lang="en-US" altLang="zh-CN" dirty="0" smtClean="0"/>
              <a:t>(0);</a:t>
            </a:r>
          </a:p>
          <a:p>
            <a:pPr>
              <a:buNone/>
            </a:pPr>
            <a:r>
              <a:rPr lang="en-US" altLang="zh-CN" dirty="0" smtClean="0"/>
              <a:t>		</a:t>
            </a:r>
            <a:r>
              <a:rPr lang="zh-CN" altLang="en-US" dirty="0" smtClean="0"/>
              <a:t>由继承得来的文件方式创建屏蔽字可能会拒绝设置某些许可权。例如，若守护进程要创建一个组可读、写的文件，而继承的文件方式创建屏蔽字，屏蔽了这两种许可权，则所要求的组可读、写就不能起作用。</a:t>
            </a:r>
          </a:p>
          <a:p>
            <a:endParaRPr lang="zh-CN" altLang="en-US" dirty="0"/>
          </a:p>
        </p:txBody>
      </p:sp>
    </p:spTree>
    <p:extLst>
      <p:ext uri="{BB962C8B-B14F-4D97-AF65-F5344CB8AC3E}">
        <p14:creationId xmlns:p14="http://schemas.microsoft.com/office/powerpoint/2010/main" val="350209262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守护进程编程规则</a:t>
            </a:r>
            <a:r>
              <a:rPr lang="en-US" altLang="zh-CN" dirty="0" smtClean="0"/>
              <a:t>(</a:t>
            </a:r>
            <a:r>
              <a:rPr lang="zh-CN" altLang="en-US" dirty="0" smtClean="0"/>
              <a:t>第五步</a:t>
            </a:r>
            <a:r>
              <a:rPr lang="en-US" altLang="zh-CN" dirty="0" smtClean="0"/>
              <a:t>)</a:t>
            </a:r>
            <a:endParaRPr lang="zh-CN" altLang="en-US" dirty="0"/>
          </a:p>
        </p:txBody>
      </p:sp>
      <p:sp>
        <p:nvSpPr>
          <p:cNvPr id="3" name="内容占位符 2"/>
          <p:cNvSpPr>
            <a:spLocks noGrp="1"/>
          </p:cNvSpPr>
          <p:nvPr>
            <p:ph idx="1"/>
          </p:nvPr>
        </p:nvSpPr>
        <p:spPr/>
        <p:txBody>
          <a:bodyPr>
            <a:normAutofit lnSpcReduction="10000"/>
          </a:bodyPr>
          <a:lstStyle/>
          <a:p>
            <a:pPr>
              <a:lnSpc>
                <a:spcPct val="80000"/>
              </a:lnSpc>
              <a:buNone/>
            </a:pPr>
            <a:r>
              <a:rPr lang="en-US" altLang="zh-CN" dirty="0" smtClean="0"/>
              <a:t>(5) </a:t>
            </a:r>
            <a:r>
              <a:rPr lang="zh-CN" altLang="en-US" dirty="0" smtClean="0"/>
              <a:t>关闭不再需要的文件描述符。</a:t>
            </a:r>
          </a:p>
          <a:p>
            <a:pPr>
              <a:lnSpc>
                <a:spcPct val="80000"/>
              </a:lnSpc>
              <a:buNone/>
            </a:pPr>
            <a:r>
              <a:rPr lang="zh-CN" altLang="en-US" dirty="0" smtClean="0"/>
              <a:t>		用</a:t>
            </a:r>
            <a:r>
              <a:rPr lang="en-US" altLang="zh-CN" dirty="0" smtClean="0"/>
              <a:t>fork</a:t>
            </a:r>
            <a:r>
              <a:rPr lang="zh-CN" altLang="en-US" dirty="0" smtClean="0"/>
              <a:t>函数创建的子程序会从父进程那继承一些已经打开的文件，由此为使守护进程就不再持有从其父进程继承来的某些文件描述符。但是，究竟关闭哪些描述符则与具体的精灵进程有关，可以程序中的方法关闭所有文件描述符。</a:t>
            </a:r>
          </a:p>
          <a:p>
            <a:pPr>
              <a:lnSpc>
                <a:spcPct val="80000"/>
              </a:lnSpc>
              <a:buNone/>
            </a:pPr>
            <a:r>
              <a:rPr lang="en-US" altLang="zh-CN" dirty="0" smtClean="0"/>
              <a:t>for (</a:t>
            </a:r>
            <a:r>
              <a:rPr lang="en-US" altLang="zh-CN" dirty="0" err="1" smtClean="0"/>
              <a:t>i</a:t>
            </a:r>
            <a:r>
              <a:rPr lang="en-US" altLang="zh-CN" dirty="0" smtClean="0"/>
              <a:t>=0;i&lt;MAXFILE;I++)</a:t>
            </a:r>
          </a:p>
          <a:p>
            <a:pPr>
              <a:lnSpc>
                <a:spcPct val="80000"/>
              </a:lnSpc>
              <a:buNone/>
            </a:pPr>
            <a:r>
              <a:rPr lang="en-US" altLang="zh-CN" dirty="0" smtClean="0"/>
              <a:t>	close</a:t>
            </a:r>
            <a:r>
              <a:rPr lang="zh-CN" altLang="en-US" dirty="0" smtClean="0"/>
              <a:t>（</a:t>
            </a:r>
            <a:r>
              <a:rPr lang="en-US" altLang="zh-CN" dirty="0" err="1" smtClean="0"/>
              <a:t>i</a:t>
            </a:r>
            <a:r>
              <a:rPr lang="zh-CN" altLang="en-US" dirty="0" smtClean="0"/>
              <a:t>）；</a:t>
            </a:r>
          </a:p>
          <a:p>
            <a:pPr>
              <a:lnSpc>
                <a:spcPct val="80000"/>
              </a:lnSpc>
              <a:buNone/>
            </a:pPr>
            <a:r>
              <a:rPr lang="zh-CN" altLang="en-US" dirty="0" smtClean="0"/>
              <a:t>守护例如：</a:t>
            </a:r>
            <a:r>
              <a:rPr lang="en-US" altLang="zh-CN" dirty="0" err="1" smtClean="0"/>
              <a:t>dameon.c</a:t>
            </a:r>
            <a:endParaRPr lang="en-US" altLang="zh-CN" dirty="0" smtClean="0"/>
          </a:p>
          <a:p>
            <a:pPr>
              <a:lnSpc>
                <a:spcPct val="80000"/>
              </a:lnSpc>
              <a:buNone/>
            </a:pPr>
            <a:r>
              <a:rPr lang="zh-CN" altLang="en-US" dirty="0" smtClean="0"/>
              <a:t>用</a:t>
            </a:r>
            <a:r>
              <a:rPr lang="en-US" altLang="zh-CN" dirty="0" err="1" smtClean="0"/>
              <a:t>ps</a:t>
            </a:r>
            <a:r>
              <a:rPr lang="zh-CN" altLang="en-US" dirty="0" smtClean="0"/>
              <a:t>可以看到该进程在后台运行，</a:t>
            </a:r>
          </a:p>
          <a:p>
            <a:pPr>
              <a:lnSpc>
                <a:spcPct val="80000"/>
              </a:lnSpc>
              <a:buNone/>
            </a:pPr>
            <a:r>
              <a:rPr lang="zh-CN" altLang="en-US" dirty="0" smtClean="0"/>
              <a:t>也可以用</a:t>
            </a:r>
            <a:r>
              <a:rPr lang="en-US" altLang="zh-CN" dirty="0" smtClean="0"/>
              <a:t>tail </a:t>
            </a:r>
            <a:r>
              <a:rPr lang="en-US" altLang="zh-CN" dirty="0" smtClean="0">
                <a:latin typeface="Arial" panose="020B0604020202020204" pitchFamily="34" charset="0"/>
              </a:rPr>
              <a:t>–</a:t>
            </a:r>
            <a:r>
              <a:rPr lang="en-US" altLang="zh-CN" dirty="0" smtClean="0"/>
              <a:t>f /</a:t>
            </a:r>
            <a:r>
              <a:rPr lang="en-US" altLang="zh-CN" dirty="0" err="1" smtClean="0"/>
              <a:t>tmp</a:t>
            </a:r>
            <a:r>
              <a:rPr lang="en-US" altLang="zh-CN" dirty="0" smtClean="0"/>
              <a:t>/dameon.log</a:t>
            </a:r>
          </a:p>
          <a:p>
            <a:pPr>
              <a:lnSpc>
                <a:spcPct val="80000"/>
              </a:lnSpc>
              <a:buNone/>
            </a:pPr>
            <a:r>
              <a:rPr lang="zh-CN" altLang="en-US" dirty="0" smtClean="0"/>
              <a:t>或   </a:t>
            </a:r>
            <a:r>
              <a:rPr lang="en-US" altLang="zh-CN" dirty="0" err="1" smtClean="0"/>
              <a:t>ps</a:t>
            </a:r>
            <a:r>
              <a:rPr lang="en-US" altLang="zh-CN" dirty="0" smtClean="0"/>
              <a:t> </a:t>
            </a:r>
            <a:r>
              <a:rPr lang="en-US" altLang="zh-CN" dirty="0" smtClean="0">
                <a:latin typeface="Arial" panose="020B0604020202020204" pitchFamily="34" charset="0"/>
              </a:rPr>
              <a:t>–</a:t>
            </a:r>
            <a:r>
              <a:rPr lang="en-US" altLang="zh-CN" dirty="0" err="1" smtClean="0"/>
              <a:t>ef|grep</a:t>
            </a:r>
            <a:r>
              <a:rPr lang="en-US" altLang="zh-CN" dirty="0" smtClean="0"/>
              <a:t> </a:t>
            </a:r>
            <a:r>
              <a:rPr lang="en-US" altLang="zh-CN" dirty="0" err="1" smtClean="0"/>
              <a:t>dameon</a:t>
            </a:r>
            <a:endParaRPr lang="en-US" altLang="zh-CN" dirty="0" smtClean="0"/>
          </a:p>
          <a:p>
            <a:endParaRPr lang="zh-CN" altLang="en-US" dirty="0"/>
          </a:p>
        </p:txBody>
      </p:sp>
    </p:spTree>
    <p:extLst>
      <p:ext uri="{BB962C8B-B14F-4D97-AF65-F5344CB8AC3E}">
        <p14:creationId xmlns:p14="http://schemas.microsoft.com/office/powerpoint/2010/main" val="3251165028"/>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守护进程的编写流程</a:t>
            </a:r>
            <a:endParaRPr lang="zh-CN" altLang="en-US" dirty="0"/>
          </a:p>
        </p:txBody>
      </p:sp>
      <p:graphicFrame>
        <p:nvGraphicFramePr>
          <p:cNvPr id="4" name="Object 4"/>
          <p:cNvGraphicFramePr>
            <a:graphicFrameLocks noGrp="1" noChangeAspect="1"/>
          </p:cNvGraphicFramePr>
          <p:nvPr>
            <p:ph idx="1"/>
            <p:extLst>
              <p:ext uri="{D42A27DB-BD31-4B8C-83A1-F6EECF244321}">
                <p14:modId xmlns:p14="http://schemas.microsoft.com/office/powerpoint/2010/main" val="358304683"/>
              </p:ext>
            </p:extLst>
          </p:nvPr>
        </p:nvGraphicFramePr>
        <p:xfrm>
          <a:off x="6259757" y="2714626"/>
          <a:ext cx="4648200" cy="1831975"/>
        </p:xfrm>
        <a:graphic>
          <a:graphicData uri="http://schemas.openxmlformats.org/presentationml/2006/ole">
            <mc:AlternateContent xmlns:mc="http://schemas.openxmlformats.org/markup-compatibility/2006">
              <mc:Choice xmlns:v="urn:schemas-microsoft-com:vml" Requires="v">
                <p:oleObj spid="_x0000_s12290" name="Visio" r:id="rId3" imgW="3536280" imgH="1393200" progId="Visio.Drawing.11">
                  <p:embed/>
                </p:oleObj>
              </mc:Choice>
              <mc:Fallback>
                <p:oleObj name="Visio" r:id="rId3" imgW="3536280" imgH="139320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9757" y="2714626"/>
                        <a:ext cx="46482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2767661515"/>
              </p:ext>
            </p:extLst>
          </p:nvPr>
        </p:nvGraphicFramePr>
        <p:xfrm>
          <a:off x="1002454" y="1796722"/>
          <a:ext cx="4876800" cy="3390900"/>
        </p:xfrm>
        <a:graphic>
          <a:graphicData uri="http://schemas.openxmlformats.org/presentationml/2006/ole">
            <mc:AlternateContent xmlns:mc="http://schemas.openxmlformats.org/markup-compatibility/2006">
              <mc:Choice xmlns:v="urn:schemas-microsoft-com:vml" Requires="v">
                <p:oleObj spid="_x0000_s12291" name="Visio" r:id="rId5" imgW="3091434" imgH="2149221" progId="Visio.Drawing.11">
                  <p:embed/>
                </p:oleObj>
              </mc:Choice>
              <mc:Fallback>
                <p:oleObj name="Visio" r:id="rId5" imgW="3091434" imgH="214922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454" y="1796722"/>
                        <a:ext cx="4876800" cy="339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8988946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守护进程的出错处理</a:t>
            </a:r>
            <a:endParaRPr lang="zh-CN" altLang="en-US" dirty="0"/>
          </a:p>
        </p:txBody>
      </p:sp>
      <p:sp>
        <p:nvSpPr>
          <p:cNvPr id="3" name="内容占位符 2"/>
          <p:cNvSpPr>
            <a:spLocks noGrp="1"/>
          </p:cNvSpPr>
          <p:nvPr>
            <p:ph idx="1"/>
          </p:nvPr>
        </p:nvSpPr>
        <p:spPr/>
        <p:txBody>
          <a:bodyPr/>
          <a:lstStyle/>
          <a:p>
            <a:pPr marL="0" indent="449263">
              <a:buNone/>
            </a:pPr>
            <a:r>
              <a:rPr lang="zh-CN" altLang="en-US" dirty="0" smtClean="0"/>
              <a:t>由于守护进程完全脱离了控制终端，因此，不能像其他程序一样通过输出错误信息到控制台的方式来通知程序员。</a:t>
            </a:r>
          </a:p>
          <a:p>
            <a:pPr marL="0" indent="449263">
              <a:buNone/>
            </a:pPr>
            <a:r>
              <a:rPr lang="zh-CN" altLang="en-US" dirty="0" smtClean="0"/>
              <a:t>通常的办法是使用</a:t>
            </a:r>
            <a:r>
              <a:rPr lang="en-US" altLang="zh-CN" dirty="0" smtClean="0"/>
              <a:t>syslog</a:t>
            </a:r>
            <a:r>
              <a:rPr lang="zh-CN" altLang="en-US" dirty="0" smtClean="0"/>
              <a:t>服务，将出错信息输入到</a:t>
            </a:r>
            <a:r>
              <a:rPr lang="zh-CN" altLang="en-US" dirty="0" smtClean="0">
                <a:latin typeface="Arial" panose="020B0604020202020204" pitchFamily="34" charset="0"/>
              </a:rPr>
              <a:t>“</a:t>
            </a:r>
            <a:r>
              <a:rPr lang="en-US" altLang="zh-CN" dirty="0" smtClean="0"/>
              <a:t>/</a:t>
            </a:r>
            <a:r>
              <a:rPr lang="en-US" altLang="zh-CN" dirty="0" err="1" smtClean="0"/>
              <a:t>var</a:t>
            </a:r>
            <a:r>
              <a:rPr lang="en-US" altLang="zh-CN" dirty="0" smtClean="0"/>
              <a:t>/log/message</a:t>
            </a:r>
            <a:r>
              <a:rPr lang="en-US" altLang="zh-CN" dirty="0" smtClean="0">
                <a:latin typeface="Arial" panose="020B0604020202020204" pitchFamily="34" charset="0"/>
              </a:rPr>
              <a:t>”</a:t>
            </a:r>
            <a:r>
              <a:rPr lang="zh-CN" altLang="en-US" dirty="0" smtClean="0"/>
              <a:t>系统日志文件中去。</a:t>
            </a:r>
          </a:p>
          <a:p>
            <a:pPr marL="0" indent="449263">
              <a:buNone/>
            </a:pPr>
            <a:r>
              <a:rPr lang="en-US" altLang="zh-CN" dirty="0" smtClean="0"/>
              <a:t>syslog</a:t>
            </a:r>
            <a:r>
              <a:rPr lang="zh-CN" altLang="en-US" dirty="0" smtClean="0"/>
              <a:t>是</a:t>
            </a:r>
            <a:r>
              <a:rPr lang="en-US" altLang="zh-CN" dirty="0" err="1" smtClean="0"/>
              <a:t>linux</a:t>
            </a:r>
            <a:r>
              <a:rPr lang="zh-CN" altLang="en-US" dirty="0" smtClean="0"/>
              <a:t>中的系统日志管理服务通过守护进程</a:t>
            </a:r>
            <a:r>
              <a:rPr lang="en-US" altLang="zh-CN" dirty="0" smtClean="0"/>
              <a:t>syslog</a:t>
            </a:r>
            <a:r>
              <a:rPr lang="zh-CN" altLang="en-US" dirty="0" smtClean="0"/>
              <a:t>来维护。</a:t>
            </a:r>
          </a:p>
          <a:p>
            <a:endParaRPr lang="zh-CN" altLang="en-US" dirty="0"/>
          </a:p>
        </p:txBody>
      </p:sp>
    </p:spTree>
    <p:extLst>
      <p:ext uri="{BB962C8B-B14F-4D97-AF65-F5344CB8AC3E}">
        <p14:creationId xmlns:p14="http://schemas.microsoft.com/office/powerpoint/2010/main" val="218414004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syslog</a:t>
            </a:r>
            <a:r>
              <a:rPr lang="zh-CN" altLang="en-US" dirty="0" smtClean="0"/>
              <a:t>函数说明</a:t>
            </a:r>
            <a:endParaRPr lang="zh-CN" altLang="en-US" dirty="0"/>
          </a:p>
        </p:txBody>
      </p:sp>
      <p:sp>
        <p:nvSpPr>
          <p:cNvPr id="3" name="内容占位符 2"/>
          <p:cNvSpPr>
            <a:spLocks noGrp="1"/>
          </p:cNvSpPr>
          <p:nvPr>
            <p:ph idx="1"/>
          </p:nvPr>
        </p:nvSpPr>
        <p:spPr/>
        <p:txBody>
          <a:bodyPr/>
          <a:lstStyle/>
          <a:p>
            <a:r>
              <a:rPr lang="en-US" altLang="zh-CN" dirty="0" err="1" smtClean="0"/>
              <a:t>openlog</a:t>
            </a:r>
            <a:r>
              <a:rPr lang="zh-CN" altLang="en-US" dirty="0" smtClean="0"/>
              <a:t>函数用于打开系统日志服务的一个连接；</a:t>
            </a:r>
          </a:p>
          <a:p>
            <a:r>
              <a:rPr lang="zh-CN" altLang="en-US" dirty="0" smtClean="0"/>
              <a:t> </a:t>
            </a:r>
            <a:r>
              <a:rPr lang="en-US" altLang="zh-CN" dirty="0" smtClean="0"/>
              <a:t>syslog</a:t>
            </a:r>
            <a:r>
              <a:rPr lang="zh-CN" altLang="en-US" dirty="0" smtClean="0"/>
              <a:t>函数用于向日志文件中写入消息，在这里可以规定消息的优先级、消息的输出格式等；</a:t>
            </a:r>
          </a:p>
          <a:p>
            <a:r>
              <a:rPr lang="en-US" altLang="zh-CN" dirty="0" err="1" smtClean="0"/>
              <a:t>closelog</a:t>
            </a:r>
            <a:r>
              <a:rPr lang="zh-CN" altLang="en-US" dirty="0" smtClean="0"/>
              <a:t>函数用于关闭系统日志服务的连接。</a:t>
            </a:r>
          </a:p>
          <a:p>
            <a:endParaRPr lang="zh-CN" altLang="en-US" dirty="0"/>
          </a:p>
        </p:txBody>
      </p:sp>
    </p:spTree>
    <p:extLst>
      <p:ext uri="{BB962C8B-B14F-4D97-AF65-F5344CB8AC3E}">
        <p14:creationId xmlns:p14="http://schemas.microsoft.com/office/powerpoint/2010/main" val="289403189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syslog</a:t>
            </a:r>
            <a:r>
              <a:rPr lang="zh-CN" altLang="en-US" dirty="0" smtClean="0"/>
              <a:t>函数格式</a:t>
            </a:r>
            <a:endParaRPr lang="zh-CN" altLang="en-US" dirty="0"/>
          </a:p>
        </p:txBody>
      </p:sp>
      <p:sp>
        <p:nvSpPr>
          <p:cNvPr id="3" name="内容占位符 2"/>
          <p:cNvSpPr>
            <a:spLocks noGrp="1"/>
          </p:cNvSpPr>
          <p:nvPr>
            <p:ph idx="1"/>
          </p:nvPr>
        </p:nvSpPr>
        <p:spPr/>
        <p:txBody>
          <a:bodyPr/>
          <a:lstStyle/>
          <a:p>
            <a:pPr>
              <a:buNone/>
            </a:pPr>
            <a:r>
              <a:rPr lang="zh-CN" altLang="en-US" dirty="0" smtClean="0"/>
              <a:t>（</a:t>
            </a:r>
            <a:r>
              <a:rPr lang="en-US" altLang="zh-CN" dirty="0" smtClean="0"/>
              <a:t>1</a:t>
            </a:r>
            <a:r>
              <a:rPr lang="zh-CN" altLang="en-US" dirty="0" smtClean="0"/>
              <a:t>）</a:t>
            </a:r>
            <a:r>
              <a:rPr lang="en-US" altLang="zh-CN" dirty="0" err="1" smtClean="0"/>
              <a:t>openlog</a:t>
            </a:r>
            <a:r>
              <a:rPr lang="zh-CN" altLang="en-US" dirty="0" smtClean="0"/>
              <a:t>函数</a:t>
            </a:r>
          </a:p>
          <a:p>
            <a:pPr>
              <a:buNone/>
            </a:pPr>
            <a:r>
              <a:rPr lang="en-US" altLang="zh-CN" dirty="0" smtClean="0"/>
              <a:t>#include &lt;</a:t>
            </a:r>
            <a:r>
              <a:rPr lang="en-US" altLang="zh-CN" dirty="0" err="1" smtClean="0"/>
              <a:t>syslog.h</a:t>
            </a:r>
            <a:r>
              <a:rPr lang="en-US" altLang="zh-CN" dirty="0" smtClean="0"/>
              <a:t>&gt;</a:t>
            </a:r>
          </a:p>
          <a:p>
            <a:pPr>
              <a:buNone/>
            </a:pPr>
            <a:r>
              <a:rPr lang="en-US" altLang="zh-CN" dirty="0" smtClean="0"/>
              <a:t>void </a:t>
            </a:r>
            <a:r>
              <a:rPr lang="en-US" altLang="zh-CN" dirty="0" err="1" smtClean="0"/>
              <a:t>openlog</a:t>
            </a:r>
            <a:r>
              <a:rPr lang="en-US" altLang="zh-CN" dirty="0" smtClean="0"/>
              <a:t>(char * </a:t>
            </a:r>
            <a:r>
              <a:rPr lang="en-US" altLang="zh-CN" i="1" dirty="0" smtClean="0"/>
              <a:t>ident</a:t>
            </a:r>
            <a:r>
              <a:rPr lang="en-US" altLang="zh-CN" dirty="0" smtClean="0"/>
              <a:t>, </a:t>
            </a:r>
            <a:r>
              <a:rPr lang="en-US" altLang="zh-CN" dirty="0" err="1" smtClean="0"/>
              <a:t>int</a:t>
            </a:r>
            <a:r>
              <a:rPr lang="en-US" altLang="zh-CN" dirty="0" smtClean="0"/>
              <a:t> </a:t>
            </a:r>
            <a:r>
              <a:rPr lang="en-US" altLang="zh-CN" i="1" dirty="0" smtClean="0"/>
              <a:t>option</a:t>
            </a:r>
            <a:r>
              <a:rPr lang="en-US" altLang="zh-CN" dirty="0" smtClean="0"/>
              <a:t>, 				</a:t>
            </a:r>
            <a:r>
              <a:rPr lang="en-US" altLang="zh-CN" dirty="0" err="1" smtClean="0"/>
              <a:t>int</a:t>
            </a:r>
            <a:r>
              <a:rPr lang="en-US" altLang="zh-CN" dirty="0" smtClean="0"/>
              <a:t> </a:t>
            </a:r>
            <a:r>
              <a:rPr lang="en-US" altLang="zh-CN" i="1" dirty="0" smtClean="0"/>
              <a:t>facility</a:t>
            </a:r>
            <a:r>
              <a:rPr lang="en-US" altLang="zh-CN" dirty="0" smtClean="0"/>
              <a:t>) ;</a:t>
            </a:r>
          </a:p>
          <a:p>
            <a:pPr>
              <a:buNone/>
            </a:pPr>
            <a:r>
              <a:rPr lang="en-US" altLang="zh-CN" i="1" dirty="0" smtClean="0"/>
              <a:t>Ident</a:t>
            </a:r>
            <a:r>
              <a:rPr lang="zh-CN" altLang="en-US" i="1" dirty="0" smtClean="0"/>
              <a:t>：</a:t>
            </a:r>
            <a:r>
              <a:rPr lang="zh-CN" altLang="en-US" dirty="0" smtClean="0"/>
              <a:t>要向每个消息加入的字符串，通常为程序的名称；</a:t>
            </a:r>
          </a:p>
          <a:p>
            <a:endParaRPr lang="zh-CN" altLang="en-US" dirty="0"/>
          </a:p>
        </p:txBody>
      </p:sp>
    </p:spTree>
    <p:extLst>
      <p:ext uri="{BB962C8B-B14F-4D97-AF65-F5344CB8AC3E}">
        <p14:creationId xmlns:p14="http://schemas.microsoft.com/office/powerpoint/2010/main" val="373037775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option</a:t>
            </a:r>
            <a:r>
              <a:rPr lang="zh-CN" altLang="en-US" dirty="0" smtClean="0"/>
              <a:t>参数</a:t>
            </a:r>
            <a:endParaRPr lang="zh-CN" altLang="en-US" dirty="0"/>
          </a:p>
        </p:txBody>
      </p:sp>
      <p:sp>
        <p:nvSpPr>
          <p:cNvPr id="3" name="内容占位符 2"/>
          <p:cNvSpPr>
            <a:spLocks noGrp="1"/>
          </p:cNvSpPr>
          <p:nvPr>
            <p:ph idx="1"/>
          </p:nvPr>
        </p:nvSpPr>
        <p:spPr/>
        <p:txBody>
          <a:bodyPr/>
          <a:lstStyle/>
          <a:p>
            <a:r>
              <a:rPr lang="en-US" altLang="zh-CN" dirty="0"/>
              <a:t>LOG_CONS</a:t>
            </a:r>
            <a:r>
              <a:rPr lang="zh-CN" altLang="en-US" dirty="0"/>
              <a:t>： 若日志消息不能通过发送至</a:t>
            </a:r>
            <a:r>
              <a:rPr lang="en-US" altLang="zh-CN" dirty="0" err="1"/>
              <a:t>syslogd</a:t>
            </a:r>
            <a:r>
              <a:rPr lang="en-US" altLang="zh-CN" dirty="0"/>
              <a:t> </a:t>
            </a:r>
            <a:r>
              <a:rPr lang="zh-CN" altLang="en-US" dirty="0"/>
              <a:t>，则将该消息写至控制台；</a:t>
            </a:r>
          </a:p>
          <a:p>
            <a:r>
              <a:rPr lang="en-US" altLang="zh-CN" dirty="0"/>
              <a:t>LOG_NDELAY</a:t>
            </a:r>
            <a:r>
              <a:rPr lang="zh-CN" altLang="en-US" dirty="0"/>
              <a:t>： 立即打开</a:t>
            </a:r>
            <a:r>
              <a:rPr lang="en-US" altLang="zh-CN" dirty="0"/>
              <a:t>UNIX</a:t>
            </a:r>
            <a:r>
              <a:rPr lang="zh-CN" altLang="en-US" dirty="0"/>
              <a:t>域数据报套接口至</a:t>
            </a:r>
            <a:r>
              <a:rPr lang="en-US" altLang="zh-CN" dirty="0" err="1"/>
              <a:t>syslsgd</a:t>
            </a:r>
            <a:r>
              <a:rPr lang="zh-CN" altLang="en-US" dirty="0"/>
              <a:t>守护进程。通常，在记录第一条消息之前，该套接口不打开。</a:t>
            </a:r>
          </a:p>
          <a:p>
            <a:r>
              <a:rPr lang="en-US" altLang="zh-CN" dirty="0"/>
              <a:t>LOG_PERROR</a:t>
            </a:r>
            <a:r>
              <a:rPr lang="zh-CN" altLang="en-US" dirty="0"/>
              <a:t>：除将日志消息发送给</a:t>
            </a:r>
            <a:r>
              <a:rPr lang="en-US" altLang="zh-CN" dirty="0"/>
              <a:t>syslog</a:t>
            </a:r>
            <a:r>
              <a:rPr lang="zh-CN" altLang="en-US" dirty="0"/>
              <a:t>外，还将它写至标准出错（</a:t>
            </a:r>
            <a:r>
              <a:rPr lang="en-US" altLang="zh-CN" dirty="0" err="1"/>
              <a:t>stderr</a:t>
            </a:r>
            <a:r>
              <a:rPr lang="zh-CN" altLang="en-US" dirty="0"/>
              <a:t>）。</a:t>
            </a:r>
          </a:p>
          <a:p>
            <a:r>
              <a:rPr lang="en-US" altLang="zh-CN" dirty="0"/>
              <a:t>LOG_PID</a:t>
            </a:r>
            <a:r>
              <a:rPr lang="zh-CN" altLang="en-US" dirty="0"/>
              <a:t>：每条消息都包含进程</a:t>
            </a:r>
            <a:r>
              <a:rPr lang="en-US" altLang="zh-CN" dirty="0"/>
              <a:t>ID</a:t>
            </a:r>
            <a:r>
              <a:rPr lang="zh-CN" altLang="en-US" dirty="0"/>
              <a:t>，此选择项可供对每个请求都</a:t>
            </a:r>
            <a:r>
              <a:rPr lang="en-US" altLang="zh-CN" dirty="0"/>
              <a:t>fork</a:t>
            </a:r>
            <a:r>
              <a:rPr lang="zh-CN" altLang="en-US" dirty="0"/>
              <a:t>一个子进程的守护进程使用。</a:t>
            </a:r>
          </a:p>
          <a:p>
            <a:endParaRPr lang="zh-CN" altLang="en-US" dirty="0"/>
          </a:p>
        </p:txBody>
      </p:sp>
    </p:spTree>
    <p:extLst>
      <p:ext uri="{BB962C8B-B14F-4D97-AF65-F5344CB8AC3E}">
        <p14:creationId xmlns:p14="http://schemas.microsoft.com/office/powerpoint/2010/main" val="406743333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openlog</a:t>
            </a:r>
            <a:r>
              <a:rPr lang="zh-CN" altLang="en-US" dirty="0" smtClean="0"/>
              <a:t>的</a:t>
            </a:r>
            <a:r>
              <a:rPr lang="en-US" altLang="zh-CN" dirty="0" smtClean="0"/>
              <a:t>facility</a:t>
            </a:r>
            <a:r>
              <a:rPr lang="zh-CN" altLang="en-US" dirty="0" smtClean="0"/>
              <a:t>参数</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80000"/>
              </a:lnSpc>
            </a:pPr>
            <a:r>
              <a:rPr lang="en-US" altLang="zh-CN" dirty="0" smtClean="0"/>
              <a:t>LOG_AUTH </a:t>
            </a:r>
            <a:r>
              <a:rPr lang="zh-CN" altLang="en-US" dirty="0" smtClean="0"/>
              <a:t>授权程序</a:t>
            </a:r>
            <a:r>
              <a:rPr lang="en-US" altLang="zh-CN" dirty="0" smtClean="0"/>
              <a:t>: </a:t>
            </a:r>
            <a:r>
              <a:rPr lang="en-US" altLang="zh-CN" dirty="0" err="1" smtClean="0"/>
              <a:t>login.su,getty</a:t>
            </a:r>
            <a:r>
              <a:rPr lang="en-US" altLang="zh-CN" dirty="0" smtClean="0"/>
              <a:t>, ⋯</a:t>
            </a:r>
          </a:p>
          <a:p>
            <a:pPr>
              <a:lnSpc>
                <a:spcPct val="80000"/>
              </a:lnSpc>
            </a:pPr>
            <a:r>
              <a:rPr lang="en-US" altLang="zh-CN" dirty="0" err="1" smtClean="0"/>
              <a:t>LOG_CRONcron</a:t>
            </a:r>
            <a:r>
              <a:rPr lang="en-US" altLang="zh-CN" dirty="0" smtClean="0"/>
              <a:t> </a:t>
            </a:r>
            <a:r>
              <a:rPr lang="zh-CN" altLang="en-US" dirty="0" smtClean="0"/>
              <a:t>和 </a:t>
            </a:r>
            <a:r>
              <a:rPr lang="en-US" altLang="zh-CN" dirty="0" smtClean="0"/>
              <a:t>at</a:t>
            </a:r>
          </a:p>
          <a:p>
            <a:pPr>
              <a:lnSpc>
                <a:spcPct val="80000"/>
              </a:lnSpc>
            </a:pPr>
            <a:r>
              <a:rPr lang="en-US" altLang="zh-CN" dirty="0" smtClean="0"/>
              <a:t>LOG_DAEMON </a:t>
            </a:r>
            <a:r>
              <a:rPr lang="zh-CN" altLang="en-US" dirty="0" smtClean="0"/>
              <a:t>系统守护进程：</a:t>
            </a:r>
            <a:r>
              <a:rPr lang="en-US" altLang="zh-CN" dirty="0" err="1" smtClean="0"/>
              <a:t>ftpd,routed</a:t>
            </a:r>
            <a:r>
              <a:rPr lang="en-US" altLang="zh-CN" dirty="0" smtClean="0"/>
              <a:t>, ⋯</a:t>
            </a:r>
          </a:p>
          <a:p>
            <a:pPr>
              <a:lnSpc>
                <a:spcPct val="80000"/>
              </a:lnSpc>
            </a:pPr>
            <a:r>
              <a:rPr lang="en-US" altLang="zh-CN" dirty="0" smtClean="0"/>
              <a:t>LOG_KERN </a:t>
            </a:r>
            <a:r>
              <a:rPr lang="zh-CN" altLang="en-US" dirty="0" smtClean="0"/>
              <a:t>内核产生的消息</a:t>
            </a:r>
          </a:p>
          <a:p>
            <a:pPr>
              <a:lnSpc>
                <a:spcPct val="80000"/>
              </a:lnSpc>
            </a:pPr>
            <a:r>
              <a:rPr lang="en-US" altLang="zh-CN" dirty="0" smtClean="0"/>
              <a:t>LOG_LOCAL0</a:t>
            </a:r>
            <a:r>
              <a:rPr lang="zh-CN" altLang="en-US" dirty="0" smtClean="0"/>
              <a:t>～</a:t>
            </a:r>
            <a:r>
              <a:rPr lang="en-US" altLang="zh-CN" dirty="0" smtClean="0"/>
              <a:t>7  </a:t>
            </a:r>
            <a:r>
              <a:rPr lang="zh-CN" altLang="en-US" dirty="0" smtClean="0"/>
              <a:t>保留由本地使用</a:t>
            </a:r>
          </a:p>
          <a:p>
            <a:pPr>
              <a:lnSpc>
                <a:spcPct val="80000"/>
              </a:lnSpc>
            </a:pPr>
            <a:r>
              <a:rPr lang="en-US" altLang="zh-CN" dirty="0" smtClean="0"/>
              <a:t>LOG_LPR </a:t>
            </a:r>
            <a:r>
              <a:rPr lang="zh-CN" altLang="en-US" dirty="0" smtClean="0"/>
              <a:t>行打系统：</a:t>
            </a:r>
            <a:r>
              <a:rPr lang="en-US" altLang="zh-CN" dirty="0" err="1" smtClean="0"/>
              <a:t>lpd</a:t>
            </a:r>
            <a:r>
              <a:rPr lang="en-US" altLang="zh-CN" dirty="0" smtClean="0"/>
              <a:t>, </a:t>
            </a:r>
            <a:r>
              <a:rPr lang="en-US" altLang="zh-CN" dirty="0" err="1" smtClean="0"/>
              <a:t>lpc</a:t>
            </a:r>
            <a:r>
              <a:rPr lang="en-US" altLang="zh-CN" dirty="0" smtClean="0"/>
              <a:t>, ⋯</a:t>
            </a:r>
          </a:p>
          <a:p>
            <a:pPr>
              <a:lnSpc>
                <a:spcPct val="80000"/>
              </a:lnSpc>
            </a:pPr>
            <a:r>
              <a:rPr lang="en-US" altLang="zh-CN" dirty="0" smtClean="0"/>
              <a:t>LOG_MAIL </a:t>
            </a:r>
            <a:r>
              <a:rPr lang="zh-CN" altLang="en-US" dirty="0" smtClean="0"/>
              <a:t>邮件系统</a:t>
            </a:r>
          </a:p>
          <a:p>
            <a:pPr>
              <a:lnSpc>
                <a:spcPct val="80000"/>
              </a:lnSpc>
            </a:pPr>
            <a:r>
              <a:rPr lang="en-US" altLang="zh-CN" dirty="0" smtClean="0"/>
              <a:t>LOG_NEWSU </a:t>
            </a:r>
            <a:r>
              <a:rPr lang="en-US" altLang="zh-CN" dirty="0" err="1" smtClean="0"/>
              <a:t>senet</a:t>
            </a:r>
            <a:r>
              <a:rPr lang="zh-CN" altLang="en-US" dirty="0" smtClean="0"/>
              <a:t>网络新闻系统</a:t>
            </a:r>
          </a:p>
          <a:p>
            <a:pPr>
              <a:lnSpc>
                <a:spcPct val="80000"/>
              </a:lnSpc>
            </a:pPr>
            <a:r>
              <a:rPr lang="en-US" altLang="zh-CN" dirty="0" smtClean="0"/>
              <a:t>LOG_SYSLOG </a:t>
            </a:r>
            <a:r>
              <a:rPr lang="en-US" altLang="zh-CN" dirty="0" err="1" smtClean="0"/>
              <a:t>syslogd</a:t>
            </a:r>
            <a:r>
              <a:rPr lang="zh-CN" altLang="en-US" dirty="0" smtClean="0"/>
              <a:t>守护进程本身</a:t>
            </a:r>
          </a:p>
          <a:p>
            <a:pPr>
              <a:lnSpc>
                <a:spcPct val="80000"/>
              </a:lnSpc>
            </a:pPr>
            <a:r>
              <a:rPr lang="en-US" altLang="zh-CN" dirty="0" smtClean="0"/>
              <a:t>LOG_USER </a:t>
            </a:r>
            <a:r>
              <a:rPr lang="zh-CN" altLang="en-US" dirty="0" smtClean="0"/>
              <a:t>来自其他用户进程的消息</a:t>
            </a:r>
          </a:p>
          <a:p>
            <a:pPr>
              <a:lnSpc>
                <a:spcPct val="80000"/>
              </a:lnSpc>
            </a:pPr>
            <a:r>
              <a:rPr lang="en-US" altLang="zh-CN" dirty="0" smtClean="0"/>
              <a:t>LOG_UUCP UUCP</a:t>
            </a:r>
            <a:r>
              <a:rPr lang="zh-CN" altLang="en-US" dirty="0" smtClean="0"/>
              <a:t>系统</a:t>
            </a:r>
          </a:p>
          <a:p>
            <a:endParaRPr lang="zh-CN" altLang="en-US" dirty="0"/>
          </a:p>
        </p:txBody>
      </p:sp>
    </p:spTree>
    <p:extLst>
      <p:ext uri="{BB962C8B-B14F-4D97-AF65-F5344CB8AC3E}">
        <p14:creationId xmlns:p14="http://schemas.microsoft.com/office/powerpoint/2010/main" val="29623821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syslog</a:t>
            </a:r>
            <a:r>
              <a:rPr lang="zh-CN" altLang="en-US" dirty="0" smtClean="0"/>
              <a:t>函数</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80000"/>
              </a:lnSpc>
              <a:buNone/>
            </a:pPr>
            <a:r>
              <a:rPr lang="zh-CN" altLang="en-US" dirty="0" smtClean="0"/>
              <a:t>＃</a:t>
            </a:r>
            <a:r>
              <a:rPr lang="en-US" altLang="zh-CN" dirty="0" smtClean="0"/>
              <a:t>include &lt;</a:t>
            </a:r>
            <a:r>
              <a:rPr lang="en-US" altLang="zh-CN" dirty="0" err="1" smtClean="0"/>
              <a:t>syslog.h</a:t>
            </a:r>
            <a:r>
              <a:rPr lang="en-US" altLang="zh-CN" dirty="0" smtClean="0"/>
              <a:t>&gt;</a:t>
            </a:r>
          </a:p>
          <a:p>
            <a:pPr>
              <a:lnSpc>
                <a:spcPct val="80000"/>
              </a:lnSpc>
              <a:buNone/>
            </a:pPr>
            <a:r>
              <a:rPr lang="en-US" altLang="zh-CN" dirty="0" smtClean="0"/>
              <a:t>void syslog(</a:t>
            </a:r>
            <a:r>
              <a:rPr lang="en-US" altLang="zh-CN" dirty="0" err="1" smtClean="0"/>
              <a:t>int</a:t>
            </a:r>
            <a:r>
              <a:rPr lang="en-US" altLang="zh-CN" dirty="0" smtClean="0"/>
              <a:t> </a:t>
            </a:r>
            <a:r>
              <a:rPr lang="en-US" altLang="zh-CN" i="1" dirty="0" smtClean="0"/>
              <a:t>priority</a:t>
            </a:r>
            <a:r>
              <a:rPr lang="en-US" altLang="zh-CN" dirty="0" smtClean="0"/>
              <a:t>, char *</a:t>
            </a:r>
            <a:r>
              <a:rPr lang="en-US" altLang="zh-CN" i="1" dirty="0" smtClean="0"/>
              <a:t>format</a:t>
            </a:r>
            <a:r>
              <a:rPr lang="en-US" altLang="zh-CN" dirty="0" smtClean="0"/>
              <a:t>, ...);</a:t>
            </a:r>
          </a:p>
          <a:p>
            <a:pPr>
              <a:lnSpc>
                <a:spcPct val="80000"/>
              </a:lnSpc>
              <a:buNone/>
            </a:pPr>
            <a:r>
              <a:rPr lang="en-US" altLang="zh-CN" dirty="0" smtClean="0"/>
              <a:t>Priority</a:t>
            </a:r>
            <a:r>
              <a:rPr lang="zh-CN" altLang="en-US" dirty="0" smtClean="0"/>
              <a:t>选项（消息优先级）</a:t>
            </a:r>
          </a:p>
          <a:p>
            <a:pPr>
              <a:lnSpc>
                <a:spcPct val="80000"/>
              </a:lnSpc>
            </a:pPr>
            <a:r>
              <a:rPr lang="en-US" altLang="zh-CN" dirty="0" smtClean="0"/>
              <a:t>LOG_EMERG </a:t>
            </a:r>
            <a:r>
              <a:rPr lang="zh-CN" altLang="en-US" dirty="0" smtClean="0"/>
              <a:t>紧急</a:t>
            </a:r>
            <a:r>
              <a:rPr lang="en-US" altLang="zh-CN" dirty="0" smtClean="0"/>
              <a:t>(</a:t>
            </a:r>
            <a:r>
              <a:rPr lang="zh-CN" altLang="en-US" dirty="0" smtClean="0"/>
              <a:t>系统不可使用</a:t>
            </a:r>
            <a:r>
              <a:rPr lang="en-US" altLang="zh-CN" dirty="0" smtClean="0"/>
              <a:t>) (</a:t>
            </a:r>
            <a:r>
              <a:rPr lang="zh-CN" altLang="en-US" dirty="0" smtClean="0"/>
              <a:t>最高优先级</a:t>
            </a:r>
            <a:r>
              <a:rPr lang="en-US" altLang="zh-CN" dirty="0" smtClean="0"/>
              <a:t>)</a:t>
            </a:r>
          </a:p>
          <a:p>
            <a:pPr>
              <a:lnSpc>
                <a:spcPct val="80000"/>
              </a:lnSpc>
            </a:pPr>
            <a:r>
              <a:rPr lang="en-US" altLang="zh-CN" dirty="0" smtClean="0"/>
              <a:t>LOG_ALERT </a:t>
            </a:r>
            <a:r>
              <a:rPr lang="zh-CN" altLang="en-US" dirty="0" smtClean="0"/>
              <a:t>必须立即修复的条件</a:t>
            </a:r>
          </a:p>
          <a:p>
            <a:pPr>
              <a:lnSpc>
                <a:spcPct val="80000"/>
              </a:lnSpc>
            </a:pPr>
            <a:r>
              <a:rPr lang="en-US" altLang="zh-CN" dirty="0" smtClean="0"/>
              <a:t>LOG_CRIT </a:t>
            </a:r>
            <a:r>
              <a:rPr lang="zh-CN" altLang="en-US" dirty="0" smtClean="0"/>
              <a:t>临界条件</a:t>
            </a:r>
            <a:r>
              <a:rPr lang="en-US" altLang="zh-CN" dirty="0" smtClean="0"/>
              <a:t>(</a:t>
            </a:r>
            <a:r>
              <a:rPr lang="zh-CN" altLang="en-US" dirty="0" smtClean="0"/>
              <a:t>例如，硬设备出错</a:t>
            </a:r>
            <a:r>
              <a:rPr lang="en-US" altLang="zh-CN" dirty="0" smtClean="0"/>
              <a:t>)</a:t>
            </a:r>
          </a:p>
          <a:p>
            <a:pPr>
              <a:lnSpc>
                <a:spcPct val="80000"/>
              </a:lnSpc>
            </a:pPr>
            <a:r>
              <a:rPr lang="en-US" altLang="zh-CN" dirty="0" smtClean="0"/>
              <a:t>LOG_ERR </a:t>
            </a:r>
            <a:r>
              <a:rPr lang="zh-CN" altLang="en-US" dirty="0" smtClean="0"/>
              <a:t>出错条件</a:t>
            </a:r>
          </a:p>
          <a:p>
            <a:pPr>
              <a:lnSpc>
                <a:spcPct val="80000"/>
              </a:lnSpc>
            </a:pPr>
            <a:r>
              <a:rPr lang="en-US" altLang="zh-CN" dirty="0" smtClean="0"/>
              <a:t>LOG_WARNING </a:t>
            </a:r>
            <a:r>
              <a:rPr lang="zh-CN" altLang="en-US" dirty="0" smtClean="0"/>
              <a:t>警告条件</a:t>
            </a:r>
          </a:p>
          <a:p>
            <a:pPr>
              <a:lnSpc>
                <a:spcPct val="80000"/>
              </a:lnSpc>
            </a:pPr>
            <a:r>
              <a:rPr lang="en-US" altLang="zh-CN" dirty="0" smtClean="0"/>
              <a:t>LOG_NOTICE </a:t>
            </a:r>
            <a:r>
              <a:rPr lang="zh-CN" altLang="en-US" dirty="0" smtClean="0"/>
              <a:t>正常，但重要的条件</a:t>
            </a:r>
          </a:p>
          <a:p>
            <a:pPr>
              <a:lnSpc>
                <a:spcPct val="80000"/>
              </a:lnSpc>
            </a:pPr>
            <a:r>
              <a:rPr lang="en-US" altLang="zh-CN" dirty="0" smtClean="0"/>
              <a:t>LOG_INFO </a:t>
            </a:r>
            <a:r>
              <a:rPr lang="zh-CN" altLang="en-US" dirty="0" smtClean="0"/>
              <a:t>信息性消息</a:t>
            </a:r>
          </a:p>
          <a:p>
            <a:pPr>
              <a:lnSpc>
                <a:spcPct val="80000"/>
              </a:lnSpc>
            </a:pPr>
            <a:r>
              <a:rPr lang="en-US" altLang="zh-CN" dirty="0" smtClean="0"/>
              <a:t>LOG_DEBUG </a:t>
            </a:r>
            <a:r>
              <a:rPr lang="zh-CN" altLang="en-US" dirty="0" smtClean="0"/>
              <a:t>调试排错消息</a:t>
            </a:r>
            <a:r>
              <a:rPr lang="en-US" altLang="zh-CN" dirty="0" smtClean="0"/>
              <a:t>(</a:t>
            </a:r>
            <a:r>
              <a:rPr lang="zh-CN" altLang="en-US" dirty="0" smtClean="0"/>
              <a:t>最低优先级</a:t>
            </a:r>
            <a:r>
              <a:rPr lang="en-US" altLang="zh-CN" dirty="0" smtClean="0"/>
              <a:t>)</a:t>
            </a:r>
          </a:p>
          <a:p>
            <a:endParaRPr lang="zh-CN" altLang="en-US" dirty="0"/>
          </a:p>
        </p:txBody>
      </p:sp>
    </p:spTree>
    <p:extLst>
      <p:ext uri="{BB962C8B-B14F-4D97-AF65-F5344CB8AC3E}">
        <p14:creationId xmlns:p14="http://schemas.microsoft.com/office/powerpoint/2010/main" val="396470460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closelog</a:t>
            </a:r>
            <a:r>
              <a:rPr lang="zh-CN" altLang="en-US" dirty="0" smtClean="0"/>
              <a:t>函数</a:t>
            </a:r>
            <a:endParaRPr lang="zh-CN" altLang="en-US" dirty="0"/>
          </a:p>
        </p:txBody>
      </p:sp>
      <p:sp>
        <p:nvSpPr>
          <p:cNvPr id="3" name="内容占位符 2"/>
          <p:cNvSpPr>
            <a:spLocks noGrp="1"/>
          </p:cNvSpPr>
          <p:nvPr>
            <p:ph idx="1"/>
          </p:nvPr>
        </p:nvSpPr>
        <p:spPr/>
        <p:txBody>
          <a:bodyPr/>
          <a:lstStyle/>
          <a:p>
            <a:pPr>
              <a:buNone/>
            </a:pPr>
            <a:r>
              <a:rPr lang="en-US" altLang="zh-CN" dirty="0" smtClean="0"/>
              <a:t>#include &lt;</a:t>
            </a:r>
            <a:r>
              <a:rPr lang="en-US" altLang="zh-CN" dirty="0" err="1" smtClean="0"/>
              <a:t>syslog.h</a:t>
            </a:r>
            <a:r>
              <a:rPr lang="en-US" altLang="zh-CN" dirty="0" smtClean="0"/>
              <a:t>&gt;</a:t>
            </a:r>
          </a:p>
          <a:p>
            <a:pPr>
              <a:buNone/>
            </a:pPr>
            <a:r>
              <a:rPr lang="en-US" altLang="zh-CN" dirty="0" smtClean="0"/>
              <a:t>void </a:t>
            </a:r>
            <a:r>
              <a:rPr lang="en-US" altLang="zh-CN" dirty="0" err="1" smtClean="0"/>
              <a:t>closelog</a:t>
            </a:r>
            <a:r>
              <a:rPr lang="en-US" altLang="zh-CN" smtClean="0"/>
              <a:t>(void);</a:t>
            </a:r>
            <a:endParaRPr lang="en-US" altLang="zh-CN" dirty="0" smtClean="0"/>
          </a:p>
        </p:txBody>
      </p:sp>
    </p:spTree>
    <p:extLst>
      <p:ext uri="{BB962C8B-B14F-4D97-AF65-F5344CB8AC3E}">
        <p14:creationId xmlns:p14="http://schemas.microsoft.com/office/powerpoint/2010/main" val="214073288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3735" y="0"/>
            <a:ext cx="10515600" cy="1325563"/>
          </a:xfrm>
        </p:spPr>
        <p:txBody>
          <a:bodyPr/>
          <a:lstStyle/>
          <a:p>
            <a:r>
              <a:rPr lang="zh-CN" altLang="en-US" dirty="0"/>
              <a:t>线程的概念</a:t>
            </a:r>
          </a:p>
        </p:txBody>
      </p:sp>
      <p:sp>
        <p:nvSpPr>
          <p:cNvPr id="3" name="内容占位符 2"/>
          <p:cNvSpPr>
            <a:spLocks noGrp="1"/>
          </p:cNvSpPr>
          <p:nvPr>
            <p:ph idx="1"/>
          </p:nvPr>
        </p:nvSpPr>
        <p:spPr>
          <a:xfrm>
            <a:off x="794239" y="1070955"/>
            <a:ext cx="10515600" cy="5404513"/>
          </a:xfrm>
        </p:spPr>
        <p:txBody>
          <a:bodyPr>
            <a:normAutofit lnSpcReduction="10000"/>
          </a:bodyPr>
          <a:lstStyle/>
          <a:p>
            <a:r>
              <a:rPr lang="zh-CN" altLang="zh-CN" sz="2800" dirty="0"/>
              <a:t>POSIX线程（POSIX threads），简称Pthreads，是线程的POSIX标准。该标准定义了创建和操纵线程的一整套API，定义了一套C语言的类型、常量、函数，以pthread.h头文件和一个线程库实现。POSIX线程具有很好的可移植性，使用pthreads编写的代码可运行于类Unix操作系统（Unix、Linux、Mac OS X等）中，Windows操作系统也有其移植版pthreads-win32。</a:t>
            </a:r>
          </a:p>
          <a:p>
            <a:pPr marL="365760" indent="-256032" fontAlgn="auto">
              <a:lnSpc>
                <a:spcPct val="80000"/>
              </a:lnSpc>
              <a:spcAft>
                <a:spcPts val="0"/>
              </a:spcAft>
              <a:buFont typeface="Wingdings 3"/>
              <a:buChar char=""/>
              <a:defRPr/>
            </a:pPr>
            <a:r>
              <a:rPr lang="zh-CN" altLang="en-US" sz="2800" dirty="0"/>
              <a:t>LinuxThreads项目最初将多线程的概念引入了 Linux，但是 LinuxThreads 并不完全遵守 POSIX 线程标准，并且存在设计的一些局限性;</a:t>
            </a:r>
          </a:p>
          <a:p>
            <a:pPr marL="365760" indent="-256032" fontAlgn="auto">
              <a:lnSpc>
                <a:spcPct val="80000"/>
              </a:lnSpc>
              <a:spcAft>
                <a:spcPts val="0"/>
              </a:spcAft>
              <a:buFont typeface="Wingdings 3"/>
              <a:buChar char=""/>
              <a:defRPr/>
            </a:pPr>
            <a:r>
              <a:rPr lang="zh-CN" altLang="en-US" sz="2800" dirty="0"/>
              <a:t>为了改进Linux线程性能，IBM投资开发 NGPT（Next-Generation POSIX Threads）项目，Red Hat主导本地化POSIX线程库 (Native POSIX Thread Library，简称为NTPL)项目。</a:t>
            </a:r>
          </a:p>
          <a:p>
            <a:pPr marL="365760" indent="-256032" fontAlgn="auto">
              <a:lnSpc>
                <a:spcPct val="80000"/>
              </a:lnSpc>
              <a:spcAft>
                <a:spcPts val="0"/>
              </a:spcAft>
              <a:buFont typeface="Wingdings 3"/>
              <a:buChar char=""/>
              <a:defRPr/>
            </a:pPr>
            <a:r>
              <a:rPr lang="zh-CN" altLang="en-US" sz="2800" dirty="0"/>
              <a:t>大部分现代 Linux 发行版都预装了 LinuxThreads 或 NPTL，要查看您的系统上正在使用的是哪个线程库，请运行下面的命令：</a:t>
            </a:r>
          </a:p>
          <a:p>
            <a:pPr marL="621792" lvl="1" fontAlgn="auto">
              <a:lnSpc>
                <a:spcPct val="80000"/>
              </a:lnSpc>
              <a:spcBef>
                <a:spcPts val="324"/>
              </a:spcBef>
              <a:spcAft>
                <a:spcPts val="0"/>
              </a:spcAft>
              <a:buFont typeface="Verdana"/>
              <a:buChar char="◦"/>
              <a:defRPr/>
            </a:pPr>
            <a:r>
              <a:rPr lang="zh-CN" altLang="en-US" sz="1600" dirty="0">
                <a:solidFill>
                  <a:srgbClr val="FF0000"/>
                </a:solidFill>
              </a:rPr>
              <a:t>$ getconf GNU_LIBPTHREAD_VERSION</a:t>
            </a:r>
          </a:p>
          <a:p>
            <a:endParaRPr lang="zh-CN" altLang="en-US" dirty="0"/>
          </a:p>
        </p:txBody>
      </p:sp>
    </p:spTree>
    <p:extLst>
      <p:ext uri="{BB962C8B-B14F-4D97-AF65-F5344CB8AC3E}">
        <p14:creationId xmlns:p14="http://schemas.microsoft.com/office/powerpoint/2010/main" val="180284546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线程的</a:t>
            </a:r>
            <a:r>
              <a:rPr lang="zh-CN" altLang="en-US" dirty="0" smtClean="0"/>
              <a:t>概念</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732692" y="1098514"/>
            <a:ext cx="10515600" cy="5240740"/>
          </a:xfrm>
        </p:spPr>
        <p:txBody>
          <a:bodyPr>
            <a:normAutofit fontScale="85000" lnSpcReduction="20000"/>
          </a:bodyPr>
          <a:lstStyle/>
          <a:p>
            <a:r>
              <a:rPr lang="zh-CN" altLang="en-US" dirty="0"/>
              <a:t>程序（</a:t>
            </a:r>
            <a:r>
              <a:rPr lang="en-US" altLang="zh-CN" dirty="0"/>
              <a:t>program</a:t>
            </a:r>
            <a:r>
              <a:rPr lang="zh-CN" altLang="en-US" dirty="0"/>
              <a:t>）：是存放在磁盘文件中的可执行文件。使用</a:t>
            </a:r>
            <a:r>
              <a:rPr lang="en-US" altLang="zh-CN" dirty="0"/>
              <a:t>6</a:t>
            </a:r>
            <a:r>
              <a:rPr lang="zh-CN" altLang="en-US" dirty="0"/>
              <a:t>个</a:t>
            </a:r>
            <a:r>
              <a:rPr lang="en-US" altLang="zh-CN" dirty="0"/>
              <a:t>exec</a:t>
            </a:r>
            <a:r>
              <a:rPr lang="zh-CN" altLang="en-US" dirty="0"/>
              <a:t>函数中的一个由内核将程序读入存储器，并使其执行。</a:t>
            </a:r>
          </a:p>
          <a:p>
            <a:r>
              <a:rPr lang="zh-CN" altLang="en-US" dirty="0"/>
              <a:t>进程（</a:t>
            </a:r>
            <a:r>
              <a:rPr lang="en-US" altLang="zh-CN" dirty="0"/>
              <a:t>process</a:t>
            </a:r>
            <a:r>
              <a:rPr lang="zh-CN" altLang="en-US" dirty="0"/>
              <a:t>）：是资源管理的最小单位，是程序的执行实例，是动态过程。有些操作系统把任务和进程同等看待，认为任务是一个动态过程，即执行任务体的动态过程。</a:t>
            </a:r>
          </a:p>
          <a:p>
            <a:r>
              <a:rPr lang="zh-CN" altLang="en-US" dirty="0"/>
              <a:t>线程（</a:t>
            </a:r>
            <a:r>
              <a:rPr lang="en-US" altLang="zh-CN" dirty="0"/>
              <a:t>thread</a:t>
            </a:r>
            <a:r>
              <a:rPr lang="zh-CN" altLang="en-US" dirty="0"/>
              <a:t>）：是程序执行的最小单位，比进程更小的、能独立运行和调度的基本单元，并以此来提高程序并行执行的程度</a:t>
            </a:r>
            <a:r>
              <a:rPr lang="zh-CN" altLang="en-US" dirty="0" smtClean="0"/>
              <a:t>。</a:t>
            </a:r>
            <a:endParaRPr lang="en-US" altLang="zh-CN" dirty="0" smtClean="0"/>
          </a:p>
          <a:p>
            <a:pPr>
              <a:lnSpc>
                <a:spcPct val="130000"/>
              </a:lnSpc>
            </a:pPr>
            <a:r>
              <a:rPr lang="zh-CN" altLang="en-US" dirty="0"/>
              <a:t>进程管理着资源，如文件、内存、CPU等；</a:t>
            </a:r>
          </a:p>
          <a:p>
            <a:pPr>
              <a:lnSpc>
                <a:spcPct val="130000"/>
              </a:lnSpc>
            </a:pPr>
            <a:r>
              <a:rPr lang="zh-CN" altLang="en-US" dirty="0"/>
              <a:t>进程的所有信息对该进程的所有线程都是共享的，包括：可执行的程序文本、程序的全局内存、堆内存、文件描述符等。</a:t>
            </a:r>
          </a:p>
          <a:p>
            <a:pPr>
              <a:lnSpc>
                <a:spcPct val="130000"/>
              </a:lnSpc>
            </a:pPr>
            <a:r>
              <a:rPr lang="zh-CN" altLang="en-US" dirty="0"/>
              <a:t>线程独有的包括：线程</a:t>
            </a:r>
            <a:r>
              <a:rPr lang="en-US" altLang="zh-CN" dirty="0"/>
              <a:t>ID</a:t>
            </a:r>
            <a:r>
              <a:rPr lang="zh-CN" altLang="en-US" dirty="0"/>
              <a:t>、寄存器值、栈、信号屏蔽字、</a:t>
            </a:r>
            <a:r>
              <a:rPr lang="en-US" altLang="zh-CN" dirty="0" err="1"/>
              <a:t>errno</a:t>
            </a:r>
            <a:r>
              <a:rPr lang="zh-CN" altLang="en-US" dirty="0"/>
              <a:t>值、线程私有数据。</a:t>
            </a:r>
          </a:p>
          <a:p>
            <a:endParaRPr lang="zh-CN" altLang="en-US" dirty="0"/>
          </a:p>
          <a:p>
            <a:endParaRPr lang="zh-CN" altLang="en-US" dirty="0"/>
          </a:p>
        </p:txBody>
      </p:sp>
    </p:spTree>
    <p:extLst>
      <p:ext uri="{BB962C8B-B14F-4D97-AF65-F5344CB8AC3E}">
        <p14:creationId xmlns:p14="http://schemas.microsoft.com/office/powerpoint/2010/main" val="1774875840"/>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线程的概念</a:t>
            </a:r>
            <a:r>
              <a:rPr lang="en-US" altLang="zh-CN" dirty="0"/>
              <a:t>(</a:t>
            </a:r>
            <a:r>
              <a:rPr lang="zh-CN" altLang="en-US" dirty="0"/>
              <a:t>续</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一个进程可以拥有多个线程；一个进程至少需要一个线程作为它的指令执行体；典型的</a:t>
            </a:r>
            <a:r>
              <a:rPr lang="en-US" altLang="zh-CN" dirty="0"/>
              <a:t>UNIX</a:t>
            </a:r>
            <a:r>
              <a:rPr lang="zh-CN" altLang="en-US" dirty="0"/>
              <a:t>进程可以看成是只有一个线程的进程。</a:t>
            </a:r>
          </a:p>
          <a:p>
            <a:endParaRPr lang="zh-CN" altLang="en-US" dirty="0"/>
          </a:p>
          <a:p>
            <a:r>
              <a:rPr lang="zh-CN" altLang="en-US" dirty="0"/>
              <a:t>Linux系统下的多线程遵循POSIX线程接口，称为pthread。编写Linux下的多线程程序，需要使用头文件pthread.h，连接时需要使用库libpthread.a。</a:t>
            </a:r>
          </a:p>
          <a:p>
            <a:endParaRPr lang="zh-CN" altLang="en-US" dirty="0"/>
          </a:p>
        </p:txBody>
      </p:sp>
    </p:spTree>
    <p:extLst>
      <p:ext uri="{BB962C8B-B14F-4D97-AF65-F5344CB8AC3E}">
        <p14:creationId xmlns:p14="http://schemas.microsoft.com/office/powerpoint/2010/main" val="3993391533"/>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为什么需要线程</a:t>
            </a:r>
            <a:endParaRPr lang="zh-CN" altLang="en-US" dirty="0"/>
          </a:p>
        </p:txBody>
      </p:sp>
      <p:sp>
        <p:nvSpPr>
          <p:cNvPr id="3" name="内容占位符 2"/>
          <p:cNvSpPr>
            <a:spLocks noGrp="1"/>
          </p:cNvSpPr>
          <p:nvPr>
            <p:ph idx="1"/>
          </p:nvPr>
        </p:nvSpPr>
        <p:spPr/>
        <p:txBody>
          <a:bodyPr/>
          <a:lstStyle/>
          <a:p>
            <a:r>
              <a:rPr lang="en-US" altLang="zh-CN" sz="2800" dirty="0"/>
              <a:t>1</a:t>
            </a:r>
            <a:r>
              <a:rPr lang="zh-CN" altLang="en-US" sz="2800" dirty="0"/>
              <a:t>、线程开销更小。据统计，总的说来，一个进程的开销大约是一个线程开销的</a:t>
            </a:r>
            <a:r>
              <a:rPr lang="en-US" altLang="zh-CN" sz="2800" dirty="0"/>
              <a:t>30</a:t>
            </a:r>
            <a:r>
              <a:rPr lang="zh-CN" altLang="en-US" sz="2800" dirty="0"/>
              <a:t>倍左右。</a:t>
            </a:r>
          </a:p>
          <a:p>
            <a:r>
              <a:rPr lang="en-US" altLang="zh-CN" sz="2800" dirty="0"/>
              <a:t>2</a:t>
            </a:r>
            <a:r>
              <a:rPr lang="zh-CN" altLang="en-US" sz="2800" dirty="0"/>
              <a:t>、线程间通信更方便、快捷。同一进程下的线程之间共享数据空间，所以一个线程的数据可以直接为其它线程所用，这不仅快捷，而且方便。</a:t>
            </a:r>
          </a:p>
          <a:p>
            <a:r>
              <a:rPr lang="en-US" altLang="zh-CN" sz="2800" dirty="0"/>
              <a:t>3</a:t>
            </a:r>
            <a:r>
              <a:rPr lang="zh-CN" altLang="en-US" sz="2800" dirty="0"/>
              <a:t>、使多</a:t>
            </a:r>
            <a:r>
              <a:rPr lang="en-US" altLang="zh-CN" sz="2800" dirty="0"/>
              <a:t>CPU</a:t>
            </a:r>
            <a:r>
              <a:rPr lang="zh-CN" altLang="en-US" sz="2800" dirty="0"/>
              <a:t>系统更加有效。操作系统会保证当线程数不大于</a:t>
            </a:r>
            <a:r>
              <a:rPr lang="en-US" altLang="zh-CN" sz="2800" dirty="0"/>
              <a:t>CPU</a:t>
            </a:r>
            <a:r>
              <a:rPr lang="zh-CN" altLang="en-US" sz="2800" dirty="0"/>
              <a:t>数目时，不同的线程运行于不同的</a:t>
            </a:r>
            <a:r>
              <a:rPr lang="en-US" altLang="zh-CN" sz="2800" dirty="0"/>
              <a:t>CPU</a:t>
            </a:r>
            <a:r>
              <a:rPr lang="zh-CN" altLang="en-US" sz="2800" dirty="0"/>
              <a:t>上。</a:t>
            </a:r>
          </a:p>
          <a:p>
            <a:r>
              <a:rPr lang="en-US" altLang="zh-CN" sz="2800" dirty="0"/>
              <a:t>4</a:t>
            </a:r>
            <a:r>
              <a:rPr lang="zh-CN" altLang="en-US" sz="2800" dirty="0"/>
              <a:t>、改善程序结构。一个既长又复杂的进程可以考虑分为多个线程，成为几个独立或半独立的运行部分，这样的程序会利于理解和修改。</a:t>
            </a:r>
          </a:p>
          <a:p>
            <a:endParaRPr lang="zh-CN" altLang="en-US" dirty="0"/>
          </a:p>
        </p:txBody>
      </p:sp>
    </p:spTree>
    <p:extLst>
      <p:ext uri="{BB962C8B-B14F-4D97-AF65-F5344CB8AC3E}">
        <p14:creationId xmlns:p14="http://schemas.microsoft.com/office/powerpoint/2010/main" val="341953900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线程标识</a:t>
            </a:r>
            <a:endParaRPr lang="zh-CN" altLang="en-US" dirty="0"/>
          </a:p>
        </p:txBody>
      </p:sp>
      <p:sp>
        <p:nvSpPr>
          <p:cNvPr id="3" name="内容占位符 2"/>
          <p:cNvSpPr>
            <a:spLocks noGrp="1"/>
          </p:cNvSpPr>
          <p:nvPr>
            <p:ph idx="1"/>
          </p:nvPr>
        </p:nvSpPr>
        <p:spPr>
          <a:xfrm>
            <a:off x="838200" y="1351128"/>
            <a:ext cx="10515600" cy="5349923"/>
          </a:xfrm>
        </p:spPr>
        <p:txBody>
          <a:bodyPr>
            <a:normAutofit fontScale="70000" lnSpcReduction="20000"/>
          </a:bodyPr>
          <a:lstStyle/>
          <a:p>
            <a:r>
              <a:rPr lang="zh-CN" altLang="en-US" dirty="0"/>
              <a:t>同进程一样，每个线程也有一个线程</a:t>
            </a:r>
            <a:r>
              <a:rPr lang="en-US" altLang="zh-CN" dirty="0"/>
              <a:t>ID</a:t>
            </a:r>
          </a:p>
          <a:p>
            <a:r>
              <a:rPr lang="zh-CN" altLang="en-US" dirty="0"/>
              <a:t>进程</a:t>
            </a:r>
            <a:r>
              <a:rPr lang="en-US" altLang="zh-CN" dirty="0"/>
              <a:t>ID</a:t>
            </a:r>
            <a:r>
              <a:rPr lang="zh-CN" altLang="en-US" dirty="0"/>
              <a:t>在整个系统中是唯一的，但线程</a:t>
            </a:r>
            <a:r>
              <a:rPr lang="en-US" altLang="zh-CN" dirty="0"/>
              <a:t>ID</a:t>
            </a:r>
            <a:r>
              <a:rPr lang="zh-CN" altLang="en-US" dirty="0"/>
              <a:t>不同，线程</a:t>
            </a:r>
            <a:r>
              <a:rPr lang="en-US" altLang="zh-CN" dirty="0"/>
              <a:t>ID</a:t>
            </a:r>
            <a:r>
              <a:rPr lang="zh-CN" altLang="en-US" dirty="0"/>
              <a:t>只在它所属的进程环境中有效</a:t>
            </a:r>
          </a:p>
          <a:p>
            <a:r>
              <a:rPr lang="zh-CN" altLang="en-US" dirty="0"/>
              <a:t>线程</a:t>
            </a:r>
            <a:r>
              <a:rPr lang="en-US" altLang="zh-CN" dirty="0"/>
              <a:t>ID</a:t>
            </a:r>
            <a:r>
              <a:rPr lang="zh-CN" altLang="en-US" dirty="0"/>
              <a:t>的类型是</a:t>
            </a:r>
            <a:r>
              <a:rPr lang="en-US" altLang="zh-CN" dirty="0" err="1"/>
              <a:t>pthread_t</a:t>
            </a:r>
            <a:r>
              <a:rPr lang="zh-CN" altLang="en-US" dirty="0"/>
              <a:t>，在</a:t>
            </a:r>
            <a:r>
              <a:rPr lang="en-US" altLang="zh-CN" dirty="0"/>
              <a:t>Linux</a:t>
            </a:r>
            <a:r>
              <a:rPr lang="zh-CN" altLang="en-US" dirty="0"/>
              <a:t>中的定义：</a:t>
            </a:r>
          </a:p>
          <a:p>
            <a:pPr lvl="1"/>
            <a:r>
              <a:rPr lang="zh-CN" altLang="en-US" dirty="0"/>
              <a:t>在</a:t>
            </a:r>
            <a:r>
              <a:rPr lang="en-US" altLang="zh-CN" dirty="0"/>
              <a:t>/</a:t>
            </a:r>
            <a:r>
              <a:rPr lang="en-US" altLang="zh-CN" dirty="0" err="1"/>
              <a:t>usr</a:t>
            </a:r>
            <a:r>
              <a:rPr lang="en-US" altLang="zh-CN" dirty="0"/>
              <a:t>/include/bits/</a:t>
            </a:r>
            <a:r>
              <a:rPr lang="en-US" altLang="zh-CN" dirty="0" err="1"/>
              <a:t>pthreadtypes.h</a:t>
            </a:r>
            <a:r>
              <a:rPr lang="zh-CN" altLang="en-US" dirty="0"/>
              <a:t>中</a:t>
            </a:r>
          </a:p>
          <a:p>
            <a:pPr lvl="1"/>
            <a:r>
              <a:rPr lang="en-US" altLang="zh-CN" dirty="0" err="1"/>
              <a:t>typedef</a:t>
            </a:r>
            <a:r>
              <a:rPr lang="en-US" altLang="zh-CN" dirty="0"/>
              <a:t> unsigned long </a:t>
            </a:r>
            <a:r>
              <a:rPr lang="en-US" altLang="zh-CN" dirty="0" err="1"/>
              <a:t>int</a:t>
            </a:r>
            <a:r>
              <a:rPr lang="en-US" altLang="zh-CN" dirty="0"/>
              <a:t> </a:t>
            </a:r>
            <a:r>
              <a:rPr lang="en-US" altLang="zh-CN" dirty="0" err="1"/>
              <a:t>pthread_t</a:t>
            </a:r>
            <a:r>
              <a:rPr lang="en-US" altLang="zh-CN" dirty="0" smtClean="0"/>
              <a:t>;</a:t>
            </a:r>
            <a:endParaRPr lang="en-US" altLang="zh-CN" dirty="0"/>
          </a:p>
          <a:p>
            <a:r>
              <a:rPr lang="en-US" altLang="zh-CN" dirty="0" err="1"/>
              <a:t>pthread_self</a:t>
            </a:r>
            <a:r>
              <a:rPr lang="zh-CN" altLang="en-US" dirty="0"/>
              <a:t>函数可以使调用线程获取自己的线程</a:t>
            </a:r>
            <a:r>
              <a:rPr lang="en-US" altLang="zh-CN" dirty="0"/>
              <a:t>ID</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pthread_t</a:t>
            </a:r>
            <a:r>
              <a:rPr lang="en-US" altLang="zh-CN" dirty="0"/>
              <a:t> </a:t>
            </a:r>
            <a:r>
              <a:rPr lang="en-US" altLang="zh-CN" dirty="0" err="1"/>
              <a:t>pthread_self</a:t>
            </a:r>
            <a:r>
              <a:rPr lang="en-US" altLang="zh-CN" dirty="0"/>
              <a:t>();</a:t>
            </a:r>
          </a:p>
          <a:p>
            <a:r>
              <a:rPr lang="zh-CN" altLang="en-US" dirty="0"/>
              <a:t>返回调用线程的线程</a:t>
            </a:r>
            <a:r>
              <a:rPr lang="en-US" altLang="zh-CN" dirty="0" smtClean="0"/>
              <a:t>ID</a:t>
            </a:r>
          </a:p>
          <a:p>
            <a:r>
              <a:rPr lang="en-US" altLang="zh-CN" dirty="0"/>
              <a:t>Linux</a:t>
            </a:r>
            <a:r>
              <a:rPr lang="zh-CN" altLang="en-US" dirty="0"/>
              <a:t>中使用整型表示线程</a:t>
            </a:r>
            <a:r>
              <a:rPr lang="en-US" altLang="zh-CN" dirty="0"/>
              <a:t>ID</a:t>
            </a:r>
            <a:r>
              <a:rPr lang="zh-CN" altLang="en-US" dirty="0"/>
              <a:t>，而其他系统则不一定</a:t>
            </a:r>
          </a:p>
          <a:p>
            <a:r>
              <a:rPr lang="en-US" altLang="zh-CN" dirty="0"/>
              <a:t>FreeBSD 5.2.1</a:t>
            </a:r>
            <a:r>
              <a:rPr lang="zh-CN" altLang="en-US" dirty="0"/>
              <a:t>、</a:t>
            </a:r>
            <a:r>
              <a:rPr lang="en-US" altLang="zh-CN" dirty="0"/>
              <a:t>Mac OS X 10.3</a:t>
            </a:r>
            <a:r>
              <a:rPr lang="zh-CN" altLang="en-US" dirty="0"/>
              <a:t>用一个指向</a:t>
            </a:r>
            <a:r>
              <a:rPr lang="en-US" altLang="zh-CN" dirty="0" err="1"/>
              <a:t>pthread</a:t>
            </a:r>
            <a:r>
              <a:rPr lang="zh-CN" altLang="en-US" dirty="0"/>
              <a:t>结构的指针来表示</a:t>
            </a:r>
            <a:r>
              <a:rPr lang="en-US" altLang="zh-CN" dirty="0" err="1"/>
              <a:t>pthread_t</a:t>
            </a:r>
            <a:r>
              <a:rPr lang="zh-CN" altLang="en-US" dirty="0"/>
              <a:t>类型。</a:t>
            </a:r>
          </a:p>
          <a:p>
            <a:r>
              <a:rPr lang="zh-CN" altLang="en-US" dirty="0"/>
              <a:t>为了移植性，在比较两个线程</a:t>
            </a:r>
            <a:r>
              <a:rPr lang="en-US" altLang="zh-CN" dirty="0"/>
              <a:t>ID</a:t>
            </a:r>
            <a:r>
              <a:rPr lang="zh-CN" altLang="en-US" dirty="0"/>
              <a:t>是否相同时，可以使用</a:t>
            </a:r>
            <a:r>
              <a:rPr lang="en-US" altLang="zh-CN" dirty="0" err="1"/>
              <a:t>pthread_equal</a:t>
            </a:r>
            <a:r>
              <a:rPr lang="zh-CN" altLang="en-US" dirty="0" smtClean="0"/>
              <a:t>函数</a:t>
            </a:r>
            <a:endParaRPr lang="zh-CN" altLang="en-US" dirty="0"/>
          </a:p>
        </p:txBody>
      </p:sp>
    </p:spTree>
    <p:extLst>
      <p:ext uri="{BB962C8B-B14F-4D97-AF65-F5344CB8AC3E}">
        <p14:creationId xmlns:p14="http://schemas.microsoft.com/office/powerpoint/2010/main" val="390323638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进程原语和线程原语比较</a:t>
            </a:r>
          </a:p>
        </p:txBody>
      </p:sp>
      <p:graphicFrame>
        <p:nvGraphicFramePr>
          <p:cNvPr id="4" name="Group 3"/>
          <p:cNvGraphicFramePr>
            <a:graphicFrameLocks/>
          </p:cNvGraphicFramePr>
          <p:nvPr>
            <p:extLst>
              <p:ext uri="{D42A27DB-BD31-4B8C-83A1-F6EECF244321}">
                <p14:modId xmlns:p14="http://schemas.microsoft.com/office/powerpoint/2010/main" val="3082385011"/>
              </p:ext>
            </p:extLst>
          </p:nvPr>
        </p:nvGraphicFramePr>
        <p:xfrm>
          <a:off x="1415671" y="1770940"/>
          <a:ext cx="8569325" cy="4041777"/>
        </p:xfrm>
        <a:graphic>
          <a:graphicData uri="http://schemas.openxmlformats.org/drawingml/2006/table">
            <a:tbl>
              <a:tblPr/>
              <a:tblGrid>
                <a:gridCol w="2855913"/>
                <a:gridCol w="2855912"/>
                <a:gridCol w="2857500"/>
              </a:tblGrid>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1" i="0" u="none" strike="noStrike" cap="none" normalizeH="0" baseline="0" smtClean="0">
                          <a:ln>
                            <a:noFill/>
                          </a:ln>
                          <a:solidFill>
                            <a:srgbClr val="FFFFFF"/>
                          </a:solidFill>
                          <a:effectLst/>
                          <a:latin typeface="Calibri" pitchFamily="34" charset="0"/>
                          <a:ea typeface="宋体" pitchFamily="2" charset="-122"/>
                        </a:rPr>
                        <a:t>进程原语</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1" i="0" u="none" strike="noStrike" cap="none" normalizeH="0" baseline="0" smtClean="0">
                          <a:ln>
                            <a:noFill/>
                          </a:ln>
                          <a:solidFill>
                            <a:srgbClr val="FFFFFF"/>
                          </a:solidFill>
                          <a:effectLst/>
                          <a:latin typeface="Calibri" pitchFamily="34" charset="0"/>
                          <a:ea typeface="宋体" pitchFamily="2" charset="-122"/>
                        </a:rPr>
                        <a:t>线程原语</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1" i="0" u="none" strike="noStrike" cap="none" normalizeH="0" baseline="0" smtClean="0">
                          <a:ln>
                            <a:noFill/>
                          </a:ln>
                          <a:solidFill>
                            <a:srgbClr val="FFFFFF"/>
                          </a:solidFill>
                          <a:effectLst/>
                          <a:latin typeface="Calibri" pitchFamily="34" charset="0"/>
                          <a:ea typeface="宋体" pitchFamily="2" charset="-122"/>
                        </a:rPr>
                        <a:t>描述</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fork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pthread_create</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smtClean="0">
                          <a:ln>
                            <a:noFill/>
                          </a:ln>
                          <a:solidFill>
                            <a:srgbClr val="000000"/>
                          </a:solidFill>
                          <a:effectLst/>
                          <a:latin typeface="Calibri" pitchFamily="34" charset="0"/>
                          <a:ea typeface="宋体" pitchFamily="2" charset="-122"/>
                        </a:rPr>
                        <a:t>创建新的控制流</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exit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pchread_exit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smtClean="0">
                          <a:ln>
                            <a:noFill/>
                          </a:ln>
                          <a:solidFill>
                            <a:srgbClr val="000000"/>
                          </a:solidFill>
                          <a:effectLst/>
                          <a:latin typeface="Calibri" pitchFamily="34" charset="0"/>
                          <a:ea typeface="宋体" pitchFamily="2" charset="-122"/>
                        </a:rPr>
                        <a:t>从现有的控制流中退出</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waitpid</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pthread_join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smtClean="0">
                          <a:ln>
                            <a:noFill/>
                          </a:ln>
                          <a:solidFill>
                            <a:srgbClr val="000000"/>
                          </a:solidFill>
                          <a:effectLst/>
                          <a:latin typeface="Calibri" pitchFamily="34" charset="0"/>
                          <a:ea typeface="宋体" pitchFamily="2" charset="-122"/>
                        </a:rPr>
                        <a:t>从控制流中得到退出状态</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atexit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pthread_cleanup_push</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smtClean="0">
                          <a:ln>
                            <a:noFill/>
                          </a:ln>
                          <a:solidFill>
                            <a:srgbClr val="000000"/>
                          </a:solidFill>
                          <a:effectLst/>
                          <a:latin typeface="Calibri" pitchFamily="34" charset="0"/>
                          <a:ea typeface="宋体" pitchFamily="2" charset="-122"/>
                        </a:rPr>
                        <a:t>注册在退出控制流时调用的函数</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getpid</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pthread_self</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smtClean="0">
                          <a:ln>
                            <a:noFill/>
                          </a:ln>
                          <a:solidFill>
                            <a:srgbClr val="000000"/>
                          </a:solidFill>
                          <a:effectLst/>
                          <a:latin typeface="Calibri" pitchFamily="34" charset="0"/>
                          <a:ea typeface="宋体" pitchFamily="2" charset="-122"/>
                        </a:rPr>
                        <a:t>获取控制流的</a:t>
                      </a:r>
                      <a:r>
                        <a:rPr kumimoji="0" lang="zh-CN" altLang="zh-CN" sz="1800" b="0" i="0" u="none" strike="noStrike" cap="none" normalizeH="0" baseline="0" smtClean="0">
                          <a:ln>
                            <a:noFill/>
                          </a:ln>
                          <a:solidFill>
                            <a:srgbClr val="000000"/>
                          </a:solidFill>
                          <a:effectLst/>
                          <a:latin typeface="Calibri" pitchFamily="34" charset="0"/>
                          <a:ea typeface="宋体" pitchFamily="2" charset="-122"/>
                        </a:rPr>
                        <a:t>ID</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568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abort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zh-CN" sz="1800" b="0" i="0" u="none" strike="noStrike" cap="none" normalizeH="0" baseline="0" smtClean="0">
                          <a:ln>
                            <a:noFill/>
                          </a:ln>
                          <a:solidFill>
                            <a:srgbClr val="000000"/>
                          </a:solidFill>
                          <a:effectLst/>
                          <a:latin typeface="Calibri" pitchFamily="34" charset="0"/>
                          <a:ea typeface="宋体" pitchFamily="2" charset="-122"/>
                        </a:rPr>
                        <a:t>pthread_cancel</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sz="1800" b="0" i="0" u="none" strike="noStrike" cap="none" normalizeH="0" baseline="0" dirty="0" smtClean="0">
                          <a:ln>
                            <a:noFill/>
                          </a:ln>
                          <a:solidFill>
                            <a:srgbClr val="000000"/>
                          </a:solidFill>
                          <a:effectLst/>
                          <a:latin typeface="Calibri" pitchFamily="34" charset="0"/>
                          <a:ea typeface="宋体" pitchFamily="2" charset="-122"/>
                        </a:rPr>
                        <a:t>请求控制流的非正常退出</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bl>
          </a:graphicData>
        </a:graphic>
      </p:graphicFrame>
    </p:spTree>
    <p:extLst>
      <p:ext uri="{BB962C8B-B14F-4D97-AF65-F5344CB8AC3E}">
        <p14:creationId xmlns:p14="http://schemas.microsoft.com/office/powerpoint/2010/main" val="204878974"/>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线程的创建</a:t>
            </a:r>
            <a:endParaRPr lang="zh-CN" altLang="en-US" dirty="0"/>
          </a:p>
        </p:txBody>
      </p:sp>
      <p:sp>
        <p:nvSpPr>
          <p:cNvPr id="3" name="内容占位符 2"/>
          <p:cNvSpPr>
            <a:spLocks noGrp="1"/>
          </p:cNvSpPr>
          <p:nvPr>
            <p:ph idx="1"/>
          </p:nvPr>
        </p:nvSpPr>
        <p:spPr>
          <a:xfrm>
            <a:off x="794238" y="1186832"/>
            <a:ext cx="10515600" cy="5295330"/>
          </a:xfrm>
        </p:spPr>
        <p:txBody>
          <a:bodyPr>
            <a:normAutofit fontScale="70000" lnSpcReduction="20000"/>
          </a:bodyPr>
          <a:lstStyle/>
          <a:p>
            <a:r>
              <a:rPr lang="en-US" altLang="zh-CN" dirty="0" err="1"/>
              <a:t>pthread_create</a:t>
            </a:r>
            <a:r>
              <a:rPr lang="zh-CN" altLang="en-US" dirty="0"/>
              <a:t>函数用于创建一个线程</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pthread_create</a:t>
            </a:r>
            <a:r>
              <a:rPr lang="en-US" altLang="zh-CN" dirty="0"/>
              <a:t>(</a:t>
            </a:r>
            <a:r>
              <a:rPr lang="en-US" altLang="zh-CN" dirty="0" err="1"/>
              <a:t>pthread_t</a:t>
            </a:r>
            <a:r>
              <a:rPr lang="en-US" altLang="zh-CN" dirty="0"/>
              <a:t> *thread, </a:t>
            </a:r>
            <a:r>
              <a:rPr lang="en-US" altLang="zh-CN" dirty="0" err="1"/>
              <a:t>const</a:t>
            </a:r>
            <a:r>
              <a:rPr lang="en-US" altLang="zh-CN" dirty="0"/>
              <a:t> </a:t>
            </a:r>
            <a:r>
              <a:rPr lang="en-US" altLang="zh-CN" dirty="0" err="1"/>
              <a:t>pthread_attr_t</a:t>
            </a:r>
            <a:r>
              <a:rPr lang="en-US" altLang="zh-CN" dirty="0"/>
              <a:t> *</a:t>
            </a:r>
            <a:r>
              <a:rPr lang="en-US" altLang="zh-CN" dirty="0" err="1"/>
              <a:t>attr</a:t>
            </a:r>
            <a:r>
              <a:rPr lang="en-US" altLang="zh-CN" dirty="0"/>
              <a:t>, void *(*</a:t>
            </a:r>
            <a:r>
              <a:rPr lang="en-US" altLang="zh-CN" dirty="0" err="1"/>
              <a:t>start_routine</a:t>
            </a:r>
            <a:r>
              <a:rPr lang="en-US" altLang="zh-CN" dirty="0"/>
              <a:t>) (void *), void *</a:t>
            </a:r>
            <a:r>
              <a:rPr lang="en-US" altLang="zh-CN" dirty="0" err="1"/>
              <a:t>arg</a:t>
            </a:r>
            <a:r>
              <a:rPr lang="en-US" altLang="zh-CN" dirty="0"/>
              <a:t>);</a:t>
            </a:r>
          </a:p>
          <a:p>
            <a:r>
              <a:rPr lang="zh-CN" altLang="en-US" dirty="0"/>
              <a:t>参数与返回值</a:t>
            </a:r>
          </a:p>
          <a:p>
            <a:pPr lvl="1"/>
            <a:r>
              <a:rPr lang="en-US" altLang="zh-CN" dirty="0"/>
              <a:t>thread</a:t>
            </a:r>
            <a:r>
              <a:rPr lang="zh-CN" altLang="en-US" dirty="0"/>
              <a:t>：当</a:t>
            </a:r>
            <a:r>
              <a:rPr lang="en-US" altLang="zh-CN" dirty="0" err="1"/>
              <a:t>pthread_create</a:t>
            </a:r>
            <a:r>
              <a:rPr lang="zh-CN" altLang="en-US" dirty="0"/>
              <a:t>成功返回时，该函数将线程</a:t>
            </a:r>
            <a:r>
              <a:rPr lang="en-US" altLang="zh-CN" dirty="0"/>
              <a:t>ID</a:t>
            </a:r>
            <a:r>
              <a:rPr lang="zh-CN" altLang="en-US" dirty="0"/>
              <a:t>存储在</a:t>
            </a:r>
            <a:r>
              <a:rPr lang="en-US" altLang="zh-CN" dirty="0"/>
              <a:t>thread</a:t>
            </a:r>
            <a:r>
              <a:rPr lang="zh-CN" altLang="en-US" dirty="0"/>
              <a:t>指向的内存区域中</a:t>
            </a:r>
          </a:p>
          <a:p>
            <a:r>
              <a:rPr lang="zh-CN" altLang="en-US" dirty="0"/>
              <a:t>参数与返回值</a:t>
            </a:r>
          </a:p>
          <a:p>
            <a:pPr lvl="1"/>
            <a:r>
              <a:rPr lang="en-US" altLang="zh-CN" dirty="0" err="1"/>
              <a:t>attr</a:t>
            </a:r>
            <a:r>
              <a:rPr lang="zh-CN" altLang="en-US" dirty="0"/>
              <a:t>：用于定制各种不同的线程属性，将在后面部分讨论。通常可设为</a:t>
            </a:r>
            <a:r>
              <a:rPr lang="en-US" altLang="zh-CN" dirty="0"/>
              <a:t>NULL</a:t>
            </a:r>
            <a:r>
              <a:rPr lang="zh-CN" altLang="en-US" dirty="0"/>
              <a:t>，采用默认线程属性</a:t>
            </a:r>
          </a:p>
          <a:p>
            <a:pPr lvl="1"/>
            <a:r>
              <a:rPr lang="en-US" altLang="zh-CN" dirty="0" err="1"/>
              <a:t>start_routine</a:t>
            </a:r>
            <a:r>
              <a:rPr lang="zh-CN" altLang="en-US" dirty="0"/>
              <a:t>：线程的入口函数，即新创建的线程从该函数开始执行。该函数只有一个参数，即</a:t>
            </a:r>
            <a:r>
              <a:rPr lang="en-US" altLang="zh-CN" dirty="0" err="1"/>
              <a:t>arg</a:t>
            </a:r>
            <a:r>
              <a:rPr lang="zh-CN" altLang="en-US" dirty="0"/>
              <a:t>，返回一个指针</a:t>
            </a:r>
          </a:p>
          <a:p>
            <a:pPr lvl="1"/>
            <a:r>
              <a:rPr lang="en-US" altLang="zh-CN" dirty="0" err="1"/>
              <a:t>arg</a:t>
            </a:r>
            <a:r>
              <a:rPr lang="zh-CN" altLang="en-US" dirty="0"/>
              <a:t>：作为</a:t>
            </a:r>
            <a:r>
              <a:rPr lang="en-US" altLang="zh-CN" dirty="0" err="1"/>
              <a:t>start_routine</a:t>
            </a:r>
            <a:r>
              <a:rPr lang="zh-CN" altLang="en-US" dirty="0"/>
              <a:t>的第一个参数</a:t>
            </a:r>
          </a:p>
          <a:p>
            <a:pPr lvl="1"/>
            <a:r>
              <a:rPr lang="zh-CN" altLang="en-US" dirty="0"/>
              <a:t>成功返回</a:t>
            </a:r>
            <a:r>
              <a:rPr lang="en-US" altLang="zh-CN" dirty="0"/>
              <a:t>0</a:t>
            </a:r>
            <a:r>
              <a:rPr lang="zh-CN" altLang="en-US" dirty="0"/>
              <a:t>，出错时返回各种</a:t>
            </a:r>
            <a:r>
              <a:rPr lang="zh-CN" altLang="en-US" dirty="0" smtClean="0"/>
              <a:t>错误码</a:t>
            </a:r>
            <a:endParaRPr lang="en-US" altLang="zh-CN" dirty="0" smtClean="0"/>
          </a:p>
          <a:p>
            <a:pPr lvl="1"/>
            <a:r>
              <a:rPr lang="zh-CN" altLang="en-US" dirty="0"/>
              <a:t>新创建的线程，将继承调用</a:t>
            </a:r>
            <a:r>
              <a:rPr lang="en-US" altLang="zh-CN" dirty="0" err="1"/>
              <a:t>pthread_create</a:t>
            </a:r>
            <a:r>
              <a:rPr lang="zh-CN" altLang="en-US" dirty="0"/>
              <a:t>函数的线程的信号屏蔽字，但新线程的未决信号集将被清除</a:t>
            </a:r>
            <a:r>
              <a:rPr lang="zh-CN" altLang="en-US" dirty="0" smtClean="0"/>
              <a:t>。</a:t>
            </a:r>
            <a:endParaRPr lang="zh-CN" altLang="en-US" dirty="0"/>
          </a:p>
          <a:p>
            <a:endParaRPr lang="zh-CN" altLang="en-US" dirty="0"/>
          </a:p>
        </p:txBody>
      </p:sp>
    </p:spTree>
    <p:extLst>
      <p:ext uri="{BB962C8B-B14F-4D97-AF65-F5344CB8AC3E}">
        <p14:creationId xmlns:p14="http://schemas.microsoft.com/office/powerpoint/2010/main" val="222653557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线程的终止</a:t>
            </a:r>
            <a:endParaRPr lang="zh-CN" altLang="en-US" dirty="0"/>
          </a:p>
        </p:txBody>
      </p:sp>
      <p:sp>
        <p:nvSpPr>
          <p:cNvPr id="3" name="内容占位符 2"/>
          <p:cNvSpPr>
            <a:spLocks noGrp="1"/>
          </p:cNvSpPr>
          <p:nvPr>
            <p:ph idx="1"/>
          </p:nvPr>
        </p:nvSpPr>
        <p:spPr/>
        <p:txBody>
          <a:bodyPr/>
          <a:lstStyle/>
          <a:p>
            <a:r>
              <a:rPr lang="zh-CN" altLang="en-US" dirty="0"/>
              <a:t>进程中任一线程调用</a:t>
            </a:r>
            <a:r>
              <a:rPr lang="en-US" altLang="zh-CN" dirty="0"/>
              <a:t>exit</a:t>
            </a:r>
            <a:r>
              <a:rPr lang="zh-CN" altLang="en-US" dirty="0"/>
              <a:t>、</a:t>
            </a:r>
            <a:r>
              <a:rPr lang="en-US" altLang="zh-CN" dirty="0"/>
              <a:t>_Exit</a:t>
            </a:r>
            <a:r>
              <a:rPr lang="zh-CN" altLang="en-US" dirty="0"/>
              <a:t>、</a:t>
            </a:r>
            <a:r>
              <a:rPr lang="en-US" altLang="zh-CN" dirty="0"/>
              <a:t>_exit</a:t>
            </a:r>
            <a:r>
              <a:rPr lang="zh-CN" altLang="en-US" dirty="0"/>
              <a:t>，都会导致整个进程终止；</a:t>
            </a:r>
          </a:p>
          <a:p>
            <a:r>
              <a:rPr lang="zh-CN" altLang="en-US" dirty="0"/>
              <a:t>当线程接收到信号，若信号的处理动作是终止进程，则进程将被终止（后面分析信号与线程的交互）；</a:t>
            </a:r>
          </a:p>
          <a:p>
            <a:r>
              <a:rPr lang="zh-CN" altLang="en-US" dirty="0"/>
              <a:t>如何只终止某个线程，而不终止整个进程？</a:t>
            </a:r>
          </a:p>
          <a:p>
            <a:r>
              <a:rPr lang="zh-CN" altLang="en-US" dirty="0"/>
              <a:t>单个线程的三种退出方式</a:t>
            </a:r>
          </a:p>
          <a:p>
            <a:pPr lvl="1"/>
            <a:r>
              <a:rPr lang="zh-CN" altLang="en-US" dirty="0"/>
              <a:t>线程从启动例程中返回，返回值是线程的退出码</a:t>
            </a:r>
          </a:p>
          <a:p>
            <a:pPr lvl="1"/>
            <a:r>
              <a:rPr lang="zh-CN" altLang="en-US" dirty="0"/>
              <a:t>线程被同一进程中的其他线程取消</a:t>
            </a:r>
          </a:p>
          <a:p>
            <a:pPr lvl="1"/>
            <a:r>
              <a:rPr lang="zh-CN" altLang="en-US" dirty="0"/>
              <a:t>线程调用</a:t>
            </a:r>
            <a:r>
              <a:rPr lang="en-US" altLang="zh-CN" dirty="0" err="1"/>
              <a:t>pthread_exit</a:t>
            </a:r>
            <a:r>
              <a:rPr lang="zh-CN" altLang="en-US" dirty="0"/>
              <a:t>函数</a:t>
            </a:r>
          </a:p>
          <a:p>
            <a:endParaRPr lang="zh-CN" altLang="en-US" dirty="0"/>
          </a:p>
        </p:txBody>
      </p:sp>
    </p:spTree>
    <p:extLst>
      <p:ext uri="{BB962C8B-B14F-4D97-AF65-F5344CB8AC3E}">
        <p14:creationId xmlns:p14="http://schemas.microsoft.com/office/powerpoint/2010/main" val="420621989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pthread_exit</a:t>
            </a:r>
            <a:r>
              <a:rPr lang="zh-CN" altLang="en-US" dirty="0"/>
              <a:t>函数</a:t>
            </a:r>
          </a:p>
        </p:txBody>
      </p:sp>
      <p:sp>
        <p:nvSpPr>
          <p:cNvPr id="3" name="内容占位符 2"/>
          <p:cNvSpPr>
            <a:spLocks noGrp="1"/>
          </p:cNvSpPr>
          <p:nvPr>
            <p:ph idx="1"/>
          </p:nvPr>
        </p:nvSpPr>
        <p:spPr/>
        <p:txBody>
          <a:bodyPr/>
          <a:lstStyle/>
          <a:p>
            <a:r>
              <a:rPr lang="zh-CN" altLang="en-US" dirty="0"/>
              <a:t>该函数让线程退出</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a:t>void </a:t>
            </a:r>
            <a:r>
              <a:rPr lang="en-US" altLang="zh-CN" dirty="0" err="1"/>
              <a:t>pthread_exit</a:t>
            </a:r>
            <a:r>
              <a:rPr lang="en-US" altLang="zh-CN" dirty="0"/>
              <a:t>(void *</a:t>
            </a:r>
            <a:r>
              <a:rPr lang="en-US" altLang="zh-CN" dirty="0" err="1"/>
              <a:t>rval_ptr</a:t>
            </a:r>
            <a:r>
              <a:rPr lang="en-US" altLang="zh-CN" dirty="0"/>
              <a:t>);</a:t>
            </a:r>
          </a:p>
          <a:p>
            <a:endParaRPr lang="en-US" altLang="zh-CN" dirty="0"/>
          </a:p>
          <a:p>
            <a:r>
              <a:rPr lang="zh-CN" altLang="en-US" dirty="0"/>
              <a:t>参数</a:t>
            </a:r>
          </a:p>
          <a:p>
            <a:pPr lvl="1"/>
            <a:r>
              <a:rPr lang="en-US" altLang="zh-CN" dirty="0" err="1"/>
              <a:t>rval_ptr</a:t>
            </a:r>
            <a:r>
              <a:rPr lang="zh-CN" altLang="en-US" dirty="0"/>
              <a:t>：与线程的启动函数类似，该指针将传递给</a:t>
            </a:r>
            <a:r>
              <a:rPr lang="en-US" altLang="zh-CN" dirty="0" err="1"/>
              <a:t>pthread_join</a:t>
            </a:r>
            <a:r>
              <a:rPr lang="zh-CN" altLang="en-US" dirty="0"/>
              <a:t>函数</a:t>
            </a:r>
          </a:p>
          <a:p>
            <a:endParaRPr lang="zh-CN" altLang="en-US" dirty="0"/>
          </a:p>
        </p:txBody>
      </p:sp>
    </p:spTree>
    <p:extLst>
      <p:ext uri="{BB962C8B-B14F-4D97-AF65-F5344CB8AC3E}">
        <p14:creationId xmlns:p14="http://schemas.microsoft.com/office/powerpoint/2010/main" val="79209541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pthread_join</a:t>
            </a:r>
            <a:r>
              <a:rPr lang="zh-CN" altLang="en-US" dirty="0"/>
              <a:t>函数</a:t>
            </a:r>
          </a:p>
        </p:txBody>
      </p:sp>
      <p:sp>
        <p:nvSpPr>
          <p:cNvPr id="3" name="内容占位符 2"/>
          <p:cNvSpPr>
            <a:spLocks noGrp="1"/>
          </p:cNvSpPr>
          <p:nvPr>
            <p:ph idx="1"/>
          </p:nvPr>
        </p:nvSpPr>
        <p:spPr>
          <a:xfrm>
            <a:off x="829408" y="1128040"/>
            <a:ext cx="10515600" cy="5199798"/>
          </a:xfrm>
        </p:spPr>
        <p:txBody>
          <a:bodyPr>
            <a:normAutofit fontScale="85000" lnSpcReduction="20000"/>
          </a:bodyPr>
          <a:lstStyle/>
          <a:p>
            <a:r>
              <a:rPr lang="zh-CN" altLang="en-US" dirty="0"/>
              <a:t>该函数用于等待某个线程终止</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pthread_join</a:t>
            </a:r>
            <a:r>
              <a:rPr lang="en-US" altLang="zh-CN" dirty="0"/>
              <a:t>(</a:t>
            </a:r>
            <a:r>
              <a:rPr lang="en-US" altLang="zh-CN" dirty="0" err="1"/>
              <a:t>pthread_t</a:t>
            </a:r>
            <a:r>
              <a:rPr lang="en-US" altLang="zh-CN" dirty="0"/>
              <a:t> thread, void **</a:t>
            </a:r>
            <a:r>
              <a:rPr lang="en-US" altLang="zh-CN" dirty="0" err="1"/>
              <a:t>rval_ptr</a:t>
            </a:r>
            <a:r>
              <a:rPr lang="en-US" altLang="zh-CN" dirty="0"/>
              <a:t>);</a:t>
            </a:r>
          </a:p>
          <a:p>
            <a:r>
              <a:rPr lang="zh-CN" altLang="en-US" dirty="0"/>
              <a:t>调用该函数的线程将一直阻塞，直到指定的线程调用</a:t>
            </a:r>
            <a:r>
              <a:rPr lang="en-US" altLang="zh-CN" dirty="0" err="1"/>
              <a:t>pthread_exit</a:t>
            </a:r>
            <a:r>
              <a:rPr lang="zh-CN" altLang="en-US" dirty="0"/>
              <a:t>、从启动例程中返回、被取消</a:t>
            </a:r>
          </a:p>
          <a:p>
            <a:pPr lvl="1">
              <a:buFont typeface="Wingdings" panose="05000000000000000000" pitchFamily="2" charset="2"/>
              <a:buNone/>
            </a:pPr>
            <a:r>
              <a:rPr lang="zh-CN" altLang="en-US" sz="2800" dirty="0"/>
              <a:t>返回值与参数</a:t>
            </a:r>
          </a:p>
          <a:p>
            <a:pPr lvl="1"/>
            <a:r>
              <a:rPr lang="zh-CN" altLang="en-US" dirty="0"/>
              <a:t>成功返回</a:t>
            </a:r>
            <a:r>
              <a:rPr lang="en-US" altLang="zh-CN" dirty="0"/>
              <a:t>0</a:t>
            </a:r>
            <a:r>
              <a:rPr lang="zh-CN" altLang="en-US" dirty="0"/>
              <a:t>，否则返回错误编号</a:t>
            </a:r>
          </a:p>
          <a:p>
            <a:pPr lvl="1"/>
            <a:r>
              <a:rPr lang="en-US" altLang="zh-CN" dirty="0"/>
              <a:t>thread</a:t>
            </a:r>
            <a:r>
              <a:rPr lang="zh-CN" altLang="en-US" dirty="0"/>
              <a:t>：需要等待的线程</a:t>
            </a:r>
            <a:r>
              <a:rPr lang="en-US" altLang="zh-CN" dirty="0"/>
              <a:t>ID</a:t>
            </a:r>
          </a:p>
          <a:p>
            <a:pPr lvl="1"/>
            <a:r>
              <a:rPr lang="en-US" altLang="zh-CN" dirty="0" err="1"/>
              <a:t>rval_ptr</a:t>
            </a:r>
            <a:r>
              <a:rPr lang="zh-CN" altLang="en-US" dirty="0"/>
              <a:t>：</a:t>
            </a:r>
          </a:p>
          <a:p>
            <a:pPr lvl="2"/>
            <a:r>
              <a:rPr lang="zh-CN" altLang="en-US" dirty="0"/>
              <a:t>若线程从启动例程返回，</a:t>
            </a:r>
            <a:r>
              <a:rPr lang="en-US" altLang="zh-CN" dirty="0" err="1"/>
              <a:t>rval_ptr</a:t>
            </a:r>
            <a:r>
              <a:rPr lang="zh-CN" altLang="en-US" dirty="0"/>
              <a:t>将包含返回码</a:t>
            </a:r>
          </a:p>
          <a:p>
            <a:pPr lvl="2"/>
            <a:r>
              <a:rPr lang="zh-CN" altLang="en-US" dirty="0"/>
              <a:t>若线程由于</a:t>
            </a:r>
            <a:r>
              <a:rPr lang="en-US" altLang="zh-CN" dirty="0" err="1"/>
              <a:t>pthread_exit</a:t>
            </a:r>
            <a:r>
              <a:rPr lang="zh-CN" altLang="en-US" dirty="0"/>
              <a:t>终止，</a:t>
            </a:r>
            <a:r>
              <a:rPr lang="en-US" altLang="zh-CN" dirty="0" err="1"/>
              <a:t>rval_ptr</a:t>
            </a:r>
            <a:r>
              <a:rPr lang="zh-CN" altLang="en-US" dirty="0"/>
              <a:t>即</a:t>
            </a:r>
            <a:r>
              <a:rPr lang="en-US" altLang="zh-CN" dirty="0" err="1"/>
              <a:t>pthread_exit</a:t>
            </a:r>
            <a:r>
              <a:rPr lang="zh-CN" altLang="en-US" dirty="0"/>
              <a:t>的参数</a:t>
            </a:r>
          </a:p>
          <a:p>
            <a:pPr lvl="2"/>
            <a:r>
              <a:rPr lang="zh-CN" altLang="en-US" dirty="0"/>
              <a:t>若线程被取消，由</a:t>
            </a:r>
            <a:r>
              <a:rPr lang="en-US" altLang="zh-CN" dirty="0" err="1"/>
              <a:t>rval_ptr</a:t>
            </a:r>
            <a:r>
              <a:rPr lang="zh-CN" altLang="en-US" dirty="0"/>
              <a:t>指定的内存单元就置为</a:t>
            </a:r>
            <a:r>
              <a:rPr lang="en-US" altLang="zh-CN" dirty="0"/>
              <a:t>PTHREAD_CANCELED</a:t>
            </a:r>
          </a:p>
          <a:p>
            <a:pPr lvl="2"/>
            <a:r>
              <a:rPr lang="zh-CN" altLang="en-US" dirty="0"/>
              <a:t>若不关心线程返回值，可将该参数设置为</a:t>
            </a:r>
            <a:r>
              <a:rPr lang="en-US" altLang="zh-CN" dirty="0"/>
              <a:t>NULL</a:t>
            </a:r>
          </a:p>
          <a:p>
            <a:endParaRPr lang="zh-CN" altLang="en-US" dirty="0"/>
          </a:p>
        </p:txBody>
      </p:sp>
    </p:spTree>
    <p:extLst>
      <p:ext uri="{BB962C8B-B14F-4D97-AF65-F5344CB8AC3E}">
        <p14:creationId xmlns:p14="http://schemas.microsoft.com/office/powerpoint/2010/main" val="48671717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pthread_cancel</a:t>
            </a:r>
            <a:r>
              <a:rPr lang="zh-CN" altLang="en-US" dirty="0"/>
              <a:t>函数</a:t>
            </a:r>
          </a:p>
        </p:txBody>
      </p:sp>
      <p:sp>
        <p:nvSpPr>
          <p:cNvPr id="3" name="内容占位符 2"/>
          <p:cNvSpPr>
            <a:spLocks noGrp="1"/>
          </p:cNvSpPr>
          <p:nvPr>
            <p:ph idx="1"/>
          </p:nvPr>
        </p:nvSpPr>
        <p:spPr/>
        <p:txBody>
          <a:bodyPr>
            <a:normAutofit fontScale="85000" lnSpcReduction="10000"/>
          </a:bodyPr>
          <a:lstStyle/>
          <a:p>
            <a:r>
              <a:rPr lang="zh-CN" altLang="en-US" dirty="0"/>
              <a:t>线程调用该函数可以取消同一进程中的其他线程，即让线程终止</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pthread_cancel</a:t>
            </a:r>
            <a:r>
              <a:rPr lang="en-US" altLang="zh-CN" dirty="0"/>
              <a:t>(</a:t>
            </a:r>
            <a:r>
              <a:rPr lang="en-US" altLang="zh-CN" dirty="0" err="1"/>
              <a:t>pthread_t</a:t>
            </a:r>
            <a:r>
              <a:rPr lang="en-US" altLang="zh-CN" dirty="0"/>
              <a:t> </a:t>
            </a:r>
            <a:r>
              <a:rPr lang="en-US" altLang="zh-CN" dirty="0" err="1"/>
              <a:t>tid</a:t>
            </a:r>
            <a:r>
              <a:rPr lang="en-US" altLang="zh-CN" dirty="0"/>
              <a:t>);</a:t>
            </a:r>
          </a:p>
          <a:p>
            <a:r>
              <a:rPr lang="zh-CN" altLang="en-US" dirty="0"/>
              <a:t>参数与返回值</a:t>
            </a:r>
          </a:p>
          <a:p>
            <a:pPr lvl="1"/>
            <a:r>
              <a:rPr lang="en-US" altLang="zh-CN" dirty="0" err="1"/>
              <a:t>tid</a:t>
            </a:r>
            <a:r>
              <a:rPr lang="zh-CN" altLang="en-US" dirty="0"/>
              <a:t>：需要取消的线程</a:t>
            </a:r>
            <a:r>
              <a:rPr lang="en-US" altLang="zh-CN" dirty="0"/>
              <a:t>ID</a:t>
            </a:r>
          </a:p>
          <a:p>
            <a:pPr lvl="1"/>
            <a:r>
              <a:rPr lang="zh-CN" altLang="en-US" dirty="0"/>
              <a:t>成功返回</a:t>
            </a:r>
            <a:r>
              <a:rPr lang="en-US" altLang="zh-CN" dirty="0"/>
              <a:t>0</a:t>
            </a:r>
            <a:r>
              <a:rPr lang="zh-CN" altLang="en-US" dirty="0"/>
              <a:t>， 出错返回错误编号</a:t>
            </a:r>
          </a:p>
          <a:p>
            <a:r>
              <a:rPr lang="zh-CN" altLang="en-US" dirty="0"/>
              <a:t>在默认情况下，</a:t>
            </a:r>
            <a:r>
              <a:rPr lang="en-US" altLang="zh-CN" dirty="0" err="1"/>
              <a:t>pthread_cancel</a:t>
            </a:r>
            <a:r>
              <a:rPr lang="zh-CN" altLang="en-US" dirty="0"/>
              <a:t>函数会使得线程</a:t>
            </a:r>
            <a:r>
              <a:rPr lang="en-US" altLang="zh-CN" dirty="0"/>
              <a:t>ID</a:t>
            </a:r>
            <a:r>
              <a:rPr lang="zh-CN" altLang="en-US" dirty="0"/>
              <a:t>等于</a:t>
            </a:r>
            <a:r>
              <a:rPr lang="en-US" altLang="zh-CN" dirty="0" err="1"/>
              <a:t>tid</a:t>
            </a:r>
            <a:r>
              <a:rPr lang="zh-CN" altLang="en-US" dirty="0"/>
              <a:t>的线程，如同其调用了参数为</a:t>
            </a:r>
            <a:r>
              <a:rPr lang="en-US" altLang="zh-CN" dirty="0"/>
              <a:t>PTHREAD_CANCELED</a:t>
            </a:r>
            <a:r>
              <a:rPr lang="zh-CN" altLang="en-US" dirty="0"/>
              <a:t>的</a:t>
            </a:r>
            <a:r>
              <a:rPr lang="en-US" altLang="zh-CN" dirty="0" err="1"/>
              <a:t>pthread_exit</a:t>
            </a:r>
            <a:endParaRPr lang="en-US" altLang="zh-CN" dirty="0"/>
          </a:p>
          <a:p>
            <a:r>
              <a:rPr lang="zh-CN" altLang="en-US" dirty="0"/>
              <a:t>线程可以选择忽略取消方式或者控制取消方式，将在后面讨论</a:t>
            </a:r>
          </a:p>
          <a:p>
            <a:r>
              <a:rPr lang="en-US" altLang="zh-CN" dirty="0" err="1"/>
              <a:t>pthread_cancel</a:t>
            </a:r>
            <a:r>
              <a:rPr lang="zh-CN" altLang="en-US" dirty="0"/>
              <a:t>并不等待线程终止，它仅仅是提出请求</a:t>
            </a:r>
          </a:p>
          <a:p>
            <a:endParaRPr lang="zh-CN" altLang="en-US" dirty="0"/>
          </a:p>
        </p:txBody>
      </p:sp>
    </p:spTree>
    <p:extLst>
      <p:ext uri="{BB962C8B-B14F-4D97-AF65-F5344CB8AC3E}">
        <p14:creationId xmlns:p14="http://schemas.microsoft.com/office/powerpoint/2010/main" val="594879679"/>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线程清理处理函数</a:t>
            </a:r>
            <a:endParaRPr lang="zh-CN" altLang="en-US" dirty="0"/>
          </a:p>
        </p:txBody>
      </p:sp>
      <p:sp>
        <p:nvSpPr>
          <p:cNvPr id="3" name="内容占位符 2"/>
          <p:cNvSpPr>
            <a:spLocks noGrp="1"/>
          </p:cNvSpPr>
          <p:nvPr>
            <p:ph idx="1"/>
          </p:nvPr>
        </p:nvSpPr>
        <p:spPr/>
        <p:txBody>
          <a:bodyPr/>
          <a:lstStyle/>
          <a:p>
            <a:r>
              <a:rPr lang="zh-CN" altLang="en-US" dirty="0"/>
              <a:t>当线程终止时，可以调用自定义的线程清理处理函数，进行资源释放等操作。类似于</a:t>
            </a:r>
            <a:r>
              <a:rPr lang="en-US" altLang="zh-CN" dirty="0" err="1"/>
              <a:t>atexit</a:t>
            </a:r>
            <a:r>
              <a:rPr lang="zh-CN" altLang="en-US" dirty="0"/>
              <a:t>函数。</a:t>
            </a:r>
          </a:p>
          <a:p>
            <a:r>
              <a:rPr lang="zh-CN" altLang="en-US" dirty="0"/>
              <a:t>线程可以注册多个清理处理函数，这些函数被记录在栈中，它们的执行顺序与它们的注册顺序相反。</a:t>
            </a:r>
          </a:p>
          <a:p>
            <a:r>
              <a:rPr lang="zh-CN" altLang="en-US" dirty="0"/>
              <a:t>线程清理处理函数的注册：</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a:t>void </a:t>
            </a:r>
            <a:r>
              <a:rPr lang="en-US" altLang="zh-CN" dirty="0" err="1"/>
              <a:t>pthread_cleanup_push</a:t>
            </a:r>
            <a:r>
              <a:rPr lang="en-US" altLang="zh-CN" dirty="0"/>
              <a:t>(void (*</a:t>
            </a:r>
            <a:r>
              <a:rPr lang="en-US" altLang="zh-CN" dirty="0" err="1"/>
              <a:t>rtn</a:t>
            </a:r>
            <a:r>
              <a:rPr lang="en-US" altLang="zh-CN" dirty="0"/>
              <a:t>)(void *),</a:t>
            </a:r>
            <a:r>
              <a:rPr lang="zh-CN" altLang="en-US" dirty="0"/>
              <a:t> </a:t>
            </a:r>
            <a:r>
              <a:rPr lang="en-US" altLang="zh-CN" dirty="0"/>
              <a:t>void *</a:t>
            </a:r>
            <a:r>
              <a:rPr lang="en-US" altLang="zh-CN" dirty="0" err="1"/>
              <a:t>arg</a:t>
            </a:r>
            <a:r>
              <a:rPr lang="en-US" altLang="zh-CN" dirty="0"/>
              <a:t>);</a:t>
            </a:r>
          </a:p>
          <a:p>
            <a:endParaRPr lang="zh-CN" altLang="en-US" dirty="0"/>
          </a:p>
        </p:txBody>
      </p:sp>
    </p:spTree>
    <p:extLst>
      <p:ext uri="{BB962C8B-B14F-4D97-AF65-F5344CB8AC3E}">
        <p14:creationId xmlns:p14="http://schemas.microsoft.com/office/powerpoint/2010/main" val="319658996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pthread_cleanup_push</a:t>
            </a:r>
            <a:r>
              <a:rPr lang="zh-CN" altLang="en-US" dirty="0"/>
              <a:t>函数</a:t>
            </a:r>
          </a:p>
        </p:txBody>
      </p:sp>
      <p:sp>
        <p:nvSpPr>
          <p:cNvPr id="3" name="内容占位符 2"/>
          <p:cNvSpPr>
            <a:spLocks noGrp="1"/>
          </p:cNvSpPr>
          <p:nvPr>
            <p:ph idx="1"/>
          </p:nvPr>
        </p:nvSpPr>
        <p:spPr/>
        <p:txBody>
          <a:bodyPr/>
          <a:lstStyle/>
          <a:p>
            <a:r>
              <a:rPr lang="zh-CN" altLang="en-US" dirty="0"/>
              <a:t>参数</a:t>
            </a:r>
          </a:p>
          <a:p>
            <a:pPr lvl="1"/>
            <a:r>
              <a:rPr lang="en-US" altLang="zh-CN" dirty="0" err="1"/>
              <a:t>rtn</a:t>
            </a:r>
            <a:r>
              <a:rPr lang="zh-CN" altLang="en-US" dirty="0"/>
              <a:t>：清理函数，无返回值，一个类型为指针的参数</a:t>
            </a:r>
          </a:p>
          <a:p>
            <a:pPr lvl="1"/>
            <a:r>
              <a:rPr lang="en-US" altLang="zh-CN" dirty="0" err="1"/>
              <a:t>arg</a:t>
            </a:r>
            <a:r>
              <a:rPr lang="zh-CN" altLang="en-US" dirty="0"/>
              <a:t>：当清理函数被调用时，</a:t>
            </a:r>
            <a:r>
              <a:rPr lang="en-US" altLang="zh-CN" dirty="0" err="1"/>
              <a:t>arg</a:t>
            </a:r>
            <a:r>
              <a:rPr lang="zh-CN" altLang="en-US" dirty="0"/>
              <a:t>将传递给清理函数</a:t>
            </a:r>
          </a:p>
          <a:p>
            <a:r>
              <a:rPr lang="zh-CN" altLang="en-US" dirty="0"/>
              <a:t>清理函数被调用的时机</a:t>
            </a:r>
          </a:p>
          <a:p>
            <a:pPr lvl="1"/>
            <a:r>
              <a:rPr lang="zh-CN" altLang="en-US" dirty="0"/>
              <a:t>调用</a:t>
            </a:r>
            <a:r>
              <a:rPr lang="en-US" altLang="zh-CN" dirty="0" err="1"/>
              <a:t>pthread_exit</a:t>
            </a:r>
            <a:r>
              <a:rPr lang="zh-CN" altLang="en-US" dirty="0"/>
              <a:t>时</a:t>
            </a:r>
          </a:p>
          <a:p>
            <a:pPr lvl="1"/>
            <a:r>
              <a:rPr lang="zh-CN" altLang="en-US" dirty="0"/>
              <a:t>响应取消请求时</a:t>
            </a:r>
          </a:p>
          <a:p>
            <a:pPr lvl="1"/>
            <a:r>
              <a:rPr lang="zh-CN" altLang="en-US" dirty="0"/>
              <a:t>以非</a:t>
            </a:r>
            <a:r>
              <a:rPr lang="en-US" altLang="zh-CN" dirty="0"/>
              <a:t>0</a:t>
            </a:r>
            <a:r>
              <a:rPr lang="zh-CN" altLang="en-US" dirty="0"/>
              <a:t>参数调用</a:t>
            </a:r>
            <a:r>
              <a:rPr lang="en-US" altLang="zh-CN" dirty="0" err="1"/>
              <a:t>pthread_cleanup_pop</a:t>
            </a:r>
            <a:r>
              <a:rPr lang="zh-CN" altLang="en-US" dirty="0"/>
              <a:t>时</a:t>
            </a:r>
          </a:p>
          <a:p>
            <a:endParaRPr lang="zh-CN" altLang="en-US" dirty="0"/>
          </a:p>
        </p:txBody>
      </p:sp>
    </p:spTree>
    <p:extLst>
      <p:ext uri="{BB962C8B-B14F-4D97-AF65-F5344CB8AC3E}">
        <p14:creationId xmlns:p14="http://schemas.microsoft.com/office/powerpoint/2010/main" val="217948599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线程清理函数</a:t>
            </a:r>
            <a:endParaRPr lang="zh-CN" altLang="en-US" dirty="0"/>
          </a:p>
        </p:txBody>
      </p:sp>
      <p:sp>
        <p:nvSpPr>
          <p:cNvPr id="3" name="内容占位符 2"/>
          <p:cNvSpPr>
            <a:spLocks noGrp="1"/>
          </p:cNvSpPr>
          <p:nvPr>
            <p:ph idx="1"/>
          </p:nvPr>
        </p:nvSpPr>
        <p:spPr/>
        <p:txBody>
          <a:bodyPr/>
          <a:lstStyle/>
          <a:p>
            <a:r>
              <a:rPr lang="en-US" altLang="zh-CN" dirty="0" err="1"/>
              <a:t>pthread_cleanup_push</a:t>
            </a:r>
            <a:r>
              <a:rPr lang="zh-CN" altLang="en-US" dirty="0"/>
              <a:t>必须和</a:t>
            </a:r>
            <a:r>
              <a:rPr lang="en-US" altLang="zh-CN" dirty="0" err="1"/>
              <a:t>pthread_cleanup_pop</a:t>
            </a:r>
            <a:r>
              <a:rPr lang="zh-CN" altLang="en-US" dirty="0"/>
              <a:t>成对出现，而且出现的地方必须在同一个作用域内</a:t>
            </a:r>
          </a:p>
          <a:p>
            <a:r>
              <a:rPr lang="zh-CN" altLang="en-US" dirty="0"/>
              <a:t>函数原型</a:t>
            </a:r>
          </a:p>
          <a:p>
            <a:pPr lvl="1"/>
            <a:r>
              <a:rPr lang="en-US" altLang="zh-CN" dirty="0"/>
              <a:t>#include&lt;</a:t>
            </a:r>
            <a:r>
              <a:rPr lang="en-US" altLang="zh-CN" dirty="0" err="1"/>
              <a:t>pthread.h</a:t>
            </a:r>
            <a:r>
              <a:rPr lang="en-US" altLang="zh-CN" dirty="0"/>
              <a:t>&gt;</a:t>
            </a:r>
          </a:p>
          <a:p>
            <a:pPr lvl="1"/>
            <a:r>
              <a:rPr lang="en-US" altLang="zh-CN" dirty="0"/>
              <a:t>void </a:t>
            </a:r>
            <a:r>
              <a:rPr lang="en-US" altLang="zh-CN" dirty="0" err="1"/>
              <a:t>pthread_cleanup_pop</a:t>
            </a:r>
            <a:r>
              <a:rPr lang="en-US" altLang="zh-CN" dirty="0"/>
              <a:t>(</a:t>
            </a:r>
            <a:r>
              <a:rPr lang="en-US" altLang="zh-CN" dirty="0" err="1"/>
              <a:t>int</a:t>
            </a:r>
            <a:r>
              <a:rPr lang="en-US" altLang="zh-CN" dirty="0"/>
              <a:t> execute);</a:t>
            </a:r>
          </a:p>
          <a:p>
            <a:endParaRPr lang="zh-CN" altLang="en-US" dirty="0"/>
          </a:p>
        </p:txBody>
      </p:sp>
    </p:spTree>
    <p:extLst>
      <p:ext uri="{BB962C8B-B14F-4D97-AF65-F5344CB8AC3E}">
        <p14:creationId xmlns:p14="http://schemas.microsoft.com/office/powerpoint/2010/main" val="271689393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pthread_detach</a:t>
            </a:r>
            <a:r>
              <a:rPr lang="zh-CN" altLang="en-US" dirty="0"/>
              <a:t>函数</a:t>
            </a:r>
          </a:p>
        </p:txBody>
      </p:sp>
      <p:sp>
        <p:nvSpPr>
          <p:cNvPr id="3" name="内容占位符 2"/>
          <p:cNvSpPr>
            <a:spLocks noGrp="1"/>
          </p:cNvSpPr>
          <p:nvPr>
            <p:ph idx="1"/>
          </p:nvPr>
        </p:nvSpPr>
        <p:spPr/>
        <p:txBody>
          <a:bodyPr>
            <a:normAutofit fontScale="85000" lnSpcReduction="20000"/>
          </a:bodyPr>
          <a:lstStyle/>
          <a:p>
            <a:r>
              <a:rPr lang="zh-CN" altLang="en-US" dirty="0"/>
              <a:t>在默认情况下，线程的终止状态会保存到对该线程调用</a:t>
            </a:r>
            <a:r>
              <a:rPr lang="en-US" altLang="zh-CN" dirty="0" err="1"/>
              <a:t>pthread_join</a:t>
            </a:r>
            <a:r>
              <a:rPr lang="zh-CN" altLang="en-US" dirty="0"/>
              <a:t>；</a:t>
            </a:r>
            <a:endParaRPr lang="en-US" altLang="zh-CN" dirty="0"/>
          </a:p>
          <a:p>
            <a:r>
              <a:rPr lang="en-US" altLang="zh-CN" dirty="0" err="1"/>
              <a:t>pthread_detach</a:t>
            </a:r>
            <a:r>
              <a:rPr lang="zh-CN" altLang="en-US" dirty="0"/>
              <a:t>函数可以使线程进入分离状态；</a:t>
            </a:r>
          </a:p>
          <a:p>
            <a:r>
              <a:rPr lang="zh-CN" altLang="en-US" dirty="0"/>
              <a:t>若线程已经处于分离状态，线程的底层存储资源可以在线程终止时立即被收回；</a:t>
            </a:r>
          </a:p>
          <a:p>
            <a:r>
              <a:rPr lang="zh-CN" altLang="en-US" dirty="0"/>
              <a:t>当线程被分离时，并不能用</a:t>
            </a:r>
            <a:r>
              <a:rPr lang="en-US" altLang="zh-CN" dirty="0" err="1"/>
              <a:t>pthread_join</a:t>
            </a:r>
            <a:r>
              <a:rPr lang="zh-CN" altLang="en-US" dirty="0"/>
              <a:t>函数等待它的终止状态，此时</a:t>
            </a:r>
            <a:r>
              <a:rPr lang="en-US" altLang="zh-CN" dirty="0" err="1"/>
              <a:t>pthread_join</a:t>
            </a:r>
            <a:r>
              <a:rPr lang="zh-CN" altLang="en-US" dirty="0"/>
              <a:t>返回</a:t>
            </a:r>
            <a:r>
              <a:rPr lang="en-US" altLang="zh-CN" dirty="0"/>
              <a:t>EINVAL</a:t>
            </a:r>
            <a:r>
              <a:rPr lang="zh-CN" altLang="en-US" dirty="0"/>
              <a:t>。</a:t>
            </a:r>
            <a:endParaRPr lang="en-US" altLang="zh-CN" dirty="0"/>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pthread_detach</a:t>
            </a:r>
            <a:r>
              <a:rPr lang="en-US" altLang="zh-CN" dirty="0"/>
              <a:t>(</a:t>
            </a:r>
            <a:r>
              <a:rPr lang="en-US" altLang="zh-CN" dirty="0" err="1"/>
              <a:t>pthread_t</a:t>
            </a:r>
            <a:r>
              <a:rPr lang="en-US" altLang="zh-CN" dirty="0"/>
              <a:t> </a:t>
            </a:r>
            <a:r>
              <a:rPr lang="en-US" altLang="zh-CN" dirty="0" err="1"/>
              <a:t>tid</a:t>
            </a:r>
            <a:r>
              <a:rPr lang="en-US" altLang="zh-CN" dirty="0"/>
              <a:t>);</a:t>
            </a:r>
          </a:p>
          <a:p>
            <a:r>
              <a:rPr lang="zh-CN" altLang="en-US" dirty="0"/>
              <a:t>参数与返回值</a:t>
            </a:r>
          </a:p>
          <a:p>
            <a:pPr lvl="1"/>
            <a:r>
              <a:rPr lang="en-US" altLang="zh-CN" dirty="0" err="1"/>
              <a:t>tid</a:t>
            </a:r>
            <a:r>
              <a:rPr lang="zh-CN" altLang="en-US" dirty="0"/>
              <a:t>：进入分离状态的线程的</a:t>
            </a:r>
            <a:r>
              <a:rPr lang="en-US" altLang="zh-CN" dirty="0"/>
              <a:t>ID</a:t>
            </a:r>
          </a:p>
          <a:p>
            <a:pPr lvl="1"/>
            <a:r>
              <a:rPr lang="zh-CN" altLang="en-US" dirty="0"/>
              <a:t>成功返回</a:t>
            </a:r>
            <a:r>
              <a:rPr lang="en-US" altLang="zh-CN" dirty="0"/>
              <a:t>0</a:t>
            </a:r>
            <a:r>
              <a:rPr lang="zh-CN" altLang="en-US" dirty="0"/>
              <a:t>，出错返回错误编号</a:t>
            </a:r>
          </a:p>
          <a:p>
            <a:endParaRPr lang="zh-CN" altLang="en-US" dirty="0"/>
          </a:p>
        </p:txBody>
      </p:sp>
    </p:spTree>
    <p:extLst>
      <p:ext uri="{BB962C8B-B14F-4D97-AF65-F5344CB8AC3E}">
        <p14:creationId xmlns:p14="http://schemas.microsoft.com/office/powerpoint/2010/main" val="4018299598"/>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线程同步的概念</a:t>
            </a:r>
            <a:endParaRPr lang="zh-CN" altLang="en-US" dirty="0"/>
          </a:p>
        </p:txBody>
      </p:sp>
      <p:sp>
        <p:nvSpPr>
          <p:cNvPr id="3" name="内容占位符 2"/>
          <p:cNvSpPr>
            <a:spLocks noGrp="1"/>
          </p:cNvSpPr>
          <p:nvPr>
            <p:ph idx="1"/>
          </p:nvPr>
        </p:nvSpPr>
        <p:spPr>
          <a:xfrm>
            <a:off x="600808" y="1174994"/>
            <a:ext cx="6381466" cy="4351338"/>
          </a:xfrm>
        </p:spPr>
        <p:txBody>
          <a:bodyPr/>
          <a:lstStyle/>
          <a:p>
            <a:r>
              <a:rPr lang="zh-CN" altLang="en-US" dirty="0"/>
              <a:t>为什么需要同步</a:t>
            </a:r>
          </a:p>
          <a:p>
            <a:pPr lvl="1"/>
            <a:r>
              <a:rPr lang="zh-CN" altLang="en-US" dirty="0"/>
              <a:t>对同一个存储单元，至少存在两个执行体，其一读该单元，另一写该单元，则需要同步，避免不一致性</a:t>
            </a:r>
          </a:p>
          <a:p>
            <a:pPr lvl="1"/>
            <a:r>
              <a:rPr lang="zh-CN" altLang="en-US" dirty="0"/>
              <a:t>在处理器架构中，对内存单元的修改，可能需要多个总线周期，因此读操作和写操作有可能交织在一起</a:t>
            </a:r>
          </a:p>
          <a:p>
            <a:r>
              <a:rPr lang="zh-CN" altLang="en-US" dirty="0"/>
              <a:t>假设读操作需要一个总线周期</a:t>
            </a:r>
          </a:p>
          <a:p>
            <a:r>
              <a:rPr lang="zh-CN" altLang="en-US" dirty="0"/>
              <a:t>写操作需要两个总线周期</a:t>
            </a:r>
          </a:p>
          <a:p>
            <a:r>
              <a:rPr lang="zh-CN" altLang="en-US" dirty="0"/>
              <a:t>线程</a:t>
            </a:r>
            <a:r>
              <a:rPr lang="en-US" altLang="zh-CN" dirty="0"/>
              <a:t>B</a:t>
            </a:r>
            <a:r>
              <a:rPr lang="zh-CN" altLang="en-US" dirty="0"/>
              <a:t>和线程</a:t>
            </a:r>
            <a:r>
              <a:rPr lang="en-US" altLang="zh-CN" dirty="0"/>
              <a:t>A</a:t>
            </a:r>
            <a:r>
              <a:rPr lang="zh-CN" altLang="en-US" dirty="0"/>
              <a:t>冲突</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6818" y="2160825"/>
            <a:ext cx="4579937"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12879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解决上述问题的方法</a:t>
            </a:r>
            <a:endParaRPr lang="zh-CN" altLang="en-US" dirty="0"/>
          </a:p>
        </p:txBody>
      </p:sp>
      <p:sp>
        <p:nvSpPr>
          <p:cNvPr id="3" name="内容占位符 2"/>
          <p:cNvSpPr>
            <a:spLocks noGrp="1"/>
          </p:cNvSpPr>
          <p:nvPr>
            <p:ph idx="1"/>
          </p:nvPr>
        </p:nvSpPr>
        <p:spPr>
          <a:xfrm>
            <a:off x="838200" y="1825625"/>
            <a:ext cx="5740021" cy="4351338"/>
          </a:xfrm>
        </p:spPr>
        <p:txBody>
          <a:bodyPr/>
          <a:lstStyle/>
          <a:p>
            <a:r>
              <a:rPr lang="zh-CN" altLang="zh-CN" dirty="0"/>
              <a:t>使用锁，以保证共享存储一次只能被一个线程访问</a:t>
            </a:r>
          </a:p>
          <a:p>
            <a:r>
              <a:rPr lang="zh-CN" altLang="zh-CN" dirty="0"/>
              <a:t>说明获取、释放锁的过程</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2414" y="1690688"/>
            <a:ext cx="3722688"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7219840"/>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线程同步的概念</a:t>
            </a:r>
            <a:endParaRPr lang="zh-CN" altLang="en-US" dirty="0"/>
          </a:p>
        </p:txBody>
      </p:sp>
      <p:sp>
        <p:nvSpPr>
          <p:cNvPr id="3" name="内容占位符 2"/>
          <p:cNvSpPr>
            <a:spLocks noGrp="1"/>
          </p:cNvSpPr>
          <p:nvPr>
            <p:ph idx="1"/>
          </p:nvPr>
        </p:nvSpPr>
        <p:spPr>
          <a:xfrm>
            <a:off x="838200" y="1825625"/>
            <a:ext cx="5548952" cy="4351338"/>
          </a:xfrm>
        </p:spPr>
        <p:txBody>
          <a:bodyPr/>
          <a:lstStyle/>
          <a:p>
            <a:r>
              <a:rPr lang="zh-CN" altLang="en-US" dirty="0"/>
              <a:t>通常，对一个存储单元的访问，要经历三个步骤</a:t>
            </a:r>
          </a:p>
          <a:p>
            <a:pPr lvl="1"/>
            <a:r>
              <a:rPr lang="zh-CN" altLang="en-US" dirty="0"/>
              <a:t>将内存单元中的数据，读入寄存器</a:t>
            </a:r>
          </a:p>
          <a:p>
            <a:pPr lvl="1"/>
            <a:r>
              <a:rPr lang="zh-CN" altLang="en-US" dirty="0"/>
              <a:t>对寄存器中的值进行运算</a:t>
            </a:r>
          </a:p>
          <a:p>
            <a:pPr lvl="1"/>
            <a:r>
              <a:rPr lang="zh-CN" altLang="en-US" dirty="0"/>
              <a:t>将寄存器中的值，写回内存单元</a:t>
            </a:r>
          </a:p>
          <a:p>
            <a:r>
              <a:rPr lang="zh-CN" altLang="en-US" dirty="0"/>
              <a:t>无锁时的情况</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5659" y="1690688"/>
            <a:ext cx="507682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0692357"/>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互斥量</a:t>
            </a:r>
            <a:endParaRPr lang="zh-CN" altLang="en-US" dirty="0"/>
          </a:p>
        </p:txBody>
      </p:sp>
      <p:sp>
        <p:nvSpPr>
          <p:cNvPr id="3" name="内容占位符 2"/>
          <p:cNvSpPr>
            <a:spLocks noGrp="1"/>
          </p:cNvSpPr>
          <p:nvPr>
            <p:ph idx="1"/>
          </p:nvPr>
        </p:nvSpPr>
        <p:spPr/>
        <p:txBody>
          <a:bodyPr/>
          <a:lstStyle/>
          <a:p>
            <a:r>
              <a:rPr lang="zh-CN" altLang="en-US" dirty="0"/>
              <a:t>可以通过使用</a:t>
            </a:r>
            <a:r>
              <a:rPr lang="en-US" altLang="zh-CN" dirty="0" err="1"/>
              <a:t>pthread</a:t>
            </a:r>
            <a:r>
              <a:rPr lang="zh-CN" altLang="en-US" dirty="0"/>
              <a:t>的互斥接口保护数据，确保同一时间里只有一个线程访问数据</a:t>
            </a:r>
          </a:p>
          <a:p>
            <a:r>
              <a:rPr lang="zh-CN" altLang="en-US" dirty="0"/>
              <a:t>互斥量</a:t>
            </a:r>
            <a:r>
              <a:rPr lang="en-US" altLang="zh-CN" dirty="0" err="1"/>
              <a:t>mutex</a:t>
            </a:r>
            <a:r>
              <a:rPr lang="zh-CN" altLang="en-US" dirty="0"/>
              <a:t>，本质上就是一把锁</a:t>
            </a:r>
          </a:p>
          <a:p>
            <a:pPr lvl="1"/>
            <a:r>
              <a:rPr lang="zh-CN" altLang="en-US" dirty="0"/>
              <a:t>在访问共享资源前，对互斥量进行加锁</a:t>
            </a:r>
          </a:p>
          <a:p>
            <a:pPr lvl="1"/>
            <a:r>
              <a:rPr lang="zh-CN" altLang="en-US" dirty="0"/>
              <a:t>在访问完成后释放互斥量上的锁</a:t>
            </a:r>
          </a:p>
          <a:p>
            <a:pPr lvl="1"/>
            <a:r>
              <a:rPr lang="zh-CN" altLang="en-US" dirty="0"/>
              <a:t>对互斥量进行加锁后，任何其他试图再次对互斥量加锁的线程将会被阻塞，直到锁被释放</a:t>
            </a:r>
          </a:p>
          <a:p>
            <a:endParaRPr lang="zh-CN" altLang="en-US" dirty="0"/>
          </a:p>
        </p:txBody>
      </p:sp>
    </p:spTree>
    <p:extLst>
      <p:ext uri="{BB962C8B-B14F-4D97-AF65-F5344CB8AC3E}">
        <p14:creationId xmlns:p14="http://schemas.microsoft.com/office/powerpoint/2010/main" val="934871072"/>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互斥量的初始化</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互斥量在使用前，必须要对互斥量进行初始化</a:t>
            </a:r>
          </a:p>
          <a:p>
            <a:r>
              <a:rPr lang="zh-CN" altLang="en-US" dirty="0"/>
              <a:t>函数原型</a:t>
            </a:r>
          </a:p>
          <a:p>
            <a:pPr lvl="1">
              <a:buNone/>
            </a:pPr>
            <a:r>
              <a:rPr lang="en-US" altLang="zh-CN" dirty="0"/>
              <a:t>#include&lt;</a:t>
            </a:r>
            <a:r>
              <a:rPr lang="en-US" altLang="zh-CN" dirty="0" err="1"/>
              <a:t>pthread.h</a:t>
            </a:r>
            <a:r>
              <a:rPr lang="en-US" altLang="zh-CN" dirty="0"/>
              <a:t>&gt;</a:t>
            </a:r>
          </a:p>
          <a:p>
            <a:pPr lvl="1">
              <a:buNone/>
            </a:pPr>
            <a:r>
              <a:rPr lang="en-US" altLang="zh-CN" dirty="0" err="1"/>
              <a:t>int</a:t>
            </a:r>
            <a:r>
              <a:rPr lang="en-US" altLang="zh-CN" dirty="0"/>
              <a:t> </a:t>
            </a:r>
            <a:r>
              <a:rPr lang="en-US" altLang="zh-CN" dirty="0" err="1"/>
              <a:t>pthread_mutex_init</a:t>
            </a:r>
            <a:r>
              <a:rPr lang="en-US" altLang="zh-CN" dirty="0"/>
              <a:t>(</a:t>
            </a:r>
            <a:r>
              <a:rPr lang="en-US" altLang="zh-CN" dirty="0" err="1"/>
              <a:t>pthread_mutex_t</a:t>
            </a:r>
            <a:r>
              <a:rPr lang="en-US" altLang="zh-CN" dirty="0"/>
              <a:t> *</a:t>
            </a:r>
            <a:r>
              <a:rPr lang="en-US" altLang="zh-CN" dirty="0" err="1"/>
              <a:t>mutex</a:t>
            </a:r>
            <a:r>
              <a:rPr lang="en-US" altLang="zh-CN" dirty="0"/>
              <a:t>,</a:t>
            </a:r>
          </a:p>
          <a:p>
            <a:pPr lvl="1">
              <a:buNone/>
            </a:pPr>
            <a:r>
              <a:rPr lang="en-US" altLang="zh-CN" dirty="0"/>
              <a:t>				</a:t>
            </a:r>
            <a:r>
              <a:rPr lang="en-US" altLang="zh-CN" dirty="0" err="1"/>
              <a:t>const</a:t>
            </a:r>
            <a:r>
              <a:rPr lang="en-US" altLang="zh-CN" dirty="0"/>
              <a:t> </a:t>
            </a:r>
            <a:r>
              <a:rPr lang="en-US" altLang="zh-CN" dirty="0" err="1"/>
              <a:t>pthread_mutexattr_t</a:t>
            </a:r>
            <a:r>
              <a:rPr lang="en-US" altLang="zh-CN" dirty="0"/>
              <a:t> *</a:t>
            </a:r>
            <a:r>
              <a:rPr lang="en-US" altLang="zh-CN" dirty="0" err="1"/>
              <a:t>attr</a:t>
            </a:r>
            <a:r>
              <a:rPr lang="en-US" altLang="zh-CN" dirty="0"/>
              <a:t>);</a:t>
            </a:r>
          </a:p>
          <a:p>
            <a:r>
              <a:rPr lang="zh-CN" altLang="en-US" dirty="0"/>
              <a:t>参数与返回值</a:t>
            </a:r>
          </a:p>
          <a:p>
            <a:pPr lvl="1"/>
            <a:r>
              <a:rPr lang="en-US" altLang="zh-CN" dirty="0" err="1"/>
              <a:t>mutex</a:t>
            </a:r>
            <a:r>
              <a:rPr lang="zh-CN" altLang="en-US" dirty="0"/>
              <a:t>：即互斥量，类型是</a:t>
            </a:r>
            <a:r>
              <a:rPr lang="en-US" altLang="zh-CN" dirty="0" err="1"/>
              <a:t>pthread_mutex_t</a:t>
            </a:r>
            <a:endParaRPr lang="en-US" altLang="zh-CN" dirty="0"/>
          </a:p>
          <a:p>
            <a:pPr lvl="1"/>
            <a:r>
              <a:rPr lang="zh-CN" altLang="en-US" dirty="0"/>
              <a:t>注意：</a:t>
            </a:r>
            <a:r>
              <a:rPr lang="en-US" altLang="zh-CN" dirty="0" err="1"/>
              <a:t>mutex</a:t>
            </a:r>
            <a:r>
              <a:rPr lang="zh-CN" altLang="en-US" dirty="0"/>
              <a:t>必须指向有效的内存区域</a:t>
            </a:r>
          </a:p>
          <a:p>
            <a:pPr lvl="1"/>
            <a:r>
              <a:rPr lang="en-US" altLang="zh-CN" dirty="0" err="1"/>
              <a:t>attr</a:t>
            </a:r>
            <a:r>
              <a:rPr lang="zh-CN" altLang="en-US" dirty="0"/>
              <a:t>：设置互斥量的属性，通常可采用默认属性，即可将</a:t>
            </a:r>
            <a:r>
              <a:rPr lang="en-US" altLang="zh-CN" dirty="0" err="1"/>
              <a:t>attr</a:t>
            </a:r>
            <a:r>
              <a:rPr lang="zh-CN" altLang="en-US" dirty="0"/>
              <a:t>设为</a:t>
            </a:r>
            <a:r>
              <a:rPr lang="en-US" altLang="zh-CN" dirty="0"/>
              <a:t>NULL</a:t>
            </a:r>
            <a:r>
              <a:rPr lang="zh-CN" altLang="en-US" dirty="0"/>
              <a:t>。后面再讨论互斥量的属性</a:t>
            </a:r>
          </a:p>
          <a:p>
            <a:pPr lvl="1"/>
            <a:r>
              <a:rPr lang="zh-CN" altLang="en-US" dirty="0"/>
              <a:t>成功返回</a:t>
            </a:r>
            <a:r>
              <a:rPr lang="en-US" altLang="zh-CN" dirty="0"/>
              <a:t>0</a:t>
            </a:r>
            <a:r>
              <a:rPr lang="zh-CN" altLang="en-US" dirty="0"/>
              <a:t>，出错返回错误码</a:t>
            </a:r>
          </a:p>
          <a:p>
            <a:endParaRPr lang="zh-CN" altLang="en-US" dirty="0"/>
          </a:p>
        </p:txBody>
      </p:sp>
    </p:spTree>
    <p:extLst>
      <p:ext uri="{BB962C8B-B14F-4D97-AF65-F5344CB8AC3E}">
        <p14:creationId xmlns:p14="http://schemas.microsoft.com/office/powerpoint/2010/main" val="279901145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互斥量的销毁</a:t>
            </a:r>
            <a:endParaRPr lang="zh-CN" altLang="en-US" dirty="0"/>
          </a:p>
        </p:txBody>
      </p:sp>
      <p:sp>
        <p:nvSpPr>
          <p:cNvPr id="3" name="内容占位符 2"/>
          <p:cNvSpPr>
            <a:spLocks noGrp="1"/>
          </p:cNvSpPr>
          <p:nvPr>
            <p:ph idx="1"/>
          </p:nvPr>
        </p:nvSpPr>
        <p:spPr/>
        <p:txBody>
          <a:bodyPr/>
          <a:lstStyle/>
          <a:p>
            <a:r>
              <a:rPr lang="zh-CN" altLang="en-US" dirty="0"/>
              <a:t>互斥量在使用完毕后，必须要对互斥量进行销毁，以释放资源</a:t>
            </a:r>
          </a:p>
          <a:p>
            <a:r>
              <a:rPr lang="zh-CN" altLang="en-US" dirty="0"/>
              <a:t>函数原型</a:t>
            </a:r>
          </a:p>
          <a:p>
            <a:pPr lvl="1">
              <a:buNone/>
            </a:pPr>
            <a:r>
              <a:rPr lang="en-US" altLang="zh-CN" dirty="0"/>
              <a:t>#include&lt;</a:t>
            </a:r>
            <a:r>
              <a:rPr lang="en-US" altLang="zh-CN" dirty="0" err="1"/>
              <a:t>pthread.h</a:t>
            </a:r>
            <a:r>
              <a:rPr lang="en-US" altLang="zh-CN" dirty="0"/>
              <a:t>&gt;</a:t>
            </a:r>
          </a:p>
          <a:p>
            <a:pPr lvl="1">
              <a:buNone/>
            </a:pPr>
            <a:r>
              <a:rPr lang="en-US" altLang="zh-CN" dirty="0" err="1"/>
              <a:t>int</a:t>
            </a:r>
            <a:r>
              <a:rPr lang="en-US" altLang="zh-CN" dirty="0"/>
              <a:t> </a:t>
            </a:r>
            <a:r>
              <a:rPr lang="en-US" altLang="zh-CN" dirty="0" err="1"/>
              <a:t>pthread_mutex_destroy</a:t>
            </a:r>
            <a:r>
              <a:rPr lang="en-US" altLang="zh-CN" dirty="0"/>
              <a:t>(</a:t>
            </a:r>
            <a:r>
              <a:rPr lang="en-US" altLang="zh-CN" dirty="0" err="1"/>
              <a:t>pthread_mutex_t</a:t>
            </a:r>
            <a:r>
              <a:rPr lang="en-US" altLang="zh-CN" dirty="0"/>
              <a:t> *</a:t>
            </a:r>
            <a:r>
              <a:rPr lang="en-US" altLang="zh-CN" dirty="0" err="1"/>
              <a:t>mutex</a:t>
            </a:r>
            <a:r>
              <a:rPr lang="en-US" altLang="zh-CN" dirty="0"/>
              <a:t>);</a:t>
            </a:r>
          </a:p>
          <a:p>
            <a:r>
              <a:rPr lang="zh-CN" altLang="en-US" dirty="0"/>
              <a:t>参数与返回值</a:t>
            </a:r>
          </a:p>
          <a:p>
            <a:pPr lvl="1"/>
            <a:r>
              <a:rPr lang="en-US" altLang="zh-CN" dirty="0" err="1"/>
              <a:t>mutex</a:t>
            </a:r>
            <a:r>
              <a:rPr lang="zh-CN" altLang="en-US" dirty="0"/>
              <a:t>：即互斥量</a:t>
            </a:r>
          </a:p>
          <a:p>
            <a:pPr lvl="1"/>
            <a:r>
              <a:rPr lang="zh-CN" altLang="en-US" dirty="0"/>
              <a:t>成功返回</a:t>
            </a:r>
            <a:r>
              <a:rPr lang="en-US" altLang="zh-CN" dirty="0"/>
              <a:t>0</a:t>
            </a:r>
            <a:r>
              <a:rPr lang="zh-CN" altLang="en-US" dirty="0"/>
              <a:t>，出错返回错误码</a:t>
            </a:r>
          </a:p>
          <a:p>
            <a:endParaRPr lang="zh-CN" altLang="en-US" dirty="0"/>
          </a:p>
        </p:txBody>
      </p:sp>
    </p:spTree>
    <p:extLst>
      <p:ext uri="{BB962C8B-B14F-4D97-AF65-F5344CB8AC3E}">
        <p14:creationId xmlns:p14="http://schemas.microsoft.com/office/powerpoint/2010/main" val="372478866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互斥量的加锁和解锁操作</a:t>
            </a:r>
            <a:endParaRPr lang="zh-CN" altLang="en-US" dirty="0"/>
          </a:p>
        </p:txBody>
      </p:sp>
      <p:sp>
        <p:nvSpPr>
          <p:cNvPr id="3" name="内容占位符 2"/>
          <p:cNvSpPr>
            <a:spLocks noGrp="1"/>
          </p:cNvSpPr>
          <p:nvPr>
            <p:ph idx="1"/>
          </p:nvPr>
        </p:nvSpPr>
        <p:spPr/>
        <p:txBody>
          <a:bodyPr/>
          <a:lstStyle/>
          <a:p>
            <a:r>
              <a:rPr lang="zh-CN" altLang="en-US" dirty="0"/>
              <a:t>在对共享资源访问之前和访问之后，需要对互斥量进行加锁和解锁操作</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pthread_mutex_lock</a:t>
            </a:r>
            <a:r>
              <a:rPr lang="en-US" altLang="zh-CN" dirty="0"/>
              <a:t>(</a:t>
            </a:r>
            <a:r>
              <a:rPr lang="en-US" altLang="zh-CN" dirty="0" err="1"/>
              <a:t>pthread_mutex_t</a:t>
            </a:r>
            <a:r>
              <a:rPr lang="en-US" altLang="zh-CN" dirty="0"/>
              <a:t> *</a:t>
            </a:r>
            <a:r>
              <a:rPr lang="en-US" altLang="zh-CN" dirty="0" err="1"/>
              <a:t>mutex</a:t>
            </a:r>
            <a:r>
              <a:rPr lang="en-US" altLang="zh-CN" dirty="0"/>
              <a:t>);</a:t>
            </a:r>
          </a:p>
          <a:p>
            <a:pPr lvl="1">
              <a:buFont typeface="Wingdings" panose="05000000000000000000" pitchFamily="2" charset="2"/>
              <a:buNone/>
            </a:pPr>
            <a:r>
              <a:rPr lang="zh-CN" altLang="en-US" dirty="0"/>
              <a:t>i</a:t>
            </a:r>
            <a:r>
              <a:rPr lang="en-US" altLang="zh-CN" dirty="0" err="1"/>
              <a:t>nt</a:t>
            </a:r>
            <a:r>
              <a:rPr lang="en-US" altLang="zh-CN" dirty="0"/>
              <a:t> </a:t>
            </a:r>
            <a:r>
              <a:rPr lang="en-US" altLang="zh-CN" dirty="0" err="1"/>
              <a:t>pthread_mutex_unlock</a:t>
            </a:r>
            <a:r>
              <a:rPr lang="en-US" altLang="zh-CN" dirty="0"/>
              <a:t>(</a:t>
            </a:r>
            <a:r>
              <a:rPr lang="en-US" altLang="zh-CN" dirty="0" err="1"/>
              <a:t>pthread_mutex_t</a:t>
            </a:r>
            <a:r>
              <a:rPr lang="en-US" altLang="zh-CN" dirty="0"/>
              <a:t> *</a:t>
            </a:r>
            <a:r>
              <a:rPr lang="en-US" altLang="zh-CN" dirty="0" err="1"/>
              <a:t>mutex</a:t>
            </a:r>
            <a:r>
              <a:rPr lang="en-US" altLang="zh-CN" dirty="0"/>
              <a:t>);</a:t>
            </a:r>
          </a:p>
          <a:p>
            <a:endParaRPr lang="zh-CN" altLang="en-US" dirty="0"/>
          </a:p>
        </p:txBody>
      </p:sp>
    </p:spTree>
    <p:extLst>
      <p:ext uri="{BB962C8B-B14F-4D97-AF65-F5344CB8AC3E}">
        <p14:creationId xmlns:p14="http://schemas.microsoft.com/office/powerpoint/2010/main" val="32494953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尝试锁</a:t>
            </a:r>
            <a:endParaRPr lang="zh-CN" altLang="en-US" dirty="0"/>
          </a:p>
        </p:txBody>
      </p:sp>
      <p:sp>
        <p:nvSpPr>
          <p:cNvPr id="3" name="内容占位符 2"/>
          <p:cNvSpPr>
            <a:spLocks noGrp="1"/>
          </p:cNvSpPr>
          <p:nvPr>
            <p:ph idx="1"/>
          </p:nvPr>
        </p:nvSpPr>
        <p:spPr/>
        <p:txBody>
          <a:bodyPr/>
          <a:lstStyle/>
          <a:p>
            <a:r>
              <a:rPr lang="zh-CN" altLang="en-US" dirty="0"/>
              <a:t>当使用</a:t>
            </a:r>
            <a:r>
              <a:rPr lang="en-US" altLang="zh-CN" dirty="0" err="1"/>
              <a:t>pthread_mutex_lock</a:t>
            </a:r>
            <a:r>
              <a:rPr lang="zh-CN" altLang="en-US" dirty="0"/>
              <a:t>时，若已被加锁，则调用线程将被阻塞。有没有办法让线程不阻塞，即实现非阻塞的语义</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pthread_mutex_trylock</a:t>
            </a:r>
            <a:r>
              <a:rPr lang="en-US" altLang="zh-CN" dirty="0"/>
              <a:t>(</a:t>
            </a:r>
            <a:r>
              <a:rPr lang="en-US" altLang="zh-CN" dirty="0" err="1"/>
              <a:t>pthread_mutex_t</a:t>
            </a:r>
            <a:r>
              <a:rPr lang="en-US" altLang="zh-CN" dirty="0"/>
              <a:t> *</a:t>
            </a:r>
            <a:r>
              <a:rPr lang="en-US" altLang="zh-CN" dirty="0" err="1"/>
              <a:t>mutex</a:t>
            </a:r>
            <a:r>
              <a:rPr lang="en-US" altLang="zh-CN" dirty="0"/>
              <a:t>);</a:t>
            </a:r>
          </a:p>
          <a:p>
            <a:r>
              <a:rPr lang="zh-CN" altLang="en-US" dirty="0"/>
              <a:t>调用该函数时，若互斥量未加锁，则锁住该互斥量，返回</a:t>
            </a:r>
            <a:r>
              <a:rPr lang="en-US" altLang="zh-CN" dirty="0"/>
              <a:t>0</a:t>
            </a:r>
            <a:r>
              <a:rPr lang="zh-CN" altLang="en-US" dirty="0"/>
              <a:t>；若互斥量已加锁，则函数直接返回失败，即</a:t>
            </a:r>
            <a:r>
              <a:rPr lang="en-US" altLang="zh-CN" dirty="0"/>
              <a:t>EBUSY</a:t>
            </a:r>
          </a:p>
          <a:p>
            <a:endParaRPr lang="zh-CN" altLang="en-US" dirty="0"/>
          </a:p>
        </p:txBody>
      </p:sp>
    </p:spTree>
    <p:extLst>
      <p:ext uri="{BB962C8B-B14F-4D97-AF65-F5344CB8AC3E}">
        <p14:creationId xmlns:p14="http://schemas.microsoft.com/office/powerpoint/2010/main" val="9071237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互斥量的操作顺序</a:t>
            </a:r>
            <a:endParaRPr lang="zh-CN" altLang="en-US" dirty="0"/>
          </a:p>
        </p:txBody>
      </p:sp>
      <p:sp>
        <p:nvSpPr>
          <p:cNvPr id="3" name="内容占位符 2"/>
          <p:cNvSpPr>
            <a:spLocks noGrp="1"/>
          </p:cNvSpPr>
          <p:nvPr>
            <p:ph idx="1"/>
          </p:nvPr>
        </p:nvSpPr>
        <p:spPr/>
        <p:txBody>
          <a:bodyPr/>
          <a:lstStyle/>
          <a:p>
            <a:r>
              <a:rPr lang="zh-CN" altLang="en-US" dirty="0"/>
              <a:t>定义一个互斥量</a:t>
            </a:r>
            <a:r>
              <a:rPr lang="en-US" altLang="zh-CN" dirty="0" err="1"/>
              <a:t>pthread_mutex_t</a:t>
            </a:r>
            <a:endParaRPr lang="en-US" altLang="zh-CN" dirty="0"/>
          </a:p>
          <a:p>
            <a:r>
              <a:rPr lang="zh-CN" altLang="en-US" dirty="0"/>
              <a:t>调用</a:t>
            </a:r>
            <a:r>
              <a:rPr lang="en-US" altLang="zh-CN" dirty="0" err="1"/>
              <a:t>pthread_mutex_init</a:t>
            </a:r>
            <a:r>
              <a:rPr lang="zh-CN" altLang="en-US" dirty="0"/>
              <a:t>初始化互斥量</a:t>
            </a:r>
          </a:p>
          <a:p>
            <a:r>
              <a:rPr lang="zh-CN" altLang="en-US" dirty="0"/>
              <a:t>调用</a:t>
            </a:r>
            <a:r>
              <a:rPr lang="en-US" altLang="zh-CN" dirty="0" err="1"/>
              <a:t>pthread_mutex_lock</a:t>
            </a:r>
            <a:r>
              <a:rPr lang="zh-CN" altLang="en-US" dirty="0"/>
              <a:t>或者</a:t>
            </a:r>
            <a:r>
              <a:rPr lang="en-US" altLang="zh-CN" dirty="0" err="1"/>
              <a:t>pthread_mutex_tryplock</a:t>
            </a:r>
            <a:r>
              <a:rPr lang="zh-CN" altLang="en-US" dirty="0"/>
              <a:t>对互斥量进行加锁操作</a:t>
            </a:r>
          </a:p>
          <a:p>
            <a:r>
              <a:rPr lang="zh-CN" altLang="en-US" dirty="0"/>
              <a:t>调用</a:t>
            </a:r>
            <a:r>
              <a:rPr lang="en-US" altLang="zh-CN" dirty="0" err="1"/>
              <a:t>pthread_mutex_unlock</a:t>
            </a:r>
            <a:r>
              <a:rPr lang="zh-CN" altLang="en-US" dirty="0"/>
              <a:t>对互斥量解锁</a:t>
            </a:r>
          </a:p>
          <a:p>
            <a:r>
              <a:rPr lang="zh-CN" altLang="en-US" dirty="0"/>
              <a:t>调用</a:t>
            </a:r>
            <a:r>
              <a:rPr lang="en-US" altLang="zh-CN" dirty="0" err="1"/>
              <a:t>pthread_mutex_destroy</a:t>
            </a:r>
            <a:r>
              <a:rPr lang="zh-CN" altLang="en-US" dirty="0"/>
              <a:t>销毁互斥量</a:t>
            </a:r>
          </a:p>
          <a:p>
            <a:endParaRPr lang="zh-CN" altLang="en-US" dirty="0"/>
          </a:p>
        </p:txBody>
      </p:sp>
    </p:spTree>
    <p:extLst>
      <p:ext uri="{BB962C8B-B14F-4D97-AF65-F5344CB8AC3E}">
        <p14:creationId xmlns:p14="http://schemas.microsoft.com/office/powerpoint/2010/main" val="364824863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死锁</a:t>
            </a:r>
            <a:endParaRPr lang="zh-CN" altLang="en-US" dirty="0"/>
          </a:p>
        </p:txBody>
      </p:sp>
      <p:sp>
        <p:nvSpPr>
          <p:cNvPr id="3" name="内容占位符 2"/>
          <p:cNvSpPr>
            <a:spLocks noGrp="1"/>
          </p:cNvSpPr>
          <p:nvPr>
            <p:ph idx="1"/>
          </p:nvPr>
        </p:nvSpPr>
        <p:spPr/>
        <p:txBody>
          <a:bodyPr/>
          <a:lstStyle/>
          <a:p>
            <a:r>
              <a:rPr lang="zh-CN" altLang="en-US" dirty="0"/>
              <a:t>若线程试图对同一个互斥量加锁两次，那么它自身就会陷入死锁状态</a:t>
            </a:r>
          </a:p>
          <a:p>
            <a:pPr lvl="1"/>
            <a:endParaRPr lang="zh-CN" altLang="en-US" dirty="0"/>
          </a:p>
          <a:p>
            <a:r>
              <a:rPr lang="zh-CN" altLang="en-US" dirty="0"/>
              <a:t>多个互斥量时，可能出现死锁</a:t>
            </a:r>
          </a:p>
          <a:p>
            <a:pPr lvl="1"/>
            <a:r>
              <a:rPr lang="zh-CN" altLang="en-US" dirty="0"/>
              <a:t>一个线程锁住互斥量</a:t>
            </a:r>
            <a:r>
              <a:rPr lang="en-US" altLang="zh-CN" dirty="0"/>
              <a:t>A</a:t>
            </a:r>
            <a:r>
              <a:rPr lang="zh-CN" altLang="en-US" dirty="0"/>
              <a:t>，等等待互斥量</a:t>
            </a:r>
            <a:r>
              <a:rPr lang="en-US" altLang="zh-CN" dirty="0"/>
              <a:t>B</a:t>
            </a:r>
            <a:r>
              <a:rPr lang="zh-CN" altLang="en-US" dirty="0"/>
              <a:t>解锁</a:t>
            </a:r>
          </a:p>
          <a:p>
            <a:pPr lvl="1"/>
            <a:r>
              <a:rPr lang="zh-CN" altLang="en-US" dirty="0"/>
              <a:t>另一个线程锁住</a:t>
            </a:r>
            <a:r>
              <a:rPr lang="en-US" altLang="zh-CN" dirty="0"/>
              <a:t>B</a:t>
            </a:r>
            <a:r>
              <a:rPr lang="zh-CN" altLang="en-US" dirty="0"/>
              <a:t>，而等待</a:t>
            </a:r>
            <a:r>
              <a:rPr lang="en-US" altLang="zh-CN" dirty="0"/>
              <a:t>A</a:t>
            </a:r>
          </a:p>
          <a:p>
            <a:pPr lvl="1"/>
            <a:r>
              <a:rPr lang="zh-CN" altLang="en-US" dirty="0"/>
              <a:t>避免方法：</a:t>
            </a:r>
          </a:p>
          <a:p>
            <a:pPr lvl="2"/>
            <a:r>
              <a:rPr lang="zh-CN" altLang="en-US" sz="1800" dirty="0"/>
              <a:t>按照固定的顺序对互斥量进行加锁操作，如先锁</a:t>
            </a:r>
            <a:r>
              <a:rPr lang="en-US" altLang="zh-CN" sz="1800" dirty="0"/>
              <a:t>A</a:t>
            </a:r>
            <a:r>
              <a:rPr lang="zh-CN" altLang="en-US" sz="1800" dirty="0"/>
              <a:t>，再锁</a:t>
            </a:r>
            <a:r>
              <a:rPr lang="en-US" altLang="zh-CN" sz="1800" dirty="0"/>
              <a:t>B</a:t>
            </a:r>
          </a:p>
          <a:p>
            <a:pPr lvl="2"/>
            <a:r>
              <a:rPr lang="zh-CN" altLang="en-US" sz="1800" dirty="0"/>
              <a:t>当对互斥量加锁顺序的控制很困难时，可以先使用</a:t>
            </a:r>
            <a:r>
              <a:rPr lang="en-US" altLang="zh-CN" sz="1800" dirty="0" err="1"/>
              <a:t>pthread_mutex_trylock</a:t>
            </a:r>
            <a:r>
              <a:rPr lang="zh-CN" altLang="en-US" sz="1800" dirty="0"/>
              <a:t>，若不能获取锁，可释放已占有的锁</a:t>
            </a:r>
          </a:p>
          <a:p>
            <a:pPr lvl="1"/>
            <a:endParaRPr lang="zh-CN" altLang="en-US" sz="1800" dirty="0"/>
          </a:p>
          <a:p>
            <a:endParaRPr lang="zh-CN" altLang="en-US" dirty="0"/>
          </a:p>
        </p:txBody>
      </p:sp>
    </p:spTree>
    <p:extLst>
      <p:ext uri="{BB962C8B-B14F-4D97-AF65-F5344CB8AC3E}">
        <p14:creationId xmlns:p14="http://schemas.microsoft.com/office/powerpoint/2010/main" val="340265866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读写锁</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读写锁与互斥量类似，不过读写锁允许更高的并行性</a:t>
            </a:r>
          </a:p>
          <a:p>
            <a:r>
              <a:rPr lang="zh-CN" altLang="en-US" dirty="0"/>
              <a:t>互斥量只有两种状态：锁住、不加锁</a:t>
            </a:r>
          </a:p>
          <a:p>
            <a:r>
              <a:rPr lang="zh-CN" altLang="en-US" dirty="0"/>
              <a:t>读写锁三种状态</a:t>
            </a:r>
          </a:p>
          <a:p>
            <a:pPr lvl="1"/>
            <a:r>
              <a:rPr lang="zh-CN" altLang="en-US" dirty="0"/>
              <a:t>读模式下加锁状态</a:t>
            </a:r>
          </a:p>
          <a:p>
            <a:pPr lvl="1"/>
            <a:r>
              <a:rPr lang="zh-CN" altLang="en-US" dirty="0"/>
              <a:t>写模式下加锁状态</a:t>
            </a:r>
          </a:p>
          <a:p>
            <a:pPr lvl="1"/>
            <a:r>
              <a:rPr lang="zh-CN" altLang="en-US" dirty="0"/>
              <a:t>不加锁状态</a:t>
            </a:r>
          </a:p>
          <a:p>
            <a:r>
              <a:rPr lang="zh-CN" altLang="en-US" dirty="0"/>
              <a:t>一次只有一个线程可以占有写模式的读写锁、但多个线程可以同时占用读模式的读写锁</a:t>
            </a:r>
          </a:p>
          <a:p>
            <a:r>
              <a:rPr lang="zh-CN" altLang="zh-CN" dirty="0"/>
              <a:t>当读写锁是写加锁状态时，解锁之前，所有试图对这个锁加锁的线程都会被阻塞</a:t>
            </a:r>
          </a:p>
          <a:p>
            <a:r>
              <a:rPr lang="zh-CN" altLang="zh-CN" dirty="0"/>
              <a:t>当读写锁是读加锁状态时，所有试图以读模式对它进行加锁的线程，都可以得到访问权，但以写模式进行加锁时，它必须阻塞直到所有的线程释放读锁</a:t>
            </a:r>
          </a:p>
          <a:p>
            <a:endParaRPr lang="zh-CN" altLang="en-US" dirty="0"/>
          </a:p>
        </p:txBody>
      </p:sp>
    </p:spTree>
    <p:extLst>
      <p:ext uri="{BB962C8B-B14F-4D97-AF65-F5344CB8AC3E}">
        <p14:creationId xmlns:p14="http://schemas.microsoft.com/office/powerpoint/2010/main" val="317092885"/>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读写锁</a:t>
            </a:r>
            <a:r>
              <a:rPr lang="en-US" altLang="zh-CN" dirty="0"/>
              <a:t>API</a:t>
            </a:r>
            <a:endParaRPr lang="zh-CN" altLang="en-US" dirty="0"/>
          </a:p>
        </p:txBody>
      </p:sp>
      <p:sp>
        <p:nvSpPr>
          <p:cNvPr id="3" name="内容占位符 2"/>
          <p:cNvSpPr>
            <a:spLocks noGrp="1"/>
          </p:cNvSpPr>
          <p:nvPr>
            <p:ph idx="1"/>
          </p:nvPr>
        </p:nvSpPr>
        <p:spPr>
          <a:xfrm>
            <a:off x="592015" y="994628"/>
            <a:ext cx="10972800" cy="4857750"/>
          </a:xfrm>
        </p:spPr>
        <p:txBody>
          <a:bodyPr/>
          <a:lstStyle/>
          <a:p>
            <a:r>
              <a:rPr lang="zh-CN" altLang="en-US" dirty="0"/>
              <a:t>与互斥量一样，读写锁在使用之前，必须要初始化；使用之后，必须要销毁</a:t>
            </a:r>
          </a:p>
          <a:p>
            <a:r>
              <a:rPr lang="zh-CN" altLang="en-US" dirty="0"/>
              <a:t>函数原型</a:t>
            </a:r>
          </a:p>
          <a:p>
            <a:pPr lvl="1">
              <a:buFont typeface="Wingdings" panose="05000000000000000000" pitchFamily="2" charset="2"/>
              <a:buNone/>
            </a:pPr>
            <a:r>
              <a:rPr lang="en-US" altLang="zh-CN" dirty="0" err="1"/>
              <a:t>int</a:t>
            </a:r>
            <a:r>
              <a:rPr lang="en-US" altLang="zh-CN" dirty="0"/>
              <a:t> </a:t>
            </a:r>
            <a:r>
              <a:rPr lang="en-US" altLang="zh-CN" dirty="0" err="1"/>
              <a:t>pthread_rwlock_init</a:t>
            </a:r>
            <a:r>
              <a:rPr lang="en-US" altLang="zh-CN" dirty="0"/>
              <a:t>(</a:t>
            </a:r>
            <a:r>
              <a:rPr lang="en-US" altLang="zh-CN" dirty="0" err="1"/>
              <a:t>pthread_rwlock_t</a:t>
            </a:r>
            <a:r>
              <a:rPr lang="en-US" altLang="zh-CN" dirty="0"/>
              <a:t> *</a:t>
            </a:r>
            <a:r>
              <a:rPr lang="en-US" altLang="zh-CN" dirty="0" err="1"/>
              <a:t>rwlock</a:t>
            </a:r>
            <a:r>
              <a:rPr lang="en-US" altLang="zh-CN" dirty="0"/>
              <a:t>, </a:t>
            </a:r>
            <a:r>
              <a:rPr lang="en-US" altLang="zh-CN" dirty="0" err="1"/>
              <a:t>const</a:t>
            </a:r>
            <a:r>
              <a:rPr lang="en-US" altLang="zh-CN" dirty="0"/>
              <a:t> </a:t>
            </a:r>
            <a:r>
              <a:rPr lang="en-US" altLang="zh-CN" dirty="0" err="1"/>
              <a:t>pthread_rwlockattr_t</a:t>
            </a:r>
            <a:r>
              <a:rPr lang="en-US" altLang="zh-CN" dirty="0"/>
              <a:t> *</a:t>
            </a:r>
            <a:r>
              <a:rPr lang="en-US" altLang="zh-CN" dirty="0" err="1"/>
              <a:t>attr</a:t>
            </a:r>
            <a:r>
              <a:rPr lang="en-US" altLang="zh-CN" dirty="0"/>
              <a:t>);</a:t>
            </a:r>
          </a:p>
          <a:p>
            <a:pPr lvl="1">
              <a:buFont typeface="Wingdings" panose="05000000000000000000" pitchFamily="2" charset="2"/>
              <a:buNone/>
            </a:pPr>
            <a:r>
              <a:rPr lang="en-US" altLang="zh-CN" dirty="0" err="1"/>
              <a:t>int</a:t>
            </a:r>
            <a:r>
              <a:rPr lang="en-US" altLang="zh-CN" dirty="0"/>
              <a:t> </a:t>
            </a:r>
            <a:r>
              <a:rPr lang="en-US" altLang="zh-CN" dirty="0" err="1"/>
              <a:t>pthread_rwlock_destroy</a:t>
            </a:r>
            <a:r>
              <a:rPr lang="en-US" altLang="zh-CN" dirty="0"/>
              <a:t>(</a:t>
            </a:r>
            <a:r>
              <a:rPr lang="en-US" altLang="zh-CN" dirty="0" err="1"/>
              <a:t>pthread_rwlock_t</a:t>
            </a:r>
            <a:r>
              <a:rPr lang="en-US" altLang="zh-CN" dirty="0"/>
              <a:t> *</a:t>
            </a:r>
            <a:r>
              <a:rPr lang="en-US" altLang="zh-CN" dirty="0" err="1"/>
              <a:t>rwlock</a:t>
            </a:r>
            <a:r>
              <a:rPr lang="en-US" altLang="zh-CN" dirty="0"/>
              <a:t>);</a:t>
            </a:r>
          </a:p>
          <a:p>
            <a:r>
              <a:rPr lang="zh-CN" altLang="en-US" dirty="0"/>
              <a:t>参数</a:t>
            </a:r>
          </a:p>
          <a:p>
            <a:pPr lvl="1"/>
            <a:r>
              <a:rPr lang="en-US" altLang="zh-CN" dirty="0" err="1"/>
              <a:t>rwlock</a:t>
            </a:r>
            <a:r>
              <a:rPr lang="zh-CN" altLang="en-US" dirty="0"/>
              <a:t>：读写锁 </a:t>
            </a:r>
          </a:p>
          <a:p>
            <a:pPr lvl="1"/>
            <a:r>
              <a:rPr lang="en-US" altLang="zh-CN" dirty="0" err="1"/>
              <a:t>attr</a:t>
            </a:r>
            <a:r>
              <a:rPr lang="zh-CN" altLang="en-US" dirty="0"/>
              <a:t>：读写锁属性，若用默认属性，可设置为</a:t>
            </a:r>
            <a:r>
              <a:rPr lang="en-US" altLang="zh-CN" dirty="0"/>
              <a:t>NULL</a:t>
            </a:r>
            <a:r>
              <a:rPr lang="zh-CN" altLang="en-US" dirty="0"/>
              <a:t>。将在后面讨论相关属性</a:t>
            </a:r>
          </a:p>
          <a:p>
            <a:endParaRPr lang="zh-CN" altLang="en-US" dirty="0"/>
          </a:p>
        </p:txBody>
      </p:sp>
    </p:spTree>
    <p:extLst>
      <p:ext uri="{BB962C8B-B14F-4D97-AF65-F5344CB8AC3E}">
        <p14:creationId xmlns:p14="http://schemas.microsoft.com/office/powerpoint/2010/main" val="120643397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pthread_rwlock_rdlock</a:t>
            </a:r>
            <a:r>
              <a:rPr lang="zh-CN" altLang="en-US" dirty="0"/>
              <a:t>函数</a:t>
            </a:r>
          </a:p>
        </p:txBody>
      </p:sp>
      <p:sp>
        <p:nvSpPr>
          <p:cNvPr id="3" name="内容占位符 2"/>
          <p:cNvSpPr>
            <a:spLocks noGrp="1"/>
          </p:cNvSpPr>
          <p:nvPr>
            <p:ph idx="1"/>
          </p:nvPr>
        </p:nvSpPr>
        <p:spPr/>
        <p:txBody>
          <a:bodyPr/>
          <a:lstStyle/>
          <a:p>
            <a:r>
              <a:rPr lang="zh-CN" altLang="en-US" dirty="0"/>
              <a:t>该函数用于锁定读锁</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pthread_rwlock_rdlock</a:t>
            </a:r>
            <a:r>
              <a:rPr lang="en-US" altLang="zh-CN" dirty="0"/>
              <a:t>(</a:t>
            </a:r>
            <a:r>
              <a:rPr lang="en-US" altLang="zh-CN" dirty="0" err="1"/>
              <a:t>pthread_rwlock_t</a:t>
            </a:r>
            <a:r>
              <a:rPr lang="en-US" altLang="zh-CN" dirty="0"/>
              <a:t> *</a:t>
            </a:r>
            <a:r>
              <a:rPr lang="en-US" altLang="zh-CN" dirty="0" err="1"/>
              <a:t>rwlock</a:t>
            </a:r>
            <a:r>
              <a:rPr lang="en-US" altLang="zh-CN" dirty="0"/>
              <a:t>);</a:t>
            </a:r>
          </a:p>
          <a:p>
            <a:r>
              <a:rPr lang="zh-CN" altLang="en-US" dirty="0"/>
              <a:t>参数与返回值</a:t>
            </a:r>
          </a:p>
          <a:p>
            <a:pPr lvl="1"/>
            <a:r>
              <a:rPr lang="en-US" altLang="zh-CN" dirty="0" err="1"/>
              <a:t>rwlock</a:t>
            </a:r>
            <a:r>
              <a:rPr lang="zh-CN" altLang="en-US" dirty="0"/>
              <a:t>：读写锁</a:t>
            </a:r>
          </a:p>
          <a:p>
            <a:pPr lvl="1"/>
            <a:r>
              <a:rPr lang="zh-CN" altLang="en-US" dirty="0"/>
              <a:t>成功返回</a:t>
            </a:r>
            <a:r>
              <a:rPr lang="en-US" altLang="zh-CN" dirty="0"/>
              <a:t>0</a:t>
            </a:r>
            <a:r>
              <a:rPr lang="zh-CN" altLang="en-US" dirty="0"/>
              <a:t>，否则返回错误编号</a:t>
            </a:r>
          </a:p>
          <a:p>
            <a:endParaRPr lang="zh-CN" altLang="en-US" dirty="0"/>
          </a:p>
        </p:txBody>
      </p:sp>
    </p:spTree>
    <p:extLst>
      <p:ext uri="{BB962C8B-B14F-4D97-AF65-F5344CB8AC3E}">
        <p14:creationId xmlns:p14="http://schemas.microsoft.com/office/powerpoint/2010/main" val="2564512028"/>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pthread_rwlock_wrlock</a:t>
            </a:r>
            <a:r>
              <a:rPr lang="zh-CN" altLang="en-US" dirty="0"/>
              <a:t>函数</a:t>
            </a:r>
          </a:p>
        </p:txBody>
      </p:sp>
      <p:sp>
        <p:nvSpPr>
          <p:cNvPr id="3" name="内容占位符 2"/>
          <p:cNvSpPr>
            <a:spLocks noGrp="1"/>
          </p:cNvSpPr>
          <p:nvPr>
            <p:ph idx="1"/>
          </p:nvPr>
        </p:nvSpPr>
        <p:spPr/>
        <p:txBody>
          <a:bodyPr/>
          <a:lstStyle/>
          <a:p>
            <a:r>
              <a:rPr lang="zh-CN" altLang="en-US" dirty="0"/>
              <a:t>该函数用于锁定写锁</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pthread_rwlock_wrlock</a:t>
            </a:r>
            <a:r>
              <a:rPr lang="en-US" altLang="zh-CN" dirty="0"/>
              <a:t>(</a:t>
            </a:r>
            <a:r>
              <a:rPr lang="en-US" altLang="zh-CN" dirty="0" err="1"/>
              <a:t>pthread_rwlock_t</a:t>
            </a:r>
            <a:r>
              <a:rPr lang="en-US" altLang="zh-CN" dirty="0"/>
              <a:t> *</a:t>
            </a:r>
            <a:r>
              <a:rPr lang="en-US" altLang="zh-CN" dirty="0" err="1"/>
              <a:t>rwlock</a:t>
            </a:r>
            <a:r>
              <a:rPr lang="en-US" altLang="zh-CN" dirty="0"/>
              <a:t>);</a:t>
            </a:r>
          </a:p>
          <a:p>
            <a:r>
              <a:rPr lang="zh-CN" altLang="en-US" dirty="0"/>
              <a:t>参数与返回值</a:t>
            </a:r>
          </a:p>
          <a:p>
            <a:pPr lvl="1"/>
            <a:r>
              <a:rPr lang="en-US" altLang="zh-CN" dirty="0" err="1"/>
              <a:t>rwlock</a:t>
            </a:r>
            <a:r>
              <a:rPr lang="zh-CN" altLang="en-US" dirty="0"/>
              <a:t>：读写锁</a:t>
            </a:r>
          </a:p>
          <a:p>
            <a:pPr lvl="1"/>
            <a:r>
              <a:rPr lang="zh-CN" altLang="en-US" dirty="0"/>
              <a:t>成功返回</a:t>
            </a:r>
            <a:r>
              <a:rPr lang="en-US" altLang="zh-CN" dirty="0"/>
              <a:t>0</a:t>
            </a:r>
            <a:r>
              <a:rPr lang="zh-CN" altLang="en-US" dirty="0"/>
              <a:t>，否则返回错误编号</a:t>
            </a:r>
          </a:p>
          <a:p>
            <a:endParaRPr lang="zh-CN" altLang="en-US" dirty="0"/>
          </a:p>
        </p:txBody>
      </p:sp>
    </p:spTree>
    <p:extLst>
      <p:ext uri="{BB962C8B-B14F-4D97-AF65-F5344CB8AC3E}">
        <p14:creationId xmlns:p14="http://schemas.microsoft.com/office/powerpoint/2010/main" val="91921955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pthread_rwlock_unlock</a:t>
            </a:r>
            <a:r>
              <a:rPr lang="zh-CN" altLang="en-US" dirty="0"/>
              <a:t>函数</a:t>
            </a:r>
          </a:p>
        </p:txBody>
      </p:sp>
      <p:sp>
        <p:nvSpPr>
          <p:cNvPr id="3" name="内容占位符 2"/>
          <p:cNvSpPr>
            <a:spLocks noGrp="1"/>
          </p:cNvSpPr>
          <p:nvPr>
            <p:ph idx="1"/>
          </p:nvPr>
        </p:nvSpPr>
        <p:spPr/>
        <p:txBody>
          <a:bodyPr/>
          <a:lstStyle/>
          <a:p>
            <a:r>
              <a:rPr lang="zh-CN" altLang="en-US" dirty="0"/>
              <a:t>该函数用于解除读锁或者写锁</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pthread_rwlock_unlock</a:t>
            </a:r>
            <a:r>
              <a:rPr lang="en-US" altLang="zh-CN" dirty="0"/>
              <a:t>(</a:t>
            </a:r>
            <a:r>
              <a:rPr lang="en-US" altLang="zh-CN" dirty="0" err="1"/>
              <a:t>pthread_rwlock_t</a:t>
            </a:r>
            <a:r>
              <a:rPr lang="en-US" altLang="zh-CN" dirty="0"/>
              <a:t> *</a:t>
            </a:r>
            <a:r>
              <a:rPr lang="en-US" altLang="zh-CN" dirty="0" err="1"/>
              <a:t>rwlock</a:t>
            </a:r>
            <a:r>
              <a:rPr lang="en-US" altLang="zh-CN" dirty="0"/>
              <a:t>);</a:t>
            </a:r>
          </a:p>
          <a:p>
            <a:r>
              <a:rPr lang="zh-CN" altLang="en-US" dirty="0"/>
              <a:t>参数与返回值</a:t>
            </a:r>
          </a:p>
          <a:p>
            <a:pPr lvl="1"/>
            <a:r>
              <a:rPr lang="en-US" altLang="zh-CN" dirty="0" err="1"/>
              <a:t>rwlock</a:t>
            </a:r>
            <a:r>
              <a:rPr lang="zh-CN" altLang="en-US" dirty="0"/>
              <a:t>：读写锁</a:t>
            </a:r>
          </a:p>
          <a:p>
            <a:pPr lvl="1"/>
            <a:r>
              <a:rPr lang="zh-CN" altLang="en-US" dirty="0"/>
              <a:t>成功返回</a:t>
            </a:r>
            <a:r>
              <a:rPr lang="en-US" altLang="zh-CN" dirty="0"/>
              <a:t>0</a:t>
            </a:r>
            <a:r>
              <a:rPr lang="zh-CN" altLang="en-US" dirty="0"/>
              <a:t>，否则返回错误编号</a:t>
            </a:r>
          </a:p>
          <a:p>
            <a:endParaRPr lang="zh-CN" altLang="en-US" dirty="0"/>
          </a:p>
        </p:txBody>
      </p:sp>
    </p:spTree>
    <p:extLst>
      <p:ext uri="{BB962C8B-B14F-4D97-AF65-F5344CB8AC3E}">
        <p14:creationId xmlns:p14="http://schemas.microsoft.com/office/powerpoint/2010/main" val="326986177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尝试读写锁函数</a:t>
            </a:r>
            <a:endParaRPr lang="zh-CN" altLang="en-US" dirty="0"/>
          </a:p>
        </p:txBody>
      </p:sp>
      <p:sp>
        <p:nvSpPr>
          <p:cNvPr id="3" name="内容占位符 2"/>
          <p:cNvSpPr>
            <a:spLocks noGrp="1"/>
          </p:cNvSpPr>
          <p:nvPr>
            <p:ph idx="1"/>
          </p:nvPr>
        </p:nvSpPr>
        <p:spPr/>
        <p:txBody>
          <a:bodyPr/>
          <a:lstStyle/>
          <a:p>
            <a:r>
              <a:rPr lang="zh-CN" altLang="en-US" dirty="0"/>
              <a:t>该两个函数分别用于尝试获取读锁、写锁</a:t>
            </a:r>
          </a:p>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pthread_rwlock_tryrdlock</a:t>
            </a:r>
            <a:r>
              <a:rPr lang="en-US" altLang="zh-CN" dirty="0"/>
              <a:t>(</a:t>
            </a:r>
            <a:r>
              <a:rPr lang="en-US" altLang="zh-CN" dirty="0" err="1"/>
              <a:t>pthread_rwlock_t</a:t>
            </a:r>
            <a:r>
              <a:rPr lang="en-US" altLang="zh-CN" dirty="0"/>
              <a:t> *</a:t>
            </a:r>
            <a:r>
              <a:rPr lang="en-US" altLang="zh-CN" dirty="0" err="1"/>
              <a:t>rwlock</a:t>
            </a:r>
            <a:r>
              <a:rPr lang="en-US" altLang="zh-CN" dirty="0"/>
              <a:t>);</a:t>
            </a:r>
          </a:p>
          <a:p>
            <a:pPr lvl="1">
              <a:buFont typeface="Wingdings" panose="05000000000000000000" pitchFamily="2" charset="2"/>
              <a:buNone/>
            </a:pPr>
            <a:r>
              <a:rPr lang="en-US" altLang="zh-CN" dirty="0" err="1"/>
              <a:t>int</a:t>
            </a:r>
            <a:r>
              <a:rPr lang="en-US" altLang="zh-CN" dirty="0"/>
              <a:t> </a:t>
            </a:r>
            <a:r>
              <a:rPr lang="en-US" altLang="zh-CN" dirty="0" err="1"/>
              <a:t>pthread_rwlock_trywrlock</a:t>
            </a:r>
            <a:r>
              <a:rPr lang="en-US" altLang="zh-CN" dirty="0"/>
              <a:t>(</a:t>
            </a:r>
            <a:r>
              <a:rPr lang="en-US" altLang="zh-CN" dirty="0" err="1"/>
              <a:t>pthread_rwlock_t</a:t>
            </a:r>
            <a:r>
              <a:rPr lang="en-US" altLang="zh-CN" dirty="0"/>
              <a:t> *</a:t>
            </a:r>
            <a:r>
              <a:rPr lang="en-US" altLang="zh-CN" dirty="0" err="1"/>
              <a:t>rwlock</a:t>
            </a:r>
            <a:r>
              <a:rPr lang="en-US" altLang="zh-CN" dirty="0"/>
              <a:t>);</a:t>
            </a:r>
          </a:p>
          <a:p>
            <a:r>
              <a:rPr lang="zh-CN" altLang="en-US" dirty="0"/>
              <a:t>参数与返回值</a:t>
            </a:r>
          </a:p>
          <a:p>
            <a:pPr lvl="1"/>
            <a:r>
              <a:rPr lang="en-US" altLang="zh-CN" dirty="0" err="1"/>
              <a:t>rwlock</a:t>
            </a:r>
            <a:r>
              <a:rPr lang="zh-CN" altLang="en-US" dirty="0"/>
              <a:t>：读写锁</a:t>
            </a:r>
          </a:p>
          <a:p>
            <a:pPr lvl="1"/>
            <a:r>
              <a:rPr lang="zh-CN" altLang="en-US" dirty="0"/>
              <a:t>成功返回</a:t>
            </a:r>
            <a:r>
              <a:rPr lang="en-US" altLang="zh-CN" dirty="0"/>
              <a:t>0</a:t>
            </a:r>
            <a:r>
              <a:rPr lang="zh-CN" altLang="en-US" dirty="0"/>
              <a:t>，否则返回错误编号。可以获取锁时，函数返回</a:t>
            </a:r>
            <a:r>
              <a:rPr lang="en-US" altLang="zh-CN" dirty="0"/>
              <a:t>0</a:t>
            </a:r>
            <a:r>
              <a:rPr lang="zh-CN" altLang="en-US" dirty="0"/>
              <a:t>；否则返回错误</a:t>
            </a:r>
            <a:r>
              <a:rPr lang="en-US" altLang="zh-CN" dirty="0"/>
              <a:t>EBUSY</a:t>
            </a:r>
          </a:p>
          <a:p>
            <a:endParaRPr lang="zh-CN" altLang="en-US" dirty="0"/>
          </a:p>
        </p:txBody>
      </p:sp>
    </p:spTree>
    <p:extLst>
      <p:ext uri="{BB962C8B-B14F-4D97-AF65-F5344CB8AC3E}">
        <p14:creationId xmlns:p14="http://schemas.microsoft.com/office/powerpoint/2010/main" val="163927797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条件变量</a:t>
            </a:r>
            <a:endParaRPr lang="zh-CN" altLang="en-US" dirty="0"/>
          </a:p>
        </p:txBody>
      </p:sp>
      <p:sp>
        <p:nvSpPr>
          <p:cNvPr id="3" name="内容占位符 2"/>
          <p:cNvSpPr>
            <a:spLocks noGrp="1"/>
          </p:cNvSpPr>
          <p:nvPr>
            <p:ph idx="1"/>
          </p:nvPr>
        </p:nvSpPr>
        <p:spPr/>
        <p:txBody>
          <a:bodyPr/>
          <a:lstStyle/>
          <a:p>
            <a:r>
              <a:rPr lang="zh-CN" altLang="en-US" dirty="0"/>
              <a:t>现有一需求，线程</a:t>
            </a:r>
            <a:r>
              <a:rPr lang="en-US" altLang="zh-CN" dirty="0"/>
              <a:t>A</a:t>
            </a:r>
            <a:r>
              <a:rPr lang="zh-CN" altLang="en-US" dirty="0"/>
              <a:t>先执行某操作后，线程</a:t>
            </a:r>
            <a:r>
              <a:rPr lang="en-US" altLang="zh-CN" dirty="0"/>
              <a:t>B</a:t>
            </a:r>
            <a:r>
              <a:rPr lang="zh-CN" altLang="en-US" dirty="0"/>
              <a:t>才能执行另一操作，该如何实现？</a:t>
            </a:r>
          </a:p>
          <a:p>
            <a:endParaRPr lang="zh-CN" altLang="en-US" dirty="0"/>
          </a:p>
          <a:p>
            <a:r>
              <a:rPr lang="zh-CN" altLang="en-US" dirty="0"/>
              <a:t>条件变量与互斥量一起使用时，允许线程以无竞争的方式等待特定条件的发生</a:t>
            </a:r>
          </a:p>
          <a:p>
            <a:endParaRPr lang="zh-CN" altLang="en-US" dirty="0"/>
          </a:p>
          <a:p>
            <a:r>
              <a:rPr lang="zh-CN" altLang="en-US" dirty="0"/>
              <a:t>与互斥量类似，条件变量也需要初始化和销毁</a:t>
            </a:r>
          </a:p>
          <a:p>
            <a:endParaRPr lang="zh-CN" altLang="en-US" dirty="0"/>
          </a:p>
        </p:txBody>
      </p:sp>
    </p:spTree>
    <p:extLst>
      <p:ext uri="{BB962C8B-B14F-4D97-AF65-F5344CB8AC3E}">
        <p14:creationId xmlns:p14="http://schemas.microsoft.com/office/powerpoint/2010/main" val="3458026811"/>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条件变量的初始化和销毁</a:t>
            </a:r>
            <a:endParaRPr lang="zh-CN" altLang="en-US" dirty="0"/>
          </a:p>
        </p:txBody>
      </p:sp>
      <p:sp>
        <p:nvSpPr>
          <p:cNvPr id="3" name="内容占位符 2"/>
          <p:cNvSpPr>
            <a:spLocks noGrp="1"/>
          </p:cNvSpPr>
          <p:nvPr>
            <p:ph idx="1"/>
          </p:nvPr>
        </p:nvSpPr>
        <p:spPr/>
        <p:txBody>
          <a:bodyPr/>
          <a:lstStyle/>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pthread_cond_init</a:t>
            </a:r>
            <a:r>
              <a:rPr lang="en-US" altLang="zh-CN" dirty="0"/>
              <a:t>(</a:t>
            </a:r>
            <a:r>
              <a:rPr lang="en-US" altLang="zh-CN" dirty="0" err="1"/>
              <a:t>pthread_cond_t</a:t>
            </a:r>
            <a:r>
              <a:rPr lang="en-US" altLang="zh-CN" dirty="0"/>
              <a:t> *</a:t>
            </a:r>
            <a:r>
              <a:rPr lang="en-US" altLang="zh-CN" dirty="0" err="1"/>
              <a:t>cond</a:t>
            </a:r>
            <a:r>
              <a:rPr lang="en-US" altLang="zh-CN" dirty="0"/>
              <a:t>,      </a:t>
            </a:r>
          </a:p>
          <a:p>
            <a:pPr lvl="1">
              <a:buFont typeface="Wingdings" panose="05000000000000000000" pitchFamily="2" charset="2"/>
              <a:buNone/>
            </a:pPr>
            <a:r>
              <a:rPr lang="en-US" altLang="zh-CN" dirty="0"/>
              <a:t>                                  </a:t>
            </a:r>
            <a:r>
              <a:rPr lang="en-US" altLang="zh-CN" dirty="0" err="1"/>
              <a:t>pthread_condattr_t</a:t>
            </a:r>
            <a:r>
              <a:rPr lang="en-US" altLang="zh-CN" dirty="0"/>
              <a:t> *</a:t>
            </a:r>
            <a:r>
              <a:rPr lang="en-US" altLang="zh-CN" dirty="0" err="1"/>
              <a:t>attr</a:t>
            </a:r>
            <a:r>
              <a:rPr lang="en-US" altLang="zh-CN" dirty="0"/>
              <a:t>);</a:t>
            </a:r>
          </a:p>
          <a:p>
            <a:pPr lvl="1">
              <a:buFont typeface="Wingdings" panose="05000000000000000000" pitchFamily="2" charset="2"/>
              <a:buNone/>
            </a:pPr>
            <a:r>
              <a:rPr lang="en-US" altLang="zh-CN" dirty="0" err="1"/>
              <a:t>int</a:t>
            </a:r>
            <a:r>
              <a:rPr lang="en-US" altLang="zh-CN" dirty="0"/>
              <a:t> </a:t>
            </a:r>
            <a:r>
              <a:rPr lang="en-US" altLang="zh-CN" dirty="0" err="1"/>
              <a:t>pthread_cond_destroy</a:t>
            </a:r>
            <a:r>
              <a:rPr lang="en-US" altLang="zh-CN" dirty="0"/>
              <a:t>(</a:t>
            </a:r>
            <a:r>
              <a:rPr lang="en-US" altLang="zh-CN" dirty="0" err="1"/>
              <a:t>pthread_cond_t</a:t>
            </a:r>
            <a:r>
              <a:rPr lang="en-US" altLang="zh-CN" dirty="0"/>
              <a:t> * </a:t>
            </a:r>
            <a:r>
              <a:rPr lang="en-US" altLang="zh-CN" dirty="0" err="1"/>
              <a:t>cond</a:t>
            </a:r>
            <a:r>
              <a:rPr lang="en-US" altLang="zh-CN" dirty="0"/>
              <a:t>);</a:t>
            </a:r>
          </a:p>
          <a:p>
            <a:r>
              <a:rPr lang="zh-CN" altLang="en-US" dirty="0"/>
              <a:t>参数和返回值</a:t>
            </a:r>
          </a:p>
          <a:p>
            <a:pPr lvl="1"/>
            <a:r>
              <a:rPr lang="en-US" altLang="zh-CN" dirty="0" err="1"/>
              <a:t>cond</a:t>
            </a:r>
            <a:r>
              <a:rPr lang="zh-CN" altLang="en-US" dirty="0"/>
              <a:t>：条件变量</a:t>
            </a:r>
          </a:p>
          <a:p>
            <a:pPr lvl="1"/>
            <a:r>
              <a:rPr lang="en-US" altLang="zh-CN" dirty="0" err="1"/>
              <a:t>attr</a:t>
            </a:r>
            <a:r>
              <a:rPr lang="zh-CN" altLang="en-US" dirty="0"/>
              <a:t>：条件变量属性，若为</a:t>
            </a:r>
            <a:r>
              <a:rPr lang="en-US" altLang="zh-CN" dirty="0"/>
              <a:t>NULL</a:t>
            </a:r>
            <a:r>
              <a:rPr lang="zh-CN" altLang="en-US" dirty="0"/>
              <a:t>，则使用默认属性</a:t>
            </a:r>
          </a:p>
          <a:p>
            <a:pPr lvl="1"/>
            <a:r>
              <a:rPr lang="zh-CN" altLang="en-US" dirty="0"/>
              <a:t>成功返回</a:t>
            </a:r>
            <a:r>
              <a:rPr lang="en-US" altLang="zh-CN" dirty="0"/>
              <a:t>0</a:t>
            </a:r>
            <a:r>
              <a:rPr lang="zh-CN" altLang="en-US" dirty="0"/>
              <a:t>，出错返回错误编号</a:t>
            </a:r>
          </a:p>
          <a:p>
            <a:endParaRPr lang="zh-CN" altLang="en-US" dirty="0"/>
          </a:p>
        </p:txBody>
      </p:sp>
    </p:spTree>
    <p:extLst>
      <p:ext uri="{BB962C8B-B14F-4D97-AF65-F5344CB8AC3E}">
        <p14:creationId xmlns:p14="http://schemas.microsoft.com/office/powerpoint/2010/main" val="3838149958"/>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等待条件的发生</a:t>
            </a:r>
            <a:endParaRPr lang="zh-CN" altLang="en-US" dirty="0"/>
          </a:p>
        </p:txBody>
      </p:sp>
      <p:sp>
        <p:nvSpPr>
          <p:cNvPr id="3" name="内容占位符 2"/>
          <p:cNvSpPr>
            <a:spLocks noGrp="1"/>
          </p:cNvSpPr>
          <p:nvPr>
            <p:ph idx="1"/>
          </p:nvPr>
        </p:nvSpPr>
        <p:spPr>
          <a:xfrm>
            <a:off x="838200" y="1405718"/>
            <a:ext cx="10515600" cy="5240741"/>
          </a:xfrm>
        </p:spPr>
        <p:txBody>
          <a:bodyPr>
            <a:normAutofit fontScale="70000" lnSpcReduction="20000"/>
          </a:bodyPr>
          <a:lstStyle/>
          <a:p>
            <a:r>
              <a:rPr lang="en-US" altLang="zh-CN" dirty="0" err="1"/>
              <a:t>pthread_cond_wait</a:t>
            </a:r>
            <a:r>
              <a:rPr lang="zh-CN" altLang="en-US" dirty="0"/>
              <a:t>函数将使调用线程进入阻塞状态，直到条件为真</a:t>
            </a:r>
          </a:p>
          <a:p>
            <a:r>
              <a:rPr lang="zh-CN" altLang="en-US" dirty="0"/>
              <a:t>函数原型</a:t>
            </a:r>
          </a:p>
          <a:p>
            <a:pPr lvl="1">
              <a:buNone/>
            </a:pPr>
            <a:r>
              <a:rPr lang="en-US" altLang="zh-CN" dirty="0"/>
              <a:t>#include&lt;</a:t>
            </a:r>
            <a:r>
              <a:rPr lang="en-US" altLang="zh-CN" dirty="0" err="1"/>
              <a:t>pthread.h</a:t>
            </a:r>
            <a:r>
              <a:rPr lang="en-US" altLang="zh-CN" dirty="0"/>
              <a:t>&gt;</a:t>
            </a:r>
          </a:p>
          <a:p>
            <a:pPr lvl="1">
              <a:buNone/>
            </a:pPr>
            <a:r>
              <a:rPr lang="en-US" altLang="zh-CN" dirty="0" err="1"/>
              <a:t>int</a:t>
            </a:r>
            <a:r>
              <a:rPr lang="en-US" altLang="zh-CN" dirty="0"/>
              <a:t> </a:t>
            </a:r>
            <a:r>
              <a:rPr lang="en-US" altLang="zh-CN" dirty="0" err="1"/>
              <a:t>pthread_cond_wait</a:t>
            </a:r>
            <a:r>
              <a:rPr lang="en-US" altLang="zh-CN" dirty="0"/>
              <a:t>(</a:t>
            </a:r>
            <a:r>
              <a:rPr lang="en-US" altLang="zh-CN" dirty="0" err="1"/>
              <a:t>pthread_cond_t</a:t>
            </a:r>
            <a:r>
              <a:rPr lang="en-US" altLang="zh-CN" dirty="0"/>
              <a:t> *</a:t>
            </a:r>
            <a:r>
              <a:rPr lang="en-US" altLang="zh-CN" dirty="0" err="1"/>
              <a:t>cond</a:t>
            </a:r>
            <a:r>
              <a:rPr lang="en-US" altLang="zh-CN" dirty="0"/>
              <a:t>,</a:t>
            </a:r>
          </a:p>
          <a:p>
            <a:pPr lvl="1">
              <a:buNone/>
            </a:pPr>
            <a:r>
              <a:rPr lang="en-US" altLang="zh-CN" dirty="0"/>
              <a:t>					  </a:t>
            </a:r>
            <a:r>
              <a:rPr lang="en-US" altLang="zh-CN" dirty="0" err="1"/>
              <a:t>pthread_mutex_t</a:t>
            </a:r>
            <a:r>
              <a:rPr lang="en-US" altLang="zh-CN" dirty="0"/>
              <a:t> *</a:t>
            </a:r>
            <a:r>
              <a:rPr lang="en-US" altLang="zh-CN" dirty="0" err="1"/>
              <a:t>mutex</a:t>
            </a:r>
            <a:r>
              <a:rPr lang="en-US" altLang="zh-CN" dirty="0"/>
              <a:t>);</a:t>
            </a:r>
          </a:p>
          <a:p>
            <a:r>
              <a:rPr lang="zh-CN" altLang="en-US" dirty="0"/>
              <a:t>参数与返回值</a:t>
            </a:r>
          </a:p>
          <a:p>
            <a:pPr lvl="1"/>
            <a:r>
              <a:rPr lang="en-US" altLang="zh-CN" dirty="0" err="1"/>
              <a:t>cond</a:t>
            </a:r>
            <a:r>
              <a:rPr lang="zh-CN" altLang="en-US" dirty="0"/>
              <a:t>：条件变量</a:t>
            </a:r>
          </a:p>
          <a:p>
            <a:pPr lvl="1"/>
            <a:r>
              <a:rPr lang="en-US" altLang="zh-CN" dirty="0" err="1"/>
              <a:t>mutex</a:t>
            </a:r>
            <a:r>
              <a:rPr lang="zh-CN" altLang="en-US" dirty="0"/>
              <a:t>：互斥量</a:t>
            </a:r>
          </a:p>
          <a:p>
            <a:pPr lvl="1"/>
            <a:r>
              <a:rPr lang="zh-CN" altLang="en-US" dirty="0"/>
              <a:t>成功返回</a:t>
            </a:r>
            <a:r>
              <a:rPr lang="en-US" altLang="zh-CN" dirty="0"/>
              <a:t>0</a:t>
            </a:r>
            <a:r>
              <a:rPr lang="zh-CN" altLang="en-US" dirty="0"/>
              <a:t>，否则返回错误编号 </a:t>
            </a:r>
          </a:p>
          <a:p>
            <a:r>
              <a:rPr lang="zh-CN" altLang="en-US" dirty="0"/>
              <a:t>为什么</a:t>
            </a:r>
            <a:r>
              <a:rPr lang="en-US" altLang="zh-CN" dirty="0" err="1"/>
              <a:t>pthread_cond_wait</a:t>
            </a:r>
            <a:r>
              <a:rPr lang="zh-CN" altLang="en-US" dirty="0"/>
              <a:t>需要互斥量</a:t>
            </a:r>
          </a:p>
          <a:p>
            <a:pPr lvl="1"/>
            <a:r>
              <a:rPr lang="zh-CN" altLang="en-US" dirty="0"/>
              <a:t>在调用</a:t>
            </a:r>
            <a:r>
              <a:rPr lang="en-US" altLang="zh-CN" dirty="0" err="1"/>
              <a:t>pthread_cond_wait</a:t>
            </a:r>
            <a:r>
              <a:rPr lang="zh-CN" altLang="en-US" dirty="0"/>
              <a:t>前，需要使互斥量处于锁住状态</a:t>
            </a:r>
          </a:p>
          <a:p>
            <a:pPr lvl="1"/>
            <a:r>
              <a:rPr lang="zh-CN" altLang="en-US" dirty="0"/>
              <a:t>这样</a:t>
            </a:r>
            <a:r>
              <a:rPr lang="en-US" altLang="zh-CN" dirty="0" err="1"/>
              <a:t>pthread_cond_wait</a:t>
            </a:r>
            <a:r>
              <a:rPr lang="zh-CN" altLang="en-US" dirty="0"/>
              <a:t>函数，可以以原子的方式，将调用线程放到等待条件的线程列表上</a:t>
            </a:r>
          </a:p>
          <a:p>
            <a:r>
              <a:rPr lang="en-US" altLang="zh-CN" dirty="0" err="1"/>
              <a:t>pthread_cond_wait</a:t>
            </a:r>
            <a:r>
              <a:rPr lang="zh-CN" altLang="en-US" dirty="0"/>
              <a:t>函数的特殊操作</a:t>
            </a:r>
          </a:p>
          <a:p>
            <a:pPr lvl="1"/>
            <a:r>
              <a:rPr lang="zh-CN" altLang="en-US" dirty="0"/>
              <a:t>在线程阻塞前，调用</a:t>
            </a:r>
            <a:r>
              <a:rPr lang="en-US" altLang="zh-CN" dirty="0" err="1"/>
              <a:t>pthread_mutex_unlock</a:t>
            </a:r>
            <a:endParaRPr lang="en-US" altLang="zh-CN" dirty="0"/>
          </a:p>
          <a:p>
            <a:pPr lvl="1"/>
            <a:r>
              <a:rPr lang="zh-CN" altLang="en-US" dirty="0"/>
              <a:t>在线程唤醒后，条用</a:t>
            </a:r>
            <a:r>
              <a:rPr lang="en-US" altLang="zh-CN" dirty="0" err="1"/>
              <a:t>pthread_mutex_lock</a:t>
            </a:r>
            <a:endParaRPr lang="en-US" altLang="zh-CN" dirty="0"/>
          </a:p>
          <a:p>
            <a:endParaRPr lang="zh-CN" altLang="en-US" dirty="0"/>
          </a:p>
        </p:txBody>
      </p:sp>
    </p:spTree>
    <p:extLst>
      <p:ext uri="{BB962C8B-B14F-4D97-AF65-F5344CB8AC3E}">
        <p14:creationId xmlns:p14="http://schemas.microsoft.com/office/powerpoint/2010/main" val="262879906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等待条件的发生</a:t>
            </a:r>
            <a:endParaRPr lang="zh-CN" altLang="en-US" dirty="0"/>
          </a:p>
        </p:txBody>
      </p:sp>
      <p:sp>
        <p:nvSpPr>
          <p:cNvPr id="3" name="内容占位符 2"/>
          <p:cNvSpPr>
            <a:spLocks noGrp="1"/>
          </p:cNvSpPr>
          <p:nvPr>
            <p:ph idx="1"/>
          </p:nvPr>
        </p:nvSpPr>
        <p:spPr/>
        <p:txBody>
          <a:bodyPr/>
          <a:lstStyle/>
          <a:p>
            <a:r>
              <a:rPr lang="zh-CN" altLang="en-US" dirty="0"/>
              <a:t>等待线程的操作顺序</a:t>
            </a:r>
          </a:p>
          <a:p>
            <a:pPr lvl="1"/>
            <a:r>
              <a:rPr lang="zh-CN" altLang="en-US" dirty="0"/>
              <a:t>调用</a:t>
            </a:r>
            <a:r>
              <a:rPr lang="en-US" altLang="zh-CN" dirty="0" err="1"/>
              <a:t>pthread_mutex_lock</a:t>
            </a:r>
            <a:endParaRPr lang="en-US" altLang="zh-CN" dirty="0"/>
          </a:p>
          <a:p>
            <a:pPr lvl="1"/>
            <a:r>
              <a:rPr lang="zh-CN" altLang="en-US" dirty="0"/>
              <a:t>调用</a:t>
            </a:r>
            <a:r>
              <a:rPr lang="en-US" altLang="zh-CN" dirty="0" err="1"/>
              <a:t>pthread_cond_wait</a:t>
            </a:r>
            <a:endParaRPr lang="en-US" altLang="zh-CN" dirty="0"/>
          </a:p>
          <a:p>
            <a:pPr lvl="1"/>
            <a:r>
              <a:rPr lang="zh-CN" altLang="en-US" dirty="0"/>
              <a:t>调用</a:t>
            </a:r>
            <a:r>
              <a:rPr lang="en-US" altLang="zh-CN" dirty="0" err="1"/>
              <a:t>pthread_mutex_unlock</a:t>
            </a:r>
            <a:endParaRPr lang="en-US" altLang="zh-CN" dirty="0"/>
          </a:p>
          <a:p>
            <a:endParaRPr lang="zh-CN" altLang="en-US" dirty="0"/>
          </a:p>
        </p:txBody>
      </p:sp>
    </p:spTree>
    <p:extLst>
      <p:ext uri="{BB962C8B-B14F-4D97-AF65-F5344CB8AC3E}">
        <p14:creationId xmlns:p14="http://schemas.microsoft.com/office/powerpoint/2010/main" val="219903356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使等待的条件为真</a:t>
            </a:r>
            <a:endParaRPr lang="zh-CN" altLang="en-US" dirty="0"/>
          </a:p>
        </p:txBody>
      </p:sp>
      <p:sp>
        <p:nvSpPr>
          <p:cNvPr id="3" name="内容占位符 2"/>
          <p:cNvSpPr>
            <a:spLocks noGrp="1"/>
          </p:cNvSpPr>
          <p:nvPr>
            <p:ph idx="1"/>
          </p:nvPr>
        </p:nvSpPr>
        <p:spPr/>
        <p:txBody>
          <a:bodyPr/>
          <a:lstStyle/>
          <a:p>
            <a:r>
              <a:rPr lang="en-US" altLang="zh-CN" dirty="0" err="1"/>
              <a:t>pthread_cond_signal</a:t>
            </a:r>
            <a:r>
              <a:rPr lang="zh-CN" altLang="en-US" dirty="0"/>
              <a:t>和</a:t>
            </a:r>
            <a:r>
              <a:rPr lang="en-US" altLang="zh-CN" dirty="0" err="1"/>
              <a:t>pthread_cond_broadcast</a:t>
            </a:r>
            <a:r>
              <a:rPr lang="zh-CN" altLang="en-US" dirty="0"/>
              <a:t>可以通知等待的线程，条件已经满足。</a:t>
            </a:r>
          </a:p>
          <a:p>
            <a:r>
              <a:rPr lang="en-US" altLang="zh-CN" dirty="0" err="1"/>
              <a:t>pthread_cond_signal</a:t>
            </a:r>
            <a:r>
              <a:rPr lang="zh-CN" altLang="en-US" dirty="0"/>
              <a:t>唤醒某一个等待该条件的线程</a:t>
            </a:r>
          </a:p>
          <a:p>
            <a:r>
              <a:rPr lang="en-US" altLang="zh-CN" dirty="0" err="1"/>
              <a:t>pthread_cond_broadcast</a:t>
            </a:r>
            <a:r>
              <a:rPr lang="zh-CN" altLang="en-US" dirty="0"/>
              <a:t>唤醒等待该条件的所有线程</a:t>
            </a:r>
          </a:p>
          <a:p>
            <a:endParaRPr lang="zh-CN" altLang="en-US" dirty="0"/>
          </a:p>
        </p:txBody>
      </p:sp>
    </p:spTree>
    <p:extLst>
      <p:ext uri="{BB962C8B-B14F-4D97-AF65-F5344CB8AC3E}">
        <p14:creationId xmlns:p14="http://schemas.microsoft.com/office/powerpoint/2010/main" val="169958956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等待条件为真</a:t>
            </a:r>
            <a:endParaRPr lang="zh-CN" altLang="en-US" dirty="0"/>
          </a:p>
        </p:txBody>
      </p:sp>
      <p:sp>
        <p:nvSpPr>
          <p:cNvPr id="3" name="内容占位符 2"/>
          <p:cNvSpPr>
            <a:spLocks noGrp="1"/>
          </p:cNvSpPr>
          <p:nvPr>
            <p:ph idx="1"/>
          </p:nvPr>
        </p:nvSpPr>
        <p:spPr/>
        <p:txBody>
          <a:bodyPr/>
          <a:lstStyle/>
          <a:p>
            <a:r>
              <a:rPr lang="zh-CN" altLang="en-US" dirty="0"/>
              <a:t>函数原型</a:t>
            </a:r>
          </a:p>
          <a:p>
            <a:pPr lvl="1">
              <a:buFont typeface="Wingdings" panose="05000000000000000000" pitchFamily="2" charset="2"/>
              <a:buNone/>
            </a:pPr>
            <a:r>
              <a:rPr lang="en-US" altLang="zh-CN" dirty="0"/>
              <a:t>#include&lt;</a:t>
            </a:r>
            <a:r>
              <a:rPr lang="en-US" altLang="zh-CN" dirty="0" err="1"/>
              <a:t>pthread.h</a:t>
            </a:r>
            <a:r>
              <a:rPr lang="en-US" altLang="zh-CN" dirty="0"/>
              <a:t>&gt;</a:t>
            </a:r>
          </a:p>
          <a:p>
            <a:pPr lvl="1">
              <a:buFont typeface="Wingdings" panose="05000000000000000000" pitchFamily="2" charset="2"/>
              <a:buNone/>
            </a:pPr>
            <a:r>
              <a:rPr lang="en-US" altLang="zh-CN" dirty="0" err="1"/>
              <a:t>int</a:t>
            </a:r>
            <a:r>
              <a:rPr lang="en-US" altLang="zh-CN" dirty="0"/>
              <a:t> </a:t>
            </a:r>
            <a:r>
              <a:rPr lang="en-US" altLang="zh-CN" dirty="0" err="1"/>
              <a:t>pthread_cond_signal</a:t>
            </a:r>
            <a:r>
              <a:rPr lang="en-US" altLang="zh-CN" dirty="0"/>
              <a:t>(</a:t>
            </a:r>
            <a:r>
              <a:rPr lang="en-US" altLang="zh-CN" dirty="0" err="1"/>
              <a:t>pthread_cond_t</a:t>
            </a:r>
            <a:r>
              <a:rPr lang="en-US" altLang="zh-CN" dirty="0"/>
              <a:t> *</a:t>
            </a:r>
            <a:r>
              <a:rPr lang="en-US" altLang="zh-CN" dirty="0" err="1"/>
              <a:t>cond</a:t>
            </a:r>
            <a:r>
              <a:rPr lang="en-US" altLang="zh-CN" dirty="0"/>
              <a:t>);</a:t>
            </a:r>
          </a:p>
          <a:p>
            <a:pPr lvl="1">
              <a:buFont typeface="Wingdings" panose="05000000000000000000" pitchFamily="2" charset="2"/>
              <a:buNone/>
            </a:pPr>
            <a:r>
              <a:rPr lang="en-US" altLang="zh-CN" dirty="0" err="1"/>
              <a:t>int</a:t>
            </a:r>
            <a:r>
              <a:rPr lang="en-US" altLang="zh-CN" dirty="0"/>
              <a:t> </a:t>
            </a:r>
            <a:r>
              <a:rPr lang="en-US" altLang="zh-CN" dirty="0" err="1"/>
              <a:t>pthread_cond_broadcast</a:t>
            </a:r>
            <a:r>
              <a:rPr lang="en-US" altLang="zh-CN" dirty="0"/>
              <a:t>(</a:t>
            </a:r>
            <a:r>
              <a:rPr lang="en-US" altLang="zh-CN" dirty="0" err="1"/>
              <a:t>pthread_cond_t</a:t>
            </a:r>
            <a:r>
              <a:rPr lang="en-US" altLang="zh-CN" dirty="0"/>
              <a:t> *);</a:t>
            </a:r>
          </a:p>
          <a:p>
            <a:r>
              <a:rPr lang="zh-CN" altLang="en-US" dirty="0"/>
              <a:t>参数与返回值</a:t>
            </a:r>
          </a:p>
          <a:p>
            <a:pPr lvl="1"/>
            <a:r>
              <a:rPr lang="en-US" altLang="zh-CN" dirty="0" err="1"/>
              <a:t>cond</a:t>
            </a:r>
            <a:r>
              <a:rPr lang="zh-CN" altLang="en-US" dirty="0"/>
              <a:t>：条件变量</a:t>
            </a:r>
          </a:p>
          <a:p>
            <a:pPr lvl="1"/>
            <a:r>
              <a:rPr lang="zh-CN" altLang="en-US" dirty="0"/>
              <a:t>成功返回</a:t>
            </a:r>
            <a:r>
              <a:rPr lang="en-US" altLang="zh-CN" dirty="0"/>
              <a:t>0</a:t>
            </a:r>
            <a:r>
              <a:rPr lang="zh-CN" altLang="en-US" dirty="0"/>
              <a:t>，否则返回错误编号</a:t>
            </a:r>
          </a:p>
          <a:p>
            <a:endParaRPr lang="zh-CN" altLang="en-US" dirty="0"/>
          </a:p>
        </p:txBody>
      </p:sp>
    </p:spTree>
    <p:extLst>
      <p:ext uri="{BB962C8B-B14F-4D97-AF65-F5344CB8AC3E}">
        <p14:creationId xmlns:p14="http://schemas.microsoft.com/office/powerpoint/2010/main" val="257599320"/>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条件变量</a:t>
            </a:r>
            <a:endParaRPr lang="zh-CN" altLang="en-US" dirty="0"/>
          </a:p>
        </p:txBody>
      </p:sp>
      <p:sp>
        <p:nvSpPr>
          <p:cNvPr id="3" name="内容占位符 2"/>
          <p:cNvSpPr>
            <a:spLocks noGrp="1"/>
          </p:cNvSpPr>
          <p:nvPr>
            <p:ph idx="1"/>
          </p:nvPr>
        </p:nvSpPr>
        <p:spPr/>
        <p:txBody>
          <a:bodyPr/>
          <a:lstStyle/>
          <a:p>
            <a:r>
              <a:rPr lang="zh-CN" altLang="en-US" dirty="0"/>
              <a:t>等待线程</a:t>
            </a:r>
          </a:p>
          <a:p>
            <a:pPr lvl="1"/>
            <a:r>
              <a:rPr lang="zh-CN" altLang="en-US" dirty="0"/>
              <a:t>调用</a:t>
            </a:r>
            <a:r>
              <a:rPr lang="en-US" altLang="zh-CN" dirty="0" err="1"/>
              <a:t>pthread_mutex_lock</a:t>
            </a:r>
            <a:endParaRPr lang="en-US" altLang="zh-CN" dirty="0"/>
          </a:p>
          <a:p>
            <a:pPr lvl="1"/>
            <a:r>
              <a:rPr lang="en-US" altLang="zh-CN" dirty="0"/>
              <a:t>While</a:t>
            </a:r>
            <a:r>
              <a:rPr lang="zh-CN" altLang="en-US" dirty="0"/>
              <a:t>（判断条件）</a:t>
            </a:r>
            <a:r>
              <a:rPr lang="en-US" altLang="zh-CN" dirty="0" err="1"/>
              <a:t>pthread_cond_wait</a:t>
            </a:r>
            <a:endParaRPr lang="en-US" altLang="zh-CN" dirty="0"/>
          </a:p>
          <a:p>
            <a:pPr lvl="2"/>
            <a:r>
              <a:rPr lang="zh-CN" altLang="en-US" dirty="0"/>
              <a:t>重复检查条件是由于线程可能不是被</a:t>
            </a:r>
            <a:r>
              <a:rPr lang="en-US" altLang="zh-CN" dirty="0" err="1"/>
              <a:t>pthread_cond_signal</a:t>
            </a:r>
            <a:r>
              <a:rPr lang="zh-CN" altLang="en-US" dirty="0"/>
              <a:t>唤醒，可能是由信号等唤醒</a:t>
            </a:r>
          </a:p>
          <a:p>
            <a:pPr lvl="1"/>
            <a:r>
              <a:rPr lang="zh-CN" altLang="en-US" dirty="0"/>
              <a:t>调用</a:t>
            </a:r>
            <a:r>
              <a:rPr lang="en-US" altLang="zh-CN" dirty="0" err="1"/>
              <a:t>pthread_mutex_unlock</a:t>
            </a:r>
            <a:endParaRPr lang="en-US" altLang="zh-CN" dirty="0"/>
          </a:p>
          <a:p>
            <a:r>
              <a:rPr lang="zh-CN" altLang="en-US" dirty="0"/>
              <a:t>被等待线程</a:t>
            </a:r>
          </a:p>
          <a:p>
            <a:pPr lvl="1"/>
            <a:r>
              <a:rPr lang="zh-CN" altLang="en-US" dirty="0"/>
              <a:t>调用</a:t>
            </a:r>
            <a:r>
              <a:rPr lang="en-US" altLang="zh-CN" dirty="0" err="1"/>
              <a:t>pthread_mutex_lock</a:t>
            </a:r>
            <a:endParaRPr lang="en-US" altLang="zh-CN" dirty="0"/>
          </a:p>
          <a:p>
            <a:pPr lvl="1"/>
            <a:r>
              <a:rPr lang="zh-CN" altLang="en-US" dirty="0"/>
              <a:t>修改条件</a:t>
            </a:r>
          </a:p>
          <a:p>
            <a:pPr lvl="1"/>
            <a:r>
              <a:rPr lang="zh-CN" altLang="en-US" dirty="0"/>
              <a:t>调用</a:t>
            </a:r>
            <a:r>
              <a:rPr lang="en-US" altLang="zh-CN" dirty="0" err="1"/>
              <a:t>pthread_mutex_unlock</a:t>
            </a:r>
            <a:endParaRPr lang="en-US" altLang="zh-CN" dirty="0"/>
          </a:p>
          <a:p>
            <a:pPr lvl="1"/>
            <a:r>
              <a:rPr lang="zh-CN" altLang="en-US" dirty="0"/>
              <a:t>调用</a:t>
            </a:r>
            <a:r>
              <a:rPr lang="en-US" altLang="zh-CN" dirty="0" err="1"/>
              <a:t>pthread_mutex_broadcast</a:t>
            </a:r>
            <a:r>
              <a:rPr lang="zh-CN" altLang="en-US" dirty="0" smtClean="0"/>
              <a:t>等</a:t>
            </a:r>
            <a:endParaRPr lang="en-US" altLang="zh-CN" dirty="0" smtClean="0"/>
          </a:p>
          <a:p>
            <a:pPr lvl="1"/>
            <a:endParaRPr lang="zh-CN" altLang="en-US" dirty="0"/>
          </a:p>
        </p:txBody>
      </p:sp>
    </p:spTree>
    <p:extLst>
      <p:ext uri="{BB962C8B-B14F-4D97-AF65-F5344CB8AC3E}">
        <p14:creationId xmlns:p14="http://schemas.microsoft.com/office/powerpoint/2010/main" val="22131021"/>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条件</a:t>
            </a:r>
            <a:r>
              <a:rPr lang="zh-CN" altLang="zh-CN" dirty="0" smtClean="0"/>
              <a:t>变量</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sz="2800" dirty="0"/>
              <a:t>POSIX.1</a:t>
            </a:r>
            <a:r>
              <a:rPr lang="zh-CN" altLang="en-US" sz="2800" dirty="0"/>
              <a:t>说明：</a:t>
            </a:r>
            <a:r>
              <a:rPr lang="en-US" altLang="zh-CN" sz="2800" dirty="0" err="1"/>
              <a:t>pthread_cond_broadcast</a:t>
            </a:r>
            <a:r>
              <a:rPr lang="zh-CN" altLang="en-US" sz="2800" dirty="0"/>
              <a:t>等函数的调用无需考虑调用线程是否拥有锁，并建议在在</a:t>
            </a:r>
            <a:r>
              <a:rPr lang="en-US" altLang="zh-CN" sz="2800" dirty="0"/>
              <a:t>lock</a:t>
            </a:r>
            <a:r>
              <a:rPr lang="zh-CN" altLang="en-US" sz="2800" dirty="0"/>
              <a:t>和</a:t>
            </a:r>
            <a:r>
              <a:rPr lang="en-US" altLang="zh-CN" sz="2800" dirty="0"/>
              <a:t>unlock</a:t>
            </a:r>
            <a:r>
              <a:rPr lang="zh-CN" altLang="en-US" sz="2800" dirty="0"/>
              <a:t>以外的区域调用。为什么？</a:t>
            </a:r>
          </a:p>
          <a:p>
            <a:r>
              <a:rPr lang="zh-CN" altLang="en-US" dirty="0"/>
              <a:t>假设系统中有线程</a:t>
            </a:r>
            <a:r>
              <a:rPr lang="en-US" altLang="zh-CN" dirty="0"/>
              <a:t>1</a:t>
            </a:r>
            <a:r>
              <a:rPr lang="zh-CN" altLang="en-US" dirty="0"/>
              <a:t>和线程</a:t>
            </a:r>
            <a:r>
              <a:rPr lang="en-US" altLang="zh-CN" dirty="0"/>
              <a:t>2</a:t>
            </a:r>
          </a:p>
          <a:p>
            <a:pPr lvl="1"/>
            <a:r>
              <a:rPr lang="zh-CN" altLang="en-US" dirty="0"/>
              <a:t>线程</a:t>
            </a:r>
            <a:r>
              <a:rPr lang="en-US" altLang="zh-CN" dirty="0"/>
              <a:t>1</a:t>
            </a:r>
            <a:r>
              <a:rPr lang="zh-CN" altLang="en-US" dirty="0"/>
              <a:t>获取</a:t>
            </a:r>
            <a:r>
              <a:rPr lang="en-US" altLang="zh-CN" dirty="0" err="1"/>
              <a:t>mutex</a:t>
            </a:r>
            <a:r>
              <a:rPr lang="zh-CN" altLang="en-US" dirty="0"/>
              <a:t>，在进行数据处理的时候，线程</a:t>
            </a:r>
            <a:r>
              <a:rPr lang="en-US" altLang="zh-CN" dirty="0"/>
              <a:t>2</a:t>
            </a:r>
            <a:r>
              <a:rPr lang="zh-CN" altLang="en-US" dirty="0"/>
              <a:t>也想获取</a:t>
            </a:r>
            <a:r>
              <a:rPr lang="en-US" altLang="zh-CN" dirty="0" err="1"/>
              <a:t>mutex</a:t>
            </a:r>
            <a:r>
              <a:rPr lang="zh-CN" altLang="en-US" dirty="0"/>
              <a:t>，但是此时被线程</a:t>
            </a:r>
            <a:r>
              <a:rPr lang="en-US" altLang="zh-CN" dirty="0"/>
              <a:t>1</a:t>
            </a:r>
            <a:r>
              <a:rPr lang="zh-CN" altLang="en-US" dirty="0"/>
              <a:t>所占用，线程</a:t>
            </a:r>
            <a:r>
              <a:rPr lang="en-US" altLang="zh-CN" dirty="0"/>
              <a:t>2</a:t>
            </a:r>
            <a:r>
              <a:rPr lang="zh-CN" altLang="en-US" dirty="0"/>
              <a:t>进入休眠，等待</a:t>
            </a:r>
            <a:r>
              <a:rPr lang="en-US" altLang="zh-CN" dirty="0" err="1"/>
              <a:t>mutex</a:t>
            </a:r>
            <a:r>
              <a:rPr lang="zh-CN" altLang="en-US" dirty="0"/>
              <a:t>被释放</a:t>
            </a:r>
          </a:p>
          <a:p>
            <a:pPr lvl="1"/>
            <a:r>
              <a:rPr lang="zh-CN" altLang="en-US" dirty="0"/>
              <a:t>线程</a:t>
            </a:r>
            <a:r>
              <a:rPr lang="en-US" altLang="zh-CN" dirty="0"/>
              <a:t>1</a:t>
            </a:r>
            <a:r>
              <a:rPr lang="zh-CN" altLang="en-US" dirty="0"/>
              <a:t>做完数据处理后，调用</a:t>
            </a:r>
            <a:r>
              <a:rPr lang="en-US" altLang="zh-CN" dirty="0" err="1"/>
              <a:t>pthread_cond_signal</a:t>
            </a:r>
            <a:r>
              <a:rPr lang="zh-CN" altLang="en-US" dirty="0"/>
              <a:t>唤醒等待队列中线程</a:t>
            </a:r>
            <a:r>
              <a:rPr lang="en-US" altLang="zh-CN" dirty="0"/>
              <a:t>2</a:t>
            </a:r>
            <a:r>
              <a:rPr lang="zh-CN" altLang="en-US" dirty="0"/>
              <a:t>。线程</a:t>
            </a:r>
            <a:r>
              <a:rPr lang="en-US" altLang="zh-CN" dirty="0"/>
              <a:t>1</a:t>
            </a:r>
            <a:r>
              <a:rPr lang="zh-CN" altLang="en-US" dirty="0"/>
              <a:t>在调用</a:t>
            </a:r>
            <a:r>
              <a:rPr lang="en-US" altLang="zh-CN" dirty="0" err="1"/>
              <a:t>pthread_mutex_unlock</a:t>
            </a:r>
            <a:r>
              <a:rPr lang="zh-CN" altLang="en-US" dirty="0"/>
              <a:t>前，因为系统调度的原因，线程</a:t>
            </a:r>
            <a:r>
              <a:rPr lang="en-US" altLang="zh-CN" dirty="0"/>
              <a:t>2</a:t>
            </a:r>
            <a:r>
              <a:rPr lang="zh-CN" altLang="en-US" dirty="0"/>
              <a:t>获取使用</a:t>
            </a:r>
            <a:r>
              <a:rPr lang="en-US" altLang="zh-CN" dirty="0"/>
              <a:t>CPU</a:t>
            </a:r>
            <a:r>
              <a:rPr lang="zh-CN" altLang="en-US" dirty="0"/>
              <a:t>的权利，那么它就想要开始处理数据，但是在开始处理之前，</a:t>
            </a:r>
            <a:r>
              <a:rPr lang="en-US" altLang="zh-CN" dirty="0" err="1"/>
              <a:t>mutex</a:t>
            </a:r>
            <a:r>
              <a:rPr lang="zh-CN" altLang="en-US" dirty="0"/>
              <a:t>必须被获取，线程</a:t>
            </a:r>
            <a:r>
              <a:rPr lang="en-US" altLang="zh-CN" dirty="0"/>
              <a:t>1</a:t>
            </a:r>
            <a:r>
              <a:rPr lang="zh-CN" altLang="en-US" dirty="0"/>
              <a:t>正在使用</a:t>
            </a:r>
            <a:r>
              <a:rPr lang="en-US" altLang="zh-CN" dirty="0" err="1"/>
              <a:t>mutex</a:t>
            </a:r>
            <a:r>
              <a:rPr lang="zh-CN" altLang="en-US" dirty="0"/>
              <a:t>，所以线程</a:t>
            </a:r>
            <a:r>
              <a:rPr lang="en-US" altLang="zh-CN" dirty="0"/>
              <a:t>2</a:t>
            </a:r>
            <a:r>
              <a:rPr lang="zh-CN" altLang="en-US" dirty="0"/>
              <a:t>被迫再次进入休眠</a:t>
            </a:r>
          </a:p>
          <a:p>
            <a:pPr lvl="1"/>
            <a:r>
              <a:rPr lang="zh-CN" altLang="en-US" dirty="0"/>
              <a:t>然后就是线程</a:t>
            </a:r>
            <a:r>
              <a:rPr lang="en-US" altLang="zh-CN" dirty="0"/>
              <a:t>1</a:t>
            </a:r>
            <a:r>
              <a:rPr lang="zh-CN" altLang="en-US" dirty="0"/>
              <a:t>执行</a:t>
            </a:r>
            <a:r>
              <a:rPr lang="en-US" altLang="zh-CN" dirty="0" err="1"/>
              <a:t>pthread_mutex_unlock</a:t>
            </a:r>
            <a:r>
              <a:rPr lang="zh-CN" altLang="en-US" dirty="0"/>
              <a:t>后，线程</a:t>
            </a:r>
            <a:r>
              <a:rPr lang="en-US" altLang="zh-CN" dirty="0"/>
              <a:t>2</a:t>
            </a:r>
            <a:r>
              <a:rPr lang="zh-CN" altLang="en-US" dirty="0"/>
              <a:t>方能被再次唤醒。</a:t>
            </a:r>
          </a:p>
          <a:p>
            <a:pPr lvl="1"/>
            <a:r>
              <a:rPr lang="zh-CN" altLang="en-US" dirty="0"/>
              <a:t>十分低效</a:t>
            </a:r>
          </a:p>
          <a:p>
            <a:endParaRPr lang="zh-CN" altLang="en-US" dirty="0"/>
          </a:p>
        </p:txBody>
      </p:sp>
    </p:spTree>
    <p:extLst>
      <p:ext uri="{BB962C8B-B14F-4D97-AF65-F5344CB8AC3E}">
        <p14:creationId xmlns:p14="http://schemas.microsoft.com/office/powerpoint/2010/main" val="3290738521"/>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带超时功能的等待函数</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函数原型</a:t>
            </a:r>
          </a:p>
          <a:p>
            <a:pPr lvl="1">
              <a:buNone/>
            </a:pPr>
            <a:r>
              <a:rPr lang="en-US" altLang="zh-CN" dirty="0"/>
              <a:t>#include&lt;</a:t>
            </a:r>
            <a:r>
              <a:rPr lang="en-US" altLang="zh-CN" dirty="0" err="1"/>
              <a:t>pthread.h</a:t>
            </a:r>
            <a:r>
              <a:rPr lang="en-US" altLang="zh-CN" dirty="0"/>
              <a:t>&gt;</a:t>
            </a:r>
          </a:p>
          <a:p>
            <a:pPr lvl="1">
              <a:buNone/>
            </a:pPr>
            <a:r>
              <a:rPr lang="en-US" altLang="zh-CN" dirty="0" err="1"/>
              <a:t>int</a:t>
            </a:r>
            <a:r>
              <a:rPr lang="en-US" altLang="zh-CN" dirty="0"/>
              <a:t> </a:t>
            </a:r>
            <a:r>
              <a:rPr lang="en-US" altLang="zh-CN" dirty="0" err="1"/>
              <a:t>pthread_cond_timedwait</a:t>
            </a:r>
            <a:r>
              <a:rPr lang="en-US" altLang="zh-CN" dirty="0"/>
              <a:t>(</a:t>
            </a:r>
            <a:r>
              <a:rPr lang="en-US" altLang="zh-CN" dirty="0" err="1"/>
              <a:t>pthread_cond_t</a:t>
            </a:r>
            <a:r>
              <a:rPr lang="en-US" altLang="zh-CN" dirty="0"/>
              <a:t> *</a:t>
            </a:r>
            <a:r>
              <a:rPr lang="en-US" altLang="zh-CN" dirty="0" err="1"/>
              <a:t>cond</a:t>
            </a:r>
            <a:r>
              <a:rPr lang="en-US" altLang="zh-CN" dirty="0"/>
              <a:t>,</a:t>
            </a:r>
          </a:p>
          <a:p>
            <a:pPr lvl="1">
              <a:buNone/>
            </a:pPr>
            <a:r>
              <a:rPr lang="en-US" altLang="zh-CN" dirty="0"/>
              <a:t>				  </a:t>
            </a:r>
            <a:r>
              <a:rPr lang="en-US" altLang="zh-CN" dirty="0" err="1"/>
              <a:t>pthread_mutex_t</a:t>
            </a:r>
            <a:r>
              <a:rPr lang="en-US" altLang="zh-CN" dirty="0"/>
              <a:t> *</a:t>
            </a:r>
            <a:r>
              <a:rPr lang="en-US" altLang="zh-CN" dirty="0" err="1"/>
              <a:t>mutex</a:t>
            </a:r>
            <a:r>
              <a:rPr lang="en-US" altLang="zh-CN" dirty="0"/>
              <a:t>,</a:t>
            </a:r>
          </a:p>
          <a:p>
            <a:pPr lvl="1">
              <a:buNone/>
            </a:pPr>
            <a:r>
              <a:rPr lang="en-US" altLang="zh-CN" dirty="0"/>
              <a:t>				  </a:t>
            </a:r>
            <a:r>
              <a:rPr lang="en-US" altLang="zh-CN" dirty="0" err="1"/>
              <a:t>const</a:t>
            </a:r>
            <a:r>
              <a:rPr lang="en-US" altLang="zh-CN" dirty="0"/>
              <a:t> </a:t>
            </a:r>
            <a:r>
              <a:rPr lang="en-US" altLang="zh-CN" dirty="0" err="1"/>
              <a:t>timespec</a:t>
            </a:r>
            <a:r>
              <a:rPr lang="en-US" altLang="zh-CN" dirty="0"/>
              <a:t> *timeout);</a:t>
            </a:r>
          </a:p>
          <a:p>
            <a:r>
              <a:rPr lang="zh-CN" altLang="en-US" dirty="0"/>
              <a:t>参数与返回值</a:t>
            </a:r>
          </a:p>
          <a:p>
            <a:pPr lvl="1"/>
            <a:r>
              <a:rPr lang="en-US" altLang="zh-CN" dirty="0" err="1"/>
              <a:t>cond</a:t>
            </a:r>
            <a:r>
              <a:rPr lang="zh-CN" altLang="en-US" dirty="0"/>
              <a:t>：条件变量</a:t>
            </a:r>
          </a:p>
          <a:p>
            <a:pPr lvl="1"/>
            <a:r>
              <a:rPr lang="en-US" altLang="zh-CN" dirty="0" err="1"/>
              <a:t>mutex</a:t>
            </a:r>
            <a:r>
              <a:rPr lang="zh-CN" altLang="en-US" dirty="0"/>
              <a:t>：互斥量</a:t>
            </a:r>
          </a:p>
          <a:p>
            <a:pPr lvl="1"/>
            <a:r>
              <a:rPr lang="en-US" altLang="zh-CN" dirty="0" smtClean="0"/>
              <a:t>timeout</a:t>
            </a:r>
            <a:r>
              <a:rPr lang="zh-CN" altLang="en-US" dirty="0"/>
              <a:t>：超时时间，是一个绝对时间，而非相对时间</a:t>
            </a:r>
          </a:p>
          <a:p>
            <a:pPr lvl="2">
              <a:buFont typeface="Wingdings 2" panose="05020102010507070707" pitchFamily="18" charset="2"/>
              <a:buNone/>
            </a:pPr>
            <a:r>
              <a:rPr lang="zh-CN" altLang="en-US" sz="1800" dirty="0"/>
              <a:t> </a:t>
            </a:r>
            <a:r>
              <a:rPr lang="en-US" altLang="zh-CN" sz="1800" dirty="0" err="1"/>
              <a:t>struct</a:t>
            </a:r>
            <a:r>
              <a:rPr lang="en-US" altLang="zh-CN" sz="1800" dirty="0"/>
              <a:t> </a:t>
            </a:r>
            <a:r>
              <a:rPr lang="en-US" altLang="zh-CN" sz="1800" dirty="0" err="1"/>
              <a:t>timespec</a:t>
            </a:r>
            <a:r>
              <a:rPr lang="en-US" altLang="zh-CN" sz="1800" dirty="0"/>
              <a:t> {</a:t>
            </a:r>
          </a:p>
          <a:p>
            <a:pPr lvl="2">
              <a:buFont typeface="Wingdings 2" panose="05020102010507070707" pitchFamily="18" charset="2"/>
              <a:buNone/>
            </a:pPr>
            <a:r>
              <a:rPr lang="en-US" altLang="zh-CN" sz="1800" dirty="0"/>
              <a:t>     </a:t>
            </a:r>
            <a:r>
              <a:rPr lang="en-US" altLang="zh-CN" sz="1800" dirty="0" err="1"/>
              <a:t>time_t</a:t>
            </a:r>
            <a:r>
              <a:rPr lang="en-US" altLang="zh-CN" sz="1800" dirty="0"/>
              <a:t> </a:t>
            </a:r>
            <a:r>
              <a:rPr lang="en-US" altLang="zh-CN" sz="1800" dirty="0" err="1"/>
              <a:t>tv_sec</a:t>
            </a:r>
            <a:r>
              <a:rPr lang="en-US" altLang="zh-CN" sz="1800" dirty="0"/>
              <a:t>;  //</a:t>
            </a:r>
            <a:r>
              <a:rPr lang="zh-CN" altLang="en-US" sz="1800" dirty="0"/>
              <a:t>秒数</a:t>
            </a:r>
          </a:p>
          <a:p>
            <a:pPr lvl="2">
              <a:buFont typeface="Wingdings 2" panose="05020102010507070707" pitchFamily="18" charset="2"/>
              <a:buNone/>
            </a:pPr>
            <a:r>
              <a:rPr lang="zh-CN" altLang="en-US" sz="1800" dirty="0"/>
              <a:t>     </a:t>
            </a:r>
            <a:r>
              <a:rPr lang="en-US" altLang="zh-CN" sz="1800" dirty="0"/>
              <a:t>long </a:t>
            </a:r>
            <a:r>
              <a:rPr lang="en-US" altLang="zh-CN" sz="1800" dirty="0" err="1"/>
              <a:t>tv_nsec</a:t>
            </a:r>
            <a:r>
              <a:rPr lang="en-US" altLang="zh-CN" sz="1800" dirty="0"/>
              <a:t>;   //</a:t>
            </a:r>
            <a:r>
              <a:rPr lang="zh-CN" altLang="en-US" sz="1800" dirty="0"/>
              <a:t>纳秒</a:t>
            </a:r>
          </a:p>
          <a:p>
            <a:pPr lvl="2">
              <a:buFont typeface="Wingdings 2" panose="05020102010507070707" pitchFamily="18" charset="2"/>
              <a:buNone/>
            </a:pPr>
            <a:r>
              <a:rPr lang="zh-CN" altLang="en-US" sz="1800" dirty="0"/>
              <a:t> </a:t>
            </a:r>
            <a:r>
              <a:rPr lang="en-US" altLang="zh-CN" sz="1800" dirty="0"/>
              <a:t>}</a:t>
            </a:r>
            <a:r>
              <a:rPr lang="zh-CN" altLang="en-US" sz="1800" dirty="0"/>
              <a:t>；</a:t>
            </a:r>
          </a:p>
          <a:p>
            <a:endParaRPr lang="zh-CN" altLang="en-US" dirty="0"/>
          </a:p>
        </p:txBody>
      </p:sp>
    </p:spTree>
    <p:extLst>
      <p:ext uri="{BB962C8B-B14F-4D97-AF65-F5344CB8AC3E}">
        <p14:creationId xmlns:p14="http://schemas.microsoft.com/office/powerpoint/2010/main" val="59345706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带超时功能的等待</a:t>
            </a:r>
            <a:r>
              <a:rPr lang="zh-CN" altLang="zh-CN" dirty="0" smtClean="0"/>
              <a:t>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zh-CN" dirty="0"/>
              <a:t>超时值的设置</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635" y="1897308"/>
            <a:ext cx="7827963"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116983"/>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79425" y="1989138"/>
            <a:ext cx="10872788" cy="863600"/>
          </a:xfrm>
        </p:spPr>
        <p:txBody>
          <a:bodyPr rtlCol="0">
            <a:normAutofit/>
          </a:bodyPr>
          <a:lstStyle/>
          <a:p>
            <a:pPr fontAlgn="auto">
              <a:spcAft>
                <a:spcPts val="0"/>
              </a:spcAft>
              <a:defRPr/>
            </a:pPr>
            <a:r>
              <a:rPr lang="zh-CN" altLang="en-US" dirty="0" smtClean="0">
                <a:latin typeface="+mn-ea"/>
                <a:ea typeface="+mn-ea"/>
              </a:rPr>
              <a:t>第五章</a:t>
            </a:r>
            <a:r>
              <a:rPr lang="en-US" altLang="zh-CN" dirty="0" smtClean="0">
                <a:latin typeface="+mn-ea"/>
                <a:ea typeface="+mn-ea"/>
              </a:rPr>
              <a:t>-</a:t>
            </a:r>
            <a:r>
              <a:rPr lang="zh-CN" altLang="en-US" dirty="0" smtClean="0">
                <a:latin typeface="+mn-ea"/>
                <a:ea typeface="+mn-ea"/>
              </a:rPr>
              <a:t>进程控制和进程间通信</a:t>
            </a:r>
            <a:r>
              <a:rPr lang="en-US" altLang="zh-CN" dirty="0" smtClean="0">
                <a:latin typeface="+mn-ea"/>
                <a:ea typeface="+mn-ea"/>
              </a:rPr>
              <a:t>(</a:t>
            </a:r>
            <a:r>
              <a:rPr lang="zh-CN" altLang="en-US" dirty="0" smtClean="0">
                <a:latin typeface="+mn-ea"/>
                <a:ea typeface="+mn-ea"/>
              </a:rPr>
              <a:t>续</a:t>
            </a:r>
            <a:r>
              <a:rPr lang="en-US" altLang="zh-CN" dirty="0" smtClean="0">
                <a:latin typeface="+mn-ea"/>
                <a:ea typeface="+mn-ea"/>
              </a:rPr>
              <a:t>)</a:t>
            </a:r>
            <a:endParaRPr lang="en-US" altLang="zh-CN" dirty="0">
              <a:latin typeface="+mn-ea"/>
              <a:ea typeface="+mn-ea"/>
            </a:endParaRPr>
          </a:p>
        </p:txBody>
      </p:sp>
      <p:sp>
        <p:nvSpPr>
          <p:cNvPr id="6147" name="副标题 1"/>
          <p:cNvSpPr>
            <a:spLocks noGrp="1"/>
          </p:cNvSpPr>
          <p:nvPr>
            <p:ph type="subTitle" idx="1"/>
          </p:nvPr>
        </p:nvSpPr>
        <p:spPr/>
        <p:txBody>
          <a:bodyPr/>
          <a:lstStyle/>
          <a:p>
            <a:endParaRPr lang="zh-CN" altLang="en-US" smtClean="0"/>
          </a:p>
        </p:txBody>
      </p:sp>
    </p:spTree>
    <p:extLst>
      <p:ext uri="{BB962C8B-B14F-4D97-AF65-F5344CB8AC3E}">
        <p14:creationId xmlns:p14="http://schemas.microsoft.com/office/powerpoint/2010/main" val="3026052607"/>
      </p:ext>
    </p:extLst>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smtClean="0"/>
              <a:t>基本要求</a:t>
            </a:r>
          </a:p>
        </p:txBody>
      </p:sp>
      <p:sp>
        <p:nvSpPr>
          <p:cNvPr id="7171" name="Rectangle 3"/>
          <p:cNvSpPr>
            <a:spLocks noGrp="1" noChangeArrowheads="1"/>
          </p:cNvSpPr>
          <p:nvPr>
            <p:ph idx="1"/>
          </p:nvPr>
        </p:nvSpPr>
        <p:spPr/>
        <p:txBody>
          <a:bodyPr/>
          <a:lstStyle/>
          <a:p>
            <a:r>
              <a:rPr lang="en-US" altLang="zh-CN" smtClean="0"/>
              <a:t>System V IPC </a:t>
            </a:r>
            <a:r>
              <a:rPr lang="zh-CN" altLang="en-US" smtClean="0"/>
              <a:t>接口简介</a:t>
            </a:r>
          </a:p>
          <a:p>
            <a:pPr lvl="1"/>
            <a:r>
              <a:rPr lang="en-US" altLang="zh-CN" b="1" smtClean="0"/>
              <a:t>System V </a:t>
            </a:r>
            <a:r>
              <a:rPr lang="zh-CN" altLang="en-US" b="1" smtClean="0"/>
              <a:t>消息队列</a:t>
            </a:r>
          </a:p>
          <a:p>
            <a:pPr lvl="1"/>
            <a:r>
              <a:rPr lang="en-US" altLang="zh-CN" smtClean="0"/>
              <a:t>System V </a:t>
            </a:r>
            <a:r>
              <a:rPr lang="zh-CN" altLang="en-US" smtClean="0"/>
              <a:t>信号量</a:t>
            </a:r>
          </a:p>
          <a:p>
            <a:pPr lvl="1"/>
            <a:r>
              <a:rPr lang="en-US" altLang="zh-CN" smtClean="0"/>
              <a:t>System V </a:t>
            </a:r>
            <a:r>
              <a:rPr lang="zh-CN" altLang="en-US" smtClean="0"/>
              <a:t>共享内存</a:t>
            </a:r>
          </a:p>
          <a:p>
            <a:r>
              <a:rPr lang="en-US" altLang="zh-CN" smtClean="0"/>
              <a:t>POSIX IPC</a:t>
            </a:r>
            <a:r>
              <a:rPr lang="zh-CN" altLang="en-US" smtClean="0"/>
              <a:t>接口</a:t>
            </a:r>
          </a:p>
          <a:p>
            <a:pPr lvl="1"/>
            <a:r>
              <a:rPr lang="en-US" altLang="zh-CN" smtClean="0"/>
              <a:t>Posix </a:t>
            </a:r>
            <a:r>
              <a:rPr lang="zh-CN" altLang="en-US" smtClean="0"/>
              <a:t>消息队列</a:t>
            </a:r>
          </a:p>
          <a:p>
            <a:pPr lvl="1"/>
            <a:r>
              <a:rPr lang="en-US" altLang="zh-CN" b="1" smtClean="0"/>
              <a:t>Posix </a:t>
            </a:r>
            <a:r>
              <a:rPr lang="zh-CN" altLang="en-US" b="1" smtClean="0"/>
              <a:t>信号量</a:t>
            </a:r>
          </a:p>
          <a:p>
            <a:pPr lvl="1"/>
            <a:r>
              <a:rPr lang="en-US" altLang="zh-CN" b="1" smtClean="0"/>
              <a:t>Posix </a:t>
            </a:r>
            <a:r>
              <a:rPr lang="zh-CN" altLang="en-US" b="1" smtClean="0"/>
              <a:t>共享内存</a:t>
            </a:r>
          </a:p>
          <a:p>
            <a:pPr>
              <a:buFont typeface="Wingdings" pitchFamily="2" charset="2"/>
              <a:buNone/>
            </a:pPr>
            <a:endParaRPr lang="zh-CN" altLang="en-US" smtClean="0"/>
          </a:p>
          <a:p>
            <a:endParaRPr lang="en-US" altLang="zh-CN" smtClean="0"/>
          </a:p>
        </p:txBody>
      </p:sp>
    </p:spTree>
    <p:extLst>
      <p:ext uri="{BB962C8B-B14F-4D97-AF65-F5344CB8AC3E}">
        <p14:creationId xmlns:p14="http://schemas.microsoft.com/office/powerpoint/2010/main" val="577067813"/>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WordArt 3"/>
          <p:cNvSpPr>
            <a:spLocks noChangeArrowheads="1" noChangeShapeType="1" noTextEdit="1"/>
          </p:cNvSpPr>
          <p:nvPr/>
        </p:nvSpPr>
        <p:spPr bwMode="auto">
          <a:xfrm>
            <a:off x="3431704" y="2636912"/>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System V IPC</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接口</a:t>
            </a:r>
          </a:p>
        </p:txBody>
      </p:sp>
    </p:spTree>
    <p:extLst>
      <p:ext uri="{BB962C8B-B14F-4D97-AF65-F5344CB8AC3E}">
        <p14:creationId xmlns:p14="http://schemas.microsoft.com/office/powerpoint/2010/main" val="30833254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17091"/>
                                        </p:tgtEl>
                                        <p:attrNameLst>
                                          <p:attrName>style.visibility</p:attrName>
                                        </p:attrNameLst>
                                      </p:cBhvr>
                                      <p:to>
                                        <p:strVal val="visible"/>
                                      </p:to>
                                    </p:set>
                                    <p:anim calcmode="lin" valueType="num">
                                      <p:cBhvr>
                                        <p:cTn id="7" dur="500" fill="hold"/>
                                        <p:tgtEl>
                                          <p:spTgt spid="217091"/>
                                        </p:tgtEl>
                                        <p:attrNameLst>
                                          <p:attrName>ppt_w</p:attrName>
                                        </p:attrNameLst>
                                      </p:cBhvr>
                                      <p:tavLst>
                                        <p:tav tm="0">
                                          <p:val>
                                            <p:fltVal val="0"/>
                                          </p:val>
                                        </p:tav>
                                        <p:tav tm="100000">
                                          <p:val>
                                            <p:strVal val="#ppt_w"/>
                                          </p:val>
                                        </p:tav>
                                      </p:tavLst>
                                    </p:anim>
                                    <p:anim calcmode="lin" valueType="num">
                                      <p:cBhvr>
                                        <p:cTn id="8" dur="500" fill="hold"/>
                                        <p:tgtEl>
                                          <p:spTgt spid="217091"/>
                                        </p:tgtEl>
                                        <p:attrNameLst>
                                          <p:attrName>ppt_h</p:attrName>
                                        </p:attrNameLst>
                                      </p:cBhvr>
                                      <p:tavLst>
                                        <p:tav tm="0">
                                          <p:val>
                                            <p:fltVal val="0"/>
                                          </p:val>
                                        </p:tav>
                                        <p:tav tm="100000">
                                          <p:val>
                                            <p:strVal val="#ppt_h"/>
                                          </p:val>
                                        </p:tav>
                                      </p:tavLst>
                                    </p:anim>
                                    <p:animEffect transition="in" filter="fade">
                                      <p:cBhvr>
                                        <p:cTn id="9" dur="500"/>
                                        <p:tgtEl>
                                          <p:spTgt spid="217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smtClean="0"/>
              <a:t>System V IPC </a:t>
            </a:r>
            <a:r>
              <a:rPr lang="zh-CN" altLang="en-US" smtClean="0"/>
              <a:t>接口</a:t>
            </a:r>
          </a:p>
        </p:txBody>
      </p:sp>
      <p:sp>
        <p:nvSpPr>
          <p:cNvPr id="9219" name="Rectangle 3"/>
          <p:cNvSpPr>
            <a:spLocks noGrp="1" noChangeArrowheads="1"/>
          </p:cNvSpPr>
          <p:nvPr>
            <p:ph idx="1"/>
          </p:nvPr>
        </p:nvSpPr>
        <p:spPr/>
        <p:txBody>
          <a:bodyPr/>
          <a:lstStyle/>
          <a:p>
            <a:pPr>
              <a:lnSpc>
                <a:spcPct val="80000"/>
              </a:lnSpc>
            </a:pPr>
            <a:r>
              <a:rPr lang="zh-CN" altLang="en-US" sz="2000" smtClean="0"/>
              <a:t>由于历史原因</a:t>
            </a:r>
            <a:r>
              <a:rPr lang="en-US" altLang="zh-CN" sz="2000" smtClean="0"/>
              <a:t>, linux</a:t>
            </a:r>
            <a:r>
              <a:rPr lang="zh-CN" altLang="en-US" sz="2000" smtClean="0"/>
              <a:t>下的进程通信手段基本上是从</a:t>
            </a:r>
            <a:r>
              <a:rPr lang="en-US" altLang="zh-CN" sz="2000" smtClean="0"/>
              <a:t>Unix</a:t>
            </a:r>
            <a:r>
              <a:rPr lang="zh-CN" altLang="en-US" sz="2000" smtClean="0"/>
              <a:t>平台上的进程通信手段继承而来的 </a:t>
            </a:r>
            <a:r>
              <a:rPr lang="en-US" altLang="zh-CN" sz="2000" smtClean="0"/>
              <a:t>.</a:t>
            </a:r>
          </a:p>
          <a:p>
            <a:pPr>
              <a:lnSpc>
                <a:spcPct val="80000"/>
              </a:lnSpc>
            </a:pPr>
            <a:r>
              <a:rPr lang="en-US" altLang="zh-CN" sz="2000" smtClean="0"/>
              <a:t>Unix</a:t>
            </a:r>
            <a:r>
              <a:rPr lang="zh-CN" altLang="en-US" sz="2000" smtClean="0"/>
              <a:t>发展做出重大贡献的两大主力</a:t>
            </a:r>
            <a:r>
              <a:rPr lang="en-US" altLang="zh-CN" sz="2000" smtClean="0"/>
              <a:t>AT&amp;T</a:t>
            </a:r>
            <a:r>
              <a:rPr lang="zh-CN" altLang="en-US" sz="2000" smtClean="0"/>
              <a:t>的贝尔实验室及</a:t>
            </a:r>
            <a:r>
              <a:rPr lang="en-US" altLang="zh-CN" sz="2000" smtClean="0"/>
              <a:t>BSD</a:t>
            </a:r>
            <a:r>
              <a:rPr lang="zh-CN" altLang="en-US" sz="2000" smtClean="0"/>
              <a:t>（加州大学伯克利分校的伯克利软件发布中心）在进程间通信方面的侧重点有所不同 </a:t>
            </a:r>
          </a:p>
          <a:p>
            <a:pPr lvl="1">
              <a:lnSpc>
                <a:spcPct val="80000"/>
              </a:lnSpc>
            </a:pPr>
            <a:r>
              <a:rPr lang="zh-CN" altLang="en-US" sz="1800" smtClean="0"/>
              <a:t>贝尔实验室对</a:t>
            </a:r>
            <a:r>
              <a:rPr lang="en-US" altLang="zh-CN" sz="1800" smtClean="0"/>
              <a:t>Unix</a:t>
            </a:r>
            <a:r>
              <a:rPr lang="zh-CN" altLang="en-US" sz="1800" smtClean="0"/>
              <a:t>早期的进程间通信手段进行了系统的改进和扩充，形成了</a:t>
            </a:r>
            <a:r>
              <a:rPr lang="zh-CN" altLang="en-US" sz="1800" smtClean="0">
                <a:latin typeface="Arial" charset="0"/>
              </a:rPr>
              <a:t>“</a:t>
            </a:r>
            <a:r>
              <a:rPr lang="en-US" altLang="zh-CN" sz="1800" smtClean="0"/>
              <a:t>system V IPC</a:t>
            </a:r>
            <a:r>
              <a:rPr lang="en-US" altLang="zh-CN" sz="1800" smtClean="0">
                <a:latin typeface="Arial" charset="0"/>
              </a:rPr>
              <a:t>”</a:t>
            </a:r>
            <a:r>
              <a:rPr lang="zh-CN" altLang="en-US" sz="1800" smtClean="0"/>
              <a:t>，通信进程局限在单个计算机内 </a:t>
            </a:r>
            <a:r>
              <a:rPr lang="en-US" altLang="zh-CN" sz="1800" smtClean="0"/>
              <a:t>.</a:t>
            </a:r>
          </a:p>
          <a:p>
            <a:pPr lvl="1">
              <a:lnSpc>
                <a:spcPct val="80000"/>
              </a:lnSpc>
            </a:pPr>
            <a:r>
              <a:rPr lang="en-US" altLang="zh-CN" sz="1800" smtClean="0"/>
              <a:t>BSD</a:t>
            </a:r>
            <a:r>
              <a:rPr lang="zh-CN" altLang="en-US" sz="1800" smtClean="0"/>
              <a:t>则形成了基于套接口（</a:t>
            </a:r>
            <a:r>
              <a:rPr lang="en-US" altLang="zh-CN" sz="1800" smtClean="0"/>
              <a:t>socket</a:t>
            </a:r>
            <a:r>
              <a:rPr lang="zh-CN" altLang="en-US" sz="1800" smtClean="0"/>
              <a:t>）的进程间通信机制 </a:t>
            </a:r>
            <a:r>
              <a:rPr lang="en-US" altLang="zh-CN" sz="1800" smtClean="0"/>
              <a:t>,</a:t>
            </a:r>
            <a:r>
              <a:rPr lang="zh-CN" altLang="en-US" sz="1800" smtClean="0"/>
              <a:t>可以在跨机器进行通信</a:t>
            </a:r>
            <a:r>
              <a:rPr lang="en-US" altLang="zh-CN" sz="1800" smtClean="0"/>
              <a:t>.</a:t>
            </a:r>
          </a:p>
          <a:p>
            <a:pPr>
              <a:lnSpc>
                <a:spcPct val="80000"/>
              </a:lnSpc>
            </a:pPr>
            <a:r>
              <a:rPr lang="zh-CN" altLang="en-US" sz="2000" smtClean="0"/>
              <a:t>由于</a:t>
            </a:r>
            <a:r>
              <a:rPr lang="en-US" altLang="zh-CN" sz="2000" smtClean="0"/>
              <a:t>Unix</a:t>
            </a:r>
            <a:r>
              <a:rPr lang="zh-CN" altLang="en-US" sz="2000" smtClean="0"/>
              <a:t>版本的多样性，电子电气工程协会（</a:t>
            </a:r>
            <a:r>
              <a:rPr lang="en-US" altLang="zh-CN" sz="2000" smtClean="0"/>
              <a:t>IEEE</a:t>
            </a:r>
            <a:r>
              <a:rPr lang="zh-CN" altLang="en-US" sz="2000" smtClean="0"/>
              <a:t>）开发了一个独立的</a:t>
            </a:r>
            <a:r>
              <a:rPr lang="en-US" altLang="zh-CN" sz="2000" smtClean="0"/>
              <a:t>Unix</a:t>
            </a:r>
            <a:r>
              <a:rPr lang="zh-CN" altLang="en-US" sz="2000" smtClean="0"/>
              <a:t>标准，这个新的</a:t>
            </a:r>
            <a:r>
              <a:rPr lang="en-US" altLang="zh-CN" sz="2000" smtClean="0"/>
              <a:t>ANSI Unix</a:t>
            </a:r>
            <a:r>
              <a:rPr lang="zh-CN" altLang="en-US" sz="2000" smtClean="0"/>
              <a:t>标准被称为计算机环境的可移植性操作系统界面（</a:t>
            </a:r>
            <a:r>
              <a:rPr lang="en-US" altLang="zh-CN" sz="2000" smtClean="0"/>
              <a:t>POSIX</a:t>
            </a:r>
            <a:r>
              <a:rPr lang="zh-CN" altLang="en-US" sz="2000" smtClean="0"/>
              <a:t>）。 他也发展出一套新的</a:t>
            </a:r>
            <a:r>
              <a:rPr lang="en-US" altLang="zh-CN" sz="2000" smtClean="0"/>
              <a:t>IPC</a:t>
            </a:r>
            <a:r>
              <a:rPr lang="zh-CN" altLang="en-US" sz="2000" smtClean="0"/>
              <a:t>接口</a:t>
            </a:r>
            <a:r>
              <a:rPr lang="en-US" altLang="zh-CN" sz="2000" smtClean="0"/>
              <a:t>.Linux </a:t>
            </a:r>
            <a:r>
              <a:rPr lang="zh-CN" altLang="en-US" sz="2000" smtClean="0"/>
              <a:t>本身支持</a:t>
            </a:r>
            <a:r>
              <a:rPr lang="en-US" altLang="zh-CN" sz="2000" smtClean="0"/>
              <a:t>POSIX</a:t>
            </a:r>
            <a:r>
              <a:rPr lang="zh-CN" altLang="en-US" sz="2000" smtClean="0"/>
              <a:t>接口</a:t>
            </a:r>
            <a:r>
              <a:rPr lang="en-US" altLang="zh-CN" sz="2000" smtClean="0"/>
              <a:t>.</a:t>
            </a:r>
            <a:r>
              <a:rPr lang="zh-CN" altLang="en-US" sz="2000" smtClean="0"/>
              <a:t>因此也支持</a:t>
            </a:r>
            <a:r>
              <a:rPr lang="en-US" altLang="zh-CN" sz="2000" smtClean="0"/>
              <a:t>POSIX</a:t>
            </a:r>
            <a:r>
              <a:rPr lang="zh-CN" altLang="en-US" sz="2000" smtClean="0"/>
              <a:t>的</a:t>
            </a:r>
            <a:r>
              <a:rPr lang="en-US" altLang="zh-CN" sz="2000" smtClean="0"/>
              <a:t>IPC</a:t>
            </a:r>
            <a:r>
              <a:rPr lang="zh-CN" altLang="en-US" sz="2000" smtClean="0"/>
              <a:t>接口</a:t>
            </a:r>
          </a:p>
          <a:p>
            <a:pPr>
              <a:lnSpc>
                <a:spcPct val="80000"/>
              </a:lnSpc>
            </a:pPr>
            <a:r>
              <a:rPr lang="zh-CN" altLang="en-US" sz="2000" smtClean="0"/>
              <a:t>最初</a:t>
            </a:r>
            <a:r>
              <a:rPr lang="en-US" altLang="zh-CN" sz="2000" smtClean="0"/>
              <a:t>Unix IPC</a:t>
            </a:r>
            <a:r>
              <a:rPr lang="zh-CN" altLang="en-US" sz="2000" smtClean="0"/>
              <a:t>包括：管道、</a:t>
            </a:r>
            <a:r>
              <a:rPr lang="en-US" altLang="zh-CN" sz="2000" smtClean="0"/>
              <a:t>FIFO</a:t>
            </a:r>
            <a:r>
              <a:rPr lang="zh-CN" altLang="en-US" sz="2000" smtClean="0"/>
              <a:t>、信号 </a:t>
            </a:r>
            <a:r>
              <a:rPr lang="en-US" altLang="zh-CN" sz="2000" smtClean="0"/>
              <a:t>, System V IPC</a:t>
            </a:r>
            <a:r>
              <a:rPr lang="zh-CN" altLang="en-US" sz="2000" smtClean="0"/>
              <a:t>包括：</a:t>
            </a:r>
            <a:r>
              <a:rPr lang="en-US" altLang="zh-CN" sz="2000" smtClean="0"/>
              <a:t>System V</a:t>
            </a:r>
            <a:r>
              <a:rPr lang="zh-CN" altLang="en-US" sz="2000" smtClean="0"/>
              <a:t>消息队列、</a:t>
            </a:r>
            <a:r>
              <a:rPr lang="en-US" altLang="zh-CN" sz="2000" smtClean="0"/>
              <a:t>System V</a:t>
            </a:r>
            <a:r>
              <a:rPr lang="zh-CN" altLang="en-US" sz="2000" smtClean="0"/>
              <a:t>信号灯、</a:t>
            </a:r>
            <a:r>
              <a:rPr lang="en-US" altLang="zh-CN" sz="2000" smtClean="0"/>
              <a:t>System V</a:t>
            </a:r>
            <a:r>
              <a:rPr lang="zh-CN" altLang="en-US" sz="2000" smtClean="0"/>
              <a:t>共享内存区 </a:t>
            </a:r>
            <a:r>
              <a:rPr lang="en-US" altLang="zh-CN" sz="2000" smtClean="0"/>
              <a:t>, Posix IPC</a:t>
            </a:r>
            <a:r>
              <a:rPr lang="zh-CN" altLang="en-US" sz="2000" smtClean="0"/>
              <a:t>包括： </a:t>
            </a:r>
            <a:r>
              <a:rPr lang="en-US" altLang="zh-CN" sz="2000" smtClean="0"/>
              <a:t>Posix</a:t>
            </a:r>
            <a:r>
              <a:rPr lang="zh-CN" altLang="en-US" sz="2000" smtClean="0"/>
              <a:t>消息队列、</a:t>
            </a:r>
            <a:r>
              <a:rPr lang="en-US" altLang="zh-CN" sz="2000" smtClean="0"/>
              <a:t>Posix</a:t>
            </a:r>
            <a:r>
              <a:rPr lang="zh-CN" altLang="en-US" sz="2000" smtClean="0"/>
              <a:t>信号灯、</a:t>
            </a:r>
            <a:r>
              <a:rPr lang="en-US" altLang="zh-CN" sz="2000" smtClean="0"/>
              <a:t>Posix</a:t>
            </a:r>
            <a:r>
              <a:rPr lang="zh-CN" altLang="en-US" sz="2000" smtClean="0"/>
              <a:t>共享内存区。</a:t>
            </a:r>
          </a:p>
          <a:p>
            <a:pPr>
              <a:lnSpc>
                <a:spcPct val="80000"/>
              </a:lnSpc>
            </a:pPr>
            <a:r>
              <a:rPr lang="zh-CN" altLang="en-US" sz="2000" smtClean="0"/>
              <a:t> </a:t>
            </a:r>
            <a:r>
              <a:rPr lang="en-US" altLang="zh-CN" sz="2000" smtClean="0"/>
              <a:t>System V IPC</a:t>
            </a:r>
            <a:r>
              <a:rPr lang="zh-CN" altLang="en-US" sz="2000" smtClean="0"/>
              <a:t>通常在多个操作系统均实现</a:t>
            </a:r>
            <a:r>
              <a:rPr lang="en-US" altLang="zh-CN" sz="2000" smtClean="0"/>
              <a:t>,</a:t>
            </a:r>
            <a:r>
              <a:rPr lang="zh-CN" altLang="en-US" sz="2000" smtClean="0"/>
              <a:t>包括一般的嵌入式</a:t>
            </a:r>
            <a:r>
              <a:rPr lang="en-US" altLang="zh-CN" sz="2000" smtClean="0"/>
              <a:t>Linux</a:t>
            </a:r>
            <a:r>
              <a:rPr lang="zh-CN" altLang="en-US" sz="2000" smtClean="0"/>
              <a:t>系统</a:t>
            </a:r>
            <a:r>
              <a:rPr lang="en-US" altLang="zh-CN" sz="2000" smtClean="0"/>
              <a:t>,</a:t>
            </a:r>
            <a:r>
              <a:rPr lang="zh-CN" altLang="en-US" sz="2000" smtClean="0"/>
              <a:t>因此本课程主要介绍</a:t>
            </a:r>
            <a:r>
              <a:rPr lang="en-US" altLang="zh-CN" sz="2000" smtClean="0"/>
              <a:t>system V IPC</a:t>
            </a:r>
          </a:p>
        </p:txBody>
      </p:sp>
    </p:spTree>
    <p:extLst>
      <p:ext uri="{BB962C8B-B14F-4D97-AF65-F5344CB8AC3E}">
        <p14:creationId xmlns:p14="http://schemas.microsoft.com/office/powerpoint/2010/main" val="2197668944"/>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smtClean="0"/>
              <a:t>Linux </a:t>
            </a:r>
            <a:r>
              <a:rPr lang="zh-CN" altLang="en-US" smtClean="0"/>
              <a:t>的</a:t>
            </a:r>
            <a:r>
              <a:rPr lang="en-US" altLang="zh-CN" smtClean="0"/>
              <a:t>IPC</a:t>
            </a:r>
          </a:p>
        </p:txBody>
      </p:sp>
      <p:pic>
        <p:nvPicPr>
          <p:cNvPr id="11267" name="Picture 4"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550" y="1773238"/>
            <a:ext cx="7200900"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4765067"/>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endParaRPr lang="zh-CN" altLang="zh-CN" smtClean="0"/>
          </a:p>
        </p:txBody>
      </p:sp>
      <p:sp>
        <p:nvSpPr>
          <p:cNvPr id="225283" name="Rectangle 3"/>
          <p:cNvSpPr>
            <a:spLocks noGrp="1" noChangeArrowheads="1"/>
          </p:cNvSpPr>
          <p:nvPr>
            <p:ph idx="1"/>
          </p:nvPr>
        </p:nvSpPr>
        <p:spPr/>
        <p:txBody>
          <a:bodyPr rtlCol="0">
            <a:normAutofit fontScale="92500" lnSpcReduction="10000"/>
          </a:bodyPr>
          <a:lstStyle/>
          <a:p>
            <a:pPr fontAlgn="auto">
              <a:spcAft>
                <a:spcPts val="0"/>
              </a:spcAft>
              <a:buFont typeface="Arial" panose="020B0604020202020204" pitchFamily="34" charset="0"/>
              <a:buChar char="•"/>
              <a:defRPr/>
            </a:pPr>
            <a:r>
              <a:rPr lang="en-US" altLang="zh-CN"/>
              <a:t>SystemV IPC</a:t>
            </a:r>
            <a:r>
              <a:rPr lang="zh-CN" altLang="en-US"/>
              <a:t>指以下三种类型的</a:t>
            </a:r>
            <a:r>
              <a:rPr lang="en-US" altLang="zh-CN"/>
              <a:t>IPC</a:t>
            </a:r>
            <a:r>
              <a:rPr lang="zh-CN" altLang="en-US"/>
              <a:t>：</a:t>
            </a:r>
          </a:p>
          <a:p>
            <a:pPr lvl="1" fontAlgn="auto">
              <a:spcAft>
                <a:spcPts val="0"/>
              </a:spcAft>
              <a:buFont typeface="Arial" panose="020B0604020202020204" pitchFamily="34" charset="0"/>
              <a:buChar char="•"/>
              <a:defRPr/>
            </a:pPr>
            <a:r>
              <a:rPr lang="en-US" altLang="zh-CN"/>
              <a:t>SystemV</a:t>
            </a:r>
            <a:r>
              <a:rPr lang="zh-CN" altLang="en-US"/>
              <a:t>消息队列 </a:t>
            </a:r>
            <a:r>
              <a:rPr lang="en-US" altLang="zh-CN"/>
              <a:t>sys/msg.h</a:t>
            </a:r>
          </a:p>
          <a:p>
            <a:pPr lvl="1" fontAlgn="auto">
              <a:spcAft>
                <a:spcPts val="0"/>
              </a:spcAft>
              <a:buFont typeface="Arial" panose="020B0604020202020204" pitchFamily="34" charset="0"/>
              <a:buChar char="•"/>
              <a:defRPr/>
            </a:pPr>
            <a:r>
              <a:rPr lang="en-US" altLang="zh-CN"/>
              <a:t>SystemV</a:t>
            </a:r>
            <a:r>
              <a:rPr lang="zh-CN" altLang="en-US"/>
              <a:t>信号灯 </a:t>
            </a:r>
            <a:r>
              <a:rPr lang="en-US" altLang="zh-CN"/>
              <a:t>sys/sem.h</a:t>
            </a:r>
          </a:p>
          <a:p>
            <a:pPr lvl="1" fontAlgn="auto">
              <a:spcAft>
                <a:spcPts val="0"/>
              </a:spcAft>
              <a:buFont typeface="Arial" panose="020B0604020202020204" pitchFamily="34" charset="0"/>
              <a:buChar char="•"/>
              <a:defRPr/>
            </a:pPr>
            <a:r>
              <a:rPr lang="en-US" altLang="zh-CN"/>
              <a:t>SystemV</a:t>
            </a:r>
            <a:r>
              <a:rPr lang="zh-CN" altLang="en-US"/>
              <a:t>共享内存区 </a:t>
            </a:r>
            <a:r>
              <a:rPr lang="en-US" altLang="zh-CN"/>
              <a:t>sys/shm.h</a:t>
            </a:r>
            <a:endParaRPr lang="en-US" altLang="zh-CN" b="1"/>
          </a:p>
          <a:p>
            <a:pPr fontAlgn="auto">
              <a:spcAft>
                <a:spcPts val="0"/>
              </a:spcAft>
              <a:buFont typeface="Arial" panose="020B0604020202020204" pitchFamily="34" charset="0"/>
              <a:buChar char="•"/>
              <a:defRPr/>
            </a:pPr>
            <a:r>
              <a:rPr lang="zh-CN" altLang="en-US" b="1"/>
              <a:t>创建或打开函数</a:t>
            </a:r>
          </a:p>
          <a:p>
            <a:pPr lvl="1" fontAlgn="auto">
              <a:spcAft>
                <a:spcPts val="0"/>
              </a:spcAft>
              <a:buFont typeface="Arial" panose="020B0604020202020204" pitchFamily="34" charset="0"/>
              <a:buChar char="•"/>
              <a:defRPr/>
            </a:pPr>
            <a:r>
              <a:rPr lang="en-US" altLang="zh-CN"/>
              <a:t>msgget,semget,shmget</a:t>
            </a:r>
          </a:p>
          <a:p>
            <a:pPr fontAlgn="auto">
              <a:spcAft>
                <a:spcPts val="0"/>
              </a:spcAft>
              <a:buFont typeface="Arial" panose="020B0604020202020204" pitchFamily="34" charset="0"/>
              <a:buChar char="•"/>
              <a:defRPr/>
            </a:pPr>
            <a:r>
              <a:rPr lang="zh-CN" altLang="en-US" b="1"/>
              <a:t>控制操作函数</a:t>
            </a:r>
          </a:p>
          <a:p>
            <a:pPr lvl="1" fontAlgn="auto">
              <a:spcAft>
                <a:spcPts val="0"/>
              </a:spcAft>
              <a:buFont typeface="Arial" panose="020B0604020202020204" pitchFamily="34" charset="0"/>
              <a:buChar char="•"/>
              <a:defRPr/>
            </a:pPr>
            <a:r>
              <a:rPr lang="en-US" altLang="zh-CN"/>
              <a:t>msgctl,semctl,shmctl</a:t>
            </a:r>
          </a:p>
          <a:p>
            <a:pPr fontAlgn="auto">
              <a:spcAft>
                <a:spcPts val="0"/>
              </a:spcAft>
              <a:buFont typeface="Arial" panose="020B0604020202020204" pitchFamily="34" charset="0"/>
              <a:buChar char="•"/>
              <a:defRPr/>
            </a:pPr>
            <a:r>
              <a:rPr lang="zh-CN" altLang="en-US" b="1"/>
              <a:t>操作函数</a:t>
            </a:r>
          </a:p>
          <a:p>
            <a:pPr lvl="1" fontAlgn="auto">
              <a:spcAft>
                <a:spcPts val="0"/>
              </a:spcAft>
              <a:buFont typeface="Arial" panose="020B0604020202020204" pitchFamily="34" charset="0"/>
              <a:buChar char="•"/>
              <a:defRPr/>
            </a:pPr>
            <a:r>
              <a:rPr lang="zh-CN" altLang="en-US"/>
              <a:t> </a:t>
            </a:r>
            <a:r>
              <a:rPr lang="en-US" altLang="zh-CN"/>
              <a:t>msgsnd,msgrcv,semop,shmat,shmdt</a:t>
            </a:r>
          </a:p>
        </p:txBody>
      </p:sp>
    </p:spTree>
    <p:extLst>
      <p:ext uri="{BB962C8B-B14F-4D97-AF65-F5344CB8AC3E}">
        <p14:creationId xmlns:p14="http://schemas.microsoft.com/office/powerpoint/2010/main" val="173375574"/>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smtClean="0"/>
              <a:t>System V</a:t>
            </a:r>
            <a:r>
              <a:rPr lang="zh-CN" altLang="en-US" smtClean="0"/>
              <a:t>关键字</a:t>
            </a:r>
          </a:p>
        </p:txBody>
      </p:sp>
      <p:sp>
        <p:nvSpPr>
          <p:cNvPr id="13315" name="Rectangle 3"/>
          <p:cNvSpPr>
            <a:spLocks noGrp="1" noChangeArrowheads="1"/>
          </p:cNvSpPr>
          <p:nvPr>
            <p:ph idx="1"/>
          </p:nvPr>
        </p:nvSpPr>
        <p:spPr>
          <a:xfrm>
            <a:off x="987668" y="1160584"/>
            <a:ext cx="10204939" cy="5486400"/>
          </a:xfrm>
        </p:spPr>
        <p:txBody>
          <a:bodyPr/>
          <a:lstStyle/>
          <a:p>
            <a:r>
              <a:rPr lang="zh-CN" altLang="en-US" dirty="0" smtClean="0"/>
              <a:t>每一个</a:t>
            </a:r>
            <a:r>
              <a:rPr lang="en-US" altLang="zh-CN" dirty="0" smtClean="0"/>
              <a:t>System V </a:t>
            </a:r>
            <a:r>
              <a:rPr lang="zh-CN" altLang="en-US" dirty="0" smtClean="0"/>
              <a:t>对象</a:t>
            </a:r>
            <a:r>
              <a:rPr lang="en-US" altLang="zh-CN" dirty="0" smtClean="0"/>
              <a:t>(</a:t>
            </a:r>
            <a:r>
              <a:rPr lang="zh-CN" altLang="en-US" dirty="0" smtClean="0"/>
              <a:t>消息队列</a:t>
            </a:r>
            <a:r>
              <a:rPr lang="en-US" altLang="zh-CN" dirty="0" smtClean="0"/>
              <a:t>,</a:t>
            </a:r>
            <a:r>
              <a:rPr lang="zh-CN" altLang="en-US" dirty="0" smtClean="0"/>
              <a:t>共享内存和信号量</a:t>
            </a:r>
            <a:r>
              <a:rPr lang="en-US" altLang="zh-CN" dirty="0" smtClean="0"/>
              <a:t>)</a:t>
            </a:r>
            <a:r>
              <a:rPr lang="zh-CN" altLang="en-US" dirty="0" smtClean="0"/>
              <a:t>创建时</a:t>
            </a:r>
            <a:r>
              <a:rPr lang="en-US" altLang="zh-CN" dirty="0" smtClean="0"/>
              <a:t>,</a:t>
            </a:r>
            <a:r>
              <a:rPr lang="zh-CN" altLang="en-US" dirty="0" smtClean="0"/>
              <a:t>需要的第一个参数是整数的</a:t>
            </a:r>
            <a:r>
              <a:rPr lang="en-US" altLang="zh-CN" dirty="0" smtClean="0"/>
              <a:t>Key</a:t>
            </a:r>
            <a:r>
              <a:rPr lang="zh-CN" altLang="en-US" dirty="0" smtClean="0"/>
              <a:t>值</a:t>
            </a:r>
            <a:r>
              <a:rPr lang="en-US" altLang="zh-CN" dirty="0" smtClean="0"/>
              <a:t>,</a:t>
            </a:r>
          </a:p>
          <a:p>
            <a:pPr lvl="1"/>
            <a:r>
              <a:rPr lang="zh-CN" altLang="en-US" dirty="0" smtClean="0"/>
              <a:t>头文件</a:t>
            </a:r>
            <a:r>
              <a:rPr lang="en-US" altLang="zh-CN" dirty="0" smtClean="0"/>
              <a:t>&lt;sys/</a:t>
            </a:r>
            <a:r>
              <a:rPr lang="en-US" altLang="zh-CN" dirty="0" err="1" smtClean="0"/>
              <a:t>types.h</a:t>
            </a:r>
            <a:r>
              <a:rPr lang="en-US" altLang="zh-CN" dirty="0" smtClean="0"/>
              <a:t>&gt;</a:t>
            </a:r>
            <a:r>
              <a:rPr lang="zh-CN" altLang="en-US" dirty="0" smtClean="0"/>
              <a:t>把</a:t>
            </a:r>
            <a:r>
              <a:rPr lang="en-US" altLang="zh-CN" dirty="0" err="1" smtClean="0"/>
              <a:t>key_t</a:t>
            </a:r>
            <a:r>
              <a:rPr lang="zh-CN" altLang="en-US" dirty="0" smtClean="0"/>
              <a:t>定义为一个整数</a:t>
            </a:r>
          </a:p>
          <a:p>
            <a:r>
              <a:rPr lang="en-US" altLang="zh-CN" dirty="0" smtClean="0"/>
              <a:t>System V </a:t>
            </a:r>
            <a:r>
              <a:rPr lang="zh-CN" altLang="en-US" dirty="0" smtClean="0"/>
              <a:t>创建对象时假设进行</a:t>
            </a:r>
            <a:r>
              <a:rPr lang="en-US" altLang="zh-CN" dirty="0" smtClean="0"/>
              <a:t>IPC</a:t>
            </a:r>
            <a:r>
              <a:rPr lang="zh-CN" altLang="en-US" dirty="0" smtClean="0"/>
              <a:t>通讯双方都取了相同的</a:t>
            </a:r>
            <a:r>
              <a:rPr lang="en-US" altLang="zh-CN" dirty="0" smtClean="0"/>
              <a:t>key</a:t>
            </a:r>
            <a:r>
              <a:rPr lang="zh-CN" altLang="en-US" dirty="0" smtClean="0"/>
              <a:t>值</a:t>
            </a:r>
            <a:r>
              <a:rPr lang="en-US" altLang="zh-CN" dirty="0" smtClean="0"/>
              <a:t>.</a:t>
            </a:r>
            <a:r>
              <a:rPr lang="zh-CN" altLang="en-US" dirty="0" smtClean="0"/>
              <a:t>这样将双方关联起来</a:t>
            </a:r>
          </a:p>
          <a:p>
            <a:r>
              <a:rPr lang="zh-CN" altLang="en-US" dirty="0" smtClean="0"/>
              <a:t>生成</a:t>
            </a:r>
            <a:r>
              <a:rPr lang="en-US" altLang="zh-CN" dirty="0" smtClean="0"/>
              <a:t>key</a:t>
            </a:r>
            <a:r>
              <a:rPr lang="zh-CN" altLang="en-US" dirty="0" smtClean="0"/>
              <a:t>的方法有三种</a:t>
            </a:r>
          </a:p>
          <a:p>
            <a:pPr lvl="1"/>
            <a:r>
              <a:rPr lang="zh-CN" altLang="en-US" dirty="0" smtClean="0"/>
              <a:t>双方直接设置为一个相同的整数为</a:t>
            </a:r>
            <a:r>
              <a:rPr lang="en-US" altLang="zh-CN" dirty="0" smtClean="0"/>
              <a:t>key</a:t>
            </a:r>
            <a:r>
              <a:rPr lang="zh-CN" altLang="en-US" dirty="0" smtClean="0"/>
              <a:t>值</a:t>
            </a:r>
          </a:p>
          <a:p>
            <a:pPr lvl="1"/>
            <a:r>
              <a:rPr lang="zh-CN" altLang="en-US" dirty="0" smtClean="0"/>
              <a:t>用</a:t>
            </a:r>
            <a:r>
              <a:rPr lang="en-US" altLang="zh-CN" dirty="0" smtClean="0"/>
              <a:t>IPC_PRIVA</a:t>
            </a:r>
            <a:r>
              <a:rPr lang="zh-CN" altLang="en-US" dirty="0" smtClean="0"/>
              <a:t>让系统自动产生一个</a:t>
            </a:r>
            <a:r>
              <a:rPr lang="en-US" altLang="zh-CN" dirty="0" smtClean="0"/>
              <a:t>key</a:t>
            </a:r>
            <a:r>
              <a:rPr lang="zh-CN" altLang="en-US" dirty="0" smtClean="0"/>
              <a:t>值，</a:t>
            </a:r>
          </a:p>
          <a:p>
            <a:pPr lvl="1"/>
            <a:r>
              <a:rPr lang="zh-CN" altLang="en-US" dirty="0" smtClean="0"/>
              <a:t>用</a:t>
            </a:r>
            <a:r>
              <a:rPr lang="en-US" altLang="zh-CN" dirty="0" err="1" smtClean="0"/>
              <a:t>ftok</a:t>
            </a:r>
            <a:r>
              <a:rPr lang="zh-CN" altLang="en-US" dirty="0" smtClean="0"/>
              <a:t>函数将一个路径转换为</a:t>
            </a:r>
            <a:r>
              <a:rPr lang="en-US" altLang="zh-CN" dirty="0" smtClean="0"/>
              <a:t>key</a:t>
            </a:r>
            <a:r>
              <a:rPr lang="zh-CN" altLang="en-US" dirty="0" smtClean="0"/>
              <a:t>值</a:t>
            </a:r>
          </a:p>
          <a:p>
            <a:pPr lvl="2"/>
            <a:endParaRPr lang="zh-CN" altLang="en-US" dirty="0" smtClean="0"/>
          </a:p>
          <a:p>
            <a:endParaRPr lang="en-US" altLang="zh-CN" dirty="0" smtClean="0"/>
          </a:p>
        </p:txBody>
      </p:sp>
    </p:spTree>
    <p:extLst>
      <p:ext uri="{BB962C8B-B14F-4D97-AF65-F5344CB8AC3E}">
        <p14:creationId xmlns:p14="http://schemas.microsoft.com/office/powerpoint/2010/main" val="420083649"/>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smtClean="0"/>
              <a:t>ftok</a:t>
            </a:r>
            <a:r>
              <a:rPr lang="zh-CN" altLang="en-US" smtClean="0"/>
              <a:t>函数</a:t>
            </a:r>
          </a:p>
        </p:txBody>
      </p:sp>
      <p:sp>
        <p:nvSpPr>
          <p:cNvPr id="14339" name="Rectangle 3"/>
          <p:cNvSpPr>
            <a:spLocks noGrp="1" noChangeArrowheads="1"/>
          </p:cNvSpPr>
          <p:nvPr>
            <p:ph idx="1"/>
          </p:nvPr>
        </p:nvSpPr>
        <p:spPr/>
        <p:txBody>
          <a:bodyPr/>
          <a:lstStyle/>
          <a:p>
            <a:r>
              <a:rPr lang="en-US" altLang="zh-CN" smtClean="0"/>
              <a:t>ftok</a:t>
            </a:r>
            <a:r>
              <a:rPr lang="zh-CN" altLang="en-US" smtClean="0"/>
              <a:t>函数把一个已存在的路径名和一个整数标识符转换成一个</a:t>
            </a:r>
            <a:r>
              <a:rPr lang="en-US" altLang="zh-CN" smtClean="0"/>
              <a:t>key_t</a:t>
            </a:r>
            <a:r>
              <a:rPr lang="zh-CN" altLang="en-US" smtClean="0"/>
              <a:t>值，称为</a:t>
            </a:r>
            <a:r>
              <a:rPr lang="en-US" altLang="zh-CN" smtClean="0"/>
              <a:t>IPC</a:t>
            </a:r>
            <a:r>
              <a:rPr lang="zh-CN" altLang="en-US" smtClean="0"/>
              <a:t>键</a:t>
            </a:r>
            <a:r>
              <a:rPr lang="en-US" altLang="zh-CN" smtClean="0"/>
              <a:t>(IPC key)</a:t>
            </a:r>
            <a:r>
              <a:rPr lang="zh-CN" altLang="en-US" smtClean="0"/>
              <a:t>：</a:t>
            </a:r>
          </a:p>
          <a:p>
            <a:pPr lvl="1"/>
            <a:r>
              <a:rPr lang="en-US" altLang="zh-CN" smtClean="0"/>
              <a:t>#include &lt;sys/ipc.h&gt;</a:t>
            </a:r>
          </a:p>
          <a:p>
            <a:pPr lvl="1"/>
            <a:r>
              <a:rPr lang="en-US" altLang="zh-CN" smtClean="0"/>
              <a:t> key_t ftok(const char *pahtname, int id);</a:t>
            </a:r>
          </a:p>
          <a:p>
            <a:pPr lvl="2"/>
            <a:r>
              <a:rPr lang="zh-CN" altLang="en-US" smtClean="0"/>
              <a:t>如果</a:t>
            </a:r>
            <a:r>
              <a:rPr lang="en-US" altLang="zh-CN" smtClean="0"/>
              <a:t>pathname</a:t>
            </a:r>
            <a:r>
              <a:rPr lang="zh-CN" altLang="en-US" smtClean="0"/>
              <a:t>不存在，或者对调用进程不可访问，</a:t>
            </a:r>
            <a:r>
              <a:rPr lang="en-US" altLang="zh-CN" smtClean="0"/>
              <a:t>ftok</a:t>
            </a:r>
            <a:r>
              <a:rPr lang="zh-CN" altLang="en-US" smtClean="0"/>
              <a:t>返回</a:t>
            </a:r>
            <a:r>
              <a:rPr lang="en-US" altLang="zh-CN" smtClean="0"/>
              <a:t>-1 </a:t>
            </a:r>
          </a:p>
          <a:p>
            <a:pPr lvl="2"/>
            <a:r>
              <a:rPr lang="zh-CN" altLang="en-US" smtClean="0"/>
              <a:t>不能保证两个不同的路径名与同一个</a:t>
            </a:r>
            <a:r>
              <a:rPr lang="en-US" altLang="zh-CN" smtClean="0"/>
              <a:t>id</a:t>
            </a:r>
            <a:r>
              <a:rPr lang="zh-CN" altLang="en-US" smtClean="0"/>
              <a:t>值的组合产生不同的键。 </a:t>
            </a:r>
          </a:p>
          <a:p>
            <a:pPr lvl="2"/>
            <a:r>
              <a:rPr lang="zh-CN" altLang="en-US" smtClean="0"/>
              <a:t>用于产生键的</a:t>
            </a:r>
            <a:r>
              <a:rPr lang="en-US" altLang="zh-CN" smtClean="0"/>
              <a:t>pahtname</a:t>
            </a:r>
            <a:r>
              <a:rPr lang="zh-CN" altLang="en-US" smtClean="0"/>
              <a:t>不能是服务器存活期间由它反复创建并删除的文件，否则会导致</a:t>
            </a:r>
            <a:r>
              <a:rPr lang="en-US" altLang="zh-CN" smtClean="0"/>
              <a:t>ftok</a:t>
            </a:r>
            <a:r>
              <a:rPr lang="zh-CN" altLang="en-US" smtClean="0"/>
              <a:t>多次调用返回不同的值 </a:t>
            </a:r>
          </a:p>
        </p:txBody>
      </p:sp>
    </p:spTree>
    <p:extLst>
      <p:ext uri="{BB962C8B-B14F-4D97-AF65-F5344CB8AC3E}">
        <p14:creationId xmlns:p14="http://schemas.microsoft.com/office/powerpoint/2010/main" val="2567338117"/>
      </p:ext>
    </p:extLst>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smtClean="0"/>
              <a:t>System V IPC</a:t>
            </a:r>
            <a:r>
              <a:rPr lang="zh-CN" altLang="en-US" smtClean="0"/>
              <a:t>的类型</a:t>
            </a:r>
          </a:p>
        </p:txBody>
      </p:sp>
      <p:sp>
        <p:nvSpPr>
          <p:cNvPr id="15363" name="Rectangle 3"/>
          <p:cNvSpPr>
            <a:spLocks noGrp="1" noChangeArrowheads="1"/>
          </p:cNvSpPr>
          <p:nvPr>
            <p:ph idx="1"/>
          </p:nvPr>
        </p:nvSpPr>
        <p:spPr/>
        <p:txBody>
          <a:bodyPr/>
          <a:lstStyle/>
          <a:p>
            <a:r>
              <a:rPr lang="zh-CN" altLang="en-US" sz="2800" dirty="0" smtClean="0"/>
              <a:t>报文（</a:t>
            </a:r>
            <a:r>
              <a:rPr lang="en-US" altLang="zh-CN" sz="2800" dirty="0" smtClean="0"/>
              <a:t>Message</a:t>
            </a:r>
            <a:r>
              <a:rPr lang="zh-CN" altLang="en-US" sz="2800" dirty="0" smtClean="0"/>
              <a:t>）队列（消息队列）：消息队列是消息的链接表，包括</a:t>
            </a:r>
            <a:r>
              <a:rPr lang="en-US" altLang="zh-CN" sz="2800" dirty="0" err="1" smtClean="0"/>
              <a:t>Posix</a:t>
            </a:r>
            <a:r>
              <a:rPr lang="zh-CN" altLang="en-US" sz="2800" dirty="0" smtClean="0"/>
              <a:t>消息队列</a:t>
            </a:r>
            <a:r>
              <a:rPr lang="en-US" altLang="zh-CN" sz="2800" dirty="0" smtClean="0"/>
              <a:t>system V</a:t>
            </a:r>
            <a:r>
              <a:rPr lang="zh-CN" altLang="en-US" sz="2800" dirty="0" smtClean="0"/>
              <a:t>消息队列。有足够权限的进程可以向队列中添加消息，被赋予读权限的进程则可以读走队列中的消息。消息队列克服了信号承载信息量少，管道只能承载无格式字节流以及缓冲区大小受限等缺点。 </a:t>
            </a:r>
          </a:p>
          <a:p>
            <a:r>
              <a:rPr lang="zh-CN" altLang="en-US" sz="2800" dirty="0" smtClean="0"/>
              <a:t>共享内存：使得多个进程可以访问同一块内存空间，是最快的可用</a:t>
            </a:r>
            <a:r>
              <a:rPr lang="en-US" altLang="zh-CN" sz="2800" dirty="0" smtClean="0"/>
              <a:t>IPC</a:t>
            </a:r>
            <a:r>
              <a:rPr lang="zh-CN" altLang="en-US" sz="2800" dirty="0" smtClean="0"/>
              <a:t>形式。是针对其他通信机制运行效率较低而设计的。往往与其它通信机制，如信号量结合使用，来达到进程间的同步及互斥。</a:t>
            </a:r>
          </a:p>
          <a:p>
            <a:r>
              <a:rPr lang="zh-CN" altLang="en-US" sz="2800" dirty="0" smtClean="0"/>
              <a:t>信号量（</a:t>
            </a:r>
            <a:r>
              <a:rPr lang="en-US" altLang="zh-CN" sz="2800" dirty="0" smtClean="0"/>
              <a:t>semaphore</a:t>
            </a:r>
            <a:r>
              <a:rPr lang="zh-CN" altLang="en-US" sz="2800" dirty="0" smtClean="0"/>
              <a:t>）：主要作为进程间以及同一进程不同线程之间的同步手段。  </a:t>
            </a:r>
          </a:p>
        </p:txBody>
      </p:sp>
    </p:spTree>
    <p:extLst>
      <p:ext uri="{BB962C8B-B14F-4D97-AF65-F5344CB8AC3E}">
        <p14:creationId xmlns:p14="http://schemas.microsoft.com/office/powerpoint/2010/main" val="2018587862"/>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WordArt 3"/>
          <p:cNvSpPr>
            <a:spLocks noChangeArrowheads="1" noChangeShapeType="1" noTextEdit="1"/>
          </p:cNvSpPr>
          <p:nvPr/>
        </p:nvSpPr>
        <p:spPr bwMode="auto">
          <a:xfrm>
            <a:off x="3503712" y="2708920"/>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System V </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消息队列</a:t>
            </a:r>
          </a:p>
        </p:txBody>
      </p:sp>
    </p:spTree>
    <p:extLst>
      <p:ext uri="{BB962C8B-B14F-4D97-AF65-F5344CB8AC3E}">
        <p14:creationId xmlns:p14="http://schemas.microsoft.com/office/powerpoint/2010/main" val="3774500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32451"/>
                                        </p:tgtEl>
                                        <p:attrNameLst>
                                          <p:attrName>style.visibility</p:attrName>
                                        </p:attrNameLst>
                                      </p:cBhvr>
                                      <p:to>
                                        <p:strVal val="visible"/>
                                      </p:to>
                                    </p:set>
                                    <p:anim calcmode="lin" valueType="num">
                                      <p:cBhvr>
                                        <p:cTn id="7" dur="500" fill="hold"/>
                                        <p:tgtEl>
                                          <p:spTgt spid="232451"/>
                                        </p:tgtEl>
                                        <p:attrNameLst>
                                          <p:attrName>ppt_w</p:attrName>
                                        </p:attrNameLst>
                                      </p:cBhvr>
                                      <p:tavLst>
                                        <p:tav tm="0">
                                          <p:val>
                                            <p:fltVal val="0"/>
                                          </p:val>
                                        </p:tav>
                                        <p:tav tm="100000">
                                          <p:val>
                                            <p:strVal val="#ppt_w"/>
                                          </p:val>
                                        </p:tav>
                                      </p:tavLst>
                                    </p:anim>
                                    <p:anim calcmode="lin" valueType="num">
                                      <p:cBhvr>
                                        <p:cTn id="8" dur="500" fill="hold"/>
                                        <p:tgtEl>
                                          <p:spTgt spid="232451"/>
                                        </p:tgtEl>
                                        <p:attrNameLst>
                                          <p:attrName>ppt_h</p:attrName>
                                        </p:attrNameLst>
                                      </p:cBhvr>
                                      <p:tavLst>
                                        <p:tav tm="0">
                                          <p:val>
                                            <p:fltVal val="0"/>
                                          </p:val>
                                        </p:tav>
                                        <p:tav tm="100000">
                                          <p:val>
                                            <p:strVal val="#ppt_h"/>
                                          </p:val>
                                        </p:tav>
                                      </p:tavLst>
                                    </p:anim>
                                    <p:animEffect transition="in" filter="fade">
                                      <p:cBhvr>
                                        <p:cTn id="9" dur="500"/>
                                        <p:tgtEl>
                                          <p:spTgt spid="232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smtClean="0"/>
              <a:t>消息队列</a:t>
            </a:r>
          </a:p>
        </p:txBody>
      </p:sp>
      <p:sp>
        <p:nvSpPr>
          <p:cNvPr id="17411" name="Rectangle 3"/>
          <p:cNvSpPr>
            <a:spLocks noGrp="1" noChangeArrowheads="1"/>
          </p:cNvSpPr>
          <p:nvPr>
            <p:ph idx="1"/>
          </p:nvPr>
        </p:nvSpPr>
        <p:spPr/>
        <p:txBody>
          <a:bodyPr/>
          <a:lstStyle/>
          <a:p>
            <a:r>
              <a:rPr lang="zh-CN" altLang="en-US" smtClean="0"/>
              <a:t>消息队列就是一个消息的链表。可以把消息看作一个记录，具有特定的格式以及特定的优先级。对消息队列有写权限的进程可以向中按照一定的规则添加新消息；对消息队列有读权限的进程则可以从消息队列中读走消息。 </a:t>
            </a:r>
          </a:p>
          <a:p>
            <a:r>
              <a:rPr lang="zh-CN" altLang="en-US" smtClean="0"/>
              <a:t>消息队列能够克服早期</a:t>
            </a:r>
            <a:r>
              <a:rPr lang="en-US" altLang="zh-CN" smtClean="0"/>
              <a:t>unix</a:t>
            </a:r>
            <a:r>
              <a:rPr lang="zh-CN" altLang="en-US" smtClean="0"/>
              <a:t>通信机制的一些缺点 </a:t>
            </a:r>
            <a:r>
              <a:rPr lang="en-US" altLang="zh-CN" smtClean="0"/>
              <a:t>,</a:t>
            </a:r>
            <a:r>
              <a:rPr lang="zh-CN" altLang="en-US" smtClean="0"/>
              <a:t>如数据量小</a:t>
            </a:r>
            <a:r>
              <a:rPr lang="en-US" altLang="zh-CN" smtClean="0"/>
              <a:t>,</a:t>
            </a:r>
            <a:r>
              <a:rPr lang="zh-CN" altLang="en-US" smtClean="0"/>
              <a:t>没有实时性</a:t>
            </a:r>
          </a:p>
        </p:txBody>
      </p:sp>
    </p:spTree>
    <p:extLst>
      <p:ext uri="{BB962C8B-B14F-4D97-AF65-F5344CB8AC3E}">
        <p14:creationId xmlns:p14="http://schemas.microsoft.com/office/powerpoint/2010/main" val="1297705901"/>
      </p:ext>
    </p:extLst>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smtClean="0"/>
              <a:t>消息队列</a:t>
            </a:r>
            <a:r>
              <a:rPr lang="en-US" altLang="zh-CN" smtClean="0"/>
              <a:t>(2)</a:t>
            </a:r>
          </a:p>
        </p:txBody>
      </p:sp>
      <p:sp>
        <p:nvSpPr>
          <p:cNvPr id="18435" name="Rectangle 3"/>
          <p:cNvSpPr>
            <a:spLocks noGrp="1" noChangeArrowheads="1"/>
          </p:cNvSpPr>
          <p:nvPr>
            <p:ph idx="1"/>
          </p:nvPr>
        </p:nvSpPr>
        <p:spPr/>
        <p:txBody>
          <a:bodyPr/>
          <a:lstStyle/>
          <a:p>
            <a:r>
              <a:rPr lang="zh-CN" altLang="en-US" sz="2400" smtClean="0"/>
              <a:t>消息队列消息通常要以一个</a:t>
            </a:r>
            <a:r>
              <a:rPr lang="en-US" altLang="zh-CN" sz="2400" smtClean="0"/>
              <a:t>long mtype</a:t>
            </a:r>
            <a:r>
              <a:rPr lang="zh-CN" altLang="en-US" sz="2400" smtClean="0"/>
              <a:t>放在消息开始</a:t>
            </a:r>
            <a:r>
              <a:rPr lang="en-US" altLang="zh-CN" sz="2400" smtClean="0"/>
              <a:t>, mtype</a:t>
            </a:r>
            <a:r>
              <a:rPr lang="zh-CN" altLang="en-US" sz="2400" smtClean="0"/>
              <a:t>成员代表消息类型，从消息队列中读取消息的一个重要依据就是消息的类型</a:t>
            </a:r>
          </a:p>
          <a:p>
            <a:pPr lvl="1"/>
            <a:r>
              <a:rPr lang="en-US" altLang="zh-CN" sz="2000" smtClean="0"/>
              <a:t>struct msgbuf{ long mtype; char mtext[1]; }; </a:t>
            </a:r>
          </a:p>
          <a:p>
            <a:r>
              <a:rPr lang="zh-CN" altLang="en-US" sz="2400" smtClean="0"/>
              <a:t>消息队列与管道以及有名管道相比，具有更大的灵活性 </a:t>
            </a:r>
          </a:p>
          <a:p>
            <a:pPr lvl="1"/>
            <a:r>
              <a:rPr lang="zh-CN" altLang="en-US" sz="2000" smtClean="0"/>
              <a:t>它提供有格式字节流，有利于减少开发人员的工作量 </a:t>
            </a:r>
          </a:p>
          <a:p>
            <a:pPr lvl="1"/>
            <a:r>
              <a:rPr lang="zh-CN" altLang="en-US" sz="2000" smtClean="0"/>
              <a:t>消息具有类型，在实际应用中，可作为优先级使用。这两点是管道以及有名管道所不能比的 </a:t>
            </a:r>
          </a:p>
          <a:p>
            <a:pPr lvl="1"/>
            <a:r>
              <a:rPr lang="zh-CN" altLang="en-US" sz="2000" smtClean="0"/>
              <a:t>消息队列可以在几个进程间复用，而不管这几个进程是否具有亲缘关系，这一点与有名管道很相似；但消息队列是随内核持续的，与有名管道（随进程持续）相比，生命力更强，应用空间更大。 </a:t>
            </a:r>
          </a:p>
        </p:txBody>
      </p:sp>
    </p:spTree>
    <p:extLst>
      <p:ext uri="{BB962C8B-B14F-4D97-AF65-F5344CB8AC3E}">
        <p14:creationId xmlns:p14="http://schemas.microsoft.com/office/powerpoint/2010/main" val="3630674968"/>
      </p:ext>
    </p:extLst>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smtClean="0"/>
              <a:t>消息队列编程</a:t>
            </a:r>
          </a:p>
        </p:txBody>
      </p:sp>
      <p:sp>
        <p:nvSpPr>
          <p:cNvPr id="188419"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zh-CN" altLang="en-US" sz="2400"/>
              <a:t>头文件</a:t>
            </a:r>
          </a:p>
          <a:p>
            <a:pPr lvl="1" fontAlgn="auto">
              <a:lnSpc>
                <a:spcPct val="80000"/>
              </a:lnSpc>
              <a:spcAft>
                <a:spcPts val="0"/>
              </a:spcAft>
              <a:buFont typeface="Arial" panose="020B0604020202020204" pitchFamily="34" charset="0"/>
              <a:buChar char="•"/>
              <a:defRPr/>
            </a:pPr>
            <a:r>
              <a:rPr lang="en-US" altLang="zh-CN" sz="2000"/>
              <a:t>#include &lt;sys/types.h&gt; </a:t>
            </a:r>
          </a:p>
          <a:p>
            <a:pPr lvl="1" fontAlgn="auto">
              <a:lnSpc>
                <a:spcPct val="80000"/>
              </a:lnSpc>
              <a:spcAft>
                <a:spcPts val="0"/>
              </a:spcAft>
              <a:buFont typeface="Arial" panose="020B0604020202020204" pitchFamily="34" charset="0"/>
              <a:buChar char="•"/>
              <a:defRPr/>
            </a:pPr>
            <a:r>
              <a:rPr lang="en-US" altLang="zh-CN" sz="2000"/>
              <a:t>#include &lt;sys/ipc.h&gt; </a:t>
            </a:r>
          </a:p>
          <a:p>
            <a:pPr lvl="1" fontAlgn="auto">
              <a:lnSpc>
                <a:spcPct val="80000"/>
              </a:lnSpc>
              <a:spcAft>
                <a:spcPts val="0"/>
              </a:spcAft>
              <a:buFont typeface="Arial" panose="020B0604020202020204" pitchFamily="34" charset="0"/>
              <a:buChar char="•"/>
              <a:defRPr/>
            </a:pPr>
            <a:r>
              <a:rPr lang="en-US" altLang="zh-CN" sz="2000"/>
              <a:t>#include &lt;sys/msg.h&gt; </a:t>
            </a:r>
          </a:p>
          <a:p>
            <a:pPr fontAlgn="auto">
              <a:lnSpc>
                <a:spcPct val="80000"/>
              </a:lnSpc>
              <a:spcAft>
                <a:spcPts val="0"/>
              </a:spcAft>
              <a:buFont typeface="Arial" panose="020B0604020202020204" pitchFamily="34" charset="0"/>
              <a:buChar char="•"/>
              <a:defRPr/>
            </a:pPr>
            <a:r>
              <a:rPr lang="en-US" altLang="zh-CN" sz="2400"/>
              <a:t>msgget</a:t>
            </a:r>
            <a:r>
              <a:rPr lang="zh-CN" altLang="en-US" sz="2400"/>
              <a:t>打开或创建消息队列</a:t>
            </a:r>
          </a:p>
          <a:p>
            <a:pPr lvl="1" fontAlgn="auto">
              <a:lnSpc>
                <a:spcPct val="80000"/>
              </a:lnSpc>
              <a:spcAft>
                <a:spcPts val="0"/>
              </a:spcAft>
              <a:buFont typeface="Arial" panose="020B0604020202020204" pitchFamily="34" charset="0"/>
              <a:buChar char="•"/>
              <a:defRPr/>
            </a:pPr>
            <a:r>
              <a:rPr lang="en-US" altLang="zh-CN" sz="2000"/>
              <a:t>int msgget(key_t key, int msgflg) ;</a:t>
            </a:r>
            <a:r>
              <a:rPr lang="zh-CN" altLang="en-US" sz="2000"/>
              <a:t>返回线队列</a:t>
            </a:r>
            <a:r>
              <a:rPr lang="en-US" altLang="zh-CN" sz="2000"/>
              <a:t>ID</a:t>
            </a:r>
          </a:p>
          <a:p>
            <a:pPr fontAlgn="auto">
              <a:lnSpc>
                <a:spcPct val="80000"/>
              </a:lnSpc>
              <a:spcAft>
                <a:spcPts val="0"/>
              </a:spcAft>
              <a:buFont typeface="Arial" panose="020B0604020202020204" pitchFamily="34" charset="0"/>
              <a:buChar char="•"/>
              <a:defRPr/>
            </a:pPr>
            <a:r>
              <a:rPr lang="en-US" altLang="zh-CN" sz="2400"/>
              <a:t>msgrcv</a:t>
            </a:r>
            <a:r>
              <a:rPr lang="zh-CN" altLang="en-US" sz="2400"/>
              <a:t>从队列接收消息</a:t>
            </a:r>
          </a:p>
          <a:p>
            <a:pPr lvl="1" fontAlgn="auto">
              <a:lnSpc>
                <a:spcPct val="80000"/>
              </a:lnSpc>
              <a:spcAft>
                <a:spcPts val="0"/>
              </a:spcAft>
              <a:buFont typeface="Arial" panose="020B0604020202020204" pitchFamily="34" charset="0"/>
              <a:buChar char="•"/>
              <a:defRPr/>
            </a:pPr>
            <a:r>
              <a:rPr lang="en-US" altLang="zh-CN" sz="2000"/>
              <a:t>int msgrcv(int msqid, struct msgbuf *msgp, int msgsz, long msgtyp, int msgflg); </a:t>
            </a:r>
          </a:p>
          <a:p>
            <a:pPr fontAlgn="auto">
              <a:lnSpc>
                <a:spcPct val="80000"/>
              </a:lnSpc>
              <a:spcAft>
                <a:spcPts val="0"/>
              </a:spcAft>
              <a:buFont typeface="Arial" panose="020B0604020202020204" pitchFamily="34" charset="0"/>
              <a:buChar char="•"/>
              <a:defRPr/>
            </a:pPr>
            <a:r>
              <a:rPr lang="en-US" altLang="zh-CN" sz="2400"/>
              <a:t>msgsnd </a:t>
            </a:r>
            <a:r>
              <a:rPr lang="zh-CN" altLang="en-US" sz="2400"/>
              <a:t>向队列发送消息</a:t>
            </a:r>
          </a:p>
          <a:p>
            <a:pPr lvl="1" fontAlgn="auto">
              <a:lnSpc>
                <a:spcPct val="80000"/>
              </a:lnSpc>
              <a:spcAft>
                <a:spcPts val="0"/>
              </a:spcAft>
              <a:buFont typeface="Arial" panose="020B0604020202020204" pitchFamily="34" charset="0"/>
              <a:buChar char="•"/>
              <a:defRPr/>
            </a:pPr>
            <a:r>
              <a:rPr lang="en-US" altLang="zh-CN" sz="2000"/>
              <a:t>int msgsnd(int msqid, struct msgbuf *msgp, int msgsz, int msgflg); </a:t>
            </a:r>
          </a:p>
          <a:p>
            <a:pPr fontAlgn="auto">
              <a:lnSpc>
                <a:spcPct val="80000"/>
              </a:lnSpc>
              <a:spcAft>
                <a:spcPts val="0"/>
              </a:spcAft>
              <a:buFont typeface="Arial" panose="020B0604020202020204" pitchFamily="34" charset="0"/>
              <a:buChar char="•"/>
              <a:defRPr/>
            </a:pPr>
            <a:r>
              <a:rPr lang="en-US" altLang="zh-CN" sz="2400"/>
              <a:t>msgctl </a:t>
            </a:r>
            <a:r>
              <a:rPr lang="zh-CN" altLang="en-US" sz="2400"/>
              <a:t>发送队列控制命令</a:t>
            </a:r>
          </a:p>
          <a:p>
            <a:pPr lvl="1" fontAlgn="auto">
              <a:lnSpc>
                <a:spcPct val="80000"/>
              </a:lnSpc>
              <a:spcAft>
                <a:spcPts val="0"/>
              </a:spcAft>
              <a:buFont typeface="Arial" panose="020B0604020202020204" pitchFamily="34" charset="0"/>
              <a:buChar char="•"/>
              <a:defRPr/>
            </a:pPr>
            <a:r>
              <a:rPr lang="en-US" altLang="zh-CN" sz="2000" b="1"/>
              <a:t>msgctl(int msqid, int cmd, struct msqid_ds *buf);</a:t>
            </a:r>
            <a:r>
              <a:rPr lang="en-US" altLang="zh-CN" sz="2000"/>
              <a:t> </a:t>
            </a:r>
          </a:p>
          <a:p>
            <a:pPr lvl="1" fontAlgn="auto">
              <a:lnSpc>
                <a:spcPct val="80000"/>
              </a:lnSpc>
              <a:spcAft>
                <a:spcPts val="0"/>
              </a:spcAft>
              <a:buFont typeface="Arial" panose="020B0604020202020204" pitchFamily="34" charset="0"/>
              <a:buChar char="•"/>
              <a:defRPr/>
            </a:pPr>
            <a:r>
              <a:rPr lang="zh-CN" altLang="en-US" sz="2000"/>
              <a:t>共有三种</a:t>
            </a:r>
            <a:r>
              <a:rPr lang="en-US" altLang="zh-CN" sz="2000"/>
              <a:t>cmd</a:t>
            </a:r>
            <a:r>
              <a:rPr lang="zh-CN" altLang="en-US" sz="2000"/>
              <a:t>操作：</a:t>
            </a:r>
            <a:r>
              <a:rPr lang="en-US" altLang="zh-CN" sz="2000"/>
              <a:t>IPC_STAT</a:t>
            </a:r>
            <a:r>
              <a:rPr lang="zh-CN" altLang="en-US" sz="2000"/>
              <a:t>、</a:t>
            </a:r>
            <a:r>
              <a:rPr lang="en-US" altLang="zh-CN" sz="2000"/>
              <a:t>IPC_SET </a:t>
            </a:r>
            <a:r>
              <a:rPr lang="zh-CN" altLang="en-US" sz="2000"/>
              <a:t>、</a:t>
            </a:r>
            <a:r>
              <a:rPr lang="en-US" altLang="zh-CN" sz="2000"/>
              <a:t>IPC_RMID</a:t>
            </a:r>
            <a:r>
              <a:rPr lang="zh-CN" altLang="en-US" sz="2000"/>
              <a:t>。 </a:t>
            </a:r>
          </a:p>
          <a:p>
            <a:pPr lvl="1" fontAlgn="auto">
              <a:lnSpc>
                <a:spcPct val="80000"/>
              </a:lnSpc>
              <a:spcAft>
                <a:spcPts val="0"/>
              </a:spcAft>
              <a:buFont typeface="Arial" panose="020B0604020202020204" pitchFamily="34" charset="0"/>
              <a:buChar char="•"/>
              <a:defRPr/>
            </a:pPr>
            <a:endParaRPr lang="zh-CN" altLang="en-US" sz="2000"/>
          </a:p>
          <a:p>
            <a:pPr lvl="1" fontAlgn="auto">
              <a:lnSpc>
                <a:spcPct val="80000"/>
              </a:lnSpc>
              <a:spcAft>
                <a:spcPts val="0"/>
              </a:spcAft>
              <a:buFont typeface="Arial" panose="020B0604020202020204" pitchFamily="34" charset="0"/>
              <a:buNone/>
              <a:defRPr/>
            </a:pPr>
            <a:endParaRPr lang="en-US" altLang="zh-CN" sz="2000"/>
          </a:p>
        </p:txBody>
      </p:sp>
    </p:spTree>
    <p:extLst>
      <p:ext uri="{BB962C8B-B14F-4D97-AF65-F5344CB8AC3E}">
        <p14:creationId xmlns:p14="http://schemas.microsoft.com/office/powerpoint/2010/main" val="1379828900"/>
      </p:ext>
    </p:extLst>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smtClean="0"/>
              <a:t>消息队列数据结构</a:t>
            </a:r>
          </a:p>
        </p:txBody>
      </p:sp>
      <p:sp>
        <p:nvSpPr>
          <p:cNvPr id="228355" name="Rectangle 3"/>
          <p:cNvSpPr>
            <a:spLocks noGrp="1" noChangeArrowheads="1"/>
          </p:cNvSpPr>
          <p:nvPr>
            <p:ph idx="1"/>
          </p:nvPr>
        </p:nvSpPr>
        <p:spPr/>
        <p:txBody>
          <a:bodyPr rtlCol="0">
            <a:normAutofit lnSpcReduction="10000"/>
          </a:bodyPr>
          <a:lstStyle/>
          <a:p>
            <a:pPr fontAlgn="auto">
              <a:spcAft>
                <a:spcPts val="0"/>
              </a:spcAft>
              <a:buFont typeface="Arial" panose="020B0604020202020204" pitchFamily="34" charset="0"/>
              <a:buChar char="•"/>
              <a:defRPr/>
            </a:pPr>
            <a:r>
              <a:rPr lang="zh-CN" altLang="en-US" sz="2000"/>
              <a:t>对于系统中的每个</a:t>
            </a:r>
            <a:r>
              <a:rPr lang="en-US" altLang="zh-CN" sz="2000"/>
              <a:t>System V</a:t>
            </a:r>
            <a:r>
              <a:rPr lang="zh-CN" altLang="en-US" sz="2000"/>
              <a:t>消息队列，内核维护一个如下的结构：</a:t>
            </a:r>
          </a:p>
          <a:p>
            <a:pPr fontAlgn="auto">
              <a:spcAft>
                <a:spcPts val="0"/>
              </a:spcAft>
              <a:buFont typeface="Arial" panose="020B0604020202020204" pitchFamily="34" charset="0"/>
              <a:buChar char="•"/>
              <a:defRPr/>
            </a:pPr>
            <a:endParaRPr lang="zh-CN" altLang="en-US" sz="2000"/>
          </a:p>
          <a:p>
            <a:pPr lvl="1" fontAlgn="auto">
              <a:spcAft>
                <a:spcPts val="0"/>
              </a:spcAft>
              <a:buFont typeface="Arial" panose="020B0604020202020204" pitchFamily="34" charset="0"/>
              <a:buChar char="•"/>
              <a:defRPr/>
            </a:pPr>
            <a:r>
              <a:rPr lang="en-US" altLang="zh-CN" sz="1800"/>
              <a:t>struct msqid_ds {</a:t>
            </a:r>
          </a:p>
          <a:p>
            <a:pPr lvl="1" fontAlgn="auto">
              <a:spcAft>
                <a:spcPts val="0"/>
              </a:spcAft>
              <a:buFont typeface="Arial" panose="020B0604020202020204" pitchFamily="34" charset="0"/>
              <a:buChar char="•"/>
              <a:defRPr/>
            </a:pPr>
            <a:r>
              <a:rPr lang="en-US" altLang="zh-CN" sz="1800"/>
              <a:t>    struct ipc_perm msg_perm; /* operation permission struct */</a:t>
            </a:r>
          </a:p>
          <a:p>
            <a:pPr lvl="1" fontAlgn="auto">
              <a:spcAft>
                <a:spcPts val="0"/>
              </a:spcAft>
              <a:buFont typeface="Arial" panose="020B0604020202020204" pitchFamily="34" charset="0"/>
              <a:buChar char="•"/>
              <a:defRPr/>
            </a:pPr>
            <a:r>
              <a:rPr lang="en-US" altLang="zh-CN" sz="1800"/>
              <a:t>    struct msg *msg_first; /* ptr to first message on q */</a:t>
            </a:r>
          </a:p>
          <a:p>
            <a:pPr lvl="1" fontAlgn="auto">
              <a:spcAft>
                <a:spcPts val="0"/>
              </a:spcAft>
              <a:buFont typeface="Arial" panose="020B0604020202020204" pitchFamily="34" charset="0"/>
              <a:buChar char="•"/>
              <a:defRPr/>
            </a:pPr>
            <a:r>
              <a:rPr lang="en-US" altLang="zh-CN" sz="1800"/>
              <a:t>    struct msg *msg_last; /* ptr to last message on q */</a:t>
            </a:r>
          </a:p>
          <a:p>
            <a:pPr lvl="1" fontAlgn="auto">
              <a:spcAft>
                <a:spcPts val="0"/>
              </a:spcAft>
              <a:buFont typeface="Arial" panose="020B0604020202020204" pitchFamily="34" charset="0"/>
              <a:buChar char="•"/>
              <a:defRPr/>
            </a:pPr>
            <a:r>
              <a:rPr lang="en-US" altLang="zh-CN" sz="1800"/>
              <a:t>    unsigned short msg_cbytes; /* current # bytes on q */</a:t>
            </a:r>
          </a:p>
          <a:p>
            <a:pPr lvl="1" fontAlgn="auto">
              <a:spcAft>
                <a:spcPts val="0"/>
              </a:spcAft>
              <a:buFont typeface="Arial" panose="020B0604020202020204" pitchFamily="34" charset="0"/>
              <a:buChar char="•"/>
              <a:defRPr/>
            </a:pPr>
            <a:r>
              <a:rPr lang="en-US" altLang="zh-CN" sz="1800"/>
              <a:t>    msgqnum_t msg_qnum; /* # of messages on q */</a:t>
            </a:r>
          </a:p>
          <a:p>
            <a:pPr lvl="1" fontAlgn="auto">
              <a:spcAft>
                <a:spcPts val="0"/>
              </a:spcAft>
              <a:buFont typeface="Arial" panose="020B0604020202020204" pitchFamily="34" charset="0"/>
              <a:buChar char="•"/>
              <a:defRPr/>
            </a:pPr>
            <a:r>
              <a:rPr lang="en-US" altLang="zh-CN" sz="1800"/>
              <a:t>    msglen_t msg_qbytes; /* max # of bytes on q */</a:t>
            </a:r>
          </a:p>
          <a:p>
            <a:pPr lvl="1" fontAlgn="auto">
              <a:spcAft>
                <a:spcPts val="0"/>
              </a:spcAft>
              <a:buFont typeface="Arial" panose="020B0604020202020204" pitchFamily="34" charset="0"/>
              <a:buChar char="•"/>
              <a:defRPr/>
            </a:pPr>
            <a:r>
              <a:rPr lang="en-US" altLang="zh-CN" sz="1800"/>
              <a:t>    pid_t msg_lspid; /* pid of last msgsnd */</a:t>
            </a:r>
          </a:p>
          <a:p>
            <a:pPr lvl="1" fontAlgn="auto">
              <a:spcAft>
                <a:spcPts val="0"/>
              </a:spcAft>
              <a:buFont typeface="Arial" panose="020B0604020202020204" pitchFamily="34" charset="0"/>
              <a:buChar char="•"/>
              <a:defRPr/>
            </a:pPr>
            <a:r>
              <a:rPr lang="en-US" altLang="zh-CN" sz="1800"/>
              <a:t>    pid_t msg_lrpid; /* pid of last msgrcv */</a:t>
            </a:r>
          </a:p>
          <a:p>
            <a:pPr lvl="1" fontAlgn="auto">
              <a:spcAft>
                <a:spcPts val="0"/>
              </a:spcAft>
              <a:buFont typeface="Arial" panose="020B0604020202020204" pitchFamily="34" charset="0"/>
              <a:buChar char="•"/>
              <a:defRPr/>
            </a:pPr>
            <a:r>
              <a:rPr lang="en-US" altLang="zh-CN" sz="1800"/>
              <a:t>    time_t msg_stime; /* last msgsnd time */</a:t>
            </a:r>
          </a:p>
          <a:p>
            <a:pPr lvl="1" fontAlgn="auto">
              <a:spcAft>
                <a:spcPts val="0"/>
              </a:spcAft>
              <a:buFont typeface="Arial" panose="020B0604020202020204" pitchFamily="34" charset="0"/>
              <a:buChar char="•"/>
              <a:defRPr/>
            </a:pPr>
            <a:r>
              <a:rPr lang="en-US" altLang="zh-CN" sz="1800"/>
              <a:t>    time_t msg_rtime; /* last msgrcv time */</a:t>
            </a:r>
          </a:p>
          <a:p>
            <a:pPr lvl="1" fontAlgn="auto">
              <a:spcAft>
                <a:spcPts val="0"/>
              </a:spcAft>
              <a:buFont typeface="Arial" panose="020B0604020202020204" pitchFamily="34" charset="0"/>
              <a:buChar char="•"/>
              <a:defRPr/>
            </a:pPr>
            <a:r>
              <a:rPr lang="en-US" altLang="zh-CN" sz="1800"/>
              <a:t>    time_t msg_ctime; /* last change time */</a:t>
            </a:r>
          </a:p>
          <a:p>
            <a:pPr lvl="1" fontAlgn="auto">
              <a:spcAft>
                <a:spcPts val="0"/>
              </a:spcAft>
              <a:buFont typeface="Arial" panose="020B0604020202020204" pitchFamily="34" charset="0"/>
              <a:buChar char="•"/>
              <a:defRPr/>
            </a:pPr>
            <a:r>
              <a:rPr lang="en-US" altLang="zh-CN" sz="1800"/>
              <a:t>};</a:t>
            </a:r>
          </a:p>
        </p:txBody>
      </p:sp>
    </p:spTree>
    <p:extLst>
      <p:ext uri="{BB962C8B-B14F-4D97-AF65-F5344CB8AC3E}">
        <p14:creationId xmlns:p14="http://schemas.microsoft.com/office/powerpoint/2010/main" val="1135906399"/>
      </p:ext>
    </p:extLst>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smtClean="0"/>
              <a:t>msgget</a:t>
            </a:r>
            <a:r>
              <a:rPr lang="zh-CN" altLang="en-US" smtClean="0"/>
              <a:t>函数 </a:t>
            </a:r>
          </a:p>
        </p:txBody>
      </p:sp>
      <p:sp>
        <p:nvSpPr>
          <p:cNvPr id="227331"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2000"/>
              <a:t>#include &lt;sys/msg.h&gt;</a:t>
            </a:r>
          </a:p>
          <a:p>
            <a:pPr fontAlgn="auto">
              <a:lnSpc>
                <a:spcPct val="80000"/>
              </a:lnSpc>
              <a:spcAft>
                <a:spcPts val="0"/>
              </a:spcAft>
              <a:buFont typeface="Arial" panose="020B0604020202020204" pitchFamily="34" charset="0"/>
              <a:buChar char="•"/>
              <a:defRPr/>
            </a:pPr>
            <a:r>
              <a:rPr lang="en-US" altLang="zh-CN" sz="2000" b="1"/>
              <a:t>int msgget(key_t key, int oflag);</a:t>
            </a:r>
          </a:p>
          <a:p>
            <a:pPr lvl="1" fontAlgn="auto">
              <a:lnSpc>
                <a:spcPct val="80000"/>
              </a:lnSpc>
              <a:spcAft>
                <a:spcPts val="0"/>
              </a:spcAft>
              <a:buFont typeface="Arial" panose="020B0604020202020204" pitchFamily="34" charset="0"/>
              <a:buChar char="•"/>
              <a:defRPr/>
            </a:pPr>
            <a:r>
              <a:rPr lang="zh-CN" altLang="en-US" sz="1800"/>
              <a:t>返回：成功时为非负标识符，出错时为</a:t>
            </a:r>
            <a:r>
              <a:rPr lang="en-US" altLang="zh-CN" sz="1800"/>
              <a:t>-1</a:t>
            </a:r>
          </a:p>
          <a:p>
            <a:pPr lvl="1" fontAlgn="auto">
              <a:lnSpc>
                <a:spcPct val="80000"/>
              </a:lnSpc>
              <a:spcAft>
                <a:spcPts val="0"/>
              </a:spcAft>
              <a:buFont typeface="Arial" panose="020B0604020202020204" pitchFamily="34" charset="0"/>
              <a:buChar char="•"/>
              <a:defRPr/>
            </a:pPr>
            <a:r>
              <a:rPr lang="zh-CN" altLang="en-US" sz="1800"/>
              <a:t>用于创建一个新的</a:t>
            </a:r>
            <a:r>
              <a:rPr lang="en-US" altLang="zh-CN" sz="1800"/>
              <a:t>SystemV</a:t>
            </a:r>
            <a:r>
              <a:rPr lang="zh-CN" altLang="en-US" sz="1800"/>
              <a:t>消息队列或访问一个已经存在的消息队列。</a:t>
            </a:r>
          </a:p>
          <a:p>
            <a:pPr fontAlgn="auto">
              <a:lnSpc>
                <a:spcPct val="80000"/>
              </a:lnSpc>
              <a:spcAft>
                <a:spcPts val="0"/>
              </a:spcAft>
              <a:buFont typeface="Arial" panose="020B0604020202020204" pitchFamily="34" charset="0"/>
              <a:buChar char="•"/>
              <a:defRPr/>
            </a:pPr>
            <a:endParaRPr lang="zh-CN" altLang="en-US" sz="2000"/>
          </a:p>
          <a:p>
            <a:pPr fontAlgn="auto">
              <a:lnSpc>
                <a:spcPct val="80000"/>
              </a:lnSpc>
              <a:spcAft>
                <a:spcPts val="0"/>
              </a:spcAft>
              <a:buFont typeface="Arial" panose="020B0604020202020204" pitchFamily="34" charset="0"/>
              <a:buChar char="•"/>
              <a:defRPr/>
            </a:pPr>
            <a:r>
              <a:rPr lang="zh-CN" altLang="en-US" sz="2000"/>
              <a:t>参数</a:t>
            </a:r>
            <a:r>
              <a:rPr lang="en-US" altLang="zh-CN" sz="2000"/>
              <a:t>key</a:t>
            </a:r>
            <a:r>
              <a:rPr lang="zh-CN" altLang="en-US" sz="2000"/>
              <a:t>和</a:t>
            </a:r>
            <a:r>
              <a:rPr lang="en-US" altLang="zh-CN" sz="2000"/>
              <a:t>oflag</a:t>
            </a:r>
            <a:r>
              <a:rPr lang="zh-CN" altLang="en-US" sz="2000"/>
              <a:t>的说明见前。</a:t>
            </a:r>
          </a:p>
          <a:p>
            <a:pPr fontAlgn="auto">
              <a:lnSpc>
                <a:spcPct val="80000"/>
              </a:lnSpc>
              <a:spcAft>
                <a:spcPts val="0"/>
              </a:spcAft>
              <a:buFont typeface="Arial" panose="020B0604020202020204" pitchFamily="34" charset="0"/>
              <a:buChar char="•"/>
              <a:defRPr/>
            </a:pPr>
            <a:r>
              <a:rPr lang="en-US" altLang="zh-CN" sz="2000" b="1"/>
              <a:t>Oflag :</a:t>
            </a:r>
            <a:r>
              <a:rPr lang="zh-CN" altLang="en-US" sz="2000" b="1"/>
              <a:t>取值</a:t>
            </a:r>
            <a:r>
              <a:rPr lang="en-US" altLang="zh-CN" sz="2000" b="1"/>
              <a:t>,IPC_CREAT </a:t>
            </a:r>
            <a:r>
              <a:rPr lang="zh-CN" altLang="en-US" sz="2000"/>
              <a:t>创建新对象成功，</a:t>
            </a:r>
            <a:r>
              <a:rPr lang="en-US" altLang="zh-CN" sz="2000"/>
              <a:t>IPC_EXCL</a:t>
            </a:r>
            <a:r>
              <a:rPr lang="zh-CN" altLang="en-US" sz="2000"/>
              <a:t>检查新对象</a:t>
            </a:r>
          </a:p>
          <a:p>
            <a:pPr fontAlgn="auto">
              <a:lnSpc>
                <a:spcPct val="80000"/>
              </a:lnSpc>
              <a:spcAft>
                <a:spcPts val="0"/>
              </a:spcAft>
              <a:buFont typeface="Arial" panose="020B0604020202020204" pitchFamily="34" charset="0"/>
              <a:buChar char="•"/>
              <a:defRPr/>
            </a:pPr>
            <a:r>
              <a:rPr lang="zh-CN" altLang="en-US" sz="2000"/>
              <a:t>返回值是一个整数标识符，其他三个</a:t>
            </a:r>
            <a:r>
              <a:rPr lang="en-US" altLang="zh-CN" sz="2000"/>
              <a:t>msg</a:t>
            </a:r>
            <a:r>
              <a:rPr lang="zh-CN" altLang="en-US" sz="2000"/>
              <a:t>函数用它来指代该队列。</a:t>
            </a:r>
          </a:p>
          <a:p>
            <a:pPr fontAlgn="auto">
              <a:lnSpc>
                <a:spcPct val="80000"/>
              </a:lnSpc>
              <a:spcAft>
                <a:spcPts val="0"/>
              </a:spcAft>
              <a:buFont typeface="Arial" panose="020B0604020202020204" pitchFamily="34" charset="0"/>
              <a:buChar char="•"/>
              <a:defRPr/>
            </a:pPr>
            <a:endParaRPr lang="zh-CN" altLang="en-US" sz="2000"/>
          </a:p>
          <a:p>
            <a:pPr fontAlgn="auto">
              <a:lnSpc>
                <a:spcPct val="80000"/>
              </a:lnSpc>
              <a:spcAft>
                <a:spcPts val="0"/>
              </a:spcAft>
              <a:buFont typeface="Arial" panose="020B0604020202020204" pitchFamily="34" charset="0"/>
              <a:buChar char="•"/>
              <a:defRPr/>
            </a:pPr>
            <a:r>
              <a:rPr lang="zh-CN" altLang="en-US" sz="2000"/>
              <a:t>当创建一个消息队列时，</a:t>
            </a:r>
            <a:r>
              <a:rPr lang="en-US" altLang="zh-CN" sz="2000"/>
              <a:t>msqid_ds</a:t>
            </a:r>
            <a:r>
              <a:rPr lang="zh-CN" altLang="en-US" sz="2000"/>
              <a:t>结构的如下成员被初始化：</a:t>
            </a:r>
          </a:p>
          <a:p>
            <a:pPr lvl="1" fontAlgn="auto">
              <a:lnSpc>
                <a:spcPct val="80000"/>
              </a:lnSpc>
              <a:spcAft>
                <a:spcPts val="0"/>
              </a:spcAft>
              <a:buFont typeface="Arial" panose="020B0604020202020204" pitchFamily="34" charset="0"/>
              <a:buChar char="•"/>
              <a:defRPr/>
            </a:pPr>
            <a:r>
              <a:rPr lang="en-US" altLang="zh-CN" sz="1800"/>
              <a:t>msg_perm</a:t>
            </a:r>
            <a:r>
              <a:rPr lang="zh-CN" altLang="en-US" sz="1800"/>
              <a:t>结构的</a:t>
            </a:r>
            <a:r>
              <a:rPr lang="en-US" altLang="zh-CN" sz="1800"/>
              <a:t>uid</a:t>
            </a:r>
            <a:r>
              <a:rPr lang="zh-CN" altLang="en-US" sz="1800"/>
              <a:t>和</a:t>
            </a:r>
            <a:r>
              <a:rPr lang="en-US" altLang="zh-CN" sz="1800"/>
              <a:t>cuid</a:t>
            </a:r>
            <a:r>
              <a:rPr lang="zh-CN" altLang="en-US" sz="1800"/>
              <a:t>被设置为当前进程的有效用户</a:t>
            </a:r>
            <a:r>
              <a:rPr lang="en-US" altLang="zh-CN" sz="1800"/>
              <a:t>ID</a:t>
            </a:r>
            <a:r>
              <a:rPr lang="zh-CN" altLang="en-US" sz="1800"/>
              <a:t>，</a:t>
            </a:r>
            <a:r>
              <a:rPr lang="en-US" altLang="zh-CN" sz="1800"/>
              <a:t>gid</a:t>
            </a:r>
            <a:r>
              <a:rPr lang="zh-CN" altLang="en-US" sz="1800"/>
              <a:t>和</a:t>
            </a:r>
            <a:r>
              <a:rPr lang="en-US" altLang="zh-CN" sz="1800"/>
              <a:t>cgid</a:t>
            </a:r>
            <a:r>
              <a:rPr lang="zh-CN" altLang="en-US" sz="1800"/>
              <a:t>被设置为当前用户的有效组</a:t>
            </a:r>
            <a:r>
              <a:rPr lang="en-US" altLang="zh-CN" sz="1800"/>
              <a:t>ID</a:t>
            </a:r>
            <a:r>
              <a:rPr lang="zh-CN" altLang="en-US" sz="1800"/>
              <a:t>； </a:t>
            </a:r>
          </a:p>
          <a:p>
            <a:pPr lvl="1" fontAlgn="auto">
              <a:lnSpc>
                <a:spcPct val="80000"/>
              </a:lnSpc>
              <a:spcAft>
                <a:spcPts val="0"/>
              </a:spcAft>
              <a:buFont typeface="Arial" panose="020B0604020202020204" pitchFamily="34" charset="0"/>
              <a:buChar char="•"/>
              <a:defRPr/>
            </a:pPr>
            <a:r>
              <a:rPr lang="en-US" altLang="zh-CN" sz="1800"/>
              <a:t>oflag</a:t>
            </a:r>
            <a:r>
              <a:rPr lang="zh-CN" altLang="en-US" sz="1800"/>
              <a:t>中的读写权限位存放在</a:t>
            </a:r>
            <a:r>
              <a:rPr lang="en-US" altLang="zh-CN" sz="1800"/>
              <a:t>msg_perm.mode</a:t>
            </a:r>
            <a:r>
              <a:rPr lang="zh-CN" altLang="en-US" sz="1800"/>
              <a:t>中； </a:t>
            </a:r>
          </a:p>
          <a:p>
            <a:pPr lvl="1" fontAlgn="auto">
              <a:lnSpc>
                <a:spcPct val="80000"/>
              </a:lnSpc>
              <a:spcAft>
                <a:spcPts val="0"/>
              </a:spcAft>
              <a:buFont typeface="Arial" panose="020B0604020202020204" pitchFamily="34" charset="0"/>
              <a:buChar char="•"/>
              <a:defRPr/>
            </a:pPr>
            <a:r>
              <a:rPr lang="en-US" altLang="zh-CN" sz="1800"/>
              <a:t>msg_qnum</a:t>
            </a:r>
            <a:r>
              <a:rPr lang="zh-CN" altLang="en-US" sz="1800"/>
              <a:t>、</a:t>
            </a:r>
            <a:r>
              <a:rPr lang="en-US" altLang="zh-CN" sz="1800"/>
              <a:t>msg_lspid</a:t>
            </a:r>
            <a:r>
              <a:rPr lang="zh-CN" altLang="en-US" sz="1800"/>
              <a:t>、</a:t>
            </a:r>
            <a:r>
              <a:rPr lang="en-US" altLang="zh-CN" sz="1800"/>
              <a:t>msg_lrpid</a:t>
            </a:r>
            <a:r>
              <a:rPr lang="zh-CN" altLang="en-US" sz="1800"/>
              <a:t>、</a:t>
            </a:r>
            <a:r>
              <a:rPr lang="en-US" altLang="zh-CN" sz="1800"/>
              <a:t>msg_stime</a:t>
            </a:r>
            <a:r>
              <a:rPr lang="zh-CN" altLang="en-US" sz="1800"/>
              <a:t>和</a:t>
            </a:r>
            <a:r>
              <a:rPr lang="en-US" altLang="zh-CN" sz="1800"/>
              <a:t>msg_rtime</a:t>
            </a:r>
            <a:r>
              <a:rPr lang="zh-CN" altLang="en-US" sz="1800"/>
              <a:t>被置为</a:t>
            </a:r>
            <a:r>
              <a:rPr lang="en-US" altLang="zh-CN" sz="1800"/>
              <a:t>0</a:t>
            </a:r>
            <a:r>
              <a:rPr lang="zh-CN" altLang="en-US" sz="1800"/>
              <a:t>； </a:t>
            </a:r>
          </a:p>
          <a:p>
            <a:pPr lvl="1" fontAlgn="auto">
              <a:lnSpc>
                <a:spcPct val="80000"/>
              </a:lnSpc>
              <a:spcAft>
                <a:spcPts val="0"/>
              </a:spcAft>
              <a:buFont typeface="Arial" panose="020B0604020202020204" pitchFamily="34" charset="0"/>
              <a:buChar char="•"/>
              <a:defRPr/>
            </a:pPr>
            <a:r>
              <a:rPr lang="en-US" altLang="zh-CN" sz="1800"/>
              <a:t>msg_ctime</a:t>
            </a:r>
            <a:r>
              <a:rPr lang="zh-CN" altLang="en-US" sz="1800"/>
              <a:t>被设置成当前时间； </a:t>
            </a:r>
          </a:p>
          <a:p>
            <a:pPr lvl="1" fontAlgn="auto">
              <a:lnSpc>
                <a:spcPct val="80000"/>
              </a:lnSpc>
              <a:spcAft>
                <a:spcPts val="0"/>
              </a:spcAft>
              <a:buFont typeface="Arial" panose="020B0604020202020204" pitchFamily="34" charset="0"/>
              <a:buChar char="•"/>
              <a:defRPr/>
            </a:pPr>
            <a:r>
              <a:rPr lang="en-US" altLang="zh-CN" sz="1800"/>
              <a:t>msg_qbytes</a:t>
            </a:r>
            <a:r>
              <a:rPr lang="zh-CN" altLang="en-US" sz="1800"/>
              <a:t>被设置为系统限制值。 </a:t>
            </a:r>
          </a:p>
        </p:txBody>
      </p:sp>
    </p:spTree>
    <p:extLst>
      <p:ext uri="{BB962C8B-B14F-4D97-AF65-F5344CB8AC3E}">
        <p14:creationId xmlns:p14="http://schemas.microsoft.com/office/powerpoint/2010/main" val="3456236765"/>
      </p:ext>
    </p:extLst>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smtClean="0"/>
              <a:t>msgsnd</a:t>
            </a:r>
            <a:r>
              <a:rPr lang="zh-CN" altLang="en-US" smtClean="0"/>
              <a:t>函数 </a:t>
            </a:r>
          </a:p>
        </p:txBody>
      </p:sp>
      <p:sp>
        <p:nvSpPr>
          <p:cNvPr id="229379" name="Rectangle 3"/>
          <p:cNvSpPr>
            <a:spLocks noGrp="1" noChangeArrowheads="1"/>
          </p:cNvSpPr>
          <p:nvPr>
            <p:ph idx="1"/>
          </p:nvPr>
        </p:nvSpPr>
        <p:spPr>
          <a:xfrm>
            <a:off x="1981200" y="1371600"/>
            <a:ext cx="8362950" cy="5486400"/>
          </a:xfrm>
        </p:spPr>
        <p:txBody>
          <a:bodyPr rtlCol="0">
            <a:normAutofit/>
          </a:bodyPr>
          <a:lstStyle/>
          <a:p>
            <a:pPr fontAlgn="auto">
              <a:lnSpc>
                <a:spcPct val="80000"/>
              </a:lnSpc>
              <a:spcAft>
                <a:spcPts val="0"/>
              </a:spcAft>
              <a:buFont typeface="Arial" panose="020B0604020202020204" pitchFamily="34" charset="0"/>
              <a:buChar char="•"/>
              <a:defRPr/>
            </a:pPr>
            <a:r>
              <a:rPr lang="en-US" altLang="zh-CN" sz="1600"/>
              <a:t>#include &lt;sys/msg.h&gt;</a:t>
            </a:r>
          </a:p>
          <a:p>
            <a:pPr fontAlgn="auto">
              <a:lnSpc>
                <a:spcPct val="80000"/>
              </a:lnSpc>
              <a:spcAft>
                <a:spcPts val="0"/>
              </a:spcAft>
              <a:buFont typeface="Arial" panose="020B0604020202020204" pitchFamily="34" charset="0"/>
              <a:buChar char="•"/>
              <a:defRPr/>
            </a:pPr>
            <a:r>
              <a:rPr lang="en-US" altLang="zh-CN" sz="1600" b="1"/>
              <a:t>int msgsnd(int msgid, const void *ptr, size_t length, int flag);</a:t>
            </a:r>
          </a:p>
          <a:p>
            <a:pPr fontAlgn="auto">
              <a:lnSpc>
                <a:spcPct val="80000"/>
              </a:lnSpc>
              <a:spcAft>
                <a:spcPts val="0"/>
              </a:spcAft>
              <a:buFont typeface="Arial" panose="020B0604020202020204" pitchFamily="34" charset="0"/>
              <a:buChar char="•"/>
              <a:defRPr/>
            </a:pPr>
            <a:r>
              <a:rPr lang="zh-CN" altLang="en-US" sz="1600"/>
              <a:t>返回：成功时为</a:t>
            </a:r>
            <a:r>
              <a:rPr lang="en-US" altLang="zh-CN" sz="1600"/>
              <a:t>0</a:t>
            </a:r>
            <a:r>
              <a:rPr lang="zh-CN" altLang="en-US" sz="1600"/>
              <a:t>，出错时为</a:t>
            </a:r>
            <a:r>
              <a:rPr lang="en-US" altLang="zh-CN" sz="1600"/>
              <a:t>-1</a:t>
            </a:r>
          </a:p>
          <a:p>
            <a:pPr fontAlgn="auto">
              <a:lnSpc>
                <a:spcPct val="80000"/>
              </a:lnSpc>
              <a:spcAft>
                <a:spcPts val="0"/>
              </a:spcAft>
              <a:buFont typeface="Arial" panose="020B0604020202020204" pitchFamily="34" charset="0"/>
              <a:buChar char="•"/>
              <a:defRPr/>
            </a:pPr>
            <a:r>
              <a:rPr lang="zh-CN" altLang="en-US" sz="1600"/>
              <a:t>该函数用于往消息队列上放置一个消息。</a:t>
            </a:r>
          </a:p>
          <a:p>
            <a:pPr fontAlgn="auto">
              <a:lnSpc>
                <a:spcPct val="80000"/>
              </a:lnSpc>
              <a:spcAft>
                <a:spcPts val="0"/>
              </a:spcAft>
              <a:buFont typeface="Arial" panose="020B0604020202020204" pitchFamily="34" charset="0"/>
              <a:buChar char="•"/>
              <a:defRPr/>
            </a:pPr>
            <a:r>
              <a:rPr lang="en-US" altLang="zh-CN" sz="1600"/>
              <a:t>msgid</a:t>
            </a:r>
            <a:r>
              <a:rPr lang="zh-CN" altLang="en-US" sz="1600"/>
              <a:t>是</a:t>
            </a:r>
            <a:r>
              <a:rPr lang="en-US" altLang="zh-CN" sz="1600"/>
              <a:t>msgget</a:t>
            </a:r>
            <a:r>
              <a:rPr lang="zh-CN" altLang="en-US" sz="1600"/>
              <a:t>返回的标识符，</a:t>
            </a:r>
            <a:r>
              <a:rPr lang="en-US" altLang="zh-CN" sz="1600"/>
              <a:t>ptr</a:t>
            </a:r>
            <a:r>
              <a:rPr lang="zh-CN" altLang="en-US" sz="1600"/>
              <a:t>是一个结构指针，该结构有如下的模板：</a:t>
            </a:r>
          </a:p>
          <a:p>
            <a:pPr fontAlgn="auto">
              <a:lnSpc>
                <a:spcPct val="80000"/>
              </a:lnSpc>
              <a:spcAft>
                <a:spcPts val="0"/>
              </a:spcAft>
              <a:buFont typeface="Arial" panose="020B0604020202020204" pitchFamily="34" charset="0"/>
              <a:buChar char="•"/>
              <a:defRPr/>
            </a:pPr>
            <a:endParaRPr lang="zh-CN" altLang="en-US" sz="1600"/>
          </a:p>
          <a:p>
            <a:pPr lvl="1" fontAlgn="auto">
              <a:lnSpc>
                <a:spcPct val="80000"/>
              </a:lnSpc>
              <a:spcAft>
                <a:spcPts val="0"/>
              </a:spcAft>
              <a:buFont typeface="Arial" panose="020B0604020202020204" pitchFamily="34" charset="0"/>
              <a:buChar char="•"/>
              <a:defRPr/>
            </a:pPr>
            <a:r>
              <a:rPr lang="en-US" altLang="zh-CN" sz="1400"/>
              <a:t>struct msgbuf {</a:t>
            </a:r>
          </a:p>
          <a:p>
            <a:pPr lvl="1" fontAlgn="auto">
              <a:lnSpc>
                <a:spcPct val="80000"/>
              </a:lnSpc>
              <a:spcAft>
                <a:spcPts val="0"/>
              </a:spcAft>
              <a:buFont typeface="Arial" panose="020B0604020202020204" pitchFamily="34" charset="0"/>
              <a:buChar char="•"/>
              <a:defRPr/>
            </a:pPr>
            <a:r>
              <a:rPr lang="en-US" altLang="zh-CN" sz="1400"/>
              <a:t>    long mtype; /* message type, must be &gt; 0 */</a:t>
            </a:r>
          </a:p>
          <a:p>
            <a:pPr lvl="1" fontAlgn="auto">
              <a:lnSpc>
                <a:spcPct val="80000"/>
              </a:lnSpc>
              <a:spcAft>
                <a:spcPts val="0"/>
              </a:spcAft>
              <a:buFont typeface="Arial" panose="020B0604020202020204" pitchFamily="34" charset="0"/>
              <a:buChar char="•"/>
              <a:defRPr/>
            </a:pPr>
            <a:r>
              <a:rPr lang="en-US" altLang="zh-CN" sz="1400"/>
              <a:t>    char mtext[ 1 ]; /* message data */</a:t>
            </a:r>
          </a:p>
          <a:p>
            <a:pPr lvl="1" fontAlgn="auto">
              <a:lnSpc>
                <a:spcPct val="80000"/>
              </a:lnSpc>
              <a:spcAft>
                <a:spcPts val="0"/>
              </a:spcAft>
              <a:buFont typeface="Arial" panose="020B0604020202020204" pitchFamily="34" charset="0"/>
              <a:buChar char="•"/>
              <a:defRPr/>
            </a:pPr>
            <a:r>
              <a:rPr lang="en-US" altLang="zh-CN" sz="1400"/>
              <a:t>};</a:t>
            </a:r>
          </a:p>
          <a:p>
            <a:pPr fontAlgn="auto">
              <a:lnSpc>
                <a:spcPct val="80000"/>
              </a:lnSpc>
              <a:spcAft>
                <a:spcPts val="0"/>
              </a:spcAft>
              <a:buFont typeface="Arial" panose="020B0604020202020204" pitchFamily="34" charset="0"/>
              <a:buChar char="•"/>
              <a:defRPr/>
            </a:pPr>
            <a:r>
              <a:rPr lang="zh-CN" altLang="en-US" sz="1600"/>
              <a:t>消息类型</a:t>
            </a:r>
            <a:r>
              <a:rPr lang="en-US" altLang="zh-CN" sz="1600"/>
              <a:t>mtype</a:t>
            </a:r>
            <a:r>
              <a:rPr lang="zh-CN" altLang="en-US" sz="1600"/>
              <a:t>必须大于</a:t>
            </a:r>
            <a:r>
              <a:rPr lang="en-US" altLang="zh-CN" sz="1600"/>
              <a:t>0</a:t>
            </a:r>
            <a:r>
              <a:rPr lang="zh-CN" altLang="en-US" sz="1600"/>
              <a:t>，因为非正消息类型有特殊的指示作用。</a:t>
            </a:r>
          </a:p>
          <a:p>
            <a:pPr fontAlgn="auto">
              <a:lnSpc>
                <a:spcPct val="80000"/>
              </a:lnSpc>
              <a:spcAft>
                <a:spcPts val="0"/>
              </a:spcAft>
              <a:buFont typeface="Arial" panose="020B0604020202020204" pitchFamily="34" charset="0"/>
              <a:buChar char="•"/>
              <a:defRPr/>
            </a:pPr>
            <a:r>
              <a:rPr lang="en-US" altLang="zh-CN" sz="1600"/>
              <a:t>length</a:t>
            </a:r>
            <a:r>
              <a:rPr lang="zh-CN" altLang="en-US" sz="1600"/>
              <a:t>参数以字节为单位指定待发送消息的长度。这是位于长整数消息类型之后的用户自定义数据的长度，该长度可以是</a:t>
            </a:r>
            <a:r>
              <a:rPr lang="en-US" altLang="zh-CN" sz="1600"/>
              <a:t>0</a:t>
            </a:r>
            <a:r>
              <a:rPr lang="zh-CN" altLang="en-US" sz="1600"/>
              <a:t>。</a:t>
            </a:r>
          </a:p>
          <a:p>
            <a:pPr fontAlgn="auto">
              <a:lnSpc>
                <a:spcPct val="80000"/>
              </a:lnSpc>
              <a:spcAft>
                <a:spcPts val="0"/>
              </a:spcAft>
              <a:buFont typeface="Arial" panose="020B0604020202020204" pitchFamily="34" charset="0"/>
              <a:buChar char="•"/>
              <a:defRPr/>
            </a:pPr>
            <a:r>
              <a:rPr lang="en-US" altLang="zh-CN" sz="1600"/>
              <a:t>flag</a:t>
            </a:r>
            <a:r>
              <a:rPr lang="zh-CN" altLang="en-US" sz="1600"/>
              <a:t>参数可以是</a:t>
            </a:r>
            <a:r>
              <a:rPr lang="en-US" altLang="zh-CN" sz="1600"/>
              <a:t>0</a:t>
            </a:r>
            <a:r>
              <a:rPr lang="zh-CN" altLang="en-US" sz="1600"/>
              <a:t>，也可以是</a:t>
            </a:r>
            <a:r>
              <a:rPr lang="en-US" altLang="zh-CN" sz="1600"/>
              <a:t>IPC_NOWAIT</a:t>
            </a:r>
            <a:r>
              <a:rPr lang="zh-CN" altLang="en-US" sz="1600"/>
              <a:t>。</a:t>
            </a:r>
            <a:r>
              <a:rPr lang="en-US" altLang="zh-CN" sz="1600"/>
              <a:t>IPC_NOWAIT</a:t>
            </a:r>
            <a:r>
              <a:rPr lang="zh-CN" altLang="en-US" sz="1600"/>
              <a:t>标志使得</a:t>
            </a:r>
            <a:r>
              <a:rPr lang="en-US" altLang="zh-CN" sz="1600"/>
              <a:t>msgsnd</a:t>
            </a:r>
            <a:r>
              <a:rPr lang="zh-CN" altLang="en-US" sz="1600"/>
              <a:t>调用非阻塞。当有如下情形之一时：</a:t>
            </a:r>
          </a:p>
          <a:p>
            <a:pPr lvl="1" fontAlgn="auto">
              <a:lnSpc>
                <a:spcPct val="80000"/>
              </a:lnSpc>
              <a:spcAft>
                <a:spcPts val="0"/>
              </a:spcAft>
              <a:buFont typeface="Arial" panose="020B0604020202020204" pitchFamily="34" charset="0"/>
              <a:buChar char="•"/>
              <a:defRPr/>
            </a:pPr>
            <a:r>
              <a:rPr lang="zh-CN" altLang="en-US" sz="1400"/>
              <a:t>在指定的队列中已经有太多的字节</a:t>
            </a:r>
            <a:r>
              <a:rPr lang="en-US" altLang="zh-CN" sz="1400"/>
              <a:t>(</a:t>
            </a:r>
            <a:r>
              <a:rPr lang="zh-CN" altLang="en-US" sz="1400"/>
              <a:t>对应</a:t>
            </a:r>
            <a:r>
              <a:rPr lang="en-US" altLang="zh-CN" sz="1400"/>
              <a:t>msqid_ds</a:t>
            </a:r>
            <a:r>
              <a:rPr lang="zh-CN" altLang="en-US" sz="1400"/>
              <a:t>结构中的</a:t>
            </a:r>
            <a:r>
              <a:rPr lang="en-US" altLang="zh-CN" sz="1400"/>
              <a:t>msg_qbytes</a:t>
            </a:r>
            <a:r>
              <a:rPr lang="zh-CN" altLang="en-US" sz="1400"/>
              <a:t>值</a:t>
            </a:r>
            <a:r>
              <a:rPr lang="en-US" altLang="zh-CN" sz="1400"/>
              <a:t>)</a:t>
            </a:r>
            <a:r>
              <a:rPr lang="zh-CN" altLang="en-US" sz="1400"/>
              <a:t>； </a:t>
            </a:r>
          </a:p>
          <a:p>
            <a:pPr lvl="1" fontAlgn="auto">
              <a:lnSpc>
                <a:spcPct val="80000"/>
              </a:lnSpc>
              <a:spcAft>
                <a:spcPts val="0"/>
              </a:spcAft>
              <a:buFont typeface="Arial" panose="020B0604020202020204" pitchFamily="34" charset="0"/>
              <a:buChar char="•"/>
              <a:defRPr/>
            </a:pPr>
            <a:r>
              <a:rPr lang="zh-CN" altLang="en-US" sz="1400"/>
              <a:t>在系统范围存在太多的消息。 </a:t>
            </a:r>
          </a:p>
          <a:p>
            <a:pPr lvl="1" fontAlgn="auto">
              <a:lnSpc>
                <a:spcPct val="80000"/>
              </a:lnSpc>
              <a:spcAft>
                <a:spcPts val="0"/>
              </a:spcAft>
              <a:buFont typeface="Arial" panose="020B0604020202020204" pitchFamily="34" charset="0"/>
              <a:buChar char="•"/>
              <a:defRPr/>
            </a:pPr>
            <a:r>
              <a:rPr lang="zh-CN" altLang="en-US" sz="1400"/>
              <a:t>若设置了</a:t>
            </a:r>
            <a:r>
              <a:rPr lang="en-US" altLang="zh-CN" sz="1400"/>
              <a:t>IPC_NOWAIT</a:t>
            </a:r>
            <a:r>
              <a:rPr lang="zh-CN" altLang="en-US" sz="1400"/>
              <a:t>，则</a:t>
            </a:r>
            <a:r>
              <a:rPr lang="en-US" altLang="zh-CN" sz="1400"/>
              <a:t>msgsnd</a:t>
            </a:r>
            <a:r>
              <a:rPr lang="zh-CN" altLang="en-US" sz="1400"/>
              <a:t>立即返回，返回一个</a:t>
            </a:r>
            <a:r>
              <a:rPr lang="en-US" altLang="zh-CN" sz="1400"/>
              <a:t>EAGAIN</a:t>
            </a:r>
            <a:r>
              <a:rPr lang="zh-CN" altLang="en-US" sz="1400"/>
              <a:t>错误。若未指定该标志，则</a:t>
            </a:r>
            <a:r>
              <a:rPr lang="en-US" altLang="zh-CN" sz="1400"/>
              <a:t>msgsnd</a:t>
            </a:r>
            <a:r>
              <a:rPr lang="zh-CN" altLang="en-US" sz="1400"/>
              <a:t>阻塞，直到具备存放新消息的空间； </a:t>
            </a:r>
          </a:p>
          <a:p>
            <a:pPr lvl="1" fontAlgn="auto">
              <a:lnSpc>
                <a:spcPct val="80000"/>
              </a:lnSpc>
              <a:spcAft>
                <a:spcPts val="0"/>
              </a:spcAft>
              <a:buFont typeface="Arial" panose="020B0604020202020204" pitchFamily="34" charset="0"/>
              <a:buChar char="•"/>
              <a:defRPr/>
            </a:pPr>
            <a:r>
              <a:rPr lang="zh-CN" altLang="en-US" sz="1400"/>
              <a:t>有</a:t>
            </a:r>
            <a:r>
              <a:rPr lang="en-US" altLang="zh-CN" sz="1400"/>
              <a:t>msgid</a:t>
            </a:r>
            <a:r>
              <a:rPr lang="zh-CN" altLang="en-US" sz="1400"/>
              <a:t>标识的消息队列被删除，此时返回</a:t>
            </a:r>
            <a:r>
              <a:rPr lang="en-US" altLang="zh-CN" sz="1400"/>
              <a:t>EIDRM</a:t>
            </a:r>
            <a:r>
              <a:rPr lang="zh-CN" altLang="en-US" sz="1400"/>
              <a:t>错误； </a:t>
            </a:r>
          </a:p>
          <a:p>
            <a:pPr lvl="1" fontAlgn="auto">
              <a:lnSpc>
                <a:spcPct val="80000"/>
              </a:lnSpc>
              <a:spcAft>
                <a:spcPts val="0"/>
              </a:spcAft>
              <a:buFont typeface="Arial" panose="020B0604020202020204" pitchFamily="34" charset="0"/>
              <a:buChar char="•"/>
              <a:defRPr/>
            </a:pPr>
            <a:r>
              <a:rPr lang="zh-CN" altLang="en-US" sz="1400"/>
              <a:t>被信号中断，此时返回</a:t>
            </a:r>
            <a:r>
              <a:rPr lang="en-US" altLang="zh-CN" sz="1400"/>
              <a:t>EINTR</a:t>
            </a:r>
            <a:r>
              <a:rPr lang="zh-CN" altLang="en-US" sz="1400"/>
              <a:t>错误。</a:t>
            </a:r>
          </a:p>
          <a:p>
            <a:pPr fontAlgn="auto">
              <a:lnSpc>
                <a:spcPct val="80000"/>
              </a:lnSpc>
              <a:spcAft>
                <a:spcPts val="0"/>
              </a:spcAft>
              <a:buFont typeface="Arial" panose="020B0604020202020204" pitchFamily="34" charset="0"/>
              <a:buChar char="•"/>
              <a:defRPr/>
            </a:pPr>
            <a:endParaRPr lang="zh-CN" altLang="en-US" sz="1600"/>
          </a:p>
          <a:p>
            <a:pPr fontAlgn="auto">
              <a:lnSpc>
                <a:spcPct val="80000"/>
              </a:lnSpc>
              <a:spcAft>
                <a:spcPts val="0"/>
              </a:spcAft>
              <a:buFont typeface="Arial" panose="020B0604020202020204" pitchFamily="34" charset="0"/>
              <a:buChar char="•"/>
              <a:defRPr/>
            </a:pPr>
            <a:endParaRPr lang="en-US" altLang="zh-CN" sz="1600"/>
          </a:p>
        </p:txBody>
      </p:sp>
    </p:spTree>
    <p:extLst>
      <p:ext uri="{BB962C8B-B14F-4D97-AF65-F5344CB8AC3E}">
        <p14:creationId xmlns:p14="http://schemas.microsoft.com/office/powerpoint/2010/main" val="3602061187"/>
      </p:ext>
    </p:extLst>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mtClean="0"/>
              <a:t>msgrcv</a:t>
            </a:r>
            <a:r>
              <a:rPr lang="zh-CN" altLang="en-US" smtClean="0"/>
              <a:t>函数 </a:t>
            </a:r>
          </a:p>
        </p:txBody>
      </p:sp>
      <p:sp>
        <p:nvSpPr>
          <p:cNvPr id="230403" name="Rectangle 3"/>
          <p:cNvSpPr>
            <a:spLocks noGrp="1" noChangeArrowheads="1"/>
          </p:cNvSpPr>
          <p:nvPr>
            <p:ph idx="1"/>
          </p:nvPr>
        </p:nvSpPr>
        <p:spPr>
          <a:xfrm>
            <a:off x="1946031" y="1160584"/>
            <a:ext cx="8362950" cy="5486400"/>
          </a:xfrm>
        </p:spPr>
        <p:txBody>
          <a:bodyPr rtlCol="0">
            <a:normAutofit/>
          </a:bodyPr>
          <a:lstStyle/>
          <a:p>
            <a:pPr fontAlgn="auto">
              <a:lnSpc>
                <a:spcPct val="80000"/>
              </a:lnSpc>
              <a:spcAft>
                <a:spcPts val="0"/>
              </a:spcAft>
              <a:buFont typeface="Arial" panose="020B0604020202020204" pitchFamily="34" charset="0"/>
              <a:buChar char="•"/>
              <a:defRPr/>
            </a:pPr>
            <a:r>
              <a:rPr lang="en-US" altLang="zh-CN" sz="1600" dirty="0"/>
              <a:t>#include &lt;sys/</a:t>
            </a:r>
            <a:r>
              <a:rPr lang="en-US" altLang="zh-CN" sz="1600" dirty="0" err="1"/>
              <a:t>msg.h</a:t>
            </a:r>
            <a:r>
              <a:rPr lang="en-US" altLang="zh-CN" sz="1600" dirty="0"/>
              <a:t>&gt;</a:t>
            </a:r>
          </a:p>
          <a:p>
            <a:pPr fontAlgn="auto">
              <a:lnSpc>
                <a:spcPct val="80000"/>
              </a:lnSpc>
              <a:spcAft>
                <a:spcPts val="0"/>
              </a:spcAft>
              <a:buFont typeface="Arial" panose="020B0604020202020204" pitchFamily="34" charset="0"/>
              <a:buChar char="•"/>
              <a:defRPr/>
            </a:pPr>
            <a:r>
              <a:rPr lang="en-US" altLang="zh-CN" sz="1600" b="1" dirty="0" err="1"/>
              <a:t>ssize_t</a:t>
            </a:r>
            <a:r>
              <a:rPr lang="en-US" altLang="zh-CN" sz="1600" b="1" dirty="0"/>
              <a:t> </a:t>
            </a:r>
            <a:r>
              <a:rPr lang="en-US" altLang="zh-CN" sz="1600" b="1" dirty="0" err="1"/>
              <a:t>msgrcv</a:t>
            </a:r>
            <a:r>
              <a:rPr lang="en-US" altLang="zh-CN" sz="1600" b="1" dirty="0"/>
              <a:t>(</a:t>
            </a:r>
            <a:r>
              <a:rPr lang="en-US" altLang="zh-CN" sz="1600" b="1" dirty="0" err="1"/>
              <a:t>int</a:t>
            </a:r>
            <a:r>
              <a:rPr lang="en-US" altLang="zh-CN" sz="1600" b="1" dirty="0"/>
              <a:t> </a:t>
            </a:r>
            <a:r>
              <a:rPr lang="en-US" altLang="zh-CN" sz="1600" b="1" dirty="0" err="1"/>
              <a:t>msqid</a:t>
            </a:r>
            <a:r>
              <a:rPr lang="en-US" altLang="zh-CN" sz="1600" b="1" dirty="0"/>
              <a:t>, void *</a:t>
            </a:r>
            <a:r>
              <a:rPr lang="en-US" altLang="zh-CN" sz="1600" b="1" dirty="0" err="1"/>
              <a:t>ptr</a:t>
            </a:r>
            <a:r>
              <a:rPr lang="en-US" altLang="zh-CN" sz="1600" b="1" dirty="0"/>
              <a:t>, </a:t>
            </a:r>
            <a:r>
              <a:rPr lang="en-US" altLang="zh-CN" sz="1600" b="1" dirty="0" err="1"/>
              <a:t>size_t</a:t>
            </a:r>
            <a:r>
              <a:rPr lang="en-US" altLang="zh-CN" sz="1600" b="1" dirty="0"/>
              <a:t> length, long type, </a:t>
            </a:r>
            <a:r>
              <a:rPr lang="en-US" altLang="zh-CN" sz="1600" b="1" dirty="0" err="1"/>
              <a:t>int</a:t>
            </a:r>
            <a:r>
              <a:rPr lang="en-US" altLang="zh-CN" sz="1600" b="1" dirty="0"/>
              <a:t> flag);</a:t>
            </a:r>
          </a:p>
          <a:p>
            <a:pPr fontAlgn="auto">
              <a:lnSpc>
                <a:spcPct val="80000"/>
              </a:lnSpc>
              <a:spcAft>
                <a:spcPts val="0"/>
              </a:spcAft>
              <a:buFont typeface="Arial" panose="020B0604020202020204" pitchFamily="34" charset="0"/>
              <a:buChar char="•"/>
              <a:defRPr/>
            </a:pPr>
            <a:r>
              <a:rPr lang="zh-CN" altLang="en-US" sz="1600" dirty="0"/>
              <a:t>返回：成功时为读入缓冲区中数据的字节数，出错时为</a:t>
            </a:r>
            <a:r>
              <a:rPr lang="en-US" altLang="zh-CN" sz="1600" dirty="0"/>
              <a:t>-1</a:t>
            </a:r>
          </a:p>
          <a:p>
            <a:pPr fontAlgn="auto">
              <a:lnSpc>
                <a:spcPct val="80000"/>
              </a:lnSpc>
              <a:spcAft>
                <a:spcPts val="0"/>
              </a:spcAft>
              <a:buFont typeface="Arial" panose="020B0604020202020204" pitchFamily="34" charset="0"/>
              <a:buChar char="•"/>
              <a:defRPr/>
            </a:pPr>
            <a:r>
              <a:rPr lang="zh-CN" altLang="en-US" sz="1600" dirty="0"/>
              <a:t>该函数从某个消息队列中读出一个消息。</a:t>
            </a:r>
          </a:p>
          <a:p>
            <a:pPr fontAlgn="auto">
              <a:lnSpc>
                <a:spcPct val="80000"/>
              </a:lnSpc>
              <a:spcAft>
                <a:spcPts val="0"/>
              </a:spcAft>
              <a:buFont typeface="Arial" panose="020B0604020202020204" pitchFamily="34" charset="0"/>
              <a:buChar char="•"/>
              <a:defRPr/>
            </a:pPr>
            <a:endParaRPr lang="zh-CN" altLang="en-US" sz="1600" dirty="0"/>
          </a:p>
          <a:p>
            <a:pPr fontAlgn="auto">
              <a:lnSpc>
                <a:spcPct val="80000"/>
              </a:lnSpc>
              <a:spcAft>
                <a:spcPts val="0"/>
              </a:spcAft>
              <a:buFont typeface="Arial" panose="020B0604020202020204" pitchFamily="34" charset="0"/>
              <a:buChar char="•"/>
              <a:defRPr/>
            </a:pPr>
            <a:r>
              <a:rPr lang="en-US" altLang="zh-CN" sz="1600" dirty="0" err="1"/>
              <a:t>ptr</a:t>
            </a:r>
            <a:r>
              <a:rPr lang="zh-CN" altLang="en-US" sz="1600" dirty="0"/>
              <a:t>参数指定所接收消息的存放位置。跟</a:t>
            </a:r>
            <a:r>
              <a:rPr lang="en-US" altLang="zh-CN" sz="1600" dirty="0" err="1"/>
              <a:t>msgsnd</a:t>
            </a:r>
            <a:r>
              <a:rPr lang="zh-CN" altLang="en-US" sz="1600" dirty="0"/>
              <a:t>一样，该指针指向紧挨在真正的消息数据之前返回的长整数类型字段。</a:t>
            </a:r>
          </a:p>
          <a:p>
            <a:pPr fontAlgn="auto">
              <a:lnSpc>
                <a:spcPct val="80000"/>
              </a:lnSpc>
              <a:spcAft>
                <a:spcPts val="0"/>
              </a:spcAft>
              <a:buFont typeface="Arial" panose="020B0604020202020204" pitchFamily="34" charset="0"/>
              <a:buChar char="•"/>
              <a:defRPr/>
            </a:pPr>
            <a:endParaRPr lang="zh-CN" altLang="en-US" sz="1600" dirty="0"/>
          </a:p>
          <a:p>
            <a:pPr fontAlgn="auto">
              <a:lnSpc>
                <a:spcPct val="80000"/>
              </a:lnSpc>
              <a:spcAft>
                <a:spcPts val="0"/>
              </a:spcAft>
              <a:buFont typeface="Arial" panose="020B0604020202020204" pitchFamily="34" charset="0"/>
              <a:buChar char="•"/>
              <a:defRPr/>
            </a:pPr>
            <a:r>
              <a:rPr lang="en-US" altLang="zh-CN" sz="1600" dirty="0"/>
              <a:t>length</a:t>
            </a:r>
            <a:r>
              <a:rPr lang="zh-CN" altLang="en-US" sz="1600" dirty="0"/>
              <a:t>指定由</a:t>
            </a:r>
            <a:r>
              <a:rPr lang="en-US" altLang="zh-CN" sz="1600" dirty="0" err="1"/>
              <a:t>ptr</a:t>
            </a:r>
            <a:r>
              <a:rPr lang="zh-CN" altLang="en-US" sz="1600" dirty="0"/>
              <a:t>指向的缓冲区中数据部分的大小。这是该函数能返回的最大数据量。该长度不包含长整数类型字段。</a:t>
            </a:r>
          </a:p>
          <a:p>
            <a:pPr fontAlgn="auto">
              <a:lnSpc>
                <a:spcPct val="80000"/>
              </a:lnSpc>
              <a:spcAft>
                <a:spcPts val="0"/>
              </a:spcAft>
              <a:buFont typeface="Arial" panose="020B0604020202020204" pitchFamily="34" charset="0"/>
              <a:buChar char="•"/>
              <a:defRPr/>
            </a:pPr>
            <a:endParaRPr lang="zh-CN" altLang="en-US" sz="1600" dirty="0"/>
          </a:p>
          <a:p>
            <a:pPr fontAlgn="auto">
              <a:lnSpc>
                <a:spcPct val="80000"/>
              </a:lnSpc>
              <a:spcAft>
                <a:spcPts val="0"/>
              </a:spcAft>
              <a:buFont typeface="Arial" panose="020B0604020202020204" pitchFamily="34" charset="0"/>
              <a:buChar char="•"/>
              <a:defRPr/>
            </a:pPr>
            <a:r>
              <a:rPr lang="en-US" altLang="zh-CN" sz="1600" dirty="0"/>
              <a:t>type</a:t>
            </a:r>
            <a:r>
              <a:rPr lang="zh-CN" altLang="en-US" sz="1600" dirty="0"/>
              <a:t>指定希望从所给定的队列中读出什么样的消息：</a:t>
            </a:r>
          </a:p>
          <a:p>
            <a:pPr lvl="1" fontAlgn="auto">
              <a:lnSpc>
                <a:spcPct val="80000"/>
              </a:lnSpc>
              <a:spcAft>
                <a:spcPts val="0"/>
              </a:spcAft>
              <a:buFont typeface="Arial" panose="020B0604020202020204" pitchFamily="34" charset="0"/>
              <a:buChar char="•"/>
              <a:defRPr/>
            </a:pPr>
            <a:r>
              <a:rPr lang="en-US" altLang="zh-CN" sz="1400" dirty="0"/>
              <a:t>type</a:t>
            </a:r>
            <a:r>
              <a:rPr lang="zh-CN" altLang="en-US" sz="1400" dirty="0"/>
              <a:t>为</a:t>
            </a:r>
            <a:r>
              <a:rPr lang="en-US" altLang="zh-CN" sz="1400" dirty="0"/>
              <a:t>0</a:t>
            </a:r>
            <a:r>
              <a:rPr lang="zh-CN" altLang="en-US" sz="1400" dirty="0"/>
              <a:t>，返回队列中第一个消息。每个消息队列是作为一个</a:t>
            </a:r>
            <a:r>
              <a:rPr lang="en-US" altLang="zh-CN" sz="1400" dirty="0"/>
              <a:t>FIFO</a:t>
            </a:r>
            <a:r>
              <a:rPr lang="zh-CN" altLang="en-US" sz="1400" dirty="0"/>
              <a:t>链表维护的，所以返回的是队列中最早的消息。 </a:t>
            </a:r>
          </a:p>
          <a:p>
            <a:pPr lvl="1" fontAlgn="auto">
              <a:lnSpc>
                <a:spcPct val="80000"/>
              </a:lnSpc>
              <a:spcAft>
                <a:spcPts val="0"/>
              </a:spcAft>
              <a:buFont typeface="Arial" panose="020B0604020202020204" pitchFamily="34" charset="0"/>
              <a:buChar char="•"/>
              <a:defRPr/>
            </a:pPr>
            <a:r>
              <a:rPr lang="en-US" altLang="zh-CN" sz="1400" dirty="0"/>
              <a:t>type</a:t>
            </a:r>
            <a:r>
              <a:rPr lang="zh-CN" altLang="en-US" sz="1400" dirty="0"/>
              <a:t>大于</a:t>
            </a:r>
            <a:r>
              <a:rPr lang="en-US" altLang="zh-CN" sz="1400" dirty="0"/>
              <a:t>0</a:t>
            </a:r>
            <a:r>
              <a:rPr lang="zh-CN" altLang="en-US" sz="1400" dirty="0"/>
              <a:t>，返回其类型值为</a:t>
            </a:r>
            <a:r>
              <a:rPr lang="en-US" altLang="zh-CN" sz="1400" dirty="0"/>
              <a:t>type</a:t>
            </a:r>
            <a:r>
              <a:rPr lang="zh-CN" altLang="en-US" sz="1400" dirty="0"/>
              <a:t>的第一个消息。 </a:t>
            </a:r>
          </a:p>
          <a:p>
            <a:pPr lvl="1" fontAlgn="auto">
              <a:lnSpc>
                <a:spcPct val="80000"/>
              </a:lnSpc>
              <a:spcAft>
                <a:spcPts val="0"/>
              </a:spcAft>
              <a:buFont typeface="Arial" panose="020B0604020202020204" pitchFamily="34" charset="0"/>
              <a:buChar char="•"/>
              <a:defRPr/>
            </a:pPr>
            <a:r>
              <a:rPr lang="en-US" altLang="zh-CN" sz="1400" dirty="0"/>
              <a:t>type</a:t>
            </a:r>
            <a:r>
              <a:rPr lang="zh-CN" altLang="en-US" sz="1400" dirty="0"/>
              <a:t>小于</a:t>
            </a:r>
            <a:r>
              <a:rPr lang="en-US" altLang="zh-CN" sz="1400" dirty="0"/>
              <a:t>0</a:t>
            </a:r>
            <a:r>
              <a:rPr lang="zh-CN" altLang="en-US" sz="1400" dirty="0"/>
              <a:t>，返回其类型值小于或等于</a:t>
            </a:r>
            <a:r>
              <a:rPr lang="en-US" altLang="zh-CN" sz="1400" dirty="0"/>
              <a:t>type</a:t>
            </a:r>
            <a:r>
              <a:rPr lang="zh-CN" altLang="en-US" sz="1400" dirty="0"/>
              <a:t>参数的绝对值的消息中类型值最小的第一个消息。 </a:t>
            </a:r>
          </a:p>
          <a:p>
            <a:pPr fontAlgn="auto">
              <a:lnSpc>
                <a:spcPct val="80000"/>
              </a:lnSpc>
              <a:spcAft>
                <a:spcPts val="0"/>
              </a:spcAft>
              <a:buFont typeface="Arial" panose="020B0604020202020204" pitchFamily="34" charset="0"/>
              <a:buChar char="•"/>
              <a:defRPr/>
            </a:pPr>
            <a:r>
              <a:rPr lang="en-US" altLang="zh-CN" sz="1600" dirty="0"/>
              <a:t>flag</a:t>
            </a:r>
            <a:r>
              <a:rPr lang="zh-CN" altLang="en-US" sz="1600" dirty="0"/>
              <a:t>参数指定所请求的消息不在队列中时怎么办。在没有消息时，若设置了</a:t>
            </a:r>
            <a:r>
              <a:rPr lang="en-US" altLang="zh-CN" sz="1600" dirty="0"/>
              <a:t>IPC_NOWAIT</a:t>
            </a:r>
            <a:r>
              <a:rPr lang="zh-CN" altLang="en-US" sz="1600" dirty="0"/>
              <a:t>标志，则函数立即返回一个</a:t>
            </a:r>
            <a:r>
              <a:rPr lang="en-US" altLang="zh-CN" sz="1600" dirty="0"/>
              <a:t>ENOMSG</a:t>
            </a:r>
            <a:r>
              <a:rPr lang="zh-CN" altLang="en-US" sz="1600" dirty="0"/>
              <a:t>错误；否则，调用者阻塞直到如下某个时间发生：</a:t>
            </a:r>
          </a:p>
          <a:p>
            <a:pPr lvl="2" fontAlgn="auto">
              <a:lnSpc>
                <a:spcPct val="80000"/>
              </a:lnSpc>
              <a:spcAft>
                <a:spcPts val="0"/>
              </a:spcAft>
              <a:buFont typeface="Arial" panose="020B0604020202020204" pitchFamily="34" charset="0"/>
              <a:buChar char="•"/>
              <a:defRPr/>
            </a:pPr>
            <a:r>
              <a:rPr lang="zh-CN" altLang="en-US" sz="1400" dirty="0"/>
              <a:t>有一个所请求类型的消息可获取； </a:t>
            </a:r>
          </a:p>
          <a:p>
            <a:pPr lvl="2" fontAlgn="auto">
              <a:lnSpc>
                <a:spcPct val="80000"/>
              </a:lnSpc>
              <a:spcAft>
                <a:spcPts val="0"/>
              </a:spcAft>
              <a:buFont typeface="Arial" panose="020B0604020202020204" pitchFamily="34" charset="0"/>
              <a:buChar char="•"/>
              <a:defRPr/>
            </a:pPr>
            <a:r>
              <a:rPr lang="zh-CN" altLang="en-US" sz="1400" dirty="0"/>
              <a:t>由</a:t>
            </a:r>
            <a:r>
              <a:rPr lang="en-US" altLang="zh-CN" sz="1400" dirty="0" err="1"/>
              <a:t>msqid</a:t>
            </a:r>
            <a:r>
              <a:rPr lang="zh-CN" altLang="en-US" sz="1400" dirty="0"/>
              <a:t>标识的消息队列被删除，此时返回个</a:t>
            </a:r>
            <a:r>
              <a:rPr lang="en-US" altLang="zh-CN" sz="1400" dirty="0"/>
              <a:t>EIDRM</a:t>
            </a:r>
            <a:r>
              <a:rPr lang="zh-CN" altLang="en-US" sz="1400" dirty="0"/>
              <a:t>错误； </a:t>
            </a:r>
          </a:p>
          <a:p>
            <a:pPr lvl="2" fontAlgn="auto">
              <a:lnSpc>
                <a:spcPct val="80000"/>
              </a:lnSpc>
              <a:spcAft>
                <a:spcPts val="0"/>
              </a:spcAft>
              <a:buFont typeface="Arial" panose="020B0604020202020204" pitchFamily="34" charset="0"/>
              <a:buChar char="•"/>
              <a:defRPr/>
            </a:pPr>
            <a:r>
              <a:rPr lang="zh-CN" altLang="en-US" sz="1400" dirty="0"/>
              <a:t>被某个捕获的信号中断，此时返回</a:t>
            </a:r>
            <a:r>
              <a:rPr lang="en-US" altLang="zh-CN" sz="1400" dirty="0"/>
              <a:t>EINTR</a:t>
            </a:r>
            <a:r>
              <a:rPr lang="zh-CN" altLang="en-US" sz="1400" dirty="0"/>
              <a:t>错误。 </a:t>
            </a:r>
          </a:p>
          <a:p>
            <a:pPr fontAlgn="auto">
              <a:lnSpc>
                <a:spcPct val="80000"/>
              </a:lnSpc>
              <a:spcAft>
                <a:spcPts val="0"/>
              </a:spcAft>
              <a:buFont typeface="Arial" panose="020B0604020202020204" pitchFamily="34" charset="0"/>
              <a:buChar char="•"/>
              <a:defRPr/>
            </a:pPr>
            <a:endParaRPr lang="en-US" altLang="zh-CN" sz="1600" dirty="0"/>
          </a:p>
        </p:txBody>
      </p:sp>
    </p:spTree>
    <p:extLst>
      <p:ext uri="{BB962C8B-B14F-4D97-AF65-F5344CB8AC3E}">
        <p14:creationId xmlns:p14="http://schemas.microsoft.com/office/powerpoint/2010/main" val="1017997326"/>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smtClean="0"/>
              <a:t>msgctl</a:t>
            </a:r>
            <a:r>
              <a:rPr lang="zh-CN" altLang="en-US" smtClean="0"/>
              <a:t>函数 </a:t>
            </a:r>
          </a:p>
        </p:txBody>
      </p:sp>
      <p:sp>
        <p:nvSpPr>
          <p:cNvPr id="25603" name="Rectangle 3"/>
          <p:cNvSpPr>
            <a:spLocks noGrp="1" noChangeArrowheads="1"/>
          </p:cNvSpPr>
          <p:nvPr>
            <p:ph idx="1"/>
          </p:nvPr>
        </p:nvSpPr>
        <p:spPr/>
        <p:txBody>
          <a:bodyPr/>
          <a:lstStyle/>
          <a:p>
            <a:pPr>
              <a:lnSpc>
                <a:spcPct val="80000"/>
              </a:lnSpc>
            </a:pPr>
            <a:r>
              <a:rPr lang="en-US" altLang="zh-CN" sz="2400" smtClean="0"/>
              <a:t>#include &lt;sys/msg.h&gt;</a:t>
            </a:r>
          </a:p>
          <a:p>
            <a:pPr>
              <a:lnSpc>
                <a:spcPct val="80000"/>
              </a:lnSpc>
            </a:pPr>
            <a:r>
              <a:rPr lang="en-US" altLang="zh-CN" sz="2400" b="1" smtClean="0"/>
              <a:t>int msgctl(int msqid, int cmd, struct msqid_ds *buf);</a:t>
            </a:r>
          </a:p>
          <a:p>
            <a:pPr>
              <a:lnSpc>
                <a:spcPct val="80000"/>
              </a:lnSpc>
            </a:pPr>
            <a:r>
              <a:rPr lang="zh-CN" altLang="en-US" sz="2400" smtClean="0"/>
              <a:t>返回：成功时为</a:t>
            </a:r>
            <a:r>
              <a:rPr lang="en-US" altLang="zh-CN" sz="2400" smtClean="0"/>
              <a:t>0</a:t>
            </a:r>
            <a:r>
              <a:rPr lang="zh-CN" altLang="en-US" sz="2400" smtClean="0"/>
              <a:t>，出错时为</a:t>
            </a:r>
            <a:r>
              <a:rPr lang="en-US" altLang="zh-CN" sz="2400" smtClean="0"/>
              <a:t>-1</a:t>
            </a:r>
          </a:p>
          <a:p>
            <a:pPr>
              <a:lnSpc>
                <a:spcPct val="80000"/>
              </a:lnSpc>
            </a:pPr>
            <a:r>
              <a:rPr lang="zh-CN" altLang="en-US" sz="2400" smtClean="0"/>
              <a:t>该函数提供在一个消息队列上的各种控制操作。</a:t>
            </a:r>
          </a:p>
          <a:p>
            <a:pPr>
              <a:lnSpc>
                <a:spcPct val="80000"/>
              </a:lnSpc>
            </a:pPr>
            <a:endParaRPr lang="zh-CN" altLang="en-US" sz="2400" smtClean="0"/>
          </a:p>
          <a:p>
            <a:pPr>
              <a:lnSpc>
                <a:spcPct val="80000"/>
              </a:lnSpc>
            </a:pPr>
            <a:r>
              <a:rPr lang="en-US" altLang="zh-CN" sz="2400" smtClean="0"/>
              <a:t>msgctl</a:t>
            </a:r>
            <a:r>
              <a:rPr lang="zh-CN" altLang="en-US" sz="2400" smtClean="0"/>
              <a:t>提供三个命令：</a:t>
            </a:r>
          </a:p>
          <a:p>
            <a:pPr lvl="1">
              <a:lnSpc>
                <a:spcPct val="80000"/>
              </a:lnSpc>
            </a:pPr>
            <a:r>
              <a:rPr lang="en-US" altLang="zh-CN" sz="2000" smtClean="0"/>
              <a:t>IPC_RMID</a:t>
            </a:r>
            <a:r>
              <a:rPr lang="zh-CN" altLang="en-US" sz="2000" smtClean="0"/>
              <a:t>：从系统中删除由</a:t>
            </a:r>
            <a:r>
              <a:rPr lang="en-US" altLang="zh-CN" sz="2000" smtClean="0"/>
              <a:t>msqid</a:t>
            </a:r>
            <a:r>
              <a:rPr lang="zh-CN" altLang="en-US" sz="2000" smtClean="0"/>
              <a:t>指定的消息队列。当前在该队列上的任何消息都被丢弃。此时。第三个参数忽略不用。 </a:t>
            </a:r>
          </a:p>
          <a:p>
            <a:pPr lvl="1">
              <a:lnSpc>
                <a:spcPct val="80000"/>
              </a:lnSpc>
            </a:pPr>
            <a:r>
              <a:rPr lang="en-US" altLang="zh-CN" sz="2000" smtClean="0"/>
              <a:t>IPC_SET</a:t>
            </a:r>
            <a:r>
              <a:rPr lang="zh-CN" altLang="en-US" sz="2000" smtClean="0"/>
              <a:t>：给指定的消息队列设置其</a:t>
            </a:r>
            <a:r>
              <a:rPr lang="en-US" altLang="zh-CN" sz="2000" smtClean="0"/>
              <a:t>msqid_ds</a:t>
            </a:r>
            <a:r>
              <a:rPr lang="zh-CN" altLang="en-US" sz="2000" smtClean="0"/>
              <a:t>结构的以下四个成员：</a:t>
            </a:r>
            <a:r>
              <a:rPr lang="en-US" altLang="zh-CN" sz="2000" smtClean="0"/>
              <a:t>msg_perm.uid</a:t>
            </a:r>
            <a:r>
              <a:rPr lang="zh-CN" altLang="en-US" sz="2000" smtClean="0"/>
              <a:t>、</a:t>
            </a:r>
            <a:r>
              <a:rPr lang="en-US" altLang="zh-CN" sz="2000" smtClean="0"/>
              <a:t>msg_perm.gid</a:t>
            </a:r>
            <a:r>
              <a:rPr lang="zh-CN" altLang="en-US" sz="2000" smtClean="0"/>
              <a:t>、</a:t>
            </a:r>
            <a:r>
              <a:rPr lang="en-US" altLang="zh-CN" sz="2000" smtClean="0"/>
              <a:t>msg_perm.mode</a:t>
            </a:r>
            <a:r>
              <a:rPr lang="zh-CN" altLang="en-US" sz="2000" smtClean="0"/>
              <a:t>和</a:t>
            </a:r>
            <a:r>
              <a:rPr lang="en-US" altLang="zh-CN" sz="2000" smtClean="0"/>
              <a:t>msg_perm.qbytes</a:t>
            </a:r>
            <a:r>
              <a:rPr lang="zh-CN" altLang="en-US" sz="2000" smtClean="0"/>
              <a:t>。它们的值来自</a:t>
            </a:r>
            <a:r>
              <a:rPr lang="en-US" altLang="zh-CN" sz="2000" smtClean="0"/>
              <a:t>buff</a:t>
            </a:r>
            <a:r>
              <a:rPr lang="zh-CN" altLang="en-US" sz="2000" smtClean="0"/>
              <a:t>指向的结构中的相应成员。 </a:t>
            </a:r>
          </a:p>
          <a:p>
            <a:pPr lvl="1">
              <a:lnSpc>
                <a:spcPct val="80000"/>
              </a:lnSpc>
            </a:pPr>
            <a:r>
              <a:rPr lang="en-US" altLang="zh-CN" sz="2000" smtClean="0"/>
              <a:t>IPC_STAT</a:t>
            </a:r>
            <a:r>
              <a:rPr lang="zh-CN" altLang="en-US" sz="2000" smtClean="0"/>
              <a:t>：通过</a:t>
            </a:r>
            <a:r>
              <a:rPr lang="en-US" altLang="zh-CN" sz="2000" smtClean="0"/>
              <a:t>buff</a:t>
            </a:r>
            <a:r>
              <a:rPr lang="zh-CN" altLang="en-US" sz="2000" smtClean="0"/>
              <a:t>参数给调用者返回所指定消息队列中的当前</a:t>
            </a:r>
            <a:r>
              <a:rPr lang="en-US" altLang="zh-CN" sz="2000" smtClean="0"/>
              <a:t>msqid_ds</a:t>
            </a:r>
            <a:r>
              <a:rPr lang="zh-CN" altLang="en-US" sz="2000" smtClean="0"/>
              <a:t>结构。</a:t>
            </a:r>
          </a:p>
        </p:txBody>
      </p:sp>
    </p:spTree>
    <p:extLst>
      <p:ext uri="{BB962C8B-B14F-4D97-AF65-F5344CB8AC3E}">
        <p14:creationId xmlns:p14="http://schemas.microsoft.com/office/powerpoint/2010/main" val="33345671"/>
      </p:ext>
    </p:extLst>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消息队列打开</a:t>
            </a:r>
          </a:p>
        </p:txBody>
      </p:sp>
      <p:sp>
        <p:nvSpPr>
          <p:cNvPr id="195587"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zh-CN" altLang="en-US" sz="2000"/>
              <a:t>如果没有调用 </a:t>
            </a:r>
            <a:r>
              <a:rPr lang="en-US" altLang="zh-CN" sz="2000"/>
              <a:t>msgctl(semid,IPC_RMID,0)</a:t>
            </a:r>
            <a:r>
              <a:rPr lang="zh-CN" altLang="en-US" sz="2000"/>
              <a:t>删除消息队列</a:t>
            </a:r>
            <a:r>
              <a:rPr lang="en-US" altLang="zh-CN" sz="2000"/>
              <a:t>,</a:t>
            </a:r>
            <a:r>
              <a:rPr lang="zh-CN" altLang="en-US" sz="2000"/>
              <a:t>则消息队列一直存在内核中</a:t>
            </a:r>
            <a:r>
              <a:rPr lang="en-US" altLang="zh-CN" sz="2000"/>
              <a:t>,</a:t>
            </a:r>
            <a:r>
              <a:rPr lang="zh-CN" altLang="en-US" sz="2000"/>
              <a:t>即便是创建进程已经退出也是如此</a:t>
            </a:r>
            <a:r>
              <a:rPr lang="en-US" altLang="zh-CN" sz="2000"/>
              <a:t>,</a:t>
            </a:r>
            <a:r>
              <a:rPr lang="zh-CN" altLang="en-US" sz="2000"/>
              <a:t>这个用</a:t>
            </a:r>
            <a:r>
              <a:rPr lang="en-US" altLang="zh-CN" sz="2000"/>
              <a:t>ipcs</a:t>
            </a:r>
            <a:r>
              <a:rPr lang="zh-CN" altLang="en-US" sz="2000"/>
              <a:t>可以看到</a:t>
            </a:r>
          </a:p>
          <a:p>
            <a:pPr fontAlgn="auto">
              <a:lnSpc>
                <a:spcPct val="80000"/>
              </a:lnSpc>
              <a:spcAft>
                <a:spcPts val="0"/>
              </a:spcAft>
              <a:buFont typeface="Arial" panose="020B0604020202020204" pitchFamily="34" charset="0"/>
              <a:buChar char="•"/>
              <a:defRPr/>
            </a:pPr>
            <a:r>
              <a:rPr lang="zh-CN" altLang="en-US" sz="2000"/>
              <a:t>如果对一个已经创建的消息队列的路径再次创建消息队列</a:t>
            </a:r>
            <a:r>
              <a:rPr lang="en-US" altLang="zh-CN" sz="2000"/>
              <a:t>,</a:t>
            </a:r>
            <a:r>
              <a:rPr lang="zh-CN" altLang="en-US" sz="2000"/>
              <a:t>通常都会出错</a:t>
            </a:r>
            <a:r>
              <a:rPr lang="en-US" altLang="zh-CN" sz="2000"/>
              <a:t>.</a:t>
            </a:r>
            <a:r>
              <a:rPr lang="zh-CN" altLang="en-US" sz="2000"/>
              <a:t>因此可以采用一种保险的写法</a:t>
            </a:r>
          </a:p>
          <a:p>
            <a:pPr lvl="1" fontAlgn="auto">
              <a:lnSpc>
                <a:spcPct val="80000"/>
              </a:lnSpc>
              <a:spcAft>
                <a:spcPts val="0"/>
              </a:spcAft>
              <a:buFont typeface="Arial" panose="020B0604020202020204" pitchFamily="34" charset="0"/>
              <a:buNone/>
              <a:defRPr/>
            </a:pPr>
            <a:r>
              <a:rPr lang="en-US" altLang="zh-CN" sz="1800"/>
              <a:t>/* </a:t>
            </a:r>
            <a:r>
              <a:rPr lang="zh-CN" altLang="en-US" sz="1800"/>
              <a:t>首先查询这个队列是否创建，如创建直接用它*</a:t>
            </a:r>
            <a:r>
              <a:rPr lang="en-US" altLang="zh-CN" sz="1800"/>
              <a:t>/</a:t>
            </a:r>
          </a:p>
          <a:p>
            <a:pPr lvl="1" fontAlgn="auto">
              <a:lnSpc>
                <a:spcPct val="80000"/>
              </a:lnSpc>
              <a:spcAft>
                <a:spcPts val="0"/>
              </a:spcAft>
              <a:buFont typeface="Arial" panose="020B0604020202020204" pitchFamily="34" charset="0"/>
              <a:buNone/>
              <a:defRPr/>
            </a:pPr>
            <a:r>
              <a:rPr lang="en-US" altLang="zh-CN" sz="1800"/>
              <a:t>if((msgid =msgget(key,IPC_EXCL|0666)) == -1)</a:t>
            </a:r>
          </a:p>
          <a:p>
            <a:pPr lvl="1" fontAlgn="auto">
              <a:lnSpc>
                <a:spcPct val="80000"/>
              </a:lnSpc>
              <a:spcAft>
                <a:spcPts val="0"/>
              </a:spcAft>
              <a:buFont typeface="Arial" panose="020B0604020202020204" pitchFamily="34" charset="0"/>
              <a:buNone/>
              <a:defRPr/>
            </a:pPr>
            <a:r>
              <a:rPr lang="en-US" altLang="zh-CN" sz="1800"/>
              <a:t>	{</a:t>
            </a:r>
          </a:p>
          <a:p>
            <a:pPr lvl="1" fontAlgn="auto">
              <a:lnSpc>
                <a:spcPct val="80000"/>
              </a:lnSpc>
              <a:spcAft>
                <a:spcPts val="0"/>
              </a:spcAft>
              <a:buFont typeface="Arial" panose="020B0604020202020204" pitchFamily="34" charset="0"/>
              <a:buNone/>
              <a:defRPr/>
            </a:pPr>
            <a:r>
              <a:rPr lang="en-US" altLang="zh-CN" sz="1800"/>
              <a:t>		/*</a:t>
            </a:r>
            <a:r>
              <a:rPr lang="zh-CN" altLang="en-US" sz="1800"/>
              <a:t>没有创建才去创建这个消息队列*</a:t>
            </a:r>
            <a:r>
              <a:rPr lang="en-US" altLang="zh-CN" sz="1800"/>
              <a:t>/</a:t>
            </a:r>
          </a:p>
          <a:p>
            <a:pPr lvl="1" fontAlgn="auto">
              <a:lnSpc>
                <a:spcPct val="80000"/>
              </a:lnSpc>
              <a:spcAft>
                <a:spcPts val="0"/>
              </a:spcAft>
              <a:buFont typeface="Arial" panose="020B0604020202020204" pitchFamily="34" charset="0"/>
              <a:buNone/>
              <a:defRPr/>
            </a:pPr>
            <a:r>
              <a:rPr lang="en-US" altLang="zh-CN" sz="1800"/>
              <a:t>		msgid=msgget(key,IPC_CREAT|IPC_EXCL|00666);</a:t>
            </a:r>
          </a:p>
          <a:p>
            <a:pPr lvl="1" fontAlgn="auto">
              <a:lnSpc>
                <a:spcPct val="80000"/>
              </a:lnSpc>
              <a:spcAft>
                <a:spcPts val="0"/>
              </a:spcAft>
              <a:buFont typeface="Arial" panose="020B0604020202020204" pitchFamily="34" charset="0"/>
              <a:buNone/>
              <a:defRPr/>
            </a:pPr>
            <a:r>
              <a:rPr lang="en-US" altLang="zh-CN" sz="1800"/>
              <a:t>		if(msgid==-1)</a:t>
            </a:r>
          </a:p>
          <a:p>
            <a:pPr lvl="1" fontAlgn="auto">
              <a:lnSpc>
                <a:spcPct val="80000"/>
              </a:lnSpc>
              <a:spcAft>
                <a:spcPts val="0"/>
              </a:spcAft>
              <a:buFont typeface="Arial" panose="020B0604020202020204" pitchFamily="34" charset="0"/>
              <a:buNone/>
              <a:defRPr/>
            </a:pPr>
            <a:r>
              <a:rPr lang="en-US" altLang="zh-CN" sz="1800"/>
              <a:t>		{</a:t>
            </a:r>
          </a:p>
          <a:p>
            <a:pPr lvl="1" fontAlgn="auto">
              <a:lnSpc>
                <a:spcPct val="80000"/>
              </a:lnSpc>
              <a:spcAft>
                <a:spcPts val="0"/>
              </a:spcAft>
              <a:buFont typeface="Arial" panose="020B0604020202020204" pitchFamily="34" charset="0"/>
              <a:buNone/>
              <a:defRPr/>
            </a:pPr>
            <a:r>
              <a:rPr lang="en-US" altLang="zh-CN" sz="1800"/>
              <a:t>		    printf("msg create error\n");</a:t>
            </a:r>
          </a:p>
          <a:p>
            <a:pPr lvl="1" fontAlgn="auto">
              <a:lnSpc>
                <a:spcPct val="80000"/>
              </a:lnSpc>
              <a:spcAft>
                <a:spcPts val="0"/>
              </a:spcAft>
              <a:buFont typeface="Arial" panose="020B0604020202020204" pitchFamily="34" charset="0"/>
              <a:buNone/>
              <a:defRPr/>
            </a:pPr>
            <a:r>
              <a:rPr lang="en-US" altLang="zh-CN" sz="1800"/>
              <a:t>		    return;</a:t>
            </a:r>
          </a:p>
          <a:p>
            <a:pPr lvl="1" fontAlgn="auto">
              <a:lnSpc>
                <a:spcPct val="80000"/>
              </a:lnSpc>
              <a:spcAft>
                <a:spcPts val="0"/>
              </a:spcAft>
              <a:buFont typeface="Arial" panose="020B0604020202020204" pitchFamily="34" charset="0"/>
              <a:buNone/>
              <a:defRPr/>
            </a:pPr>
            <a:r>
              <a:rPr lang="en-US" altLang="zh-CN" sz="1800"/>
              <a:t>		}</a:t>
            </a:r>
          </a:p>
          <a:p>
            <a:pPr lvl="1" fontAlgn="auto">
              <a:lnSpc>
                <a:spcPct val="80000"/>
              </a:lnSpc>
              <a:spcAft>
                <a:spcPts val="0"/>
              </a:spcAft>
              <a:buFont typeface="Arial" panose="020B0604020202020204" pitchFamily="34" charset="0"/>
              <a:buNone/>
              <a:defRPr/>
            </a:pPr>
            <a:r>
              <a:rPr lang="en-US" altLang="zh-CN" sz="1800"/>
              <a:t>}</a:t>
            </a:r>
          </a:p>
          <a:p>
            <a:pPr fontAlgn="auto">
              <a:lnSpc>
                <a:spcPct val="80000"/>
              </a:lnSpc>
              <a:spcAft>
                <a:spcPts val="0"/>
              </a:spcAft>
              <a:buFont typeface="Arial" panose="020B0604020202020204" pitchFamily="34" charset="0"/>
              <a:buChar char="•"/>
              <a:defRPr/>
            </a:pPr>
            <a:r>
              <a:rPr lang="zh-CN" altLang="en-US" sz="2000"/>
              <a:t>其它对象也用这样打开方法</a:t>
            </a:r>
          </a:p>
          <a:p>
            <a:pPr fontAlgn="auto">
              <a:lnSpc>
                <a:spcPct val="80000"/>
              </a:lnSpc>
              <a:spcAft>
                <a:spcPts val="0"/>
              </a:spcAft>
              <a:buFont typeface="Arial" panose="020B0604020202020204" pitchFamily="34" charset="0"/>
              <a:buChar char="•"/>
              <a:defRPr/>
            </a:pPr>
            <a:endParaRPr lang="en-US" altLang="zh-CN" sz="2000"/>
          </a:p>
        </p:txBody>
      </p:sp>
    </p:spTree>
    <p:extLst>
      <p:ext uri="{BB962C8B-B14F-4D97-AF65-F5344CB8AC3E}">
        <p14:creationId xmlns:p14="http://schemas.microsoft.com/office/powerpoint/2010/main" val="253714654"/>
      </p:ext>
    </p:extLst>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WordArt 3"/>
          <p:cNvSpPr>
            <a:spLocks noChangeArrowheads="1" noChangeShapeType="1" noTextEdit="1"/>
          </p:cNvSpPr>
          <p:nvPr/>
        </p:nvSpPr>
        <p:spPr bwMode="auto">
          <a:xfrm>
            <a:off x="4007768" y="2780928"/>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System V </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信号量</a:t>
            </a:r>
          </a:p>
        </p:txBody>
      </p:sp>
    </p:spTree>
    <p:extLst>
      <p:ext uri="{BB962C8B-B14F-4D97-AF65-F5344CB8AC3E}">
        <p14:creationId xmlns:p14="http://schemas.microsoft.com/office/powerpoint/2010/main" val="2555088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34499"/>
                                        </p:tgtEl>
                                        <p:attrNameLst>
                                          <p:attrName>style.visibility</p:attrName>
                                        </p:attrNameLst>
                                      </p:cBhvr>
                                      <p:to>
                                        <p:strVal val="visible"/>
                                      </p:to>
                                    </p:set>
                                    <p:anim calcmode="lin" valueType="num">
                                      <p:cBhvr>
                                        <p:cTn id="7" dur="500" fill="hold"/>
                                        <p:tgtEl>
                                          <p:spTgt spid="234499"/>
                                        </p:tgtEl>
                                        <p:attrNameLst>
                                          <p:attrName>ppt_w</p:attrName>
                                        </p:attrNameLst>
                                      </p:cBhvr>
                                      <p:tavLst>
                                        <p:tav tm="0">
                                          <p:val>
                                            <p:fltVal val="0"/>
                                          </p:val>
                                        </p:tav>
                                        <p:tav tm="100000">
                                          <p:val>
                                            <p:strVal val="#ppt_w"/>
                                          </p:val>
                                        </p:tav>
                                      </p:tavLst>
                                    </p:anim>
                                    <p:anim calcmode="lin" valueType="num">
                                      <p:cBhvr>
                                        <p:cTn id="8" dur="500" fill="hold"/>
                                        <p:tgtEl>
                                          <p:spTgt spid="234499"/>
                                        </p:tgtEl>
                                        <p:attrNameLst>
                                          <p:attrName>ppt_h</p:attrName>
                                        </p:attrNameLst>
                                      </p:cBhvr>
                                      <p:tavLst>
                                        <p:tav tm="0">
                                          <p:val>
                                            <p:fltVal val="0"/>
                                          </p:val>
                                        </p:tav>
                                        <p:tav tm="100000">
                                          <p:val>
                                            <p:strVal val="#ppt_h"/>
                                          </p:val>
                                        </p:tav>
                                      </p:tavLst>
                                    </p:anim>
                                    <p:animEffect transition="in" filter="fade">
                                      <p:cBhvr>
                                        <p:cTn id="9" dur="5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信号量</a:t>
            </a:r>
          </a:p>
        </p:txBody>
      </p:sp>
      <p:sp>
        <p:nvSpPr>
          <p:cNvPr id="28675" name="Rectangle 3"/>
          <p:cNvSpPr>
            <a:spLocks noGrp="1" noChangeArrowheads="1"/>
          </p:cNvSpPr>
          <p:nvPr>
            <p:ph idx="1"/>
          </p:nvPr>
        </p:nvSpPr>
        <p:spPr/>
        <p:txBody>
          <a:bodyPr/>
          <a:lstStyle/>
          <a:p>
            <a:pPr>
              <a:lnSpc>
                <a:spcPct val="80000"/>
              </a:lnSpc>
            </a:pPr>
            <a:r>
              <a:rPr lang="zh-CN" altLang="en-US" sz="2400" smtClean="0"/>
              <a:t>信号量与其他进程间通信方式不大相同，它主要提供对进程间共享资源访问控制机制。 </a:t>
            </a:r>
          </a:p>
          <a:p>
            <a:pPr>
              <a:lnSpc>
                <a:spcPct val="80000"/>
              </a:lnSpc>
            </a:pPr>
            <a:r>
              <a:rPr lang="zh-CN" altLang="en-US" sz="2400" smtClean="0"/>
              <a:t>信号量相当是一个全局的整数变量</a:t>
            </a:r>
            <a:r>
              <a:rPr lang="en-US" altLang="zh-CN" sz="2400" smtClean="0"/>
              <a:t>,</a:t>
            </a:r>
            <a:r>
              <a:rPr lang="zh-CN" altLang="en-US" sz="2400" smtClean="0"/>
              <a:t>这个变量只能用原子操作来改变值</a:t>
            </a:r>
          </a:p>
          <a:p>
            <a:pPr>
              <a:lnSpc>
                <a:spcPct val="80000"/>
              </a:lnSpc>
            </a:pPr>
            <a:r>
              <a:rPr lang="zh-CN" altLang="en-US" sz="2400" smtClean="0"/>
              <a:t>信号灯与其它进程间通信方式有所不同，它主要用于进程间同步。通常所说的系统</a:t>
            </a:r>
            <a:r>
              <a:rPr lang="en-US" altLang="zh-CN" sz="2400" smtClean="0"/>
              <a:t>V</a:t>
            </a:r>
            <a:r>
              <a:rPr lang="zh-CN" altLang="en-US" sz="2400" smtClean="0"/>
              <a:t>信号灯实际上是一个信号灯的集合，可用于多种共享资源的进程间同步。每个信号灯都有一个值，可以用来表示当前该信号灯代表的共享资源可用（</a:t>
            </a:r>
            <a:r>
              <a:rPr lang="en-US" altLang="zh-CN" sz="2400" smtClean="0"/>
              <a:t>available</a:t>
            </a:r>
            <a:r>
              <a:rPr lang="zh-CN" altLang="en-US" sz="2400" smtClean="0"/>
              <a:t>）数量，</a:t>
            </a:r>
          </a:p>
          <a:p>
            <a:pPr>
              <a:lnSpc>
                <a:spcPct val="80000"/>
              </a:lnSpc>
            </a:pPr>
            <a:r>
              <a:rPr lang="zh-CN" altLang="en-US" sz="2400" smtClean="0"/>
              <a:t>如果一个进程要申请共享资源，那么就从信号灯值中减去要申请的数目，如果当前没有足够的可用资源，进程可以睡眠等待，也可以立即返回。当进程要申请多种共享资源时，</a:t>
            </a:r>
            <a:r>
              <a:rPr lang="en-US" altLang="zh-CN" sz="2400" smtClean="0"/>
              <a:t>linux</a:t>
            </a:r>
            <a:r>
              <a:rPr lang="zh-CN" altLang="en-US" sz="2400" smtClean="0"/>
              <a:t>可以保证操作的原子性，即要么申请到所有的共享资源，要么放弃所有资源，这样能够保证多个进程不会造成互锁。 </a:t>
            </a:r>
          </a:p>
          <a:p>
            <a:pPr>
              <a:lnSpc>
                <a:spcPct val="80000"/>
              </a:lnSpc>
            </a:pPr>
            <a:endParaRPr lang="zh-CN" altLang="en-US" sz="2400" smtClean="0"/>
          </a:p>
          <a:p>
            <a:pPr>
              <a:lnSpc>
                <a:spcPct val="80000"/>
              </a:lnSpc>
            </a:pPr>
            <a:endParaRPr lang="en-US" altLang="zh-CN" sz="2400" smtClean="0"/>
          </a:p>
        </p:txBody>
      </p:sp>
    </p:spTree>
    <p:extLst>
      <p:ext uri="{BB962C8B-B14F-4D97-AF65-F5344CB8AC3E}">
        <p14:creationId xmlns:p14="http://schemas.microsoft.com/office/powerpoint/2010/main" val="3358218657"/>
      </p:ext>
    </p:extLst>
  </p:cSld>
  <p:clrMapOvr>
    <a:masterClrMapping/>
  </p:clrMapOvr>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smtClean="0"/>
              <a:t>信号量集的数据结构</a:t>
            </a:r>
          </a:p>
        </p:txBody>
      </p:sp>
      <p:sp>
        <p:nvSpPr>
          <p:cNvPr id="233475"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2000"/>
              <a:t>SystemV</a:t>
            </a:r>
            <a:r>
              <a:rPr lang="zh-CN" altLang="en-US" sz="2000"/>
              <a:t>信号灯是信号灯集的概念：一个或多个信号灯构成一个集合。对于系统每个信号灯集，内核维护如下的一个结构：</a:t>
            </a:r>
          </a:p>
          <a:p>
            <a:pPr lvl="1" fontAlgn="auto">
              <a:lnSpc>
                <a:spcPct val="80000"/>
              </a:lnSpc>
              <a:spcAft>
                <a:spcPts val="0"/>
              </a:spcAft>
              <a:buFont typeface="Arial" panose="020B0604020202020204" pitchFamily="34" charset="0"/>
              <a:buChar char="•"/>
              <a:defRPr/>
            </a:pPr>
            <a:r>
              <a:rPr lang="en-US" altLang="zh-CN" sz="1800"/>
              <a:t>struct semid_ds {</a:t>
            </a:r>
          </a:p>
          <a:p>
            <a:pPr lvl="1" fontAlgn="auto">
              <a:lnSpc>
                <a:spcPct val="80000"/>
              </a:lnSpc>
              <a:spcAft>
                <a:spcPts val="0"/>
              </a:spcAft>
              <a:buFont typeface="Arial" panose="020B0604020202020204" pitchFamily="34" charset="0"/>
              <a:buChar char="•"/>
              <a:defRPr/>
            </a:pPr>
            <a:r>
              <a:rPr lang="en-US" altLang="zh-CN" sz="1800"/>
              <a:t>    struct ipc_perm sem_perm; /* operation permission struct */</a:t>
            </a:r>
          </a:p>
          <a:p>
            <a:pPr lvl="1" fontAlgn="auto">
              <a:lnSpc>
                <a:spcPct val="80000"/>
              </a:lnSpc>
              <a:spcAft>
                <a:spcPts val="0"/>
              </a:spcAft>
              <a:buFont typeface="Arial" panose="020B0604020202020204" pitchFamily="34" charset="0"/>
              <a:buChar char="•"/>
              <a:defRPr/>
            </a:pPr>
            <a:r>
              <a:rPr lang="en-US" altLang="zh-CN" sz="1800"/>
              <a:t>    struct sem *sem_base; /* ptr to first semaphore in set */</a:t>
            </a:r>
          </a:p>
          <a:p>
            <a:pPr lvl="1" fontAlgn="auto">
              <a:lnSpc>
                <a:spcPct val="80000"/>
              </a:lnSpc>
              <a:spcAft>
                <a:spcPts val="0"/>
              </a:spcAft>
              <a:buFont typeface="Arial" panose="020B0604020202020204" pitchFamily="34" charset="0"/>
              <a:buChar char="•"/>
              <a:defRPr/>
            </a:pPr>
            <a:r>
              <a:rPr lang="en-US" altLang="zh-CN" sz="1800"/>
              <a:t>    unsigned short sem_nsems; /* # of semaphores in set */</a:t>
            </a:r>
          </a:p>
          <a:p>
            <a:pPr lvl="1" fontAlgn="auto">
              <a:lnSpc>
                <a:spcPct val="80000"/>
              </a:lnSpc>
              <a:spcAft>
                <a:spcPts val="0"/>
              </a:spcAft>
              <a:buFont typeface="Arial" panose="020B0604020202020204" pitchFamily="34" charset="0"/>
              <a:buChar char="•"/>
              <a:defRPr/>
            </a:pPr>
            <a:r>
              <a:rPr lang="en-US" altLang="zh-CN" sz="1800"/>
              <a:t>    time_t sem_otime; /* last semop time */</a:t>
            </a:r>
          </a:p>
          <a:p>
            <a:pPr lvl="1" fontAlgn="auto">
              <a:lnSpc>
                <a:spcPct val="80000"/>
              </a:lnSpc>
              <a:spcAft>
                <a:spcPts val="0"/>
              </a:spcAft>
              <a:buFont typeface="Arial" panose="020B0604020202020204" pitchFamily="34" charset="0"/>
              <a:buChar char="•"/>
              <a:defRPr/>
            </a:pPr>
            <a:r>
              <a:rPr lang="en-US" altLang="zh-CN" sz="1800"/>
              <a:t>    time_t sem_ctime; /* last change time */</a:t>
            </a:r>
          </a:p>
          <a:p>
            <a:pPr lvl="1" fontAlgn="auto">
              <a:lnSpc>
                <a:spcPct val="80000"/>
              </a:lnSpc>
              <a:spcAft>
                <a:spcPts val="0"/>
              </a:spcAft>
              <a:buFont typeface="Arial" panose="020B0604020202020204" pitchFamily="34" charset="0"/>
              <a:buChar char="•"/>
              <a:defRPr/>
            </a:pPr>
            <a:r>
              <a:rPr lang="en-US" altLang="zh-CN" sz="1800"/>
              <a:t>};</a:t>
            </a:r>
          </a:p>
          <a:p>
            <a:pPr fontAlgn="auto">
              <a:lnSpc>
                <a:spcPct val="80000"/>
              </a:lnSpc>
              <a:spcAft>
                <a:spcPts val="0"/>
              </a:spcAft>
              <a:buFont typeface="Arial" panose="020B0604020202020204" pitchFamily="34" charset="0"/>
              <a:buChar char="•"/>
              <a:defRPr/>
            </a:pPr>
            <a:r>
              <a:rPr lang="zh-CN" altLang="en-US" sz="2000"/>
              <a:t>当前信号灯集中的每个信号灯对应一个</a:t>
            </a:r>
            <a:r>
              <a:rPr lang="en-US" altLang="zh-CN" sz="2000"/>
              <a:t>sem</a:t>
            </a:r>
            <a:r>
              <a:rPr lang="zh-CN" altLang="en-US" sz="2000"/>
              <a:t>结构。定义如下：</a:t>
            </a:r>
          </a:p>
          <a:p>
            <a:pPr lvl="1" fontAlgn="auto">
              <a:lnSpc>
                <a:spcPct val="80000"/>
              </a:lnSpc>
              <a:spcAft>
                <a:spcPts val="0"/>
              </a:spcAft>
              <a:buFont typeface="Arial" panose="020B0604020202020204" pitchFamily="34" charset="0"/>
              <a:buChar char="•"/>
              <a:defRPr/>
            </a:pPr>
            <a:r>
              <a:rPr lang="en-US" altLang="zh-CN" sz="1800"/>
              <a:t>struct sem {</a:t>
            </a:r>
          </a:p>
          <a:p>
            <a:pPr lvl="1" fontAlgn="auto">
              <a:lnSpc>
                <a:spcPct val="80000"/>
              </a:lnSpc>
              <a:spcAft>
                <a:spcPts val="0"/>
              </a:spcAft>
              <a:buFont typeface="Arial" panose="020B0604020202020204" pitchFamily="34" charset="0"/>
              <a:buChar char="•"/>
              <a:defRPr/>
            </a:pPr>
            <a:r>
              <a:rPr lang="en-US" altLang="zh-CN" sz="1800"/>
              <a:t>    signed short semval; /* semaphore text map address */</a:t>
            </a:r>
          </a:p>
          <a:p>
            <a:pPr lvl="1" fontAlgn="auto">
              <a:lnSpc>
                <a:spcPct val="80000"/>
              </a:lnSpc>
              <a:spcAft>
                <a:spcPts val="0"/>
              </a:spcAft>
              <a:buFont typeface="Arial" panose="020B0604020202020204" pitchFamily="34" charset="0"/>
              <a:buChar char="•"/>
              <a:defRPr/>
            </a:pPr>
            <a:r>
              <a:rPr lang="en-US" altLang="zh-CN" sz="1800"/>
              <a:t>    pid_t sempid; /* pid of last operation */</a:t>
            </a:r>
          </a:p>
          <a:p>
            <a:pPr lvl="1" fontAlgn="auto">
              <a:lnSpc>
                <a:spcPct val="80000"/>
              </a:lnSpc>
              <a:spcAft>
                <a:spcPts val="0"/>
              </a:spcAft>
              <a:buFont typeface="Arial" panose="020B0604020202020204" pitchFamily="34" charset="0"/>
              <a:buChar char="•"/>
              <a:defRPr/>
            </a:pPr>
            <a:r>
              <a:rPr lang="en-US" altLang="zh-CN" sz="1800"/>
              <a:t>    unsigned short semncnt; /* # awaiting semval &gt; cval */</a:t>
            </a:r>
          </a:p>
          <a:p>
            <a:pPr lvl="1" fontAlgn="auto">
              <a:lnSpc>
                <a:spcPct val="80000"/>
              </a:lnSpc>
              <a:spcAft>
                <a:spcPts val="0"/>
              </a:spcAft>
              <a:buFont typeface="Arial" panose="020B0604020202020204" pitchFamily="34" charset="0"/>
              <a:buChar char="•"/>
              <a:defRPr/>
            </a:pPr>
            <a:r>
              <a:rPr lang="en-US" altLang="zh-CN" sz="1800"/>
              <a:t>    unsigned short semzcnt; /* # awaiting semval = 0 */</a:t>
            </a:r>
          </a:p>
          <a:p>
            <a:pPr lvl="1" fontAlgn="auto">
              <a:lnSpc>
                <a:spcPct val="80000"/>
              </a:lnSpc>
              <a:spcAft>
                <a:spcPts val="0"/>
              </a:spcAft>
              <a:buFont typeface="Arial" panose="020B0604020202020204" pitchFamily="34" charset="0"/>
              <a:buChar char="•"/>
              <a:defRPr/>
            </a:pPr>
            <a:r>
              <a:rPr lang="en-US" altLang="zh-CN" sz="1800"/>
              <a:t>};</a:t>
            </a:r>
          </a:p>
          <a:p>
            <a:pPr fontAlgn="auto">
              <a:lnSpc>
                <a:spcPct val="80000"/>
              </a:lnSpc>
              <a:spcAft>
                <a:spcPts val="0"/>
              </a:spcAft>
              <a:buFont typeface="Arial" panose="020B0604020202020204" pitchFamily="34" charset="0"/>
              <a:buChar char="•"/>
              <a:defRPr/>
            </a:pPr>
            <a:endParaRPr lang="en-US" altLang="zh-CN" sz="2000"/>
          </a:p>
          <a:p>
            <a:pPr fontAlgn="auto">
              <a:lnSpc>
                <a:spcPct val="80000"/>
              </a:lnSpc>
              <a:spcAft>
                <a:spcPts val="0"/>
              </a:spcAft>
              <a:buFont typeface="Arial" panose="020B0604020202020204" pitchFamily="34" charset="0"/>
              <a:buChar char="•"/>
              <a:defRPr/>
            </a:pPr>
            <a:endParaRPr lang="en-US" altLang="zh-CN" sz="2000"/>
          </a:p>
        </p:txBody>
      </p:sp>
    </p:spTree>
    <p:extLst>
      <p:ext uri="{BB962C8B-B14F-4D97-AF65-F5344CB8AC3E}">
        <p14:creationId xmlns:p14="http://schemas.microsoft.com/office/powerpoint/2010/main" val="3650511430"/>
      </p:ext>
    </p:extLst>
  </p:cSld>
  <p:clrMapOvr>
    <a:masterClrMapping/>
  </p:clrMapOvr>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b="1" smtClean="0"/>
              <a:t>关于</a:t>
            </a:r>
            <a:r>
              <a:rPr lang="en-US" altLang="zh-CN" b="1" smtClean="0"/>
              <a:t>P</a:t>
            </a:r>
            <a:r>
              <a:rPr lang="zh-CN" altLang="en-US" b="1" smtClean="0"/>
              <a:t>原语</a:t>
            </a:r>
          </a:p>
        </p:txBody>
      </p:sp>
      <p:sp>
        <p:nvSpPr>
          <p:cNvPr id="191491"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2400" b="1"/>
              <a:t>P</a:t>
            </a:r>
            <a:r>
              <a:rPr lang="zh-CN" altLang="en-US" sz="2400" b="1"/>
              <a:t>原语：</a:t>
            </a:r>
          </a:p>
          <a:p>
            <a:pPr lvl="1" fontAlgn="auto">
              <a:lnSpc>
                <a:spcPct val="80000"/>
              </a:lnSpc>
              <a:spcAft>
                <a:spcPts val="0"/>
              </a:spcAft>
              <a:buFont typeface="Arial" panose="020B0604020202020204" pitchFamily="34" charset="0"/>
              <a:buChar char="•"/>
              <a:defRPr/>
            </a:pPr>
            <a:r>
              <a:rPr lang="en-US" altLang="zh-CN" sz="2000"/>
              <a:t>P</a:t>
            </a:r>
            <a:r>
              <a:rPr lang="zh-CN" altLang="en-US" sz="2000"/>
              <a:t>是荷兰语</a:t>
            </a:r>
            <a:r>
              <a:rPr lang="en-US" altLang="zh-CN" sz="2000"/>
              <a:t>Proberen</a:t>
            </a:r>
            <a:r>
              <a:rPr lang="zh-CN" altLang="en-US" sz="2000"/>
              <a:t>（测试）的首字母。为阻塞原语，负责把当前进程由运行状态转换为阻塞状态，直到另外一个进程唤醒它。操作为：申请一个空闲资源（把信号量减</a:t>
            </a:r>
            <a:r>
              <a:rPr lang="en-US" altLang="zh-CN" sz="2000"/>
              <a:t>1</a:t>
            </a:r>
            <a:r>
              <a:rPr lang="zh-CN" altLang="en-US" sz="2000"/>
              <a:t>），若成功，则退出；若失败，则该进程被阻塞；</a:t>
            </a:r>
          </a:p>
          <a:p>
            <a:pPr lvl="1" fontAlgn="auto">
              <a:lnSpc>
                <a:spcPct val="80000"/>
              </a:lnSpc>
              <a:spcAft>
                <a:spcPts val="0"/>
              </a:spcAft>
              <a:buFont typeface="Arial" panose="020B0604020202020204" pitchFamily="34" charset="0"/>
              <a:buChar char="•"/>
              <a:defRPr/>
            </a:pPr>
            <a:r>
              <a:rPr lang="en-US" altLang="zh-CN" sz="2000"/>
              <a:t>P</a:t>
            </a:r>
            <a:r>
              <a:rPr lang="zh-CN" altLang="en-US" sz="2000"/>
              <a:t>原语的操作过程</a:t>
            </a:r>
          </a:p>
          <a:p>
            <a:pPr lvl="2" fontAlgn="auto">
              <a:lnSpc>
                <a:spcPct val="80000"/>
              </a:lnSpc>
              <a:spcAft>
                <a:spcPts val="0"/>
              </a:spcAft>
              <a:buFont typeface="Arial" panose="020B0604020202020204" pitchFamily="34" charset="0"/>
              <a:buChar char="•"/>
              <a:defRPr/>
            </a:pPr>
            <a:r>
              <a:rPr lang="en-US" altLang="zh-CN"/>
              <a:t>sem</a:t>
            </a:r>
            <a:r>
              <a:rPr lang="zh-CN" altLang="en-US"/>
              <a:t>减</a:t>
            </a:r>
            <a:r>
              <a:rPr lang="en-US" altLang="zh-CN"/>
              <a:t>1</a:t>
            </a:r>
            <a:r>
              <a:rPr lang="zh-CN" altLang="en-US"/>
              <a:t>；</a:t>
            </a:r>
          </a:p>
          <a:p>
            <a:pPr lvl="2" fontAlgn="auto">
              <a:lnSpc>
                <a:spcPct val="80000"/>
              </a:lnSpc>
              <a:spcAft>
                <a:spcPts val="0"/>
              </a:spcAft>
              <a:buFont typeface="Arial" panose="020B0604020202020204" pitchFamily="34" charset="0"/>
              <a:buChar char="•"/>
              <a:defRPr/>
            </a:pPr>
            <a:r>
              <a:rPr lang="zh-CN" altLang="en-US"/>
              <a:t>若</a:t>
            </a:r>
            <a:r>
              <a:rPr lang="en-US" altLang="zh-CN"/>
              <a:t>sem</a:t>
            </a:r>
            <a:r>
              <a:rPr lang="zh-CN" altLang="en-US"/>
              <a:t>减</a:t>
            </a:r>
            <a:r>
              <a:rPr lang="en-US" altLang="zh-CN"/>
              <a:t>1</a:t>
            </a:r>
            <a:r>
              <a:rPr lang="zh-CN" altLang="en-US"/>
              <a:t>后仍大于或等于零，则进程继续执行；</a:t>
            </a:r>
          </a:p>
          <a:p>
            <a:pPr lvl="2" fontAlgn="auto">
              <a:lnSpc>
                <a:spcPct val="80000"/>
              </a:lnSpc>
              <a:spcAft>
                <a:spcPts val="0"/>
              </a:spcAft>
              <a:buFont typeface="Arial" panose="020B0604020202020204" pitchFamily="34" charset="0"/>
              <a:buChar char="•"/>
              <a:defRPr/>
            </a:pPr>
            <a:r>
              <a:rPr lang="zh-CN" altLang="en-US"/>
              <a:t>若</a:t>
            </a:r>
            <a:r>
              <a:rPr lang="en-US" altLang="zh-CN"/>
              <a:t>sem</a:t>
            </a:r>
            <a:r>
              <a:rPr lang="zh-CN" altLang="en-US"/>
              <a:t>减</a:t>
            </a:r>
            <a:r>
              <a:rPr lang="en-US" altLang="zh-CN"/>
              <a:t>1</a:t>
            </a:r>
            <a:r>
              <a:rPr lang="zh-CN" altLang="en-US"/>
              <a:t>后小于零，则该进程被阻塞后进入与该信号相对应的队列中，然后转进程调度。</a:t>
            </a:r>
          </a:p>
          <a:p>
            <a:pPr lvl="1" fontAlgn="auto">
              <a:lnSpc>
                <a:spcPct val="80000"/>
              </a:lnSpc>
              <a:spcAft>
                <a:spcPts val="0"/>
              </a:spcAft>
              <a:buFont typeface="Arial" panose="020B0604020202020204" pitchFamily="34" charset="0"/>
              <a:buChar char="•"/>
              <a:defRPr/>
            </a:pPr>
            <a:r>
              <a:rPr lang="en-US" altLang="zh-CN" sz="2000"/>
              <a:t>System V </a:t>
            </a:r>
            <a:r>
              <a:rPr lang="zh-CN" altLang="en-US" sz="2000"/>
              <a:t>实现代码</a:t>
            </a:r>
          </a:p>
          <a:p>
            <a:pPr lvl="1" fontAlgn="auto">
              <a:lnSpc>
                <a:spcPct val="80000"/>
              </a:lnSpc>
              <a:spcAft>
                <a:spcPts val="0"/>
              </a:spcAft>
              <a:buFont typeface="Arial" panose="020B0604020202020204" pitchFamily="34" charset="0"/>
              <a:buNone/>
              <a:defRPr/>
            </a:pPr>
            <a:r>
              <a:rPr lang="zh-CN" altLang="en-US" sz="2000"/>
              <a:t> </a:t>
            </a:r>
            <a:r>
              <a:rPr lang="en-US" altLang="zh-CN" sz="2000"/>
              <a:t>int p(int semid)</a:t>
            </a:r>
          </a:p>
          <a:p>
            <a:pPr lvl="1" fontAlgn="auto">
              <a:lnSpc>
                <a:spcPct val="80000"/>
              </a:lnSpc>
              <a:spcAft>
                <a:spcPts val="0"/>
              </a:spcAft>
              <a:buFont typeface="Arial" panose="020B0604020202020204" pitchFamily="34" charset="0"/>
              <a:buNone/>
              <a:defRPr/>
            </a:pPr>
            <a:r>
              <a:rPr lang="en-US" altLang="zh-CN" sz="2000"/>
              <a:t>{</a:t>
            </a:r>
          </a:p>
          <a:p>
            <a:pPr lvl="1" fontAlgn="auto">
              <a:lnSpc>
                <a:spcPct val="80000"/>
              </a:lnSpc>
              <a:spcAft>
                <a:spcPts val="0"/>
              </a:spcAft>
              <a:buFont typeface="Arial" panose="020B0604020202020204" pitchFamily="34" charset="0"/>
              <a:buNone/>
              <a:defRPr/>
            </a:pPr>
            <a:r>
              <a:rPr lang="en-US" altLang="zh-CN" sz="2000"/>
              <a:t> struct sembuf sops={0,+1,IPC_NOWAIT};</a:t>
            </a:r>
          </a:p>
          <a:p>
            <a:pPr lvl="1" fontAlgn="auto">
              <a:lnSpc>
                <a:spcPct val="80000"/>
              </a:lnSpc>
              <a:spcAft>
                <a:spcPts val="0"/>
              </a:spcAft>
              <a:buFont typeface="Arial" panose="020B0604020202020204" pitchFamily="34" charset="0"/>
              <a:buNone/>
              <a:defRPr/>
            </a:pPr>
            <a:r>
              <a:rPr lang="en-US" altLang="zh-CN" sz="2000"/>
              <a:t> return (semop(semid,&amp;sops,1));</a:t>
            </a:r>
          </a:p>
          <a:p>
            <a:pPr lvl="1" fontAlgn="auto">
              <a:lnSpc>
                <a:spcPct val="80000"/>
              </a:lnSpc>
              <a:spcAft>
                <a:spcPts val="0"/>
              </a:spcAft>
              <a:buFont typeface="Arial" panose="020B0604020202020204" pitchFamily="34" charset="0"/>
              <a:buNone/>
              <a:defRPr/>
            </a:pPr>
            <a:r>
              <a:rPr lang="en-US" altLang="zh-CN" sz="2000"/>
              <a:t>}</a:t>
            </a:r>
          </a:p>
          <a:p>
            <a:pPr lvl="1" fontAlgn="auto">
              <a:lnSpc>
                <a:spcPct val="80000"/>
              </a:lnSpc>
              <a:spcAft>
                <a:spcPts val="0"/>
              </a:spcAft>
              <a:buFont typeface="Arial" panose="020B0604020202020204" pitchFamily="34" charset="0"/>
              <a:buChar char="•"/>
              <a:defRPr/>
            </a:pPr>
            <a:endParaRPr lang="en-US" altLang="zh-CN" sz="2000"/>
          </a:p>
          <a:p>
            <a:pPr fontAlgn="auto">
              <a:lnSpc>
                <a:spcPct val="80000"/>
              </a:lnSpc>
              <a:spcAft>
                <a:spcPts val="0"/>
              </a:spcAft>
              <a:buFont typeface="Arial" panose="020B0604020202020204" pitchFamily="34" charset="0"/>
              <a:buChar char="•"/>
              <a:defRPr/>
            </a:pPr>
            <a:endParaRPr lang="en-US" altLang="zh-CN" sz="2400"/>
          </a:p>
        </p:txBody>
      </p:sp>
    </p:spTree>
    <p:extLst>
      <p:ext uri="{BB962C8B-B14F-4D97-AF65-F5344CB8AC3E}">
        <p14:creationId xmlns:p14="http://schemas.microsoft.com/office/powerpoint/2010/main" val="3629470668"/>
      </p:ext>
    </p:extLst>
  </p:cSld>
  <p:clrMapOvr>
    <a:masterClrMapping/>
  </p:clrMapOvr>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b="1" smtClean="0"/>
              <a:t>关于</a:t>
            </a:r>
            <a:r>
              <a:rPr lang="en-US" altLang="zh-CN" b="1" smtClean="0"/>
              <a:t>V</a:t>
            </a:r>
            <a:r>
              <a:rPr lang="zh-CN" altLang="en-US" b="1" smtClean="0"/>
              <a:t>原语</a:t>
            </a:r>
          </a:p>
        </p:txBody>
      </p:sp>
      <p:sp>
        <p:nvSpPr>
          <p:cNvPr id="192515" name="Rectangle 3"/>
          <p:cNvSpPr>
            <a:spLocks noGrp="1" noChangeArrowheads="1"/>
          </p:cNvSpPr>
          <p:nvPr>
            <p:ph idx="1"/>
          </p:nvPr>
        </p:nvSpPr>
        <p:spPr/>
        <p:txBody>
          <a:bodyPr rtlCol="0">
            <a:normAutofit lnSpcReduction="10000"/>
          </a:bodyPr>
          <a:lstStyle/>
          <a:p>
            <a:pPr fontAlgn="auto">
              <a:lnSpc>
                <a:spcPct val="80000"/>
              </a:lnSpc>
              <a:spcAft>
                <a:spcPts val="0"/>
              </a:spcAft>
              <a:buFont typeface="Arial" panose="020B0604020202020204" pitchFamily="34" charset="0"/>
              <a:buChar char="•"/>
              <a:defRPr/>
            </a:pPr>
            <a:r>
              <a:rPr lang="en-US" altLang="zh-CN" sz="2400"/>
              <a:t>V</a:t>
            </a:r>
            <a:r>
              <a:rPr lang="zh-CN" altLang="en-US" sz="2400"/>
              <a:t>原语</a:t>
            </a:r>
          </a:p>
          <a:p>
            <a:pPr lvl="1" fontAlgn="auto">
              <a:lnSpc>
                <a:spcPct val="80000"/>
              </a:lnSpc>
              <a:spcAft>
                <a:spcPts val="0"/>
              </a:spcAft>
              <a:buFont typeface="Arial" panose="020B0604020202020204" pitchFamily="34" charset="0"/>
              <a:buChar char="•"/>
              <a:defRPr/>
            </a:pPr>
            <a:r>
              <a:rPr lang="en-US" altLang="zh-CN" sz="2000"/>
              <a:t>V</a:t>
            </a:r>
            <a:r>
              <a:rPr lang="zh-CN" altLang="en-US" sz="2000"/>
              <a:t>是荷兰语</a:t>
            </a:r>
            <a:r>
              <a:rPr lang="en-US" altLang="zh-CN" sz="2000"/>
              <a:t>Verhogen</a:t>
            </a:r>
            <a:r>
              <a:rPr lang="zh-CN" altLang="en-US" sz="2000"/>
              <a:t>（增加）的首字母。为唤醒原语，负责把一个被阻塞的进程唤醒，它有一个参数表，存放着等待被唤醒的进程信息。操作为：释放一个被占用的资源（把信号量加</a:t>
            </a:r>
            <a:r>
              <a:rPr lang="en-US" altLang="zh-CN" sz="2000"/>
              <a:t>1</a:t>
            </a:r>
            <a:r>
              <a:rPr lang="zh-CN" altLang="en-US" sz="2000"/>
              <a:t>），如果发现有被阻塞的进程，则选择一个唤醒之</a:t>
            </a:r>
          </a:p>
          <a:p>
            <a:pPr lvl="1" fontAlgn="auto">
              <a:lnSpc>
                <a:spcPct val="80000"/>
              </a:lnSpc>
              <a:spcAft>
                <a:spcPts val="0"/>
              </a:spcAft>
              <a:buFont typeface="Arial" panose="020B0604020202020204" pitchFamily="34" charset="0"/>
              <a:buChar char="•"/>
              <a:defRPr/>
            </a:pPr>
            <a:r>
              <a:rPr lang="en-US" altLang="zh-CN" sz="2000"/>
              <a:t>V</a:t>
            </a:r>
            <a:r>
              <a:rPr lang="zh-CN" altLang="en-US" sz="2000"/>
              <a:t>原语的操作过程</a:t>
            </a:r>
          </a:p>
          <a:p>
            <a:pPr lvl="2" fontAlgn="auto">
              <a:lnSpc>
                <a:spcPct val="80000"/>
              </a:lnSpc>
              <a:spcAft>
                <a:spcPts val="0"/>
              </a:spcAft>
              <a:buFont typeface="Arial" panose="020B0604020202020204" pitchFamily="34" charset="0"/>
              <a:buChar char="•"/>
              <a:defRPr/>
            </a:pPr>
            <a:r>
              <a:rPr lang="en-US" altLang="zh-CN"/>
              <a:t>sem</a:t>
            </a:r>
            <a:r>
              <a:rPr lang="zh-CN" altLang="en-US"/>
              <a:t>加</a:t>
            </a:r>
            <a:r>
              <a:rPr lang="en-US" altLang="zh-CN"/>
              <a:t>1</a:t>
            </a:r>
            <a:r>
              <a:rPr lang="zh-CN" altLang="en-US"/>
              <a:t>； </a:t>
            </a:r>
          </a:p>
          <a:p>
            <a:pPr lvl="2" fontAlgn="auto">
              <a:lnSpc>
                <a:spcPct val="80000"/>
              </a:lnSpc>
              <a:spcAft>
                <a:spcPts val="0"/>
              </a:spcAft>
              <a:buFont typeface="Arial" panose="020B0604020202020204" pitchFamily="34" charset="0"/>
              <a:buChar char="•"/>
              <a:defRPr/>
            </a:pPr>
            <a:r>
              <a:rPr lang="zh-CN" altLang="en-US"/>
              <a:t>若相加结果大于零，则进程继续执行； </a:t>
            </a:r>
          </a:p>
          <a:p>
            <a:pPr lvl="2" fontAlgn="auto">
              <a:lnSpc>
                <a:spcPct val="80000"/>
              </a:lnSpc>
              <a:spcAft>
                <a:spcPts val="0"/>
              </a:spcAft>
              <a:buFont typeface="Arial" panose="020B0604020202020204" pitchFamily="34" charset="0"/>
              <a:buChar char="•"/>
              <a:defRPr/>
            </a:pPr>
            <a:r>
              <a:rPr lang="zh-CN" altLang="en-US">
                <a:latin typeface="Arial" panose="020B0604020202020204" pitchFamily="34" charset="0"/>
              </a:rPr>
              <a:t> </a:t>
            </a:r>
            <a:r>
              <a:rPr lang="zh-CN" altLang="en-US"/>
              <a:t>若相加结果小于或等于零，则从该信号的等待队列中唤醒一等待进程，然后再返回原进程继续执行或转进程调度。 </a:t>
            </a:r>
          </a:p>
          <a:p>
            <a:pPr lvl="1" fontAlgn="auto">
              <a:lnSpc>
                <a:spcPct val="80000"/>
              </a:lnSpc>
              <a:spcAft>
                <a:spcPts val="0"/>
              </a:spcAft>
              <a:buFont typeface="Arial" panose="020B0604020202020204" pitchFamily="34" charset="0"/>
              <a:buChar char="•"/>
              <a:defRPr/>
            </a:pPr>
            <a:r>
              <a:rPr lang="en-US" altLang="zh-CN" sz="2000"/>
              <a:t>System V </a:t>
            </a:r>
            <a:r>
              <a:rPr lang="zh-CN" altLang="en-US" sz="2000"/>
              <a:t>实现代码</a:t>
            </a:r>
          </a:p>
          <a:p>
            <a:pPr lvl="2" fontAlgn="auto">
              <a:lnSpc>
                <a:spcPct val="80000"/>
              </a:lnSpc>
              <a:spcAft>
                <a:spcPts val="0"/>
              </a:spcAft>
              <a:buFont typeface="Wingdings" panose="05000000000000000000" pitchFamily="2" charset="2"/>
              <a:buNone/>
              <a:defRPr/>
            </a:pPr>
            <a:r>
              <a:rPr lang="en-US" altLang="zh-CN"/>
              <a:t>int v(int semid)</a:t>
            </a:r>
          </a:p>
          <a:p>
            <a:pPr lvl="2" fontAlgn="auto">
              <a:lnSpc>
                <a:spcPct val="80000"/>
              </a:lnSpc>
              <a:spcAft>
                <a:spcPts val="0"/>
              </a:spcAft>
              <a:buFont typeface="Wingdings" panose="05000000000000000000" pitchFamily="2" charset="2"/>
              <a:buNone/>
              <a:defRPr/>
            </a:pPr>
            <a:r>
              <a:rPr lang="en-US" altLang="zh-CN"/>
              <a:t>{</a:t>
            </a:r>
          </a:p>
          <a:p>
            <a:pPr lvl="2" fontAlgn="auto">
              <a:lnSpc>
                <a:spcPct val="80000"/>
              </a:lnSpc>
              <a:spcAft>
                <a:spcPts val="0"/>
              </a:spcAft>
              <a:buFont typeface="Wingdings" panose="05000000000000000000" pitchFamily="2" charset="2"/>
              <a:buNone/>
              <a:defRPr/>
            </a:pPr>
            <a:r>
              <a:rPr lang="en-US" altLang="zh-CN"/>
              <a:t> struct sembuf sops={0,-1,IPC_NOWAIT};</a:t>
            </a:r>
          </a:p>
          <a:p>
            <a:pPr lvl="2" fontAlgn="auto">
              <a:lnSpc>
                <a:spcPct val="80000"/>
              </a:lnSpc>
              <a:spcAft>
                <a:spcPts val="0"/>
              </a:spcAft>
              <a:buFont typeface="Wingdings" panose="05000000000000000000" pitchFamily="2" charset="2"/>
              <a:buNone/>
              <a:defRPr/>
            </a:pPr>
            <a:r>
              <a:rPr lang="en-US" altLang="zh-CN"/>
              <a:t> return (semop(semid,&amp;sops,1));</a:t>
            </a:r>
          </a:p>
          <a:p>
            <a:pPr lvl="2" fontAlgn="auto">
              <a:lnSpc>
                <a:spcPct val="80000"/>
              </a:lnSpc>
              <a:spcAft>
                <a:spcPts val="0"/>
              </a:spcAft>
              <a:buFont typeface="Wingdings" panose="05000000000000000000" pitchFamily="2" charset="2"/>
              <a:buNone/>
              <a:defRPr/>
            </a:pPr>
            <a:r>
              <a:rPr lang="en-US" altLang="zh-CN"/>
              <a:t>}</a:t>
            </a:r>
          </a:p>
          <a:p>
            <a:pPr lvl="1" fontAlgn="auto">
              <a:lnSpc>
                <a:spcPct val="80000"/>
              </a:lnSpc>
              <a:spcAft>
                <a:spcPts val="0"/>
              </a:spcAft>
              <a:buFont typeface="Arial" panose="020B0604020202020204" pitchFamily="34" charset="0"/>
              <a:buChar char="•"/>
              <a:defRPr/>
            </a:pPr>
            <a:endParaRPr lang="en-US" altLang="zh-CN" sz="2000"/>
          </a:p>
          <a:p>
            <a:pPr lvl="2" fontAlgn="auto">
              <a:lnSpc>
                <a:spcPct val="80000"/>
              </a:lnSpc>
              <a:spcAft>
                <a:spcPts val="0"/>
              </a:spcAft>
              <a:buFont typeface="Arial" panose="020B0604020202020204" pitchFamily="34" charset="0"/>
              <a:buChar char="•"/>
              <a:defRPr/>
            </a:pPr>
            <a:endParaRPr lang="en-US" altLang="zh-CN"/>
          </a:p>
          <a:p>
            <a:pPr lvl="1" fontAlgn="auto">
              <a:lnSpc>
                <a:spcPct val="80000"/>
              </a:lnSpc>
              <a:spcAft>
                <a:spcPts val="0"/>
              </a:spcAft>
              <a:buFont typeface="Arial" panose="020B0604020202020204" pitchFamily="34" charset="0"/>
              <a:buChar char="•"/>
              <a:defRPr/>
            </a:pPr>
            <a:endParaRPr lang="en-US" altLang="zh-CN" sz="2000"/>
          </a:p>
        </p:txBody>
      </p:sp>
    </p:spTree>
    <p:extLst>
      <p:ext uri="{BB962C8B-B14F-4D97-AF65-F5344CB8AC3E}">
        <p14:creationId xmlns:p14="http://schemas.microsoft.com/office/powerpoint/2010/main" val="1022753051"/>
      </p:ext>
    </p:extLst>
  </p:cSld>
  <p:clrMapOvr>
    <a:masterClrMapping/>
  </p:clrMapOvr>
  <p:timing>
    <p:tnLst>
      <p:par>
        <p:cTn id="1" dur="indefinite" restart="never" nodeType="tmRoot"/>
      </p:par>
    </p:tn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b="1" smtClean="0"/>
              <a:t>信号量的处理流程</a:t>
            </a:r>
            <a:r>
              <a:rPr lang="zh-CN" altLang="en-US" smtClean="0"/>
              <a:t> </a:t>
            </a:r>
          </a:p>
        </p:txBody>
      </p:sp>
      <p:sp>
        <p:nvSpPr>
          <p:cNvPr id="32771" name="Rectangle 3"/>
          <p:cNvSpPr>
            <a:spLocks noGrp="1" noChangeArrowheads="1"/>
          </p:cNvSpPr>
          <p:nvPr>
            <p:ph idx="1"/>
          </p:nvPr>
        </p:nvSpPr>
        <p:spPr/>
        <p:txBody>
          <a:bodyPr/>
          <a:lstStyle/>
          <a:p>
            <a:r>
              <a:rPr lang="zh-CN" altLang="en-US" sz="2400" smtClean="0"/>
              <a:t>用到头文件</a:t>
            </a:r>
          </a:p>
          <a:p>
            <a:pPr lvl="1"/>
            <a:r>
              <a:rPr lang="en-US" altLang="zh-CN" sz="2000" smtClean="0"/>
              <a:t>#include &lt;sys/types.h&gt; </a:t>
            </a:r>
          </a:p>
          <a:p>
            <a:pPr lvl="1"/>
            <a:r>
              <a:rPr lang="en-US" altLang="zh-CN" sz="2000" smtClean="0"/>
              <a:t>#include &lt;sys/ipc.h&gt; </a:t>
            </a:r>
          </a:p>
          <a:p>
            <a:pPr lvl="1"/>
            <a:r>
              <a:rPr lang="en-US" altLang="zh-CN" sz="2000" smtClean="0"/>
              <a:t>#include &lt;sys/sem.h&gt; </a:t>
            </a:r>
          </a:p>
          <a:p>
            <a:r>
              <a:rPr lang="en-US" altLang="zh-CN" sz="2400" smtClean="0"/>
              <a:t>semget</a:t>
            </a:r>
            <a:r>
              <a:rPr lang="zh-CN" altLang="en-US" sz="2400" smtClean="0"/>
              <a:t>创建或打开一个信号量</a:t>
            </a:r>
          </a:p>
          <a:p>
            <a:pPr lvl="1"/>
            <a:r>
              <a:rPr lang="en-US" altLang="zh-CN" sz="2000" smtClean="0"/>
              <a:t>int semget(key_t key, int nsems, int semflg) </a:t>
            </a:r>
          </a:p>
          <a:p>
            <a:r>
              <a:rPr lang="en-US" altLang="zh-CN" sz="2400" smtClean="0"/>
              <a:t>Semop()</a:t>
            </a:r>
            <a:r>
              <a:rPr lang="zh-CN" altLang="en-US" sz="2400" smtClean="0"/>
              <a:t>对信号量 </a:t>
            </a:r>
            <a:r>
              <a:rPr lang="en-US" altLang="zh-CN" sz="2400" smtClean="0"/>
              <a:t>+1 </a:t>
            </a:r>
            <a:r>
              <a:rPr lang="zh-CN" altLang="en-US" sz="2400" smtClean="0"/>
              <a:t>或 </a:t>
            </a:r>
            <a:r>
              <a:rPr lang="en-US" altLang="zh-CN" sz="2400" smtClean="0"/>
              <a:t>-1 </a:t>
            </a:r>
            <a:r>
              <a:rPr lang="zh-CN" altLang="en-US" sz="2400" smtClean="0"/>
              <a:t>或测试是否为</a:t>
            </a:r>
            <a:r>
              <a:rPr lang="en-US" altLang="zh-CN" sz="2400" smtClean="0"/>
              <a:t>0 </a:t>
            </a:r>
          </a:p>
          <a:p>
            <a:pPr lvl="1"/>
            <a:r>
              <a:rPr lang="en-US" altLang="zh-CN" sz="2000" smtClean="0"/>
              <a:t>int semop(int semid, struct sembuf *sops, unsigned nsops); </a:t>
            </a:r>
          </a:p>
          <a:p>
            <a:pPr lvl="1"/>
            <a:r>
              <a:rPr lang="en-US" altLang="zh-CN" sz="2000" smtClean="0"/>
              <a:t>linux</a:t>
            </a:r>
            <a:r>
              <a:rPr lang="zh-CN" altLang="en-US" sz="2000" smtClean="0"/>
              <a:t>可以增加或减小信号量的值，相应于对共享资源的释放和占有 </a:t>
            </a:r>
          </a:p>
          <a:p>
            <a:r>
              <a:rPr lang="en-US" altLang="zh-CN" sz="2400" smtClean="0"/>
              <a:t>semctl </a:t>
            </a:r>
            <a:r>
              <a:rPr lang="zh-CN" altLang="en-US" sz="2400" smtClean="0"/>
              <a:t>对信号量进行各种控制</a:t>
            </a:r>
          </a:p>
          <a:p>
            <a:pPr lvl="1"/>
            <a:r>
              <a:rPr lang="en-US" altLang="zh-CN" sz="2000" smtClean="0"/>
              <a:t>int semctl(int semid</a:t>
            </a:r>
            <a:r>
              <a:rPr lang="zh-CN" altLang="en-US" sz="2000" smtClean="0"/>
              <a:t>，</a:t>
            </a:r>
            <a:r>
              <a:rPr lang="en-US" altLang="zh-CN" sz="2000" smtClean="0"/>
              <a:t>int semnum</a:t>
            </a:r>
            <a:r>
              <a:rPr lang="zh-CN" altLang="en-US" sz="2000" smtClean="0"/>
              <a:t>，</a:t>
            </a:r>
            <a:r>
              <a:rPr lang="en-US" altLang="zh-CN" sz="2000" smtClean="0"/>
              <a:t>int cmd</a:t>
            </a:r>
            <a:r>
              <a:rPr lang="zh-CN" altLang="en-US" sz="2000" smtClean="0"/>
              <a:t>，</a:t>
            </a:r>
            <a:r>
              <a:rPr lang="en-US" altLang="zh-CN" sz="2000" smtClean="0"/>
              <a:t>union semun arg) </a:t>
            </a:r>
          </a:p>
        </p:txBody>
      </p:sp>
    </p:spTree>
    <p:extLst>
      <p:ext uri="{BB962C8B-B14F-4D97-AF65-F5344CB8AC3E}">
        <p14:creationId xmlns:p14="http://schemas.microsoft.com/office/powerpoint/2010/main" val="3629145277"/>
      </p:ext>
    </p:extLst>
  </p:cSld>
  <p:clrMapOvr>
    <a:masterClrMapping/>
  </p:clrMapOvr>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smtClean="0"/>
              <a:t>semget</a:t>
            </a:r>
            <a:r>
              <a:rPr lang="zh-CN" altLang="en-US" smtClean="0"/>
              <a:t>函数 </a:t>
            </a:r>
          </a:p>
        </p:txBody>
      </p:sp>
      <p:sp>
        <p:nvSpPr>
          <p:cNvPr id="235523" name="Rectangle 3"/>
          <p:cNvSpPr>
            <a:spLocks noGrp="1" noChangeArrowheads="1"/>
          </p:cNvSpPr>
          <p:nvPr>
            <p:ph idx="1"/>
          </p:nvPr>
        </p:nvSpPr>
        <p:spPr>
          <a:xfrm>
            <a:off x="1462453" y="1134208"/>
            <a:ext cx="10002716" cy="5486400"/>
          </a:xfrm>
        </p:spPr>
        <p:txBody>
          <a:bodyPr rtlCol="0">
            <a:normAutofit/>
          </a:bodyPr>
          <a:lstStyle/>
          <a:p>
            <a:pPr fontAlgn="auto">
              <a:lnSpc>
                <a:spcPct val="80000"/>
              </a:lnSpc>
              <a:spcAft>
                <a:spcPts val="0"/>
              </a:spcAft>
              <a:buFont typeface="Arial" panose="020B0604020202020204" pitchFamily="34" charset="0"/>
              <a:buChar char="•"/>
              <a:defRPr/>
            </a:pPr>
            <a:r>
              <a:rPr lang="en-US" altLang="zh-CN" sz="1800" dirty="0"/>
              <a:t>#include &lt;sys/</a:t>
            </a:r>
            <a:r>
              <a:rPr lang="en-US" altLang="zh-CN" sz="1800" dirty="0" err="1"/>
              <a:t>sem.h</a:t>
            </a:r>
            <a:r>
              <a:rPr lang="en-US" altLang="zh-CN" sz="1800" dirty="0"/>
              <a:t>&gt;</a:t>
            </a:r>
          </a:p>
          <a:p>
            <a:pPr fontAlgn="auto">
              <a:lnSpc>
                <a:spcPct val="80000"/>
              </a:lnSpc>
              <a:spcAft>
                <a:spcPts val="0"/>
              </a:spcAft>
              <a:buFont typeface="Arial" panose="020B0604020202020204" pitchFamily="34" charset="0"/>
              <a:buChar char="•"/>
              <a:defRPr/>
            </a:pPr>
            <a:r>
              <a:rPr lang="en-US" altLang="zh-CN" sz="1800" dirty="0" err="1"/>
              <a:t>int</a:t>
            </a:r>
            <a:r>
              <a:rPr lang="en-US" altLang="zh-CN" sz="1800" dirty="0"/>
              <a:t> </a:t>
            </a:r>
            <a:r>
              <a:rPr lang="en-US" altLang="zh-CN" sz="1800" dirty="0" err="1"/>
              <a:t>semget</a:t>
            </a:r>
            <a:r>
              <a:rPr lang="en-US" altLang="zh-CN" sz="1800" dirty="0"/>
              <a:t>(</a:t>
            </a:r>
            <a:r>
              <a:rPr lang="en-US" altLang="zh-CN" sz="1800" dirty="0" err="1"/>
              <a:t>key_t</a:t>
            </a:r>
            <a:r>
              <a:rPr lang="en-US" altLang="zh-CN" sz="1800" dirty="0"/>
              <a:t> key, </a:t>
            </a:r>
            <a:r>
              <a:rPr lang="en-US" altLang="zh-CN" sz="1800" dirty="0" err="1"/>
              <a:t>int</a:t>
            </a:r>
            <a:r>
              <a:rPr lang="en-US" altLang="zh-CN" sz="1800" dirty="0"/>
              <a:t> </a:t>
            </a:r>
            <a:r>
              <a:rPr lang="en-US" altLang="zh-CN" sz="1800" dirty="0" err="1"/>
              <a:t>nsems</a:t>
            </a:r>
            <a:r>
              <a:rPr lang="en-US" altLang="zh-CN" sz="1800" dirty="0"/>
              <a:t>, </a:t>
            </a:r>
            <a:r>
              <a:rPr lang="en-US" altLang="zh-CN" sz="1800" dirty="0" err="1"/>
              <a:t>int</a:t>
            </a:r>
            <a:r>
              <a:rPr lang="en-US" altLang="zh-CN" sz="1800" dirty="0"/>
              <a:t> </a:t>
            </a:r>
            <a:r>
              <a:rPr lang="en-US" altLang="zh-CN" sz="1800" dirty="0" err="1"/>
              <a:t>oflag</a:t>
            </a:r>
            <a:r>
              <a:rPr lang="en-US" altLang="zh-CN" sz="1800" dirty="0"/>
              <a:t>);</a:t>
            </a:r>
          </a:p>
          <a:p>
            <a:pPr fontAlgn="auto">
              <a:lnSpc>
                <a:spcPct val="80000"/>
              </a:lnSpc>
              <a:spcAft>
                <a:spcPts val="0"/>
              </a:spcAft>
              <a:buFont typeface="Arial" panose="020B0604020202020204" pitchFamily="34" charset="0"/>
              <a:buChar char="•"/>
              <a:defRPr/>
            </a:pPr>
            <a:r>
              <a:rPr lang="zh-CN" altLang="en-US" sz="1800" dirty="0"/>
              <a:t>返回：成功时为非负标识符，出错时为</a:t>
            </a:r>
            <a:r>
              <a:rPr lang="en-US" altLang="zh-CN" sz="1800" dirty="0"/>
              <a:t>-1</a:t>
            </a:r>
          </a:p>
          <a:p>
            <a:pPr fontAlgn="auto">
              <a:lnSpc>
                <a:spcPct val="80000"/>
              </a:lnSpc>
              <a:spcAft>
                <a:spcPts val="0"/>
              </a:spcAft>
              <a:buFont typeface="Arial" panose="020B0604020202020204" pitchFamily="34" charset="0"/>
              <a:buChar char="•"/>
              <a:defRPr/>
            </a:pPr>
            <a:r>
              <a:rPr lang="zh-CN" altLang="en-US" sz="1800" dirty="0"/>
              <a:t>创建一个信号灯集或访问一个已存在的信号灯集。</a:t>
            </a:r>
          </a:p>
          <a:p>
            <a:pPr fontAlgn="auto">
              <a:lnSpc>
                <a:spcPct val="80000"/>
              </a:lnSpc>
              <a:spcAft>
                <a:spcPts val="0"/>
              </a:spcAft>
              <a:buFont typeface="Arial" panose="020B0604020202020204" pitchFamily="34" charset="0"/>
              <a:buChar char="•"/>
              <a:defRPr/>
            </a:pPr>
            <a:endParaRPr lang="zh-CN" altLang="en-US" sz="1800" dirty="0"/>
          </a:p>
          <a:p>
            <a:pPr fontAlgn="auto">
              <a:lnSpc>
                <a:spcPct val="80000"/>
              </a:lnSpc>
              <a:spcAft>
                <a:spcPts val="0"/>
              </a:spcAft>
              <a:buFont typeface="Arial" panose="020B0604020202020204" pitchFamily="34" charset="0"/>
              <a:buChar char="•"/>
              <a:defRPr/>
            </a:pPr>
            <a:r>
              <a:rPr lang="zh-CN" altLang="en-US" sz="1800" dirty="0"/>
              <a:t>返回值是信号灯标识符，供其他信号灯函数使用。</a:t>
            </a:r>
          </a:p>
          <a:p>
            <a:pPr fontAlgn="auto">
              <a:lnSpc>
                <a:spcPct val="80000"/>
              </a:lnSpc>
              <a:spcAft>
                <a:spcPts val="0"/>
              </a:spcAft>
              <a:buFont typeface="Wingdings" panose="05000000000000000000" pitchFamily="2" charset="2"/>
              <a:buNone/>
              <a:defRPr/>
            </a:pPr>
            <a:endParaRPr lang="zh-CN" altLang="en-US" sz="1800" dirty="0"/>
          </a:p>
          <a:p>
            <a:pPr fontAlgn="auto">
              <a:lnSpc>
                <a:spcPct val="80000"/>
              </a:lnSpc>
              <a:spcAft>
                <a:spcPts val="0"/>
              </a:spcAft>
              <a:buFont typeface="Arial" panose="020B0604020202020204" pitchFamily="34" charset="0"/>
              <a:buChar char="•"/>
              <a:defRPr/>
            </a:pPr>
            <a:r>
              <a:rPr lang="en-US" altLang="zh-CN" sz="1800" dirty="0" err="1"/>
              <a:t>nsems</a:t>
            </a:r>
            <a:r>
              <a:rPr lang="zh-CN" altLang="en-US" sz="1800" dirty="0"/>
              <a:t>是集合中的信号灯数。如果不是创建一个信号灯集，而只是访问已存在的集合，则该参数可以指定为</a:t>
            </a:r>
            <a:r>
              <a:rPr lang="en-US" altLang="zh-CN" sz="1800" dirty="0"/>
              <a:t>0</a:t>
            </a:r>
            <a:r>
              <a:rPr lang="zh-CN" altLang="en-US" sz="1800" dirty="0"/>
              <a:t>。一旦创建完毕一个信号灯集，就不能改变其中的信号灯数。</a:t>
            </a:r>
          </a:p>
          <a:p>
            <a:pPr fontAlgn="auto">
              <a:lnSpc>
                <a:spcPct val="80000"/>
              </a:lnSpc>
              <a:spcAft>
                <a:spcPts val="0"/>
              </a:spcAft>
              <a:buFont typeface="Arial" panose="020B0604020202020204" pitchFamily="34" charset="0"/>
              <a:buChar char="•"/>
              <a:defRPr/>
            </a:pPr>
            <a:endParaRPr lang="zh-CN" altLang="en-US" sz="1800" dirty="0"/>
          </a:p>
          <a:p>
            <a:pPr fontAlgn="auto">
              <a:lnSpc>
                <a:spcPct val="80000"/>
              </a:lnSpc>
              <a:spcAft>
                <a:spcPts val="0"/>
              </a:spcAft>
              <a:buFont typeface="Arial" panose="020B0604020202020204" pitchFamily="34" charset="0"/>
              <a:buChar char="•"/>
              <a:defRPr/>
            </a:pPr>
            <a:r>
              <a:rPr lang="zh-CN" altLang="en-US" sz="1800" dirty="0"/>
              <a:t>当实际操作为创建一个新的信号灯集时，</a:t>
            </a:r>
            <a:r>
              <a:rPr lang="en-US" altLang="zh-CN" sz="1800" dirty="0" err="1"/>
              <a:t>semid_ds</a:t>
            </a:r>
            <a:r>
              <a:rPr lang="zh-CN" altLang="en-US" sz="1800" dirty="0"/>
              <a:t>结构的以下成员将被初始化：</a:t>
            </a:r>
          </a:p>
          <a:p>
            <a:pPr fontAlgn="auto">
              <a:lnSpc>
                <a:spcPct val="80000"/>
              </a:lnSpc>
              <a:spcAft>
                <a:spcPts val="0"/>
              </a:spcAft>
              <a:buFont typeface="Wingdings" panose="05000000000000000000" pitchFamily="2" charset="2"/>
              <a:buNone/>
              <a:defRPr/>
            </a:pPr>
            <a:endParaRPr lang="zh-CN" altLang="en-US" sz="1800" dirty="0"/>
          </a:p>
          <a:p>
            <a:pPr lvl="1" fontAlgn="auto">
              <a:lnSpc>
                <a:spcPct val="80000"/>
              </a:lnSpc>
              <a:spcAft>
                <a:spcPts val="0"/>
              </a:spcAft>
              <a:buFont typeface="Arial" panose="020B0604020202020204" pitchFamily="34" charset="0"/>
              <a:buChar char="•"/>
              <a:defRPr/>
            </a:pPr>
            <a:r>
              <a:rPr lang="en-US" altLang="zh-CN" sz="1600" dirty="0" err="1"/>
              <a:t>sem_perm</a:t>
            </a:r>
            <a:r>
              <a:rPr lang="zh-CN" altLang="en-US" sz="1600" dirty="0"/>
              <a:t>结构的</a:t>
            </a:r>
            <a:r>
              <a:rPr lang="en-US" altLang="zh-CN" sz="1600" dirty="0" err="1"/>
              <a:t>uid</a:t>
            </a:r>
            <a:r>
              <a:rPr lang="zh-CN" altLang="en-US" sz="1600" dirty="0"/>
              <a:t>和</a:t>
            </a:r>
            <a:r>
              <a:rPr lang="en-US" altLang="zh-CN" sz="1600" dirty="0" err="1"/>
              <a:t>cuid</a:t>
            </a:r>
            <a:r>
              <a:rPr lang="zh-CN" altLang="en-US" sz="1600" dirty="0"/>
              <a:t>被设置为调用进程的有效用户</a:t>
            </a:r>
            <a:r>
              <a:rPr lang="en-US" altLang="zh-CN" sz="1600" dirty="0"/>
              <a:t>ID</a:t>
            </a:r>
            <a:r>
              <a:rPr lang="zh-CN" altLang="en-US" sz="1600" dirty="0"/>
              <a:t>，</a:t>
            </a:r>
            <a:r>
              <a:rPr lang="en-US" altLang="zh-CN" sz="1600" dirty="0" err="1"/>
              <a:t>gid</a:t>
            </a:r>
            <a:r>
              <a:rPr lang="zh-CN" altLang="en-US" sz="1600" dirty="0"/>
              <a:t>和</a:t>
            </a:r>
            <a:r>
              <a:rPr lang="en-US" altLang="zh-CN" sz="1600" dirty="0" err="1"/>
              <a:t>cgid</a:t>
            </a:r>
            <a:r>
              <a:rPr lang="zh-CN" altLang="en-US" sz="1600" dirty="0"/>
              <a:t>被设置为调用进程的有效组</a:t>
            </a:r>
            <a:r>
              <a:rPr lang="en-US" altLang="zh-CN" sz="1600" dirty="0"/>
              <a:t>ID</a:t>
            </a:r>
            <a:r>
              <a:rPr lang="zh-CN" altLang="en-US" sz="1600" dirty="0"/>
              <a:t>； </a:t>
            </a:r>
          </a:p>
          <a:p>
            <a:pPr lvl="1" fontAlgn="auto">
              <a:lnSpc>
                <a:spcPct val="80000"/>
              </a:lnSpc>
              <a:spcAft>
                <a:spcPts val="0"/>
              </a:spcAft>
              <a:buFont typeface="Arial" panose="020B0604020202020204" pitchFamily="34" charset="0"/>
              <a:buChar char="•"/>
              <a:defRPr/>
            </a:pPr>
            <a:r>
              <a:rPr lang="en-US" altLang="zh-CN" sz="1600" dirty="0" err="1"/>
              <a:t>oflag</a:t>
            </a:r>
            <a:r>
              <a:rPr lang="zh-CN" altLang="en-US" sz="1600" dirty="0"/>
              <a:t>参数中的读写权限存入</a:t>
            </a:r>
            <a:r>
              <a:rPr lang="en-US" altLang="zh-CN" sz="1600" dirty="0" err="1"/>
              <a:t>sem_perm.mode</a:t>
            </a:r>
            <a:r>
              <a:rPr lang="zh-CN" altLang="en-US" sz="1600" dirty="0"/>
              <a:t>中； </a:t>
            </a:r>
          </a:p>
          <a:p>
            <a:pPr lvl="1" fontAlgn="auto">
              <a:lnSpc>
                <a:spcPct val="80000"/>
              </a:lnSpc>
              <a:spcAft>
                <a:spcPts val="0"/>
              </a:spcAft>
              <a:buFont typeface="Arial" panose="020B0604020202020204" pitchFamily="34" charset="0"/>
              <a:buChar char="•"/>
              <a:defRPr/>
            </a:pPr>
            <a:r>
              <a:rPr lang="en-US" altLang="zh-CN" sz="1600" dirty="0" err="1"/>
              <a:t>sem_otime</a:t>
            </a:r>
            <a:r>
              <a:rPr lang="zh-CN" altLang="en-US" sz="1600" dirty="0"/>
              <a:t>被设置为</a:t>
            </a:r>
            <a:r>
              <a:rPr lang="en-US" altLang="zh-CN" sz="1600" dirty="0"/>
              <a:t>0</a:t>
            </a:r>
            <a:r>
              <a:rPr lang="zh-CN" altLang="en-US" sz="1600" dirty="0"/>
              <a:t>，</a:t>
            </a:r>
            <a:r>
              <a:rPr lang="en-US" altLang="zh-CN" sz="1600" dirty="0" err="1"/>
              <a:t>sem_ctime</a:t>
            </a:r>
            <a:r>
              <a:rPr lang="zh-CN" altLang="en-US" sz="1600" dirty="0"/>
              <a:t>被置为当前时间； </a:t>
            </a:r>
          </a:p>
          <a:p>
            <a:pPr lvl="1" fontAlgn="auto">
              <a:lnSpc>
                <a:spcPct val="80000"/>
              </a:lnSpc>
              <a:spcAft>
                <a:spcPts val="0"/>
              </a:spcAft>
              <a:buFont typeface="Arial" panose="020B0604020202020204" pitchFamily="34" charset="0"/>
              <a:buChar char="•"/>
              <a:defRPr/>
            </a:pPr>
            <a:r>
              <a:rPr lang="en-US" altLang="zh-CN" sz="1600" dirty="0" err="1"/>
              <a:t>sem_nsems</a:t>
            </a:r>
            <a:r>
              <a:rPr lang="zh-CN" altLang="en-US" sz="1600" dirty="0"/>
              <a:t>被置为</a:t>
            </a:r>
            <a:r>
              <a:rPr lang="en-US" altLang="zh-CN" sz="1600" dirty="0" err="1"/>
              <a:t>nsems</a:t>
            </a:r>
            <a:r>
              <a:rPr lang="zh-CN" altLang="en-US" sz="1600" dirty="0"/>
              <a:t>参数的值； </a:t>
            </a:r>
          </a:p>
          <a:p>
            <a:pPr lvl="1" fontAlgn="auto">
              <a:lnSpc>
                <a:spcPct val="80000"/>
              </a:lnSpc>
              <a:spcAft>
                <a:spcPts val="0"/>
              </a:spcAft>
              <a:buFont typeface="Arial" panose="020B0604020202020204" pitchFamily="34" charset="0"/>
              <a:buChar char="•"/>
              <a:defRPr/>
            </a:pPr>
            <a:r>
              <a:rPr lang="zh-CN" altLang="en-US" sz="1600" dirty="0"/>
              <a:t>与该集合中每个信号灯关联的各个</a:t>
            </a:r>
            <a:r>
              <a:rPr lang="en-US" altLang="zh-CN" sz="1600" dirty="0" err="1"/>
              <a:t>sem</a:t>
            </a:r>
            <a:r>
              <a:rPr lang="zh-CN" altLang="en-US" sz="1600" dirty="0"/>
              <a:t>结构并不初始化。这些结构必须是在以</a:t>
            </a:r>
            <a:r>
              <a:rPr lang="en-US" altLang="zh-CN" sz="1600" dirty="0"/>
              <a:t>SETVAL</a:t>
            </a:r>
            <a:r>
              <a:rPr lang="zh-CN" altLang="en-US" sz="1600" dirty="0"/>
              <a:t>或</a:t>
            </a:r>
            <a:r>
              <a:rPr lang="en-US" altLang="zh-CN" sz="1600" dirty="0"/>
              <a:t>SETALL</a:t>
            </a:r>
            <a:r>
              <a:rPr lang="zh-CN" altLang="en-US" sz="1600" dirty="0"/>
              <a:t>命令调用</a:t>
            </a:r>
            <a:r>
              <a:rPr lang="en-US" altLang="zh-CN" sz="1600" dirty="0" err="1"/>
              <a:t>semctl</a:t>
            </a:r>
            <a:r>
              <a:rPr lang="zh-CN" altLang="en-US" sz="1600" dirty="0"/>
              <a:t>时初始化的。</a:t>
            </a:r>
          </a:p>
        </p:txBody>
      </p:sp>
    </p:spTree>
    <p:extLst>
      <p:ext uri="{BB962C8B-B14F-4D97-AF65-F5344CB8AC3E}">
        <p14:creationId xmlns:p14="http://schemas.microsoft.com/office/powerpoint/2010/main" val="3132393956"/>
      </p:ext>
    </p:extLst>
  </p:cSld>
  <p:clrMapOvr>
    <a:masterClrMapping/>
  </p:clrMapOvr>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信号量创建问题</a:t>
            </a:r>
          </a:p>
        </p:txBody>
      </p:sp>
      <p:sp>
        <p:nvSpPr>
          <p:cNvPr id="34819" name="Rectangle 3"/>
          <p:cNvSpPr>
            <a:spLocks noGrp="1" noChangeArrowheads="1"/>
          </p:cNvSpPr>
          <p:nvPr>
            <p:ph idx="1"/>
          </p:nvPr>
        </p:nvSpPr>
        <p:spPr/>
        <p:txBody>
          <a:bodyPr/>
          <a:lstStyle/>
          <a:p>
            <a:r>
              <a:rPr lang="en-US" altLang="zh-CN" sz="2400" smtClean="0"/>
              <a:t>SystemV</a:t>
            </a:r>
            <a:r>
              <a:rPr lang="zh-CN" altLang="en-US" sz="2400" smtClean="0"/>
              <a:t>信号灯的创建和初始化需两次函数调用是一个致命的缺陷，这会导致竞争状态的出现。</a:t>
            </a:r>
          </a:p>
          <a:p>
            <a:r>
              <a:rPr lang="zh-CN" altLang="en-US" sz="2400" smtClean="0"/>
              <a:t>解决竞争状态的方法是：当</a:t>
            </a:r>
            <a:r>
              <a:rPr lang="en-US" altLang="zh-CN" sz="2400" smtClean="0"/>
              <a:t>semget</a:t>
            </a:r>
            <a:r>
              <a:rPr lang="zh-CN" altLang="en-US" sz="2400" smtClean="0"/>
              <a:t>创建一个新的信号灯集时，其</a:t>
            </a:r>
            <a:r>
              <a:rPr lang="en-US" altLang="zh-CN" sz="2400" smtClean="0"/>
              <a:t>semid_ds</a:t>
            </a:r>
            <a:r>
              <a:rPr lang="zh-CN" altLang="en-US" sz="2400" smtClean="0"/>
              <a:t>结构的</a:t>
            </a:r>
            <a:r>
              <a:rPr lang="en-US" altLang="zh-CN" sz="2400" smtClean="0"/>
              <a:t>sem_otime</a:t>
            </a:r>
            <a:r>
              <a:rPr lang="zh-CN" altLang="en-US" sz="2400" smtClean="0"/>
              <a:t>成员保证被设置为</a:t>
            </a:r>
            <a:r>
              <a:rPr lang="en-US" altLang="zh-CN" sz="2400" smtClean="0"/>
              <a:t>0</a:t>
            </a:r>
            <a:r>
              <a:rPr lang="zh-CN" altLang="en-US" sz="2400" smtClean="0"/>
              <a:t>。该成员只是在</a:t>
            </a:r>
            <a:r>
              <a:rPr lang="en-US" altLang="zh-CN" sz="2400" smtClean="0"/>
              <a:t>semop</a:t>
            </a:r>
            <a:r>
              <a:rPr lang="zh-CN" altLang="en-US" sz="2400" smtClean="0"/>
              <a:t>调用成功时才被设置为当前值。在调用</a:t>
            </a:r>
            <a:r>
              <a:rPr lang="en-US" altLang="zh-CN" sz="2400" smtClean="0"/>
              <a:t>semget</a:t>
            </a:r>
            <a:r>
              <a:rPr lang="zh-CN" altLang="en-US" sz="2400" smtClean="0"/>
              <a:t>进行访问而不是创建时，以</a:t>
            </a:r>
            <a:r>
              <a:rPr lang="en-US" altLang="zh-CN" sz="2400" smtClean="0"/>
              <a:t>IPC_STAT</a:t>
            </a:r>
            <a:r>
              <a:rPr lang="zh-CN" altLang="en-US" sz="2400" smtClean="0"/>
              <a:t>命令调用</a:t>
            </a:r>
            <a:r>
              <a:rPr lang="en-US" altLang="zh-CN" sz="2400" smtClean="0"/>
              <a:t>semctl</a:t>
            </a:r>
            <a:r>
              <a:rPr lang="zh-CN" altLang="en-US" sz="2400" smtClean="0"/>
              <a:t>，然后等待</a:t>
            </a:r>
            <a:r>
              <a:rPr lang="en-US" altLang="zh-CN" sz="2400" smtClean="0"/>
              <a:t>sem_otime</a:t>
            </a:r>
            <a:r>
              <a:rPr lang="zh-CN" altLang="en-US" sz="2400" smtClean="0"/>
              <a:t>变为非零值。到时就可断定该信号灯已经被初始化，而且对它初始化的进程已成功完成</a:t>
            </a:r>
            <a:r>
              <a:rPr lang="en-US" altLang="zh-CN" sz="2400" smtClean="0"/>
              <a:t>semop</a:t>
            </a:r>
            <a:r>
              <a:rPr lang="zh-CN" altLang="en-US" sz="2400" smtClean="0"/>
              <a:t>调用。所以，创建该信号灯集的进程必须初始化它的值，而且必须在任何其他进程可以使用该信号灯集之前调用</a:t>
            </a:r>
            <a:r>
              <a:rPr lang="en-US" altLang="zh-CN" sz="2400" smtClean="0"/>
              <a:t>semop</a:t>
            </a:r>
            <a:r>
              <a:rPr lang="zh-CN" altLang="en-US" sz="2400" smtClean="0"/>
              <a:t>。</a:t>
            </a:r>
          </a:p>
          <a:p>
            <a:r>
              <a:rPr lang="zh-CN" altLang="en-US" sz="2400" smtClean="0"/>
              <a:t>这样将会造成程序相当复杂</a:t>
            </a:r>
          </a:p>
        </p:txBody>
      </p:sp>
    </p:spTree>
    <p:extLst>
      <p:ext uri="{BB962C8B-B14F-4D97-AF65-F5344CB8AC3E}">
        <p14:creationId xmlns:p14="http://schemas.microsoft.com/office/powerpoint/2010/main" val="1783391167"/>
      </p:ext>
    </p:extLst>
  </p:cSld>
  <p:clrMapOvr>
    <a:masterClrMapping/>
  </p:clrMapOvr>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zh-CN" smtClean="0"/>
              <a:t>semop</a:t>
            </a:r>
            <a:r>
              <a:rPr lang="zh-CN" altLang="en-US" smtClean="0"/>
              <a:t>函数 </a:t>
            </a:r>
          </a:p>
        </p:txBody>
      </p:sp>
      <p:sp>
        <p:nvSpPr>
          <p:cNvPr id="237571" name="Rectangle 3"/>
          <p:cNvSpPr>
            <a:spLocks noGrp="1" noChangeArrowheads="1"/>
          </p:cNvSpPr>
          <p:nvPr>
            <p:ph idx="1"/>
          </p:nvPr>
        </p:nvSpPr>
        <p:spPr>
          <a:xfrm>
            <a:off x="820615" y="1081454"/>
            <a:ext cx="10811607" cy="5486400"/>
          </a:xfrm>
        </p:spPr>
        <p:txBody>
          <a:bodyPr rtlCol="0">
            <a:normAutofit/>
          </a:bodyPr>
          <a:lstStyle/>
          <a:p>
            <a:pPr fontAlgn="auto">
              <a:lnSpc>
                <a:spcPct val="80000"/>
              </a:lnSpc>
              <a:spcAft>
                <a:spcPts val="0"/>
              </a:spcAft>
              <a:buFont typeface="Arial" panose="020B0604020202020204" pitchFamily="34" charset="0"/>
              <a:buChar char="•"/>
              <a:defRPr/>
            </a:pPr>
            <a:r>
              <a:rPr lang="en-US" altLang="zh-CN" sz="1400" dirty="0"/>
              <a:t>#include &lt;sys/</a:t>
            </a:r>
            <a:r>
              <a:rPr lang="en-US" altLang="zh-CN" sz="1400" dirty="0" err="1"/>
              <a:t>sem.h</a:t>
            </a:r>
            <a:r>
              <a:rPr lang="en-US" altLang="zh-CN" sz="1400" dirty="0"/>
              <a:t>&gt;</a:t>
            </a:r>
          </a:p>
          <a:p>
            <a:pPr fontAlgn="auto">
              <a:lnSpc>
                <a:spcPct val="80000"/>
              </a:lnSpc>
              <a:spcAft>
                <a:spcPts val="0"/>
              </a:spcAft>
              <a:buFont typeface="Arial" panose="020B0604020202020204" pitchFamily="34" charset="0"/>
              <a:buChar char="•"/>
              <a:defRPr/>
            </a:pPr>
            <a:r>
              <a:rPr lang="en-US" altLang="zh-CN" sz="1400" b="1" dirty="0" err="1"/>
              <a:t>int</a:t>
            </a:r>
            <a:r>
              <a:rPr lang="en-US" altLang="zh-CN" sz="1400" b="1" dirty="0"/>
              <a:t> </a:t>
            </a:r>
            <a:r>
              <a:rPr lang="en-US" altLang="zh-CN" sz="1400" b="1" dirty="0" err="1"/>
              <a:t>semop</a:t>
            </a:r>
            <a:r>
              <a:rPr lang="en-US" altLang="zh-CN" sz="1400" b="1" dirty="0"/>
              <a:t>(</a:t>
            </a:r>
            <a:r>
              <a:rPr lang="en-US" altLang="zh-CN" sz="1400" b="1" dirty="0" err="1"/>
              <a:t>int</a:t>
            </a:r>
            <a:r>
              <a:rPr lang="en-US" altLang="zh-CN" sz="1400" b="1" dirty="0"/>
              <a:t> </a:t>
            </a:r>
            <a:r>
              <a:rPr lang="en-US" altLang="zh-CN" sz="1400" b="1" dirty="0" err="1"/>
              <a:t>semid</a:t>
            </a:r>
            <a:r>
              <a:rPr lang="en-US" altLang="zh-CN" sz="1400" b="1" dirty="0"/>
              <a:t>, </a:t>
            </a:r>
            <a:r>
              <a:rPr lang="en-US" altLang="zh-CN" sz="1400" b="1" dirty="0" err="1"/>
              <a:t>struct</a:t>
            </a:r>
            <a:r>
              <a:rPr lang="en-US" altLang="zh-CN" sz="1400" b="1" dirty="0"/>
              <a:t> </a:t>
            </a:r>
            <a:r>
              <a:rPr lang="en-US" altLang="zh-CN" sz="1400" b="1" dirty="0" err="1"/>
              <a:t>sembuf</a:t>
            </a:r>
            <a:r>
              <a:rPr lang="en-US" altLang="zh-CN" sz="1400" b="1" dirty="0"/>
              <a:t> *</a:t>
            </a:r>
            <a:r>
              <a:rPr lang="en-US" altLang="zh-CN" sz="1400" b="1" dirty="0" err="1"/>
              <a:t>opsptr</a:t>
            </a:r>
            <a:r>
              <a:rPr lang="en-US" altLang="zh-CN" sz="1400" b="1" dirty="0"/>
              <a:t>, </a:t>
            </a:r>
            <a:r>
              <a:rPr lang="en-US" altLang="zh-CN" sz="1400" b="1" dirty="0" err="1"/>
              <a:t>size_t</a:t>
            </a:r>
            <a:r>
              <a:rPr lang="en-US" altLang="zh-CN" sz="1400" b="1" dirty="0"/>
              <a:t> </a:t>
            </a:r>
            <a:r>
              <a:rPr lang="en-US" altLang="zh-CN" sz="1400" b="1" dirty="0" err="1"/>
              <a:t>nops</a:t>
            </a:r>
            <a:r>
              <a:rPr lang="en-US" altLang="zh-CN" sz="1400" b="1" dirty="0"/>
              <a:t>);</a:t>
            </a:r>
          </a:p>
          <a:p>
            <a:pPr fontAlgn="auto">
              <a:lnSpc>
                <a:spcPct val="80000"/>
              </a:lnSpc>
              <a:spcAft>
                <a:spcPts val="0"/>
              </a:spcAft>
              <a:buFont typeface="Arial" panose="020B0604020202020204" pitchFamily="34" charset="0"/>
              <a:buChar char="•"/>
              <a:defRPr/>
            </a:pPr>
            <a:r>
              <a:rPr lang="zh-CN" altLang="en-US" sz="1400" dirty="0"/>
              <a:t>返回：成功时为</a:t>
            </a:r>
            <a:r>
              <a:rPr lang="en-US" altLang="zh-CN" sz="1400" dirty="0"/>
              <a:t>0</a:t>
            </a:r>
            <a:r>
              <a:rPr lang="zh-CN" altLang="en-US" sz="1400" dirty="0"/>
              <a:t>，出错时为</a:t>
            </a:r>
            <a:r>
              <a:rPr lang="en-US" altLang="zh-CN" sz="1400" dirty="0"/>
              <a:t>-1</a:t>
            </a:r>
          </a:p>
          <a:p>
            <a:pPr fontAlgn="auto">
              <a:lnSpc>
                <a:spcPct val="80000"/>
              </a:lnSpc>
              <a:spcAft>
                <a:spcPts val="0"/>
              </a:spcAft>
              <a:buFont typeface="Arial" panose="020B0604020202020204" pitchFamily="34" charset="0"/>
              <a:buChar char="•"/>
              <a:defRPr/>
            </a:pPr>
            <a:r>
              <a:rPr lang="zh-CN" altLang="en-US" sz="1400" dirty="0"/>
              <a:t>对一个或多个信号灯进行操作。</a:t>
            </a:r>
          </a:p>
          <a:p>
            <a:pPr fontAlgn="auto">
              <a:lnSpc>
                <a:spcPct val="80000"/>
              </a:lnSpc>
              <a:spcAft>
                <a:spcPts val="0"/>
              </a:spcAft>
              <a:buFont typeface="Arial" panose="020B0604020202020204" pitchFamily="34" charset="0"/>
              <a:buChar char="•"/>
              <a:defRPr/>
            </a:pPr>
            <a:r>
              <a:rPr lang="en-US" altLang="zh-CN" sz="1400" dirty="0" err="1"/>
              <a:t>opsptr</a:t>
            </a:r>
            <a:r>
              <a:rPr lang="zh-CN" altLang="en-US" sz="1400" dirty="0"/>
              <a:t>指向如下结构模板的数组</a:t>
            </a:r>
            <a:r>
              <a:rPr lang="en-US" altLang="zh-CN" sz="1400" dirty="0"/>
              <a:t>(</a:t>
            </a:r>
            <a:r>
              <a:rPr lang="zh-CN" altLang="en-US" sz="1400" dirty="0"/>
              <a:t>该结构可能不止如下几个成员</a:t>
            </a:r>
            <a:r>
              <a:rPr lang="en-US" altLang="zh-CN" sz="1400" dirty="0"/>
              <a:t>)</a:t>
            </a:r>
            <a:r>
              <a:rPr lang="zh-CN" altLang="en-US" sz="1400" dirty="0"/>
              <a:t>：</a:t>
            </a:r>
          </a:p>
          <a:p>
            <a:pPr lvl="1" fontAlgn="auto">
              <a:lnSpc>
                <a:spcPct val="80000"/>
              </a:lnSpc>
              <a:spcAft>
                <a:spcPts val="0"/>
              </a:spcAft>
              <a:buFont typeface="Arial" panose="020B0604020202020204" pitchFamily="34" charset="0"/>
              <a:buChar char="•"/>
              <a:defRPr/>
            </a:pPr>
            <a:r>
              <a:rPr lang="en-US" altLang="zh-CN" sz="1200" dirty="0" err="1"/>
              <a:t>struct</a:t>
            </a:r>
            <a:r>
              <a:rPr lang="en-US" altLang="zh-CN" sz="1200" dirty="0"/>
              <a:t> </a:t>
            </a:r>
            <a:r>
              <a:rPr lang="en-US" altLang="zh-CN" sz="1200" dirty="0" err="1"/>
              <a:t>sembuf</a:t>
            </a:r>
            <a:r>
              <a:rPr lang="en-US" altLang="zh-CN" sz="1200" dirty="0"/>
              <a:t> {</a:t>
            </a:r>
          </a:p>
          <a:p>
            <a:pPr lvl="1" fontAlgn="auto">
              <a:lnSpc>
                <a:spcPct val="80000"/>
              </a:lnSpc>
              <a:spcAft>
                <a:spcPts val="0"/>
              </a:spcAft>
              <a:buFont typeface="Arial" panose="020B0604020202020204" pitchFamily="34" charset="0"/>
              <a:buChar char="•"/>
              <a:defRPr/>
            </a:pPr>
            <a:r>
              <a:rPr lang="en-US" altLang="zh-CN" sz="1200" dirty="0"/>
              <a:t>    </a:t>
            </a:r>
            <a:r>
              <a:rPr lang="en-US" altLang="zh-CN" sz="1200" dirty="0" err="1"/>
              <a:t>shrot</a:t>
            </a:r>
            <a:r>
              <a:rPr lang="en-US" altLang="zh-CN" sz="1200" dirty="0"/>
              <a:t> </a:t>
            </a:r>
            <a:r>
              <a:rPr lang="en-US" altLang="zh-CN" sz="1200" dirty="0" err="1"/>
              <a:t>sem_num</a:t>
            </a:r>
            <a:r>
              <a:rPr lang="en-US" altLang="zh-CN" sz="1200" dirty="0"/>
              <a:t>; /* semaphore number:0,1,..,nsems-1 */</a:t>
            </a:r>
          </a:p>
          <a:p>
            <a:pPr lvl="1" fontAlgn="auto">
              <a:lnSpc>
                <a:spcPct val="80000"/>
              </a:lnSpc>
              <a:spcAft>
                <a:spcPts val="0"/>
              </a:spcAft>
              <a:buFont typeface="Arial" panose="020B0604020202020204" pitchFamily="34" charset="0"/>
              <a:buChar char="•"/>
              <a:defRPr/>
            </a:pPr>
            <a:r>
              <a:rPr lang="en-US" altLang="zh-CN" sz="1200" dirty="0"/>
              <a:t>    short </a:t>
            </a:r>
            <a:r>
              <a:rPr lang="en-US" altLang="zh-CN" sz="1200" dirty="0" err="1"/>
              <a:t>sem_op</a:t>
            </a:r>
            <a:r>
              <a:rPr lang="en-US" altLang="zh-CN" sz="1200" dirty="0"/>
              <a:t>; /* semaphore operation: &lt; 0,0, &gt;0 */</a:t>
            </a:r>
          </a:p>
          <a:p>
            <a:pPr lvl="1" fontAlgn="auto">
              <a:lnSpc>
                <a:spcPct val="80000"/>
              </a:lnSpc>
              <a:spcAft>
                <a:spcPts val="0"/>
              </a:spcAft>
              <a:buFont typeface="Arial" panose="020B0604020202020204" pitchFamily="34" charset="0"/>
              <a:buChar char="•"/>
              <a:defRPr/>
            </a:pPr>
            <a:r>
              <a:rPr lang="en-US" altLang="zh-CN" sz="1200" dirty="0"/>
              <a:t>    short </a:t>
            </a:r>
            <a:r>
              <a:rPr lang="en-US" altLang="zh-CN" sz="1200" dirty="0" err="1"/>
              <a:t>sem_flg</a:t>
            </a:r>
            <a:r>
              <a:rPr lang="en-US" altLang="zh-CN" sz="1200" dirty="0"/>
              <a:t>; /* operation flags:0,IPC_NOWAIT,SEM_UNDO */</a:t>
            </a:r>
          </a:p>
          <a:p>
            <a:pPr lvl="1" fontAlgn="auto">
              <a:lnSpc>
                <a:spcPct val="80000"/>
              </a:lnSpc>
              <a:spcAft>
                <a:spcPts val="0"/>
              </a:spcAft>
              <a:buFont typeface="Arial" panose="020B0604020202020204" pitchFamily="34" charset="0"/>
              <a:buChar char="•"/>
              <a:defRPr/>
            </a:pPr>
            <a:r>
              <a:rPr lang="en-US" altLang="zh-CN" sz="1200" dirty="0"/>
              <a:t>};</a:t>
            </a:r>
          </a:p>
          <a:p>
            <a:pPr fontAlgn="auto">
              <a:lnSpc>
                <a:spcPct val="80000"/>
              </a:lnSpc>
              <a:spcAft>
                <a:spcPts val="0"/>
              </a:spcAft>
              <a:buFont typeface="Arial" panose="020B0604020202020204" pitchFamily="34" charset="0"/>
              <a:buChar char="•"/>
              <a:defRPr/>
            </a:pPr>
            <a:r>
              <a:rPr lang="en-US" altLang="zh-CN" sz="1400" dirty="0" err="1"/>
              <a:t>nops</a:t>
            </a:r>
            <a:r>
              <a:rPr lang="zh-CN" altLang="en-US" sz="1400" dirty="0"/>
              <a:t>参数指出结构数组中元素的个数。每个元素给目标信号灯集中某个信号灯指定一个操作。特定的信号灯由</a:t>
            </a:r>
            <a:r>
              <a:rPr lang="en-US" altLang="zh-CN" sz="1400" dirty="0" err="1"/>
              <a:t>sem_num</a:t>
            </a:r>
            <a:r>
              <a:rPr lang="zh-CN" altLang="en-US" sz="1400" dirty="0"/>
              <a:t>指定；</a:t>
            </a:r>
            <a:r>
              <a:rPr lang="en-US" altLang="zh-CN" sz="1400" dirty="0" err="1"/>
              <a:t>sem_op</a:t>
            </a:r>
            <a:r>
              <a:rPr lang="zh-CN" altLang="en-US" sz="1400" dirty="0"/>
              <a:t>指定特定的操作；</a:t>
            </a:r>
            <a:r>
              <a:rPr lang="en-US" altLang="zh-CN" sz="1400" dirty="0" err="1"/>
              <a:t>sem_flg</a:t>
            </a:r>
            <a:r>
              <a:rPr lang="zh-CN" altLang="en-US" sz="1400" dirty="0"/>
              <a:t>指定非阻塞</a:t>
            </a:r>
            <a:r>
              <a:rPr lang="en-US" altLang="zh-CN" sz="1400" dirty="0"/>
              <a:t>(IPC_NOWAIT)</a:t>
            </a:r>
            <a:r>
              <a:rPr lang="zh-CN" altLang="en-US" sz="1400" dirty="0"/>
              <a:t>、恢复等标志。在阻塞、非阻塞情况下返回的错误情况与其他</a:t>
            </a:r>
            <a:r>
              <a:rPr lang="en-US" altLang="zh-CN" sz="1400" dirty="0" err="1"/>
              <a:t>SystemV</a:t>
            </a:r>
            <a:r>
              <a:rPr lang="en-US" altLang="zh-CN" sz="1400" dirty="0"/>
              <a:t> IPC</a:t>
            </a:r>
            <a:r>
              <a:rPr lang="zh-CN" altLang="en-US" sz="1400" dirty="0"/>
              <a:t>相同。</a:t>
            </a:r>
          </a:p>
          <a:p>
            <a:pPr fontAlgn="auto">
              <a:lnSpc>
                <a:spcPct val="80000"/>
              </a:lnSpc>
              <a:spcAft>
                <a:spcPts val="0"/>
              </a:spcAft>
              <a:buFont typeface="Arial" panose="020B0604020202020204" pitchFamily="34" charset="0"/>
              <a:buChar char="•"/>
              <a:defRPr/>
            </a:pPr>
            <a:r>
              <a:rPr lang="en-US" altLang="zh-CN" sz="1400" dirty="0" err="1"/>
              <a:t>semop</a:t>
            </a:r>
            <a:r>
              <a:rPr lang="zh-CN" altLang="en-US" sz="1400" dirty="0"/>
              <a:t>函数由内核保证原子的执行，内核或者完成所有操作，或者什么也不做。</a:t>
            </a:r>
          </a:p>
          <a:p>
            <a:pPr fontAlgn="auto">
              <a:lnSpc>
                <a:spcPct val="80000"/>
              </a:lnSpc>
              <a:spcAft>
                <a:spcPts val="0"/>
              </a:spcAft>
              <a:buFont typeface="Arial" panose="020B0604020202020204" pitchFamily="34" charset="0"/>
              <a:buChar char="•"/>
              <a:defRPr/>
            </a:pPr>
            <a:r>
              <a:rPr lang="en-US" altLang="zh-CN" sz="1400" dirty="0" err="1"/>
              <a:t>semop</a:t>
            </a:r>
            <a:r>
              <a:rPr lang="zh-CN" altLang="en-US" sz="1400" dirty="0"/>
              <a:t>操作的具体描述：</a:t>
            </a:r>
          </a:p>
          <a:p>
            <a:pPr lvl="1" fontAlgn="auto">
              <a:lnSpc>
                <a:spcPct val="80000"/>
              </a:lnSpc>
              <a:spcAft>
                <a:spcPts val="0"/>
              </a:spcAft>
              <a:buFont typeface="Arial" panose="020B0604020202020204" pitchFamily="34" charset="0"/>
              <a:buChar char="•"/>
              <a:defRPr/>
            </a:pPr>
            <a:r>
              <a:rPr lang="zh-CN" altLang="en-US" sz="1200" dirty="0"/>
              <a:t>如果</a:t>
            </a:r>
            <a:r>
              <a:rPr lang="en-US" altLang="zh-CN" sz="1200" dirty="0" err="1"/>
              <a:t>sem_op</a:t>
            </a:r>
            <a:r>
              <a:rPr lang="zh-CN" altLang="en-US" sz="1200" dirty="0"/>
              <a:t>是正数，其值就加到</a:t>
            </a:r>
            <a:r>
              <a:rPr lang="en-US" altLang="zh-CN" sz="1200" dirty="0" err="1"/>
              <a:t>semval</a:t>
            </a:r>
            <a:r>
              <a:rPr lang="en-US" altLang="zh-CN" sz="1200" dirty="0"/>
              <a:t>(</a:t>
            </a:r>
            <a:r>
              <a:rPr lang="zh-CN" altLang="en-US" sz="1200" dirty="0"/>
              <a:t>信号灯的当前值</a:t>
            </a:r>
            <a:r>
              <a:rPr lang="en-US" altLang="zh-CN" sz="1200" dirty="0"/>
              <a:t>)</a:t>
            </a:r>
            <a:r>
              <a:rPr lang="zh-CN" altLang="en-US" sz="1200" dirty="0"/>
              <a:t>上，这对应于释放由某个信号灯控制的资源。如果指定了</a:t>
            </a:r>
            <a:r>
              <a:rPr lang="en-US" altLang="zh-CN" sz="1200" dirty="0"/>
              <a:t>SEM_UNDO</a:t>
            </a:r>
            <a:r>
              <a:rPr lang="zh-CN" altLang="en-US" sz="1200" dirty="0"/>
              <a:t>标志，就从相应信号灯的</a:t>
            </a:r>
            <a:r>
              <a:rPr lang="en-US" altLang="zh-CN" sz="1200" dirty="0" err="1"/>
              <a:t>semadj</a:t>
            </a:r>
            <a:r>
              <a:rPr lang="zh-CN" altLang="en-US" sz="1200" dirty="0"/>
              <a:t>值中减掉</a:t>
            </a:r>
            <a:r>
              <a:rPr lang="en-US" altLang="zh-CN" sz="1200" dirty="0" err="1"/>
              <a:t>sem_op</a:t>
            </a:r>
            <a:r>
              <a:rPr lang="zh-CN" altLang="en-US" sz="1200" dirty="0"/>
              <a:t>的值。 </a:t>
            </a:r>
          </a:p>
          <a:p>
            <a:pPr lvl="1" fontAlgn="auto">
              <a:lnSpc>
                <a:spcPct val="80000"/>
              </a:lnSpc>
              <a:spcAft>
                <a:spcPts val="0"/>
              </a:spcAft>
              <a:buFont typeface="Arial" panose="020B0604020202020204" pitchFamily="34" charset="0"/>
              <a:buChar char="•"/>
              <a:defRPr/>
            </a:pPr>
            <a:r>
              <a:rPr lang="zh-CN" altLang="en-US" sz="1200" dirty="0"/>
              <a:t>如果</a:t>
            </a:r>
            <a:r>
              <a:rPr lang="en-US" altLang="zh-CN" sz="1200" dirty="0" err="1"/>
              <a:t>sem_op</a:t>
            </a:r>
            <a:r>
              <a:rPr lang="zh-CN" altLang="en-US" sz="1200" dirty="0"/>
              <a:t>是</a:t>
            </a:r>
            <a:r>
              <a:rPr lang="en-US" altLang="zh-CN" sz="1200" dirty="0"/>
              <a:t>0</a:t>
            </a:r>
            <a:r>
              <a:rPr lang="zh-CN" altLang="en-US" sz="1200" dirty="0"/>
              <a:t>，那么调用者希望等待到</a:t>
            </a:r>
            <a:r>
              <a:rPr lang="en-US" altLang="zh-CN" sz="1200" dirty="0" err="1"/>
              <a:t>semval</a:t>
            </a:r>
            <a:r>
              <a:rPr lang="zh-CN" altLang="en-US" sz="1200" dirty="0"/>
              <a:t>变为</a:t>
            </a:r>
            <a:r>
              <a:rPr lang="en-US" altLang="zh-CN" sz="1200" dirty="0"/>
              <a:t>0</a:t>
            </a:r>
            <a:r>
              <a:rPr lang="zh-CN" altLang="en-US" sz="1200" dirty="0"/>
              <a:t>，如果</a:t>
            </a:r>
            <a:r>
              <a:rPr lang="en-US" altLang="zh-CN" sz="1200" dirty="0" err="1"/>
              <a:t>semval</a:t>
            </a:r>
            <a:r>
              <a:rPr lang="zh-CN" altLang="en-US" sz="1200" dirty="0"/>
              <a:t>已经是</a:t>
            </a:r>
            <a:r>
              <a:rPr lang="en-US" altLang="zh-CN" sz="1200" dirty="0"/>
              <a:t>0</a:t>
            </a:r>
            <a:r>
              <a:rPr lang="zh-CN" altLang="en-US" sz="1200" dirty="0"/>
              <a:t>，则立即返回；如果</a:t>
            </a:r>
            <a:r>
              <a:rPr lang="en-US" altLang="zh-CN" sz="1200" dirty="0" err="1"/>
              <a:t>semval</a:t>
            </a:r>
            <a:r>
              <a:rPr lang="zh-CN" altLang="en-US" sz="1200" dirty="0"/>
              <a:t>不为</a:t>
            </a:r>
            <a:r>
              <a:rPr lang="en-US" altLang="zh-CN" sz="1200" dirty="0"/>
              <a:t>0</a:t>
            </a:r>
            <a:r>
              <a:rPr lang="zh-CN" altLang="en-US" sz="1200" dirty="0"/>
              <a:t>，相应信号灯的</a:t>
            </a:r>
            <a:r>
              <a:rPr lang="en-US" altLang="zh-CN" sz="1200" dirty="0" err="1"/>
              <a:t>semzcnt</a:t>
            </a:r>
            <a:r>
              <a:rPr lang="en-US" altLang="zh-CN" sz="1200" dirty="0"/>
              <a:t>(</a:t>
            </a:r>
            <a:r>
              <a:rPr lang="zh-CN" altLang="en-US" sz="1200" dirty="0"/>
              <a:t>等待</a:t>
            </a:r>
            <a:r>
              <a:rPr lang="en-US" altLang="zh-CN" sz="1200" dirty="0" err="1"/>
              <a:t>semval</a:t>
            </a:r>
            <a:r>
              <a:rPr lang="zh-CN" altLang="en-US" sz="1200" dirty="0"/>
              <a:t>变为</a:t>
            </a:r>
            <a:r>
              <a:rPr lang="en-US" altLang="zh-CN" sz="1200" dirty="0"/>
              <a:t>0</a:t>
            </a:r>
            <a:r>
              <a:rPr lang="zh-CN" altLang="en-US" sz="1200" dirty="0"/>
              <a:t>的线程数</a:t>
            </a:r>
            <a:r>
              <a:rPr lang="en-US" altLang="zh-CN" sz="1200" dirty="0"/>
              <a:t>)</a:t>
            </a:r>
            <a:r>
              <a:rPr lang="zh-CN" altLang="en-US" sz="1200" dirty="0"/>
              <a:t>值就加</a:t>
            </a:r>
            <a:r>
              <a:rPr lang="en-US" altLang="zh-CN" sz="1200" dirty="0"/>
              <a:t>1</a:t>
            </a:r>
            <a:r>
              <a:rPr lang="zh-CN" altLang="en-US" sz="1200" dirty="0"/>
              <a:t>，调用线程阻塞到</a:t>
            </a:r>
            <a:r>
              <a:rPr lang="en-US" altLang="zh-CN" sz="1200" dirty="0" err="1"/>
              <a:t>semval</a:t>
            </a:r>
            <a:r>
              <a:rPr lang="zh-CN" altLang="en-US" sz="1200" dirty="0"/>
              <a:t>变为</a:t>
            </a:r>
            <a:r>
              <a:rPr lang="en-US" altLang="zh-CN" sz="1200" dirty="0"/>
              <a:t>0(</a:t>
            </a:r>
            <a:r>
              <a:rPr lang="zh-CN" altLang="en-US" sz="1200" dirty="0"/>
              <a:t>那时</a:t>
            </a:r>
            <a:r>
              <a:rPr lang="en-US" altLang="zh-CN" sz="1200" dirty="0" err="1"/>
              <a:t>semzcnt</a:t>
            </a:r>
            <a:r>
              <a:rPr lang="zh-CN" altLang="en-US" sz="1200" dirty="0"/>
              <a:t>再减</a:t>
            </a:r>
            <a:r>
              <a:rPr lang="en-US" altLang="zh-CN" sz="1200" dirty="0"/>
              <a:t>1)</a:t>
            </a:r>
            <a:r>
              <a:rPr lang="zh-CN" altLang="en-US" sz="1200" dirty="0"/>
              <a:t>。若指定了</a:t>
            </a:r>
            <a:r>
              <a:rPr lang="en-US" altLang="zh-CN" sz="1200" dirty="0"/>
              <a:t>IPC_NOWAIT</a:t>
            </a:r>
            <a:r>
              <a:rPr lang="zh-CN" altLang="en-US" sz="1200" dirty="0"/>
              <a:t>，则调用线程不会睡眠，返回</a:t>
            </a:r>
            <a:r>
              <a:rPr lang="en-US" altLang="zh-CN" sz="1200" dirty="0"/>
              <a:t>EAGAIN</a:t>
            </a:r>
            <a:r>
              <a:rPr lang="zh-CN" altLang="en-US" sz="1200" dirty="0"/>
              <a:t>。 </a:t>
            </a:r>
          </a:p>
          <a:p>
            <a:pPr lvl="1" fontAlgn="auto">
              <a:lnSpc>
                <a:spcPct val="80000"/>
              </a:lnSpc>
              <a:spcAft>
                <a:spcPts val="0"/>
              </a:spcAft>
              <a:buFont typeface="Arial" panose="020B0604020202020204" pitchFamily="34" charset="0"/>
              <a:buChar char="•"/>
              <a:defRPr/>
            </a:pPr>
            <a:r>
              <a:rPr lang="zh-CN" altLang="en-US" sz="1200" dirty="0"/>
              <a:t>如果</a:t>
            </a:r>
            <a:r>
              <a:rPr lang="en-US" altLang="zh-CN" sz="1200" dirty="0" err="1"/>
              <a:t>sem_op</a:t>
            </a:r>
            <a:r>
              <a:rPr lang="zh-CN" altLang="en-US" sz="1200" dirty="0"/>
              <a:t>是负数，那么调用者希望等待</a:t>
            </a:r>
            <a:r>
              <a:rPr lang="en-US" altLang="zh-CN" sz="1200" dirty="0" err="1"/>
              <a:t>semval</a:t>
            </a:r>
            <a:r>
              <a:rPr lang="zh-CN" altLang="en-US" sz="1200" dirty="0"/>
              <a:t>变为大于或等于</a:t>
            </a:r>
            <a:r>
              <a:rPr lang="en-US" altLang="zh-CN" sz="1200" dirty="0" err="1"/>
              <a:t>sem_op</a:t>
            </a:r>
            <a:r>
              <a:rPr lang="zh-CN" altLang="en-US" sz="1200" dirty="0"/>
              <a:t>的绝对值，这对应于分配资源。如果</a:t>
            </a:r>
            <a:r>
              <a:rPr lang="en-US" altLang="zh-CN" sz="1200" dirty="0" err="1"/>
              <a:t>semval</a:t>
            </a:r>
            <a:r>
              <a:rPr lang="zh-CN" altLang="en-US" sz="1200" dirty="0"/>
              <a:t>大于或等于</a:t>
            </a:r>
            <a:r>
              <a:rPr lang="en-US" altLang="zh-CN" sz="1200" dirty="0" err="1"/>
              <a:t>sem_op</a:t>
            </a:r>
            <a:r>
              <a:rPr lang="zh-CN" altLang="en-US" sz="1200" dirty="0"/>
              <a:t>的绝对值，则从</a:t>
            </a:r>
            <a:r>
              <a:rPr lang="en-US" altLang="zh-CN" sz="1200" dirty="0" err="1"/>
              <a:t>semval</a:t>
            </a:r>
            <a:r>
              <a:rPr lang="zh-CN" altLang="en-US" sz="1200" dirty="0"/>
              <a:t>中减掉</a:t>
            </a:r>
            <a:r>
              <a:rPr lang="en-US" altLang="zh-CN" sz="1200" dirty="0" err="1"/>
              <a:t>sem_op</a:t>
            </a:r>
            <a:r>
              <a:rPr lang="zh-CN" altLang="en-US" sz="1200" dirty="0"/>
              <a:t>的绝对值，如果指定了</a:t>
            </a:r>
            <a:r>
              <a:rPr lang="en-US" altLang="zh-CN" sz="1200" dirty="0"/>
              <a:t>SEM_UNDO</a:t>
            </a:r>
            <a:r>
              <a:rPr lang="zh-CN" altLang="en-US" sz="1200" dirty="0"/>
              <a:t>，那么</a:t>
            </a:r>
            <a:r>
              <a:rPr lang="en-US" altLang="zh-CN" sz="1200" dirty="0" err="1"/>
              <a:t>sem_op</a:t>
            </a:r>
            <a:r>
              <a:rPr lang="zh-CN" altLang="en-US" sz="1200" dirty="0"/>
              <a:t>的绝对值就加到相应信号灯的</a:t>
            </a:r>
            <a:r>
              <a:rPr lang="en-US" altLang="zh-CN" sz="1200" dirty="0" err="1"/>
              <a:t>semadj</a:t>
            </a:r>
            <a:r>
              <a:rPr lang="zh-CN" altLang="en-US" sz="1200" dirty="0"/>
              <a:t>值上。如果</a:t>
            </a:r>
            <a:r>
              <a:rPr lang="en-US" altLang="zh-CN" sz="1200" dirty="0" err="1"/>
              <a:t>semval</a:t>
            </a:r>
            <a:r>
              <a:rPr lang="zh-CN" altLang="en-US" sz="1200" dirty="0"/>
              <a:t>小于</a:t>
            </a:r>
            <a:r>
              <a:rPr lang="en-US" altLang="zh-CN" sz="1200" dirty="0" err="1"/>
              <a:t>sem_op</a:t>
            </a:r>
            <a:r>
              <a:rPr lang="zh-CN" altLang="en-US" sz="1200" dirty="0"/>
              <a:t>的绝对值，相应信号灯的</a:t>
            </a:r>
            <a:r>
              <a:rPr lang="en-US" altLang="zh-CN" sz="1200" dirty="0" err="1"/>
              <a:t>semncnt</a:t>
            </a:r>
            <a:r>
              <a:rPr lang="zh-CN" altLang="en-US" sz="1200" dirty="0"/>
              <a:t>值就加</a:t>
            </a:r>
            <a:r>
              <a:rPr lang="en-US" altLang="zh-CN" sz="1200" dirty="0"/>
              <a:t>1</a:t>
            </a:r>
            <a:r>
              <a:rPr lang="zh-CN" altLang="en-US" sz="1200" dirty="0"/>
              <a:t>，调用线程阻塞直到</a:t>
            </a:r>
            <a:r>
              <a:rPr lang="en-US" altLang="zh-CN" sz="1200" dirty="0" err="1"/>
              <a:t>semval</a:t>
            </a:r>
            <a:r>
              <a:rPr lang="zh-CN" altLang="en-US" sz="1200" dirty="0"/>
              <a:t>变为大于或等于</a:t>
            </a:r>
            <a:r>
              <a:rPr lang="en-US" altLang="zh-CN" sz="1200" dirty="0" err="1"/>
              <a:t>sem_op</a:t>
            </a:r>
            <a:r>
              <a:rPr lang="zh-CN" altLang="en-US" sz="1200" dirty="0"/>
              <a:t>的绝对值。若指定了</a:t>
            </a:r>
            <a:r>
              <a:rPr lang="en-US" altLang="zh-CN" sz="1200" dirty="0"/>
              <a:t>IPC_NOWAIT</a:t>
            </a:r>
            <a:r>
              <a:rPr lang="zh-CN" altLang="en-US" sz="1200" dirty="0"/>
              <a:t>，则调用线程不会睡眠，返回</a:t>
            </a:r>
            <a:r>
              <a:rPr lang="en-US" altLang="zh-CN" sz="1200" dirty="0"/>
              <a:t>EAGAIN</a:t>
            </a:r>
            <a:r>
              <a:rPr lang="zh-CN" altLang="en-US" sz="1200" dirty="0"/>
              <a:t>。 </a:t>
            </a:r>
          </a:p>
          <a:p>
            <a:pPr fontAlgn="auto">
              <a:lnSpc>
                <a:spcPct val="80000"/>
              </a:lnSpc>
              <a:spcAft>
                <a:spcPts val="0"/>
              </a:spcAft>
              <a:buFont typeface="Arial" panose="020B0604020202020204" pitchFamily="34" charset="0"/>
              <a:buChar char="•"/>
              <a:defRPr/>
            </a:pPr>
            <a:r>
              <a:rPr lang="en-US" altLang="zh-CN" sz="1400" dirty="0" err="1"/>
              <a:t>semadj</a:t>
            </a:r>
            <a:r>
              <a:rPr lang="zh-CN" altLang="en-US" sz="1400" dirty="0"/>
              <a:t>称为指定信号灯针对调用进程的调整值。当调用进程终止时，</a:t>
            </a:r>
            <a:r>
              <a:rPr lang="en-US" altLang="zh-CN" sz="1400" dirty="0" err="1"/>
              <a:t>semadj</a:t>
            </a:r>
            <a:r>
              <a:rPr lang="zh-CN" altLang="en-US" sz="1400" dirty="0"/>
              <a:t>的值就加到相应信号灯的</a:t>
            </a:r>
            <a:r>
              <a:rPr lang="en-US" altLang="zh-CN" sz="1400" dirty="0" err="1"/>
              <a:t>semval</a:t>
            </a:r>
            <a:r>
              <a:rPr lang="zh-CN" altLang="en-US" sz="1400" dirty="0"/>
              <a:t>上。若调用进程对某个信号灯的全部操作都指定</a:t>
            </a:r>
            <a:r>
              <a:rPr lang="en-US" altLang="zh-CN" sz="1400" dirty="0"/>
              <a:t>SEM_UNDO</a:t>
            </a:r>
            <a:r>
              <a:rPr lang="zh-CN" altLang="en-US" sz="1400" dirty="0"/>
              <a:t>标志，则该进程终止时，该信号灯的值就会变得像根本没有运行过该进程一样，这就是复旧</a:t>
            </a:r>
            <a:r>
              <a:rPr lang="en-US" altLang="zh-CN" sz="1400" dirty="0"/>
              <a:t>(undo)</a:t>
            </a:r>
            <a:r>
              <a:rPr lang="zh-CN" altLang="en-US" sz="1400" dirty="0"/>
              <a:t>的本意。</a:t>
            </a:r>
          </a:p>
          <a:p>
            <a:pPr fontAlgn="auto">
              <a:lnSpc>
                <a:spcPct val="80000"/>
              </a:lnSpc>
              <a:spcAft>
                <a:spcPts val="0"/>
              </a:spcAft>
              <a:buFont typeface="Arial" panose="020B0604020202020204" pitchFamily="34" charset="0"/>
              <a:buChar char="•"/>
              <a:defRPr/>
            </a:pPr>
            <a:endParaRPr lang="en-US" altLang="zh-CN" sz="1400" dirty="0"/>
          </a:p>
        </p:txBody>
      </p:sp>
    </p:spTree>
    <p:extLst>
      <p:ext uri="{BB962C8B-B14F-4D97-AF65-F5344CB8AC3E}">
        <p14:creationId xmlns:p14="http://schemas.microsoft.com/office/powerpoint/2010/main" val="1629246929"/>
      </p:ext>
    </p:extLst>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CN" smtClean="0"/>
              <a:t>semop</a:t>
            </a:r>
            <a:r>
              <a:rPr lang="zh-CN" altLang="en-US" smtClean="0"/>
              <a:t>的调用问题</a:t>
            </a:r>
          </a:p>
        </p:txBody>
      </p:sp>
      <p:sp>
        <p:nvSpPr>
          <p:cNvPr id="36867" name="Rectangle 3"/>
          <p:cNvSpPr>
            <a:spLocks noGrp="1" noChangeArrowheads="1"/>
          </p:cNvSpPr>
          <p:nvPr>
            <p:ph idx="1"/>
          </p:nvPr>
        </p:nvSpPr>
        <p:spPr>
          <a:xfrm>
            <a:off x="732693" y="1228725"/>
            <a:ext cx="9879622" cy="2344738"/>
          </a:xfrm>
        </p:spPr>
        <p:txBody>
          <a:bodyPr/>
          <a:lstStyle/>
          <a:p>
            <a:r>
              <a:rPr lang="en-US" altLang="zh-CN" sz="2400" dirty="0" err="1" smtClean="0"/>
              <a:t>semop</a:t>
            </a:r>
            <a:r>
              <a:rPr lang="zh-CN" altLang="en-US" sz="2400" dirty="0" smtClean="0"/>
              <a:t>采用复杂的信号灯集做参数</a:t>
            </a:r>
            <a:r>
              <a:rPr lang="en-US" altLang="zh-CN" sz="2400" dirty="0" smtClean="0"/>
              <a:t>,</a:t>
            </a:r>
            <a:r>
              <a:rPr lang="zh-CN" altLang="en-US" sz="2400" dirty="0" smtClean="0"/>
              <a:t>因此造成程序调用变得复杂</a:t>
            </a:r>
            <a:r>
              <a:rPr lang="en-US" altLang="zh-CN" sz="2400" dirty="0" smtClean="0"/>
              <a:t>.</a:t>
            </a:r>
          </a:p>
          <a:p>
            <a:r>
              <a:rPr lang="zh-CN" altLang="en-US" sz="2400" dirty="0" smtClean="0"/>
              <a:t>信号灯的值加</a:t>
            </a:r>
            <a:r>
              <a:rPr lang="en-US" altLang="zh-CN" sz="2400" dirty="0" smtClean="0"/>
              <a:t>1,</a:t>
            </a:r>
            <a:r>
              <a:rPr lang="zh-CN" altLang="en-US" sz="2400" dirty="0" smtClean="0"/>
              <a:t>或值减</a:t>
            </a:r>
            <a:r>
              <a:rPr lang="en-US" altLang="zh-CN" sz="2400" dirty="0" smtClean="0"/>
              <a:t>1</a:t>
            </a:r>
            <a:r>
              <a:rPr lang="zh-CN" altLang="en-US" sz="2400" dirty="0" smtClean="0"/>
              <a:t>都在</a:t>
            </a:r>
            <a:r>
              <a:rPr lang="en-US" altLang="zh-CN" sz="2400" dirty="0" err="1" smtClean="0"/>
              <a:t>semop</a:t>
            </a:r>
            <a:r>
              <a:rPr lang="zh-CN" altLang="en-US" sz="2400" dirty="0" smtClean="0"/>
              <a:t>完成</a:t>
            </a:r>
            <a:r>
              <a:rPr lang="en-US" altLang="zh-CN" sz="2400" dirty="0" smtClean="0"/>
              <a:t>,</a:t>
            </a:r>
            <a:r>
              <a:rPr lang="zh-CN" altLang="en-US" sz="2400" dirty="0" smtClean="0"/>
              <a:t>相当于加锁或解锁都是有一个函数完成</a:t>
            </a:r>
            <a:r>
              <a:rPr lang="en-US" altLang="zh-CN" sz="2400" dirty="0" smtClean="0"/>
              <a:t>,</a:t>
            </a:r>
            <a:r>
              <a:rPr lang="zh-CN" altLang="en-US" sz="2400" dirty="0" smtClean="0"/>
              <a:t>这也是与其它互质量等其它同步机制不一样的地方</a:t>
            </a:r>
          </a:p>
          <a:p>
            <a:r>
              <a:rPr lang="zh-CN" altLang="en-US" sz="2400" dirty="0" smtClean="0"/>
              <a:t>一般是将其封装成</a:t>
            </a:r>
            <a:r>
              <a:rPr lang="en-US" altLang="zh-CN" sz="2400" dirty="0" smtClean="0"/>
              <a:t>P,V</a:t>
            </a:r>
            <a:r>
              <a:rPr lang="zh-CN" altLang="en-US" sz="2400" dirty="0" smtClean="0"/>
              <a:t>原语的函数来操作</a:t>
            </a:r>
          </a:p>
        </p:txBody>
      </p:sp>
      <p:sp>
        <p:nvSpPr>
          <p:cNvPr id="238596" name="Text Box 4"/>
          <p:cNvSpPr txBox="1">
            <a:spLocks noChangeArrowheads="1"/>
          </p:cNvSpPr>
          <p:nvPr/>
        </p:nvSpPr>
        <p:spPr bwMode="auto">
          <a:xfrm>
            <a:off x="1847849" y="3001963"/>
            <a:ext cx="3889375" cy="3063875"/>
          </a:xfrm>
          <a:prstGeom prst="rect">
            <a:avLst/>
          </a:prstGeom>
          <a:solidFill>
            <a:srgbClr val="E1FFF7"/>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l" eaLnBrk="1" hangingPunct="1"/>
            <a:r>
              <a:rPr kumimoji="1" lang="en-US" altLang="zh-CN" sz="1600"/>
              <a:t>/* </a:t>
            </a:r>
            <a:r>
              <a:rPr kumimoji="1" lang="zh-CN" altLang="en-US" sz="1600"/>
              <a:t>申请资源</a:t>
            </a:r>
            <a:r>
              <a:rPr kumimoji="1" lang="en-US" altLang="zh-CN" sz="1600"/>
              <a:t>,</a:t>
            </a:r>
            <a:r>
              <a:rPr kumimoji="1" lang="zh-CN" altLang="en-US" sz="1600"/>
              <a:t>用</a:t>
            </a:r>
            <a:r>
              <a:rPr kumimoji="1" lang="en-US" altLang="zh-CN" sz="1600"/>
              <a:t>P</a:t>
            </a:r>
            <a:r>
              <a:rPr kumimoji="1" lang="zh-CN" altLang="en-US" sz="1600"/>
              <a:t>原语*</a:t>
            </a:r>
            <a:r>
              <a:rPr kumimoji="1" lang="en-US" altLang="zh-CN" sz="1600"/>
              <a:t>/</a:t>
            </a:r>
          </a:p>
          <a:p>
            <a:pPr algn="l" eaLnBrk="1" hangingPunct="1"/>
            <a:r>
              <a:rPr kumimoji="1" lang="en-US" altLang="zh-CN" sz="1600"/>
              <a:t>int semaphore_wait_p(int sem_id) {</a:t>
            </a:r>
          </a:p>
          <a:p>
            <a:pPr algn="l" eaLnBrk="1" hangingPunct="1"/>
            <a:r>
              <a:rPr kumimoji="1" lang="en-US" altLang="zh-CN" sz="1600"/>
              <a:t>struct sembuf sb;</a:t>
            </a:r>
          </a:p>
          <a:p>
            <a:pPr algn="l" eaLnBrk="1" hangingPunct="1"/>
            <a:r>
              <a:rPr kumimoji="1" lang="en-US" altLang="zh-CN" sz="1600"/>
              <a:t>sb.sem_num = 0;</a:t>
            </a:r>
          </a:p>
          <a:p>
            <a:pPr algn="l" eaLnBrk="1" hangingPunct="1"/>
            <a:r>
              <a:rPr kumimoji="1" lang="en-US" altLang="zh-CN" sz="1600">
                <a:solidFill>
                  <a:schemeClr val="accent2"/>
                </a:solidFill>
              </a:rPr>
              <a:t>sb.sem_op = -1;</a:t>
            </a:r>
          </a:p>
          <a:p>
            <a:pPr algn="l" eaLnBrk="1" hangingPunct="1"/>
            <a:r>
              <a:rPr kumimoji="1" lang="en-US" altLang="zh-CN" sz="1600"/>
              <a:t>sb.sem_flg = SEM_UNDO;</a:t>
            </a:r>
          </a:p>
          <a:p>
            <a:pPr algn="l" eaLnBrk="1" hangingPunct="1"/>
            <a:r>
              <a:rPr kumimoji="1" lang="en-US" altLang="zh-CN" sz="1600"/>
              <a:t>if (semop(sem_id, &amp;sb, 1) == -1) {</a:t>
            </a:r>
          </a:p>
          <a:p>
            <a:pPr algn="l" eaLnBrk="1" hangingPunct="1"/>
            <a:r>
              <a:rPr kumimoji="1" lang="en-US" altLang="zh-CN" sz="1600"/>
              <a:t>   fprintf(stderr, "semaphore_p failed\n");</a:t>
            </a:r>
          </a:p>
          <a:p>
            <a:pPr algn="l" eaLnBrk="1" hangingPunct="1"/>
            <a:r>
              <a:rPr kumimoji="1" lang="en-US" altLang="zh-CN" sz="1600"/>
              <a:t>		return (-1);</a:t>
            </a:r>
          </a:p>
          <a:p>
            <a:pPr algn="l" eaLnBrk="1" hangingPunct="1"/>
            <a:r>
              <a:rPr kumimoji="1" lang="en-US" altLang="zh-CN" sz="1600"/>
              <a:t>	}</a:t>
            </a:r>
          </a:p>
          <a:p>
            <a:pPr algn="l" eaLnBrk="1" hangingPunct="1"/>
            <a:r>
              <a:rPr kumimoji="1" lang="en-US" altLang="zh-CN" sz="1600"/>
              <a:t>	return 0;</a:t>
            </a:r>
          </a:p>
          <a:p>
            <a:pPr algn="l" eaLnBrk="1" hangingPunct="1"/>
            <a:r>
              <a:rPr kumimoji="1" lang="en-US" altLang="zh-CN" sz="1600"/>
              <a:t>}</a:t>
            </a:r>
          </a:p>
        </p:txBody>
      </p:sp>
      <p:sp>
        <p:nvSpPr>
          <p:cNvPr id="238597" name="Text Box 5"/>
          <p:cNvSpPr txBox="1">
            <a:spLocks noChangeArrowheads="1"/>
          </p:cNvSpPr>
          <p:nvPr/>
        </p:nvSpPr>
        <p:spPr bwMode="auto">
          <a:xfrm>
            <a:off x="6171223" y="3001962"/>
            <a:ext cx="3889375" cy="3063875"/>
          </a:xfrm>
          <a:prstGeom prst="rect">
            <a:avLst/>
          </a:prstGeom>
          <a:solidFill>
            <a:srgbClr val="E1FFF7"/>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l" eaLnBrk="1" hangingPunct="1"/>
            <a:r>
              <a:rPr kumimoji="1" lang="en-US" altLang="zh-CN" sz="1600" dirty="0"/>
              <a:t>/* </a:t>
            </a:r>
            <a:r>
              <a:rPr kumimoji="1" lang="zh-CN" altLang="en-US" sz="1600" dirty="0"/>
              <a:t>释放或分配资源用，用</a:t>
            </a:r>
            <a:r>
              <a:rPr kumimoji="1" lang="en-US" altLang="zh-CN" sz="1600" dirty="0"/>
              <a:t>V</a:t>
            </a:r>
            <a:r>
              <a:rPr kumimoji="1" lang="zh-CN" altLang="en-US" sz="1600" dirty="0"/>
              <a:t>原语 *</a:t>
            </a:r>
            <a:r>
              <a:rPr kumimoji="1" lang="en-US" altLang="zh-CN" sz="1600" dirty="0"/>
              <a:t>/</a:t>
            </a:r>
          </a:p>
          <a:p>
            <a:pPr algn="l" eaLnBrk="1" hangingPunct="1"/>
            <a:r>
              <a:rPr kumimoji="1" lang="en-US" altLang="zh-CN" sz="1600" dirty="0" err="1"/>
              <a:t>int</a:t>
            </a:r>
            <a:r>
              <a:rPr kumimoji="1" lang="en-US" altLang="zh-CN" sz="1600" dirty="0"/>
              <a:t> </a:t>
            </a:r>
            <a:r>
              <a:rPr kumimoji="1" lang="en-US" altLang="zh-CN" sz="1600" dirty="0" err="1"/>
              <a:t>semaphore_signal_v</a:t>
            </a:r>
            <a:r>
              <a:rPr kumimoji="1" lang="en-US" altLang="zh-CN" sz="1600" dirty="0"/>
              <a:t>(</a:t>
            </a:r>
            <a:r>
              <a:rPr kumimoji="1" lang="en-US" altLang="zh-CN" sz="1600" dirty="0" err="1"/>
              <a:t>int</a:t>
            </a:r>
            <a:r>
              <a:rPr kumimoji="1" lang="en-US" altLang="zh-CN" sz="1600" dirty="0"/>
              <a:t> </a:t>
            </a:r>
            <a:r>
              <a:rPr kumimoji="1" lang="en-US" altLang="zh-CN" sz="1600" dirty="0" err="1"/>
              <a:t>sem_id</a:t>
            </a:r>
            <a:r>
              <a:rPr kumimoji="1" lang="en-US" altLang="zh-CN" sz="1600" dirty="0"/>
              <a:t>) {</a:t>
            </a:r>
          </a:p>
          <a:p>
            <a:pPr algn="l" eaLnBrk="1" hangingPunct="1"/>
            <a:r>
              <a:rPr kumimoji="1" lang="en-US" altLang="zh-CN" sz="1600" dirty="0" err="1"/>
              <a:t>struct</a:t>
            </a:r>
            <a:r>
              <a:rPr kumimoji="1" lang="en-US" altLang="zh-CN" sz="1600" dirty="0"/>
              <a:t> </a:t>
            </a:r>
            <a:r>
              <a:rPr kumimoji="1" lang="en-US" altLang="zh-CN" sz="1600" dirty="0" err="1"/>
              <a:t>sembuf</a:t>
            </a:r>
            <a:r>
              <a:rPr kumimoji="1" lang="en-US" altLang="zh-CN" sz="1600" dirty="0"/>
              <a:t> </a:t>
            </a:r>
            <a:r>
              <a:rPr kumimoji="1" lang="en-US" altLang="zh-CN" sz="1600" dirty="0" err="1"/>
              <a:t>sb</a:t>
            </a:r>
            <a:r>
              <a:rPr kumimoji="1" lang="en-US" altLang="zh-CN" sz="1600" dirty="0"/>
              <a:t>;</a:t>
            </a:r>
          </a:p>
          <a:p>
            <a:pPr algn="l" eaLnBrk="1" hangingPunct="1"/>
            <a:r>
              <a:rPr kumimoji="1" lang="en-US" altLang="zh-CN" sz="1600" dirty="0" err="1"/>
              <a:t>sb.sem_num</a:t>
            </a:r>
            <a:r>
              <a:rPr kumimoji="1" lang="en-US" altLang="zh-CN" sz="1600" dirty="0"/>
              <a:t> = 0;</a:t>
            </a:r>
          </a:p>
          <a:p>
            <a:pPr algn="l" eaLnBrk="1" hangingPunct="1"/>
            <a:r>
              <a:rPr kumimoji="1" lang="en-US" altLang="zh-CN" sz="1600" dirty="0" err="1">
                <a:solidFill>
                  <a:schemeClr val="accent2"/>
                </a:solidFill>
              </a:rPr>
              <a:t>sb.sem_op</a:t>
            </a:r>
            <a:r>
              <a:rPr kumimoji="1" lang="en-US" altLang="zh-CN" sz="1600" dirty="0">
                <a:solidFill>
                  <a:schemeClr val="accent2"/>
                </a:solidFill>
              </a:rPr>
              <a:t> = 1;</a:t>
            </a:r>
          </a:p>
          <a:p>
            <a:pPr algn="l" eaLnBrk="1" hangingPunct="1"/>
            <a:r>
              <a:rPr kumimoji="1" lang="en-US" altLang="zh-CN" sz="1600" dirty="0" err="1"/>
              <a:t>sb.sem_flg</a:t>
            </a:r>
            <a:r>
              <a:rPr kumimoji="1" lang="en-US" altLang="zh-CN" sz="1600" dirty="0"/>
              <a:t> = SEM_UNDO;</a:t>
            </a:r>
          </a:p>
          <a:p>
            <a:pPr algn="l" eaLnBrk="1" hangingPunct="1"/>
            <a:r>
              <a:rPr kumimoji="1" lang="en-US" altLang="zh-CN" sz="1600" dirty="0"/>
              <a:t>if (</a:t>
            </a:r>
            <a:r>
              <a:rPr kumimoji="1" lang="en-US" altLang="zh-CN" sz="1600" dirty="0" err="1"/>
              <a:t>semop</a:t>
            </a:r>
            <a:r>
              <a:rPr kumimoji="1" lang="en-US" altLang="zh-CN" sz="1600" dirty="0"/>
              <a:t>(</a:t>
            </a:r>
            <a:r>
              <a:rPr kumimoji="1" lang="en-US" altLang="zh-CN" sz="1600" dirty="0" err="1"/>
              <a:t>sem_id</a:t>
            </a:r>
            <a:r>
              <a:rPr kumimoji="1" lang="en-US" altLang="zh-CN" sz="1600" dirty="0"/>
              <a:t>, &amp;</a:t>
            </a:r>
            <a:r>
              <a:rPr kumimoji="1" lang="en-US" altLang="zh-CN" sz="1600" dirty="0" err="1"/>
              <a:t>sb</a:t>
            </a:r>
            <a:r>
              <a:rPr kumimoji="1" lang="en-US" altLang="zh-CN" sz="1600" dirty="0"/>
              <a:t>, 1) == -1) {</a:t>
            </a:r>
          </a:p>
          <a:p>
            <a:pPr algn="l" eaLnBrk="1" hangingPunct="1"/>
            <a:r>
              <a:rPr kumimoji="1" lang="en-US" altLang="zh-CN" sz="1600" dirty="0"/>
              <a:t>   </a:t>
            </a:r>
            <a:r>
              <a:rPr kumimoji="1" lang="en-US" altLang="zh-CN" sz="1600" dirty="0" err="1"/>
              <a:t>fprintf</a:t>
            </a:r>
            <a:r>
              <a:rPr kumimoji="1" lang="en-US" altLang="zh-CN" sz="1600" dirty="0"/>
              <a:t>(</a:t>
            </a:r>
            <a:r>
              <a:rPr kumimoji="1" lang="en-US" altLang="zh-CN" sz="1600" dirty="0" err="1"/>
              <a:t>stderr</a:t>
            </a:r>
            <a:r>
              <a:rPr kumimoji="1" lang="en-US" altLang="zh-CN" sz="1600" dirty="0"/>
              <a:t>, "</a:t>
            </a:r>
            <a:r>
              <a:rPr kumimoji="1" lang="en-US" altLang="zh-CN" sz="1600" dirty="0" err="1"/>
              <a:t>semaphore_v</a:t>
            </a:r>
            <a:r>
              <a:rPr kumimoji="1" lang="en-US" altLang="zh-CN" sz="1600" dirty="0"/>
              <a:t> failed\n");</a:t>
            </a:r>
          </a:p>
          <a:p>
            <a:pPr algn="l" eaLnBrk="1" hangingPunct="1"/>
            <a:r>
              <a:rPr kumimoji="1" lang="en-US" altLang="zh-CN" sz="1600" dirty="0"/>
              <a:t>		return (-1);</a:t>
            </a:r>
          </a:p>
          <a:p>
            <a:pPr algn="l" eaLnBrk="1" hangingPunct="1"/>
            <a:r>
              <a:rPr kumimoji="1" lang="en-US" altLang="zh-CN" sz="1600" dirty="0"/>
              <a:t>	}</a:t>
            </a:r>
          </a:p>
          <a:p>
            <a:pPr algn="l" eaLnBrk="1" hangingPunct="1"/>
            <a:r>
              <a:rPr kumimoji="1" lang="en-US" altLang="zh-CN" sz="1600" dirty="0"/>
              <a:t>	return 0;</a:t>
            </a:r>
          </a:p>
          <a:p>
            <a:pPr algn="l" eaLnBrk="1" hangingPunct="1"/>
            <a:r>
              <a:rPr kumimoji="1" lang="en-US" altLang="zh-CN" sz="1600" dirty="0"/>
              <a:t>}</a:t>
            </a:r>
          </a:p>
        </p:txBody>
      </p:sp>
    </p:spTree>
    <p:extLst>
      <p:ext uri="{BB962C8B-B14F-4D97-AF65-F5344CB8AC3E}">
        <p14:creationId xmlns:p14="http://schemas.microsoft.com/office/powerpoint/2010/main" val="1411166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8596"/>
                                        </p:tgtEl>
                                        <p:attrNameLst>
                                          <p:attrName>style.visibility</p:attrName>
                                        </p:attrNameLst>
                                      </p:cBhvr>
                                      <p:to>
                                        <p:strVal val="visible"/>
                                      </p:to>
                                    </p:set>
                                    <p:animEffect transition="in" filter="box(out)">
                                      <p:cBhvr>
                                        <p:cTn id="7" dur="500"/>
                                        <p:tgtEl>
                                          <p:spTgt spid="23859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38597"/>
                                        </p:tgtEl>
                                        <p:attrNameLst>
                                          <p:attrName>style.visibility</p:attrName>
                                        </p:attrNameLst>
                                      </p:cBhvr>
                                      <p:to>
                                        <p:strVal val="visible"/>
                                      </p:to>
                                    </p:set>
                                    <p:animEffect transition="in" filter="box(out)">
                                      <p:cBhvr>
                                        <p:cTn id="12" dur="500"/>
                                        <p:tgtEl>
                                          <p:spTgt spid="23859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6" grpId="0" animBg="1" autoUpdateAnimBg="0"/>
      <p:bldP spid="238597" grpId="0" animBg="1" autoUpdateAnimBg="0"/>
    </p:bld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smtClean="0"/>
              <a:t>semctl</a:t>
            </a:r>
            <a:r>
              <a:rPr lang="zh-CN" altLang="en-US" smtClean="0"/>
              <a:t>函数 </a:t>
            </a:r>
          </a:p>
        </p:txBody>
      </p:sp>
      <p:sp>
        <p:nvSpPr>
          <p:cNvPr id="239619"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2000"/>
              <a:t>#include &lt;sys/sem.h&gt;</a:t>
            </a:r>
          </a:p>
          <a:p>
            <a:pPr fontAlgn="auto">
              <a:lnSpc>
                <a:spcPct val="80000"/>
              </a:lnSpc>
              <a:spcAft>
                <a:spcPts val="0"/>
              </a:spcAft>
              <a:buFont typeface="Arial" panose="020B0604020202020204" pitchFamily="34" charset="0"/>
              <a:buChar char="•"/>
              <a:defRPr/>
            </a:pPr>
            <a:r>
              <a:rPr lang="en-US" altLang="zh-CN" sz="2000"/>
              <a:t>int semctl(int semid, int semnum, int cmd, </a:t>
            </a:r>
            <a:r>
              <a:rPr lang="en-US" altLang="zh-CN" sz="2000">
                <a:latin typeface="Arial" panose="020B0604020202020204" pitchFamily="34" charset="0"/>
              </a:rPr>
              <a:t>…</a:t>
            </a:r>
            <a:r>
              <a:rPr lang="en-US" altLang="zh-CN" sz="2000"/>
              <a:t>/* union arg */);</a:t>
            </a:r>
          </a:p>
          <a:p>
            <a:pPr fontAlgn="auto">
              <a:lnSpc>
                <a:spcPct val="80000"/>
              </a:lnSpc>
              <a:spcAft>
                <a:spcPts val="0"/>
              </a:spcAft>
              <a:buFont typeface="Arial" panose="020B0604020202020204" pitchFamily="34" charset="0"/>
              <a:buChar char="•"/>
              <a:defRPr/>
            </a:pPr>
            <a:r>
              <a:rPr lang="zh-CN" altLang="en-US" sz="2000"/>
              <a:t>返回：成功时为非负值，出错时为</a:t>
            </a:r>
            <a:r>
              <a:rPr lang="en-US" altLang="zh-CN" sz="2000"/>
              <a:t>-1</a:t>
            </a:r>
          </a:p>
          <a:p>
            <a:pPr fontAlgn="auto">
              <a:lnSpc>
                <a:spcPct val="80000"/>
              </a:lnSpc>
              <a:spcAft>
                <a:spcPts val="0"/>
              </a:spcAft>
              <a:buFont typeface="Arial" panose="020B0604020202020204" pitchFamily="34" charset="0"/>
              <a:buChar char="•"/>
              <a:defRPr/>
            </a:pPr>
            <a:r>
              <a:rPr lang="zh-CN" altLang="en-US" sz="2000"/>
              <a:t>对一个信号灯执行各种控制操作。</a:t>
            </a:r>
          </a:p>
          <a:p>
            <a:pPr fontAlgn="auto">
              <a:lnSpc>
                <a:spcPct val="80000"/>
              </a:lnSpc>
              <a:spcAft>
                <a:spcPts val="0"/>
              </a:spcAft>
              <a:buFont typeface="Arial" panose="020B0604020202020204" pitchFamily="34" charset="0"/>
              <a:buChar char="•"/>
              <a:defRPr/>
            </a:pPr>
            <a:r>
              <a:rPr lang="en-US" altLang="zh-CN" sz="2000"/>
              <a:t>semnum</a:t>
            </a:r>
            <a:r>
              <a:rPr lang="zh-CN" altLang="en-US" sz="2000"/>
              <a:t>标识某个信号灯，</a:t>
            </a:r>
            <a:r>
              <a:rPr lang="en-US" altLang="zh-CN" sz="2000"/>
              <a:t>semnum</a:t>
            </a:r>
            <a:r>
              <a:rPr lang="zh-CN" altLang="en-US" sz="2000"/>
              <a:t>仅仅用于</a:t>
            </a:r>
            <a:r>
              <a:rPr lang="en-US" altLang="zh-CN" sz="2000"/>
              <a:t>GETVAL</a:t>
            </a:r>
            <a:r>
              <a:rPr lang="zh-CN" altLang="en-US" sz="2000"/>
              <a:t>、</a:t>
            </a:r>
            <a:r>
              <a:rPr lang="en-US" altLang="zh-CN" sz="2000"/>
              <a:t>SETVAL</a:t>
            </a:r>
            <a:r>
              <a:rPr lang="zh-CN" altLang="en-US" sz="2000"/>
              <a:t>、</a:t>
            </a:r>
            <a:r>
              <a:rPr lang="en-US" altLang="zh-CN" sz="2000"/>
              <a:t>GETNCNT</a:t>
            </a:r>
            <a:r>
              <a:rPr lang="zh-CN" altLang="en-US" sz="2000"/>
              <a:t>、</a:t>
            </a:r>
            <a:r>
              <a:rPr lang="en-US" altLang="zh-CN" sz="2000"/>
              <a:t>GETZCNT</a:t>
            </a:r>
            <a:r>
              <a:rPr lang="zh-CN" altLang="en-US" sz="2000"/>
              <a:t>和</a:t>
            </a:r>
            <a:r>
              <a:rPr lang="en-US" altLang="zh-CN" sz="2000"/>
              <a:t>GETPID</a:t>
            </a:r>
            <a:r>
              <a:rPr lang="zh-CN" altLang="en-US" sz="2000"/>
              <a:t>命令。</a:t>
            </a:r>
          </a:p>
          <a:p>
            <a:pPr fontAlgn="auto">
              <a:lnSpc>
                <a:spcPct val="80000"/>
              </a:lnSpc>
              <a:spcAft>
                <a:spcPts val="0"/>
              </a:spcAft>
              <a:buFont typeface="Arial" panose="020B0604020202020204" pitchFamily="34" charset="0"/>
              <a:buChar char="•"/>
              <a:defRPr/>
            </a:pPr>
            <a:endParaRPr lang="zh-CN" altLang="en-US" sz="2000"/>
          </a:p>
          <a:p>
            <a:pPr fontAlgn="auto">
              <a:lnSpc>
                <a:spcPct val="80000"/>
              </a:lnSpc>
              <a:spcAft>
                <a:spcPts val="0"/>
              </a:spcAft>
              <a:buFont typeface="Arial" panose="020B0604020202020204" pitchFamily="34" charset="0"/>
              <a:buChar char="•"/>
              <a:defRPr/>
            </a:pPr>
            <a:r>
              <a:rPr lang="zh-CN" altLang="en-US" sz="2000"/>
              <a:t>第四个参数是可选的，它依赖于第三个参数</a:t>
            </a:r>
            <a:r>
              <a:rPr lang="en-US" altLang="zh-CN" sz="2000"/>
              <a:t>cmd</a:t>
            </a:r>
            <a:r>
              <a:rPr lang="zh-CN" altLang="en-US" sz="2000"/>
              <a:t>。它是一个联合：</a:t>
            </a:r>
          </a:p>
          <a:p>
            <a:pPr lvl="1" fontAlgn="auto">
              <a:lnSpc>
                <a:spcPct val="80000"/>
              </a:lnSpc>
              <a:spcAft>
                <a:spcPts val="0"/>
              </a:spcAft>
              <a:buFont typeface="Arial" panose="020B0604020202020204" pitchFamily="34" charset="0"/>
              <a:buChar char="•"/>
              <a:defRPr/>
            </a:pPr>
            <a:r>
              <a:rPr lang="en-US" altLang="zh-CN" sz="1800"/>
              <a:t>union semun {</a:t>
            </a:r>
          </a:p>
          <a:p>
            <a:pPr lvl="1" fontAlgn="auto">
              <a:lnSpc>
                <a:spcPct val="80000"/>
              </a:lnSpc>
              <a:spcAft>
                <a:spcPts val="0"/>
              </a:spcAft>
              <a:buFont typeface="Arial" panose="020B0604020202020204" pitchFamily="34" charset="0"/>
              <a:buChar char="•"/>
              <a:defRPr/>
            </a:pPr>
            <a:r>
              <a:rPr lang="en-US" altLang="zh-CN" sz="1800"/>
              <a:t>    int val; /* used for SETVAL only */</a:t>
            </a:r>
          </a:p>
          <a:p>
            <a:pPr lvl="1" fontAlgn="auto">
              <a:lnSpc>
                <a:spcPct val="80000"/>
              </a:lnSpc>
              <a:spcAft>
                <a:spcPts val="0"/>
              </a:spcAft>
              <a:buFont typeface="Arial" panose="020B0604020202020204" pitchFamily="34" charset="0"/>
              <a:buChar char="•"/>
              <a:defRPr/>
            </a:pPr>
            <a:r>
              <a:rPr lang="en-US" altLang="zh-CN" sz="1800"/>
              <a:t>    struct semid_ds *buf; /* used fro IPC_SET and IPC_STAT */</a:t>
            </a:r>
          </a:p>
          <a:p>
            <a:pPr lvl="1" fontAlgn="auto">
              <a:lnSpc>
                <a:spcPct val="80000"/>
              </a:lnSpc>
              <a:spcAft>
                <a:spcPts val="0"/>
              </a:spcAft>
              <a:buFont typeface="Arial" panose="020B0604020202020204" pitchFamily="34" charset="0"/>
              <a:buChar char="•"/>
              <a:defRPr/>
            </a:pPr>
            <a:r>
              <a:rPr lang="en-US" altLang="zh-CN" sz="1800"/>
              <a:t>    ushort *array; /* used for GETALL and SETALL */</a:t>
            </a:r>
          </a:p>
          <a:p>
            <a:pPr lvl="1" fontAlgn="auto">
              <a:lnSpc>
                <a:spcPct val="80000"/>
              </a:lnSpc>
              <a:spcAft>
                <a:spcPts val="0"/>
              </a:spcAft>
              <a:buFont typeface="Arial" panose="020B0604020202020204" pitchFamily="34" charset="0"/>
              <a:buChar char="•"/>
              <a:defRPr/>
            </a:pPr>
            <a:r>
              <a:rPr lang="en-US" altLang="zh-CN" sz="1800"/>
              <a:t>};</a:t>
            </a:r>
          </a:p>
          <a:p>
            <a:pPr fontAlgn="auto">
              <a:lnSpc>
                <a:spcPct val="80000"/>
              </a:lnSpc>
              <a:spcAft>
                <a:spcPts val="0"/>
              </a:spcAft>
              <a:buFont typeface="Arial" panose="020B0604020202020204" pitchFamily="34" charset="0"/>
              <a:buChar char="•"/>
              <a:defRPr/>
            </a:pPr>
            <a:r>
              <a:rPr lang="zh-CN" altLang="en-US" sz="2000"/>
              <a:t>该联合没有出现在任何系统头文件中，由应用程序声明。而且它是以值传递的，而不是以引用传递的。</a:t>
            </a:r>
          </a:p>
          <a:p>
            <a:pPr fontAlgn="auto">
              <a:lnSpc>
                <a:spcPct val="80000"/>
              </a:lnSpc>
              <a:spcAft>
                <a:spcPts val="0"/>
              </a:spcAft>
              <a:buFont typeface="Arial" panose="020B0604020202020204" pitchFamily="34" charset="0"/>
              <a:buChar char="•"/>
              <a:defRPr/>
            </a:pPr>
            <a:endParaRPr lang="en-US" altLang="zh-CN" sz="2000"/>
          </a:p>
        </p:txBody>
      </p:sp>
    </p:spTree>
    <p:extLst>
      <p:ext uri="{BB962C8B-B14F-4D97-AF65-F5344CB8AC3E}">
        <p14:creationId xmlns:p14="http://schemas.microsoft.com/office/powerpoint/2010/main" val="4130644423"/>
      </p:ext>
    </p:extLst>
  </p:cSld>
  <p:clrMapOvr>
    <a:masterClrMapping/>
  </p:clrMapOvr>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smtClean="0"/>
              <a:t>semop</a:t>
            </a:r>
            <a:r>
              <a:rPr lang="zh-CN" altLang="en-US" smtClean="0"/>
              <a:t>命令选项</a:t>
            </a:r>
          </a:p>
        </p:txBody>
      </p:sp>
      <p:sp>
        <p:nvSpPr>
          <p:cNvPr id="240643"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1800"/>
              <a:t>GETVAL</a:t>
            </a:r>
            <a:r>
              <a:rPr lang="zh-CN" altLang="en-US" sz="1800"/>
              <a:t>：把</a:t>
            </a:r>
            <a:r>
              <a:rPr lang="en-US" altLang="zh-CN" sz="1800"/>
              <a:t>semval</a:t>
            </a:r>
            <a:r>
              <a:rPr lang="zh-CN" altLang="en-US" sz="1800"/>
              <a:t>的当前值作为函数返回值返回。 </a:t>
            </a:r>
          </a:p>
          <a:p>
            <a:pPr fontAlgn="auto">
              <a:lnSpc>
                <a:spcPct val="80000"/>
              </a:lnSpc>
              <a:spcAft>
                <a:spcPts val="0"/>
              </a:spcAft>
              <a:buFont typeface="Arial" panose="020B0604020202020204" pitchFamily="34" charset="0"/>
              <a:buChar char="•"/>
              <a:defRPr/>
            </a:pPr>
            <a:r>
              <a:rPr lang="en-US" altLang="zh-CN" sz="1800"/>
              <a:t>SETVAL</a:t>
            </a:r>
            <a:r>
              <a:rPr lang="zh-CN" altLang="en-US" sz="1800"/>
              <a:t>：把</a:t>
            </a:r>
            <a:r>
              <a:rPr lang="en-US" altLang="zh-CN" sz="1800"/>
              <a:t>semval</a:t>
            </a:r>
            <a:r>
              <a:rPr lang="zh-CN" altLang="en-US" sz="1800"/>
              <a:t>设置为</a:t>
            </a:r>
            <a:r>
              <a:rPr lang="en-US" altLang="zh-CN" sz="1800"/>
              <a:t>arg.val</a:t>
            </a:r>
            <a:r>
              <a:rPr lang="zh-CN" altLang="en-US" sz="1800"/>
              <a:t>。如果操作成功，那么相应信号灯在所在进程中的调整值</a:t>
            </a:r>
            <a:r>
              <a:rPr lang="en-US" altLang="zh-CN" sz="1800"/>
              <a:t>(semadj)</a:t>
            </a:r>
            <a:r>
              <a:rPr lang="zh-CN" altLang="en-US" sz="1800"/>
              <a:t>将被置为</a:t>
            </a:r>
            <a:r>
              <a:rPr lang="en-US" altLang="zh-CN" sz="1800"/>
              <a:t>0</a:t>
            </a:r>
            <a:r>
              <a:rPr lang="zh-CN" altLang="en-US" sz="1800"/>
              <a:t>。 </a:t>
            </a:r>
          </a:p>
          <a:p>
            <a:pPr fontAlgn="auto">
              <a:lnSpc>
                <a:spcPct val="80000"/>
              </a:lnSpc>
              <a:spcAft>
                <a:spcPts val="0"/>
              </a:spcAft>
              <a:buFont typeface="Arial" panose="020B0604020202020204" pitchFamily="34" charset="0"/>
              <a:buChar char="•"/>
              <a:defRPr/>
            </a:pPr>
            <a:r>
              <a:rPr lang="en-US" altLang="zh-CN" sz="1800"/>
              <a:t>GETPID</a:t>
            </a:r>
            <a:r>
              <a:rPr lang="zh-CN" altLang="en-US" sz="1800"/>
              <a:t>：把</a:t>
            </a:r>
            <a:r>
              <a:rPr lang="en-US" altLang="zh-CN" sz="1800"/>
              <a:t>sempid</a:t>
            </a:r>
            <a:r>
              <a:rPr lang="zh-CN" altLang="en-US" sz="1800"/>
              <a:t>的当前值作为函数值返回。 </a:t>
            </a:r>
          </a:p>
          <a:p>
            <a:pPr fontAlgn="auto">
              <a:lnSpc>
                <a:spcPct val="80000"/>
              </a:lnSpc>
              <a:spcAft>
                <a:spcPts val="0"/>
              </a:spcAft>
              <a:buFont typeface="Arial" panose="020B0604020202020204" pitchFamily="34" charset="0"/>
              <a:buChar char="•"/>
              <a:defRPr/>
            </a:pPr>
            <a:r>
              <a:rPr lang="en-US" altLang="zh-CN" sz="1800"/>
              <a:t>GETNCNT</a:t>
            </a:r>
            <a:r>
              <a:rPr lang="zh-CN" altLang="en-US" sz="1800"/>
              <a:t>：把</a:t>
            </a:r>
            <a:r>
              <a:rPr lang="en-US" altLang="zh-CN" sz="1800"/>
              <a:t>semncnt</a:t>
            </a:r>
            <a:r>
              <a:rPr lang="zh-CN" altLang="en-US" sz="1800"/>
              <a:t>的当前值作为函数值返回。 </a:t>
            </a:r>
          </a:p>
          <a:p>
            <a:pPr fontAlgn="auto">
              <a:lnSpc>
                <a:spcPct val="80000"/>
              </a:lnSpc>
              <a:spcAft>
                <a:spcPts val="0"/>
              </a:spcAft>
              <a:buFont typeface="Arial" panose="020B0604020202020204" pitchFamily="34" charset="0"/>
              <a:buChar char="•"/>
              <a:defRPr/>
            </a:pPr>
            <a:r>
              <a:rPr lang="en-US" altLang="zh-CN" sz="1800"/>
              <a:t>GETZCNT</a:t>
            </a:r>
            <a:r>
              <a:rPr lang="zh-CN" altLang="en-US" sz="1800"/>
              <a:t>：把</a:t>
            </a:r>
            <a:r>
              <a:rPr lang="en-US" altLang="zh-CN" sz="1800"/>
              <a:t>semzcnt</a:t>
            </a:r>
            <a:r>
              <a:rPr lang="zh-CN" altLang="en-US" sz="1800"/>
              <a:t>的当前值作为函数值返回。 </a:t>
            </a:r>
          </a:p>
          <a:p>
            <a:pPr fontAlgn="auto">
              <a:lnSpc>
                <a:spcPct val="80000"/>
              </a:lnSpc>
              <a:spcAft>
                <a:spcPts val="0"/>
              </a:spcAft>
              <a:buFont typeface="Arial" panose="020B0604020202020204" pitchFamily="34" charset="0"/>
              <a:buChar char="•"/>
              <a:defRPr/>
            </a:pPr>
            <a:r>
              <a:rPr lang="en-US" altLang="zh-CN" sz="1800"/>
              <a:t>GETALL</a:t>
            </a:r>
            <a:r>
              <a:rPr lang="zh-CN" altLang="en-US" sz="1800"/>
              <a:t>：返回所指定信号灯集的每个成员的</a:t>
            </a:r>
            <a:r>
              <a:rPr lang="en-US" altLang="zh-CN" sz="1800"/>
              <a:t>semval</a:t>
            </a:r>
            <a:r>
              <a:rPr lang="zh-CN" altLang="en-US" sz="1800"/>
              <a:t>值。这些值通过</a:t>
            </a:r>
            <a:r>
              <a:rPr lang="en-US" altLang="zh-CN" sz="1800"/>
              <a:t>arg.array</a:t>
            </a:r>
            <a:r>
              <a:rPr lang="zh-CN" altLang="en-US" sz="1800"/>
              <a:t>指针返回。函数本身返回值为</a:t>
            </a:r>
            <a:r>
              <a:rPr lang="en-US" altLang="zh-CN" sz="1800"/>
              <a:t>0</a:t>
            </a:r>
            <a:r>
              <a:rPr lang="zh-CN" altLang="en-US" sz="1800"/>
              <a:t>。注意，调用者必须分配足够容纳所指定信号灯集中所有成员的</a:t>
            </a:r>
            <a:r>
              <a:rPr lang="en-US" altLang="zh-CN" sz="1800"/>
              <a:t>semval</a:t>
            </a:r>
            <a:r>
              <a:rPr lang="zh-CN" altLang="en-US" sz="1800"/>
              <a:t>值的一个</a:t>
            </a:r>
            <a:r>
              <a:rPr lang="en-US" altLang="zh-CN" sz="1800"/>
              <a:t>unsigned short</a:t>
            </a:r>
            <a:r>
              <a:rPr lang="zh-CN" altLang="en-US" sz="1800"/>
              <a:t>整数数组，然后把</a:t>
            </a:r>
            <a:r>
              <a:rPr lang="en-US" altLang="zh-CN" sz="1800"/>
              <a:t>arg.array</a:t>
            </a:r>
            <a:r>
              <a:rPr lang="zh-CN" altLang="en-US" sz="1800"/>
              <a:t>设置成指向这个数组。 </a:t>
            </a:r>
          </a:p>
          <a:p>
            <a:pPr fontAlgn="auto">
              <a:lnSpc>
                <a:spcPct val="80000"/>
              </a:lnSpc>
              <a:spcAft>
                <a:spcPts val="0"/>
              </a:spcAft>
              <a:buFont typeface="Arial" panose="020B0604020202020204" pitchFamily="34" charset="0"/>
              <a:buChar char="•"/>
              <a:defRPr/>
            </a:pPr>
            <a:r>
              <a:rPr lang="en-US" altLang="zh-CN" sz="1800"/>
              <a:t>SETALL</a:t>
            </a:r>
            <a:r>
              <a:rPr lang="zh-CN" altLang="en-US" sz="1800"/>
              <a:t>：设置所指定信号灯集中每个成员的</a:t>
            </a:r>
            <a:r>
              <a:rPr lang="en-US" altLang="zh-CN" sz="1800"/>
              <a:t>semval</a:t>
            </a:r>
            <a:r>
              <a:rPr lang="zh-CN" altLang="en-US" sz="1800"/>
              <a:t>值。这些值通过</a:t>
            </a:r>
            <a:r>
              <a:rPr lang="en-US" altLang="zh-CN" sz="1800"/>
              <a:t>arg.array</a:t>
            </a:r>
            <a:r>
              <a:rPr lang="zh-CN" altLang="en-US" sz="1800"/>
              <a:t>数组指定。 </a:t>
            </a:r>
          </a:p>
          <a:p>
            <a:pPr fontAlgn="auto">
              <a:lnSpc>
                <a:spcPct val="80000"/>
              </a:lnSpc>
              <a:spcAft>
                <a:spcPts val="0"/>
              </a:spcAft>
              <a:buFont typeface="Arial" panose="020B0604020202020204" pitchFamily="34" charset="0"/>
              <a:buChar char="•"/>
              <a:defRPr/>
            </a:pPr>
            <a:r>
              <a:rPr lang="en-US" altLang="zh-CN" sz="1800"/>
              <a:t>IPC_RMID</a:t>
            </a:r>
            <a:r>
              <a:rPr lang="zh-CN" altLang="en-US" sz="1800"/>
              <a:t>：把由</a:t>
            </a:r>
            <a:r>
              <a:rPr lang="en-US" altLang="zh-CN" sz="1800"/>
              <a:t>semid</a:t>
            </a:r>
            <a:r>
              <a:rPr lang="zh-CN" altLang="en-US" sz="1800"/>
              <a:t>指定的信号灯集从系统中删除。 </a:t>
            </a:r>
          </a:p>
          <a:p>
            <a:pPr fontAlgn="auto">
              <a:lnSpc>
                <a:spcPct val="80000"/>
              </a:lnSpc>
              <a:spcAft>
                <a:spcPts val="0"/>
              </a:spcAft>
              <a:buFont typeface="Arial" panose="020B0604020202020204" pitchFamily="34" charset="0"/>
              <a:buChar char="•"/>
              <a:defRPr/>
            </a:pPr>
            <a:r>
              <a:rPr lang="en-US" altLang="zh-CN" sz="1800"/>
              <a:t>IPC_SET</a:t>
            </a:r>
            <a:r>
              <a:rPr lang="zh-CN" altLang="en-US" sz="1800"/>
              <a:t>：设置</a:t>
            </a:r>
            <a:r>
              <a:rPr lang="en-US" altLang="zh-CN" sz="1800"/>
              <a:t>semid_ds</a:t>
            </a:r>
            <a:r>
              <a:rPr lang="zh-CN" altLang="en-US" sz="1800"/>
              <a:t>结构中的以下三个成员：</a:t>
            </a:r>
            <a:r>
              <a:rPr lang="en-US" altLang="zh-CN" sz="1800"/>
              <a:t>sem_perm.uid</a:t>
            </a:r>
            <a:r>
              <a:rPr lang="zh-CN" altLang="en-US" sz="1800"/>
              <a:t>、</a:t>
            </a:r>
            <a:r>
              <a:rPr lang="en-US" altLang="zh-CN" sz="1800"/>
              <a:t>sem_perm.gid</a:t>
            </a:r>
            <a:r>
              <a:rPr lang="zh-CN" altLang="en-US" sz="1800"/>
              <a:t>和</a:t>
            </a:r>
            <a:r>
              <a:rPr lang="en-US" altLang="zh-CN" sz="1800"/>
              <a:t>sem_perm.mode</a:t>
            </a:r>
            <a:r>
              <a:rPr lang="zh-CN" altLang="en-US" sz="1800"/>
              <a:t>。这些值来自由</a:t>
            </a:r>
            <a:r>
              <a:rPr lang="en-US" altLang="zh-CN" sz="1800"/>
              <a:t>arg.buf</a:t>
            </a:r>
            <a:r>
              <a:rPr lang="zh-CN" altLang="en-US" sz="1800"/>
              <a:t>参数指向的结构中相应成员。</a:t>
            </a:r>
            <a:r>
              <a:rPr lang="en-US" altLang="zh-CN" sz="1800"/>
              <a:t>semid_ds</a:t>
            </a:r>
            <a:r>
              <a:rPr lang="zh-CN" altLang="en-US" sz="1800"/>
              <a:t>中的</a:t>
            </a:r>
            <a:r>
              <a:rPr lang="en-US" altLang="zh-CN" sz="1800"/>
              <a:t>sem_ctime</a:t>
            </a:r>
            <a:r>
              <a:rPr lang="zh-CN" altLang="en-US" sz="1800"/>
              <a:t>成员也被设置为当前值。 </a:t>
            </a:r>
          </a:p>
          <a:p>
            <a:pPr fontAlgn="auto">
              <a:lnSpc>
                <a:spcPct val="80000"/>
              </a:lnSpc>
              <a:spcAft>
                <a:spcPts val="0"/>
              </a:spcAft>
              <a:buFont typeface="Arial" panose="020B0604020202020204" pitchFamily="34" charset="0"/>
              <a:buChar char="•"/>
              <a:defRPr/>
            </a:pPr>
            <a:r>
              <a:rPr lang="en-US" altLang="zh-CN" sz="1800"/>
              <a:t>IPC_STAT</a:t>
            </a:r>
            <a:r>
              <a:rPr lang="zh-CN" altLang="en-US" sz="1800"/>
              <a:t>：通过</a:t>
            </a:r>
            <a:r>
              <a:rPr lang="en-US" altLang="zh-CN" sz="1800"/>
              <a:t>arg.buf</a:t>
            </a:r>
            <a:r>
              <a:rPr lang="zh-CN" altLang="en-US" sz="1800"/>
              <a:t>参数返回当前的</a:t>
            </a:r>
            <a:r>
              <a:rPr lang="en-US" altLang="zh-CN" sz="1800"/>
              <a:t>semid_ds</a:t>
            </a:r>
            <a:r>
              <a:rPr lang="zh-CN" altLang="en-US" sz="1800"/>
              <a:t>结构。注意，调用者必须首先分配一个</a:t>
            </a:r>
            <a:r>
              <a:rPr lang="en-US" altLang="zh-CN" sz="1800"/>
              <a:t>semid_ds</a:t>
            </a:r>
            <a:r>
              <a:rPr lang="zh-CN" altLang="en-US" sz="1800"/>
              <a:t>结构，并把</a:t>
            </a:r>
            <a:r>
              <a:rPr lang="en-US" altLang="zh-CN" sz="1800"/>
              <a:t>arg.buf</a:t>
            </a:r>
            <a:r>
              <a:rPr lang="zh-CN" altLang="en-US" sz="1800"/>
              <a:t>设置为指向这个结构。</a:t>
            </a:r>
          </a:p>
        </p:txBody>
      </p:sp>
    </p:spTree>
    <p:extLst>
      <p:ext uri="{BB962C8B-B14F-4D97-AF65-F5344CB8AC3E}">
        <p14:creationId xmlns:p14="http://schemas.microsoft.com/office/powerpoint/2010/main" val="2044764880"/>
      </p:ext>
    </p:extLst>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WordArt 3"/>
          <p:cNvSpPr>
            <a:spLocks noChangeArrowheads="1" noChangeShapeType="1" noTextEdit="1"/>
          </p:cNvSpPr>
          <p:nvPr/>
        </p:nvSpPr>
        <p:spPr bwMode="auto">
          <a:xfrm>
            <a:off x="3647728" y="2636912"/>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System V </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共享内存</a:t>
            </a:r>
          </a:p>
        </p:txBody>
      </p:sp>
    </p:spTree>
    <p:extLst>
      <p:ext uri="{BB962C8B-B14F-4D97-AF65-F5344CB8AC3E}">
        <p14:creationId xmlns:p14="http://schemas.microsoft.com/office/powerpoint/2010/main" val="2640929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41667"/>
                                        </p:tgtEl>
                                        <p:attrNameLst>
                                          <p:attrName>style.visibility</p:attrName>
                                        </p:attrNameLst>
                                      </p:cBhvr>
                                      <p:to>
                                        <p:strVal val="visible"/>
                                      </p:to>
                                    </p:set>
                                    <p:anim calcmode="lin" valueType="num">
                                      <p:cBhvr>
                                        <p:cTn id="7" dur="500" fill="hold"/>
                                        <p:tgtEl>
                                          <p:spTgt spid="241667"/>
                                        </p:tgtEl>
                                        <p:attrNameLst>
                                          <p:attrName>ppt_w</p:attrName>
                                        </p:attrNameLst>
                                      </p:cBhvr>
                                      <p:tavLst>
                                        <p:tav tm="0">
                                          <p:val>
                                            <p:fltVal val="0"/>
                                          </p:val>
                                        </p:tav>
                                        <p:tav tm="100000">
                                          <p:val>
                                            <p:strVal val="#ppt_w"/>
                                          </p:val>
                                        </p:tav>
                                      </p:tavLst>
                                    </p:anim>
                                    <p:anim calcmode="lin" valueType="num">
                                      <p:cBhvr>
                                        <p:cTn id="8" dur="500" fill="hold"/>
                                        <p:tgtEl>
                                          <p:spTgt spid="241667"/>
                                        </p:tgtEl>
                                        <p:attrNameLst>
                                          <p:attrName>ppt_h</p:attrName>
                                        </p:attrNameLst>
                                      </p:cBhvr>
                                      <p:tavLst>
                                        <p:tav tm="0">
                                          <p:val>
                                            <p:fltVal val="0"/>
                                          </p:val>
                                        </p:tav>
                                        <p:tav tm="100000">
                                          <p:val>
                                            <p:strVal val="#ppt_h"/>
                                          </p:val>
                                        </p:tav>
                                      </p:tavLst>
                                    </p:anim>
                                    <p:animEffect transition="in" filter="fade">
                                      <p:cBhvr>
                                        <p:cTn id="9" dur="500"/>
                                        <p:tgtEl>
                                          <p:spTgt spid="241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共享内存数据表示</a:t>
            </a:r>
          </a:p>
        </p:txBody>
      </p:sp>
      <p:sp>
        <p:nvSpPr>
          <p:cNvPr id="40963" name="Rectangle 3"/>
          <p:cNvSpPr>
            <a:spLocks noGrp="1" noChangeArrowheads="1"/>
          </p:cNvSpPr>
          <p:nvPr>
            <p:ph idx="1"/>
          </p:nvPr>
        </p:nvSpPr>
        <p:spPr/>
        <p:txBody>
          <a:bodyPr/>
          <a:lstStyle/>
          <a:p>
            <a:pPr>
              <a:lnSpc>
                <a:spcPct val="80000"/>
              </a:lnSpc>
            </a:pPr>
            <a:r>
              <a:rPr lang="zh-CN" altLang="en-US" sz="2400" smtClean="0"/>
              <a:t>对于每个</a:t>
            </a:r>
            <a:r>
              <a:rPr lang="en-US" altLang="zh-CN" sz="2400" smtClean="0"/>
              <a:t>System V</a:t>
            </a:r>
            <a:r>
              <a:rPr lang="zh-CN" altLang="en-US" sz="2400" smtClean="0"/>
              <a:t>共享内存区，内核维护如下的信息结构：</a:t>
            </a:r>
          </a:p>
          <a:p>
            <a:pPr>
              <a:lnSpc>
                <a:spcPct val="80000"/>
              </a:lnSpc>
            </a:pPr>
            <a:endParaRPr lang="zh-CN" altLang="en-US" sz="2400" smtClean="0"/>
          </a:p>
          <a:p>
            <a:pPr lvl="1">
              <a:lnSpc>
                <a:spcPct val="80000"/>
              </a:lnSpc>
            </a:pPr>
            <a:r>
              <a:rPr lang="en-US" altLang="zh-CN" sz="2000" smtClean="0"/>
              <a:t>struct shmid_ds {</a:t>
            </a:r>
          </a:p>
          <a:p>
            <a:pPr lvl="1">
              <a:lnSpc>
                <a:spcPct val="80000"/>
              </a:lnSpc>
            </a:pPr>
            <a:r>
              <a:rPr lang="en-US" altLang="zh-CN" sz="2000" smtClean="0"/>
              <a:t>    struct ipc_perm shm_perm; /* operation permission struct */</a:t>
            </a:r>
          </a:p>
          <a:p>
            <a:pPr lvl="1">
              <a:lnSpc>
                <a:spcPct val="80000"/>
              </a:lnSpc>
            </a:pPr>
            <a:r>
              <a:rPr lang="en-US" altLang="zh-CN" sz="2000" smtClean="0"/>
              <a:t>    size_t shm_segsz; /* size of segment in bytes */</a:t>
            </a:r>
          </a:p>
          <a:p>
            <a:pPr lvl="1">
              <a:lnSpc>
                <a:spcPct val="80000"/>
              </a:lnSpc>
            </a:pPr>
            <a:r>
              <a:rPr lang="en-US" altLang="zh-CN" sz="2000" smtClean="0"/>
              <a:t>    pid_t shm_lpid; /* pid of last shmop */</a:t>
            </a:r>
          </a:p>
          <a:p>
            <a:pPr lvl="1">
              <a:lnSpc>
                <a:spcPct val="80000"/>
              </a:lnSpc>
            </a:pPr>
            <a:r>
              <a:rPr lang="en-US" altLang="zh-CN" sz="2000" smtClean="0"/>
              <a:t>    pid_t shm_cpid; /* pid of creator */</a:t>
            </a:r>
          </a:p>
          <a:p>
            <a:pPr lvl="1">
              <a:lnSpc>
                <a:spcPct val="80000"/>
              </a:lnSpc>
            </a:pPr>
            <a:r>
              <a:rPr lang="en-US" altLang="zh-CN" sz="2000" smtClean="0"/>
              <a:t>    shmatt_t shm_nattch; /* current # attached */</a:t>
            </a:r>
          </a:p>
          <a:p>
            <a:pPr lvl="1">
              <a:lnSpc>
                <a:spcPct val="80000"/>
              </a:lnSpc>
            </a:pPr>
            <a:r>
              <a:rPr lang="en-US" altLang="zh-CN" sz="2000" smtClean="0"/>
              <a:t>    shmat_t shm_cnattch; /* in-core # attached */</a:t>
            </a:r>
          </a:p>
          <a:p>
            <a:pPr lvl="1">
              <a:lnSpc>
                <a:spcPct val="80000"/>
              </a:lnSpc>
            </a:pPr>
            <a:r>
              <a:rPr lang="en-US" altLang="zh-CN" sz="2000" smtClean="0"/>
              <a:t>    time_t shm_atime; /* last shmat time */</a:t>
            </a:r>
          </a:p>
          <a:p>
            <a:pPr lvl="1">
              <a:lnSpc>
                <a:spcPct val="80000"/>
              </a:lnSpc>
            </a:pPr>
            <a:r>
              <a:rPr lang="en-US" altLang="zh-CN" sz="2000" smtClean="0"/>
              <a:t>    time_t shm_dtime; /* last shmdt time */</a:t>
            </a:r>
          </a:p>
          <a:p>
            <a:pPr lvl="1">
              <a:lnSpc>
                <a:spcPct val="80000"/>
              </a:lnSpc>
            </a:pPr>
            <a:r>
              <a:rPr lang="en-US" altLang="zh-CN" sz="2000" smtClean="0"/>
              <a:t>    time_t shm_ctime; /* last change time */</a:t>
            </a:r>
          </a:p>
          <a:p>
            <a:pPr lvl="1">
              <a:lnSpc>
                <a:spcPct val="80000"/>
              </a:lnSpc>
            </a:pPr>
            <a:r>
              <a:rPr lang="en-US" altLang="zh-CN" sz="2000" smtClean="0"/>
              <a:t>};</a:t>
            </a:r>
          </a:p>
        </p:txBody>
      </p:sp>
    </p:spTree>
    <p:extLst>
      <p:ext uri="{BB962C8B-B14F-4D97-AF65-F5344CB8AC3E}">
        <p14:creationId xmlns:p14="http://schemas.microsoft.com/office/powerpoint/2010/main" val="207245783"/>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zh-CN" smtClean="0"/>
              <a:t>System V </a:t>
            </a:r>
            <a:r>
              <a:rPr lang="zh-CN" altLang="en-US" smtClean="0"/>
              <a:t>共享内存使用流程</a:t>
            </a:r>
          </a:p>
        </p:txBody>
      </p:sp>
      <p:sp>
        <p:nvSpPr>
          <p:cNvPr id="247811" name="Rectangle 3"/>
          <p:cNvSpPr>
            <a:spLocks noGrp="1" noChangeArrowheads="1"/>
          </p:cNvSpPr>
          <p:nvPr>
            <p:ph idx="1"/>
          </p:nvPr>
        </p:nvSpPr>
        <p:spPr/>
        <p:txBody>
          <a:bodyPr rtlCol="0">
            <a:normAutofit lnSpcReduction="10000"/>
          </a:bodyPr>
          <a:lstStyle/>
          <a:p>
            <a:pPr fontAlgn="auto">
              <a:spcAft>
                <a:spcPts val="0"/>
              </a:spcAft>
              <a:buFont typeface="Arial" panose="020B0604020202020204" pitchFamily="34" charset="0"/>
              <a:buChar char="•"/>
              <a:defRPr/>
            </a:pPr>
            <a:r>
              <a:rPr lang="zh-CN" altLang="en-US" sz="2400"/>
              <a:t>使用头文件</a:t>
            </a:r>
          </a:p>
          <a:p>
            <a:pPr lvl="1" fontAlgn="auto">
              <a:spcAft>
                <a:spcPts val="0"/>
              </a:spcAft>
              <a:buFont typeface="Arial" panose="020B0604020202020204" pitchFamily="34" charset="0"/>
              <a:buChar char="•"/>
              <a:defRPr/>
            </a:pPr>
            <a:r>
              <a:rPr lang="en-US" altLang="zh-CN" sz="2000"/>
              <a:t>#include &lt;sys/ipc.h&gt; </a:t>
            </a:r>
          </a:p>
          <a:p>
            <a:pPr lvl="1" fontAlgn="auto">
              <a:spcAft>
                <a:spcPts val="0"/>
              </a:spcAft>
              <a:buFont typeface="Arial" panose="020B0604020202020204" pitchFamily="34" charset="0"/>
              <a:buChar char="•"/>
              <a:defRPr/>
            </a:pPr>
            <a:r>
              <a:rPr lang="en-US" altLang="zh-CN" sz="2000"/>
              <a:t>#include &lt;sys/shm.h&gt; </a:t>
            </a:r>
          </a:p>
          <a:p>
            <a:pPr fontAlgn="auto">
              <a:spcAft>
                <a:spcPts val="0"/>
              </a:spcAft>
              <a:buFont typeface="Arial" panose="020B0604020202020204" pitchFamily="34" charset="0"/>
              <a:buChar char="•"/>
              <a:defRPr/>
            </a:pPr>
            <a:r>
              <a:rPr lang="en-US" altLang="zh-CN" sz="2400"/>
              <a:t>shmget() </a:t>
            </a:r>
            <a:r>
              <a:rPr lang="zh-CN" altLang="en-US" sz="2400"/>
              <a:t>获得共享内存区域的</a:t>
            </a:r>
            <a:r>
              <a:rPr lang="en-US" altLang="zh-CN" sz="2400"/>
              <a:t>ID </a:t>
            </a:r>
          </a:p>
          <a:p>
            <a:pPr lvl="1" fontAlgn="auto">
              <a:spcAft>
                <a:spcPts val="0"/>
              </a:spcAft>
              <a:buFont typeface="Arial" panose="020B0604020202020204" pitchFamily="34" charset="0"/>
              <a:buChar char="•"/>
              <a:defRPr/>
            </a:pPr>
            <a:r>
              <a:rPr lang="zh-CN" altLang="en-US" sz="2000"/>
              <a:t>如果不存在指定的共享区域就创建相应的区域。</a:t>
            </a:r>
          </a:p>
          <a:p>
            <a:pPr lvl="1" fontAlgn="auto">
              <a:spcAft>
                <a:spcPts val="0"/>
              </a:spcAft>
              <a:buFont typeface="Arial" panose="020B0604020202020204" pitchFamily="34" charset="0"/>
              <a:buChar char="•"/>
              <a:defRPr/>
            </a:pPr>
            <a:r>
              <a:rPr lang="zh-CN" altLang="en-US" sz="2000"/>
              <a:t> </a:t>
            </a:r>
            <a:r>
              <a:rPr lang="en-US" altLang="zh-CN" sz="2000"/>
              <a:t>int</a:t>
            </a:r>
            <a:r>
              <a:rPr lang="en-US" altLang="zh-CN" sz="2000">
                <a:latin typeface="Arial" panose="020B0604020202020204" pitchFamily="34" charset="0"/>
              </a:rPr>
              <a:t> </a:t>
            </a:r>
            <a:r>
              <a:rPr lang="en-US" altLang="zh-CN" sz="2000"/>
              <a:t>shmget(key_t</a:t>
            </a:r>
            <a:r>
              <a:rPr lang="en-US" altLang="zh-CN" sz="2000">
                <a:latin typeface="Arial" panose="020B0604020202020204" pitchFamily="34" charset="0"/>
              </a:rPr>
              <a:t> </a:t>
            </a:r>
            <a:r>
              <a:rPr lang="en-US" altLang="zh-CN" sz="2000"/>
              <a:t>key,int</a:t>
            </a:r>
            <a:r>
              <a:rPr lang="en-US" altLang="zh-CN" sz="2000">
                <a:latin typeface="Arial" panose="020B0604020202020204" pitchFamily="34" charset="0"/>
              </a:rPr>
              <a:t> </a:t>
            </a:r>
            <a:r>
              <a:rPr lang="en-US" altLang="zh-CN" sz="2000"/>
              <a:t>size,int</a:t>
            </a:r>
            <a:r>
              <a:rPr lang="en-US" altLang="zh-CN" sz="2000">
                <a:latin typeface="Arial" panose="020B0604020202020204" pitchFamily="34" charset="0"/>
              </a:rPr>
              <a:t> </a:t>
            </a:r>
            <a:r>
              <a:rPr lang="en-US" altLang="zh-CN" sz="2000"/>
              <a:t>shmflg); </a:t>
            </a:r>
          </a:p>
          <a:p>
            <a:pPr fontAlgn="auto">
              <a:spcAft>
                <a:spcPts val="0"/>
              </a:spcAft>
              <a:buFont typeface="Arial" panose="020B0604020202020204" pitchFamily="34" charset="0"/>
              <a:buChar char="•"/>
              <a:defRPr/>
            </a:pPr>
            <a:r>
              <a:rPr lang="en-US" altLang="zh-CN" sz="2400"/>
              <a:t>shmat()</a:t>
            </a:r>
            <a:r>
              <a:rPr lang="zh-CN" altLang="en-US" sz="2400"/>
              <a:t>把共享内存区域映射到调用进程的地址空间中去 </a:t>
            </a:r>
          </a:p>
          <a:p>
            <a:pPr lvl="1" fontAlgn="auto">
              <a:spcAft>
                <a:spcPts val="0"/>
              </a:spcAft>
              <a:buFont typeface="Arial" panose="020B0604020202020204" pitchFamily="34" charset="0"/>
              <a:buChar char="•"/>
              <a:defRPr/>
            </a:pPr>
            <a:r>
              <a:rPr lang="zh-CN" altLang="en-US" sz="2000"/>
              <a:t>这样，进程就可以方便地对共享区域进行访问操作。</a:t>
            </a:r>
          </a:p>
          <a:p>
            <a:pPr lvl="1" fontAlgn="auto">
              <a:spcAft>
                <a:spcPts val="0"/>
              </a:spcAft>
              <a:buFont typeface="Arial" panose="020B0604020202020204" pitchFamily="34" charset="0"/>
              <a:buChar char="•"/>
              <a:defRPr/>
            </a:pPr>
            <a:r>
              <a:rPr lang="en-US" altLang="zh-CN" sz="2000"/>
              <a:t>void</a:t>
            </a:r>
            <a:r>
              <a:rPr lang="en-US" altLang="zh-CN" sz="2000">
                <a:latin typeface="Arial" panose="020B0604020202020204" pitchFamily="34" charset="0"/>
              </a:rPr>
              <a:t> </a:t>
            </a:r>
            <a:r>
              <a:rPr lang="en-US" altLang="zh-CN" sz="2000"/>
              <a:t>*shmat(int</a:t>
            </a:r>
            <a:r>
              <a:rPr lang="en-US" altLang="zh-CN" sz="2000">
                <a:latin typeface="Arial" panose="020B0604020202020204" pitchFamily="34" charset="0"/>
              </a:rPr>
              <a:t> </a:t>
            </a:r>
            <a:r>
              <a:rPr lang="en-US" altLang="zh-CN" sz="2000"/>
              <a:t>shmid,const</a:t>
            </a:r>
            <a:r>
              <a:rPr lang="en-US" altLang="zh-CN" sz="2000">
                <a:latin typeface="Arial" panose="020B0604020202020204" pitchFamily="34" charset="0"/>
              </a:rPr>
              <a:t> </a:t>
            </a:r>
            <a:r>
              <a:rPr lang="en-US" altLang="zh-CN" sz="2000"/>
              <a:t>void</a:t>
            </a:r>
            <a:r>
              <a:rPr lang="en-US" altLang="zh-CN" sz="2000">
                <a:latin typeface="Arial" panose="020B0604020202020204" pitchFamily="34" charset="0"/>
              </a:rPr>
              <a:t> </a:t>
            </a:r>
            <a:r>
              <a:rPr lang="en-US" altLang="zh-CN" sz="2000"/>
              <a:t>*shmaddr,int</a:t>
            </a:r>
            <a:r>
              <a:rPr lang="en-US" altLang="zh-CN" sz="2000">
                <a:latin typeface="Arial" panose="020B0604020202020204" pitchFamily="34" charset="0"/>
              </a:rPr>
              <a:t> </a:t>
            </a:r>
            <a:r>
              <a:rPr lang="en-US" altLang="zh-CN" sz="2000"/>
              <a:t>shmflg); </a:t>
            </a:r>
          </a:p>
          <a:p>
            <a:pPr fontAlgn="auto">
              <a:spcAft>
                <a:spcPts val="0"/>
              </a:spcAft>
              <a:buFont typeface="Arial" panose="020B0604020202020204" pitchFamily="34" charset="0"/>
              <a:buChar char="•"/>
              <a:defRPr/>
            </a:pPr>
            <a:r>
              <a:rPr lang="en-US" altLang="zh-CN" sz="2400"/>
              <a:t>shmdt()</a:t>
            </a:r>
            <a:r>
              <a:rPr lang="zh-CN" altLang="en-US" sz="2400"/>
              <a:t>调用用来解除进程对共享内存区域的映射 </a:t>
            </a:r>
          </a:p>
          <a:p>
            <a:pPr lvl="1" fontAlgn="auto">
              <a:spcAft>
                <a:spcPts val="0"/>
              </a:spcAft>
              <a:buFont typeface="Arial" panose="020B0604020202020204" pitchFamily="34" charset="0"/>
              <a:buChar char="•"/>
              <a:defRPr/>
            </a:pPr>
            <a:r>
              <a:rPr lang="en-US" altLang="zh-CN" sz="2000"/>
              <a:t>int</a:t>
            </a:r>
            <a:r>
              <a:rPr lang="en-US" altLang="zh-CN" sz="2000">
                <a:latin typeface="Arial" panose="020B0604020202020204" pitchFamily="34" charset="0"/>
              </a:rPr>
              <a:t> </a:t>
            </a:r>
            <a:r>
              <a:rPr lang="en-US" altLang="zh-CN" sz="2000"/>
              <a:t>shmdt(const</a:t>
            </a:r>
            <a:r>
              <a:rPr lang="en-US" altLang="zh-CN" sz="2000">
                <a:latin typeface="Arial" panose="020B0604020202020204" pitchFamily="34" charset="0"/>
              </a:rPr>
              <a:t> </a:t>
            </a:r>
            <a:r>
              <a:rPr lang="en-US" altLang="zh-CN" sz="2000"/>
              <a:t>void</a:t>
            </a:r>
            <a:r>
              <a:rPr lang="en-US" altLang="zh-CN" sz="2000">
                <a:latin typeface="Arial" panose="020B0604020202020204" pitchFamily="34" charset="0"/>
              </a:rPr>
              <a:t> </a:t>
            </a:r>
            <a:r>
              <a:rPr lang="en-US" altLang="zh-CN" sz="2000"/>
              <a:t>*shmaddr); </a:t>
            </a:r>
          </a:p>
          <a:p>
            <a:pPr fontAlgn="auto">
              <a:spcAft>
                <a:spcPts val="0"/>
              </a:spcAft>
              <a:buFont typeface="Arial" panose="020B0604020202020204" pitchFamily="34" charset="0"/>
              <a:buChar char="•"/>
              <a:defRPr/>
            </a:pPr>
            <a:r>
              <a:rPr lang="en-US" altLang="zh-CN" sz="2400"/>
              <a:t>Shmctl()</a:t>
            </a:r>
            <a:r>
              <a:rPr lang="zh-CN" altLang="en-US" sz="2400"/>
              <a:t>实现对共享内存区域的控制操作  </a:t>
            </a:r>
          </a:p>
          <a:p>
            <a:pPr lvl="1" fontAlgn="auto">
              <a:spcAft>
                <a:spcPts val="0"/>
              </a:spcAft>
              <a:buFont typeface="Arial" panose="020B0604020202020204" pitchFamily="34" charset="0"/>
              <a:buChar char="•"/>
              <a:defRPr/>
            </a:pPr>
            <a:r>
              <a:rPr lang="en-US" altLang="zh-CN" sz="2000"/>
              <a:t>int</a:t>
            </a:r>
            <a:r>
              <a:rPr lang="en-US" altLang="zh-CN" sz="2000">
                <a:latin typeface="Arial" panose="020B0604020202020204" pitchFamily="34" charset="0"/>
              </a:rPr>
              <a:t> </a:t>
            </a:r>
            <a:r>
              <a:rPr lang="en-US" altLang="zh-CN" sz="2000"/>
              <a:t>shmctl(int</a:t>
            </a:r>
            <a:r>
              <a:rPr lang="en-US" altLang="zh-CN" sz="2000">
                <a:latin typeface="Arial" panose="020B0604020202020204" pitchFamily="34" charset="0"/>
              </a:rPr>
              <a:t> </a:t>
            </a:r>
            <a:r>
              <a:rPr lang="en-US" altLang="zh-CN" sz="2000"/>
              <a:t>shmid,int</a:t>
            </a:r>
            <a:r>
              <a:rPr lang="en-US" altLang="zh-CN" sz="2000">
                <a:latin typeface="Arial" panose="020B0604020202020204" pitchFamily="34" charset="0"/>
              </a:rPr>
              <a:t> </a:t>
            </a:r>
            <a:r>
              <a:rPr lang="en-US" altLang="zh-CN" sz="2000"/>
              <a:t>cmd,struct</a:t>
            </a:r>
            <a:r>
              <a:rPr lang="en-US" altLang="zh-CN" sz="2000">
                <a:latin typeface="Arial" panose="020B0604020202020204" pitchFamily="34" charset="0"/>
              </a:rPr>
              <a:t> </a:t>
            </a:r>
            <a:r>
              <a:rPr lang="en-US" altLang="zh-CN" sz="2000"/>
              <a:t>shmid_ds</a:t>
            </a:r>
            <a:r>
              <a:rPr lang="en-US" altLang="zh-CN" sz="2000">
                <a:latin typeface="Arial" panose="020B0604020202020204" pitchFamily="34" charset="0"/>
              </a:rPr>
              <a:t> </a:t>
            </a:r>
            <a:r>
              <a:rPr lang="en-US" altLang="zh-CN" sz="2000"/>
              <a:t>*buf); </a:t>
            </a:r>
          </a:p>
          <a:p>
            <a:pPr lvl="1" fontAlgn="auto">
              <a:spcAft>
                <a:spcPts val="0"/>
              </a:spcAft>
              <a:buFont typeface="Arial" panose="020B0604020202020204" pitchFamily="34" charset="0"/>
              <a:buChar char="•"/>
              <a:defRPr/>
            </a:pPr>
            <a:endParaRPr lang="en-US" altLang="zh-CN" sz="2000"/>
          </a:p>
        </p:txBody>
      </p:sp>
    </p:spTree>
    <p:extLst>
      <p:ext uri="{BB962C8B-B14F-4D97-AF65-F5344CB8AC3E}">
        <p14:creationId xmlns:p14="http://schemas.microsoft.com/office/powerpoint/2010/main" val="2653535267"/>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zh-CN" smtClean="0"/>
              <a:t>shmget</a:t>
            </a:r>
            <a:r>
              <a:rPr lang="zh-CN" altLang="en-US" smtClean="0"/>
              <a:t>函数 </a:t>
            </a:r>
          </a:p>
        </p:txBody>
      </p:sp>
      <p:sp>
        <p:nvSpPr>
          <p:cNvPr id="243715"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2400"/>
              <a:t>#include &lt;sys/shm.h&gt;</a:t>
            </a:r>
          </a:p>
          <a:p>
            <a:pPr fontAlgn="auto">
              <a:lnSpc>
                <a:spcPct val="80000"/>
              </a:lnSpc>
              <a:spcAft>
                <a:spcPts val="0"/>
              </a:spcAft>
              <a:buFont typeface="Arial" panose="020B0604020202020204" pitchFamily="34" charset="0"/>
              <a:buChar char="•"/>
              <a:defRPr/>
            </a:pPr>
            <a:r>
              <a:rPr lang="en-US" altLang="zh-CN" sz="2400" b="1"/>
              <a:t>int shmget(key_t key, size_t size, int oflag);</a:t>
            </a:r>
          </a:p>
          <a:p>
            <a:pPr fontAlgn="auto">
              <a:lnSpc>
                <a:spcPct val="80000"/>
              </a:lnSpc>
              <a:spcAft>
                <a:spcPts val="0"/>
              </a:spcAft>
              <a:buFont typeface="Arial" panose="020B0604020202020204" pitchFamily="34" charset="0"/>
              <a:buChar char="•"/>
              <a:defRPr/>
            </a:pPr>
            <a:r>
              <a:rPr lang="zh-CN" altLang="en-US" sz="2400"/>
              <a:t>返回：成功时为共享内存区对象，出错时为</a:t>
            </a:r>
            <a:r>
              <a:rPr lang="en-US" altLang="zh-CN" sz="2400"/>
              <a:t>-1</a:t>
            </a:r>
          </a:p>
          <a:p>
            <a:pPr fontAlgn="auto">
              <a:lnSpc>
                <a:spcPct val="80000"/>
              </a:lnSpc>
              <a:spcAft>
                <a:spcPts val="0"/>
              </a:spcAft>
              <a:buFont typeface="Arial" panose="020B0604020202020204" pitchFamily="34" charset="0"/>
              <a:buChar char="•"/>
              <a:defRPr/>
            </a:pPr>
            <a:r>
              <a:rPr lang="zh-CN" altLang="en-US" sz="2400"/>
              <a:t>函数创建一个尚未存在的共享内存区，或者访问一个已存在的共享内存区。</a:t>
            </a:r>
          </a:p>
          <a:p>
            <a:pPr fontAlgn="auto">
              <a:lnSpc>
                <a:spcPct val="80000"/>
              </a:lnSpc>
              <a:spcAft>
                <a:spcPts val="0"/>
              </a:spcAft>
              <a:buFont typeface="Arial" panose="020B0604020202020204" pitchFamily="34" charset="0"/>
              <a:buChar char="•"/>
              <a:defRPr/>
            </a:pPr>
            <a:endParaRPr lang="zh-CN" altLang="en-US" sz="2400"/>
          </a:p>
          <a:p>
            <a:pPr fontAlgn="auto">
              <a:lnSpc>
                <a:spcPct val="80000"/>
              </a:lnSpc>
              <a:spcAft>
                <a:spcPts val="0"/>
              </a:spcAft>
              <a:buFont typeface="Arial" panose="020B0604020202020204" pitchFamily="34" charset="0"/>
              <a:buChar char="•"/>
              <a:defRPr/>
            </a:pPr>
            <a:r>
              <a:rPr lang="zh-CN" altLang="en-US" sz="2400"/>
              <a:t>返回值是共享内存区标识符，供其他函数使用。</a:t>
            </a:r>
          </a:p>
          <a:p>
            <a:pPr fontAlgn="auto">
              <a:lnSpc>
                <a:spcPct val="80000"/>
              </a:lnSpc>
              <a:spcAft>
                <a:spcPts val="0"/>
              </a:spcAft>
              <a:buFont typeface="Arial" panose="020B0604020202020204" pitchFamily="34" charset="0"/>
              <a:buChar char="•"/>
              <a:defRPr/>
            </a:pPr>
            <a:endParaRPr lang="zh-CN" altLang="en-US" sz="2400"/>
          </a:p>
          <a:p>
            <a:pPr fontAlgn="auto">
              <a:lnSpc>
                <a:spcPct val="80000"/>
              </a:lnSpc>
              <a:spcAft>
                <a:spcPts val="0"/>
              </a:spcAft>
              <a:buFont typeface="Arial" panose="020B0604020202020204" pitchFamily="34" charset="0"/>
              <a:buChar char="•"/>
              <a:defRPr/>
            </a:pPr>
            <a:r>
              <a:rPr lang="en-US" altLang="zh-CN" sz="2400"/>
              <a:t>size</a:t>
            </a:r>
            <a:r>
              <a:rPr lang="zh-CN" altLang="en-US" sz="2400"/>
              <a:t>参数以字节为单位指定内存的大小。当实际操作为创建一个新的内存区时，必须指定一个不为</a:t>
            </a:r>
            <a:r>
              <a:rPr lang="en-US" altLang="zh-CN" sz="2400"/>
              <a:t>0</a:t>
            </a:r>
            <a:r>
              <a:rPr lang="zh-CN" altLang="en-US" sz="2400"/>
              <a:t>的</a:t>
            </a:r>
            <a:r>
              <a:rPr lang="en-US" altLang="zh-CN" sz="2400"/>
              <a:t>size</a:t>
            </a:r>
            <a:r>
              <a:rPr lang="zh-CN" altLang="en-US" sz="2400"/>
              <a:t>值；如果实际操作是访问一个已存在的共享内存区，则</a:t>
            </a:r>
            <a:r>
              <a:rPr lang="en-US" altLang="zh-CN" sz="2400"/>
              <a:t>size</a:t>
            </a:r>
            <a:r>
              <a:rPr lang="zh-CN" altLang="en-US" sz="2400"/>
              <a:t>应为</a:t>
            </a:r>
            <a:r>
              <a:rPr lang="en-US" altLang="zh-CN" sz="2400"/>
              <a:t>0</a:t>
            </a:r>
            <a:r>
              <a:rPr lang="zh-CN" altLang="en-US" sz="2400"/>
              <a:t>。</a:t>
            </a:r>
          </a:p>
          <a:p>
            <a:pPr fontAlgn="auto">
              <a:lnSpc>
                <a:spcPct val="80000"/>
              </a:lnSpc>
              <a:spcAft>
                <a:spcPts val="0"/>
              </a:spcAft>
              <a:buFont typeface="Arial" panose="020B0604020202020204" pitchFamily="34" charset="0"/>
              <a:buChar char="•"/>
              <a:defRPr/>
            </a:pPr>
            <a:endParaRPr lang="zh-CN" altLang="en-US" sz="2400"/>
          </a:p>
          <a:p>
            <a:pPr fontAlgn="auto">
              <a:lnSpc>
                <a:spcPct val="80000"/>
              </a:lnSpc>
              <a:spcAft>
                <a:spcPts val="0"/>
              </a:spcAft>
              <a:buFont typeface="Arial" panose="020B0604020202020204" pitchFamily="34" charset="0"/>
              <a:buChar char="•"/>
              <a:defRPr/>
            </a:pPr>
            <a:r>
              <a:rPr lang="zh-CN" altLang="en-US" sz="2400"/>
              <a:t>当实际操作为创建一个新的内存区时，该内存区被初始化为</a:t>
            </a:r>
            <a:r>
              <a:rPr lang="en-US" altLang="zh-CN" sz="2400"/>
              <a:t>size</a:t>
            </a:r>
            <a:r>
              <a:rPr lang="zh-CN" altLang="en-US" sz="2400"/>
              <a:t>个字节的</a:t>
            </a:r>
            <a:r>
              <a:rPr lang="en-US" altLang="zh-CN" sz="2400"/>
              <a:t>0</a:t>
            </a:r>
            <a:r>
              <a:rPr lang="zh-CN" altLang="en-US" sz="2400"/>
              <a:t>。</a:t>
            </a:r>
          </a:p>
          <a:p>
            <a:pPr fontAlgn="auto">
              <a:lnSpc>
                <a:spcPct val="80000"/>
              </a:lnSpc>
              <a:spcAft>
                <a:spcPts val="0"/>
              </a:spcAft>
              <a:buFont typeface="Arial" panose="020B0604020202020204" pitchFamily="34" charset="0"/>
              <a:buChar char="•"/>
              <a:defRPr/>
            </a:pPr>
            <a:endParaRPr lang="zh-CN" altLang="en-US" sz="2400"/>
          </a:p>
          <a:p>
            <a:pPr fontAlgn="auto">
              <a:lnSpc>
                <a:spcPct val="80000"/>
              </a:lnSpc>
              <a:spcAft>
                <a:spcPts val="0"/>
              </a:spcAft>
              <a:buFont typeface="Arial" panose="020B0604020202020204" pitchFamily="34" charset="0"/>
              <a:buChar char="•"/>
              <a:defRPr/>
            </a:pPr>
            <a:endParaRPr lang="zh-CN" altLang="en-US" sz="2400"/>
          </a:p>
          <a:p>
            <a:pPr fontAlgn="auto">
              <a:lnSpc>
                <a:spcPct val="80000"/>
              </a:lnSpc>
              <a:spcAft>
                <a:spcPts val="0"/>
              </a:spcAft>
              <a:buFont typeface="Arial" panose="020B0604020202020204" pitchFamily="34" charset="0"/>
              <a:buChar char="•"/>
              <a:defRPr/>
            </a:pPr>
            <a:endParaRPr lang="en-US" altLang="zh-CN" sz="2400"/>
          </a:p>
        </p:txBody>
      </p:sp>
    </p:spTree>
    <p:extLst>
      <p:ext uri="{BB962C8B-B14F-4D97-AF65-F5344CB8AC3E}">
        <p14:creationId xmlns:p14="http://schemas.microsoft.com/office/powerpoint/2010/main" val="2827370586"/>
      </p:ext>
    </p:extLst>
  </p:cSld>
  <p:clrMapOvr>
    <a:masterClrMapping/>
  </p:clrMapOvr>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zh-CN" smtClean="0"/>
              <a:t>shmat</a:t>
            </a:r>
            <a:r>
              <a:rPr lang="zh-CN" altLang="en-US" smtClean="0"/>
              <a:t>函数 </a:t>
            </a:r>
          </a:p>
        </p:txBody>
      </p:sp>
      <p:sp>
        <p:nvSpPr>
          <p:cNvPr id="244739" name="Rectangle 3"/>
          <p:cNvSpPr>
            <a:spLocks noGrp="1" noChangeArrowheads="1"/>
          </p:cNvSpPr>
          <p:nvPr>
            <p:ph idx="1"/>
          </p:nvPr>
        </p:nvSpPr>
        <p:spPr/>
        <p:txBody>
          <a:bodyPr rtlCol="0">
            <a:normAutofit/>
          </a:bodyPr>
          <a:lstStyle/>
          <a:p>
            <a:pPr fontAlgn="auto">
              <a:spcAft>
                <a:spcPts val="0"/>
              </a:spcAft>
              <a:buFont typeface="Arial" panose="020B0604020202020204" pitchFamily="34" charset="0"/>
              <a:buChar char="•"/>
              <a:defRPr/>
            </a:pPr>
            <a:r>
              <a:rPr lang="en-US" altLang="zh-CN" sz="2000"/>
              <a:t>#include &lt;sys/shm.h&gt;</a:t>
            </a:r>
          </a:p>
          <a:p>
            <a:pPr fontAlgn="auto">
              <a:spcAft>
                <a:spcPts val="0"/>
              </a:spcAft>
              <a:buFont typeface="Arial" panose="020B0604020202020204" pitchFamily="34" charset="0"/>
              <a:buChar char="•"/>
              <a:defRPr/>
            </a:pPr>
            <a:r>
              <a:rPr lang="en-US" altLang="zh-CN" sz="2000" b="1"/>
              <a:t>void * shmat(int shmid, const void *shmaddr, int flag);</a:t>
            </a:r>
          </a:p>
          <a:p>
            <a:pPr fontAlgn="auto">
              <a:spcAft>
                <a:spcPts val="0"/>
              </a:spcAft>
              <a:buFont typeface="Arial" panose="020B0604020202020204" pitchFamily="34" charset="0"/>
              <a:buChar char="•"/>
              <a:defRPr/>
            </a:pPr>
            <a:r>
              <a:rPr lang="zh-CN" altLang="en-US" sz="2000"/>
              <a:t>返回：成功时为映射区的其始地址，出错时为</a:t>
            </a:r>
            <a:r>
              <a:rPr lang="en-US" altLang="zh-CN" sz="2000"/>
              <a:t>-1</a:t>
            </a:r>
          </a:p>
          <a:p>
            <a:pPr fontAlgn="auto">
              <a:spcAft>
                <a:spcPts val="0"/>
              </a:spcAft>
              <a:buFont typeface="Arial" panose="020B0604020202020204" pitchFamily="34" charset="0"/>
              <a:buChar char="•"/>
              <a:defRPr/>
            </a:pPr>
            <a:r>
              <a:rPr lang="zh-CN" altLang="en-US" sz="2000"/>
              <a:t>调用</a:t>
            </a:r>
            <a:r>
              <a:rPr lang="en-US" altLang="zh-CN" sz="2000"/>
              <a:t>shmat</a:t>
            </a:r>
            <a:r>
              <a:rPr lang="zh-CN" altLang="en-US" sz="2000"/>
              <a:t>将共享内存区附接到调用进程的地址空间。</a:t>
            </a:r>
          </a:p>
          <a:p>
            <a:pPr fontAlgn="auto">
              <a:spcAft>
                <a:spcPts val="0"/>
              </a:spcAft>
              <a:buFont typeface="Arial" panose="020B0604020202020204" pitchFamily="34" charset="0"/>
              <a:buChar char="•"/>
              <a:defRPr/>
            </a:pPr>
            <a:endParaRPr lang="zh-CN" altLang="en-US" sz="2000"/>
          </a:p>
          <a:p>
            <a:pPr fontAlgn="auto">
              <a:spcAft>
                <a:spcPts val="0"/>
              </a:spcAft>
              <a:buFont typeface="Arial" panose="020B0604020202020204" pitchFamily="34" charset="0"/>
              <a:buChar char="•"/>
              <a:defRPr/>
            </a:pPr>
            <a:r>
              <a:rPr lang="en-US" altLang="zh-CN" sz="2000"/>
              <a:t>shmid</a:t>
            </a:r>
            <a:r>
              <a:rPr lang="zh-CN" altLang="en-US" sz="2000"/>
              <a:t>是</a:t>
            </a:r>
            <a:r>
              <a:rPr lang="en-US" altLang="zh-CN" sz="2000"/>
              <a:t>shmget</a:t>
            </a:r>
            <a:r>
              <a:rPr lang="zh-CN" altLang="en-US" sz="2000"/>
              <a:t>的返回值。</a:t>
            </a:r>
            <a:r>
              <a:rPr lang="en-US" altLang="zh-CN" sz="2000"/>
              <a:t>shmat</a:t>
            </a:r>
            <a:r>
              <a:rPr lang="zh-CN" altLang="en-US" sz="2000"/>
              <a:t>的返回值是所指定的共享内存区在调用进程内的起始地址。确定此地址的规则如下：</a:t>
            </a:r>
          </a:p>
          <a:p>
            <a:pPr fontAlgn="auto">
              <a:spcAft>
                <a:spcPts val="0"/>
              </a:spcAft>
              <a:buFont typeface="Arial" panose="020B0604020202020204" pitchFamily="34" charset="0"/>
              <a:buChar char="•"/>
              <a:defRPr/>
            </a:pPr>
            <a:endParaRPr lang="zh-CN" altLang="en-US" sz="2000"/>
          </a:p>
          <a:p>
            <a:pPr lvl="1" fontAlgn="auto">
              <a:spcAft>
                <a:spcPts val="0"/>
              </a:spcAft>
              <a:buFont typeface="Arial" panose="020B0604020202020204" pitchFamily="34" charset="0"/>
              <a:buChar char="•"/>
              <a:defRPr/>
            </a:pPr>
            <a:r>
              <a:rPr lang="zh-CN" altLang="en-US" sz="1800"/>
              <a:t>如果</a:t>
            </a:r>
            <a:r>
              <a:rPr lang="en-US" altLang="zh-CN" sz="1800"/>
              <a:t>shmaddr</a:t>
            </a:r>
            <a:r>
              <a:rPr lang="zh-CN" altLang="en-US" sz="1800"/>
              <a:t>是空指针，则系统替调用者选择地址。这是推荐</a:t>
            </a:r>
            <a:r>
              <a:rPr lang="en-US" altLang="zh-CN" sz="1800"/>
              <a:t>(</a:t>
            </a:r>
            <a:r>
              <a:rPr lang="zh-CN" altLang="en-US" sz="1800"/>
              <a:t>也是可移植性最好的</a:t>
            </a:r>
            <a:r>
              <a:rPr lang="en-US" altLang="zh-CN" sz="1800"/>
              <a:t>)</a:t>
            </a:r>
            <a:r>
              <a:rPr lang="zh-CN" altLang="en-US" sz="1800"/>
              <a:t>方法。 </a:t>
            </a:r>
          </a:p>
          <a:p>
            <a:pPr lvl="1" fontAlgn="auto">
              <a:spcAft>
                <a:spcPts val="0"/>
              </a:spcAft>
              <a:buFont typeface="Arial" panose="020B0604020202020204" pitchFamily="34" charset="0"/>
              <a:buChar char="•"/>
              <a:defRPr/>
            </a:pPr>
            <a:r>
              <a:rPr lang="zh-CN" altLang="en-US" sz="1800"/>
              <a:t>如果</a:t>
            </a:r>
            <a:r>
              <a:rPr lang="en-US" altLang="zh-CN" sz="1800"/>
              <a:t>shmaddr</a:t>
            </a:r>
            <a:r>
              <a:rPr lang="zh-CN" altLang="en-US" sz="1800"/>
              <a:t>非空，则返回地址取决于调用者是否给</a:t>
            </a:r>
            <a:r>
              <a:rPr lang="en-US" altLang="zh-CN" sz="1800"/>
              <a:t>flag</a:t>
            </a:r>
            <a:r>
              <a:rPr lang="zh-CN" altLang="en-US" sz="1800"/>
              <a:t>参数指定了</a:t>
            </a:r>
            <a:r>
              <a:rPr lang="en-US" altLang="zh-CN" sz="1800"/>
              <a:t>SHM_RND</a:t>
            </a:r>
            <a:r>
              <a:rPr lang="zh-CN" altLang="en-US" sz="1800"/>
              <a:t>值。如果</a:t>
            </a:r>
            <a:r>
              <a:rPr lang="en-US" altLang="zh-CN" sz="1800"/>
              <a:t>SHM_RND</a:t>
            </a:r>
            <a:r>
              <a:rPr lang="zh-CN" altLang="en-US" sz="1800"/>
              <a:t>没有指定，则共享内存区附接到由</a:t>
            </a:r>
            <a:r>
              <a:rPr lang="en-US" altLang="zh-CN" sz="1800"/>
              <a:t>shmaddr</a:t>
            </a:r>
            <a:r>
              <a:rPr lang="zh-CN" altLang="en-US" sz="1800"/>
              <a:t>指定的地址；若指定</a:t>
            </a:r>
            <a:r>
              <a:rPr lang="en-US" altLang="zh-CN" sz="1800"/>
              <a:t>SHM_RND</a:t>
            </a:r>
            <a:r>
              <a:rPr lang="zh-CN" altLang="en-US" sz="1800"/>
              <a:t>，则附接到由</a:t>
            </a:r>
            <a:r>
              <a:rPr lang="en-US" altLang="zh-CN" sz="1800"/>
              <a:t>shmaddr</a:t>
            </a:r>
            <a:r>
              <a:rPr lang="zh-CN" altLang="en-US" sz="1800"/>
              <a:t>指定的地址向下舍入一个</a:t>
            </a:r>
            <a:r>
              <a:rPr lang="en-US" altLang="zh-CN" sz="1800"/>
              <a:t>SHMLBA</a:t>
            </a:r>
            <a:r>
              <a:rPr lang="zh-CN" altLang="en-US" sz="1800"/>
              <a:t>常值。</a:t>
            </a:r>
            <a:r>
              <a:rPr lang="en-US" altLang="zh-CN" sz="1800"/>
              <a:t>LBA</a:t>
            </a:r>
            <a:r>
              <a:rPr lang="zh-CN" altLang="en-US" sz="1800"/>
              <a:t>代表</a:t>
            </a:r>
            <a:r>
              <a:rPr lang="zh-CN" altLang="en-US" sz="1800">
                <a:latin typeface="Arial" panose="020B0604020202020204" pitchFamily="34" charset="0"/>
              </a:rPr>
              <a:t>“</a:t>
            </a:r>
            <a:r>
              <a:rPr lang="zh-CN" altLang="en-US" sz="1800"/>
              <a:t>低端边界地址</a:t>
            </a:r>
            <a:r>
              <a:rPr lang="en-US" altLang="zh-CN" sz="1800"/>
              <a:t>(lower boundary address)</a:t>
            </a:r>
            <a:r>
              <a:rPr lang="en-US" altLang="zh-CN" sz="1800">
                <a:latin typeface="Arial" panose="020B0604020202020204" pitchFamily="34" charset="0"/>
              </a:rPr>
              <a:t>”</a:t>
            </a:r>
            <a:r>
              <a:rPr lang="zh-CN" altLang="en-US" sz="1800"/>
              <a:t>。 </a:t>
            </a:r>
          </a:p>
          <a:p>
            <a:pPr fontAlgn="auto">
              <a:spcAft>
                <a:spcPts val="0"/>
              </a:spcAft>
              <a:buFont typeface="Arial" panose="020B0604020202020204" pitchFamily="34" charset="0"/>
              <a:buChar char="•"/>
              <a:defRPr/>
            </a:pPr>
            <a:r>
              <a:rPr lang="en-US" altLang="zh-CN" sz="2000"/>
              <a:t>flag</a:t>
            </a:r>
            <a:r>
              <a:rPr lang="zh-CN" altLang="en-US" sz="2000"/>
              <a:t>参数可以指定</a:t>
            </a:r>
            <a:r>
              <a:rPr lang="en-US" altLang="zh-CN" sz="2000"/>
              <a:t>SHM_RDONLY</a:t>
            </a:r>
            <a:r>
              <a:rPr lang="zh-CN" altLang="en-US" sz="2000"/>
              <a:t>值，它限定只读访问。</a:t>
            </a:r>
          </a:p>
        </p:txBody>
      </p:sp>
    </p:spTree>
    <p:extLst>
      <p:ext uri="{BB962C8B-B14F-4D97-AF65-F5344CB8AC3E}">
        <p14:creationId xmlns:p14="http://schemas.microsoft.com/office/powerpoint/2010/main" val="1431806492"/>
      </p:ext>
    </p:extLst>
  </p:cSld>
  <p:clrMapOvr>
    <a:masterClrMapping/>
  </p:clrMapOvr>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smtClean="0"/>
              <a:t>shmdt</a:t>
            </a:r>
            <a:r>
              <a:rPr lang="zh-CN" altLang="en-US" smtClean="0"/>
              <a:t>函数 </a:t>
            </a:r>
          </a:p>
        </p:txBody>
      </p:sp>
      <p:sp>
        <p:nvSpPr>
          <p:cNvPr id="46083" name="Rectangle 3"/>
          <p:cNvSpPr>
            <a:spLocks noGrp="1" noChangeArrowheads="1"/>
          </p:cNvSpPr>
          <p:nvPr>
            <p:ph idx="1"/>
          </p:nvPr>
        </p:nvSpPr>
        <p:spPr/>
        <p:txBody>
          <a:bodyPr/>
          <a:lstStyle/>
          <a:p>
            <a:r>
              <a:rPr lang="en-US" altLang="zh-CN" smtClean="0"/>
              <a:t>#include &lt;sys/shm.h&gt;</a:t>
            </a:r>
          </a:p>
          <a:p>
            <a:r>
              <a:rPr lang="en-US" altLang="zh-CN" b="1" smtClean="0"/>
              <a:t>int shmdt(const void *shmaddr);</a:t>
            </a:r>
          </a:p>
          <a:p>
            <a:r>
              <a:rPr lang="zh-CN" altLang="en-US" smtClean="0"/>
              <a:t>返回：成功时为</a:t>
            </a:r>
            <a:r>
              <a:rPr lang="en-US" altLang="zh-CN" smtClean="0"/>
              <a:t>0</a:t>
            </a:r>
            <a:r>
              <a:rPr lang="zh-CN" altLang="en-US" smtClean="0"/>
              <a:t>，出错时为</a:t>
            </a:r>
            <a:r>
              <a:rPr lang="en-US" altLang="zh-CN" smtClean="0"/>
              <a:t>-1</a:t>
            </a:r>
          </a:p>
          <a:p>
            <a:r>
              <a:rPr lang="zh-CN" altLang="en-US" smtClean="0"/>
              <a:t>调用</a:t>
            </a:r>
            <a:r>
              <a:rPr lang="en-US" altLang="zh-CN" smtClean="0"/>
              <a:t>shmdt</a:t>
            </a:r>
            <a:r>
              <a:rPr lang="zh-CN" altLang="en-US" smtClean="0"/>
              <a:t>断开与共享内存区的连接。</a:t>
            </a:r>
          </a:p>
          <a:p>
            <a:endParaRPr lang="zh-CN" altLang="en-US" smtClean="0"/>
          </a:p>
          <a:p>
            <a:r>
              <a:rPr lang="zh-CN" altLang="en-US" smtClean="0"/>
              <a:t>当一个进程终止时，它的所有当前附接着的共享内存区都自动断接掉。</a:t>
            </a:r>
          </a:p>
        </p:txBody>
      </p:sp>
    </p:spTree>
    <p:extLst>
      <p:ext uri="{BB962C8B-B14F-4D97-AF65-F5344CB8AC3E}">
        <p14:creationId xmlns:p14="http://schemas.microsoft.com/office/powerpoint/2010/main" val="3395606718"/>
      </p:ext>
    </p:extLst>
  </p:cSld>
  <p:clrMapOvr>
    <a:masterClrMapping/>
  </p:clrMapOvr>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smtClean="0"/>
              <a:t>shmctl</a:t>
            </a:r>
            <a:r>
              <a:rPr lang="zh-CN" altLang="en-US" smtClean="0"/>
              <a:t>函数 </a:t>
            </a:r>
          </a:p>
        </p:txBody>
      </p:sp>
      <p:sp>
        <p:nvSpPr>
          <p:cNvPr id="47107" name="Rectangle 3"/>
          <p:cNvSpPr>
            <a:spLocks noGrp="1" noChangeArrowheads="1"/>
          </p:cNvSpPr>
          <p:nvPr>
            <p:ph idx="1"/>
          </p:nvPr>
        </p:nvSpPr>
        <p:spPr/>
        <p:txBody>
          <a:bodyPr/>
          <a:lstStyle/>
          <a:p>
            <a:r>
              <a:rPr lang="en-US" altLang="zh-CN" sz="2400" smtClean="0"/>
              <a:t>#include &lt;sys/shm.h&gt;</a:t>
            </a:r>
          </a:p>
          <a:p>
            <a:r>
              <a:rPr lang="en-US" altLang="zh-CN" sz="2400" smtClean="0"/>
              <a:t>int shmctl(int shmid, int cmd, struct shmid_ds *buff);</a:t>
            </a:r>
          </a:p>
          <a:p>
            <a:r>
              <a:rPr lang="zh-CN" altLang="en-US" sz="2400" smtClean="0"/>
              <a:t>返回：成功时为</a:t>
            </a:r>
            <a:r>
              <a:rPr lang="en-US" altLang="zh-CN" sz="2400" smtClean="0"/>
              <a:t>0</a:t>
            </a:r>
            <a:r>
              <a:rPr lang="zh-CN" altLang="en-US" sz="2400" smtClean="0"/>
              <a:t>，出错时为</a:t>
            </a:r>
            <a:r>
              <a:rPr lang="en-US" altLang="zh-CN" sz="2400" smtClean="0"/>
              <a:t>-1</a:t>
            </a:r>
          </a:p>
          <a:p>
            <a:r>
              <a:rPr lang="zh-CN" altLang="en-US" sz="2400" smtClean="0"/>
              <a:t>函数提供三个命令：</a:t>
            </a:r>
          </a:p>
          <a:p>
            <a:endParaRPr lang="zh-CN" altLang="en-US" sz="2400" smtClean="0"/>
          </a:p>
          <a:p>
            <a:pPr lvl="1"/>
            <a:r>
              <a:rPr lang="en-US" altLang="zh-CN" sz="2000" smtClean="0"/>
              <a:t>IPC_RMID</a:t>
            </a:r>
            <a:r>
              <a:rPr lang="zh-CN" altLang="en-US" sz="2000" smtClean="0"/>
              <a:t>：从系统中删除由</a:t>
            </a:r>
            <a:r>
              <a:rPr lang="en-US" altLang="zh-CN" sz="2000" smtClean="0"/>
              <a:t>shmid</a:t>
            </a:r>
            <a:r>
              <a:rPr lang="zh-CN" altLang="en-US" sz="2000" smtClean="0"/>
              <a:t>标识的共享内存区并拆除它。 </a:t>
            </a:r>
          </a:p>
          <a:p>
            <a:pPr lvl="1"/>
            <a:r>
              <a:rPr lang="en-US" altLang="zh-CN" sz="2000" smtClean="0"/>
              <a:t>IPC_SET</a:t>
            </a:r>
            <a:r>
              <a:rPr lang="zh-CN" altLang="en-US" sz="2000" smtClean="0"/>
              <a:t>：给所指定的共享内存区设置其</a:t>
            </a:r>
            <a:r>
              <a:rPr lang="en-US" altLang="zh-CN" sz="2000" smtClean="0"/>
              <a:t>shmid_ds</a:t>
            </a:r>
            <a:r>
              <a:rPr lang="zh-CN" altLang="en-US" sz="2000" smtClean="0"/>
              <a:t>结构的以下三个成员：</a:t>
            </a:r>
            <a:r>
              <a:rPr lang="en-US" altLang="zh-CN" sz="2000" smtClean="0"/>
              <a:t>shm_perm.uid</a:t>
            </a:r>
            <a:r>
              <a:rPr lang="zh-CN" altLang="en-US" sz="2000" smtClean="0"/>
              <a:t>、</a:t>
            </a:r>
            <a:r>
              <a:rPr lang="en-US" altLang="zh-CN" sz="2000" smtClean="0"/>
              <a:t>shm_perm.gid</a:t>
            </a:r>
            <a:r>
              <a:rPr lang="zh-CN" altLang="en-US" sz="2000" smtClean="0"/>
              <a:t>和</a:t>
            </a:r>
            <a:r>
              <a:rPr lang="en-US" altLang="zh-CN" sz="2000" smtClean="0"/>
              <a:t>shm_perm.mode</a:t>
            </a:r>
            <a:r>
              <a:rPr lang="zh-CN" altLang="en-US" sz="2000" smtClean="0"/>
              <a:t>，它们的值来自参数中的相应成员。</a:t>
            </a:r>
            <a:r>
              <a:rPr lang="en-US" altLang="zh-CN" sz="2000" smtClean="0"/>
              <a:t>shm_ctime</a:t>
            </a:r>
            <a:r>
              <a:rPr lang="zh-CN" altLang="en-US" sz="2000" smtClean="0"/>
              <a:t>的值用当前时间替换。 </a:t>
            </a:r>
          </a:p>
          <a:p>
            <a:pPr lvl="1"/>
            <a:r>
              <a:rPr lang="en-US" altLang="zh-CN" sz="2000" smtClean="0"/>
              <a:t>IPC_STAT</a:t>
            </a:r>
            <a:r>
              <a:rPr lang="zh-CN" altLang="en-US" sz="2000" smtClean="0"/>
              <a:t>：向调用者返回所指定共享内存区的当前</a:t>
            </a:r>
            <a:r>
              <a:rPr lang="en-US" altLang="zh-CN" sz="2000" smtClean="0"/>
              <a:t>shmid_ds</a:t>
            </a:r>
            <a:r>
              <a:rPr lang="zh-CN" altLang="en-US" sz="2000" smtClean="0"/>
              <a:t>结构。 </a:t>
            </a:r>
          </a:p>
          <a:p>
            <a:endParaRPr lang="zh-CN" altLang="en-US" sz="2400" smtClean="0"/>
          </a:p>
          <a:p>
            <a:endParaRPr lang="zh-CN" altLang="en-US" sz="2400" smtClean="0"/>
          </a:p>
          <a:p>
            <a:endParaRPr lang="zh-CN" altLang="en-US" sz="2400" smtClean="0"/>
          </a:p>
          <a:p>
            <a:endParaRPr lang="en-US" altLang="zh-CN" sz="2400" smtClean="0"/>
          </a:p>
        </p:txBody>
      </p:sp>
    </p:spTree>
    <p:extLst>
      <p:ext uri="{BB962C8B-B14F-4D97-AF65-F5344CB8AC3E}">
        <p14:creationId xmlns:p14="http://schemas.microsoft.com/office/powerpoint/2010/main" val="2284484084"/>
      </p:ext>
    </p:extLst>
  </p:cSld>
  <p:clrMapOvr>
    <a:masterClrMapping/>
  </p:clrMapOvr>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smtClean="0"/>
              <a:t>关于</a:t>
            </a:r>
            <a:r>
              <a:rPr lang="en-US" altLang="zh-CN" smtClean="0"/>
              <a:t>System V</a:t>
            </a:r>
            <a:r>
              <a:rPr lang="zh-CN" altLang="en-US" smtClean="0"/>
              <a:t>的维护命令</a:t>
            </a:r>
          </a:p>
        </p:txBody>
      </p:sp>
      <p:sp>
        <p:nvSpPr>
          <p:cNvPr id="48131" name="Rectangle 3"/>
          <p:cNvSpPr>
            <a:spLocks noGrp="1" noChangeArrowheads="1"/>
          </p:cNvSpPr>
          <p:nvPr>
            <p:ph idx="1"/>
          </p:nvPr>
        </p:nvSpPr>
        <p:spPr/>
        <p:txBody>
          <a:bodyPr/>
          <a:lstStyle/>
          <a:p>
            <a:r>
              <a:rPr lang="zh-CN" altLang="en-US" sz="3200" smtClean="0"/>
              <a:t>可以用</a:t>
            </a:r>
            <a:r>
              <a:rPr lang="en-US" altLang="zh-CN" sz="3200" smtClean="0"/>
              <a:t>ipcs</a:t>
            </a:r>
            <a:r>
              <a:rPr lang="zh-CN" altLang="en-US" sz="3200" smtClean="0"/>
              <a:t>命令查看</a:t>
            </a:r>
            <a:r>
              <a:rPr lang="en-US" altLang="zh-CN" sz="3200" smtClean="0"/>
              <a:t>system V</a:t>
            </a:r>
            <a:r>
              <a:rPr lang="zh-CN" altLang="en-US" sz="3200" smtClean="0"/>
              <a:t>对象</a:t>
            </a:r>
          </a:p>
          <a:p>
            <a:r>
              <a:rPr lang="zh-CN" altLang="en-US" sz="3200" smtClean="0"/>
              <a:t>用</a:t>
            </a:r>
            <a:r>
              <a:rPr lang="en-US" altLang="zh-CN" sz="3200" smtClean="0"/>
              <a:t>ipcrm</a:t>
            </a:r>
            <a:r>
              <a:rPr lang="zh-CN" altLang="en-US" sz="3200" smtClean="0"/>
              <a:t>可以删除</a:t>
            </a:r>
            <a:r>
              <a:rPr lang="en-US" altLang="zh-CN" sz="3200" smtClean="0"/>
              <a:t>system V </a:t>
            </a:r>
            <a:r>
              <a:rPr lang="zh-CN" altLang="en-US" sz="3200" smtClean="0"/>
              <a:t>对象</a:t>
            </a:r>
          </a:p>
          <a:p>
            <a:pPr lvl="1"/>
            <a:r>
              <a:rPr lang="en-US" altLang="zh-CN" sz="2800" smtClean="0"/>
              <a:t>ipcrm sem 196632 </a:t>
            </a:r>
          </a:p>
          <a:p>
            <a:pPr lvl="2"/>
            <a:r>
              <a:rPr lang="zh-CN" altLang="en-US" sz="2800" smtClean="0"/>
              <a:t>删除</a:t>
            </a:r>
            <a:r>
              <a:rPr lang="en-US" altLang="zh-CN" sz="2800" smtClean="0"/>
              <a:t>semid  </a:t>
            </a:r>
            <a:r>
              <a:rPr lang="zh-CN" altLang="en-US" sz="2800" smtClean="0"/>
              <a:t>为</a:t>
            </a:r>
            <a:r>
              <a:rPr lang="en-US" altLang="zh-CN" sz="2800" smtClean="0"/>
              <a:t>196632</a:t>
            </a:r>
            <a:r>
              <a:rPr lang="zh-CN" altLang="en-US" sz="2800" smtClean="0"/>
              <a:t>的信号量</a:t>
            </a:r>
          </a:p>
          <a:p>
            <a:pPr lvl="1"/>
            <a:r>
              <a:rPr lang="en-US" altLang="zh-CN" sz="2800" smtClean="0"/>
              <a:t>ipcrm shm 12395</a:t>
            </a:r>
          </a:p>
          <a:p>
            <a:pPr lvl="2"/>
            <a:r>
              <a:rPr lang="zh-CN" altLang="en-US" sz="2800" smtClean="0"/>
              <a:t>删除</a:t>
            </a:r>
            <a:r>
              <a:rPr lang="en-US" altLang="zh-CN" sz="2800" smtClean="0"/>
              <a:t>shmid  </a:t>
            </a:r>
            <a:r>
              <a:rPr lang="zh-CN" altLang="en-US" sz="2800" smtClean="0"/>
              <a:t>为</a:t>
            </a:r>
            <a:r>
              <a:rPr lang="en-US" altLang="zh-CN" sz="2800" smtClean="0"/>
              <a:t>12395</a:t>
            </a:r>
            <a:r>
              <a:rPr lang="zh-CN" altLang="en-US" sz="2800" smtClean="0"/>
              <a:t>的共享内存</a:t>
            </a:r>
          </a:p>
          <a:p>
            <a:pPr lvl="1"/>
            <a:r>
              <a:rPr lang="en-US" altLang="zh-CN" sz="2800" smtClean="0"/>
              <a:t>ipcrm msg 234</a:t>
            </a:r>
          </a:p>
          <a:p>
            <a:pPr lvl="2"/>
            <a:r>
              <a:rPr lang="zh-CN" altLang="en-US" sz="2800" smtClean="0"/>
              <a:t>删除</a:t>
            </a:r>
            <a:r>
              <a:rPr lang="en-US" altLang="zh-CN" sz="2800" smtClean="0"/>
              <a:t>msgid</a:t>
            </a:r>
            <a:r>
              <a:rPr lang="zh-CN" altLang="en-US" sz="2800" smtClean="0"/>
              <a:t>为 </a:t>
            </a:r>
            <a:r>
              <a:rPr lang="en-US" altLang="zh-CN" sz="2800" smtClean="0"/>
              <a:t>234</a:t>
            </a:r>
            <a:r>
              <a:rPr lang="zh-CN" altLang="en-US" sz="2800" smtClean="0"/>
              <a:t>的消息队列</a:t>
            </a:r>
          </a:p>
          <a:p>
            <a:pPr lvl="1"/>
            <a:endParaRPr lang="zh-CN" altLang="en-US" sz="2800" smtClean="0"/>
          </a:p>
          <a:p>
            <a:pPr>
              <a:buFont typeface="Wingdings" pitchFamily="2" charset="2"/>
              <a:buNone/>
            </a:pPr>
            <a:endParaRPr lang="en-US" altLang="zh-CN" sz="3200" smtClean="0"/>
          </a:p>
        </p:txBody>
      </p:sp>
    </p:spTree>
    <p:extLst>
      <p:ext uri="{BB962C8B-B14F-4D97-AF65-F5344CB8AC3E}">
        <p14:creationId xmlns:p14="http://schemas.microsoft.com/office/powerpoint/2010/main" val="3664754434"/>
      </p:ext>
    </p:extLst>
  </p:cSld>
  <p:clrMapOvr>
    <a:masterClrMapping/>
  </p:clrMapOvr>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WordArt 3"/>
          <p:cNvSpPr>
            <a:spLocks noChangeArrowheads="1" noChangeShapeType="1" noTextEdit="1"/>
          </p:cNvSpPr>
          <p:nvPr/>
        </p:nvSpPr>
        <p:spPr bwMode="auto">
          <a:xfrm>
            <a:off x="3503712" y="2708920"/>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POSIX IPC</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接口</a:t>
            </a:r>
          </a:p>
        </p:txBody>
      </p:sp>
    </p:spTree>
    <p:extLst>
      <p:ext uri="{BB962C8B-B14F-4D97-AF65-F5344CB8AC3E}">
        <p14:creationId xmlns:p14="http://schemas.microsoft.com/office/powerpoint/2010/main" val="38181217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18115"/>
                                        </p:tgtEl>
                                        <p:attrNameLst>
                                          <p:attrName>style.visibility</p:attrName>
                                        </p:attrNameLst>
                                      </p:cBhvr>
                                      <p:to>
                                        <p:strVal val="visible"/>
                                      </p:to>
                                    </p:set>
                                    <p:anim calcmode="lin" valueType="num">
                                      <p:cBhvr>
                                        <p:cTn id="7" dur="500" fill="hold"/>
                                        <p:tgtEl>
                                          <p:spTgt spid="218115"/>
                                        </p:tgtEl>
                                        <p:attrNameLst>
                                          <p:attrName>ppt_w</p:attrName>
                                        </p:attrNameLst>
                                      </p:cBhvr>
                                      <p:tavLst>
                                        <p:tav tm="0">
                                          <p:val>
                                            <p:fltVal val="0"/>
                                          </p:val>
                                        </p:tav>
                                        <p:tav tm="100000">
                                          <p:val>
                                            <p:strVal val="#ppt_w"/>
                                          </p:val>
                                        </p:tav>
                                      </p:tavLst>
                                    </p:anim>
                                    <p:anim calcmode="lin" valueType="num">
                                      <p:cBhvr>
                                        <p:cTn id="8" dur="500" fill="hold"/>
                                        <p:tgtEl>
                                          <p:spTgt spid="218115"/>
                                        </p:tgtEl>
                                        <p:attrNameLst>
                                          <p:attrName>ppt_h</p:attrName>
                                        </p:attrNameLst>
                                      </p:cBhvr>
                                      <p:tavLst>
                                        <p:tav tm="0">
                                          <p:val>
                                            <p:fltVal val="0"/>
                                          </p:val>
                                        </p:tav>
                                        <p:tav tm="100000">
                                          <p:val>
                                            <p:strVal val="#ppt_h"/>
                                          </p:val>
                                        </p:tav>
                                      </p:tavLst>
                                    </p:anim>
                                    <p:animEffect transition="in" filter="fade">
                                      <p:cBhvr>
                                        <p:cTn id="9" dur="500"/>
                                        <p:tgtEl>
                                          <p:spTgt spid="218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smtClean="0"/>
              <a:t>两大类应用接口区别</a:t>
            </a:r>
          </a:p>
        </p:txBody>
      </p:sp>
      <p:sp>
        <p:nvSpPr>
          <p:cNvPr id="50179" name="Rectangle 3"/>
          <p:cNvSpPr>
            <a:spLocks noGrp="1" noChangeArrowheads="1"/>
          </p:cNvSpPr>
          <p:nvPr>
            <p:ph idx="1"/>
          </p:nvPr>
        </p:nvSpPr>
        <p:spPr/>
        <p:txBody>
          <a:bodyPr/>
          <a:lstStyle/>
          <a:p>
            <a:r>
              <a:rPr lang="en-US" altLang="zh-CN" smtClean="0"/>
              <a:t>System V IPC</a:t>
            </a:r>
            <a:r>
              <a:rPr lang="zh-CN" altLang="en-US" smtClean="0"/>
              <a:t>存在时间比较老</a:t>
            </a:r>
            <a:r>
              <a:rPr lang="en-US" altLang="zh-CN" smtClean="0"/>
              <a:t>,</a:t>
            </a:r>
            <a:r>
              <a:rPr lang="zh-CN" altLang="en-US" smtClean="0"/>
              <a:t>许多系统都支持</a:t>
            </a:r>
            <a:r>
              <a:rPr lang="en-US" altLang="zh-CN" smtClean="0"/>
              <a:t>,</a:t>
            </a:r>
            <a:r>
              <a:rPr lang="zh-CN" altLang="en-US" smtClean="0"/>
              <a:t>而</a:t>
            </a:r>
            <a:r>
              <a:rPr lang="en-US" altLang="zh-CN" smtClean="0"/>
              <a:t>Posix IPC</a:t>
            </a:r>
            <a:r>
              <a:rPr lang="zh-CN" altLang="en-US" smtClean="0"/>
              <a:t>是新出的标准</a:t>
            </a:r>
            <a:r>
              <a:rPr lang="en-US" altLang="zh-CN" smtClean="0"/>
              <a:t>.</a:t>
            </a:r>
            <a:r>
              <a:rPr lang="zh-CN" altLang="en-US" smtClean="0"/>
              <a:t>很多嵌入式平台只支持</a:t>
            </a:r>
            <a:r>
              <a:rPr lang="en-US" altLang="zh-CN" smtClean="0"/>
              <a:t>System V </a:t>
            </a:r>
            <a:r>
              <a:rPr lang="zh-CN" altLang="en-US" smtClean="0"/>
              <a:t>的接口</a:t>
            </a:r>
          </a:p>
          <a:p>
            <a:r>
              <a:rPr lang="en-US" altLang="zh-CN" smtClean="0"/>
              <a:t>System V</a:t>
            </a:r>
            <a:r>
              <a:rPr lang="zh-CN" altLang="en-US" smtClean="0"/>
              <a:t>的接口相对复杂</a:t>
            </a:r>
            <a:r>
              <a:rPr lang="en-US" altLang="zh-CN" smtClean="0"/>
              <a:t>,</a:t>
            </a:r>
            <a:r>
              <a:rPr lang="zh-CN" altLang="en-US" smtClean="0"/>
              <a:t>而</a:t>
            </a:r>
            <a:r>
              <a:rPr lang="en-US" altLang="zh-CN" smtClean="0"/>
              <a:t>POSIX</a:t>
            </a:r>
            <a:r>
              <a:rPr lang="zh-CN" altLang="en-US" smtClean="0"/>
              <a:t>比较简单</a:t>
            </a:r>
            <a:r>
              <a:rPr lang="en-US" altLang="zh-CN" smtClean="0"/>
              <a:t>,</a:t>
            </a:r>
            <a:r>
              <a:rPr lang="zh-CN" altLang="en-US" smtClean="0"/>
              <a:t>优先选择后者</a:t>
            </a:r>
            <a:r>
              <a:rPr lang="en-US" altLang="zh-CN" smtClean="0"/>
              <a:t>.</a:t>
            </a:r>
          </a:p>
          <a:p>
            <a:pPr lvl="1"/>
            <a:r>
              <a:rPr lang="zh-CN" altLang="en-US" smtClean="0"/>
              <a:t>参见</a:t>
            </a:r>
            <a:r>
              <a:rPr lang="en-US" altLang="zh-CN" smtClean="0"/>
              <a:t>system V</a:t>
            </a:r>
            <a:r>
              <a:rPr lang="zh-CN" altLang="en-US" smtClean="0"/>
              <a:t>的信号量和</a:t>
            </a:r>
            <a:r>
              <a:rPr lang="en-US" altLang="zh-CN" smtClean="0"/>
              <a:t>Posix</a:t>
            </a:r>
            <a:r>
              <a:rPr lang="zh-CN" altLang="en-US" smtClean="0"/>
              <a:t>信号量的操作比较</a:t>
            </a:r>
          </a:p>
          <a:p>
            <a:r>
              <a:rPr lang="en-US" altLang="zh-CN" smtClean="0"/>
              <a:t>POSIX IPC</a:t>
            </a:r>
            <a:r>
              <a:rPr lang="zh-CN" altLang="en-US" smtClean="0"/>
              <a:t>是线程安全的</a:t>
            </a:r>
          </a:p>
          <a:p>
            <a:r>
              <a:rPr lang="en-US" altLang="zh-CN" smtClean="0"/>
              <a:t>System V</a:t>
            </a:r>
            <a:r>
              <a:rPr lang="zh-CN" altLang="en-US" smtClean="0"/>
              <a:t>内置在</a:t>
            </a:r>
            <a:r>
              <a:rPr lang="en-US" altLang="zh-CN" smtClean="0"/>
              <a:t>glibc</a:t>
            </a:r>
            <a:r>
              <a:rPr lang="zh-CN" altLang="en-US" smtClean="0"/>
              <a:t>中</a:t>
            </a:r>
            <a:r>
              <a:rPr lang="en-US" altLang="zh-CN" smtClean="0"/>
              <a:t>,</a:t>
            </a:r>
            <a:r>
              <a:rPr lang="zh-CN" altLang="en-US" smtClean="0"/>
              <a:t>因此所有使用</a:t>
            </a:r>
            <a:r>
              <a:rPr lang="en-US" altLang="zh-CN" smtClean="0"/>
              <a:t>glibc</a:t>
            </a:r>
            <a:r>
              <a:rPr lang="zh-CN" altLang="en-US" smtClean="0"/>
              <a:t>库的环境都可以使用</a:t>
            </a:r>
            <a:r>
              <a:rPr lang="en-US" altLang="zh-CN" smtClean="0"/>
              <a:t>,POSIX IPC</a:t>
            </a:r>
            <a:r>
              <a:rPr lang="zh-CN" altLang="en-US" smtClean="0"/>
              <a:t>的使用必须链接</a:t>
            </a:r>
            <a:r>
              <a:rPr lang="en-US" altLang="zh-CN" smtClean="0"/>
              <a:t>librt.XXX</a:t>
            </a:r>
            <a:r>
              <a:rPr lang="zh-CN" altLang="en-US" smtClean="0"/>
              <a:t>库</a:t>
            </a:r>
            <a:r>
              <a:rPr lang="en-US" altLang="zh-CN" smtClean="0"/>
              <a:t>,(</a:t>
            </a:r>
            <a:r>
              <a:rPr lang="zh-CN" altLang="en-US" smtClean="0"/>
              <a:t>即使用</a:t>
            </a:r>
            <a:r>
              <a:rPr lang="en-US" altLang="zh-CN" smtClean="0"/>
              <a:t>-lrt</a:t>
            </a:r>
            <a:r>
              <a:rPr lang="zh-CN" altLang="en-US" smtClean="0"/>
              <a:t>参数</a:t>
            </a:r>
            <a:r>
              <a:rPr lang="en-US" altLang="zh-CN" smtClean="0"/>
              <a:t>)</a:t>
            </a:r>
          </a:p>
        </p:txBody>
      </p:sp>
    </p:spTree>
    <p:extLst>
      <p:ext uri="{BB962C8B-B14F-4D97-AF65-F5344CB8AC3E}">
        <p14:creationId xmlns:p14="http://schemas.microsoft.com/office/powerpoint/2010/main" val="1373829576"/>
      </p:ext>
    </p:extLst>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smtClean="0"/>
              <a:t>POSIX </a:t>
            </a:r>
            <a:r>
              <a:rPr lang="zh-CN" altLang="en-US" smtClean="0"/>
              <a:t>消息队列</a:t>
            </a:r>
          </a:p>
        </p:txBody>
      </p:sp>
      <p:sp>
        <p:nvSpPr>
          <p:cNvPr id="51203" name="Rectangle 3"/>
          <p:cNvSpPr>
            <a:spLocks noGrp="1" noChangeArrowheads="1"/>
          </p:cNvSpPr>
          <p:nvPr>
            <p:ph idx="1"/>
          </p:nvPr>
        </p:nvSpPr>
        <p:spPr/>
        <p:txBody>
          <a:bodyPr/>
          <a:lstStyle/>
          <a:p>
            <a:endParaRPr lang="zh-CN" altLang="zh-CN" smtClean="0"/>
          </a:p>
        </p:txBody>
      </p:sp>
      <p:sp>
        <p:nvSpPr>
          <p:cNvPr id="51204" name="Rectangle 4"/>
          <p:cNvSpPr>
            <a:spLocks noChangeArrowheads="1"/>
          </p:cNvSpPr>
          <p:nvPr/>
        </p:nvSpPr>
        <p:spPr bwMode="auto">
          <a:xfrm>
            <a:off x="6003925" y="2371725"/>
            <a:ext cx="184150" cy="40005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endParaRPr lang="zh-CN" altLang="en-US"/>
          </a:p>
        </p:txBody>
      </p:sp>
      <p:graphicFrame>
        <p:nvGraphicFramePr>
          <p:cNvPr id="219242" name="Group 106"/>
          <p:cNvGraphicFramePr>
            <a:graphicFrameLocks noGrp="1"/>
          </p:cNvGraphicFramePr>
          <p:nvPr/>
        </p:nvGraphicFramePr>
        <p:xfrm>
          <a:off x="1992313" y="2349500"/>
          <a:ext cx="8172450" cy="3560763"/>
        </p:xfrm>
        <a:graphic>
          <a:graphicData uri="http://schemas.openxmlformats.org/drawingml/2006/table">
            <a:tbl>
              <a:tblPr/>
              <a:tblGrid>
                <a:gridCol w="2592387"/>
                <a:gridCol w="5580063"/>
              </a:tblGrid>
              <a:tr h="725617">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接口名称</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目的</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5340">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2"/>
                        </a:rPr>
                        <a:t>mq_open(3RT)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连接到以及创建（可选）命名消息队列</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5340">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3"/>
                        </a:rPr>
                        <a:t>mq_close(3RT)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结束到开放式消息队列的连接</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23">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4"/>
                        </a:rPr>
                        <a:t>mq_unlink(3RT)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结束到开放式消息队列的连接，并在最后一个进程关闭此队列时将其删除</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5340">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5"/>
                        </a:rPr>
                        <a:t>mq_send(3RT)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将消息放入队列</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5340">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6"/>
                        </a:rPr>
                        <a:t>mq_receive(3RT)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在队列中接收（删除）最早且优先级最高的消息</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5340">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7"/>
                        </a:rPr>
                        <a:t>mq_notify(3RT)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通知进程或线程消息已存在于队列中</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23">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8"/>
                        </a:rPr>
                        <a:t>mq_setattr(3RT)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hlinkClick r:id="rId9"/>
                        </a:rPr>
                        <a:t>mq_getattr(3RT)</a:t>
                      </a:r>
                      <a:r>
                        <a:rPr kumimoji="0" lang="en-US" altLang="zh-CN"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设置或获取消息队列属性</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8" marB="4572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651291577"/>
      </p:ext>
    </p:extLst>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smtClean="0"/>
              <a:t>POSIX</a:t>
            </a:r>
            <a:r>
              <a:rPr lang="zh-CN" altLang="en-US" smtClean="0"/>
              <a:t>消息队列使用</a:t>
            </a:r>
          </a:p>
        </p:txBody>
      </p:sp>
      <p:sp>
        <p:nvSpPr>
          <p:cNvPr id="52227" name="Rectangle 3"/>
          <p:cNvSpPr>
            <a:spLocks noGrp="1" noChangeArrowheads="1"/>
          </p:cNvSpPr>
          <p:nvPr>
            <p:ph idx="1"/>
          </p:nvPr>
        </p:nvSpPr>
        <p:spPr/>
        <p:txBody>
          <a:bodyPr/>
          <a:lstStyle/>
          <a:p>
            <a:r>
              <a:rPr lang="zh-CN" altLang="en-US" b="1" smtClean="0"/>
              <a:t>使用头文件</a:t>
            </a:r>
            <a:r>
              <a:rPr lang="en-US" altLang="zh-CN" b="1" smtClean="0"/>
              <a:t>mqueue.h</a:t>
            </a:r>
          </a:p>
          <a:p>
            <a:r>
              <a:rPr lang="zh-CN" altLang="en-US" b="1" smtClean="0"/>
              <a:t>队列数据结构 </a:t>
            </a:r>
            <a:r>
              <a:rPr lang="en-US" altLang="zh-CN" b="1" smtClean="0"/>
              <a:t>mqd_t</a:t>
            </a:r>
          </a:p>
          <a:p>
            <a:r>
              <a:rPr lang="zh-CN" altLang="en-US" b="1" smtClean="0"/>
              <a:t>打开队列</a:t>
            </a:r>
          </a:p>
          <a:p>
            <a:pPr lvl="1"/>
            <a:r>
              <a:rPr lang="en-US" altLang="zh-CN" sz="1800" b="1" smtClean="0"/>
              <a:t>mqd_t mq_open(const char *name, int oflag, /* unsigned long mode, mq_attr attr */ ...);</a:t>
            </a:r>
            <a:r>
              <a:rPr lang="en-US" altLang="zh-CN" sz="1800" smtClean="0"/>
              <a:t> </a:t>
            </a:r>
            <a:endParaRPr lang="en-US" altLang="zh-CN" sz="1800" b="1" smtClean="0"/>
          </a:p>
          <a:p>
            <a:r>
              <a:rPr lang="zh-CN" altLang="en-US" b="1" smtClean="0"/>
              <a:t>关闭队列</a:t>
            </a:r>
          </a:p>
        </p:txBody>
      </p:sp>
    </p:spTree>
    <p:extLst>
      <p:ext uri="{BB962C8B-B14F-4D97-AF65-F5344CB8AC3E}">
        <p14:creationId xmlns:p14="http://schemas.microsoft.com/office/powerpoint/2010/main" val="1898730635"/>
      </p:ext>
    </p:extLst>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zh-CN" smtClean="0"/>
              <a:t>POSIX </a:t>
            </a:r>
            <a:r>
              <a:rPr lang="zh-CN" altLang="en-US" smtClean="0"/>
              <a:t>信号量 </a:t>
            </a:r>
          </a:p>
        </p:txBody>
      </p:sp>
      <p:sp>
        <p:nvSpPr>
          <p:cNvPr id="221187" name="Rectangle 3"/>
          <p:cNvSpPr>
            <a:spLocks noGrp="1" noChangeArrowheads="1"/>
          </p:cNvSpPr>
          <p:nvPr>
            <p:ph idx="1"/>
          </p:nvPr>
        </p:nvSpPr>
        <p:spPr/>
        <p:txBody>
          <a:bodyPr rtlCol="0">
            <a:normAutofit/>
          </a:bodyPr>
          <a:lstStyle/>
          <a:p>
            <a:pPr fontAlgn="auto">
              <a:lnSpc>
                <a:spcPct val="80000"/>
              </a:lnSpc>
              <a:spcAft>
                <a:spcPts val="0"/>
              </a:spcAft>
              <a:buFont typeface="Arial" panose="020B0604020202020204" pitchFamily="34" charset="0"/>
              <a:buChar char="•"/>
              <a:defRPr/>
            </a:pPr>
            <a:r>
              <a:rPr lang="en-US" altLang="zh-CN" sz="1800" dirty="0" err="1"/>
              <a:t>Posix</a:t>
            </a:r>
            <a:r>
              <a:rPr lang="zh-CN" altLang="en-US" sz="1800" dirty="0"/>
              <a:t>信号量的使用远比</a:t>
            </a:r>
            <a:r>
              <a:rPr lang="en-US" altLang="zh-CN" sz="1800" dirty="0"/>
              <a:t>System V</a:t>
            </a:r>
            <a:r>
              <a:rPr lang="zh-CN" altLang="en-US" sz="1800" dirty="0"/>
              <a:t>信号量简单</a:t>
            </a:r>
            <a:r>
              <a:rPr lang="en-US" altLang="zh-CN" sz="1800" dirty="0"/>
              <a:t>.</a:t>
            </a:r>
            <a:r>
              <a:rPr lang="zh-CN" altLang="en-US" sz="1800" dirty="0"/>
              <a:t>而且支持多种操作系统</a:t>
            </a:r>
            <a:r>
              <a:rPr lang="en-US" altLang="zh-CN" sz="1800" dirty="0"/>
              <a:t>.</a:t>
            </a:r>
          </a:p>
          <a:p>
            <a:pPr fontAlgn="auto">
              <a:lnSpc>
                <a:spcPct val="80000"/>
              </a:lnSpc>
              <a:spcAft>
                <a:spcPts val="0"/>
              </a:spcAft>
              <a:buFont typeface="Arial" panose="020B0604020202020204" pitchFamily="34" charset="0"/>
              <a:buChar char="•"/>
              <a:defRPr/>
            </a:pPr>
            <a:r>
              <a:rPr lang="en-US" altLang="zh-CN" sz="1800" b="1" dirty="0" err="1">
                <a:hlinkClick r:id="rId2"/>
              </a:rPr>
              <a:t>sem_open</a:t>
            </a:r>
            <a:r>
              <a:rPr lang="en-US" altLang="zh-CN" sz="1800" b="1" dirty="0">
                <a:hlinkClick r:id="rId2"/>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连接到以及创建（可选）命名信号量</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3"/>
              </a:rPr>
              <a:t>sem_init</a:t>
            </a:r>
            <a:r>
              <a:rPr lang="en-US" altLang="zh-CN" sz="1800" b="1" dirty="0">
                <a:hlinkClick r:id="rId3"/>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初始化信号量结构（在调用程序内部，因此不是命名信号量）</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4"/>
              </a:rPr>
              <a:t>sem_close</a:t>
            </a:r>
            <a:r>
              <a:rPr lang="en-US" altLang="zh-CN" sz="1800" b="1" dirty="0">
                <a:hlinkClick r:id="rId4"/>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结束到打开信号量的连接</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5"/>
              </a:rPr>
              <a:t>sem_unlink</a:t>
            </a:r>
            <a:r>
              <a:rPr lang="en-US" altLang="zh-CN" sz="1800" b="1" dirty="0">
                <a:hlinkClick r:id="rId5"/>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结束到打开信号量的连接，并在最后一个进程关闭此信号量时将其删除</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6"/>
              </a:rPr>
              <a:t>sem_destroy</a:t>
            </a:r>
            <a:r>
              <a:rPr lang="en-US" altLang="zh-CN" sz="1800" b="1" dirty="0">
                <a:hlinkClick r:id="rId6"/>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销毁信号量结构（在调用程序内部，因此不是命名信号量）</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7"/>
              </a:rPr>
              <a:t>sem_getvalue</a:t>
            </a:r>
            <a:r>
              <a:rPr lang="en-US" altLang="zh-CN" sz="1800" b="1" dirty="0">
                <a:hlinkClick r:id="rId7"/>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将信号量的值复制到指定整数中</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8"/>
              </a:rPr>
              <a:t>sem_wait</a:t>
            </a:r>
            <a:r>
              <a:rPr lang="en-US" altLang="zh-CN" sz="1800" b="1" dirty="0">
                <a:hlinkClick r:id="rId8"/>
              </a:rPr>
              <a:t>(3RT)</a:t>
            </a:r>
            <a:r>
              <a:rPr lang="zh-CN" altLang="en-US" sz="1800" b="1" dirty="0"/>
              <a:t>、</a:t>
            </a:r>
            <a:r>
              <a:rPr lang="en-US" altLang="zh-CN" sz="1800" b="1" dirty="0" err="1">
                <a:hlinkClick r:id="rId9"/>
              </a:rPr>
              <a:t>sem_trywait</a:t>
            </a:r>
            <a:r>
              <a:rPr lang="en-US" altLang="zh-CN" sz="1800" b="1" dirty="0">
                <a:hlinkClick r:id="rId9"/>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当其他进程拥有信号量时进行阻塞，或者当其他进程拥有信号量时返回错误</a:t>
            </a:r>
            <a:endParaRPr lang="zh-CN" altLang="en-US" sz="1600" dirty="0"/>
          </a:p>
          <a:p>
            <a:pPr fontAlgn="auto">
              <a:lnSpc>
                <a:spcPct val="80000"/>
              </a:lnSpc>
              <a:spcAft>
                <a:spcPts val="0"/>
              </a:spcAft>
              <a:buFont typeface="Arial" panose="020B0604020202020204" pitchFamily="34" charset="0"/>
              <a:buChar char="•"/>
              <a:defRPr/>
            </a:pPr>
            <a:r>
              <a:rPr lang="en-US" altLang="zh-CN" sz="1800" b="1" dirty="0" err="1">
                <a:hlinkClick r:id="rId10"/>
              </a:rPr>
              <a:t>sem_post</a:t>
            </a:r>
            <a:r>
              <a:rPr lang="en-US" altLang="zh-CN" sz="1800" b="1" dirty="0">
                <a:hlinkClick r:id="rId10"/>
              </a:rPr>
              <a:t>(3RT)</a:t>
            </a:r>
            <a:r>
              <a:rPr lang="en-US" altLang="zh-CN" sz="1800" b="1" dirty="0"/>
              <a:t> </a:t>
            </a:r>
          </a:p>
          <a:p>
            <a:pPr lvl="1" fontAlgn="auto">
              <a:lnSpc>
                <a:spcPct val="80000"/>
              </a:lnSpc>
              <a:spcAft>
                <a:spcPts val="0"/>
              </a:spcAft>
              <a:buFont typeface="Arial" panose="020B0604020202020204" pitchFamily="34" charset="0"/>
              <a:buChar char="•"/>
              <a:defRPr/>
            </a:pPr>
            <a:r>
              <a:rPr lang="zh-CN" altLang="en-US" sz="1600" b="1" dirty="0"/>
              <a:t>递增信号量计数</a:t>
            </a:r>
            <a:endParaRPr lang="zh-CN" altLang="en-US" sz="1600" dirty="0"/>
          </a:p>
          <a:p>
            <a:pPr fontAlgn="auto">
              <a:lnSpc>
                <a:spcPct val="80000"/>
              </a:lnSpc>
              <a:spcAft>
                <a:spcPts val="0"/>
              </a:spcAft>
              <a:buFont typeface="Arial" panose="020B0604020202020204" pitchFamily="34" charset="0"/>
              <a:buChar char="•"/>
              <a:defRPr/>
            </a:pPr>
            <a:endParaRPr lang="en-US" altLang="zh-CN" sz="1800" dirty="0"/>
          </a:p>
        </p:txBody>
      </p:sp>
    </p:spTree>
    <p:extLst>
      <p:ext uri="{BB962C8B-B14F-4D97-AF65-F5344CB8AC3E}">
        <p14:creationId xmlns:p14="http://schemas.microsoft.com/office/powerpoint/2010/main" val="364684210"/>
      </p:ext>
    </p:extLst>
  </p:cSld>
  <p:clrMapOvr>
    <a:masterClrMapping/>
  </p:clrMapOvr>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WordArt 3"/>
          <p:cNvSpPr>
            <a:spLocks noChangeArrowheads="1" noChangeShapeType="1" noTextEdit="1"/>
          </p:cNvSpPr>
          <p:nvPr/>
        </p:nvSpPr>
        <p:spPr bwMode="auto">
          <a:xfrm>
            <a:off x="3791744" y="2924944"/>
            <a:ext cx="5616575" cy="647700"/>
          </a:xfrm>
          <a:prstGeom prst="rect">
            <a:avLst/>
          </a:prstGeom>
        </p:spPr>
        <p:txBody>
          <a:bodyPr wrap="none" fromWordArt="1">
            <a:prstTxWarp prst="textDeflate">
              <a:avLst>
                <a:gd name="adj" fmla="val 0"/>
              </a:avLst>
            </a:prstTxWarp>
          </a:bodyPr>
          <a:lstStyle/>
          <a:p>
            <a:pPr algn="ctr" eaLnBrk="1" hangingPunct="1">
              <a:defRPr/>
            </a:pPr>
            <a:r>
              <a:rPr lang="en-US" altLang="zh-CN" sz="3600" b="1" kern="10" dirty="0">
                <a:ln w="19050">
                  <a:solidFill>
                    <a:schemeClr val="bg1"/>
                  </a:solidFill>
                  <a:round/>
                  <a:headEnd/>
                  <a:tailEnd/>
                </a:ln>
                <a:latin typeface="Arial" panose="020B0604020202020204" pitchFamily="34" charset="0"/>
                <a:ea typeface="+mn-ea"/>
                <a:cs typeface="Arial" panose="020B0604020202020204" pitchFamily="34" charset="0"/>
              </a:rPr>
              <a:t>POSIX</a:t>
            </a:r>
            <a:r>
              <a:rPr lang="zh-CN" altLang="en-US" sz="3600" b="1" kern="10" dirty="0">
                <a:ln w="19050">
                  <a:solidFill>
                    <a:schemeClr val="bg1"/>
                  </a:solidFill>
                  <a:round/>
                  <a:headEnd/>
                  <a:tailEnd/>
                </a:ln>
                <a:latin typeface="Arial" panose="020B0604020202020204" pitchFamily="34" charset="0"/>
                <a:ea typeface="+mn-ea"/>
                <a:cs typeface="Arial" panose="020B0604020202020204" pitchFamily="34" charset="0"/>
              </a:rPr>
              <a:t>共享内存</a:t>
            </a:r>
          </a:p>
        </p:txBody>
      </p:sp>
    </p:spTree>
    <p:extLst>
      <p:ext uri="{BB962C8B-B14F-4D97-AF65-F5344CB8AC3E}">
        <p14:creationId xmlns:p14="http://schemas.microsoft.com/office/powerpoint/2010/main" val="3058139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0" fill="hold">
                                          <p:stCondLst>
                                            <p:cond delay="0"/>
                                          </p:stCondLst>
                                        </p:cTn>
                                        <p:tgtEl>
                                          <p:spTgt spid="207875"/>
                                        </p:tgtEl>
                                        <p:attrNameLst>
                                          <p:attrName>style.visibility</p:attrName>
                                        </p:attrNameLst>
                                      </p:cBhvr>
                                      <p:to>
                                        <p:strVal val="visible"/>
                                      </p:to>
                                    </p:set>
                                    <p:anim calcmode="lin" valueType="num">
                                      <p:cBhvr>
                                        <p:cTn id="7" dur="500" fill="hold"/>
                                        <p:tgtEl>
                                          <p:spTgt spid="207875"/>
                                        </p:tgtEl>
                                        <p:attrNameLst>
                                          <p:attrName>ppt_w</p:attrName>
                                        </p:attrNameLst>
                                      </p:cBhvr>
                                      <p:tavLst>
                                        <p:tav tm="0">
                                          <p:val>
                                            <p:fltVal val="0"/>
                                          </p:val>
                                        </p:tav>
                                        <p:tav tm="100000">
                                          <p:val>
                                            <p:strVal val="#ppt_w"/>
                                          </p:val>
                                        </p:tav>
                                      </p:tavLst>
                                    </p:anim>
                                    <p:anim calcmode="lin" valueType="num">
                                      <p:cBhvr>
                                        <p:cTn id="8" dur="500" fill="hold"/>
                                        <p:tgtEl>
                                          <p:spTgt spid="207875"/>
                                        </p:tgtEl>
                                        <p:attrNameLst>
                                          <p:attrName>ppt_h</p:attrName>
                                        </p:attrNameLst>
                                      </p:cBhvr>
                                      <p:tavLst>
                                        <p:tav tm="0">
                                          <p:val>
                                            <p:fltVal val="0"/>
                                          </p:val>
                                        </p:tav>
                                        <p:tav tm="100000">
                                          <p:val>
                                            <p:strVal val="#ppt_h"/>
                                          </p:val>
                                        </p:tav>
                                      </p:tavLst>
                                    </p:anim>
                                    <p:animEffect transition="in" filter="fade">
                                      <p:cBhvr>
                                        <p:cTn id="9" dur="500"/>
                                        <p:tgtEl>
                                          <p:spTgt spid="207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共享内存</a:t>
            </a:r>
          </a:p>
        </p:txBody>
      </p:sp>
      <p:sp>
        <p:nvSpPr>
          <p:cNvPr id="55299" name="Rectangle 3"/>
          <p:cNvSpPr>
            <a:spLocks noGrp="1" noChangeArrowheads="1"/>
          </p:cNvSpPr>
          <p:nvPr>
            <p:ph idx="1"/>
          </p:nvPr>
        </p:nvSpPr>
        <p:spPr/>
        <p:txBody>
          <a:bodyPr/>
          <a:lstStyle/>
          <a:p>
            <a:r>
              <a:rPr lang="zh-CN" altLang="en-US" sz="2400" smtClean="0"/>
              <a:t>共享内存可以说是最有用的进程间通信方式，也是最快的</a:t>
            </a:r>
            <a:r>
              <a:rPr lang="en-US" altLang="zh-CN" sz="2400" smtClean="0"/>
              <a:t>IPC</a:t>
            </a:r>
            <a:r>
              <a:rPr lang="zh-CN" altLang="en-US" sz="2400" smtClean="0"/>
              <a:t>形式。两个不同进程</a:t>
            </a:r>
            <a:r>
              <a:rPr lang="en-US" altLang="zh-CN" sz="2400" smtClean="0"/>
              <a:t>A</a:t>
            </a:r>
            <a:r>
              <a:rPr lang="zh-CN" altLang="en-US" sz="2400" smtClean="0"/>
              <a:t>、</a:t>
            </a:r>
            <a:r>
              <a:rPr lang="en-US" altLang="zh-CN" sz="2400" smtClean="0"/>
              <a:t>B</a:t>
            </a:r>
            <a:r>
              <a:rPr lang="zh-CN" altLang="en-US" sz="2400" smtClean="0"/>
              <a:t>共享内存的意思是，同一块物理内存被映射到进程</a:t>
            </a:r>
            <a:r>
              <a:rPr lang="en-US" altLang="zh-CN" sz="2400" smtClean="0"/>
              <a:t>A</a:t>
            </a:r>
            <a:r>
              <a:rPr lang="zh-CN" altLang="en-US" sz="2400" smtClean="0"/>
              <a:t>、</a:t>
            </a:r>
            <a:r>
              <a:rPr lang="en-US" altLang="zh-CN" sz="2400" smtClean="0"/>
              <a:t>B</a:t>
            </a:r>
            <a:r>
              <a:rPr lang="zh-CN" altLang="en-US" sz="2400" smtClean="0"/>
              <a:t>各自的进程地址空间。进程</a:t>
            </a:r>
            <a:r>
              <a:rPr lang="en-US" altLang="zh-CN" sz="2400" smtClean="0"/>
              <a:t>A</a:t>
            </a:r>
            <a:r>
              <a:rPr lang="zh-CN" altLang="en-US" sz="2400" smtClean="0"/>
              <a:t>可以即时看到进程</a:t>
            </a:r>
            <a:r>
              <a:rPr lang="en-US" altLang="zh-CN" sz="2400" smtClean="0"/>
              <a:t>B</a:t>
            </a:r>
            <a:r>
              <a:rPr lang="zh-CN" altLang="en-US" sz="2400" smtClean="0"/>
              <a:t>对共享内存中数据的更新，反之亦然。</a:t>
            </a:r>
          </a:p>
          <a:p>
            <a:r>
              <a:rPr lang="zh-CN" altLang="en-US" sz="2400" smtClean="0"/>
              <a:t>由于多个进程共享同一块内存区域，必然需要某种同步机制，互斥锁和信号量都可以。</a:t>
            </a:r>
          </a:p>
          <a:p>
            <a:r>
              <a:rPr lang="zh-CN" altLang="en-US" sz="2400" smtClean="0"/>
              <a:t>共享内存通信的一个显而易见的好处是效率高，因为进程可以直接读写内存，而不需要任何数据的拷贝。对于像管道和消息队列等通信方式，则需要在内核和用户空间进行四次的数据拷贝，而共享内存则只拷贝两次数据</a:t>
            </a:r>
            <a:r>
              <a:rPr lang="en-US" altLang="zh-CN" sz="2400" smtClean="0"/>
              <a:t>[1]</a:t>
            </a:r>
            <a:r>
              <a:rPr lang="zh-CN" altLang="en-US" sz="2400" smtClean="0"/>
              <a:t>：一次从输入文件到共享内存区，另一次从共享内存区到输出文件。 </a:t>
            </a:r>
          </a:p>
          <a:p>
            <a:r>
              <a:rPr lang="zh-CN" altLang="en-US" sz="2400" smtClean="0"/>
              <a:t>共享内存广泛被应用数据库系统实现到驱动程序各种应用 </a:t>
            </a:r>
          </a:p>
        </p:txBody>
      </p:sp>
    </p:spTree>
    <p:extLst>
      <p:ext uri="{BB962C8B-B14F-4D97-AF65-F5344CB8AC3E}">
        <p14:creationId xmlns:p14="http://schemas.microsoft.com/office/powerpoint/2010/main" val="4242625448"/>
      </p:ext>
    </p:extLst>
  </p:cSld>
  <p:clrMapOvr>
    <a:masterClrMapping/>
  </p:clrMapOvr>
  <p:timing>
    <p:tnLst>
      <p:par>
        <p:cTn id="1" dur="indefinite" restart="never" nodeType="tmRoot"/>
      </p:par>
    </p:tn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smtClean="0"/>
              <a:t>共享内存的实现</a:t>
            </a:r>
          </a:p>
        </p:txBody>
      </p:sp>
      <p:sp>
        <p:nvSpPr>
          <p:cNvPr id="56323" name="Rectangle 3"/>
          <p:cNvSpPr>
            <a:spLocks noGrp="1" noChangeArrowheads="1"/>
          </p:cNvSpPr>
          <p:nvPr>
            <p:ph idx="1"/>
          </p:nvPr>
        </p:nvSpPr>
        <p:spPr>
          <a:xfrm>
            <a:off x="627185" y="1056177"/>
            <a:ext cx="10972800" cy="4857750"/>
          </a:xfrm>
        </p:spPr>
        <p:txBody>
          <a:bodyPr/>
          <a:lstStyle/>
          <a:p>
            <a:r>
              <a:rPr lang="en-US" altLang="zh-CN" smtClean="0"/>
              <a:t>Linux</a:t>
            </a:r>
            <a:r>
              <a:rPr lang="zh-CN" altLang="en-US" smtClean="0"/>
              <a:t>有三种共享内存实现机制</a:t>
            </a:r>
          </a:p>
          <a:p>
            <a:pPr lvl="1"/>
            <a:r>
              <a:rPr lang="en-US" altLang="zh-CN" smtClean="0"/>
              <a:t>mmap()</a:t>
            </a:r>
          </a:p>
          <a:p>
            <a:pPr lvl="1"/>
            <a:r>
              <a:rPr lang="en-US" altLang="zh-CN" smtClean="0"/>
              <a:t>System V </a:t>
            </a:r>
            <a:r>
              <a:rPr lang="zh-CN" altLang="en-US" smtClean="0"/>
              <a:t>共享内存</a:t>
            </a:r>
          </a:p>
          <a:p>
            <a:pPr lvl="1"/>
            <a:r>
              <a:rPr lang="en-US" altLang="zh-CN" smtClean="0"/>
              <a:t>Posix </a:t>
            </a:r>
            <a:r>
              <a:rPr lang="zh-CN" altLang="en-US" smtClean="0"/>
              <a:t>共享内存</a:t>
            </a:r>
          </a:p>
          <a:p>
            <a:pPr lvl="1"/>
            <a:r>
              <a:rPr lang="zh-CN" altLang="en-US" smtClean="0"/>
              <a:t>前两者较为常用</a:t>
            </a:r>
          </a:p>
          <a:p>
            <a:r>
              <a:rPr lang="zh-CN" altLang="en-US" smtClean="0"/>
              <a:t>系统调用</a:t>
            </a:r>
            <a:r>
              <a:rPr lang="en-US" altLang="zh-CN" smtClean="0"/>
              <a:t>mmap()</a:t>
            </a:r>
            <a:r>
              <a:rPr lang="zh-CN" altLang="en-US" smtClean="0"/>
              <a:t>通过映射一个普通文件实现共享内存。系统</a:t>
            </a:r>
            <a:r>
              <a:rPr lang="en-US" altLang="zh-CN" smtClean="0"/>
              <a:t>V</a:t>
            </a:r>
            <a:r>
              <a:rPr lang="zh-CN" altLang="en-US" smtClean="0"/>
              <a:t>则是通过映射特殊文件系统</a:t>
            </a:r>
            <a:r>
              <a:rPr lang="en-US" altLang="zh-CN" smtClean="0"/>
              <a:t>shm</a:t>
            </a:r>
            <a:r>
              <a:rPr lang="zh-CN" altLang="en-US" smtClean="0"/>
              <a:t>中的文件实现进程间的共享内存通信。也就是说，每个共享内存区域对应特殊文件系统</a:t>
            </a:r>
            <a:r>
              <a:rPr lang="en-US" altLang="zh-CN" smtClean="0"/>
              <a:t>shm</a:t>
            </a:r>
            <a:r>
              <a:rPr lang="zh-CN" altLang="en-US" smtClean="0"/>
              <a:t>中的一个文件（这是通过</a:t>
            </a:r>
            <a:r>
              <a:rPr lang="en-US" altLang="zh-CN" smtClean="0"/>
              <a:t>shmid_kernel</a:t>
            </a:r>
            <a:r>
              <a:rPr lang="zh-CN" altLang="en-US" smtClean="0"/>
              <a:t>结构联系起来的</a:t>
            </a:r>
            <a:r>
              <a:rPr lang="en-US" altLang="zh-CN" smtClean="0"/>
              <a:t>)</a:t>
            </a:r>
          </a:p>
          <a:p>
            <a:pPr lvl="1"/>
            <a:endParaRPr lang="en-US" altLang="zh-CN" smtClean="0"/>
          </a:p>
        </p:txBody>
      </p:sp>
    </p:spTree>
    <p:extLst>
      <p:ext uri="{BB962C8B-B14F-4D97-AF65-F5344CB8AC3E}">
        <p14:creationId xmlns:p14="http://schemas.microsoft.com/office/powerpoint/2010/main" val="3185950414"/>
      </p:ext>
    </p:extLst>
  </p:cSld>
  <p:clrMapOvr>
    <a:masterClrMapping/>
  </p:clrMapOvr>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zh-CN" smtClean="0"/>
              <a:t>mmap</a:t>
            </a:r>
          </a:p>
        </p:txBody>
      </p:sp>
      <p:sp>
        <p:nvSpPr>
          <p:cNvPr id="57347" name="Rectangle 3"/>
          <p:cNvSpPr>
            <a:spLocks noGrp="1" noChangeArrowheads="1"/>
          </p:cNvSpPr>
          <p:nvPr>
            <p:ph idx="1"/>
          </p:nvPr>
        </p:nvSpPr>
        <p:spPr/>
        <p:txBody>
          <a:bodyPr/>
          <a:lstStyle/>
          <a:p>
            <a:r>
              <a:rPr lang="en-US" altLang="zh-CN" smtClean="0"/>
              <a:t>mmap</a:t>
            </a:r>
            <a:r>
              <a:rPr lang="zh-CN" altLang="en-US" smtClean="0"/>
              <a:t>函数把一个文件或一个</a:t>
            </a:r>
            <a:r>
              <a:rPr lang="en-US" altLang="zh-CN" smtClean="0"/>
              <a:t>Posix</a:t>
            </a:r>
            <a:r>
              <a:rPr lang="zh-CN" altLang="en-US" smtClean="0"/>
              <a:t>共享内存区对象映射到调用进程的地址空间。使用该函数有三个目的：</a:t>
            </a:r>
          </a:p>
          <a:p>
            <a:pPr lvl="1"/>
            <a:r>
              <a:rPr lang="zh-CN" altLang="en-US" smtClean="0">
                <a:latin typeface="Arial" charset="0"/>
              </a:rPr>
              <a:t>      </a:t>
            </a:r>
            <a:r>
              <a:rPr lang="zh-CN" altLang="en-US" smtClean="0"/>
              <a:t> </a:t>
            </a:r>
            <a:r>
              <a:rPr lang="en-US" altLang="zh-CN" smtClean="0"/>
              <a:t>1.</a:t>
            </a:r>
            <a:r>
              <a:rPr lang="zh-CN" altLang="en-US" smtClean="0"/>
              <a:t>使用普通文件以提供内存映射</a:t>
            </a:r>
            <a:r>
              <a:rPr lang="en-US" altLang="zh-CN" smtClean="0"/>
              <a:t>I/O</a:t>
            </a:r>
          </a:p>
          <a:p>
            <a:pPr lvl="1"/>
            <a:r>
              <a:rPr lang="en-US" altLang="zh-CN" smtClean="0">
                <a:latin typeface="Arial" charset="0"/>
              </a:rPr>
              <a:t>      </a:t>
            </a:r>
            <a:r>
              <a:rPr lang="en-US" altLang="zh-CN" smtClean="0"/>
              <a:t> 2.</a:t>
            </a:r>
            <a:r>
              <a:rPr lang="zh-CN" altLang="en-US" smtClean="0"/>
              <a:t>使用特殊文件以提供匿名内存映射。</a:t>
            </a:r>
          </a:p>
          <a:p>
            <a:pPr lvl="1"/>
            <a:r>
              <a:rPr lang="zh-CN" altLang="en-US" smtClean="0">
                <a:latin typeface="Arial" charset="0"/>
              </a:rPr>
              <a:t>      </a:t>
            </a:r>
            <a:r>
              <a:rPr lang="zh-CN" altLang="en-US" smtClean="0"/>
              <a:t> </a:t>
            </a:r>
            <a:r>
              <a:rPr lang="en-US" altLang="zh-CN" smtClean="0"/>
              <a:t>3.</a:t>
            </a:r>
            <a:r>
              <a:rPr lang="zh-CN" altLang="en-US" smtClean="0"/>
              <a:t>使用</a:t>
            </a:r>
            <a:r>
              <a:rPr lang="en-US" altLang="zh-CN" smtClean="0"/>
              <a:t>shm_open</a:t>
            </a:r>
            <a:r>
              <a:rPr lang="zh-CN" altLang="en-US" smtClean="0"/>
              <a:t>以提供无亲缘关系进程间的</a:t>
            </a:r>
            <a:r>
              <a:rPr lang="en-US" altLang="zh-CN" smtClean="0"/>
              <a:t>Posix</a:t>
            </a:r>
            <a:r>
              <a:rPr lang="zh-CN" altLang="en-US" smtClean="0"/>
              <a:t>共享内存区 </a:t>
            </a:r>
          </a:p>
        </p:txBody>
      </p:sp>
    </p:spTree>
    <p:extLst>
      <p:ext uri="{BB962C8B-B14F-4D97-AF65-F5344CB8AC3E}">
        <p14:creationId xmlns:p14="http://schemas.microsoft.com/office/powerpoint/2010/main" val="2803336030"/>
      </p:ext>
    </p:extLst>
  </p:cSld>
  <p:clrMapOvr>
    <a:masterClrMapping/>
  </p:clrMapOvr>
  <p:timing>
    <p:tnLst>
      <p:par>
        <p:cTn id="1" dur="indefinite" restart="never" nodeType="tmRoot"/>
      </p:par>
    </p:tn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768" name="Rectangle 136"/>
          <p:cNvSpPr>
            <a:spLocks noGrp="1" noChangeArrowheads="1"/>
          </p:cNvSpPr>
          <p:nvPr>
            <p:ph type="title"/>
          </p:nvPr>
        </p:nvSpPr>
        <p:spPr>
          <a:xfrm>
            <a:off x="1516673" y="342167"/>
            <a:ext cx="8401050" cy="603250"/>
          </a:xfrm>
        </p:spPr>
        <p:txBody>
          <a:bodyPr rtlCol="0">
            <a:normAutofit fontScale="90000"/>
          </a:bodyPr>
          <a:lstStyle/>
          <a:p>
            <a:pPr fontAlgn="auto">
              <a:spcAft>
                <a:spcPts val="0"/>
              </a:spcAft>
              <a:defRPr/>
            </a:pPr>
            <a:r>
              <a:rPr lang="en-US" altLang="zh-CN" dirty="0" err="1"/>
              <a:t>mmap</a:t>
            </a:r>
            <a:r>
              <a:rPr lang="en-US" altLang="zh-CN" dirty="0"/>
              <a:t>-</a:t>
            </a:r>
            <a:r>
              <a:rPr lang="zh-CN" altLang="en-US" dirty="0"/>
              <a:t>创建一个共享内存区</a:t>
            </a:r>
          </a:p>
        </p:txBody>
      </p:sp>
      <p:graphicFrame>
        <p:nvGraphicFramePr>
          <p:cNvPr id="197776" name="Group 144"/>
          <p:cNvGraphicFramePr>
            <a:graphicFrameLocks noGrp="1"/>
          </p:cNvGraphicFramePr>
          <p:nvPr>
            <p:ph type="tbl" idx="1"/>
            <p:extLst>
              <p:ext uri="{D42A27DB-BD31-4B8C-83A1-F6EECF244321}">
                <p14:modId xmlns:p14="http://schemas.microsoft.com/office/powerpoint/2010/main" val="347518497"/>
              </p:ext>
            </p:extLst>
          </p:nvPr>
        </p:nvGraphicFramePr>
        <p:xfrm>
          <a:off x="1972407" y="1081454"/>
          <a:ext cx="8362950" cy="5224463"/>
        </p:xfrm>
        <a:graphic>
          <a:graphicData uri="http://schemas.openxmlformats.org/drawingml/2006/table">
            <a:tbl>
              <a:tblPr>
                <a:tableStyleId>{775DCB02-9BB8-47FD-8907-85C794F793BA}</a:tableStyleId>
              </a:tblPr>
              <a:tblGrid>
                <a:gridCol w="1871663"/>
                <a:gridCol w="6491287"/>
              </a:tblGrid>
              <a:tr h="4635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名称</a:t>
                      </a:r>
                      <a:r>
                        <a:rPr kumimoji="0" lang="en-US" altLang="zh-CN" sz="1600" u="none" strike="noStrike" cap="none" normalizeH="0" baseline="0" dirty="0" smtClean="0">
                          <a:ln>
                            <a:noFill/>
                          </a:ln>
                          <a:effectLst/>
                        </a:rPr>
                        <a:t>:</a:t>
                      </a:r>
                      <a:r>
                        <a:rPr kumimoji="0" lang="zh-CN" altLang="en-US" sz="1600" u="none" strike="noStrike" cap="none" normalizeH="0" baseline="0" dirty="0" smtClean="0">
                          <a:ln>
                            <a:noFill/>
                          </a:ln>
                          <a:effectLst/>
                        </a:rPr>
                        <a:t>：</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err="1" smtClean="0">
                          <a:ln>
                            <a:noFill/>
                          </a:ln>
                          <a:effectLst/>
                        </a:rPr>
                        <a:t>mmap</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4635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功能：</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把</a:t>
                      </a:r>
                      <a:r>
                        <a:rPr kumimoji="0" lang="en-US" altLang="zh-CN" sz="1600" u="none" strike="noStrike" cap="none" normalizeH="0" baseline="0" smtClean="0">
                          <a:ln>
                            <a:noFill/>
                          </a:ln>
                          <a:effectLst/>
                        </a:rPr>
                        <a:t>I/O</a:t>
                      </a:r>
                      <a:r>
                        <a:rPr kumimoji="0" lang="zh-CN" altLang="en-US" sz="1600" u="none" strike="noStrike" cap="none" normalizeH="0" baseline="0" smtClean="0">
                          <a:ln>
                            <a:noFill/>
                          </a:ln>
                          <a:effectLst/>
                        </a:rPr>
                        <a:t>文件映射到一个存储区域中</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r>
              <a:tr h="46355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头文件：</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#include &lt;sys/mman.h&gt;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77470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函数原形：</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void *mmap(void *addr,size_t len,int prot,int flag,int filedes,off_t off);</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201453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参数：</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addr      </a:t>
                      </a:r>
                      <a:r>
                        <a:rPr kumimoji="0" lang="zh-CN" altLang="en-US" sz="1600" u="none" strike="noStrike" cap="none" normalizeH="0" baseline="0" smtClean="0">
                          <a:ln>
                            <a:noFill/>
                          </a:ln>
                          <a:effectLst/>
                        </a:rPr>
                        <a:t>指向映射存储区的起始地址</a:t>
                      </a:r>
                      <a:r>
                        <a:rPr kumimoji="0" lang="en-US" altLang="zh-CN" sz="1600" u="none" strike="noStrike" cap="none" normalizeH="0" baseline="0" smtClean="0">
                          <a:ln>
                            <a:noFill/>
                          </a:ln>
                          <a:effectLst/>
                        </a:rPr>
                        <a:t>,addr</a:t>
                      </a:r>
                      <a:r>
                        <a:rPr kumimoji="0" lang="zh-CN" altLang="en-US" sz="1600" u="none" strike="noStrike" cap="none" normalizeH="0" baseline="0" smtClean="0">
                          <a:ln>
                            <a:noFill/>
                          </a:ln>
                          <a:effectLst/>
                        </a:rPr>
                        <a:t>参数用于指定映射存储区的起始地址。通常将其设置为</a:t>
                      </a:r>
                      <a:r>
                        <a:rPr kumimoji="0" lang="en-US" altLang="zh-CN" sz="1600" u="none" strike="noStrike" cap="none" normalizeH="0" baseline="0" smtClean="0">
                          <a:ln>
                            <a:noFill/>
                          </a:ln>
                          <a:effectLst/>
                        </a:rPr>
                        <a:t>NULL</a:t>
                      </a:r>
                      <a:r>
                        <a:rPr kumimoji="0" lang="zh-CN" altLang="en-US" sz="1600" u="none" strike="noStrike" cap="none" normalizeH="0" baseline="0" smtClean="0">
                          <a:ln>
                            <a:noFill/>
                          </a:ln>
                          <a:effectLst/>
                        </a:rPr>
                        <a:t>，这表示由系统选择该映射区的起始地址。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len       </a:t>
                      </a:r>
                      <a:r>
                        <a:rPr kumimoji="0" lang="zh-CN" altLang="en-US" sz="1600" u="none" strike="noStrike" cap="none" normalizeH="0" baseline="0" smtClean="0">
                          <a:ln>
                            <a:noFill/>
                          </a:ln>
                          <a:effectLst/>
                        </a:rPr>
                        <a:t>映射的字节</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prot      </a:t>
                      </a:r>
                      <a:r>
                        <a:rPr kumimoji="0" lang="zh-CN" altLang="en-US" sz="1600" u="none" strike="noStrike" cap="none" normalizeH="0" baseline="0" smtClean="0">
                          <a:ln>
                            <a:noFill/>
                          </a:ln>
                          <a:effectLst/>
                        </a:rPr>
                        <a:t>对映射存储区的保护要求</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flag      flag</a:t>
                      </a:r>
                      <a:r>
                        <a:rPr kumimoji="0" lang="zh-CN" altLang="en-US" sz="1600" u="none" strike="noStrike" cap="none" normalizeH="0" baseline="0" smtClean="0">
                          <a:ln>
                            <a:noFill/>
                          </a:ln>
                          <a:effectLst/>
                        </a:rPr>
                        <a:t>标志位</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filedes    </a:t>
                      </a:r>
                      <a:r>
                        <a:rPr kumimoji="0" lang="zh-CN" altLang="en-US" sz="1600" u="none" strike="noStrike" cap="none" normalizeH="0" baseline="0" smtClean="0">
                          <a:ln>
                            <a:noFill/>
                          </a:ln>
                          <a:effectLst/>
                        </a:rPr>
                        <a:t>要被映射文件的描述符</a:t>
                      </a:r>
                      <a:r>
                        <a:rPr kumimoji="0" lang="en-US" altLang="zh-CN" sz="1600" u="none" strike="noStrike" cap="none" normalizeH="0" baseline="0" smtClean="0">
                          <a:ln>
                            <a:noFill/>
                          </a:ln>
                          <a:effectLst/>
                        </a:rPr>
                        <a:t>, </a:t>
                      </a:r>
                      <a:r>
                        <a:rPr kumimoji="0" lang="zh-CN" altLang="en-US" sz="1600" u="none" strike="noStrike" cap="none" normalizeH="0" baseline="0" smtClean="0">
                          <a:ln>
                            <a:noFill/>
                          </a:ln>
                          <a:effectLst/>
                        </a:rPr>
                        <a:t>在映射该文件到一个地址空间之前，先要打开该文件。</a:t>
                      </a:r>
                      <a:r>
                        <a:rPr kumimoji="0" lang="en-US" altLang="zh-CN" sz="1600" u="none" strike="noStrike" cap="none" normalizeH="0" baseline="0" smtClean="0">
                          <a:ln>
                            <a:noFill/>
                          </a:ln>
                          <a:effectLst/>
                        </a:rPr>
                        <a:t>len</a:t>
                      </a:r>
                      <a:r>
                        <a:rPr kumimoji="0" lang="zh-CN" altLang="en-US" sz="1600" u="none" strike="noStrike" cap="none" normalizeH="0" baseline="0" smtClean="0">
                          <a:ln>
                            <a:noFill/>
                          </a:ln>
                          <a:effectLst/>
                        </a:rPr>
                        <a:t>是映射的字节数。</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smtClean="0">
                          <a:ln>
                            <a:noFill/>
                          </a:ln>
                          <a:effectLst/>
                        </a:rPr>
                        <a:t>off       </a:t>
                      </a:r>
                      <a:r>
                        <a:rPr kumimoji="0" lang="zh-CN" altLang="en-US" sz="1600" u="none" strike="noStrike" cap="none" normalizeH="0" baseline="0" smtClean="0">
                          <a:ln>
                            <a:noFill/>
                          </a:ln>
                          <a:effectLst/>
                        </a:rPr>
                        <a:t>要映射字节在文件中的起始偏移量</a:t>
                      </a:r>
                      <a:r>
                        <a:rPr kumimoji="0" lang="en-US" altLang="zh-CN" sz="1600" u="none" strike="noStrike" cap="none" normalizeH="0" baseline="0" smtClean="0">
                          <a:ln>
                            <a:noFill/>
                          </a:ln>
                          <a:effectLst/>
                        </a:rPr>
                        <a:t>,</a:t>
                      </a:r>
                      <a:r>
                        <a:rPr kumimoji="0" lang="zh-CN" altLang="en-US" sz="1600" u="none" strike="noStrike" cap="none" normalizeH="0" baseline="0" smtClean="0">
                          <a:ln>
                            <a:noFill/>
                          </a:ln>
                          <a:effectLst/>
                        </a:rPr>
                        <a:t>通常将其设置为</a:t>
                      </a:r>
                      <a:r>
                        <a:rPr kumimoji="0" lang="en-US" altLang="zh-CN" sz="1600" u="none" strike="noStrike" cap="none" normalizeH="0" baseline="0" smtClean="0">
                          <a:ln>
                            <a:noFill/>
                          </a:ln>
                          <a:effectLst/>
                        </a:rPr>
                        <a:t>0</a:t>
                      </a:r>
                      <a:r>
                        <a:rPr kumimoji="0" lang="zh-CN" altLang="en-US" sz="1600" u="none" strike="noStrike" cap="none" normalizeH="0" baseline="0" smtClean="0">
                          <a:ln>
                            <a:noFill/>
                          </a:ln>
                          <a:effectLst/>
                        </a:rPr>
                        <a:t>。 </a:t>
                      </a:r>
                      <a:endParaRPr kumimoji="0" lang="zh-CN" altLang="en-US" sz="1600" b="0" i="0" u="none" strike="noStrike" cap="none" normalizeH="0" baseline="0" smtClean="0">
                        <a:ln>
                          <a:noFill/>
                        </a:ln>
                        <a:solidFill>
                          <a:schemeClr val="accent1"/>
                        </a:solidFill>
                        <a:effectLst/>
                        <a:latin typeface="Verdana" panose="020B0604030504040204" pitchFamily="34" charset="0"/>
                        <a:ea typeface="宋体" panose="02010600030101010101" pitchFamily="2" charset="-122"/>
                        <a:cs typeface="Times New Roman" panose="02020603050405020304" pitchFamily="18" charset="0"/>
                      </a:endParaRPr>
                    </a:p>
                  </a:txBody>
                  <a:tcPr horzOverflow="overflow"/>
                </a:tc>
              </a:tr>
              <a:tr h="773113">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smtClean="0">
                          <a:ln>
                            <a:noFill/>
                          </a:ln>
                          <a:effectLst/>
                        </a:rPr>
                        <a:t>返回值：</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smtClean="0">
                          <a:ln>
                            <a:noFill/>
                          </a:ln>
                          <a:effectLst/>
                        </a:rPr>
                        <a:t>若成功则返回映射区的起始地址，若出错则返回</a:t>
                      </a:r>
                      <a:r>
                        <a:rPr kumimoji="0" lang="en-US" altLang="zh-CN" sz="1600" u="none" strike="noStrike" cap="none" normalizeH="0" baseline="0" dirty="0" smtClean="0">
                          <a:ln>
                            <a:noFill/>
                          </a:ln>
                          <a:effectLst/>
                        </a:rPr>
                        <a:t>MAP_FAILED</a:t>
                      </a:r>
                      <a:endParaRPr kumimoji="0" lang="en-US"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r>
            </a:tbl>
          </a:graphicData>
        </a:graphic>
      </p:graphicFrame>
    </p:spTree>
    <p:extLst>
      <p:ext uri="{BB962C8B-B14F-4D97-AF65-F5344CB8AC3E}">
        <p14:creationId xmlns:p14="http://schemas.microsoft.com/office/powerpoint/2010/main" val="3811402883"/>
      </p:ext>
    </p:extLst>
  </p:cSld>
  <p:clrMapOvr>
    <a:masterClrMapping/>
  </p:clrMapOvr>
  <p:timing>
    <p:tnLst>
      <p:par>
        <p:cTn id="1" dur="indefinite" restart="never" nodeType="tmRoot"/>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smtClean="0"/>
              <a:t>mmap</a:t>
            </a:r>
            <a:r>
              <a:rPr lang="zh-CN" altLang="en-US" smtClean="0"/>
              <a:t>参数说明</a:t>
            </a:r>
          </a:p>
        </p:txBody>
      </p:sp>
      <p:sp>
        <p:nvSpPr>
          <p:cNvPr id="60419" name="Rectangle 3"/>
          <p:cNvSpPr>
            <a:spLocks noGrp="1" noChangeArrowheads="1"/>
          </p:cNvSpPr>
          <p:nvPr>
            <p:ph idx="1"/>
          </p:nvPr>
        </p:nvSpPr>
        <p:spPr/>
        <p:txBody>
          <a:bodyPr/>
          <a:lstStyle/>
          <a:p>
            <a:pPr>
              <a:lnSpc>
                <a:spcPct val="80000"/>
              </a:lnSpc>
            </a:pPr>
            <a:r>
              <a:rPr lang="en-US" altLang="zh-CN" sz="2400" smtClean="0"/>
              <a:t> prot</a:t>
            </a:r>
            <a:r>
              <a:rPr lang="zh-CN" altLang="en-US" sz="2400" smtClean="0"/>
              <a:t>参数说明对映射存储区的保护要求。可将</a:t>
            </a:r>
            <a:r>
              <a:rPr lang="en-US" altLang="zh-CN" sz="2400" smtClean="0"/>
              <a:t>prot</a:t>
            </a:r>
            <a:r>
              <a:rPr lang="zh-CN" altLang="en-US" sz="2400" smtClean="0"/>
              <a:t>参数指定为</a:t>
            </a:r>
            <a:r>
              <a:rPr lang="en-US" altLang="zh-CN" sz="2400" smtClean="0"/>
              <a:t>PROT_NONE,</a:t>
            </a:r>
            <a:r>
              <a:rPr lang="zh-CN" altLang="en-US" sz="2400" smtClean="0"/>
              <a:t>或者是</a:t>
            </a:r>
            <a:r>
              <a:rPr lang="en-US" altLang="zh-CN" sz="2400" smtClean="0"/>
              <a:t>PROT_READ(</a:t>
            </a:r>
            <a:r>
              <a:rPr lang="zh-CN" altLang="en-US" sz="2400" smtClean="0"/>
              <a:t>映射区可读</a:t>
            </a:r>
            <a:r>
              <a:rPr lang="en-US" altLang="zh-CN" sz="2400" smtClean="0"/>
              <a:t>),PROT_WRITE</a:t>
            </a:r>
            <a:r>
              <a:rPr lang="zh-CN" altLang="en-US" sz="2400" smtClean="0"/>
              <a:t>（映射区可写）</a:t>
            </a:r>
            <a:r>
              <a:rPr lang="en-US" altLang="zh-CN" sz="2400" smtClean="0"/>
              <a:t>,PROT_EXEC</a:t>
            </a:r>
            <a:r>
              <a:rPr lang="zh-CN" altLang="en-US" sz="2400" smtClean="0"/>
              <a:t>（映射区可执行）任意组合的按位或，也可以是</a:t>
            </a:r>
            <a:r>
              <a:rPr lang="en-US" altLang="zh-CN" sz="2400" smtClean="0"/>
              <a:t>PROT_NONE(</a:t>
            </a:r>
            <a:r>
              <a:rPr lang="zh-CN" altLang="en-US" sz="2400" smtClean="0"/>
              <a:t>映射区不可访问</a:t>
            </a:r>
            <a:r>
              <a:rPr lang="en-US" altLang="zh-CN" sz="2400" smtClean="0"/>
              <a:t>)</a:t>
            </a:r>
            <a:r>
              <a:rPr lang="zh-CN" altLang="en-US" sz="2400" smtClean="0"/>
              <a:t>。对指定映射存储区的保护要求不能超过文件</a:t>
            </a:r>
            <a:r>
              <a:rPr lang="en-US" altLang="zh-CN" sz="2400" smtClean="0"/>
              <a:t>open</a:t>
            </a:r>
            <a:r>
              <a:rPr lang="zh-CN" altLang="en-US" sz="2400" smtClean="0"/>
              <a:t>模式访问权限。 </a:t>
            </a:r>
          </a:p>
          <a:p>
            <a:pPr>
              <a:lnSpc>
                <a:spcPct val="80000"/>
              </a:lnSpc>
            </a:pPr>
            <a:r>
              <a:rPr lang="zh-CN" altLang="en-US" sz="2400" smtClean="0">
                <a:latin typeface="Arial" charset="0"/>
              </a:rPr>
              <a:t>      </a:t>
            </a:r>
            <a:r>
              <a:rPr lang="zh-CN" altLang="en-US" sz="2400" smtClean="0"/>
              <a:t> </a:t>
            </a:r>
            <a:r>
              <a:rPr lang="en-US" altLang="zh-CN" sz="2400" smtClean="0"/>
              <a:t>flag</a:t>
            </a:r>
            <a:r>
              <a:rPr lang="zh-CN" altLang="en-US" sz="2400" smtClean="0"/>
              <a:t>参数影响映射区的多种属性：</a:t>
            </a:r>
            <a:r>
              <a:rPr lang="zh-CN" altLang="en-US" sz="2400" smtClean="0">
                <a:latin typeface="Arial" charset="0"/>
              </a:rPr>
              <a:t>    </a:t>
            </a:r>
            <a:r>
              <a:rPr lang="zh-CN" altLang="en-US" sz="2400" smtClean="0"/>
              <a:t> </a:t>
            </a:r>
          </a:p>
          <a:p>
            <a:pPr lvl="1">
              <a:lnSpc>
                <a:spcPct val="80000"/>
              </a:lnSpc>
            </a:pPr>
            <a:r>
              <a:rPr lang="en-US" altLang="zh-CN" sz="2000" smtClean="0"/>
              <a:t>MAP_FIXED </a:t>
            </a:r>
            <a:r>
              <a:rPr lang="zh-CN" altLang="en-US" sz="2000" smtClean="0"/>
              <a:t>返回值必须等于</a:t>
            </a:r>
            <a:r>
              <a:rPr lang="en-US" altLang="zh-CN" sz="2000" smtClean="0"/>
              <a:t>addr.</a:t>
            </a:r>
            <a:r>
              <a:rPr lang="zh-CN" altLang="en-US" sz="2000" smtClean="0"/>
              <a:t>因为这不利于可移植性，所以不鼓励使用此标志。</a:t>
            </a:r>
          </a:p>
          <a:p>
            <a:pPr lvl="1">
              <a:lnSpc>
                <a:spcPct val="80000"/>
              </a:lnSpc>
            </a:pPr>
            <a:r>
              <a:rPr lang="en-US" altLang="zh-CN" sz="2000" smtClean="0"/>
              <a:t>MAP_SHARED </a:t>
            </a:r>
            <a:r>
              <a:rPr lang="zh-CN" altLang="en-US" sz="2000" smtClean="0"/>
              <a:t>这一标志说明了本进程对映射区所进行的存储操作的配置。此标志指定存储操作修改映射文件。</a:t>
            </a:r>
          </a:p>
          <a:p>
            <a:pPr lvl="1">
              <a:lnSpc>
                <a:spcPct val="80000"/>
              </a:lnSpc>
            </a:pPr>
            <a:r>
              <a:rPr lang="en-US" altLang="zh-CN" sz="2000" smtClean="0"/>
              <a:t>MAP_PRIVATE </a:t>
            </a:r>
            <a:r>
              <a:rPr lang="zh-CN" altLang="en-US" sz="2000" smtClean="0"/>
              <a:t>本标志导致对映射区建立一个该映射文件的一个私有副本。所有后来对该映射区的引用都是引用该副本，而不是原始文件。</a:t>
            </a:r>
          </a:p>
          <a:p>
            <a:pPr lvl="1">
              <a:lnSpc>
                <a:spcPct val="80000"/>
              </a:lnSpc>
            </a:pPr>
            <a:r>
              <a:rPr lang="zh-CN" altLang="en-US" sz="2000" smtClean="0"/>
              <a:t>要注意的是必须指定</a:t>
            </a:r>
            <a:r>
              <a:rPr lang="en-US" altLang="zh-CN" sz="2000" smtClean="0"/>
              <a:t>MAP_FIXED</a:t>
            </a:r>
            <a:r>
              <a:rPr lang="zh-CN" altLang="en-US" sz="2000" smtClean="0"/>
              <a:t>或</a:t>
            </a:r>
            <a:r>
              <a:rPr lang="en-US" altLang="zh-CN" sz="2000" smtClean="0"/>
              <a:t>MAP_PRIVATE</a:t>
            </a:r>
            <a:r>
              <a:rPr lang="zh-CN" altLang="en-US" sz="2000" smtClean="0"/>
              <a:t>标志其中的一个，指定前者是对存储映射文件本身的一个操作，而后者是对其副本进行操作。</a:t>
            </a:r>
          </a:p>
        </p:txBody>
      </p:sp>
    </p:spTree>
    <p:extLst>
      <p:ext uri="{BB962C8B-B14F-4D97-AF65-F5344CB8AC3E}">
        <p14:creationId xmlns:p14="http://schemas.microsoft.com/office/powerpoint/2010/main" val="2214796043"/>
      </p:ext>
    </p:extLst>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3600450" y="333375"/>
            <a:ext cx="8401050" cy="603250"/>
          </a:xfrm>
        </p:spPr>
        <p:txBody>
          <a:bodyPr rtlCol="0">
            <a:normAutofit fontScale="90000"/>
          </a:bodyPr>
          <a:lstStyle/>
          <a:p>
            <a:pPr fontAlgn="auto">
              <a:spcAft>
                <a:spcPts val="0"/>
              </a:spcAft>
              <a:defRPr/>
            </a:pPr>
            <a:r>
              <a:rPr lang="en-US" altLang="zh-CN"/>
              <a:t>unmmap</a:t>
            </a:r>
            <a:r>
              <a:rPr lang="zh-CN" altLang="en-US"/>
              <a:t>取消一个共享内存</a:t>
            </a:r>
          </a:p>
        </p:txBody>
      </p:sp>
      <p:graphicFrame>
        <p:nvGraphicFramePr>
          <p:cNvPr id="202823" name="Group 71"/>
          <p:cNvGraphicFramePr>
            <a:graphicFrameLocks noGrp="1"/>
          </p:cNvGraphicFramePr>
          <p:nvPr>
            <p:ph type="tbl" idx="1"/>
            <p:extLst>
              <p:ext uri="{D42A27DB-BD31-4B8C-83A1-F6EECF244321}">
                <p14:modId xmlns:p14="http://schemas.microsoft.com/office/powerpoint/2010/main" val="91148288"/>
              </p:ext>
            </p:extLst>
          </p:nvPr>
        </p:nvGraphicFramePr>
        <p:xfrm>
          <a:off x="1137138" y="1869173"/>
          <a:ext cx="9624646" cy="3657672"/>
        </p:xfrm>
        <a:graphic>
          <a:graphicData uri="http://schemas.openxmlformats.org/drawingml/2006/table">
            <a:tbl>
              <a:tblPr>
                <a:tableStyleId>{775DCB02-9BB8-47FD-8907-85C794F793BA}</a:tableStyleId>
              </a:tblPr>
              <a:tblGrid>
                <a:gridCol w="1970677"/>
                <a:gridCol w="7653969"/>
              </a:tblGrid>
              <a:tr h="33410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名称</a:t>
                      </a:r>
                      <a:r>
                        <a:rPr kumimoji="0" lang="en-US" altLang="zh-CN" sz="2000" u="none" strike="noStrike" cap="none" normalizeH="0" baseline="0" smtClean="0">
                          <a:ln>
                            <a:noFill/>
                          </a:ln>
                          <a:effectLst/>
                        </a:rPr>
                        <a:t>:</a:t>
                      </a:r>
                      <a:r>
                        <a:rPr kumimoji="0" lang="zh-CN" altLang="en-US" sz="2000" u="none" strike="noStrike" cap="none" normalizeH="0" baseline="0" smtClean="0">
                          <a:ln>
                            <a:noFill/>
                          </a:ln>
                          <a:effectLst/>
                        </a:rPr>
                        <a:t>：</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munmap</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306546">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功能：</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解除存储映射</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r>
              <a:tr h="28777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头文件：</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#include &lt;sys/mman.h&gt;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269009">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函数原形：</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int munmap(caddr_t addr,size_t len);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452464">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参数：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addr      </a:t>
                      </a:r>
                      <a:r>
                        <a:rPr kumimoji="0" lang="zh-CN" altLang="en-US" sz="2000" u="none" strike="noStrike" cap="none" normalizeH="0" baseline="0" smtClean="0">
                          <a:ln>
                            <a:noFill/>
                          </a:ln>
                          <a:effectLst/>
                        </a:rPr>
                        <a:t>指向映射存储区的起始地址</a:t>
                      </a:r>
                      <a:r>
                        <a:rPr kumimoji="0" lang="en-US" altLang="zh-CN" sz="2000" u="none" strike="noStrike" cap="none" normalizeH="0" baseline="0" smtClean="0">
                          <a:ln>
                            <a:noFill/>
                          </a:ln>
                          <a:effectLst/>
                        </a:rPr>
                        <a:t>,</a:t>
                      </a:r>
                      <a:r>
                        <a:rPr kumimoji="0" lang="zh-CN" altLang="en-US" sz="2000" u="none" strike="noStrike" cap="none" normalizeH="0" baseline="0" smtClean="0">
                          <a:ln>
                            <a:noFill/>
                          </a:ln>
                          <a:effectLst/>
                        </a:rPr>
                        <a:t>其中</a:t>
                      </a:r>
                      <a:r>
                        <a:rPr kumimoji="0" lang="en-US" altLang="zh-CN" sz="2000" u="none" strike="noStrike" cap="none" normalizeH="0" baseline="0" smtClean="0">
                          <a:ln>
                            <a:noFill/>
                          </a:ln>
                          <a:effectLst/>
                        </a:rPr>
                        <a:t>addr</a:t>
                      </a:r>
                      <a:r>
                        <a:rPr kumimoji="0" lang="zh-CN" altLang="en-US" sz="2000" u="none" strike="noStrike" cap="none" normalizeH="0" baseline="0" smtClean="0">
                          <a:ln>
                            <a:noFill/>
                          </a:ln>
                          <a:effectLst/>
                        </a:rPr>
                        <a:t>参数是由</a:t>
                      </a:r>
                      <a:r>
                        <a:rPr kumimoji="0" lang="en-US" altLang="zh-CN" sz="2000" u="none" strike="noStrike" cap="none" normalizeH="0" baseline="0" smtClean="0">
                          <a:ln>
                            <a:noFill/>
                          </a:ln>
                          <a:effectLst/>
                        </a:rPr>
                        <a:t>mmap</a:t>
                      </a:r>
                      <a:r>
                        <a:rPr kumimoji="0" lang="zh-CN" altLang="en-US" sz="2000" u="none" strike="noStrike" cap="none" normalizeH="0" baseline="0" smtClean="0">
                          <a:ln>
                            <a:noFill/>
                          </a:ln>
                          <a:effectLst/>
                        </a:rPr>
                        <a:t>返回的地址 </a:t>
                      </a:r>
                      <a:r>
                        <a:rPr kumimoji="0" lang="en-US" altLang="zh-CN" sz="2000" u="none" strike="noStrike" cap="none" normalizeH="0" baseline="0" smtClean="0">
                          <a:ln>
                            <a:noFill/>
                          </a:ln>
                          <a:effectLst/>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len       </a:t>
                      </a:r>
                      <a:r>
                        <a:rPr kumimoji="0" lang="zh-CN" altLang="en-US" sz="2000" u="none" strike="noStrike" cap="none" normalizeH="0" baseline="0" smtClean="0">
                          <a:ln>
                            <a:noFill/>
                          </a:ln>
                          <a:effectLst/>
                        </a:rPr>
                        <a:t>映射的尺寸</a:t>
                      </a:r>
                      <a:r>
                        <a:rPr kumimoji="0" lang="zh-CN" altLang="en-US" sz="3200" u="none" strike="noStrike" cap="none" normalizeH="0" baseline="0" smtClean="0">
                          <a:ln>
                            <a:noFill/>
                          </a:ln>
                          <a:effectLst/>
                        </a:rPr>
                        <a:t>。</a:t>
                      </a:r>
                      <a:r>
                        <a:rPr kumimoji="0" lang="zh-CN" altLang="en-US" sz="2000" u="none" strike="noStrike" cap="none" normalizeH="0" baseline="0" smtClean="0">
                          <a:ln>
                            <a:noFill/>
                          </a:ln>
                          <a:effectLst/>
                        </a:rPr>
                        <a:t>再次访问这些地址导致向调用进程产生一个</a:t>
                      </a:r>
                      <a:r>
                        <a:rPr kumimoji="0" lang="en-US" altLang="zh-CN" sz="2000" u="none" strike="noStrike" cap="none" normalizeH="0" baseline="0" smtClean="0">
                          <a:ln>
                            <a:noFill/>
                          </a:ln>
                          <a:effectLst/>
                        </a:rPr>
                        <a:t>SIGSEGV</a:t>
                      </a:r>
                      <a:r>
                        <a:rPr kumimoji="0" lang="zh-CN" altLang="en-US" sz="2000" u="none" strike="noStrike" cap="none" normalizeH="0" baseline="0" smtClean="0">
                          <a:ln>
                            <a:noFill/>
                          </a:ln>
                          <a:effectLst/>
                        </a:rPr>
                        <a:t>信号。</a:t>
                      </a:r>
                      <a:r>
                        <a:rPr kumimoji="0" lang="zh-CN" altLang="en-US" sz="3200" u="none" strike="noStrike" cap="none" normalizeH="0" baseline="0" smtClean="0">
                          <a:ln>
                            <a:noFill/>
                          </a:ln>
                          <a:effectLst/>
                        </a:rPr>
                        <a:t> </a:t>
                      </a:r>
                      <a:endParaRPr kumimoji="0" lang="zh-CN" altLang="en-US" sz="3200" b="0" i="0" u="none" strike="noStrike" cap="none" normalizeH="0" baseline="0" smtClean="0">
                        <a:ln>
                          <a:noFill/>
                        </a:ln>
                        <a:solidFill>
                          <a:schemeClr val="accent1"/>
                        </a:solidFill>
                        <a:effectLst/>
                        <a:latin typeface="Verdana" panose="020B0604030504040204" pitchFamily="34" charset="0"/>
                        <a:ea typeface="宋体" panose="02010600030101010101" pitchFamily="2" charset="-122"/>
                        <a:cs typeface="Times New Roman" panose="02020603050405020304" pitchFamily="18" charset="0"/>
                      </a:endParaRPr>
                    </a:p>
                  </a:txBody>
                  <a:tcPr marT="45726" marB="45726" horzOverflow="overflow"/>
                </a:tc>
              </a:tr>
              <a:tr h="15585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返回值：</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smtClean="0">
                          <a:ln>
                            <a:noFill/>
                          </a:ln>
                          <a:effectLst/>
                        </a:rPr>
                        <a:t>若成功则返回</a:t>
                      </a:r>
                      <a:r>
                        <a:rPr kumimoji="0" lang="en-US" altLang="zh-CN" sz="2000" u="none" strike="noStrike" cap="none" normalizeH="0" baseline="0" dirty="0" smtClean="0">
                          <a:ln>
                            <a:noFill/>
                          </a:ln>
                          <a:effectLst/>
                        </a:rPr>
                        <a:t>0</a:t>
                      </a:r>
                      <a:r>
                        <a:rPr kumimoji="0" lang="zh-CN" altLang="en-US" sz="2000" u="none" strike="noStrike" cap="none" normalizeH="0" baseline="0" dirty="0" smtClean="0">
                          <a:ln>
                            <a:noFill/>
                          </a:ln>
                          <a:effectLst/>
                        </a:rPr>
                        <a:t>，若出错则返回</a:t>
                      </a:r>
                      <a:r>
                        <a:rPr kumimoji="0" lang="en-US" altLang="zh-CN" sz="2000" u="none" strike="noStrike" cap="none" normalizeH="0" baseline="0" dirty="0" smtClean="0">
                          <a:ln>
                            <a:noFill/>
                          </a:ln>
                          <a:effectLst/>
                        </a:rPr>
                        <a:t>-1</a:t>
                      </a:r>
                      <a:endPar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45726" marB="45726" horzOverflow="overflow"/>
                </a:tc>
              </a:tr>
            </a:tbl>
          </a:graphicData>
        </a:graphic>
      </p:graphicFrame>
    </p:spTree>
    <p:extLst>
      <p:ext uri="{BB962C8B-B14F-4D97-AF65-F5344CB8AC3E}">
        <p14:creationId xmlns:p14="http://schemas.microsoft.com/office/powerpoint/2010/main" val="2144145343"/>
      </p:ext>
    </p:extLst>
  </p:cSld>
  <p:clrMapOvr>
    <a:masterClrMapping/>
  </p:clrMapOvr>
  <p:timing>
    <p:tnLst>
      <p:par>
        <p:cTn id="1" dur="indefinite" restart="never" nodeType="tmRoot"/>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9" name="Rectangle 69"/>
          <p:cNvSpPr>
            <a:spLocks noGrp="1" noChangeArrowheads="1"/>
          </p:cNvSpPr>
          <p:nvPr>
            <p:ph type="title"/>
          </p:nvPr>
        </p:nvSpPr>
        <p:spPr>
          <a:xfrm>
            <a:off x="3600450" y="333375"/>
            <a:ext cx="8401050" cy="603250"/>
          </a:xfrm>
        </p:spPr>
        <p:txBody>
          <a:bodyPr rtlCol="0">
            <a:normAutofit fontScale="90000"/>
          </a:bodyPr>
          <a:lstStyle/>
          <a:p>
            <a:pPr fontAlgn="auto">
              <a:spcAft>
                <a:spcPts val="0"/>
              </a:spcAft>
              <a:defRPr/>
            </a:pPr>
            <a:endParaRPr lang="zh-CN" altLang="zh-CN"/>
          </a:p>
        </p:txBody>
      </p:sp>
      <p:graphicFrame>
        <p:nvGraphicFramePr>
          <p:cNvPr id="204868" name="Group 68"/>
          <p:cNvGraphicFramePr>
            <a:graphicFrameLocks noGrp="1"/>
          </p:cNvGraphicFramePr>
          <p:nvPr>
            <p:ph type="tbl" idx="1"/>
            <p:extLst>
              <p:ext uri="{D42A27DB-BD31-4B8C-83A1-F6EECF244321}">
                <p14:modId xmlns:p14="http://schemas.microsoft.com/office/powerpoint/2010/main" val="1119223243"/>
              </p:ext>
            </p:extLst>
          </p:nvPr>
        </p:nvGraphicFramePr>
        <p:xfrm>
          <a:off x="2060330" y="1081454"/>
          <a:ext cx="8362950" cy="4953001"/>
        </p:xfrm>
        <a:graphic>
          <a:graphicData uri="http://schemas.openxmlformats.org/drawingml/2006/table">
            <a:tbl>
              <a:tblPr>
                <a:tableStyleId>{775DCB02-9BB8-47FD-8907-85C794F793BA}</a:tableStyleId>
              </a:tblPr>
              <a:tblGrid>
                <a:gridCol w="1871663"/>
                <a:gridCol w="6491287"/>
              </a:tblGrid>
              <a:tr h="6746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名称</a:t>
                      </a:r>
                      <a:r>
                        <a:rPr kumimoji="0" lang="en-US" altLang="zh-CN" sz="2000" u="none" strike="noStrike" cap="none" normalizeH="0" baseline="0" smtClean="0">
                          <a:ln>
                            <a:noFill/>
                          </a:ln>
                          <a:effectLst/>
                        </a:rPr>
                        <a:t>:</a:t>
                      </a:r>
                      <a:r>
                        <a:rPr kumimoji="0" lang="zh-CN" altLang="en-US" sz="2000" u="none" strike="noStrike" cap="none" normalizeH="0" baseline="0" smtClean="0">
                          <a:ln>
                            <a:noFill/>
                          </a:ln>
                          <a:effectLst/>
                        </a:rPr>
                        <a:t>：</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msync</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6746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功能：</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同步文件到存储器</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r>
              <a:tr h="676275">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头文件：</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#include &lt;sys/mman.h&gt;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6746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函数原形：</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int msync(void *addr,size_t len,int flags);</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1577974">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参数：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addr      </a:t>
                      </a:r>
                      <a:r>
                        <a:rPr kumimoji="0" lang="zh-CN" altLang="en-US" sz="2000" u="none" strike="noStrike" cap="none" normalizeH="0" baseline="0" smtClean="0">
                          <a:ln>
                            <a:noFill/>
                          </a:ln>
                          <a:effectLst/>
                        </a:rPr>
                        <a:t>指向映射存储区的起始地址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len       </a:t>
                      </a:r>
                      <a:r>
                        <a:rPr kumimoji="0" lang="zh-CN" altLang="en-US" sz="2000" u="none" strike="noStrike" cap="none" normalizeH="0" baseline="0" smtClean="0">
                          <a:ln>
                            <a:noFill/>
                          </a:ln>
                          <a:effectLst/>
                        </a:rPr>
                        <a:t>映射的字节</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prot      flags</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674688">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返回值：</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smtClean="0">
                          <a:ln>
                            <a:noFill/>
                          </a:ln>
                          <a:effectLst/>
                        </a:rPr>
                        <a:t>若成功则返回</a:t>
                      </a:r>
                      <a:r>
                        <a:rPr kumimoji="0" lang="en-US" altLang="zh-CN" sz="2000" u="none" strike="noStrike" cap="none" normalizeH="0" baseline="0" dirty="0" smtClean="0">
                          <a:ln>
                            <a:noFill/>
                          </a:ln>
                          <a:effectLst/>
                        </a:rPr>
                        <a:t>0</a:t>
                      </a:r>
                      <a:r>
                        <a:rPr kumimoji="0" lang="zh-CN" altLang="en-US" sz="2000" u="none" strike="noStrike" cap="none" normalizeH="0" baseline="0" dirty="0" smtClean="0">
                          <a:ln>
                            <a:noFill/>
                          </a:ln>
                          <a:effectLst/>
                        </a:rPr>
                        <a:t>，若出错则返回</a:t>
                      </a:r>
                      <a:r>
                        <a:rPr kumimoji="0" lang="en-US" altLang="zh-CN" sz="2000" u="none" strike="noStrike" cap="none" normalizeH="0" baseline="0" dirty="0" smtClean="0">
                          <a:ln>
                            <a:noFill/>
                          </a:ln>
                          <a:effectLst/>
                        </a:rPr>
                        <a:t>-1</a:t>
                      </a:r>
                      <a:endPar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tc>
              </a:tr>
            </a:tbl>
          </a:graphicData>
        </a:graphic>
      </p:graphicFrame>
    </p:spTree>
    <p:extLst>
      <p:ext uri="{BB962C8B-B14F-4D97-AF65-F5344CB8AC3E}">
        <p14:creationId xmlns:p14="http://schemas.microsoft.com/office/powerpoint/2010/main" val="3535984314"/>
      </p:ext>
    </p:extLst>
  </p:cSld>
  <p:clrMapOvr>
    <a:masterClrMapping/>
  </p:clrMapOvr>
  <p:timing>
    <p:tnLst>
      <p:par>
        <p:cTn id="1" dur="indefinite" restart="never" nodeType="tmRoot"/>
      </p:par>
    </p:tn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smtClean="0"/>
              <a:t>posix</a:t>
            </a:r>
            <a:r>
              <a:rPr lang="zh-CN" altLang="en-US" smtClean="0"/>
              <a:t>共享内存</a:t>
            </a:r>
          </a:p>
        </p:txBody>
      </p:sp>
      <p:sp>
        <p:nvSpPr>
          <p:cNvPr id="63491" name="Rectangle 3"/>
          <p:cNvSpPr>
            <a:spLocks noGrp="1" noChangeArrowheads="1"/>
          </p:cNvSpPr>
          <p:nvPr>
            <p:ph idx="1"/>
          </p:nvPr>
        </p:nvSpPr>
        <p:spPr/>
        <p:txBody>
          <a:bodyPr/>
          <a:lstStyle/>
          <a:p>
            <a:r>
              <a:rPr lang="en-US" altLang="zh-CN" smtClean="0"/>
              <a:t>posix</a:t>
            </a:r>
            <a:r>
              <a:rPr lang="zh-CN" altLang="en-US" smtClean="0"/>
              <a:t>共享内存区涉及两个步骤：</a:t>
            </a:r>
          </a:p>
          <a:p>
            <a:pPr lvl="1"/>
            <a:r>
              <a:rPr lang="en-US" altLang="zh-CN" smtClean="0"/>
              <a:t>1</a:t>
            </a:r>
            <a:r>
              <a:rPr lang="zh-CN" altLang="en-US" smtClean="0"/>
              <a:t>、指定一个名字参数调用</a:t>
            </a:r>
            <a:r>
              <a:rPr lang="en-US" altLang="zh-CN" smtClean="0"/>
              <a:t>shm_open,</a:t>
            </a:r>
            <a:r>
              <a:rPr lang="zh-CN" altLang="en-US" smtClean="0"/>
              <a:t>以创建一个新的共享内存区对象或打开一个以存在的共享内存区对象。</a:t>
            </a:r>
          </a:p>
          <a:p>
            <a:pPr lvl="1"/>
            <a:r>
              <a:rPr lang="en-US" altLang="zh-CN" smtClean="0"/>
              <a:t>2</a:t>
            </a:r>
            <a:r>
              <a:rPr lang="zh-CN" altLang="en-US" smtClean="0"/>
              <a:t>、调用</a:t>
            </a:r>
            <a:r>
              <a:rPr lang="en-US" altLang="zh-CN" smtClean="0"/>
              <a:t>mmap</a:t>
            </a:r>
            <a:r>
              <a:rPr lang="zh-CN" altLang="en-US" smtClean="0"/>
              <a:t>把这个共享内存区映射到调用进程的地址空间。传递给</a:t>
            </a:r>
            <a:r>
              <a:rPr lang="en-US" altLang="zh-CN" smtClean="0"/>
              <a:t>shm_open</a:t>
            </a:r>
            <a:r>
              <a:rPr lang="zh-CN" altLang="en-US" smtClean="0"/>
              <a:t>的名字参数随后由希望共享该内存区的任何其他进程使用。</a:t>
            </a:r>
          </a:p>
        </p:txBody>
      </p:sp>
    </p:spTree>
    <p:extLst>
      <p:ext uri="{BB962C8B-B14F-4D97-AF65-F5344CB8AC3E}">
        <p14:creationId xmlns:p14="http://schemas.microsoft.com/office/powerpoint/2010/main" val="734978751"/>
      </p:ext>
    </p:extLst>
  </p:cSld>
  <p:clrMapOvr>
    <a:masterClrMapping/>
  </p:clrMapOvr>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89" name="Rectangle 69"/>
          <p:cNvSpPr>
            <a:spLocks noGrp="1" noChangeArrowheads="1"/>
          </p:cNvSpPr>
          <p:nvPr>
            <p:ph type="title"/>
          </p:nvPr>
        </p:nvSpPr>
        <p:spPr>
          <a:xfrm>
            <a:off x="3600450" y="333375"/>
            <a:ext cx="8401050" cy="603250"/>
          </a:xfrm>
        </p:spPr>
        <p:txBody>
          <a:bodyPr rtlCol="0">
            <a:normAutofit fontScale="90000"/>
          </a:bodyPr>
          <a:lstStyle/>
          <a:p>
            <a:pPr fontAlgn="auto">
              <a:spcAft>
                <a:spcPts val="0"/>
              </a:spcAft>
              <a:defRPr/>
            </a:pPr>
            <a:r>
              <a:rPr lang="en-US" altLang="zh-CN"/>
              <a:t>shm_open</a:t>
            </a:r>
            <a:r>
              <a:rPr lang="zh-CN" altLang="en-US"/>
              <a:t>打开共享内存</a:t>
            </a:r>
          </a:p>
        </p:txBody>
      </p:sp>
      <p:graphicFrame>
        <p:nvGraphicFramePr>
          <p:cNvPr id="210059" name="Group 139"/>
          <p:cNvGraphicFramePr>
            <a:graphicFrameLocks noGrp="1"/>
          </p:cNvGraphicFramePr>
          <p:nvPr>
            <p:ph type="tbl" idx="1"/>
            <p:extLst>
              <p:ext uri="{D42A27DB-BD31-4B8C-83A1-F6EECF244321}">
                <p14:modId xmlns:p14="http://schemas.microsoft.com/office/powerpoint/2010/main" val="3395036536"/>
              </p:ext>
            </p:extLst>
          </p:nvPr>
        </p:nvGraphicFramePr>
        <p:xfrm>
          <a:off x="2033954" y="1055077"/>
          <a:ext cx="8362950" cy="4916682"/>
        </p:xfrm>
        <a:graphic>
          <a:graphicData uri="http://schemas.openxmlformats.org/drawingml/2006/table">
            <a:tbl>
              <a:tblPr>
                <a:tableStyleId>{775DCB02-9BB8-47FD-8907-85C794F793BA}</a:tableStyleId>
              </a:tblPr>
              <a:tblGrid>
                <a:gridCol w="1871663"/>
                <a:gridCol w="6491287"/>
              </a:tblGrid>
              <a:tr h="619203">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smtClean="0">
                          <a:ln>
                            <a:noFill/>
                          </a:ln>
                          <a:effectLst/>
                        </a:rPr>
                        <a:t>名称</a:t>
                      </a:r>
                      <a:r>
                        <a:rPr kumimoji="0" lang="en-US" altLang="zh-CN" sz="2000" u="none" strike="noStrike" cap="none" normalizeH="0" baseline="0" dirty="0" smtClean="0">
                          <a:ln>
                            <a:noFill/>
                          </a:ln>
                          <a:effectLst/>
                        </a:rPr>
                        <a:t>:</a:t>
                      </a:r>
                      <a:r>
                        <a:rPr kumimoji="0" lang="zh-CN" altLang="en-US" sz="2000" u="none" strike="noStrike" cap="none" normalizeH="0" baseline="0" dirty="0" smtClean="0">
                          <a:ln>
                            <a:noFill/>
                          </a:ln>
                          <a:effectLst/>
                        </a:rPr>
                        <a:t>：</a:t>
                      </a:r>
                      <a:endParaRPr kumimoji="0" lang="zh-CN" altLang="en-US"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shm_open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617616">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功能：</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打开或创建一个共享内存区</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619203">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头文件：</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#include &lt;sys/mman.h&gt;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500316">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函数原形：</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int shm_open(const char *name,int oflag,mode_t mode);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r>
              <a:tr h="1446395">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参数：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name    </a:t>
                      </a:r>
                      <a:r>
                        <a:rPr kumimoji="0" lang="zh-CN" altLang="en-US" sz="2000" u="none" strike="noStrike" cap="none" normalizeH="0" baseline="0" smtClean="0">
                          <a:ln>
                            <a:noFill/>
                          </a:ln>
                          <a:effectLst/>
                        </a:rPr>
                        <a:t>共享内存区的名字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cflag    </a:t>
                      </a:r>
                      <a:r>
                        <a:rPr kumimoji="0" lang="zh-CN" altLang="en-US" sz="2000" u="none" strike="noStrike" cap="none" normalizeH="0" baseline="0" smtClean="0">
                          <a:ln>
                            <a:noFill/>
                          </a:ln>
                          <a:effectLst/>
                        </a:rPr>
                        <a:t>标志位</a:t>
                      </a:r>
                      <a:r>
                        <a:rPr kumimoji="0" lang="en-US" altLang="zh-CN" sz="2000" u="none" strike="noStrike" cap="none" normalizeH="0" baseline="0" smtClean="0">
                          <a:ln>
                            <a:noFill/>
                          </a:ln>
                          <a:effectLst/>
                        </a:rPr>
                        <a:t>, oflag</a:t>
                      </a:r>
                      <a:r>
                        <a:rPr kumimoji="0" lang="zh-CN" altLang="en-US" sz="2000" u="none" strike="noStrike" cap="none" normalizeH="0" baseline="0" smtClean="0">
                          <a:ln>
                            <a:noFill/>
                          </a:ln>
                          <a:effectLst/>
                        </a:rPr>
                        <a:t>参数必须含有</a:t>
                      </a:r>
                      <a:r>
                        <a:rPr kumimoji="0" lang="en-US" altLang="zh-CN" sz="2000" u="none" strike="noStrike" cap="none" normalizeH="0" baseline="0" smtClean="0">
                          <a:ln>
                            <a:noFill/>
                          </a:ln>
                          <a:effectLst/>
                        </a:rPr>
                        <a:t>O_RDONLY</a:t>
                      </a:r>
                      <a:r>
                        <a:rPr kumimoji="0" lang="zh-CN" altLang="en-US" sz="2000" u="none" strike="noStrike" cap="none" normalizeH="0" baseline="0" smtClean="0">
                          <a:ln>
                            <a:noFill/>
                          </a:ln>
                          <a:effectLst/>
                        </a:rPr>
                        <a:t>和</a:t>
                      </a:r>
                      <a:r>
                        <a:rPr kumimoji="0" lang="en-US" altLang="zh-CN" sz="2000" u="none" strike="noStrike" cap="none" normalizeH="0" baseline="0" smtClean="0">
                          <a:ln>
                            <a:noFill/>
                          </a:ln>
                          <a:effectLst/>
                        </a:rPr>
                        <a:t>O_RDWR</a:t>
                      </a:r>
                      <a:r>
                        <a:rPr kumimoji="0" lang="zh-CN" altLang="en-US" sz="2000" u="none" strike="noStrike" cap="none" normalizeH="0" baseline="0" smtClean="0">
                          <a:ln>
                            <a:noFill/>
                          </a:ln>
                          <a:effectLst/>
                        </a:rPr>
                        <a:t>标志，还可以指定如下标志：</a:t>
                      </a:r>
                      <a:r>
                        <a:rPr kumimoji="0" lang="en-US" altLang="zh-CN" sz="2000" u="none" strike="noStrike" cap="none" normalizeH="0" baseline="0" smtClean="0">
                          <a:ln>
                            <a:noFill/>
                          </a:ln>
                          <a:effectLst/>
                        </a:rPr>
                        <a:t>O_CREAT,O_EXCL</a:t>
                      </a:r>
                      <a:r>
                        <a:rPr kumimoji="0" lang="zh-CN" altLang="en-US" sz="2000" u="none" strike="noStrike" cap="none" normalizeH="0" baseline="0" smtClean="0">
                          <a:ln>
                            <a:noFill/>
                          </a:ln>
                          <a:effectLst/>
                        </a:rPr>
                        <a:t>或</a:t>
                      </a:r>
                      <a:r>
                        <a:rPr kumimoji="0" lang="en-US" altLang="zh-CN" sz="2000" u="none" strike="noStrike" cap="none" normalizeH="0" baseline="0" smtClean="0">
                          <a:ln>
                            <a:noFill/>
                          </a:ln>
                          <a:effectLst/>
                        </a:rPr>
                        <a:t>O_TRUNC.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smtClean="0">
                          <a:ln>
                            <a:noFill/>
                          </a:ln>
                          <a:effectLst/>
                        </a:rPr>
                        <a:t>mode    </a:t>
                      </a:r>
                      <a:r>
                        <a:rPr kumimoji="0" lang="zh-CN" altLang="en-US" sz="2000" u="none" strike="noStrike" cap="none" normalizeH="0" baseline="0" smtClean="0">
                          <a:ln>
                            <a:noFill/>
                          </a:ln>
                          <a:effectLst/>
                        </a:rPr>
                        <a:t>权限位</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26" marB="45726" horzOverflow="overflow"/>
                </a:tc>
              </a:tr>
              <a:tr h="701128">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rPr>
                        <a:t>返回值：</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tc>
                <a:tc>
                  <a:txBody>
                    <a:bodyPr/>
                    <a:lstStyle>
                      <a:lvl1pPr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800" u="none" strike="noStrike" cap="none" normalizeH="0" baseline="0" dirty="0" err="1" smtClean="0">
                          <a:ln>
                            <a:noFill/>
                          </a:ln>
                          <a:effectLst/>
                        </a:rPr>
                        <a:t>shm_open</a:t>
                      </a:r>
                      <a:r>
                        <a:rPr kumimoji="0" lang="zh-CN" altLang="en-US" sz="2800" u="none" strike="noStrike" cap="none" normalizeH="0" baseline="0" dirty="0" smtClean="0">
                          <a:ln>
                            <a:noFill/>
                          </a:ln>
                          <a:effectLst/>
                        </a:rPr>
                        <a:t>的返回值是一个整数描述字，它随后用作</a:t>
                      </a:r>
                      <a:r>
                        <a:rPr kumimoji="0" lang="en-US" altLang="zh-CN" sz="2800" u="none" strike="noStrike" cap="none" normalizeH="0" baseline="0" dirty="0" err="1" smtClean="0">
                          <a:ln>
                            <a:noFill/>
                          </a:ln>
                          <a:effectLst/>
                        </a:rPr>
                        <a:t>mmap</a:t>
                      </a:r>
                      <a:r>
                        <a:rPr kumimoji="0" lang="zh-CN" altLang="en-US" sz="2800" u="none" strike="noStrike" cap="none" normalizeH="0" baseline="0" dirty="0" smtClean="0">
                          <a:ln>
                            <a:noFill/>
                          </a:ln>
                          <a:effectLst/>
                        </a:rPr>
                        <a:t>的第五个参数 </a:t>
                      </a:r>
                      <a:endParaRPr kumimoji="0" lang="zh-CN" altLang="en-US"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endParaRPr>
                    </a:p>
                  </a:txBody>
                  <a:tcPr marT="45726" marB="45726" horzOverflow="overflow"/>
                </a:tc>
              </a:tr>
            </a:tbl>
          </a:graphicData>
        </a:graphic>
      </p:graphicFrame>
    </p:spTree>
    <p:extLst>
      <p:ext uri="{BB962C8B-B14F-4D97-AF65-F5344CB8AC3E}">
        <p14:creationId xmlns:p14="http://schemas.microsoft.com/office/powerpoint/2010/main" val="3974570019"/>
      </p:ext>
    </p:extLst>
  </p:cSld>
  <p:clrMapOvr>
    <a:masterClrMapping/>
  </p:clrMapOvr>
  <p:timing>
    <p:tnLst>
      <p:par>
        <p:cTn id="1" dur="indefinite" restart="never" nodeType="tmRoot"/>
      </p:par>
    </p:tn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037" name="Rectangle 69"/>
          <p:cNvSpPr>
            <a:spLocks noGrp="1" noChangeArrowheads="1"/>
          </p:cNvSpPr>
          <p:nvPr>
            <p:ph type="title"/>
          </p:nvPr>
        </p:nvSpPr>
        <p:spPr>
          <a:xfrm>
            <a:off x="3600450" y="333375"/>
            <a:ext cx="8401050" cy="603250"/>
          </a:xfrm>
        </p:spPr>
        <p:txBody>
          <a:bodyPr rtlCol="0">
            <a:normAutofit fontScale="90000"/>
          </a:bodyPr>
          <a:lstStyle/>
          <a:p>
            <a:pPr fontAlgn="auto">
              <a:spcAft>
                <a:spcPts val="0"/>
              </a:spcAft>
              <a:defRPr/>
            </a:pPr>
            <a:r>
              <a:rPr lang="zh-CN" altLang="en-US"/>
              <a:t>删除一个共享内存区</a:t>
            </a:r>
          </a:p>
        </p:txBody>
      </p:sp>
      <p:graphicFrame>
        <p:nvGraphicFramePr>
          <p:cNvPr id="212036" name="Group 68"/>
          <p:cNvGraphicFramePr>
            <a:graphicFrameLocks noGrp="1"/>
          </p:cNvGraphicFramePr>
          <p:nvPr>
            <p:ph type="tbl" idx="1"/>
            <p:extLst>
              <p:ext uri="{D42A27DB-BD31-4B8C-83A1-F6EECF244321}">
                <p14:modId xmlns:p14="http://schemas.microsoft.com/office/powerpoint/2010/main" val="2816023071"/>
              </p:ext>
            </p:extLst>
          </p:nvPr>
        </p:nvGraphicFramePr>
        <p:xfrm>
          <a:off x="2007577" y="1761198"/>
          <a:ext cx="8362950" cy="2796149"/>
        </p:xfrm>
        <a:graphic>
          <a:graphicData uri="http://schemas.openxmlformats.org/drawingml/2006/table">
            <a:tbl>
              <a:tblPr>
                <a:tableStyleId>{775DCB02-9BB8-47FD-8907-85C794F793BA}</a:tableStyleId>
              </a:tblPr>
              <a:tblGrid>
                <a:gridCol w="1871663"/>
                <a:gridCol w="6491287"/>
              </a:tblGrid>
              <a:tr h="261033">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名称</a:t>
                      </a:r>
                      <a:r>
                        <a:rPr kumimoji="0" lang="en-US" altLang="zh-CN" sz="2400" u="none" strike="noStrike" cap="none" normalizeH="0" baseline="0" smtClean="0">
                          <a:ln>
                            <a:noFill/>
                          </a:ln>
                          <a:effectLst/>
                        </a:rPr>
                        <a:t>:</a:t>
                      </a:r>
                      <a:r>
                        <a:rPr kumimoji="0" lang="zh-CN" altLang="en-US" sz="2400" u="none" strike="noStrike" cap="none" normalizeH="0" baseline="0" smtClean="0">
                          <a:ln>
                            <a:noFill/>
                          </a:ln>
                          <a:effectLst/>
                        </a:rPr>
                        <a:t>：</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rPr>
                        <a:t>shm_unlink</a:t>
                      </a:r>
                      <a:endPar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功能：</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删除一个共享内存区</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0">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头文件：</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rPr>
                        <a:t>#include &lt;sys/mman.h&gt;</a:t>
                      </a:r>
                      <a:endPar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271779">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函数原形：</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rPr>
                        <a:t>int shm_unlink(const char *name);</a:t>
                      </a:r>
                      <a:endPar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510149">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参数：</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rPr>
                        <a:t>name    </a:t>
                      </a:r>
                      <a:r>
                        <a:rPr kumimoji="0" lang="zh-CN" altLang="en-US" sz="2400" u="none" strike="noStrike" cap="none" normalizeH="0" baseline="0" smtClean="0">
                          <a:ln>
                            <a:noFill/>
                          </a:ln>
                          <a:effectLst/>
                        </a:rPr>
                        <a:t>共享内存区的名字</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r h="144584">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rPr>
                        <a:t>返回值：</a:t>
                      </a: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c>
                  <a:txBody>
                    <a:bodyPr/>
                    <a:lstStyle>
                      <a:lvl1pPr marL="342900" indent="-342900" algn="l">
                        <a:spcBef>
                          <a:spcPct val="20000"/>
                        </a:spcBef>
                        <a:buClr>
                          <a:schemeClr val="accent1"/>
                        </a:buClr>
                        <a:buSzPct val="80000"/>
                        <a:buFont typeface="Wingdings" panose="05000000000000000000" pitchFamily="2" charset="2"/>
                        <a:defRPr sz="2400">
                          <a:solidFill>
                            <a:schemeClr val="accent1"/>
                          </a:solidFill>
                          <a:latin typeface="Verdana" panose="020B0604030504040204" pitchFamily="34" charset="0"/>
                          <a:cs typeface="Arial" panose="020B0604020202020204" pitchFamily="34" charset="0"/>
                        </a:defRPr>
                      </a:lvl1pPr>
                      <a:lvl2pPr marL="742950" indent="-285750" algn="l">
                        <a:spcBef>
                          <a:spcPct val="20000"/>
                        </a:spcBef>
                        <a:buClr>
                          <a:schemeClr val="tx1"/>
                        </a:buClr>
                        <a:buSzPct val="80000"/>
                        <a:buFont typeface="Arial" panose="020B0604020202020204" pitchFamily="34" charset="0"/>
                        <a:defRPr sz="20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accent2"/>
                        </a:buClr>
                        <a:buSzPct val="70000"/>
                        <a:buFont typeface="Wingdings" panose="05000000000000000000" pitchFamily="2" charset="2"/>
                        <a:defRPr sz="20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tx1"/>
                        </a:buClr>
                        <a:buSzPct val="70000"/>
                        <a:buFont typeface="Arial" panose="020B0604020202020204" pitchFamily="34" charset="0"/>
                        <a:defRPr>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5pPr>
                      <a:lvl6pPr marL="25146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6pPr>
                      <a:lvl7pPr marL="29718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7pPr>
                      <a:lvl8pPr marL="34290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8pPr>
                      <a:lvl9pPr marL="3886200" indent="-228600" fontAlgn="base">
                        <a:spcBef>
                          <a:spcPct val="20000"/>
                        </a:spcBef>
                        <a:spcAft>
                          <a:spcPct val="0"/>
                        </a:spcAft>
                        <a:buClr>
                          <a:schemeClr val="hlink"/>
                        </a:buClr>
                        <a:buSzPct val="60000"/>
                        <a:buFont typeface="Wingdings" panose="05000000000000000000" pitchFamily="2" charset="2"/>
                        <a:defRPr>
                          <a:solidFill>
                            <a:schemeClr val="tx1"/>
                          </a:solidFill>
                          <a:latin typeface="Verdana" panose="020B060403050404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dirty="0" smtClean="0">
                          <a:ln>
                            <a:noFill/>
                          </a:ln>
                          <a:effectLst/>
                        </a:rPr>
                        <a:t>成功返回</a:t>
                      </a:r>
                      <a:r>
                        <a:rPr kumimoji="0" lang="en-US" altLang="zh-CN" sz="2400" u="none" strike="noStrike" cap="none" normalizeH="0" baseline="0" dirty="0" smtClean="0">
                          <a:ln>
                            <a:noFill/>
                          </a:ln>
                          <a:effectLst/>
                        </a:rPr>
                        <a:t>0</a:t>
                      </a:r>
                      <a:r>
                        <a:rPr kumimoji="0" lang="zh-CN" altLang="en-US" sz="2400" u="none" strike="noStrike" cap="none" normalizeH="0" baseline="0" dirty="0" smtClean="0">
                          <a:ln>
                            <a:noFill/>
                          </a:ln>
                          <a:effectLst/>
                        </a:rPr>
                        <a:t>，出错返回</a:t>
                      </a:r>
                      <a:r>
                        <a:rPr kumimoji="0" lang="en-US" altLang="zh-CN" sz="2400" u="none" strike="noStrike" cap="none" normalizeH="0" baseline="0" dirty="0" smtClean="0">
                          <a:ln>
                            <a:noFill/>
                          </a:ln>
                          <a:effectLst/>
                        </a:rPr>
                        <a:t>-1</a:t>
                      </a:r>
                      <a:endParaRPr kumimoji="0" lang="en-US"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tc>
              </a:tr>
            </a:tbl>
          </a:graphicData>
        </a:graphic>
      </p:graphicFrame>
    </p:spTree>
    <p:extLst>
      <p:ext uri="{BB962C8B-B14F-4D97-AF65-F5344CB8AC3E}">
        <p14:creationId xmlns:p14="http://schemas.microsoft.com/office/powerpoint/2010/main" val="2906779956"/>
      </p:ext>
    </p:extLst>
  </p:cSld>
  <p:clrMapOvr>
    <a:masterClrMapping/>
  </p:clrMapOvr>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共享内存的应用</a:t>
            </a:r>
          </a:p>
        </p:txBody>
      </p:sp>
      <p:sp>
        <p:nvSpPr>
          <p:cNvPr id="66563" name="Rectangle 3"/>
          <p:cNvSpPr>
            <a:spLocks noGrp="1" noChangeArrowheads="1"/>
          </p:cNvSpPr>
          <p:nvPr>
            <p:ph idx="1"/>
          </p:nvPr>
        </p:nvSpPr>
        <p:spPr/>
        <p:txBody>
          <a:bodyPr/>
          <a:lstStyle/>
          <a:p>
            <a:r>
              <a:rPr lang="zh-CN" altLang="en-US" sz="2800" dirty="0" smtClean="0"/>
              <a:t>共享内存是在进程之间开辟一个原始的内存</a:t>
            </a:r>
            <a:r>
              <a:rPr lang="en-US" altLang="zh-CN" sz="2800" dirty="0" smtClean="0"/>
              <a:t>buffer,</a:t>
            </a:r>
            <a:r>
              <a:rPr lang="zh-CN" altLang="en-US" sz="2800" dirty="0" smtClean="0"/>
              <a:t>因此是进程之间传输大量数据最快的方式</a:t>
            </a:r>
          </a:p>
          <a:p>
            <a:pPr lvl="1"/>
            <a:r>
              <a:rPr lang="zh-CN" altLang="en-US" sz="2400" dirty="0" smtClean="0"/>
              <a:t>大量数据库在</a:t>
            </a:r>
            <a:r>
              <a:rPr lang="en-US" altLang="zh-CN" sz="2400" dirty="0" smtClean="0"/>
              <a:t>Unix/Linux</a:t>
            </a:r>
            <a:r>
              <a:rPr lang="zh-CN" altLang="en-US" sz="2400" dirty="0" smtClean="0"/>
              <a:t>上实现内存分配</a:t>
            </a:r>
            <a:r>
              <a:rPr lang="en-US" altLang="zh-CN" sz="2400" dirty="0" smtClean="0"/>
              <a:t>,</a:t>
            </a:r>
            <a:r>
              <a:rPr lang="zh-CN" altLang="en-US" sz="2400" dirty="0" smtClean="0"/>
              <a:t>都是采用共享内存自行分配</a:t>
            </a:r>
          </a:p>
          <a:p>
            <a:r>
              <a:rPr lang="zh-CN" altLang="en-US" sz="2800" dirty="0" smtClean="0"/>
              <a:t>但共享内存没有同步和锁机制</a:t>
            </a:r>
            <a:r>
              <a:rPr lang="en-US" altLang="zh-CN" sz="2800" dirty="0" smtClean="0"/>
              <a:t>,</a:t>
            </a:r>
            <a:r>
              <a:rPr lang="zh-CN" altLang="en-US" sz="2800" dirty="0" smtClean="0"/>
              <a:t>所以必须配合信号量或互斥锁进行加锁</a:t>
            </a:r>
          </a:p>
          <a:p>
            <a:r>
              <a:rPr lang="zh-CN" altLang="en-US" sz="2800" dirty="0" smtClean="0"/>
              <a:t>参见共享内存实现服务器和客户端例子</a:t>
            </a:r>
          </a:p>
          <a:p>
            <a:r>
              <a:rPr lang="zh-CN" altLang="en-US" sz="2800" dirty="0" smtClean="0"/>
              <a:t>采用共享内存</a:t>
            </a:r>
            <a:r>
              <a:rPr lang="en-US" altLang="zh-CN" sz="2800" dirty="0" smtClean="0"/>
              <a:t>+</a:t>
            </a:r>
            <a:r>
              <a:rPr lang="en-US" altLang="zh-CN" sz="2800" dirty="0" err="1" smtClean="0"/>
              <a:t>mmap</a:t>
            </a:r>
            <a:r>
              <a:rPr lang="zh-CN" altLang="en-US" sz="2800" dirty="0" smtClean="0"/>
              <a:t>的例子</a:t>
            </a:r>
          </a:p>
          <a:p>
            <a:pPr lvl="1"/>
            <a:r>
              <a:rPr lang="en-US" altLang="zh-CN" sz="2400" dirty="0" err="1" smtClean="0"/>
              <a:t>shm_server.c</a:t>
            </a:r>
            <a:endParaRPr lang="en-US" altLang="zh-CN" sz="2400" dirty="0" smtClean="0"/>
          </a:p>
          <a:p>
            <a:pPr lvl="1"/>
            <a:r>
              <a:rPr lang="en-US" altLang="zh-CN" sz="2400" dirty="0" err="1" smtClean="0"/>
              <a:t>shm_client.c</a:t>
            </a:r>
            <a:endParaRPr lang="en-US" altLang="zh-CN" sz="2400" dirty="0" smtClean="0"/>
          </a:p>
          <a:p>
            <a:endParaRPr lang="en-US" altLang="zh-CN" dirty="0" smtClean="0"/>
          </a:p>
        </p:txBody>
      </p:sp>
    </p:spTree>
    <p:extLst>
      <p:ext uri="{BB962C8B-B14F-4D97-AF65-F5344CB8AC3E}">
        <p14:creationId xmlns:p14="http://schemas.microsoft.com/office/powerpoint/2010/main" val="2526560738"/>
      </p:ext>
    </p:extLst>
  </p:cSld>
  <p:clrMapOvr>
    <a:masterClrMapping/>
  </p:clrMapOvr>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smtClean="0"/>
              <a:t>共享内存实例</a:t>
            </a:r>
          </a:p>
        </p:txBody>
      </p:sp>
      <p:sp>
        <p:nvSpPr>
          <p:cNvPr id="67587" name="Rectangle 3"/>
          <p:cNvSpPr>
            <a:spLocks noGrp="1" noChangeArrowheads="1"/>
          </p:cNvSpPr>
          <p:nvPr>
            <p:ph idx="1"/>
          </p:nvPr>
        </p:nvSpPr>
        <p:spPr/>
        <p:txBody>
          <a:bodyPr/>
          <a:lstStyle/>
          <a:p>
            <a:r>
              <a:rPr lang="en-US" altLang="zh-CN" smtClean="0"/>
              <a:t>shm_open+mmap</a:t>
            </a:r>
            <a:r>
              <a:rPr lang="zh-CN" altLang="en-US" smtClean="0"/>
              <a:t>实现服务器和客户端例子</a:t>
            </a:r>
          </a:p>
          <a:p>
            <a:pPr lvl="1"/>
            <a:r>
              <a:rPr lang="en-US" altLang="zh-CN" smtClean="0"/>
              <a:t>shm_server.c</a:t>
            </a:r>
          </a:p>
          <a:p>
            <a:pPr lvl="1"/>
            <a:r>
              <a:rPr lang="en-US" altLang="zh-CN" smtClean="0"/>
              <a:t>shm_client.c</a:t>
            </a:r>
          </a:p>
          <a:p>
            <a:pPr lvl="1"/>
            <a:r>
              <a:rPr lang="en-US" altLang="zh-CN" smtClean="0"/>
              <a:t>shm_open</a:t>
            </a:r>
            <a:r>
              <a:rPr lang="zh-CN" altLang="en-US" smtClean="0"/>
              <a:t>需要库</a:t>
            </a:r>
            <a:r>
              <a:rPr lang="en-US" altLang="zh-CN" smtClean="0"/>
              <a:t>rt</a:t>
            </a:r>
            <a:r>
              <a:rPr lang="zh-CN" altLang="en-US" smtClean="0"/>
              <a:t>进行链接</a:t>
            </a:r>
          </a:p>
          <a:p>
            <a:pPr lvl="1"/>
            <a:endParaRPr lang="zh-CN" altLang="en-US" smtClean="0"/>
          </a:p>
          <a:p>
            <a:pPr lvl="1"/>
            <a:endParaRPr lang="zh-CN" altLang="en-US" smtClean="0"/>
          </a:p>
          <a:p>
            <a:r>
              <a:rPr lang="zh-CN" altLang="en-US" smtClean="0"/>
              <a:t>文件</a:t>
            </a:r>
            <a:r>
              <a:rPr lang="en-US" altLang="zh-CN" smtClean="0"/>
              <a:t>+mmap</a:t>
            </a:r>
            <a:r>
              <a:rPr lang="zh-CN" altLang="en-US" smtClean="0"/>
              <a:t>实现服务器和客户端例</a:t>
            </a:r>
          </a:p>
          <a:p>
            <a:pPr lvl="1"/>
            <a:r>
              <a:rPr lang="en-US" altLang="zh-CN" smtClean="0"/>
              <a:t>map_server.c</a:t>
            </a:r>
          </a:p>
          <a:p>
            <a:pPr lvl="1"/>
            <a:r>
              <a:rPr lang="en-US" altLang="zh-CN" smtClean="0"/>
              <a:t>map_client.c</a:t>
            </a:r>
          </a:p>
          <a:p>
            <a:endParaRPr lang="en-US" altLang="zh-CN" smtClean="0"/>
          </a:p>
        </p:txBody>
      </p:sp>
      <p:sp>
        <p:nvSpPr>
          <p:cNvPr id="216068" name="Text Box 4"/>
          <p:cNvSpPr txBox="1">
            <a:spLocks noChangeArrowheads="1"/>
          </p:cNvSpPr>
          <p:nvPr/>
        </p:nvSpPr>
        <p:spPr bwMode="auto">
          <a:xfrm>
            <a:off x="6888163" y="2492375"/>
            <a:ext cx="3851275" cy="1228725"/>
          </a:xfrm>
          <a:prstGeom prst="rect">
            <a:avLst/>
          </a:prstGeom>
          <a:solidFill>
            <a:srgbClr val="E1FFF7"/>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000">
                <a:solidFill>
                  <a:schemeClr val="tx1"/>
                </a:solidFill>
                <a:latin typeface="Times New Roman" pitchFamily="18" charset="0"/>
                <a:ea typeface="宋体" charset="-122"/>
              </a:defRPr>
            </a:lvl1pPr>
            <a:lvl2pPr marL="742950" indent="-285750" algn="ctr">
              <a:defRPr sz="2000">
                <a:solidFill>
                  <a:schemeClr val="tx1"/>
                </a:solidFill>
                <a:latin typeface="Times New Roman" pitchFamily="18" charset="0"/>
                <a:ea typeface="宋体" charset="-122"/>
              </a:defRPr>
            </a:lvl2pPr>
            <a:lvl3pPr marL="1143000" indent="-228600" algn="ctr">
              <a:defRPr sz="2000">
                <a:solidFill>
                  <a:schemeClr val="tx1"/>
                </a:solidFill>
                <a:latin typeface="Times New Roman" pitchFamily="18" charset="0"/>
                <a:ea typeface="宋体" charset="-122"/>
              </a:defRPr>
            </a:lvl3pPr>
            <a:lvl4pPr marL="1600200" indent="-228600" algn="ctr">
              <a:defRPr sz="2000">
                <a:solidFill>
                  <a:schemeClr val="tx1"/>
                </a:solidFill>
                <a:latin typeface="Times New Roman" pitchFamily="18" charset="0"/>
                <a:ea typeface="宋体" charset="-122"/>
              </a:defRPr>
            </a:lvl4pPr>
            <a:lvl5pPr marL="2057400" indent="-228600" algn="ctr">
              <a:defRPr sz="20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20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20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20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2000">
                <a:solidFill>
                  <a:schemeClr val="tx1"/>
                </a:solidFill>
                <a:latin typeface="Times New Roman" pitchFamily="18" charset="0"/>
                <a:ea typeface="宋体" charset="-122"/>
              </a:defRPr>
            </a:lvl9pPr>
          </a:lstStyle>
          <a:p>
            <a:pPr algn="l" eaLnBrk="1" hangingPunct="1"/>
            <a:r>
              <a:rPr kumimoji="1" lang="en-US" altLang="zh-CN" sz="1800"/>
              <a:t>gcc </a:t>
            </a:r>
            <a:r>
              <a:rPr kumimoji="1" lang="en-US" altLang="zh-CN" sz="1800">
                <a:solidFill>
                  <a:schemeClr val="accent2"/>
                </a:solidFill>
              </a:rPr>
              <a:t>–lrt</a:t>
            </a:r>
            <a:r>
              <a:rPr kumimoji="1" lang="en-US" altLang="zh-CN" sz="1800"/>
              <a:t> –o shm_server shm_server.c</a:t>
            </a:r>
          </a:p>
          <a:p>
            <a:pPr algn="l" eaLnBrk="1" hangingPunct="1"/>
            <a:r>
              <a:rPr kumimoji="1" lang="en-US" altLang="zh-CN" sz="1800"/>
              <a:t>gcc </a:t>
            </a:r>
            <a:r>
              <a:rPr kumimoji="1" lang="en-US" altLang="zh-CN" sz="1800">
                <a:solidFill>
                  <a:schemeClr val="accent2"/>
                </a:solidFill>
              </a:rPr>
              <a:t>–lrt</a:t>
            </a:r>
            <a:r>
              <a:rPr kumimoji="1" lang="en-US" altLang="zh-CN" sz="1800"/>
              <a:t> –o shm_client shm_client.c</a:t>
            </a:r>
          </a:p>
          <a:p>
            <a:pPr algn="l" eaLnBrk="1" hangingPunct="1"/>
            <a:r>
              <a:rPr kumimoji="1" lang="en-US" altLang="zh-CN" sz="1800"/>
              <a:t>./shm_server test&amp;</a:t>
            </a:r>
          </a:p>
          <a:p>
            <a:pPr algn="l" eaLnBrk="1" hangingPunct="1"/>
            <a:r>
              <a:rPr kumimoji="1" lang="en-US" altLang="zh-CN" sz="1800"/>
              <a:t>./shm_client test</a:t>
            </a:r>
          </a:p>
        </p:txBody>
      </p:sp>
    </p:spTree>
    <p:extLst>
      <p:ext uri="{BB962C8B-B14F-4D97-AF65-F5344CB8AC3E}">
        <p14:creationId xmlns:p14="http://schemas.microsoft.com/office/powerpoint/2010/main" val="1858057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16068"/>
                                        </p:tgtEl>
                                        <p:attrNameLst>
                                          <p:attrName>style.visibility</p:attrName>
                                        </p:attrNameLst>
                                      </p:cBhvr>
                                      <p:to>
                                        <p:strVal val="visible"/>
                                      </p:to>
                                    </p:set>
                                    <p:animEffect transition="in" filter="box(out)">
                                      <p:cBhvr>
                                        <p:cTn id="7" dur="500"/>
                                        <p:tgtEl>
                                          <p:spTgt spid="21606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animBg="1" autoUpdateAnimBg="0"/>
    </p:bld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b="1" smtClean="0"/>
              <a:t>Posix</a:t>
            </a:r>
            <a:r>
              <a:rPr lang="zh-CN" altLang="en-US" b="1" smtClean="0"/>
              <a:t>有名信号灯</a:t>
            </a:r>
          </a:p>
        </p:txBody>
      </p:sp>
      <p:sp>
        <p:nvSpPr>
          <p:cNvPr id="68611" name="Rectangle 3"/>
          <p:cNvSpPr>
            <a:spLocks noGrp="1" noChangeArrowheads="1"/>
          </p:cNvSpPr>
          <p:nvPr>
            <p:ph idx="1"/>
          </p:nvPr>
        </p:nvSpPr>
        <p:spPr/>
        <p:txBody>
          <a:bodyPr/>
          <a:lstStyle/>
          <a:p>
            <a:r>
              <a:rPr lang="zh-CN" altLang="en-US" smtClean="0"/>
              <a:t>函数</a:t>
            </a:r>
            <a:r>
              <a:rPr lang="en-US" altLang="zh-CN" smtClean="0"/>
              <a:t>sem_open</a:t>
            </a:r>
            <a:r>
              <a:rPr lang="zh-CN" altLang="en-US" smtClean="0"/>
              <a:t>创建一个新的有名信号灯或打开一个已存在的有名信号灯。有名信号灯总是既可用于线程间的同步，又可以用于进程间的同步。</a:t>
            </a:r>
          </a:p>
          <a:p>
            <a:r>
              <a:rPr lang="zh-CN" altLang="en-US" smtClean="0"/>
              <a:t>而无名信号量只能用于线程同步 </a:t>
            </a:r>
          </a:p>
        </p:txBody>
      </p:sp>
    </p:spTree>
    <p:extLst>
      <p:ext uri="{BB962C8B-B14F-4D97-AF65-F5344CB8AC3E}">
        <p14:creationId xmlns:p14="http://schemas.microsoft.com/office/powerpoint/2010/main" val="229397338"/>
      </p:ext>
    </p:extLst>
  </p:cSld>
  <p:clrMapOvr>
    <a:masterClrMapping/>
  </p:clrMapOvr>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zh-CN" smtClean="0"/>
              <a:t>Sem_open</a:t>
            </a:r>
          </a:p>
        </p:txBody>
      </p:sp>
      <p:sp>
        <p:nvSpPr>
          <p:cNvPr id="69635" name="Rectangle 3"/>
          <p:cNvSpPr>
            <a:spLocks noGrp="1" noChangeArrowheads="1"/>
          </p:cNvSpPr>
          <p:nvPr>
            <p:ph idx="1"/>
          </p:nvPr>
        </p:nvSpPr>
        <p:spPr/>
        <p:txBody>
          <a:bodyPr/>
          <a:lstStyle/>
          <a:p>
            <a:endParaRPr lang="zh-CN" altLang="zh-CN" smtClean="0"/>
          </a:p>
        </p:txBody>
      </p:sp>
      <p:pic>
        <p:nvPicPr>
          <p:cNvPr id="69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12" y="1192823"/>
            <a:ext cx="10396782"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7571347"/>
      </p:ext>
    </p:extLst>
  </p:cSld>
  <p:clrMapOvr>
    <a:masterClrMapping/>
  </p:clrMapOvr>
  <p:timing>
    <p:tnLst>
      <p:par>
        <p:cTn id="1" dur="indefinite" restart="never" nodeType="tmRoot"/>
      </p:par>
    </p:tnLst>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smtClean="0"/>
              <a:t>sem_close</a:t>
            </a:r>
          </a:p>
        </p:txBody>
      </p:sp>
      <p:sp>
        <p:nvSpPr>
          <p:cNvPr id="71683" name="Rectangle 3"/>
          <p:cNvSpPr>
            <a:spLocks noGrp="1" noChangeArrowheads="1"/>
          </p:cNvSpPr>
          <p:nvPr>
            <p:ph idx="1"/>
          </p:nvPr>
        </p:nvSpPr>
        <p:spPr/>
        <p:txBody>
          <a:bodyPr/>
          <a:lstStyle/>
          <a:p>
            <a:endParaRPr lang="zh-CN" altLang="zh-CN" smtClean="0"/>
          </a:p>
        </p:txBody>
      </p:sp>
      <p:pic>
        <p:nvPicPr>
          <p:cNvPr id="71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044" y="2125907"/>
            <a:ext cx="8965956"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268801"/>
      </p:ext>
    </p:extLst>
  </p:cSld>
  <p:clrMapOvr>
    <a:masterClrMapping/>
  </p:clrMapOvr>
  <p:timing>
    <p:tnLst>
      <p:par>
        <p:cTn id="1" dur="indefinite" restart="never" nodeType="tmRoot"/>
      </p:par>
    </p:tn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zh-CN" smtClean="0"/>
              <a:t>sem_unlink</a:t>
            </a:r>
          </a:p>
        </p:txBody>
      </p:sp>
      <p:sp>
        <p:nvSpPr>
          <p:cNvPr id="73731" name="Rectangle 3"/>
          <p:cNvSpPr>
            <a:spLocks noGrp="1" noChangeArrowheads="1"/>
          </p:cNvSpPr>
          <p:nvPr>
            <p:ph idx="1"/>
          </p:nvPr>
        </p:nvSpPr>
        <p:spPr/>
        <p:txBody>
          <a:bodyPr/>
          <a:lstStyle/>
          <a:p>
            <a:r>
              <a:rPr lang="zh-CN" altLang="en-US" smtClean="0"/>
              <a:t>与</a:t>
            </a:r>
            <a:r>
              <a:rPr lang="en-US" altLang="zh-CN" smtClean="0"/>
              <a:t>sem_unlink</a:t>
            </a:r>
            <a:r>
              <a:rPr lang="zh-CN" altLang="en-US" smtClean="0"/>
              <a:t>区别在用文件名来作关键值</a:t>
            </a:r>
            <a:r>
              <a:rPr lang="en-US" altLang="zh-CN" smtClean="0"/>
              <a:t>,</a:t>
            </a:r>
            <a:r>
              <a:rPr lang="zh-CN" altLang="en-US" smtClean="0"/>
              <a:t>因此可以关闭其它进程打开的</a:t>
            </a:r>
            <a:r>
              <a:rPr lang="en-US" altLang="zh-CN" smtClean="0"/>
              <a:t>sem</a:t>
            </a:r>
          </a:p>
        </p:txBody>
      </p:sp>
      <p:pic>
        <p:nvPicPr>
          <p:cNvPr id="73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65400"/>
            <a:ext cx="8970963"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1654479"/>
      </p:ext>
    </p:extLst>
  </p:cSld>
  <p:clrMapOvr>
    <a:masterClrMapping/>
  </p:clrMapOvr>
  <p:timing>
    <p:tnLst>
      <p:par>
        <p:cTn id="1" dur="indefinite" restart="never" nodeType="tmRoot"/>
      </p:par>
    </p:tnLst>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mtClean="0"/>
              <a:t>Sem_getvalue</a:t>
            </a:r>
          </a:p>
        </p:txBody>
      </p:sp>
      <p:sp>
        <p:nvSpPr>
          <p:cNvPr id="74755" name="Rectangle 3"/>
          <p:cNvSpPr>
            <a:spLocks noGrp="1" noChangeArrowheads="1"/>
          </p:cNvSpPr>
          <p:nvPr>
            <p:ph idx="1"/>
          </p:nvPr>
        </p:nvSpPr>
        <p:spPr/>
        <p:txBody>
          <a:bodyPr/>
          <a:lstStyle/>
          <a:p>
            <a:endParaRPr lang="zh-CN" altLang="zh-CN" smtClean="0"/>
          </a:p>
        </p:txBody>
      </p:sp>
      <p:pic>
        <p:nvPicPr>
          <p:cNvPr id="747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425" y="2349500"/>
            <a:ext cx="904557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4589128"/>
      </p:ext>
    </p:extLst>
  </p:cSld>
  <p:clrMapOvr>
    <a:masterClrMapping/>
  </p:clrMapOvr>
  <p:timing>
    <p:tnLst>
      <p:par>
        <p:cTn id="1" dur="indefinite" restart="never" nodeType="tmRoot"/>
      </p:par>
    </p:tnLst>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smtClean="0"/>
              <a:t>Sem_wait/sem_trywait</a:t>
            </a:r>
          </a:p>
        </p:txBody>
      </p:sp>
      <p:sp>
        <p:nvSpPr>
          <p:cNvPr id="76803" name="Rectangle 3"/>
          <p:cNvSpPr>
            <a:spLocks noGrp="1" noChangeArrowheads="1"/>
          </p:cNvSpPr>
          <p:nvPr>
            <p:ph idx="1"/>
          </p:nvPr>
        </p:nvSpPr>
        <p:spPr/>
        <p:txBody>
          <a:bodyPr/>
          <a:lstStyle/>
          <a:p>
            <a:endParaRPr lang="zh-CN" altLang="zh-CN" smtClean="0"/>
          </a:p>
        </p:txBody>
      </p:sp>
      <p:pic>
        <p:nvPicPr>
          <p:cNvPr id="768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918" y="1990236"/>
            <a:ext cx="10773019"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2307878"/>
      </p:ext>
    </p:extLst>
  </p:cSld>
  <p:clrMapOvr>
    <a:masterClrMapping/>
  </p:clrMapOvr>
  <p:timing>
    <p:tnLst>
      <p:par>
        <p:cTn id="1" dur="indefinite" restart="never" nodeType="tmRoot"/>
      </p:par>
    </p:tnLst>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smtClean="0"/>
              <a:t>sem_post</a:t>
            </a:r>
          </a:p>
        </p:txBody>
      </p:sp>
      <p:sp>
        <p:nvSpPr>
          <p:cNvPr id="78851" name="Rectangle 3"/>
          <p:cNvSpPr>
            <a:spLocks noGrp="1" noChangeArrowheads="1"/>
          </p:cNvSpPr>
          <p:nvPr>
            <p:ph idx="1"/>
          </p:nvPr>
        </p:nvSpPr>
        <p:spPr/>
        <p:txBody>
          <a:bodyPr/>
          <a:lstStyle/>
          <a:p>
            <a:endParaRPr lang="zh-CN" altLang="zh-CN" smtClean="0"/>
          </a:p>
        </p:txBody>
      </p:sp>
      <p:pic>
        <p:nvPicPr>
          <p:cNvPr id="788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247" y="2133600"/>
            <a:ext cx="11457599" cy="294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194160"/>
      </p:ext>
    </p:extLst>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z="2800" b="1" smtClean="0"/>
              <a:t>关于</a:t>
            </a:r>
            <a:r>
              <a:rPr lang="en-US" altLang="zh-CN" sz="2800" b="1" smtClean="0"/>
              <a:t>posix</a:t>
            </a:r>
            <a:r>
              <a:rPr lang="zh-CN" altLang="en-US" sz="2800" b="1" smtClean="0"/>
              <a:t>有名信号灯使用的几点注意</a:t>
            </a:r>
            <a:r>
              <a:rPr lang="zh-CN" altLang="en-US" sz="2800" smtClean="0"/>
              <a:t> </a:t>
            </a:r>
          </a:p>
        </p:txBody>
      </p:sp>
      <p:sp>
        <p:nvSpPr>
          <p:cNvPr id="80899" name="Rectangle 3"/>
          <p:cNvSpPr>
            <a:spLocks noGrp="1" noChangeArrowheads="1"/>
          </p:cNvSpPr>
          <p:nvPr>
            <p:ph idx="1"/>
          </p:nvPr>
        </p:nvSpPr>
        <p:spPr/>
        <p:txBody>
          <a:bodyPr/>
          <a:lstStyle/>
          <a:p>
            <a:r>
              <a:rPr lang="en-US" altLang="zh-CN" smtClean="0"/>
              <a:t>1.Posix</a:t>
            </a:r>
            <a:r>
              <a:rPr lang="zh-CN" altLang="en-US" smtClean="0"/>
              <a:t>有名信号灯的值是随内核持续的。也就是说，一个进程创建了一个信号灯，这个进程结束后，这个信号灯还存在，并且信号灯的值也不会改变。</a:t>
            </a:r>
          </a:p>
          <a:p>
            <a:endParaRPr lang="zh-CN" altLang="en-US" smtClean="0"/>
          </a:p>
          <a:p>
            <a:r>
              <a:rPr lang="en-US" altLang="zh-CN" smtClean="0"/>
              <a:t>2</a:t>
            </a:r>
            <a:r>
              <a:rPr lang="zh-CN" altLang="en-US" smtClean="0"/>
              <a:t>。当持有某个信号灯锁的进程没有释放它就终止时，内核并不给该信号灯解锁。</a:t>
            </a:r>
          </a:p>
        </p:txBody>
      </p:sp>
    </p:spTree>
    <p:extLst>
      <p:ext uri="{BB962C8B-B14F-4D97-AF65-F5344CB8AC3E}">
        <p14:creationId xmlns:p14="http://schemas.microsoft.com/office/powerpoint/2010/main" val="1748363961"/>
      </p:ext>
    </p:extLst>
  </p:cSld>
  <p:clrMapOvr>
    <a:masterClrMapping/>
  </p:clrMapOvr>
  <p:timing>
    <p:tnLst>
      <p:par>
        <p:cTn id="1" dur="indefinite" restart="never" nodeType="tmRoot"/>
      </p:par>
    </p:tn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b="1" smtClean="0"/>
              <a:t>基于内存的信号灯</a:t>
            </a:r>
            <a:r>
              <a:rPr lang="zh-CN" altLang="en-US" smtClean="0"/>
              <a:t> </a:t>
            </a:r>
          </a:p>
        </p:txBody>
      </p:sp>
      <p:sp>
        <p:nvSpPr>
          <p:cNvPr id="81923" name="Rectangle 3"/>
          <p:cNvSpPr>
            <a:spLocks noGrp="1" noChangeArrowheads="1"/>
          </p:cNvSpPr>
          <p:nvPr>
            <p:ph idx="1"/>
          </p:nvPr>
        </p:nvSpPr>
        <p:spPr/>
        <p:txBody>
          <a:bodyPr/>
          <a:lstStyle/>
          <a:p>
            <a:endParaRPr lang="zh-CN" altLang="zh-CN" smtClean="0"/>
          </a:p>
        </p:txBody>
      </p:sp>
      <p:pic>
        <p:nvPicPr>
          <p:cNvPr id="819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570" y="2063261"/>
            <a:ext cx="9874983"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9045267"/>
      </p:ext>
    </p:extLst>
  </p:cSld>
  <p:clrMapOvr>
    <a:masterClrMapping/>
  </p:clrMapOvr>
  <p:timing>
    <p:tnLst>
      <p:par>
        <p:cTn id="1" dur="indefinite" restart="never" nodeType="tmRoot"/>
      </p:par>
    </p:tn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两者区别</a:t>
            </a:r>
          </a:p>
        </p:txBody>
      </p:sp>
      <p:sp>
        <p:nvSpPr>
          <p:cNvPr id="83971" name="Rectangle 3"/>
          <p:cNvSpPr>
            <a:spLocks noGrp="1" noChangeArrowheads="1"/>
          </p:cNvSpPr>
          <p:nvPr>
            <p:ph idx="1"/>
          </p:nvPr>
        </p:nvSpPr>
        <p:spPr/>
        <p:txBody>
          <a:bodyPr/>
          <a:lstStyle/>
          <a:p>
            <a:pPr>
              <a:lnSpc>
                <a:spcPct val="80000"/>
              </a:lnSpc>
            </a:pPr>
            <a:r>
              <a:rPr lang="zh-CN" altLang="en-US" sz="2400" dirty="0" smtClean="0"/>
              <a:t>注意：</a:t>
            </a:r>
            <a:r>
              <a:rPr lang="en-US" altLang="zh-CN" sz="2400" dirty="0" err="1" smtClean="0"/>
              <a:t>posix</a:t>
            </a:r>
            <a:r>
              <a:rPr lang="zh-CN" altLang="en-US" sz="2400" dirty="0" smtClean="0"/>
              <a:t>基于内存的信号灯和</a:t>
            </a:r>
            <a:r>
              <a:rPr lang="en-US" altLang="zh-CN" sz="2400" dirty="0" err="1" smtClean="0"/>
              <a:t>posix</a:t>
            </a:r>
            <a:r>
              <a:rPr lang="zh-CN" altLang="en-US" sz="2400" dirty="0" smtClean="0"/>
              <a:t>有名信号灯有一些区别，我们必须注意到这些。</a:t>
            </a:r>
          </a:p>
          <a:p>
            <a:pPr lvl="1">
              <a:lnSpc>
                <a:spcPct val="80000"/>
              </a:lnSpc>
            </a:pPr>
            <a:r>
              <a:rPr lang="en-US" altLang="zh-CN" sz="2000" dirty="0" smtClean="0"/>
              <a:t>1.sem_open</a:t>
            </a:r>
            <a:r>
              <a:rPr lang="zh-CN" altLang="en-US" sz="2000" dirty="0" smtClean="0"/>
              <a:t>不需要类型与</a:t>
            </a:r>
            <a:r>
              <a:rPr lang="en-US" altLang="zh-CN" sz="2000" dirty="0" smtClean="0"/>
              <a:t>shared</a:t>
            </a:r>
            <a:r>
              <a:rPr lang="zh-CN" altLang="en-US" sz="2000" dirty="0" smtClean="0"/>
              <a:t>的参数，有名信号灯总是可以在不同进程间共享的。</a:t>
            </a:r>
          </a:p>
          <a:p>
            <a:pPr lvl="1">
              <a:lnSpc>
                <a:spcPct val="80000"/>
              </a:lnSpc>
            </a:pPr>
            <a:r>
              <a:rPr lang="en-US" altLang="zh-CN" sz="2000" dirty="0" smtClean="0"/>
              <a:t>2.sem_init</a:t>
            </a:r>
            <a:r>
              <a:rPr lang="zh-CN" altLang="en-US" sz="2000" dirty="0" smtClean="0"/>
              <a:t>不使用任何类似于</a:t>
            </a:r>
            <a:r>
              <a:rPr lang="en-US" altLang="zh-CN" sz="2000" dirty="0" smtClean="0"/>
              <a:t>O_CREAT</a:t>
            </a:r>
            <a:r>
              <a:rPr lang="zh-CN" altLang="en-US" sz="2000" dirty="0" smtClean="0"/>
              <a:t>标志的东西，也就是说，</a:t>
            </a:r>
            <a:r>
              <a:rPr lang="en-US" altLang="zh-CN" sz="2000" dirty="0" err="1" smtClean="0"/>
              <a:t>sem_init</a:t>
            </a:r>
            <a:r>
              <a:rPr lang="zh-CN" altLang="en-US" sz="2000" dirty="0" smtClean="0"/>
              <a:t>总是初始化信号灯的值。因此，对于一个给定的信号灯，我们必须小心保证只调用一次</a:t>
            </a:r>
            <a:r>
              <a:rPr lang="en-US" altLang="zh-CN" sz="2000" dirty="0" err="1" smtClean="0"/>
              <a:t>sem_init</a:t>
            </a:r>
            <a:r>
              <a:rPr lang="zh-CN" altLang="en-US" sz="2000" dirty="0" smtClean="0"/>
              <a:t>。</a:t>
            </a:r>
          </a:p>
          <a:p>
            <a:pPr lvl="1">
              <a:lnSpc>
                <a:spcPct val="80000"/>
              </a:lnSpc>
            </a:pPr>
            <a:r>
              <a:rPr lang="en-US" altLang="zh-CN" sz="2000" dirty="0" smtClean="0"/>
              <a:t>3.sem_open</a:t>
            </a:r>
            <a:r>
              <a:rPr lang="zh-CN" altLang="en-US" sz="2000" dirty="0" smtClean="0"/>
              <a:t>返回一个指向某个</a:t>
            </a:r>
            <a:r>
              <a:rPr lang="en-US" altLang="zh-CN" sz="2000" dirty="0" err="1" smtClean="0"/>
              <a:t>sem_t</a:t>
            </a:r>
            <a:r>
              <a:rPr lang="zh-CN" altLang="en-US" sz="2000" dirty="0" smtClean="0"/>
              <a:t>变量的指针，该变量由函数本身分配并初始化。但</a:t>
            </a:r>
            <a:r>
              <a:rPr lang="en-US" altLang="zh-CN" sz="2000" dirty="0" err="1" smtClean="0"/>
              <a:t>sem_init</a:t>
            </a:r>
            <a:r>
              <a:rPr lang="zh-CN" altLang="en-US" sz="2000" dirty="0" smtClean="0"/>
              <a:t>的第一个参数是一个指向某个</a:t>
            </a:r>
            <a:r>
              <a:rPr lang="en-US" altLang="zh-CN" sz="2000" dirty="0" err="1" smtClean="0"/>
              <a:t>sem_t</a:t>
            </a:r>
            <a:r>
              <a:rPr lang="zh-CN" altLang="en-US" sz="2000" dirty="0" smtClean="0"/>
              <a:t>变量的指针，该变量由调用者分配，然后由</a:t>
            </a:r>
            <a:r>
              <a:rPr lang="en-US" altLang="zh-CN" sz="2000" dirty="0" err="1" smtClean="0"/>
              <a:t>sem_init</a:t>
            </a:r>
            <a:r>
              <a:rPr lang="zh-CN" altLang="en-US" sz="2000" dirty="0" smtClean="0"/>
              <a:t>函数初始化。</a:t>
            </a:r>
          </a:p>
          <a:p>
            <a:pPr lvl="1">
              <a:lnSpc>
                <a:spcPct val="80000"/>
              </a:lnSpc>
            </a:pPr>
            <a:r>
              <a:rPr lang="en-US" altLang="zh-CN" sz="2000" dirty="0" smtClean="0"/>
              <a:t>4.posix</a:t>
            </a:r>
            <a:r>
              <a:rPr lang="zh-CN" altLang="en-US" sz="2000" dirty="0" smtClean="0"/>
              <a:t>有名信号灯是通过内核持续的，一个进程创建一个信号灯，另外的进程可以通过该信号灯的外部名（创建信号灯使用的文件名）来访问它。</a:t>
            </a:r>
            <a:r>
              <a:rPr lang="en-US" altLang="zh-CN" sz="2000" dirty="0" err="1" smtClean="0"/>
              <a:t>posix</a:t>
            </a:r>
            <a:r>
              <a:rPr lang="zh-CN" altLang="en-US" sz="2000" dirty="0" smtClean="0"/>
              <a:t>基于内存的信号灯的持续性却是不定的，如果基于内存的信号灯是由单个进程内的各个线程共享的，那么该信号灯就是随进程持续的，当该进程终止时它也会消失。如果某个基于内存的信号灯是在不同进程间同步的，该信号灯必须存放在共享内存区中，这要只要该共享内存区存在，该信号灯就存在。</a:t>
            </a:r>
          </a:p>
          <a:p>
            <a:pPr lvl="1">
              <a:lnSpc>
                <a:spcPct val="80000"/>
              </a:lnSpc>
            </a:pPr>
            <a:r>
              <a:rPr lang="en-US" altLang="zh-CN" sz="2000" dirty="0" smtClean="0"/>
              <a:t>5.</a:t>
            </a:r>
            <a:r>
              <a:rPr lang="zh-CN" altLang="en-US" sz="2000" dirty="0" smtClean="0"/>
              <a:t>基于内存的信号灯应用于线程很麻烦（待会你会知道为什么），而有名信号灯却很方便，基于内存的信号灯比较适合应用于一个进程的多个线程。</a:t>
            </a:r>
          </a:p>
        </p:txBody>
      </p:sp>
    </p:spTree>
    <p:extLst>
      <p:ext uri="{BB962C8B-B14F-4D97-AF65-F5344CB8AC3E}">
        <p14:creationId xmlns:p14="http://schemas.microsoft.com/office/powerpoint/2010/main" val="2912575923"/>
      </p:ext>
    </p:extLst>
  </p:cSld>
  <p:clrMapOvr>
    <a:masterClrMapping/>
  </p:clrMapOvr>
  <p:timing>
    <p:tnLst>
      <p:par>
        <p:cTn id="1" dur="indefinite" restart="never" nodeType="tmRoot"/>
      </p:par>
    </p:tnLst>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第六章</a:t>
            </a:r>
            <a:r>
              <a:rPr lang="en-US" altLang="zh-CN" dirty="0" smtClean="0"/>
              <a:t>-Linux</a:t>
            </a:r>
            <a:r>
              <a:rPr lang="zh-CN" altLang="en-US" dirty="0" smtClean="0"/>
              <a:t>网络程序设计</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82732584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基本要求</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、了解</a:t>
            </a:r>
            <a:r>
              <a:rPr lang="en-US" altLang="zh-CN" dirty="0"/>
              <a:t>TCP/IP</a:t>
            </a:r>
            <a:r>
              <a:rPr lang="zh-CN" altLang="zh-CN" dirty="0"/>
              <a:t>基础知识，什么是</a:t>
            </a:r>
            <a:r>
              <a:rPr lang="en-US" altLang="zh-CN" dirty="0"/>
              <a:t>socket</a:t>
            </a:r>
            <a:r>
              <a:rPr lang="zh-CN" altLang="zh-CN" dirty="0"/>
              <a:t>，</a:t>
            </a:r>
            <a:r>
              <a:rPr lang="en-US" altLang="zh-CN" dirty="0"/>
              <a:t>socket</a:t>
            </a:r>
            <a:r>
              <a:rPr lang="zh-CN" altLang="zh-CN" dirty="0"/>
              <a:t>编程，远程过程调用。</a:t>
            </a:r>
          </a:p>
          <a:p>
            <a:r>
              <a:rPr lang="en-US" altLang="zh-CN" dirty="0"/>
              <a:t>2</a:t>
            </a:r>
            <a:r>
              <a:rPr lang="zh-CN" altLang="zh-CN" dirty="0"/>
              <a:t>、掌握</a:t>
            </a:r>
            <a:r>
              <a:rPr lang="en-US" altLang="zh-CN" dirty="0"/>
              <a:t>Linux</a:t>
            </a:r>
            <a:r>
              <a:rPr lang="zh-CN" altLang="zh-CN" dirty="0"/>
              <a:t>平台数据结构的传送方法。</a:t>
            </a:r>
          </a:p>
          <a:p>
            <a:endParaRPr lang="zh-CN" altLang="en-US" dirty="0"/>
          </a:p>
        </p:txBody>
      </p:sp>
    </p:spTree>
    <p:extLst>
      <p:ext uri="{BB962C8B-B14F-4D97-AF65-F5344CB8AC3E}">
        <p14:creationId xmlns:p14="http://schemas.microsoft.com/office/powerpoint/2010/main" val="3238227930"/>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TCP/IP</a:t>
            </a:r>
            <a:r>
              <a:rPr lang="zh-CN" altLang="en-US" dirty="0" smtClean="0"/>
              <a:t>协议概述</a:t>
            </a:r>
            <a:endParaRPr lang="zh-CN" altLang="en-US" dirty="0"/>
          </a:p>
        </p:txBody>
      </p:sp>
      <p:sp>
        <p:nvSpPr>
          <p:cNvPr id="3" name="内容占位符 2"/>
          <p:cNvSpPr>
            <a:spLocks noGrp="1"/>
          </p:cNvSpPr>
          <p:nvPr>
            <p:ph idx="1"/>
          </p:nvPr>
        </p:nvSpPr>
        <p:spPr/>
        <p:txBody>
          <a:bodyPr/>
          <a:lstStyle/>
          <a:p>
            <a:r>
              <a:rPr lang="en-US" altLang="zh-CN" dirty="0"/>
              <a:t>OSI</a:t>
            </a:r>
            <a:r>
              <a:rPr lang="zh-CN" altLang="en-US" dirty="0"/>
              <a:t>参考模型与</a:t>
            </a:r>
            <a:r>
              <a:rPr lang="en-US" altLang="zh-CN" dirty="0"/>
              <a:t>TCP/IP</a:t>
            </a:r>
            <a:r>
              <a:rPr lang="zh-CN" altLang="en-US" dirty="0"/>
              <a:t>参考模型</a:t>
            </a:r>
          </a:p>
          <a:p>
            <a:endParaRPr lang="zh-CN" altLang="en-US" dirty="0"/>
          </a:p>
        </p:txBody>
      </p:sp>
      <p:grpSp>
        <p:nvGrpSpPr>
          <p:cNvPr id="22" name="Group 23"/>
          <p:cNvGrpSpPr>
            <a:grpSpLocks/>
          </p:cNvGrpSpPr>
          <p:nvPr/>
        </p:nvGrpSpPr>
        <p:grpSpPr bwMode="auto">
          <a:xfrm>
            <a:off x="3406372" y="2466809"/>
            <a:ext cx="5759450" cy="3455987"/>
            <a:chOff x="839" y="1253"/>
            <a:chExt cx="3628" cy="2177"/>
          </a:xfrm>
        </p:grpSpPr>
        <p:sp>
          <p:nvSpPr>
            <p:cNvPr id="23" name="Rectangle 5"/>
            <p:cNvSpPr>
              <a:spLocks noChangeArrowheads="1"/>
            </p:cNvSpPr>
            <p:nvPr/>
          </p:nvSpPr>
          <p:spPr bwMode="auto">
            <a:xfrm>
              <a:off x="884" y="1525"/>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应用层</a:t>
              </a:r>
            </a:p>
          </p:txBody>
        </p:sp>
        <p:sp>
          <p:nvSpPr>
            <p:cNvPr id="24" name="Rectangle 6"/>
            <p:cNvSpPr>
              <a:spLocks noChangeArrowheads="1"/>
            </p:cNvSpPr>
            <p:nvPr/>
          </p:nvSpPr>
          <p:spPr bwMode="auto">
            <a:xfrm>
              <a:off x="884" y="1797"/>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表示层</a:t>
              </a:r>
            </a:p>
          </p:txBody>
        </p:sp>
        <p:sp>
          <p:nvSpPr>
            <p:cNvPr id="25" name="Rectangle 7"/>
            <p:cNvSpPr>
              <a:spLocks noChangeArrowheads="1"/>
            </p:cNvSpPr>
            <p:nvPr/>
          </p:nvSpPr>
          <p:spPr bwMode="auto">
            <a:xfrm>
              <a:off x="884" y="2069"/>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会话层</a:t>
              </a:r>
            </a:p>
          </p:txBody>
        </p:sp>
        <p:sp>
          <p:nvSpPr>
            <p:cNvPr id="26" name="Rectangle 8"/>
            <p:cNvSpPr>
              <a:spLocks noChangeArrowheads="1"/>
            </p:cNvSpPr>
            <p:nvPr/>
          </p:nvSpPr>
          <p:spPr bwMode="auto">
            <a:xfrm>
              <a:off x="884" y="2341"/>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传输层</a:t>
              </a:r>
            </a:p>
          </p:txBody>
        </p:sp>
        <p:sp>
          <p:nvSpPr>
            <p:cNvPr id="27" name="Rectangle 9"/>
            <p:cNvSpPr>
              <a:spLocks noChangeArrowheads="1"/>
            </p:cNvSpPr>
            <p:nvPr/>
          </p:nvSpPr>
          <p:spPr bwMode="auto">
            <a:xfrm>
              <a:off x="884" y="2614"/>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网络层</a:t>
              </a:r>
            </a:p>
          </p:txBody>
        </p:sp>
        <p:sp>
          <p:nvSpPr>
            <p:cNvPr id="28" name="Rectangle 10"/>
            <p:cNvSpPr>
              <a:spLocks noChangeArrowheads="1"/>
            </p:cNvSpPr>
            <p:nvPr/>
          </p:nvSpPr>
          <p:spPr bwMode="auto">
            <a:xfrm>
              <a:off x="884" y="2886"/>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数据链路层</a:t>
              </a:r>
            </a:p>
          </p:txBody>
        </p:sp>
        <p:sp>
          <p:nvSpPr>
            <p:cNvPr id="29" name="Rectangle 11"/>
            <p:cNvSpPr>
              <a:spLocks noChangeArrowheads="1"/>
            </p:cNvSpPr>
            <p:nvPr/>
          </p:nvSpPr>
          <p:spPr bwMode="auto">
            <a:xfrm>
              <a:off x="884" y="3158"/>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物理层</a:t>
              </a:r>
            </a:p>
          </p:txBody>
        </p:sp>
        <p:sp>
          <p:nvSpPr>
            <p:cNvPr id="30" name="Rectangle 12"/>
            <p:cNvSpPr>
              <a:spLocks noChangeArrowheads="1"/>
            </p:cNvSpPr>
            <p:nvPr/>
          </p:nvSpPr>
          <p:spPr bwMode="auto">
            <a:xfrm>
              <a:off x="3243" y="1480"/>
              <a:ext cx="998" cy="86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应用层</a:t>
              </a:r>
            </a:p>
          </p:txBody>
        </p:sp>
        <p:sp>
          <p:nvSpPr>
            <p:cNvPr id="31" name="Rectangle 13"/>
            <p:cNvSpPr>
              <a:spLocks noChangeArrowheads="1"/>
            </p:cNvSpPr>
            <p:nvPr/>
          </p:nvSpPr>
          <p:spPr bwMode="auto">
            <a:xfrm>
              <a:off x="3243" y="2341"/>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传输层</a:t>
              </a:r>
            </a:p>
          </p:txBody>
        </p:sp>
        <p:sp>
          <p:nvSpPr>
            <p:cNvPr id="32" name="Rectangle 14"/>
            <p:cNvSpPr>
              <a:spLocks noChangeArrowheads="1"/>
            </p:cNvSpPr>
            <p:nvPr/>
          </p:nvSpPr>
          <p:spPr bwMode="auto">
            <a:xfrm>
              <a:off x="3243" y="2614"/>
              <a:ext cx="998" cy="272"/>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网络层</a:t>
              </a:r>
            </a:p>
          </p:txBody>
        </p:sp>
        <p:sp>
          <p:nvSpPr>
            <p:cNvPr id="33" name="Rectangle 15"/>
            <p:cNvSpPr>
              <a:spLocks noChangeArrowheads="1"/>
            </p:cNvSpPr>
            <p:nvPr/>
          </p:nvSpPr>
          <p:spPr bwMode="auto">
            <a:xfrm>
              <a:off x="3243" y="2886"/>
              <a:ext cx="998" cy="499"/>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网络接口层</a:t>
              </a:r>
            </a:p>
          </p:txBody>
        </p:sp>
        <p:sp>
          <p:nvSpPr>
            <p:cNvPr id="34" name="Text Box 17"/>
            <p:cNvSpPr txBox="1">
              <a:spLocks noChangeArrowheads="1"/>
            </p:cNvSpPr>
            <p:nvPr/>
          </p:nvSpPr>
          <p:spPr bwMode="auto">
            <a:xfrm>
              <a:off x="839" y="1298"/>
              <a:ext cx="10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800" b="0" i="0" u="none" strike="noStrike" kern="0" cap="none" spc="0" normalizeH="0" baseline="0" noProof="0" smtClean="0">
                  <a:ln>
                    <a:noFill/>
                  </a:ln>
                  <a:solidFill>
                    <a:srgbClr val="080808"/>
                  </a:solidFill>
                  <a:effectLst/>
                  <a:uLnTx/>
                  <a:uFillTx/>
                  <a:latin typeface="Times New Roman" panose="02020603050405020304" pitchFamily="18" charset="0"/>
                </a:rPr>
                <a:t>OSI</a:t>
              </a: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参考模型</a:t>
              </a:r>
            </a:p>
          </p:txBody>
        </p:sp>
        <p:sp>
          <p:nvSpPr>
            <p:cNvPr id="35" name="Text Box 18"/>
            <p:cNvSpPr txBox="1">
              <a:spLocks noChangeArrowheads="1"/>
            </p:cNvSpPr>
            <p:nvPr/>
          </p:nvSpPr>
          <p:spPr bwMode="auto">
            <a:xfrm>
              <a:off x="3243" y="1253"/>
              <a:ext cx="12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800" b="0" i="0" u="none" strike="noStrike" kern="0" cap="none" spc="0" normalizeH="0" baseline="0" noProof="0" smtClean="0">
                  <a:ln>
                    <a:noFill/>
                  </a:ln>
                  <a:solidFill>
                    <a:srgbClr val="080808"/>
                  </a:solidFill>
                  <a:effectLst/>
                  <a:uLnTx/>
                  <a:uFillTx/>
                  <a:latin typeface="Times New Roman" panose="02020603050405020304" pitchFamily="18" charset="0"/>
                </a:rPr>
                <a:t>TCP/IP</a:t>
              </a:r>
              <a:r>
                <a:rPr kumimoji="1" lang="zh-CN" altLang="en-US" sz="1800" b="0" i="0" u="none" strike="noStrike" kern="0" cap="none" spc="0" normalizeH="0" baseline="0" noProof="0" smtClean="0">
                  <a:ln>
                    <a:noFill/>
                  </a:ln>
                  <a:solidFill>
                    <a:srgbClr val="080808"/>
                  </a:solidFill>
                  <a:effectLst/>
                  <a:uLnTx/>
                  <a:uFillTx/>
                  <a:latin typeface="Times New Roman" panose="02020603050405020304" pitchFamily="18" charset="0"/>
                </a:rPr>
                <a:t>参考模型</a:t>
              </a:r>
            </a:p>
          </p:txBody>
        </p:sp>
        <p:sp>
          <p:nvSpPr>
            <p:cNvPr id="36" name="AutoShape 19"/>
            <p:cNvSpPr>
              <a:spLocks noChangeArrowheads="1"/>
            </p:cNvSpPr>
            <p:nvPr/>
          </p:nvSpPr>
          <p:spPr bwMode="auto">
            <a:xfrm>
              <a:off x="1791" y="3067"/>
              <a:ext cx="1543" cy="136"/>
            </a:xfrm>
            <a:prstGeom prst="leftRightArrow">
              <a:avLst>
                <a:gd name="adj1" fmla="val 50000"/>
                <a:gd name="adj2" fmla="val 226912"/>
              </a:avLst>
            </a:prstGeom>
            <a:solidFill>
              <a:srgbClr val="FAC164"/>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5B5249"/>
                </a:solidFill>
                <a:effectLst/>
                <a:uLnTx/>
                <a:uFillTx/>
                <a:latin typeface="Times New Roman" panose="02020603050405020304" pitchFamily="18" charset="0"/>
              </a:endParaRPr>
            </a:p>
          </p:txBody>
        </p:sp>
        <p:sp>
          <p:nvSpPr>
            <p:cNvPr id="37" name="AutoShape 20"/>
            <p:cNvSpPr>
              <a:spLocks noChangeArrowheads="1"/>
            </p:cNvSpPr>
            <p:nvPr/>
          </p:nvSpPr>
          <p:spPr bwMode="auto">
            <a:xfrm>
              <a:off x="1791" y="2704"/>
              <a:ext cx="1543" cy="136"/>
            </a:xfrm>
            <a:prstGeom prst="leftRightArrow">
              <a:avLst>
                <a:gd name="adj1" fmla="val 50000"/>
                <a:gd name="adj2" fmla="val 226912"/>
              </a:avLst>
            </a:prstGeom>
            <a:solidFill>
              <a:srgbClr val="FAC164"/>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5B5249"/>
                </a:solidFill>
                <a:effectLst/>
                <a:uLnTx/>
                <a:uFillTx/>
                <a:latin typeface="Times New Roman" panose="02020603050405020304" pitchFamily="18" charset="0"/>
              </a:endParaRPr>
            </a:p>
          </p:txBody>
        </p:sp>
        <p:sp>
          <p:nvSpPr>
            <p:cNvPr id="38" name="AutoShape 21"/>
            <p:cNvSpPr>
              <a:spLocks noChangeArrowheads="1"/>
            </p:cNvSpPr>
            <p:nvPr/>
          </p:nvSpPr>
          <p:spPr bwMode="auto">
            <a:xfrm>
              <a:off x="1791" y="2387"/>
              <a:ext cx="1543" cy="136"/>
            </a:xfrm>
            <a:prstGeom prst="leftRightArrow">
              <a:avLst>
                <a:gd name="adj1" fmla="val 50000"/>
                <a:gd name="adj2" fmla="val 226912"/>
              </a:avLst>
            </a:prstGeom>
            <a:solidFill>
              <a:srgbClr val="FAC164"/>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5B5249"/>
                </a:solidFill>
                <a:effectLst/>
                <a:uLnTx/>
                <a:uFillTx/>
                <a:latin typeface="Times New Roman" panose="02020603050405020304" pitchFamily="18" charset="0"/>
              </a:endParaRPr>
            </a:p>
          </p:txBody>
        </p:sp>
        <p:sp>
          <p:nvSpPr>
            <p:cNvPr id="39" name="AutoShape 22"/>
            <p:cNvSpPr>
              <a:spLocks noChangeArrowheads="1"/>
            </p:cNvSpPr>
            <p:nvPr/>
          </p:nvSpPr>
          <p:spPr bwMode="auto">
            <a:xfrm>
              <a:off x="1791" y="1888"/>
              <a:ext cx="1543" cy="136"/>
            </a:xfrm>
            <a:prstGeom prst="leftRightArrow">
              <a:avLst>
                <a:gd name="adj1" fmla="val 50000"/>
                <a:gd name="adj2" fmla="val 226912"/>
              </a:avLst>
            </a:prstGeom>
            <a:solidFill>
              <a:srgbClr val="FAC164"/>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5B5249"/>
                </a:solidFill>
                <a:effectLst/>
                <a:uLnTx/>
                <a:uFillTx/>
                <a:latin typeface="Times New Roman" panose="02020603050405020304" pitchFamily="18" charset="0"/>
              </a:endParaRPr>
            </a:p>
          </p:txBody>
        </p:sp>
      </p:grpSp>
    </p:spTree>
    <p:extLst>
      <p:ext uri="{BB962C8B-B14F-4D97-AF65-F5344CB8AC3E}">
        <p14:creationId xmlns:p14="http://schemas.microsoft.com/office/powerpoint/2010/main" val="3196718381"/>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080808"/>
                </a:solidFill>
              </a:rPr>
              <a:t>OSI</a:t>
            </a:r>
            <a:r>
              <a:rPr lang="zh-CN" altLang="en-US" dirty="0" smtClean="0">
                <a:solidFill>
                  <a:srgbClr val="080808"/>
                </a:solidFill>
              </a:rPr>
              <a:t>参考模型与</a:t>
            </a:r>
            <a:r>
              <a:rPr lang="en-US" altLang="zh-CN" dirty="0" smtClean="0">
                <a:solidFill>
                  <a:srgbClr val="080808"/>
                </a:solidFill>
              </a:rPr>
              <a:t>TCP/IP</a:t>
            </a:r>
            <a:r>
              <a:rPr lang="zh-CN" altLang="en-US" dirty="0" smtClean="0">
                <a:solidFill>
                  <a:srgbClr val="080808"/>
                </a:solidFill>
              </a:rPr>
              <a:t>参考模型对应关系</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2640" y="1083079"/>
            <a:ext cx="821055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6291224"/>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TCP/IP</a:t>
            </a:r>
            <a:r>
              <a:rPr lang="zh-CN" altLang="en-US" dirty="0" smtClean="0"/>
              <a:t>协议族</a:t>
            </a:r>
            <a:endParaRPr lang="zh-CN" altLang="en-US" dirty="0"/>
          </a:p>
        </p:txBody>
      </p:sp>
      <p:sp>
        <p:nvSpPr>
          <p:cNvPr id="4" name="Rectangle 3"/>
          <p:cNvSpPr txBox="1">
            <a:spLocks noChangeArrowheads="1"/>
          </p:cNvSpPr>
          <p:nvPr/>
        </p:nvSpPr>
        <p:spPr>
          <a:xfrm>
            <a:off x="1381974" y="1346740"/>
            <a:ext cx="9372712" cy="4659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541338"/>
            <a:r>
              <a:rPr lang="en-US" altLang="zh-CN" dirty="0" smtClean="0"/>
              <a:t>TCP/IP </a:t>
            </a:r>
            <a:r>
              <a:rPr lang="zh-CN" altLang="en-US" dirty="0" smtClean="0"/>
              <a:t>实际上一个一起工作的通信家族，为网际数据通信提供通路。为讨论方便可将</a:t>
            </a:r>
          </a:p>
          <a:p>
            <a:pPr indent="541338"/>
            <a:r>
              <a:rPr lang="en-US" altLang="zh-CN" dirty="0" smtClean="0"/>
              <a:t>TCP/IP </a:t>
            </a:r>
            <a:r>
              <a:rPr lang="zh-CN" altLang="en-US" dirty="0" smtClean="0"/>
              <a:t>协议组大体上分为三部分：</a:t>
            </a:r>
          </a:p>
          <a:p>
            <a:pPr indent="541338"/>
            <a:r>
              <a:rPr lang="en-US" altLang="zh-CN" dirty="0" smtClean="0"/>
              <a:t>1</a:t>
            </a:r>
            <a:r>
              <a:rPr lang="zh-CN" altLang="en-US" dirty="0" smtClean="0"/>
              <a:t>．</a:t>
            </a:r>
            <a:r>
              <a:rPr lang="en-US" altLang="zh-CN" dirty="0" smtClean="0"/>
              <a:t>Internet </a:t>
            </a:r>
            <a:r>
              <a:rPr lang="zh-CN" altLang="en-US" dirty="0" smtClean="0"/>
              <a:t>协议（</a:t>
            </a:r>
            <a:r>
              <a:rPr lang="en-US" altLang="zh-CN" dirty="0" smtClean="0"/>
              <a:t>IP</a:t>
            </a:r>
            <a:r>
              <a:rPr lang="zh-CN" altLang="en-US" dirty="0" smtClean="0"/>
              <a:t>）</a:t>
            </a:r>
          </a:p>
          <a:p>
            <a:pPr indent="541338"/>
            <a:r>
              <a:rPr lang="en-US" altLang="zh-CN" dirty="0" smtClean="0"/>
              <a:t>2</a:t>
            </a:r>
            <a:r>
              <a:rPr lang="zh-CN" altLang="en-US" dirty="0" smtClean="0"/>
              <a:t>．传输控制协议（</a:t>
            </a:r>
            <a:r>
              <a:rPr lang="en-US" altLang="zh-CN" dirty="0" smtClean="0"/>
              <a:t>TCP</a:t>
            </a:r>
            <a:r>
              <a:rPr lang="zh-CN" altLang="en-US" dirty="0" smtClean="0"/>
              <a:t>）和用户数据报文协议（</a:t>
            </a:r>
            <a:r>
              <a:rPr lang="en-US" altLang="zh-CN" dirty="0" smtClean="0"/>
              <a:t>UDP</a:t>
            </a:r>
            <a:r>
              <a:rPr lang="zh-CN" altLang="en-US" dirty="0" smtClean="0"/>
              <a:t>）</a:t>
            </a:r>
          </a:p>
          <a:p>
            <a:pPr indent="541338"/>
            <a:r>
              <a:rPr lang="en-US" altLang="zh-CN" dirty="0" smtClean="0"/>
              <a:t>3</a:t>
            </a:r>
            <a:r>
              <a:rPr lang="zh-CN" altLang="en-US" dirty="0" smtClean="0"/>
              <a:t>．处于</a:t>
            </a:r>
            <a:r>
              <a:rPr lang="en-US" altLang="zh-CN" dirty="0" smtClean="0"/>
              <a:t>TCP </a:t>
            </a:r>
            <a:r>
              <a:rPr lang="zh-CN" altLang="en-US" dirty="0" smtClean="0"/>
              <a:t>和</a:t>
            </a:r>
            <a:r>
              <a:rPr lang="en-US" altLang="zh-CN" dirty="0" smtClean="0"/>
              <a:t>UDP </a:t>
            </a:r>
            <a:r>
              <a:rPr lang="zh-CN" altLang="en-US" dirty="0" smtClean="0"/>
              <a:t>之上的一组协议专门开发的应用程序。它们包括：</a:t>
            </a:r>
            <a:r>
              <a:rPr lang="en-US" altLang="zh-CN" dirty="0" smtClean="0"/>
              <a:t>TELNET</a:t>
            </a:r>
            <a:r>
              <a:rPr lang="zh-CN" altLang="en-US" dirty="0" smtClean="0"/>
              <a:t>，文件传送协议（</a:t>
            </a:r>
            <a:r>
              <a:rPr lang="en-US" altLang="zh-CN" dirty="0" smtClean="0"/>
              <a:t>FTP</a:t>
            </a:r>
            <a:r>
              <a:rPr lang="zh-CN" altLang="en-US" dirty="0" smtClean="0"/>
              <a:t>），域名服务（</a:t>
            </a:r>
            <a:r>
              <a:rPr lang="en-US" altLang="zh-CN" dirty="0" smtClean="0"/>
              <a:t>DNS</a:t>
            </a:r>
            <a:r>
              <a:rPr lang="zh-CN" altLang="en-US" dirty="0" smtClean="0"/>
              <a:t>）和简单的邮件传送程序（</a:t>
            </a:r>
            <a:r>
              <a:rPr lang="en-US" altLang="zh-CN" dirty="0" smtClean="0"/>
              <a:t>SMTP</a:t>
            </a:r>
            <a:r>
              <a:rPr lang="zh-CN" altLang="en-US" dirty="0" smtClean="0"/>
              <a:t>）等许多协议。</a:t>
            </a:r>
            <a:endParaRPr lang="zh-CN" altLang="en-US" dirty="0"/>
          </a:p>
        </p:txBody>
      </p:sp>
    </p:spTree>
    <p:extLst>
      <p:ext uri="{BB962C8B-B14F-4D97-AF65-F5344CB8AC3E}">
        <p14:creationId xmlns:p14="http://schemas.microsoft.com/office/powerpoint/2010/main" val="1977215964"/>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网络层</a:t>
            </a:r>
            <a:endParaRPr lang="zh-CN" altLang="en-US" dirty="0"/>
          </a:p>
        </p:txBody>
      </p:sp>
      <p:sp>
        <p:nvSpPr>
          <p:cNvPr id="3" name="内容占位符 2"/>
          <p:cNvSpPr>
            <a:spLocks noGrp="1"/>
          </p:cNvSpPr>
          <p:nvPr>
            <p:ph idx="1"/>
          </p:nvPr>
        </p:nvSpPr>
        <p:spPr/>
        <p:txBody>
          <a:bodyPr>
            <a:normAutofit fontScale="85000" lnSpcReduction="20000"/>
          </a:bodyPr>
          <a:lstStyle/>
          <a:p>
            <a:pPr indent="269875"/>
            <a:r>
              <a:rPr lang="zh-CN" altLang="en-US" dirty="0" smtClean="0"/>
              <a:t>第一部分也称为网络层。包括</a:t>
            </a:r>
            <a:r>
              <a:rPr lang="en-US" altLang="zh-CN" dirty="0" smtClean="0"/>
              <a:t>Internet </a:t>
            </a:r>
            <a:r>
              <a:rPr lang="zh-CN" altLang="en-US" dirty="0" smtClean="0"/>
              <a:t>协议（</a:t>
            </a:r>
            <a:r>
              <a:rPr lang="en-US" altLang="zh-CN" dirty="0" smtClean="0"/>
              <a:t>IP</a:t>
            </a:r>
            <a:r>
              <a:rPr lang="zh-CN" altLang="en-US" dirty="0" smtClean="0"/>
              <a:t>）、网际控制报文协议（</a:t>
            </a:r>
            <a:r>
              <a:rPr lang="en-US" altLang="zh-CN" dirty="0" smtClean="0"/>
              <a:t>ICMP</a:t>
            </a:r>
            <a:r>
              <a:rPr lang="zh-CN" altLang="en-US" dirty="0" smtClean="0"/>
              <a:t>）和地址识别协议（</a:t>
            </a:r>
            <a:r>
              <a:rPr lang="en-US" altLang="zh-CN" dirty="0" smtClean="0"/>
              <a:t>ARP</a:t>
            </a:r>
            <a:r>
              <a:rPr lang="zh-CN" altLang="en-US" dirty="0" smtClean="0"/>
              <a:t>）</a:t>
            </a:r>
            <a:r>
              <a:rPr lang="en-US" altLang="zh-CN" dirty="0" smtClean="0"/>
              <a:t>.</a:t>
            </a:r>
          </a:p>
          <a:p>
            <a:pPr indent="269875">
              <a:buFont typeface="Wingdings" panose="05000000000000000000" pitchFamily="2" charset="2"/>
              <a:buChar char="n"/>
            </a:pPr>
            <a:r>
              <a:rPr lang="en-US" altLang="zh-CN" dirty="0" smtClean="0"/>
              <a:t> Internet </a:t>
            </a:r>
            <a:r>
              <a:rPr lang="zh-CN" altLang="en-US" dirty="0" smtClean="0"/>
              <a:t>协议（</a:t>
            </a:r>
            <a:r>
              <a:rPr lang="en-US" altLang="zh-CN" dirty="0" smtClean="0"/>
              <a:t>IP</a:t>
            </a:r>
            <a:r>
              <a:rPr lang="zh-CN" altLang="en-US" dirty="0" smtClean="0"/>
              <a:t>）。</a:t>
            </a:r>
          </a:p>
          <a:p>
            <a:pPr indent="269875"/>
            <a:r>
              <a:rPr lang="zh-CN" altLang="en-US" dirty="0" smtClean="0"/>
              <a:t>该协议被设计成互联分组交换通信网，以形成一个网际通信环境。它负责在源主机和目的地主机之间传输来自其较高层软件的称为数据报文的数据块，它在源和目的地之间提供非连接型传递服务。</a:t>
            </a:r>
          </a:p>
          <a:p>
            <a:pPr indent="269875">
              <a:buFont typeface="Wingdings" panose="05000000000000000000" pitchFamily="2" charset="2"/>
              <a:buChar char="n"/>
            </a:pPr>
            <a:r>
              <a:rPr lang="en-US" altLang="zh-CN" dirty="0" smtClean="0"/>
              <a:t> </a:t>
            </a:r>
            <a:r>
              <a:rPr lang="zh-CN" altLang="en-US" dirty="0" smtClean="0"/>
              <a:t>网际控制报文协议（</a:t>
            </a:r>
            <a:r>
              <a:rPr lang="en-US" altLang="zh-CN" dirty="0" smtClean="0"/>
              <a:t>ICMP</a:t>
            </a:r>
            <a:r>
              <a:rPr lang="zh-CN" altLang="en-US" dirty="0" smtClean="0"/>
              <a:t>）。</a:t>
            </a:r>
          </a:p>
          <a:p>
            <a:pPr indent="269875"/>
            <a:r>
              <a:rPr lang="zh-CN" altLang="en-US" dirty="0" smtClean="0"/>
              <a:t>它实际上不是</a:t>
            </a:r>
            <a:r>
              <a:rPr lang="en-US" altLang="zh-CN" dirty="0" smtClean="0"/>
              <a:t>IP</a:t>
            </a:r>
            <a:r>
              <a:rPr lang="zh-CN" altLang="en-US" dirty="0" smtClean="0"/>
              <a:t>层部分，但直接同</a:t>
            </a:r>
            <a:r>
              <a:rPr lang="en-US" altLang="zh-CN" dirty="0" smtClean="0"/>
              <a:t>IP</a:t>
            </a:r>
            <a:r>
              <a:rPr lang="zh-CN" altLang="en-US" dirty="0" smtClean="0"/>
              <a:t>层一起工作，报告网络上的某些出错情况。允许网际路由器传输差错信息或测试报文。</a:t>
            </a:r>
          </a:p>
          <a:p>
            <a:pPr indent="269875">
              <a:buFont typeface="Wingdings" panose="05000000000000000000" pitchFamily="2" charset="2"/>
              <a:buChar char="n"/>
            </a:pPr>
            <a:r>
              <a:rPr lang="zh-CN" altLang="en-US" dirty="0" smtClean="0"/>
              <a:t> 地址识别协议（</a:t>
            </a:r>
            <a:r>
              <a:rPr lang="en-US" altLang="zh-CN" dirty="0" smtClean="0"/>
              <a:t>ARP</a:t>
            </a:r>
            <a:r>
              <a:rPr lang="zh-CN" altLang="en-US" dirty="0" smtClean="0"/>
              <a:t>）。</a:t>
            </a:r>
          </a:p>
          <a:p>
            <a:pPr indent="269875"/>
            <a:r>
              <a:rPr lang="en-US" altLang="zh-CN" dirty="0" smtClean="0"/>
              <a:t>ARP </a:t>
            </a:r>
            <a:r>
              <a:rPr lang="zh-CN" altLang="en-US" dirty="0" smtClean="0"/>
              <a:t>实际上不是网络层部分，它处于</a:t>
            </a:r>
            <a:r>
              <a:rPr lang="en-US" altLang="zh-CN" dirty="0" smtClean="0"/>
              <a:t>IP</a:t>
            </a:r>
            <a:r>
              <a:rPr lang="zh-CN" altLang="en-US" dirty="0" smtClean="0"/>
              <a:t>和数据链路层之间，它是在</a:t>
            </a:r>
            <a:r>
              <a:rPr lang="en-US" altLang="zh-CN" dirty="0" smtClean="0"/>
              <a:t>32</a:t>
            </a:r>
            <a:r>
              <a:rPr lang="zh-CN" altLang="en-US" dirty="0" smtClean="0"/>
              <a:t>位</a:t>
            </a:r>
            <a:r>
              <a:rPr lang="en-US" altLang="zh-CN" dirty="0" smtClean="0"/>
              <a:t>IP</a:t>
            </a:r>
            <a:r>
              <a:rPr lang="zh-CN" altLang="en-US" dirty="0" smtClean="0"/>
              <a:t>地址和</a:t>
            </a:r>
            <a:r>
              <a:rPr lang="en-US" altLang="zh-CN" dirty="0" smtClean="0"/>
              <a:t>48</a:t>
            </a:r>
            <a:r>
              <a:rPr lang="zh-CN" altLang="en-US" dirty="0" smtClean="0"/>
              <a:t>位局域网物理地址之间执行翻译的协议。</a:t>
            </a:r>
          </a:p>
          <a:p>
            <a:endParaRPr lang="zh-CN" altLang="en-US" dirty="0"/>
          </a:p>
        </p:txBody>
      </p:sp>
    </p:spTree>
    <p:extLst>
      <p:ext uri="{BB962C8B-B14F-4D97-AF65-F5344CB8AC3E}">
        <p14:creationId xmlns:p14="http://schemas.microsoft.com/office/powerpoint/2010/main" val="1544641209"/>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传输层协议</a:t>
            </a:r>
            <a:endParaRPr lang="zh-CN" altLang="en-US" dirty="0"/>
          </a:p>
        </p:txBody>
      </p:sp>
      <p:sp>
        <p:nvSpPr>
          <p:cNvPr id="3" name="内容占位符 2"/>
          <p:cNvSpPr>
            <a:spLocks noGrp="1"/>
          </p:cNvSpPr>
          <p:nvPr>
            <p:ph idx="1"/>
          </p:nvPr>
        </p:nvSpPr>
        <p:spPr/>
        <p:txBody>
          <a:bodyPr>
            <a:normAutofit fontScale="92500" lnSpcReduction="20000"/>
          </a:bodyPr>
          <a:lstStyle/>
          <a:p>
            <a:pPr indent="360363"/>
            <a:r>
              <a:rPr lang="zh-CN" altLang="en-US" dirty="0" smtClean="0"/>
              <a:t>第二部分是传输层协议。包括传输控制协议和用户数据报文协议。</a:t>
            </a:r>
          </a:p>
          <a:p>
            <a:pPr indent="360363">
              <a:buFont typeface="Wingdings" panose="05000000000000000000" pitchFamily="2" charset="2"/>
              <a:buChar char="n"/>
            </a:pPr>
            <a:r>
              <a:rPr lang="en-US" altLang="zh-CN" dirty="0" smtClean="0"/>
              <a:t> </a:t>
            </a:r>
            <a:r>
              <a:rPr lang="zh-CN" altLang="en-US" dirty="0" smtClean="0"/>
              <a:t>传输控制协议（</a:t>
            </a:r>
            <a:r>
              <a:rPr lang="en-US" altLang="zh-CN" dirty="0" smtClean="0"/>
              <a:t>TCP</a:t>
            </a:r>
            <a:r>
              <a:rPr lang="zh-CN" altLang="en-US" dirty="0" smtClean="0"/>
              <a:t>）。</a:t>
            </a:r>
          </a:p>
          <a:p>
            <a:pPr indent="360363"/>
            <a:r>
              <a:rPr lang="zh-CN" altLang="en-US" dirty="0" smtClean="0"/>
              <a:t>由于</a:t>
            </a:r>
            <a:r>
              <a:rPr lang="en-US" altLang="zh-CN" dirty="0" smtClean="0"/>
              <a:t>IP </a:t>
            </a:r>
            <a:r>
              <a:rPr lang="zh-CN" altLang="en-US" dirty="0" smtClean="0"/>
              <a:t>提供非连接型传递服务，因此</a:t>
            </a:r>
            <a:r>
              <a:rPr lang="en-US" altLang="zh-CN" dirty="0" smtClean="0"/>
              <a:t>TCP</a:t>
            </a:r>
            <a:r>
              <a:rPr lang="zh-CN" altLang="en-US" dirty="0" smtClean="0"/>
              <a:t>应为应用程序存取网络创造了条件，使用可靠的面向连接的传输层服务。该协议为建立网际上用户进程之间的对话负责。此外，还确保两个以上进程之间的可靠通信。它所提供的功能如下。</a:t>
            </a:r>
          </a:p>
          <a:p>
            <a:pPr indent="360363"/>
            <a:r>
              <a:rPr lang="en-US" altLang="zh-CN" dirty="0" smtClean="0"/>
              <a:t>1</a:t>
            </a:r>
            <a:r>
              <a:rPr lang="zh-CN" altLang="en-US" dirty="0" smtClean="0"/>
              <a:t>．监听输入对话建立请求。</a:t>
            </a:r>
          </a:p>
          <a:p>
            <a:pPr indent="360363"/>
            <a:r>
              <a:rPr lang="en-US" altLang="zh-CN" dirty="0" smtClean="0"/>
              <a:t>2</a:t>
            </a:r>
            <a:r>
              <a:rPr lang="zh-CN" altLang="en-US" dirty="0" smtClean="0"/>
              <a:t>．请求另一网络站点对话。</a:t>
            </a:r>
          </a:p>
          <a:p>
            <a:pPr indent="360363"/>
            <a:r>
              <a:rPr lang="en-US" altLang="zh-CN" dirty="0" smtClean="0"/>
              <a:t>3</a:t>
            </a:r>
            <a:r>
              <a:rPr lang="zh-CN" altLang="en-US" dirty="0" smtClean="0"/>
              <a:t>．可靠的发送和接收数据。</a:t>
            </a:r>
          </a:p>
          <a:p>
            <a:pPr indent="360363"/>
            <a:r>
              <a:rPr lang="en-US" altLang="zh-CN" dirty="0" smtClean="0"/>
              <a:t>4</a:t>
            </a:r>
            <a:r>
              <a:rPr lang="zh-CN" altLang="en-US" dirty="0" smtClean="0"/>
              <a:t>．适度的关闭对话。</a:t>
            </a:r>
          </a:p>
          <a:p>
            <a:endParaRPr lang="zh-CN" altLang="en-US" dirty="0"/>
          </a:p>
        </p:txBody>
      </p:sp>
    </p:spTree>
    <p:extLst>
      <p:ext uri="{BB962C8B-B14F-4D97-AF65-F5344CB8AC3E}">
        <p14:creationId xmlns:p14="http://schemas.microsoft.com/office/powerpoint/2010/main" val="2851342513"/>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应用程序部分</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smtClean="0"/>
              <a:t>用户数据报文协议（</a:t>
            </a:r>
            <a:r>
              <a:rPr lang="en-US" altLang="zh-CN" dirty="0" smtClean="0"/>
              <a:t>UDP</a:t>
            </a:r>
            <a:r>
              <a:rPr lang="zh-CN" altLang="en-US" dirty="0" smtClean="0"/>
              <a:t>）。</a:t>
            </a:r>
            <a:r>
              <a:rPr lang="en-US" altLang="zh-CN" dirty="0" smtClean="0"/>
              <a:t>UDP </a:t>
            </a:r>
            <a:r>
              <a:rPr lang="zh-CN" altLang="en-US" dirty="0" smtClean="0"/>
              <a:t>提供不可靠的非连接型传输层服务，它允许在源和目的地站点之间传送数据，而不必在传送数据之前建立对话。此外，该协议还不使用</a:t>
            </a:r>
            <a:r>
              <a:rPr lang="en-US" altLang="zh-CN" dirty="0" smtClean="0"/>
              <a:t>TCP</a:t>
            </a:r>
            <a:r>
              <a:rPr lang="zh-CN" altLang="en-US" dirty="0" smtClean="0"/>
              <a:t>使用的端对端差错校验。当使用</a:t>
            </a:r>
            <a:r>
              <a:rPr lang="en-US" altLang="zh-CN" dirty="0" smtClean="0"/>
              <a:t>UDP</a:t>
            </a:r>
            <a:r>
              <a:rPr lang="zh-CN" altLang="en-US" dirty="0" smtClean="0"/>
              <a:t>时，传输层功能全都发挥，而开销却比较低。它主要用于那些不要求</a:t>
            </a:r>
            <a:r>
              <a:rPr lang="en-US" altLang="zh-CN" dirty="0" smtClean="0"/>
              <a:t>TCP</a:t>
            </a:r>
            <a:r>
              <a:rPr lang="zh-CN" altLang="en-US" dirty="0" smtClean="0"/>
              <a:t>协议的非连接型的应用程序。例如，名字服务、网络管理、视频点播和网络会议等。</a:t>
            </a:r>
          </a:p>
          <a:p>
            <a:pPr indent="530225"/>
            <a:r>
              <a:rPr lang="zh-CN" altLang="en-US" dirty="0"/>
              <a:t>最后是应用程序部分。这部分包括</a:t>
            </a:r>
            <a:r>
              <a:rPr lang="en-US" altLang="zh-CN" dirty="0"/>
              <a:t>Telnet</a:t>
            </a:r>
            <a:r>
              <a:rPr lang="zh-CN" altLang="en-US" dirty="0"/>
              <a:t>，文件传送协议（</a:t>
            </a:r>
            <a:r>
              <a:rPr lang="en-US" altLang="zh-CN" dirty="0"/>
              <a:t>FTP </a:t>
            </a:r>
            <a:r>
              <a:rPr lang="zh-CN" altLang="en-US" dirty="0"/>
              <a:t>和</a:t>
            </a:r>
            <a:r>
              <a:rPr lang="en-US" altLang="zh-CN" dirty="0"/>
              <a:t>TFTP</a:t>
            </a:r>
            <a:r>
              <a:rPr lang="zh-CN" altLang="en-US" dirty="0"/>
              <a:t>），简单的文件传送协议（</a:t>
            </a:r>
            <a:r>
              <a:rPr lang="en-US" altLang="zh-CN" dirty="0"/>
              <a:t>SMTP</a:t>
            </a:r>
            <a:r>
              <a:rPr lang="zh-CN" altLang="en-US" dirty="0"/>
              <a:t>）和域名服务（</a:t>
            </a:r>
            <a:r>
              <a:rPr lang="en-US" altLang="zh-CN" dirty="0"/>
              <a:t>DNS</a:t>
            </a:r>
            <a:r>
              <a:rPr lang="zh-CN" altLang="en-US" dirty="0"/>
              <a:t>）等协议。</a:t>
            </a:r>
          </a:p>
          <a:p>
            <a:pPr indent="530225"/>
            <a:r>
              <a:rPr lang="en-US" altLang="zh-CN" dirty="0"/>
              <a:t>TCP/IP </a:t>
            </a:r>
            <a:r>
              <a:rPr lang="zh-CN" altLang="en-US" dirty="0"/>
              <a:t>使用了主干网络，能连接各种主机和</a:t>
            </a:r>
            <a:r>
              <a:rPr lang="en-US" altLang="zh-CN" dirty="0"/>
              <a:t>LAN </a:t>
            </a:r>
            <a:r>
              <a:rPr lang="zh-CN" altLang="en-US" dirty="0"/>
              <a:t>的多级分层结构，局部用户能方便的联网，不致影响到整个网络系统。此外这种结构还有利于局部用户控制操作和管理。</a:t>
            </a:r>
          </a:p>
          <a:p>
            <a:pPr indent="530225"/>
            <a:r>
              <a:rPr lang="en-US" altLang="zh-CN" dirty="0"/>
              <a:t>TCP/IP </a:t>
            </a:r>
            <a:r>
              <a:rPr lang="zh-CN" altLang="en-US" dirty="0"/>
              <a:t>具有两个主要功能。第一是</a:t>
            </a:r>
            <a:r>
              <a:rPr lang="en-US" altLang="zh-CN" dirty="0"/>
              <a:t>IP</a:t>
            </a:r>
            <a:r>
              <a:rPr lang="zh-CN" altLang="en-US" dirty="0"/>
              <a:t>在网络之间（有时在个别网络内部）提供路由选择。第二是</a:t>
            </a:r>
            <a:r>
              <a:rPr lang="en-US" altLang="zh-CN" dirty="0"/>
              <a:t>TCP</a:t>
            </a:r>
            <a:r>
              <a:rPr lang="zh-CN" altLang="en-US" dirty="0"/>
              <a:t>将</a:t>
            </a:r>
            <a:r>
              <a:rPr lang="en-US" altLang="zh-CN" dirty="0"/>
              <a:t>TP</a:t>
            </a:r>
            <a:r>
              <a:rPr lang="zh-CN" altLang="en-US" dirty="0"/>
              <a:t>传递的数据传送的接收主机那的适当的处理部件。</a:t>
            </a:r>
          </a:p>
          <a:p>
            <a:endParaRPr lang="zh-CN" altLang="en-US" dirty="0"/>
          </a:p>
        </p:txBody>
      </p:sp>
    </p:spTree>
    <p:extLst>
      <p:ext uri="{BB962C8B-B14F-4D97-AF65-F5344CB8AC3E}">
        <p14:creationId xmlns:p14="http://schemas.microsoft.com/office/powerpoint/2010/main" val="1382070964"/>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Internet </a:t>
            </a:r>
            <a:r>
              <a:rPr lang="zh-CN" altLang="en-US" dirty="0" smtClean="0"/>
              <a:t>协议（</a:t>
            </a:r>
            <a:r>
              <a:rPr lang="en-US" altLang="zh-CN" dirty="0" smtClean="0"/>
              <a:t>IP</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dirty="0" smtClean="0"/>
              <a:t>IP</a:t>
            </a:r>
            <a:r>
              <a:rPr lang="zh-CN" altLang="en-US" dirty="0" smtClean="0"/>
              <a:t>主要有以下四个主要功能：</a:t>
            </a:r>
          </a:p>
          <a:p>
            <a:r>
              <a:rPr lang="zh-CN" altLang="en-US" dirty="0" smtClean="0"/>
              <a:t> （</a:t>
            </a:r>
            <a:r>
              <a:rPr lang="en-US" altLang="zh-CN" dirty="0" smtClean="0"/>
              <a:t>1</a:t>
            </a:r>
            <a:r>
              <a:rPr lang="zh-CN" altLang="en-US" dirty="0" smtClean="0"/>
              <a:t>）数据传送</a:t>
            </a:r>
          </a:p>
          <a:p>
            <a:r>
              <a:rPr lang="zh-CN" altLang="en-US" dirty="0" smtClean="0"/>
              <a:t> （</a:t>
            </a:r>
            <a:r>
              <a:rPr lang="en-US" altLang="zh-CN" dirty="0" smtClean="0"/>
              <a:t>2</a:t>
            </a:r>
            <a:r>
              <a:rPr lang="zh-CN" altLang="en-US" dirty="0" smtClean="0"/>
              <a:t>）寻址</a:t>
            </a:r>
          </a:p>
          <a:p>
            <a:r>
              <a:rPr lang="zh-CN" altLang="en-US" dirty="0" smtClean="0"/>
              <a:t> （</a:t>
            </a:r>
            <a:r>
              <a:rPr lang="en-US" altLang="zh-CN" dirty="0" smtClean="0"/>
              <a:t>3</a:t>
            </a:r>
            <a:r>
              <a:rPr lang="zh-CN" altLang="en-US" dirty="0" smtClean="0"/>
              <a:t>）路由选择</a:t>
            </a:r>
          </a:p>
          <a:p>
            <a:r>
              <a:rPr lang="zh-CN" altLang="en-US" dirty="0" smtClean="0"/>
              <a:t> （</a:t>
            </a:r>
            <a:r>
              <a:rPr lang="en-US" altLang="zh-CN" dirty="0" smtClean="0"/>
              <a:t>4</a:t>
            </a:r>
            <a:r>
              <a:rPr lang="zh-CN" altLang="en-US" dirty="0" smtClean="0"/>
              <a:t>）数据报文的分段</a:t>
            </a:r>
          </a:p>
          <a:p>
            <a:endParaRPr lang="zh-CN" altLang="en-US" dirty="0"/>
          </a:p>
        </p:txBody>
      </p:sp>
    </p:spTree>
    <p:extLst>
      <p:ext uri="{BB962C8B-B14F-4D97-AF65-F5344CB8AC3E}">
        <p14:creationId xmlns:p14="http://schemas.microsoft.com/office/powerpoint/2010/main" val="12508336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IP</a:t>
            </a:r>
            <a:r>
              <a:rPr lang="zh-CN" altLang="en-US" dirty="0" smtClean="0"/>
              <a:t>功能</a:t>
            </a:r>
            <a:endParaRPr lang="zh-CN" altLang="en-US" dirty="0"/>
          </a:p>
        </p:txBody>
      </p:sp>
      <p:sp>
        <p:nvSpPr>
          <p:cNvPr id="3" name="内容占位符 2"/>
          <p:cNvSpPr>
            <a:spLocks noGrp="1"/>
          </p:cNvSpPr>
          <p:nvPr>
            <p:ph idx="1"/>
          </p:nvPr>
        </p:nvSpPr>
        <p:spPr>
          <a:xfrm>
            <a:off x="330124" y="1265313"/>
            <a:ext cx="5426122" cy="4757596"/>
          </a:xfrm>
        </p:spPr>
        <p:txBody>
          <a:bodyPr>
            <a:normAutofit/>
          </a:bodyPr>
          <a:lstStyle/>
          <a:p>
            <a:r>
              <a:rPr lang="en-US" altLang="zh-CN" sz="2400" dirty="0" smtClean="0"/>
              <a:t>IP</a:t>
            </a:r>
            <a:r>
              <a:rPr lang="zh-CN" altLang="en-US" sz="2400" dirty="0" smtClean="0"/>
              <a:t>的主要目的是为数据输入</a:t>
            </a:r>
            <a:r>
              <a:rPr lang="en-US" altLang="zh-CN" sz="2400" dirty="0" smtClean="0"/>
              <a:t>/</a:t>
            </a:r>
            <a:r>
              <a:rPr lang="zh-CN" altLang="en-US" sz="2400" dirty="0" smtClean="0"/>
              <a:t>输出网络提供基本算法，为高层协议提供无连接的传送服务。这意味着在</a:t>
            </a:r>
            <a:r>
              <a:rPr lang="en-US" altLang="zh-CN" sz="2400" dirty="0" smtClean="0"/>
              <a:t>IP</a:t>
            </a:r>
            <a:r>
              <a:rPr lang="zh-CN" altLang="en-US" sz="2400" dirty="0" smtClean="0"/>
              <a:t>将数据递交给接收站点以前不在传输站点和接收站点之间建立对话（虚拟链路）。它只是封装和传递数据，但不向发送者或接收者报告包的状态，不处理所遇到的故障。</a:t>
            </a:r>
          </a:p>
          <a:p>
            <a:r>
              <a:rPr lang="en-US" altLang="zh-CN" sz="2400" dirty="0" smtClean="0"/>
              <a:t>IP</a:t>
            </a:r>
            <a:r>
              <a:rPr lang="zh-CN" altLang="en-US" sz="2400" dirty="0" smtClean="0"/>
              <a:t>协议不注意包内的数据类型，它所知道的一切是必须将某些称为</a:t>
            </a:r>
            <a:r>
              <a:rPr lang="en-US" altLang="zh-CN" sz="2400" dirty="0" smtClean="0"/>
              <a:t>IP </a:t>
            </a:r>
            <a:r>
              <a:rPr lang="zh-CN" altLang="en-US" sz="2400" dirty="0" smtClean="0"/>
              <a:t>帧头的控制协议加到高层协议（</a:t>
            </a:r>
            <a:r>
              <a:rPr lang="en-US" altLang="zh-CN" sz="2400" dirty="0" smtClean="0"/>
              <a:t>TCP </a:t>
            </a:r>
            <a:r>
              <a:rPr lang="zh-CN" altLang="en-US" sz="2400" dirty="0" smtClean="0"/>
              <a:t>或者</a:t>
            </a:r>
            <a:r>
              <a:rPr lang="en-US" altLang="zh-CN" sz="2400" dirty="0" smtClean="0"/>
              <a:t>UDP</a:t>
            </a:r>
            <a:r>
              <a:rPr lang="zh-CN" altLang="en-US" sz="2400" dirty="0" smtClean="0"/>
              <a:t>）所接受的数据上。</a:t>
            </a:r>
          </a:p>
          <a:p>
            <a:endParaRPr lang="zh-CN" altLang="en-US" sz="2400"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375670"/>
            <a:ext cx="6553200"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8573639"/>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dirty="0" smtClean="0"/>
              <a:t>IP </a:t>
            </a:r>
            <a:r>
              <a:rPr lang="zh-CN" altLang="en-US" b="0" dirty="0" smtClean="0"/>
              <a:t>地址</a:t>
            </a:r>
            <a:endParaRPr lang="zh-CN" altLang="en-US" dirty="0"/>
          </a:p>
        </p:txBody>
      </p:sp>
      <p:sp>
        <p:nvSpPr>
          <p:cNvPr id="3" name="内容占位符 2"/>
          <p:cNvSpPr>
            <a:spLocks noGrp="1"/>
          </p:cNvSpPr>
          <p:nvPr>
            <p:ph idx="1"/>
          </p:nvPr>
        </p:nvSpPr>
        <p:spPr/>
        <p:txBody>
          <a:bodyPr/>
          <a:lstStyle/>
          <a:p>
            <a:r>
              <a:rPr lang="en-US" altLang="zh-CN" dirty="0" smtClean="0"/>
              <a:t>IP</a:t>
            </a:r>
            <a:r>
              <a:rPr lang="zh-CN" altLang="en-US" dirty="0" smtClean="0"/>
              <a:t>地址为</a:t>
            </a:r>
            <a:r>
              <a:rPr lang="en-US" altLang="zh-CN" dirty="0" smtClean="0"/>
              <a:t>32</a:t>
            </a:r>
            <a:r>
              <a:rPr lang="zh-CN" altLang="en-US" dirty="0" smtClean="0"/>
              <a:t>位地址，一般以</a:t>
            </a:r>
            <a:r>
              <a:rPr lang="en-US" altLang="zh-CN" dirty="0" smtClean="0"/>
              <a:t>4</a:t>
            </a:r>
            <a:r>
              <a:rPr lang="zh-CN" altLang="en-US" dirty="0" smtClean="0"/>
              <a:t>个字节表示。每个字节的数字又用十进制表示，即每个字节的数的范围是</a:t>
            </a:r>
            <a:r>
              <a:rPr lang="en-US" altLang="zh-CN" dirty="0" smtClean="0"/>
              <a:t>0~255</a:t>
            </a:r>
            <a:r>
              <a:rPr lang="zh-CN" altLang="en-US" dirty="0" smtClean="0"/>
              <a:t>，且每个数字之间用点隔开，例如：</a:t>
            </a:r>
            <a:r>
              <a:rPr lang="en-US" altLang="zh-CN" dirty="0" smtClean="0"/>
              <a:t>192.168.0.112</a:t>
            </a:r>
            <a:r>
              <a:rPr lang="zh-CN" altLang="en-US" dirty="0" smtClean="0"/>
              <a:t>，这种记录方法称为“点</a:t>
            </a:r>
            <a:r>
              <a:rPr lang="en-US" altLang="zh-CN" dirty="0" smtClean="0"/>
              <a:t>-</a:t>
            </a:r>
            <a:r>
              <a:rPr lang="zh-CN" altLang="en-US" dirty="0" smtClean="0"/>
              <a:t>分”十进制记号法。</a:t>
            </a:r>
            <a:r>
              <a:rPr lang="en-US" altLang="zh-CN" dirty="0" smtClean="0"/>
              <a:t>IP</a:t>
            </a:r>
            <a:r>
              <a:rPr lang="zh-CN" altLang="en-US" dirty="0" smtClean="0"/>
              <a:t>地址的结构如下所示：</a:t>
            </a:r>
          </a:p>
          <a:p>
            <a:endParaRPr lang="zh-CN" altLang="en-US" dirty="0"/>
          </a:p>
        </p:txBody>
      </p:sp>
      <p:grpSp>
        <p:nvGrpSpPr>
          <p:cNvPr id="8" name="Group 7"/>
          <p:cNvGrpSpPr>
            <a:grpSpLocks/>
          </p:cNvGrpSpPr>
          <p:nvPr/>
        </p:nvGrpSpPr>
        <p:grpSpPr bwMode="auto">
          <a:xfrm>
            <a:off x="2830702" y="4001294"/>
            <a:ext cx="5614987" cy="503238"/>
            <a:chOff x="975" y="3158"/>
            <a:chExt cx="3537" cy="317"/>
          </a:xfrm>
        </p:grpSpPr>
        <p:sp>
          <p:nvSpPr>
            <p:cNvPr id="9" name="Rectangle 4"/>
            <p:cNvSpPr>
              <a:spLocks noChangeArrowheads="1"/>
            </p:cNvSpPr>
            <p:nvPr/>
          </p:nvSpPr>
          <p:spPr bwMode="auto">
            <a:xfrm>
              <a:off x="975" y="3158"/>
              <a:ext cx="1179" cy="317"/>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smtClean="0">
                  <a:ln>
                    <a:noFill/>
                  </a:ln>
                  <a:solidFill>
                    <a:srgbClr val="080808"/>
                  </a:solidFill>
                  <a:effectLst/>
                  <a:uLnTx/>
                  <a:uFillTx/>
                  <a:latin typeface="Times New Roman" panose="02020603050405020304" pitchFamily="18" charset="0"/>
                </a:rPr>
                <a:t>网络类型</a:t>
              </a:r>
            </a:p>
          </p:txBody>
        </p:sp>
        <p:sp>
          <p:nvSpPr>
            <p:cNvPr id="10" name="Rectangle 5"/>
            <p:cNvSpPr>
              <a:spLocks noChangeArrowheads="1"/>
            </p:cNvSpPr>
            <p:nvPr/>
          </p:nvSpPr>
          <p:spPr bwMode="auto">
            <a:xfrm>
              <a:off x="2154" y="3158"/>
              <a:ext cx="1179" cy="317"/>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smtClean="0">
                  <a:ln>
                    <a:noFill/>
                  </a:ln>
                  <a:solidFill>
                    <a:srgbClr val="080808"/>
                  </a:solidFill>
                  <a:effectLst/>
                  <a:uLnTx/>
                  <a:uFillTx/>
                  <a:latin typeface="Times New Roman" panose="02020603050405020304" pitchFamily="18" charset="0"/>
                </a:rPr>
                <a:t>网络</a:t>
              </a:r>
              <a:r>
                <a:rPr kumimoji="1" lang="en-US" altLang="zh-CN" sz="2400" b="0" i="0" u="none" strike="noStrike" kern="0" cap="none" spc="0" normalizeH="0" baseline="0" noProof="0" smtClean="0">
                  <a:ln>
                    <a:noFill/>
                  </a:ln>
                  <a:solidFill>
                    <a:srgbClr val="080808"/>
                  </a:solidFill>
                  <a:effectLst/>
                  <a:uLnTx/>
                  <a:uFillTx/>
                  <a:latin typeface="Times New Roman" panose="02020603050405020304" pitchFamily="18" charset="0"/>
                </a:rPr>
                <a:t>ID</a:t>
              </a:r>
              <a:endParaRPr kumimoji="1" lang="zh-CN" altLang="en-US" sz="2400" b="0" i="0" u="none" strike="noStrike" kern="0" cap="none" spc="0" normalizeH="0" baseline="0" noProof="0" smtClean="0">
                <a:ln>
                  <a:noFill/>
                </a:ln>
                <a:solidFill>
                  <a:srgbClr val="080808"/>
                </a:solidFill>
                <a:effectLst/>
                <a:uLnTx/>
                <a:uFillTx/>
                <a:latin typeface="Times New Roman" panose="02020603050405020304" pitchFamily="18" charset="0"/>
              </a:endParaRPr>
            </a:p>
          </p:txBody>
        </p:sp>
        <p:sp>
          <p:nvSpPr>
            <p:cNvPr id="11" name="Rectangle 6"/>
            <p:cNvSpPr>
              <a:spLocks noChangeArrowheads="1"/>
            </p:cNvSpPr>
            <p:nvPr/>
          </p:nvSpPr>
          <p:spPr bwMode="auto">
            <a:xfrm>
              <a:off x="3333" y="3158"/>
              <a:ext cx="1179" cy="317"/>
            </a:xfrm>
            <a:prstGeom prst="rect">
              <a:avLst/>
            </a:prstGeom>
            <a:solidFill>
              <a:srgbClr val="C9DDF1"/>
            </a:solidFill>
            <a:ln w="9525">
              <a:solidFill>
                <a:srgbClr val="5B524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smtClean="0">
                  <a:ln>
                    <a:noFill/>
                  </a:ln>
                  <a:solidFill>
                    <a:srgbClr val="080808"/>
                  </a:solidFill>
                  <a:effectLst/>
                  <a:uLnTx/>
                  <a:uFillTx/>
                  <a:latin typeface="Times New Roman" panose="02020603050405020304" pitchFamily="18" charset="0"/>
                </a:rPr>
                <a:t>主机</a:t>
              </a:r>
              <a:r>
                <a:rPr kumimoji="1" lang="en-US" altLang="zh-CN" sz="2400" b="0" i="0" u="none" strike="noStrike" kern="0" cap="none" spc="0" normalizeH="0" baseline="0" noProof="0" smtClean="0">
                  <a:ln>
                    <a:noFill/>
                  </a:ln>
                  <a:solidFill>
                    <a:srgbClr val="080808"/>
                  </a:solidFill>
                  <a:effectLst/>
                  <a:uLnTx/>
                  <a:uFillTx/>
                  <a:latin typeface="Times New Roman" panose="02020603050405020304" pitchFamily="18" charset="0"/>
                </a:rPr>
                <a:t>ID</a:t>
              </a:r>
              <a:endParaRPr kumimoji="1" lang="zh-CN" altLang="en-US" sz="2400" b="0" i="0" u="none" strike="noStrike" kern="0" cap="none" spc="0" normalizeH="0" baseline="0" noProof="0" smtClean="0">
                <a:ln>
                  <a:noFill/>
                </a:ln>
                <a:solidFill>
                  <a:srgbClr val="080808"/>
                </a:solidFill>
                <a:effectLst/>
                <a:uLnTx/>
                <a:uFillTx/>
                <a:latin typeface="Times New Roman" panose="02020603050405020304" pitchFamily="18" charset="0"/>
              </a:endParaRPr>
            </a:p>
          </p:txBody>
        </p:sp>
      </p:grpSp>
    </p:spTree>
    <p:extLst>
      <p:ext uri="{BB962C8B-B14F-4D97-AF65-F5344CB8AC3E}">
        <p14:creationId xmlns:p14="http://schemas.microsoft.com/office/powerpoint/2010/main" val="363601644"/>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IP</a:t>
            </a:r>
            <a:r>
              <a:rPr lang="zh-CN" altLang="en-US" dirty="0" smtClean="0"/>
              <a:t>地址的分类</a:t>
            </a:r>
            <a:endParaRPr lang="zh-CN" altLang="en-US" dirty="0"/>
          </a:p>
        </p:txBody>
      </p:sp>
      <p:sp>
        <p:nvSpPr>
          <p:cNvPr id="3" name="内容占位符 2"/>
          <p:cNvSpPr>
            <a:spLocks noGrp="1"/>
          </p:cNvSpPr>
          <p:nvPr>
            <p:ph idx="1"/>
          </p:nvPr>
        </p:nvSpPr>
        <p:spPr/>
        <p:txBody>
          <a:bodyPr/>
          <a:lstStyle/>
          <a:p>
            <a:r>
              <a:rPr lang="en-US" altLang="zh-CN" dirty="0" smtClean="0"/>
              <a:t>Internet</a:t>
            </a:r>
            <a:r>
              <a:rPr lang="zh-CN" altLang="en-US" dirty="0" smtClean="0"/>
              <a:t>地址可分成</a:t>
            </a:r>
            <a:r>
              <a:rPr lang="en-US" altLang="zh-CN" dirty="0" smtClean="0"/>
              <a:t>5</a:t>
            </a:r>
            <a:r>
              <a:rPr lang="zh-CN" altLang="en-US" dirty="0" smtClean="0"/>
              <a:t>类：</a:t>
            </a:r>
          </a:p>
          <a:p>
            <a:endParaRPr lang="zh-CN" altLang="en-US" dirty="0" smtClean="0"/>
          </a:p>
          <a:p>
            <a:endParaRPr lang="zh-CN" altLang="en-US" dirty="0" smtClean="0"/>
          </a:p>
          <a:p>
            <a:endParaRPr lang="zh-CN" altLang="en-US" dirty="0" smtClean="0"/>
          </a:p>
          <a:p>
            <a:endParaRPr lang="zh-CN" altLang="en-US" dirty="0" smtClean="0"/>
          </a:p>
          <a:p>
            <a:r>
              <a:rPr lang="en-US" altLang="zh-CN" dirty="0" smtClean="0"/>
              <a:t>    A</a:t>
            </a:r>
            <a:r>
              <a:rPr lang="zh-CN" altLang="en-US" dirty="0" smtClean="0"/>
              <a:t>、</a:t>
            </a:r>
            <a:r>
              <a:rPr lang="en-US" altLang="zh-CN" dirty="0" smtClean="0"/>
              <a:t>B</a:t>
            </a:r>
            <a:r>
              <a:rPr lang="zh-CN" altLang="en-US" dirty="0" smtClean="0"/>
              <a:t>、</a:t>
            </a:r>
            <a:r>
              <a:rPr lang="en-US" altLang="zh-CN" dirty="0" smtClean="0"/>
              <a:t>C</a:t>
            </a:r>
            <a:r>
              <a:rPr lang="zh-CN" altLang="en-US" dirty="0" smtClean="0"/>
              <a:t>三类由</a:t>
            </a:r>
            <a:r>
              <a:rPr lang="en-US" altLang="zh-CN" dirty="0" err="1" smtClean="0"/>
              <a:t>InterNIC</a:t>
            </a:r>
            <a:r>
              <a:rPr lang="zh-CN" altLang="en-US" dirty="0" smtClean="0"/>
              <a:t>（</a:t>
            </a:r>
            <a:r>
              <a:rPr lang="en-US" altLang="zh-CN" dirty="0" smtClean="0"/>
              <a:t>Internet</a:t>
            </a:r>
            <a:r>
              <a:rPr lang="zh-CN" altLang="en-US" dirty="0" smtClean="0"/>
              <a:t>网络信息中心）在全球范围内统一分配，</a:t>
            </a:r>
            <a:r>
              <a:rPr lang="en-US" altLang="zh-CN" dirty="0" smtClean="0"/>
              <a:t>D</a:t>
            </a:r>
            <a:r>
              <a:rPr lang="zh-CN" altLang="en-US" dirty="0" smtClean="0"/>
              <a:t>、</a:t>
            </a:r>
            <a:r>
              <a:rPr lang="en-US" altLang="zh-CN" dirty="0" smtClean="0"/>
              <a:t>E</a:t>
            </a:r>
            <a:r>
              <a:rPr lang="zh-CN" altLang="en-US" dirty="0" smtClean="0"/>
              <a:t>类为特殊地址。</a:t>
            </a:r>
            <a:r>
              <a:rPr lang="en-US" altLang="zh-CN" dirty="0" smtClean="0"/>
              <a:t> </a:t>
            </a:r>
            <a:endParaRPr lang="zh-CN" altLang="en-US" dirty="0" smtClean="0"/>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454" y="1896774"/>
            <a:ext cx="8145462"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0045572"/>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4"/>
          <p:cNvGrpSpPr>
            <a:grpSpLocks/>
          </p:cNvGrpSpPr>
          <p:nvPr/>
        </p:nvGrpSpPr>
        <p:grpSpPr bwMode="auto">
          <a:xfrm>
            <a:off x="3119769" y="8413"/>
            <a:ext cx="6985000" cy="2519362"/>
            <a:chOff x="793" y="709"/>
            <a:chExt cx="4400" cy="1587"/>
          </a:xfrm>
        </p:grpSpPr>
        <p:sp>
          <p:nvSpPr>
            <p:cNvPr id="5" name="Text Box 8"/>
            <p:cNvSpPr txBox="1">
              <a:spLocks noChangeArrowheads="1"/>
            </p:cNvSpPr>
            <p:nvPr/>
          </p:nvSpPr>
          <p:spPr bwMode="auto">
            <a:xfrm>
              <a:off x="793" y="709"/>
              <a:ext cx="4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0   1	              7  8			                            31</a:t>
              </a:r>
            </a:p>
          </p:txBody>
        </p:sp>
        <p:sp>
          <p:nvSpPr>
            <p:cNvPr id="6" name="Rectangle 4"/>
            <p:cNvSpPr>
              <a:spLocks noChangeArrowheads="1"/>
            </p:cNvSpPr>
            <p:nvPr/>
          </p:nvSpPr>
          <p:spPr bwMode="auto">
            <a:xfrm>
              <a:off x="839" y="935"/>
              <a:ext cx="227"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0</a:t>
              </a:r>
            </a:p>
          </p:txBody>
        </p:sp>
        <p:sp>
          <p:nvSpPr>
            <p:cNvPr id="7" name="Rectangle 5"/>
            <p:cNvSpPr>
              <a:spLocks noChangeArrowheads="1"/>
            </p:cNvSpPr>
            <p:nvPr/>
          </p:nvSpPr>
          <p:spPr bwMode="auto">
            <a:xfrm>
              <a:off x="1066" y="935"/>
              <a:ext cx="998"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网络地址</a:t>
              </a:r>
              <a:r>
                <a:rPr lang="en-US" altLang="zh-CN" sz="2000"/>
                <a:t>ID</a:t>
              </a:r>
              <a:endParaRPr lang="zh-CN" altLang="en-US" sz="2000"/>
            </a:p>
          </p:txBody>
        </p:sp>
        <p:sp>
          <p:nvSpPr>
            <p:cNvPr id="8" name="Rectangle 7"/>
            <p:cNvSpPr>
              <a:spLocks noChangeArrowheads="1"/>
            </p:cNvSpPr>
            <p:nvPr/>
          </p:nvSpPr>
          <p:spPr bwMode="auto">
            <a:xfrm>
              <a:off x="2064" y="935"/>
              <a:ext cx="2903"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80808"/>
                  </a:solidFill>
                </a:rPr>
                <a:t>主机地址</a:t>
              </a:r>
              <a:r>
                <a:rPr lang="en-US" altLang="zh-CN" sz="2000">
                  <a:solidFill>
                    <a:srgbClr val="080808"/>
                  </a:solidFill>
                </a:rPr>
                <a:t>ID</a:t>
              </a:r>
              <a:endParaRPr lang="zh-CN" altLang="en-US" sz="2000">
                <a:solidFill>
                  <a:srgbClr val="080808"/>
                </a:solidFill>
              </a:endParaRPr>
            </a:p>
          </p:txBody>
        </p:sp>
        <p:sp>
          <p:nvSpPr>
            <p:cNvPr id="9" name="Text Box 9"/>
            <p:cNvSpPr txBox="1">
              <a:spLocks noChangeArrowheads="1"/>
            </p:cNvSpPr>
            <p:nvPr/>
          </p:nvSpPr>
          <p:spPr bwMode="auto">
            <a:xfrm>
              <a:off x="930" y="1253"/>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A</a:t>
              </a:r>
              <a:r>
                <a:rPr lang="zh-CN" altLang="en-US" sz="2000">
                  <a:latin typeface="Arial Narrow" panose="020B0606020202030204" pitchFamily="34" charset="0"/>
                </a:rPr>
                <a:t>类</a:t>
              </a:r>
              <a:r>
                <a:rPr lang="en-US" altLang="zh-CN" sz="2000">
                  <a:latin typeface="Arial Narrow" panose="020B0606020202030204" pitchFamily="34" charset="0"/>
                </a:rPr>
                <a:t>IP</a:t>
              </a:r>
              <a:r>
                <a:rPr lang="zh-CN" altLang="en-US" sz="2000">
                  <a:latin typeface="Arial Narrow" panose="020B0606020202030204" pitchFamily="34" charset="0"/>
                </a:rPr>
                <a:t>地址</a:t>
              </a:r>
            </a:p>
          </p:txBody>
        </p:sp>
        <p:sp>
          <p:nvSpPr>
            <p:cNvPr id="10" name="Rectangle 10"/>
            <p:cNvSpPr>
              <a:spLocks noChangeArrowheads="1"/>
            </p:cNvSpPr>
            <p:nvPr/>
          </p:nvSpPr>
          <p:spPr bwMode="auto">
            <a:xfrm>
              <a:off x="839" y="2023"/>
              <a:ext cx="317"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olidFill>
                    <a:srgbClr val="080808"/>
                  </a:solidFill>
                </a:rPr>
                <a:t>10</a:t>
              </a:r>
            </a:p>
          </p:txBody>
        </p:sp>
        <p:sp>
          <p:nvSpPr>
            <p:cNvPr id="11" name="Rectangle 11"/>
            <p:cNvSpPr>
              <a:spLocks noChangeArrowheads="1"/>
            </p:cNvSpPr>
            <p:nvPr/>
          </p:nvSpPr>
          <p:spPr bwMode="auto">
            <a:xfrm>
              <a:off x="1156" y="2023"/>
              <a:ext cx="1633"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80808"/>
                  </a:solidFill>
                </a:rPr>
                <a:t>网络地址</a:t>
              </a:r>
              <a:r>
                <a:rPr lang="en-US" altLang="zh-CN" sz="2000">
                  <a:solidFill>
                    <a:srgbClr val="080808"/>
                  </a:solidFill>
                </a:rPr>
                <a:t>ID</a:t>
              </a:r>
              <a:endParaRPr lang="zh-CN" altLang="en-US" sz="2000">
                <a:solidFill>
                  <a:srgbClr val="080808"/>
                </a:solidFill>
              </a:endParaRPr>
            </a:p>
          </p:txBody>
        </p:sp>
        <p:sp>
          <p:nvSpPr>
            <p:cNvPr id="12" name="Rectangle 12"/>
            <p:cNvSpPr>
              <a:spLocks noChangeArrowheads="1"/>
            </p:cNvSpPr>
            <p:nvPr/>
          </p:nvSpPr>
          <p:spPr bwMode="auto">
            <a:xfrm>
              <a:off x="2789" y="2023"/>
              <a:ext cx="2178"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rgbClr val="080808"/>
                  </a:solidFill>
                </a:rPr>
                <a:t>主机地址</a:t>
              </a:r>
              <a:r>
                <a:rPr lang="en-US" altLang="zh-CN" sz="2000" dirty="0">
                  <a:solidFill>
                    <a:srgbClr val="080808"/>
                  </a:solidFill>
                </a:rPr>
                <a:t>ID</a:t>
              </a:r>
              <a:endParaRPr lang="zh-CN" altLang="en-US" sz="2000" dirty="0">
                <a:solidFill>
                  <a:srgbClr val="080808"/>
                </a:solidFill>
              </a:endParaRPr>
            </a:p>
          </p:txBody>
        </p:sp>
        <p:sp>
          <p:nvSpPr>
            <p:cNvPr id="13" name="Text Box 13"/>
            <p:cNvSpPr txBox="1">
              <a:spLocks noChangeArrowheads="1"/>
            </p:cNvSpPr>
            <p:nvPr/>
          </p:nvSpPr>
          <p:spPr bwMode="auto">
            <a:xfrm>
              <a:off x="793" y="1797"/>
              <a:ext cx="4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0 1     2                                       15  16	                                             31</a:t>
              </a:r>
            </a:p>
          </p:txBody>
        </p:sp>
      </p:grpSp>
      <p:sp>
        <p:nvSpPr>
          <p:cNvPr id="14" name="Text Box 14"/>
          <p:cNvSpPr txBox="1">
            <a:spLocks noChangeArrowheads="1"/>
          </p:cNvSpPr>
          <p:nvPr/>
        </p:nvSpPr>
        <p:spPr bwMode="auto">
          <a:xfrm>
            <a:off x="3264231" y="2815586"/>
            <a:ext cx="2160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B</a:t>
            </a:r>
            <a:r>
              <a:rPr lang="zh-CN" altLang="en-US" sz="2000">
                <a:latin typeface="Arial Narrow" panose="020B0606020202030204" pitchFamily="34" charset="0"/>
              </a:rPr>
              <a:t>类</a:t>
            </a:r>
            <a:r>
              <a:rPr lang="en-US" altLang="zh-CN" sz="2000">
                <a:latin typeface="Arial Narrow" panose="020B0606020202030204" pitchFamily="34" charset="0"/>
              </a:rPr>
              <a:t>IP</a:t>
            </a:r>
            <a:r>
              <a:rPr lang="zh-CN" altLang="en-US" sz="2000">
                <a:latin typeface="Arial Narrow" panose="020B0606020202030204" pitchFamily="34" charset="0"/>
              </a:rPr>
              <a:t>地址</a:t>
            </a:r>
          </a:p>
        </p:txBody>
      </p:sp>
      <p:grpSp>
        <p:nvGrpSpPr>
          <p:cNvPr id="15" name="Group 23"/>
          <p:cNvGrpSpPr>
            <a:grpSpLocks/>
          </p:cNvGrpSpPr>
          <p:nvPr/>
        </p:nvGrpSpPr>
        <p:grpSpPr bwMode="auto">
          <a:xfrm>
            <a:off x="3119769" y="3110435"/>
            <a:ext cx="6985000" cy="1260475"/>
            <a:chOff x="793" y="2931"/>
            <a:chExt cx="4400" cy="794"/>
          </a:xfrm>
        </p:grpSpPr>
        <p:sp>
          <p:nvSpPr>
            <p:cNvPr id="16" name="Rectangle 18"/>
            <p:cNvSpPr>
              <a:spLocks noChangeArrowheads="1"/>
            </p:cNvSpPr>
            <p:nvPr/>
          </p:nvSpPr>
          <p:spPr bwMode="auto">
            <a:xfrm>
              <a:off x="839" y="3157"/>
              <a:ext cx="317"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olidFill>
                    <a:srgbClr val="080808"/>
                  </a:solidFill>
                </a:rPr>
                <a:t>110</a:t>
              </a:r>
            </a:p>
          </p:txBody>
        </p:sp>
        <p:sp>
          <p:nvSpPr>
            <p:cNvPr id="17" name="Rectangle 19"/>
            <p:cNvSpPr>
              <a:spLocks noChangeArrowheads="1"/>
            </p:cNvSpPr>
            <p:nvPr/>
          </p:nvSpPr>
          <p:spPr bwMode="auto">
            <a:xfrm>
              <a:off x="1156" y="3157"/>
              <a:ext cx="1951"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80808"/>
                  </a:solidFill>
                </a:rPr>
                <a:t>网络地址</a:t>
              </a:r>
              <a:r>
                <a:rPr lang="en-US" altLang="zh-CN" sz="2000">
                  <a:solidFill>
                    <a:srgbClr val="080808"/>
                  </a:solidFill>
                </a:rPr>
                <a:t>ID</a:t>
              </a:r>
              <a:endParaRPr lang="zh-CN" altLang="en-US" sz="2000">
                <a:solidFill>
                  <a:srgbClr val="080808"/>
                </a:solidFill>
              </a:endParaRPr>
            </a:p>
          </p:txBody>
        </p:sp>
        <p:sp>
          <p:nvSpPr>
            <p:cNvPr id="18" name="Rectangle 20"/>
            <p:cNvSpPr>
              <a:spLocks noChangeArrowheads="1"/>
            </p:cNvSpPr>
            <p:nvPr/>
          </p:nvSpPr>
          <p:spPr bwMode="auto">
            <a:xfrm>
              <a:off x="3107" y="3157"/>
              <a:ext cx="1860" cy="2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rgbClr val="080808"/>
                  </a:solidFill>
                </a:rPr>
                <a:t>主机地址</a:t>
              </a:r>
              <a:r>
                <a:rPr lang="en-US" altLang="zh-CN" sz="2000" dirty="0">
                  <a:solidFill>
                    <a:srgbClr val="080808"/>
                  </a:solidFill>
                </a:rPr>
                <a:t>ID</a:t>
              </a:r>
              <a:endParaRPr lang="zh-CN" altLang="en-US" sz="2000" dirty="0">
                <a:solidFill>
                  <a:srgbClr val="080808"/>
                </a:solidFill>
              </a:endParaRPr>
            </a:p>
          </p:txBody>
        </p:sp>
        <p:sp>
          <p:nvSpPr>
            <p:cNvPr id="19" name="Text Box 21"/>
            <p:cNvSpPr txBox="1">
              <a:spLocks noChangeArrowheads="1"/>
            </p:cNvSpPr>
            <p:nvPr/>
          </p:nvSpPr>
          <p:spPr bwMode="auto">
            <a:xfrm>
              <a:off x="793" y="2931"/>
              <a:ext cx="4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012   3                                               23  24	                              31</a:t>
              </a:r>
            </a:p>
          </p:txBody>
        </p:sp>
        <p:sp>
          <p:nvSpPr>
            <p:cNvPr id="20" name="Text Box 22"/>
            <p:cNvSpPr txBox="1">
              <a:spLocks noChangeArrowheads="1"/>
            </p:cNvSpPr>
            <p:nvPr/>
          </p:nvSpPr>
          <p:spPr bwMode="auto">
            <a:xfrm>
              <a:off x="930" y="3475"/>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latin typeface="Arial Narrow" panose="020B0606020202030204" pitchFamily="34" charset="0"/>
                </a:rPr>
                <a:t>C</a:t>
              </a:r>
              <a:r>
                <a:rPr lang="zh-CN" altLang="en-US" sz="2000">
                  <a:latin typeface="Arial Narrow" panose="020B0606020202030204" pitchFamily="34" charset="0"/>
                </a:rPr>
                <a:t>类</a:t>
              </a:r>
              <a:r>
                <a:rPr lang="en-US" altLang="zh-CN" sz="2000">
                  <a:latin typeface="Arial Narrow" panose="020B0606020202030204" pitchFamily="34" charset="0"/>
                </a:rPr>
                <a:t>IP</a:t>
              </a:r>
              <a:r>
                <a:rPr lang="zh-CN" altLang="en-US" sz="2000">
                  <a:latin typeface="Arial Narrow" panose="020B0606020202030204" pitchFamily="34" charset="0"/>
                </a:rPr>
                <a:t>地址</a:t>
              </a:r>
            </a:p>
          </p:txBody>
        </p:sp>
      </p:grpSp>
      <p:grpSp>
        <p:nvGrpSpPr>
          <p:cNvPr id="29" name="组合 28"/>
          <p:cNvGrpSpPr/>
          <p:nvPr/>
        </p:nvGrpSpPr>
        <p:grpSpPr>
          <a:xfrm>
            <a:off x="3119769" y="4315347"/>
            <a:ext cx="6985000" cy="1260475"/>
            <a:chOff x="3121357" y="4604273"/>
            <a:chExt cx="6985000" cy="1260475"/>
          </a:xfrm>
        </p:grpSpPr>
        <p:sp>
          <p:nvSpPr>
            <p:cNvPr id="21" name="Rectangle 5"/>
            <p:cNvSpPr>
              <a:spLocks noChangeArrowheads="1"/>
            </p:cNvSpPr>
            <p:nvPr/>
          </p:nvSpPr>
          <p:spPr bwMode="auto">
            <a:xfrm>
              <a:off x="3194382" y="4963048"/>
              <a:ext cx="862012" cy="433387"/>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rgbClr val="080808"/>
                  </a:solidFill>
                </a:rPr>
                <a:t>1110</a:t>
              </a:r>
            </a:p>
          </p:txBody>
        </p:sp>
        <p:sp>
          <p:nvSpPr>
            <p:cNvPr id="22" name="Rectangle 6"/>
            <p:cNvSpPr>
              <a:spLocks noChangeArrowheads="1"/>
            </p:cNvSpPr>
            <p:nvPr/>
          </p:nvSpPr>
          <p:spPr bwMode="auto">
            <a:xfrm>
              <a:off x="4056394" y="4963048"/>
              <a:ext cx="5689600" cy="433387"/>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rgbClr val="080808"/>
                  </a:solidFill>
                </a:rPr>
                <a:t>广播地址</a:t>
              </a:r>
              <a:r>
                <a:rPr lang="en-US" altLang="zh-CN" sz="2000" dirty="0">
                  <a:solidFill>
                    <a:srgbClr val="080808"/>
                  </a:solidFill>
                </a:rPr>
                <a:t>ID</a:t>
              </a:r>
              <a:endParaRPr lang="zh-CN" altLang="en-US" sz="2000" dirty="0">
                <a:solidFill>
                  <a:srgbClr val="080808"/>
                </a:solidFill>
              </a:endParaRPr>
            </a:p>
          </p:txBody>
        </p:sp>
        <p:sp>
          <p:nvSpPr>
            <p:cNvPr id="23" name="Text Box 8"/>
            <p:cNvSpPr txBox="1">
              <a:spLocks noChangeArrowheads="1"/>
            </p:cNvSpPr>
            <p:nvPr/>
          </p:nvSpPr>
          <p:spPr bwMode="auto">
            <a:xfrm>
              <a:off x="3121357" y="4604273"/>
              <a:ext cx="698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solidFill>
                    <a:srgbClr val="080808"/>
                  </a:solidFill>
                  <a:latin typeface="Arial Narrow" panose="020B0606020202030204" pitchFamily="34" charset="0"/>
                </a:rPr>
                <a:t>0 1 2 3     4                                                 	                              31</a:t>
              </a:r>
            </a:p>
          </p:txBody>
        </p:sp>
        <p:sp>
          <p:nvSpPr>
            <p:cNvPr id="24" name="Text Box 9"/>
            <p:cNvSpPr txBox="1">
              <a:spLocks noChangeArrowheads="1"/>
            </p:cNvSpPr>
            <p:nvPr/>
          </p:nvSpPr>
          <p:spPr bwMode="auto">
            <a:xfrm>
              <a:off x="3338844" y="5467873"/>
              <a:ext cx="2160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rgbClr val="080808"/>
                  </a:solidFill>
                  <a:latin typeface="Arial Narrow" panose="020B0606020202030204" pitchFamily="34" charset="0"/>
                </a:rPr>
                <a:t>D</a:t>
              </a:r>
              <a:r>
                <a:rPr lang="zh-CN" altLang="en-US" sz="2000">
                  <a:solidFill>
                    <a:srgbClr val="080808"/>
                  </a:solidFill>
                  <a:latin typeface="Arial Narrow" panose="020B0606020202030204" pitchFamily="34" charset="0"/>
                </a:rPr>
                <a:t>类</a:t>
              </a:r>
              <a:r>
                <a:rPr lang="en-US" altLang="zh-CN" sz="2000">
                  <a:solidFill>
                    <a:srgbClr val="080808"/>
                  </a:solidFill>
                  <a:latin typeface="Arial Narrow" panose="020B0606020202030204" pitchFamily="34" charset="0"/>
                </a:rPr>
                <a:t>IP</a:t>
              </a:r>
              <a:r>
                <a:rPr lang="zh-CN" altLang="en-US" sz="2000">
                  <a:solidFill>
                    <a:srgbClr val="080808"/>
                  </a:solidFill>
                  <a:latin typeface="Arial Narrow" panose="020B0606020202030204" pitchFamily="34" charset="0"/>
                </a:rPr>
                <a:t>地址</a:t>
              </a:r>
            </a:p>
          </p:txBody>
        </p:sp>
      </p:grpSp>
      <p:grpSp>
        <p:nvGrpSpPr>
          <p:cNvPr id="30" name="组合 29"/>
          <p:cNvGrpSpPr/>
          <p:nvPr/>
        </p:nvGrpSpPr>
        <p:grpSpPr>
          <a:xfrm>
            <a:off x="3064254" y="5531966"/>
            <a:ext cx="6985000" cy="1260475"/>
            <a:chOff x="92406" y="6200278"/>
            <a:chExt cx="6985000" cy="1260475"/>
          </a:xfrm>
        </p:grpSpPr>
        <p:sp>
          <p:nvSpPr>
            <p:cNvPr id="25" name="Rectangle 10"/>
            <p:cNvSpPr>
              <a:spLocks noChangeArrowheads="1"/>
            </p:cNvSpPr>
            <p:nvPr/>
          </p:nvSpPr>
          <p:spPr bwMode="auto">
            <a:xfrm>
              <a:off x="165431" y="6559053"/>
              <a:ext cx="1296987" cy="433388"/>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rgbClr val="080808"/>
                  </a:solidFill>
                </a:rPr>
                <a:t>11110</a:t>
              </a:r>
            </a:p>
          </p:txBody>
        </p:sp>
        <p:sp>
          <p:nvSpPr>
            <p:cNvPr id="26" name="Rectangle 11"/>
            <p:cNvSpPr>
              <a:spLocks noChangeArrowheads="1"/>
            </p:cNvSpPr>
            <p:nvPr/>
          </p:nvSpPr>
          <p:spPr bwMode="auto">
            <a:xfrm>
              <a:off x="1462418" y="6559053"/>
              <a:ext cx="5184775" cy="433388"/>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80808"/>
                  </a:solidFill>
                </a:rPr>
                <a:t>保留用于将来和试验使用</a:t>
              </a:r>
            </a:p>
          </p:txBody>
        </p:sp>
        <p:sp>
          <p:nvSpPr>
            <p:cNvPr id="27" name="Text Box 13"/>
            <p:cNvSpPr txBox="1">
              <a:spLocks noChangeArrowheads="1"/>
            </p:cNvSpPr>
            <p:nvPr/>
          </p:nvSpPr>
          <p:spPr bwMode="auto">
            <a:xfrm>
              <a:off x="92406" y="6200278"/>
              <a:ext cx="698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rgbClr val="080808"/>
                  </a:solidFill>
                  <a:latin typeface="Arial Narrow" panose="020B0606020202030204" pitchFamily="34" charset="0"/>
                </a:rPr>
                <a:t> 0 1 2 3 4         5                                            	                             31</a:t>
              </a:r>
            </a:p>
          </p:txBody>
        </p:sp>
        <p:sp>
          <p:nvSpPr>
            <p:cNvPr id="28" name="Text Box 14"/>
            <p:cNvSpPr txBox="1">
              <a:spLocks noChangeArrowheads="1"/>
            </p:cNvSpPr>
            <p:nvPr/>
          </p:nvSpPr>
          <p:spPr bwMode="auto">
            <a:xfrm>
              <a:off x="309893" y="7063878"/>
              <a:ext cx="2160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rgbClr val="080808"/>
                  </a:solidFill>
                  <a:latin typeface="Arial Narrow" panose="020B0606020202030204" pitchFamily="34" charset="0"/>
                </a:rPr>
                <a:t>E</a:t>
              </a:r>
              <a:r>
                <a:rPr lang="zh-CN" altLang="en-US" sz="2000">
                  <a:solidFill>
                    <a:srgbClr val="080808"/>
                  </a:solidFill>
                  <a:latin typeface="Arial Narrow" panose="020B0606020202030204" pitchFamily="34" charset="0"/>
                </a:rPr>
                <a:t>类</a:t>
              </a:r>
              <a:r>
                <a:rPr lang="en-US" altLang="zh-CN" sz="2000">
                  <a:solidFill>
                    <a:srgbClr val="080808"/>
                  </a:solidFill>
                  <a:latin typeface="Arial Narrow" panose="020B0606020202030204" pitchFamily="34" charset="0"/>
                </a:rPr>
                <a:t>IP</a:t>
              </a:r>
              <a:r>
                <a:rPr lang="zh-CN" altLang="en-US" sz="2000">
                  <a:solidFill>
                    <a:srgbClr val="080808"/>
                  </a:solidFill>
                  <a:latin typeface="Arial Narrow" panose="020B0606020202030204" pitchFamily="34" charset="0"/>
                </a:rPr>
                <a:t>地址</a:t>
              </a:r>
            </a:p>
          </p:txBody>
        </p:sp>
      </p:grpSp>
    </p:spTree>
    <p:extLst>
      <p:ext uri="{BB962C8B-B14F-4D97-AF65-F5344CB8AC3E}">
        <p14:creationId xmlns:p14="http://schemas.microsoft.com/office/powerpoint/2010/main" val="288949668"/>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IP</a:t>
            </a:r>
            <a:r>
              <a:rPr lang="zh-CN" altLang="en-US" dirty="0" smtClean="0"/>
              <a:t>地址说明</a:t>
            </a:r>
            <a:endParaRPr lang="zh-CN" altLang="en-US" dirty="0"/>
          </a:p>
        </p:txBody>
      </p:sp>
      <p:sp>
        <p:nvSpPr>
          <p:cNvPr id="3" name="内容占位符 2"/>
          <p:cNvSpPr>
            <a:spLocks noGrp="1"/>
          </p:cNvSpPr>
          <p:nvPr>
            <p:ph idx="1"/>
          </p:nvPr>
        </p:nvSpPr>
        <p:spPr/>
        <p:txBody>
          <a:bodyPr>
            <a:normAutofit/>
          </a:bodyPr>
          <a:lstStyle/>
          <a:p>
            <a:pPr indent="354013">
              <a:lnSpc>
                <a:spcPct val="80000"/>
              </a:lnSpc>
            </a:pPr>
            <a:r>
              <a:rPr lang="en-US" altLang="zh-CN" dirty="0"/>
              <a:t>A </a:t>
            </a:r>
            <a:r>
              <a:rPr lang="zh-CN" altLang="en-US" dirty="0"/>
              <a:t>类网络地址有</a:t>
            </a:r>
            <a:r>
              <a:rPr lang="en-US" altLang="zh-CN" dirty="0"/>
              <a:t>128 </a:t>
            </a:r>
            <a:r>
              <a:rPr lang="zh-CN" altLang="en-US" dirty="0"/>
              <a:t>个（支持</a:t>
            </a:r>
            <a:r>
              <a:rPr lang="en-US" altLang="zh-CN" dirty="0"/>
              <a:t>127</a:t>
            </a:r>
            <a:r>
              <a:rPr lang="zh-CN" altLang="en-US" dirty="0"/>
              <a:t>）个网络，占有最左边的一个字节（</a:t>
            </a:r>
            <a:r>
              <a:rPr lang="en-US" altLang="zh-CN" dirty="0"/>
              <a:t>8 </a:t>
            </a:r>
            <a:r>
              <a:rPr lang="zh-CN" altLang="en-US" dirty="0"/>
              <a:t>位）。高位（</a:t>
            </a:r>
            <a:r>
              <a:rPr lang="en-US" altLang="zh-CN" dirty="0"/>
              <a:t>0</a:t>
            </a:r>
            <a:r>
              <a:rPr lang="zh-CN" altLang="en-US" dirty="0"/>
              <a:t>）表示识别这种地址的类型。</a:t>
            </a:r>
          </a:p>
          <a:p>
            <a:pPr indent="354013">
              <a:lnSpc>
                <a:spcPct val="80000"/>
              </a:lnSpc>
            </a:pPr>
            <a:r>
              <a:rPr lang="en-US" altLang="zh-CN" dirty="0"/>
              <a:t>B </a:t>
            </a:r>
            <a:r>
              <a:rPr lang="zh-CN" altLang="en-US" dirty="0"/>
              <a:t>类地址使用左边两个</a:t>
            </a:r>
            <a:r>
              <a:rPr lang="en-US" altLang="zh-CN" dirty="0"/>
              <a:t>8 </a:t>
            </a:r>
            <a:r>
              <a:rPr lang="zh-CN" altLang="en-US" dirty="0"/>
              <a:t>位用来网络寻址。两个高位（</a:t>
            </a:r>
            <a:r>
              <a:rPr lang="en-US" altLang="zh-CN" dirty="0"/>
              <a:t>10</a:t>
            </a:r>
            <a:r>
              <a:rPr lang="zh-CN" altLang="en-US" dirty="0"/>
              <a:t>）用于识别这种地址的类型，其余的</a:t>
            </a:r>
            <a:r>
              <a:rPr lang="en-US" altLang="zh-CN" dirty="0"/>
              <a:t>14 </a:t>
            </a:r>
            <a:r>
              <a:rPr lang="zh-CN" altLang="en-US" dirty="0"/>
              <a:t>位用作网络地址，右边的两个字节（</a:t>
            </a:r>
            <a:r>
              <a:rPr lang="en-US" altLang="zh-CN" dirty="0"/>
              <a:t>16 </a:t>
            </a:r>
            <a:r>
              <a:rPr lang="zh-CN" altLang="en-US" dirty="0"/>
              <a:t>位）用作网络节点。</a:t>
            </a:r>
          </a:p>
          <a:p>
            <a:pPr indent="354013">
              <a:lnSpc>
                <a:spcPct val="80000"/>
              </a:lnSpc>
            </a:pPr>
            <a:r>
              <a:rPr lang="en-US" altLang="zh-CN" dirty="0"/>
              <a:t>C </a:t>
            </a:r>
            <a:r>
              <a:rPr lang="zh-CN" altLang="en-US" dirty="0"/>
              <a:t>类地址是最常见的</a:t>
            </a:r>
            <a:r>
              <a:rPr lang="en-US" altLang="zh-CN" dirty="0"/>
              <a:t>Internet </a:t>
            </a:r>
            <a:r>
              <a:rPr lang="zh-CN" altLang="en-US" dirty="0"/>
              <a:t>地址。三个高位（</a:t>
            </a:r>
            <a:r>
              <a:rPr lang="en-US" altLang="zh-CN" dirty="0"/>
              <a:t>110</a:t>
            </a:r>
            <a:r>
              <a:rPr lang="zh-CN" altLang="en-US" dirty="0"/>
              <a:t>）用于地址类型识别，左边三个字节的其余</a:t>
            </a:r>
            <a:r>
              <a:rPr lang="en-US" altLang="zh-CN" dirty="0"/>
              <a:t>21 </a:t>
            </a:r>
            <a:r>
              <a:rPr lang="zh-CN" altLang="en-US" dirty="0"/>
              <a:t>位用于寻址。</a:t>
            </a:r>
            <a:r>
              <a:rPr lang="en-US" altLang="zh-CN" dirty="0"/>
              <a:t>C </a:t>
            </a:r>
            <a:r>
              <a:rPr lang="zh-CN" altLang="en-US" dirty="0"/>
              <a:t>类地址支持</a:t>
            </a:r>
            <a:r>
              <a:rPr lang="en-US" altLang="zh-CN" dirty="0"/>
              <a:t>1046</a:t>
            </a:r>
            <a:r>
              <a:rPr lang="zh-CN" altLang="en-US" dirty="0"/>
              <a:t>个网络，每个网络可多达</a:t>
            </a:r>
            <a:r>
              <a:rPr lang="en-US" altLang="zh-CN" dirty="0"/>
              <a:t>256 </a:t>
            </a:r>
            <a:r>
              <a:rPr lang="zh-CN" altLang="en-US" dirty="0"/>
              <a:t>端点。</a:t>
            </a:r>
            <a:endParaRPr lang="en-US" altLang="zh-CN" dirty="0"/>
          </a:p>
          <a:p>
            <a:pPr indent="354013">
              <a:lnSpc>
                <a:spcPct val="80000"/>
              </a:lnSpc>
            </a:pPr>
            <a:r>
              <a:rPr lang="en-US" altLang="zh-CN" dirty="0"/>
              <a:t>D </a:t>
            </a:r>
            <a:r>
              <a:rPr lang="zh-CN" altLang="en-US" dirty="0"/>
              <a:t>类地址是相当新的。它的识别头是</a:t>
            </a:r>
            <a:r>
              <a:rPr lang="en-US" altLang="zh-CN" dirty="0"/>
              <a:t>1110</a:t>
            </a:r>
            <a:r>
              <a:rPr lang="zh-CN" altLang="en-US" dirty="0"/>
              <a:t>，用于组播，例如用于路由器修改。</a:t>
            </a:r>
          </a:p>
          <a:p>
            <a:pPr indent="354013">
              <a:lnSpc>
                <a:spcPct val="80000"/>
              </a:lnSpc>
            </a:pPr>
            <a:r>
              <a:rPr lang="en-US" altLang="zh-CN" dirty="0"/>
              <a:t>E </a:t>
            </a:r>
            <a:r>
              <a:rPr lang="zh-CN" altLang="en-US" dirty="0"/>
              <a:t>类地址为时延保留，其识别头是</a:t>
            </a:r>
            <a:r>
              <a:rPr lang="en-US" altLang="zh-CN" dirty="0"/>
              <a:t>11110</a:t>
            </a:r>
            <a:r>
              <a:rPr lang="zh-CN" altLang="en-US" dirty="0"/>
              <a:t>。</a:t>
            </a:r>
          </a:p>
          <a:p>
            <a:pPr indent="354013">
              <a:lnSpc>
                <a:spcPct val="80000"/>
              </a:lnSpc>
            </a:pPr>
            <a:endParaRPr lang="zh-CN" altLang="en-US" dirty="0"/>
          </a:p>
          <a:p>
            <a:endParaRPr lang="zh-CN" altLang="en-US" dirty="0"/>
          </a:p>
        </p:txBody>
      </p:sp>
    </p:spTree>
    <p:extLst>
      <p:ext uri="{BB962C8B-B14F-4D97-AF65-F5344CB8AC3E}">
        <p14:creationId xmlns:p14="http://schemas.microsoft.com/office/powerpoint/2010/main" val="1657892444"/>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传输控制协议（</a:t>
            </a:r>
            <a:r>
              <a:rPr lang="en-US" altLang="zh-CN" dirty="0" smtClean="0"/>
              <a:t>TCP</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dirty="0" smtClean="0"/>
              <a:t>TCP</a:t>
            </a:r>
            <a:r>
              <a:rPr lang="zh-CN" altLang="en-US" dirty="0" smtClean="0"/>
              <a:t>（传输控制协议</a:t>
            </a:r>
            <a:r>
              <a:rPr lang="en-US" altLang="zh-CN" dirty="0" smtClean="0"/>
              <a:t>Transmission Control Protocol</a:t>
            </a:r>
            <a:r>
              <a:rPr lang="zh-CN" altLang="en-US" dirty="0" smtClean="0"/>
              <a:t>）是重要的传输层协议，传输层软件</a:t>
            </a:r>
            <a:r>
              <a:rPr lang="en-US" altLang="zh-CN" dirty="0" smtClean="0"/>
              <a:t>TCP</a:t>
            </a:r>
            <a:r>
              <a:rPr lang="zh-CN" altLang="en-US" dirty="0" smtClean="0"/>
              <a:t>的目的是允许数据同网络上的另外站点进行可靠的交换。它能提供端口编号的译码，以识别主机的应用程序，而且完成数据的可靠传输。</a:t>
            </a:r>
          </a:p>
          <a:p>
            <a:r>
              <a:rPr lang="en-US" altLang="zh-CN" dirty="0" smtClean="0"/>
              <a:t>TCP </a:t>
            </a:r>
            <a:r>
              <a:rPr lang="zh-CN" altLang="en-US" dirty="0" smtClean="0"/>
              <a:t>协议具有严格的内装差错检验算法确保数据的完整性。</a:t>
            </a:r>
          </a:p>
          <a:p>
            <a:r>
              <a:rPr lang="en-US" altLang="zh-CN" dirty="0" smtClean="0"/>
              <a:t>TCP </a:t>
            </a:r>
            <a:r>
              <a:rPr lang="zh-CN" altLang="en-US" dirty="0" smtClean="0"/>
              <a:t>是面向字节的顺序协议，这意味着包内的每个字节被分配一个顺序编号，并分配给每包一个顺序编号。</a:t>
            </a:r>
          </a:p>
          <a:p>
            <a:endParaRPr lang="zh-CN" altLang="en-US" dirty="0"/>
          </a:p>
        </p:txBody>
      </p:sp>
    </p:spTree>
    <p:extLst>
      <p:ext uri="{BB962C8B-B14F-4D97-AF65-F5344CB8AC3E}">
        <p14:creationId xmlns:p14="http://schemas.microsoft.com/office/powerpoint/2010/main" val="3664178452"/>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 </a:t>
            </a:r>
            <a:r>
              <a:rPr lang="zh-CN" altLang="en-US" dirty="0" smtClean="0"/>
              <a:t>头信息</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2730" y="1038400"/>
            <a:ext cx="7127875" cy="511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7223383"/>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用户数据报文协议</a:t>
            </a:r>
            <a:endParaRPr lang="zh-CN" altLang="en-US" dirty="0"/>
          </a:p>
        </p:txBody>
      </p:sp>
      <p:sp>
        <p:nvSpPr>
          <p:cNvPr id="3" name="内容占位符 2"/>
          <p:cNvSpPr>
            <a:spLocks noGrp="1"/>
          </p:cNvSpPr>
          <p:nvPr>
            <p:ph idx="1"/>
          </p:nvPr>
        </p:nvSpPr>
        <p:spPr/>
        <p:txBody>
          <a:bodyPr/>
          <a:lstStyle/>
          <a:p>
            <a:pPr indent="720725"/>
            <a:r>
              <a:rPr lang="en-US" altLang="zh-CN" dirty="0"/>
              <a:t>UDP</a:t>
            </a:r>
            <a:r>
              <a:rPr lang="zh-CN" altLang="en-US" dirty="0"/>
              <a:t>（用户数据报协议</a:t>
            </a:r>
            <a:r>
              <a:rPr lang="en-US" altLang="zh-CN" dirty="0"/>
              <a:t>User Datagram Protocol</a:t>
            </a:r>
            <a:r>
              <a:rPr lang="zh-CN" altLang="en-US" dirty="0"/>
              <a:t>）也是</a:t>
            </a:r>
            <a:r>
              <a:rPr lang="en-US" altLang="zh-CN" dirty="0"/>
              <a:t>TCP/IP </a:t>
            </a:r>
            <a:r>
              <a:rPr lang="zh-CN" altLang="en-US" dirty="0"/>
              <a:t>的传输层协议，它是无连接的，不可靠的传输服务。当接收数据时它不向发送方提供确认信息，它不提供输入包的顺序，如果出现丢失包或重份包的情况，也不会向发送方发出差错报文。</a:t>
            </a:r>
          </a:p>
          <a:p>
            <a:pPr indent="720725"/>
            <a:r>
              <a:rPr lang="en-US" altLang="zh-CN" dirty="0"/>
              <a:t>UDP </a:t>
            </a:r>
            <a:r>
              <a:rPr lang="zh-CN" altLang="en-US" dirty="0"/>
              <a:t>的主要作用是分配和管理端口编号，以正确无误的识别运行在网络站点上的个别应用程序。由于它执行功能时具有较低的开销，因而执行速度比</a:t>
            </a:r>
            <a:r>
              <a:rPr lang="en-US" altLang="zh-CN" dirty="0"/>
              <a:t>TCP</a:t>
            </a:r>
            <a:r>
              <a:rPr lang="zh-CN" altLang="en-US" dirty="0"/>
              <a:t>快。它多半用于不需要可靠传输的应用程序，例如网络视频点播和视频会议等。</a:t>
            </a:r>
          </a:p>
          <a:p>
            <a:endParaRPr lang="zh-CN" altLang="en-US" dirty="0"/>
          </a:p>
        </p:txBody>
      </p:sp>
    </p:spTree>
    <p:extLst>
      <p:ext uri="{BB962C8B-B14F-4D97-AF65-F5344CB8AC3E}">
        <p14:creationId xmlns:p14="http://schemas.microsoft.com/office/powerpoint/2010/main" val="3279159860"/>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 </a:t>
            </a:r>
            <a:r>
              <a:rPr lang="zh-CN" altLang="en-US" dirty="0" smtClean="0"/>
              <a:t>头信息</a:t>
            </a:r>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050" y="1036404"/>
            <a:ext cx="8675688"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1201347"/>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TCP/IP </a:t>
            </a:r>
            <a:r>
              <a:rPr lang="zh-CN" altLang="en-US" dirty="0" smtClean="0"/>
              <a:t>协议分组服务</a:t>
            </a:r>
            <a:endParaRPr lang="zh-CN" altLang="en-US" dirty="0"/>
          </a:p>
        </p:txBody>
      </p:sp>
      <p:sp>
        <p:nvSpPr>
          <p:cNvPr id="3" name="内容占位符 2"/>
          <p:cNvSpPr>
            <a:spLocks noGrp="1"/>
          </p:cNvSpPr>
          <p:nvPr>
            <p:ph idx="1"/>
          </p:nvPr>
        </p:nvSpPr>
        <p:spPr/>
        <p:txBody>
          <a:bodyPr/>
          <a:lstStyle/>
          <a:p>
            <a:pPr indent="442913">
              <a:buFont typeface="Wingdings" panose="05000000000000000000" pitchFamily="2" charset="2"/>
              <a:buAutoNum type="arabicPeriod"/>
            </a:pPr>
            <a:r>
              <a:rPr lang="zh-CN" altLang="en-US" dirty="0"/>
              <a:t>控制数据的协议</a:t>
            </a:r>
          </a:p>
          <a:p>
            <a:pPr indent="442913">
              <a:buFont typeface="Wingdings" panose="05000000000000000000" pitchFamily="2" charset="2"/>
              <a:buChar char="n"/>
            </a:pPr>
            <a:r>
              <a:rPr lang="en-US" altLang="zh-CN" dirty="0"/>
              <a:t>TCP</a:t>
            </a:r>
            <a:r>
              <a:rPr lang="zh-CN" altLang="en-US" dirty="0"/>
              <a:t>以连接为基础，即两台电脑必须先建立一个连接，然后才能传输数据。事实上，发送和接受的电脑必须一直互相通讯和联系。</a:t>
            </a:r>
          </a:p>
          <a:p>
            <a:pPr indent="442913">
              <a:buFont typeface="Wingdings" panose="05000000000000000000" pitchFamily="2" charset="2"/>
              <a:buChar char="n"/>
            </a:pPr>
            <a:r>
              <a:rPr lang="en-US" altLang="zh-CN" dirty="0"/>
              <a:t>UDP</a:t>
            </a:r>
            <a:r>
              <a:rPr lang="zh-CN" altLang="en-US" dirty="0"/>
              <a:t>是一个无连接服务，数据可以直接发送而不必在两台电脑之间建立一个网络连接。它和有连接的</a:t>
            </a:r>
            <a:r>
              <a:rPr lang="en-US" altLang="zh-CN" dirty="0"/>
              <a:t>TCP</a:t>
            </a:r>
            <a:r>
              <a:rPr lang="zh-CN" altLang="en-US" dirty="0"/>
              <a:t>相比，占用带宽少，但是无法确认数据是否真正到达了客户端，而客户端收到的数据也不知道是否还是原来的发送顺序。</a:t>
            </a:r>
          </a:p>
          <a:p>
            <a:endParaRPr lang="zh-CN" altLang="en-US" dirty="0"/>
          </a:p>
        </p:txBody>
      </p:sp>
    </p:spTree>
    <p:extLst>
      <p:ext uri="{BB962C8B-B14F-4D97-AF65-F5344CB8AC3E}">
        <p14:creationId xmlns:p14="http://schemas.microsoft.com/office/powerpoint/2010/main" val="2597564330"/>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559558"/>
            <a:ext cx="10515600" cy="6182436"/>
          </a:xfrm>
        </p:spPr>
        <p:txBody>
          <a:bodyPr>
            <a:normAutofit fontScale="92500" lnSpcReduction="10000"/>
          </a:bodyPr>
          <a:lstStyle/>
          <a:p>
            <a:pPr indent="442913">
              <a:lnSpc>
                <a:spcPct val="80000"/>
              </a:lnSpc>
              <a:buFont typeface="Wingdings" panose="05000000000000000000" pitchFamily="2" charset="2"/>
              <a:buAutoNum type="arabicPeriod" startAt="2"/>
            </a:pPr>
            <a:r>
              <a:rPr lang="zh-CN" altLang="en-US" dirty="0" smtClean="0"/>
              <a:t>数据路由协议</a:t>
            </a:r>
          </a:p>
          <a:p>
            <a:pPr indent="442913">
              <a:lnSpc>
                <a:spcPct val="80000"/>
              </a:lnSpc>
            </a:pPr>
            <a:r>
              <a:rPr lang="zh-CN" altLang="en-US" dirty="0" smtClean="0"/>
              <a:t>路由协议分析数据包的地址并且决定传输数据到目的电脑最佳路线。他们也可以把大的数据分成几部分，并且在目的地再把他们组合起来。</a:t>
            </a:r>
            <a:r>
              <a:rPr lang="en-US" altLang="zh-CN" dirty="0" smtClean="0"/>
              <a:t>IP</a:t>
            </a:r>
            <a:r>
              <a:rPr lang="zh-CN" altLang="en-US" dirty="0" smtClean="0"/>
              <a:t>处理实际上传输数据。</a:t>
            </a:r>
          </a:p>
          <a:p>
            <a:pPr indent="442913">
              <a:lnSpc>
                <a:spcPct val="80000"/>
              </a:lnSpc>
              <a:buFont typeface="Wingdings" panose="05000000000000000000" pitchFamily="2" charset="2"/>
              <a:buChar char="n"/>
            </a:pPr>
            <a:r>
              <a:rPr lang="en-US" altLang="zh-CN" dirty="0" smtClean="0"/>
              <a:t>ICMP</a:t>
            </a:r>
            <a:r>
              <a:rPr lang="zh-CN" altLang="en-US" dirty="0" smtClean="0"/>
              <a:t>（网络控制信息协议</a:t>
            </a:r>
            <a:r>
              <a:rPr lang="en-US" altLang="zh-CN" dirty="0" smtClean="0"/>
              <a:t>Internet Control Message Protocol</a:t>
            </a:r>
            <a:r>
              <a:rPr lang="zh-CN" altLang="en-US" dirty="0" smtClean="0"/>
              <a:t>）处理</a:t>
            </a:r>
            <a:r>
              <a:rPr lang="en-US" altLang="zh-CN" dirty="0" smtClean="0"/>
              <a:t>IP</a:t>
            </a:r>
            <a:r>
              <a:rPr lang="zh-CN" altLang="en-US" dirty="0" smtClean="0"/>
              <a:t>的状态信息，比如能影响路由决策的数据错误或改变。</a:t>
            </a:r>
          </a:p>
          <a:p>
            <a:pPr indent="442913">
              <a:lnSpc>
                <a:spcPct val="80000"/>
              </a:lnSpc>
              <a:buFont typeface="Wingdings" panose="05000000000000000000" pitchFamily="2" charset="2"/>
              <a:buChar char="n"/>
            </a:pPr>
            <a:r>
              <a:rPr lang="en-US" altLang="zh-CN" dirty="0" smtClean="0"/>
              <a:t>RIP</a:t>
            </a:r>
            <a:r>
              <a:rPr lang="zh-CN" altLang="en-US" dirty="0" smtClean="0"/>
              <a:t>（路由信息协议</a:t>
            </a:r>
            <a:r>
              <a:rPr lang="en-US" altLang="zh-CN" dirty="0" smtClean="0"/>
              <a:t>Routing Information Protocol</a:t>
            </a:r>
            <a:r>
              <a:rPr lang="zh-CN" altLang="en-US" dirty="0" smtClean="0"/>
              <a:t>）它是几个决定信息传输的最佳路由路线协议中的一个。</a:t>
            </a:r>
          </a:p>
          <a:p>
            <a:pPr indent="442913">
              <a:lnSpc>
                <a:spcPct val="80000"/>
              </a:lnSpc>
              <a:buFont typeface="Wingdings" panose="05000000000000000000" pitchFamily="2" charset="2"/>
              <a:buChar char="n"/>
            </a:pPr>
            <a:r>
              <a:rPr lang="en-US" altLang="zh-CN" dirty="0" smtClean="0"/>
              <a:t>OSPF</a:t>
            </a:r>
            <a:r>
              <a:rPr lang="zh-CN" altLang="en-US" dirty="0" smtClean="0"/>
              <a:t>（</a:t>
            </a:r>
            <a:r>
              <a:rPr lang="en-US" altLang="zh-CN" dirty="0" smtClean="0"/>
              <a:t>Open Shortest Path First</a:t>
            </a:r>
            <a:r>
              <a:rPr lang="zh-CN" altLang="en-US" dirty="0" smtClean="0"/>
              <a:t>）一个用来决定路由的协议。</a:t>
            </a:r>
          </a:p>
          <a:p>
            <a:pPr indent="442913">
              <a:lnSpc>
                <a:spcPct val="80000"/>
              </a:lnSpc>
              <a:buFont typeface="Wingdings" panose="05000000000000000000" pitchFamily="2" charset="2"/>
              <a:buChar char="n"/>
            </a:pPr>
            <a:r>
              <a:rPr lang="en-US" altLang="zh-CN" dirty="0" smtClean="0"/>
              <a:t>ARP</a:t>
            </a:r>
            <a:r>
              <a:rPr lang="zh-CN" altLang="en-US" dirty="0" smtClean="0"/>
              <a:t>（地址解析协议</a:t>
            </a:r>
            <a:r>
              <a:rPr lang="en-US" altLang="zh-CN" dirty="0" smtClean="0"/>
              <a:t>Address Resolution Protocol</a:t>
            </a:r>
            <a:r>
              <a:rPr lang="zh-CN" altLang="en-US" dirty="0" smtClean="0"/>
              <a:t>）确定网络上一台电脑的数字地址。</a:t>
            </a:r>
          </a:p>
          <a:p>
            <a:pPr indent="442913">
              <a:lnSpc>
                <a:spcPct val="80000"/>
              </a:lnSpc>
              <a:buFont typeface="Wingdings" panose="05000000000000000000" pitchFamily="2" charset="2"/>
              <a:buChar char="n"/>
            </a:pPr>
            <a:r>
              <a:rPr lang="en-US" altLang="zh-CN" dirty="0" smtClean="0"/>
              <a:t>DNS</a:t>
            </a:r>
            <a:r>
              <a:rPr lang="zh-CN" altLang="en-US" dirty="0" smtClean="0"/>
              <a:t>（域名系统</a:t>
            </a:r>
            <a:r>
              <a:rPr lang="en-US" altLang="zh-CN" dirty="0" smtClean="0"/>
              <a:t>Domain Name System</a:t>
            </a:r>
            <a:r>
              <a:rPr lang="zh-CN" altLang="en-US" dirty="0" smtClean="0"/>
              <a:t>）从机器的名字确定一个机器的数字地址。</a:t>
            </a:r>
          </a:p>
          <a:p>
            <a:pPr indent="442913">
              <a:lnSpc>
                <a:spcPct val="80000"/>
              </a:lnSpc>
              <a:buFont typeface="Wingdings" panose="05000000000000000000" pitchFamily="2" charset="2"/>
              <a:buChar char="n"/>
            </a:pPr>
            <a:r>
              <a:rPr lang="en-US" altLang="zh-CN" dirty="0" smtClean="0"/>
              <a:t>RARP</a:t>
            </a:r>
            <a:r>
              <a:rPr lang="zh-CN" altLang="en-US" dirty="0" smtClean="0"/>
              <a:t>（反向地址解析协议</a:t>
            </a:r>
            <a:r>
              <a:rPr lang="en-US" altLang="zh-CN" dirty="0" smtClean="0"/>
              <a:t>Reverse Address Resolution Protocol</a:t>
            </a:r>
            <a:r>
              <a:rPr lang="zh-CN" altLang="en-US" dirty="0" smtClean="0"/>
              <a:t>）确定网络上一台计算机的地址，和</a:t>
            </a:r>
            <a:r>
              <a:rPr lang="en-US" altLang="zh-CN" dirty="0" smtClean="0"/>
              <a:t>ARP</a:t>
            </a:r>
            <a:r>
              <a:rPr lang="zh-CN" altLang="en-US" dirty="0" smtClean="0"/>
              <a:t>正好相反。</a:t>
            </a:r>
          </a:p>
          <a:p>
            <a:endParaRPr lang="zh-CN" altLang="en-US" dirty="0"/>
          </a:p>
        </p:txBody>
      </p:sp>
    </p:spTree>
    <p:extLst>
      <p:ext uri="{BB962C8B-B14F-4D97-AF65-F5344CB8AC3E}">
        <p14:creationId xmlns:p14="http://schemas.microsoft.com/office/powerpoint/2010/main" val="3125426126"/>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09432"/>
            <a:ext cx="10515600" cy="6196083"/>
          </a:xfrm>
        </p:spPr>
        <p:txBody>
          <a:bodyPr>
            <a:normAutofit lnSpcReduction="10000"/>
          </a:bodyPr>
          <a:lstStyle/>
          <a:p>
            <a:pPr indent="541338">
              <a:lnSpc>
                <a:spcPct val="80000"/>
              </a:lnSpc>
              <a:buFont typeface="Wingdings" panose="05000000000000000000" pitchFamily="2" charset="2"/>
              <a:buAutoNum type="arabicPeriod" startAt="3"/>
            </a:pPr>
            <a:r>
              <a:rPr lang="zh-CN" altLang="en-US" dirty="0" smtClean="0"/>
              <a:t>用户服务</a:t>
            </a:r>
          </a:p>
          <a:p>
            <a:pPr indent="541338">
              <a:lnSpc>
                <a:spcPct val="80000"/>
              </a:lnSpc>
              <a:buFont typeface="Wingdings" panose="05000000000000000000" pitchFamily="2" charset="2"/>
              <a:buChar char="n"/>
            </a:pPr>
            <a:r>
              <a:rPr lang="en-US" altLang="zh-CN" dirty="0" smtClean="0"/>
              <a:t>BOOTP</a:t>
            </a:r>
            <a:r>
              <a:rPr lang="zh-CN" altLang="en-US" dirty="0" smtClean="0"/>
              <a:t>（启动协议</a:t>
            </a:r>
            <a:r>
              <a:rPr lang="en-US" altLang="zh-CN" dirty="0" smtClean="0"/>
              <a:t>Boot Protocol</a:t>
            </a:r>
            <a:r>
              <a:rPr lang="zh-CN" altLang="en-US" dirty="0" smtClean="0"/>
              <a:t>） 由网络服务器上取得启动信息，然后将本地的网络计算机启动。</a:t>
            </a:r>
          </a:p>
          <a:p>
            <a:pPr indent="541338">
              <a:lnSpc>
                <a:spcPct val="80000"/>
              </a:lnSpc>
              <a:buFont typeface="Wingdings" panose="05000000000000000000" pitchFamily="2" charset="2"/>
              <a:buChar char="n"/>
            </a:pPr>
            <a:r>
              <a:rPr lang="en-US" altLang="zh-CN" dirty="0" smtClean="0"/>
              <a:t>FTP</a:t>
            </a:r>
            <a:r>
              <a:rPr lang="zh-CN" altLang="en-US" dirty="0" smtClean="0"/>
              <a:t>（文件传输协议</a:t>
            </a:r>
            <a:r>
              <a:rPr lang="en-US" altLang="zh-CN" dirty="0" smtClean="0"/>
              <a:t>File Transfer Protocol</a:t>
            </a:r>
            <a:r>
              <a:rPr lang="zh-CN" altLang="en-US" dirty="0" smtClean="0"/>
              <a:t>）通过国际互连网从一台计算机上传输一个或多个文件到另外一台计算机。</a:t>
            </a:r>
          </a:p>
          <a:p>
            <a:pPr indent="541338">
              <a:lnSpc>
                <a:spcPct val="80000"/>
              </a:lnSpc>
              <a:buFont typeface="Wingdings" panose="05000000000000000000" pitchFamily="2" charset="2"/>
              <a:buChar char="n"/>
            </a:pPr>
            <a:r>
              <a:rPr lang="en-US" altLang="zh-CN" dirty="0" smtClean="0"/>
              <a:t>TELNET</a:t>
            </a:r>
            <a:r>
              <a:rPr lang="zh-CN" altLang="en-US" dirty="0" smtClean="0"/>
              <a:t>（远程登陆）允许一个远程登陆，使用者可以从网络上的一台机器通过</a:t>
            </a:r>
            <a:r>
              <a:rPr lang="en-US" altLang="zh-CN" dirty="0" smtClean="0"/>
              <a:t>TELNET</a:t>
            </a:r>
            <a:r>
              <a:rPr lang="zh-CN" altLang="en-US" dirty="0" smtClean="0"/>
              <a:t>连线到另一台机器，就像使用者直接在本地操作一样。</a:t>
            </a:r>
          </a:p>
          <a:p>
            <a:pPr indent="541338">
              <a:lnSpc>
                <a:spcPct val="80000"/>
              </a:lnSpc>
              <a:buFont typeface="Wingdings" panose="05000000000000000000" pitchFamily="2" charset="2"/>
              <a:buChar char="n"/>
            </a:pPr>
            <a:r>
              <a:rPr lang="en-US" altLang="zh-CN" dirty="0" smtClean="0"/>
              <a:t>EGP</a:t>
            </a:r>
            <a:r>
              <a:rPr lang="zh-CN" altLang="en-US" dirty="0" smtClean="0"/>
              <a:t>（外部网关协议</a:t>
            </a:r>
            <a:r>
              <a:rPr lang="en-US" altLang="zh-CN" dirty="0" smtClean="0"/>
              <a:t>Exterior Gateway Protocol</a:t>
            </a:r>
            <a:r>
              <a:rPr lang="zh-CN" altLang="en-US" dirty="0" smtClean="0"/>
              <a:t>）为外部网络传输路由信息。</a:t>
            </a:r>
          </a:p>
          <a:p>
            <a:pPr indent="541338">
              <a:lnSpc>
                <a:spcPct val="80000"/>
              </a:lnSpc>
              <a:buFont typeface="Wingdings" panose="05000000000000000000" pitchFamily="2" charset="2"/>
              <a:buChar char="n"/>
            </a:pPr>
            <a:r>
              <a:rPr lang="en-US" altLang="zh-CN" dirty="0" smtClean="0"/>
              <a:t>GGP</a:t>
            </a:r>
            <a:r>
              <a:rPr lang="zh-CN" altLang="en-US" dirty="0" smtClean="0"/>
              <a:t>（网关到网关协议</a:t>
            </a:r>
            <a:r>
              <a:rPr lang="en-US" altLang="zh-CN" dirty="0" smtClean="0"/>
              <a:t>Gateway-to-Gateway Protocol</a:t>
            </a:r>
            <a:r>
              <a:rPr lang="zh-CN" altLang="en-US" dirty="0" smtClean="0"/>
              <a:t>）在网关和网关之间传输路由协议。</a:t>
            </a:r>
          </a:p>
          <a:p>
            <a:pPr indent="541338">
              <a:lnSpc>
                <a:spcPct val="80000"/>
              </a:lnSpc>
              <a:buFont typeface="Wingdings" panose="05000000000000000000" pitchFamily="2" charset="2"/>
              <a:buChar char="n"/>
            </a:pPr>
            <a:r>
              <a:rPr lang="en-US" altLang="zh-CN" dirty="0" smtClean="0"/>
              <a:t>IGP</a:t>
            </a:r>
            <a:r>
              <a:rPr lang="zh-CN" altLang="en-US" dirty="0" smtClean="0"/>
              <a:t>（内部网关协议</a:t>
            </a:r>
            <a:r>
              <a:rPr lang="en-US" altLang="zh-CN" dirty="0" smtClean="0"/>
              <a:t>Interior Gateway Protocol</a:t>
            </a:r>
            <a:r>
              <a:rPr lang="zh-CN" altLang="en-US" dirty="0" smtClean="0"/>
              <a:t>）在内部网络传输路由信息。</a:t>
            </a:r>
          </a:p>
          <a:p>
            <a:endParaRPr lang="zh-CN" altLang="en-US" dirty="0"/>
          </a:p>
        </p:txBody>
      </p:sp>
    </p:spTree>
    <p:extLst>
      <p:ext uri="{BB962C8B-B14F-4D97-AF65-F5344CB8AC3E}">
        <p14:creationId xmlns:p14="http://schemas.microsoft.com/office/powerpoint/2010/main" val="651393251"/>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081" y="559558"/>
            <a:ext cx="10930719" cy="6100549"/>
          </a:xfrm>
        </p:spPr>
        <p:txBody>
          <a:bodyPr>
            <a:normAutofit/>
          </a:bodyPr>
          <a:lstStyle/>
          <a:p>
            <a:pPr indent="0">
              <a:lnSpc>
                <a:spcPct val="80000"/>
              </a:lnSpc>
              <a:buNone/>
            </a:pPr>
            <a:r>
              <a:rPr lang="en-US" altLang="zh-CN" sz="2600" dirty="0" smtClean="0"/>
              <a:t>4. </a:t>
            </a:r>
            <a:r>
              <a:rPr lang="zh-CN" altLang="en-US" sz="2600" dirty="0" smtClean="0"/>
              <a:t>其他协议</a:t>
            </a:r>
            <a:r>
              <a:rPr lang="en-US" altLang="zh-CN" sz="2600" dirty="0" smtClean="0"/>
              <a:t>(</a:t>
            </a:r>
            <a:r>
              <a:rPr lang="zh-CN" altLang="en-US" sz="2600" dirty="0" smtClean="0"/>
              <a:t>也为网络提供了重要的服务</a:t>
            </a:r>
            <a:r>
              <a:rPr lang="en-US" altLang="zh-CN" sz="2600" dirty="0" smtClean="0"/>
              <a:t>)</a:t>
            </a:r>
          </a:p>
          <a:p>
            <a:pPr indent="442913">
              <a:lnSpc>
                <a:spcPct val="80000"/>
              </a:lnSpc>
              <a:buFont typeface="Wingdings" panose="05000000000000000000" pitchFamily="2" charset="2"/>
              <a:buChar char="n"/>
            </a:pPr>
            <a:r>
              <a:rPr lang="en-US" altLang="zh-CN" sz="2600" dirty="0" smtClean="0"/>
              <a:t>NFS</a:t>
            </a:r>
            <a:r>
              <a:rPr lang="zh-CN" altLang="en-US" sz="2600" dirty="0" smtClean="0"/>
              <a:t>（网络文件系统</a:t>
            </a:r>
            <a:r>
              <a:rPr lang="en-US" altLang="zh-CN" sz="2600" dirty="0" smtClean="0"/>
              <a:t>Network File System</a:t>
            </a:r>
            <a:r>
              <a:rPr lang="zh-CN" altLang="en-US" sz="2600" dirty="0" smtClean="0"/>
              <a:t>）允许将一台机器的目录被另一台机器上的用户安装（</a:t>
            </a:r>
            <a:r>
              <a:rPr lang="en-US" altLang="zh-CN" sz="2600" dirty="0" smtClean="0"/>
              <a:t>Mount</a:t>
            </a:r>
            <a:r>
              <a:rPr lang="zh-CN" altLang="en-US" sz="2600" dirty="0" smtClean="0"/>
              <a:t>）到自己的机器上，就像是对本地文件系统进行操作一样进行各式各样的操作。</a:t>
            </a:r>
          </a:p>
          <a:p>
            <a:pPr indent="442913">
              <a:lnSpc>
                <a:spcPct val="80000"/>
              </a:lnSpc>
              <a:buFont typeface="Wingdings" panose="05000000000000000000" pitchFamily="2" charset="2"/>
              <a:buChar char="n"/>
            </a:pPr>
            <a:r>
              <a:rPr lang="en-US" altLang="zh-CN" sz="2600" dirty="0" smtClean="0"/>
              <a:t>NIS</a:t>
            </a:r>
            <a:r>
              <a:rPr lang="zh-CN" altLang="en-US" sz="2600" dirty="0" smtClean="0"/>
              <a:t>（网络信息服务</a:t>
            </a:r>
            <a:r>
              <a:rPr lang="en-US" altLang="zh-CN" sz="2600" dirty="0" smtClean="0"/>
              <a:t>Network Information Service</a:t>
            </a:r>
            <a:r>
              <a:rPr lang="zh-CN" altLang="en-US" sz="2600" dirty="0" smtClean="0"/>
              <a:t>）对整个网络用户的用户名、密码进行统一管理，简化在</a:t>
            </a:r>
            <a:r>
              <a:rPr lang="en-US" altLang="zh-CN" sz="2600" dirty="0" smtClean="0"/>
              <a:t>NIS </a:t>
            </a:r>
            <a:r>
              <a:rPr lang="zh-CN" altLang="en-US" sz="2600" dirty="0" smtClean="0"/>
              <a:t>服务下整个网络登陆的用户名／密码检查。</a:t>
            </a:r>
          </a:p>
          <a:p>
            <a:pPr indent="442913">
              <a:lnSpc>
                <a:spcPct val="80000"/>
              </a:lnSpc>
              <a:buFont typeface="Wingdings" panose="05000000000000000000" pitchFamily="2" charset="2"/>
              <a:buChar char="n"/>
            </a:pPr>
            <a:r>
              <a:rPr lang="en-US" altLang="zh-CN" sz="2600" dirty="0" smtClean="0"/>
              <a:t>RPC</a:t>
            </a:r>
            <a:r>
              <a:rPr lang="zh-CN" altLang="en-US" sz="2600" dirty="0" smtClean="0"/>
              <a:t>（远程过程调用</a:t>
            </a:r>
            <a:r>
              <a:rPr lang="en-US" altLang="zh-CN" sz="2600" dirty="0" smtClean="0"/>
              <a:t>Remote Procedure Call</a:t>
            </a:r>
            <a:r>
              <a:rPr lang="zh-CN" altLang="en-US" sz="2600" dirty="0" smtClean="0"/>
              <a:t>）通过它可以允许远程的应用程序通过简单的、有效的手段联系本地的应用程序，反之也是。</a:t>
            </a:r>
          </a:p>
          <a:p>
            <a:pPr indent="442913">
              <a:lnSpc>
                <a:spcPct val="80000"/>
              </a:lnSpc>
              <a:buFont typeface="Wingdings" panose="05000000000000000000" pitchFamily="2" charset="2"/>
              <a:buChar char="n"/>
            </a:pPr>
            <a:r>
              <a:rPr lang="en-US" altLang="zh-CN" sz="2600" dirty="0" smtClean="0"/>
              <a:t>SMTP</a:t>
            </a:r>
            <a:r>
              <a:rPr lang="zh-CN" altLang="en-US" sz="2600" dirty="0" smtClean="0"/>
              <a:t>（简单邮件传输协议</a:t>
            </a:r>
            <a:r>
              <a:rPr lang="en-US" altLang="zh-CN" sz="2600" dirty="0" smtClean="0"/>
              <a:t>Simple Mail Transfer Protocol</a:t>
            </a:r>
            <a:r>
              <a:rPr lang="zh-CN" altLang="en-US" sz="2600" dirty="0" smtClean="0"/>
              <a:t>）一个专门为电子邮件在多台机器中传输的协议，平时发邮件的</a:t>
            </a:r>
            <a:r>
              <a:rPr lang="en-US" altLang="zh-CN" sz="2600" dirty="0" smtClean="0"/>
              <a:t>SMTP </a:t>
            </a:r>
            <a:r>
              <a:rPr lang="zh-CN" altLang="en-US" sz="2600" dirty="0" smtClean="0"/>
              <a:t>服务器提供的必然服务。</a:t>
            </a:r>
          </a:p>
          <a:p>
            <a:pPr indent="442913">
              <a:lnSpc>
                <a:spcPct val="80000"/>
              </a:lnSpc>
              <a:buFont typeface="Wingdings" panose="05000000000000000000" pitchFamily="2" charset="2"/>
              <a:buChar char="n"/>
            </a:pPr>
            <a:r>
              <a:rPr lang="en-US" altLang="zh-CN" sz="2600" dirty="0" smtClean="0"/>
              <a:t>SNMP</a:t>
            </a:r>
            <a:r>
              <a:rPr lang="zh-CN" altLang="en-US" sz="2600" dirty="0" smtClean="0"/>
              <a:t>（简单网络管理协议</a:t>
            </a:r>
            <a:r>
              <a:rPr lang="en-US" altLang="zh-CN" sz="2600" dirty="0" smtClean="0"/>
              <a:t>Simple Network Management Protocol</a:t>
            </a:r>
            <a:r>
              <a:rPr lang="zh-CN" altLang="en-US" sz="2600" dirty="0" smtClean="0"/>
              <a:t>）这是一项为超级用户准备的服务，超级用户可以通过它来进行简单的网络管理。</a:t>
            </a:r>
          </a:p>
          <a:p>
            <a:endParaRPr lang="zh-CN" altLang="en-US" sz="2600" dirty="0"/>
          </a:p>
        </p:txBody>
      </p:sp>
    </p:spTree>
    <p:extLst>
      <p:ext uri="{BB962C8B-B14F-4D97-AF65-F5344CB8AC3E}">
        <p14:creationId xmlns:p14="http://schemas.microsoft.com/office/powerpoint/2010/main" val="2583321105"/>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方正大标宋简体" charset="-122"/>
                <a:ea typeface="方正大标宋简体" charset="-122"/>
              </a:rPr>
              <a:t>端口</a:t>
            </a:r>
            <a:endParaRPr lang="zh-CN" altLang="en-US" dirty="0"/>
          </a:p>
        </p:txBody>
      </p:sp>
      <p:sp>
        <p:nvSpPr>
          <p:cNvPr id="3" name="内容占位符 2"/>
          <p:cNvSpPr>
            <a:spLocks noGrp="1"/>
          </p:cNvSpPr>
          <p:nvPr>
            <p:ph idx="1"/>
          </p:nvPr>
        </p:nvSpPr>
        <p:spPr>
          <a:xfrm>
            <a:off x="838200" y="1375249"/>
            <a:ext cx="10871579" cy="2255055"/>
          </a:xfrm>
        </p:spPr>
        <p:txBody>
          <a:bodyPr>
            <a:noAutofit/>
          </a:bodyPr>
          <a:lstStyle/>
          <a:p>
            <a:r>
              <a:rPr lang="en-US" altLang="zh-CN" sz="2400" dirty="0" smtClean="0">
                <a:ea typeface="方正楷体简体" charset="-122"/>
              </a:rPr>
              <a:t>TCP</a:t>
            </a:r>
            <a:r>
              <a:rPr lang="zh-CN" altLang="en-US" sz="2400" dirty="0" smtClean="0">
                <a:ea typeface="方正楷体简体" charset="-122"/>
              </a:rPr>
              <a:t>和</a:t>
            </a:r>
            <a:r>
              <a:rPr lang="en-US" altLang="zh-CN" sz="2400" dirty="0" smtClean="0">
                <a:ea typeface="方正楷体简体" charset="-122"/>
              </a:rPr>
              <a:t>UDP</a:t>
            </a:r>
            <a:r>
              <a:rPr lang="zh-CN" altLang="en-US" sz="2400" dirty="0" smtClean="0">
                <a:ea typeface="方正楷体简体" charset="-122"/>
              </a:rPr>
              <a:t>协议是以</a:t>
            </a:r>
            <a:r>
              <a:rPr lang="en-US" altLang="zh-CN" sz="2400" dirty="0" smtClean="0">
                <a:ea typeface="方正楷体简体" charset="-122"/>
              </a:rPr>
              <a:t>IP</a:t>
            </a:r>
            <a:r>
              <a:rPr lang="zh-CN" altLang="en-US" sz="2400" dirty="0" smtClean="0">
                <a:ea typeface="方正楷体简体" charset="-122"/>
              </a:rPr>
              <a:t>协议为基础的传输，为了方便多种应用程序，区分不同应用程序的数据和状态，引入了端口的概念。</a:t>
            </a:r>
          </a:p>
          <a:p>
            <a:r>
              <a:rPr lang="zh-CN" altLang="en-US" sz="2400" dirty="0" smtClean="0">
                <a:ea typeface="方正楷体简体" charset="-122"/>
              </a:rPr>
              <a:t>端口是一个</a:t>
            </a:r>
            <a:r>
              <a:rPr lang="en-US" altLang="zh-CN" sz="2400" dirty="0" smtClean="0">
                <a:ea typeface="方正楷体简体" charset="-122"/>
              </a:rPr>
              <a:t>16</a:t>
            </a:r>
            <a:r>
              <a:rPr lang="zh-CN" altLang="en-US" sz="2400" dirty="0" smtClean="0">
                <a:ea typeface="方正楷体简体" charset="-122"/>
              </a:rPr>
              <a:t>位的整数类型值，通常称这个值为端口号。如果是服务程序，则需要对某个端口进行绑定，这样某个客户端可以方位本主机上的此端口来与应用程序进行通信。由于</a:t>
            </a:r>
            <a:r>
              <a:rPr lang="en-US" altLang="zh-CN" sz="2400" dirty="0" smtClean="0">
                <a:ea typeface="方正楷体简体" charset="-122"/>
              </a:rPr>
              <a:t>IP</a:t>
            </a:r>
            <a:r>
              <a:rPr lang="zh-CN" altLang="en-US" sz="2400" dirty="0" smtClean="0">
                <a:ea typeface="方正楷体简体" charset="-122"/>
              </a:rPr>
              <a:t>地址只能对主机进行区分，而加上端口号就可以对区分此主机上的应用程序。实际上，</a:t>
            </a:r>
            <a:r>
              <a:rPr lang="en-US" altLang="zh-CN" sz="2400" dirty="0" smtClean="0">
                <a:ea typeface="方正楷体简体" charset="-122"/>
              </a:rPr>
              <a:t>IP</a:t>
            </a:r>
            <a:r>
              <a:rPr lang="zh-CN" altLang="en-US" sz="2400" dirty="0" smtClean="0">
                <a:ea typeface="方正楷体简体" charset="-122"/>
              </a:rPr>
              <a:t>地址和端口号的组合，可以确定在网络上的一个程序通路，端口号实际上是操作系统标识应用程序的一种方法。</a:t>
            </a:r>
          </a:p>
          <a:p>
            <a:endParaRPr lang="zh-CN" altLang="en-US" sz="2400" dirty="0"/>
          </a:p>
        </p:txBody>
      </p:sp>
      <p:graphicFrame>
        <p:nvGraphicFramePr>
          <p:cNvPr id="4" name="Object 4"/>
          <p:cNvGraphicFramePr>
            <a:graphicFrameLocks noChangeAspect="1"/>
          </p:cNvGraphicFramePr>
          <p:nvPr>
            <p:extLst>
              <p:ext uri="{D42A27DB-BD31-4B8C-83A1-F6EECF244321}">
                <p14:modId xmlns:p14="http://schemas.microsoft.com/office/powerpoint/2010/main" val="3719112078"/>
              </p:ext>
            </p:extLst>
          </p:nvPr>
        </p:nvGraphicFramePr>
        <p:xfrm>
          <a:off x="2387600" y="3925887"/>
          <a:ext cx="7416800" cy="2932113"/>
        </p:xfrm>
        <a:graphic>
          <a:graphicData uri="http://schemas.openxmlformats.org/presentationml/2006/ole">
            <mc:AlternateContent xmlns:mc="http://schemas.openxmlformats.org/markup-compatibility/2006">
              <mc:Choice xmlns:v="urn:schemas-microsoft-com:vml" Requires="v">
                <p:oleObj spid="_x0000_s13314" r:id="rId3" imgW="6652768" imgH="2625436" progId="Visio.Drawing.11">
                  <p:embed/>
                </p:oleObj>
              </mc:Choice>
              <mc:Fallback>
                <p:oleObj r:id="rId3" imgW="6652768" imgH="262543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600" y="3925887"/>
                        <a:ext cx="7416800" cy="293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76293488"/>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方正大标宋简体" charset="-122"/>
                <a:ea typeface="方正大标宋简体" charset="-122"/>
              </a:rPr>
              <a:t>主机字节序和网络字节序</a:t>
            </a:r>
            <a:endParaRPr lang="zh-CN" altLang="en-US" dirty="0"/>
          </a:p>
        </p:txBody>
      </p:sp>
      <p:sp>
        <p:nvSpPr>
          <p:cNvPr id="3" name="内容占位符 2"/>
          <p:cNvSpPr>
            <a:spLocks noGrp="1"/>
          </p:cNvSpPr>
          <p:nvPr>
            <p:ph idx="1"/>
          </p:nvPr>
        </p:nvSpPr>
        <p:spPr/>
        <p:txBody>
          <a:bodyPr/>
          <a:lstStyle/>
          <a:p>
            <a:r>
              <a:rPr lang="zh-CN" altLang="en-US" dirty="0" smtClean="0">
                <a:ea typeface="方正楷体简体" charset="-122"/>
              </a:rPr>
              <a:t>在使用网络进行程序设计中会碰到的一个问题是字节序的问题，这在基于单机或者同类型机器进行开发的过程中很少遇到。由于网络的特点是将</a:t>
            </a:r>
            <a:r>
              <a:rPr lang="en-US" altLang="zh-CN" dirty="0" smtClean="0">
                <a:ea typeface="方正楷体简体" charset="-122"/>
              </a:rPr>
              <a:t>Internet</a:t>
            </a:r>
            <a:r>
              <a:rPr lang="zh-CN" altLang="en-US" dirty="0" smtClean="0">
                <a:ea typeface="方正楷体简体" charset="-122"/>
              </a:rPr>
              <a:t>上不同的网络设备和主机进行连接和通信，这决定了使用网络进行开发的程序的特点就是要兼容各种类型的设备，其中的数据在不同的设备上要有唯一的含义。字节序的问题是上述情况下的典型问题。</a:t>
            </a:r>
          </a:p>
          <a:p>
            <a:endParaRPr lang="zh-CN" altLang="en-US" dirty="0"/>
          </a:p>
        </p:txBody>
      </p:sp>
    </p:spTree>
    <p:extLst>
      <p:ext uri="{BB962C8B-B14F-4D97-AF65-F5344CB8AC3E}">
        <p14:creationId xmlns:p14="http://schemas.microsoft.com/office/powerpoint/2010/main" val="1019233716"/>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方正大标宋简体" charset="-122"/>
                <a:ea typeface="方正大标宋简体" charset="-122"/>
              </a:rPr>
              <a:t>字节序的含义</a:t>
            </a:r>
            <a:endParaRPr lang="zh-CN" altLang="en-US" dirty="0"/>
          </a:p>
        </p:txBody>
      </p:sp>
      <p:sp>
        <p:nvSpPr>
          <p:cNvPr id="3" name="内容占位符 2"/>
          <p:cNvSpPr>
            <a:spLocks noGrp="1"/>
          </p:cNvSpPr>
          <p:nvPr>
            <p:ph idx="1"/>
          </p:nvPr>
        </p:nvSpPr>
        <p:spPr/>
        <p:txBody>
          <a:bodyPr>
            <a:noAutofit/>
          </a:bodyPr>
          <a:lstStyle/>
          <a:p>
            <a:r>
              <a:rPr lang="zh-CN" altLang="en-US" sz="2400" dirty="0" smtClean="0">
                <a:ea typeface="方正楷体简体" charset="-122"/>
              </a:rPr>
              <a:t>字节序的问题是由于</a:t>
            </a:r>
            <a:r>
              <a:rPr lang="en-US" altLang="zh-CN" sz="2400" dirty="0" smtClean="0">
                <a:ea typeface="方正楷体简体" charset="-122"/>
              </a:rPr>
              <a:t>CPU</a:t>
            </a:r>
            <a:r>
              <a:rPr lang="zh-CN" altLang="en-US" sz="2400" dirty="0" smtClean="0">
                <a:ea typeface="方正楷体简体" charset="-122"/>
              </a:rPr>
              <a:t>对整数在内存中的存放方式造成的。字节多于一个字节的数据类型在内存中的存放顺序叫主机字节序。最常见的字节序有两种，小端字节序和大端字节序：</a:t>
            </a:r>
          </a:p>
          <a:p>
            <a:r>
              <a:rPr lang="zh-CN" altLang="en-US" sz="2400" dirty="0" smtClean="0">
                <a:ea typeface="方正楷体简体" charset="-122"/>
              </a:rPr>
              <a:t>小端字节序，即</a:t>
            </a:r>
            <a:r>
              <a:rPr lang="en-US" altLang="zh-CN" sz="2400" dirty="0" smtClean="0">
                <a:ea typeface="方正楷体简体" charset="-122"/>
              </a:rPr>
              <a:t>Little Endian</a:t>
            </a:r>
            <a:r>
              <a:rPr lang="zh-CN" altLang="en-US" sz="2400" dirty="0" smtClean="0">
                <a:ea typeface="方正楷体简体" charset="-122"/>
              </a:rPr>
              <a:t>（简称</a:t>
            </a:r>
            <a:r>
              <a:rPr lang="en-US" altLang="zh-CN" sz="2400" dirty="0" smtClean="0">
                <a:ea typeface="方正楷体简体" charset="-122"/>
              </a:rPr>
              <a:t>LE</a:t>
            </a:r>
            <a:r>
              <a:rPr lang="zh-CN" altLang="en-US" sz="2400" dirty="0" smtClean="0">
                <a:ea typeface="方正楷体简体" charset="-122"/>
              </a:rPr>
              <a:t>），将数据的最低字节放在内存的起始位置。小端字节序的特点是内存地址较低的位存放数据的低位，内存地址高的位存放数据的高位，与思维的习惯。采用低字节序的</a:t>
            </a:r>
            <a:r>
              <a:rPr lang="en-US" altLang="zh-CN" sz="2400" dirty="0" smtClean="0">
                <a:ea typeface="方正楷体简体" charset="-122"/>
              </a:rPr>
              <a:t>CPU</a:t>
            </a:r>
            <a:r>
              <a:rPr lang="zh-CN" altLang="en-US" sz="2400" dirty="0" smtClean="0">
                <a:ea typeface="方正楷体简体" charset="-122"/>
              </a:rPr>
              <a:t>有</a:t>
            </a:r>
            <a:r>
              <a:rPr lang="en-US" altLang="zh-CN" sz="2400" dirty="0" smtClean="0">
                <a:ea typeface="方正楷体简体" charset="-122"/>
              </a:rPr>
              <a:t>x86</a:t>
            </a:r>
            <a:r>
              <a:rPr lang="zh-CN" altLang="en-US" sz="2400" dirty="0" smtClean="0">
                <a:ea typeface="方正楷体简体" charset="-122"/>
              </a:rPr>
              <a:t>架构的</a:t>
            </a:r>
            <a:r>
              <a:rPr lang="en-US" altLang="zh-CN" sz="2400" dirty="0" smtClean="0">
                <a:ea typeface="方正楷体简体" charset="-122"/>
              </a:rPr>
              <a:t>intel</a:t>
            </a:r>
            <a:r>
              <a:rPr lang="zh-CN" altLang="en-US" sz="2400" dirty="0" smtClean="0">
                <a:ea typeface="方正楷体简体" charset="-122"/>
              </a:rPr>
              <a:t>系列产品。</a:t>
            </a:r>
          </a:p>
          <a:p>
            <a:r>
              <a:rPr lang="zh-CN" altLang="en-US" sz="2400" dirty="0" smtClean="0">
                <a:ea typeface="方正楷体简体" charset="-122"/>
              </a:rPr>
              <a:t>大端字节序，即</a:t>
            </a:r>
            <a:r>
              <a:rPr lang="en-US" altLang="zh-CN" sz="2400" dirty="0" smtClean="0">
                <a:ea typeface="方正楷体简体" charset="-122"/>
              </a:rPr>
              <a:t>Big Endian</a:t>
            </a:r>
            <a:r>
              <a:rPr lang="zh-CN" altLang="en-US" sz="2400" dirty="0" smtClean="0">
                <a:ea typeface="方正楷体简体" charset="-122"/>
              </a:rPr>
              <a:t>（简称</a:t>
            </a:r>
            <a:r>
              <a:rPr lang="en-US" altLang="zh-CN" sz="2400" dirty="0" smtClean="0">
                <a:ea typeface="方正楷体简体" charset="-122"/>
              </a:rPr>
              <a:t>BE</a:t>
            </a:r>
            <a:r>
              <a:rPr lang="zh-CN" altLang="en-US" sz="2400" dirty="0" smtClean="0">
                <a:ea typeface="方正楷体简体" charset="-122"/>
              </a:rPr>
              <a:t>），将数据的高字节放在内存的起始位置。大端字节序的特点是内存中低字节位置存放数据的高位字节，内存中的高位字节存放数据的较低字节数据，与思维习惯不一致，但是与实际数据的表达方式是一致的。采用大端字节序的</a:t>
            </a:r>
            <a:r>
              <a:rPr lang="en-US" altLang="zh-CN" sz="2400" dirty="0" smtClean="0">
                <a:ea typeface="方正楷体简体" charset="-122"/>
              </a:rPr>
              <a:t>CPU</a:t>
            </a:r>
            <a:r>
              <a:rPr lang="zh-CN" altLang="en-US" sz="2400" dirty="0" smtClean="0">
                <a:ea typeface="方正楷体简体" charset="-122"/>
              </a:rPr>
              <a:t>有</a:t>
            </a:r>
            <a:r>
              <a:rPr lang="en-US" altLang="zh-CN" sz="2400" dirty="0" smtClean="0">
                <a:ea typeface="方正楷体简体" charset="-122"/>
              </a:rPr>
              <a:t>PowerPC</a:t>
            </a:r>
            <a:r>
              <a:rPr lang="zh-CN" altLang="en-US" sz="2400" dirty="0" smtClean="0">
                <a:ea typeface="方正楷体简体" charset="-122"/>
              </a:rPr>
              <a:t>的</a:t>
            </a:r>
            <a:r>
              <a:rPr lang="en-US" altLang="zh-CN" sz="2400" dirty="0" smtClean="0">
                <a:ea typeface="方正楷体简体" charset="-122"/>
              </a:rPr>
              <a:t>UNIX</a:t>
            </a:r>
            <a:r>
              <a:rPr lang="zh-CN" altLang="en-US" sz="2400" dirty="0" smtClean="0">
                <a:ea typeface="方正楷体简体" charset="-122"/>
              </a:rPr>
              <a:t>系统。</a:t>
            </a:r>
          </a:p>
          <a:p>
            <a:endParaRPr lang="zh-CN" altLang="en-US" sz="2400" dirty="0"/>
          </a:p>
        </p:txBody>
      </p:sp>
    </p:spTree>
    <p:extLst>
      <p:ext uri="{BB962C8B-B14F-4D97-AF65-F5344CB8AC3E}">
        <p14:creationId xmlns:p14="http://schemas.microsoft.com/office/powerpoint/2010/main" val="1162445449"/>
      </p:ext>
    </p:extLst>
  </p:cSld>
  <p:clrMapOvr>
    <a:masterClrMapping/>
  </p:clrMapOvr>
  <p:timing>
    <p:tnLst>
      <p:par>
        <p:cTn id="1" dur="indefinite" restart="never" nodeType="tmRoot"/>
      </p:par>
    </p:tnLst>
  </p:timing>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方正大标宋简体" charset="-122"/>
                <a:ea typeface="方正大标宋简体" charset="-122"/>
              </a:rPr>
              <a:t>网络字节序的转换</a:t>
            </a:r>
            <a:endParaRPr lang="zh-CN" altLang="en-US" dirty="0"/>
          </a:p>
        </p:txBody>
      </p:sp>
      <p:sp>
        <p:nvSpPr>
          <p:cNvPr id="3" name="内容占位符 2"/>
          <p:cNvSpPr>
            <a:spLocks noGrp="1"/>
          </p:cNvSpPr>
          <p:nvPr>
            <p:ph idx="1"/>
          </p:nvPr>
        </p:nvSpPr>
        <p:spPr>
          <a:xfrm>
            <a:off x="888534" y="1138480"/>
            <a:ext cx="10515600" cy="1616266"/>
          </a:xfrm>
        </p:spPr>
        <p:txBody>
          <a:bodyPr>
            <a:normAutofit fontScale="85000" lnSpcReduction="10000"/>
          </a:bodyPr>
          <a:lstStyle/>
          <a:p>
            <a:r>
              <a:rPr lang="zh-CN" altLang="en-US" dirty="0" smtClean="0">
                <a:ea typeface="方正楷体简体" charset="-122"/>
              </a:rPr>
              <a:t>网络的字节序标准规定为大端字节序，不同平台上会对主机字节序进行转化，成为网络字节序后再进行传送，到主机后再转化为主机字节序，数据的传输就不会产生传输造成的问题了。同一个数据在不同的平台上可以使用网络字节序的转换函数来实现。</a:t>
            </a:r>
          </a:p>
          <a:p>
            <a:endParaRPr lang="zh-CN" altLang="en-US" dirty="0"/>
          </a:p>
        </p:txBody>
      </p:sp>
      <p:graphicFrame>
        <p:nvGraphicFramePr>
          <p:cNvPr id="4" name="Object 5"/>
          <p:cNvGraphicFramePr>
            <a:graphicFrameLocks noChangeAspect="1"/>
          </p:cNvGraphicFramePr>
          <p:nvPr>
            <p:extLst>
              <p:ext uri="{D42A27DB-BD31-4B8C-83A1-F6EECF244321}">
                <p14:modId xmlns:p14="http://schemas.microsoft.com/office/powerpoint/2010/main" val="4144294980"/>
              </p:ext>
            </p:extLst>
          </p:nvPr>
        </p:nvGraphicFramePr>
        <p:xfrm>
          <a:off x="135506" y="2636547"/>
          <a:ext cx="5859826" cy="3479965"/>
        </p:xfrm>
        <a:graphic>
          <a:graphicData uri="http://schemas.openxmlformats.org/presentationml/2006/ole">
            <mc:AlternateContent xmlns:mc="http://schemas.openxmlformats.org/markup-compatibility/2006">
              <mc:Choice xmlns:v="urn:schemas-microsoft-com:vml" Requires="v">
                <p:oleObj spid="_x0000_s14338" r:id="rId3" imgW="5728614" imgH="3402106" progId="Visio.Drawing.11">
                  <p:embed/>
                </p:oleObj>
              </mc:Choice>
              <mc:Fallback>
                <p:oleObj r:id="rId3" imgW="5728614" imgH="340210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506" y="2636547"/>
                        <a:ext cx="5859826" cy="3479965"/>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465926681"/>
              </p:ext>
            </p:extLst>
          </p:nvPr>
        </p:nvGraphicFramePr>
        <p:xfrm>
          <a:off x="6070600" y="2653326"/>
          <a:ext cx="6121400" cy="3479965"/>
        </p:xfrm>
        <a:graphic>
          <a:graphicData uri="http://schemas.openxmlformats.org/presentationml/2006/ole">
            <mc:AlternateContent xmlns:mc="http://schemas.openxmlformats.org/markup-compatibility/2006">
              <mc:Choice xmlns:v="urn:schemas-microsoft-com:vml" Requires="v">
                <p:oleObj spid="_x0000_s14339" r:id="rId5" imgW="5655869" imgH="3410663" progId="Visio.Drawing.11">
                  <p:embed/>
                </p:oleObj>
              </mc:Choice>
              <mc:Fallback>
                <p:oleObj r:id="rId5" imgW="5655869" imgH="3410663"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0600" y="2653326"/>
                        <a:ext cx="6121400" cy="3479965"/>
                      </a:xfrm>
                      <a:prstGeom prst="rect">
                        <a:avLst/>
                      </a:prstGeom>
                      <a:noFill/>
                    </p:spPr>
                  </p:pic>
                </p:oleObj>
              </mc:Fallback>
            </mc:AlternateContent>
          </a:graphicData>
        </a:graphic>
      </p:graphicFrame>
    </p:spTree>
    <p:extLst>
      <p:ext uri="{BB962C8B-B14F-4D97-AF65-F5344CB8AC3E}">
        <p14:creationId xmlns:p14="http://schemas.microsoft.com/office/powerpoint/2010/main" val="134808611"/>
      </p:ext>
    </p:extLst>
  </p:cSld>
  <p:clrMapOvr>
    <a:masterClrMapping/>
  </p:clrMapOvr>
  <p:timing>
    <p:tnLst>
      <p:par>
        <p:cTn id="1" dur="indefinite" restart="never" nodeType="tmRoot"/>
      </p:par>
    </p:tnLst>
  </p:timing>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什么是套接字（</a:t>
            </a:r>
            <a:r>
              <a:rPr lang="en-US" altLang="zh-CN" dirty="0" smtClean="0"/>
              <a:t>SOCKET</a:t>
            </a:r>
            <a:r>
              <a:rPr lang="zh-CN" altLang="en-US" dirty="0" smtClean="0"/>
              <a:t>）</a:t>
            </a:r>
            <a:endParaRPr lang="zh-CN" altLang="en-US" dirty="0"/>
          </a:p>
        </p:txBody>
      </p:sp>
      <p:sp>
        <p:nvSpPr>
          <p:cNvPr id="3" name="内容占位符 2"/>
          <p:cNvSpPr>
            <a:spLocks noGrp="1"/>
          </p:cNvSpPr>
          <p:nvPr>
            <p:ph idx="1"/>
          </p:nvPr>
        </p:nvSpPr>
        <p:spPr/>
        <p:txBody>
          <a:bodyPr/>
          <a:lstStyle/>
          <a:p>
            <a:r>
              <a:rPr kumimoji="1" lang="zh-CN" altLang="en-US" dirty="0"/>
              <a:t>套接口是对网络中不同主机上应用进程之间进行双向通信的端点的抽象，一个套接口就是网络上进程通信的一端，提供了应用层进程利用网络协议栈交换数据的机制</a:t>
            </a:r>
            <a:r>
              <a:rPr kumimoji="1" lang="zh-CN" altLang="en-US" dirty="0">
                <a:solidFill>
                  <a:srgbClr val="000000"/>
                </a:solidFill>
              </a:rPr>
              <a:t>。</a:t>
            </a:r>
          </a:p>
          <a:p>
            <a:endParaRPr lang="zh-CN" altLang="en-US" dirty="0"/>
          </a:p>
        </p:txBody>
      </p:sp>
      <p:pic>
        <p:nvPicPr>
          <p:cNvPr id="4" name="Picture 12" descr="图形2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7808" y="3645445"/>
            <a:ext cx="8305800"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7182105"/>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Socket </a:t>
            </a:r>
            <a:r>
              <a:rPr lang="zh-CN" altLang="en-US" dirty="0" smtClean="0"/>
              <a:t>的功能</a:t>
            </a:r>
            <a:endParaRPr lang="zh-CN" altLang="en-US" dirty="0"/>
          </a:p>
        </p:txBody>
      </p:sp>
      <p:sp>
        <p:nvSpPr>
          <p:cNvPr id="3" name="内容占位符 2"/>
          <p:cNvSpPr>
            <a:spLocks noGrp="1"/>
          </p:cNvSpPr>
          <p:nvPr>
            <p:ph idx="1"/>
          </p:nvPr>
        </p:nvSpPr>
        <p:spPr>
          <a:xfrm>
            <a:off x="838200" y="1337481"/>
            <a:ext cx="10515600" cy="4839482"/>
          </a:xfrm>
        </p:spPr>
        <p:txBody>
          <a:bodyPr>
            <a:normAutofit lnSpcReduction="10000"/>
          </a:bodyPr>
          <a:lstStyle/>
          <a:p>
            <a:r>
              <a:rPr lang="en-US" altLang="zh-CN" sz="2200" dirty="0" smtClean="0"/>
              <a:t>Socket </a:t>
            </a:r>
            <a:r>
              <a:rPr lang="zh-CN" altLang="en-US" sz="2200" dirty="0" smtClean="0"/>
              <a:t>的英文原意就是“孔”或“插座”，将电话系统与面向连接的</a:t>
            </a:r>
            <a:r>
              <a:rPr lang="en-US" altLang="zh-CN" sz="2200" dirty="0" smtClean="0"/>
              <a:t>Socket </a:t>
            </a:r>
            <a:r>
              <a:rPr lang="zh-CN" altLang="en-US" sz="2200" dirty="0" smtClean="0"/>
              <a:t>机制相比，有着惊人相似的地方。以一个国家级的电话网为例。</a:t>
            </a:r>
          </a:p>
          <a:p>
            <a:r>
              <a:rPr lang="zh-CN" altLang="en-US" sz="2200" dirty="0" smtClean="0"/>
              <a:t>电话的通话双方相当于相互通信的两个进程；通话双方所在的地区（享有一个全局唯一的区号）相当于一个网络，区号是它的网络地址；区内的一个单位的交换机相当于一台主机，主机分配给每个用户的局内号码相当于</a:t>
            </a:r>
            <a:r>
              <a:rPr lang="en-US" altLang="zh-CN" sz="2200" dirty="0" smtClean="0"/>
              <a:t>Socket </a:t>
            </a:r>
            <a:r>
              <a:rPr lang="zh-CN" altLang="en-US" sz="2200" dirty="0" smtClean="0"/>
              <a:t>号</a:t>
            </a:r>
            <a:r>
              <a:rPr lang="en-US" altLang="zh-CN" sz="2200" dirty="0" smtClean="0"/>
              <a:t>.</a:t>
            </a:r>
          </a:p>
          <a:p>
            <a:r>
              <a:rPr lang="zh-CN" altLang="en-US" sz="2200" dirty="0" smtClean="0"/>
              <a:t>任何用户在通话之前，首先要占有一部电话机，相当于申请一个</a:t>
            </a:r>
            <a:r>
              <a:rPr lang="en-US" altLang="zh-CN" sz="2200" dirty="0" smtClean="0"/>
              <a:t>Socket </a:t>
            </a:r>
            <a:r>
              <a:rPr lang="zh-CN" altLang="en-US" sz="2200" dirty="0" smtClean="0"/>
              <a:t>号；同时要知道对方的电话号码，相当于对方有一个</a:t>
            </a:r>
            <a:r>
              <a:rPr lang="en-US" altLang="zh-CN" sz="2200" dirty="0" smtClean="0"/>
              <a:t>Socket</a:t>
            </a:r>
            <a:r>
              <a:rPr lang="zh-CN" altLang="en-US" sz="2200" dirty="0" smtClean="0"/>
              <a:t>。</a:t>
            </a:r>
          </a:p>
          <a:p>
            <a:r>
              <a:rPr lang="zh-CN" altLang="en-US" sz="2200" dirty="0" smtClean="0"/>
              <a:t>然后向对方拨号呼叫，相当于发出连接请求（假如对方不在同一区内，还要拨对方区号，相当于给出网络地址）。对方假如在场并空闲（相当于通信的另一主机开机且可以接受连接请求），拿起电话话筒，双方就可以正式通话，相当于连接成功。</a:t>
            </a:r>
          </a:p>
          <a:p>
            <a:r>
              <a:rPr lang="zh-CN" altLang="en-US" sz="2200" dirty="0" smtClean="0"/>
              <a:t>双方通话的过程，是向电话机发出信号和从电话机接受信号的过程，相当于向</a:t>
            </a:r>
            <a:r>
              <a:rPr lang="en-US" altLang="zh-CN" sz="2200" dirty="0" smtClean="0"/>
              <a:t>Socket </a:t>
            </a:r>
            <a:r>
              <a:rPr lang="zh-CN" altLang="en-US" sz="2200" dirty="0" smtClean="0"/>
              <a:t>发送数据和从</a:t>
            </a:r>
            <a:r>
              <a:rPr lang="en-US" altLang="zh-CN" sz="2200" dirty="0" smtClean="0"/>
              <a:t>Socket </a:t>
            </a:r>
            <a:r>
              <a:rPr lang="zh-CN" altLang="en-US" sz="2200" dirty="0" smtClean="0"/>
              <a:t>接受数据。通话结束后，一方挂起电话机，相当于关闭</a:t>
            </a:r>
            <a:r>
              <a:rPr lang="en-US" altLang="zh-CN" sz="2200" dirty="0" smtClean="0"/>
              <a:t>Socket</a:t>
            </a:r>
            <a:r>
              <a:rPr lang="zh-CN" altLang="en-US" sz="2200" dirty="0" smtClean="0"/>
              <a:t>，撤消连接。</a:t>
            </a:r>
          </a:p>
          <a:p>
            <a:endParaRPr lang="zh-CN" altLang="en-US" sz="2200" dirty="0"/>
          </a:p>
        </p:txBody>
      </p:sp>
    </p:spTree>
    <p:extLst>
      <p:ext uri="{BB962C8B-B14F-4D97-AF65-F5344CB8AC3E}">
        <p14:creationId xmlns:p14="http://schemas.microsoft.com/office/powerpoint/2010/main" val="251647301"/>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套接字基础</a:t>
            </a:r>
            <a:endParaRPr lang="zh-CN" altLang="en-US" dirty="0"/>
          </a:p>
        </p:txBody>
      </p:sp>
      <p:sp>
        <p:nvSpPr>
          <p:cNvPr id="3" name="内容占位符 2"/>
          <p:cNvSpPr>
            <a:spLocks noGrp="1"/>
          </p:cNvSpPr>
          <p:nvPr>
            <p:ph idx="1"/>
          </p:nvPr>
        </p:nvSpPr>
        <p:spPr/>
        <p:txBody>
          <a:bodyPr/>
          <a:lstStyle/>
          <a:p>
            <a:r>
              <a:rPr kumimoji="1" lang="zh-CN" altLang="en-US" dirty="0"/>
              <a:t>从套接字所处的地位来讲，套接字上联应用进程，下联网络协议栈，是应用程序通过网络协议栈进行通信的接口，是应用程序与网络协议栈进行交互的接口。 </a:t>
            </a:r>
          </a:p>
          <a:p>
            <a:endParaRPr lang="zh-CN" altLang="en-US" dirty="0"/>
          </a:p>
        </p:txBody>
      </p:sp>
      <p:pic>
        <p:nvPicPr>
          <p:cNvPr id="4" name="Picture 4" descr="图形2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011" y="2994404"/>
            <a:ext cx="80772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2968612"/>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套接字基础</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kumimoji="1" lang="zh-CN" altLang="en-US" dirty="0" smtClean="0"/>
              <a:t>从实现的角度来讲，非常复杂。</a:t>
            </a:r>
          </a:p>
          <a:p>
            <a:pPr lvl="1"/>
            <a:r>
              <a:rPr kumimoji="1" lang="zh-CN" altLang="en-US" dirty="0" smtClean="0"/>
              <a:t>套接字是一个复杂的软件机构，包含了一定的数据结构，包含许多选项，由操作系统内核管理。</a:t>
            </a:r>
          </a:p>
          <a:p>
            <a:r>
              <a:rPr kumimoji="1" lang="zh-CN" altLang="en-US" dirty="0" smtClean="0"/>
              <a:t>从使用的角度来讲，非常简单。</a:t>
            </a:r>
          </a:p>
          <a:p>
            <a:pPr lvl="1"/>
            <a:r>
              <a:rPr kumimoji="1" lang="zh-CN" altLang="en-US" dirty="0" smtClean="0"/>
              <a:t>对于套接字的操作形成了一种网络应用程序的编程接口（</a:t>
            </a:r>
            <a:r>
              <a:rPr kumimoji="1" lang="en-US" altLang="zh-CN" dirty="0" smtClean="0"/>
              <a:t>API</a:t>
            </a:r>
            <a:r>
              <a:rPr kumimoji="1" lang="zh-CN" altLang="en-US" dirty="0" smtClean="0"/>
              <a:t>）。</a:t>
            </a:r>
          </a:p>
          <a:p>
            <a:r>
              <a:rPr kumimoji="1" lang="zh-CN" altLang="en-US" dirty="0" smtClean="0"/>
              <a:t>操作套接字的编程接口函数称作</a:t>
            </a:r>
            <a:r>
              <a:rPr kumimoji="1" lang="zh-CN" altLang="en-US" dirty="0" smtClean="0">
                <a:solidFill>
                  <a:srgbClr val="FF0000"/>
                </a:solidFill>
              </a:rPr>
              <a:t>套接字编程接口</a:t>
            </a:r>
            <a:r>
              <a:rPr kumimoji="1" lang="zh-CN" altLang="en-US" dirty="0" smtClean="0"/>
              <a:t>，套接字是它的操作对象。</a:t>
            </a:r>
          </a:p>
          <a:p>
            <a:r>
              <a:rPr kumimoji="1" lang="zh-CN" altLang="en-US" dirty="0" smtClean="0"/>
              <a:t>总之，套接字是网络通信的基石。</a:t>
            </a:r>
          </a:p>
          <a:p>
            <a:endParaRPr lang="zh-CN" altLang="en-US" dirty="0"/>
          </a:p>
        </p:txBody>
      </p:sp>
    </p:spTree>
    <p:extLst>
      <p:ext uri="{BB962C8B-B14F-4D97-AF65-F5344CB8AC3E}">
        <p14:creationId xmlns:p14="http://schemas.microsoft.com/office/powerpoint/2010/main" val="2974543545"/>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常用的</a:t>
            </a:r>
            <a:r>
              <a:rPr lang="en-US" altLang="zh-CN" dirty="0" smtClean="0">
                <a:latin typeface="Times New Roman" panose="02020603050405020304" pitchFamily="18" charset="0"/>
              </a:rPr>
              <a:t>socket</a:t>
            </a:r>
            <a:endParaRPr lang="zh-CN" altLang="en-US" dirty="0"/>
          </a:p>
        </p:txBody>
      </p:sp>
      <p:sp>
        <p:nvSpPr>
          <p:cNvPr id="3" name="内容占位符 2"/>
          <p:cNvSpPr>
            <a:spLocks noGrp="1"/>
          </p:cNvSpPr>
          <p:nvPr>
            <p:ph idx="1"/>
          </p:nvPr>
        </p:nvSpPr>
        <p:spPr/>
        <p:txBody>
          <a:bodyPr/>
          <a:lstStyle/>
          <a:p>
            <a:r>
              <a:rPr lang="zh-CN" altLang="en-US" dirty="0" smtClean="0"/>
              <a:t>流式套接字：</a:t>
            </a:r>
          </a:p>
          <a:p>
            <a:pPr lvl="1"/>
            <a:r>
              <a:rPr lang="zh-CN" altLang="en-US" dirty="0" smtClean="0"/>
              <a:t>它提供基于</a:t>
            </a:r>
            <a:r>
              <a:rPr lang="en-US" altLang="zh-CN" dirty="0" smtClean="0"/>
              <a:t>TCP</a:t>
            </a:r>
            <a:r>
              <a:rPr lang="zh-CN" altLang="en-US" dirty="0" smtClean="0"/>
              <a:t>协议的双向、可靠、有序且不重复的无记录边界的数据流。</a:t>
            </a:r>
          </a:p>
          <a:p>
            <a:r>
              <a:rPr lang="zh-CN" altLang="en-US" dirty="0" smtClean="0"/>
              <a:t>数据报套接字：</a:t>
            </a:r>
          </a:p>
          <a:p>
            <a:pPr lvl="1"/>
            <a:r>
              <a:rPr lang="zh-CN" altLang="en-US" dirty="0" smtClean="0"/>
              <a:t>它提供基于</a:t>
            </a:r>
            <a:r>
              <a:rPr lang="en-US" altLang="zh-CN" dirty="0" smtClean="0"/>
              <a:t>UDP</a:t>
            </a:r>
            <a:r>
              <a:rPr lang="zh-CN" altLang="en-US" dirty="0" smtClean="0"/>
              <a:t>协议的双向数据流，但不一定可靠、有序和不重复。</a:t>
            </a:r>
          </a:p>
          <a:p>
            <a:r>
              <a:rPr lang="zh-CN" altLang="en-US" dirty="0" smtClean="0"/>
              <a:t>原始套接字：</a:t>
            </a:r>
          </a:p>
          <a:p>
            <a:pPr lvl="1"/>
            <a:r>
              <a:rPr lang="zh-CN" altLang="en-US" dirty="0" smtClean="0"/>
              <a:t>它提供网络下层通信协议的直接访问。一般用于开发新的网络层协议，如新的</a:t>
            </a:r>
            <a:r>
              <a:rPr lang="en-US" altLang="zh-CN" dirty="0" smtClean="0"/>
              <a:t>IP</a:t>
            </a:r>
            <a:r>
              <a:rPr lang="zh-CN" altLang="en-US" dirty="0" smtClean="0"/>
              <a:t>协议等。</a:t>
            </a:r>
          </a:p>
          <a:p>
            <a:endParaRPr lang="zh-CN" altLang="en-US" dirty="0"/>
          </a:p>
        </p:txBody>
      </p:sp>
    </p:spTree>
    <p:extLst>
      <p:ext uri="{BB962C8B-B14F-4D97-AF65-F5344CB8AC3E}">
        <p14:creationId xmlns:p14="http://schemas.microsoft.com/office/powerpoint/2010/main" val="2801262653"/>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endParaRPr lang="zh-CN" altLang="en-US" dirty="0"/>
          </a:p>
        </p:txBody>
      </p:sp>
      <p:pic>
        <p:nvPicPr>
          <p:cNvPr id="4" name="Picture 4" descr="图形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82113" y="1150369"/>
            <a:ext cx="10054178" cy="474709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30243672"/>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a:t>
            </a:r>
            <a:endParaRPr lang="zh-CN" altLang="en-US" dirty="0"/>
          </a:p>
        </p:txBody>
      </p:sp>
      <p:pic>
        <p:nvPicPr>
          <p:cNvPr id="4" name="Picture 4" descr="图形2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130428" y="1195738"/>
            <a:ext cx="9580375" cy="462622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60387519"/>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三种表示套接字地址的结构</a:t>
            </a:r>
            <a:endParaRPr lang="zh-CN" altLang="en-US" dirty="0"/>
          </a:p>
        </p:txBody>
      </p:sp>
      <p:sp>
        <p:nvSpPr>
          <p:cNvPr id="3" name="内容占位符 2"/>
          <p:cNvSpPr>
            <a:spLocks noGrp="1"/>
          </p:cNvSpPr>
          <p:nvPr>
            <p:ph idx="1"/>
          </p:nvPr>
        </p:nvSpPr>
        <p:spPr/>
        <p:txBody>
          <a:bodyPr/>
          <a:lstStyle/>
          <a:p>
            <a:r>
              <a:rPr lang="en-US" altLang="zh-CN" dirty="0" smtClean="0">
                <a:latin typeface="Times New Roman" panose="02020603050405020304" pitchFamily="18" charset="0"/>
              </a:rPr>
              <a:t>(1)</a:t>
            </a:r>
            <a:r>
              <a:rPr lang="zh-CN" altLang="en-US" dirty="0" smtClean="0"/>
              <a:t>．</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a:t>
            </a:r>
            <a:endParaRPr lang="en-US" altLang="zh-CN" dirty="0" smtClean="0">
              <a:latin typeface="Times New Roman" panose="02020603050405020304" pitchFamily="18" charset="0"/>
            </a:endParaRPr>
          </a:p>
          <a:p>
            <a:pPr lvl="1"/>
            <a:r>
              <a:rPr lang="zh-CN" altLang="en-US" dirty="0" smtClean="0"/>
              <a:t>这个结构用来存储套接字地址。</a:t>
            </a:r>
          </a:p>
          <a:p>
            <a:pPr lvl="1"/>
            <a:r>
              <a:rPr lang="zh-CN" altLang="en-US" dirty="0" smtClean="0"/>
              <a:t>数据定义：</a:t>
            </a:r>
          </a:p>
          <a:p>
            <a:pPr lvl="1">
              <a:buNone/>
            </a:pPr>
            <a:r>
              <a:rPr lang="en-US" altLang="zh-CN" dirty="0" err="1" smtClean="0">
                <a:solidFill>
                  <a:schemeClr val="tx1"/>
                </a:solidFill>
                <a:latin typeface="Times New Roman" panose="02020603050405020304" pitchFamily="18" charset="0"/>
              </a:rPr>
              <a:t>struct</a:t>
            </a:r>
            <a:r>
              <a:rPr lang="en-US" altLang="zh-CN" dirty="0" smtClean="0">
                <a:solidFill>
                  <a:schemeClr val="tx1"/>
                </a:solidFill>
                <a:latin typeface="Times New Roman" panose="02020603050405020304" pitchFamily="18" charset="0"/>
              </a:rPr>
              <a:t> </a:t>
            </a:r>
            <a:r>
              <a:rPr lang="en-US" altLang="zh-CN" dirty="0" err="1" smtClean="0">
                <a:solidFill>
                  <a:schemeClr val="tx1"/>
                </a:solidFill>
                <a:latin typeface="Times New Roman" panose="02020603050405020304" pitchFamily="18" charset="0"/>
              </a:rPr>
              <a:t>sockaddr</a:t>
            </a:r>
            <a:r>
              <a:rPr lang="en-US" altLang="zh-CN" dirty="0" smtClean="0">
                <a:solidFill>
                  <a:schemeClr val="tx1"/>
                </a:solidFill>
                <a:latin typeface="Times New Roman" panose="02020603050405020304" pitchFamily="18" charset="0"/>
              </a:rPr>
              <a:t> {</a:t>
            </a:r>
          </a:p>
          <a:p>
            <a:pPr lvl="1">
              <a:buNone/>
            </a:pPr>
            <a:r>
              <a:rPr lang="en-US" altLang="zh-CN" dirty="0" smtClean="0">
                <a:solidFill>
                  <a:schemeClr val="tx1"/>
                </a:solidFill>
                <a:latin typeface="Times New Roman" panose="02020603050405020304" pitchFamily="18" charset="0"/>
              </a:rPr>
              <a:t>unsigned short </a:t>
            </a:r>
            <a:r>
              <a:rPr lang="en-US" altLang="zh-CN" dirty="0" err="1" smtClean="0">
                <a:solidFill>
                  <a:schemeClr val="tx1"/>
                </a:solidFill>
                <a:latin typeface="Times New Roman" panose="02020603050405020304" pitchFamily="18" charset="0"/>
              </a:rPr>
              <a:t>sa_family</a:t>
            </a:r>
            <a:r>
              <a:rPr lang="en-US" altLang="zh-CN" dirty="0" smtClean="0">
                <a:solidFill>
                  <a:schemeClr val="tx1"/>
                </a:solidFill>
                <a:latin typeface="Times New Roman" panose="02020603050405020304" pitchFamily="18" charset="0"/>
              </a:rPr>
              <a:t>; /* address</a:t>
            </a:r>
            <a:r>
              <a:rPr lang="zh-CN" altLang="en-US" dirty="0" smtClean="0">
                <a:solidFill>
                  <a:schemeClr val="tx1"/>
                </a:solidFill>
              </a:rPr>
              <a:t>族</a:t>
            </a:r>
            <a:r>
              <a:rPr lang="en-US" altLang="zh-CN" dirty="0" smtClean="0">
                <a:solidFill>
                  <a:schemeClr val="tx1"/>
                </a:solidFill>
                <a:latin typeface="Times New Roman" panose="02020603050405020304" pitchFamily="18" charset="0"/>
              </a:rPr>
              <a:t>, </a:t>
            </a:r>
            <a:r>
              <a:rPr lang="en-US" altLang="zh-CN" dirty="0" err="1" smtClean="0">
                <a:solidFill>
                  <a:schemeClr val="tx1"/>
                </a:solidFill>
                <a:latin typeface="Times New Roman" panose="02020603050405020304" pitchFamily="18" charset="0"/>
              </a:rPr>
              <a:t>AF_xxx</a:t>
            </a:r>
            <a:r>
              <a:rPr lang="en-US" altLang="zh-CN" dirty="0" smtClean="0">
                <a:solidFill>
                  <a:schemeClr val="tx1"/>
                </a:solidFill>
                <a:latin typeface="Times New Roman" panose="02020603050405020304" pitchFamily="18" charset="0"/>
              </a:rPr>
              <a:t> */</a:t>
            </a:r>
          </a:p>
          <a:p>
            <a:pPr lvl="1">
              <a:buNone/>
            </a:pPr>
            <a:r>
              <a:rPr lang="en-US" altLang="zh-CN" dirty="0" smtClean="0">
                <a:solidFill>
                  <a:schemeClr val="tx1"/>
                </a:solidFill>
                <a:latin typeface="Times New Roman" panose="02020603050405020304" pitchFamily="18" charset="0"/>
              </a:rPr>
              <a:t>char </a:t>
            </a:r>
            <a:r>
              <a:rPr lang="en-US" altLang="zh-CN" dirty="0" err="1" smtClean="0">
                <a:solidFill>
                  <a:schemeClr val="tx1"/>
                </a:solidFill>
                <a:latin typeface="Times New Roman" panose="02020603050405020304" pitchFamily="18" charset="0"/>
              </a:rPr>
              <a:t>sa_data</a:t>
            </a:r>
            <a:r>
              <a:rPr lang="en-US" altLang="zh-CN" dirty="0" smtClean="0">
                <a:solidFill>
                  <a:schemeClr val="tx1"/>
                </a:solidFill>
                <a:latin typeface="Times New Roman" panose="02020603050405020304" pitchFamily="18" charset="0"/>
              </a:rPr>
              <a:t>[14]; /* 14 bytes</a:t>
            </a:r>
            <a:r>
              <a:rPr lang="zh-CN" altLang="en-US" dirty="0" smtClean="0">
                <a:solidFill>
                  <a:schemeClr val="tx1"/>
                </a:solidFill>
              </a:rPr>
              <a:t>的协议地址</a:t>
            </a:r>
            <a:r>
              <a:rPr lang="zh-CN" altLang="en-US" dirty="0" smtClean="0">
                <a:solidFill>
                  <a:schemeClr val="tx1"/>
                </a:solidFill>
                <a:latin typeface="Times New Roman" panose="02020603050405020304" pitchFamily="18" charset="0"/>
              </a:rPr>
              <a:t>*</a:t>
            </a:r>
            <a:r>
              <a:rPr lang="en-US" altLang="zh-CN" dirty="0" smtClean="0">
                <a:solidFill>
                  <a:schemeClr val="tx1"/>
                </a:solidFill>
                <a:latin typeface="Times New Roman" panose="02020603050405020304" pitchFamily="18" charset="0"/>
              </a:rPr>
              <a:t>/</a:t>
            </a:r>
          </a:p>
          <a:p>
            <a:pPr lvl="1">
              <a:buNone/>
            </a:pPr>
            <a:r>
              <a:rPr lang="en-US" altLang="zh-CN" dirty="0" smtClean="0">
                <a:solidFill>
                  <a:schemeClr val="tx1"/>
                </a:solidFill>
                <a:latin typeface="Times New Roman" panose="02020603050405020304" pitchFamily="18" charset="0"/>
              </a:rPr>
              <a:t>};</a:t>
            </a:r>
          </a:p>
          <a:p>
            <a:pPr lvl="1"/>
            <a:r>
              <a:rPr lang="en-US" altLang="zh-CN" dirty="0" err="1" smtClean="0">
                <a:latin typeface="Times New Roman" panose="02020603050405020304" pitchFamily="18" charset="0"/>
              </a:rPr>
              <a:t>sa_family</a:t>
            </a:r>
            <a:r>
              <a:rPr lang="en-US" altLang="zh-CN" dirty="0" smtClean="0">
                <a:latin typeface="Times New Roman" panose="02020603050405020304" pitchFamily="18" charset="0"/>
              </a:rPr>
              <a:t> </a:t>
            </a:r>
            <a:r>
              <a:rPr lang="zh-CN" altLang="en-US" dirty="0" smtClean="0"/>
              <a:t>一般来说，都是“</a:t>
            </a:r>
            <a:r>
              <a:rPr lang="en-US" altLang="zh-CN" dirty="0" smtClean="0">
                <a:latin typeface="Times New Roman" panose="02020603050405020304" pitchFamily="18" charset="0"/>
              </a:rPr>
              <a:t>AF_INET</a:t>
            </a:r>
            <a:r>
              <a:rPr lang="en-US" altLang="zh-CN" dirty="0" smtClean="0"/>
              <a:t>”</a:t>
            </a:r>
            <a:r>
              <a:rPr lang="zh-CN" altLang="en-US" dirty="0" smtClean="0"/>
              <a:t>。</a:t>
            </a:r>
          </a:p>
          <a:p>
            <a:pPr lvl="1"/>
            <a:r>
              <a:rPr lang="en-US" altLang="zh-CN" dirty="0" err="1" smtClean="0">
                <a:latin typeface="Times New Roman" panose="02020603050405020304" pitchFamily="18" charset="0"/>
              </a:rPr>
              <a:t>sa_data</a:t>
            </a:r>
            <a:r>
              <a:rPr lang="en-US" altLang="zh-CN" dirty="0" smtClean="0">
                <a:latin typeface="Times New Roman" panose="02020603050405020304" pitchFamily="18" charset="0"/>
              </a:rPr>
              <a:t> </a:t>
            </a:r>
            <a:r>
              <a:rPr lang="zh-CN" altLang="en-US" dirty="0" smtClean="0"/>
              <a:t>包含了一些远程电脑的地址、端口和套接字的数目，它里面的数据是杂溶在一切的。</a:t>
            </a:r>
          </a:p>
          <a:p>
            <a:endParaRPr lang="zh-CN" altLang="en-US" dirty="0"/>
          </a:p>
        </p:txBody>
      </p:sp>
    </p:spTree>
    <p:extLst>
      <p:ext uri="{BB962C8B-B14F-4D97-AF65-F5344CB8AC3E}">
        <p14:creationId xmlns:p14="http://schemas.microsoft.com/office/powerpoint/2010/main" val="2839173973"/>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三种表示套接字地址的结构</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dirty="0">
                <a:latin typeface="宋体" panose="02010600030101010101" pitchFamily="2" charset="-122"/>
              </a:rPr>
              <a:t>(2). </a:t>
            </a:r>
            <a:r>
              <a:rPr lang="en-US" altLang="zh-CN" dirty="0" err="1">
                <a:latin typeface="Times New Roman" panose="02020603050405020304" pitchFamily="18" charset="0"/>
              </a:rPr>
              <a:t>struct</a:t>
            </a:r>
            <a:r>
              <a:rPr lang="en-US" altLang="zh-CN" dirty="0">
                <a:latin typeface="Times New Roman" panose="02020603050405020304" pitchFamily="18" charset="0"/>
              </a:rPr>
              <a:t> </a:t>
            </a:r>
            <a:r>
              <a:rPr lang="en-US" altLang="zh-CN" dirty="0" err="1">
                <a:latin typeface="Times New Roman" panose="02020603050405020304" pitchFamily="18" charset="0"/>
              </a:rPr>
              <a:t>sockaddr_in</a:t>
            </a:r>
            <a:endParaRPr lang="en-US" altLang="zh-CN" dirty="0">
              <a:latin typeface="宋体" panose="02010600030101010101" pitchFamily="2" charset="-122"/>
            </a:endParaRPr>
          </a:p>
          <a:p>
            <a:pPr lvl="1"/>
            <a:r>
              <a:rPr lang="zh-CN" altLang="en-US" dirty="0">
                <a:latin typeface="宋体" panose="02010600030101010101" pitchFamily="2" charset="-122"/>
              </a:rPr>
              <a:t>为了处理</a:t>
            </a:r>
            <a:r>
              <a:rPr lang="en-US" altLang="zh-CN" dirty="0" err="1">
                <a:latin typeface="Times New Roman" panose="02020603050405020304" pitchFamily="18" charset="0"/>
              </a:rPr>
              <a:t>struct</a:t>
            </a:r>
            <a:r>
              <a:rPr lang="en-US" altLang="zh-CN" dirty="0">
                <a:latin typeface="Times New Roman" panose="02020603050405020304" pitchFamily="18" charset="0"/>
              </a:rPr>
              <a:t> </a:t>
            </a:r>
            <a:r>
              <a:rPr lang="en-US" altLang="zh-CN" dirty="0" err="1">
                <a:latin typeface="Times New Roman" panose="02020603050405020304" pitchFamily="18" charset="0"/>
              </a:rPr>
              <a:t>sockaddr</a:t>
            </a:r>
            <a:r>
              <a:rPr lang="zh-CN" altLang="en-US" dirty="0">
                <a:latin typeface="宋体" panose="02010600030101010101" pitchFamily="2" charset="-122"/>
              </a:rPr>
              <a:t>， 程序员建立了另外一个相似的结构</a:t>
            </a:r>
            <a:r>
              <a:rPr lang="en-US" altLang="zh-CN" dirty="0" err="1">
                <a:latin typeface="Times New Roman" panose="02020603050405020304" pitchFamily="18" charset="0"/>
              </a:rPr>
              <a:t>struct</a:t>
            </a:r>
            <a:r>
              <a:rPr lang="en-US" altLang="zh-CN" dirty="0">
                <a:latin typeface="Times New Roman" panose="02020603050405020304" pitchFamily="18" charset="0"/>
              </a:rPr>
              <a:t> </a:t>
            </a:r>
            <a:r>
              <a:rPr lang="en-US" altLang="zh-CN" dirty="0" err="1">
                <a:latin typeface="Times New Roman" panose="02020603050405020304" pitchFamily="18" charset="0"/>
              </a:rPr>
              <a:t>sockaddr_in</a:t>
            </a:r>
            <a:r>
              <a:rPr lang="zh-CN" altLang="en-US" dirty="0">
                <a:latin typeface="宋体" panose="02010600030101010101" pitchFamily="2" charset="-122"/>
              </a:rPr>
              <a:t>：</a:t>
            </a:r>
          </a:p>
          <a:p>
            <a:pPr lvl="2">
              <a:buNone/>
            </a:pP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sockaddr_in</a:t>
            </a:r>
            <a:r>
              <a:rPr lang="en-US" altLang="zh-CN" dirty="0" smtClean="0">
                <a:latin typeface="Times New Roman" panose="02020603050405020304" pitchFamily="18" charset="0"/>
              </a:rPr>
              <a:t> (</a:t>
            </a:r>
            <a:r>
              <a:rPr lang="en-US" altLang="zh-CN" dirty="0" smtClean="0">
                <a:latin typeface="华文仿宋" panose="02010600040101010101" pitchFamily="2" charset="-122"/>
              </a:rPr>
              <a:t>“</a:t>
            </a:r>
            <a:r>
              <a:rPr lang="en-US" altLang="zh-CN" dirty="0" smtClean="0">
                <a:latin typeface="Times New Roman" panose="02020603050405020304" pitchFamily="18" charset="0"/>
              </a:rPr>
              <a:t>in</a:t>
            </a:r>
            <a:r>
              <a:rPr lang="en-US" altLang="zh-CN" dirty="0" smtClean="0">
                <a:latin typeface="华文仿宋" panose="02010600040101010101" pitchFamily="2" charset="-122"/>
              </a:rPr>
              <a:t>”</a:t>
            </a:r>
            <a:r>
              <a:rPr lang="en-US" altLang="zh-CN" dirty="0" smtClean="0">
                <a:latin typeface="宋体" panose="02010600030101010101" pitchFamily="2" charset="-122"/>
              </a:rPr>
              <a:t> </a:t>
            </a:r>
            <a:r>
              <a:rPr lang="zh-CN" altLang="en-US" dirty="0" smtClean="0">
                <a:latin typeface="宋体" panose="02010600030101010101" pitchFamily="2" charset="-122"/>
              </a:rPr>
              <a:t>代表</a:t>
            </a:r>
            <a:r>
              <a:rPr lang="zh-CN" altLang="en-US" dirty="0" smtClean="0">
                <a:latin typeface="华文仿宋" panose="02010600040101010101" pitchFamily="2" charset="-122"/>
              </a:rPr>
              <a:t>“</a:t>
            </a:r>
            <a:r>
              <a:rPr lang="en-US" altLang="zh-CN" dirty="0" smtClean="0">
                <a:latin typeface="Times New Roman" panose="02020603050405020304" pitchFamily="18" charset="0"/>
              </a:rPr>
              <a:t>Internet</a:t>
            </a:r>
            <a:r>
              <a:rPr lang="en-US" altLang="zh-CN" dirty="0" smtClean="0">
                <a:latin typeface="华文仿宋" panose="02010600040101010101" pitchFamily="2" charset="-122"/>
              </a:rPr>
              <a:t>”</a:t>
            </a:r>
            <a:r>
              <a:rPr lang="en-US" altLang="zh-CN" dirty="0" smtClean="0">
                <a:latin typeface="Times New Roman" panose="02020603050405020304" pitchFamily="18" charset="0"/>
              </a:rPr>
              <a:t>)</a:t>
            </a:r>
          </a:p>
          <a:p>
            <a:pPr lvl="2">
              <a:buNone/>
            </a:pP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sockaddr_in</a:t>
            </a:r>
            <a:r>
              <a:rPr lang="en-US" altLang="zh-CN" dirty="0" smtClean="0">
                <a:latin typeface="Times New Roman" panose="02020603050405020304" pitchFamily="18" charset="0"/>
              </a:rPr>
              <a:t> {</a:t>
            </a:r>
          </a:p>
          <a:p>
            <a:pPr lvl="2">
              <a:buNone/>
            </a:pPr>
            <a:r>
              <a:rPr lang="en-US" altLang="zh-CN" dirty="0" smtClean="0">
                <a:latin typeface="Times New Roman" panose="02020603050405020304" pitchFamily="18" charset="0"/>
              </a:rPr>
              <a:t>short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sin_family</a:t>
            </a:r>
            <a:r>
              <a:rPr lang="en-US" altLang="zh-CN" dirty="0" smtClean="0">
                <a:latin typeface="Times New Roman" panose="02020603050405020304" pitchFamily="18" charset="0"/>
              </a:rPr>
              <a:t>; /* Internet</a:t>
            </a:r>
            <a:r>
              <a:rPr lang="zh-CN" altLang="en-US" dirty="0" smtClean="0">
                <a:latin typeface="宋体" panose="02010600030101010101" pitchFamily="2" charset="-122"/>
              </a:rPr>
              <a:t>地址族</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a:t>
            </a:r>
          </a:p>
          <a:p>
            <a:pPr lvl="2">
              <a:buNone/>
            </a:pPr>
            <a:r>
              <a:rPr lang="en-US" altLang="zh-CN" dirty="0" smtClean="0">
                <a:latin typeface="Times New Roman" panose="02020603050405020304" pitchFamily="18" charset="0"/>
              </a:rPr>
              <a:t>unsigned short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sin_port</a:t>
            </a:r>
            <a:r>
              <a:rPr lang="en-US" altLang="zh-CN" dirty="0" smtClean="0">
                <a:latin typeface="Times New Roman" panose="02020603050405020304" pitchFamily="18" charset="0"/>
              </a:rPr>
              <a:t>; /* </a:t>
            </a:r>
            <a:r>
              <a:rPr lang="zh-CN" altLang="en-US" dirty="0" smtClean="0">
                <a:latin typeface="宋体" panose="02010600030101010101" pitchFamily="2" charset="-122"/>
              </a:rPr>
              <a:t>端口号</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a:t>
            </a:r>
          </a:p>
          <a:p>
            <a:pPr lvl="2">
              <a:buNone/>
            </a:pP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in_addr</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sin_addr</a:t>
            </a:r>
            <a:r>
              <a:rPr lang="en-US" altLang="zh-CN" dirty="0" smtClean="0">
                <a:latin typeface="Times New Roman" panose="02020603050405020304" pitchFamily="18" charset="0"/>
              </a:rPr>
              <a:t>; /* Internet</a:t>
            </a:r>
            <a:r>
              <a:rPr lang="zh-CN" altLang="en-US" dirty="0" smtClean="0">
                <a:latin typeface="宋体" panose="02010600030101010101" pitchFamily="2" charset="-122"/>
              </a:rPr>
              <a:t>地址</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a:t>
            </a:r>
          </a:p>
          <a:p>
            <a:pPr lvl="2">
              <a:buNone/>
            </a:pPr>
            <a:r>
              <a:rPr lang="en-US" altLang="zh-CN" dirty="0" smtClean="0">
                <a:latin typeface="Times New Roman" panose="02020603050405020304" pitchFamily="18" charset="0"/>
              </a:rPr>
              <a:t>unsigned char </a:t>
            </a:r>
            <a:r>
              <a:rPr lang="en-US" altLang="zh-CN" dirty="0" err="1" smtClean="0">
                <a:latin typeface="Times New Roman" panose="02020603050405020304" pitchFamily="18" charset="0"/>
              </a:rPr>
              <a:t>sin_zero</a:t>
            </a:r>
            <a:r>
              <a:rPr lang="en-US" altLang="zh-CN" dirty="0" smtClean="0">
                <a:latin typeface="Times New Roman" panose="02020603050405020304" pitchFamily="18" charset="0"/>
              </a:rPr>
              <a:t>[8]; /* </a:t>
            </a:r>
            <a:r>
              <a:rPr lang="zh-CN" altLang="en-US" dirty="0" smtClean="0">
                <a:latin typeface="宋体" panose="02010600030101010101" pitchFamily="2" charset="-122"/>
              </a:rPr>
              <a:t>添</a:t>
            </a:r>
            <a:r>
              <a:rPr lang="en-US" altLang="zh-CN" dirty="0" smtClean="0">
                <a:latin typeface="Times New Roman" panose="02020603050405020304" pitchFamily="18" charset="0"/>
              </a:rPr>
              <a:t>0</a:t>
            </a:r>
            <a:r>
              <a:rPr lang="zh-CN" altLang="en-US" dirty="0" smtClean="0">
                <a:latin typeface="宋体" panose="02010600030101010101" pitchFamily="2" charset="-122"/>
              </a:rPr>
              <a:t>（和</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a:t>
            </a:r>
            <a:r>
              <a:rPr lang="zh-CN" altLang="en-US" dirty="0" smtClean="0">
                <a:latin typeface="宋体" panose="02010600030101010101" pitchFamily="2" charset="-122"/>
              </a:rPr>
              <a:t>一样大小）</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a:t>
            </a:r>
          </a:p>
          <a:p>
            <a:pPr lvl="2">
              <a:buNone/>
            </a:pPr>
            <a:r>
              <a:rPr lang="en-US" altLang="zh-CN" dirty="0" smtClean="0">
                <a:latin typeface="Times New Roman" panose="02020603050405020304" pitchFamily="18" charset="0"/>
              </a:rPr>
              <a:t>};</a:t>
            </a:r>
          </a:p>
          <a:p>
            <a:pPr lvl="1"/>
            <a:r>
              <a:rPr lang="zh-CN" altLang="en-US" dirty="0">
                <a:latin typeface="宋体" panose="02010600030101010101" pitchFamily="2" charset="-122"/>
              </a:rPr>
              <a:t>这个结构提供了方便的手段来访问</a:t>
            </a:r>
            <a:r>
              <a:rPr lang="en-US" altLang="zh-CN" dirty="0">
                <a:latin typeface="Times New Roman" panose="02020603050405020304" pitchFamily="18" charset="0"/>
              </a:rPr>
              <a:t>socket address</a:t>
            </a:r>
            <a:r>
              <a:rPr lang="zh-CN" altLang="en-US" dirty="0">
                <a:latin typeface="宋体" panose="02010600030101010101" pitchFamily="2" charset="-122"/>
              </a:rPr>
              <a:t>（</a:t>
            </a:r>
            <a:r>
              <a:rPr lang="en-US" altLang="zh-CN" dirty="0" err="1">
                <a:latin typeface="Times New Roman" panose="02020603050405020304" pitchFamily="18" charset="0"/>
              </a:rPr>
              <a:t>struct</a:t>
            </a:r>
            <a:r>
              <a:rPr lang="en-US" altLang="zh-CN" dirty="0">
                <a:latin typeface="Times New Roman" panose="02020603050405020304" pitchFamily="18" charset="0"/>
              </a:rPr>
              <a:t> </a:t>
            </a:r>
            <a:r>
              <a:rPr lang="en-US" altLang="zh-CN" dirty="0" err="1">
                <a:latin typeface="Times New Roman" panose="02020603050405020304" pitchFamily="18" charset="0"/>
              </a:rPr>
              <a:t>sockaddr</a:t>
            </a:r>
            <a:r>
              <a:rPr lang="zh-CN" altLang="en-US" dirty="0">
                <a:latin typeface="宋体" panose="02010600030101010101" pitchFamily="2" charset="-122"/>
              </a:rPr>
              <a:t>）结构中的每一个元素。</a:t>
            </a:r>
          </a:p>
          <a:p>
            <a:endParaRPr lang="zh-CN" altLang="en-US" dirty="0"/>
          </a:p>
        </p:txBody>
      </p:sp>
    </p:spTree>
    <p:extLst>
      <p:ext uri="{BB962C8B-B14F-4D97-AF65-F5344CB8AC3E}">
        <p14:creationId xmlns:p14="http://schemas.microsoft.com/office/powerpoint/2010/main" val="2586923797"/>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三种表示套接字地址的结构</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rPr>
              <a:t>(3)</a:t>
            </a:r>
            <a:r>
              <a:rPr lang="zh-CN" altLang="en-US" dirty="0"/>
              <a:t>．</a:t>
            </a:r>
            <a:r>
              <a:rPr lang="en-US" altLang="zh-CN" dirty="0" err="1">
                <a:latin typeface="Times New Roman" panose="02020603050405020304" pitchFamily="18" charset="0"/>
              </a:rPr>
              <a:t>struct</a:t>
            </a:r>
            <a:r>
              <a:rPr lang="en-US" altLang="zh-CN" dirty="0">
                <a:latin typeface="Times New Roman" panose="02020603050405020304" pitchFamily="18" charset="0"/>
              </a:rPr>
              <a:t> </a:t>
            </a:r>
            <a:r>
              <a:rPr lang="en-US" altLang="zh-CN" dirty="0" err="1">
                <a:latin typeface="Times New Roman" panose="02020603050405020304" pitchFamily="18" charset="0"/>
              </a:rPr>
              <a:t>in_addr</a:t>
            </a:r>
            <a:endParaRPr lang="en-US" altLang="zh-CN" dirty="0">
              <a:latin typeface="Times New Roman" panose="02020603050405020304" pitchFamily="18" charset="0"/>
            </a:endParaRPr>
          </a:p>
          <a:p>
            <a:pPr lvl="1"/>
            <a:r>
              <a:rPr lang="zh-CN" altLang="en-US" sz="2200" dirty="0" smtClean="0"/>
              <a:t>专门用来存储 </a:t>
            </a:r>
            <a:r>
              <a:rPr lang="en-US" altLang="zh-CN" sz="2200" dirty="0" smtClean="0"/>
              <a:t>IP</a:t>
            </a:r>
            <a:r>
              <a:rPr lang="zh-CN" altLang="en-US" sz="2200" dirty="0" smtClean="0"/>
              <a:t>地址，其定义如下：</a:t>
            </a:r>
          </a:p>
          <a:p>
            <a:pPr lvl="1"/>
            <a:r>
              <a:rPr lang="en-US" altLang="zh-CN" sz="2200" dirty="0" smtClean="0">
                <a:latin typeface="Times New Roman" panose="02020603050405020304" pitchFamily="18" charset="0"/>
              </a:rPr>
              <a:t>/* </a:t>
            </a:r>
            <a:r>
              <a:rPr lang="zh-CN" altLang="en-US" sz="2200" dirty="0" smtClean="0"/>
              <a:t>因特网地址</a:t>
            </a:r>
            <a:r>
              <a:rPr lang="en-US" altLang="zh-CN" sz="2200" dirty="0" smtClean="0">
                <a:latin typeface="Times New Roman" panose="02020603050405020304" pitchFamily="18" charset="0"/>
              </a:rPr>
              <a:t>(a structure for historical reasons) */</a:t>
            </a:r>
          </a:p>
          <a:p>
            <a:pPr lvl="2">
              <a:buNone/>
            </a:pPr>
            <a:r>
              <a:rPr lang="en-US" altLang="zh-CN" sz="2200" dirty="0" err="1" smtClean="0">
                <a:latin typeface="Times New Roman" panose="02020603050405020304" pitchFamily="18" charset="0"/>
              </a:rPr>
              <a:t>struct</a:t>
            </a:r>
            <a:r>
              <a:rPr lang="en-US" altLang="zh-CN" sz="2200" dirty="0" smtClean="0">
                <a:latin typeface="Times New Roman" panose="02020603050405020304" pitchFamily="18" charset="0"/>
              </a:rPr>
              <a:t> </a:t>
            </a:r>
            <a:r>
              <a:rPr lang="en-US" altLang="zh-CN" sz="2200" dirty="0" err="1" smtClean="0">
                <a:latin typeface="Times New Roman" panose="02020603050405020304" pitchFamily="18" charset="0"/>
              </a:rPr>
              <a:t>in_addr</a:t>
            </a:r>
            <a:r>
              <a:rPr lang="en-US" altLang="zh-CN" sz="2200" dirty="0" smtClean="0">
                <a:latin typeface="Times New Roman" panose="02020603050405020304" pitchFamily="18" charset="0"/>
              </a:rPr>
              <a:t> {</a:t>
            </a:r>
          </a:p>
          <a:p>
            <a:pPr lvl="2">
              <a:buNone/>
            </a:pPr>
            <a:r>
              <a:rPr lang="en-US" altLang="zh-CN" sz="2200" dirty="0" smtClean="0">
                <a:latin typeface="Times New Roman" panose="02020603050405020304" pitchFamily="18" charset="0"/>
              </a:rPr>
              <a:t>unsigned long </a:t>
            </a:r>
            <a:r>
              <a:rPr lang="en-US" altLang="zh-CN" sz="2200" dirty="0" err="1" smtClean="0">
                <a:latin typeface="Times New Roman" panose="02020603050405020304" pitchFamily="18" charset="0"/>
              </a:rPr>
              <a:t>s_addr</a:t>
            </a:r>
            <a:r>
              <a:rPr lang="en-US" altLang="zh-CN" sz="2200" dirty="0" smtClean="0">
                <a:latin typeface="Times New Roman" panose="02020603050405020304" pitchFamily="18" charset="0"/>
              </a:rPr>
              <a:t>;</a:t>
            </a:r>
          </a:p>
          <a:p>
            <a:pPr lvl="2">
              <a:buNone/>
            </a:pPr>
            <a:r>
              <a:rPr lang="en-US" altLang="zh-CN" sz="2200" dirty="0" smtClean="0">
                <a:latin typeface="Times New Roman" panose="02020603050405020304" pitchFamily="18" charset="0"/>
              </a:rPr>
              <a:t>};</a:t>
            </a:r>
          </a:p>
          <a:p>
            <a:pPr lvl="1"/>
            <a:r>
              <a:rPr lang="zh-CN" altLang="en-US" sz="2200" dirty="0" smtClean="0"/>
              <a:t>如果你声明了一个“</a:t>
            </a:r>
            <a:r>
              <a:rPr lang="zh-CN" altLang="en-US" sz="2200" dirty="0" smtClean="0">
                <a:latin typeface="Times New Roman" panose="02020603050405020304" pitchFamily="18" charset="0"/>
              </a:rPr>
              <a:t> </a:t>
            </a:r>
            <a:r>
              <a:rPr lang="en-US" altLang="zh-CN" sz="2200" dirty="0" err="1" smtClean="0">
                <a:latin typeface="Times New Roman" panose="02020603050405020304" pitchFamily="18" charset="0"/>
              </a:rPr>
              <a:t>ina</a:t>
            </a:r>
            <a:r>
              <a:rPr lang="en-US" altLang="zh-CN" sz="2200" dirty="0" smtClean="0">
                <a:latin typeface="Times New Roman" panose="02020603050405020304" pitchFamily="18" charset="0"/>
              </a:rPr>
              <a:t> </a:t>
            </a:r>
            <a:r>
              <a:rPr lang="en-US" altLang="zh-CN" sz="2200" dirty="0" smtClean="0"/>
              <a:t>”</a:t>
            </a:r>
            <a:r>
              <a:rPr lang="en-US" altLang="zh-CN" sz="2200" dirty="0" smtClean="0">
                <a:latin typeface="Times New Roman" panose="02020603050405020304" pitchFamily="18" charset="0"/>
              </a:rPr>
              <a:t> </a:t>
            </a:r>
            <a:r>
              <a:rPr lang="zh-CN" altLang="en-US" sz="2200" dirty="0" smtClean="0"/>
              <a:t>作为一个</a:t>
            </a:r>
            <a:r>
              <a:rPr lang="en-US" altLang="zh-CN" sz="2200" dirty="0" err="1" smtClean="0">
                <a:latin typeface="Times New Roman" panose="02020603050405020304" pitchFamily="18" charset="0"/>
              </a:rPr>
              <a:t>struct</a:t>
            </a:r>
            <a:r>
              <a:rPr lang="en-US" altLang="zh-CN" sz="2200" dirty="0" smtClean="0">
                <a:latin typeface="Times New Roman" panose="02020603050405020304" pitchFamily="18" charset="0"/>
              </a:rPr>
              <a:t> </a:t>
            </a:r>
            <a:r>
              <a:rPr lang="en-US" altLang="zh-CN" sz="2200" dirty="0" err="1" smtClean="0">
                <a:latin typeface="Times New Roman" panose="02020603050405020304" pitchFamily="18" charset="0"/>
              </a:rPr>
              <a:t>sockaddr_in</a:t>
            </a:r>
            <a:r>
              <a:rPr lang="en-US" altLang="zh-CN" sz="2200" dirty="0" smtClean="0">
                <a:latin typeface="Times New Roman" panose="02020603050405020304" pitchFamily="18" charset="0"/>
              </a:rPr>
              <a:t> </a:t>
            </a:r>
            <a:r>
              <a:rPr lang="zh-CN" altLang="en-US" sz="2200" dirty="0" smtClean="0"/>
              <a:t>的结构，</a:t>
            </a:r>
            <a:r>
              <a:rPr lang="zh-CN" altLang="en-US" sz="2200" dirty="0" smtClean="0">
                <a:latin typeface="Times New Roman" panose="02020603050405020304" pitchFamily="18" charset="0"/>
              </a:rPr>
              <a:t> </a:t>
            </a:r>
            <a:r>
              <a:rPr lang="zh-CN" altLang="en-US" sz="2200" dirty="0" smtClean="0"/>
              <a:t>那么“</a:t>
            </a:r>
            <a:r>
              <a:rPr lang="en-US" altLang="zh-CN" sz="2200" dirty="0" err="1" smtClean="0">
                <a:latin typeface="Times New Roman" panose="02020603050405020304" pitchFamily="18" charset="0"/>
              </a:rPr>
              <a:t>ina.sin_addr.s_addr</a:t>
            </a:r>
            <a:r>
              <a:rPr lang="en-US" altLang="zh-CN" sz="2200" dirty="0" smtClean="0"/>
              <a:t>”</a:t>
            </a:r>
            <a:r>
              <a:rPr lang="zh-CN" altLang="en-US" sz="2200" dirty="0" smtClean="0"/>
              <a:t>就是</a:t>
            </a:r>
            <a:r>
              <a:rPr lang="en-US" altLang="zh-CN" sz="2200" dirty="0" smtClean="0">
                <a:latin typeface="Times New Roman" panose="02020603050405020304" pitchFamily="18" charset="0"/>
              </a:rPr>
              <a:t>4 </a:t>
            </a:r>
            <a:r>
              <a:rPr lang="zh-CN" altLang="en-US" sz="2200" dirty="0" smtClean="0"/>
              <a:t>个字节的</a:t>
            </a:r>
            <a:r>
              <a:rPr lang="en-US" altLang="zh-CN" sz="2200" dirty="0" smtClean="0">
                <a:latin typeface="Times New Roman" panose="02020603050405020304" pitchFamily="18" charset="0"/>
              </a:rPr>
              <a:t>IP </a:t>
            </a:r>
            <a:r>
              <a:rPr lang="zh-CN" altLang="en-US" sz="2200" dirty="0" smtClean="0"/>
              <a:t>地址（按网络字节顺序排放）。</a:t>
            </a:r>
          </a:p>
          <a:p>
            <a:pPr lvl="1"/>
            <a:r>
              <a:rPr lang="zh-CN" altLang="en-US" sz="2200" dirty="0" smtClean="0"/>
              <a:t>需要注意的是，即使你的系统仍然使用联合而不是结构来表示</a:t>
            </a:r>
            <a:r>
              <a:rPr lang="en-US" altLang="zh-CN" sz="2200" dirty="0" err="1" smtClean="0">
                <a:latin typeface="Times New Roman" panose="02020603050405020304" pitchFamily="18" charset="0"/>
              </a:rPr>
              <a:t>struct</a:t>
            </a:r>
            <a:r>
              <a:rPr lang="en-US" altLang="zh-CN" sz="2200" dirty="0" smtClean="0">
                <a:latin typeface="Times New Roman" panose="02020603050405020304" pitchFamily="18" charset="0"/>
              </a:rPr>
              <a:t> </a:t>
            </a:r>
            <a:r>
              <a:rPr lang="en-US" altLang="zh-CN" sz="2200" dirty="0" err="1" smtClean="0">
                <a:latin typeface="Times New Roman" panose="02020603050405020304" pitchFamily="18" charset="0"/>
              </a:rPr>
              <a:t>in_addr</a:t>
            </a:r>
            <a:r>
              <a:rPr lang="zh-CN" altLang="en-US" sz="2200" dirty="0" smtClean="0"/>
              <a:t>，你仍然可以用上面的方法得到</a:t>
            </a:r>
            <a:r>
              <a:rPr lang="en-US" altLang="zh-CN" sz="2200" dirty="0" smtClean="0">
                <a:latin typeface="Times New Roman" panose="02020603050405020304" pitchFamily="18" charset="0"/>
              </a:rPr>
              <a:t>4 </a:t>
            </a:r>
            <a:r>
              <a:rPr lang="zh-CN" altLang="en-US" sz="2200" dirty="0" smtClean="0"/>
              <a:t>个字节的</a:t>
            </a:r>
            <a:r>
              <a:rPr lang="en-US" altLang="zh-CN" sz="2200" dirty="0" smtClean="0">
                <a:latin typeface="Times New Roman" panose="02020603050405020304" pitchFamily="18" charset="0"/>
              </a:rPr>
              <a:t>IP </a:t>
            </a:r>
            <a:r>
              <a:rPr lang="zh-CN" altLang="en-US" sz="2200" dirty="0" smtClean="0"/>
              <a:t>地址</a:t>
            </a:r>
            <a:r>
              <a:rPr lang="en-US" altLang="zh-CN" sz="2200" dirty="0" smtClean="0">
                <a:latin typeface="Times New Roman" panose="02020603050405020304" pitchFamily="18" charset="0"/>
              </a:rPr>
              <a:t>.</a:t>
            </a:r>
          </a:p>
          <a:p>
            <a:endParaRPr lang="zh-CN" altLang="en-US" dirty="0"/>
          </a:p>
        </p:txBody>
      </p:sp>
    </p:spTree>
    <p:extLst>
      <p:ext uri="{BB962C8B-B14F-4D97-AF65-F5344CB8AC3E}">
        <p14:creationId xmlns:p14="http://schemas.microsoft.com/office/powerpoint/2010/main" val="1421531247"/>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三种表示套接字地址的结构</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kumimoji="1" lang="en-US" altLang="zh-CN" dirty="0" smtClean="0">
                <a:solidFill>
                  <a:srgbClr val="000000"/>
                </a:solidFill>
              </a:rPr>
              <a:t>(4).</a:t>
            </a:r>
            <a:r>
              <a:rPr kumimoji="1" lang="zh-CN" altLang="en-US" dirty="0" smtClean="0">
                <a:solidFill>
                  <a:srgbClr val="000000"/>
                </a:solidFill>
              </a:rPr>
              <a:t>这些数据结构的一般用法：</a:t>
            </a:r>
            <a:endParaRPr kumimoji="1" lang="zh-CN" altLang="en-US" dirty="0" smtClean="0"/>
          </a:p>
          <a:p>
            <a:pPr lvl="1"/>
            <a:r>
              <a:rPr kumimoji="1" lang="zh-CN" altLang="en-US" dirty="0" smtClean="0"/>
              <a:t>首先，定义一个</a:t>
            </a:r>
            <a:r>
              <a:rPr kumimoji="1" lang="en-US" altLang="zh-CN" dirty="0" err="1" smtClean="0"/>
              <a:t>Sockaddr_in</a:t>
            </a:r>
            <a:r>
              <a:rPr kumimoji="1" lang="zh-CN" altLang="en-US" dirty="0" smtClean="0"/>
              <a:t>的结构实例，并将它清零。比如：</a:t>
            </a:r>
          </a:p>
          <a:p>
            <a:pPr lvl="2">
              <a:buNone/>
            </a:pPr>
            <a:r>
              <a:rPr kumimoji="1" lang="en-US" altLang="zh-CN" dirty="0" err="1" smtClean="0">
                <a:solidFill>
                  <a:srgbClr val="000000"/>
                </a:solidFill>
              </a:rPr>
              <a:t>struct</a:t>
            </a:r>
            <a:r>
              <a:rPr kumimoji="1" lang="en-US" altLang="zh-CN" dirty="0" smtClean="0">
                <a:solidFill>
                  <a:srgbClr val="000000"/>
                </a:solidFill>
              </a:rPr>
              <a:t> </a:t>
            </a:r>
            <a:r>
              <a:rPr kumimoji="1" lang="en-US" altLang="zh-CN" dirty="0" err="1" smtClean="0">
                <a:solidFill>
                  <a:srgbClr val="000000"/>
                </a:solidFill>
              </a:rPr>
              <a:t>sockaddr_in</a:t>
            </a:r>
            <a:r>
              <a:rPr kumimoji="1" lang="en-US" altLang="zh-CN" dirty="0" smtClean="0">
                <a:solidFill>
                  <a:srgbClr val="000000"/>
                </a:solidFill>
              </a:rPr>
              <a:t> </a:t>
            </a:r>
            <a:r>
              <a:rPr kumimoji="1" lang="en-US" altLang="zh-CN" dirty="0" err="1" smtClean="0">
                <a:solidFill>
                  <a:srgbClr val="000000"/>
                </a:solidFill>
              </a:rPr>
              <a:t>myad</a:t>
            </a:r>
            <a:r>
              <a:rPr kumimoji="1" lang="en-US" altLang="zh-CN" dirty="0" smtClean="0">
                <a:solidFill>
                  <a:srgbClr val="000000"/>
                </a:solidFill>
              </a:rPr>
              <a:t>;</a:t>
            </a:r>
            <a:endParaRPr kumimoji="1" lang="en-US" altLang="zh-CN" dirty="0" smtClean="0"/>
          </a:p>
          <a:p>
            <a:pPr lvl="2">
              <a:buNone/>
            </a:pPr>
            <a:r>
              <a:rPr kumimoji="1" lang="en-US" altLang="zh-CN" dirty="0" err="1" smtClean="0">
                <a:solidFill>
                  <a:srgbClr val="000000"/>
                </a:solidFill>
              </a:rPr>
              <a:t>memset</a:t>
            </a:r>
            <a:r>
              <a:rPr kumimoji="1" lang="en-US" altLang="zh-CN" dirty="0" smtClean="0">
                <a:solidFill>
                  <a:srgbClr val="000000"/>
                </a:solidFill>
              </a:rPr>
              <a:t>(&amp;myad,0,sizeof(</a:t>
            </a:r>
            <a:r>
              <a:rPr kumimoji="1" lang="en-US" altLang="zh-CN" dirty="0" err="1" smtClean="0">
                <a:solidFill>
                  <a:srgbClr val="000000"/>
                </a:solidFill>
              </a:rPr>
              <a:t>struct</a:t>
            </a:r>
            <a:r>
              <a:rPr kumimoji="1" lang="en-US" altLang="zh-CN" dirty="0" smtClean="0">
                <a:solidFill>
                  <a:srgbClr val="000000"/>
                </a:solidFill>
              </a:rPr>
              <a:t> </a:t>
            </a:r>
            <a:r>
              <a:rPr kumimoji="1" lang="en-US" altLang="zh-CN" dirty="0" err="1" smtClean="0">
                <a:solidFill>
                  <a:srgbClr val="000000"/>
                </a:solidFill>
              </a:rPr>
              <a:t>sockaddr_in</a:t>
            </a:r>
            <a:r>
              <a:rPr kumimoji="1" lang="en-US" altLang="zh-CN" dirty="0" smtClean="0">
                <a:solidFill>
                  <a:srgbClr val="000000"/>
                </a:solidFill>
              </a:rPr>
              <a:t>));</a:t>
            </a:r>
          </a:p>
          <a:p>
            <a:pPr lvl="1"/>
            <a:r>
              <a:rPr kumimoji="1" lang="zh-CN" altLang="en-US" dirty="0" smtClean="0"/>
              <a:t>然后，为这个结构赋值，比如：</a:t>
            </a:r>
          </a:p>
          <a:p>
            <a:pPr lvl="2">
              <a:buNone/>
            </a:pPr>
            <a:r>
              <a:rPr kumimoji="1" lang="en-US" altLang="zh-CN" dirty="0" err="1" smtClean="0">
                <a:solidFill>
                  <a:srgbClr val="000000"/>
                </a:solidFill>
              </a:rPr>
              <a:t>myad.sin_family</a:t>
            </a:r>
            <a:r>
              <a:rPr kumimoji="1" lang="en-US" altLang="zh-CN" dirty="0" smtClean="0">
                <a:solidFill>
                  <a:srgbClr val="000000"/>
                </a:solidFill>
              </a:rPr>
              <a:t>=AF_INET;</a:t>
            </a:r>
            <a:endParaRPr kumimoji="1" lang="en-US" altLang="zh-CN" dirty="0" smtClean="0"/>
          </a:p>
          <a:p>
            <a:pPr lvl="2">
              <a:buNone/>
            </a:pPr>
            <a:r>
              <a:rPr kumimoji="1" lang="en-US" altLang="zh-CN" dirty="0" err="1" smtClean="0">
                <a:solidFill>
                  <a:srgbClr val="000000"/>
                </a:solidFill>
              </a:rPr>
              <a:t>myad.sin_port</a:t>
            </a:r>
            <a:r>
              <a:rPr kumimoji="1" lang="en-US" altLang="zh-CN" dirty="0" smtClean="0">
                <a:solidFill>
                  <a:srgbClr val="000000"/>
                </a:solidFill>
              </a:rPr>
              <a:t>=</a:t>
            </a:r>
            <a:r>
              <a:rPr kumimoji="1" lang="en-US" altLang="zh-CN" dirty="0" err="1" smtClean="0">
                <a:solidFill>
                  <a:srgbClr val="000000"/>
                </a:solidFill>
              </a:rPr>
              <a:t>htons</a:t>
            </a:r>
            <a:r>
              <a:rPr kumimoji="1" lang="en-US" altLang="zh-CN" dirty="0" smtClean="0">
                <a:solidFill>
                  <a:srgbClr val="000000"/>
                </a:solidFill>
              </a:rPr>
              <a:t>(8080); </a:t>
            </a:r>
            <a:endParaRPr kumimoji="1" lang="en-US" altLang="zh-CN" dirty="0" smtClean="0"/>
          </a:p>
          <a:p>
            <a:pPr lvl="2">
              <a:buNone/>
            </a:pPr>
            <a:r>
              <a:rPr kumimoji="1" lang="en-US" altLang="zh-CN" dirty="0" err="1" smtClean="0">
                <a:solidFill>
                  <a:srgbClr val="000000"/>
                </a:solidFill>
              </a:rPr>
              <a:t>myad.sin_addr.s_addr</a:t>
            </a:r>
            <a:r>
              <a:rPr kumimoji="1" lang="en-US" altLang="zh-CN" dirty="0" smtClean="0">
                <a:solidFill>
                  <a:srgbClr val="000000"/>
                </a:solidFill>
              </a:rPr>
              <a:t>=</a:t>
            </a:r>
            <a:r>
              <a:rPr kumimoji="1" lang="en-US" altLang="zh-CN" dirty="0" err="1" smtClean="0">
                <a:solidFill>
                  <a:srgbClr val="000000"/>
                </a:solidFill>
              </a:rPr>
              <a:t>htonl</a:t>
            </a:r>
            <a:r>
              <a:rPr kumimoji="1" lang="en-US" altLang="zh-CN" dirty="0" smtClean="0">
                <a:solidFill>
                  <a:srgbClr val="000000"/>
                </a:solidFill>
              </a:rPr>
              <a:t>(INADDR-ANY);</a:t>
            </a:r>
          </a:p>
          <a:p>
            <a:pPr lvl="1"/>
            <a:r>
              <a:rPr kumimoji="1" lang="zh-CN" altLang="en-US" dirty="0" smtClean="0"/>
              <a:t>第三步：在函数调用中使用时，将这个结构强制转换为</a:t>
            </a:r>
            <a:r>
              <a:rPr kumimoji="1" lang="en-US" altLang="zh-CN" dirty="0" err="1" smtClean="0"/>
              <a:t>sockaddr</a:t>
            </a:r>
            <a:r>
              <a:rPr kumimoji="1" lang="zh-CN" altLang="en-US" dirty="0" smtClean="0"/>
              <a:t>类型。如：</a:t>
            </a:r>
          </a:p>
          <a:p>
            <a:pPr lvl="2">
              <a:buNone/>
            </a:pPr>
            <a:r>
              <a:rPr kumimoji="1" lang="en-US" altLang="zh-CN" dirty="0" smtClean="0">
                <a:solidFill>
                  <a:srgbClr val="000000"/>
                </a:solidFill>
              </a:rPr>
              <a:t>accept(</a:t>
            </a:r>
            <a:r>
              <a:rPr kumimoji="1" lang="en-US" altLang="zh-CN" dirty="0" err="1" smtClean="0">
                <a:solidFill>
                  <a:srgbClr val="000000"/>
                </a:solidFill>
              </a:rPr>
              <a:t>listenfd</a:t>
            </a:r>
            <a:r>
              <a:rPr kumimoji="1" lang="en-US" altLang="zh-CN" dirty="0" smtClean="0">
                <a:solidFill>
                  <a:srgbClr val="000000"/>
                </a:solidFill>
              </a:rPr>
              <a:t>,(</a:t>
            </a:r>
            <a:r>
              <a:rPr kumimoji="1" lang="en-US" altLang="zh-CN" dirty="0" err="1" smtClean="0">
                <a:solidFill>
                  <a:srgbClr val="000000"/>
                </a:solidFill>
              </a:rPr>
              <a:t>sockaddr</a:t>
            </a:r>
            <a:r>
              <a:rPr kumimoji="1" lang="en-US" altLang="zh-CN" dirty="0" smtClean="0">
                <a:solidFill>
                  <a:srgbClr val="000000"/>
                </a:solidFill>
              </a:rPr>
              <a:t>*)(&amp;</a:t>
            </a:r>
            <a:r>
              <a:rPr kumimoji="1" lang="en-US" altLang="zh-CN" dirty="0" err="1" smtClean="0">
                <a:solidFill>
                  <a:srgbClr val="000000"/>
                </a:solidFill>
              </a:rPr>
              <a:t>myad</a:t>
            </a:r>
            <a:r>
              <a:rPr kumimoji="1" lang="en-US" altLang="zh-CN" dirty="0" smtClean="0">
                <a:solidFill>
                  <a:srgbClr val="000000"/>
                </a:solidFill>
              </a:rPr>
              <a:t>),&amp;</a:t>
            </a:r>
            <a:r>
              <a:rPr kumimoji="1" lang="en-US" altLang="zh-CN" dirty="0" err="1" smtClean="0">
                <a:solidFill>
                  <a:srgbClr val="000000"/>
                </a:solidFill>
              </a:rPr>
              <a:t>addrlen</a:t>
            </a:r>
            <a:r>
              <a:rPr kumimoji="1" lang="en-US" altLang="zh-CN" dirty="0" smtClean="0">
                <a:solidFill>
                  <a:srgbClr val="000000"/>
                </a:solidFill>
              </a:rPr>
              <a:t>);</a:t>
            </a:r>
            <a:endParaRPr kumimoji="1" lang="zh-CN" altLang="en-US" dirty="0" smtClean="0">
              <a:solidFill>
                <a:srgbClr val="000000"/>
              </a:solidFill>
            </a:endParaRPr>
          </a:p>
          <a:p>
            <a:endParaRPr lang="zh-CN" altLang="en-US" dirty="0"/>
          </a:p>
        </p:txBody>
      </p:sp>
    </p:spTree>
    <p:extLst>
      <p:ext uri="{BB962C8B-B14F-4D97-AF65-F5344CB8AC3E}">
        <p14:creationId xmlns:p14="http://schemas.microsoft.com/office/powerpoint/2010/main" val="1486166988"/>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本机字节顺序和网络字节顺序</a:t>
            </a:r>
            <a:endParaRPr lang="zh-CN" altLang="en-US" dirty="0"/>
          </a:p>
        </p:txBody>
      </p:sp>
      <p:sp>
        <p:nvSpPr>
          <p:cNvPr id="3" name="内容占位符 2"/>
          <p:cNvSpPr>
            <a:spLocks noGrp="1"/>
          </p:cNvSpPr>
          <p:nvPr>
            <p:ph idx="1"/>
          </p:nvPr>
        </p:nvSpPr>
        <p:spPr/>
        <p:txBody>
          <a:bodyPr>
            <a:noAutofit/>
          </a:bodyPr>
          <a:lstStyle/>
          <a:p>
            <a:r>
              <a:rPr lang="zh-CN" altLang="en-US" sz="2400" dirty="0" smtClean="0"/>
              <a:t>在具体计算机中的多字节数据的存储顺序，称为本机字节顺序。多字节数据在网络协议报头中的存储顺序，称为网络字节顺序。</a:t>
            </a:r>
          </a:p>
          <a:p>
            <a:r>
              <a:rPr lang="zh-CN" altLang="en-US" sz="2400" dirty="0" smtClean="0"/>
              <a:t>在网络上面有着许多类型的机器</a:t>
            </a:r>
            <a:r>
              <a:rPr lang="en-US" altLang="zh-CN" sz="2400" dirty="0" smtClean="0"/>
              <a:t>,</a:t>
            </a:r>
            <a:r>
              <a:rPr lang="zh-CN" altLang="en-US" sz="2400" dirty="0" smtClean="0"/>
              <a:t>这些机器在表示数据的字节顺序是不同的</a:t>
            </a:r>
            <a:r>
              <a:rPr lang="en-US" altLang="zh-CN" sz="2400" dirty="0" smtClean="0"/>
              <a:t>, </a:t>
            </a:r>
            <a:r>
              <a:rPr lang="zh-CN" altLang="en-US" sz="2400" dirty="0" smtClean="0"/>
              <a:t>比如</a:t>
            </a:r>
            <a:r>
              <a:rPr lang="en-US" altLang="zh-CN" sz="2400" dirty="0" smtClean="0"/>
              <a:t>i386</a:t>
            </a:r>
            <a:r>
              <a:rPr lang="zh-CN" altLang="en-US" sz="2400" dirty="0" smtClean="0"/>
              <a:t>芯片是低字节在内存地址的低端</a:t>
            </a:r>
            <a:r>
              <a:rPr lang="en-US" altLang="zh-CN" sz="2400" dirty="0" smtClean="0"/>
              <a:t>,</a:t>
            </a:r>
            <a:r>
              <a:rPr lang="zh-CN" altLang="en-US" sz="2400" dirty="0" smtClean="0"/>
              <a:t>高字节在高端</a:t>
            </a:r>
            <a:r>
              <a:rPr lang="en-US" altLang="zh-CN" sz="2400" dirty="0" smtClean="0"/>
              <a:t>,</a:t>
            </a:r>
            <a:r>
              <a:rPr lang="zh-CN" altLang="en-US" sz="2400" dirty="0" smtClean="0"/>
              <a:t>而</a:t>
            </a:r>
            <a:r>
              <a:rPr lang="en-US" altLang="zh-CN" sz="2400" dirty="0" smtClean="0"/>
              <a:t>alpha</a:t>
            </a:r>
            <a:r>
              <a:rPr lang="zh-CN" altLang="en-US" sz="2400" dirty="0" smtClean="0"/>
              <a:t>芯片却相反</a:t>
            </a:r>
            <a:r>
              <a:rPr lang="en-US" altLang="zh-CN" sz="2400" dirty="0" smtClean="0"/>
              <a:t>. </a:t>
            </a:r>
          </a:p>
          <a:p>
            <a:r>
              <a:rPr lang="zh-CN" altLang="en-US" sz="2400" dirty="0" smtClean="0"/>
              <a:t>为了统一起来</a:t>
            </a:r>
            <a:r>
              <a:rPr lang="en-US" altLang="zh-CN" sz="2400" dirty="0" smtClean="0"/>
              <a:t>,</a:t>
            </a:r>
            <a:r>
              <a:rPr lang="zh-CN" altLang="en-US" sz="2400" dirty="0" smtClean="0"/>
              <a:t>在</a:t>
            </a:r>
            <a:r>
              <a:rPr lang="en-US" altLang="zh-CN" sz="2400" dirty="0" smtClean="0"/>
              <a:t>Linux</a:t>
            </a:r>
            <a:r>
              <a:rPr lang="zh-CN" altLang="en-US" sz="2400" dirty="0" smtClean="0"/>
              <a:t>下面</a:t>
            </a:r>
            <a:r>
              <a:rPr lang="en-US" altLang="zh-CN" sz="2400" dirty="0" smtClean="0"/>
              <a:t>,</a:t>
            </a:r>
            <a:r>
              <a:rPr lang="zh-CN" altLang="en-US" sz="2400" dirty="0" smtClean="0"/>
              <a:t>有专门的字节转换函数</a:t>
            </a:r>
            <a:r>
              <a:rPr lang="en-US" altLang="zh-CN" sz="2400" dirty="0" smtClean="0"/>
              <a:t>. </a:t>
            </a:r>
          </a:p>
          <a:p>
            <a:pPr marL="0" indent="0">
              <a:buNone/>
            </a:pPr>
            <a:r>
              <a:rPr lang="en-US" altLang="zh-CN" sz="2400" dirty="0" smtClean="0"/>
              <a:t>unsigned long </a:t>
            </a:r>
            <a:r>
              <a:rPr lang="en-US" altLang="zh-CN" sz="2400" dirty="0" err="1" smtClean="0"/>
              <a:t>int</a:t>
            </a:r>
            <a:r>
              <a:rPr lang="en-US" altLang="zh-CN" sz="2400" dirty="0" smtClean="0"/>
              <a:t> </a:t>
            </a:r>
            <a:r>
              <a:rPr lang="en-US" altLang="zh-CN" sz="2400" dirty="0" err="1" smtClean="0"/>
              <a:t>htonl</a:t>
            </a:r>
            <a:r>
              <a:rPr lang="en-US" altLang="zh-CN" sz="2400" dirty="0" smtClean="0"/>
              <a:t>(unsigned long </a:t>
            </a:r>
            <a:r>
              <a:rPr lang="en-US" altLang="zh-CN" sz="2400" dirty="0" err="1" smtClean="0"/>
              <a:t>int</a:t>
            </a:r>
            <a:r>
              <a:rPr lang="en-US" altLang="zh-CN" sz="2400" dirty="0" smtClean="0"/>
              <a:t> </a:t>
            </a:r>
            <a:r>
              <a:rPr lang="en-US" altLang="zh-CN" sz="2400" dirty="0" err="1" smtClean="0"/>
              <a:t>hostlong</a:t>
            </a:r>
            <a:r>
              <a:rPr lang="en-US" altLang="zh-CN" sz="2400" dirty="0" smtClean="0"/>
              <a:t>) </a:t>
            </a:r>
            <a:br>
              <a:rPr lang="en-US" altLang="zh-CN" sz="2400" dirty="0" smtClean="0"/>
            </a:br>
            <a:r>
              <a:rPr lang="en-US" altLang="zh-CN" sz="2400" dirty="0" smtClean="0"/>
              <a:t>unsigned short </a:t>
            </a:r>
            <a:r>
              <a:rPr lang="en-US" altLang="zh-CN" sz="2400" dirty="0" err="1" smtClean="0"/>
              <a:t>int</a:t>
            </a:r>
            <a:r>
              <a:rPr lang="en-US" altLang="zh-CN" sz="2400" dirty="0" smtClean="0"/>
              <a:t> </a:t>
            </a:r>
            <a:r>
              <a:rPr lang="en-US" altLang="zh-CN" sz="2400" dirty="0" err="1" smtClean="0"/>
              <a:t>htons</a:t>
            </a:r>
            <a:r>
              <a:rPr lang="en-US" altLang="zh-CN" sz="2400" dirty="0" smtClean="0"/>
              <a:t>(</a:t>
            </a:r>
            <a:r>
              <a:rPr lang="en-US" altLang="zh-CN" sz="2400" dirty="0" err="1" smtClean="0"/>
              <a:t>unisgned</a:t>
            </a:r>
            <a:r>
              <a:rPr lang="en-US" altLang="zh-CN" sz="2400" dirty="0" smtClean="0"/>
              <a:t> short </a:t>
            </a:r>
            <a:r>
              <a:rPr lang="en-US" altLang="zh-CN" sz="2400" dirty="0" err="1" smtClean="0"/>
              <a:t>int</a:t>
            </a:r>
            <a:r>
              <a:rPr lang="en-US" altLang="zh-CN" sz="2400" dirty="0" smtClean="0"/>
              <a:t> </a:t>
            </a:r>
            <a:r>
              <a:rPr lang="en-US" altLang="zh-CN" sz="2400" dirty="0" err="1" smtClean="0"/>
              <a:t>hostshort</a:t>
            </a:r>
            <a:r>
              <a:rPr lang="en-US" altLang="zh-CN" sz="2400" dirty="0" smtClean="0"/>
              <a:t>) </a:t>
            </a:r>
            <a:br>
              <a:rPr lang="en-US" altLang="zh-CN" sz="2400" dirty="0" smtClean="0"/>
            </a:br>
            <a:r>
              <a:rPr lang="en-US" altLang="zh-CN" sz="2400" dirty="0" smtClean="0"/>
              <a:t>unsigned long </a:t>
            </a:r>
            <a:r>
              <a:rPr lang="en-US" altLang="zh-CN" sz="2400" dirty="0" err="1" smtClean="0"/>
              <a:t>int</a:t>
            </a:r>
            <a:r>
              <a:rPr lang="en-US" altLang="zh-CN" sz="2400" dirty="0" smtClean="0"/>
              <a:t> </a:t>
            </a:r>
            <a:r>
              <a:rPr lang="en-US" altLang="zh-CN" sz="2400" dirty="0" err="1" smtClean="0"/>
              <a:t>ntohl</a:t>
            </a:r>
            <a:r>
              <a:rPr lang="en-US" altLang="zh-CN" sz="2400" dirty="0" smtClean="0"/>
              <a:t>(unsigned long </a:t>
            </a:r>
            <a:r>
              <a:rPr lang="en-US" altLang="zh-CN" sz="2400" dirty="0" err="1" smtClean="0"/>
              <a:t>int</a:t>
            </a:r>
            <a:r>
              <a:rPr lang="en-US" altLang="zh-CN" sz="2400" dirty="0" smtClean="0"/>
              <a:t> </a:t>
            </a:r>
            <a:r>
              <a:rPr lang="en-US" altLang="zh-CN" sz="2400" dirty="0" err="1" smtClean="0"/>
              <a:t>netlong</a:t>
            </a:r>
            <a:r>
              <a:rPr lang="en-US" altLang="zh-CN" sz="2400" dirty="0" smtClean="0"/>
              <a:t>) </a:t>
            </a:r>
            <a:br>
              <a:rPr lang="en-US" altLang="zh-CN" sz="2400" dirty="0" smtClean="0"/>
            </a:br>
            <a:r>
              <a:rPr lang="en-US" altLang="zh-CN" sz="2400" dirty="0" smtClean="0"/>
              <a:t>unsigned short </a:t>
            </a:r>
            <a:r>
              <a:rPr lang="en-US" altLang="zh-CN" sz="2400" dirty="0" err="1" smtClean="0"/>
              <a:t>int</a:t>
            </a:r>
            <a:r>
              <a:rPr lang="en-US" altLang="zh-CN" sz="2400" dirty="0" smtClean="0"/>
              <a:t> </a:t>
            </a:r>
            <a:r>
              <a:rPr lang="en-US" altLang="zh-CN" sz="2400" dirty="0" err="1" smtClean="0"/>
              <a:t>ntohs</a:t>
            </a:r>
            <a:r>
              <a:rPr lang="en-US" altLang="zh-CN" sz="2400" dirty="0" smtClean="0"/>
              <a:t>(unsigned short </a:t>
            </a:r>
            <a:r>
              <a:rPr lang="en-US" altLang="zh-CN" sz="2400" dirty="0" err="1" smtClean="0"/>
              <a:t>int</a:t>
            </a:r>
            <a:r>
              <a:rPr lang="en-US" altLang="zh-CN" sz="2400" dirty="0" smtClean="0"/>
              <a:t> </a:t>
            </a:r>
            <a:r>
              <a:rPr lang="en-US" altLang="zh-CN" sz="2400" dirty="0" err="1" smtClean="0"/>
              <a:t>netshort</a:t>
            </a:r>
            <a:r>
              <a:rPr lang="en-US" altLang="zh-CN" sz="2400" dirty="0" smtClean="0"/>
              <a:t>) </a:t>
            </a:r>
          </a:p>
          <a:p>
            <a:r>
              <a:rPr lang="zh-CN" altLang="en-US" sz="2400" dirty="0" smtClean="0"/>
              <a:t>在这四个转换函数中</a:t>
            </a:r>
            <a:r>
              <a:rPr lang="en-US" altLang="zh-CN" sz="2400" dirty="0" smtClean="0"/>
              <a:t>,h </a:t>
            </a:r>
            <a:r>
              <a:rPr lang="zh-CN" altLang="en-US" sz="2400" dirty="0" smtClean="0"/>
              <a:t>代表</a:t>
            </a:r>
            <a:r>
              <a:rPr lang="en-US" altLang="zh-CN" sz="2400" dirty="0" smtClean="0"/>
              <a:t>host, n </a:t>
            </a:r>
            <a:r>
              <a:rPr lang="zh-CN" altLang="en-US" sz="2400" dirty="0" smtClean="0"/>
              <a:t>代表 </a:t>
            </a:r>
            <a:r>
              <a:rPr lang="en-US" altLang="zh-CN" sz="2400" dirty="0" err="1" smtClean="0"/>
              <a:t>network.s</a:t>
            </a:r>
            <a:r>
              <a:rPr lang="en-US" altLang="zh-CN" sz="2400" dirty="0" smtClean="0"/>
              <a:t> </a:t>
            </a:r>
            <a:r>
              <a:rPr lang="zh-CN" altLang="en-US" sz="2400" dirty="0" smtClean="0"/>
              <a:t>代表</a:t>
            </a:r>
            <a:r>
              <a:rPr lang="en-US" altLang="zh-CN" sz="2400" dirty="0" smtClean="0"/>
              <a:t>short l </a:t>
            </a:r>
            <a:r>
              <a:rPr lang="zh-CN" altLang="en-US" sz="2400" dirty="0" smtClean="0"/>
              <a:t>代表</a:t>
            </a:r>
            <a:r>
              <a:rPr lang="en-US" altLang="zh-CN" sz="2400" dirty="0" smtClean="0"/>
              <a:t>long </a:t>
            </a:r>
            <a:r>
              <a:rPr lang="zh-CN" altLang="en-US" sz="2400" dirty="0" smtClean="0"/>
              <a:t>第一个函数的意义是将本机器上的</a:t>
            </a:r>
            <a:r>
              <a:rPr lang="en-US" altLang="zh-CN" sz="2400" dirty="0" smtClean="0"/>
              <a:t>long</a:t>
            </a:r>
            <a:r>
              <a:rPr lang="zh-CN" altLang="en-US" sz="2400" dirty="0" smtClean="0"/>
              <a:t>数据转化为网络上的</a:t>
            </a:r>
            <a:r>
              <a:rPr lang="en-US" altLang="zh-CN" sz="2400" dirty="0" smtClean="0"/>
              <a:t>long. </a:t>
            </a:r>
            <a:r>
              <a:rPr lang="zh-CN" altLang="en-US" sz="2400" dirty="0" smtClean="0"/>
              <a:t>其他几个函数的意义也差不多</a:t>
            </a:r>
            <a:r>
              <a:rPr lang="en-US" altLang="zh-CN" sz="2400" dirty="0" smtClean="0"/>
              <a:t>. </a:t>
            </a:r>
            <a:endParaRPr lang="en-US" altLang="zh-CN" sz="2400" dirty="0"/>
          </a:p>
        </p:txBody>
      </p:sp>
    </p:spTree>
    <p:extLst>
      <p:ext uri="{BB962C8B-B14F-4D97-AF65-F5344CB8AC3E}">
        <p14:creationId xmlns:p14="http://schemas.microsoft.com/office/powerpoint/2010/main" val="2494742743"/>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点分十进制的</a:t>
            </a:r>
            <a:r>
              <a:rPr lang="en-US" altLang="zh-CN" dirty="0" smtClean="0"/>
              <a:t>IP</a:t>
            </a:r>
            <a:r>
              <a:rPr lang="zh-CN" altLang="en-US" dirty="0" smtClean="0"/>
              <a:t>地址的转换</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smtClean="0"/>
              <a:t>(1) </a:t>
            </a:r>
            <a:r>
              <a:rPr lang="en-US" altLang="zh-CN" dirty="0" err="1" smtClean="0"/>
              <a:t>inet_aton</a:t>
            </a:r>
            <a:endParaRPr lang="en-US" altLang="zh-CN" dirty="0" smtClean="0"/>
          </a:p>
          <a:p>
            <a:pPr lvl="1"/>
            <a:r>
              <a:rPr lang="zh-CN" altLang="en-US" dirty="0" smtClean="0"/>
              <a:t>将</a:t>
            </a:r>
            <a:r>
              <a:rPr lang="en-US" altLang="zh-CN" dirty="0" err="1" smtClean="0"/>
              <a:t>strptr</a:t>
            </a:r>
            <a:r>
              <a:rPr lang="zh-CN" altLang="en-US" dirty="0" smtClean="0"/>
              <a:t>所指的字符串转换成</a:t>
            </a:r>
            <a:r>
              <a:rPr lang="en-US" altLang="zh-CN" dirty="0" smtClean="0"/>
              <a:t>32</a:t>
            </a:r>
            <a:r>
              <a:rPr lang="zh-CN" altLang="en-US" dirty="0" smtClean="0"/>
              <a:t>位的网络字节序二进制值。</a:t>
            </a:r>
          </a:p>
          <a:p>
            <a:pPr marL="0" indent="0">
              <a:buNone/>
            </a:pPr>
            <a:r>
              <a:rPr lang="zh-CN" altLang="en-US" dirty="0" smtClean="0"/>
              <a:t> </a:t>
            </a:r>
            <a:r>
              <a:rPr lang="en-US" altLang="zh-CN" dirty="0" smtClean="0"/>
              <a:t>	</a:t>
            </a:r>
            <a:r>
              <a:rPr lang="zh-CN" altLang="en-US" dirty="0" smtClean="0"/>
              <a:t>＃</a:t>
            </a:r>
            <a:r>
              <a:rPr lang="en-US" altLang="zh-CN" dirty="0" smtClean="0"/>
              <a:t>include &lt;</a:t>
            </a:r>
            <a:r>
              <a:rPr lang="en-US" altLang="zh-CN" dirty="0" err="1" smtClean="0"/>
              <a:t>arpa</a:t>
            </a:r>
            <a:r>
              <a:rPr lang="en-US" altLang="zh-CN" dirty="0" smtClean="0"/>
              <a:t>/</a:t>
            </a:r>
            <a:r>
              <a:rPr lang="en-US" altLang="zh-CN" dirty="0" err="1" smtClean="0"/>
              <a:t>inet.h</a:t>
            </a:r>
            <a:r>
              <a:rPr lang="en-US" altLang="zh-CN" dirty="0" smtClean="0"/>
              <a:t>&gt;</a:t>
            </a:r>
          </a:p>
          <a:p>
            <a:pPr marL="0" indent="0">
              <a:buNone/>
            </a:pPr>
            <a:r>
              <a:rPr lang="en-US" altLang="zh-CN" dirty="0" smtClean="0"/>
              <a:t>  	</a:t>
            </a:r>
            <a:r>
              <a:rPr lang="en-US" altLang="zh-CN" dirty="0" err="1" smtClean="0"/>
              <a:t>int</a:t>
            </a:r>
            <a:r>
              <a:rPr lang="en-US" altLang="zh-CN" dirty="0" smtClean="0"/>
              <a:t> </a:t>
            </a:r>
            <a:r>
              <a:rPr lang="en-US" altLang="zh-CN" dirty="0" err="1" smtClean="0"/>
              <a:t>inet_aton</a:t>
            </a:r>
            <a:r>
              <a:rPr lang="en-US" altLang="zh-CN" dirty="0" smtClean="0"/>
              <a:t>(</a:t>
            </a:r>
            <a:r>
              <a:rPr lang="en-US" altLang="zh-CN" dirty="0" err="1" smtClean="0"/>
              <a:t>const</a:t>
            </a:r>
            <a:r>
              <a:rPr lang="en-US" altLang="zh-CN" dirty="0" smtClean="0"/>
              <a:t> char *</a:t>
            </a:r>
            <a:r>
              <a:rPr lang="en-US" altLang="zh-CN" dirty="0" err="1" smtClean="0"/>
              <a:t>strptr,struct</a:t>
            </a:r>
            <a:r>
              <a:rPr lang="en-US" altLang="zh-CN" dirty="0" smtClean="0"/>
              <a:t> </a:t>
            </a:r>
            <a:r>
              <a:rPr lang="en-US" altLang="zh-CN" dirty="0" err="1" smtClean="0"/>
              <a:t>in_addr</a:t>
            </a:r>
            <a:r>
              <a:rPr lang="en-US" altLang="zh-CN" dirty="0" smtClean="0"/>
              <a:t> *</a:t>
            </a:r>
            <a:r>
              <a:rPr lang="en-US" altLang="zh-CN" dirty="0" err="1" smtClean="0"/>
              <a:t>addrptr</a:t>
            </a:r>
            <a:r>
              <a:rPr lang="en-US" altLang="zh-CN" dirty="0" smtClean="0"/>
              <a:t>);</a:t>
            </a:r>
          </a:p>
          <a:p>
            <a:r>
              <a:rPr lang="en-US" altLang="zh-CN" dirty="0" smtClean="0"/>
              <a:t>(2) </a:t>
            </a:r>
            <a:r>
              <a:rPr lang="en-US" altLang="zh-CN" dirty="0" err="1" smtClean="0"/>
              <a:t>inet_addr</a:t>
            </a:r>
            <a:endParaRPr lang="en-US" altLang="zh-CN" dirty="0" smtClean="0"/>
          </a:p>
          <a:p>
            <a:pPr lvl="1"/>
            <a:r>
              <a:rPr lang="zh-CN" altLang="en-US" dirty="0" smtClean="0"/>
              <a:t>功能同上，返回地址。</a:t>
            </a:r>
          </a:p>
          <a:p>
            <a:pPr marL="457200" lvl="1" indent="0">
              <a:buNone/>
            </a:pPr>
            <a:r>
              <a:rPr lang="en-US" altLang="zh-CN" dirty="0" err="1" smtClean="0"/>
              <a:t>int_addr_t</a:t>
            </a:r>
            <a:r>
              <a:rPr lang="en-US" altLang="zh-CN" dirty="0" smtClean="0"/>
              <a:t> </a:t>
            </a:r>
            <a:r>
              <a:rPr lang="en-US" altLang="zh-CN" dirty="0" err="1" smtClean="0"/>
              <a:t>inet_addr</a:t>
            </a:r>
            <a:r>
              <a:rPr lang="en-US" altLang="zh-CN" dirty="0" smtClean="0"/>
              <a:t>(</a:t>
            </a:r>
            <a:r>
              <a:rPr lang="en-US" altLang="zh-CN" dirty="0" err="1" smtClean="0"/>
              <a:t>const</a:t>
            </a:r>
            <a:r>
              <a:rPr lang="en-US" altLang="zh-CN" dirty="0" smtClean="0"/>
              <a:t> char *</a:t>
            </a:r>
            <a:r>
              <a:rPr lang="en-US" altLang="zh-CN" dirty="0" err="1" smtClean="0"/>
              <a:t>strptr</a:t>
            </a:r>
            <a:r>
              <a:rPr lang="en-US" altLang="zh-CN" dirty="0" smtClean="0"/>
              <a:t>);</a:t>
            </a:r>
          </a:p>
          <a:p>
            <a:r>
              <a:rPr lang="en-US" altLang="zh-CN" dirty="0" smtClean="0"/>
              <a:t>(3) </a:t>
            </a:r>
            <a:r>
              <a:rPr lang="en-US" altLang="zh-CN" dirty="0" err="1" smtClean="0"/>
              <a:t>inet_ntoa</a:t>
            </a:r>
            <a:endParaRPr lang="en-US" altLang="zh-CN" dirty="0" smtClean="0"/>
          </a:p>
          <a:p>
            <a:pPr lvl="1"/>
            <a:r>
              <a:rPr lang="zh-CN" altLang="en-US" dirty="0" smtClean="0"/>
              <a:t>将</a:t>
            </a:r>
            <a:r>
              <a:rPr lang="en-US" altLang="zh-CN" dirty="0" smtClean="0"/>
              <a:t>32</a:t>
            </a:r>
            <a:r>
              <a:rPr lang="zh-CN" altLang="en-US" dirty="0" smtClean="0"/>
              <a:t>位网络字节序二进制地址转换成点分十进制的串。 </a:t>
            </a:r>
          </a:p>
          <a:p>
            <a:pPr marL="457200" lvl="1" indent="0">
              <a:buNone/>
            </a:pPr>
            <a:r>
              <a:rPr lang="en-US" altLang="zh-CN" dirty="0" smtClean="0"/>
              <a:t>char *</a:t>
            </a:r>
            <a:r>
              <a:rPr lang="en-US" altLang="zh-CN" dirty="0" err="1" smtClean="0"/>
              <a:t>inet_ntoa</a:t>
            </a:r>
            <a:r>
              <a:rPr lang="en-US" altLang="zh-CN" dirty="0" smtClean="0"/>
              <a:t>(</a:t>
            </a:r>
            <a:r>
              <a:rPr lang="en-US" altLang="zh-CN" dirty="0" err="1" smtClean="0"/>
              <a:t>stuct</a:t>
            </a:r>
            <a:r>
              <a:rPr lang="en-US" altLang="zh-CN" dirty="0" smtClean="0"/>
              <a:t> </a:t>
            </a:r>
            <a:r>
              <a:rPr lang="en-US" altLang="zh-CN" dirty="0" err="1" smtClean="0"/>
              <a:t>in_addr</a:t>
            </a:r>
            <a:r>
              <a:rPr lang="en-US" altLang="zh-CN" dirty="0" smtClean="0"/>
              <a:t> </a:t>
            </a:r>
            <a:r>
              <a:rPr lang="en-US" altLang="zh-CN" dirty="0" err="1" smtClean="0"/>
              <a:t>inaddr</a:t>
            </a:r>
            <a:r>
              <a:rPr lang="en-US" altLang="zh-CN" dirty="0" smtClean="0"/>
              <a:t>);</a:t>
            </a:r>
          </a:p>
          <a:p>
            <a:endParaRPr lang="zh-CN" altLang="en-US" dirty="0"/>
          </a:p>
        </p:txBody>
      </p:sp>
    </p:spTree>
    <p:extLst>
      <p:ext uri="{BB962C8B-B14F-4D97-AF65-F5344CB8AC3E}">
        <p14:creationId xmlns:p14="http://schemas.microsoft.com/office/powerpoint/2010/main" val="1131514016"/>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域名服务</a:t>
            </a:r>
            <a:endParaRPr lang="zh-CN" altLang="en-US" dirty="0"/>
          </a:p>
        </p:txBody>
      </p:sp>
      <p:sp>
        <p:nvSpPr>
          <p:cNvPr id="3" name="内容占位符 2"/>
          <p:cNvSpPr>
            <a:spLocks noGrp="1"/>
          </p:cNvSpPr>
          <p:nvPr>
            <p:ph idx="1"/>
          </p:nvPr>
        </p:nvSpPr>
        <p:spPr>
          <a:xfrm>
            <a:off x="443917" y="1084809"/>
            <a:ext cx="11434893" cy="5479576"/>
          </a:xfrm>
        </p:spPr>
        <p:txBody>
          <a:bodyPr>
            <a:noAutofit/>
          </a:bodyPr>
          <a:lstStyle/>
          <a:p>
            <a:pPr lvl="1"/>
            <a:r>
              <a:rPr lang="zh-CN" altLang="en-US" sz="2000" dirty="0" smtClean="0"/>
              <a:t>在网络上标志一台机器可以用</a:t>
            </a:r>
            <a:r>
              <a:rPr lang="en-US" altLang="zh-CN" sz="2000" dirty="0" smtClean="0"/>
              <a:t>IP</a:t>
            </a:r>
            <a:r>
              <a:rPr lang="zh-CN" altLang="en-US" sz="2000" dirty="0" smtClean="0"/>
              <a:t>或者是用域名</a:t>
            </a:r>
            <a:r>
              <a:rPr lang="en-US" altLang="zh-CN" sz="2000" dirty="0" smtClean="0"/>
              <a:t>.</a:t>
            </a:r>
            <a:r>
              <a:rPr lang="zh-CN" altLang="en-US" sz="2000" dirty="0" smtClean="0"/>
              <a:t>那么我们怎么去进行转换呢</a:t>
            </a:r>
            <a:r>
              <a:rPr lang="en-US" altLang="zh-CN" sz="2000" dirty="0" smtClean="0"/>
              <a:t>?</a:t>
            </a:r>
          </a:p>
          <a:p>
            <a:pPr lvl="2"/>
            <a:r>
              <a:rPr lang="en-US" altLang="zh-CN" dirty="0" smtClean="0">
                <a:latin typeface="华文仿宋" panose="02010600040101010101" pitchFamily="2" charset="-122"/>
              </a:rPr>
              <a:t> </a:t>
            </a:r>
            <a:r>
              <a:rPr lang="en-US" altLang="zh-CN" dirty="0" err="1"/>
              <a:t>struct</a:t>
            </a:r>
            <a:r>
              <a:rPr lang="en-US" altLang="zh-CN" dirty="0">
                <a:latin typeface="华文仿宋" panose="02010600040101010101" pitchFamily="2" charset="-122"/>
              </a:rPr>
              <a:t> </a:t>
            </a:r>
            <a:r>
              <a:rPr lang="en-US" altLang="zh-CN" dirty="0" err="1"/>
              <a:t>hostent</a:t>
            </a:r>
            <a:r>
              <a:rPr lang="en-US" altLang="zh-CN" dirty="0">
                <a:latin typeface="华文仿宋" panose="02010600040101010101" pitchFamily="2" charset="-122"/>
              </a:rPr>
              <a:t> </a:t>
            </a:r>
            <a:r>
              <a:rPr lang="en-US" altLang="zh-CN" dirty="0"/>
              <a:t>*</a:t>
            </a:r>
            <a:r>
              <a:rPr lang="en-US" altLang="zh-CN" dirty="0" err="1"/>
              <a:t>gethostbyname</a:t>
            </a:r>
            <a:r>
              <a:rPr lang="en-US" altLang="zh-CN" dirty="0"/>
              <a:t>(</a:t>
            </a:r>
            <a:r>
              <a:rPr lang="en-US" altLang="zh-CN" dirty="0" err="1"/>
              <a:t>const</a:t>
            </a:r>
            <a:r>
              <a:rPr lang="en-US" altLang="zh-CN" dirty="0">
                <a:latin typeface="华文仿宋" panose="02010600040101010101" pitchFamily="2" charset="-122"/>
              </a:rPr>
              <a:t> </a:t>
            </a:r>
            <a:r>
              <a:rPr lang="en-US" altLang="zh-CN" dirty="0"/>
              <a:t>char</a:t>
            </a:r>
            <a:r>
              <a:rPr lang="en-US" altLang="zh-CN" dirty="0">
                <a:latin typeface="华文仿宋" panose="02010600040101010101" pitchFamily="2" charset="-122"/>
              </a:rPr>
              <a:t> </a:t>
            </a:r>
            <a:r>
              <a:rPr lang="en-US" altLang="zh-CN" dirty="0"/>
              <a:t>*hostname) </a:t>
            </a:r>
          </a:p>
          <a:p>
            <a:pPr lvl="3"/>
            <a:r>
              <a:rPr lang="zh-CN" altLang="en-US" sz="2000" dirty="0" smtClean="0"/>
              <a:t>可以将机器名</a:t>
            </a:r>
            <a:r>
              <a:rPr lang="en-US" altLang="zh-CN" sz="2000" dirty="0" smtClean="0"/>
              <a:t>(</a:t>
            </a:r>
            <a:r>
              <a:rPr lang="zh-CN" altLang="en-US" sz="2000" dirty="0" smtClean="0"/>
              <a:t>如 </a:t>
            </a:r>
            <a:r>
              <a:rPr lang="en-US" altLang="zh-CN" sz="2000" dirty="0" smtClean="0"/>
              <a:t>linux.yessun.com)</a:t>
            </a:r>
            <a:r>
              <a:rPr lang="zh-CN" altLang="en-US" sz="2000" dirty="0" smtClean="0"/>
              <a:t>转换为一个结构指针</a:t>
            </a:r>
            <a:r>
              <a:rPr lang="en-US" altLang="zh-CN" sz="2000" dirty="0" smtClean="0"/>
              <a:t>.</a:t>
            </a:r>
            <a:r>
              <a:rPr lang="zh-CN" altLang="en-US" sz="2000" dirty="0" smtClean="0"/>
              <a:t>在这个结构里面储存了域名的信息 </a:t>
            </a:r>
            <a:endParaRPr lang="en-US" altLang="zh-CN" sz="2000" dirty="0" smtClean="0"/>
          </a:p>
          <a:p>
            <a:pPr lvl="2"/>
            <a:r>
              <a:rPr lang="en-US" altLang="zh-CN" dirty="0" smtClean="0">
                <a:latin typeface="华文仿宋" panose="02010600040101010101" pitchFamily="2" charset="-122"/>
              </a:rPr>
              <a:t> </a:t>
            </a:r>
            <a:r>
              <a:rPr lang="en-US" altLang="zh-CN" dirty="0" err="1" smtClean="0"/>
              <a:t>struct</a:t>
            </a:r>
            <a:r>
              <a:rPr lang="en-US" altLang="zh-CN" dirty="0" smtClean="0">
                <a:latin typeface="华文仿宋" panose="02010600040101010101" pitchFamily="2" charset="-122"/>
              </a:rPr>
              <a:t> </a:t>
            </a:r>
            <a:r>
              <a:rPr lang="en-US" altLang="zh-CN" dirty="0" err="1" smtClean="0"/>
              <a:t>hostent</a:t>
            </a:r>
            <a:r>
              <a:rPr lang="en-US" altLang="zh-CN" dirty="0" smtClean="0">
                <a:latin typeface="华文仿宋" panose="02010600040101010101" pitchFamily="2" charset="-122"/>
              </a:rPr>
              <a:t> </a:t>
            </a:r>
            <a:r>
              <a:rPr lang="en-US" altLang="zh-CN" dirty="0" smtClean="0"/>
              <a:t>*</a:t>
            </a:r>
            <a:r>
              <a:rPr lang="en-US" altLang="zh-CN" dirty="0" err="1" smtClean="0"/>
              <a:t>gethostbyaddr</a:t>
            </a:r>
            <a:r>
              <a:rPr lang="en-US" altLang="zh-CN" dirty="0" smtClean="0"/>
              <a:t>(</a:t>
            </a:r>
            <a:r>
              <a:rPr lang="en-US" altLang="zh-CN" dirty="0" err="1" smtClean="0"/>
              <a:t>const</a:t>
            </a:r>
            <a:r>
              <a:rPr lang="en-US" altLang="zh-CN" dirty="0" smtClean="0">
                <a:latin typeface="华文仿宋" panose="02010600040101010101" pitchFamily="2" charset="-122"/>
              </a:rPr>
              <a:t> </a:t>
            </a:r>
            <a:r>
              <a:rPr lang="en-US" altLang="zh-CN" dirty="0" smtClean="0"/>
              <a:t>char</a:t>
            </a:r>
            <a:r>
              <a:rPr lang="en-US" altLang="zh-CN" dirty="0" smtClean="0">
                <a:latin typeface="华文仿宋" panose="02010600040101010101" pitchFamily="2" charset="-122"/>
              </a:rPr>
              <a:t> </a:t>
            </a:r>
            <a:r>
              <a:rPr lang="en-US" altLang="zh-CN" dirty="0" smtClean="0"/>
              <a:t>*</a:t>
            </a:r>
            <a:r>
              <a:rPr lang="en-US" altLang="zh-CN" dirty="0" err="1" smtClean="0"/>
              <a:t>addr,int</a:t>
            </a:r>
            <a:r>
              <a:rPr lang="en-US" altLang="zh-CN" dirty="0" smtClean="0">
                <a:latin typeface="华文仿宋" panose="02010600040101010101" pitchFamily="2" charset="-122"/>
              </a:rPr>
              <a:t> </a:t>
            </a:r>
            <a:r>
              <a:rPr lang="en-US" altLang="zh-CN" dirty="0" err="1" smtClean="0"/>
              <a:t>len,int</a:t>
            </a:r>
            <a:r>
              <a:rPr lang="en-US" altLang="zh-CN" dirty="0" smtClean="0">
                <a:latin typeface="华文仿宋" panose="02010600040101010101" pitchFamily="2" charset="-122"/>
              </a:rPr>
              <a:t> </a:t>
            </a:r>
            <a:r>
              <a:rPr lang="en-US" altLang="zh-CN" dirty="0" smtClean="0"/>
              <a:t>type) </a:t>
            </a:r>
          </a:p>
          <a:p>
            <a:pPr lvl="3"/>
            <a:r>
              <a:rPr lang="zh-CN" altLang="en-US" sz="2000" dirty="0" smtClean="0"/>
              <a:t>可以将一个</a:t>
            </a:r>
            <a:r>
              <a:rPr lang="en-US" altLang="zh-CN" sz="2000" dirty="0" smtClean="0"/>
              <a:t>32</a:t>
            </a:r>
            <a:r>
              <a:rPr lang="zh-CN" altLang="en-US" sz="2000" dirty="0" smtClean="0"/>
              <a:t>位的</a:t>
            </a:r>
            <a:r>
              <a:rPr lang="en-US" altLang="zh-CN" sz="2000" dirty="0" smtClean="0"/>
              <a:t>IP</a:t>
            </a:r>
            <a:r>
              <a:rPr lang="zh-CN" altLang="en-US" sz="2000" dirty="0" smtClean="0"/>
              <a:t>地址</a:t>
            </a:r>
            <a:r>
              <a:rPr lang="en-US" altLang="zh-CN" sz="2000" dirty="0" smtClean="0"/>
              <a:t>(C0A80001)</a:t>
            </a:r>
            <a:r>
              <a:rPr lang="zh-CN" altLang="en-US" sz="2000" dirty="0" smtClean="0"/>
              <a:t>转换为结构指针</a:t>
            </a:r>
            <a:r>
              <a:rPr lang="en-US" altLang="zh-CN" sz="2000" dirty="0" smtClean="0"/>
              <a:t>. </a:t>
            </a:r>
          </a:p>
          <a:p>
            <a:pPr lvl="3"/>
            <a:r>
              <a:rPr lang="zh-CN" altLang="en-US" sz="2000" dirty="0" smtClean="0"/>
              <a:t>这两个函数失败时返回</a:t>
            </a:r>
            <a:r>
              <a:rPr lang="en-US" altLang="zh-CN" sz="2000" dirty="0" smtClean="0"/>
              <a:t>NULL </a:t>
            </a:r>
            <a:r>
              <a:rPr lang="zh-CN" altLang="en-US" sz="2000" dirty="0" smtClean="0"/>
              <a:t>且设置</a:t>
            </a:r>
            <a:r>
              <a:rPr lang="en-US" altLang="zh-CN" sz="2000" dirty="0" err="1" smtClean="0"/>
              <a:t>h_errno</a:t>
            </a:r>
            <a:r>
              <a:rPr lang="zh-CN" altLang="en-US" sz="2000" dirty="0" smtClean="0"/>
              <a:t>错误变量</a:t>
            </a:r>
            <a:r>
              <a:rPr lang="en-US" altLang="zh-CN" sz="2000" dirty="0" smtClean="0"/>
              <a:t>,</a:t>
            </a:r>
            <a:r>
              <a:rPr lang="zh-CN" altLang="en-US" sz="2000" dirty="0" smtClean="0"/>
              <a:t>调用</a:t>
            </a:r>
            <a:r>
              <a:rPr lang="en-US" altLang="zh-CN" sz="2000" dirty="0" err="1" smtClean="0"/>
              <a:t>h_strerror</a:t>
            </a:r>
            <a:r>
              <a:rPr lang="en-US" altLang="zh-CN" sz="2000" dirty="0" smtClean="0"/>
              <a:t>()</a:t>
            </a:r>
            <a:r>
              <a:rPr lang="zh-CN" altLang="en-US" sz="2000" dirty="0" smtClean="0"/>
              <a:t>可以得到详细的出错信息</a:t>
            </a:r>
            <a:r>
              <a:rPr lang="en-US" altLang="zh-CN" sz="2000" dirty="0" smtClean="0"/>
              <a:t> </a:t>
            </a:r>
          </a:p>
          <a:p>
            <a:pPr lvl="1"/>
            <a:r>
              <a:rPr lang="en-US" altLang="zh-CN" sz="2000" dirty="0" err="1" smtClean="0"/>
              <a:t>struct</a:t>
            </a:r>
            <a:r>
              <a:rPr lang="en-US" altLang="zh-CN" sz="2000" dirty="0" smtClean="0"/>
              <a:t> </a:t>
            </a:r>
            <a:r>
              <a:rPr lang="en-US" altLang="zh-CN" sz="2000" dirty="0" err="1" smtClean="0"/>
              <a:t>hostent</a:t>
            </a:r>
            <a:r>
              <a:rPr lang="zh-CN" altLang="en-US" sz="2000" dirty="0" smtClean="0"/>
              <a:t>的定义</a:t>
            </a:r>
            <a:r>
              <a:rPr lang="en-US" altLang="zh-CN" sz="2000" dirty="0" smtClean="0"/>
              <a:t>: </a:t>
            </a:r>
            <a:br>
              <a:rPr lang="en-US" altLang="zh-CN" sz="2000" dirty="0" smtClean="0"/>
            </a:br>
            <a:r>
              <a:rPr lang="en-US" altLang="zh-CN" sz="2000" dirty="0" smtClean="0"/>
              <a:t> </a:t>
            </a:r>
            <a:r>
              <a:rPr lang="en-US" altLang="zh-CN" sz="2000" dirty="0" err="1" smtClean="0">
                <a:solidFill>
                  <a:schemeClr val="tx1"/>
                </a:solidFill>
              </a:rPr>
              <a:t>struct</a:t>
            </a:r>
            <a:r>
              <a:rPr lang="en-US" altLang="zh-CN" sz="2000" dirty="0" smtClean="0">
                <a:solidFill>
                  <a:schemeClr val="tx1"/>
                </a:solidFill>
              </a:rPr>
              <a:t> </a:t>
            </a:r>
            <a:r>
              <a:rPr lang="en-US" altLang="zh-CN" sz="2000" dirty="0" err="1" smtClean="0">
                <a:solidFill>
                  <a:schemeClr val="tx1"/>
                </a:solidFill>
              </a:rPr>
              <a:t>hostent</a:t>
            </a:r>
            <a:r>
              <a:rPr lang="en-US" altLang="zh-CN" sz="2000" dirty="0" smtClean="0">
                <a:solidFill>
                  <a:schemeClr val="tx1"/>
                </a:solidFill>
              </a:rPr>
              <a:t>{ </a:t>
            </a:r>
            <a:br>
              <a:rPr lang="en-US" altLang="zh-CN" sz="2000" dirty="0" smtClean="0">
                <a:solidFill>
                  <a:schemeClr val="tx1"/>
                </a:solidFill>
              </a:rPr>
            </a:br>
            <a:r>
              <a:rPr lang="en-US" altLang="zh-CN" sz="2000" dirty="0" smtClean="0">
                <a:solidFill>
                  <a:schemeClr val="tx1"/>
                </a:solidFill>
              </a:rPr>
              <a:t>        char *</a:t>
            </a:r>
            <a:r>
              <a:rPr lang="en-US" altLang="zh-CN" sz="2000" dirty="0" err="1" smtClean="0">
                <a:solidFill>
                  <a:schemeClr val="tx1"/>
                </a:solidFill>
              </a:rPr>
              <a:t>h_name</a:t>
            </a:r>
            <a:r>
              <a:rPr lang="en-US" altLang="zh-CN" sz="2000" dirty="0" smtClean="0">
                <a:solidFill>
                  <a:schemeClr val="tx1"/>
                </a:solidFill>
              </a:rPr>
              <a:t>;           /* </a:t>
            </a:r>
            <a:r>
              <a:rPr lang="zh-CN" altLang="en-US" sz="2000" dirty="0" smtClean="0">
                <a:solidFill>
                  <a:schemeClr val="tx1"/>
                </a:solidFill>
              </a:rPr>
              <a:t>主机的正式名称  *</a:t>
            </a:r>
            <a:r>
              <a:rPr lang="en-US" altLang="zh-CN" sz="2000" dirty="0" smtClean="0">
                <a:solidFill>
                  <a:schemeClr val="tx1"/>
                </a:solidFill>
              </a:rPr>
              <a:t>/ </a:t>
            </a:r>
            <a:br>
              <a:rPr lang="en-US" altLang="zh-CN" sz="2000" dirty="0" smtClean="0">
                <a:solidFill>
                  <a:schemeClr val="tx1"/>
                </a:solidFill>
              </a:rPr>
            </a:br>
            <a:r>
              <a:rPr lang="en-US" altLang="zh-CN" sz="2000" dirty="0" smtClean="0">
                <a:solidFill>
                  <a:schemeClr val="tx1"/>
                </a:solidFill>
              </a:rPr>
              <a:t>        char *</a:t>
            </a:r>
            <a:r>
              <a:rPr lang="en-US" altLang="zh-CN" sz="2000" dirty="0" err="1" smtClean="0">
                <a:solidFill>
                  <a:schemeClr val="tx1"/>
                </a:solidFill>
              </a:rPr>
              <a:t>h_aliases</a:t>
            </a:r>
            <a:r>
              <a:rPr lang="en-US" altLang="zh-CN" sz="2000" dirty="0" smtClean="0">
                <a:solidFill>
                  <a:schemeClr val="tx1"/>
                </a:solidFill>
              </a:rPr>
              <a:t>;        /* </a:t>
            </a:r>
            <a:r>
              <a:rPr lang="zh-CN" altLang="en-US" sz="2000" dirty="0" smtClean="0">
                <a:solidFill>
                  <a:schemeClr val="tx1"/>
                </a:solidFill>
              </a:rPr>
              <a:t>主机的别名 *</a:t>
            </a:r>
            <a:r>
              <a:rPr lang="en-US" altLang="zh-CN" sz="2000" dirty="0" smtClean="0">
                <a:solidFill>
                  <a:schemeClr val="tx1"/>
                </a:solidFill>
              </a:rPr>
              <a:t>/ </a:t>
            </a:r>
            <a:br>
              <a:rPr lang="en-US" altLang="zh-CN" sz="2000" dirty="0" smtClean="0">
                <a:solidFill>
                  <a:schemeClr val="tx1"/>
                </a:solidFill>
              </a:rPr>
            </a:br>
            <a:r>
              <a:rPr lang="en-US" altLang="zh-CN" sz="2000" dirty="0" smtClean="0">
                <a:solidFill>
                  <a:schemeClr val="tx1"/>
                </a:solidFill>
              </a:rPr>
              <a:t>        </a:t>
            </a:r>
            <a:r>
              <a:rPr lang="en-US" altLang="zh-CN" sz="2000" dirty="0" err="1" smtClean="0">
                <a:solidFill>
                  <a:schemeClr val="tx1"/>
                </a:solidFill>
              </a:rPr>
              <a:t>int</a:t>
            </a:r>
            <a:r>
              <a:rPr lang="en-US" altLang="zh-CN" sz="2000" dirty="0" smtClean="0">
                <a:solidFill>
                  <a:schemeClr val="tx1"/>
                </a:solidFill>
              </a:rPr>
              <a:t>   </a:t>
            </a:r>
            <a:r>
              <a:rPr lang="en-US" altLang="zh-CN" sz="2000" dirty="0" err="1" smtClean="0">
                <a:solidFill>
                  <a:schemeClr val="tx1"/>
                </a:solidFill>
              </a:rPr>
              <a:t>h_addrtype</a:t>
            </a:r>
            <a:r>
              <a:rPr lang="en-US" altLang="zh-CN" sz="2000" dirty="0" smtClean="0">
                <a:solidFill>
                  <a:schemeClr val="tx1"/>
                </a:solidFill>
              </a:rPr>
              <a:t>;       /* </a:t>
            </a:r>
            <a:r>
              <a:rPr lang="zh-CN" altLang="en-US" sz="2000" dirty="0" smtClean="0">
                <a:solidFill>
                  <a:schemeClr val="tx1"/>
                </a:solidFill>
              </a:rPr>
              <a:t>主机的地址类型  </a:t>
            </a:r>
            <a:r>
              <a:rPr lang="en-US" altLang="zh-CN" sz="2000" dirty="0" smtClean="0">
                <a:solidFill>
                  <a:schemeClr val="tx1"/>
                </a:solidFill>
              </a:rPr>
              <a:t>AF_INET*/ </a:t>
            </a:r>
            <a:br>
              <a:rPr lang="en-US" altLang="zh-CN" sz="2000" dirty="0" smtClean="0">
                <a:solidFill>
                  <a:schemeClr val="tx1"/>
                </a:solidFill>
              </a:rPr>
            </a:br>
            <a:r>
              <a:rPr lang="en-US" altLang="zh-CN" sz="2000" dirty="0" smtClean="0">
                <a:solidFill>
                  <a:schemeClr val="tx1"/>
                </a:solidFill>
              </a:rPr>
              <a:t>        </a:t>
            </a:r>
            <a:r>
              <a:rPr lang="en-US" altLang="zh-CN" sz="2000" dirty="0" err="1" smtClean="0">
                <a:solidFill>
                  <a:schemeClr val="tx1"/>
                </a:solidFill>
              </a:rPr>
              <a:t>int</a:t>
            </a:r>
            <a:r>
              <a:rPr lang="en-US" altLang="zh-CN" sz="2000" dirty="0" smtClean="0">
                <a:solidFill>
                  <a:schemeClr val="tx1"/>
                </a:solidFill>
              </a:rPr>
              <a:t>   </a:t>
            </a:r>
            <a:r>
              <a:rPr lang="en-US" altLang="zh-CN" sz="2000" dirty="0" err="1" smtClean="0">
                <a:solidFill>
                  <a:schemeClr val="tx1"/>
                </a:solidFill>
              </a:rPr>
              <a:t>h_length</a:t>
            </a:r>
            <a:r>
              <a:rPr lang="en-US" altLang="zh-CN" sz="2000" dirty="0" smtClean="0">
                <a:solidFill>
                  <a:schemeClr val="tx1"/>
                </a:solidFill>
              </a:rPr>
              <a:t>;         /* </a:t>
            </a:r>
            <a:r>
              <a:rPr lang="zh-CN" altLang="en-US" sz="2000" dirty="0" smtClean="0">
                <a:solidFill>
                  <a:schemeClr val="tx1"/>
                </a:solidFill>
              </a:rPr>
              <a:t>主机的地址长度  对于</a:t>
            </a:r>
            <a:r>
              <a:rPr lang="en-US" altLang="zh-CN" sz="2000" dirty="0" smtClean="0">
                <a:solidFill>
                  <a:schemeClr val="tx1"/>
                </a:solidFill>
              </a:rPr>
              <a:t>IP4 </a:t>
            </a:r>
            <a:r>
              <a:rPr lang="zh-CN" altLang="en-US" sz="2000" dirty="0" smtClean="0">
                <a:solidFill>
                  <a:schemeClr val="tx1"/>
                </a:solidFill>
              </a:rPr>
              <a:t>是</a:t>
            </a:r>
            <a:r>
              <a:rPr lang="en-US" altLang="zh-CN" sz="2000" dirty="0" smtClean="0">
                <a:solidFill>
                  <a:schemeClr val="tx1"/>
                </a:solidFill>
              </a:rPr>
              <a:t>4</a:t>
            </a:r>
            <a:r>
              <a:rPr lang="zh-CN" altLang="en-US" sz="2000" dirty="0" smtClean="0">
                <a:solidFill>
                  <a:schemeClr val="tx1"/>
                </a:solidFill>
              </a:rPr>
              <a:t>字节</a:t>
            </a:r>
            <a:r>
              <a:rPr lang="en-US" altLang="zh-CN" sz="2000" dirty="0" smtClean="0">
                <a:solidFill>
                  <a:schemeClr val="tx1"/>
                </a:solidFill>
              </a:rPr>
              <a:t>32</a:t>
            </a:r>
            <a:r>
              <a:rPr lang="zh-CN" altLang="en-US" sz="2000" dirty="0" smtClean="0">
                <a:solidFill>
                  <a:schemeClr val="tx1"/>
                </a:solidFill>
              </a:rPr>
              <a:t>位*</a:t>
            </a:r>
            <a:r>
              <a:rPr lang="en-US" altLang="zh-CN" sz="2000" dirty="0" smtClean="0">
                <a:solidFill>
                  <a:schemeClr val="tx1"/>
                </a:solidFill>
              </a:rPr>
              <a:t>/ </a:t>
            </a:r>
            <a:br>
              <a:rPr lang="en-US" altLang="zh-CN" sz="2000" dirty="0" smtClean="0">
                <a:solidFill>
                  <a:schemeClr val="tx1"/>
                </a:solidFill>
              </a:rPr>
            </a:br>
            <a:r>
              <a:rPr lang="en-US" altLang="zh-CN" sz="2000" dirty="0" smtClean="0">
                <a:solidFill>
                  <a:schemeClr val="tx1"/>
                </a:solidFill>
              </a:rPr>
              <a:t>        char **</a:t>
            </a:r>
            <a:r>
              <a:rPr lang="en-US" altLang="zh-CN" sz="2000" dirty="0" err="1" smtClean="0">
                <a:solidFill>
                  <a:schemeClr val="tx1"/>
                </a:solidFill>
              </a:rPr>
              <a:t>h_addr_list</a:t>
            </a:r>
            <a:r>
              <a:rPr lang="en-US" altLang="zh-CN" sz="2000" dirty="0" smtClean="0">
                <a:solidFill>
                  <a:schemeClr val="tx1"/>
                </a:solidFill>
              </a:rPr>
              <a:t>;     /* </a:t>
            </a:r>
            <a:r>
              <a:rPr lang="zh-CN" altLang="en-US" sz="2000" dirty="0" smtClean="0">
                <a:solidFill>
                  <a:schemeClr val="tx1"/>
                </a:solidFill>
              </a:rPr>
              <a:t>主机的</a:t>
            </a:r>
            <a:r>
              <a:rPr lang="en-US" altLang="zh-CN" sz="2000" dirty="0" smtClean="0">
                <a:solidFill>
                  <a:schemeClr val="tx1"/>
                </a:solidFill>
              </a:rPr>
              <a:t>IP</a:t>
            </a:r>
            <a:r>
              <a:rPr lang="zh-CN" altLang="en-US" sz="2000" dirty="0" smtClean="0">
                <a:solidFill>
                  <a:schemeClr val="tx1"/>
                </a:solidFill>
              </a:rPr>
              <a:t>地址列表 *</a:t>
            </a:r>
            <a:r>
              <a:rPr lang="en-US" altLang="zh-CN" sz="2000" dirty="0" smtClean="0">
                <a:solidFill>
                  <a:schemeClr val="tx1"/>
                </a:solidFill>
              </a:rPr>
              <a:t>/ </a:t>
            </a:r>
            <a:br>
              <a:rPr lang="en-US" altLang="zh-CN" sz="2000" dirty="0" smtClean="0">
                <a:solidFill>
                  <a:schemeClr val="tx1"/>
                </a:solidFill>
              </a:rPr>
            </a:br>
            <a:r>
              <a:rPr lang="en-US" altLang="zh-CN" sz="2000" dirty="0" smtClean="0">
                <a:solidFill>
                  <a:schemeClr val="tx1"/>
                </a:solidFill>
              </a:rPr>
              <a:t>        } </a:t>
            </a:r>
            <a:br>
              <a:rPr lang="en-US" altLang="zh-CN" sz="2000" dirty="0" smtClean="0">
                <a:solidFill>
                  <a:schemeClr val="tx1"/>
                </a:solidFill>
              </a:rPr>
            </a:br>
            <a:r>
              <a:rPr lang="en-US" altLang="zh-CN" sz="2000" dirty="0" smtClean="0">
                <a:solidFill>
                  <a:schemeClr val="tx1"/>
                </a:solidFill>
              </a:rPr>
              <a:t>  #define </a:t>
            </a:r>
            <a:r>
              <a:rPr lang="en-US" altLang="zh-CN" sz="2000" dirty="0" err="1" smtClean="0">
                <a:solidFill>
                  <a:schemeClr val="tx1"/>
                </a:solidFill>
              </a:rPr>
              <a:t>h_addr</a:t>
            </a:r>
            <a:r>
              <a:rPr lang="en-US" altLang="zh-CN" sz="2000" dirty="0" smtClean="0">
                <a:solidFill>
                  <a:schemeClr val="tx1"/>
                </a:solidFill>
              </a:rPr>
              <a:t> </a:t>
            </a:r>
            <a:r>
              <a:rPr lang="en-US" altLang="zh-CN" sz="2000" dirty="0" err="1" smtClean="0">
                <a:solidFill>
                  <a:schemeClr val="tx1"/>
                </a:solidFill>
              </a:rPr>
              <a:t>h_addr_list</a:t>
            </a:r>
            <a:r>
              <a:rPr lang="en-US" altLang="zh-CN" sz="2000" dirty="0" smtClean="0">
                <a:solidFill>
                  <a:schemeClr val="tx1"/>
                </a:solidFill>
              </a:rPr>
              <a:t>[0]  /* </a:t>
            </a:r>
            <a:r>
              <a:rPr lang="zh-CN" altLang="en-US" sz="2000" dirty="0" smtClean="0">
                <a:solidFill>
                  <a:schemeClr val="tx1"/>
                </a:solidFill>
              </a:rPr>
              <a:t>主机的第一个</a:t>
            </a:r>
            <a:r>
              <a:rPr lang="en-US" altLang="zh-CN" sz="2000" dirty="0" smtClean="0">
                <a:solidFill>
                  <a:schemeClr val="tx1"/>
                </a:solidFill>
              </a:rPr>
              <a:t>IP</a:t>
            </a:r>
            <a:r>
              <a:rPr lang="zh-CN" altLang="en-US" sz="2000" dirty="0" smtClean="0">
                <a:solidFill>
                  <a:schemeClr val="tx1"/>
                </a:solidFill>
              </a:rPr>
              <a:t>地址*</a:t>
            </a:r>
            <a:r>
              <a:rPr lang="en-US" altLang="zh-CN" sz="2000" dirty="0" smtClean="0">
                <a:solidFill>
                  <a:schemeClr val="tx1"/>
                </a:solidFill>
              </a:rPr>
              <a:t>/</a:t>
            </a:r>
            <a:endParaRPr lang="zh-CN" altLang="en-US" sz="2000" dirty="0"/>
          </a:p>
        </p:txBody>
      </p:sp>
    </p:spTree>
    <p:extLst>
      <p:ext uri="{BB962C8B-B14F-4D97-AF65-F5344CB8AC3E}">
        <p14:creationId xmlns:p14="http://schemas.microsoft.com/office/powerpoint/2010/main" val="2682104849"/>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978" y="176169"/>
            <a:ext cx="10515600" cy="885095"/>
          </a:xfrm>
        </p:spPr>
        <p:txBody>
          <a:bodyPr/>
          <a:lstStyle/>
          <a:p>
            <a:r>
              <a:rPr lang="zh-CN" altLang="en-US" dirty="0" smtClean="0"/>
              <a:t>套接字的工作过程</a:t>
            </a:r>
            <a:endParaRPr lang="zh-CN" altLang="en-US" dirty="0"/>
          </a:p>
        </p:txBody>
      </p:sp>
      <p:pic>
        <p:nvPicPr>
          <p:cNvPr id="5" name="Picture 4" descr="图形2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444" y="1311085"/>
            <a:ext cx="8569325" cy="544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9480873"/>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初等网络函数</a:t>
            </a:r>
            <a:endParaRPr lang="zh-CN" altLang="en-US" dirty="0"/>
          </a:p>
        </p:txBody>
      </p:sp>
      <p:sp>
        <p:nvSpPr>
          <p:cNvPr id="3" name="内容占位符 2"/>
          <p:cNvSpPr>
            <a:spLocks noGrp="1"/>
          </p:cNvSpPr>
          <p:nvPr>
            <p:ph idx="1"/>
          </p:nvPr>
        </p:nvSpPr>
        <p:spPr>
          <a:xfrm>
            <a:off x="838200" y="1378424"/>
            <a:ext cx="10515600" cy="5158854"/>
          </a:xfrm>
        </p:spPr>
        <p:txBody>
          <a:bodyPr>
            <a:normAutofit fontScale="70000" lnSpcReduction="20000"/>
          </a:bodyPr>
          <a:lstStyle/>
          <a:p>
            <a:r>
              <a:rPr lang="en-US" altLang="zh-CN" b="0" dirty="0" smtClean="0">
                <a:latin typeface="Times New Roman" panose="02020603050405020304" pitchFamily="18" charset="0"/>
              </a:rPr>
              <a:t>1 socket </a:t>
            </a:r>
          </a:p>
          <a:p>
            <a:pPr lvl="1"/>
            <a:r>
              <a:rPr lang="en-US" altLang="zh-CN" dirty="0" smtClean="0">
                <a:latin typeface="Times New Roman" panose="02020603050405020304" pitchFamily="18" charset="0"/>
              </a:rPr>
              <a:t>#include &lt;sys/</a:t>
            </a:r>
            <a:r>
              <a:rPr lang="en-US" altLang="zh-CN" dirty="0" err="1" smtClean="0">
                <a:latin typeface="Times New Roman" panose="02020603050405020304" pitchFamily="18" charset="0"/>
              </a:rPr>
              <a:t>socket.h</a:t>
            </a:r>
            <a:r>
              <a:rPr lang="en-US" altLang="zh-CN" dirty="0" smtClean="0">
                <a:latin typeface="Times New Roman" panose="02020603050405020304" pitchFamily="18" charset="0"/>
              </a:rPr>
              <a:t>&gt;</a:t>
            </a:r>
          </a:p>
          <a:p>
            <a:pPr lvl="1"/>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socket(</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domain,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type,int</a:t>
            </a:r>
            <a:r>
              <a:rPr lang="en-US" altLang="zh-CN" dirty="0" smtClean="0">
                <a:latin typeface="Times New Roman" panose="02020603050405020304" pitchFamily="18" charset="0"/>
              </a:rPr>
              <a:t> protocol) </a:t>
            </a:r>
          </a:p>
          <a:p>
            <a:pPr lvl="1"/>
            <a:r>
              <a:rPr lang="en-US" altLang="zh-CN" dirty="0" smtClean="0">
                <a:latin typeface="Times New Roman" panose="02020603050405020304" pitchFamily="18" charset="0"/>
              </a:rPr>
              <a:t>socket</a:t>
            </a:r>
            <a:r>
              <a:rPr lang="zh-CN" altLang="en-US" dirty="0" smtClean="0"/>
              <a:t>为网络通讯做基本的准备</a:t>
            </a:r>
            <a:r>
              <a:rPr lang="en-US" altLang="zh-CN" dirty="0" smtClean="0">
                <a:latin typeface="Times New Roman" panose="02020603050405020304" pitchFamily="18" charset="0"/>
              </a:rPr>
              <a:t>.</a:t>
            </a:r>
            <a:r>
              <a:rPr lang="zh-CN" altLang="en-US" dirty="0" smtClean="0"/>
              <a:t>成功时返回文件描述符</a:t>
            </a:r>
            <a:r>
              <a:rPr lang="en-US" altLang="zh-CN" dirty="0" smtClean="0">
                <a:latin typeface="Times New Roman" panose="02020603050405020304" pitchFamily="18" charset="0"/>
              </a:rPr>
              <a:t>,</a:t>
            </a:r>
            <a:r>
              <a:rPr lang="zh-CN" altLang="en-US" dirty="0" smtClean="0"/>
              <a:t>失败时返回</a:t>
            </a:r>
            <a:r>
              <a:rPr lang="en-US" altLang="zh-CN" dirty="0" smtClean="0">
                <a:latin typeface="Times New Roman" panose="02020603050405020304" pitchFamily="18" charset="0"/>
              </a:rPr>
              <a:t>-1</a:t>
            </a:r>
            <a:r>
              <a:rPr lang="zh-CN" altLang="en-US" dirty="0" smtClean="0"/>
              <a:t>。</a:t>
            </a:r>
          </a:p>
          <a:p>
            <a:pPr lvl="1"/>
            <a:r>
              <a:rPr lang="zh-CN" altLang="en-US" dirty="0" smtClean="0"/>
              <a:t>通过</a:t>
            </a:r>
            <a:r>
              <a:rPr lang="en-US" altLang="zh-CN" dirty="0" err="1" smtClean="0">
                <a:latin typeface="Times New Roman" panose="02020603050405020304" pitchFamily="18" charset="0"/>
              </a:rPr>
              <a:t>errno</a:t>
            </a:r>
            <a:r>
              <a:rPr lang="zh-CN" altLang="en-US" dirty="0" smtClean="0"/>
              <a:t>可知道出错的详细情况</a:t>
            </a:r>
            <a:r>
              <a:rPr lang="en-US" altLang="zh-CN" dirty="0" smtClean="0">
                <a:latin typeface="Times New Roman" panose="02020603050405020304" pitchFamily="18" charset="0"/>
              </a:rPr>
              <a:t>. </a:t>
            </a:r>
          </a:p>
          <a:p>
            <a:r>
              <a:rPr lang="zh-CN" altLang="en-US" dirty="0" smtClean="0"/>
              <a:t>参数说明：</a:t>
            </a:r>
          </a:p>
          <a:p>
            <a:pPr lvl="1"/>
            <a:r>
              <a:rPr lang="en-US" altLang="zh-CN" b="0" dirty="0" smtClean="0">
                <a:latin typeface="Times New Roman" panose="02020603050405020304" pitchFamily="18" charset="0"/>
              </a:rPr>
              <a:t>domain:</a:t>
            </a:r>
            <a:r>
              <a:rPr lang="zh-CN" altLang="en-US" dirty="0" smtClean="0"/>
              <a:t>说明我们网络程序所在的主机采用的通讯协族</a:t>
            </a:r>
            <a:r>
              <a:rPr lang="en-US" altLang="zh-CN" dirty="0" smtClean="0">
                <a:latin typeface="Times New Roman" panose="02020603050405020304" pitchFamily="18" charset="0"/>
              </a:rPr>
              <a:t>(AF_UNIX</a:t>
            </a:r>
            <a:r>
              <a:rPr lang="zh-CN" altLang="en-US" dirty="0" smtClean="0"/>
              <a:t>和</a:t>
            </a:r>
            <a:r>
              <a:rPr lang="en-US" altLang="zh-CN" dirty="0" smtClean="0">
                <a:latin typeface="Times New Roman" panose="02020603050405020304" pitchFamily="18" charset="0"/>
              </a:rPr>
              <a:t>AF_INET</a:t>
            </a:r>
            <a:r>
              <a:rPr lang="zh-CN" altLang="en-US" dirty="0" smtClean="0"/>
              <a:t>等</a:t>
            </a:r>
            <a:r>
              <a:rPr lang="en-US" altLang="zh-CN" dirty="0" smtClean="0">
                <a:latin typeface="Times New Roman" panose="02020603050405020304" pitchFamily="18" charset="0"/>
              </a:rPr>
              <a:t>)</a:t>
            </a:r>
            <a:r>
              <a:rPr lang="zh-CN" altLang="en-US" dirty="0" smtClean="0"/>
              <a:t>。</a:t>
            </a:r>
          </a:p>
          <a:p>
            <a:pPr lvl="2"/>
            <a:r>
              <a:rPr lang="en-US" altLang="zh-CN" dirty="0" smtClean="0">
                <a:latin typeface="Times New Roman" panose="02020603050405020304" pitchFamily="18" charset="0"/>
              </a:rPr>
              <a:t>AF_UNIX</a:t>
            </a:r>
            <a:r>
              <a:rPr lang="zh-CN" altLang="en-US" dirty="0" smtClean="0"/>
              <a:t>只能够用于单一的</a:t>
            </a:r>
            <a:r>
              <a:rPr lang="en-US" altLang="zh-CN" dirty="0" smtClean="0">
                <a:latin typeface="Times New Roman" panose="02020603050405020304" pitchFamily="18" charset="0"/>
              </a:rPr>
              <a:t>Unix</a:t>
            </a:r>
            <a:r>
              <a:rPr lang="zh-CN" altLang="en-US" dirty="0" smtClean="0"/>
              <a:t>系统进程间通信</a:t>
            </a:r>
            <a:r>
              <a:rPr lang="en-US" altLang="zh-CN" dirty="0" smtClean="0">
                <a:latin typeface="Times New Roman" panose="02020603050405020304" pitchFamily="18" charset="0"/>
              </a:rPr>
              <a:t>,</a:t>
            </a:r>
            <a:r>
              <a:rPr lang="zh-CN" altLang="en-US" dirty="0" smtClean="0"/>
              <a:t>而</a:t>
            </a:r>
            <a:r>
              <a:rPr lang="en-US" altLang="zh-CN" dirty="0" smtClean="0">
                <a:latin typeface="Times New Roman" panose="02020603050405020304" pitchFamily="18" charset="0"/>
              </a:rPr>
              <a:t>AF_INET</a:t>
            </a:r>
            <a:r>
              <a:rPr lang="zh-CN" altLang="en-US" dirty="0" smtClean="0"/>
              <a:t>是针对</a:t>
            </a:r>
            <a:r>
              <a:rPr lang="en-US" altLang="zh-CN" dirty="0" smtClean="0">
                <a:latin typeface="Times New Roman" panose="02020603050405020304" pitchFamily="18" charset="0"/>
              </a:rPr>
              <a:t>Internet</a:t>
            </a:r>
            <a:r>
              <a:rPr lang="zh-CN" altLang="en-US" dirty="0" smtClean="0"/>
              <a:t>的</a:t>
            </a:r>
            <a:r>
              <a:rPr lang="en-US" altLang="zh-CN" dirty="0" smtClean="0">
                <a:latin typeface="Times New Roman" panose="02020603050405020304" pitchFamily="18" charset="0"/>
              </a:rPr>
              <a:t>,</a:t>
            </a:r>
            <a:r>
              <a:rPr lang="zh-CN" altLang="en-US" dirty="0" smtClean="0"/>
              <a:t>因而可以允许在远程主机之间通信</a:t>
            </a:r>
          </a:p>
          <a:p>
            <a:pPr lvl="2"/>
            <a:r>
              <a:rPr lang="zh-CN" altLang="en-US" dirty="0" smtClean="0"/>
              <a:t>当我们</a:t>
            </a:r>
            <a:r>
              <a:rPr lang="zh-CN" altLang="en-US" dirty="0" smtClean="0">
                <a:latin typeface="Times New Roman" panose="02020603050405020304" pitchFamily="18" charset="0"/>
              </a:rPr>
              <a:t> </a:t>
            </a:r>
            <a:r>
              <a:rPr lang="en-US" altLang="zh-CN" dirty="0" smtClean="0">
                <a:latin typeface="Times New Roman" panose="02020603050405020304" pitchFamily="18" charset="0"/>
              </a:rPr>
              <a:t>man socket</a:t>
            </a:r>
            <a:r>
              <a:rPr lang="zh-CN" altLang="en-US" dirty="0" smtClean="0"/>
              <a:t>时发现</a:t>
            </a:r>
            <a:r>
              <a:rPr lang="zh-CN" altLang="en-US" dirty="0" smtClean="0">
                <a:latin typeface="Times New Roman" panose="02020603050405020304" pitchFamily="18" charset="0"/>
              </a:rPr>
              <a:t> </a:t>
            </a:r>
            <a:r>
              <a:rPr lang="en-US" altLang="zh-CN" dirty="0" smtClean="0">
                <a:latin typeface="Times New Roman" panose="02020603050405020304" pitchFamily="18" charset="0"/>
              </a:rPr>
              <a:t>domain</a:t>
            </a:r>
            <a:r>
              <a:rPr lang="zh-CN" altLang="en-US" dirty="0" smtClean="0"/>
              <a:t>可选项是</a:t>
            </a:r>
            <a:r>
              <a:rPr lang="zh-CN" altLang="en-US" dirty="0" smtClean="0">
                <a:latin typeface="Times New Roman" panose="02020603050405020304" pitchFamily="18" charset="0"/>
              </a:rPr>
              <a:t> </a:t>
            </a:r>
            <a:r>
              <a:rPr lang="en-US" altLang="zh-CN" dirty="0" smtClean="0">
                <a:latin typeface="Times New Roman" panose="02020603050405020304" pitchFamily="18" charset="0"/>
              </a:rPr>
              <a:t>PF_*</a:t>
            </a:r>
            <a:r>
              <a:rPr lang="zh-CN" altLang="en-US" dirty="0" smtClean="0"/>
              <a:t>而不是</a:t>
            </a:r>
            <a:r>
              <a:rPr lang="en-US" altLang="zh-CN" dirty="0" smtClean="0">
                <a:latin typeface="Times New Roman" panose="02020603050405020304" pitchFamily="18" charset="0"/>
              </a:rPr>
              <a:t>AF_*,</a:t>
            </a:r>
            <a:r>
              <a:rPr lang="zh-CN" altLang="en-US" dirty="0" smtClean="0"/>
              <a:t>因为</a:t>
            </a:r>
            <a:r>
              <a:rPr lang="en-US" altLang="zh-CN" dirty="0" err="1" smtClean="0">
                <a:latin typeface="Times New Roman" panose="02020603050405020304" pitchFamily="18" charset="0"/>
              </a:rPr>
              <a:t>glibc</a:t>
            </a:r>
            <a:r>
              <a:rPr lang="zh-CN" altLang="en-US" dirty="0" smtClean="0"/>
              <a:t>是</a:t>
            </a:r>
            <a:r>
              <a:rPr lang="en-US" altLang="zh-CN" dirty="0" err="1" smtClean="0">
                <a:latin typeface="Times New Roman" panose="02020603050405020304" pitchFamily="18" charset="0"/>
              </a:rPr>
              <a:t>posix</a:t>
            </a:r>
            <a:r>
              <a:rPr lang="zh-CN" altLang="en-US" dirty="0" smtClean="0"/>
              <a:t>的实现</a:t>
            </a:r>
            <a:r>
              <a:rPr lang="zh-CN" altLang="en-US" dirty="0" smtClean="0">
                <a:latin typeface="Times New Roman" panose="02020603050405020304" pitchFamily="18" charset="0"/>
              </a:rPr>
              <a:t> </a:t>
            </a:r>
            <a:r>
              <a:rPr lang="zh-CN" altLang="en-US" dirty="0" smtClean="0"/>
              <a:t>所以用</a:t>
            </a:r>
            <a:r>
              <a:rPr lang="en-US" altLang="zh-CN" dirty="0" smtClean="0">
                <a:latin typeface="Times New Roman" panose="02020603050405020304" pitchFamily="18" charset="0"/>
              </a:rPr>
              <a:t>PF</a:t>
            </a:r>
            <a:r>
              <a:rPr lang="zh-CN" altLang="en-US" dirty="0" smtClean="0"/>
              <a:t>代替了</a:t>
            </a:r>
            <a:r>
              <a:rPr lang="en-US" altLang="zh-CN" dirty="0" smtClean="0">
                <a:latin typeface="Times New Roman" panose="02020603050405020304" pitchFamily="18" charset="0"/>
              </a:rPr>
              <a:t>AF,</a:t>
            </a:r>
            <a:r>
              <a:rPr lang="zh-CN" altLang="en-US" dirty="0" smtClean="0"/>
              <a:t>不过我们都可以使用的</a:t>
            </a:r>
            <a:r>
              <a:rPr lang="en-US" altLang="zh-CN" dirty="0" smtClean="0">
                <a:latin typeface="Times New Roman" panose="02020603050405020304" pitchFamily="18" charset="0"/>
              </a:rPr>
              <a:t>. </a:t>
            </a:r>
          </a:p>
          <a:p>
            <a:pPr lvl="1"/>
            <a:r>
              <a:rPr lang="en-US" altLang="zh-CN" b="0" dirty="0" smtClean="0">
                <a:latin typeface="Times New Roman" panose="02020603050405020304" pitchFamily="18" charset="0"/>
              </a:rPr>
              <a:t>type:</a:t>
            </a:r>
            <a:r>
              <a:rPr lang="zh-CN" altLang="en-US" dirty="0" smtClean="0"/>
              <a:t>我们网络程序所采用的通讯协议。</a:t>
            </a:r>
          </a:p>
          <a:p>
            <a:pPr lvl="2"/>
            <a:r>
              <a:rPr lang="en-US" altLang="zh-CN" dirty="0" smtClean="0">
                <a:latin typeface="Times New Roman" panose="02020603050405020304" pitchFamily="18" charset="0"/>
              </a:rPr>
              <a:t>SOCK_STREAM</a:t>
            </a:r>
            <a:r>
              <a:rPr lang="zh-CN" altLang="en-US" dirty="0" smtClean="0"/>
              <a:t>表明我们用的是</a:t>
            </a:r>
            <a:r>
              <a:rPr lang="en-US" altLang="zh-CN" dirty="0" smtClean="0">
                <a:latin typeface="Times New Roman" panose="02020603050405020304" pitchFamily="18" charset="0"/>
              </a:rPr>
              <a:t>TCP</a:t>
            </a:r>
            <a:r>
              <a:rPr lang="zh-CN" altLang="en-US" dirty="0" smtClean="0"/>
              <a:t>协议</a:t>
            </a:r>
            <a:r>
              <a:rPr lang="en-US" altLang="zh-CN" dirty="0" smtClean="0">
                <a:latin typeface="Times New Roman" panose="02020603050405020304" pitchFamily="18" charset="0"/>
              </a:rPr>
              <a:t>,</a:t>
            </a:r>
            <a:r>
              <a:rPr lang="zh-CN" altLang="en-US" dirty="0" smtClean="0"/>
              <a:t>这样会提供按顺序的</a:t>
            </a:r>
            <a:r>
              <a:rPr lang="en-US" altLang="zh-CN" dirty="0" smtClean="0">
                <a:latin typeface="Times New Roman" panose="02020603050405020304" pitchFamily="18" charset="0"/>
              </a:rPr>
              <a:t>,</a:t>
            </a:r>
            <a:r>
              <a:rPr lang="zh-CN" altLang="en-US" dirty="0" smtClean="0"/>
              <a:t>可靠</a:t>
            </a:r>
            <a:r>
              <a:rPr lang="en-US" altLang="zh-CN" dirty="0" smtClean="0">
                <a:latin typeface="Times New Roman" panose="02020603050405020304" pitchFamily="18" charset="0"/>
              </a:rPr>
              <a:t>,</a:t>
            </a:r>
            <a:r>
              <a:rPr lang="zh-CN" altLang="en-US" dirty="0" smtClean="0"/>
              <a:t>双向</a:t>
            </a:r>
            <a:r>
              <a:rPr lang="en-US" altLang="zh-CN" dirty="0" smtClean="0">
                <a:latin typeface="Times New Roman" panose="02020603050405020304" pitchFamily="18" charset="0"/>
              </a:rPr>
              <a:t>,</a:t>
            </a:r>
            <a:r>
              <a:rPr lang="zh-CN" altLang="en-US" dirty="0" smtClean="0"/>
              <a:t>面向连接的比特流</a:t>
            </a:r>
            <a:r>
              <a:rPr lang="en-US" altLang="zh-CN" dirty="0" smtClean="0">
                <a:latin typeface="Times New Roman" panose="02020603050405020304" pitchFamily="18" charset="0"/>
              </a:rPr>
              <a:t>.</a:t>
            </a:r>
          </a:p>
          <a:p>
            <a:pPr lvl="2"/>
            <a:r>
              <a:rPr lang="en-US" altLang="zh-CN" dirty="0" smtClean="0">
                <a:latin typeface="Times New Roman" panose="02020603050405020304" pitchFamily="18" charset="0"/>
              </a:rPr>
              <a:t> SOCK_DGRAM </a:t>
            </a:r>
            <a:r>
              <a:rPr lang="zh-CN" altLang="en-US" dirty="0" smtClean="0"/>
              <a:t>表明我们用的是</a:t>
            </a:r>
            <a:r>
              <a:rPr lang="en-US" altLang="zh-CN" dirty="0" smtClean="0">
                <a:latin typeface="Times New Roman" panose="02020603050405020304" pitchFamily="18" charset="0"/>
              </a:rPr>
              <a:t>UDP</a:t>
            </a:r>
            <a:r>
              <a:rPr lang="zh-CN" altLang="en-US" dirty="0" smtClean="0"/>
              <a:t>协议</a:t>
            </a:r>
            <a:r>
              <a:rPr lang="en-US" altLang="zh-CN" dirty="0" smtClean="0">
                <a:latin typeface="Times New Roman" panose="02020603050405020304" pitchFamily="18" charset="0"/>
              </a:rPr>
              <a:t>,</a:t>
            </a:r>
            <a:r>
              <a:rPr lang="zh-CN" altLang="en-US" dirty="0" smtClean="0"/>
              <a:t>这样只会提供定长的</a:t>
            </a:r>
            <a:r>
              <a:rPr lang="en-US" altLang="zh-CN" dirty="0" smtClean="0">
                <a:latin typeface="Times New Roman" panose="02020603050405020304" pitchFamily="18" charset="0"/>
              </a:rPr>
              <a:t>,</a:t>
            </a:r>
            <a:r>
              <a:rPr lang="zh-CN" altLang="en-US" dirty="0" smtClean="0"/>
              <a:t>不可靠</a:t>
            </a:r>
            <a:r>
              <a:rPr lang="en-US" altLang="zh-CN" dirty="0" smtClean="0">
                <a:latin typeface="Times New Roman" panose="02020603050405020304" pitchFamily="18" charset="0"/>
              </a:rPr>
              <a:t>,</a:t>
            </a:r>
            <a:r>
              <a:rPr lang="zh-CN" altLang="en-US" dirty="0" smtClean="0"/>
              <a:t>无连接的通信。</a:t>
            </a:r>
            <a:r>
              <a:rPr lang="zh-CN" altLang="en-US" dirty="0" smtClean="0">
                <a:latin typeface="Times New Roman" panose="02020603050405020304" pitchFamily="18" charset="0"/>
              </a:rPr>
              <a:t> </a:t>
            </a:r>
          </a:p>
          <a:p>
            <a:pPr lvl="2"/>
            <a:r>
              <a:rPr lang="en-US" altLang="zh-CN" dirty="0" smtClean="0">
                <a:latin typeface="Times New Roman" panose="02020603050405020304" pitchFamily="18" charset="0"/>
              </a:rPr>
              <a:t>SOCK_RAW </a:t>
            </a:r>
            <a:r>
              <a:rPr lang="zh-CN" altLang="en-US" dirty="0" smtClean="0"/>
              <a:t>原始套接字，用来直接访问</a:t>
            </a:r>
            <a:r>
              <a:rPr lang="en-US" altLang="zh-CN" dirty="0" smtClean="0">
                <a:latin typeface="Times New Roman" panose="02020603050405020304" pitchFamily="18" charset="0"/>
              </a:rPr>
              <a:t>IP</a:t>
            </a:r>
            <a:r>
              <a:rPr lang="zh-CN" altLang="en-US" dirty="0" smtClean="0"/>
              <a:t>协议。</a:t>
            </a:r>
          </a:p>
          <a:p>
            <a:pPr lvl="1"/>
            <a:r>
              <a:rPr lang="en-US" altLang="zh-CN" b="0" dirty="0" smtClean="0">
                <a:latin typeface="Times New Roman" panose="02020603050405020304" pitchFamily="18" charset="0"/>
              </a:rPr>
              <a:t>protocol:</a:t>
            </a:r>
            <a:r>
              <a:rPr lang="zh-CN" altLang="en-US" dirty="0" smtClean="0"/>
              <a:t>由于我们指定了</a:t>
            </a:r>
            <a:r>
              <a:rPr lang="en-US" altLang="zh-CN" dirty="0" smtClean="0">
                <a:latin typeface="Times New Roman" panose="02020603050405020304" pitchFamily="18" charset="0"/>
              </a:rPr>
              <a:t>type,</a:t>
            </a:r>
            <a:r>
              <a:rPr lang="zh-CN" altLang="en-US" dirty="0" smtClean="0"/>
              <a:t>所以这个地方我们一般只要用</a:t>
            </a:r>
            <a:r>
              <a:rPr lang="en-US" altLang="zh-CN" dirty="0" smtClean="0">
                <a:latin typeface="Times New Roman" panose="02020603050405020304" pitchFamily="18" charset="0"/>
              </a:rPr>
              <a:t>0</a:t>
            </a:r>
            <a:r>
              <a:rPr lang="zh-CN" altLang="en-US" dirty="0" smtClean="0"/>
              <a:t>来代替就可以了。</a:t>
            </a:r>
          </a:p>
          <a:p>
            <a:endParaRPr lang="zh-CN" altLang="en-US" dirty="0"/>
          </a:p>
        </p:txBody>
      </p:sp>
    </p:spTree>
    <p:extLst>
      <p:ext uri="{BB962C8B-B14F-4D97-AF65-F5344CB8AC3E}">
        <p14:creationId xmlns:p14="http://schemas.microsoft.com/office/powerpoint/2010/main" val="1383535075"/>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初等网络函数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b="0" dirty="0" smtClean="0">
                <a:latin typeface="Times New Roman" panose="02020603050405020304" pitchFamily="18" charset="0"/>
              </a:rPr>
              <a:t>2 bind </a:t>
            </a:r>
          </a:p>
          <a:p>
            <a:pPr lvl="1"/>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bind(</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sockfd</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my_addr</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addrlen</a:t>
            </a:r>
            <a:r>
              <a:rPr lang="en-US" altLang="zh-CN" dirty="0" smtClean="0">
                <a:latin typeface="Times New Roman" panose="02020603050405020304" pitchFamily="18" charset="0"/>
              </a:rPr>
              <a:t>) </a:t>
            </a:r>
          </a:p>
          <a:p>
            <a:pPr lvl="1"/>
            <a:r>
              <a:rPr lang="en-US" altLang="zh-CN" dirty="0" smtClean="0">
                <a:latin typeface="Times New Roman" panose="02020603050405020304" pitchFamily="18" charset="0"/>
              </a:rPr>
              <a:t>bind</a:t>
            </a:r>
            <a:r>
              <a:rPr lang="zh-CN" altLang="en-US" dirty="0" smtClean="0"/>
              <a:t>将本地的端口同</a:t>
            </a:r>
            <a:r>
              <a:rPr lang="en-US" altLang="zh-CN" dirty="0" smtClean="0">
                <a:latin typeface="Times New Roman" panose="02020603050405020304" pitchFamily="18" charset="0"/>
              </a:rPr>
              <a:t>socket</a:t>
            </a:r>
            <a:r>
              <a:rPr lang="zh-CN" altLang="en-US" dirty="0" smtClean="0"/>
              <a:t>返回的文件描述符捆绑在一起</a:t>
            </a:r>
            <a:r>
              <a:rPr lang="en-US" altLang="zh-CN" dirty="0" smtClean="0">
                <a:latin typeface="Times New Roman" panose="02020603050405020304" pitchFamily="18" charset="0"/>
              </a:rPr>
              <a:t>.</a:t>
            </a:r>
          </a:p>
          <a:p>
            <a:pPr lvl="1"/>
            <a:r>
              <a:rPr lang="zh-CN" altLang="en-US" dirty="0" smtClean="0"/>
              <a:t>成功是返回</a:t>
            </a:r>
            <a:r>
              <a:rPr lang="en-US" altLang="zh-CN" dirty="0" smtClean="0">
                <a:latin typeface="Times New Roman" panose="02020603050405020304" pitchFamily="18" charset="0"/>
              </a:rPr>
              <a:t>0,</a:t>
            </a:r>
            <a:r>
              <a:rPr lang="zh-CN" altLang="en-US" dirty="0" smtClean="0"/>
              <a:t>失败的情况和</a:t>
            </a:r>
            <a:r>
              <a:rPr lang="en-US" altLang="zh-CN" dirty="0" smtClean="0">
                <a:latin typeface="Times New Roman" panose="02020603050405020304" pitchFamily="18" charset="0"/>
              </a:rPr>
              <a:t>socket</a:t>
            </a:r>
            <a:r>
              <a:rPr lang="zh-CN" altLang="en-US" dirty="0" smtClean="0"/>
              <a:t>一样。</a:t>
            </a:r>
          </a:p>
          <a:p>
            <a:r>
              <a:rPr lang="zh-CN" altLang="en-US" dirty="0" smtClean="0"/>
              <a:t>参数说明</a:t>
            </a:r>
          </a:p>
          <a:p>
            <a:pPr lvl="1"/>
            <a:r>
              <a:rPr lang="en-US" altLang="zh-CN" b="0" dirty="0" err="1" smtClean="0">
                <a:latin typeface="Times New Roman" panose="02020603050405020304" pitchFamily="18" charset="0"/>
              </a:rPr>
              <a:t>sockfd</a:t>
            </a:r>
            <a:r>
              <a:rPr lang="en-US" altLang="zh-CN" b="0" dirty="0" smtClean="0">
                <a:latin typeface="Times New Roman" panose="02020603050405020304" pitchFamily="18" charset="0"/>
              </a:rPr>
              <a:t>:</a:t>
            </a:r>
            <a:r>
              <a:rPr lang="zh-CN" altLang="en-US" dirty="0" smtClean="0"/>
              <a:t>是由</a:t>
            </a:r>
            <a:r>
              <a:rPr lang="en-US" altLang="zh-CN" dirty="0" smtClean="0">
                <a:latin typeface="Times New Roman" panose="02020603050405020304" pitchFamily="18" charset="0"/>
              </a:rPr>
              <a:t>socket</a:t>
            </a:r>
            <a:r>
              <a:rPr lang="zh-CN" altLang="en-US" dirty="0" smtClean="0"/>
              <a:t>调用返回的文件描述符</a:t>
            </a:r>
            <a:r>
              <a:rPr lang="en-US" altLang="zh-CN" dirty="0" smtClean="0">
                <a:latin typeface="Times New Roman" panose="02020603050405020304" pitchFamily="18" charset="0"/>
              </a:rPr>
              <a:t>. </a:t>
            </a:r>
          </a:p>
          <a:p>
            <a:pPr lvl="1"/>
            <a:r>
              <a:rPr lang="en-US" altLang="zh-CN" b="0" dirty="0" err="1" smtClean="0">
                <a:latin typeface="Times New Roman" panose="02020603050405020304" pitchFamily="18" charset="0"/>
              </a:rPr>
              <a:t>addrlen</a:t>
            </a:r>
            <a:r>
              <a:rPr lang="en-US" altLang="zh-CN" b="0" dirty="0" smtClean="0">
                <a:latin typeface="Times New Roman" panose="02020603050405020304" pitchFamily="18" charset="0"/>
              </a:rPr>
              <a:t>:</a:t>
            </a:r>
            <a:r>
              <a:rPr lang="zh-CN" altLang="en-US" dirty="0" smtClean="0"/>
              <a:t>是</a:t>
            </a:r>
            <a:r>
              <a:rPr lang="en-US" altLang="zh-CN" dirty="0" err="1" smtClean="0">
                <a:latin typeface="Times New Roman" panose="02020603050405020304" pitchFamily="18" charset="0"/>
              </a:rPr>
              <a:t>sockaddr</a:t>
            </a:r>
            <a:r>
              <a:rPr lang="zh-CN" altLang="en-US" dirty="0" smtClean="0"/>
              <a:t>结构的长度</a:t>
            </a:r>
            <a:r>
              <a:rPr lang="en-US" altLang="zh-CN" dirty="0" smtClean="0">
                <a:latin typeface="Times New Roman" panose="02020603050405020304" pitchFamily="18" charset="0"/>
              </a:rPr>
              <a:t>. </a:t>
            </a:r>
          </a:p>
          <a:p>
            <a:pPr lvl="1"/>
            <a:r>
              <a:rPr lang="en-US" altLang="zh-CN" b="0" dirty="0" err="1" smtClean="0">
                <a:latin typeface="Times New Roman" panose="02020603050405020304" pitchFamily="18" charset="0"/>
              </a:rPr>
              <a:t>my_addr</a:t>
            </a:r>
            <a:r>
              <a:rPr lang="en-US" altLang="zh-CN" b="0" dirty="0" smtClean="0">
                <a:latin typeface="Times New Roman" panose="02020603050405020304" pitchFamily="18" charset="0"/>
              </a:rPr>
              <a:t>:</a:t>
            </a:r>
            <a:r>
              <a:rPr lang="zh-CN" altLang="en-US" dirty="0" smtClean="0"/>
              <a:t>是一个指向</a:t>
            </a:r>
            <a:r>
              <a:rPr lang="en-US" altLang="zh-CN" dirty="0" err="1" smtClean="0">
                <a:latin typeface="Times New Roman" panose="02020603050405020304" pitchFamily="18" charset="0"/>
              </a:rPr>
              <a:t>sockaddr</a:t>
            </a:r>
            <a:r>
              <a:rPr lang="zh-CN" altLang="en-US" dirty="0" smtClean="0"/>
              <a:t>的指针</a:t>
            </a:r>
            <a:r>
              <a:rPr lang="en-US" altLang="zh-CN" dirty="0" smtClean="0">
                <a:latin typeface="Times New Roman" panose="02020603050405020304" pitchFamily="18" charset="0"/>
              </a:rPr>
              <a:t>. </a:t>
            </a:r>
          </a:p>
          <a:p>
            <a:pPr lvl="1"/>
            <a:endParaRPr lang="en-US" altLang="zh-CN" dirty="0" smtClean="0">
              <a:latin typeface="Times New Roman" panose="02020603050405020304" pitchFamily="18" charset="0"/>
            </a:endParaRPr>
          </a:p>
          <a:p>
            <a:endParaRPr lang="zh-CN" altLang="en-US" dirty="0"/>
          </a:p>
        </p:txBody>
      </p:sp>
    </p:spTree>
    <p:extLst>
      <p:ext uri="{BB962C8B-B14F-4D97-AF65-F5344CB8AC3E}">
        <p14:creationId xmlns:p14="http://schemas.microsoft.com/office/powerpoint/2010/main" val="1352127101"/>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构造套接字地址举例</a:t>
            </a:r>
            <a:endParaRPr lang="zh-CN" altLang="en-US" dirty="0"/>
          </a:p>
        </p:txBody>
      </p:sp>
      <p:sp>
        <p:nvSpPr>
          <p:cNvPr id="3" name="内容占位符 2"/>
          <p:cNvSpPr>
            <a:spLocks noGrp="1"/>
          </p:cNvSpPr>
          <p:nvPr>
            <p:ph idx="1"/>
          </p:nvPr>
        </p:nvSpPr>
        <p:spPr/>
        <p:txBody>
          <a:bodyPr>
            <a:normAutofit fontScale="85000" lnSpcReduction="20000"/>
          </a:bodyPr>
          <a:lstStyle/>
          <a:p>
            <a:pPr>
              <a:buNone/>
            </a:pP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listenfd</a:t>
            </a:r>
            <a:r>
              <a:rPr lang="zh-CN" altLang="en-US" dirty="0" smtClean="0"/>
              <a:t>；</a:t>
            </a:r>
          </a:p>
          <a:p>
            <a:pPr>
              <a:buNone/>
            </a:pP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sockaddr_in</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server_addr</a:t>
            </a:r>
            <a:r>
              <a:rPr lang="en-US" altLang="zh-CN" dirty="0" smtClean="0">
                <a:latin typeface="Times New Roman" panose="02020603050405020304" pitchFamily="18" charset="0"/>
              </a:rPr>
              <a:t>;</a:t>
            </a:r>
          </a:p>
          <a:p>
            <a:pPr>
              <a:buNone/>
            </a:pPr>
            <a:endParaRPr lang="en-US" altLang="zh-CN" dirty="0" smtClean="0"/>
          </a:p>
          <a:p>
            <a:pPr>
              <a:buNone/>
            </a:pPr>
            <a:r>
              <a:rPr lang="en-US" altLang="zh-CN" dirty="0" err="1" smtClean="0">
                <a:latin typeface="Times New Roman" panose="02020603050405020304" pitchFamily="18" charset="0"/>
                <a:cs typeface="Times New Roman" panose="02020603050405020304" pitchFamily="18" charset="0"/>
              </a:rPr>
              <a:t>listenfd</a:t>
            </a:r>
            <a:r>
              <a:rPr lang="en-US" altLang="zh-CN" dirty="0" smtClean="0">
                <a:latin typeface="Times New Roman" panose="02020603050405020304" pitchFamily="18" charset="0"/>
                <a:cs typeface="Times New Roman" panose="02020603050405020304" pitchFamily="18" charset="0"/>
              </a:rPr>
              <a:t>=socket(AF_INET,SOCK_STREAM,0);</a:t>
            </a:r>
          </a:p>
          <a:p>
            <a:pPr>
              <a:buNone/>
            </a:pPr>
            <a:endParaRPr lang="en-US" altLang="zh-CN" dirty="0" smtClean="0"/>
          </a:p>
          <a:p>
            <a:pPr>
              <a:buNone/>
            </a:pPr>
            <a:r>
              <a:rPr lang="en-US" altLang="zh-CN" dirty="0" err="1" smtClean="0">
                <a:latin typeface="Times New Roman" panose="02020603050405020304" pitchFamily="18" charset="0"/>
              </a:rPr>
              <a:t>bzero</a:t>
            </a:r>
            <a:r>
              <a:rPr lang="en-US" altLang="zh-CN" dirty="0" smtClean="0">
                <a:latin typeface="Times New Roman" panose="02020603050405020304" pitchFamily="18" charset="0"/>
              </a:rPr>
              <a:t>(&amp;</a:t>
            </a:r>
            <a:r>
              <a:rPr lang="en-US" altLang="zh-CN" dirty="0" err="1" smtClean="0">
                <a:latin typeface="Times New Roman" panose="02020603050405020304" pitchFamily="18" charset="0"/>
              </a:rPr>
              <a:t>server_addr,sizeof</a:t>
            </a:r>
            <a:r>
              <a:rPr lang="en-US" altLang="zh-CN" dirty="0" smtClean="0">
                <a:latin typeface="Times New Roman" panose="02020603050405020304" pitchFamily="18" charset="0"/>
              </a:rPr>
              <a:t>(</a:t>
            </a:r>
            <a:r>
              <a:rPr lang="en-US" altLang="zh-CN" dirty="0" err="1" smtClean="0">
                <a:latin typeface="Times New Roman" panose="02020603050405020304" pitchFamily="18" charset="0"/>
              </a:rPr>
              <a:t>server_addr</a:t>
            </a:r>
            <a:r>
              <a:rPr lang="en-US" altLang="zh-CN" dirty="0" smtClean="0">
                <a:latin typeface="Times New Roman" panose="02020603050405020304" pitchFamily="18" charset="0"/>
              </a:rPr>
              <a:t>)); </a:t>
            </a:r>
          </a:p>
          <a:p>
            <a:pPr>
              <a:buNone/>
            </a:pPr>
            <a:r>
              <a:rPr lang="en-US" altLang="zh-CN" dirty="0" err="1" smtClean="0">
                <a:latin typeface="Times New Roman" panose="02020603050405020304" pitchFamily="18" charset="0"/>
              </a:rPr>
              <a:t>server_addr.sin_family</a:t>
            </a:r>
            <a:r>
              <a:rPr lang="en-US" altLang="zh-CN" dirty="0" smtClean="0">
                <a:latin typeface="Times New Roman" panose="02020603050405020304" pitchFamily="18" charset="0"/>
              </a:rPr>
              <a:t>=AF_INET;</a:t>
            </a:r>
          </a:p>
          <a:p>
            <a:pPr>
              <a:buNone/>
            </a:pPr>
            <a:r>
              <a:rPr lang="en-US" altLang="zh-CN" dirty="0" err="1" smtClean="0">
                <a:latin typeface="Times New Roman" panose="02020603050405020304" pitchFamily="18" charset="0"/>
              </a:rPr>
              <a:t>server_addr.sin_port</a:t>
            </a:r>
            <a:r>
              <a:rPr lang="en-US" altLang="zh-CN" dirty="0" smtClean="0">
                <a:latin typeface="Times New Roman" panose="02020603050405020304" pitchFamily="18" charset="0"/>
              </a:rPr>
              <a:t>=</a:t>
            </a:r>
            <a:r>
              <a:rPr lang="en-US" altLang="zh-CN" dirty="0" err="1" smtClean="0">
                <a:latin typeface="Times New Roman" panose="02020603050405020304" pitchFamily="18" charset="0"/>
              </a:rPr>
              <a:t>htons</a:t>
            </a:r>
            <a:r>
              <a:rPr lang="en-US" altLang="zh-CN" dirty="0" smtClean="0">
                <a:latin typeface="Times New Roman" panose="02020603050405020304" pitchFamily="18" charset="0"/>
              </a:rPr>
              <a:t>(80);</a:t>
            </a:r>
          </a:p>
          <a:p>
            <a:pPr>
              <a:buNone/>
            </a:pPr>
            <a:r>
              <a:rPr lang="en-US" altLang="zh-CN" dirty="0" err="1" smtClean="0">
                <a:latin typeface="Times New Roman" panose="02020603050405020304" pitchFamily="18" charset="0"/>
                <a:cs typeface="Times New Roman" panose="02020603050405020304" pitchFamily="18" charset="0"/>
              </a:rPr>
              <a:t>inet_pton</a:t>
            </a:r>
            <a:r>
              <a:rPr lang="en-US" altLang="zh-CN" dirty="0" smtClean="0">
                <a:latin typeface="Times New Roman" panose="02020603050405020304" pitchFamily="18" charset="0"/>
                <a:cs typeface="Times New Roman" panose="02020603050405020304" pitchFamily="18" charset="0"/>
              </a:rPr>
              <a:t>(AF_INET, </a:t>
            </a:r>
            <a:r>
              <a:rPr lang="en-US" altLang="zh-CN" dirty="0" smtClean="0">
                <a:latin typeface="Times New Roman" panose="02020603050405020304" pitchFamily="18" charset="0"/>
              </a:rPr>
              <a:t>“</a:t>
            </a:r>
            <a:r>
              <a:rPr lang="en-US" altLang="zh-CN" dirty="0" smtClean="0"/>
              <a:t>211.83.241.244</a:t>
            </a:r>
            <a:r>
              <a:rPr lang="en-US" altLang="zh-CN" dirty="0" smtClean="0">
                <a:latin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 &amp; </a:t>
            </a:r>
            <a:r>
              <a:rPr lang="en-US" altLang="zh-CN" dirty="0" err="1" smtClean="0">
                <a:latin typeface="Times New Roman" panose="02020603050405020304" pitchFamily="18" charset="0"/>
              </a:rPr>
              <a:t>server_addr</a:t>
            </a:r>
            <a:r>
              <a:rPr lang="en-US" altLang="zh-CN" dirty="0" err="1" smtClean="0">
                <a:latin typeface="Times New Roman" panose="02020603050405020304" pitchFamily="18" charset="0"/>
                <a:cs typeface="Times New Roman" panose="02020603050405020304" pitchFamily="18" charset="0"/>
              </a:rPr>
              <a:t>.sin_addr</a:t>
            </a:r>
            <a:r>
              <a:rPr lang="en-US" altLang="zh-CN" dirty="0" smtClean="0">
                <a:latin typeface="Times New Roman" panose="02020603050405020304" pitchFamily="18" charset="0"/>
                <a:cs typeface="Times New Roman" panose="02020603050405020304" pitchFamily="18" charset="0"/>
              </a:rPr>
              <a:t>)</a:t>
            </a:r>
            <a:r>
              <a:rPr lang="zh-CN" altLang="en-US" dirty="0" smtClean="0"/>
              <a:t>；</a:t>
            </a:r>
          </a:p>
          <a:p>
            <a:pPr>
              <a:buNone/>
            </a:pPr>
            <a:endParaRPr lang="zh-CN" altLang="en-US" dirty="0" smtClean="0"/>
          </a:p>
          <a:p>
            <a:pPr>
              <a:buNone/>
            </a:pPr>
            <a:r>
              <a:rPr lang="en-US" altLang="zh-CN" dirty="0" smtClean="0">
                <a:latin typeface="Times New Roman" panose="02020603050405020304" pitchFamily="18" charset="0"/>
              </a:rPr>
              <a:t>bind(</a:t>
            </a:r>
            <a:r>
              <a:rPr lang="en-US" altLang="zh-CN" dirty="0" err="1" smtClean="0">
                <a:latin typeface="Times New Roman" panose="02020603050405020304" pitchFamily="18" charset="0"/>
              </a:rPr>
              <a:t>listenfd</a:t>
            </a:r>
            <a:r>
              <a:rPr lang="en-US" altLang="zh-CN" dirty="0" smtClean="0">
                <a:latin typeface="Times New Roman" panose="02020603050405020304" pitchFamily="18" charset="0"/>
              </a:rPr>
              <a:t>,&amp; </a:t>
            </a:r>
            <a:r>
              <a:rPr lang="en-US" altLang="zh-CN" dirty="0" err="1" smtClean="0">
                <a:latin typeface="Times New Roman" panose="02020603050405020304" pitchFamily="18" charset="0"/>
              </a:rPr>
              <a:t>server_addr,sizeof</a:t>
            </a:r>
            <a:r>
              <a:rPr lang="en-US" altLang="zh-CN" dirty="0" smtClean="0">
                <a:latin typeface="Times New Roman" panose="02020603050405020304" pitchFamily="18" charset="0"/>
              </a:rPr>
              <a:t>(</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sockaddr_in</a:t>
            </a:r>
            <a:r>
              <a:rPr lang="en-US" altLang="zh-CN" dirty="0" smtClean="0">
                <a:latin typeface="Times New Roman" panose="02020603050405020304" pitchFamily="18" charset="0"/>
              </a:rPr>
              <a:t>))  </a:t>
            </a:r>
          </a:p>
          <a:p>
            <a:pPr marL="0" indent="0">
              <a:buNone/>
            </a:pPr>
            <a:endParaRPr lang="zh-CN" altLang="en-US" dirty="0"/>
          </a:p>
        </p:txBody>
      </p:sp>
    </p:spTree>
    <p:extLst>
      <p:ext uri="{BB962C8B-B14F-4D97-AF65-F5344CB8AC3E}">
        <p14:creationId xmlns:p14="http://schemas.microsoft.com/office/powerpoint/2010/main" val="3003558019"/>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初等网络函数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b="0" dirty="0" smtClean="0">
                <a:latin typeface="Times New Roman" panose="02020603050405020304" pitchFamily="18" charset="0"/>
              </a:rPr>
              <a:t>3 listen </a:t>
            </a:r>
          </a:p>
          <a:p>
            <a:pPr lvl="1"/>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listen(</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sockfd,int</a:t>
            </a:r>
            <a:r>
              <a:rPr lang="en-US" altLang="zh-CN" dirty="0" smtClean="0">
                <a:latin typeface="Times New Roman" panose="02020603050405020304" pitchFamily="18" charset="0"/>
              </a:rPr>
              <a:t> backlog) </a:t>
            </a:r>
          </a:p>
          <a:p>
            <a:pPr lvl="1"/>
            <a:r>
              <a:rPr lang="en-US" altLang="zh-CN" dirty="0" smtClean="0">
                <a:latin typeface="Times New Roman" panose="02020603050405020304" pitchFamily="18" charset="0"/>
              </a:rPr>
              <a:t>listen</a:t>
            </a:r>
            <a:r>
              <a:rPr lang="zh-CN" altLang="en-US" dirty="0" smtClean="0"/>
              <a:t>函数将</a:t>
            </a:r>
            <a:r>
              <a:rPr lang="en-US" altLang="zh-CN" dirty="0" smtClean="0">
                <a:latin typeface="Times New Roman" panose="02020603050405020304" pitchFamily="18" charset="0"/>
              </a:rPr>
              <a:t>bind</a:t>
            </a:r>
            <a:r>
              <a:rPr lang="zh-CN" altLang="en-US" dirty="0" smtClean="0"/>
              <a:t>的文件描述符变为监听套接字。</a:t>
            </a:r>
          </a:p>
          <a:p>
            <a:pPr lvl="1"/>
            <a:r>
              <a:rPr lang="zh-CN" altLang="en-US" dirty="0" smtClean="0"/>
              <a:t>返回的情况和</a:t>
            </a:r>
            <a:r>
              <a:rPr lang="en-US" altLang="zh-CN" dirty="0" smtClean="0">
                <a:latin typeface="Times New Roman" panose="02020603050405020304" pitchFamily="18" charset="0"/>
              </a:rPr>
              <a:t>bind</a:t>
            </a:r>
            <a:r>
              <a:rPr lang="zh-CN" altLang="en-US" dirty="0" smtClean="0"/>
              <a:t>一样。</a:t>
            </a:r>
          </a:p>
          <a:p>
            <a:r>
              <a:rPr lang="zh-CN" altLang="en-US" dirty="0" smtClean="0"/>
              <a:t>参数说明</a:t>
            </a:r>
          </a:p>
          <a:p>
            <a:pPr lvl="1"/>
            <a:r>
              <a:rPr lang="en-US" altLang="zh-CN" b="0" dirty="0" err="1" smtClean="0">
                <a:latin typeface="Times New Roman" panose="02020603050405020304" pitchFamily="18" charset="0"/>
              </a:rPr>
              <a:t>sockfd</a:t>
            </a:r>
            <a:r>
              <a:rPr lang="en-US" altLang="zh-CN" b="0" dirty="0" smtClean="0">
                <a:latin typeface="Times New Roman" panose="02020603050405020304" pitchFamily="18" charset="0"/>
              </a:rPr>
              <a:t>:</a:t>
            </a:r>
            <a:r>
              <a:rPr lang="zh-CN" altLang="en-US" dirty="0" smtClean="0"/>
              <a:t>是</a:t>
            </a:r>
            <a:r>
              <a:rPr lang="en-US" altLang="zh-CN" dirty="0" smtClean="0">
                <a:latin typeface="Times New Roman" panose="02020603050405020304" pitchFamily="18" charset="0"/>
              </a:rPr>
              <a:t>bind</a:t>
            </a:r>
            <a:r>
              <a:rPr lang="zh-CN" altLang="en-US" dirty="0" smtClean="0"/>
              <a:t>后的文件描述符</a:t>
            </a:r>
            <a:r>
              <a:rPr lang="en-US" altLang="zh-CN" dirty="0" smtClean="0">
                <a:latin typeface="Times New Roman" panose="02020603050405020304" pitchFamily="18" charset="0"/>
              </a:rPr>
              <a:t>.</a:t>
            </a:r>
            <a:r>
              <a:rPr lang="zh-CN" altLang="en-US" dirty="0" smtClean="0"/>
              <a:t>。</a:t>
            </a:r>
          </a:p>
          <a:p>
            <a:pPr lvl="1"/>
            <a:r>
              <a:rPr lang="en-US" altLang="zh-CN" b="0" dirty="0" smtClean="0">
                <a:latin typeface="Times New Roman" panose="02020603050405020304" pitchFamily="18" charset="0"/>
              </a:rPr>
              <a:t>backlog:</a:t>
            </a:r>
            <a:r>
              <a:rPr lang="zh-CN" altLang="en-US" dirty="0" smtClean="0"/>
              <a:t>设置请求排队的最大长度</a:t>
            </a:r>
            <a:r>
              <a:rPr lang="en-US" altLang="zh-CN" dirty="0" smtClean="0">
                <a:latin typeface="Times New Roman" panose="02020603050405020304" pitchFamily="18" charset="0"/>
              </a:rPr>
              <a:t>.</a:t>
            </a:r>
            <a:r>
              <a:rPr lang="zh-CN" altLang="en-US" dirty="0" smtClean="0"/>
              <a:t>当有多个客户端程序和服务端相连时</a:t>
            </a:r>
            <a:r>
              <a:rPr lang="en-US" altLang="zh-CN" dirty="0" smtClean="0">
                <a:latin typeface="Times New Roman" panose="02020603050405020304" pitchFamily="18" charset="0"/>
              </a:rPr>
              <a:t>, </a:t>
            </a:r>
            <a:r>
              <a:rPr lang="zh-CN" altLang="en-US" dirty="0" smtClean="0"/>
              <a:t>使用这个表示可以介绍的排队长度。</a:t>
            </a:r>
          </a:p>
          <a:p>
            <a:endParaRPr lang="zh-CN" altLang="en-US" dirty="0"/>
          </a:p>
        </p:txBody>
      </p:sp>
    </p:spTree>
    <p:extLst>
      <p:ext uri="{BB962C8B-B14F-4D97-AF65-F5344CB8AC3E}">
        <p14:creationId xmlns:p14="http://schemas.microsoft.com/office/powerpoint/2010/main" val="3758647209"/>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初等网络函数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b="0" dirty="0" smtClean="0">
                <a:latin typeface="Times New Roman" panose="02020603050405020304" pitchFamily="18" charset="0"/>
              </a:rPr>
              <a:t>4 accept </a:t>
            </a:r>
          </a:p>
          <a:p>
            <a:pPr lvl="1"/>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accept(</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sockfd</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addr,int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addrlen</a:t>
            </a:r>
            <a:r>
              <a:rPr lang="en-US" altLang="zh-CN" dirty="0" smtClean="0">
                <a:latin typeface="Times New Roman" panose="02020603050405020304" pitchFamily="18" charset="0"/>
              </a:rPr>
              <a:t>)</a:t>
            </a:r>
          </a:p>
          <a:p>
            <a:pPr lvl="1"/>
            <a:r>
              <a:rPr lang="en-US" altLang="zh-CN" dirty="0" smtClean="0">
                <a:latin typeface="Times New Roman" panose="02020603050405020304" pitchFamily="18" charset="0"/>
              </a:rPr>
              <a:t>accept</a:t>
            </a:r>
            <a:r>
              <a:rPr lang="zh-CN" altLang="en-US" dirty="0" smtClean="0"/>
              <a:t>成功时返回最后的服务器端的文件描述符，这个时候服务器端可以向该描述符写信息了。</a:t>
            </a:r>
          </a:p>
          <a:p>
            <a:pPr lvl="1"/>
            <a:r>
              <a:rPr lang="zh-CN" altLang="en-US" dirty="0" smtClean="0"/>
              <a:t>失败时返回</a:t>
            </a:r>
            <a:r>
              <a:rPr lang="en-US" altLang="zh-CN" dirty="0" smtClean="0">
                <a:latin typeface="Times New Roman" panose="02020603050405020304" pitchFamily="18" charset="0"/>
              </a:rPr>
              <a:t>-1 </a:t>
            </a:r>
            <a:r>
              <a:rPr lang="zh-CN" altLang="en-US" dirty="0" smtClean="0"/>
              <a:t>。</a:t>
            </a:r>
          </a:p>
          <a:p>
            <a:r>
              <a:rPr lang="zh-CN" altLang="en-US" dirty="0" smtClean="0"/>
              <a:t>参数说明</a:t>
            </a:r>
          </a:p>
          <a:p>
            <a:pPr lvl="1"/>
            <a:r>
              <a:rPr lang="en-US" altLang="zh-CN" b="0" dirty="0" err="1" smtClean="0">
                <a:latin typeface="Times New Roman" panose="02020603050405020304" pitchFamily="18" charset="0"/>
              </a:rPr>
              <a:t>sockfd</a:t>
            </a:r>
            <a:r>
              <a:rPr lang="en-US" altLang="zh-CN" b="0" dirty="0" smtClean="0">
                <a:latin typeface="Times New Roman" panose="02020603050405020304" pitchFamily="18" charset="0"/>
              </a:rPr>
              <a:t>:</a:t>
            </a:r>
            <a:r>
              <a:rPr lang="zh-CN" altLang="en-US" dirty="0" smtClean="0"/>
              <a:t>是</a:t>
            </a:r>
            <a:r>
              <a:rPr lang="en-US" altLang="zh-CN" dirty="0" smtClean="0">
                <a:latin typeface="Times New Roman" panose="02020603050405020304" pitchFamily="18" charset="0"/>
              </a:rPr>
              <a:t>listen</a:t>
            </a:r>
            <a:r>
              <a:rPr lang="zh-CN" altLang="en-US" dirty="0" smtClean="0"/>
              <a:t>后的文件描述符</a:t>
            </a:r>
            <a:r>
              <a:rPr lang="en-US" altLang="zh-CN" dirty="0" smtClean="0">
                <a:latin typeface="Times New Roman" panose="02020603050405020304" pitchFamily="18" charset="0"/>
              </a:rPr>
              <a:t>.</a:t>
            </a:r>
            <a:r>
              <a:rPr lang="zh-CN" altLang="en-US" dirty="0" smtClean="0"/>
              <a:t>。</a:t>
            </a:r>
          </a:p>
          <a:p>
            <a:pPr lvl="1"/>
            <a:r>
              <a:rPr lang="en-US" altLang="zh-CN" b="0" dirty="0" err="1" smtClean="0">
                <a:latin typeface="Times New Roman" panose="02020603050405020304" pitchFamily="18" charset="0"/>
              </a:rPr>
              <a:t>addr,addrlen</a:t>
            </a:r>
            <a:r>
              <a:rPr lang="zh-CN" altLang="en-US" dirty="0" smtClean="0"/>
              <a:t>是用来给客户端的程序填写的，服务器端只要传递指针就可以了</a:t>
            </a:r>
            <a:r>
              <a:rPr lang="en-US" altLang="zh-CN" dirty="0" smtClean="0">
                <a:latin typeface="Times New Roman" panose="02020603050405020304" pitchFamily="18" charset="0"/>
              </a:rPr>
              <a:t>.</a:t>
            </a:r>
            <a:r>
              <a:rPr lang="zh-CN" altLang="en-US" dirty="0" smtClean="0"/>
              <a:t>。</a:t>
            </a:r>
          </a:p>
          <a:p>
            <a:pPr lvl="1"/>
            <a:r>
              <a:rPr lang="en-US" altLang="zh-CN" dirty="0" err="1" smtClean="0">
                <a:latin typeface="Times New Roman" panose="02020603050405020304" pitchFamily="18" charset="0"/>
              </a:rPr>
              <a:t>bind,listen</a:t>
            </a:r>
            <a:r>
              <a:rPr lang="zh-CN" altLang="en-US" dirty="0" smtClean="0"/>
              <a:t>和</a:t>
            </a:r>
            <a:r>
              <a:rPr lang="en-US" altLang="zh-CN" dirty="0" smtClean="0">
                <a:latin typeface="Times New Roman" panose="02020603050405020304" pitchFamily="18" charset="0"/>
              </a:rPr>
              <a:t>accept</a:t>
            </a:r>
            <a:r>
              <a:rPr lang="zh-CN" altLang="en-US" dirty="0" smtClean="0"/>
              <a:t>是服务器端用的函数</a:t>
            </a:r>
            <a:r>
              <a:rPr lang="en-US" altLang="zh-CN" dirty="0" smtClean="0">
                <a:latin typeface="Times New Roman" panose="02020603050405020304" pitchFamily="18" charset="0"/>
              </a:rPr>
              <a:t>,accept</a:t>
            </a:r>
            <a:r>
              <a:rPr lang="zh-CN" altLang="en-US" dirty="0" smtClean="0"/>
              <a:t>调用时，服务器端的程序会一直阻塞到有一个</a:t>
            </a:r>
            <a:r>
              <a:rPr lang="zh-CN" altLang="en-US" dirty="0" smtClean="0">
                <a:latin typeface="Times New Roman" panose="02020603050405020304" pitchFamily="18" charset="0"/>
              </a:rPr>
              <a:t> </a:t>
            </a:r>
            <a:r>
              <a:rPr lang="zh-CN" altLang="en-US" dirty="0" smtClean="0"/>
              <a:t>客户程序发出了连接，</a:t>
            </a:r>
            <a:r>
              <a:rPr lang="zh-CN" altLang="en-US" dirty="0" smtClean="0">
                <a:latin typeface="Times New Roman" panose="02020603050405020304" pitchFamily="18" charset="0"/>
              </a:rPr>
              <a:t> </a:t>
            </a:r>
            <a:r>
              <a:rPr lang="en-US" altLang="zh-CN" dirty="0" smtClean="0">
                <a:latin typeface="Times New Roman" panose="02020603050405020304" pitchFamily="18" charset="0"/>
              </a:rPr>
              <a:t>accept</a:t>
            </a:r>
            <a:r>
              <a:rPr lang="zh-CN" altLang="en-US" dirty="0" smtClean="0"/>
              <a:t>成功时返回最后的服务器端的文件描述符。</a:t>
            </a:r>
          </a:p>
          <a:p>
            <a:endParaRPr lang="zh-CN" altLang="en-US" dirty="0"/>
          </a:p>
        </p:txBody>
      </p:sp>
    </p:spTree>
    <p:extLst>
      <p:ext uri="{BB962C8B-B14F-4D97-AF65-F5344CB8AC3E}">
        <p14:creationId xmlns:p14="http://schemas.microsoft.com/office/powerpoint/2010/main" val="2942345113"/>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初等网络函数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609600" y="1214438"/>
            <a:ext cx="11093042" cy="4857750"/>
          </a:xfrm>
        </p:spPr>
        <p:txBody>
          <a:bodyPr/>
          <a:lstStyle/>
          <a:p>
            <a:r>
              <a:rPr lang="en-US" altLang="zh-CN" b="0" dirty="0" smtClean="0">
                <a:latin typeface="Times New Roman" panose="02020603050405020304" pitchFamily="18" charset="0"/>
              </a:rPr>
              <a:t>5 connect </a:t>
            </a:r>
          </a:p>
          <a:p>
            <a:pPr lvl="1"/>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connect(</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sockfd</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struct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sockaddr</a:t>
            </a:r>
            <a:r>
              <a:rPr lang="en-US" altLang="zh-CN" dirty="0" smtClean="0">
                <a:latin typeface="Times New Roman" panose="02020603050405020304" pitchFamily="18" charset="0"/>
              </a:rPr>
              <a:t> * </a:t>
            </a:r>
            <a:r>
              <a:rPr lang="en-US" altLang="zh-CN" dirty="0" err="1" smtClean="0">
                <a:latin typeface="Times New Roman" panose="02020603050405020304" pitchFamily="18" charset="0"/>
              </a:rPr>
              <a:t>serv_addr,int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addrlen</a:t>
            </a:r>
            <a:r>
              <a:rPr lang="en-US" altLang="zh-CN" dirty="0" smtClean="0">
                <a:latin typeface="Times New Roman" panose="02020603050405020304" pitchFamily="18" charset="0"/>
              </a:rPr>
              <a:t>) </a:t>
            </a:r>
          </a:p>
          <a:p>
            <a:pPr lvl="1"/>
            <a:r>
              <a:rPr lang="en-US" altLang="zh-CN" dirty="0" smtClean="0">
                <a:latin typeface="Times New Roman" panose="02020603050405020304" pitchFamily="18" charset="0"/>
              </a:rPr>
              <a:t>connect</a:t>
            </a:r>
            <a:r>
              <a:rPr lang="zh-CN" altLang="en-US" dirty="0" smtClean="0"/>
              <a:t>函数是客户端用来同服务端连接的。</a:t>
            </a:r>
          </a:p>
          <a:p>
            <a:pPr lvl="1"/>
            <a:r>
              <a:rPr lang="zh-CN" altLang="en-US" dirty="0" smtClean="0"/>
              <a:t>成功时返回</a:t>
            </a:r>
            <a:r>
              <a:rPr lang="en-US" altLang="zh-CN" dirty="0" smtClean="0">
                <a:latin typeface="Times New Roman" panose="02020603050405020304" pitchFamily="18" charset="0"/>
              </a:rPr>
              <a:t>0</a:t>
            </a:r>
            <a:r>
              <a:rPr lang="zh-CN" altLang="en-US" dirty="0" smtClean="0"/>
              <a:t>，</a:t>
            </a:r>
            <a:r>
              <a:rPr lang="en-US" altLang="zh-CN" dirty="0" err="1" smtClean="0">
                <a:latin typeface="Times New Roman" panose="02020603050405020304" pitchFamily="18" charset="0"/>
              </a:rPr>
              <a:t>sockfd</a:t>
            </a:r>
            <a:r>
              <a:rPr lang="zh-CN" altLang="en-US" dirty="0" smtClean="0"/>
              <a:t>是同服务端通讯的文件描述符</a:t>
            </a:r>
            <a:r>
              <a:rPr lang="zh-CN" altLang="en-US" dirty="0" smtClean="0">
                <a:latin typeface="Times New Roman" panose="02020603050405020304" pitchFamily="18" charset="0"/>
              </a:rPr>
              <a:t> </a:t>
            </a:r>
            <a:r>
              <a:rPr lang="zh-CN" altLang="en-US" dirty="0" smtClean="0"/>
              <a:t>。</a:t>
            </a:r>
          </a:p>
          <a:p>
            <a:pPr lvl="1"/>
            <a:r>
              <a:rPr lang="zh-CN" altLang="en-US" dirty="0" smtClean="0"/>
              <a:t>失败时返回</a:t>
            </a:r>
            <a:r>
              <a:rPr lang="en-US" altLang="zh-CN" dirty="0" smtClean="0">
                <a:latin typeface="Times New Roman" panose="02020603050405020304" pitchFamily="18" charset="0"/>
              </a:rPr>
              <a:t>-1</a:t>
            </a:r>
            <a:r>
              <a:rPr lang="zh-CN" altLang="en-US" dirty="0" smtClean="0"/>
              <a:t>。</a:t>
            </a:r>
          </a:p>
          <a:p>
            <a:r>
              <a:rPr lang="zh-CN" altLang="en-US" dirty="0" smtClean="0"/>
              <a:t>参数说明</a:t>
            </a:r>
          </a:p>
          <a:p>
            <a:pPr lvl="1"/>
            <a:r>
              <a:rPr lang="en-US" altLang="zh-CN" b="0" dirty="0" err="1" smtClean="0">
                <a:latin typeface="Times New Roman" panose="02020603050405020304" pitchFamily="18" charset="0"/>
              </a:rPr>
              <a:t>sockfd:</a:t>
            </a:r>
            <a:r>
              <a:rPr lang="en-US" altLang="zh-CN" dirty="0" err="1" smtClean="0">
                <a:latin typeface="Times New Roman" panose="02020603050405020304" pitchFamily="18" charset="0"/>
              </a:rPr>
              <a:t>socket</a:t>
            </a:r>
            <a:r>
              <a:rPr lang="zh-CN" altLang="en-US" dirty="0" smtClean="0"/>
              <a:t>返回的文件描述符</a:t>
            </a:r>
            <a:r>
              <a:rPr lang="en-US" altLang="zh-CN" dirty="0" smtClean="0">
                <a:latin typeface="Times New Roman" panose="02020603050405020304" pitchFamily="18" charset="0"/>
              </a:rPr>
              <a:t>. </a:t>
            </a:r>
          </a:p>
          <a:p>
            <a:pPr lvl="1"/>
            <a:r>
              <a:rPr lang="en-US" altLang="zh-CN" b="0" dirty="0" err="1" smtClean="0">
                <a:latin typeface="Times New Roman" panose="02020603050405020304" pitchFamily="18" charset="0"/>
              </a:rPr>
              <a:t>serv_addr</a:t>
            </a:r>
            <a:r>
              <a:rPr lang="en-US" altLang="zh-CN" b="0" dirty="0" smtClean="0">
                <a:latin typeface="Times New Roman" panose="02020603050405020304" pitchFamily="18" charset="0"/>
              </a:rPr>
              <a:t>:</a:t>
            </a:r>
            <a:r>
              <a:rPr lang="zh-CN" altLang="en-US" dirty="0" smtClean="0"/>
              <a:t>储存了服务器端的连接信息</a:t>
            </a:r>
            <a:r>
              <a:rPr lang="en-US" altLang="zh-CN" dirty="0" smtClean="0">
                <a:latin typeface="Times New Roman" panose="02020603050405020304" pitchFamily="18" charset="0"/>
              </a:rPr>
              <a:t>.</a:t>
            </a:r>
            <a:r>
              <a:rPr lang="zh-CN" altLang="en-US" dirty="0" smtClean="0"/>
              <a:t>其中</a:t>
            </a:r>
            <a:r>
              <a:rPr lang="en-US" altLang="zh-CN" dirty="0" err="1" smtClean="0">
                <a:latin typeface="Times New Roman" panose="02020603050405020304" pitchFamily="18" charset="0"/>
              </a:rPr>
              <a:t>sin_add</a:t>
            </a:r>
            <a:r>
              <a:rPr lang="zh-CN" altLang="en-US" dirty="0" smtClean="0"/>
              <a:t>是服务端的地址</a:t>
            </a:r>
            <a:r>
              <a:rPr lang="zh-CN" altLang="en-US" dirty="0" smtClean="0">
                <a:latin typeface="Times New Roman" panose="02020603050405020304" pitchFamily="18" charset="0"/>
              </a:rPr>
              <a:t> </a:t>
            </a:r>
          </a:p>
          <a:p>
            <a:pPr lvl="1"/>
            <a:r>
              <a:rPr lang="en-US" altLang="zh-CN" b="0" dirty="0" err="1" smtClean="0">
                <a:latin typeface="Times New Roman" panose="02020603050405020304" pitchFamily="18" charset="0"/>
              </a:rPr>
              <a:t>addrlen:</a:t>
            </a:r>
            <a:r>
              <a:rPr lang="en-US" altLang="zh-CN" dirty="0" err="1" smtClean="0">
                <a:latin typeface="Times New Roman" panose="02020603050405020304" pitchFamily="18" charset="0"/>
              </a:rPr>
              <a:t>serv_addr</a:t>
            </a:r>
            <a:r>
              <a:rPr lang="zh-CN" altLang="en-US" dirty="0" smtClean="0"/>
              <a:t>的长度</a:t>
            </a:r>
            <a:r>
              <a:rPr lang="zh-CN" altLang="en-US" dirty="0" smtClean="0">
                <a:latin typeface="Times New Roman" panose="02020603050405020304" pitchFamily="18" charset="0"/>
              </a:rPr>
              <a:t> </a:t>
            </a:r>
          </a:p>
          <a:p>
            <a:endParaRPr lang="zh-CN" altLang="en-US" dirty="0"/>
          </a:p>
        </p:txBody>
      </p:sp>
    </p:spTree>
    <p:extLst>
      <p:ext uri="{BB962C8B-B14F-4D97-AF65-F5344CB8AC3E}">
        <p14:creationId xmlns:p14="http://schemas.microsoft.com/office/powerpoint/2010/main" val="4009375857"/>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完整的读写函数</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smtClean="0"/>
              <a:t>一旦我们建立了连接</a:t>
            </a:r>
            <a:r>
              <a:rPr lang="en-US" altLang="zh-CN" dirty="0" smtClean="0">
                <a:latin typeface="Times New Roman" panose="02020603050405020304" pitchFamily="18" charset="0"/>
              </a:rPr>
              <a:t>,</a:t>
            </a:r>
            <a:r>
              <a:rPr lang="zh-CN" altLang="en-US" dirty="0" smtClean="0"/>
              <a:t>我们的下一步就是进行通信了</a:t>
            </a:r>
            <a:r>
              <a:rPr lang="en-US" altLang="zh-CN" dirty="0" smtClean="0">
                <a:latin typeface="Times New Roman" panose="02020603050405020304" pitchFamily="18" charset="0"/>
              </a:rPr>
              <a:t>.</a:t>
            </a:r>
          </a:p>
          <a:p>
            <a:r>
              <a:rPr lang="zh-CN" altLang="en-US" dirty="0" smtClean="0"/>
              <a:t>在</a:t>
            </a:r>
            <a:r>
              <a:rPr lang="en-US" altLang="zh-CN" dirty="0" smtClean="0">
                <a:latin typeface="Times New Roman" panose="02020603050405020304" pitchFamily="18" charset="0"/>
              </a:rPr>
              <a:t>Linux</a:t>
            </a:r>
            <a:r>
              <a:rPr lang="zh-CN" altLang="en-US" dirty="0" smtClean="0"/>
              <a:t>下面把我们前面建立的通道</a:t>
            </a:r>
            <a:r>
              <a:rPr lang="zh-CN" altLang="en-US" dirty="0" smtClean="0">
                <a:latin typeface="Times New Roman" panose="02020603050405020304" pitchFamily="18" charset="0"/>
              </a:rPr>
              <a:t> </a:t>
            </a:r>
            <a:r>
              <a:rPr lang="zh-CN" altLang="en-US" dirty="0" smtClean="0"/>
              <a:t>看成是文件描述符</a:t>
            </a:r>
            <a:r>
              <a:rPr lang="en-US" altLang="zh-CN" dirty="0" smtClean="0">
                <a:latin typeface="Times New Roman" panose="02020603050405020304" pitchFamily="18" charset="0"/>
              </a:rPr>
              <a:t>,</a:t>
            </a:r>
            <a:r>
              <a:rPr lang="zh-CN" altLang="en-US" dirty="0" smtClean="0"/>
              <a:t>这样服务器端和客户端进行通信时候</a:t>
            </a:r>
            <a:r>
              <a:rPr lang="en-US" altLang="zh-CN" dirty="0" smtClean="0">
                <a:latin typeface="Times New Roman" panose="02020603050405020304" pitchFamily="18" charset="0"/>
              </a:rPr>
              <a:t>,</a:t>
            </a:r>
            <a:r>
              <a:rPr lang="zh-CN" altLang="en-US" dirty="0" smtClean="0"/>
              <a:t>只要往文件描述符里面读写东西了</a:t>
            </a:r>
            <a:r>
              <a:rPr lang="en-US" altLang="zh-CN" dirty="0" smtClean="0">
                <a:latin typeface="Times New Roman" panose="02020603050405020304" pitchFamily="18" charset="0"/>
              </a:rPr>
              <a:t>. </a:t>
            </a:r>
            <a:r>
              <a:rPr lang="zh-CN" altLang="en-US" dirty="0" smtClean="0"/>
              <a:t>就象我们往文件读写一样。</a:t>
            </a:r>
            <a:endParaRPr lang="en-US" altLang="zh-CN" b="0" dirty="0" smtClean="0">
              <a:latin typeface="Times New Roman" panose="02020603050405020304" pitchFamily="18" charset="0"/>
            </a:endParaRPr>
          </a:p>
          <a:p>
            <a:r>
              <a:rPr lang="en-US" altLang="zh-CN" b="0" dirty="0" smtClean="0">
                <a:latin typeface="Times New Roman" panose="02020603050405020304" pitchFamily="18" charset="0"/>
              </a:rPr>
              <a:t>1 </a:t>
            </a:r>
            <a:r>
              <a:rPr lang="zh-CN" altLang="en-US" b="0" dirty="0" smtClean="0"/>
              <a:t>写函数</a:t>
            </a:r>
            <a:r>
              <a:rPr lang="en-US" altLang="zh-CN" b="0" dirty="0" smtClean="0">
                <a:latin typeface="Times New Roman" panose="02020603050405020304" pitchFamily="18" charset="0"/>
              </a:rPr>
              <a:t>write </a:t>
            </a:r>
          </a:p>
          <a:p>
            <a:pPr lvl="1"/>
            <a:r>
              <a:rPr lang="en-US" altLang="zh-CN" dirty="0" err="1" smtClean="0">
                <a:latin typeface="Arial Unicode MS" panose="020B0604020202020204" pitchFamily="34" charset="-122"/>
              </a:rPr>
              <a:t>ssize_t</a:t>
            </a:r>
            <a:r>
              <a:rPr lang="en-US" altLang="zh-CN" dirty="0" smtClean="0">
                <a:latin typeface="Arial Unicode MS" panose="020B0604020202020204" pitchFamily="34" charset="-122"/>
              </a:rPr>
              <a:t> write(</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fd,const</a:t>
            </a:r>
            <a:r>
              <a:rPr lang="en-US" altLang="zh-CN" dirty="0" smtClean="0">
                <a:latin typeface="Arial Unicode MS" panose="020B0604020202020204" pitchFamily="34" charset="-122"/>
              </a:rPr>
              <a:t> void *</a:t>
            </a:r>
            <a:r>
              <a:rPr lang="en-US" altLang="zh-CN" dirty="0" err="1" smtClean="0">
                <a:latin typeface="Arial Unicode MS" panose="020B0604020202020204" pitchFamily="34" charset="-122"/>
              </a:rPr>
              <a:t>buf,size_t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nbytes</a:t>
            </a:r>
            <a:r>
              <a:rPr lang="en-US" altLang="zh-CN" dirty="0" smtClean="0">
                <a:latin typeface="Arial Unicode MS" panose="020B0604020202020204" pitchFamily="34" charset="-122"/>
              </a:rPr>
              <a:t>)</a:t>
            </a:r>
          </a:p>
          <a:p>
            <a:pPr lvl="1"/>
            <a:r>
              <a:rPr lang="en-US" altLang="zh-CN" dirty="0" smtClean="0">
                <a:latin typeface="Arial Unicode MS" panose="020B0604020202020204" pitchFamily="34" charset="-122"/>
              </a:rPr>
              <a:t> </a:t>
            </a:r>
            <a:r>
              <a:rPr lang="en-US" altLang="zh-CN" dirty="0" smtClean="0">
                <a:latin typeface="Times New Roman" panose="02020603050405020304" pitchFamily="18" charset="0"/>
              </a:rPr>
              <a:t>write</a:t>
            </a:r>
            <a:r>
              <a:rPr lang="zh-CN" altLang="en-US" dirty="0" smtClean="0"/>
              <a:t>函数将</a:t>
            </a:r>
            <a:r>
              <a:rPr lang="en-US" altLang="zh-CN" dirty="0" err="1" smtClean="0">
                <a:latin typeface="Times New Roman" panose="02020603050405020304" pitchFamily="18" charset="0"/>
              </a:rPr>
              <a:t>buf</a:t>
            </a:r>
            <a:r>
              <a:rPr lang="zh-CN" altLang="en-US" dirty="0" smtClean="0"/>
              <a:t>中的</a:t>
            </a:r>
            <a:r>
              <a:rPr lang="en-US" altLang="zh-CN" dirty="0" err="1" smtClean="0">
                <a:latin typeface="Times New Roman" panose="02020603050405020304" pitchFamily="18" charset="0"/>
              </a:rPr>
              <a:t>nbytes</a:t>
            </a:r>
            <a:r>
              <a:rPr lang="zh-CN" altLang="en-US" dirty="0" smtClean="0"/>
              <a:t>字节内容写入文件描述符</a:t>
            </a:r>
            <a:r>
              <a:rPr lang="en-US" altLang="zh-CN" dirty="0" err="1" smtClean="0">
                <a:latin typeface="Times New Roman" panose="02020603050405020304" pitchFamily="18" charset="0"/>
              </a:rPr>
              <a:t>fd</a:t>
            </a:r>
            <a:r>
              <a:rPr lang="en-US" altLang="zh-CN" dirty="0" smtClean="0">
                <a:latin typeface="Times New Roman" panose="02020603050405020304" pitchFamily="18" charset="0"/>
              </a:rPr>
              <a:t>.</a:t>
            </a:r>
          </a:p>
          <a:p>
            <a:pPr lvl="1"/>
            <a:r>
              <a:rPr lang="zh-CN" altLang="en-US" dirty="0" smtClean="0"/>
              <a:t>成功时返回写的字节数</a:t>
            </a:r>
            <a:r>
              <a:rPr lang="en-US" altLang="zh-CN" dirty="0" smtClean="0">
                <a:latin typeface="Times New Roman" panose="02020603050405020304" pitchFamily="18" charset="0"/>
              </a:rPr>
              <a:t>.</a:t>
            </a:r>
            <a:r>
              <a:rPr lang="zh-CN" altLang="en-US" dirty="0" smtClean="0"/>
              <a:t>失败时返回</a:t>
            </a:r>
            <a:r>
              <a:rPr lang="en-US" altLang="zh-CN" dirty="0" smtClean="0">
                <a:latin typeface="Times New Roman" panose="02020603050405020304" pitchFamily="18" charset="0"/>
              </a:rPr>
              <a:t>-1. </a:t>
            </a:r>
            <a:r>
              <a:rPr lang="zh-CN" altLang="en-US" dirty="0" smtClean="0"/>
              <a:t>并设置</a:t>
            </a:r>
            <a:r>
              <a:rPr lang="en-US" altLang="zh-CN" dirty="0" err="1" smtClean="0">
                <a:latin typeface="Times New Roman" panose="02020603050405020304" pitchFamily="18" charset="0"/>
              </a:rPr>
              <a:t>errno</a:t>
            </a:r>
            <a:r>
              <a:rPr lang="zh-CN" altLang="en-US" dirty="0" smtClean="0"/>
              <a:t>变量</a:t>
            </a:r>
            <a:r>
              <a:rPr lang="en-US" altLang="zh-CN" dirty="0" smtClean="0">
                <a:latin typeface="Times New Roman" panose="02020603050405020304" pitchFamily="18" charset="0"/>
              </a:rPr>
              <a:t>. </a:t>
            </a:r>
          </a:p>
          <a:p>
            <a:pPr lvl="1"/>
            <a:r>
              <a:rPr lang="zh-CN" altLang="en-US" dirty="0" smtClean="0"/>
              <a:t>在网络程序中</a:t>
            </a:r>
            <a:r>
              <a:rPr lang="en-US" altLang="zh-CN" dirty="0" smtClean="0">
                <a:latin typeface="Times New Roman" panose="02020603050405020304" pitchFamily="18" charset="0"/>
              </a:rPr>
              <a:t>,</a:t>
            </a:r>
            <a:r>
              <a:rPr lang="zh-CN" altLang="en-US" dirty="0" smtClean="0"/>
              <a:t>当我们向套接字文件描述符写时有俩种可能</a:t>
            </a:r>
            <a:r>
              <a:rPr lang="en-US" altLang="zh-CN" dirty="0" smtClean="0">
                <a:latin typeface="Times New Roman" panose="02020603050405020304" pitchFamily="18" charset="0"/>
              </a:rPr>
              <a:t>. </a:t>
            </a:r>
          </a:p>
          <a:p>
            <a:pPr lvl="1"/>
            <a:r>
              <a:rPr lang="en-US" altLang="zh-CN" dirty="0" smtClean="0">
                <a:latin typeface="Times New Roman" panose="02020603050405020304" pitchFamily="18" charset="0"/>
              </a:rPr>
              <a:t>1)write</a:t>
            </a:r>
            <a:r>
              <a:rPr lang="zh-CN" altLang="en-US" dirty="0" smtClean="0"/>
              <a:t>的返回值大于</a:t>
            </a:r>
            <a:r>
              <a:rPr lang="en-US" altLang="zh-CN" dirty="0" smtClean="0">
                <a:latin typeface="Times New Roman" panose="02020603050405020304" pitchFamily="18" charset="0"/>
              </a:rPr>
              <a:t>0,</a:t>
            </a:r>
            <a:r>
              <a:rPr lang="zh-CN" altLang="en-US" dirty="0" smtClean="0"/>
              <a:t>表示写了部分或者是全部的数据</a:t>
            </a:r>
            <a:r>
              <a:rPr lang="en-US" altLang="zh-CN" dirty="0" smtClean="0">
                <a:latin typeface="Times New Roman" panose="02020603050405020304" pitchFamily="18" charset="0"/>
              </a:rPr>
              <a:t>. </a:t>
            </a:r>
          </a:p>
          <a:p>
            <a:pPr lvl="1"/>
            <a:r>
              <a:rPr lang="en-US" altLang="zh-CN" dirty="0" smtClean="0">
                <a:latin typeface="Times New Roman" panose="02020603050405020304" pitchFamily="18" charset="0"/>
              </a:rPr>
              <a:t>2)</a:t>
            </a:r>
            <a:r>
              <a:rPr lang="zh-CN" altLang="en-US" dirty="0" smtClean="0"/>
              <a:t>返回的值小于</a:t>
            </a:r>
            <a:r>
              <a:rPr lang="en-US" altLang="zh-CN" dirty="0" smtClean="0">
                <a:latin typeface="Times New Roman" panose="02020603050405020304" pitchFamily="18" charset="0"/>
              </a:rPr>
              <a:t>0,</a:t>
            </a:r>
            <a:r>
              <a:rPr lang="zh-CN" altLang="en-US" dirty="0" smtClean="0"/>
              <a:t>此时出现了错误</a:t>
            </a:r>
            <a:r>
              <a:rPr lang="en-US" altLang="zh-CN" dirty="0" smtClean="0">
                <a:latin typeface="Times New Roman" panose="02020603050405020304" pitchFamily="18" charset="0"/>
              </a:rPr>
              <a:t>.</a:t>
            </a:r>
            <a:r>
              <a:rPr lang="zh-CN" altLang="en-US" dirty="0" smtClean="0"/>
              <a:t>我们要根据错误类型来处理</a:t>
            </a:r>
            <a:r>
              <a:rPr lang="en-US" altLang="zh-CN" dirty="0" smtClean="0">
                <a:latin typeface="Times New Roman" panose="02020603050405020304" pitchFamily="18" charset="0"/>
              </a:rPr>
              <a:t>. </a:t>
            </a:r>
          </a:p>
          <a:p>
            <a:pPr lvl="1"/>
            <a:r>
              <a:rPr lang="zh-CN" altLang="en-US" dirty="0" smtClean="0"/>
              <a:t>如果错误为</a:t>
            </a:r>
            <a:r>
              <a:rPr lang="en-US" altLang="zh-CN" dirty="0" smtClean="0">
                <a:latin typeface="Times New Roman" panose="02020603050405020304" pitchFamily="18" charset="0"/>
              </a:rPr>
              <a:t>EINTR</a:t>
            </a:r>
            <a:r>
              <a:rPr lang="zh-CN" altLang="en-US" dirty="0" smtClean="0"/>
              <a:t>表示在写的时候出现了中断错误</a:t>
            </a:r>
            <a:r>
              <a:rPr lang="en-US" altLang="zh-CN" dirty="0" smtClean="0">
                <a:latin typeface="Times New Roman" panose="02020603050405020304" pitchFamily="18" charset="0"/>
              </a:rPr>
              <a:t>. </a:t>
            </a:r>
          </a:p>
          <a:p>
            <a:pPr lvl="1"/>
            <a:r>
              <a:rPr lang="zh-CN" altLang="en-US" dirty="0" smtClean="0"/>
              <a:t>如果为</a:t>
            </a:r>
            <a:r>
              <a:rPr lang="en-US" altLang="zh-CN" dirty="0" smtClean="0">
                <a:latin typeface="Times New Roman" panose="02020603050405020304" pitchFamily="18" charset="0"/>
              </a:rPr>
              <a:t>EPIPE</a:t>
            </a:r>
            <a:r>
              <a:rPr lang="zh-CN" altLang="en-US" dirty="0" smtClean="0"/>
              <a:t>表示网络连接出现了问题</a:t>
            </a:r>
            <a:r>
              <a:rPr lang="en-US" altLang="zh-CN" dirty="0" smtClean="0">
                <a:latin typeface="Times New Roman" panose="02020603050405020304" pitchFamily="18" charset="0"/>
              </a:rPr>
              <a:t>(</a:t>
            </a:r>
            <a:r>
              <a:rPr lang="zh-CN" altLang="en-US" dirty="0" smtClean="0"/>
              <a:t>对方已经关闭了连接</a:t>
            </a:r>
            <a:r>
              <a:rPr lang="en-US" altLang="zh-CN" dirty="0" smtClean="0">
                <a:latin typeface="Times New Roman" panose="02020603050405020304" pitchFamily="18" charset="0"/>
              </a:rPr>
              <a:t>). </a:t>
            </a:r>
          </a:p>
          <a:p>
            <a:endParaRPr lang="zh-CN" altLang="en-US" dirty="0"/>
          </a:p>
        </p:txBody>
      </p:sp>
    </p:spTree>
    <p:extLst>
      <p:ext uri="{BB962C8B-B14F-4D97-AF65-F5344CB8AC3E}">
        <p14:creationId xmlns:p14="http://schemas.microsoft.com/office/powerpoint/2010/main" val="3556276892"/>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写实例</a:t>
            </a:r>
            <a:endParaRPr lang="zh-CN" altLang="en-US" dirty="0"/>
          </a:p>
        </p:txBody>
      </p:sp>
      <p:sp>
        <p:nvSpPr>
          <p:cNvPr id="3" name="内容占位符 2"/>
          <p:cNvSpPr>
            <a:spLocks noGrp="1"/>
          </p:cNvSpPr>
          <p:nvPr>
            <p:ph idx="1"/>
          </p:nvPr>
        </p:nvSpPr>
        <p:spPr>
          <a:xfrm>
            <a:off x="917081" y="986225"/>
            <a:ext cx="10515600" cy="5339449"/>
          </a:xfrm>
        </p:spPr>
        <p:txBody>
          <a:bodyPr>
            <a:noAutofit/>
          </a:bodyPr>
          <a:lstStyle/>
          <a:p>
            <a:pPr marL="0" lvl="1" indent="0">
              <a:spcBef>
                <a:spcPts val="1000"/>
              </a:spcBef>
              <a:buNone/>
            </a:pPr>
            <a:r>
              <a:rPr lang="en-US" altLang="zh-CN" sz="1800" dirty="0" err="1" smtClean="0"/>
              <a:t>int</a:t>
            </a:r>
            <a:r>
              <a:rPr lang="en-US" altLang="zh-CN" sz="1800" dirty="0" smtClean="0"/>
              <a:t> </a:t>
            </a:r>
            <a:r>
              <a:rPr lang="en-US" altLang="zh-CN" sz="1800" dirty="0" err="1" smtClean="0"/>
              <a:t>my_write</a:t>
            </a:r>
            <a:r>
              <a:rPr lang="en-US" altLang="zh-CN" sz="1800" dirty="0" smtClean="0"/>
              <a:t>(</a:t>
            </a:r>
            <a:r>
              <a:rPr lang="en-US" altLang="zh-CN" sz="1800" dirty="0" err="1" smtClean="0"/>
              <a:t>int</a:t>
            </a:r>
            <a:r>
              <a:rPr lang="en-US" altLang="zh-CN" sz="1800" dirty="0" smtClean="0"/>
              <a:t> </a:t>
            </a:r>
            <a:r>
              <a:rPr lang="en-US" altLang="zh-CN" sz="1800" dirty="0" err="1" smtClean="0"/>
              <a:t>fd,void</a:t>
            </a:r>
            <a:r>
              <a:rPr lang="en-US" altLang="zh-CN" sz="1800" dirty="0" smtClean="0"/>
              <a:t> *</a:t>
            </a:r>
            <a:r>
              <a:rPr lang="en-US" altLang="zh-CN" sz="1800" dirty="0" err="1" smtClean="0"/>
              <a:t>buffer,int</a:t>
            </a:r>
            <a:r>
              <a:rPr lang="en-US" altLang="zh-CN" sz="1800" dirty="0" smtClean="0"/>
              <a:t> length) </a:t>
            </a:r>
            <a:br>
              <a:rPr lang="en-US" altLang="zh-CN" sz="1800" dirty="0" smtClean="0"/>
            </a:br>
            <a:r>
              <a:rPr lang="en-US" altLang="zh-CN" sz="1800" dirty="0" smtClean="0"/>
              <a:t>{     </a:t>
            </a:r>
            <a:r>
              <a:rPr lang="en-US" altLang="zh-CN" sz="1800" dirty="0" err="1" smtClean="0"/>
              <a:t>int</a:t>
            </a:r>
            <a:r>
              <a:rPr lang="en-US" altLang="zh-CN" sz="1800" dirty="0" smtClean="0"/>
              <a:t> </a:t>
            </a:r>
            <a:r>
              <a:rPr lang="en-US" altLang="zh-CN" sz="1800" dirty="0" err="1" smtClean="0"/>
              <a:t>bytes_left</a:t>
            </a:r>
            <a:r>
              <a:rPr lang="en-US" altLang="zh-CN" sz="1800" dirty="0" smtClean="0"/>
              <a:t>; </a:t>
            </a:r>
            <a:br>
              <a:rPr lang="en-US" altLang="zh-CN" sz="1800" dirty="0" smtClean="0"/>
            </a:br>
            <a:r>
              <a:rPr lang="en-US" altLang="zh-CN" sz="1800" dirty="0" smtClean="0"/>
              <a:t>      </a:t>
            </a:r>
            <a:r>
              <a:rPr lang="en-US" altLang="zh-CN" sz="1800" dirty="0" err="1" smtClean="0"/>
              <a:t>int</a:t>
            </a:r>
            <a:r>
              <a:rPr lang="en-US" altLang="zh-CN" sz="1800" dirty="0" smtClean="0"/>
              <a:t> </a:t>
            </a:r>
            <a:r>
              <a:rPr lang="en-US" altLang="zh-CN" sz="1800" dirty="0" err="1" smtClean="0"/>
              <a:t>written_bytes</a:t>
            </a:r>
            <a:r>
              <a:rPr lang="en-US" altLang="zh-CN" sz="1800" dirty="0" smtClean="0"/>
              <a:t>; </a:t>
            </a:r>
            <a:br>
              <a:rPr lang="en-US" altLang="zh-CN" sz="1800" dirty="0" smtClean="0"/>
            </a:br>
            <a:r>
              <a:rPr lang="en-US" altLang="zh-CN" sz="1800" dirty="0" smtClean="0"/>
              <a:t>      char *</a:t>
            </a:r>
            <a:r>
              <a:rPr lang="en-US" altLang="zh-CN" sz="1800" dirty="0" err="1" smtClean="0"/>
              <a:t>ptr</a:t>
            </a:r>
            <a:r>
              <a:rPr lang="en-US" altLang="zh-CN" sz="1800" dirty="0" smtClean="0"/>
              <a:t>;</a:t>
            </a:r>
            <a:br>
              <a:rPr lang="en-US" altLang="zh-CN" sz="1800" dirty="0" smtClean="0"/>
            </a:br>
            <a:r>
              <a:rPr lang="en-US" altLang="zh-CN" sz="1800" dirty="0" smtClean="0"/>
              <a:t>      </a:t>
            </a:r>
            <a:r>
              <a:rPr lang="en-US" altLang="zh-CN" sz="1800" dirty="0" err="1" smtClean="0"/>
              <a:t>ptr</a:t>
            </a:r>
            <a:r>
              <a:rPr lang="en-US" altLang="zh-CN" sz="1800" dirty="0" smtClean="0"/>
              <a:t>=buffer;</a:t>
            </a:r>
            <a:br>
              <a:rPr lang="en-US" altLang="zh-CN" sz="1800" dirty="0" smtClean="0"/>
            </a:br>
            <a:r>
              <a:rPr lang="en-US" altLang="zh-CN" sz="1800" dirty="0" smtClean="0"/>
              <a:t>      </a:t>
            </a:r>
            <a:r>
              <a:rPr lang="en-US" altLang="zh-CN" sz="1800" dirty="0" err="1" smtClean="0"/>
              <a:t>bytes_left</a:t>
            </a:r>
            <a:r>
              <a:rPr lang="en-US" altLang="zh-CN" sz="1800" dirty="0" smtClean="0"/>
              <a:t>=length;</a:t>
            </a:r>
            <a:br>
              <a:rPr lang="en-US" altLang="zh-CN" sz="1800" dirty="0" smtClean="0"/>
            </a:br>
            <a:r>
              <a:rPr lang="en-US" altLang="zh-CN" sz="1800" dirty="0" smtClean="0"/>
              <a:t>      while(</a:t>
            </a:r>
            <a:r>
              <a:rPr lang="en-US" altLang="zh-CN" sz="1800" dirty="0" err="1" smtClean="0"/>
              <a:t>bytes_left</a:t>
            </a:r>
            <a:r>
              <a:rPr lang="en-US" altLang="zh-CN" sz="1800" dirty="0" smtClean="0"/>
              <a:t>&gt;0){    /* </a:t>
            </a:r>
            <a:r>
              <a:rPr lang="zh-CN" altLang="en-US" sz="1800" dirty="0" smtClean="0"/>
              <a:t>开始写*</a:t>
            </a:r>
            <a:r>
              <a:rPr lang="en-US" altLang="zh-CN" sz="1800" dirty="0" smtClean="0"/>
              <a:t>/ </a:t>
            </a:r>
            <a:br>
              <a:rPr lang="en-US" altLang="zh-CN" sz="1800" dirty="0" smtClean="0"/>
            </a:br>
            <a:r>
              <a:rPr lang="en-US" altLang="zh-CN" sz="1800" dirty="0" smtClean="0"/>
              <a:t>            </a:t>
            </a:r>
            <a:r>
              <a:rPr lang="en-US" altLang="zh-CN" sz="1800" dirty="0" err="1" smtClean="0"/>
              <a:t>written_bytes</a:t>
            </a:r>
            <a:r>
              <a:rPr lang="en-US" altLang="zh-CN" sz="1800" dirty="0" smtClean="0"/>
              <a:t>=write(</a:t>
            </a:r>
            <a:r>
              <a:rPr lang="en-US" altLang="zh-CN" sz="1800" dirty="0" err="1" smtClean="0"/>
              <a:t>fd,ptr,bytes_left</a:t>
            </a:r>
            <a:r>
              <a:rPr lang="en-US" altLang="zh-CN" sz="1800" dirty="0" smtClean="0"/>
              <a:t>);</a:t>
            </a:r>
            <a:br>
              <a:rPr lang="en-US" altLang="zh-CN" sz="1800" dirty="0" smtClean="0"/>
            </a:br>
            <a:r>
              <a:rPr lang="en-US" altLang="zh-CN" sz="1800" dirty="0" smtClean="0"/>
              <a:t>            if(</a:t>
            </a:r>
            <a:r>
              <a:rPr lang="en-US" altLang="zh-CN" sz="1800" dirty="0" err="1" smtClean="0"/>
              <a:t>written_bytes</a:t>
            </a:r>
            <a:r>
              <a:rPr lang="en-US" altLang="zh-CN" sz="1800" dirty="0" smtClean="0"/>
              <a:t>&lt;=0</a:t>
            </a:r>
            <a:r>
              <a:rPr lang="en-US" altLang="zh-CN" sz="1800" dirty="0"/>
              <a:t>) { </a:t>
            </a:r>
            <a:r>
              <a:rPr lang="en-US" altLang="zh-CN" sz="1800" dirty="0" smtClean="0"/>
              <a:t>/* </a:t>
            </a:r>
            <a:r>
              <a:rPr lang="zh-CN" altLang="en-US" sz="1800" dirty="0" smtClean="0"/>
              <a:t>出错了*</a:t>
            </a:r>
            <a:r>
              <a:rPr lang="en-US" altLang="zh-CN" sz="1800" dirty="0" smtClean="0"/>
              <a:t>/</a:t>
            </a:r>
            <a:br>
              <a:rPr lang="en-US" altLang="zh-CN" sz="1800" dirty="0" smtClean="0"/>
            </a:br>
            <a:r>
              <a:rPr lang="en-US" altLang="zh-CN" sz="1800" dirty="0" smtClean="0"/>
              <a:t>                 if(</a:t>
            </a:r>
            <a:r>
              <a:rPr lang="en-US" altLang="zh-CN" sz="1800" dirty="0" err="1" smtClean="0"/>
              <a:t>errno</a:t>
            </a:r>
            <a:r>
              <a:rPr lang="en-US" altLang="zh-CN" sz="1800" dirty="0" smtClean="0"/>
              <a:t>==EINTR) /* </a:t>
            </a:r>
            <a:r>
              <a:rPr lang="zh-CN" altLang="en-US" sz="1800" dirty="0" smtClean="0"/>
              <a:t>中断错误 我们继续写*</a:t>
            </a:r>
            <a:r>
              <a:rPr lang="en-US" altLang="zh-CN" sz="1800" dirty="0" smtClean="0"/>
              <a:t>/</a:t>
            </a:r>
            <a:br>
              <a:rPr lang="en-US" altLang="zh-CN" sz="1800" dirty="0" smtClean="0"/>
            </a:br>
            <a:r>
              <a:rPr lang="en-US" altLang="zh-CN" sz="1800" dirty="0" smtClean="0"/>
              <a:t>                         </a:t>
            </a:r>
            <a:r>
              <a:rPr lang="en-US" altLang="zh-CN" sz="1800" dirty="0" err="1" smtClean="0"/>
              <a:t>written_bytes</a:t>
            </a:r>
            <a:r>
              <a:rPr lang="en-US" altLang="zh-CN" sz="1800" dirty="0" smtClean="0"/>
              <a:t>=0; </a:t>
            </a:r>
            <a:br>
              <a:rPr lang="en-US" altLang="zh-CN" sz="1800" dirty="0" smtClean="0"/>
            </a:br>
            <a:r>
              <a:rPr lang="en-US" altLang="zh-CN" sz="1800" dirty="0" smtClean="0"/>
              <a:t>                 else /* </a:t>
            </a:r>
            <a:r>
              <a:rPr lang="zh-CN" altLang="en-US" sz="1800" dirty="0" smtClean="0"/>
              <a:t>其他错误 没有办法</a:t>
            </a:r>
            <a:r>
              <a:rPr lang="en-US" altLang="zh-CN" sz="1800" dirty="0" smtClean="0"/>
              <a:t>,</a:t>
            </a:r>
            <a:r>
              <a:rPr lang="zh-CN" altLang="en-US" sz="1800" dirty="0" smtClean="0"/>
              <a:t>只好撤退了*</a:t>
            </a:r>
            <a:r>
              <a:rPr lang="en-US" altLang="zh-CN" sz="1800" dirty="0" smtClean="0"/>
              <a:t>/ </a:t>
            </a:r>
            <a:br>
              <a:rPr lang="en-US" altLang="zh-CN" sz="1800" dirty="0" smtClean="0"/>
            </a:br>
            <a:r>
              <a:rPr lang="en-US" altLang="zh-CN" sz="1800" dirty="0" smtClean="0"/>
              <a:t>                        return(-1); </a:t>
            </a:r>
            <a:br>
              <a:rPr lang="en-US" altLang="zh-CN" sz="1800" dirty="0" smtClean="0"/>
            </a:br>
            <a:r>
              <a:rPr lang="en-US" altLang="zh-CN" sz="1800" dirty="0" smtClean="0"/>
              <a:t>             }</a:t>
            </a:r>
            <a:br>
              <a:rPr lang="en-US" altLang="zh-CN" sz="1800" dirty="0" smtClean="0"/>
            </a:br>
            <a:r>
              <a:rPr lang="en-US" altLang="zh-CN" sz="1800" dirty="0" smtClean="0"/>
              <a:t>                 </a:t>
            </a:r>
            <a:r>
              <a:rPr lang="en-US" altLang="zh-CN" sz="1800" dirty="0" err="1" smtClean="0"/>
              <a:t>bytes_left</a:t>
            </a:r>
            <a:r>
              <a:rPr lang="en-US" altLang="zh-CN" sz="1800" dirty="0" smtClean="0"/>
              <a:t>-=</a:t>
            </a:r>
            <a:r>
              <a:rPr lang="en-US" altLang="zh-CN" sz="1800" dirty="0" err="1" smtClean="0"/>
              <a:t>written_bytes</a:t>
            </a:r>
            <a:r>
              <a:rPr lang="en-US" altLang="zh-CN" sz="1800" dirty="0" smtClean="0"/>
              <a:t>;</a:t>
            </a:r>
            <a:br>
              <a:rPr lang="en-US" altLang="zh-CN" sz="1800" dirty="0" smtClean="0"/>
            </a:br>
            <a:r>
              <a:rPr lang="en-US" altLang="zh-CN" sz="1800" dirty="0" smtClean="0"/>
              <a:t>                 </a:t>
            </a:r>
            <a:r>
              <a:rPr lang="en-US" altLang="zh-CN" sz="1800" dirty="0" err="1" smtClean="0"/>
              <a:t>ptr</a:t>
            </a:r>
            <a:r>
              <a:rPr lang="en-US" altLang="zh-CN" sz="1800" dirty="0" smtClean="0"/>
              <a:t>+=</a:t>
            </a:r>
            <a:r>
              <a:rPr lang="en-US" altLang="zh-CN" sz="1800" dirty="0" err="1" smtClean="0"/>
              <a:t>written_bytes</a:t>
            </a:r>
            <a:r>
              <a:rPr lang="en-US" altLang="zh-CN" sz="1800" dirty="0" smtClean="0"/>
              <a:t>; /* </a:t>
            </a:r>
            <a:r>
              <a:rPr lang="zh-CN" altLang="en-US" sz="1800" dirty="0" smtClean="0"/>
              <a:t>从剩下的地方继续写 *</a:t>
            </a:r>
            <a:r>
              <a:rPr lang="en-US" altLang="zh-CN" sz="1800" dirty="0" smtClean="0"/>
              <a:t>/ </a:t>
            </a:r>
            <a:br>
              <a:rPr lang="en-US" altLang="zh-CN" sz="1800" dirty="0" smtClean="0"/>
            </a:br>
            <a:r>
              <a:rPr lang="en-US" altLang="zh-CN" sz="1800" dirty="0" smtClean="0"/>
              <a:t>           }</a:t>
            </a:r>
            <a:br>
              <a:rPr lang="en-US" altLang="zh-CN" sz="1800" dirty="0" smtClean="0"/>
            </a:br>
            <a:r>
              <a:rPr lang="en-US" altLang="zh-CN" sz="1800" dirty="0" smtClean="0"/>
              <a:t>           return(0);</a:t>
            </a:r>
            <a:br>
              <a:rPr lang="en-US" altLang="zh-CN" sz="1800" dirty="0" smtClean="0"/>
            </a:br>
            <a:r>
              <a:rPr lang="en-US" altLang="zh-CN" sz="1800" dirty="0" smtClean="0"/>
              <a:t> } </a:t>
            </a:r>
          </a:p>
          <a:p>
            <a:pPr marL="0" indent="0">
              <a:buNone/>
            </a:pPr>
            <a:endParaRPr lang="zh-CN" altLang="en-US" sz="1800" dirty="0"/>
          </a:p>
        </p:txBody>
      </p:sp>
    </p:spTree>
    <p:extLst>
      <p:ext uri="{BB962C8B-B14F-4D97-AF65-F5344CB8AC3E}">
        <p14:creationId xmlns:p14="http://schemas.microsoft.com/office/powerpoint/2010/main" val="3297435020"/>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完整的读写函数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lstStyle/>
          <a:p>
            <a:r>
              <a:rPr lang="en-US" altLang="zh-CN" b="0" dirty="0" smtClean="0">
                <a:latin typeface="Times New Roman" panose="02020603050405020304" pitchFamily="18" charset="0"/>
              </a:rPr>
              <a:t>2 </a:t>
            </a:r>
            <a:r>
              <a:rPr lang="zh-CN" altLang="en-US" b="0" dirty="0" smtClean="0"/>
              <a:t>读函数</a:t>
            </a:r>
            <a:r>
              <a:rPr lang="en-US" altLang="zh-CN" b="0" dirty="0" smtClean="0">
                <a:latin typeface="Times New Roman" panose="02020603050405020304" pitchFamily="18" charset="0"/>
              </a:rPr>
              <a:t>read </a:t>
            </a:r>
          </a:p>
          <a:p>
            <a:pPr lvl="1"/>
            <a:r>
              <a:rPr lang="en-US" altLang="zh-CN" dirty="0" err="1" smtClean="0">
                <a:latin typeface="Times New Roman" panose="02020603050405020304" pitchFamily="18" charset="0"/>
              </a:rPr>
              <a:t>ssize_t</a:t>
            </a:r>
            <a:r>
              <a:rPr lang="en-US" altLang="zh-CN" dirty="0" smtClean="0">
                <a:latin typeface="Times New Roman" panose="02020603050405020304" pitchFamily="18" charset="0"/>
              </a:rPr>
              <a:t> read(</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fd,void</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buf,size_t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nbyte</a:t>
            </a:r>
            <a:r>
              <a:rPr lang="en-US" altLang="zh-CN" dirty="0" smtClean="0">
                <a:latin typeface="Times New Roman" panose="02020603050405020304" pitchFamily="18" charset="0"/>
              </a:rPr>
              <a:t>)</a:t>
            </a:r>
          </a:p>
          <a:p>
            <a:pPr lvl="1"/>
            <a:r>
              <a:rPr lang="en-US" altLang="zh-CN" dirty="0" smtClean="0">
                <a:latin typeface="Times New Roman" panose="02020603050405020304" pitchFamily="18" charset="0"/>
              </a:rPr>
              <a:t> read</a:t>
            </a:r>
            <a:r>
              <a:rPr lang="zh-CN" altLang="en-US" dirty="0" smtClean="0"/>
              <a:t>函数是负责从</a:t>
            </a:r>
            <a:r>
              <a:rPr lang="en-US" altLang="zh-CN" dirty="0" err="1" smtClean="0">
                <a:latin typeface="Times New Roman" panose="02020603050405020304" pitchFamily="18" charset="0"/>
              </a:rPr>
              <a:t>fd</a:t>
            </a:r>
            <a:r>
              <a:rPr lang="zh-CN" altLang="en-US" dirty="0" smtClean="0"/>
              <a:t>中读取内容</a:t>
            </a:r>
            <a:r>
              <a:rPr lang="en-US" altLang="zh-CN" dirty="0" smtClean="0">
                <a:latin typeface="Times New Roman" panose="02020603050405020304" pitchFamily="18" charset="0"/>
              </a:rPr>
              <a:t>.</a:t>
            </a:r>
          </a:p>
          <a:p>
            <a:pPr lvl="1"/>
            <a:r>
              <a:rPr lang="zh-CN" altLang="en-US" dirty="0" smtClean="0"/>
              <a:t>当读成功时</a:t>
            </a:r>
            <a:r>
              <a:rPr lang="en-US" altLang="zh-CN" dirty="0" smtClean="0">
                <a:latin typeface="Times New Roman" panose="02020603050405020304" pitchFamily="18" charset="0"/>
              </a:rPr>
              <a:t>,read</a:t>
            </a:r>
            <a:r>
              <a:rPr lang="zh-CN" altLang="en-US" dirty="0" smtClean="0"/>
              <a:t>返回实际所读的字节数</a:t>
            </a:r>
            <a:r>
              <a:rPr lang="en-US" altLang="zh-CN" dirty="0" smtClean="0">
                <a:latin typeface="Times New Roman" panose="02020603050405020304" pitchFamily="18" charset="0"/>
              </a:rPr>
              <a:t>,</a:t>
            </a:r>
            <a:r>
              <a:rPr lang="zh-CN" altLang="en-US" dirty="0" smtClean="0"/>
              <a:t>如果返回的值是</a:t>
            </a:r>
            <a:r>
              <a:rPr lang="en-US" altLang="zh-CN" dirty="0" smtClean="0">
                <a:latin typeface="Times New Roman" panose="02020603050405020304" pitchFamily="18" charset="0"/>
              </a:rPr>
              <a:t>0 </a:t>
            </a:r>
            <a:r>
              <a:rPr lang="zh-CN" altLang="en-US" dirty="0" smtClean="0"/>
              <a:t>表示已经读到文件的结束了</a:t>
            </a:r>
            <a:r>
              <a:rPr lang="en-US" altLang="zh-CN" dirty="0" smtClean="0">
                <a:latin typeface="Times New Roman" panose="02020603050405020304" pitchFamily="18" charset="0"/>
              </a:rPr>
              <a:t>,</a:t>
            </a:r>
            <a:r>
              <a:rPr lang="zh-CN" altLang="en-US" dirty="0" smtClean="0"/>
              <a:t>小于</a:t>
            </a:r>
            <a:r>
              <a:rPr lang="en-US" altLang="zh-CN" dirty="0" smtClean="0">
                <a:latin typeface="Times New Roman" panose="02020603050405020304" pitchFamily="18" charset="0"/>
              </a:rPr>
              <a:t>0</a:t>
            </a:r>
            <a:r>
              <a:rPr lang="zh-CN" altLang="en-US" dirty="0" smtClean="0"/>
              <a:t>表示出现了错误</a:t>
            </a:r>
            <a:r>
              <a:rPr lang="en-US" altLang="zh-CN" dirty="0" smtClean="0">
                <a:latin typeface="Times New Roman" panose="02020603050405020304" pitchFamily="18" charset="0"/>
              </a:rPr>
              <a:t>.</a:t>
            </a:r>
          </a:p>
          <a:p>
            <a:endParaRPr lang="zh-CN" altLang="en-US" dirty="0"/>
          </a:p>
        </p:txBody>
      </p:sp>
    </p:spTree>
    <p:extLst>
      <p:ext uri="{BB962C8B-B14F-4D97-AF65-F5344CB8AC3E}">
        <p14:creationId xmlns:p14="http://schemas.microsoft.com/office/powerpoint/2010/main" val="2596401552"/>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读实例</a:t>
            </a:r>
            <a:endParaRPr lang="zh-CN" altLang="en-US" dirty="0"/>
          </a:p>
        </p:txBody>
      </p:sp>
      <p:sp>
        <p:nvSpPr>
          <p:cNvPr id="3" name="内容占位符 2"/>
          <p:cNvSpPr>
            <a:spLocks noGrp="1"/>
          </p:cNvSpPr>
          <p:nvPr>
            <p:ph idx="1"/>
          </p:nvPr>
        </p:nvSpPr>
        <p:spPr>
          <a:xfrm>
            <a:off x="653642" y="1076421"/>
            <a:ext cx="10515600" cy="5377218"/>
          </a:xfrm>
        </p:spPr>
        <p:txBody>
          <a:bodyPr>
            <a:normAutofit fontScale="92500" lnSpcReduction="20000"/>
          </a:bodyPr>
          <a:lstStyle/>
          <a:p>
            <a:r>
              <a:rPr lang="zh-CN" altLang="en-US" sz="1800" dirty="0" smtClean="0"/>
              <a:t>如果错误为</a:t>
            </a:r>
            <a:r>
              <a:rPr lang="en-US" altLang="zh-CN" sz="1800" dirty="0" smtClean="0">
                <a:latin typeface="Times New Roman" panose="02020603050405020304" pitchFamily="18" charset="0"/>
              </a:rPr>
              <a:t>EINTR</a:t>
            </a:r>
            <a:r>
              <a:rPr lang="zh-CN" altLang="en-US" sz="1800" dirty="0" smtClean="0"/>
              <a:t>说明读是由中断引起的</a:t>
            </a:r>
            <a:r>
              <a:rPr lang="en-US" altLang="zh-CN" sz="1800" dirty="0" smtClean="0">
                <a:latin typeface="Times New Roman" panose="02020603050405020304" pitchFamily="18" charset="0"/>
              </a:rPr>
              <a:t>, </a:t>
            </a:r>
            <a:r>
              <a:rPr lang="zh-CN" altLang="en-US" sz="1800" dirty="0" smtClean="0"/>
              <a:t>如果是</a:t>
            </a:r>
            <a:r>
              <a:rPr lang="en-US" altLang="zh-CN" sz="1800" dirty="0" smtClean="0">
                <a:latin typeface="Times New Roman" panose="02020603050405020304" pitchFamily="18" charset="0"/>
              </a:rPr>
              <a:t>ECONNREST</a:t>
            </a:r>
            <a:r>
              <a:rPr lang="zh-CN" altLang="en-US" sz="1800" dirty="0" smtClean="0"/>
              <a:t>表示网络连接出了问题</a:t>
            </a:r>
            <a:r>
              <a:rPr lang="en-US" altLang="zh-CN" sz="1800" dirty="0" smtClean="0">
                <a:latin typeface="Times New Roman" panose="02020603050405020304" pitchFamily="18" charset="0"/>
              </a:rPr>
              <a:t>. </a:t>
            </a:r>
            <a:r>
              <a:rPr lang="zh-CN" altLang="en-US" sz="1800" dirty="0" smtClean="0"/>
              <a:t>和上面一样</a:t>
            </a:r>
            <a:r>
              <a:rPr lang="en-US" altLang="zh-CN" sz="1800" dirty="0" smtClean="0">
                <a:latin typeface="Times New Roman" panose="02020603050405020304" pitchFamily="18" charset="0"/>
              </a:rPr>
              <a:t>,</a:t>
            </a:r>
            <a:r>
              <a:rPr lang="zh-CN" altLang="en-US" sz="1800" dirty="0" smtClean="0"/>
              <a:t>我们也写一个自己的读函数</a:t>
            </a:r>
            <a:r>
              <a:rPr lang="en-US" altLang="zh-CN" sz="1800" dirty="0" smtClean="0">
                <a:latin typeface="Times New Roman" panose="02020603050405020304" pitchFamily="18" charset="0"/>
              </a:rPr>
              <a:t>. </a:t>
            </a:r>
          </a:p>
          <a:p>
            <a:pPr lvl="1"/>
            <a:r>
              <a:rPr lang="en-US" altLang="zh-CN" sz="1800" dirty="0" err="1" smtClean="0">
                <a:latin typeface="Arial Unicode MS" panose="020B0604020202020204" pitchFamily="34" charset="-122"/>
              </a:rPr>
              <a:t>int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my_read</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int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fd,void</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buffer,int</a:t>
            </a:r>
            <a:r>
              <a:rPr lang="en-US" altLang="zh-CN" sz="1800" dirty="0" smtClean="0">
                <a:latin typeface="Arial Unicode MS" panose="020B0604020202020204" pitchFamily="34" charset="-122"/>
              </a:rPr>
              <a:t> length)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int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bytes_left</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int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char *</a:t>
            </a:r>
            <a:r>
              <a:rPr lang="en-US" altLang="zh-CN" sz="1800" dirty="0" err="1" smtClean="0">
                <a:latin typeface="Arial Unicode MS" panose="020B0604020202020204" pitchFamily="34" charset="-122"/>
              </a:rPr>
              <a:t>ptr</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bytes_left</a:t>
            </a:r>
            <a:r>
              <a:rPr lang="en-US" altLang="zh-CN" sz="1800" dirty="0" smtClean="0">
                <a:latin typeface="Arial Unicode MS" panose="020B0604020202020204" pitchFamily="34" charset="-122"/>
              </a:rPr>
              <a:t>=length;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while(</a:t>
            </a:r>
            <a:r>
              <a:rPr lang="en-US" altLang="zh-CN" sz="1800" dirty="0" err="1" smtClean="0">
                <a:latin typeface="Arial Unicode MS" panose="020B0604020202020204" pitchFamily="34" charset="-122"/>
              </a:rPr>
              <a:t>bytes_left</a:t>
            </a:r>
            <a:r>
              <a:rPr lang="en-US" altLang="zh-CN" sz="1800" dirty="0" smtClean="0">
                <a:latin typeface="Arial Unicode MS" panose="020B0604020202020204" pitchFamily="34" charset="-122"/>
              </a:rPr>
              <a:t>&gt;0)</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=read(</a:t>
            </a:r>
            <a:r>
              <a:rPr lang="en-US" altLang="zh-CN" sz="1800" dirty="0" err="1" smtClean="0">
                <a:latin typeface="Arial Unicode MS" panose="020B0604020202020204" pitchFamily="34" charset="-122"/>
              </a:rPr>
              <a:t>fd,ptr,bytes_read</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if(</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&lt;0)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if(</a:t>
            </a:r>
            <a:r>
              <a:rPr lang="en-US" altLang="zh-CN" sz="1800" dirty="0" err="1" smtClean="0">
                <a:latin typeface="Arial Unicode MS" panose="020B0604020202020204" pitchFamily="34" charset="-122"/>
              </a:rPr>
              <a:t>errno</a:t>
            </a:r>
            <a:r>
              <a:rPr lang="en-US" altLang="zh-CN" sz="1800" dirty="0" smtClean="0">
                <a:latin typeface="Arial Unicode MS" panose="020B0604020202020204" pitchFamily="34" charset="-122"/>
              </a:rPr>
              <a:t>==EINTR)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=0;</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else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return(-1);</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else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if(</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==0)         break;</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bytes_left</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ptr</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bytes_read</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return(length-</a:t>
            </a:r>
            <a:r>
              <a:rPr lang="en-US" altLang="zh-CN" sz="1800" dirty="0" err="1" smtClean="0">
                <a:latin typeface="Arial Unicode MS" panose="020B0604020202020204" pitchFamily="34" charset="-122"/>
              </a:rPr>
              <a:t>bytes_left</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a:t>
            </a:r>
          </a:p>
          <a:p>
            <a:pPr marL="0" indent="0">
              <a:buNone/>
            </a:pPr>
            <a:endParaRPr lang="zh-CN" altLang="en-US" dirty="0"/>
          </a:p>
        </p:txBody>
      </p:sp>
    </p:spTree>
    <p:extLst>
      <p:ext uri="{BB962C8B-B14F-4D97-AF65-F5344CB8AC3E}">
        <p14:creationId xmlns:p14="http://schemas.microsoft.com/office/powerpoint/2010/main" val="1773764304"/>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完整的读写函数</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b="0" dirty="0" smtClean="0">
                <a:latin typeface="Times New Roman" panose="02020603050405020304" pitchFamily="18" charset="0"/>
              </a:rPr>
              <a:t>3 </a:t>
            </a:r>
            <a:r>
              <a:rPr lang="zh-CN" altLang="en-US" b="0" dirty="0" smtClean="0"/>
              <a:t>数据的传递</a:t>
            </a:r>
            <a:r>
              <a:rPr lang="zh-CN" altLang="en-US" b="0" dirty="0" smtClean="0">
                <a:latin typeface="Times New Roman" panose="02020603050405020304" pitchFamily="18" charset="0"/>
              </a:rPr>
              <a:t> </a:t>
            </a:r>
          </a:p>
          <a:p>
            <a:pPr lvl="1"/>
            <a:r>
              <a:rPr lang="zh-CN" altLang="en-US" dirty="0" smtClean="0"/>
              <a:t>有了上面的两个函数</a:t>
            </a:r>
            <a:r>
              <a:rPr lang="en-US" altLang="zh-CN" dirty="0" smtClean="0">
                <a:latin typeface="Times New Roman" panose="02020603050405020304" pitchFamily="18" charset="0"/>
              </a:rPr>
              <a:t>,</a:t>
            </a:r>
            <a:r>
              <a:rPr lang="zh-CN" altLang="en-US" dirty="0" smtClean="0"/>
              <a:t>我们就可以向客户端或者是服务端传递数据了</a:t>
            </a:r>
            <a:r>
              <a:rPr lang="en-US" altLang="zh-CN" dirty="0" smtClean="0">
                <a:latin typeface="Times New Roman" panose="02020603050405020304" pitchFamily="18" charset="0"/>
              </a:rPr>
              <a:t>.</a:t>
            </a:r>
            <a:r>
              <a:rPr lang="zh-CN" altLang="en-US" dirty="0" smtClean="0"/>
              <a:t>比如我们要传递一个结构</a:t>
            </a:r>
            <a:r>
              <a:rPr lang="en-US" altLang="zh-CN" dirty="0" smtClean="0">
                <a:latin typeface="Times New Roman" panose="02020603050405020304" pitchFamily="18" charset="0"/>
              </a:rPr>
              <a:t>.</a:t>
            </a:r>
            <a:r>
              <a:rPr lang="zh-CN" altLang="en-US" dirty="0" smtClean="0"/>
              <a:t>可以使用如下方式</a:t>
            </a:r>
            <a:r>
              <a:rPr lang="zh-CN" altLang="en-US" dirty="0" smtClean="0">
                <a:latin typeface="Times New Roman" panose="02020603050405020304" pitchFamily="18" charset="0"/>
              </a:rPr>
              <a:t> </a:t>
            </a:r>
            <a:r>
              <a:rPr lang="zh-CN" altLang="en-US" dirty="0" smtClean="0"/>
              <a:t>：</a:t>
            </a:r>
          </a:p>
          <a:p>
            <a:pPr lvl="1"/>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客户端向服务端写 *</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my_struct_client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write(</a:t>
            </a:r>
            <a:r>
              <a:rPr lang="en-US" altLang="zh-CN" dirty="0" err="1" smtClean="0">
                <a:latin typeface="Arial Unicode MS" panose="020B0604020202020204" pitchFamily="34" charset="-122"/>
              </a:rPr>
              <a:t>fd</a:t>
            </a:r>
            <a:r>
              <a:rPr lang="en-US" altLang="zh-CN" dirty="0" smtClean="0">
                <a:latin typeface="Arial Unicode MS" panose="020B0604020202020204" pitchFamily="34" charset="-122"/>
              </a:rPr>
              <a:t>,(void *)&amp;</a:t>
            </a:r>
            <a:r>
              <a:rPr lang="en-US" altLang="zh-CN" dirty="0" err="1" smtClean="0">
                <a:latin typeface="Arial Unicode MS" panose="020B0604020202020204" pitchFamily="34" charset="-122"/>
              </a:rPr>
              <a:t>my_struct_client,sizeof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a:t>
            </a:r>
            <a:r>
              <a:rPr lang="en-US" altLang="zh-CN" dirty="0" smtClean="0">
                <a:latin typeface="Arial Unicode MS" panose="020B0604020202020204" pitchFamily="34" charset="-122"/>
              </a:rPr>
              <a:t>); </a:t>
            </a:r>
          </a:p>
          <a:p>
            <a:pPr lvl="1"/>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服务端的读*</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char buffer[</a:t>
            </a:r>
            <a:r>
              <a:rPr lang="en-US" altLang="zh-CN" dirty="0" err="1" smtClean="0">
                <a:latin typeface="Arial Unicode MS" panose="020B0604020202020204" pitchFamily="34" charset="-122"/>
              </a:rPr>
              <a:t>sizeof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my_struct_server</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read(</a:t>
            </a:r>
            <a:r>
              <a:rPr lang="en-US" altLang="zh-CN" dirty="0" err="1" smtClean="0">
                <a:latin typeface="Arial Unicode MS" panose="020B0604020202020204" pitchFamily="34" charset="-122"/>
              </a:rPr>
              <a:t>fd</a:t>
            </a:r>
            <a:r>
              <a:rPr lang="en-US" altLang="zh-CN" dirty="0" smtClean="0">
                <a:latin typeface="Arial Unicode MS" panose="020B0604020202020204" pitchFamily="34" charset="-122"/>
              </a:rPr>
              <a:t>,(void *)</a:t>
            </a:r>
            <a:r>
              <a:rPr lang="en-US" altLang="zh-CN" dirty="0" err="1" smtClean="0">
                <a:latin typeface="Arial Unicode MS" panose="020B0604020202020204" pitchFamily="34" charset="-122"/>
              </a:rPr>
              <a:t>buffer,sizeof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my_struct_server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my_struct</a:t>
            </a:r>
            <a:r>
              <a:rPr lang="en-US" altLang="zh-CN" dirty="0" smtClean="0">
                <a:latin typeface="Arial Unicode MS" panose="020B0604020202020204" pitchFamily="34" charset="-122"/>
              </a:rPr>
              <a:t> *)buffer; </a:t>
            </a:r>
          </a:p>
          <a:p>
            <a:pPr lvl="1"/>
            <a:r>
              <a:rPr lang="zh-CN" altLang="en-US" dirty="0" smtClean="0"/>
              <a:t>在网络上传递数据时我们一般都是把数据转化为</a:t>
            </a:r>
            <a:r>
              <a:rPr lang="en-US" altLang="zh-CN" dirty="0" smtClean="0">
                <a:latin typeface="Times New Roman" panose="02020603050405020304" pitchFamily="18" charset="0"/>
              </a:rPr>
              <a:t>char</a:t>
            </a:r>
            <a:r>
              <a:rPr lang="zh-CN" altLang="en-US" dirty="0" smtClean="0"/>
              <a:t>类型的数据传递</a:t>
            </a:r>
            <a:r>
              <a:rPr lang="en-US" altLang="zh-CN" dirty="0" smtClean="0">
                <a:latin typeface="Times New Roman" panose="02020603050405020304" pitchFamily="18" charset="0"/>
              </a:rPr>
              <a:t>.</a:t>
            </a:r>
            <a:r>
              <a:rPr lang="zh-CN" altLang="en-US" dirty="0" smtClean="0"/>
              <a:t>接收的时候也是一样的。</a:t>
            </a:r>
          </a:p>
          <a:p>
            <a:pPr lvl="1"/>
            <a:r>
              <a:rPr lang="zh-CN" altLang="en-US" dirty="0" smtClean="0"/>
              <a:t>注意的是我们没有必要在网络上传递指针</a:t>
            </a:r>
            <a:r>
              <a:rPr lang="en-US" altLang="zh-CN" dirty="0" smtClean="0">
                <a:latin typeface="Times New Roman" panose="02020603050405020304" pitchFamily="18" charset="0"/>
              </a:rPr>
              <a:t>(</a:t>
            </a:r>
            <a:r>
              <a:rPr lang="zh-CN" altLang="en-US" dirty="0" smtClean="0"/>
              <a:t>因为传递指针是没有任何意义的</a:t>
            </a:r>
            <a:r>
              <a:rPr lang="en-US" altLang="zh-CN" dirty="0" smtClean="0">
                <a:latin typeface="Times New Roman" panose="02020603050405020304" pitchFamily="18" charset="0"/>
              </a:rPr>
              <a:t>,</a:t>
            </a:r>
            <a:r>
              <a:rPr lang="zh-CN" altLang="en-US" dirty="0" smtClean="0"/>
              <a:t>我们必须传递指针所指向的内容</a:t>
            </a:r>
            <a:r>
              <a:rPr lang="en-US" altLang="zh-CN" dirty="0" smtClean="0">
                <a:latin typeface="Times New Roman" panose="02020603050405020304" pitchFamily="18" charset="0"/>
              </a:rPr>
              <a:t>) </a:t>
            </a:r>
            <a:r>
              <a:rPr lang="zh-CN" altLang="en-US" dirty="0" smtClean="0"/>
              <a:t>。</a:t>
            </a:r>
          </a:p>
          <a:p>
            <a:endParaRPr lang="zh-CN" altLang="en-US" dirty="0"/>
          </a:p>
        </p:txBody>
      </p:sp>
    </p:spTree>
    <p:extLst>
      <p:ext uri="{BB962C8B-B14F-4D97-AF65-F5344CB8AC3E}">
        <p14:creationId xmlns:p14="http://schemas.microsoft.com/office/powerpoint/2010/main" val="1973127198"/>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r>
              <a:rPr lang="zh-CN" altLang="en-US" dirty="0" smtClean="0">
                <a:latin typeface="宋体" panose="02010600030101010101" pitchFamily="2" charset="-122"/>
              </a:rPr>
              <a:t>面向连接的传输层套接字</a:t>
            </a:r>
            <a:r>
              <a:rPr lang="zh-CN" altLang="en-US" dirty="0" smtClean="0"/>
              <a:t>举例</a:t>
            </a:r>
            <a:endParaRPr lang="zh-CN" altLang="en-US" dirty="0"/>
          </a:p>
        </p:txBody>
      </p:sp>
      <p:sp>
        <p:nvSpPr>
          <p:cNvPr id="3" name="内容占位符 2"/>
          <p:cNvSpPr>
            <a:spLocks noGrp="1"/>
          </p:cNvSpPr>
          <p:nvPr>
            <p:ph idx="1"/>
          </p:nvPr>
        </p:nvSpPr>
        <p:spPr>
          <a:xfrm>
            <a:off x="838200" y="1473958"/>
            <a:ext cx="4771030" cy="5240741"/>
          </a:xfrm>
        </p:spPr>
        <p:txBody>
          <a:bodyPr>
            <a:normAutofit fontScale="55000" lnSpcReduction="20000"/>
          </a:bodyPr>
          <a:lstStyle/>
          <a:p>
            <a:r>
              <a:rPr lang="zh-CN" altLang="en-US" b="0" dirty="0" smtClean="0"/>
              <a:t>服务器端程序</a:t>
            </a:r>
          </a:p>
          <a:p>
            <a:pPr lvl="1"/>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服务器程序 </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server.c</a:t>
            </a:r>
            <a:r>
              <a:rPr lang="en-US" altLang="zh-CN" dirty="0" smtClean="0">
                <a:latin typeface="Arial Unicode MS" panose="020B0604020202020204" pitchFamily="34" charset="-122"/>
              </a:rPr>
              <a:t>)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stdlib.h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stdio.h</a:t>
            </a:r>
            <a:r>
              <a:rPr lang="en-US" altLang="zh-CN" dirty="0" smtClean="0">
                <a:latin typeface="Arial Unicode MS" panose="020B0604020202020204" pitchFamily="34" charset="-122"/>
              </a:rPr>
              <a:t>&gt;</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errno.h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string.h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netdb.h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types.h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netinet</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socket.h</a:t>
            </a:r>
            <a:r>
              <a:rPr lang="en-US" altLang="zh-CN" dirty="0" smtClean="0">
                <a:latin typeface="Arial Unicode MS" panose="020B0604020202020204" pitchFamily="34" charset="-122"/>
              </a:rPr>
              <a:t>&gt;</a:t>
            </a:r>
          </a:p>
          <a:p>
            <a:pPr marL="457200" lvl="1" indent="0">
              <a:buNone/>
            </a:pPr>
            <a:r>
              <a:rPr lang="zh-CN" altLang="en-US"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main(</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argc</a:t>
            </a:r>
            <a:r>
              <a:rPr lang="en-US" altLang="zh-CN" dirty="0" smtClean="0">
                <a:latin typeface="Arial Unicode MS" panose="020B0604020202020204" pitchFamily="34" charset="-122"/>
              </a:rPr>
              <a:t>, char *</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sockfd,new_fd</a:t>
            </a:r>
            <a:r>
              <a:rPr lang="en-US" altLang="zh-CN" dirty="0" smtClean="0">
                <a:latin typeface="Arial Unicode MS" panose="020B0604020202020204" pitchFamily="34" charset="-122"/>
              </a:rPr>
              <a:t>;</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sockaddr_in</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server_addr</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sockaddr_in</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client_addr</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sin_size,portnumber</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char hello[]="Hello! Are You Fine?\n";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if(</a:t>
            </a:r>
            <a:r>
              <a:rPr lang="en-US" altLang="zh-CN" dirty="0" err="1" smtClean="0">
                <a:latin typeface="Arial Unicode MS" panose="020B0604020202020204" pitchFamily="34" charset="-122"/>
              </a:rPr>
              <a:t>argc</a:t>
            </a:r>
            <a:r>
              <a:rPr lang="en-US" altLang="zh-CN" dirty="0" smtClean="0">
                <a:latin typeface="Arial Unicode MS" panose="020B0604020202020204" pitchFamily="34" charset="-122"/>
              </a:rPr>
              <a:t>!=2)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,"Usage:%s </a:t>
            </a:r>
            <a:r>
              <a:rPr lang="en-US" altLang="zh-CN" dirty="0" err="1" smtClean="0">
                <a:latin typeface="Arial Unicode MS" panose="020B0604020202020204" pitchFamily="34" charset="-122"/>
              </a:rPr>
              <a:t>portnumber</a:t>
            </a:r>
            <a:r>
              <a:rPr lang="en-US" altLang="zh-CN" dirty="0" smtClean="0">
                <a:latin typeface="Arial Unicode MS" panose="020B0604020202020204" pitchFamily="34" charset="-122"/>
              </a:rPr>
              <a:t>\a\n",</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[0]);</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if((</a:t>
            </a:r>
            <a:r>
              <a:rPr lang="en-US" altLang="zh-CN" dirty="0" err="1" smtClean="0">
                <a:latin typeface="Arial Unicode MS" panose="020B0604020202020204" pitchFamily="34" charset="-122"/>
              </a:rPr>
              <a:t>portnumber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atoi</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[1]))&lt;0)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,"Usage:%s </a:t>
            </a:r>
            <a:r>
              <a:rPr lang="en-US" altLang="zh-CN" dirty="0" err="1" smtClean="0">
                <a:latin typeface="Arial Unicode MS" panose="020B0604020202020204" pitchFamily="34" charset="-122"/>
              </a:rPr>
              <a:t>portnumber</a:t>
            </a:r>
            <a:r>
              <a:rPr lang="en-US" altLang="zh-CN" dirty="0" smtClean="0">
                <a:latin typeface="Arial Unicode MS" panose="020B0604020202020204" pitchFamily="34" charset="-122"/>
              </a:rPr>
              <a:t>\a\n",</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[0]);</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 </a:t>
            </a:r>
            <a:endParaRPr lang="zh-CN" altLang="en-US" dirty="0"/>
          </a:p>
        </p:txBody>
      </p:sp>
      <p:sp>
        <p:nvSpPr>
          <p:cNvPr id="4" name="矩形 3"/>
          <p:cNvSpPr/>
          <p:nvPr/>
        </p:nvSpPr>
        <p:spPr>
          <a:xfrm>
            <a:off x="5257800" y="1001173"/>
            <a:ext cx="6096000" cy="6186309"/>
          </a:xfrm>
          <a:prstGeom prst="rect">
            <a:avLst/>
          </a:prstGeom>
        </p:spPr>
        <p:txBody>
          <a:bodyPr>
            <a:spAutoFit/>
          </a:bodyPr>
          <a:lstStyle/>
          <a:p>
            <a:pPr lvl="1"/>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服务器端开始建立</a:t>
            </a:r>
            <a:r>
              <a:rPr lang="en-US" altLang="zh-CN" dirty="0" smtClean="0">
                <a:latin typeface="Arial Unicode MS" panose="020B0604020202020204" pitchFamily="34" charset="-122"/>
              </a:rPr>
              <a:t>socket</a:t>
            </a:r>
            <a:r>
              <a:rPr lang="zh-CN" altLang="en-US" dirty="0" smtClean="0">
                <a:latin typeface="Arial Unicode MS" panose="020B0604020202020204" pitchFamily="34" charset="-122"/>
              </a:rPr>
              <a:t>描述符 *</a:t>
            </a:r>
            <a:r>
              <a:rPr lang="en-US" altLang="zh-CN" dirty="0" smtClean="0">
                <a:latin typeface="Arial Unicode MS" panose="020B0604020202020204" pitchFamily="34" charset="-122"/>
              </a:rPr>
              <a:t>/ </a:t>
            </a:r>
          </a:p>
          <a:p>
            <a:pPr lvl="1"/>
            <a:r>
              <a:rPr lang="en-US" altLang="zh-CN" dirty="0" smtClean="0">
                <a:latin typeface="Arial Unicode MS" panose="020B0604020202020204" pitchFamily="34" charset="-122"/>
              </a:rPr>
              <a:t>if((</a:t>
            </a:r>
            <a:r>
              <a:rPr lang="en-US" altLang="zh-CN" dirty="0" err="1" smtClean="0">
                <a:latin typeface="Arial Unicode MS" panose="020B0604020202020204" pitchFamily="34" charset="-122"/>
              </a:rPr>
              <a:t>sockfd</a:t>
            </a:r>
            <a:r>
              <a:rPr lang="en-US" altLang="zh-CN" dirty="0" smtClean="0">
                <a:latin typeface="Arial Unicode MS" panose="020B0604020202020204" pitchFamily="34" charset="-122"/>
              </a:rPr>
              <a:t>=socket(AF_INET,SOCK_STREAM,0))==-1)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,"Socket error:%s\n\a",</a:t>
            </a:r>
            <a:r>
              <a:rPr lang="en-US" altLang="zh-CN" dirty="0" err="1" smtClean="0">
                <a:latin typeface="Arial Unicode MS" panose="020B0604020202020204" pitchFamily="34" charset="-122"/>
              </a:rPr>
              <a:t>strerror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errno</a:t>
            </a:r>
            <a:r>
              <a:rPr lang="en-US" altLang="zh-CN" dirty="0" smtClean="0">
                <a:latin typeface="Arial Unicode MS" panose="020B0604020202020204" pitchFamily="34" charset="-122"/>
              </a:rPr>
              <a:t>));</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a:t>
            </a:r>
          </a:p>
          <a:p>
            <a:pPr lvl="1"/>
            <a:r>
              <a:rPr lang="en-US" altLang="zh-CN" dirty="0" smtClean="0">
                <a:latin typeface="Arial Unicode MS" panose="020B0604020202020204" pitchFamily="34" charset="-122"/>
              </a:rPr>
              <a:t> /* </a:t>
            </a:r>
            <a:r>
              <a:rPr lang="zh-CN" altLang="en-US" dirty="0" smtClean="0">
                <a:latin typeface="Arial Unicode MS" panose="020B0604020202020204" pitchFamily="34" charset="-122"/>
              </a:rPr>
              <a:t>服务器端填充 </a:t>
            </a:r>
            <a:r>
              <a:rPr lang="en-US" altLang="zh-CN" dirty="0" err="1" smtClean="0">
                <a:latin typeface="Arial Unicode MS" panose="020B0604020202020204" pitchFamily="34" charset="-122"/>
              </a:rPr>
              <a:t>sockaddr</a:t>
            </a:r>
            <a:r>
              <a:rPr lang="zh-CN" altLang="en-US" dirty="0" smtClean="0">
                <a:latin typeface="Arial Unicode MS" panose="020B0604020202020204" pitchFamily="34" charset="-122"/>
              </a:rPr>
              <a:t>结构 *</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bzero</a:t>
            </a:r>
            <a:r>
              <a:rPr lang="en-US" altLang="zh-CN" dirty="0" smtClean="0">
                <a:latin typeface="Arial Unicode MS" panose="020B0604020202020204" pitchFamily="34" charset="-122"/>
              </a:rPr>
              <a:t>(&amp;</a:t>
            </a:r>
            <a:r>
              <a:rPr lang="en-US" altLang="zh-CN" dirty="0" err="1" smtClean="0">
                <a:latin typeface="Arial Unicode MS" panose="020B0604020202020204" pitchFamily="34" charset="-122"/>
              </a:rPr>
              <a:t>server_addr,sizeof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sockaddr_in</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server_addr.sin_family</a:t>
            </a:r>
            <a:r>
              <a:rPr lang="en-US" altLang="zh-CN" dirty="0" smtClean="0">
                <a:latin typeface="Arial Unicode MS" panose="020B0604020202020204" pitchFamily="34" charset="-122"/>
              </a:rPr>
              <a:t>=AF_INET; </a:t>
            </a:r>
            <a:r>
              <a:rPr lang="en-US" altLang="zh-CN" dirty="0" err="1" smtClean="0">
                <a:latin typeface="Arial Unicode MS" panose="020B0604020202020204" pitchFamily="34" charset="-122"/>
              </a:rPr>
              <a:t>server_addr.sin_addr.s_addr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htonl</a:t>
            </a:r>
            <a:r>
              <a:rPr lang="en-US" altLang="zh-CN" dirty="0" smtClean="0">
                <a:latin typeface="Arial Unicode MS" panose="020B0604020202020204" pitchFamily="34" charset="-122"/>
              </a:rPr>
              <a:t>(INADDR_ANY); </a:t>
            </a:r>
            <a:r>
              <a:rPr lang="en-US" altLang="zh-CN" dirty="0" err="1" smtClean="0">
                <a:latin typeface="Arial Unicode MS" panose="020B0604020202020204" pitchFamily="34" charset="-122"/>
              </a:rPr>
              <a:t>server_addr.sin_port</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htons</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portnumber</a:t>
            </a:r>
            <a:r>
              <a:rPr lang="en-US" altLang="zh-CN" dirty="0" smtClean="0">
                <a:latin typeface="Arial Unicode MS" panose="020B0604020202020204" pitchFamily="34" charset="-122"/>
              </a:rPr>
              <a:t>); </a:t>
            </a:r>
          </a:p>
          <a:p>
            <a:pPr lvl="1"/>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捆绑</a:t>
            </a:r>
            <a:r>
              <a:rPr lang="en-US" altLang="zh-CN" dirty="0" err="1" smtClean="0">
                <a:latin typeface="Arial Unicode MS" panose="020B0604020202020204" pitchFamily="34" charset="-122"/>
              </a:rPr>
              <a:t>sockfd</a:t>
            </a:r>
            <a:r>
              <a:rPr lang="zh-CN" altLang="en-US" dirty="0" smtClean="0">
                <a:latin typeface="Arial Unicode MS" panose="020B0604020202020204" pitchFamily="34" charset="-122"/>
              </a:rPr>
              <a:t>描述符 *</a:t>
            </a:r>
            <a:r>
              <a:rPr lang="en-US" altLang="zh-CN" dirty="0" smtClean="0">
                <a:latin typeface="Arial Unicode MS" panose="020B0604020202020204" pitchFamily="34" charset="-122"/>
              </a:rPr>
              <a:t>/</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if(bind(</a:t>
            </a:r>
            <a:r>
              <a:rPr lang="en-US" altLang="zh-CN" dirty="0" err="1" smtClean="0">
                <a:latin typeface="Arial Unicode MS" panose="020B0604020202020204" pitchFamily="34" charset="-122"/>
              </a:rPr>
              <a:t>sockfd</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a:t>
            </a:r>
            <a:r>
              <a:rPr lang="en-US" altLang="zh-CN" dirty="0" smtClean="0">
                <a:latin typeface="Arial Unicode MS" panose="020B0604020202020204" pitchFamily="34" charset="-122"/>
              </a:rPr>
              <a:t> *)(&amp;</a:t>
            </a:r>
            <a:r>
              <a:rPr lang="en-US" altLang="zh-CN" dirty="0" err="1" smtClean="0">
                <a:latin typeface="Arial Unicode MS" panose="020B0604020202020204" pitchFamily="34" charset="-122"/>
              </a:rPr>
              <a:t>server_addr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sizeof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a:t>
            </a:r>
            <a:r>
              <a:rPr lang="en-US" altLang="zh-CN" dirty="0" smtClean="0">
                <a:latin typeface="Arial Unicode MS" panose="020B0604020202020204" pitchFamily="34" charset="-122"/>
              </a:rPr>
              <a:t>))==-1) {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,"Bind error:%s\n\a",</a:t>
            </a:r>
            <a:r>
              <a:rPr lang="en-US" altLang="zh-CN" dirty="0" err="1" smtClean="0">
                <a:latin typeface="Arial Unicode MS" panose="020B0604020202020204" pitchFamily="34" charset="-122"/>
              </a:rPr>
              <a:t>strerror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errno</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a:t>
            </a:r>
          </a:p>
          <a:p>
            <a:pPr lvl="1"/>
            <a:r>
              <a:rPr lang="en-US" altLang="zh-CN" dirty="0" smtClean="0">
                <a:latin typeface="Arial Unicode MS" panose="020B0604020202020204" pitchFamily="34" charset="-122"/>
              </a:rPr>
              <a:t> /* </a:t>
            </a:r>
            <a:r>
              <a:rPr lang="zh-CN" altLang="en-US" dirty="0" smtClean="0">
                <a:latin typeface="Arial Unicode MS" panose="020B0604020202020204" pitchFamily="34" charset="-122"/>
              </a:rPr>
              <a:t>监听</a:t>
            </a:r>
            <a:r>
              <a:rPr lang="en-US" altLang="zh-CN" dirty="0" err="1" smtClean="0">
                <a:latin typeface="Arial Unicode MS" panose="020B0604020202020204" pitchFamily="34" charset="-122"/>
              </a:rPr>
              <a:t>sockfd</a:t>
            </a:r>
            <a:r>
              <a:rPr lang="zh-CN" altLang="en-US" dirty="0" smtClean="0">
                <a:latin typeface="Arial Unicode MS" panose="020B0604020202020204" pitchFamily="34" charset="-122"/>
              </a:rPr>
              <a:t>描述符 *</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if(listen(sockfd,5)==-1)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,"Listen error:%s\n\a",</a:t>
            </a:r>
            <a:r>
              <a:rPr lang="en-US" altLang="zh-CN" dirty="0" err="1" smtClean="0">
                <a:latin typeface="Arial Unicode MS" panose="020B0604020202020204" pitchFamily="34" charset="-122"/>
              </a:rPr>
              <a:t>strerror</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errno</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p>
          <a:p>
            <a:pPr lvl="1"/>
            <a:endParaRPr lang="en-US" altLang="zh-CN" dirty="0" smtClean="0">
              <a:latin typeface="Arial Unicode MS" panose="020B0604020202020204" pitchFamily="34" charset="-122"/>
            </a:endParaRPr>
          </a:p>
        </p:txBody>
      </p:sp>
    </p:spTree>
    <p:extLst>
      <p:ext uri="{BB962C8B-B14F-4D97-AF65-F5344CB8AC3E}">
        <p14:creationId xmlns:p14="http://schemas.microsoft.com/office/powerpoint/2010/main" val="1095542139"/>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06678" y="1115735"/>
            <a:ext cx="10347121" cy="5061227"/>
          </a:xfrm>
        </p:spPr>
        <p:txBody>
          <a:bodyPr>
            <a:noAutofit/>
          </a:bodyPr>
          <a:lstStyle/>
          <a:p>
            <a:pPr marL="457200" lvl="1" indent="0">
              <a:buNone/>
            </a:pPr>
            <a:r>
              <a:rPr lang="en-US" altLang="zh-CN" sz="1800" dirty="0" smtClean="0">
                <a:latin typeface="Arial Unicode MS" panose="020B0604020202020204" pitchFamily="34" charset="-122"/>
              </a:rPr>
              <a:t>while(1) { /* </a:t>
            </a:r>
            <a:r>
              <a:rPr lang="zh-CN" altLang="en-US" sz="1800" dirty="0" smtClean="0">
                <a:latin typeface="Arial Unicode MS" panose="020B0604020202020204" pitchFamily="34" charset="-122"/>
              </a:rPr>
              <a:t>服务器阻塞</a:t>
            </a:r>
            <a:r>
              <a:rPr lang="en-US" altLang="zh-CN" sz="1800" dirty="0" smtClean="0">
                <a:latin typeface="Arial Unicode MS" panose="020B0604020202020204" pitchFamily="34" charset="-122"/>
              </a:rPr>
              <a:t>,</a:t>
            </a:r>
            <a:r>
              <a:rPr lang="zh-CN" altLang="en-US" sz="1800" dirty="0" smtClean="0">
                <a:latin typeface="Arial Unicode MS" panose="020B0604020202020204" pitchFamily="34" charset="-122"/>
              </a:rPr>
              <a:t>直到客户程序建立连接 *</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sin_size</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sizeof</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struct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sockaddr_in</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if((</a:t>
            </a:r>
            <a:r>
              <a:rPr lang="en-US" altLang="zh-CN" sz="1800" dirty="0" err="1" smtClean="0">
                <a:latin typeface="Arial Unicode MS" panose="020B0604020202020204" pitchFamily="34" charset="-122"/>
              </a:rPr>
              <a:t>new_fd</a:t>
            </a:r>
            <a:r>
              <a:rPr lang="en-US" altLang="zh-CN" sz="1800" dirty="0" smtClean="0">
                <a:latin typeface="Arial Unicode MS" panose="020B0604020202020204" pitchFamily="34" charset="-122"/>
              </a:rPr>
              <a:t>=accept(</a:t>
            </a:r>
            <a:r>
              <a:rPr lang="en-US" altLang="zh-CN" sz="1800" dirty="0" err="1" smtClean="0">
                <a:latin typeface="Arial Unicode MS" panose="020B0604020202020204" pitchFamily="34" charset="-122"/>
              </a:rPr>
              <a:t>sockfd</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struct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sockaddr</a:t>
            </a:r>
            <a:r>
              <a:rPr lang="en-US" altLang="zh-CN" sz="1800" dirty="0" smtClean="0">
                <a:latin typeface="Arial Unicode MS" panose="020B0604020202020204" pitchFamily="34" charset="-122"/>
              </a:rPr>
              <a:t> *)(&amp;</a:t>
            </a:r>
            <a:r>
              <a:rPr lang="en-US" altLang="zh-CN" sz="1800" dirty="0" err="1" smtClean="0">
                <a:latin typeface="Arial Unicode MS" panose="020B0604020202020204" pitchFamily="34" charset="-122"/>
              </a:rPr>
              <a:t>client_addr</a:t>
            </a:r>
            <a:r>
              <a:rPr lang="en-US" altLang="zh-CN" sz="1800" dirty="0" smtClean="0">
                <a:latin typeface="Arial Unicode MS" panose="020B0604020202020204" pitchFamily="34" charset="-122"/>
              </a:rPr>
              <a:t>),&amp;</a:t>
            </a:r>
            <a:r>
              <a:rPr lang="en-US" altLang="zh-CN" sz="1800" dirty="0" err="1" smtClean="0">
                <a:latin typeface="Arial Unicode MS" panose="020B0604020202020204" pitchFamily="34" charset="-122"/>
              </a:rPr>
              <a:t>sin_size</a:t>
            </a:r>
            <a:r>
              <a:rPr lang="en-US" altLang="zh-CN" sz="1800" dirty="0" smtClean="0">
                <a:latin typeface="Arial Unicode MS" panose="020B0604020202020204" pitchFamily="34" charset="-122"/>
              </a:rPr>
              <a:t>))==-1) {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fprintf</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stderr</a:t>
            </a:r>
            <a:r>
              <a:rPr lang="en-US" altLang="zh-CN" sz="1800" dirty="0" smtClean="0">
                <a:latin typeface="Arial Unicode MS" panose="020B0604020202020204" pitchFamily="34" charset="-122"/>
              </a:rPr>
              <a:t>,"Accept error:%s\n\a",</a:t>
            </a:r>
            <a:r>
              <a:rPr lang="en-US" altLang="zh-CN" sz="1800" dirty="0" err="1" smtClean="0">
                <a:latin typeface="Arial Unicode MS" panose="020B0604020202020204" pitchFamily="34" charset="-122"/>
              </a:rPr>
              <a:t>strerror</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errno</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exit(1);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fprintf</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stderr</a:t>
            </a:r>
            <a:r>
              <a:rPr lang="en-US" altLang="zh-CN" sz="1800" dirty="0" smtClean="0">
                <a:latin typeface="Arial Unicode MS" panose="020B0604020202020204" pitchFamily="34" charset="-122"/>
              </a:rPr>
              <a:t>,</a:t>
            </a:r>
            <a:r>
              <a:rPr lang="en-US" altLang="zh-CN" sz="1800" dirty="0" smtClean="0"/>
              <a:t>“</a:t>
            </a:r>
            <a:r>
              <a:rPr lang="en-US" altLang="zh-CN" sz="1800" dirty="0" smtClean="0">
                <a:latin typeface="Arial Unicode MS" panose="020B0604020202020204" pitchFamily="34" charset="-122"/>
              </a:rPr>
              <a:t>Server get connection from %s\n</a:t>
            </a:r>
            <a:r>
              <a:rPr lang="en-US" altLang="zh-CN" sz="1800" dirty="0" smtClean="0"/>
              <a:t>”</a:t>
            </a: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inet_ntoa</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client_addr.sin_addr</a:t>
            </a:r>
            <a:r>
              <a:rPr lang="en-US" altLang="zh-CN" sz="1800" dirty="0" smtClean="0">
                <a:latin typeface="Arial Unicode MS" panose="020B0604020202020204" pitchFamily="34" charset="-122"/>
              </a:rPr>
              <a:t>));</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if(write(</a:t>
            </a:r>
            <a:r>
              <a:rPr lang="en-US" altLang="zh-CN" sz="1800" dirty="0" err="1" smtClean="0">
                <a:latin typeface="Arial Unicode MS" panose="020B0604020202020204" pitchFamily="34" charset="-122"/>
              </a:rPr>
              <a:t>new_fd,hello,strlen</a:t>
            </a:r>
            <a:r>
              <a:rPr lang="en-US" altLang="zh-CN" sz="1800" dirty="0" smtClean="0">
                <a:latin typeface="Arial Unicode MS" panose="020B0604020202020204" pitchFamily="34" charset="-122"/>
              </a:rPr>
              <a:t>(hello))==-1) {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r>
              <a:rPr lang="en-US" altLang="zh-CN" sz="1800" dirty="0" err="1" smtClean="0">
                <a:latin typeface="Arial Unicode MS" panose="020B0604020202020204" pitchFamily="34" charset="-122"/>
              </a:rPr>
              <a:t>fprintf</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stderr</a:t>
            </a:r>
            <a:r>
              <a:rPr lang="en-US" altLang="zh-CN" sz="1800" dirty="0" smtClean="0">
                <a:latin typeface="Arial Unicode MS" panose="020B0604020202020204" pitchFamily="34" charset="-122"/>
              </a:rPr>
              <a:t>,</a:t>
            </a:r>
            <a:r>
              <a:rPr lang="en-US" altLang="zh-CN" sz="1800" dirty="0" smtClean="0"/>
              <a:t>“</a:t>
            </a:r>
            <a:r>
              <a:rPr lang="en-US" altLang="zh-CN" sz="1800" dirty="0" smtClean="0">
                <a:latin typeface="Arial Unicode MS" panose="020B0604020202020204" pitchFamily="34" charset="-122"/>
              </a:rPr>
              <a:t>Write Error:%s\n</a:t>
            </a:r>
            <a:r>
              <a:rPr lang="en-US" altLang="zh-CN" sz="1800" dirty="0" smtClean="0"/>
              <a:t>”</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strerror</a:t>
            </a:r>
            <a:r>
              <a:rPr lang="en-US" altLang="zh-CN" sz="1800" dirty="0" smtClean="0">
                <a:latin typeface="Arial Unicode MS" panose="020B0604020202020204" pitchFamily="34" charset="-122"/>
              </a:rPr>
              <a:t>(</a:t>
            </a:r>
            <a:r>
              <a:rPr lang="en-US" altLang="zh-CN" sz="1800" dirty="0" err="1" smtClean="0">
                <a:latin typeface="Arial Unicode MS" panose="020B0604020202020204" pitchFamily="34" charset="-122"/>
              </a:rPr>
              <a:t>errno</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exit(1);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 </a:t>
            </a:r>
          </a:p>
          <a:p>
            <a:pPr marL="457200" lvl="1" indent="0">
              <a:buNone/>
            </a:pPr>
            <a:r>
              <a:rPr lang="en-US" altLang="zh-CN" sz="1800" dirty="0" smtClean="0">
                <a:latin typeface="Arial Unicode MS" panose="020B0604020202020204" pitchFamily="34" charset="-122"/>
              </a:rPr>
              <a:t>/* </a:t>
            </a:r>
            <a:r>
              <a:rPr lang="zh-CN" altLang="en-US" sz="1800" dirty="0" smtClean="0">
                <a:latin typeface="Arial Unicode MS" panose="020B0604020202020204" pitchFamily="34" charset="-122"/>
              </a:rPr>
              <a:t>这个通讯已经结束 *</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close(</a:t>
            </a:r>
            <a:r>
              <a:rPr lang="en-US" altLang="zh-CN" sz="1800" dirty="0" err="1" smtClean="0">
                <a:latin typeface="Arial Unicode MS" panose="020B0604020202020204" pitchFamily="34" charset="-122"/>
              </a:rPr>
              <a:t>new_fd</a:t>
            </a:r>
            <a:r>
              <a:rPr lang="en-US" altLang="zh-CN" sz="1800" dirty="0" smtClean="0">
                <a:latin typeface="Arial Unicode MS" panose="020B0604020202020204" pitchFamily="34" charset="-122"/>
              </a:rPr>
              <a:t>); /* </a:t>
            </a:r>
            <a:r>
              <a:rPr lang="zh-CN" altLang="en-US" sz="1800" dirty="0" smtClean="0">
                <a:latin typeface="Arial Unicode MS" panose="020B0604020202020204" pitchFamily="34" charset="-122"/>
              </a:rPr>
              <a:t>循环下一个 *</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p>
          <a:p>
            <a:pPr marL="0" indent="0">
              <a:buNone/>
            </a:pPr>
            <a:r>
              <a:rPr lang="zh-CN" altLang="en-US" sz="1800" dirty="0" smtClean="0">
                <a:latin typeface="Arial Unicode MS" panose="020B0604020202020204" pitchFamily="34" charset="-122"/>
              </a:rPr>
              <a:t> </a:t>
            </a:r>
            <a:r>
              <a:rPr lang="en-US" altLang="zh-CN" sz="1800" dirty="0" smtClean="0">
                <a:latin typeface="Arial Unicode MS" panose="020B0604020202020204" pitchFamily="34" charset="-122"/>
              </a:rPr>
              <a:t>close(</a:t>
            </a:r>
            <a:r>
              <a:rPr lang="en-US" altLang="zh-CN" sz="1800" dirty="0" err="1" smtClean="0">
                <a:latin typeface="Arial Unicode MS" panose="020B0604020202020204" pitchFamily="34" charset="-122"/>
              </a:rPr>
              <a:t>sockfd</a:t>
            </a:r>
            <a:r>
              <a:rPr lang="en-US" altLang="zh-CN" sz="1800" dirty="0" smtClean="0">
                <a:latin typeface="Arial Unicode MS" panose="020B0604020202020204" pitchFamily="34" charset="-122"/>
              </a:rPr>
              <a:t>);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exit(0); </a:t>
            </a:r>
            <a:br>
              <a:rPr lang="en-US" altLang="zh-CN" sz="1800" dirty="0" smtClean="0">
                <a:latin typeface="Arial Unicode MS" panose="020B0604020202020204" pitchFamily="34" charset="-122"/>
              </a:rPr>
            </a:br>
            <a:r>
              <a:rPr lang="en-US" altLang="zh-CN" sz="1800" dirty="0" smtClean="0">
                <a:latin typeface="Arial Unicode MS" panose="020B0604020202020204" pitchFamily="34" charset="-122"/>
              </a:rPr>
              <a:t>} </a:t>
            </a:r>
            <a:endParaRPr lang="zh-CN" altLang="en-US" sz="1800" dirty="0"/>
          </a:p>
        </p:txBody>
      </p:sp>
    </p:spTree>
    <p:extLst>
      <p:ext uri="{BB962C8B-B14F-4D97-AF65-F5344CB8AC3E}">
        <p14:creationId xmlns:p14="http://schemas.microsoft.com/office/powerpoint/2010/main" val="968302904"/>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rPr>
              <a:t>面向连接的传输层套接字</a:t>
            </a:r>
            <a:r>
              <a:rPr lang="zh-CN" altLang="en-US" dirty="0" smtClean="0"/>
              <a:t>举例</a:t>
            </a:r>
            <a:endParaRPr lang="zh-CN" altLang="en-US" dirty="0"/>
          </a:p>
        </p:txBody>
      </p:sp>
      <p:sp>
        <p:nvSpPr>
          <p:cNvPr id="3" name="内容占位符 2"/>
          <p:cNvSpPr>
            <a:spLocks noGrp="1"/>
          </p:cNvSpPr>
          <p:nvPr>
            <p:ph idx="1"/>
          </p:nvPr>
        </p:nvSpPr>
        <p:spPr>
          <a:xfrm>
            <a:off x="365079" y="1230007"/>
            <a:ext cx="4391480" cy="4323505"/>
          </a:xfrm>
        </p:spPr>
        <p:style>
          <a:lnRef idx="1">
            <a:schemeClr val="accent1"/>
          </a:lnRef>
          <a:fillRef idx="2">
            <a:schemeClr val="accent1"/>
          </a:fillRef>
          <a:effectRef idx="1">
            <a:schemeClr val="accent1"/>
          </a:effectRef>
          <a:fontRef idx="minor">
            <a:schemeClr val="dk1"/>
          </a:fontRef>
        </p:style>
        <p:txBody>
          <a:bodyPr>
            <a:normAutofit fontScale="55000" lnSpcReduction="20000"/>
          </a:bodyPr>
          <a:lstStyle/>
          <a:p>
            <a:r>
              <a:rPr lang="zh-CN" altLang="en-US" b="0" dirty="0" smtClean="0"/>
              <a:t>客户端程序</a:t>
            </a:r>
          </a:p>
          <a:p>
            <a:pPr marL="457200" lvl="1" indent="0">
              <a:buNone/>
            </a:pPr>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客户端程序 </a:t>
            </a:r>
            <a:r>
              <a:rPr lang="en-US" altLang="zh-CN" dirty="0" err="1" smtClean="0">
                <a:latin typeface="Arial Unicode MS" panose="020B0604020202020204" pitchFamily="34" charset="-122"/>
              </a:rPr>
              <a:t>client.c</a:t>
            </a:r>
            <a:r>
              <a:rPr lang="en-US" altLang="zh-CN" dirty="0" smtClean="0">
                <a:latin typeface="Arial Unicode MS" panose="020B0604020202020204" pitchFamily="34" charset="-122"/>
              </a:rPr>
              <a:t>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stdlib.h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stdio.h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errno.h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string.h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netdb.h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types.h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netinet</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in.h</a:t>
            </a:r>
            <a:r>
              <a:rPr lang="en-US" altLang="zh-CN" dirty="0" smtClean="0">
                <a:latin typeface="Arial Unicode MS" panose="020B0604020202020204" pitchFamily="34" charset="-122"/>
              </a:rPr>
              <a:t>&gt;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socket.h</a:t>
            </a:r>
            <a:r>
              <a:rPr lang="en-US" altLang="zh-CN" dirty="0" smtClean="0">
                <a:latin typeface="Arial Unicode MS" panose="020B0604020202020204" pitchFamily="34" charset="-122"/>
              </a:rPr>
              <a:t>&gt;</a:t>
            </a:r>
          </a:p>
          <a:p>
            <a:pPr marL="457200" lvl="1" indent="0">
              <a:buNone/>
            </a:pPr>
            <a:r>
              <a:rPr lang="zh-CN" altLang="en-US"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main(</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argc</a:t>
            </a:r>
            <a:r>
              <a:rPr lang="en-US" altLang="zh-CN" dirty="0" smtClean="0">
                <a:latin typeface="Arial Unicode MS" panose="020B0604020202020204" pitchFamily="34" charset="-122"/>
              </a:rPr>
              <a:t>, char *</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char buffer[1024];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sockaddr_in</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server_addr</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hostent</a:t>
            </a:r>
            <a:r>
              <a:rPr lang="en-US" altLang="zh-CN" dirty="0" smtClean="0">
                <a:latin typeface="Arial Unicode MS" panose="020B0604020202020204" pitchFamily="34" charset="-122"/>
              </a:rPr>
              <a:t> *host;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portnumber,nbytes</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if(</a:t>
            </a:r>
            <a:r>
              <a:rPr lang="en-US" altLang="zh-CN" dirty="0" err="1" smtClean="0">
                <a:latin typeface="Arial Unicode MS" panose="020B0604020202020204" pitchFamily="34" charset="-122"/>
              </a:rPr>
              <a:t>argc</a:t>
            </a:r>
            <a:r>
              <a:rPr lang="en-US" altLang="zh-CN" dirty="0" smtClean="0">
                <a:latin typeface="Arial Unicode MS" panose="020B0604020202020204" pitchFamily="34" charset="-122"/>
              </a:rPr>
              <a:t>!=3) {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fprintf</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stderr</a:t>
            </a:r>
            <a:r>
              <a:rPr lang="en-US" altLang="zh-CN" dirty="0" smtClean="0">
                <a:latin typeface="Arial Unicode MS" panose="020B0604020202020204" pitchFamily="34" charset="-122"/>
              </a:rPr>
              <a:t>,"Usage:%s hostname </a:t>
            </a:r>
            <a:r>
              <a:rPr lang="en-US" altLang="zh-CN" dirty="0" err="1" smtClean="0">
                <a:latin typeface="Arial Unicode MS" panose="020B0604020202020204" pitchFamily="34" charset="-122"/>
              </a:rPr>
              <a:t>portnumber</a:t>
            </a:r>
            <a:r>
              <a:rPr lang="en-US" altLang="zh-CN" dirty="0" smtClean="0">
                <a:latin typeface="Arial Unicode MS" panose="020B0604020202020204" pitchFamily="34" charset="-122"/>
              </a:rPr>
              <a:t>\a\n",</a:t>
            </a:r>
            <a:r>
              <a:rPr lang="en-US" altLang="zh-CN" dirty="0" err="1" smtClean="0">
                <a:latin typeface="Arial Unicode MS" panose="020B0604020202020204" pitchFamily="34" charset="-122"/>
              </a:rPr>
              <a:t>argv</a:t>
            </a:r>
            <a:r>
              <a:rPr lang="en-US" altLang="zh-CN" dirty="0" smtClean="0">
                <a:latin typeface="Arial Unicode MS" panose="020B0604020202020204" pitchFamily="34" charset="-122"/>
              </a:rPr>
              <a:t>[0]);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exit(1);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 </a:t>
            </a:r>
          </a:p>
          <a:p>
            <a:endParaRPr lang="zh-CN" altLang="en-US" dirty="0"/>
          </a:p>
        </p:txBody>
      </p:sp>
      <p:sp>
        <p:nvSpPr>
          <p:cNvPr id="4" name="矩形 3"/>
          <p:cNvSpPr/>
          <p:nvPr/>
        </p:nvSpPr>
        <p:spPr>
          <a:xfrm>
            <a:off x="5042451" y="1254461"/>
            <a:ext cx="6096000" cy="452431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r>
              <a:rPr lang="zh-CN" altLang="en-US" sz="1600" dirty="0" smtClean="0">
                <a:latin typeface="Arial Unicode MS" panose="020B0604020202020204" pitchFamily="34" charset="-122"/>
              </a:rPr>
              <a:t> </a:t>
            </a:r>
            <a:r>
              <a:rPr lang="en-US" altLang="zh-CN" sz="1600" dirty="0" smtClean="0">
                <a:latin typeface="Arial Unicode MS" panose="020B0604020202020204" pitchFamily="34" charset="-122"/>
              </a:rPr>
              <a:t>if((host=</a:t>
            </a:r>
            <a:r>
              <a:rPr lang="en-US" altLang="zh-CN" sz="1600" dirty="0" err="1" smtClean="0">
                <a:latin typeface="Arial Unicode MS" panose="020B0604020202020204" pitchFamily="34" charset="-122"/>
              </a:rPr>
              <a:t>gethostbyname</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argv</a:t>
            </a:r>
            <a:r>
              <a:rPr lang="en-US" altLang="zh-CN" sz="1600" dirty="0" smtClean="0">
                <a:latin typeface="Arial Unicode MS" panose="020B0604020202020204" pitchFamily="34" charset="-122"/>
              </a:rPr>
              <a:t>[1]))==NULL)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a:t>
            </a:r>
            <a:r>
              <a:rPr lang="en-US" altLang="zh-CN" sz="1600" dirty="0" err="1" smtClean="0">
                <a:latin typeface="Arial Unicode MS" panose="020B0604020202020204" pitchFamily="34" charset="-122"/>
              </a:rPr>
              <a:t>fprintf</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stderr</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Gethostname</a:t>
            </a:r>
            <a:r>
              <a:rPr lang="en-US" altLang="zh-CN" sz="1600" dirty="0" smtClean="0">
                <a:latin typeface="Arial Unicode MS" panose="020B0604020202020204" pitchFamily="34" charset="-122"/>
              </a:rPr>
              <a:t> error\n");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exit(1);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if((</a:t>
            </a:r>
            <a:r>
              <a:rPr lang="en-US" altLang="zh-CN" sz="1600" dirty="0" err="1" smtClean="0">
                <a:latin typeface="Arial Unicode MS" panose="020B0604020202020204" pitchFamily="34" charset="-122"/>
              </a:rPr>
              <a:t>portnumber</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atoi</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argv</a:t>
            </a:r>
            <a:r>
              <a:rPr lang="en-US" altLang="zh-CN" sz="1600" dirty="0" smtClean="0">
                <a:latin typeface="Arial Unicode MS" panose="020B0604020202020204" pitchFamily="34" charset="-122"/>
              </a:rPr>
              <a:t>[2]))&lt;0)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a:t>
            </a:r>
            <a:r>
              <a:rPr lang="en-US" altLang="zh-CN" sz="1600" dirty="0" err="1" smtClean="0">
                <a:latin typeface="Arial Unicode MS" panose="020B0604020202020204" pitchFamily="34" charset="-122"/>
              </a:rPr>
              <a:t>fprintf</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stderr</a:t>
            </a:r>
            <a:r>
              <a:rPr lang="en-US" altLang="zh-CN" sz="1600" dirty="0" smtClean="0">
                <a:latin typeface="Arial Unicode MS" panose="020B0604020202020204" pitchFamily="34" charset="-122"/>
              </a:rPr>
              <a:t>,"Usage:%s hostname </a:t>
            </a:r>
            <a:r>
              <a:rPr lang="en-US" altLang="zh-CN" sz="1600" dirty="0" err="1" smtClean="0">
                <a:latin typeface="Arial Unicode MS" panose="020B0604020202020204" pitchFamily="34" charset="-122"/>
              </a:rPr>
              <a:t>portnumber</a:t>
            </a:r>
            <a:r>
              <a:rPr lang="en-US" altLang="zh-CN" sz="1600" dirty="0" smtClean="0">
                <a:latin typeface="Arial Unicode MS" panose="020B0604020202020204" pitchFamily="34" charset="-122"/>
              </a:rPr>
              <a:t>\a\n",</a:t>
            </a:r>
            <a:r>
              <a:rPr lang="en-US" altLang="zh-CN" sz="1600" dirty="0" err="1" smtClean="0">
                <a:latin typeface="Arial Unicode MS" panose="020B0604020202020204" pitchFamily="34" charset="-122"/>
              </a:rPr>
              <a:t>argv</a:t>
            </a:r>
            <a:r>
              <a:rPr lang="en-US" altLang="zh-CN" sz="1600" dirty="0" smtClean="0">
                <a:latin typeface="Arial Unicode MS" panose="020B0604020202020204" pitchFamily="34" charset="-122"/>
              </a:rPr>
              <a:t>[0]);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exit(1);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a:t>
            </a:r>
          </a:p>
          <a:p>
            <a:pPr lvl="1"/>
            <a:r>
              <a:rPr lang="en-US" altLang="zh-CN" sz="1600" dirty="0" smtClean="0">
                <a:latin typeface="Arial Unicode MS" panose="020B0604020202020204" pitchFamily="34" charset="-122"/>
              </a:rPr>
              <a:t>/* </a:t>
            </a:r>
            <a:r>
              <a:rPr lang="zh-CN" altLang="en-US" sz="1600" dirty="0" smtClean="0">
                <a:latin typeface="Arial Unicode MS" panose="020B0604020202020204" pitchFamily="34" charset="-122"/>
              </a:rPr>
              <a:t>客户程序开始建立 </a:t>
            </a:r>
            <a:r>
              <a:rPr lang="en-US" altLang="zh-CN" sz="1600" dirty="0" err="1" smtClean="0">
                <a:latin typeface="Arial Unicode MS" panose="020B0604020202020204" pitchFamily="34" charset="-122"/>
              </a:rPr>
              <a:t>sockfd</a:t>
            </a:r>
            <a:r>
              <a:rPr lang="zh-CN" altLang="en-US" sz="1600" dirty="0" smtClean="0">
                <a:latin typeface="Arial Unicode MS" panose="020B0604020202020204" pitchFamily="34" charset="-122"/>
              </a:rPr>
              <a:t>描述符 *</a:t>
            </a: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if((</a:t>
            </a:r>
            <a:r>
              <a:rPr lang="en-US" altLang="zh-CN" sz="1600" dirty="0" err="1" smtClean="0">
                <a:latin typeface="Arial Unicode MS" panose="020B0604020202020204" pitchFamily="34" charset="-122"/>
              </a:rPr>
              <a:t>sockfd</a:t>
            </a:r>
            <a:r>
              <a:rPr lang="en-US" altLang="zh-CN" sz="1600" dirty="0" smtClean="0">
                <a:latin typeface="Arial Unicode MS" panose="020B0604020202020204" pitchFamily="34" charset="-122"/>
              </a:rPr>
              <a:t>=socket(AF_INET,SOCK_STREAM,0))==-1) {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a:t>
            </a:r>
            <a:r>
              <a:rPr lang="en-US" altLang="zh-CN" sz="1600" dirty="0" err="1" smtClean="0">
                <a:latin typeface="Arial Unicode MS" panose="020B0604020202020204" pitchFamily="34" charset="-122"/>
              </a:rPr>
              <a:t>fprintf</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stderr</a:t>
            </a:r>
            <a:r>
              <a:rPr lang="en-US" altLang="zh-CN" sz="1600" dirty="0" smtClean="0">
                <a:latin typeface="Arial Unicode MS" panose="020B0604020202020204" pitchFamily="34" charset="-122"/>
              </a:rPr>
              <a:t>,"Socket Error:%s\a\n",</a:t>
            </a:r>
            <a:r>
              <a:rPr lang="en-US" altLang="zh-CN" sz="1600" dirty="0" err="1" smtClean="0">
                <a:latin typeface="Arial Unicode MS" panose="020B0604020202020204" pitchFamily="34" charset="-122"/>
              </a:rPr>
              <a:t>strerror</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errno</a:t>
            </a: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smtClean="0">
                <a:latin typeface="Arial Unicode MS" panose="020B0604020202020204" pitchFamily="34" charset="-122"/>
              </a:rPr>
              <a:t>     exit(1); } </a:t>
            </a:r>
          </a:p>
          <a:p>
            <a:pPr lvl="1"/>
            <a:r>
              <a:rPr lang="en-US" altLang="zh-CN" sz="1600" dirty="0" smtClean="0">
                <a:latin typeface="Arial Unicode MS" panose="020B0604020202020204" pitchFamily="34" charset="-122"/>
              </a:rPr>
              <a:t>/* </a:t>
            </a:r>
            <a:r>
              <a:rPr lang="zh-CN" altLang="en-US" sz="1600" dirty="0" smtClean="0">
                <a:latin typeface="Arial Unicode MS" panose="020B0604020202020204" pitchFamily="34" charset="-122"/>
              </a:rPr>
              <a:t>客户程序填充服务端的资料 *</a:t>
            </a: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err="1" smtClean="0">
                <a:latin typeface="Arial Unicode MS" panose="020B0604020202020204" pitchFamily="34" charset="-122"/>
              </a:rPr>
              <a:t>bzero</a:t>
            </a:r>
            <a:r>
              <a:rPr lang="en-US" altLang="zh-CN" sz="1600" dirty="0" smtClean="0">
                <a:latin typeface="Arial Unicode MS" panose="020B0604020202020204" pitchFamily="34" charset="-122"/>
              </a:rPr>
              <a:t>(&amp;</a:t>
            </a:r>
            <a:r>
              <a:rPr lang="en-US" altLang="zh-CN" sz="1600" dirty="0" err="1" smtClean="0">
                <a:latin typeface="Arial Unicode MS" panose="020B0604020202020204" pitchFamily="34" charset="-122"/>
              </a:rPr>
              <a:t>server_addr,sizeof</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server_addr</a:t>
            </a: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err="1" smtClean="0">
                <a:latin typeface="Arial Unicode MS" panose="020B0604020202020204" pitchFamily="34" charset="-122"/>
              </a:rPr>
              <a:t>server_addr.sin_family</a:t>
            </a:r>
            <a:r>
              <a:rPr lang="en-US" altLang="zh-CN" sz="1600" dirty="0" smtClean="0">
                <a:latin typeface="Arial Unicode MS" panose="020B0604020202020204" pitchFamily="34" charset="-122"/>
              </a:rPr>
              <a:t>=AF_INET; </a:t>
            </a:r>
            <a:br>
              <a:rPr lang="en-US" altLang="zh-CN" sz="1600" dirty="0" smtClean="0">
                <a:latin typeface="Arial Unicode MS" panose="020B0604020202020204" pitchFamily="34" charset="-122"/>
              </a:rPr>
            </a:br>
            <a:r>
              <a:rPr lang="en-US" altLang="zh-CN" sz="1600" dirty="0" err="1" smtClean="0">
                <a:latin typeface="Arial Unicode MS" panose="020B0604020202020204" pitchFamily="34" charset="-122"/>
              </a:rPr>
              <a:t>server_addr.sin_port</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htons</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portnumber</a:t>
            </a:r>
            <a:r>
              <a:rPr lang="en-US" altLang="zh-CN" sz="1600" dirty="0" smtClean="0">
                <a:latin typeface="Arial Unicode MS" panose="020B0604020202020204" pitchFamily="34" charset="-122"/>
              </a:rPr>
              <a:t>); </a:t>
            </a:r>
            <a:br>
              <a:rPr lang="en-US" altLang="zh-CN" sz="1600" dirty="0" smtClean="0">
                <a:latin typeface="Arial Unicode MS" panose="020B0604020202020204" pitchFamily="34" charset="-122"/>
              </a:rPr>
            </a:br>
            <a:r>
              <a:rPr lang="en-US" altLang="zh-CN" sz="1600" dirty="0" err="1" smtClean="0">
                <a:latin typeface="Arial Unicode MS" panose="020B0604020202020204" pitchFamily="34" charset="-122"/>
              </a:rPr>
              <a:t>server_addr.sin_addr</a:t>
            </a:r>
            <a:r>
              <a:rPr lang="en-US" altLang="zh-CN" sz="1600" dirty="0" smtClean="0">
                <a:latin typeface="Arial Unicode MS" panose="020B0604020202020204" pitchFamily="34" charset="-122"/>
              </a:rPr>
              <a:t>=*((</a:t>
            </a:r>
            <a:r>
              <a:rPr lang="en-US" altLang="zh-CN" sz="1600" dirty="0" err="1" smtClean="0">
                <a:latin typeface="Arial Unicode MS" panose="020B0604020202020204" pitchFamily="34" charset="-122"/>
              </a:rPr>
              <a:t>struct</a:t>
            </a:r>
            <a:r>
              <a:rPr lang="en-US" altLang="zh-CN" sz="1600" dirty="0" smtClean="0">
                <a:latin typeface="Arial Unicode MS" panose="020B0604020202020204" pitchFamily="34" charset="-122"/>
              </a:rPr>
              <a:t> </a:t>
            </a:r>
            <a:r>
              <a:rPr lang="en-US" altLang="zh-CN" sz="1600" dirty="0" err="1" smtClean="0">
                <a:latin typeface="Arial Unicode MS" panose="020B0604020202020204" pitchFamily="34" charset="-122"/>
              </a:rPr>
              <a:t>in_addr</a:t>
            </a:r>
            <a:r>
              <a:rPr lang="en-US" altLang="zh-CN" sz="1600" dirty="0" smtClean="0">
                <a:latin typeface="Arial Unicode MS" panose="020B0604020202020204" pitchFamily="34" charset="-122"/>
              </a:rPr>
              <a:t> *)host-&gt;</a:t>
            </a:r>
            <a:r>
              <a:rPr lang="en-US" altLang="zh-CN" sz="1600" dirty="0" err="1" smtClean="0">
                <a:latin typeface="Arial Unicode MS" panose="020B0604020202020204" pitchFamily="34" charset="-122"/>
              </a:rPr>
              <a:t>h_addr</a:t>
            </a:r>
            <a:r>
              <a:rPr lang="en-US" altLang="zh-CN" sz="1600" dirty="0" smtClean="0">
                <a:latin typeface="Arial Unicode MS" panose="020B0604020202020204" pitchFamily="34" charset="-122"/>
              </a:rPr>
              <a:t>); </a:t>
            </a:r>
          </a:p>
          <a:p>
            <a:endParaRPr lang="zh-CN" altLang="en-US" sz="1600" dirty="0"/>
          </a:p>
        </p:txBody>
      </p:sp>
    </p:spTree>
    <p:extLst>
      <p:ext uri="{BB962C8B-B14F-4D97-AF65-F5344CB8AC3E}">
        <p14:creationId xmlns:p14="http://schemas.microsoft.com/office/powerpoint/2010/main" val="2686697927"/>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32483" y="1175586"/>
            <a:ext cx="7877961" cy="4755431"/>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pPr marL="457200" lvl="1" indent="0">
              <a:buNone/>
            </a:pPr>
            <a:r>
              <a:rPr lang="en-US" altLang="zh-CN" dirty="0">
                <a:latin typeface="Arial Unicode MS" panose="020B0604020202020204" pitchFamily="34" charset="-122"/>
              </a:rPr>
              <a:t>/* </a:t>
            </a:r>
            <a:r>
              <a:rPr lang="zh-CN" altLang="en-US" dirty="0">
                <a:latin typeface="Arial Unicode MS" panose="020B0604020202020204" pitchFamily="34" charset="-122"/>
              </a:rPr>
              <a:t>客户程序发起连接请求 *</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if(connect(</a:t>
            </a:r>
            <a:r>
              <a:rPr lang="en-US" altLang="zh-CN" dirty="0" err="1">
                <a:latin typeface="Arial Unicode MS" panose="020B0604020202020204" pitchFamily="34" charset="-122"/>
              </a:rPr>
              <a:t>sockfd</a:t>
            </a:r>
            <a:r>
              <a:rPr lang="en-US" altLang="zh-CN" dirty="0">
                <a:latin typeface="Arial Unicode MS" panose="020B0604020202020204" pitchFamily="34" charset="-122"/>
              </a:rPr>
              <a:t>,(</a:t>
            </a:r>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sockaddr</a:t>
            </a:r>
            <a:r>
              <a:rPr lang="en-US" altLang="zh-CN" dirty="0">
                <a:latin typeface="Arial Unicode MS" panose="020B0604020202020204" pitchFamily="34" charset="-122"/>
              </a:rPr>
              <a:t> *)(&amp;</a:t>
            </a:r>
            <a:r>
              <a:rPr lang="en-US" altLang="zh-CN" dirty="0" err="1">
                <a:latin typeface="Arial Unicode MS" panose="020B0604020202020204" pitchFamily="34" charset="-122"/>
              </a:rPr>
              <a:t>server_addr</a:t>
            </a:r>
            <a:r>
              <a:rPr lang="en-US" altLang="zh-CN" dirty="0">
                <a:latin typeface="Arial Unicode MS" panose="020B0604020202020204" pitchFamily="34" charset="-122"/>
              </a:rPr>
              <a:t>),</a:t>
            </a:r>
            <a:r>
              <a:rPr lang="en-US" altLang="zh-CN" dirty="0" err="1">
                <a:latin typeface="Arial Unicode MS" panose="020B0604020202020204" pitchFamily="34" charset="-122"/>
              </a:rPr>
              <a:t>sizeof</a:t>
            </a:r>
            <a:r>
              <a:rPr lang="en-US" altLang="zh-CN" dirty="0">
                <a:latin typeface="Arial Unicode MS" panose="020B0604020202020204" pitchFamily="34" charset="-122"/>
              </a:rPr>
              <a:t>(</a:t>
            </a:r>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sockaddr</a:t>
            </a:r>
            <a:r>
              <a:rPr lang="en-US" altLang="zh-CN" dirty="0">
                <a:latin typeface="Arial Unicode MS" panose="020B0604020202020204" pitchFamily="34" charset="-122"/>
              </a:rPr>
              <a:t>))==-1) </a:t>
            </a:r>
            <a:br>
              <a:rPr lang="en-US" altLang="zh-CN" dirty="0">
                <a:latin typeface="Arial Unicode MS" panose="020B0604020202020204" pitchFamily="34" charset="-122"/>
              </a:rPr>
            </a:br>
            <a:r>
              <a:rPr lang="en-US" altLang="zh-CN" dirty="0">
                <a:latin typeface="Arial Unicode MS" panose="020B0604020202020204" pitchFamily="34" charset="-122"/>
              </a:rPr>
              <a:t>{      </a:t>
            </a:r>
            <a:r>
              <a:rPr lang="en-US" altLang="zh-CN" dirty="0" err="1">
                <a:latin typeface="Arial Unicode MS" panose="020B0604020202020204" pitchFamily="34" charset="-122"/>
              </a:rPr>
              <a:t>fprintf</a:t>
            </a:r>
            <a:r>
              <a:rPr lang="en-US" altLang="zh-CN" dirty="0">
                <a:latin typeface="Arial Unicode MS" panose="020B0604020202020204" pitchFamily="34" charset="-122"/>
              </a:rPr>
              <a:t>(</a:t>
            </a:r>
            <a:r>
              <a:rPr lang="en-US" altLang="zh-CN" dirty="0" err="1">
                <a:latin typeface="Arial Unicode MS" panose="020B0604020202020204" pitchFamily="34" charset="-122"/>
              </a:rPr>
              <a:t>stderr</a:t>
            </a:r>
            <a:r>
              <a:rPr lang="en-US" altLang="zh-CN" dirty="0">
                <a:latin typeface="Arial Unicode MS" panose="020B0604020202020204" pitchFamily="34" charset="-122"/>
              </a:rPr>
              <a:t>,"Connect Error:%s\a\n",</a:t>
            </a:r>
            <a:r>
              <a:rPr lang="en-US" altLang="zh-CN" dirty="0" err="1">
                <a:latin typeface="Arial Unicode MS" panose="020B0604020202020204" pitchFamily="34" charset="-122"/>
              </a:rPr>
              <a:t>strerror</a:t>
            </a:r>
            <a:r>
              <a:rPr lang="en-US" altLang="zh-CN" dirty="0">
                <a:latin typeface="Arial Unicode MS" panose="020B0604020202020204" pitchFamily="34" charset="-122"/>
              </a:rPr>
              <a:t>(</a:t>
            </a:r>
            <a:r>
              <a:rPr lang="en-US" altLang="zh-CN" dirty="0" err="1">
                <a:latin typeface="Arial Unicode MS" panose="020B0604020202020204" pitchFamily="34" charset="-122"/>
              </a:rPr>
              <a:t>errno</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       exit(1); } </a:t>
            </a:r>
          </a:p>
          <a:p>
            <a:pPr marL="457200" lvl="1" indent="0">
              <a:buNone/>
            </a:pPr>
            <a:r>
              <a:rPr lang="en-US" altLang="zh-CN" dirty="0">
                <a:latin typeface="Arial Unicode MS" panose="020B0604020202020204" pitchFamily="34" charset="-122"/>
              </a:rPr>
              <a:t>/* </a:t>
            </a:r>
            <a:r>
              <a:rPr lang="zh-CN" altLang="en-US" dirty="0">
                <a:latin typeface="Arial Unicode MS" panose="020B0604020202020204" pitchFamily="34" charset="-122"/>
              </a:rPr>
              <a:t>连接成功了 *</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if((</a:t>
            </a:r>
            <a:r>
              <a:rPr lang="en-US" altLang="zh-CN" dirty="0" err="1">
                <a:latin typeface="Arial Unicode MS" panose="020B0604020202020204" pitchFamily="34" charset="-122"/>
              </a:rPr>
              <a:t>nbytes</a:t>
            </a:r>
            <a:r>
              <a:rPr lang="en-US" altLang="zh-CN" dirty="0">
                <a:latin typeface="Arial Unicode MS" panose="020B0604020202020204" pitchFamily="34" charset="-122"/>
              </a:rPr>
              <a:t>=read(sockfd,buffer,1024))==-1) { </a:t>
            </a:r>
            <a:br>
              <a:rPr lang="en-US" altLang="zh-CN" dirty="0">
                <a:latin typeface="Arial Unicode MS" panose="020B0604020202020204" pitchFamily="34" charset="-122"/>
              </a:rPr>
            </a:br>
            <a:r>
              <a:rPr lang="en-US" altLang="zh-CN" dirty="0">
                <a:latin typeface="Arial Unicode MS" panose="020B0604020202020204" pitchFamily="34" charset="-122"/>
              </a:rPr>
              <a:t>      </a:t>
            </a:r>
            <a:r>
              <a:rPr lang="en-US" altLang="zh-CN" dirty="0" err="1">
                <a:latin typeface="Arial Unicode MS" panose="020B0604020202020204" pitchFamily="34" charset="-122"/>
              </a:rPr>
              <a:t>fprintf</a:t>
            </a:r>
            <a:r>
              <a:rPr lang="en-US" altLang="zh-CN" dirty="0">
                <a:latin typeface="Arial Unicode MS" panose="020B0604020202020204" pitchFamily="34" charset="-122"/>
              </a:rPr>
              <a:t>(</a:t>
            </a:r>
            <a:r>
              <a:rPr lang="en-US" altLang="zh-CN" dirty="0" err="1">
                <a:latin typeface="Arial Unicode MS" panose="020B0604020202020204" pitchFamily="34" charset="-122"/>
              </a:rPr>
              <a:t>stderr</a:t>
            </a:r>
            <a:r>
              <a:rPr lang="en-US" altLang="zh-CN" dirty="0">
                <a:latin typeface="Arial Unicode MS" panose="020B0604020202020204" pitchFamily="34" charset="-122"/>
              </a:rPr>
              <a:t>,"Read Error:%s\n",</a:t>
            </a:r>
            <a:r>
              <a:rPr lang="en-US" altLang="zh-CN" dirty="0" err="1">
                <a:latin typeface="Arial Unicode MS" panose="020B0604020202020204" pitchFamily="34" charset="-122"/>
              </a:rPr>
              <a:t>strerror</a:t>
            </a:r>
            <a:r>
              <a:rPr lang="en-US" altLang="zh-CN" dirty="0">
                <a:latin typeface="Arial Unicode MS" panose="020B0604020202020204" pitchFamily="34" charset="-122"/>
              </a:rPr>
              <a:t>(</a:t>
            </a:r>
            <a:r>
              <a:rPr lang="en-US" altLang="zh-CN" dirty="0" err="1">
                <a:latin typeface="Arial Unicode MS" panose="020B0604020202020204" pitchFamily="34" charset="-122"/>
              </a:rPr>
              <a:t>errno</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      exit(1); </a:t>
            </a:r>
            <a:br>
              <a:rPr lang="en-US" altLang="zh-CN" dirty="0">
                <a:latin typeface="Arial Unicode MS" panose="020B0604020202020204" pitchFamily="34" charset="-122"/>
              </a:rPr>
            </a:b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buffer[</a:t>
            </a:r>
            <a:r>
              <a:rPr lang="en-US" altLang="zh-CN" dirty="0" err="1">
                <a:latin typeface="Arial Unicode MS" panose="020B0604020202020204" pitchFamily="34" charset="-122"/>
              </a:rPr>
              <a:t>nbytes</a:t>
            </a:r>
            <a:r>
              <a:rPr lang="en-US" altLang="zh-CN" dirty="0">
                <a:latin typeface="Arial Unicode MS" panose="020B0604020202020204" pitchFamily="34" charset="-122"/>
              </a:rPr>
              <a:t>]='\0'; </a:t>
            </a:r>
            <a:br>
              <a:rPr lang="en-US" altLang="zh-CN" dirty="0">
                <a:latin typeface="Arial Unicode MS" panose="020B0604020202020204" pitchFamily="34" charset="-122"/>
              </a:rPr>
            </a:br>
            <a:r>
              <a:rPr lang="en-US" altLang="zh-CN" dirty="0" err="1">
                <a:latin typeface="Arial Unicode MS" panose="020B0604020202020204" pitchFamily="34" charset="-122"/>
              </a:rPr>
              <a:t>printf</a:t>
            </a:r>
            <a:r>
              <a:rPr lang="en-US" altLang="zh-CN" dirty="0">
                <a:latin typeface="Arial Unicode MS" panose="020B0604020202020204" pitchFamily="34" charset="-122"/>
              </a:rPr>
              <a:t>("I have received:%s\</a:t>
            </a:r>
            <a:r>
              <a:rPr lang="en-US" altLang="zh-CN" dirty="0" err="1">
                <a:latin typeface="Arial Unicode MS" panose="020B0604020202020204" pitchFamily="34" charset="-122"/>
              </a:rPr>
              <a:t>n",buffer</a:t>
            </a:r>
            <a:r>
              <a:rPr lang="en-US" altLang="zh-CN" dirty="0">
                <a:latin typeface="Arial Unicode MS" panose="020B0604020202020204" pitchFamily="34" charset="-122"/>
              </a:rPr>
              <a:t>); </a:t>
            </a:r>
          </a:p>
          <a:p>
            <a:pPr marL="0" lvl="1" indent="0">
              <a:spcBef>
                <a:spcPts val="1000"/>
              </a:spcBef>
              <a:buNone/>
            </a:pPr>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结束通讯 *</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close(</a:t>
            </a:r>
            <a:r>
              <a:rPr lang="en-US" altLang="zh-CN" dirty="0" err="1" smtClean="0">
                <a:latin typeface="Arial Unicode MS" panose="020B0604020202020204" pitchFamily="34" charset="-122"/>
              </a:rPr>
              <a:t>sockfd</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exit(0);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 </a:t>
            </a:r>
          </a:p>
        </p:txBody>
      </p:sp>
    </p:spTree>
    <p:extLst>
      <p:ext uri="{BB962C8B-B14F-4D97-AF65-F5344CB8AC3E}">
        <p14:creationId xmlns:p14="http://schemas.microsoft.com/office/powerpoint/2010/main" val="877929764"/>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无连接的套接字编程</a:t>
            </a:r>
            <a:endParaRPr lang="zh-CN" altLang="en-US" dirty="0"/>
          </a:p>
        </p:txBody>
      </p:sp>
      <p:sp>
        <p:nvSpPr>
          <p:cNvPr id="3" name="内容占位符 2"/>
          <p:cNvSpPr>
            <a:spLocks noGrp="1"/>
          </p:cNvSpPr>
          <p:nvPr>
            <p:ph idx="1"/>
          </p:nvPr>
        </p:nvSpPr>
        <p:spPr/>
        <p:txBody>
          <a:bodyPr/>
          <a:lstStyle/>
          <a:p>
            <a:pPr marL="228600" lvl="1">
              <a:spcBef>
                <a:spcPts val="1000"/>
              </a:spcBef>
            </a:pPr>
            <a:r>
              <a:rPr kumimoji="1" lang="zh-CN" altLang="en-US" dirty="0" smtClean="0"/>
              <a:t>使用数据报套接字开发网络应用程序，既可以采用客户</a:t>
            </a:r>
            <a:r>
              <a:rPr kumimoji="1" lang="en-US" altLang="zh-CN" dirty="0" smtClean="0"/>
              <a:t>/</a:t>
            </a:r>
            <a:r>
              <a:rPr kumimoji="1" lang="zh-CN" altLang="en-US" dirty="0" smtClean="0"/>
              <a:t>服务器模式，也可以采用对等模式。</a:t>
            </a:r>
          </a:p>
          <a:p>
            <a:endParaRPr lang="zh-CN" altLang="en-US" dirty="0"/>
          </a:p>
        </p:txBody>
      </p:sp>
      <p:pic>
        <p:nvPicPr>
          <p:cNvPr id="4" name="Picture 4" descr="图形2_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2543" y="2116999"/>
            <a:ext cx="78486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5596860"/>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客户</a:t>
            </a:r>
            <a:r>
              <a:rPr kumimoji="1" lang="en-US" altLang="zh-CN" dirty="0" smtClean="0"/>
              <a:t>/</a:t>
            </a:r>
            <a:r>
              <a:rPr kumimoji="1" lang="zh-CN" altLang="en-US" dirty="0" smtClean="0"/>
              <a:t>服务器模式</a:t>
            </a:r>
            <a:endParaRPr lang="zh-CN" altLang="en-US" dirty="0"/>
          </a:p>
        </p:txBody>
      </p:sp>
      <p:pic>
        <p:nvPicPr>
          <p:cNvPr id="4" name="Picture 4" descr="图形2_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388" y="1085848"/>
            <a:ext cx="7239000" cy="480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3808408"/>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通信机制</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在服务器端</a:t>
            </a:r>
          </a:p>
          <a:p>
            <a:pPr lvl="1"/>
            <a:r>
              <a:rPr lang="zh-CN" altLang="en-US" dirty="0" smtClean="0"/>
              <a:t>服务器先使用</a:t>
            </a:r>
            <a:r>
              <a:rPr lang="en-US" altLang="zh-CN" dirty="0" smtClean="0"/>
              <a:t>AF_INET</a:t>
            </a:r>
            <a:r>
              <a:rPr lang="zh-CN" altLang="en-US" dirty="0" smtClean="0"/>
              <a:t>协议族创建</a:t>
            </a:r>
            <a:r>
              <a:rPr lang="en-US" altLang="zh-CN" dirty="0" smtClean="0"/>
              <a:t>UDP</a:t>
            </a:r>
            <a:r>
              <a:rPr lang="zh-CN" altLang="en-US" dirty="0" smtClean="0"/>
              <a:t>数据报类型的套接字，该</a:t>
            </a:r>
            <a:r>
              <a:rPr lang="en-US" altLang="zh-CN" dirty="0" smtClean="0"/>
              <a:t>socket</a:t>
            </a:r>
            <a:r>
              <a:rPr lang="zh-CN" altLang="en-US" dirty="0" smtClean="0"/>
              <a:t>类型为</a:t>
            </a:r>
            <a:r>
              <a:rPr lang="en-US" altLang="zh-CN" dirty="0" smtClean="0"/>
              <a:t>SOCK_DGRAM</a:t>
            </a:r>
            <a:r>
              <a:rPr lang="zh-CN" altLang="en-US" dirty="0" smtClean="0"/>
              <a:t>；</a:t>
            </a:r>
          </a:p>
          <a:p>
            <a:pPr lvl="1"/>
            <a:r>
              <a:rPr lang="zh-CN" altLang="en-US" dirty="0" smtClean="0"/>
              <a:t>然后服务器调用</a:t>
            </a:r>
            <a:r>
              <a:rPr lang="en-US" altLang="zh-CN" dirty="0" smtClean="0"/>
              <a:t>bind</a:t>
            </a:r>
            <a:r>
              <a:rPr lang="zh-CN" altLang="en-US" dirty="0" smtClean="0"/>
              <a:t>函数，给此</a:t>
            </a:r>
            <a:r>
              <a:rPr lang="en-US" altLang="zh-CN" dirty="0" smtClean="0"/>
              <a:t>UDP</a:t>
            </a:r>
            <a:r>
              <a:rPr lang="zh-CN" altLang="en-US" dirty="0" smtClean="0"/>
              <a:t>套接字绑定一个端口；</a:t>
            </a:r>
          </a:p>
          <a:p>
            <a:pPr lvl="1"/>
            <a:r>
              <a:rPr lang="zh-CN" altLang="en-US" dirty="0" smtClean="0"/>
              <a:t>调用</a:t>
            </a:r>
            <a:r>
              <a:rPr lang="en-US" altLang="zh-CN" dirty="0" err="1" smtClean="0"/>
              <a:t>recvfrom</a:t>
            </a:r>
            <a:r>
              <a:rPr lang="zh-CN" altLang="en-US" dirty="0" smtClean="0"/>
              <a:t>函数在指定的端口上等待客户端发送来的</a:t>
            </a:r>
            <a:r>
              <a:rPr lang="en-US" altLang="zh-CN" dirty="0" smtClean="0"/>
              <a:t>UDP</a:t>
            </a:r>
            <a:r>
              <a:rPr lang="zh-CN" altLang="en-US" dirty="0" smtClean="0"/>
              <a:t>数据报。</a:t>
            </a:r>
          </a:p>
          <a:p>
            <a:r>
              <a:rPr lang="zh-CN" altLang="en-US" dirty="0" smtClean="0"/>
              <a:t>在客户端</a:t>
            </a:r>
          </a:p>
          <a:p>
            <a:pPr lvl="1"/>
            <a:r>
              <a:rPr lang="zh-CN" altLang="en-US" dirty="0" smtClean="0"/>
              <a:t>先通过</a:t>
            </a:r>
            <a:r>
              <a:rPr lang="en-US" altLang="zh-CN" dirty="0" smtClean="0"/>
              <a:t>socket</a:t>
            </a:r>
            <a:r>
              <a:rPr lang="zh-CN" altLang="en-US" dirty="0" smtClean="0"/>
              <a:t>函数创建一个数据报套接字；</a:t>
            </a:r>
          </a:p>
          <a:p>
            <a:pPr lvl="1"/>
            <a:r>
              <a:rPr lang="zh-CN" altLang="en-US" dirty="0" smtClean="0"/>
              <a:t>然后由操作系统为这个套接字分配端口号；</a:t>
            </a:r>
          </a:p>
          <a:p>
            <a:pPr lvl="1"/>
            <a:r>
              <a:rPr lang="zh-CN" altLang="en-US" dirty="0" smtClean="0"/>
              <a:t>此后客户端就可以使用</a:t>
            </a:r>
            <a:r>
              <a:rPr lang="en-US" altLang="zh-CN" dirty="0" err="1" smtClean="0"/>
              <a:t>sendto</a:t>
            </a:r>
            <a:r>
              <a:rPr lang="zh-CN" altLang="en-US" dirty="0" smtClean="0"/>
              <a:t>函数向一个指定的地址发送一个</a:t>
            </a:r>
            <a:r>
              <a:rPr lang="en-US" altLang="zh-CN" dirty="0" smtClean="0"/>
              <a:t>UDP</a:t>
            </a:r>
            <a:r>
              <a:rPr lang="zh-CN" altLang="en-US" dirty="0" smtClean="0"/>
              <a:t>套接字。</a:t>
            </a:r>
          </a:p>
          <a:p>
            <a:pPr lvl="1"/>
            <a:r>
              <a:rPr lang="zh-CN" altLang="en-US" dirty="0" smtClean="0"/>
              <a:t>在服务器端收到套接字后，从</a:t>
            </a:r>
            <a:r>
              <a:rPr lang="en-US" altLang="zh-CN" dirty="0" err="1" smtClean="0"/>
              <a:t>recvfrom</a:t>
            </a:r>
            <a:r>
              <a:rPr lang="zh-CN" altLang="en-US" dirty="0" smtClean="0"/>
              <a:t>中返回，在对数据进行处理之后，再用</a:t>
            </a:r>
            <a:r>
              <a:rPr lang="en-US" altLang="zh-CN" dirty="0" err="1" smtClean="0"/>
              <a:t>sendto</a:t>
            </a:r>
            <a:r>
              <a:rPr lang="zh-CN" altLang="en-US" dirty="0" smtClean="0"/>
              <a:t>函数处理的结果返回客户端。</a:t>
            </a:r>
          </a:p>
          <a:p>
            <a:endParaRPr lang="zh-CN" altLang="en-US" dirty="0"/>
          </a:p>
        </p:txBody>
      </p:sp>
    </p:spTree>
    <p:extLst>
      <p:ext uri="{BB962C8B-B14F-4D97-AF65-F5344CB8AC3E}">
        <p14:creationId xmlns:p14="http://schemas.microsoft.com/office/powerpoint/2010/main" val="2176925814"/>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与</a:t>
            </a:r>
            <a:r>
              <a:rPr lang="en-US" altLang="zh-CN" dirty="0" smtClean="0"/>
              <a:t>TCP</a:t>
            </a:r>
            <a:r>
              <a:rPr lang="zh-CN" altLang="en-US" dirty="0" smtClean="0"/>
              <a:t>的比较</a:t>
            </a:r>
            <a:endParaRPr lang="zh-CN" altLang="en-US" dirty="0"/>
          </a:p>
        </p:txBody>
      </p:sp>
      <p:sp>
        <p:nvSpPr>
          <p:cNvPr id="3" name="内容占位符 2"/>
          <p:cNvSpPr>
            <a:spLocks noGrp="1"/>
          </p:cNvSpPr>
          <p:nvPr>
            <p:ph idx="1"/>
          </p:nvPr>
        </p:nvSpPr>
        <p:spPr/>
        <p:txBody>
          <a:bodyPr/>
          <a:lstStyle/>
          <a:p>
            <a:r>
              <a:rPr lang="en-US" altLang="zh-CN" dirty="0" smtClean="0"/>
              <a:t>UDP</a:t>
            </a:r>
            <a:r>
              <a:rPr lang="zh-CN" altLang="en-US" dirty="0" smtClean="0"/>
              <a:t>服务器通常是非连接的</a:t>
            </a:r>
          </a:p>
          <a:p>
            <a:pPr lvl="1"/>
            <a:r>
              <a:rPr lang="zh-CN" altLang="en-US" dirty="0" smtClean="0"/>
              <a:t>因而</a:t>
            </a:r>
            <a:r>
              <a:rPr lang="en-US" altLang="zh-CN" dirty="0" smtClean="0"/>
              <a:t>UDP</a:t>
            </a:r>
            <a:r>
              <a:rPr lang="zh-CN" altLang="en-US" dirty="0" smtClean="0"/>
              <a:t>服务器进程不需要象</a:t>
            </a:r>
            <a:r>
              <a:rPr lang="en-US" altLang="zh-CN" dirty="0" smtClean="0"/>
              <a:t>TCP</a:t>
            </a:r>
            <a:r>
              <a:rPr lang="zh-CN" altLang="en-US" dirty="0" smtClean="0"/>
              <a:t>服务器那样在倾听套接字上接收新建的连接；</a:t>
            </a:r>
          </a:p>
          <a:p>
            <a:pPr lvl="1"/>
            <a:r>
              <a:rPr lang="en-US" altLang="zh-CN" dirty="0" smtClean="0"/>
              <a:t>UDP</a:t>
            </a:r>
            <a:r>
              <a:rPr lang="zh-CN" altLang="en-US" dirty="0" smtClean="0"/>
              <a:t>只需要在绑定的端口上等待客户机发送来的</a:t>
            </a:r>
            <a:r>
              <a:rPr lang="en-US" altLang="zh-CN" dirty="0" smtClean="0"/>
              <a:t>UDP</a:t>
            </a:r>
            <a:r>
              <a:rPr lang="zh-CN" altLang="en-US" dirty="0" smtClean="0"/>
              <a:t>数据报，并对其进行处理和响应。</a:t>
            </a:r>
          </a:p>
          <a:p>
            <a:pPr lvl="1"/>
            <a:r>
              <a:rPr lang="zh-CN" altLang="en-US" dirty="0" smtClean="0"/>
              <a:t>一个</a:t>
            </a:r>
            <a:r>
              <a:rPr lang="en-US" altLang="zh-CN" dirty="0" smtClean="0"/>
              <a:t>TCP</a:t>
            </a:r>
            <a:r>
              <a:rPr lang="zh-CN" altLang="en-US" dirty="0" smtClean="0"/>
              <a:t>服务器进程只有在完成了对某客户机的服务后，才能为其他的客户机提供服务；</a:t>
            </a:r>
          </a:p>
          <a:p>
            <a:pPr lvl="1"/>
            <a:r>
              <a:rPr lang="en-US" altLang="zh-CN" dirty="0" smtClean="0"/>
              <a:t>UDP</a:t>
            </a:r>
            <a:r>
              <a:rPr lang="zh-CN" altLang="en-US" dirty="0" smtClean="0"/>
              <a:t>客户机并不独占服务器，</a:t>
            </a:r>
            <a:r>
              <a:rPr lang="en-US" altLang="zh-CN" dirty="0" smtClean="0"/>
              <a:t>UDP</a:t>
            </a:r>
            <a:r>
              <a:rPr lang="zh-CN" altLang="en-US" dirty="0" smtClean="0"/>
              <a:t>服务器只是接收数据报，处理并返回结果。</a:t>
            </a:r>
          </a:p>
          <a:p>
            <a:endParaRPr lang="zh-CN" altLang="en-US" dirty="0"/>
          </a:p>
        </p:txBody>
      </p:sp>
    </p:spTree>
    <p:extLst>
      <p:ext uri="{BB962C8B-B14F-4D97-AF65-F5344CB8AC3E}">
        <p14:creationId xmlns:p14="http://schemas.microsoft.com/office/powerpoint/2010/main" val="4015385517"/>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的应用场合</a:t>
            </a:r>
            <a:endParaRPr lang="zh-CN" altLang="en-US" dirty="0"/>
          </a:p>
        </p:txBody>
      </p:sp>
      <p:sp>
        <p:nvSpPr>
          <p:cNvPr id="3" name="内容占位符 2"/>
          <p:cNvSpPr>
            <a:spLocks noGrp="1"/>
          </p:cNvSpPr>
          <p:nvPr>
            <p:ph idx="1"/>
          </p:nvPr>
        </p:nvSpPr>
        <p:spPr/>
        <p:txBody>
          <a:bodyPr/>
          <a:lstStyle/>
          <a:p>
            <a:r>
              <a:rPr lang="en-US" altLang="zh-CN" dirty="0" smtClean="0"/>
              <a:t>UDP</a:t>
            </a:r>
            <a:r>
              <a:rPr lang="zh-CN" altLang="en-US" dirty="0" smtClean="0"/>
              <a:t>支持广播和多播。如果要使用广播和多播，必须使用</a:t>
            </a:r>
            <a:r>
              <a:rPr lang="en-US" altLang="zh-CN" dirty="0" smtClean="0"/>
              <a:t>UDP</a:t>
            </a:r>
            <a:r>
              <a:rPr lang="zh-CN" altLang="en-US" dirty="0" smtClean="0"/>
              <a:t>套接字。</a:t>
            </a:r>
          </a:p>
          <a:p>
            <a:r>
              <a:rPr lang="en-US" altLang="zh-CN" dirty="0" smtClean="0"/>
              <a:t>UDP</a:t>
            </a:r>
            <a:r>
              <a:rPr lang="zh-CN" altLang="en-US" dirty="0" smtClean="0"/>
              <a:t>套接字没有连接的建立和终止过程。</a:t>
            </a:r>
            <a:r>
              <a:rPr lang="en-US" altLang="zh-CN" dirty="0" smtClean="0"/>
              <a:t>UDP</a:t>
            </a:r>
            <a:r>
              <a:rPr lang="zh-CN" altLang="en-US" dirty="0" smtClean="0"/>
              <a:t>只需要两个分组来交换一个请求和应答。</a:t>
            </a:r>
          </a:p>
          <a:p>
            <a:r>
              <a:rPr lang="en-US" altLang="zh-CN" dirty="0" smtClean="0"/>
              <a:t>UDP</a:t>
            </a:r>
            <a:r>
              <a:rPr lang="zh-CN" altLang="en-US" dirty="0" smtClean="0"/>
              <a:t>不适合海量数据的传输。</a:t>
            </a:r>
          </a:p>
          <a:p>
            <a:endParaRPr lang="zh-CN" altLang="en-US" dirty="0"/>
          </a:p>
        </p:txBody>
      </p:sp>
    </p:spTree>
    <p:extLst>
      <p:ext uri="{BB962C8B-B14F-4D97-AF65-F5344CB8AC3E}">
        <p14:creationId xmlns:p14="http://schemas.microsoft.com/office/powerpoint/2010/main" val="1219604811"/>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无连接的传输层套接字</a:t>
            </a:r>
            <a:r>
              <a:rPr lang="zh-CN" altLang="en-US" dirty="0" smtClean="0"/>
              <a:t> </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两个常用的函数</a:t>
            </a:r>
            <a:r>
              <a:rPr lang="zh-CN" altLang="en-US" b="0" dirty="0" smtClean="0"/>
              <a:t> </a:t>
            </a:r>
          </a:p>
          <a:p>
            <a:pPr lvl="1"/>
            <a:r>
              <a:rPr lang="en-US" altLang="zh-CN" b="0" dirty="0" smtClean="0">
                <a:latin typeface="Arial Unicode MS" panose="020B0604020202020204" pitchFamily="34" charset="-122"/>
              </a:rPr>
              <a:t># include &lt;sys/</a:t>
            </a:r>
            <a:r>
              <a:rPr lang="en-US" altLang="zh-CN" b="0" dirty="0" err="1" smtClean="0">
                <a:latin typeface="Arial Unicode MS" panose="020B0604020202020204" pitchFamily="34" charset="-122"/>
              </a:rPr>
              <a:t>socket.h</a:t>
            </a:r>
            <a:r>
              <a:rPr lang="en-US" altLang="zh-CN" b="0" dirty="0" smtClean="0">
                <a:latin typeface="Arial Unicode MS" panose="020B0604020202020204" pitchFamily="34" charset="-122"/>
              </a:rPr>
              <a:t>&gt;</a:t>
            </a:r>
          </a:p>
          <a:p>
            <a:pPr lvl="1"/>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recvfrom</a:t>
            </a:r>
            <a:r>
              <a:rPr lang="en-US" altLang="zh-CN" b="0" dirty="0" smtClean="0">
                <a:latin typeface="Arial Unicode MS" panose="020B0604020202020204" pitchFamily="34" charset="-122"/>
              </a:rPr>
              <a:t>(</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sockfd,void</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buf,int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len,unsigned</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flags,struct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sockaddr</a:t>
            </a:r>
            <a:r>
              <a:rPr lang="en-US" altLang="zh-CN" b="0" dirty="0" smtClean="0">
                <a:latin typeface="Arial Unicode MS" panose="020B0604020202020204" pitchFamily="34" charset="-122"/>
              </a:rPr>
              <a:t> * from </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fromlen</a:t>
            </a:r>
            <a:r>
              <a:rPr lang="en-US" altLang="zh-CN" b="0" dirty="0" smtClean="0">
                <a:latin typeface="Arial Unicode MS" panose="020B0604020202020204" pitchFamily="34" charset="-122"/>
              </a:rPr>
              <a:t>) </a:t>
            </a:r>
          </a:p>
          <a:p>
            <a:pPr lvl="1"/>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sendto</a:t>
            </a:r>
            <a:r>
              <a:rPr lang="en-US" altLang="zh-CN" b="0" dirty="0" smtClean="0">
                <a:latin typeface="Arial Unicode MS" panose="020B0604020202020204" pitchFamily="34" charset="-122"/>
              </a:rPr>
              <a:t>(</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sockfd,const</a:t>
            </a:r>
            <a:r>
              <a:rPr lang="en-US" altLang="zh-CN" b="0" dirty="0" smtClean="0">
                <a:latin typeface="Arial Unicode MS" panose="020B0604020202020204" pitchFamily="34" charset="-122"/>
              </a:rPr>
              <a:t> void *</a:t>
            </a:r>
            <a:r>
              <a:rPr lang="en-US" altLang="zh-CN" b="0" dirty="0" err="1" smtClean="0">
                <a:latin typeface="Arial Unicode MS" panose="020B0604020202020204" pitchFamily="34" charset="-122"/>
              </a:rPr>
              <a:t>msg,int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len,unsigned</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flags,struct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sockaddr</a:t>
            </a:r>
            <a:r>
              <a:rPr lang="en-US" altLang="zh-CN" b="0" dirty="0" smtClean="0">
                <a:latin typeface="Arial Unicode MS" panose="020B0604020202020204" pitchFamily="34" charset="-122"/>
              </a:rPr>
              <a:t> *to </a:t>
            </a:r>
            <a:r>
              <a:rPr lang="en-US" altLang="zh-CN" b="0" dirty="0" err="1" smtClean="0">
                <a:latin typeface="Arial Unicode MS" panose="020B0604020202020204" pitchFamily="34" charset="-122"/>
              </a:rPr>
              <a:t>int</a:t>
            </a:r>
            <a:r>
              <a:rPr lang="en-US" altLang="zh-CN" b="0" dirty="0" smtClean="0">
                <a:latin typeface="Arial Unicode MS" panose="020B0604020202020204" pitchFamily="34" charset="-122"/>
              </a:rPr>
              <a:t> </a:t>
            </a:r>
            <a:r>
              <a:rPr lang="en-US" altLang="zh-CN" b="0" dirty="0" err="1" smtClean="0">
                <a:latin typeface="Arial Unicode MS" panose="020B0604020202020204" pitchFamily="34" charset="-122"/>
              </a:rPr>
              <a:t>tolen</a:t>
            </a:r>
            <a:r>
              <a:rPr lang="en-US" altLang="zh-CN" b="0" dirty="0" smtClean="0">
                <a:latin typeface="Arial Unicode MS" panose="020B0604020202020204" pitchFamily="34" charset="-122"/>
              </a:rPr>
              <a:t>) </a:t>
            </a:r>
          </a:p>
          <a:p>
            <a:pPr lvl="1"/>
            <a:r>
              <a:rPr lang="en-US" altLang="zh-CN" dirty="0" err="1" smtClean="0"/>
              <a:t>sockfd,buf,len</a:t>
            </a:r>
            <a:r>
              <a:rPr lang="zh-CN" altLang="en-US" dirty="0" smtClean="0"/>
              <a:t>的意义和</a:t>
            </a:r>
            <a:r>
              <a:rPr lang="en-US" altLang="zh-CN" dirty="0" err="1" smtClean="0"/>
              <a:t>read,write</a:t>
            </a:r>
            <a:r>
              <a:rPr lang="zh-CN" altLang="en-US" dirty="0" smtClean="0"/>
              <a:t>一样</a:t>
            </a:r>
            <a:r>
              <a:rPr lang="en-US" altLang="zh-CN" dirty="0" smtClean="0"/>
              <a:t>,</a:t>
            </a:r>
            <a:r>
              <a:rPr lang="zh-CN" altLang="en-US" dirty="0" smtClean="0"/>
              <a:t>分别表示套接字描述符</a:t>
            </a:r>
            <a:r>
              <a:rPr lang="en-US" altLang="zh-CN" dirty="0" smtClean="0"/>
              <a:t>,</a:t>
            </a:r>
            <a:r>
              <a:rPr lang="zh-CN" altLang="en-US" dirty="0" smtClean="0"/>
              <a:t>发送或接收的缓冲区及大小</a:t>
            </a:r>
          </a:p>
          <a:p>
            <a:pPr lvl="1"/>
            <a:r>
              <a:rPr lang="en-US" altLang="zh-CN" dirty="0" err="1" smtClean="0"/>
              <a:t>recvfrom</a:t>
            </a:r>
            <a:r>
              <a:rPr lang="zh-CN" altLang="en-US" dirty="0" smtClean="0"/>
              <a:t>负责从</a:t>
            </a:r>
            <a:r>
              <a:rPr lang="en-US" altLang="zh-CN" dirty="0" err="1" smtClean="0"/>
              <a:t>sockfd</a:t>
            </a:r>
            <a:r>
              <a:rPr lang="zh-CN" altLang="en-US" dirty="0" smtClean="0"/>
              <a:t>接收数据</a:t>
            </a:r>
            <a:r>
              <a:rPr lang="en-US" altLang="zh-CN" dirty="0" smtClean="0"/>
              <a:t>,</a:t>
            </a:r>
            <a:r>
              <a:rPr lang="zh-CN" altLang="en-US" dirty="0" smtClean="0"/>
              <a:t>如果</a:t>
            </a:r>
            <a:r>
              <a:rPr lang="en-US" altLang="zh-CN" dirty="0" smtClean="0"/>
              <a:t>from</a:t>
            </a:r>
            <a:r>
              <a:rPr lang="zh-CN" altLang="en-US" dirty="0" smtClean="0"/>
              <a:t>不是</a:t>
            </a:r>
            <a:r>
              <a:rPr lang="en-US" altLang="zh-CN" dirty="0" smtClean="0"/>
              <a:t>NULL,</a:t>
            </a:r>
            <a:r>
              <a:rPr lang="zh-CN" altLang="en-US" dirty="0" smtClean="0"/>
              <a:t>那么在</a:t>
            </a:r>
            <a:r>
              <a:rPr lang="en-US" altLang="zh-CN" dirty="0" smtClean="0"/>
              <a:t>from</a:t>
            </a:r>
            <a:r>
              <a:rPr lang="zh-CN" altLang="en-US" dirty="0" smtClean="0"/>
              <a:t>里面存储了信息来源的情况</a:t>
            </a:r>
            <a:r>
              <a:rPr lang="en-US" altLang="zh-CN" dirty="0" smtClean="0"/>
              <a:t>,</a:t>
            </a:r>
            <a:r>
              <a:rPr lang="zh-CN" altLang="en-US" dirty="0" smtClean="0"/>
              <a:t>如果对信息的来源不感兴趣</a:t>
            </a:r>
            <a:r>
              <a:rPr lang="en-US" altLang="zh-CN" dirty="0" smtClean="0"/>
              <a:t>,</a:t>
            </a:r>
            <a:r>
              <a:rPr lang="zh-CN" altLang="en-US" dirty="0" smtClean="0"/>
              <a:t>可以将</a:t>
            </a:r>
            <a:r>
              <a:rPr lang="en-US" altLang="zh-CN" dirty="0" smtClean="0"/>
              <a:t>from</a:t>
            </a:r>
            <a:r>
              <a:rPr lang="zh-CN" altLang="en-US" dirty="0" smtClean="0"/>
              <a:t>和</a:t>
            </a:r>
            <a:r>
              <a:rPr lang="en-US" altLang="zh-CN" dirty="0" err="1" smtClean="0"/>
              <a:t>fromlen</a:t>
            </a:r>
            <a:r>
              <a:rPr lang="zh-CN" altLang="en-US" dirty="0" smtClean="0"/>
              <a:t>设置为</a:t>
            </a:r>
            <a:r>
              <a:rPr lang="en-US" altLang="zh-CN" dirty="0" smtClean="0"/>
              <a:t>NULL.</a:t>
            </a:r>
          </a:p>
          <a:p>
            <a:pPr lvl="1"/>
            <a:r>
              <a:rPr lang="en-US" altLang="zh-CN" dirty="0" err="1" smtClean="0"/>
              <a:t>sendto</a:t>
            </a:r>
            <a:r>
              <a:rPr lang="zh-CN" altLang="en-US" dirty="0" smtClean="0"/>
              <a:t>负责向</a:t>
            </a:r>
            <a:r>
              <a:rPr lang="en-US" altLang="zh-CN" dirty="0" smtClean="0"/>
              <a:t>to</a:t>
            </a:r>
            <a:r>
              <a:rPr lang="zh-CN" altLang="en-US" dirty="0" smtClean="0"/>
              <a:t>发送信息</a:t>
            </a:r>
            <a:r>
              <a:rPr lang="en-US" altLang="zh-CN" dirty="0" smtClean="0"/>
              <a:t>.</a:t>
            </a:r>
            <a:r>
              <a:rPr lang="zh-CN" altLang="en-US" dirty="0" smtClean="0"/>
              <a:t>此时在</a:t>
            </a:r>
            <a:r>
              <a:rPr lang="en-US" altLang="zh-CN" dirty="0" smtClean="0"/>
              <a:t>to</a:t>
            </a:r>
            <a:r>
              <a:rPr lang="zh-CN" altLang="en-US" dirty="0" smtClean="0"/>
              <a:t>里面存储了收信息方的详细资料</a:t>
            </a:r>
            <a:r>
              <a:rPr lang="en-US" altLang="zh-CN" dirty="0" smtClean="0"/>
              <a:t>.</a:t>
            </a:r>
          </a:p>
          <a:p>
            <a:endParaRPr lang="zh-CN" altLang="en-US" dirty="0"/>
          </a:p>
        </p:txBody>
      </p:sp>
    </p:spTree>
    <p:extLst>
      <p:ext uri="{BB962C8B-B14F-4D97-AF65-F5344CB8AC3E}">
        <p14:creationId xmlns:p14="http://schemas.microsoft.com/office/powerpoint/2010/main" val="2762736244"/>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实例</a:t>
            </a:r>
            <a:endParaRPr lang="zh-CN" altLang="en-US" dirty="0"/>
          </a:p>
        </p:txBody>
      </p:sp>
      <p:sp>
        <p:nvSpPr>
          <p:cNvPr id="3" name="内容占位符 2"/>
          <p:cNvSpPr>
            <a:spLocks noGrp="1"/>
          </p:cNvSpPr>
          <p:nvPr>
            <p:ph idx="1"/>
          </p:nvPr>
        </p:nvSpPr>
        <p:spPr/>
        <p:txBody>
          <a:bodyPr/>
          <a:lstStyle/>
          <a:p>
            <a:r>
              <a:rPr lang="zh-CN" altLang="en-US" dirty="0" smtClean="0"/>
              <a:t>一个实例</a:t>
            </a:r>
          </a:p>
          <a:p>
            <a:pPr lvl="1"/>
            <a:r>
              <a:rPr lang="zh-CN" altLang="en-US" dirty="0" smtClean="0"/>
              <a:t>程序编译好后，运行时需指定双方所使用的</a:t>
            </a:r>
            <a:r>
              <a:rPr lang="en-US" altLang="zh-CN" dirty="0" smtClean="0"/>
              <a:t>IP</a:t>
            </a:r>
            <a:r>
              <a:rPr lang="zh-CN" altLang="en-US" dirty="0" smtClean="0"/>
              <a:t>地址和端口号，第一个参数是对方的</a:t>
            </a:r>
            <a:r>
              <a:rPr lang="en-US" altLang="zh-CN" dirty="0" smtClean="0"/>
              <a:t>IP</a:t>
            </a:r>
            <a:r>
              <a:rPr lang="zh-CN" altLang="en-US" dirty="0" smtClean="0"/>
              <a:t>地址，然后是对方的端口号，之后是本端的</a:t>
            </a:r>
            <a:r>
              <a:rPr lang="en-US" altLang="zh-CN" dirty="0" smtClean="0"/>
              <a:t>IP</a:t>
            </a:r>
            <a:r>
              <a:rPr lang="zh-CN" altLang="en-US" dirty="0" smtClean="0"/>
              <a:t>地址和端口号。</a:t>
            </a:r>
          </a:p>
          <a:p>
            <a:pPr lvl="1"/>
            <a:r>
              <a:rPr lang="zh-CN" altLang="en-US" dirty="0" smtClean="0"/>
              <a:t>例如在</a:t>
            </a:r>
            <a:r>
              <a:rPr lang="en-US" altLang="zh-CN" dirty="0" smtClean="0"/>
              <a:t>test1</a:t>
            </a:r>
            <a:r>
              <a:rPr lang="zh-CN" altLang="en-US" dirty="0" smtClean="0"/>
              <a:t>的终端输入：</a:t>
            </a:r>
          </a:p>
          <a:p>
            <a:pPr lvl="2"/>
            <a:r>
              <a:rPr lang="en-US" altLang="zh-CN" dirty="0" err="1" smtClean="0"/>
              <a:t>a.out</a:t>
            </a:r>
            <a:r>
              <a:rPr lang="en-US" altLang="zh-CN" dirty="0" smtClean="0"/>
              <a:t> 192.168.1.100 4321 192.168.1.168 5678</a:t>
            </a:r>
          </a:p>
          <a:p>
            <a:pPr lvl="1"/>
            <a:r>
              <a:rPr lang="zh-CN" altLang="en-US" dirty="0" smtClean="0"/>
              <a:t>同时在</a:t>
            </a:r>
            <a:r>
              <a:rPr lang="en-US" altLang="zh-CN" dirty="0" smtClean="0"/>
              <a:t>test2</a:t>
            </a:r>
            <a:r>
              <a:rPr lang="zh-CN" altLang="en-US" dirty="0" smtClean="0"/>
              <a:t>上输入： </a:t>
            </a:r>
          </a:p>
          <a:p>
            <a:pPr lvl="2"/>
            <a:r>
              <a:rPr lang="en-US" altLang="zh-CN" dirty="0" err="1" smtClean="0"/>
              <a:t>a.out</a:t>
            </a:r>
            <a:r>
              <a:rPr lang="en-US" altLang="zh-CN" dirty="0" smtClean="0"/>
              <a:t> 192.168.1.168 5678 192.168.1.100 4321</a:t>
            </a:r>
          </a:p>
          <a:p>
            <a:pPr lvl="1"/>
            <a:r>
              <a:rPr lang="zh-CN" altLang="en-US" dirty="0" smtClean="0"/>
              <a:t>然后双方都可以发送信息给对方了</a:t>
            </a:r>
          </a:p>
          <a:p>
            <a:endParaRPr lang="zh-CN" altLang="en-US" dirty="0"/>
          </a:p>
        </p:txBody>
      </p:sp>
    </p:spTree>
    <p:extLst>
      <p:ext uri="{BB962C8B-B14F-4D97-AF65-F5344CB8AC3E}">
        <p14:creationId xmlns:p14="http://schemas.microsoft.com/office/powerpoint/2010/main" val="61516663"/>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5203" y="450376"/>
            <a:ext cx="5166814" cy="6005015"/>
          </a:xfrm>
        </p:spPr>
        <p:style>
          <a:lnRef idx="1">
            <a:schemeClr val="accent1"/>
          </a:lnRef>
          <a:fillRef idx="2">
            <a:schemeClr val="accent1"/>
          </a:fillRef>
          <a:effectRef idx="1">
            <a:schemeClr val="accent1"/>
          </a:effectRef>
          <a:fontRef idx="minor">
            <a:schemeClr val="dk1"/>
          </a:fontRef>
        </p:style>
        <p:txBody>
          <a:bodyPr>
            <a:normAutofit fontScale="62500" lnSpcReduction="20000"/>
          </a:bodyPr>
          <a:lstStyle/>
          <a:p>
            <a:pPr>
              <a:buNone/>
            </a:pPr>
            <a:r>
              <a:rPr lang="en-US" altLang="zh-CN" dirty="0" smtClean="0">
                <a:latin typeface="Arial Unicode MS" panose="020B0604020202020204" pitchFamily="34" charset="-122"/>
              </a:rPr>
              <a:t>/*first step in </a:t>
            </a:r>
            <a:r>
              <a:rPr lang="en-US" altLang="zh-CN" dirty="0" err="1" smtClean="0">
                <a:latin typeface="Arial Unicode MS" panose="020B0604020202020204" pitchFamily="34" charset="-122"/>
              </a:rPr>
              <a:t>udp</a:t>
            </a:r>
            <a:r>
              <a:rPr lang="en-US" altLang="zh-CN" dirty="0" smtClean="0">
                <a:latin typeface="Arial Unicode MS" panose="020B0604020202020204" pitchFamily="34" charset="-122"/>
              </a:rPr>
              <a:t> programming*/</a:t>
            </a:r>
          </a:p>
          <a:p>
            <a:pPr>
              <a:buNone/>
            </a:pP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types.h</a:t>
            </a:r>
            <a:r>
              <a:rPr lang="en-US" altLang="zh-CN" dirty="0" smtClean="0">
                <a:latin typeface="Arial Unicode MS" panose="020B0604020202020204" pitchFamily="34" charset="-122"/>
              </a:rPr>
              <a:t>&gt;</a:t>
            </a:r>
          </a:p>
          <a:p>
            <a:pPr>
              <a:buNone/>
            </a:pPr>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socket.h</a:t>
            </a:r>
            <a:r>
              <a:rPr lang="en-US" altLang="zh-CN" dirty="0" smtClean="0">
                <a:latin typeface="Arial Unicode MS" panose="020B0604020202020204" pitchFamily="34" charset="-122"/>
              </a:rPr>
              <a:t>&gt;</a:t>
            </a:r>
          </a:p>
          <a:p>
            <a:pPr>
              <a:buNone/>
            </a:pP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arpa</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inet.h</a:t>
            </a:r>
            <a:r>
              <a:rPr lang="en-US" altLang="zh-CN" dirty="0" smtClean="0">
                <a:latin typeface="Arial Unicode MS" panose="020B0604020202020204" pitchFamily="34" charset="-122"/>
              </a:rPr>
              <a:t>&gt;</a:t>
            </a:r>
          </a:p>
          <a:p>
            <a:pPr>
              <a:buNone/>
            </a:pP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stdio.h</a:t>
            </a:r>
            <a:r>
              <a:rPr lang="en-US" altLang="zh-CN" dirty="0" smtClean="0">
                <a:latin typeface="Arial Unicode MS" panose="020B0604020202020204" pitchFamily="34" charset="-122"/>
              </a:rPr>
              <a:t>&gt;</a:t>
            </a:r>
          </a:p>
          <a:p>
            <a:pPr>
              <a:buNone/>
            </a:pPr>
            <a:endParaRPr lang="en-US" altLang="zh-CN" dirty="0" smtClean="0">
              <a:latin typeface="Arial Unicode MS" panose="020B0604020202020204" pitchFamily="34" charset="-122"/>
            </a:endParaRPr>
          </a:p>
          <a:p>
            <a:pPr>
              <a:buNone/>
            </a:pPr>
            <a:r>
              <a:rPr lang="en-US" altLang="zh-CN" dirty="0" smtClean="0">
                <a:latin typeface="Arial Unicode MS" panose="020B0604020202020204" pitchFamily="34" charset="-122"/>
              </a:rPr>
              <a:t>#define BUFLEN 255</a:t>
            </a:r>
          </a:p>
          <a:p>
            <a:pPr>
              <a:buNone/>
            </a:pPr>
            <a:r>
              <a:rPr lang="en-US" altLang="zh-CN" dirty="0" err="1">
                <a:latin typeface="Arial Unicode MS" panose="020B0604020202020204" pitchFamily="34" charset="-122"/>
              </a:rPr>
              <a:t>int</a:t>
            </a:r>
            <a:r>
              <a:rPr lang="en-US" altLang="zh-CN" dirty="0">
                <a:latin typeface="Arial Unicode MS" panose="020B0604020202020204" pitchFamily="34" charset="-122"/>
              </a:rPr>
              <a:t> main(</a:t>
            </a: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argc,char</a:t>
            </a:r>
            <a:r>
              <a:rPr lang="en-US" altLang="zh-CN" dirty="0">
                <a:latin typeface="Arial Unicode MS" panose="020B0604020202020204" pitchFamily="34" charset="-122"/>
              </a:rPr>
              <a:t> **</a:t>
            </a:r>
            <a:r>
              <a:rPr lang="en-US" altLang="zh-CN" dirty="0" err="1">
                <a:latin typeface="Arial Unicode MS" panose="020B0604020202020204" pitchFamily="34" charset="-122"/>
              </a:rPr>
              <a:t>argv</a:t>
            </a:r>
            <a:r>
              <a:rPr lang="en-US" altLang="zh-CN" dirty="0">
                <a:latin typeface="Arial Unicode MS" panose="020B0604020202020204" pitchFamily="34" charset="-122"/>
              </a:rPr>
              <a:t>)</a:t>
            </a:r>
          </a:p>
          <a:p>
            <a:pPr>
              <a:buNone/>
            </a:pPr>
            <a:r>
              <a:rPr lang="en-US" altLang="zh-CN" dirty="0">
                <a:latin typeface="Arial Unicode MS" panose="020B0604020202020204" pitchFamily="34" charset="-122"/>
              </a:rPr>
              <a:t>{	</a:t>
            </a:r>
          </a:p>
          <a:p>
            <a:pPr>
              <a:buNone/>
            </a:pPr>
            <a:r>
              <a:rPr lang="en-US" altLang="zh-CN" dirty="0">
                <a:latin typeface="Arial Unicode MS" panose="020B0604020202020204" pitchFamily="34" charset="-122"/>
              </a:rPr>
              <a:t>	</a:t>
            </a:r>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sockaddr_in</a:t>
            </a:r>
            <a:r>
              <a:rPr lang="en-US" altLang="zh-CN" dirty="0">
                <a:latin typeface="Arial Unicode MS" panose="020B0604020202020204" pitchFamily="34" charset="-122"/>
              </a:rPr>
              <a:t> </a:t>
            </a:r>
            <a:r>
              <a:rPr lang="en-US" altLang="zh-CN" dirty="0" err="1">
                <a:latin typeface="Arial Unicode MS" panose="020B0604020202020204" pitchFamily="34" charset="-122"/>
              </a:rPr>
              <a:t>peeraddr,localaddr</a:t>
            </a:r>
            <a:r>
              <a:rPr lang="en-US" altLang="zh-CN" dirty="0">
                <a:latin typeface="Arial Unicode MS" panose="020B0604020202020204" pitchFamily="34" charset="-122"/>
              </a:rPr>
              <a:t>;</a:t>
            </a:r>
          </a:p>
          <a:p>
            <a:pPr>
              <a:buNone/>
            </a:pPr>
            <a:r>
              <a:rPr lang="en-US" altLang="zh-CN" dirty="0">
                <a:latin typeface="Arial Unicode MS" panose="020B0604020202020204" pitchFamily="34" charset="-122"/>
              </a:rPr>
              <a:t>	</a:t>
            </a: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sockfd</a:t>
            </a:r>
            <a:r>
              <a:rPr lang="en-US" altLang="zh-CN" dirty="0">
                <a:latin typeface="Arial Unicode MS" panose="020B0604020202020204" pitchFamily="34" charset="-122"/>
              </a:rPr>
              <a:t>;</a:t>
            </a:r>
          </a:p>
          <a:p>
            <a:pPr>
              <a:buNone/>
            </a:pPr>
            <a:r>
              <a:rPr lang="en-US" altLang="zh-CN" dirty="0">
                <a:latin typeface="Arial Unicode MS" panose="020B0604020202020204" pitchFamily="34" charset="-122"/>
              </a:rPr>
              <a:t>	char </a:t>
            </a:r>
            <a:r>
              <a:rPr lang="en-US" altLang="zh-CN" dirty="0" err="1">
                <a:latin typeface="Arial Unicode MS" panose="020B0604020202020204" pitchFamily="34" charset="-122"/>
              </a:rPr>
              <a:t>recmsg</a:t>
            </a:r>
            <a:r>
              <a:rPr lang="en-US" altLang="zh-CN" dirty="0">
                <a:latin typeface="Arial Unicode MS" panose="020B0604020202020204" pitchFamily="34" charset="-122"/>
              </a:rPr>
              <a:t>[BUFLEN+1];</a:t>
            </a:r>
          </a:p>
          <a:p>
            <a:pPr>
              <a:buNone/>
            </a:pPr>
            <a:r>
              <a:rPr lang="en-US" altLang="zh-CN" dirty="0">
                <a:latin typeface="Arial Unicode MS" panose="020B0604020202020204" pitchFamily="34" charset="-122"/>
              </a:rPr>
              <a:t>	</a:t>
            </a: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socklen,n</a:t>
            </a:r>
            <a:r>
              <a:rPr lang="en-US" altLang="zh-CN" dirty="0">
                <a:latin typeface="Arial Unicode MS" panose="020B0604020202020204" pitchFamily="34" charset="-122"/>
              </a:rPr>
              <a:t>;</a:t>
            </a:r>
          </a:p>
          <a:p>
            <a:pPr>
              <a:buNone/>
            </a:pPr>
            <a:r>
              <a:rPr lang="en-US" altLang="zh-CN" dirty="0">
                <a:latin typeface="Arial Unicode MS" panose="020B0604020202020204" pitchFamily="34" charset="-122"/>
              </a:rPr>
              <a:t>	if(</a:t>
            </a:r>
            <a:r>
              <a:rPr lang="en-US" altLang="zh-CN" dirty="0" err="1">
                <a:latin typeface="Arial Unicode MS" panose="020B0604020202020204" pitchFamily="34" charset="-122"/>
              </a:rPr>
              <a:t>argc</a:t>
            </a:r>
            <a:r>
              <a:rPr lang="en-US" altLang="zh-CN" dirty="0">
                <a:latin typeface="Arial Unicode MS" panose="020B0604020202020204" pitchFamily="34" charset="-122"/>
              </a:rPr>
              <a:t>!=5){</a:t>
            </a:r>
          </a:p>
          <a:p>
            <a:pPr>
              <a:buNone/>
            </a:pPr>
            <a:r>
              <a:rPr lang="en-US" altLang="zh-CN" dirty="0">
                <a:latin typeface="Arial Unicode MS" panose="020B0604020202020204" pitchFamily="34" charset="-122"/>
              </a:rPr>
              <a:t>		</a:t>
            </a:r>
            <a:r>
              <a:rPr lang="en-US" altLang="zh-CN" dirty="0" err="1">
                <a:latin typeface="Arial Unicode MS" panose="020B0604020202020204" pitchFamily="34" charset="-122"/>
              </a:rPr>
              <a:t>printf</a:t>
            </a:r>
            <a:r>
              <a:rPr lang="en-US" altLang="zh-CN" dirty="0">
                <a:latin typeface="Arial Unicode MS" panose="020B0604020202020204" pitchFamily="34" charset="-122"/>
              </a:rPr>
              <a:t>("%s &lt;</a:t>
            </a:r>
            <a:r>
              <a:rPr lang="en-US" altLang="zh-CN" dirty="0" err="1">
                <a:latin typeface="Arial Unicode MS" panose="020B0604020202020204" pitchFamily="34" charset="-122"/>
              </a:rPr>
              <a:t>dest</a:t>
            </a:r>
            <a:r>
              <a:rPr lang="en-US" altLang="zh-CN" dirty="0">
                <a:latin typeface="Arial Unicode MS" panose="020B0604020202020204" pitchFamily="34" charset="-122"/>
              </a:rPr>
              <a:t> </a:t>
            </a:r>
            <a:r>
              <a:rPr lang="en-US" altLang="zh-CN" dirty="0" err="1">
                <a:latin typeface="Arial Unicode MS" panose="020B0604020202020204" pitchFamily="34" charset="-122"/>
              </a:rPr>
              <a:t>IPaddress</a:t>
            </a:r>
            <a:r>
              <a:rPr lang="en-US" altLang="zh-CN" dirty="0">
                <a:latin typeface="Arial Unicode MS" panose="020B0604020202020204" pitchFamily="34" charset="-122"/>
              </a:rPr>
              <a:t>&gt; &lt;</a:t>
            </a:r>
            <a:r>
              <a:rPr lang="en-US" altLang="zh-CN" dirty="0" err="1">
                <a:latin typeface="Arial Unicode MS" panose="020B0604020202020204" pitchFamily="34" charset="-122"/>
              </a:rPr>
              <a:t>dest</a:t>
            </a:r>
            <a:r>
              <a:rPr lang="en-US" altLang="zh-CN" dirty="0">
                <a:latin typeface="Arial Unicode MS" panose="020B0604020202020204" pitchFamily="34" charset="-122"/>
              </a:rPr>
              <a:t> port&gt; &lt;source </a:t>
            </a:r>
            <a:r>
              <a:rPr lang="en-US" altLang="zh-CN" dirty="0" err="1">
                <a:latin typeface="Arial Unicode MS" panose="020B0604020202020204" pitchFamily="34" charset="-122"/>
              </a:rPr>
              <a:t>IPaddress</a:t>
            </a:r>
            <a:r>
              <a:rPr lang="en-US" altLang="zh-CN" dirty="0">
                <a:latin typeface="Arial Unicode MS" panose="020B0604020202020204" pitchFamily="34" charset="-122"/>
              </a:rPr>
              <a:t>&gt; &lt;source port&gt;\n",</a:t>
            </a:r>
            <a:r>
              <a:rPr lang="en-US" altLang="zh-CN" dirty="0" err="1">
                <a:latin typeface="Arial Unicode MS" panose="020B0604020202020204" pitchFamily="34" charset="-122"/>
              </a:rPr>
              <a:t>argv</a:t>
            </a:r>
            <a:r>
              <a:rPr lang="en-US" altLang="zh-CN" dirty="0">
                <a:latin typeface="Arial Unicode MS" panose="020B0604020202020204" pitchFamily="34" charset="-122"/>
              </a:rPr>
              <a:t>[0]);</a:t>
            </a:r>
          </a:p>
          <a:p>
            <a:pPr>
              <a:buNone/>
            </a:pPr>
            <a:r>
              <a:rPr lang="en-US" altLang="zh-CN" dirty="0">
                <a:latin typeface="Arial Unicode MS" panose="020B0604020202020204" pitchFamily="34" charset="-122"/>
              </a:rPr>
              <a:t>		exit(0);</a:t>
            </a:r>
          </a:p>
          <a:p>
            <a:pPr>
              <a:buNone/>
            </a:pPr>
            <a:r>
              <a:rPr lang="en-US" altLang="zh-CN" dirty="0">
                <a:latin typeface="Arial Unicode MS" panose="020B0604020202020204" pitchFamily="34" charset="-122"/>
              </a:rPr>
              <a:t>	}</a:t>
            </a:r>
          </a:p>
          <a:p>
            <a:pPr marL="0" indent="0">
              <a:buNone/>
            </a:pPr>
            <a:endParaRPr lang="zh-CN" altLang="en-US" dirty="0"/>
          </a:p>
        </p:txBody>
      </p:sp>
      <p:sp>
        <p:nvSpPr>
          <p:cNvPr id="4" name="矩形 3"/>
          <p:cNvSpPr/>
          <p:nvPr/>
        </p:nvSpPr>
        <p:spPr>
          <a:xfrm>
            <a:off x="5818495" y="450376"/>
            <a:ext cx="6232478" cy="34163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80000"/>
              </a:lnSpc>
            </a:pPr>
            <a:r>
              <a:rPr lang="en-US" altLang="zh-CN" dirty="0" err="1" smtClean="0"/>
              <a:t>sockfd</a:t>
            </a:r>
            <a:r>
              <a:rPr lang="en-US" altLang="zh-CN" dirty="0" smtClean="0"/>
              <a:t>=socket(AF_INET,SOCK_DGRAM,0);</a:t>
            </a:r>
          </a:p>
          <a:p>
            <a:pPr>
              <a:lnSpc>
                <a:spcPct val="80000"/>
              </a:lnSpc>
            </a:pPr>
            <a:r>
              <a:rPr lang="en-US" altLang="zh-CN" dirty="0" smtClean="0"/>
              <a:t>	if(</a:t>
            </a:r>
            <a:r>
              <a:rPr lang="en-US" altLang="zh-CN" dirty="0" err="1" smtClean="0"/>
              <a:t>sockfd</a:t>
            </a:r>
            <a:r>
              <a:rPr lang="en-US" altLang="zh-CN" dirty="0" smtClean="0"/>
              <a:t>&lt;0){</a:t>
            </a:r>
          </a:p>
          <a:p>
            <a:pPr>
              <a:lnSpc>
                <a:spcPct val="80000"/>
              </a:lnSpc>
            </a:pPr>
            <a:r>
              <a:rPr lang="en-US" altLang="zh-CN" dirty="0" smtClean="0"/>
              <a:t>		</a:t>
            </a:r>
            <a:r>
              <a:rPr lang="en-US" altLang="zh-CN" dirty="0" err="1" smtClean="0"/>
              <a:t>fprintf</a:t>
            </a:r>
            <a:r>
              <a:rPr lang="en-US" altLang="zh-CN" dirty="0" smtClean="0"/>
              <a:t>(</a:t>
            </a:r>
            <a:r>
              <a:rPr lang="en-US" altLang="zh-CN" dirty="0" err="1" smtClean="0"/>
              <a:t>stderr</a:t>
            </a:r>
            <a:r>
              <a:rPr lang="en-US" altLang="zh-CN" dirty="0" smtClean="0"/>
              <a:t>,"socket creating error in </a:t>
            </a:r>
            <a:r>
              <a:rPr lang="en-US" altLang="zh-CN" dirty="0" err="1" smtClean="0"/>
              <a:t>udptalk.c</a:t>
            </a:r>
            <a:r>
              <a:rPr lang="en-US" altLang="zh-CN" dirty="0" smtClean="0"/>
              <a:t>!\n");</a:t>
            </a:r>
          </a:p>
          <a:p>
            <a:pPr>
              <a:lnSpc>
                <a:spcPct val="80000"/>
              </a:lnSpc>
            </a:pPr>
            <a:r>
              <a:rPr lang="en-US" altLang="zh-CN" dirty="0" smtClean="0"/>
              <a:t>		exit(1);</a:t>
            </a:r>
          </a:p>
          <a:p>
            <a:pPr>
              <a:lnSpc>
                <a:spcPct val="80000"/>
              </a:lnSpc>
            </a:pPr>
            <a:r>
              <a:rPr lang="en-US" altLang="zh-CN" dirty="0" smtClean="0"/>
              <a:t>	}</a:t>
            </a:r>
          </a:p>
          <a:p>
            <a:pPr>
              <a:lnSpc>
                <a:spcPct val="80000"/>
              </a:lnSpc>
            </a:pPr>
            <a:r>
              <a:rPr lang="en-US" altLang="zh-CN" dirty="0" smtClean="0"/>
              <a:t>	</a:t>
            </a:r>
            <a:r>
              <a:rPr lang="en-US" altLang="zh-CN" dirty="0" err="1" smtClean="0"/>
              <a:t>socklen</a:t>
            </a:r>
            <a:r>
              <a:rPr lang="en-US" altLang="zh-CN" dirty="0" smtClean="0"/>
              <a:t>=</a:t>
            </a:r>
            <a:r>
              <a:rPr lang="en-US" altLang="zh-CN" dirty="0" err="1" smtClean="0"/>
              <a:t>sizeof</a:t>
            </a:r>
            <a:r>
              <a:rPr lang="en-US" altLang="zh-CN" dirty="0" smtClean="0"/>
              <a:t>(</a:t>
            </a:r>
            <a:r>
              <a:rPr lang="en-US" altLang="zh-CN" dirty="0" err="1" smtClean="0"/>
              <a:t>struct</a:t>
            </a:r>
            <a:r>
              <a:rPr lang="en-US" altLang="zh-CN" dirty="0" smtClean="0"/>
              <a:t> </a:t>
            </a:r>
            <a:r>
              <a:rPr lang="en-US" altLang="zh-CN" dirty="0" err="1" smtClean="0"/>
              <a:t>sockaddr_in</a:t>
            </a:r>
            <a:r>
              <a:rPr lang="en-US" altLang="zh-CN" dirty="0" smtClean="0"/>
              <a:t>);</a:t>
            </a:r>
          </a:p>
          <a:p>
            <a:pPr>
              <a:lnSpc>
                <a:spcPct val="80000"/>
              </a:lnSpc>
            </a:pPr>
            <a:r>
              <a:rPr lang="en-US" altLang="zh-CN" dirty="0" smtClean="0"/>
              <a:t>	</a:t>
            </a:r>
            <a:r>
              <a:rPr lang="en-US" altLang="zh-CN" dirty="0" err="1" smtClean="0"/>
              <a:t>memset</a:t>
            </a:r>
            <a:r>
              <a:rPr lang="en-US" altLang="zh-CN" dirty="0" smtClean="0"/>
              <a:t>(&amp;peeraddr,0,socklen);</a:t>
            </a:r>
          </a:p>
          <a:p>
            <a:pPr>
              <a:lnSpc>
                <a:spcPct val="80000"/>
              </a:lnSpc>
            </a:pPr>
            <a:r>
              <a:rPr lang="en-US" altLang="zh-CN" dirty="0" smtClean="0"/>
              <a:t>	</a:t>
            </a:r>
            <a:r>
              <a:rPr lang="en-US" altLang="zh-CN" dirty="0" err="1" smtClean="0"/>
              <a:t>peeraddr.sin_family</a:t>
            </a:r>
            <a:r>
              <a:rPr lang="en-US" altLang="zh-CN" dirty="0" smtClean="0"/>
              <a:t>=AF_INET;</a:t>
            </a:r>
          </a:p>
          <a:p>
            <a:pPr>
              <a:lnSpc>
                <a:spcPct val="80000"/>
              </a:lnSpc>
            </a:pPr>
            <a:r>
              <a:rPr lang="en-US" altLang="zh-CN" dirty="0" smtClean="0"/>
              <a:t>	</a:t>
            </a:r>
            <a:r>
              <a:rPr lang="en-US" altLang="zh-CN" dirty="0" err="1" smtClean="0"/>
              <a:t>peeraddr.sin_port</a:t>
            </a:r>
            <a:r>
              <a:rPr lang="en-US" altLang="zh-CN" dirty="0" smtClean="0"/>
              <a:t>=</a:t>
            </a:r>
            <a:r>
              <a:rPr lang="en-US" altLang="zh-CN" dirty="0" err="1" smtClean="0"/>
              <a:t>htons</a:t>
            </a:r>
            <a:r>
              <a:rPr lang="en-US" altLang="zh-CN" dirty="0" smtClean="0"/>
              <a:t>(</a:t>
            </a:r>
            <a:r>
              <a:rPr lang="en-US" altLang="zh-CN" dirty="0" err="1" smtClean="0"/>
              <a:t>atoi</a:t>
            </a:r>
            <a:r>
              <a:rPr lang="en-US" altLang="zh-CN" dirty="0" smtClean="0"/>
              <a:t>(</a:t>
            </a:r>
            <a:r>
              <a:rPr lang="en-US" altLang="zh-CN" dirty="0" err="1" smtClean="0"/>
              <a:t>argv</a:t>
            </a:r>
            <a:r>
              <a:rPr lang="en-US" altLang="zh-CN" dirty="0" smtClean="0"/>
              <a:t>[2]));</a:t>
            </a:r>
          </a:p>
          <a:p>
            <a:pPr>
              <a:lnSpc>
                <a:spcPct val="80000"/>
              </a:lnSpc>
            </a:pPr>
            <a:r>
              <a:rPr lang="en-US" altLang="zh-CN" dirty="0" smtClean="0"/>
              <a:t>	if(</a:t>
            </a:r>
            <a:r>
              <a:rPr lang="en-US" altLang="zh-CN" dirty="0" err="1" smtClean="0"/>
              <a:t>inet_pton</a:t>
            </a:r>
            <a:r>
              <a:rPr lang="en-US" altLang="zh-CN" dirty="0" smtClean="0"/>
              <a:t>(</a:t>
            </a:r>
            <a:r>
              <a:rPr lang="en-US" altLang="zh-CN" dirty="0" err="1" smtClean="0"/>
              <a:t>AF_INET,argv</a:t>
            </a:r>
            <a:r>
              <a:rPr lang="en-US" altLang="zh-CN" dirty="0" smtClean="0"/>
              <a:t>[1],&amp;</a:t>
            </a:r>
            <a:r>
              <a:rPr lang="en-US" altLang="zh-CN" dirty="0" err="1" smtClean="0"/>
              <a:t>peeraddr.sin_addr</a:t>
            </a:r>
            <a:r>
              <a:rPr lang="en-US" altLang="zh-CN" dirty="0" smtClean="0"/>
              <a:t>)&lt;=0){</a:t>
            </a:r>
          </a:p>
          <a:p>
            <a:pPr>
              <a:lnSpc>
                <a:spcPct val="80000"/>
              </a:lnSpc>
            </a:pPr>
            <a:r>
              <a:rPr lang="en-US" altLang="zh-CN" dirty="0" smtClean="0"/>
              <a:t>		</a:t>
            </a:r>
            <a:r>
              <a:rPr lang="en-US" altLang="zh-CN" dirty="0" err="1" smtClean="0"/>
              <a:t>printf</a:t>
            </a:r>
            <a:r>
              <a:rPr lang="en-US" altLang="zh-CN" dirty="0" smtClean="0"/>
              <a:t>("Wrong </a:t>
            </a:r>
            <a:r>
              <a:rPr lang="en-US" altLang="zh-CN" dirty="0" err="1" smtClean="0"/>
              <a:t>dest</a:t>
            </a:r>
            <a:r>
              <a:rPr lang="en-US" altLang="zh-CN" dirty="0" smtClean="0"/>
              <a:t> IP address!\n");</a:t>
            </a:r>
          </a:p>
          <a:p>
            <a:pPr>
              <a:lnSpc>
                <a:spcPct val="80000"/>
              </a:lnSpc>
            </a:pPr>
            <a:r>
              <a:rPr lang="en-US" altLang="zh-CN" dirty="0" smtClean="0"/>
              <a:t>    	 	exit(0);	}</a:t>
            </a:r>
          </a:p>
          <a:p>
            <a:pPr>
              <a:lnSpc>
                <a:spcPct val="80000"/>
              </a:lnSpc>
            </a:pPr>
            <a:endParaRPr lang="en-US" altLang="zh-CN" dirty="0" smtClean="0"/>
          </a:p>
        </p:txBody>
      </p:sp>
    </p:spTree>
    <p:extLst>
      <p:ext uri="{BB962C8B-B14F-4D97-AF65-F5344CB8AC3E}">
        <p14:creationId xmlns:p14="http://schemas.microsoft.com/office/powerpoint/2010/main" val="2639400229"/>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4882" y="341194"/>
            <a:ext cx="4930515" cy="6218997"/>
          </a:xfrm>
        </p:spPr>
        <p:style>
          <a:lnRef idx="1">
            <a:schemeClr val="accent1"/>
          </a:lnRef>
          <a:fillRef idx="2">
            <a:schemeClr val="accent1"/>
          </a:fillRef>
          <a:effectRef idx="1">
            <a:schemeClr val="accent1"/>
          </a:effectRef>
          <a:fontRef idx="minor">
            <a:schemeClr val="dk1"/>
          </a:fontRef>
        </p:style>
        <p:txBody>
          <a:bodyPr>
            <a:normAutofit fontScale="62500" lnSpcReduction="20000"/>
          </a:bodyPr>
          <a:lstStyle/>
          <a:p>
            <a:pPr>
              <a:buNone/>
            </a:pPr>
            <a:r>
              <a:rPr lang="zh-CN" altLang="en-US" dirty="0" smtClean="0"/>
              <a:t>	</a:t>
            </a:r>
            <a:r>
              <a:rPr lang="en-US" altLang="zh-CN" dirty="0" err="1" smtClean="0"/>
              <a:t>memset</a:t>
            </a:r>
            <a:r>
              <a:rPr lang="en-US" altLang="zh-CN" dirty="0" smtClean="0"/>
              <a:t>(&amp;localaddr,0,socklen);</a:t>
            </a:r>
          </a:p>
          <a:p>
            <a:pPr>
              <a:buNone/>
            </a:pPr>
            <a:r>
              <a:rPr lang="en-US" altLang="zh-CN" dirty="0" smtClean="0"/>
              <a:t>	</a:t>
            </a:r>
            <a:r>
              <a:rPr lang="en-US" altLang="zh-CN" dirty="0" err="1" smtClean="0"/>
              <a:t>localaddr.sin_family</a:t>
            </a:r>
            <a:r>
              <a:rPr lang="en-US" altLang="zh-CN" dirty="0" smtClean="0"/>
              <a:t>=AF_INET;</a:t>
            </a:r>
          </a:p>
          <a:p>
            <a:pPr>
              <a:buNone/>
            </a:pPr>
            <a:r>
              <a:rPr lang="en-US" altLang="zh-CN" dirty="0" smtClean="0"/>
              <a:t>	</a:t>
            </a:r>
            <a:r>
              <a:rPr lang="en-US" altLang="zh-CN" dirty="0" err="1" smtClean="0"/>
              <a:t>localaddr.sin_port</a:t>
            </a:r>
            <a:r>
              <a:rPr lang="en-US" altLang="zh-CN" dirty="0" smtClean="0"/>
              <a:t>=</a:t>
            </a:r>
            <a:r>
              <a:rPr lang="en-US" altLang="zh-CN" dirty="0" err="1" smtClean="0"/>
              <a:t>htons</a:t>
            </a:r>
            <a:r>
              <a:rPr lang="en-US" altLang="zh-CN" dirty="0" smtClean="0"/>
              <a:t>(</a:t>
            </a:r>
            <a:r>
              <a:rPr lang="en-US" altLang="zh-CN" dirty="0" err="1" smtClean="0"/>
              <a:t>atoi</a:t>
            </a:r>
            <a:r>
              <a:rPr lang="en-US" altLang="zh-CN" dirty="0" smtClean="0"/>
              <a:t>(</a:t>
            </a:r>
            <a:r>
              <a:rPr lang="en-US" altLang="zh-CN" dirty="0" err="1" smtClean="0"/>
              <a:t>argv</a:t>
            </a:r>
            <a:r>
              <a:rPr lang="en-US" altLang="zh-CN" dirty="0" smtClean="0"/>
              <a:t>[4]));</a:t>
            </a:r>
          </a:p>
          <a:p>
            <a:pPr>
              <a:buNone/>
            </a:pPr>
            <a:r>
              <a:rPr lang="en-US" altLang="zh-CN" dirty="0" smtClean="0"/>
              <a:t>	</a:t>
            </a:r>
            <a:r>
              <a:rPr lang="en-US" altLang="zh-CN" sz="2400" dirty="0" smtClean="0"/>
              <a:t>if(</a:t>
            </a:r>
            <a:r>
              <a:rPr lang="en-US" altLang="zh-CN" sz="2400" dirty="0" err="1" smtClean="0"/>
              <a:t>inet_pton</a:t>
            </a:r>
            <a:r>
              <a:rPr lang="en-US" altLang="zh-CN" sz="2400" dirty="0" smtClean="0"/>
              <a:t>(</a:t>
            </a:r>
            <a:r>
              <a:rPr lang="en-US" altLang="zh-CN" sz="2400" dirty="0" err="1" smtClean="0"/>
              <a:t>AF_INET,argv</a:t>
            </a:r>
            <a:r>
              <a:rPr lang="en-US" altLang="zh-CN" sz="2400" dirty="0" smtClean="0"/>
              <a:t>[3],&amp;</a:t>
            </a:r>
            <a:r>
              <a:rPr lang="en-US" altLang="zh-CN" sz="2400" dirty="0" err="1" smtClean="0"/>
              <a:t>localaddr.sin_addr</a:t>
            </a:r>
            <a:r>
              <a:rPr lang="en-US" altLang="zh-CN" sz="2400" dirty="0" smtClean="0"/>
              <a:t>)&lt;=0){</a:t>
            </a:r>
          </a:p>
          <a:p>
            <a:pPr>
              <a:buNone/>
            </a:pPr>
            <a:r>
              <a:rPr lang="en-US" altLang="zh-CN" dirty="0" smtClean="0"/>
              <a:t>		</a:t>
            </a:r>
            <a:r>
              <a:rPr lang="en-US" altLang="zh-CN" dirty="0" err="1" smtClean="0"/>
              <a:t>printf</a:t>
            </a:r>
            <a:r>
              <a:rPr lang="en-US" altLang="zh-CN" dirty="0" smtClean="0"/>
              <a:t>("Wrong source IP address!\n");</a:t>
            </a:r>
          </a:p>
          <a:p>
            <a:pPr>
              <a:buNone/>
            </a:pPr>
            <a:r>
              <a:rPr lang="en-US" altLang="zh-CN" dirty="0" smtClean="0"/>
              <a:t>		exit(0);</a:t>
            </a:r>
          </a:p>
          <a:p>
            <a:pPr>
              <a:buNone/>
            </a:pPr>
            <a:r>
              <a:rPr lang="en-US" altLang="zh-CN" dirty="0" smtClean="0"/>
              <a:t>	}</a:t>
            </a:r>
          </a:p>
          <a:p>
            <a:pPr>
              <a:buNone/>
            </a:pPr>
            <a:r>
              <a:rPr lang="zh-CN" altLang="en-US" dirty="0"/>
              <a:t>	</a:t>
            </a:r>
            <a:r>
              <a:rPr lang="en-US" altLang="zh-CN" dirty="0"/>
              <a:t>if(bind(</a:t>
            </a:r>
            <a:r>
              <a:rPr lang="en-US" altLang="zh-CN" dirty="0" err="1"/>
              <a:t>sockfd</a:t>
            </a:r>
            <a:r>
              <a:rPr lang="en-US" altLang="zh-CN" dirty="0"/>
              <a:t>,&amp;</a:t>
            </a:r>
            <a:r>
              <a:rPr lang="en-US" altLang="zh-CN" dirty="0" err="1"/>
              <a:t>localaddr,socklen</a:t>
            </a:r>
            <a:r>
              <a:rPr lang="en-US" altLang="zh-CN" dirty="0"/>
              <a:t>)&lt;0){</a:t>
            </a:r>
          </a:p>
          <a:p>
            <a:pPr>
              <a:buNone/>
            </a:pPr>
            <a:r>
              <a:rPr lang="en-US" altLang="zh-CN" sz="2600" dirty="0" smtClean="0"/>
              <a:t>		</a:t>
            </a:r>
            <a:r>
              <a:rPr lang="en-US" altLang="zh-CN" sz="2600" dirty="0" err="1" smtClean="0"/>
              <a:t>fprintf</a:t>
            </a:r>
            <a:r>
              <a:rPr lang="en-US" altLang="zh-CN" sz="2600" dirty="0" smtClean="0"/>
              <a:t>(</a:t>
            </a:r>
            <a:r>
              <a:rPr lang="en-US" altLang="zh-CN" sz="2600" dirty="0" err="1" smtClean="0"/>
              <a:t>stderr</a:t>
            </a:r>
            <a:r>
              <a:rPr lang="en-US" altLang="zh-CN" sz="2600" dirty="0" smtClean="0"/>
              <a:t>,"bind local address error in </a:t>
            </a:r>
            <a:r>
              <a:rPr lang="en-US" altLang="zh-CN" sz="2600" dirty="0" err="1" smtClean="0"/>
              <a:t>udptalk.c</a:t>
            </a:r>
            <a:r>
              <a:rPr lang="en-US" altLang="zh-CN" sz="2600" dirty="0" smtClean="0"/>
              <a:t>!\n");</a:t>
            </a:r>
          </a:p>
          <a:p>
            <a:pPr>
              <a:buNone/>
            </a:pPr>
            <a:r>
              <a:rPr lang="en-US" altLang="zh-CN" dirty="0"/>
              <a:t>		exit(2);</a:t>
            </a:r>
          </a:p>
          <a:p>
            <a:pPr>
              <a:buNone/>
            </a:pPr>
            <a:r>
              <a:rPr lang="en-US" altLang="zh-CN" dirty="0"/>
              <a:t>	}</a:t>
            </a:r>
          </a:p>
          <a:p>
            <a:pPr>
              <a:buNone/>
            </a:pPr>
            <a:r>
              <a:rPr lang="en-US" altLang="zh-CN" dirty="0"/>
              <a:t>	if(</a:t>
            </a:r>
            <a:r>
              <a:rPr lang="en-US" altLang="zh-CN" dirty="0" err="1"/>
              <a:t>fgets</a:t>
            </a:r>
            <a:r>
              <a:rPr lang="en-US" altLang="zh-CN" dirty="0"/>
              <a:t>(</a:t>
            </a:r>
            <a:r>
              <a:rPr lang="en-US" altLang="zh-CN" dirty="0" err="1"/>
              <a:t>recmsg,BUFLEN,stdin</a:t>
            </a:r>
            <a:r>
              <a:rPr lang="en-US" altLang="zh-CN" dirty="0"/>
              <a:t>)==NULL) exit(0);</a:t>
            </a:r>
          </a:p>
          <a:p>
            <a:pPr>
              <a:buNone/>
            </a:pPr>
            <a:r>
              <a:rPr lang="en-US" altLang="zh-CN" dirty="0"/>
              <a:t>	</a:t>
            </a:r>
            <a:r>
              <a:rPr lang="en-US" altLang="zh-CN" sz="2400" dirty="0" smtClean="0"/>
              <a:t>if(</a:t>
            </a:r>
            <a:r>
              <a:rPr lang="en-US" altLang="zh-CN" sz="2400" dirty="0" err="1" smtClean="0"/>
              <a:t>sendto</a:t>
            </a:r>
            <a:r>
              <a:rPr lang="en-US" altLang="zh-CN" sz="2400" dirty="0" smtClean="0"/>
              <a:t>(</a:t>
            </a:r>
            <a:r>
              <a:rPr lang="en-US" altLang="zh-CN" sz="2400" dirty="0" err="1" smtClean="0"/>
              <a:t>sockfd,recmsg,strlen</a:t>
            </a:r>
            <a:r>
              <a:rPr lang="en-US" altLang="zh-CN" sz="2400" dirty="0" smtClean="0"/>
              <a:t>(</a:t>
            </a:r>
            <a:r>
              <a:rPr lang="en-US" altLang="zh-CN" sz="2400" dirty="0" err="1" smtClean="0"/>
              <a:t>recmsg</a:t>
            </a:r>
            <a:r>
              <a:rPr lang="en-US" altLang="zh-CN" sz="2400" dirty="0" smtClean="0"/>
              <a:t>),0,&amp;peeraddr,socklen)&lt;0){</a:t>
            </a:r>
          </a:p>
          <a:p>
            <a:pPr>
              <a:buNone/>
            </a:pPr>
            <a:r>
              <a:rPr lang="en-US" altLang="zh-CN" dirty="0"/>
              <a:t>		</a:t>
            </a:r>
            <a:r>
              <a:rPr lang="en-US" altLang="zh-CN" dirty="0" err="1"/>
              <a:t>fprintf</a:t>
            </a:r>
            <a:r>
              <a:rPr lang="en-US" altLang="zh-CN" dirty="0"/>
              <a:t>(</a:t>
            </a:r>
            <a:r>
              <a:rPr lang="en-US" altLang="zh-CN" dirty="0" err="1"/>
              <a:t>stderr</a:t>
            </a:r>
            <a:r>
              <a:rPr lang="en-US" altLang="zh-CN" dirty="0"/>
              <a:t>,"</a:t>
            </a:r>
            <a:r>
              <a:rPr lang="en-US" altLang="zh-CN" dirty="0" err="1"/>
              <a:t>sendto</a:t>
            </a:r>
            <a:r>
              <a:rPr lang="en-US" altLang="zh-CN" dirty="0"/>
              <a:t> error in </a:t>
            </a:r>
            <a:r>
              <a:rPr lang="en-US" altLang="zh-CN" dirty="0" err="1"/>
              <a:t>udptalk.c</a:t>
            </a:r>
            <a:r>
              <a:rPr lang="en-US" altLang="zh-CN" dirty="0"/>
              <a:t>!\n");</a:t>
            </a:r>
          </a:p>
          <a:p>
            <a:pPr>
              <a:buNone/>
            </a:pPr>
            <a:r>
              <a:rPr lang="en-US" altLang="zh-CN" dirty="0"/>
              <a:t>		</a:t>
            </a:r>
            <a:r>
              <a:rPr lang="en-US" altLang="zh-CN" dirty="0" err="1"/>
              <a:t>perror</a:t>
            </a:r>
            <a:r>
              <a:rPr lang="en-US" altLang="zh-CN" dirty="0"/>
              <a:t>("");</a:t>
            </a:r>
          </a:p>
          <a:p>
            <a:pPr>
              <a:buNone/>
            </a:pPr>
            <a:r>
              <a:rPr lang="en-US" altLang="zh-CN" dirty="0"/>
              <a:t>		exit(3);</a:t>
            </a:r>
          </a:p>
          <a:p>
            <a:pPr>
              <a:buNone/>
            </a:pPr>
            <a:r>
              <a:rPr lang="en-US" altLang="zh-CN" dirty="0"/>
              <a:t>	</a:t>
            </a:r>
            <a:r>
              <a:rPr lang="en-US" altLang="zh-CN" dirty="0" smtClean="0"/>
              <a:t>}</a:t>
            </a:r>
            <a:endParaRPr lang="en-US" altLang="zh-CN" dirty="0"/>
          </a:p>
        </p:txBody>
      </p:sp>
      <p:sp>
        <p:nvSpPr>
          <p:cNvPr id="4" name="矩形 3"/>
          <p:cNvSpPr/>
          <p:nvPr/>
        </p:nvSpPr>
        <p:spPr>
          <a:xfrm>
            <a:off x="5530755" y="499012"/>
            <a:ext cx="6096000" cy="5493812"/>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nSpc>
                <a:spcPct val="80000"/>
              </a:lnSpc>
            </a:pPr>
            <a:r>
              <a:rPr lang="en-US" altLang="zh-CN" dirty="0" smtClean="0"/>
              <a:t>for(;;){</a:t>
            </a:r>
            <a:r>
              <a:rPr lang="en-US" altLang="zh-CN" sz="1600" dirty="0" smtClean="0"/>
              <a:t>	n=</a:t>
            </a:r>
            <a:r>
              <a:rPr lang="en-US" altLang="zh-CN" sz="1600" dirty="0" err="1" smtClean="0"/>
              <a:t>recvfrom</a:t>
            </a:r>
            <a:r>
              <a:rPr lang="en-US" altLang="zh-CN" sz="1600" dirty="0" smtClean="0"/>
              <a:t>(sockfd,recmsg,BUFLEN,0,&amp;peeraddr,&amp;socklen);</a:t>
            </a:r>
          </a:p>
          <a:p>
            <a:pPr>
              <a:lnSpc>
                <a:spcPct val="80000"/>
              </a:lnSpc>
            </a:pPr>
            <a:r>
              <a:rPr lang="en-US" altLang="zh-CN" dirty="0" smtClean="0"/>
              <a:t>		if(n&lt;0){</a:t>
            </a:r>
          </a:p>
          <a:p>
            <a:pPr>
              <a:lnSpc>
                <a:spcPct val="80000"/>
              </a:lnSpc>
            </a:pPr>
            <a:r>
              <a:rPr lang="en-US" altLang="zh-CN" dirty="0" smtClean="0"/>
              <a:t>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recvfrom</a:t>
            </a:r>
            <a:r>
              <a:rPr lang="en-US" altLang="zh-CN" dirty="0" smtClean="0"/>
              <a:t> error in </a:t>
            </a:r>
            <a:r>
              <a:rPr lang="en-US" altLang="zh-CN" dirty="0" err="1" smtClean="0"/>
              <a:t>udptalk.c</a:t>
            </a:r>
            <a:r>
              <a:rPr lang="en-US" altLang="zh-CN" dirty="0" smtClean="0"/>
              <a:t>\n");</a:t>
            </a:r>
          </a:p>
          <a:p>
            <a:pPr>
              <a:lnSpc>
                <a:spcPct val="80000"/>
              </a:lnSpc>
            </a:pPr>
            <a:r>
              <a:rPr lang="en-US" altLang="zh-CN" dirty="0" smtClean="0"/>
              <a:t>			</a:t>
            </a:r>
            <a:r>
              <a:rPr lang="en-US" altLang="zh-CN" dirty="0" err="1" smtClean="0"/>
              <a:t>perror</a:t>
            </a:r>
            <a:r>
              <a:rPr lang="en-US" altLang="zh-CN" dirty="0" smtClean="0"/>
              <a:t>("");</a:t>
            </a:r>
          </a:p>
          <a:p>
            <a:pPr>
              <a:lnSpc>
                <a:spcPct val="80000"/>
              </a:lnSpc>
            </a:pPr>
            <a:r>
              <a:rPr lang="en-US" altLang="zh-CN" dirty="0" smtClean="0"/>
              <a:t>			exit(4);</a:t>
            </a:r>
          </a:p>
          <a:p>
            <a:pPr>
              <a:lnSpc>
                <a:spcPct val="80000"/>
              </a:lnSpc>
            </a:pPr>
            <a:r>
              <a:rPr lang="en-US" altLang="zh-CN" dirty="0" smtClean="0"/>
              <a:t>		}</a:t>
            </a:r>
          </a:p>
          <a:p>
            <a:pPr>
              <a:lnSpc>
                <a:spcPct val="80000"/>
              </a:lnSpc>
            </a:pPr>
            <a:r>
              <a:rPr lang="en-US" altLang="zh-CN" dirty="0" smtClean="0"/>
              <a:t>		else{</a:t>
            </a:r>
          </a:p>
          <a:p>
            <a:pPr>
              <a:lnSpc>
                <a:spcPct val="80000"/>
              </a:lnSpc>
            </a:pPr>
            <a:r>
              <a:rPr lang="en-US" altLang="zh-CN" dirty="0" smtClean="0"/>
              <a:t>			</a:t>
            </a:r>
            <a:r>
              <a:rPr lang="en-US" altLang="zh-CN" dirty="0" err="1" smtClean="0"/>
              <a:t>recmsg</a:t>
            </a:r>
            <a:r>
              <a:rPr lang="en-US" altLang="zh-CN" dirty="0" smtClean="0"/>
              <a:t>[n]=0;	</a:t>
            </a:r>
          </a:p>
          <a:p>
            <a:pPr>
              <a:lnSpc>
                <a:spcPct val="80000"/>
              </a:lnSpc>
            </a:pPr>
            <a:r>
              <a:rPr lang="en-US" altLang="zh-CN" dirty="0" smtClean="0"/>
              <a:t>			</a:t>
            </a:r>
            <a:r>
              <a:rPr lang="en-US" altLang="zh-CN" dirty="0" err="1" smtClean="0"/>
              <a:t>printf</a:t>
            </a:r>
            <a:r>
              <a:rPr lang="en-US" altLang="zh-CN" dirty="0" smtClean="0"/>
              <a:t>("peer: %s",</a:t>
            </a:r>
            <a:r>
              <a:rPr lang="en-US" altLang="zh-CN" dirty="0" err="1" smtClean="0"/>
              <a:t>recmsg</a:t>
            </a:r>
            <a:r>
              <a:rPr lang="en-US" altLang="zh-CN" dirty="0" smtClean="0"/>
              <a:t>);</a:t>
            </a:r>
          </a:p>
          <a:p>
            <a:pPr>
              <a:lnSpc>
                <a:spcPct val="80000"/>
              </a:lnSpc>
            </a:pPr>
            <a:r>
              <a:rPr lang="en-US" altLang="zh-CN" dirty="0" smtClean="0"/>
              <a:t>		}</a:t>
            </a:r>
          </a:p>
          <a:p>
            <a:pPr>
              <a:lnSpc>
                <a:spcPct val="90000"/>
              </a:lnSpc>
            </a:pPr>
            <a:r>
              <a:rPr lang="zh-CN" altLang="en-US" dirty="0" smtClean="0"/>
              <a:t>	</a:t>
            </a:r>
            <a:r>
              <a:rPr lang="en-US" altLang="zh-CN" dirty="0" smtClean="0"/>
              <a:t>if(</a:t>
            </a:r>
            <a:r>
              <a:rPr lang="en-US" altLang="zh-CN" dirty="0" err="1" smtClean="0"/>
              <a:t>fgets</a:t>
            </a:r>
            <a:r>
              <a:rPr lang="en-US" altLang="zh-CN" dirty="0" smtClean="0"/>
              <a:t>(</a:t>
            </a:r>
            <a:r>
              <a:rPr lang="en-US" altLang="zh-CN" dirty="0" err="1" smtClean="0"/>
              <a:t>recmsg,BUFLEN,stdin</a:t>
            </a:r>
            <a:r>
              <a:rPr lang="en-US" altLang="zh-CN" dirty="0" smtClean="0"/>
              <a:t>)==NULL) </a:t>
            </a:r>
          </a:p>
          <a:p>
            <a:pPr>
              <a:lnSpc>
                <a:spcPct val="90000"/>
              </a:lnSpc>
            </a:pPr>
            <a:r>
              <a:rPr lang="en-US" altLang="zh-CN" dirty="0" smtClean="0"/>
              <a:t>		exit(0);</a:t>
            </a:r>
          </a:p>
          <a:p>
            <a:pPr>
              <a:lnSpc>
                <a:spcPct val="90000"/>
              </a:lnSpc>
            </a:pPr>
            <a:r>
              <a:rPr lang="en-US" altLang="zh-CN" dirty="0" smtClean="0"/>
              <a:t>	if(</a:t>
            </a:r>
            <a:r>
              <a:rPr lang="en-US" altLang="zh-CN" dirty="0" err="1" smtClean="0"/>
              <a:t>sendto</a:t>
            </a:r>
            <a:r>
              <a:rPr lang="en-US" altLang="zh-CN" dirty="0" smtClean="0"/>
              <a:t>(</a:t>
            </a:r>
            <a:r>
              <a:rPr lang="en-US" altLang="zh-CN" dirty="0" err="1" smtClean="0"/>
              <a:t>sockfd,recmsg,strlen</a:t>
            </a:r>
            <a:r>
              <a:rPr lang="en-US" altLang="zh-CN" dirty="0" smtClean="0"/>
              <a:t>(</a:t>
            </a:r>
            <a:r>
              <a:rPr lang="en-US" altLang="zh-CN" dirty="0" err="1" smtClean="0"/>
              <a:t>recmsg</a:t>
            </a:r>
            <a:r>
              <a:rPr lang="en-US" altLang="zh-CN" dirty="0" smtClean="0"/>
              <a:t>),0,&amp;peeraddr,socklen)&lt;0){</a:t>
            </a:r>
          </a:p>
          <a:p>
            <a:pPr>
              <a:lnSpc>
                <a:spcPct val="90000"/>
              </a:lnSpc>
            </a:pPr>
            <a:r>
              <a:rPr lang="en-US" altLang="zh-CN" dirty="0" smtClean="0"/>
              <a:t>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sendto</a:t>
            </a:r>
            <a:r>
              <a:rPr lang="en-US" altLang="zh-CN" dirty="0" smtClean="0"/>
              <a:t> error in </a:t>
            </a:r>
            <a:r>
              <a:rPr lang="en-US" altLang="zh-CN" dirty="0" err="1" smtClean="0"/>
              <a:t>udptalk.c</a:t>
            </a:r>
            <a:r>
              <a:rPr lang="en-US" altLang="zh-CN" dirty="0" smtClean="0"/>
              <a:t>!\n");</a:t>
            </a:r>
          </a:p>
          <a:p>
            <a:pPr>
              <a:lnSpc>
                <a:spcPct val="90000"/>
              </a:lnSpc>
            </a:pPr>
            <a:r>
              <a:rPr lang="en-US" altLang="zh-CN" dirty="0" smtClean="0"/>
              <a:t>			</a:t>
            </a:r>
            <a:r>
              <a:rPr lang="en-US" altLang="zh-CN" dirty="0" err="1" smtClean="0"/>
              <a:t>perror</a:t>
            </a:r>
            <a:r>
              <a:rPr lang="en-US" altLang="zh-CN" dirty="0" smtClean="0"/>
              <a:t>("");</a:t>
            </a:r>
          </a:p>
          <a:p>
            <a:pPr>
              <a:lnSpc>
                <a:spcPct val="90000"/>
              </a:lnSpc>
            </a:pPr>
            <a:r>
              <a:rPr lang="en-US" altLang="zh-CN" dirty="0" smtClean="0"/>
              <a:t>			exit(3);</a:t>
            </a:r>
          </a:p>
          <a:p>
            <a:pPr>
              <a:lnSpc>
                <a:spcPct val="90000"/>
              </a:lnSpc>
            </a:pPr>
            <a:r>
              <a:rPr lang="en-US" altLang="zh-CN" dirty="0" smtClean="0"/>
              <a:t>	}</a:t>
            </a:r>
          </a:p>
          <a:p>
            <a:pPr>
              <a:lnSpc>
                <a:spcPct val="90000"/>
              </a:lnSpc>
            </a:pPr>
            <a:r>
              <a:rPr lang="en-US" altLang="zh-CN" dirty="0" smtClean="0"/>
              <a:t>  }</a:t>
            </a:r>
          </a:p>
          <a:p>
            <a:pPr>
              <a:lnSpc>
                <a:spcPct val="90000"/>
              </a:lnSpc>
            </a:pPr>
            <a:r>
              <a:rPr lang="en-US" altLang="zh-CN" dirty="0" smtClean="0"/>
              <a:t>}</a:t>
            </a:r>
          </a:p>
          <a:p>
            <a:pPr>
              <a:lnSpc>
                <a:spcPct val="80000"/>
              </a:lnSpc>
            </a:pPr>
            <a:endParaRPr lang="en-US" altLang="zh-CN" dirty="0" smtClean="0"/>
          </a:p>
        </p:txBody>
      </p:sp>
    </p:spTree>
    <p:extLst>
      <p:ext uri="{BB962C8B-B14F-4D97-AF65-F5344CB8AC3E}">
        <p14:creationId xmlns:p14="http://schemas.microsoft.com/office/powerpoint/2010/main" val="3318686241"/>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对第一个</a:t>
            </a:r>
            <a:r>
              <a:rPr lang="en-US" altLang="zh-CN" dirty="0" smtClean="0">
                <a:latin typeface="Times New Roman" panose="02020603050405020304" pitchFamily="18" charset="0"/>
              </a:rPr>
              <a:t>UDP</a:t>
            </a:r>
            <a:r>
              <a:rPr lang="zh-CN" altLang="en-US" dirty="0" smtClean="0">
                <a:latin typeface="Times New Roman" panose="02020603050405020304" pitchFamily="18" charset="0"/>
              </a:rPr>
              <a:t>例程的思考</a:t>
            </a:r>
            <a:endParaRPr lang="zh-CN" altLang="en-US" dirty="0"/>
          </a:p>
        </p:txBody>
      </p:sp>
      <p:sp>
        <p:nvSpPr>
          <p:cNvPr id="3" name="内容占位符 2"/>
          <p:cNvSpPr>
            <a:spLocks noGrp="1"/>
          </p:cNvSpPr>
          <p:nvPr>
            <p:ph idx="1"/>
          </p:nvPr>
        </p:nvSpPr>
        <p:spPr/>
        <p:txBody>
          <a:bodyPr/>
          <a:lstStyle/>
          <a:p>
            <a:r>
              <a:rPr lang="zh-CN" altLang="en-US" dirty="0" smtClean="0"/>
              <a:t>思考：</a:t>
            </a:r>
          </a:p>
          <a:p>
            <a:pPr lvl="1"/>
            <a:r>
              <a:rPr lang="en-US" altLang="zh-CN" dirty="0" smtClean="0"/>
              <a:t>1. </a:t>
            </a:r>
            <a:r>
              <a:rPr lang="zh-CN" altLang="en-US" dirty="0" smtClean="0"/>
              <a:t>只有来自对方</a:t>
            </a:r>
            <a:r>
              <a:rPr lang="en-US" altLang="zh-CN" dirty="0" smtClean="0"/>
              <a:t>IP</a:t>
            </a:r>
            <a:r>
              <a:rPr lang="zh-CN" altLang="en-US" dirty="0" smtClean="0"/>
              <a:t>和端口号的数据报才予以处理，如何过滤掉其它数据报？</a:t>
            </a:r>
          </a:p>
          <a:p>
            <a:pPr lvl="1"/>
            <a:r>
              <a:rPr lang="en-US" altLang="zh-CN" dirty="0" smtClean="0"/>
              <a:t>2. </a:t>
            </a:r>
            <a:r>
              <a:rPr lang="zh-CN" altLang="en-US" dirty="0" smtClean="0"/>
              <a:t>双方发送和接收交替进行，只要有一方发出数据报，对方阻塞的状态就能消除。如果一个数据报丢失，通信双方都在</a:t>
            </a:r>
            <a:r>
              <a:rPr lang="en-US" altLang="zh-CN" dirty="0" err="1" smtClean="0"/>
              <a:t>recvfrom</a:t>
            </a:r>
            <a:r>
              <a:rPr lang="zh-CN" altLang="en-US" dirty="0" smtClean="0"/>
              <a:t>中阻塞，永远等待。超时机制的设置？</a:t>
            </a:r>
          </a:p>
          <a:p>
            <a:endParaRPr lang="zh-CN" altLang="en-US" dirty="0"/>
          </a:p>
        </p:txBody>
      </p:sp>
    </p:spTree>
    <p:extLst>
      <p:ext uri="{BB962C8B-B14F-4D97-AF65-F5344CB8AC3E}">
        <p14:creationId xmlns:p14="http://schemas.microsoft.com/office/powerpoint/2010/main" val="247078953"/>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对第一个</a:t>
            </a:r>
            <a:r>
              <a:rPr lang="en-US" altLang="zh-CN" dirty="0" smtClean="0">
                <a:latin typeface="Times New Roman" panose="02020603050405020304" pitchFamily="18" charset="0"/>
              </a:rPr>
              <a:t>UDP</a:t>
            </a:r>
            <a:r>
              <a:rPr lang="zh-CN" altLang="en-US" dirty="0" smtClean="0">
                <a:latin typeface="Times New Roman" panose="02020603050405020304" pitchFamily="18" charset="0"/>
              </a:rPr>
              <a:t>例程的思考</a:t>
            </a:r>
            <a:endParaRPr lang="zh-CN" altLang="en-US" dirty="0"/>
          </a:p>
        </p:txBody>
      </p:sp>
      <p:sp>
        <p:nvSpPr>
          <p:cNvPr id="3" name="内容占位符 2"/>
          <p:cNvSpPr>
            <a:spLocks noGrp="1"/>
          </p:cNvSpPr>
          <p:nvPr>
            <p:ph idx="1"/>
          </p:nvPr>
        </p:nvSpPr>
        <p:spPr/>
        <p:txBody>
          <a:bodyPr/>
          <a:lstStyle/>
          <a:p>
            <a:r>
              <a:rPr lang="zh-CN" altLang="en-US" dirty="0" smtClean="0"/>
              <a:t>解决第一个问题：</a:t>
            </a:r>
          </a:p>
          <a:p>
            <a:pPr lvl="1"/>
            <a:r>
              <a:rPr lang="zh-CN" altLang="en-US" dirty="0" smtClean="0"/>
              <a:t>接收数据后，加入对数据报地址的检验：</a:t>
            </a:r>
            <a:br>
              <a:rPr lang="zh-CN" altLang="en-US" dirty="0" smtClean="0"/>
            </a:br>
            <a:r>
              <a:rPr lang="en-US" altLang="zh-CN" dirty="0" smtClean="0"/>
              <a:t>if(</a:t>
            </a:r>
            <a:r>
              <a:rPr lang="en-US" altLang="zh-CN" dirty="0" err="1" smtClean="0"/>
              <a:t>memcmp</a:t>
            </a:r>
            <a:r>
              <a:rPr lang="en-US" altLang="zh-CN" dirty="0" smtClean="0"/>
              <a:t>(</a:t>
            </a:r>
            <a:r>
              <a:rPr lang="en-US" altLang="zh-CN" dirty="0" err="1" smtClean="0"/>
              <a:t>recvaddr,perraddr,socklen</a:t>
            </a:r>
            <a:r>
              <a:rPr lang="en-US" altLang="zh-CN" dirty="0" smtClean="0"/>
              <a:t>)!=0)</a:t>
            </a:r>
            <a:br>
              <a:rPr lang="en-US" altLang="zh-CN" dirty="0" smtClean="0"/>
            </a:br>
            <a:r>
              <a:rPr lang="en-US" altLang="zh-CN" dirty="0" smtClean="0"/>
              <a:t>          continue;</a:t>
            </a:r>
          </a:p>
          <a:p>
            <a:pPr lvl="1"/>
            <a:r>
              <a:rPr lang="zh-CN" altLang="en-US" dirty="0" smtClean="0"/>
              <a:t>这样就将来自其他地址的数据报拒之门外了。</a:t>
            </a:r>
          </a:p>
          <a:p>
            <a:endParaRPr lang="zh-CN" altLang="en-US" dirty="0"/>
          </a:p>
        </p:txBody>
      </p:sp>
    </p:spTree>
    <p:extLst>
      <p:ext uri="{BB962C8B-B14F-4D97-AF65-F5344CB8AC3E}">
        <p14:creationId xmlns:p14="http://schemas.microsoft.com/office/powerpoint/2010/main" val="3711381655"/>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r>
              <a:rPr lang="zh-CN" altLang="en-US" dirty="0" smtClean="0">
                <a:latin typeface="Times New Roman" panose="02020603050405020304" pitchFamily="18" charset="0"/>
              </a:rPr>
              <a:t>对第一个</a:t>
            </a:r>
            <a:r>
              <a:rPr lang="en-US" altLang="zh-CN" dirty="0" smtClean="0">
                <a:latin typeface="Times New Roman" panose="02020603050405020304" pitchFamily="18" charset="0"/>
              </a:rPr>
              <a:t>UDP</a:t>
            </a:r>
            <a:r>
              <a:rPr lang="zh-CN" altLang="en-US" dirty="0" smtClean="0">
                <a:latin typeface="Times New Roman" panose="02020603050405020304" pitchFamily="18" charset="0"/>
              </a:rPr>
              <a:t>例程的思考</a:t>
            </a:r>
            <a:endParaRPr lang="zh-CN" altLang="en-US" dirty="0"/>
          </a:p>
        </p:txBody>
      </p:sp>
      <p:sp>
        <p:nvSpPr>
          <p:cNvPr id="3" name="内容占位符 2"/>
          <p:cNvSpPr>
            <a:spLocks noGrp="1"/>
          </p:cNvSpPr>
          <p:nvPr>
            <p:ph idx="1"/>
          </p:nvPr>
        </p:nvSpPr>
        <p:spPr>
          <a:xfrm>
            <a:off x="838200" y="1323833"/>
            <a:ext cx="10515600" cy="5363570"/>
          </a:xfrm>
        </p:spPr>
        <p:txBody>
          <a:bodyPr>
            <a:normAutofit fontScale="62500" lnSpcReduction="20000"/>
          </a:bodyPr>
          <a:lstStyle/>
          <a:p>
            <a:r>
              <a:rPr lang="zh-CN" altLang="en-US" dirty="0" smtClean="0"/>
              <a:t>解决第二个问题：</a:t>
            </a:r>
          </a:p>
          <a:p>
            <a:pPr lvl="1"/>
            <a:r>
              <a:rPr lang="zh-CN" altLang="en-US" dirty="0" smtClean="0"/>
              <a:t>前面提到的</a:t>
            </a:r>
            <a:r>
              <a:rPr lang="en-US" altLang="zh-CN" dirty="0" smtClean="0"/>
              <a:t>sock</a:t>
            </a:r>
            <a:r>
              <a:rPr lang="zh-CN" altLang="en-US" dirty="0" smtClean="0"/>
              <a:t>选项</a:t>
            </a:r>
            <a:r>
              <a:rPr lang="en-US" altLang="zh-CN" dirty="0" smtClean="0"/>
              <a:t>SO_RCVTIMEO</a:t>
            </a:r>
            <a:r>
              <a:rPr lang="zh-CN" altLang="en-US" dirty="0" smtClean="0"/>
              <a:t>就可以完成阻塞超时的设置。</a:t>
            </a:r>
          </a:p>
          <a:p>
            <a:pPr lvl="1"/>
            <a:r>
              <a:rPr lang="zh-CN" altLang="en-US" dirty="0" smtClean="0"/>
              <a:t>在程序中加入：</a:t>
            </a:r>
          </a:p>
          <a:p>
            <a:pPr>
              <a:buNone/>
            </a:pPr>
            <a:r>
              <a:rPr lang="en-US" altLang="zh-CN" dirty="0"/>
              <a:t># include &lt;sys/</a:t>
            </a:r>
            <a:r>
              <a:rPr lang="en-US" altLang="zh-CN" dirty="0" err="1"/>
              <a:t>time.h</a:t>
            </a:r>
            <a:r>
              <a:rPr lang="en-US" altLang="zh-CN" dirty="0"/>
              <a:t>&gt;</a:t>
            </a:r>
          </a:p>
          <a:p>
            <a:pPr>
              <a:buNone/>
            </a:pPr>
            <a:r>
              <a:rPr lang="en-US" altLang="zh-CN" dirty="0" err="1"/>
              <a:t>Struct</a:t>
            </a:r>
            <a:r>
              <a:rPr lang="en-US" altLang="zh-CN" dirty="0"/>
              <a:t> </a:t>
            </a:r>
            <a:r>
              <a:rPr lang="en-US" altLang="zh-CN" dirty="0" err="1"/>
              <a:t>timeval</a:t>
            </a:r>
            <a:r>
              <a:rPr lang="en-US" altLang="zh-CN" dirty="0"/>
              <a:t> recto;</a:t>
            </a:r>
          </a:p>
          <a:p>
            <a:pPr>
              <a:buNone/>
            </a:pPr>
            <a:r>
              <a:rPr lang="en-US" altLang="zh-CN" dirty="0" err="1"/>
              <a:t>Int</a:t>
            </a:r>
            <a:r>
              <a:rPr lang="en-US" altLang="zh-CN" dirty="0"/>
              <a:t> </a:t>
            </a:r>
            <a:r>
              <a:rPr lang="en-US" altLang="zh-CN" dirty="0" err="1"/>
              <a:t>tolen</a:t>
            </a:r>
            <a:r>
              <a:rPr lang="en-US" altLang="zh-CN" dirty="0"/>
              <a:t>=</a:t>
            </a:r>
            <a:r>
              <a:rPr lang="en-US" altLang="zh-CN" dirty="0" err="1"/>
              <a:t>sizeof</a:t>
            </a:r>
            <a:r>
              <a:rPr lang="en-US" altLang="zh-CN" dirty="0"/>
              <a:t>(</a:t>
            </a:r>
            <a:r>
              <a:rPr lang="en-US" altLang="zh-CN" dirty="0" err="1"/>
              <a:t>struct</a:t>
            </a:r>
            <a:r>
              <a:rPr lang="en-US" altLang="zh-CN" dirty="0"/>
              <a:t> </a:t>
            </a:r>
            <a:r>
              <a:rPr lang="en-US" altLang="zh-CN" dirty="0" err="1"/>
              <a:t>timeval</a:t>
            </a:r>
            <a:r>
              <a:rPr lang="en-US" altLang="zh-CN" dirty="0"/>
              <a:t>);</a:t>
            </a:r>
          </a:p>
          <a:p>
            <a:pPr>
              <a:buNone/>
            </a:pPr>
            <a:r>
              <a:rPr lang="en-US" altLang="zh-CN" dirty="0"/>
              <a:t>…/*</a:t>
            </a:r>
            <a:r>
              <a:rPr lang="zh-CN" altLang="en-US" dirty="0"/>
              <a:t>建立</a:t>
            </a:r>
            <a:r>
              <a:rPr lang="en-US" altLang="zh-CN" dirty="0"/>
              <a:t>socket</a:t>
            </a:r>
            <a:r>
              <a:rPr lang="zh-CN" altLang="en-US" dirty="0"/>
              <a:t>等操作＊</a:t>
            </a:r>
            <a:r>
              <a:rPr lang="en-US" altLang="zh-CN" dirty="0"/>
              <a:t>/</a:t>
            </a:r>
          </a:p>
          <a:p>
            <a:pPr>
              <a:buNone/>
            </a:pPr>
            <a:r>
              <a:rPr lang="en-US" altLang="zh-CN" dirty="0" err="1"/>
              <a:t>rcvto.tv_sec</a:t>
            </a:r>
            <a:r>
              <a:rPr lang="en-US" altLang="zh-CN" dirty="0"/>
              <a:t>=3; /*</a:t>
            </a:r>
            <a:r>
              <a:rPr lang="zh-CN" altLang="en-US" dirty="0"/>
              <a:t>这两句对</a:t>
            </a:r>
            <a:r>
              <a:rPr lang="en-US" altLang="zh-CN" dirty="0" err="1"/>
              <a:t>rcvto</a:t>
            </a:r>
            <a:r>
              <a:rPr lang="zh-CN" altLang="en-US" dirty="0"/>
              <a:t>定时为</a:t>
            </a:r>
            <a:r>
              <a:rPr lang="en-US" altLang="zh-CN" dirty="0"/>
              <a:t>3</a:t>
            </a:r>
            <a:r>
              <a:rPr lang="zh-CN" altLang="en-US" dirty="0"/>
              <a:t>秒</a:t>
            </a:r>
            <a:r>
              <a:rPr lang="en-US" altLang="zh-CN" dirty="0"/>
              <a:t>0</a:t>
            </a:r>
            <a:r>
              <a:rPr lang="zh-CN" altLang="en-US" dirty="0"/>
              <a:t>毫秒*</a:t>
            </a:r>
            <a:r>
              <a:rPr lang="en-US" altLang="zh-CN" dirty="0"/>
              <a:t>/</a:t>
            </a:r>
          </a:p>
          <a:p>
            <a:pPr>
              <a:buNone/>
            </a:pPr>
            <a:r>
              <a:rPr lang="en-US" altLang="zh-CN" dirty="0" err="1"/>
              <a:t>rccvto.tv_usec</a:t>
            </a:r>
            <a:r>
              <a:rPr lang="en-US" altLang="zh-CN" dirty="0"/>
              <a:t>=0;</a:t>
            </a:r>
          </a:p>
          <a:p>
            <a:pPr>
              <a:buNone/>
            </a:pPr>
            <a:r>
              <a:rPr lang="en-US" altLang="zh-CN" sz="2400" dirty="0" err="1" smtClean="0"/>
              <a:t>Setsockopt</a:t>
            </a:r>
            <a:r>
              <a:rPr lang="en-US" altLang="zh-CN" sz="2400" dirty="0" smtClean="0"/>
              <a:t>(sockfd,SOL_SOCKET,SO_RCVTIMEO,&amp;</a:t>
            </a:r>
            <a:r>
              <a:rPr lang="en-US" altLang="zh-CN" sz="2400" dirty="0" err="1" smtClean="0"/>
              <a:t>rcvto,tolen</a:t>
            </a:r>
            <a:r>
              <a:rPr lang="en-US" altLang="zh-CN" sz="2400" dirty="0" smtClean="0"/>
              <a:t>);</a:t>
            </a:r>
          </a:p>
          <a:p>
            <a:pPr>
              <a:buNone/>
            </a:pPr>
            <a:r>
              <a:rPr lang="en-US" altLang="zh-CN" sz="2400" dirty="0" err="1" smtClean="0"/>
              <a:t>getsockopt</a:t>
            </a:r>
            <a:r>
              <a:rPr lang="en-US" altLang="zh-CN" sz="2400" dirty="0" smtClean="0"/>
              <a:t>(sockfd,SOL_SOCKET,SO_RCVTIMEO,&amp;</a:t>
            </a:r>
            <a:r>
              <a:rPr lang="en-US" altLang="zh-CN" sz="2400" dirty="0" err="1" smtClean="0"/>
              <a:t>rcvto</a:t>
            </a:r>
            <a:r>
              <a:rPr lang="en-US" altLang="zh-CN" sz="2400" dirty="0" smtClean="0"/>
              <a:t>,&amp;</a:t>
            </a:r>
            <a:r>
              <a:rPr lang="en-US" altLang="zh-CN" sz="2400" dirty="0" err="1" smtClean="0"/>
              <a:t>tolen</a:t>
            </a:r>
            <a:r>
              <a:rPr lang="en-US" altLang="zh-CN" sz="2400" dirty="0" smtClean="0"/>
              <a:t>);</a:t>
            </a:r>
          </a:p>
          <a:p>
            <a:pPr>
              <a:buNone/>
            </a:pPr>
            <a:r>
              <a:rPr lang="en-US" altLang="zh-CN" dirty="0" err="1"/>
              <a:t>Printf</a:t>
            </a:r>
            <a:r>
              <a:rPr lang="en-US" altLang="zh-CN" dirty="0"/>
              <a:t>(“receive timeout </a:t>
            </a:r>
            <a:r>
              <a:rPr lang="en-US" altLang="zh-CN" dirty="0" err="1"/>
              <a:t>setted</a:t>
            </a:r>
            <a:r>
              <a:rPr lang="en-US" altLang="zh-CN" dirty="0"/>
              <a:t> is %</a:t>
            </a:r>
            <a:r>
              <a:rPr lang="en-US" altLang="zh-CN" dirty="0" err="1"/>
              <a:t>ld</a:t>
            </a:r>
            <a:r>
              <a:rPr lang="en-US" altLang="zh-CN" dirty="0"/>
              <a:t> second %</a:t>
            </a:r>
            <a:r>
              <a:rPr lang="en-US" altLang="zh-CN" dirty="0" err="1"/>
              <a:t>ld</a:t>
            </a:r>
            <a:r>
              <a:rPr lang="en-US" altLang="zh-CN" dirty="0"/>
              <a:t> millisecond\n”,</a:t>
            </a:r>
            <a:r>
              <a:rPr lang="en-US" altLang="zh-CN" dirty="0" err="1"/>
              <a:t>rcvto.tv_sec,rcvto.tv_usec</a:t>
            </a:r>
            <a:r>
              <a:rPr lang="en-US" altLang="zh-CN" dirty="0"/>
              <a:t>);</a:t>
            </a:r>
          </a:p>
          <a:p>
            <a:r>
              <a:rPr lang="zh-CN" altLang="en-US" dirty="0" smtClean="0"/>
              <a:t>如果显示</a:t>
            </a:r>
            <a:r>
              <a:rPr lang="en-US" altLang="zh-CN" dirty="0" smtClean="0"/>
              <a:t>Receive timeout </a:t>
            </a:r>
            <a:r>
              <a:rPr lang="en-US" altLang="zh-CN" dirty="0" err="1" smtClean="0"/>
              <a:t>setted</a:t>
            </a:r>
            <a:r>
              <a:rPr lang="en-US" altLang="zh-CN" dirty="0" smtClean="0"/>
              <a:t> is 3 second 0 millisecond,</a:t>
            </a:r>
            <a:r>
              <a:rPr lang="zh-CN" altLang="en-US" dirty="0" smtClean="0"/>
              <a:t>那么就设置成功了；</a:t>
            </a:r>
          </a:p>
          <a:p>
            <a:r>
              <a:rPr lang="zh-CN" altLang="en-US" dirty="0" smtClean="0"/>
              <a:t>如果结果是</a:t>
            </a:r>
            <a:r>
              <a:rPr lang="en-US" altLang="zh-CN" dirty="0" smtClean="0"/>
              <a:t>Receive timeout </a:t>
            </a:r>
            <a:r>
              <a:rPr lang="en-US" altLang="zh-CN" dirty="0" err="1" smtClean="0"/>
              <a:t>setted</a:t>
            </a:r>
            <a:r>
              <a:rPr lang="en-US" altLang="zh-CN" dirty="0" smtClean="0"/>
              <a:t> is 0 second 0 millisecond,</a:t>
            </a:r>
            <a:r>
              <a:rPr lang="zh-CN" altLang="en-US" dirty="0" smtClean="0"/>
              <a:t>就意味着超时时间为无穷大。</a:t>
            </a:r>
          </a:p>
          <a:p>
            <a:r>
              <a:rPr lang="zh-CN" altLang="en-US" dirty="0" smtClean="0"/>
              <a:t>设置了</a:t>
            </a:r>
            <a:r>
              <a:rPr lang="en-US" altLang="zh-CN" dirty="0" smtClean="0"/>
              <a:t>SO_RCVTIMEO</a:t>
            </a:r>
            <a:r>
              <a:rPr lang="zh-CN" altLang="en-US" dirty="0" smtClean="0"/>
              <a:t>，那么在发生超时后，</a:t>
            </a:r>
            <a:r>
              <a:rPr lang="en-US" altLang="zh-CN" dirty="0" err="1" smtClean="0"/>
              <a:t>recvfrom</a:t>
            </a:r>
            <a:r>
              <a:rPr lang="zh-CN" altLang="en-US" dirty="0" smtClean="0"/>
              <a:t>将返回，返回值为</a:t>
            </a:r>
            <a:r>
              <a:rPr lang="en-US" altLang="zh-CN" dirty="0" smtClean="0"/>
              <a:t>-1</a:t>
            </a:r>
            <a:r>
              <a:rPr lang="zh-CN" altLang="en-US" dirty="0" smtClean="0"/>
              <a:t>，同时</a:t>
            </a:r>
            <a:r>
              <a:rPr lang="en-US" altLang="zh-CN" dirty="0" err="1" smtClean="0"/>
              <a:t>errno</a:t>
            </a:r>
            <a:r>
              <a:rPr lang="zh-CN" altLang="en-US" dirty="0" smtClean="0"/>
              <a:t>被置为</a:t>
            </a:r>
            <a:r>
              <a:rPr lang="en-US" altLang="zh-CN" dirty="0" smtClean="0"/>
              <a:t>EWOULDBLOCK</a:t>
            </a:r>
            <a:r>
              <a:rPr lang="zh-CN" altLang="en-US" dirty="0" smtClean="0"/>
              <a:t>。</a:t>
            </a:r>
          </a:p>
          <a:p>
            <a:endParaRPr lang="zh-CN" altLang="en-US" dirty="0"/>
          </a:p>
        </p:txBody>
      </p:sp>
    </p:spTree>
    <p:extLst>
      <p:ext uri="{BB962C8B-B14F-4D97-AF65-F5344CB8AC3E}">
        <p14:creationId xmlns:p14="http://schemas.microsoft.com/office/powerpoint/2010/main" val="290746965"/>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高级套接字函数</a:t>
            </a:r>
            <a:endParaRPr lang="zh-CN" altLang="en-US" dirty="0"/>
          </a:p>
        </p:txBody>
      </p:sp>
      <p:sp>
        <p:nvSpPr>
          <p:cNvPr id="3" name="内容占位符 2"/>
          <p:cNvSpPr>
            <a:spLocks noGrp="1"/>
          </p:cNvSpPr>
          <p:nvPr>
            <p:ph idx="1"/>
          </p:nvPr>
        </p:nvSpPr>
        <p:spPr/>
        <p:txBody>
          <a:bodyPr/>
          <a:lstStyle/>
          <a:p>
            <a:r>
              <a:rPr lang="en-US" altLang="zh-CN" b="0" dirty="0" smtClean="0"/>
              <a:t>1</a:t>
            </a:r>
            <a:r>
              <a:rPr lang="zh-CN" altLang="en-US" b="0" dirty="0" smtClean="0"/>
              <a:t>、</a:t>
            </a:r>
            <a:r>
              <a:rPr lang="en-US" altLang="zh-CN" b="0" dirty="0" err="1" smtClean="0"/>
              <a:t>recv</a:t>
            </a:r>
            <a:r>
              <a:rPr lang="zh-CN" altLang="en-US" b="0" dirty="0" smtClean="0"/>
              <a:t>和</a:t>
            </a:r>
            <a:r>
              <a:rPr lang="en-US" altLang="zh-CN" b="0" dirty="0" smtClean="0"/>
              <a:t>send </a:t>
            </a:r>
          </a:p>
          <a:p>
            <a:pPr lvl="1"/>
            <a:r>
              <a:rPr lang="en-US" altLang="zh-CN" dirty="0" err="1" smtClean="0"/>
              <a:t>recv</a:t>
            </a:r>
            <a:r>
              <a:rPr lang="zh-CN" altLang="en-US" dirty="0" smtClean="0"/>
              <a:t>和</a:t>
            </a:r>
            <a:r>
              <a:rPr lang="en-US" altLang="zh-CN" dirty="0" smtClean="0"/>
              <a:t>send</a:t>
            </a:r>
            <a:r>
              <a:rPr lang="zh-CN" altLang="en-US" dirty="0" smtClean="0"/>
              <a:t>函数提供了和</a:t>
            </a:r>
            <a:r>
              <a:rPr lang="en-US" altLang="zh-CN" dirty="0" smtClean="0"/>
              <a:t>read</a:t>
            </a:r>
            <a:r>
              <a:rPr lang="zh-CN" altLang="en-US" dirty="0" smtClean="0"/>
              <a:t>和</a:t>
            </a:r>
            <a:r>
              <a:rPr lang="en-US" altLang="zh-CN" dirty="0" smtClean="0"/>
              <a:t>write</a:t>
            </a:r>
            <a:r>
              <a:rPr lang="zh-CN" altLang="en-US" dirty="0" smtClean="0"/>
              <a:t>差不多的功能。不过它们提供了第四个参数来控制读写操作。 </a:t>
            </a:r>
          </a:p>
          <a:p>
            <a:pPr lvl="1"/>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recv</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sockfd,void</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buf,int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len,int</a:t>
            </a:r>
            <a:r>
              <a:rPr lang="en-US" altLang="zh-CN" dirty="0" smtClean="0">
                <a:latin typeface="Arial Unicode MS" panose="020B0604020202020204" pitchFamily="34" charset="-122"/>
              </a:rPr>
              <a:t> flags) </a:t>
            </a:r>
          </a:p>
          <a:p>
            <a:pPr lvl="1"/>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send(</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sockfd,void</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buf,int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len,int</a:t>
            </a:r>
            <a:r>
              <a:rPr lang="en-US" altLang="zh-CN" dirty="0" smtClean="0">
                <a:latin typeface="Arial Unicode MS" panose="020B0604020202020204" pitchFamily="34" charset="-122"/>
              </a:rPr>
              <a:t> flags) </a:t>
            </a:r>
          </a:p>
          <a:p>
            <a:pPr lvl="1"/>
            <a:r>
              <a:rPr lang="zh-CN" altLang="en-US" dirty="0" smtClean="0"/>
              <a:t>前面的三个参数和</a:t>
            </a:r>
            <a:r>
              <a:rPr lang="en-US" altLang="zh-CN" dirty="0" err="1" smtClean="0"/>
              <a:t>read,write</a:t>
            </a:r>
            <a:r>
              <a:rPr lang="zh-CN" altLang="en-US" dirty="0" smtClean="0"/>
              <a:t>一样</a:t>
            </a:r>
            <a:r>
              <a:rPr lang="en-US" altLang="zh-CN" dirty="0" smtClean="0"/>
              <a:t>,</a:t>
            </a:r>
            <a:r>
              <a:rPr lang="zh-CN" altLang="en-US" dirty="0" smtClean="0"/>
              <a:t>第四个参数可以是</a:t>
            </a:r>
            <a:r>
              <a:rPr lang="en-US" altLang="zh-CN" dirty="0" smtClean="0"/>
              <a:t>0</a:t>
            </a:r>
            <a:r>
              <a:rPr lang="zh-CN" altLang="en-US" dirty="0" smtClean="0"/>
              <a:t>或者是以下的组合：</a:t>
            </a:r>
          </a:p>
          <a:p>
            <a:endParaRPr lang="zh-CN" altLang="en-US" dirty="0"/>
          </a:p>
        </p:txBody>
      </p:sp>
      <p:graphicFrame>
        <p:nvGraphicFramePr>
          <p:cNvPr id="4" name="Group 3"/>
          <p:cNvGraphicFramePr>
            <a:graphicFrameLocks noGrp="1"/>
          </p:cNvGraphicFramePr>
          <p:nvPr>
            <p:extLst>
              <p:ext uri="{D42A27DB-BD31-4B8C-83A1-F6EECF244321}">
                <p14:modId xmlns:p14="http://schemas.microsoft.com/office/powerpoint/2010/main" val="4052200939"/>
              </p:ext>
            </p:extLst>
          </p:nvPr>
        </p:nvGraphicFramePr>
        <p:xfrm>
          <a:off x="2743567" y="4319523"/>
          <a:ext cx="6704866" cy="2128602"/>
        </p:xfrm>
        <a:graphic>
          <a:graphicData uri="http://schemas.openxmlformats.org/drawingml/2006/table">
            <a:tbl>
              <a:tblPr/>
              <a:tblGrid>
                <a:gridCol w="2707782"/>
                <a:gridCol w="3997084"/>
              </a:tblGrid>
              <a:tr h="501314">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Arial Unicode MS" pitchFamily="34" charset="-122"/>
                          <a:ea typeface="宋体" pitchFamily="2" charset="-122"/>
                        </a:rPr>
                        <a:t>MSG_DONTROUTE </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Arial Unicode MS" pitchFamily="34" charset="-122"/>
                          <a:ea typeface="宋体" pitchFamily="2" charset="-122"/>
                        </a:rPr>
                        <a:t>不查找路由表 </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2723">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en-US" altLang="zh-CN" sz="1800" b="1" i="0" u="none" strike="noStrike" cap="none" normalizeH="0" baseline="0" smtClean="0">
                          <a:ln>
                            <a:noFill/>
                          </a:ln>
                          <a:solidFill>
                            <a:schemeClr val="tx1"/>
                          </a:solidFill>
                          <a:effectLst/>
                          <a:latin typeface="Arial Unicode MS" pitchFamily="34" charset="-122"/>
                          <a:ea typeface="宋体" pitchFamily="2" charset="-122"/>
                        </a:rPr>
                        <a:t>MSG_OOB </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zh-CN" altLang="en-US" sz="1800" b="1" i="0" u="none" strike="noStrike" cap="none" normalizeH="0" baseline="0" smtClean="0">
                          <a:ln>
                            <a:noFill/>
                          </a:ln>
                          <a:solidFill>
                            <a:schemeClr val="tx1"/>
                          </a:solidFill>
                          <a:effectLst/>
                          <a:latin typeface="Arial Unicode MS" pitchFamily="34" charset="-122"/>
                          <a:ea typeface="宋体" pitchFamily="2" charset="-122"/>
                        </a:rPr>
                        <a:t>接受或者发送带外数据 </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1842">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en-US" altLang="zh-CN" sz="1800" b="1" i="0" u="none" strike="noStrike" cap="none" normalizeH="0" baseline="0" smtClean="0">
                          <a:ln>
                            <a:noFill/>
                          </a:ln>
                          <a:solidFill>
                            <a:schemeClr val="tx1"/>
                          </a:solidFill>
                          <a:effectLst/>
                          <a:latin typeface="Arial Unicode MS" pitchFamily="34" charset="-122"/>
                          <a:ea typeface="宋体" pitchFamily="2" charset="-122"/>
                        </a:rPr>
                        <a:t>MSG_PEEK </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Arial Unicode MS" pitchFamily="34" charset="-122"/>
                          <a:ea typeface="宋体" pitchFamily="2" charset="-122"/>
                        </a:rPr>
                        <a:t>查看数据</a:t>
                      </a:r>
                      <a:r>
                        <a:rPr kumimoji="0" lang="en-US" altLang="zh-CN" sz="1800" b="1" i="0" u="none" strike="noStrike" cap="none" normalizeH="0" baseline="0" dirty="0" smtClean="0">
                          <a:ln>
                            <a:noFill/>
                          </a:ln>
                          <a:solidFill>
                            <a:schemeClr val="tx1"/>
                          </a:solidFill>
                          <a:effectLst/>
                          <a:latin typeface="Arial Unicode MS" pitchFamily="34" charset="-122"/>
                          <a:ea typeface="宋体" pitchFamily="2" charset="-122"/>
                        </a:rPr>
                        <a:t>,</a:t>
                      </a:r>
                      <a:r>
                        <a:rPr kumimoji="0" lang="zh-CN" altLang="en-US" sz="1800" b="1" i="0" u="none" strike="noStrike" cap="none" normalizeH="0" baseline="0" dirty="0" smtClean="0">
                          <a:ln>
                            <a:noFill/>
                          </a:ln>
                          <a:solidFill>
                            <a:schemeClr val="tx1"/>
                          </a:solidFill>
                          <a:effectLst/>
                          <a:latin typeface="Arial Unicode MS" pitchFamily="34" charset="-122"/>
                          <a:ea typeface="宋体" pitchFamily="2" charset="-122"/>
                        </a:rPr>
                        <a:t>并不从系统缓冲区移走数据 </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2723">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en-US" altLang="zh-CN" sz="1800" b="1" i="0" u="none" strike="noStrike" cap="none" normalizeH="0" baseline="0" smtClean="0">
                          <a:ln>
                            <a:noFill/>
                          </a:ln>
                          <a:solidFill>
                            <a:schemeClr val="tx1"/>
                          </a:solidFill>
                          <a:effectLst/>
                          <a:latin typeface="Arial Unicode MS" pitchFamily="34" charset="-122"/>
                          <a:ea typeface="宋体" pitchFamily="2" charset="-122"/>
                        </a:rPr>
                        <a:t>MSG_WAITALL </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Arial Unicode MS" pitchFamily="34" charset="-122"/>
                          <a:ea typeface="宋体" pitchFamily="2" charset="-122"/>
                        </a:rPr>
                        <a:t>等待所有数据 </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20640167"/>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00251"/>
            <a:ext cx="10515600" cy="5876712"/>
          </a:xfrm>
        </p:spPr>
        <p:txBody>
          <a:bodyPr>
            <a:normAutofit fontScale="62500" lnSpcReduction="20000"/>
          </a:bodyPr>
          <a:lstStyle/>
          <a:p>
            <a:r>
              <a:rPr lang="en-US" altLang="zh-CN" b="0" dirty="0" smtClean="0"/>
              <a:t>MSG_DONTROUTE:</a:t>
            </a:r>
          </a:p>
          <a:p>
            <a:pPr lvl="1"/>
            <a:r>
              <a:rPr lang="zh-CN" altLang="en-US" dirty="0" smtClean="0"/>
              <a:t>是</a:t>
            </a:r>
            <a:r>
              <a:rPr lang="en-US" altLang="zh-CN" dirty="0" smtClean="0"/>
              <a:t>send</a:t>
            </a:r>
            <a:r>
              <a:rPr lang="zh-CN" altLang="en-US" dirty="0" smtClean="0"/>
              <a:t>函数使用的标志。</a:t>
            </a:r>
          </a:p>
          <a:p>
            <a:pPr lvl="1"/>
            <a:r>
              <a:rPr lang="zh-CN" altLang="en-US" dirty="0" smtClean="0"/>
              <a:t>这个标志告诉</a:t>
            </a:r>
            <a:r>
              <a:rPr lang="en-US" altLang="zh-CN" dirty="0" smtClean="0"/>
              <a:t>IP</a:t>
            </a:r>
            <a:r>
              <a:rPr lang="zh-CN" altLang="en-US" dirty="0" smtClean="0"/>
              <a:t>协议，目的主机在本地网络上面，没有必要查找路由表。</a:t>
            </a:r>
          </a:p>
          <a:p>
            <a:pPr lvl="1"/>
            <a:r>
              <a:rPr lang="zh-CN" altLang="en-US" dirty="0" smtClean="0"/>
              <a:t>这个标志一般用网络诊断和路由程序里面。</a:t>
            </a:r>
          </a:p>
          <a:p>
            <a:r>
              <a:rPr lang="zh-CN" altLang="en-US" dirty="0" smtClean="0"/>
              <a:t> </a:t>
            </a:r>
            <a:r>
              <a:rPr lang="en-US" altLang="zh-CN" b="0" dirty="0" smtClean="0"/>
              <a:t>MSG_OOB:</a:t>
            </a:r>
          </a:p>
          <a:p>
            <a:pPr lvl="1"/>
            <a:r>
              <a:rPr lang="zh-CN" altLang="en-US" dirty="0" smtClean="0"/>
              <a:t>表示可以接收和发送带外的数据。</a:t>
            </a:r>
          </a:p>
          <a:p>
            <a:pPr lvl="1"/>
            <a:r>
              <a:rPr lang="zh-CN" altLang="en-US" dirty="0" smtClean="0"/>
              <a:t>关于带外数据我们以后会解释的。</a:t>
            </a:r>
          </a:p>
          <a:p>
            <a:r>
              <a:rPr lang="en-US" altLang="zh-CN" b="0" dirty="0" smtClean="0"/>
              <a:t>MSG_PEEK:</a:t>
            </a:r>
          </a:p>
          <a:p>
            <a:pPr lvl="1"/>
            <a:r>
              <a:rPr lang="zh-CN" altLang="en-US" dirty="0" smtClean="0"/>
              <a:t>是</a:t>
            </a:r>
            <a:r>
              <a:rPr lang="en-US" altLang="zh-CN" dirty="0" err="1" smtClean="0"/>
              <a:t>recv</a:t>
            </a:r>
            <a:r>
              <a:rPr lang="zh-CN" altLang="en-US" dirty="0" smtClean="0"/>
              <a:t>函数的使用标志。</a:t>
            </a:r>
          </a:p>
          <a:p>
            <a:pPr lvl="1"/>
            <a:r>
              <a:rPr lang="zh-CN" altLang="en-US" dirty="0" smtClean="0"/>
              <a:t>表示只是从系统缓冲区中读取内容，而不清楚系统缓冲区的内容。这样下次读的时候，仍然是一样的内容。</a:t>
            </a:r>
          </a:p>
          <a:p>
            <a:pPr lvl="1"/>
            <a:r>
              <a:rPr lang="zh-CN" altLang="en-US" dirty="0" smtClean="0"/>
              <a:t>一般在有多个进程读写数据时可以使用这个标志。</a:t>
            </a:r>
          </a:p>
          <a:p>
            <a:r>
              <a:rPr lang="en-US" altLang="zh-CN" b="0" dirty="0" smtClean="0"/>
              <a:t>MSG_WAITALL</a:t>
            </a:r>
            <a:r>
              <a:rPr lang="zh-CN" altLang="en-US" b="0" dirty="0" smtClean="0"/>
              <a:t>：</a:t>
            </a:r>
          </a:p>
          <a:p>
            <a:pPr lvl="1"/>
            <a:r>
              <a:rPr lang="zh-CN" altLang="en-US" dirty="0" smtClean="0"/>
              <a:t>是</a:t>
            </a:r>
            <a:r>
              <a:rPr lang="en-US" altLang="zh-CN" dirty="0" err="1" smtClean="0"/>
              <a:t>recv</a:t>
            </a:r>
            <a:r>
              <a:rPr lang="zh-CN" altLang="en-US" dirty="0" smtClean="0"/>
              <a:t>函数的使用标志。</a:t>
            </a:r>
          </a:p>
          <a:p>
            <a:pPr lvl="1"/>
            <a:r>
              <a:rPr lang="zh-CN" altLang="en-US" dirty="0" smtClean="0"/>
              <a:t>表示等到所有的信息到达时才返回。</a:t>
            </a:r>
          </a:p>
          <a:p>
            <a:pPr lvl="1"/>
            <a:r>
              <a:rPr lang="zh-CN" altLang="en-US" dirty="0" smtClean="0"/>
              <a:t>使用这个标志的时候</a:t>
            </a:r>
            <a:r>
              <a:rPr lang="en-US" altLang="zh-CN" dirty="0" err="1" smtClean="0"/>
              <a:t>recv</a:t>
            </a:r>
            <a:r>
              <a:rPr lang="zh-CN" altLang="en-US" dirty="0" smtClean="0"/>
              <a:t>回一直阻塞，直到指定的条件满足，或者是发生了错误。</a:t>
            </a:r>
            <a:br>
              <a:rPr lang="zh-CN" altLang="en-US" dirty="0" smtClean="0"/>
            </a:br>
            <a:r>
              <a:rPr lang="en-US" altLang="zh-CN" dirty="0" smtClean="0"/>
              <a:t>1) </a:t>
            </a:r>
            <a:r>
              <a:rPr lang="zh-CN" altLang="en-US" dirty="0" smtClean="0"/>
              <a:t>当读到了指定的字节时，函数正常返回</a:t>
            </a:r>
            <a:r>
              <a:rPr lang="en-US" altLang="zh-CN" dirty="0" smtClean="0"/>
              <a:t>.</a:t>
            </a:r>
            <a:r>
              <a:rPr lang="zh-CN" altLang="en-US" dirty="0" smtClean="0"/>
              <a:t>返回值等于</a:t>
            </a:r>
            <a:r>
              <a:rPr lang="en-US" altLang="zh-CN" dirty="0" err="1" smtClean="0"/>
              <a:t>len</a:t>
            </a:r>
            <a:r>
              <a:rPr lang="zh-CN" altLang="en-US" dirty="0" smtClean="0"/>
              <a:t>。 </a:t>
            </a:r>
            <a:br>
              <a:rPr lang="zh-CN" altLang="en-US" dirty="0" smtClean="0"/>
            </a:br>
            <a:r>
              <a:rPr lang="en-US" altLang="zh-CN" dirty="0" smtClean="0"/>
              <a:t>2)  </a:t>
            </a:r>
            <a:r>
              <a:rPr lang="zh-CN" altLang="en-US" dirty="0" smtClean="0"/>
              <a:t>当读到了文件的结尾时，函数正常返回，返回值小于</a:t>
            </a:r>
            <a:r>
              <a:rPr lang="en-US" altLang="zh-CN" dirty="0" err="1" smtClean="0"/>
              <a:t>len</a:t>
            </a:r>
            <a:r>
              <a:rPr lang="en-US" altLang="zh-CN" dirty="0" smtClean="0"/>
              <a:t> </a:t>
            </a:r>
            <a:r>
              <a:rPr lang="zh-CN" altLang="en-US" dirty="0" smtClean="0"/>
              <a:t>。</a:t>
            </a:r>
          </a:p>
          <a:p>
            <a:pPr lvl="1"/>
            <a:r>
              <a:rPr lang="en-US" altLang="zh-CN" dirty="0" smtClean="0"/>
              <a:t>3)</a:t>
            </a:r>
            <a:r>
              <a:rPr lang="zh-CN" altLang="en-US" dirty="0" smtClean="0"/>
              <a:t>当操作发生错误时，返回</a:t>
            </a:r>
            <a:r>
              <a:rPr lang="en-US" altLang="zh-CN" dirty="0" smtClean="0"/>
              <a:t>-1</a:t>
            </a:r>
            <a:r>
              <a:rPr lang="zh-CN" altLang="en-US" dirty="0" smtClean="0"/>
              <a:t>，且设置错误为相应的错误号</a:t>
            </a:r>
            <a:r>
              <a:rPr lang="en-US" altLang="zh-CN" dirty="0" smtClean="0"/>
              <a:t>(</a:t>
            </a:r>
            <a:r>
              <a:rPr lang="en-US" altLang="zh-CN" dirty="0" err="1" smtClean="0"/>
              <a:t>errno</a:t>
            </a:r>
            <a:r>
              <a:rPr lang="en-US" altLang="zh-CN" dirty="0" smtClean="0"/>
              <a:t>)</a:t>
            </a:r>
            <a:r>
              <a:rPr lang="zh-CN" altLang="en-US" dirty="0" smtClean="0"/>
              <a:t>。</a:t>
            </a:r>
          </a:p>
          <a:p>
            <a:r>
              <a:rPr lang="zh-CN" altLang="en-US" dirty="0" smtClean="0"/>
              <a:t>如果</a:t>
            </a:r>
            <a:r>
              <a:rPr lang="en-US" altLang="zh-CN" dirty="0" smtClean="0"/>
              <a:t>flags</a:t>
            </a:r>
            <a:r>
              <a:rPr lang="zh-CN" altLang="en-US" dirty="0" smtClean="0"/>
              <a:t>为</a:t>
            </a:r>
            <a:r>
              <a:rPr lang="en-US" altLang="zh-CN" dirty="0" smtClean="0"/>
              <a:t>0</a:t>
            </a:r>
            <a:r>
              <a:rPr lang="zh-CN" altLang="en-US" dirty="0" smtClean="0"/>
              <a:t>，则和</a:t>
            </a:r>
            <a:r>
              <a:rPr lang="en-US" altLang="zh-CN" dirty="0" smtClean="0"/>
              <a:t>read</a:t>
            </a:r>
            <a:r>
              <a:rPr lang="zh-CN" altLang="en-US" dirty="0" smtClean="0"/>
              <a:t>，</a:t>
            </a:r>
            <a:r>
              <a:rPr lang="en-US" altLang="zh-CN" dirty="0" smtClean="0"/>
              <a:t>write</a:t>
            </a:r>
            <a:r>
              <a:rPr lang="zh-CN" altLang="en-US" dirty="0" smtClean="0"/>
              <a:t>一样的操作。</a:t>
            </a:r>
          </a:p>
          <a:p>
            <a:endParaRPr lang="zh-CN" altLang="en-US" dirty="0"/>
          </a:p>
        </p:txBody>
      </p:sp>
    </p:spTree>
    <p:extLst>
      <p:ext uri="{BB962C8B-B14F-4D97-AF65-F5344CB8AC3E}">
        <p14:creationId xmlns:p14="http://schemas.microsoft.com/office/powerpoint/2010/main" val="2861761013"/>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高级套接字函数</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续</a:t>
            </a:r>
            <a:r>
              <a:rPr lang="en-US" altLang="zh-CN" dirty="0" smtClean="0">
                <a:latin typeface="Times New Roman" panose="02020603050405020304" pitchFamily="18" charset="0"/>
              </a:rPr>
              <a:t>)</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b="0" dirty="0" err="1" smtClean="0"/>
              <a:t>recvmsg</a:t>
            </a:r>
            <a:r>
              <a:rPr lang="zh-CN" altLang="en-US" b="0" dirty="0" smtClean="0"/>
              <a:t>和</a:t>
            </a:r>
            <a:r>
              <a:rPr lang="en-US" altLang="zh-CN" b="0" dirty="0" err="1" smtClean="0"/>
              <a:t>sendmsg</a:t>
            </a:r>
            <a:r>
              <a:rPr lang="en-US" altLang="zh-CN" b="0" dirty="0" smtClean="0"/>
              <a:t> </a:t>
            </a:r>
          </a:p>
          <a:p>
            <a:pPr lvl="1"/>
            <a:r>
              <a:rPr lang="en-US" altLang="zh-CN" dirty="0" err="1" smtClean="0"/>
              <a:t>recvmsg</a:t>
            </a:r>
            <a:r>
              <a:rPr lang="zh-CN" altLang="en-US" dirty="0" smtClean="0"/>
              <a:t>和</a:t>
            </a:r>
            <a:r>
              <a:rPr lang="en-US" altLang="zh-CN" dirty="0" err="1" smtClean="0"/>
              <a:t>sendmsg</a:t>
            </a:r>
            <a:r>
              <a:rPr lang="zh-CN" altLang="en-US" dirty="0" smtClean="0"/>
              <a:t>可以实现前面所有的读写函数的功能。</a:t>
            </a:r>
            <a:br>
              <a:rPr lang="zh-CN" altLang="en-US" dirty="0" smtClean="0"/>
            </a:b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recvmsg</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msghdr</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msg,int</a:t>
            </a:r>
            <a:r>
              <a:rPr lang="en-US" altLang="zh-CN" dirty="0" smtClean="0">
                <a:latin typeface="Arial Unicode MS" panose="020B0604020202020204" pitchFamily="34" charset="-122"/>
              </a:rPr>
              <a:t> flags)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sendmsg</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msghdr</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msg,int</a:t>
            </a:r>
            <a:r>
              <a:rPr lang="en-US" altLang="zh-CN" dirty="0" smtClean="0">
                <a:latin typeface="Arial Unicode MS" panose="020B0604020202020204" pitchFamily="34" charset="-122"/>
              </a:rPr>
              <a:t> flags) </a:t>
            </a:r>
          </a:p>
          <a:p>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msghdr</a:t>
            </a:r>
            <a:r>
              <a:rPr lang="en-US" altLang="zh-CN" dirty="0">
                <a:latin typeface="Arial Unicode MS" panose="020B0604020202020204" pitchFamily="34" charset="-122"/>
              </a:rPr>
              <a:t> { </a:t>
            </a:r>
            <a:br>
              <a:rPr lang="en-US" altLang="zh-CN" dirty="0">
                <a:latin typeface="Arial Unicode MS" panose="020B0604020202020204" pitchFamily="34" charset="-122"/>
              </a:rPr>
            </a:br>
            <a:r>
              <a:rPr lang="en-US" altLang="zh-CN" dirty="0">
                <a:latin typeface="Arial Unicode MS" panose="020B0604020202020204" pitchFamily="34" charset="-122"/>
              </a:rPr>
              <a:t>void *</a:t>
            </a:r>
            <a:r>
              <a:rPr lang="en-US" altLang="zh-CN" dirty="0" err="1">
                <a:latin typeface="Arial Unicode MS" panose="020B0604020202020204" pitchFamily="34" charset="-122"/>
              </a:rPr>
              <a:t>msg_name</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msg_namelen</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iovec</a:t>
            </a:r>
            <a:r>
              <a:rPr lang="en-US" altLang="zh-CN" dirty="0">
                <a:latin typeface="Arial Unicode MS" panose="020B0604020202020204" pitchFamily="34" charset="-122"/>
              </a:rPr>
              <a:t> *</a:t>
            </a:r>
            <a:r>
              <a:rPr lang="en-US" altLang="zh-CN" dirty="0" err="1">
                <a:latin typeface="Arial Unicode MS" panose="020B0604020202020204" pitchFamily="34" charset="-122"/>
              </a:rPr>
              <a:t>msg_iov</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msg_iovlen</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void *</a:t>
            </a:r>
            <a:r>
              <a:rPr lang="en-US" altLang="zh-CN" dirty="0" err="1">
                <a:latin typeface="Arial Unicode MS" panose="020B0604020202020204" pitchFamily="34" charset="-122"/>
              </a:rPr>
              <a:t>msg_control</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msg_controllen</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msg_flags</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 </a:t>
            </a:r>
          </a:p>
          <a:p>
            <a:r>
              <a:rPr lang="en-US" altLang="zh-CN" dirty="0" err="1">
                <a:latin typeface="Arial Unicode MS" panose="020B0604020202020204" pitchFamily="34" charset="-122"/>
              </a:rPr>
              <a:t>struct</a:t>
            </a:r>
            <a:r>
              <a:rPr lang="en-US" altLang="zh-CN" dirty="0">
                <a:latin typeface="Arial Unicode MS" panose="020B0604020202020204" pitchFamily="34" charset="-122"/>
              </a:rPr>
              <a:t> </a:t>
            </a:r>
            <a:r>
              <a:rPr lang="en-US" altLang="zh-CN" dirty="0" err="1">
                <a:latin typeface="Arial Unicode MS" panose="020B0604020202020204" pitchFamily="34" charset="-122"/>
              </a:rPr>
              <a:t>iovec</a:t>
            </a:r>
            <a:r>
              <a:rPr lang="en-US" altLang="zh-CN" dirty="0">
                <a:latin typeface="Arial Unicode MS" panose="020B0604020202020204" pitchFamily="34" charset="-122"/>
              </a:rPr>
              <a:t> { </a:t>
            </a:r>
            <a:br>
              <a:rPr lang="en-US" altLang="zh-CN" dirty="0">
                <a:latin typeface="Arial Unicode MS" panose="020B0604020202020204" pitchFamily="34" charset="-122"/>
              </a:rPr>
            </a:br>
            <a:r>
              <a:rPr lang="en-US" altLang="zh-CN" dirty="0">
                <a:latin typeface="Arial Unicode MS" panose="020B0604020202020204" pitchFamily="34" charset="-122"/>
              </a:rPr>
              <a:t>void *</a:t>
            </a:r>
            <a:r>
              <a:rPr lang="en-US" altLang="zh-CN" dirty="0" err="1">
                <a:latin typeface="Arial Unicode MS" panose="020B0604020202020204" pitchFamily="34" charset="-122"/>
              </a:rPr>
              <a:t>iov_base</a:t>
            </a:r>
            <a:r>
              <a:rPr lang="en-US" altLang="zh-CN" dirty="0">
                <a:latin typeface="Arial Unicode MS" panose="020B0604020202020204" pitchFamily="34" charset="-122"/>
              </a:rPr>
              <a:t>; /* </a:t>
            </a:r>
            <a:r>
              <a:rPr lang="zh-CN" altLang="en-US" dirty="0">
                <a:latin typeface="Arial Unicode MS" panose="020B0604020202020204" pitchFamily="34" charset="-122"/>
              </a:rPr>
              <a:t>缓冲区开始的地址 *</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size_t</a:t>
            </a:r>
            <a:r>
              <a:rPr lang="en-US" altLang="zh-CN" dirty="0">
                <a:latin typeface="Arial Unicode MS" panose="020B0604020202020204" pitchFamily="34" charset="-122"/>
              </a:rPr>
              <a:t> </a:t>
            </a:r>
            <a:r>
              <a:rPr lang="en-US" altLang="zh-CN" dirty="0" err="1">
                <a:latin typeface="Arial Unicode MS" panose="020B0604020202020204" pitchFamily="34" charset="-122"/>
              </a:rPr>
              <a:t>iov_len</a:t>
            </a:r>
            <a:r>
              <a:rPr lang="en-US" altLang="zh-CN" dirty="0">
                <a:latin typeface="Arial Unicode MS" panose="020B0604020202020204" pitchFamily="34" charset="-122"/>
              </a:rPr>
              <a:t>; /* </a:t>
            </a:r>
            <a:r>
              <a:rPr lang="zh-CN" altLang="en-US" dirty="0">
                <a:latin typeface="Arial Unicode MS" panose="020B0604020202020204" pitchFamily="34" charset="-122"/>
              </a:rPr>
              <a:t>缓冲区的长度 *</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a:latin typeface="Arial Unicode MS" panose="020B0604020202020204" pitchFamily="34" charset="-122"/>
              </a:rPr>
              <a:t>} </a:t>
            </a:r>
          </a:p>
          <a:p>
            <a:endParaRPr lang="zh-CN" altLang="en-US" dirty="0"/>
          </a:p>
        </p:txBody>
      </p:sp>
    </p:spTree>
    <p:extLst>
      <p:ext uri="{BB962C8B-B14F-4D97-AF65-F5344CB8AC3E}">
        <p14:creationId xmlns:p14="http://schemas.microsoft.com/office/powerpoint/2010/main" val="3924348787"/>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8809" y="1111479"/>
            <a:ext cx="10515600" cy="5289859"/>
          </a:xfrm>
        </p:spPr>
        <p:txBody>
          <a:bodyPr/>
          <a:lstStyle/>
          <a:p>
            <a:r>
              <a:rPr lang="en-US" altLang="zh-CN" sz="2800" b="0" dirty="0" err="1" smtClean="0"/>
              <a:t>msg_name</a:t>
            </a:r>
            <a:r>
              <a:rPr lang="zh-CN" altLang="en-US" sz="2800" b="0" dirty="0" smtClean="0"/>
              <a:t>和 </a:t>
            </a:r>
            <a:r>
              <a:rPr lang="en-US" altLang="zh-CN" sz="2800" b="0" dirty="0" err="1" smtClean="0"/>
              <a:t>msg_namelen</a:t>
            </a:r>
            <a:endParaRPr lang="en-US" altLang="zh-CN" sz="2800" b="0" dirty="0" smtClean="0"/>
          </a:p>
          <a:p>
            <a:pPr lvl="1"/>
            <a:r>
              <a:rPr lang="zh-CN" altLang="en-US" sz="2400" dirty="0" smtClean="0"/>
              <a:t>当套接字是非面向连接时</a:t>
            </a:r>
            <a:r>
              <a:rPr lang="en-US" altLang="zh-CN" sz="2400" dirty="0" smtClean="0"/>
              <a:t>(UDP),</a:t>
            </a:r>
            <a:r>
              <a:rPr lang="zh-CN" altLang="en-US" sz="2400" dirty="0" smtClean="0"/>
              <a:t>它们存储接收和发送方的地址信息。</a:t>
            </a:r>
          </a:p>
          <a:p>
            <a:pPr lvl="1"/>
            <a:r>
              <a:rPr lang="en-US" altLang="zh-CN" sz="2400" dirty="0" err="1" smtClean="0"/>
              <a:t>msg_name</a:t>
            </a:r>
            <a:r>
              <a:rPr lang="zh-CN" altLang="en-US" sz="2400" dirty="0" smtClean="0"/>
              <a:t>实际上是一个指向</a:t>
            </a:r>
            <a:r>
              <a:rPr lang="en-US" altLang="zh-CN" sz="2400" dirty="0" err="1" smtClean="0"/>
              <a:t>struct</a:t>
            </a:r>
            <a:r>
              <a:rPr lang="en-US" altLang="zh-CN" sz="2400" dirty="0" smtClean="0"/>
              <a:t> </a:t>
            </a:r>
            <a:r>
              <a:rPr lang="en-US" altLang="zh-CN" sz="2400" dirty="0" err="1" smtClean="0"/>
              <a:t>sockaddr</a:t>
            </a:r>
            <a:r>
              <a:rPr lang="zh-CN" altLang="en-US" sz="2400" dirty="0" smtClean="0"/>
              <a:t>的指针，</a:t>
            </a:r>
            <a:r>
              <a:rPr lang="en-US" altLang="zh-CN" sz="2400" dirty="0" err="1" smtClean="0"/>
              <a:t>msg_name</a:t>
            </a:r>
            <a:r>
              <a:rPr lang="zh-CN" altLang="en-US" sz="2400" dirty="0" smtClean="0"/>
              <a:t>是结构的长度。</a:t>
            </a:r>
          </a:p>
          <a:p>
            <a:pPr lvl="1"/>
            <a:r>
              <a:rPr lang="zh-CN" altLang="en-US" sz="2400" dirty="0" smtClean="0"/>
              <a:t>当套接字是面向连接时</a:t>
            </a:r>
            <a:r>
              <a:rPr lang="en-US" altLang="zh-CN" sz="2400" dirty="0" smtClean="0"/>
              <a:t>,</a:t>
            </a:r>
            <a:r>
              <a:rPr lang="zh-CN" altLang="en-US" sz="2400" dirty="0" smtClean="0"/>
              <a:t>这两个值应设为</a:t>
            </a:r>
            <a:r>
              <a:rPr lang="en-US" altLang="zh-CN" sz="2400" dirty="0" smtClean="0"/>
              <a:t>NULL</a:t>
            </a:r>
          </a:p>
          <a:p>
            <a:r>
              <a:rPr lang="en-US" altLang="zh-CN" sz="2800" b="0" dirty="0" err="1" smtClean="0"/>
              <a:t>msg_iov</a:t>
            </a:r>
            <a:r>
              <a:rPr lang="zh-CN" altLang="en-US" sz="2800" b="0" dirty="0" smtClean="0"/>
              <a:t>和</a:t>
            </a:r>
            <a:r>
              <a:rPr lang="en-US" altLang="zh-CN" sz="2800" b="0" dirty="0" err="1" smtClean="0"/>
              <a:t>msg_iovlen</a:t>
            </a:r>
            <a:endParaRPr lang="en-US" altLang="zh-CN" sz="2800" b="0" dirty="0" smtClean="0"/>
          </a:p>
          <a:p>
            <a:pPr lvl="1"/>
            <a:r>
              <a:rPr lang="zh-CN" altLang="en-US" sz="2400" dirty="0" smtClean="0"/>
              <a:t>指出接受和发送的缓冲区内容。</a:t>
            </a:r>
          </a:p>
          <a:p>
            <a:pPr lvl="1"/>
            <a:r>
              <a:rPr lang="en-US" altLang="zh-CN" sz="2400" dirty="0" err="1" smtClean="0"/>
              <a:t>msg_iov</a:t>
            </a:r>
            <a:r>
              <a:rPr lang="zh-CN" altLang="en-US" sz="2400" dirty="0" smtClean="0"/>
              <a:t>是一个结构指针，</a:t>
            </a:r>
            <a:r>
              <a:rPr lang="en-US" altLang="zh-CN" sz="2400" dirty="0" err="1" smtClean="0"/>
              <a:t>msg_iovlen</a:t>
            </a:r>
            <a:r>
              <a:rPr lang="zh-CN" altLang="en-US" sz="2400" dirty="0" smtClean="0"/>
              <a:t>指出这个结构数组的大小。</a:t>
            </a:r>
          </a:p>
          <a:p>
            <a:pPr lvl="1"/>
            <a:r>
              <a:rPr lang="en-US" altLang="zh-CN" sz="2400" b="0" dirty="0" err="1" smtClean="0"/>
              <a:t>msg_control</a:t>
            </a:r>
            <a:r>
              <a:rPr lang="zh-CN" altLang="en-US" sz="2400" b="0" dirty="0" smtClean="0"/>
              <a:t>和</a:t>
            </a:r>
            <a:r>
              <a:rPr lang="en-US" altLang="zh-CN" sz="2400" b="0" dirty="0" err="1" smtClean="0"/>
              <a:t>msg_controllen</a:t>
            </a:r>
            <a:r>
              <a:rPr lang="zh-CN" altLang="en-US" sz="2400" dirty="0" smtClean="0"/>
              <a:t>这两个变量是用来接收和发送控制数据时的 </a:t>
            </a:r>
            <a:r>
              <a:rPr lang="en-US" altLang="zh-CN" sz="2400" b="0" dirty="0" err="1" smtClean="0"/>
              <a:t>msg_flags</a:t>
            </a:r>
            <a:r>
              <a:rPr lang="zh-CN" altLang="en-US" sz="2400" dirty="0" smtClean="0"/>
              <a:t>指定接受和发送的操作选项。（和</a:t>
            </a:r>
            <a:r>
              <a:rPr lang="en-US" altLang="zh-CN" sz="2400" dirty="0" err="1" smtClean="0"/>
              <a:t>recv,send</a:t>
            </a:r>
            <a:r>
              <a:rPr lang="zh-CN" altLang="en-US" sz="2400" dirty="0" smtClean="0"/>
              <a:t>的选项一样）</a:t>
            </a:r>
          </a:p>
          <a:p>
            <a:endParaRPr lang="zh-CN" altLang="en-US" sz="2800" dirty="0" smtClean="0"/>
          </a:p>
          <a:p>
            <a:pPr lvl="1"/>
            <a:endParaRPr lang="zh-CN" altLang="en-US" sz="2400" dirty="0"/>
          </a:p>
        </p:txBody>
      </p:sp>
    </p:spTree>
    <p:extLst>
      <p:ext uri="{BB962C8B-B14F-4D97-AF65-F5344CB8AC3E}">
        <p14:creationId xmlns:p14="http://schemas.microsoft.com/office/powerpoint/2010/main" val="44966465"/>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高级套接字函数</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续</a:t>
            </a:r>
            <a:r>
              <a:rPr lang="en-US" altLang="zh-CN" dirty="0" smtClean="0">
                <a:latin typeface="Times New Roman" panose="02020603050405020304" pitchFamily="18" charset="0"/>
              </a:rPr>
              <a:t>)</a:t>
            </a:r>
            <a:endParaRPr lang="zh-CN" altLang="en-US" dirty="0"/>
          </a:p>
        </p:txBody>
      </p:sp>
      <p:sp>
        <p:nvSpPr>
          <p:cNvPr id="3" name="内容占位符 2"/>
          <p:cNvSpPr>
            <a:spLocks noGrp="1"/>
          </p:cNvSpPr>
          <p:nvPr>
            <p:ph idx="1"/>
          </p:nvPr>
        </p:nvSpPr>
        <p:spPr/>
        <p:txBody>
          <a:bodyPr/>
          <a:lstStyle/>
          <a:p>
            <a:r>
              <a:rPr lang="zh-CN" altLang="en-US" b="0" dirty="0" smtClean="0"/>
              <a:t>套接字的关闭 </a:t>
            </a:r>
          </a:p>
          <a:p>
            <a:pPr lvl="1"/>
            <a:r>
              <a:rPr lang="zh-CN" altLang="en-US" dirty="0" smtClean="0"/>
              <a:t>关闭套接字有两个函数：</a:t>
            </a:r>
            <a:br>
              <a:rPr lang="zh-CN" altLang="en-US" dirty="0" smtClean="0"/>
            </a:br>
            <a:r>
              <a:rPr lang="en-US" altLang="zh-CN" dirty="0" smtClean="0"/>
              <a:t>close</a:t>
            </a:r>
            <a:br>
              <a:rPr lang="en-US" altLang="zh-CN" dirty="0" smtClean="0"/>
            </a:br>
            <a:r>
              <a:rPr lang="en-US" altLang="zh-CN" dirty="0" smtClean="0"/>
              <a:t>shutdown</a:t>
            </a:r>
          </a:p>
          <a:p>
            <a:pPr lvl="1"/>
            <a:r>
              <a:rPr lang="zh-CN" altLang="en-US" dirty="0" smtClean="0"/>
              <a:t>用</a:t>
            </a:r>
            <a:r>
              <a:rPr lang="en-US" altLang="zh-CN" dirty="0" smtClean="0"/>
              <a:t>close</a:t>
            </a:r>
            <a:r>
              <a:rPr lang="zh-CN" altLang="en-US" dirty="0" smtClean="0"/>
              <a:t>时和我们关闭文件一样。</a:t>
            </a:r>
          </a:p>
          <a:p>
            <a:r>
              <a:rPr lang="en-US" altLang="zh-CN" b="0" dirty="0" smtClean="0"/>
              <a:t>shutdown </a:t>
            </a:r>
          </a:p>
          <a:p>
            <a:pPr lvl="1"/>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shutdown(</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howto</a:t>
            </a:r>
            <a:r>
              <a:rPr lang="en-US" altLang="zh-CN" dirty="0" smtClean="0">
                <a:latin typeface="Arial Unicode MS" panose="020B0604020202020204" pitchFamily="34" charset="-122"/>
              </a:rPr>
              <a:t>) </a:t>
            </a:r>
          </a:p>
          <a:p>
            <a:pPr lvl="1"/>
            <a:r>
              <a:rPr lang="en-US" altLang="zh-CN" dirty="0" smtClean="0"/>
              <a:t>TCP</a:t>
            </a:r>
            <a:r>
              <a:rPr lang="zh-CN" altLang="en-US" dirty="0" smtClean="0"/>
              <a:t>连接是双向的</a:t>
            </a:r>
            <a:r>
              <a:rPr lang="en-US" altLang="zh-CN" dirty="0" smtClean="0"/>
              <a:t>(</a:t>
            </a:r>
            <a:r>
              <a:rPr lang="zh-CN" altLang="en-US" dirty="0" smtClean="0"/>
              <a:t>是可读写的</a:t>
            </a:r>
            <a:r>
              <a:rPr lang="en-US" altLang="zh-CN" dirty="0" smtClean="0"/>
              <a:t>)</a:t>
            </a:r>
            <a:r>
              <a:rPr lang="zh-CN" altLang="en-US" dirty="0" smtClean="0"/>
              <a:t>，当我们使用</a:t>
            </a:r>
            <a:r>
              <a:rPr lang="en-US" altLang="zh-CN" dirty="0" smtClean="0"/>
              <a:t>close</a:t>
            </a:r>
            <a:r>
              <a:rPr lang="zh-CN" altLang="en-US" dirty="0" smtClean="0"/>
              <a:t>时</a:t>
            </a:r>
            <a:r>
              <a:rPr lang="en-US" altLang="zh-CN" dirty="0" smtClean="0"/>
              <a:t>,</a:t>
            </a:r>
            <a:r>
              <a:rPr lang="zh-CN" altLang="en-US" dirty="0" smtClean="0"/>
              <a:t>会把读写通道都关闭，有时侯我们希望只关闭一个方向，这个时候我们可以使用</a:t>
            </a:r>
            <a:r>
              <a:rPr lang="en-US" altLang="zh-CN" dirty="0" smtClean="0"/>
              <a:t>shutdown</a:t>
            </a:r>
            <a:r>
              <a:rPr lang="zh-CN" altLang="en-US" dirty="0" smtClean="0"/>
              <a:t>。</a:t>
            </a:r>
          </a:p>
          <a:p>
            <a:pPr lvl="1"/>
            <a:r>
              <a:rPr lang="zh-CN" altLang="en-US" dirty="0" smtClean="0"/>
              <a:t>针对不同的</a:t>
            </a:r>
            <a:r>
              <a:rPr lang="en-US" altLang="zh-CN" dirty="0" err="1" smtClean="0"/>
              <a:t>howto</a:t>
            </a:r>
            <a:r>
              <a:rPr lang="zh-CN" altLang="en-US" dirty="0" smtClean="0"/>
              <a:t>，系统回采取不同的关闭方式。</a:t>
            </a:r>
          </a:p>
          <a:p>
            <a:endParaRPr lang="zh-CN" altLang="en-US" dirty="0"/>
          </a:p>
        </p:txBody>
      </p:sp>
    </p:spTree>
    <p:extLst>
      <p:ext uri="{BB962C8B-B14F-4D97-AF65-F5344CB8AC3E}">
        <p14:creationId xmlns:p14="http://schemas.microsoft.com/office/powerpoint/2010/main" val="1238234394"/>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smtClean="0"/>
              <a:t>shutdown </a:t>
            </a:r>
          </a:p>
          <a:p>
            <a:pPr lvl="1"/>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shutdown(</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sockfd,int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howto</a:t>
            </a:r>
            <a:r>
              <a:rPr lang="en-US" altLang="zh-CN" dirty="0" smtClean="0">
                <a:latin typeface="Arial Unicode MS" panose="020B0604020202020204" pitchFamily="34" charset="-122"/>
              </a:rPr>
              <a:t>) </a:t>
            </a:r>
          </a:p>
          <a:p>
            <a:pPr lvl="1"/>
            <a:r>
              <a:rPr lang="en-US" altLang="zh-CN" dirty="0" smtClean="0"/>
              <a:t>TCP</a:t>
            </a:r>
            <a:r>
              <a:rPr lang="zh-CN" altLang="en-US" dirty="0" smtClean="0"/>
              <a:t>连接是双向的</a:t>
            </a:r>
            <a:r>
              <a:rPr lang="en-US" altLang="zh-CN" dirty="0" smtClean="0"/>
              <a:t>(</a:t>
            </a:r>
            <a:r>
              <a:rPr lang="zh-CN" altLang="en-US" dirty="0" smtClean="0"/>
              <a:t>是可读写的</a:t>
            </a:r>
            <a:r>
              <a:rPr lang="en-US" altLang="zh-CN" dirty="0" smtClean="0"/>
              <a:t>)</a:t>
            </a:r>
            <a:r>
              <a:rPr lang="zh-CN" altLang="en-US" dirty="0" smtClean="0"/>
              <a:t>，当我们使用</a:t>
            </a:r>
            <a:r>
              <a:rPr lang="en-US" altLang="zh-CN" dirty="0" smtClean="0"/>
              <a:t>close</a:t>
            </a:r>
            <a:r>
              <a:rPr lang="zh-CN" altLang="en-US" dirty="0" smtClean="0"/>
              <a:t>时</a:t>
            </a:r>
            <a:r>
              <a:rPr lang="en-US" altLang="zh-CN" dirty="0" smtClean="0"/>
              <a:t>,</a:t>
            </a:r>
            <a:r>
              <a:rPr lang="zh-CN" altLang="en-US" dirty="0" smtClean="0"/>
              <a:t>会把读写通道都关闭，有时侯我们希望只关闭一个方向，这个时候我们可以使用</a:t>
            </a:r>
            <a:r>
              <a:rPr lang="en-US" altLang="zh-CN" dirty="0" smtClean="0"/>
              <a:t>shutdown</a:t>
            </a:r>
            <a:r>
              <a:rPr lang="zh-CN" altLang="en-US" dirty="0" smtClean="0"/>
              <a:t>。</a:t>
            </a:r>
          </a:p>
          <a:p>
            <a:pPr lvl="1"/>
            <a:r>
              <a:rPr lang="zh-CN" altLang="en-US" dirty="0" smtClean="0"/>
              <a:t>针对不同的</a:t>
            </a:r>
            <a:r>
              <a:rPr lang="en-US" altLang="zh-CN" dirty="0" err="1" smtClean="0"/>
              <a:t>howto</a:t>
            </a:r>
            <a:r>
              <a:rPr lang="zh-CN" altLang="en-US" dirty="0" smtClean="0"/>
              <a:t>，系统回采取不同的关闭方式。</a:t>
            </a:r>
          </a:p>
          <a:p>
            <a:r>
              <a:rPr lang="zh-CN" altLang="en-US" dirty="0" smtClean="0"/>
              <a:t>系统为我们提供了获取和修改套接字结构中一些属性的函数，通过修改这些属性，我们可以调整套接字的性能，进而调整某些应用程序的性能。</a:t>
            </a:r>
          </a:p>
          <a:p>
            <a:endParaRPr lang="zh-CN" altLang="en-US" dirty="0"/>
          </a:p>
        </p:txBody>
      </p:sp>
    </p:spTree>
    <p:extLst>
      <p:ext uri="{BB962C8B-B14F-4D97-AF65-F5344CB8AC3E}">
        <p14:creationId xmlns:p14="http://schemas.microsoft.com/office/powerpoint/2010/main" val="941065233"/>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套接字选项</a:t>
            </a:r>
            <a:endParaRPr lang="zh-CN" altLang="en-US" dirty="0"/>
          </a:p>
        </p:txBody>
      </p:sp>
      <p:sp>
        <p:nvSpPr>
          <p:cNvPr id="3" name="内容占位符 2"/>
          <p:cNvSpPr>
            <a:spLocks noGrp="1"/>
          </p:cNvSpPr>
          <p:nvPr>
            <p:ph idx="1"/>
          </p:nvPr>
        </p:nvSpPr>
        <p:spPr/>
        <p:txBody>
          <a:bodyPr/>
          <a:lstStyle/>
          <a:p>
            <a:r>
              <a:rPr lang="en-US" altLang="zh-CN" b="0" dirty="0" smtClean="0"/>
              <a:t>1 </a:t>
            </a:r>
            <a:r>
              <a:rPr lang="en-US" altLang="zh-CN" b="0" dirty="0" err="1" smtClean="0"/>
              <a:t>getsockopt</a:t>
            </a:r>
            <a:r>
              <a:rPr lang="zh-CN" altLang="en-US" b="0" dirty="0" smtClean="0"/>
              <a:t>和</a:t>
            </a:r>
            <a:r>
              <a:rPr lang="en-US" altLang="zh-CN" b="0" dirty="0" err="1" smtClean="0"/>
              <a:t>setsockopt</a:t>
            </a:r>
            <a:r>
              <a:rPr lang="en-US" altLang="zh-CN" b="0" dirty="0" smtClean="0"/>
              <a:t> </a:t>
            </a:r>
          </a:p>
          <a:p>
            <a:pPr lvl="1"/>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getsockopt</a:t>
            </a:r>
            <a:r>
              <a:rPr lang="en-US" altLang="zh-CN" dirty="0">
                <a:latin typeface="Arial Unicode MS" panose="020B0604020202020204" pitchFamily="34" charset="-122"/>
              </a:rPr>
              <a:t>(</a:t>
            </a: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sockfd,int</a:t>
            </a:r>
            <a:r>
              <a:rPr lang="en-US" altLang="zh-CN" dirty="0">
                <a:latin typeface="Arial Unicode MS" panose="020B0604020202020204" pitchFamily="34" charset="-122"/>
              </a:rPr>
              <a:t> </a:t>
            </a:r>
            <a:r>
              <a:rPr lang="en-US" altLang="zh-CN" dirty="0" err="1">
                <a:latin typeface="Arial Unicode MS" panose="020B0604020202020204" pitchFamily="34" charset="-122"/>
              </a:rPr>
              <a:t>level,int</a:t>
            </a:r>
            <a:r>
              <a:rPr lang="en-US" altLang="zh-CN" dirty="0">
                <a:latin typeface="Arial Unicode MS" panose="020B0604020202020204" pitchFamily="34" charset="-122"/>
              </a:rPr>
              <a:t> </a:t>
            </a:r>
            <a:r>
              <a:rPr lang="en-US" altLang="zh-CN" dirty="0" err="1">
                <a:latin typeface="Arial Unicode MS" panose="020B0604020202020204" pitchFamily="34" charset="-122"/>
              </a:rPr>
              <a:t>optname,void</a:t>
            </a:r>
            <a:r>
              <a:rPr lang="en-US" altLang="zh-CN" dirty="0">
                <a:latin typeface="Arial Unicode MS" panose="020B0604020202020204" pitchFamily="34" charset="-122"/>
              </a:rPr>
              <a:t> *</a:t>
            </a:r>
            <a:r>
              <a:rPr lang="en-US" altLang="zh-CN" dirty="0" err="1">
                <a:latin typeface="Arial Unicode MS" panose="020B0604020202020204" pitchFamily="34" charset="-122"/>
              </a:rPr>
              <a:t>optval,socklen_t</a:t>
            </a:r>
            <a:r>
              <a:rPr lang="en-US" altLang="zh-CN" dirty="0">
                <a:latin typeface="Arial Unicode MS" panose="020B0604020202020204" pitchFamily="34" charset="-122"/>
              </a:rPr>
              <a:t> *</a:t>
            </a:r>
            <a:r>
              <a:rPr lang="en-US" altLang="zh-CN" dirty="0" err="1">
                <a:latin typeface="Arial Unicode MS" panose="020B0604020202020204" pitchFamily="34" charset="-122"/>
              </a:rPr>
              <a:t>optlen</a:t>
            </a:r>
            <a:r>
              <a:rPr lang="en-US" altLang="zh-CN" dirty="0">
                <a:latin typeface="Arial Unicode MS" panose="020B0604020202020204" pitchFamily="34" charset="-122"/>
              </a:rPr>
              <a:t>) </a:t>
            </a:r>
            <a:br>
              <a:rPr lang="en-US" altLang="zh-CN" dirty="0">
                <a:latin typeface="Arial Unicode MS" panose="020B0604020202020204" pitchFamily="34" charset="-122"/>
              </a:rPr>
            </a:b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setsockopt</a:t>
            </a:r>
            <a:r>
              <a:rPr lang="en-US" altLang="zh-CN" dirty="0">
                <a:latin typeface="Arial Unicode MS" panose="020B0604020202020204" pitchFamily="34" charset="-122"/>
              </a:rPr>
              <a:t>(</a:t>
            </a:r>
            <a:r>
              <a:rPr lang="en-US" altLang="zh-CN" dirty="0" err="1">
                <a:latin typeface="Arial Unicode MS" panose="020B0604020202020204" pitchFamily="34" charset="-122"/>
              </a:rPr>
              <a:t>int</a:t>
            </a:r>
            <a:r>
              <a:rPr lang="en-US" altLang="zh-CN" dirty="0">
                <a:latin typeface="Arial Unicode MS" panose="020B0604020202020204" pitchFamily="34" charset="-122"/>
              </a:rPr>
              <a:t> </a:t>
            </a:r>
            <a:r>
              <a:rPr lang="en-US" altLang="zh-CN" dirty="0" err="1">
                <a:latin typeface="Arial Unicode MS" panose="020B0604020202020204" pitchFamily="34" charset="-122"/>
              </a:rPr>
              <a:t>sockfd,int</a:t>
            </a:r>
            <a:r>
              <a:rPr lang="en-US" altLang="zh-CN" dirty="0">
                <a:latin typeface="Arial Unicode MS" panose="020B0604020202020204" pitchFamily="34" charset="-122"/>
              </a:rPr>
              <a:t> </a:t>
            </a:r>
            <a:r>
              <a:rPr lang="en-US" altLang="zh-CN" dirty="0" err="1">
                <a:latin typeface="Arial Unicode MS" panose="020B0604020202020204" pitchFamily="34" charset="-122"/>
              </a:rPr>
              <a:t>level,int</a:t>
            </a:r>
            <a:r>
              <a:rPr lang="en-US" altLang="zh-CN" dirty="0">
                <a:latin typeface="Arial Unicode MS" panose="020B0604020202020204" pitchFamily="34" charset="-122"/>
              </a:rPr>
              <a:t> </a:t>
            </a:r>
            <a:r>
              <a:rPr lang="en-US" altLang="zh-CN" dirty="0" err="1">
                <a:latin typeface="Arial Unicode MS" panose="020B0604020202020204" pitchFamily="34" charset="-122"/>
              </a:rPr>
              <a:t>optname,const</a:t>
            </a:r>
            <a:r>
              <a:rPr lang="en-US" altLang="zh-CN" dirty="0">
                <a:latin typeface="Arial Unicode MS" panose="020B0604020202020204" pitchFamily="34" charset="-122"/>
              </a:rPr>
              <a:t> void *</a:t>
            </a:r>
            <a:r>
              <a:rPr lang="en-US" altLang="zh-CN" dirty="0" err="1">
                <a:latin typeface="Arial Unicode MS" panose="020B0604020202020204" pitchFamily="34" charset="-122"/>
              </a:rPr>
              <a:t>optval,socklen_t</a:t>
            </a:r>
            <a:r>
              <a:rPr lang="en-US" altLang="zh-CN" dirty="0">
                <a:latin typeface="Arial Unicode MS" panose="020B0604020202020204" pitchFamily="34" charset="-122"/>
              </a:rPr>
              <a:t> *</a:t>
            </a:r>
            <a:r>
              <a:rPr lang="en-US" altLang="zh-CN" dirty="0" err="1">
                <a:latin typeface="Arial Unicode MS" panose="020B0604020202020204" pitchFamily="34" charset="-122"/>
              </a:rPr>
              <a:t>optlen</a:t>
            </a:r>
            <a:r>
              <a:rPr lang="en-US" altLang="zh-CN" dirty="0">
                <a:latin typeface="Arial Unicode MS" panose="020B0604020202020204" pitchFamily="34" charset="-122"/>
              </a:rPr>
              <a:t>)</a:t>
            </a:r>
            <a:r>
              <a:rPr lang="en-US" altLang="zh-CN" dirty="0" smtClean="0">
                <a:latin typeface="Arial Unicode MS" panose="020B0604020202020204" pitchFamily="34" charset="-122"/>
              </a:rPr>
              <a:t> </a:t>
            </a:r>
          </a:p>
          <a:p>
            <a:pPr lvl="1"/>
            <a:r>
              <a:rPr lang="en-US" altLang="zh-CN" b="0" dirty="0" smtClean="0"/>
              <a:t>level</a:t>
            </a:r>
            <a:r>
              <a:rPr lang="zh-CN" altLang="en-US" dirty="0" smtClean="0"/>
              <a:t>指定控制套接字的层次</a:t>
            </a:r>
            <a:r>
              <a:rPr lang="en-US" altLang="zh-CN" dirty="0" smtClean="0"/>
              <a:t>.</a:t>
            </a:r>
            <a:r>
              <a:rPr lang="zh-CN" altLang="en-US" dirty="0" smtClean="0"/>
              <a:t>可以取三种值</a:t>
            </a:r>
            <a:r>
              <a:rPr lang="en-US" altLang="zh-CN" dirty="0" smtClean="0"/>
              <a:t>:</a:t>
            </a:r>
            <a:br>
              <a:rPr lang="en-US" altLang="zh-CN" dirty="0" smtClean="0"/>
            </a:br>
            <a:r>
              <a:rPr lang="en-US" altLang="zh-CN" dirty="0" smtClean="0"/>
              <a:t>1)SOL_SOCKET:</a:t>
            </a:r>
            <a:r>
              <a:rPr lang="zh-CN" altLang="en-US" dirty="0" smtClean="0"/>
              <a:t>通用套接字选项</a:t>
            </a:r>
            <a:r>
              <a:rPr lang="en-US" altLang="zh-CN" dirty="0" smtClean="0"/>
              <a:t>.</a:t>
            </a:r>
            <a:br>
              <a:rPr lang="en-US" altLang="zh-CN" dirty="0" smtClean="0"/>
            </a:br>
            <a:r>
              <a:rPr lang="en-US" altLang="zh-CN" dirty="0" smtClean="0"/>
              <a:t>2)IPPROTO_IP:IP</a:t>
            </a:r>
            <a:r>
              <a:rPr lang="zh-CN" altLang="en-US" dirty="0" smtClean="0"/>
              <a:t>选项</a:t>
            </a:r>
            <a:r>
              <a:rPr lang="en-US" altLang="zh-CN" dirty="0" smtClean="0"/>
              <a:t>. </a:t>
            </a:r>
            <a:br>
              <a:rPr lang="en-US" altLang="zh-CN" dirty="0" smtClean="0"/>
            </a:br>
            <a:r>
              <a:rPr lang="en-US" altLang="zh-CN" dirty="0" smtClean="0"/>
              <a:t>3)IPPROTO_TCP:TCP</a:t>
            </a:r>
            <a:r>
              <a:rPr lang="zh-CN" altLang="en-US" dirty="0" smtClean="0"/>
              <a:t>选项</a:t>
            </a:r>
            <a:r>
              <a:rPr lang="en-US" altLang="zh-CN" dirty="0" smtClean="0"/>
              <a:t>. </a:t>
            </a:r>
          </a:p>
          <a:p>
            <a:pPr lvl="1"/>
            <a:r>
              <a:rPr lang="en-US" altLang="zh-CN" b="0" dirty="0" err="1" smtClean="0"/>
              <a:t>optname</a:t>
            </a:r>
            <a:r>
              <a:rPr lang="zh-CN" altLang="en-US" dirty="0" smtClean="0"/>
              <a:t>指定控制的方式</a:t>
            </a:r>
            <a:r>
              <a:rPr lang="en-US" altLang="zh-CN" dirty="0" smtClean="0"/>
              <a:t>(</a:t>
            </a:r>
            <a:r>
              <a:rPr lang="zh-CN" altLang="en-US" dirty="0" smtClean="0"/>
              <a:t>选项的名称</a:t>
            </a:r>
            <a:r>
              <a:rPr lang="en-US" altLang="zh-CN" dirty="0" smtClean="0"/>
              <a:t>)</a:t>
            </a:r>
            <a:r>
              <a:rPr lang="zh-CN" altLang="en-US" dirty="0" smtClean="0"/>
              <a:t>。</a:t>
            </a:r>
          </a:p>
          <a:p>
            <a:pPr lvl="1"/>
            <a:r>
              <a:rPr lang="en-US" altLang="zh-CN" b="0" dirty="0" err="1" smtClean="0"/>
              <a:t>optval</a:t>
            </a:r>
            <a:r>
              <a:rPr lang="zh-CN" altLang="en-US" dirty="0" smtClean="0"/>
              <a:t>获得或者是设置套接字选项</a:t>
            </a:r>
            <a:r>
              <a:rPr lang="en-US" altLang="zh-CN" dirty="0" smtClean="0"/>
              <a:t>.</a:t>
            </a:r>
            <a:r>
              <a:rPr lang="zh-CN" altLang="en-US" dirty="0" smtClean="0"/>
              <a:t>根据选项名称的数据类型进行转换 。</a:t>
            </a:r>
          </a:p>
          <a:p>
            <a:endParaRPr lang="zh-CN" altLang="en-US" dirty="0"/>
          </a:p>
        </p:txBody>
      </p:sp>
    </p:spTree>
    <p:extLst>
      <p:ext uri="{BB962C8B-B14F-4D97-AF65-F5344CB8AC3E}">
        <p14:creationId xmlns:p14="http://schemas.microsoft.com/office/powerpoint/2010/main" val="1029774844"/>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811456" y="623911"/>
            <a:ext cx="8496300" cy="585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800" dirty="0">
                <a:latin typeface="Arial Unicode MS" panose="020B0604020202020204" pitchFamily="34" charset="-122"/>
              </a:rPr>
              <a:t>选项名称                         说明                                                    数据类型 </a:t>
            </a:r>
            <a:r>
              <a:rPr kumimoji="1" lang="en-US" altLang="zh-CN" sz="1800" dirty="0">
                <a:latin typeface="Arial Unicode MS" panose="020B0604020202020204" pitchFamily="34" charset="-122"/>
              </a:rPr>
              <a:t>=======================================================</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                               SOL_SOCKET</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 --------------------- ---------------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SO_BROADCAST       </a:t>
            </a:r>
            <a:r>
              <a:rPr kumimoji="1" lang="zh-CN" altLang="en-US" sz="1800" dirty="0">
                <a:latin typeface="Arial Unicode MS" panose="020B0604020202020204" pitchFamily="34" charset="-122"/>
              </a:rPr>
              <a:t>允许发送广播数据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SO_DEBUG                 </a:t>
            </a:r>
            <a:r>
              <a:rPr kumimoji="1" lang="zh-CN" altLang="en-US" sz="1800" dirty="0">
                <a:latin typeface="Arial Unicode MS" panose="020B0604020202020204" pitchFamily="34" charset="-122"/>
              </a:rPr>
              <a:t>允许调试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SO_DONTROUTE       </a:t>
            </a:r>
            <a:r>
              <a:rPr kumimoji="1" lang="zh-CN" altLang="en-US" sz="1800" dirty="0">
                <a:latin typeface="Arial Unicode MS" panose="020B0604020202020204" pitchFamily="34" charset="-122"/>
              </a:rPr>
              <a:t>不查找路由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SO_ERROR                 </a:t>
            </a:r>
            <a:r>
              <a:rPr kumimoji="1" lang="zh-CN" altLang="en-US" sz="1800" dirty="0">
                <a:latin typeface="Arial Unicode MS" panose="020B0604020202020204" pitchFamily="34" charset="-122"/>
              </a:rPr>
              <a:t>获得套接字错误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SO_KEEPALIVE          </a:t>
            </a:r>
            <a:r>
              <a:rPr kumimoji="1" lang="zh-CN" altLang="en-US" sz="1800" dirty="0">
                <a:latin typeface="Arial Unicode MS" panose="020B0604020202020204" pitchFamily="34" charset="-122"/>
              </a:rPr>
              <a:t>保持连接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SO_LINGER                 </a:t>
            </a:r>
            <a:r>
              <a:rPr kumimoji="1" lang="zh-CN" altLang="en-US" sz="1800" dirty="0">
                <a:latin typeface="Arial Unicode MS" panose="020B0604020202020204" pitchFamily="34" charset="-122"/>
              </a:rPr>
              <a:t>延迟关闭连接                                     </a:t>
            </a:r>
            <a:r>
              <a:rPr kumimoji="1" lang="en-US" altLang="zh-CN" sz="1800" dirty="0" err="1">
                <a:latin typeface="Arial Unicode MS" panose="020B0604020202020204" pitchFamily="34" charset="-122"/>
              </a:rPr>
              <a:t>struct</a:t>
            </a:r>
            <a:r>
              <a:rPr kumimoji="1" lang="en-US" altLang="zh-CN" sz="1800" dirty="0">
                <a:latin typeface="Arial Unicode MS" panose="020B0604020202020204" pitchFamily="34" charset="-122"/>
              </a:rPr>
              <a:t> linger</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SO_OOBINLINE          </a:t>
            </a:r>
            <a:r>
              <a:rPr kumimoji="1" lang="zh-CN" altLang="en-US" sz="1800" dirty="0">
                <a:latin typeface="Arial Unicode MS" panose="020B0604020202020204" pitchFamily="34" charset="-122"/>
              </a:rPr>
              <a:t>带外数据放入正常数据流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SO_RCVBUF               </a:t>
            </a:r>
            <a:r>
              <a:rPr kumimoji="1" lang="zh-CN" altLang="en-US" sz="1800" dirty="0">
                <a:latin typeface="Arial Unicode MS" panose="020B0604020202020204" pitchFamily="34" charset="-122"/>
              </a:rPr>
              <a:t>接收缓冲区大小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SO_SNDBUF               </a:t>
            </a:r>
            <a:r>
              <a:rPr kumimoji="1" lang="zh-CN" altLang="en-US" sz="1800" dirty="0">
                <a:latin typeface="Arial Unicode MS" panose="020B0604020202020204" pitchFamily="34" charset="-122"/>
              </a:rPr>
              <a:t>发送缓冲区大小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SO_RCVLOWAT         </a:t>
            </a:r>
            <a:r>
              <a:rPr kumimoji="1" lang="zh-CN" altLang="en-US" sz="1800" dirty="0">
                <a:latin typeface="Arial Unicode MS" panose="020B0604020202020204" pitchFamily="34" charset="-122"/>
              </a:rPr>
              <a:t>接收缓冲区下限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SO_SNDLOWAT         </a:t>
            </a:r>
            <a:r>
              <a:rPr kumimoji="1" lang="zh-CN" altLang="en-US" sz="1800" dirty="0">
                <a:latin typeface="Arial Unicode MS" panose="020B0604020202020204" pitchFamily="34" charset="-122"/>
              </a:rPr>
              <a:t>发送缓冲区下限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SO_RCVTIMEO           </a:t>
            </a:r>
            <a:r>
              <a:rPr kumimoji="1" lang="zh-CN" altLang="en-US" sz="1800" dirty="0">
                <a:latin typeface="Arial Unicode MS" panose="020B0604020202020204" pitchFamily="34" charset="-122"/>
              </a:rPr>
              <a:t>接收超时                                           </a:t>
            </a:r>
            <a:r>
              <a:rPr kumimoji="1" lang="en-US" altLang="zh-CN" sz="1800" dirty="0" err="1">
                <a:latin typeface="Arial Unicode MS" panose="020B0604020202020204" pitchFamily="34" charset="-122"/>
              </a:rPr>
              <a:t>struct</a:t>
            </a:r>
            <a:r>
              <a:rPr kumimoji="1" lang="en-US" altLang="zh-CN" sz="1800" dirty="0">
                <a:latin typeface="Arial Unicode MS" panose="020B0604020202020204" pitchFamily="34" charset="-122"/>
              </a:rPr>
              <a:t> </a:t>
            </a:r>
            <a:r>
              <a:rPr kumimoji="1" lang="en-US" altLang="zh-CN" sz="1800" dirty="0" err="1">
                <a:latin typeface="Arial Unicode MS" panose="020B0604020202020204" pitchFamily="34" charset="-122"/>
              </a:rPr>
              <a:t>timeval</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SO_SNDTIMEO           </a:t>
            </a:r>
            <a:r>
              <a:rPr kumimoji="1" lang="zh-CN" altLang="en-US" sz="1800" dirty="0">
                <a:latin typeface="Arial Unicode MS" panose="020B0604020202020204" pitchFamily="34" charset="-122"/>
              </a:rPr>
              <a:t>发送超时                                           </a:t>
            </a:r>
            <a:r>
              <a:rPr kumimoji="1" lang="en-US" altLang="zh-CN" sz="1800" dirty="0" err="1">
                <a:latin typeface="Arial Unicode MS" panose="020B0604020202020204" pitchFamily="34" charset="-122"/>
              </a:rPr>
              <a:t>struct</a:t>
            </a:r>
            <a:r>
              <a:rPr kumimoji="1" lang="en-US" altLang="zh-CN" sz="1800" dirty="0">
                <a:latin typeface="Arial Unicode MS" panose="020B0604020202020204" pitchFamily="34" charset="-122"/>
              </a:rPr>
              <a:t> </a:t>
            </a:r>
            <a:r>
              <a:rPr kumimoji="1" lang="en-US" altLang="zh-CN" sz="1800" dirty="0" err="1">
                <a:latin typeface="Arial Unicode MS" panose="020B0604020202020204" pitchFamily="34" charset="-122"/>
              </a:rPr>
              <a:t>timeval</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SO_REUSERADDR    </a:t>
            </a:r>
            <a:r>
              <a:rPr kumimoji="1" lang="zh-CN" altLang="en-US" sz="1800" dirty="0">
                <a:latin typeface="Arial Unicode MS" panose="020B0604020202020204" pitchFamily="34" charset="-122"/>
              </a:rPr>
              <a:t>允许重用本地地址和端口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SO_TYPE                    </a:t>
            </a:r>
            <a:r>
              <a:rPr kumimoji="1" lang="zh-CN" altLang="en-US" sz="1800" dirty="0">
                <a:latin typeface="Arial Unicode MS" panose="020B0604020202020204" pitchFamily="34" charset="-122"/>
              </a:rPr>
              <a:t>获得套接字类型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SO_BSDCOMPAT      </a:t>
            </a:r>
            <a:r>
              <a:rPr kumimoji="1" lang="zh-CN" altLang="en-US" sz="1800" dirty="0">
                <a:latin typeface="Arial Unicode MS" panose="020B0604020202020204" pitchFamily="34" charset="-122"/>
              </a:rPr>
              <a:t>与</a:t>
            </a:r>
            <a:r>
              <a:rPr kumimoji="1" lang="en-US" altLang="zh-CN" sz="1800" dirty="0">
                <a:latin typeface="Arial Unicode MS" panose="020B0604020202020204" pitchFamily="34" charset="-122"/>
              </a:rPr>
              <a:t>BSD</a:t>
            </a:r>
            <a:r>
              <a:rPr kumimoji="1" lang="zh-CN" altLang="en-US" sz="1800" dirty="0">
                <a:latin typeface="Arial Unicode MS" panose="020B0604020202020204" pitchFamily="34" charset="-122"/>
              </a:rPr>
              <a:t>系统兼容                                      </a:t>
            </a:r>
            <a:r>
              <a:rPr kumimoji="1" lang="en-US" altLang="zh-CN" sz="1800" dirty="0" err="1">
                <a:latin typeface="Arial Unicode MS" panose="020B0604020202020204" pitchFamily="34" charset="-122"/>
              </a:rPr>
              <a:t>int</a:t>
            </a:r>
            <a:r>
              <a:rPr kumimoji="1" lang="en-US" altLang="zh-CN" sz="1800" dirty="0">
                <a:latin typeface="Arial Unicode MS" panose="020B0604020202020204" pitchFamily="34" charset="-122"/>
              </a:rPr>
              <a:t/>
            </a:r>
            <a:br>
              <a:rPr kumimoji="1" lang="en-US" altLang="zh-CN" sz="1800" dirty="0">
                <a:latin typeface="Arial Unicode MS" panose="020B0604020202020204" pitchFamily="34" charset="-122"/>
              </a:rPr>
            </a:br>
            <a:r>
              <a:rPr kumimoji="1" lang="en-US" altLang="zh-CN" sz="1800" dirty="0">
                <a:latin typeface="Arial Unicode MS" panose="020B0604020202020204" pitchFamily="34" charset="-122"/>
              </a:rPr>
              <a:t>=======================================================</a:t>
            </a:r>
          </a:p>
        </p:txBody>
      </p:sp>
    </p:spTree>
    <p:extLst>
      <p:ext uri="{BB962C8B-B14F-4D97-AF65-F5344CB8AC3E}">
        <p14:creationId xmlns:p14="http://schemas.microsoft.com/office/powerpoint/2010/main" val="369853360"/>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029820" y="1690688"/>
            <a:ext cx="8496300"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dirty="0">
                <a:latin typeface="Arial Unicode MS" panose="020B0604020202020204" pitchFamily="34" charset="-122"/>
              </a:rPr>
              <a:t>===================================================</a:t>
            </a:r>
          </a:p>
          <a:p>
            <a:pPr algn="ctr" eaLnBrk="1" hangingPunct="1"/>
            <a:r>
              <a:rPr kumimoji="1" lang="en-US" altLang="zh-CN" sz="2000" dirty="0">
                <a:latin typeface="Arial Unicode MS" panose="020B0604020202020204" pitchFamily="34" charset="-122"/>
              </a:rPr>
              <a:t>IPPROTO_IP</a:t>
            </a:r>
          </a:p>
          <a:p>
            <a:pPr algn="ctr" eaLnBrk="1" hangingPunct="1"/>
            <a:r>
              <a:rPr kumimoji="1" lang="en-US" altLang="zh-CN" sz="2000" dirty="0">
                <a:latin typeface="Arial Unicode MS" panose="020B0604020202020204" pitchFamily="34" charset="-122"/>
              </a:rPr>
              <a:t> --------------------------------------------------------------------------</a:t>
            </a:r>
          </a:p>
          <a:p>
            <a:pPr eaLnBrk="1" hangingPunct="1"/>
            <a:r>
              <a:rPr kumimoji="1" lang="en-US" altLang="zh-CN" sz="2000" dirty="0">
                <a:latin typeface="Arial Unicode MS" panose="020B0604020202020204" pitchFamily="34" charset="-122"/>
              </a:rPr>
              <a:t>     IP_HDRINCL          </a:t>
            </a:r>
            <a:r>
              <a:rPr kumimoji="1" lang="zh-CN" altLang="en-US" sz="2000" dirty="0">
                <a:latin typeface="Arial Unicode MS" panose="020B0604020202020204" pitchFamily="34" charset="-122"/>
              </a:rPr>
              <a:t>在数据包中包含</a:t>
            </a:r>
            <a:r>
              <a:rPr kumimoji="1" lang="en-US" altLang="zh-CN" sz="2000" dirty="0">
                <a:latin typeface="Arial Unicode MS" panose="020B0604020202020204" pitchFamily="34" charset="-122"/>
              </a:rPr>
              <a:t>IP</a:t>
            </a:r>
            <a:r>
              <a:rPr kumimoji="1" lang="zh-CN" altLang="en-US" sz="2000" dirty="0">
                <a:latin typeface="Arial Unicode MS" panose="020B0604020202020204" pitchFamily="34" charset="-122"/>
              </a:rPr>
              <a:t>首部                         </a:t>
            </a:r>
            <a:r>
              <a:rPr kumimoji="1" lang="en-US" altLang="zh-CN" sz="2000" dirty="0" err="1">
                <a:latin typeface="Arial Unicode MS" panose="020B0604020202020204" pitchFamily="34" charset="-122"/>
              </a:rPr>
              <a:t>int</a:t>
            </a:r>
            <a:r>
              <a:rPr kumimoji="1" lang="en-US" altLang="zh-CN" sz="2000" dirty="0">
                <a:latin typeface="Arial Unicode MS" panose="020B0604020202020204" pitchFamily="34" charset="-122"/>
              </a:rPr>
              <a:t> </a:t>
            </a:r>
          </a:p>
          <a:p>
            <a:pPr eaLnBrk="1" hangingPunct="1"/>
            <a:r>
              <a:rPr kumimoji="1" lang="en-US" altLang="zh-CN" sz="2000" dirty="0">
                <a:latin typeface="Arial Unicode MS" panose="020B0604020202020204" pitchFamily="34" charset="-122"/>
              </a:rPr>
              <a:t>     IP_OPTINOS          IP</a:t>
            </a:r>
            <a:r>
              <a:rPr kumimoji="1" lang="zh-CN" altLang="en-US" sz="2000" dirty="0">
                <a:latin typeface="Arial Unicode MS" panose="020B0604020202020204" pitchFamily="34" charset="-122"/>
              </a:rPr>
              <a:t>首部选项                                           </a:t>
            </a:r>
            <a:r>
              <a:rPr kumimoji="1" lang="en-US" altLang="zh-CN" sz="2000" dirty="0" err="1">
                <a:latin typeface="Arial Unicode MS" panose="020B0604020202020204" pitchFamily="34" charset="-122"/>
              </a:rPr>
              <a:t>int</a:t>
            </a:r>
            <a:r>
              <a:rPr kumimoji="1" lang="en-US" altLang="zh-CN" sz="2000" dirty="0">
                <a:latin typeface="Arial Unicode MS" panose="020B0604020202020204" pitchFamily="34" charset="-122"/>
              </a:rPr>
              <a:t> </a:t>
            </a:r>
          </a:p>
          <a:p>
            <a:pPr eaLnBrk="1" hangingPunct="1"/>
            <a:r>
              <a:rPr kumimoji="1" lang="en-US" altLang="zh-CN" sz="2000" dirty="0">
                <a:latin typeface="Arial Unicode MS" panose="020B0604020202020204" pitchFamily="34" charset="-122"/>
              </a:rPr>
              <a:t>     IP_TOS                   </a:t>
            </a:r>
            <a:r>
              <a:rPr kumimoji="1" lang="zh-CN" altLang="en-US" sz="2000" dirty="0">
                <a:latin typeface="Arial Unicode MS" panose="020B0604020202020204" pitchFamily="34" charset="-122"/>
              </a:rPr>
              <a:t>服务类型 </a:t>
            </a:r>
          </a:p>
          <a:p>
            <a:pPr eaLnBrk="1" hangingPunct="1"/>
            <a:r>
              <a:rPr kumimoji="1" lang="zh-CN" altLang="en-US" sz="2000" dirty="0">
                <a:latin typeface="Arial Unicode MS" panose="020B0604020202020204" pitchFamily="34" charset="-122"/>
              </a:rPr>
              <a:t>     </a:t>
            </a:r>
            <a:r>
              <a:rPr kumimoji="1" lang="en-US" altLang="zh-CN" sz="2000" dirty="0">
                <a:latin typeface="Arial Unicode MS" panose="020B0604020202020204" pitchFamily="34" charset="-122"/>
              </a:rPr>
              <a:t>IP_TTL                    </a:t>
            </a:r>
            <a:r>
              <a:rPr kumimoji="1" lang="zh-CN" altLang="en-US" sz="2000" dirty="0">
                <a:latin typeface="Arial Unicode MS" panose="020B0604020202020204" pitchFamily="34" charset="-122"/>
              </a:rPr>
              <a:t>生存时间                                               </a:t>
            </a:r>
            <a:r>
              <a:rPr kumimoji="1" lang="en-US" altLang="zh-CN" sz="2000" dirty="0" err="1">
                <a:latin typeface="Arial Unicode MS" panose="020B0604020202020204" pitchFamily="34" charset="-122"/>
              </a:rPr>
              <a:t>int</a:t>
            </a:r>
            <a:r>
              <a:rPr kumimoji="1" lang="en-US" altLang="zh-CN" sz="2000" dirty="0">
                <a:latin typeface="Arial Unicode MS" panose="020B0604020202020204" pitchFamily="34" charset="-122"/>
              </a:rPr>
              <a:t> ===================================================</a:t>
            </a:r>
          </a:p>
          <a:p>
            <a:pPr algn="ctr" eaLnBrk="1" hangingPunct="1"/>
            <a:r>
              <a:rPr kumimoji="1" lang="en-US" altLang="zh-CN" sz="2000" dirty="0">
                <a:latin typeface="Arial Unicode MS" panose="020B0604020202020204" pitchFamily="34" charset="-122"/>
              </a:rPr>
              <a:t>IPPRO_TCP </a:t>
            </a:r>
          </a:p>
          <a:p>
            <a:pPr algn="ctr" eaLnBrk="1" hangingPunct="1"/>
            <a:r>
              <a:rPr kumimoji="1" lang="en-US" altLang="zh-CN" sz="2000" dirty="0">
                <a:latin typeface="Arial Unicode MS" panose="020B0604020202020204" pitchFamily="34" charset="-122"/>
              </a:rPr>
              <a:t>-------------------------------------------------------------------------- </a:t>
            </a:r>
          </a:p>
          <a:p>
            <a:pPr eaLnBrk="1" hangingPunct="1"/>
            <a:r>
              <a:rPr kumimoji="1" lang="en-US" altLang="zh-CN" sz="2000" dirty="0">
                <a:latin typeface="Arial Unicode MS" panose="020B0604020202020204" pitchFamily="34" charset="-122"/>
              </a:rPr>
              <a:t>    TCP_MAXSEG        TCP</a:t>
            </a:r>
            <a:r>
              <a:rPr kumimoji="1" lang="zh-CN" altLang="en-US" sz="2000" dirty="0">
                <a:latin typeface="Arial Unicode MS" panose="020B0604020202020204" pitchFamily="34" charset="-122"/>
              </a:rPr>
              <a:t>最大数据段的大小                          </a:t>
            </a:r>
            <a:r>
              <a:rPr kumimoji="1" lang="en-US" altLang="zh-CN" sz="2000" dirty="0" err="1">
                <a:latin typeface="Arial Unicode MS" panose="020B0604020202020204" pitchFamily="34" charset="-122"/>
              </a:rPr>
              <a:t>int</a:t>
            </a:r>
            <a:r>
              <a:rPr kumimoji="1" lang="en-US" altLang="zh-CN" sz="2000" dirty="0">
                <a:latin typeface="Arial Unicode MS" panose="020B0604020202020204" pitchFamily="34" charset="-122"/>
              </a:rPr>
              <a:t> </a:t>
            </a:r>
          </a:p>
          <a:p>
            <a:pPr eaLnBrk="1" hangingPunct="1"/>
            <a:r>
              <a:rPr kumimoji="1" lang="en-US" altLang="zh-CN" sz="2000" dirty="0">
                <a:latin typeface="Arial Unicode MS" panose="020B0604020202020204" pitchFamily="34" charset="-122"/>
              </a:rPr>
              <a:t>    TCP_NODELAY      </a:t>
            </a:r>
            <a:r>
              <a:rPr kumimoji="1" lang="zh-CN" altLang="en-US" sz="2000" dirty="0">
                <a:latin typeface="Arial Unicode MS" panose="020B0604020202020204" pitchFamily="34" charset="-122"/>
              </a:rPr>
              <a:t>不使用</a:t>
            </a:r>
            <a:r>
              <a:rPr kumimoji="1" lang="en-US" altLang="zh-CN" sz="2000" dirty="0">
                <a:latin typeface="Arial Unicode MS" panose="020B0604020202020204" pitchFamily="34" charset="-122"/>
              </a:rPr>
              <a:t>Nagle</a:t>
            </a:r>
            <a:r>
              <a:rPr kumimoji="1" lang="zh-CN" altLang="en-US" sz="2000" dirty="0">
                <a:latin typeface="Arial Unicode MS" panose="020B0604020202020204" pitchFamily="34" charset="-122"/>
              </a:rPr>
              <a:t>算法                                   </a:t>
            </a:r>
            <a:r>
              <a:rPr kumimoji="1" lang="en-US" altLang="zh-CN" sz="2000" dirty="0" err="1">
                <a:latin typeface="Arial Unicode MS" panose="020B0604020202020204" pitchFamily="34" charset="-122"/>
              </a:rPr>
              <a:t>int</a:t>
            </a:r>
            <a:r>
              <a:rPr kumimoji="1" lang="en-US" altLang="zh-CN" sz="2000" dirty="0">
                <a:latin typeface="Arial Unicode MS" panose="020B0604020202020204" pitchFamily="34" charset="-122"/>
              </a:rPr>
              <a:t> ===================================================</a:t>
            </a:r>
            <a:endParaRPr kumimoji="1" lang="en-US" altLang="zh-CN" sz="2000" dirty="0"/>
          </a:p>
        </p:txBody>
      </p:sp>
    </p:spTree>
    <p:extLst>
      <p:ext uri="{BB962C8B-B14F-4D97-AF65-F5344CB8AC3E}">
        <p14:creationId xmlns:p14="http://schemas.microsoft.com/office/powerpoint/2010/main" val="1848251066"/>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45220"/>
            <a:ext cx="10515600" cy="1325563"/>
          </a:xfrm>
        </p:spPr>
        <p:txBody>
          <a:bodyPr/>
          <a:lstStyle/>
          <a:p>
            <a:r>
              <a:rPr lang="zh-CN" altLang="en-US" dirty="0" smtClean="0"/>
              <a:t>套接字选项</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a:xfrm>
            <a:off x="838200" y="1470783"/>
            <a:ext cx="10515600" cy="2739267"/>
          </a:xfrm>
        </p:spPr>
        <p:txBody>
          <a:bodyPr>
            <a:normAutofit fontScale="77500" lnSpcReduction="20000"/>
          </a:bodyPr>
          <a:lstStyle/>
          <a:p>
            <a:r>
              <a:rPr lang="en-US" altLang="zh-CN" b="0" dirty="0" smtClean="0"/>
              <a:t>2 </a:t>
            </a:r>
            <a:r>
              <a:rPr lang="en-US" altLang="zh-CN" b="0" dirty="0" err="1" smtClean="0"/>
              <a:t>ioctl</a:t>
            </a:r>
            <a:r>
              <a:rPr lang="en-US" altLang="zh-CN" b="0" dirty="0" smtClean="0"/>
              <a:t> </a:t>
            </a:r>
          </a:p>
          <a:p>
            <a:pPr lvl="1"/>
            <a:r>
              <a:rPr lang="en-US" altLang="zh-CN" dirty="0" err="1" smtClean="0"/>
              <a:t>ioctl</a:t>
            </a:r>
            <a:r>
              <a:rPr lang="zh-CN" altLang="en-US" dirty="0" smtClean="0"/>
              <a:t>可以控制所有的文件描述符的情况</a:t>
            </a:r>
            <a:r>
              <a:rPr lang="en-US" altLang="zh-CN" dirty="0" smtClean="0"/>
              <a:t>,</a:t>
            </a:r>
            <a:r>
              <a:rPr lang="zh-CN" altLang="en-US" dirty="0" smtClean="0"/>
              <a:t>这里介绍一下控制套接字的选项</a:t>
            </a:r>
            <a:r>
              <a:rPr lang="en-US" altLang="zh-CN" dirty="0" smtClean="0"/>
              <a:t>. </a:t>
            </a:r>
          </a:p>
          <a:p>
            <a:pPr lvl="1"/>
            <a:r>
              <a:rPr lang="zh-CN" altLang="en-US" dirty="0" smtClean="0">
                <a:latin typeface="Arial Unicode MS" panose="020B0604020202020204" pitchFamily="34" charset="-122"/>
              </a:rPr>
              <a:t>定义格式：</a:t>
            </a:r>
          </a:p>
          <a:p>
            <a:pPr lvl="1">
              <a:buNone/>
            </a:pPr>
            <a:r>
              <a:rPr lang="zh-CN" altLang="en-US" dirty="0" smtClean="0">
                <a:latin typeface="Arial Unicode MS" panose="020B0604020202020204" pitchFamily="34" charset="-122"/>
              </a:rPr>
              <a:t>＃</a:t>
            </a:r>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unistd.h</a:t>
            </a:r>
            <a:r>
              <a:rPr lang="en-US" altLang="zh-CN" dirty="0" smtClean="0">
                <a:latin typeface="Arial Unicode MS" panose="020B0604020202020204" pitchFamily="34" charset="-122"/>
              </a:rPr>
              <a:t>&gt;</a:t>
            </a:r>
          </a:p>
          <a:p>
            <a:pPr lvl="1">
              <a:buNone/>
            </a:pP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ioctl</a:t>
            </a:r>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fd,long</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cmd,unsigned</a:t>
            </a:r>
            <a:r>
              <a:rPr lang="en-US" altLang="zh-CN" dirty="0" smtClean="0">
                <a:latin typeface="Arial Unicode MS" panose="020B0604020202020204" pitchFamily="34" charset="-122"/>
              </a:rPr>
              <a:t> long *</a:t>
            </a:r>
            <a:r>
              <a:rPr lang="en-US" altLang="zh-CN" dirty="0" err="1" smtClean="0">
                <a:latin typeface="Arial Unicode MS" panose="020B0604020202020204" pitchFamily="34" charset="-122"/>
              </a:rPr>
              <a:t>argp</a:t>
            </a:r>
            <a:r>
              <a:rPr lang="en-US" altLang="zh-CN" dirty="0" smtClean="0">
                <a:latin typeface="Arial Unicode MS" panose="020B0604020202020204" pitchFamily="34" charset="-122"/>
              </a:rPr>
              <a:t>);</a:t>
            </a:r>
          </a:p>
          <a:p>
            <a:pPr lvl="1"/>
            <a:r>
              <a:rPr lang="zh-CN" altLang="en-US" dirty="0" smtClean="0">
                <a:latin typeface="Arial Unicode MS" panose="020B0604020202020204" pitchFamily="34" charset="-122"/>
              </a:rPr>
              <a:t>参数：</a:t>
            </a:r>
          </a:p>
          <a:p>
            <a:pPr lvl="2"/>
            <a:r>
              <a:rPr lang="en-US" altLang="zh-CN" dirty="0" err="1" smtClean="0">
                <a:latin typeface="Arial Unicode MS" panose="020B0604020202020204" pitchFamily="34" charset="-122"/>
              </a:rPr>
              <a:t>fd</a:t>
            </a:r>
            <a:r>
              <a:rPr lang="zh-CN" altLang="en-US" dirty="0" smtClean="0">
                <a:latin typeface="Arial Unicode MS" panose="020B0604020202020204" pitchFamily="34" charset="-122"/>
              </a:rPr>
              <a:t>是需要操作的套接字描述符；</a:t>
            </a:r>
            <a:r>
              <a:rPr lang="en-US" altLang="zh-CN" dirty="0" err="1" smtClean="0">
                <a:latin typeface="Arial Unicode MS" panose="020B0604020202020204" pitchFamily="34" charset="-122"/>
              </a:rPr>
              <a:t>cmd</a:t>
            </a:r>
            <a:r>
              <a:rPr lang="zh-CN" altLang="en-US" dirty="0" smtClean="0">
                <a:latin typeface="Arial Unicode MS" panose="020B0604020202020204" pitchFamily="34" charset="-122"/>
              </a:rPr>
              <a:t>是属性类别；</a:t>
            </a:r>
            <a:r>
              <a:rPr lang="en-US" altLang="zh-CN" dirty="0" err="1" smtClean="0">
                <a:latin typeface="Arial Unicode MS" panose="020B0604020202020204" pitchFamily="34" charset="-122"/>
              </a:rPr>
              <a:t>argp</a:t>
            </a:r>
            <a:r>
              <a:rPr lang="zh-CN" altLang="en-US" dirty="0" smtClean="0">
                <a:latin typeface="Arial Unicode MS" panose="020B0604020202020204" pitchFamily="34" charset="-122"/>
              </a:rPr>
              <a:t>是属性的参数。</a:t>
            </a:r>
          </a:p>
          <a:p>
            <a:pPr lvl="2"/>
            <a:r>
              <a:rPr lang="zh-CN" altLang="en-US" dirty="0" smtClean="0">
                <a:latin typeface="Arial Unicode MS" panose="020B0604020202020204" pitchFamily="34" charset="-122"/>
              </a:rPr>
              <a:t>详细的选项请用 </a:t>
            </a:r>
            <a:r>
              <a:rPr lang="en-US" altLang="zh-CN" dirty="0" smtClean="0">
                <a:latin typeface="Arial Unicode MS" panose="020B0604020202020204" pitchFamily="34" charset="-122"/>
              </a:rPr>
              <a:t>man </a:t>
            </a:r>
            <a:r>
              <a:rPr lang="en-US" altLang="zh-CN" dirty="0" err="1" smtClean="0">
                <a:latin typeface="Arial Unicode MS" panose="020B0604020202020204" pitchFamily="34" charset="-122"/>
              </a:rPr>
              <a:t>ioctl_list</a:t>
            </a:r>
            <a:r>
              <a:rPr lang="en-US" altLang="zh-CN" dirty="0" smtClean="0">
                <a:latin typeface="Arial Unicode MS" panose="020B0604020202020204" pitchFamily="34" charset="-122"/>
              </a:rPr>
              <a:t> </a:t>
            </a:r>
            <a:r>
              <a:rPr lang="zh-CN" altLang="en-US" dirty="0" smtClean="0">
                <a:latin typeface="Arial Unicode MS" panose="020B0604020202020204" pitchFamily="34" charset="-122"/>
              </a:rPr>
              <a:t>查看</a:t>
            </a:r>
            <a:r>
              <a:rPr lang="en-US" altLang="zh-CN" dirty="0" smtClean="0">
                <a:latin typeface="Arial Unicode MS" panose="020B0604020202020204" pitchFamily="34" charset="-122"/>
              </a:rPr>
              <a:t>. </a:t>
            </a:r>
          </a:p>
          <a:p>
            <a:endParaRPr lang="zh-CN" altLang="en-US" dirty="0"/>
          </a:p>
        </p:txBody>
      </p:sp>
      <p:sp>
        <p:nvSpPr>
          <p:cNvPr id="4" name="Rectangle 3"/>
          <p:cNvSpPr>
            <a:spLocks noChangeArrowheads="1"/>
          </p:cNvSpPr>
          <p:nvPr/>
        </p:nvSpPr>
        <p:spPr bwMode="auto">
          <a:xfrm>
            <a:off x="2210440" y="4210050"/>
            <a:ext cx="8001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dirty="0">
                <a:latin typeface="Arial Unicode MS" panose="020B0604020202020204" pitchFamily="34" charset="-122"/>
              </a:rPr>
              <a:t>===========================================</a:t>
            </a:r>
            <a:r>
              <a:rPr kumimoji="1" lang="en-US" altLang="zh-CN" sz="2400" dirty="0" err="1">
                <a:latin typeface="Arial Unicode MS" panose="020B0604020202020204" pitchFamily="34" charset="-122"/>
              </a:rPr>
              <a:t>iiioctl</a:t>
            </a:r>
            <a:r>
              <a:rPr kumimoji="1" lang="zh-CN" altLang="en-US" sz="2400" dirty="0">
                <a:latin typeface="Arial Unicode MS" panose="020B0604020202020204" pitchFamily="34" charset="-122"/>
              </a:rPr>
              <a:t>的控制选项 </a:t>
            </a:r>
          </a:p>
          <a:p>
            <a:pPr algn="ctr" eaLnBrk="1" hangingPunct="1"/>
            <a:r>
              <a:rPr kumimoji="1" lang="en-US" altLang="zh-CN" sz="2400" dirty="0">
                <a:latin typeface="Arial Unicode MS" panose="020B0604020202020204" pitchFamily="34" charset="-122"/>
              </a:rPr>
              <a:t>-------------------------------------------------------------------------- </a:t>
            </a:r>
          </a:p>
          <a:p>
            <a:pPr eaLnBrk="1" hangingPunct="1"/>
            <a:r>
              <a:rPr kumimoji="1" lang="en-US" altLang="zh-CN" sz="2400" dirty="0">
                <a:latin typeface="Arial Unicode MS" panose="020B0604020202020204" pitchFamily="34" charset="-122"/>
              </a:rPr>
              <a:t>     SIOCATMARK         </a:t>
            </a:r>
            <a:r>
              <a:rPr kumimoji="1" lang="zh-CN" altLang="en-US" sz="2400" dirty="0">
                <a:latin typeface="Arial Unicode MS" panose="020B0604020202020204" pitchFamily="34" charset="-122"/>
              </a:rPr>
              <a:t>是否到达带外标记                 </a:t>
            </a:r>
            <a:r>
              <a:rPr kumimoji="1" lang="en-US" altLang="zh-CN" sz="2400" dirty="0" err="1">
                <a:latin typeface="Arial Unicode MS" panose="020B0604020202020204" pitchFamily="34" charset="-122"/>
              </a:rPr>
              <a:t>int</a:t>
            </a:r>
            <a:r>
              <a:rPr kumimoji="1" lang="en-US" altLang="zh-CN" sz="2400" dirty="0">
                <a:latin typeface="Arial Unicode MS" panose="020B0604020202020204" pitchFamily="34" charset="-122"/>
              </a:rPr>
              <a:t> </a:t>
            </a:r>
          </a:p>
          <a:p>
            <a:pPr eaLnBrk="1" hangingPunct="1"/>
            <a:r>
              <a:rPr kumimoji="1" lang="en-US" altLang="zh-CN" sz="2400" dirty="0">
                <a:latin typeface="Arial Unicode MS" panose="020B0604020202020204" pitchFamily="34" charset="-122"/>
              </a:rPr>
              <a:t>     FIOASYNC              </a:t>
            </a:r>
            <a:r>
              <a:rPr kumimoji="1" lang="zh-CN" altLang="en-US" sz="2400" dirty="0">
                <a:latin typeface="Arial Unicode MS" panose="020B0604020202020204" pitchFamily="34" charset="-122"/>
              </a:rPr>
              <a:t>异步输入</a:t>
            </a:r>
            <a:r>
              <a:rPr kumimoji="1" lang="en-US" altLang="zh-CN" sz="2400" dirty="0">
                <a:latin typeface="Arial Unicode MS" panose="020B0604020202020204" pitchFamily="34" charset="-122"/>
              </a:rPr>
              <a:t>/</a:t>
            </a:r>
            <a:r>
              <a:rPr kumimoji="1" lang="zh-CN" altLang="en-US" sz="2400" dirty="0">
                <a:latin typeface="Arial Unicode MS" panose="020B0604020202020204" pitchFamily="34" charset="-122"/>
              </a:rPr>
              <a:t>输出标志                 </a:t>
            </a:r>
            <a:r>
              <a:rPr kumimoji="1" lang="en-US" altLang="zh-CN" sz="2400" dirty="0" err="1">
                <a:latin typeface="Arial Unicode MS" panose="020B0604020202020204" pitchFamily="34" charset="-122"/>
              </a:rPr>
              <a:t>int</a:t>
            </a:r>
            <a:r>
              <a:rPr kumimoji="1" lang="en-US" altLang="zh-CN" sz="2400" dirty="0">
                <a:latin typeface="Arial Unicode MS" panose="020B0604020202020204" pitchFamily="34" charset="-122"/>
              </a:rPr>
              <a:t> </a:t>
            </a:r>
          </a:p>
          <a:p>
            <a:pPr eaLnBrk="1" hangingPunct="1"/>
            <a:r>
              <a:rPr kumimoji="1" lang="en-US" altLang="zh-CN" sz="2400" dirty="0">
                <a:latin typeface="Arial Unicode MS" panose="020B0604020202020204" pitchFamily="34" charset="-122"/>
              </a:rPr>
              <a:t>     FIONREAD              </a:t>
            </a:r>
            <a:r>
              <a:rPr kumimoji="1" lang="zh-CN" altLang="en-US" sz="2400" dirty="0">
                <a:latin typeface="Arial Unicode MS" panose="020B0604020202020204" pitchFamily="34" charset="-122"/>
              </a:rPr>
              <a:t>缓冲区可读的字节数              </a:t>
            </a:r>
            <a:r>
              <a:rPr kumimoji="1" lang="en-US" altLang="zh-CN" sz="2400" dirty="0" err="1">
                <a:latin typeface="Arial Unicode MS" panose="020B0604020202020204" pitchFamily="34" charset="-122"/>
              </a:rPr>
              <a:t>int</a:t>
            </a:r>
            <a:r>
              <a:rPr kumimoji="1" lang="en-US" altLang="zh-CN" sz="2400" dirty="0">
                <a:latin typeface="Arial Unicode MS" panose="020B0604020202020204" pitchFamily="34" charset="-122"/>
              </a:rPr>
              <a:t> ===========================================</a:t>
            </a:r>
            <a:endParaRPr kumimoji="1" lang="en-US" altLang="zh-CN" sz="2400" dirty="0"/>
          </a:p>
        </p:txBody>
      </p:sp>
    </p:spTree>
    <p:extLst>
      <p:ext uri="{BB962C8B-B14F-4D97-AF65-F5344CB8AC3E}">
        <p14:creationId xmlns:p14="http://schemas.microsoft.com/office/powerpoint/2010/main" val="3707176793"/>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套接字选项</a:t>
            </a:r>
            <a:r>
              <a:rPr lang="en-US" altLang="zh-CN" dirty="0" smtClean="0"/>
              <a:t>(</a:t>
            </a:r>
            <a:r>
              <a:rPr lang="zh-CN" altLang="en-US" dirty="0" smtClean="0"/>
              <a:t>续</a:t>
            </a:r>
            <a:r>
              <a:rPr lang="en-US" altLang="zh-CN" dirty="0" smtClean="0"/>
              <a:t>)</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smtClean="0"/>
              <a:t>3</a:t>
            </a:r>
            <a:r>
              <a:rPr lang="zh-CN" altLang="en-US" dirty="0" smtClean="0"/>
              <a:t>、</a:t>
            </a:r>
            <a:r>
              <a:rPr lang="en-US" altLang="zh-CN" dirty="0" err="1" smtClean="0"/>
              <a:t>fcntl</a:t>
            </a:r>
            <a:endParaRPr lang="en-US" altLang="zh-CN" dirty="0" smtClean="0"/>
          </a:p>
          <a:p>
            <a:pPr lvl="1"/>
            <a:r>
              <a:rPr lang="zh-CN" altLang="en-US" dirty="0" smtClean="0"/>
              <a:t>定义格式：</a:t>
            </a:r>
          </a:p>
          <a:p>
            <a:pPr lvl="1">
              <a:buNone/>
            </a:pPr>
            <a:r>
              <a:rPr lang="zh-CN" altLang="en-US" dirty="0" smtClean="0"/>
              <a:t>＃ </a:t>
            </a:r>
            <a:r>
              <a:rPr lang="en-US" altLang="zh-CN" dirty="0" smtClean="0"/>
              <a:t>include &lt;</a:t>
            </a:r>
            <a:r>
              <a:rPr lang="en-US" altLang="zh-CN" dirty="0" err="1" smtClean="0"/>
              <a:t>fcntl.h</a:t>
            </a:r>
            <a:r>
              <a:rPr lang="en-US" altLang="zh-CN" dirty="0" smtClean="0"/>
              <a:t>&gt;</a:t>
            </a:r>
          </a:p>
          <a:p>
            <a:pPr lvl="1">
              <a:buNone/>
            </a:pPr>
            <a:r>
              <a:rPr lang="en-US" altLang="zh-CN" dirty="0" err="1" smtClean="0"/>
              <a:t>Int</a:t>
            </a:r>
            <a:r>
              <a:rPr lang="en-US" altLang="zh-CN" dirty="0" smtClean="0"/>
              <a:t> </a:t>
            </a:r>
            <a:r>
              <a:rPr lang="en-US" altLang="zh-CN" dirty="0" err="1" smtClean="0"/>
              <a:t>fcntl</a:t>
            </a:r>
            <a:r>
              <a:rPr lang="en-US" altLang="zh-CN" dirty="0" smtClean="0"/>
              <a:t>(</a:t>
            </a:r>
            <a:r>
              <a:rPr lang="en-US" altLang="zh-CN" dirty="0" err="1" smtClean="0"/>
              <a:t>int</a:t>
            </a:r>
            <a:r>
              <a:rPr lang="en-US" altLang="zh-CN" dirty="0" smtClean="0"/>
              <a:t> </a:t>
            </a:r>
            <a:r>
              <a:rPr lang="en-US" altLang="zh-CN" dirty="0" err="1" smtClean="0"/>
              <a:t>fd,int</a:t>
            </a:r>
            <a:r>
              <a:rPr lang="en-US" altLang="zh-CN" dirty="0" smtClean="0"/>
              <a:t> </a:t>
            </a:r>
            <a:r>
              <a:rPr lang="en-US" altLang="zh-CN" dirty="0" err="1" smtClean="0"/>
              <a:t>cmd,long</a:t>
            </a:r>
            <a:r>
              <a:rPr lang="en-US" altLang="zh-CN" dirty="0" smtClean="0"/>
              <a:t> </a:t>
            </a:r>
            <a:r>
              <a:rPr lang="en-US" altLang="zh-CN" dirty="0" err="1" smtClean="0"/>
              <a:t>arg</a:t>
            </a:r>
            <a:r>
              <a:rPr lang="en-US" altLang="zh-CN" dirty="0" smtClean="0"/>
              <a:t>);</a:t>
            </a:r>
          </a:p>
          <a:p>
            <a:pPr lvl="1"/>
            <a:r>
              <a:rPr lang="zh-CN" altLang="en-US" dirty="0" smtClean="0">
                <a:latin typeface="Arial Unicode MS" panose="020B0604020202020204" pitchFamily="34" charset="-122"/>
              </a:rPr>
              <a:t>参数：</a:t>
            </a:r>
          </a:p>
          <a:p>
            <a:pPr lvl="2"/>
            <a:r>
              <a:rPr lang="en-US" altLang="zh-CN" dirty="0" err="1" smtClean="0">
                <a:latin typeface="Arial Unicode MS" panose="020B0604020202020204" pitchFamily="34" charset="-122"/>
              </a:rPr>
              <a:t>fd</a:t>
            </a:r>
            <a:r>
              <a:rPr lang="zh-CN" altLang="en-US" dirty="0" smtClean="0">
                <a:latin typeface="Arial Unicode MS" panose="020B0604020202020204" pitchFamily="34" charset="-122"/>
              </a:rPr>
              <a:t>是需要操作的套接字描述符；</a:t>
            </a:r>
            <a:r>
              <a:rPr lang="en-US" altLang="zh-CN" dirty="0" err="1" smtClean="0">
                <a:latin typeface="Arial Unicode MS" panose="020B0604020202020204" pitchFamily="34" charset="-122"/>
              </a:rPr>
              <a:t>cmd</a:t>
            </a:r>
            <a:r>
              <a:rPr lang="zh-CN" altLang="en-US" dirty="0" smtClean="0">
                <a:latin typeface="Arial Unicode MS" panose="020B0604020202020204" pitchFamily="34" charset="-122"/>
              </a:rPr>
              <a:t>是属性类别，</a:t>
            </a:r>
            <a:r>
              <a:rPr lang="en-US" altLang="zh-CN" dirty="0" err="1" smtClean="0">
                <a:latin typeface="Arial Unicode MS" panose="020B0604020202020204" pitchFamily="34" charset="-122"/>
              </a:rPr>
              <a:t>cmd</a:t>
            </a:r>
            <a:r>
              <a:rPr lang="zh-CN" altLang="en-US" dirty="0" smtClean="0">
                <a:latin typeface="Arial Unicode MS" panose="020B0604020202020204" pitchFamily="34" charset="-122"/>
              </a:rPr>
              <a:t>可以是如下值：</a:t>
            </a:r>
            <a:endParaRPr lang="zh-CN" altLang="en-US" dirty="0" smtClean="0"/>
          </a:p>
          <a:p>
            <a:r>
              <a:rPr lang="en-US" altLang="zh-CN" dirty="0"/>
              <a:t>F_SETFL</a:t>
            </a:r>
            <a:r>
              <a:rPr lang="zh-CN" altLang="en-US" dirty="0"/>
              <a:t>：</a:t>
            </a:r>
            <a:r>
              <a:rPr lang="en-US" altLang="zh-CN" dirty="0" err="1"/>
              <a:t>arg</a:t>
            </a:r>
            <a:r>
              <a:rPr lang="zh-CN" altLang="en-US" dirty="0"/>
              <a:t>为</a:t>
            </a:r>
            <a:r>
              <a:rPr lang="en-US" altLang="zh-CN" dirty="0"/>
              <a:t>O_NONBLOCK</a:t>
            </a:r>
            <a:r>
              <a:rPr lang="zh-CN" altLang="en-US" dirty="0"/>
              <a:t>时进入非阻塞模式，为</a:t>
            </a:r>
            <a:r>
              <a:rPr lang="en-US" altLang="zh-CN" dirty="0"/>
              <a:t>0</a:t>
            </a:r>
            <a:r>
              <a:rPr lang="zh-CN" altLang="en-US" dirty="0"/>
              <a:t>是进入阻塞模式；</a:t>
            </a:r>
          </a:p>
          <a:p>
            <a:r>
              <a:rPr lang="en-US" altLang="zh-CN" dirty="0"/>
              <a:t>F_GETFL</a:t>
            </a:r>
            <a:r>
              <a:rPr lang="zh-CN" altLang="en-US" dirty="0"/>
              <a:t>：获得属性；</a:t>
            </a:r>
          </a:p>
          <a:p>
            <a:r>
              <a:rPr lang="en-US" altLang="zh-CN" dirty="0"/>
              <a:t>F_SETOWN</a:t>
            </a:r>
            <a:r>
              <a:rPr lang="zh-CN" altLang="en-US" dirty="0"/>
              <a:t>：用来设置套接字属主，用来接收数据</a:t>
            </a:r>
            <a:r>
              <a:rPr lang="en-US" altLang="zh-CN" dirty="0"/>
              <a:t>SIGIO</a:t>
            </a:r>
            <a:r>
              <a:rPr lang="zh-CN" altLang="en-US" dirty="0"/>
              <a:t>和</a:t>
            </a:r>
            <a:r>
              <a:rPr lang="en-US" altLang="zh-CN" dirty="0"/>
              <a:t>SIGURG</a:t>
            </a:r>
            <a:r>
              <a:rPr lang="zh-CN" altLang="en-US" dirty="0"/>
              <a:t>；</a:t>
            </a:r>
          </a:p>
          <a:p>
            <a:r>
              <a:rPr lang="en-US" altLang="zh-CN" dirty="0"/>
              <a:t>F_GETOWN</a:t>
            </a:r>
            <a:r>
              <a:rPr lang="zh-CN" altLang="en-US" dirty="0"/>
              <a:t>：用来获得上面设置的套接字属主信息。</a:t>
            </a:r>
          </a:p>
          <a:p>
            <a:endParaRPr lang="zh-CN" altLang="en-US" dirty="0"/>
          </a:p>
        </p:txBody>
      </p:sp>
    </p:spTree>
    <p:extLst>
      <p:ext uri="{BB962C8B-B14F-4D97-AF65-F5344CB8AC3E}">
        <p14:creationId xmlns:p14="http://schemas.microsoft.com/office/powerpoint/2010/main" val="4157920177"/>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rPr>
              <a:t>系统</a:t>
            </a:r>
            <a:r>
              <a:rPr lang="en-US" altLang="zh-CN" dirty="0" smtClean="0"/>
              <a:t>IO</a:t>
            </a:r>
            <a:r>
              <a:rPr lang="zh-CN" altLang="en-US" dirty="0" smtClean="0">
                <a:latin typeface="Times New Roman" panose="02020603050405020304" pitchFamily="18" charset="0"/>
              </a:rPr>
              <a:t>与服务器模型</a:t>
            </a:r>
            <a:r>
              <a:rPr lang="zh-CN" altLang="en-US" dirty="0" smtClean="0"/>
              <a:t> </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smtClean="0">
                <a:latin typeface="宋体" panose="02010600030101010101" pitchFamily="2" charset="-122"/>
              </a:rPr>
              <a:t>在</a:t>
            </a:r>
            <a:r>
              <a:rPr lang="en-US" altLang="zh-CN" dirty="0" smtClean="0">
                <a:latin typeface="Times New Roman" panose="02020603050405020304" pitchFamily="18" charset="0"/>
                <a:ea typeface="黑体,Bold" charset="-122"/>
              </a:rPr>
              <a:t>Linux/UNIX </a:t>
            </a:r>
            <a:r>
              <a:rPr lang="zh-CN" altLang="en-US" dirty="0" smtClean="0">
                <a:latin typeface="宋体" panose="02010600030101010101" pitchFamily="2" charset="-122"/>
              </a:rPr>
              <a:t>下，有主要有</a:t>
            </a:r>
            <a:r>
              <a:rPr lang="en-US" altLang="zh-CN" dirty="0" smtClean="0">
                <a:latin typeface="宋体" panose="02010600030101010101" pitchFamily="2" charset="-122"/>
              </a:rPr>
              <a:t>4</a:t>
            </a:r>
            <a:r>
              <a:rPr lang="zh-CN" altLang="en-US" dirty="0" smtClean="0">
                <a:latin typeface="宋体" panose="02010600030101010101" pitchFamily="2" charset="-122"/>
              </a:rPr>
              <a:t>种</a:t>
            </a:r>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模型：</a:t>
            </a:r>
          </a:p>
          <a:p>
            <a:pPr lvl="1"/>
            <a:r>
              <a:rPr lang="zh-CN" altLang="en-US" dirty="0" smtClean="0">
                <a:latin typeface="宋体" panose="02010600030101010101" pitchFamily="2" charset="-122"/>
              </a:rPr>
              <a:t>阻塞</a:t>
            </a:r>
            <a:r>
              <a:rPr lang="en-US" altLang="zh-CN" dirty="0" smtClean="0">
                <a:latin typeface="Times New Roman" panose="02020603050405020304" pitchFamily="18" charset="0"/>
                <a:ea typeface="黑体,Bold" charset="-122"/>
              </a:rPr>
              <a:t>I/O</a:t>
            </a:r>
            <a:r>
              <a:rPr lang="zh-CN" altLang="en-US" dirty="0" smtClean="0">
                <a:latin typeface="Times New Roman" panose="02020603050405020304" pitchFamily="18" charset="0"/>
                <a:ea typeface="黑体,Bold" charset="-122"/>
              </a:rPr>
              <a:t>：</a:t>
            </a:r>
          </a:p>
          <a:p>
            <a:pPr lvl="2"/>
            <a:r>
              <a:rPr lang="zh-CN" altLang="en-US" sz="2800" dirty="0" smtClean="0">
                <a:latin typeface="Times New Roman" panose="02020603050405020304" pitchFamily="18" charset="0"/>
                <a:ea typeface="黑体,Bold" charset="-122"/>
              </a:rPr>
              <a:t>最常用、最简单、效率最低</a:t>
            </a:r>
          </a:p>
          <a:p>
            <a:pPr lvl="1"/>
            <a:r>
              <a:rPr lang="zh-CN" altLang="en-US" dirty="0" smtClean="0">
                <a:latin typeface="宋体" panose="02010600030101010101" pitchFamily="2" charset="-122"/>
              </a:rPr>
              <a:t>非阻塞</a:t>
            </a:r>
            <a:r>
              <a:rPr lang="en-US" altLang="zh-CN" dirty="0" smtClean="0">
                <a:latin typeface="Times New Roman" panose="02020603050405020304" pitchFamily="18" charset="0"/>
                <a:ea typeface="黑体,Bold" charset="-122"/>
              </a:rPr>
              <a:t>I/O</a:t>
            </a:r>
            <a:r>
              <a:rPr lang="zh-CN" altLang="en-US" dirty="0" smtClean="0">
                <a:latin typeface="Times New Roman" panose="02020603050405020304" pitchFamily="18" charset="0"/>
                <a:ea typeface="黑体,Bold" charset="-122"/>
              </a:rPr>
              <a:t>：</a:t>
            </a:r>
          </a:p>
          <a:p>
            <a:pPr lvl="2"/>
            <a:r>
              <a:rPr lang="zh-CN" altLang="en-US" sz="2800" dirty="0" smtClean="0">
                <a:latin typeface="Times New Roman" panose="02020603050405020304" pitchFamily="18" charset="0"/>
                <a:ea typeface="黑体,Bold" charset="-122"/>
              </a:rPr>
              <a:t>可防止进程阻塞在</a:t>
            </a:r>
            <a:r>
              <a:rPr lang="en-US" altLang="zh-CN" sz="2800" dirty="0" smtClean="0">
                <a:latin typeface="Times New Roman" panose="02020603050405020304" pitchFamily="18" charset="0"/>
                <a:ea typeface="黑体,Bold" charset="-122"/>
              </a:rPr>
              <a:t>I/O</a:t>
            </a:r>
            <a:r>
              <a:rPr lang="zh-CN" altLang="en-US" sz="2800" dirty="0" smtClean="0">
                <a:latin typeface="Times New Roman" panose="02020603050405020304" pitchFamily="18" charset="0"/>
                <a:ea typeface="黑体,Bold" charset="-122"/>
              </a:rPr>
              <a:t>操作上</a:t>
            </a:r>
          </a:p>
          <a:p>
            <a:pPr lvl="1"/>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多路复用：</a:t>
            </a:r>
          </a:p>
          <a:p>
            <a:pPr lvl="2"/>
            <a:r>
              <a:rPr lang="zh-CN" altLang="en-US" sz="2800" dirty="0" smtClean="0">
                <a:latin typeface="宋体" panose="02010600030101010101" pitchFamily="2" charset="-122"/>
              </a:rPr>
              <a:t>允许同时对多个</a:t>
            </a:r>
            <a:r>
              <a:rPr lang="en-US" altLang="zh-CN" sz="2800" dirty="0" smtClean="0">
                <a:latin typeface="宋体" panose="02010600030101010101" pitchFamily="2" charset="-122"/>
              </a:rPr>
              <a:t>I/O</a:t>
            </a:r>
            <a:r>
              <a:rPr lang="zh-CN" altLang="en-US" sz="2800" dirty="0" smtClean="0">
                <a:latin typeface="宋体" panose="02010600030101010101" pitchFamily="2" charset="-122"/>
              </a:rPr>
              <a:t>进行控制</a:t>
            </a:r>
          </a:p>
          <a:p>
            <a:pPr lvl="1"/>
            <a:r>
              <a:rPr lang="zh-CN" altLang="en-US" dirty="0" smtClean="0">
                <a:latin typeface="宋体" panose="02010600030101010101" pitchFamily="2" charset="-122"/>
              </a:rPr>
              <a:t>信号驱动</a:t>
            </a:r>
            <a:r>
              <a:rPr lang="en-US" altLang="zh-CN" dirty="0" smtClean="0">
                <a:latin typeface="Times New Roman" panose="02020603050405020304" pitchFamily="18" charset="0"/>
                <a:ea typeface="黑体,Bold" charset="-122"/>
              </a:rPr>
              <a:t>I/O</a:t>
            </a:r>
            <a:r>
              <a:rPr lang="en-US" altLang="zh-CN" dirty="0" smtClean="0">
                <a:latin typeface="宋体" panose="02010600030101010101" pitchFamily="2" charset="-122"/>
              </a:rPr>
              <a:t>:</a:t>
            </a:r>
          </a:p>
          <a:p>
            <a:pPr lvl="2"/>
            <a:r>
              <a:rPr lang="zh-CN" altLang="en-US" sz="2800" dirty="0" smtClean="0"/>
              <a:t>一种异步通信模型</a:t>
            </a:r>
          </a:p>
          <a:p>
            <a:r>
              <a:rPr lang="zh-CN" altLang="en-US" dirty="0" smtClean="0">
                <a:latin typeface="宋体" panose="02010600030101010101" pitchFamily="2" charset="-122"/>
              </a:rPr>
              <a:t>一般来说，程序进行</a:t>
            </a:r>
            <a:r>
              <a:rPr lang="zh-CN" altLang="en-US" dirty="0" smtClean="0">
                <a:solidFill>
                  <a:srgbClr val="FF3300"/>
                </a:solidFill>
                <a:latin typeface="宋体" panose="02010600030101010101" pitchFamily="2" charset="-122"/>
              </a:rPr>
              <a:t>输入</a:t>
            </a:r>
            <a:r>
              <a:rPr lang="zh-CN" altLang="en-US" dirty="0" smtClean="0">
                <a:latin typeface="宋体" panose="02010600030101010101" pitchFamily="2" charset="-122"/>
              </a:rPr>
              <a:t>操作有两步：</a:t>
            </a:r>
          </a:p>
          <a:p>
            <a:pPr lvl="1">
              <a:buNone/>
            </a:pPr>
            <a:r>
              <a:rPr lang="en-US" altLang="zh-CN" dirty="0" smtClean="0">
                <a:latin typeface="Times New Roman" panose="02020603050405020304" pitchFamily="18" charset="0"/>
                <a:ea typeface="黑体,Bold" charset="-122"/>
              </a:rPr>
              <a:t>1</a:t>
            </a:r>
            <a:r>
              <a:rPr lang="zh-CN" altLang="en-US" dirty="0" smtClean="0">
                <a:latin typeface="宋体" panose="02010600030101010101" pitchFamily="2" charset="-122"/>
              </a:rPr>
              <a:t>．等待有数据可以读</a:t>
            </a:r>
          </a:p>
          <a:p>
            <a:pPr lvl="1">
              <a:buNone/>
            </a:pPr>
            <a:r>
              <a:rPr lang="en-US" altLang="zh-CN" dirty="0" smtClean="0">
                <a:latin typeface="Times New Roman" panose="02020603050405020304" pitchFamily="18" charset="0"/>
                <a:ea typeface="黑体,Bold" charset="-122"/>
              </a:rPr>
              <a:t>2</a:t>
            </a:r>
            <a:r>
              <a:rPr lang="zh-CN" altLang="en-US" dirty="0" smtClean="0">
                <a:latin typeface="宋体" panose="02010600030101010101" pitchFamily="2" charset="-122"/>
              </a:rPr>
              <a:t>．将数据从系统内核中拷贝到程序的数据区。</a:t>
            </a:r>
            <a:endParaRPr lang="zh-CN" altLang="en-US" dirty="0" smtClean="0"/>
          </a:p>
          <a:p>
            <a:pPr lvl="1"/>
            <a:r>
              <a:rPr lang="zh-CN" altLang="en-US" dirty="0" smtClean="0">
                <a:latin typeface="宋体" panose="02010600030101010101" pitchFamily="2" charset="-122"/>
              </a:rPr>
              <a:t>对于一个对套接字的输入操作，第一步一般来说是等待数据从网络上传到本地。当数据包到达的时候，数据将会从网络层拷贝到内核的缓存中；</a:t>
            </a:r>
          </a:p>
          <a:p>
            <a:pPr lvl="1"/>
            <a:r>
              <a:rPr lang="zh-CN" altLang="en-US" dirty="0" smtClean="0">
                <a:latin typeface="宋体" panose="02010600030101010101" pitchFamily="2" charset="-122"/>
              </a:rPr>
              <a:t>第二步是从内核中把数据拷贝到程序的数据区中。</a:t>
            </a:r>
            <a:endParaRPr lang="zh-CN" altLang="en-US" dirty="0" smtClean="0"/>
          </a:p>
          <a:p>
            <a:endParaRPr lang="zh-CN" altLang="en-US" dirty="0"/>
          </a:p>
        </p:txBody>
      </p:sp>
    </p:spTree>
    <p:extLst>
      <p:ext uri="{BB962C8B-B14F-4D97-AF65-F5344CB8AC3E}">
        <p14:creationId xmlns:p14="http://schemas.microsoft.com/office/powerpoint/2010/main" val="3789249804"/>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Bold" charset="-122"/>
                <a:ea typeface="黑体,Bold" charset="-122"/>
              </a:rPr>
              <a:t>阻塞</a:t>
            </a:r>
            <a:r>
              <a:rPr lang="en-US" altLang="zh-CN" dirty="0" smtClean="0">
                <a:latin typeface="黑体,Bold" charset="-122"/>
                <a:ea typeface="黑体,Bold" charset="-122"/>
              </a:rPr>
              <a:t>I/O </a:t>
            </a:r>
            <a:r>
              <a:rPr lang="zh-CN" altLang="en-US" dirty="0" smtClean="0">
                <a:latin typeface="黑体,Bold" charset="-122"/>
                <a:ea typeface="黑体,Bold" charset="-122"/>
              </a:rPr>
              <a:t>模式</a:t>
            </a:r>
            <a:endParaRPr lang="zh-CN" altLang="en-US" dirty="0"/>
          </a:p>
        </p:txBody>
      </p:sp>
      <p:sp>
        <p:nvSpPr>
          <p:cNvPr id="3" name="内容占位符 2"/>
          <p:cNvSpPr>
            <a:spLocks noGrp="1"/>
          </p:cNvSpPr>
          <p:nvPr>
            <p:ph idx="1"/>
          </p:nvPr>
        </p:nvSpPr>
        <p:spPr/>
        <p:txBody>
          <a:bodyPr/>
          <a:lstStyle/>
          <a:p>
            <a:r>
              <a:rPr lang="zh-CN" altLang="en-US" dirty="0" smtClean="0">
                <a:latin typeface="宋体" panose="02010600030101010101" pitchFamily="2" charset="-122"/>
              </a:rPr>
              <a:t>阻塞</a:t>
            </a:r>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模式是最普遍使用的</a:t>
            </a:r>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模式。大部分程序使用的都是阻塞模式的</a:t>
            </a:r>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a:t>
            </a:r>
          </a:p>
          <a:p>
            <a:r>
              <a:rPr lang="zh-CN" altLang="en-US" dirty="0" smtClean="0">
                <a:latin typeface="宋体" panose="02010600030101010101" pitchFamily="2" charset="-122"/>
              </a:rPr>
              <a:t>缺省的，一个套接字建立后所处于的模式就是阻塞</a:t>
            </a:r>
            <a:r>
              <a:rPr lang="en-US" altLang="zh-CN" dirty="0" smtClean="0">
                <a:latin typeface="Times New Roman" panose="02020603050405020304" pitchFamily="18" charset="0"/>
                <a:ea typeface="黑体,Bold" charset="-122"/>
              </a:rPr>
              <a:t>I/O </a:t>
            </a:r>
            <a:r>
              <a:rPr lang="zh-CN" altLang="en-US" dirty="0" smtClean="0">
                <a:latin typeface="宋体" panose="02010600030101010101" pitchFamily="2" charset="-122"/>
              </a:rPr>
              <a:t>模式。</a:t>
            </a:r>
          </a:p>
          <a:p>
            <a:r>
              <a:rPr lang="zh-CN" altLang="en-US" dirty="0" smtClean="0">
                <a:latin typeface="宋体" panose="02010600030101010101" pitchFamily="2" charset="-122"/>
              </a:rPr>
              <a:t>前面学习的很多读写函数在调用过程中会发生阻塞。</a:t>
            </a:r>
          </a:p>
          <a:p>
            <a:pPr lvl="1"/>
            <a:r>
              <a:rPr lang="zh-CN" altLang="en-US" dirty="0" smtClean="0">
                <a:latin typeface="宋体" panose="02010600030101010101" pitchFamily="2" charset="-122"/>
              </a:rPr>
              <a:t>读操作中的</a:t>
            </a:r>
            <a:r>
              <a:rPr lang="en-US" altLang="zh-CN" dirty="0" smtClean="0">
                <a:latin typeface="宋体" panose="02010600030101010101" pitchFamily="2" charset="-122"/>
              </a:rPr>
              <a:t>read</a:t>
            </a:r>
            <a:r>
              <a:rPr lang="zh-CN" altLang="en-US" dirty="0" smtClean="0">
                <a:latin typeface="宋体" panose="02010600030101010101" pitchFamily="2" charset="-122"/>
              </a:rPr>
              <a:t>、</a:t>
            </a:r>
            <a:r>
              <a:rPr lang="en-US" altLang="zh-CN" dirty="0" err="1" smtClean="0">
                <a:latin typeface="宋体" panose="02010600030101010101" pitchFamily="2" charset="-122"/>
              </a:rPr>
              <a:t>readv</a:t>
            </a:r>
            <a:r>
              <a:rPr lang="zh-CN" altLang="en-US" dirty="0" smtClean="0">
                <a:latin typeface="宋体" panose="02010600030101010101" pitchFamily="2" charset="-122"/>
              </a:rPr>
              <a:t>、</a:t>
            </a:r>
            <a:r>
              <a:rPr lang="en-US" altLang="zh-CN" dirty="0" err="1" smtClean="0">
                <a:latin typeface="宋体" panose="02010600030101010101" pitchFamily="2" charset="-122"/>
              </a:rPr>
              <a:t>recv</a:t>
            </a:r>
            <a:r>
              <a:rPr lang="zh-CN" altLang="en-US" dirty="0" smtClean="0">
                <a:latin typeface="宋体" panose="02010600030101010101" pitchFamily="2" charset="-122"/>
              </a:rPr>
              <a:t>、</a:t>
            </a:r>
            <a:r>
              <a:rPr lang="en-US" altLang="zh-CN" dirty="0" err="1" smtClean="0">
                <a:latin typeface="宋体" panose="02010600030101010101" pitchFamily="2" charset="-122"/>
              </a:rPr>
              <a:t>recvfrom</a:t>
            </a:r>
            <a:r>
              <a:rPr lang="zh-CN" altLang="en-US" dirty="0" smtClean="0">
                <a:latin typeface="宋体" panose="02010600030101010101" pitchFamily="2" charset="-122"/>
              </a:rPr>
              <a:t>、</a:t>
            </a:r>
            <a:r>
              <a:rPr lang="en-US" altLang="zh-CN" dirty="0" err="1" smtClean="0">
                <a:latin typeface="宋体" panose="02010600030101010101" pitchFamily="2" charset="-122"/>
              </a:rPr>
              <a:t>recvmsg</a:t>
            </a:r>
            <a:endParaRPr lang="en-US" altLang="zh-CN" dirty="0" smtClean="0">
              <a:latin typeface="宋体" panose="02010600030101010101" pitchFamily="2" charset="-122"/>
            </a:endParaRPr>
          </a:p>
          <a:p>
            <a:pPr lvl="1"/>
            <a:r>
              <a:rPr lang="zh-CN" altLang="en-US" dirty="0" smtClean="0">
                <a:latin typeface="宋体" panose="02010600030101010101" pitchFamily="2" charset="-122"/>
              </a:rPr>
              <a:t>写操作中的</a:t>
            </a:r>
            <a:r>
              <a:rPr lang="en-US" altLang="zh-CN" dirty="0" smtClean="0">
                <a:latin typeface="宋体" panose="02010600030101010101" pitchFamily="2" charset="-122"/>
              </a:rPr>
              <a:t>write</a:t>
            </a:r>
            <a:r>
              <a:rPr lang="zh-CN" altLang="en-US" dirty="0" smtClean="0">
                <a:latin typeface="宋体" panose="02010600030101010101" pitchFamily="2" charset="-122"/>
              </a:rPr>
              <a:t>、</a:t>
            </a:r>
            <a:r>
              <a:rPr lang="en-US" altLang="zh-CN" dirty="0" err="1" smtClean="0">
                <a:latin typeface="宋体" panose="02010600030101010101" pitchFamily="2" charset="-122"/>
              </a:rPr>
              <a:t>writev</a:t>
            </a:r>
            <a:r>
              <a:rPr lang="zh-CN" altLang="en-US" dirty="0" smtClean="0">
                <a:latin typeface="宋体" panose="02010600030101010101" pitchFamily="2" charset="-122"/>
              </a:rPr>
              <a:t>、</a:t>
            </a:r>
            <a:r>
              <a:rPr lang="en-US" altLang="zh-CN" dirty="0" smtClean="0">
                <a:latin typeface="宋体" panose="02010600030101010101" pitchFamily="2" charset="-122"/>
              </a:rPr>
              <a:t>send</a:t>
            </a:r>
            <a:r>
              <a:rPr lang="zh-CN" altLang="en-US" dirty="0" smtClean="0">
                <a:latin typeface="宋体" panose="02010600030101010101" pitchFamily="2" charset="-122"/>
              </a:rPr>
              <a:t>、</a:t>
            </a:r>
            <a:r>
              <a:rPr lang="en-US" altLang="zh-CN" dirty="0" err="1" smtClean="0">
                <a:latin typeface="宋体" panose="02010600030101010101" pitchFamily="2" charset="-122"/>
              </a:rPr>
              <a:t>sendmag</a:t>
            </a:r>
            <a:endParaRPr lang="en-US" altLang="zh-CN" dirty="0" smtClean="0">
              <a:latin typeface="宋体" panose="02010600030101010101" pitchFamily="2" charset="-122"/>
            </a:endParaRPr>
          </a:p>
          <a:p>
            <a:pPr lvl="1"/>
            <a:r>
              <a:rPr lang="zh-CN" altLang="en-US" dirty="0" smtClean="0">
                <a:latin typeface="宋体" panose="02010600030101010101" pitchFamily="2" charset="-122"/>
              </a:rPr>
              <a:t>另外：</a:t>
            </a:r>
            <a:r>
              <a:rPr lang="en-US" altLang="zh-CN" dirty="0" smtClean="0">
                <a:latin typeface="宋体" panose="02010600030101010101" pitchFamily="2" charset="-122"/>
              </a:rPr>
              <a:t>accept</a:t>
            </a:r>
            <a:r>
              <a:rPr lang="zh-CN" altLang="en-US" dirty="0" smtClean="0">
                <a:latin typeface="宋体" panose="02010600030101010101" pitchFamily="2" charset="-122"/>
              </a:rPr>
              <a:t>、</a:t>
            </a:r>
            <a:r>
              <a:rPr lang="en-US" altLang="zh-CN" dirty="0" smtClean="0">
                <a:latin typeface="宋体" panose="02010600030101010101" pitchFamily="2" charset="-122"/>
              </a:rPr>
              <a:t>connect</a:t>
            </a:r>
          </a:p>
          <a:p>
            <a:endParaRPr lang="zh-CN" altLang="en-US" dirty="0"/>
          </a:p>
        </p:txBody>
      </p:sp>
    </p:spTree>
    <p:extLst>
      <p:ext uri="{BB962C8B-B14F-4D97-AF65-F5344CB8AC3E}">
        <p14:creationId xmlns:p14="http://schemas.microsoft.com/office/powerpoint/2010/main" val="1321521533"/>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Bold" charset="-122"/>
                <a:ea typeface="黑体,Bold" charset="-122"/>
              </a:rPr>
              <a:t>读阻塞</a:t>
            </a:r>
            <a:endParaRPr lang="zh-CN" altLang="en-US" dirty="0"/>
          </a:p>
        </p:txBody>
      </p:sp>
      <p:sp>
        <p:nvSpPr>
          <p:cNvPr id="3" name="内容占位符 2"/>
          <p:cNvSpPr>
            <a:spLocks noGrp="1"/>
          </p:cNvSpPr>
          <p:nvPr>
            <p:ph idx="1"/>
          </p:nvPr>
        </p:nvSpPr>
        <p:spPr/>
        <p:txBody>
          <a:bodyPr/>
          <a:lstStyle/>
          <a:p>
            <a:r>
              <a:rPr lang="zh-CN" altLang="en-US" dirty="0" smtClean="0"/>
              <a:t>以</a:t>
            </a:r>
            <a:r>
              <a:rPr lang="en-US" altLang="zh-CN" dirty="0" smtClean="0"/>
              <a:t>read</a:t>
            </a:r>
            <a:r>
              <a:rPr lang="zh-CN" altLang="en-US" dirty="0" smtClean="0"/>
              <a:t>函数为例：</a:t>
            </a:r>
          </a:p>
          <a:p>
            <a:pPr lvl="1"/>
            <a:r>
              <a:rPr lang="zh-CN" altLang="en-US" dirty="0" smtClean="0"/>
              <a:t>进程调用</a:t>
            </a:r>
            <a:r>
              <a:rPr lang="en-US" altLang="zh-CN" dirty="0" smtClean="0"/>
              <a:t>read</a:t>
            </a:r>
            <a:r>
              <a:rPr lang="zh-CN" altLang="en-US" dirty="0" smtClean="0"/>
              <a:t>函数从套接字上读取数据，当套接字的接收缓冲区中还没有数据可读，函数</a:t>
            </a:r>
            <a:r>
              <a:rPr lang="en-US" altLang="zh-CN" dirty="0" smtClean="0"/>
              <a:t>read</a:t>
            </a:r>
            <a:r>
              <a:rPr lang="zh-CN" altLang="en-US" dirty="0" smtClean="0"/>
              <a:t>将发生阻塞。</a:t>
            </a:r>
          </a:p>
          <a:p>
            <a:pPr lvl="1"/>
            <a:r>
              <a:rPr lang="zh-CN" altLang="en-US" dirty="0" smtClean="0"/>
              <a:t>它会一直阻塞下去，等待套接字的接收缓冲区中有数据可读。</a:t>
            </a:r>
          </a:p>
          <a:p>
            <a:pPr lvl="1"/>
            <a:r>
              <a:rPr lang="zh-CN" altLang="en-US" dirty="0" smtClean="0"/>
              <a:t>经过一段时间后，缓冲区内接收到数据，于是内核便去唤醒该进程，通过</a:t>
            </a:r>
            <a:r>
              <a:rPr lang="en-US" altLang="zh-CN" dirty="0" smtClean="0"/>
              <a:t>read</a:t>
            </a:r>
            <a:r>
              <a:rPr lang="zh-CN" altLang="en-US" dirty="0" smtClean="0"/>
              <a:t>访问这些数据。</a:t>
            </a:r>
          </a:p>
          <a:p>
            <a:pPr lvl="1"/>
            <a:r>
              <a:rPr lang="zh-CN" altLang="en-US" dirty="0" smtClean="0"/>
              <a:t>如果在进程阻塞过程中，对方发生故障，那这个进程将永远阻塞下去。</a:t>
            </a:r>
          </a:p>
          <a:p>
            <a:endParaRPr lang="zh-CN" altLang="en-US" dirty="0"/>
          </a:p>
        </p:txBody>
      </p:sp>
    </p:spTree>
    <p:extLst>
      <p:ext uri="{BB962C8B-B14F-4D97-AF65-F5344CB8AC3E}">
        <p14:creationId xmlns:p14="http://schemas.microsoft.com/office/powerpoint/2010/main" val="1892326369"/>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051453" y="314941"/>
            <a:ext cx="8351837" cy="6056313"/>
            <a:chOff x="468313" y="260350"/>
            <a:chExt cx="8351837" cy="6056313"/>
          </a:xfrm>
        </p:grpSpPr>
        <p:sp>
          <p:nvSpPr>
            <p:cNvPr id="6" name="Text Box 2"/>
            <p:cNvSpPr txBox="1">
              <a:spLocks noChangeArrowheads="1"/>
            </p:cNvSpPr>
            <p:nvPr/>
          </p:nvSpPr>
          <p:spPr bwMode="auto">
            <a:xfrm>
              <a:off x="4716463" y="260350"/>
              <a:ext cx="13716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Socket()</a:t>
              </a:r>
            </a:p>
          </p:txBody>
        </p:sp>
        <p:sp>
          <p:nvSpPr>
            <p:cNvPr id="7" name="Text Box 3"/>
            <p:cNvSpPr txBox="1">
              <a:spLocks noChangeArrowheads="1"/>
            </p:cNvSpPr>
            <p:nvPr/>
          </p:nvSpPr>
          <p:spPr bwMode="auto">
            <a:xfrm>
              <a:off x="4716463" y="1089025"/>
              <a:ext cx="14478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Bind()</a:t>
              </a:r>
            </a:p>
          </p:txBody>
        </p:sp>
        <p:sp>
          <p:nvSpPr>
            <p:cNvPr id="8" name="Text Box 4"/>
            <p:cNvSpPr txBox="1">
              <a:spLocks noChangeArrowheads="1"/>
            </p:cNvSpPr>
            <p:nvPr/>
          </p:nvSpPr>
          <p:spPr bwMode="auto">
            <a:xfrm>
              <a:off x="4500563" y="1927225"/>
              <a:ext cx="18002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Recvfrom()</a:t>
              </a:r>
            </a:p>
          </p:txBody>
        </p:sp>
        <p:sp>
          <p:nvSpPr>
            <p:cNvPr id="9" name="Text Box 5"/>
            <p:cNvSpPr txBox="1">
              <a:spLocks noChangeArrowheads="1"/>
            </p:cNvSpPr>
            <p:nvPr/>
          </p:nvSpPr>
          <p:spPr bwMode="auto">
            <a:xfrm>
              <a:off x="5003800" y="2841625"/>
              <a:ext cx="12969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Sendto()</a:t>
              </a:r>
            </a:p>
          </p:txBody>
        </p:sp>
        <p:sp>
          <p:nvSpPr>
            <p:cNvPr id="10" name="Text Box 6"/>
            <p:cNvSpPr txBox="1">
              <a:spLocks noChangeArrowheads="1"/>
            </p:cNvSpPr>
            <p:nvPr/>
          </p:nvSpPr>
          <p:spPr bwMode="auto">
            <a:xfrm>
              <a:off x="5148263" y="3679825"/>
              <a:ext cx="10795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Close()</a:t>
              </a:r>
            </a:p>
          </p:txBody>
        </p:sp>
        <p:sp>
          <p:nvSpPr>
            <p:cNvPr id="11" name="Line 7"/>
            <p:cNvSpPr>
              <a:spLocks noChangeShapeType="1"/>
            </p:cNvSpPr>
            <p:nvPr/>
          </p:nvSpPr>
          <p:spPr bwMode="auto">
            <a:xfrm>
              <a:off x="5508625" y="7175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8"/>
            <p:cNvSpPr>
              <a:spLocks noChangeShapeType="1"/>
            </p:cNvSpPr>
            <p:nvPr/>
          </p:nvSpPr>
          <p:spPr bwMode="auto">
            <a:xfrm>
              <a:off x="5508625" y="15557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9"/>
            <p:cNvSpPr>
              <a:spLocks noChangeShapeType="1"/>
            </p:cNvSpPr>
            <p:nvPr/>
          </p:nvSpPr>
          <p:spPr bwMode="auto">
            <a:xfrm>
              <a:off x="5508625" y="2393950"/>
              <a:ext cx="0" cy="457200"/>
            </a:xfrm>
            <a:prstGeom prst="line">
              <a:avLst/>
            </a:prstGeom>
            <a:noFill/>
            <a:ln w="9525">
              <a:solidFill>
                <a:schemeClr val="tx1"/>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0"/>
            <p:cNvSpPr>
              <a:spLocks noChangeShapeType="1"/>
            </p:cNvSpPr>
            <p:nvPr/>
          </p:nvSpPr>
          <p:spPr bwMode="auto">
            <a:xfrm>
              <a:off x="5508625" y="33083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1"/>
            <p:cNvSpPr txBox="1">
              <a:spLocks noChangeArrowheads="1"/>
            </p:cNvSpPr>
            <p:nvPr/>
          </p:nvSpPr>
          <p:spPr bwMode="auto">
            <a:xfrm>
              <a:off x="7356475" y="260350"/>
              <a:ext cx="124777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Socket()</a:t>
              </a:r>
            </a:p>
          </p:txBody>
        </p:sp>
        <p:sp>
          <p:nvSpPr>
            <p:cNvPr id="16" name="Text Box 12"/>
            <p:cNvSpPr txBox="1">
              <a:spLocks noChangeArrowheads="1"/>
            </p:cNvSpPr>
            <p:nvPr/>
          </p:nvSpPr>
          <p:spPr bwMode="auto">
            <a:xfrm>
              <a:off x="7356475" y="1089025"/>
              <a:ext cx="124777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Bind()</a:t>
              </a:r>
            </a:p>
          </p:txBody>
        </p:sp>
        <p:sp>
          <p:nvSpPr>
            <p:cNvPr id="17" name="Text Box 13"/>
            <p:cNvSpPr txBox="1">
              <a:spLocks noChangeArrowheads="1"/>
            </p:cNvSpPr>
            <p:nvPr/>
          </p:nvSpPr>
          <p:spPr bwMode="auto">
            <a:xfrm>
              <a:off x="7356475" y="1927225"/>
              <a:ext cx="124777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sendto()</a:t>
              </a:r>
            </a:p>
          </p:txBody>
        </p:sp>
        <p:sp>
          <p:nvSpPr>
            <p:cNvPr id="18" name="Text Box 14"/>
            <p:cNvSpPr txBox="1">
              <a:spLocks noChangeArrowheads="1"/>
            </p:cNvSpPr>
            <p:nvPr/>
          </p:nvSpPr>
          <p:spPr bwMode="auto">
            <a:xfrm>
              <a:off x="7356475" y="2841625"/>
              <a:ext cx="146367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recvfrom()</a:t>
              </a:r>
            </a:p>
          </p:txBody>
        </p:sp>
        <p:sp>
          <p:nvSpPr>
            <p:cNvPr id="19" name="Text Box 15"/>
            <p:cNvSpPr txBox="1">
              <a:spLocks noChangeArrowheads="1"/>
            </p:cNvSpPr>
            <p:nvPr/>
          </p:nvSpPr>
          <p:spPr bwMode="auto">
            <a:xfrm>
              <a:off x="7356475" y="3679825"/>
              <a:ext cx="139223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rPr>
                <a:t>Close()</a:t>
              </a:r>
            </a:p>
          </p:txBody>
        </p:sp>
        <p:sp>
          <p:nvSpPr>
            <p:cNvPr id="20" name="Line 16"/>
            <p:cNvSpPr>
              <a:spLocks noChangeShapeType="1"/>
            </p:cNvSpPr>
            <p:nvPr/>
          </p:nvSpPr>
          <p:spPr bwMode="auto">
            <a:xfrm>
              <a:off x="7889875" y="7175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7"/>
            <p:cNvSpPr>
              <a:spLocks noChangeShapeType="1"/>
            </p:cNvSpPr>
            <p:nvPr/>
          </p:nvSpPr>
          <p:spPr bwMode="auto">
            <a:xfrm>
              <a:off x="7889875" y="15557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8"/>
            <p:cNvSpPr>
              <a:spLocks noChangeShapeType="1"/>
            </p:cNvSpPr>
            <p:nvPr/>
          </p:nvSpPr>
          <p:spPr bwMode="auto">
            <a:xfrm>
              <a:off x="7889875" y="2393950"/>
              <a:ext cx="0" cy="457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19"/>
            <p:cNvSpPr>
              <a:spLocks noChangeShapeType="1"/>
            </p:cNvSpPr>
            <p:nvPr/>
          </p:nvSpPr>
          <p:spPr bwMode="auto">
            <a:xfrm>
              <a:off x="7889875" y="330835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0"/>
            <p:cNvSpPr>
              <a:spLocks noChangeShapeType="1"/>
            </p:cNvSpPr>
            <p:nvPr/>
          </p:nvSpPr>
          <p:spPr bwMode="auto">
            <a:xfrm flipH="1">
              <a:off x="6300788" y="2205038"/>
              <a:ext cx="1057275" cy="0"/>
            </a:xfrm>
            <a:prstGeom prst="line">
              <a:avLst/>
            </a:prstGeom>
            <a:noFill/>
            <a:ln w="952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1"/>
            <p:cNvSpPr>
              <a:spLocks noChangeShapeType="1"/>
            </p:cNvSpPr>
            <p:nvPr/>
          </p:nvSpPr>
          <p:spPr bwMode="auto">
            <a:xfrm>
              <a:off x="6300788" y="3140075"/>
              <a:ext cx="1065212"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22"/>
            <p:cNvSpPr>
              <a:spLocks noChangeShapeType="1"/>
            </p:cNvSpPr>
            <p:nvPr/>
          </p:nvSpPr>
          <p:spPr bwMode="auto">
            <a:xfrm>
              <a:off x="539750" y="5229225"/>
              <a:ext cx="7704138" cy="0"/>
            </a:xfrm>
            <a:prstGeom prst="line">
              <a:avLst/>
            </a:prstGeom>
            <a:noFill/>
            <a:ln w="9525">
              <a:solidFill>
                <a:schemeClr val="tx1"/>
              </a:solidFill>
              <a:prstDash val="lg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5"/>
            <p:cNvSpPr txBox="1">
              <a:spLocks noChangeArrowheads="1"/>
            </p:cNvSpPr>
            <p:nvPr/>
          </p:nvSpPr>
          <p:spPr bwMode="auto">
            <a:xfrm>
              <a:off x="755650" y="5589588"/>
              <a:ext cx="1944688" cy="7112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FF"/>
                  </a:solidFill>
                </a:rPr>
                <a:t>套接字缓冲区中没有数据</a:t>
              </a:r>
            </a:p>
          </p:txBody>
        </p:sp>
        <p:cxnSp>
          <p:nvCxnSpPr>
            <p:cNvPr id="28" name="AutoShape 26"/>
            <p:cNvCxnSpPr>
              <a:cxnSpLocks noChangeShapeType="1"/>
              <a:stCxn id="8" idx="1"/>
              <a:endCxn id="27" idx="0"/>
            </p:cNvCxnSpPr>
            <p:nvPr/>
          </p:nvCxnSpPr>
          <p:spPr bwMode="auto">
            <a:xfrm rot="10800000" flipV="1">
              <a:off x="1728788" y="2160588"/>
              <a:ext cx="2771775" cy="34290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27"/>
            <p:cNvSpPr txBox="1">
              <a:spLocks noChangeArrowheads="1"/>
            </p:cNvSpPr>
            <p:nvPr/>
          </p:nvSpPr>
          <p:spPr bwMode="auto">
            <a:xfrm>
              <a:off x="1042988" y="6207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3300"/>
                  </a:solidFill>
                </a:rPr>
                <a:t>读阻塞</a:t>
              </a:r>
            </a:p>
          </p:txBody>
        </p:sp>
        <p:sp>
          <p:nvSpPr>
            <p:cNvPr id="30" name="Text Box 28"/>
            <p:cNvSpPr txBox="1">
              <a:spLocks noChangeArrowheads="1"/>
            </p:cNvSpPr>
            <p:nvPr/>
          </p:nvSpPr>
          <p:spPr bwMode="auto">
            <a:xfrm>
              <a:off x="4498975" y="5589588"/>
              <a:ext cx="2520950" cy="7112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FF"/>
                  </a:solidFill>
                </a:rPr>
                <a:t>套接字缓冲区中数据到达，进行数据复制</a:t>
              </a:r>
            </a:p>
          </p:txBody>
        </p:sp>
        <p:sp>
          <p:nvSpPr>
            <p:cNvPr id="31" name="Line 29"/>
            <p:cNvSpPr>
              <a:spLocks noChangeShapeType="1"/>
            </p:cNvSpPr>
            <p:nvPr/>
          </p:nvSpPr>
          <p:spPr bwMode="auto">
            <a:xfrm>
              <a:off x="2700338" y="5949950"/>
              <a:ext cx="1800225" cy="0"/>
            </a:xfrm>
            <a:prstGeom prst="line">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Text Box 30"/>
            <p:cNvSpPr txBox="1">
              <a:spLocks noChangeArrowheads="1"/>
            </p:cNvSpPr>
            <p:nvPr/>
          </p:nvSpPr>
          <p:spPr bwMode="auto">
            <a:xfrm>
              <a:off x="3276600" y="594995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solidFill>
                    <a:srgbClr val="0000FF"/>
                  </a:solidFill>
                </a:rPr>
                <a:t>等待</a:t>
              </a:r>
            </a:p>
          </p:txBody>
        </p:sp>
        <p:cxnSp>
          <p:nvCxnSpPr>
            <p:cNvPr id="33" name="AutoShape 31"/>
            <p:cNvCxnSpPr>
              <a:cxnSpLocks noChangeShapeType="1"/>
              <a:stCxn id="30" idx="0"/>
            </p:cNvCxnSpPr>
            <p:nvPr/>
          </p:nvCxnSpPr>
          <p:spPr bwMode="auto">
            <a:xfrm rot="5400000" flipH="1">
              <a:off x="3653632" y="3483769"/>
              <a:ext cx="3168650" cy="1042987"/>
            </a:xfrm>
            <a:prstGeom prst="bentConnector3">
              <a:avLst>
                <a:gd name="adj1" fmla="val 3010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32"/>
            <p:cNvSpPr txBox="1">
              <a:spLocks noChangeArrowheads="1"/>
            </p:cNvSpPr>
            <p:nvPr/>
          </p:nvSpPr>
          <p:spPr bwMode="auto">
            <a:xfrm>
              <a:off x="468313" y="1125538"/>
              <a:ext cx="2663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hlink"/>
                  </a:solidFill>
                </a:rPr>
                <a:t>函数返回读到数据</a:t>
              </a:r>
            </a:p>
          </p:txBody>
        </p:sp>
      </p:grpSp>
    </p:spTree>
    <p:extLst>
      <p:ext uri="{BB962C8B-B14F-4D97-AF65-F5344CB8AC3E}">
        <p14:creationId xmlns:p14="http://schemas.microsoft.com/office/powerpoint/2010/main" val="2349478342"/>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阻塞的</a:t>
            </a:r>
            <a:r>
              <a:rPr lang="en-US" altLang="zh-CN" dirty="0" smtClean="0"/>
              <a:t>talk</a:t>
            </a:r>
            <a:r>
              <a:rPr lang="zh-CN" altLang="en-US" dirty="0" smtClean="0"/>
              <a:t>程序</a:t>
            </a:r>
            <a:endParaRPr lang="zh-CN" altLang="en-US" dirty="0"/>
          </a:p>
        </p:txBody>
      </p:sp>
      <p:sp>
        <p:nvSpPr>
          <p:cNvPr id="10" name="Rectangle 3"/>
          <p:cNvSpPr txBox="1">
            <a:spLocks noChangeArrowheads="1"/>
          </p:cNvSpPr>
          <p:nvPr/>
        </p:nvSpPr>
        <p:spPr>
          <a:xfrm>
            <a:off x="2019372" y="1297438"/>
            <a:ext cx="3106737" cy="5400675"/>
          </a:xfrm>
          <a:prstGeom prst="rect">
            <a:avLst/>
          </a:prstGeom>
          <a:ln>
            <a:solidFill>
              <a:schemeClr val="tx1"/>
            </a:solidFill>
            <a:miter lim="800000"/>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endParaRPr lang="zh-CN" altLang="en-US" smtClean="0"/>
          </a:p>
          <a:p>
            <a:pPr>
              <a:buFont typeface="Wingdings" panose="05000000000000000000" pitchFamily="2" charset="2"/>
              <a:buNone/>
            </a:pPr>
            <a:r>
              <a:rPr lang="en-US" altLang="zh-CN" smtClean="0"/>
              <a:t>for(;;)</a:t>
            </a:r>
          </a:p>
          <a:p>
            <a:pPr>
              <a:buFont typeface="Wingdings" panose="05000000000000000000" pitchFamily="2" charset="2"/>
              <a:buNone/>
            </a:pPr>
            <a:r>
              <a:rPr lang="en-US" altLang="zh-CN" smtClean="0"/>
              <a:t>{</a:t>
            </a:r>
          </a:p>
          <a:p>
            <a:pPr>
              <a:buFont typeface="Wingdings" panose="05000000000000000000" pitchFamily="2" charset="2"/>
              <a:buNone/>
            </a:pPr>
            <a:r>
              <a:rPr lang="en-US" altLang="zh-CN" smtClean="0"/>
              <a:t>       scanf();</a:t>
            </a:r>
          </a:p>
          <a:p>
            <a:pPr>
              <a:buFont typeface="Wingdings" panose="05000000000000000000" pitchFamily="2" charset="2"/>
              <a:buNone/>
            </a:pPr>
            <a:r>
              <a:rPr lang="en-US" altLang="zh-CN" smtClean="0"/>
              <a:t>       sendto();</a:t>
            </a:r>
          </a:p>
          <a:p>
            <a:pPr>
              <a:buFont typeface="Wingdings" panose="05000000000000000000" pitchFamily="2" charset="2"/>
              <a:buNone/>
            </a:pPr>
            <a:r>
              <a:rPr lang="en-US" altLang="zh-CN" smtClean="0"/>
              <a:t>       recvfrom();</a:t>
            </a:r>
          </a:p>
          <a:p>
            <a:pPr>
              <a:buFont typeface="Wingdings" panose="05000000000000000000" pitchFamily="2" charset="2"/>
              <a:buNone/>
            </a:pPr>
            <a:r>
              <a:rPr lang="en-US" altLang="zh-CN" smtClean="0"/>
              <a:t>       printf();</a:t>
            </a:r>
          </a:p>
          <a:p>
            <a:pPr>
              <a:buFont typeface="Wingdings" panose="05000000000000000000" pitchFamily="2" charset="2"/>
              <a:buNone/>
            </a:pPr>
            <a:r>
              <a:rPr lang="en-US" altLang="zh-CN" smtClean="0"/>
              <a:t>}               </a:t>
            </a:r>
            <a:endParaRPr lang="en-US" altLang="zh-CN" dirty="0"/>
          </a:p>
        </p:txBody>
      </p:sp>
      <p:sp>
        <p:nvSpPr>
          <p:cNvPr id="11" name="Rectangle 5"/>
          <p:cNvSpPr>
            <a:spLocks noChangeArrowheads="1"/>
          </p:cNvSpPr>
          <p:nvPr/>
        </p:nvSpPr>
        <p:spPr bwMode="auto">
          <a:xfrm>
            <a:off x="7410522" y="1297438"/>
            <a:ext cx="3106737" cy="5400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pPr>
            <a:endParaRPr lang="zh-CN" altLang="en-US" sz="3200" b="1"/>
          </a:p>
          <a:p>
            <a:pPr eaLnBrk="1" hangingPunct="1">
              <a:spcBef>
                <a:spcPct val="20000"/>
              </a:spcBef>
              <a:buFont typeface="Wingdings" panose="05000000000000000000" pitchFamily="2" charset="2"/>
              <a:buNone/>
            </a:pPr>
            <a:r>
              <a:rPr lang="en-US" altLang="zh-CN" sz="3200" b="1"/>
              <a:t>for(;;)</a:t>
            </a:r>
          </a:p>
          <a:p>
            <a:pPr eaLnBrk="1" hangingPunct="1">
              <a:spcBef>
                <a:spcPct val="20000"/>
              </a:spcBef>
              <a:buFont typeface="Wingdings" panose="05000000000000000000" pitchFamily="2" charset="2"/>
              <a:buNone/>
            </a:pPr>
            <a:r>
              <a:rPr lang="en-US" altLang="zh-CN" sz="3200" b="1"/>
              <a:t>{</a:t>
            </a:r>
          </a:p>
          <a:p>
            <a:pPr eaLnBrk="1" hangingPunct="1">
              <a:spcBef>
                <a:spcPct val="20000"/>
              </a:spcBef>
              <a:buFont typeface="Wingdings" panose="05000000000000000000" pitchFamily="2" charset="2"/>
              <a:buNone/>
            </a:pPr>
            <a:r>
              <a:rPr lang="en-US" altLang="zh-CN" sz="3200" b="1"/>
              <a:t>       scanf();</a:t>
            </a:r>
          </a:p>
          <a:p>
            <a:pPr eaLnBrk="1" hangingPunct="1">
              <a:spcBef>
                <a:spcPct val="20000"/>
              </a:spcBef>
              <a:buFont typeface="Wingdings" panose="05000000000000000000" pitchFamily="2" charset="2"/>
              <a:buNone/>
            </a:pPr>
            <a:r>
              <a:rPr lang="en-US" altLang="zh-CN" sz="3200" b="1"/>
              <a:t>       sendto();</a:t>
            </a:r>
          </a:p>
          <a:p>
            <a:pPr eaLnBrk="1" hangingPunct="1">
              <a:spcBef>
                <a:spcPct val="20000"/>
              </a:spcBef>
              <a:buFont typeface="Wingdings" panose="05000000000000000000" pitchFamily="2" charset="2"/>
              <a:buNone/>
            </a:pPr>
            <a:r>
              <a:rPr lang="en-US" altLang="zh-CN" sz="3200" b="1"/>
              <a:t>       recvfrom();</a:t>
            </a:r>
          </a:p>
          <a:p>
            <a:pPr eaLnBrk="1" hangingPunct="1">
              <a:spcBef>
                <a:spcPct val="20000"/>
              </a:spcBef>
              <a:buFont typeface="Wingdings" panose="05000000000000000000" pitchFamily="2" charset="2"/>
              <a:buNone/>
            </a:pPr>
            <a:r>
              <a:rPr lang="en-US" altLang="zh-CN" sz="3200" b="1"/>
              <a:t>       printf();</a:t>
            </a:r>
          </a:p>
          <a:p>
            <a:pPr eaLnBrk="1" hangingPunct="1">
              <a:spcBef>
                <a:spcPct val="20000"/>
              </a:spcBef>
              <a:buFont typeface="Wingdings" panose="05000000000000000000" pitchFamily="2" charset="2"/>
              <a:buNone/>
            </a:pPr>
            <a:r>
              <a:rPr lang="en-US" altLang="zh-CN" sz="3200" b="1"/>
              <a:t>}               </a:t>
            </a:r>
          </a:p>
        </p:txBody>
      </p:sp>
      <p:grpSp>
        <p:nvGrpSpPr>
          <p:cNvPr id="12" name="Group 9"/>
          <p:cNvGrpSpPr>
            <a:grpSpLocks/>
          </p:cNvGrpSpPr>
          <p:nvPr/>
        </p:nvGrpSpPr>
        <p:grpSpPr bwMode="auto">
          <a:xfrm>
            <a:off x="4827659" y="3961263"/>
            <a:ext cx="3384550" cy="647700"/>
            <a:chOff x="2018" y="2432"/>
            <a:chExt cx="2132" cy="408"/>
          </a:xfrm>
        </p:grpSpPr>
        <p:sp>
          <p:nvSpPr>
            <p:cNvPr id="13" name="Line 10"/>
            <p:cNvSpPr>
              <a:spLocks noChangeShapeType="1"/>
            </p:cNvSpPr>
            <p:nvPr/>
          </p:nvSpPr>
          <p:spPr bwMode="auto">
            <a:xfrm flipH="1">
              <a:off x="2200" y="2432"/>
              <a:ext cx="1406" cy="408"/>
            </a:xfrm>
            <a:prstGeom prst="line">
              <a:avLst/>
            </a:prstGeom>
            <a:noFill/>
            <a:ln w="38100">
              <a:solidFill>
                <a:srgbClr val="FF33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p:cNvSpPr>
              <a:spLocks noChangeShapeType="1"/>
            </p:cNvSpPr>
            <p:nvPr/>
          </p:nvSpPr>
          <p:spPr bwMode="auto">
            <a:xfrm>
              <a:off x="3606" y="2432"/>
              <a:ext cx="544" cy="0"/>
            </a:xfrm>
            <a:prstGeom prst="line">
              <a:avLst/>
            </a:prstGeom>
            <a:noFill/>
            <a:ln w="38100">
              <a:solidFill>
                <a:srgbClr val="FF33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2"/>
            <p:cNvSpPr>
              <a:spLocks noChangeShapeType="1"/>
            </p:cNvSpPr>
            <p:nvPr/>
          </p:nvSpPr>
          <p:spPr bwMode="auto">
            <a:xfrm flipH="1">
              <a:off x="2018" y="2840"/>
              <a:ext cx="182" cy="0"/>
            </a:xfrm>
            <a:prstGeom prst="line">
              <a:avLst/>
            </a:prstGeom>
            <a:noFill/>
            <a:ln w="3810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 name="Group 15"/>
          <p:cNvGrpSpPr>
            <a:grpSpLocks/>
          </p:cNvGrpSpPr>
          <p:nvPr/>
        </p:nvGrpSpPr>
        <p:grpSpPr bwMode="auto">
          <a:xfrm>
            <a:off x="4611759" y="3961263"/>
            <a:ext cx="3529013" cy="647700"/>
            <a:chOff x="1882" y="2432"/>
            <a:chExt cx="2223" cy="408"/>
          </a:xfrm>
        </p:grpSpPr>
        <p:sp>
          <p:nvSpPr>
            <p:cNvPr id="17" name="Line 16"/>
            <p:cNvSpPr>
              <a:spLocks noChangeShapeType="1"/>
            </p:cNvSpPr>
            <p:nvPr/>
          </p:nvSpPr>
          <p:spPr bwMode="auto">
            <a:xfrm>
              <a:off x="3651" y="2840"/>
              <a:ext cx="454" cy="0"/>
            </a:xfrm>
            <a:prstGeom prst="line">
              <a:avLst/>
            </a:prstGeom>
            <a:noFill/>
            <a:ln w="38100">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a:off x="2200" y="2432"/>
              <a:ext cx="1451" cy="408"/>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1882" y="2432"/>
              <a:ext cx="318" cy="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3560238427"/>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写阻塞</a:t>
            </a:r>
            <a:endParaRPr lang="zh-CN" altLang="en-US" dirty="0"/>
          </a:p>
        </p:txBody>
      </p:sp>
      <p:sp>
        <p:nvSpPr>
          <p:cNvPr id="3" name="内容占位符 2"/>
          <p:cNvSpPr>
            <a:spLocks noGrp="1"/>
          </p:cNvSpPr>
          <p:nvPr>
            <p:ph idx="1"/>
          </p:nvPr>
        </p:nvSpPr>
        <p:spPr/>
        <p:txBody>
          <a:bodyPr/>
          <a:lstStyle/>
          <a:p>
            <a:r>
              <a:rPr lang="zh-CN" altLang="en-US" dirty="0"/>
              <a:t>在写操作时发生阻塞的情况要比读操作少。主要发生在要写入的缓冲区的大小小于要写入的数据量的情况下。</a:t>
            </a:r>
          </a:p>
          <a:p>
            <a:r>
              <a:rPr lang="zh-CN" altLang="en-US" dirty="0"/>
              <a:t>这时，写操作不进行任何拷贝工作，将发生阻塞。</a:t>
            </a:r>
          </a:p>
          <a:p>
            <a:r>
              <a:rPr lang="zh-CN" altLang="en-US" dirty="0"/>
              <a:t>一量发送缓冲区内有足够的空间，内核将唤醒进程，将数据从用户缓冲区中拷贝到相应的发送数据缓冲区。</a:t>
            </a:r>
          </a:p>
          <a:p>
            <a:r>
              <a:rPr lang="en-US" altLang="zh-CN" dirty="0"/>
              <a:t>UDP</a:t>
            </a:r>
            <a:r>
              <a:rPr lang="zh-CN" altLang="en-US" dirty="0"/>
              <a:t>不用等待确认，没有实际的发送缓冲区，所以</a:t>
            </a:r>
            <a:r>
              <a:rPr lang="en-US" altLang="zh-CN" dirty="0"/>
              <a:t>UDP</a:t>
            </a:r>
            <a:r>
              <a:rPr lang="zh-CN" altLang="en-US" dirty="0"/>
              <a:t>协议中不存在发送缓冲区满的情况，在</a:t>
            </a:r>
            <a:r>
              <a:rPr lang="en-US" altLang="zh-CN" dirty="0"/>
              <a:t>UDP</a:t>
            </a:r>
            <a:r>
              <a:rPr lang="zh-CN" altLang="en-US" dirty="0"/>
              <a:t>套接字上执行的写操作永远都不会阻塞。</a:t>
            </a:r>
          </a:p>
          <a:p>
            <a:endParaRPr lang="zh-CN" altLang="en-US" dirty="0"/>
          </a:p>
        </p:txBody>
      </p:sp>
    </p:spTree>
    <p:extLst>
      <p:ext uri="{BB962C8B-B14F-4D97-AF65-F5344CB8AC3E}">
        <p14:creationId xmlns:p14="http://schemas.microsoft.com/office/powerpoint/2010/main" val="2626999643"/>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隶书" panose="02010509060101010101" pitchFamily="49" charset="-122"/>
              </a:rPr>
              <a:t>阻塞</a:t>
            </a:r>
            <a:r>
              <a:rPr lang="en-US" altLang="zh-CN" dirty="0" smtClean="0">
                <a:latin typeface="隶书" panose="02010509060101010101" pitchFamily="49" charset="-122"/>
              </a:rPr>
              <a:t>I/O </a:t>
            </a:r>
            <a:r>
              <a:rPr lang="zh-CN" altLang="en-US" dirty="0" smtClean="0">
                <a:latin typeface="隶书" panose="02010509060101010101" pitchFamily="49" charset="-122"/>
              </a:rPr>
              <a:t>模式实例</a:t>
            </a:r>
            <a:endParaRPr lang="zh-CN" altLang="en-US" dirty="0"/>
          </a:p>
        </p:txBody>
      </p:sp>
      <p:sp>
        <p:nvSpPr>
          <p:cNvPr id="3" name="内容占位符 2"/>
          <p:cNvSpPr>
            <a:spLocks noGrp="1"/>
          </p:cNvSpPr>
          <p:nvPr>
            <p:ph idx="1"/>
          </p:nvPr>
        </p:nvSpPr>
        <p:spPr>
          <a:xfrm>
            <a:off x="609600" y="981512"/>
            <a:ext cx="11093042" cy="5167618"/>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nSpc>
                <a:spcPct val="80000"/>
              </a:lnSpc>
            </a:pPr>
            <a:r>
              <a:rPr lang="zh-CN" altLang="en-US" dirty="0">
                <a:solidFill>
                  <a:srgbClr val="0000FF"/>
                </a:solidFill>
              </a:rPr>
              <a:t>示例：在阻塞模式下单进程对两个套接字的轮询</a:t>
            </a:r>
          </a:p>
          <a:p>
            <a:pPr lvl="1">
              <a:lnSpc>
                <a:spcPct val="80000"/>
              </a:lnSpc>
              <a:buNone/>
            </a:pPr>
            <a:r>
              <a:rPr lang="en-US" altLang="zh-CN" dirty="0"/>
              <a:t>#include &lt;sys/</a:t>
            </a:r>
            <a:r>
              <a:rPr lang="en-US" altLang="zh-CN" dirty="0" err="1"/>
              <a:t>socket.h</a:t>
            </a:r>
            <a:r>
              <a:rPr lang="en-US" altLang="zh-CN" dirty="0"/>
              <a:t>&gt;</a:t>
            </a:r>
          </a:p>
          <a:p>
            <a:pPr lvl="1">
              <a:lnSpc>
                <a:spcPct val="80000"/>
              </a:lnSpc>
              <a:buNone/>
            </a:pPr>
            <a:r>
              <a:rPr lang="en-US" altLang="zh-CN" dirty="0"/>
              <a:t>#include &lt;</a:t>
            </a:r>
            <a:r>
              <a:rPr lang="en-US" altLang="zh-CN" dirty="0" err="1"/>
              <a:t>netinet</a:t>
            </a:r>
            <a:r>
              <a:rPr lang="en-US" altLang="zh-CN" dirty="0"/>
              <a:t>/</a:t>
            </a:r>
            <a:r>
              <a:rPr lang="en-US" altLang="zh-CN" dirty="0" err="1"/>
              <a:t>in.h</a:t>
            </a:r>
            <a:r>
              <a:rPr lang="en-US" altLang="zh-CN" dirty="0"/>
              <a:t>&gt;</a:t>
            </a:r>
          </a:p>
          <a:p>
            <a:pPr lvl="1">
              <a:lnSpc>
                <a:spcPct val="80000"/>
              </a:lnSpc>
              <a:buNone/>
            </a:pPr>
            <a:r>
              <a:rPr lang="en-US" altLang="zh-CN" dirty="0"/>
              <a:t>#include &lt;</a:t>
            </a:r>
            <a:r>
              <a:rPr lang="en-US" altLang="zh-CN" dirty="0" err="1"/>
              <a:t>string.h</a:t>
            </a:r>
            <a:r>
              <a:rPr lang="en-US" altLang="zh-CN" dirty="0"/>
              <a:t>&gt;</a:t>
            </a:r>
          </a:p>
          <a:p>
            <a:pPr lvl="1">
              <a:lnSpc>
                <a:spcPct val="80000"/>
              </a:lnSpc>
              <a:buNone/>
            </a:pPr>
            <a:r>
              <a:rPr lang="en-US" altLang="zh-CN" dirty="0"/>
              <a:t>#include &lt;</a:t>
            </a:r>
            <a:r>
              <a:rPr lang="en-US" altLang="zh-CN" dirty="0" err="1"/>
              <a:t>stdio.h</a:t>
            </a:r>
            <a:r>
              <a:rPr lang="en-US" altLang="zh-CN" dirty="0"/>
              <a:t>&gt;</a:t>
            </a:r>
          </a:p>
          <a:p>
            <a:pPr lvl="1">
              <a:lnSpc>
                <a:spcPct val="80000"/>
              </a:lnSpc>
              <a:buNone/>
            </a:pPr>
            <a:r>
              <a:rPr lang="en-US" altLang="zh-CN" dirty="0"/>
              <a:t>#include &lt;</a:t>
            </a:r>
            <a:r>
              <a:rPr lang="en-US" altLang="zh-CN" dirty="0" err="1"/>
              <a:t>errno.h</a:t>
            </a:r>
            <a:r>
              <a:rPr lang="en-US" altLang="zh-CN" dirty="0"/>
              <a:t>&gt;</a:t>
            </a:r>
          </a:p>
          <a:p>
            <a:pPr lvl="1">
              <a:lnSpc>
                <a:spcPct val="80000"/>
              </a:lnSpc>
              <a:buNone/>
            </a:pPr>
            <a:r>
              <a:rPr lang="en-US" altLang="zh-CN" dirty="0"/>
              <a:t>#define SERVE_PORT 8003</a:t>
            </a:r>
          </a:p>
          <a:p>
            <a:pPr lvl="1">
              <a:lnSpc>
                <a:spcPct val="80000"/>
              </a:lnSpc>
              <a:buNone/>
            </a:pPr>
            <a:r>
              <a:rPr lang="en-US" altLang="zh-CN" dirty="0" err="1"/>
              <a:t>int</a:t>
            </a:r>
            <a:r>
              <a:rPr lang="en-US" altLang="zh-CN" dirty="0"/>
              <a:t> main(</a:t>
            </a:r>
            <a:r>
              <a:rPr lang="en-US" altLang="zh-CN" dirty="0" err="1"/>
              <a:t>int</a:t>
            </a:r>
            <a:r>
              <a:rPr lang="en-US" altLang="zh-CN" dirty="0"/>
              <a:t> </a:t>
            </a:r>
            <a:r>
              <a:rPr lang="en-US" altLang="zh-CN" dirty="0" err="1"/>
              <a:t>argc,char</a:t>
            </a:r>
            <a:r>
              <a:rPr lang="en-US" altLang="zh-CN" dirty="0"/>
              <a:t> **</a:t>
            </a:r>
            <a:r>
              <a:rPr lang="en-US" altLang="zh-CN" dirty="0" err="1"/>
              <a:t>argv</a:t>
            </a:r>
            <a:r>
              <a:rPr lang="en-US" altLang="zh-CN" dirty="0"/>
              <a:t>)</a:t>
            </a:r>
          </a:p>
          <a:p>
            <a:pPr lvl="1">
              <a:lnSpc>
                <a:spcPct val="80000"/>
              </a:lnSpc>
              <a:buNone/>
            </a:pPr>
            <a:r>
              <a:rPr lang="en-US" altLang="zh-CN" dirty="0"/>
              <a:t>{</a:t>
            </a:r>
          </a:p>
          <a:p>
            <a:pPr lvl="1">
              <a:lnSpc>
                <a:spcPct val="80000"/>
              </a:lnSpc>
              <a:buNone/>
            </a:pPr>
            <a:r>
              <a:rPr lang="en-US" altLang="zh-CN" dirty="0"/>
              <a:t>        </a:t>
            </a:r>
            <a:r>
              <a:rPr lang="en-US" altLang="zh-CN" dirty="0" err="1"/>
              <a:t>int</a:t>
            </a:r>
            <a:r>
              <a:rPr lang="en-US" altLang="zh-CN" dirty="0"/>
              <a:t> sockfd1,sockfd2;</a:t>
            </a:r>
          </a:p>
          <a:p>
            <a:pPr lvl="1">
              <a:lnSpc>
                <a:spcPct val="80000"/>
              </a:lnSpc>
              <a:buNone/>
            </a:pPr>
            <a:r>
              <a:rPr lang="en-US" altLang="zh-CN" dirty="0"/>
              <a:t>        </a:t>
            </a:r>
            <a:r>
              <a:rPr lang="en-US" altLang="zh-CN" dirty="0" err="1"/>
              <a:t>int</a:t>
            </a:r>
            <a:r>
              <a:rPr lang="en-US" altLang="zh-CN" dirty="0"/>
              <a:t> </a:t>
            </a:r>
            <a:r>
              <a:rPr lang="en-US" altLang="zh-CN" dirty="0" err="1"/>
              <a:t>conn_flag</a:t>
            </a:r>
            <a:r>
              <a:rPr lang="en-US" altLang="zh-CN" dirty="0"/>
              <a:t>;</a:t>
            </a:r>
          </a:p>
          <a:p>
            <a:pPr lvl="1">
              <a:lnSpc>
                <a:spcPct val="80000"/>
              </a:lnSpc>
              <a:buNone/>
            </a:pPr>
            <a:r>
              <a:rPr lang="en-US" altLang="zh-CN" dirty="0"/>
              <a:t>        </a:t>
            </a:r>
            <a:r>
              <a:rPr lang="en-US" altLang="zh-CN" dirty="0" err="1"/>
              <a:t>int</a:t>
            </a:r>
            <a:r>
              <a:rPr lang="en-US" altLang="zh-CN" dirty="0"/>
              <a:t> </a:t>
            </a:r>
            <a:r>
              <a:rPr lang="en-US" altLang="zh-CN" dirty="0" err="1"/>
              <a:t>num_bytes</a:t>
            </a:r>
            <a:r>
              <a:rPr lang="en-US" altLang="zh-CN" dirty="0"/>
              <a:t>;</a:t>
            </a:r>
          </a:p>
          <a:p>
            <a:pPr lvl="1">
              <a:lnSpc>
                <a:spcPct val="80000"/>
              </a:lnSpc>
              <a:buNone/>
            </a:pPr>
            <a:r>
              <a:rPr lang="en-US" altLang="zh-CN" dirty="0"/>
              <a:t>        char buffer[512];</a:t>
            </a:r>
          </a:p>
          <a:p>
            <a:pPr lvl="1">
              <a:lnSpc>
                <a:spcPct val="80000"/>
              </a:lnSpc>
              <a:buNone/>
            </a:pPr>
            <a:r>
              <a:rPr lang="en-US" altLang="zh-CN" dirty="0"/>
              <a:t>        </a:t>
            </a:r>
            <a:r>
              <a:rPr lang="en-US" altLang="zh-CN" dirty="0" err="1"/>
              <a:t>struct</a:t>
            </a:r>
            <a:r>
              <a:rPr lang="en-US" altLang="zh-CN" dirty="0"/>
              <a:t> </a:t>
            </a:r>
            <a:r>
              <a:rPr lang="en-US" altLang="zh-CN" dirty="0" err="1"/>
              <a:t>sockaddr_in</a:t>
            </a:r>
            <a:r>
              <a:rPr lang="en-US" altLang="zh-CN" dirty="0"/>
              <a:t> serv_addr1,serv_addr2</a:t>
            </a:r>
            <a:r>
              <a:rPr lang="en-US" altLang="zh-CN" dirty="0" smtClean="0"/>
              <a:t>;</a:t>
            </a:r>
            <a:endParaRPr lang="en-US" altLang="zh-CN" dirty="0"/>
          </a:p>
        </p:txBody>
      </p:sp>
    </p:spTree>
    <p:extLst>
      <p:ext uri="{BB962C8B-B14F-4D97-AF65-F5344CB8AC3E}">
        <p14:creationId xmlns:p14="http://schemas.microsoft.com/office/powerpoint/2010/main" val="1236650086"/>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19743" y="1342240"/>
            <a:ext cx="8993748" cy="4303552"/>
          </a:xfrm>
        </p:spPr>
        <p:style>
          <a:lnRef idx="1">
            <a:schemeClr val="accent1"/>
          </a:lnRef>
          <a:fillRef idx="2">
            <a:schemeClr val="accent1"/>
          </a:fillRef>
          <a:effectRef idx="1">
            <a:schemeClr val="accent1"/>
          </a:effectRef>
          <a:fontRef idx="minor">
            <a:schemeClr val="dk1"/>
          </a:fontRef>
        </p:style>
        <p:txBody>
          <a:bodyPr>
            <a:normAutofit/>
          </a:bodyPr>
          <a:lstStyle/>
          <a:p>
            <a:pPr>
              <a:lnSpc>
                <a:spcPct val="80000"/>
              </a:lnSpc>
              <a:buNone/>
            </a:pPr>
            <a:r>
              <a:rPr lang="zh-CN" altLang="en-US" sz="2400" dirty="0"/>
              <a:t> </a:t>
            </a:r>
            <a:r>
              <a:rPr lang="en-US" altLang="zh-CN" sz="2400" dirty="0"/>
              <a:t>sockfd1=socket(AF_INET,SOCK_STREAM,0);</a:t>
            </a:r>
          </a:p>
          <a:p>
            <a:pPr>
              <a:lnSpc>
                <a:spcPct val="80000"/>
              </a:lnSpc>
              <a:buNone/>
            </a:pPr>
            <a:r>
              <a:rPr lang="en-US" altLang="zh-CN" sz="2400" dirty="0"/>
              <a:t>   if(socfd1&lt;0);</a:t>
            </a:r>
          </a:p>
          <a:p>
            <a:pPr>
              <a:lnSpc>
                <a:spcPct val="80000"/>
              </a:lnSpc>
              <a:buNone/>
            </a:pPr>
            <a:r>
              <a:rPr lang="en-US" altLang="zh-CN" sz="2400" dirty="0"/>
              <a:t>   {     </a:t>
            </a:r>
            <a:r>
              <a:rPr lang="en-US" altLang="zh-CN" sz="2400" dirty="0" err="1"/>
              <a:t>fprintf</a:t>
            </a:r>
            <a:r>
              <a:rPr lang="en-US" altLang="zh-CN" sz="2400" dirty="0"/>
              <a:t>(</a:t>
            </a:r>
            <a:r>
              <a:rPr lang="en-US" altLang="zh-CN" sz="2400" dirty="0" err="1"/>
              <a:t>stderr</a:t>
            </a:r>
            <a:r>
              <a:rPr lang="en-US" altLang="zh-CN" sz="2400" dirty="0"/>
              <a:t>,”socket error!\n”);</a:t>
            </a:r>
          </a:p>
          <a:p>
            <a:pPr>
              <a:lnSpc>
                <a:spcPct val="80000"/>
              </a:lnSpc>
              <a:buNone/>
            </a:pPr>
            <a:r>
              <a:rPr lang="en-US" altLang="zh-CN" sz="2400" dirty="0"/>
              <a:t>          exit(1);</a:t>
            </a:r>
          </a:p>
          <a:p>
            <a:pPr>
              <a:lnSpc>
                <a:spcPct val="80000"/>
              </a:lnSpc>
              <a:buNone/>
            </a:pPr>
            <a:r>
              <a:rPr lang="en-US" altLang="zh-CN" sz="2400" dirty="0"/>
              <a:t>   }</a:t>
            </a:r>
          </a:p>
          <a:p>
            <a:pPr>
              <a:lnSpc>
                <a:spcPct val="80000"/>
              </a:lnSpc>
              <a:buNone/>
            </a:pPr>
            <a:r>
              <a:rPr lang="en-US" altLang="zh-CN" sz="2400" dirty="0"/>
              <a:t>   </a:t>
            </a:r>
          </a:p>
          <a:p>
            <a:pPr>
              <a:lnSpc>
                <a:spcPct val="80000"/>
              </a:lnSpc>
              <a:buNone/>
            </a:pPr>
            <a:r>
              <a:rPr lang="en-US" altLang="zh-CN" sz="2400" dirty="0"/>
              <a:t>   sockfd2=socket(AF_INET,SOCK_STREAM,0);</a:t>
            </a:r>
          </a:p>
          <a:p>
            <a:pPr>
              <a:lnSpc>
                <a:spcPct val="80000"/>
              </a:lnSpc>
              <a:buNone/>
            </a:pPr>
            <a:r>
              <a:rPr lang="en-US" altLang="zh-CN" sz="2400" dirty="0"/>
              <a:t>   if(socfd2&lt;0);</a:t>
            </a:r>
          </a:p>
          <a:p>
            <a:pPr>
              <a:lnSpc>
                <a:spcPct val="80000"/>
              </a:lnSpc>
              <a:buNone/>
            </a:pPr>
            <a:r>
              <a:rPr lang="en-US" altLang="zh-CN" sz="2400" dirty="0"/>
              <a:t>   {     </a:t>
            </a:r>
            <a:r>
              <a:rPr lang="en-US" altLang="zh-CN" sz="2400" dirty="0" err="1"/>
              <a:t>fprintf</a:t>
            </a:r>
            <a:r>
              <a:rPr lang="en-US" altLang="zh-CN" sz="2400" dirty="0"/>
              <a:t>(</a:t>
            </a:r>
            <a:r>
              <a:rPr lang="en-US" altLang="zh-CN" sz="2400" dirty="0" err="1"/>
              <a:t>stderr</a:t>
            </a:r>
            <a:r>
              <a:rPr lang="en-US" altLang="zh-CN" sz="2400" dirty="0"/>
              <a:t>,”socket error!\n”);</a:t>
            </a:r>
          </a:p>
          <a:p>
            <a:pPr>
              <a:lnSpc>
                <a:spcPct val="80000"/>
              </a:lnSpc>
              <a:buNone/>
            </a:pPr>
            <a:r>
              <a:rPr lang="en-US" altLang="zh-CN" sz="2400" dirty="0"/>
              <a:t>          exit(1);</a:t>
            </a:r>
          </a:p>
          <a:p>
            <a:pPr>
              <a:lnSpc>
                <a:spcPct val="80000"/>
              </a:lnSpc>
              <a:buNone/>
            </a:pPr>
            <a:r>
              <a:rPr lang="en-US" altLang="zh-CN" sz="2400" dirty="0" smtClean="0"/>
              <a:t>   }</a:t>
            </a:r>
            <a:endParaRPr lang="zh-CN" altLang="en-US" sz="2400" dirty="0"/>
          </a:p>
        </p:txBody>
      </p:sp>
    </p:spTree>
    <p:extLst>
      <p:ext uri="{BB962C8B-B14F-4D97-AF65-F5344CB8AC3E}">
        <p14:creationId xmlns:p14="http://schemas.microsoft.com/office/powerpoint/2010/main" val="2700387300"/>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00251"/>
            <a:ext cx="10515600" cy="5876712"/>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pPr>
              <a:lnSpc>
                <a:spcPct val="80000"/>
              </a:lnSpc>
              <a:buNone/>
            </a:pPr>
            <a:r>
              <a:rPr lang="en-US" altLang="zh-CN" dirty="0" err="1" smtClean="0"/>
              <a:t>bxero</a:t>
            </a:r>
            <a:r>
              <a:rPr lang="en-US" altLang="zh-CN" dirty="0" smtClean="0"/>
              <a:t>(&amp;serv_addr1,sizeof(serv_addr1));</a:t>
            </a:r>
          </a:p>
          <a:p>
            <a:pPr>
              <a:lnSpc>
                <a:spcPct val="80000"/>
              </a:lnSpc>
              <a:buNone/>
            </a:pPr>
            <a:r>
              <a:rPr lang="en-US" altLang="zh-CN" dirty="0" smtClean="0"/>
              <a:t>   serv_addr1.sin_family=AF_INET;</a:t>
            </a:r>
          </a:p>
          <a:p>
            <a:pPr>
              <a:lnSpc>
                <a:spcPct val="80000"/>
              </a:lnSpc>
              <a:buNone/>
            </a:pPr>
            <a:r>
              <a:rPr lang="en-US" altLang="zh-CN" dirty="0" smtClean="0"/>
              <a:t>   erv_addr1.sin_port=</a:t>
            </a:r>
            <a:r>
              <a:rPr lang="en-US" altLang="zh-CN" dirty="0" err="1" smtClean="0"/>
              <a:t>htons</a:t>
            </a:r>
            <a:r>
              <a:rPr lang="en-US" altLang="zh-CN" dirty="0" smtClean="0"/>
              <a:t>(SERVE_PORT);</a:t>
            </a:r>
          </a:p>
          <a:p>
            <a:pPr>
              <a:lnSpc>
                <a:spcPct val="80000"/>
              </a:lnSpc>
              <a:buNone/>
            </a:pPr>
            <a:r>
              <a:rPr lang="en-US" altLang="zh-CN" dirty="0" smtClean="0"/>
              <a:t>   </a:t>
            </a:r>
            <a:r>
              <a:rPr lang="en-US" altLang="zh-CN" dirty="0" err="1" smtClean="0"/>
              <a:t>bxero</a:t>
            </a:r>
            <a:r>
              <a:rPr lang="en-US" altLang="zh-CN" dirty="0" smtClean="0"/>
              <a:t>(&amp;serv_addr2,sizeof(serv_addr1));</a:t>
            </a:r>
          </a:p>
          <a:p>
            <a:pPr>
              <a:lnSpc>
                <a:spcPct val="80000"/>
              </a:lnSpc>
              <a:buNone/>
            </a:pPr>
            <a:r>
              <a:rPr lang="en-US" altLang="zh-CN" dirty="0" smtClean="0"/>
              <a:t>   serv_addr2.sin_family=AF_INET;</a:t>
            </a:r>
          </a:p>
          <a:p>
            <a:pPr>
              <a:lnSpc>
                <a:spcPct val="80000"/>
              </a:lnSpc>
              <a:buNone/>
            </a:pPr>
            <a:r>
              <a:rPr lang="en-US" altLang="zh-CN" dirty="0" smtClean="0"/>
              <a:t>   erv_addr2.sin_port=</a:t>
            </a:r>
            <a:r>
              <a:rPr lang="en-US" altLang="zh-CN" dirty="0" err="1" smtClean="0"/>
              <a:t>htons</a:t>
            </a:r>
            <a:r>
              <a:rPr lang="en-US" altLang="zh-CN" dirty="0" smtClean="0"/>
              <a:t>(SERVE_PORT);</a:t>
            </a:r>
          </a:p>
          <a:p>
            <a:pPr>
              <a:lnSpc>
                <a:spcPct val="80000"/>
              </a:lnSpc>
              <a:buNone/>
            </a:pPr>
            <a:r>
              <a:rPr lang="en-US" altLang="zh-CN" dirty="0" smtClean="0"/>
              <a:t>   </a:t>
            </a:r>
          </a:p>
          <a:p>
            <a:pPr>
              <a:lnSpc>
                <a:spcPct val="80000"/>
              </a:lnSpc>
              <a:buNone/>
            </a:pPr>
            <a:r>
              <a:rPr lang="en-US" altLang="zh-CN" dirty="0" smtClean="0"/>
              <a:t>   </a:t>
            </a:r>
            <a:r>
              <a:rPr lang="en-US" altLang="zh-CN" dirty="0" err="1" smtClean="0"/>
              <a:t>conn_flag</a:t>
            </a:r>
            <a:r>
              <a:rPr lang="en-US" altLang="zh-CN" dirty="0" smtClean="0"/>
              <a:t>=</a:t>
            </a:r>
            <a:r>
              <a:rPr lang="en-US" altLang="zh-CN" dirty="0" err="1" smtClean="0"/>
              <a:t>connetct</a:t>
            </a:r>
            <a:r>
              <a:rPr lang="en-US" altLang="zh-CN" dirty="0" smtClean="0"/>
              <a:t>(sockfd1,(</a:t>
            </a:r>
            <a:r>
              <a:rPr lang="en-US" altLang="zh-CN" dirty="0" err="1" smtClean="0"/>
              <a:t>struct</a:t>
            </a:r>
            <a:r>
              <a:rPr lang="en-US" altLang="zh-CN" dirty="0" smtClean="0"/>
              <a:t> </a:t>
            </a:r>
            <a:r>
              <a:rPr lang="en-US" altLang="zh-CN" dirty="0" err="1" smtClean="0"/>
              <a:t>sockaddr</a:t>
            </a:r>
            <a:r>
              <a:rPr lang="en-US" altLang="zh-CN" dirty="0" smtClean="0"/>
              <a:t> *)&amp;serv_addr1,</a:t>
            </a:r>
          </a:p>
          <a:p>
            <a:pPr>
              <a:lnSpc>
                <a:spcPct val="80000"/>
              </a:lnSpc>
              <a:buNone/>
            </a:pPr>
            <a:r>
              <a:rPr lang="en-US" altLang="zh-CN" dirty="0" smtClean="0"/>
              <a:t>                                       </a:t>
            </a:r>
            <a:r>
              <a:rPr lang="en-US" altLang="zh-CN" dirty="0" err="1" smtClean="0"/>
              <a:t>sizeof</a:t>
            </a:r>
            <a:r>
              <a:rPr lang="en-US" altLang="zh-CN" dirty="0" smtClean="0"/>
              <a:t>(</a:t>
            </a:r>
            <a:r>
              <a:rPr lang="en-US" altLang="zh-CN" dirty="0" err="1" smtClean="0"/>
              <a:t>struct</a:t>
            </a:r>
            <a:r>
              <a:rPr lang="en-US" altLang="zh-CN" dirty="0" smtClean="0"/>
              <a:t> sockaddr1));</a:t>
            </a:r>
          </a:p>
          <a:p>
            <a:pPr>
              <a:lnSpc>
                <a:spcPct val="80000"/>
              </a:lnSpc>
              <a:buNone/>
            </a:pPr>
            <a:r>
              <a:rPr lang="en-US" altLang="zh-CN" dirty="0" smtClean="0"/>
              <a:t>   if(</a:t>
            </a:r>
            <a:r>
              <a:rPr lang="en-US" altLang="zh-CN" dirty="0" err="1" smtClean="0"/>
              <a:t>conn_flag</a:t>
            </a:r>
            <a:r>
              <a:rPr lang="en-US" altLang="zh-CN" dirty="0" smtClean="0"/>
              <a:t>==-1)</a:t>
            </a:r>
          </a:p>
          <a:p>
            <a:pPr>
              <a:lnSpc>
                <a:spcPct val="80000"/>
              </a:lnSpc>
              <a:buNone/>
            </a:pPr>
            <a:r>
              <a:rPr lang="en-US" altLang="zh-CN" dirty="0" smtClean="0"/>
              <a:t>   {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connecy</a:t>
            </a:r>
            <a:r>
              <a:rPr lang="en-US" altLang="zh-CN" dirty="0" smtClean="0"/>
              <a:t> error!\n”);     exit(1);   }</a:t>
            </a:r>
          </a:p>
          <a:p>
            <a:pPr>
              <a:lnSpc>
                <a:spcPct val="80000"/>
              </a:lnSpc>
              <a:buNone/>
            </a:pPr>
            <a:r>
              <a:rPr lang="en-US" altLang="zh-CN" dirty="0" smtClean="0"/>
              <a:t> </a:t>
            </a:r>
          </a:p>
          <a:p>
            <a:pPr>
              <a:lnSpc>
                <a:spcPct val="80000"/>
              </a:lnSpc>
              <a:buNone/>
            </a:pPr>
            <a:r>
              <a:rPr lang="en-US" altLang="zh-CN" dirty="0" smtClean="0"/>
              <a:t>   </a:t>
            </a:r>
            <a:r>
              <a:rPr lang="en-US" altLang="zh-CN" dirty="0" err="1" smtClean="0"/>
              <a:t>conn_flag</a:t>
            </a:r>
            <a:r>
              <a:rPr lang="en-US" altLang="zh-CN" dirty="0" smtClean="0"/>
              <a:t>=</a:t>
            </a:r>
            <a:r>
              <a:rPr lang="en-US" altLang="zh-CN" dirty="0" err="1" smtClean="0"/>
              <a:t>connetct</a:t>
            </a:r>
            <a:r>
              <a:rPr lang="en-US" altLang="zh-CN" dirty="0" smtClean="0"/>
              <a:t>(sockfd1,(</a:t>
            </a:r>
            <a:r>
              <a:rPr lang="en-US" altLang="zh-CN" dirty="0" err="1" smtClean="0"/>
              <a:t>struct</a:t>
            </a:r>
            <a:r>
              <a:rPr lang="en-US" altLang="zh-CN" dirty="0" smtClean="0"/>
              <a:t> </a:t>
            </a:r>
            <a:r>
              <a:rPr lang="en-US" altLang="zh-CN" dirty="0" err="1" smtClean="0"/>
              <a:t>sockaddr</a:t>
            </a:r>
            <a:r>
              <a:rPr lang="en-US" altLang="zh-CN" dirty="0" smtClean="0"/>
              <a:t> *)&amp;serv_addr1,</a:t>
            </a:r>
          </a:p>
          <a:p>
            <a:pPr>
              <a:lnSpc>
                <a:spcPct val="80000"/>
              </a:lnSpc>
              <a:buNone/>
            </a:pPr>
            <a:r>
              <a:rPr lang="en-US" altLang="zh-CN" dirty="0" smtClean="0"/>
              <a:t>                                     </a:t>
            </a:r>
            <a:r>
              <a:rPr lang="en-US" altLang="zh-CN" dirty="0" err="1" smtClean="0"/>
              <a:t>sizeof</a:t>
            </a:r>
            <a:r>
              <a:rPr lang="en-US" altLang="zh-CN" dirty="0" smtClean="0"/>
              <a:t>(</a:t>
            </a:r>
            <a:r>
              <a:rPr lang="en-US" altLang="zh-CN" dirty="0" err="1" smtClean="0"/>
              <a:t>struct</a:t>
            </a:r>
            <a:r>
              <a:rPr lang="en-US" altLang="zh-CN" dirty="0" smtClean="0"/>
              <a:t> sockaddr1));</a:t>
            </a:r>
          </a:p>
          <a:p>
            <a:pPr>
              <a:lnSpc>
                <a:spcPct val="80000"/>
              </a:lnSpc>
              <a:buNone/>
            </a:pPr>
            <a:r>
              <a:rPr lang="en-US" altLang="zh-CN" dirty="0" smtClean="0"/>
              <a:t>   if(</a:t>
            </a:r>
            <a:r>
              <a:rPr lang="en-US" altLang="zh-CN" dirty="0" err="1" smtClean="0"/>
              <a:t>conn_flag</a:t>
            </a:r>
            <a:r>
              <a:rPr lang="en-US" altLang="zh-CN" dirty="0" smtClean="0"/>
              <a:t>==-1)</a:t>
            </a:r>
          </a:p>
          <a:p>
            <a:pPr>
              <a:lnSpc>
                <a:spcPct val="80000"/>
              </a:lnSpc>
              <a:buNone/>
            </a:pPr>
            <a:r>
              <a:rPr lang="en-US" altLang="zh-CN" dirty="0" smtClean="0"/>
              <a:t>   {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connecy</a:t>
            </a:r>
            <a:r>
              <a:rPr lang="en-US" altLang="zh-CN" dirty="0" smtClean="0"/>
              <a:t> error!\n”);     exit(1);   }</a:t>
            </a:r>
          </a:p>
        </p:txBody>
      </p:sp>
    </p:spTree>
    <p:extLst>
      <p:ext uri="{BB962C8B-B14F-4D97-AF65-F5344CB8AC3E}">
        <p14:creationId xmlns:p14="http://schemas.microsoft.com/office/powerpoint/2010/main" val="3249201218"/>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32012"/>
            <a:ext cx="10515600" cy="5944951"/>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pPr>
              <a:lnSpc>
                <a:spcPct val="80000"/>
              </a:lnSpc>
              <a:buNone/>
            </a:pPr>
            <a:r>
              <a:rPr lang="en-US" altLang="zh-CN" dirty="0" smtClean="0"/>
              <a:t>while(1)</a:t>
            </a:r>
          </a:p>
          <a:p>
            <a:pPr>
              <a:lnSpc>
                <a:spcPct val="80000"/>
              </a:lnSpc>
              <a:buNone/>
            </a:pPr>
            <a:r>
              <a:rPr lang="en-US" altLang="zh-CN" dirty="0" smtClean="0"/>
              <a:t>  {    </a:t>
            </a:r>
            <a:r>
              <a:rPr lang="en-US" altLang="zh-CN" dirty="0" err="1" smtClean="0"/>
              <a:t>num_bytes</a:t>
            </a:r>
            <a:r>
              <a:rPr lang="en-US" altLang="zh-CN" dirty="0" smtClean="0"/>
              <a:t>=</a:t>
            </a:r>
            <a:r>
              <a:rPr lang="en-US" altLang="zh-CN" dirty="0" err="1" smtClean="0"/>
              <a:t>recv</a:t>
            </a:r>
            <a:r>
              <a:rPr lang="en-US" altLang="zh-CN" dirty="0" smtClean="0"/>
              <a:t>(sockfd1,buffer,sizeof(buffer),0);</a:t>
            </a:r>
          </a:p>
          <a:p>
            <a:pPr>
              <a:lnSpc>
                <a:spcPct val="80000"/>
              </a:lnSpc>
              <a:buNone/>
            </a:pPr>
            <a:r>
              <a:rPr lang="en-US" altLang="zh-CN" dirty="0" smtClean="0"/>
              <a:t>      if(</a:t>
            </a:r>
            <a:r>
              <a:rPr lang="en-US" altLang="zh-CN" dirty="0" err="1" smtClean="0"/>
              <a:t>num_bytes</a:t>
            </a:r>
            <a:r>
              <a:rPr lang="en-US" altLang="zh-CN" dirty="0" smtClean="0"/>
              <a:t>==0)</a:t>
            </a:r>
          </a:p>
          <a:p>
            <a:pPr>
              <a:lnSpc>
                <a:spcPct val="80000"/>
              </a:lnSpc>
              <a:buNone/>
            </a:pPr>
            <a:r>
              <a:rPr lang="en-US" altLang="zh-CN" dirty="0" smtClean="0"/>
              <a:t>           </a:t>
            </a:r>
            <a:r>
              <a:rPr lang="en-US" altLang="zh-CN" dirty="0" err="1" smtClean="0"/>
              <a:t>fprintf</a:t>
            </a:r>
            <a:r>
              <a:rPr lang="en-US" altLang="zh-CN" dirty="0" smtClean="0"/>
              <a:t>(</a:t>
            </a:r>
            <a:r>
              <a:rPr lang="en-US" altLang="zh-CN" dirty="0" err="1" smtClean="0"/>
              <a:t>stderr</a:t>
            </a:r>
            <a:r>
              <a:rPr lang="en-US" altLang="zh-CN" dirty="0" smtClean="0"/>
              <a:t>,”no data!\n”);</a:t>
            </a:r>
          </a:p>
          <a:p>
            <a:pPr>
              <a:lnSpc>
                <a:spcPct val="80000"/>
              </a:lnSpc>
              <a:buNone/>
            </a:pPr>
            <a:r>
              <a:rPr lang="en-US" altLang="zh-CN" dirty="0" smtClean="0"/>
              <a:t>      else if(</a:t>
            </a:r>
            <a:r>
              <a:rPr lang="en-US" altLang="zh-CN" dirty="0" err="1" smtClean="0"/>
              <a:t>num_byte</a:t>
            </a:r>
            <a:r>
              <a:rPr lang="en-US" altLang="zh-CN" dirty="0" smtClean="0"/>
              <a:t>&lt;0)</a:t>
            </a:r>
          </a:p>
          <a:p>
            <a:pPr>
              <a:lnSpc>
                <a:spcPct val="80000"/>
              </a:lnSpc>
              <a:buNone/>
            </a:pPr>
            <a:r>
              <a:rPr lang="en-US" altLang="zh-CN" dirty="0" smtClean="0"/>
              <a:t>             {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recv</a:t>
            </a:r>
            <a:r>
              <a:rPr lang="en-US" altLang="zh-CN" dirty="0" smtClean="0"/>
              <a:t> error!\n”);      exit(1);           }</a:t>
            </a:r>
          </a:p>
          <a:p>
            <a:pPr>
              <a:lnSpc>
                <a:spcPct val="80000"/>
              </a:lnSpc>
              <a:buNone/>
            </a:pPr>
            <a:r>
              <a:rPr lang="en-US" altLang="zh-CN" dirty="0" smtClean="0"/>
              <a:t>      else</a:t>
            </a:r>
          </a:p>
          <a:p>
            <a:pPr>
              <a:lnSpc>
                <a:spcPct val="80000"/>
              </a:lnSpc>
              <a:buNone/>
            </a:pPr>
            <a:r>
              <a:rPr lang="en-US" altLang="zh-CN" dirty="0" smtClean="0"/>
              <a:t>             </a:t>
            </a:r>
            <a:r>
              <a:rPr lang="en-US" altLang="zh-CN" dirty="0" err="1" smtClean="0"/>
              <a:t>fprintf</a:t>
            </a:r>
            <a:r>
              <a:rPr lang="en-US" altLang="zh-CN" dirty="0" smtClean="0"/>
              <a:t>(“</a:t>
            </a:r>
            <a:r>
              <a:rPr lang="en-US" altLang="zh-CN" dirty="0" err="1" smtClean="0"/>
              <a:t>recv</a:t>
            </a:r>
            <a:r>
              <a:rPr lang="en-US" altLang="zh-CN" dirty="0" smtClean="0"/>
              <a:t> the data:%s\</a:t>
            </a:r>
            <a:r>
              <a:rPr lang="en-US" altLang="zh-CN" dirty="0" err="1" smtClean="0"/>
              <a:t>n”,buffer</a:t>
            </a:r>
            <a:r>
              <a:rPr lang="en-US" altLang="zh-CN" dirty="0" smtClean="0"/>
              <a:t>);</a:t>
            </a:r>
          </a:p>
          <a:p>
            <a:pPr>
              <a:lnSpc>
                <a:spcPct val="80000"/>
              </a:lnSpc>
              <a:buNone/>
            </a:pPr>
            <a:r>
              <a:rPr lang="en-US" altLang="zh-CN" dirty="0" smtClean="0"/>
              <a:t>      </a:t>
            </a:r>
          </a:p>
          <a:p>
            <a:pPr>
              <a:lnSpc>
                <a:spcPct val="80000"/>
              </a:lnSpc>
              <a:buNone/>
            </a:pPr>
            <a:r>
              <a:rPr lang="en-US" altLang="zh-CN" dirty="0" smtClean="0"/>
              <a:t>      </a:t>
            </a:r>
            <a:r>
              <a:rPr lang="en-US" altLang="zh-CN" dirty="0" err="1" smtClean="0"/>
              <a:t>num_bytes</a:t>
            </a:r>
            <a:r>
              <a:rPr lang="en-US" altLang="zh-CN" dirty="0" smtClean="0"/>
              <a:t>=</a:t>
            </a:r>
            <a:r>
              <a:rPr lang="en-US" altLang="zh-CN" dirty="0" err="1" smtClean="0"/>
              <a:t>recv</a:t>
            </a:r>
            <a:r>
              <a:rPr lang="en-US" altLang="zh-CN" dirty="0" smtClean="0"/>
              <a:t>(sockfd2,buffer,sizeof(buffer),0);</a:t>
            </a:r>
          </a:p>
          <a:p>
            <a:pPr>
              <a:lnSpc>
                <a:spcPct val="80000"/>
              </a:lnSpc>
              <a:buNone/>
            </a:pPr>
            <a:r>
              <a:rPr lang="en-US" altLang="zh-CN" dirty="0" smtClean="0"/>
              <a:t>      if(</a:t>
            </a:r>
            <a:r>
              <a:rPr lang="en-US" altLang="zh-CN" dirty="0" err="1" smtClean="0"/>
              <a:t>num_bytes</a:t>
            </a:r>
            <a:r>
              <a:rPr lang="en-US" altLang="zh-CN" dirty="0" smtClean="0"/>
              <a:t>==0)</a:t>
            </a:r>
          </a:p>
          <a:p>
            <a:pPr>
              <a:lnSpc>
                <a:spcPct val="80000"/>
              </a:lnSpc>
              <a:buNone/>
            </a:pPr>
            <a:r>
              <a:rPr lang="en-US" altLang="zh-CN" dirty="0" smtClean="0"/>
              <a:t>           </a:t>
            </a:r>
            <a:r>
              <a:rPr lang="en-US" altLang="zh-CN" dirty="0" err="1" smtClean="0"/>
              <a:t>fprintf</a:t>
            </a:r>
            <a:r>
              <a:rPr lang="en-US" altLang="zh-CN" dirty="0" smtClean="0"/>
              <a:t>(</a:t>
            </a:r>
            <a:r>
              <a:rPr lang="en-US" altLang="zh-CN" dirty="0" err="1" smtClean="0"/>
              <a:t>stderr</a:t>
            </a:r>
            <a:r>
              <a:rPr lang="en-US" altLang="zh-CN" dirty="0" smtClean="0"/>
              <a:t>,”no data!\n”);</a:t>
            </a:r>
          </a:p>
          <a:p>
            <a:pPr>
              <a:lnSpc>
                <a:spcPct val="80000"/>
              </a:lnSpc>
              <a:buNone/>
            </a:pPr>
            <a:r>
              <a:rPr lang="en-US" altLang="zh-CN" dirty="0" smtClean="0"/>
              <a:t>      else if(</a:t>
            </a:r>
            <a:r>
              <a:rPr lang="en-US" altLang="zh-CN" dirty="0" err="1" smtClean="0"/>
              <a:t>num_byte</a:t>
            </a:r>
            <a:r>
              <a:rPr lang="en-US" altLang="zh-CN" dirty="0" smtClean="0"/>
              <a:t>&lt;0)</a:t>
            </a:r>
          </a:p>
          <a:p>
            <a:pPr>
              <a:lnSpc>
                <a:spcPct val="80000"/>
              </a:lnSpc>
              <a:buNone/>
            </a:pPr>
            <a:r>
              <a:rPr lang="en-US" altLang="zh-CN" dirty="0" smtClean="0"/>
              <a:t>           {   </a:t>
            </a:r>
            <a:r>
              <a:rPr lang="en-US" altLang="zh-CN" dirty="0" err="1" smtClean="0"/>
              <a:t>fprintf</a:t>
            </a:r>
            <a:r>
              <a:rPr lang="en-US" altLang="zh-CN" dirty="0" smtClean="0"/>
              <a:t>(</a:t>
            </a:r>
            <a:r>
              <a:rPr lang="en-US" altLang="zh-CN" dirty="0" err="1" smtClean="0"/>
              <a:t>stderr</a:t>
            </a:r>
            <a:r>
              <a:rPr lang="en-US" altLang="zh-CN" dirty="0" smtClean="0"/>
              <a:t>,”</a:t>
            </a:r>
            <a:r>
              <a:rPr lang="en-US" altLang="zh-CN" dirty="0" err="1" smtClean="0"/>
              <a:t>recv</a:t>
            </a:r>
            <a:r>
              <a:rPr lang="en-US" altLang="zh-CN" dirty="0" smtClean="0"/>
              <a:t> error!\n”);        exit(1);        }</a:t>
            </a:r>
          </a:p>
          <a:p>
            <a:pPr>
              <a:lnSpc>
                <a:spcPct val="80000"/>
              </a:lnSpc>
              <a:buNone/>
            </a:pPr>
            <a:r>
              <a:rPr lang="en-US" altLang="zh-CN" dirty="0" smtClean="0"/>
              <a:t>      else</a:t>
            </a:r>
          </a:p>
          <a:p>
            <a:pPr>
              <a:lnSpc>
                <a:spcPct val="80000"/>
              </a:lnSpc>
              <a:buNone/>
            </a:pPr>
            <a:r>
              <a:rPr lang="en-US" altLang="zh-CN" dirty="0" smtClean="0"/>
              <a:t>               </a:t>
            </a:r>
            <a:r>
              <a:rPr lang="en-US" altLang="zh-CN" dirty="0" err="1" smtClean="0"/>
              <a:t>fprintf</a:t>
            </a:r>
            <a:r>
              <a:rPr lang="en-US" altLang="zh-CN" dirty="0" smtClean="0"/>
              <a:t>(“</a:t>
            </a:r>
            <a:r>
              <a:rPr lang="en-US" altLang="zh-CN" dirty="0" err="1" smtClean="0"/>
              <a:t>recv</a:t>
            </a:r>
            <a:r>
              <a:rPr lang="en-US" altLang="zh-CN" dirty="0" smtClean="0"/>
              <a:t> the data:%s\</a:t>
            </a:r>
            <a:r>
              <a:rPr lang="en-US" altLang="zh-CN" dirty="0" err="1" smtClean="0"/>
              <a:t>n”,buffer</a:t>
            </a:r>
            <a:r>
              <a:rPr lang="en-US" altLang="zh-CN" dirty="0" smtClean="0"/>
              <a:t>);</a:t>
            </a:r>
          </a:p>
          <a:p>
            <a:pPr>
              <a:lnSpc>
                <a:spcPct val="80000"/>
              </a:lnSpc>
              <a:buNone/>
            </a:pPr>
            <a:r>
              <a:rPr lang="en-US" altLang="zh-CN" dirty="0" smtClean="0"/>
              <a:t>  }</a:t>
            </a:r>
          </a:p>
          <a:p>
            <a:pPr>
              <a:lnSpc>
                <a:spcPct val="80000"/>
              </a:lnSpc>
              <a:buNone/>
            </a:pPr>
            <a:r>
              <a:rPr lang="en-US" altLang="zh-CN" dirty="0" smtClean="0"/>
              <a:t>}</a:t>
            </a:r>
          </a:p>
          <a:p>
            <a:endParaRPr lang="zh-CN" altLang="en-US" dirty="0"/>
          </a:p>
        </p:txBody>
      </p:sp>
    </p:spTree>
    <p:extLst>
      <p:ext uri="{BB962C8B-B14F-4D97-AF65-F5344CB8AC3E}">
        <p14:creationId xmlns:p14="http://schemas.microsoft.com/office/powerpoint/2010/main" val="4096597801"/>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隶书" panose="02010509060101010101" pitchFamily="49" charset="-122"/>
              </a:rPr>
              <a:t>非阻塞模式</a:t>
            </a:r>
            <a:r>
              <a:rPr lang="en-US" altLang="zh-CN" dirty="0" smtClean="0">
                <a:latin typeface="隶书" panose="02010509060101010101" pitchFamily="49" charset="-122"/>
              </a:rPr>
              <a:t>I/O</a:t>
            </a:r>
            <a:endParaRPr lang="zh-CN" altLang="en-US" dirty="0"/>
          </a:p>
        </p:txBody>
      </p:sp>
      <p:sp>
        <p:nvSpPr>
          <p:cNvPr id="3" name="内容占位符 2"/>
          <p:cNvSpPr>
            <a:spLocks noGrp="1"/>
          </p:cNvSpPr>
          <p:nvPr>
            <p:ph idx="1"/>
          </p:nvPr>
        </p:nvSpPr>
        <p:spPr>
          <a:xfrm>
            <a:off x="626378" y="937601"/>
            <a:ext cx="10972800" cy="4857750"/>
          </a:xfrm>
        </p:spPr>
        <p:txBody>
          <a:bodyPr/>
          <a:lstStyle/>
          <a:p>
            <a:r>
              <a:rPr lang="zh-CN" altLang="en-US" dirty="0">
                <a:latin typeface="宋体" panose="02010600030101010101" pitchFamily="2" charset="-122"/>
              </a:rPr>
              <a:t>当我们将一个套接字设置为非阻塞模式，我们相当于告诉了系统内核：</a:t>
            </a:r>
            <a:r>
              <a:rPr lang="zh-CN" altLang="en-US" dirty="0"/>
              <a:t>“</a:t>
            </a:r>
            <a:r>
              <a:rPr lang="zh-CN" altLang="en-US" dirty="0">
                <a:latin typeface="宋体" panose="02010600030101010101" pitchFamily="2" charset="-122"/>
              </a:rPr>
              <a:t>当我请求的</a:t>
            </a:r>
            <a:r>
              <a:rPr lang="en-US" altLang="zh-CN" dirty="0">
                <a:latin typeface="Times New Roman" panose="02020603050405020304" pitchFamily="18" charset="0"/>
              </a:rPr>
              <a:t>I/O </a:t>
            </a:r>
            <a:r>
              <a:rPr lang="zh-CN" altLang="en-US" dirty="0">
                <a:latin typeface="宋体" panose="02010600030101010101" pitchFamily="2" charset="-122"/>
              </a:rPr>
              <a:t>操作不能够马上完成，你想让我的进程进行休眠等待的时候，不要这么做，请马上返回一个错误给我。</a:t>
            </a:r>
            <a:r>
              <a:rPr lang="zh-CN" altLang="en-US" dirty="0"/>
              <a:t>”</a:t>
            </a:r>
            <a:endParaRPr lang="zh-CN" altLang="en-US" dirty="0">
              <a:latin typeface="宋体" panose="02010600030101010101" pitchFamily="2" charset="-122"/>
            </a:endParaRPr>
          </a:p>
          <a:p>
            <a:r>
              <a:rPr lang="zh-CN" altLang="en-US" dirty="0">
                <a:latin typeface="宋体" panose="02010600030101010101" pitchFamily="2" charset="-122"/>
              </a:rPr>
              <a:t>当一个应用程序使用了非阻塞模式的套接字，它需要使用一个循环来不停地测试是否一个文件描述符有数据可读（称做</a:t>
            </a:r>
            <a:r>
              <a:rPr lang="en-US" altLang="zh-CN" dirty="0">
                <a:latin typeface="Times New Roman" panose="02020603050405020304" pitchFamily="18" charset="0"/>
              </a:rPr>
              <a:t>polling</a:t>
            </a:r>
            <a:r>
              <a:rPr lang="zh-CN" altLang="en-US" dirty="0">
                <a:latin typeface="宋体" panose="02010600030101010101" pitchFamily="2" charset="-122"/>
              </a:rPr>
              <a:t>）。</a:t>
            </a:r>
          </a:p>
          <a:p>
            <a:r>
              <a:rPr lang="zh-CN" altLang="en-US" dirty="0">
                <a:latin typeface="宋体" panose="02010600030101010101" pitchFamily="2" charset="-122"/>
              </a:rPr>
              <a:t>应用程序不停的</a:t>
            </a:r>
            <a:r>
              <a:rPr lang="en-US" altLang="zh-CN" dirty="0">
                <a:latin typeface="Times New Roman" panose="02020603050405020304" pitchFamily="18" charset="0"/>
              </a:rPr>
              <a:t>polling </a:t>
            </a:r>
            <a:r>
              <a:rPr lang="zh-CN" altLang="en-US" dirty="0">
                <a:latin typeface="宋体" panose="02010600030101010101" pitchFamily="2" charset="-122"/>
              </a:rPr>
              <a:t>内核来检查是否</a:t>
            </a:r>
            <a:r>
              <a:rPr lang="en-US" altLang="zh-CN" dirty="0">
                <a:latin typeface="Times New Roman" panose="02020603050405020304" pitchFamily="18" charset="0"/>
              </a:rPr>
              <a:t>I/O</a:t>
            </a:r>
            <a:r>
              <a:rPr lang="zh-CN" altLang="en-US" dirty="0">
                <a:latin typeface="宋体" panose="02010600030101010101" pitchFamily="2" charset="-122"/>
              </a:rPr>
              <a:t>操作已经就绪。这将是一个极浪费</a:t>
            </a:r>
            <a:r>
              <a:rPr lang="en-US" altLang="zh-CN" dirty="0">
                <a:latin typeface="Times New Roman" panose="02020603050405020304" pitchFamily="18" charset="0"/>
              </a:rPr>
              <a:t>CPU </a:t>
            </a:r>
            <a:r>
              <a:rPr lang="zh-CN" altLang="en-US" dirty="0">
                <a:latin typeface="宋体" panose="02010600030101010101" pitchFamily="2" charset="-122"/>
              </a:rPr>
              <a:t>资源的操作。</a:t>
            </a:r>
          </a:p>
          <a:p>
            <a:r>
              <a:rPr lang="zh-CN" altLang="en-US" dirty="0">
                <a:latin typeface="宋体" panose="02010600030101010101" pitchFamily="2" charset="-122"/>
              </a:rPr>
              <a:t>这种模式使用中不是很普遍。</a:t>
            </a:r>
            <a:endParaRPr lang="zh-CN" altLang="en-US" dirty="0"/>
          </a:p>
          <a:p>
            <a:endParaRPr lang="zh-CN" altLang="en-US" dirty="0"/>
          </a:p>
        </p:txBody>
      </p:sp>
    </p:spTree>
    <p:extLst>
      <p:ext uri="{BB962C8B-B14F-4D97-AF65-F5344CB8AC3E}">
        <p14:creationId xmlns:p14="http://schemas.microsoft.com/office/powerpoint/2010/main" val="2586640439"/>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61261" y="744277"/>
            <a:ext cx="8893175" cy="5432425"/>
            <a:chOff x="250825" y="908050"/>
            <a:chExt cx="8893175" cy="5432425"/>
          </a:xfrm>
        </p:grpSpPr>
        <p:sp>
          <p:nvSpPr>
            <p:cNvPr id="5" name="Line 3"/>
            <p:cNvSpPr>
              <a:spLocks noChangeShapeType="1"/>
            </p:cNvSpPr>
            <p:nvPr/>
          </p:nvSpPr>
          <p:spPr bwMode="auto">
            <a:xfrm>
              <a:off x="468313" y="3867150"/>
              <a:ext cx="8064500" cy="0"/>
            </a:xfrm>
            <a:prstGeom prst="line">
              <a:avLst/>
            </a:prstGeom>
            <a:noFill/>
            <a:ln w="38100">
              <a:solidFill>
                <a:schemeClr val="tx1"/>
              </a:solidFill>
              <a:prstDash val="lg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Text Box 4"/>
            <p:cNvSpPr txBox="1">
              <a:spLocks noChangeArrowheads="1"/>
            </p:cNvSpPr>
            <p:nvPr/>
          </p:nvSpPr>
          <p:spPr bwMode="auto">
            <a:xfrm>
              <a:off x="755650" y="5019675"/>
              <a:ext cx="1079500" cy="13208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FF"/>
                  </a:solidFill>
                </a:rPr>
                <a:t>套接字缓冲区中没有数据</a:t>
              </a:r>
            </a:p>
          </p:txBody>
        </p:sp>
        <p:sp>
          <p:nvSpPr>
            <p:cNvPr id="7" name="Text Box 5"/>
            <p:cNvSpPr txBox="1">
              <a:spLocks noChangeArrowheads="1"/>
            </p:cNvSpPr>
            <p:nvPr/>
          </p:nvSpPr>
          <p:spPr bwMode="auto">
            <a:xfrm>
              <a:off x="2987675" y="5019675"/>
              <a:ext cx="1079500" cy="13208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FF"/>
                  </a:solidFill>
                </a:rPr>
                <a:t>套接字缓冲区中没有数据</a:t>
              </a:r>
            </a:p>
          </p:txBody>
        </p:sp>
        <p:sp>
          <p:nvSpPr>
            <p:cNvPr id="8" name="Text Box 6"/>
            <p:cNvSpPr txBox="1">
              <a:spLocks noChangeArrowheads="1"/>
            </p:cNvSpPr>
            <p:nvPr/>
          </p:nvSpPr>
          <p:spPr bwMode="auto">
            <a:xfrm>
              <a:off x="4645025" y="5235575"/>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a:solidFill>
                    <a:srgbClr val="0000FF"/>
                  </a:solidFill>
                </a:rPr>
                <a:t>……</a:t>
              </a:r>
            </a:p>
          </p:txBody>
        </p:sp>
        <p:sp>
          <p:nvSpPr>
            <p:cNvPr id="9" name="Text Box 7"/>
            <p:cNvSpPr txBox="1">
              <a:spLocks noChangeArrowheads="1"/>
            </p:cNvSpPr>
            <p:nvPr/>
          </p:nvSpPr>
          <p:spPr bwMode="auto">
            <a:xfrm>
              <a:off x="6443663" y="5019675"/>
              <a:ext cx="1584325" cy="13208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FF"/>
                  </a:solidFill>
                </a:rPr>
                <a:t>套接字缓冲区中数据到达，进行数据复制</a:t>
              </a:r>
            </a:p>
          </p:txBody>
        </p:sp>
        <p:sp>
          <p:nvSpPr>
            <p:cNvPr id="10" name="Text Box 8"/>
            <p:cNvSpPr txBox="1">
              <a:spLocks noChangeArrowheads="1"/>
            </p:cNvSpPr>
            <p:nvPr/>
          </p:nvSpPr>
          <p:spPr bwMode="auto">
            <a:xfrm>
              <a:off x="7885113" y="3074988"/>
              <a:ext cx="1258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t>用户态</a:t>
              </a:r>
            </a:p>
          </p:txBody>
        </p:sp>
        <p:sp>
          <p:nvSpPr>
            <p:cNvPr id="11" name="Text Box 9"/>
            <p:cNvSpPr txBox="1">
              <a:spLocks noChangeArrowheads="1"/>
            </p:cNvSpPr>
            <p:nvPr/>
          </p:nvSpPr>
          <p:spPr bwMode="auto">
            <a:xfrm>
              <a:off x="7885113" y="4011613"/>
              <a:ext cx="1258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t>核心态</a:t>
              </a:r>
            </a:p>
          </p:txBody>
        </p:sp>
        <p:sp>
          <p:nvSpPr>
            <p:cNvPr id="12" name="Text Box 10"/>
            <p:cNvSpPr txBox="1">
              <a:spLocks noChangeArrowheads="1"/>
            </p:cNvSpPr>
            <p:nvPr/>
          </p:nvSpPr>
          <p:spPr bwMode="auto">
            <a:xfrm>
              <a:off x="250825" y="2211388"/>
              <a:ext cx="8651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read</a:t>
              </a:r>
            </a:p>
          </p:txBody>
        </p:sp>
        <p:sp>
          <p:nvSpPr>
            <p:cNvPr id="13" name="Text Box 11"/>
            <p:cNvSpPr txBox="1">
              <a:spLocks noChangeArrowheads="1"/>
            </p:cNvSpPr>
            <p:nvPr/>
          </p:nvSpPr>
          <p:spPr bwMode="auto">
            <a:xfrm>
              <a:off x="1116013" y="1274763"/>
              <a:ext cx="1512887"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t>read </a:t>
              </a:r>
              <a:r>
                <a:rPr lang="zh-CN" altLang="en-US" sz="2000"/>
                <a:t>返回</a:t>
              </a:r>
            </a:p>
          </p:txBody>
        </p:sp>
        <p:sp>
          <p:nvSpPr>
            <p:cNvPr id="14" name="Text Box 12"/>
            <p:cNvSpPr txBox="1">
              <a:spLocks noChangeArrowheads="1"/>
            </p:cNvSpPr>
            <p:nvPr/>
          </p:nvSpPr>
          <p:spPr bwMode="auto">
            <a:xfrm>
              <a:off x="2482850" y="2211388"/>
              <a:ext cx="8651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read</a:t>
              </a:r>
            </a:p>
          </p:txBody>
        </p:sp>
        <p:sp>
          <p:nvSpPr>
            <p:cNvPr id="15" name="Text Box 13"/>
            <p:cNvSpPr txBox="1">
              <a:spLocks noChangeArrowheads="1"/>
            </p:cNvSpPr>
            <p:nvPr/>
          </p:nvSpPr>
          <p:spPr bwMode="auto">
            <a:xfrm>
              <a:off x="6083300" y="2211388"/>
              <a:ext cx="8651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read</a:t>
              </a:r>
            </a:p>
          </p:txBody>
        </p:sp>
        <p:sp>
          <p:nvSpPr>
            <p:cNvPr id="16" name="Text Box 14"/>
            <p:cNvSpPr txBox="1">
              <a:spLocks noChangeArrowheads="1"/>
            </p:cNvSpPr>
            <p:nvPr/>
          </p:nvSpPr>
          <p:spPr bwMode="auto">
            <a:xfrm>
              <a:off x="3346450" y="1274763"/>
              <a:ext cx="15128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t>read </a:t>
              </a:r>
              <a:r>
                <a:rPr lang="zh-CN" altLang="en-US" sz="2000"/>
                <a:t>返回</a:t>
              </a:r>
            </a:p>
          </p:txBody>
        </p:sp>
        <p:sp>
          <p:nvSpPr>
            <p:cNvPr id="17" name="Text Box 15"/>
            <p:cNvSpPr txBox="1">
              <a:spLocks noChangeArrowheads="1"/>
            </p:cNvSpPr>
            <p:nvPr/>
          </p:nvSpPr>
          <p:spPr bwMode="auto">
            <a:xfrm>
              <a:off x="6946900" y="1274763"/>
              <a:ext cx="15128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t>read </a:t>
              </a:r>
              <a:r>
                <a:rPr lang="zh-CN" altLang="en-US" sz="2000"/>
                <a:t>返回</a:t>
              </a:r>
            </a:p>
          </p:txBody>
        </p:sp>
        <p:sp>
          <p:nvSpPr>
            <p:cNvPr id="18" name="Text Box 16"/>
            <p:cNvSpPr txBox="1">
              <a:spLocks noChangeArrowheads="1"/>
            </p:cNvSpPr>
            <p:nvPr/>
          </p:nvSpPr>
          <p:spPr bwMode="auto">
            <a:xfrm>
              <a:off x="3995738" y="2932113"/>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chemeClr val="hlink"/>
                  </a:solidFill>
                </a:rPr>
                <a:t>多次调用</a:t>
              </a:r>
              <a:r>
                <a:rPr lang="en-US" altLang="zh-CN" sz="2400" b="1">
                  <a:solidFill>
                    <a:schemeClr val="hlink"/>
                  </a:solidFill>
                </a:rPr>
                <a:t>read</a:t>
              </a:r>
            </a:p>
          </p:txBody>
        </p:sp>
        <p:sp>
          <p:nvSpPr>
            <p:cNvPr id="19" name="Line 17"/>
            <p:cNvSpPr>
              <a:spLocks noChangeShapeType="1"/>
            </p:cNvSpPr>
            <p:nvPr/>
          </p:nvSpPr>
          <p:spPr bwMode="auto">
            <a:xfrm>
              <a:off x="539750" y="2714625"/>
              <a:ext cx="576263" cy="2305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8"/>
            <p:cNvSpPr>
              <a:spLocks noChangeShapeType="1"/>
            </p:cNvSpPr>
            <p:nvPr/>
          </p:nvSpPr>
          <p:spPr bwMode="auto">
            <a:xfrm flipV="1">
              <a:off x="1403350" y="1779588"/>
              <a:ext cx="431800" cy="3240087"/>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9"/>
            <p:cNvSpPr>
              <a:spLocks noChangeShapeType="1"/>
            </p:cNvSpPr>
            <p:nvPr/>
          </p:nvSpPr>
          <p:spPr bwMode="auto">
            <a:xfrm>
              <a:off x="2843213" y="2643188"/>
              <a:ext cx="433387" cy="237648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0"/>
            <p:cNvSpPr>
              <a:spLocks noChangeShapeType="1"/>
            </p:cNvSpPr>
            <p:nvPr/>
          </p:nvSpPr>
          <p:spPr bwMode="auto">
            <a:xfrm flipV="1">
              <a:off x="3563938" y="1706563"/>
              <a:ext cx="431800" cy="3313112"/>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1"/>
            <p:cNvSpPr>
              <a:spLocks noChangeShapeType="1"/>
            </p:cNvSpPr>
            <p:nvPr/>
          </p:nvSpPr>
          <p:spPr bwMode="auto">
            <a:xfrm>
              <a:off x="6588125" y="2714625"/>
              <a:ext cx="360363" cy="2305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2"/>
            <p:cNvSpPr>
              <a:spLocks noChangeShapeType="1"/>
            </p:cNvSpPr>
            <p:nvPr/>
          </p:nvSpPr>
          <p:spPr bwMode="auto">
            <a:xfrm flipV="1">
              <a:off x="7308850" y="1706563"/>
              <a:ext cx="358775" cy="3313112"/>
            </a:xfrm>
            <a:prstGeom prst="line">
              <a:avLst/>
            </a:prstGeom>
            <a:noFill/>
            <a:ln w="9525">
              <a:solidFill>
                <a:srgbClr val="00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3"/>
            <p:cNvSpPr txBox="1">
              <a:spLocks noChangeArrowheads="1"/>
            </p:cNvSpPr>
            <p:nvPr/>
          </p:nvSpPr>
          <p:spPr bwMode="auto">
            <a:xfrm>
              <a:off x="971550" y="908050"/>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1">
                  <a:solidFill>
                    <a:srgbClr val="FF3300"/>
                  </a:solidFill>
                </a:rPr>
                <a:t>EWOULDBLOCK</a:t>
              </a:r>
            </a:p>
          </p:txBody>
        </p:sp>
        <p:sp>
          <p:nvSpPr>
            <p:cNvPr id="26" name="Text Box 24"/>
            <p:cNvSpPr txBox="1">
              <a:spLocks noChangeArrowheads="1"/>
            </p:cNvSpPr>
            <p:nvPr/>
          </p:nvSpPr>
          <p:spPr bwMode="auto">
            <a:xfrm>
              <a:off x="3203575" y="915988"/>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1">
                  <a:solidFill>
                    <a:srgbClr val="FF3300"/>
                  </a:solidFill>
                </a:rPr>
                <a:t>EWOULDBLOCK</a:t>
              </a:r>
            </a:p>
          </p:txBody>
        </p:sp>
        <p:sp>
          <p:nvSpPr>
            <p:cNvPr id="27" name="Text Box 25"/>
            <p:cNvSpPr txBox="1">
              <a:spLocks noChangeArrowheads="1"/>
            </p:cNvSpPr>
            <p:nvPr/>
          </p:nvSpPr>
          <p:spPr bwMode="auto">
            <a:xfrm>
              <a:off x="7091363" y="915988"/>
              <a:ext cx="13684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solidFill>
                    <a:srgbClr val="00FF00"/>
                  </a:solidFill>
                </a:rPr>
                <a:t>读到数据 </a:t>
              </a:r>
            </a:p>
          </p:txBody>
        </p:sp>
      </p:grpSp>
    </p:spTree>
    <p:extLst>
      <p:ext uri="{BB962C8B-B14F-4D97-AF65-F5344CB8AC3E}">
        <p14:creationId xmlns:p14="http://schemas.microsoft.com/office/powerpoint/2010/main" val="2490720337"/>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隶书" panose="02010509060101010101" pitchFamily="49" charset="-122"/>
              </a:rPr>
              <a:t>非阻塞模式的实现</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b="0" dirty="0" err="1" smtClean="0">
                <a:latin typeface="黑体,Bold" charset="-122"/>
                <a:ea typeface="黑体,Bold" charset="-122"/>
              </a:rPr>
              <a:t>fcntl</a:t>
            </a:r>
            <a:r>
              <a:rPr lang="en-US" altLang="zh-CN" b="0" dirty="0" smtClean="0">
                <a:latin typeface="黑体,Bold" charset="-122"/>
                <a:ea typeface="黑体,Bold" charset="-122"/>
              </a:rPr>
              <a:t>()</a:t>
            </a:r>
            <a:r>
              <a:rPr lang="zh-CN" altLang="en-US" b="0" dirty="0" smtClean="0">
                <a:latin typeface="黑体,Bold" charset="-122"/>
                <a:ea typeface="黑体,Bold" charset="-122"/>
              </a:rPr>
              <a:t>函数</a:t>
            </a:r>
            <a:endParaRPr lang="zh-CN" altLang="en-US" dirty="0" smtClean="0">
              <a:latin typeface="Times New Roman" panose="02020603050405020304" pitchFamily="18" charset="0"/>
            </a:endParaRPr>
          </a:p>
          <a:p>
            <a:pPr lvl="1"/>
            <a:r>
              <a:rPr lang="zh-CN" altLang="en-US" dirty="0" smtClean="0">
                <a:latin typeface="宋体" panose="02010600030101010101" pitchFamily="2" charset="-122"/>
              </a:rPr>
              <a:t>当你一开始建立一个套接字描述符的时候，系统内核就被设置为阻塞状态。</a:t>
            </a:r>
          </a:p>
          <a:p>
            <a:pPr lvl="1"/>
            <a:r>
              <a:rPr lang="zh-CN" altLang="en-US" dirty="0" smtClean="0">
                <a:latin typeface="宋体" panose="02010600030101010101" pitchFamily="2" charset="-122"/>
              </a:rPr>
              <a:t>如果你不想你的套接字描述符是处于阻塞状态的，那么你可以使用函数</a:t>
            </a:r>
            <a:r>
              <a:rPr lang="en-US" altLang="zh-CN" dirty="0" err="1" smtClean="0">
                <a:latin typeface="Times New Roman" panose="02020603050405020304" pitchFamily="18" charset="0"/>
              </a:rPr>
              <a:t>fcntl</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设置一个套接字的标志为</a:t>
            </a:r>
            <a:r>
              <a:rPr lang="en-US" altLang="zh-CN" dirty="0" smtClean="0">
                <a:latin typeface="Times New Roman" panose="02020603050405020304" pitchFamily="18" charset="0"/>
              </a:rPr>
              <a:t>O_NONBLOCK</a:t>
            </a:r>
            <a:r>
              <a:rPr lang="zh-CN" altLang="en-US" dirty="0" smtClean="0">
                <a:latin typeface="Times New Roman" panose="02020603050405020304" pitchFamily="18" charset="0"/>
              </a:rPr>
              <a:t>来实现非阻塞</a:t>
            </a:r>
            <a:r>
              <a:rPr lang="zh-CN" altLang="en-US" dirty="0" smtClean="0">
                <a:latin typeface="宋体" panose="02010600030101010101" pitchFamily="2" charset="-122"/>
              </a:rPr>
              <a:t>。</a:t>
            </a:r>
          </a:p>
          <a:p>
            <a:pPr lvl="1"/>
            <a:r>
              <a:rPr lang="en-US" altLang="zh-CN" dirty="0" err="1" smtClean="0">
                <a:latin typeface="Times New Roman" panose="02020603050405020304" pitchFamily="18" charset="0"/>
              </a:rPr>
              <a:t>fcntl</a:t>
            </a:r>
            <a:r>
              <a:rPr lang="en-US" altLang="zh-CN" dirty="0" smtClean="0">
                <a:latin typeface="Times New Roman" panose="02020603050405020304" pitchFamily="18" charset="0"/>
              </a:rPr>
              <a:t>()</a:t>
            </a:r>
            <a:r>
              <a:rPr lang="zh-CN" altLang="en-US" dirty="0" smtClean="0">
                <a:latin typeface="宋体" panose="02010600030101010101" pitchFamily="2" charset="-122"/>
              </a:rPr>
              <a:t>函数声明如下：</a:t>
            </a:r>
            <a:br>
              <a:rPr lang="zh-CN" altLang="en-US" dirty="0" smtClean="0">
                <a:latin typeface="宋体" panose="02010600030101010101" pitchFamily="2" charset="-122"/>
              </a:rPr>
            </a:br>
            <a:r>
              <a:rPr lang="en-US" altLang="zh-CN" dirty="0" smtClean="0">
                <a:latin typeface="Times New Roman" panose="02020603050405020304" pitchFamily="18" charset="0"/>
              </a:rPr>
              <a:t>#include &lt;</a:t>
            </a:r>
            <a:r>
              <a:rPr lang="en-US" altLang="zh-CN" dirty="0" err="1" smtClean="0">
                <a:latin typeface="Times New Roman" panose="02020603050405020304" pitchFamily="18" charset="0"/>
              </a:rPr>
              <a:t>unistd.h</a:t>
            </a:r>
            <a:r>
              <a:rPr lang="en-US" altLang="zh-CN" dirty="0" smtClean="0">
                <a:latin typeface="Times New Roman" panose="02020603050405020304" pitchFamily="18" charset="0"/>
              </a:rPr>
              <a:t>&gt;</a:t>
            </a:r>
            <a:br>
              <a:rPr lang="en-US" altLang="zh-CN" dirty="0" smtClean="0">
                <a:latin typeface="Times New Roman" panose="02020603050405020304" pitchFamily="18" charset="0"/>
              </a:rPr>
            </a:br>
            <a:r>
              <a:rPr lang="en-US" altLang="zh-CN" dirty="0" smtClean="0">
                <a:latin typeface="Times New Roman" panose="02020603050405020304" pitchFamily="18" charset="0"/>
              </a:rPr>
              <a:t>#include &lt;</a:t>
            </a:r>
            <a:r>
              <a:rPr lang="en-US" altLang="zh-CN" dirty="0" err="1" smtClean="0">
                <a:latin typeface="Times New Roman" panose="02020603050405020304" pitchFamily="18" charset="0"/>
              </a:rPr>
              <a:t>fcntl.h</a:t>
            </a:r>
            <a:r>
              <a:rPr lang="en-US" altLang="zh-CN" dirty="0" smtClean="0">
                <a:latin typeface="Times New Roman" panose="02020603050405020304" pitchFamily="18" charset="0"/>
              </a:rPr>
              <a:t>&gt;</a:t>
            </a:r>
            <a:br>
              <a:rPr lang="en-US" altLang="zh-CN" dirty="0" smtClean="0">
                <a:latin typeface="Times New Roman" panose="02020603050405020304" pitchFamily="18" charset="0"/>
              </a:rPr>
            </a:b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fcntl</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fd</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int</a:t>
            </a:r>
            <a:r>
              <a:rPr lang="en-US" altLang="zh-CN" dirty="0" smtClean="0">
                <a:latin typeface="Times New Roman" panose="02020603050405020304" pitchFamily="18" charset="0"/>
              </a:rPr>
              <a:t> </a:t>
            </a:r>
            <a:r>
              <a:rPr lang="en-US" altLang="zh-CN" dirty="0" err="1" smtClean="0">
                <a:latin typeface="Times New Roman" panose="02020603050405020304" pitchFamily="18" charset="0"/>
              </a:rPr>
              <a:t>cmd</a:t>
            </a:r>
            <a:r>
              <a:rPr lang="en-US" altLang="zh-CN" dirty="0" smtClean="0">
                <a:latin typeface="Times New Roman" panose="02020603050405020304" pitchFamily="18" charset="0"/>
              </a:rPr>
              <a:t>, long </a:t>
            </a:r>
            <a:r>
              <a:rPr lang="en-US" altLang="zh-CN" dirty="0" err="1" smtClean="0">
                <a:latin typeface="Times New Roman" panose="02020603050405020304" pitchFamily="18" charset="0"/>
              </a:rPr>
              <a:t>arg</a:t>
            </a:r>
            <a:r>
              <a:rPr lang="zh-CN" altLang="en-US" dirty="0" smtClean="0">
                <a:latin typeface="宋体" panose="02010600030101010101" pitchFamily="2" charset="-122"/>
              </a:rPr>
              <a:t>）</a:t>
            </a:r>
            <a:r>
              <a:rPr lang="en-US" altLang="zh-CN" dirty="0" smtClean="0">
                <a:latin typeface="Times New Roman" panose="02020603050405020304" pitchFamily="18" charset="0"/>
              </a:rPr>
              <a:t>;(P141)</a:t>
            </a:r>
            <a:endParaRPr lang="en-US" altLang="zh-CN" dirty="0" smtClean="0"/>
          </a:p>
          <a:p>
            <a:r>
              <a:rPr lang="zh-CN" altLang="en-US" dirty="0" smtClean="0"/>
              <a:t>可以通过下列操作来完成整个过程：</a:t>
            </a:r>
          </a:p>
          <a:p>
            <a:pPr lvl="1">
              <a:buNone/>
            </a:pPr>
            <a:r>
              <a:rPr lang="en-US" altLang="zh-CN" dirty="0" err="1" smtClean="0"/>
              <a:t>int</a:t>
            </a:r>
            <a:r>
              <a:rPr lang="en-US" altLang="zh-CN" dirty="0" smtClean="0"/>
              <a:t> flag</a:t>
            </a:r>
          </a:p>
          <a:p>
            <a:pPr lvl="1">
              <a:buNone/>
            </a:pPr>
            <a:r>
              <a:rPr lang="en-US" altLang="zh-CN" dirty="0" smtClean="0"/>
              <a:t>flag = </a:t>
            </a:r>
            <a:r>
              <a:rPr lang="en-US" altLang="zh-CN" dirty="0" err="1" smtClean="0"/>
              <a:t>fcntl</a:t>
            </a:r>
            <a:r>
              <a:rPr lang="en-US" altLang="zh-CN" dirty="0" smtClean="0"/>
              <a:t>(</a:t>
            </a:r>
            <a:r>
              <a:rPr lang="en-US" altLang="zh-CN" dirty="0" err="1" smtClean="0"/>
              <a:t>sockfd</a:t>
            </a:r>
            <a:r>
              <a:rPr lang="en-US" altLang="zh-CN" dirty="0" smtClean="0"/>
              <a:t>, F_GETFL, 0);</a:t>
            </a:r>
          </a:p>
          <a:p>
            <a:pPr lvl="1">
              <a:buNone/>
            </a:pPr>
            <a:r>
              <a:rPr lang="en-US" altLang="zh-CN" dirty="0" smtClean="0"/>
              <a:t>flag |=O_NONBLOCK;</a:t>
            </a:r>
          </a:p>
          <a:p>
            <a:pPr lvl="1">
              <a:buNone/>
            </a:pPr>
            <a:r>
              <a:rPr lang="en-US" altLang="zh-CN" dirty="0" err="1" smtClean="0"/>
              <a:t>fcntl</a:t>
            </a:r>
            <a:r>
              <a:rPr lang="en-US" altLang="zh-CN" dirty="0" smtClean="0"/>
              <a:t>(</a:t>
            </a:r>
            <a:r>
              <a:rPr lang="en-US" altLang="zh-CN" dirty="0" err="1" smtClean="0"/>
              <a:t>sockfd</a:t>
            </a:r>
            <a:r>
              <a:rPr lang="en-US" altLang="zh-CN" dirty="0" smtClean="0"/>
              <a:t>, F_SETFL, flag);</a:t>
            </a:r>
          </a:p>
          <a:p>
            <a:endParaRPr lang="zh-CN" altLang="en-US" dirty="0" smtClean="0"/>
          </a:p>
          <a:p>
            <a:endParaRPr lang="zh-CN" altLang="en-US" dirty="0"/>
          </a:p>
        </p:txBody>
      </p:sp>
    </p:spTree>
    <p:extLst>
      <p:ext uri="{BB962C8B-B14F-4D97-AF65-F5344CB8AC3E}">
        <p14:creationId xmlns:p14="http://schemas.microsoft.com/office/powerpoint/2010/main" val="3784992056"/>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非阻塞式</a:t>
            </a:r>
            <a:r>
              <a:rPr lang="en-US" altLang="zh-CN" dirty="0" smtClean="0"/>
              <a:t>I/O</a:t>
            </a:r>
            <a:r>
              <a:rPr lang="zh-CN" altLang="en-US" dirty="0" smtClean="0"/>
              <a:t>的实例</a:t>
            </a:r>
            <a:endParaRPr lang="zh-CN" altLang="en-US" dirty="0"/>
          </a:p>
        </p:txBody>
      </p:sp>
      <p:sp>
        <p:nvSpPr>
          <p:cNvPr id="3" name="内容占位符 2"/>
          <p:cNvSpPr>
            <a:spLocks noGrp="1"/>
          </p:cNvSpPr>
          <p:nvPr>
            <p:ph idx="1"/>
          </p:nvPr>
        </p:nvSpPr>
        <p:spPr>
          <a:xfrm>
            <a:off x="58723" y="1544656"/>
            <a:ext cx="6067567" cy="4351338"/>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pPr lvl="1">
              <a:buNone/>
            </a:pPr>
            <a:r>
              <a:rPr lang="en-US" altLang="zh-CN" dirty="0"/>
              <a:t>#include &lt;sys/</a:t>
            </a:r>
            <a:r>
              <a:rPr lang="en-US" altLang="zh-CN" dirty="0" err="1"/>
              <a:t>socket.h</a:t>
            </a:r>
            <a:r>
              <a:rPr lang="en-US" altLang="zh-CN" dirty="0"/>
              <a:t>&gt;</a:t>
            </a:r>
          </a:p>
          <a:p>
            <a:pPr lvl="1">
              <a:buNone/>
            </a:pPr>
            <a:r>
              <a:rPr lang="en-US" altLang="zh-CN" dirty="0"/>
              <a:t>#include &lt;</a:t>
            </a:r>
            <a:r>
              <a:rPr lang="en-US" altLang="zh-CN" dirty="0" err="1"/>
              <a:t>netinet</a:t>
            </a:r>
            <a:r>
              <a:rPr lang="en-US" altLang="zh-CN" dirty="0"/>
              <a:t>/</a:t>
            </a:r>
            <a:r>
              <a:rPr lang="en-US" altLang="zh-CN" dirty="0" err="1"/>
              <a:t>in.h</a:t>
            </a:r>
            <a:r>
              <a:rPr lang="en-US" altLang="zh-CN" dirty="0"/>
              <a:t>&gt;</a:t>
            </a:r>
          </a:p>
          <a:p>
            <a:pPr lvl="1">
              <a:buNone/>
            </a:pPr>
            <a:r>
              <a:rPr lang="en-US" altLang="zh-CN" dirty="0"/>
              <a:t>#include &lt;</a:t>
            </a:r>
            <a:r>
              <a:rPr lang="en-US" altLang="zh-CN" dirty="0" err="1"/>
              <a:t>string.h</a:t>
            </a:r>
            <a:r>
              <a:rPr lang="en-US" altLang="zh-CN" dirty="0"/>
              <a:t>&gt;</a:t>
            </a:r>
          </a:p>
          <a:p>
            <a:pPr lvl="1">
              <a:buNone/>
            </a:pPr>
            <a:r>
              <a:rPr lang="en-US" altLang="zh-CN" dirty="0"/>
              <a:t>#include &lt;</a:t>
            </a:r>
            <a:r>
              <a:rPr lang="en-US" altLang="zh-CN" dirty="0" err="1"/>
              <a:t>stdio.h</a:t>
            </a:r>
            <a:r>
              <a:rPr lang="en-US" altLang="zh-CN" dirty="0"/>
              <a:t>&gt;</a:t>
            </a:r>
          </a:p>
          <a:p>
            <a:pPr lvl="1">
              <a:buNone/>
            </a:pPr>
            <a:r>
              <a:rPr lang="en-US" altLang="zh-CN" dirty="0"/>
              <a:t>#include &lt;</a:t>
            </a:r>
            <a:r>
              <a:rPr lang="en-US" altLang="zh-CN" dirty="0" err="1"/>
              <a:t>errno.h</a:t>
            </a:r>
            <a:r>
              <a:rPr lang="en-US" altLang="zh-CN" dirty="0"/>
              <a:t>&gt;</a:t>
            </a:r>
          </a:p>
          <a:p>
            <a:pPr lvl="1">
              <a:buNone/>
            </a:pPr>
            <a:r>
              <a:rPr lang="en-US" altLang="zh-CN" dirty="0"/>
              <a:t>#define SERVE_PORT 8003</a:t>
            </a:r>
          </a:p>
          <a:p>
            <a:pPr lvl="1">
              <a:buNone/>
            </a:pPr>
            <a:r>
              <a:rPr lang="en-US" altLang="zh-CN" dirty="0" err="1"/>
              <a:t>int</a:t>
            </a:r>
            <a:r>
              <a:rPr lang="en-US" altLang="zh-CN" dirty="0"/>
              <a:t> main(</a:t>
            </a:r>
            <a:r>
              <a:rPr lang="en-US" altLang="zh-CN" dirty="0" err="1"/>
              <a:t>int</a:t>
            </a:r>
            <a:r>
              <a:rPr lang="en-US" altLang="zh-CN" dirty="0"/>
              <a:t> </a:t>
            </a:r>
            <a:r>
              <a:rPr lang="en-US" altLang="zh-CN" dirty="0" err="1"/>
              <a:t>argc,char</a:t>
            </a:r>
            <a:r>
              <a:rPr lang="en-US" altLang="zh-CN" dirty="0"/>
              <a:t> **</a:t>
            </a:r>
            <a:r>
              <a:rPr lang="en-US" altLang="zh-CN" dirty="0" err="1"/>
              <a:t>argv</a:t>
            </a:r>
            <a:r>
              <a:rPr lang="en-US" altLang="zh-CN" dirty="0"/>
              <a:t>)</a:t>
            </a:r>
          </a:p>
          <a:p>
            <a:pPr lvl="1">
              <a:buNone/>
            </a:pPr>
            <a:r>
              <a:rPr lang="en-US" altLang="zh-CN" dirty="0"/>
              <a:t>{</a:t>
            </a:r>
          </a:p>
          <a:p>
            <a:pPr lvl="1">
              <a:buNone/>
            </a:pPr>
            <a:r>
              <a:rPr lang="en-US" altLang="zh-CN" dirty="0"/>
              <a:t>        </a:t>
            </a:r>
            <a:r>
              <a:rPr lang="en-US" altLang="zh-CN" dirty="0" err="1"/>
              <a:t>int</a:t>
            </a:r>
            <a:r>
              <a:rPr lang="en-US" altLang="zh-CN" dirty="0"/>
              <a:t> sockfd1,sockfd2;</a:t>
            </a:r>
          </a:p>
          <a:p>
            <a:pPr lvl="1">
              <a:buNone/>
            </a:pPr>
            <a:r>
              <a:rPr lang="en-US" altLang="zh-CN" dirty="0"/>
              <a:t>        </a:t>
            </a:r>
            <a:r>
              <a:rPr lang="en-US" altLang="zh-CN" dirty="0" err="1"/>
              <a:t>int</a:t>
            </a:r>
            <a:r>
              <a:rPr lang="en-US" altLang="zh-CN" dirty="0"/>
              <a:t> </a:t>
            </a:r>
            <a:r>
              <a:rPr lang="en-US" altLang="zh-CN" dirty="0" err="1"/>
              <a:t>conn_flag</a:t>
            </a:r>
            <a:r>
              <a:rPr lang="en-US" altLang="zh-CN" dirty="0"/>
              <a:t>;</a:t>
            </a:r>
          </a:p>
          <a:p>
            <a:pPr lvl="1">
              <a:buNone/>
            </a:pPr>
            <a:r>
              <a:rPr lang="en-US" altLang="zh-CN" dirty="0"/>
              <a:t>        </a:t>
            </a:r>
            <a:r>
              <a:rPr lang="en-US" altLang="zh-CN" dirty="0" err="1"/>
              <a:t>int</a:t>
            </a:r>
            <a:r>
              <a:rPr lang="en-US" altLang="zh-CN" dirty="0"/>
              <a:t> </a:t>
            </a:r>
            <a:r>
              <a:rPr lang="en-US" altLang="zh-CN" dirty="0" err="1"/>
              <a:t>num_bytes</a:t>
            </a:r>
            <a:r>
              <a:rPr lang="en-US" altLang="zh-CN" dirty="0"/>
              <a:t>;</a:t>
            </a:r>
          </a:p>
          <a:p>
            <a:pPr lvl="1">
              <a:buNone/>
            </a:pPr>
            <a:r>
              <a:rPr lang="en-US" altLang="zh-CN" dirty="0"/>
              <a:t>        char buffer[512];</a:t>
            </a:r>
          </a:p>
          <a:p>
            <a:pPr lvl="1">
              <a:buNone/>
            </a:pPr>
            <a:r>
              <a:rPr lang="en-US" altLang="zh-CN" dirty="0"/>
              <a:t>        </a:t>
            </a:r>
            <a:r>
              <a:rPr lang="en-US" altLang="zh-CN" dirty="0" err="1"/>
              <a:t>struct</a:t>
            </a:r>
            <a:r>
              <a:rPr lang="en-US" altLang="zh-CN" dirty="0"/>
              <a:t> </a:t>
            </a:r>
            <a:r>
              <a:rPr lang="en-US" altLang="zh-CN" dirty="0" err="1"/>
              <a:t>sockaddr_in</a:t>
            </a:r>
            <a:r>
              <a:rPr lang="en-US" altLang="zh-CN" dirty="0"/>
              <a:t> serv_addr1,serv_addr2;</a:t>
            </a:r>
          </a:p>
          <a:p>
            <a:pPr marL="0" indent="0">
              <a:buNone/>
            </a:pPr>
            <a:endParaRPr lang="zh-CN" altLang="en-US" dirty="0"/>
          </a:p>
        </p:txBody>
      </p:sp>
      <p:sp>
        <p:nvSpPr>
          <p:cNvPr id="4" name="矩形 3"/>
          <p:cNvSpPr/>
          <p:nvPr/>
        </p:nvSpPr>
        <p:spPr>
          <a:xfrm>
            <a:off x="5787195" y="1259431"/>
            <a:ext cx="6096000" cy="344402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nSpc>
                <a:spcPct val="90000"/>
              </a:lnSpc>
            </a:pPr>
            <a:r>
              <a:rPr lang="en-US" altLang="zh-CN" sz="2200" dirty="0" smtClean="0"/>
              <a:t>sockfd1=socket(AF_INET,SOCK_STREAM,0);</a:t>
            </a:r>
          </a:p>
          <a:p>
            <a:pPr>
              <a:lnSpc>
                <a:spcPct val="90000"/>
              </a:lnSpc>
            </a:pPr>
            <a:r>
              <a:rPr lang="en-US" altLang="zh-CN" sz="2200" dirty="0" smtClean="0"/>
              <a:t>   if(socfd1&lt;0);</a:t>
            </a:r>
          </a:p>
          <a:p>
            <a:pPr>
              <a:lnSpc>
                <a:spcPct val="9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,”socket error!\n”);</a:t>
            </a:r>
          </a:p>
          <a:p>
            <a:pPr>
              <a:lnSpc>
                <a:spcPct val="90000"/>
              </a:lnSpc>
            </a:pPr>
            <a:r>
              <a:rPr lang="en-US" altLang="zh-CN" sz="2200" dirty="0" smtClean="0"/>
              <a:t>          exit(1);</a:t>
            </a:r>
          </a:p>
          <a:p>
            <a:pPr>
              <a:lnSpc>
                <a:spcPct val="90000"/>
              </a:lnSpc>
            </a:pPr>
            <a:r>
              <a:rPr lang="en-US" altLang="zh-CN" sz="2200" dirty="0" smtClean="0"/>
              <a:t>   }</a:t>
            </a:r>
          </a:p>
          <a:p>
            <a:pPr>
              <a:lnSpc>
                <a:spcPct val="90000"/>
              </a:lnSpc>
            </a:pPr>
            <a:r>
              <a:rPr lang="en-US" altLang="zh-CN" sz="2200" dirty="0" smtClean="0"/>
              <a:t>   </a:t>
            </a:r>
          </a:p>
          <a:p>
            <a:pPr>
              <a:lnSpc>
                <a:spcPct val="90000"/>
              </a:lnSpc>
            </a:pPr>
            <a:r>
              <a:rPr lang="en-US" altLang="zh-CN" sz="2200" dirty="0" smtClean="0"/>
              <a:t>   sockfd2=socket(AF_INET,SOCK_STREAM,0);</a:t>
            </a:r>
          </a:p>
          <a:p>
            <a:pPr>
              <a:lnSpc>
                <a:spcPct val="90000"/>
              </a:lnSpc>
            </a:pPr>
            <a:r>
              <a:rPr lang="en-US" altLang="zh-CN" sz="2200" dirty="0" smtClean="0"/>
              <a:t>   if(socfd2&lt;0);</a:t>
            </a:r>
          </a:p>
          <a:p>
            <a:pPr>
              <a:lnSpc>
                <a:spcPct val="9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,”socket error!\n”);</a:t>
            </a:r>
          </a:p>
          <a:p>
            <a:pPr>
              <a:lnSpc>
                <a:spcPct val="90000"/>
              </a:lnSpc>
            </a:pPr>
            <a:r>
              <a:rPr lang="en-US" altLang="zh-CN" sz="2200" dirty="0" smtClean="0"/>
              <a:t>          exit(1);</a:t>
            </a:r>
          </a:p>
          <a:p>
            <a:pPr>
              <a:lnSpc>
                <a:spcPct val="90000"/>
              </a:lnSpc>
            </a:pPr>
            <a:r>
              <a:rPr lang="en-US" altLang="zh-CN" sz="2200" dirty="0" smtClean="0"/>
              <a:t>   }</a:t>
            </a:r>
          </a:p>
        </p:txBody>
      </p:sp>
    </p:spTree>
    <p:extLst>
      <p:ext uri="{BB962C8B-B14F-4D97-AF65-F5344CB8AC3E}">
        <p14:creationId xmlns:p14="http://schemas.microsoft.com/office/powerpoint/2010/main" val="1438809652"/>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75429" y="163773"/>
            <a:ext cx="7486934" cy="6414448"/>
          </a:xfrm>
        </p:spPr>
        <p:style>
          <a:lnRef idx="1">
            <a:schemeClr val="accent1"/>
          </a:lnRef>
          <a:fillRef idx="2">
            <a:schemeClr val="accent1"/>
          </a:fillRef>
          <a:effectRef idx="1">
            <a:schemeClr val="accent1"/>
          </a:effectRef>
          <a:fontRef idx="minor">
            <a:schemeClr val="dk1"/>
          </a:fontRef>
        </p:style>
        <p:txBody>
          <a:bodyPr>
            <a:noAutofit/>
          </a:bodyPr>
          <a:lstStyle/>
          <a:p>
            <a:pPr>
              <a:lnSpc>
                <a:spcPct val="80000"/>
              </a:lnSpc>
              <a:buNone/>
            </a:pPr>
            <a:r>
              <a:rPr lang="zh-CN" altLang="en-US" sz="2200" dirty="0" smtClean="0"/>
              <a:t> </a:t>
            </a:r>
            <a:r>
              <a:rPr lang="en-US" altLang="zh-CN" sz="2200" dirty="0" err="1" smtClean="0"/>
              <a:t>bxero</a:t>
            </a:r>
            <a:r>
              <a:rPr lang="en-US" altLang="zh-CN" sz="2200" dirty="0" smtClean="0"/>
              <a:t>(&amp;serv_addr1,sizeof(serv_addr1));</a:t>
            </a:r>
          </a:p>
          <a:p>
            <a:pPr>
              <a:lnSpc>
                <a:spcPct val="80000"/>
              </a:lnSpc>
              <a:buNone/>
            </a:pPr>
            <a:r>
              <a:rPr lang="en-US" altLang="zh-CN" sz="2200" dirty="0" smtClean="0"/>
              <a:t>   serv_addr1.sin_family=AF_INET;</a:t>
            </a:r>
          </a:p>
          <a:p>
            <a:pPr>
              <a:lnSpc>
                <a:spcPct val="80000"/>
              </a:lnSpc>
              <a:buNone/>
            </a:pPr>
            <a:r>
              <a:rPr lang="en-US" altLang="zh-CN" sz="2200" dirty="0" smtClean="0"/>
              <a:t>   erv_addr1.sin_port=</a:t>
            </a:r>
            <a:r>
              <a:rPr lang="en-US" altLang="zh-CN" sz="2200" dirty="0" err="1" smtClean="0"/>
              <a:t>htons</a:t>
            </a:r>
            <a:r>
              <a:rPr lang="en-US" altLang="zh-CN" sz="2200" dirty="0" smtClean="0"/>
              <a:t>(SERVE_PORT);</a:t>
            </a:r>
          </a:p>
          <a:p>
            <a:pPr>
              <a:lnSpc>
                <a:spcPct val="80000"/>
              </a:lnSpc>
              <a:buNone/>
            </a:pPr>
            <a:r>
              <a:rPr lang="en-US" altLang="zh-CN" sz="2200" dirty="0" smtClean="0"/>
              <a:t>   </a:t>
            </a:r>
            <a:r>
              <a:rPr lang="en-US" altLang="zh-CN" sz="2200" dirty="0" err="1" smtClean="0"/>
              <a:t>bxero</a:t>
            </a:r>
            <a:r>
              <a:rPr lang="en-US" altLang="zh-CN" sz="2200" dirty="0" smtClean="0"/>
              <a:t>(&amp;serv_addr2,sizeof(serv_addr1));</a:t>
            </a:r>
          </a:p>
          <a:p>
            <a:pPr>
              <a:lnSpc>
                <a:spcPct val="80000"/>
              </a:lnSpc>
              <a:buNone/>
            </a:pPr>
            <a:r>
              <a:rPr lang="en-US" altLang="zh-CN" sz="2200" dirty="0" smtClean="0"/>
              <a:t>   serv_addr2.sin_family=AF_INET;</a:t>
            </a:r>
          </a:p>
          <a:p>
            <a:pPr>
              <a:lnSpc>
                <a:spcPct val="80000"/>
              </a:lnSpc>
              <a:buNone/>
            </a:pPr>
            <a:r>
              <a:rPr lang="en-US" altLang="zh-CN" sz="2200" dirty="0" smtClean="0"/>
              <a:t>   erv_addr2.sin_port=</a:t>
            </a:r>
            <a:r>
              <a:rPr lang="en-US" altLang="zh-CN" sz="2200" dirty="0" err="1" smtClean="0"/>
              <a:t>htons</a:t>
            </a:r>
            <a:r>
              <a:rPr lang="en-US" altLang="zh-CN" sz="2200" dirty="0" smtClean="0"/>
              <a:t>(SERVE_PORT);</a:t>
            </a:r>
          </a:p>
          <a:p>
            <a:pPr>
              <a:lnSpc>
                <a:spcPct val="80000"/>
              </a:lnSpc>
              <a:buNone/>
            </a:pPr>
            <a:r>
              <a:rPr lang="en-US" altLang="zh-CN" sz="2200" dirty="0" smtClean="0"/>
              <a:t>   </a:t>
            </a:r>
          </a:p>
          <a:p>
            <a:pPr>
              <a:lnSpc>
                <a:spcPct val="80000"/>
              </a:lnSpc>
              <a:buNone/>
            </a:pPr>
            <a:r>
              <a:rPr lang="en-US" altLang="zh-CN" sz="2200" dirty="0" smtClean="0"/>
              <a:t>   </a:t>
            </a:r>
            <a:r>
              <a:rPr lang="en-US" altLang="zh-CN" sz="2200" dirty="0" err="1" smtClean="0"/>
              <a:t>conn_flag</a:t>
            </a:r>
            <a:r>
              <a:rPr lang="en-US" altLang="zh-CN" sz="2200" dirty="0" smtClean="0"/>
              <a:t>=</a:t>
            </a:r>
            <a:r>
              <a:rPr lang="en-US" altLang="zh-CN" sz="2200" dirty="0" err="1" smtClean="0"/>
              <a:t>connetct</a:t>
            </a:r>
            <a:r>
              <a:rPr lang="en-US" altLang="zh-CN" sz="2200" dirty="0" smtClean="0"/>
              <a:t>(sockfd1,(</a:t>
            </a:r>
            <a:r>
              <a:rPr lang="en-US" altLang="zh-CN" sz="2200" dirty="0" err="1" smtClean="0"/>
              <a:t>struct</a:t>
            </a:r>
            <a:r>
              <a:rPr lang="en-US" altLang="zh-CN" sz="2200" dirty="0" smtClean="0"/>
              <a:t> </a:t>
            </a:r>
            <a:r>
              <a:rPr lang="en-US" altLang="zh-CN" sz="2200" dirty="0" err="1" smtClean="0"/>
              <a:t>sockaddr</a:t>
            </a:r>
            <a:r>
              <a:rPr lang="en-US" altLang="zh-CN" sz="2200" dirty="0" smtClean="0"/>
              <a:t> *)&amp;serv_addr1,</a:t>
            </a:r>
          </a:p>
          <a:p>
            <a:pPr>
              <a:lnSpc>
                <a:spcPct val="80000"/>
              </a:lnSpc>
              <a:buNone/>
            </a:pPr>
            <a:r>
              <a:rPr lang="en-US" altLang="zh-CN" sz="2200" dirty="0" smtClean="0"/>
              <a:t>                                       </a:t>
            </a:r>
            <a:r>
              <a:rPr lang="en-US" altLang="zh-CN" sz="2200" dirty="0" err="1" smtClean="0"/>
              <a:t>sizeof</a:t>
            </a:r>
            <a:r>
              <a:rPr lang="en-US" altLang="zh-CN" sz="2200" dirty="0" smtClean="0"/>
              <a:t>(</a:t>
            </a:r>
            <a:r>
              <a:rPr lang="en-US" altLang="zh-CN" sz="2200" dirty="0" err="1" smtClean="0"/>
              <a:t>struct</a:t>
            </a:r>
            <a:r>
              <a:rPr lang="en-US" altLang="zh-CN" sz="2200" dirty="0" smtClean="0"/>
              <a:t> sockaddr1));</a:t>
            </a:r>
          </a:p>
          <a:p>
            <a:pPr>
              <a:lnSpc>
                <a:spcPct val="80000"/>
              </a:lnSpc>
              <a:buNone/>
            </a:pPr>
            <a:r>
              <a:rPr lang="en-US" altLang="zh-CN" sz="2200" dirty="0" smtClean="0"/>
              <a:t>   if(</a:t>
            </a:r>
            <a:r>
              <a:rPr lang="en-US" altLang="zh-CN" sz="2200" dirty="0" err="1" smtClean="0"/>
              <a:t>conn_flag</a:t>
            </a:r>
            <a:r>
              <a:rPr lang="en-US" altLang="zh-CN" sz="2200" dirty="0" smtClean="0"/>
              <a:t>==-1)</a:t>
            </a:r>
          </a:p>
          <a:p>
            <a:pPr>
              <a:lnSpc>
                <a:spcPct val="80000"/>
              </a:lnSpc>
              <a:buNone/>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a:t>
            </a:r>
            <a:r>
              <a:rPr lang="en-US" altLang="zh-CN" sz="2200" dirty="0" err="1" smtClean="0"/>
              <a:t>connecy</a:t>
            </a:r>
            <a:r>
              <a:rPr lang="en-US" altLang="zh-CN" sz="2200" dirty="0" smtClean="0"/>
              <a:t> error!\n”);     exit(1);   }</a:t>
            </a:r>
          </a:p>
          <a:p>
            <a:pPr>
              <a:lnSpc>
                <a:spcPct val="80000"/>
              </a:lnSpc>
              <a:buNone/>
            </a:pPr>
            <a:r>
              <a:rPr lang="en-US" altLang="zh-CN" sz="2200" dirty="0" smtClean="0"/>
              <a:t> </a:t>
            </a:r>
          </a:p>
          <a:p>
            <a:pPr>
              <a:lnSpc>
                <a:spcPct val="80000"/>
              </a:lnSpc>
              <a:buNone/>
            </a:pPr>
            <a:r>
              <a:rPr lang="en-US" altLang="zh-CN" sz="2200" dirty="0" smtClean="0"/>
              <a:t>   </a:t>
            </a:r>
            <a:r>
              <a:rPr lang="en-US" altLang="zh-CN" sz="2200" dirty="0" err="1" smtClean="0"/>
              <a:t>conn_flag</a:t>
            </a:r>
            <a:r>
              <a:rPr lang="en-US" altLang="zh-CN" sz="2200" dirty="0" smtClean="0"/>
              <a:t>=</a:t>
            </a:r>
            <a:r>
              <a:rPr lang="en-US" altLang="zh-CN" sz="2200" dirty="0" err="1" smtClean="0"/>
              <a:t>connetct</a:t>
            </a:r>
            <a:r>
              <a:rPr lang="en-US" altLang="zh-CN" sz="2200" dirty="0" smtClean="0"/>
              <a:t>(sockfd1,(</a:t>
            </a:r>
            <a:r>
              <a:rPr lang="en-US" altLang="zh-CN" sz="2200" dirty="0" err="1" smtClean="0"/>
              <a:t>struct</a:t>
            </a:r>
            <a:r>
              <a:rPr lang="en-US" altLang="zh-CN" sz="2200" dirty="0" smtClean="0"/>
              <a:t> </a:t>
            </a:r>
            <a:r>
              <a:rPr lang="en-US" altLang="zh-CN" sz="2200" dirty="0" err="1" smtClean="0"/>
              <a:t>sockaddr</a:t>
            </a:r>
            <a:r>
              <a:rPr lang="en-US" altLang="zh-CN" sz="2200" dirty="0" smtClean="0"/>
              <a:t> *)&amp;serv_addr1,</a:t>
            </a:r>
          </a:p>
          <a:p>
            <a:pPr>
              <a:lnSpc>
                <a:spcPct val="80000"/>
              </a:lnSpc>
              <a:buNone/>
            </a:pPr>
            <a:r>
              <a:rPr lang="en-US" altLang="zh-CN" sz="2200" dirty="0" smtClean="0"/>
              <a:t>                                     </a:t>
            </a:r>
            <a:r>
              <a:rPr lang="en-US" altLang="zh-CN" sz="2200" dirty="0" err="1" smtClean="0"/>
              <a:t>sizeof</a:t>
            </a:r>
            <a:r>
              <a:rPr lang="en-US" altLang="zh-CN" sz="2200" dirty="0" smtClean="0"/>
              <a:t>(</a:t>
            </a:r>
            <a:r>
              <a:rPr lang="en-US" altLang="zh-CN" sz="2200" dirty="0" err="1" smtClean="0"/>
              <a:t>struct</a:t>
            </a:r>
            <a:r>
              <a:rPr lang="en-US" altLang="zh-CN" sz="2200" dirty="0" smtClean="0"/>
              <a:t> sockaddr1));</a:t>
            </a:r>
          </a:p>
          <a:p>
            <a:pPr>
              <a:lnSpc>
                <a:spcPct val="80000"/>
              </a:lnSpc>
              <a:buNone/>
            </a:pPr>
            <a:r>
              <a:rPr lang="en-US" altLang="zh-CN" sz="2200" dirty="0" smtClean="0"/>
              <a:t>   if(</a:t>
            </a:r>
            <a:r>
              <a:rPr lang="en-US" altLang="zh-CN" sz="2200" dirty="0" err="1" smtClean="0"/>
              <a:t>conn_flag</a:t>
            </a:r>
            <a:r>
              <a:rPr lang="en-US" altLang="zh-CN" sz="2200" dirty="0" smtClean="0"/>
              <a:t>==-1)</a:t>
            </a:r>
          </a:p>
          <a:p>
            <a:pPr>
              <a:lnSpc>
                <a:spcPct val="80000"/>
              </a:lnSpc>
              <a:buNone/>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a:t>
            </a:r>
            <a:r>
              <a:rPr lang="en-US" altLang="zh-CN" sz="2200" dirty="0" err="1" smtClean="0"/>
              <a:t>connecy</a:t>
            </a:r>
            <a:r>
              <a:rPr lang="en-US" altLang="zh-CN" sz="2200" dirty="0" smtClean="0"/>
              <a:t> error!\n”);     exit(1);   }</a:t>
            </a:r>
            <a:endParaRPr lang="zh-CN" altLang="en-US" sz="2200" dirty="0"/>
          </a:p>
        </p:txBody>
      </p:sp>
    </p:spTree>
    <p:extLst>
      <p:ext uri="{BB962C8B-B14F-4D97-AF65-F5344CB8AC3E}">
        <p14:creationId xmlns:p14="http://schemas.microsoft.com/office/powerpoint/2010/main" val="1252846207"/>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7379" y="592001"/>
            <a:ext cx="5291909" cy="550920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80000"/>
              </a:lnSpc>
            </a:pPr>
            <a:r>
              <a:rPr lang="zh-CN" altLang="en-US" sz="2200" dirty="0" smtClean="0"/>
              <a:t> </a:t>
            </a:r>
            <a:r>
              <a:rPr lang="en-US" altLang="zh-CN" sz="2200" dirty="0" err="1" smtClean="0"/>
              <a:t>int</a:t>
            </a:r>
            <a:r>
              <a:rPr lang="en-US" altLang="zh-CN" sz="2200" dirty="0" smtClean="0"/>
              <a:t> </a:t>
            </a:r>
            <a:r>
              <a:rPr lang="en-US" altLang="zh-CN" sz="2200" dirty="0" err="1" smtClean="0"/>
              <a:t>val</a:t>
            </a:r>
            <a:r>
              <a:rPr lang="en-US" altLang="zh-CN" sz="2200" dirty="0" smtClean="0"/>
              <a:t>;</a:t>
            </a:r>
          </a:p>
          <a:p>
            <a:pPr>
              <a:lnSpc>
                <a:spcPct val="80000"/>
              </a:lnSpc>
            </a:pPr>
            <a:r>
              <a:rPr lang="en-US" altLang="zh-CN" sz="2200" dirty="0" smtClean="0"/>
              <a:t>   </a:t>
            </a:r>
            <a:r>
              <a:rPr lang="en-US" altLang="zh-CN" sz="2200" dirty="0" err="1" smtClean="0"/>
              <a:t>val</a:t>
            </a:r>
            <a:r>
              <a:rPr lang="en-US" altLang="zh-CN" sz="2200" dirty="0" smtClean="0"/>
              <a:t>=</a:t>
            </a:r>
            <a:r>
              <a:rPr lang="en-US" altLang="zh-CN" sz="2200" dirty="0" err="1" smtClean="0"/>
              <a:t>fcntl</a:t>
            </a:r>
            <a:r>
              <a:rPr lang="en-US" altLang="zh-CN" sz="2200" dirty="0" smtClean="0"/>
              <a:t>(sockfd1,F_GETFL,0);</a:t>
            </a:r>
          </a:p>
          <a:p>
            <a:pPr>
              <a:lnSpc>
                <a:spcPct val="80000"/>
              </a:lnSpc>
            </a:pPr>
            <a:r>
              <a:rPr lang="en-US" altLang="zh-CN" sz="2200" dirty="0" smtClean="0"/>
              <a:t>   if(</a:t>
            </a:r>
            <a:r>
              <a:rPr lang="en-US" altLang="zh-CN" sz="2200" dirty="0" err="1" smtClean="0"/>
              <a:t>val</a:t>
            </a:r>
            <a:r>
              <a:rPr lang="en-US" altLang="zh-CN" sz="2200" dirty="0" smtClean="0"/>
              <a:t>&lt;0)</a:t>
            </a:r>
          </a:p>
          <a:p>
            <a:pPr>
              <a:lnSpc>
                <a:spcPct val="8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,”get socket </a:t>
            </a:r>
            <a:r>
              <a:rPr lang="en-US" altLang="zh-CN" sz="2200" dirty="0" err="1" smtClean="0"/>
              <a:t>atrribute</a:t>
            </a:r>
            <a:r>
              <a:rPr lang="en-US" altLang="zh-CN" sz="2200" dirty="0" smtClean="0"/>
              <a:t> error”);  </a:t>
            </a:r>
          </a:p>
          <a:p>
            <a:pPr>
              <a:lnSpc>
                <a:spcPct val="80000"/>
              </a:lnSpc>
            </a:pPr>
            <a:r>
              <a:rPr lang="en-US" altLang="zh-CN" sz="2200" dirty="0" smtClean="0"/>
              <a:t>       exit(1);</a:t>
            </a:r>
          </a:p>
          <a:p>
            <a:pPr>
              <a:lnSpc>
                <a:spcPct val="80000"/>
              </a:lnSpc>
            </a:pPr>
            <a:r>
              <a:rPr lang="en-US" altLang="zh-CN" sz="2200" dirty="0" smtClean="0"/>
              <a:t>    }</a:t>
            </a:r>
          </a:p>
          <a:p>
            <a:pPr>
              <a:lnSpc>
                <a:spcPct val="80000"/>
              </a:lnSpc>
            </a:pPr>
            <a:r>
              <a:rPr lang="en-US" altLang="zh-CN" sz="2200" dirty="0" smtClean="0"/>
              <a:t>    </a:t>
            </a:r>
            <a:r>
              <a:rPr lang="en-US" altLang="zh-CN" sz="2200" dirty="0" err="1" smtClean="0"/>
              <a:t>fcntl</a:t>
            </a:r>
            <a:r>
              <a:rPr lang="en-US" altLang="zh-CN" sz="2200" dirty="0" smtClean="0"/>
              <a:t>(sockfd1,F_SETFL,val|O_NONBLOCK);</a:t>
            </a:r>
          </a:p>
          <a:p>
            <a:pPr>
              <a:lnSpc>
                <a:spcPct val="80000"/>
              </a:lnSpc>
            </a:pPr>
            <a:r>
              <a:rPr lang="en-US" altLang="zh-CN" sz="2200" dirty="0" smtClean="0"/>
              <a:t>    </a:t>
            </a:r>
          </a:p>
          <a:p>
            <a:pPr>
              <a:lnSpc>
                <a:spcPct val="80000"/>
              </a:lnSpc>
            </a:pPr>
            <a:r>
              <a:rPr lang="en-US" altLang="zh-CN" sz="2200" dirty="0" smtClean="0"/>
              <a:t>   </a:t>
            </a:r>
            <a:r>
              <a:rPr lang="en-US" altLang="zh-CN" sz="2200" dirty="0" err="1" smtClean="0"/>
              <a:t>val</a:t>
            </a:r>
            <a:r>
              <a:rPr lang="en-US" altLang="zh-CN" sz="2200" dirty="0" smtClean="0"/>
              <a:t>=</a:t>
            </a:r>
            <a:r>
              <a:rPr lang="en-US" altLang="zh-CN" sz="2200" dirty="0" err="1" smtClean="0"/>
              <a:t>fcntl</a:t>
            </a:r>
            <a:r>
              <a:rPr lang="en-US" altLang="zh-CN" sz="2200" dirty="0" smtClean="0"/>
              <a:t>(sockfd2,F_GETFL,0);</a:t>
            </a:r>
          </a:p>
          <a:p>
            <a:pPr>
              <a:lnSpc>
                <a:spcPct val="80000"/>
              </a:lnSpc>
            </a:pPr>
            <a:r>
              <a:rPr lang="en-US" altLang="zh-CN" sz="2200" dirty="0" smtClean="0"/>
              <a:t>   if(</a:t>
            </a:r>
            <a:r>
              <a:rPr lang="en-US" altLang="zh-CN" sz="2200" dirty="0" err="1" smtClean="0"/>
              <a:t>val</a:t>
            </a:r>
            <a:r>
              <a:rPr lang="en-US" altLang="zh-CN" sz="2200" dirty="0" smtClean="0"/>
              <a:t>&lt;0)</a:t>
            </a:r>
          </a:p>
          <a:p>
            <a:pPr>
              <a:lnSpc>
                <a:spcPct val="8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,”get socket </a:t>
            </a:r>
            <a:r>
              <a:rPr lang="en-US" altLang="zh-CN" sz="2200" dirty="0" err="1" smtClean="0"/>
              <a:t>atrribute</a:t>
            </a:r>
            <a:r>
              <a:rPr lang="en-US" altLang="zh-CN" sz="2200" dirty="0" smtClean="0"/>
              <a:t> error”); </a:t>
            </a:r>
          </a:p>
          <a:p>
            <a:pPr>
              <a:lnSpc>
                <a:spcPct val="80000"/>
              </a:lnSpc>
            </a:pPr>
            <a:r>
              <a:rPr lang="en-US" altLang="zh-CN" sz="2200" dirty="0" smtClean="0"/>
              <a:t>       exit(1); </a:t>
            </a:r>
          </a:p>
          <a:p>
            <a:pPr>
              <a:lnSpc>
                <a:spcPct val="80000"/>
              </a:lnSpc>
            </a:pPr>
            <a:r>
              <a:rPr lang="en-US" altLang="zh-CN" sz="2200" dirty="0" smtClean="0"/>
              <a:t>    }</a:t>
            </a:r>
          </a:p>
          <a:p>
            <a:pPr>
              <a:lnSpc>
                <a:spcPct val="80000"/>
              </a:lnSpc>
            </a:pPr>
            <a:r>
              <a:rPr lang="en-US" altLang="zh-CN" sz="2200" dirty="0" smtClean="0"/>
              <a:t>    </a:t>
            </a:r>
            <a:r>
              <a:rPr lang="en-US" altLang="zh-CN" sz="2200" dirty="0" err="1" smtClean="0"/>
              <a:t>fcntl</a:t>
            </a:r>
            <a:r>
              <a:rPr lang="en-US" altLang="zh-CN" sz="2200" dirty="0" smtClean="0"/>
              <a:t>(sockfd2,F_SETFL,val|O_NONBLOCK);</a:t>
            </a:r>
            <a:endParaRPr lang="zh-CN" altLang="en-US" sz="2200" dirty="0"/>
          </a:p>
        </p:txBody>
      </p:sp>
      <p:sp>
        <p:nvSpPr>
          <p:cNvPr id="5" name="矩形 4"/>
          <p:cNvSpPr/>
          <p:nvPr/>
        </p:nvSpPr>
        <p:spPr>
          <a:xfrm>
            <a:off x="5668371" y="351212"/>
            <a:ext cx="6096000" cy="686341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nSpc>
                <a:spcPct val="80000"/>
              </a:lnSpc>
            </a:pPr>
            <a:r>
              <a:rPr lang="en-US" altLang="zh-CN" sz="2200" dirty="0" smtClean="0"/>
              <a:t>while(1)</a:t>
            </a:r>
          </a:p>
          <a:p>
            <a:pPr>
              <a:lnSpc>
                <a:spcPct val="80000"/>
              </a:lnSpc>
            </a:pPr>
            <a:r>
              <a:rPr lang="en-US" altLang="zh-CN" sz="2200" dirty="0" smtClean="0"/>
              <a:t>  {    </a:t>
            </a:r>
            <a:r>
              <a:rPr lang="en-US" altLang="zh-CN" sz="2200" dirty="0" err="1" smtClean="0"/>
              <a:t>num_bytes</a:t>
            </a:r>
            <a:r>
              <a:rPr lang="en-US" altLang="zh-CN" sz="2200" dirty="0" smtClean="0"/>
              <a:t>=</a:t>
            </a:r>
            <a:r>
              <a:rPr lang="en-US" altLang="zh-CN" sz="2200" dirty="0" err="1" smtClean="0"/>
              <a:t>recv</a:t>
            </a:r>
            <a:r>
              <a:rPr lang="en-US" altLang="zh-CN" sz="2200" dirty="0" smtClean="0"/>
              <a:t>(sockfd1,buffer,sizeof(buffer),0);</a:t>
            </a:r>
          </a:p>
          <a:p>
            <a:pPr>
              <a:lnSpc>
                <a:spcPct val="80000"/>
              </a:lnSpc>
            </a:pPr>
            <a:r>
              <a:rPr lang="en-US" altLang="zh-CN" sz="2200" dirty="0" smtClean="0"/>
              <a:t>      if(</a:t>
            </a:r>
            <a:r>
              <a:rPr lang="en-US" altLang="zh-CN" sz="2200" dirty="0" err="1" smtClean="0"/>
              <a:t>num_bytes</a:t>
            </a:r>
            <a:r>
              <a:rPr lang="en-US" altLang="zh-CN" sz="2200" dirty="0" smtClean="0"/>
              <a:t>==0)</a:t>
            </a:r>
          </a:p>
          <a:p>
            <a:pPr>
              <a:lnSpc>
                <a:spcPct val="80000"/>
              </a:lnSpc>
            </a:pPr>
            <a:r>
              <a:rPr lang="en-US" altLang="zh-CN" sz="2200" dirty="0" smtClean="0"/>
              <a:t>           </a:t>
            </a:r>
            <a:r>
              <a:rPr lang="en-US" altLang="zh-CN" sz="2200" dirty="0" err="1" smtClean="0"/>
              <a:t>fprintf</a:t>
            </a:r>
            <a:r>
              <a:rPr lang="en-US" altLang="zh-CN" sz="2200" dirty="0" smtClean="0"/>
              <a:t>(</a:t>
            </a:r>
            <a:r>
              <a:rPr lang="en-US" altLang="zh-CN" sz="2200" dirty="0" err="1" smtClean="0"/>
              <a:t>stderr</a:t>
            </a:r>
            <a:r>
              <a:rPr lang="en-US" altLang="zh-CN" sz="2200" dirty="0" smtClean="0"/>
              <a:t>,”no data!\n”);</a:t>
            </a:r>
          </a:p>
          <a:p>
            <a:pPr>
              <a:lnSpc>
                <a:spcPct val="80000"/>
              </a:lnSpc>
            </a:pPr>
            <a:r>
              <a:rPr lang="en-US" altLang="zh-CN" sz="2200" dirty="0" smtClean="0"/>
              <a:t>      else if(</a:t>
            </a:r>
            <a:r>
              <a:rPr lang="en-US" altLang="zh-CN" sz="2200" dirty="0" err="1" smtClean="0"/>
              <a:t>num_byte</a:t>
            </a:r>
            <a:r>
              <a:rPr lang="en-US" altLang="zh-CN" sz="2200" dirty="0" smtClean="0"/>
              <a:t>&lt;0)</a:t>
            </a:r>
          </a:p>
          <a:p>
            <a:pPr>
              <a:lnSpc>
                <a:spcPct val="8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a:t>
            </a:r>
            <a:r>
              <a:rPr lang="en-US" altLang="zh-CN" sz="2200" dirty="0" err="1" smtClean="0"/>
              <a:t>recv</a:t>
            </a:r>
            <a:r>
              <a:rPr lang="en-US" altLang="zh-CN" sz="2200" dirty="0" smtClean="0"/>
              <a:t> error!\n”);      exit(1);           }</a:t>
            </a:r>
          </a:p>
          <a:p>
            <a:pPr>
              <a:lnSpc>
                <a:spcPct val="80000"/>
              </a:lnSpc>
            </a:pPr>
            <a:r>
              <a:rPr lang="en-US" altLang="zh-CN" sz="2200" dirty="0" smtClean="0"/>
              <a:t>      else</a:t>
            </a:r>
          </a:p>
          <a:p>
            <a:pPr>
              <a:lnSpc>
                <a:spcPct val="80000"/>
              </a:lnSpc>
            </a:pPr>
            <a:r>
              <a:rPr lang="en-US" altLang="zh-CN" sz="2200" dirty="0" smtClean="0"/>
              <a:t>             </a:t>
            </a:r>
            <a:r>
              <a:rPr lang="en-US" altLang="zh-CN" sz="2200" dirty="0" err="1" smtClean="0"/>
              <a:t>fprintf</a:t>
            </a:r>
            <a:r>
              <a:rPr lang="en-US" altLang="zh-CN" sz="2200" dirty="0" smtClean="0"/>
              <a:t>(“</a:t>
            </a:r>
            <a:r>
              <a:rPr lang="en-US" altLang="zh-CN" sz="2200" dirty="0" err="1" smtClean="0"/>
              <a:t>recv</a:t>
            </a:r>
            <a:r>
              <a:rPr lang="en-US" altLang="zh-CN" sz="2200" dirty="0" smtClean="0"/>
              <a:t> the data:%s\</a:t>
            </a:r>
            <a:r>
              <a:rPr lang="en-US" altLang="zh-CN" sz="2200" dirty="0" err="1" smtClean="0"/>
              <a:t>n”,buffer</a:t>
            </a:r>
            <a:r>
              <a:rPr lang="en-US" altLang="zh-CN" sz="2200" dirty="0" smtClean="0"/>
              <a:t>);</a:t>
            </a:r>
          </a:p>
          <a:p>
            <a:pPr>
              <a:lnSpc>
                <a:spcPct val="80000"/>
              </a:lnSpc>
            </a:pPr>
            <a:r>
              <a:rPr lang="en-US" altLang="zh-CN" sz="2200" dirty="0" smtClean="0"/>
              <a:t>      </a:t>
            </a:r>
          </a:p>
          <a:p>
            <a:pPr>
              <a:lnSpc>
                <a:spcPct val="80000"/>
              </a:lnSpc>
            </a:pPr>
            <a:r>
              <a:rPr lang="en-US" altLang="zh-CN" sz="2200" dirty="0" smtClean="0"/>
              <a:t>      </a:t>
            </a:r>
            <a:r>
              <a:rPr lang="en-US" altLang="zh-CN" sz="2200" dirty="0" err="1" smtClean="0"/>
              <a:t>num_bytes</a:t>
            </a:r>
            <a:r>
              <a:rPr lang="en-US" altLang="zh-CN" sz="2200" dirty="0" smtClean="0"/>
              <a:t>=</a:t>
            </a:r>
            <a:r>
              <a:rPr lang="en-US" altLang="zh-CN" sz="2200" dirty="0" err="1" smtClean="0"/>
              <a:t>recv</a:t>
            </a:r>
            <a:r>
              <a:rPr lang="en-US" altLang="zh-CN" sz="2200" dirty="0" smtClean="0"/>
              <a:t>(sockfd2,buffer,sizeof(buffer),0);</a:t>
            </a:r>
          </a:p>
          <a:p>
            <a:pPr>
              <a:lnSpc>
                <a:spcPct val="80000"/>
              </a:lnSpc>
            </a:pPr>
            <a:r>
              <a:rPr lang="en-US" altLang="zh-CN" sz="2200" dirty="0" smtClean="0"/>
              <a:t>      if(</a:t>
            </a:r>
            <a:r>
              <a:rPr lang="en-US" altLang="zh-CN" sz="2200" dirty="0" err="1" smtClean="0"/>
              <a:t>num_bytes</a:t>
            </a:r>
            <a:r>
              <a:rPr lang="en-US" altLang="zh-CN" sz="2200" dirty="0" smtClean="0"/>
              <a:t>==0)</a:t>
            </a:r>
          </a:p>
          <a:p>
            <a:pPr>
              <a:lnSpc>
                <a:spcPct val="80000"/>
              </a:lnSpc>
            </a:pPr>
            <a:r>
              <a:rPr lang="en-US" altLang="zh-CN" sz="2200" dirty="0" smtClean="0"/>
              <a:t>           </a:t>
            </a:r>
            <a:r>
              <a:rPr lang="en-US" altLang="zh-CN" sz="2200" dirty="0" err="1" smtClean="0"/>
              <a:t>fprintf</a:t>
            </a:r>
            <a:r>
              <a:rPr lang="en-US" altLang="zh-CN" sz="2200" dirty="0" smtClean="0"/>
              <a:t>(</a:t>
            </a:r>
            <a:r>
              <a:rPr lang="en-US" altLang="zh-CN" sz="2200" dirty="0" err="1" smtClean="0"/>
              <a:t>stderr</a:t>
            </a:r>
            <a:r>
              <a:rPr lang="en-US" altLang="zh-CN" sz="2200" dirty="0" smtClean="0"/>
              <a:t>,”no data!\n”);</a:t>
            </a:r>
          </a:p>
          <a:p>
            <a:pPr>
              <a:lnSpc>
                <a:spcPct val="80000"/>
              </a:lnSpc>
            </a:pPr>
            <a:r>
              <a:rPr lang="en-US" altLang="zh-CN" sz="2200" dirty="0" smtClean="0"/>
              <a:t>      else if(</a:t>
            </a:r>
            <a:r>
              <a:rPr lang="en-US" altLang="zh-CN" sz="2200" dirty="0" err="1" smtClean="0"/>
              <a:t>num_byte</a:t>
            </a:r>
            <a:r>
              <a:rPr lang="en-US" altLang="zh-CN" sz="2200" dirty="0" smtClean="0"/>
              <a:t>&lt;0)</a:t>
            </a:r>
          </a:p>
          <a:p>
            <a:pPr>
              <a:lnSpc>
                <a:spcPct val="80000"/>
              </a:lnSpc>
            </a:pPr>
            <a:r>
              <a:rPr lang="en-US" altLang="zh-CN" sz="2200" dirty="0" smtClean="0"/>
              <a:t>           {   </a:t>
            </a:r>
            <a:r>
              <a:rPr lang="en-US" altLang="zh-CN" sz="2200" dirty="0" err="1" smtClean="0"/>
              <a:t>fprintf</a:t>
            </a:r>
            <a:r>
              <a:rPr lang="en-US" altLang="zh-CN" sz="2200" dirty="0" smtClean="0"/>
              <a:t>(</a:t>
            </a:r>
            <a:r>
              <a:rPr lang="en-US" altLang="zh-CN" sz="2200" dirty="0" err="1" smtClean="0"/>
              <a:t>stderr</a:t>
            </a:r>
            <a:r>
              <a:rPr lang="en-US" altLang="zh-CN" sz="2200" dirty="0" smtClean="0"/>
              <a:t>,”</a:t>
            </a:r>
            <a:r>
              <a:rPr lang="en-US" altLang="zh-CN" sz="2200" dirty="0" err="1" smtClean="0"/>
              <a:t>recv</a:t>
            </a:r>
            <a:r>
              <a:rPr lang="en-US" altLang="zh-CN" sz="2200" dirty="0" smtClean="0"/>
              <a:t> error!\n”);        exit(1);        }</a:t>
            </a:r>
          </a:p>
          <a:p>
            <a:pPr>
              <a:lnSpc>
                <a:spcPct val="80000"/>
              </a:lnSpc>
            </a:pPr>
            <a:r>
              <a:rPr lang="en-US" altLang="zh-CN" sz="2200" dirty="0" smtClean="0"/>
              <a:t>      else</a:t>
            </a:r>
          </a:p>
          <a:p>
            <a:pPr>
              <a:lnSpc>
                <a:spcPct val="80000"/>
              </a:lnSpc>
            </a:pPr>
            <a:r>
              <a:rPr lang="en-US" altLang="zh-CN" sz="2200" dirty="0" smtClean="0"/>
              <a:t>               </a:t>
            </a:r>
            <a:r>
              <a:rPr lang="en-US" altLang="zh-CN" sz="2200" dirty="0" err="1" smtClean="0"/>
              <a:t>fprintf</a:t>
            </a:r>
            <a:r>
              <a:rPr lang="en-US" altLang="zh-CN" sz="2200" dirty="0" smtClean="0"/>
              <a:t>(“</a:t>
            </a:r>
            <a:r>
              <a:rPr lang="en-US" altLang="zh-CN" sz="2200" dirty="0" err="1" smtClean="0"/>
              <a:t>recv</a:t>
            </a:r>
            <a:r>
              <a:rPr lang="en-US" altLang="zh-CN" sz="2200" dirty="0" smtClean="0"/>
              <a:t> the data:%s\</a:t>
            </a:r>
            <a:r>
              <a:rPr lang="en-US" altLang="zh-CN" sz="2200" dirty="0" err="1" smtClean="0"/>
              <a:t>n”,buffer</a:t>
            </a:r>
            <a:r>
              <a:rPr lang="en-US" altLang="zh-CN" sz="2200" dirty="0" smtClean="0"/>
              <a:t>);</a:t>
            </a:r>
          </a:p>
          <a:p>
            <a:pPr>
              <a:lnSpc>
                <a:spcPct val="80000"/>
              </a:lnSpc>
            </a:pPr>
            <a:r>
              <a:rPr lang="en-US" altLang="zh-CN" sz="2200" dirty="0" smtClean="0"/>
              <a:t>  }</a:t>
            </a:r>
          </a:p>
          <a:p>
            <a:pPr>
              <a:lnSpc>
                <a:spcPct val="80000"/>
              </a:lnSpc>
            </a:pPr>
            <a:r>
              <a:rPr lang="en-US" altLang="zh-CN" sz="2200" dirty="0" smtClean="0"/>
              <a:t>}</a:t>
            </a:r>
          </a:p>
          <a:p>
            <a:pPr>
              <a:lnSpc>
                <a:spcPct val="80000"/>
              </a:lnSpc>
            </a:pPr>
            <a:endParaRPr lang="en-US" altLang="zh-CN" sz="2200" dirty="0" smtClean="0"/>
          </a:p>
        </p:txBody>
      </p:sp>
    </p:spTree>
    <p:extLst>
      <p:ext uri="{BB962C8B-B14F-4D97-AF65-F5344CB8AC3E}">
        <p14:creationId xmlns:p14="http://schemas.microsoft.com/office/powerpoint/2010/main" val="1334514398"/>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多路复用</a:t>
            </a:r>
            <a:r>
              <a:rPr lang="en-US" altLang="zh-CN" dirty="0" smtClean="0"/>
              <a:t>IO</a:t>
            </a:r>
            <a:r>
              <a:rPr lang="zh-CN" altLang="en-US" dirty="0" smtClean="0"/>
              <a:t>的基本原理</a:t>
            </a:r>
            <a:endParaRPr lang="zh-CN" altLang="en-US" dirty="0"/>
          </a:p>
        </p:txBody>
      </p:sp>
      <p:sp>
        <p:nvSpPr>
          <p:cNvPr id="3" name="内容占位符 2"/>
          <p:cNvSpPr>
            <a:spLocks noGrp="1"/>
          </p:cNvSpPr>
          <p:nvPr>
            <p:ph idx="1"/>
          </p:nvPr>
        </p:nvSpPr>
        <p:spPr/>
        <p:txBody>
          <a:bodyPr/>
          <a:lstStyle/>
          <a:p>
            <a:r>
              <a:rPr lang="zh-CN" altLang="en-US" dirty="0"/>
              <a:t>应用程序中同时处理</a:t>
            </a:r>
            <a:r>
              <a:rPr lang="zh-CN" altLang="en-US" dirty="0">
                <a:solidFill>
                  <a:srgbClr val="FF3300"/>
                </a:solidFill>
              </a:rPr>
              <a:t>多路</a:t>
            </a:r>
            <a:r>
              <a:rPr lang="zh-CN" altLang="en-US" dirty="0"/>
              <a:t>输入输出流，若采用</a:t>
            </a:r>
            <a:r>
              <a:rPr lang="zh-CN" altLang="en-US" dirty="0">
                <a:solidFill>
                  <a:srgbClr val="0000FF"/>
                </a:solidFill>
              </a:rPr>
              <a:t>阻塞模式</a:t>
            </a:r>
            <a:r>
              <a:rPr lang="zh-CN" altLang="en-US" dirty="0"/>
              <a:t>，将得不到预期的目的；</a:t>
            </a:r>
          </a:p>
          <a:p>
            <a:r>
              <a:rPr lang="zh-CN" altLang="en-US" dirty="0"/>
              <a:t>若采用</a:t>
            </a:r>
            <a:r>
              <a:rPr lang="zh-CN" altLang="en-US" dirty="0">
                <a:solidFill>
                  <a:srgbClr val="0000FF"/>
                </a:solidFill>
              </a:rPr>
              <a:t>非阻塞模式</a:t>
            </a:r>
            <a:r>
              <a:rPr lang="zh-CN" altLang="en-US" dirty="0"/>
              <a:t>，对多个输入进行轮询，但又太浪费</a:t>
            </a:r>
            <a:r>
              <a:rPr lang="en-US" altLang="zh-CN" dirty="0"/>
              <a:t>CPU</a:t>
            </a:r>
            <a:r>
              <a:rPr lang="zh-CN" altLang="en-US" dirty="0"/>
              <a:t>时间；</a:t>
            </a:r>
          </a:p>
          <a:p>
            <a:r>
              <a:rPr lang="zh-CN" altLang="en-US" dirty="0"/>
              <a:t>若设置</a:t>
            </a:r>
            <a:r>
              <a:rPr lang="zh-CN" altLang="en-US" dirty="0">
                <a:solidFill>
                  <a:srgbClr val="0000FF"/>
                </a:solidFill>
              </a:rPr>
              <a:t>多个进程</a:t>
            </a:r>
            <a:r>
              <a:rPr lang="zh-CN" altLang="en-US" dirty="0"/>
              <a:t>，分别处理一条数据通路，将新产生进程间的同步与通信问题，使程序变得更加复杂；</a:t>
            </a:r>
          </a:p>
          <a:p>
            <a:r>
              <a:rPr lang="zh-CN" altLang="en-US" dirty="0"/>
              <a:t>比较好的方法是使用</a:t>
            </a:r>
            <a:r>
              <a:rPr lang="en-US" altLang="zh-CN" dirty="0">
                <a:solidFill>
                  <a:srgbClr val="FF3300"/>
                </a:solidFill>
              </a:rPr>
              <a:t>I/O</a:t>
            </a:r>
            <a:r>
              <a:rPr lang="zh-CN" altLang="en-US" dirty="0">
                <a:solidFill>
                  <a:srgbClr val="FF3300"/>
                </a:solidFill>
              </a:rPr>
              <a:t>多路复用</a:t>
            </a:r>
            <a:r>
              <a:rPr lang="zh-CN" altLang="en-US" dirty="0"/>
              <a:t>。其基本思想是：</a:t>
            </a:r>
          </a:p>
          <a:p>
            <a:pPr lvl="1"/>
            <a:r>
              <a:rPr lang="zh-CN" altLang="en-US" dirty="0"/>
              <a:t>先构造一张有关描述符的表，然后调用一个函数，它要到这些描述符中的一个已准备好进行</a:t>
            </a:r>
            <a:r>
              <a:rPr lang="en-US" altLang="zh-CN" dirty="0"/>
              <a:t>I/O</a:t>
            </a:r>
            <a:r>
              <a:rPr lang="zh-CN" altLang="en-US" dirty="0"/>
              <a:t>时才返回。</a:t>
            </a:r>
          </a:p>
          <a:p>
            <a:pPr lvl="1"/>
            <a:r>
              <a:rPr lang="zh-CN" altLang="en-US" dirty="0"/>
              <a:t>返回时，它告诉进程那个描述符已准备好可以进行</a:t>
            </a:r>
            <a:r>
              <a:rPr lang="en-US" altLang="zh-CN" dirty="0"/>
              <a:t>I/O</a:t>
            </a:r>
            <a:r>
              <a:rPr lang="zh-CN" altLang="en-US" dirty="0"/>
              <a:t>。</a:t>
            </a:r>
          </a:p>
          <a:p>
            <a:endParaRPr lang="zh-CN" altLang="en-US" dirty="0"/>
          </a:p>
        </p:txBody>
      </p:sp>
    </p:spTree>
    <p:extLst>
      <p:ext uri="{BB962C8B-B14F-4D97-AF65-F5344CB8AC3E}">
        <p14:creationId xmlns:p14="http://schemas.microsoft.com/office/powerpoint/2010/main" val="1052591066"/>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多路复用</a:t>
            </a:r>
            <a:r>
              <a:rPr lang="en-US" altLang="zh-CN" b="0" dirty="0" smtClean="0"/>
              <a:t>I/O</a:t>
            </a:r>
            <a:endParaRPr lang="zh-CN" altLang="en-US" dirty="0"/>
          </a:p>
        </p:txBody>
      </p:sp>
      <p:sp>
        <p:nvSpPr>
          <p:cNvPr id="3" name="内容占位符 2"/>
          <p:cNvSpPr>
            <a:spLocks noGrp="1"/>
          </p:cNvSpPr>
          <p:nvPr>
            <p:ph idx="1"/>
          </p:nvPr>
        </p:nvSpPr>
        <p:spPr/>
        <p:txBody>
          <a:bodyPr/>
          <a:lstStyle/>
          <a:p>
            <a:r>
              <a:rPr lang="zh-CN" altLang="en-US" dirty="0" smtClean="0"/>
              <a:t>首先介绍一个函数</a:t>
            </a:r>
            <a:r>
              <a:rPr lang="en-US" altLang="zh-CN" dirty="0" smtClean="0"/>
              <a:t>select</a:t>
            </a:r>
          </a:p>
          <a:p>
            <a:pPr lvl="1"/>
            <a:r>
              <a:rPr lang="en-US" altLang="zh-CN" dirty="0" smtClean="0">
                <a:latin typeface="Arial Unicode MS" panose="020B0604020202020204" pitchFamily="34" charset="-122"/>
              </a:rPr>
              <a:t>#</a:t>
            </a:r>
            <a:r>
              <a:rPr lang="en-US" altLang="zh-CN" dirty="0" err="1" smtClean="0">
                <a:latin typeface="Arial Unicode MS" panose="020B0604020202020204" pitchFamily="34" charset="-122"/>
              </a:rPr>
              <a:t>inxlude</a:t>
            </a:r>
            <a:r>
              <a:rPr lang="en-US" altLang="zh-CN" dirty="0" smtClean="0">
                <a:latin typeface="Arial Unicode MS" panose="020B0604020202020204" pitchFamily="34" charset="-122"/>
              </a:rPr>
              <a:t> &lt;sys/</a:t>
            </a:r>
            <a:r>
              <a:rPr lang="en-US" altLang="zh-CN" dirty="0" err="1" smtClean="0">
                <a:latin typeface="Arial Unicode MS" panose="020B0604020202020204" pitchFamily="34" charset="-122"/>
              </a:rPr>
              <a:t>types.h</a:t>
            </a:r>
            <a:r>
              <a:rPr lang="en-US" altLang="zh-CN" dirty="0" smtClean="0">
                <a:latin typeface="Arial Unicode MS" panose="020B0604020202020204" pitchFamily="34" charset="-122"/>
              </a:rPr>
              <a:t>&gt;</a:t>
            </a:r>
          </a:p>
          <a:p>
            <a:pPr lvl="1"/>
            <a:r>
              <a:rPr lang="en-US" altLang="zh-CN" dirty="0" smtClean="0">
                <a:latin typeface="Arial Unicode MS" panose="020B0604020202020204" pitchFamily="34" charset="-122"/>
              </a:rPr>
              <a:t>#include &lt;sys/</a:t>
            </a:r>
            <a:r>
              <a:rPr lang="en-US" altLang="zh-CN" dirty="0" err="1" smtClean="0">
                <a:latin typeface="Arial Unicode MS" panose="020B0604020202020204" pitchFamily="34" charset="-122"/>
              </a:rPr>
              <a:t>time.h</a:t>
            </a:r>
            <a:r>
              <a:rPr lang="en-US" altLang="zh-CN" dirty="0" smtClean="0">
                <a:latin typeface="Arial Unicode MS" panose="020B0604020202020204" pitchFamily="34" charset="-122"/>
              </a:rPr>
              <a:t>&gt;</a:t>
            </a:r>
          </a:p>
          <a:p>
            <a:pPr lvl="1"/>
            <a:r>
              <a:rPr lang="en-US" altLang="zh-CN" dirty="0" smtClean="0">
                <a:latin typeface="Arial Unicode MS" panose="020B0604020202020204" pitchFamily="34" charset="-122"/>
              </a:rPr>
              <a:t>#include &lt;</a:t>
            </a:r>
            <a:r>
              <a:rPr lang="en-US" altLang="zh-CN" dirty="0" err="1" smtClean="0">
                <a:latin typeface="Arial Unicode MS" panose="020B0604020202020204" pitchFamily="34" charset="-122"/>
              </a:rPr>
              <a:t>unistd.h</a:t>
            </a:r>
            <a:r>
              <a:rPr lang="en-US" altLang="zh-CN" dirty="0" smtClean="0">
                <a:latin typeface="Arial Unicode MS" panose="020B0604020202020204" pitchFamily="34" charset="-122"/>
              </a:rPr>
              <a:t>&gt;</a:t>
            </a:r>
          </a:p>
          <a:p>
            <a:pPr lvl="1"/>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select(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maxfd</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read_set,fd_set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write_set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except_set,struct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timeval</a:t>
            </a:r>
            <a:r>
              <a:rPr lang="en-US" altLang="zh-CN" dirty="0" smtClean="0">
                <a:latin typeface="Arial Unicode MS" panose="020B0604020202020204" pitchFamily="34" charset="-122"/>
              </a:rPr>
              <a:t> *timeout) </a:t>
            </a:r>
          </a:p>
          <a:p>
            <a:pPr lvl="1"/>
            <a:r>
              <a:rPr lang="zh-CN" altLang="en-US" dirty="0" smtClean="0">
                <a:latin typeface="Arial Unicode MS" panose="020B0604020202020204" pitchFamily="34" charset="-122"/>
              </a:rPr>
              <a:t>参数说明：</a:t>
            </a:r>
          </a:p>
          <a:p>
            <a:pPr lvl="2"/>
            <a:r>
              <a:rPr lang="en-US" altLang="zh-CN" sz="2800" b="0" dirty="0" err="1" smtClean="0"/>
              <a:t>maxfd</a:t>
            </a:r>
            <a:endParaRPr lang="en-US" altLang="zh-CN" sz="2800" b="0" dirty="0" smtClean="0"/>
          </a:p>
          <a:p>
            <a:pPr lvl="3"/>
            <a:r>
              <a:rPr lang="zh-CN" altLang="en-US" sz="2400" dirty="0" smtClean="0">
                <a:solidFill>
                  <a:srgbClr val="0000FF"/>
                </a:solidFill>
              </a:rPr>
              <a:t>所有监控的文件描述符中最大的那一个加</a:t>
            </a:r>
            <a:r>
              <a:rPr lang="en-US" altLang="zh-CN" sz="2400" dirty="0" smtClean="0">
                <a:solidFill>
                  <a:srgbClr val="0000FF"/>
                </a:solidFill>
              </a:rPr>
              <a:t>1</a:t>
            </a:r>
          </a:p>
          <a:p>
            <a:endParaRPr lang="zh-CN" altLang="en-US" dirty="0"/>
          </a:p>
        </p:txBody>
      </p:sp>
    </p:spTree>
    <p:extLst>
      <p:ext uri="{BB962C8B-B14F-4D97-AF65-F5344CB8AC3E}">
        <p14:creationId xmlns:p14="http://schemas.microsoft.com/office/powerpoint/2010/main" val="2187942580"/>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函数</a:t>
            </a:r>
            <a:r>
              <a:rPr lang="en-US" altLang="zh-CN" dirty="0" smtClean="0"/>
              <a:t>select</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err="1"/>
              <a:t>Read_set</a:t>
            </a:r>
            <a:endParaRPr lang="en-US" altLang="zh-CN" dirty="0"/>
          </a:p>
          <a:p>
            <a:pPr lvl="1"/>
            <a:r>
              <a:rPr lang="zh-CN" altLang="en-US" dirty="0"/>
              <a:t>所有要读的文件文件描述符的集合 </a:t>
            </a:r>
          </a:p>
          <a:p>
            <a:r>
              <a:rPr lang="en-US" altLang="zh-CN" dirty="0" err="1"/>
              <a:t>Write_set</a:t>
            </a:r>
            <a:endParaRPr lang="en-US" altLang="zh-CN" dirty="0"/>
          </a:p>
          <a:p>
            <a:pPr lvl="1"/>
            <a:r>
              <a:rPr lang="zh-CN" altLang="en-US" dirty="0"/>
              <a:t>所有要的写文件文件描述符的集合 </a:t>
            </a:r>
          </a:p>
          <a:p>
            <a:r>
              <a:rPr lang="en-US" altLang="zh-CN" dirty="0" err="1"/>
              <a:t>Except_set</a:t>
            </a:r>
            <a:endParaRPr lang="en-US" altLang="zh-CN" dirty="0"/>
          </a:p>
          <a:p>
            <a:pPr lvl="1"/>
            <a:r>
              <a:rPr lang="zh-CN" altLang="en-US" dirty="0"/>
              <a:t>其他要向我们通知的文件描述符 </a:t>
            </a:r>
          </a:p>
          <a:p>
            <a:r>
              <a:rPr lang="en-US" altLang="zh-CN" dirty="0"/>
              <a:t>Timeout</a:t>
            </a:r>
          </a:p>
          <a:p>
            <a:pPr lvl="1"/>
            <a:r>
              <a:rPr lang="zh-CN" altLang="en-US" dirty="0"/>
              <a:t>超时设置</a:t>
            </a:r>
            <a:r>
              <a:rPr lang="en-US" altLang="zh-CN" dirty="0"/>
              <a:t>. </a:t>
            </a:r>
          </a:p>
          <a:p>
            <a:pPr lvl="1"/>
            <a:r>
              <a:rPr lang="en-US" altLang="zh-CN" dirty="0"/>
              <a:t>Null</a:t>
            </a:r>
            <a:r>
              <a:rPr lang="zh-CN" altLang="en-US" dirty="0"/>
              <a:t>：一直阻塞，直到有文件描述符就绪或出错</a:t>
            </a:r>
          </a:p>
          <a:p>
            <a:pPr lvl="1"/>
            <a:r>
              <a:rPr lang="en-US" altLang="zh-CN" dirty="0"/>
              <a:t>0</a:t>
            </a:r>
            <a:r>
              <a:rPr lang="zh-CN" altLang="en-US" dirty="0"/>
              <a:t>：仅仅检测文件描述符集的状态，然后立即返回</a:t>
            </a:r>
          </a:p>
          <a:p>
            <a:pPr lvl="1"/>
            <a:r>
              <a:rPr lang="zh-CN" altLang="en-US" dirty="0"/>
              <a:t>非</a:t>
            </a:r>
            <a:r>
              <a:rPr lang="en-US" altLang="zh-CN" dirty="0"/>
              <a:t>0</a:t>
            </a:r>
            <a:r>
              <a:rPr lang="zh-CN" altLang="en-US" dirty="0"/>
              <a:t>：在指定时间内，如果没有事件发生，则超时返回。</a:t>
            </a:r>
          </a:p>
          <a:p>
            <a:endParaRPr lang="zh-CN" altLang="en-US" dirty="0"/>
          </a:p>
        </p:txBody>
      </p:sp>
    </p:spTree>
    <p:extLst>
      <p:ext uri="{BB962C8B-B14F-4D97-AF65-F5344CB8AC3E}">
        <p14:creationId xmlns:p14="http://schemas.microsoft.com/office/powerpoint/2010/main" val="1726106001"/>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函数</a:t>
            </a:r>
            <a:r>
              <a:rPr lang="en-US" altLang="zh-CN" dirty="0" smtClean="0"/>
              <a:t>select</a:t>
            </a:r>
            <a:endParaRPr lang="zh-CN" altLang="en-US" dirty="0"/>
          </a:p>
        </p:txBody>
      </p:sp>
      <p:sp>
        <p:nvSpPr>
          <p:cNvPr id="3" name="内容占位符 2"/>
          <p:cNvSpPr>
            <a:spLocks noGrp="1"/>
          </p:cNvSpPr>
          <p:nvPr>
            <p:ph idx="1"/>
          </p:nvPr>
        </p:nvSpPr>
        <p:spPr/>
        <p:txBody>
          <a:bodyPr/>
          <a:lstStyle/>
          <a:p>
            <a:r>
              <a:rPr lang="zh-CN" altLang="en-US" dirty="0" smtClean="0"/>
              <a:t>在我们调用</a:t>
            </a:r>
            <a:r>
              <a:rPr lang="en-US" altLang="zh-CN" dirty="0" smtClean="0"/>
              <a:t>select</a:t>
            </a:r>
            <a:r>
              <a:rPr lang="zh-CN" altLang="en-US" dirty="0" smtClean="0"/>
              <a:t>时进程会一直阻塞直到以下的一种情况发生</a:t>
            </a:r>
            <a:r>
              <a:rPr lang="en-US" altLang="zh-CN" dirty="0" smtClean="0"/>
              <a:t>. </a:t>
            </a:r>
          </a:p>
          <a:p>
            <a:pPr lvl="1"/>
            <a:r>
              <a:rPr lang="zh-CN" altLang="en-US" dirty="0" smtClean="0"/>
              <a:t>有文件可以读</a:t>
            </a:r>
            <a:r>
              <a:rPr lang="en-US" altLang="zh-CN" dirty="0" smtClean="0"/>
              <a:t>.</a:t>
            </a:r>
          </a:p>
          <a:p>
            <a:pPr lvl="1"/>
            <a:r>
              <a:rPr lang="zh-CN" altLang="en-US" dirty="0" smtClean="0"/>
              <a:t>有文件可以写</a:t>
            </a:r>
            <a:r>
              <a:rPr lang="en-US" altLang="zh-CN" dirty="0" smtClean="0"/>
              <a:t>.</a:t>
            </a:r>
          </a:p>
          <a:p>
            <a:pPr lvl="1"/>
            <a:r>
              <a:rPr lang="zh-CN" altLang="en-US" dirty="0" smtClean="0"/>
              <a:t>超时所设置的时间到</a:t>
            </a:r>
            <a:r>
              <a:rPr lang="en-US" altLang="zh-CN" dirty="0" smtClean="0"/>
              <a:t>. </a:t>
            </a:r>
          </a:p>
          <a:p>
            <a:r>
              <a:rPr lang="zh-CN" altLang="en-US" dirty="0" smtClean="0"/>
              <a:t>为了设置文件描述符我们要使用几个宏：</a:t>
            </a:r>
          </a:p>
          <a:p>
            <a:pPr lvl="1"/>
            <a:r>
              <a:rPr lang="en-US" altLang="zh-CN" b="0" dirty="0" smtClean="0"/>
              <a:t>FD_SET</a:t>
            </a:r>
            <a:r>
              <a:rPr lang="zh-CN" altLang="en-US" dirty="0" smtClean="0"/>
              <a:t>将</a:t>
            </a:r>
            <a:r>
              <a:rPr lang="en-US" altLang="zh-CN" dirty="0" err="1" smtClean="0"/>
              <a:t>fd</a:t>
            </a:r>
            <a:r>
              <a:rPr lang="zh-CN" altLang="en-US" dirty="0" smtClean="0"/>
              <a:t>加入到</a:t>
            </a:r>
            <a:r>
              <a:rPr lang="en-US" altLang="zh-CN" dirty="0" err="1" smtClean="0"/>
              <a:t>fdset</a:t>
            </a:r>
            <a:r>
              <a:rPr lang="en-US" altLang="zh-CN" dirty="0" smtClean="0"/>
              <a:t> </a:t>
            </a:r>
          </a:p>
          <a:p>
            <a:pPr lvl="1"/>
            <a:r>
              <a:rPr lang="en-US" altLang="zh-CN" b="0" dirty="0" smtClean="0"/>
              <a:t>FD_CLR</a:t>
            </a:r>
            <a:r>
              <a:rPr lang="zh-CN" altLang="en-US" dirty="0" smtClean="0"/>
              <a:t>将</a:t>
            </a:r>
            <a:r>
              <a:rPr lang="en-US" altLang="zh-CN" dirty="0" err="1" smtClean="0"/>
              <a:t>fd</a:t>
            </a:r>
            <a:r>
              <a:rPr lang="zh-CN" altLang="en-US" dirty="0" smtClean="0"/>
              <a:t>从</a:t>
            </a:r>
            <a:r>
              <a:rPr lang="en-US" altLang="zh-CN" dirty="0" err="1" smtClean="0"/>
              <a:t>fdset</a:t>
            </a:r>
            <a:r>
              <a:rPr lang="zh-CN" altLang="en-US" dirty="0" smtClean="0"/>
              <a:t>里面清除 </a:t>
            </a:r>
          </a:p>
          <a:p>
            <a:pPr lvl="1"/>
            <a:r>
              <a:rPr lang="en-US" altLang="zh-CN" b="0" dirty="0" smtClean="0"/>
              <a:t>FD_ZERO</a:t>
            </a:r>
            <a:r>
              <a:rPr lang="zh-CN" altLang="en-US" dirty="0" smtClean="0"/>
              <a:t>从</a:t>
            </a:r>
            <a:r>
              <a:rPr lang="en-US" altLang="zh-CN" dirty="0" err="1" smtClean="0"/>
              <a:t>fdset</a:t>
            </a:r>
            <a:r>
              <a:rPr lang="zh-CN" altLang="en-US" dirty="0" smtClean="0"/>
              <a:t>中清除所有的文件描述符 </a:t>
            </a:r>
          </a:p>
          <a:p>
            <a:pPr lvl="1"/>
            <a:r>
              <a:rPr lang="en-US" altLang="zh-CN" b="0" dirty="0" smtClean="0"/>
              <a:t>FD_ISSET</a:t>
            </a:r>
            <a:r>
              <a:rPr lang="zh-CN" altLang="en-US" dirty="0" smtClean="0"/>
              <a:t>判断</a:t>
            </a:r>
            <a:r>
              <a:rPr lang="en-US" altLang="zh-CN" dirty="0" err="1" smtClean="0"/>
              <a:t>fd</a:t>
            </a:r>
            <a:r>
              <a:rPr lang="zh-CN" altLang="en-US" dirty="0" smtClean="0"/>
              <a:t>是否在</a:t>
            </a:r>
            <a:r>
              <a:rPr lang="en-US" altLang="zh-CN" dirty="0" err="1" smtClean="0"/>
              <a:t>fdset</a:t>
            </a:r>
            <a:r>
              <a:rPr lang="zh-CN" altLang="en-US" dirty="0" smtClean="0"/>
              <a:t>集合中 </a:t>
            </a:r>
          </a:p>
          <a:p>
            <a:endParaRPr lang="zh-CN" altLang="en-US" dirty="0"/>
          </a:p>
        </p:txBody>
      </p:sp>
    </p:spTree>
    <p:extLst>
      <p:ext uri="{BB962C8B-B14F-4D97-AF65-F5344CB8AC3E}">
        <p14:creationId xmlns:p14="http://schemas.microsoft.com/office/powerpoint/2010/main" val="799144008"/>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多路复用</a:t>
            </a:r>
            <a:r>
              <a:rPr lang="en-US" altLang="zh-CN" b="0" dirty="0" smtClean="0"/>
              <a:t>I/O</a:t>
            </a:r>
            <a:endParaRPr lang="zh-CN" altLang="en-US" dirty="0"/>
          </a:p>
        </p:txBody>
      </p:sp>
      <p:sp>
        <p:nvSpPr>
          <p:cNvPr id="3" name="内容占位符 2"/>
          <p:cNvSpPr>
            <a:spLocks noGrp="1"/>
          </p:cNvSpPr>
          <p:nvPr>
            <p:ph idx="1"/>
          </p:nvPr>
        </p:nvSpPr>
        <p:spPr/>
        <p:txBody>
          <a:bodyPr/>
          <a:lstStyle/>
          <a:p>
            <a:r>
              <a:rPr lang="zh-CN" altLang="en-US" dirty="0" smtClean="0">
                <a:latin typeface="Arial Unicode MS" panose="020B0604020202020204" pitchFamily="34" charset="-122"/>
              </a:rPr>
              <a:t>宏的形式</a:t>
            </a:r>
            <a:r>
              <a:rPr lang="en-US" altLang="zh-CN" dirty="0" smtClean="0">
                <a:latin typeface="Arial Unicode MS" panose="020B0604020202020204" pitchFamily="34" charset="-122"/>
              </a:rPr>
              <a:t>:</a:t>
            </a:r>
          </a:p>
          <a:p>
            <a:pPr lvl="1"/>
            <a:r>
              <a:rPr lang="en-US" altLang="zh-CN" dirty="0" smtClean="0">
                <a:latin typeface="Arial Unicode MS" panose="020B0604020202020204" pitchFamily="34" charset="-122"/>
              </a:rPr>
              <a:t>void FD_SET(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fdset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void FD_CLR(</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fdset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smtClean="0">
                <a:latin typeface="Arial Unicode MS" panose="020B0604020202020204" pitchFamily="34" charset="-122"/>
              </a:rPr>
              <a:t>void FD_ZERO(</a:t>
            </a:r>
            <a:r>
              <a:rPr lang="en-US" altLang="zh-CN" dirty="0" err="1" smtClean="0">
                <a:latin typeface="Arial Unicode MS" panose="020B0604020202020204" pitchFamily="34" charset="-122"/>
              </a:rPr>
              <a:t>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fdset</a:t>
            </a:r>
            <a:r>
              <a:rPr lang="en-US" altLang="zh-CN" dirty="0" smtClean="0">
                <a:latin typeface="Arial Unicode MS" panose="020B0604020202020204" pitchFamily="34" charset="-122"/>
              </a:rPr>
              <a:t>) </a:t>
            </a:r>
            <a:br>
              <a:rPr lang="en-US" altLang="zh-CN" dirty="0" smtClean="0">
                <a:latin typeface="Arial Unicode MS" panose="020B0604020202020204" pitchFamily="34" charset="-122"/>
              </a:rPr>
            </a:b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FD_ISSET(</a:t>
            </a:r>
            <a:r>
              <a:rPr lang="en-US" altLang="zh-CN" dirty="0" err="1" smtClean="0">
                <a:latin typeface="Arial Unicode MS" panose="020B0604020202020204" pitchFamily="34" charset="-122"/>
              </a:rPr>
              <a:t>int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fd,fd_set</a:t>
            </a:r>
            <a:r>
              <a:rPr lang="en-US" altLang="zh-CN" dirty="0" smtClean="0">
                <a:latin typeface="Arial Unicode MS" panose="020B0604020202020204" pitchFamily="34" charset="-122"/>
              </a:rPr>
              <a:t> *</a:t>
            </a:r>
            <a:r>
              <a:rPr lang="en-US" altLang="zh-CN" dirty="0" err="1" smtClean="0">
                <a:latin typeface="Arial Unicode MS" panose="020B0604020202020204" pitchFamily="34" charset="-122"/>
              </a:rPr>
              <a:t>fdset</a:t>
            </a:r>
            <a:r>
              <a:rPr lang="en-US" altLang="zh-CN" dirty="0" smtClean="0">
                <a:latin typeface="Arial Unicode MS" panose="020B0604020202020204" pitchFamily="34" charset="-122"/>
              </a:rPr>
              <a:t>) </a:t>
            </a:r>
          </a:p>
          <a:p>
            <a:endParaRPr lang="zh-CN" altLang="en-US" dirty="0"/>
          </a:p>
        </p:txBody>
      </p:sp>
    </p:spTree>
    <p:extLst>
      <p:ext uri="{BB962C8B-B14F-4D97-AF65-F5344CB8AC3E}">
        <p14:creationId xmlns:p14="http://schemas.microsoft.com/office/powerpoint/2010/main" val="4172787931"/>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4051" y="0"/>
            <a:ext cx="4792565" cy="1325563"/>
          </a:xfrm>
        </p:spPr>
        <p:txBody>
          <a:bodyPr/>
          <a:lstStyle/>
          <a:p>
            <a:r>
              <a:rPr lang="zh-CN" altLang="en-US" dirty="0" smtClean="0"/>
              <a:t>使用</a:t>
            </a:r>
            <a:r>
              <a:rPr lang="en-US" altLang="zh-CN" dirty="0" smtClean="0"/>
              <a:t>select</a:t>
            </a:r>
            <a:r>
              <a:rPr lang="zh-CN" altLang="en-US" dirty="0" smtClean="0"/>
              <a:t>的一个例子</a:t>
            </a:r>
            <a:endParaRPr lang="zh-CN" altLang="en-US" dirty="0"/>
          </a:p>
        </p:txBody>
      </p:sp>
      <p:sp>
        <p:nvSpPr>
          <p:cNvPr id="3" name="内容占位符 2"/>
          <p:cNvSpPr>
            <a:spLocks noGrp="1"/>
          </p:cNvSpPr>
          <p:nvPr>
            <p:ph idx="1"/>
          </p:nvPr>
        </p:nvSpPr>
        <p:spPr>
          <a:xfrm>
            <a:off x="4818965" y="182429"/>
            <a:ext cx="7254922" cy="6595876"/>
          </a:xfrm>
        </p:spPr>
        <p:style>
          <a:lnRef idx="1">
            <a:schemeClr val="accent1"/>
          </a:lnRef>
          <a:fillRef idx="2">
            <a:schemeClr val="accent1"/>
          </a:fillRef>
          <a:effectRef idx="1">
            <a:schemeClr val="accent1"/>
          </a:effectRef>
          <a:fontRef idx="minor">
            <a:schemeClr val="dk1"/>
          </a:fontRef>
        </p:style>
        <p:txBody>
          <a:bodyPr>
            <a:noAutofit/>
          </a:bodyPr>
          <a:lstStyle/>
          <a:p>
            <a:pPr marL="0" indent="0">
              <a:buNone/>
            </a:pPr>
            <a:r>
              <a:rPr lang="en-US" altLang="zh-CN" sz="2000" dirty="0" err="1" smtClean="0">
                <a:latin typeface="Arial Unicode MS" panose="020B0604020202020204" pitchFamily="34" charset="-122"/>
              </a:rPr>
              <a:t>int</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use_select</a:t>
            </a:r>
            <a:r>
              <a:rPr lang="en-US" altLang="zh-CN" sz="2000" dirty="0" smtClean="0">
                <a:latin typeface="Arial Unicode MS" panose="020B0604020202020204" pitchFamily="34" charset="-122"/>
              </a:rPr>
              <a:t>(</a:t>
            </a:r>
            <a:r>
              <a:rPr lang="en-US" altLang="zh-CN" sz="2000" dirty="0" err="1" smtClean="0">
                <a:latin typeface="Arial Unicode MS" panose="020B0604020202020204" pitchFamily="34" charset="-122"/>
              </a:rPr>
              <a:t>int</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readfd,int</a:t>
            </a:r>
            <a:r>
              <a:rPr lang="en-US" altLang="zh-CN" sz="2000" dirty="0" smtClean="0">
                <a:latin typeface="Arial Unicode MS" panose="020B0604020202020204" pitchFamily="34" charset="-122"/>
              </a:rPr>
              <a:t> n)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fd_set</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my_readfd</a:t>
            </a:r>
            <a:r>
              <a:rPr lang="en-US" altLang="zh-CN" sz="2000" dirty="0" smtClean="0">
                <a:latin typeface="Arial Unicode MS" panose="020B0604020202020204" pitchFamily="34" charset="-122"/>
              </a:rPr>
              <a:t>;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int</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maxfd</a:t>
            </a:r>
            <a:r>
              <a:rPr lang="en-US" altLang="zh-CN" sz="2000" dirty="0" smtClean="0">
                <a:latin typeface="Arial Unicode MS" panose="020B0604020202020204" pitchFamily="34" charset="-122"/>
              </a:rPr>
              <a:t>;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int</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i</a:t>
            </a:r>
            <a:r>
              <a:rPr lang="en-US" altLang="zh-CN" sz="2000" dirty="0" smtClean="0">
                <a:latin typeface="Arial Unicode MS" panose="020B0604020202020204" pitchFamily="34" charset="-122"/>
              </a:rPr>
              <a:t>;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maxfd</a:t>
            </a:r>
            <a:r>
              <a:rPr lang="en-US" altLang="zh-CN" sz="2000" dirty="0" smtClean="0">
                <a:latin typeface="Arial Unicode MS" panose="020B0604020202020204" pitchFamily="34" charset="-122"/>
              </a:rPr>
              <a:t>=</a:t>
            </a:r>
            <a:r>
              <a:rPr lang="en-US" altLang="zh-CN" sz="2000" dirty="0" err="1" smtClean="0">
                <a:latin typeface="Arial Unicode MS" panose="020B0604020202020204" pitchFamily="34" charset="-122"/>
              </a:rPr>
              <a:t>readfd</a:t>
            </a:r>
            <a:r>
              <a:rPr lang="en-US" altLang="zh-CN" sz="2000" dirty="0" smtClean="0">
                <a:latin typeface="Arial Unicode MS" panose="020B0604020202020204" pitchFamily="34" charset="-122"/>
              </a:rPr>
              <a:t>[0];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for(</a:t>
            </a:r>
            <a:r>
              <a:rPr lang="en-US" altLang="zh-CN" sz="2000" dirty="0" err="1" smtClean="0">
                <a:latin typeface="Arial Unicode MS" panose="020B0604020202020204" pitchFamily="34" charset="-122"/>
              </a:rPr>
              <a:t>i</a:t>
            </a:r>
            <a:r>
              <a:rPr lang="en-US" altLang="zh-CN" sz="2000" dirty="0" smtClean="0">
                <a:latin typeface="Arial Unicode MS" panose="020B0604020202020204" pitchFamily="34" charset="-122"/>
              </a:rPr>
              <a:t>=1;i&lt;</a:t>
            </a:r>
            <a:r>
              <a:rPr lang="en-US" altLang="zh-CN" sz="2000" dirty="0" err="1" smtClean="0">
                <a:latin typeface="Arial Unicode MS" panose="020B0604020202020204" pitchFamily="34" charset="-122"/>
              </a:rPr>
              <a:t>n;i</a:t>
            </a:r>
            <a:r>
              <a:rPr lang="en-US" altLang="zh-CN" sz="2000" dirty="0" smtClean="0">
                <a:latin typeface="Arial Unicode MS" panose="020B0604020202020204" pitchFamily="34" charset="-122"/>
              </a:rPr>
              <a:t>++) </a:t>
            </a:r>
            <a:br>
              <a:rPr lang="en-US" altLang="zh-CN" sz="2000" dirty="0" smtClean="0">
                <a:latin typeface="Arial Unicode MS" panose="020B0604020202020204" pitchFamily="34" charset="-122"/>
              </a:rPr>
            </a:br>
            <a:r>
              <a:rPr lang="en-US" altLang="zh-CN" sz="2000" dirty="0" smtClean="0">
                <a:latin typeface="Arial Unicode MS" panose="020B0604020202020204" pitchFamily="34" charset="-122"/>
              </a:rPr>
              <a:t>        if(</a:t>
            </a:r>
            <a:r>
              <a:rPr lang="en-US" altLang="zh-CN" sz="2000" dirty="0" err="1" smtClean="0">
                <a:latin typeface="Arial Unicode MS" panose="020B0604020202020204" pitchFamily="34" charset="-122"/>
              </a:rPr>
              <a:t>readfd</a:t>
            </a:r>
            <a:r>
              <a:rPr lang="en-US" altLang="zh-CN" sz="2000" dirty="0" smtClean="0">
                <a:latin typeface="Arial Unicode MS" panose="020B0604020202020204" pitchFamily="34" charset="-122"/>
              </a:rPr>
              <a:t>[</a:t>
            </a:r>
            <a:r>
              <a:rPr lang="en-US" altLang="zh-CN" sz="2000" dirty="0" err="1" smtClean="0">
                <a:latin typeface="Arial Unicode MS" panose="020B0604020202020204" pitchFamily="34" charset="-122"/>
              </a:rPr>
              <a:t>i</a:t>
            </a:r>
            <a:r>
              <a:rPr lang="en-US" altLang="zh-CN" sz="2000" dirty="0" smtClean="0">
                <a:latin typeface="Arial Unicode MS" panose="020B0604020202020204" pitchFamily="34" charset="-122"/>
              </a:rPr>
              <a:t>]&gt;</a:t>
            </a:r>
            <a:r>
              <a:rPr lang="en-US" altLang="zh-CN" sz="2000" dirty="0" err="1" smtClean="0">
                <a:latin typeface="Arial Unicode MS" panose="020B0604020202020204" pitchFamily="34" charset="-122"/>
              </a:rPr>
              <a:t>maxfd</a:t>
            </a:r>
            <a:r>
              <a:rPr lang="en-US" altLang="zh-CN" sz="2000" dirty="0" smtClean="0">
                <a:latin typeface="Arial Unicode MS" panose="020B0604020202020204" pitchFamily="34" charset="-122"/>
              </a:rPr>
              <a:t>) </a:t>
            </a:r>
            <a:r>
              <a:rPr lang="en-US" altLang="zh-CN" sz="2000" dirty="0" err="1" smtClean="0">
                <a:latin typeface="Arial Unicode MS" panose="020B0604020202020204" pitchFamily="34" charset="-122"/>
              </a:rPr>
              <a:t>maxfd</a:t>
            </a:r>
            <a:r>
              <a:rPr lang="en-US" altLang="zh-CN" sz="2000" dirty="0" smtClean="0">
                <a:latin typeface="Arial Unicode MS" panose="020B0604020202020204" pitchFamily="34" charset="-122"/>
              </a:rPr>
              <a:t>=</a:t>
            </a:r>
            <a:r>
              <a:rPr lang="en-US" altLang="zh-CN" sz="2000" dirty="0" err="1" smtClean="0">
                <a:latin typeface="Arial Unicode MS" panose="020B0604020202020204" pitchFamily="34" charset="-122"/>
              </a:rPr>
              <a:t>readfd</a:t>
            </a:r>
            <a:r>
              <a:rPr lang="en-US" altLang="zh-CN" sz="2000" dirty="0" smtClean="0">
                <a:latin typeface="Arial Unicode MS" panose="020B0604020202020204" pitchFamily="34" charset="-122"/>
              </a:rPr>
              <a:t>[</a:t>
            </a:r>
            <a:r>
              <a:rPr lang="en-US" altLang="zh-CN" sz="2000" dirty="0" err="1" smtClean="0">
                <a:latin typeface="Arial Unicode MS" panose="020B0604020202020204" pitchFamily="34" charset="-122"/>
              </a:rPr>
              <a:t>i</a:t>
            </a:r>
            <a:r>
              <a:rPr lang="en-US" altLang="zh-CN" sz="2000" dirty="0" smtClean="0">
                <a:latin typeface="Arial Unicode MS" panose="020B0604020202020204" pitchFamily="34" charset="-122"/>
              </a:rPr>
              <a:t>]; </a:t>
            </a:r>
            <a:endParaRPr lang="en-US" altLang="zh-CN" sz="2000" dirty="0" smtClean="0"/>
          </a:p>
          <a:p>
            <a:pPr marL="0" indent="0">
              <a:buNone/>
            </a:pPr>
            <a:r>
              <a:rPr lang="zh-CN" altLang="en-US" sz="2000" dirty="0">
                <a:latin typeface="Arial Unicode MS" panose="020B0604020202020204" pitchFamily="34" charset="-122"/>
              </a:rPr>
              <a:t> </a:t>
            </a:r>
            <a:r>
              <a:rPr lang="en-US" altLang="zh-CN" sz="2000" dirty="0">
                <a:latin typeface="Arial Unicode MS" panose="020B0604020202020204" pitchFamily="34" charset="-122"/>
              </a:rPr>
              <a:t>while(1) { /* </a:t>
            </a:r>
            <a:r>
              <a:rPr lang="zh-CN" altLang="en-US" sz="2000" dirty="0">
                <a:latin typeface="Arial Unicode MS" panose="020B0604020202020204" pitchFamily="34" charset="-122"/>
              </a:rPr>
              <a:t>将所有的文件描述符加入 *</a:t>
            </a:r>
            <a:r>
              <a:rPr lang="en-US" altLang="zh-CN" sz="2000" dirty="0">
                <a:latin typeface="Arial Unicode MS" panose="020B0604020202020204" pitchFamily="34" charset="-122"/>
              </a:rPr>
              <a:t>/</a:t>
            </a:r>
            <a:br>
              <a:rPr lang="en-US" altLang="zh-CN" sz="2000" dirty="0">
                <a:latin typeface="Arial Unicode MS" panose="020B0604020202020204" pitchFamily="34" charset="-122"/>
              </a:rPr>
            </a:br>
            <a:r>
              <a:rPr lang="en-US" altLang="zh-CN" sz="2000" dirty="0">
                <a:latin typeface="Arial Unicode MS" panose="020B0604020202020204" pitchFamily="34" charset="-122"/>
              </a:rPr>
              <a:t>     FD_ZERO(&amp;</a:t>
            </a:r>
            <a:r>
              <a:rPr lang="en-US" altLang="zh-CN" sz="2000" dirty="0" err="1">
                <a:latin typeface="Arial Unicode MS" panose="020B0604020202020204" pitchFamily="34" charset="-122"/>
              </a:rPr>
              <a:t>my_readfd</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for(</a:t>
            </a:r>
            <a:r>
              <a:rPr lang="en-US" altLang="zh-CN" sz="2000" dirty="0" err="1">
                <a:latin typeface="Arial Unicode MS" panose="020B0604020202020204" pitchFamily="34" charset="-122"/>
              </a:rPr>
              <a:t>i</a:t>
            </a:r>
            <a:r>
              <a:rPr lang="en-US" altLang="zh-CN" sz="2000" dirty="0">
                <a:latin typeface="Arial Unicode MS" panose="020B0604020202020204" pitchFamily="34" charset="-122"/>
              </a:rPr>
              <a:t>=0;i&lt;</a:t>
            </a:r>
            <a:r>
              <a:rPr lang="en-US" altLang="zh-CN" sz="2000" dirty="0" err="1">
                <a:latin typeface="Arial Unicode MS" panose="020B0604020202020204" pitchFamily="34" charset="-122"/>
              </a:rPr>
              <a:t>n;i</a:t>
            </a:r>
            <a:r>
              <a:rPr lang="en-US" altLang="zh-CN" sz="2000" dirty="0">
                <a:latin typeface="Arial Unicode MS" panose="020B0604020202020204" pitchFamily="34" charset="-122"/>
              </a:rPr>
              <a:t>++)</a:t>
            </a:r>
            <a:br>
              <a:rPr lang="en-US" altLang="zh-CN" sz="2000" dirty="0">
                <a:latin typeface="Arial Unicode MS" panose="020B0604020202020204" pitchFamily="34" charset="-122"/>
              </a:rPr>
            </a:br>
            <a:r>
              <a:rPr lang="en-US" altLang="zh-CN" sz="2000" dirty="0">
                <a:latin typeface="Arial Unicode MS" panose="020B0604020202020204" pitchFamily="34" charset="-122"/>
              </a:rPr>
              <a:t>     FD_SET(</a:t>
            </a:r>
            <a:r>
              <a:rPr lang="en-US" altLang="zh-CN" sz="2000" dirty="0" err="1">
                <a:latin typeface="Arial Unicode MS" panose="020B0604020202020204" pitchFamily="34" charset="-122"/>
              </a:rPr>
              <a:t>readfd</a:t>
            </a:r>
            <a:r>
              <a:rPr lang="en-US" altLang="zh-CN" sz="2000" dirty="0">
                <a:latin typeface="Arial Unicode MS" panose="020B0604020202020204" pitchFamily="34" charset="-122"/>
              </a:rPr>
              <a:t>[</a:t>
            </a:r>
            <a:r>
              <a:rPr lang="en-US" altLang="zh-CN" sz="2000" dirty="0" err="1">
                <a:latin typeface="Arial Unicode MS" panose="020B0604020202020204" pitchFamily="34" charset="-122"/>
              </a:rPr>
              <a:t>i</a:t>
            </a:r>
            <a:r>
              <a:rPr lang="en-US" altLang="zh-CN" sz="2000" dirty="0">
                <a:latin typeface="Arial Unicode MS" panose="020B0604020202020204" pitchFamily="34" charset="-122"/>
              </a:rPr>
              <a:t>],*</a:t>
            </a:r>
            <a:r>
              <a:rPr lang="en-US" altLang="zh-CN" sz="2000" dirty="0" err="1">
                <a:latin typeface="Arial Unicode MS" panose="020B0604020202020204" pitchFamily="34" charset="-122"/>
              </a:rPr>
              <a:t>my_readfd</a:t>
            </a:r>
            <a:r>
              <a:rPr lang="en-US" altLang="zh-CN" sz="2000" dirty="0">
                <a:latin typeface="Arial Unicode MS" panose="020B0604020202020204" pitchFamily="34" charset="-122"/>
              </a:rPr>
              <a:t>); /* </a:t>
            </a:r>
            <a:r>
              <a:rPr lang="zh-CN" altLang="en-US" sz="2000" dirty="0">
                <a:latin typeface="Arial Unicode MS" panose="020B0604020202020204" pitchFamily="34" charset="-122"/>
              </a:rPr>
              <a:t>进程阻塞 *</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select(maxfd+1,&amp; </a:t>
            </a:r>
            <a:r>
              <a:rPr lang="en-US" altLang="zh-CN" sz="2000" dirty="0" err="1">
                <a:latin typeface="Arial Unicode MS" panose="020B0604020202020204" pitchFamily="34" charset="-122"/>
              </a:rPr>
              <a:t>my_readfd,NULL,NULL,NULL</a:t>
            </a:r>
            <a:r>
              <a:rPr lang="en-US" altLang="zh-CN" sz="2000" dirty="0">
                <a:latin typeface="Arial Unicode MS" panose="020B0604020202020204" pitchFamily="34" charset="-122"/>
              </a:rPr>
              <a:t>);</a:t>
            </a:r>
            <a:br>
              <a:rPr lang="en-US" altLang="zh-CN" sz="2000" dirty="0">
                <a:latin typeface="Arial Unicode MS" panose="020B0604020202020204" pitchFamily="34" charset="-122"/>
              </a:rPr>
            </a:br>
            <a:r>
              <a:rPr lang="en-US" altLang="zh-CN" sz="2000" dirty="0">
                <a:latin typeface="Arial Unicode MS" panose="020B0604020202020204" pitchFamily="34" charset="-122"/>
              </a:rPr>
              <a:t>     /* </a:t>
            </a:r>
            <a:r>
              <a:rPr lang="zh-CN" altLang="en-US" sz="2000" dirty="0">
                <a:latin typeface="Arial Unicode MS" panose="020B0604020202020204" pitchFamily="34" charset="-122"/>
              </a:rPr>
              <a:t>有东西可以读了 *</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for(</a:t>
            </a:r>
            <a:r>
              <a:rPr lang="en-US" altLang="zh-CN" sz="2000" dirty="0" err="1">
                <a:latin typeface="Arial Unicode MS" panose="020B0604020202020204" pitchFamily="34" charset="-122"/>
              </a:rPr>
              <a:t>i</a:t>
            </a:r>
            <a:r>
              <a:rPr lang="en-US" altLang="zh-CN" sz="2000" dirty="0">
                <a:latin typeface="Arial Unicode MS" panose="020B0604020202020204" pitchFamily="34" charset="-122"/>
              </a:rPr>
              <a:t>=0;i&lt;</a:t>
            </a:r>
            <a:r>
              <a:rPr lang="en-US" altLang="zh-CN" sz="2000" dirty="0" err="1">
                <a:latin typeface="Arial Unicode MS" panose="020B0604020202020204" pitchFamily="34" charset="-122"/>
              </a:rPr>
              <a:t>n;i</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if(FD_ISSET(</a:t>
            </a:r>
            <a:r>
              <a:rPr lang="en-US" altLang="zh-CN" sz="2000" dirty="0" err="1">
                <a:latin typeface="Arial Unicode MS" panose="020B0604020202020204" pitchFamily="34" charset="-122"/>
              </a:rPr>
              <a:t>readfd</a:t>
            </a:r>
            <a:r>
              <a:rPr lang="en-US" altLang="zh-CN" sz="2000" dirty="0">
                <a:latin typeface="Arial Unicode MS" panose="020B0604020202020204" pitchFamily="34" charset="-122"/>
              </a:rPr>
              <a:t>[</a:t>
            </a:r>
            <a:r>
              <a:rPr lang="en-US" altLang="zh-CN" sz="2000" dirty="0" err="1">
                <a:latin typeface="Arial Unicode MS" panose="020B0604020202020204" pitchFamily="34" charset="-122"/>
              </a:rPr>
              <a:t>i</a:t>
            </a:r>
            <a:r>
              <a:rPr lang="en-US" altLang="zh-CN" sz="2000" dirty="0">
                <a:latin typeface="Arial Unicode MS" panose="020B0604020202020204" pitchFamily="34" charset="-122"/>
              </a:rPr>
              <a:t>],&amp;</a:t>
            </a:r>
            <a:r>
              <a:rPr lang="en-US" altLang="zh-CN" sz="2000" dirty="0" err="1">
                <a:latin typeface="Arial Unicode MS" panose="020B0604020202020204" pitchFamily="34" charset="-122"/>
              </a:rPr>
              <a:t>my_readfd</a:t>
            </a:r>
            <a:r>
              <a:rPr lang="en-US" altLang="zh-CN" sz="2000" dirty="0">
                <a:latin typeface="Arial Unicode MS" panose="020B0604020202020204" pitchFamily="34" charset="-122"/>
              </a:rPr>
              <a:t>)) { </a:t>
            </a:r>
            <a:br>
              <a:rPr lang="en-US" altLang="zh-CN" sz="2000" dirty="0">
                <a:latin typeface="Arial Unicode MS" panose="020B0604020202020204" pitchFamily="34" charset="-122"/>
              </a:rPr>
            </a:br>
            <a:r>
              <a:rPr lang="en-US" altLang="zh-CN" sz="2000" dirty="0">
                <a:latin typeface="Arial Unicode MS" panose="020B0604020202020204" pitchFamily="34" charset="-122"/>
              </a:rPr>
              <a:t>        /* </a:t>
            </a:r>
            <a:r>
              <a:rPr lang="zh-CN" altLang="en-US" sz="2000" dirty="0">
                <a:latin typeface="Arial Unicode MS" panose="020B0604020202020204" pitchFamily="34" charset="-122"/>
              </a:rPr>
              <a:t>原来是我可以读了 *</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a:t>
            </a:r>
            <a:r>
              <a:rPr lang="en-US" altLang="zh-CN" sz="2000" dirty="0" err="1">
                <a:latin typeface="Arial Unicode MS" panose="020B0604020202020204" pitchFamily="34" charset="-122"/>
              </a:rPr>
              <a:t>we_read</a:t>
            </a:r>
            <a:r>
              <a:rPr lang="en-US" altLang="zh-CN" sz="2000" dirty="0">
                <a:latin typeface="Arial Unicode MS" panose="020B0604020202020204" pitchFamily="34" charset="-122"/>
              </a:rPr>
              <a:t>(</a:t>
            </a:r>
            <a:r>
              <a:rPr lang="en-US" altLang="zh-CN" sz="2000" dirty="0" err="1">
                <a:latin typeface="Arial Unicode MS" panose="020B0604020202020204" pitchFamily="34" charset="-122"/>
              </a:rPr>
              <a:t>readfd</a:t>
            </a:r>
            <a:r>
              <a:rPr lang="en-US" altLang="zh-CN" sz="2000" dirty="0">
                <a:latin typeface="Arial Unicode MS" panose="020B0604020202020204" pitchFamily="34" charset="-122"/>
              </a:rPr>
              <a:t>[</a:t>
            </a:r>
            <a:r>
              <a:rPr lang="en-US" altLang="zh-CN" sz="2000" dirty="0" err="1">
                <a:latin typeface="Arial Unicode MS" panose="020B0604020202020204" pitchFamily="34" charset="-122"/>
              </a:rPr>
              <a:t>i</a:t>
            </a:r>
            <a:r>
              <a:rPr lang="en-US" altLang="zh-CN" sz="2000" dirty="0">
                <a:latin typeface="Arial Unicode MS" panose="020B0604020202020204" pitchFamily="34" charset="-122"/>
              </a:rPr>
              <a:t>]); </a:t>
            </a:r>
            <a:br>
              <a:rPr lang="en-US" altLang="zh-CN" sz="2000" dirty="0">
                <a:latin typeface="Arial Unicode MS" panose="020B0604020202020204" pitchFamily="34" charset="-122"/>
              </a:rPr>
            </a:br>
            <a:r>
              <a:rPr lang="en-US" altLang="zh-CN" sz="2000" dirty="0">
                <a:latin typeface="Arial Unicode MS" panose="020B0604020202020204" pitchFamily="34" charset="-122"/>
              </a:rPr>
              <a:t>  } </a:t>
            </a:r>
            <a:br>
              <a:rPr lang="en-US" altLang="zh-CN" sz="2000" dirty="0">
                <a:latin typeface="Arial Unicode MS" panose="020B0604020202020204" pitchFamily="34" charset="-122"/>
              </a:rPr>
            </a:br>
            <a:r>
              <a:rPr lang="en-US" altLang="zh-CN" sz="2000" dirty="0">
                <a:latin typeface="Arial Unicode MS" panose="020B0604020202020204" pitchFamily="34" charset="-122"/>
              </a:rPr>
              <a:t>} </a:t>
            </a:r>
            <a:endParaRPr lang="zh-CN" altLang="en-US" sz="2000" dirty="0"/>
          </a:p>
        </p:txBody>
      </p:sp>
    </p:spTree>
    <p:extLst>
      <p:ext uri="{BB962C8B-B14F-4D97-AF65-F5344CB8AC3E}">
        <p14:creationId xmlns:p14="http://schemas.microsoft.com/office/powerpoint/2010/main" val="3967365893"/>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多路复用</a:t>
            </a:r>
            <a:r>
              <a:rPr lang="en-US" altLang="zh-CN" b="0" dirty="0" smtClean="0"/>
              <a:t>I/O</a:t>
            </a:r>
            <a:endParaRPr lang="zh-CN" altLang="en-US" dirty="0"/>
          </a:p>
        </p:txBody>
      </p:sp>
      <p:sp>
        <p:nvSpPr>
          <p:cNvPr id="3" name="内容占位符 2"/>
          <p:cNvSpPr>
            <a:spLocks noGrp="1"/>
          </p:cNvSpPr>
          <p:nvPr>
            <p:ph idx="1"/>
          </p:nvPr>
        </p:nvSpPr>
        <p:spPr/>
        <p:txBody>
          <a:bodyPr/>
          <a:lstStyle/>
          <a:p>
            <a:r>
              <a:rPr lang="zh-CN" altLang="en-US" dirty="0" smtClean="0">
                <a:latin typeface="宋体" panose="02010600030101010101" pitchFamily="2" charset="-122"/>
              </a:rPr>
              <a:t>在使用</a:t>
            </a:r>
            <a:r>
              <a:rPr lang="en-US" altLang="zh-CN" dirty="0" smtClean="0">
                <a:latin typeface="Times New Roman" panose="02020603050405020304" pitchFamily="18" charset="0"/>
                <a:ea typeface="楷体_GB2312" pitchFamily="49" charset="-122"/>
              </a:rPr>
              <a:t>I/O </a:t>
            </a:r>
            <a:r>
              <a:rPr lang="zh-CN" altLang="en-US" dirty="0" smtClean="0">
                <a:latin typeface="宋体" panose="02010600030101010101" pitchFamily="2" charset="-122"/>
              </a:rPr>
              <a:t>多路技术的时候，我们调用</a:t>
            </a:r>
            <a:r>
              <a:rPr lang="en-US" altLang="zh-CN" dirty="0" smtClean="0">
                <a:solidFill>
                  <a:srgbClr val="0000FF"/>
                </a:solidFill>
                <a:latin typeface="Times New Roman" panose="02020603050405020304" pitchFamily="18" charset="0"/>
                <a:ea typeface="楷体_GB2312" pitchFamily="49" charset="-122"/>
              </a:rPr>
              <a:t>select()</a:t>
            </a:r>
            <a:r>
              <a:rPr lang="zh-CN" altLang="en-US" dirty="0" smtClean="0">
                <a:latin typeface="宋体" panose="02010600030101010101" pitchFamily="2" charset="-122"/>
              </a:rPr>
              <a:t>函数时候阻塞，而不是我们来调用</a:t>
            </a:r>
            <a:r>
              <a:rPr lang="en-US" altLang="zh-CN" dirty="0" err="1" smtClean="0">
                <a:solidFill>
                  <a:srgbClr val="0000FF"/>
                </a:solidFill>
                <a:latin typeface="Times New Roman" panose="02020603050405020304" pitchFamily="18" charset="0"/>
                <a:ea typeface="楷体_GB2312" pitchFamily="49" charset="-122"/>
              </a:rPr>
              <a:t>recvfrom</a:t>
            </a:r>
            <a:r>
              <a:rPr lang="zh-CN" altLang="en-US" dirty="0" smtClean="0">
                <a:latin typeface="宋体" panose="02010600030101010101" pitchFamily="2" charset="-122"/>
              </a:rPr>
              <a:t>（或</a:t>
            </a:r>
            <a:r>
              <a:rPr lang="en-US" altLang="zh-CN" dirty="0" err="1" smtClean="0">
                <a:latin typeface="Times New Roman" panose="02020603050405020304" pitchFamily="18" charset="0"/>
                <a:ea typeface="楷体_GB2312" pitchFamily="49" charset="-122"/>
              </a:rPr>
              <a:t>recv</a:t>
            </a:r>
            <a:r>
              <a:rPr lang="zh-CN" altLang="en-US" dirty="0" smtClean="0">
                <a:latin typeface="宋体" panose="02010600030101010101" pitchFamily="2" charset="-122"/>
              </a:rPr>
              <a:t>）的时候阻塞。</a:t>
            </a:r>
          </a:p>
          <a:p>
            <a:r>
              <a:rPr lang="zh-CN" altLang="en-US" dirty="0" smtClean="0">
                <a:latin typeface="宋体" panose="02010600030101010101" pitchFamily="2" charset="-122"/>
              </a:rPr>
              <a:t>当我们调用</a:t>
            </a:r>
            <a:r>
              <a:rPr lang="en-US" altLang="zh-CN" dirty="0" smtClean="0">
                <a:latin typeface="Times New Roman" panose="02020603050405020304" pitchFamily="18" charset="0"/>
                <a:ea typeface="楷体_GB2312" pitchFamily="49" charset="-122"/>
              </a:rPr>
              <a:t>select </a:t>
            </a:r>
            <a:r>
              <a:rPr lang="zh-CN" altLang="en-US" dirty="0" smtClean="0">
                <a:latin typeface="宋体" panose="02010600030101010101" pitchFamily="2" charset="-122"/>
              </a:rPr>
              <a:t>函数阻塞的时候，</a:t>
            </a:r>
            <a:r>
              <a:rPr lang="en-US" altLang="zh-CN" dirty="0" smtClean="0">
                <a:latin typeface="Times New Roman" panose="02020603050405020304" pitchFamily="18" charset="0"/>
                <a:ea typeface="楷体_GB2312" pitchFamily="49" charset="-122"/>
              </a:rPr>
              <a:t>select </a:t>
            </a:r>
            <a:r>
              <a:rPr lang="zh-CN" altLang="en-US" dirty="0" smtClean="0">
                <a:latin typeface="宋体" panose="02010600030101010101" pitchFamily="2" charset="-122"/>
              </a:rPr>
              <a:t>函数等待数据报套接字进入读就绪状态。</a:t>
            </a:r>
          </a:p>
          <a:p>
            <a:r>
              <a:rPr lang="zh-CN" altLang="en-US" dirty="0" smtClean="0">
                <a:latin typeface="宋体" panose="02010600030101010101" pitchFamily="2" charset="-122"/>
              </a:rPr>
              <a:t>当</a:t>
            </a:r>
            <a:r>
              <a:rPr lang="en-US" altLang="zh-CN" dirty="0" smtClean="0">
                <a:latin typeface="Times New Roman" panose="02020603050405020304" pitchFamily="18" charset="0"/>
                <a:ea typeface="楷体_GB2312" pitchFamily="49" charset="-122"/>
              </a:rPr>
              <a:t>select </a:t>
            </a:r>
            <a:r>
              <a:rPr lang="zh-CN" altLang="en-US" dirty="0" smtClean="0">
                <a:latin typeface="宋体" panose="02010600030101010101" pitchFamily="2" charset="-122"/>
              </a:rPr>
              <a:t>函数返回的时候，也就是套接字可以读取数据的时候。</a:t>
            </a:r>
          </a:p>
          <a:p>
            <a:r>
              <a:rPr lang="zh-CN" altLang="en-US" dirty="0" smtClean="0">
                <a:latin typeface="宋体" panose="02010600030101010101" pitchFamily="2" charset="-122"/>
              </a:rPr>
              <a:t>这时候我们就可以调用</a:t>
            </a:r>
            <a:r>
              <a:rPr lang="en-US" altLang="zh-CN" dirty="0" err="1" smtClean="0">
                <a:latin typeface="Times New Roman" panose="02020603050405020304" pitchFamily="18" charset="0"/>
                <a:ea typeface="楷体_GB2312" pitchFamily="49" charset="-122"/>
              </a:rPr>
              <a:t>recvfrom</a:t>
            </a:r>
            <a:r>
              <a:rPr lang="zh-CN" altLang="en-US" dirty="0" smtClean="0">
                <a:latin typeface="宋体" panose="02010600030101010101" pitchFamily="2" charset="-122"/>
              </a:rPr>
              <a:t>函数来将数据拷贝到我们的程序缓冲区中。</a:t>
            </a:r>
          </a:p>
          <a:p>
            <a:endParaRPr lang="zh-CN" altLang="en-US" dirty="0"/>
          </a:p>
        </p:txBody>
      </p:sp>
    </p:spTree>
    <p:extLst>
      <p:ext uri="{BB962C8B-B14F-4D97-AF65-F5344CB8AC3E}">
        <p14:creationId xmlns:p14="http://schemas.microsoft.com/office/powerpoint/2010/main" val="1854400648"/>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046667" y="187515"/>
            <a:ext cx="8424862" cy="5759450"/>
            <a:chOff x="395288" y="333375"/>
            <a:chExt cx="8424862" cy="5759450"/>
          </a:xfrm>
        </p:grpSpPr>
        <p:sp>
          <p:nvSpPr>
            <p:cNvPr id="5" name="Text Box 2"/>
            <p:cNvSpPr txBox="1">
              <a:spLocks noChangeArrowheads="1"/>
            </p:cNvSpPr>
            <p:nvPr/>
          </p:nvSpPr>
          <p:spPr bwMode="auto">
            <a:xfrm>
              <a:off x="2051050" y="333375"/>
              <a:ext cx="1582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A50021"/>
                  </a:solidFill>
                </a:rPr>
                <a:t>应用程序</a:t>
              </a:r>
            </a:p>
          </p:txBody>
        </p:sp>
        <p:sp>
          <p:nvSpPr>
            <p:cNvPr id="6" name="Text Box 3"/>
            <p:cNvSpPr txBox="1">
              <a:spLocks noChangeArrowheads="1"/>
            </p:cNvSpPr>
            <p:nvPr/>
          </p:nvSpPr>
          <p:spPr bwMode="auto">
            <a:xfrm>
              <a:off x="6373813" y="333375"/>
              <a:ext cx="1582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A50021"/>
                  </a:solidFill>
                </a:rPr>
                <a:t>系统内核</a:t>
              </a:r>
            </a:p>
          </p:txBody>
        </p:sp>
        <p:sp>
          <p:nvSpPr>
            <p:cNvPr id="7" name="Text Box 4"/>
            <p:cNvSpPr txBox="1">
              <a:spLocks noChangeArrowheads="1"/>
            </p:cNvSpPr>
            <p:nvPr/>
          </p:nvSpPr>
          <p:spPr bwMode="auto">
            <a:xfrm>
              <a:off x="2051050" y="1203325"/>
              <a:ext cx="115093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select</a:t>
              </a:r>
            </a:p>
          </p:txBody>
        </p:sp>
        <p:sp>
          <p:nvSpPr>
            <p:cNvPr id="8" name="Text Box 5"/>
            <p:cNvSpPr txBox="1">
              <a:spLocks noChangeArrowheads="1"/>
            </p:cNvSpPr>
            <p:nvPr/>
          </p:nvSpPr>
          <p:spPr bwMode="auto">
            <a:xfrm>
              <a:off x="6516688" y="1130300"/>
              <a:ext cx="1008062" cy="650875"/>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solidFill>
                    <a:srgbClr val="FF3300"/>
                  </a:solidFill>
                </a:rPr>
                <a:t>没有数据就绪</a:t>
              </a:r>
            </a:p>
          </p:txBody>
        </p:sp>
        <p:sp>
          <p:nvSpPr>
            <p:cNvPr id="9" name="Line 6"/>
            <p:cNvSpPr>
              <a:spLocks noChangeShapeType="1"/>
            </p:cNvSpPr>
            <p:nvPr/>
          </p:nvSpPr>
          <p:spPr bwMode="auto">
            <a:xfrm>
              <a:off x="3203575" y="1412875"/>
              <a:ext cx="3313113" cy="63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Text Box 7"/>
            <p:cNvSpPr txBox="1">
              <a:spLocks noChangeArrowheads="1"/>
            </p:cNvSpPr>
            <p:nvPr/>
          </p:nvSpPr>
          <p:spPr bwMode="auto">
            <a:xfrm>
              <a:off x="4140200" y="1052513"/>
              <a:ext cx="1225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系统调用</a:t>
              </a:r>
            </a:p>
          </p:txBody>
        </p:sp>
        <p:sp>
          <p:nvSpPr>
            <p:cNvPr id="11" name="Text Box 8"/>
            <p:cNvSpPr txBox="1">
              <a:spLocks noChangeArrowheads="1"/>
            </p:cNvSpPr>
            <p:nvPr/>
          </p:nvSpPr>
          <p:spPr bwMode="auto">
            <a:xfrm>
              <a:off x="2051050" y="3843338"/>
              <a:ext cx="15843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err="1"/>
                <a:t>recvfrom</a:t>
              </a:r>
              <a:endParaRPr lang="en-US" altLang="zh-CN" sz="2400" dirty="0"/>
            </a:p>
          </p:txBody>
        </p:sp>
        <p:sp>
          <p:nvSpPr>
            <p:cNvPr id="12" name="Text Box 9"/>
            <p:cNvSpPr txBox="1">
              <a:spLocks noChangeArrowheads="1"/>
            </p:cNvSpPr>
            <p:nvPr/>
          </p:nvSpPr>
          <p:spPr bwMode="auto">
            <a:xfrm>
              <a:off x="6516688" y="3697288"/>
              <a:ext cx="1368425" cy="6508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solidFill>
                    <a:srgbClr val="0000FF"/>
                  </a:solidFill>
                </a:rPr>
                <a:t>数据就绪，进行拷贝</a:t>
              </a:r>
            </a:p>
          </p:txBody>
        </p:sp>
        <p:sp>
          <p:nvSpPr>
            <p:cNvPr id="13" name="Line 10"/>
            <p:cNvSpPr>
              <a:spLocks noChangeShapeType="1"/>
            </p:cNvSpPr>
            <p:nvPr/>
          </p:nvSpPr>
          <p:spPr bwMode="auto">
            <a:xfrm flipH="1">
              <a:off x="3635375" y="3987800"/>
              <a:ext cx="2881313"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p:cNvSpPr>
              <a:spLocks noChangeShapeType="1"/>
            </p:cNvSpPr>
            <p:nvPr/>
          </p:nvSpPr>
          <p:spPr bwMode="auto">
            <a:xfrm>
              <a:off x="3635375" y="4132263"/>
              <a:ext cx="2881313"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2"/>
            <p:cNvSpPr txBox="1">
              <a:spLocks noChangeArrowheads="1"/>
            </p:cNvSpPr>
            <p:nvPr/>
          </p:nvSpPr>
          <p:spPr bwMode="auto">
            <a:xfrm>
              <a:off x="4500563" y="4124325"/>
              <a:ext cx="1225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系统调用</a:t>
              </a:r>
            </a:p>
          </p:txBody>
        </p:sp>
        <p:sp>
          <p:nvSpPr>
            <p:cNvPr id="16" name="Text Box 13"/>
            <p:cNvSpPr txBox="1">
              <a:spLocks noChangeArrowheads="1"/>
            </p:cNvSpPr>
            <p:nvPr/>
          </p:nvSpPr>
          <p:spPr bwMode="auto">
            <a:xfrm>
              <a:off x="3995738" y="3621088"/>
              <a:ext cx="22320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返回可用的描述符</a:t>
              </a:r>
            </a:p>
          </p:txBody>
        </p:sp>
        <p:sp>
          <p:nvSpPr>
            <p:cNvPr id="17" name="Text Box 14"/>
            <p:cNvSpPr txBox="1">
              <a:spLocks noChangeArrowheads="1"/>
            </p:cNvSpPr>
            <p:nvPr/>
          </p:nvSpPr>
          <p:spPr bwMode="auto">
            <a:xfrm>
              <a:off x="6516688" y="5643563"/>
              <a:ext cx="1368425" cy="376237"/>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solidFill>
                    <a:schemeClr val="hlink"/>
                  </a:solidFill>
                </a:rPr>
                <a:t>拷贝结束</a:t>
              </a:r>
            </a:p>
          </p:txBody>
        </p:sp>
        <p:sp>
          <p:nvSpPr>
            <p:cNvPr id="18" name="Text Box 15"/>
            <p:cNvSpPr txBox="1">
              <a:spLocks noChangeArrowheads="1"/>
            </p:cNvSpPr>
            <p:nvPr/>
          </p:nvSpPr>
          <p:spPr bwMode="auto">
            <a:xfrm>
              <a:off x="2051050" y="5716588"/>
              <a:ext cx="1728788"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处理数据</a:t>
              </a:r>
              <a:r>
                <a:rPr lang="en-US" altLang="zh-CN" sz="1800"/>
                <a:t>……</a:t>
              </a:r>
            </a:p>
          </p:txBody>
        </p:sp>
        <p:sp>
          <p:nvSpPr>
            <p:cNvPr id="19" name="Line 16"/>
            <p:cNvSpPr>
              <a:spLocks noChangeShapeType="1"/>
            </p:cNvSpPr>
            <p:nvPr/>
          </p:nvSpPr>
          <p:spPr bwMode="auto">
            <a:xfrm flipH="1">
              <a:off x="3779838" y="5859463"/>
              <a:ext cx="2736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17"/>
            <p:cNvSpPr txBox="1">
              <a:spLocks noChangeArrowheads="1"/>
            </p:cNvSpPr>
            <p:nvPr/>
          </p:nvSpPr>
          <p:spPr bwMode="auto">
            <a:xfrm>
              <a:off x="4572000" y="549910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正常返回</a:t>
              </a:r>
            </a:p>
          </p:txBody>
        </p:sp>
        <p:sp>
          <p:nvSpPr>
            <p:cNvPr id="21" name="Line 18"/>
            <p:cNvSpPr>
              <a:spLocks noChangeShapeType="1"/>
            </p:cNvSpPr>
            <p:nvPr/>
          </p:nvSpPr>
          <p:spPr bwMode="auto">
            <a:xfrm>
              <a:off x="7019925" y="1795463"/>
              <a:ext cx="0" cy="1920875"/>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9"/>
            <p:cNvSpPr>
              <a:spLocks noChangeShapeType="1"/>
            </p:cNvSpPr>
            <p:nvPr/>
          </p:nvSpPr>
          <p:spPr bwMode="auto">
            <a:xfrm>
              <a:off x="7092950" y="4364038"/>
              <a:ext cx="0" cy="1295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Text Box 20"/>
            <p:cNvSpPr txBox="1">
              <a:spLocks noChangeArrowheads="1"/>
            </p:cNvSpPr>
            <p:nvPr/>
          </p:nvSpPr>
          <p:spPr bwMode="auto">
            <a:xfrm>
              <a:off x="6948488" y="23495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等待数据</a:t>
              </a:r>
            </a:p>
          </p:txBody>
        </p:sp>
        <p:sp>
          <p:nvSpPr>
            <p:cNvPr id="24" name="Text Box 21"/>
            <p:cNvSpPr txBox="1">
              <a:spLocks noChangeArrowheads="1"/>
            </p:cNvSpPr>
            <p:nvPr/>
          </p:nvSpPr>
          <p:spPr bwMode="auto">
            <a:xfrm>
              <a:off x="7019925" y="4795838"/>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从内核拷贝数据</a:t>
              </a:r>
            </a:p>
          </p:txBody>
        </p:sp>
        <p:sp>
          <p:nvSpPr>
            <p:cNvPr id="25" name="AutoShape 22"/>
            <p:cNvSpPr>
              <a:spLocks/>
            </p:cNvSpPr>
            <p:nvPr/>
          </p:nvSpPr>
          <p:spPr bwMode="auto">
            <a:xfrm>
              <a:off x="1619250" y="1268413"/>
              <a:ext cx="360363" cy="2808287"/>
            </a:xfrm>
            <a:prstGeom prst="leftBrace">
              <a:avLst>
                <a:gd name="adj1" fmla="val 64941"/>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Text Box 23"/>
            <p:cNvSpPr txBox="1">
              <a:spLocks noChangeArrowheads="1"/>
            </p:cNvSpPr>
            <p:nvPr/>
          </p:nvSpPr>
          <p:spPr bwMode="auto">
            <a:xfrm>
              <a:off x="395288" y="1268413"/>
              <a:ext cx="936625"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进程在</a:t>
              </a:r>
              <a:r>
                <a:rPr lang="en-US" altLang="zh-CN" sz="1800"/>
                <a:t>select</a:t>
              </a:r>
              <a:r>
                <a:rPr lang="zh-CN" altLang="en-US" sz="1800"/>
                <a:t>处阻塞，等待描述符中的一个变为可操作</a:t>
              </a:r>
            </a:p>
          </p:txBody>
        </p:sp>
        <p:sp>
          <p:nvSpPr>
            <p:cNvPr id="27" name="AutoShape 24"/>
            <p:cNvSpPr>
              <a:spLocks/>
            </p:cNvSpPr>
            <p:nvPr/>
          </p:nvSpPr>
          <p:spPr bwMode="auto">
            <a:xfrm>
              <a:off x="1620838" y="4221163"/>
              <a:ext cx="287337" cy="1728787"/>
            </a:xfrm>
            <a:prstGeom prst="leftBrace">
              <a:avLst>
                <a:gd name="adj1" fmla="val 50138"/>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 name="Text Box 25"/>
            <p:cNvSpPr txBox="1">
              <a:spLocks noChangeArrowheads="1"/>
            </p:cNvSpPr>
            <p:nvPr/>
          </p:nvSpPr>
          <p:spPr bwMode="auto">
            <a:xfrm>
              <a:off x="539750" y="4340225"/>
              <a:ext cx="720725"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a:t>程序在数据拷贝时阻塞</a:t>
              </a:r>
            </a:p>
          </p:txBody>
        </p:sp>
      </p:grpSp>
    </p:spTree>
    <p:extLst>
      <p:ext uri="{BB962C8B-B14F-4D97-AF65-F5344CB8AC3E}">
        <p14:creationId xmlns:p14="http://schemas.microsoft.com/office/powerpoint/2010/main" val="2770297679"/>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多路复用</a:t>
            </a:r>
            <a:r>
              <a:rPr lang="en-US" altLang="zh-CN" b="0" dirty="0" smtClean="0"/>
              <a:t>I/O</a:t>
            </a:r>
            <a:endParaRPr lang="zh-CN" altLang="en-US" dirty="0"/>
          </a:p>
        </p:txBody>
      </p:sp>
      <p:sp>
        <p:nvSpPr>
          <p:cNvPr id="3" name="内容占位符 2"/>
          <p:cNvSpPr>
            <a:spLocks noGrp="1"/>
          </p:cNvSpPr>
          <p:nvPr>
            <p:ph idx="1"/>
          </p:nvPr>
        </p:nvSpPr>
        <p:spPr/>
        <p:txBody>
          <a:bodyPr/>
          <a:lstStyle/>
          <a:p>
            <a:r>
              <a:rPr lang="zh-CN" altLang="en-US" dirty="0" smtClean="0">
                <a:latin typeface="宋体" panose="02010600030101010101" pitchFamily="2" charset="-122"/>
              </a:rPr>
              <a:t>和阻塞模式相比较，多路复用的高级之处在于，它能同时等待多个文件描述符，而这些文件描述符（套接字描述符）其中的任意一个进入读就绪状态，</a:t>
            </a:r>
            <a:r>
              <a:rPr lang="en-US" altLang="zh-CN" dirty="0" smtClean="0">
                <a:latin typeface="Times New Roman" panose="02020603050405020304" pitchFamily="18" charset="0"/>
                <a:ea typeface="楷体_GB2312" pitchFamily="49" charset="-122"/>
              </a:rPr>
              <a:t>select()</a:t>
            </a:r>
            <a:r>
              <a:rPr lang="zh-CN" altLang="en-US" dirty="0" smtClean="0">
                <a:latin typeface="宋体" panose="02010600030101010101" pitchFamily="2" charset="-122"/>
              </a:rPr>
              <a:t>函数就可以返回。</a:t>
            </a:r>
          </a:p>
          <a:p>
            <a:r>
              <a:rPr lang="zh-CN" altLang="en-US" dirty="0" smtClean="0">
                <a:latin typeface="宋体" panose="02010600030101010101" pitchFamily="2" charset="-122"/>
              </a:rPr>
              <a:t>多路复用除了可以使用</a:t>
            </a:r>
            <a:r>
              <a:rPr lang="en-US" altLang="zh-CN" dirty="0" smtClean="0">
                <a:latin typeface="宋体" panose="02010600030101010101" pitchFamily="2" charset="-122"/>
              </a:rPr>
              <a:t>select</a:t>
            </a:r>
            <a:r>
              <a:rPr lang="zh-CN" altLang="en-US" dirty="0" smtClean="0">
                <a:latin typeface="宋体" panose="02010600030101010101" pitchFamily="2" charset="-122"/>
              </a:rPr>
              <a:t>函数实现外，还可以用</a:t>
            </a:r>
            <a:r>
              <a:rPr lang="en-US" altLang="zh-CN" dirty="0" smtClean="0">
                <a:latin typeface="宋体" panose="02010600030101010101" pitchFamily="2" charset="-122"/>
              </a:rPr>
              <a:t>poll</a:t>
            </a:r>
            <a:r>
              <a:rPr lang="zh-CN" altLang="en-US" dirty="0" smtClean="0">
                <a:latin typeface="宋体" panose="02010600030101010101" pitchFamily="2" charset="-122"/>
              </a:rPr>
              <a:t>函数来实现。</a:t>
            </a:r>
          </a:p>
          <a:p>
            <a:pPr lvl="1"/>
            <a:r>
              <a:rPr lang="zh-CN" altLang="en-US" dirty="0" smtClean="0">
                <a:latin typeface="宋体" panose="02010600030101010101" pitchFamily="2" charset="-122"/>
              </a:rPr>
              <a:t>与</a:t>
            </a:r>
            <a:r>
              <a:rPr lang="en-US" altLang="zh-CN" dirty="0" smtClean="0">
                <a:latin typeface="宋体" panose="02010600030101010101" pitchFamily="2" charset="-122"/>
              </a:rPr>
              <a:t>select</a:t>
            </a:r>
            <a:r>
              <a:rPr lang="zh-CN" altLang="en-US" dirty="0" smtClean="0">
                <a:latin typeface="宋体" panose="02010600030101010101" pitchFamily="2" charset="-122"/>
              </a:rPr>
              <a:t>函数相比，</a:t>
            </a:r>
            <a:r>
              <a:rPr lang="en-US" altLang="zh-CN" dirty="0" smtClean="0">
                <a:latin typeface="宋体" panose="02010600030101010101" pitchFamily="2" charset="-122"/>
              </a:rPr>
              <a:t>poll</a:t>
            </a:r>
            <a:r>
              <a:rPr lang="zh-CN" altLang="en-US" dirty="0" smtClean="0">
                <a:latin typeface="宋体" panose="02010600030101010101" pitchFamily="2" charset="-122"/>
              </a:rPr>
              <a:t>调用形式有所不同，它与流系统紧紧相关。</a:t>
            </a:r>
          </a:p>
          <a:p>
            <a:pPr lvl="1"/>
            <a:r>
              <a:rPr lang="en-US" altLang="zh-CN" dirty="0" smtClean="0">
                <a:latin typeface="宋体" panose="02010600030101010101" pitchFamily="2" charset="-122"/>
              </a:rPr>
              <a:t>select()</a:t>
            </a:r>
            <a:r>
              <a:rPr lang="zh-CN" altLang="en-US" dirty="0" smtClean="0">
                <a:latin typeface="宋体" panose="02010600030101010101" pitchFamily="2" charset="-122"/>
              </a:rPr>
              <a:t>是</a:t>
            </a:r>
            <a:r>
              <a:rPr lang="en-US" altLang="zh-CN" dirty="0" smtClean="0">
                <a:latin typeface="宋体" panose="02010600030101010101" pitchFamily="2" charset="-122"/>
              </a:rPr>
              <a:t>BSD</a:t>
            </a:r>
            <a:r>
              <a:rPr lang="zh-CN" altLang="en-US" dirty="0" smtClean="0">
                <a:latin typeface="宋体" panose="02010600030101010101" pitchFamily="2" charset="-122"/>
              </a:rPr>
              <a:t>中的实现方式，而</a:t>
            </a:r>
            <a:r>
              <a:rPr lang="en-US" altLang="zh-CN" dirty="0" smtClean="0">
                <a:latin typeface="宋体" panose="02010600030101010101" pitchFamily="2" charset="-122"/>
              </a:rPr>
              <a:t>poll()</a:t>
            </a:r>
            <a:r>
              <a:rPr lang="zh-CN" altLang="en-US" dirty="0" smtClean="0">
                <a:latin typeface="宋体" panose="02010600030101010101" pitchFamily="2" charset="-122"/>
              </a:rPr>
              <a:t>则是</a:t>
            </a:r>
            <a:r>
              <a:rPr lang="en-US" altLang="zh-CN" dirty="0" smtClean="0">
                <a:latin typeface="宋体" panose="02010600030101010101" pitchFamily="2" charset="-122"/>
              </a:rPr>
              <a:t>AT&amp;T</a:t>
            </a:r>
            <a:r>
              <a:rPr lang="zh-CN" altLang="en-US" dirty="0" smtClean="0">
                <a:latin typeface="宋体" panose="02010600030101010101" pitchFamily="2" charset="-122"/>
              </a:rPr>
              <a:t>的</a:t>
            </a:r>
            <a:r>
              <a:rPr lang="en-US" altLang="zh-CN" dirty="0" smtClean="0">
                <a:latin typeface="宋体" panose="02010600030101010101" pitchFamily="2" charset="-122"/>
              </a:rPr>
              <a:t>SVR4</a:t>
            </a:r>
            <a:r>
              <a:rPr lang="zh-CN" altLang="en-US" dirty="0" smtClean="0">
                <a:latin typeface="宋体" panose="02010600030101010101" pitchFamily="2" charset="-122"/>
              </a:rPr>
              <a:t>中的实现方式。</a:t>
            </a:r>
            <a:endParaRPr lang="zh-CN" altLang="en-US" dirty="0" smtClean="0"/>
          </a:p>
          <a:p>
            <a:endParaRPr lang="zh-CN" altLang="en-US" dirty="0"/>
          </a:p>
        </p:txBody>
      </p:sp>
    </p:spTree>
    <p:extLst>
      <p:ext uri="{BB962C8B-B14F-4D97-AF65-F5344CB8AC3E}">
        <p14:creationId xmlns:p14="http://schemas.microsoft.com/office/powerpoint/2010/main" val="1417754991"/>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poll</a:t>
            </a:r>
            <a:r>
              <a:rPr lang="zh-CN" altLang="en-US" dirty="0" smtClean="0"/>
              <a:t>函数</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函数调用格式：</a:t>
            </a:r>
          </a:p>
          <a:p>
            <a:pPr lvl="1">
              <a:buNone/>
            </a:pPr>
            <a:r>
              <a:rPr lang="en-US" altLang="zh-CN" dirty="0"/>
              <a:t># include &lt;sys/</a:t>
            </a:r>
            <a:r>
              <a:rPr lang="en-US" altLang="zh-CN" dirty="0" err="1"/>
              <a:t>poll.h</a:t>
            </a:r>
            <a:r>
              <a:rPr lang="en-US" altLang="zh-CN" dirty="0"/>
              <a:t>&gt;</a:t>
            </a:r>
          </a:p>
          <a:p>
            <a:pPr lvl="1">
              <a:buNone/>
            </a:pPr>
            <a:r>
              <a:rPr lang="en-US" altLang="zh-CN" dirty="0"/>
              <a:t># include &lt;</a:t>
            </a:r>
            <a:r>
              <a:rPr lang="en-US" altLang="zh-CN" dirty="0" err="1"/>
              <a:t>stropts.h</a:t>
            </a:r>
            <a:r>
              <a:rPr lang="en-US" altLang="zh-CN" dirty="0"/>
              <a:t>&gt;</a:t>
            </a:r>
          </a:p>
          <a:p>
            <a:pPr lvl="1">
              <a:buNone/>
            </a:pPr>
            <a:r>
              <a:rPr lang="en-US" altLang="zh-CN" dirty="0" err="1"/>
              <a:t>int</a:t>
            </a:r>
            <a:r>
              <a:rPr lang="en-US" altLang="zh-CN" dirty="0"/>
              <a:t> poll(</a:t>
            </a:r>
            <a:r>
              <a:rPr lang="en-US" altLang="zh-CN" dirty="0" err="1"/>
              <a:t>struct</a:t>
            </a:r>
            <a:r>
              <a:rPr lang="en-US" altLang="zh-CN" dirty="0"/>
              <a:t> </a:t>
            </a:r>
            <a:r>
              <a:rPr lang="en-US" altLang="zh-CN" dirty="0" err="1"/>
              <a:t>pollfd</a:t>
            </a:r>
            <a:r>
              <a:rPr lang="en-US" altLang="zh-CN" dirty="0"/>
              <a:t> </a:t>
            </a:r>
            <a:r>
              <a:rPr lang="en-US" altLang="zh-CN" dirty="0" err="1"/>
              <a:t>fdarray</a:t>
            </a:r>
            <a:r>
              <a:rPr lang="en-US" altLang="zh-CN" dirty="0"/>
              <a:t>[],unsigned long </a:t>
            </a:r>
            <a:r>
              <a:rPr lang="en-US" altLang="zh-CN" dirty="0" err="1"/>
              <a:t>nfds,int</a:t>
            </a:r>
            <a:r>
              <a:rPr lang="en-US" altLang="zh-CN" dirty="0"/>
              <a:t> timeout)</a:t>
            </a:r>
          </a:p>
          <a:p>
            <a:r>
              <a:rPr lang="zh-CN" altLang="en-US" dirty="0"/>
              <a:t>与</a:t>
            </a:r>
            <a:r>
              <a:rPr lang="en-US" altLang="zh-CN" dirty="0"/>
              <a:t>select</a:t>
            </a:r>
            <a:r>
              <a:rPr lang="zh-CN" altLang="en-US" dirty="0"/>
              <a:t>不同，</a:t>
            </a:r>
            <a:r>
              <a:rPr lang="en-US" altLang="zh-CN" dirty="0"/>
              <a:t>poll</a:t>
            </a:r>
            <a:r>
              <a:rPr lang="zh-CN" altLang="en-US" dirty="0"/>
              <a:t>不是为每个条件构造一个描述符，而是构造一个</a:t>
            </a:r>
            <a:r>
              <a:rPr lang="en-US" altLang="zh-CN" dirty="0" err="1"/>
              <a:t>pollfd</a:t>
            </a:r>
            <a:r>
              <a:rPr lang="zh-CN" altLang="en-US" dirty="0"/>
              <a:t>结构数组，每个数组元素指定一个描述符编号以及对其所关心的条件。</a:t>
            </a:r>
          </a:p>
          <a:p>
            <a:pPr lvl="1">
              <a:buNone/>
            </a:pPr>
            <a:r>
              <a:rPr lang="en-US" altLang="zh-CN" dirty="0" err="1"/>
              <a:t>struct</a:t>
            </a:r>
            <a:r>
              <a:rPr lang="en-US" altLang="zh-CN" dirty="0"/>
              <a:t> </a:t>
            </a:r>
            <a:r>
              <a:rPr lang="en-US" altLang="zh-CN" dirty="0" err="1"/>
              <a:t>pollfd</a:t>
            </a:r>
            <a:r>
              <a:rPr lang="en-US" altLang="zh-CN" dirty="0"/>
              <a:t>{</a:t>
            </a:r>
          </a:p>
          <a:p>
            <a:pPr lvl="1">
              <a:buNone/>
            </a:pPr>
            <a:r>
              <a:rPr lang="en-US" altLang="zh-CN" dirty="0"/>
              <a:t>    </a:t>
            </a:r>
            <a:r>
              <a:rPr lang="en-US" altLang="zh-CN" dirty="0" err="1"/>
              <a:t>int</a:t>
            </a:r>
            <a:r>
              <a:rPr lang="en-US" altLang="zh-CN" dirty="0"/>
              <a:t> </a:t>
            </a:r>
            <a:r>
              <a:rPr lang="en-US" altLang="zh-CN" dirty="0" err="1"/>
              <a:t>fd</a:t>
            </a:r>
            <a:r>
              <a:rPr lang="en-US" altLang="zh-CN" dirty="0"/>
              <a:t>;                   /*</a:t>
            </a:r>
            <a:r>
              <a:rPr lang="zh-CN" altLang="en-US" dirty="0"/>
              <a:t>要检查的文件描述符*</a:t>
            </a:r>
            <a:r>
              <a:rPr lang="en-US" altLang="zh-CN" dirty="0"/>
              <a:t>/</a:t>
            </a:r>
          </a:p>
          <a:p>
            <a:pPr lvl="1">
              <a:buNone/>
            </a:pPr>
            <a:r>
              <a:rPr lang="en-US" altLang="zh-CN" dirty="0"/>
              <a:t>    short events;      /*</a:t>
            </a:r>
            <a:r>
              <a:rPr lang="zh-CN" altLang="en-US" dirty="0"/>
              <a:t>对</a:t>
            </a:r>
            <a:r>
              <a:rPr lang="en-US" altLang="zh-CN" dirty="0" err="1"/>
              <a:t>fd</a:t>
            </a:r>
            <a:r>
              <a:rPr lang="zh-CN" altLang="en-US" dirty="0"/>
              <a:t>感兴趣的文件*</a:t>
            </a:r>
            <a:r>
              <a:rPr lang="en-US" altLang="zh-CN" dirty="0"/>
              <a:t>/</a:t>
            </a:r>
          </a:p>
          <a:p>
            <a:pPr lvl="1">
              <a:buNone/>
            </a:pPr>
            <a:r>
              <a:rPr lang="en-US" altLang="zh-CN" dirty="0"/>
              <a:t>    short </a:t>
            </a:r>
            <a:r>
              <a:rPr lang="en-US" altLang="zh-CN" dirty="0" err="1"/>
              <a:t>revents</a:t>
            </a:r>
            <a:r>
              <a:rPr lang="en-US" altLang="zh-CN" dirty="0"/>
              <a:t>;    /*</a:t>
            </a:r>
            <a:r>
              <a:rPr lang="zh-CN" altLang="en-US" dirty="0"/>
              <a:t>对</a:t>
            </a:r>
            <a:r>
              <a:rPr lang="en-US" altLang="zh-CN" dirty="0" err="1"/>
              <a:t>fd</a:t>
            </a:r>
            <a:r>
              <a:rPr lang="zh-CN" altLang="en-US" dirty="0"/>
              <a:t>已发生的文件*</a:t>
            </a:r>
            <a:r>
              <a:rPr lang="en-US" altLang="zh-CN" dirty="0"/>
              <a:t>/</a:t>
            </a:r>
          </a:p>
          <a:p>
            <a:pPr lvl="1">
              <a:buNone/>
            </a:pPr>
            <a:r>
              <a:rPr lang="en-US" altLang="zh-CN" dirty="0"/>
              <a:t>}</a:t>
            </a:r>
          </a:p>
          <a:p>
            <a:endParaRPr lang="zh-CN" altLang="en-US" dirty="0"/>
          </a:p>
        </p:txBody>
      </p:sp>
    </p:spTree>
    <p:extLst>
      <p:ext uri="{BB962C8B-B14F-4D97-AF65-F5344CB8AC3E}">
        <p14:creationId xmlns:p14="http://schemas.microsoft.com/office/powerpoint/2010/main" val="627124856"/>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t>多路复用</a:t>
            </a:r>
            <a:r>
              <a:rPr lang="en-US" altLang="zh-CN" b="0" dirty="0" smtClean="0"/>
              <a:t>I/O</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rPr>
              <a:t>I/O </a:t>
            </a:r>
            <a:r>
              <a:rPr lang="zh-CN" altLang="en-US" dirty="0">
                <a:latin typeface="宋体" panose="02010600030101010101" pitchFamily="2" charset="-122"/>
              </a:rPr>
              <a:t>多路服用技术并不只局限与网络程序应用上。几乎所有的程序都可以找到应用</a:t>
            </a:r>
            <a:r>
              <a:rPr lang="en-US" altLang="zh-CN" dirty="0">
                <a:latin typeface="Times New Roman" panose="02020603050405020304" pitchFamily="18" charset="0"/>
              </a:rPr>
              <a:t>I/O</a:t>
            </a:r>
            <a:r>
              <a:rPr lang="zh-CN" altLang="en-US" dirty="0">
                <a:latin typeface="宋体" panose="02010600030101010101" pitchFamily="2" charset="-122"/>
              </a:rPr>
              <a:t>多路复用的地方：</a:t>
            </a:r>
          </a:p>
          <a:p>
            <a:pPr lvl="1"/>
            <a:r>
              <a:rPr lang="zh-CN" altLang="en-US" dirty="0">
                <a:latin typeface="宋体" panose="02010600030101010101" pitchFamily="2" charset="-122"/>
              </a:rPr>
              <a:t>当一个客户端需要同时处理多个文件描述符的输入输出操作的时候（一般来说是标准的输入输出和网络套接字）， </a:t>
            </a:r>
            <a:r>
              <a:rPr lang="en-US" altLang="zh-CN" dirty="0">
                <a:latin typeface="Times New Roman" panose="02020603050405020304" pitchFamily="18" charset="0"/>
              </a:rPr>
              <a:t>I/O </a:t>
            </a:r>
            <a:r>
              <a:rPr lang="zh-CN" altLang="en-US" dirty="0">
                <a:latin typeface="宋体" panose="02010600030101010101" pitchFamily="2" charset="-122"/>
              </a:rPr>
              <a:t>多路复用技术将会有机会得到使用。</a:t>
            </a:r>
          </a:p>
          <a:p>
            <a:pPr lvl="1"/>
            <a:r>
              <a:rPr lang="zh-CN" altLang="en-US" dirty="0">
                <a:latin typeface="宋体" panose="02010600030101010101" pitchFamily="2" charset="-122"/>
              </a:rPr>
              <a:t>当程序需要同时进行多个套接字的操作的时候。</a:t>
            </a:r>
          </a:p>
          <a:p>
            <a:pPr lvl="1"/>
            <a:r>
              <a:rPr lang="zh-CN" altLang="en-US" dirty="0">
                <a:latin typeface="宋体" panose="02010600030101010101" pitchFamily="2" charset="-122"/>
              </a:rPr>
              <a:t>如果一个</a:t>
            </a:r>
            <a:r>
              <a:rPr lang="en-US" altLang="zh-CN" dirty="0">
                <a:latin typeface="Times New Roman" panose="02020603050405020304" pitchFamily="18" charset="0"/>
              </a:rPr>
              <a:t>TCP </a:t>
            </a:r>
            <a:r>
              <a:rPr lang="zh-CN" altLang="en-US" dirty="0">
                <a:latin typeface="宋体" panose="02010600030101010101" pitchFamily="2" charset="-122"/>
              </a:rPr>
              <a:t>服务器程序同时处理正在侦听网络连接的套接字和已经连接好的套接字。</a:t>
            </a:r>
          </a:p>
          <a:p>
            <a:pPr lvl="1"/>
            <a:r>
              <a:rPr lang="zh-CN" altLang="en-US" dirty="0">
                <a:latin typeface="宋体" panose="02010600030101010101" pitchFamily="2" charset="-122"/>
              </a:rPr>
              <a:t>如果一个服务器程序同时使用</a:t>
            </a:r>
            <a:r>
              <a:rPr lang="en-US" altLang="zh-CN" dirty="0">
                <a:latin typeface="Times New Roman" panose="02020603050405020304" pitchFamily="18" charset="0"/>
              </a:rPr>
              <a:t>TCP </a:t>
            </a:r>
            <a:r>
              <a:rPr lang="zh-CN" altLang="en-US" dirty="0">
                <a:latin typeface="宋体" panose="02010600030101010101" pitchFamily="2" charset="-122"/>
              </a:rPr>
              <a:t>和</a:t>
            </a:r>
            <a:r>
              <a:rPr lang="en-US" altLang="zh-CN" dirty="0">
                <a:latin typeface="Times New Roman" panose="02020603050405020304" pitchFamily="18" charset="0"/>
              </a:rPr>
              <a:t>UDP </a:t>
            </a:r>
            <a:r>
              <a:rPr lang="zh-CN" altLang="en-US" dirty="0">
                <a:latin typeface="宋体" panose="02010600030101010101" pitchFamily="2" charset="-122"/>
              </a:rPr>
              <a:t>协议。</a:t>
            </a:r>
          </a:p>
          <a:p>
            <a:pPr lvl="1"/>
            <a:r>
              <a:rPr lang="zh-CN" altLang="en-US" dirty="0">
                <a:latin typeface="宋体" panose="02010600030101010101" pitchFamily="2" charset="-122"/>
              </a:rPr>
              <a:t>如果一个服务器同时使用多种服务并且每种服务可能使用不同的协议（比如</a:t>
            </a:r>
            <a:r>
              <a:rPr lang="en-US" altLang="zh-CN" dirty="0" err="1">
                <a:latin typeface="Times New Roman" panose="02020603050405020304" pitchFamily="18" charset="0"/>
              </a:rPr>
              <a:t>inetd</a:t>
            </a:r>
            <a:r>
              <a:rPr lang="zh-CN" altLang="en-US" dirty="0">
                <a:latin typeface="宋体" panose="02010600030101010101" pitchFamily="2" charset="-122"/>
              </a:rPr>
              <a:t>就是这样的）。</a:t>
            </a:r>
            <a:endParaRPr lang="zh-CN" altLang="en-US" dirty="0"/>
          </a:p>
          <a:p>
            <a:endParaRPr lang="zh-CN" altLang="en-US" dirty="0"/>
          </a:p>
        </p:txBody>
      </p:sp>
    </p:spTree>
    <p:extLst>
      <p:ext uri="{BB962C8B-B14F-4D97-AF65-F5344CB8AC3E}">
        <p14:creationId xmlns:p14="http://schemas.microsoft.com/office/powerpoint/2010/main" val="2304032046"/>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多路复用</a:t>
            </a:r>
            <a:r>
              <a:rPr lang="en-US" altLang="zh-CN" dirty="0" smtClean="0"/>
              <a:t>I/O</a:t>
            </a:r>
            <a:r>
              <a:rPr lang="zh-CN" altLang="en-US" dirty="0" smtClean="0"/>
              <a:t>的应用实例</a:t>
            </a:r>
            <a:endParaRPr lang="zh-CN" altLang="en-US" dirty="0"/>
          </a:p>
        </p:txBody>
      </p:sp>
      <p:sp>
        <p:nvSpPr>
          <p:cNvPr id="3" name="内容占位符 2"/>
          <p:cNvSpPr>
            <a:spLocks noGrp="1"/>
          </p:cNvSpPr>
          <p:nvPr>
            <p:ph idx="1"/>
          </p:nvPr>
        </p:nvSpPr>
        <p:spPr/>
        <p:txBody>
          <a:bodyPr/>
          <a:lstStyle/>
          <a:p>
            <a:pPr lvl="1"/>
            <a:r>
              <a:rPr lang="zh-CN" altLang="en-US" dirty="0" smtClean="0"/>
              <a:t>使用多路复用的</a:t>
            </a:r>
            <a:r>
              <a:rPr lang="en-US" altLang="zh-CN" dirty="0" smtClean="0"/>
              <a:t>UDP Talk</a:t>
            </a:r>
            <a:r>
              <a:rPr lang="zh-CN" altLang="en-US" dirty="0" smtClean="0"/>
              <a:t>程序</a:t>
            </a:r>
          </a:p>
          <a:p>
            <a:pPr lvl="1"/>
            <a:r>
              <a:rPr lang="zh-CN" altLang="en-US" dirty="0" smtClean="0"/>
              <a:t>使用多路复用的</a:t>
            </a:r>
            <a:r>
              <a:rPr lang="en-US" altLang="zh-CN" dirty="0" smtClean="0"/>
              <a:t>TCP</a:t>
            </a:r>
            <a:r>
              <a:rPr lang="zh-CN" altLang="en-US" dirty="0" smtClean="0"/>
              <a:t>程序</a:t>
            </a:r>
          </a:p>
          <a:p>
            <a:endParaRPr lang="zh-CN" altLang="en-US" dirty="0"/>
          </a:p>
        </p:txBody>
      </p:sp>
    </p:spTree>
    <p:extLst>
      <p:ext uri="{BB962C8B-B14F-4D97-AF65-F5344CB8AC3E}">
        <p14:creationId xmlns:p14="http://schemas.microsoft.com/office/powerpoint/2010/main" val="2542038982"/>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隶书" panose="02010509060101010101" pitchFamily="49" charset="-122"/>
              </a:rPr>
              <a:t>信号驱动</a:t>
            </a:r>
            <a:r>
              <a:rPr lang="en-US" altLang="zh-CN" dirty="0" smtClean="0">
                <a:latin typeface="隶书" panose="02010509060101010101" pitchFamily="49" charset="-122"/>
              </a:rPr>
              <a:t>I/O </a:t>
            </a:r>
            <a:r>
              <a:rPr lang="zh-CN" altLang="en-US" dirty="0" smtClean="0">
                <a:latin typeface="隶书" panose="02010509060101010101" pitchFamily="49" charset="-122"/>
              </a:rPr>
              <a:t>模式</a:t>
            </a:r>
            <a:endParaRPr lang="zh-CN" altLang="en-US" dirty="0"/>
          </a:p>
        </p:txBody>
      </p:sp>
      <p:sp>
        <p:nvSpPr>
          <p:cNvPr id="3" name="内容占位符 2"/>
          <p:cNvSpPr>
            <a:spLocks noGrp="1"/>
          </p:cNvSpPr>
          <p:nvPr>
            <p:ph idx="1"/>
          </p:nvPr>
        </p:nvSpPr>
        <p:spPr>
          <a:xfrm>
            <a:off x="838200" y="1460310"/>
            <a:ext cx="10515600" cy="5104263"/>
          </a:xfrm>
        </p:spPr>
        <p:txBody>
          <a:bodyPr>
            <a:normAutofit fontScale="77500" lnSpcReduction="20000"/>
          </a:bodyPr>
          <a:lstStyle/>
          <a:p>
            <a:r>
              <a:rPr lang="zh-CN" altLang="en-US" dirty="0">
                <a:solidFill>
                  <a:srgbClr val="FF3300"/>
                </a:solidFill>
                <a:latin typeface="黑体,Bold" charset="-122"/>
                <a:ea typeface="黑体,Bold" charset="-122"/>
              </a:rPr>
              <a:t>信号驱动</a:t>
            </a:r>
            <a:r>
              <a:rPr lang="en-US" altLang="zh-CN" dirty="0">
                <a:solidFill>
                  <a:srgbClr val="FF3300"/>
                </a:solidFill>
                <a:latin typeface="黑体,Bold" charset="-122"/>
                <a:ea typeface="黑体,Bold" charset="-122"/>
              </a:rPr>
              <a:t>I/O</a:t>
            </a:r>
            <a:r>
              <a:rPr lang="zh-CN" altLang="en-US" dirty="0">
                <a:latin typeface="黑体,Bold" charset="-122"/>
                <a:ea typeface="黑体,Bold" charset="-122"/>
              </a:rPr>
              <a:t>模式</a:t>
            </a:r>
            <a:r>
              <a:rPr lang="zh-CN" altLang="en-US" dirty="0">
                <a:latin typeface="宋体" panose="02010600030101010101" pitchFamily="2" charset="-122"/>
              </a:rPr>
              <a:t>是应用了中断技术，让内核在文件描述符就绪的时候使用</a:t>
            </a:r>
            <a:r>
              <a:rPr lang="en-US" altLang="zh-CN" dirty="0">
                <a:solidFill>
                  <a:srgbClr val="0000FF"/>
                </a:solidFill>
                <a:latin typeface="Times New Roman" panose="02020603050405020304" pitchFamily="18" charset="0"/>
              </a:rPr>
              <a:t>SIGIO </a:t>
            </a:r>
            <a:r>
              <a:rPr lang="zh-CN" altLang="en-US" dirty="0">
                <a:latin typeface="宋体" panose="02010600030101010101" pitchFamily="2" charset="-122"/>
              </a:rPr>
              <a:t>信号来通知我们。我们将这种模式称为信号驱动</a:t>
            </a:r>
            <a:r>
              <a:rPr lang="en-US" altLang="zh-CN" dirty="0">
                <a:latin typeface="Times New Roman" panose="02020603050405020304" pitchFamily="18" charset="0"/>
              </a:rPr>
              <a:t>I/O </a:t>
            </a:r>
            <a:r>
              <a:rPr lang="zh-CN" altLang="en-US" dirty="0">
                <a:latin typeface="宋体" panose="02010600030101010101" pitchFamily="2" charset="-122"/>
              </a:rPr>
              <a:t>模式。</a:t>
            </a:r>
          </a:p>
          <a:p>
            <a:r>
              <a:rPr lang="zh-CN" altLang="en-US" dirty="0">
                <a:latin typeface="宋体" panose="02010600030101010101" pitchFamily="2" charset="-122"/>
              </a:rPr>
              <a:t>使用这种模式，我们首先需要允许套接字使用信号驱动</a:t>
            </a:r>
            <a:r>
              <a:rPr lang="en-US" altLang="zh-CN" dirty="0">
                <a:latin typeface="Times New Roman" panose="02020603050405020304" pitchFamily="18" charset="0"/>
              </a:rPr>
              <a:t>I/O </a:t>
            </a:r>
            <a:r>
              <a:rPr lang="zh-CN" altLang="en-US" dirty="0">
                <a:latin typeface="宋体" panose="02010600030101010101" pitchFamily="2" charset="-122"/>
              </a:rPr>
              <a:t>，还要安装一个</a:t>
            </a:r>
            <a:r>
              <a:rPr lang="en-US" altLang="zh-CN" dirty="0">
                <a:latin typeface="Times New Roman" panose="02020603050405020304" pitchFamily="18" charset="0"/>
              </a:rPr>
              <a:t>SIGIO </a:t>
            </a:r>
            <a:r>
              <a:rPr lang="zh-CN" altLang="en-US" dirty="0">
                <a:latin typeface="宋体" panose="02010600030101010101" pitchFamily="2" charset="-122"/>
              </a:rPr>
              <a:t>的处理函数。</a:t>
            </a:r>
          </a:p>
          <a:p>
            <a:r>
              <a:rPr lang="zh-CN" altLang="en-US" dirty="0">
                <a:latin typeface="宋体" panose="02010600030101010101" pitchFamily="2" charset="-122"/>
              </a:rPr>
              <a:t>在这种模式下，系统调用将会立即返回，然后我们的程序可以继续做其他的事情。</a:t>
            </a:r>
          </a:p>
          <a:p>
            <a:r>
              <a:rPr lang="zh-CN" altLang="en-US" dirty="0">
                <a:latin typeface="宋体" panose="02010600030101010101" pitchFamily="2" charset="-122"/>
              </a:rPr>
              <a:t>当数据就绪的时候，系统会向我们的进程发送一个</a:t>
            </a:r>
            <a:r>
              <a:rPr lang="en-US" altLang="zh-CN" dirty="0">
                <a:latin typeface="Times New Roman" panose="02020603050405020304" pitchFamily="18" charset="0"/>
              </a:rPr>
              <a:t>SIGIO </a:t>
            </a:r>
            <a:r>
              <a:rPr lang="zh-CN" altLang="en-US" dirty="0">
                <a:latin typeface="宋体" panose="02010600030101010101" pitchFamily="2" charset="-122"/>
              </a:rPr>
              <a:t>信号。这样我们就可以在</a:t>
            </a:r>
            <a:r>
              <a:rPr lang="en-US" altLang="zh-CN" dirty="0">
                <a:latin typeface="Times New Roman" panose="02020603050405020304" pitchFamily="18" charset="0"/>
              </a:rPr>
              <a:t>SIGIO</a:t>
            </a:r>
            <a:r>
              <a:rPr lang="zh-CN" altLang="en-US" dirty="0">
                <a:latin typeface="宋体" panose="02010600030101010101" pitchFamily="2" charset="-122"/>
              </a:rPr>
              <a:t>信号的处理函数中进行</a:t>
            </a:r>
            <a:r>
              <a:rPr lang="en-US" altLang="zh-CN" dirty="0">
                <a:latin typeface="Times New Roman" panose="02020603050405020304" pitchFamily="18" charset="0"/>
              </a:rPr>
              <a:t>I/O </a:t>
            </a:r>
            <a:r>
              <a:rPr lang="zh-CN" altLang="en-US" dirty="0">
                <a:latin typeface="宋体" panose="02010600030101010101" pitchFamily="2" charset="-122"/>
              </a:rPr>
              <a:t>操作（或是我们在函数中通知主函数有数据可读）</a:t>
            </a:r>
            <a:r>
              <a:rPr lang="zh-CN" altLang="en-US" dirty="0" smtClean="0">
                <a:latin typeface="宋体" panose="02010600030101010101" pitchFamily="2" charset="-122"/>
              </a:rPr>
              <a:t>。</a:t>
            </a:r>
            <a:endParaRPr lang="en-US" altLang="zh-CN" dirty="0" smtClean="0">
              <a:latin typeface="宋体" panose="02010600030101010101" pitchFamily="2" charset="-122"/>
            </a:endParaRPr>
          </a:p>
          <a:p>
            <a:r>
              <a:rPr lang="zh-CN" altLang="en-US" dirty="0" smtClean="0">
                <a:latin typeface="宋体" panose="02010600030101010101" pitchFamily="2" charset="-122"/>
              </a:rPr>
              <a:t>对于信号驱动</a:t>
            </a:r>
            <a:r>
              <a:rPr lang="en-US" altLang="zh-CN" dirty="0" smtClean="0">
                <a:latin typeface="Times New Roman" panose="02020603050405020304" pitchFamily="18" charset="0"/>
              </a:rPr>
              <a:t>I/O </a:t>
            </a:r>
            <a:r>
              <a:rPr lang="zh-CN" altLang="en-US" dirty="0" smtClean="0">
                <a:latin typeface="宋体" panose="02010600030101010101" pitchFamily="2" charset="-122"/>
              </a:rPr>
              <a:t>模式，它的先进之处在于它在等待数据的时候不会阻塞，程序可以做自己的事情。</a:t>
            </a:r>
          </a:p>
          <a:p>
            <a:r>
              <a:rPr lang="zh-CN" altLang="en-US" dirty="0" smtClean="0">
                <a:latin typeface="宋体" panose="02010600030101010101" pitchFamily="2" charset="-122"/>
              </a:rPr>
              <a:t>当有数据到达的时候，系统内核会向程序发送一个</a:t>
            </a:r>
            <a:r>
              <a:rPr lang="en-US" altLang="zh-CN" dirty="0" smtClean="0">
                <a:latin typeface="Times New Roman" panose="02020603050405020304" pitchFamily="18" charset="0"/>
              </a:rPr>
              <a:t>SIGIO </a:t>
            </a:r>
            <a:r>
              <a:rPr lang="zh-CN" altLang="en-US" dirty="0" smtClean="0">
                <a:latin typeface="宋体" panose="02010600030101010101" pitchFamily="2" charset="-122"/>
              </a:rPr>
              <a:t>信号进行通知</a:t>
            </a:r>
          </a:p>
          <a:p>
            <a:r>
              <a:rPr lang="zh-CN" altLang="en-US" dirty="0" smtClean="0">
                <a:latin typeface="宋体" panose="02010600030101010101" pitchFamily="2" charset="-122"/>
              </a:rPr>
              <a:t>这样我们的程序就可以获得更大的灵活性，因为我们不必为等待数据进行额外的编码。</a:t>
            </a:r>
            <a:endParaRPr lang="zh-CN" altLang="en-US" dirty="0" smtClean="0"/>
          </a:p>
          <a:p>
            <a:endParaRPr lang="zh-CN" altLang="en-US" dirty="0">
              <a:latin typeface="宋体" panose="02010600030101010101" pitchFamily="2" charset="-122"/>
            </a:endParaRPr>
          </a:p>
          <a:p>
            <a:pPr marL="0" indent="0">
              <a:buNone/>
            </a:pPr>
            <a:endParaRPr lang="en-US" altLang="zh-CN" dirty="0"/>
          </a:p>
          <a:p>
            <a:endParaRPr lang="zh-CN" altLang="en-US" dirty="0"/>
          </a:p>
        </p:txBody>
      </p:sp>
    </p:spTree>
    <p:extLst>
      <p:ext uri="{BB962C8B-B14F-4D97-AF65-F5344CB8AC3E}">
        <p14:creationId xmlns:p14="http://schemas.microsoft.com/office/powerpoint/2010/main" val="3069684724"/>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隶书" panose="02010509060101010101" pitchFamily="49" charset="-122"/>
              </a:rPr>
              <a:t>信号驱动</a:t>
            </a:r>
            <a:r>
              <a:rPr lang="en-US" altLang="zh-CN" dirty="0" smtClean="0">
                <a:latin typeface="隶书" panose="02010509060101010101" pitchFamily="49" charset="-122"/>
              </a:rPr>
              <a:t>I/O</a:t>
            </a:r>
            <a:r>
              <a:rPr lang="zh-CN" altLang="en-US" dirty="0" smtClean="0">
                <a:latin typeface="隶书" panose="02010509060101010101" pitchFamily="49" charset="-122"/>
              </a:rPr>
              <a:t>的实现过程</a:t>
            </a:r>
            <a:endParaRPr lang="zh-CN" altLang="en-US" dirty="0"/>
          </a:p>
        </p:txBody>
      </p:sp>
      <p:grpSp>
        <p:nvGrpSpPr>
          <p:cNvPr id="4" name="组合 3"/>
          <p:cNvGrpSpPr/>
          <p:nvPr/>
        </p:nvGrpSpPr>
        <p:grpSpPr>
          <a:xfrm>
            <a:off x="2093273" y="2041407"/>
            <a:ext cx="8604250" cy="3735387"/>
            <a:chOff x="250825" y="1700213"/>
            <a:chExt cx="8604250" cy="3735387"/>
          </a:xfrm>
        </p:grpSpPr>
        <p:sp>
          <p:nvSpPr>
            <p:cNvPr id="5" name="Line 3"/>
            <p:cNvSpPr>
              <a:spLocks noChangeShapeType="1"/>
            </p:cNvSpPr>
            <p:nvPr/>
          </p:nvSpPr>
          <p:spPr bwMode="auto">
            <a:xfrm>
              <a:off x="250825" y="4003675"/>
              <a:ext cx="8064500" cy="0"/>
            </a:xfrm>
            <a:prstGeom prst="line">
              <a:avLst/>
            </a:prstGeom>
            <a:noFill/>
            <a:ln w="38100">
              <a:solidFill>
                <a:schemeClr val="tx1"/>
              </a:solidFill>
              <a:prstDash val="lg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Text Box 4"/>
            <p:cNvSpPr txBox="1">
              <a:spLocks noChangeArrowheads="1"/>
            </p:cNvSpPr>
            <p:nvPr/>
          </p:nvSpPr>
          <p:spPr bwMode="auto">
            <a:xfrm>
              <a:off x="7739063" y="3284538"/>
              <a:ext cx="1116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t>用户态</a:t>
              </a:r>
            </a:p>
          </p:txBody>
        </p:sp>
        <p:sp>
          <p:nvSpPr>
            <p:cNvPr id="7" name="Text Box 5"/>
            <p:cNvSpPr txBox="1">
              <a:spLocks noChangeArrowheads="1"/>
            </p:cNvSpPr>
            <p:nvPr/>
          </p:nvSpPr>
          <p:spPr bwMode="auto">
            <a:xfrm>
              <a:off x="7739063" y="4219575"/>
              <a:ext cx="1116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t>核心态</a:t>
              </a:r>
            </a:p>
          </p:txBody>
        </p:sp>
        <p:sp>
          <p:nvSpPr>
            <p:cNvPr id="8" name="Text Box 6"/>
            <p:cNvSpPr txBox="1">
              <a:spLocks noChangeArrowheads="1"/>
            </p:cNvSpPr>
            <p:nvPr/>
          </p:nvSpPr>
          <p:spPr bwMode="auto">
            <a:xfrm>
              <a:off x="466725" y="1700213"/>
              <a:ext cx="1223963" cy="101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t>设置信号</a:t>
              </a:r>
              <a:r>
                <a:rPr lang="en-US" altLang="zh-CN" sz="2000" dirty="0"/>
                <a:t>SIGIO</a:t>
              </a:r>
              <a:r>
                <a:rPr lang="zh-CN" altLang="en-US" sz="2000" dirty="0"/>
                <a:t>的处理函数</a:t>
              </a:r>
            </a:p>
          </p:txBody>
        </p:sp>
        <p:sp>
          <p:nvSpPr>
            <p:cNvPr id="9" name="Text Box 7"/>
            <p:cNvSpPr txBox="1">
              <a:spLocks noChangeArrowheads="1"/>
            </p:cNvSpPr>
            <p:nvPr/>
          </p:nvSpPr>
          <p:spPr bwMode="auto">
            <a:xfrm>
              <a:off x="4138613" y="1771650"/>
              <a:ext cx="720725" cy="101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t>信号处理函数</a:t>
              </a:r>
            </a:p>
          </p:txBody>
        </p:sp>
        <p:sp>
          <p:nvSpPr>
            <p:cNvPr id="10" name="Text Box 8"/>
            <p:cNvSpPr txBox="1">
              <a:spLocks noChangeArrowheads="1"/>
            </p:cNvSpPr>
            <p:nvPr/>
          </p:nvSpPr>
          <p:spPr bwMode="auto">
            <a:xfrm>
              <a:off x="6011863" y="1952625"/>
              <a:ext cx="8636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t>read</a:t>
              </a:r>
            </a:p>
          </p:txBody>
        </p:sp>
        <p:sp>
          <p:nvSpPr>
            <p:cNvPr id="11" name="Text Box 9"/>
            <p:cNvSpPr txBox="1">
              <a:spLocks noChangeArrowheads="1"/>
            </p:cNvSpPr>
            <p:nvPr/>
          </p:nvSpPr>
          <p:spPr bwMode="auto">
            <a:xfrm>
              <a:off x="7378700" y="1771650"/>
              <a:ext cx="936625" cy="771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t>read</a:t>
              </a:r>
              <a:r>
                <a:rPr lang="zh-CN" altLang="en-US" sz="2000"/>
                <a:t>返回</a:t>
              </a:r>
            </a:p>
          </p:txBody>
        </p:sp>
        <p:sp>
          <p:nvSpPr>
            <p:cNvPr id="12" name="Text Box 10"/>
            <p:cNvSpPr txBox="1">
              <a:spLocks noChangeArrowheads="1"/>
            </p:cNvSpPr>
            <p:nvPr/>
          </p:nvSpPr>
          <p:spPr bwMode="auto">
            <a:xfrm>
              <a:off x="1187450" y="4652963"/>
              <a:ext cx="1800225" cy="711200"/>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a:solidFill>
                    <a:srgbClr val="FF3300"/>
                  </a:solidFill>
                </a:rPr>
                <a:t>有数据，发送</a:t>
              </a:r>
              <a:r>
                <a:rPr lang="en-US" altLang="zh-CN" sz="2000">
                  <a:solidFill>
                    <a:srgbClr val="FF3300"/>
                  </a:solidFill>
                </a:rPr>
                <a:t>SIGIO</a:t>
              </a:r>
              <a:r>
                <a:rPr lang="zh-CN" altLang="en-US" sz="2000">
                  <a:solidFill>
                    <a:srgbClr val="FF3300"/>
                  </a:solidFill>
                </a:rPr>
                <a:t>信号</a:t>
              </a:r>
            </a:p>
          </p:txBody>
        </p:sp>
        <p:sp>
          <p:nvSpPr>
            <p:cNvPr id="13" name="Text Box 11"/>
            <p:cNvSpPr txBox="1">
              <a:spLocks noChangeArrowheads="1"/>
            </p:cNvSpPr>
            <p:nvPr/>
          </p:nvSpPr>
          <p:spPr bwMode="auto">
            <a:xfrm>
              <a:off x="6154738" y="4724400"/>
              <a:ext cx="936625" cy="711200"/>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chemeClr val="hlink"/>
                  </a:solidFill>
                </a:rPr>
                <a:t>拷贝数据</a:t>
              </a:r>
            </a:p>
          </p:txBody>
        </p:sp>
        <p:sp>
          <p:nvSpPr>
            <p:cNvPr id="14" name="Line 12"/>
            <p:cNvSpPr>
              <a:spLocks noChangeShapeType="1"/>
            </p:cNvSpPr>
            <p:nvPr/>
          </p:nvSpPr>
          <p:spPr bwMode="auto">
            <a:xfrm>
              <a:off x="1690688" y="2203450"/>
              <a:ext cx="244792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3"/>
            <p:cNvSpPr txBox="1">
              <a:spLocks noChangeArrowheads="1"/>
            </p:cNvSpPr>
            <p:nvPr/>
          </p:nvSpPr>
          <p:spPr bwMode="auto">
            <a:xfrm>
              <a:off x="2051050" y="1806575"/>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solidFill>
                    <a:srgbClr val="0000FF"/>
                  </a:solidFill>
                </a:rPr>
                <a:t>程序执行</a:t>
              </a:r>
            </a:p>
          </p:txBody>
        </p:sp>
        <p:sp>
          <p:nvSpPr>
            <p:cNvPr id="16" name="Line 14"/>
            <p:cNvSpPr>
              <a:spLocks noChangeShapeType="1"/>
            </p:cNvSpPr>
            <p:nvPr/>
          </p:nvSpPr>
          <p:spPr bwMode="auto">
            <a:xfrm>
              <a:off x="4859338" y="2203450"/>
              <a:ext cx="115252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5"/>
            <p:cNvSpPr>
              <a:spLocks noChangeShapeType="1"/>
            </p:cNvSpPr>
            <p:nvPr/>
          </p:nvSpPr>
          <p:spPr bwMode="auto">
            <a:xfrm flipV="1">
              <a:off x="2266950" y="2779713"/>
              <a:ext cx="2160588" cy="1873250"/>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6"/>
            <p:cNvSpPr>
              <a:spLocks noChangeShapeType="1"/>
            </p:cNvSpPr>
            <p:nvPr/>
          </p:nvSpPr>
          <p:spPr bwMode="auto">
            <a:xfrm>
              <a:off x="6443663" y="2419350"/>
              <a:ext cx="71437" cy="2305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7"/>
            <p:cNvSpPr>
              <a:spLocks noChangeShapeType="1"/>
            </p:cNvSpPr>
            <p:nvPr/>
          </p:nvSpPr>
          <p:spPr bwMode="auto">
            <a:xfrm flipV="1">
              <a:off x="6875463" y="2563813"/>
              <a:ext cx="863600" cy="2160587"/>
            </a:xfrm>
            <a:prstGeom prst="line">
              <a:avLst/>
            </a:prstGeom>
            <a:noFill/>
            <a:ln w="952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3693189499"/>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隶书" panose="02010509060101010101" pitchFamily="49" charset="-122"/>
              </a:rPr>
              <a:t>信号驱动</a:t>
            </a:r>
            <a:r>
              <a:rPr lang="en-US" altLang="zh-CN" b="0" dirty="0" smtClean="0">
                <a:latin typeface="隶书" panose="02010509060101010101" pitchFamily="49" charset="-122"/>
              </a:rPr>
              <a:t>I/O </a:t>
            </a:r>
            <a:r>
              <a:rPr lang="zh-CN" altLang="en-US" b="0" dirty="0" smtClean="0">
                <a:latin typeface="隶书" panose="02010509060101010101" pitchFamily="49" charset="-122"/>
              </a:rPr>
              <a:t>模式</a:t>
            </a:r>
            <a:endParaRPr lang="zh-CN" altLang="en-US" dirty="0"/>
          </a:p>
        </p:txBody>
      </p:sp>
      <p:sp>
        <p:nvSpPr>
          <p:cNvPr id="3" name="内容占位符 2"/>
          <p:cNvSpPr>
            <a:spLocks noGrp="1"/>
          </p:cNvSpPr>
          <p:nvPr>
            <p:ph idx="1"/>
          </p:nvPr>
        </p:nvSpPr>
        <p:spPr/>
        <p:txBody>
          <a:bodyPr/>
          <a:lstStyle/>
          <a:p>
            <a:r>
              <a:rPr lang="zh-CN" altLang="en-US" dirty="0">
                <a:latin typeface="宋体" panose="02010600030101010101" pitchFamily="2" charset="-122"/>
              </a:rPr>
              <a:t>为了在一个套接字上使用信号驱动</a:t>
            </a:r>
            <a:r>
              <a:rPr lang="en-US" altLang="zh-CN" dirty="0">
                <a:latin typeface="Times New Roman" panose="02020603050405020304" pitchFamily="18" charset="0"/>
              </a:rPr>
              <a:t>I/O </a:t>
            </a:r>
            <a:r>
              <a:rPr lang="zh-CN" altLang="en-US" dirty="0">
                <a:latin typeface="宋体" panose="02010600030101010101" pitchFamily="2" charset="-122"/>
              </a:rPr>
              <a:t>操作，下面这三步是所必须的</a:t>
            </a:r>
            <a:r>
              <a:rPr lang="en-US" altLang="zh-CN" dirty="0">
                <a:latin typeface="宋体" panose="02010600030101010101" pitchFamily="2" charset="-122"/>
              </a:rPr>
              <a:t>:</a:t>
            </a:r>
          </a:p>
          <a:p>
            <a:pPr lvl="1"/>
            <a:r>
              <a:rPr lang="zh-CN" altLang="en-US" dirty="0" smtClean="0">
                <a:latin typeface="宋体" panose="02010600030101010101" pitchFamily="2" charset="-122"/>
              </a:rPr>
              <a:t>一个和</a:t>
            </a:r>
            <a:r>
              <a:rPr lang="en-US" altLang="zh-CN" dirty="0" smtClean="0">
                <a:latin typeface="Times New Roman" panose="02020603050405020304" pitchFamily="18" charset="0"/>
              </a:rPr>
              <a:t>SIGIO </a:t>
            </a:r>
            <a:r>
              <a:rPr lang="zh-CN" altLang="en-US" dirty="0" smtClean="0">
                <a:latin typeface="宋体" panose="02010600030101010101" pitchFamily="2" charset="-122"/>
              </a:rPr>
              <a:t>信号的处理函数必须设定。</a:t>
            </a:r>
          </a:p>
          <a:p>
            <a:pPr lvl="1"/>
            <a:r>
              <a:rPr lang="zh-CN" altLang="en-US" dirty="0" smtClean="0">
                <a:latin typeface="宋体" panose="02010600030101010101" pitchFamily="2" charset="-122"/>
              </a:rPr>
              <a:t>套接字的拥有者必须被设定。一般来说是使用</a:t>
            </a:r>
            <a:r>
              <a:rPr lang="en-US" altLang="zh-CN" dirty="0" err="1" smtClean="0">
                <a:latin typeface="Times New Roman" panose="02020603050405020304" pitchFamily="18" charset="0"/>
              </a:rPr>
              <a:t>fcntl</a:t>
            </a:r>
            <a:r>
              <a:rPr lang="en-US" altLang="zh-CN" dirty="0" smtClean="0">
                <a:latin typeface="Times New Roman" panose="02020603050405020304" pitchFamily="18" charset="0"/>
              </a:rPr>
              <a:t> </a:t>
            </a:r>
            <a:r>
              <a:rPr lang="zh-CN" altLang="en-US" dirty="0" smtClean="0">
                <a:latin typeface="宋体" panose="02010600030101010101" pitchFamily="2" charset="-122"/>
              </a:rPr>
              <a:t>函数的</a:t>
            </a:r>
            <a:r>
              <a:rPr lang="en-US" altLang="zh-CN" dirty="0" smtClean="0">
                <a:latin typeface="Times New Roman" panose="02020603050405020304" pitchFamily="18" charset="0"/>
              </a:rPr>
              <a:t>F_SETOWN </a:t>
            </a:r>
            <a:r>
              <a:rPr lang="zh-CN" altLang="en-US" dirty="0" smtClean="0">
                <a:latin typeface="宋体" panose="02010600030101010101" pitchFamily="2" charset="-122"/>
              </a:rPr>
              <a:t>参数来进行设定拥有者。</a:t>
            </a:r>
          </a:p>
          <a:p>
            <a:pPr lvl="2"/>
            <a:r>
              <a:rPr lang="zh-CN" altLang="en-US" dirty="0" smtClean="0">
                <a:latin typeface="宋体" panose="02010600030101010101" pitchFamily="2" charset="-122"/>
              </a:rPr>
              <a:t>如果第</a:t>
            </a:r>
            <a:r>
              <a:rPr lang="en-US" altLang="zh-CN" dirty="0" smtClean="0">
                <a:latin typeface="宋体" panose="02010600030101010101" pitchFamily="2" charset="-122"/>
              </a:rPr>
              <a:t>3</a:t>
            </a:r>
            <a:r>
              <a:rPr lang="zh-CN" altLang="en-US" dirty="0" smtClean="0">
                <a:latin typeface="宋体" panose="02010600030101010101" pitchFamily="2" charset="-122"/>
              </a:rPr>
              <a:t>个参数是正整数，则表示进程号，此时将由该指定的进行作为接帐者。</a:t>
            </a:r>
          </a:p>
          <a:p>
            <a:pPr lvl="2"/>
            <a:r>
              <a:rPr lang="zh-CN" altLang="en-US" dirty="0" smtClean="0">
                <a:latin typeface="宋体" panose="02010600030101010101" pitchFamily="2" charset="-122"/>
              </a:rPr>
              <a:t>如果第</a:t>
            </a:r>
            <a:r>
              <a:rPr lang="en-US" altLang="zh-CN" dirty="0" smtClean="0">
                <a:latin typeface="宋体" panose="02010600030101010101" pitchFamily="2" charset="-122"/>
              </a:rPr>
              <a:t>3</a:t>
            </a:r>
            <a:r>
              <a:rPr lang="zh-CN" altLang="en-US" dirty="0" smtClean="0">
                <a:latin typeface="宋体" panose="02010600030101010101" pitchFamily="2" charset="-122"/>
              </a:rPr>
              <a:t>个参数是一个负整数，则表示指定由该数的绝对值对应的进程组作来接收数据。</a:t>
            </a:r>
          </a:p>
          <a:p>
            <a:pPr lvl="1"/>
            <a:r>
              <a:rPr lang="zh-CN" altLang="en-US" dirty="0" smtClean="0">
                <a:latin typeface="宋体" panose="02010600030101010101" pitchFamily="2" charset="-122"/>
              </a:rPr>
              <a:t>套接字必须被允许使用异步</a:t>
            </a:r>
            <a:r>
              <a:rPr lang="en-US" altLang="zh-CN" dirty="0" smtClean="0">
                <a:latin typeface="Times New Roman" panose="02020603050405020304" pitchFamily="18" charset="0"/>
              </a:rPr>
              <a:t>I/O</a:t>
            </a:r>
            <a:r>
              <a:rPr lang="zh-CN" altLang="en-US" dirty="0" smtClean="0">
                <a:latin typeface="宋体" panose="02010600030101010101" pitchFamily="2" charset="-122"/>
              </a:rPr>
              <a:t>。一般是通过调用</a:t>
            </a:r>
            <a:r>
              <a:rPr lang="en-US" altLang="zh-CN" dirty="0" err="1" smtClean="0">
                <a:latin typeface="Times New Roman" panose="02020603050405020304" pitchFamily="18" charset="0"/>
              </a:rPr>
              <a:t>fcntl</a:t>
            </a:r>
            <a:r>
              <a:rPr lang="en-US" altLang="zh-CN" dirty="0" smtClean="0">
                <a:latin typeface="Times New Roman" panose="02020603050405020304" pitchFamily="18" charset="0"/>
              </a:rPr>
              <a:t> </a:t>
            </a:r>
            <a:r>
              <a:rPr lang="zh-CN" altLang="en-US" dirty="0" smtClean="0">
                <a:latin typeface="宋体" panose="02010600030101010101" pitchFamily="2" charset="-122"/>
              </a:rPr>
              <a:t>函数的</a:t>
            </a:r>
            <a:r>
              <a:rPr lang="en-US" altLang="zh-CN" dirty="0" smtClean="0">
                <a:latin typeface="Times New Roman" panose="02020603050405020304" pitchFamily="18" charset="0"/>
              </a:rPr>
              <a:t>F_SETFL </a:t>
            </a:r>
            <a:r>
              <a:rPr lang="zh-CN" altLang="en-US" dirty="0" smtClean="0">
                <a:latin typeface="宋体" panose="02010600030101010101" pitchFamily="2" charset="-122"/>
              </a:rPr>
              <a:t>命令，</a:t>
            </a:r>
            <a:r>
              <a:rPr lang="en-US" altLang="zh-CN" dirty="0" smtClean="0">
                <a:latin typeface="Times New Roman" panose="02020603050405020304" pitchFamily="18" charset="0"/>
              </a:rPr>
              <a:t>O_ASYNC </a:t>
            </a:r>
            <a:r>
              <a:rPr lang="zh-CN" altLang="en-US" dirty="0" smtClean="0">
                <a:latin typeface="宋体" panose="02010600030101010101" pitchFamily="2" charset="-122"/>
              </a:rPr>
              <a:t>为参数来实现。</a:t>
            </a:r>
            <a:endParaRPr lang="zh-CN" altLang="en-US" dirty="0"/>
          </a:p>
          <a:p>
            <a:endParaRPr lang="zh-CN" altLang="en-US" dirty="0"/>
          </a:p>
        </p:txBody>
      </p:sp>
    </p:spTree>
    <p:extLst>
      <p:ext uri="{BB962C8B-B14F-4D97-AF65-F5344CB8AC3E}">
        <p14:creationId xmlns:p14="http://schemas.microsoft.com/office/powerpoint/2010/main" val="3696325606"/>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隶书" panose="02010509060101010101" pitchFamily="49" charset="-122"/>
              </a:rPr>
              <a:t>信号驱动</a:t>
            </a:r>
            <a:r>
              <a:rPr lang="en-US" altLang="zh-CN" b="0" dirty="0" smtClean="0">
                <a:latin typeface="隶书" panose="02010509060101010101" pitchFamily="49" charset="-122"/>
              </a:rPr>
              <a:t>I/O </a:t>
            </a:r>
            <a:r>
              <a:rPr lang="zh-CN" altLang="en-US" b="0" dirty="0" smtClean="0">
                <a:latin typeface="隶书" panose="02010509060101010101" pitchFamily="49" charset="-122"/>
              </a:rPr>
              <a:t>模式</a:t>
            </a:r>
            <a:endParaRPr lang="zh-CN" altLang="en-US" dirty="0"/>
          </a:p>
        </p:txBody>
      </p:sp>
      <p:sp>
        <p:nvSpPr>
          <p:cNvPr id="3" name="内容占位符 2"/>
          <p:cNvSpPr>
            <a:spLocks noGrp="1"/>
          </p:cNvSpPr>
          <p:nvPr>
            <p:ph idx="1"/>
          </p:nvPr>
        </p:nvSpPr>
        <p:spPr/>
        <p:txBody>
          <a:bodyPr/>
          <a:lstStyle/>
          <a:p>
            <a:r>
              <a:rPr lang="en-US" altLang="zh-CN" dirty="0" smtClean="0">
                <a:latin typeface="黑体" panose="02010609060101010101" pitchFamily="49" charset="-122"/>
                <a:ea typeface="黑体" panose="02010609060101010101" pitchFamily="49" charset="-122"/>
              </a:rPr>
              <a:t>UDP </a:t>
            </a:r>
            <a:r>
              <a:rPr lang="zh-CN" altLang="en-US" dirty="0" smtClean="0">
                <a:latin typeface="黑体" panose="02010609060101010101" pitchFamily="49" charset="-122"/>
                <a:ea typeface="黑体" panose="02010609060101010101" pitchFamily="49" charset="-122"/>
              </a:rPr>
              <a:t>套接字的</a:t>
            </a:r>
            <a:r>
              <a:rPr lang="en-US" altLang="zh-CN" dirty="0" smtClean="0">
                <a:latin typeface="黑体" panose="02010609060101010101" pitchFamily="49" charset="-122"/>
                <a:ea typeface="黑体" panose="02010609060101010101" pitchFamily="49" charset="-122"/>
              </a:rPr>
              <a:t>SIGIO </a:t>
            </a:r>
            <a:r>
              <a:rPr lang="zh-CN" altLang="en-US" dirty="0" smtClean="0">
                <a:latin typeface="黑体" panose="02010609060101010101" pitchFamily="49" charset="-122"/>
                <a:ea typeface="黑体" panose="02010609060101010101" pitchFamily="49" charset="-122"/>
              </a:rPr>
              <a:t>信号</a:t>
            </a:r>
          </a:p>
          <a:p>
            <a:pPr lvl="1"/>
            <a:r>
              <a:rPr lang="zh-CN" altLang="en-US" sz="3200" dirty="0" smtClean="0">
                <a:latin typeface="宋体" panose="02010600030101010101" pitchFamily="2" charset="-122"/>
              </a:rPr>
              <a:t>在</a:t>
            </a:r>
            <a:r>
              <a:rPr lang="en-US" altLang="zh-CN" sz="3200" dirty="0" smtClean="0">
                <a:latin typeface="Times New Roman" panose="02020603050405020304" pitchFamily="18" charset="0"/>
              </a:rPr>
              <a:t>UDP </a:t>
            </a:r>
            <a:r>
              <a:rPr lang="zh-CN" altLang="en-US" sz="3200" dirty="0" smtClean="0">
                <a:latin typeface="宋体" panose="02010600030101010101" pitchFamily="2" charset="-122"/>
              </a:rPr>
              <a:t>协议上使用异步</a:t>
            </a:r>
            <a:r>
              <a:rPr lang="en-US" altLang="zh-CN" sz="3200" dirty="0" smtClean="0">
                <a:latin typeface="Times New Roman" panose="02020603050405020304" pitchFamily="18" charset="0"/>
              </a:rPr>
              <a:t>I/O </a:t>
            </a:r>
            <a:r>
              <a:rPr lang="zh-CN" altLang="en-US" sz="3200" dirty="0" smtClean="0">
                <a:latin typeface="宋体" panose="02010600030101010101" pitchFamily="2" charset="-122"/>
              </a:rPr>
              <a:t>非常简单．这个信号将会在这个时候产生：</a:t>
            </a:r>
          </a:p>
          <a:p>
            <a:pPr lvl="2"/>
            <a:r>
              <a:rPr lang="zh-CN" altLang="en-US" sz="3200" dirty="0" smtClean="0">
                <a:latin typeface="宋体" panose="02010600030101010101" pitchFamily="2" charset="-122"/>
              </a:rPr>
              <a:t>套接字收到了一个数据报的数据包。</a:t>
            </a:r>
          </a:p>
          <a:p>
            <a:pPr lvl="2"/>
            <a:r>
              <a:rPr lang="zh-CN" altLang="en-US" sz="3200" dirty="0" smtClean="0">
                <a:latin typeface="宋体" panose="02010600030101010101" pitchFamily="2" charset="-122"/>
              </a:rPr>
              <a:t>套接字发生了异步错误。</a:t>
            </a:r>
          </a:p>
          <a:p>
            <a:pPr lvl="1"/>
            <a:r>
              <a:rPr lang="zh-CN" altLang="en-US" sz="3200" dirty="0" smtClean="0">
                <a:latin typeface="宋体" panose="02010600030101010101" pitchFamily="2" charset="-122"/>
              </a:rPr>
              <a:t>当我们在使用</a:t>
            </a:r>
            <a:r>
              <a:rPr lang="en-US" altLang="zh-CN" sz="3200" dirty="0" smtClean="0">
                <a:latin typeface="Times New Roman" panose="02020603050405020304" pitchFamily="18" charset="0"/>
              </a:rPr>
              <a:t>UDP </a:t>
            </a:r>
            <a:r>
              <a:rPr lang="zh-CN" altLang="en-US" sz="3200" dirty="0" smtClean="0">
                <a:latin typeface="宋体" panose="02010600030101010101" pitchFamily="2" charset="-122"/>
              </a:rPr>
              <a:t>套接字异步</a:t>
            </a:r>
            <a:r>
              <a:rPr lang="en-US" altLang="zh-CN" sz="3200" dirty="0" smtClean="0">
                <a:latin typeface="Times New Roman" panose="02020603050405020304" pitchFamily="18" charset="0"/>
              </a:rPr>
              <a:t>I/O </a:t>
            </a:r>
            <a:r>
              <a:rPr lang="zh-CN" altLang="en-US" sz="3200" dirty="0" smtClean="0">
                <a:latin typeface="宋体" panose="02010600030101010101" pitchFamily="2" charset="-122"/>
              </a:rPr>
              <a:t>的时候，我们使用</a:t>
            </a:r>
            <a:r>
              <a:rPr lang="en-US" altLang="zh-CN" sz="3200" dirty="0" err="1" smtClean="0">
                <a:latin typeface="Times New Roman" panose="02020603050405020304" pitchFamily="18" charset="0"/>
              </a:rPr>
              <a:t>recvfrom</a:t>
            </a:r>
            <a:r>
              <a:rPr lang="en-US" altLang="zh-CN" sz="3200" dirty="0" smtClean="0">
                <a:latin typeface="Times New Roman" panose="02020603050405020304" pitchFamily="18" charset="0"/>
              </a:rPr>
              <a:t>()</a:t>
            </a:r>
            <a:r>
              <a:rPr lang="zh-CN" altLang="en-US" sz="3200" dirty="0" smtClean="0">
                <a:latin typeface="宋体" panose="02010600030101010101" pitchFamily="2" charset="-122"/>
              </a:rPr>
              <a:t>函数来读取数据报数据或是异步</a:t>
            </a:r>
            <a:r>
              <a:rPr lang="en-US" altLang="zh-CN" sz="3200" dirty="0" smtClean="0">
                <a:latin typeface="Times New Roman" panose="02020603050405020304" pitchFamily="18" charset="0"/>
              </a:rPr>
              <a:t>I/O </a:t>
            </a:r>
            <a:r>
              <a:rPr lang="zh-CN" altLang="en-US" sz="3200" dirty="0" smtClean="0">
                <a:latin typeface="宋体" panose="02010600030101010101" pitchFamily="2" charset="-122"/>
              </a:rPr>
              <a:t>错误信。</a:t>
            </a:r>
            <a:endParaRPr lang="zh-CN" altLang="en-US" dirty="0" smtClean="0"/>
          </a:p>
          <a:p>
            <a:endParaRPr lang="zh-CN" altLang="en-US" dirty="0"/>
          </a:p>
        </p:txBody>
      </p:sp>
    </p:spTree>
    <p:extLst>
      <p:ext uri="{BB962C8B-B14F-4D97-AF65-F5344CB8AC3E}">
        <p14:creationId xmlns:p14="http://schemas.microsoft.com/office/powerpoint/2010/main" val="1633273840"/>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隶书" panose="02010509060101010101" pitchFamily="49" charset="-122"/>
              </a:rPr>
              <a:t>信号驱动</a:t>
            </a:r>
            <a:r>
              <a:rPr lang="en-US" altLang="zh-CN" b="0" dirty="0" smtClean="0">
                <a:latin typeface="隶书" panose="02010509060101010101" pitchFamily="49" charset="-122"/>
              </a:rPr>
              <a:t>I/O </a:t>
            </a:r>
            <a:r>
              <a:rPr lang="zh-CN" altLang="en-US" b="0" dirty="0" smtClean="0">
                <a:latin typeface="隶书" panose="02010509060101010101" pitchFamily="49" charset="-122"/>
              </a:rPr>
              <a:t>模式</a:t>
            </a:r>
            <a:endParaRPr lang="zh-CN" altLang="en-US" dirty="0"/>
          </a:p>
        </p:txBody>
      </p:sp>
      <p:sp>
        <p:nvSpPr>
          <p:cNvPr id="3" name="内容占位符 2"/>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TCP </a:t>
            </a:r>
            <a:r>
              <a:rPr lang="zh-CN" altLang="en-US" dirty="0">
                <a:latin typeface="黑体" panose="02010609060101010101" pitchFamily="49" charset="-122"/>
                <a:ea typeface="黑体" panose="02010609060101010101" pitchFamily="49" charset="-122"/>
              </a:rPr>
              <a:t>套接字的</a:t>
            </a:r>
            <a:r>
              <a:rPr lang="en-US" altLang="zh-CN" dirty="0">
                <a:latin typeface="黑体" panose="02010609060101010101" pitchFamily="49" charset="-122"/>
                <a:ea typeface="黑体" panose="02010609060101010101" pitchFamily="49" charset="-122"/>
              </a:rPr>
              <a:t>SIGIO </a:t>
            </a:r>
            <a:r>
              <a:rPr lang="zh-CN" altLang="en-US" dirty="0">
                <a:latin typeface="黑体" panose="02010609060101010101" pitchFamily="49" charset="-122"/>
                <a:ea typeface="黑体" panose="02010609060101010101" pitchFamily="49" charset="-122"/>
              </a:rPr>
              <a:t>信号</a:t>
            </a:r>
          </a:p>
          <a:p>
            <a:pPr lvl="1"/>
            <a:r>
              <a:rPr lang="zh-CN" altLang="en-US" dirty="0">
                <a:latin typeface="宋体" panose="02010600030101010101" pitchFamily="2" charset="-122"/>
              </a:rPr>
              <a:t>不幸的是，异步</a:t>
            </a:r>
            <a:r>
              <a:rPr lang="en-US" altLang="zh-CN" dirty="0">
                <a:latin typeface="Times New Roman" panose="02020603050405020304" pitchFamily="18" charset="0"/>
              </a:rPr>
              <a:t>I/O </a:t>
            </a:r>
            <a:r>
              <a:rPr lang="zh-CN" altLang="en-US" dirty="0">
                <a:latin typeface="宋体" panose="02010600030101010101" pitchFamily="2" charset="-122"/>
              </a:rPr>
              <a:t>几乎对</a:t>
            </a:r>
            <a:r>
              <a:rPr lang="en-US" altLang="zh-CN" dirty="0">
                <a:latin typeface="Times New Roman" panose="02020603050405020304" pitchFamily="18" charset="0"/>
              </a:rPr>
              <a:t>TCP </a:t>
            </a:r>
            <a:r>
              <a:rPr lang="zh-CN" altLang="en-US" dirty="0">
                <a:latin typeface="宋体" panose="02010600030101010101" pitchFamily="2" charset="-122"/>
              </a:rPr>
              <a:t>套接字而言没有什么作用。因为对于一个</a:t>
            </a:r>
            <a:r>
              <a:rPr lang="en-US" altLang="zh-CN" dirty="0">
                <a:latin typeface="Times New Roman" panose="02020603050405020304" pitchFamily="18" charset="0"/>
              </a:rPr>
              <a:t>TCP </a:t>
            </a:r>
            <a:r>
              <a:rPr lang="zh-CN" altLang="en-US" dirty="0">
                <a:latin typeface="宋体" panose="02010600030101010101" pitchFamily="2" charset="-122"/>
              </a:rPr>
              <a:t>套接字来说， </a:t>
            </a:r>
            <a:r>
              <a:rPr lang="en-US" altLang="zh-CN" dirty="0">
                <a:latin typeface="Times New Roman" panose="02020603050405020304" pitchFamily="18" charset="0"/>
              </a:rPr>
              <a:t>SIGIO </a:t>
            </a:r>
            <a:r>
              <a:rPr lang="zh-CN" altLang="en-US" dirty="0">
                <a:latin typeface="宋体" panose="02010600030101010101" pitchFamily="2" charset="-122"/>
              </a:rPr>
              <a:t>信号发生的几率太高了，所以</a:t>
            </a:r>
            <a:r>
              <a:rPr lang="en-US" altLang="zh-CN" dirty="0">
                <a:latin typeface="Times New Roman" panose="02020603050405020304" pitchFamily="18" charset="0"/>
              </a:rPr>
              <a:t>SIGIO </a:t>
            </a:r>
            <a:r>
              <a:rPr lang="zh-CN" altLang="en-US" dirty="0">
                <a:latin typeface="宋体" panose="02010600030101010101" pitchFamily="2" charset="-122"/>
              </a:rPr>
              <a:t>信号并不能告诉我们究竟发生了什么事情。</a:t>
            </a:r>
          </a:p>
          <a:p>
            <a:pPr lvl="1"/>
            <a:r>
              <a:rPr lang="zh-CN" altLang="en-US" dirty="0">
                <a:latin typeface="宋体" panose="02010600030101010101" pitchFamily="2" charset="-122"/>
              </a:rPr>
              <a:t>在</a:t>
            </a:r>
            <a:r>
              <a:rPr lang="en-US" altLang="zh-CN" dirty="0">
                <a:latin typeface="Times New Roman" panose="02020603050405020304" pitchFamily="18" charset="0"/>
              </a:rPr>
              <a:t>TCP </a:t>
            </a:r>
            <a:r>
              <a:rPr lang="zh-CN" altLang="en-US" dirty="0">
                <a:latin typeface="宋体" panose="02010600030101010101" pitchFamily="2" charset="-122"/>
              </a:rPr>
              <a:t>连接中， </a:t>
            </a:r>
            <a:r>
              <a:rPr lang="en-US" altLang="zh-CN" dirty="0">
                <a:latin typeface="Times New Roman" panose="02020603050405020304" pitchFamily="18" charset="0"/>
              </a:rPr>
              <a:t>SIGIO </a:t>
            </a:r>
            <a:r>
              <a:rPr lang="zh-CN" altLang="en-US" dirty="0">
                <a:latin typeface="宋体" panose="02010600030101010101" pitchFamily="2" charset="-122"/>
              </a:rPr>
              <a:t>信号将会在这个时候产生：</a:t>
            </a:r>
          </a:p>
          <a:p>
            <a:pPr lvl="2"/>
            <a:r>
              <a:rPr lang="zh-CN" altLang="en-US" dirty="0">
                <a:latin typeface="宋体" panose="02010600030101010101" pitchFamily="2" charset="-122"/>
              </a:rPr>
              <a:t>在一个监听某个端口的套接字上成功的建立了一个新连接。</a:t>
            </a:r>
          </a:p>
          <a:p>
            <a:pPr lvl="2"/>
            <a:r>
              <a:rPr lang="zh-CN" altLang="en-US" dirty="0">
                <a:latin typeface="宋体" panose="02010600030101010101" pitchFamily="2" charset="-122"/>
              </a:rPr>
              <a:t>一个断线的请求被成功的初始化。</a:t>
            </a:r>
          </a:p>
          <a:p>
            <a:pPr lvl="2"/>
            <a:r>
              <a:rPr lang="zh-CN" altLang="en-US" dirty="0">
                <a:latin typeface="宋体" panose="02010600030101010101" pitchFamily="2" charset="-122"/>
              </a:rPr>
              <a:t>一个断线的请求成功的结束。</a:t>
            </a:r>
          </a:p>
          <a:p>
            <a:pPr lvl="2"/>
            <a:r>
              <a:rPr lang="zh-CN" altLang="en-US" dirty="0">
                <a:latin typeface="宋体" panose="02010600030101010101" pitchFamily="2" charset="-122"/>
              </a:rPr>
              <a:t>套接字的某一个通道（发送通道或是接收通道）被关闭。</a:t>
            </a:r>
          </a:p>
          <a:p>
            <a:pPr lvl="2"/>
            <a:r>
              <a:rPr lang="zh-CN" altLang="en-US" dirty="0">
                <a:latin typeface="宋体" panose="02010600030101010101" pitchFamily="2" charset="-122"/>
              </a:rPr>
              <a:t>套接字接收到新数据。</a:t>
            </a:r>
          </a:p>
          <a:p>
            <a:pPr lvl="2"/>
            <a:r>
              <a:rPr lang="zh-CN" altLang="en-US" dirty="0">
                <a:latin typeface="宋体" panose="02010600030101010101" pitchFamily="2" charset="-122"/>
              </a:rPr>
              <a:t>套接字将数据发送出去。</a:t>
            </a:r>
          </a:p>
          <a:p>
            <a:pPr lvl="2"/>
            <a:r>
              <a:rPr lang="zh-CN" altLang="en-US" dirty="0">
                <a:latin typeface="宋体" panose="02010600030101010101" pitchFamily="2" charset="-122"/>
              </a:rPr>
              <a:t>发生了一个异步</a:t>
            </a:r>
            <a:r>
              <a:rPr lang="en-US" altLang="zh-CN" dirty="0">
                <a:latin typeface="Times New Roman" panose="02020603050405020304" pitchFamily="18" charset="0"/>
              </a:rPr>
              <a:t>I/O </a:t>
            </a:r>
            <a:r>
              <a:rPr lang="zh-CN" altLang="en-US" dirty="0">
                <a:latin typeface="宋体" panose="02010600030101010101" pitchFamily="2" charset="-122"/>
              </a:rPr>
              <a:t>的错误。</a:t>
            </a:r>
            <a:endParaRPr lang="zh-CN" altLang="en-US" dirty="0"/>
          </a:p>
          <a:p>
            <a:endParaRPr lang="zh-CN" altLang="en-US" dirty="0"/>
          </a:p>
        </p:txBody>
      </p:sp>
    </p:spTree>
    <p:extLst>
      <p:ext uri="{BB962C8B-B14F-4D97-AF65-F5344CB8AC3E}">
        <p14:creationId xmlns:p14="http://schemas.microsoft.com/office/powerpoint/2010/main" val="1810932893"/>
      </p:ext>
    </p:extLst>
  </p:cSld>
  <p:clrMapOvr>
    <a:masterClrMapping/>
  </p:clrMapOvr>
</p:sld>
</file>

<file path=ppt/theme/theme1.xml><?xml version="1.0" encoding="utf-8"?>
<a:theme xmlns:a="http://schemas.openxmlformats.org/drawingml/2006/main" name="主题1">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黑体"/>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22</TotalTime>
  <Words>42475</Words>
  <Application>Microsoft Office PowerPoint</Application>
  <PresentationFormat>自定义</PresentationFormat>
  <Paragraphs>4479</Paragraphs>
  <Slides>475</Slides>
  <Notes>17</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475</vt:i4>
      </vt:variant>
    </vt:vector>
  </HeadingPairs>
  <TitlesOfParts>
    <vt:vector size="480" baseType="lpstr">
      <vt:lpstr>主题1</vt:lpstr>
      <vt:lpstr>包</vt:lpstr>
      <vt:lpstr>包装程序外壳对象</vt:lpstr>
      <vt:lpstr>Visio</vt:lpstr>
      <vt:lpstr>Visio.Drawing.11</vt:lpstr>
      <vt:lpstr>Linux程序设计</vt:lpstr>
      <vt:lpstr>课程介绍</vt:lpstr>
      <vt:lpstr>学时安排</vt:lpstr>
      <vt:lpstr>实验项目及学时分配</vt:lpstr>
      <vt:lpstr>第一章 Linux基础</vt:lpstr>
      <vt:lpstr>基本要求</vt:lpstr>
      <vt:lpstr>什么是Linux</vt:lpstr>
      <vt:lpstr>Linux发展历史</vt:lpstr>
      <vt:lpstr>GNU项目简介</vt:lpstr>
      <vt:lpstr>GNU项目组织结构</vt:lpstr>
      <vt:lpstr>Linux起源</vt:lpstr>
      <vt:lpstr>Linux发展历史</vt:lpstr>
      <vt:lpstr>Linux发展历史(续)</vt:lpstr>
      <vt:lpstr>Linux发展历史(续)</vt:lpstr>
      <vt:lpstr>Linux发展历史(续)</vt:lpstr>
      <vt:lpstr>Linux发展历史(续)</vt:lpstr>
      <vt:lpstr>Linux发展历史(续)</vt:lpstr>
      <vt:lpstr>Linux各大发行版</vt:lpstr>
      <vt:lpstr>Linux各大发行版(续)</vt:lpstr>
      <vt:lpstr>Linux各大发行版(续)</vt:lpstr>
      <vt:lpstr>Linux各大发行版(续)</vt:lpstr>
      <vt:lpstr>Linux各大发行版(续)</vt:lpstr>
      <vt:lpstr>Linux各大发行版(续)</vt:lpstr>
      <vt:lpstr>Linux各大发行版(续)</vt:lpstr>
      <vt:lpstr>国产操作系统</vt:lpstr>
      <vt:lpstr>免费软件与开源软件</vt:lpstr>
      <vt:lpstr>Linux内核与版本</vt:lpstr>
      <vt:lpstr>Linux内核结构</vt:lpstr>
      <vt:lpstr>Android系统结构</vt:lpstr>
      <vt:lpstr>Linux系统架构和目录</vt:lpstr>
      <vt:lpstr>Linux基本操作</vt:lpstr>
      <vt:lpstr>Shell、控制台、终端</vt:lpstr>
      <vt:lpstr>桌面环境</vt:lpstr>
      <vt:lpstr>文件和目录</vt:lpstr>
      <vt:lpstr>文件系统</vt:lpstr>
      <vt:lpstr>文件名及路径名</vt:lpstr>
      <vt:lpstr>工作目录</vt:lpstr>
      <vt:lpstr>文件描述符</vt:lpstr>
      <vt:lpstr>Linux黑洞</vt:lpstr>
      <vt:lpstr>常用命令——用户管理</vt:lpstr>
      <vt:lpstr>常用命令——用户管理</vt:lpstr>
      <vt:lpstr>常用命令——目录管理</vt:lpstr>
      <vt:lpstr>常用命令——目录管理</vt:lpstr>
      <vt:lpstr>常用命令——文件管理</vt:lpstr>
      <vt:lpstr>常用命令——文件管理</vt:lpstr>
      <vt:lpstr>常用命令——文件管理</vt:lpstr>
      <vt:lpstr>常用命令——权限管理</vt:lpstr>
      <vt:lpstr>常用命令——权限管理</vt:lpstr>
      <vt:lpstr>常用命令——权限管理</vt:lpstr>
      <vt:lpstr>常用命令——权限管理</vt:lpstr>
      <vt:lpstr>第二章 Shell程序设计</vt:lpstr>
      <vt:lpstr>基本要求</vt:lpstr>
      <vt:lpstr>Shell 脚本的概念</vt:lpstr>
      <vt:lpstr>Shell 脚本的概念</vt:lpstr>
      <vt:lpstr>Shell 脚本格式</vt:lpstr>
      <vt:lpstr>Shell 变量</vt:lpstr>
      <vt:lpstr>变量的引用和显示</vt:lpstr>
      <vt:lpstr>变量引用实例（456）</vt:lpstr>
      <vt:lpstr>执行脚本注意</vt:lpstr>
      <vt:lpstr>变量名保护</vt:lpstr>
      <vt:lpstr>变量值的赋值（12378）</vt:lpstr>
      <vt:lpstr>Shell 环境变量</vt:lpstr>
      <vt:lpstr>Shell环境变量规定</vt:lpstr>
      <vt:lpstr>Shell 系统变量</vt:lpstr>
      <vt:lpstr>系统变量的实例</vt:lpstr>
      <vt:lpstr>Shell表达式运算</vt:lpstr>
      <vt:lpstr>流程控制:条件语句</vt:lpstr>
      <vt:lpstr>条件判断式</vt:lpstr>
      <vt:lpstr>条件判断式(续)</vt:lpstr>
      <vt:lpstr>条件判断式(续)</vt:lpstr>
      <vt:lpstr>条件判断实例</vt:lpstr>
      <vt:lpstr>If实例</vt:lpstr>
      <vt:lpstr>流程控制:多向分支Case语句</vt:lpstr>
      <vt:lpstr>case 实例,菜单选择</vt:lpstr>
      <vt:lpstr>复杂实例</vt:lpstr>
      <vt:lpstr>流程控制:bash 循环机制</vt:lpstr>
      <vt:lpstr>流程控制:for 循环</vt:lpstr>
      <vt:lpstr>for 实例</vt:lpstr>
      <vt:lpstr>流程控制:while循环</vt:lpstr>
      <vt:lpstr>while实例</vt:lpstr>
      <vt:lpstr>流程控制:util循环</vt:lpstr>
      <vt:lpstr>util表达式</vt:lpstr>
      <vt:lpstr>Shift命令</vt:lpstr>
      <vt:lpstr>shift实例</vt:lpstr>
      <vt:lpstr>循环跳转机制</vt:lpstr>
      <vt:lpstr>continue和break的应用</vt:lpstr>
      <vt:lpstr>建立交互式脚本(1)</vt:lpstr>
      <vt:lpstr>交互式菜单</vt:lpstr>
      <vt:lpstr>建立交互式脚本(2)</vt:lpstr>
      <vt:lpstr>select实例</vt:lpstr>
      <vt:lpstr>使用函数</vt:lpstr>
      <vt:lpstr>函数实例</vt:lpstr>
      <vt:lpstr>简单脚本调试</vt:lpstr>
      <vt:lpstr>用trap调试脚本</vt:lpstr>
      <vt:lpstr>trap调试脚本</vt:lpstr>
      <vt:lpstr>trap调试脚本</vt:lpstr>
      <vt:lpstr>trap ERR实例</vt:lpstr>
      <vt:lpstr>Trap EXIT</vt:lpstr>
      <vt:lpstr>Trap Debug</vt:lpstr>
      <vt:lpstr>例:Service脚本</vt:lpstr>
      <vt:lpstr>复杂脚本样例</vt:lpstr>
      <vt:lpstr>列出目录树</vt:lpstr>
      <vt:lpstr>init脚本例子 </vt:lpstr>
      <vt:lpstr>awk</vt:lpstr>
      <vt:lpstr>awk</vt:lpstr>
      <vt:lpstr>awk</vt:lpstr>
      <vt:lpstr>awk</vt:lpstr>
      <vt:lpstr>sed</vt:lpstr>
      <vt:lpstr>sed</vt:lpstr>
      <vt:lpstr>cut</vt:lpstr>
      <vt:lpstr>tr</vt:lpstr>
      <vt:lpstr>grep</vt:lpstr>
      <vt:lpstr>grep</vt:lpstr>
      <vt:lpstr>dd</vt:lpstr>
      <vt:lpstr>${}用法</vt:lpstr>
      <vt:lpstr>${}用法</vt:lpstr>
      <vt:lpstr>(())用法</vt:lpstr>
      <vt:lpstr>求交集、并集、差集</vt:lpstr>
      <vt:lpstr>shell与awk间变量传递</vt:lpstr>
      <vt:lpstr>date用法</vt:lpstr>
      <vt:lpstr>date用法</vt:lpstr>
      <vt:lpstr>文件分割</vt:lpstr>
      <vt:lpstr>文件分割</vt:lpstr>
      <vt:lpstr>第三章 Linux下简单的 C程序设计</vt:lpstr>
      <vt:lpstr>基本要求</vt:lpstr>
      <vt:lpstr>C语言</vt:lpstr>
      <vt:lpstr>C语言的特点</vt:lpstr>
      <vt:lpstr>Linux下的编辑器</vt:lpstr>
      <vt:lpstr>vi：命令-输入-底行模式</vt:lpstr>
      <vt:lpstr>vi用法 --- 编辑</vt:lpstr>
      <vt:lpstr>vi用法 --- 修改和删除</vt:lpstr>
      <vt:lpstr>vi用法 --- 退出</vt:lpstr>
      <vt:lpstr>vi用法 --- 光标移动</vt:lpstr>
      <vt:lpstr>vi用法 --- 替换操作</vt:lpstr>
      <vt:lpstr>vi用法 --- 复制与粘贴</vt:lpstr>
      <vt:lpstr>gcc编译器 </vt:lpstr>
      <vt:lpstr>gcc编译过程</vt:lpstr>
      <vt:lpstr>gcc所支持后缀名解释 </vt:lpstr>
      <vt:lpstr>gcc --- 预处理阶段</vt:lpstr>
      <vt:lpstr>gcc ---编译阶段（1）</vt:lpstr>
      <vt:lpstr>gcc ---编译阶段（2）</vt:lpstr>
      <vt:lpstr>gcc --- 常用选项</vt:lpstr>
      <vt:lpstr>gcc ---库选项 </vt:lpstr>
      <vt:lpstr>Linux函数库的创建与使用（1）</vt:lpstr>
      <vt:lpstr>静态库</vt:lpstr>
      <vt:lpstr>动态库</vt:lpstr>
      <vt:lpstr>静态库与动态库的比较</vt:lpstr>
      <vt:lpstr>gcc --- 警告选项（1）</vt:lpstr>
      <vt:lpstr>gcc --- 警告选项（2）</vt:lpstr>
      <vt:lpstr>gcc --- 优化选项</vt:lpstr>
      <vt:lpstr>gcc --- 体系结构相关选项</vt:lpstr>
      <vt:lpstr>gdb使用方法（1）</vt:lpstr>
      <vt:lpstr>gdb使用方法（2）</vt:lpstr>
      <vt:lpstr>gdb使用方法（3）</vt:lpstr>
      <vt:lpstr>gdb工作环境相关命令 </vt:lpstr>
      <vt:lpstr>gdb设置断点与恢复命令 </vt:lpstr>
      <vt:lpstr>gdb中源码查看相关相关命令 </vt:lpstr>
      <vt:lpstr>gdb中查看运行数据的相关命令 </vt:lpstr>
      <vt:lpstr>make 工程管理器</vt:lpstr>
      <vt:lpstr>makefile基本结构（1）</vt:lpstr>
      <vt:lpstr>makefile基本结构（2）</vt:lpstr>
      <vt:lpstr>创建和使用makefile变量</vt:lpstr>
      <vt:lpstr>makefile变量</vt:lpstr>
      <vt:lpstr>makefile中常用的预定义变量</vt:lpstr>
      <vt:lpstr>makefile中常见的自动变量 和环境变量</vt:lpstr>
      <vt:lpstr>makefile规则 </vt:lpstr>
      <vt:lpstr>隐式规则</vt:lpstr>
      <vt:lpstr>模式规则</vt:lpstr>
      <vt:lpstr>make的命令行选项 </vt:lpstr>
      <vt:lpstr>autotools</vt:lpstr>
      <vt:lpstr>autotools流程图</vt:lpstr>
      <vt:lpstr>流程说明</vt:lpstr>
      <vt:lpstr>第四章 文件操作与文件管理</vt:lpstr>
      <vt:lpstr>基本要求</vt:lpstr>
      <vt:lpstr>Linux平台下文件编程</vt:lpstr>
      <vt:lpstr>Linux文件API-创建</vt:lpstr>
      <vt:lpstr>Linux文件API-创建</vt:lpstr>
      <vt:lpstr>Linux文件API-创建</vt:lpstr>
      <vt:lpstr>Linux文件API-创建</vt:lpstr>
      <vt:lpstr>Linux文件API-创建</vt:lpstr>
      <vt:lpstr>Linux文件API-打开</vt:lpstr>
      <vt:lpstr>Linux文件API-打开</vt:lpstr>
      <vt:lpstr>Linux文件API-打开</vt:lpstr>
      <vt:lpstr>Linux文件API-读写</vt:lpstr>
      <vt:lpstr>Linux文件API-读写</vt:lpstr>
      <vt:lpstr>Linux文件API-定位</vt:lpstr>
      <vt:lpstr>Linux文件API-定位</vt:lpstr>
      <vt:lpstr>Linux文件API-关闭</vt:lpstr>
      <vt:lpstr>Linux文件API-编程实例</vt:lpstr>
      <vt:lpstr>Linux文件API-编程实例</vt:lpstr>
      <vt:lpstr>Linux文件API-编程实例</vt:lpstr>
      <vt:lpstr>C语言库函数</vt:lpstr>
      <vt:lpstr>C语言库函数-创建和打开</vt:lpstr>
      <vt:lpstr>C语言库函数-创建和打开</vt:lpstr>
      <vt:lpstr>C语言库函数-读写</vt:lpstr>
      <vt:lpstr>C语言库函数-读写</vt:lpstr>
      <vt:lpstr>C语言库函数-读写</vt:lpstr>
      <vt:lpstr>C语言库函数-定位</vt:lpstr>
      <vt:lpstr>C语言库函数-定位实例</vt:lpstr>
      <vt:lpstr>C语言库函数-定位实例说明</vt:lpstr>
      <vt:lpstr>C语言库函数-定位</vt:lpstr>
      <vt:lpstr>C语言库函数-关闭</vt:lpstr>
      <vt:lpstr>目录操作</vt:lpstr>
      <vt:lpstr>目录操作</vt:lpstr>
      <vt:lpstr>删除目录或文件操作</vt:lpstr>
      <vt:lpstr>第五章 进程控制和进程间通信</vt:lpstr>
      <vt:lpstr>基本要求</vt:lpstr>
      <vt:lpstr>程序和进程</vt:lpstr>
      <vt:lpstr>进程控制块和标识符 </vt:lpstr>
      <vt:lpstr>进程的状态</vt:lpstr>
      <vt:lpstr>Linux下的进程结构</vt:lpstr>
      <vt:lpstr>PowerPoint 演示文稿</vt:lpstr>
      <vt:lpstr>Linux下进程地址空间、用户态和内核态</vt:lpstr>
      <vt:lpstr>Linux下的进程管理</vt:lpstr>
      <vt:lpstr>init进程</vt:lpstr>
      <vt:lpstr>获取进程标识</vt:lpstr>
      <vt:lpstr>fork函数</vt:lpstr>
      <vt:lpstr>进程创建</vt:lpstr>
      <vt:lpstr>进程创建(续)</vt:lpstr>
      <vt:lpstr>父、子进程之间的区别</vt:lpstr>
      <vt:lpstr>拷贝代码段的实例</vt:lpstr>
      <vt:lpstr>拷贝数据段的实例（15.21） </vt:lpstr>
      <vt:lpstr>进程创建（续）</vt:lpstr>
      <vt:lpstr>PowerPoint 演示文稿</vt:lpstr>
      <vt:lpstr>exec函数</vt:lpstr>
      <vt:lpstr>exec函数(续)</vt:lpstr>
      <vt:lpstr>进程创建（续）</vt:lpstr>
      <vt:lpstr>进程创建（续）</vt:lpstr>
      <vt:lpstr>PowerPoint 演示文稿</vt:lpstr>
      <vt:lpstr>进程创建（续）</vt:lpstr>
      <vt:lpstr>进程创建（续）</vt:lpstr>
      <vt:lpstr>PowerPoint 演示文稿</vt:lpstr>
      <vt:lpstr>进程挂起</vt:lpstr>
      <vt:lpstr>进程等待</vt:lpstr>
      <vt:lpstr>wait和waitpid函数</vt:lpstr>
      <vt:lpstr>wait和waitpid函数的区别</vt:lpstr>
      <vt:lpstr>waitpid函数特有功能</vt:lpstr>
      <vt:lpstr>进程等待（续）</vt:lpstr>
      <vt:lpstr>进程终止</vt:lpstr>
      <vt:lpstr>exit()和_exit()</vt:lpstr>
      <vt:lpstr>守护进程</vt:lpstr>
      <vt:lpstr>守护进程特征</vt:lpstr>
      <vt:lpstr>守护进程编程规则(第一步)</vt:lpstr>
      <vt:lpstr>守护进程编程规则(第二步)</vt:lpstr>
      <vt:lpstr>守护进程编程规则(第三步)</vt:lpstr>
      <vt:lpstr>守护进程编程规则(第四步)</vt:lpstr>
      <vt:lpstr>守护进程编程规则(第五步)</vt:lpstr>
      <vt:lpstr>守护进程的编写流程</vt:lpstr>
      <vt:lpstr>守护进程的出错处理</vt:lpstr>
      <vt:lpstr>syslog函数说明</vt:lpstr>
      <vt:lpstr>syslog函数格式</vt:lpstr>
      <vt:lpstr>option参数</vt:lpstr>
      <vt:lpstr>openlog的facility参数</vt:lpstr>
      <vt:lpstr>syslog函数</vt:lpstr>
      <vt:lpstr>closelog函数</vt:lpstr>
      <vt:lpstr>线程的概念</vt:lpstr>
      <vt:lpstr>线程的概念(续)</vt:lpstr>
      <vt:lpstr>线程的概念(续)</vt:lpstr>
      <vt:lpstr>为什么需要线程</vt:lpstr>
      <vt:lpstr>线程标识</vt:lpstr>
      <vt:lpstr>进程原语和线程原语比较</vt:lpstr>
      <vt:lpstr>线程的创建</vt:lpstr>
      <vt:lpstr>线程的终止</vt:lpstr>
      <vt:lpstr>pthread_exit函数</vt:lpstr>
      <vt:lpstr>pthread_join函数</vt:lpstr>
      <vt:lpstr>pthread_cancel函数</vt:lpstr>
      <vt:lpstr>线程清理处理函数</vt:lpstr>
      <vt:lpstr>pthread_cleanup_push函数</vt:lpstr>
      <vt:lpstr>线程清理函数</vt:lpstr>
      <vt:lpstr>pthread_detach函数</vt:lpstr>
      <vt:lpstr>线程同步的概念</vt:lpstr>
      <vt:lpstr>解决上述问题的方法</vt:lpstr>
      <vt:lpstr>线程同步的概念</vt:lpstr>
      <vt:lpstr>互斥量</vt:lpstr>
      <vt:lpstr>互斥量的初始化</vt:lpstr>
      <vt:lpstr>互斥量的销毁</vt:lpstr>
      <vt:lpstr>互斥量的加锁和解锁操作</vt:lpstr>
      <vt:lpstr>尝试锁</vt:lpstr>
      <vt:lpstr>互斥量的操作顺序</vt:lpstr>
      <vt:lpstr>死锁</vt:lpstr>
      <vt:lpstr>读写锁</vt:lpstr>
      <vt:lpstr>读写锁API</vt:lpstr>
      <vt:lpstr>pthread_rwlock_rdlock函数</vt:lpstr>
      <vt:lpstr>pthread_rwlock_wrlock函数</vt:lpstr>
      <vt:lpstr>pthread_rwlock_unlock函数</vt:lpstr>
      <vt:lpstr>尝试读写锁函数</vt:lpstr>
      <vt:lpstr>条件变量</vt:lpstr>
      <vt:lpstr>条件变量的初始化和销毁</vt:lpstr>
      <vt:lpstr>等待条件的发生</vt:lpstr>
      <vt:lpstr>等待条件的发生</vt:lpstr>
      <vt:lpstr>使等待的条件为真</vt:lpstr>
      <vt:lpstr>等待条件为真</vt:lpstr>
      <vt:lpstr>条件变量</vt:lpstr>
      <vt:lpstr>条件变量(续)</vt:lpstr>
      <vt:lpstr>带超时功能的等待函数</vt:lpstr>
      <vt:lpstr>带超时功能的等待函数(续)</vt:lpstr>
      <vt:lpstr>第五章-进程控制和进程间通信(续)</vt:lpstr>
      <vt:lpstr>基本要求</vt:lpstr>
      <vt:lpstr>PowerPoint 演示文稿</vt:lpstr>
      <vt:lpstr>System V IPC 接口</vt:lpstr>
      <vt:lpstr>Linux 的IPC</vt:lpstr>
      <vt:lpstr>PowerPoint 演示文稿</vt:lpstr>
      <vt:lpstr>System V关键字</vt:lpstr>
      <vt:lpstr>ftok函数</vt:lpstr>
      <vt:lpstr>System V IPC的类型</vt:lpstr>
      <vt:lpstr>PowerPoint 演示文稿</vt:lpstr>
      <vt:lpstr>消息队列</vt:lpstr>
      <vt:lpstr>消息队列(2)</vt:lpstr>
      <vt:lpstr>消息队列编程</vt:lpstr>
      <vt:lpstr>消息队列数据结构</vt:lpstr>
      <vt:lpstr>msgget函数 </vt:lpstr>
      <vt:lpstr>msgsnd函数 </vt:lpstr>
      <vt:lpstr>msgrcv函数 </vt:lpstr>
      <vt:lpstr>msgctl函数 </vt:lpstr>
      <vt:lpstr>消息队列打开</vt:lpstr>
      <vt:lpstr>PowerPoint 演示文稿</vt:lpstr>
      <vt:lpstr>信号量</vt:lpstr>
      <vt:lpstr>信号量集的数据结构</vt:lpstr>
      <vt:lpstr>关于P原语</vt:lpstr>
      <vt:lpstr>关于V原语</vt:lpstr>
      <vt:lpstr>信号量的处理流程 </vt:lpstr>
      <vt:lpstr>semget函数 </vt:lpstr>
      <vt:lpstr>信号量创建问题</vt:lpstr>
      <vt:lpstr>semop函数 </vt:lpstr>
      <vt:lpstr>semop的调用问题</vt:lpstr>
      <vt:lpstr>semctl函数 </vt:lpstr>
      <vt:lpstr>semop命令选项</vt:lpstr>
      <vt:lpstr>PowerPoint 演示文稿</vt:lpstr>
      <vt:lpstr>共享内存数据表示</vt:lpstr>
      <vt:lpstr>System V 共享内存使用流程</vt:lpstr>
      <vt:lpstr>shmget函数 </vt:lpstr>
      <vt:lpstr>shmat函数 </vt:lpstr>
      <vt:lpstr>shmdt函数 </vt:lpstr>
      <vt:lpstr>shmctl函数 </vt:lpstr>
      <vt:lpstr>关于System V的维护命令</vt:lpstr>
      <vt:lpstr>PowerPoint 演示文稿</vt:lpstr>
      <vt:lpstr>两大类应用接口区别</vt:lpstr>
      <vt:lpstr>POSIX 消息队列</vt:lpstr>
      <vt:lpstr>POSIX消息队列使用</vt:lpstr>
      <vt:lpstr>POSIX 信号量 </vt:lpstr>
      <vt:lpstr>PowerPoint 演示文稿</vt:lpstr>
      <vt:lpstr>共享内存</vt:lpstr>
      <vt:lpstr>共享内存的实现</vt:lpstr>
      <vt:lpstr>mmap</vt:lpstr>
      <vt:lpstr>mmap-创建一个共享内存区</vt:lpstr>
      <vt:lpstr>mmap参数说明</vt:lpstr>
      <vt:lpstr>unmmap取消一个共享内存</vt:lpstr>
      <vt:lpstr>PowerPoint 演示文稿</vt:lpstr>
      <vt:lpstr>posix共享内存</vt:lpstr>
      <vt:lpstr>shm_open打开共享内存</vt:lpstr>
      <vt:lpstr>删除一个共享内存区</vt:lpstr>
      <vt:lpstr>共享内存的应用</vt:lpstr>
      <vt:lpstr>共享内存实例</vt:lpstr>
      <vt:lpstr>Posix有名信号灯</vt:lpstr>
      <vt:lpstr>Sem_open</vt:lpstr>
      <vt:lpstr>sem_close</vt:lpstr>
      <vt:lpstr>sem_unlink</vt:lpstr>
      <vt:lpstr>Sem_getvalue</vt:lpstr>
      <vt:lpstr>Sem_wait/sem_trywait</vt:lpstr>
      <vt:lpstr>sem_post</vt:lpstr>
      <vt:lpstr>关于posix有名信号灯使用的几点注意 </vt:lpstr>
      <vt:lpstr>基于内存的信号灯 </vt:lpstr>
      <vt:lpstr>两者区别</vt:lpstr>
      <vt:lpstr>第六章-Linux网络程序设计</vt:lpstr>
      <vt:lpstr>基本要求</vt:lpstr>
      <vt:lpstr>TCP/IP协议概述</vt:lpstr>
      <vt:lpstr>OSI参考模型与TCP/IP参考模型对应关系</vt:lpstr>
      <vt:lpstr>TCP/IP协议族</vt:lpstr>
      <vt:lpstr>网络层</vt:lpstr>
      <vt:lpstr>传输层协议</vt:lpstr>
      <vt:lpstr>应用程序部分</vt:lpstr>
      <vt:lpstr>Internet 协议（IP）</vt:lpstr>
      <vt:lpstr>IP功能</vt:lpstr>
      <vt:lpstr>IP 地址</vt:lpstr>
      <vt:lpstr>IP地址的分类</vt:lpstr>
      <vt:lpstr>PowerPoint 演示文稿</vt:lpstr>
      <vt:lpstr>IP地址说明</vt:lpstr>
      <vt:lpstr>传输控制协议（TCP）</vt:lpstr>
      <vt:lpstr>TCP 头信息</vt:lpstr>
      <vt:lpstr>用户数据报文协议</vt:lpstr>
      <vt:lpstr>UDP 头信息</vt:lpstr>
      <vt:lpstr>TCP/IP 协议分组服务</vt:lpstr>
      <vt:lpstr>PowerPoint 演示文稿</vt:lpstr>
      <vt:lpstr>PowerPoint 演示文稿</vt:lpstr>
      <vt:lpstr>PowerPoint 演示文稿</vt:lpstr>
      <vt:lpstr>端口</vt:lpstr>
      <vt:lpstr>主机字节序和网络字节序</vt:lpstr>
      <vt:lpstr>字节序的含义</vt:lpstr>
      <vt:lpstr>网络字节序的转换</vt:lpstr>
      <vt:lpstr>什么是套接字（SOCKET）</vt:lpstr>
      <vt:lpstr>Socket 的功能</vt:lpstr>
      <vt:lpstr>套接字基础</vt:lpstr>
      <vt:lpstr>套接字基础(续)</vt:lpstr>
      <vt:lpstr>常用的socket</vt:lpstr>
      <vt:lpstr>UDP</vt:lpstr>
      <vt:lpstr>TCP</vt:lpstr>
      <vt:lpstr>三种表示套接字地址的结构</vt:lpstr>
      <vt:lpstr>三种表示套接字地址的结构(续)</vt:lpstr>
      <vt:lpstr>三种表示套接字地址的结构(续)</vt:lpstr>
      <vt:lpstr>三种表示套接字地址的结构(续)</vt:lpstr>
      <vt:lpstr>本机字节顺序和网络字节顺序</vt:lpstr>
      <vt:lpstr>点分十进制的IP地址的转换</vt:lpstr>
      <vt:lpstr>域名服务</vt:lpstr>
      <vt:lpstr>套接字的工作过程</vt:lpstr>
      <vt:lpstr>初等网络函数</vt:lpstr>
      <vt:lpstr>初等网络函数(续)</vt:lpstr>
      <vt:lpstr>构造套接字地址举例</vt:lpstr>
      <vt:lpstr>初等网络函数(续)</vt:lpstr>
      <vt:lpstr>初等网络函数(续)</vt:lpstr>
      <vt:lpstr>初等网络函数(续)</vt:lpstr>
      <vt:lpstr>完整的读写函数</vt:lpstr>
      <vt:lpstr>写实例</vt:lpstr>
      <vt:lpstr>完整的读写函数(续)</vt:lpstr>
      <vt:lpstr>读实例</vt:lpstr>
      <vt:lpstr>完整的读写函数(续)</vt:lpstr>
      <vt:lpstr>面向连接的传输层套接字举例</vt:lpstr>
      <vt:lpstr>PowerPoint 演示文稿</vt:lpstr>
      <vt:lpstr>面向连接的传输层套接字举例</vt:lpstr>
      <vt:lpstr>PowerPoint 演示文稿</vt:lpstr>
      <vt:lpstr>无连接的套接字编程</vt:lpstr>
      <vt:lpstr>客户/服务器模式</vt:lpstr>
      <vt:lpstr>UDP通信机制</vt:lpstr>
      <vt:lpstr>UDP与TCP的比较</vt:lpstr>
      <vt:lpstr>UDP的应用场合</vt:lpstr>
      <vt:lpstr>无连接的传输层套接字 </vt:lpstr>
      <vt:lpstr>UDP实例</vt:lpstr>
      <vt:lpstr>PowerPoint 演示文稿</vt:lpstr>
      <vt:lpstr>PowerPoint 演示文稿</vt:lpstr>
      <vt:lpstr>对第一个UDP例程的思考</vt:lpstr>
      <vt:lpstr>对第一个UDP例程的思考</vt:lpstr>
      <vt:lpstr>对第一个UDP例程的思考</vt:lpstr>
      <vt:lpstr>高级套接字函数</vt:lpstr>
      <vt:lpstr>PowerPoint 演示文稿</vt:lpstr>
      <vt:lpstr>高级套接字函数(续)</vt:lpstr>
      <vt:lpstr>PowerPoint 演示文稿</vt:lpstr>
      <vt:lpstr>高级套接字函数(续)</vt:lpstr>
      <vt:lpstr>PowerPoint 演示文稿</vt:lpstr>
      <vt:lpstr>套接字选项</vt:lpstr>
      <vt:lpstr>PowerPoint 演示文稿</vt:lpstr>
      <vt:lpstr>PowerPoint 演示文稿</vt:lpstr>
      <vt:lpstr>套接字选项(续)</vt:lpstr>
      <vt:lpstr>套接字选项(续)</vt:lpstr>
      <vt:lpstr>系统IO与服务器模型 </vt:lpstr>
      <vt:lpstr>阻塞I/O 模式</vt:lpstr>
      <vt:lpstr>读阻塞</vt:lpstr>
      <vt:lpstr>PowerPoint 演示文稿</vt:lpstr>
      <vt:lpstr>阻塞的talk程序</vt:lpstr>
      <vt:lpstr>写阻塞</vt:lpstr>
      <vt:lpstr>阻塞I/O 模式实例</vt:lpstr>
      <vt:lpstr>PowerPoint 演示文稿</vt:lpstr>
      <vt:lpstr>PowerPoint 演示文稿</vt:lpstr>
      <vt:lpstr>PowerPoint 演示文稿</vt:lpstr>
      <vt:lpstr>非阻塞模式I/O</vt:lpstr>
      <vt:lpstr>PowerPoint 演示文稿</vt:lpstr>
      <vt:lpstr>非阻塞模式的实现</vt:lpstr>
      <vt:lpstr>非阻塞式I/O的实例</vt:lpstr>
      <vt:lpstr>PowerPoint 演示文稿</vt:lpstr>
      <vt:lpstr>PowerPoint 演示文稿</vt:lpstr>
      <vt:lpstr>多路复用IO的基本原理</vt:lpstr>
      <vt:lpstr>多路复用I/O</vt:lpstr>
      <vt:lpstr>函数select</vt:lpstr>
      <vt:lpstr>函数select</vt:lpstr>
      <vt:lpstr>多路复用I/O</vt:lpstr>
      <vt:lpstr>使用select的一个例子</vt:lpstr>
      <vt:lpstr>多路复用I/O</vt:lpstr>
      <vt:lpstr>PowerPoint 演示文稿</vt:lpstr>
      <vt:lpstr>多路复用I/O</vt:lpstr>
      <vt:lpstr>poll函数</vt:lpstr>
      <vt:lpstr>多路复用I/O</vt:lpstr>
      <vt:lpstr>多路复用I/O的应用实例</vt:lpstr>
      <vt:lpstr>信号驱动I/O 模式</vt:lpstr>
      <vt:lpstr>信号驱动I/O的实现过程</vt:lpstr>
      <vt:lpstr>信号驱动I/O 模式</vt:lpstr>
      <vt:lpstr>信号驱动I/O 模式</vt:lpstr>
      <vt:lpstr>信号驱动I/O 模式</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Linux程序设计</dc:title>
  <dc:creator>DG Tang</dc:creator>
  <cp:lastModifiedBy>wk</cp:lastModifiedBy>
  <cp:revision>6</cp:revision>
  <dcterms:created xsi:type="dcterms:W3CDTF">2016-02-17T07:15:58Z</dcterms:created>
  <dcterms:modified xsi:type="dcterms:W3CDTF">2017-01-18T06:59:04Z</dcterms:modified>
</cp:coreProperties>
</file>
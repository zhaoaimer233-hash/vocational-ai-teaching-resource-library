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53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EC42F-8503-4291-8E4F-80F85C33A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69CB41-9F19-BA63-B3F0-AF8C57F20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1B027-3E97-FE89-3D1F-8C31D131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8678F-E499-F632-CC60-1256A63E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CB399A-98A8-9922-2488-84E6D5FA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558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97BBA-CC0A-8668-21E9-1F8ED4EB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1FEA5-35AF-2F42-8112-6A906DC83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47F6-F26B-3B32-AA8F-65FCAFFA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5B7EBC-7BEE-77BD-2407-663A6B84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41DB3-AE16-59E3-F4D6-C4F3A4DD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502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88FE9-EC49-3225-F46D-501C113A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BCBA41-A4B3-6C65-9EE2-29A0D0ED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30779-BF42-0FB1-3E93-FBC58CCF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F64C2-8CB5-2F26-381D-D42E93D1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A28DD1-EF84-7665-F028-CD4527E4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69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AE480-48A9-CB4F-FEA4-43A831B8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C0D77-2168-B355-2DC5-99959147A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F7A541-4B16-D5BB-8334-49AD12102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C0AA75-F9AC-5572-73E5-A84448DB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F3671B-37B4-A855-E1DE-F23C1037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128DB6-0B5A-C7A6-BF6D-5115900E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87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F967E-4EF1-279E-BA85-62954820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606CA2-EC68-5DC7-53A7-ABDA596DA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3D43C2-CB43-2766-F857-C7256B8FB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91BA15-8125-0FD9-5890-2B7E16804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125EB0-010B-13FF-B1F2-55B302498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B418EE-24D5-954D-BB39-DFA417F8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7230E2-F33F-9326-23B5-16C1CC1B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222EC8-09A1-7AB6-A8C5-C5AD0FFD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196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2174F-704A-E2C2-F257-C00D252C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DBFD1A-8C09-4346-D955-2FA636C9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5861EE-2276-11CB-A503-33D15946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CB87A5-A22D-9D14-7051-CFE97917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463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0483B9-8204-53CA-B39B-D8D424AB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1E3EDB-7263-8D18-40BC-96A79430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44B9B-3F63-61EC-43AF-8B04C2C2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054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68692-42CB-7263-9826-906249AF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CFCA8-64D1-B9E7-2C1A-F64F2D31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DE9BF8-AE60-C78F-C863-2B14D7218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DDD5DD-EE1F-1A0E-27D0-425D7BDC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ABC68-ADB1-BBCC-F6B8-4B48EA3C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7DE10-9F92-D287-7EDC-8215E8D9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076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E8965-5400-8721-D2B6-71A64227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2E4BF1-9975-E2AB-124E-2E6D6FDFB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238525-F6C4-7BF6-7566-E3F1A0B7B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B62D4F-24C9-02E3-E117-97011961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E2914C-4EEC-3DC0-D4B6-0D94E1F2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159B2E-2EA8-5BBF-8974-92FD26C0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002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D4EE-6520-CC46-7EA1-B6D15749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1FBC7B-F25D-CE25-9254-0AD4129EC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5C791-B5B6-14CE-14EC-DDF37918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E94C1-0605-DE29-DDCF-0756224E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686F1-E5C5-7D5A-38B6-620D3F81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25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A4F241-475C-8B7C-07DF-FF422AE6D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A6BF79-7760-F930-4723-B8ABD3C28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11494-BF75-CE37-EC74-A9296439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F1908-676F-0F0A-4A53-1887DD97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8F098-B0DE-53B9-5DEA-C4C3C78E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925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63BD5-A340-54D4-08B6-8F8547BC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9B4608-C19D-C398-7E52-EEC8D9E3D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B12D85-6579-1947-8D17-699B89C73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E525E-1D12-4986-8F43-C8333465F5A3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F1FF6-30A2-716D-1527-67B7D29F8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D7CCE-7894-9935-B4E5-14D771FB2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76AE2-98BC-4015-9C25-2B6A9B0A0C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492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u.zhaopin.com/?jl=765" TargetMode="External"/><Relationship Id="rId2" Type="http://schemas.openxmlformats.org/officeDocument/2006/relationships/hyperlink" Target="https://www.bazhuayu.com/helpcenter/tutorial8/81zdypz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C4D569-6940-B716-D254-825ABD3D2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8575"/>
            <a:ext cx="12192000" cy="425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0B0E7B6-1B47-BDBB-B301-50330FDBFDCA}"/>
              </a:ext>
            </a:extLst>
          </p:cNvPr>
          <p:cNvSpPr txBox="1"/>
          <p:nvPr/>
        </p:nvSpPr>
        <p:spPr>
          <a:xfrm>
            <a:off x="320843" y="479593"/>
            <a:ext cx="622433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3366FF"/>
                </a:solidFill>
                <a:effectLst/>
                <a:latin typeface="-apple-system"/>
              </a:rPr>
              <a:t>采集字段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职位名称、职位薪资、职位描述、职位链接等。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0550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DAD7-D964-20DA-B3BD-EDE55EA3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87C7019-B82B-07EB-4435-30F8E0FF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1282366"/>
            <a:ext cx="9705975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C6D1AA8-0ADC-489C-2228-9E2432258D9B}"/>
              </a:ext>
            </a:extLst>
          </p:cNvPr>
          <p:cNvSpPr txBox="1"/>
          <p:nvPr/>
        </p:nvSpPr>
        <p:spPr>
          <a:xfrm>
            <a:off x="689810" y="32825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3366FF"/>
                </a:solidFill>
                <a:effectLst/>
                <a:latin typeface="-apple-system"/>
              </a:rPr>
              <a:t>采集结果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采集结果可导出为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Excel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CSV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HTML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、数据库等多种格式。导出为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Excel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示例：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69833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5CAC-4D9F-EE43-3CD1-FE3AEB526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571B791-78A0-2DD1-3B15-03F8824C8695}"/>
              </a:ext>
            </a:extLst>
          </p:cNvPr>
          <p:cNvSpPr txBox="1"/>
          <p:nvPr/>
        </p:nvSpPr>
        <p:spPr>
          <a:xfrm>
            <a:off x="1604211" y="1171074"/>
            <a:ext cx="753978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3366FF"/>
                </a:solidFill>
                <a:effectLst/>
                <a:latin typeface="-apple-system"/>
              </a:rPr>
              <a:t>采集步骤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步骤一：打开网页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步骤二、输入关键词并搜索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步骤三、建立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循环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-apple-system"/>
              </a:rPr>
              <a:t>-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点击元素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，进入每个职位的详情页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步骤四、提取职位详情页中的字段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步骤五、编辑字段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步骤六、创建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循环翻页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，采集多页数据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1" i="0" dirty="0">
                <a:solidFill>
                  <a:srgbClr val="000000"/>
                </a:solidFill>
                <a:effectLst/>
                <a:latin typeface="-apple-system"/>
              </a:rPr>
              <a:t>步骤七、启动采集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9350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EDFE-38AF-8B5D-302D-CF4EA32E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1412D4F-A6A3-2CCB-5480-4EB16317C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01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C2CE-444E-ADD8-ED07-FF3B054A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BCEFE78-FC4E-2D87-033A-0A4392C0DEF7}"/>
              </a:ext>
            </a:extLst>
          </p:cNvPr>
          <p:cNvSpPr txBox="1"/>
          <p:nvPr/>
        </p:nvSpPr>
        <p:spPr>
          <a:xfrm>
            <a:off x="1283368" y="1090863"/>
            <a:ext cx="78606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特别说明：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a. 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打开网页后，如果开始开始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自动识别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，请点击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不再自动识别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或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取消识别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将其关掉。因为本文不适合使用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自动识别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b. 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自动识别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适用于自动识别网页上的列表、滚动和翻页，识别成功后直接启动采集即可获取数据。详情点击查看 </a:t>
            </a:r>
            <a:r>
              <a:rPr lang="en-US" altLang="zh-CN" sz="1800" b="0" i="0" u="sng" dirty="0">
                <a:solidFill>
                  <a:srgbClr val="0000EE"/>
                </a:solidFill>
                <a:effectLst/>
                <a:latin typeface="-apple-system"/>
                <a:hlinkClick r:id="rId2"/>
              </a:rPr>
              <a:t>【</a:t>
            </a:r>
            <a:r>
              <a:rPr lang="zh-CN" altLang="en-US" sz="1800" b="0" i="0" u="sng" dirty="0">
                <a:solidFill>
                  <a:srgbClr val="0000EE"/>
                </a:solidFill>
                <a:effectLst/>
                <a:latin typeface="-apple-system"/>
                <a:hlinkClick r:id="rId2"/>
              </a:rPr>
              <a:t>自动识别</a:t>
            </a:r>
            <a:r>
              <a:rPr lang="en-US" altLang="zh-CN" sz="1800" b="0" i="0" u="sng" dirty="0">
                <a:solidFill>
                  <a:srgbClr val="0000EE"/>
                </a:solidFill>
                <a:effectLst/>
                <a:latin typeface="-apple-system"/>
                <a:hlinkClick r:id="rId2"/>
              </a:rPr>
              <a:t>】</a:t>
            </a:r>
            <a:r>
              <a:rPr lang="zh-CN" altLang="en-US" sz="1800" b="0" i="0" u="sng" dirty="0">
                <a:solidFill>
                  <a:srgbClr val="0000EE"/>
                </a:solidFill>
                <a:effectLst/>
                <a:latin typeface="-apple-system"/>
                <a:hlinkClick r:id="rId2"/>
              </a:rPr>
              <a:t>教程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c.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示例中输入的网址 </a:t>
            </a:r>
            <a:r>
              <a:rPr lang="en-US" altLang="zh-CN" sz="1800" b="0" i="0" u="sng" dirty="0">
                <a:solidFill>
                  <a:srgbClr val="0000EE"/>
                </a:solidFill>
                <a:effectLst/>
                <a:latin typeface="-apple-system"/>
                <a:hlinkClick r:id="rId3"/>
              </a:rPr>
              <a:t>https://sou.zhaopin.com/?jl=765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 ，是深圳智联招聘的网址，可根据需求，更换目标城市，得到相关网址。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D308E61-A983-84F6-0974-DD6268C5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7" y="3429000"/>
            <a:ext cx="9648825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83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8DD5-0289-9EB7-31AA-1CBEBC87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47F4919-B32C-2E3F-69DE-CCADAF79B9C1}"/>
              </a:ext>
            </a:extLst>
          </p:cNvPr>
          <p:cNvSpPr txBox="1"/>
          <p:nvPr/>
        </p:nvSpPr>
        <p:spPr>
          <a:xfrm>
            <a:off x="3048000" y="227884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步骤二、输入关键词并搜索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、输入关键词并搜索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选中搜索框，在操作提示框中点击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输入文本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，输入要搜索的职位或公司，如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爬虫工程师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【python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工程师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等。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选中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搜索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按钮，在操作提示框中点击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点击该元素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，出现搜索结果列表页。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487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23FF-4795-B99F-DE3A-DD02402E0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23D7876-AE78-E697-DFAB-310627A1B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60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5860-7DEA-FFAB-2AB2-B968A485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C3BE62C-5B79-BC29-9FC3-77571C260AF1}"/>
              </a:ext>
            </a:extLst>
          </p:cNvPr>
          <p:cNvSpPr txBox="1"/>
          <p:nvPr/>
        </p:nvSpPr>
        <p:spPr>
          <a:xfrm>
            <a:off x="2727158" y="2374233"/>
            <a:ext cx="67376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2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、设置滚动，以加载更多职位列表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搜索后，向下滚动页面加载出新的职位列表，在八爪鱼中也需设置滚动。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点击元素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下方的设置页面，点击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高级设置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，设置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页面加载后向下滚动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，滚动方式为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直接滚动到底部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滚动次数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次，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每次间隔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秒 ，设置后保存。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2338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F88D-2648-24B9-5D79-4F31ABAB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48FE56D-85FB-12E5-646C-0906BEEA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C855D-4D31-92D4-B9AD-C34FB755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8AE386-B57A-259C-D979-A3ED05B62662}"/>
              </a:ext>
            </a:extLst>
          </p:cNvPr>
          <p:cNvSpPr txBox="1"/>
          <p:nvPr/>
        </p:nvSpPr>
        <p:spPr>
          <a:xfrm>
            <a:off x="3048000" y="227884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步骤三、建立</a:t>
            </a:r>
            <a:r>
              <a:rPr lang="en-US" altLang="zh-CN" sz="1800" b="1" i="0" dirty="0">
                <a:solidFill>
                  <a:srgbClr val="3366FF"/>
                </a:solidFill>
                <a:effectLst/>
                <a:latin typeface="-apple-system"/>
              </a:rPr>
              <a:t>【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循环</a:t>
            </a:r>
            <a:r>
              <a:rPr lang="en-US" altLang="zh-CN" sz="1800" b="1" i="0" dirty="0">
                <a:solidFill>
                  <a:srgbClr val="3366FF"/>
                </a:solidFill>
                <a:effectLst/>
                <a:latin typeface="-apple-system"/>
              </a:rPr>
              <a:t>-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点击元素</a:t>
            </a:r>
            <a:r>
              <a:rPr lang="en-US" altLang="zh-CN" sz="1800" b="1" i="0" dirty="0">
                <a:solidFill>
                  <a:srgbClr val="3366FF"/>
                </a:solidFill>
                <a:effectLst/>
                <a:latin typeface="-apple-system"/>
              </a:rPr>
              <a:t>】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，进入每个职位的详情页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通过以下几步，实现循环点击每个职位链接，进入职位详情页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① 选中页面上第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个职位链接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② 在黄色操作提示框中，点击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选中全部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，以选中全部职位链接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③ 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循环点击每个元素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，进入第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个职位的详情页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2334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8F0E-1FAD-F4E5-7753-033FEBCB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C10C8F7-6B30-AD31-08CF-18E652D16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90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2DE3-8C79-F0F5-5B32-51489686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81FED25-B7C8-CFAC-BCE6-858E330096C5}"/>
              </a:ext>
            </a:extLst>
          </p:cNvPr>
          <p:cNvSpPr txBox="1"/>
          <p:nvPr/>
        </p:nvSpPr>
        <p:spPr>
          <a:xfrm>
            <a:off x="3048000" y="200184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步骤四、提取详情页中的字段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进入详情页后，手动提取我们需要采集的字段。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不同类型的字段有不同的提取方式：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、采集文本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选中页面中的文本，然后在操作提示框中点击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采集该元素文本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职位名称、职位薪资、职位描述等文本类型的字段，均可这样提取。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244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971B-F5C2-0537-0530-B37822AA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A701046-B70F-F19D-E1B4-4A61454AB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400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2CD9-5999-C1BE-58BD-EE63C2D7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E039B5-1479-173C-C8C1-A62677084035}"/>
              </a:ext>
            </a:extLst>
          </p:cNvPr>
          <p:cNvSpPr txBox="1"/>
          <p:nvPr/>
        </p:nvSpPr>
        <p:spPr>
          <a:xfrm>
            <a:off x="129524" y="353448"/>
            <a:ext cx="4426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2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、采集页面网址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进入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提取数据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设置页面，点击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【+】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按钮，选择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添加当前页面信息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】-【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页面网址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，然后保存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0C5E742-2BC0-965D-CE1D-E67FCB215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242" y="1520804"/>
            <a:ext cx="7469605" cy="4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94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8E17-4060-C322-31D5-DA9CD582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1F3A38-AF89-91A2-43DF-DC07CBFA2BA6}"/>
              </a:ext>
            </a:extLst>
          </p:cNvPr>
          <p:cNvSpPr txBox="1"/>
          <p:nvPr/>
        </p:nvSpPr>
        <p:spPr>
          <a:xfrm>
            <a:off x="1299410" y="1803464"/>
            <a:ext cx="10122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步骤五、创建</a:t>
            </a:r>
            <a:r>
              <a:rPr lang="en-US" altLang="zh-CN" sz="1800" b="1" i="0" dirty="0">
                <a:solidFill>
                  <a:srgbClr val="3366FF"/>
                </a:solidFill>
                <a:effectLst/>
                <a:latin typeface="-apple-system"/>
              </a:rPr>
              <a:t>【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循环翻页</a:t>
            </a:r>
            <a:r>
              <a:rPr lang="en-US" altLang="zh-CN" sz="1800" b="1" i="0" dirty="0">
                <a:solidFill>
                  <a:srgbClr val="3366FF"/>
                </a:solidFill>
                <a:effectLst/>
                <a:latin typeface="-apple-system"/>
              </a:rPr>
              <a:t>】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，采集多页数据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、创建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循环翻页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】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如果只是采集一页数据，可跳过此步骤。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如果需要翻页以采集多页数据：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点击规流程图里的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循环列表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，让页面返回到上一级页面。选择页面中的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下一页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按钮，在操作提示上单击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循环点击下一页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，创建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循环翻页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54731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3DD5D-548F-C99A-DD65-C9698AE1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87012D42-5C18-482A-AA7A-B020B9DF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418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0650-9DE1-C51C-C15C-DCB64974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BDF8CF2-7B6C-5A78-4252-892382BA6EE0}"/>
              </a:ext>
            </a:extLst>
          </p:cNvPr>
          <p:cNvSpPr txBox="1"/>
          <p:nvPr/>
        </p:nvSpPr>
        <p:spPr>
          <a:xfrm>
            <a:off x="144378" y="0"/>
            <a:ext cx="9641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 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2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、设置滚动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点击翻页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后，也会向下滚动页面加载出新的职位列表，也需设置滚动。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点击翻页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步骤下方的高级设置页面，设置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页面加载后向下滚动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，滚动方式为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直接滚动到底部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滚动次数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次，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每次间隔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秒 ，设置后保存。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3B028DA-30B9-510E-27E7-882C2D314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48" y="1308613"/>
            <a:ext cx="7790446" cy="519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587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9509-0320-BD18-53F1-F61C9991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BE37040-8F2D-877C-C731-88CD46F20DF4}"/>
              </a:ext>
            </a:extLst>
          </p:cNvPr>
          <p:cNvSpPr txBox="1"/>
          <p:nvPr/>
        </p:nvSpPr>
        <p:spPr>
          <a:xfrm>
            <a:off x="1941094" y="2229853"/>
            <a:ext cx="89835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3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、修改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循环翻页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的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XPath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默认的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循环翻页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】XPath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会在最后一页重复翻页，导致其他关键词无法输入并采集，需修改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循环翻页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】XPath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进入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循环翻页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设置页面，修改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XPath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为：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//button[text()="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下一页</a:t>
            </a:r>
            <a:r>
              <a:rPr lang="en-US" altLang="zh-CN" sz="1800" b="0" i="0" dirty="0">
                <a:solidFill>
                  <a:srgbClr val="3366FF"/>
                </a:solidFill>
                <a:effectLst/>
                <a:latin typeface="-apple-system"/>
              </a:rPr>
              <a:t>" and not(@disabled)]</a:t>
            </a: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 </a:t>
            </a:r>
            <a:r>
              <a:rPr lang="zh-CN" altLang="en-US" sz="1800" b="0" i="0" dirty="0">
                <a:solidFill>
                  <a:srgbClr val="3366FF"/>
                </a:solidFill>
                <a:effectLst/>
                <a:latin typeface="-apple-system"/>
              </a:rPr>
              <a:t> 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7667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F2B9-5501-0ACA-E0AE-D1FE9125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C22627C2-B673-FB05-2273-ADB5E5F04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52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0AF3-E275-1BAB-9BC9-9A3FEA3E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9D4A9D6-6328-65FF-B18A-4B7D2BB96AF1}"/>
              </a:ext>
            </a:extLst>
          </p:cNvPr>
          <p:cNvSpPr txBox="1"/>
          <p:nvPr/>
        </p:nvSpPr>
        <p:spPr>
          <a:xfrm>
            <a:off x="2454442" y="2133600"/>
            <a:ext cx="81493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步骤六、编辑字段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点击规流程图里的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提取数据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，让页面返回到职位详情页页面。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当前数据预览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页面，删除多余字段，修改字段名，移动字段顺序等。 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227348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F1A2-7EF7-1F8F-7828-66CFD3CA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64D1D0C5-1A20-22C7-5FEE-2F5B39E18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487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1239-D3E8-620E-A73E-A997E6F7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C2D20B-4CA5-F1A2-76C6-2199E6865729}"/>
              </a:ext>
            </a:extLst>
          </p:cNvPr>
          <p:cNvSpPr txBox="1"/>
          <p:nvPr/>
        </p:nvSpPr>
        <p:spPr>
          <a:xfrm>
            <a:off x="3048000" y="28328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i="0" dirty="0">
                <a:solidFill>
                  <a:srgbClr val="3366FF"/>
                </a:solidFill>
                <a:effectLst/>
                <a:latin typeface="-apple-system"/>
              </a:rPr>
              <a:t>步骤七、启动采集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、点击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采集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并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启动本地采集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-apple-system"/>
              </a:rPr>
              <a:t>。启动后八爪鱼开始自动采集数据。</a:t>
            </a:r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77914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320D-3D36-244F-91A4-548C614A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D5DFB566-042D-BA28-4E0D-615124234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81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892</Words>
  <Application>Microsoft Office PowerPoint</Application>
  <PresentationFormat>宽屏</PresentationFormat>
  <Paragraphs>60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国栋 李</dc:creator>
  <cp:lastModifiedBy>国栋 李</cp:lastModifiedBy>
  <cp:revision>2</cp:revision>
  <dcterms:created xsi:type="dcterms:W3CDTF">2025-04-27T02:17:40Z</dcterms:created>
  <dcterms:modified xsi:type="dcterms:W3CDTF">2025-04-27T02:32:36Z</dcterms:modified>
</cp:coreProperties>
</file>
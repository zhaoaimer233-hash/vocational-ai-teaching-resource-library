
<file path=[Content_Types].xml><?xml version="1.0" encoding="utf-8"?>
<Types xmlns="http://schemas.openxmlformats.org/package/2006/content-types">
  <Default Extension="png" ContentType="image/png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Source Han Sans"/>
      <p:regular r:id="rId15"/>
    </p:embeddedFont>
    <p:embeddedFont>
      <p:font typeface="Source Han Sans CN Bold"/>
      <p:regular r:id="rId16"/>
    </p:embeddedFont>
    <p:embeddedFont>
      <p:font typeface="OPPOSans H"/>
      <p:regular r:id="rId17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font" Target="fonts/font1.fntdata"/>
<Relationship Id="rId16" Type="http://schemas.openxmlformats.org/officeDocument/2006/relationships/font" Target="fonts/font3.fntdata"/>
<Relationship Id="rId17" Type="http://schemas.openxmlformats.org/officeDocument/2006/relationships/font" Target="fonts/font2.fntdata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image" Target="../media/image2.png"/>
<Relationship Id="rId4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image" Target="../media/image6.png"/>
<Relationship Id="rId4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image" Target="../media/image6.png"/>
<Relationship Id="rId4" Type="http://schemas.openxmlformats.org/officeDocument/2006/relationships/image" Target="../media/image3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image" Target="../media/image6.png"/>
<Relationship Id="rId4" Type="http://schemas.openxmlformats.org/officeDocument/2006/relationships/image" Target="../media/image3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image" Target="../media/image2.png"/>
<Relationship Id="rId4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164" t="0" r="10580" b="2262"/>
          <a:stretch>
            <a:fillRect/>
          </a:stretch>
        </p:blipFill>
        <p:spPr>
          <a:xfrm rot="0" flipH="0" flipV="0">
            <a:off x="1388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0261" y="4490953"/>
            <a:ext cx="1660313" cy="407848"/>
          </a:xfrm>
          <a:prstGeom prst="snip2DiagRect">
            <a:avLst>
              <a:gd name="adj1" fmla="val 0"/>
              <a:gd name="adj2" fmla="val 2664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57000">
                <a:schemeClr val="accent2">
                  <a:alpha val="19000"/>
                </a:schemeClr>
              </a:gs>
              <a:gs pos="95000">
                <a:schemeClr val="accent2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580261" y="5057616"/>
            <a:ext cx="1660313" cy="407848"/>
          </a:xfrm>
          <a:prstGeom prst="snip2DiagRect">
            <a:avLst>
              <a:gd name="adj1" fmla="val 0"/>
              <a:gd name="adj2" fmla="val 23532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57000">
                <a:schemeClr val="accent2">
                  <a:alpha val="19000"/>
                </a:schemeClr>
              </a:gs>
              <a:gs pos="95000">
                <a:schemeClr val="accent2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02362" y="4507391"/>
            <a:ext cx="957210" cy="374972"/>
          </a:xfrm>
          <a:prstGeom prst="snip2DiagRect">
            <a:avLst>
              <a:gd name="adj1" fmla="val 0"/>
              <a:gd name="adj2" fmla="val 26646"/>
            </a:avLst>
          </a:prstGeom>
          <a:noFill/>
          <a:ln w="6350" cap="sq">
            <a:gradFill>
              <a:gsLst>
                <a:gs pos="25000">
                  <a:schemeClr val="bg1">
                    <a:alpha val="0"/>
                  </a:schemeClr>
                </a:gs>
                <a:gs pos="49000">
                  <a:schemeClr val="accent1"/>
                </a:gs>
                <a:gs pos="82000">
                  <a:schemeClr val="bg1">
                    <a:alpha val="0"/>
                  </a:schemeClr>
                </a:gs>
              </a:gsLst>
              <a:lin ang="27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702362" y="5074054"/>
            <a:ext cx="957210" cy="374972"/>
          </a:xfrm>
          <a:prstGeom prst="snip2DiagRect">
            <a:avLst>
              <a:gd name="adj1" fmla="val 0"/>
              <a:gd name="adj2" fmla="val 23532"/>
            </a:avLst>
          </a:prstGeom>
          <a:noFill/>
          <a:ln w="6350" cap="sq">
            <a:gradFill>
              <a:gsLst>
                <a:gs pos="25000">
                  <a:schemeClr val="bg1">
                    <a:alpha val="0"/>
                  </a:schemeClr>
                </a:gs>
                <a:gs pos="49000">
                  <a:schemeClr val="accent1"/>
                </a:gs>
                <a:gs pos="82000">
                  <a:schemeClr val="bg1">
                    <a:alpha val="0"/>
                  </a:schemeClr>
                </a:gs>
              </a:gsLst>
              <a:lin ang="27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60401" y="3640729"/>
            <a:ext cx="3421632" cy="553998"/>
          </a:xfrm>
          <a:prstGeom prst="snip2DiagRect">
            <a:avLst>
              <a:gd name="adj1" fmla="val 0"/>
              <a:gd name="adj2" fmla="val 30582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12053" y="3702285"/>
            <a:ext cx="2118329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08210" y="1649013"/>
            <a:ext cx="5743178" cy="17665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3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解析日志文件，提取关键信息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0400" y="3629974"/>
            <a:ext cx="3239846" cy="19050"/>
          </a:xfrm>
          <a:custGeom>
            <a:avLst/>
            <a:gdLst>
              <a:gd name="connsiteX0" fmla="*/ 0 w 3239846"/>
              <a:gd name="connsiteY0" fmla="*/ 0 h 19050"/>
              <a:gd name="connsiteX1" fmla="*/ 3239846 w 3239846"/>
              <a:gd name="connsiteY1" fmla="*/ 0 h 19050"/>
              <a:gd name="connsiteX2" fmla="*/ 3239846 w 3239846"/>
              <a:gd name="connsiteY2" fmla="*/ 19050 h 19050"/>
              <a:gd name="connsiteX3" fmla="*/ 0 w 3239846"/>
              <a:gd name="connsiteY3" fmla="*/ 19050 h 19050"/>
              <a:gd name="connsiteX4" fmla="*/ 0 w 3239846"/>
              <a:gd name="connsiteY4" fmla="*/ 0 h 19050"/>
            </a:gdLst>
            <a:rect l="l" t="t" r="r" b="b"/>
            <a:pathLst>
              <a:path w="3239846" h="19050">
                <a:moveTo>
                  <a:pt x="0" y="0"/>
                </a:moveTo>
                <a:lnTo>
                  <a:pt x="3239846" y="0"/>
                </a:lnTo>
                <a:lnTo>
                  <a:pt x="3239846" y="19050"/>
                </a:lnTo>
                <a:lnTo>
                  <a:pt x="0" y="190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60400" y="4490953"/>
            <a:ext cx="1041133" cy="407848"/>
          </a:xfrm>
          <a:prstGeom prst="snip2DiagRect">
            <a:avLst>
              <a:gd name="adj1" fmla="val 0"/>
              <a:gd name="adj2" fmla="val 26646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60400" y="5057616"/>
            <a:ext cx="1041133" cy="407848"/>
          </a:xfrm>
          <a:prstGeom prst="snip2DiagRect">
            <a:avLst>
              <a:gd name="adj1" fmla="val 0"/>
              <a:gd name="adj2" fmla="val 23532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32404" y="4556378"/>
            <a:ext cx="704029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</a:t>
            </a: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人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2019854" y="4556378"/>
            <a:ext cx="704029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AiPPT 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32405" y="5123041"/>
            <a:ext cx="704028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   间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2019854" y="5123041"/>
            <a:ext cx="875234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60400" y="752912"/>
            <a:ext cx="1905510" cy="23662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542443" y="5701863"/>
            <a:ext cx="2119766" cy="512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3665059" y="4842246"/>
            <a:ext cx="4477833" cy="1765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209000" y="3926549"/>
            <a:ext cx="2119766" cy="512623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0" y="25400"/>
            <a:ext cx="12204700" cy="6870700"/>
          </a:xfrm>
          <a:prstGeom prst="rect"/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937282" y="1473956"/>
            <a:ext cx="12573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6000">
                <a:ln w="12700">
                  <a:solidFill>
                    <a:srgbClr val="066DCA">
                      <a:alpha val="100000"/>
                    </a:srgbClr>
                  </a:solidFill>
                </a:ln>
                <a:noFill/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5937282" y="3009504"/>
            <a:ext cx="12573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6000">
                <a:ln w="12700">
                  <a:solidFill>
                    <a:srgbClr val="066DCA">
                      <a:alpha val="100000"/>
                    </a:srgbClr>
                  </a:solidFill>
                </a:ln>
                <a:noFill/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937282" y="4572416"/>
            <a:ext cx="12573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6000">
                <a:ln w="12700">
                  <a:solidFill>
                    <a:srgbClr val="066DCA">
                      <a:alpha val="100000"/>
                    </a:srgbClr>
                  </a:solidFill>
                </a:ln>
                <a:noFill/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 flipH="1" flipV="0">
            <a:off x="0" y="5916548"/>
            <a:ext cx="4114979" cy="513572"/>
          </a:xfrm>
          <a:custGeom>
            <a:avLst/>
            <a:gdLst>
              <a:gd name="connsiteX0" fmla="*/ 4114979 w 4114979"/>
              <a:gd name="connsiteY0" fmla="*/ 513572 h 513572"/>
              <a:gd name="connsiteX1" fmla="*/ 0 w 4114979"/>
              <a:gd name="connsiteY1" fmla="*/ 513572 h 513572"/>
              <a:gd name="connsiteX2" fmla="*/ 0 w 4114979"/>
              <a:gd name="connsiteY2" fmla="*/ 0 h 513572"/>
              <a:gd name="connsiteX3" fmla="*/ 3854911 w 4114979"/>
              <a:gd name="connsiteY3" fmla="*/ 0 h 513572"/>
            </a:gdLst>
            <a:rect l="l" t="t" r="r" b="b"/>
            <a:pathLst>
              <a:path w="4114979" h="513572">
                <a:moveTo>
                  <a:pt x="4114979" y="513572"/>
                </a:moveTo>
                <a:lnTo>
                  <a:pt x="0" y="513572"/>
                </a:lnTo>
                <a:lnTo>
                  <a:pt x="0" y="0"/>
                </a:lnTo>
                <a:lnTo>
                  <a:pt x="385491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 flipH="1" flipV="1">
            <a:off x="3134031" y="444020"/>
            <a:ext cx="912181" cy="786363"/>
          </a:xfrm>
          <a:prstGeom prst="triangle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3527421" flipH="1" flipV="0">
            <a:off x="2862031" y="947247"/>
            <a:ext cx="3126688" cy="513572"/>
          </a:xfrm>
          <a:custGeom>
            <a:avLst/>
            <a:gdLst>
              <a:gd name="connsiteX0" fmla="*/ 3126688 w 3126688"/>
              <a:gd name="connsiteY0" fmla="*/ 513572 h 513572"/>
              <a:gd name="connsiteX1" fmla="*/ 2815539 w 3126688"/>
              <a:gd name="connsiteY1" fmla="*/ 0 h 513572"/>
              <a:gd name="connsiteX2" fmla="*/ 260068 w 3126688"/>
              <a:gd name="connsiteY2" fmla="*/ 0 h 513572"/>
              <a:gd name="connsiteX3" fmla="*/ 0 w 3126688"/>
              <a:gd name="connsiteY3" fmla="*/ 513572 h 513572"/>
            </a:gdLst>
            <a:rect l="l" t="t" r="r" b="b"/>
            <a:pathLst>
              <a:path w="3126688" h="513572">
                <a:moveTo>
                  <a:pt x="3126688" y="513572"/>
                </a:moveTo>
                <a:lnTo>
                  <a:pt x="2815539" y="0"/>
                </a:lnTo>
                <a:lnTo>
                  <a:pt x="260068" y="0"/>
                </a:lnTo>
                <a:lnTo>
                  <a:pt x="0" y="51357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0800000" flipH="1" flipV="0">
            <a:off x="-142875" y="6173334"/>
            <a:ext cx="3386112" cy="513572"/>
          </a:xfrm>
          <a:custGeom>
            <a:avLst/>
            <a:gdLst>
              <a:gd name="connsiteX0" fmla="*/ 3243236 w 3243236"/>
              <a:gd name="connsiteY0" fmla="*/ 513572 h 513572"/>
              <a:gd name="connsiteX1" fmla="*/ 0 w 3243236"/>
              <a:gd name="connsiteY1" fmla="*/ 513572 h 513572"/>
              <a:gd name="connsiteX2" fmla="*/ 0 w 3243236"/>
              <a:gd name="connsiteY2" fmla="*/ 0 h 513572"/>
              <a:gd name="connsiteX3" fmla="*/ 2983168 w 3243236"/>
              <a:gd name="connsiteY3" fmla="*/ 0 h 513572"/>
            </a:gdLst>
            <a:rect l="l" t="t" r="r" b="b"/>
            <a:pathLst>
              <a:path w="3243236" h="513572">
                <a:moveTo>
                  <a:pt x="3243236" y="513572"/>
                </a:moveTo>
                <a:lnTo>
                  <a:pt x="0" y="513572"/>
                </a:lnTo>
                <a:lnTo>
                  <a:pt x="0" y="0"/>
                </a:lnTo>
                <a:lnTo>
                  <a:pt x="298316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8100" cap="flat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0" y="1297869"/>
            <a:ext cx="5443574" cy="4551194"/>
          </a:xfrm>
          <a:prstGeom prst="homePlate">
            <a:avLst>
              <a:gd name="adj" fmla="val 29071"/>
            </a:avLst>
          </a:prstGeom>
          <a:solidFill>
            <a:schemeClr val="accent1">
              <a:alpha val="10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69869" y="2355588"/>
            <a:ext cx="3327400" cy="1460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目录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1255537" y="4036099"/>
            <a:ext cx="25654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CONTENT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7325402" y="1645529"/>
            <a:ext cx="4152986" cy="1254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日志文件解析概述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7325402" y="3181078"/>
            <a:ext cx="4152986" cy="1254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使用命令行工具解析日志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325402" y="4716627"/>
            <a:ext cx="4152986" cy="1254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使用ELK Stack解析日志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18900" t="6270" r="46291" b="59181"/>
          <a:stretch>
            <a:fillRect/>
          </a:stretch>
        </p:blipFill>
        <p:spPr>
          <a:xfrm rot="0" flipH="0" flipV="0"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0" flipV="0">
            <a:off x="-1" y="4376248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0" flipH="0" flipV="0">
            <a:off x="4096187" y="910403"/>
            <a:ext cx="3999626" cy="30623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9900">
                <a:ln w="12700">
                  <a:solidFill>
                    <a:srgbClr val="000000">
                      <a:alpha val="100000"/>
                    </a:srgbClr>
                  </a:solidFill>
                </a:ln>
                <a:gradFill>
                  <a:gsLst>
                    <a:gs pos="47000">
                      <a:srgbClr val="18BF18">
                        <a:alpha val="0"/>
                      </a:srgbClr>
                    </a:gs>
                    <a:gs pos="100000">
                      <a:srgbClr val="18BF18">
                        <a:alpha val="55000"/>
                      </a:srgbClr>
                    </a:gs>
                  </a:gsLst>
                  <a:lin ang="16200000" scaled="0"/>
                </a:gradFill>
                <a:latin typeface="Source Han Sans CN Bold"/>
                <a:ea typeface="Source Han Sans CN Bold"/>
                <a:cs typeface="Source Han Sans CN Bold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012855" y="2909009"/>
            <a:ext cx="6291189" cy="17280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日志文件解析概述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143245" y="752912"/>
            <a:ext cx="1905510" cy="23662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1" flipV="1">
            <a:off x="-1718" y="0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26665" y="4627148"/>
            <a:ext cx="11338670" cy="1748461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6749" y="2051051"/>
            <a:ext cx="10858499" cy="3829050"/>
          </a:xfrm>
          <a:prstGeom prst="roundRect">
            <a:avLst>
              <a:gd name="adj" fmla="val 3845"/>
            </a:avLst>
          </a:prstGeom>
          <a:gradFill>
            <a:gsLst>
              <a:gs pos="29000">
                <a:schemeClr val="bg1"/>
              </a:gs>
              <a:gs pos="100000">
                <a:schemeClr val="accent1">
                  <a:lumMod val="40000"/>
                  <a:lumOff val="60000"/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>
            <a:outerShdw dist="0" blurRad="190500" dir="0" sx="100000" sy="100000" kx="0" ky="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657351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日志文件记录系统运行过程中的各种事件，如用户登录、服务启动等，帮助运维人员了解系统运行状态。
通过分析日志，可以及时发现系统故障、安全威胁等问题，为系统稳定运行提供保障。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57351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日志记录系统运行状态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43195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43195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62242" y="2833639"/>
            <a:ext cx="299863" cy="277395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175238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系统日志（如Linux的/var/log/syslog）记录系统级别事件，应用日志（如Apache的访问日志）记录应用相关操作。
不同类型的日志文件格式和内容有所不同，需要根据具体需求选择合适的解析方法。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175238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日志文件的类型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564158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64158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685809" y="2833477"/>
            <a:ext cx="294655" cy="277719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696201" y="2985025"/>
            <a:ext cx="2525832" cy="2261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提取关键信息，如IP地址、访问时间、请求路径、响应状态码等，便于后续分析和处理。
通过解析日志，可以实现性能监控、安全审计、故障排查等功能，提升系统运维效率。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696201" y="2722938"/>
            <a:ext cx="252583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解析日志文件的目标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082045" y="5318386"/>
            <a:ext cx="3132000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082045" y="2703358"/>
            <a:ext cx="537956" cy="537956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34925" cap="sq">
            <a:solidFill>
              <a:schemeClr val="bg1"/>
            </a:solidFill>
            <a:miter/>
          </a:ln>
          <a:effectLst>
            <a:outerShdw dist="0" blurRad="63500" dir="0" sx="102000" sy="102000" kx="0" ky="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201092" y="2833639"/>
            <a:ext cx="299863" cy="277395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日志文件的重要性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18900" t="6270" r="46291" b="59181"/>
          <a:stretch>
            <a:fillRect/>
          </a:stretch>
        </p:blipFill>
        <p:spPr>
          <a:xfrm rot="0" flipH="0" flipV="0"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0" flipV="0">
            <a:off x="-1" y="4376248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0" flipH="0" flipV="0">
            <a:off x="4096187" y="910403"/>
            <a:ext cx="3999626" cy="30623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9900">
                <a:ln w="12700">
                  <a:solidFill>
                    <a:srgbClr val="000000">
                      <a:alpha val="100000"/>
                    </a:srgbClr>
                  </a:solidFill>
                </a:ln>
                <a:gradFill>
                  <a:gsLst>
                    <a:gs pos="47000">
                      <a:srgbClr val="18BF18">
                        <a:alpha val="0"/>
                      </a:srgbClr>
                    </a:gs>
                    <a:gs pos="100000">
                      <a:srgbClr val="18BF18">
                        <a:alpha val="55000"/>
                      </a:srgbClr>
                    </a:gs>
                  </a:gsLst>
                  <a:lin ang="16200000" scaled="0"/>
                </a:gradFill>
                <a:latin typeface="Source Han Sans CN Bold"/>
                <a:ea typeface="Source Han Sans CN Bold"/>
                <a:cs typeface="Source Han Sans CN Bold"/>
              </a:rPr>
              <a:t>02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012855" y="2909009"/>
            <a:ext cx="6291189" cy="17280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24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使用命令行工具解析日志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143245" y="752912"/>
            <a:ext cx="1905510" cy="23662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1" flipV="1">
            <a:off x="-1718" y="0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26665" y="4627148"/>
            <a:ext cx="11338670" cy="1748461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 flipH="0" flipV="0">
            <a:off x="661117" y="4509895"/>
            <a:ext cx="774393" cy="667423"/>
          </a:xfrm>
          <a:prstGeom prst="hexagon">
            <a:avLst>
              <a:gd name="adj" fmla="val 29289"/>
              <a:gd name="vf" fmla="val 115470"/>
            </a:avLst>
          </a:prstGeom>
          <a:gradFill>
            <a:gsLst>
              <a:gs pos="6000">
                <a:schemeClr val="bg1">
                  <a:alpha val="0"/>
                </a:schemeClr>
              </a:gs>
              <a:gs pos="100000">
                <a:schemeClr val="bg1">
                  <a:alpha val="37000"/>
                </a:schemeClr>
              </a:gs>
            </a:gsLst>
            <a:lin ang="10800000" scaled="0"/>
          </a:gra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372232" y="4789068"/>
            <a:ext cx="4198036" cy="254823"/>
          </a:xfrm>
          <a:custGeom>
            <a:avLst/>
            <a:gdLst>
              <a:gd name="connsiteX0" fmla="*/ 0 w 5473700"/>
              <a:gd name="connsiteY0" fmla="*/ 558800 h 558800"/>
              <a:gd name="connsiteX1" fmla="*/ 698500 w 5473700"/>
              <a:gd name="connsiteY1" fmla="*/ 0 h 558800"/>
              <a:gd name="connsiteX2" fmla="*/ 5473700 w 5473700"/>
              <a:gd name="connsiteY2" fmla="*/ 0 h 558800"/>
              <a:gd name="connsiteX0-1" fmla="*/ 0 w 5473700"/>
              <a:gd name="connsiteY0-2" fmla="*/ 558800 h 558800"/>
              <a:gd name="connsiteX1-3" fmla="*/ 291212 w 5473700"/>
              <a:gd name="connsiteY1-4" fmla="*/ 30665 h 558800"/>
              <a:gd name="connsiteX2-5" fmla="*/ 5473700 w 5473700"/>
              <a:gd name="connsiteY2-6" fmla="*/ 0 h 558800"/>
              <a:gd name="connsiteX0-7" fmla="*/ 0 w 5485611"/>
              <a:gd name="connsiteY0-8" fmla="*/ 444889 h 444889"/>
              <a:gd name="connsiteX1-9" fmla="*/ 303123 w 5485611"/>
              <a:gd name="connsiteY1-10" fmla="*/ 30665 h 444889"/>
              <a:gd name="connsiteX2-11" fmla="*/ 5485611 w 5485611"/>
              <a:gd name="connsiteY2-12" fmla="*/ 0 h 444889"/>
              <a:gd name="connsiteX0-13" fmla="*/ 0 w 5479655"/>
              <a:gd name="connsiteY0-14" fmla="*/ 452007 h 452007"/>
              <a:gd name="connsiteX1-15" fmla="*/ 297167 w 5479655"/>
              <a:gd name="connsiteY1-16" fmla="*/ 30665 h 452007"/>
              <a:gd name="connsiteX2-17" fmla="*/ 5479655 w 5479655"/>
              <a:gd name="connsiteY2-18" fmla="*/ 0 h 452007"/>
              <a:gd name="connsiteX0-19" fmla="*/ 0 w 5485798"/>
              <a:gd name="connsiteY0-20" fmla="*/ 458977 h 458977"/>
              <a:gd name="connsiteX1-21" fmla="*/ 303310 w 5485798"/>
              <a:gd name="connsiteY1-22" fmla="*/ 30665 h 458977"/>
              <a:gd name="connsiteX2-23" fmla="*/ 5485798 w 5485798"/>
              <a:gd name="connsiteY2-24" fmla="*/ 0 h 458977"/>
              <a:gd name="connsiteX0-25" fmla="*/ 0 w 5485798"/>
              <a:gd name="connsiteY0-26" fmla="*/ 458977 h 458977"/>
              <a:gd name="connsiteX1-27" fmla="*/ 309453 w 5485798"/>
              <a:gd name="connsiteY1-28" fmla="*/ 34152 h 458977"/>
              <a:gd name="connsiteX2-29" fmla="*/ 5485798 w 5485798"/>
              <a:gd name="connsiteY2-30" fmla="*/ 0 h 458977"/>
              <a:gd name="connsiteX0-31" fmla="*/ 0 w 5639375"/>
              <a:gd name="connsiteY0-32" fmla="*/ 661139 h 661139"/>
              <a:gd name="connsiteX1-33" fmla="*/ 463030 w 5639375"/>
              <a:gd name="connsiteY1-34" fmla="*/ 34152 h 661139"/>
              <a:gd name="connsiteX2-35" fmla="*/ 5639375 w 5639375"/>
              <a:gd name="connsiteY2-36" fmla="*/ 0 h 661139"/>
              <a:gd name="connsiteX0-37" fmla="*/ 0 w 5448940"/>
              <a:gd name="connsiteY0-38" fmla="*/ 399722 h 399722"/>
              <a:gd name="connsiteX1-39" fmla="*/ 272595 w 5448940"/>
              <a:gd name="connsiteY1-40" fmla="*/ 34152 h 399722"/>
              <a:gd name="connsiteX2-41" fmla="*/ 5448940 w 5448940"/>
              <a:gd name="connsiteY2-42" fmla="*/ 0 h 399722"/>
              <a:gd name="connsiteX0-43" fmla="*/ 0 w 5432046"/>
              <a:gd name="connsiteY0-44" fmla="*/ 382293 h 382293"/>
              <a:gd name="connsiteX1-45" fmla="*/ 255701 w 5432046"/>
              <a:gd name="connsiteY1-46" fmla="*/ 34152 h 382293"/>
              <a:gd name="connsiteX2-47" fmla="*/ 5432046 w 5432046"/>
              <a:gd name="connsiteY2-48" fmla="*/ 0 h 382293"/>
              <a:gd name="connsiteX0-49" fmla="*/ 0 w 3122250"/>
              <a:gd name="connsiteY0-50" fmla="*/ 354408 h 354408"/>
              <a:gd name="connsiteX1-51" fmla="*/ 255701 w 3122250"/>
              <a:gd name="connsiteY1-52" fmla="*/ 6267 h 354408"/>
              <a:gd name="connsiteX2-53" fmla="*/ 3122250 w 3122250"/>
              <a:gd name="connsiteY2-54" fmla="*/ 0 h 354408"/>
              <a:gd name="connsiteX0-55" fmla="*/ 0 w 2707491"/>
              <a:gd name="connsiteY0-56" fmla="*/ 354408 h 354408"/>
              <a:gd name="connsiteX1-57" fmla="*/ 255701 w 2707491"/>
              <a:gd name="connsiteY1-58" fmla="*/ 6267 h 354408"/>
              <a:gd name="connsiteX2-59" fmla="*/ 2707491 w 2707491"/>
              <a:gd name="connsiteY2-60" fmla="*/ 0 h 354408"/>
              <a:gd name="connsiteX0-61" fmla="*/ 0 w 2707491"/>
              <a:gd name="connsiteY0-62" fmla="*/ 382292 h 382292"/>
              <a:gd name="connsiteX1-63" fmla="*/ 255701 w 2707491"/>
              <a:gd name="connsiteY1-64" fmla="*/ 34151 h 382292"/>
              <a:gd name="connsiteX2-65" fmla="*/ 2707491 w 2707491"/>
              <a:gd name="connsiteY2-66" fmla="*/ 0 h 382292"/>
              <a:gd name="connsiteX0-67" fmla="*/ 0 w 2707491"/>
              <a:gd name="connsiteY0-68" fmla="*/ 372997 h 372997"/>
              <a:gd name="connsiteX1-69" fmla="*/ 255701 w 2707491"/>
              <a:gd name="connsiteY1-70" fmla="*/ 24856 h 372997"/>
              <a:gd name="connsiteX2-71" fmla="*/ 2707491 w 2707491"/>
              <a:gd name="connsiteY2-72" fmla="*/ 0 h 372997"/>
            </a:gdLst>
            <a:rect l="l" t="t" r="r" b="b"/>
            <a:pathLst>
              <a:path w="2707491" h="372997">
                <a:moveTo>
                  <a:pt x="0" y="372997"/>
                </a:moveTo>
                <a:lnTo>
                  <a:pt x="255701" y="24856"/>
                </a:lnTo>
                <a:lnTo>
                  <a:pt x="2707491" y="0"/>
                </a:lnTo>
              </a:path>
            </a:pathLst>
          </a:custGeom>
          <a:noFill/>
          <a:ln w="9525" cap="sq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miter/>
            <a:headEnd type="none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730472" y="4093841"/>
            <a:ext cx="3893173" cy="64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常见应用场景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755778" y="4851458"/>
            <a:ext cx="3869642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快速定位错误日志，如grep "ERROR" error.log，提取包含“ERROR”的日志行。
统计特定事件的发生次数，如grep "login" access.log | wc - l统计登录事件的次数。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 flipH="0" flipV="0">
            <a:off x="777429" y="4610140"/>
            <a:ext cx="541769" cy="466932"/>
          </a:xfrm>
          <a:prstGeom prst="hexagon">
            <a:avLst>
              <a:gd name="adj" fmla="val 29289"/>
              <a:gd name="vf" fmla="val 11547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717946" y="4683587"/>
            <a:ext cx="660400" cy="320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 flipH="0" flipV="0">
            <a:off x="6467882" y="1985995"/>
            <a:ext cx="774393" cy="667423"/>
          </a:xfrm>
          <a:prstGeom prst="hexagon">
            <a:avLst>
              <a:gd name="adj" fmla="val 29289"/>
              <a:gd name="vf" fmla="val 115470"/>
            </a:avLst>
          </a:prstGeom>
          <a:gradFill>
            <a:gsLst>
              <a:gs pos="6000">
                <a:schemeClr val="bg1">
                  <a:alpha val="0"/>
                </a:schemeClr>
              </a:gs>
              <a:gs pos="100000">
                <a:schemeClr val="bg1">
                  <a:alpha val="37000"/>
                </a:schemeClr>
              </a:gs>
            </a:gsLst>
            <a:lin ang="10800000" scaled="0"/>
          </a:gra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178997" y="2265168"/>
            <a:ext cx="4198036" cy="254823"/>
          </a:xfrm>
          <a:custGeom>
            <a:avLst/>
            <a:gdLst>
              <a:gd name="connsiteX0" fmla="*/ 0 w 5473700"/>
              <a:gd name="connsiteY0" fmla="*/ 558800 h 558800"/>
              <a:gd name="connsiteX1" fmla="*/ 698500 w 5473700"/>
              <a:gd name="connsiteY1" fmla="*/ 0 h 558800"/>
              <a:gd name="connsiteX2" fmla="*/ 5473700 w 5473700"/>
              <a:gd name="connsiteY2" fmla="*/ 0 h 558800"/>
              <a:gd name="connsiteX0-1" fmla="*/ 0 w 5473700"/>
              <a:gd name="connsiteY0-2" fmla="*/ 558800 h 558800"/>
              <a:gd name="connsiteX1-3" fmla="*/ 291212 w 5473700"/>
              <a:gd name="connsiteY1-4" fmla="*/ 30665 h 558800"/>
              <a:gd name="connsiteX2-5" fmla="*/ 5473700 w 5473700"/>
              <a:gd name="connsiteY2-6" fmla="*/ 0 h 558800"/>
              <a:gd name="connsiteX0-7" fmla="*/ 0 w 5485611"/>
              <a:gd name="connsiteY0-8" fmla="*/ 444889 h 444889"/>
              <a:gd name="connsiteX1-9" fmla="*/ 303123 w 5485611"/>
              <a:gd name="connsiteY1-10" fmla="*/ 30665 h 444889"/>
              <a:gd name="connsiteX2-11" fmla="*/ 5485611 w 5485611"/>
              <a:gd name="connsiteY2-12" fmla="*/ 0 h 444889"/>
              <a:gd name="connsiteX0-13" fmla="*/ 0 w 5479655"/>
              <a:gd name="connsiteY0-14" fmla="*/ 452007 h 452007"/>
              <a:gd name="connsiteX1-15" fmla="*/ 297167 w 5479655"/>
              <a:gd name="connsiteY1-16" fmla="*/ 30665 h 452007"/>
              <a:gd name="connsiteX2-17" fmla="*/ 5479655 w 5479655"/>
              <a:gd name="connsiteY2-18" fmla="*/ 0 h 452007"/>
              <a:gd name="connsiteX0-19" fmla="*/ 0 w 5485798"/>
              <a:gd name="connsiteY0-20" fmla="*/ 458977 h 458977"/>
              <a:gd name="connsiteX1-21" fmla="*/ 303310 w 5485798"/>
              <a:gd name="connsiteY1-22" fmla="*/ 30665 h 458977"/>
              <a:gd name="connsiteX2-23" fmla="*/ 5485798 w 5485798"/>
              <a:gd name="connsiteY2-24" fmla="*/ 0 h 458977"/>
              <a:gd name="connsiteX0-25" fmla="*/ 0 w 5485798"/>
              <a:gd name="connsiteY0-26" fmla="*/ 458977 h 458977"/>
              <a:gd name="connsiteX1-27" fmla="*/ 309453 w 5485798"/>
              <a:gd name="connsiteY1-28" fmla="*/ 34152 h 458977"/>
              <a:gd name="connsiteX2-29" fmla="*/ 5485798 w 5485798"/>
              <a:gd name="connsiteY2-30" fmla="*/ 0 h 458977"/>
              <a:gd name="connsiteX0-31" fmla="*/ 0 w 5639375"/>
              <a:gd name="connsiteY0-32" fmla="*/ 661139 h 661139"/>
              <a:gd name="connsiteX1-33" fmla="*/ 463030 w 5639375"/>
              <a:gd name="connsiteY1-34" fmla="*/ 34152 h 661139"/>
              <a:gd name="connsiteX2-35" fmla="*/ 5639375 w 5639375"/>
              <a:gd name="connsiteY2-36" fmla="*/ 0 h 661139"/>
              <a:gd name="connsiteX0-37" fmla="*/ 0 w 5448940"/>
              <a:gd name="connsiteY0-38" fmla="*/ 399722 h 399722"/>
              <a:gd name="connsiteX1-39" fmla="*/ 272595 w 5448940"/>
              <a:gd name="connsiteY1-40" fmla="*/ 34152 h 399722"/>
              <a:gd name="connsiteX2-41" fmla="*/ 5448940 w 5448940"/>
              <a:gd name="connsiteY2-42" fmla="*/ 0 h 399722"/>
              <a:gd name="connsiteX0-43" fmla="*/ 0 w 5432046"/>
              <a:gd name="connsiteY0-44" fmla="*/ 382293 h 382293"/>
              <a:gd name="connsiteX1-45" fmla="*/ 255701 w 5432046"/>
              <a:gd name="connsiteY1-46" fmla="*/ 34152 h 382293"/>
              <a:gd name="connsiteX2-47" fmla="*/ 5432046 w 5432046"/>
              <a:gd name="connsiteY2-48" fmla="*/ 0 h 382293"/>
              <a:gd name="connsiteX0-49" fmla="*/ 0 w 3122250"/>
              <a:gd name="connsiteY0-50" fmla="*/ 354408 h 354408"/>
              <a:gd name="connsiteX1-51" fmla="*/ 255701 w 3122250"/>
              <a:gd name="connsiteY1-52" fmla="*/ 6267 h 354408"/>
              <a:gd name="connsiteX2-53" fmla="*/ 3122250 w 3122250"/>
              <a:gd name="connsiteY2-54" fmla="*/ 0 h 354408"/>
              <a:gd name="connsiteX0-55" fmla="*/ 0 w 2707491"/>
              <a:gd name="connsiteY0-56" fmla="*/ 354408 h 354408"/>
              <a:gd name="connsiteX1-57" fmla="*/ 255701 w 2707491"/>
              <a:gd name="connsiteY1-58" fmla="*/ 6267 h 354408"/>
              <a:gd name="connsiteX2-59" fmla="*/ 2707491 w 2707491"/>
              <a:gd name="connsiteY2-60" fmla="*/ 0 h 354408"/>
              <a:gd name="connsiteX0-61" fmla="*/ 0 w 2707491"/>
              <a:gd name="connsiteY0-62" fmla="*/ 382292 h 382292"/>
              <a:gd name="connsiteX1-63" fmla="*/ 255701 w 2707491"/>
              <a:gd name="connsiteY1-64" fmla="*/ 34151 h 382292"/>
              <a:gd name="connsiteX2-65" fmla="*/ 2707491 w 2707491"/>
              <a:gd name="connsiteY2-66" fmla="*/ 0 h 382292"/>
              <a:gd name="connsiteX0-67" fmla="*/ 0 w 2707491"/>
              <a:gd name="connsiteY0-68" fmla="*/ 372997 h 372997"/>
              <a:gd name="connsiteX1-69" fmla="*/ 255701 w 2707491"/>
              <a:gd name="connsiteY1-70" fmla="*/ 24856 h 372997"/>
              <a:gd name="connsiteX2-71" fmla="*/ 2707491 w 2707491"/>
              <a:gd name="connsiteY2-72" fmla="*/ 0 h 372997"/>
            </a:gdLst>
            <a:rect l="l" t="t" r="r" b="b"/>
            <a:pathLst>
              <a:path w="2707491" h="372997">
                <a:moveTo>
                  <a:pt x="0" y="372997"/>
                </a:moveTo>
                <a:lnTo>
                  <a:pt x="255701" y="24856"/>
                </a:lnTo>
                <a:lnTo>
                  <a:pt x="2707491" y="0"/>
                </a:lnTo>
              </a:path>
            </a:pathLst>
          </a:custGeom>
          <a:noFill/>
          <a:ln w="9525" cap="sq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miter/>
            <a:headEnd type="none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537237" y="1569941"/>
            <a:ext cx="3893173" cy="64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提取特定字段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7537143" y="2327558"/>
            <a:ext cx="3895042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结合awk或cut命令，可以提取日志中的特定字段，如提取IP地址grep - oE "\b([0- 9]{1,3}.){3}[0- 9]{1,3}\b" access.log。
通过指定字段分隔符和字段位置，实现对日志内容的精确提取。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 flipH="0" flipV="0">
            <a:off x="6584194" y="2086240"/>
            <a:ext cx="541769" cy="466932"/>
          </a:xfrm>
          <a:prstGeom prst="hexagon">
            <a:avLst>
              <a:gd name="adj" fmla="val 29289"/>
              <a:gd name="vf" fmla="val 11547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24711" y="2159687"/>
            <a:ext cx="660400" cy="320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 flipH="0" flipV="0">
            <a:off x="661117" y="1985995"/>
            <a:ext cx="774393" cy="667423"/>
          </a:xfrm>
          <a:prstGeom prst="hexagon">
            <a:avLst>
              <a:gd name="adj" fmla="val 29289"/>
              <a:gd name="vf" fmla="val 115470"/>
            </a:avLst>
          </a:prstGeom>
          <a:gradFill>
            <a:gsLst>
              <a:gs pos="6000">
                <a:schemeClr val="bg1">
                  <a:alpha val="0"/>
                </a:schemeClr>
              </a:gs>
              <a:gs pos="100000">
                <a:schemeClr val="bg1">
                  <a:alpha val="37000"/>
                </a:schemeClr>
              </a:gs>
            </a:gsLst>
            <a:lin ang="10800000" scaled="0"/>
          </a:gra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372232" y="2265168"/>
            <a:ext cx="4198036" cy="254823"/>
          </a:xfrm>
          <a:custGeom>
            <a:avLst/>
            <a:gdLst>
              <a:gd name="connsiteX0" fmla="*/ 0 w 5473700"/>
              <a:gd name="connsiteY0" fmla="*/ 558800 h 558800"/>
              <a:gd name="connsiteX1" fmla="*/ 698500 w 5473700"/>
              <a:gd name="connsiteY1" fmla="*/ 0 h 558800"/>
              <a:gd name="connsiteX2" fmla="*/ 5473700 w 5473700"/>
              <a:gd name="connsiteY2" fmla="*/ 0 h 558800"/>
              <a:gd name="connsiteX0-1" fmla="*/ 0 w 5473700"/>
              <a:gd name="connsiteY0-2" fmla="*/ 558800 h 558800"/>
              <a:gd name="connsiteX1-3" fmla="*/ 291212 w 5473700"/>
              <a:gd name="connsiteY1-4" fmla="*/ 30665 h 558800"/>
              <a:gd name="connsiteX2-5" fmla="*/ 5473700 w 5473700"/>
              <a:gd name="connsiteY2-6" fmla="*/ 0 h 558800"/>
              <a:gd name="connsiteX0-7" fmla="*/ 0 w 5485611"/>
              <a:gd name="connsiteY0-8" fmla="*/ 444889 h 444889"/>
              <a:gd name="connsiteX1-9" fmla="*/ 303123 w 5485611"/>
              <a:gd name="connsiteY1-10" fmla="*/ 30665 h 444889"/>
              <a:gd name="connsiteX2-11" fmla="*/ 5485611 w 5485611"/>
              <a:gd name="connsiteY2-12" fmla="*/ 0 h 444889"/>
              <a:gd name="connsiteX0-13" fmla="*/ 0 w 5479655"/>
              <a:gd name="connsiteY0-14" fmla="*/ 452007 h 452007"/>
              <a:gd name="connsiteX1-15" fmla="*/ 297167 w 5479655"/>
              <a:gd name="connsiteY1-16" fmla="*/ 30665 h 452007"/>
              <a:gd name="connsiteX2-17" fmla="*/ 5479655 w 5479655"/>
              <a:gd name="connsiteY2-18" fmla="*/ 0 h 452007"/>
              <a:gd name="connsiteX0-19" fmla="*/ 0 w 5485798"/>
              <a:gd name="connsiteY0-20" fmla="*/ 458977 h 458977"/>
              <a:gd name="connsiteX1-21" fmla="*/ 303310 w 5485798"/>
              <a:gd name="connsiteY1-22" fmla="*/ 30665 h 458977"/>
              <a:gd name="connsiteX2-23" fmla="*/ 5485798 w 5485798"/>
              <a:gd name="connsiteY2-24" fmla="*/ 0 h 458977"/>
              <a:gd name="connsiteX0-25" fmla="*/ 0 w 5485798"/>
              <a:gd name="connsiteY0-26" fmla="*/ 458977 h 458977"/>
              <a:gd name="connsiteX1-27" fmla="*/ 309453 w 5485798"/>
              <a:gd name="connsiteY1-28" fmla="*/ 34152 h 458977"/>
              <a:gd name="connsiteX2-29" fmla="*/ 5485798 w 5485798"/>
              <a:gd name="connsiteY2-30" fmla="*/ 0 h 458977"/>
              <a:gd name="connsiteX0-31" fmla="*/ 0 w 5639375"/>
              <a:gd name="connsiteY0-32" fmla="*/ 661139 h 661139"/>
              <a:gd name="connsiteX1-33" fmla="*/ 463030 w 5639375"/>
              <a:gd name="connsiteY1-34" fmla="*/ 34152 h 661139"/>
              <a:gd name="connsiteX2-35" fmla="*/ 5639375 w 5639375"/>
              <a:gd name="connsiteY2-36" fmla="*/ 0 h 661139"/>
              <a:gd name="connsiteX0-37" fmla="*/ 0 w 5448940"/>
              <a:gd name="connsiteY0-38" fmla="*/ 399722 h 399722"/>
              <a:gd name="connsiteX1-39" fmla="*/ 272595 w 5448940"/>
              <a:gd name="connsiteY1-40" fmla="*/ 34152 h 399722"/>
              <a:gd name="connsiteX2-41" fmla="*/ 5448940 w 5448940"/>
              <a:gd name="connsiteY2-42" fmla="*/ 0 h 399722"/>
              <a:gd name="connsiteX0-43" fmla="*/ 0 w 5432046"/>
              <a:gd name="connsiteY0-44" fmla="*/ 382293 h 382293"/>
              <a:gd name="connsiteX1-45" fmla="*/ 255701 w 5432046"/>
              <a:gd name="connsiteY1-46" fmla="*/ 34152 h 382293"/>
              <a:gd name="connsiteX2-47" fmla="*/ 5432046 w 5432046"/>
              <a:gd name="connsiteY2-48" fmla="*/ 0 h 382293"/>
              <a:gd name="connsiteX0-49" fmla="*/ 0 w 3122250"/>
              <a:gd name="connsiteY0-50" fmla="*/ 354408 h 354408"/>
              <a:gd name="connsiteX1-51" fmla="*/ 255701 w 3122250"/>
              <a:gd name="connsiteY1-52" fmla="*/ 6267 h 354408"/>
              <a:gd name="connsiteX2-53" fmla="*/ 3122250 w 3122250"/>
              <a:gd name="connsiteY2-54" fmla="*/ 0 h 354408"/>
              <a:gd name="connsiteX0-55" fmla="*/ 0 w 2707491"/>
              <a:gd name="connsiteY0-56" fmla="*/ 354408 h 354408"/>
              <a:gd name="connsiteX1-57" fmla="*/ 255701 w 2707491"/>
              <a:gd name="connsiteY1-58" fmla="*/ 6267 h 354408"/>
              <a:gd name="connsiteX2-59" fmla="*/ 2707491 w 2707491"/>
              <a:gd name="connsiteY2-60" fmla="*/ 0 h 354408"/>
              <a:gd name="connsiteX0-61" fmla="*/ 0 w 2707491"/>
              <a:gd name="connsiteY0-62" fmla="*/ 382292 h 382292"/>
              <a:gd name="connsiteX1-63" fmla="*/ 255701 w 2707491"/>
              <a:gd name="connsiteY1-64" fmla="*/ 34151 h 382292"/>
              <a:gd name="connsiteX2-65" fmla="*/ 2707491 w 2707491"/>
              <a:gd name="connsiteY2-66" fmla="*/ 0 h 382292"/>
              <a:gd name="connsiteX0-67" fmla="*/ 0 w 2707491"/>
              <a:gd name="connsiteY0-68" fmla="*/ 372997 h 372997"/>
              <a:gd name="connsiteX1-69" fmla="*/ 255701 w 2707491"/>
              <a:gd name="connsiteY1-70" fmla="*/ 24856 h 372997"/>
              <a:gd name="connsiteX2-71" fmla="*/ 2707491 w 2707491"/>
              <a:gd name="connsiteY2-72" fmla="*/ 0 h 372997"/>
            </a:gdLst>
            <a:rect l="l" t="t" r="r" b="b"/>
            <a:pathLst>
              <a:path w="2707491" h="372997">
                <a:moveTo>
                  <a:pt x="0" y="372997"/>
                </a:moveTo>
                <a:lnTo>
                  <a:pt x="255701" y="24856"/>
                </a:lnTo>
                <a:lnTo>
                  <a:pt x="2707491" y="0"/>
                </a:lnTo>
              </a:path>
            </a:pathLst>
          </a:custGeom>
          <a:noFill/>
          <a:ln w="9525" cap="sq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miter/>
            <a:headEnd type="none"/>
            <a:tailEnd type="oval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730472" y="1569941"/>
            <a:ext cx="3893173" cy="64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基本语法与匹配模式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743078" y="2327558"/>
            <a:ext cx="3882342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grep命令用于在文本中搜索匹配特定模式的行，基本语法为grep [选项] 模式 文件。
可以使用正则表达式指定复杂的匹配模式，如grep "2024- 06- 15" access.log提取特定日期的日志。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 flipH="0" flipV="0">
            <a:off x="777429" y="2086240"/>
            <a:ext cx="541769" cy="466932"/>
          </a:xfrm>
          <a:prstGeom prst="hexagon">
            <a:avLst>
              <a:gd name="adj" fmla="val 29289"/>
              <a:gd name="vf" fmla="val 11547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718114" y="2159687"/>
            <a:ext cx="660400" cy="320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18BF18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grep工具的使用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 flipH="0" flipV="0">
            <a:off x="4055421" y="248773"/>
            <a:ext cx="4209864" cy="4209864"/>
          </a:xfrm>
          <a:prstGeom prst="blockArc">
            <a:avLst>
              <a:gd name="adj1" fmla="val 11588442"/>
              <a:gd name="adj2" fmla="val 20785460"/>
              <a:gd name="adj3" fmla="val 5661"/>
            </a:avLst>
          </a:prstGeom>
          <a:solidFill>
            <a:schemeClr val="bg1">
              <a:lumMod val="95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10164" y="2248272"/>
            <a:ext cx="3138604" cy="26582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awk是一种强大的文本处理工具，可以对文本文件进行逐行读取、分析和处理。
基本语法为awk '模式{动作}' 文件，可以根据模式匹配行并执行相应的动作。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8647919" flipH="0" flipV="0">
            <a:off x="3899481" y="2530705"/>
            <a:ext cx="633316" cy="633316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  <a:effectLst>
            <a:outerShdw dist="38100" blurRad="50800" dir="2700000" sx="100000" sy="100000" kx="0" ky="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1">
            <a:off x="4043371" y="2680169"/>
            <a:ext cx="345536" cy="334388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8647919" flipH="0" flipV="0">
            <a:off x="5843694" y="3989040"/>
            <a:ext cx="633316" cy="633316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25400" cap="sq">
            <a:noFill/>
            <a:miter/>
          </a:ln>
          <a:effectLst>
            <a:outerShdw dist="38100" blurRad="50800" dir="2700000" sx="100000" sy="100000" kx="0" ky="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982962" y="4138504"/>
            <a:ext cx="354780" cy="334388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8647919" flipH="0" flipV="0">
            <a:off x="7736100" y="2530705"/>
            <a:ext cx="633316" cy="633316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  <a:effectLst>
            <a:outerShdw dist="38100" blurRad="50800" dir="2700000" sx="100000" sy="100000" kx="0" ky="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885589" y="2680169"/>
            <a:ext cx="334339" cy="334388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940609" y="5157162"/>
            <a:ext cx="4517591" cy="14404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使用awk可以方便地提取日志中的字段，如awk '{print $1}' access.log提取IP地址。
可以对字段进行计算、格式化等操作，如统计每个IP的访问次数awk '{print $1}' access.log | sort | uniq - c。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79356" y="2248272"/>
            <a:ext cx="3138604" cy="264054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结合条件语句和循环结构，实现复杂的日志分析任务，如提取响应状态码为404的请求awk '$9 == 404' access.log。
可以对日志进行分类统计、关联分析等，满足多样化的分析需求。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591360" y="4752317"/>
            <a:ext cx="3138604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提取和处理日志字段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10164" y="1921497"/>
            <a:ext cx="3138604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awk的基本功能与语法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379356" y="1921497"/>
            <a:ext cx="3138604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实现复杂日志分析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18647919" flipH="0" flipV="0">
            <a:off x="5044241" y="1304268"/>
            <a:ext cx="2175073" cy="2175073"/>
          </a:xfrm>
          <a:prstGeom prst="flowChartConnector">
            <a:avLst/>
          </a:prstGeom>
          <a:solidFill>
            <a:schemeClr val="accent1">
              <a:lumMod val="60000"/>
              <a:lumOff val="40000"/>
              <a:alpha val="19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647919" flipH="0" flipV="0">
            <a:off x="5171103" y="1431130"/>
            <a:ext cx="1921348" cy="1921348"/>
          </a:xfrm>
          <a:prstGeom prst="flowChartConnector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859313" y="2096659"/>
            <a:ext cx="544929" cy="590290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awk工具的使用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18900" t="6270" r="46291" b="59181"/>
          <a:stretch>
            <a:fillRect/>
          </a:stretch>
        </p:blipFill>
        <p:spPr>
          <a:xfrm rot="0" flipH="0" flipV="0"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0" flipV="0">
            <a:off x="-1" y="4376248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0" flipH="0" flipV="0">
            <a:off x="4096187" y="910403"/>
            <a:ext cx="3999626" cy="30623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9900">
                <a:ln w="12700">
                  <a:solidFill>
                    <a:srgbClr val="000000">
                      <a:alpha val="100000"/>
                    </a:srgbClr>
                  </a:solidFill>
                </a:ln>
                <a:gradFill>
                  <a:gsLst>
                    <a:gs pos="47000">
                      <a:srgbClr val="18BF18">
                        <a:alpha val="0"/>
                      </a:srgbClr>
                    </a:gs>
                    <a:gs pos="100000">
                      <a:srgbClr val="18BF18">
                        <a:alpha val="55000"/>
                      </a:srgbClr>
                    </a:gs>
                  </a:gsLst>
                  <a:lin ang="16200000" scaled="0"/>
                </a:gradFill>
                <a:latin typeface="Source Han Sans CN Bold"/>
                <a:ea typeface="Source Han Sans CN Bold"/>
                <a:cs typeface="Source Han Sans CN Bold"/>
              </a:rPr>
              <a:t>03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012855" y="2909009"/>
            <a:ext cx="6291189" cy="17280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24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使用ELK Stack解析日志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143245" y="752912"/>
            <a:ext cx="1905510" cy="23662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90" t="-1144" r="213" b="71229"/>
          <a:stretch>
            <a:fillRect/>
          </a:stretch>
        </p:blipFill>
        <p:spPr>
          <a:xfrm rot="0" flipH="1" flipV="1">
            <a:off x="-1718" y="0"/>
            <a:ext cx="12192000" cy="2495941"/>
          </a:xfrm>
          <a:custGeom>
            <a:avLst/>
            <a:gdLst>
              <a:gd name="connsiteX0" fmla="*/ 0 w 12192000"/>
              <a:gd name="connsiteY0" fmla="*/ 0 h 3428999"/>
              <a:gd name="connsiteX1" fmla="*/ 12192000 w 12192000"/>
              <a:gd name="connsiteY1" fmla="*/ 0 h 3428999"/>
              <a:gd name="connsiteX2" fmla="*/ 12192000 w 12192000"/>
              <a:gd name="connsiteY2" fmla="*/ 3428999 h 3428999"/>
              <a:gd name="connsiteX3" fmla="*/ 0 w 12192000"/>
              <a:gd name="connsiteY3" fmla="*/ 3428999 h 3428999"/>
            </a:gdLst>
            <a:rect l="l" t="t" r="r" b="b"/>
            <a:pathLst>
              <a:path w="12192000" h="3428999">
                <a:moveTo>
                  <a:pt x="0" y="0"/>
                </a:moveTo>
                <a:lnTo>
                  <a:pt x="12192000" y="0"/>
                </a:lnTo>
                <a:lnTo>
                  <a:pt x="12192000" y="3428999"/>
                </a:lnTo>
                <a:lnTo>
                  <a:pt x="0" y="3428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26665" y="4627148"/>
            <a:ext cx="11338670" cy="1748461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1890492"/>
            <a:ext cx="3312000" cy="36000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  <a:alpha val="40000"/>
            </a:schemeClr>
          </a:soli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42174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417826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121200" y="177390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433650" y="1890492"/>
            <a:ext cx="3312000" cy="36000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  <a:alpha val="40000"/>
            </a:schemeClr>
          </a:soli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4815424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7191076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894450" y="177390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06900" y="1890492"/>
            <a:ext cx="3312000" cy="36000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  <a:alpha val="40000"/>
            </a:schemeClr>
          </a:soli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588674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10964326" y="177390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667700" y="177390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76400" y="23749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Elasticsearch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876400" y="30791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Elasticsearch是一个分布式搜索引擎，用于存储和索引日志数据，提供高效的搜索和分析能力。
支持多种数据类型和复杂的查询语法，可以快速检索海量日志数据。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649650" y="23749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Logstash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4649650" y="30791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Logstash用于日志数据的收集、解析和转换，支持多种输入和输出插件。
可以将日志数据从不同来源收集并解析为结构化数据，然后发送到Elasticsearch。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422900" y="23749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Kibana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8422900" y="30791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Kibana是一个数据可视化工具，用于展示Elasticsearch中的日志数据，提供丰富的可视化组件。
可以通过仪表盘、图表等形式直观地展示日志分析结果，方便用户查看和分析。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76400" y="1905000"/>
            <a:ext cx="2880000" cy="364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648300" y="1905000"/>
            <a:ext cx="2880000" cy="364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420200" y="1905000"/>
            <a:ext cx="2880000" cy="364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ELK Stack的组成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3564875" y="982993"/>
            <a:ext cx="5214651" cy="15570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使用Logstash或Filebeat等工具采集日志文件，通过网络将日志数据传输到Logstash。
Logstash可以对日志进行初步处理，如过滤、转换格式等，然后将数据发送到Elasticsearch。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564875" y="591316"/>
            <a:ext cx="5213573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日志采集与传输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12496" y="3833408"/>
            <a:ext cx="3905548" cy="6442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数据解析与存储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312496" y="4406308"/>
            <a:ext cx="3908990" cy="1804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Logstash使用grok插件解析日志，将非结构化日志转换为结构化数据，如提取IP地址、时间戳等字段。
解析后的数据存储到Elasticsearch中，建立索引以便快速查询和分析。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115042" y="3851589"/>
            <a:ext cx="3797300" cy="6442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数据可视化与分析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114784" y="4424490"/>
            <a:ext cx="3797815" cy="1785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使用Kibana连接Elasticsearch，创建仪表盘和可视化图表，展示日志分析结果。
可以通过Kibana的查询功能，灵活地查询和分析日志数据，如统计访问量、错误率等。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210639" y="3755950"/>
            <a:ext cx="2218633" cy="221863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1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762729" y="3755950"/>
            <a:ext cx="2218633" cy="221863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3000">
                <a:schemeClr val="accent1"/>
              </a:gs>
            </a:gsLst>
            <a:lin ang="12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986684" y="2365734"/>
            <a:ext cx="2218633" cy="221863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2000">
                <a:schemeClr val="accent1"/>
              </a:gs>
            </a:gsLst>
            <a:lin ang="4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435381" y="2814431"/>
            <a:ext cx="1321238" cy="1321238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255374" y="4204647"/>
            <a:ext cx="1321238" cy="1321238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615388" y="4204647"/>
            <a:ext cx="1321238" cy="1321238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5124052" y="3198211"/>
            <a:ext cx="1943895" cy="1943896"/>
          </a:xfrm>
          <a:prstGeom prst="flowChartExtract">
            <a:avLst/>
          </a:prstGeom>
          <a:solidFill>
            <a:schemeClr val="bg1">
              <a:alpha val="63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4965027" y="4593008"/>
            <a:ext cx="621960" cy="544517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627131" y="4593008"/>
            <a:ext cx="577723" cy="544517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1" flipV="1">
            <a:off x="5814665" y="3202791"/>
            <a:ext cx="562671" cy="544518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ELK Stack的日志解析流程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397000" y="1363078"/>
            <a:ext cx="3189801" cy="2000077"/>
          </a:xfrm>
          <a:custGeom>
            <a:avLst/>
            <a:gdLst>
              <a:gd name="connsiteX0" fmla="*/ 0 w 2199606"/>
              <a:gd name="connsiteY0" fmla="*/ 559960 h 1387582"/>
              <a:gd name="connsiteX1" fmla="*/ 2199607 w 2199606"/>
              <a:gd name="connsiteY1" fmla="*/ 1387583 h 1387582"/>
              <a:gd name="connsiteX2" fmla="*/ 913013 w 2199606"/>
              <a:gd name="connsiteY2" fmla="*/ 108379 h 1387582"/>
              <a:gd name="connsiteX3" fmla="*/ 113305 w 2199606"/>
              <a:gd name="connsiteY3" fmla="*/ 0 h 1387582"/>
              <a:gd name="connsiteX4" fmla="*/ 0 w 2199606"/>
              <a:gd name="connsiteY4" fmla="*/ 559960 h 1387582"/>
            </a:gdLst>
            <a:rect l="l" t="t" r="r" b="b"/>
            <a:pathLst>
              <a:path w="2199606" h="1387582">
                <a:moveTo>
                  <a:pt x="0" y="559960"/>
                </a:moveTo>
                <a:lnTo>
                  <a:pt x="2199607" y="1387583"/>
                </a:lnTo>
                <a:lnTo>
                  <a:pt x="913013" y="108379"/>
                </a:lnTo>
                <a:lnTo>
                  <a:pt x="113305" y="0"/>
                </a:lnTo>
                <a:lnTo>
                  <a:pt x="0" y="55996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2365012" y="1815166"/>
            <a:ext cx="3516043" cy="1732612"/>
          </a:xfrm>
          <a:custGeom>
            <a:avLst/>
            <a:gdLst>
              <a:gd name="connsiteX0" fmla="*/ 2276786 w 2424575"/>
              <a:gd name="connsiteY0" fmla="*/ 1078866 h 1202024"/>
              <a:gd name="connsiteX1" fmla="*/ 0 w 2424575"/>
              <a:gd name="connsiteY1" fmla="*/ 1202025 h 1202024"/>
              <a:gd name="connsiteX2" fmla="*/ 0 w 2424575"/>
              <a:gd name="connsiteY2" fmla="*/ 0 h 1202024"/>
              <a:gd name="connsiteX3" fmla="*/ 2424575 w 2424575"/>
              <a:gd name="connsiteY3" fmla="*/ 0 h 1202024"/>
            </a:gdLst>
            <a:rect l="l" t="t" r="r" b="b"/>
            <a:pathLst>
              <a:path w="2424575" h="1202024">
                <a:moveTo>
                  <a:pt x="2276786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4575" y="0"/>
                </a:ln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682112" y="1642986"/>
            <a:ext cx="551018" cy="453013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365012" y="1815166"/>
            <a:ext cx="3516043" cy="1732612"/>
          </a:xfrm>
          <a:custGeom>
            <a:avLst/>
            <a:gdLst>
              <a:gd name="connsiteX0" fmla="*/ 2276786 w 2424575"/>
              <a:gd name="connsiteY0" fmla="*/ 1078866 h 1202024"/>
              <a:gd name="connsiteX1" fmla="*/ 0 w 2424575"/>
              <a:gd name="connsiteY1" fmla="*/ 1202025 h 1202024"/>
              <a:gd name="connsiteX2" fmla="*/ 0 w 2424575"/>
              <a:gd name="connsiteY2" fmla="*/ 0 h 1202024"/>
              <a:gd name="connsiteX3" fmla="*/ 2424575 w 2424575"/>
              <a:gd name="connsiteY3" fmla="*/ 0 h 1202024"/>
            </a:gdLst>
            <a:rect l="l" t="t" r="r" b="b"/>
            <a:pathLst>
              <a:path w="2424575" h="1202024">
                <a:moveTo>
                  <a:pt x="2276786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4575" y="0"/>
                </a:lnTo>
                <a:close/>
              </a:path>
            </a:pathLst>
          </a:custGeom>
          <a:noFill/>
          <a:ln w="8209" cap="flat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262615" y="1828184"/>
            <a:ext cx="3516043" cy="1732612"/>
          </a:xfrm>
          <a:custGeom>
            <a:avLst/>
            <a:gdLst>
              <a:gd name="connsiteX0" fmla="*/ 147790 w 2424575"/>
              <a:gd name="connsiteY0" fmla="*/ 123158 h 1202024"/>
              <a:gd name="connsiteX1" fmla="*/ 2424575 w 2424575"/>
              <a:gd name="connsiteY1" fmla="*/ 0 h 1202024"/>
              <a:gd name="connsiteX2" fmla="*/ 2424575 w 2424575"/>
              <a:gd name="connsiteY2" fmla="*/ 1202025 h 1202024"/>
              <a:gd name="connsiteX3" fmla="*/ 0 w 2424575"/>
              <a:gd name="connsiteY3" fmla="*/ 1202025 h 1202024"/>
            </a:gdLst>
            <a:rect l="l" t="t" r="r" b="b"/>
            <a:pathLst>
              <a:path w="2424575" h="1202024">
                <a:moveTo>
                  <a:pt x="147790" y="123158"/>
                </a:moveTo>
                <a:lnTo>
                  <a:pt x="2424575" y="0"/>
                </a:lnTo>
                <a:lnTo>
                  <a:pt x="2424575" y="1202025"/>
                </a:lnTo>
                <a:lnTo>
                  <a:pt x="0" y="1202025"/>
                </a:lnTo>
                <a:close/>
              </a:path>
            </a:pathLst>
          </a:custGeom>
          <a:noFill/>
          <a:ln w="8209" cap="flat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2683489" y="2060660"/>
            <a:ext cx="2800746" cy="5708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网站访问日志分析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2683490" y="2632880"/>
            <a:ext cx="2800746" cy="69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02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通过ELK Stack解析Apache或Nginx的访问日志，提取IP地址、访问时间、请求路径、响应状态码等信息。
分析网站的流量趋势、热门页面、用户行为等，为网站优化提供数据支持。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299435" y="1363078"/>
            <a:ext cx="3189799" cy="1998894"/>
          </a:xfrm>
          <a:custGeom>
            <a:avLst/>
            <a:gdLst>
              <a:gd name="connsiteX0" fmla="*/ 0 w 2199606"/>
              <a:gd name="connsiteY0" fmla="*/ 559960 h 1386761"/>
              <a:gd name="connsiteX1" fmla="*/ 2199607 w 2199606"/>
              <a:gd name="connsiteY1" fmla="*/ 1386762 h 1386761"/>
              <a:gd name="connsiteX2" fmla="*/ 913013 w 2199606"/>
              <a:gd name="connsiteY2" fmla="*/ 108379 h 1386761"/>
              <a:gd name="connsiteX3" fmla="*/ 113306 w 2199606"/>
              <a:gd name="connsiteY3" fmla="*/ 0 h 1386761"/>
              <a:gd name="connsiteX4" fmla="*/ 0 w 2199606"/>
              <a:gd name="connsiteY4" fmla="*/ 559960 h 1386761"/>
            </a:gdLst>
            <a:rect l="l" t="t" r="r" b="b"/>
            <a:pathLst>
              <a:path w="2199606" h="1386761">
                <a:moveTo>
                  <a:pt x="0" y="559960"/>
                </a:moveTo>
                <a:lnTo>
                  <a:pt x="2199607" y="1386762"/>
                </a:lnTo>
                <a:lnTo>
                  <a:pt x="913013" y="108379"/>
                </a:lnTo>
                <a:lnTo>
                  <a:pt x="113306" y="0"/>
                </a:lnTo>
                <a:lnTo>
                  <a:pt x="0" y="55996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267449" y="1815166"/>
            <a:ext cx="3514851" cy="1732612"/>
          </a:xfrm>
          <a:custGeom>
            <a:avLst/>
            <a:gdLst>
              <a:gd name="connsiteX0" fmla="*/ 2275965 w 2423754"/>
              <a:gd name="connsiteY0" fmla="*/ 1078866 h 1202024"/>
              <a:gd name="connsiteX1" fmla="*/ 0 w 2423754"/>
              <a:gd name="connsiteY1" fmla="*/ 1202025 h 1202024"/>
              <a:gd name="connsiteX2" fmla="*/ 0 w 2423754"/>
              <a:gd name="connsiteY2" fmla="*/ 0 h 1202024"/>
              <a:gd name="connsiteX3" fmla="*/ 2423754 w 2423754"/>
              <a:gd name="connsiteY3" fmla="*/ 0 h 1202024"/>
            </a:gdLst>
            <a:rect l="l" t="t" r="r" b="b"/>
            <a:pathLst>
              <a:path w="2423754" h="1202024">
                <a:moveTo>
                  <a:pt x="2275965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3754" y="0"/>
                </a:lnTo>
                <a:close/>
              </a:path>
            </a:pathLst>
          </a:custGeom>
          <a:solidFill>
            <a:schemeClr val="bg1"/>
          </a:solidFill>
          <a:ln w="8209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603518" y="1646179"/>
            <a:ext cx="477100" cy="474219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267449" y="1802466"/>
            <a:ext cx="3514851" cy="1732612"/>
          </a:xfrm>
          <a:custGeom>
            <a:avLst/>
            <a:gdLst>
              <a:gd name="connsiteX0" fmla="*/ 2275965 w 2423754"/>
              <a:gd name="connsiteY0" fmla="*/ 1078866 h 1202024"/>
              <a:gd name="connsiteX1" fmla="*/ 0 w 2423754"/>
              <a:gd name="connsiteY1" fmla="*/ 1202025 h 1202024"/>
              <a:gd name="connsiteX2" fmla="*/ 0 w 2423754"/>
              <a:gd name="connsiteY2" fmla="*/ 0 h 1202024"/>
              <a:gd name="connsiteX3" fmla="*/ 2423754 w 2423754"/>
              <a:gd name="connsiteY3" fmla="*/ 0 h 1202024"/>
            </a:gdLst>
            <a:rect l="l" t="t" r="r" b="b"/>
            <a:pathLst>
              <a:path w="2423754" h="1202024">
                <a:moveTo>
                  <a:pt x="2275965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3754" y="0"/>
                </a:lnTo>
                <a:close/>
              </a:path>
            </a:pathLst>
          </a:custGeom>
          <a:noFill/>
          <a:ln w="8209" cap="flat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7165051" y="1815484"/>
            <a:ext cx="3514851" cy="1732612"/>
          </a:xfrm>
          <a:custGeom>
            <a:avLst/>
            <a:gdLst>
              <a:gd name="connsiteX0" fmla="*/ 147790 w 2423754"/>
              <a:gd name="connsiteY0" fmla="*/ 123158 h 1202024"/>
              <a:gd name="connsiteX1" fmla="*/ 2423754 w 2423754"/>
              <a:gd name="connsiteY1" fmla="*/ 0 h 1202024"/>
              <a:gd name="connsiteX2" fmla="*/ 2423754 w 2423754"/>
              <a:gd name="connsiteY2" fmla="*/ 1202025 h 1202024"/>
              <a:gd name="connsiteX3" fmla="*/ 0 w 2423754"/>
              <a:gd name="connsiteY3" fmla="*/ 1202025 h 1202024"/>
            </a:gdLst>
            <a:rect l="l" t="t" r="r" b="b"/>
            <a:pathLst>
              <a:path w="2423754" h="1202024">
                <a:moveTo>
                  <a:pt x="147790" y="123158"/>
                </a:moveTo>
                <a:lnTo>
                  <a:pt x="2423754" y="0"/>
                </a:lnTo>
                <a:lnTo>
                  <a:pt x="2423754" y="1202025"/>
                </a:lnTo>
                <a:lnTo>
                  <a:pt x="0" y="1202025"/>
                </a:lnTo>
                <a:close/>
              </a:path>
            </a:pathLst>
          </a:custGeom>
          <a:noFill/>
          <a:ln w="8209" cap="flat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7580881" y="2060660"/>
            <a:ext cx="2800744" cy="5708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应用程序日志监控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580881" y="2632880"/>
            <a:ext cx="2800744" cy="69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02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对应用程序的日志进行实时监控和分析，及时发现错误和异常情况。
通过设置告警规则，当出现特定错误或性能问题时，自动发送告警通知。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960663" y="3754854"/>
            <a:ext cx="3189799" cy="2000077"/>
          </a:xfrm>
          <a:custGeom>
            <a:avLst/>
            <a:gdLst>
              <a:gd name="connsiteX0" fmla="*/ 0 w 2199606"/>
              <a:gd name="connsiteY0" fmla="*/ 560781 h 1387582"/>
              <a:gd name="connsiteX1" fmla="*/ 2199607 w 2199606"/>
              <a:gd name="connsiteY1" fmla="*/ 1387583 h 1387582"/>
              <a:gd name="connsiteX2" fmla="*/ 913013 w 2199606"/>
              <a:gd name="connsiteY2" fmla="*/ 108379 h 1387582"/>
              <a:gd name="connsiteX3" fmla="*/ 113306 w 2199606"/>
              <a:gd name="connsiteY3" fmla="*/ 0 h 1387582"/>
              <a:gd name="connsiteX4" fmla="*/ 0 w 2199606"/>
              <a:gd name="connsiteY4" fmla="*/ 560781 h 1387582"/>
            </a:gdLst>
            <a:rect l="l" t="t" r="r" b="b"/>
            <a:pathLst>
              <a:path w="2199606" h="1387582">
                <a:moveTo>
                  <a:pt x="0" y="560781"/>
                </a:moveTo>
                <a:lnTo>
                  <a:pt x="2199607" y="1387583"/>
                </a:lnTo>
                <a:lnTo>
                  <a:pt x="913013" y="108379"/>
                </a:lnTo>
                <a:lnTo>
                  <a:pt x="113306" y="0"/>
                </a:lnTo>
                <a:lnTo>
                  <a:pt x="0" y="560781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4928676" y="4208126"/>
            <a:ext cx="3514851" cy="1732612"/>
          </a:xfrm>
          <a:custGeom>
            <a:avLst/>
            <a:gdLst>
              <a:gd name="connsiteX0" fmla="*/ 2275965 w 2423754"/>
              <a:gd name="connsiteY0" fmla="*/ 1078866 h 1202024"/>
              <a:gd name="connsiteX1" fmla="*/ 0 w 2423754"/>
              <a:gd name="connsiteY1" fmla="*/ 1202025 h 1202024"/>
              <a:gd name="connsiteX2" fmla="*/ 0 w 2423754"/>
              <a:gd name="connsiteY2" fmla="*/ 0 h 1202024"/>
              <a:gd name="connsiteX3" fmla="*/ 2423754 w 2423754"/>
              <a:gd name="connsiteY3" fmla="*/ 0 h 1202024"/>
            </a:gdLst>
            <a:rect l="l" t="t" r="r" b="b"/>
            <a:pathLst>
              <a:path w="2423754" h="1202024">
                <a:moveTo>
                  <a:pt x="2275965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3754" y="0"/>
                </a:ln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4928676" y="4208126"/>
            <a:ext cx="3514851" cy="1732612"/>
          </a:xfrm>
          <a:custGeom>
            <a:avLst/>
            <a:gdLst>
              <a:gd name="connsiteX0" fmla="*/ 2275965 w 2423754"/>
              <a:gd name="connsiteY0" fmla="*/ 1078866 h 1202024"/>
              <a:gd name="connsiteX1" fmla="*/ 0 w 2423754"/>
              <a:gd name="connsiteY1" fmla="*/ 1202025 h 1202024"/>
              <a:gd name="connsiteX2" fmla="*/ 0 w 2423754"/>
              <a:gd name="connsiteY2" fmla="*/ 0 h 1202024"/>
              <a:gd name="connsiteX3" fmla="*/ 2423754 w 2423754"/>
              <a:gd name="connsiteY3" fmla="*/ 0 h 1202024"/>
            </a:gdLst>
            <a:rect l="l" t="t" r="r" b="b"/>
            <a:pathLst>
              <a:path w="2423754" h="1202024">
                <a:moveTo>
                  <a:pt x="2275965" y="1078866"/>
                </a:moveTo>
                <a:lnTo>
                  <a:pt x="0" y="1202025"/>
                </a:lnTo>
                <a:lnTo>
                  <a:pt x="0" y="0"/>
                </a:lnTo>
                <a:lnTo>
                  <a:pt x="2423754" y="0"/>
                </a:lnTo>
                <a:close/>
              </a:path>
            </a:pathLst>
          </a:custGeom>
          <a:noFill/>
          <a:ln w="8209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4826278" y="4219960"/>
            <a:ext cx="3514851" cy="1732612"/>
          </a:xfrm>
          <a:custGeom>
            <a:avLst/>
            <a:gdLst>
              <a:gd name="connsiteX0" fmla="*/ 147790 w 2423754"/>
              <a:gd name="connsiteY0" fmla="*/ 123158 h 1202024"/>
              <a:gd name="connsiteX1" fmla="*/ 2423754 w 2423754"/>
              <a:gd name="connsiteY1" fmla="*/ 0 h 1202024"/>
              <a:gd name="connsiteX2" fmla="*/ 2423754 w 2423754"/>
              <a:gd name="connsiteY2" fmla="*/ 1202025 h 1202024"/>
              <a:gd name="connsiteX3" fmla="*/ 0 w 2423754"/>
              <a:gd name="connsiteY3" fmla="*/ 1202025 h 1202024"/>
            </a:gdLst>
            <a:rect l="l" t="t" r="r" b="b"/>
            <a:pathLst>
              <a:path w="2423754" h="1202024">
                <a:moveTo>
                  <a:pt x="147790" y="123158"/>
                </a:moveTo>
                <a:lnTo>
                  <a:pt x="2423754" y="0"/>
                </a:lnTo>
                <a:lnTo>
                  <a:pt x="2423754" y="1202025"/>
                </a:lnTo>
                <a:lnTo>
                  <a:pt x="0" y="1202025"/>
                </a:lnTo>
                <a:close/>
              </a:path>
            </a:pathLst>
          </a:custGeom>
          <a:noFill/>
          <a:ln w="8209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5242107" y="4433278"/>
            <a:ext cx="2800744" cy="5708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安全日志审计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242108" y="5034087"/>
            <a:ext cx="2800744" cy="69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02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解析系统安全日志，如登录失败、权限变更等事件，提取关键信息进行审计。
通过日志分析发现潜在的安全威胁，如暴力破解、非法访问等，保障系统安全。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4220471" y="3972208"/>
            <a:ext cx="511542" cy="531922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822118" y="421001"/>
            <a:ext cx="10696782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ELK Stack的应用案例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273514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519701" y="385001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164" t="0" r="10580" b="2262"/>
          <a:stretch>
            <a:fillRect/>
          </a:stretch>
        </p:blipFill>
        <p:spPr>
          <a:xfrm rot="0" flipH="0" flipV="0">
            <a:off x="1388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0261" y="4490953"/>
            <a:ext cx="1660313" cy="407848"/>
          </a:xfrm>
          <a:prstGeom prst="snip2DiagRect">
            <a:avLst>
              <a:gd name="adj1" fmla="val 0"/>
              <a:gd name="adj2" fmla="val 2664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57000">
                <a:schemeClr val="accent2">
                  <a:alpha val="19000"/>
                </a:schemeClr>
              </a:gs>
              <a:gs pos="95000">
                <a:schemeClr val="accent2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580261" y="5057616"/>
            <a:ext cx="1660313" cy="407848"/>
          </a:xfrm>
          <a:prstGeom prst="snip2DiagRect">
            <a:avLst>
              <a:gd name="adj1" fmla="val 0"/>
              <a:gd name="adj2" fmla="val 23532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57000">
                <a:schemeClr val="accent2">
                  <a:alpha val="19000"/>
                </a:schemeClr>
              </a:gs>
              <a:gs pos="95000">
                <a:schemeClr val="accent2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702362" y="4507391"/>
            <a:ext cx="957210" cy="374972"/>
          </a:xfrm>
          <a:prstGeom prst="snip2DiagRect">
            <a:avLst>
              <a:gd name="adj1" fmla="val 0"/>
              <a:gd name="adj2" fmla="val 26646"/>
            </a:avLst>
          </a:prstGeom>
          <a:noFill/>
          <a:ln w="6350" cap="sq">
            <a:gradFill>
              <a:gsLst>
                <a:gs pos="25000">
                  <a:schemeClr val="bg1">
                    <a:alpha val="0"/>
                  </a:schemeClr>
                </a:gs>
                <a:gs pos="49000">
                  <a:schemeClr val="accent1"/>
                </a:gs>
                <a:gs pos="82000">
                  <a:schemeClr val="bg1">
                    <a:alpha val="0"/>
                  </a:schemeClr>
                </a:gs>
              </a:gsLst>
              <a:lin ang="27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702362" y="5074054"/>
            <a:ext cx="957210" cy="374972"/>
          </a:xfrm>
          <a:prstGeom prst="snip2DiagRect">
            <a:avLst>
              <a:gd name="adj1" fmla="val 0"/>
              <a:gd name="adj2" fmla="val 23532"/>
            </a:avLst>
          </a:prstGeom>
          <a:noFill/>
          <a:ln w="6350" cap="sq">
            <a:gradFill>
              <a:gsLst>
                <a:gs pos="25000">
                  <a:schemeClr val="bg1">
                    <a:alpha val="0"/>
                  </a:schemeClr>
                </a:gs>
                <a:gs pos="49000">
                  <a:schemeClr val="accent1"/>
                </a:gs>
                <a:gs pos="82000">
                  <a:schemeClr val="bg1">
                    <a:alpha val="0"/>
                  </a:schemeClr>
                </a:gs>
              </a:gsLst>
              <a:lin ang="27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60401" y="3640729"/>
            <a:ext cx="3421632" cy="553998"/>
          </a:xfrm>
          <a:prstGeom prst="snip2DiagRect">
            <a:avLst>
              <a:gd name="adj1" fmla="val 0"/>
              <a:gd name="adj2" fmla="val 30582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12053" y="3702285"/>
            <a:ext cx="2118329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PowerPoint Design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08210" y="1649013"/>
            <a:ext cx="5743178" cy="17665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谢谢大家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0400" y="3629974"/>
            <a:ext cx="3239846" cy="19050"/>
          </a:xfrm>
          <a:custGeom>
            <a:avLst/>
            <a:gdLst>
              <a:gd name="connsiteX0" fmla="*/ 0 w 3239846"/>
              <a:gd name="connsiteY0" fmla="*/ 0 h 19050"/>
              <a:gd name="connsiteX1" fmla="*/ 3239846 w 3239846"/>
              <a:gd name="connsiteY1" fmla="*/ 0 h 19050"/>
              <a:gd name="connsiteX2" fmla="*/ 3239846 w 3239846"/>
              <a:gd name="connsiteY2" fmla="*/ 19050 h 19050"/>
              <a:gd name="connsiteX3" fmla="*/ 0 w 3239846"/>
              <a:gd name="connsiteY3" fmla="*/ 19050 h 19050"/>
              <a:gd name="connsiteX4" fmla="*/ 0 w 3239846"/>
              <a:gd name="connsiteY4" fmla="*/ 0 h 19050"/>
            </a:gdLst>
            <a:rect l="l" t="t" r="r" b="b"/>
            <a:pathLst>
              <a:path w="3239846" h="19050">
                <a:moveTo>
                  <a:pt x="0" y="0"/>
                </a:moveTo>
                <a:lnTo>
                  <a:pt x="3239846" y="0"/>
                </a:lnTo>
                <a:lnTo>
                  <a:pt x="3239846" y="19050"/>
                </a:lnTo>
                <a:lnTo>
                  <a:pt x="0" y="190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60400" y="4490953"/>
            <a:ext cx="1041133" cy="407848"/>
          </a:xfrm>
          <a:prstGeom prst="snip2DiagRect">
            <a:avLst>
              <a:gd name="adj1" fmla="val 0"/>
              <a:gd name="adj2" fmla="val 26646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60400" y="5057616"/>
            <a:ext cx="1041133" cy="407848"/>
          </a:xfrm>
          <a:prstGeom prst="snip2DiagRect">
            <a:avLst>
              <a:gd name="adj1" fmla="val 0"/>
              <a:gd name="adj2" fmla="val 23532"/>
            </a:avLst>
          </a:prstGeom>
          <a:gradFill>
            <a:gsLst>
              <a:gs pos="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32404" y="4556378"/>
            <a:ext cx="704029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</a:t>
            </a: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人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2019854" y="4556378"/>
            <a:ext cx="704029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AiPPT 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32405" y="5123041"/>
            <a:ext cx="704028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   间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2019854" y="5123041"/>
            <a:ext cx="875234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60400" y="752912"/>
            <a:ext cx="1905510" cy="23662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542443" y="5701863"/>
            <a:ext cx="2119766" cy="512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3665059" y="4842246"/>
            <a:ext cx="4477833" cy="1765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209000" y="3926549"/>
            <a:ext cx="2119766" cy="512623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8BF18"/>
      </a:accent1>
      <a:accent2>
        <a:srgbClr val="009900"/>
      </a:accent2>
      <a:accent3>
        <a:srgbClr val="006600"/>
      </a:accent3>
      <a:accent4>
        <a:srgbClr val="18BF18"/>
      </a:accent4>
      <a:accent5>
        <a:srgbClr val="009900"/>
      </a:accent5>
      <a:accent6>
        <a:srgbClr val="006600"/>
      </a:accent6>
      <a:hlink>
        <a:srgbClr val="18BF18"/>
      </a:hlink>
      <a:folHlink>
        <a:srgbClr val="0066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
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4"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6858000" type="screen4x3"/>
  <p:notesSz cx="6858000" cy="9144000"/>
  <p:kinsoku lang="zh-CN" invalStChars="!%),.:;?]}¨·ˇˉ་―‖’”…‰∶、。〃々〉》」』】〕〗！＂＇％），．：；？］｀｜｝～￠" invalEndChars="([{·‘“〈《「『【〔〖（．［｛￡￥"/>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43" autoAdjust="0"/>
    <p:restoredTop sz="94660" autoAdjust="0"/>
  </p:normalViewPr>
  <p:slideViewPr>
    <p:cSldViewPr snapToGrid="0">
      <p:cViewPr varScale="1">
        <p:scale>
          <a:sx n="81" d="100"/>
          <a:sy n="81" d="100"/>
        </p:scale>
        <p:origin x="145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a:t>
            </a:fld>
            <a:endParaRPr lang="zh-CN" altLang="en-US" sz="1200">
              <a:latin typeface="Calibri" charset="0"/>
              <a:ea typeface="宋体" charset="0"/>
              <a:cs typeface="Calibri" charset="0"/>
            </a:endParaRPr>
          </a:p>
        </p:txBody>
      </p:sp>
      <p:sp>
        <p:nvSpPr>
          <p:cNvPr id="5" name="文本框"/>
          <p:cNvSpPr>
            <a:spLocks noGrp="1"/>
          </p:cNvSpPr>
          <p:nvPr>
            <p:ph type="hdr"/>
          </p:nvPr>
        </p:nvSpPr>
        <p:spPr>
          <a:xfrm>
            <a:off x="0" y="0"/>
            <a:ext cx="2971799" cy="458787"/>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pPr algn="l"/>
            <a:endParaRPr lang="zh-CN" altLang="en-US" sz="1200">
              <a:latin typeface="Calibri" charset="0"/>
              <a:ea typeface="宋体" charset="0"/>
              <a:cs typeface="Calibri" charset="0"/>
            </a:endParaRPr>
          </a:p>
        </p:txBody>
      </p:sp>
      <p:sp>
        <p:nvSpPr>
          <p:cNvPr id="6" name="文本框"/>
          <p:cNvSpPr>
            <a:spLocks noGrp="1"/>
          </p:cNvSpPr>
          <p:nvPr>
            <p:ph type="dt" idx="1"/>
          </p:nvPr>
        </p:nvSpPr>
        <p:spPr>
          <a:xfrm>
            <a:off x="3884613" y="0"/>
            <a:ext cx="2971800" cy="458787"/>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pPr algn="r"/>
            <a:fld id="{CAD2D6BD-DE1B-4B5F-8B41-2702339687B9}" type="datetime1">
              <a:rPr lang="zh-CN" altLang="en-US" sz="1200">
                <a:latin typeface="Calibri" charset="0"/>
                <a:ea typeface="宋体" charset="0"/>
                <a:cs typeface="Calibri" charset="0"/>
              </a:rPr>
              <a:t>2025/2/28</a:t>
            </a:fld>
            <a:endParaRPr lang="zh-CN" altLang="en-US" sz="1200">
              <a:latin typeface="Calibri" charset="0"/>
              <a:ea typeface="宋体" charset="0"/>
              <a:cs typeface="Calibri" charset="0"/>
            </a:endParaRPr>
          </a:p>
        </p:txBody>
      </p:sp>
      <p:sp>
        <p:nvSpPr>
          <p:cNvPr id="7" name="对象"/>
          <p:cNvSpPr>
            <a:spLocks noGrp="1" noRot="1" noChangeAspect="1"/>
          </p:cNvSpPr>
          <p:nvPr>
            <p:ph type="sldImg" idx="2"/>
          </p:nvPr>
        </p:nvSpPr>
        <p:spPr>
          <a:xfrm>
            <a:off x="1371600" y="1143000"/>
            <a:ext cx="4114800" cy="3086100"/>
          </a:xfrm>
          <a:prstGeom prst="rect">
            <a:avLst/>
          </a:prstGeom>
          <a:noFill/>
          <a:ln w="12700" cap="flat" cmpd="sng">
            <a:solidFill>
              <a:srgbClr val="000000"/>
            </a:solidFill>
            <a:prstDash val="solid"/>
            <a:round/>
          </a:ln>
        </p:spPr>
      </p:sp>
      <p:sp>
        <p:nvSpPr>
          <p:cNvPr id="8" name="文本框"/>
          <p:cNvSpPr>
            <a:spLocks noGrp="1"/>
          </p:cNvSpPr>
          <p:nvPr>
            <p:ph type="body" idx="3"/>
          </p:nvPr>
        </p:nvSpPr>
        <p:spPr>
          <a:xfrm>
            <a:off x="685800" y="4400550"/>
            <a:ext cx="5486400" cy="360045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p>
        </p:txBody>
      </p:sp>
      <p:sp>
        <p:nvSpPr>
          <p:cNvPr id="9" name="文本框"/>
          <p:cNvSpPr>
            <a:spLocks noGrp="1"/>
          </p:cNvSpPr>
          <p:nvPr>
            <p:ph type="ftr" idx="4"/>
          </p:nvPr>
        </p:nvSpPr>
        <p:spPr>
          <a:xfrm>
            <a:off x="0" y="8685213"/>
            <a:ext cx="2971799"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l"/>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1609502641"/>
      </p:ext>
    </p:extLst>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buNone/>
      <a:defRPr sz="1200" kern="1200">
        <a:solidFill>
          <a:schemeClr val="tx1"/>
        </a:solidFill>
        <a:latin typeface="Calibri" charset="0"/>
        <a:ea typeface="宋体" charset="0"/>
        <a:cs typeface="Calibri" charset="0"/>
      </a:defRPr>
    </a:lvl1pPr>
    <a:lvl2pPr marL="457200" indent="0" algn="l" defTabSz="914400" eaLnBrk="1" fontAlgn="auto" latinLnBrk="0" hangingPunct="1">
      <a:buNone/>
      <a:defRPr sz="1200" kern="1200">
        <a:solidFill>
          <a:schemeClr val="tx1"/>
        </a:solidFill>
        <a:latin typeface="Calibri" charset="0"/>
        <a:ea typeface="宋体" charset="0"/>
        <a:cs typeface="Calibri" charset="0"/>
      </a:defRPr>
    </a:lvl2pPr>
    <a:lvl3pPr marL="914400" indent="0" algn="l" defTabSz="914400" eaLnBrk="1" fontAlgn="auto" latinLnBrk="0" hangingPunct="1">
      <a:buNone/>
      <a:defRPr sz="1200" kern="1200">
        <a:solidFill>
          <a:schemeClr val="tx1"/>
        </a:solidFill>
        <a:latin typeface="Calibri" charset="0"/>
        <a:ea typeface="宋体" charset="0"/>
        <a:cs typeface="Calibri" charset="0"/>
      </a:defRPr>
    </a:lvl3pPr>
    <a:lvl4pPr marL="1371600" indent="0" algn="l" defTabSz="914400" eaLnBrk="1" fontAlgn="auto" latinLnBrk="0" hangingPunct="1">
      <a:buNone/>
      <a:defRPr sz="1200" kern="1200">
        <a:solidFill>
          <a:schemeClr val="tx1"/>
        </a:solidFill>
        <a:latin typeface="Calibri" charset="0"/>
        <a:ea typeface="宋体" charset="0"/>
        <a:cs typeface="Calibri" charset="0"/>
      </a:defRPr>
    </a:lvl4pPr>
    <a:lvl5pPr marL="1828800" indent="0" algn="l" defTabSz="914400" eaLnBrk="1" fontAlgn="auto" latinLnBrk="0" hangingPunct="1">
      <a:buNone/>
      <a:defRPr sz="1200" kern="1200">
        <a:solidFill>
          <a:schemeClr val="tx1"/>
        </a:solidFill>
        <a:latin typeface="Calibri" charset="0"/>
        <a:ea typeface="宋体" charset="0"/>
        <a:cs typeface="Calibri" charset="0"/>
      </a:defRPr>
    </a:lvl5pPr>
    <a:lvl6pPr marL="2286000" indent="0" algn="l" defTabSz="914400" eaLnBrk="1" fontAlgn="auto" latinLnBrk="0" hangingPunct="1">
      <a:buNone/>
      <a:defRPr sz="1200" kern="1200">
        <a:solidFill>
          <a:schemeClr val="tx1"/>
        </a:solidFill>
        <a:latin typeface="Calibri" charset="0"/>
        <a:ea typeface="宋体" charset="0"/>
        <a:cs typeface="Calibri" charset="0"/>
      </a:defRPr>
    </a:lvl6pPr>
    <a:lvl7pPr marL="2743200" indent="0" algn="l" defTabSz="914400" eaLnBrk="1" fontAlgn="auto" latinLnBrk="0" hangingPunct="1">
      <a:buNone/>
      <a:defRPr sz="1200" kern="1200">
        <a:solidFill>
          <a:schemeClr val="tx1"/>
        </a:solidFill>
        <a:latin typeface="Calibri" charset="0"/>
        <a:ea typeface="宋体" charset="0"/>
        <a:cs typeface="Calibri" charset="0"/>
      </a:defRPr>
    </a:lvl7pPr>
    <a:lvl8pPr marL="3200400" indent="0" algn="l" defTabSz="914400" eaLnBrk="1" fontAlgn="auto" latinLnBrk="0" hangingPunct="1">
      <a:buNone/>
      <a:defRPr sz="1200" kern="1200">
        <a:solidFill>
          <a:schemeClr val="tx1"/>
        </a:solidFill>
        <a:latin typeface="Calibri" charset="0"/>
        <a:ea typeface="宋体" charset="0"/>
        <a:cs typeface="Calibri" charset="0"/>
      </a:defRPr>
    </a:lvl8pPr>
    <a:lvl9pPr marL="3200400" indent="0" algn="l" defTabSz="914400" eaLnBrk="1" fontAlgn="auto" latinLnBrk="0" hangingPunct="1">
      <a:buNone/>
      <a:defRPr sz="1200" kern="1200">
        <a:solidFill>
          <a:schemeClr val="tx1"/>
        </a:solidFill>
        <a:latin typeface="Calibri" charset="0"/>
        <a:ea typeface="宋体" charset="0"/>
        <a:cs typeface="Calibri"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1225466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1537451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1422621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4</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1630025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5</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778146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6</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872410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7</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1868442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8</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689452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9</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869771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10</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19628520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11</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963109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12</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499707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13</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1196450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14</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1587331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15</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3371856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16</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1270089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17</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5295218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18</a:t>
            </a:fld>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3263479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19</a:t>
            </a:fld>
            <a:endParaRPr lang="zh-CN" altLang="en-US" sz="1200">
              <a:latin typeface="Calibri" charset="0"/>
              <a:ea typeface="宋体" charset="0"/>
              <a:cs typeface="Calibri" charset="0"/>
            </a:endParaRPr>
          </a:p>
        </p:txBody>
      </p:sp>
      <p:sp>
        <p:nvSpPr>
          <p:cNvPr id="303"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304"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7077608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20</a:t>
            </a:fld>
            <a:endParaRPr lang="zh-CN" altLang="en-US" sz="1200">
              <a:latin typeface="Calibri" charset="0"/>
              <a:ea typeface="宋体" charset="0"/>
              <a:cs typeface="Calibri" charset="0"/>
            </a:endParaRPr>
          </a:p>
        </p:txBody>
      </p:sp>
      <p:sp>
        <p:nvSpPr>
          <p:cNvPr id="310"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311"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2918758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21</a:t>
            </a:fld>
            <a:endParaRPr lang="zh-CN" altLang="en-US" sz="1200">
              <a:latin typeface="Calibri" charset="0"/>
              <a:ea typeface="宋体" charset="0"/>
              <a:cs typeface="Calibri" charset="0"/>
            </a:endParaRPr>
          </a:p>
        </p:txBody>
      </p:sp>
      <p:sp>
        <p:nvSpPr>
          <p:cNvPr id="318"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319"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21141884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22</a:t>
            </a:fld>
            <a:endParaRPr lang="zh-CN" altLang="en-US" sz="1200">
              <a:latin typeface="Calibri" charset="0"/>
              <a:ea typeface="宋体" charset="0"/>
              <a:cs typeface="Calibri" charset="0"/>
            </a:endParaRPr>
          </a:p>
        </p:txBody>
      </p:sp>
      <p:sp>
        <p:nvSpPr>
          <p:cNvPr id="336"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337"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2738090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23</a:t>
            </a:fld>
            <a:endParaRPr lang="zh-CN" altLang="en-US" sz="1200">
              <a:latin typeface="Calibri" charset="0"/>
              <a:ea typeface="宋体" charset="0"/>
              <a:cs typeface="Calibri" charset="0"/>
            </a:endParaRPr>
          </a:p>
        </p:txBody>
      </p:sp>
      <p:sp>
        <p:nvSpPr>
          <p:cNvPr id="343"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344"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8045700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24</a:t>
            </a:fld>
            <a:endParaRPr lang="zh-CN" altLang="en-US" sz="1200">
              <a:latin typeface="Calibri" charset="0"/>
              <a:ea typeface="宋体" charset="0"/>
              <a:cs typeface="Calibri" charset="0"/>
            </a:endParaRPr>
          </a:p>
        </p:txBody>
      </p:sp>
      <p:sp>
        <p:nvSpPr>
          <p:cNvPr id="350"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351"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2085622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25</a:t>
            </a:fld>
            <a:endParaRPr lang="zh-CN" altLang="en-US" sz="1200">
              <a:latin typeface="Calibri" charset="0"/>
              <a:ea typeface="宋体" charset="0"/>
              <a:cs typeface="Calibri" charset="0"/>
            </a:endParaRPr>
          </a:p>
        </p:txBody>
      </p:sp>
      <p:sp>
        <p:nvSpPr>
          <p:cNvPr id="357"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358"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4860242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26</a:t>
            </a:fld>
            <a:endParaRPr lang="zh-CN" altLang="en-US" sz="1200">
              <a:latin typeface="Calibri" charset="0"/>
              <a:ea typeface="宋体" charset="0"/>
              <a:cs typeface="Calibri" charset="0"/>
            </a:endParaRPr>
          </a:p>
        </p:txBody>
      </p:sp>
      <p:sp>
        <p:nvSpPr>
          <p:cNvPr id="364"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365"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3481255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27</a:t>
            </a:fld>
            <a:endParaRPr lang="zh-CN" altLang="en-US" sz="1200">
              <a:latin typeface="Calibri" charset="0"/>
              <a:ea typeface="宋体" charset="0"/>
              <a:cs typeface="Calibri" charset="0"/>
            </a:endParaRPr>
          </a:p>
        </p:txBody>
      </p:sp>
      <p:sp>
        <p:nvSpPr>
          <p:cNvPr id="371"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372"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4624704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28</a:t>
            </a:fld>
            <a:endParaRPr lang="zh-CN" altLang="en-US" sz="1200">
              <a:latin typeface="Calibri" charset="0"/>
              <a:ea typeface="宋体" charset="0"/>
              <a:cs typeface="Calibri" charset="0"/>
            </a:endParaRPr>
          </a:p>
        </p:txBody>
      </p:sp>
      <p:sp>
        <p:nvSpPr>
          <p:cNvPr id="378"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379"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6535132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29</a:t>
            </a:fld>
            <a:endParaRPr lang="zh-CN" altLang="en-US" sz="1200">
              <a:latin typeface="Calibri" charset="0"/>
              <a:ea typeface="宋体" charset="0"/>
              <a:cs typeface="Calibri" charset="0"/>
            </a:endParaRPr>
          </a:p>
        </p:txBody>
      </p:sp>
      <p:sp>
        <p:nvSpPr>
          <p:cNvPr id="385"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386"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1811921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30</a:t>
            </a:fld>
            <a:endParaRPr lang="zh-CN" altLang="en-US" sz="1200">
              <a:latin typeface="Calibri" charset="0"/>
              <a:ea typeface="宋体" charset="0"/>
              <a:cs typeface="Calibri" charset="0"/>
            </a:endParaRPr>
          </a:p>
        </p:txBody>
      </p:sp>
      <p:sp>
        <p:nvSpPr>
          <p:cNvPr id="392"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393"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7475954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31</a:t>
            </a:fld>
            <a:endParaRPr lang="zh-CN" altLang="en-US" sz="1200">
              <a:latin typeface="Calibri" charset="0"/>
              <a:ea typeface="宋体" charset="0"/>
              <a:cs typeface="Calibri" charset="0"/>
            </a:endParaRPr>
          </a:p>
        </p:txBody>
      </p:sp>
      <p:sp>
        <p:nvSpPr>
          <p:cNvPr id="399"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400"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406136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32</a:t>
            </a:fld>
            <a:endParaRPr lang="zh-CN" altLang="en-US" sz="1200">
              <a:latin typeface="Calibri" charset="0"/>
              <a:ea typeface="宋体" charset="0"/>
              <a:cs typeface="Calibri" charset="0"/>
            </a:endParaRPr>
          </a:p>
        </p:txBody>
      </p:sp>
      <p:sp>
        <p:nvSpPr>
          <p:cNvPr id="406"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407"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4403240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33</a:t>
            </a:fld>
            <a:endParaRPr lang="zh-CN" altLang="en-US" sz="1200">
              <a:latin typeface="Calibri" charset="0"/>
              <a:ea typeface="宋体" charset="0"/>
              <a:cs typeface="Calibri" charset="0"/>
            </a:endParaRPr>
          </a:p>
        </p:txBody>
      </p:sp>
      <p:sp>
        <p:nvSpPr>
          <p:cNvPr id="413"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414"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4650843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34</a:t>
            </a:fld>
            <a:endParaRPr lang="zh-CN" altLang="en-US" sz="1200">
              <a:latin typeface="Calibri" charset="0"/>
              <a:ea typeface="宋体" charset="0"/>
              <a:cs typeface="Calibri" charset="0"/>
            </a:endParaRPr>
          </a:p>
        </p:txBody>
      </p:sp>
      <p:sp>
        <p:nvSpPr>
          <p:cNvPr id="431"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432"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6794678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35</a:t>
            </a:fld>
            <a:endParaRPr lang="zh-CN" altLang="en-US" sz="1200">
              <a:latin typeface="Calibri" charset="0"/>
              <a:ea typeface="宋体" charset="0"/>
              <a:cs typeface="Calibri" charset="0"/>
            </a:endParaRPr>
          </a:p>
        </p:txBody>
      </p:sp>
      <p:sp>
        <p:nvSpPr>
          <p:cNvPr id="438"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439"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20769146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36</a:t>
            </a:fld>
            <a:endParaRPr lang="zh-CN" altLang="en-US" sz="1200">
              <a:latin typeface="Calibri" charset="0"/>
              <a:ea typeface="宋体" charset="0"/>
              <a:cs typeface="Calibri" charset="0"/>
            </a:endParaRPr>
          </a:p>
        </p:txBody>
      </p:sp>
      <p:sp>
        <p:nvSpPr>
          <p:cNvPr id="445"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446"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2803041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37</a:t>
            </a:fld>
            <a:endParaRPr lang="zh-CN" altLang="en-US" sz="1200">
              <a:latin typeface="Calibri" charset="0"/>
              <a:ea typeface="宋体" charset="0"/>
              <a:cs typeface="Calibri" charset="0"/>
            </a:endParaRPr>
          </a:p>
        </p:txBody>
      </p:sp>
      <p:sp>
        <p:nvSpPr>
          <p:cNvPr id="452"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453"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4509185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38</a:t>
            </a:fld>
            <a:endParaRPr lang="zh-CN" altLang="en-US" sz="1200">
              <a:latin typeface="Calibri" charset="0"/>
              <a:ea typeface="宋体" charset="0"/>
              <a:cs typeface="Calibri" charset="0"/>
            </a:endParaRPr>
          </a:p>
        </p:txBody>
      </p:sp>
      <p:sp>
        <p:nvSpPr>
          <p:cNvPr id="459"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460"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9839538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39</a:t>
            </a:fld>
            <a:endParaRPr lang="zh-CN" altLang="en-US" sz="1200">
              <a:latin typeface="Calibri" charset="0"/>
              <a:ea typeface="宋体" charset="0"/>
              <a:cs typeface="Calibri" charset="0"/>
            </a:endParaRPr>
          </a:p>
        </p:txBody>
      </p:sp>
      <p:sp>
        <p:nvSpPr>
          <p:cNvPr id="477"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478"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777946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40</a:t>
            </a:fld>
            <a:endParaRPr lang="zh-CN" altLang="en-US" sz="1200">
              <a:latin typeface="Calibri" charset="0"/>
              <a:ea typeface="宋体" charset="0"/>
              <a:cs typeface="Calibri" charset="0"/>
            </a:endParaRPr>
          </a:p>
        </p:txBody>
      </p:sp>
      <p:sp>
        <p:nvSpPr>
          <p:cNvPr id="484"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485"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5293317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文本框"/>
          <p:cNvSpPr>
            <a:spLocks noGrp="1"/>
          </p:cNvSpPr>
          <p:nvPr>
            <p:ph type="sldNum" idx="5"/>
          </p:nvPr>
        </p:nvSpPr>
        <p:spPr>
          <a:xfrm>
            <a:off x="3884613" y="8685213"/>
            <a:ext cx="2971800" cy="458787"/>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41</a:t>
            </a:fld>
            <a:endParaRPr lang="zh-CN" altLang="en-US" sz="1200">
              <a:latin typeface="Calibri" charset="0"/>
              <a:ea typeface="宋体" charset="0"/>
              <a:cs typeface="Calibri" charset="0"/>
            </a:endParaRPr>
          </a:p>
        </p:txBody>
      </p:sp>
      <p:sp>
        <p:nvSpPr>
          <p:cNvPr id="491" name="对象"/>
          <p:cNvSpPr>
            <a:spLocks noGrp="1" noRot="1" noChangeAspect="1"/>
          </p:cNvSpPr>
          <p:nvPr>
            <p:ph type="sldImg"/>
          </p:nvPr>
        </p:nvSpPr>
        <p:spPr>
          <a:xfrm>
            <a:off x="1143000" y="685800"/>
            <a:ext cx="4572000" cy="3429000"/>
          </a:xfrm>
          <a:prstGeom prst="rect">
            <a:avLst/>
          </a:prstGeom>
          <a:noFill/>
          <a:ln w="9525" cap="flat" cmpd="sng">
            <a:noFill/>
            <a:prstDash val="solid"/>
            <a:miter/>
          </a:ln>
        </p:spPr>
      </p:sp>
      <p:sp>
        <p:nvSpPr>
          <p:cNvPr id="492"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90848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Tree>
    <p:extLst>
      <p:ext uri="{BB962C8B-B14F-4D97-AF65-F5344CB8AC3E}">
        <p14:creationId xmlns:p14="http://schemas.microsoft.com/office/powerpoint/2010/main" val="254992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2025/2/28</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3747967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456390"/>
      </p:ext>
    </p:extLst>
  </p:cSld>
  <p:clrMap bg1="lt1" tx1="dk1" bg2="lt2" tx2="dk2" accent1="accent1" accent2="accent2" accent3="accent3" accent4="accent4" accent5="accent5" accent6="accent6" hlink="hlink" folHlink="folHlink"/>
  <p:sldLayoutIdLst>
    <p:sldLayoutId id="2147483685" r:id="rId1"/>
    <p:sldLayoutId id="2147483686" r:id="rId2"/>
  </p:sldLayoutIdLst>
  <p:hf sldNum="0" hdr="0" ftr="0" dt="0"/>
  <p:txStyles>
    <p:titleStyle>
      <a:lvl1pPr algn="l" rtl="0" eaLnBrk="1" fontAlgn="base" hangingPunct="1">
        <a:lnSpc>
          <a:spcPct val="90000"/>
        </a:lnSpc>
        <a:spcBef>
          <a:spcPct val="0"/>
        </a:spcBef>
        <a:spcAft>
          <a:spcPct val="0"/>
        </a:spcAft>
        <a:defRPr sz="3300" kern="1200">
          <a:solidFill>
            <a:schemeClr val="tx1"/>
          </a:solidFill>
          <a:latin typeface="+mj-lt"/>
          <a:ea typeface="+mj-ea"/>
          <a:cs typeface="+mj-cs"/>
        </a:defRPr>
      </a:lvl1pPr>
      <a:lvl2pPr algn="l" rtl="0" eaLnBrk="1" fontAlgn="base" hangingPunct="1">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rtl="0" eaLnBrk="1" fontAlgn="base" hangingPunct="1">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rtl="0" eaLnBrk="1" fontAlgn="base" hangingPunct="1">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rtl="0" eaLnBrk="1" fontAlgn="base" hangingPunct="1">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342900" algn="l" rtl="0" eaLnBrk="1" fontAlgn="base" hangingPunct="1">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685800" algn="l" rtl="0" eaLnBrk="1" fontAlgn="base" hangingPunct="1">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028700" algn="l" rtl="0" eaLnBrk="1" fontAlgn="base" hangingPunct="1">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371600" algn="l" rtl="0" eaLnBrk="1" fontAlgn="base" hangingPunct="1">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rtl="0"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rtl="0" eaLnBrk="1" fontAlgn="base" hangingPunct="1">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l" rtl="0"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rtl="0"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l" rtl="0"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3"/>
          <a:stretch/>
        </a:blipFill>
        <a:effectLst/>
      </p:bgPr>
    </p:bg>
    <p:spTree>
      <p:nvGrpSpPr>
        <p:cNvPr id="1" name=""/>
        <p:cNvGrpSpPr/>
        <p:nvPr/>
      </p:nvGrpSpPr>
      <p:grpSpPr>
        <a:xfrm>
          <a:off x="0" y="0"/>
          <a:ext cx="0" cy="0"/>
          <a:chOff x="0" y="0"/>
          <a:chExt cx="0" cy="0"/>
        </a:xfrm>
      </p:grpSpPr>
      <p:sp>
        <p:nvSpPr>
          <p:cNvPr id="12" name="曲线"/>
          <p:cNvSpPr>
            <a:spLocks/>
          </p:cNvSpPr>
          <p:nvPr/>
        </p:nvSpPr>
        <p:spPr>
          <a:xfrm>
            <a:off x="0" y="1054640"/>
            <a:ext cx="9144000" cy="1765437"/>
          </a:xfrm>
          <a:custGeom>
            <a:avLst/>
            <a:gdLst>
              <a:gd name="T1" fmla="*/ 0 w 21600"/>
              <a:gd name="T2" fmla="*/ 0 h 21600"/>
              <a:gd name="T3" fmla="*/ 21600 w 21600"/>
              <a:gd name="T4" fmla="*/ 21600 h 21600"/>
            </a:gdLst>
            <a:ahLst/>
            <a:cxnLst/>
            <a:rect l="T1" t="T2" r="T3" b="T4"/>
            <a:pathLst>
              <a:path w="21600" h="21600">
                <a:moveTo>
                  <a:pt x="21540" y="20619"/>
                </a:moveTo>
                <a:cubicBezTo>
                  <a:pt x="21540" y="20479"/>
                  <a:pt x="21540" y="20479"/>
                  <a:pt x="21540" y="20479"/>
                </a:cubicBezTo>
                <a:cubicBezTo>
                  <a:pt x="21508" y="20479"/>
                  <a:pt x="21508" y="20479"/>
                  <a:pt x="21508" y="20479"/>
                </a:cubicBezTo>
                <a:cubicBezTo>
                  <a:pt x="21508" y="20115"/>
                  <a:pt x="21508" y="20115"/>
                  <a:pt x="21508" y="20115"/>
                </a:cubicBezTo>
                <a:cubicBezTo>
                  <a:pt x="21478" y="20115"/>
                  <a:pt x="21478" y="20115"/>
                  <a:pt x="21478" y="20115"/>
                </a:cubicBezTo>
                <a:cubicBezTo>
                  <a:pt x="21478" y="19891"/>
                  <a:pt x="21478" y="19891"/>
                  <a:pt x="21478" y="19891"/>
                </a:cubicBezTo>
                <a:cubicBezTo>
                  <a:pt x="21440" y="19891"/>
                  <a:pt x="21440" y="19891"/>
                  <a:pt x="21440" y="19891"/>
                </a:cubicBezTo>
                <a:cubicBezTo>
                  <a:pt x="21440" y="20003"/>
                  <a:pt x="21440" y="20003"/>
                  <a:pt x="21440" y="20003"/>
                </a:cubicBezTo>
                <a:cubicBezTo>
                  <a:pt x="21419" y="20003"/>
                  <a:pt x="21419" y="20003"/>
                  <a:pt x="21419" y="20003"/>
                </a:cubicBezTo>
                <a:cubicBezTo>
                  <a:pt x="21419" y="19863"/>
                  <a:pt x="21419" y="19863"/>
                  <a:pt x="21419" y="19863"/>
                </a:cubicBezTo>
                <a:cubicBezTo>
                  <a:pt x="21373" y="19863"/>
                  <a:pt x="21373" y="19863"/>
                  <a:pt x="21373" y="19863"/>
                </a:cubicBezTo>
                <a:cubicBezTo>
                  <a:pt x="21373" y="20073"/>
                  <a:pt x="21373" y="20073"/>
                  <a:pt x="21373" y="20073"/>
                </a:cubicBezTo>
                <a:cubicBezTo>
                  <a:pt x="21316" y="20073"/>
                  <a:pt x="21316" y="20073"/>
                  <a:pt x="21316" y="20073"/>
                </a:cubicBezTo>
                <a:cubicBezTo>
                  <a:pt x="21316" y="18700"/>
                  <a:pt x="21316" y="18700"/>
                  <a:pt x="21316" y="18700"/>
                </a:cubicBezTo>
                <a:cubicBezTo>
                  <a:pt x="21273" y="18700"/>
                  <a:pt x="21273" y="18700"/>
                  <a:pt x="21273" y="18700"/>
                </a:cubicBezTo>
                <a:cubicBezTo>
                  <a:pt x="21208" y="18434"/>
                  <a:pt x="21208" y="18434"/>
                  <a:pt x="21208" y="18434"/>
                </a:cubicBezTo>
                <a:cubicBezTo>
                  <a:pt x="21208" y="18210"/>
                  <a:pt x="21208" y="18210"/>
                  <a:pt x="21208" y="18210"/>
                </a:cubicBezTo>
                <a:cubicBezTo>
                  <a:pt x="21176" y="18210"/>
                  <a:pt x="21176" y="18210"/>
                  <a:pt x="21176" y="18210"/>
                </a:cubicBezTo>
                <a:cubicBezTo>
                  <a:pt x="21176" y="18420"/>
                  <a:pt x="21176" y="18420"/>
                  <a:pt x="21176" y="18420"/>
                </a:cubicBezTo>
                <a:cubicBezTo>
                  <a:pt x="21146" y="18420"/>
                  <a:pt x="21146" y="18420"/>
                  <a:pt x="21146" y="18420"/>
                </a:cubicBezTo>
                <a:cubicBezTo>
                  <a:pt x="21146" y="18210"/>
                  <a:pt x="21146" y="18210"/>
                  <a:pt x="21146" y="18210"/>
                </a:cubicBezTo>
                <a:cubicBezTo>
                  <a:pt x="21116" y="18210"/>
                  <a:pt x="21116" y="18210"/>
                  <a:pt x="21116" y="18210"/>
                </a:cubicBezTo>
                <a:cubicBezTo>
                  <a:pt x="21116" y="18420"/>
                  <a:pt x="21116" y="18420"/>
                  <a:pt x="21116" y="18420"/>
                </a:cubicBezTo>
                <a:cubicBezTo>
                  <a:pt x="21076" y="18700"/>
                  <a:pt x="21076" y="18700"/>
                  <a:pt x="21076" y="18700"/>
                </a:cubicBezTo>
                <a:cubicBezTo>
                  <a:pt x="21030" y="18700"/>
                  <a:pt x="21030" y="18700"/>
                  <a:pt x="21030" y="18700"/>
                </a:cubicBezTo>
                <a:cubicBezTo>
                  <a:pt x="21030" y="20115"/>
                  <a:pt x="21030" y="20115"/>
                  <a:pt x="21030" y="20115"/>
                </a:cubicBezTo>
                <a:cubicBezTo>
                  <a:pt x="20922" y="20115"/>
                  <a:pt x="20922" y="20115"/>
                  <a:pt x="20922" y="20115"/>
                </a:cubicBezTo>
                <a:cubicBezTo>
                  <a:pt x="20922" y="18840"/>
                  <a:pt x="20922" y="18840"/>
                  <a:pt x="20922" y="18840"/>
                </a:cubicBezTo>
                <a:cubicBezTo>
                  <a:pt x="20892" y="18840"/>
                  <a:pt x="20892" y="18840"/>
                  <a:pt x="20892" y="18840"/>
                </a:cubicBezTo>
                <a:cubicBezTo>
                  <a:pt x="20892" y="18938"/>
                  <a:pt x="20892" y="18938"/>
                  <a:pt x="20892" y="18938"/>
                </a:cubicBezTo>
                <a:cubicBezTo>
                  <a:pt x="20854" y="18938"/>
                  <a:pt x="20854" y="18938"/>
                  <a:pt x="20854" y="18938"/>
                </a:cubicBezTo>
                <a:cubicBezTo>
                  <a:pt x="20854" y="18728"/>
                  <a:pt x="20854" y="18728"/>
                  <a:pt x="20854" y="18728"/>
                </a:cubicBezTo>
                <a:cubicBezTo>
                  <a:pt x="20825" y="18728"/>
                  <a:pt x="20825" y="18728"/>
                  <a:pt x="20825" y="18728"/>
                </a:cubicBezTo>
                <a:cubicBezTo>
                  <a:pt x="20825" y="18504"/>
                  <a:pt x="20825" y="18504"/>
                  <a:pt x="20825" y="18504"/>
                </a:cubicBezTo>
                <a:cubicBezTo>
                  <a:pt x="20781" y="18504"/>
                  <a:pt x="20781" y="18504"/>
                  <a:pt x="20781" y="18504"/>
                </a:cubicBezTo>
                <a:cubicBezTo>
                  <a:pt x="20781" y="18714"/>
                  <a:pt x="20781" y="18714"/>
                  <a:pt x="20781" y="18714"/>
                </a:cubicBezTo>
                <a:cubicBezTo>
                  <a:pt x="20754" y="18714"/>
                  <a:pt x="20754" y="18714"/>
                  <a:pt x="20754" y="18714"/>
                </a:cubicBezTo>
                <a:cubicBezTo>
                  <a:pt x="20754" y="18546"/>
                  <a:pt x="20754" y="18546"/>
                  <a:pt x="20754" y="18546"/>
                </a:cubicBezTo>
                <a:cubicBezTo>
                  <a:pt x="20717" y="18546"/>
                  <a:pt x="20717" y="18546"/>
                  <a:pt x="20717" y="18546"/>
                </a:cubicBezTo>
                <a:cubicBezTo>
                  <a:pt x="20717" y="18714"/>
                  <a:pt x="20717" y="18714"/>
                  <a:pt x="20717" y="18714"/>
                </a:cubicBezTo>
                <a:cubicBezTo>
                  <a:pt x="20679" y="18714"/>
                  <a:pt x="20679" y="18714"/>
                  <a:pt x="20679" y="18714"/>
                </a:cubicBezTo>
                <a:cubicBezTo>
                  <a:pt x="20679" y="18574"/>
                  <a:pt x="20679" y="18574"/>
                  <a:pt x="20679" y="18574"/>
                </a:cubicBezTo>
                <a:cubicBezTo>
                  <a:pt x="20641" y="18574"/>
                  <a:pt x="20641" y="18574"/>
                  <a:pt x="20641" y="18574"/>
                </a:cubicBezTo>
                <a:cubicBezTo>
                  <a:pt x="20641" y="18994"/>
                  <a:pt x="20641" y="18994"/>
                  <a:pt x="20641" y="18994"/>
                </a:cubicBezTo>
                <a:cubicBezTo>
                  <a:pt x="20563" y="18994"/>
                  <a:pt x="20563" y="18994"/>
                  <a:pt x="20563" y="18994"/>
                </a:cubicBezTo>
                <a:cubicBezTo>
                  <a:pt x="20563" y="20157"/>
                  <a:pt x="20563" y="20157"/>
                  <a:pt x="20563" y="20157"/>
                </a:cubicBezTo>
                <a:cubicBezTo>
                  <a:pt x="20468" y="20157"/>
                  <a:pt x="20468" y="20157"/>
                  <a:pt x="20468" y="20157"/>
                </a:cubicBezTo>
                <a:cubicBezTo>
                  <a:pt x="20468" y="18728"/>
                  <a:pt x="20468" y="18728"/>
                  <a:pt x="20468" y="18728"/>
                </a:cubicBezTo>
                <a:cubicBezTo>
                  <a:pt x="20403" y="18728"/>
                  <a:pt x="20403" y="18728"/>
                  <a:pt x="20403" y="18728"/>
                </a:cubicBezTo>
                <a:cubicBezTo>
                  <a:pt x="20352" y="18392"/>
                  <a:pt x="20352" y="18392"/>
                  <a:pt x="20352" y="18392"/>
                </a:cubicBezTo>
                <a:cubicBezTo>
                  <a:pt x="20241" y="18392"/>
                  <a:pt x="20241" y="18392"/>
                  <a:pt x="20241" y="18392"/>
                </a:cubicBezTo>
                <a:cubicBezTo>
                  <a:pt x="20241" y="19835"/>
                  <a:pt x="20241" y="19835"/>
                  <a:pt x="20241" y="19835"/>
                </a:cubicBezTo>
                <a:cubicBezTo>
                  <a:pt x="20204" y="19835"/>
                  <a:pt x="20204" y="19835"/>
                  <a:pt x="20204" y="19835"/>
                </a:cubicBezTo>
                <a:cubicBezTo>
                  <a:pt x="20204" y="18406"/>
                  <a:pt x="20204" y="18406"/>
                  <a:pt x="20204" y="18406"/>
                </a:cubicBezTo>
                <a:cubicBezTo>
                  <a:pt x="20155" y="17999"/>
                  <a:pt x="20155" y="17999"/>
                  <a:pt x="20155" y="17999"/>
                </a:cubicBezTo>
                <a:cubicBezTo>
                  <a:pt x="20120" y="17999"/>
                  <a:pt x="20120" y="17999"/>
                  <a:pt x="20120" y="17999"/>
                </a:cubicBezTo>
                <a:cubicBezTo>
                  <a:pt x="20120" y="18084"/>
                  <a:pt x="20120" y="18084"/>
                  <a:pt x="20120" y="18084"/>
                </a:cubicBezTo>
                <a:cubicBezTo>
                  <a:pt x="20090" y="18084"/>
                  <a:pt x="20090" y="18084"/>
                  <a:pt x="20090" y="18084"/>
                </a:cubicBezTo>
                <a:cubicBezTo>
                  <a:pt x="20090" y="18028"/>
                  <a:pt x="20090" y="18028"/>
                  <a:pt x="20090" y="18028"/>
                </a:cubicBezTo>
                <a:cubicBezTo>
                  <a:pt x="20061" y="18028"/>
                  <a:pt x="20061" y="18028"/>
                  <a:pt x="20061" y="18028"/>
                </a:cubicBezTo>
                <a:cubicBezTo>
                  <a:pt x="20061" y="18224"/>
                  <a:pt x="20061" y="18224"/>
                  <a:pt x="20061" y="18224"/>
                </a:cubicBezTo>
                <a:cubicBezTo>
                  <a:pt x="19934" y="18224"/>
                  <a:pt x="19934" y="18224"/>
                  <a:pt x="19934" y="18224"/>
                </a:cubicBezTo>
                <a:cubicBezTo>
                  <a:pt x="19934" y="18014"/>
                  <a:pt x="19934" y="18014"/>
                  <a:pt x="19934" y="18014"/>
                </a:cubicBezTo>
                <a:cubicBezTo>
                  <a:pt x="19899" y="17663"/>
                  <a:pt x="19899" y="17663"/>
                  <a:pt x="19899" y="17663"/>
                </a:cubicBezTo>
                <a:cubicBezTo>
                  <a:pt x="19780" y="17663"/>
                  <a:pt x="19780" y="17663"/>
                  <a:pt x="19780" y="17663"/>
                </a:cubicBezTo>
                <a:cubicBezTo>
                  <a:pt x="19780" y="18014"/>
                  <a:pt x="19780" y="18014"/>
                  <a:pt x="19780" y="18014"/>
                </a:cubicBezTo>
                <a:cubicBezTo>
                  <a:pt x="19701" y="18014"/>
                  <a:pt x="19701" y="18014"/>
                  <a:pt x="19701" y="18014"/>
                </a:cubicBezTo>
                <a:cubicBezTo>
                  <a:pt x="19701" y="18252"/>
                  <a:pt x="19701" y="18252"/>
                  <a:pt x="19701" y="18252"/>
                </a:cubicBezTo>
                <a:cubicBezTo>
                  <a:pt x="19688" y="18252"/>
                  <a:pt x="19688" y="18252"/>
                  <a:pt x="19688" y="18252"/>
                </a:cubicBezTo>
                <a:cubicBezTo>
                  <a:pt x="19688" y="19022"/>
                  <a:pt x="19688" y="19022"/>
                  <a:pt x="19688" y="19022"/>
                </a:cubicBezTo>
                <a:cubicBezTo>
                  <a:pt x="19658" y="19022"/>
                  <a:pt x="19658" y="19022"/>
                  <a:pt x="19658" y="19022"/>
                </a:cubicBezTo>
                <a:cubicBezTo>
                  <a:pt x="19658" y="18238"/>
                  <a:pt x="19658" y="18238"/>
                  <a:pt x="19658" y="18238"/>
                </a:cubicBezTo>
                <a:cubicBezTo>
                  <a:pt x="19637" y="18238"/>
                  <a:pt x="19637" y="18238"/>
                  <a:pt x="19637" y="18238"/>
                </a:cubicBezTo>
                <a:cubicBezTo>
                  <a:pt x="19637" y="17915"/>
                  <a:pt x="19637" y="17915"/>
                  <a:pt x="19637" y="17915"/>
                </a:cubicBezTo>
                <a:cubicBezTo>
                  <a:pt x="19467" y="17915"/>
                  <a:pt x="19467" y="17915"/>
                  <a:pt x="19467" y="17915"/>
                </a:cubicBezTo>
                <a:cubicBezTo>
                  <a:pt x="19467" y="18252"/>
                  <a:pt x="19467" y="18252"/>
                  <a:pt x="19467" y="18252"/>
                </a:cubicBezTo>
                <a:cubicBezTo>
                  <a:pt x="19383" y="18252"/>
                  <a:pt x="19383" y="18252"/>
                  <a:pt x="19383" y="18252"/>
                </a:cubicBezTo>
                <a:cubicBezTo>
                  <a:pt x="19383" y="18532"/>
                  <a:pt x="19383" y="18532"/>
                  <a:pt x="19383" y="18532"/>
                </a:cubicBezTo>
                <a:cubicBezTo>
                  <a:pt x="19359" y="18532"/>
                  <a:pt x="19359" y="18532"/>
                  <a:pt x="19359" y="18532"/>
                </a:cubicBezTo>
                <a:cubicBezTo>
                  <a:pt x="19359" y="18938"/>
                  <a:pt x="19359" y="18938"/>
                  <a:pt x="19359" y="18938"/>
                </a:cubicBezTo>
                <a:cubicBezTo>
                  <a:pt x="19143" y="18938"/>
                  <a:pt x="19143" y="18938"/>
                  <a:pt x="19143" y="18938"/>
                </a:cubicBezTo>
                <a:cubicBezTo>
                  <a:pt x="19143" y="19078"/>
                  <a:pt x="19143" y="19078"/>
                  <a:pt x="19143" y="19078"/>
                </a:cubicBezTo>
                <a:cubicBezTo>
                  <a:pt x="19086" y="19078"/>
                  <a:pt x="19086" y="19078"/>
                  <a:pt x="19086" y="19078"/>
                </a:cubicBezTo>
                <a:cubicBezTo>
                  <a:pt x="19086" y="18322"/>
                  <a:pt x="19086" y="18322"/>
                  <a:pt x="19086" y="18322"/>
                </a:cubicBezTo>
                <a:cubicBezTo>
                  <a:pt x="18997" y="18322"/>
                  <a:pt x="18997" y="18322"/>
                  <a:pt x="18997" y="18322"/>
                </a:cubicBezTo>
                <a:cubicBezTo>
                  <a:pt x="18997" y="18084"/>
                  <a:pt x="18997" y="18084"/>
                  <a:pt x="18997" y="18084"/>
                </a:cubicBezTo>
                <a:cubicBezTo>
                  <a:pt x="18927" y="18084"/>
                  <a:pt x="18927" y="18084"/>
                  <a:pt x="18927" y="18084"/>
                </a:cubicBezTo>
                <a:cubicBezTo>
                  <a:pt x="18927" y="18280"/>
                  <a:pt x="18927" y="18280"/>
                  <a:pt x="18927" y="18280"/>
                </a:cubicBezTo>
                <a:cubicBezTo>
                  <a:pt x="18881" y="18280"/>
                  <a:pt x="18881" y="18280"/>
                  <a:pt x="18881" y="18280"/>
                </a:cubicBezTo>
                <a:cubicBezTo>
                  <a:pt x="18881" y="19610"/>
                  <a:pt x="18881" y="19610"/>
                  <a:pt x="18881" y="19610"/>
                </a:cubicBezTo>
                <a:cubicBezTo>
                  <a:pt x="18824" y="19610"/>
                  <a:pt x="18824" y="19610"/>
                  <a:pt x="18824" y="19610"/>
                </a:cubicBezTo>
                <a:cubicBezTo>
                  <a:pt x="18824" y="19484"/>
                  <a:pt x="18824" y="19484"/>
                  <a:pt x="18824" y="19484"/>
                </a:cubicBezTo>
                <a:cubicBezTo>
                  <a:pt x="18770" y="19484"/>
                  <a:pt x="18770" y="19484"/>
                  <a:pt x="18770" y="19484"/>
                </a:cubicBezTo>
                <a:cubicBezTo>
                  <a:pt x="18770" y="19680"/>
                  <a:pt x="18770" y="19680"/>
                  <a:pt x="18770" y="19680"/>
                </a:cubicBezTo>
                <a:cubicBezTo>
                  <a:pt x="18727" y="19680"/>
                  <a:pt x="18727" y="19680"/>
                  <a:pt x="18727" y="19680"/>
                </a:cubicBezTo>
                <a:cubicBezTo>
                  <a:pt x="18727" y="19260"/>
                  <a:pt x="18727" y="19260"/>
                  <a:pt x="18727" y="19260"/>
                </a:cubicBezTo>
                <a:cubicBezTo>
                  <a:pt x="18689" y="19260"/>
                  <a:pt x="18689" y="19260"/>
                  <a:pt x="18689" y="19260"/>
                </a:cubicBezTo>
                <a:cubicBezTo>
                  <a:pt x="18689" y="19008"/>
                  <a:pt x="18689" y="19008"/>
                  <a:pt x="18689" y="19008"/>
                </a:cubicBezTo>
                <a:cubicBezTo>
                  <a:pt x="18646" y="19008"/>
                  <a:pt x="18646" y="19008"/>
                  <a:pt x="18646" y="19008"/>
                </a:cubicBezTo>
                <a:cubicBezTo>
                  <a:pt x="18592" y="19008"/>
                  <a:pt x="18592" y="19008"/>
                  <a:pt x="18592" y="19008"/>
                </a:cubicBezTo>
                <a:cubicBezTo>
                  <a:pt x="18592" y="18882"/>
                  <a:pt x="18592" y="18882"/>
                  <a:pt x="18592" y="18882"/>
                </a:cubicBezTo>
                <a:cubicBezTo>
                  <a:pt x="18500" y="18882"/>
                  <a:pt x="18500" y="18882"/>
                  <a:pt x="18500" y="18882"/>
                </a:cubicBezTo>
                <a:cubicBezTo>
                  <a:pt x="18500" y="18686"/>
                  <a:pt x="18500" y="18686"/>
                  <a:pt x="18500" y="18686"/>
                </a:cubicBezTo>
                <a:cubicBezTo>
                  <a:pt x="18465" y="18686"/>
                  <a:pt x="18465" y="18686"/>
                  <a:pt x="18465" y="18686"/>
                </a:cubicBezTo>
                <a:cubicBezTo>
                  <a:pt x="18465" y="18826"/>
                  <a:pt x="18465" y="18826"/>
                  <a:pt x="18465" y="18826"/>
                </a:cubicBezTo>
                <a:cubicBezTo>
                  <a:pt x="18322" y="18826"/>
                  <a:pt x="18322" y="18826"/>
                  <a:pt x="18322" y="18826"/>
                </a:cubicBezTo>
                <a:cubicBezTo>
                  <a:pt x="18322" y="18980"/>
                  <a:pt x="18322" y="18980"/>
                  <a:pt x="18322" y="18980"/>
                </a:cubicBezTo>
                <a:cubicBezTo>
                  <a:pt x="18295" y="18980"/>
                  <a:pt x="18295" y="18980"/>
                  <a:pt x="18295" y="18980"/>
                </a:cubicBezTo>
                <a:cubicBezTo>
                  <a:pt x="18295" y="19190"/>
                  <a:pt x="18295" y="19190"/>
                  <a:pt x="18295" y="19190"/>
                </a:cubicBezTo>
                <a:cubicBezTo>
                  <a:pt x="18268" y="19330"/>
                  <a:pt x="18268" y="19330"/>
                  <a:pt x="18268" y="19330"/>
                </a:cubicBezTo>
                <a:cubicBezTo>
                  <a:pt x="18268" y="19764"/>
                  <a:pt x="18268" y="19764"/>
                  <a:pt x="18268" y="19764"/>
                </a:cubicBezTo>
                <a:cubicBezTo>
                  <a:pt x="18238" y="19764"/>
                  <a:pt x="18238" y="19764"/>
                  <a:pt x="18238" y="19764"/>
                </a:cubicBezTo>
                <a:cubicBezTo>
                  <a:pt x="18238" y="19344"/>
                  <a:pt x="18238" y="19344"/>
                  <a:pt x="18238" y="19344"/>
                </a:cubicBezTo>
                <a:cubicBezTo>
                  <a:pt x="18208" y="19148"/>
                  <a:pt x="18208" y="19148"/>
                  <a:pt x="18208" y="19148"/>
                </a:cubicBezTo>
                <a:cubicBezTo>
                  <a:pt x="18208" y="18084"/>
                  <a:pt x="18208" y="18084"/>
                  <a:pt x="18208" y="18084"/>
                </a:cubicBezTo>
                <a:cubicBezTo>
                  <a:pt x="18162" y="18084"/>
                  <a:pt x="18162" y="18084"/>
                  <a:pt x="18162" y="18084"/>
                </a:cubicBezTo>
                <a:cubicBezTo>
                  <a:pt x="18162" y="17047"/>
                  <a:pt x="18162" y="17047"/>
                  <a:pt x="18162" y="17047"/>
                </a:cubicBezTo>
                <a:cubicBezTo>
                  <a:pt x="18009" y="17047"/>
                  <a:pt x="18009" y="17047"/>
                  <a:pt x="18009" y="17047"/>
                </a:cubicBezTo>
                <a:cubicBezTo>
                  <a:pt x="18009" y="16725"/>
                  <a:pt x="18009" y="16725"/>
                  <a:pt x="18009" y="16725"/>
                </a:cubicBezTo>
                <a:cubicBezTo>
                  <a:pt x="17928" y="16725"/>
                  <a:pt x="17928" y="16725"/>
                  <a:pt x="17928" y="16725"/>
                </a:cubicBezTo>
                <a:cubicBezTo>
                  <a:pt x="17928" y="17453"/>
                  <a:pt x="17928" y="17453"/>
                  <a:pt x="17928" y="17453"/>
                </a:cubicBezTo>
                <a:cubicBezTo>
                  <a:pt x="17887" y="17453"/>
                  <a:pt x="17887" y="17453"/>
                  <a:pt x="17887" y="17453"/>
                </a:cubicBezTo>
                <a:cubicBezTo>
                  <a:pt x="17887" y="17215"/>
                  <a:pt x="17887" y="17215"/>
                  <a:pt x="17887" y="17215"/>
                </a:cubicBezTo>
                <a:cubicBezTo>
                  <a:pt x="17887" y="17215"/>
                  <a:pt x="17857" y="17215"/>
                  <a:pt x="17844" y="17215"/>
                </a:cubicBezTo>
                <a:cubicBezTo>
                  <a:pt x="17830" y="17215"/>
                  <a:pt x="17830" y="17453"/>
                  <a:pt x="17830" y="17453"/>
                </a:cubicBezTo>
                <a:cubicBezTo>
                  <a:pt x="17830" y="18112"/>
                  <a:pt x="17830" y="18112"/>
                  <a:pt x="17830" y="18112"/>
                </a:cubicBezTo>
                <a:cubicBezTo>
                  <a:pt x="17717" y="18112"/>
                  <a:pt x="17717" y="18112"/>
                  <a:pt x="17717" y="18112"/>
                </a:cubicBezTo>
                <a:cubicBezTo>
                  <a:pt x="17717" y="15828"/>
                  <a:pt x="17717" y="15828"/>
                  <a:pt x="17717" y="15828"/>
                </a:cubicBezTo>
                <a:cubicBezTo>
                  <a:pt x="17563" y="15828"/>
                  <a:pt x="17563" y="15828"/>
                  <a:pt x="17563" y="15828"/>
                </a:cubicBezTo>
                <a:cubicBezTo>
                  <a:pt x="17563" y="16207"/>
                  <a:pt x="17563" y="16207"/>
                  <a:pt x="17563" y="16207"/>
                </a:cubicBezTo>
                <a:cubicBezTo>
                  <a:pt x="17498" y="16207"/>
                  <a:pt x="17487" y="16375"/>
                  <a:pt x="17487" y="16375"/>
                </a:cubicBezTo>
                <a:cubicBezTo>
                  <a:pt x="17414" y="16375"/>
                  <a:pt x="17414" y="16375"/>
                  <a:pt x="17414" y="16375"/>
                </a:cubicBezTo>
                <a:cubicBezTo>
                  <a:pt x="17414" y="16837"/>
                  <a:pt x="17414" y="16837"/>
                  <a:pt x="17414" y="16837"/>
                </a:cubicBezTo>
                <a:cubicBezTo>
                  <a:pt x="17382" y="16837"/>
                  <a:pt x="17382" y="16837"/>
                  <a:pt x="17382" y="16837"/>
                </a:cubicBezTo>
                <a:cubicBezTo>
                  <a:pt x="17382" y="18672"/>
                  <a:pt x="17382" y="18672"/>
                  <a:pt x="17382" y="18672"/>
                </a:cubicBezTo>
                <a:cubicBezTo>
                  <a:pt x="17317" y="18672"/>
                  <a:pt x="17317" y="18672"/>
                  <a:pt x="17317" y="18672"/>
                </a:cubicBezTo>
                <a:cubicBezTo>
                  <a:pt x="17317" y="18406"/>
                  <a:pt x="17317" y="18406"/>
                  <a:pt x="17317" y="18406"/>
                </a:cubicBezTo>
                <a:cubicBezTo>
                  <a:pt x="17282" y="18224"/>
                  <a:pt x="17282" y="18224"/>
                  <a:pt x="17282" y="18224"/>
                </a:cubicBezTo>
                <a:cubicBezTo>
                  <a:pt x="17263" y="18224"/>
                  <a:pt x="17263" y="18224"/>
                  <a:pt x="17263" y="18224"/>
                </a:cubicBezTo>
                <a:cubicBezTo>
                  <a:pt x="17228" y="18364"/>
                  <a:pt x="17228" y="18364"/>
                  <a:pt x="17228" y="18364"/>
                </a:cubicBezTo>
                <a:cubicBezTo>
                  <a:pt x="17228" y="15100"/>
                  <a:pt x="17228" y="15100"/>
                  <a:pt x="17228" y="15100"/>
                </a:cubicBezTo>
                <a:cubicBezTo>
                  <a:pt x="17069" y="14918"/>
                  <a:pt x="17069" y="14918"/>
                  <a:pt x="17069" y="14918"/>
                </a:cubicBezTo>
                <a:cubicBezTo>
                  <a:pt x="17001" y="14918"/>
                  <a:pt x="17001" y="14918"/>
                  <a:pt x="17001" y="14918"/>
                </a:cubicBezTo>
                <a:cubicBezTo>
                  <a:pt x="17001" y="15128"/>
                  <a:pt x="17001" y="15128"/>
                  <a:pt x="17001" y="15128"/>
                </a:cubicBezTo>
                <a:cubicBezTo>
                  <a:pt x="16956" y="15128"/>
                  <a:pt x="16956" y="15128"/>
                  <a:pt x="16956" y="15128"/>
                </a:cubicBezTo>
                <a:cubicBezTo>
                  <a:pt x="16956" y="15898"/>
                  <a:pt x="16956" y="15898"/>
                  <a:pt x="16956" y="15898"/>
                </a:cubicBezTo>
                <a:cubicBezTo>
                  <a:pt x="16912" y="15898"/>
                  <a:pt x="16912" y="15898"/>
                  <a:pt x="16912" y="15898"/>
                </a:cubicBezTo>
                <a:cubicBezTo>
                  <a:pt x="16912" y="16907"/>
                  <a:pt x="16912" y="16907"/>
                  <a:pt x="16912" y="16907"/>
                </a:cubicBezTo>
                <a:cubicBezTo>
                  <a:pt x="16853" y="16907"/>
                  <a:pt x="16853" y="16907"/>
                  <a:pt x="16853" y="16907"/>
                </a:cubicBezTo>
                <a:cubicBezTo>
                  <a:pt x="16853" y="16543"/>
                  <a:pt x="16853" y="16543"/>
                  <a:pt x="16853" y="16543"/>
                </a:cubicBezTo>
                <a:cubicBezTo>
                  <a:pt x="16777" y="16543"/>
                  <a:pt x="16777" y="16543"/>
                  <a:pt x="16777" y="16543"/>
                </a:cubicBezTo>
                <a:cubicBezTo>
                  <a:pt x="16777" y="15380"/>
                  <a:pt x="16777" y="15380"/>
                  <a:pt x="16777" y="15380"/>
                </a:cubicBezTo>
                <a:cubicBezTo>
                  <a:pt x="16729" y="15380"/>
                  <a:pt x="16729" y="15380"/>
                  <a:pt x="16729" y="15380"/>
                </a:cubicBezTo>
                <a:cubicBezTo>
                  <a:pt x="16729" y="14680"/>
                  <a:pt x="16729" y="14680"/>
                  <a:pt x="16729" y="14680"/>
                </a:cubicBezTo>
                <a:cubicBezTo>
                  <a:pt x="16507" y="14554"/>
                  <a:pt x="16507" y="14554"/>
                  <a:pt x="16507" y="14554"/>
                </a:cubicBezTo>
                <a:cubicBezTo>
                  <a:pt x="16507" y="14343"/>
                  <a:pt x="16507" y="14343"/>
                  <a:pt x="16507" y="14343"/>
                </a:cubicBezTo>
                <a:cubicBezTo>
                  <a:pt x="16094" y="14203"/>
                  <a:pt x="16094" y="14203"/>
                  <a:pt x="16094" y="14203"/>
                </a:cubicBezTo>
                <a:cubicBezTo>
                  <a:pt x="16094" y="11528"/>
                  <a:pt x="16094" y="11528"/>
                  <a:pt x="16094" y="11528"/>
                </a:cubicBezTo>
                <a:cubicBezTo>
                  <a:pt x="15730" y="11066"/>
                  <a:pt x="15730" y="11066"/>
                  <a:pt x="15730" y="11066"/>
                </a:cubicBezTo>
                <a:cubicBezTo>
                  <a:pt x="15357" y="11458"/>
                  <a:pt x="15357" y="11458"/>
                  <a:pt x="15357" y="11458"/>
                </a:cubicBezTo>
                <a:cubicBezTo>
                  <a:pt x="15357" y="19036"/>
                  <a:pt x="15357" y="19036"/>
                  <a:pt x="15357" y="19036"/>
                </a:cubicBezTo>
                <a:cubicBezTo>
                  <a:pt x="15133" y="19036"/>
                  <a:pt x="15133" y="19036"/>
                  <a:pt x="15133" y="19036"/>
                </a:cubicBezTo>
                <a:cubicBezTo>
                  <a:pt x="15133" y="6317"/>
                  <a:pt x="15133" y="6317"/>
                  <a:pt x="15133" y="6317"/>
                </a:cubicBezTo>
                <a:cubicBezTo>
                  <a:pt x="14763" y="6821"/>
                  <a:pt x="14763" y="6821"/>
                  <a:pt x="14763" y="6821"/>
                </a:cubicBezTo>
                <a:cubicBezTo>
                  <a:pt x="14763" y="17845"/>
                  <a:pt x="14763" y="17845"/>
                  <a:pt x="14763" y="17845"/>
                </a:cubicBezTo>
                <a:cubicBezTo>
                  <a:pt x="14617" y="17845"/>
                  <a:pt x="14617" y="17845"/>
                  <a:pt x="14617" y="17845"/>
                </a:cubicBezTo>
                <a:cubicBezTo>
                  <a:pt x="14617" y="9567"/>
                  <a:pt x="14617" y="9567"/>
                  <a:pt x="14617" y="9567"/>
                </a:cubicBezTo>
                <a:cubicBezTo>
                  <a:pt x="14590" y="9567"/>
                  <a:pt x="14590" y="9567"/>
                  <a:pt x="14590" y="9567"/>
                </a:cubicBezTo>
                <a:cubicBezTo>
                  <a:pt x="14590" y="9441"/>
                  <a:pt x="14590" y="9441"/>
                  <a:pt x="14590" y="9441"/>
                </a:cubicBezTo>
                <a:cubicBezTo>
                  <a:pt x="14569" y="9441"/>
                  <a:pt x="14569" y="9441"/>
                  <a:pt x="14569" y="9441"/>
                </a:cubicBezTo>
                <a:cubicBezTo>
                  <a:pt x="14569" y="9175"/>
                  <a:pt x="14569" y="9175"/>
                  <a:pt x="14569" y="9175"/>
                </a:cubicBezTo>
                <a:cubicBezTo>
                  <a:pt x="14536" y="9175"/>
                  <a:pt x="14536" y="9175"/>
                  <a:pt x="14536" y="9175"/>
                </a:cubicBezTo>
                <a:cubicBezTo>
                  <a:pt x="14536" y="8880"/>
                  <a:pt x="14536" y="8880"/>
                  <a:pt x="14536" y="8880"/>
                </a:cubicBezTo>
                <a:cubicBezTo>
                  <a:pt x="14490" y="8880"/>
                  <a:pt x="14490" y="8880"/>
                  <a:pt x="14490" y="8880"/>
                </a:cubicBezTo>
                <a:cubicBezTo>
                  <a:pt x="14490" y="8614"/>
                  <a:pt x="14490" y="8614"/>
                  <a:pt x="14490" y="8614"/>
                </a:cubicBezTo>
                <a:cubicBezTo>
                  <a:pt x="14472" y="8614"/>
                  <a:pt x="14472" y="8614"/>
                  <a:pt x="14472" y="8614"/>
                </a:cubicBezTo>
                <a:cubicBezTo>
                  <a:pt x="14472" y="8306"/>
                  <a:pt x="14472" y="8306"/>
                  <a:pt x="14472" y="8306"/>
                </a:cubicBezTo>
                <a:cubicBezTo>
                  <a:pt x="14453" y="7452"/>
                  <a:pt x="14453" y="7452"/>
                  <a:pt x="14453" y="7452"/>
                </a:cubicBezTo>
                <a:cubicBezTo>
                  <a:pt x="14434" y="8306"/>
                  <a:pt x="14434" y="8306"/>
                  <a:pt x="14434" y="8306"/>
                </a:cubicBezTo>
                <a:cubicBezTo>
                  <a:pt x="14434" y="8614"/>
                  <a:pt x="14434" y="8614"/>
                  <a:pt x="14434" y="8614"/>
                </a:cubicBezTo>
                <a:cubicBezTo>
                  <a:pt x="14415" y="8614"/>
                  <a:pt x="14415" y="8614"/>
                  <a:pt x="14415" y="8614"/>
                </a:cubicBezTo>
                <a:cubicBezTo>
                  <a:pt x="14415" y="8880"/>
                  <a:pt x="14415" y="8880"/>
                  <a:pt x="14415" y="8880"/>
                </a:cubicBezTo>
                <a:cubicBezTo>
                  <a:pt x="14369" y="8880"/>
                  <a:pt x="14369" y="8880"/>
                  <a:pt x="14369" y="8880"/>
                </a:cubicBezTo>
                <a:cubicBezTo>
                  <a:pt x="14369" y="9175"/>
                  <a:pt x="14369" y="9175"/>
                  <a:pt x="14369" y="9175"/>
                </a:cubicBezTo>
                <a:cubicBezTo>
                  <a:pt x="14337" y="9175"/>
                  <a:pt x="14337" y="9175"/>
                  <a:pt x="14337" y="9175"/>
                </a:cubicBezTo>
                <a:cubicBezTo>
                  <a:pt x="14337" y="9441"/>
                  <a:pt x="14337" y="9441"/>
                  <a:pt x="14337" y="9441"/>
                </a:cubicBezTo>
                <a:cubicBezTo>
                  <a:pt x="14315" y="9441"/>
                  <a:pt x="14315" y="9441"/>
                  <a:pt x="14315" y="9441"/>
                </a:cubicBezTo>
                <a:cubicBezTo>
                  <a:pt x="14315" y="9567"/>
                  <a:pt x="14315" y="9567"/>
                  <a:pt x="14315" y="9567"/>
                </a:cubicBezTo>
                <a:cubicBezTo>
                  <a:pt x="14288" y="9567"/>
                  <a:pt x="14288" y="9567"/>
                  <a:pt x="14288" y="9567"/>
                </a:cubicBezTo>
                <a:cubicBezTo>
                  <a:pt x="14288" y="17845"/>
                  <a:pt x="14288" y="17845"/>
                  <a:pt x="14288" y="17845"/>
                </a:cubicBezTo>
                <a:cubicBezTo>
                  <a:pt x="14202" y="17845"/>
                  <a:pt x="14202" y="17845"/>
                  <a:pt x="14202" y="17845"/>
                </a:cubicBezTo>
                <a:cubicBezTo>
                  <a:pt x="14202" y="11094"/>
                  <a:pt x="14202" y="11094"/>
                  <a:pt x="14202" y="11094"/>
                </a:cubicBezTo>
                <a:cubicBezTo>
                  <a:pt x="13764" y="11094"/>
                  <a:pt x="13764" y="11094"/>
                  <a:pt x="13764" y="11094"/>
                </a:cubicBezTo>
                <a:cubicBezTo>
                  <a:pt x="13697" y="11444"/>
                  <a:pt x="13697" y="11444"/>
                  <a:pt x="13697" y="11444"/>
                </a:cubicBezTo>
                <a:cubicBezTo>
                  <a:pt x="13697" y="17075"/>
                  <a:pt x="13697" y="17075"/>
                  <a:pt x="13697" y="17075"/>
                </a:cubicBezTo>
                <a:cubicBezTo>
                  <a:pt x="13618" y="17075"/>
                  <a:pt x="13618" y="17075"/>
                  <a:pt x="13618" y="17075"/>
                </a:cubicBezTo>
                <a:cubicBezTo>
                  <a:pt x="13583" y="17327"/>
                  <a:pt x="13583" y="17327"/>
                  <a:pt x="13583" y="17327"/>
                </a:cubicBezTo>
                <a:cubicBezTo>
                  <a:pt x="13583" y="19877"/>
                  <a:pt x="13583" y="19877"/>
                  <a:pt x="13583" y="19877"/>
                </a:cubicBezTo>
                <a:cubicBezTo>
                  <a:pt x="13518" y="19877"/>
                  <a:pt x="13518" y="19877"/>
                  <a:pt x="13518" y="19877"/>
                </a:cubicBezTo>
                <a:cubicBezTo>
                  <a:pt x="13518" y="15254"/>
                  <a:pt x="13518" y="15254"/>
                  <a:pt x="13518" y="15254"/>
                </a:cubicBezTo>
                <a:cubicBezTo>
                  <a:pt x="13481" y="15254"/>
                  <a:pt x="13481" y="15254"/>
                  <a:pt x="13481" y="15254"/>
                </a:cubicBezTo>
                <a:cubicBezTo>
                  <a:pt x="13481" y="14708"/>
                  <a:pt x="13481" y="14708"/>
                  <a:pt x="13481" y="14708"/>
                </a:cubicBezTo>
                <a:cubicBezTo>
                  <a:pt x="13448" y="14708"/>
                  <a:pt x="13448" y="14708"/>
                  <a:pt x="13448" y="14708"/>
                </a:cubicBezTo>
                <a:cubicBezTo>
                  <a:pt x="13448" y="14371"/>
                  <a:pt x="13448" y="14371"/>
                  <a:pt x="13448" y="14371"/>
                </a:cubicBezTo>
                <a:cubicBezTo>
                  <a:pt x="13389" y="14371"/>
                  <a:pt x="13389" y="14371"/>
                  <a:pt x="13389" y="14371"/>
                </a:cubicBezTo>
                <a:cubicBezTo>
                  <a:pt x="13351" y="14231"/>
                  <a:pt x="13351" y="14231"/>
                  <a:pt x="13351" y="14231"/>
                </a:cubicBezTo>
                <a:cubicBezTo>
                  <a:pt x="13351" y="12424"/>
                  <a:pt x="13351" y="12424"/>
                  <a:pt x="13351" y="12424"/>
                </a:cubicBezTo>
                <a:cubicBezTo>
                  <a:pt x="13070" y="12873"/>
                  <a:pt x="13070" y="12873"/>
                  <a:pt x="13070" y="12873"/>
                </a:cubicBezTo>
                <a:cubicBezTo>
                  <a:pt x="13011" y="12635"/>
                  <a:pt x="13011" y="12635"/>
                  <a:pt x="13011" y="12635"/>
                </a:cubicBezTo>
                <a:cubicBezTo>
                  <a:pt x="13011" y="9595"/>
                  <a:pt x="13011" y="9595"/>
                  <a:pt x="13011" y="9595"/>
                </a:cubicBezTo>
                <a:cubicBezTo>
                  <a:pt x="12824" y="9357"/>
                  <a:pt x="12824" y="9357"/>
                  <a:pt x="12824" y="9357"/>
                </a:cubicBezTo>
                <a:cubicBezTo>
                  <a:pt x="12463" y="10127"/>
                  <a:pt x="12463" y="10127"/>
                  <a:pt x="12463" y="10127"/>
                </a:cubicBezTo>
                <a:cubicBezTo>
                  <a:pt x="12463" y="10281"/>
                  <a:pt x="12463" y="10281"/>
                  <a:pt x="12463" y="10281"/>
                </a:cubicBezTo>
                <a:cubicBezTo>
                  <a:pt x="12401" y="10085"/>
                  <a:pt x="12401" y="10085"/>
                  <a:pt x="12401" y="10085"/>
                </a:cubicBezTo>
                <a:cubicBezTo>
                  <a:pt x="12349" y="10085"/>
                  <a:pt x="12349" y="10085"/>
                  <a:pt x="12349" y="10085"/>
                </a:cubicBezTo>
                <a:cubicBezTo>
                  <a:pt x="12349" y="10351"/>
                  <a:pt x="12349" y="10351"/>
                  <a:pt x="12349" y="10351"/>
                </a:cubicBezTo>
                <a:cubicBezTo>
                  <a:pt x="12287" y="10351"/>
                  <a:pt x="12287" y="10351"/>
                  <a:pt x="12287" y="10351"/>
                </a:cubicBezTo>
                <a:cubicBezTo>
                  <a:pt x="12287" y="11304"/>
                  <a:pt x="12287" y="11304"/>
                  <a:pt x="12287" y="11304"/>
                </a:cubicBezTo>
                <a:cubicBezTo>
                  <a:pt x="12257" y="11304"/>
                  <a:pt x="12257" y="11304"/>
                  <a:pt x="12257" y="11304"/>
                </a:cubicBezTo>
                <a:cubicBezTo>
                  <a:pt x="12257" y="17509"/>
                  <a:pt x="12257" y="17509"/>
                  <a:pt x="12257" y="17509"/>
                </a:cubicBezTo>
                <a:cubicBezTo>
                  <a:pt x="12212" y="17509"/>
                  <a:pt x="12212" y="17509"/>
                  <a:pt x="12212" y="17509"/>
                </a:cubicBezTo>
                <a:cubicBezTo>
                  <a:pt x="12193" y="17327"/>
                  <a:pt x="12193" y="17327"/>
                  <a:pt x="12193" y="17327"/>
                </a:cubicBezTo>
                <a:cubicBezTo>
                  <a:pt x="12193" y="16879"/>
                  <a:pt x="12193" y="16879"/>
                  <a:pt x="12193" y="16879"/>
                </a:cubicBezTo>
                <a:cubicBezTo>
                  <a:pt x="12147" y="16879"/>
                  <a:pt x="12147" y="16879"/>
                  <a:pt x="12147" y="16879"/>
                </a:cubicBezTo>
                <a:cubicBezTo>
                  <a:pt x="12147" y="17341"/>
                  <a:pt x="12147" y="17341"/>
                  <a:pt x="12147" y="17341"/>
                </a:cubicBezTo>
                <a:cubicBezTo>
                  <a:pt x="12136" y="17285"/>
                  <a:pt x="12136" y="17285"/>
                  <a:pt x="12136" y="17285"/>
                </a:cubicBezTo>
                <a:cubicBezTo>
                  <a:pt x="12136" y="17439"/>
                  <a:pt x="12136" y="17439"/>
                  <a:pt x="12136" y="17439"/>
                </a:cubicBezTo>
                <a:cubicBezTo>
                  <a:pt x="12101" y="17439"/>
                  <a:pt x="12101" y="17439"/>
                  <a:pt x="12101" y="17439"/>
                </a:cubicBezTo>
                <a:cubicBezTo>
                  <a:pt x="12101" y="17579"/>
                  <a:pt x="12101" y="17579"/>
                  <a:pt x="12101" y="17579"/>
                </a:cubicBezTo>
                <a:cubicBezTo>
                  <a:pt x="12079" y="17579"/>
                  <a:pt x="12079" y="17579"/>
                  <a:pt x="12079" y="17579"/>
                </a:cubicBezTo>
                <a:cubicBezTo>
                  <a:pt x="12079" y="17691"/>
                  <a:pt x="12079" y="17691"/>
                  <a:pt x="12079" y="17691"/>
                </a:cubicBezTo>
                <a:cubicBezTo>
                  <a:pt x="12020" y="17691"/>
                  <a:pt x="12020" y="17691"/>
                  <a:pt x="12020" y="17691"/>
                </a:cubicBezTo>
                <a:cubicBezTo>
                  <a:pt x="12020" y="17523"/>
                  <a:pt x="12020" y="17523"/>
                  <a:pt x="12020" y="17523"/>
                </a:cubicBezTo>
                <a:cubicBezTo>
                  <a:pt x="12063" y="17481"/>
                  <a:pt x="12063" y="17481"/>
                  <a:pt x="12063" y="17481"/>
                </a:cubicBezTo>
                <a:cubicBezTo>
                  <a:pt x="12063" y="17397"/>
                  <a:pt x="12063" y="17397"/>
                  <a:pt x="12063" y="17397"/>
                </a:cubicBezTo>
                <a:cubicBezTo>
                  <a:pt x="11898" y="17397"/>
                  <a:pt x="11898" y="17397"/>
                  <a:pt x="11898" y="17397"/>
                </a:cubicBezTo>
                <a:cubicBezTo>
                  <a:pt x="11904" y="17467"/>
                  <a:pt x="11904" y="17467"/>
                  <a:pt x="11904" y="17467"/>
                </a:cubicBezTo>
                <a:cubicBezTo>
                  <a:pt x="11936" y="17495"/>
                  <a:pt x="11936" y="17495"/>
                  <a:pt x="11936" y="17495"/>
                </a:cubicBezTo>
                <a:cubicBezTo>
                  <a:pt x="11936" y="17649"/>
                  <a:pt x="11936" y="17649"/>
                  <a:pt x="11936" y="17649"/>
                </a:cubicBezTo>
                <a:cubicBezTo>
                  <a:pt x="11874" y="17719"/>
                  <a:pt x="11874" y="17719"/>
                  <a:pt x="11874" y="17719"/>
                </a:cubicBezTo>
                <a:cubicBezTo>
                  <a:pt x="11796" y="16823"/>
                  <a:pt x="11796" y="16823"/>
                  <a:pt x="11796" y="16823"/>
                </a:cubicBezTo>
                <a:cubicBezTo>
                  <a:pt x="11796" y="16263"/>
                  <a:pt x="11796" y="16263"/>
                  <a:pt x="11796" y="16263"/>
                </a:cubicBezTo>
                <a:cubicBezTo>
                  <a:pt x="11796" y="13279"/>
                  <a:pt x="11796" y="13279"/>
                  <a:pt x="11796" y="13279"/>
                </a:cubicBezTo>
                <a:cubicBezTo>
                  <a:pt x="11796" y="13279"/>
                  <a:pt x="11823" y="13223"/>
                  <a:pt x="11823" y="13055"/>
                </a:cubicBezTo>
                <a:cubicBezTo>
                  <a:pt x="11823" y="12887"/>
                  <a:pt x="11734" y="12845"/>
                  <a:pt x="11699" y="12845"/>
                </a:cubicBezTo>
                <a:cubicBezTo>
                  <a:pt x="11664" y="12845"/>
                  <a:pt x="11574" y="12887"/>
                  <a:pt x="11574" y="13055"/>
                </a:cubicBezTo>
                <a:cubicBezTo>
                  <a:pt x="11574" y="13223"/>
                  <a:pt x="11601" y="13279"/>
                  <a:pt x="11601" y="13279"/>
                </a:cubicBezTo>
                <a:cubicBezTo>
                  <a:pt x="11601" y="16263"/>
                  <a:pt x="11601" y="16263"/>
                  <a:pt x="11601" y="16263"/>
                </a:cubicBezTo>
                <a:cubicBezTo>
                  <a:pt x="11572" y="16263"/>
                  <a:pt x="11572" y="16263"/>
                  <a:pt x="11572" y="16263"/>
                </a:cubicBezTo>
                <a:cubicBezTo>
                  <a:pt x="11572" y="15842"/>
                  <a:pt x="11572" y="15842"/>
                  <a:pt x="11572" y="15842"/>
                </a:cubicBezTo>
                <a:cubicBezTo>
                  <a:pt x="11442" y="15282"/>
                  <a:pt x="11442" y="15282"/>
                  <a:pt x="11442" y="15282"/>
                </a:cubicBezTo>
                <a:cubicBezTo>
                  <a:pt x="11442" y="13643"/>
                  <a:pt x="11442" y="13643"/>
                  <a:pt x="11442" y="13643"/>
                </a:cubicBezTo>
                <a:cubicBezTo>
                  <a:pt x="11402" y="13643"/>
                  <a:pt x="11402" y="13643"/>
                  <a:pt x="11402" y="13643"/>
                </a:cubicBezTo>
                <a:cubicBezTo>
                  <a:pt x="11248" y="14147"/>
                  <a:pt x="11248" y="14147"/>
                  <a:pt x="11248" y="14147"/>
                </a:cubicBezTo>
                <a:cubicBezTo>
                  <a:pt x="11248" y="13937"/>
                  <a:pt x="11248" y="13937"/>
                  <a:pt x="11248" y="13937"/>
                </a:cubicBezTo>
                <a:cubicBezTo>
                  <a:pt x="11034" y="13937"/>
                  <a:pt x="11034" y="13937"/>
                  <a:pt x="11034" y="13937"/>
                </a:cubicBezTo>
                <a:cubicBezTo>
                  <a:pt x="11034" y="14175"/>
                  <a:pt x="11034" y="14175"/>
                  <a:pt x="11034" y="14175"/>
                </a:cubicBezTo>
                <a:cubicBezTo>
                  <a:pt x="10986" y="14175"/>
                  <a:pt x="10986" y="14175"/>
                  <a:pt x="10986" y="14175"/>
                </a:cubicBezTo>
                <a:cubicBezTo>
                  <a:pt x="10986" y="15828"/>
                  <a:pt x="10986" y="15828"/>
                  <a:pt x="10986" y="15828"/>
                </a:cubicBezTo>
                <a:cubicBezTo>
                  <a:pt x="10924" y="15646"/>
                  <a:pt x="10924" y="15646"/>
                  <a:pt x="10924" y="15646"/>
                </a:cubicBezTo>
                <a:cubicBezTo>
                  <a:pt x="10924" y="15240"/>
                  <a:pt x="10924" y="15240"/>
                  <a:pt x="10924" y="15240"/>
                </a:cubicBezTo>
                <a:cubicBezTo>
                  <a:pt x="10905" y="15240"/>
                  <a:pt x="10905" y="15240"/>
                  <a:pt x="10905" y="15240"/>
                </a:cubicBezTo>
                <a:cubicBezTo>
                  <a:pt x="10905" y="15660"/>
                  <a:pt x="10905" y="15660"/>
                  <a:pt x="10905" y="15660"/>
                </a:cubicBezTo>
                <a:cubicBezTo>
                  <a:pt x="10886" y="15660"/>
                  <a:pt x="10886" y="15660"/>
                  <a:pt x="10886" y="15660"/>
                </a:cubicBezTo>
                <a:cubicBezTo>
                  <a:pt x="10886" y="14862"/>
                  <a:pt x="10886" y="14862"/>
                  <a:pt x="10886" y="14862"/>
                </a:cubicBezTo>
                <a:cubicBezTo>
                  <a:pt x="10770" y="14862"/>
                  <a:pt x="10770" y="14862"/>
                  <a:pt x="10770" y="14862"/>
                </a:cubicBezTo>
                <a:cubicBezTo>
                  <a:pt x="10770" y="14736"/>
                  <a:pt x="10756" y="14259"/>
                  <a:pt x="10646" y="13937"/>
                </a:cubicBezTo>
                <a:cubicBezTo>
                  <a:pt x="10646" y="13657"/>
                  <a:pt x="10646" y="13657"/>
                  <a:pt x="10646" y="13657"/>
                </a:cubicBezTo>
                <a:cubicBezTo>
                  <a:pt x="10619" y="13657"/>
                  <a:pt x="10619" y="13657"/>
                  <a:pt x="10619" y="13657"/>
                </a:cubicBezTo>
                <a:cubicBezTo>
                  <a:pt x="10592" y="13657"/>
                  <a:pt x="10592" y="13657"/>
                  <a:pt x="10592" y="13657"/>
                </a:cubicBezTo>
                <a:cubicBezTo>
                  <a:pt x="10592" y="13937"/>
                  <a:pt x="10592" y="13937"/>
                  <a:pt x="10592" y="13937"/>
                </a:cubicBezTo>
                <a:cubicBezTo>
                  <a:pt x="10481" y="14259"/>
                  <a:pt x="10467" y="14736"/>
                  <a:pt x="10467" y="14862"/>
                </a:cubicBezTo>
                <a:cubicBezTo>
                  <a:pt x="10467" y="14988"/>
                  <a:pt x="10489" y="15100"/>
                  <a:pt x="10489" y="15100"/>
                </a:cubicBezTo>
                <a:cubicBezTo>
                  <a:pt x="10419" y="15100"/>
                  <a:pt x="10419" y="15100"/>
                  <a:pt x="10419" y="15100"/>
                </a:cubicBezTo>
                <a:cubicBezTo>
                  <a:pt x="10384" y="15100"/>
                  <a:pt x="10384" y="15100"/>
                  <a:pt x="10384" y="15100"/>
                </a:cubicBezTo>
                <a:cubicBezTo>
                  <a:pt x="10284" y="14722"/>
                  <a:pt x="10284" y="14722"/>
                  <a:pt x="10284" y="14722"/>
                </a:cubicBezTo>
                <a:cubicBezTo>
                  <a:pt x="10208" y="14988"/>
                  <a:pt x="10208" y="14988"/>
                  <a:pt x="10208" y="14988"/>
                </a:cubicBezTo>
                <a:cubicBezTo>
                  <a:pt x="10179" y="15128"/>
                  <a:pt x="10179" y="15128"/>
                  <a:pt x="10179" y="15128"/>
                </a:cubicBezTo>
                <a:cubicBezTo>
                  <a:pt x="10103" y="15128"/>
                  <a:pt x="10103" y="15128"/>
                  <a:pt x="10103" y="15128"/>
                </a:cubicBezTo>
                <a:cubicBezTo>
                  <a:pt x="10103" y="15338"/>
                  <a:pt x="10103" y="15338"/>
                  <a:pt x="10103" y="15338"/>
                </a:cubicBezTo>
                <a:cubicBezTo>
                  <a:pt x="10149" y="15338"/>
                  <a:pt x="10160" y="15534"/>
                  <a:pt x="10160" y="15534"/>
                </a:cubicBezTo>
                <a:cubicBezTo>
                  <a:pt x="10160" y="15870"/>
                  <a:pt x="10160" y="15870"/>
                  <a:pt x="10160" y="15870"/>
                </a:cubicBezTo>
                <a:cubicBezTo>
                  <a:pt x="10081" y="15870"/>
                  <a:pt x="10081" y="15870"/>
                  <a:pt x="10081" y="15870"/>
                </a:cubicBezTo>
                <a:cubicBezTo>
                  <a:pt x="10081" y="15730"/>
                  <a:pt x="10081" y="15730"/>
                  <a:pt x="10081" y="15730"/>
                </a:cubicBezTo>
                <a:cubicBezTo>
                  <a:pt x="9917" y="15730"/>
                  <a:pt x="9917" y="15730"/>
                  <a:pt x="9917" y="15730"/>
                </a:cubicBezTo>
                <a:cubicBezTo>
                  <a:pt x="9917" y="16066"/>
                  <a:pt x="9917" y="16066"/>
                  <a:pt x="9917" y="16066"/>
                </a:cubicBezTo>
                <a:cubicBezTo>
                  <a:pt x="9814" y="16066"/>
                  <a:pt x="9814" y="16066"/>
                  <a:pt x="9814" y="16066"/>
                </a:cubicBezTo>
                <a:cubicBezTo>
                  <a:pt x="9814" y="19680"/>
                  <a:pt x="9814" y="19680"/>
                  <a:pt x="9814" y="19680"/>
                </a:cubicBezTo>
                <a:cubicBezTo>
                  <a:pt x="9679" y="19680"/>
                  <a:pt x="9679" y="19680"/>
                  <a:pt x="9679" y="19680"/>
                </a:cubicBezTo>
                <a:cubicBezTo>
                  <a:pt x="9679" y="19821"/>
                  <a:pt x="9679" y="19821"/>
                  <a:pt x="9679" y="19821"/>
                </a:cubicBezTo>
                <a:cubicBezTo>
                  <a:pt x="9655" y="19821"/>
                  <a:pt x="9655" y="19821"/>
                  <a:pt x="9655" y="19821"/>
                </a:cubicBezTo>
                <a:cubicBezTo>
                  <a:pt x="9655" y="20129"/>
                  <a:pt x="9655" y="20129"/>
                  <a:pt x="9655" y="20129"/>
                </a:cubicBezTo>
                <a:cubicBezTo>
                  <a:pt x="9625" y="20129"/>
                  <a:pt x="9625" y="20129"/>
                  <a:pt x="9625" y="20129"/>
                </a:cubicBezTo>
                <a:cubicBezTo>
                  <a:pt x="9625" y="19652"/>
                  <a:pt x="9625" y="19652"/>
                  <a:pt x="9625" y="19652"/>
                </a:cubicBezTo>
                <a:cubicBezTo>
                  <a:pt x="9525" y="19652"/>
                  <a:pt x="9525" y="19652"/>
                  <a:pt x="9525" y="19652"/>
                </a:cubicBezTo>
                <a:cubicBezTo>
                  <a:pt x="9525" y="17635"/>
                  <a:pt x="9525" y="17635"/>
                  <a:pt x="9525" y="17635"/>
                </a:cubicBezTo>
                <a:cubicBezTo>
                  <a:pt x="9390" y="17635"/>
                  <a:pt x="9390" y="17635"/>
                  <a:pt x="9390" y="17635"/>
                </a:cubicBezTo>
                <a:cubicBezTo>
                  <a:pt x="9390" y="17439"/>
                  <a:pt x="9390" y="17439"/>
                  <a:pt x="9390" y="17439"/>
                </a:cubicBezTo>
                <a:cubicBezTo>
                  <a:pt x="9350" y="17439"/>
                  <a:pt x="9350" y="17439"/>
                  <a:pt x="9350" y="17439"/>
                </a:cubicBezTo>
                <a:cubicBezTo>
                  <a:pt x="9350" y="17579"/>
                  <a:pt x="9350" y="17579"/>
                  <a:pt x="9350" y="17579"/>
                </a:cubicBezTo>
                <a:cubicBezTo>
                  <a:pt x="9328" y="17579"/>
                  <a:pt x="9328" y="17579"/>
                  <a:pt x="9328" y="17579"/>
                </a:cubicBezTo>
                <a:cubicBezTo>
                  <a:pt x="9331" y="17523"/>
                  <a:pt x="9331" y="17481"/>
                  <a:pt x="9331" y="17439"/>
                </a:cubicBezTo>
                <a:cubicBezTo>
                  <a:pt x="9331" y="16963"/>
                  <a:pt x="9277" y="16557"/>
                  <a:pt x="9198" y="16361"/>
                </a:cubicBezTo>
                <a:cubicBezTo>
                  <a:pt x="9198" y="9805"/>
                  <a:pt x="9198" y="9805"/>
                  <a:pt x="9198" y="9805"/>
                </a:cubicBezTo>
                <a:cubicBezTo>
                  <a:pt x="9263" y="9623"/>
                  <a:pt x="9306" y="9273"/>
                  <a:pt x="9306" y="8880"/>
                </a:cubicBezTo>
                <a:cubicBezTo>
                  <a:pt x="9306" y="8362"/>
                  <a:pt x="9236" y="7942"/>
                  <a:pt x="9144" y="7844"/>
                </a:cubicBezTo>
                <a:cubicBezTo>
                  <a:pt x="9134" y="6009"/>
                  <a:pt x="9134" y="6009"/>
                  <a:pt x="9134" y="6009"/>
                </a:cubicBezTo>
                <a:cubicBezTo>
                  <a:pt x="9155" y="5953"/>
                  <a:pt x="9171" y="5841"/>
                  <a:pt x="9171" y="5701"/>
                </a:cubicBezTo>
                <a:cubicBezTo>
                  <a:pt x="9171" y="5603"/>
                  <a:pt x="9163" y="5505"/>
                  <a:pt x="9153" y="5449"/>
                </a:cubicBezTo>
                <a:cubicBezTo>
                  <a:pt x="9153" y="5210"/>
                  <a:pt x="9153" y="5210"/>
                  <a:pt x="9153" y="5210"/>
                </a:cubicBezTo>
                <a:cubicBezTo>
                  <a:pt x="9131" y="5210"/>
                  <a:pt x="9131" y="5210"/>
                  <a:pt x="9131" y="5210"/>
                </a:cubicBezTo>
                <a:cubicBezTo>
                  <a:pt x="9131" y="3768"/>
                  <a:pt x="9131" y="3768"/>
                  <a:pt x="9131" y="3768"/>
                </a:cubicBezTo>
                <a:cubicBezTo>
                  <a:pt x="9117" y="3768"/>
                  <a:pt x="9117" y="3768"/>
                  <a:pt x="9117" y="3768"/>
                </a:cubicBezTo>
                <a:cubicBezTo>
                  <a:pt x="9117" y="2619"/>
                  <a:pt x="9117" y="2619"/>
                  <a:pt x="9117" y="2619"/>
                </a:cubicBezTo>
                <a:cubicBezTo>
                  <a:pt x="9117" y="2619"/>
                  <a:pt x="9139" y="2619"/>
                  <a:pt x="9139" y="2479"/>
                </a:cubicBezTo>
                <a:cubicBezTo>
                  <a:pt x="9139" y="2339"/>
                  <a:pt x="9117" y="2381"/>
                  <a:pt x="9117" y="2381"/>
                </a:cubicBezTo>
                <a:cubicBezTo>
                  <a:pt x="9104" y="0"/>
                  <a:pt x="9104" y="0"/>
                  <a:pt x="9104" y="0"/>
                </a:cubicBezTo>
                <a:cubicBezTo>
                  <a:pt x="9090" y="2381"/>
                  <a:pt x="9090" y="2381"/>
                  <a:pt x="9090" y="2381"/>
                </a:cubicBezTo>
                <a:cubicBezTo>
                  <a:pt x="9090" y="2381"/>
                  <a:pt x="9069" y="2339"/>
                  <a:pt x="9069" y="2479"/>
                </a:cubicBezTo>
                <a:cubicBezTo>
                  <a:pt x="9069" y="2619"/>
                  <a:pt x="9090" y="2619"/>
                  <a:pt x="9090" y="2619"/>
                </a:cubicBezTo>
                <a:cubicBezTo>
                  <a:pt x="9090" y="3768"/>
                  <a:pt x="9090" y="3768"/>
                  <a:pt x="9090" y="3768"/>
                </a:cubicBezTo>
                <a:cubicBezTo>
                  <a:pt x="9077" y="3768"/>
                  <a:pt x="9077" y="3768"/>
                  <a:pt x="9077" y="3768"/>
                </a:cubicBezTo>
                <a:cubicBezTo>
                  <a:pt x="9077" y="5210"/>
                  <a:pt x="9077" y="5210"/>
                  <a:pt x="9077" y="5210"/>
                </a:cubicBezTo>
                <a:cubicBezTo>
                  <a:pt x="9055" y="5210"/>
                  <a:pt x="9055" y="5210"/>
                  <a:pt x="9055" y="5210"/>
                </a:cubicBezTo>
                <a:cubicBezTo>
                  <a:pt x="9055" y="5449"/>
                  <a:pt x="9055" y="5449"/>
                  <a:pt x="9055" y="5449"/>
                </a:cubicBezTo>
                <a:cubicBezTo>
                  <a:pt x="9044" y="5505"/>
                  <a:pt x="9036" y="5603"/>
                  <a:pt x="9036" y="5701"/>
                </a:cubicBezTo>
                <a:cubicBezTo>
                  <a:pt x="9036" y="5841"/>
                  <a:pt x="9053" y="5953"/>
                  <a:pt x="9074" y="6009"/>
                </a:cubicBezTo>
                <a:cubicBezTo>
                  <a:pt x="9063" y="7844"/>
                  <a:pt x="9063" y="7844"/>
                  <a:pt x="9063" y="7844"/>
                </a:cubicBezTo>
                <a:cubicBezTo>
                  <a:pt x="8972" y="7942"/>
                  <a:pt x="8901" y="8362"/>
                  <a:pt x="8901" y="8880"/>
                </a:cubicBezTo>
                <a:cubicBezTo>
                  <a:pt x="8901" y="9231"/>
                  <a:pt x="8937" y="9539"/>
                  <a:pt x="8988" y="9735"/>
                </a:cubicBezTo>
                <a:cubicBezTo>
                  <a:pt x="8988" y="16431"/>
                  <a:pt x="8988" y="16431"/>
                  <a:pt x="8988" y="16431"/>
                </a:cubicBezTo>
                <a:cubicBezTo>
                  <a:pt x="8920" y="16627"/>
                  <a:pt x="8877" y="17005"/>
                  <a:pt x="8877" y="17439"/>
                </a:cubicBezTo>
                <a:cubicBezTo>
                  <a:pt x="8877" y="17859"/>
                  <a:pt x="8920" y="18238"/>
                  <a:pt x="8988" y="18448"/>
                </a:cubicBezTo>
                <a:cubicBezTo>
                  <a:pt x="8988" y="18812"/>
                  <a:pt x="8988" y="18812"/>
                  <a:pt x="8988" y="18812"/>
                </a:cubicBezTo>
                <a:cubicBezTo>
                  <a:pt x="8874" y="20717"/>
                  <a:pt x="8874" y="20717"/>
                  <a:pt x="8874" y="20717"/>
                </a:cubicBezTo>
                <a:cubicBezTo>
                  <a:pt x="8586" y="20717"/>
                  <a:pt x="8586" y="20717"/>
                  <a:pt x="8586" y="20717"/>
                </a:cubicBezTo>
                <a:cubicBezTo>
                  <a:pt x="8586" y="19891"/>
                  <a:pt x="8586" y="19891"/>
                  <a:pt x="8586" y="19891"/>
                </a:cubicBezTo>
                <a:cubicBezTo>
                  <a:pt x="8456" y="19891"/>
                  <a:pt x="8456" y="19891"/>
                  <a:pt x="8456" y="19891"/>
                </a:cubicBezTo>
                <a:cubicBezTo>
                  <a:pt x="8456" y="20717"/>
                  <a:pt x="8456" y="20717"/>
                  <a:pt x="8456" y="20717"/>
                </a:cubicBezTo>
                <a:cubicBezTo>
                  <a:pt x="8091" y="20717"/>
                  <a:pt x="8091" y="20717"/>
                  <a:pt x="8091" y="20717"/>
                </a:cubicBezTo>
                <a:cubicBezTo>
                  <a:pt x="8091" y="19540"/>
                  <a:pt x="8091" y="19540"/>
                  <a:pt x="8091" y="19540"/>
                </a:cubicBezTo>
                <a:cubicBezTo>
                  <a:pt x="7695" y="19218"/>
                  <a:pt x="7695" y="19218"/>
                  <a:pt x="7695" y="19218"/>
                </a:cubicBezTo>
                <a:cubicBezTo>
                  <a:pt x="7695" y="17915"/>
                  <a:pt x="7695" y="17915"/>
                  <a:pt x="7695" y="17915"/>
                </a:cubicBezTo>
                <a:cubicBezTo>
                  <a:pt x="7678" y="17803"/>
                  <a:pt x="7678" y="17803"/>
                  <a:pt x="7678" y="17803"/>
                </a:cubicBezTo>
                <a:cubicBezTo>
                  <a:pt x="7678" y="17187"/>
                  <a:pt x="7678" y="17187"/>
                  <a:pt x="7678" y="17187"/>
                </a:cubicBezTo>
                <a:cubicBezTo>
                  <a:pt x="7662" y="17131"/>
                  <a:pt x="7662" y="17131"/>
                  <a:pt x="7662" y="17131"/>
                </a:cubicBezTo>
                <a:cubicBezTo>
                  <a:pt x="7662" y="16725"/>
                  <a:pt x="7662" y="16725"/>
                  <a:pt x="7662" y="16725"/>
                </a:cubicBezTo>
                <a:cubicBezTo>
                  <a:pt x="7608" y="16487"/>
                  <a:pt x="7608" y="16487"/>
                  <a:pt x="7608" y="16487"/>
                </a:cubicBezTo>
                <a:cubicBezTo>
                  <a:pt x="7568" y="16487"/>
                  <a:pt x="7568" y="16487"/>
                  <a:pt x="7568" y="16487"/>
                </a:cubicBezTo>
                <a:cubicBezTo>
                  <a:pt x="7551" y="15674"/>
                  <a:pt x="7551" y="15674"/>
                  <a:pt x="7551" y="15674"/>
                </a:cubicBezTo>
                <a:cubicBezTo>
                  <a:pt x="7535" y="16487"/>
                  <a:pt x="7535" y="16487"/>
                  <a:pt x="7535" y="16487"/>
                </a:cubicBezTo>
                <a:cubicBezTo>
                  <a:pt x="7495" y="16487"/>
                  <a:pt x="7495" y="16487"/>
                  <a:pt x="7495" y="16487"/>
                </a:cubicBezTo>
                <a:cubicBezTo>
                  <a:pt x="7441" y="16725"/>
                  <a:pt x="7441" y="16725"/>
                  <a:pt x="7441" y="16725"/>
                </a:cubicBezTo>
                <a:cubicBezTo>
                  <a:pt x="7441" y="17131"/>
                  <a:pt x="7441" y="17131"/>
                  <a:pt x="7441" y="17131"/>
                </a:cubicBezTo>
                <a:cubicBezTo>
                  <a:pt x="7425" y="17187"/>
                  <a:pt x="7425" y="17187"/>
                  <a:pt x="7425" y="17187"/>
                </a:cubicBezTo>
                <a:cubicBezTo>
                  <a:pt x="7425" y="17803"/>
                  <a:pt x="7425" y="17803"/>
                  <a:pt x="7425" y="17803"/>
                </a:cubicBezTo>
                <a:cubicBezTo>
                  <a:pt x="7408" y="17915"/>
                  <a:pt x="7408" y="17915"/>
                  <a:pt x="7408" y="17915"/>
                </a:cubicBezTo>
                <a:cubicBezTo>
                  <a:pt x="7408" y="18784"/>
                  <a:pt x="7408" y="18784"/>
                  <a:pt x="7408" y="18784"/>
                </a:cubicBezTo>
                <a:cubicBezTo>
                  <a:pt x="7408" y="18784"/>
                  <a:pt x="7379" y="18630"/>
                  <a:pt x="7292" y="18630"/>
                </a:cubicBezTo>
                <a:cubicBezTo>
                  <a:pt x="7176" y="18630"/>
                  <a:pt x="7095" y="19218"/>
                  <a:pt x="7095" y="19218"/>
                </a:cubicBezTo>
                <a:cubicBezTo>
                  <a:pt x="6944" y="19218"/>
                  <a:pt x="6944" y="19218"/>
                  <a:pt x="6944" y="19218"/>
                </a:cubicBezTo>
                <a:cubicBezTo>
                  <a:pt x="6944" y="19456"/>
                  <a:pt x="6944" y="19456"/>
                  <a:pt x="6944" y="19456"/>
                </a:cubicBezTo>
                <a:cubicBezTo>
                  <a:pt x="6893" y="19456"/>
                  <a:pt x="6893" y="19456"/>
                  <a:pt x="6893" y="19456"/>
                </a:cubicBezTo>
                <a:cubicBezTo>
                  <a:pt x="6893" y="19358"/>
                  <a:pt x="6893" y="19358"/>
                  <a:pt x="6893" y="19358"/>
                </a:cubicBezTo>
                <a:cubicBezTo>
                  <a:pt x="6776" y="19358"/>
                  <a:pt x="6776" y="19358"/>
                  <a:pt x="6776" y="19358"/>
                </a:cubicBezTo>
                <a:cubicBezTo>
                  <a:pt x="6755" y="19512"/>
                  <a:pt x="6755" y="19512"/>
                  <a:pt x="6755" y="19512"/>
                </a:cubicBezTo>
                <a:cubicBezTo>
                  <a:pt x="6690" y="19512"/>
                  <a:pt x="6690" y="19512"/>
                  <a:pt x="6690" y="19512"/>
                </a:cubicBezTo>
                <a:cubicBezTo>
                  <a:pt x="6690" y="19638"/>
                  <a:pt x="6690" y="19638"/>
                  <a:pt x="6690" y="19638"/>
                </a:cubicBezTo>
                <a:cubicBezTo>
                  <a:pt x="6669" y="19638"/>
                  <a:pt x="6669" y="19638"/>
                  <a:pt x="6669" y="19638"/>
                </a:cubicBezTo>
                <a:cubicBezTo>
                  <a:pt x="6669" y="19302"/>
                  <a:pt x="6669" y="19302"/>
                  <a:pt x="6669" y="19302"/>
                </a:cubicBezTo>
                <a:cubicBezTo>
                  <a:pt x="6596" y="19302"/>
                  <a:pt x="6596" y="19302"/>
                  <a:pt x="6596" y="19302"/>
                </a:cubicBezTo>
                <a:cubicBezTo>
                  <a:pt x="6566" y="19442"/>
                  <a:pt x="6566" y="19442"/>
                  <a:pt x="6566" y="19442"/>
                </a:cubicBezTo>
                <a:cubicBezTo>
                  <a:pt x="6525" y="19442"/>
                  <a:pt x="6525" y="19442"/>
                  <a:pt x="6525" y="19442"/>
                </a:cubicBezTo>
                <a:cubicBezTo>
                  <a:pt x="6501" y="19260"/>
                  <a:pt x="6501" y="19260"/>
                  <a:pt x="6501" y="19260"/>
                </a:cubicBezTo>
                <a:cubicBezTo>
                  <a:pt x="6461" y="19260"/>
                  <a:pt x="6461" y="19260"/>
                  <a:pt x="6461" y="19260"/>
                </a:cubicBezTo>
                <a:cubicBezTo>
                  <a:pt x="6428" y="19442"/>
                  <a:pt x="6428" y="19442"/>
                  <a:pt x="6428" y="19442"/>
                </a:cubicBezTo>
                <a:cubicBezTo>
                  <a:pt x="6385" y="19442"/>
                  <a:pt x="6385" y="19442"/>
                  <a:pt x="6385" y="19442"/>
                </a:cubicBezTo>
                <a:cubicBezTo>
                  <a:pt x="6385" y="20521"/>
                  <a:pt x="6385" y="20521"/>
                  <a:pt x="6385" y="20521"/>
                </a:cubicBezTo>
                <a:cubicBezTo>
                  <a:pt x="6236" y="20521"/>
                  <a:pt x="6236" y="20521"/>
                  <a:pt x="6236" y="20521"/>
                </a:cubicBezTo>
                <a:cubicBezTo>
                  <a:pt x="6236" y="20171"/>
                  <a:pt x="6236" y="20171"/>
                  <a:pt x="6236" y="20171"/>
                </a:cubicBezTo>
                <a:cubicBezTo>
                  <a:pt x="6166" y="19891"/>
                  <a:pt x="6166" y="19891"/>
                  <a:pt x="6166" y="19891"/>
                </a:cubicBezTo>
                <a:cubicBezTo>
                  <a:pt x="6153" y="19330"/>
                  <a:pt x="6153" y="19330"/>
                  <a:pt x="6153" y="19330"/>
                </a:cubicBezTo>
                <a:cubicBezTo>
                  <a:pt x="6137" y="19877"/>
                  <a:pt x="6137" y="19877"/>
                  <a:pt x="6137" y="19877"/>
                </a:cubicBezTo>
                <a:cubicBezTo>
                  <a:pt x="6056" y="20185"/>
                  <a:pt x="6056" y="20185"/>
                  <a:pt x="6056" y="20185"/>
                </a:cubicBezTo>
                <a:cubicBezTo>
                  <a:pt x="6056" y="20409"/>
                  <a:pt x="6056" y="20409"/>
                  <a:pt x="6056" y="20409"/>
                </a:cubicBezTo>
                <a:cubicBezTo>
                  <a:pt x="5937" y="20409"/>
                  <a:pt x="5937" y="20409"/>
                  <a:pt x="5937" y="20409"/>
                </a:cubicBezTo>
                <a:cubicBezTo>
                  <a:pt x="5937" y="19624"/>
                  <a:pt x="5937" y="19624"/>
                  <a:pt x="5937" y="19624"/>
                </a:cubicBezTo>
                <a:cubicBezTo>
                  <a:pt x="5877" y="19624"/>
                  <a:pt x="5877" y="19624"/>
                  <a:pt x="5877" y="19624"/>
                </a:cubicBezTo>
                <a:cubicBezTo>
                  <a:pt x="5877" y="19484"/>
                  <a:pt x="5877" y="19484"/>
                  <a:pt x="5877" y="19484"/>
                </a:cubicBezTo>
                <a:cubicBezTo>
                  <a:pt x="5810" y="19484"/>
                  <a:pt x="5810" y="19484"/>
                  <a:pt x="5810" y="19484"/>
                </a:cubicBezTo>
                <a:cubicBezTo>
                  <a:pt x="5810" y="19736"/>
                  <a:pt x="5810" y="19736"/>
                  <a:pt x="5810" y="19736"/>
                </a:cubicBezTo>
                <a:cubicBezTo>
                  <a:pt x="5775" y="19736"/>
                  <a:pt x="5775" y="19736"/>
                  <a:pt x="5775" y="19736"/>
                </a:cubicBezTo>
                <a:cubicBezTo>
                  <a:pt x="5775" y="19204"/>
                  <a:pt x="5775" y="19204"/>
                  <a:pt x="5775" y="19204"/>
                </a:cubicBezTo>
                <a:cubicBezTo>
                  <a:pt x="5651" y="19204"/>
                  <a:pt x="5651" y="19204"/>
                  <a:pt x="5651" y="19204"/>
                </a:cubicBezTo>
                <a:cubicBezTo>
                  <a:pt x="5651" y="20115"/>
                  <a:pt x="5651" y="20115"/>
                  <a:pt x="5651" y="20115"/>
                </a:cubicBezTo>
                <a:cubicBezTo>
                  <a:pt x="5607" y="20115"/>
                  <a:pt x="5607" y="20115"/>
                  <a:pt x="5607" y="20115"/>
                </a:cubicBezTo>
                <a:cubicBezTo>
                  <a:pt x="5607" y="20353"/>
                  <a:pt x="5607" y="20353"/>
                  <a:pt x="5607" y="20353"/>
                </a:cubicBezTo>
                <a:cubicBezTo>
                  <a:pt x="5583" y="20353"/>
                  <a:pt x="5583" y="20353"/>
                  <a:pt x="5583" y="20353"/>
                </a:cubicBezTo>
                <a:cubicBezTo>
                  <a:pt x="5583" y="20493"/>
                  <a:pt x="5583" y="20493"/>
                  <a:pt x="5583" y="20493"/>
                </a:cubicBezTo>
                <a:cubicBezTo>
                  <a:pt x="5548" y="20493"/>
                  <a:pt x="5548" y="20493"/>
                  <a:pt x="5548" y="20493"/>
                </a:cubicBezTo>
                <a:cubicBezTo>
                  <a:pt x="5548" y="20353"/>
                  <a:pt x="5548" y="20353"/>
                  <a:pt x="5548" y="20353"/>
                </a:cubicBezTo>
                <a:cubicBezTo>
                  <a:pt x="5489" y="20353"/>
                  <a:pt x="5489" y="20353"/>
                  <a:pt x="5489" y="20353"/>
                </a:cubicBezTo>
                <a:cubicBezTo>
                  <a:pt x="5489" y="20465"/>
                  <a:pt x="5489" y="20465"/>
                  <a:pt x="5489" y="20465"/>
                </a:cubicBezTo>
                <a:cubicBezTo>
                  <a:pt x="5410" y="20465"/>
                  <a:pt x="5410" y="20465"/>
                  <a:pt x="5410" y="20465"/>
                </a:cubicBezTo>
                <a:cubicBezTo>
                  <a:pt x="5410" y="20605"/>
                  <a:pt x="5410" y="20605"/>
                  <a:pt x="5410" y="20605"/>
                </a:cubicBezTo>
                <a:cubicBezTo>
                  <a:pt x="5389" y="20605"/>
                  <a:pt x="5389" y="20605"/>
                  <a:pt x="5389" y="20605"/>
                </a:cubicBezTo>
                <a:cubicBezTo>
                  <a:pt x="5389" y="20493"/>
                  <a:pt x="5389" y="20493"/>
                  <a:pt x="5389" y="20493"/>
                </a:cubicBezTo>
                <a:cubicBezTo>
                  <a:pt x="5354" y="20493"/>
                  <a:pt x="5354" y="20493"/>
                  <a:pt x="5354" y="20493"/>
                </a:cubicBezTo>
                <a:cubicBezTo>
                  <a:pt x="5354" y="20717"/>
                  <a:pt x="5354" y="20717"/>
                  <a:pt x="5354" y="20717"/>
                </a:cubicBezTo>
                <a:cubicBezTo>
                  <a:pt x="5332" y="20717"/>
                  <a:pt x="5332" y="20717"/>
                  <a:pt x="5332" y="20717"/>
                </a:cubicBezTo>
                <a:cubicBezTo>
                  <a:pt x="5332" y="18812"/>
                  <a:pt x="5332" y="18812"/>
                  <a:pt x="5332" y="18812"/>
                </a:cubicBezTo>
                <a:cubicBezTo>
                  <a:pt x="5270" y="18812"/>
                  <a:pt x="5270" y="18812"/>
                  <a:pt x="5270" y="18812"/>
                </a:cubicBezTo>
                <a:cubicBezTo>
                  <a:pt x="5270" y="18938"/>
                  <a:pt x="5270" y="18938"/>
                  <a:pt x="5270" y="18938"/>
                </a:cubicBezTo>
                <a:cubicBezTo>
                  <a:pt x="5246" y="18938"/>
                  <a:pt x="5246" y="18938"/>
                  <a:pt x="5246" y="18938"/>
                </a:cubicBezTo>
                <a:cubicBezTo>
                  <a:pt x="5224" y="18700"/>
                  <a:pt x="5224" y="18700"/>
                  <a:pt x="5224" y="18700"/>
                </a:cubicBezTo>
                <a:cubicBezTo>
                  <a:pt x="5186" y="18700"/>
                  <a:pt x="5186" y="18700"/>
                  <a:pt x="5186" y="18700"/>
                </a:cubicBezTo>
                <a:cubicBezTo>
                  <a:pt x="5162" y="18938"/>
                  <a:pt x="5162" y="18938"/>
                  <a:pt x="5162" y="18938"/>
                </a:cubicBezTo>
                <a:cubicBezTo>
                  <a:pt x="5067" y="18938"/>
                  <a:pt x="5067" y="18938"/>
                  <a:pt x="5067" y="18938"/>
                </a:cubicBezTo>
                <a:cubicBezTo>
                  <a:pt x="5067" y="20395"/>
                  <a:pt x="5067" y="20395"/>
                  <a:pt x="5067" y="20395"/>
                </a:cubicBezTo>
                <a:cubicBezTo>
                  <a:pt x="4873" y="20395"/>
                  <a:pt x="4873" y="20395"/>
                  <a:pt x="4873" y="20395"/>
                </a:cubicBezTo>
                <a:cubicBezTo>
                  <a:pt x="4835" y="20185"/>
                  <a:pt x="4835" y="20185"/>
                  <a:pt x="4835" y="20185"/>
                </a:cubicBezTo>
                <a:cubicBezTo>
                  <a:pt x="4808" y="20339"/>
                  <a:pt x="4808" y="20339"/>
                  <a:pt x="4808" y="20339"/>
                </a:cubicBezTo>
                <a:cubicBezTo>
                  <a:pt x="4781" y="20339"/>
                  <a:pt x="4781" y="20339"/>
                  <a:pt x="4781" y="20339"/>
                </a:cubicBezTo>
                <a:cubicBezTo>
                  <a:pt x="4741" y="20129"/>
                  <a:pt x="4741" y="20129"/>
                  <a:pt x="4741" y="20129"/>
                </a:cubicBezTo>
                <a:cubicBezTo>
                  <a:pt x="4708" y="20129"/>
                  <a:pt x="4708" y="20129"/>
                  <a:pt x="4708" y="20129"/>
                </a:cubicBezTo>
                <a:cubicBezTo>
                  <a:pt x="4673" y="20283"/>
                  <a:pt x="4673" y="20283"/>
                  <a:pt x="4673" y="20283"/>
                </a:cubicBezTo>
                <a:cubicBezTo>
                  <a:pt x="4587" y="20283"/>
                  <a:pt x="4587" y="20283"/>
                  <a:pt x="4587" y="20283"/>
                </a:cubicBezTo>
                <a:cubicBezTo>
                  <a:pt x="4587" y="20129"/>
                  <a:pt x="4587" y="20129"/>
                  <a:pt x="4587" y="20129"/>
                </a:cubicBezTo>
                <a:cubicBezTo>
                  <a:pt x="4517" y="20129"/>
                  <a:pt x="4517" y="20129"/>
                  <a:pt x="4517" y="20129"/>
                </a:cubicBezTo>
                <a:cubicBezTo>
                  <a:pt x="4517" y="20577"/>
                  <a:pt x="4517" y="20577"/>
                  <a:pt x="4517" y="20577"/>
                </a:cubicBezTo>
                <a:cubicBezTo>
                  <a:pt x="4471" y="20577"/>
                  <a:pt x="4471" y="20577"/>
                  <a:pt x="4471" y="20577"/>
                </a:cubicBezTo>
                <a:cubicBezTo>
                  <a:pt x="4471" y="20437"/>
                  <a:pt x="4471" y="20437"/>
                  <a:pt x="4471" y="20437"/>
                </a:cubicBezTo>
                <a:cubicBezTo>
                  <a:pt x="4371" y="20437"/>
                  <a:pt x="4371" y="20437"/>
                  <a:pt x="4371" y="20437"/>
                </a:cubicBezTo>
                <a:cubicBezTo>
                  <a:pt x="4371" y="20283"/>
                  <a:pt x="4371" y="20283"/>
                  <a:pt x="4371" y="20283"/>
                </a:cubicBezTo>
                <a:cubicBezTo>
                  <a:pt x="4284" y="20283"/>
                  <a:pt x="4284" y="20283"/>
                  <a:pt x="4284" y="20283"/>
                </a:cubicBezTo>
                <a:cubicBezTo>
                  <a:pt x="4284" y="20437"/>
                  <a:pt x="4284" y="20437"/>
                  <a:pt x="4284" y="20437"/>
                </a:cubicBezTo>
                <a:cubicBezTo>
                  <a:pt x="4220" y="20437"/>
                  <a:pt x="4220" y="20437"/>
                  <a:pt x="4220" y="20437"/>
                </a:cubicBezTo>
                <a:cubicBezTo>
                  <a:pt x="4220" y="19708"/>
                  <a:pt x="4220" y="19708"/>
                  <a:pt x="4220" y="19708"/>
                </a:cubicBezTo>
                <a:cubicBezTo>
                  <a:pt x="4133" y="19512"/>
                  <a:pt x="4133" y="19512"/>
                  <a:pt x="4133" y="19512"/>
                </a:cubicBezTo>
                <a:cubicBezTo>
                  <a:pt x="4133" y="19722"/>
                  <a:pt x="4133" y="19722"/>
                  <a:pt x="4133" y="19722"/>
                </a:cubicBezTo>
                <a:cubicBezTo>
                  <a:pt x="4114" y="19722"/>
                  <a:pt x="4114" y="19722"/>
                  <a:pt x="4114" y="19722"/>
                </a:cubicBezTo>
                <a:cubicBezTo>
                  <a:pt x="4114" y="18644"/>
                  <a:pt x="4114" y="18644"/>
                  <a:pt x="4114" y="18644"/>
                </a:cubicBezTo>
                <a:cubicBezTo>
                  <a:pt x="4068" y="18644"/>
                  <a:pt x="4068" y="18644"/>
                  <a:pt x="4068" y="18644"/>
                </a:cubicBezTo>
                <a:cubicBezTo>
                  <a:pt x="4068" y="18308"/>
                  <a:pt x="4068" y="18308"/>
                  <a:pt x="4068" y="18308"/>
                </a:cubicBezTo>
                <a:cubicBezTo>
                  <a:pt x="3993" y="18308"/>
                  <a:pt x="3993" y="18308"/>
                  <a:pt x="3993" y="18308"/>
                </a:cubicBezTo>
                <a:cubicBezTo>
                  <a:pt x="3993" y="17943"/>
                  <a:pt x="3993" y="17943"/>
                  <a:pt x="3993" y="17943"/>
                </a:cubicBezTo>
                <a:cubicBezTo>
                  <a:pt x="3955" y="17943"/>
                  <a:pt x="3955" y="17943"/>
                  <a:pt x="3955" y="17943"/>
                </a:cubicBezTo>
                <a:cubicBezTo>
                  <a:pt x="3955" y="18308"/>
                  <a:pt x="3955" y="18308"/>
                  <a:pt x="3955" y="18308"/>
                </a:cubicBezTo>
                <a:cubicBezTo>
                  <a:pt x="3896" y="18308"/>
                  <a:pt x="3896" y="18308"/>
                  <a:pt x="3896" y="18308"/>
                </a:cubicBezTo>
                <a:cubicBezTo>
                  <a:pt x="3896" y="17719"/>
                  <a:pt x="3896" y="17719"/>
                  <a:pt x="3896" y="17719"/>
                </a:cubicBezTo>
                <a:cubicBezTo>
                  <a:pt x="3896" y="17719"/>
                  <a:pt x="3812" y="17257"/>
                  <a:pt x="3750" y="17257"/>
                </a:cubicBezTo>
                <a:cubicBezTo>
                  <a:pt x="3690" y="17257"/>
                  <a:pt x="3609" y="17775"/>
                  <a:pt x="3609" y="17775"/>
                </a:cubicBezTo>
                <a:cubicBezTo>
                  <a:pt x="3609" y="19036"/>
                  <a:pt x="3609" y="19036"/>
                  <a:pt x="3609" y="19036"/>
                </a:cubicBezTo>
                <a:cubicBezTo>
                  <a:pt x="3550" y="19036"/>
                  <a:pt x="3550" y="19036"/>
                  <a:pt x="3550" y="19036"/>
                </a:cubicBezTo>
                <a:cubicBezTo>
                  <a:pt x="3550" y="19849"/>
                  <a:pt x="3550" y="19849"/>
                  <a:pt x="3550" y="19849"/>
                </a:cubicBezTo>
                <a:cubicBezTo>
                  <a:pt x="3442" y="20059"/>
                  <a:pt x="3442" y="20059"/>
                  <a:pt x="3442" y="20059"/>
                </a:cubicBezTo>
                <a:cubicBezTo>
                  <a:pt x="3442" y="20241"/>
                  <a:pt x="3442" y="20241"/>
                  <a:pt x="3442" y="20241"/>
                </a:cubicBezTo>
                <a:cubicBezTo>
                  <a:pt x="3420" y="20241"/>
                  <a:pt x="3420" y="20241"/>
                  <a:pt x="3420" y="20241"/>
                </a:cubicBezTo>
                <a:cubicBezTo>
                  <a:pt x="3420" y="19905"/>
                  <a:pt x="3420" y="19905"/>
                  <a:pt x="3420" y="19905"/>
                </a:cubicBezTo>
                <a:cubicBezTo>
                  <a:pt x="3383" y="19905"/>
                  <a:pt x="3383" y="19905"/>
                  <a:pt x="3383" y="19905"/>
                </a:cubicBezTo>
                <a:cubicBezTo>
                  <a:pt x="3334" y="19540"/>
                  <a:pt x="3334" y="19540"/>
                  <a:pt x="3334" y="19540"/>
                </a:cubicBezTo>
                <a:cubicBezTo>
                  <a:pt x="3275" y="19835"/>
                  <a:pt x="3275" y="19835"/>
                  <a:pt x="3275" y="19835"/>
                </a:cubicBezTo>
                <a:cubicBezTo>
                  <a:pt x="3275" y="19596"/>
                  <a:pt x="3275" y="19596"/>
                  <a:pt x="3275" y="19596"/>
                </a:cubicBezTo>
                <a:cubicBezTo>
                  <a:pt x="3240" y="19596"/>
                  <a:pt x="3240" y="19596"/>
                  <a:pt x="3240" y="19596"/>
                </a:cubicBezTo>
                <a:cubicBezTo>
                  <a:pt x="3240" y="19736"/>
                  <a:pt x="3240" y="19736"/>
                  <a:pt x="3240" y="19736"/>
                </a:cubicBezTo>
                <a:cubicBezTo>
                  <a:pt x="3210" y="19736"/>
                  <a:pt x="3210" y="19736"/>
                  <a:pt x="3210" y="19736"/>
                </a:cubicBezTo>
                <a:cubicBezTo>
                  <a:pt x="3210" y="19498"/>
                  <a:pt x="3210" y="19498"/>
                  <a:pt x="3210" y="19498"/>
                </a:cubicBezTo>
                <a:cubicBezTo>
                  <a:pt x="3142" y="19498"/>
                  <a:pt x="3142" y="19498"/>
                  <a:pt x="3142" y="19498"/>
                </a:cubicBezTo>
                <a:cubicBezTo>
                  <a:pt x="3142" y="19624"/>
                  <a:pt x="3142" y="19624"/>
                  <a:pt x="3142" y="19624"/>
                </a:cubicBezTo>
                <a:cubicBezTo>
                  <a:pt x="3118" y="19624"/>
                  <a:pt x="3118" y="19624"/>
                  <a:pt x="3118" y="19624"/>
                </a:cubicBezTo>
                <a:cubicBezTo>
                  <a:pt x="3118" y="19849"/>
                  <a:pt x="3118" y="19849"/>
                  <a:pt x="3118" y="19849"/>
                </a:cubicBezTo>
                <a:cubicBezTo>
                  <a:pt x="3059" y="19849"/>
                  <a:pt x="3059" y="19849"/>
                  <a:pt x="3059" y="19849"/>
                </a:cubicBezTo>
                <a:cubicBezTo>
                  <a:pt x="3059" y="19568"/>
                  <a:pt x="3059" y="19568"/>
                  <a:pt x="3059" y="19568"/>
                </a:cubicBezTo>
                <a:cubicBezTo>
                  <a:pt x="3032" y="19568"/>
                  <a:pt x="3032" y="19568"/>
                  <a:pt x="3032" y="19568"/>
                </a:cubicBezTo>
                <a:cubicBezTo>
                  <a:pt x="3002" y="19400"/>
                  <a:pt x="3002" y="19400"/>
                  <a:pt x="3002" y="19400"/>
                </a:cubicBezTo>
                <a:cubicBezTo>
                  <a:pt x="2980" y="19484"/>
                  <a:pt x="2980" y="19484"/>
                  <a:pt x="2980" y="19484"/>
                </a:cubicBezTo>
                <a:cubicBezTo>
                  <a:pt x="2956" y="19484"/>
                  <a:pt x="2956" y="19484"/>
                  <a:pt x="2956" y="19484"/>
                </a:cubicBezTo>
                <a:cubicBezTo>
                  <a:pt x="2905" y="19162"/>
                  <a:pt x="2905" y="19162"/>
                  <a:pt x="2905" y="19162"/>
                </a:cubicBezTo>
                <a:cubicBezTo>
                  <a:pt x="2870" y="19456"/>
                  <a:pt x="2870" y="19456"/>
                  <a:pt x="2870" y="19456"/>
                </a:cubicBezTo>
                <a:cubicBezTo>
                  <a:pt x="2837" y="19456"/>
                  <a:pt x="2837" y="19456"/>
                  <a:pt x="2837" y="19456"/>
                </a:cubicBezTo>
                <a:cubicBezTo>
                  <a:pt x="2837" y="19204"/>
                  <a:pt x="2837" y="19204"/>
                  <a:pt x="2837" y="19204"/>
                </a:cubicBezTo>
                <a:cubicBezTo>
                  <a:pt x="2783" y="19204"/>
                  <a:pt x="2783" y="19204"/>
                  <a:pt x="2783" y="19204"/>
                </a:cubicBezTo>
                <a:cubicBezTo>
                  <a:pt x="2783" y="19484"/>
                  <a:pt x="2783" y="19484"/>
                  <a:pt x="2783" y="19484"/>
                </a:cubicBezTo>
                <a:cubicBezTo>
                  <a:pt x="2754" y="19652"/>
                  <a:pt x="2754" y="19652"/>
                  <a:pt x="2754" y="19652"/>
                </a:cubicBezTo>
                <a:cubicBezTo>
                  <a:pt x="2732" y="19652"/>
                  <a:pt x="2732" y="19652"/>
                  <a:pt x="2732" y="19652"/>
                </a:cubicBezTo>
                <a:cubicBezTo>
                  <a:pt x="2732" y="19274"/>
                  <a:pt x="2732" y="19274"/>
                  <a:pt x="2732" y="19274"/>
                </a:cubicBezTo>
                <a:cubicBezTo>
                  <a:pt x="2697" y="19274"/>
                  <a:pt x="2697" y="19274"/>
                  <a:pt x="2697" y="19274"/>
                </a:cubicBezTo>
                <a:cubicBezTo>
                  <a:pt x="2667" y="19036"/>
                  <a:pt x="2667" y="19036"/>
                  <a:pt x="2667" y="19036"/>
                </a:cubicBezTo>
                <a:cubicBezTo>
                  <a:pt x="2616" y="19344"/>
                  <a:pt x="2616" y="19344"/>
                  <a:pt x="2616" y="19344"/>
                </a:cubicBezTo>
                <a:cubicBezTo>
                  <a:pt x="2616" y="17145"/>
                  <a:pt x="2616" y="17145"/>
                  <a:pt x="2616" y="17145"/>
                </a:cubicBezTo>
                <a:cubicBezTo>
                  <a:pt x="2546" y="17145"/>
                  <a:pt x="2546" y="17145"/>
                  <a:pt x="2546" y="17145"/>
                </a:cubicBezTo>
                <a:cubicBezTo>
                  <a:pt x="2546" y="16977"/>
                  <a:pt x="2546" y="16977"/>
                  <a:pt x="2546" y="16977"/>
                </a:cubicBezTo>
                <a:cubicBezTo>
                  <a:pt x="2616" y="16977"/>
                  <a:pt x="2616" y="16977"/>
                  <a:pt x="2616" y="16977"/>
                </a:cubicBezTo>
                <a:cubicBezTo>
                  <a:pt x="2616" y="16865"/>
                  <a:pt x="2616" y="16865"/>
                  <a:pt x="2616" y="16865"/>
                </a:cubicBezTo>
                <a:cubicBezTo>
                  <a:pt x="2286" y="16865"/>
                  <a:pt x="2286" y="16865"/>
                  <a:pt x="2286" y="16865"/>
                </a:cubicBezTo>
                <a:cubicBezTo>
                  <a:pt x="2286" y="16963"/>
                  <a:pt x="2286" y="16963"/>
                  <a:pt x="2286" y="16963"/>
                </a:cubicBezTo>
                <a:cubicBezTo>
                  <a:pt x="2313" y="16963"/>
                  <a:pt x="2313" y="16963"/>
                  <a:pt x="2313" y="16963"/>
                </a:cubicBezTo>
                <a:cubicBezTo>
                  <a:pt x="2313" y="17145"/>
                  <a:pt x="2313" y="17145"/>
                  <a:pt x="2313" y="17145"/>
                </a:cubicBezTo>
                <a:cubicBezTo>
                  <a:pt x="2276" y="17145"/>
                  <a:pt x="2276" y="17145"/>
                  <a:pt x="2276" y="17145"/>
                </a:cubicBezTo>
                <a:cubicBezTo>
                  <a:pt x="2276" y="19260"/>
                  <a:pt x="2276" y="19260"/>
                  <a:pt x="2276" y="19260"/>
                </a:cubicBezTo>
                <a:cubicBezTo>
                  <a:pt x="2235" y="19260"/>
                  <a:pt x="2235" y="19260"/>
                  <a:pt x="2235" y="19260"/>
                </a:cubicBezTo>
                <a:cubicBezTo>
                  <a:pt x="2235" y="19428"/>
                  <a:pt x="2235" y="19428"/>
                  <a:pt x="2235" y="19428"/>
                </a:cubicBezTo>
                <a:cubicBezTo>
                  <a:pt x="2203" y="19428"/>
                  <a:pt x="2203" y="19428"/>
                  <a:pt x="2203" y="19428"/>
                </a:cubicBezTo>
                <a:cubicBezTo>
                  <a:pt x="2203" y="19652"/>
                  <a:pt x="2203" y="19652"/>
                  <a:pt x="2203" y="19652"/>
                </a:cubicBezTo>
                <a:cubicBezTo>
                  <a:pt x="2170" y="19652"/>
                  <a:pt x="2170" y="19652"/>
                  <a:pt x="2170" y="19652"/>
                </a:cubicBezTo>
                <a:cubicBezTo>
                  <a:pt x="2124" y="19512"/>
                  <a:pt x="2124" y="19512"/>
                  <a:pt x="2124" y="19512"/>
                </a:cubicBezTo>
                <a:cubicBezTo>
                  <a:pt x="2124" y="16711"/>
                  <a:pt x="2124" y="16711"/>
                  <a:pt x="2124" y="16711"/>
                </a:cubicBezTo>
                <a:cubicBezTo>
                  <a:pt x="1865" y="16711"/>
                  <a:pt x="1865" y="16711"/>
                  <a:pt x="1865" y="16711"/>
                </a:cubicBezTo>
                <a:cubicBezTo>
                  <a:pt x="1865" y="19989"/>
                  <a:pt x="1865" y="19989"/>
                  <a:pt x="1865" y="19989"/>
                </a:cubicBezTo>
                <a:cubicBezTo>
                  <a:pt x="1792" y="19989"/>
                  <a:pt x="1792" y="19989"/>
                  <a:pt x="1792" y="19989"/>
                </a:cubicBezTo>
                <a:cubicBezTo>
                  <a:pt x="1792" y="20241"/>
                  <a:pt x="1792" y="20241"/>
                  <a:pt x="1792" y="20241"/>
                </a:cubicBezTo>
                <a:cubicBezTo>
                  <a:pt x="1727" y="20241"/>
                  <a:pt x="1727" y="20241"/>
                  <a:pt x="1727" y="20241"/>
                </a:cubicBezTo>
                <a:cubicBezTo>
                  <a:pt x="1727" y="20115"/>
                  <a:pt x="1727" y="20115"/>
                  <a:pt x="1727" y="20115"/>
                </a:cubicBezTo>
                <a:cubicBezTo>
                  <a:pt x="1687" y="20115"/>
                  <a:pt x="1687" y="20115"/>
                  <a:pt x="1687" y="20115"/>
                </a:cubicBezTo>
                <a:cubicBezTo>
                  <a:pt x="1687" y="17327"/>
                  <a:pt x="1687" y="17327"/>
                  <a:pt x="1687" y="17327"/>
                </a:cubicBezTo>
                <a:cubicBezTo>
                  <a:pt x="1622" y="17327"/>
                  <a:pt x="1622" y="17327"/>
                  <a:pt x="1622" y="17327"/>
                </a:cubicBezTo>
                <a:cubicBezTo>
                  <a:pt x="1622" y="17201"/>
                  <a:pt x="1622" y="17201"/>
                  <a:pt x="1622" y="17201"/>
                </a:cubicBezTo>
                <a:cubicBezTo>
                  <a:pt x="1447" y="17201"/>
                  <a:pt x="1447" y="17201"/>
                  <a:pt x="1447" y="17201"/>
                </a:cubicBezTo>
                <a:cubicBezTo>
                  <a:pt x="1447" y="17383"/>
                  <a:pt x="1447" y="17383"/>
                  <a:pt x="1447" y="17383"/>
                </a:cubicBezTo>
                <a:cubicBezTo>
                  <a:pt x="1390" y="17383"/>
                  <a:pt x="1390" y="17383"/>
                  <a:pt x="1390" y="17383"/>
                </a:cubicBezTo>
                <a:cubicBezTo>
                  <a:pt x="1390" y="17187"/>
                  <a:pt x="1390" y="17187"/>
                  <a:pt x="1390" y="17187"/>
                </a:cubicBezTo>
                <a:cubicBezTo>
                  <a:pt x="1352" y="17187"/>
                  <a:pt x="1352" y="17187"/>
                  <a:pt x="1352" y="17187"/>
                </a:cubicBezTo>
                <a:cubicBezTo>
                  <a:pt x="1352" y="17187"/>
                  <a:pt x="1314" y="16375"/>
                  <a:pt x="1231" y="16375"/>
                </a:cubicBezTo>
                <a:cubicBezTo>
                  <a:pt x="1147" y="16375"/>
                  <a:pt x="1082" y="17145"/>
                  <a:pt x="1082" y="17145"/>
                </a:cubicBezTo>
                <a:cubicBezTo>
                  <a:pt x="1058" y="17145"/>
                  <a:pt x="1058" y="17145"/>
                  <a:pt x="1058" y="17145"/>
                </a:cubicBezTo>
                <a:cubicBezTo>
                  <a:pt x="1058" y="17411"/>
                  <a:pt x="1058" y="17411"/>
                  <a:pt x="1058" y="17411"/>
                </a:cubicBezTo>
                <a:cubicBezTo>
                  <a:pt x="1007" y="17411"/>
                  <a:pt x="1007" y="17411"/>
                  <a:pt x="1007" y="17411"/>
                </a:cubicBezTo>
                <a:cubicBezTo>
                  <a:pt x="1007" y="17271"/>
                  <a:pt x="1007" y="17271"/>
                  <a:pt x="1007" y="17271"/>
                </a:cubicBezTo>
                <a:cubicBezTo>
                  <a:pt x="863" y="17271"/>
                  <a:pt x="863" y="17271"/>
                  <a:pt x="863" y="17271"/>
                </a:cubicBezTo>
                <a:cubicBezTo>
                  <a:pt x="863" y="17439"/>
                  <a:pt x="863" y="17439"/>
                  <a:pt x="863" y="17439"/>
                </a:cubicBezTo>
                <a:cubicBezTo>
                  <a:pt x="818" y="17439"/>
                  <a:pt x="818" y="17439"/>
                  <a:pt x="818" y="17439"/>
                </a:cubicBezTo>
                <a:cubicBezTo>
                  <a:pt x="777" y="17607"/>
                  <a:pt x="777" y="17607"/>
                  <a:pt x="777" y="17607"/>
                </a:cubicBezTo>
                <a:cubicBezTo>
                  <a:pt x="777" y="18644"/>
                  <a:pt x="777" y="18644"/>
                  <a:pt x="777" y="18644"/>
                </a:cubicBezTo>
                <a:cubicBezTo>
                  <a:pt x="723" y="18644"/>
                  <a:pt x="723" y="18644"/>
                  <a:pt x="723" y="18644"/>
                </a:cubicBezTo>
                <a:cubicBezTo>
                  <a:pt x="723" y="19232"/>
                  <a:pt x="723" y="19232"/>
                  <a:pt x="723" y="19232"/>
                </a:cubicBezTo>
                <a:cubicBezTo>
                  <a:pt x="680" y="19232"/>
                  <a:pt x="680" y="19232"/>
                  <a:pt x="680" y="19232"/>
                </a:cubicBezTo>
                <a:cubicBezTo>
                  <a:pt x="680" y="18560"/>
                  <a:pt x="680" y="18560"/>
                  <a:pt x="680" y="18560"/>
                </a:cubicBezTo>
                <a:cubicBezTo>
                  <a:pt x="637" y="18560"/>
                  <a:pt x="637" y="18560"/>
                  <a:pt x="637" y="18560"/>
                </a:cubicBezTo>
                <a:cubicBezTo>
                  <a:pt x="637" y="18798"/>
                  <a:pt x="637" y="18798"/>
                  <a:pt x="637" y="18798"/>
                </a:cubicBezTo>
                <a:cubicBezTo>
                  <a:pt x="588" y="18798"/>
                  <a:pt x="588" y="18798"/>
                  <a:pt x="588" y="18798"/>
                </a:cubicBezTo>
                <a:cubicBezTo>
                  <a:pt x="588" y="18644"/>
                  <a:pt x="588" y="18644"/>
                  <a:pt x="588" y="18644"/>
                </a:cubicBezTo>
                <a:cubicBezTo>
                  <a:pt x="526" y="18644"/>
                  <a:pt x="526" y="18644"/>
                  <a:pt x="526" y="18644"/>
                </a:cubicBezTo>
                <a:cubicBezTo>
                  <a:pt x="526" y="18378"/>
                  <a:pt x="526" y="18378"/>
                  <a:pt x="526" y="18378"/>
                </a:cubicBezTo>
                <a:cubicBezTo>
                  <a:pt x="491" y="18196"/>
                  <a:pt x="491" y="18196"/>
                  <a:pt x="491" y="18196"/>
                </a:cubicBezTo>
                <a:cubicBezTo>
                  <a:pt x="453" y="17971"/>
                  <a:pt x="453" y="17971"/>
                  <a:pt x="453" y="17971"/>
                </a:cubicBezTo>
                <a:cubicBezTo>
                  <a:pt x="361" y="17971"/>
                  <a:pt x="361" y="17971"/>
                  <a:pt x="361" y="17971"/>
                </a:cubicBezTo>
                <a:cubicBezTo>
                  <a:pt x="275" y="18308"/>
                  <a:pt x="275" y="18308"/>
                  <a:pt x="275" y="18308"/>
                </a:cubicBezTo>
                <a:cubicBezTo>
                  <a:pt x="210" y="18308"/>
                  <a:pt x="210" y="18308"/>
                  <a:pt x="210" y="18308"/>
                </a:cubicBezTo>
                <a:cubicBezTo>
                  <a:pt x="210" y="19624"/>
                  <a:pt x="210" y="19624"/>
                  <a:pt x="210" y="19624"/>
                </a:cubicBezTo>
                <a:cubicBezTo>
                  <a:pt x="151" y="19008"/>
                  <a:pt x="151" y="19008"/>
                  <a:pt x="151" y="19008"/>
                </a:cubicBezTo>
                <a:cubicBezTo>
                  <a:pt x="151" y="18672"/>
                  <a:pt x="151" y="18672"/>
                  <a:pt x="151" y="18672"/>
                </a:cubicBezTo>
                <a:cubicBezTo>
                  <a:pt x="0" y="18672"/>
                  <a:pt x="0" y="18672"/>
                  <a:pt x="0" y="18672"/>
                </a:cubicBezTo>
                <a:cubicBezTo>
                  <a:pt x="0" y="21600"/>
                  <a:pt x="0" y="21600"/>
                  <a:pt x="0" y="21600"/>
                </a:cubicBezTo>
                <a:cubicBezTo>
                  <a:pt x="21600" y="21600"/>
                  <a:pt x="21600" y="21600"/>
                  <a:pt x="21600" y="21600"/>
                </a:cubicBezTo>
                <a:cubicBezTo>
                  <a:pt x="21600" y="20619"/>
                  <a:pt x="21600" y="20619"/>
                  <a:pt x="21600" y="20619"/>
                </a:cubicBezTo>
                <a:lnTo>
                  <a:pt x="21540" y="20619"/>
                </a:lnTo>
              </a:path>
              <a:path w="21600" h="21600">
                <a:moveTo>
                  <a:pt x="9096" y="20409"/>
                </a:moveTo>
                <a:cubicBezTo>
                  <a:pt x="9061" y="20409"/>
                  <a:pt x="9061" y="20409"/>
                  <a:pt x="9061" y="20409"/>
                </a:cubicBezTo>
                <a:cubicBezTo>
                  <a:pt x="9061" y="19722"/>
                  <a:pt x="9061" y="19722"/>
                  <a:pt x="9061" y="19722"/>
                </a:cubicBezTo>
                <a:cubicBezTo>
                  <a:pt x="9096" y="19722"/>
                  <a:pt x="9096" y="19722"/>
                  <a:pt x="9096" y="19722"/>
                </a:cubicBezTo>
                <a:lnTo>
                  <a:pt x="9096" y="20409"/>
                </a:lnTo>
              </a:path>
              <a:path w="21600" h="21600">
                <a:moveTo>
                  <a:pt x="9096" y="19456"/>
                </a:moveTo>
                <a:cubicBezTo>
                  <a:pt x="9061" y="19456"/>
                  <a:pt x="9061" y="19456"/>
                  <a:pt x="9061" y="19456"/>
                </a:cubicBezTo>
                <a:cubicBezTo>
                  <a:pt x="9061" y="18700"/>
                  <a:pt x="9061" y="18700"/>
                  <a:pt x="9061" y="18700"/>
                </a:cubicBezTo>
                <a:cubicBezTo>
                  <a:pt x="9096" y="18700"/>
                  <a:pt x="9096" y="18700"/>
                  <a:pt x="9096" y="18700"/>
                </a:cubicBezTo>
                <a:lnTo>
                  <a:pt x="9096" y="19456"/>
                </a:lnTo>
              </a:path>
              <a:path w="21600" h="21600">
                <a:moveTo>
                  <a:pt x="9061" y="15982"/>
                </a:moveTo>
                <a:cubicBezTo>
                  <a:pt x="9061" y="15380"/>
                  <a:pt x="9061" y="15380"/>
                  <a:pt x="9061" y="15380"/>
                </a:cubicBezTo>
                <a:cubicBezTo>
                  <a:pt x="9061" y="15380"/>
                  <a:pt x="9107" y="15450"/>
                  <a:pt x="9107" y="15674"/>
                </a:cubicBezTo>
                <a:cubicBezTo>
                  <a:pt x="9107" y="15912"/>
                  <a:pt x="9061" y="15982"/>
                  <a:pt x="9061" y="15982"/>
                </a:cubicBezTo>
              </a:path>
              <a:path w="21600" h="21600">
                <a:moveTo>
                  <a:pt x="9061" y="14848"/>
                </a:moveTo>
                <a:cubicBezTo>
                  <a:pt x="9061" y="14343"/>
                  <a:pt x="9061" y="14343"/>
                  <a:pt x="9061" y="14343"/>
                </a:cubicBezTo>
                <a:cubicBezTo>
                  <a:pt x="9061" y="14343"/>
                  <a:pt x="9107" y="14414"/>
                  <a:pt x="9107" y="14596"/>
                </a:cubicBezTo>
                <a:cubicBezTo>
                  <a:pt x="9107" y="14778"/>
                  <a:pt x="9061" y="14848"/>
                  <a:pt x="9061" y="14848"/>
                </a:cubicBezTo>
              </a:path>
              <a:path w="21600" h="21600">
                <a:moveTo>
                  <a:pt x="9061" y="13839"/>
                </a:moveTo>
                <a:cubicBezTo>
                  <a:pt x="9061" y="13307"/>
                  <a:pt x="9061" y="13307"/>
                  <a:pt x="9061" y="13307"/>
                </a:cubicBezTo>
                <a:cubicBezTo>
                  <a:pt x="9061" y="13307"/>
                  <a:pt x="9107" y="13349"/>
                  <a:pt x="9107" y="13573"/>
                </a:cubicBezTo>
                <a:cubicBezTo>
                  <a:pt x="9107" y="13797"/>
                  <a:pt x="9061" y="13839"/>
                  <a:pt x="9061" y="13839"/>
                </a:cubicBezTo>
              </a:path>
              <a:path w="21600" h="21600">
                <a:moveTo>
                  <a:pt x="9061" y="12761"/>
                </a:moveTo>
                <a:cubicBezTo>
                  <a:pt x="9061" y="12214"/>
                  <a:pt x="9061" y="12214"/>
                  <a:pt x="9061" y="12214"/>
                </a:cubicBezTo>
                <a:cubicBezTo>
                  <a:pt x="9061" y="12214"/>
                  <a:pt x="9107" y="12298"/>
                  <a:pt x="9107" y="12480"/>
                </a:cubicBezTo>
                <a:cubicBezTo>
                  <a:pt x="9107" y="12677"/>
                  <a:pt x="9061" y="12761"/>
                  <a:pt x="9061" y="12761"/>
                </a:cubicBezTo>
              </a:path>
              <a:path w="21600" h="21600">
                <a:moveTo>
                  <a:pt x="9061" y="11696"/>
                </a:moveTo>
                <a:cubicBezTo>
                  <a:pt x="9061" y="11150"/>
                  <a:pt x="9061" y="11150"/>
                  <a:pt x="9061" y="11150"/>
                </a:cubicBezTo>
                <a:cubicBezTo>
                  <a:pt x="9061" y="11150"/>
                  <a:pt x="9107" y="11206"/>
                  <a:pt x="9107" y="11416"/>
                </a:cubicBezTo>
                <a:cubicBezTo>
                  <a:pt x="9107" y="11640"/>
                  <a:pt x="9061" y="11696"/>
                  <a:pt x="9061" y="11696"/>
                </a:cubicBezTo>
              </a:path>
              <a:path w="21600" h="21600">
                <a:moveTo>
                  <a:pt x="9061" y="10589"/>
                </a:moveTo>
                <a:cubicBezTo>
                  <a:pt x="9061" y="10057"/>
                  <a:pt x="9061" y="10057"/>
                  <a:pt x="9061" y="10057"/>
                </a:cubicBezTo>
                <a:cubicBezTo>
                  <a:pt x="9061" y="10057"/>
                  <a:pt x="9107" y="10085"/>
                  <a:pt x="9107" y="10323"/>
                </a:cubicBezTo>
                <a:cubicBezTo>
                  <a:pt x="9107" y="10561"/>
                  <a:pt x="9061" y="10589"/>
                  <a:pt x="9061" y="10589"/>
                </a:cubicBezTo>
              </a:path>
              <a:path w="21600" h="21600">
                <a:moveTo>
                  <a:pt x="15001" y="7984"/>
                </a:moveTo>
                <a:cubicBezTo>
                  <a:pt x="14871" y="8152"/>
                  <a:pt x="14871" y="8152"/>
                  <a:pt x="14871" y="8152"/>
                </a:cubicBezTo>
                <a:cubicBezTo>
                  <a:pt x="14823" y="7410"/>
                  <a:pt x="14823" y="7410"/>
                  <a:pt x="14823" y="7410"/>
                </a:cubicBezTo>
                <a:cubicBezTo>
                  <a:pt x="15028" y="7115"/>
                  <a:pt x="15028" y="7115"/>
                  <a:pt x="15028" y="7115"/>
                </a:cubicBezTo>
                <a:lnTo>
                  <a:pt x="15001" y="7984"/>
                </a:lnTo>
                <a:close/>
              </a:path>
            </a:pathLst>
          </a:custGeom>
          <a:noFill/>
          <a:ln w="9525" cap="flat" cmpd="sng">
            <a:gradFill rotWithShape="1">
              <a:gsLst>
                <a:gs pos="0">
                  <a:srgbClr val="4F81BD">
                    <a:lumMod val="5000"/>
                    <a:lumOff val="95000"/>
                    <a:alpha val="100000"/>
                  </a:srgbClr>
                </a:gs>
                <a:gs pos="100000">
                  <a:srgbClr val="28A9D6">
                    <a:alpha val="100000"/>
                  </a:srgbClr>
                </a:gs>
              </a:gsLst>
              <a:lin ang="5400000" scaled="1"/>
            </a:gradFill>
            <a:prstDash val="solid"/>
            <a:round/>
          </a:ln>
        </p:spPr>
      </p:sp>
      <p:sp>
        <p:nvSpPr>
          <p:cNvPr id="13" name="矩形"/>
          <p:cNvSpPr>
            <a:spLocks/>
          </p:cNvSpPr>
          <p:nvPr/>
        </p:nvSpPr>
        <p:spPr>
          <a:xfrm>
            <a:off x="0" y="2827137"/>
            <a:ext cx="9144000" cy="1285939"/>
          </a:xfrm>
          <a:prstGeom prst="rect">
            <a:avLst/>
          </a:prstGeom>
          <a:solidFill>
            <a:srgbClr val="28A9D6"/>
          </a:solidFill>
          <a:ln w="9525" cap="flat" cmpd="sng">
            <a:noFill/>
            <a:prstDash val="solid"/>
            <a:round/>
          </a:ln>
        </p:spPr>
      </p:sp>
      <p:sp>
        <p:nvSpPr>
          <p:cNvPr id="14" name="直线"/>
          <p:cNvSpPr>
            <a:spLocks/>
          </p:cNvSpPr>
          <p:nvPr/>
        </p:nvSpPr>
        <p:spPr>
          <a:xfrm>
            <a:off x="0" y="4137459"/>
            <a:ext cx="9144000" cy="0"/>
          </a:xfrm>
          <a:prstGeom prst="line">
            <a:avLst/>
          </a:prstGeom>
          <a:noFill/>
          <a:ln w="19050" cap="flat" cmpd="sng">
            <a:solidFill>
              <a:srgbClr val="28A9D6"/>
            </a:solidFill>
            <a:prstDash val="solid"/>
            <a:round/>
          </a:ln>
        </p:spPr>
      </p:sp>
      <p:sp>
        <p:nvSpPr>
          <p:cNvPr id="15" name="矩形"/>
          <p:cNvSpPr>
            <a:spLocks/>
          </p:cNvSpPr>
          <p:nvPr/>
        </p:nvSpPr>
        <p:spPr>
          <a:xfrm>
            <a:off x="1357644" y="3172380"/>
            <a:ext cx="6308864" cy="707886"/>
          </a:xfrm>
          <a:prstGeom prst="rect">
            <a:avLst/>
          </a:prstGeom>
          <a:noFill/>
          <a:ln w="9525" cap="flat" cmpd="sng">
            <a:noFill/>
            <a:prstDash val="solid"/>
            <a:miter/>
          </a:ln>
          <a:effectLst>
            <a:outerShdw blurRad="50800" dist="38100" dir="2700000" algn="tl" rotWithShape="0">
              <a:srgbClr val="000000">
                <a:alpha val="39607"/>
              </a:srgbClr>
            </a:outerShdw>
          </a:effectLst>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zh-CN" altLang="en-US" sz="4000" b="1" i="0" u="none" strike="noStrike" kern="1200" cap="none" spc="0" baseline="0" dirty="0">
                <a:solidFill>
                  <a:schemeClr val="bg1"/>
                </a:solidFill>
                <a:latin typeface="Times New Roman" charset="0"/>
                <a:ea typeface="黑体" pitchFamily="49" charset="-122"/>
                <a:cs typeface="Times New Roman" charset="0"/>
              </a:rPr>
              <a:t>正则表达式</a:t>
            </a:r>
            <a:endParaRPr lang="zh-CN" altLang="en-US" sz="1050" b="1" i="0" u="none" strike="noStrike" kern="1200" cap="none" spc="0" baseline="0" dirty="0">
              <a:ln w="3175" cap="flat">
                <a:solidFill>
                  <a:srgbClr val="31A5D7"/>
                </a:solidFill>
                <a:prstDash val="solid"/>
                <a:round/>
              </a:ln>
              <a:solidFill>
                <a:schemeClr val="bg1"/>
              </a:solidFill>
              <a:latin typeface="华康俪金黑W8" pitchFamily="49" charset="-122"/>
              <a:ea typeface="华康俪金黑W8" pitchFamily="49" charset="-122"/>
              <a:cs typeface="Copperplate Gothic Bold" charset="0"/>
            </a:endParaRPr>
          </a:p>
        </p:txBody>
      </p:sp>
    </p:spTree>
    <p:extLst>
      <p:ext uri="{BB962C8B-B14F-4D97-AF65-F5344CB8AC3E}">
        <p14:creationId xmlns:p14="http://schemas.microsoft.com/office/powerpoint/2010/main" val="77293081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9" name="直线"/>
          <p:cNvSpPr>
            <a:spLocks/>
          </p:cNvSpPr>
          <p:nvPr/>
        </p:nvSpPr>
        <p:spPr>
          <a:xfrm>
            <a:off x="3821993" y="2434415"/>
            <a:ext cx="1404765" cy="0"/>
          </a:xfrm>
          <a:prstGeom prst="line">
            <a:avLst/>
          </a:prstGeom>
          <a:noFill/>
          <a:ln w="19050" cap="flat" cmpd="sng">
            <a:gradFill rotWithShape="1">
              <a:gsLst>
                <a:gs pos="48000">
                  <a:srgbClr val="FFFFFF">
                    <a:alpha val="100000"/>
                  </a:srgbClr>
                </a:gs>
                <a:gs pos="0">
                  <a:srgbClr val="FFFFFF">
                    <a:lumMod val="75000"/>
                    <a:alpha val="100000"/>
                  </a:srgbClr>
                </a:gs>
                <a:gs pos="100000">
                  <a:srgbClr val="FFFFFF">
                    <a:alpha val="100000"/>
                  </a:srgbClr>
                </a:gs>
              </a:gsLst>
              <a:lin ang="5400000" scaled="1"/>
            </a:gradFill>
            <a:prstDash val="solid"/>
            <a:round/>
          </a:ln>
          <a:effectLst>
            <a:innerShdw blurRad="63500" dist="50800" dir="5400000">
              <a:srgbClr val="000000">
                <a:alpha val="49803"/>
              </a:srgbClr>
            </a:innerShdw>
          </a:effectLst>
        </p:spPr>
      </p:sp>
      <p:sp>
        <p:nvSpPr>
          <p:cNvPr id="40" name="直线"/>
          <p:cNvSpPr>
            <a:spLocks/>
          </p:cNvSpPr>
          <p:nvPr/>
        </p:nvSpPr>
        <p:spPr>
          <a:xfrm>
            <a:off x="3821993" y="2072465"/>
            <a:ext cx="1404765" cy="0"/>
          </a:xfrm>
          <a:prstGeom prst="line">
            <a:avLst/>
          </a:prstGeom>
          <a:noFill/>
          <a:ln w="19050" cap="flat" cmpd="sng">
            <a:gradFill rotWithShape="1">
              <a:gsLst>
                <a:gs pos="48000">
                  <a:srgbClr val="FFFFFF">
                    <a:alpha val="100000"/>
                  </a:srgbClr>
                </a:gs>
                <a:gs pos="0">
                  <a:srgbClr val="FFFFFF">
                    <a:lumMod val="75000"/>
                    <a:alpha val="100000"/>
                  </a:srgbClr>
                </a:gs>
                <a:gs pos="100000">
                  <a:srgbClr val="FFFFFF">
                    <a:alpha val="100000"/>
                  </a:srgbClr>
                </a:gs>
              </a:gsLst>
              <a:lin ang="5400000" scaled="1"/>
            </a:gradFill>
            <a:prstDash val="solid"/>
            <a:round/>
          </a:ln>
          <a:effectLst>
            <a:innerShdw blurRad="63500" dist="50800" dir="5400000">
              <a:srgbClr val="000000">
                <a:alpha val="49803"/>
              </a:srgbClr>
            </a:innerShdw>
          </a:effectLst>
        </p:spPr>
      </p:sp>
      <p:sp>
        <p:nvSpPr>
          <p:cNvPr id="81" name="文本框"/>
          <p:cNvSpPr>
            <a:spLocks noGrp="1"/>
          </p:cNvSpPr>
          <p:nvPr>
            <p:ph type="sldNum" sz="quarter" idx="12"/>
          </p:nvPr>
        </p:nvSpPr>
        <p:spPr>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ctr">
              <a:lnSpc>
                <a:spcPct val="100000"/>
              </a:lnSpc>
              <a:spcBef>
                <a:spcPts val="0"/>
              </a:spcBef>
              <a:spcAft>
                <a:spcPts val="0"/>
              </a:spcAft>
              <a:buNone/>
            </a:pPr>
            <a:fld id="{CAD2D6BD-DE1B-4B5F-8B41-2702339687B9}" type="slidenum">
              <a:rPr lang="en-US" altLang="zh-CN" sz="1200" b="0" i="0" u="none" strike="noStrike" kern="1200" cap="none" spc="0" baseline="0">
                <a:solidFill>
                  <a:srgbClr val="000000"/>
                </a:solidFill>
                <a:latin typeface="宋体" charset="0"/>
                <a:ea typeface="宋体" charset="0"/>
                <a:cs typeface="Copperplate Gothic Bold" charset="0"/>
              </a:rPr>
              <a:t>2</a:t>
            </a:fld>
            <a:endParaRPr lang="zh-CN" altLang="en-US" sz="1200" b="0" i="0" u="none" strike="noStrike" kern="1200" cap="none" spc="0" baseline="0">
              <a:solidFill>
                <a:srgbClr val="000000"/>
              </a:solidFill>
              <a:latin typeface="宋体" charset="0"/>
              <a:ea typeface="宋体" charset="0"/>
              <a:cs typeface="Copperplate Gothic Bold" charset="0"/>
            </a:endParaRPr>
          </a:p>
        </p:txBody>
      </p:sp>
      <p:sp>
        <p:nvSpPr>
          <p:cNvPr id="145" name="文本框"/>
          <p:cNvSpPr txBox="1">
            <a:spLocks/>
          </p:cNvSpPr>
          <p:nvPr/>
        </p:nvSpPr>
        <p:spPr>
          <a:xfrm>
            <a:off x="214319" y="231775"/>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fontAlgn="base" hangingPunct="1">
              <a:lnSpc>
                <a:spcPct val="100000"/>
              </a:lnSpc>
              <a:spcBef>
                <a:spcPts val="0"/>
              </a:spcBef>
              <a:spcAft>
                <a:spcPts val="0"/>
              </a:spcAft>
              <a:buNone/>
            </a:pPr>
            <a:r>
              <a:rPr lang="zh-CN" altLang="en-US" sz="4000" b="1" i="0" u="none" strike="noStrike" kern="1200" cap="none" spc="0" baseline="0">
                <a:solidFill>
                  <a:schemeClr val="tx1"/>
                </a:solidFill>
                <a:latin typeface="Verdana" pitchFamily="34" charset="0"/>
                <a:ea typeface="隶书" pitchFamily="49" charset="-122"/>
                <a:cs typeface="Verdana" pitchFamily="34" charset="0"/>
              </a:rPr>
              <a:t>目录</a:t>
            </a:r>
          </a:p>
        </p:txBody>
      </p:sp>
      <p:sp>
        <p:nvSpPr>
          <p:cNvPr id="157" name="矩形"/>
          <p:cNvSpPr>
            <a:spLocks/>
          </p:cNvSpPr>
          <p:nvPr/>
        </p:nvSpPr>
        <p:spPr>
          <a:xfrm>
            <a:off x="633398" y="2320635"/>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158" name="矩形"/>
          <p:cNvSpPr>
            <a:spLocks/>
          </p:cNvSpPr>
          <p:nvPr/>
        </p:nvSpPr>
        <p:spPr>
          <a:xfrm>
            <a:off x="633398" y="1645202"/>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159" name="矩形"/>
          <p:cNvSpPr>
            <a:spLocks/>
          </p:cNvSpPr>
          <p:nvPr/>
        </p:nvSpPr>
        <p:spPr>
          <a:xfrm>
            <a:off x="1704975" y="1724019"/>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rgbClr val="C00000"/>
                </a:solidFill>
                <a:latin typeface="微软雅黑" charset="0"/>
                <a:ea typeface="微软雅黑" charset="0"/>
                <a:cs typeface="Arial" pitchFamily="34" charset="0"/>
              </a:rPr>
              <a:t> 1 </a:t>
            </a:r>
            <a:r>
              <a:rPr lang="zh-CN" altLang="en-US" sz="2800" b="0" i="0" u="none" strike="noStrike" kern="1200" cap="none" spc="0" baseline="0" dirty="0">
                <a:solidFill>
                  <a:srgbClr val="C00000"/>
                </a:solidFill>
                <a:latin typeface="微软雅黑" charset="0"/>
                <a:ea typeface="微软雅黑" charset="0"/>
                <a:cs typeface="Arial" pitchFamily="34" charset="0"/>
              </a:rPr>
              <a:t>正则表达式简介</a:t>
            </a:r>
          </a:p>
        </p:txBody>
      </p:sp>
      <p:sp>
        <p:nvSpPr>
          <p:cNvPr id="160" name="矩形"/>
          <p:cNvSpPr>
            <a:spLocks/>
          </p:cNvSpPr>
          <p:nvPr/>
        </p:nvSpPr>
        <p:spPr>
          <a:xfrm>
            <a:off x="1704975" y="2406644"/>
            <a:ext cx="4649788" cy="457199"/>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2 </a:t>
            </a:r>
            <a:r>
              <a:rPr lang="zh-CN" altLang="en-US" sz="2800" b="0" i="0" u="none" strike="noStrike" kern="1200" cap="none" spc="0" baseline="0" dirty="0">
                <a:solidFill>
                  <a:schemeClr val="tx1"/>
                </a:solidFill>
                <a:latin typeface="微软雅黑" charset="0"/>
                <a:ea typeface="微软雅黑" charset="0"/>
                <a:cs typeface="Arial" pitchFamily="34" charset="0"/>
              </a:rPr>
              <a:t>简单模式</a:t>
            </a:r>
          </a:p>
        </p:txBody>
      </p:sp>
      <p:sp>
        <p:nvSpPr>
          <p:cNvPr id="161" name="矩形"/>
          <p:cNvSpPr>
            <a:spLocks/>
          </p:cNvSpPr>
          <p:nvPr/>
        </p:nvSpPr>
        <p:spPr>
          <a:xfrm>
            <a:off x="633398" y="3021151"/>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162" name="矩形"/>
          <p:cNvSpPr>
            <a:spLocks/>
          </p:cNvSpPr>
          <p:nvPr/>
        </p:nvSpPr>
        <p:spPr>
          <a:xfrm>
            <a:off x="1704975" y="3090857"/>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3 </a:t>
            </a:r>
            <a:r>
              <a:rPr lang="en-US" altLang="zh-CN" sz="2800" b="0" i="0" u="none" strike="noStrike" kern="1200" cap="none" spc="0" baseline="0" dirty="0" err="1">
                <a:solidFill>
                  <a:schemeClr val="tx1"/>
                </a:solidFill>
                <a:latin typeface="微软雅黑" charset="0"/>
                <a:ea typeface="微软雅黑" charset="0"/>
                <a:cs typeface="Arial" pitchFamily="34" charset="0"/>
              </a:rPr>
              <a:t>使用正则表达式</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163" name="矩形"/>
          <p:cNvSpPr>
            <a:spLocks/>
          </p:cNvSpPr>
          <p:nvPr/>
        </p:nvSpPr>
        <p:spPr>
          <a:xfrm>
            <a:off x="633398" y="3703753"/>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164" name="矩形"/>
          <p:cNvSpPr>
            <a:spLocks/>
          </p:cNvSpPr>
          <p:nvPr/>
        </p:nvSpPr>
        <p:spPr>
          <a:xfrm>
            <a:off x="1704975" y="3773458"/>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4 </a:t>
            </a:r>
            <a:r>
              <a:rPr lang="en-US" altLang="zh-CN" sz="2800" b="0" i="0" u="none" strike="noStrike" kern="1200" cap="none" spc="0" baseline="0" dirty="0" err="1">
                <a:solidFill>
                  <a:schemeClr val="tx1"/>
                </a:solidFill>
                <a:latin typeface="微软雅黑" charset="0"/>
                <a:ea typeface="微软雅黑" charset="0"/>
                <a:cs typeface="Arial" pitchFamily="34" charset="0"/>
              </a:rPr>
              <a:t>更多模式功能</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165" name="矩形"/>
          <p:cNvSpPr>
            <a:spLocks/>
          </p:cNvSpPr>
          <p:nvPr/>
        </p:nvSpPr>
        <p:spPr>
          <a:xfrm>
            <a:off x="613842" y="4393475"/>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166" name="矩形"/>
          <p:cNvSpPr>
            <a:spLocks/>
          </p:cNvSpPr>
          <p:nvPr/>
        </p:nvSpPr>
        <p:spPr>
          <a:xfrm>
            <a:off x="1685419" y="4463180"/>
            <a:ext cx="4656138" cy="457199"/>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5 </a:t>
            </a:r>
            <a:r>
              <a:rPr lang="en-US" altLang="zh-CN" sz="2800" b="0" i="0" u="none" strike="noStrike" kern="1200" cap="none" spc="0" baseline="0" dirty="0" err="1">
                <a:solidFill>
                  <a:schemeClr val="tx1"/>
                </a:solidFill>
                <a:latin typeface="微软雅黑" charset="0"/>
                <a:ea typeface="微软雅黑" charset="0"/>
                <a:cs typeface="Arial" pitchFamily="34" charset="0"/>
              </a:rPr>
              <a:t>修改字符串</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167" name="矩形"/>
          <p:cNvSpPr>
            <a:spLocks/>
          </p:cNvSpPr>
          <p:nvPr/>
        </p:nvSpPr>
        <p:spPr>
          <a:xfrm>
            <a:off x="634012" y="5096845"/>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168" name="矩形"/>
          <p:cNvSpPr>
            <a:spLocks/>
          </p:cNvSpPr>
          <p:nvPr/>
        </p:nvSpPr>
        <p:spPr>
          <a:xfrm>
            <a:off x="1705589" y="5166550"/>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6 </a:t>
            </a:r>
            <a:r>
              <a:rPr lang="en-US" altLang="zh-CN" sz="2800" b="0" i="0" u="none" strike="noStrike" kern="1200" cap="none" spc="0" baseline="0" dirty="0" err="1">
                <a:solidFill>
                  <a:schemeClr val="tx1"/>
                </a:solidFill>
                <a:latin typeface="微软雅黑" charset="0"/>
                <a:ea typeface="微软雅黑" charset="0"/>
                <a:cs typeface="Arial" pitchFamily="34" charset="0"/>
              </a:rPr>
              <a:t>常见问题</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Tree>
    <p:extLst>
      <p:ext uri="{BB962C8B-B14F-4D97-AF65-F5344CB8AC3E}">
        <p14:creationId xmlns:p14="http://schemas.microsoft.com/office/powerpoint/2010/main" val="2821949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82" name="直线"/>
          <p:cNvSpPr>
            <a:spLocks/>
          </p:cNvSpPr>
          <p:nvPr/>
        </p:nvSpPr>
        <p:spPr>
          <a:xfrm>
            <a:off x="3869617" y="2034371"/>
            <a:ext cx="1404765" cy="0"/>
          </a:xfrm>
          <a:prstGeom prst="line">
            <a:avLst/>
          </a:prstGeom>
          <a:noFill/>
          <a:ln w="19050" cap="flat" cmpd="sng">
            <a:gradFill rotWithShape="1">
              <a:gsLst>
                <a:gs pos="48000">
                  <a:srgbClr val="FFFFFF">
                    <a:alpha val="100000"/>
                  </a:srgbClr>
                </a:gs>
                <a:gs pos="0">
                  <a:srgbClr val="FFFFFF">
                    <a:lumMod val="75000"/>
                    <a:alpha val="100000"/>
                  </a:srgbClr>
                </a:gs>
                <a:gs pos="100000">
                  <a:srgbClr val="FFFFFF">
                    <a:alpha val="100000"/>
                  </a:srgbClr>
                </a:gs>
              </a:gsLst>
              <a:lin ang="5400000" scaled="1"/>
            </a:gradFill>
            <a:prstDash val="solid"/>
            <a:round/>
          </a:ln>
          <a:effectLst>
            <a:innerShdw blurRad="63500" dist="50800" dir="5400000">
              <a:srgbClr val="000000">
                <a:alpha val="49803"/>
              </a:srgbClr>
            </a:innerShdw>
          </a:effectLst>
        </p:spPr>
      </p:sp>
      <p:sp>
        <p:nvSpPr>
          <p:cNvPr id="83" name="直线"/>
          <p:cNvSpPr>
            <a:spLocks/>
          </p:cNvSpPr>
          <p:nvPr/>
        </p:nvSpPr>
        <p:spPr>
          <a:xfrm>
            <a:off x="3869617" y="1672421"/>
            <a:ext cx="1404765" cy="0"/>
          </a:xfrm>
          <a:prstGeom prst="line">
            <a:avLst/>
          </a:prstGeom>
          <a:noFill/>
          <a:ln w="19050" cap="flat" cmpd="sng">
            <a:gradFill rotWithShape="1">
              <a:gsLst>
                <a:gs pos="48000">
                  <a:srgbClr val="FFFFFF">
                    <a:alpha val="100000"/>
                  </a:srgbClr>
                </a:gs>
                <a:gs pos="0">
                  <a:srgbClr val="FFFFFF">
                    <a:lumMod val="75000"/>
                    <a:alpha val="100000"/>
                  </a:srgbClr>
                </a:gs>
                <a:gs pos="100000">
                  <a:srgbClr val="FFFFFF">
                    <a:alpha val="100000"/>
                  </a:srgbClr>
                </a:gs>
              </a:gsLst>
              <a:lin ang="5400000" scaled="1"/>
            </a:gradFill>
            <a:prstDash val="solid"/>
            <a:round/>
          </a:ln>
          <a:effectLst>
            <a:innerShdw blurRad="63500" dist="50800" dir="5400000">
              <a:srgbClr val="000000">
                <a:alpha val="49803"/>
              </a:srgbClr>
            </a:innerShdw>
          </a:effectLst>
        </p:spPr>
      </p:sp>
      <p:sp>
        <p:nvSpPr>
          <p:cNvPr id="84" name="矩形"/>
          <p:cNvSpPr>
            <a:spLocks/>
          </p:cNvSpPr>
          <p:nvPr/>
        </p:nvSpPr>
        <p:spPr>
          <a:xfrm>
            <a:off x="353842" y="1000036"/>
            <a:ext cx="4542194" cy="477202"/>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1" fontAlgn="base" hangingPunct="1">
              <a:lnSpc>
                <a:spcPct val="9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1</a:t>
            </a:r>
            <a:r>
              <a:rPr lang="zh-CN" altLang="en-US" sz="2800" b="0" i="0" u="none" strike="noStrike" kern="1200" cap="none" spc="0" baseline="0" dirty="0">
                <a:solidFill>
                  <a:srgbClr val="C00000"/>
                </a:solidFill>
                <a:latin typeface="微软雅黑" charset="0"/>
                <a:ea typeface="微软雅黑" charset="0"/>
                <a:cs typeface="Arial" pitchFamily="34" charset="0"/>
              </a:rPr>
              <a:t>正则表达式简介</a:t>
            </a:r>
            <a:endParaRPr lang="zh-CN" altLang="en-US" sz="1800" b="0" i="0" u="none" strike="noStrike" kern="1200" cap="none" spc="0" baseline="0" dirty="0">
              <a:solidFill>
                <a:schemeClr val="tx1"/>
              </a:solidFill>
              <a:latin typeface="Copperplate Gothic Bold" charset="0"/>
              <a:ea typeface="微软雅黑" charset="0"/>
              <a:cs typeface="Copperplate Gothic Bold" charset="0"/>
            </a:endParaRPr>
          </a:p>
        </p:txBody>
      </p:sp>
      <p:sp>
        <p:nvSpPr>
          <p:cNvPr id="85" name="矩形"/>
          <p:cNvSpPr>
            <a:spLocks/>
          </p:cNvSpPr>
          <p:nvPr/>
        </p:nvSpPr>
        <p:spPr>
          <a:xfrm>
            <a:off x="482878" y="2368057"/>
            <a:ext cx="8178243" cy="243027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pPr marL="0" indent="457200" algn="l" eaLnBrk="0" fontAlgn="base" hangingPunct="0">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正则表达式（</a:t>
            </a:r>
            <a:r>
              <a:rPr lang="en-US" altLang="zh-CN" sz="2000" b="0" i="0" u="none" strike="noStrike" kern="1200" cap="none" spc="0" baseline="0">
                <a:solidFill>
                  <a:schemeClr val="tx1"/>
                </a:solidFill>
                <a:latin typeface="Verdana" pitchFamily="34" charset="0"/>
                <a:ea typeface="宋体" charset="0"/>
                <a:cs typeface="Verdana" pitchFamily="34" charset="0"/>
              </a:rPr>
              <a:t>Regular Expressions</a:t>
            </a:r>
            <a:r>
              <a:rPr lang="zh-CN" altLang="en-US" sz="2000" b="0" i="0" u="none" strike="noStrike" kern="1200" cap="none" spc="0" baseline="0">
                <a:solidFill>
                  <a:schemeClr val="tx1"/>
                </a:solidFill>
                <a:latin typeface="Verdana" pitchFamily="34" charset="0"/>
                <a:ea typeface="宋体" charset="0"/>
                <a:cs typeface="Verdana" pitchFamily="34" charset="0"/>
              </a:rPr>
              <a:t>），通常被简称为</a:t>
            </a:r>
            <a:r>
              <a:rPr lang="en-US" altLang="zh-CN" sz="2000" b="0" i="0" u="none" strike="noStrike" kern="1200" cap="none" spc="0" baseline="0">
                <a:solidFill>
                  <a:schemeClr val="tx1"/>
                </a:solidFill>
                <a:latin typeface="Verdana" pitchFamily="34" charset="0"/>
                <a:ea typeface="宋体" charset="0"/>
                <a:cs typeface="Verdana" pitchFamily="34" charset="0"/>
              </a:rPr>
              <a:t>REs</a:t>
            </a:r>
            <a:r>
              <a:rPr lang="zh-CN" altLang="en-US" sz="2000" b="0" i="0" u="none" strike="noStrike" kern="1200" cap="none" spc="0" baseline="0">
                <a:solidFill>
                  <a:schemeClr val="tx1"/>
                </a:solidFill>
                <a:latin typeface="Verdana" pitchFamily="34" charset="0"/>
                <a:ea typeface="宋体" charset="0"/>
                <a:cs typeface="Verdana" pitchFamily="34" charset="0"/>
              </a:rPr>
              <a:t>或</a:t>
            </a:r>
            <a:r>
              <a:rPr lang="en-US" altLang="zh-CN" sz="2000" b="0" i="0" u="none" strike="noStrike" kern="1200" cap="none" spc="0" baseline="0">
                <a:solidFill>
                  <a:schemeClr val="tx1"/>
                </a:solidFill>
                <a:latin typeface="Verdana" pitchFamily="34" charset="0"/>
                <a:ea typeface="宋体" charset="0"/>
                <a:cs typeface="Verdana" pitchFamily="34" charset="0"/>
              </a:rPr>
              <a:t>regexes</a:t>
            </a:r>
            <a:r>
              <a:rPr lang="zh-CN" altLang="en-US" sz="2000" b="0" i="0" u="none" strike="noStrike" kern="1200" cap="none" spc="0" baseline="0">
                <a:solidFill>
                  <a:schemeClr val="tx1"/>
                </a:solidFill>
                <a:latin typeface="Verdana" pitchFamily="34" charset="0"/>
                <a:ea typeface="宋体" charset="0"/>
                <a:cs typeface="Verdana" pitchFamily="34" charset="0"/>
              </a:rPr>
              <a:t>，是一些由字符和特殊符号组成的字符串，它们描述了这些字符和字符的某种重复方式，因此能按某种模式匹配一个有相似特征的字符串的集合，也能按某模式匹配一系列有相似特征的字符串。</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457200" algn="l" eaLnBrk="0" fontAlgn="base" hangingPunct="0">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正则表达式提供了一种紧凑的表示法，可用于表示字符串的组合，其之所以功能如此强大，是因为一个单独的正则表达式可以表示无限数量的字符串，只要字符串满足正则表达式的需求即可。正则表达式为高级文本模式匹配，以及文本的搜索与替代等功能提供了基础。</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457200" indent="-457200" algn="l" defTabSz="1218565" eaLnBrk="1" latinLnBrk="0" hangingPunct="1">
              <a:lnSpc>
                <a:spcPct val="150000"/>
              </a:lnSpc>
              <a:spcBef>
                <a:spcPct val="20000"/>
              </a:spcBef>
              <a:spcAft>
                <a:spcPts val="0"/>
              </a:spcAft>
              <a:buNone/>
            </a:pPr>
            <a:endParaRPr lang="en-US" altLang="zh-CN" sz="1500" b="0" i="0" u="none" strike="noStrike" kern="1200" cap="none" spc="0" baseline="0">
              <a:solidFill>
                <a:schemeClr val="tx1"/>
              </a:solidFill>
              <a:latin typeface="Copperplate Gothic Bold" charset="0"/>
              <a:ea typeface="微软雅黑" charset="0"/>
              <a:cs typeface="Copperplate Gothic Bold" charset="0"/>
            </a:endParaRPr>
          </a:p>
          <a:p>
            <a:pPr marL="0" indent="0" algn="l" defTabSz="1218565" eaLnBrk="1" latinLnBrk="0" hangingPunct="1">
              <a:lnSpc>
                <a:spcPct val="100000"/>
              </a:lnSpc>
              <a:spcBef>
                <a:spcPct val="20000"/>
              </a:spcBef>
              <a:spcAft>
                <a:spcPts val="0"/>
              </a:spcAft>
              <a:buNone/>
            </a:pPr>
            <a:endParaRPr lang="zh-CN" altLang="en-US" sz="3200" b="0" i="0" u="none" strike="noStrike" kern="1200" cap="none" spc="0" baseline="0">
              <a:solidFill>
                <a:schemeClr val="tx1"/>
              </a:solidFill>
              <a:latin typeface="Copperplate Gothic Bold" charset="0"/>
              <a:ea typeface="微软雅黑" charset="0"/>
              <a:cs typeface="Copperplate Gothic Bold" charset="0"/>
            </a:endParaRPr>
          </a:p>
        </p:txBody>
      </p:sp>
      <p:sp>
        <p:nvSpPr>
          <p:cNvPr id="86" name="文本框"/>
          <p:cNvSpPr>
            <a:spLocks noGrp="1"/>
          </p:cNvSpPr>
          <p:nvPr>
            <p:ph type="sldNum" sz="quarter" idx="12"/>
          </p:nvPr>
        </p:nvSpPr>
        <p:spPr>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ctr">
              <a:lnSpc>
                <a:spcPct val="100000"/>
              </a:lnSpc>
              <a:spcBef>
                <a:spcPts val="0"/>
              </a:spcBef>
              <a:spcAft>
                <a:spcPts val="0"/>
              </a:spcAft>
              <a:buNone/>
            </a:pPr>
            <a:fld id="{CAD2D6BD-DE1B-4B5F-8B41-2702339687B9}" type="slidenum">
              <a:rPr lang="en-US" altLang="zh-CN" sz="1200" b="0" i="0" u="none" strike="noStrike" kern="1200" cap="none" spc="0" baseline="0">
                <a:solidFill>
                  <a:srgbClr val="000000"/>
                </a:solidFill>
                <a:latin typeface="宋体" charset="0"/>
                <a:ea typeface="宋体" charset="0"/>
                <a:cs typeface="Copperplate Gothic Bold" charset="0"/>
              </a:rPr>
              <a:t>3</a:t>
            </a:fld>
            <a:endParaRPr lang="zh-CN" altLang="en-US" sz="1200" b="0" i="0" u="none" strike="noStrike" kern="1200" cap="none" spc="0" baseline="0">
              <a:solidFill>
                <a:srgbClr val="000000"/>
              </a:solidFill>
              <a:latin typeface="宋体" charset="0"/>
              <a:ea typeface="宋体" charset="0"/>
              <a:cs typeface="Copperplate Gothic Bold" charset="0"/>
            </a:endParaRPr>
          </a:p>
        </p:txBody>
      </p:sp>
    </p:spTree>
    <p:extLst>
      <p:ext uri="{BB962C8B-B14F-4D97-AF65-F5344CB8AC3E}">
        <p14:creationId xmlns:p14="http://schemas.microsoft.com/office/powerpoint/2010/main" val="121751265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87" name="直线"/>
          <p:cNvSpPr>
            <a:spLocks/>
          </p:cNvSpPr>
          <p:nvPr/>
        </p:nvSpPr>
        <p:spPr>
          <a:xfrm>
            <a:off x="3869617" y="2034371"/>
            <a:ext cx="1404765" cy="0"/>
          </a:xfrm>
          <a:prstGeom prst="line">
            <a:avLst/>
          </a:prstGeom>
          <a:noFill/>
          <a:ln w="19050" cap="flat" cmpd="sng">
            <a:gradFill rotWithShape="1">
              <a:gsLst>
                <a:gs pos="48000">
                  <a:srgbClr val="FFFFFF">
                    <a:alpha val="100000"/>
                  </a:srgbClr>
                </a:gs>
                <a:gs pos="0">
                  <a:srgbClr val="FFFFFF">
                    <a:lumMod val="75000"/>
                    <a:alpha val="100000"/>
                  </a:srgbClr>
                </a:gs>
                <a:gs pos="100000">
                  <a:srgbClr val="FFFFFF">
                    <a:alpha val="100000"/>
                  </a:srgbClr>
                </a:gs>
              </a:gsLst>
              <a:lin ang="5400000" scaled="1"/>
            </a:gradFill>
            <a:prstDash val="solid"/>
            <a:round/>
          </a:ln>
          <a:effectLst>
            <a:innerShdw blurRad="63500" dist="50800" dir="5400000">
              <a:srgbClr val="000000">
                <a:alpha val="49803"/>
              </a:srgbClr>
            </a:innerShdw>
          </a:effectLst>
        </p:spPr>
      </p:sp>
      <p:sp>
        <p:nvSpPr>
          <p:cNvPr id="88" name="直线"/>
          <p:cNvSpPr>
            <a:spLocks/>
          </p:cNvSpPr>
          <p:nvPr/>
        </p:nvSpPr>
        <p:spPr>
          <a:xfrm>
            <a:off x="3869617" y="1672421"/>
            <a:ext cx="1404765" cy="0"/>
          </a:xfrm>
          <a:prstGeom prst="line">
            <a:avLst/>
          </a:prstGeom>
          <a:noFill/>
          <a:ln w="19050" cap="flat" cmpd="sng">
            <a:gradFill rotWithShape="1">
              <a:gsLst>
                <a:gs pos="48000">
                  <a:srgbClr val="FFFFFF">
                    <a:alpha val="100000"/>
                  </a:srgbClr>
                </a:gs>
                <a:gs pos="0">
                  <a:srgbClr val="FFFFFF">
                    <a:lumMod val="75000"/>
                    <a:alpha val="100000"/>
                  </a:srgbClr>
                </a:gs>
                <a:gs pos="100000">
                  <a:srgbClr val="FFFFFF">
                    <a:alpha val="100000"/>
                  </a:srgbClr>
                </a:gs>
              </a:gsLst>
              <a:lin ang="5400000" scaled="1"/>
            </a:gradFill>
            <a:prstDash val="solid"/>
            <a:round/>
          </a:ln>
          <a:effectLst>
            <a:innerShdw blurRad="63500" dist="50800" dir="5400000">
              <a:srgbClr val="000000">
                <a:alpha val="49803"/>
              </a:srgbClr>
            </a:innerShdw>
          </a:effectLst>
        </p:spPr>
      </p:sp>
      <p:sp>
        <p:nvSpPr>
          <p:cNvPr id="91" name="文本框"/>
          <p:cNvSpPr>
            <a:spLocks noGrp="1"/>
          </p:cNvSpPr>
          <p:nvPr>
            <p:ph type="sldNum" sz="quarter" idx="12"/>
          </p:nvPr>
        </p:nvSpPr>
        <p:spPr>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ctr">
              <a:lnSpc>
                <a:spcPct val="100000"/>
              </a:lnSpc>
              <a:spcBef>
                <a:spcPts val="0"/>
              </a:spcBef>
              <a:spcAft>
                <a:spcPts val="0"/>
              </a:spcAft>
              <a:buNone/>
            </a:pPr>
            <a:fld id="{CAD2D6BD-DE1B-4B5F-8B41-2702339687B9}" type="slidenum">
              <a:rPr lang="en-US" altLang="zh-CN" sz="1200" b="0" i="0" u="none" strike="noStrike" kern="1200" cap="none" spc="0" baseline="0">
                <a:solidFill>
                  <a:srgbClr val="000000"/>
                </a:solidFill>
                <a:latin typeface="宋体" charset="0"/>
                <a:ea typeface="宋体" charset="0"/>
                <a:cs typeface="Copperplate Gothic Bold" charset="0"/>
              </a:rPr>
              <a:t>4</a:t>
            </a:fld>
            <a:endParaRPr lang="zh-CN" altLang="en-US" sz="1200" b="0" i="0" u="none" strike="noStrike" kern="1200" cap="none" spc="0" baseline="0">
              <a:solidFill>
                <a:srgbClr val="000000"/>
              </a:solidFill>
              <a:latin typeface="宋体" charset="0"/>
              <a:ea typeface="宋体" charset="0"/>
              <a:cs typeface="Copperplate Gothic Bold" charset="0"/>
            </a:endParaRPr>
          </a:p>
        </p:txBody>
      </p:sp>
      <p:sp>
        <p:nvSpPr>
          <p:cNvPr id="169" name="文本框"/>
          <p:cNvSpPr txBox="1">
            <a:spLocks/>
          </p:cNvSpPr>
          <p:nvPr/>
        </p:nvSpPr>
        <p:spPr>
          <a:xfrm>
            <a:off x="352419" y="257171"/>
            <a:ext cx="4762427" cy="69151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4000" b="1" i="0" u="none" strike="noStrike" kern="1200" cap="none" spc="0" baseline="0">
                <a:solidFill>
                  <a:schemeClr val="tx1"/>
                </a:solidFill>
                <a:latin typeface="Times New Roman" charset="0"/>
                <a:ea typeface="隶书" pitchFamily="49" charset="-122"/>
                <a:cs typeface="Times New Roman" charset="0"/>
              </a:rPr>
              <a:t>目录</a:t>
            </a:r>
            <a:endParaRPr lang="zh-CN" altLang="en-US" sz="1800" b="0" i="0" u="none" strike="noStrike" kern="1200" cap="none" spc="0" baseline="0">
              <a:solidFill>
                <a:schemeClr val="tx1"/>
              </a:solidFill>
              <a:latin typeface="Times New Roman" charset="0"/>
              <a:ea typeface="宋体" charset="0"/>
              <a:cs typeface="Times New Roman" charset="0"/>
            </a:endParaRPr>
          </a:p>
        </p:txBody>
      </p:sp>
      <p:sp>
        <p:nvSpPr>
          <p:cNvPr id="182" name="矩形"/>
          <p:cNvSpPr>
            <a:spLocks/>
          </p:cNvSpPr>
          <p:nvPr/>
        </p:nvSpPr>
        <p:spPr>
          <a:xfrm>
            <a:off x="681023" y="1920592"/>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183" name="矩形"/>
          <p:cNvSpPr>
            <a:spLocks/>
          </p:cNvSpPr>
          <p:nvPr/>
        </p:nvSpPr>
        <p:spPr>
          <a:xfrm>
            <a:off x="681023" y="1245159"/>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184" name="矩形"/>
          <p:cNvSpPr>
            <a:spLocks/>
          </p:cNvSpPr>
          <p:nvPr/>
        </p:nvSpPr>
        <p:spPr>
          <a:xfrm>
            <a:off x="1733550" y="1228726"/>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1 </a:t>
            </a:r>
            <a:r>
              <a:rPr lang="zh-CN" altLang="en-US" sz="2800" b="0" i="0" u="none" strike="noStrike" kern="1200" cap="none" spc="0" baseline="0" dirty="0">
                <a:solidFill>
                  <a:schemeClr val="tx1"/>
                </a:solidFill>
                <a:latin typeface="微软雅黑" charset="0"/>
                <a:ea typeface="微软雅黑" charset="0"/>
                <a:cs typeface="Arial" pitchFamily="34" charset="0"/>
              </a:rPr>
              <a:t>正则表达式简介</a:t>
            </a:r>
          </a:p>
        </p:txBody>
      </p:sp>
      <p:sp>
        <p:nvSpPr>
          <p:cNvPr id="185" name="矩形"/>
          <p:cNvSpPr>
            <a:spLocks/>
          </p:cNvSpPr>
          <p:nvPr/>
        </p:nvSpPr>
        <p:spPr>
          <a:xfrm>
            <a:off x="1752600" y="2006600"/>
            <a:ext cx="4649788" cy="457199"/>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rgbClr val="C00000"/>
                </a:solidFill>
                <a:latin typeface="微软雅黑" charset="0"/>
                <a:ea typeface="微软雅黑" charset="0"/>
                <a:cs typeface="Arial" pitchFamily="34" charset="0"/>
              </a:rPr>
              <a:t> 2 </a:t>
            </a:r>
            <a:r>
              <a:rPr lang="zh-CN" altLang="en-US" sz="2800" b="0" i="0" u="none" strike="noStrike" kern="1200" cap="none" spc="0" baseline="0" dirty="0">
                <a:solidFill>
                  <a:srgbClr val="C00000"/>
                </a:solidFill>
                <a:latin typeface="微软雅黑" charset="0"/>
                <a:ea typeface="微软雅黑" charset="0"/>
                <a:cs typeface="Arial" pitchFamily="34" charset="0"/>
              </a:rPr>
              <a:t>简单模式</a:t>
            </a:r>
          </a:p>
        </p:txBody>
      </p:sp>
      <p:sp>
        <p:nvSpPr>
          <p:cNvPr id="186" name="矩形"/>
          <p:cNvSpPr>
            <a:spLocks/>
          </p:cNvSpPr>
          <p:nvPr/>
        </p:nvSpPr>
        <p:spPr>
          <a:xfrm>
            <a:off x="681023" y="2621108"/>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187" name="矩形"/>
          <p:cNvSpPr>
            <a:spLocks/>
          </p:cNvSpPr>
          <p:nvPr/>
        </p:nvSpPr>
        <p:spPr>
          <a:xfrm>
            <a:off x="1752600" y="2690813"/>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3 </a:t>
            </a:r>
            <a:r>
              <a:rPr lang="en-US" altLang="zh-CN" sz="2800" b="0" i="0" u="none" strike="noStrike" kern="1200" cap="none" spc="0" baseline="0" dirty="0" err="1">
                <a:solidFill>
                  <a:schemeClr val="tx1"/>
                </a:solidFill>
                <a:latin typeface="微软雅黑" charset="0"/>
                <a:ea typeface="微软雅黑" charset="0"/>
                <a:cs typeface="Arial" pitchFamily="34" charset="0"/>
              </a:rPr>
              <a:t>使用正则表达式</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188" name="矩形"/>
          <p:cNvSpPr>
            <a:spLocks/>
          </p:cNvSpPr>
          <p:nvPr/>
        </p:nvSpPr>
        <p:spPr>
          <a:xfrm>
            <a:off x="681023" y="3303709"/>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189" name="矩形"/>
          <p:cNvSpPr>
            <a:spLocks/>
          </p:cNvSpPr>
          <p:nvPr/>
        </p:nvSpPr>
        <p:spPr>
          <a:xfrm>
            <a:off x="1752600" y="3373414"/>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4 </a:t>
            </a:r>
            <a:r>
              <a:rPr lang="en-US" altLang="zh-CN" sz="2800" b="0" i="0" u="none" strike="noStrike" kern="1200" cap="none" spc="0" baseline="0" dirty="0" err="1">
                <a:solidFill>
                  <a:schemeClr val="tx1"/>
                </a:solidFill>
                <a:latin typeface="微软雅黑" charset="0"/>
                <a:ea typeface="微软雅黑" charset="0"/>
                <a:cs typeface="Arial" pitchFamily="34" charset="0"/>
              </a:rPr>
              <a:t>更多模式功能</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190" name="矩形"/>
          <p:cNvSpPr>
            <a:spLocks/>
          </p:cNvSpPr>
          <p:nvPr/>
        </p:nvSpPr>
        <p:spPr>
          <a:xfrm>
            <a:off x="661467" y="3993431"/>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191" name="矩形"/>
          <p:cNvSpPr>
            <a:spLocks/>
          </p:cNvSpPr>
          <p:nvPr/>
        </p:nvSpPr>
        <p:spPr>
          <a:xfrm>
            <a:off x="1733044" y="4063135"/>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5 </a:t>
            </a:r>
            <a:r>
              <a:rPr lang="en-US" altLang="zh-CN" sz="2800" b="0" i="0" u="none" strike="noStrike" kern="1200" cap="none" spc="0" baseline="0" dirty="0" err="1">
                <a:solidFill>
                  <a:schemeClr val="tx1"/>
                </a:solidFill>
                <a:latin typeface="微软雅黑" charset="0"/>
                <a:ea typeface="微软雅黑" charset="0"/>
                <a:cs typeface="Arial" pitchFamily="34" charset="0"/>
              </a:rPr>
              <a:t>修改字符串</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192" name="矩形"/>
          <p:cNvSpPr>
            <a:spLocks/>
          </p:cNvSpPr>
          <p:nvPr/>
        </p:nvSpPr>
        <p:spPr>
          <a:xfrm>
            <a:off x="681637" y="4696801"/>
            <a:ext cx="7091375" cy="428643"/>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193" name="矩形"/>
          <p:cNvSpPr>
            <a:spLocks/>
          </p:cNvSpPr>
          <p:nvPr/>
        </p:nvSpPr>
        <p:spPr>
          <a:xfrm>
            <a:off x="1753214" y="4766506"/>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6 </a:t>
            </a:r>
            <a:r>
              <a:rPr lang="en-US" altLang="zh-CN" sz="2800" b="0" i="0" u="none" strike="noStrike" kern="1200" cap="none" spc="0" baseline="0" dirty="0" err="1">
                <a:solidFill>
                  <a:schemeClr val="tx1"/>
                </a:solidFill>
                <a:latin typeface="微软雅黑" charset="0"/>
                <a:ea typeface="微软雅黑" charset="0"/>
                <a:cs typeface="Arial" pitchFamily="34" charset="0"/>
              </a:rPr>
              <a:t>常见问题</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Tree>
    <p:extLst>
      <p:ext uri="{BB962C8B-B14F-4D97-AF65-F5344CB8AC3E}">
        <p14:creationId xmlns:p14="http://schemas.microsoft.com/office/powerpoint/2010/main" val="192195179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93" name="直线"/>
          <p:cNvSpPr>
            <a:spLocks/>
          </p:cNvSpPr>
          <p:nvPr/>
        </p:nvSpPr>
        <p:spPr>
          <a:xfrm>
            <a:off x="3869617" y="1672421"/>
            <a:ext cx="1404765" cy="0"/>
          </a:xfrm>
          <a:prstGeom prst="line">
            <a:avLst/>
          </a:prstGeom>
          <a:noFill/>
          <a:ln w="19050" cap="flat" cmpd="sng">
            <a:gradFill rotWithShape="1">
              <a:gsLst>
                <a:gs pos="48000">
                  <a:srgbClr val="FFFFFF">
                    <a:alpha val="100000"/>
                  </a:srgbClr>
                </a:gs>
                <a:gs pos="0">
                  <a:srgbClr val="FFFFFF">
                    <a:lumMod val="75000"/>
                    <a:alpha val="100000"/>
                  </a:srgbClr>
                </a:gs>
                <a:gs pos="100000">
                  <a:srgbClr val="FFFFFF">
                    <a:alpha val="100000"/>
                  </a:srgbClr>
                </a:gs>
              </a:gsLst>
              <a:lin ang="5400000" scaled="1"/>
            </a:gradFill>
            <a:prstDash val="solid"/>
            <a:round/>
          </a:ln>
          <a:effectLst>
            <a:innerShdw blurRad="63500" dist="50800" dir="5400000">
              <a:srgbClr val="000000">
                <a:alpha val="49803"/>
              </a:srgbClr>
            </a:innerShdw>
          </a:effectLst>
        </p:spPr>
      </p:sp>
      <p:sp>
        <p:nvSpPr>
          <p:cNvPr id="94" name="矩形"/>
          <p:cNvSpPr>
            <a:spLocks/>
          </p:cNvSpPr>
          <p:nvPr/>
        </p:nvSpPr>
        <p:spPr>
          <a:xfrm>
            <a:off x="327672" y="998729"/>
            <a:ext cx="4866866"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0" fontAlgn="base" hangingPunct="0">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2.1 </a:t>
            </a:r>
            <a:r>
              <a:rPr lang="en-US" altLang="zh-CN" sz="2800" b="0" i="0" u="none" strike="noStrike" kern="1200" cap="none" spc="0" baseline="0" dirty="0" err="1">
                <a:solidFill>
                  <a:schemeClr val="tx1"/>
                </a:solidFill>
                <a:latin typeface="Verdana" pitchFamily="34" charset="0"/>
                <a:ea typeface="宋体" charset="0"/>
                <a:cs typeface="Verdana" pitchFamily="34" charset="0"/>
              </a:rPr>
              <a:t>字符匹配</a:t>
            </a:r>
            <a:endParaRPr lang="zh-CN" altLang="en-US" sz="2700" b="0" i="0" u="none" strike="noStrike" kern="1200" cap="none" spc="0" baseline="0" dirty="0">
              <a:solidFill>
                <a:schemeClr val="tx1"/>
              </a:solidFill>
              <a:latin typeface="Copperplate Gothic Bold" charset="0"/>
              <a:ea typeface="微软雅黑" charset="0"/>
              <a:cs typeface="Copperplate Gothic Bold" charset="0"/>
            </a:endParaRPr>
          </a:p>
        </p:txBody>
      </p:sp>
      <p:sp>
        <p:nvSpPr>
          <p:cNvPr id="112" name="文本框"/>
          <p:cNvSpPr>
            <a:spLocks noGrp="1"/>
          </p:cNvSpPr>
          <p:nvPr>
            <p:ph type="sldNum" sz="quarter" idx="12"/>
          </p:nvPr>
        </p:nvSpPr>
        <p:spPr>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ctr">
              <a:lnSpc>
                <a:spcPct val="100000"/>
              </a:lnSpc>
              <a:spcBef>
                <a:spcPts val="0"/>
              </a:spcBef>
              <a:spcAft>
                <a:spcPts val="0"/>
              </a:spcAft>
              <a:buNone/>
            </a:pPr>
            <a:fld id="{CAD2D6BD-DE1B-4B5F-8B41-2702339687B9}" type="slidenum">
              <a:rPr lang="en-US" altLang="zh-CN" sz="1200" b="0" i="0" u="none" strike="noStrike" kern="1200" cap="none" spc="0" baseline="0">
                <a:solidFill>
                  <a:srgbClr val="000000"/>
                </a:solidFill>
                <a:latin typeface="宋体" charset="0"/>
                <a:ea typeface="宋体" charset="0"/>
                <a:cs typeface="Copperplate Gothic Bold" charset="0"/>
              </a:rPr>
              <a:t>5</a:t>
            </a:fld>
            <a:endParaRPr lang="zh-CN" altLang="en-US" sz="1200" b="0" i="0" u="none" strike="noStrike" kern="1200" cap="none" spc="0" baseline="0">
              <a:solidFill>
                <a:srgbClr val="000000"/>
              </a:solidFill>
              <a:latin typeface="宋体" charset="0"/>
              <a:ea typeface="宋体" charset="0"/>
              <a:cs typeface="Copperplate Gothic Bold" charset="0"/>
            </a:endParaRPr>
          </a:p>
        </p:txBody>
      </p:sp>
      <p:sp>
        <p:nvSpPr>
          <p:cNvPr id="194" name="文本框"/>
          <p:cNvSpPr txBox="1">
            <a:spLocks/>
          </p:cNvSpPr>
          <p:nvPr/>
        </p:nvSpPr>
        <p:spPr>
          <a:xfrm>
            <a:off x="514342" y="361944"/>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2 </a:t>
            </a:r>
            <a:r>
              <a:rPr lang="zh-CN" altLang="en-US" sz="2800" b="1" i="0" u="none" strike="noStrike" kern="1200" cap="none" spc="0" baseline="0" dirty="0">
                <a:solidFill>
                  <a:schemeClr val="accent2"/>
                </a:solidFill>
                <a:latin typeface="微软雅黑" charset="0"/>
                <a:ea typeface="微软雅黑" charset="0"/>
                <a:cs typeface="Verdana" pitchFamily="34" charset="0"/>
              </a:rPr>
              <a:t>简单模式</a:t>
            </a:r>
          </a:p>
        </p:txBody>
      </p:sp>
      <p:sp>
        <p:nvSpPr>
          <p:cNvPr id="195" name="文本框"/>
          <p:cNvSpPr txBox="1">
            <a:spLocks/>
          </p:cNvSpPr>
          <p:nvPr/>
        </p:nvSpPr>
        <p:spPr>
          <a:xfrm>
            <a:off x="746113" y="1936720"/>
            <a:ext cx="7286514" cy="33394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绝大多数字符会与自身匹配。例如，正则表达式</a:t>
            </a:r>
            <a:r>
              <a:rPr lang="en-US" altLang="zh-CN" sz="2000" b="0" i="0" u="none" strike="noStrike" kern="1200" cap="none" spc="0" baseline="0">
                <a:solidFill>
                  <a:schemeClr val="tx1"/>
                </a:solidFill>
                <a:latin typeface="Verdana" pitchFamily="34" charset="0"/>
                <a:ea typeface="宋体" charset="0"/>
                <a:cs typeface="Verdana" pitchFamily="34" charset="0"/>
              </a:rPr>
              <a:t>test</a:t>
            </a:r>
            <a:r>
              <a:rPr lang="zh-CN" altLang="en-US" sz="2000" b="0" i="0" u="none" strike="noStrike" kern="1200" cap="none" spc="0" baseline="0">
                <a:solidFill>
                  <a:schemeClr val="tx1"/>
                </a:solidFill>
                <a:latin typeface="Verdana" pitchFamily="34" charset="0"/>
                <a:ea typeface="宋体" charset="0"/>
                <a:cs typeface="Verdana" pitchFamily="34" charset="0"/>
              </a:rPr>
              <a:t>会和字符串“</a:t>
            </a:r>
            <a:r>
              <a:rPr lang="en-US" altLang="zh-CN" sz="2000" b="0" i="0" u="none" strike="noStrike" kern="1200" cap="none" spc="0" baseline="0">
                <a:solidFill>
                  <a:schemeClr val="tx1"/>
                </a:solidFill>
                <a:latin typeface="Verdana" pitchFamily="34" charset="0"/>
                <a:ea typeface="宋体" charset="0"/>
                <a:cs typeface="Verdana" pitchFamily="34" charset="0"/>
              </a:rPr>
              <a:t>test</a:t>
            </a:r>
            <a:r>
              <a:rPr lang="zh-CN" altLang="en-US" sz="2000" b="0" i="0" u="none" strike="noStrike" kern="1200" cap="none" spc="0" baseline="0">
                <a:solidFill>
                  <a:schemeClr val="tx1"/>
                </a:solidFill>
                <a:latin typeface="Verdana" pitchFamily="34" charset="0"/>
                <a:ea typeface="宋体" charset="0"/>
                <a:cs typeface="Verdana" pitchFamily="34" charset="0"/>
              </a:rPr>
              <a:t>”完全匹配。</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这个规则也会有例外，有种字符比较特殊，我们把它们称作元字符（</a:t>
            </a:r>
            <a:r>
              <a:rPr lang="en-US" altLang="zh-CN" sz="2000" b="0" i="0" u="none" strike="noStrike" kern="1200" cap="none" spc="0" baseline="0">
                <a:solidFill>
                  <a:schemeClr val="tx1"/>
                </a:solidFill>
                <a:latin typeface="Verdana" pitchFamily="34" charset="0"/>
                <a:ea typeface="宋体" charset="0"/>
                <a:cs typeface="Verdana" pitchFamily="34" charset="0"/>
              </a:rPr>
              <a:t>Metacharacters</a:t>
            </a:r>
            <a:r>
              <a:rPr lang="zh-CN" altLang="en-US" sz="2000" b="0" i="0" u="none" strike="noStrike" kern="1200" cap="none" spc="0" baseline="0">
                <a:solidFill>
                  <a:schemeClr val="tx1"/>
                </a:solidFill>
                <a:latin typeface="Verdana" pitchFamily="34" charset="0"/>
                <a:ea typeface="宋体" charset="0"/>
                <a:cs typeface="Verdana" pitchFamily="34" charset="0"/>
              </a:rPr>
              <a:t>），它们和自身并不匹配，而是会和一些特殊的东西匹配，或者通过某种方式影响到正则表达式的其他部分。</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元字符的完整列表如下：</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 ^ $ * + ? { } [ ] \ | ( )</a:t>
            </a:r>
            <a:endParaRPr lang="zh-CN" altLang="en-US" sz="2000" b="0" i="0" u="none" strike="noStrike" kern="1200" cap="none" spc="0" baseline="0">
              <a:solidFill>
                <a:schemeClr val="tx1"/>
              </a:solidFill>
              <a:latin typeface="Consolas" pitchFamily="49" charset="0"/>
              <a:ea typeface="宋体" charset="0"/>
              <a:cs typeface="Consolas" pitchFamily="49" charset="0"/>
            </a:endParaRPr>
          </a:p>
        </p:txBody>
      </p:sp>
    </p:spTree>
    <p:extLst>
      <p:ext uri="{BB962C8B-B14F-4D97-AF65-F5344CB8AC3E}">
        <p14:creationId xmlns:p14="http://schemas.microsoft.com/office/powerpoint/2010/main" val="119275447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113" name="直线"/>
          <p:cNvSpPr>
            <a:spLocks/>
          </p:cNvSpPr>
          <p:nvPr/>
        </p:nvSpPr>
        <p:spPr>
          <a:xfrm>
            <a:off x="3869617" y="1672421"/>
            <a:ext cx="1404765" cy="0"/>
          </a:xfrm>
          <a:prstGeom prst="line">
            <a:avLst/>
          </a:prstGeom>
          <a:noFill/>
          <a:ln w="19050" cap="flat" cmpd="sng">
            <a:gradFill rotWithShape="1">
              <a:gsLst>
                <a:gs pos="48000">
                  <a:srgbClr val="FFFFFF">
                    <a:alpha val="100000"/>
                  </a:srgbClr>
                </a:gs>
                <a:gs pos="0">
                  <a:srgbClr val="FFFFFF">
                    <a:lumMod val="75000"/>
                    <a:alpha val="100000"/>
                  </a:srgbClr>
                </a:gs>
                <a:gs pos="100000">
                  <a:srgbClr val="FFFFFF">
                    <a:alpha val="100000"/>
                  </a:srgbClr>
                </a:gs>
              </a:gsLst>
              <a:lin ang="5400000" scaled="1"/>
            </a:gradFill>
            <a:prstDash val="solid"/>
            <a:round/>
          </a:ln>
          <a:effectLst>
            <a:innerShdw blurRad="63500" dist="50800" dir="5400000">
              <a:srgbClr val="000000">
                <a:alpha val="49803"/>
              </a:srgbClr>
            </a:innerShdw>
          </a:effectLst>
        </p:spPr>
      </p:sp>
      <p:sp>
        <p:nvSpPr>
          <p:cNvPr id="114" name="矩形"/>
          <p:cNvSpPr>
            <a:spLocks/>
          </p:cNvSpPr>
          <p:nvPr/>
        </p:nvSpPr>
        <p:spPr>
          <a:xfrm>
            <a:off x="260998" y="1255901"/>
            <a:ext cx="4866866"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0" fontAlgn="base" hangingPunct="0">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2.1 </a:t>
            </a:r>
            <a:r>
              <a:rPr lang="en-US" altLang="zh-CN" sz="2800" b="0" i="0" u="none" strike="noStrike" kern="1200" cap="none" spc="0" baseline="0" dirty="0" err="1">
                <a:solidFill>
                  <a:schemeClr val="tx1"/>
                </a:solidFill>
                <a:latin typeface="Verdana" pitchFamily="34" charset="0"/>
                <a:ea typeface="宋体" charset="0"/>
                <a:cs typeface="Verdana" pitchFamily="34" charset="0"/>
              </a:rPr>
              <a:t>字符匹配</a:t>
            </a:r>
            <a:endParaRPr lang="zh-CN" altLang="en-US" sz="2700" b="0" i="0" u="none" strike="noStrike" kern="1200" cap="none" spc="0" baseline="0" dirty="0">
              <a:solidFill>
                <a:schemeClr val="tx1"/>
              </a:solidFill>
              <a:latin typeface="Copperplate Gothic Bold" charset="0"/>
              <a:ea typeface="微软雅黑" charset="0"/>
              <a:cs typeface="Copperplate Gothic Bold" charset="0"/>
            </a:endParaRPr>
          </a:p>
        </p:txBody>
      </p:sp>
      <p:sp>
        <p:nvSpPr>
          <p:cNvPr id="136" name="文本框"/>
          <p:cNvSpPr>
            <a:spLocks noGrp="1"/>
          </p:cNvSpPr>
          <p:nvPr>
            <p:ph type="sldNum" sz="quarter" idx="12"/>
          </p:nvPr>
        </p:nvSpPr>
        <p:spPr>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ctr">
              <a:lnSpc>
                <a:spcPct val="100000"/>
              </a:lnSpc>
              <a:spcBef>
                <a:spcPts val="0"/>
              </a:spcBef>
              <a:spcAft>
                <a:spcPts val="0"/>
              </a:spcAft>
              <a:buNone/>
            </a:pPr>
            <a:fld id="{CAD2D6BD-DE1B-4B5F-8B41-2702339687B9}" type="slidenum">
              <a:rPr lang="en-US" altLang="zh-CN" sz="1200" b="0" i="0" u="none" strike="noStrike" kern="1200" cap="none" spc="0" baseline="0">
                <a:solidFill>
                  <a:srgbClr val="000000"/>
                </a:solidFill>
                <a:latin typeface="宋体" charset="0"/>
                <a:ea typeface="宋体" charset="0"/>
                <a:cs typeface="Copperplate Gothic Bold" charset="0"/>
              </a:rPr>
              <a:t>6</a:t>
            </a:fld>
            <a:endParaRPr lang="zh-CN" altLang="en-US" sz="1200" b="0" i="0" u="none" strike="noStrike" kern="1200" cap="none" spc="0" baseline="0">
              <a:solidFill>
                <a:srgbClr val="000000"/>
              </a:solidFill>
              <a:latin typeface="宋体" charset="0"/>
              <a:ea typeface="宋体" charset="0"/>
              <a:cs typeface="Copperplate Gothic Bold" charset="0"/>
            </a:endParaRPr>
          </a:p>
        </p:txBody>
      </p:sp>
      <p:sp>
        <p:nvSpPr>
          <p:cNvPr id="196" name="文本框"/>
          <p:cNvSpPr txBox="1">
            <a:spLocks/>
          </p:cNvSpPr>
          <p:nvPr/>
        </p:nvSpPr>
        <p:spPr>
          <a:xfrm>
            <a:off x="438143" y="419093"/>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2 </a:t>
            </a:r>
            <a:r>
              <a:rPr lang="zh-CN" altLang="en-US" sz="2800" b="1" i="0" u="none" strike="noStrike" kern="1200" cap="none" spc="0" baseline="0" dirty="0">
                <a:solidFill>
                  <a:schemeClr val="accent2"/>
                </a:solidFill>
                <a:latin typeface="微软雅黑" charset="0"/>
                <a:ea typeface="微软雅黑" charset="0"/>
                <a:cs typeface="Verdana" pitchFamily="34" charset="0"/>
              </a:rPr>
              <a:t>简单模式</a:t>
            </a:r>
          </a:p>
        </p:txBody>
      </p:sp>
      <p:sp>
        <p:nvSpPr>
          <p:cNvPr id="197" name="文本框"/>
          <p:cNvSpPr txBox="1">
            <a:spLocks/>
          </p:cNvSpPr>
          <p:nvPr/>
        </p:nvSpPr>
        <p:spPr>
          <a:xfrm>
            <a:off x="511167" y="1904971"/>
            <a:ext cx="7921505" cy="393001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元字符“</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”与“</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 用于指定一个字符类，所谓字符类就是你想匹配的一个字符集。字符可以单个列出，也可以用以“</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”号分隔的两个给定字符来表示一个字符区间。举个简单的例子，</a:t>
            </a:r>
            <a:r>
              <a:rPr lang="en-US" altLang="zh-CN" sz="2000" b="0" i="0" u="none" strike="noStrike" kern="1200" cap="none" spc="0" baseline="0">
                <a:solidFill>
                  <a:schemeClr val="tx1"/>
                </a:solidFill>
                <a:latin typeface="Verdana" pitchFamily="34" charset="0"/>
                <a:ea typeface="宋体" charset="0"/>
                <a:cs typeface="Verdana" pitchFamily="34" charset="0"/>
              </a:rPr>
              <a:t>[abc]</a:t>
            </a:r>
            <a:r>
              <a:rPr lang="zh-CN" altLang="en-US" sz="2000" b="0" i="0" u="none" strike="noStrike" kern="1200" cap="none" spc="0" baseline="0">
                <a:solidFill>
                  <a:schemeClr val="tx1"/>
                </a:solidFill>
                <a:latin typeface="Verdana" pitchFamily="34" charset="0"/>
                <a:ea typeface="宋体" charset="0"/>
                <a:cs typeface="Verdana" pitchFamily="34" charset="0"/>
              </a:rPr>
              <a:t>将匹配“</a:t>
            </a:r>
            <a:r>
              <a:rPr lang="en-US" altLang="zh-CN" sz="2000" b="0" i="0" u="none" strike="noStrike" kern="1200" cap="none" spc="0" baseline="0">
                <a:solidFill>
                  <a:schemeClr val="tx1"/>
                </a:solidFill>
                <a:latin typeface="Verdana" pitchFamily="34" charset="0"/>
                <a:ea typeface="宋体" charset="0"/>
                <a:cs typeface="Verdana" pitchFamily="34" charset="0"/>
              </a:rPr>
              <a:t>a</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b</a:t>
            </a:r>
            <a:r>
              <a:rPr lang="zh-CN" altLang="en-US" sz="2000" b="0" i="0" u="none" strike="noStrike" kern="1200" cap="none" spc="0" baseline="0">
                <a:solidFill>
                  <a:schemeClr val="tx1"/>
                </a:solidFill>
                <a:latin typeface="Verdana" pitchFamily="34" charset="0"/>
                <a:ea typeface="宋体" charset="0"/>
                <a:cs typeface="Verdana" pitchFamily="34" charset="0"/>
              </a:rPr>
              <a:t>”或“</a:t>
            </a:r>
            <a:r>
              <a:rPr lang="en-US" altLang="zh-CN" sz="2000" b="0" i="0" u="none" strike="noStrike" kern="1200" cap="none" spc="0" baseline="0">
                <a:solidFill>
                  <a:schemeClr val="tx1"/>
                </a:solidFill>
                <a:latin typeface="Verdana" pitchFamily="34" charset="0"/>
                <a:ea typeface="宋体" charset="0"/>
                <a:cs typeface="Verdana" pitchFamily="34" charset="0"/>
              </a:rPr>
              <a:t>c</a:t>
            </a:r>
            <a:r>
              <a:rPr lang="zh-CN" altLang="en-US" sz="2000" b="0" i="0" u="none" strike="noStrike" kern="1200" cap="none" spc="0" baseline="0">
                <a:solidFill>
                  <a:schemeClr val="tx1"/>
                </a:solidFill>
                <a:latin typeface="Verdana" pitchFamily="34" charset="0"/>
                <a:ea typeface="宋体" charset="0"/>
                <a:cs typeface="Verdana" pitchFamily="34" charset="0"/>
              </a:rPr>
              <a:t>”中的任意一个字符，使用区间</a:t>
            </a:r>
            <a:r>
              <a:rPr lang="en-US" altLang="zh-CN" sz="2000" b="0" i="0" u="none" strike="noStrike" kern="1200" cap="none" spc="0" baseline="0">
                <a:solidFill>
                  <a:schemeClr val="tx1"/>
                </a:solidFill>
                <a:latin typeface="Verdana" pitchFamily="34" charset="0"/>
                <a:ea typeface="宋体" charset="0"/>
                <a:cs typeface="Verdana" pitchFamily="34" charset="0"/>
              </a:rPr>
              <a:t>[a-c]</a:t>
            </a:r>
            <a:r>
              <a:rPr lang="zh-CN" altLang="en-US" sz="2000" b="0" i="0" u="none" strike="noStrike" kern="1200" cap="none" spc="0" baseline="0">
                <a:solidFill>
                  <a:schemeClr val="tx1"/>
                </a:solidFill>
                <a:latin typeface="Verdana" pitchFamily="34" charset="0"/>
                <a:ea typeface="宋体" charset="0"/>
                <a:cs typeface="Verdana" pitchFamily="34" charset="0"/>
              </a:rPr>
              <a:t>来可以达到与前者一样的目的。只匹配小写字母，那么正则表达式应写成</a:t>
            </a:r>
            <a:r>
              <a:rPr lang="en-US" altLang="zh-CN" sz="2000" b="0" i="0" u="none" strike="noStrike" kern="1200" cap="none" spc="0" baseline="0">
                <a:solidFill>
                  <a:schemeClr val="tx1"/>
                </a:solidFill>
                <a:latin typeface="Verdana" pitchFamily="34" charset="0"/>
                <a:ea typeface="宋体" charset="0"/>
                <a:cs typeface="Verdana" pitchFamily="34" charset="0"/>
              </a:rPr>
              <a:t>[a-z]</a:t>
            </a: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元字符在字符类里并不起作用。例如，</a:t>
            </a:r>
            <a:r>
              <a:rPr lang="en-US" altLang="zh-CN" sz="2000" b="0" i="0" u="none" strike="noStrike" kern="1200" cap="none" spc="0" baseline="0">
                <a:solidFill>
                  <a:schemeClr val="tx1"/>
                </a:solidFill>
                <a:latin typeface="Verdana" pitchFamily="34" charset="0"/>
                <a:ea typeface="宋体" charset="0"/>
                <a:cs typeface="Verdana" pitchFamily="34" charset="0"/>
              </a:rPr>
              <a:t>[abc$]</a:t>
            </a:r>
            <a:r>
              <a:rPr lang="zh-CN" altLang="en-US" sz="2000" b="0" i="0" u="none" strike="noStrike" kern="1200" cap="none" spc="0" baseline="0">
                <a:solidFill>
                  <a:schemeClr val="tx1"/>
                </a:solidFill>
                <a:latin typeface="Verdana" pitchFamily="34" charset="0"/>
                <a:ea typeface="宋体" charset="0"/>
                <a:cs typeface="Verdana" pitchFamily="34" charset="0"/>
              </a:rPr>
              <a:t>将匹配字符。</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b</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c</a:t>
            </a:r>
            <a:r>
              <a:rPr lang="zh-CN" altLang="en-US" sz="2000" b="0" i="0" u="none" strike="noStrike" kern="1200" cap="none" spc="0" baseline="0">
                <a:solidFill>
                  <a:schemeClr val="tx1"/>
                </a:solidFill>
                <a:latin typeface="Verdana" pitchFamily="34" charset="0"/>
                <a:ea typeface="宋体" charset="0"/>
                <a:cs typeface="Verdana" pitchFamily="34" charset="0"/>
              </a:rPr>
              <a:t>”或“</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”中的任意一个，虽然“</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”通常用作元字符，但在字符类里，其特性被除去，恢复成普通字符。</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可以用补集来匹配不在区间范围内的字符。其做法是把“</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”作为字符类的首个字符，其他地方的“</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”字符只会简单匹配“</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”字符本身。例如，</a:t>
            </a:r>
            <a:r>
              <a:rPr lang="en-US" altLang="zh-CN" sz="2000" b="0" i="0" u="none" strike="noStrike" kern="1200" cap="none" spc="0" baseline="0">
                <a:solidFill>
                  <a:schemeClr val="tx1"/>
                </a:solidFill>
                <a:latin typeface="Verdana" pitchFamily="34" charset="0"/>
                <a:ea typeface="宋体" charset="0"/>
                <a:cs typeface="Verdana" pitchFamily="34" charset="0"/>
              </a:rPr>
              <a:t>[^5]</a:t>
            </a:r>
            <a:r>
              <a:rPr lang="zh-CN" altLang="en-US" sz="2000" b="0" i="0" u="none" strike="noStrike" kern="1200" cap="none" spc="0" baseline="0">
                <a:solidFill>
                  <a:schemeClr val="tx1"/>
                </a:solidFill>
                <a:latin typeface="Verdana" pitchFamily="34" charset="0"/>
                <a:ea typeface="宋体" charset="0"/>
                <a:cs typeface="Verdana" pitchFamily="34" charset="0"/>
              </a:rPr>
              <a:t>将匹配除了“</a:t>
            </a:r>
            <a:r>
              <a:rPr lang="en-US" altLang="zh-CN" sz="2000" b="0" i="0" u="none" strike="noStrike" kern="1200" cap="none" spc="0" baseline="0">
                <a:solidFill>
                  <a:schemeClr val="tx1"/>
                </a:solidFill>
                <a:latin typeface="Verdana" pitchFamily="34" charset="0"/>
                <a:ea typeface="宋体" charset="0"/>
                <a:cs typeface="Verdana" pitchFamily="34" charset="0"/>
              </a:rPr>
              <a:t>5</a:t>
            </a:r>
            <a:r>
              <a:rPr lang="zh-CN" altLang="en-US" sz="2000" b="0" i="0" u="none" strike="noStrike" kern="1200" cap="none" spc="0" baseline="0">
                <a:solidFill>
                  <a:schemeClr val="tx1"/>
                </a:solidFill>
                <a:latin typeface="Verdana" pitchFamily="34" charset="0"/>
                <a:ea typeface="宋体" charset="0"/>
                <a:cs typeface="Verdana" pitchFamily="34" charset="0"/>
              </a:rPr>
              <a:t>”之外的任意字符，而</a:t>
            </a:r>
            <a:r>
              <a:rPr lang="en-US" altLang="zh-CN" sz="2000" b="0" i="0" u="none" strike="noStrike" kern="1200" cap="none" spc="0" baseline="0">
                <a:solidFill>
                  <a:schemeClr val="tx1"/>
                </a:solidFill>
                <a:latin typeface="Verdana" pitchFamily="34" charset="0"/>
                <a:ea typeface="宋体" charset="0"/>
                <a:cs typeface="Verdana" pitchFamily="34" charset="0"/>
              </a:rPr>
              <a:t>[5^]</a:t>
            </a:r>
            <a:r>
              <a:rPr lang="zh-CN" altLang="en-US" sz="2000" b="0" i="0" u="none" strike="noStrike" kern="1200" cap="none" spc="0" baseline="0">
                <a:solidFill>
                  <a:schemeClr val="tx1"/>
                </a:solidFill>
                <a:latin typeface="Verdana" pitchFamily="34" charset="0"/>
                <a:ea typeface="宋体" charset="0"/>
                <a:cs typeface="Verdana" pitchFamily="34" charset="0"/>
              </a:rPr>
              <a:t>只会匹配字符“</a:t>
            </a:r>
            <a:r>
              <a:rPr lang="en-US" altLang="zh-CN" sz="2000" b="0" i="0" u="none" strike="noStrike" kern="1200" cap="none" spc="0" baseline="0">
                <a:solidFill>
                  <a:schemeClr val="tx1"/>
                </a:solidFill>
                <a:latin typeface="Verdana" pitchFamily="34" charset="0"/>
                <a:ea typeface="宋体" charset="0"/>
                <a:cs typeface="Verdana" pitchFamily="34" charset="0"/>
              </a:rPr>
              <a:t>5</a:t>
            </a:r>
            <a:r>
              <a:rPr lang="zh-CN" altLang="en-US" sz="2000" b="0" i="0" u="none" strike="noStrike" kern="1200" cap="none" spc="0" baseline="0">
                <a:solidFill>
                  <a:schemeClr val="tx1"/>
                </a:solidFill>
                <a:latin typeface="Verdana" pitchFamily="34" charset="0"/>
                <a:ea typeface="宋体" charset="0"/>
                <a:cs typeface="Verdana" pitchFamily="34" charset="0"/>
              </a:rPr>
              <a:t>”和“</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a:t>
            </a:r>
          </a:p>
        </p:txBody>
      </p:sp>
    </p:spTree>
    <p:extLst>
      <p:ext uri="{BB962C8B-B14F-4D97-AF65-F5344CB8AC3E}">
        <p14:creationId xmlns:p14="http://schemas.microsoft.com/office/powerpoint/2010/main" val="199235194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33" name="文本框"/>
          <p:cNvSpPr txBox="1">
            <a:spLocks/>
          </p:cNvSpPr>
          <p:nvPr/>
        </p:nvSpPr>
        <p:spPr>
          <a:xfrm>
            <a:off x="419093" y="333369"/>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2 </a:t>
            </a:r>
            <a:r>
              <a:rPr lang="zh-CN" altLang="en-US" sz="2800" b="1" i="0" u="none" strike="noStrike" kern="1200" cap="none" spc="0" baseline="0" dirty="0">
                <a:solidFill>
                  <a:schemeClr val="accent2"/>
                </a:solidFill>
                <a:latin typeface="微软雅黑" charset="0"/>
                <a:ea typeface="微软雅黑" charset="0"/>
                <a:cs typeface="Verdana" pitchFamily="34" charset="0"/>
              </a:rPr>
              <a:t>简单模式</a:t>
            </a:r>
          </a:p>
        </p:txBody>
      </p:sp>
      <p:sp>
        <p:nvSpPr>
          <p:cNvPr id="234" name="文本框"/>
          <p:cNvSpPr txBox="1">
            <a:spLocks/>
          </p:cNvSpPr>
          <p:nvPr/>
        </p:nvSpPr>
        <p:spPr>
          <a:xfrm>
            <a:off x="276220" y="1028684"/>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2.1 </a:t>
            </a:r>
            <a:r>
              <a:rPr lang="en-US" altLang="zh-CN" sz="2800" b="0" i="0" u="none" strike="noStrike" kern="1200" cap="none" spc="0" baseline="0" dirty="0" err="1">
                <a:solidFill>
                  <a:schemeClr val="tx1"/>
                </a:solidFill>
                <a:latin typeface="Verdana" pitchFamily="34" charset="0"/>
                <a:ea typeface="宋体" charset="0"/>
                <a:cs typeface="Verdana" pitchFamily="34" charset="0"/>
              </a:rPr>
              <a:t>字符匹配</a:t>
            </a:r>
            <a:endParaRPr lang="zh-CN" altLang="en-US" sz="2800" b="0" i="0" u="none" strike="noStrike" kern="1200" cap="none" spc="0" baseline="0" dirty="0">
              <a:solidFill>
                <a:schemeClr val="tx1"/>
              </a:solidFill>
              <a:latin typeface="Verdana" pitchFamily="34" charset="0"/>
              <a:ea typeface="宋体" charset="0"/>
              <a:cs typeface="Verdana" pitchFamily="34" charset="0"/>
            </a:endParaRPr>
          </a:p>
        </p:txBody>
      </p:sp>
      <p:sp>
        <p:nvSpPr>
          <p:cNvPr id="235" name="文本框"/>
          <p:cNvSpPr txBox="1">
            <a:spLocks/>
          </p:cNvSpPr>
          <p:nvPr/>
        </p:nvSpPr>
        <p:spPr>
          <a:xfrm>
            <a:off x="298445" y="1670024"/>
            <a:ext cx="7842130" cy="21583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另一个重要的元字符是反斜杠“</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 “\</a:t>
            </a:r>
            <a:r>
              <a:rPr lang="zh-CN" altLang="en-US" sz="2000" b="0" i="0" u="none" strike="noStrike" kern="1200" cap="none" spc="0" baseline="0">
                <a:solidFill>
                  <a:schemeClr val="tx1"/>
                </a:solidFill>
                <a:latin typeface="Verdana" pitchFamily="34" charset="0"/>
                <a:ea typeface="宋体" charset="0"/>
                <a:cs typeface="Verdana" pitchFamily="34" charset="0"/>
              </a:rPr>
              <a:t>”为</a:t>
            </a:r>
            <a:r>
              <a:rPr lang="en-US" altLang="zh-CN" sz="2000" b="0" i="0" u="none" strike="noStrike" kern="1200" cap="none" spc="0" baseline="0">
                <a:solidFill>
                  <a:schemeClr val="tx1"/>
                </a:solidFill>
                <a:latin typeface="Verdana" pitchFamily="34" charset="0"/>
                <a:ea typeface="宋体" charset="0"/>
                <a:cs typeface="Verdana" pitchFamily="34" charset="0"/>
              </a:rPr>
              <a:t>Python</a:t>
            </a:r>
            <a:r>
              <a:rPr lang="zh-CN" altLang="en-US" sz="2000" b="0" i="0" u="none" strike="noStrike" kern="1200" cap="none" spc="0" baseline="0">
                <a:solidFill>
                  <a:schemeClr val="tx1"/>
                </a:solidFill>
                <a:latin typeface="Verdana" pitchFamily="34" charset="0"/>
                <a:ea typeface="宋体" charset="0"/>
                <a:cs typeface="Verdana" pitchFamily="34" charset="0"/>
              </a:rPr>
              <a:t>中的字符串转义字符，可以通过在反斜杠后面加不同的字符以表示不同特殊意义。它也可以用于取消所有的元字符，这样就能够在模式中匹配它们。</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例如，如果我们需要匹配字符“</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”或“</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”，可以在它们之前用反斜杠来取消它们的特殊意义：“</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”或“</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”。一些用“</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”开始的特殊字符表示预定义的字符集，例如数字集、字母集或其他非空字符集等。</a:t>
            </a:r>
          </a:p>
        </p:txBody>
      </p:sp>
    </p:spTree>
    <p:extLst>
      <p:ext uri="{BB962C8B-B14F-4D97-AF65-F5344CB8AC3E}">
        <p14:creationId xmlns:p14="http://schemas.microsoft.com/office/powerpoint/2010/main" val="188589591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36" name="文本框"/>
          <p:cNvSpPr txBox="1">
            <a:spLocks/>
          </p:cNvSpPr>
          <p:nvPr/>
        </p:nvSpPr>
        <p:spPr>
          <a:xfrm>
            <a:off x="476242" y="352419"/>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2 </a:t>
            </a:r>
            <a:r>
              <a:rPr lang="zh-CN" altLang="en-US" sz="2800" b="1" i="0" u="none" strike="noStrike" kern="1200" cap="none" spc="0" baseline="0" dirty="0">
                <a:solidFill>
                  <a:schemeClr val="accent2"/>
                </a:solidFill>
                <a:latin typeface="微软雅黑" charset="0"/>
                <a:ea typeface="微软雅黑" charset="0"/>
                <a:cs typeface="Verdana" pitchFamily="34" charset="0"/>
              </a:rPr>
              <a:t>简单模式</a:t>
            </a:r>
          </a:p>
        </p:txBody>
      </p:sp>
      <p:sp>
        <p:nvSpPr>
          <p:cNvPr id="237" name="文本框"/>
          <p:cNvSpPr txBox="1">
            <a:spLocks/>
          </p:cNvSpPr>
          <p:nvPr/>
        </p:nvSpPr>
        <p:spPr>
          <a:xfrm>
            <a:off x="638165" y="1171557"/>
            <a:ext cx="4762427" cy="38671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Python</a:t>
            </a:r>
            <a:r>
              <a:rPr lang="zh-CN" altLang="en-US" sz="2000" b="0" i="0" u="none" strike="noStrike" kern="1200" cap="none" spc="0" baseline="0">
                <a:solidFill>
                  <a:schemeClr val="tx1"/>
                </a:solidFill>
                <a:latin typeface="Verdana" pitchFamily="34" charset="0"/>
                <a:ea typeface="宋体" charset="0"/>
                <a:cs typeface="Verdana" pitchFamily="34" charset="0"/>
              </a:rPr>
              <a:t>的预定义字符集如下：</a:t>
            </a:r>
          </a:p>
        </p:txBody>
      </p:sp>
      <p:graphicFrame>
        <p:nvGraphicFramePr>
          <p:cNvPr id="239" name="表格"/>
          <p:cNvGraphicFramePr>
            <a:graphicFrameLocks noGrp="1"/>
          </p:cNvGraphicFramePr>
          <p:nvPr/>
        </p:nvGraphicFramePr>
        <p:xfrm>
          <a:off x="690448" y="1903836"/>
          <a:ext cx="7767713" cy="3658662"/>
        </p:xfrm>
        <a:graphic>
          <a:graphicData uri="http://schemas.openxmlformats.org/drawingml/2006/table">
            <a:tbl>
              <a:tblPr bandRow="1"/>
              <a:tblGrid>
                <a:gridCol w="1758645">
                  <a:extLst>
                    <a:ext uri="{9D8B030D-6E8A-4147-A177-3AD203B41FA5}">
                      <a16:colId xmlns:a16="http://schemas.microsoft.com/office/drawing/2014/main" val="20000"/>
                    </a:ext>
                  </a:extLst>
                </a:gridCol>
                <a:gridCol w="6009068">
                  <a:extLst>
                    <a:ext uri="{9D8B030D-6E8A-4147-A177-3AD203B41FA5}">
                      <a16:colId xmlns:a16="http://schemas.microsoft.com/office/drawing/2014/main" val="20001"/>
                    </a:ext>
                  </a:extLst>
                </a:gridCol>
              </a:tblGrid>
              <a:tr h="522666">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预设特殊字符</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说</a:t>
                      </a:r>
                      <a:r>
                        <a:rPr lang="en-US" altLang="zh-CN" sz="1800" b="1" i="0" u="none" strike="noStrike" kern="1000" cap="none" spc="0" baseline="0">
                          <a:solidFill>
                            <a:srgbClr val="FFFFFF"/>
                          </a:solidFill>
                          <a:latin typeface="Verdana" pitchFamily="34" charset="0"/>
                          <a:ea typeface="宋体" charset="0"/>
                          <a:cs typeface="Verdana" pitchFamily="34" charset="0"/>
                        </a:rPr>
                        <a:t>  </a:t>
                      </a:r>
                      <a:r>
                        <a:rPr lang="zh-CN" altLang="en-US" sz="1800" b="1" i="0" u="none" strike="noStrike" kern="1000" cap="none" spc="0" baseline="0">
                          <a:solidFill>
                            <a:srgbClr val="FFFFFF"/>
                          </a:solidFill>
                          <a:latin typeface="Verdana" pitchFamily="34" charset="0"/>
                          <a:ea typeface="宋体" charset="0"/>
                          <a:cs typeface="Verdana" pitchFamily="34" charset="0"/>
                        </a:rPr>
                        <a:t>明</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extLst>
                  <a:ext uri="{0D108BD9-81ED-4DB2-BD59-A6C34878D82A}">
                    <a16:rowId xmlns:a16="http://schemas.microsoft.com/office/drawing/2014/main" val="10000"/>
                  </a:ext>
                </a:extLst>
              </a:tr>
              <a:tr h="522666">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\d</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匹配任何十进制数，它相当于类</a:t>
                      </a:r>
                      <a:r>
                        <a:rPr lang="en-US" altLang="zh-CN" sz="1800" b="0" i="0" u="none" strike="noStrike" kern="1000" cap="none" spc="0" baseline="0">
                          <a:solidFill>
                            <a:srgbClr val="000000"/>
                          </a:solidFill>
                          <a:latin typeface="Verdana" pitchFamily="34" charset="0"/>
                          <a:ea typeface="宋体" charset="0"/>
                          <a:cs typeface="Verdana" pitchFamily="34" charset="0"/>
                        </a:rPr>
                        <a:t> [0-9]</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1"/>
                  </a:ext>
                </a:extLst>
              </a:tr>
              <a:tr h="522666">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\D</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匹配任何非数字字符，它相当于类</a:t>
                      </a:r>
                      <a:r>
                        <a:rPr lang="en-US" altLang="zh-CN" sz="1800" b="0" i="0" u="none" strike="noStrike" kern="1000" cap="none" spc="0" baseline="0">
                          <a:solidFill>
                            <a:srgbClr val="000000"/>
                          </a:solidFill>
                          <a:latin typeface="Verdana" pitchFamily="34" charset="0"/>
                          <a:ea typeface="宋体" charset="0"/>
                          <a:cs typeface="Verdana" pitchFamily="34" charset="0"/>
                        </a:rPr>
                        <a:t>[^0-9]</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2"/>
                  </a:ext>
                </a:extLst>
              </a:tr>
              <a:tr h="522666">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\s</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匹配任何空白字符，它相当于类</a:t>
                      </a:r>
                      <a:r>
                        <a:rPr lang="en-US" altLang="zh-CN" sz="1800" b="0" i="0" u="none" strike="noStrike" kern="1000" cap="none" spc="0" baseline="0">
                          <a:solidFill>
                            <a:srgbClr val="000000"/>
                          </a:solidFill>
                          <a:latin typeface="Verdana" pitchFamily="34" charset="0"/>
                          <a:ea typeface="宋体" charset="0"/>
                          <a:cs typeface="Verdana" pitchFamily="34" charset="0"/>
                        </a:rPr>
                        <a:t>[\t\n\r\f\v]</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3"/>
                  </a:ext>
                </a:extLst>
              </a:tr>
              <a:tr h="522666">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\S</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匹配任何非空白字符，它相当于类</a:t>
                      </a:r>
                      <a:r>
                        <a:rPr lang="en-US" altLang="zh-CN" sz="1800" b="0" i="0" u="none" strike="noStrike" kern="1000" cap="none" spc="0" baseline="0">
                          <a:solidFill>
                            <a:srgbClr val="000000"/>
                          </a:solidFill>
                          <a:latin typeface="Verdana" pitchFamily="34" charset="0"/>
                          <a:ea typeface="宋体" charset="0"/>
                          <a:cs typeface="Verdana" pitchFamily="34" charset="0"/>
                        </a:rPr>
                        <a:t>[^\t\n\r\f\v]</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4"/>
                  </a:ext>
                </a:extLst>
              </a:tr>
              <a:tr h="522666">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\w</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匹配任何字母数字字符，它相当于类</a:t>
                      </a:r>
                      <a:r>
                        <a:rPr lang="en-US" altLang="zh-CN" sz="1800" b="0" i="0" u="none" strike="noStrike" kern="1000" cap="none" spc="0" baseline="0">
                          <a:solidFill>
                            <a:srgbClr val="000000"/>
                          </a:solidFill>
                          <a:latin typeface="Verdana" pitchFamily="34" charset="0"/>
                          <a:ea typeface="宋体" charset="0"/>
                          <a:cs typeface="Verdana" pitchFamily="34" charset="0"/>
                        </a:rPr>
                        <a:t>[a-zA-Z0-9_]</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5"/>
                  </a:ext>
                </a:extLst>
              </a:tr>
              <a:tr h="522666">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\W</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匹配任何非字母数字字符，它相当于类</a:t>
                      </a:r>
                      <a:r>
                        <a:rPr lang="en-US" altLang="zh-CN" sz="1800" b="0" i="0" u="none" strike="noStrike" kern="1000" cap="none" spc="0" baseline="0">
                          <a:solidFill>
                            <a:srgbClr val="000000"/>
                          </a:solidFill>
                          <a:latin typeface="Verdana" pitchFamily="34" charset="0"/>
                          <a:ea typeface="宋体" charset="0"/>
                          <a:cs typeface="Verdana" pitchFamily="34" charset="0"/>
                        </a:rPr>
                        <a:t>[^a-zA-Z0-9_]</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423940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40" name="文本框"/>
          <p:cNvSpPr txBox="1">
            <a:spLocks/>
          </p:cNvSpPr>
          <p:nvPr/>
        </p:nvSpPr>
        <p:spPr>
          <a:xfrm>
            <a:off x="819137" y="333369"/>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2 </a:t>
            </a:r>
            <a:r>
              <a:rPr lang="zh-CN" altLang="en-US" sz="2800" b="1" i="0" u="none" strike="noStrike" kern="1200" cap="none" spc="0" baseline="0" dirty="0">
                <a:solidFill>
                  <a:schemeClr val="accent2"/>
                </a:solidFill>
                <a:latin typeface="微软雅黑" charset="0"/>
                <a:ea typeface="微软雅黑" charset="0"/>
                <a:cs typeface="Verdana" pitchFamily="34" charset="0"/>
              </a:rPr>
              <a:t>简单模式</a:t>
            </a:r>
          </a:p>
        </p:txBody>
      </p:sp>
      <p:sp>
        <p:nvSpPr>
          <p:cNvPr id="241" name="文本框"/>
          <p:cNvSpPr txBox="1">
            <a:spLocks/>
          </p:cNvSpPr>
          <p:nvPr/>
        </p:nvSpPr>
        <p:spPr>
          <a:xfrm>
            <a:off x="857236" y="1076308"/>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2.2 </a:t>
            </a:r>
            <a:r>
              <a:rPr lang="en-US" altLang="zh-CN" sz="2800" b="0" i="0" u="none" strike="noStrike" kern="1200" cap="none" spc="0" baseline="0" dirty="0" err="1">
                <a:solidFill>
                  <a:schemeClr val="tx1"/>
                </a:solidFill>
                <a:latin typeface="Verdana" pitchFamily="34" charset="0"/>
                <a:ea typeface="宋体" charset="0"/>
                <a:cs typeface="Verdana" pitchFamily="34" charset="0"/>
              </a:rPr>
              <a:t>重复</a:t>
            </a:r>
            <a:endParaRPr lang="zh-CN" altLang="en-US" sz="2800" b="0" i="0" u="none" strike="noStrike" kern="1200" cap="none" spc="0" baseline="0" dirty="0">
              <a:solidFill>
                <a:schemeClr val="tx1"/>
              </a:solidFill>
              <a:latin typeface="Verdana" pitchFamily="34" charset="0"/>
              <a:ea typeface="宋体" charset="0"/>
              <a:cs typeface="Verdana" pitchFamily="34" charset="0"/>
            </a:endParaRPr>
          </a:p>
        </p:txBody>
      </p:sp>
      <p:sp>
        <p:nvSpPr>
          <p:cNvPr id="242" name="文本框"/>
          <p:cNvSpPr txBox="1">
            <a:spLocks/>
          </p:cNvSpPr>
          <p:nvPr/>
        </p:nvSpPr>
        <p:spPr>
          <a:xfrm>
            <a:off x="825487" y="1777973"/>
            <a:ext cx="7699258" cy="1863090"/>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正则表达式的另一个功能是可以指定正则表达式的某一部分的重复次数。我们讨论的第一个具有重复功能的元字符是“</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”并不匹配字符“</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”，它表示前一个字符可以被匹配任意次数，包括零次。</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例如，“</a:t>
            </a:r>
            <a:r>
              <a:rPr lang="en-US" altLang="zh-CN" sz="2000" b="0" i="0" u="none" strike="noStrike" kern="1200" cap="none" spc="0" baseline="0">
                <a:solidFill>
                  <a:schemeClr val="tx1"/>
                </a:solidFill>
                <a:latin typeface="Verdana" pitchFamily="34" charset="0"/>
                <a:ea typeface="宋体" charset="0"/>
                <a:cs typeface="Verdana" pitchFamily="34" charset="0"/>
              </a:rPr>
              <a:t>ca*t</a:t>
            </a:r>
            <a:r>
              <a:rPr lang="zh-CN" altLang="en-US" sz="2000" b="0" i="0" u="none" strike="noStrike" kern="1200" cap="none" spc="0" baseline="0">
                <a:solidFill>
                  <a:schemeClr val="tx1"/>
                </a:solidFill>
                <a:latin typeface="Verdana" pitchFamily="34" charset="0"/>
                <a:ea typeface="宋体" charset="0"/>
                <a:cs typeface="Verdana" pitchFamily="34" charset="0"/>
              </a:rPr>
              <a:t>”将匹配“</a:t>
            </a:r>
            <a:r>
              <a:rPr lang="en-US" altLang="zh-CN" sz="2000" b="0" i="0" u="none" strike="noStrike" kern="1200" cap="none" spc="0" baseline="0">
                <a:solidFill>
                  <a:schemeClr val="tx1"/>
                </a:solidFill>
                <a:latin typeface="Verdana" pitchFamily="34" charset="0"/>
                <a:ea typeface="宋体" charset="0"/>
                <a:cs typeface="Verdana" pitchFamily="34" charset="0"/>
              </a:rPr>
              <a:t>ct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0</a:t>
            </a:r>
            <a:r>
              <a:rPr lang="zh-CN" altLang="en-US" sz="2000" b="0" i="0" u="none" strike="noStrike" kern="1200" cap="none" spc="0" baseline="0">
                <a:solidFill>
                  <a:schemeClr val="tx1"/>
                </a:solidFill>
                <a:latin typeface="Verdana" pitchFamily="34" charset="0"/>
                <a:ea typeface="宋体" charset="0"/>
                <a:cs typeface="Verdana" pitchFamily="34" charset="0"/>
              </a:rPr>
              <a:t>个“</a:t>
            </a:r>
            <a:r>
              <a:rPr lang="en-US" altLang="zh-CN" sz="2000" b="0" i="0" u="none" strike="noStrike" kern="1200" cap="none" spc="0" baseline="0">
                <a:solidFill>
                  <a:schemeClr val="tx1"/>
                </a:solidFill>
                <a:latin typeface="Verdana" pitchFamily="34" charset="0"/>
                <a:ea typeface="宋体" charset="0"/>
                <a:cs typeface="Verdana" pitchFamily="34" charset="0"/>
              </a:rPr>
              <a:t>a</a:t>
            </a:r>
            <a:r>
              <a:rPr lang="zh-CN" altLang="en-US" sz="2000" b="0" i="0" u="none" strike="noStrike" kern="1200" cap="none" spc="0" baseline="0">
                <a:solidFill>
                  <a:schemeClr val="tx1"/>
                </a:solidFill>
                <a:latin typeface="Verdana" pitchFamily="34" charset="0"/>
                <a:ea typeface="宋体" charset="0"/>
                <a:cs typeface="Verdana" pitchFamily="34" charset="0"/>
              </a:rPr>
              <a:t>”字符），“</a:t>
            </a:r>
            <a:r>
              <a:rPr lang="en-US" altLang="zh-CN" sz="2000" b="0" i="0" u="none" strike="noStrike" kern="1200" cap="none" spc="0" baseline="0">
                <a:solidFill>
                  <a:schemeClr val="tx1"/>
                </a:solidFill>
                <a:latin typeface="Verdana" pitchFamily="34" charset="0"/>
                <a:ea typeface="宋体" charset="0"/>
                <a:cs typeface="Verdana" pitchFamily="34" charset="0"/>
              </a:rPr>
              <a:t>cat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1</a:t>
            </a:r>
            <a:r>
              <a:rPr lang="zh-CN" altLang="en-US" sz="2000" b="0" i="0" u="none" strike="noStrike" kern="1200" cap="none" spc="0" baseline="0">
                <a:solidFill>
                  <a:schemeClr val="tx1"/>
                </a:solidFill>
                <a:latin typeface="Verdana" pitchFamily="34" charset="0"/>
                <a:ea typeface="宋体" charset="0"/>
                <a:cs typeface="Verdana" pitchFamily="34" charset="0"/>
              </a:rPr>
              <a:t>个“</a:t>
            </a:r>
            <a:r>
              <a:rPr lang="en-US" altLang="zh-CN" sz="2000" b="0" i="0" u="none" strike="noStrike" kern="1200" cap="none" spc="0" baseline="0">
                <a:solidFill>
                  <a:schemeClr val="tx1"/>
                </a:solidFill>
                <a:latin typeface="Verdana" pitchFamily="34" charset="0"/>
                <a:ea typeface="宋体" charset="0"/>
                <a:cs typeface="Verdana" pitchFamily="34" charset="0"/>
              </a:rPr>
              <a:t>a</a:t>
            </a:r>
            <a:r>
              <a:rPr lang="zh-CN" altLang="en-US" sz="2000" b="0" i="0" u="none" strike="noStrike" kern="1200" cap="none" spc="0" baseline="0">
                <a:solidFill>
                  <a:schemeClr val="tx1"/>
                </a:solidFill>
                <a:latin typeface="Verdana" pitchFamily="34" charset="0"/>
                <a:ea typeface="宋体" charset="0"/>
                <a:cs typeface="Verdana" pitchFamily="34" charset="0"/>
              </a:rPr>
              <a:t>”字符），“</a:t>
            </a:r>
            <a:r>
              <a:rPr lang="en-US" altLang="zh-CN" sz="2000" b="0" i="0" u="none" strike="noStrike" kern="1200" cap="none" spc="0" baseline="0">
                <a:solidFill>
                  <a:schemeClr val="tx1"/>
                </a:solidFill>
                <a:latin typeface="Verdana" pitchFamily="34" charset="0"/>
                <a:ea typeface="宋体" charset="0"/>
                <a:cs typeface="Verdana" pitchFamily="34" charset="0"/>
              </a:rPr>
              <a:t>caaat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3</a:t>
            </a:r>
            <a:r>
              <a:rPr lang="zh-CN" altLang="en-US" sz="2000" b="0" i="0" u="none" strike="noStrike" kern="1200" cap="none" spc="0" baseline="0">
                <a:solidFill>
                  <a:schemeClr val="tx1"/>
                </a:solidFill>
                <a:latin typeface="Verdana" pitchFamily="34" charset="0"/>
                <a:ea typeface="宋体" charset="0"/>
                <a:cs typeface="Verdana" pitchFamily="34" charset="0"/>
              </a:rPr>
              <a:t>个“</a:t>
            </a:r>
            <a:r>
              <a:rPr lang="en-US" altLang="zh-CN" sz="2000" b="0" i="0" u="none" strike="noStrike" kern="1200" cap="none" spc="0" baseline="0">
                <a:solidFill>
                  <a:schemeClr val="tx1"/>
                </a:solidFill>
                <a:latin typeface="Verdana" pitchFamily="34" charset="0"/>
                <a:ea typeface="宋体" charset="0"/>
                <a:cs typeface="Verdana" pitchFamily="34" charset="0"/>
              </a:rPr>
              <a:t>a</a:t>
            </a:r>
            <a:r>
              <a:rPr lang="zh-CN" altLang="en-US" sz="2000" b="0" i="0" u="none" strike="noStrike" kern="1200" cap="none" spc="0" baseline="0">
                <a:solidFill>
                  <a:schemeClr val="tx1"/>
                </a:solidFill>
                <a:latin typeface="Verdana" pitchFamily="34" charset="0"/>
                <a:ea typeface="宋体" charset="0"/>
                <a:cs typeface="Verdana" pitchFamily="34" charset="0"/>
              </a:rPr>
              <a:t>”字符）等。</a:t>
            </a:r>
          </a:p>
        </p:txBody>
      </p:sp>
    </p:spTree>
    <p:extLst>
      <p:ext uri="{BB962C8B-B14F-4D97-AF65-F5344CB8AC3E}">
        <p14:creationId xmlns:p14="http://schemas.microsoft.com/office/powerpoint/2010/main" val="186798005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43" name="文本框"/>
          <p:cNvSpPr txBox="1">
            <a:spLocks/>
          </p:cNvSpPr>
          <p:nvPr/>
        </p:nvSpPr>
        <p:spPr>
          <a:xfrm>
            <a:off x="304795" y="352419"/>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2 </a:t>
            </a:r>
            <a:r>
              <a:rPr lang="zh-CN" altLang="en-US" sz="2800" b="1" i="0" u="none" strike="noStrike" kern="1200" cap="none" spc="0" baseline="0" dirty="0">
                <a:solidFill>
                  <a:schemeClr val="accent2"/>
                </a:solidFill>
                <a:latin typeface="微软雅黑" charset="0"/>
                <a:ea typeface="微软雅黑" charset="0"/>
                <a:cs typeface="Verdana" pitchFamily="34" charset="0"/>
              </a:rPr>
              <a:t>简单模式</a:t>
            </a:r>
          </a:p>
        </p:txBody>
      </p:sp>
      <p:sp>
        <p:nvSpPr>
          <p:cNvPr id="244" name="文本框"/>
          <p:cNvSpPr txBox="1">
            <a:spLocks/>
          </p:cNvSpPr>
          <p:nvPr/>
        </p:nvSpPr>
        <p:spPr>
          <a:xfrm>
            <a:off x="257171" y="1114408"/>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2.2 </a:t>
            </a:r>
            <a:r>
              <a:rPr lang="en-US" altLang="zh-CN" sz="2800" b="0" i="0" u="none" strike="noStrike" kern="1200" cap="none" spc="0" baseline="0" dirty="0" err="1">
                <a:solidFill>
                  <a:schemeClr val="tx1"/>
                </a:solidFill>
                <a:latin typeface="Verdana" pitchFamily="34" charset="0"/>
                <a:ea typeface="宋体" charset="0"/>
                <a:cs typeface="Verdana" pitchFamily="34" charset="0"/>
              </a:rPr>
              <a:t>重复</a:t>
            </a:r>
            <a:endParaRPr lang="zh-CN" altLang="en-US" sz="2800" b="0" i="0" u="none" strike="noStrike" kern="1200" cap="none" spc="0" baseline="0" dirty="0">
              <a:solidFill>
                <a:schemeClr val="tx1"/>
              </a:solidFill>
              <a:latin typeface="Verdana" pitchFamily="34" charset="0"/>
              <a:ea typeface="宋体" charset="0"/>
              <a:cs typeface="Verdana" pitchFamily="34" charset="0"/>
            </a:endParaRPr>
          </a:p>
        </p:txBody>
      </p:sp>
      <p:sp>
        <p:nvSpPr>
          <p:cNvPr id="245" name="文本框"/>
          <p:cNvSpPr txBox="1">
            <a:spLocks/>
          </p:cNvSpPr>
          <p:nvPr/>
        </p:nvSpPr>
        <p:spPr>
          <a:xfrm>
            <a:off x="714364" y="2028793"/>
            <a:ext cx="7715132" cy="21583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像“</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”这样的重复我们称作是贪婪的（</a:t>
            </a:r>
            <a:r>
              <a:rPr lang="en-US" altLang="zh-CN" sz="2000" b="0" i="0" u="none" strike="noStrike" kern="1200" cap="none" spc="0" baseline="0">
                <a:solidFill>
                  <a:schemeClr val="tx1"/>
                </a:solidFill>
                <a:latin typeface="Verdana" pitchFamily="34" charset="0"/>
                <a:ea typeface="宋体" charset="0"/>
                <a:cs typeface="Verdana" pitchFamily="34" charset="0"/>
              </a:rPr>
              <a:t>Greedy</a:t>
            </a:r>
            <a:r>
              <a:rPr lang="zh-CN" altLang="en-US" sz="2000" b="0" i="0" u="none" strike="noStrike" kern="1200" cap="none" spc="0" baseline="0">
                <a:solidFill>
                  <a:schemeClr val="tx1"/>
                </a:solidFill>
                <a:latin typeface="Verdana" pitchFamily="34" charset="0"/>
                <a:ea typeface="宋体" charset="0"/>
                <a:cs typeface="Verdana" pitchFamily="34" charset="0"/>
              </a:rPr>
              <a:t>）。当重复一个正则表达式时，匹配引擎会试图重复尽可能多的次数。如果模式的后面部分没有被匹配，匹配引擎将退回并再次尝试更小的重复。</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例如，模式“</a:t>
            </a:r>
            <a:r>
              <a:rPr lang="en-US" altLang="zh-CN" sz="2000" b="0" i="0" u="none" strike="noStrike" kern="1200" cap="none" spc="0" baseline="0">
                <a:solidFill>
                  <a:schemeClr val="tx1"/>
                </a:solidFill>
                <a:latin typeface="Verdana" pitchFamily="34" charset="0"/>
                <a:ea typeface="宋体" charset="0"/>
                <a:cs typeface="Verdana" pitchFamily="34" charset="0"/>
              </a:rPr>
              <a:t>a[bcd]*b</a:t>
            </a:r>
            <a:r>
              <a:rPr lang="zh-CN" altLang="en-US" sz="2000" b="0" i="0" u="none" strike="noStrike" kern="1200" cap="none" spc="0" baseline="0">
                <a:solidFill>
                  <a:schemeClr val="tx1"/>
                </a:solidFill>
                <a:latin typeface="Verdana" pitchFamily="34" charset="0"/>
                <a:ea typeface="宋体" charset="0"/>
                <a:cs typeface="Verdana" pitchFamily="34" charset="0"/>
              </a:rPr>
              <a:t>”。它首先匹配字母“</a:t>
            </a:r>
            <a:r>
              <a:rPr lang="en-US" altLang="zh-CN" sz="2000" b="0" i="0" u="none" strike="noStrike" kern="1200" cap="none" spc="0" baseline="0">
                <a:solidFill>
                  <a:schemeClr val="tx1"/>
                </a:solidFill>
                <a:latin typeface="Verdana" pitchFamily="34" charset="0"/>
                <a:ea typeface="宋体" charset="0"/>
                <a:cs typeface="Verdana" pitchFamily="34" charset="0"/>
              </a:rPr>
              <a:t>a</a:t>
            </a:r>
            <a:r>
              <a:rPr lang="zh-CN" altLang="en-US" sz="2000" b="0" i="0" u="none" strike="noStrike" kern="1200" cap="none" spc="0" baseline="0">
                <a:solidFill>
                  <a:schemeClr val="tx1"/>
                </a:solidFill>
                <a:latin typeface="Verdana" pitchFamily="34" charset="0"/>
                <a:ea typeface="宋体" charset="0"/>
                <a:cs typeface="Verdana" pitchFamily="34" charset="0"/>
              </a:rPr>
              <a:t>”，然后零个或更多个来自字符类</a:t>
            </a:r>
            <a:r>
              <a:rPr lang="en-US" altLang="zh-CN" sz="2000" b="0" i="0" u="none" strike="noStrike" kern="1200" cap="none" spc="0" baseline="0">
                <a:solidFill>
                  <a:schemeClr val="tx1"/>
                </a:solidFill>
                <a:latin typeface="Verdana" pitchFamily="34" charset="0"/>
                <a:ea typeface="宋体" charset="0"/>
                <a:cs typeface="Verdana" pitchFamily="34" charset="0"/>
              </a:rPr>
              <a:t>[bcd]</a:t>
            </a:r>
            <a:r>
              <a:rPr lang="zh-CN" altLang="en-US" sz="2000" b="0" i="0" u="none" strike="noStrike" kern="1200" cap="none" spc="0" baseline="0">
                <a:solidFill>
                  <a:schemeClr val="tx1"/>
                </a:solidFill>
                <a:latin typeface="Verdana" pitchFamily="34" charset="0"/>
                <a:ea typeface="宋体" charset="0"/>
                <a:cs typeface="Verdana" pitchFamily="34" charset="0"/>
              </a:rPr>
              <a:t>中的字母，最后以“</a:t>
            </a:r>
            <a:r>
              <a:rPr lang="en-US" altLang="zh-CN" sz="2000" b="0" i="0" u="none" strike="noStrike" kern="1200" cap="none" spc="0" baseline="0">
                <a:solidFill>
                  <a:schemeClr val="tx1"/>
                </a:solidFill>
                <a:latin typeface="Verdana" pitchFamily="34" charset="0"/>
                <a:ea typeface="宋体" charset="0"/>
                <a:cs typeface="Verdana" pitchFamily="34" charset="0"/>
              </a:rPr>
              <a:t>b</a:t>
            </a:r>
            <a:r>
              <a:rPr lang="zh-CN" altLang="en-US" sz="2000" b="0" i="0" u="none" strike="noStrike" kern="1200" cap="none" spc="0" baseline="0">
                <a:solidFill>
                  <a:schemeClr val="tx1"/>
                </a:solidFill>
                <a:latin typeface="Verdana" pitchFamily="34" charset="0"/>
                <a:ea typeface="宋体" charset="0"/>
                <a:cs typeface="Verdana" pitchFamily="34" charset="0"/>
              </a:rPr>
              <a:t>”结尾。现在考虑该正则表达式对字符串“</a:t>
            </a:r>
            <a:r>
              <a:rPr lang="en-US" altLang="zh-CN" sz="2000" b="0" i="0" u="none" strike="noStrike" kern="1200" cap="none" spc="0" baseline="0">
                <a:solidFill>
                  <a:schemeClr val="tx1"/>
                </a:solidFill>
                <a:latin typeface="Verdana" pitchFamily="34" charset="0"/>
                <a:ea typeface="宋体" charset="0"/>
                <a:cs typeface="Verdana" pitchFamily="34" charset="0"/>
              </a:rPr>
              <a:t>abcbd</a:t>
            </a:r>
            <a:r>
              <a:rPr lang="zh-CN" altLang="en-US" sz="2000" b="0" i="0" u="none" strike="noStrike" kern="1200" cap="none" spc="0" baseline="0">
                <a:solidFill>
                  <a:schemeClr val="tx1"/>
                </a:solidFill>
                <a:latin typeface="Verdana" pitchFamily="34" charset="0"/>
                <a:ea typeface="宋体" charset="0"/>
                <a:cs typeface="Verdana" pitchFamily="34" charset="0"/>
              </a:rPr>
              <a:t>”的匹配。匹配过程如下表所示：</a:t>
            </a:r>
          </a:p>
        </p:txBody>
      </p:sp>
    </p:spTree>
    <p:extLst>
      <p:ext uri="{BB962C8B-B14F-4D97-AF65-F5344CB8AC3E}">
        <p14:creationId xmlns:p14="http://schemas.microsoft.com/office/powerpoint/2010/main" val="116829112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46" name="文本框"/>
          <p:cNvSpPr txBox="1">
            <a:spLocks/>
          </p:cNvSpPr>
          <p:nvPr/>
        </p:nvSpPr>
        <p:spPr>
          <a:xfrm>
            <a:off x="285745" y="361944"/>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2 </a:t>
            </a:r>
            <a:r>
              <a:rPr lang="zh-CN" altLang="en-US" sz="2800" b="1" i="0" u="none" strike="noStrike" kern="1200" cap="none" spc="0" baseline="0" dirty="0">
                <a:solidFill>
                  <a:schemeClr val="accent2"/>
                </a:solidFill>
                <a:latin typeface="微软雅黑" charset="0"/>
                <a:ea typeface="微软雅黑" charset="0"/>
                <a:cs typeface="Verdana" pitchFamily="34" charset="0"/>
              </a:rPr>
              <a:t>简单模式</a:t>
            </a:r>
          </a:p>
        </p:txBody>
      </p:sp>
      <p:graphicFrame>
        <p:nvGraphicFramePr>
          <p:cNvPr id="248" name="表格"/>
          <p:cNvGraphicFramePr>
            <a:graphicFrameLocks noGrp="1"/>
          </p:cNvGraphicFramePr>
          <p:nvPr/>
        </p:nvGraphicFramePr>
        <p:xfrm>
          <a:off x="457193" y="1601975"/>
          <a:ext cx="7619847" cy="4304656"/>
        </p:xfrm>
        <a:graphic>
          <a:graphicData uri="http://schemas.openxmlformats.org/drawingml/2006/table">
            <a:tbl>
              <a:tblPr bandRow="1"/>
              <a:tblGrid>
                <a:gridCol w="776478">
                  <a:extLst>
                    <a:ext uri="{9D8B030D-6E8A-4147-A177-3AD203B41FA5}">
                      <a16:colId xmlns:a16="http://schemas.microsoft.com/office/drawing/2014/main" val="20000"/>
                    </a:ext>
                  </a:extLst>
                </a:gridCol>
                <a:gridCol w="1046314">
                  <a:extLst>
                    <a:ext uri="{9D8B030D-6E8A-4147-A177-3AD203B41FA5}">
                      <a16:colId xmlns:a16="http://schemas.microsoft.com/office/drawing/2014/main" val="20001"/>
                    </a:ext>
                  </a:extLst>
                </a:gridCol>
                <a:gridCol w="5797055">
                  <a:extLst>
                    <a:ext uri="{9D8B030D-6E8A-4147-A177-3AD203B41FA5}">
                      <a16:colId xmlns:a16="http://schemas.microsoft.com/office/drawing/2014/main" val="20002"/>
                    </a:ext>
                  </a:extLst>
                </a:gridCol>
              </a:tblGrid>
              <a:tr h="527524">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步</a:t>
                      </a:r>
                      <a:r>
                        <a:rPr lang="en-US" altLang="zh-CN" sz="1800" b="1" i="0" u="none" strike="noStrike" kern="1000" cap="none" spc="0" baseline="0">
                          <a:solidFill>
                            <a:srgbClr val="FFFFFF"/>
                          </a:solidFill>
                          <a:latin typeface="Verdana" pitchFamily="34" charset="0"/>
                          <a:ea typeface="宋体" charset="0"/>
                          <a:cs typeface="Verdana" pitchFamily="34" charset="0"/>
                        </a:rPr>
                        <a:t>  </a:t>
                      </a:r>
                      <a:r>
                        <a:rPr lang="zh-CN" altLang="en-US" sz="1800" b="1" i="0" u="none" strike="noStrike" kern="1000" cap="none" spc="0" baseline="0">
                          <a:solidFill>
                            <a:srgbClr val="FFFFFF"/>
                          </a:solidFill>
                          <a:latin typeface="Verdana" pitchFamily="34" charset="0"/>
                          <a:ea typeface="宋体" charset="0"/>
                          <a:cs typeface="Verdana" pitchFamily="34" charset="0"/>
                        </a:rPr>
                        <a:t>骤</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匹配字符</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注</a:t>
                      </a:r>
                      <a:r>
                        <a:rPr lang="en-US" altLang="zh-CN" sz="1800" b="1" i="0" u="none" strike="noStrike" kern="1000" cap="none" spc="0" baseline="0">
                          <a:solidFill>
                            <a:srgbClr val="FFFFFF"/>
                          </a:solidFill>
                          <a:latin typeface="Verdana" pitchFamily="34" charset="0"/>
                          <a:ea typeface="宋体" charset="0"/>
                          <a:cs typeface="Verdana" pitchFamily="34" charset="0"/>
                        </a:rPr>
                        <a:t>  </a:t>
                      </a:r>
                      <a:r>
                        <a:rPr lang="zh-CN" altLang="en-US" sz="1800" b="1" i="0" u="none" strike="noStrike" kern="1000" cap="none" spc="0" baseline="0">
                          <a:solidFill>
                            <a:srgbClr val="FFFFFF"/>
                          </a:solidFill>
                          <a:latin typeface="Verdana" pitchFamily="34" charset="0"/>
                          <a:ea typeface="宋体" charset="0"/>
                          <a:cs typeface="Verdana" pitchFamily="34" charset="0"/>
                        </a:rPr>
                        <a:t>解</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extLst>
                  <a:ext uri="{0D108BD9-81ED-4DB2-BD59-A6C34878D82A}">
                    <a16:rowId xmlns:a16="http://schemas.microsoft.com/office/drawing/2014/main" val="10000"/>
                  </a:ext>
                </a:extLst>
              </a:tr>
              <a:tr h="527524">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1</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en-US" altLang="zh-CN" sz="1800" b="0" i="0" u="none" strike="noStrike" kern="1000" cap="none" spc="0" baseline="0">
                          <a:solidFill>
                            <a:srgbClr val="000000"/>
                          </a:solidFill>
                          <a:latin typeface="Verdana" pitchFamily="34" charset="0"/>
                          <a:ea typeface="宋体" charset="0"/>
                          <a:cs typeface="Verdana" pitchFamily="34" charset="0"/>
                        </a:rPr>
                        <a:t>a</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匹配正则表达式中的“</a:t>
                      </a:r>
                      <a:r>
                        <a:rPr lang="en-US" altLang="zh-CN" sz="1800" b="0" i="0" u="none" strike="noStrike" kern="1000" cap="none" spc="0" baseline="0">
                          <a:solidFill>
                            <a:srgbClr val="000000"/>
                          </a:solidFill>
                          <a:latin typeface="Verdana" pitchFamily="34" charset="0"/>
                          <a:ea typeface="宋体" charset="0"/>
                          <a:cs typeface="Verdana" pitchFamily="34" charset="0"/>
                        </a:rPr>
                        <a:t>a</a:t>
                      </a:r>
                      <a:r>
                        <a:rPr lang="zh-CN" altLang="en-US" sz="1800" b="0" i="0" u="none" strike="noStrike" kern="1000" cap="none" spc="0" baseline="0">
                          <a:solidFill>
                            <a:srgbClr val="000000"/>
                          </a:solidFill>
                          <a:latin typeface="Verdana" pitchFamily="34" charset="0"/>
                          <a:ea typeface="宋体" charset="0"/>
                          <a:cs typeface="Verdana" pitchFamily="34" charset="0"/>
                        </a:rPr>
                        <a:t>”</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1"/>
                  </a:ext>
                </a:extLst>
              </a:tr>
              <a:tr h="527524">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2</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en-US" altLang="zh-CN" sz="1800" b="0" i="0" u="none" strike="noStrike" kern="1000" cap="none" spc="0" baseline="0">
                          <a:solidFill>
                            <a:srgbClr val="000000"/>
                          </a:solidFill>
                          <a:latin typeface="Verdana" pitchFamily="34" charset="0"/>
                          <a:ea typeface="宋体" charset="0"/>
                          <a:cs typeface="Verdana" pitchFamily="34" charset="0"/>
                        </a:rPr>
                        <a:t>abcbd</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引擎尽可能多地匹配</a:t>
                      </a:r>
                      <a:r>
                        <a:rPr lang="en-US" altLang="zh-CN" sz="1800" b="0" i="0" u="none" strike="noStrike" kern="1000" cap="none" spc="0" baseline="0">
                          <a:solidFill>
                            <a:srgbClr val="000000"/>
                          </a:solidFill>
                          <a:latin typeface="Verdana" pitchFamily="34" charset="0"/>
                          <a:ea typeface="宋体" charset="0"/>
                          <a:cs typeface="Verdana" pitchFamily="34" charset="0"/>
                        </a:rPr>
                        <a:t> [bcd]</a:t>
                      </a:r>
                      <a:r>
                        <a:rPr lang="zh-CN" altLang="en-US" sz="1800" b="0" i="0" u="none" strike="noStrike" kern="1000" cap="none" spc="0" baseline="0">
                          <a:solidFill>
                            <a:srgbClr val="000000"/>
                          </a:solidFill>
                          <a:latin typeface="Verdana" pitchFamily="34" charset="0"/>
                          <a:ea typeface="宋体" charset="0"/>
                          <a:cs typeface="Verdana" pitchFamily="34" charset="0"/>
                        </a:rPr>
                        <a:t>中的字符，这里匹配到字符串的结尾</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0F2F4"/>
                    </a:solidFill>
                  </a:tcPr>
                </a:tc>
                <a:extLst>
                  <a:ext uri="{0D108BD9-81ED-4DB2-BD59-A6C34878D82A}">
                    <a16:rowId xmlns:a16="http://schemas.microsoft.com/office/drawing/2014/main" val="10002"/>
                  </a:ext>
                </a:extLst>
              </a:tr>
              <a:tr h="527524">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3</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失败</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引擎尝试匹配“</a:t>
                      </a:r>
                      <a:r>
                        <a:rPr lang="en-US" altLang="zh-CN" sz="1800" b="0" i="0" u="none" strike="noStrike" kern="1000" cap="none" spc="0" baseline="0">
                          <a:solidFill>
                            <a:srgbClr val="000000"/>
                          </a:solidFill>
                          <a:latin typeface="Verdana" pitchFamily="34" charset="0"/>
                          <a:ea typeface="宋体" charset="0"/>
                          <a:cs typeface="Verdana" pitchFamily="34" charset="0"/>
                        </a:rPr>
                        <a:t>b</a:t>
                      </a:r>
                      <a:r>
                        <a:rPr lang="zh-CN" altLang="en-US" sz="1800" b="0" i="0" u="none" strike="noStrike" kern="1000" cap="none" spc="0" baseline="0">
                          <a:solidFill>
                            <a:srgbClr val="000000"/>
                          </a:solidFill>
                          <a:latin typeface="Verdana" pitchFamily="34" charset="0"/>
                          <a:ea typeface="宋体" charset="0"/>
                          <a:cs typeface="Verdana" pitchFamily="34" charset="0"/>
                        </a:rPr>
                        <a:t>”，但当前位置已经是字符的最后了，所以失败</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3"/>
                  </a:ext>
                </a:extLst>
              </a:tr>
              <a:tr h="527524">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4</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en-US" altLang="zh-CN" sz="1800" b="0" i="0" u="none" strike="noStrike" kern="1000" cap="none" spc="0" baseline="0">
                          <a:solidFill>
                            <a:srgbClr val="000000"/>
                          </a:solidFill>
                          <a:latin typeface="Verdana" pitchFamily="34" charset="0"/>
                          <a:ea typeface="宋体" charset="0"/>
                          <a:cs typeface="Verdana" pitchFamily="34" charset="0"/>
                        </a:rPr>
                        <a:t>abcb</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退回，</a:t>
                      </a:r>
                      <a:r>
                        <a:rPr lang="en-US" altLang="zh-CN" sz="1800" b="0" i="0" u="none" strike="noStrike" kern="1000" cap="none" spc="0" baseline="0">
                          <a:solidFill>
                            <a:srgbClr val="000000"/>
                          </a:solidFill>
                          <a:latin typeface="Verdana" pitchFamily="34" charset="0"/>
                          <a:ea typeface="宋体" charset="0"/>
                          <a:cs typeface="Verdana" pitchFamily="34" charset="0"/>
                        </a:rPr>
                        <a:t>[bcd]*</a:t>
                      </a:r>
                      <a:r>
                        <a:rPr lang="zh-CN" altLang="en-US" sz="1800" b="0" i="0" u="none" strike="noStrike" kern="1000" cap="none" spc="0" baseline="0">
                          <a:solidFill>
                            <a:srgbClr val="000000"/>
                          </a:solidFill>
                          <a:latin typeface="Verdana" pitchFamily="34" charset="0"/>
                          <a:ea typeface="宋体" charset="0"/>
                          <a:cs typeface="Verdana" pitchFamily="34" charset="0"/>
                        </a:rPr>
                        <a:t>尝试少匹配一个字符</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0F2F4"/>
                    </a:solidFill>
                  </a:tcPr>
                </a:tc>
                <a:extLst>
                  <a:ext uri="{0D108BD9-81ED-4DB2-BD59-A6C34878D82A}">
                    <a16:rowId xmlns:a16="http://schemas.microsoft.com/office/drawing/2014/main" val="10004"/>
                  </a:ext>
                </a:extLst>
              </a:tr>
              <a:tr h="527524">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5</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失败</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再次尝次匹配</a:t>
                      </a:r>
                      <a:r>
                        <a:rPr lang="en-US" altLang="zh-CN" sz="1800" b="0" i="0" u="none" strike="noStrike" kern="1000" cap="none" spc="0" baseline="0">
                          <a:solidFill>
                            <a:srgbClr val="000000"/>
                          </a:solidFill>
                          <a:latin typeface="Verdana" pitchFamily="34" charset="0"/>
                          <a:ea typeface="宋体" charset="0"/>
                          <a:cs typeface="Verdana" pitchFamily="34" charset="0"/>
                        </a:rPr>
                        <a:t>b</a:t>
                      </a:r>
                      <a:r>
                        <a:rPr lang="zh-CN" altLang="en-US" sz="1800" b="0" i="0" u="none" strike="noStrike" kern="1000" cap="none" spc="0" baseline="0">
                          <a:solidFill>
                            <a:srgbClr val="000000"/>
                          </a:solidFill>
                          <a:latin typeface="Verdana" pitchFamily="34" charset="0"/>
                          <a:ea typeface="宋体" charset="0"/>
                          <a:cs typeface="Verdana" pitchFamily="34" charset="0"/>
                        </a:rPr>
                        <a:t>，但在当前最后一位字符是“</a:t>
                      </a:r>
                      <a:r>
                        <a:rPr lang="en-US" altLang="zh-CN" sz="1800" b="0" i="0" u="none" strike="noStrike" kern="1000" cap="none" spc="0" baseline="0">
                          <a:solidFill>
                            <a:srgbClr val="000000"/>
                          </a:solidFill>
                          <a:latin typeface="Verdana" pitchFamily="34" charset="0"/>
                          <a:ea typeface="宋体" charset="0"/>
                          <a:cs typeface="Verdana" pitchFamily="34" charset="0"/>
                        </a:rPr>
                        <a:t>d</a:t>
                      </a:r>
                      <a:r>
                        <a:rPr lang="zh-CN" altLang="en-US" sz="1800" b="0" i="0" u="none" strike="noStrike" kern="1000" cap="none" spc="0" baseline="0">
                          <a:solidFill>
                            <a:srgbClr val="000000"/>
                          </a:solidFill>
                          <a:latin typeface="Verdana" pitchFamily="34" charset="0"/>
                          <a:ea typeface="宋体" charset="0"/>
                          <a:cs typeface="Verdana" pitchFamily="34" charset="0"/>
                        </a:rPr>
                        <a:t>”</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5"/>
                  </a:ext>
                </a:extLst>
              </a:tr>
              <a:tr h="527524">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6</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en-US" altLang="zh-CN" sz="1800" b="0" i="0" u="none" strike="noStrike" kern="1000" cap="none" spc="0" baseline="0">
                          <a:solidFill>
                            <a:srgbClr val="000000"/>
                          </a:solidFill>
                          <a:latin typeface="Verdana" pitchFamily="34" charset="0"/>
                          <a:ea typeface="宋体" charset="0"/>
                          <a:cs typeface="Verdana" pitchFamily="34" charset="0"/>
                        </a:rPr>
                        <a:t>abc</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再次退回，</a:t>
                      </a:r>
                      <a:r>
                        <a:rPr lang="en-US" altLang="zh-CN" sz="1800" b="0" i="0" u="none" strike="noStrike" kern="1000" cap="none" spc="0" baseline="0">
                          <a:solidFill>
                            <a:srgbClr val="000000"/>
                          </a:solidFill>
                          <a:latin typeface="Verdana" pitchFamily="34" charset="0"/>
                          <a:ea typeface="宋体" charset="0"/>
                          <a:cs typeface="Verdana" pitchFamily="34" charset="0"/>
                        </a:rPr>
                        <a:t>[bcd]*</a:t>
                      </a:r>
                      <a:r>
                        <a:rPr lang="zh-CN" altLang="en-US" sz="1800" b="0" i="0" u="none" strike="noStrike" kern="1000" cap="none" spc="0" baseline="0">
                          <a:solidFill>
                            <a:srgbClr val="000000"/>
                          </a:solidFill>
                          <a:latin typeface="Verdana" pitchFamily="34" charset="0"/>
                          <a:ea typeface="宋体" charset="0"/>
                          <a:cs typeface="Verdana" pitchFamily="34" charset="0"/>
                        </a:rPr>
                        <a:t>只匹配“</a:t>
                      </a:r>
                      <a:r>
                        <a:rPr lang="en-US" altLang="zh-CN" sz="1800" b="0" i="0" u="none" strike="noStrike" kern="1000" cap="none" spc="0" baseline="0">
                          <a:solidFill>
                            <a:srgbClr val="000000"/>
                          </a:solidFill>
                          <a:latin typeface="Verdana" pitchFamily="34" charset="0"/>
                          <a:ea typeface="宋体" charset="0"/>
                          <a:cs typeface="Verdana" pitchFamily="34" charset="0"/>
                        </a:rPr>
                        <a:t>bc</a:t>
                      </a:r>
                      <a:r>
                        <a:rPr lang="zh-CN" altLang="en-US" sz="1800" b="0" i="0" u="none" strike="noStrike" kern="1000" cap="none" spc="0" baseline="0">
                          <a:solidFill>
                            <a:srgbClr val="000000"/>
                          </a:solidFill>
                          <a:latin typeface="Verdana" pitchFamily="34" charset="0"/>
                          <a:ea typeface="宋体" charset="0"/>
                          <a:cs typeface="Verdana" pitchFamily="34" charset="0"/>
                        </a:rPr>
                        <a:t>”</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0F2F4"/>
                    </a:solidFill>
                  </a:tcPr>
                </a:tc>
                <a:extLst>
                  <a:ext uri="{0D108BD9-81ED-4DB2-BD59-A6C34878D82A}">
                    <a16:rowId xmlns:a16="http://schemas.microsoft.com/office/drawing/2014/main" val="10006"/>
                  </a:ext>
                </a:extLst>
              </a:tr>
              <a:tr h="527524">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7</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en-US" altLang="zh-CN" sz="1800" b="0" i="0" u="none" strike="noStrike" kern="1000" cap="none" spc="0" baseline="0">
                          <a:solidFill>
                            <a:srgbClr val="000000"/>
                          </a:solidFill>
                          <a:latin typeface="Verdana" pitchFamily="34" charset="0"/>
                          <a:ea typeface="宋体" charset="0"/>
                          <a:cs typeface="Verdana" pitchFamily="34" charset="0"/>
                        </a:rPr>
                        <a:t>abcb</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再次尝试匹配“</a:t>
                      </a:r>
                      <a:r>
                        <a:rPr lang="en-US" altLang="zh-CN" sz="1800" b="0" i="0" u="none" strike="noStrike" kern="1000" cap="none" spc="0" baseline="0">
                          <a:solidFill>
                            <a:srgbClr val="000000"/>
                          </a:solidFill>
                          <a:latin typeface="Verdana" pitchFamily="34" charset="0"/>
                          <a:ea typeface="宋体" charset="0"/>
                          <a:cs typeface="Verdana" pitchFamily="34" charset="0"/>
                        </a:rPr>
                        <a:t>b</a:t>
                      </a:r>
                      <a:r>
                        <a:rPr lang="zh-CN" altLang="en-US" sz="1800" b="0" i="0" u="none" strike="noStrike" kern="1000" cap="none" spc="0" baseline="0">
                          <a:solidFill>
                            <a:srgbClr val="000000"/>
                          </a:solidFill>
                          <a:latin typeface="Verdana" pitchFamily="34" charset="0"/>
                          <a:ea typeface="宋体" charset="0"/>
                          <a:cs typeface="Verdana" pitchFamily="34" charset="0"/>
                        </a:rPr>
                        <a:t>”，当前位置上的字符正好是“</a:t>
                      </a:r>
                      <a:r>
                        <a:rPr lang="en-US" altLang="zh-CN" sz="1800" b="0" i="0" u="none" strike="noStrike" kern="1000" cap="none" spc="0" baseline="0">
                          <a:solidFill>
                            <a:srgbClr val="000000"/>
                          </a:solidFill>
                          <a:latin typeface="Verdana" pitchFamily="34" charset="0"/>
                          <a:ea typeface="宋体" charset="0"/>
                          <a:cs typeface="Verdana" pitchFamily="34" charset="0"/>
                        </a:rPr>
                        <a:t>b</a:t>
                      </a:r>
                      <a:r>
                        <a:rPr lang="zh-CN" altLang="en-US" sz="1800" b="0" i="0" u="none" strike="noStrike" kern="1000" cap="none" spc="0" baseline="0">
                          <a:solidFill>
                            <a:srgbClr val="000000"/>
                          </a:solidFill>
                          <a:latin typeface="Verdana" pitchFamily="34" charset="0"/>
                          <a:ea typeface="宋体" charset="0"/>
                          <a:cs typeface="Verdana" pitchFamily="34" charset="0"/>
                        </a:rPr>
                        <a:t>”，匹配成功</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3863199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50" name="文本框"/>
          <p:cNvSpPr txBox="1">
            <a:spLocks/>
          </p:cNvSpPr>
          <p:nvPr/>
        </p:nvSpPr>
        <p:spPr>
          <a:xfrm>
            <a:off x="380994" y="361944"/>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2 </a:t>
            </a:r>
            <a:r>
              <a:rPr lang="zh-CN" altLang="en-US" sz="2800" b="1" i="0" u="none" strike="noStrike" kern="1200" cap="none" spc="0" baseline="0" dirty="0">
                <a:solidFill>
                  <a:schemeClr val="accent2"/>
                </a:solidFill>
                <a:latin typeface="微软雅黑" charset="0"/>
                <a:ea typeface="微软雅黑" charset="0"/>
                <a:cs typeface="Verdana" pitchFamily="34" charset="0"/>
              </a:rPr>
              <a:t>简单模式</a:t>
            </a:r>
          </a:p>
        </p:txBody>
      </p:sp>
      <p:sp>
        <p:nvSpPr>
          <p:cNvPr id="251" name="文本框"/>
          <p:cNvSpPr txBox="1">
            <a:spLocks/>
          </p:cNvSpPr>
          <p:nvPr/>
        </p:nvSpPr>
        <p:spPr>
          <a:xfrm>
            <a:off x="400043" y="1047734"/>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2.2 </a:t>
            </a:r>
            <a:r>
              <a:rPr lang="en-US" altLang="zh-CN" sz="2800" b="0" i="0" u="none" strike="noStrike" kern="1200" cap="none" spc="0" baseline="0" dirty="0" err="1">
                <a:solidFill>
                  <a:schemeClr val="tx1"/>
                </a:solidFill>
                <a:latin typeface="Verdana" pitchFamily="34" charset="0"/>
                <a:ea typeface="宋体" charset="0"/>
                <a:cs typeface="Verdana" pitchFamily="34" charset="0"/>
              </a:rPr>
              <a:t>重复</a:t>
            </a:r>
            <a:endParaRPr lang="zh-CN" altLang="en-US" sz="2800" b="0" i="0" u="none" strike="noStrike" kern="1200" cap="none" spc="0" baseline="0" dirty="0">
              <a:solidFill>
                <a:schemeClr val="tx1"/>
              </a:solidFill>
              <a:latin typeface="Verdana" pitchFamily="34" charset="0"/>
              <a:ea typeface="宋体" charset="0"/>
              <a:cs typeface="Verdana" pitchFamily="34" charset="0"/>
            </a:endParaRPr>
          </a:p>
        </p:txBody>
      </p:sp>
      <p:sp>
        <p:nvSpPr>
          <p:cNvPr id="252" name="文本框"/>
          <p:cNvSpPr txBox="1">
            <a:spLocks/>
          </p:cNvSpPr>
          <p:nvPr/>
        </p:nvSpPr>
        <p:spPr>
          <a:xfrm>
            <a:off x="523867" y="1809722"/>
            <a:ext cx="8000879" cy="393001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另一个重复元字符是</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，表示匹配一次或更多次，注意</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要求所匹配的字符至少出现一次。 “</a:t>
            </a:r>
            <a:r>
              <a:rPr lang="en-US" altLang="zh-CN" sz="2000" b="0" i="0" u="none" strike="noStrike" kern="1200" cap="none" spc="0" baseline="0">
                <a:solidFill>
                  <a:schemeClr val="tx1"/>
                </a:solidFill>
                <a:latin typeface="Verdana" pitchFamily="34" charset="0"/>
                <a:ea typeface="宋体" charset="0"/>
                <a:cs typeface="Verdana" pitchFamily="34" charset="0"/>
              </a:rPr>
              <a:t>ca+t</a:t>
            </a:r>
            <a:r>
              <a:rPr lang="zh-CN" altLang="en-US" sz="2000" b="0" i="0" u="none" strike="noStrike" kern="1200" cap="none" spc="0" baseline="0">
                <a:solidFill>
                  <a:schemeClr val="tx1"/>
                </a:solidFill>
                <a:latin typeface="Verdana" pitchFamily="34" charset="0"/>
                <a:ea typeface="宋体" charset="0"/>
                <a:cs typeface="Verdana" pitchFamily="34" charset="0"/>
              </a:rPr>
              <a:t>”就可以匹配“</a:t>
            </a:r>
            <a:r>
              <a:rPr lang="en-US" altLang="zh-CN" sz="2000" b="0" i="0" u="none" strike="noStrike" kern="1200" cap="none" spc="0" baseline="0">
                <a:solidFill>
                  <a:schemeClr val="tx1"/>
                </a:solidFill>
                <a:latin typeface="Verdana" pitchFamily="34" charset="0"/>
                <a:ea typeface="宋体" charset="0"/>
                <a:cs typeface="Verdana" pitchFamily="34" charset="0"/>
              </a:rPr>
              <a:t>cat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1</a:t>
            </a:r>
            <a:r>
              <a:rPr lang="zh-CN" altLang="en-US" sz="2000" b="0" i="0" u="none" strike="noStrike" kern="1200" cap="none" spc="0" baseline="0">
                <a:solidFill>
                  <a:schemeClr val="tx1"/>
                </a:solidFill>
                <a:latin typeface="Verdana" pitchFamily="34" charset="0"/>
                <a:ea typeface="宋体" charset="0"/>
                <a:cs typeface="Verdana" pitchFamily="34" charset="0"/>
              </a:rPr>
              <a:t>个“</a:t>
            </a:r>
            <a:r>
              <a:rPr lang="en-US" altLang="zh-CN" sz="2000" b="0" i="0" u="none" strike="noStrike" kern="1200" cap="none" spc="0" baseline="0">
                <a:solidFill>
                  <a:schemeClr val="tx1"/>
                </a:solidFill>
                <a:latin typeface="Verdana" pitchFamily="34" charset="0"/>
                <a:ea typeface="宋体" charset="0"/>
                <a:cs typeface="Verdana" pitchFamily="34" charset="0"/>
              </a:rPr>
              <a:t>a</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caaat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3</a:t>
            </a:r>
            <a:r>
              <a:rPr lang="zh-CN" altLang="en-US" sz="2000" b="0" i="0" u="none" strike="noStrike" kern="1200" cap="none" spc="0" baseline="0">
                <a:solidFill>
                  <a:schemeClr val="tx1"/>
                </a:solidFill>
                <a:latin typeface="Verdana" pitchFamily="34" charset="0"/>
                <a:ea typeface="宋体" charset="0"/>
                <a:cs typeface="Verdana" pitchFamily="34" charset="0"/>
              </a:rPr>
              <a:t>个“</a:t>
            </a:r>
            <a:r>
              <a:rPr lang="en-US" altLang="zh-CN" sz="2000" b="0" i="0" u="none" strike="noStrike" kern="1200" cap="none" spc="0" baseline="0">
                <a:solidFill>
                  <a:schemeClr val="tx1"/>
                </a:solidFill>
                <a:latin typeface="Verdana" pitchFamily="34" charset="0"/>
                <a:ea typeface="宋体" charset="0"/>
                <a:cs typeface="Verdana" pitchFamily="34" charset="0"/>
              </a:rPr>
              <a:t>a</a:t>
            </a:r>
            <a:r>
              <a:rPr lang="zh-CN" altLang="en-US" sz="2000" b="0" i="0" u="none" strike="noStrike" kern="1200" cap="none" spc="0" baseline="0">
                <a:solidFill>
                  <a:schemeClr val="tx1"/>
                </a:solidFill>
                <a:latin typeface="Verdana" pitchFamily="34" charset="0"/>
                <a:ea typeface="宋体" charset="0"/>
                <a:cs typeface="Verdana" pitchFamily="34" charset="0"/>
              </a:rPr>
              <a:t>”），但“</a:t>
            </a:r>
            <a:r>
              <a:rPr lang="en-US" altLang="zh-CN" sz="2000" b="0" i="0" u="none" strike="noStrike" kern="1200" cap="none" spc="0" baseline="0">
                <a:solidFill>
                  <a:schemeClr val="tx1"/>
                </a:solidFill>
                <a:latin typeface="Verdana" pitchFamily="34" charset="0"/>
                <a:ea typeface="宋体" charset="0"/>
                <a:cs typeface="Verdana" pitchFamily="34" charset="0"/>
              </a:rPr>
              <a:t>ct</a:t>
            </a:r>
            <a:r>
              <a:rPr lang="zh-CN" altLang="en-US" sz="2000" b="0" i="0" u="none" strike="noStrike" kern="1200" cap="none" spc="0" baseline="0">
                <a:solidFill>
                  <a:schemeClr val="tx1"/>
                </a:solidFill>
                <a:latin typeface="Verdana" pitchFamily="34" charset="0"/>
                <a:ea typeface="宋体" charset="0"/>
                <a:cs typeface="Verdana" pitchFamily="34" charset="0"/>
              </a:rPr>
              <a:t>”不能匹配。还有一些表示重复的元定符。</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问号</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表示匹配一次或零次，我们可以将它用于标识某字符是可选的。例如：“</a:t>
            </a:r>
            <a:r>
              <a:rPr lang="en-US" altLang="zh-CN" sz="2000" b="0" i="0" u="none" strike="noStrike" kern="1200" cap="none" spc="0" baseline="0">
                <a:solidFill>
                  <a:schemeClr val="tx1"/>
                </a:solidFill>
                <a:latin typeface="Verdana" pitchFamily="34" charset="0"/>
                <a:ea typeface="宋体" charset="0"/>
                <a:cs typeface="Verdana" pitchFamily="34" charset="0"/>
              </a:rPr>
              <a:t>high-?tech</a:t>
            </a:r>
            <a:r>
              <a:rPr lang="zh-CN" altLang="en-US" sz="2000" b="0" i="0" u="none" strike="noStrike" kern="1200" cap="none" spc="0" baseline="0">
                <a:solidFill>
                  <a:schemeClr val="tx1"/>
                </a:solidFill>
                <a:latin typeface="Verdana" pitchFamily="34" charset="0"/>
                <a:ea typeface="宋体" charset="0"/>
                <a:cs typeface="Verdana" pitchFamily="34" charset="0"/>
              </a:rPr>
              <a:t>”匹配“</a:t>
            </a:r>
            <a:r>
              <a:rPr lang="en-US" altLang="zh-CN" sz="2000" b="0" i="0" u="none" strike="noStrike" kern="1200" cap="none" spc="0" baseline="0">
                <a:solidFill>
                  <a:schemeClr val="tx1"/>
                </a:solidFill>
                <a:latin typeface="Verdana" pitchFamily="34" charset="0"/>
                <a:ea typeface="宋体" charset="0"/>
                <a:cs typeface="Verdana" pitchFamily="34" charset="0"/>
              </a:rPr>
              <a:t>high-tech</a:t>
            </a:r>
            <a:r>
              <a:rPr lang="zh-CN" altLang="en-US" sz="2000" b="0" i="0" u="none" strike="noStrike" kern="1200" cap="none" spc="0" baseline="0">
                <a:solidFill>
                  <a:schemeClr val="tx1"/>
                </a:solidFill>
                <a:latin typeface="Verdana" pitchFamily="34" charset="0"/>
                <a:ea typeface="宋体" charset="0"/>
                <a:cs typeface="Verdana" pitchFamily="34" charset="0"/>
              </a:rPr>
              <a:t>”或“</a:t>
            </a:r>
            <a:r>
              <a:rPr lang="en-US" altLang="zh-CN" sz="2000" b="0" i="0" u="none" strike="noStrike" kern="1200" cap="none" spc="0" baseline="0">
                <a:solidFill>
                  <a:schemeClr val="tx1"/>
                </a:solidFill>
                <a:latin typeface="Verdana" pitchFamily="34" charset="0"/>
                <a:ea typeface="宋体" charset="0"/>
                <a:cs typeface="Verdana" pitchFamily="34" charset="0"/>
              </a:rPr>
              <a:t>hightech</a:t>
            </a:r>
            <a:r>
              <a:rPr lang="zh-CN" altLang="en-US" sz="2000" b="0" i="0" u="none" strike="noStrike" kern="1200" cap="none" spc="0" baseline="0">
                <a:solidFill>
                  <a:schemeClr val="tx1"/>
                </a:solidFill>
                <a:latin typeface="Verdana" pitchFamily="34" charset="0"/>
                <a:ea typeface="宋体" charset="0"/>
                <a:cs typeface="Verdana" pitchFamily="34" charset="0"/>
              </a:rPr>
              <a:t>”。</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最复杂的重复限定符是</a:t>
            </a:r>
            <a:r>
              <a:rPr lang="en-US" altLang="zh-CN" sz="2000" b="0" i="0" u="none" strike="noStrike" kern="1200" cap="none" spc="0" baseline="0">
                <a:solidFill>
                  <a:schemeClr val="tx1"/>
                </a:solidFill>
                <a:latin typeface="Verdana" pitchFamily="34" charset="0"/>
                <a:ea typeface="宋体" charset="0"/>
                <a:cs typeface="Verdana" pitchFamily="34" charset="0"/>
              </a:rPr>
              <a:t>{m,n}</a:t>
            </a:r>
            <a:r>
              <a:rPr lang="zh-CN" altLang="en-US" sz="2000" b="0" i="0" u="none" strike="noStrike" kern="1200" cap="none" spc="0" baseline="0">
                <a:solidFill>
                  <a:schemeClr val="tx1"/>
                </a:solidFill>
                <a:latin typeface="Verdana" pitchFamily="34" charset="0"/>
                <a:ea typeface="宋体" charset="0"/>
                <a:cs typeface="Verdana" pitchFamily="34" charset="0"/>
              </a:rPr>
              <a:t>，其中</a:t>
            </a:r>
            <a:r>
              <a:rPr lang="en-US" altLang="zh-CN" sz="2000" b="0" i="0" u="none" strike="noStrike" kern="1200" cap="none" spc="0" baseline="0">
                <a:solidFill>
                  <a:schemeClr val="tx1"/>
                </a:solidFill>
                <a:latin typeface="Verdana" pitchFamily="34" charset="0"/>
                <a:ea typeface="宋体" charset="0"/>
                <a:cs typeface="Verdana" pitchFamily="34" charset="0"/>
              </a:rPr>
              <a:t>m</a:t>
            </a:r>
            <a:r>
              <a:rPr lang="zh-CN" altLang="en-US" sz="2000" b="0" i="0" u="none" strike="noStrike" kern="1200" cap="none" spc="0" baseline="0">
                <a:solidFill>
                  <a:schemeClr val="tx1"/>
                </a:solidFill>
                <a:latin typeface="Verdana" pitchFamily="34" charset="0"/>
                <a:ea typeface="宋体" charset="0"/>
                <a:cs typeface="Verdana" pitchFamily="34" charset="0"/>
              </a:rPr>
              <a:t>和</a:t>
            </a:r>
            <a:r>
              <a:rPr lang="en-US" altLang="zh-CN" sz="2000" b="0" i="0" u="none" strike="noStrike" kern="1200" cap="none" spc="0" baseline="0">
                <a:solidFill>
                  <a:schemeClr val="tx1"/>
                </a:solidFill>
                <a:latin typeface="Verdana" pitchFamily="34" charset="0"/>
                <a:ea typeface="宋体" charset="0"/>
                <a:cs typeface="Verdana" pitchFamily="34" charset="0"/>
              </a:rPr>
              <a:t>n</a:t>
            </a:r>
            <a:r>
              <a:rPr lang="zh-CN" altLang="en-US" sz="2000" b="0" i="0" u="none" strike="noStrike" kern="1200" cap="none" spc="0" baseline="0">
                <a:solidFill>
                  <a:schemeClr val="tx1"/>
                </a:solidFill>
                <a:latin typeface="Verdana" pitchFamily="34" charset="0"/>
                <a:ea typeface="宋体" charset="0"/>
                <a:cs typeface="Verdana" pitchFamily="34" charset="0"/>
              </a:rPr>
              <a:t>是十进制整数。</a:t>
            </a:r>
            <a:r>
              <a:rPr lang="en-US" altLang="zh-CN" sz="2000" b="0" i="0" u="none" strike="noStrike" kern="1200" cap="none" spc="0" baseline="0">
                <a:solidFill>
                  <a:schemeClr val="tx1"/>
                </a:solidFill>
                <a:latin typeface="Verdana" pitchFamily="34" charset="0"/>
                <a:ea typeface="宋体" charset="0"/>
                <a:cs typeface="Verdana" pitchFamily="34" charset="0"/>
              </a:rPr>
              <a:t>{m,n}</a:t>
            </a:r>
            <a:r>
              <a:rPr lang="zh-CN" altLang="en-US" sz="2000" b="0" i="0" u="none" strike="noStrike" kern="1200" cap="none" spc="0" baseline="0">
                <a:solidFill>
                  <a:schemeClr val="tx1"/>
                </a:solidFill>
                <a:latin typeface="Verdana" pitchFamily="34" charset="0"/>
                <a:ea typeface="宋体" charset="0"/>
                <a:cs typeface="Verdana" pitchFamily="34" charset="0"/>
              </a:rPr>
              <a:t>表示某个匹配项至少需要重复</a:t>
            </a:r>
            <a:r>
              <a:rPr lang="en-US" altLang="zh-CN" sz="2000" b="0" i="1" u="none" strike="noStrike" kern="1200" cap="none" spc="0" baseline="0">
                <a:solidFill>
                  <a:schemeClr val="tx1"/>
                </a:solidFill>
                <a:latin typeface="Verdana" pitchFamily="34" charset="0"/>
                <a:ea typeface="宋体" charset="0"/>
                <a:cs typeface="Verdana" pitchFamily="34" charset="0"/>
              </a:rPr>
              <a:t>m</a:t>
            </a:r>
            <a:r>
              <a:rPr lang="zh-CN" altLang="en-US" sz="2000" b="0" i="0" u="none" strike="noStrike" kern="1200" cap="none" spc="0" baseline="0">
                <a:solidFill>
                  <a:schemeClr val="tx1"/>
                </a:solidFill>
                <a:latin typeface="Verdana" pitchFamily="34" charset="0"/>
                <a:ea typeface="宋体" charset="0"/>
                <a:cs typeface="Verdana" pitchFamily="34" charset="0"/>
              </a:rPr>
              <a:t>次，但不能超过</a:t>
            </a:r>
            <a:r>
              <a:rPr lang="en-US" altLang="zh-CN" sz="2000" b="0" i="1" u="none" strike="noStrike" kern="1200" cap="none" spc="0" baseline="0">
                <a:solidFill>
                  <a:schemeClr val="tx1"/>
                </a:solidFill>
                <a:latin typeface="Verdana" pitchFamily="34" charset="0"/>
                <a:ea typeface="宋体" charset="0"/>
                <a:cs typeface="Verdana" pitchFamily="34" charset="0"/>
              </a:rPr>
              <a:t>n</a:t>
            </a:r>
            <a:r>
              <a:rPr lang="zh-CN" altLang="en-US" sz="2000" b="0" i="0" u="none" strike="noStrike" kern="1200" cap="none" spc="0" baseline="0">
                <a:solidFill>
                  <a:schemeClr val="tx1"/>
                </a:solidFill>
                <a:latin typeface="Verdana" pitchFamily="34" charset="0"/>
                <a:ea typeface="宋体" charset="0"/>
                <a:cs typeface="Verdana" pitchFamily="34" charset="0"/>
              </a:rPr>
              <a:t>次。例如，</a:t>
            </a:r>
            <a:r>
              <a:rPr lang="en-US" altLang="zh-CN" sz="2000" b="0" i="0" u="none" strike="noStrike" kern="1200" cap="none" spc="0" baseline="0">
                <a:solidFill>
                  <a:schemeClr val="tx1"/>
                </a:solidFill>
                <a:latin typeface="Verdana" pitchFamily="34" charset="0"/>
                <a:ea typeface="宋体" charset="0"/>
                <a:cs typeface="Verdana" pitchFamily="34" charset="0"/>
              </a:rPr>
              <a:t>a/{1,2}b</a:t>
            </a:r>
            <a:r>
              <a:rPr lang="zh-CN" altLang="en-US" sz="2000" b="0" i="0" u="none" strike="noStrike" kern="1200" cap="none" spc="0" baseline="0">
                <a:solidFill>
                  <a:schemeClr val="tx1"/>
                </a:solidFill>
                <a:latin typeface="Verdana" pitchFamily="34" charset="0"/>
                <a:ea typeface="宋体" charset="0"/>
                <a:cs typeface="Verdana" pitchFamily="34" charset="0"/>
              </a:rPr>
              <a:t>可以匹配</a:t>
            </a:r>
            <a:r>
              <a:rPr lang="en-US" altLang="zh-CN" sz="2000" b="0" i="0" u="none" strike="noStrike" kern="1200" cap="none" spc="0" baseline="0">
                <a:solidFill>
                  <a:schemeClr val="tx1"/>
                </a:solidFill>
                <a:latin typeface="Verdana" pitchFamily="34" charset="0"/>
                <a:ea typeface="宋体" charset="0"/>
                <a:cs typeface="Verdana" pitchFamily="34" charset="0"/>
              </a:rPr>
              <a:t>a/b</a:t>
            </a:r>
            <a:r>
              <a:rPr lang="zh-CN" altLang="en-US" sz="2000" b="0" i="0" u="none" strike="noStrike" kern="1200" cap="none" spc="0" baseline="0">
                <a:solidFill>
                  <a:schemeClr val="tx1"/>
                </a:solidFill>
                <a:latin typeface="Verdana" pitchFamily="34" charset="0"/>
                <a:ea typeface="宋体" charset="0"/>
                <a:cs typeface="Verdana" pitchFamily="34" charset="0"/>
              </a:rPr>
              <a:t>和</a:t>
            </a:r>
            <a:r>
              <a:rPr lang="en-US" altLang="zh-CN" sz="2000" b="0" i="0" u="none" strike="noStrike" kern="1200" cap="none" spc="0" baseline="0">
                <a:solidFill>
                  <a:schemeClr val="tx1"/>
                </a:solidFill>
                <a:latin typeface="Verdana" pitchFamily="34" charset="0"/>
                <a:ea typeface="宋体" charset="0"/>
                <a:cs typeface="Verdana" pitchFamily="34" charset="0"/>
              </a:rPr>
              <a:t>a//b</a:t>
            </a:r>
            <a:r>
              <a:rPr lang="zh-CN" altLang="en-US" sz="2000" b="0" i="0" u="none" strike="noStrike" kern="1200" cap="none" spc="0" baseline="0">
                <a:solidFill>
                  <a:schemeClr val="tx1"/>
                </a:solidFill>
                <a:latin typeface="Verdana" pitchFamily="34" charset="0"/>
                <a:ea typeface="宋体" charset="0"/>
                <a:cs typeface="Verdana" pitchFamily="34" charset="0"/>
              </a:rPr>
              <a:t>，但不能匹配</a:t>
            </a:r>
            <a:r>
              <a:rPr lang="en-US" altLang="zh-CN" sz="2000" b="0" i="0" u="none" strike="noStrike" kern="1200" cap="none" spc="0" baseline="0">
                <a:solidFill>
                  <a:schemeClr val="tx1"/>
                </a:solidFill>
                <a:latin typeface="Verdana" pitchFamily="34" charset="0"/>
                <a:ea typeface="宋体" charset="0"/>
                <a:cs typeface="Verdana" pitchFamily="34" charset="0"/>
              </a:rPr>
              <a:t>ab</a:t>
            </a:r>
            <a:r>
              <a:rPr lang="zh-CN" altLang="en-US" sz="2000" b="0" i="0" u="none" strike="noStrike" kern="1200" cap="none" spc="0" baseline="0">
                <a:solidFill>
                  <a:schemeClr val="tx1"/>
                </a:solidFill>
                <a:latin typeface="Verdana" pitchFamily="34" charset="0"/>
                <a:ea typeface="宋体" charset="0"/>
                <a:cs typeface="Verdana" pitchFamily="34" charset="0"/>
              </a:rPr>
              <a:t>与</a:t>
            </a:r>
            <a:r>
              <a:rPr lang="en-US" altLang="zh-CN" sz="2000" b="0" i="0" u="none" strike="noStrike" kern="1200" cap="none" spc="0" baseline="0">
                <a:solidFill>
                  <a:schemeClr val="tx1"/>
                </a:solidFill>
                <a:latin typeface="Verdana" pitchFamily="34" charset="0"/>
                <a:ea typeface="宋体" charset="0"/>
                <a:cs typeface="Verdana" pitchFamily="34" charset="0"/>
              </a:rPr>
              <a:t>a///b</a:t>
            </a:r>
            <a:r>
              <a:rPr lang="zh-CN" altLang="en-US" sz="2000" b="0" i="0" u="none" strike="noStrike" kern="1200" cap="none" spc="0" baseline="0">
                <a:solidFill>
                  <a:schemeClr val="tx1"/>
                </a:solidFill>
                <a:latin typeface="Verdana" pitchFamily="34" charset="0"/>
                <a:ea typeface="宋体" charset="0"/>
                <a:cs typeface="Verdana" pitchFamily="34" charset="0"/>
              </a:rPr>
              <a:t>。</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可以省略</a:t>
            </a:r>
            <a:r>
              <a:rPr lang="en-US" altLang="zh-CN" sz="2000" b="0" i="1" u="none" strike="noStrike" kern="1200" cap="none" spc="0" baseline="0">
                <a:solidFill>
                  <a:schemeClr val="tx1"/>
                </a:solidFill>
                <a:latin typeface="Verdana" pitchFamily="34" charset="0"/>
                <a:ea typeface="宋体" charset="0"/>
                <a:cs typeface="Verdana" pitchFamily="34" charset="0"/>
              </a:rPr>
              <a:t>m</a:t>
            </a:r>
            <a:r>
              <a:rPr lang="zh-CN" altLang="en-US" sz="2000" b="0" i="0" u="none" strike="noStrike" kern="1200" cap="none" spc="0" baseline="0">
                <a:solidFill>
                  <a:schemeClr val="tx1"/>
                </a:solidFill>
                <a:latin typeface="Verdana" pitchFamily="34" charset="0"/>
                <a:ea typeface="宋体" charset="0"/>
                <a:cs typeface="Verdana" pitchFamily="34" charset="0"/>
              </a:rPr>
              <a:t>和</a:t>
            </a:r>
            <a:r>
              <a:rPr lang="en-US" altLang="zh-CN" sz="2000" b="0" i="1" u="none" strike="noStrike" kern="1200" cap="none" spc="0" baseline="0">
                <a:solidFill>
                  <a:schemeClr val="tx1"/>
                </a:solidFill>
                <a:latin typeface="Verdana" pitchFamily="34" charset="0"/>
                <a:ea typeface="宋体" charset="0"/>
                <a:cs typeface="Verdana" pitchFamily="34" charset="0"/>
              </a:rPr>
              <a:t>n</a:t>
            </a:r>
            <a:r>
              <a:rPr lang="zh-CN" altLang="en-US" sz="2000" b="0" i="0" u="none" strike="noStrike" kern="1200" cap="none" spc="0" baseline="0">
                <a:solidFill>
                  <a:schemeClr val="tx1"/>
                </a:solidFill>
                <a:latin typeface="Verdana" pitchFamily="34" charset="0"/>
                <a:ea typeface="宋体" charset="0"/>
                <a:cs typeface="Verdana" pitchFamily="34" charset="0"/>
              </a:rPr>
              <a:t>中的任意一个，省略</a:t>
            </a:r>
            <a:r>
              <a:rPr lang="en-US" altLang="zh-CN" sz="2000" b="0" i="0" u="none" strike="noStrike" kern="1200" cap="none" spc="0" baseline="0">
                <a:solidFill>
                  <a:schemeClr val="tx1"/>
                </a:solidFill>
                <a:latin typeface="Verdana" pitchFamily="34" charset="0"/>
                <a:ea typeface="宋体" charset="0"/>
                <a:cs typeface="Verdana" pitchFamily="34" charset="0"/>
              </a:rPr>
              <a:t>m</a:t>
            </a:r>
            <a:r>
              <a:rPr lang="zh-CN" altLang="en-US" sz="2000" b="0" i="0" u="none" strike="noStrike" kern="1200" cap="none" spc="0" baseline="0">
                <a:solidFill>
                  <a:schemeClr val="tx1"/>
                </a:solidFill>
                <a:latin typeface="Verdana" pitchFamily="34" charset="0"/>
                <a:ea typeface="宋体" charset="0"/>
                <a:cs typeface="Verdana" pitchFamily="34" charset="0"/>
              </a:rPr>
              <a:t>表示重复下限为</a:t>
            </a:r>
            <a:r>
              <a:rPr lang="en-US" altLang="zh-CN" sz="2000" b="0" i="0" u="none" strike="noStrike" kern="1200" cap="none" spc="0" baseline="0">
                <a:solidFill>
                  <a:schemeClr val="tx1"/>
                </a:solidFill>
                <a:latin typeface="Verdana" pitchFamily="34" charset="0"/>
                <a:ea typeface="宋体" charset="0"/>
                <a:cs typeface="Verdana" pitchFamily="34" charset="0"/>
              </a:rPr>
              <a:t>0</a:t>
            </a:r>
            <a:r>
              <a:rPr lang="zh-CN" altLang="en-US" sz="2000" b="0" i="0" u="none" strike="noStrike" kern="1200" cap="none" spc="0" baseline="0">
                <a:solidFill>
                  <a:schemeClr val="tx1"/>
                </a:solidFill>
                <a:latin typeface="Verdana" pitchFamily="34" charset="0"/>
                <a:ea typeface="宋体" charset="0"/>
                <a:cs typeface="Verdana" pitchFamily="34" charset="0"/>
              </a:rPr>
              <a:t>，而省略</a:t>
            </a:r>
            <a:r>
              <a:rPr lang="en-US" altLang="zh-CN" sz="2000" b="0" i="1" u="none" strike="noStrike" kern="1200" cap="none" spc="0" baseline="0">
                <a:solidFill>
                  <a:schemeClr val="tx1"/>
                </a:solidFill>
                <a:latin typeface="Verdana" pitchFamily="34" charset="0"/>
                <a:ea typeface="宋体" charset="0"/>
                <a:cs typeface="Verdana" pitchFamily="34" charset="0"/>
              </a:rPr>
              <a:t>n</a:t>
            </a:r>
            <a:r>
              <a:rPr lang="zh-CN" altLang="en-US" sz="2000" b="0" i="0" u="none" strike="noStrike" kern="1200" cap="none" spc="0" baseline="0">
                <a:solidFill>
                  <a:schemeClr val="tx1"/>
                </a:solidFill>
                <a:latin typeface="Verdana" pitchFamily="34" charset="0"/>
                <a:ea typeface="宋体" charset="0"/>
                <a:cs typeface="Verdana" pitchFamily="34" charset="0"/>
              </a:rPr>
              <a:t>则表示重复上限为无穷。</a:t>
            </a:r>
          </a:p>
        </p:txBody>
      </p:sp>
    </p:spTree>
    <p:extLst>
      <p:ext uri="{BB962C8B-B14F-4D97-AF65-F5344CB8AC3E}">
        <p14:creationId xmlns:p14="http://schemas.microsoft.com/office/powerpoint/2010/main" val="30106422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53" name="文本框"/>
          <p:cNvSpPr txBox="1">
            <a:spLocks/>
          </p:cNvSpPr>
          <p:nvPr/>
        </p:nvSpPr>
        <p:spPr>
          <a:xfrm>
            <a:off x="409568" y="171447"/>
            <a:ext cx="4762427" cy="69151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4000" b="1" i="0" u="none" strike="noStrike" kern="1200" cap="none" spc="0" baseline="0">
                <a:solidFill>
                  <a:schemeClr val="tx1"/>
                </a:solidFill>
                <a:latin typeface="Times New Roman" charset="0"/>
                <a:ea typeface="隶书" pitchFamily="49" charset="-122"/>
                <a:cs typeface="Times New Roman" charset="0"/>
              </a:rPr>
              <a:t>目录</a:t>
            </a:r>
            <a:endParaRPr lang="zh-CN" altLang="en-US" sz="1800" b="0" i="0" u="none" strike="noStrike" kern="1200" cap="none" spc="0" baseline="0">
              <a:solidFill>
                <a:schemeClr val="tx1"/>
              </a:solidFill>
              <a:latin typeface="Times New Roman" charset="0"/>
              <a:ea typeface="宋体" charset="0"/>
              <a:cs typeface="Times New Roman" charset="0"/>
            </a:endParaRPr>
          </a:p>
        </p:txBody>
      </p:sp>
      <p:sp>
        <p:nvSpPr>
          <p:cNvPr id="254" name="矩形"/>
          <p:cNvSpPr>
            <a:spLocks/>
          </p:cNvSpPr>
          <p:nvPr/>
        </p:nvSpPr>
        <p:spPr>
          <a:xfrm>
            <a:off x="681023" y="1920592"/>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255" name="矩形"/>
          <p:cNvSpPr>
            <a:spLocks/>
          </p:cNvSpPr>
          <p:nvPr/>
        </p:nvSpPr>
        <p:spPr>
          <a:xfrm>
            <a:off x="681023" y="1245159"/>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256" name="矩形"/>
          <p:cNvSpPr>
            <a:spLocks/>
          </p:cNvSpPr>
          <p:nvPr/>
        </p:nvSpPr>
        <p:spPr>
          <a:xfrm>
            <a:off x="1752600" y="1323975"/>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1 </a:t>
            </a:r>
            <a:r>
              <a:rPr lang="zh-CN" altLang="en-US" sz="2800" b="0" i="0" u="none" strike="noStrike" kern="1200" cap="none" spc="0" baseline="0" dirty="0">
                <a:solidFill>
                  <a:schemeClr val="tx1"/>
                </a:solidFill>
                <a:latin typeface="微软雅黑" charset="0"/>
                <a:ea typeface="微软雅黑" charset="0"/>
                <a:cs typeface="Arial" pitchFamily="34" charset="0"/>
              </a:rPr>
              <a:t>正则表达式简介</a:t>
            </a:r>
          </a:p>
        </p:txBody>
      </p:sp>
      <p:sp>
        <p:nvSpPr>
          <p:cNvPr id="257" name="矩形"/>
          <p:cNvSpPr>
            <a:spLocks/>
          </p:cNvSpPr>
          <p:nvPr/>
        </p:nvSpPr>
        <p:spPr>
          <a:xfrm>
            <a:off x="1752600" y="2006600"/>
            <a:ext cx="4649788" cy="457199"/>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2 </a:t>
            </a:r>
            <a:r>
              <a:rPr lang="zh-CN" altLang="en-US" sz="2800" b="0" i="0" u="none" strike="noStrike" kern="1200" cap="none" spc="0" baseline="0" dirty="0">
                <a:solidFill>
                  <a:schemeClr val="tx1"/>
                </a:solidFill>
                <a:latin typeface="微软雅黑" charset="0"/>
                <a:ea typeface="微软雅黑" charset="0"/>
                <a:cs typeface="Arial" pitchFamily="34" charset="0"/>
              </a:rPr>
              <a:t>简单模式</a:t>
            </a:r>
          </a:p>
        </p:txBody>
      </p:sp>
      <p:sp>
        <p:nvSpPr>
          <p:cNvPr id="258" name="矩形"/>
          <p:cNvSpPr>
            <a:spLocks/>
          </p:cNvSpPr>
          <p:nvPr/>
        </p:nvSpPr>
        <p:spPr>
          <a:xfrm>
            <a:off x="681023" y="2621108"/>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259" name="矩形"/>
          <p:cNvSpPr>
            <a:spLocks/>
          </p:cNvSpPr>
          <p:nvPr/>
        </p:nvSpPr>
        <p:spPr>
          <a:xfrm>
            <a:off x="1752600" y="2690813"/>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rgbClr val="C00000"/>
                </a:solidFill>
                <a:latin typeface="微软雅黑" charset="0"/>
                <a:ea typeface="微软雅黑" charset="0"/>
                <a:cs typeface="Arial" pitchFamily="34" charset="0"/>
              </a:rPr>
              <a:t> 3 </a:t>
            </a:r>
            <a:r>
              <a:rPr lang="en-US" altLang="zh-CN" sz="2800" b="0" i="0" u="none" strike="noStrike" kern="1200" cap="none" spc="0" baseline="0" dirty="0" err="1">
                <a:solidFill>
                  <a:srgbClr val="C00000"/>
                </a:solidFill>
                <a:latin typeface="微软雅黑" charset="0"/>
                <a:ea typeface="微软雅黑" charset="0"/>
                <a:cs typeface="Arial" pitchFamily="34" charset="0"/>
              </a:rPr>
              <a:t>使用正则表达式</a:t>
            </a:r>
            <a:endParaRPr lang="zh-CN" altLang="en-US" sz="2800" b="0" i="0" u="none" strike="noStrike" kern="1200" cap="none" spc="0" baseline="0" dirty="0">
              <a:solidFill>
                <a:srgbClr val="C00000"/>
              </a:solidFill>
              <a:latin typeface="微软雅黑" charset="0"/>
              <a:ea typeface="微软雅黑" charset="0"/>
              <a:cs typeface="Arial" pitchFamily="34" charset="0"/>
            </a:endParaRPr>
          </a:p>
        </p:txBody>
      </p:sp>
      <p:sp>
        <p:nvSpPr>
          <p:cNvPr id="260" name="矩形"/>
          <p:cNvSpPr>
            <a:spLocks/>
          </p:cNvSpPr>
          <p:nvPr/>
        </p:nvSpPr>
        <p:spPr>
          <a:xfrm>
            <a:off x="681023" y="3303709"/>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261" name="矩形"/>
          <p:cNvSpPr>
            <a:spLocks/>
          </p:cNvSpPr>
          <p:nvPr/>
        </p:nvSpPr>
        <p:spPr>
          <a:xfrm>
            <a:off x="1752600" y="3373414"/>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4 </a:t>
            </a:r>
            <a:r>
              <a:rPr lang="en-US" altLang="zh-CN" sz="2800" b="0" i="0" u="none" strike="noStrike" kern="1200" cap="none" spc="0" baseline="0" dirty="0" err="1">
                <a:solidFill>
                  <a:schemeClr val="tx1"/>
                </a:solidFill>
                <a:latin typeface="微软雅黑" charset="0"/>
                <a:ea typeface="微软雅黑" charset="0"/>
                <a:cs typeface="Arial" pitchFamily="34" charset="0"/>
              </a:rPr>
              <a:t>更多模式功能</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262" name="矩形"/>
          <p:cNvSpPr>
            <a:spLocks/>
          </p:cNvSpPr>
          <p:nvPr/>
        </p:nvSpPr>
        <p:spPr>
          <a:xfrm>
            <a:off x="661467" y="3993431"/>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263" name="矩形"/>
          <p:cNvSpPr>
            <a:spLocks/>
          </p:cNvSpPr>
          <p:nvPr/>
        </p:nvSpPr>
        <p:spPr>
          <a:xfrm>
            <a:off x="1733044" y="4063135"/>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5 </a:t>
            </a:r>
            <a:r>
              <a:rPr lang="en-US" altLang="zh-CN" sz="2800" b="0" i="0" u="none" strike="noStrike" kern="1200" cap="none" spc="0" baseline="0" dirty="0" err="1">
                <a:solidFill>
                  <a:schemeClr val="tx1"/>
                </a:solidFill>
                <a:latin typeface="微软雅黑" charset="0"/>
                <a:ea typeface="微软雅黑" charset="0"/>
                <a:cs typeface="Arial" pitchFamily="34" charset="0"/>
              </a:rPr>
              <a:t>修改字符串</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264" name="矩形"/>
          <p:cNvSpPr>
            <a:spLocks/>
          </p:cNvSpPr>
          <p:nvPr/>
        </p:nvSpPr>
        <p:spPr>
          <a:xfrm>
            <a:off x="681637" y="4696801"/>
            <a:ext cx="7091375" cy="428643"/>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265" name="矩形"/>
          <p:cNvSpPr>
            <a:spLocks/>
          </p:cNvSpPr>
          <p:nvPr/>
        </p:nvSpPr>
        <p:spPr>
          <a:xfrm>
            <a:off x="1753214" y="4766506"/>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fontAlgn="base"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6 </a:t>
            </a:r>
            <a:r>
              <a:rPr lang="en-US" altLang="zh-CN" sz="2800" b="0" i="0" u="none" strike="noStrike" kern="1200" cap="none" spc="0" baseline="0" dirty="0" err="1">
                <a:solidFill>
                  <a:schemeClr val="tx1"/>
                </a:solidFill>
                <a:latin typeface="微软雅黑" charset="0"/>
                <a:ea typeface="微软雅黑" charset="0"/>
                <a:cs typeface="Arial" pitchFamily="34" charset="0"/>
              </a:rPr>
              <a:t>常见问题</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Tree>
    <p:extLst>
      <p:ext uri="{BB962C8B-B14F-4D97-AF65-F5344CB8AC3E}">
        <p14:creationId xmlns:p14="http://schemas.microsoft.com/office/powerpoint/2010/main" val="93969929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66" name="文本框"/>
          <p:cNvSpPr txBox="1">
            <a:spLocks/>
          </p:cNvSpPr>
          <p:nvPr/>
        </p:nvSpPr>
        <p:spPr>
          <a:xfrm>
            <a:off x="380994" y="304795"/>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3 </a:t>
            </a:r>
            <a:r>
              <a:rPr lang="zh-CN" altLang="en-US" sz="2800" b="1" i="0" u="none" strike="noStrike" kern="1200" cap="none" spc="0" baseline="0" dirty="0">
                <a:solidFill>
                  <a:schemeClr val="accent2"/>
                </a:solidFill>
                <a:latin typeface="微软雅黑" charset="0"/>
                <a:ea typeface="微软雅黑" charset="0"/>
                <a:cs typeface="Verdana" pitchFamily="34" charset="0"/>
              </a:rPr>
              <a:t>使用正则表达式</a:t>
            </a:r>
          </a:p>
        </p:txBody>
      </p:sp>
      <p:sp>
        <p:nvSpPr>
          <p:cNvPr id="267" name="文本框"/>
          <p:cNvSpPr txBox="1">
            <a:spLocks/>
          </p:cNvSpPr>
          <p:nvPr/>
        </p:nvSpPr>
        <p:spPr>
          <a:xfrm>
            <a:off x="552441" y="1019159"/>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3.1 </a:t>
            </a:r>
            <a:r>
              <a:rPr lang="zh-CN" altLang="en-US" sz="2800" b="0" i="0" u="none" strike="noStrike" kern="1200" cap="none" spc="0" baseline="0" dirty="0">
                <a:solidFill>
                  <a:schemeClr val="tx1"/>
                </a:solidFill>
                <a:latin typeface="Verdana" pitchFamily="34" charset="0"/>
                <a:ea typeface="宋体" charset="0"/>
                <a:cs typeface="Verdana" pitchFamily="34" charset="0"/>
              </a:rPr>
              <a:t>编译正则表达式</a:t>
            </a:r>
          </a:p>
        </p:txBody>
      </p:sp>
      <p:sp>
        <p:nvSpPr>
          <p:cNvPr id="268" name="文本框"/>
          <p:cNvSpPr txBox="1">
            <a:spLocks/>
          </p:cNvSpPr>
          <p:nvPr/>
        </p:nvSpPr>
        <p:spPr>
          <a:xfrm>
            <a:off x="285745" y="1619225"/>
            <a:ext cx="8048503" cy="3634741"/>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Python</a:t>
            </a:r>
            <a:r>
              <a:rPr lang="zh-CN" altLang="en-US" sz="2000" b="0" i="0" u="none" strike="noStrike" kern="1200" cap="none" spc="0" baseline="0">
                <a:solidFill>
                  <a:schemeClr val="tx1"/>
                </a:solidFill>
                <a:latin typeface="Verdana" pitchFamily="34" charset="0"/>
                <a:ea typeface="宋体" charset="0"/>
                <a:cs typeface="Verdana" pitchFamily="34" charset="0"/>
              </a:rPr>
              <a:t>中通过</a:t>
            </a:r>
            <a:r>
              <a:rPr lang="en-US" altLang="zh-CN" sz="2000" b="0" i="0" u="none" strike="noStrike" kern="1200" cap="none" spc="0" baseline="0">
                <a:solidFill>
                  <a:schemeClr val="tx1"/>
                </a:solidFill>
                <a:latin typeface="Verdana" pitchFamily="34" charset="0"/>
                <a:ea typeface="宋体" charset="0"/>
                <a:cs typeface="Verdana" pitchFamily="34" charset="0"/>
              </a:rPr>
              <a:t>re</a:t>
            </a:r>
            <a:r>
              <a:rPr lang="zh-CN" altLang="en-US" sz="2000" b="0" i="0" u="none" strike="noStrike" kern="1200" cap="none" spc="0" baseline="0">
                <a:solidFill>
                  <a:schemeClr val="tx1"/>
                </a:solidFill>
                <a:latin typeface="Verdana" pitchFamily="34" charset="0"/>
                <a:ea typeface="宋体" charset="0"/>
                <a:cs typeface="Verdana" pitchFamily="34" charset="0"/>
              </a:rPr>
              <a:t>模块提供了一个正则表达式引擎的接口，利用这个接口，我们可以将正则表达式编译成对象并用它们来进行匹配。</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正则表达式被编译成正则表达式对象（</a:t>
            </a:r>
            <a:r>
              <a:rPr lang="en-US" altLang="zh-CN" sz="2000" b="0" i="0" u="none" strike="noStrike" kern="1200" cap="none" spc="0" baseline="0">
                <a:solidFill>
                  <a:schemeClr val="tx1"/>
                </a:solidFill>
                <a:latin typeface="Verdana" pitchFamily="34" charset="0"/>
                <a:ea typeface="宋体" charset="0"/>
                <a:cs typeface="Verdana" pitchFamily="34" charset="0"/>
              </a:rPr>
              <a:t>Regular Expression Objects</a:t>
            </a:r>
            <a:r>
              <a:rPr lang="zh-CN" altLang="en-US" sz="2000" b="0" i="0" u="none" strike="noStrike" kern="1200" cap="none" spc="0" baseline="0">
                <a:solidFill>
                  <a:schemeClr val="tx1"/>
                </a:solidFill>
                <a:latin typeface="Verdana" pitchFamily="34" charset="0"/>
                <a:ea typeface="宋体" charset="0"/>
                <a:cs typeface="Verdana" pitchFamily="34" charset="0"/>
              </a:rPr>
              <a:t>），可以为不同的操作提供方法，如模式匹配搜索或字符串替换。使用如下代码编译正则表达式对象：</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&gt;&gt;&gt; import re</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&gt;&gt;&gt; p = re.compile('ab*')</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&gt;&gt;&gt; p</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re.compile('ab*')</a:t>
            </a:r>
          </a:p>
          <a:p>
            <a:pPr marL="0" indent="0" algn="l">
              <a:lnSpc>
                <a:spcPct val="100000"/>
              </a:lnSpc>
              <a:spcBef>
                <a:spcPts val="0"/>
              </a:spcBef>
              <a:spcAft>
                <a:spcPts val="0"/>
              </a:spcAft>
              <a:buNone/>
            </a:pPr>
            <a:endParaRPr lang="zh-CN" altLang="en-US" sz="2000" b="0" i="0" u="none" strike="noStrike" kern="1200" cap="none" spc="0" baseline="0">
              <a:solidFill>
                <a:schemeClr val="tx1"/>
              </a:solidFill>
              <a:latin typeface="Verdana" pitchFamily="34" charset="0"/>
              <a:ea typeface="宋体" charset="0"/>
              <a:cs typeface="Verdana" pitchFamily="34" charset="0"/>
            </a:endParaRPr>
          </a:p>
        </p:txBody>
      </p:sp>
    </p:spTree>
    <p:extLst>
      <p:ext uri="{BB962C8B-B14F-4D97-AF65-F5344CB8AC3E}">
        <p14:creationId xmlns:p14="http://schemas.microsoft.com/office/powerpoint/2010/main" val="14255302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69" name="文本框"/>
          <p:cNvSpPr txBox="1">
            <a:spLocks/>
          </p:cNvSpPr>
          <p:nvPr/>
        </p:nvSpPr>
        <p:spPr>
          <a:xfrm>
            <a:off x="409568" y="333369"/>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3 </a:t>
            </a:r>
            <a:r>
              <a:rPr lang="zh-CN" altLang="en-US" sz="2800" b="1" i="0" u="none" strike="noStrike" kern="1200" cap="none" spc="0" baseline="0" dirty="0">
                <a:solidFill>
                  <a:schemeClr val="accent2"/>
                </a:solidFill>
                <a:latin typeface="微软雅黑" charset="0"/>
                <a:ea typeface="微软雅黑" charset="0"/>
                <a:cs typeface="Verdana" pitchFamily="34" charset="0"/>
              </a:rPr>
              <a:t>使用正则表达式</a:t>
            </a:r>
          </a:p>
        </p:txBody>
      </p:sp>
      <p:sp>
        <p:nvSpPr>
          <p:cNvPr id="270" name="文本框"/>
          <p:cNvSpPr txBox="1">
            <a:spLocks/>
          </p:cNvSpPr>
          <p:nvPr/>
        </p:nvSpPr>
        <p:spPr>
          <a:xfrm>
            <a:off x="523867" y="1028684"/>
            <a:ext cx="4762427" cy="52006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3.2 </a:t>
            </a:r>
            <a:r>
              <a:rPr lang="zh-CN" altLang="en-US" sz="2800" b="0" i="0" u="none" strike="noStrike" kern="1200" cap="none" spc="0" baseline="0" dirty="0">
                <a:solidFill>
                  <a:schemeClr val="tx1"/>
                </a:solidFill>
                <a:latin typeface="Verdana" pitchFamily="34" charset="0"/>
                <a:ea typeface="宋体" charset="0"/>
                <a:cs typeface="Verdana" pitchFamily="34" charset="0"/>
              </a:rPr>
              <a:t>反斜杠带来的问题</a:t>
            </a:r>
          </a:p>
        </p:txBody>
      </p:sp>
      <p:sp>
        <p:nvSpPr>
          <p:cNvPr id="271" name="文本框"/>
          <p:cNvSpPr txBox="1">
            <a:spLocks/>
          </p:cNvSpPr>
          <p:nvPr/>
        </p:nvSpPr>
        <p:spPr>
          <a:xfrm>
            <a:off x="206371" y="1650974"/>
            <a:ext cx="8318373" cy="4225290"/>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则表达式用反斜杠字符“</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”来表示特殊格式或在不触发其特殊方法的情况下使用特殊字符。这就与</a:t>
            </a:r>
            <a:r>
              <a:rPr lang="en-US" altLang="zh-CN" sz="2000" b="0" i="0" u="none" strike="noStrike" kern="1200" cap="none" spc="0" baseline="0">
                <a:solidFill>
                  <a:schemeClr val="tx1"/>
                </a:solidFill>
                <a:latin typeface="Verdana" pitchFamily="34" charset="0"/>
                <a:ea typeface="宋体" charset="0"/>
                <a:cs typeface="Verdana" pitchFamily="34" charset="0"/>
              </a:rPr>
              <a:t>Python</a:t>
            </a:r>
            <a:r>
              <a:rPr lang="zh-CN" altLang="en-US" sz="2000" b="0" i="0" u="none" strike="noStrike" kern="1200" cap="none" spc="0" baseline="0">
                <a:solidFill>
                  <a:schemeClr val="tx1"/>
                </a:solidFill>
                <a:latin typeface="Verdana" pitchFamily="34" charset="0"/>
                <a:ea typeface="宋体" charset="0"/>
                <a:cs typeface="Verdana" pitchFamily="34" charset="0"/>
              </a:rPr>
              <a:t>在字符串中起相同作用的反斜杠字符产生了冲突。</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例如，为了匹配字符串“</a:t>
            </a:r>
            <a:r>
              <a:rPr lang="en-US" altLang="zh-CN" sz="2000" b="0" i="0" u="none" strike="noStrike" kern="1200" cap="none" spc="0" baseline="0">
                <a:solidFill>
                  <a:schemeClr val="tx1"/>
                </a:solidFill>
                <a:latin typeface="Verdana" pitchFamily="34" charset="0"/>
                <a:ea typeface="宋体" charset="0"/>
                <a:cs typeface="Verdana" pitchFamily="34" charset="0"/>
              </a:rPr>
              <a:t>\section</a:t>
            </a:r>
            <a:r>
              <a:rPr lang="zh-CN" altLang="en-US" sz="2000" b="0" i="0" u="none" strike="noStrike" kern="1200" cap="none" spc="0" baseline="0">
                <a:solidFill>
                  <a:schemeClr val="tx1"/>
                </a:solidFill>
                <a:latin typeface="Verdana" pitchFamily="34" charset="0"/>
                <a:ea typeface="宋体" charset="0"/>
                <a:cs typeface="Verdana" pitchFamily="34" charset="0"/>
              </a:rPr>
              <a:t>”，正则表达式需要在所有反斜杠字符和其他元字符前添加反斜杠来取消其特殊意义，即要匹配的字符串在程序中应该写成“</a:t>
            </a:r>
            <a:r>
              <a:rPr lang="en-US" altLang="zh-CN" sz="2000" b="0" i="0" u="none" strike="noStrike" kern="1200" cap="none" spc="0" baseline="0">
                <a:solidFill>
                  <a:schemeClr val="tx1"/>
                </a:solidFill>
                <a:latin typeface="Verdana" pitchFamily="34" charset="0"/>
                <a:ea typeface="宋体" charset="0"/>
                <a:cs typeface="Verdana" pitchFamily="34" charset="0"/>
              </a:rPr>
              <a:t>\\section</a:t>
            </a:r>
            <a:r>
              <a:rPr lang="zh-CN" altLang="en-US" sz="2000" b="0" i="0" u="none" strike="noStrike" kern="1200" cap="none" spc="0" baseline="0">
                <a:solidFill>
                  <a:schemeClr val="tx1"/>
                </a:solidFill>
                <a:latin typeface="Verdana" pitchFamily="34" charset="0"/>
                <a:ea typeface="宋体" charset="0"/>
                <a:cs typeface="Verdana" pitchFamily="34" charset="0"/>
              </a:rPr>
              <a:t>”。当把这个字符串作为参数传传递给</a:t>
            </a:r>
            <a:r>
              <a:rPr lang="en-US" altLang="zh-CN" sz="2000" b="0" i="0" u="none" strike="noStrike" kern="1200" cap="none" spc="0" baseline="0">
                <a:solidFill>
                  <a:schemeClr val="tx1"/>
                </a:solidFill>
                <a:latin typeface="Verdana" pitchFamily="34" charset="0"/>
                <a:ea typeface="宋体" charset="0"/>
                <a:cs typeface="Verdana" pitchFamily="34" charset="0"/>
              </a:rPr>
              <a:t>re.compile()</a:t>
            </a:r>
            <a:r>
              <a:rPr lang="zh-CN" altLang="en-US" sz="2000" b="0" i="0" u="none" strike="noStrike" kern="1200" cap="none" spc="0" baseline="0">
                <a:solidFill>
                  <a:schemeClr val="tx1"/>
                </a:solidFill>
                <a:latin typeface="Verdana" pitchFamily="34" charset="0"/>
                <a:ea typeface="宋体" charset="0"/>
                <a:cs typeface="Verdana" pitchFamily="34" charset="0"/>
              </a:rPr>
              <a:t>时必须还是“</a:t>
            </a:r>
            <a:r>
              <a:rPr lang="en-US" altLang="zh-CN" sz="2000" b="0" i="0" u="none" strike="noStrike" kern="1200" cap="none" spc="0" baseline="0">
                <a:solidFill>
                  <a:schemeClr val="tx1"/>
                </a:solidFill>
                <a:latin typeface="Verdana" pitchFamily="34" charset="0"/>
                <a:ea typeface="宋体" charset="0"/>
                <a:cs typeface="Verdana" pitchFamily="34" charset="0"/>
              </a:rPr>
              <a:t>\\section</a:t>
            </a:r>
            <a:r>
              <a:rPr lang="zh-CN" altLang="en-US" sz="2000" b="0" i="0" u="none" strike="noStrike" kern="1200" cap="none" spc="0" baseline="0">
                <a:solidFill>
                  <a:schemeClr val="tx1"/>
                </a:solidFill>
                <a:latin typeface="Verdana" pitchFamily="34" charset="0"/>
                <a:ea typeface="宋体" charset="0"/>
                <a:cs typeface="Verdana" pitchFamily="34" charset="0"/>
              </a:rPr>
              <a:t>”。</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作为</a:t>
            </a:r>
            <a:r>
              <a:rPr lang="en-US" altLang="zh-CN" sz="2000" b="0" i="0" u="none" strike="noStrike" kern="1200" cap="none" spc="0" baseline="0">
                <a:solidFill>
                  <a:schemeClr val="tx1"/>
                </a:solidFill>
                <a:latin typeface="Verdana" pitchFamily="34" charset="0"/>
                <a:ea typeface="宋体" charset="0"/>
                <a:cs typeface="Verdana" pitchFamily="34" charset="0"/>
              </a:rPr>
              <a:t>Python</a:t>
            </a:r>
            <a:r>
              <a:rPr lang="zh-CN" altLang="en-US" sz="2000" b="0" i="0" u="none" strike="noStrike" kern="1200" cap="none" spc="0" baseline="0">
                <a:solidFill>
                  <a:schemeClr val="tx1"/>
                </a:solidFill>
                <a:latin typeface="Verdana" pitchFamily="34" charset="0"/>
                <a:ea typeface="宋体" charset="0"/>
                <a:cs typeface="Verdana" pitchFamily="34" charset="0"/>
              </a:rPr>
              <a:t>的字符串值，“</a:t>
            </a:r>
            <a:r>
              <a:rPr lang="en-US" altLang="zh-CN" sz="2000" b="0" i="0" u="none" strike="noStrike" kern="1200" cap="none" spc="0" baseline="0">
                <a:solidFill>
                  <a:schemeClr val="tx1"/>
                </a:solidFill>
                <a:latin typeface="Verdana" pitchFamily="34" charset="0"/>
                <a:ea typeface="宋体" charset="0"/>
                <a:cs typeface="Verdana" pitchFamily="34" charset="0"/>
              </a:rPr>
              <a:t>\\section</a:t>
            </a:r>
            <a:r>
              <a:rPr lang="zh-CN" altLang="en-US" sz="2000" b="0" i="0" u="none" strike="noStrike" kern="1200" cap="none" spc="0" baseline="0">
                <a:solidFill>
                  <a:schemeClr val="tx1"/>
                </a:solidFill>
                <a:latin typeface="Verdana" pitchFamily="34" charset="0"/>
                <a:ea typeface="宋体" charset="0"/>
                <a:cs typeface="Verdana" pitchFamily="34" charset="0"/>
              </a:rPr>
              <a:t>”中的两个反斜杠还要再次使用反斜杠取消特殊意义，最后结果就变成了“</a:t>
            </a:r>
            <a:r>
              <a:rPr lang="en-US" altLang="zh-CN" sz="2000" b="0" i="0" u="none" strike="noStrike" kern="1200" cap="none" spc="0" baseline="0">
                <a:solidFill>
                  <a:schemeClr val="tx1"/>
                </a:solidFill>
                <a:latin typeface="Verdana" pitchFamily="34" charset="0"/>
                <a:ea typeface="宋体" charset="0"/>
                <a:cs typeface="Verdana" pitchFamily="34" charset="0"/>
              </a:rPr>
              <a:t>\\\\section</a:t>
            </a:r>
            <a:r>
              <a:rPr lang="zh-CN" altLang="en-US" sz="2000" b="0" i="0" u="none" strike="noStrike" kern="1200" cap="none" spc="0" baseline="0">
                <a:solidFill>
                  <a:schemeClr val="tx1"/>
                </a:solidFill>
                <a:latin typeface="Verdana" pitchFamily="34" charset="0"/>
                <a:ea typeface="宋体" charset="0"/>
                <a:cs typeface="Verdana" pitchFamily="34" charset="0"/>
              </a:rPr>
              <a:t>”。也就是说，为了匹配一个反斜杠，必须在正则表达式字符串中写四个反斜杠，导致输入大量重复的反斜杠，而且所生成的字符串也很难理解。</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zh-CN" altLang="en-US" sz="2000" b="0" i="0" u="none" strike="noStrike" kern="1200" cap="none" spc="0" baseline="0">
              <a:solidFill>
                <a:schemeClr val="tx1"/>
              </a:solidFill>
              <a:latin typeface="Verdana" pitchFamily="34" charset="0"/>
              <a:ea typeface="宋体" charset="0"/>
              <a:cs typeface="Verdana" pitchFamily="34" charset="0"/>
            </a:endParaRPr>
          </a:p>
        </p:txBody>
      </p:sp>
    </p:spTree>
    <p:extLst>
      <p:ext uri="{BB962C8B-B14F-4D97-AF65-F5344CB8AC3E}">
        <p14:creationId xmlns:p14="http://schemas.microsoft.com/office/powerpoint/2010/main" val="90022819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73" name="矩形"/>
          <p:cNvSpPr>
            <a:spLocks/>
          </p:cNvSpPr>
          <p:nvPr/>
        </p:nvSpPr>
        <p:spPr>
          <a:xfrm>
            <a:off x="476253" y="180976"/>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fontAlgn="base"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3 </a:t>
            </a:r>
            <a:r>
              <a:rPr lang="zh-CN" altLang="en-US" sz="2800" b="1" i="0" u="none" strike="noStrike" kern="1200" cap="none" spc="0" baseline="0" dirty="0">
                <a:solidFill>
                  <a:schemeClr val="accent2"/>
                </a:solidFill>
                <a:latin typeface="微软雅黑" charset="0"/>
                <a:ea typeface="微软雅黑" charset="0"/>
                <a:cs typeface="Verdana" pitchFamily="34" charset="0"/>
              </a:rPr>
              <a:t>使用正则表达式</a:t>
            </a:r>
          </a:p>
        </p:txBody>
      </p:sp>
      <p:sp>
        <p:nvSpPr>
          <p:cNvPr id="274" name="矩形"/>
          <p:cNvSpPr>
            <a:spLocks/>
          </p:cNvSpPr>
          <p:nvPr/>
        </p:nvSpPr>
        <p:spPr>
          <a:xfrm>
            <a:off x="561976" y="1152528"/>
            <a:ext cx="6705525" cy="520065"/>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eaLnBrk="0" fontAlgn="base" hangingPunct="0">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3.2 </a:t>
            </a:r>
            <a:r>
              <a:rPr lang="zh-CN" altLang="en-US" sz="2800" b="0" i="0" u="none" strike="noStrike" kern="1200" cap="none" spc="0" baseline="0" dirty="0">
                <a:solidFill>
                  <a:schemeClr val="tx1"/>
                </a:solidFill>
                <a:latin typeface="Verdana" pitchFamily="34" charset="0"/>
                <a:ea typeface="宋体" charset="0"/>
                <a:cs typeface="Verdana" pitchFamily="34" charset="0"/>
              </a:rPr>
              <a:t>反斜杠带来的问题</a:t>
            </a:r>
          </a:p>
        </p:txBody>
      </p:sp>
      <p:sp>
        <p:nvSpPr>
          <p:cNvPr id="275" name="矩形"/>
          <p:cNvSpPr>
            <a:spLocks/>
          </p:cNvSpPr>
          <p:nvPr/>
        </p:nvSpPr>
        <p:spPr>
          <a:xfrm>
            <a:off x="765804" y="1894820"/>
            <a:ext cx="7696100" cy="2748915"/>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eaLnBrk="0" fontAlgn="base" hangingPunct="0">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解决的办法就是为正则表达式使用</a:t>
            </a:r>
            <a:r>
              <a:rPr lang="en-US" altLang="zh-CN" sz="2000" b="0" i="0" u="none" strike="noStrike" kern="1200" cap="none" spc="0" baseline="0">
                <a:solidFill>
                  <a:schemeClr val="tx1"/>
                </a:solidFill>
                <a:latin typeface="Verdana" pitchFamily="34" charset="0"/>
                <a:ea typeface="宋体" charset="0"/>
                <a:cs typeface="Verdana" pitchFamily="34" charset="0"/>
              </a:rPr>
              <a:t>Python</a:t>
            </a:r>
            <a:r>
              <a:rPr lang="zh-CN" altLang="en-US" sz="2000" b="0" i="0" u="none" strike="noStrike" kern="1200" cap="none" spc="0" baseline="0">
                <a:solidFill>
                  <a:schemeClr val="tx1"/>
                </a:solidFill>
                <a:latin typeface="Verdana" pitchFamily="34" charset="0"/>
                <a:ea typeface="宋体" charset="0"/>
                <a:cs typeface="Verdana" pitchFamily="34" charset="0"/>
              </a:rPr>
              <a:t>的原始（</a:t>
            </a:r>
            <a:r>
              <a:rPr lang="en-US" altLang="zh-CN" sz="2000" b="0" i="0" u="none" strike="noStrike" kern="1200" cap="none" spc="0" baseline="0">
                <a:solidFill>
                  <a:schemeClr val="tx1"/>
                </a:solidFill>
                <a:latin typeface="Verdana" pitchFamily="34" charset="0"/>
                <a:ea typeface="宋体" charset="0"/>
                <a:cs typeface="Verdana" pitchFamily="34" charset="0"/>
              </a:rPr>
              <a:t>raw</a:t>
            </a:r>
            <a:r>
              <a:rPr lang="zh-CN" altLang="en-US" sz="2000" b="0" i="0" u="none" strike="noStrike" kern="1200" cap="none" spc="0" baseline="0">
                <a:solidFill>
                  <a:schemeClr val="tx1"/>
                </a:solidFill>
                <a:latin typeface="Verdana" pitchFamily="34" charset="0"/>
                <a:ea typeface="宋体" charset="0"/>
                <a:cs typeface="Verdana" pitchFamily="34" charset="0"/>
              </a:rPr>
              <a:t>）字符串表示，在字符串前加上字符“</a:t>
            </a:r>
            <a:r>
              <a:rPr lang="en-US" altLang="zh-CN" sz="2000" b="0" i="0" u="none" strike="noStrike" kern="1200" cap="none" spc="0" baseline="0">
                <a:solidFill>
                  <a:schemeClr val="tx1"/>
                </a:solidFill>
                <a:latin typeface="Verdana" pitchFamily="34" charset="0"/>
                <a:ea typeface="宋体" charset="0"/>
                <a:cs typeface="Verdana" pitchFamily="34" charset="0"/>
              </a:rPr>
              <a:t>r</a:t>
            </a:r>
            <a:r>
              <a:rPr lang="zh-CN" altLang="en-US" sz="2000" b="0" i="0" u="none" strike="noStrike" kern="1200" cap="none" spc="0" baseline="0">
                <a:solidFill>
                  <a:schemeClr val="tx1"/>
                </a:solidFill>
                <a:latin typeface="Verdana" pitchFamily="34" charset="0"/>
                <a:ea typeface="宋体" charset="0"/>
                <a:cs typeface="Verdana" pitchFamily="34" charset="0"/>
              </a:rPr>
              <a:t>”，反斜杠就不会被任何特殊方式处理，所以</a:t>
            </a:r>
            <a:r>
              <a:rPr lang="en-US" altLang="zh-CN" sz="2000" b="0" i="0" u="none" strike="noStrike" kern="1200" cap="none" spc="0" baseline="0">
                <a:solidFill>
                  <a:schemeClr val="tx1"/>
                </a:solidFill>
                <a:latin typeface="Verdana" pitchFamily="34" charset="0"/>
                <a:ea typeface="宋体" charset="0"/>
                <a:cs typeface="Verdana" pitchFamily="34" charset="0"/>
              </a:rPr>
              <a:t>r"\n"</a:t>
            </a:r>
            <a:r>
              <a:rPr lang="zh-CN" altLang="en-US" sz="2000" b="0" i="0" u="none" strike="noStrike" kern="1200" cap="none" spc="0" baseline="0">
                <a:solidFill>
                  <a:schemeClr val="tx1"/>
                </a:solidFill>
                <a:latin typeface="Verdana" pitchFamily="34" charset="0"/>
                <a:ea typeface="宋体" charset="0"/>
                <a:cs typeface="Verdana" pitchFamily="34" charset="0"/>
              </a:rPr>
              <a:t>就包含“</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”和“</a:t>
            </a:r>
            <a:r>
              <a:rPr lang="en-US" altLang="zh-CN" sz="2000" b="0" i="0" u="none" strike="noStrike" kern="1200" cap="none" spc="0" baseline="0">
                <a:solidFill>
                  <a:schemeClr val="tx1"/>
                </a:solidFill>
                <a:latin typeface="Verdana" pitchFamily="34" charset="0"/>
                <a:ea typeface="宋体" charset="0"/>
                <a:cs typeface="Verdana" pitchFamily="34" charset="0"/>
              </a:rPr>
              <a:t>n</a:t>
            </a:r>
            <a:r>
              <a:rPr lang="zh-CN" altLang="en-US" sz="2000" b="0" i="0" u="none" strike="noStrike" kern="1200" cap="none" spc="0" baseline="0">
                <a:solidFill>
                  <a:schemeClr val="tx1"/>
                </a:solidFill>
                <a:latin typeface="Verdana" pitchFamily="34" charset="0"/>
                <a:ea typeface="宋体" charset="0"/>
                <a:cs typeface="Verdana" pitchFamily="34" charset="0"/>
              </a:rPr>
              <a:t>”的两个字符，而“</a:t>
            </a:r>
            <a:r>
              <a:rPr lang="en-US" altLang="zh-CN" sz="2000" b="0" i="0" u="none" strike="noStrike" kern="1200" cap="none" spc="0" baseline="0">
                <a:solidFill>
                  <a:schemeClr val="tx1"/>
                </a:solidFill>
                <a:latin typeface="Verdana" pitchFamily="34" charset="0"/>
                <a:ea typeface="宋体" charset="0"/>
                <a:cs typeface="Verdana" pitchFamily="34" charset="0"/>
              </a:rPr>
              <a:t>\n</a:t>
            </a:r>
            <a:r>
              <a:rPr lang="zh-CN" altLang="en-US" sz="2000" b="0" i="0" u="none" strike="noStrike" kern="1200" cap="none" spc="0" baseline="0">
                <a:solidFill>
                  <a:schemeClr val="tx1"/>
                </a:solidFill>
                <a:latin typeface="Verdana" pitchFamily="34" charset="0"/>
                <a:ea typeface="宋体" charset="0"/>
                <a:cs typeface="Verdana" pitchFamily="34" charset="0"/>
              </a:rPr>
              <a:t>”则表示一个字符，即换行。</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eaLnBrk="0" fontAlgn="base" hangingPunct="0">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eaLnBrk="0" fontAlgn="base" hangingPunct="0">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正则表达式在</a:t>
            </a:r>
            <a:r>
              <a:rPr lang="en-US" altLang="zh-CN" sz="2000" b="0" i="0" u="none" strike="noStrike" kern="1200" cap="none" spc="0" baseline="0">
                <a:solidFill>
                  <a:schemeClr val="tx1"/>
                </a:solidFill>
                <a:latin typeface="Verdana" pitchFamily="34" charset="0"/>
                <a:ea typeface="宋体" charset="0"/>
                <a:cs typeface="Verdana" pitchFamily="34" charset="0"/>
              </a:rPr>
              <a:t>Python</a:t>
            </a:r>
            <a:r>
              <a:rPr lang="zh-CN" altLang="en-US" sz="2000" b="0" i="0" u="none" strike="noStrike" kern="1200" cap="none" spc="0" baseline="0">
                <a:solidFill>
                  <a:schemeClr val="tx1"/>
                </a:solidFill>
                <a:latin typeface="Verdana" pitchFamily="34" charset="0"/>
                <a:ea typeface="宋体" charset="0"/>
                <a:cs typeface="Verdana" pitchFamily="34" charset="0"/>
              </a:rPr>
              <a:t>代码中通常都是用这种原始字符串表示。如果想要匹配字符串“</a:t>
            </a:r>
            <a:r>
              <a:rPr lang="en-US" altLang="zh-CN" sz="2000" b="0" i="0" u="none" strike="noStrike" kern="1200" cap="none" spc="0" baseline="0">
                <a:solidFill>
                  <a:schemeClr val="tx1"/>
                </a:solidFill>
                <a:latin typeface="Verdana" pitchFamily="34" charset="0"/>
                <a:ea typeface="宋体" charset="0"/>
                <a:cs typeface="Verdana" pitchFamily="34" charset="0"/>
              </a:rPr>
              <a:t>\section</a:t>
            </a:r>
            <a:r>
              <a:rPr lang="zh-CN" altLang="en-US" sz="2000" b="0" i="0" u="none" strike="noStrike" kern="1200" cap="none" spc="0" baseline="0">
                <a:solidFill>
                  <a:schemeClr val="tx1"/>
                </a:solidFill>
                <a:latin typeface="Verdana" pitchFamily="34" charset="0"/>
                <a:ea typeface="宋体" charset="0"/>
                <a:cs typeface="Verdana" pitchFamily="34" charset="0"/>
              </a:rPr>
              <a:t>”，其原始字符串的表示法应为：</a:t>
            </a:r>
            <a:r>
              <a:rPr lang="en-US" altLang="zh-CN" sz="2000" b="0" i="0" u="none" strike="noStrike" kern="1200" cap="none" spc="0" baseline="0">
                <a:solidFill>
                  <a:schemeClr val="tx1"/>
                </a:solidFill>
                <a:latin typeface="Verdana" pitchFamily="34" charset="0"/>
                <a:ea typeface="宋体" charset="0"/>
                <a:cs typeface="Verdana" pitchFamily="34" charset="0"/>
              </a:rPr>
              <a:t>r"\\section"</a:t>
            </a:r>
            <a:r>
              <a:rPr lang="zh-CN" altLang="en-US" sz="2000" b="0" i="0" u="none" strike="noStrike" kern="1200" cap="none" spc="0" baseline="0">
                <a:solidFill>
                  <a:schemeClr val="tx1"/>
                </a:solidFill>
                <a:latin typeface="Verdana" pitchFamily="34" charset="0"/>
                <a:ea typeface="宋体" charset="0"/>
                <a:cs typeface="Verdana" pitchFamily="34" charset="0"/>
              </a:rPr>
              <a:t>。</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eaLnBrk="0" fontAlgn="base" hangingPunct="0">
              <a:lnSpc>
                <a:spcPct val="100000"/>
              </a:lnSpc>
              <a:spcBef>
                <a:spcPts val="0"/>
              </a:spcBef>
              <a:spcAft>
                <a:spcPts val="0"/>
              </a:spcAft>
              <a:buNone/>
            </a:pPr>
            <a:endParaRPr lang="zh-CN" altLang="en-US" sz="2000" b="0" i="0" u="none" strike="noStrike" kern="1200" cap="none" spc="0" baseline="0">
              <a:solidFill>
                <a:schemeClr val="tx1"/>
              </a:solidFill>
              <a:latin typeface="Verdana" pitchFamily="34" charset="0"/>
              <a:ea typeface="宋体" charset="0"/>
              <a:cs typeface="Verdana" pitchFamily="34" charset="0"/>
            </a:endParaRPr>
          </a:p>
        </p:txBody>
      </p:sp>
    </p:spTree>
    <p:extLst>
      <p:ext uri="{BB962C8B-B14F-4D97-AF65-F5344CB8AC3E}">
        <p14:creationId xmlns:p14="http://schemas.microsoft.com/office/powerpoint/2010/main" val="194798750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76"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fontAlgn="base"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3 </a:t>
            </a:r>
            <a:r>
              <a:rPr lang="zh-CN" altLang="en-US" sz="2800" b="1" i="0" u="none" strike="noStrike" kern="1200" cap="none" spc="0" baseline="0" dirty="0">
                <a:solidFill>
                  <a:schemeClr val="accent2"/>
                </a:solidFill>
                <a:latin typeface="微软雅黑" charset="0"/>
                <a:ea typeface="微软雅黑" charset="0"/>
                <a:cs typeface="Verdana" pitchFamily="34" charset="0"/>
              </a:rPr>
              <a:t>使用正则表达式</a:t>
            </a:r>
          </a:p>
        </p:txBody>
      </p:sp>
      <p:sp>
        <p:nvSpPr>
          <p:cNvPr id="277"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eaLnBrk="0" fontAlgn="base" hangingPunct="0">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3.3 </a:t>
            </a:r>
            <a:r>
              <a:rPr lang="zh-CN" altLang="en-US" sz="2800" b="0" i="0" u="none" strike="noStrike" kern="1200" cap="none" spc="0" baseline="0" dirty="0">
                <a:solidFill>
                  <a:schemeClr val="tx1"/>
                </a:solidFill>
                <a:latin typeface="Verdana" pitchFamily="34" charset="0"/>
                <a:ea typeface="宋体" charset="0"/>
                <a:cs typeface="Verdana" pitchFamily="34" charset="0"/>
              </a:rPr>
              <a:t>执行匹配</a:t>
            </a:r>
          </a:p>
        </p:txBody>
      </p:sp>
      <p:sp>
        <p:nvSpPr>
          <p:cNvPr id="278" name="矩形"/>
          <p:cNvSpPr>
            <a:spLocks/>
          </p:cNvSpPr>
          <p:nvPr/>
        </p:nvSpPr>
        <p:spPr>
          <a:xfrm>
            <a:off x="765804" y="1894820"/>
            <a:ext cx="7696100" cy="386715"/>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eaLnBrk="0" fontAlgn="base" hangingPunct="0">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下表给出了正则表达式对象几个最常用的方法：</a:t>
            </a:r>
          </a:p>
        </p:txBody>
      </p:sp>
      <p:graphicFrame>
        <p:nvGraphicFramePr>
          <p:cNvPr id="279" name="表格"/>
          <p:cNvGraphicFramePr>
            <a:graphicFrameLocks noGrp="1"/>
          </p:cNvGraphicFramePr>
          <p:nvPr/>
        </p:nvGraphicFramePr>
        <p:xfrm>
          <a:off x="685800" y="2514622"/>
          <a:ext cx="7772361" cy="2971655"/>
        </p:xfrm>
        <a:graphic>
          <a:graphicData uri="http://schemas.openxmlformats.org/drawingml/2006/table">
            <a:tbl>
              <a:tblPr bandRow="1"/>
              <a:tblGrid>
                <a:gridCol w="1588935">
                  <a:extLst>
                    <a:ext uri="{9D8B030D-6E8A-4147-A177-3AD203B41FA5}">
                      <a16:colId xmlns:a16="http://schemas.microsoft.com/office/drawing/2014/main" val="20000"/>
                    </a:ext>
                  </a:extLst>
                </a:gridCol>
                <a:gridCol w="6183426">
                  <a:extLst>
                    <a:ext uri="{9D8B030D-6E8A-4147-A177-3AD203B41FA5}">
                      <a16:colId xmlns:a16="http://schemas.microsoft.com/office/drawing/2014/main" val="20001"/>
                    </a:ext>
                  </a:extLst>
                </a:gridCol>
              </a:tblGrid>
              <a:tr h="594331">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方</a:t>
                      </a:r>
                      <a:r>
                        <a:rPr lang="en-US" altLang="zh-CN" sz="1800" b="1" i="0" u="none" strike="noStrike" kern="1000" cap="none" spc="0" baseline="0">
                          <a:solidFill>
                            <a:srgbClr val="FFFFFF"/>
                          </a:solidFill>
                          <a:latin typeface="Verdana" pitchFamily="34" charset="0"/>
                          <a:ea typeface="宋体" charset="0"/>
                          <a:cs typeface="Verdana" pitchFamily="34" charset="0"/>
                        </a:rPr>
                        <a:t>  </a:t>
                      </a:r>
                      <a:r>
                        <a:rPr lang="zh-CN" altLang="en-US" sz="1800" b="1" i="0" u="none" strike="noStrike" kern="1000" cap="none" spc="0" baseline="0">
                          <a:solidFill>
                            <a:srgbClr val="FFFFFF"/>
                          </a:solidFill>
                          <a:latin typeface="Verdana" pitchFamily="34" charset="0"/>
                          <a:ea typeface="宋体" charset="0"/>
                          <a:cs typeface="Verdana" pitchFamily="34" charset="0"/>
                        </a:rPr>
                        <a:t>法</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目</a:t>
                      </a:r>
                      <a:r>
                        <a:rPr lang="en-US" altLang="zh-CN" sz="1800" b="1" i="0" u="none" strike="noStrike" kern="1000" cap="none" spc="0" baseline="0">
                          <a:solidFill>
                            <a:srgbClr val="FFFFFF"/>
                          </a:solidFill>
                          <a:latin typeface="Verdana" pitchFamily="34" charset="0"/>
                          <a:ea typeface="宋体" charset="0"/>
                          <a:cs typeface="Verdana" pitchFamily="34" charset="0"/>
                        </a:rPr>
                        <a:t>  </a:t>
                      </a:r>
                      <a:r>
                        <a:rPr lang="zh-CN" altLang="en-US" sz="1800" b="1" i="0" u="none" strike="noStrike" kern="1000" cap="none" spc="0" baseline="0">
                          <a:solidFill>
                            <a:srgbClr val="FFFFFF"/>
                          </a:solidFill>
                          <a:latin typeface="Verdana" pitchFamily="34" charset="0"/>
                          <a:ea typeface="宋体" charset="0"/>
                          <a:cs typeface="Verdana" pitchFamily="34" charset="0"/>
                        </a:rPr>
                        <a:t>的</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extLst>
                  <a:ext uri="{0D108BD9-81ED-4DB2-BD59-A6C34878D82A}">
                    <a16:rowId xmlns:a16="http://schemas.microsoft.com/office/drawing/2014/main" val="10000"/>
                  </a:ext>
                </a:extLst>
              </a:tr>
              <a:tr h="594331">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match()</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判断从字符串开头是否匹配正则表达式</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10795" marB="10795"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1"/>
                  </a:ext>
                </a:extLst>
              </a:tr>
              <a:tr h="594331">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search()</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搜索整个字符串，找到正则表达式匹配的位置</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2"/>
                  </a:ext>
                </a:extLst>
              </a:tr>
              <a:tr h="594331">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findall()</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找到所有匹配正则表达式的子串，并将它们作为一个列表返回</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3"/>
                  </a:ext>
                </a:extLst>
              </a:tr>
              <a:tr h="594331">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finditer()</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找到所有匹配正则表达式的子串，并将它们作为一个迭代器返回</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2677792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80"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fontAlgn="base"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3 </a:t>
            </a:r>
            <a:r>
              <a:rPr lang="zh-CN" altLang="en-US" sz="2800" b="1" i="0" u="none" strike="noStrike" kern="1200" cap="none" spc="0" baseline="0" dirty="0">
                <a:solidFill>
                  <a:schemeClr val="accent2"/>
                </a:solidFill>
                <a:latin typeface="微软雅黑" charset="0"/>
                <a:ea typeface="微软雅黑" charset="0"/>
                <a:cs typeface="Verdana" pitchFamily="34" charset="0"/>
              </a:rPr>
              <a:t>使用正则表达式</a:t>
            </a:r>
          </a:p>
        </p:txBody>
      </p:sp>
      <p:sp>
        <p:nvSpPr>
          <p:cNvPr id="281"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eaLnBrk="0" fontAlgn="base" hangingPunct="0">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3.3 </a:t>
            </a:r>
            <a:r>
              <a:rPr lang="zh-CN" altLang="en-US" sz="2800" b="0" i="0" u="none" strike="noStrike" kern="1200" cap="none" spc="0" baseline="0" dirty="0">
                <a:solidFill>
                  <a:schemeClr val="tx1"/>
                </a:solidFill>
                <a:latin typeface="Verdana" pitchFamily="34" charset="0"/>
                <a:ea typeface="宋体" charset="0"/>
                <a:cs typeface="Verdana" pitchFamily="34" charset="0"/>
              </a:rPr>
              <a:t>执行匹配</a:t>
            </a:r>
          </a:p>
        </p:txBody>
      </p:sp>
      <p:sp>
        <p:nvSpPr>
          <p:cNvPr id="282" name="矩形"/>
          <p:cNvSpPr>
            <a:spLocks/>
          </p:cNvSpPr>
          <p:nvPr/>
        </p:nvSpPr>
        <p:spPr>
          <a:xfrm>
            <a:off x="765804" y="1894820"/>
            <a:ext cx="7696100" cy="1567815"/>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eaLnBrk="0" fontAlgn="base" hangingPunct="0">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如果匹配失败，</a:t>
            </a:r>
            <a:r>
              <a:rPr lang="en-US" altLang="zh-CN" sz="2000" b="0" i="0" u="none" strike="noStrike" kern="1200" cap="none" spc="0" baseline="0">
                <a:solidFill>
                  <a:schemeClr val="tx1"/>
                </a:solidFill>
                <a:latin typeface="Verdana" pitchFamily="34" charset="0"/>
                <a:ea typeface="宋体" charset="0"/>
                <a:cs typeface="Verdana" pitchFamily="34" charset="0"/>
              </a:rPr>
              <a:t>match()</a:t>
            </a:r>
            <a:r>
              <a:rPr lang="zh-CN" altLang="en-US" sz="2000" b="0" i="0" u="none" strike="noStrike" kern="1200" cap="none" spc="0" baseline="0">
                <a:solidFill>
                  <a:schemeClr val="tx1"/>
                </a:solidFill>
                <a:latin typeface="Verdana" pitchFamily="34" charset="0"/>
                <a:ea typeface="宋体" charset="0"/>
                <a:cs typeface="Verdana" pitchFamily="34" charset="0"/>
              </a:rPr>
              <a:t>和</a:t>
            </a:r>
            <a:r>
              <a:rPr lang="en-US" altLang="zh-CN" sz="2000" b="0" i="0" u="none" strike="noStrike" kern="1200" cap="none" spc="0" baseline="0">
                <a:solidFill>
                  <a:schemeClr val="tx1"/>
                </a:solidFill>
                <a:latin typeface="Verdana" pitchFamily="34" charset="0"/>
                <a:ea typeface="宋体" charset="0"/>
                <a:cs typeface="Verdana" pitchFamily="34" charset="0"/>
              </a:rPr>
              <a:t>search()</a:t>
            </a:r>
            <a:r>
              <a:rPr lang="zh-CN" altLang="en-US" sz="2000" b="0" i="0" u="none" strike="noStrike" kern="1200" cap="none" spc="0" baseline="0">
                <a:solidFill>
                  <a:schemeClr val="tx1"/>
                </a:solidFill>
                <a:latin typeface="Verdana" pitchFamily="34" charset="0"/>
                <a:ea typeface="宋体" charset="0"/>
                <a:cs typeface="Verdana" pitchFamily="34" charset="0"/>
              </a:rPr>
              <a:t>将返回</a:t>
            </a:r>
            <a:r>
              <a:rPr lang="en-US" altLang="zh-CN" sz="2000" b="0" i="0" u="none" strike="noStrike" kern="1200" cap="none" spc="0" baseline="0">
                <a:solidFill>
                  <a:schemeClr val="tx1"/>
                </a:solidFill>
                <a:latin typeface="Verdana" pitchFamily="34" charset="0"/>
                <a:ea typeface="宋体" charset="0"/>
                <a:cs typeface="Verdana" pitchFamily="34" charset="0"/>
              </a:rPr>
              <a:t>None</a:t>
            </a:r>
            <a:r>
              <a:rPr lang="zh-CN" altLang="en-US" sz="2000" b="0" i="0" u="none" strike="noStrike" kern="1200" cap="none" spc="0" baseline="0">
                <a:solidFill>
                  <a:schemeClr val="tx1"/>
                </a:solidFill>
                <a:latin typeface="Verdana" pitchFamily="34" charset="0"/>
                <a:ea typeface="宋体" charset="0"/>
                <a:cs typeface="Verdana" pitchFamily="34" charset="0"/>
              </a:rPr>
              <a:t>。如果匹配成功，就会返回一个</a:t>
            </a:r>
            <a:r>
              <a:rPr lang="en-US" altLang="zh-CN" sz="2000" b="0" i="0" u="none" strike="noStrike" kern="1200" cap="none" spc="0" baseline="0">
                <a:solidFill>
                  <a:schemeClr val="tx1"/>
                </a:solidFill>
                <a:latin typeface="Verdana" pitchFamily="34" charset="0"/>
                <a:ea typeface="宋体" charset="0"/>
                <a:cs typeface="Verdana" pitchFamily="34" charset="0"/>
              </a:rPr>
              <a:t> match</a:t>
            </a:r>
            <a:r>
              <a:rPr lang="zh-CN" altLang="en-US" sz="2000" b="0" i="0" u="none" strike="noStrike" kern="1200" cap="none" spc="0" baseline="0">
                <a:solidFill>
                  <a:schemeClr val="tx1"/>
                </a:solidFill>
                <a:latin typeface="Verdana" pitchFamily="34" charset="0"/>
                <a:ea typeface="宋体" charset="0"/>
                <a:cs typeface="Verdana" pitchFamily="34" charset="0"/>
              </a:rPr>
              <a:t>对象的实例，其中有此次匹配的信息：比如，匹配是从哪里开始在哪里结束，所匹配的子串等。</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eaLnBrk="0" fontAlgn="base" hangingPunct="0">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eaLnBrk="0" fontAlgn="base" hangingPunct="0">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match</a:t>
            </a:r>
            <a:r>
              <a:rPr lang="zh-CN" altLang="en-US" sz="2000" b="0" i="0" u="none" strike="noStrike" kern="1200" cap="none" spc="0" baseline="0">
                <a:solidFill>
                  <a:schemeClr val="tx1"/>
                </a:solidFill>
                <a:latin typeface="Verdana" pitchFamily="34" charset="0"/>
                <a:ea typeface="宋体" charset="0"/>
                <a:cs typeface="Verdana" pitchFamily="34" charset="0"/>
              </a:rPr>
              <a:t>对象中重要的方法如下表所示：</a:t>
            </a:r>
          </a:p>
        </p:txBody>
      </p:sp>
      <p:graphicFrame>
        <p:nvGraphicFramePr>
          <p:cNvPr id="283" name="表格"/>
          <p:cNvGraphicFramePr>
            <a:graphicFrameLocks noGrp="1"/>
          </p:cNvGraphicFramePr>
          <p:nvPr/>
        </p:nvGraphicFramePr>
        <p:xfrm>
          <a:off x="765804" y="3526036"/>
          <a:ext cx="7692364" cy="2798400"/>
        </p:xfrm>
        <a:graphic>
          <a:graphicData uri="http://schemas.openxmlformats.org/drawingml/2006/table">
            <a:tbl>
              <a:tblPr bandRow="1"/>
              <a:tblGrid>
                <a:gridCol w="1835924">
                  <a:extLst>
                    <a:ext uri="{9D8B030D-6E8A-4147-A177-3AD203B41FA5}">
                      <a16:colId xmlns:a16="http://schemas.microsoft.com/office/drawing/2014/main" val="20000"/>
                    </a:ext>
                  </a:extLst>
                </a:gridCol>
                <a:gridCol w="5856440">
                  <a:extLst>
                    <a:ext uri="{9D8B030D-6E8A-4147-A177-3AD203B41FA5}">
                      <a16:colId xmlns:a16="http://schemas.microsoft.com/office/drawing/2014/main" val="20001"/>
                    </a:ext>
                  </a:extLst>
                </a:gridCol>
              </a:tblGrid>
              <a:tr h="559680">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方</a:t>
                      </a:r>
                      <a:r>
                        <a:rPr lang="en-US" altLang="zh-CN" sz="1800" b="1" i="0" u="none" strike="noStrike" kern="1000" cap="none" spc="0" baseline="0">
                          <a:solidFill>
                            <a:srgbClr val="FFFFFF"/>
                          </a:solidFill>
                          <a:latin typeface="Verdana" pitchFamily="34" charset="0"/>
                          <a:ea typeface="宋体" charset="0"/>
                          <a:cs typeface="Verdana" pitchFamily="34" charset="0"/>
                        </a:rPr>
                        <a:t>  </a:t>
                      </a:r>
                      <a:r>
                        <a:rPr lang="zh-CN" altLang="en-US" sz="1800" b="1" i="0" u="none" strike="noStrike" kern="1000" cap="none" spc="0" baseline="0">
                          <a:solidFill>
                            <a:srgbClr val="FFFFFF"/>
                          </a:solidFill>
                          <a:latin typeface="Verdana" pitchFamily="34" charset="0"/>
                          <a:ea typeface="宋体" charset="0"/>
                          <a:cs typeface="Verdana" pitchFamily="34" charset="0"/>
                        </a:rPr>
                        <a:t>法</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目</a:t>
                      </a:r>
                      <a:r>
                        <a:rPr lang="en-US" altLang="zh-CN" sz="1800" b="1" i="0" u="none" strike="noStrike" kern="1000" cap="none" spc="0" baseline="0">
                          <a:solidFill>
                            <a:srgbClr val="FFFFFF"/>
                          </a:solidFill>
                          <a:latin typeface="Verdana" pitchFamily="34" charset="0"/>
                          <a:ea typeface="宋体" charset="0"/>
                          <a:cs typeface="Verdana" pitchFamily="34" charset="0"/>
                        </a:rPr>
                        <a:t>  </a:t>
                      </a:r>
                      <a:r>
                        <a:rPr lang="zh-CN" altLang="en-US" sz="1800" b="1" i="0" u="none" strike="noStrike" kern="1000" cap="none" spc="0" baseline="0">
                          <a:solidFill>
                            <a:srgbClr val="FFFFFF"/>
                          </a:solidFill>
                          <a:latin typeface="Verdana" pitchFamily="34" charset="0"/>
                          <a:ea typeface="宋体" charset="0"/>
                          <a:cs typeface="Verdana" pitchFamily="34" charset="0"/>
                        </a:rPr>
                        <a:t>的</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extLst>
                  <a:ext uri="{0D108BD9-81ED-4DB2-BD59-A6C34878D82A}">
                    <a16:rowId xmlns:a16="http://schemas.microsoft.com/office/drawing/2014/main" val="10000"/>
                  </a:ext>
                </a:extLst>
              </a:tr>
              <a:tr h="559680">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group()</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返回匹配正则表达式的字符串</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10795" marB="10795"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1"/>
                  </a:ext>
                </a:extLst>
              </a:tr>
              <a:tr h="559680">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start()</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返回匹配字符串开始的位置</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2"/>
                  </a:ext>
                </a:extLst>
              </a:tr>
              <a:tr h="559680">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end()</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返回匹配字符串结束的位置</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3"/>
                  </a:ext>
                </a:extLst>
              </a:tr>
              <a:tr h="559680">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span()</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返回一个包含开始和结束位置的元组</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2264370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298"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299" name="矩形"/>
          <p:cNvSpPr>
            <a:spLocks/>
          </p:cNvSpPr>
          <p:nvPr/>
        </p:nvSpPr>
        <p:spPr>
          <a:xfrm>
            <a:off x="0" y="0"/>
            <a:ext cx="9144000" cy="0"/>
          </a:xfrm>
          <a:prstGeom prst="rect">
            <a:avLst/>
          </a:prstGeom>
          <a:noFill/>
          <a:ln w="9525" cap="flat" cmpd="sng">
            <a:noFill/>
            <a:prstDash val="solid"/>
            <a:round/>
          </a:ln>
        </p:spPr>
      </p:sp>
      <p:sp>
        <p:nvSpPr>
          <p:cNvPr id="300"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3 </a:t>
            </a:r>
            <a:r>
              <a:rPr lang="zh-CN" altLang="en-US" sz="2800" b="1" i="0" u="none" strike="noStrike" kern="1200" cap="none" spc="0" baseline="0" dirty="0">
                <a:solidFill>
                  <a:schemeClr val="accent2"/>
                </a:solidFill>
                <a:latin typeface="微软雅黑" charset="0"/>
                <a:ea typeface="微软雅黑" charset="0"/>
                <a:cs typeface="Verdana" pitchFamily="34" charset="0"/>
              </a:rPr>
              <a:t>使用正则表达式</a:t>
            </a:r>
          </a:p>
        </p:txBody>
      </p:sp>
      <p:sp>
        <p:nvSpPr>
          <p:cNvPr id="301"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3.4 </a:t>
            </a:r>
            <a:r>
              <a:rPr lang="zh-CN" altLang="en-US" sz="2800" b="0" i="0" u="none" strike="noStrike" kern="1200" cap="none" spc="0" baseline="0" dirty="0">
                <a:solidFill>
                  <a:schemeClr val="tx1"/>
                </a:solidFill>
                <a:latin typeface="Verdana" pitchFamily="34" charset="0"/>
                <a:ea typeface="宋体" charset="0"/>
                <a:cs typeface="Verdana" pitchFamily="34" charset="0"/>
              </a:rPr>
              <a:t>模块级函数</a:t>
            </a:r>
          </a:p>
        </p:txBody>
      </p:sp>
      <p:sp>
        <p:nvSpPr>
          <p:cNvPr id="302" name="矩形"/>
          <p:cNvSpPr>
            <a:spLocks/>
          </p:cNvSpPr>
          <p:nvPr/>
        </p:nvSpPr>
        <p:spPr>
          <a:xfrm>
            <a:off x="765804" y="1894820"/>
            <a:ext cx="7696100" cy="2158365"/>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re</a:t>
            </a:r>
            <a:r>
              <a:rPr lang="zh-CN" altLang="en-US" sz="2000" b="0" i="0" u="none" strike="noStrike" kern="1200" cap="none" spc="0" baseline="0">
                <a:solidFill>
                  <a:schemeClr val="tx1"/>
                </a:solidFill>
                <a:latin typeface="Verdana" pitchFamily="34" charset="0"/>
                <a:ea typeface="宋体" charset="0"/>
                <a:cs typeface="Verdana" pitchFamily="34" charset="0"/>
              </a:rPr>
              <a:t>模块提供了顶级函数调用，例如</a:t>
            </a:r>
            <a:r>
              <a:rPr lang="en-US" altLang="zh-CN" sz="2000" b="0" i="0" u="none" strike="noStrike" kern="1200" cap="none" spc="0" baseline="0">
                <a:solidFill>
                  <a:schemeClr val="tx1"/>
                </a:solidFill>
                <a:latin typeface="Verdana" pitchFamily="34" charset="0"/>
                <a:ea typeface="宋体" charset="0"/>
                <a:cs typeface="Verdana" pitchFamily="34" charset="0"/>
              </a:rPr>
              <a:t>match()</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search()</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sub()</a:t>
            </a:r>
            <a:r>
              <a:rPr lang="zh-CN" altLang="en-US" sz="2000" b="0" i="0" u="none" strike="noStrike" kern="1200" cap="none" spc="0" baseline="0">
                <a:solidFill>
                  <a:schemeClr val="tx1"/>
                </a:solidFill>
                <a:latin typeface="Verdana" pitchFamily="34" charset="0"/>
                <a:ea typeface="宋体" charset="0"/>
                <a:cs typeface="Verdana" pitchFamily="34" charset="0"/>
              </a:rPr>
              <a:t>等。没有必要先创建一个正则表达式对象，再调用它的方法。</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这些函数使用正则表达式字符串作为第一个参数，而后面的参数则与相应正则表达式对象的方法参数相同，返回则要么是</a:t>
            </a:r>
            <a:r>
              <a:rPr lang="en-US" altLang="zh-CN" sz="2000" b="0" i="0" u="none" strike="noStrike" kern="1200" cap="none" spc="0" baseline="0">
                <a:solidFill>
                  <a:schemeClr val="tx1"/>
                </a:solidFill>
                <a:latin typeface="Verdana" pitchFamily="34" charset="0"/>
                <a:ea typeface="宋体" charset="0"/>
                <a:cs typeface="Verdana" pitchFamily="34" charset="0"/>
              </a:rPr>
              <a:t>None</a:t>
            </a:r>
            <a:r>
              <a:rPr lang="zh-CN" altLang="en-US" sz="2000" b="0" i="0" u="none" strike="noStrike" kern="1200" cap="none" spc="0" baseline="0">
                <a:solidFill>
                  <a:schemeClr val="tx1"/>
                </a:solidFill>
                <a:latin typeface="Verdana" pitchFamily="34" charset="0"/>
                <a:ea typeface="宋体" charset="0"/>
                <a:cs typeface="Verdana" pitchFamily="34" charset="0"/>
              </a:rPr>
              <a:t>，要么是一个</a:t>
            </a:r>
            <a:r>
              <a:rPr lang="en-US" altLang="zh-CN" sz="2000" b="0" i="0" u="none" strike="noStrike" kern="1200" cap="none" spc="0" baseline="0">
                <a:solidFill>
                  <a:schemeClr val="tx1"/>
                </a:solidFill>
                <a:latin typeface="Verdana" pitchFamily="34" charset="0"/>
                <a:ea typeface="宋体" charset="0"/>
                <a:cs typeface="Verdana" pitchFamily="34" charset="0"/>
              </a:rPr>
              <a:t>match</a:t>
            </a:r>
            <a:r>
              <a:rPr lang="zh-CN" altLang="en-US" sz="2000" b="0" i="0" u="none" strike="noStrike" kern="1200" cap="none" spc="0" baseline="0">
                <a:solidFill>
                  <a:schemeClr val="tx1"/>
                </a:solidFill>
                <a:latin typeface="Verdana" pitchFamily="34" charset="0"/>
                <a:ea typeface="宋体" charset="0"/>
                <a:cs typeface="Verdana" pitchFamily="34" charset="0"/>
              </a:rPr>
              <a:t>对象的实例。</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zh-CN" altLang="en-US" sz="2000" b="0" i="0" u="none" strike="noStrike" kern="1200" cap="none" spc="0" baseline="0">
              <a:solidFill>
                <a:schemeClr val="tx1"/>
              </a:solidFill>
              <a:latin typeface="Verdana" pitchFamily="34" charset="0"/>
              <a:ea typeface="宋体" charset="0"/>
              <a:cs typeface="Verdana" pitchFamily="34" charset="0"/>
            </a:endParaRPr>
          </a:p>
        </p:txBody>
      </p:sp>
    </p:spTree>
    <p:extLst>
      <p:ext uri="{BB962C8B-B14F-4D97-AF65-F5344CB8AC3E}">
        <p14:creationId xmlns:p14="http://schemas.microsoft.com/office/powerpoint/2010/main" val="1793730779"/>
      </p:ext>
    </p:extLst>
  </p:cSld>
  <p:clrMapOvr>
    <a:masterClrMapping/>
  </p:clrMapOvr>
  <p:transition spd="slow" advTm="7922"/>
</p:sld>
</file>

<file path=ppt/slides/slide20.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05"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06" name="矩形"/>
          <p:cNvSpPr>
            <a:spLocks/>
          </p:cNvSpPr>
          <p:nvPr/>
        </p:nvSpPr>
        <p:spPr>
          <a:xfrm>
            <a:off x="0" y="0"/>
            <a:ext cx="9144000" cy="0"/>
          </a:xfrm>
          <a:prstGeom prst="rect">
            <a:avLst/>
          </a:prstGeom>
          <a:noFill/>
          <a:ln w="9525" cap="flat" cmpd="sng">
            <a:noFill/>
            <a:prstDash val="solid"/>
            <a:round/>
          </a:ln>
        </p:spPr>
      </p:sp>
      <p:sp>
        <p:nvSpPr>
          <p:cNvPr id="307"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3 </a:t>
            </a:r>
            <a:r>
              <a:rPr lang="zh-CN" altLang="en-US" sz="2800" b="1" i="0" u="none" strike="noStrike" kern="1200" cap="none" spc="0" baseline="0" dirty="0">
                <a:solidFill>
                  <a:schemeClr val="accent2"/>
                </a:solidFill>
                <a:latin typeface="微软雅黑" charset="0"/>
                <a:ea typeface="微软雅黑" charset="0"/>
                <a:cs typeface="Verdana" pitchFamily="34" charset="0"/>
              </a:rPr>
              <a:t>使用正则表达式</a:t>
            </a:r>
          </a:p>
        </p:txBody>
      </p:sp>
      <p:sp>
        <p:nvSpPr>
          <p:cNvPr id="308"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3.5 </a:t>
            </a:r>
            <a:r>
              <a:rPr lang="zh-CN" altLang="en-US" sz="2800" b="0" i="0" u="none" strike="noStrike" kern="1200" cap="none" spc="0" baseline="0" dirty="0">
                <a:solidFill>
                  <a:schemeClr val="tx1"/>
                </a:solidFill>
                <a:latin typeface="Verdana" pitchFamily="34" charset="0"/>
                <a:ea typeface="宋体" charset="0"/>
                <a:cs typeface="Verdana" pitchFamily="34" charset="0"/>
              </a:rPr>
              <a:t>编译标志</a:t>
            </a:r>
          </a:p>
        </p:txBody>
      </p:sp>
      <p:sp>
        <p:nvSpPr>
          <p:cNvPr id="309" name="矩形"/>
          <p:cNvSpPr>
            <a:spLocks/>
          </p:cNvSpPr>
          <p:nvPr/>
        </p:nvSpPr>
        <p:spPr>
          <a:xfrm>
            <a:off x="765804" y="1894820"/>
            <a:ext cx="7696100" cy="245364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使用编译标志可以修改正则表达式的一些运行方式。</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在</a:t>
            </a:r>
            <a:r>
              <a:rPr lang="en-US" altLang="zh-CN" sz="2000" b="0" i="0" u="none" strike="noStrike" kern="1200" cap="none" spc="0" baseline="0">
                <a:solidFill>
                  <a:schemeClr val="tx1"/>
                </a:solidFill>
                <a:latin typeface="Verdana" pitchFamily="34" charset="0"/>
                <a:ea typeface="宋体" charset="0"/>
                <a:cs typeface="Verdana" pitchFamily="34" charset="0"/>
              </a:rPr>
              <a:t>re</a:t>
            </a:r>
            <a:r>
              <a:rPr lang="zh-CN" altLang="en-US" sz="2000" b="0" i="0" u="none" strike="noStrike" kern="1200" cap="none" spc="0" baseline="0">
                <a:solidFill>
                  <a:schemeClr val="tx1"/>
                </a:solidFill>
                <a:latin typeface="Verdana" pitchFamily="34" charset="0"/>
                <a:ea typeface="宋体" charset="0"/>
                <a:cs typeface="Verdana" pitchFamily="34" charset="0"/>
              </a:rPr>
              <a:t>模块中编译标志可以使用两种形式表示，一是如同</a:t>
            </a:r>
            <a:r>
              <a:rPr lang="en-US" altLang="zh-CN" sz="2000" b="0" i="0" u="none" strike="noStrike" kern="1200" cap="none" spc="0" baseline="0">
                <a:solidFill>
                  <a:schemeClr val="tx1"/>
                </a:solidFill>
                <a:latin typeface="Verdana" pitchFamily="34" charset="0"/>
                <a:ea typeface="宋体" charset="0"/>
                <a:cs typeface="Verdana" pitchFamily="34" charset="0"/>
              </a:rPr>
              <a:t>IGNORECASE</a:t>
            </a:r>
            <a:r>
              <a:rPr lang="zh-CN" altLang="en-US" sz="2000" b="0" i="0" u="none" strike="noStrike" kern="1200" cap="none" spc="0" baseline="0">
                <a:solidFill>
                  <a:schemeClr val="tx1"/>
                </a:solidFill>
                <a:latin typeface="Verdana" pitchFamily="34" charset="0"/>
                <a:ea typeface="宋体" charset="0"/>
                <a:cs typeface="Verdana" pitchFamily="34" charset="0"/>
              </a:rPr>
              <a:t>的全名，另一种是一个字母的缩写形式，例如</a:t>
            </a:r>
            <a:r>
              <a:rPr lang="en-US" altLang="zh-CN" sz="2000" b="0" i="0" u="none" strike="noStrike" kern="1200" cap="none" spc="0" baseline="0">
                <a:solidFill>
                  <a:schemeClr val="tx1"/>
                </a:solidFill>
                <a:latin typeface="Verdana" pitchFamily="34" charset="0"/>
                <a:ea typeface="宋体" charset="0"/>
                <a:cs typeface="Verdana" pitchFamily="34" charset="0"/>
              </a:rPr>
              <a:t>IGNORECASE</a:t>
            </a:r>
            <a:r>
              <a:rPr lang="zh-CN" altLang="en-US" sz="2000" b="0" i="0" u="none" strike="noStrike" kern="1200" cap="none" spc="0" baseline="0">
                <a:solidFill>
                  <a:schemeClr val="tx1"/>
                </a:solidFill>
                <a:latin typeface="Verdana" pitchFamily="34" charset="0"/>
                <a:ea typeface="宋体" charset="0"/>
                <a:cs typeface="Verdana" pitchFamily="34" charset="0"/>
              </a:rPr>
              <a:t>缩写为</a:t>
            </a:r>
            <a:r>
              <a:rPr lang="en-US" altLang="zh-CN" sz="2000" b="0" i="0" u="none" strike="noStrike" kern="1200" cap="none" spc="0" baseline="0">
                <a:solidFill>
                  <a:schemeClr val="tx1"/>
                </a:solidFill>
                <a:latin typeface="Verdana" pitchFamily="34" charset="0"/>
                <a:ea typeface="宋体" charset="0"/>
                <a:cs typeface="Verdana" pitchFamily="34" charset="0"/>
              </a:rPr>
              <a:t>I</a:t>
            </a:r>
            <a:r>
              <a:rPr lang="zh-CN" altLang="en-US" sz="2000" b="0" i="0" u="none" strike="noStrike" kern="1200" cap="none" spc="0" baseline="0">
                <a:solidFill>
                  <a:schemeClr val="tx1"/>
                </a:solidFill>
                <a:latin typeface="Verdana" pitchFamily="34" charset="0"/>
                <a:ea typeface="宋体" charset="0"/>
                <a:cs typeface="Verdana" pitchFamily="34" charset="0"/>
              </a:rPr>
              <a:t>。多个标志可以通过使用或符号“</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”来分隔，如“</a:t>
            </a:r>
            <a:r>
              <a:rPr lang="en-US" altLang="zh-CN" sz="2000" b="0" i="0" u="none" strike="noStrike" kern="1200" cap="none" spc="0" baseline="0">
                <a:solidFill>
                  <a:schemeClr val="tx1"/>
                </a:solidFill>
                <a:latin typeface="Verdana" pitchFamily="34" charset="0"/>
                <a:ea typeface="宋体" charset="0"/>
                <a:cs typeface="Verdana" pitchFamily="34" charset="0"/>
              </a:rPr>
              <a:t>re.I | re.M</a:t>
            </a:r>
            <a:r>
              <a:rPr lang="zh-CN" altLang="en-US" sz="2000" b="0" i="0" u="none" strike="noStrike" kern="1200" cap="none" spc="0" baseline="0">
                <a:solidFill>
                  <a:schemeClr val="tx1"/>
                </a:solidFill>
                <a:latin typeface="Verdana" pitchFamily="34" charset="0"/>
                <a:ea typeface="宋体" charset="0"/>
                <a:cs typeface="Verdana" pitchFamily="34" charset="0"/>
              </a:rPr>
              <a:t>”表示同时设置</a:t>
            </a:r>
            <a:r>
              <a:rPr lang="en-US" altLang="zh-CN" sz="2000" b="0" i="0" u="none" strike="noStrike" kern="1200" cap="none" spc="0" baseline="0">
                <a:solidFill>
                  <a:schemeClr val="tx1"/>
                </a:solidFill>
                <a:latin typeface="Verdana" pitchFamily="34" charset="0"/>
                <a:ea typeface="宋体" charset="0"/>
                <a:cs typeface="Verdana" pitchFamily="34" charset="0"/>
              </a:rPr>
              <a:t>I</a:t>
            </a:r>
            <a:r>
              <a:rPr lang="zh-CN" altLang="en-US" sz="2000" b="0" i="0" u="none" strike="noStrike" kern="1200" cap="none" spc="0" baseline="0">
                <a:solidFill>
                  <a:schemeClr val="tx1"/>
                </a:solidFill>
                <a:latin typeface="Verdana" pitchFamily="34" charset="0"/>
                <a:ea typeface="宋体" charset="0"/>
                <a:cs typeface="Verdana" pitchFamily="34" charset="0"/>
              </a:rPr>
              <a:t>和</a:t>
            </a:r>
            <a:r>
              <a:rPr lang="en-US" altLang="zh-CN" sz="2000" b="0" i="0" u="none" strike="noStrike" kern="1200" cap="none" spc="0" baseline="0">
                <a:solidFill>
                  <a:schemeClr val="tx1"/>
                </a:solidFill>
                <a:latin typeface="Verdana" pitchFamily="34" charset="0"/>
                <a:ea typeface="宋体" charset="0"/>
                <a:cs typeface="Verdana" pitchFamily="34" charset="0"/>
              </a:rPr>
              <a:t>M</a:t>
            </a:r>
            <a:r>
              <a:rPr lang="zh-CN" altLang="en-US" sz="2000" b="0" i="0" u="none" strike="noStrike" kern="1200" cap="none" spc="0" baseline="0">
                <a:solidFill>
                  <a:schemeClr val="tx1"/>
                </a:solidFill>
                <a:latin typeface="Verdana" pitchFamily="34" charset="0"/>
                <a:ea typeface="宋体" charset="0"/>
                <a:cs typeface="Verdana" pitchFamily="34" charset="0"/>
              </a:rPr>
              <a:t>标志，该标志在编译正则表达式对象时，以参数的形式输入。</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zh-CN" altLang="en-US" sz="2000" b="0" i="0" u="none" strike="noStrike" kern="1200" cap="none" spc="0" baseline="0">
              <a:solidFill>
                <a:schemeClr val="tx1"/>
              </a:solidFill>
              <a:latin typeface="Verdana" pitchFamily="34" charset="0"/>
              <a:ea typeface="宋体" charset="0"/>
              <a:cs typeface="Verdana" pitchFamily="34" charset="0"/>
            </a:endParaRPr>
          </a:p>
        </p:txBody>
      </p:sp>
    </p:spTree>
    <p:extLst>
      <p:ext uri="{BB962C8B-B14F-4D97-AF65-F5344CB8AC3E}">
        <p14:creationId xmlns:p14="http://schemas.microsoft.com/office/powerpoint/2010/main" val="944418441"/>
      </p:ext>
    </p:extLst>
  </p:cSld>
  <p:clrMapOvr>
    <a:masterClrMapping/>
  </p:clrMapOvr>
  <p:transition spd="slow" advTm="7922"/>
</p:sld>
</file>

<file path=ppt/slides/slide21.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12"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13" name="矩形"/>
          <p:cNvSpPr>
            <a:spLocks/>
          </p:cNvSpPr>
          <p:nvPr/>
        </p:nvSpPr>
        <p:spPr>
          <a:xfrm>
            <a:off x="0" y="0"/>
            <a:ext cx="9144000" cy="0"/>
          </a:xfrm>
          <a:prstGeom prst="rect">
            <a:avLst/>
          </a:prstGeom>
          <a:noFill/>
          <a:ln w="9525" cap="flat" cmpd="sng">
            <a:noFill/>
            <a:prstDash val="solid"/>
            <a:round/>
          </a:ln>
        </p:spPr>
      </p:sp>
      <p:sp>
        <p:nvSpPr>
          <p:cNvPr id="314"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3 </a:t>
            </a:r>
            <a:r>
              <a:rPr lang="zh-CN" altLang="en-US" sz="2800" b="1" i="0" u="none" strike="noStrike" kern="1200" cap="none" spc="0" baseline="0" dirty="0">
                <a:solidFill>
                  <a:schemeClr val="accent2"/>
                </a:solidFill>
                <a:latin typeface="微软雅黑" charset="0"/>
                <a:ea typeface="微软雅黑" charset="0"/>
                <a:cs typeface="Verdana" pitchFamily="34" charset="0"/>
              </a:rPr>
              <a:t>使用正则表达式</a:t>
            </a:r>
          </a:p>
        </p:txBody>
      </p:sp>
      <p:sp>
        <p:nvSpPr>
          <p:cNvPr id="315"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3.5 </a:t>
            </a:r>
            <a:r>
              <a:rPr lang="zh-CN" altLang="en-US" sz="2800" b="0" i="0" u="none" strike="noStrike" kern="1200" cap="none" spc="0" baseline="0" dirty="0">
                <a:solidFill>
                  <a:schemeClr val="tx1"/>
                </a:solidFill>
                <a:latin typeface="Verdana" pitchFamily="34" charset="0"/>
                <a:ea typeface="宋体" charset="0"/>
                <a:cs typeface="Verdana" pitchFamily="34" charset="0"/>
              </a:rPr>
              <a:t>编译标志</a:t>
            </a:r>
          </a:p>
        </p:txBody>
      </p:sp>
      <p:graphicFrame>
        <p:nvGraphicFramePr>
          <p:cNvPr id="316" name="表格"/>
          <p:cNvGraphicFramePr>
            <a:graphicFrameLocks noGrp="1"/>
          </p:cNvGraphicFramePr>
          <p:nvPr/>
        </p:nvGraphicFramePr>
        <p:xfrm>
          <a:off x="762100" y="2438425"/>
          <a:ext cx="7696060" cy="3886022"/>
        </p:xfrm>
        <a:graphic>
          <a:graphicData uri="http://schemas.openxmlformats.org/drawingml/2006/table">
            <a:tbl>
              <a:tblPr bandRow="1"/>
              <a:tblGrid>
                <a:gridCol w="1841436">
                  <a:extLst>
                    <a:ext uri="{9D8B030D-6E8A-4147-A177-3AD203B41FA5}">
                      <a16:colId xmlns:a16="http://schemas.microsoft.com/office/drawing/2014/main" val="20000"/>
                    </a:ext>
                  </a:extLst>
                </a:gridCol>
                <a:gridCol w="5854624">
                  <a:extLst>
                    <a:ext uri="{9D8B030D-6E8A-4147-A177-3AD203B41FA5}">
                      <a16:colId xmlns:a16="http://schemas.microsoft.com/office/drawing/2014/main" val="20001"/>
                    </a:ext>
                  </a:extLst>
                </a:gridCol>
              </a:tblGrid>
              <a:tr h="555146">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标</a:t>
                      </a:r>
                      <a:r>
                        <a:rPr lang="en-US" altLang="zh-CN" sz="1800" b="1" i="0" u="none" strike="noStrike" kern="1000" cap="none" spc="0" baseline="0">
                          <a:solidFill>
                            <a:srgbClr val="FFFFFF"/>
                          </a:solidFill>
                          <a:latin typeface="Verdana" pitchFamily="34" charset="0"/>
                          <a:ea typeface="宋体" charset="0"/>
                          <a:cs typeface="Verdana" pitchFamily="34" charset="0"/>
                        </a:rPr>
                        <a:t>  </a:t>
                      </a:r>
                      <a:r>
                        <a:rPr lang="zh-CN" altLang="en-US" sz="1800" b="1" i="0" u="none" strike="noStrike" kern="1000" cap="none" spc="0" baseline="0">
                          <a:solidFill>
                            <a:srgbClr val="FFFFFF"/>
                          </a:solidFill>
                          <a:latin typeface="Verdana" pitchFamily="34" charset="0"/>
                          <a:ea typeface="宋体" charset="0"/>
                          <a:cs typeface="Verdana" pitchFamily="34" charset="0"/>
                        </a:rPr>
                        <a:t>志</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含</a:t>
                      </a:r>
                      <a:r>
                        <a:rPr lang="en-US" altLang="zh-CN" sz="1800" b="1" i="0" u="none" strike="noStrike" kern="1000" cap="none" spc="0" baseline="0">
                          <a:solidFill>
                            <a:srgbClr val="FFFFFF"/>
                          </a:solidFill>
                          <a:latin typeface="Verdana" pitchFamily="34" charset="0"/>
                          <a:ea typeface="宋体" charset="0"/>
                          <a:cs typeface="Verdana" pitchFamily="34" charset="0"/>
                        </a:rPr>
                        <a:t>  </a:t>
                      </a:r>
                      <a:r>
                        <a:rPr lang="zh-CN" altLang="en-US" sz="1800" b="1" i="0" u="none" strike="noStrike" kern="1000" cap="none" spc="0" baseline="0">
                          <a:solidFill>
                            <a:srgbClr val="FFFFFF"/>
                          </a:solidFill>
                          <a:latin typeface="Verdana" pitchFamily="34" charset="0"/>
                          <a:ea typeface="宋体" charset="0"/>
                          <a:cs typeface="Verdana" pitchFamily="34" charset="0"/>
                        </a:rPr>
                        <a:t>义</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extLst>
                  <a:ext uri="{0D108BD9-81ED-4DB2-BD59-A6C34878D82A}">
                    <a16:rowId xmlns:a16="http://schemas.microsoft.com/office/drawing/2014/main" val="10000"/>
                  </a:ext>
                </a:extLst>
              </a:tr>
              <a:tr h="555146">
                <a:tc>
                  <a:txBody>
                    <a:bodyPr/>
                    <a:lstStyle/>
                    <a:p>
                      <a:pPr marL="0" indent="0" algn="just"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ASCII</a:t>
                      </a:r>
                      <a:r>
                        <a:rPr lang="zh-CN" altLang="en-US" sz="1800" b="1" i="0" u="none" strike="noStrike" kern="1000" cap="none" spc="0" baseline="0">
                          <a:solidFill>
                            <a:srgbClr val="FFFFFF"/>
                          </a:solidFill>
                          <a:latin typeface="Verdana" pitchFamily="34" charset="0"/>
                          <a:ea typeface="宋体" charset="0"/>
                          <a:cs typeface="Verdana" pitchFamily="34" charset="0"/>
                        </a:rPr>
                        <a:t>，</a:t>
                      </a:r>
                      <a:r>
                        <a:rPr lang="en-US" altLang="zh-CN" sz="1800" b="1" i="0" u="none" strike="noStrike" kern="1000" cap="none" spc="0" baseline="0">
                          <a:solidFill>
                            <a:srgbClr val="FFFFFF"/>
                          </a:solidFill>
                          <a:latin typeface="Verdana" pitchFamily="34" charset="0"/>
                          <a:ea typeface="宋体" charset="0"/>
                          <a:cs typeface="Verdana" pitchFamily="34" charset="0"/>
                        </a:rPr>
                        <a:t>A</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使</a:t>
                      </a:r>
                      <a:r>
                        <a:rPr lang="en-US" altLang="zh-CN" sz="1800" b="0" i="0" u="none" strike="noStrike" kern="1000" cap="none" spc="0" baseline="0">
                          <a:solidFill>
                            <a:srgbClr val="000000"/>
                          </a:solidFill>
                          <a:latin typeface="Verdana" pitchFamily="34" charset="0"/>
                          <a:ea typeface="宋体" charset="0"/>
                          <a:cs typeface="Verdana" pitchFamily="34" charset="0"/>
                        </a:rPr>
                        <a:t>\w</a:t>
                      </a:r>
                      <a:r>
                        <a:rPr lang="zh-CN" altLang="en-US" sz="1800" b="0" i="0" u="none" strike="noStrike" kern="1000" cap="none" spc="0" baseline="0">
                          <a:solidFill>
                            <a:srgbClr val="000000"/>
                          </a:solidFill>
                          <a:latin typeface="Verdana" pitchFamily="34" charset="0"/>
                          <a:ea typeface="宋体" charset="0"/>
                          <a:cs typeface="Verdana" pitchFamily="34" charset="0"/>
                        </a:rPr>
                        <a:t>，</a:t>
                      </a:r>
                      <a:r>
                        <a:rPr lang="en-US" altLang="zh-CN" sz="1800" b="0" i="0" u="none" strike="noStrike" kern="1000" cap="none" spc="0" baseline="0">
                          <a:solidFill>
                            <a:srgbClr val="000000"/>
                          </a:solidFill>
                          <a:latin typeface="Verdana" pitchFamily="34" charset="0"/>
                          <a:ea typeface="宋体" charset="0"/>
                          <a:cs typeface="Verdana" pitchFamily="34" charset="0"/>
                        </a:rPr>
                        <a:t>\b</a:t>
                      </a:r>
                      <a:r>
                        <a:rPr lang="zh-CN" altLang="en-US" sz="1800" b="0" i="0" u="none" strike="noStrike" kern="1000" cap="none" spc="0" baseline="0">
                          <a:solidFill>
                            <a:srgbClr val="000000"/>
                          </a:solidFill>
                          <a:latin typeface="Verdana" pitchFamily="34" charset="0"/>
                          <a:ea typeface="宋体" charset="0"/>
                          <a:cs typeface="Verdana" pitchFamily="34" charset="0"/>
                        </a:rPr>
                        <a:t>等只匹配</a:t>
                      </a:r>
                      <a:r>
                        <a:rPr lang="en-US" altLang="zh-CN" sz="1800" b="0" i="0" u="none" strike="noStrike" kern="1000" cap="none" spc="0" baseline="0">
                          <a:solidFill>
                            <a:srgbClr val="000000"/>
                          </a:solidFill>
                          <a:latin typeface="Verdana" pitchFamily="34" charset="0"/>
                          <a:ea typeface="宋体" charset="0"/>
                          <a:cs typeface="Verdana" pitchFamily="34" charset="0"/>
                        </a:rPr>
                        <a:t>ASCII</a:t>
                      </a:r>
                      <a:r>
                        <a:rPr lang="zh-CN" altLang="en-US" sz="1800" b="0" i="0" u="none" strike="noStrike" kern="1000" cap="none" spc="0" baseline="0">
                          <a:solidFill>
                            <a:srgbClr val="000000"/>
                          </a:solidFill>
                          <a:latin typeface="Verdana" pitchFamily="34" charset="0"/>
                          <a:ea typeface="宋体" charset="0"/>
                          <a:cs typeface="Verdana" pitchFamily="34" charset="0"/>
                        </a:rPr>
                        <a:t>字符</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1"/>
                  </a:ext>
                </a:extLst>
              </a:tr>
              <a:tr h="555146">
                <a:tc>
                  <a:txBody>
                    <a:bodyPr/>
                    <a:lstStyle/>
                    <a:p>
                      <a:pPr marL="0" indent="0" algn="just"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DOTALL</a:t>
                      </a:r>
                      <a:r>
                        <a:rPr lang="zh-CN" altLang="en-US" sz="1800" b="1" i="0" u="none" strike="noStrike" kern="1000" cap="none" spc="0" baseline="0">
                          <a:solidFill>
                            <a:srgbClr val="FFFFFF"/>
                          </a:solidFill>
                          <a:latin typeface="Verdana" pitchFamily="34" charset="0"/>
                          <a:ea typeface="宋体" charset="0"/>
                          <a:cs typeface="Verdana" pitchFamily="34" charset="0"/>
                        </a:rPr>
                        <a:t>，</a:t>
                      </a:r>
                      <a:r>
                        <a:rPr lang="en-US" altLang="zh-CN" sz="1800" b="1" i="0" u="none" strike="noStrike" kern="1000" cap="none" spc="0" baseline="0">
                          <a:solidFill>
                            <a:srgbClr val="FFFFFF"/>
                          </a:solidFill>
                          <a:latin typeface="Verdana" pitchFamily="34" charset="0"/>
                          <a:ea typeface="宋体" charset="0"/>
                          <a:cs typeface="Verdana" pitchFamily="34" charset="0"/>
                        </a:rPr>
                        <a:t>S</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使字符“</a:t>
                      </a:r>
                      <a:r>
                        <a:rPr lang="en-US" altLang="zh-CN" sz="1800" b="0" i="0" u="none" strike="noStrike" kern="1000" cap="none" spc="0" baseline="0">
                          <a:solidFill>
                            <a:srgbClr val="000000"/>
                          </a:solidFill>
                          <a:latin typeface="Verdana" pitchFamily="34" charset="0"/>
                          <a:ea typeface="宋体" charset="0"/>
                          <a:cs typeface="Verdana" pitchFamily="34" charset="0"/>
                        </a:rPr>
                        <a:t>.</a:t>
                      </a:r>
                      <a:r>
                        <a:rPr lang="zh-CN" altLang="en-US" sz="1800" b="0" i="0" u="none" strike="noStrike" kern="1000" cap="none" spc="0" baseline="0">
                          <a:solidFill>
                            <a:srgbClr val="000000"/>
                          </a:solidFill>
                          <a:latin typeface="Verdana" pitchFamily="34" charset="0"/>
                          <a:ea typeface="宋体" charset="0"/>
                          <a:cs typeface="Verdana" pitchFamily="34" charset="0"/>
                        </a:rPr>
                        <a:t>”匹配任意字符，包括换行符</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2"/>
                  </a:ext>
                </a:extLst>
              </a:tr>
              <a:tr h="555146">
                <a:tc>
                  <a:txBody>
                    <a:bodyPr/>
                    <a:lstStyle/>
                    <a:p>
                      <a:pPr marL="0" indent="0" algn="just"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IGNORECASE</a:t>
                      </a:r>
                      <a:r>
                        <a:rPr lang="zh-CN" altLang="en-US" sz="1800" b="1" i="0" u="none" strike="noStrike" kern="1000" cap="none" spc="0" baseline="0">
                          <a:solidFill>
                            <a:srgbClr val="FFFFFF"/>
                          </a:solidFill>
                          <a:latin typeface="Verdana" pitchFamily="34" charset="0"/>
                          <a:ea typeface="宋体" charset="0"/>
                          <a:cs typeface="Verdana" pitchFamily="34" charset="0"/>
                        </a:rPr>
                        <a:t>，</a:t>
                      </a:r>
                      <a:r>
                        <a:rPr lang="en-US" altLang="zh-CN" sz="1800" b="1" i="0" u="none" strike="noStrike" kern="1000" cap="none" spc="0" baseline="0">
                          <a:solidFill>
                            <a:srgbClr val="FFFFFF"/>
                          </a:solidFill>
                          <a:latin typeface="Verdana" pitchFamily="34" charset="0"/>
                          <a:ea typeface="宋体" charset="0"/>
                          <a:cs typeface="Verdana" pitchFamily="34" charset="0"/>
                        </a:rPr>
                        <a:t>I</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使匹配对大小写不敏感</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3"/>
                  </a:ext>
                </a:extLst>
              </a:tr>
              <a:tr h="555146">
                <a:tc>
                  <a:txBody>
                    <a:bodyPr/>
                    <a:lstStyle/>
                    <a:p>
                      <a:pPr marL="0" indent="0" algn="just"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LOCALE</a:t>
                      </a:r>
                      <a:r>
                        <a:rPr lang="zh-CN" altLang="en-US" sz="1800" b="1" i="0" u="none" strike="noStrike" kern="1000" cap="none" spc="0" baseline="0">
                          <a:solidFill>
                            <a:srgbClr val="FFFFFF"/>
                          </a:solidFill>
                          <a:latin typeface="Verdana" pitchFamily="34" charset="0"/>
                          <a:ea typeface="宋体" charset="0"/>
                          <a:cs typeface="Verdana" pitchFamily="34" charset="0"/>
                        </a:rPr>
                        <a:t>，</a:t>
                      </a:r>
                      <a:r>
                        <a:rPr lang="en-US" altLang="zh-CN" sz="1800" b="1" i="0" u="none" strike="noStrike" kern="1000" cap="none" spc="0" baseline="0">
                          <a:solidFill>
                            <a:srgbClr val="FFFFFF"/>
                          </a:solidFill>
                          <a:latin typeface="Verdana" pitchFamily="34" charset="0"/>
                          <a:ea typeface="宋体" charset="0"/>
                          <a:cs typeface="Verdana" pitchFamily="34" charset="0"/>
                        </a:rPr>
                        <a:t>L</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做本地化识别（</a:t>
                      </a:r>
                      <a:r>
                        <a:rPr lang="en-US" altLang="zh-CN" sz="1800" b="0" i="0" u="none" strike="noStrike" kern="1000" cap="none" spc="0" baseline="0">
                          <a:solidFill>
                            <a:srgbClr val="000000"/>
                          </a:solidFill>
                          <a:latin typeface="Verdana" pitchFamily="34" charset="0"/>
                          <a:ea typeface="宋体" charset="0"/>
                          <a:cs typeface="Verdana" pitchFamily="34" charset="0"/>
                        </a:rPr>
                        <a:t>locale-aware</a:t>
                      </a:r>
                      <a:r>
                        <a:rPr lang="zh-CN" altLang="en-US" sz="1800" b="0" i="0" u="none" strike="noStrike" kern="1000" cap="none" spc="0" baseline="0">
                          <a:solidFill>
                            <a:srgbClr val="000000"/>
                          </a:solidFill>
                          <a:latin typeface="Verdana" pitchFamily="34" charset="0"/>
                          <a:ea typeface="宋体" charset="0"/>
                          <a:cs typeface="Verdana" pitchFamily="34" charset="0"/>
                        </a:rPr>
                        <a:t>）匹配</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4"/>
                  </a:ext>
                </a:extLst>
              </a:tr>
              <a:tr h="555146">
                <a:tc>
                  <a:txBody>
                    <a:bodyPr/>
                    <a:lstStyle/>
                    <a:p>
                      <a:pPr marL="0" indent="0" algn="just"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MULTILINE</a:t>
                      </a:r>
                      <a:r>
                        <a:rPr lang="zh-CN" altLang="en-US" sz="1800" b="1" i="0" u="none" strike="noStrike" kern="1000" cap="none" spc="0" baseline="0">
                          <a:solidFill>
                            <a:srgbClr val="FFFFFF"/>
                          </a:solidFill>
                          <a:latin typeface="Verdana" pitchFamily="34" charset="0"/>
                          <a:ea typeface="宋体" charset="0"/>
                          <a:cs typeface="Verdana" pitchFamily="34" charset="0"/>
                        </a:rPr>
                        <a:t>，</a:t>
                      </a:r>
                      <a:r>
                        <a:rPr lang="en-US" altLang="zh-CN" sz="1800" b="1" i="0" u="none" strike="noStrike" kern="1000" cap="none" spc="0" baseline="0">
                          <a:solidFill>
                            <a:srgbClr val="FFFFFF"/>
                          </a:solidFill>
                          <a:latin typeface="Verdana" pitchFamily="34" charset="0"/>
                          <a:ea typeface="宋体" charset="0"/>
                          <a:cs typeface="Verdana" pitchFamily="34" charset="0"/>
                        </a:rPr>
                        <a:t>M</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多行匹配，会影响</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5"/>
                  </a:ext>
                </a:extLst>
              </a:tr>
              <a:tr h="555146">
                <a:tc>
                  <a:txBody>
                    <a:bodyPr/>
                    <a:lstStyle/>
                    <a:p>
                      <a:pPr marL="0" indent="0" algn="just"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VERBOSE</a:t>
                      </a:r>
                      <a:r>
                        <a:rPr lang="zh-CN" altLang="en-US" sz="1800" b="1" i="0" u="none" strike="noStrike" kern="1000" cap="none" spc="0" baseline="0">
                          <a:solidFill>
                            <a:srgbClr val="FFFFFF"/>
                          </a:solidFill>
                          <a:latin typeface="Verdana" pitchFamily="34" charset="0"/>
                          <a:ea typeface="宋体" charset="0"/>
                          <a:cs typeface="Verdana" pitchFamily="34" charset="0"/>
                        </a:rPr>
                        <a:t>，</a:t>
                      </a:r>
                      <a:r>
                        <a:rPr lang="en-US" altLang="zh-CN" sz="1800" b="1" i="0" u="none" strike="noStrike" kern="1000" cap="none" spc="0" baseline="0">
                          <a:solidFill>
                            <a:srgbClr val="FFFFFF"/>
                          </a:solidFill>
                          <a:latin typeface="Verdana" pitchFamily="34" charset="0"/>
                          <a:ea typeface="宋体" charset="0"/>
                          <a:cs typeface="Verdana" pitchFamily="34" charset="0"/>
                        </a:rPr>
                        <a:t>X</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能够使用正则表达式的</a:t>
                      </a:r>
                      <a:r>
                        <a:rPr lang="en-US" altLang="zh-CN" sz="1800" b="0" i="0" u="none" strike="noStrike" kern="1000" cap="none" spc="0" baseline="0">
                          <a:solidFill>
                            <a:srgbClr val="000000"/>
                          </a:solidFill>
                          <a:latin typeface="Verdana" pitchFamily="34" charset="0"/>
                          <a:ea typeface="宋体" charset="0"/>
                          <a:cs typeface="Verdana" pitchFamily="34" charset="0"/>
                        </a:rPr>
                        <a:t>verbose</a:t>
                      </a:r>
                      <a:r>
                        <a:rPr lang="zh-CN" altLang="en-US" sz="1800" b="0" i="0" u="none" strike="noStrike" kern="1000" cap="none" spc="0" baseline="0">
                          <a:solidFill>
                            <a:srgbClr val="000000"/>
                          </a:solidFill>
                          <a:latin typeface="Verdana" pitchFamily="34" charset="0"/>
                          <a:ea typeface="宋体" charset="0"/>
                          <a:cs typeface="Verdana" pitchFamily="34" charset="0"/>
                        </a:rPr>
                        <a:t>状态，使之更加清晰易懂</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6"/>
                  </a:ext>
                </a:extLst>
              </a:tr>
            </a:tbl>
          </a:graphicData>
        </a:graphic>
      </p:graphicFrame>
      <p:sp>
        <p:nvSpPr>
          <p:cNvPr id="317" name="矩形"/>
          <p:cNvSpPr>
            <a:spLocks/>
          </p:cNvSpPr>
          <p:nvPr/>
        </p:nvSpPr>
        <p:spPr>
          <a:xfrm>
            <a:off x="685800" y="1894820"/>
            <a:ext cx="7772400" cy="386715"/>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Python</a:t>
            </a:r>
            <a:r>
              <a:rPr lang="zh-CN" altLang="en-US" sz="2000" b="0" i="0" u="none" strike="noStrike" kern="1200" cap="none" spc="0" baseline="0">
                <a:solidFill>
                  <a:schemeClr val="tx1"/>
                </a:solidFill>
                <a:latin typeface="Verdana" pitchFamily="34" charset="0"/>
                <a:ea typeface="宋体" charset="0"/>
                <a:cs typeface="Verdana" pitchFamily="34" charset="0"/>
              </a:rPr>
              <a:t>正则表达式的编译标志由下表所示：</a:t>
            </a:r>
          </a:p>
        </p:txBody>
      </p:sp>
    </p:spTree>
    <p:extLst>
      <p:ext uri="{BB962C8B-B14F-4D97-AF65-F5344CB8AC3E}">
        <p14:creationId xmlns:p14="http://schemas.microsoft.com/office/powerpoint/2010/main" val="286439626"/>
      </p:ext>
    </p:extLst>
  </p:cSld>
  <p:clrMapOvr>
    <a:masterClrMapping/>
  </p:clrMapOvr>
  <p:transition spd="slow" advTm="7922"/>
</p:sld>
</file>

<file path=ppt/slides/slide22.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20" name="矩形"/>
          <p:cNvSpPr>
            <a:spLocks/>
          </p:cNvSpPr>
          <p:nvPr/>
        </p:nvSpPr>
        <p:spPr>
          <a:xfrm>
            <a:off x="681023" y="1920592"/>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322"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21" name="文本框"/>
          <p:cNvSpPr>
            <a:spLocks noGrp="1"/>
          </p:cNvSpPr>
          <p:nvPr>
            <p:ph type="ctrTitle"/>
          </p:nvPr>
        </p:nvSpPr>
        <p:spPr>
          <a:xfrm>
            <a:off x="0" y="250825"/>
            <a:ext cx="7772400" cy="685800"/>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marL="0" indent="0" algn="ctr" eaLnBrk="1" hangingPunct="1">
              <a:lnSpc>
                <a:spcPct val="100000"/>
              </a:lnSpc>
              <a:spcBef>
                <a:spcPts val="0"/>
              </a:spcBef>
              <a:spcAft>
                <a:spcPts val="0"/>
              </a:spcAft>
              <a:buNone/>
            </a:pPr>
            <a:r>
              <a:rPr lang="zh-CN" altLang="en-US" sz="4000" b="1" i="0" u="none" strike="noStrike" kern="1200" cap="none" spc="0" baseline="0">
                <a:solidFill>
                  <a:schemeClr val="tx1"/>
                </a:solidFill>
                <a:latin typeface="Copperplate Gothic Bold" charset="0"/>
                <a:ea typeface="隶书" pitchFamily="49" charset="-122"/>
                <a:cs typeface="Times New Roman" charset="0"/>
              </a:rPr>
              <a:t>目录</a:t>
            </a:r>
          </a:p>
        </p:txBody>
      </p:sp>
      <p:sp>
        <p:nvSpPr>
          <p:cNvPr id="323" name="矩形"/>
          <p:cNvSpPr>
            <a:spLocks/>
          </p:cNvSpPr>
          <p:nvPr/>
        </p:nvSpPr>
        <p:spPr>
          <a:xfrm>
            <a:off x="7772400" y="6477000"/>
            <a:ext cx="1196975" cy="365125"/>
          </a:xfrm>
          <a:prstGeom prst="rect">
            <a:avLst/>
          </a:prstGeom>
          <a:noFill/>
          <a:ln w="9525" cap="flat" cmpd="sng">
            <a:noFill/>
            <a:prstDash val="solid"/>
            <a:round/>
          </a:ln>
        </p:spPr>
        <p:txBody>
          <a:bodyPr vert="horz" wrap="square" lIns="91440" tIns="45720" rIns="91440" bIns="45720" anchor="t" anchorCtr="0">
            <a:prstTxWarp prst="textNoShape">
              <a:avLst/>
            </a:prstTxWarp>
          </a:bodyPr>
          <a:lstStyle/>
          <a:p>
            <a:pPr marL="0" indent="0" algn="ctr" eaLnBrk="1" hangingPunct="1">
              <a:lnSpc>
                <a:spcPct val="100000"/>
              </a:lnSpc>
              <a:spcBef>
                <a:spcPts val="0"/>
              </a:spcBef>
              <a:spcAft>
                <a:spcPts val="0"/>
              </a:spcAft>
              <a:buNone/>
            </a:pPr>
            <a:r>
              <a:rPr lang="en-US" altLang="zh-CN" sz="1200" b="1" i="0" u="none" strike="noStrike" kern="1200" cap="none" spc="0" baseline="0">
                <a:solidFill>
                  <a:schemeClr val="tx1"/>
                </a:solidFill>
                <a:latin typeface="Verdana" pitchFamily="34" charset="0"/>
                <a:ea typeface="宋体" charset="0"/>
                <a:cs typeface="Verdana" pitchFamily="34" charset="0"/>
              </a:rPr>
              <a:t>2</a:t>
            </a:r>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24" name="矩形"/>
          <p:cNvSpPr>
            <a:spLocks/>
          </p:cNvSpPr>
          <p:nvPr/>
        </p:nvSpPr>
        <p:spPr>
          <a:xfrm>
            <a:off x="681023" y="1245159"/>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325" name="矩形"/>
          <p:cNvSpPr>
            <a:spLocks/>
          </p:cNvSpPr>
          <p:nvPr/>
        </p:nvSpPr>
        <p:spPr>
          <a:xfrm>
            <a:off x="1752600" y="1323975"/>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1 </a:t>
            </a:r>
            <a:r>
              <a:rPr lang="zh-CN" altLang="en-US" sz="2800" b="0" i="0" u="none" strike="noStrike" kern="1200" cap="none" spc="0" baseline="0" dirty="0">
                <a:solidFill>
                  <a:schemeClr val="tx1"/>
                </a:solidFill>
                <a:latin typeface="微软雅黑" charset="0"/>
                <a:ea typeface="微软雅黑" charset="0"/>
                <a:cs typeface="Arial" pitchFamily="34" charset="0"/>
              </a:rPr>
              <a:t>正则表达式简介</a:t>
            </a:r>
          </a:p>
        </p:txBody>
      </p:sp>
      <p:sp>
        <p:nvSpPr>
          <p:cNvPr id="326" name="矩形"/>
          <p:cNvSpPr>
            <a:spLocks/>
          </p:cNvSpPr>
          <p:nvPr/>
        </p:nvSpPr>
        <p:spPr>
          <a:xfrm>
            <a:off x="1752600" y="2006600"/>
            <a:ext cx="4649788" cy="457199"/>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2 </a:t>
            </a:r>
            <a:r>
              <a:rPr lang="zh-CN" altLang="en-US" sz="2800" b="0" i="0" u="none" strike="noStrike" kern="1200" cap="none" spc="0" baseline="0" dirty="0">
                <a:solidFill>
                  <a:schemeClr val="tx1"/>
                </a:solidFill>
                <a:latin typeface="微软雅黑" charset="0"/>
                <a:ea typeface="微软雅黑" charset="0"/>
                <a:cs typeface="Arial" pitchFamily="34" charset="0"/>
              </a:rPr>
              <a:t>简单模式</a:t>
            </a:r>
          </a:p>
        </p:txBody>
      </p:sp>
      <p:sp>
        <p:nvSpPr>
          <p:cNvPr id="327" name="矩形"/>
          <p:cNvSpPr>
            <a:spLocks/>
          </p:cNvSpPr>
          <p:nvPr/>
        </p:nvSpPr>
        <p:spPr>
          <a:xfrm>
            <a:off x="7772400" y="6334125"/>
            <a:ext cx="838200" cy="369888"/>
          </a:xfrm>
          <a:prstGeom prst="rect">
            <a:avLst/>
          </a:prstGeom>
          <a:solidFill>
            <a:schemeClr val="bg1"/>
          </a:solidFill>
          <a:ln w="9525" cap="flat" cmpd="sng">
            <a:noFill/>
            <a:prstDash val="solid"/>
            <a:round/>
          </a:ln>
        </p:spPr>
      </p:sp>
      <p:sp>
        <p:nvSpPr>
          <p:cNvPr id="328" name="矩形"/>
          <p:cNvSpPr>
            <a:spLocks/>
          </p:cNvSpPr>
          <p:nvPr/>
        </p:nvSpPr>
        <p:spPr>
          <a:xfrm>
            <a:off x="681023" y="2621108"/>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329" name="矩形"/>
          <p:cNvSpPr>
            <a:spLocks/>
          </p:cNvSpPr>
          <p:nvPr/>
        </p:nvSpPr>
        <p:spPr>
          <a:xfrm>
            <a:off x="1752600" y="2690813"/>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3 </a:t>
            </a:r>
            <a:r>
              <a:rPr lang="en-US" altLang="zh-CN" sz="2800" b="0" i="0" u="none" strike="noStrike" kern="1200" cap="none" spc="0" baseline="0" dirty="0" err="1">
                <a:solidFill>
                  <a:schemeClr val="tx1"/>
                </a:solidFill>
                <a:latin typeface="微软雅黑" charset="0"/>
                <a:ea typeface="微软雅黑" charset="0"/>
                <a:cs typeface="Arial" pitchFamily="34" charset="0"/>
              </a:rPr>
              <a:t>使用正则表达式</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330" name="矩形"/>
          <p:cNvSpPr>
            <a:spLocks/>
          </p:cNvSpPr>
          <p:nvPr/>
        </p:nvSpPr>
        <p:spPr>
          <a:xfrm>
            <a:off x="681023" y="3303709"/>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331" name="矩形"/>
          <p:cNvSpPr>
            <a:spLocks/>
          </p:cNvSpPr>
          <p:nvPr/>
        </p:nvSpPr>
        <p:spPr>
          <a:xfrm>
            <a:off x="1752600" y="3373414"/>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rgbClr val="C00000"/>
                </a:solidFill>
                <a:latin typeface="微软雅黑" charset="0"/>
                <a:ea typeface="微软雅黑" charset="0"/>
                <a:cs typeface="Arial" pitchFamily="34" charset="0"/>
              </a:rPr>
              <a:t> 4 </a:t>
            </a:r>
            <a:r>
              <a:rPr lang="en-US" altLang="zh-CN" sz="2800" b="0" i="0" u="none" strike="noStrike" kern="1200" cap="none" spc="0" baseline="0" dirty="0" err="1">
                <a:solidFill>
                  <a:srgbClr val="C00000"/>
                </a:solidFill>
                <a:latin typeface="微软雅黑" charset="0"/>
                <a:ea typeface="微软雅黑" charset="0"/>
                <a:cs typeface="Arial" pitchFamily="34" charset="0"/>
              </a:rPr>
              <a:t>更多模式功能</a:t>
            </a:r>
            <a:endParaRPr lang="zh-CN" altLang="en-US" sz="2800" b="0" i="0" u="none" strike="noStrike" kern="1200" cap="none" spc="0" baseline="0" dirty="0">
              <a:solidFill>
                <a:srgbClr val="C00000"/>
              </a:solidFill>
              <a:latin typeface="微软雅黑" charset="0"/>
              <a:ea typeface="微软雅黑" charset="0"/>
              <a:cs typeface="Arial" pitchFamily="34" charset="0"/>
            </a:endParaRPr>
          </a:p>
        </p:txBody>
      </p:sp>
      <p:sp>
        <p:nvSpPr>
          <p:cNvPr id="332" name="矩形"/>
          <p:cNvSpPr>
            <a:spLocks/>
          </p:cNvSpPr>
          <p:nvPr/>
        </p:nvSpPr>
        <p:spPr>
          <a:xfrm>
            <a:off x="661467" y="3993431"/>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333" name="矩形"/>
          <p:cNvSpPr>
            <a:spLocks/>
          </p:cNvSpPr>
          <p:nvPr/>
        </p:nvSpPr>
        <p:spPr>
          <a:xfrm>
            <a:off x="1733044" y="4063135"/>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5 </a:t>
            </a:r>
            <a:r>
              <a:rPr lang="en-US" altLang="zh-CN" sz="2800" b="0" i="0" u="none" strike="noStrike" kern="1200" cap="none" spc="0" baseline="0" dirty="0" err="1">
                <a:solidFill>
                  <a:schemeClr val="tx1"/>
                </a:solidFill>
                <a:latin typeface="微软雅黑" charset="0"/>
                <a:ea typeface="微软雅黑" charset="0"/>
                <a:cs typeface="Arial" pitchFamily="34" charset="0"/>
              </a:rPr>
              <a:t>修改字符串</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334" name="矩形"/>
          <p:cNvSpPr>
            <a:spLocks/>
          </p:cNvSpPr>
          <p:nvPr/>
        </p:nvSpPr>
        <p:spPr>
          <a:xfrm>
            <a:off x="681637" y="4696801"/>
            <a:ext cx="7091375" cy="428643"/>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335" name="矩形"/>
          <p:cNvSpPr>
            <a:spLocks/>
          </p:cNvSpPr>
          <p:nvPr/>
        </p:nvSpPr>
        <p:spPr>
          <a:xfrm>
            <a:off x="1753214" y="4766506"/>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6 </a:t>
            </a:r>
            <a:r>
              <a:rPr lang="en-US" altLang="zh-CN" sz="2800" b="0" i="0" u="none" strike="noStrike" kern="1200" cap="none" spc="0" baseline="0" dirty="0" err="1">
                <a:solidFill>
                  <a:schemeClr val="tx1"/>
                </a:solidFill>
                <a:latin typeface="微软雅黑" charset="0"/>
                <a:ea typeface="微软雅黑" charset="0"/>
                <a:cs typeface="Arial" pitchFamily="34" charset="0"/>
              </a:rPr>
              <a:t>常见问题</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Tree>
    <p:extLst>
      <p:ext uri="{BB962C8B-B14F-4D97-AF65-F5344CB8AC3E}">
        <p14:creationId xmlns:p14="http://schemas.microsoft.com/office/powerpoint/2010/main" val="1808810893"/>
      </p:ext>
    </p:extLst>
  </p:cSld>
  <p:clrMapOvr>
    <a:masterClrMapping/>
  </p:clrMapOvr>
  <p:transition advTm="5185"/>
</p:sld>
</file>

<file path=ppt/slides/slide23.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38"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39" name="矩形"/>
          <p:cNvSpPr>
            <a:spLocks/>
          </p:cNvSpPr>
          <p:nvPr/>
        </p:nvSpPr>
        <p:spPr>
          <a:xfrm>
            <a:off x="0" y="0"/>
            <a:ext cx="9144000" cy="0"/>
          </a:xfrm>
          <a:prstGeom prst="rect">
            <a:avLst/>
          </a:prstGeom>
          <a:noFill/>
          <a:ln w="9525" cap="flat" cmpd="sng">
            <a:noFill/>
            <a:prstDash val="solid"/>
            <a:round/>
          </a:ln>
        </p:spPr>
      </p:sp>
      <p:sp>
        <p:nvSpPr>
          <p:cNvPr id="340"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4 </a:t>
            </a:r>
            <a:r>
              <a:rPr lang="zh-CN" altLang="en-US" sz="2800" b="1" i="0" u="none" strike="noStrike" kern="1200" cap="none" spc="0" baseline="0" dirty="0">
                <a:solidFill>
                  <a:schemeClr val="accent2"/>
                </a:solidFill>
                <a:latin typeface="微软雅黑" charset="0"/>
                <a:ea typeface="微软雅黑" charset="0"/>
                <a:cs typeface="Verdana" pitchFamily="34" charset="0"/>
              </a:rPr>
              <a:t>更多模式功能</a:t>
            </a:r>
          </a:p>
        </p:txBody>
      </p:sp>
      <p:sp>
        <p:nvSpPr>
          <p:cNvPr id="341"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4.1 </a:t>
            </a:r>
            <a:r>
              <a:rPr lang="zh-CN" altLang="en-US" sz="2800" b="0" i="0" u="none" strike="noStrike" kern="1200" cap="none" spc="0" baseline="0" dirty="0">
                <a:solidFill>
                  <a:schemeClr val="tx1"/>
                </a:solidFill>
                <a:latin typeface="Verdana" pitchFamily="34" charset="0"/>
                <a:ea typeface="宋体" charset="0"/>
                <a:cs typeface="Verdana" pitchFamily="34" charset="0"/>
              </a:rPr>
              <a:t>其他元字符</a:t>
            </a:r>
          </a:p>
        </p:txBody>
      </p:sp>
      <p:sp>
        <p:nvSpPr>
          <p:cNvPr id="342" name="矩形"/>
          <p:cNvSpPr>
            <a:spLocks/>
          </p:cNvSpPr>
          <p:nvPr/>
        </p:nvSpPr>
        <p:spPr>
          <a:xfrm>
            <a:off x="765804" y="1894820"/>
            <a:ext cx="7696100" cy="3634741"/>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零宽界定符（</a:t>
            </a:r>
            <a:r>
              <a:rPr lang="en-US" altLang="zh-CN" sz="2000" b="0" i="0" u="none" strike="noStrike" kern="1200" cap="none" spc="0" baseline="0">
                <a:solidFill>
                  <a:schemeClr val="tx1"/>
                </a:solidFill>
                <a:latin typeface="Verdana" pitchFamily="34" charset="0"/>
                <a:ea typeface="宋体" charset="0"/>
                <a:cs typeface="Verdana" pitchFamily="34" charset="0"/>
              </a:rPr>
              <a:t>Zero-Width Assertions</a:t>
            </a:r>
            <a:r>
              <a:rPr lang="zh-CN" altLang="en-US" sz="2000" b="0" i="0" u="none" strike="noStrike" kern="1200" cap="none" spc="0" baseline="0">
                <a:solidFill>
                  <a:schemeClr val="tx1"/>
                </a:solidFill>
                <a:latin typeface="Verdana" pitchFamily="34" charset="0"/>
                <a:ea typeface="宋体" charset="0"/>
                <a:cs typeface="Verdana" pitchFamily="34" charset="0"/>
              </a:rPr>
              <a:t>），包括</a:t>
            </a:r>
            <a:r>
              <a:rPr lang="en-US" altLang="zh-CN" sz="2000" b="0" i="0" u="none" strike="noStrike" kern="1200" cap="none" spc="0" baseline="0">
                <a:solidFill>
                  <a:schemeClr val="tx1"/>
                </a:solidFill>
                <a:latin typeface="Verdana" pitchFamily="34" charset="0"/>
                <a:ea typeface="宋体" charset="0"/>
                <a:cs typeface="Verdana" pitchFamily="34" charset="0"/>
              </a:rPr>
              <a:t>\b</a:t>
            </a:r>
            <a:r>
              <a:rPr lang="zh-CN" altLang="en-US" sz="2000" b="0" i="0" u="none" strike="noStrike" kern="1200" cap="none" spc="0" baseline="0">
                <a:solidFill>
                  <a:schemeClr val="tx1"/>
                </a:solidFill>
                <a:latin typeface="Verdana" pitchFamily="34" charset="0"/>
                <a:ea typeface="宋体" charset="0"/>
                <a:cs typeface="Verdana" pitchFamily="34" charset="0"/>
              </a:rPr>
              <a:t>和</a:t>
            </a:r>
            <a:r>
              <a:rPr lang="en-US" altLang="zh-CN" sz="2000" b="0" i="0" u="none" strike="noStrike" kern="1200" cap="none" spc="0" baseline="0">
                <a:solidFill>
                  <a:schemeClr val="tx1"/>
                </a:solidFill>
                <a:latin typeface="Verdana" pitchFamily="34" charset="0"/>
                <a:ea typeface="宋体" charset="0"/>
                <a:cs typeface="Verdana" pitchFamily="34" charset="0"/>
              </a:rPr>
              <a:t>\B</a:t>
            </a:r>
            <a:r>
              <a:rPr lang="zh-CN" altLang="en-US" sz="2000" b="0" i="0" u="none" strike="noStrike" kern="1200" cap="none" spc="0" baseline="0">
                <a:solidFill>
                  <a:schemeClr val="tx1"/>
                </a:solidFill>
                <a:latin typeface="Verdana" pitchFamily="34" charset="0"/>
                <a:ea typeface="宋体" charset="0"/>
                <a:cs typeface="Verdana" pitchFamily="34" charset="0"/>
              </a:rPr>
              <a:t>。</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\b</a:t>
            </a:r>
            <a:r>
              <a:rPr lang="zh-CN" altLang="en-US" sz="2000" b="0" i="0" u="none" strike="noStrike" kern="1200" cap="none" spc="0" baseline="0">
                <a:solidFill>
                  <a:schemeClr val="tx1"/>
                </a:solidFill>
                <a:latin typeface="Verdana" pitchFamily="34" charset="0"/>
                <a:ea typeface="宋体" charset="0"/>
                <a:cs typeface="Verdana" pitchFamily="34" charset="0"/>
              </a:rPr>
              <a:t>表示单词边界。这是个零宽界定符，用以匹配单词的开头和结尾。之所以被称为零宽界定符，是因为它们如字面意思一样没有“宽度”，在正则表达式中，通常一个字符应对应匹配文本中的一个或数个字符，但零宽界定符不匹配任何字符。</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例如只匹配“</a:t>
            </a:r>
            <a:r>
              <a:rPr lang="en-US" altLang="zh-CN" sz="2000" b="0" i="0" u="none" strike="noStrike" kern="1200" cap="none" spc="0" baseline="0">
                <a:solidFill>
                  <a:schemeClr val="tx1"/>
                </a:solidFill>
                <a:latin typeface="Verdana" pitchFamily="34" charset="0"/>
                <a:ea typeface="宋体" charset="0"/>
                <a:cs typeface="Verdana" pitchFamily="34" charset="0"/>
              </a:rPr>
              <a:t>class</a:t>
            </a:r>
            <a:r>
              <a:rPr lang="zh-CN" altLang="en-US" sz="2000" b="0" i="0" u="none" strike="noStrike" kern="1200" cap="none" spc="0" baseline="0">
                <a:solidFill>
                  <a:schemeClr val="tx1"/>
                </a:solidFill>
                <a:latin typeface="Verdana" pitchFamily="34" charset="0"/>
                <a:ea typeface="宋体" charset="0"/>
                <a:cs typeface="Verdana" pitchFamily="34" charset="0"/>
              </a:rPr>
              <a:t>”整个单词；而当它被包含在其他单词中时不匹配，正则表达式可以写成：</a:t>
            </a:r>
            <a:r>
              <a:rPr lang="en-US" altLang="zh-CN" sz="2000" b="0" i="0" u="none" strike="noStrike" kern="1200" cap="none" spc="0" baseline="0">
                <a:solidFill>
                  <a:schemeClr val="tx1"/>
                </a:solidFill>
                <a:latin typeface="Consolas" pitchFamily="49" charset="0"/>
                <a:ea typeface="宋体" charset="0"/>
                <a:cs typeface="Consolas" pitchFamily="49" charset="0"/>
              </a:rPr>
              <a:t>r"\bclass\b"</a:t>
            </a: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Consolas" pitchFamily="49" charset="0"/>
              <a:ea typeface="宋体" charset="0"/>
              <a:cs typeface="Consolas" pitchFamily="49"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在</a:t>
            </a:r>
            <a:r>
              <a:rPr lang="en-US" altLang="zh-CN" sz="2000" b="0" i="0" u="none" strike="noStrike" kern="1200" cap="none" spc="0" baseline="0">
                <a:solidFill>
                  <a:schemeClr val="tx1"/>
                </a:solidFill>
                <a:latin typeface="Verdana" pitchFamily="34" charset="0"/>
                <a:ea typeface="宋体" charset="0"/>
                <a:cs typeface="Verdana" pitchFamily="34" charset="0"/>
              </a:rPr>
              <a:t>Python</a:t>
            </a:r>
            <a:r>
              <a:rPr lang="zh-CN" altLang="en-US" sz="2000" b="0" i="0" u="none" strike="noStrike" kern="1200" cap="none" spc="0" baseline="0">
                <a:solidFill>
                  <a:schemeClr val="tx1"/>
                </a:solidFill>
                <a:latin typeface="Verdana" pitchFamily="34" charset="0"/>
                <a:ea typeface="宋体" charset="0"/>
                <a:cs typeface="Verdana" pitchFamily="34" charset="0"/>
              </a:rPr>
              <a:t>字符串里，“</a:t>
            </a:r>
            <a:r>
              <a:rPr lang="en-US" altLang="zh-CN" sz="2000" b="0" i="0" u="none" strike="noStrike" kern="1200" cap="none" spc="0" baseline="0">
                <a:solidFill>
                  <a:schemeClr val="tx1"/>
                </a:solidFill>
                <a:latin typeface="Verdana" pitchFamily="34" charset="0"/>
                <a:ea typeface="宋体" charset="0"/>
                <a:cs typeface="Verdana" pitchFamily="34" charset="0"/>
              </a:rPr>
              <a:t>\b</a:t>
            </a:r>
            <a:r>
              <a:rPr lang="zh-CN" altLang="en-US" sz="2000" b="0" i="0" u="none" strike="noStrike" kern="1200" cap="none" spc="0" baseline="0">
                <a:solidFill>
                  <a:schemeClr val="tx1"/>
                </a:solidFill>
                <a:latin typeface="Verdana" pitchFamily="34" charset="0"/>
                <a:ea typeface="宋体" charset="0"/>
                <a:cs typeface="Verdana" pitchFamily="34" charset="0"/>
              </a:rPr>
              <a:t>”是回退符，使用原始字符串避免冲突。</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Consolas" pitchFamily="49" charset="0"/>
              <a:ea typeface="宋体" charset="0"/>
              <a:cs typeface="Consolas" pitchFamily="49"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\B</a:t>
            </a:r>
            <a:r>
              <a:rPr lang="zh-CN" altLang="en-US" sz="2000" b="0" i="0" u="none" strike="noStrike" kern="1200" cap="none" spc="0" baseline="0">
                <a:solidFill>
                  <a:schemeClr val="tx1"/>
                </a:solidFill>
                <a:latin typeface="Verdana" pitchFamily="34" charset="0"/>
                <a:ea typeface="宋体" charset="0"/>
                <a:cs typeface="Verdana" pitchFamily="34" charset="0"/>
              </a:rPr>
              <a:t>”作用正好同“</a:t>
            </a:r>
            <a:r>
              <a:rPr lang="en-US" altLang="zh-CN" sz="2000" b="0" i="0" u="none" strike="noStrike" kern="1200" cap="none" spc="0" baseline="0">
                <a:solidFill>
                  <a:schemeClr val="tx1"/>
                </a:solidFill>
                <a:latin typeface="Verdana" pitchFamily="34" charset="0"/>
                <a:ea typeface="宋体" charset="0"/>
                <a:cs typeface="Verdana" pitchFamily="34" charset="0"/>
              </a:rPr>
              <a:t>\b</a:t>
            </a:r>
            <a:r>
              <a:rPr lang="zh-CN" altLang="en-US" sz="2000" b="0" i="0" u="none" strike="noStrike" kern="1200" cap="none" spc="0" baseline="0">
                <a:solidFill>
                  <a:schemeClr val="tx1"/>
                </a:solidFill>
                <a:latin typeface="Verdana" pitchFamily="34" charset="0"/>
                <a:ea typeface="宋体" charset="0"/>
                <a:cs typeface="Verdana" pitchFamily="34" charset="0"/>
              </a:rPr>
              <a:t>”相反，只在当前位置不是单词边界时才匹配。</a:t>
            </a:r>
            <a:endParaRPr lang="zh-CN" altLang="en-US" sz="2000" b="0" i="0" u="none" strike="noStrike" kern="1200" cap="none" spc="0" baseline="0">
              <a:solidFill>
                <a:schemeClr val="tx1"/>
              </a:solidFill>
              <a:latin typeface="Consolas" pitchFamily="49" charset="0"/>
              <a:ea typeface="宋体" charset="0"/>
              <a:cs typeface="Consolas" pitchFamily="49" charset="0"/>
            </a:endParaRPr>
          </a:p>
        </p:txBody>
      </p:sp>
    </p:spTree>
    <p:extLst>
      <p:ext uri="{BB962C8B-B14F-4D97-AF65-F5344CB8AC3E}">
        <p14:creationId xmlns:p14="http://schemas.microsoft.com/office/powerpoint/2010/main" val="234701817"/>
      </p:ext>
    </p:extLst>
  </p:cSld>
  <p:clrMapOvr>
    <a:masterClrMapping/>
  </p:clrMapOvr>
  <p:transition spd="slow" advTm="7922"/>
</p:sld>
</file>

<file path=ppt/slides/slide24.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45"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46" name="矩形"/>
          <p:cNvSpPr>
            <a:spLocks/>
          </p:cNvSpPr>
          <p:nvPr/>
        </p:nvSpPr>
        <p:spPr>
          <a:xfrm>
            <a:off x="0" y="0"/>
            <a:ext cx="9144000" cy="0"/>
          </a:xfrm>
          <a:prstGeom prst="rect">
            <a:avLst/>
          </a:prstGeom>
          <a:noFill/>
          <a:ln w="9525" cap="flat" cmpd="sng">
            <a:noFill/>
            <a:prstDash val="solid"/>
            <a:round/>
          </a:ln>
        </p:spPr>
      </p:sp>
      <p:sp>
        <p:nvSpPr>
          <p:cNvPr id="347"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4 </a:t>
            </a:r>
            <a:r>
              <a:rPr lang="zh-CN" altLang="en-US" sz="2800" b="1" i="0" u="none" strike="noStrike" kern="1200" cap="none" spc="0" baseline="0" dirty="0">
                <a:solidFill>
                  <a:schemeClr val="accent2"/>
                </a:solidFill>
                <a:latin typeface="微软雅黑" charset="0"/>
                <a:ea typeface="微软雅黑" charset="0"/>
                <a:cs typeface="Verdana" pitchFamily="34" charset="0"/>
              </a:rPr>
              <a:t>更多模式功能</a:t>
            </a:r>
          </a:p>
        </p:txBody>
      </p:sp>
      <p:sp>
        <p:nvSpPr>
          <p:cNvPr id="348"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4.1 </a:t>
            </a:r>
            <a:r>
              <a:rPr lang="zh-CN" altLang="en-US" sz="2800" b="0" i="0" u="none" strike="noStrike" kern="1200" cap="none" spc="0" baseline="0" dirty="0">
                <a:solidFill>
                  <a:schemeClr val="tx1"/>
                </a:solidFill>
                <a:latin typeface="Verdana" pitchFamily="34" charset="0"/>
                <a:ea typeface="宋体" charset="0"/>
                <a:cs typeface="Verdana" pitchFamily="34" charset="0"/>
              </a:rPr>
              <a:t>其他元字符</a:t>
            </a:r>
          </a:p>
        </p:txBody>
      </p:sp>
      <p:sp>
        <p:nvSpPr>
          <p:cNvPr id="349" name="矩形"/>
          <p:cNvSpPr>
            <a:spLocks/>
          </p:cNvSpPr>
          <p:nvPr/>
        </p:nvSpPr>
        <p:spPr>
          <a:xfrm>
            <a:off x="765804" y="1894820"/>
            <a:ext cx="7696100" cy="363474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”为“或”操作符，如果</a:t>
            </a:r>
            <a:r>
              <a:rPr lang="en-US" altLang="zh-CN" sz="2000" b="0" i="0" u="none" strike="noStrike" kern="1200" cap="none" spc="0" baseline="0">
                <a:solidFill>
                  <a:schemeClr val="tx1"/>
                </a:solidFill>
                <a:latin typeface="Verdana" pitchFamily="34" charset="0"/>
                <a:ea typeface="宋体" charset="0"/>
                <a:cs typeface="Verdana" pitchFamily="34" charset="0"/>
              </a:rPr>
              <a:t>A</a:t>
            </a:r>
            <a:r>
              <a:rPr lang="zh-CN" altLang="en-US" sz="2000" b="0" i="0" u="none" strike="noStrike" kern="1200" cap="none" spc="0" baseline="0">
                <a:solidFill>
                  <a:schemeClr val="tx1"/>
                </a:solidFill>
                <a:latin typeface="Verdana" pitchFamily="34" charset="0"/>
                <a:ea typeface="宋体" charset="0"/>
                <a:cs typeface="Verdana" pitchFamily="34" charset="0"/>
              </a:rPr>
              <a:t>和</a:t>
            </a:r>
            <a:r>
              <a:rPr lang="en-US" altLang="zh-CN" sz="2000" b="0" i="0" u="none" strike="noStrike" kern="1200" cap="none" spc="0" baseline="0">
                <a:solidFill>
                  <a:schemeClr val="tx1"/>
                </a:solidFill>
                <a:latin typeface="Verdana" pitchFamily="34" charset="0"/>
                <a:ea typeface="宋体" charset="0"/>
                <a:cs typeface="Verdana" pitchFamily="34" charset="0"/>
              </a:rPr>
              <a:t>B</a:t>
            </a:r>
            <a:r>
              <a:rPr lang="zh-CN" altLang="en-US" sz="2000" b="0" i="0" u="none" strike="noStrike" kern="1200" cap="none" spc="0" baseline="0">
                <a:solidFill>
                  <a:schemeClr val="tx1"/>
                </a:solidFill>
                <a:latin typeface="Verdana" pitchFamily="34" charset="0"/>
                <a:ea typeface="宋体" charset="0"/>
                <a:cs typeface="Verdana" pitchFamily="34" charset="0"/>
              </a:rPr>
              <a:t>均为正则表达式，那么</a:t>
            </a:r>
            <a:r>
              <a:rPr lang="en-US" altLang="zh-CN" sz="2000" b="0" i="0" u="none" strike="noStrike" kern="1200" cap="none" spc="0" baseline="0">
                <a:solidFill>
                  <a:schemeClr val="tx1"/>
                </a:solidFill>
                <a:latin typeface="Verdana" pitchFamily="34" charset="0"/>
                <a:ea typeface="宋体" charset="0"/>
                <a:cs typeface="Verdana" pitchFamily="34" charset="0"/>
              </a:rPr>
              <a:t>A|B</a:t>
            </a:r>
            <a:r>
              <a:rPr lang="zh-CN" altLang="en-US" sz="2000" b="0" i="0" u="none" strike="noStrike" kern="1200" cap="none" spc="0" baseline="0">
                <a:solidFill>
                  <a:schemeClr val="tx1"/>
                </a:solidFill>
                <a:latin typeface="Verdana" pitchFamily="34" charset="0"/>
                <a:ea typeface="宋体" charset="0"/>
                <a:cs typeface="Verdana" pitchFamily="34" charset="0"/>
              </a:rPr>
              <a:t>将匹配任何匹配了</a:t>
            </a:r>
            <a:r>
              <a:rPr lang="en-US" altLang="zh-CN" sz="2000" b="0" i="0" u="none" strike="noStrike" kern="1200" cap="none" spc="0" baseline="0">
                <a:solidFill>
                  <a:schemeClr val="tx1"/>
                </a:solidFill>
                <a:latin typeface="Verdana" pitchFamily="34" charset="0"/>
                <a:ea typeface="宋体" charset="0"/>
                <a:cs typeface="Verdana" pitchFamily="34" charset="0"/>
              </a:rPr>
              <a:t>A</a:t>
            </a:r>
            <a:r>
              <a:rPr lang="zh-CN" altLang="en-US" sz="2000" b="0" i="0" u="none" strike="noStrike" kern="1200" cap="none" spc="0" baseline="0">
                <a:solidFill>
                  <a:schemeClr val="tx1"/>
                </a:solidFill>
                <a:latin typeface="Verdana" pitchFamily="34" charset="0"/>
                <a:ea typeface="宋体" charset="0"/>
                <a:cs typeface="Verdana" pitchFamily="34" charset="0"/>
              </a:rPr>
              <a:t>或</a:t>
            </a:r>
            <a:r>
              <a:rPr lang="en-US" altLang="zh-CN" sz="2000" b="0" i="0" u="none" strike="noStrike" kern="1200" cap="none" spc="0" baseline="0">
                <a:solidFill>
                  <a:schemeClr val="tx1"/>
                </a:solidFill>
                <a:latin typeface="Verdana" pitchFamily="34" charset="0"/>
                <a:ea typeface="宋体" charset="0"/>
                <a:cs typeface="Verdana" pitchFamily="34" charset="0"/>
              </a:rPr>
              <a:t>B</a:t>
            </a:r>
            <a:r>
              <a:rPr lang="zh-CN" altLang="en-US" sz="2000" b="0" i="0" u="none" strike="noStrike" kern="1200" cap="none" spc="0" baseline="0">
                <a:solidFill>
                  <a:schemeClr val="tx1"/>
                </a:solidFill>
                <a:latin typeface="Verdana" pitchFamily="34" charset="0"/>
                <a:ea typeface="宋体" charset="0"/>
                <a:cs typeface="Verdana" pitchFamily="34" charset="0"/>
              </a:rPr>
              <a:t>的字符串。“</a:t>
            </a:r>
            <a:r>
              <a:rPr lang="en-US" altLang="zh-CN" sz="2000" b="0" i="0" u="none" strike="noStrike" kern="1200" cap="none" spc="0" baseline="0">
                <a:solidFill>
                  <a:schemeClr val="tx1"/>
                </a:solidFill>
                <a:latin typeface="Verdana" pitchFamily="34" charset="0"/>
                <a:ea typeface="宋体" charset="0"/>
                <a:cs typeface="Verdana" pitchFamily="34" charset="0"/>
              </a:rPr>
              <a:t>Jump|Run</a:t>
            </a:r>
            <a:r>
              <a:rPr lang="zh-CN" altLang="en-US" sz="2000" b="0" i="0" u="none" strike="noStrike" kern="1200" cap="none" spc="0" baseline="0">
                <a:solidFill>
                  <a:schemeClr val="tx1"/>
                </a:solidFill>
                <a:latin typeface="Verdana" pitchFamily="34" charset="0"/>
                <a:ea typeface="宋体" charset="0"/>
                <a:cs typeface="Verdana" pitchFamily="34" charset="0"/>
              </a:rPr>
              <a:t>”将匹配字符串“</a:t>
            </a:r>
            <a:r>
              <a:rPr lang="en-US" altLang="zh-CN" sz="2000" b="0" i="0" u="none" strike="noStrike" kern="1200" cap="none" spc="0" baseline="0">
                <a:solidFill>
                  <a:schemeClr val="tx1"/>
                </a:solidFill>
                <a:latin typeface="Verdana" pitchFamily="34" charset="0"/>
                <a:ea typeface="宋体" charset="0"/>
                <a:cs typeface="Verdana" pitchFamily="34" charset="0"/>
              </a:rPr>
              <a:t>Jump</a:t>
            </a:r>
            <a:r>
              <a:rPr lang="zh-CN" altLang="en-US" sz="2000" b="0" i="0" u="none" strike="noStrike" kern="1200" cap="none" spc="0" baseline="0">
                <a:solidFill>
                  <a:schemeClr val="tx1"/>
                </a:solidFill>
                <a:latin typeface="Verdana" pitchFamily="34" charset="0"/>
                <a:ea typeface="宋体" charset="0"/>
                <a:cs typeface="Verdana" pitchFamily="34" charset="0"/>
              </a:rPr>
              <a:t>”或“</a:t>
            </a:r>
            <a:r>
              <a:rPr lang="en-US" altLang="zh-CN" sz="2000" b="0" i="0" u="none" strike="noStrike" kern="1200" cap="none" spc="0" baseline="0">
                <a:solidFill>
                  <a:schemeClr val="tx1"/>
                </a:solidFill>
                <a:latin typeface="Verdana" pitchFamily="34" charset="0"/>
                <a:ea typeface="宋体" charset="0"/>
                <a:cs typeface="Verdana" pitchFamily="34" charset="0"/>
              </a:rPr>
              <a:t>Run</a:t>
            </a:r>
            <a:r>
              <a:rPr lang="zh-CN" altLang="en-US" sz="2000" b="0" i="0" u="none" strike="noStrike" kern="1200" cap="none" spc="0" baseline="0">
                <a:solidFill>
                  <a:schemeClr val="tx1"/>
                </a:solidFill>
                <a:latin typeface="Verdana" pitchFamily="34" charset="0"/>
                <a:ea typeface="宋体" charset="0"/>
                <a:cs typeface="Verdana" pitchFamily="34" charset="0"/>
              </a:rPr>
              <a:t>”。</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Consolas" pitchFamily="49" charset="0"/>
              <a:ea typeface="宋体" charset="0"/>
              <a:cs typeface="Consolas" pitchFamily="49"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Consolas" pitchFamily="49" charset="0"/>
                <a:ea typeface="宋体" charset="0"/>
                <a:cs typeface="Consolas" pitchFamily="49"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Consolas" pitchFamily="49" charset="0"/>
                <a:ea typeface="宋体" charset="0"/>
                <a:cs typeface="Consolas" pitchFamily="49"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用于匹配行首，除非设置了</a:t>
            </a:r>
            <a:r>
              <a:rPr lang="en-US" altLang="zh-CN" sz="2000" b="0" i="0" u="none" strike="noStrike" kern="1200" cap="none" spc="0" baseline="0">
                <a:solidFill>
                  <a:schemeClr val="tx1"/>
                </a:solidFill>
                <a:latin typeface="Verdana" pitchFamily="34" charset="0"/>
                <a:ea typeface="宋体" charset="0"/>
                <a:cs typeface="Verdana" pitchFamily="34" charset="0"/>
              </a:rPr>
              <a:t>MULTILINE</a:t>
            </a:r>
            <a:r>
              <a:rPr lang="zh-CN" altLang="en-US" sz="2000" b="0" i="0" u="none" strike="noStrike" kern="1200" cap="none" spc="0" baseline="0">
                <a:solidFill>
                  <a:schemeClr val="tx1"/>
                </a:solidFill>
                <a:latin typeface="Verdana" pitchFamily="34" charset="0"/>
                <a:ea typeface="宋体" charset="0"/>
                <a:cs typeface="Verdana" pitchFamily="34" charset="0"/>
              </a:rPr>
              <a:t>标志，否则只匹配字符串开头的部分。设置了</a:t>
            </a:r>
            <a:r>
              <a:rPr lang="en-US" altLang="zh-CN" sz="2000" b="0" i="0" u="none" strike="noStrike" kern="1200" cap="none" spc="0" baseline="0">
                <a:solidFill>
                  <a:schemeClr val="tx1"/>
                </a:solidFill>
                <a:latin typeface="Verdana" pitchFamily="34" charset="0"/>
                <a:ea typeface="宋体" charset="0"/>
                <a:cs typeface="Verdana" pitchFamily="34" charset="0"/>
              </a:rPr>
              <a:t>MULTILINE</a:t>
            </a:r>
            <a:r>
              <a:rPr lang="zh-CN" altLang="en-US" sz="2000" b="0" i="0" u="none" strike="noStrike" kern="1200" cap="none" spc="0" baseline="0">
                <a:solidFill>
                  <a:schemeClr val="tx1"/>
                </a:solidFill>
                <a:latin typeface="Verdana" pitchFamily="34" charset="0"/>
                <a:ea typeface="宋体" charset="0"/>
                <a:cs typeface="Verdana" pitchFamily="34" charset="0"/>
              </a:rPr>
              <a:t>标志后，</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可以匹配每一行的开头。如果需要匹配在一行开头的“</a:t>
            </a:r>
            <a:r>
              <a:rPr lang="en-US" altLang="zh-CN" sz="2000" b="0" i="0" u="none" strike="noStrike" kern="1200" cap="none" spc="0" baseline="0">
                <a:solidFill>
                  <a:schemeClr val="tx1"/>
                </a:solidFill>
                <a:latin typeface="Verdana" pitchFamily="34" charset="0"/>
                <a:ea typeface="宋体" charset="0"/>
                <a:cs typeface="Verdana" pitchFamily="34" charset="0"/>
              </a:rPr>
              <a:t>From</a:t>
            </a:r>
            <a:r>
              <a:rPr lang="zh-CN" altLang="en-US" sz="2000" b="0" i="0" u="none" strike="noStrike" kern="1200" cap="none" spc="0" baseline="0">
                <a:solidFill>
                  <a:schemeClr val="tx1"/>
                </a:solidFill>
                <a:latin typeface="Verdana" pitchFamily="34" charset="0"/>
                <a:ea typeface="宋体" charset="0"/>
                <a:cs typeface="Verdana" pitchFamily="34" charset="0"/>
              </a:rPr>
              <a:t>”字符串，正则表达式可以写成“</a:t>
            </a:r>
            <a:r>
              <a:rPr lang="en-US" altLang="zh-CN" sz="2000" b="0" i="0" u="none" strike="noStrike" kern="1200" cap="none" spc="0" baseline="0">
                <a:solidFill>
                  <a:schemeClr val="tx1"/>
                </a:solidFill>
                <a:latin typeface="Verdana" pitchFamily="34" charset="0"/>
                <a:ea typeface="宋体" charset="0"/>
                <a:cs typeface="Verdana" pitchFamily="34" charset="0"/>
              </a:rPr>
              <a:t>^From</a:t>
            </a:r>
            <a:r>
              <a:rPr lang="zh-CN" altLang="en-US" sz="2000" b="0" i="0" u="none" strike="noStrike" kern="1200" cap="none" spc="0" baseline="0">
                <a:solidFill>
                  <a:schemeClr val="tx1"/>
                </a:solidFill>
                <a:latin typeface="Verdana" pitchFamily="34" charset="0"/>
                <a:ea typeface="宋体" charset="0"/>
                <a:cs typeface="Verdana" pitchFamily="34" charset="0"/>
              </a:rPr>
              <a:t>”。</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”与 </a:t>
            </a:r>
            <a:r>
              <a:rPr lang="zh-CN" altLang="en-US" sz="2000" b="0" i="0" u="none" strike="noStrike" kern="1200" cap="none" spc="0" baseline="0">
                <a:solidFill>
                  <a:schemeClr val="tx1"/>
                </a:solidFill>
                <a:latin typeface="Consolas" pitchFamily="49" charset="0"/>
                <a:ea typeface="宋体" charset="0"/>
                <a:cs typeface="Consolas" pitchFamily="49"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Consolas" pitchFamily="49" charset="0"/>
                <a:ea typeface="宋体" charset="0"/>
                <a:cs typeface="Consolas" pitchFamily="49"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正好相反，用于匹配行尾的字符串，行尾表示是一个字符串的结尾，或者任何后面紧跟着一个换行符的位置。</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zh-CN" altLang="en-US" sz="2000" b="0" i="0" u="none" strike="noStrike" kern="1200" cap="none" spc="0" baseline="0">
              <a:solidFill>
                <a:schemeClr val="tx1"/>
              </a:solidFill>
              <a:latin typeface="Consolas" pitchFamily="49" charset="0"/>
              <a:ea typeface="宋体" charset="0"/>
              <a:cs typeface="Consolas" pitchFamily="49" charset="0"/>
            </a:endParaRPr>
          </a:p>
        </p:txBody>
      </p:sp>
    </p:spTree>
    <p:extLst>
      <p:ext uri="{BB962C8B-B14F-4D97-AF65-F5344CB8AC3E}">
        <p14:creationId xmlns:p14="http://schemas.microsoft.com/office/powerpoint/2010/main" val="1683760959"/>
      </p:ext>
    </p:extLst>
  </p:cSld>
  <p:clrMapOvr>
    <a:masterClrMapping/>
  </p:clrMapOvr>
  <p:transition spd="slow" advTm="7922"/>
</p:sld>
</file>

<file path=ppt/slides/slide25.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52"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53" name="矩形"/>
          <p:cNvSpPr>
            <a:spLocks/>
          </p:cNvSpPr>
          <p:nvPr/>
        </p:nvSpPr>
        <p:spPr>
          <a:xfrm>
            <a:off x="0" y="0"/>
            <a:ext cx="9144000" cy="0"/>
          </a:xfrm>
          <a:prstGeom prst="rect">
            <a:avLst/>
          </a:prstGeom>
          <a:noFill/>
          <a:ln w="9525" cap="flat" cmpd="sng">
            <a:noFill/>
            <a:prstDash val="solid"/>
            <a:round/>
          </a:ln>
        </p:spPr>
      </p:sp>
      <p:sp>
        <p:nvSpPr>
          <p:cNvPr id="354"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4 </a:t>
            </a:r>
            <a:r>
              <a:rPr lang="zh-CN" altLang="en-US" sz="2800" b="1" i="0" u="none" strike="noStrike" kern="1200" cap="none" spc="0" baseline="0" dirty="0">
                <a:solidFill>
                  <a:schemeClr val="accent2"/>
                </a:solidFill>
                <a:latin typeface="微软雅黑" charset="0"/>
                <a:ea typeface="微软雅黑" charset="0"/>
                <a:cs typeface="Verdana" pitchFamily="34" charset="0"/>
              </a:rPr>
              <a:t>更多模式功能</a:t>
            </a:r>
          </a:p>
        </p:txBody>
      </p:sp>
      <p:sp>
        <p:nvSpPr>
          <p:cNvPr id="355"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4.2 </a:t>
            </a:r>
            <a:r>
              <a:rPr lang="zh-CN" altLang="en-US" sz="2800" b="0" i="0" u="none" strike="noStrike" kern="1200" cap="none" spc="0" baseline="0" dirty="0">
                <a:solidFill>
                  <a:schemeClr val="tx1"/>
                </a:solidFill>
                <a:latin typeface="Verdana" pitchFamily="34" charset="0"/>
                <a:ea typeface="宋体" charset="0"/>
                <a:cs typeface="Verdana" pitchFamily="34" charset="0"/>
              </a:rPr>
              <a:t>分组</a:t>
            </a:r>
          </a:p>
        </p:txBody>
      </p:sp>
      <p:sp>
        <p:nvSpPr>
          <p:cNvPr id="356" name="矩形"/>
          <p:cNvSpPr>
            <a:spLocks/>
          </p:cNvSpPr>
          <p:nvPr/>
        </p:nvSpPr>
        <p:spPr>
          <a:xfrm>
            <a:off x="765804" y="1894820"/>
            <a:ext cx="7696100" cy="422529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正则表达式也常用来分析字符串，我们可以编写一个正则表达式，匹配字符串中感兴趣的部分，并将其分成几个组（</a:t>
            </a:r>
            <a:r>
              <a:rPr lang="en-US" altLang="zh-CN" sz="2000" b="0" i="0" u="none" strike="noStrike" kern="1200" cap="none" spc="0" baseline="0">
                <a:solidFill>
                  <a:schemeClr val="tx1"/>
                </a:solidFill>
                <a:latin typeface="Verdana" pitchFamily="34" charset="0"/>
                <a:ea typeface="宋体" charset="0"/>
                <a:cs typeface="Verdana" pitchFamily="34" charset="0"/>
              </a:rPr>
              <a:t>Group</a:t>
            </a:r>
            <a:r>
              <a:rPr lang="zh-CN" altLang="en-US" sz="2000" b="0" i="0" u="none" strike="noStrike" kern="1200" cap="none" spc="0" baseline="0">
                <a:solidFill>
                  <a:schemeClr val="tx1"/>
                </a:solidFill>
                <a:latin typeface="Verdana" pitchFamily="34" charset="0"/>
                <a:ea typeface="宋体" charset="0"/>
                <a:cs typeface="Verdana" pitchFamily="34" charset="0"/>
              </a:rPr>
              <a:t>）。</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Consolas" pitchFamily="49" charset="0"/>
              <a:ea typeface="宋体" charset="0"/>
              <a:cs typeface="Consolas" pitchFamily="49"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分组是通过括号“</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”和“</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”元字符来标识的。位于它们之中的表达式组成一组例如，我们可以用重复限制符，例如</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以及</a:t>
            </a:r>
            <a:r>
              <a:rPr lang="en-US" altLang="zh-CN" sz="2000" b="0" i="0" u="none" strike="noStrike" kern="1200" cap="none" spc="0" baseline="0">
                <a:solidFill>
                  <a:schemeClr val="tx1"/>
                </a:solidFill>
                <a:latin typeface="Verdana" pitchFamily="34" charset="0"/>
                <a:ea typeface="宋体" charset="0"/>
                <a:cs typeface="Verdana" pitchFamily="34" charset="0"/>
              </a:rPr>
              <a:t>{m,n}</a:t>
            </a:r>
            <a:r>
              <a:rPr lang="zh-CN" altLang="en-US" sz="2000" b="0" i="0" u="none" strike="noStrike" kern="1200" cap="none" spc="0" baseline="0">
                <a:solidFill>
                  <a:schemeClr val="tx1"/>
                </a:solidFill>
                <a:latin typeface="Verdana" pitchFamily="34" charset="0"/>
                <a:ea typeface="宋体" charset="0"/>
                <a:cs typeface="Verdana" pitchFamily="34" charset="0"/>
              </a:rPr>
              <a:t>来重复组里的内容。比如</a:t>
            </a:r>
            <a:r>
              <a:rPr lang="en-US" altLang="zh-CN" sz="2000" b="0" i="0" u="none" strike="noStrike" kern="1200" cap="none" spc="0" baseline="0">
                <a:solidFill>
                  <a:schemeClr val="tx1"/>
                </a:solidFill>
                <a:latin typeface="Verdana" pitchFamily="34" charset="0"/>
                <a:ea typeface="宋体" charset="0"/>
                <a:cs typeface="Verdana" pitchFamily="34" charset="0"/>
              </a:rPr>
              <a:t>(ab)*</a:t>
            </a:r>
            <a:r>
              <a:rPr lang="zh-CN" altLang="en-US" sz="2000" b="0" i="0" u="none" strike="noStrike" kern="1200" cap="none" spc="0" baseline="0">
                <a:solidFill>
                  <a:schemeClr val="tx1"/>
                </a:solidFill>
                <a:latin typeface="Verdana" pitchFamily="34" charset="0"/>
                <a:ea typeface="宋体" charset="0"/>
                <a:cs typeface="Verdana" pitchFamily="34" charset="0"/>
              </a:rPr>
              <a:t>将匹配零或多个重复的“</a:t>
            </a:r>
            <a:r>
              <a:rPr lang="en-US" altLang="zh-CN" sz="2000" b="0" i="0" u="none" strike="noStrike" kern="1200" cap="none" spc="0" baseline="0">
                <a:solidFill>
                  <a:schemeClr val="tx1"/>
                </a:solidFill>
                <a:latin typeface="Verdana" pitchFamily="34" charset="0"/>
                <a:ea typeface="宋体" charset="0"/>
                <a:cs typeface="Verdana" pitchFamily="34" charset="0"/>
              </a:rPr>
              <a:t>ab</a:t>
            </a:r>
            <a:r>
              <a:rPr lang="zh-CN" altLang="en-US" sz="2000" b="0" i="0" u="none" strike="noStrike" kern="1200" cap="none" spc="0" baseline="0">
                <a:solidFill>
                  <a:schemeClr val="tx1"/>
                </a:solidFill>
                <a:latin typeface="Verdana" pitchFamily="34" charset="0"/>
                <a:ea typeface="宋体" charset="0"/>
                <a:cs typeface="Verdana" pitchFamily="34" charset="0"/>
              </a:rPr>
              <a:t>” ：</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r>
              <a:rPr lang="en-US" altLang="zh-CN" sz="2000" b="0" i="0" u="none" strike="noStrike" kern="1200" cap="none" spc="0" baseline="0">
                <a:solidFill>
                  <a:schemeClr val="tx1"/>
                </a:solidFill>
                <a:latin typeface="Consolas" pitchFamily="49" charset="0"/>
                <a:ea typeface="宋体" charset="0"/>
                <a:cs typeface="Consolas" pitchFamily="49" charset="0"/>
              </a:rPr>
              <a:t>&gt;&gt;&gt; p=re.compile('(ab)*')</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&gt;&gt;&gt; print(p.match('ababababab').span())</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(0, 10)</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分组总是从</a:t>
            </a:r>
            <a:r>
              <a:rPr lang="en-US" altLang="zh-CN" sz="2000" b="0" i="0" u="none" strike="noStrike" kern="1200" cap="none" spc="0" baseline="0">
                <a:solidFill>
                  <a:schemeClr val="tx1"/>
                </a:solidFill>
                <a:latin typeface="Verdana" pitchFamily="34" charset="0"/>
                <a:ea typeface="宋体" charset="0"/>
                <a:cs typeface="Verdana" pitchFamily="34" charset="0"/>
              </a:rPr>
              <a:t>0</a:t>
            </a:r>
            <a:r>
              <a:rPr lang="zh-CN" altLang="en-US" sz="2000" b="0" i="0" u="none" strike="noStrike" kern="1200" cap="none" spc="0" baseline="0">
                <a:solidFill>
                  <a:schemeClr val="tx1"/>
                </a:solidFill>
                <a:latin typeface="Verdana" pitchFamily="34" charset="0"/>
                <a:ea typeface="宋体" charset="0"/>
                <a:cs typeface="Verdana" pitchFamily="34" charset="0"/>
              </a:rPr>
              <a:t>开始计数的，而且第</a:t>
            </a:r>
            <a:r>
              <a:rPr lang="en-US" altLang="zh-CN" sz="2000" b="0" i="0" u="none" strike="noStrike" kern="1200" cap="none" spc="0" baseline="0">
                <a:solidFill>
                  <a:schemeClr val="tx1"/>
                </a:solidFill>
                <a:latin typeface="Verdana" pitchFamily="34" charset="0"/>
                <a:ea typeface="宋体" charset="0"/>
                <a:cs typeface="Verdana" pitchFamily="34" charset="0"/>
              </a:rPr>
              <a:t>0</a:t>
            </a:r>
            <a:r>
              <a:rPr lang="zh-CN" altLang="en-US" sz="2000" b="0" i="0" u="none" strike="noStrike" kern="1200" cap="none" spc="0" baseline="0">
                <a:solidFill>
                  <a:schemeClr val="tx1"/>
                </a:solidFill>
                <a:latin typeface="Verdana" pitchFamily="34" charset="0"/>
                <a:ea typeface="宋体" charset="0"/>
                <a:cs typeface="Verdana" pitchFamily="34" charset="0"/>
              </a:rPr>
              <a:t>组总是存在的，它就是不显式地使用分组时正则表达式所匹配的字符串，上述</a:t>
            </a:r>
            <a:r>
              <a:rPr lang="en-US" altLang="zh-CN" sz="2000" b="0" i="0" u="none" strike="noStrike" kern="1200" cap="none" spc="0" baseline="0">
                <a:solidFill>
                  <a:schemeClr val="tx1"/>
                </a:solidFill>
                <a:latin typeface="Verdana" pitchFamily="34" charset="0"/>
                <a:ea typeface="宋体" charset="0"/>
                <a:cs typeface="Verdana" pitchFamily="34" charset="0"/>
              </a:rPr>
              <a:t>match</a:t>
            </a:r>
            <a:r>
              <a:rPr lang="zh-CN" altLang="en-US" sz="2000" b="0" i="0" u="none" strike="noStrike" kern="1200" cap="none" spc="0" baseline="0">
                <a:solidFill>
                  <a:schemeClr val="tx1"/>
                </a:solidFill>
                <a:latin typeface="Verdana" pitchFamily="34" charset="0"/>
                <a:ea typeface="宋体" charset="0"/>
                <a:cs typeface="Verdana" pitchFamily="34" charset="0"/>
              </a:rPr>
              <a:t>对象的方法都把第</a:t>
            </a:r>
            <a:r>
              <a:rPr lang="en-US" altLang="zh-CN" sz="2000" b="0" i="0" u="none" strike="noStrike" kern="1200" cap="none" spc="0" baseline="0">
                <a:solidFill>
                  <a:schemeClr val="tx1"/>
                </a:solidFill>
                <a:latin typeface="Verdana" pitchFamily="34" charset="0"/>
                <a:ea typeface="宋体" charset="0"/>
                <a:cs typeface="Verdana" pitchFamily="34" charset="0"/>
              </a:rPr>
              <a:t>0</a:t>
            </a:r>
            <a:r>
              <a:rPr lang="zh-CN" altLang="en-US" sz="2000" b="0" i="0" u="none" strike="noStrike" kern="1200" cap="none" spc="0" baseline="0">
                <a:solidFill>
                  <a:schemeClr val="tx1"/>
                </a:solidFill>
                <a:latin typeface="Verdana" pitchFamily="34" charset="0"/>
                <a:ea typeface="宋体" charset="0"/>
                <a:cs typeface="Verdana" pitchFamily="34" charset="0"/>
              </a:rPr>
              <a:t>组作为它们的缺省参数。</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zh-CN" altLang="en-US" sz="2000" b="0" i="0" u="none" strike="noStrike" kern="1200" cap="none" spc="0" baseline="0">
              <a:solidFill>
                <a:schemeClr val="tx1"/>
              </a:solidFill>
              <a:latin typeface="Consolas" pitchFamily="49" charset="0"/>
              <a:ea typeface="宋体" charset="0"/>
              <a:cs typeface="Consolas" pitchFamily="49" charset="0"/>
            </a:endParaRPr>
          </a:p>
        </p:txBody>
      </p:sp>
    </p:spTree>
    <p:extLst>
      <p:ext uri="{BB962C8B-B14F-4D97-AF65-F5344CB8AC3E}">
        <p14:creationId xmlns:p14="http://schemas.microsoft.com/office/powerpoint/2010/main" val="1317859862"/>
      </p:ext>
    </p:extLst>
  </p:cSld>
  <p:clrMapOvr>
    <a:masterClrMapping/>
  </p:clrMapOvr>
  <p:transition spd="slow" advTm="7922"/>
</p:sld>
</file>

<file path=ppt/slides/slide26.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59"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60" name="矩形"/>
          <p:cNvSpPr>
            <a:spLocks/>
          </p:cNvSpPr>
          <p:nvPr/>
        </p:nvSpPr>
        <p:spPr>
          <a:xfrm>
            <a:off x="0" y="0"/>
            <a:ext cx="9144000" cy="0"/>
          </a:xfrm>
          <a:prstGeom prst="rect">
            <a:avLst/>
          </a:prstGeom>
          <a:noFill/>
          <a:ln w="9525" cap="flat" cmpd="sng">
            <a:noFill/>
            <a:prstDash val="solid"/>
            <a:round/>
          </a:ln>
        </p:spPr>
      </p:sp>
      <p:sp>
        <p:nvSpPr>
          <p:cNvPr id="361"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4 </a:t>
            </a:r>
            <a:r>
              <a:rPr lang="zh-CN" altLang="en-US" sz="2800" b="1" i="0" u="none" strike="noStrike" kern="1200" cap="none" spc="0" baseline="0" dirty="0">
                <a:solidFill>
                  <a:schemeClr val="accent2"/>
                </a:solidFill>
                <a:latin typeface="微软雅黑" charset="0"/>
                <a:ea typeface="微软雅黑" charset="0"/>
                <a:cs typeface="Verdana" pitchFamily="34" charset="0"/>
              </a:rPr>
              <a:t>更多模式功能</a:t>
            </a:r>
          </a:p>
        </p:txBody>
      </p:sp>
      <p:sp>
        <p:nvSpPr>
          <p:cNvPr id="362"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4.2 </a:t>
            </a:r>
            <a:r>
              <a:rPr lang="zh-CN" altLang="en-US" sz="2800" b="0" i="0" u="none" strike="noStrike" kern="1200" cap="none" spc="0" baseline="0" dirty="0">
                <a:solidFill>
                  <a:schemeClr val="tx1"/>
                </a:solidFill>
                <a:latin typeface="Verdana" pitchFamily="34" charset="0"/>
                <a:ea typeface="宋体" charset="0"/>
                <a:cs typeface="Verdana" pitchFamily="34" charset="0"/>
              </a:rPr>
              <a:t>分组</a:t>
            </a:r>
          </a:p>
        </p:txBody>
      </p:sp>
      <p:sp>
        <p:nvSpPr>
          <p:cNvPr id="363" name="矩形"/>
          <p:cNvSpPr>
            <a:spLocks/>
          </p:cNvSpPr>
          <p:nvPr/>
        </p:nvSpPr>
        <p:spPr>
          <a:xfrm>
            <a:off x="765804" y="1894820"/>
            <a:ext cx="7696100" cy="186309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通过分组方法获得的小组（</a:t>
            </a:r>
            <a:r>
              <a:rPr lang="en-US" altLang="zh-CN" sz="2000" b="0" i="0" u="none" strike="noStrike" kern="1200" cap="none" spc="0" baseline="0">
                <a:solidFill>
                  <a:schemeClr val="tx1"/>
                </a:solidFill>
                <a:latin typeface="Verdana" pitchFamily="34" charset="0"/>
                <a:ea typeface="宋体" charset="0"/>
                <a:cs typeface="Verdana" pitchFamily="34" charset="0"/>
              </a:rPr>
              <a:t>Subgroups</a:t>
            </a:r>
            <a:r>
              <a:rPr lang="zh-CN" altLang="en-US" sz="2000" b="0" i="0" u="none" strike="noStrike" kern="1200" cap="none" spc="0" baseline="0">
                <a:solidFill>
                  <a:schemeClr val="tx1"/>
                </a:solidFill>
                <a:latin typeface="Verdana" pitchFamily="34" charset="0"/>
                <a:ea typeface="宋体" charset="0"/>
                <a:cs typeface="Verdana" pitchFamily="34" charset="0"/>
              </a:rPr>
              <a:t>）是从</a:t>
            </a:r>
            <a:r>
              <a:rPr lang="en-US" altLang="zh-CN" sz="2000" b="0" i="0" u="none" strike="noStrike" kern="1200" cap="none" spc="0" baseline="0">
                <a:solidFill>
                  <a:schemeClr val="tx1"/>
                </a:solidFill>
                <a:latin typeface="Verdana" pitchFamily="34" charset="0"/>
                <a:ea typeface="宋体" charset="0"/>
                <a:cs typeface="Verdana" pitchFamily="34" charset="0"/>
              </a:rPr>
              <a:t>1</a:t>
            </a:r>
            <a:r>
              <a:rPr lang="zh-CN" altLang="en-US" sz="2000" b="0" i="0" u="none" strike="noStrike" kern="1200" cap="none" spc="0" baseline="0">
                <a:solidFill>
                  <a:schemeClr val="tx1"/>
                </a:solidFill>
                <a:latin typeface="Verdana" pitchFamily="34" charset="0"/>
                <a:ea typeface="宋体" charset="0"/>
                <a:cs typeface="Verdana" pitchFamily="34" charset="0"/>
              </a:rPr>
              <a:t>开始从左向右计数的。</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组可以被嵌套，计数的值可以通过从左向右计算括号“</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”的数目来确定，第</a:t>
            </a:r>
            <a:r>
              <a:rPr lang="en-US" altLang="zh-CN" sz="2000" b="0" i="0" u="none" strike="noStrike" kern="1200" cap="none" spc="0" baseline="0">
                <a:solidFill>
                  <a:schemeClr val="tx1"/>
                </a:solidFill>
                <a:latin typeface="Verdana" pitchFamily="34" charset="0"/>
                <a:ea typeface="宋体" charset="0"/>
                <a:cs typeface="Verdana" pitchFamily="34" charset="0"/>
              </a:rPr>
              <a:t>0</a:t>
            </a:r>
            <a:r>
              <a:rPr lang="zh-CN" altLang="en-US" sz="2000" b="0" i="0" u="none" strike="noStrike" kern="1200" cap="none" spc="0" baseline="0">
                <a:solidFill>
                  <a:schemeClr val="tx1"/>
                </a:solidFill>
                <a:latin typeface="Verdana" pitchFamily="34" charset="0"/>
                <a:ea typeface="宋体" charset="0"/>
                <a:cs typeface="Verdana" pitchFamily="34" charset="0"/>
              </a:rPr>
              <a:t>组即</a:t>
            </a:r>
            <a:r>
              <a:rPr lang="en-US" altLang="zh-CN" sz="2000" b="0" i="0" u="none" strike="noStrike" kern="1200" cap="none" spc="0" baseline="0">
                <a:solidFill>
                  <a:schemeClr val="tx1"/>
                </a:solidFill>
                <a:latin typeface="Verdana" pitchFamily="34" charset="0"/>
                <a:ea typeface="宋体" charset="0"/>
                <a:cs typeface="Verdana" pitchFamily="34" charset="0"/>
              </a:rPr>
              <a:t>group(0)</a:t>
            </a:r>
            <a:r>
              <a:rPr lang="zh-CN" altLang="en-US" sz="2000" b="0" i="0" u="none" strike="noStrike" kern="1200" cap="none" spc="0" baseline="0">
                <a:solidFill>
                  <a:schemeClr val="tx1"/>
                </a:solidFill>
                <a:latin typeface="Verdana" pitchFamily="34" charset="0"/>
                <a:ea typeface="宋体" charset="0"/>
                <a:cs typeface="Verdana" pitchFamily="34" charset="0"/>
              </a:rPr>
              <a:t>是一个特殊的组，它是不采取分组时，正则表达式所匹配的字符串</a:t>
            </a:r>
            <a:endParaRPr lang="zh-CN" altLang="en-US" sz="2000" b="0" i="0" u="none" strike="noStrike" kern="1200" cap="none" spc="0" baseline="0">
              <a:solidFill>
                <a:schemeClr val="tx1"/>
              </a:solidFill>
              <a:latin typeface="Consolas" pitchFamily="49" charset="0"/>
              <a:ea typeface="宋体" charset="0"/>
              <a:cs typeface="Consolas" pitchFamily="49" charset="0"/>
            </a:endParaRPr>
          </a:p>
        </p:txBody>
      </p:sp>
    </p:spTree>
    <p:extLst>
      <p:ext uri="{BB962C8B-B14F-4D97-AF65-F5344CB8AC3E}">
        <p14:creationId xmlns:p14="http://schemas.microsoft.com/office/powerpoint/2010/main" val="901987713"/>
      </p:ext>
    </p:extLst>
  </p:cSld>
  <p:clrMapOvr>
    <a:masterClrMapping/>
  </p:clrMapOvr>
  <p:transition spd="slow" advTm="7922"/>
</p:sld>
</file>

<file path=ppt/slides/slide27.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66"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67" name="矩形"/>
          <p:cNvSpPr>
            <a:spLocks/>
          </p:cNvSpPr>
          <p:nvPr/>
        </p:nvSpPr>
        <p:spPr>
          <a:xfrm>
            <a:off x="0" y="0"/>
            <a:ext cx="9144000" cy="0"/>
          </a:xfrm>
          <a:prstGeom prst="rect">
            <a:avLst/>
          </a:prstGeom>
          <a:noFill/>
          <a:ln w="9525" cap="flat" cmpd="sng">
            <a:noFill/>
            <a:prstDash val="solid"/>
            <a:round/>
          </a:ln>
        </p:spPr>
      </p:sp>
      <p:sp>
        <p:nvSpPr>
          <p:cNvPr id="368"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4 </a:t>
            </a:r>
            <a:r>
              <a:rPr lang="zh-CN" altLang="en-US" sz="2800" b="1" i="0" u="none" strike="noStrike" kern="1200" cap="none" spc="0" baseline="0" dirty="0">
                <a:solidFill>
                  <a:schemeClr val="accent2"/>
                </a:solidFill>
                <a:latin typeface="微软雅黑" charset="0"/>
                <a:ea typeface="微软雅黑" charset="0"/>
                <a:cs typeface="Verdana" pitchFamily="34" charset="0"/>
              </a:rPr>
              <a:t>更多模式功能</a:t>
            </a:r>
          </a:p>
        </p:txBody>
      </p:sp>
      <p:sp>
        <p:nvSpPr>
          <p:cNvPr id="369"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4.2 </a:t>
            </a:r>
            <a:r>
              <a:rPr lang="zh-CN" altLang="en-US" sz="2800" b="0" i="0" u="none" strike="noStrike" kern="1200" cap="none" spc="0" baseline="0" dirty="0">
                <a:solidFill>
                  <a:schemeClr val="tx1"/>
                </a:solidFill>
                <a:latin typeface="Verdana" pitchFamily="34" charset="0"/>
                <a:ea typeface="宋体" charset="0"/>
                <a:cs typeface="Verdana" pitchFamily="34" charset="0"/>
              </a:rPr>
              <a:t>分组</a:t>
            </a:r>
          </a:p>
        </p:txBody>
      </p:sp>
      <p:sp>
        <p:nvSpPr>
          <p:cNvPr id="370" name="矩形"/>
          <p:cNvSpPr>
            <a:spLocks/>
          </p:cNvSpPr>
          <p:nvPr/>
        </p:nvSpPr>
        <p:spPr>
          <a:xfrm>
            <a:off x="765804" y="1894820"/>
            <a:ext cx="7696100" cy="3339465"/>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一个匹配模式中的逆向引用（</a:t>
            </a:r>
            <a:r>
              <a:rPr lang="en-US" altLang="zh-CN" sz="2000" b="0" i="0" u="none" strike="noStrike" kern="1200" cap="none" spc="0" baseline="0">
                <a:solidFill>
                  <a:schemeClr val="tx1"/>
                </a:solidFill>
                <a:latin typeface="Verdana" pitchFamily="34" charset="0"/>
                <a:ea typeface="宋体" charset="0"/>
                <a:cs typeface="Verdana" pitchFamily="34" charset="0"/>
              </a:rPr>
              <a:t>Backreferences</a:t>
            </a:r>
            <a:r>
              <a:rPr lang="zh-CN" altLang="en-US" sz="2000" b="0" i="0" u="none" strike="noStrike" kern="1200" cap="none" spc="0" baseline="0">
                <a:solidFill>
                  <a:schemeClr val="tx1"/>
                </a:solidFill>
                <a:latin typeface="Verdana" pitchFamily="34" charset="0"/>
                <a:ea typeface="宋体" charset="0"/>
                <a:cs typeface="Verdana" pitchFamily="34" charset="0"/>
              </a:rPr>
              <a:t>）允许我们指定一个先前分组所获得的内容，并且该内容在当前位置也能找到。用法为反斜杠后紧跟一个分组号。例如，我们有一个逆向引用“</a:t>
            </a:r>
            <a:r>
              <a:rPr lang="en-US" altLang="zh-CN" sz="2000" b="0" i="0" u="none" strike="noStrike" kern="1200" cap="none" spc="0" baseline="0">
                <a:solidFill>
                  <a:schemeClr val="tx1"/>
                </a:solidFill>
                <a:latin typeface="Verdana" pitchFamily="34" charset="0"/>
                <a:ea typeface="宋体" charset="0"/>
                <a:cs typeface="Verdana" pitchFamily="34" charset="0"/>
              </a:rPr>
              <a:t>\1</a:t>
            </a:r>
            <a:r>
              <a:rPr lang="zh-CN" altLang="en-US" sz="2000" b="0" i="0" u="none" strike="noStrike" kern="1200" cap="none" spc="0" baseline="0">
                <a:solidFill>
                  <a:schemeClr val="tx1"/>
                </a:solidFill>
                <a:latin typeface="Verdana" pitchFamily="34" charset="0"/>
                <a:ea typeface="宋体" charset="0"/>
                <a:cs typeface="Verdana" pitchFamily="34" charset="0"/>
              </a:rPr>
              <a:t>”，用于指定分组</a:t>
            </a:r>
            <a:r>
              <a:rPr lang="en-US" altLang="zh-CN" sz="2000" b="0" i="0" u="none" strike="noStrike" kern="1200" cap="none" spc="0" baseline="0">
                <a:solidFill>
                  <a:schemeClr val="tx1"/>
                </a:solidFill>
                <a:latin typeface="Verdana" pitchFamily="34" charset="0"/>
                <a:ea typeface="宋体" charset="0"/>
                <a:cs typeface="Verdana" pitchFamily="34" charset="0"/>
              </a:rPr>
              <a:t>1</a:t>
            </a:r>
            <a:r>
              <a:rPr lang="zh-CN" altLang="en-US" sz="2000" b="0" i="0" u="none" strike="noStrike" kern="1200" cap="none" spc="0" baseline="0">
                <a:solidFill>
                  <a:schemeClr val="tx1"/>
                </a:solidFill>
                <a:latin typeface="Verdana" pitchFamily="34" charset="0"/>
                <a:ea typeface="宋体" charset="0"/>
                <a:cs typeface="Verdana" pitchFamily="34" charset="0"/>
              </a:rPr>
              <a:t>，假设分组</a:t>
            </a:r>
            <a:r>
              <a:rPr lang="en-US" altLang="zh-CN" sz="2000" b="0" i="0" u="none" strike="noStrike" kern="1200" cap="none" spc="0" baseline="0">
                <a:solidFill>
                  <a:schemeClr val="tx1"/>
                </a:solidFill>
                <a:latin typeface="Verdana" pitchFamily="34" charset="0"/>
                <a:ea typeface="宋体" charset="0"/>
                <a:cs typeface="Verdana" pitchFamily="34" charset="0"/>
              </a:rPr>
              <a:t>1</a:t>
            </a:r>
            <a:r>
              <a:rPr lang="zh-CN" altLang="en-US" sz="2000" b="0" i="0" u="none" strike="noStrike" kern="1200" cap="none" spc="0" baseline="0">
                <a:solidFill>
                  <a:schemeClr val="tx1"/>
                </a:solidFill>
                <a:latin typeface="Verdana" pitchFamily="34" charset="0"/>
                <a:ea typeface="宋体" charset="0"/>
                <a:cs typeface="Verdana" pitchFamily="34" charset="0"/>
              </a:rPr>
              <a:t>的内容为一个单词“</a:t>
            </a:r>
            <a:r>
              <a:rPr lang="en-US" altLang="zh-CN" sz="2000" b="0" i="0" u="none" strike="noStrike" kern="1200" cap="none" spc="0" baseline="0">
                <a:solidFill>
                  <a:schemeClr val="tx1"/>
                </a:solidFill>
                <a:latin typeface="Verdana" pitchFamily="34" charset="0"/>
                <a:ea typeface="宋体" charset="0"/>
                <a:cs typeface="Verdana" pitchFamily="34" charset="0"/>
              </a:rPr>
              <a:t>book</a:t>
            </a:r>
            <a:r>
              <a:rPr lang="zh-CN" altLang="en-US" sz="2000" b="0" i="0" u="none" strike="noStrike" kern="1200" cap="none" spc="0" baseline="0">
                <a:solidFill>
                  <a:schemeClr val="tx1"/>
                </a:solidFill>
                <a:latin typeface="Verdana" pitchFamily="34" charset="0"/>
                <a:ea typeface="宋体" charset="0"/>
                <a:cs typeface="Verdana" pitchFamily="34" charset="0"/>
              </a:rPr>
              <a:t>”，如果在逆向应用出现的位置正好也是单词“</a:t>
            </a:r>
            <a:r>
              <a:rPr lang="en-US" altLang="zh-CN" sz="2000" b="0" i="0" u="none" strike="noStrike" kern="1200" cap="none" spc="0" baseline="0">
                <a:solidFill>
                  <a:schemeClr val="tx1"/>
                </a:solidFill>
                <a:latin typeface="Verdana" pitchFamily="34" charset="0"/>
                <a:ea typeface="宋体" charset="0"/>
                <a:cs typeface="Verdana" pitchFamily="34" charset="0"/>
              </a:rPr>
              <a:t>book</a:t>
            </a:r>
            <a:r>
              <a:rPr lang="zh-CN" altLang="en-US" sz="2000" b="0" i="0" u="none" strike="noStrike" kern="1200" cap="none" spc="0" baseline="0">
                <a:solidFill>
                  <a:schemeClr val="tx1"/>
                </a:solidFill>
                <a:latin typeface="Verdana" pitchFamily="34" charset="0"/>
                <a:ea typeface="宋体" charset="0"/>
                <a:cs typeface="Verdana" pitchFamily="34" charset="0"/>
              </a:rPr>
              <a:t>”，那这个匹配就会成功，否则失败。例如，下面的正则表达式会找出在字符串中被连续输入了两次的单词：</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r>
              <a:rPr lang="en-US" altLang="zh-CN" sz="2000" b="0" i="0" u="none" strike="noStrike" kern="1200" cap="none" spc="0" baseline="0">
                <a:solidFill>
                  <a:schemeClr val="tx1"/>
                </a:solidFill>
                <a:latin typeface="Consolas" pitchFamily="49" charset="0"/>
                <a:ea typeface="宋体" charset="0"/>
                <a:cs typeface="Consolas" pitchFamily="49" charset="0"/>
              </a:rPr>
              <a:t>&gt;&gt;&gt; p=re.compile(r'(\b\w+)\s+\1')</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&gt;&gt;&gt; p.search('Find the the book').group()</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'the the'</a:t>
            </a:r>
          </a:p>
          <a:p>
            <a:pPr marL="0" indent="0" algn="l">
              <a:lnSpc>
                <a:spcPct val="100000"/>
              </a:lnSpc>
              <a:spcBef>
                <a:spcPts val="0"/>
              </a:spcBef>
              <a:spcAft>
                <a:spcPts val="0"/>
              </a:spcAft>
              <a:buNone/>
            </a:pPr>
            <a:endParaRPr lang="zh-CN" altLang="en-US" sz="2000" b="0" i="0" u="none" strike="noStrike" kern="1200" cap="none" spc="0" baseline="0">
              <a:solidFill>
                <a:schemeClr val="tx1"/>
              </a:solidFill>
              <a:latin typeface="Consolas" pitchFamily="49" charset="0"/>
              <a:ea typeface="宋体" charset="0"/>
              <a:cs typeface="Consolas" pitchFamily="49" charset="0"/>
            </a:endParaRPr>
          </a:p>
        </p:txBody>
      </p:sp>
    </p:spTree>
    <p:extLst>
      <p:ext uri="{BB962C8B-B14F-4D97-AF65-F5344CB8AC3E}">
        <p14:creationId xmlns:p14="http://schemas.microsoft.com/office/powerpoint/2010/main" val="238555066"/>
      </p:ext>
    </p:extLst>
  </p:cSld>
  <p:clrMapOvr>
    <a:masterClrMapping/>
  </p:clrMapOvr>
  <p:transition spd="slow" advTm="7922"/>
</p:sld>
</file>

<file path=ppt/slides/slide28.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73"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74" name="矩形"/>
          <p:cNvSpPr>
            <a:spLocks/>
          </p:cNvSpPr>
          <p:nvPr/>
        </p:nvSpPr>
        <p:spPr>
          <a:xfrm>
            <a:off x="0" y="0"/>
            <a:ext cx="9144000" cy="0"/>
          </a:xfrm>
          <a:prstGeom prst="rect">
            <a:avLst/>
          </a:prstGeom>
          <a:noFill/>
          <a:ln w="9525" cap="flat" cmpd="sng">
            <a:noFill/>
            <a:prstDash val="solid"/>
            <a:round/>
          </a:ln>
        </p:spPr>
      </p:sp>
      <p:sp>
        <p:nvSpPr>
          <p:cNvPr id="375"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4 </a:t>
            </a:r>
            <a:r>
              <a:rPr lang="zh-CN" altLang="en-US" sz="2800" b="1" i="0" u="none" strike="noStrike" kern="1200" cap="none" spc="0" baseline="0" dirty="0">
                <a:solidFill>
                  <a:schemeClr val="accent2"/>
                </a:solidFill>
                <a:latin typeface="微软雅黑" charset="0"/>
                <a:ea typeface="微软雅黑" charset="0"/>
                <a:cs typeface="Verdana" pitchFamily="34" charset="0"/>
              </a:rPr>
              <a:t>更多模式功能</a:t>
            </a:r>
          </a:p>
        </p:txBody>
      </p:sp>
      <p:sp>
        <p:nvSpPr>
          <p:cNvPr id="376"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4.3 </a:t>
            </a:r>
            <a:r>
              <a:rPr lang="zh-CN" altLang="en-US" sz="2800" b="0" i="0" u="none" strike="noStrike" kern="1200" cap="none" spc="0" baseline="0" dirty="0">
                <a:solidFill>
                  <a:schemeClr val="tx1"/>
                </a:solidFill>
                <a:latin typeface="Verdana" pitchFamily="34" charset="0"/>
                <a:ea typeface="宋体" charset="0"/>
                <a:cs typeface="Verdana" pitchFamily="34" charset="0"/>
              </a:rPr>
              <a:t>无捕获组和命名组</a:t>
            </a:r>
          </a:p>
        </p:txBody>
      </p:sp>
      <p:sp>
        <p:nvSpPr>
          <p:cNvPr id="377" name="矩形"/>
          <p:cNvSpPr>
            <a:spLocks/>
          </p:cNvSpPr>
          <p:nvPr/>
        </p:nvSpPr>
        <p:spPr>
          <a:xfrm>
            <a:off x="765804" y="1894820"/>
            <a:ext cx="7696100" cy="2748915"/>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正则表达式会使用很多组，既可以捕获我们感兴趣的子串，又可以分组和结构化表达式本身。在复杂的正则表达式中，追踪组号将变得困难。</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“无捕获组”与“命名组”这两个功能可以对这个问题有所帮助。它们也都使用正则表达式扩展的通用语法。</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Consolas" pitchFamily="49" charset="0"/>
              <a:ea typeface="宋体" charset="0"/>
              <a:cs typeface="Consolas" pitchFamily="49"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紧跟在问号后面的字符说明了扩展的内容，例如“</a:t>
            </a:r>
            <a:r>
              <a:rPr lang="en-US" altLang="zh-CN" sz="2000" b="0" i="0" u="none" strike="noStrike" kern="1200" cap="none" spc="0" baseline="0">
                <a:solidFill>
                  <a:schemeClr val="tx1"/>
                </a:solidFill>
                <a:latin typeface="Verdana" pitchFamily="34" charset="0"/>
                <a:ea typeface="宋体" charset="0"/>
                <a:cs typeface="Verdana" pitchFamily="34" charset="0"/>
              </a:rPr>
              <a:t>(?=foo)</a:t>
            </a:r>
            <a:r>
              <a:rPr lang="zh-CN" altLang="en-US" sz="2000" b="0" i="0" u="none" strike="noStrike" kern="1200" cap="none" spc="0" baseline="0">
                <a:solidFill>
                  <a:schemeClr val="tx1"/>
                </a:solidFill>
                <a:latin typeface="Verdana" pitchFamily="34" charset="0"/>
                <a:ea typeface="宋体" charset="0"/>
                <a:cs typeface="Verdana" pitchFamily="34" charset="0"/>
              </a:rPr>
              <a:t>”表示一个肯定前向界定符，而“</a:t>
            </a:r>
            <a:r>
              <a:rPr lang="en-US" altLang="zh-CN" sz="2000" b="0" i="0" u="none" strike="noStrike" kern="1200" cap="none" spc="0" baseline="0">
                <a:solidFill>
                  <a:schemeClr val="tx1"/>
                </a:solidFill>
                <a:latin typeface="Verdana" pitchFamily="34" charset="0"/>
                <a:ea typeface="宋体" charset="0"/>
                <a:cs typeface="Verdana" pitchFamily="34" charset="0"/>
              </a:rPr>
              <a:t>?:foo</a:t>
            </a:r>
            <a:r>
              <a:rPr lang="zh-CN" altLang="en-US" sz="2000" b="0" i="0" u="none" strike="noStrike" kern="1200" cap="none" spc="0" baseline="0">
                <a:solidFill>
                  <a:schemeClr val="tx1"/>
                </a:solidFill>
                <a:latin typeface="Verdana" pitchFamily="34" charset="0"/>
                <a:ea typeface="宋体" charset="0"/>
                <a:cs typeface="Verdana" pitchFamily="34" charset="0"/>
              </a:rPr>
              <a:t>”则是要讨论的无捕获组。</a:t>
            </a:r>
            <a:endParaRPr lang="zh-CN" altLang="en-US" sz="2000" b="0" i="0" u="none" strike="noStrike" kern="1200" cap="none" spc="0" baseline="0">
              <a:solidFill>
                <a:schemeClr val="tx1"/>
              </a:solidFill>
              <a:latin typeface="Consolas" pitchFamily="49" charset="0"/>
              <a:ea typeface="宋体" charset="0"/>
              <a:cs typeface="Consolas" pitchFamily="49" charset="0"/>
            </a:endParaRPr>
          </a:p>
        </p:txBody>
      </p:sp>
    </p:spTree>
    <p:extLst>
      <p:ext uri="{BB962C8B-B14F-4D97-AF65-F5344CB8AC3E}">
        <p14:creationId xmlns:p14="http://schemas.microsoft.com/office/powerpoint/2010/main" val="648934730"/>
      </p:ext>
    </p:extLst>
  </p:cSld>
  <p:clrMapOvr>
    <a:masterClrMapping/>
  </p:clrMapOvr>
  <p:transition spd="slow" advTm="7922"/>
</p:sld>
</file>

<file path=ppt/slides/slide29.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80"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81" name="矩形"/>
          <p:cNvSpPr>
            <a:spLocks/>
          </p:cNvSpPr>
          <p:nvPr/>
        </p:nvSpPr>
        <p:spPr>
          <a:xfrm>
            <a:off x="0" y="0"/>
            <a:ext cx="9144000" cy="0"/>
          </a:xfrm>
          <a:prstGeom prst="rect">
            <a:avLst/>
          </a:prstGeom>
          <a:noFill/>
          <a:ln w="9525" cap="flat" cmpd="sng">
            <a:noFill/>
            <a:prstDash val="solid"/>
            <a:round/>
          </a:ln>
        </p:spPr>
      </p:sp>
      <p:sp>
        <p:nvSpPr>
          <p:cNvPr id="382"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4 </a:t>
            </a:r>
            <a:r>
              <a:rPr lang="zh-CN" altLang="en-US" sz="2800" b="1" i="0" u="none" strike="noStrike" kern="1200" cap="none" spc="0" baseline="0" dirty="0">
                <a:solidFill>
                  <a:schemeClr val="accent2"/>
                </a:solidFill>
                <a:latin typeface="微软雅黑" charset="0"/>
                <a:ea typeface="微软雅黑" charset="0"/>
                <a:cs typeface="Verdana" pitchFamily="34" charset="0"/>
              </a:rPr>
              <a:t>更多模式功能</a:t>
            </a:r>
          </a:p>
        </p:txBody>
      </p:sp>
      <p:sp>
        <p:nvSpPr>
          <p:cNvPr id="383"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4.3 </a:t>
            </a:r>
            <a:r>
              <a:rPr lang="zh-CN" altLang="en-US" sz="2800" b="0" i="0" u="none" strike="noStrike" kern="1200" cap="none" spc="0" baseline="0" dirty="0">
                <a:solidFill>
                  <a:schemeClr val="tx1"/>
                </a:solidFill>
                <a:latin typeface="Verdana" pitchFamily="34" charset="0"/>
                <a:ea typeface="宋体" charset="0"/>
                <a:cs typeface="Verdana" pitchFamily="34" charset="0"/>
              </a:rPr>
              <a:t>无捕获组和命名组</a:t>
            </a:r>
          </a:p>
        </p:txBody>
      </p:sp>
      <p:sp>
        <p:nvSpPr>
          <p:cNvPr id="384" name="矩形"/>
          <p:cNvSpPr>
            <a:spLocks/>
          </p:cNvSpPr>
          <p:nvPr/>
        </p:nvSpPr>
        <p:spPr>
          <a:xfrm>
            <a:off x="765804" y="1894820"/>
            <a:ext cx="7696100" cy="3930016"/>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当我们想用一个组代表正则表达式的一部分，但又对获取组中的内容不感兴趣时可以使用一个无捕获组（</a:t>
            </a:r>
            <a:r>
              <a:rPr lang="en-US" altLang="zh-CN" sz="2000" b="0" i="0" u="none" strike="noStrike" kern="1200" cap="none" spc="0" baseline="0">
                <a:solidFill>
                  <a:schemeClr val="tx1"/>
                </a:solidFill>
                <a:latin typeface="Verdana" pitchFamily="34" charset="0"/>
                <a:ea typeface="宋体" charset="0"/>
                <a:cs typeface="Verdana" pitchFamily="34" charset="0"/>
              </a:rPr>
              <a:t>Non-capturing group</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”来实现这项功能，括号中的“…”被替换成需要的正则表达式：</a:t>
            </a:r>
            <a:r>
              <a:rPr lang="en-US" altLang="zh-CN" sz="2000" b="0" i="0" u="none" strike="noStrike" kern="1200" cap="none" spc="0" baseline="0">
                <a:solidFill>
                  <a:schemeClr val="tx1"/>
                </a:solidFill>
                <a:latin typeface="Verdana" pitchFamily="34" charset="0"/>
                <a:ea typeface="宋体" charset="0"/>
                <a:cs typeface="Verdana" pitchFamily="34" charset="0"/>
              </a:rPr>
              <a:t> </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&gt;&gt;&gt; m = re.match("([abc])+", "abc")</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&gt;&gt;&gt; m.groups()</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('c',)</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&gt;&gt;&gt; m = re.match("(?:[abc])+", "abc")</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&gt;&gt;&gt; m.groups()</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当不使用无捕获组时，</a:t>
            </a:r>
            <a:r>
              <a:rPr lang="en-US" altLang="zh-CN" sz="2000" b="0" i="0" u="none" strike="noStrike" kern="1200" cap="none" spc="0" baseline="0">
                <a:solidFill>
                  <a:schemeClr val="tx1"/>
                </a:solidFill>
                <a:latin typeface="Verdana" pitchFamily="34" charset="0"/>
                <a:ea typeface="宋体" charset="0"/>
                <a:cs typeface="Verdana" pitchFamily="34" charset="0"/>
              </a:rPr>
              <a:t>m</a:t>
            </a:r>
            <a:r>
              <a:rPr lang="zh-CN" altLang="en-US" sz="2000" b="0" i="0" u="none" strike="noStrike" kern="1200" cap="none" spc="0" baseline="0">
                <a:solidFill>
                  <a:schemeClr val="tx1"/>
                </a:solidFill>
                <a:latin typeface="Verdana" pitchFamily="34" charset="0"/>
                <a:ea typeface="宋体" charset="0"/>
                <a:cs typeface="Verdana" pitchFamily="34" charset="0"/>
              </a:rPr>
              <a:t>的</a:t>
            </a:r>
            <a:r>
              <a:rPr lang="en-US" altLang="zh-CN" sz="2000" b="0" i="0" u="none" strike="noStrike" kern="1200" cap="none" spc="0" baseline="0">
                <a:solidFill>
                  <a:schemeClr val="tx1"/>
                </a:solidFill>
                <a:latin typeface="Verdana" pitchFamily="34" charset="0"/>
                <a:ea typeface="宋体" charset="0"/>
                <a:cs typeface="Verdana" pitchFamily="34" charset="0"/>
              </a:rPr>
              <a:t>groups()</a:t>
            </a:r>
            <a:r>
              <a:rPr lang="zh-CN" altLang="en-US" sz="2000" b="0" i="0" u="none" strike="noStrike" kern="1200" cap="none" spc="0" baseline="0">
                <a:solidFill>
                  <a:schemeClr val="tx1"/>
                </a:solidFill>
                <a:latin typeface="Verdana" pitchFamily="34" charset="0"/>
                <a:ea typeface="宋体" charset="0"/>
                <a:cs typeface="Verdana" pitchFamily="34" charset="0"/>
              </a:rPr>
              <a:t>方法返回分组</a:t>
            </a:r>
            <a:r>
              <a:rPr lang="en-US" altLang="zh-CN" sz="2000" b="0" i="0" u="none" strike="noStrike" kern="1200" cap="none" spc="0" baseline="0">
                <a:solidFill>
                  <a:schemeClr val="tx1"/>
                </a:solidFill>
                <a:latin typeface="Verdana" pitchFamily="34" charset="0"/>
                <a:ea typeface="宋体" charset="0"/>
                <a:cs typeface="Verdana" pitchFamily="34" charset="0"/>
              </a:rPr>
              <a:t>1</a:t>
            </a:r>
            <a:r>
              <a:rPr lang="zh-CN" altLang="en-US" sz="2000" b="0" i="0" u="none" strike="noStrike" kern="1200" cap="none" spc="0" baseline="0">
                <a:solidFill>
                  <a:schemeClr val="tx1"/>
                </a:solidFill>
                <a:latin typeface="Verdana" pitchFamily="34" charset="0"/>
                <a:ea typeface="宋体" charset="0"/>
                <a:cs typeface="Verdana" pitchFamily="34" charset="0"/>
              </a:rPr>
              <a:t>，其内容为字符“</a:t>
            </a:r>
            <a:r>
              <a:rPr lang="en-US" altLang="zh-CN" sz="2000" b="0" i="0" u="none" strike="noStrike" kern="1200" cap="none" spc="0" baseline="0">
                <a:solidFill>
                  <a:schemeClr val="tx1"/>
                </a:solidFill>
                <a:latin typeface="Verdana" pitchFamily="34" charset="0"/>
                <a:ea typeface="宋体" charset="0"/>
                <a:cs typeface="Verdana" pitchFamily="34" charset="0"/>
              </a:rPr>
              <a:t>c</a:t>
            </a:r>
            <a:r>
              <a:rPr lang="zh-CN" altLang="en-US" sz="2000" b="0" i="0" u="none" strike="noStrike" kern="1200" cap="none" spc="0" baseline="0">
                <a:solidFill>
                  <a:schemeClr val="tx1"/>
                </a:solidFill>
                <a:latin typeface="Verdana" pitchFamily="34" charset="0"/>
                <a:ea typeface="宋体" charset="0"/>
                <a:cs typeface="Verdana" pitchFamily="34" charset="0"/>
              </a:rPr>
              <a:t>”，而当使用无捕获组后，返回分组中将不会有任何内容。</a:t>
            </a:r>
          </a:p>
        </p:txBody>
      </p:sp>
    </p:spTree>
    <p:extLst>
      <p:ext uri="{BB962C8B-B14F-4D97-AF65-F5344CB8AC3E}">
        <p14:creationId xmlns:p14="http://schemas.microsoft.com/office/powerpoint/2010/main" val="1327605294"/>
      </p:ext>
    </p:extLst>
  </p:cSld>
  <p:clrMapOvr>
    <a:masterClrMapping/>
  </p:clrMapOvr>
  <p:transition spd="slow" advTm="7922"/>
</p:sld>
</file>

<file path=ppt/slides/slide30.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87"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88" name="矩形"/>
          <p:cNvSpPr>
            <a:spLocks/>
          </p:cNvSpPr>
          <p:nvPr/>
        </p:nvSpPr>
        <p:spPr>
          <a:xfrm>
            <a:off x="0" y="0"/>
            <a:ext cx="9144000" cy="0"/>
          </a:xfrm>
          <a:prstGeom prst="rect">
            <a:avLst/>
          </a:prstGeom>
          <a:noFill/>
          <a:ln w="9525" cap="flat" cmpd="sng">
            <a:noFill/>
            <a:prstDash val="solid"/>
            <a:round/>
          </a:ln>
        </p:spPr>
      </p:sp>
      <p:sp>
        <p:nvSpPr>
          <p:cNvPr id="389"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4 </a:t>
            </a:r>
            <a:r>
              <a:rPr lang="zh-CN" altLang="en-US" sz="2800" b="1" i="0" u="none" strike="noStrike" kern="1200" cap="none" spc="0" baseline="0" dirty="0">
                <a:solidFill>
                  <a:schemeClr val="accent2"/>
                </a:solidFill>
                <a:latin typeface="微软雅黑" charset="0"/>
                <a:ea typeface="微软雅黑" charset="0"/>
                <a:cs typeface="Verdana" pitchFamily="34" charset="0"/>
              </a:rPr>
              <a:t>更多模式功能</a:t>
            </a:r>
          </a:p>
        </p:txBody>
      </p:sp>
      <p:sp>
        <p:nvSpPr>
          <p:cNvPr id="390"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4.3 </a:t>
            </a:r>
            <a:r>
              <a:rPr lang="zh-CN" altLang="en-US" sz="2800" b="0" i="0" u="none" strike="noStrike" kern="1200" cap="none" spc="0" baseline="0" dirty="0">
                <a:solidFill>
                  <a:schemeClr val="tx1"/>
                </a:solidFill>
                <a:latin typeface="Verdana" pitchFamily="34" charset="0"/>
                <a:ea typeface="宋体" charset="0"/>
                <a:cs typeface="Verdana" pitchFamily="34" charset="0"/>
              </a:rPr>
              <a:t>无捕获组和命名组</a:t>
            </a:r>
          </a:p>
        </p:txBody>
      </p:sp>
      <p:sp>
        <p:nvSpPr>
          <p:cNvPr id="391" name="矩形"/>
          <p:cNvSpPr>
            <a:spLocks/>
          </p:cNvSpPr>
          <p:nvPr/>
        </p:nvSpPr>
        <p:spPr>
          <a:xfrm>
            <a:off x="765804" y="1894820"/>
            <a:ext cx="7696100" cy="245364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另一个扩展功能是命名组（</a:t>
            </a:r>
            <a:r>
              <a:rPr lang="en-US" altLang="zh-CN" sz="2000" b="0" i="0" u="none" strike="noStrike" kern="1200" cap="none" spc="0" baseline="0">
                <a:solidFill>
                  <a:schemeClr val="tx1"/>
                </a:solidFill>
                <a:latin typeface="Verdana" pitchFamily="34" charset="0"/>
                <a:ea typeface="宋体" charset="0"/>
                <a:cs typeface="Verdana" pitchFamily="34" charset="0"/>
              </a:rPr>
              <a:t>Named Groups</a:t>
            </a:r>
            <a:r>
              <a:rPr lang="zh-CN" altLang="en-US" sz="2000" b="0" i="0" u="none" strike="noStrike" kern="1200" cap="none" spc="0" baseline="0">
                <a:solidFill>
                  <a:schemeClr val="tx1"/>
                </a:solidFill>
                <a:latin typeface="Verdana" pitchFamily="34" charset="0"/>
                <a:ea typeface="宋体" charset="0"/>
                <a:cs typeface="Verdana" pitchFamily="34" charset="0"/>
              </a:rPr>
              <a:t>），与通常使用数字引用分组不同的是，它可以用一个名字来引用分组。</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命名组表示为：</a:t>
            </a:r>
            <a:r>
              <a:rPr lang="en-US" altLang="zh-CN" sz="2000" b="0" i="0" u="none" strike="noStrike" kern="1200" cap="none" spc="0" baseline="0">
                <a:solidFill>
                  <a:schemeClr val="tx1"/>
                </a:solidFill>
                <a:latin typeface="Verdana" pitchFamily="34" charset="0"/>
                <a:ea typeface="宋体" charset="0"/>
                <a:cs typeface="Verdana" pitchFamily="34" charset="0"/>
              </a:rPr>
              <a:t>(?P&lt;name&gt;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，尖括号中的文本即为组的名字，命名组的行为与捕获组是相同的。当对命名组使用</a:t>
            </a:r>
            <a:r>
              <a:rPr lang="en-US" altLang="zh-CN" sz="2000" b="0" i="0" u="none" strike="noStrike" kern="1200" cap="none" spc="0" baseline="0">
                <a:solidFill>
                  <a:schemeClr val="tx1"/>
                </a:solidFill>
                <a:latin typeface="Verdana" pitchFamily="34" charset="0"/>
                <a:ea typeface="宋体" charset="0"/>
                <a:cs typeface="Verdana" pitchFamily="34" charset="0"/>
              </a:rPr>
              <a:t>match</a:t>
            </a:r>
            <a:r>
              <a:rPr lang="zh-CN" altLang="en-US" sz="2000" b="0" i="0" u="none" strike="noStrike" kern="1200" cap="none" spc="0" baseline="0">
                <a:solidFill>
                  <a:schemeClr val="tx1"/>
                </a:solidFill>
                <a:latin typeface="Verdana" pitchFamily="34" charset="0"/>
                <a:ea typeface="宋体" charset="0"/>
                <a:cs typeface="Verdana" pitchFamily="34" charset="0"/>
              </a:rPr>
              <a:t>对象的方法时，既可以用表示组号的整数作为参数，也可以用包含组名的字符串作为参数，所以我们可以通过两种方式来得到一个分组中的信息。</a:t>
            </a:r>
          </a:p>
        </p:txBody>
      </p:sp>
    </p:spTree>
    <p:extLst>
      <p:ext uri="{BB962C8B-B14F-4D97-AF65-F5344CB8AC3E}">
        <p14:creationId xmlns:p14="http://schemas.microsoft.com/office/powerpoint/2010/main" val="882303666"/>
      </p:ext>
    </p:extLst>
  </p:cSld>
  <p:clrMapOvr>
    <a:masterClrMapping/>
  </p:clrMapOvr>
  <p:transition spd="slow" advTm="7922"/>
</p:sld>
</file>

<file path=ppt/slides/slide31.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394"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395" name="矩形"/>
          <p:cNvSpPr>
            <a:spLocks/>
          </p:cNvSpPr>
          <p:nvPr/>
        </p:nvSpPr>
        <p:spPr>
          <a:xfrm>
            <a:off x="0" y="0"/>
            <a:ext cx="9144000" cy="0"/>
          </a:xfrm>
          <a:prstGeom prst="rect">
            <a:avLst/>
          </a:prstGeom>
          <a:noFill/>
          <a:ln w="9525" cap="flat" cmpd="sng">
            <a:noFill/>
            <a:prstDash val="solid"/>
            <a:round/>
          </a:ln>
        </p:spPr>
      </p:sp>
      <p:sp>
        <p:nvSpPr>
          <p:cNvPr id="396"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4 </a:t>
            </a:r>
            <a:r>
              <a:rPr lang="zh-CN" altLang="en-US" sz="2800" b="1" i="0" u="none" strike="noStrike" kern="1200" cap="none" spc="0" baseline="0" dirty="0">
                <a:solidFill>
                  <a:schemeClr val="accent2"/>
                </a:solidFill>
                <a:latin typeface="微软雅黑" charset="0"/>
                <a:ea typeface="微软雅黑" charset="0"/>
                <a:cs typeface="Verdana" pitchFamily="34" charset="0"/>
              </a:rPr>
              <a:t>更多模式功能</a:t>
            </a:r>
          </a:p>
        </p:txBody>
      </p:sp>
      <p:sp>
        <p:nvSpPr>
          <p:cNvPr id="397"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4.3 </a:t>
            </a:r>
            <a:r>
              <a:rPr lang="zh-CN" altLang="en-US" sz="2800" b="0" i="0" u="none" strike="noStrike" kern="1200" cap="none" spc="0" baseline="0" dirty="0">
                <a:solidFill>
                  <a:schemeClr val="tx1"/>
                </a:solidFill>
                <a:latin typeface="Verdana" pitchFamily="34" charset="0"/>
                <a:ea typeface="宋体" charset="0"/>
                <a:cs typeface="Verdana" pitchFamily="34" charset="0"/>
              </a:rPr>
              <a:t>无捕获组和命名组</a:t>
            </a:r>
          </a:p>
        </p:txBody>
      </p:sp>
      <p:sp>
        <p:nvSpPr>
          <p:cNvPr id="398" name="矩形"/>
          <p:cNvSpPr>
            <a:spLocks/>
          </p:cNvSpPr>
          <p:nvPr/>
        </p:nvSpPr>
        <p:spPr>
          <a:xfrm>
            <a:off x="765804" y="1894820"/>
            <a:ext cx="7696100" cy="4349115"/>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使用命名可以是我们用容易记住的名字而不是难以记住数字来引用分组例如：</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r>
              <a:rPr lang="en-US" altLang="zh-CN" sz="1800" b="0" i="0" u="none" strike="noStrike" kern="1200" cap="none" spc="0" baseline="0">
                <a:solidFill>
                  <a:schemeClr val="tx1"/>
                </a:solidFill>
                <a:latin typeface="Consolas" pitchFamily="49" charset="0"/>
                <a:ea typeface="宋体" charset="0"/>
                <a:cs typeface="Consolas" pitchFamily="49" charset="0"/>
              </a:rPr>
              <a:t>InternalDate = re.compile(r'INTERNALDATE "'</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	r'(?P&lt;day&gt;[ 123][0-9])-(?P&lt;mon&gt;[A-Z][a-z][a-z])-'</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	r'(?P&lt;year&gt;[0-9][0-9][0-9][0-9])'r' (?P&lt;hour&gt;[0-9][0-9]):(</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	?P&lt;min&gt;[0-9][0-9]):(?P&lt;sec&gt;[0-9][0-9])'r'(?P&lt;zonen&gt;[-+])(</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	?P&lt;zoneh&gt;[0-9][0-9])(?P&lt;zonem&gt;[0-9][0-9])'r'"')</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使用分组名</a:t>
            </a:r>
            <a:r>
              <a:rPr lang="en-US" altLang="zh-CN" sz="2000" b="0" i="0" u="none" strike="noStrike" kern="1200" cap="none" spc="0" baseline="0">
                <a:solidFill>
                  <a:schemeClr val="tx1"/>
                </a:solidFill>
                <a:latin typeface="Verdana" pitchFamily="34" charset="0"/>
                <a:ea typeface="宋体" charset="0"/>
                <a:cs typeface="Verdana" pitchFamily="34" charset="0"/>
              </a:rPr>
              <a:t>zonem</a:t>
            </a:r>
            <a:r>
              <a:rPr lang="zh-CN" altLang="en-US" sz="2000" b="0" i="0" u="none" strike="noStrike" kern="1200" cap="none" spc="0" baseline="0">
                <a:solidFill>
                  <a:schemeClr val="tx1"/>
                </a:solidFill>
                <a:latin typeface="Verdana" pitchFamily="34" charset="0"/>
                <a:ea typeface="宋体" charset="0"/>
                <a:cs typeface="Verdana" pitchFamily="34" charset="0"/>
              </a:rPr>
              <a:t>来获取分组内容要比记住编号</a:t>
            </a:r>
            <a:r>
              <a:rPr lang="en-US" altLang="zh-CN" sz="2000" b="0" i="0" u="none" strike="noStrike" kern="1200" cap="none" spc="0" baseline="0">
                <a:solidFill>
                  <a:schemeClr val="tx1"/>
                </a:solidFill>
                <a:latin typeface="Verdana" pitchFamily="34" charset="0"/>
                <a:ea typeface="宋体" charset="0"/>
                <a:cs typeface="Verdana" pitchFamily="34" charset="0"/>
              </a:rPr>
              <a:t>9</a:t>
            </a:r>
            <a:r>
              <a:rPr lang="zh-CN" altLang="en-US" sz="2000" b="0" i="0" u="none" strike="noStrike" kern="1200" cap="none" spc="0" baseline="0">
                <a:solidFill>
                  <a:schemeClr val="tx1"/>
                </a:solidFill>
                <a:latin typeface="Verdana" pitchFamily="34" charset="0"/>
                <a:ea typeface="宋体" charset="0"/>
                <a:cs typeface="Verdana" pitchFamily="34" charset="0"/>
              </a:rPr>
              <a:t>来获取分组容易得多。</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在逆向引用的语法中，也可以使用组名代替组号。引用组名的格式为：</a:t>
            </a:r>
            <a:r>
              <a:rPr lang="en-US" altLang="zh-CN" sz="2000" b="0" i="0" u="none" strike="noStrike" kern="1200" cap="none" spc="0" baseline="0">
                <a:solidFill>
                  <a:schemeClr val="tx1"/>
                </a:solidFill>
                <a:latin typeface="Verdana" pitchFamily="34" charset="0"/>
                <a:ea typeface="宋体" charset="0"/>
                <a:cs typeface="Verdana" pitchFamily="34" charset="0"/>
              </a:rPr>
              <a:t>(?P=name)</a:t>
            </a:r>
            <a:r>
              <a:rPr lang="zh-CN" altLang="en-US" sz="2000" b="0" i="0" u="none" strike="noStrike" kern="1200" cap="none" spc="0" baseline="0">
                <a:solidFill>
                  <a:schemeClr val="tx1"/>
                </a:solidFill>
                <a:latin typeface="Verdana" pitchFamily="34" charset="0"/>
                <a:ea typeface="宋体" charset="0"/>
                <a:cs typeface="Verdana" pitchFamily="34" charset="0"/>
              </a:rPr>
              <a:t>，表示在当前位置，名称为</a:t>
            </a:r>
            <a:r>
              <a:rPr lang="en-US" altLang="zh-CN" sz="2000" b="0" i="0" u="none" strike="noStrike" kern="1200" cap="none" spc="0" baseline="0">
                <a:solidFill>
                  <a:schemeClr val="tx1"/>
                </a:solidFill>
                <a:latin typeface="Verdana" pitchFamily="34" charset="0"/>
                <a:ea typeface="宋体" charset="0"/>
                <a:cs typeface="Verdana" pitchFamily="34" charset="0"/>
              </a:rPr>
              <a:t>name</a:t>
            </a:r>
            <a:r>
              <a:rPr lang="zh-CN" altLang="en-US" sz="2000" b="0" i="0" u="none" strike="noStrike" kern="1200" cap="none" spc="0" baseline="0">
                <a:solidFill>
                  <a:schemeClr val="tx1"/>
                </a:solidFill>
                <a:latin typeface="Verdana" pitchFamily="34" charset="0"/>
                <a:ea typeface="宋体" charset="0"/>
                <a:cs typeface="Verdana" pitchFamily="34" charset="0"/>
              </a:rPr>
              <a:t>的组的内容再次重现。</a:t>
            </a:r>
          </a:p>
        </p:txBody>
      </p:sp>
    </p:spTree>
    <p:extLst>
      <p:ext uri="{BB962C8B-B14F-4D97-AF65-F5344CB8AC3E}">
        <p14:creationId xmlns:p14="http://schemas.microsoft.com/office/powerpoint/2010/main" val="233388996"/>
      </p:ext>
    </p:extLst>
  </p:cSld>
  <p:clrMapOvr>
    <a:masterClrMapping/>
  </p:clrMapOvr>
  <p:transition spd="slow" advTm="7922"/>
</p:sld>
</file>

<file path=ppt/slides/slide32.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401"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402" name="矩形"/>
          <p:cNvSpPr>
            <a:spLocks/>
          </p:cNvSpPr>
          <p:nvPr/>
        </p:nvSpPr>
        <p:spPr>
          <a:xfrm>
            <a:off x="0" y="0"/>
            <a:ext cx="9144000" cy="0"/>
          </a:xfrm>
          <a:prstGeom prst="rect">
            <a:avLst/>
          </a:prstGeom>
          <a:noFill/>
          <a:ln w="9525" cap="flat" cmpd="sng">
            <a:noFill/>
            <a:prstDash val="solid"/>
            <a:round/>
          </a:ln>
        </p:spPr>
      </p:sp>
      <p:sp>
        <p:nvSpPr>
          <p:cNvPr id="403"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4 </a:t>
            </a:r>
            <a:r>
              <a:rPr lang="zh-CN" altLang="en-US" sz="2800" b="1" i="0" u="none" strike="noStrike" kern="1200" cap="none" spc="0" baseline="0" dirty="0">
                <a:solidFill>
                  <a:schemeClr val="accent2"/>
                </a:solidFill>
                <a:latin typeface="微软雅黑" charset="0"/>
                <a:ea typeface="微软雅黑" charset="0"/>
                <a:cs typeface="Verdana" pitchFamily="34" charset="0"/>
              </a:rPr>
              <a:t>更多模式功能</a:t>
            </a:r>
          </a:p>
        </p:txBody>
      </p:sp>
      <p:sp>
        <p:nvSpPr>
          <p:cNvPr id="404"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4.4 </a:t>
            </a:r>
            <a:r>
              <a:rPr lang="zh-CN" altLang="en-US" sz="2800" b="0" i="0" u="none" strike="noStrike" kern="1200" cap="none" spc="0" baseline="0" dirty="0">
                <a:solidFill>
                  <a:schemeClr val="tx1"/>
                </a:solidFill>
                <a:latin typeface="Verdana" pitchFamily="34" charset="0"/>
                <a:ea typeface="宋体" charset="0"/>
                <a:cs typeface="Verdana" pitchFamily="34" charset="0"/>
              </a:rPr>
              <a:t>前向界定符</a:t>
            </a:r>
          </a:p>
        </p:txBody>
      </p:sp>
      <p:sp>
        <p:nvSpPr>
          <p:cNvPr id="405" name="矩形"/>
          <p:cNvSpPr>
            <a:spLocks/>
          </p:cNvSpPr>
          <p:nvPr/>
        </p:nvSpPr>
        <p:spPr>
          <a:xfrm>
            <a:off x="765804" y="1894820"/>
            <a:ext cx="7696100" cy="3339465"/>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另外一个零宽界定符是前向界定符，或称为前向断言（</a:t>
            </a:r>
            <a:r>
              <a:rPr lang="en-US" altLang="zh-CN" sz="2000" b="0" i="0" u="none" strike="noStrike" kern="1200" cap="none" spc="0" baseline="0">
                <a:solidFill>
                  <a:schemeClr val="tx1"/>
                </a:solidFill>
                <a:latin typeface="Verdana" pitchFamily="34" charset="0"/>
                <a:ea typeface="宋体" charset="0"/>
                <a:cs typeface="Verdana" pitchFamily="34" charset="0"/>
              </a:rPr>
              <a:t>Lookahead Assertions</a:t>
            </a:r>
            <a:r>
              <a:rPr lang="zh-CN" altLang="en-US" sz="2000" b="0" i="0" u="none" strike="noStrike" kern="1200" cap="none" spc="0" baseline="0">
                <a:solidFill>
                  <a:schemeClr val="tx1"/>
                </a:solidFill>
                <a:latin typeface="Verdana" pitchFamily="34" charset="0"/>
                <a:ea typeface="宋体" charset="0"/>
                <a:cs typeface="Verdana" pitchFamily="34" charset="0"/>
              </a:rPr>
              <a:t>）。前向界定符有两种形式—肯定（</a:t>
            </a:r>
            <a:r>
              <a:rPr lang="en-US" altLang="zh-CN" sz="2000" b="0" i="0" u="none" strike="noStrike" kern="1200" cap="none" spc="0" baseline="0">
                <a:solidFill>
                  <a:schemeClr val="tx1"/>
                </a:solidFill>
                <a:latin typeface="Verdana" pitchFamily="34" charset="0"/>
                <a:ea typeface="宋体" charset="0"/>
                <a:cs typeface="Verdana" pitchFamily="34" charset="0"/>
              </a:rPr>
              <a:t>Positive</a:t>
            </a:r>
            <a:r>
              <a:rPr lang="zh-CN" altLang="en-US" sz="2000" b="0" i="0" u="none" strike="noStrike" kern="1200" cap="none" spc="0" baseline="0">
                <a:solidFill>
                  <a:schemeClr val="tx1"/>
                </a:solidFill>
                <a:latin typeface="Verdana" pitchFamily="34" charset="0"/>
                <a:ea typeface="宋体" charset="0"/>
                <a:cs typeface="Verdana" pitchFamily="34" charset="0"/>
              </a:rPr>
              <a:t>）前向界定符和否定（</a:t>
            </a:r>
            <a:r>
              <a:rPr lang="en-US" altLang="zh-CN" sz="2000" b="0" i="0" u="none" strike="noStrike" kern="1200" cap="none" spc="0" baseline="0">
                <a:solidFill>
                  <a:schemeClr val="tx1"/>
                </a:solidFill>
                <a:latin typeface="Verdana" pitchFamily="34" charset="0"/>
                <a:ea typeface="宋体" charset="0"/>
                <a:cs typeface="Verdana" pitchFamily="34" charset="0"/>
              </a:rPr>
              <a:t>Negative</a:t>
            </a:r>
            <a:r>
              <a:rPr lang="zh-CN" altLang="en-US" sz="2000" b="0" i="0" u="none" strike="noStrike" kern="1200" cap="none" spc="0" baseline="0">
                <a:solidFill>
                  <a:schemeClr val="tx1"/>
                </a:solidFill>
                <a:latin typeface="Verdana" pitchFamily="34" charset="0"/>
                <a:ea typeface="宋体" charset="0"/>
                <a:cs typeface="Verdana" pitchFamily="34" charset="0"/>
              </a:rPr>
              <a:t>）前向界定符。</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(?=pattern)</a:t>
            </a:r>
            <a:r>
              <a:rPr lang="zh-CN" altLang="en-US" sz="2000" b="0" i="0" u="none" strike="noStrike" kern="1200" cap="none" spc="0" baseline="0">
                <a:solidFill>
                  <a:schemeClr val="tx1"/>
                </a:solidFill>
                <a:latin typeface="Verdana" pitchFamily="34" charset="0"/>
                <a:ea typeface="宋体" charset="0"/>
                <a:cs typeface="Verdana" pitchFamily="34" charset="0"/>
              </a:rPr>
              <a:t>是一个肯定前向界定符，而</a:t>
            </a:r>
            <a:r>
              <a:rPr lang="en-US" altLang="zh-CN" sz="2000" b="0" i="0" u="none" strike="noStrike" kern="1200" cap="none" spc="0" baseline="0">
                <a:solidFill>
                  <a:schemeClr val="tx1"/>
                </a:solidFill>
                <a:latin typeface="Verdana" pitchFamily="34" charset="0"/>
                <a:ea typeface="宋体" charset="0"/>
                <a:cs typeface="Verdana" pitchFamily="34" charset="0"/>
              </a:rPr>
              <a:t>(?!pattern)</a:t>
            </a:r>
            <a:r>
              <a:rPr lang="zh-CN" altLang="en-US" sz="2000" b="0" i="0" u="none" strike="noStrike" kern="1200" cap="none" spc="0" baseline="0">
                <a:solidFill>
                  <a:schemeClr val="tx1"/>
                </a:solidFill>
                <a:latin typeface="Verdana" pitchFamily="34" charset="0"/>
                <a:ea typeface="宋体" charset="0"/>
                <a:cs typeface="Verdana" pitchFamily="34" charset="0"/>
              </a:rPr>
              <a:t>是一个否定前向界定符。其中的“</a:t>
            </a:r>
            <a:r>
              <a:rPr lang="en-US" altLang="zh-CN" sz="2000" b="0" i="0" u="none" strike="noStrike" kern="1200" cap="none" spc="0" baseline="0">
                <a:solidFill>
                  <a:schemeClr val="tx1"/>
                </a:solidFill>
                <a:latin typeface="Verdana" pitchFamily="34" charset="0"/>
                <a:ea typeface="宋体" charset="0"/>
                <a:cs typeface="Verdana" pitchFamily="34" charset="0"/>
              </a:rPr>
              <a:t>pattern</a:t>
            </a:r>
            <a:r>
              <a:rPr lang="zh-CN" altLang="en-US" sz="2000" b="0" i="0" u="none" strike="noStrike" kern="1200" cap="none" spc="0" baseline="0">
                <a:solidFill>
                  <a:schemeClr val="tx1"/>
                </a:solidFill>
                <a:latin typeface="Verdana" pitchFamily="34" charset="0"/>
                <a:ea typeface="宋体" charset="0"/>
                <a:cs typeface="Verdana" pitchFamily="34" charset="0"/>
              </a:rPr>
              <a:t>”是一个正则表达式，代表某个匹配模式。与通常的匹配模式不同的是，它只返回匹配的结果—成功或不成功，而不会引起正则表达式引擎的向前移动。换句话说，前向界定符不会“消耗”字符，而只是判断该位置是否匹配。</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肯定前向界定符在当前位置能够匹配返回匹配成功，否则失败。</a:t>
            </a:r>
          </a:p>
        </p:txBody>
      </p:sp>
    </p:spTree>
    <p:extLst>
      <p:ext uri="{BB962C8B-B14F-4D97-AF65-F5344CB8AC3E}">
        <p14:creationId xmlns:p14="http://schemas.microsoft.com/office/powerpoint/2010/main" val="1145246020"/>
      </p:ext>
    </p:extLst>
  </p:cSld>
  <p:clrMapOvr>
    <a:masterClrMapping/>
  </p:clrMapOvr>
  <p:transition spd="slow" advTm="7922"/>
</p:sld>
</file>

<file path=ppt/slides/slide33.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408"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409" name="矩形"/>
          <p:cNvSpPr>
            <a:spLocks/>
          </p:cNvSpPr>
          <p:nvPr/>
        </p:nvSpPr>
        <p:spPr>
          <a:xfrm>
            <a:off x="0" y="0"/>
            <a:ext cx="9144000" cy="0"/>
          </a:xfrm>
          <a:prstGeom prst="rect">
            <a:avLst/>
          </a:prstGeom>
          <a:noFill/>
          <a:ln w="9525" cap="flat" cmpd="sng">
            <a:noFill/>
            <a:prstDash val="solid"/>
            <a:round/>
          </a:ln>
        </p:spPr>
      </p:sp>
      <p:sp>
        <p:nvSpPr>
          <p:cNvPr id="410"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4 </a:t>
            </a:r>
            <a:r>
              <a:rPr lang="zh-CN" altLang="en-US" sz="2800" b="1" i="0" u="none" strike="noStrike" kern="1200" cap="none" spc="0" baseline="0" dirty="0">
                <a:solidFill>
                  <a:schemeClr val="accent2"/>
                </a:solidFill>
                <a:latin typeface="微软雅黑" charset="0"/>
                <a:ea typeface="微软雅黑" charset="0"/>
                <a:cs typeface="Verdana" pitchFamily="34" charset="0"/>
              </a:rPr>
              <a:t>更多模式功能</a:t>
            </a:r>
          </a:p>
        </p:txBody>
      </p:sp>
      <p:sp>
        <p:nvSpPr>
          <p:cNvPr id="411"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4.4 </a:t>
            </a:r>
            <a:r>
              <a:rPr lang="zh-CN" altLang="en-US" sz="2800" b="0" i="0" u="none" strike="noStrike" kern="1200" cap="none" spc="0" baseline="0" dirty="0">
                <a:solidFill>
                  <a:schemeClr val="tx1"/>
                </a:solidFill>
                <a:latin typeface="Verdana" pitchFamily="34" charset="0"/>
                <a:ea typeface="宋体" charset="0"/>
                <a:cs typeface="Verdana" pitchFamily="34" charset="0"/>
              </a:rPr>
              <a:t>前向界定符</a:t>
            </a:r>
          </a:p>
        </p:txBody>
      </p:sp>
      <p:sp>
        <p:nvSpPr>
          <p:cNvPr id="412" name="矩形"/>
          <p:cNvSpPr>
            <a:spLocks/>
          </p:cNvSpPr>
          <p:nvPr/>
        </p:nvSpPr>
        <p:spPr>
          <a:xfrm>
            <a:off x="765804" y="1894820"/>
            <a:ext cx="7696100" cy="127254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例如，如果对“</a:t>
            </a:r>
            <a:r>
              <a:rPr lang="en-US" altLang="zh-CN" sz="2000" b="0" i="0" u="none" strike="noStrike" kern="1200" cap="none" spc="0" baseline="0">
                <a:solidFill>
                  <a:schemeClr val="tx1"/>
                </a:solidFill>
                <a:latin typeface="Verdana" pitchFamily="34" charset="0"/>
                <a:ea typeface="宋体" charset="0"/>
                <a:cs typeface="Verdana" pitchFamily="34" charset="0"/>
              </a:rPr>
              <a:t>a regular expression</a:t>
            </a:r>
            <a:r>
              <a:rPr lang="zh-CN" altLang="en-US" sz="2000" b="0" i="0" u="none" strike="noStrike" kern="1200" cap="none" spc="0" baseline="0">
                <a:solidFill>
                  <a:schemeClr val="tx1"/>
                </a:solidFill>
                <a:latin typeface="Verdana" pitchFamily="34" charset="0"/>
                <a:ea typeface="宋体" charset="0"/>
                <a:cs typeface="Verdana" pitchFamily="34" charset="0"/>
              </a:rPr>
              <a:t>”这个字符串，我们只想匹配“</a:t>
            </a:r>
            <a:r>
              <a:rPr lang="en-US" altLang="zh-CN" sz="2000" b="0" i="0" u="none" strike="noStrike" kern="1200" cap="none" spc="0" baseline="0">
                <a:solidFill>
                  <a:schemeClr val="tx1"/>
                </a:solidFill>
                <a:latin typeface="Verdana" pitchFamily="34" charset="0"/>
                <a:ea typeface="宋体" charset="0"/>
                <a:cs typeface="Verdana" pitchFamily="34" charset="0"/>
              </a:rPr>
              <a:t>regular</a:t>
            </a:r>
            <a:r>
              <a:rPr lang="zh-CN" altLang="en-US" sz="2000" b="0" i="0" u="none" strike="noStrike" kern="1200" cap="none" spc="0" baseline="0">
                <a:solidFill>
                  <a:schemeClr val="tx1"/>
                </a:solidFill>
                <a:latin typeface="Verdana" pitchFamily="34" charset="0"/>
                <a:ea typeface="宋体" charset="0"/>
                <a:cs typeface="Verdana" pitchFamily="34" charset="0"/>
              </a:rPr>
              <a:t>”中的“</a:t>
            </a:r>
            <a:r>
              <a:rPr lang="en-US" altLang="zh-CN" sz="2000" b="0" i="0" u="none" strike="noStrike" kern="1200" cap="none" spc="0" baseline="0">
                <a:solidFill>
                  <a:schemeClr val="tx1"/>
                </a:solidFill>
                <a:latin typeface="Verdana" pitchFamily="34" charset="0"/>
                <a:ea typeface="宋体" charset="0"/>
                <a:cs typeface="Verdana" pitchFamily="34" charset="0"/>
              </a:rPr>
              <a:t>re</a:t>
            </a:r>
            <a:r>
              <a:rPr lang="zh-CN" altLang="en-US" sz="2000" b="0" i="0" u="none" strike="noStrike" kern="1200" cap="none" spc="0" baseline="0">
                <a:solidFill>
                  <a:schemeClr val="tx1"/>
                </a:solidFill>
                <a:latin typeface="Verdana" pitchFamily="34" charset="0"/>
                <a:ea typeface="宋体" charset="0"/>
                <a:cs typeface="Verdana" pitchFamily="34" charset="0"/>
              </a:rPr>
              <a:t>”，而不想匹配“</a:t>
            </a:r>
            <a:r>
              <a:rPr lang="en-US" altLang="zh-CN" sz="2000" b="0" i="0" u="none" strike="noStrike" kern="1200" cap="none" spc="0" baseline="0">
                <a:solidFill>
                  <a:schemeClr val="tx1"/>
                </a:solidFill>
                <a:latin typeface="Verdana" pitchFamily="34" charset="0"/>
                <a:ea typeface="宋体" charset="0"/>
                <a:cs typeface="Verdana" pitchFamily="34" charset="0"/>
              </a:rPr>
              <a:t>expression</a:t>
            </a:r>
            <a:r>
              <a:rPr lang="zh-CN" altLang="en-US" sz="2000" b="0" i="0" u="none" strike="noStrike" kern="1200" cap="none" spc="0" baseline="0">
                <a:solidFill>
                  <a:schemeClr val="tx1"/>
                </a:solidFill>
                <a:latin typeface="Verdana" pitchFamily="34" charset="0"/>
                <a:ea typeface="宋体" charset="0"/>
                <a:cs typeface="Verdana" pitchFamily="34" charset="0"/>
              </a:rPr>
              <a:t>”中的“</a:t>
            </a:r>
            <a:r>
              <a:rPr lang="en-US" altLang="zh-CN" sz="2000" b="0" i="0" u="none" strike="noStrike" kern="1200" cap="none" spc="0" baseline="0">
                <a:solidFill>
                  <a:schemeClr val="tx1"/>
                </a:solidFill>
                <a:latin typeface="Verdana" pitchFamily="34" charset="0"/>
                <a:ea typeface="宋体" charset="0"/>
                <a:cs typeface="Verdana" pitchFamily="34" charset="0"/>
              </a:rPr>
              <a:t>re</a:t>
            </a:r>
            <a:r>
              <a:rPr lang="zh-CN" altLang="en-US" sz="2000" b="0" i="0" u="none" strike="noStrike" kern="1200" cap="none" spc="0" baseline="0">
                <a:solidFill>
                  <a:schemeClr val="tx1"/>
                </a:solidFill>
                <a:latin typeface="Verdana" pitchFamily="34" charset="0"/>
                <a:ea typeface="宋体" charset="0"/>
                <a:cs typeface="Verdana" pitchFamily="34" charset="0"/>
              </a:rPr>
              <a:t>”，那么可以这样写正则表达式：</a:t>
            </a:r>
            <a:r>
              <a:rPr lang="en-US" altLang="zh-CN" sz="2000" b="0" i="0" u="none" strike="noStrike" kern="1200" cap="none" spc="0" baseline="0">
                <a:solidFill>
                  <a:schemeClr val="tx1"/>
                </a:solidFill>
                <a:latin typeface="Verdana" pitchFamily="34" charset="0"/>
                <a:ea typeface="宋体" charset="0"/>
                <a:cs typeface="Verdana" pitchFamily="34" charset="0"/>
              </a:rPr>
              <a:t>re(?=gular)</a:t>
            </a:r>
            <a:r>
              <a:rPr lang="zh-CN" altLang="en-US" sz="2000" b="0" i="0" u="none" strike="noStrike" kern="1200" cap="none" spc="0" baseline="0">
                <a:solidFill>
                  <a:schemeClr val="tx1"/>
                </a:solidFill>
                <a:latin typeface="Verdana" pitchFamily="34" charset="0"/>
                <a:ea typeface="宋体" charset="0"/>
                <a:cs typeface="Verdana" pitchFamily="34" charset="0"/>
              </a:rPr>
              <a:t>。这表示，当“</a:t>
            </a:r>
            <a:r>
              <a:rPr lang="en-US" altLang="zh-CN" sz="2000" b="0" i="0" u="none" strike="noStrike" kern="1200" cap="none" spc="0" baseline="0">
                <a:solidFill>
                  <a:schemeClr val="tx1"/>
                </a:solidFill>
                <a:latin typeface="Verdana" pitchFamily="34" charset="0"/>
                <a:ea typeface="宋体" charset="0"/>
                <a:cs typeface="Verdana" pitchFamily="34" charset="0"/>
              </a:rPr>
              <a:t>re</a:t>
            </a:r>
            <a:r>
              <a:rPr lang="zh-CN" altLang="en-US" sz="2000" b="0" i="0" u="none" strike="noStrike" kern="1200" cap="none" spc="0" baseline="0">
                <a:solidFill>
                  <a:schemeClr val="tx1"/>
                </a:solidFill>
                <a:latin typeface="Verdana" pitchFamily="34" charset="0"/>
                <a:ea typeface="宋体" charset="0"/>
                <a:cs typeface="Verdana" pitchFamily="34" charset="0"/>
              </a:rPr>
              <a:t>”之后紧跟的字符串是“</a:t>
            </a:r>
            <a:r>
              <a:rPr lang="en-US" altLang="zh-CN" sz="2000" b="0" i="0" u="none" strike="noStrike" kern="1200" cap="none" spc="0" baseline="0">
                <a:solidFill>
                  <a:schemeClr val="tx1"/>
                </a:solidFill>
                <a:latin typeface="Verdana" pitchFamily="34" charset="0"/>
                <a:ea typeface="宋体" charset="0"/>
                <a:cs typeface="Verdana" pitchFamily="34" charset="0"/>
              </a:rPr>
              <a:t>gular</a:t>
            </a:r>
            <a:r>
              <a:rPr lang="zh-CN" altLang="en-US" sz="2000" b="0" i="0" u="none" strike="noStrike" kern="1200" cap="none" spc="0" baseline="0">
                <a:solidFill>
                  <a:schemeClr val="tx1"/>
                </a:solidFill>
                <a:latin typeface="Verdana" pitchFamily="34" charset="0"/>
                <a:ea typeface="宋体" charset="0"/>
                <a:cs typeface="Verdana" pitchFamily="34" charset="0"/>
              </a:rPr>
              <a:t>”才能匹配。</a:t>
            </a:r>
          </a:p>
        </p:txBody>
      </p:sp>
    </p:spTree>
    <p:extLst>
      <p:ext uri="{BB962C8B-B14F-4D97-AF65-F5344CB8AC3E}">
        <p14:creationId xmlns:p14="http://schemas.microsoft.com/office/powerpoint/2010/main" val="2002103796"/>
      </p:ext>
    </p:extLst>
  </p:cSld>
  <p:clrMapOvr>
    <a:masterClrMapping/>
  </p:clrMapOvr>
  <p:transition spd="slow" advTm="7922"/>
</p:sld>
</file>

<file path=ppt/slides/slide34.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415" name="矩形"/>
          <p:cNvSpPr>
            <a:spLocks/>
          </p:cNvSpPr>
          <p:nvPr/>
        </p:nvSpPr>
        <p:spPr>
          <a:xfrm>
            <a:off x="681023" y="1920592"/>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417"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416" name="文本框"/>
          <p:cNvSpPr>
            <a:spLocks noGrp="1"/>
          </p:cNvSpPr>
          <p:nvPr>
            <p:ph type="ctrTitle"/>
          </p:nvPr>
        </p:nvSpPr>
        <p:spPr>
          <a:xfrm>
            <a:off x="0" y="250825"/>
            <a:ext cx="7772400" cy="685800"/>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marL="0" indent="0" algn="ctr" eaLnBrk="1" hangingPunct="1">
              <a:lnSpc>
                <a:spcPct val="100000"/>
              </a:lnSpc>
              <a:spcBef>
                <a:spcPts val="0"/>
              </a:spcBef>
              <a:spcAft>
                <a:spcPts val="0"/>
              </a:spcAft>
              <a:buNone/>
            </a:pPr>
            <a:r>
              <a:rPr lang="zh-CN" altLang="en-US" sz="4000" b="1" i="0" u="none" strike="noStrike" kern="1200" cap="none" spc="0" baseline="0">
                <a:solidFill>
                  <a:schemeClr val="tx1"/>
                </a:solidFill>
                <a:latin typeface="Copperplate Gothic Bold" charset="0"/>
                <a:ea typeface="隶书" pitchFamily="49" charset="-122"/>
                <a:cs typeface="Times New Roman" charset="0"/>
              </a:rPr>
              <a:t>目录</a:t>
            </a:r>
          </a:p>
        </p:txBody>
      </p:sp>
      <p:sp>
        <p:nvSpPr>
          <p:cNvPr id="418" name="矩形"/>
          <p:cNvSpPr>
            <a:spLocks/>
          </p:cNvSpPr>
          <p:nvPr/>
        </p:nvSpPr>
        <p:spPr>
          <a:xfrm>
            <a:off x="7772400" y="6477000"/>
            <a:ext cx="1196975" cy="365125"/>
          </a:xfrm>
          <a:prstGeom prst="rect">
            <a:avLst/>
          </a:prstGeom>
          <a:noFill/>
          <a:ln w="9525" cap="flat" cmpd="sng">
            <a:noFill/>
            <a:prstDash val="solid"/>
            <a:round/>
          </a:ln>
        </p:spPr>
        <p:txBody>
          <a:bodyPr vert="horz" wrap="square" lIns="91440" tIns="45720" rIns="91440" bIns="45720" anchor="t" anchorCtr="0">
            <a:prstTxWarp prst="textNoShape">
              <a:avLst/>
            </a:prstTxWarp>
          </a:bodyPr>
          <a:lstStyle/>
          <a:p>
            <a:pPr marL="0" indent="0" algn="ctr" eaLnBrk="1" hangingPunct="1">
              <a:lnSpc>
                <a:spcPct val="100000"/>
              </a:lnSpc>
              <a:spcBef>
                <a:spcPts val="0"/>
              </a:spcBef>
              <a:spcAft>
                <a:spcPts val="0"/>
              </a:spcAft>
              <a:buNone/>
            </a:pPr>
            <a:r>
              <a:rPr lang="en-US" altLang="zh-CN" sz="1200" b="1" i="0" u="none" strike="noStrike" kern="1200" cap="none" spc="0" baseline="0">
                <a:solidFill>
                  <a:schemeClr val="tx1"/>
                </a:solidFill>
                <a:latin typeface="Verdana" pitchFamily="34" charset="0"/>
                <a:ea typeface="宋体" charset="0"/>
                <a:cs typeface="Verdana" pitchFamily="34" charset="0"/>
              </a:rPr>
              <a:t>2</a:t>
            </a:r>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419" name="矩形"/>
          <p:cNvSpPr>
            <a:spLocks/>
          </p:cNvSpPr>
          <p:nvPr/>
        </p:nvSpPr>
        <p:spPr>
          <a:xfrm>
            <a:off x="681023" y="1245159"/>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420" name="矩形"/>
          <p:cNvSpPr>
            <a:spLocks/>
          </p:cNvSpPr>
          <p:nvPr/>
        </p:nvSpPr>
        <p:spPr>
          <a:xfrm>
            <a:off x="1752600" y="1323975"/>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1 </a:t>
            </a:r>
            <a:r>
              <a:rPr lang="zh-CN" altLang="en-US" sz="2800" b="0" i="0" u="none" strike="noStrike" kern="1200" cap="none" spc="0" baseline="0" dirty="0">
                <a:solidFill>
                  <a:schemeClr val="tx1"/>
                </a:solidFill>
                <a:latin typeface="微软雅黑" charset="0"/>
                <a:ea typeface="微软雅黑" charset="0"/>
                <a:cs typeface="Arial" pitchFamily="34" charset="0"/>
              </a:rPr>
              <a:t>正则表达式简介</a:t>
            </a:r>
          </a:p>
        </p:txBody>
      </p:sp>
      <p:sp>
        <p:nvSpPr>
          <p:cNvPr id="421" name="矩形"/>
          <p:cNvSpPr>
            <a:spLocks/>
          </p:cNvSpPr>
          <p:nvPr/>
        </p:nvSpPr>
        <p:spPr>
          <a:xfrm>
            <a:off x="1752600" y="2006600"/>
            <a:ext cx="4649788" cy="457199"/>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2 </a:t>
            </a:r>
            <a:r>
              <a:rPr lang="zh-CN" altLang="en-US" sz="2800" b="0" i="0" u="none" strike="noStrike" kern="1200" cap="none" spc="0" baseline="0" dirty="0">
                <a:solidFill>
                  <a:schemeClr val="tx1"/>
                </a:solidFill>
                <a:latin typeface="微软雅黑" charset="0"/>
                <a:ea typeface="微软雅黑" charset="0"/>
                <a:cs typeface="Arial" pitchFamily="34" charset="0"/>
              </a:rPr>
              <a:t>简单模式</a:t>
            </a:r>
          </a:p>
        </p:txBody>
      </p:sp>
      <p:sp>
        <p:nvSpPr>
          <p:cNvPr id="422" name="矩形"/>
          <p:cNvSpPr>
            <a:spLocks/>
          </p:cNvSpPr>
          <p:nvPr/>
        </p:nvSpPr>
        <p:spPr>
          <a:xfrm>
            <a:off x="7772400" y="6334125"/>
            <a:ext cx="838200" cy="369888"/>
          </a:xfrm>
          <a:prstGeom prst="rect">
            <a:avLst/>
          </a:prstGeom>
          <a:solidFill>
            <a:schemeClr val="bg1"/>
          </a:solidFill>
          <a:ln w="9525" cap="flat" cmpd="sng">
            <a:noFill/>
            <a:prstDash val="solid"/>
            <a:round/>
          </a:ln>
        </p:spPr>
      </p:sp>
      <p:sp>
        <p:nvSpPr>
          <p:cNvPr id="423" name="矩形"/>
          <p:cNvSpPr>
            <a:spLocks/>
          </p:cNvSpPr>
          <p:nvPr/>
        </p:nvSpPr>
        <p:spPr>
          <a:xfrm>
            <a:off x="681023" y="2621108"/>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424" name="矩形"/>
          <p:cNvSpPr>
            <a:spLocks/>
          </p:cNvSpPr>
          <p:nvPr/>
        </p:nvSpPr>
        <p:spPr>
          <a:xfrm>
            <a:off x="1752600" y="2690813"/>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3 </a:t>
            </a:r>
            <a:r>
              <a:rPr lang="en-US" altLang="zh-CN" sz="2800" b="0" i="0" u="none" strike="noStrike" kern="1200" cap="none" spc="0" baseline="0" dirty="0" err="1">
                <a:solidFill>
                  <a:schemeClr val="tx1"/>
                </a:solidFill>
                <a:latin typeface="微软雅黑" charset="0"/>
                <a:ea typeface="微软雅黑" charset="0"/>
                <a:cs typeface="Arial" pitchFamily="34" charset="0"/>
              </a:rPr>
              <a:t>使用正则表达式</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425" name="矩形"/>
          <p:cNvSpPr>
            <a:spLocks/>
          </p:cNvSpPr>
          <p:nvPr/>
        </p:nvSpPr>
        <p:spPr>
          <a:xfrm>
            <a:off x="681023" y="3303709"/>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426" name="矩形"/>
          <p:cNvSpPr>
            <a:spLocks/>
          </p:cNvSpPr>
          <p:nvPr/>
        </p:nvSpPr>
        <p:spPr>
          <a:xfrm>
            <a:off x="1752600" y="3373414"/>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4 </a:t>
            </a:r>
            <a:r>
              <a:rPr lang="en-US" altLang="zh-CN" sz="2800" b="0" i="0" u="none" strike="noStrike" kern="1200" cap="none" spc="0" baseline="0" dirty="0" err="1">
                <a:solidFill>
                  <a:schemeClr val="tx1"/>
                </a:solidFill>
                <a:latin typeface="微软雅黑" charset="0"/>
                <a:ea typeface="微软雅黑" charset="0"/>
                <a:cs typeface="Arial" pitchFamily="34" charset="0"/>
              </a:rPr>
              <a:t>更多模式功能</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427" name="矩形"/>
          <p:cNvSpPr>
            <a:spLocks/>
          </p:cNvSpPr>
          <p:nvPr/>
        </p:nvSpPr>
        <p:spPr>
          <a:xfrm>
            <a:off x="661467" y="3993431"/>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428" name="矩形"/>
          <p:cNvSpPr>
            <a:spLocks/>
          </p:cNvSpPr>
          <p:nvPr/>
        </p:nvSpPr>
        <p:spPr>
          <a:xfrm>
            <a:off x="1733044" y="4063135"/>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rgbClr val="C00000"/>
                </a:solidFill>
                <a:latin typeface="微软雅黑" charset="0"/>
                <a:ea typeface="微软雅黑" charset="0"/>
                <a:cs typeface="Arial" pitchFamily="34" charset="0"/>
              </a:rPr>
              <a:t> 5 </a:t>
            </a:r>
            <a:r>
              <a:rPr lang="en-US" altLang="zh-CN" sz="2800" b="0" i="0" u="none" strike="noStrike" kern="1200" cap="none" spc="0" baseline="0" dirty="0" err="1">
                <a:solidFill>
                  <a:srgbClr val="C00000"/>
                </a:solidFill>
                <a:latin typeface="微软雅黑" charset="0"/>
                <a:ea typeface="微软雅黑" charset="0"/>
                <a:cs typeface="Arial" pitchFamily="34" charset="0"/>
              </a:rPr>
              <a:t>修改字符串</a:t>
            </a:r>
            <a:endParaRPr lang="zh-CN" altLang="en-US" sz="2800" b="0" i="0" u="none" strike="noStrike" kern="1200" cap="none" spc="0" baseline="0" dirty="0">
              <a:solidFill>
                <a:srgbClr val="C00000"/>
              </a:solidFill>
              <a:latin typeface="微软雅黑" charset="0"/>
              <a:ea typeface="微软雅黑" charset="0"/>
              <a:cs typeface="Arial" pitchFamily="34" charset="0"/>
            </a:endParaRPr>
          </a:p>
        </p:txBody>
      </p:sp>
      <p:sp>
        <p:nvSpPr>
          <p:cNvPr id="429" name="矩形"/>
          <p:cNvSpPr>
            <a:spLocks/>
          </p:cNvSpPr>
          <p:nvPr/>
        </p:nvSpPr>
        <p:spPr>
          <a:xfrm>
            <a:off x="681637" y="4696801"/>
            <a:ext cx="7091375" cy="428643"/>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430" name="矩形"/>
          <p:cNvSpPr>
            <a:spLocks/>
          </p:cNvSpPr>
          <p:nvPr/>
        </p:nvSpPr>
        <p:spPr>
          <a:xfrm>
            <a:off x="1753214" y="4766506"/>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6 </a:t>
            </a:r>
            <a:r>
              <a:rPr lang="en-US" altLang="zh-CN" sz="2800" b="0" i="0" u="none" strike="noStrike" kern="1200" cap="none" spc="0" baseline="0" dirty="0" err="1">
                <a:solidFill>
                  <a:schemeClr val="tx1"/>
                </a:solidFill>
                <a:latin typeface="微软雅黑" charset="0"/>
                <a:ea typeface="微软雅黑" charset="0"/>
                <a:cs typeface="Arial" pitchFamily="34" charset="0"/>
              </a:rPr>
              <a:t>常见问题</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Tree>
    <p:extLst>
      <p:ext uri="{BB962C8B-B14F-4D97-AF65-F5344CB8AC3E}">
        <p14:creationId xmlns:p14="http://schemas.microsoft.com/office/powerpoint/2010/main" val="707322013"/>
      </p:ext>
    </p:extLst>
  </p:cSld>
  <p:clrMapOvr>
    <a:masterClrMapping/>
  </p:clrMapOvr>
  <p:transition advTm="5185"/>
</p:sld>
</file>

<file path=ppt/slides/slide35.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433"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434" name="矩形"/>
          <p:cNvSpPr>
            <a:spLocks/>
          </p:cNvSpPr>
          <p:nvPr/>
        </p:nvSpPr>
        <p:spPr>
          <a:xfrm>
            <a:off x="0" y="0"/>
            <a:ext cx="9144000" cy="0"/>
          </a:xfrm>
          <a:prstGeom prst="rect">
            <a:avLst/>
          </a:prstGeom>
          <a:noFill/>
          <a:ln w="9525" cap="flat" cmpd="sng">
            <a:noFill/>
            <a:prstDash val="solid"/>
            <a:round/>
          </a:ln>
        </p:spPr>
      </p:sp>
      <p:sp>
        <p:nvSpPr>
          <p:cNvPr id="435"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5 </a:t>
            </a:r>
            <a:r>
              <a:rPr lang="zh-CN" altLang="en-US" sz="2800" b="1" i="0" u="none" strike="noStrike" kern="1200" cap="none" spc="0" baseline="0" dirty="0">
                <a:solidFill>
                  <a:schemeClr val="accent2"/>
                </a:solidFill>
                <a:latin typeface="微软雅黑" charset="0"/>
                <a:ea typeface="微软雅黑" charset="0"/>
                <a:cs typeface="Verdana" pitchFamily="34" charset="0"/>
              </a:rPr>
              <a:t>修改字符串</a:t>
            </a:r>
          </a:p>
        </p:txBody>
      </p:sp>
      <p:sp>
        <p:nvSpPr>
          <p:cNvPr id="436" name="矩形"/>
          <p:cNvSpPr>
            <a:spLocks/>
          </p:cNvSpPr>
          <p:nvPr/>
        </p:nvSpPr>
        <p:spPr>
          <a:xfrm>
            <a:off x="533506" y="1273284"/>
            <a:ext cx="7696100" cy="68199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除了简单地搜索了一个静态字符串外，正则表达式对象也含有一些方法用于修改字符串。如下表所示</a:t>
            </a:r>
          </a:p>
        </p:txBody>
      </p:sp>
      <p:graphicFrame>
        <p:nvGraphicFramePr>
          <p:cNvPr id="437" name="表格"/>
          <p:cNvGraphicFramePr>
            <a:graphicFrameLocks noGrp="1"/>
          </p:cNvGraphicFramePr>
          <p:nvPr/>
        </p:nvGraphicFramePr>
        <p:xfrm>
          <a:off x="685800" y="1945656"/>
          <a:ext cx="7315073" cy="3224503"/>
        </p:xfrm>
        <a:graphic>
          <a:graphicData uri="http://schemas.openxmlformats.org/drawingml/2006/table">
            <a:tbl>
              <a:tblPr bandRow="1"/>
              <a:tblGrid>
                <a:gridCol w="1501965">
                  <a:extLst>
                    <a:ext uri="{9D8B030D-6E8A-4147-A177-3AD203B41FA5}">
                      <a16:colId xmlns:a16="http://schemas.microsoft.com/office/drawing/2014/main" val="20000"/>
                    </a:ext>
                  </a:extLst>
                </a:gridCol>
                <a:gridCol w="5813108">
                  <a:extLst>
                    <a:ext uri="{9D8B030D-6E8A-4147-A177-3AD203B41FA5}">
                      <a16:colId xmlns:a16="http://schemas.microsoft.com/office/drawing/2014/main" val="20001"/>
                    </a:ext>
                  </a:extLst>
                </a:gridCol>
              </a:tblGrid>
              <a:tr h="568957">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方</a:t>
                      </a:r>
                      <a:r>
                        <a:rPr lang="en-US" altLang="zh-CN" sz="1800" b="1" i="0" u="none" strike="noStrike" kern="1000" cap="none" spc="0" baseline="0">
                          <a:solidFill>
                            <a:srgbClr val="FFFFFF"/>
                          </a:solidFill>
                          <a:latin typeface="Verdana" pitchFamily="34" charset="0"/>
                          <a:ea typeface="宋体" charset="0"/>
                          <a:cs typeface="Verdana" pitchFamily="34" charset="0"/>
                        </a:rPr>
                        <a:t>  </a:t>
                      </a:r>
                      <a:r>
                        <a:rPr lang="zh-CN" altLang="en-US" sz="1800" b="1" i="0" u="none" strike="noStrike" kern="1000" cap="none" spc="0" baseline="0">
                          <a:solidFill>
                            <a:srgbClr val="FFFFFF"/>
                          </a:solidFill>
                          <a:latin typeface="Verdana" pitchFamily="34" charset="0"/>
                          <a:ea typeface="宋体" charset="0"/>
                          <a:cs typeface="Verdana" pitchFamily="34" charset="0"/>
                        </a:rPr>
                        <a:t>法</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tc>
                  <a:txBody>
                    <a:bodyPr/>
                    <a:lstStyle/>
                    <a:p>
                      <a:pPr marL="0" indent="0" algn="ctr" eaLnBrk="1" latinLnBrk="0" hangingPunct="1">
                        <a:lnSpc>
                          <a:spcPct val="100000"/>
                        </a:lnSpc>
                        <a:spcBef>
                          <a:spcPts val="120"/>
                        </a:spcBef>
                        <a:spcAft>
                          <a:spcPts val="120"/>
                        </a:spcAft>
                        <a:buNone/>
                      </a:pPr>
                      <a:r>
                        <a:rPr lang="zh-CN" altLang="en-US" sz="1800" b="1" i="0" u="none" strike="noStrike" kern="1000" cap="none" spc="0" baseline="0">
                          <a:solidFill>
                            <a:srgbClr val="FFFFFF"/>
                          </a:solidFill>
                          <a:latin typeface="Verdana" pitchFamily="34" charset="0"/>
                          <a:ea typeface="宋体" charset="0"/>
                          <a:cs typeface="Verdana" pitchFamily="34" charset="0"/>
                        </a:rPr>
                        <a:t>目</a:t>
                      </a:r>
                      <a:r>
                        <a:rPr lang="en-US" altLang="zh-CN" sz="1800" b="1" i="0" u="none" strike="noStrike" kern="1000" cap="none" spc="0" baseline="0">
                          <a:solidFill>
                            <a:srgbClr val="FFFFFF"/>
                          </a:solidFill>
                          <a:latin typeface="Verdana" pitchFamily="34" charset="0"/>
                          <a:ea typeface="宋体" charset="0"/>
                          <a:cs typeface="Verdana" pitchFamily="34" charset="0"/>
                        </a:rPr>
                        <a:t>  </a:t>
                      </a:r>
                      <a:r>
                        <a:rPr lang="zh-CN" altLang="en-US" sz="1800" b="1" i="0" u="none" strike="noStrike" kern="1000" cap="none" spc="0" baseline="0">
                          <a:solidFill>
                            <a:srgbClr val="FFFFFF"/>
                          </a:solidFill>
                          <a:latin typeface="Verdana" pitchFamily="34" charset="0"/>
                          <a:ea typeface="宋体" charset="0"/>
                          <a:cs typeface="Verdana" pitchFamily="34" charset="0"/>
                        </a:rPr>
                        <a:t>的</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A3B2C1"/>
                    </a:solidFill>
                  </a:tcPr>
                </a:tc>
                <a:extLst>
                  <a:ext uri="{0D108BD9-81ED-4DB2-BD59-A6C34878D82A}">
                    <a16:rowId xmlns:a16="http://schemas.microsoft.com/office/drawing/2014/main" val="10000"/>
                  </a:ext>
                </a:extLst>
              </a:tr>
              <a:tr h="885182">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split()</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字符串分片，返回一个列表（</a:t>
                      </a:r>
                      <a:r>
                        <a:rPr lang="en-US" altLang="zh-CN" sz="1800" b="0" i="0" u="none" strike="noStrike" kern="1000" cap="none" spc="0" baseline="0">
                          <a:solidFill>
                            <a:srgbClr val="000000"/>
                          </a:solidFill>
                          <a:latin typeface="Verdana" pitchFamily="34" charset="0"/>
                          <a:ea typeface="宋体" charset="0"/>
                          <a:cs typeface="Verdana" pitchFamily="34" charset="0"/>
                        </a:rPr>
                        <a:t>List</a:t>
                      </a:r>
                      <a:r>
                        <a:rPr lang="zh-CN" altLang="en-US" sz="1800" b="0" i="0" u="none" strike="noStrike" kern="1000" cap="none" spc="0" baseline="0">
                          <a:solidFill>
                            <a:srgbClr val="000000"/>
                          </a:solidFill>
                          <a:latin typeface="Verdana" pitchFamily="34" charset="0"/>
                          <a:ea typeface="宋体" charset="0"/>
                          <a:cs typeface="Verdana" pitchFamily="34" charset="0"/>
                        </a:rPr>
                        <a:t>），分隔的位置为表达式匹配的地方</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10795" marB="10795" anchor="ctr">
                    <a:lnL>
                      <a:noFill/>
                    </a:lnL>
                    <a:lnR>
                      <a:noFill/>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1"/>
                  </a:ext>
                </a:extLst>
              </a:tr>
              <a:tr h="885182">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sub()</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替换所有正则表达式匹配的子串</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2"/>
                  </a:ext>
                </a:extLst>
              </a:tr>
              <a:tr h="885182">
                <a:tc>
                  <a:txBody>
                    <a:bodyPr/>
                    <a:lstStyle/>
                    <a:p>
                      <a:pPr marL="0" indent="0" algn="ctr" eaLnBrk="1" latinLnBrk="0" hangingPunct="1">
                        <a:lnSpc>
                          <a:spcPct val="100000"/>
                        </a:lnSpc>
                        <a:spcBef>
                          <a:spcPts val="120"/>
                        </a:spcBef>
                        <a:spcAft>
                          <a:spcPts val="120"/>
                        </a:spcAft>
                        <a:buNone/>
                      </a:pPr>
                      <a:r>
                        <a:rPr lang="en-US" altLang="zh-CN" sz="1800" b="1" i="0" u="none" strike="noStrike" kern="1000" cap="none" spc="0" baseline="0">
                          <a:solidFill>
                            <a:srgbClr val="FFFFFF"/>
                          </a:solidFill>
                          <a:latin typeface="Verdana" pitchFamily="34" charset="0"/>
                          <a:ea typeface="宋体" charset="0"/>
                          <a:cs typeface="Verdana" pitchFamily="34" charset="0"/>
                        </a:rPr>
                        <a:t>subn()</a:t>
                      </a:r>
                      <a:endParaRPr lang="zh-CN" altLang="en-US" sz="1800" b="1" i="0" u="none" strike="noStrike" kern="1000" cap="none" spc="0" baseline="0">
                        <a:solidFill>
                          <a:srgbClr val="FFFFFF"/>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A3B2C1"/>
                    </a:solidFill>
                  </a:tcPr>
                </a:tc>
                <a:tc>
                  <a:txBody>
                    <a:bodyPr/>
                    <a:lstStyle/>
                    <a:p>
                      <a:pPr marL="0" indent="0" algn="just" eaLnBrk="1" latinLnBrk="0" hangingPunct="1">
                        <a:lnSpc>
                          <a:spcPct val="100000"/>
                        </a:lnSpc>
                        <a:spcBef>
                          <a:spcPts val="120"/>
                        </a:spcBef>
                        <a:spcAft>
                          <a:spcPts val="120"/>
                        </a:spcAft>
                        <a:buNone/>
                      </a:pPr>
                      <a:r>
                        <a:rPr lang="zh-CN" altLang="en-US" sz="1800" b="0" i="0" u="none" strike="noStrike" kern="1000" cap="none" spc="0" baseline="0">
                          <a:solidFill>
                            <a:srgbClr val="000000"/>
                          </a:solidFill>
                          <a:latin typeface="Verdana" pitchFamily="34" charset="0"/>
                          <a:ea typeface="宋体" charset="0"/>
                          <a:cs typeface="Verdana" pitchFamily="34" charset="0"/>
                        </a:rPr>
                        <a:t>与</a:t>
                      </a:r>
                      <a:r>
                        <a:rPr lang="en-US" altLang="zh-CN" sz="1800" b="0" i="0" u="none" strike="noStrike" kern="1000" cap="none" spc="0" baseline="0">
                          <a:solidFill>
                            <a:srgbClr val="000000"/>
                          </a:solidFill>
                          <a:latin typeface="Verdana" pitchFamily="34" charset="0"/>
                          <a:ea typeface="宋体" charset="0"/>
                          <a:cs typeface="Verdana" pitchFamily="34" charset="0"/>
                        </a:rPr>
                        <a:t>sub()</a:t>
                      </a:r>
                      <a:r>
                        <a:rPr lang="zh-CN" altLang="en-US" sz="1800" b="0" i="0" u="none" strike="noStrike" kern="1000" cap="none" spc="0" baseline="0">
                          <a:solidFill>
                            <a:srgbClr val="000000"/>
                          </a:solidFill>
                          <a:latin typeface="Verdana" pitchFamily="34" charset="0"/>
                          <a:ea typeface="宋体" charset="0"/>
                          <a:cs typeface="Verdana" pitchFamily="34" charset="0"/>
                        </a:rPr>
                        <a:t>功能相同，但会返回新的字符串和替换字串的数量</a:t>
                      </a:r>
                      <a:endParaRPr lang="zh-CN" altLang="en-US" sz="1800" b="0" i="0" u="none" strike="noStrike" kern="1000" cap="none" spc="0" baseline="0">
                        <a:solidFill>
                          <a:srgbClr val="000000"/>
                        </a:solidFill>
                        <a:latin typeface="Times New Roman" charset="0"/>
                        <a:ea typeface="方正书宋简体" charset="0"/>
                        <a:cs typeface="Verdana" pitchFamily="34" charset="0"/>
                      </a:endParaRPr>
                    </a:p>
                  </a:txBody>
                  <a:tcPr marL="68580" marR="68580" marT="10795" marB="10795" anchor="ctr">
                    <a:lnL>
                      <a:noFill/>
                    </a:lnL>
                    <a:lnR>
                      <a:noFill/>
                    </a:lnR>
                    <a:lnT w="127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E0E4E9"/>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26851767"/>
      </p:ext>
    </p:extLst>
  </p:cSld>
  <p:clrMapOvr>
    <a:masterClrMapping/>
  </p:clrMapOvr>
  <p:transition spd="slow" advTm="7922"/>
</p:sld>
</file>

<file path=ppt/slides/slide36.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440"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441" name="矩形"/>
          <p:cNvSpPr>
            <a:spLocks/>
          </p:cNvSpPr>
          <p:nvPr/>
        </p:nvSpPr>
        <p:spPr>
          <a:xfrm>
            <a:off x="0" y="0"/>
            <a:ext cx="9144000" cy="0"/>
          </a:xfrm>
          <a:prstGeom prst="rect">
            <a:avLst/>
          </a:prstGeom>
          <a:noFill/>
          <a:ln w="9525" cap="flat" cmpd="sng">
            <a:noFill/>
            <a:prstDash val="solid"/>
            <a:round/>
          </a:ln>
        </p:spPr>
      </p:sp>
      <p:sp>
        <p:nvSpPr>
          <p:cNvPr id="442"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5 </a:t>
            </a:r>
            <a:r>
              <a:rPr lang="zh-CN" altLang="en-US" sz="2800" b="1" i="0" u="none" strike="noStrike" kern="1200" cap="none" spc="0" baseline="0" dirty="0">
                <a:solidFill>
                  <a:schemeClr val="accent2"/>
                </a:solidFill>
                <a:latin typeface="微软雅黑" charset="0"/>
                <a:ea typeface="微软雅黑" charset="0"/>
                <a:cs typeface="Verdana" pitchFamily="34" charset="0"/>
              </a:rPr>
              <a:t>修改字符串</a:t>
            </a:r>
          </a:p>
        </p:txBody>
      </p:sp>
      <p:sp>
        <p:nvSpPr>
          <p:cNvPr id="443"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5.1 </a:t>
            </a:r>
            <a:r>
              <a:rPr lang="zh-CN" altLang="en-US" sz="2800" b="0" i="0" u="none" strike="noStrike" kern="1200" cap="none" spc="0" baseline="0" dirty="0">
                <a:solidFill>
                  <a:schemeClr val="tx1"/>
                </a:solidFill>
                <a:latin typeface="Verdana" pitchFamily="34" charset="0"/>
                <a:ea typeface="宋体" charset="0"/>
                <a:cs typeface="Verdana" pitchFamily="34" charset="0"/>
              </a:rPr>
              <a:t>字符串分片</a:t>
            </a:r>
          </a:p>
        </p:txBody>
      </p:sp>
      <p:sp>
        <p:nvSpPr>
          <p:cNvPr id="444" name="矩形"/>
          <p:cNvSpPr>
            <a:spLocks/>
          </p:cNvSpPr>
          <p:nvPr/>
        </p:nvSpPr>
        <p:spPr>
          <a:xfrm>
            <a:off x="765804" y="1894820"/>
            <a:ext cx="7696100" cy="3339465"/>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正则表达式对象的</a:t>
            </a:r>
            <a:r>
              <a:rPr lang="en-US" altLang="zh-CN" sz="2000" b="0" i="0" u="none" strike="noStrike" kern="1200" cap="none" spc="0" baseline="0">
                <a:solidFill>
                  <a:schemeClr val="tx1"/>
                </a:solidFill>
                <a:latin typeface="Verdana" pitchFamily="34" charset="0"/>
                <a:ea typeface="宋体" charset="0"/>
                <a:cs typeface="Verdana" pitchFamily="34" charset="0"/>
              </a:rPr>
              <a:t>split()</a:t>
            </a:r>
            <a:r>
              <a:rPr lang="zh-CN" altLang="en-US" sz="2000" b="0" i="0" u="none" strike="noStrike" kern="1200" cap="none" spc="0" baseline="0">
                <a:solidFill>
                  <a:schemeClr val="tx1"/>
                </a:solidFill>
                <a:latin typeface="Verdana" pitchFamily="34" charset="0"/>
                <a:ea typeface="宋体" charset="0"/>
                <a:cs typeface="Verdana" pitchFamily="34" charset="0"/>
              </a:rPr>
              <a:t>方法在正则表达式匹配的地方将字符串分片，并返回一个包含分片列表。它同字符串的</a:t>
            </a:r>
            <a:r>
              <a:rPr lang="en-US" altLang="zh-CN" sz="2000" b="0" i="0" u="none" strike="noStrike" kern="1200" cap="none" spc="0" baseline="0">
                <a:solidFill>
                  <a:schemeClr val="tx1"/>
                </a:solidFill>
                <a:latin typeface="Verdana" pitchFamily="34" charset="0"/>
                <a:ea typeface="宋体" charset="0"/>
                <a:cs typeface="Verdana" pitchFamily="34" charset="0"/>
              </a:rPr>
              <a:t>split()</a:t>
            </a:r>
            <a:r>
              <a:rPr lang="zh-CN" altLang="en-US" sz="2000" b="0" i="0" u="none" strike="noStrike" kern="1200" cap="none" spc="0" baseline="0">
                <a:solidFill>
                  <a:schemeClr val="tx1"/>
                </a:solidFill>
                <a:latin typeface="Verdana" pitchFamily="34" charset="0"/>
                <a:ea typeface="宋体" charset="0"/>
                <a:cs typeface="Verdana" pitchFamily="34" charset="0"/>
              </a:rPr>
              <a:t>方法相似，但通过正则表达式可以提供更多的分隔符。而字符串的</a:t>
            </a:r>
            <a:r>
              <a:rPr lang="en-US" altLang="zh-CN" sz="2000" b="0" i="0" u="none" strike="noStrike" kern="1200" cap="none" spc="0" baseline="0">
                <a:solidFill>
                  <a:schemeClr val="tx1"/>
                </a:solidFill>
                <a:latin typeface="Verdana" pitchFamily="34" charset="0"/>
                <a:ea typeface="宋体" charset="0"/>
                <a:cs typeface="Verdana" pitchFamily="34" charset="0"/>
              </a:rPr>
              <a:t>split()</a:t>
            </a:r>
            <a:r>
              <a:rPr lang="zh-CN" altLang="en-US" sz="2000" b="0" i="0" u="none" strike="noStrike" kern="1200" cap="none" spc="0" baseline="0">
                <a:solidFill>
                  <a:schemeClr val="tx1"/>
                </a:solidFill>
                <a:latin typeface="Verdana" pitchFamily="34" charset="0"/>
                <a:ea typeface="宋体" charset="0"/>
                <a:cs typeface="Verdana" pitchFamily="34" charset="0"/>
              </a:rPr>
              <a:t>方法只支持空白符和固定字符串。</a:t>
            </a:r>
            <a:r>
              <a:rPr lang="en-US" altLang="zh-CN" sz="2000" b="0" i="0" u="none" strike="noStrike" kern="1200" cap="none" spc="0" baseline="0">
                <a:solidFill>
                  <a:schemeClr val="tx1"/>
                </a:solidFill>
                <a:latin typeface="Verdana" pitchFamily="34" charset="0"/>
                <a:ea typeface="宋体" charset="0"/>
                <a:cs typeface="Verdana" pitchFamily="34" charset="0"/>
              </a:rPr>
              <a:t>Python</a:t>
            </a:r>
            <a:r>
              <a:rPr lang="zh-CN" altLang="en-US" sz="2000" b="0" i="0" u="none" strike="noStrike" kern="1200" cap="none" spc="0" baseline="0">
                <a:solidFill>
                  <a:schemeClr val="tx1"/>
                </a:solidFill>
                <a:latin typeface="Verdana" pitchFamily="34" charset="0"/>
                <a:ea typeface="宋体" charset="0"/>
                <a:cs typeface="Verdana" pitchFamily="34" charset="0"/>
              </a:rPr>
              <a:t>同样也有一个模块级的</a:t>
            </a:r>
            <a:r>
              <a:rPr lang="en-US" altLang="zh-CN" sz="2000" b="0" i="0" u="none" strike="noStrike" kern="1200" cap="none" spc="0" baseline="0">
                <a:solidFill>
                  <a:schemeClr val="tx1"/>
                </a:solidFill>
                <a:latin typeface="Verdana" pitchFamily="34" charset="0"/>
                <a:ea typeface="宋体" charset="0"/>
                <a:cs typeface="Verdana" pitchFamily="34" charset="0"/>
              </a:rPr>
              <a:t>re.split()</a:t>
            </a:r>
            <a:r>
              <a:rPr lang="zh-CN" altLang="en-US" sz="2000" b="0" i="0" u="none" strike="noStrike" kern="1200" cap="none" spc="0" baseline="0">
                <a:solidFill>
                  <a:schemeClr val="tx1"/>
                </a:solidFill>
                <a:latin typeface="Verdana" pitchFamily="34" charset="0"/>
                <a:ea typeface="宋体" charset="0"/>
                <a:cs typeface="Verdana" pitchFamily="34" charset="0"/>
              </a:rPr>
              <a:t>函数。</a:t>
            </a:r>
            <a:r>
              <a:rPr lang="en-US" altLang="zh-CN" sz="2000" b="0" i="0" u="none" strike="noStrike" kern="1200" cap="none" spc="0" baseline="0">
                <a:solidFill>
                  <a:schemeClr val="tx1"/>
                </a:solidFill>
                <a:latin typeface="Verdana" pitchFamily="34" charset="0"/>
                <a:ea typeface="宋体" charset="0"/>
                <a:cs typeface="Verdana" pitchFamily="34" charset="0"/>
              </a:rPr>
              <a:t>split()</a:t>
            </a:r>
            <a:r>
              <a:rPr lang="zh-CN" altLang="en-US" sz="2000" b="0" i="0" u="none" strike="noStrike" kern="1200" cap="none" spc="0" baseline="0">
                <a:solidFill>
                  <a:schemeClr val="tx1"/>
                </a:solidFill>
                <a:latin typeface="Verdana" pitchFamily="34" charset="0"/>
                <a:ea typeface="宋体" charset="0"/>
                <a:cs typeface="Verdana" pitchFamily="34" charset="0"/>
              </a:rPr>
              <a:t>方法的原型如下。</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split(string [, maxsplit = 0])</a:t>
            </a:r>
          </a:p>
          <a:p>
            <a:pPr marL="0" indent="0" algn="l">
              <a:lnSpc>
                <a:spcPct val="100000"/>
              </a:lnSpc>
              <a:spcBef>
                <a:spcPts val="0"/>
              </a:spcBef>
              <a:spcAft>
                <a:spcPts val="0"/>
              </a:spcAft>
              <a:buNone/>
            </a:pPr>
            <a:endParaRPr lang="en-US" altLang="zh-CN" sz="2000" b="0" i="0" u="none" strike="noStrike" kern="1200" cap="none" spc="0" baseline="0">
              <a:solidFill>
                <a:schemeClr val="tx1"/>
              </a:solidFill>
              <a:latin typeface="Consolas" pitchFamily="49" charset="0"/>
              <a:ea typeface="宋体" charset="0"/>
              <a:cs typeface="Consolas" pitchFamily="49" charset="0"/>
            </a:endParaRP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可以通过设置</a:t>
            </a:r>
            <a:r>
              <a:rPr lang="en-US" altLang="zh-CN" sz="2000" b="0" i="0" u="none" strike="noStrike" kern="1200" cap="none" spc="0" baseline="0">
                <a:solidFill>
                  <a:schemeClr val="tx1"/>
                </a:solidFill>
                <a:latin typeface="Verdana" pitchFamily="34" charset="0"/>
                <a:ea typeface="宋体" charset="0"/>
                <a:cs typeface="Verdana" pitchFamily="34" charset="0"/>
              </a:rPr>
              <a:t>maxsplit</a:t>
            </a:r>
            <a:r>
              <a:rPr lang="zh-CN" altLang="en-US" sz="2000" b="0" i="0" u="none" strike="noStrike" kern="1200" cap="none" spc="0" baseline="0">
                <a:solidFill>
                  <a:schemeClr val="tx1"/>
                </a:solidFill>
                <a:latin typeface="Verdana" pitchFamily="34" charset="0"/>
                <a:ea typeface="宋体" charset="0"/>
                <a:cs typeface="Verdana" pitchFamily="34" charset="0"/>
              </a:rPr>
              <a:t>的值来限制分片数，当</a:t>
            </a:r>
            <a:r>
              <a:rPr lang="en-US" altLang="zh-CN" sz="2000" b="0" i="0" u="none" strike="noStrike" kern="1200" cap="none" spc="0" baseline="0">
                <a:solidFill>
                  <a:schemeClr val="tx1"/>
                </a:solidFill>
                <a:latin typeface="Verdana" pitchFamily="34" charset="0"/>
                <a:ea typeface="宋体" charset="0"/>
                <a:cs typeface="Verdana" pitchFamily="34" charset="0"/>
              </a:rPr>
              <a:t>maxsplit</a:t>
            </a:r>
            <a:r>
              <a:rPr lang="zh-CN" altLang="en-US" sz="2000" b="0" i="0" u="none" strike="noStrike" kern="1200" cap="none" spc="0" baseline="0">
                <a:solidFill>
                  <a:schemeClr val="tx1"/>
                </a:solidFill>
                <a:latin typeface="Verdana" pitchFamily="34" charset="0"/>
                <a:ea typeface="宋体" charset="0"/>
                <a:cs typeface="Verdana" pitchFamily="34" charset="0"/>
              </a:rPr>
              <a:t>非零时，最多只能有</a:t>
            </a:r>
            <a:r>
              <a:rPr lang="en-US" altLang="zh-CN" sz="2000" b="0" i="0" u="none" strike="noStrike" kern="1200" cap="none" spc="0" baseline="0">
                <a:solidFill>
                  <a:schemeClr val="tx1"/>
                </a:solidFill>
                <a:latin typeface="Verdana" pitchFamily="34" charset="0"/>
                <a:ea typeface="宋体" charset="0"/>
                <a:cs typeface="Verdana" pitchFamily="34" charset="0"/>
              </a:rPr>
              <a:t>maxsplit+1</a:t>
            </a:r>
            <a:r>
              <a:rPr lang="zh-CN" altLang="en-US" sz="2000" b="0" i="0" u="none" strike="noStrike" kern="1200" cap="none" spc="0" baseline="0">
                <a:solidFill>
                  <a:schemeClr val="tx1"/>
                </a:solidFill>
                <a:latin typeface="Verdana" pitchFamily="34" charset="0"/>
                <a:ea typeface="宋体" charset="0"/>
                <a:cs typeface="Verdana" pitchFamily="34" charset="0"/>
              </a:rPr>
              <a:t>个分片，字符串的其余部分被作为列表的最后一个元素返回。</a:t>
            </a:r>
            <a:endParaRPr lang="zh-CN" altLang="en-US" sz="2000" b="0" i="0" u="none" strike="noStrike" kern="1200" cap="none" spc="0" baseline="0">
              <a:solidFill>
                <a:schemeClr val="tx1"/>
              </a:solidFill>
              <a:latin typeface="Consolas" pitchFamily="49" charset="0"/>
              <a:ea typeface="宋体" charset="0"/>
              <a:cs typeface="Consolas" pitchFamily="49" charset="0"/>
            </a:endParaRPr>
          </a:p>
        </p:txBody>
      </p:sp>
    </p:spTree>
    <p:extLst>
      <p:ext uri="{BB962C8B-B14F-4D97-AF65-F5344CB8AC3E}">
        <p14:creationId xmlns:p14="http://schemas.microsoft.com/office/powerpoint/2010/main" val="1195181565"/>
      </p:ext>
    </p:extLst>
  </p:cSld>
  <p:clrMapOvr>
    <a:masterClrMapping/>
  </p:clrMapOvr>
  <p:transition spd="slow" advTm="7922"/>
</p:sld>
</file>

<file path=ppt/slides/slide37.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447"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448" name="矩形"/>
          <p:cNvSpPr>
            <a:spLocks/>
          </p:cNvSpPr>
          <p:nvPr/>
        </p:nvSpPr>
        <p:spPr>
          <a:xfrm>
            <a:off x="0" y="0"/>
            <a:ext cx="9144000" cy="0"/>
          </a:xfrm>
          <a:prstGeom prst="rect">
            <a:avLst/>
          </a:prstGeom>
          <a:noFill/>
          <a:ln w="9525" cap="flat" cmpd="sng">
            <a:noFill/>
            <a:prstDash val="solid"/>
            <a:round/>
          </a:ln>
        </p:spPr>
      </p:sp>
      <p:sp>
        <p:nvSpPr>
          <p:cNvPr id="449"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5 </a:t>
            </a:r>
            <a:r>
              <a:rPr lang="zh-CN" altLang="en-US" sz="2800" b="1" i="0" u="none" strike="noStrike" kern="1200" cap="none" spc="0" baseline="0" dirty="0">
                <a:solidFill>
                  <a:schemeClr val="accent2"/>
                </a:solidFill>
                <a:latin typeface="微软雅黑" charset="0"/>
                <a:ea typeface="微软雅黑" charset="0"/>
                <a:cs typeface="Verdana" pitchFamily="34" charset="0"/>
              </a:rPr>
              <a:t>修改字符串</a:t>
            </a:r>
          </a:p>
        </p:txBody>
      </p:sp>
      <p:sp>
        <p:nvSpPr>
          <p:cNvPr id="450"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5.2 </a:t>
            </a:r>
            <a:r>
              <a:rPr lang="zh-CN" altLang="en-US" sz="2800" b="0" i="0" u="none" strike="noStrike" kern="1200" cap="none" spc="0" baseline="0" dirty="0">
                <a:solidFill>
                  <a:schemeClr val="tx1"/>
                </a:solidFill>
                <a:latin typeface="Verdana" pitchFamily="34" charset="0"/>
                <a:ea typeface="宋体" charset="0"/>
                <a:cs typeface="Verdana" pitchFamily="34" charset="0"/>
              </a:rPr>
              <a:t>搜索与替换</a:t>
            </a:r>
          </a:p>
        </p:txBody>
      </p:sp>
      <p:sp>
        <p:nvSpPr>
          <p:cNvPr id="451" name="矩形"/>
          <p:cNvSpPr>
            <a:spLocks/>
          </p:cNvSpPr>
          <p:nvPr/>
        </p:nvSpPr>
        <p:spPr>
          <a:xfrm>
            <a:off x="765804" y="1894820"/>
            <a:ext cx="7696100" cy="4530089"/>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下面是一个使用</a:t>
            </a:r>
            <a:r>
              <a:rPr lang="en-US" altLang="zh-CN" sz="2000" b="0" i="0" u="none" strike="noStrike" kern="1200" cap="none" spc="0" baseline="0">
                <a:solidFill>
                  <a:schemeClr val="tx1"/>
                </a:solidFill>
                <a:latin typeface="Verdana" pitchFamily="34" charset="0"/>
                <a:ea typeface="宋体" charset="0"/>
                <a:cs typeface="Verdana" pitchFamily="34" charset="0"/>
              </a:rPr>
              <a:t>sub()</a:t>
            </a:r>
            <a:r>
              <a:rPr lang="zh-CN" altLang="en-US" sz="2000" b="0" i="0" u="none" strike="noStrike" kern="1200" cap="none" spc="0" baseline="0">
                <a:solidFill>
                  <a:schemeClr val="tx1"/>
                </a:solidFill>
                <a:latin typeface="Verdana" pitchFamily="34" charset="0"/>
                <a:ea typeface="宋体" charset="0"/>
                <a:cs typeface="Verdana" pitchFamily="34" charset="0"/>
              </a:rPr>
              <a:t>方法的简单例子，使用单词“</a:t>
            </a:r>
            <a:r>
              <a:rPr lang="en-US" altLang="zh-CN" sz="2000" b="0" i="0" u="none" strike="noStrike" kern="1200" cap="none" spc="0" baseline="0">
                <a:solidFill>
                  <a:schemeClr val="tx1"/>
                </a:solidFill>
                <a:latin typeface="Verdana" pitchFamily="34" charset="0"/>
                <a:ea typeface="宋体" charset="0"/>
                <a:cs typeface="Verdana" pitchFamily="34" charset="0"/>
              </a:rPr>
              <a:t>color</a:t>
            </a:r>
            <a:r>
              <a:rPr lang="zh-CN" altLang="en-US" sz="2000" b="0" i="0" u="none" strike="noStrike" kern="1200" cap="none" spc="0" baseline="0">
                <a:solidFill>
                  <a:schemeClr val="tx1"/>
                </a:solidFill>
                <a:latin typeface="Verdana" pitchFamily="34" charset="0"/>
                <a:ea typeface="宋体" charset="0"/>
                <a:cs typeface="Verdana" pitchFamily="34" charset="0"/>
              </a:rPr>
              <a:t>”来替换具体的颜色名：</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&gt;&gt;&gt; p = re.compile( '(blue|white|red)')</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&gt;&gt;&gt; p.sub( 'color', 'blue socks and red shoes')</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'color socks and color shoes'</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&gt;&gt;&gt; p.sub( 'color', 'blue socks and red shoes', count=1)</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'color socks and red shoes'</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subn()</a:t>
            </a:r>
            <a:r>
              <a:rPr lang="zh-CN" altLang="en-US" sz="2000" b="0" i="0" u="none" strike="noStrike" kern="1200" cap="none" spc="0" baseline="0">
                <a:solidFill>
                  <a:schemeClr val="tx1"/>
                </a:solidFill>
                <a:latin typeface="Verdana" pitchFamily="34" charset="0"/>
                <a:ea typeface="宋体" charset="0"/>
                <a:cs typeface="Verdana" pitchFamily="34" charset="0"/>
              </a:rPr>
              <a:t>方法作用一样，但返回的是一个包含新字符串和替换执行次数的元组。</a:t>
            </a:r>
            <a:r>
              <a:rPr lang="en-US" altLang="zh-CN" sz="2000" b="0" i="0" u="none" strike="noStrike" kern="1200" cap="none" spc="0" baseline="0">
                <a:solidFill>
                  <a:schemeClr val="tx1"/>
                </a:solidFill>
                <a:latin typeface="Verdana" pitchFamily="34" charset="0"/>
                <a:ea typeface="宋体" charset="0"/>
                <a:cs typeface="Verdana" pitchFamily="34" charset="0"/>
              </a:rPr>
              <a:t> </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&gt;&gt;&gt; p = re.compile( '(blue|white|red)')</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&gt;&gt;&gt; p.subn( 'color', 'blue socks and red shoes')</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('color socks and color shoes', 2)</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&gt;&gt;&gt; p.subn( 'color', 'no colors at all')</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('no colors at all', 0)</a:t>
            </a:r>
          </a:p>
          <a:p>
            <a:pPr marL="0" indent="0" algn="l">
              <a:lnSpc>
                <a:spcPct val="100000"/>
              </a:lnSpc>
              <a:spcBef>
                <a:spcPts val="0"/>
              </a:spcBef>
              <a:spcAft>
                <a:spcPts val="0"/>
              </a:spcAft>
              <a:buNone/>
            </a:pPr>
            <a:endParaRPr lang="zh-CN" altLang="en-US" sz="2000" b="0" i="0" u="none" strike="noStrike" kern="1200" cap="none" spc="0" baseline="0">
              <a:solidFill>
                <a:schemeClr val="tx1"/>
              </a:solidFill>
              <a:latin typeface="Verdana" pitchFamily="34" charset="0"/>
              <a:ea typeface="宋体" charset="0"/>
              <a:cs typeface="Verdana" pitchFamily="34" charset="0"/>
            </a:endParaRPr>
          </a:p>
        </p:txBody>
      </p:sp>
    </p:spTree>
    <p:extLst>
      <p:ext uri="{BB962C8B-B14F-4D97-AF65-F5344CB8AC3E}">
        <p14:creationId xmlns:p14="http://schemas.microsoft.com/office/powerpoint/2010/main" val="1386851737"/>
      </p:ext>
    </p:extLst>
  </p:cSld>
  <p:clrMapOvr>
    <a:masterClrMapping/>
  </p:clrMapOvr>
  <p:transition spd="slow" advTm="7922"/>
</p:sld>
</file>

<file path=ppt/slides/slide38.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454"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455" name="矩形"/>
          <p:cNvSpPr>
            <a:spLocks/>
          </p:cNvSpPr>
          <p:nvPr/>
        </p:nvSpPr>
        <p:spPr>
          <a:xfrm>
            <a:off x="0" y="0"/>
            <a:ext cx="9144000" cy="0"/>
          </a:xfrm>
          <a:prstGeom prst="rect">
            <a:avLst/>
          </a:prstGeom>
          <a:noFill/>
          <a:ln w="9525" cap="flat" cmpd="sng">
            <a:noFill/>
            <a:prstDash val="solid"/>
            <a:round/>
          </a:ln>
        </p:spPr>
      </p:sp>
      <p:sp>
        <p:nvSpPr>
          <p:cNvPr id="456"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5 </a:t>
            </a:r>
            <a:r>
              <a:rPr lang="zh-CN" altLang="en-US" sz="2800" b="1" i="0" u="none" strike="noStrike" kern="1200" cap="none" spc="0" baseline="0" dirty="0">
                <a:solidFill>
                  <a:schemeClr val="accent2"/>
                </a:solidFill>
                <a:latin typeface="微软雅黑" charset="0"/>
                <a:ea typeface="微软雅黑" charset="0"/>
                <a:cs typeface="Verdana" pitchFamily="34" charset="0"/>
              </a:rPr>
              <a:t>修改字符串</a:t>
            </a:r>
          </a:p>
        </p:txBody>
      </p:sp>
      <p:sp>
        <p:nvSpPr>
          <p:cNvPr id="457"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dirty="0">
                <a:solidFill>
                  <a:schemeClr val="tx1"/>
                </a:solidFill>
                <a:latin typeface="Verdana" pitchFamily="34" charset="0"/>
                <a:ea typeface="宋体" charset="0"/>
                <a:cs typeface="Verdana" pitchFamily="34" charset="0"/>
              </a:rPr>
              <a:t> 5.2 </a:t>
            </a:r>
            <a:r>
              <a:rPr lang="zh-CN" altLang="en-US" sz="2800" b="0" i="0" u="none" strike="noStrike" kern="1200" cap="none" spc="0" baseline="0" dirty="0">
                <a:solidFill>
                  <a:schemeClr val="tx1"/>
                </a:solidFill>
                <a:latin typeface="Verdana" pitchFamily="34" charset="0"/>
                <a:ea typeface="宋体" charset="0"/>
                <a:cs typeface="Verdana" pitchFamily="34" charset="0"/>
              </a:rPr>
              <a:t>搜索与替换</a:t>
            </a:r>
          </a:p>
        </p:txBody>
      </p:sp>
      <p:sp>
        <p:nvSpPr>
          <p:cNvPr id="458" name="矩形"/>
          <p:cNvSpPr>
            <a:spLocks/>
          </p:cNvSpPr>
          <p:nvPr/>
        </p:nvSpPr>
        <p:spPr>
          <a:xfrm>
            <a:off x="765804" y="1894820"/>
            <a:ext cx="7696100" cy="363474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如果替换值是一个字符串，那么任何在其中的反斜杠都会被处理。比如“</a:t>
            </a:r>
            <a:r>
              <a:rPr lang="en-US" altLang="zh-CN" sz="2000" b="0" i="0" u="none" strike="noStrike" kern="1200" cap="none" spc="0" baseline="0">
                <a:solidFill>
                  <a:schemeClr val="tx1"/>
                </a:solidFill>
                <a:latin typeface="Verdana" pitchFamily="34" charset="0"/>
                <a:ea typeface="宋体" charset="0"/>
                <a:cs typeface="Verdana" pitchFamily="34" charset="0"/>
              </a:rPr>
              <a:t>\n</a:t>
            </a:r>
            <a:r>
              <a:rPr lang="zh-CN" altLang="en-US" sz="2000" b="0" i="0" u="none" strike="noStrike" kern="1200" cap="none" spc="0" baseline="0">
                <a:solidFill>
                  <a:schemeClr val="tx1"/>
                </a:solidFill>
                <a:latin typeface="Verdana" pitchFamily="34" charset="0"/>
                <a:ea typeface="宋体" charset="0"/>
                <a:cs typeface="Verdana" pitchFamily="34" charset="0"/>
              </a:rPr>
              <a:t>”将会被转换成一个换行符，“</a:t>
            </a:r>
            <a:r>
              <a:rPr lang="en-US" altLang="zh-CN" sz="2000" b="0" i="0" u="none" strike="noStrike" kern="1200" cap="none" spc="0" baseline="0">
                <a:solidFill>
                  <a:schemeClr val="tx1"/>
                </a:solidFill>
                <a:latin typeface="Verdana" pitchFamily="34" charset="0"/>
                <a:ea typeface="宋体" charset="0"/>
                <a:cs typeface="Verdana" pitchFamily="34" charset="0"/>
              </a:rPr>
              <a:t>\r</a:t>
            </a:r>
            <a:r>
              <a:rPr lang="zh-CN" altLang="en-US" sz="2000" b="0" i="0" u="none" strike="noStrike" kern="1200" cap="none" spc="0" baseline="0">
                <a:solidFill>
                  <a:schemeClr val="tx1"/>
                </a:solidFill>
                <a:latin typeface="Verdana" pitchFamily="34" charset="0"/>
                <a:ea typeface="宋体" charset="0"/>
                <a:cs typeface="Verdana" pitchFamily="34" charset="0"/>
              </a:rPr>
              <a:t>”转换成回车等等。未知的转义字符如“</a:t>
            </a:r>
            <a:r>
              <a:rPr lang="en-US" altLang="zh-CN" sz="2000" b="0" i="0" u="none" strike="noStrike" kern="1200" cap="none" spc="0" baseline="0">
                <a:solidFill>
                  <a:schemeClr val="tx1"/>
                </a:solidFill>
                <a:latin typeface="Verdana" pitchFamily="34" charset="0"/>
                <a:ea typeface="宋体" charset="0"/>
                <a:cs typeface="Verdana" pitchFamily="34" charset="0"/>
              </a:rPr>
              <a:t>\j</a:t>
            </a:r>
            <a:r>
              <a:rPr lang="zh-CN" altLang="en-US" sz="2000" b="0" i="0" u="none" strike="noStrike" kern="1200" cap="none" spc="0" baseline="0">
                <a:solidFill>
                  <a:schemeClr val="tx1"/>
                </a:solidFill>
                <a:latin typeface="Verdana" pitchFamily="34" charset="0"/>
                <a:ea typeface="宋体" charset="0"/>
                <a:cs typeface="Verdana" pitchFamily="34" charset="0"/>
              </a:rPr>
              <a:t>”则保持原样。逆向引用，如“</a:t>
            </a:r>
            <a:r>
              <a:rPr lang="en-US" altLang="zh-CN" sz="2000" b="0" i="0" u="none" strike="noStrike" kern="1200" cap="none" spc="0" baseline="0">
                <a:solidFill>
                  <a:schemeClr val="tx1"/>
                </a:solidFill>
                <a:latin typeface="Verdana" pitchFamily="34" charset="0"/>
                <a:ea typeface="宋体" charset="0"/>
                <a:cs typeface="Verdana" pitchFamily="34" charset="0"/>
              </a:rPr>
              <a:t>\2</a:t>
            </a:r>
            <a:r>
              <a:rPr lang="zh-CN" altLang="en-US" sz="2000" b="0" i="0" u="none" strike="noStrike" kern="1200" cap="none" spc="0" baseline="0">
                <a:solidFill>
                  <a:schemeClr val="tx1"/>
                </a:solidFill>
                <a:latin typeface="Verdana" pitchFamily="34" charset="0"/>
                <a:ea typeface="宋体" charset="0"/>
                <a:cs typeface="Verdana" pitchFamily="34" charset="0"/>
              </a:rPr>
              <a:t>”，被正则表达式中相应的组所匹配的子串替换，这样可以在替换后的字符串中插入原始文本的一部分。下面的例子匹配单词“</a:t>
            </a:r>
            <a:r>
              <a:rPr lang="en-US" altLang="zh-CN" sz="2000" b="0" i="0" u="none" strike="noStrike" kern="1200" cap="none" spc="0" baseline="0">
                <a:solidFill>
                  <a:schemeClr val="tx1"/>
                </a:solidFill>
                <a:latin typeface="Verdana" pitchFamily="34" charset="0"/>
                <a:ea typeface="宋体" charset="0"/>
                <a:cs typeface="Verdana" pitchFamily="34" charset="0"/>
              </a:rPr>
              <a:t>section</a:t>
            </a:r>
            <a:r>
              <a:rPr lang="zh-CN" altLang="en-US" sz="2000" b="0" i="0" u="none" strike="noStrike" kern="1200" cap="none" spc="0" baseline="0">
                <a:solidFill>
                  <a:schemeClr val="tx1"/>
                </a:solidFill>
                <a:latin typeface="Verdana" pitchFamily="34" charset="0"/>
                <a:ea typeface="宋体" charset="0"/>
                <a:cs typeface="Verdana" pitchFamily="34" charset="0"/>
              </a:rPr>
              <a:t>”和紧跟该单词、用括号“</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”和“</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”括起来的字符串，并将“</a:t>
            </a:r>
            <a:r>
              <a:rPr lang="en-US" altLang="zh-CN" sz="2000" b="0" i="0" u="none" strike="noStrike" kern="1200" cap="none" spc="0" baseline="0">
                <a:solidFill>
                  <a:schemeClr val="tx1"/>
                </a:solidFill>
                <a:latin typeface="Verdana" pitchFamily="34" charset="0"/>
                <a:ea typeface="宋体" charset="0"/>
                <a:cs typeface="Verdana" pitchFamily="34" charset="0"/>
              </a:rPr>
              <a:t>section</a:t>
            </a:r>
            <a:r>
              <a:rPr lang="zh-CN" altLang="en-US" sz="2000" b="0" i="0" u="none" strike="noStrike" kern="1200" cap="none" spc="0" baseline="0">
                <a:solidFill>
                  <a:schemeClr val="tx1"/>
                </a:solidFill>
                <a:latin typeface="Verdana" pitchFamily="34" charset="0"/>
                <a:ea typeface="宋体" charset="0"/>
                <a:cs typeface="Verdana" pitchFamily="34" charset="0"/>
              </a:rPr>
              <a:t>”替换成“</a:t>
            </a:r>
            <a:r>
              <a:rPr lang="en-US" altLang="zh-CN" sz="2000" b="0" i="0" u="none" strike="noStrike" kern="1200" cap="none" spc="0" baseline="0">
                <a:solidFill>
                  <a:schemeClr val="tx1"/>
                </a:solidFill>
                <a:latin typeface="Verdana" pitchFamily="34" charset="0"/>
                <a:ea typeface="宋体" charset="0"/>
                <a:cs typeface="Verdana" pitchFamily="34" charset="0"/>
              </a:rPr>
              <a:t>subsection</a:t>
            </a:r>
            <a:r>
              <a:rPr lang="zh-CN" altLang="en-US" sz="2000" b="0" i="0" u="none" strike="noStrike" kern="1200" cap="none" spc="0" baseline="0">
                <a:solidFill>
                  <a:schemeClr val="tx1"/>
                </a:solidFill>
                <a:latin typeface="Verdana" pitchFamily="34" charset="0"/>
                <a:ea typeface="宋体" charset="0"/>
                <a:cs typeface="Verdana" pitchFamily="34" charset="0"/>
              </a:rPr>
              <a:t>”。</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&gt;&gt;&gt; p = re.compile('section{ ( [^])* } }'}</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&gt;&gt;&gt; p.sub(r'subsection{\1}','section{First} section{Second}')</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'subsection{First} subsection{Second}'</a:t>
            </a:r>
            <a:endParaRPr lang="zh-CN" altLang="en-US" sz="2000" b="0" i="0" u="none" strike="noStrike" kern="1200" cap="none" spc="0" baseline="0">
              <a:solidFill>
                <a:schemeClr val="tx1"/>
              </a:solidFill>
              <a:latin typeface="Consolas" pitchFamily="49" charset="0"/>
              <a:ea typeface="宋体" charset="0"/>
              <a:cs typeface="Consolas" pitchFamily="49" charset="0"/>
            </a:endParaRPr>
          </a:p>
        </p:txBody>
      </p:sp>
    </p:spTree>
    <p:extLst>
      <p:ext uri="{BB962C8B-B14F-4D97-AF65-F5344CB8AC3E}">
        <p14:creationId xmlns:p14="http://schemas.microsoft.com/office/powerpoint/2010/main" val="1375767952"/>
      </p:ext>
    </p:extLst>
  </p:cSld>
  <p:clrMapOvr>
    <a:masterClrMapping/>
  </p:clrMapOvr>
  <p:transition spd="slow" advTm="7922"/>
</p:sld>
</file>

<file path=ppt/slides/slide39.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461" name="矩形"/>
          <p:cNvSpPr>
            <a:spLocks/>
          </p:cNvSpPr>
          <p:nvPr/>
        </p:nvSpPr>
        <p:spPr>
          <a:xfrm>
            <a:off x="681023" y="1920592"/>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463"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462" name="文本框"/>
          <p:cNvSpPr>
            <a:spLocks noGrp="1"/>
          </p:cNvSpPr>
          <p:nvPr>
            <p:ph type="ctrTitle"/>
          </p:nvPr>
        </p:nvSpPr>
        <p:spPr>
          <a:xfrm>
            <a:off x="0" y="250825"/>
            <a:ext cx="7772400" cy="685800"/>
          </a:xfrm>
          <a:prstGeom prst="rect">
            <a:avLst/>
          </a:prstGeom>
          <a:noFill/>
          <a:ln w="9525" cap="flat" cmpd="sng">
            <a:noFill/>
            <a:prstDash val="solid"/>
            <a:miter/>
          </a:ln>
        </p:spPr>
        <p:txBody>
          <a:bodyPr vert="horz" wrap="square" lIns="91440" tIns="45720" rIns="91440" bIns="45720" anchor="b" anchorCtr="0">
            <a:prstTxWarp prst="textNoShape">
              <a:avLst/>
            </a:prstTxWarp>
          </a:bodyPr>
          <a:lstStyle/>
          <a:p>
            <a:pPr marL="0" indent="0" algn="ctr" eaLnBrk="1" hangingPunct="1">
              <a:lnSpc>
                <a:spcPct val="100000"/>
              </a:lnSpc>
              <a:spcBef>
                <a:spcPts val="0"/>
              </a:spcBef>
              <a:spcAft>
                <a:spcPts val="0"/>
              </a:spcAft>
              <a:buNone/>
            </a:pPr>
            <a:r>
              <a:rPr lang="zh-CN" altLang="en-US" sz="4000" b="1" i="0" u="none" strike="noStrike" kern="1200" cap="none" spc="0" baseline="0">
                <a:solidFill>
                  <a:schemeClr val="tx1"/>
                </a:solidFill>
                <a:latin typeface="Copperplate Gothic Bold" charset="0"/>
                <a:ea typeface="隶书" pitchFamily="49" charset="-122"/>
                <a:cs typeface="Times New Roman" charset="0"/>
              </a:rPr>
              <a:t>目录</a:t>
            </a:r>
          </a:p>
        </p:txBody>
      </p:sp>
      <p:sp>
        <p:nvSpPr>
          <p:cNvPr id="464" name="矩形"/>
          <p:cNvSpPr>
            <a:spLocks/>
          </p:cNvSpPr>
          <p:nvPr/>
        </p:nvSpPr>
        <p:spPr>
          <a:xfrm>
            <a:off x="7772400" y="6477000"/>
            <a:ext cx="1196975" cy="365125"/>
          </a:xfrm>
          <a:prstGeom prst="rect">
            <a:avLst/>
          </a:prstGeom>
          <a:noFill/>
          <a:ln w="9525" cap="flat" cmpd="sng">
            <a:noFill/>
            <a:prstDash val="solid"/>
            <a:round/>
          </a:ln>
        </p:spPr>
        <p:txBody>
          <a:bodyPr vert="horz" wrap="square" lIns="91440" tIns="45720" rIns="91440" bIns="45720" anchor="t" anchorCtr="0">
            <a:prstTxWarp prst="textNoShape">
              <a:avLst/>
            </a:prstTxWarp>
          </a:bodyPr>
          <a:lstStyle/>
          <a:p>
            <a:pPr marL="0" indent="0" algn="ctr" eaLnBrk="1" hangingPunct="1">
              <a:lnSpc>
                <a:spcPct val="100000"/>
              </a:lnSpc>
              <a:spcBef>
                <a:spcPts val="0"/>
              </a:spcBef>
              <a:spcAft>
                <a:spcPts val="0"/>
              </a:spcAft>
              <a:buNone/>
            </a:pPr>
            <a:r>
              <a:rPr lang="en-US" altLang="zh-CN" sz="1200" b="1" i="0" u="none" strike="noStrike" kern="1200" cap="none" spc="0" baseline="0">
                <a:solidFill>
                  <a:schemeClr val="tx1"/>
                </a:solidFill>
                <a:latin typeface="Verdana" pitchFamily="34" charset="0"/>
                <a:ea typeface="宋体" charset="0"/>
                <a:cs typeface="Verdana" pitchFamily="34" charset="0"/>
              </a:rPr>
              <a:t>2</a:t>
            </a:r>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465" name="矩形"/>
          <p:cNvSpPr>
            <a:spLocks/>
          </p:cNvSpPr>
          <p:nvPr/>
        </p:nvSpPr>
        <p:spPr>
          <a:xfrm>
            <a:off x="681023" y="1245159"/>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466" name="矩形"/>
          <p:cNvSpPr>
            <a:spLocks/>
          </p:cNvSpPr>
          <p:nvPr/>
        </p:nvSpPr>
        <p:spPr>
          <a:xfrm>
            <a:off x="1752600" y="1323975"/>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1 </a:t>
            </a:r>
            <a:r>
              <a:rPr lang="zh-CN" altLang="en-US" sz="2800" b="0" i="0" u="none" strike="noStrike" kern="1200" cap="none" spc="0" baseline="0" dirty="0">
                <a:solidFill>
                  <a:schemeClr val="tx1"/>
                </a:solidFill>
                <a:latin typeface="微软雅黑" charset="0"/>
                <a:ea typeface="微软雅黑" charset="0"/>
                <a:cs typeface="Arial" pitchFamily="34" charset="0"/>
              </a:rPr>
              <a:t>正则表达式简介</a:t>
            </a:r>
          </a:p>
        </p:txBody>
      </p:sp>
      <p:sp>
        <p:nvSpPr>
          <p:cNvPr id="467" name="矩形"/>
          <p:cNvSpPr>
            <a:spLocks/>
          </p:cNvSpPr>
          <p:nvPr/>
        </p:nvSpPr>
        <p:spPr>
          <a:xfrm>
            <a:off x="1752600" y="2006600"/>
            <a:ext cx="4649788" cy="457199"/>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2 </a:t>
            </a:r>
            <a:r>
              <a:rPr lang="zh-CN" altLang="en-US" sz="2800" b="0" i="0" u="none" strike="noStrike" kern="1200" cap="none" spc="0" baseline="0" dirty="0">
                <a:solidFill>
                  <a:schemeClr val="tx1"/>
                </a:solidFill>
                <a:latin typeface="微软雅黑" charset="0"/>
                <a:ea typeface="微软雅黑" charset="0"/>
                <a:cs typeface="Arial" pitchFamily="34" charset="0"/>
              </a:rPr>
              <a:t>简单模式</a:t>
            </a:r>
          </a:p>
        </p:txBody>
      </p:sp>
      <p:sp>
        <p:nvSpPr>
          <p:cNvPr id="468" name="矩形"/>
          <p:cNvSpPr>
            <a:spLocks/>
          </p:cNvSpPr>
          <p:nvPr/>
        </p:nvSpPr>
        <p:spPr>
          <a:xfrm>
            <a:off x="7772400" y="6334125"/>
            <a:ext cx="838200" cy="369888"/>
          </a:xfrm>
          <a:prstGeom prst="rect">
            <a:avLst/>
          </a:prstGeom>
          <a:solidFill>
            <a:schemeClr val="bg1"/>
          </a:solidFill>
          <a:ln w="9525" cap="flat" cmpd="sng">
            <a:noFill/>
            <a:prstDash val="solid"/>
            <a:round/>
          </a:ln>
        </p:spPr>
      </p:sp>
      <p:sp>
        <p:nvSpPr>
          <p:cNvPr id="469" name="矩形"/>
          <p:cNvSpPr>
            <a:spLocks/>
          </p:cNvSpPr>
          <p:nvPr/>
        </p:nvSpPr>
        <p:spPr>
          <a:xfrm>
            <a:off x="681023" y="2621108"/>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470" name="矩形"/>
          <p:cNvSpPr>
            <a:spLocks/>
          </p:cNvSpPr>
          <p:nvPr/>
        </p:nvSpPr>
        <p:spPr>
          <a:xfrm>
            <a:off x="1752600" y="2690813"/>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3 </a:t>
            </a:r>
            <a:r>
              <a:rPr lang="en-US" altLang="zh-CN" sz="2800" b="0" i="0" u="none" strike="noStrike" kern="1200" cap="none" spc="0" baseline="0" dirty="0" err="1">
                <a:solidFill>
                  <a:schemeClr val="tx1"/>
                </a:solidFill>
                <a:latin typeface="微软雅黑" charset="0"/>
                <a:ea typeface="微软雅黑" charset="0"/>
                <a:cs typeface="Arial" pitchFamily="34" charset="0"/>
              </a:rPr>
              <a:t>使用正则表达式</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471" name="矩形"/>
          <p:cNvSpPr>
            <a:spLocks/>
          </p:cNvSpPr>
          <p:nvPr/>
        </p:nvSpPr>
        <p:spPr>
          <a:xfrm>
            <a:off x="681023" y="3303709"/>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472" name="矩形"/>
          <p:cNvSpPr>
            <a:spLocks/>
          </p:cNvSpPr>
          <p:nvPr/>
        </p:nvSpPr>
        <p:spPr>
          <a:xfrm>
            <a:off x="1752600" y="3373414"/>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4 </a:t>
            </a:r>
            <a:r>
              <a:rPr lang="en-US" altLang="zh-CN" sz="2800" b="0" i="0" u="none" strike="noStrike" kern="1200" cap="none" spc="0" baseline="0" dirty="0" err="1">
                <a:solidFill>
                  <a:schemeClr val="tx1"/>
                </a:solidFill>
                <a:latin typeface="微软雅黑" charset="0"/>
                <a:ea typeface="微软雅黑" charset="0"/>
                <a:cs typeface="Arial" pitchFamily="34" charset="0"/>
              </a:rPr>
              <a:t>更多模式功能</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473" name="矩形"/>
          <p:cNvSpPr>
            <a:spLocks/>
          </p:cNvSpPr>
          <p:nvPr/>
        </p:nvSpPr>
        <p:spPr>
          <a:xfrm>
            <a:off x="661467" y="3993431"/>
            <a:ext cx="7091375" cy="428644"/>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474" name="矩形"/>
          <p:cNvSpPr>
            <a:spLocks/>
          </p:cNvSpPr>
          <p:nvPr/>
        </p:nvSpPr>
        <p:spPr>
          <a:xfrm>
            <a:off x="1733044" y="4063135"/>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chemeClr val="tx1"/>
                </a:solidFill>
                <a:latin typeface="微软雅黑" charset="0"/>
                <a:ea typeface="微软雅黑" charset="0"/>
                <a:cs typeface="Arial" pitchFamily="34" charset="0"/>
              </a:rPr>
              <a:t> 5 </a:t>
            </a:r>
            <a:r>
              <a:rPr lang="en-US" altLang="zh-CN" sz="2800" b="0" i="0" u="none" strike="noStrike" kern="1200" cap="none" spc="0" baseline="0" dirty="0" err="1">
                <a:solidFill>
                  <a:schemeClr val="tx1"/>
                </a:solidFill>
                <a:latin typeface="微软雅黑" charset="0"/>
                <a:ea typeface="微软雅黑" charset="0"/>
                <a:cs typeface="Arial" pitchFamily="34" charset="0"/>
              </a:rPr>
              <a:t>修改字符串</a:t>
            </a:r>
            <a:endParaRPr lang="zh-CN" altLang="en-US" sz="2800" b="0" i="0" u="none" strike="noStrike" kern="1200" cap="none" spc="0" baseline="0" dirty="0">
              <a:solidFill>
                <a:schemeClr val="tx1"/>
              </a:solidFill>
              <a:latin typeface="微软雅黑" charset="0"/>
              <a:ea typeface="微软雅黑" charset="0"/>
              <a:cs typeface="Arial" pitchFamily="34" charset="0"/>
            </a:endParaRPr>
          </a:p>
        </p:txBody>
      </p:sp>
      <p:sp>
        <p:nvSpPr>
          <p:cNvPr id="475" name="矩形"/>
          <p:cNvSpPr>
            <a:spLocks/>
          </p:cNvSpPr>
          <p:nvPr/>
        </p:nvSpPr>
        <p:spPr>
          <a:xfrm>
            <a:off x="681637" y="4696801"/>
            <a:ext cx="7091375" cy="428643"/>
          </a:xfrm>
          <a:prstGeom prst="rect">
            <a:avLst/>
          </a:prstGeom>
          <a:solidFill>
            <a:schemeClr val="bg1"/>
          </a:solidFill>
          <a:scene3d>
            <a:camera prst="legacyObliqueFront"/>
            <a:lightRig rig="legacyFlat4" dir="tl"/>
          </a:scene3d>
          <a:sp3d prstMaterial="legacyMatte">
            <a:bevelT w="13500" h="13500" prst="angle"/>
            <a:bevelB w="13500" h="13500" prst="angle"/>
          </a:sp3d>
        </p:spPr>
      </p:sp>
      <p:sp>
        <p:nvSpPr>
          <p:cNvPr id="476" name="矩形"/>
          <p:cNvSpPr>
            <a:spLocks/>
          </p:cNvSpPr>
          <p:nvPr/>
        </p:nvSpPr>
        <p:spPr>
          <a:xfrm>
            <a:off x="1753214" y="4766506"/>
            <a:ext cx="4656138" cy="457200"/>
          </a:xfrm>
          <a:prstGeom prst="rect">
            <a:avLst/>
          </a:prstGeom>
          <a:noFill/>
          <a:ln w="9525" cap="flat" cmpd="sng">
            <a:noFill/>
            <a:prstDash val="solid"/>
            <a:round/>
          </a:ln>
        </p:spPr>
        <p:txBody>
          <a:bodyPr vert="horz" wrap="square" lIns="0" tIns="0" rIns="0" bIns="0" anchor="t" anchorCtr="0">
            <a:prstTxWarp prst="textNoShape">
              <a:avLst/>
            </a:prstTxWarp>
          </a:bodyPr>
          <a:lstStyle/>
          <a:p>
            <a:pPr marL="0" indent="0" algn="l" defTabSz="912749" eaLnBrk="1" hangingPunct="1">
              <a:lnSpc>
                <a:spcPct val="90000"/>
              </a:lnSpc>
              <a:spcBef>
                <a:spcPts val="0"/>
              </a:spcBef>
              <a:spcAft>
                <a:spcPts val="0"/>
              </a:spcAft>
              <a:buNone/>
            </a:pPr>
            <a:r>
              <a:rPr lang="en-US" altLang="zh-CN" sz="2800" b="0" i="0" u="none" strike="noStrike" kern="1200" cap="none" spc="0" baseline="0" dirty="0">
                <a:solidFill>
                  <a:srgbClr val="C00000"/>
                </a:solidFill>
                <a:latin typeface="微软雅黑" charset="0"/>
                <a:ea typeface="微软雅黑" charset="0"/>
                <a:cs typeface="Arial" pitchFamily="34" charset="0"/>
              </a:rPr>
              <a:t> 6 </a:t>
            </a:r>
            <a:r>
              <a:rPr lang="en-US" altLang="zh-CN" sz="2800" b="0" i="0" u="none" strike="noStrike" kern="1200" cap="none" spc="0" baseline="0" dirty="0" err="1">
                <a:solidFill>
                  <a:srgbClr val="C00000"/>
                </a:solidFill>
                <a:latin typeface="微软雅黑" charset="0"/>
                <a:ea typeface="微软雅黑" charset="0"/>
                <a:cs typeface="Arial" pitchFamily="34" charset="0"/>
              </a:rPr>
              <a:t>常见问题</a:t>
            </a:r>
            <a:endParaRPr lang="zh-CN" altLang="en-US" sz="2800" b="0" i="0" u="none" strike="noStrike" kern="1200" cap="none" spc="0" baseline="0" dirty="0">
              <a:solidFill>
                <a:srgbClr val="C00000"/>
              </a:solidFill>
              <a:latin typeface="微软雅黑" charset="0"/>
              <a:ea typeface="微软雅黑" charset="0"/>
              <a:cs typeface="Arial" pitchFamily="34" charset="0"/>
            </a:endParaRPr>
          </a:p>
        </p:txBody>
      </p:sp>
    </p:spTree>
    <p:extLst>
      <p:ext uri="{BB962C8B-B14F-4D97-AF65-F5344CB8AC3E}">
        <p14:creationId xmlns:p14="http://schemas.microsoft.com/office/powerpoint/2010/main" val="625546656"/>
      </p:ext>
    </p:extLst>
  </p:cSld>
  <p:clrMapOvr>
    <a:masterClrMapping/>
  </p:clrMapOvr>
  <p:transition advTm="5185"/>
</p:sld>
</file>

<file path=ppt/slides/slide40.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479"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480" name="矩形"/>
          <p:cNvSpPr>
            <a:spLocks/>
          </p:cNvSpPr>
          <p:nvPr/>
        </p:nvSpPr>
        <p:spPr>
          <a:xfrm>
            <a:off x="0" y="0"/>
            <a:ext cx="9144000" cy="0"/>
          </a:xfrm>
          <a:prstGeom prst="rect">
            <a:avLst/>
          </a:prstGeom>
          <a:noFill/>
          <a:ln w="9525" cap="flat" cmpd="sng">
            <a:noFill/>
            <a:prstDash val="solid"/>
            <a:round/>
          </a:ln>
        </p:spPr>
      </p:sp>
      <p:sp>
        <p:nvSpPr>
          <p:cNvPr id="481"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6 </a:t>
            </a:r>
            <a:r>
              <a:rPr lang="zh-CN" altLang="en-US" sz="2800" b="1" i="0" u="none" strike="noStrike" kern="1200" cap="none" spc="0" baseline="0" dirty="0">
                <a:solidFill>
                  <a:schemeClr val="accent2"/>
                </a:solidFill>
                <a:latin typeface="微软雅黑" charset="0"/>
                <a:ea typeface="微软雅黑" charset="0"/>
                <a:cs typeface="Verdana" pitchFamily="34" charset="0"/>
              </a:rPr>
              <a:t>常见问题</a:t>
            </a:r>
          </a:p>
        </p:txBody>
      </p:sp>
      <p:sp>
        <p:nvSpPr>
          <p:cNvPr id="482"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800" b="0" i="0" u="none" strike="noStrike" kern="1200" cap="none" spc="0" baseline="0">
                <a:solidFill>
                  <a:schemeClr val="tx1"/>
                </a:solidFill>
                <a:latin typeface="Verdana" pitchFamily="34" charset="0"/>
                <a:ea typeface="宋体" charset="0"/>
                <a:cs typeface="Verdana" pitchFamily="34" charset="0"/>
              </a:rPr>
              <a:t>贪婪</a:t>
            </a:r>
            <a:r>
              <a:rPr lang="en-US" altLang="zh-CN" sz="2800" b="0" i="0" u="none" strike="noStrike" kern="1200" cap="none" spc="0" baseline="0">
                <a:solidFill>
                  <a:schemeClr val="tx1"/>
                </a:solidFill>
                <a:latin typeface="Verdana" pitchFamily="34" charset="0"/>
                <a:ea typeface="宋体" charset="0"/>
                <a:cs typeface="Verdana" pitchFamily="34" charset="0"/>
              </a:rPr>
              <a:t>vs</a:t>
            </a:r>
            <a:r>
              <a:rPr lang="zh-CN" altLang="en-US" sz="2800" b="0" i="0" u="none" strike="noStrike" kern="1200" cap="none" spc="0" baseline="0">
                <a:solidFill>
                  <a:schemeClr val="tx1"/>
                </a:solidFill>
                <a:latin typeface="Verdana" pitchFamily="34" charset="0"/>
                <a:ea typeface="宋体" charset="0"/>
                <a:cs typeface="Verdana" pitchFamily="34" charset="0"/>
              </a:rPr>
              <a:t>不贪婪</a:t>
            </a:r>
          </a:p>
        </p:txBody>
      </p:sp>
      <p:sp>
        <p:nvSpPr>
          <p:cNvPr id="483" name="矩形"/>
          <p:cNvSpPr>
            <a:spLocks/>
          </p:cNvSpPr>
          <p:nvPr/>
        </p:nvSpPr>
        <p:spPr>
          <a:xfrm>
            <a:off x="765804" y="1894820"/>
            <a:ext cx="7696100" cy="432054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当在正则表达式中使用重复时，例如</a:t>
            </a:r>
            <a:r>
              <a:rPr lang="en-US" altLang="zh-CN" sz="2000" b="0" i="0" u="none" strike="noStrike" kern="1200" cap="none" spc="0" baseline="0">
                <a:solidFill>
                  <a:schemeClr val="tx1"/>
                </a:solidFill>
                <a:latin typeface="Verdana" pitchFamily="34" charset="0"/>
                <a:ea typeface="宋体" charset="0"/>
                <a:cs typeface="Verdana" pitchFamily="34" charset="0"/>
              </a:rPr>
              <a:t>a*</a:t>
            </a:r>
            <a:r>
              <a:rPr lang="zh-CN" altLang="en-US" sz="2000" b="0" i="0" u="none" strike="noStrike" kern="1200" cap="none" spc="0" baseline="0">
                <a:solidFill>
                  <a:schemeClr val="tx1"/>
                </a:solidFill>
                <a:latin typeface="Verdana" pitchFamily="34" charset="0"/>
                <a:ea typeface="宋体" charset="0"/>
                <a:cs typeface="Verdana" pitchFamily="34" charset="0"/>
              </a:rPr>
              <a:t>，正则表达式引擎将尽可能多地尝试匹配。当我们试图匹配一对分界符，比如</a:t>
            </a:r>
            <a:r>
              <a:rPr lang="en-US" altLang="zh-CN" sz="2000" b="0" i="0" u="none" strike="noStrike" kern="1200" cap="none" spc="0" baseline="0">
                <a:solidFill>
                  <a:schemeClr val="tx1"/>
                </a:solidFill>
                <a:latin typeface="Verdana" pitchFamily="34" charset="0"/>
                <a:ea typeface="宋体" charset="0"/>
                <a:cs typeface="Verdana" pitchFamily="34" charset="0"/>
              </a:rPr>
              <a:t>HTML</a:t>
            </a:r>
            <a:r>
              <a:rPr lang="zh-CN" altLang="en-US" sz="2000" b="0" i="0" u="none" strike="noStrike" kern="1200" cap="none" spc="0" baseline="0">
                <a:solidFill>
                  <a:schemeClr val="tx1"/>
                </a:solidFill>
                <a:latin typeface="Verdana" pitchFamily="34" charset="0"/>
                <a:ea typeface="宋体" charset="0"/>
                <a:cs typeface="Verdana" pitchFamily="34" charset="0"/>
              </a:rPr>
              <a:t>标签中的尖括号时，这个特性可能会带来困扰。因为元字符</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具有“贪婪”的特性，使用一个简单的模式很难匹配单个</a:t>
            </a:r>
            <a:r>
              <a:rPr lang="en-US" altLang="zh-CN" sz="2000" b="0" i="0" u="none" strike="noStrike" kern="1200" cap="none" spc="0" baseline="0">
                <a:solidFill>
                  <a:schemeClr val="tx1"/>
                </a:solidFill>
                <a:latin typeface="Verdana" pitchFamily="34" charset="0"/>
                <a:ea typeface="宋体" charset="0"/>
                <a:cs typeface="Verdana" pitchFamily="34" charset="0"/>
              </a:rPr>
              <a:t>HTML</a:t>
            </a:r>
            <a:r>
              <a:rPr lang="zh-CN" altLang="en-US" sz="2000" b="0" i="0" u="none" strike="noStrike" kern="1200" cap="none" spc="0" baseline="0">
                <a:solidFill>
                  <a:schemeClr val="tx1"/>
                </a:solidFill>
                <a:latin typeface="Verdana" pitchFamily="34" charset="0"/>
                <a:ea typeface="宋体" charset="0"/>
                <a:cs typeface="Verdana" pitchFamily="34" charset="0"/>
              </a:rPr>
              <a:t>标签。例如：</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 &gt;&gt;&gt; s = '&lt;html&gt;&lt;head&gt;&lt;title&gt;Title&lt;/title&gt;'</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&gt;&gt;&gt; len(s)</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32</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&gt;&gt;&gt; print re.match('&lt;.*&gt;', s).span()</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(0, 32)</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&gt;&gt;&gt; print re.match('&lt;.*&gt;', s).group()</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onsolas" pitchFamily="49" charset="0"/>
                <a:ea typeface="宋体" charset="0"/>
                <a:cs typeface="Consolas" pitchFamily="49" charset="0"/>
              </a:rPr>
              <a:t>&lt;html&gt;&lt;head&gt;&lt;title&gt;Title&lt;/title&gt;</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可以看到正则表达式在匹配“</a:t>
            </a:r>
            <a:r>
              <a:rPr lang="en-US" altLang="zh-CN" sz="2000" b="0" i="0" u="none" strike="noStrike" kern="1200" cap="none" spc="0" baseline="0">
                <a:solidFill>
                  <a:schemeClr val="tx1"/>
                </a:solidFill>
                <a:latin typeface="Verdana" pitchFamily="34" charset="0"/>
                <a:ea typeface="宋体" charset="0"/>
                <a:cs typeface="Verdana" pitchFamily="34" charset="0"/>
              </a:rPr>
              <a:t>&lt;html&gt;</a:t>
            </a:r>
            <a:r>
              <a:rPr lang="zh-CN" altLang="en-US" sz="2000" b="0" i="0" u="none" strike="noStrike" kern="1200" cap="none" spc="0" baseline="0">
                <a:solidFill>
                  <a:schemeClr val="tx1"/>
                </a:solidFill>
                <a:latin typeface="Verdana" pitchFamily="34" charset="0"/>
                <a:ea typeface="宋体" charset="0"/>
                <a:cs typeface="Verdana" pitchFamily="34" charset="0"/>
              </a:rPr>
              <a:t>”中的“</a:t>
            </a:r>
            <a:r>
              <a:rPr lang="en-US" altLang="zh-CN" sz="2000" b="0" i="0" u="none" strike="noStrike" kern="1200" cap="none" spc="0" baseline="0">
                <a:solidFill>
                  <a:schemeClr val="tx1"/>
                </a:solidFill>
                <a:latin typeface="Verdana" pitchFamily="34" charset="0"/>
                <a:ea typeface="宋体" charset="0"/>
                <a:cs typeface="Verdana" pitchFamily="34" charset="0"/>
              </a:rPr>
              <a:t>&lt;</a:t>
            </a:r>
            <a:r>
              <a:rPr lang="zh-CN" altLang="en-US" sz="2000" b="0" i="0" u="none" strike="noStrike" kern="1200" cap="none" spc="0" baseline="0">
                <a:solidFill>
                  <a:schemeClr val="tx1"/>
                </a:solidFill>
                <a:latin typeface="Verdana" pitchFamily="34" charset="0"/>
                <a:ea typeface="宋体" charset="0"/>
                <a:cs typeface="Verdana" pitchFamily="34" charset="0"/>
              </a:rPr>
              <a:t>”后，</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会尽可能多地匹配字符串的剩余部分。最终的匹配会从“</a:t>
            </a:r>
            <a:r>
              <a:rPr lang="en-US" altLang="zh-CN" sz="2000" b="0" i="0" u="none" strike="noStrike" kern="1200" cap="none" spc="0" baseline="0">
                <a:solidFill>
                  <a:schemeClr val="tx1"/>
                </a:solidFill>
                <a:latin typeface="Verdana" pitchFamily="34" charset="0"/>
                <a:ea typeface="宋体" charset="0"/>
                <a:cs typeface="Verdana" pitchFamily="34" charset="0"/>
              </a:rPr>
              <a:t>&lt;html&gt;</a:t>
            </a:r>
            <a:r>
              <a:rPr lang="zh-CN" altLang="en-US" sz="2000" b="0" i="0" u="none" strike="noStrike" kern="1200" cap="none" spc="0" baseline="0">
                <a:solidFill>
                  <a:schemeClr val="tx1"/>
                </a:solidFill>
                <a:latin typeface="Verdana" pitchFamily="34" charset="0"/>
                <a:ea typeface="宋体" charset="0"/>
                <a:cs typeface="Verdana" pitchFamily="34" charset="0"/>
              </a:rPr>
              <a:t>”中的“</a:t>
            </a:r>
            <a:r>
              <a:rPr lang="en-US" altLang="zh-CN" sz="2000" b="0" i="0" u="none" strike="noStrike" kern="1200" cap="none" spc="0" baseline="0">
                <a:solidFill>
                  <a:schemeClr val="tx1"/>
                </a:solidFill>
                <a:latin typeface="Verdana" pitchFamily="34" charset="0"/>
                <a:ea typeface="宋体" charset="0"/>
                <a:cs typeface="Verdana" pitchFamily="34" charset="0"/>
              </a:rPr>
              <a:t>&lt;</a:t>
            </a:r>
            <a:r>
              <a:rPr lang="zh-CN" altLang="en-US" sz="2000" b="0" i="0" u="none" strike="noStrike" kern="1200" cap="none" spc="0" baseline="0">
                <a:solidFill>
                  <a:schemeClr val="tx1"/>
                </a:solidFill>
                <a:latin typeface="Verdana" pitchFamily="34" charset="0"/>
                <a:ea typeface="宋体" charset="0"/>
                <a:cs typeface="Verdana" pitchFamily="34" charset="0"/>
              </a:rPr>
              <a:t>”到“</a:t>
            </a:r>
            <a:r>
              <a:rPr lang="en-US" altLang="zh-CN" sz="2000" b="0" i="0" u="none" strike="noStrike" kern="1200" cap="none" spc="0" baseline="0">
                <a:solidFill>
                  <a:schemeClr val="tx1"/>
                </a:solidFill>
                <a:latin typeface="Verdana" pitchFamily="34" charset="0"/>
                <a:ea typeface="宋体" charset="0"/>
                <a:cs typeface="Verdana" pitchFamily="34" charset="0"/>
              </a:rPr>
              <a:t>&lt;title&gt;</a:t>
            </a:r>
            <a:r>
              <a:rPr lang="zh-CN" altLang="en-US" sz="2000" b="0" i="0" u="none" strike="noStrike" kern="1200" cap="none" spc="0" baseline="0">
                <a:solidFill>
                  <a:schemeClr val="tx1"/>
                </a:solidFill>
                <a:latin typeface="Verdana" pitchFamily="34" charset="0"/>
                <a:ea typeface="宋体" charset="0"/>
                <a:cs typeface="Verdana" pitchFamily="34" charset="0"/>
              </a:rPr>
              <a:t>”中的“</a:t>
            </a:r>
            <a:r>
              <a:rPr lang="en-US" altLang="zh-CN" sz="2000" b="0" i="0" u="none" strike="noStrike" kern="1200" cap="none" spc="0" baseline="0">
                <a:solidFill>
                  <a:schemeClr val="tx1"/>
                </a:solidFill>
                <a:latin typeface="Verdana" pitchFamily="34" charset="0"/>
                <a:ea typeface="宋体" charset="0"/>
                <a:cs typeface="Verdana" pitchFamily="34" charset="0"/>
              </a:rPr>
              <a:t>&gt;</a:t>
            </a:r>
            <a:r>
              <a:rPr lang="zh-CN" altLang="en-US" sz="2000" b="0" i="0" u="none" strike="noStrike" kern="1200" cap="none" spc="0" baseline="0">
                <a:solidFill>
                  <a:schemeClr val="tx1"/>
                </a:solidFill>
                <a:latin typeface="Verdana" pitchFamily="34" charset="0"/>
                <a:ea typeface="宋体" charset="0"/>
                <a:cs typeface="Verdana" pitchFamily="34" charset="0"/>
              </a:rPr>
              <a:t>”，这并不是我们所想要的结果。</a:t>
            </a:r>
          </a:p>
        </p:txBody>
      </p:sp>
    </p:spTree>
    <p:extLst>
      <p:ext uri="{BB962C8B-B14F-4D97-AF65-F5344CB8AC3E}">
        <p14:creationId xmlns:p14="http://schemas.microsoft.com/office/powerpoint/2010/main" val="717335356"/>
      </p:ext>
    </p:extLst>
  </p:cSld>
  <p:clrMapOvr>
    <a:masterClrMapping/>
  </p:clrMapOvr>
  <p:transition spd="slow" advTm="7922"/>
</p:sld>
</file>

<file path=ppt/slides/slide41.xml><?xml version="1.0" encoding="utf-8"?>
<p:sld xmlns:a="http://schemas.openxmlformats.org/drawingml/2006/main" xmlns:r="http://schemas.openxmlformats.org/officeDocument/2006/relationships" xmlns:p="http://schemas.openxmlformats.org/presentationml/2006/main" showMasterSp="0">
  <p:cSld>
    <p:bg>
      <p:bgPr>
        <a:gradFill>
          <a:gsLst>
            <a:gs pos="0">
              <a:srgbClr val="F4F8FC"/>
            </a:gs>
            <a:gs pos="63000">
              <a:srgbClr val="F2F2F2"/>
            </a:gs>
            <a:gs pos="100000">
              <a:srgbClr val="D8D8D8"/>
            </a:gs>
          </a:gsLst>
          <a:path path="shape">
            <a:fillToRect l="50000" t="50000" r="50000" b="50000"/>
          </a:path>
        </a:gradFill>
        <a:effectLst/>
      </p:bgPr>
    </p:bg>
    <p:spTree>
      <p:nvGrpSpPr>
        <p:cNvPr id="1" name=""/>
        <p:cNvGrpSpPr/>
        <p:nvPr/>
      </p:nvGrpSpPr>
      <p:grpSpPr>
        <a:xfrm>
          <a:off x="0" y="0"/>
          <a:ext cx="0" cy="0"/>
          <a:chOff x="0" y="0"/>
          <a:chExt cx="0" cy="0"/>
        </a:xfrm>
      </p:grpSpPr>
      <p:sp>
        <p:nvSpPr>
          <p:cNvPr id="486" name="文本框"/>
          <p:cNvSpPr>
            <a:spLocks noGrp="1"/>
          </p:cNvSpPr>
          <p:nvPr>
            <p:ph type="dt" sz="half" idx="10"/>
          </p:nvPr>
        </p:nvSpPr>
        <p:spPr>
          <a:xfrm>
            <a:off x="685800" y="6477000"/>
            <a:ext cx="1905000" cy="228600"/>
          </a:xfrm>
          <a:prstGeom prst="rect">
            <a:avLst/>
          </a:prstGeom>
          <a:noFill/>
          <a:ln cap="flat" cmpd="sng">
            <a:noFill/>
            <a:prstDash val="solid"/>
            <a:miter/>
          </a:ln>
        </p:spPr>
        <p:txBody>
          <a:bodyPr vert="horz" wrap="square" lIns="91440" tIns="45720" rIns="91440" bIns="45720" anchor="t" anchorCtr="0">
            <a:prstTxWarp prst="textNoShape">
              <a:avLst/>
            </a:prstTxWarp>
          </a:bodyPr>
          <a:lstStyle/>
          <a:p>
            <a:pPr marL="0" indent="0" algn="l" eaLnBrk="1" hangingPunct="1">
              <a:lnSpc>
                <a:spcPct val="100000"/>
              </a:lnSpc>
              <a:spcBef>
                <a:spcPts val="0"/>
              </a:spcBef>
              <a:spcAft>
                <a:spcPts val="0"/>
              </a:spcAft>
              <a:buNone/>
            </a:pPr>
            <a:fld id="{CAD2D6BD-DE1B-4B5F-8B41-2702339687B9}" type="datetime1">
              <a:rPr lang="zh-CN" altLang="en-US" sz="1200" b="1" i="0" u="none" strike="noStrike" kern="1200" cap="none" spc="0" baseline="0">
                <a:solidFill>
                  <a:schemeClr val="tx1"/>
                </a:solidFill>
                <a:latin typeface="Verdana" pitchFamily="34" charset="0"/>
                <a:ea typeface="宋体" charset="0"/>
                <a:cs typeface="Verdana" pitchFamily="34" charset="0"/>
              </a:rPr>
              <a:t>2025/2/28</a:t>
            </a:fld>
            <a:endParaRPr lang="zh-CN" altLang="en-US" sz="1200" b="1" i="0" u="none" strike="noStrike" kern="1200" cap="none" spc="0" baseline="0">
              <a:solidFill>
                <a:schemeClr val="tx1"/>
              </a:solidFill>
              <a:latin typeface="Verdana" pitchFamily="34" charset="0"/>
              <a:ea typeface="宋体" charset="0"/>
              <a:cs typeface="Verdana" pitchFamily="34" charset="0"/>
            </a:endParaRPr>
          </a:p>
        </p:txBody>
      </p:sp>
      <p:sp>
        <p:nvSpPr>
          <p:cNvPr id="487" name="矩形"/>
          <p:cNvSpPr>
            <a:spLocks/>
          </p:cNvSpPr>
          <p:nvPr/>
        </p:nvSpPr>
        <p:spPr>
          <a:xfrm>
            <a:off x="0" y="0"/>
            <a:ext cx="9144000" cy="0"/>
          </a:xfrm>
          <a:prstGeom prst="rect">
            <a:avLst/>
          </a:prstGeom>
          <a:noFill/>
          <a:ln w="9525" cap="flat" cmpd="sng">
            <a:noFill/>
            <a:prstDash val="solid"/>
            <a:round/>
          </a:ln>
        </p:spPr>
      </p:sp>
      <p:sp>
        <p:nvSpPr>
          <p:cNvPr id="488" name="矩形"/>
          <p:cNvSpPr>
            <a:spLocks/>
          </p:cNvSpPr>
          <p:nvPr/>
        </p:nvSpPr>
        <p:spPr>
          <a:xfrm>
            <a:off x="685800" y="304800"/>
            <a:ext cx="7772400" cy="685800"/>
          </a:xfrm>
          <a:prstGeom prst="rect">
            <a:avLst/>
          </a:prstGeom>
          <a:noFill/>
          <a:ln w="9525" cap="flat" cmpd="sng">
            <a:noFill/>
            <a:prstDash val="solid"/>
            <a:round/>
          </a:ln>
        </p:spPr>
        <p:txBody>
          <a:bodyPr vert="horz" wrap="square" lIns="91440" tIns="45720" rIns="91440" bIns="45720" anchor="b" anchorCtr="0">
            <a:prstTxWarp prst="textNoShape">
              <a:avLst/>
            </a:prstTxWarp>
          </a:bodyPr>
          <a:lstStyle/>
          <a:p>
            <a:pPr marL="0" indent="0" algn="l" eaLnBrk="1" hangingPunct="1">
              <a:lnSpc>
                <a:spcPct val="100000"/>
              </a:lnSpc>
              <a:spcBef>
                <a:spcPts val="0"/>
              </a:spcBef>
              <a:spcAft>
                <a:spcPts val="0"/>
              </a:spcAft>
              <a:buNone/>
            </a:pPr>
            <a:r>
              <a:rPr lang="en-US" altLang="zh-CN" sz="2800" b="1" i="0" u="none" strike="noStrike" kern="1200" cap="none" spc="0" baseline="0" dirty="0">
                <a:solidFill>
                  <a:schemeClr val="accent2"/>
                </a:solidFill>
                <a:latin typeface="微软雅黑" charset="0"/>
                <a:ea typeface="微软雅黑" charset="0"/>
                <a:cs typeface="Verdana" pitchFamily="34" charset="0"/>
              </a:rPr>
              <a:t> 6 </a:t>
            </a:r>
            <a:r>
              <a:rPr lang="zh-CN" altLang="en-US" sz="2800" b="1" i="0" u="none" strike="noStrike" kern="1200" cap="none" spc="0" baseline="0" dirty="0">
                <a:solidFill>
                  <a:schemeClr val="accent2"/>
                </a:solidFill>
                <a:latin typeface="微软雅黑" charset="0"/>
                <a:ea typeface="微软雅黑" charset="0"/>
                <a:cs typeface="Verdana" pitchFamily="34" charset="0"/>
              </a:rPr>
              <a:t>常见问题</a:t>
            </a:r>
          </a:p>
        </p:txBody>
      </p:sp>
      <p:sp>
        <p:nvSpPr>
          <p:cNvPr id="489" name="矩形"/>
          <p:cNvSpPr>
            <a:spLocks/>
          </p:cNvSpPr>
          <p:nvPr/>
        </p:nvSpPr>
        <p:spPr>
          <a:xfrm>
            <a:off x="685800" y="1371600"/>
            <a:ext cx="6705525" cy="523220"/>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800" b="0" i="0" u="none" strike="noStrike" kern="1200" cap="none" spc="0" baseline="0">
                <a:solidFill>
                  <a:schemeClr val="tx1"/>
                </a:solidFill>
                <a:latin typeface="Verdana" pitchFamily="34" charset="0"/>
                <a:ea typeface="宋体" charset="0"/>
                <a:cs typeface="Verdana" pitchFamily="34" charset="0"/>
              </a:rPr>
              <a:t>贪婪</a:t>
            </a:r>
            <a:r>
              <a:rPr lang="en-US" altLang="zh-CN" sz="2800" b="0" i="0" u="none" strike="noStrike" kern="1200" cap="none" spc="0" baseline="0">
                <a:solidFill>
                  <a:schemeClr val="tx1"/>
                </a:solidFill>
                <a:latin typeface="Verdana" pitchFamily="34" charset="0"/>
                <a:ea typeface="宋体" charset="0"/>
                <a:cs typeface="Verdana" pitchFamily="34" charset="0"/>
              </a:rPr>
              <a:t>vs</a:t>
            </a:r>
            <a:r>
              <a:rPr lang="zh-CN" altLang="en-US" sz="2800" b="0" i="0" u="none" strike="noStrike" kern="1200" cap="none" spc="0" baseline="0">
                <a:solidFill>
                  <a:schemeClr val="tx1"/>
                </a:solidFill>
                <a:latin typeface="Verdana" pitchFamily="34" charset="0"/>
                <a:ea typeface="宋体" charset="0"/>
                <a:cs typeface="Verdana" pitchFamily="34" charset="0"/>
              </a:rPr>
              <a:t>不贪婪</a:t>
            </a:r>
          </a:p>
        </p:txBody>
      </p:sp>
      <p:sp>
        <p:nvSpPr>
          <p:cNvPr id="490" name="矩形"/>
          <p:cNvSpPr>
            <a:spLocks/>
          </p:cNvSpPr>
          <p:nvPr/>
        </p:nvSpPr>
        <p:spPr>
          <a:xfrm>
            <a:off x="765804" y="1894820"/>
            <a:ext cx="7696100" cy="3339465"/>
          </a:xfrm>
          <a:prstGeom prst="rect">
            <a:avLst/>
          </a:prstGeom>
          <a:noFill/>
          <a:ln w="9525" cap="flat" cmpd="sng">
            <a:noFill/>
            <a:prstDash val="solid"/>
            <a:round/>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在这种情况下，一个解决方案是使用“不贪婪”的表达式，比如：</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a:t>
            </a:r>
            <a:r>
              <a:rPr lang="en-US" altLang="zh-CN" sz="2000" b="0" i="0" u="none" strike="noStrike" kern="1200" cap="none" spc="0" baseline="0">
                <a:solidFill>
                  <a:schemeClr val="tx1"/>
                </a:solidFill>
                <a:latin typeface="Verdana" pitchFamily="34" charset="0"/>
                <a:ea typeface="宋体" charset="0"/>
                <a:cs typeface="Verdana" pitchFamily="34" charset="0"/>
              </a:rPr>
              <a:t>??</a:t>
            </a:r>
            <a:r>
              <a:rPr lang="zh-CN" altLang="en-US" sz="2000" b="0" i="0" u="none" strike="noStrike" kern="1200" cap="none" spc="0" baseline="0">
                <a:solidFill>
                  <a:schemeClr val="tx1"/>
                </a:solidFill>
                <a:latin typeface="Verdana" pitchFamily="34" charset="0"/>
                <a:ea typeface="宋体" charset="0"/>
                <a:cs typeface="Verdana" pitchFamily="34" charset="0"/>
              </a:rPr>
              <a:t>或</a:t>
            </a:r>
            <a:r>
              <a:rPr lang="en-US" altLang="zh-CN" sz="2000" b="0" i="0" u="none" strike="noStrike" kern="1200" cap="none" spc="0" baseline="0">
                <a:solidFill>
                  <a:schemeClr val="tx1"/>
                </a:solidFill>
                <a:latin typeface="Verdana" pitchFamily="34" charset="0"/>
                <a:ea typeface="宋体" charset="0"/>
                <a:cs typeface="Verdana" pitchFamily="34" charset="0"/>
              </a:rPr>
              <a:t>{m,n}?</a:t>
            </a:r>
            <a:r>
              <a:rPr lang="zh-CN" altLang="en-US" sz="2000" b="0" i="0" u="none" strike="noStrike" kern="1200" cap="none" spc="0" baseline="0">
                <a:solidFill>
                  <a:schemeClr val="tx1"/>
                </a:solidFill>
                <a:latin typeface="Verdana" pitchFamily="34" charset="0"/>
                <a:ea typeface="宋体" charset="0"/>
                <a:cs typeface="Verdana" pitchFamily="34" charset="0"/>
              </a:rPr>
              <a:t>，这些表达式会尽可能少地匹配文本。在下面的代码里，“</a:t>
            </a:r>
            <a:r>
              <a:rPr lang="en-US" altLang="zh-CN" sz="2000" b="0" i="0" u="none" strike="noStrike" kern="1200" cap="none" spc="0" baseline="0">
                <a:solidFill>
                  <a:schemeClr val="tx1"/>
                </a:solidFill>
                <a:latin typeface="Verdana" pitchFamily="34" charset="0"/>
                <a:ea typeface="宋体" charset="0"/>
                <a:cs typeface="Verdana" pitchFamily="34" charset="0"/>
              </a:rPr>
              <a:t>&gt;</a:t>
            </a:r>
            <a:r>
              <a:rPr lang="zh-CN" altLang="en-US" sz="2000" b="0" i="0" u="none" strike="noStrike" kern="1200" cap="none" spc="0" baseline="0">
                <a:solidFill>
                  <a:schemeClr val="tx1"/>
                </a:solidFill>
                <a:latin typeface="Verdana" pitchFamily="34" charset="0"/>
                <a:ea typeface="宋体" charset="0"/>
                <a:cs typeface="Verdana" pitchFamily="34" charset="0"/>
              </a:rPr>
              <a:t>”在第一个“</a:t>
            </a:r>
            <a:r>
              <a:rPr lang="en-US" altLang="zh-CN" sz="2000" b="0" i="0" u="none" strike="noStrike" kern="1200" cap="none" spc="0" baseline="0">
                <a:solidFill>
                  <a:schemeClr val="tx1"/>
                </a:solidFill>
                <a:latin typeface="Verdana" pitchFamily="34" charset="0"/>
                <a:ea typeface="宋体" charset="0"/>
                <a:cs typeface="Verdana" pitchFamily="34" charset="0"/>
              </a:rPr>
              <a:t>&lt;</a:t>
            </a:r>
            <a:r>
              <a:rPr lang="zh-CN" altLang="en-US" sz="2000" b="0" i="0" u="none" strike="noStrike" kern="1200" cap="none" spc="0" baseline="0">
                <a:solidFill>
                  <a:schemeClr val="tx1"/>
                </a:solidFill>
                <a:latin typeface="Verdana" pitchFamily="34" charset="0"/>
                <a:ea typeface="宋体" charset="0"/>
                <a:cs typeface="Verdana" pitchFamily="34" charset="0"/>
              </a:rPr>
              <a:t>”被匹配之后被立即尝试，当它失败时，引擎每一次只增加一个字符，并在每步尝试匹配“</a:t>
            </a:r>
            <a:r>
              <a:rPr lang="en-US" altLang="zh-CN" sz="2000" b="0" i="0" u="none" strike="noStrike" kern="1200" cap="none" spc="0" baseline="0">
                <a:solidFill>
                  <a:schemeClr val="tx1"/>
                </a:solidFill>
                <a:latin typeface="Verdana" pitchFamily="34" charset="0"/>
                <a:ea typeface="宋体" charset="0"/>
                <a:cs typeface="Verdana" pitchFamily="34" charset="0"/>
              </a:rPr>
              <a:t>&gt;</a:t>
            </a:r>
            <a:r>
              <a:rPr lang="zh-CN" altLang="en-US" sz="2000" b="0" i="0" u="none" strike="noStrike" kern="1200" cap="none" spc="0" baseline="0">
                <a:solidFill>
                  <a:schemeClr val="tx1"/>
                </a:solidFill>
                <a:latin typeface="Verdana" pitchFamily="34" charset="0"/>
                <a:ea typeface="宋体" charset="0"/>
                <a:cs typeface="Verdana" pitchFamily="34" charset="0"/>
              </a:rPr>
              <a:t>”。这一次我们将得到正确的结果：</a:t>
            </a:r>
            <a:endParaRPr lang="en-US" altLang="zh-CN" sz="2000" b="0" i="0" u="none" strike="noStrike" kern="1200" cap="none" spc="0" baseline="0">
              <a:solidFill>
                <a:schemeClr val="tx1"/>
              </a:solidFill>
              <a:latin typeface="Verdana" pitchFamily="34" charset="0"/>
              <a:ea typeface="宋体" charset="0"/>
              <a:cs typeface="Verdana" pitchFamily="34" charset="0"/>
            </a:endParaRP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r>
              <a:rPr lang="en-US" altLang="zh-CN" sz="2000" b="0" i="0" u="none" strike="noStrike" kern="1200" cap="none" spc="0" baseline="0">
                <a:solidFill>
                  <a:schemeClr val="tx1"/>
                </a:solidFill>
                <a:latin typeface="Consolas" pitchFamily="49" charset="0"/>
                <a:ea typeface="宋体" charset="0"/>
                <a:cs typeface="Consolas" pitchFamily="49" charset="0"/>
              </a:rPr>
              <a:t>&gt;&gt;&gt; print re.match('&lt;.*?&gt;', s).group()</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Consolas" pitchFamily="49" charset="0"/>
                <a:ea typeface="宋体" charset="0"/>
                <a:cs typeface="Consolas" pitchFamily="49" charset="0"/>
              </a:rPr>
              <a:t>&lt;html&gt;</a:t>
            </a:r>
          </a:p>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Verdana" pitchFamily="34" charset="0"/>
                <a:ea typeface="宋体" charset="0"/>
                <a:cs typeface="Verdana" pitchFamily="34" charset="0"/>
              </a:rPr>
              <a:t> </a:t>
            </a:r>
          </a:p>
          <a:p>
            <a:pPr marL="0" indent="0" algn="l">
              <a:lnSpc>
                <a:spcPct val="100000"/>
              </a:lnSpc>
              <a:spcBef>
                <a:spcPts val="0"/>
              </a:spcBef>
              <a:spcAft>
                <a:spcPts val="0"/>
              </a:spcAft>
              <a:buNone/>
            </a:pPr>
            <a:r>
              <a:rPr lang="zh-CN" altLang="en-US" sz="2000" b="0" i="0" u="none" strike="noStrike" kern="1200" cap="none" spc="0" baseline="0">
                <a:solidFill>
                  <a:schemeClr val="tx1"/>
                </a:solidFill>
                <a:latin typeface="Verdana" pitchFamily="34" charset="0"/>
                <a:ea typeface="宋体" charset="0"/>
                <a:cs typeface="Verdana" pitchFamily="34" charset="0"/>
              </a:rPr>
              <a:t>注意使用正则表达式并不适合分析</a:t>
            </a:r>
            <a:r>
              <a:rPr lang="en-US" altLang="zh-CN" sz="2000" b="0" i="0" u="none" strike="noStrike" kern="1200" cap="none" spc="0" baseline="0">
                <a:solidFill>
                  <a:schemeClr val="tx1"/>
                </a:solidFill>
                <a:latin typeface="Verdana" pitchFamily="34" charset="0"/>
                <a:ea typeface="宋体" charset="0"/>
                <a:cs typeface="Verdana" pitchFamily="34" charset="0"/>
              </a:rPr>
              <a:t>HTML</a:t>
            </a:r>
            <a:r>
              <a:rPr lang="zh-CN" altLang="en-US" sz="2000" b="0" i="0" u="none" strike="noStrike" kern="1200" cap="none" spc="0" baseline="0">
                <a:solidFill>
                  <a:schemeClr val="tx1"/>
                </a:solidFill>
                <a:latin typeface="Verdana" pitchFamily="34" charset="0"/>
                <a:ea typeface="宋体" charset="0"/>
                <a:cs typeface="Verdana" pitchFamily="34" charset="0"/>
              </a:rPr>
              <a:t>或</a:t>
            </a:r>
            <a:r>
              <a:rPr lang="en-US" altLang="zh-CN" sz="2000" b="0" i="0" u="none" strike="noStrike" kern="1200" cap="none" spc="0" baseline="0">
                <a:solidFill>
                  <a:schemeClr val="tx1"/>
                </a:solidFill>
                <a:latin typeface="Verdana" pitchFamily="34" charset="0"/>
                <a:ea typeface="宋体" charset="0"/>
                <a:cs typeface="Verdana" pitchFamily="34" charset="0"/>
              </a:rPr>
              <a:t>XML</a:t>
            </a:r>
            <a:r>
              <a:rPr lang="zh-CN" altLang="en-US" sz="2000" b="0" i="0" u="none" strike="noStrike" kern="1200" cap="none" spc="0" baseline="0">
                <a:solidFill>
                  <a:schemeClr val="tx1"/>
                </a:solidFill>
                <a:latin typeface="Verdana" pitchFamily="34" charset="0"/>
                <a:ea typeface="宋体" charset="0"/>
                <a:cs typeface="Verdana" pitchFamily="34" charset="0"/>
              </a:rPr>
              <a:t>文件。上述例子只是为了说明贪婪和不贪婪匹配。类似的任务最好使用</a:t>
            </a:r>
            <a:r>
              <a:rPr lang="en-US" altLang="zh-CN" sz="2000" b="0" i="0" u="none" strike="noStrike" kern="1200" cap="none" spc="0" baseline="0">
                <a:solidFill>
                  <a:schemeClr val="tx1"/>
                </a:solidFill>
                <a:latin typeface="Verdana" pitchFamily="34" charset="0"/>
                <a:ea typeface="宋体" charset="0"/>
                <a:cs typeface="Verdana" pitchFamily="34" charset="0"/>
              </a:rPr>
              <a:t>HTML</a:t>
            </a:r>
            <a:r>
              <a:rPr lang="zh-CN" altLang="en-US" sz="2000" b="0" i="0" u="none" strike="noStrike" kern="1200" cap="none" spc="0" baseline="0">
                <a:solidFill>
                  <a:schemeClr val="tx1"/>
                </a:solidFill>
                <a:latin typeface="Verdana" pitchFamily="34" charset="0"/>
                <a:ea typeface="宋体" charset="0"/>
                <a:cs typeface="Verdana" pitchFamily="34" charset="0"/>
              </a:rPr>
              <a:t>或</a:t>
            </a:r>
            <a:r>
              <a:rPr lang="en-US" altLang="zh-CN" sz="2000" b="0" i="0" u="none" strike="noStrike" kern="1200" cap="none" spc="0" baseline="0">
                <a:solidFill>
                  <a:schemeClr val="tx1"/>
                </a:solidFill>
                <a:latin typeface="Verdana" pitchFamily="34" charset="0"/>
                <a:ea typeface="宋体" charset="0"/>
                <a:cs typeface="Verdana" pitchFamily="34" charset="0"/>
              </a:rPr>
              <a:t>XML</a:t>
            </a:r>
            <a:r>
              <a:rPr lang="zh-CN" altLang="en-US" sz="2000" b="0" i="0" u="none" strike="noStrike" kern="1200" cap="none" spc="0" baseline="0">
                <a:solidFill>
                  <a:schemeClr val="tx1"/>
                </a:solidFill>
                <a:latin typeface="Verdana" pitchFamily="34" charset="0"/>
                <a:ea typeface="宋体" charset="0"/>
                <a:cs typeface="Verdana" pitchFamily="34" charset="0"/>
              </a:rPr>
              <a:t>解析器来完成。</a:t>
            </a:r>
          </a:p>
        </p:txBody>
      </p:sp>
    </p:spTree>
    <p:extLst>
      <p:ext uri="{BB962C8B-B14F-4D97-AF65-F5344CB8AC3E}">
        <p14:creationId xmlns:p14="http://schemas.microsoft.com/office/powerpoint/2010/main" val="1666234276"/>
      </p:ext>
    </p:extLst>
  </p:cSld>
  <p:clrMapOvr>
    <a:masterClrMapping/>
  </p:clrMapOvr>
  <p:transition spd="slow" advTm="7922"/>
</p:sld>
</file>

<file path=ppt/theme/theme1.xml><?xml version="1.0" encoding="utf-8"?>
<a:theme xmlns:a="http://schemas.openxmlformats.org/drawingml/2006/main" name="幻彩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新建 Microsoft PowerPoint 演示文稿" id="{51CA2BC8-8F4D-4D8C-BF04-CB3018D59BE0}" vid="{F49FC93B-D4B5-4F48-804E-3A399622EF5F}"/>
    </a:ext>
  </a:extLst>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幻彩母版</Template>
  <TotalTime>69</TotalTime>
  <Words>4842</Words>
  <Application>Microsoft Office PowerPoint</Application>
  <PresentationFormat>全屏显示(4:3)</PresentationFormat>
  <Paragraphs>416</Paragraphs>
  <Slides>41</Slides>
  <Notes>41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41</vt:i4>
      </vt:variant>
    </vt:vector>
  </HeadingPairs>
  <TitlesOfParts>
    <vt:vector size="53" baseType="lpstr">
      <vt:lpstr>等线</vt:lpstr>
      <vt:lpstr>等线 Light</vt:lpstr>
      <vt:lpstr>华康俪金黑W8</vt:lpstr>
      <vt:lpstr>宋体</vt:lpstr>
      <vt:lpstr>微软雅黑</vt:lpstr>
      <vt:lpstr>Arial</vt:lpstr>
      <vt:lpstr>Calibri</vt:lpstr>
      <vt:lpstr>Consolas</vt:lpstr>
      <vt:lpstr>Copperplate Gothic Bold</vt:lpstr>
      <vt:lpstr>Times New Roman</vt:lpstr>
      <vt:lpstr>Verdana</vt:lpstr>
      <vt:lpstr>幻彩母版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vt:lpstr>
      <vt:lpstr>PowerPoint 演示文稿</vt:lpstr>
      <vt:lpstr>PowerPoint 演示文稿</vt:lpstr>
      <vt:lpstr>PowerPoint 演示文稿</vt:lpstr>
      <vt:lpstr>PowerPoint 演示文稿</vt:lpstr>
      <vt:lpstr>目录</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国栋 李</cp:lastModifiedBy>
  <cp:revision>1</cp:revision>
  <dcterms:created xsi:type="dcterms:W3CDTF">2017-02-26T14:21:00Z</dcterms:created>
  <dcterms:modified xsi:type="dcterms:W3CDTF">2025-02-28T14:11:55Z</dcterms:modified>
</cp:coreProperties>
</file>
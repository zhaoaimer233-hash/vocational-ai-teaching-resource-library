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306" r:id="rId2"/>
    <p:sldId id="284" r:id="rId3"/>
    <p:sldId id="285" r:id="rId4"/>
    <p:sldId id="267" r:id="rId5"/>
    <p:sldId id="268" r:id="rId6"/>
    <p:sldId id="287" r:id="rId7"/>
    <p:sldId id="307" r:id="rId8"/>
    <p:sldId id="290" r:id="rId9"/>
    <p:sldId id="291" r:id="rId10"/>
    <p:sldId id="292" r:id="rId11"/>
    <p:sldId id="293" r:id="rId12"/>
    <p:sldId id="294" r:id="rId13"/>
    <p:sldId id="295" r:id="rId14"/>
    <p:sldId id="297" r:id="rId15"/>
    <p:sldId id="270" r:id="rId16"/>
    <p:sldId id="271" r:id="rId17"/>
    <p:sldId id="298" r:id="rId18"/>
    <p:sldId id="272" r:id="rId19"/>
    <p:sldId id="273" r:id="rId20"/>
    <p:sldId id="274" r:id="rId21"/>
    <p:sldId id="275" r:id="rId22"/>
    <p:sldId id="299" r:id="rId23"/>
    <p:sldId id="300" r:id="rId24"/>
    <p:sldId id="301" r:id="rId25"/>
    <p:sldId id="302" r:id="rId26"/>
    <p:sldId id="277" r:id="rId27"/>
    <p:sldId id="278" r:id="rId28"/>
    <p:sldId id="308" r:id="rId29"/>
    <p:sldId id="305" r:id="rId30"/>
    <p:sldId id="280" r:id="rId31"/>
    <p:sldId id="281" r:id="rId32"/>
    <p:sldId id="282" r:id="rId33"/>
    <p:sldId id="283" r:id="rId34"/>
    <p:sldId id="309" r:id="rId35"/>
    <p:sldId id="310" r:id="rId36"/>
    <p:sldId id="311" r:id="rId37"/>
    <p:sldId id="312" r:id="rId38"/>
    <p:sldId id="296" r:id="rId39"/>
    <p:sldId id="313" r:id="rId4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01" autoAdjust="0"/>
    <p:restoredTop sz="85421" autoAdjust="0"/>
  </p:normalViewPr>
  <p:slideViewPr>
    <p:cSldViewPr>
      <p:cViewPr varScale="1">
        <p:scale>
          <a:sx n="84" d="100"/>
          <a:sy n="84" d="100"/>
        </p:scale>
        <p:origin x="1234"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2E3D8B-8ECE-4E28-86E9-52ED789CB63E}" type="datetimeFigureOut">
              <a:rPr lang="zh-CN" altLang="en-US" smtClean="0"/>
              <a:t>2025/3/14</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318811D-E1AF-4C40-A2DC-274CB850088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zhida.zhihu.com/search?content_id=221421226&amp;content_type=Article&amp;match_order=1&amp;q=P%E5%9E%8B%E5%8D%8A%E5%AF%BC%E4%BD%93&amp;zhida_source=entity"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zhida.zhihu.com/search?content_id=221421226&amp;content_type=Article&amp;match_order=1&amp;q=%E6%89%A9%E6%95%A3%E6%B3%95&amp;zhida_source=entity"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zhida.zhihu.com/search?content_id=221421226&amp;content_type=Article&amp;match_order=1&amp;q=%E6%89%A9%E6%95%A3%E8%BF%90%E5%8A%A8&amp;zhida_source=entity"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zhida.zhihu.com/search?content_id=221421226&amp;content_type=Article&amp;match_order=1&amp;q=%E7%94%B5%E4%B8%AD%E6%80%A7&amp;zhida_source=entity"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91B1F"/>
                </a:solidFill>
                <a:effectLst/>
                <a:latin typeface="-apple-system"/>
              </a:rPr>
              <a:t>从直观上来讲，</a:t>
            </a:r>
            <a:r>
              <a:rPr lang="en-US" altLang="zh-CN" b="0" i="0" dirty="0">
                <a:solidFill>
                  <a:srgbClr val="191B1F"/>
                </a:solidFill>
                <a:effectLst/>
                <a:latin typeface="-apple-system"/>
              </a:rPr>
              <a:t>PN</a:t>
            </a:r>
            <a:r>
              <a:rPr lang="zh-CN" altLang="en-US" b="0" i="0" dirty="0">
                <a:solidFill>
                  <a:srgbClr val="191B1F"/>
                </a:solidFill>
                <a:effectLst/>
                <a:latin typeface="-apple-system"/>
              </a:rPr>
              <a:t>结实际上就是一个</a:t>
            </a:r>
            <a:r>
              <a:rPr lang="en-US" altLang="zh-CN" b="0" i="0" u="none" strike="noStrike" dirty="0">
                <a:solidFill>
                  <a:srgbClr val="09408E"/>
                </a:solidFill>
                <a:effectLst/>
                <a:latin typeface="-apple-system"/>
                <a:hlinkClick r:id="rId3"/>
              </a:rPr>
              <a:t>P</a:t>
            </a:r>
            <a:r>
              <a:rPr lang="zh-CN" altLang="en-US" b="0" i="0" u="none" strike="noStrike" dirty="0">
                <a:solidFill>
                  <a:srgbClr val="09408E"/>
                </a:solidFill>
                <a:effectLst/>
                <a:latin typeface="-apple-system"/>
                <a:hlinkClick r:id="rId3"/>
              </a:rPr>
              <a:t>型半导体</a:t>
            </a:r>
            <a:r>
              <a:rPr lang="zh-CN" altLang="en-US" b="0" i="0" dirty="0">
                <a:solidFill>
                  <a:srgbClr val="191B1F"/>
                </a:solidFill>
                <a:effectLst/>
                <a:latin typeface="-apple-system"/>
              </a:rPr>
              <a:t>和一个</a:t>
            </a:r>
            <a:r>
              <a:rPr lang="en-US" altLang="zh-CN" b="0" i="0" dirty="0">
                <a:solidFill>
                  <a:srgbClr val="191B1F"/>
                </a:solidFill>
                <a:effectLst/>
                <a:latin typeface="-apple-system"/>
              </a:rPr>
              <a:t>N</a:t>
            </a:r>
            <a:r>
              <a:rPr lang="zh-CN" altLang="en-US" b="0" i="0" dirty="0">
                <a:solidFill>
                  <a:srgbClr val="191B1F"/>
                </a:solidFill>
                <a:effectLst/>
                <a:latin typeface="-apple-system"/>
              </a:rPr>
              <a:t>型半导体怼在一起形成的，但在制造的时候我们往往会在</a:t>
            </a:r>
            <a:r>
              <a:rPr lang="en-US" altLang="zh-CN" b="0" i="0" dirty="0">
                <a:solidFill>
                  <a:srgbClr val="191B1F"/>
                </a:solidFill>
                <a:effectLst/>
                <a:latin typeface="-apple-system"/>
              </a:rPr>
              <a:t>N</a:t>
            </a:r>
            <a:r>
              <a:rPr lang="zh-CN" altLang="en-US" b="0" i="0" dirty="0">
                <a:solidFill>
                  <a:srgbClr val="191B1F"/>
                </a:solidFill>
                <a:effectLst/>
                <a:latin typeface="-apple-system"/>
              </a:rPr>
              <a:t>型半导体中（或</a:t>
            </a:r>
            <a:r>
              <a:rPr lang="en-US" altLang="zh-CN" b="0" i="0" dirty="0">
                <a:solidFill>
                  <a:srgbClr val="191B1F"/>
                </a:solidFill>
                <a:effectLst/>
                <a:latin typeface="-apple-system"/>
              </a:rPr>
              <a:t>P</a:t>
            </a:r>
            <a:r>
              <a:rPr lang="zh-CN" altLang="en-US" b="0" i="0" dirty="0">
                <a:solidFill>
                  <a:srgbClr val="191B1F"/>
                </a:solidFill>
                <a:effectLst/>
                <a:latin typeface="-apple-system"/>
              </a:rPr>
              <a:t>型）掺入</a:t>
            </a:r>
            <a:r>
              <a:rPr lang="en-US" altLang="zh-CN" b="0" i="0" dirty="0">
                <a:solidFill>
                  <a:srgbClr val="191B1F"/>
                </a:solidFill>
                <a:effectLst/>
                <a:latin typeface="-apple-system"/>
              </a:rPr>
              <a:t>P</a:t>
            </a:r>
            <a:r>
              <a:rPr lang="zh-CN" altLang="en-US" b="0" i="0" dirty="0">
                <a:solidFill>
                  <a:srgbClr val="191B1F"/>
                </a:solidFill>
                <a:effectLst/>
                <a:latin typeface="-apple-system"/>
              </a:rPr>
              <a:t>型杂质（或</a:t>
            </a:r>
            <a:r>
              <a:rPr lang="en-US" altLang="zh-CN" b="0" i="0" dirty="0">
                <a:solidFill>
                  <a:srgbClr val="191B1F"/>
                </a:solidFill>
                <a:effectLst/>
                <a:latin typeface="-apple-system"/>
              </a:rPr>
              <a:t>N</a:t>
            </a:r>
            <a:r>
              <a:rPr lang="zh-CN" altLang="en-US" b="0" i="0" dirty="0">
                <a:solidFill>
                  <a:srgbClr val="191B1F"/>
                </a:solidFill>
                <a:effectLst/>
                <a:latin typeface="-apple-system"/>
              </a:rPr>
              <a:t>型）以形成两种不同类型半导体相接触的格局。掺入的方式具体有合金法和</a:t>
            </a:r>
            <a:r>
              <a:rPr lang="zh-CN" altLang="en-US" b="0" i="0" u="none" strike="noStrike" dirty="0">
                <a:solidFill>
                  <a:srgbClr val="09408E"/>
                </a:solidFill>
                <a:effectLst/>
                <a:latin typeface="-apple-system"/>
                <a:hlinkClick r:id="rId4"/>
              </a:rPr>
              <a:t>扩散法</a:t>
            </a:r>
            <a:r>
              <a:rPr lang="zh-CN" altLang="en-US" b="0" i="0" dirty="0">
                <a:solidFill>
                  <a:srgbClr val="191B1F"/>
                </a:solidFill>
                <a:effectLst/>
                <a:latin typeface="-apple-system"/>
              </a:rPr>
              <a:t>，这两种方法会形成两种不一样的</a:t>
            </a:r>
            <a:r>
              <a:rPr lang="en-US" altLang="zh-CN" b="0" i="0" dirty="0">
                <a:solidFill>
                  <a:srgbClr val="191B1F"/>
                </a:solidFill>
                <a:effectLst/>
                <a:latin typeface="-apple-system"/>
              </a:rPr>
              <a:t>PN</a:t>
            </a:r>
            <a:r>
              <a:rPr lang="zh-CN" altLang="en-US" b="0" i="0" dirty="0">
                <a:solidFill>
                  <a:srgbClr val="191B1F"/>
                </a:solidFill>
                <a:effectLst/>
                <a:latin typeface="-apple-system"/>
              </a:rPr>
              <a:t>结，这种不同体现在</a:t>
            </a:r>
            <a:r>
              <a:rPr lang="en-US" altLang="zh-CN" b="0" i="0" dirty="0">
                <a:solidFill>
                  <a:srgbClr val="191B1F"/>
                </a:solidFill>
                <a:effectLst/>
                <a:latin typeface="-apple-system"/>
              </a:rPr>
              <a:t>PN</a:t>
            </a:r>
            <a:r>
              <a:rPr lang="zh-CN" altLang="en-US" b="0" i="0" dirty="0">
                <a:solidFill>
                  <a:srgbClr val="191B1F"/>
                </a:solidFill>
                <a:effectLst/>
                <a:latin typeface="-apple-system"/>
              </a:rPr>
              <a:t>结附近的杂质浓度分布上。</a:t>
            </a:r>
            <a:endParaRPr lang="LID4096" dirty="0"/>
          </a:p>
        </p:txBody>
      </p:sp>
      <p:sp>
        <p:nvSpPr>
          <p:cNvPr id="4" name="灯片编号占位符 3"/>
          <p:cNvSpPr>
            <a:spLocks noGrp="1"/>
          </p:cNvSpPr>
          <p:nvPr>
            <p:ph type="sldNum" sz="quarter" idx="5"/>
          </p:nvPr>
        </p:nvSpPr>
        <p:spPr/>
        <p:txBody>
          <a:bodyPr/>
          <a:lstStyle/>
          <a:p>
            <a:fld id="{F318811D-E1AF-4C40-A2DC-274CB8500885}" type="slidenum">
              <a:rPr lang="zh-CN" altLang="en-US" smtClean="0"/>
              <a:t>2</a:t>
            </a:fld>
            <a:endParaRPr lang="zh-CN" altLang="en-US"/>
          </a:p>
        </p:txBody>
      </p:sp>
    </p:spTree>
    <p:extLst>
      <p:ext uri="{BB962C8B-B14F-4D97-AF65-F5344CB8AC3E}">
        <p14:creationId xmlns:p14="http://schemas.microsoft.com/office/powerpoint/2010/main" val="3736789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191B1F"/>
                </a:solidFill>
                <a:effectLst/>
                <a:latin typeface="-apple-system"/>
              </a:rPr>
              <a:t>形成了</a:t>
            </a:r>
            <a:r>
              <a:rPr lang="en-US" altLang="zh-CN" b="0" i="0" dirty="0">
                <a:solidFill>
                  <a:srgbClr val="191B1F"/>
                </a:solidFill>
                <a:effectLst/>
                <a:latin typeface="-apple-system"/>
              </a:rPr>
              <a:t>PN</a:t>
            </a:r>
            <a:r>
              <a:rPr lang="zh-CN" altLang="en-US" b="0" i="0" dirty="0">
                <a:solidFill>
                  <a:srgbClr val="191B1F"/>
                </a:solidFill>
                <a:effectLst/>
                <a:latin typeface="-apple-system"/>
              </a:rPr>
              <a:t>结以后，由于</a:t>
            </a:r>
            <a:r>
              <a:rPr lang="en-US" altLang="zh-CN" b="0" i="0" dirty="0">
                <a:solidFill>
                  <a:srgbClr val="191B1F"/>
                </a:solidFill>
                <a:effectLst/>
                <a:latin typeface="-apple-system"/>
              </a:rPr>
              <a:t>P</a:t>
            </a:r>
            <a:r>
              <a:rPr lang="zh-CN" altLang="en-US" b="0" i="0" dirty="0">
                <a:solidFill>
                  <a:srgbClr val="191B1F"/>
                </a:solidFill>
                <a:effectLst/>
                <a:latin typeface="-apple-system"/>
              </a:rPr>
              <a:t>区空穴浓度远高于</a:t>
            </a:r>
            <a:r>
              <a:rPr lang="en-US" altLang="zh-CN" b="0" i="0" dirty="0">
                <a:solidFill>
                  <a:srgbClr val="191B1F"/>
                </a:solidFill>
                <a:effectLst/>
                <a:latin typeface="-apple-system"/>
              </a:rPr>
              <a:t>N</a:t>
            </a:r>
            <a:r>
              <a:rPr lang="zh-CN" altLang="en-US" b="0" i="0" dirty="0">
                <a:solidFill>
                  <a:srgbClr val="191B1F"/>
                </a:solidFill>
                <a:effectLst/>
                <a:latin typeface="-apple-system"/>
              </a:rPr>
              <a:t>区空穴浓度，同时</a:t>
            </a:r>
            <a:r>
              <a:rPr lang="en-US" altLang="zh-CN" b="0" i="0" dirty="0">
                <a:solidFill>
                  <a:srgbClr val="191B1F"/>
                </a:solidFill>
                <a:effectLst/>
                <a:latin typeface="-apple-system"/>
              </a:rPr>
              <a:t>N</a:t>
            </a:r>
            <a:r>
              <a:rPr lang="zh-CN" altLang="en-US" b="0" i="0" dirty="0">
                <a:solidFill>
                  <a:srgbClr val="191B1F"/>
                </a:solidFill>
                <a:effectLst/>
                <a:latin typeface="-apple-system"/>
              </a:rPr>
              <a:t>区电子浓度远高于</a:t>
            </a:r>
            <a:r>
              <a:rPr lang="en-US" altLang="zh-CN" b="0" i="0" dirty="0">
                <a:solidFill>
                  <a:srgbClr val="191B1F"/>
                </a:solidFill>
                <a:effectLst/>
                <a:latin typeface="-apple-system"/>
              </a:rPr>
              <a:t>P</a:t>
            </a:r>
            <a:r>
              <a:rPr lang="zh-CN" altLang="en-US" b="0" i="0" dirty="0">
                <a:solidFill>
                  <a:srgbClr val="191B1F"/>
                </a:solidFill>
                <a:effectLst/>
                <a:latin typeface="-apple-system"/>
              </a:rPr>
              <a:t>区电子浓度，因此自然而然地会发生载流子的</a:t>
            </a:r>
            <a:r>
              <a:rPr lang="zh-CN" altLang="en-US" b="0" i="0" u="none" strike="noStrike" dirty="0">
                <a:solidFill>
                  <a:srgbClr val="09408E"/>
                </a:solidFill>
                <a:effectLst/>
                <a:latin typeface="-apple-system"/>
                <a:hlinkClick r:id="rId3"/>
              </a:rPr>
              <a:t>扩散运动</a:t>
            </a:r>
            <a:r>
              <a:rPr lang="zh-CN" altLang="en-US" b="0" i="0" dirty="0">
                <a:solidFill>
                  <a:srgbClr val="191B1F"/>
                </a:solidFill>
                <a:effectLst/>
                <a:latin typeface="-apple-system"/>
              </a:rPr>
              <a:t>。</a:t>
            </a:r>
            <a:r>
              <a:rPr lang="en-US" altLang="zh-CN" b="0" i="0" dirty="0">
                <a:solidFill>
                  <a:srgbClr val="191B1F"/>
                </a:solidFill>
                <a:effectLst/>
                <a:latin typeface="-apple-system"/>
              </a:rPr>
              <a:t>N</a:t>
            </a:r>
            <a:r>
              <a:rPr lang="zh-CN" altLang="en-US" b="0" i="0" dirty="0">
                <a:solidFill>
                  <a:srgbClr val="191B1F"/>
                </a:solidFill>
                <a:effectLst/>
                <a:latin typeface="-apple-system"/>
              </a:rPr>
              <a:t>区中的电子会扩散到</a:t>
            </a:r>
            <a:r>
              <a:rPr lang="en-US" altLang="zh-CN" b="0" i="0" dirty="0">
                <a:solidFill>
                  <a:srgbClr val="191B1F"/>
                </a:solidFill>
                <a:effectLst/>
                <a:latin typeface="-apple-system"/>
              </a:rPr>
              <a:t>P</a:t>
            </a:r>
            <a:r>
              <a:rPr lang="zh-CN" altLang="en-US" b="0" i="0" dirty="0">
                <a:solidFill>
                  <a:srgbClr val="191B1F"/>
                </a:solidFill>
                <a:effectLst/>
                <a:latin typeface="-apple-system"/>
              </a:rPr>
              <a:t>区中，</a:t>
            </a:r>
            <a:r>
              <a:rPr lang="en-US" altLang="zh-CN" b="0" i="0" dirty="0">
                <a:solidFill>
                  <a:srgbClr val="191B1F"/>
                </a:solidFill>
                <a:effectLst/>
                <a:latin typeface="-apple-system"/>
              </a:rPr>
              <a:t>P</a:t>
            </a:r>
            <a:r>
              <a:rPr lang="zh-CN" altLang="en-US" b="0" i="0" dirty="0">
                <a:solidFill>
                  <a:srgbClr val="191B1F"/>
                </a:solidFill>
                <a:effectLst/>
                <a:latin typeface="-apple-system"/>
              </a:rPr>
              <a:t>区中的空穴会扩散到</a:t>
            </a:r>
            <a:r>
              <a:rPr lang="en-US" altLang="zh-CN" b="0" i="0" dirty="0">
                <a:solidFill>
                  <a:srgbClr val="191B1F"/>
                </a:solidFill>
                <a:effectLst/>
                <a:latin typeface="-apple-system"/>
              </a:rPr>
              <a:t>N</a:t>
            </a:r>
            <a:r>
              <a:rPr lang="zh-CN" altLang="en-US" b="0" i="0" dirty="0">
                <a:solidFill>
                  <a:srgbClr val="191B1F"/>
                </a:solidFill>
                <a:effectLst/>
                <a:latin typeface="-apple-system"/>
              </a:rPr>
              <a:t>区中，这种扩散带来的效果就是</a:t>
            </a:r>
            <a:r>
              <a:rPr lang="en-US" altLang="zh-CN" b="0" i="0" dirty="0">
                <a:solidFill>
                  <a:srgbClr val="191B1F"/>
                </a:solidFill>
                <a:effectLst/>
                <a:latin typeface="-apple-system"/>
              </a:rPr>
              <a:t>PN</a:t>
            </a:r>
            <a:r>
              <a:rPr lang="zh-CN" altLang="en-US" b="0" i="0" dirty="0">
                <a:solidFill>
                  <a:srgbClr val="191B1F"/>
                </a:solidFill>
                <a:effectLst/>
                <a:latin typeface="-apple-system"/>
              </a:rPr>
              <a:t>结两侧不再处于</a:t>
            </a:r>
            <a:r>
              <a:rPr lang="zh-CN" altLang="en-US" b="0" i="0" u="none" strike="noStrike" dirty="0">
                <a:solidFill>
                  <a:srgbClr val="09408E"/>
                </a:solidFill>
                <a:effectLst/>
                <a:latin typeface="-apple-system"/>
                <a:hlinkClick r:id="rId4"/>
              </a:rPr>
              <a:t>电中性</a:t>
            </a:r>
            <a:r>
              <a:rPr lang="zh-CN" altLang="en-US" b="0" i="0" dirty="0">
                <a:solidFill>
                  <a:srgbClr val="191B1F"/>
                </a:solidFill>
                <a:effectLst/>
                <a:latin typeface="-apple-system"/>
              </a:rPr>
              <a:t>了，紧邻交界面的</a:t>
            </a:r>
            <a:r>
              <a:rPr lang="en-US" altLang="zh-CN" b="0" i="0" dirty="0">
                <a:solidFill>
                  <a:srgbClr val="191B1F"/>
                </a:solidFill>
                <a:effectLst/>
                <a:latin typeface="-apple-system"/>
              </a:rPr>
              <a:t>P</a:t>
            </a:r>
            <a:r>
              <a:rPr lang="zh-CN" altLang="en-US" b="0" i="0" dirty="0">
                <a:solidFill>
                  <a:srgbClr val="191B1F"/>
                </a:solidFill>
                <a:effectLst/>
                <a:latin typeface="-apple-system"/>
              </a:rPr>
              <a:t>区呈现出受主的负电荷，而</a:t>
            </a:r>
            <a:r>
              <a:rPr lang="en-US" altLang="zh-CN" b="0" i="0" dirty="0">
                <a:solidFill>
                  <a:srgbClr val="191B1F"/>
                </a:solidFill>
                <a:effectLst/>
                <a:latin typeface="-apple-system"/>
              </a:rPr>
              <a:t>N</a:t>
            </a:r>
            <a:r>
              <a:rPr lang="zh-CN" altLang="en-US" b="0" i="0" dirty="0">
                <a:solidFill>
                  <a:srgbClr val="191B1F"/>
                </a:solidFill>
                <a:effectLst/>
                <a:latin typeface="-apple-system"/>
              </a:rPr>
              <a:t>区则呈现出施主的正电荷，我们称这一区域为空间电荷区</a:t>
            </a:r>
            <a:endParaRPr lang="en-US" altLang="zh-CN" b="0" i="0" dirty="0">
              <a:solidFill>
                <a:srgbClr val="191B1F"/>
              </a:solidFill>
              <a:effectLst/>
              <a:latin typeface="-apple-system"/>
            </a:endParaRPr>
          </a:p>
          <a:p>
            <a:pPr algn="l"/>
            <a:r>
              <a:rPr lang="zh-CN" altLang="en-US" b="0" i="0" dirty="0">
                <a:solidFill>
                  <a:srgbClr val="191B1F"/>
                </a:solidFill>
                <a:effectLst/>
                <a:latin typeface="-apple-system"/>
              </a:rPr>
              <a:t>随着空间电荷区的产生，我们可以直观地发现，由于</a:t>
            </a:r>
            <a:r>
              <a:rPr lang="en-US" altLang="zh-CN" b="0" i="0" dirty="0">
                <a:solidFill>
                  <a:srgbClr val="191B1F"/>
                </a:solidFill>
                <a:effectLst/>
                <a:latin typeface="-apple-system"/>
              </a:rPr>
              <a:t>N</a:t>
            </a:r>
            <a:r>
              <a:rPr lang="zh-CN" altLang="en-US" b="0" i="0" dirty="0">
                <a:solidFill>
                  <a:srgbClr val="191B1F"/>
                </a:solidFill>
                <a:effectLst/>
                <a:latin typeface="-apple-system"/>
              </a:rPr>
              <a:t>区带正电、</a:t>
            </a:r>
            <a:r>
              <a:rPr lang="en-US" altLang="zh-CN" b="0" i="0" dirty="0">
                <a:solidFill>
                  <a:srgbClr val="191B1F"/>
                </a:solidFill>
                <a:effectLst/>
                <a:latin typeface="-apple-system"/>
              </a:rPr>
              <a:t>P</a:t>
            </a:r>
            <a:r>
              <a:rPr lang="zh-CN" altLang="en-US" b="0" i="0" dirty="0">
                <a:solidFill>
                  <a:srgbClr val="191B1F"/>
                </a:solidFill>
                <a:effectLst/>
                <a:latin typeface="-apple-system"/>
              </a:rPr>
              <a:t>区带负电，因而会形成一个从</a:t>
            </a:r>
            <a:r>
              <a:rPr lang="en-US" altLang="zh-CN" b="0" i="0" dirty="0">
                <a:solidFill>
                  <a:srgbClr val="191B1F"/>
                </a:solidFill>
                <a:effectLst/>
                <a:latin typeface="-apple-system"/>
              </a:rPr>
              <a:t>N</a:t>
            </a:r>
            <a:r>
              <a:rPr lang="zh-CN" altLang="en-US" b="0" i="0" dirty="0">
                <a:solidFill>
                  <a:srgbClr val="191B1F"/>
                </a:solidFill>
                <a:effectLst/>
                <a:latin typeface="-apple-system"/>
              </a:rPr>
              <a:t>区指向</a:t>
            </a:r>
            <a:r>
              <a:rPr lang="en-US" altLang="zh-CN" b="0" i="0" dirty="0">
                <a:solidFill>
                  <a:srgbClr val="191B1F"/>
                </a:solidFill>
                <a:effectLst/>
                <a:latin typeface="-apple-system"/>
              </a:rPr>
              <a:t>P</a:t>
            </a:r>
            <a:r>
              <a:rPr lang="zh-CN" altLang="en-US" b="0" i="0" dirty="0">
                <a:solidFill>
                  <a:srgbClr val="191B1F"/>
                </a:solidFill>
                <a:effectLst/>
                <a:latin typeface="-apple-system"/>
              </a:rPr>
              <a:t>区的电场，这个电场会给扩散中的载流子施加与其扩散方向相反的力，阻止其扩散，因此</a:t>
            </a:r>
            <a:r>
              <a:rPr lang="en-US" altLang="zh-CN" b="0" i="0" dirty="0">
                <a:solidFill>
                  <a:srgbClr val="191B1F"/>
                </a:solidFill>
                <a:effectLst/>
                <a:latin typeface="-apple-system"/>
              </a:rPr>
              <a:t>PN</a:t>
            </a:r>
            <a:r>
              <a:rPr lang="zh-CN" altLang="en-US" b="0" i="0" dirty="0">
                <a:solidFill>
                  <a:srgbClr val="191B1F"/>
                </a:solidFill>
                <a:effectLst/>
                <a:latin typeface="-apple-system"/>
              </a:rPr>
              <a:t>结会最终达到一个平衡状态，空间电荷区的厚度不再发生变化。鉴于这是一个动态平衡的状态，所以各个位置处的电子、空穴浓度不再随时间变化（虽然不同位置处的浓度不同）。</a:t>
            </a:r>
            <a:br>
              <a:rPr lang="zh-CN" altLang="en-US" dirty="0"/>
            </a:br>
            <a:endParaRPr lang="LID4096" dirty="0"/>
          </a:p>
        </p:txBody>
      </p:sp>
      <p:sp>
        <p:nvSpPr>
          <p:cNvPr id="4" name="灯片编号占位符 3"/>
          <p:cNvSpPr>
            <a:spLocks noGrp="1"/>
          </p:cNvSpPr>
          <p:nvPr>
            <p:ph type="sldNum" sz="quarter" idx="5"/>
          </p:nvPr>
        </p:nvSpPr>
        <p:spPr/>
        <p:txBody>
          <a:bodyPr/>
          <a:lstStyle/>
          <a:p>
            <a:fld id="{F318811D-E1AF-4C40-A2DC-274CB8500885}" type="slidenum">
              <a:rPr lang="zh-CN" altLang="en-US" smtClean="0"/>
              <a:t>3</a:t>
            </a:fld>
            <a:endParaRPr lang="zh-CN" altLang="en-US"/>
          </a:p>
        </p:txBody>
      </p:sp>
    </p:spTree>
    <p:extLst>
      <p:ext uri="{BB962C8B-B14F-4D97-AF65-F5344CB8AC3E}">
        <p14:creationId xmlns:p14="http://schemas.microsoft.com/office/powerpoint/2010/main" val="3846293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3935AC2-061F-48FC-BCF2-E3B52267BD29}" type="slidenum">
              <a:rPr lang="en-US" altLang="zh-CN"/>
              <a:t>28</a:t>
            </a:fld>
            <a:endParaRPr lang="en-US" altLang="zh-CN"/>
          </a:p>
        </p:txBody>
      </p:sp>
      <p:sp>
        <p:nvSpPr>
          <p:cNvPr id="8194" name="Rectangle 2"/>
          <p:cNvSpPr>
            <a:spLocks noGrp="1" noRot="1" noChangeAspect="1" noChangeArrowheads="1" noTextEdit="1"/>
          </p:cNvSpPr>
          <p:nvPr>
            <p:ph type="sldImg"/>
          </p:nvPr>
        </p:nvSpPr>
        <p:spPr>
          <a:ln cap="flat"/>
        </p:spPr>
      </p:sp>
      <p:sp>
        <p:nvSpPr>
          <p:cNvPr id="81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126F4D7-9287-4DFC-AAEC-470F5D8361ED}" type="slidenum">
              <a:rPr lang="en-US" altLang="zh-CN"/>
              <a:t>29</a:t>
            </a:fld>
            <a:endParaRPr lang="en-US" altLang="zh-CN"/>
          </a:p>
        </p:txBody>
      </p:sp>
      <p:sp>
        <p:nvSpPr>
          <p:cNvPr id="6146" name="Rectangle 2"/>
          <p:cNvSpPr>
            <a:spLocks noGrp="1" noRot="1" noChangeAspect="1" noChangeArrowheads="1" noTextEdit="1"/>
          </p:cNvSpPr>
          <p:nvPr>
            <p:ph type="sldImg"/>
          </p:nvPr>
        </p:nvSpPr>
        <p:spPr>
          <a:ln cap="flat"/>
        </p:spPr>
      </p:sp>
      <p:sp>
        <p:nvSpPr>
          <p:cNvPr id="614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可选拓展建议配合阅读</a:t>
            </a:r>
            <a:r>
              <a:rPr lang="en-US" altLang="zh-CN" dirty="0"/>
              <a:t>《</a:t>
            </a:r>
            <a:r>
              <a:rPr lang="zh-CN" altLang="en-US" dirty="0"/>
              <a:t>流畅的 </a:t>
            </a:r>
            <a:r>
              <a:rPr lang="en-US" altLang="zh-CN" dirty="0"/>
              <a:t>Python》</a:t>
            </a:r>
            <a:r>
              <a:rPr lang="zh-CN" altLang="en-US" dirty="0"/>
              <a:t>等进阶书籍</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9901CBA2-7C9E-4AD6-B258-A0DB055BB3AF}" type="slidenum">
              <a:rPr lang="zh-CN" altLang="en-US" smtClean="0"/>
              <a:t>35</a:t>
            </a:fld>
            <a:endParaRPr lang="zh-CN" altLang="en-US"/>
          </a:p>
        </p:txBody>
      </p:sp>
    </p:spTree>
    <p:extLst>
      <p:ext uri="{BB962C8B-B14F-4D97-AF65-F5344CB8AC3E}">
        <p14:creationId xmlns:p14="http://schemas.microsoft.com/office/powerpoint/2010/main" val="2270527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2025/3/14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2025/3/14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2025/3/14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2025/3/14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2025/3/14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2025/3/14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2025/3/14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2025/3/14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2025/3/14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2025/3/14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2025/3/14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365125"/>
            <a:ext cx="7886700" cy="58118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2025/3/14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4.wmf"/><Relationship Id="rId7" Type="http://schemas.openxmlformats.org/officeDocument/2006/relationships/image" Target="../media/image6.wmf"/><Relationship Id="rId2" Type="http://schemas.openxmlformats.org/officeDocument/2006/relationships/oleObject" Target="../embeddings/oleObject2.bin"/><Relationship Id="rId1" Type="http://schemas.openxmlformats.org/officeDocument/2006/relationships/slideLayout" Target="../slideLayouts/slideLayout7.xml"/><Relationship Id="rId6" Type="http://schemas.openxmlformats.org/officeDocument/2006/relationships/oleObject" Target="../embeddings/oleObject4.bin"/><Relationship Id="rId11" Type="http://schemas.openxmlformats.org/officeDocument/2006/relationships/image" Target="../media/image8.wmf"/><Relationship Id="rId5" Type="http://schemas.openxmlformats.org/officeDocument/2006/relationships/image" Target="../media/image5.wmf"/><Relationship Id="rId10" Type="http://schemas.openxmlformats.org/officeDocument/2006/relationships/oleObject" Target="../embeddings/oleObject6.bin"/><Relationship Id="rId4" Type="http://schemas.openxmlformats.org/officeDocument/2006/relationships/oleObject" Target="../embeddings/oleObject3.bin"/><Relationship Id="rId9" Type="http://schemas.openxmlformats.org/officeDocument/2006/relationships/image" Target="../media/image7.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7.bin"/><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8.bin"/><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9.bin"/><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2.wmf"/><Relationship Id="rId7" Type="http://schemas.openxmlformats.org/officeDocument/2006/relationships/image" Target="../media/image14.wmf"/><Relationship Id="rId2"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oleObject" Target="../embeddings/oleObject12.bin"/><Relationship Id="rId5" Type="http://schemas.openxmlformats.org/officeDocument/2006/relationships/image" Target="../media/image13.wmf"/><Relationship Id="rId4" Type="http://schemas.openxmlformats.org/officeDocument/2006/relationships/oleObject" Target="../embeddings/oleObject11.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wmf"/><Relationship Id="rId5" Type="http://schemas.openxmlformats.org/officeDocument/2006/relationships/image" Target="../media/image20.wmf"/><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1.wmf"/><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7"/>
          <p:cNvSpPr txBox="1">
            <a:spLocks noChangeArrowheads="1"/>
          </p:cNvSpPr>
          <p:nvPr/>
        </p:nvSpPr>
        <p:spPr bwMode="auto">
          <a:xfrm>
            <a:off x="1407088" y="509906"/>
            <a:ext cx="6120333" cy="1107996"/>
          </a:xfrm>
          <a:prstGeom prst="rect">
            <a:avLst/>
          </a:prstGeom>
          <a:gradFill rotWithShape="1">
            <a:gsLst>
              <a:gs pos="0">
                <a:srgbClr val="FFFF66"/>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7200" b="1" dirty="0">
                <a:solidFill>
                  <a:srgbClr val="663300"/>
                </a:solidFill>
                <a:latin typeface="Times New Roman" panose="02020603050405020304" pitchFamily="18" charset="0"/>
                <a:ea typeface="方正舒体" panose="02010601030101010101" pitchFamily="2" charset="-122"/>
              </a:rPr>
              <a:t>半导体三极管</a:t>
            </a:r>
          </a:p>
        </p:txBody>
      </p:sp>
      <p:sp>
        <p:nvSpPr>
          <p:cNvPr id="5" name="矩形 4"/>
          <p:cNvSpPr/>
          <p:nvPr/>
        </p:nvSpPr>
        <p:spPr>
          <a:xfrm>
            <a:off x="395536" y="1844824"/>
            <a:ext cx="8064896" cy="1963614"/>
          </a:xfrm>
          <a:prstGeom prst="rect">
            <a:avLst/>
          </a:prstGeom>
        </p:spPr>
        <p:txBody>
          <a:bodyPr wrap="square">
            <a:spAutoFit/>
          </a:bodyPr>
          <a:lstStyle/>
          <a:p>
            <a:pPr>
              <a:lnSpc>
                <a:spcPct val="95000"/>
              </a:lnSpc>
            </a:pPr>
            <a:r>
              <a:rPr lang="zh-CN" altLang="en-US" sz="3200" b="1" dirty="0">
                <a:solidFill>
                  <a:srgbClr val="000050"/>
                </a:solidFill>
                <a:latin typeface="Times New Roman" panose="02020603050405020304" pitchFamily="18" charset="0"/>
                <a:ea typeface="隶书" panose="02010509060101010101" pitchFamily="49" charset="-122"/>
              </a:rPr>
              <a:t>三极管是组成各种电子电路的核心器件。通过一定的制造工艺，将两个</a:t>
            </a:r>
            <a:r>
              <a:rPr lang="en-US" altLang="zh-CN" sz="3200" b="1" dirty="0">
                <a:solidFill>
                  <a:srgbClr val="000050"/>
                </a:solidFill>
                <a:latin typeface="Times New Roman" panose="02020603050405020304" pitchFamily="18" charset="0"/>
                <a:ea typeface="隶书" panose="02010509060101010101" pitchFamily="49" charset="-122"/>
              </a:rPr>
              <a:t>PN</a:t>
            </a:r>
            <a:r>
              <a:rPr lang="zh-CN" altLang="en-US" sz="3200" b="1" dirty="0">
                <a:solidFill>
                  <a:srgbClr val="000050"/>
                </a:solidFill>
                <a:latin typeface="Times New Roman" panose="02020603050405020304" pitchFamily="18" charset="0"/>
                <a:ea typeface="隶书" panose="02010509060101010101" pitchFamily="49" charset="-122"/>
              </a:rPr>
              <a:t>结结合在一起，使三极管具有放大作用。三极管的产生使</a:t>
            </a:r>
            <a:r>
              <a:rPr lang="en-US" altLang="zh-CN" sz="3200" b="1" dirty="0">
                <a:solidFill>
                  <a:srgbClr val="000050"/>
                </a:solidFill>
                <a:latin typeface="Times New Roman" panose="02020603050405020304" pitchFamily="18" charset="0"/>
                <a:ea typeface="隶书" panose="02010509060101010101" pitchFamily="49" charset="-122"/>
              </a:rPr>
              <a:t>PN</a:t>
            </a:r>
            <a:r>
              <a:rPr lang="zh-CN" altLang="en-US" sz="3200" b="1" dirty="0">
                <a:solidFill>
                  <a:srgbClr val="000050"/>
                </a:solidFill>
                <a:latin typeface="Times New Roman" panose="02020603050405020304" pitchFamily="18" charset="0"/>
                <a:ea typeface="隶书" panose="02010509060101010101" pitchFamily="49" charset="-122"/>
              </a:rPr>
              <a:t>结的应用发生了质的飞跃。</a:t>
            </a:r>
            <a:endParaRPr lang="zh-CN" altLang="en-US" sz="3200" dirty="0">
              <a:solidFill>
                <a:schemeClr val="tx2"/>
              </a:solidFill>
              <a:latin typeface="Times New Roman" panose="02020603050405020304" pitchFamily="18" charset="0"/>
              <a:ea typeface="隶书" panose="02010509060101010101" pitchFamily="49" charset="-122"/>
            </a:endParaRPr>
          </a:p>
        </p:txBody>
      </p:sp>
      <p:sp>
        <p:nvSpPr>
          <p:cNvPr id="6" name="TextBox 5"/>
          <p:cNvSpPr txBox="1"/>
          <p:nvPr/>
        </p:nvSpPr>
        <p:spPr>
          <a:xfrm>
            <a:off x="830850" y="4293096"/>
            <a:ext cx="7272808" cy="1754326"/>
          </a:xfrm>
          <a:prstGeom prst="rect">
            <a:avLst/>
          </a:prstGeom>
          <a:noFill/>
        </p:spPr>
        <p:txBody>
          <a:bodyPr wrap="square" rtlCol="0">
            <a:spAutoFit/>
          </a:bodyPr>
          <a:lstStyle/>
          <a:p>
            <a:r>
              <a:rPr lang="zh-CN" altLang="en-US" sz="3600" b="1" dirty="0"/>
              <a:t>三极管是应用最广泛的半导体器件，在电子电路中实现放大、振荡、开关控制等功能。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500" fill="hold"/>
                                        <p:tgtEl>
                                          <p:spTgt spid="6"/>
                                        </p:tgtEl>
                                        <p:attrNameLst>
                                          <p:attrName>ppt_x</p:attrName>
                                        </p:attrNameLst>
                                      </p:cBhvr>
                                      <p:tavLst>
                                        <p:tav tm="0">
                                          <p:val>
                                            <p:strVal val="#ppt_x"/>
                                          </p:val>
                                        </p:tav>
                                        <p:tav tm="100000">
                                          <p:val>
                                            <p:strVal val="#ppt_x"/>
                                          </p:val>
                                        </p:tav>
                                      </p:tavLst>
                                    </p:anim>
                                    <p:anim calcmode="lin" valueType="num">
                                      <p:cBhvr additive="base">
                                        <p:cTn id="3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Text Box 2"/>
          <p:cNvSpPr txBox="1">
            <a:spLocks noChangeArrowheads="1"/>
          </p:cNvSpPr>
          <p:nvPr/>
        </p:nvSpPr>
        <p:spPr bwMode="auto">
          <a:xfrm>
            <a:off x="467544" y="6093295"/>
            <a:ext cx="71628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zh-CN" altLang="en-US" b="1" dirty="0">
                <a:solidFill>
                  <a:srgbClr val="FF00FF"/>
                </a:solidFill>
                <a:ea typeface="黑体" panose="02010609060101010101" pitchFamily="2" charset="-122"/>
              </a:rPr>
              <a:t>　三极管结构示意图　　</a:t>
            </a:r>
            <a:r>
              <a:rPr lang="en-US" altLang="zh-CN" sz="2200" b="1" dirty="0">
                <a:solidFill>
                  <a:srgbClr val="0000FF"/>
                </a:solidFill>
              </a:rPr>
              <a:t>NPN </a:t>
            </a:r>
            <a:r>
              <a:rPr lang="zh-CN" altLang="en-US" sz="2200" b="1" dirty="0">
                <a:solidFill>
                  <a:srgbClr val="0000FF"/>
                </a:solidFill>
              </a:rPr>
              <a:t>型</a:t>
            </a:r>
            <a:endParaRPr lang="zh-CN" altLang="en-US" sz="2200" b="1" dirty="0">
              <a:solidFill>
                <a:srgbClr val="0000FF"/>
              </a:solidFill>
              <a:ea typeface="黑体" panose="02010609060101010101" pitchFamily="2" charset="-122"/>
            </a:endParaRPr>
          </a:p>
        </p:txBody>
      </p:sp>
      <p:grpSp>
        <p:nvGrpSpPr>
          <p:cNvPr id="452611" name="Group 3"/>
          <p:cNvGrpSpPr/>
          <p:nvPr/>
        </p:nvGrpSpPr>
        <p:grpSpPr bwMode="auto">
          <a:xfrm>
            <a:off x="6705600" y="1754189"/>
            <a:ext cx="1752600" cy="3038475"/>
            <a:chOff x="4224" y="1728"/>
            <a:chExt cx="1104" cy="1914"/>
          </a:xfrm>
        </p:grpSpPr>
        <p:sp>
          <p:nvSpPr>
            <p:cNvPr id="452612" name="Text Box 4"/>
            <p:cNvSpPr txBox="1">
              <a:spLocks noChangeArrowheads="1"/>
            </p:cNvSpPr>
            <p:nvPr/>
          </p:nvSpPr>
          <p:spPr bwMode="auto">
            <a:xfrm>
              <a:off x="5081" y="3017"/>
              <a:ext cx="2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r>
                <a:rPr lang="en-US" altLang="zh-CN">
                  <a:solidFill>
                    <a:srgbClr val="FF3300"/>
                  </a:solidFill>
                </a:rPr>
                <a:t>e</a:t>
              </a:r>
              <a:endParaRPr lang="en-US" altLang="zh-CN" b="0">
                <a:solidFill>
                  <a:srgbClr val="FF3300"/>
                </a:solidFill>
              </a:endParaRPr>
            </a:p>
          </p:txBody>
        </p:sp>
        <p:sp>
          <p:nvSpPr>
            <p:cNvPr id="452613" name="Text Box 5"/>
            <p:cNvSpPr txBox="1">
              <a:spLocks noChangeArrowheads="1"/>
            </p:cNvSpPr>
            <p:nvPr/>
          </p:nvSpPr>
          <p:spPr bwMode="auto">
            <a:xfrm>
              <a:off x="4988" y="1728"/>
              <a:ext cx="3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1" hangingPunct="1"/>
              <a:r>
                <a:rPr lang="en-US" altLang="zh-CN">
                  <a:solidFill>
                    <a:srgbClr val="FF3300"/>
                  </a:solidFill>
                </a:rPr>
                <a:t>c</a:t>
              </a:r>
              <a:endParaRPr lang="en-US" altLang="zh-CN" b="0">
                <a:solidFill>
                  <a:srgbClr val="FF3300"/>
                </a:solidFill>
              </a:endParaRPr>
            </a:p>
          </p:txBody>
        </p:sp>
        <p:sp>
          <p:nvSpPr>
            <p:cNvPr id="452614" name="Text Box 6"/>
            <p:cNvSpPr txBox="1">
              <a:spLocks noChangeArrowheads="1"/>
            </p:cNvSpPr>
            <p:nvPr/>
          </p:nvSpPr>
          <p:spPr bwMode="auto">
            <a:xfrm>
              <a:off x="4224" y="254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r>
                <a:rPr lang="en-US" altLang="zh-CN">
                  <a:solidFill>
                    <a:srgbClr val="FF3300"/>
                  </a:solidFill>
                </a:rPr>
                <a:t>b</a:t>
              </a:r>
              <a:endParaRPr lang="en-US" altLang="zh-CN" b="0">
                <a:solidFill>
                  <a:srgbClr val="FF3300"/>
                </a:solidFill>
              </a:endParaRPr>
            </a:p>
          </p:txBody>
        </p:sp>
        <p:sp>
          <p:nvSpPr>
            <p:cNvPr id="452615" name="Oval 7"/>
            <p:cNvSpPr>
              <a:spLocks noChangeArrowheads="1"/>
            </p:cNvSpPr>
            <p:nvPr/>
          </p:nvSpPr>
          <p:spPr bwMode="auto">
            <a:xfrm>
              <a:off x="4244" y="2450"/>
              <a:ext cx="96" cy="96"/>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16" name="Line 8"/>
            <p:cNvSpPr>
              <a:spLocks noChangeShapeType="1"/>
            </p:cNvSpPr>
            <p:nvPr/>
          </p:nvSpPr>
          <p:spPr bwMode="auto">
            <a:xfrm>
              <a:off x="4628" y="2294"/>
              <a:ext cx="0" cy="43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17" name="Line 9"/>
            <p:cNvSpPr>
              <a:spLocks noChangeShapeType="1"/>
            </p:cNvSpPr>
            <p:nvPr/>
          </p:nvSpPr>
          <p:spPr bwMode="auto">
            <a:xfrm flipV="1">
              <a:off x="4628" y="2306"/>
              <a:ext cx="336" cy="14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18" name="Line 10"/>
            <p:cNvSpPr>
              <a:spLocks noChangeShapeType="1"/>
            </p:cNvSpPr>
            <p:nvPr/>
          </p:nvSpPr>
          <p:spPr bwMode="auto">
            <a:xfrm>
              <a:off x="4628" y="2546"/>
              <a:ext cx="336" cy="144"/>
            </a:xfrm>
            <a:prstGeom prst="line">
              <a:avLst/>
            </a:prstGeom>
            <a:noFill/>
            <a:ln w="38100">
              <a:solidFill>
                <a:schemeClr val="tx1"/>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19" name="Line 11"/>
            <p:cNvSpPr>
              <a:spLocks noChangeShapeType="1"/>
            </p:cNvSpPr>
            <p:nvPr/>
          </p:nvSpPr>
          <p:spPr bwMode="auto">
            <a:xfrm flipH="1">
              <a:off x="4340" y="2498"/>
              <a:ext cx="288" cy="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20" name="Line 12"/>
            <p:cNvSpPr>
              <a:spLocks noChangeShapeType="1"/>
            </p:cNvSpPr>
            <p:nvPr/>
          </p:nvSpPr>
          <p:spPr bwMode="auto">
            <a:xfrm flipV="1">
              <a:off x="4964" y="1922"/>
              <a:ext cx="0" cy="384"/>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21" name="Line 13"/>
            <p:cNvSpPr>
              <a:spLocks noChangeShapeType="1"/>
            </p:cNvSpPr>
            <p:nvPr/>
          </p:nvSpPr>
          <p:spPr bwMode="auto">
            <a:xfrm>
              <a:off x="4952" y="2678"/>
              <a:ext cx="0" cy="43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22" name="Oval 14"/>
            <p:cNvSpPr>
              <a:spLocks noChangeArrowheads="1"/>
            </p:cNvSpPr>
            <p:nvPr/>
          </p:nvSpPr>
          <p:spPr bwMode="auto">
            <a:xfrm>
              <a:off x="4916" y="1826"/>
              <a:ext cx="96" cy="96"/>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23" name="Oval 15"/>
            <p:cNvSpPr>
              <a:spLocks noChangeArrowheads="1"/>
            </p:cNvSpPr>
            <p:nvPr/>
          </p:nvSpPr>
          <p:spPr bwMode="auto">
            <a:xfrm>
              <a:off x="4916" y="3122"/>
              <a:ext cx="96" cy="96"/>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24" name="Text Box 16"/>
            <p:cNvSpPr txBox="1">
              <a:spLocks noChangeArrowheads="1"/>
            </p:cNvSpPr>
            <p:nvPr/>
          </p:nvSpPr>
          <p:spPr bwMode="auto">
            <a:xfrm>
              <a:off x="4379" y="3409"/>
              <a:ext cx="698"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r>
                <a:rPr lang="zh-CN" altLang="en-US" b="1" dirty="0">
                  <a:solidFill>
                    <a:schemeClr val="tx1"/>
                  </a:solidFill>
                </a:rPr>
                <a:t>图形符号</a:t>
              </a:r>
            </a:p>
          </p:txBody>
        </p:sp>
      </p:grpSp>
      <p:sp>
        <p:nvSpPr>
          <p:cNvPr id="452625" name="Text Box 17"/>
          <p:cNvSpPr txBox="1">
            <a:spLocks noChangeArrowheads="1"/>
          </p:cNvSpPr>
          <p:nvPr/>
        </p:nvSpPr>
        <p:spPr bwMode="auto">
          <a:xfrm>
            <a:off x="4902994" y="1706047"/>
            <a:ext cx="1143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r>
              <a:rPr lang="zh-CN" altLang="en-US" b="1" dirty="0">
                <a:solidFill>
                  <a:schemeClr val="tx1"/>
                </a:solidFill>
              </a:rPr>
              <a:t>集电区</a:t>
            </a:r>
            <a:endParaRPr lang="zh-CN" altLang="en-US" sz="1800" b="1" dirty="0">
              <a:solidFill>
                <a:schemeClr val="tx1"/>
              </a:solidFill>
            </a:endParaRPr>
          </a:p>
        </p:txBody>
      </p:sp>
      <p:sp>
        <p:nvSpPr>
          <p:cNvPr id="452626" name="Text Box 18"/>
          <p:cNvSpPr txBox="1">
            <a:spLocks noChangeArrowheads="1"/>
          </p:cNvSpPr>
          <p:nvPr/>
        </p:nvSpPr>
        <p:spPr bwMode="auto">
          <a:xfrm>
            <a:off x="5116057" y="2530341"/>
            <a:ext cx="88197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r>
              <a:rPr lang="zh-CN" altLang="en-US" b="1" dirty="0"/>
              <a:t>集电结</a:t>
            </a:r>
            <a:endParaRPr lang="zh-CN" altLang="en-US" b="1" dirty="0">
              <a:solidFill>
                <a:schemeClr val="tx1"/>
              </a:solidFill>
            </a:endParaRPr>
          </a:p>
        </p:txBody>
      </p:sp>
      <p:sp>
        <p:nvSpPr>
          <p:cNvPr id="452627" name="Text Box 19"/>
          <p:cNvSpPr txBox="1">
            <a:spLocks noChangeArrowheads="1"/>
          </p:cNvSpPr>
          <p:nvPr/>
        </p:nvSpPr>
        <p:spPr bwMode="auto">
          <a:xfrm>
            <a:off x="5129881" y="3083997"/>
            <a:ext cx="64953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r>
              <a:rPr lang="zh-CN" altLang="en-US" b="1" dirty="0">
                <a:solidFill>
                  <a:schemeClr val="tx1"/>
                </a:solidFill>
              </a:rPr>
              <a:t>基区</a:t>
            </a:r>
          </a:p>
        </p:txBody>
      </p:sp>
      <p:sp>
        <p:nvSpPr>
          <p:cNvPr id="452628" name="Text Box 20"/>
          <p:cNvSpPr txBox="1">
            <a:spLocks noChangeArrowheads="1"/>
          </p:cNvSpPr>
          <p:nvPr/>
        </p:nvSpPr>
        <p:spPr bwMode="auto">
          <a:xfrm>
            <a:off x="5013664" y="3738302"/>
            <a:ext cx="88197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r>
              <a:rPr lang="zh-CN" altLang="en-US" b="1" dirty="0"/>
              <a:t>发射结</a:t>
            </a:r>
            <a:endParaRPr lang="zh-CN" altLang="en-US" b="1" dirty="0">
              <a:solidFill>
                <a:schemeClr val="tx1"/>
              </a:solidFill>
            </a:endParaRPr>
          </a:p>
        </p:txBody>
      </p:sp>
      <p:sp>
        <p:nvSpPr>
          <p:cNvPr id="452629" name="Text Box 21"/>
          <p:cNvSpPr txBox="1">
            <a:spLocks noChangeArrowheads="1"/>
          </p:cNvSpPr>
          <p:nvPr/>
        </p:nvSpPr>
        <p:spPr bwMode="auto">
          <a:xfrm>
            <a:off x="5116058" y="4866253"/>
            <a:ext cx="88197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r>
              <a:rPr lang="zh-CN" altLang="en-US" b="1" dirty="0">
                <a:solidFill>
                  <a:schemeClr val="tx1"/>
                </a:solidFill>
              </a:rPr>
              <a:t>发射区</a:t>
            </a:r>
          </a:p>
        </p:txBody>
      </p:sp>
      <p:sp>
        <p:nvSpPr>
          <p:cNvPr id="452630" name="Line 22"/>
          <p:cNvSpPr>
            <a:spLocks noChangeShapeType="1"/>
          </p:cNvSpPr>
          <p:nvPr/>
        </p:nvSpPr>
        <p:spPr bwMode="auto">
          <a:xfrm flipV="1">
            <a:off x="3898900" y="1958976"/>
            <a:ext cx="898525" cy="54927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31" name="Line 23"/>
          <p:cNvSpPr>
            <a:spLocks noChangeShapeType="1"/>
          </p:cNvSpPr>
          <p:nvPr/>
        </p:nvSpPr>
        <p:spPr bwMode="auto">
          <a:xfrm flipV="1">
            <a:off x="3928269" y="2838260"/>
            <a:ext cx="974725" cy="24447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32" name="Line 24"/>
          <p:cNvSpPr>
            <a:spLocks noChangeShapeType="1"/>
          </p:cNvSpPr>
          <p:nvPr/>
        </p:nvSpPr>
        <p:spPr bwMode="auto">
          <a:xfrm flipV="1">
            <a:off x="3917950" y="3255964"/>
            <a:ext cx="1087438" cy="1063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33" name="Line 25"/>
          <p:cNvSpPr>
            <a:spLocks noChangeShapeType="1"/>
          </p:cNvSpPr>
          <p:nvPr/>
        </p:nvSpPr>
        <p:spPr bwMode="auto">
          <a:xfrm>
            <a:off x="3966367" y="3738302"/>
            <a:ext cx="898525" cy="1365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34" name="Line 26"/>
          <p:cNvSpPr>
            <a:spLocks noChangeShapeType="1"/>
          </p:cNvSpPr>
          <p:nvPr/>
        </p:nvSpPr>
        <p:spPr bwMode="auto">
          <a:xfrm>
            <a:off x="3890168" y="4380994"/>
            <a:ext cx="1050925" cy="6699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35" name="Text Box 27"/>
          <p:cNvSpPr txBox="1">
            <a:spLocks noChangeArrowheads="1"/>
          </p:cNvSpPr>
          <p:nvPr/>
        </p:nvSpPr>
        <p:spPr bwMode="auto">
          <a:xfrm>
            <a:off x="3173131" y="1194872"/>
            <a:ext cx="103105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r>
              <a:rPr lang="zh-CN" altLang="en-US" b="1" dirty="0">
                <a:solidFill>
                  <a:srgbClr val="3333FF"/>
                </a:solidFill>
              </a:rPr>
              <a:t>集电极 </a:t>
            </a:r>
            <a:r>
              <a:rPr lang="en-US" altLang="zh-CN" b="1" dirty="0">
                <a:solidFill>
                  <a:srgbClr val="3333FF"/>
                </a:solidFill>
              </a:rPr>
              <a:t>c</a:t>
            </a:r>
            <a:endParaRPr lang="en-US" altLang="zh-CN" b="1" dirty="0">
              <a:solidFill>
                <a:schemeClr val="tx1"/>
              </a:solidFill>
            </a:endParaRPr>
          </a:p>
        </p:txBody>
      </p:sp>
      <p:sp>
        <p:nvSpPr>
          <p:cNvPr id="452636" name="Text Box 28"/>
          <p:cNvSpPr txBox="1">
            <a:spLocks noChangeArrowheads="1"/>
          </p:cNvSpPr>
          <p:nvPr/>
        </p:nvSpPr>
        <p:spPr bwMode="auto">
          <a:xfrm>
            <a:off x="990416" y="2895879"/>
            <a:ext cx="8258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r>
              <a:rPr lang="zh-CN" altLang="en-US" b="1" dirty="0">
                <a:solidFill>
                  <a:srgbClr val="3333FF"/>
                </a:solidFill>
              </a:rPr>
              <a:t>基极 </a:t>
            </a:r>
            <a:r>
              <a:rPr lang="en-US" altLang="zh-CN" b="1" dirty="0">
                <a:solidFill>
                  <a:srgbClr val="3333FF"/>
                </a:solidFill>
              </a:rPr>
              <a:t>b</a:t>
            </a:r>
            <a:endParaRPr lang="en-US" altLang="zh-CN" b="1" dirty="0">
              <a:solidFill>
                <a:schemeClr val="tx1"/>
              </a:solidFill>
            </a:endParaRPr>
          </a:p>
        </p:txBody>
      </p:sp>
      <p:sp>
        <p:nvSpPr>
          <p:cNvPr id="452637" name="Text Box 29"/>
          <p:cNvSpPr txBox="1">
            <a:spLocks noChangeArrowheads="1"/>
          </p:cNvSpPr>
          <p:nvPr/>
        </p:nvSpPr>
        <p:spPr bwMode="auto">
          <a:xfrm>
            <a:off x="3274733" y="5668447"/>
            <a:ext cx="10502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r>
              <a:rPr lang="zh-CN" altLang="en-US" b="1" dirty="0">
                <a:solidFill>
                  <a:srgbClr val="3333FF"/>
                </a:solidFill>
              </a:rPr>
              <a:t>发射极 </a:t>
            </a:r>
            <a:r>
              <a:rPr lang="en-US" altLang="zh-CN" b="1" dirty="0">
                <a:solidFill>
                  <a:srgbClr val="3333FF"/>
                </a:solidFill>
              </a:rPr>
              <a:t>e</a:t>
            </a:r>
            <a:endParaRPr lang="en-US" altLang="zh-CN" sz="1800" b="1" dirty="0">
              <a:solidFill>
                <a:schemeClr val="tx1"/>
              </a:solidFill>
            </a:endParaRPr>
          </a:p>
        </p:txBody>
      </p:sp>
      <p:grpSp>
        <p:nvGrpSpPr>
          <p:cNvPr id="452638" name="Group 30"/>
          <p:cNvGrpSpPr/>
          <p:nvPr/>
        </p:nvGrpSpPr>
        <p:grpSpPr bwMode="auto">
          <a:xfrm>
            <a:off x="1333500" y="1303338"/>
            <a:ext cx="2667000" cy="4648200"/>
            <a:chOff x="1162" y="682"/>
            <a:chExt cx="1680" cy="2928"/>
          </a:xfrm>
        </p:grpSpPr>
        <p:sp>
          <p:nvSpPr>
            <p:cNvPr id="452639" name="Rectangle 31"/>
            <p:cNvSpPr>
              <a:spLocks noChangeArrowheads="1"/>
            </p:cNvSpPr>
            <p:nvPr/>
          </p:nvSpPr>
          <p:spPr bwMode="auto">
            <a:xfrm>
              <a:off x="1680" y="1104"/>
              <a:ext cx="1152" cy="1920"/>
            </a:xfrm>
            <a:prstGeom prst="rect">
              <a:avLst/>
            </a:prstGeom>
            <a:solidFill>
              <a:srgbClr val="CCFFFF"/>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endParaRPr lang="zh-CN" altLang="zh-CN" sz="1600" b="0">
                <a:solidFill>
                  <a:schemeClr val="tx1"/>
                </a:solidFill>
              </a:endParaRPr>
            </a:p>
          </p:txBody>
        </p:sp>
        <p:sp>
          <p:nvSpPr>
            <p:cNvPr id="452640" name="Line 32"/>
            <p:cNvSpPr>
              <a:spLocks noChangeShapeType="1"/>
            </p:cNvSpPr>
            <p:nvPr/>
          </p:nvSpPr>
          <p:spPr bwMode="auto">
            <a:xfrm>
              <a:off x="1690" y="1786"/>
              <a:ext cx="1152" cy="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41" name="Line 33"/>
            <p:cNvSpPr>
              <a:spLocks noChangeShapeType="1"/>
            </p:cNvSpPr>
            <p:nvPr/>
          </p:nvSpPr>
          <p:spPr bwMode="auto">
            <a:xfrm>
              <a:off x="1690" y="2218"/>
              <a:ext cx="1152" cy="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42" name="Line 34"/>
            <p:cNvSpPr>
              <a:spLocks noChangeShapeType="1"/>
            </p:cNvSpPr>
            <p:nvPr/>
          </p:nvSpPr>
          <p:spPr bwMode="auto">
            <a:xfrm flipV="1">
              <a:off x="2286" y="759"/>
              <a:ext cx="1" cy="33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43" name="Line 35"/>
            <p:cNvSpPr>
              <a:spLocks noChangeShapeType="1"/>
            </p:cNvSpPr>
            <p:nvPr/>
          </p:nvSpPr>
          <p:spPr bwMode="auto">
            <a:xfrm>
              <a:off x="2272" y="3034"/>
              <a:ext cx="1" cy="48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44" name="Line 36"/>
            <p:cNvSpPr>
              <a:spLocks noChangeShapeType="1"/>
            </p:cNvSpPr>
            <p:nvPr/>
          </p:nvSpPr>
          <p:spPr bwMode="auto">
            <a:xfrm flipH="1">
              <a:off x="1258" y="1978"/>
              <a:ext cx="432" cy="1"/>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45" name="Line 37"/>
            <p:cNvSpPr>
              <a:spLocks noChangeShapeType="1"/>
            </p:cNvSpPr>
            <p:nvPr/>
          </p:nvSpPr>
          <p:spPr bwMode="auto">
            <a:xfrm>
              <a:off x="1690" y="1738"/>
              <a:ext cx="1152" cy="1"/>
            </a:xfrm>
            <a:prstGeom prst="line">
              <a:avLst/>
            </a:prstGeom>
            <a:noFill/>
            <a:ln w="28575">
              <a:solidFill>
                <a:srgbClr val="FF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46" name="Line 38"/>
            <p:cNvSpPr>
              <a:spLocks noChangeShapeType="1"/>
            </p:cNvSpPr>
            <p:nvPr/>
          </p:nvSpPr>
          <p:spPr bwMode="auto">
            <a:xfrm>
              <a:off x="1690" y="2170"/>
              <a:ext cx="1152" cy="1"/>
            </a:xfrm>
            <a:prstGeom prst="line">
              <a:avLst/>
            </a:prstGeom>
            <a:noFill/>
            <a:ln w="28575">
              <a:solidFill>
                <a:srgbClr val="FF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47" name="Line 39"/>
            <p:cNvSpPr>
              <a:spLocks noChangeShapeType="1"/>
            </p:cNvSpPr>
            <p:nvPr/>
          </p:nvSpPr>
          <p:spPr bwMode="auto">
            <a:xfrm>
              <a:off x="1690" y="2266"/>
              <a:ext cx="1152" cy="1"/>
            </a:xfrm>
            <a:prstGeom prst="line">
              <a:avLst/>
            </a:prstGeom>
            <a:noFill/>
            <a:ln w="28575">
              <a:solidFill>
                <a:srgbClr val="FF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48" name="Line 40"/>
            <p:cNvSpPr>
              <a:spLocks noChangeShapeType="1"/>
            </p:cNvSpPr>
            <p:nvPr/>
          </p:nvSpPr>
          <p:spPr bwMode="auto">
            <a:xfrm>
              <a:off x="1690" y="1834"/>
              <a:ext cx="1152" cy="1"/>
            </a:xfrm>
            <a:prstGeom prst="line">
              <a:avLst/>
            </a:prstGeom>
            <a:noFill/>
            <a:ln w="28575">
              <a:solidFill>
                <a:srgbClr val="FF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49" name="Oval 41"/>
            <p:cNvSpPr>
              <a:spLocks noChangeArrowheads="1"/>
            </p:cNvSpPr>
            <p:nvPr/>
          </p:nvSpPr>
          <p:spPr bwMode="auto">
            <a:xfrm>
              <a:off x="1162" y="1930"/>
              <a:ext cx="96" cy="96"/>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50" name="Oval 42"/>
            <p:cNvSpPr>
              <a:spLocks noChangeArrowheads="1"/>
            </p:cNvSpPr>
            <p:nvPr/>
          </p:nvSpPr>
          <p:spPr bwMode="auto">
            <a:xfrm>
              <a:off x="2248" y="682"/>
              <a:ext cx="96" cy="96"/>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51" name="Oval 43"/>
            <p:cNvSpPr>
              <a:spLocks noChangeArrowheads="1"/>
            </p:cNvSpPr>
            <p:nvPr/>
          </p:nvSpPr>
          <p:spPr bwMode="auto">
            <a:xfrm>
              <a:off x="2224" y="3514"/>
              <a:ext cx="96" cy="96"/>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52" name="Text Box 44"/>
            <p:cNvSpPr txBox="1">
              <a:spLocks noChangeArrowheads="1"/>
            </p:cNvSpPr>
            <p:nvPr/>
          </p:nvSpPr>
          <p:spPr bwMode="auto">
            <a:xfrm>
              <a:off x="2136" y="1298"/>
              <a:ext cx="278" cy="32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r>
                <a:rPr lang="en-US" altLang="zh-CN" sz="2800"/>
                <a:t>N</a:t>
              </a:r>
              <a:endParaRPr lang="en-US" altLang="zh-CN" sz="2800">
                <a:solidFill>
                  <a:schemeClr val="tx1"/>
                </a:solidFill>
              </a:endParaRPr>
            </a:p>
          </p:txBody>
        </p:sp>
        <p:sp>
          <p:nvSpPr>
            <p:cNvPr id="452653" name="Text Box 45"/>
            <p:cNvSpPr txBox="1">
              <a:spLocks noChangeArrowheads="1"/>
            </p:cNvSpPr>
            <p:nvPr/>
          </p:nvSpPr>
          <p:spPr bwMode="auto">
            <a:xfrm>
              <a:off x="2136" y="2402"/>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r>
                <a:rPr lang="en-US" altLang="zh-CN" sz="2800" dirty="0"/>
                <a:t>N</a:t>
              </a:r>
              <a:endParaRPr lang="en-US" altLang="zh-CN" sz="1600" b="0" dirty="0">
                <a:solidFill>
                  <a:schemeClr val="tx1"/>
                </a:solidFill>
              </a:endParaRPr>
            </a:p>
          </p:txBody>
        </p:sp>
        <p:sp>
          <p:nvSpPr>
            <p:cNvPr id="452654" name="Rectangle 46"/>
            <p:cNvSpPr>
              <a:spLocks noChangeArrowheads="1"/>
            </p:cNvSpPr>
            <p:nvPr/>
          </p:nvSpPr>
          <p:spPr bwMode="auto">
            <a:xfrm>
              <a:off x="1680" y="1776"/>
              <a:ext cx="1152" cy="432"/>
            </a:xfrm>
            <a:prstGeom prst="rect">
              <a:avLst/>
            </a:prstGeom>
            <a:solidFill>
              <a:srgbClr val="FFFF00"/>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55" name="Text Box 47"/>
            <p:cNvSpPr txBox="1">
              <a:spLocks noChangeArrowheads="1"/>
            </p:cNvSpPr>
            <p:nvPr/>
          </p:nvSpPr>
          <p:spPr bwMode="auto">
            <a:xfrm>
              <a:off x="2154" y="1824"/>
              <a:ext cx="2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r>
                <a:rPr lang="en-US" altLang="zh-CN" sz="2800"/>
                <a:t>P</a:t>
              </a:r>
              <a:endParaRPr lang="en-US" altLang="zh-CN">
                <a:solidFill>
                  <a:schemeClr val="tx1"/>
                </a:solidFill>
              </a:endParaRPr>
            </a:p>
          </p:txBody>
        </p:sp>
        <p:sp>
          <p:nvSpPr>
            <p:cNvPr id="452656" name="Line 48"/>
            <p:cNvSpPr>
              <a:spLocks noChangeShapeType="1"/>
            </p:cNvSpPr>
            <p:nvPr/>
          </p:nvSpPr>
          <p:spPr bwMode="auto">
            <a:xfrm>
              <a:off x="1680" y="1824"/>
              <a:ext cx="1152" cy="1"/>
            </a:xfrm>
            <a:prstGeom prst="line">
              <a:avLst/>
            </a:prstGeom>
            <a:noFill/>
            <a:ln w="952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2657" name="Line 49"/>
            <p:cNvSpPr>
              <a:spLocks noChangeShapeType="1"/>
            </p:cNvSpPr>
            <p:nvPr/>
          </p:nvSpPr>
          <p:spPr bwMode="auto">
            <a:xfrm>
              <a:off x="1680" y="2160"/>
              <a:ext cx="1152" cy="1"/>
            </a:xfrm>
            <a:prstGeom prst="line">
              <a:avLst/>
            </a:prstGeom>
            <a:noFill/>
            <a:ln w="952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452659" name="Text Box 51"/>
          <p:cNvSpPr txBox="1">
            <a:spLocks noChangeArrowheads="1"/>
          </p:cNvSpPr>
          <p:nvPr/>
        </p:nvSpPr>
        <p:spPr bwMode="auto">
          <a:xfrm>
            <a:off x="179388" y="1268413"/>
            <a:ext cx="2447925" cy="1077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med"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spcBef>
                <a:spcPct val="50000"/>
              </a:spcBef>
            </a:pPr>
            <a:r>
              <a:rPr lang="zh-CN" altLang="en-US" sz="3200" dirty="0">
                <a:effectLst>
                  <a:outerShdw blurRad="38100" dist="38100" dir="2700000" algn="tl">
                    <a:srgbClr val="C0C0C0"/>
                  </a:outerShdw>
                </a:effectLst>
              </a:rPr>
              <a:t>三极管结构及符号</a:t>
            </a:r>
            <a:endParaRPr lang="zh-CN" altLang="en-US" sz="3200" dirty="0">
              <a:solidFill>
                <a:schemeClr val="accent2"/>
              </a:solidFill>
            </a:endParaRPr>
          </a:p>
        </p:txBody>
      </p:sp>
      <p:sp>
        <p:nvSpPr>
          <p:cNvPr id="3" name="TextBox 2"/>
          <p:cNvSpPr txBox="1"/>
          <p:nvPr/>
        </p:nvSpPr>
        <p:spPr>
          <a:xfrm>
            <a:off x="539552" y="86908"/>
            <a:ext cx="8153908" cy="1144929"/>
          </a:xfrm>
          <a:prstGeom prst="rect">
            <a:avLst/>
          </a:prstGeom>
          <a:noFill/>
        </p:spPr>
        <p:txBody>
          <a:bodyPr wrap="square" rtlCol="0">
            <a:spAutoFit/>
          </a:bodyPr>
          <a:lstStyle/>
          <a:p>
            <a:pPr>
              <a:lnSpc>
                <a:spcPct val="95000"/>
              </a:lnSpc>
            </a:pPr>
            <a:r>
              <a:rPr lang="zh-CN" altLang="en-US" sz="2400" b="1" dirty="0">
                <a:solidFill>
                  <a:srgbClr val="000050"/>
                </a:solidFill>
                <a:latin typeface="Times New Roman" panose="02020603050405020304" pitchFamily="18" charset="0"/>
                <a:ea typeface="隶书" panose="02010509060101010101" pitchFamily="49" charset="-122"/>
              </a:rPr>
              <a:t>三极管分有</a:t>
            </a:r>
            <a:r>
              <a:rPr lang="en-US" altLang="zh-CN" sz="2400" b="1" dirty="0">
                <a:solidFill>
                  <a:srgbClr val="C80000"/>
                </a:solidFill>
                <a:latin typeface="Times New Roman" panose="02020603050405020304" pitchFamily="18" charset="0"/>
                <a:ea typeface="隶书" panose="02010509060101010101" pitchFamily="49" charset="-122"/>
              </a:rPr>
              <a:t>NPN</a:t>
            </a:r>
            <a:r>
              <a:rPr lang="zh-CN" altLang="en-US" sz="2400" b="1" dirty="0">
                <a:solidFill>
                  <a:srgbClr val="000050"/>
                </a:solidFill>
                <a:latin typeface="Times New Roman" panose="02020603050405020304" pitchFamily="18" charset="0"/>
                <a:ea typeface="隶书" panose="02010509060101010101" pitchFamily="49" charset="-122"/>
              </a:rPr>
              <a:t>型和</a:t>
            </a:r>
            <a:r>
              <a:rPr lang="en-US" altLang="zh-CN" sz="2400" b="1" dirty="0">
                <a:solidFill>
                  <a:srgbClr val="C80000"/>
                </a:solidFill>
                <a:latin typeface="Times New Roman" panose="02020603050405020304" pitchFamily="18" charset="0"/>
                <a:ea typeface="隶书" panose="02010509060101010101" pitchFamily="49" charset="-122"/>
              </a:rPr>
              <a:t>PNP</a:t>
            </a:r>
            <a:r>
              <a:rPr lang="zh-CN" altLang="en-US" sz="2400" b="1" dirty="0">
                <a:solidFill>
                  <a:srgbClr val="000050"/>
                </a:solidFill>
                <a:latin typeface="Times New Roman" panose="02020603050405020304" pitchFamily="18" charset="0"/>
                <a:ea typeface="隶书" panose="02010509060101010101" pitchFamily="49" charset="-122"/>
              </a:rPr>
              <a:t>型，虽然它们外形各异，品种繁多，但它们的共同特征相同：都有三个分区、两个</a:t>
            </a:r>
            <a:r>
              <a:rPr lang="en-US" altLang="zh-CN" sz="2400" b="1" dirty="0">
                <a:solidFill>
                  <a:srgbClr val="000050"/>
                </a:solidFill>
                <a:latin typeface="Times New Roman" panose="02020603050405020304" pitchFamily="18" charset="0"/>
                <a:ea typeface="隶书" panose="02010509060101010101" pitchFamily="49" charset="-122"/>
              </a:rPr>
              <a:t>PN</a:t>
            </a:r>
            <a:r>
              <a:rPr lang="zh-CN" altLang="en-US" sz="2400" b="1" dirty="0">
                <a:solidFill>
                  <a:srgbClr val="000050"/>
                </a:solidFill>
                <a:latin typeface="Times New Roman" panose="02020603050405020304" pitchFamily="18" charset="0"/>
                <a:ea typeface="隶书" panose="02010509060101010101" pitchFamily="49" charset="-122"/>
              </a:rPr>
              <a:t>结和三个向外引出的电极。</a:t>
            </a:r>
            <a:endParaRPr lang="zh-CN" altLang="en-US" sz="2400" dirty="0">
              <a:solidFill>
                <a:schemeClr val="tx2"/>
              </a:solidFill>
            </a:endParaRPr>
          </a:p>
        </p:txBody>
      </p:sp>
      <p:sp>
        <p:nvSpPr>
          <p:cNvPr id="4" name="TextBox 3"/>
          <p:cNvSpPr txBox="1"/>
          <p:nvPr/>
        </p:nvSpPr>
        <p:spPr>
          <a:xfrm>
            <a:off x="5963112" y="5439847"/>
            <a:ext cx="2520280" cy="369332"/>
          </a:xfrm>
          <a:prstGeom prst="rect">
            <a:avLst/>
          </a:prstGeom>
          <a:noFill/>
        </p:spPr>
        <p:txBody>
          <a:bodyPr wrap="square" rtlCol="0">
            <a:spAutoFit/>
          </a:bodyPr>
          <a:lstStyle/>
          <a:p>
            <a:r>
              <a:rPr lang="zh-CN" altLang="en-US" b="1" dirty="0"/>
              <a:t>三极管的文字符号是</a:t>
            </a:r>
            <a:r>
              <a:rPr lang="en-US" altLang="zh-CN" b="1" dirty="0"/>
              <a:t>VT</a:t>
            </a:r>
            <a:endParaRPr lang="zh-CN" altLang="en-US" b="1"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26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452638"/>
                                        </p:tgtEl>
                                        <p:attrNameLst>
                                          <p:attrName>style.visibility</p:attrName>
                                        </p:attrNameLst>
                                      </p:cBhvr>
                                      <p:to>
                                        <p:strVal val="visible"/>
                                      </p:to>
                                    </p:set>
                                    <p:animEffect transition="in" filter="dissolve">
                                      <p:cBhvr>
                                        <p:cTn id="16" dur="500"/>
                                        <p:tgtEl>
                                          <p:spTgt spid="452638"/>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452610"/>
                                        </p:tgtEl>
                                        <p:attrNameLst>
                                          <p:attrName>style.visibility</p:attrName>
                                        </p:attrNameLst>
                                      </p:cBhvr>
                                      <p:to>
                                        <p:strVal val="visible"/>
                                      </p:to>
                                    </p:set>
                                    <p:animEffect transition="in" filter="dissolve">
                                      <p:cBhvr>
                                        <p:cTn id="20" dur="500"/>
                                        <p:tgtEl>
                                          <p:spTgt spid="452610"/>
                                        </p:tgtEl>
                                      </p:cBhvr>
                                    </p:animEffect>
                                  </p:childTnLst>
                                </p:cTn>
                              </p:par>
                            </p:childTnLst>
                          </p:cTn>
                        </p:par>
                      </p:childTnLst>
                    </p:cTn>
                  </p:par>
                  <p:par>
                    <p:cTn id="21" fill="hold">
                      <p:stCondLst>
                        <p:cond delay="indefinite"/>
                      </p:stCondLst>
                      <p:childTnLst>
                        <p:par>
                          <p:cTn id="22" fill="hold">
                            <p:stCondLst>
                              <p:cond delay="0"/>
                            </p:stCondLst>
                            <p:childTnLst>
                              <p:par>
                                <p:cTn id="23" presetID="17" presetClass="entr" presetSubtype="8" fill="hold" grpId="0" nodeType="clickEffect">
                                  <p:stCondLst>
                                    <p:cond delay="0"/>
                                  </p:stCondLst>
                                  <p:childTnLst>
                                    <p:set>
                                      <p:cBhvr>
                                        <p:cTn id="24" dur="1" fill="hold">
                                          <p:stCondLst>
                                            <p:cond delay="0"/>
                                          </p:stCondLst>
                                        </p:cTn>
                                        <p:tgtEl>
                                          <p:spTgt spid="452634"/>
                                        </p:tgtEl>
                                        <p:attrNameLst>
                                          <p:attrName>style.visibility</p:attrName>
                                        </p:attrNameLst>
                                      </p:cBhvr>
                                      <p:to>
                                        <p:strVal val="visible"/>
                                      </p:to>
                                    </p:set>
                                    <p:anim calcmode="lin" valueType="num">
                                      <p:cBhvr>
                                        <p:cTn id="25" dur="500" fill="hold"/>
                                        <p:tgtEl>
                                          <p:spTgt spid="452634"/>
                                        </p:tgtEl>
                                        <p:attrNameLst>
                                          <p:attrName>ppt_x</p:attrName>
                                        </p:attrNameLst>
                                      </p:cBhvr>
                                      <p:tavLst>
                                        <p:tav tm="0">
                                          <p:val>
                                            <p:strVal val="#ppt_x-#ppt_w/2"/>
                                          </p:val>
                                        </p:tav>
                                        <p:tav tm="100000">
                                          <p:val>
                                            <p:strVal val="#ppt_x"/>
                                          </p:val>
                                        </p:tav>
                                      </p:tavLst>
                                    </p:anim>
                                    <p:anim calcmode="lin" valueType="num">
                                      <p:cBhvr>
                                        <p:cTn id="26" dur="500" fill="hold"/>
                                        <p:tgtEl>
                                          <p:spTgt spid="452634"/>
                                        </p:tgtEl>
                                        <p:attrNameLst>
                                          <p:attrName>ppt_y</p:attrName>
                                        </p:attrNameLst>
                                      </p:cBhvr>
                                      <p:tavLst>
                                        <p:tav tm="0">
                                          <p:val>
                                            <p:strVal val="#ppt_y"/>
                                          </p:val>
                                        </p:tav>
                                        <p:tav tm="100000">
                                          <p:val>
                                            <p:strVal val="#ppt_y"/>
                                          </p:val>
                                        </p:tav>
                                      </p:tavLst>
                                    </p:anim>
                                    <p:anim calcmode="lin" valueType="num">
                                      <p:cBhvr>
                                        <p:cTn id="27" dur="500" fill="hold"/>
                                        <p:tgtEl>
                                          <p:spTgt spid="452634"/>
                                        </p:tgtEl>
                                        <p:attrNameLst>
                                          <p:attrName>ppt_w</p:attrName>
                                        </p:attrNameLst>
                                      </p:cBhvr>
                                      <p:tavLst>
                                        <p:tav tm="0">
                                          <p:val>
                                            <p:fltVal val="0"/>
                                          </p:val>
                                        </p:tav>
                                        <p:tav tm="100000">
                                          <p:val>
                                            <p:strVal val="#ppt_w"/>
                                          </p:val>
                                        </p:tav>
                                      </p:tavLst>
                                    </p:anim>
                                    <p:anim calcmode="lin" valueType="num">
                                      <p:cBhvr>
                                        <p:cTn id="28" dur="500" fill="hold"/>
                                        <p:tgtEl>
                                          <p:spTgt spid="452634"/>
                                        </p:tgtEl>
                                        <p:attrNameLst>
                                          <p:attrName>ppt_h</p:attrName>
                                        </p:attrNameLst>
                                      </p:cBhvr>
                                      <p:tavLst>
                                        <p:tav tm="0">
                                          <p:val>
                                            <p:strVal val="#ppt_h"/>
                                          </p:val>
                                        </p:tav>
                                        <p:tav tm="100000">
                                          <p:val>
                                            <p:strVal val="#ppt_h"/>
                                          </p:val>
                                        </p:tav>
                                      </p:tavLst>
                                    </p:anim>
                                  </p:childTnLst>
                                </p:cTn>
                              </p:par>
                            </p:childTnLst>
                          </p:cTn>
                        </p:par>
                        <p:par>
                          <p:cTn id="29" fill="hold">
                            <p:stCondLst>
                              <p:cond delay="500"/>
                            </p:stCondLst>
                            <p:childTnLst>
                              <p:par>
                                <p:cTn id="30" presetID="2" presetClass="entr" presetSubtype="6" fill="hold" grpId="0" nodeType="afterEffect">
                                  <p:stCondLst>
                                    <p:cond delay="0"/>
                                  </p:stCondLst>
                                  <p:childTnLst>
                                    <p:set>
                                      <p:cBhvr>
                                        <p:cTn id="31" dur="1" fill="hold">
                                          <p:stCondLst>
                                            <p:cond delay="0"/>
                                          </p:stCondLst>
                                        </p:cTn>
                                        <p:tgtEl>
                                          <p:spTgt spid="452629"/>
                                        </p:tgtEl>
                                        <p:attrNameLst>
                                          <p:attrName>style.visibility</p:attrName>
                                        </p:attrNameLst>
                                      </p:cBhvr>
                                      <p:to>
                                        <p:strVal val="visible"/>
                                      </p:to>
                                    </p:set>
                                    <p:anim calcmode="lin" valueType="num">
                                      <p:cBhvr additive="base">
                                        <p:cTn id="32" dur="500" fill="hold"/>
                                        <p:tgtEl>
                                          <p:spTgt spid="452629"/>
                                        </p:tgtEl>
                                        <p:attrNameLst>
                                          <p:attrName>ppt_x</p:attrName>
                                        </p:attrNameLst>
                                      </p:cBhvr>
                                      <p:tavLst>
                                        <p:tav tm="0">
                                          <p:val>
                                            <p:strVal val="1+#ppt_w/2"/>
                                          </p:val>
                                        </p:tav>
                                        <p:tav tm="100000">
                                          <p:val>
                                            <p:strVal val="#ppt_x"/>
                                          </p:val>
                                        </p:tav>
                                      </p:tavLst>
                                    </p:anim>
                                    <p:anim calcmode="lin" valueType="num">
                                      <p:cBhvr additive="base">
                                        <p:cTn id="33" dur="500" fill="hold"/>
                                        <p:tgtEl>
                                          <p:spTgt spid="452629"/>
                                        </p:tgtEl>
                                        <p:attrNameLst>
                                          <p:attrName>ppt_y</p:attrName>
                                        </p:attrNameLst>
                                      </p:cBhvr>
                                      <p:tavLst>
                                        <p:tav tm="0">
                                          <p:val>
                                            <p:strVal val="1+#ppt_h/2"/>
                                          </p:val>
                                        </p:tav>
                                        <p:tav tm="100000">
                                          <p:val>
                                            <p:strVal val="#ppt_y"/>
                                          </p:val>
                                        </p:tav>
                                      </p:tavLst>
                                    </p:anim>
                                  </p:childTnLst>
                                </p:cTn>
                              </p:par>
                            </p:childTnLst>
                          </p:cTn>
                        </p:par>
                        <p:par>
                          <p:cTn id="34" fill="hold">
                            <p:stCondLst>
                              <p:cond delay="1000"/>
                            </p:stCondLst>
                            <p:childTnLst>
                              <p:par>
                                <p:cTn id="35" presetID="17" presetClass="entr" presetSubtype="8" fill="hold" grpId="0" nodeType="afterEffect">
                                  <p:stCondLst>
                                    <p:cond delay="1000"/>
                                  </p:stCondLst>
                                  <p:childTnLst>
                                    <p:set>
                                      <p:cBhvr>
                                        <p:cTn id="36" dur="1" fill="hold">
                                          <p:stCondLst>
                                            <p:cond delay="0"/>
                                          </p:stCondLst>
                                        </p:cTn>
                                        <p:tgtEl>
                                          <p:spTgt spid="452632"/>
                                        </p:tgtEl>
                                        <p:attrNameLst>
                                          <p:attrName>style.visibility</p:attrName>
                                        </p:attrNameLst>
                                      </p:cBhvr>
                                      <p:to>
                                        <p:strVal val="visible"/>
                                      </p:to>
                                    </p:set>
                                    <p:anim calcmode="lin" valueType="num">
                                      <p:cBhvr>
                                        <p:cTn id="37" dur="500" fill="hold"/>
                                        <p:tgtEl>
                                          <p:spTgt spid="452632"/>
                                        </p:tgtEl>
                                        <p:attrNameLst>
                                          <p:attrName>ppt_x</p:attrName>
                                        </p:attrNameLst>
                                      </p:cBhvr>
                                      <p:tavLst>
                                        <p:tav tm="0">
                                          <p:val>
                                            <p:strVal val="#ppt_x-#ppt_w/2"/>
                                          </p:val>
                                        </p:tav>
                                        <p:tav tm="100000">
                                          <p:val>
                                            <p:strVal val="#ppt_x"/>
                                          </p:val>
                                        </p:tav>
                                      </p:tavLst>
                                    </p:anim>
                                    <p:anim calcmode="lin" valueType="num">
                                      <p:cBhvr>
                                        <p:cTn id="38" dur="500" fill="hold"/>
                                        <p:tgtEl>
                                          <p:spTgt spid="452632"/>
                                        </p:tgtEl>
                                        <p:attrNameLst>
                                          <p:attrName>ppt_y</p:attrName>
                                        </p:attrNameLst>
                                      </p:cBhvr>
                                      <p:tavLst>
                                        <p:tav tm="0">
                                          <p:val>
                                            <p:strVal val="#ppt_y"/>
                                          </p:val>
                                        </p:tav>
                                        <p:tav tm="100000">
                                          <p:val>
                                            <p:strVal val="#ppt_y"/>
                                          </p:val>
                                        </p:tav>
                                      </p:tavLst>
                                    </p:anim>
                                    <p:anim calcmode="lin" valueType="num">
                                      <p:cBhvr>
                                        <p:cTn id="39" dur="500" fill="hold"/>
                                        <p:tgtEl>
                                          <p:spTgt spid="452632"/>
                                        </p:tgtEl>
                                        <p:attrNameLst>
                                          <p:attrName>ppt_w</p:attrName>
                                        </p:attrNameLst>
                                      </p:cBhvr>
                                      <p:tavLst>
                                        <p:tav tm="0">
                                          <p:val>
                                            <p:fltVal val="0"/>
                                          </p:val>
                                        </p:tav>
                                        <p:tav tm="100000">
                                          <p:val>
                                            <p:strVal val="#ppt_w"/>
                                          </p:val>
                                        </p:tav>
                                      </p:tavLst>
                                    </p:anim>
                                    <p:anim calcmode="lin" valueType="num">
                                      <p:cBhvr>
                                        <p:cTn id="40" dur="500" fill="hold"/>
                                        <p:tgtEl>
                                          <p:spTgt spid="452632"/>
                                        </p:tgtEl>
                                        <p:attrNameLst>
                                          <p:attrName>ppt_h</p:attrName>
                                        </p:attrNameLst>
                                      </p:cBhvr>
                                      <p:tavLst>
                                        <p:tav tm="0">
                                          <p:val>
                                            <p:strVal val="#ppt_h"/>
                                          </p:val>
                                        </p:tav>
                                        <p:tav tm="100000">
                                          <p:val>
                                            <p:strVal val="#ppt_h"/>
                                          </p:val>
                                        </p:tav>
                                      </p:tavLst>
                                    </p:anim>
                                  </p:childTnLst>
                                </p:cTn>
                              </p:par>
                            </p:childTnLst>
                          </p:cTn>
                        </p:par>
                        <p:par>
                          <p:cTn id="41" fill="hold">
                            <p:stCondLst>
                              <p:cond delay="2500"/>
                            </p:stCondLst>
                            <p:childTnLst>
                              <p:par>
                                <p:cTn id="42" presetID="2" presetClass="entr" presetSubtype="2" fill="hold" grpId="0" nodeType="afterEffect">
                                  <p:stCondLst>
                                    <p:cond delay="0"/>
                                  </p:stCondLst>
                                  <p:childTnLst>
                                    <p:set>
                                      <p:cBhvr>
                                        <p:cTn id="43" dur="1" fill="hold">
                                          <p:stCondLst>
                                            <p:cond delay="0"/>
                                          </p:stCondLst>
                                        </p:cTn>
                                        <p:tgtEl>
                                          <p:spTgt spid="452627"/>
                                        </p:tgtEl>
                                        <p:attrNameLst>
                                          <p:attrName>style.visibility</p:attrName>
                                        </p:attrNameLst>
                                      </p:cBhvr>
                                      <p:to>
                                        <p:strVal val="visible"/>
                                      </p:to>
                                    </p:set>
                                    <p:anim calcmode="lin" valueType="num">
                                      <p:cBhvr additive="base">
                                        <p:cTn id="44" dur="500" fill="hold"/>
                                        <p:tgtEl>
                                          <p:spTgt spid="452627"/>
                                        </p:tgtEl>
                                        <p:attrNameLst>
                                          <p:attrName>ppt_x</p:attrName>
                                        </p:attrNameLst>
                                      </p:cBhvr>
                                      <p:tavLst>
                                        <p:tav tm="0">
                                          <p:val>
                                            <p:strVal val="1+#ppt_w/2"/>
                                          </p:val>
                                        </p:tav>
                                        <p:tav tm="100000">
                                          <p:val>
                                            <p:strVal val="#ppt_x"/>
                                          </p:val>
                                        </p:tav>
                                      </p:tavLst>
                                    </p:anim>
                                    <p:anim calcmode="lin" valueType="num">
                                      <p:cBhvr additive="base">
                                        <p:cTn id="45" dur="500" fill="hold"/>
                                        <p:tgtEl>
                                          <p:spTgt spid="452627"/>
                                        </p:tgtEl>
                                        <p:attrNameLst>
                                          <p:attrName>ppt_y</p:attrName>
                                        </p:attrNameLst>
                                      </p:cBhvr>
                                      <p:tavLst>
                                        <p:tav tm="0">
                                          <p:val>
                                            <p:strVal val="#ppt_y"/>
                                          </p:val>
                                        </p:tav>
                                        <p:tav tm="100000">
                                          <p:val>
                                            <p:strVal val="#ppt_y"/>
                                          </p:val>
                                        </p:tav>
                                      </p:tavLst>
                                    </p:anim>
                                  </p:childTnLst>
                                </p:cTn>
                              </p:par>
                            </p:childTnLst>
                          </p:cTn>
                        </p:par>
                        <p:par>
                          <p:cTn id="46" fill="hold">
                            <p:stCondLst>
                              <p:cond delay="3000"/>
                            </p:stCondLst>
                            <p:childTnLst>
                              <p:par>
                                <p:cTn id="47" presetID="17" presetClass="entr" presetSubtype="8" fill="hold" grpId="0" nodeType="afterEffect">
                                  <p:stCondLst>
                                    <p:cond delay="1000"/>
                                  </p:stCondLst>
                                  <p:childTnLst>
                                    <p:set>
                                      <p:cBhvr>
                                        <p:cTn id="48" dur="1" fill="hold">
                                          <p:stCondLst>
                                            <p:cond delay="0"/>
                                          </p:stCondLst>
                                        </p:cTn>
                                        <p:tgtEl>
                                          <p:spTgt spid="452630"/>
                                        </p:tgtEl>
                                        <p:attrNameLst>
                                          <p:attrName>style.visibility</p:attrName>
                                        </p:attrNameLst>
                                      </p:cBhvr>
                                      <p:to>
                                        <p:strVal val="visible"/>
                                      </p:to>
                                    </p:set>
                                    <p:anim calcmode="lin" valueType="num">
                                      <p:cBhvr>
                                        <p:cTn id="49" dur="500" fill="hold"/>
                                        <p:tgtEl>
                                          <p:spTgt spid="452630"/>
                                        </p:tgtEl>
                                        <p:attrNameLst>
                                          <p:attrName>ppt_x</p:attrName>
                                        </p:attrNameLst>
                                      </p:cBhvr>
                                      <p:tavLst>
                                        <p:tav tm="0">
                                          <p:val>
                                            <p:strVal val="#ppt_x-#ppt_w/2"/>
                                          </p:val>
                                        </p:tav>
                                        <p:tav tm="100000">
                                          <p:val>
                                            <p:strVal val="#ppt_x"/>
                                          </p:val>
                                        </p:tav>
                                      </p:tavLst>
                                    </p:anim>
                                    <p:anim calcmode="lin" valueType="num">
                                      <p:cBhvr>
                                        <p:cTn id="50" dur="500" fill="hold"/>
                                        <p:tgtEl>
                                          <p:spTgt spid="452630"/>
                                        </p:tgtEl>
                                        <p:attrNameLst>
                                          <p:attrName>ppt_y</p:attrName>
                                        </p:attrNameLst>
                                      </p:cBhvr>
                                      <p:tavLst>
                                        <p:tav tm="0">
                                          <p:val>
                                            <p:strVal val="#ppt_y"/>
                                          </p:val>
                                        </p:tav>
                                        <p:tav tm="100000">
                                          <p:val>
                                            <p:strVal val="#ppt_y"/>
                                          </p:val>
                                        </p:tav>
                                      </p:tavLst>
                                    </p:anim>
                                    <p:anim calcmode="lin" valueType="num">
                                      <p:cBhvr>
                                        <p:cTn id="51" dur="500" fill="hold"/>
                                        <p:tgtEl>
                                          <p:spTgt spid="452630"/>
                                        </p:tgtEl>
                                        <p:attrNameLst>
                                          <p:attrName>ppt_w</p:attrName>
                                        </p:attrNameLst>
                                      </p:cBhvr>
                                      <p:tavLst>
                                        <p:tav tm="0">
                                          <p:val>
                                            <p:fltVal val="0"/>
                                          </p:val>
                                        </p:tav>
                                        <p:tav tm="100000">
                                          <p:val>
                                            <p:strVal val="#ppt_w"/>
                                          </p:val>
                                        </p:tav>
                                      </p:tavLst>
                                    </p:anim>
                                    <p:anim calcmode="lin" valueType="num">
                                      <p:cBhvr>
                                        <p:cTn id="52" dur="500" fill="hold"/>
                                        <p:tgtEl>
                                          <p:spTgt spid="452630"/>
                                        </p:tgtEl>
                                        <p:attrNameLst>
                                          <p:attrName>ppt_h</p:attrName>
                                        </p:attrNameLst>
                                      </p:cBhvr>
                                      <p:tavLst>
                                        <p:tav tm="0">
                                          <p:val>
                                            <p:strVal val="#ppt_h"/>
                                          </p:val>
                                        </p:tav>
                                        <p:tav tm="100000">
                                          <p:val>
                                            <p:strVal val="#ppt_h"/>
                                          </p:val>
                                        </p:tav>
                                      </p:tavLst>
                                    </p:anim>
                                  </p:childTnLst>
                                </p:cTn>
                              </p:par>
                            </p:childTnLst>
                          </p:cTn>
                        </p:par>
                        <p:par>
                          <p:cTn id="53" fill="hold">
                            <p:stCondLst>
                              <p:cond delay="4500"/>
                            </p:stCondLst>
                            <p:childTnLst>
                              <p:par>
                                <p:cTn id="54" presetID="2" presetClass="entr" presetSubtype="3" fill="hold" grpId="0" nodeType="afterEffect">
                                  <p:stCondLst>
                                    <p:cond delay="0"/>
                                  </p:stCondLst>
                                  <p:childTnLst>
                                    <p:set>
                                      <p:cBhvr>
                                        <p:cTn id="55" dur="1" fill="hold">
                                          <p:stCondLst>
                                            <p:cond delay="0"/>
                                          </p:stCondLst>
                                        </p:cTn>
                                        <p:tgtEl>
                                          <p:spTgt spid="452625"/>
                                        </p:tgtEl>
                                        <p:attrNameLst>
                                          <p:attrName>style.visibility</p:attrName>
                                        </p:attrNameLst>
                                      </p:cBhvr>
                                      <p:to>
                                        <p:strVal val="visible"/>
                                      </p:to>
                                    </p:set>
                                    <p:anim calcmode="lin" valueType="num">
                                      <p:cBhvr additive="base">
                                        <p:cTn id="56" dur="500" fill="hold"/>
                                        <p:tgtEl>
                                          <p:spTgt spid="452625"/>
                                        </p:tgtEl>
                                        <p:attrNameLst>
                                          <p:attrName>ppt_x</p:attrName>
                                        </p:attrNameLst>
                                      </p:cBhvr>
                                      <p:tavLst>
                                        <p:tav tm="0">
                                          <p:val>
                                            <p:strVal val="1+#ppt_w/2"/>
                                          </p:val>
                                        </p:tav>
                                        <p:tav tm="100000">
                                          <p:val>
                                            <p:strVal val="#ppt_x"/>
                                          </p:val>
                                        </p:tav>
                                      </p:tavLst>
                                    </p:anim>
                                    <p:anim calcmode="lin" valueType="num">
                                      <p:cBhvr additive="base">
                                        <p:cTn id="57" dur="500" fill="hold"/>
                                        <p:tgtEl>
                                          <p:spTgt spid="452625"/>
                                        </p:tgtEl>
                                        <p:attrNameLst>
                                          <p:attrName>ppt_y</p:attrName>
                                        </p:attrNameLst>
                                      </p:cBhvr>
                                      <p:tavLst>
                                        <p:tav tm="0">
                                          <p:val>
                                            <p:strVal val="0-#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452637"/>
                                        </p:tgtEl>
                                        <p:attrNameLst>
                                          <p:attrName>style.visibility</p:attrName>
                                        </p:attrNameLst>
                                      </p:cBhvr>
                                      <p:to>
                                        <p:strVal val="visible"/>
                                      </p:to>
                                    </p:set>
                                    <p:anim calcmode="lin" valueType="num">
                                      <p:cBhvr additive="base">
                                        <p:cTn id="62" dur="500" fill="hold"/>
                                        <p:tgtEl>
                                          <p:spTgt spid="452637"/>
                                        </p:tgtEl>
                                        <p:attrNameLst>
                                          <p:attrName>ppt_x</p:attrName>
                                        </p:attrNameLst>
                                      </p:cBhvr>
                                      <p:tavLst>
                                        <p:tav tm="0">
                                          <p:val>
                                            <p:strVal val="#ppt_x"/>
                                          </p:val>
                                        </p:tav>
                                        <p:tav tm="100000">
                                          <p:val>
                                            <p:strVal val="#ppt_x"/>
                                          </p:val>
                                        </p:tav>
                                      </p:tavLst>
                                    </p:anim>
                                    <p:anim calcmode="lin" valueType="num">
                                      <p:cBhvr additive="base">
                                        <p:cTn id="63" dur="500" fill="hold"/>
                                        <p:tgtEl>
                                          <p:spTgt spid="452637"/>
                                        </p:tgtEl>
                                        <p:attrNameLst>
                                          <p:attrName>ppt_y</p:attrName>
                                        </p:attrNameLst>
                                      </p:cBhvr>
                                      <p:tavLst>
                                        <p:tav tm="0">
                                          <p:val>
                                            <p:strVal val="1+#ppt_h/2"/>
                                          </p:val>
                                        </p:tav>
                                        <p:tav tm="100000">
                                          <p:val>
                                            <p:strVal val="#ppt_y"/>
                                          </p:val>
                                        </p:tav>
                                      </p:tavLst>
                                    </p:anim>
                                  </p:childTnLst>
                                </p:cTn>
                              </p:par>
                            </p:childTnLst>
                          </p:cTn>
                        </p:par>
                        <p:par>
                          <p:cTn id="64" fill="hold">
                            <p:stCondLst>
                              <p:cond delay="500"/>
                            </p:stCondLst>
                            <p:childTnLst>
                              <p:par>
                                <p:cTn id="65" presetID="2" presetClass="entr" presetSubtype="12" fill="hold" grpId="0" nodeType="afterEffect">
                                  <p:stCondLst>
                                    <p:cond delay="0"/>
                                  </p:stCondLst>
                                  <p:childTnLst>
                                    <p:set>
                                      <p:cBhvr>
                                        <p:cTn id="66" dur="1" fill="hold">
                                          <p:stCondLst>
                                            <p:cond delay="0"/>
                                          </p:stCondLst>
                                        </p:cTn>
                                        <p:tgtEl>
                                          <p:spTgt spid="452636"/>
                                        </p:tgtEl>
                                        <p:attrNameLst>
                                          <p:attrName>style.visibility</p:attrName>
                                        </p:attrNameLst>
                                      </p:cBhvr>
                                      <p:to>
                                        <p:strVal val="visible"/>
                                      </p:to>
                                    </p:set>
                                    <p:anim calcmode="lin" valueType="num">
                                      <p:cBhvr additive="base">
                                        <p:cTn id="67" dur="500" fill="hold"/>
                                        <p:tgtEl>
                                          <p:spTgt spid="452636"/>
                                        </p:tgtEl>
                                        <p:attrNameLst>
                                          <p:attrName>ppt_x</p:attrName>
                                        </p:attrNameLst>
                                      </p:cBhvr>
                                      <p:tavLst>
                                        <p:tav tm="0">
                                          <p:val>
                                            <p:strVal val="0-#ppt_w/2"/>
                                          </p:val>
                                        </p:tav>
                                        <p:tav tm="100000">
                                          <p:val>
                                            <p:strVal val="#ppt_x"/>
                                          </p:val>
                                        </p:tav>
                                      </p:tavLst>
                                    </p:anim>
                                    <p:anim calcmode="lin" valueType="num">
                                      <p:cBhvr additive="base">
                                        <p:cTn id="68" dur="500" fill="hold"/>
                                        <p:tgtEl>
                                          <p:spTgt spid="452636"/>
                                        </p:tgtEl>
                                        <p:attrNameLst>
                                          <p:attrName>ppt_y</p:attrName>
                                        </p:attrNameLst>
                                      </p:cBhvr>
                                      <p:tavLst>
                                        <p:tav tm="0">
                                          <p:val>
                                            <p:strVal val="1+#ppt_h/2"/>
                                          </p:val>
                                        </p:tav>
                                        <p:tav tm="100000">
                                          <p:val>
                                            <p:strVal val="#ppt_y"/>
                                          </p:val>
                                        </p:tav>
                                      </p:tavLst>
                                    </p:anim>
                                  </p:childTnLst>
                                </p:cTn>
                              </p:par>
                            </p:childTnLst>
                          </p:cTn>
                        </p:par>
                        <p:par>
                          <p:cTn id="69" fill="hold">
                            <p:stCondLst>
                              <p:cond delay="1000"/>
                            </p:stCondLst>
                            <p:childTnLst>
                              <p:par>
                                <p:cTn id="70" presetID="2" presetClass="entr" presetSubtype="1" fill="hold" grpId="0" nodeType="afterEffect">
                                  <p:stCondLst>
                                    <p:cond delay="0"/>
                                  </p:stCondLst>
                                  <p:childTnLst>
                                    <p:set>
                                      <p:cBhvr>
                                        <p:cTn id="71" dur="1" fill="hold">
                                          <p:stCondLst>
                                            <p:cond delay="0"/>
                                          </p:stCondLst>
                                        </p:cTn>
                                        <p:tgtEl>
                                          <p:spTgt spid="452635"/>
                                        </p:tgtEl>
                                        <p:attrNameLst>
                                          <p:attrName>style.visibility</p:attrName>
                                        </p:attrNameLst>
                                      </p:cBhvr>
                                      <p:to>
                                        <p:strVal val="visible"/>
                                      </p:to>
                                    </p:set>
                                    <p:anim calcmode="lin" valueType="num">
                                      <p:cBhvr additive="base">
                                        <p:cTn id="72" dur="500" fill="hold"/>
                                        <p:tgtEl>
                                          <p:spTgt spid="452635"/>
                                        </p:tgtEl>
                                        <p:attrNameLst>
                                          <p:attrName>ppt_x</p:attrName>
                                        </p:attrNameLst>
                                      </p:cBhvr>
                                      <p:tavLst>
                                        <p:tav tm="0">
                                          <p:val>
                                            <p:strVal val="#ppt_x"/>
                                          </p:val>
                                        </p:tav>
                                        <p:tav tm="100000">
                                          <p:val>
                                            <p:strVal val="#ppt_x"/>
                                          </p:val>
                                        </p:tav>
                                      </p:tavLst>
                                    </p:anim>
                                    <p:anim calcmode="lin" valueType="num">
                                      <p:cBhvr additive="base">
                                        <p:cTn id="73" dur="500" fill="hold"/>
                                        <p:tgtEl>
                                          <p:spTgt spid="452635"/>
                                        </p:tgtEl>
                                        <p:attrNameLst>
                                          <p:attrName>ppt_y</p:attrName>
                                        </p:attrNameLst>
                                      </p:cBhvr>
                                      <p:tavLst>
                                        <p:tav tm="0">
                                          <p:val>
                                            <p:strVal val="0-#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17" presetClass="entr" presetSubtype="8" fill="hold" grpId="0" nodeType="clickEffect">
                                  <p:stCondLst>
                                    <p:cond delay="0"/>
                                  </p:stCondLst>
                                  <p:childTnLst>
                                    <p:set>
                                      <p:cBhvr>
                                        <p:cTn id="77" dur="1" fill="hold">
                                          <p:stCondLst>
                                            <p:cond delay="0"/>
                                          </p:stCondLst>
                                        </p:cTn>
                                        <p:tgtEl>
                                          <p:spTgt spid="452633"/>
                                        </p:tgtEl>
                                        <p:attrNameLst>
                                          <p:attrName>style.visibility</p:attrName>
                                        </p:attrNameLst>
                                      </p:cBhvr>
                                      <p:to>
                                        <p:strVal val="visible"/>
                                      </p:to>
                                    </p:set>
                                    <p:anim calcmode="lin" valueType="num">
                                      <p:cBhvr>
                                        <p:cTn id="78" dur="500" fill="hold"/>
                                        <p:tgtEl>
                                          <p:spTgt spid="452633"/>
                                        </p:tgtEl>
                                        <p:attrNameLst>
                                          <p:attrName>ppt_x</p:attrName>
                                        </p:attrNameLst>
                                      </p:cBhvr>
                                      <p:tavLst>
                                        <p:tav tm="0">
                                          <p:val>
                                            <p:strVal val="#ppt_x-#ppt_w/2"/>
                                          </p:val>
                                        </p:tav>
                                        <p:tav tm="100000">
                                          <p:val>
                                            <p:strVal val="#ppt_x"/>
                                          </p:val>
                                        </p:tav>
                                      </p:tavLst>
                                    </p:anim>
                                    <p:anim calcmode="lin" valueType="num">
                                      <p:cBhvr>
                                        <p:cTn id="79" dur="500" fill="hold"/>
                                        <p:tgtEl>
                                          <p:spTgt spid="452633"/>
                                        </p:tgtEl>
                                        <p:attrNameLst>
                                          <p:attrName>ppt_y</p:attrName>
                                        </p:attrNameLst>
                                      </p:cBhvr>
                                      <p:tavLst>
                                        <p:tav tm="0">
                                          <p:val>
                                            <p:strVal val="#ppt_y"/>
                                          </p:val>
                                        </p:tav>
                                        <p:tav tm="100000">
                                          <p:val>
                                            <p:strVal val="#ppt_y"/>
                                          </p:val>
                                        </p:tav>
                                      </p:tavLst>
                                    </p:anim>
                                    <p:anim calcmode="lin" valueType="num">
                                      <p:cBhvr>
                                        <p:cTn id="80" dur="500" fill="hold"/>
                                        <p:tgtEl>
                                          <p:spTgt spid="452633"/>
                                        </p:tgtEl>
                                        <p:attrNameLst>
                                          <p:attrName>ppt_w</p:attrName>
                                        </p:attrNameLst>
                                      </p:cBhvr>
                                      <p:tavLst>
                                        <p:tav tm="0">
                                          <p:val>
                                            <p:fltVal val="0"/>
                                          </p:val>
                                        </p:tav>
                                        <p:tav tm="100000">
                                          <p:val>
                                            <p:strVal val="#ppt_w"/>
                                          </p:val>
                                        </p:tav>
                                      </p:tavLst>
                                    </p:anim>
                                    <p:anim calcmode="lin" valueType="num">
                                      <p:cBhvr>
                                        <p:cTn id="81" dur="500" fill="hold"/>
                                        <p:tgtEl>
                                          <p:spTgt spid="452633"/>
                                        </p:tgtEl>
                                        <p:attrNameLst>
                                          <p:attrName>ppt_h</p:attrName>
                                        </p:attrNameLst>
                                      </p:cBhvr>
                                      <p:tavLst>
                                        <p:tav tm="0">
                                          <p:val>
                                            <p:strVal val="#ppt_h"/>
                                          </p:val>
                                        </p:tav>
                                        <p:tav tm="100000">
                                          <p:val>
                                            <p:strVal val="#ppt_h"/>
                                          </p:val>
                                        </p:tav>
                                      </p:tavLst>
                                    </p:anim>
                                  </p:childTnLst>
                                </p:cTn>
                              </p:par>
                            </p:childTnLst>
                          </p:cTn>
                        </p:par>
                        <p:par>
                          <p:cTn id="82" fill="hold">
                            <p:stCondLst>
                              <p:cond delay="500"/>
                            </p:stCondLst>
                            <p:childTnLst>
                              <p:par>
                                <p:cTn id="83" presetID="15" presetClass="entr" presetSubtype="0" fill="hold" grpId="0" nodeType="afterEffect">
                                  <p:stCondLst>
                                    <p:cond delay="0"/>
                                  </p:stCondLst>
                                  <p:childTnLst>
                                    <p:set>
                                      <p:cBhvr>
                                        <p:cTn id="84" dur="1" fill="hold">
                                          <p:stCondLst>
                                            <p:cond delay="0"/>
                                          </p:stCondLst>
                                        </p:cTn>
                                        <p:tgtEl>
                                          <p:spTgt spid="452628"/>
                                        </p:tgtEl>
                                        <p:attrNameLst>
                                          <p:attrName>style.visibility</p:attrName>
                                        </p:attrNameLst>
                                      </p:cBhvr>
                                      <p:to>
                                        <p:strVal val="visible"/>
                                      </p:to>
                                    </p:set>
                                    <p:anim calcmode="lin" valueType="num">
                                      <p:cBhvr>
                                        <p:cTn id="85" dur="1000" fill="hold"/>
                                        <p:tgtEl>
                                          <p:spTgt spid="452628"/>
                                        </p:tgtEl>
                                        <p:attrNameLst>
                                          <p:attrName>ppt_w</p:attrName>
                                        </p:attrNameLst>
                                      </p:cBhvr>
                                      <p:tavLst>
                                        <p:tav tm="0">
                                          <p:val>
                                            <p:fltVal val="0"/>
                                          </p:val>
                                        </p:tav>
                                        <p:tav tm="100000">
                                          <p:val>
                                            <p:strVal val="#ppt_w"/>
                                          </p:val>
                                        </p:tav>
                                      </p:tavLst>
                                    </p:anim>
                                    <p:anim calcmode="lin" valueType="num">
                                      <p:cBhvr>
                                        <p:cTn id="86" dur="1000" fill="hold"/>
                                        <p:tgtEl>
                                          <p:spTgt spid="452628"/>
                                        </p:tgtEl>
                                        <p:attrNameLst>
                                          <p:attrName>ppt_h</p:attrName>
                                        </p:attrNameLst>
                                      </p:cBhvr>
                                      <p:tavLst>
                                        <p:tav tm="0">
                                          <p:val>
                                            <p:fltVal val="0"/>
                                          </p:val>
                                        </p:tav>
                                        <p:tav tm="100000">
                                          <p:val>
                                            <p:strVal val="#ppt_h"/>
                                          </p:val>
                                        </p:tav>
                                      </p:tavLst>
                                    </p:anim>
                                    <p:anim calcmode="lin" valueType="num">
                                      <p:cBhvr>
                                        <p:cTn id="87" dur="1000" fill="hold"/>
                                        <p:tgtEl>
                                          <p:spTgt spid="452628"/>
                                        </p:tgtEl>
                                        <p:attrNameLst>
                                          <p:attrName>ppt_x</p:attrName>
                                        </p:attrNameLst>
                                      </p:cBhvr>
                                      <p:tavLst>
                                        <p:tav tm="0" fmla="#ppt_x+(cos(-2*pi*(1-$))*-#ppt_x-sin(-2*pi*(1-$))*(1-#ppt_y))*(1-$)">
                                          <p:val>
                                            <p:fltVal val="0"/>
                                          </p:val>
                                        </p:tav>
                                        <p:tav tm="100000">
                                          <p:val>
                                            <p:fltVal val="1"/>
                                          </p:val>
                                        </p:tav>
                                      </p:tavLst>
                                    </p:anim>
                                    <p:anim calcmode="lin" valueType="num">
                                      <p:cBhvr>
                                        <p:cTn id="88" dur="1000" fill="hold"/>
                                        <p:tgtEl>
                                          <p:spTgt spid="452628"/>
                                        </p:tgtEl>
                                        <p:attrNameLst>
                                          <p:attrName>ppt_y</p:attrName>
                                        </p:attrNameLst>
                                      </p:cBhvr>
                                      <p:tavLst>
                                        <p:tav tm="0" fmla="#ppt_y+(sin(-2*pi*(1-$))*-#ppt_x+cos(-2*pi*(1-$))*(1-#ppt_y))*(1-$)">
                                          <p:val>
                                            <p:fltVal val="0"/>
                                          </p:val>
                                        </p:tav>
                                        <p:tav tm="100000">
                                          <p:val>
                                            <p:fltVal val="1"/>
                                          </p:val>
                                        </p:tav>
                                      </p:tavLst>
                                    </p:anim>
                                  </p:childTnLst>
                                </p:cTn>
                              </p:par>
                            </p:childTnLst>
                          </p:cTn>
                        </p:par>
                        <p:par>
                          <p:cTn id="89" fill="hold">
                            <p:stCondLst>
                              <p:cond delay="1500"/>
                            </p:stCondLst>
                            <p:childTnLst>
                              <p:par>
                                <p:cTn id="90" presetID="17" presetClass="entr" presetSubtype="8" fill="hold" grpId="0" nodeType="afterEffect">
                                  <p:stCondLst>
                                    <p:cond delay="1000"/>
                                  </p:stCondLst>
                                  <p:childTnLst>
                                    <p:set>
                                      <p:cBhvr>
                                        <p:cTn id="91" dur="1" fill="hold">
                                          <p:stCondLst>
                                            <p:cond delay="0"/>
                                          </p:stCondLst>
                                        </p:cTn>
                                        <p:tgtEl>
                                          <p:spTgt spid="452631"/>
                                        </p:tgtEl>
                                        <p:attrNameLst>
                                          <p:attrName>style.visibility</p:attrName>
                                        </p:attrNameLst>
                                      </p:cBhvr>
                                      <p:to>
                                        <p:strVal val="visible"/>
                                      </p:to>
                                    </p:set>
                                    <p:anim calcmode="lin" valueType="num">
                                      <p:cBhvr>
                                        <p:cTn id="92" dur="500" fill="hold"/>
                                        <p:tgtEl>
                                          <p:spTgt spid="452631"/>
                                        </p:tgtEl>
                                        <p:attrNameLst>
                                          <p:attrName>ppt_x</p:attrName>
                                        </p:attrNameLst>
                                      </p:cBhvr>
                                      <p:tavLst>
                                        <p:tav tm="0">
                                          <p:val>
                                            <p:strVal val="#ppt_x-#ppt_w/2"/>
                                          </p:val>
                                        </p:tav>
                                        <p:tav tm="100000">
                                          <p:val>
                                            <p:strVal val="#ppt_x"/>
                                          </p:val>
                                        </p:tav>
                                      </p:tavLst>
                                    </p:anim>
                                    <p:anim calcmode="lin" valueType="num">
                                      <p:cBhvr>
                                        <p:cTn id="93" dur="500" fill="hold"/>
                                        <p:tgtEl>
                                          <p:spTgt spid="452631"/>
                                        </p:tgtEl>
                                        <p:attrNameLst>
                                          <p:attrName>ppt_y</p:attrName>
                                        </p:attrNameLst>
                                      </p:cBhvr>
                                      <p:tavLst>
                                        <p:tav tm="0">
                                          <p:val>
                                            <p:strVal val="#ppt_y"/>
                                          </p:val>
                                        </p:tav>
                                        <p:tav tm="100000">
                                          <p:val>
                                            <p:strVal val="#ppt_y"/>
                                          </p:val>
                                        </p:tav>
                                      </p:tavLst>
                                    </p:anim>
                                    <p:anim calcmode="lin" valueType="num">
                                      <p:cBhvr>
                                        <p:cTn id="94" dur="500" fill="hold"/>
                                        <p:tgtEl>
                                          <p:spTgt spid="452631"/>
                                        </p:tgtEl>
                                        <p:attrNameLst>
                                          <p:attrName>ppt_w</p:attrName>
                                        </p:attrNameLst>
                                      </p:cBhvr>
                                      <p:tavLst>
                                        <p:tav tm="0">
                                          <p:val>
                                            <p:fltVal val="0"/>
                                          </p:val>
                                        </p:tav>
                                        <p:tav tm="100000">
                                          <p:val>
                                            <p:strVal val="#ppt_w"/>
                                          </p:val>
                                        </p:tav>
                                      </p:tavLst>
                                    </p:anim>
                                    <p:anim calcmode="lin" valueType="num">
                                      <p:cBhvr>
                                        <p:cTn id="95" dur="500" fill="hold"/>
                                        <p:tgtEl>
                                          <p:spTgt spid="452631"/>
                                        </p:tgtEl>
                                        <p:attrNameLst>
                                          <p:attrName>ppt_h</p:attrName>
                                        </p:attrNameLst>
                                      </p:cBhvr>
                                      <p:tavLst>
                                        <p:tav tm="0">
                                          <p:val>
                                            <p:strVal val="#ppt_h"/>
                                          </p:val>
                                        </p:tav>
                                        <p:tav tm="100000">
                                          <p:val>
                                            <p:strVal val="#ppt_h"/>
                                          </p:val>
                                        </p:tav>
                                      </p:tavLst>
                                    </p:anim>
                                  </p:childTnLst>
                                </p:cTn>
                              </p:par>
                            </p:childTnLst>
                          </p:cTn>
                        </p:par>
                        <p:par>
                          <p:cTn id="96" fill="hold">
                            <p:stCondLst>
                              <p:cond delay="3000"/>
                            </p:stCondLst>
                            <p:childTnLst>
                              <p:par>
                                <p:cTn id="97" presetID="15" presetClass="entr" presetSubtype="0" fill="hold" grpId="0" nodeType="afterEffect">
                                  <p:stCondLst>
                                    <p:cond delay="0"/>
                                  </p:stCondLst>
                                  <p:childTnLst>
                                    <p:set>
                                      <p:cBhvr>
                                        <p:cTn id="98" dur="1" fill="hold">
                                          <p:stCondLst>
                                            <p:cond delay="0"/>
                                          </p:stCondLst>
                                        </p:cTn>
                                        <p:tgtEl>
                                          <p:spTgt spid="452626"/>
                                        </p:tgtEl>
                                        <p:attrNameLst>
                                          <p:attrName>style.visibility</p:attrName>
                                        </p:attrNameLst>
                                      </p:cBhvr>
                                      <p:to>
                                        <p:strVal val="visible"/>
                                      </p:to>
                                    </p:set>
                                    <p:anim calcmode="lin" valueType="num">
                                      <p:cBhvr>
                                        <p:cTn id="99" dur="1000" fill="hold"/>
                                        <p:tgtEl>
                                          <p:spTgt spid="452626"/>
                                        </p:tgtEl>
                                        <p:attrNameLst>
                                          <p:attrName>ppt_w</p:attrName>
                                        </p:attrNameLst>
                                      </p:cBhvr>
                                      <p:tavLst>
                                        <p:tav tm="0">
                                          <p:val>
                                            <p:fltVal val="0"/>
                                          </p:val>
                                        </p:tav>
                                        <p:tav tm="100000">
                                          <p:val>
                                            <p:strVal val="#ppt_w"/>
                                          </p:val>
                                        </p:tav>
                                      </p:tavLst>
                                    </p:anim>
                                    <p:anim calcmode="lin" valueType="num">
                                      <p:cBhvr>
                                        <p:cTn id="100" dur="1000" fill="hold"/>
                                        <p:tgtEl>
                                          <p:spTgt spid="452626"/>
                                        </p:tgtEl>
                                        <p:attrNameLst>
                                          <p:attrName>ppt_h</p:attrName>
                                        </p:attrNameLst>
                                      </p:cBhvr>
                                      <p:tavLst>
                                        <p:tav tm="0">
                                          <p:val>
                                            <p:fltVal val="0"/>
                                          </p:val>
                                        </p:tav>
                                        <p:tav tm="100000">
                                          <p:val>
                                            <p:strVal val="#ppt_h"/>
                                          </p:val>
                                        </p:tav>
                                      </p:tavLst>
                                    </p:anim>
                                    <p:anim calcmode="lin" valueType="num">
                                      <p:cBhvr>
                                        <p:cTn id="101" dur="1000" fill="hold"/>
                                        <p:tgtEl>
                                          <p:spTgt spid="452626"/>
                                        </p:tgtEl>
                                        <p:attrNameLst>
                                          <p:attrName>ppt_x</p:attrName>
                                        </p:attrNameLst>
                                      </p:cBhvr>
                                      <p:tavLst>
                                        <p:tav tm="0" fmla="#ppt_x+(cos(-2*pi*(1-$))*-#ppt_x-sin(-2*pi*(1-$))*(1-#ppt_y))*(1-$)">
                                          <p:val>
                                            <p:fltVal val="0"/>
                                          </p:val>
                                        </p:tav>
                                        <p:tav tm="100000">
                                          <p:val>
                                            <p:fltVal val="1"/>
                                          </p:val>
                                        </p:tav>
                                      </p:tavLst>
                                    </p:anim>
                                    <p:anim calcmode="lin" valueType="num">
                                      <p:cBhvr>
                                        <p:cTn id="102" dur="1000" fill="hold"/>
                                        <p:tgtEl>
                                          <p:spTgt spid="45262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4"/>
                                        </p:tgtEl>
                                        <p:attrNameLst>
                                          <p:attrName>style.visibility</p:attrName>
                                        </p:attrNameLst>
                                      </p:cBhvr>
                                      <p:to>
                                        <p:strVal val="visible"/>
                                      </p:to>
                                    </p:set>
                                    <p:animEffect transition="in" filter="fade">
                                      <p:cBhvr>
                                        <p:cTn id="107" dur="1750"/>
                                        <p:tgtEl>
                                          <p:spTgt spid="4"/>
                                        </p:tgtEl>
                                      </p:cBhvr>
                                    </p:animEffect>
                                  </p:childTnLst>
                                </p:cTn>
                              </p:par>
                            </p:childTnLst>
                          </p:cTn>
                        </p:par>
                      </p:childTnLst>
                    </p:cTn>
                  </p:par>
                  <p:par>
                    <p:cTn id="108" fill="hold">
                      <p:stCondLst>
                        <p:cond delay="indefinite"/>
                      </p:stCondLst>
                      <p:childTnLst>
                        <p:par>
                          <p:cTn id="109" fill="hold">
                            <p:stCondLst>
                              <p:cond delay="0"/>
                            </p:stCondLst>
                            <p:childTnLst>
                              <p:par>
                                <p:cTn id="110" presetID="23" presetClass="entr" presetSubtype="16" fill="hold" nodeType="clickEffect">
                                  <p:stCondLst>
                                    <p:cond delay="0"/>
                                  </p:stCondLst>
                                  <p:childTnLst>
                                    <p:set>
                                      <p:cBhvr>
                                        <p:cTn id="111" dur="1" fill="hold">
                                          <p:stCondLst>
                                            <p:cond delay="0"/>
                                          </p:stCondLst>
                                        </p:cTn>
                                        <p:tgtEl>
                                          <p:spTgt spid="452611"/>
                                        </p:tgtEl>
                                        <p:attrNameLst>
                                          <p:attrName>style.visibility</p:attrName>
                                        </p:attrNameLst>
                                      </p:cBhvr>
                                      <p:to>
                                        <p:strVal val="visible"/>
                                      </p:to>
                                    </p:set>
                                    <p:anim calcmode="lin" valueType="num">
                                      <p:cBhvr>
                                        <p:cTn id="112" dur="500" fill="hold"/>
                                        <p:tgtEl>
                                          <p:spTgt spid="452611"/>
                                        </p:tgtEl>
                                        <p:attrNameLst>
                                          <p:attrName>ppt_w</p:attrName>
                                        </p:attrNameLst>
                                      </p:cBhvr>
                                      <p:tavLst>
                                        <p:tav tm="0">
                                          <p:val>
                                            <p:fltVal val="0"/>
                                          </p:val>
                                        </p:tav>
                                        <p:tav tm="100000">
                                          <p:val>
                                            <p:strVal val="#ppt_w"/>
                                          </p:val>
                                        </p:tav>
                                      </p:tavLst>
                                    </p:anim>
                                    <p:anim calcmode="lin" valueType="num">
                                      <p:cBhvr>
                                        <p:cTn id="113" dur="500" fill="hold"/>
                                        <p:tgtEl>
                                          <p:spTgt spid="4526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2610" grpId="0" autoUpdateAnimBg="0"/>
      <p:bldP spid="452625" grpId="0" autoUpdateAnimBg="0"/>
      <p:bldP spid="452626" grpId="0" autoUpdateAnimBg="0"/>
      <p:bldP spid="452627" grpId="0" autoUpdateAnimBg="0"/>
      <p:bldP spid="452628" grpId="0" autoUpdateAnimBg="0"/>
      <p:bldP spid="452629" grpId="0" autoUpdateAnimBg="0"/>
      <p:bldP spid="452630" grpId="0" animBg="1"/>
      <p:bldP spid="452631" grpId="0" animBg="1"/>
      <p:bldP spid="452632" grpId="0" animBg="1"/>
      <p:bldP spid="452633" grpId="0" animBg="1"/>
      <p:bldP spid="452634" grpId="0" animBg="1"/>
      <p:bldP spid="452635" grpId="0" autoUpdateAnimBg="0"/>
      <p:bldP spid="452636" grpId="0" autoUpdateAnimBg="0"/>
      <p:bldP spid="452637" grpId="0" autoUpdateAnimBg="0"/>
      <p:bldP spid="452659" grpId="0"/>
      <p:bldP spid="3"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Text Box 2"/>
          <p:cNvSpPr txBox="1">
            <a:spLocks noChangeArrowheads="1"/>
          </p:cNvSpPr>
          <p:nvPr/>
        </p:nvSpPr>
        <p:spPr bwMode="auto">
          <a:xfrm>
            <a:off x="4729163" y="1658422"/>
            <a:ext cx="220503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r>
              <a:rPr lang="zh-CN" altLang="en-US" b="1" dirty="0">
                <a:solidFill>
                  <a:schemeClr val="tx1"/>
                </a:solidFill>
              </a:rPr>
              <a:t>集电区</a:t>
            </a:r>
          </a:p>
        </p:txBody>
      </p:sp>
      <p:sp>
        <p:nvSpPr>
          <p:cNvPr id="453635" name="Text Box 3"/>
          <p:cNvSpPr txBox="1">
            <a:spLocks noChangeArrowheads="1"/>
          </p:cNvSpPr>
          <p:nvPr/>
        </p:nvSpPr>
        <p:spPr bwMode="auto">
          <a:xfrm>
            <a:off x="4727575" y="2450584"/>
            <a:ext cx="20542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r>
              <a:rPr lang="zh-CN" altLang="en-US" b="1" dirty="0"/>
              <a:t>集电结</a:t>
            </a:r>
            <a:endParaRPr lang="zh-CN" altLang="en-US" sz="1600" b="1" dirty="0">
              <a:solidFill>
                <a:schemeClr val="tx1"/>
              </a:solidFill>
            </a:endParaRPr>
          </a:p>
        </p:txBody>
      </p:sp>
      <p:sp>
        <p:nvSpPr>
          <p:cNvPr id="453636" name="Text Box 4"/>
          <p:cNvSpPr txBox="1">
            <a:spLocks noChangeArrowheads="1"/>
          </p:cNvSpPr>
          <p:nvPr/>
        </p:nvSpPr>
        <p:spPr bwMode="auto">
          <a:xfrm>
            <a:off x="4876090" y="3246954"/>
            <a:ext cx="15208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r>
              <a:rPr lang="zh-CN" altLang="en-US" b="1" dirty="0">
                <a:solidFill>
                  <a:schemeClr val="tx1"/>
                </a:solidFill>
              </a:rPr>
              <a:t>基区</a:t>
            </a:r>
          </a:p>
        </p:txBody>
      </p:sp>
      <p:sp>
        <p:nvSpPr>
          <p:cNvPr id="453637" name="Text Box 5"/>
          <p:cNvSpPr txBox="1">
            <a:spLocks noChangeArrowheads="1"/>
          </p:cNvSpPr>
          <p:nvPr/>
        </p:nvSpPr>
        <p:spPr bwMode="auto">
          <a:xfrm>
            <a:off x="4724400" y="3822184"/>
            <a:ext cx="1600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r>
              <a:rPr lang="zh-CN" altLang="en-US" b="1" dirty="0"/>
              <a:t>发射结</a:t>
            </a:r>
          </a:p>
        </p:txBody>
      </p:sp>
      <p:sp>
        <p:nvSpPr>
          <p:cNvPr id="453638" name="Text Box 6"/>
          <p:cNvSpPr txBox="1">
            <a:spLocks noChangeArrowheads="1"/>
          </p:cNvSpPr>
          <p:nvPr/>
        </p:nvSpPr>
        <p:spPr bwMode="auto">
          <a:xfrm>
            <a:off x="4724400" y="4630222"/>
            <a:ext cx="19796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r>
              <a:rPr lang="zh-CN" altLang="en-US" b="1" dirty="0">
                <a:solidFill>
                  <a:schemeClr val="tx1"/>
                </a:solidFill>
              </a:rPr>
              <a:t>发射区</a:t>
            </a:r>
            <a:endParaRPr lang="zh-CN" altLang="en-US" sz="1600" b="1" dirty="0">
              <a:solidFill>
                <a:schemeClr val="tx1"/>
              </a:solidFill>
            </a:endParaRPr>
          </a:p>
        </p:txBody>
      </p:sp>
      <p:sp>
        <p:nvSpPr>
          <p:cNvPr id="453639" name="Line 7"/>
          <p:cNvSpPr>
            <a:spLocks noChangeShapeType="1"/>
          </p:cNvSpPr>
          <p:nvPr/>
        </p:nvSpPr>
        <p:spPr bwMode="auto">
          <a:xfrm flipV="1">
            <a:off x="3511550" y="1949450"/>
            <a:ext cx="121920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40" name="Line 8"/>
          <p:cNvSpPr>
            <a:spLocks noChangeShapeType="1"/>
          </p:cNvSpPr>
          <p:nvPr/>
        </p:nvSpPr>
        <p:spPr bwMode="auto">
          <a:xfrm flipV="1">
            <a:off x="3511550" y="2863850"/>
            <a:ext cx="11430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41" name="Line 9"/>
          <p:cNvSpPr>
            <a:spLocks noChangeShapeType="1"/>
          </p:cNvSpPr>
          <p:nvPr/>
        </p:nvSpPr>
        <p:spPr bwMode="auto">
          <a:xfrm>
            <a:off x="3505200" y="3422650"/>
            <a:ext cx="12192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42" name="Line 10"/>
          <p:cNvSpPr>
            <a:spLocks noChangeShapeType="1"/>
          </p:cNvSpPr>
          <p:nvPr/>
        </p:nvSpPr>
        <p:spPr bwMode="auto">
          <a:xfrm>
            <a:off x="3587750" y="3778250"/>
            <a:ext cx="11430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43" name="Line 11"/>
          <p:cNvSpPr>
            <a:spLocks noChangeShapeType="1"/>
          </p:cNvSpPr>
          <p:nvPr/>
        </p:nvSpPr>
        <p:spPr bwMode="auto">
          <a:xfrm>
            <a:off x="3587750" y="4540250"/>
            <a:ext cx="11430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44" name="Text Box 12"/>
          <p:cNvSpPr txBox="1">
            <a:spLocks noChangeArrowheads="1"/>
          </p:cNvSpPr>
          <p:nvPr/>
        </p:nvSpPr>
        <p:spPr bwMode="auto">
          <a:xfrm>
            <a:off x="2735263" y="1125022"/>
            <a:ext cx="191293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r>
              <a:rPr lang="zh-CN" altLang="en-US" b="1" dirty="0">
                <a:solidFill>
                  <a:srgbClr val="0000FF"/>
                </a:solidFill>
              </a:rPr>
              <a:t>集电极 </a:t>
            </a:r>
            <a:r>
              <a:rPr lang="en-US" altLang="zh-CN" b="1" dirty="0">
                <a:solidFill>
                  <a:srgbClr val="0000FF"/>
                </a:solidFill>
              </a:rPr>
              <a:t>c</a:t>
            </a:r>
          </a:p>
        </p:txBody>
      </p:sp>
      <p:sp>
        <p:nvSpPr>
          <p:cNvPr id="453645" name="Text Box 13"/>
          <p:cNvSpPr txBox="1">
            <a:spLocks noChangeArrowheads="1"/>
          </p:cNvSpPr>
          <p:nvPr/>
        </p:nvSpPr>
        <p:spPr bwMode="auto">
          <a:xfrm>
            <a:off x="2819400" y="5269984"/>
            <a:ext cx="15970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r>
              <a:rPr lang="zh-CN" altLang="en-US" b="1" dirty="0">
                <a:solidFill>
                  <a:srgbClr val="0000FF"/>
                </a:solidFill>
              </a:rPr>
              <a:t>发射极 </a:t>
            </a:r>
            <a:r>
              <a:rPr lang="en-US" altLang="zh-CN" b="1" dirty="0">
                <a:solidFill>
                  <a:srgbClr val="0000FF"/>
                </a:solidFill>
              </a:rPr>
              <a:t>e</a:t>
            </a:r>
            <a:endParaRPr lang="en-US" altLang="zh-CN" b="1" dirty="0">
              <a:solidFill>
                <a:schemeClr val="tx1"/>
              </a:solidFill>
            </a:endParaRPr>
          </a:p>
        </p:txBody>
      </p:sp>
      <p:sp>
        <p:nvSpPr>
          <p:cNvPr id="453646" name="Text Box 14"/>
          <p:cNvSpPr txBox="1">
            <a:spLocks noChangeArrowheads="1"/>
          </p:cNvSpPr>
          <p:nvPr/>
        </p:nvSpPr>
        <p:spPr bwMode="auto">
          <a:xfrm>
            <a:off x="449263" y="2877622"/>
            <a:ext cx="153193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r>
              <a:rPr lang="zh-CN" altLang="en-US" b="1" dirty="0">
                <a:solidFill>
                  <a:srgbClr val="0000FF"/>
                </a:solidFill>
              </a:rPr>
              <a:t>基极 </a:t>
            </a:r>
            <a:r>
              <a:rPr lang="en-US" altLang="zh-CN" b="1" dirty="0">
                <a:solidFill>
                  <a:srgbClr val="0000FF"/>
                </a:solidFill>
              </a:rPr>
              <a:t>b</a:t>
            </a:r>
            <a:endParaRPr lang="en-US" altLang="zh-CN" sz="1600" b="1" dirty="0">
              <a:solidFill>
                <a:schemeClr val="tx1"/>
              </a:solidFill>
            </a:endParaRPr>
          </a:p>
        </p:txBody>
      </p:sp>
      <p:grpSp>
        <p:nvGrpSpPr>
          <p:cNvPr id="453647" name="Group 15"/>
          <p:cNvGrpSpPr/>
          <p:nvPr/>
        </p:nvGrpSpPr>
        <p:grpSpPr bwMode="auto">
          <a:xfrm>
            <a:off x="6427787" y="1820862"/>
            <a:ext cx="1866900" cy="3368675"/>
            <a:chOff x="322" y="1680"/>
            <a:chExt cx="1176" cy="2122"/>
          </a:xfrm>
        </p:grpSpPr>
        <p:sp>
          <p:nvSpPr>
            <p:cNvPr id="453648" name="Line 16"/>
            <p:cNvSpPr>
              <a:spLocks noChangeShapeType="1"/>
            </p:cNvSpPr>
            <p:nvPr/>
          </p:nvSpPr>
          <p:spPr bwMode="auto">
            <a:xfrm>
              <a:off x="864" y="2304"/>
              <a:ext cx="0" cy="38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49" name="Line 17"/>
            <p:cNvSpPr>
              <a:spLocks noChangeShapeType="1"/>
            </p:cNvSpPr>
            <p:nvPr/>
          </p:nvSpPr>
          <p:spPr bwMode="auto">
            <a:xfrm flipV="1">
              <a:off x="864" y="2304"/>
              <a:ext cx="288" cy="14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50" name="Line 18"/>
            <p:cNvSpPr>
              <a:spLocks noChangeShapeType="1"/>
            </p:cNvSpPr>
            <p:nvPr/>
          </p:nvSpPr>
          <p:spPr bwMode="auto">
            <a:xfrm rot="-290322" flipH="1" flipV="1">
              <a:off x="863" y="2495"/>
              <a:ext cx="289" cy="241"/>
            </a:xfrm>
            <a:prstGeom prst="line">
              <a:avLst/>
            </a:prstGeom>
            <a:noFill/>
            <a:ln w="38100">
              <a:solidFill>
                <a:schemeClr val="tx1"/>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51" name="Line 19"/>
            <p:cNvSpPr>
              <a:spLocks noChangeShapeType="1"/>
            </p:cNvSpPr>
            <p:nvPr/>
          </p:nvSpPr>
          <p:spPr bwMode="auto">
            <a:xfrm flipV="1">
              <a:off x="1152" y="1872"/>
              <a:ext cx="0" cy="43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52" name="Line 20"/>
            <p:cNvSpPr>
              <a:spLocks noChangeShapeType="1"/>
            </p:cNvSpPr>
            <p:nvPr/>
          </p:nvSpPr>
          <p:spPr bwMode="auto">
            <a:xfrm>
              <a:off x="1152" y="2736"/>
              <a:ext cx="0" cy="38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53" name="Line 21"/>
            <p:cNvSpPr>
              <a:spLocks noChangeShapeType="1"/>
            </p:cNvSpPr>
            <p:nvPr/>
          </p:nvSpPr>
          <p:spPr bwMode="auto">
            <a:xfrm flipH="1">
              <a:off x="480" y="2496"/>
              <a:ext cx="38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54" name="Text Box 22"/>
            <p:cNvSpPr txBox="1">
              <a:spLocks noChangeArrowheads="1"/>
            </p:cNvSpPr>
            <p:nvPr/>
          </p:nvSpPr>
          <p:spPr bwMode="auto">
            <a:xfrm>
              <a:off x="838" y="3590"/>
              <a:ext cx="24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spcBef>
                  <a:spcPct val="50000"/>
                </a:spcBef>
              </a:pPr>
              <a:r>
                <a:rPr lang="zh-CN" altLang="en-US" sz="1600" b="0">
                  <a:solidFill>
                    <a:schemeClr val="tx1"/>
                  </a:solidFill>
                </a:rPr>
                <a:t>　</a:t>
              </a:r>
            </a:p>
          </p:txBody>
        </p:sp>
        <p:sp>
          <p:nvSpPr>
            <p:cNvPr id="453655" name="Text Box 23"/>
            <p:cNvSpPr txBox="1">
              <a:spLocks noChangeArrowheads="1"/>
            </p:cNvSpPr>
            <p:nvPr/>
          </p:nvSpPr>
          <p:spPr bwMode="auto">
            <a:xfrm>
              <a:off x="1152" y="1680"/>
              <a:ext cx="24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r>
                <a:rPr lang="zh-CN" altLang="en-US" sz="1600" b="0">
                  <a:solidFill>
                    <a:schemeClr val="tx1"/>
                  </a:solidFill>
                </a:rPr>
                <a:t>　</a:t>
              </a:r>
            </a:p>
          </p:txBody>
        </p:sp>
        <p:sp>
          <p:nvSpPr>
            <p:cNvPr id="453656" name="Text Box 24"/>
            <p:cNvSpPr txBox="1">
              <a:spLocks noChangeArrowheads="1"/>
            </p:cNvSpPr>
            <p:nvPr/>
          </p:nvSpPr>
          <p:spPr bwMode="auto">
            <a:xfrm>
              <a:off x="1104" y="1709"/>
              <a:ext cx="3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1" hangingPunct="1"/>
              <a:r>
                <a:rPr lang="en-US" altLang="zh-CN">
                  <a:solidFill>
                    <a:srgbClr val="0000FF"/>
                  </a:solidFill>
                </a:rPr>
                <a:t>c</a:t>
              </a:r>
              <a:endParaRPr lang="en-US" altLang="zh-CN">
                <a:solidFill>
                  <a:schemeClr val="tx1"/>
                </a:solidFill>
              </a:endParaRPr>
            </a:p>
          </p:txBody>
        </p:sp>
        <p:sp>
          <p:nvSpPr>
            <p:cNvPr id="453657" name="Text Box 25"/>
            <p:cNvSpPr txBox="1">
              <a:spLocks noChangeArrowheads="1"/>
            </p:cNvSpPr>
            <p:nvPr/>
          </p:nvSpPr>
          <p:spPr bwMode="auto">
            <a:xfrm>
              <a:off x="322" y="254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r>
                <a:rPr lang="en-US" altLang="zh-CN">
                  <a:solidFill>
                    <a:srgbClr val="0000FF"/>
                  </a:solidFill>
                </a:rPr>
                <a:t>b</a:t>
              </a:r>
              <a:endParaRPr lang="en-US" altLang="zh-CN" b="0">
                <a:solidFill>
                  <a:srgbClr val="0000FF"/>
                </a:solidFill>
              </a:endParaRPr>
            </a:p>
          </p:txBody>
        </p:sp>
        <p:sp>
          <p:nvSpPr>
            <p:cNvPr id="453658" name="Text Box 26"/>
            <p:cNvSpPr txBox="1">
              <a:spLocks noChangeArrowheads="1"/>
            </p:cNvSpPr>
            <p:nvPr/>
          </p:nvSpPr>
          <p:spPr bwMode="auto">
            <a:xfrm>
              <a:off x="1197" y="3025"/>
              <a:ext cx="2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r>
                <a:rPr lang="en-US" altLang="zh-CN">
                  <a:solidFill>
                    <a:srgbClr val="0000FF"/>
                  </a:solidFill>
                </a:rPr>
                <a:t>e</a:t>
              </a:r>
              <a:endParaRPr lang="en-US" altLang="zh-CN">
                <a:solidFill>
                  <a:schemeClr val="tx1"/>
                </a:solidFill>
              </a:endParaRPr>
            </a:p>
          </p:txBody>
        </p:sp>
        <p:sp>
          <p:nvSpPr>
            <p:cNvPr id="453659" name="Oval 27"/>
            <p:cNvSpPr>
              <a:spLocks noChangeArrowheads="1"/>
            </p:cNvSpPr>
            <p:nvPr/>
          </p:nvSpPr>
          <p:spPr bwMode="auto">
            <a:xfrm>
              <a:off x="384" y="2448"/>
              <a:ext cx="96" cy="96"/>
            </a:xfrm>
            <a:prstGeom prst="ellipse">
              <a:avLst/>
            </a:prstGeom>
            <a:solidFill>
              <a:schemeClr val="bg1"/>
            </a:solidFill>
            <a:ln w="38100">
              <a:solidFill>
                <a:schemeClr val="tx1"/>
              </a:solidFill>
              <a:round/>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60" name="Oval 28"/>
            <p:cNvSpPr>
              <a:spLocks noChangeArrowheads="1"/>
            </p:cNvSpPr>
            <p:nvPr/>
          </p:nvSpPr>
          <p:spPr bwMode="auto">
            <a:xfrm>
              <a:off x="1104" y="1824"/>
              <a:ext cx="96" cy="96"/>
            </a:xfrm>
            <a:prstGeom prst="ellipse">
              <a:avLst/>
            </a:prstGeom>
            <a:solidFill>
              <a:schemeClr val="bg1"/>
            </a:solidFill>
            <a:ln w="38100">
              <a:solidFill>
                <a:schemeClr val="tx1"/>
              </a:solidFill>
              <a:round/>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61" name="Oval 29"/>
            <p:cNvSpPr>
              <a:spLocks noChangeArrowheads="1"/>
            </p:cNvSpPr>
            <p:nvPr/>
          </p:nvSpPr>
          <p:spPr bwMode="auto">
            <a:xfrm>
              <a:off x="1104" y="3120"/>
              <a:ext cx="96" cy="96"/>
            </a:xfrm>
            <a:prstGeom prst="ellipse">
              <a:avLst/>
            </a:prstGeom>
            <a:solidFill>
              <a:schemeClr val="bg1"/>
            </a:solidFill>
            <a:ln w="38100">
              <a:solidFill>
                <a:schemeClr val="tx1"/>
              </a:solidFill>
              <a:round/>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62" name="Text Box 30"/>
            <p:cNvSpPr txBox="1">
              <a:spLocks noChangeArrowheads="1"/>
            </p:cNvSpPr>
            <p:nvPr/>
          </p:nvSpPr>
          <p:spPr bwMode="auto">
            <a:xfrm>
              <a:off x="1216" y="2339"/>
              <a:ext cx="1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endParaRPr lang="zh-CN" altLang="zh-CN">
                <a:solidFill>
                  <a:schemeClr val="accent2"/>
                </a:solidFill>
              </a:endParaRPr>
            </a:p>
          </p:txBody>
        </p:sp>
        <p:sp>
          <p:nvSpPr>
            <p:cNvPr id="453663" name="Text Box 31"/>
            <p:cNvSpPr txBox="1">
              <a:spLocks noChangeArrowheads="1"/>
            </p:cNvSpPr>
            <p:nvPr/>
          </p:nvSpPr>
          <p:spPr bwMode="auto">
            <a:xfrm>
              <a:off x="586" y="3463"/>
              <a:ext cx="912"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eaLnBrk="1" hangingPunct="1">
                <a:spcBef>
                  <a:spcPct val="50000"/>
                </a:spcBef>
              </a:pPr>
              <a:r>
                <a:rPr lang="zh-CN" altLang="en-US" b="1" dirty="0">
                  <a:solidFill>
                    <a:schemeClr val="tx1"/>
                  </a:solidFill>
                </a:rPr>
                <a:t>图形符号</a:t>
              </a:r>
            </a:p>
          </p:txBody>
        </p:sp>
      </p:grpSp>
      <p:grpSp>
        <p:nvGrpSpPr>
          <p:cNvPr id="453664" name="Group 32"/>
          <p:cNvGrpSpPr/>
          <p:nvPr/>
        </p:nvGrpSpPr>
        <p:grpSpPr bwMode="auto">
          <a:xfrm>
            <a:off x="914400" y="1416050"/>
            <a:ext cx="6858000" cy="4881563"/>
            <a:chOff x="576" y="892"/>
            <a:chExt cx="4320" cy="3075"/>
          </a:xfrm>
        </p:grpSpPr>
        <p:grpSp>
          <p:nvGrpSpPr>
            <p:cNvPr id="453665" name="Group 33"/>
            <p:cNvGrpSpPr/>
            <p:nvPr/>
          </p:nvGrpSpPr>
          <p:grpSpPr bwMode="auto">
            <a:xfrm>
              <a:off x="580" y="892"/>
              <a:ext cx="1680" cy="2544"/>
              <a:chOff x="580" y="892"/>
              <a:chExt cx="1680" cy="2544"/>
            </a:xfrm>
          </p:grpSpPr>
          <p:sp>
            <p:nvSpPr>
              <p:cNvPr id="453666" name="Line 34"/>
              <p:cNvSpPr>
                <a:spLocks noChangeShapeType="1"/>
              </p:cNvSpPr>
              <p:nvPr/>
            </p:nvSpPr>
            <p:spPr bwMode="auto">
              <a:xfrm flipH="1">
                <a:off x="1696" y="3004"/>
                <a:ext cx="4" cy="40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67" name="Line 35"/>
              <p:cNvSpPr>
                <a:spLocks noChangeShapeType="1"/>
              </p:cNvSpPr>
              <p:nvPr/>
            </p:nvSpPr>
            <p:spPr bwMode="auto">
              <a:xfrm flipH="1">
                <a:off x="676" y="2140"/>
                <a:ext cx="43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68" name="Line 36"/>
              <p:cNvSpPr>
                <a:spLocks noChangeShapeType="1"/>
              </p:cNvSpPr>
              <p:nvPr/>
            </p:nvSpPr>
            <p:spPr bwMode="auto">
              <a:xfrm flipV="1">
                <a:off x="1716" y="940"/>
                <a:ext cx="0" cy="38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69" name="Text Box 37"/>
              <p:cNvSpPr txBox="1">
                <a:spLocks noChangeArrowheads="1"/>
              </p:cNvSpPr>
              <p:nvPr/>
            </p:nvSpPr>
            <p:spPr bwMode="auto">
              <a:xfrm>
                <a:off x="1144" y="2122"/>
                <a:ext cx="2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r>
                  <a:rPr lang="en-US" altLang="zh-CN" sz="2000" b="0">
                    <a:solidFill>
                      <a:srgbClr val="FF00FF"/>
                    </a:solidFill>
                  </a:rPr>
                  <a:t>N</a:t>
                </a:r>
              </a:p>
            </p:txBody>
          </p:sp>
          <p:sp>
            <p:nvSpPr>
              <p:cNvPr id="453670" name="Oval 38"/>
              <p:cNvSpPr>
                <a:spLocks noChangeArrowheads="1"/>
              </p:cNvSpPr>
              <p:nvPr/>
            </p:nvSpPr>
            <p:spPr bwMode="auto">
              <a:xfrm>
                <a:off x="1668" y="892"/>
                <a:ext cx="96" cy="96"/>
              </a:xfrm>
              <a:prstGeom prst="ellipse">
                <a:avLst/>
              </a:prstGeom>
              <a:solidFill>
                <a:schemeClr val="bg1"/>
              </a:solidFill>
              <a:ln w="38100">
                <a:solidFill>
                  <a:schemeClr val="tx1"/>
                </a:solidFill>
                <a:round/>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71" name="Oval 39"/>
              <p:cNvSpPr>
                <a:spLocks noChangeArrowheads="1"/>
              </p:cNvSpPr>
              <p:nvPr/>
            </p:nvSpPr>
            <p:spPr bwMode="auto">
              <a:xfrm>
                <a:off x="580" y="2092"/>
                <a:ext cx="96" cy="96"/>
              </a:xfrm>
              <a:prstGeom prst="ellipse">
                <a:avLst/>
              </a:prstGeom>
              <a:solidFill>
                <a:schemeClr val="bg1"/>
              </a:solidFill>
              <a:ln w="38100">
                <a:solidFill>
                  <a:schemeClr val="tx1"/>
                </a:solidFill>
                <a:round/>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72" name="Oval 40"/>
              <p:cNvSpPr>
                <a:spLocks noChangeArrowheads="1"/>
              </p:cNvSpPr>
              <p:nvPr/>
            </p:nvSpPr>
            <p:spPr bwMode="auto">
              <a:xfrm>
                <a:off x="1652" y="3340"/>
                <a:ext cx="96" cy="96"/>
              </a:xfrm>
              <a:prstGeom prst="ellipse">
                <a:avLst/>
              </a:prstGeom>
              <a:solidFill>
                <a:schemeClr val="bg1"/>
              </a:solidFill>
              <a:ln w="38100">
                <a:solidFill>
                  <a:schemeClr val="tx1"/>
                </a:solidFill>
                <a:round/>
                <a:tailEnd type="none" w="sm"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73" name="Text Box 41"/>
              <p:cNvSpPr txBox="1">
                <a:spLocks noChangeArrowheads="1"/>
              </p:cNvSpPr>
              <p:nvPr/>
            </p:nvSpPr>
            <p:spPr bwMode="auto">
              <a:xfrm>
                <a:off x="1540" y="1468"/>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r>
                  <a:rPr lang="en-US" altLang="zh-CN" sz="1800">
                    <a:solidFill>
                      <a:schemeClr val="tx1"/>
                    </a:solidFill>
                  </a:rPr>
                  <a:t>N</a:t>
                </a:r>
              </a:p>
            </p:txBody>
          </p:sp>
          <p:sp>
            <p:nvSpPr>
              <p:cNvPr id="453674" name="Rectangle 42"/>
              <p:cNvSpPr>
                <a:spLocks noChangeArrowheads="1"/>
              </p:cNvSpPr>
              <p:nvPr/>
            </p:nvSpPr>
            <p:spPr bwMode="auto">
              <a:xfrm>
                <a:off x="1108" y="1324"/>
                <a:ext cx="1152" cy="624"/>
              </a:xfrm>
              <a:prstGeom prst="rect">
                <a:avLst/>
              </a:prstGeom>
              <a:solidFill>
                <a:srgbClr val="FFFF00"/>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75" name="Rectangle 43"/>
              <p:cNvSpPr>
                <a:spLocks noChangeArrowheads="1"/>
              </p:cNvSpPr>
              <p:nvPr/>
            </p:nvSpPr>
            <p:spPr bwMode="auto">
              <a:xfrm>
                <a:off x="1108" y="2380"/>
                <a:ext cx="1152" cy="624"/>
              </a:xfrm>
              <a:prstGeom prst="rect">
                <a:avLst/>
              </a:prstGeom>
              <a:solidFill>
                <a:srgbClr val="FFFF00"/>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76" name="Rectangle 44"/>
              <p:cNvSpPr>
                <a:spLocks noChangeArrowheads="1"/>
              </p:cNvSpPr>
              <p:nvPr/>
            </p:nvSpPr>
            <p:spPr bwMode="auto">
              <a:xfrm>
                <a:off x="1108" y="1948"/>
                <a:ext cx="1152" cy="432"/>
              </a:xfrm>
              <a:prstGeom prst="rect">
                <a:avLst/>
              </a:prstGeom>
              <a:solidFill>
                <a:srgbClr val="99FFCC"/>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77" name="Line 45"/>
              <p:cNvSpPr>
                <a:spLocks noChangeShapeType="1"/>
              </p:cNvSpPr>
              <p:nvPr/>
            </p:nvSpPr>
            <p:spPr bwMode="auto">
              <a:xfrm>
                <a:off x="1108" y="1852"/>
                <a:ext cx="1152" cy="0"/>
              </a:xfrm>
              <a:prstGeom prst="line">
                <a:avLst/>
              </a:prstGeom>
              <a:noFill/>
              <a:ln w="2857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78" name="Line 46"/>
              <p:cNvSpPr>
                <a:spLocks noChangeShapeType="1"/>
              </p:cNvSpPr>
              <p:nvPr/>
            </p:nvSpPr>
            <p:spPr bwMode="auto">
              <a:xfrm>
                <a:off x="1108" y="1996"/>
                <a:ext cx="1152" cy="0"/>
              </a:xfrm>
              <a:prstGeom prst="line">
                <a:avLst/>
              </a:prstGeom>
              <a:noFill/>
              <a:ln w="2857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79" name="Line 47"/>
              <p:cNvSpPr>
                <a:spLocks noChangeShapeType="1"/>
              </p:cNvSpPr>
              <p:nvPr/>
            </p:nvSpPr>
            <p:spPr bwMode="auto">
              <a:xfrm>
                <a:off x="1108" y="2428"/>
                <a:ext cx="1152" cy="0"/>
              </a:xfrm>
              <a:prstGeom prst="line">
                <a:avLst/>
              </a:prstGeom>
              <a:noFill/>
              <a:ln w="2857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80" name="Line 48"/>
              <p:cNvSpPr>
                <a:spLocks noChangeShapeType="1"/>
              </p:cNvSpPr>
              <p:nvPr/>
            </p:nvSpPr>
            <p:spPr bwMode="auto">
              <a:xfrm>
                <a:off x="1108" y="2284"/>
                <a:ext cx="1152" cy="0"/>
              </a:xfrm>
              <a:prstGeom prst="line">
                <a:avLst/>
              </a:prstGeom>
              <a:noFill/>
              <a:ln w="28575">
                <a:solidFill>
                  <a:srgbClr val="000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3681" name="Text Box 49"/>
              <p:cNvSpPr txBox="1">
                <a:spLocks noChangeArrowheads="1"/>
              </p:cNvSpPr>
              <p:nvPr/>
            </p:nvSpPr>
            <p:spPr bwMode="auto">
              <a:xfrm>
                <a:off x="1595" y="1420"/>
                <a:ext cx="233"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spcBef>
                    <a:spcPct val="50000"/>
                  </a:spcBef>
                </a:pPr>
                <a:r>
                  <a:rPr lang="en-US" altLang="zh-CN">
                    <a:solidFill>
                      <a:schemeClr val="tx1"/>
                    </a:solidFill>
                    <a:ea typeface="方正琥珀繁体" pitchFamily="2" charset="-122"/>
                  </a:rPr>
                  <a:t>P</a:t>
                </a:r>
                <a:endParaRPr lang="en-US" altLang="zh-CN" sz="1800">
                  <a:solidFill>
                    <a:schemeClr val="tx1"/>
                  </a:solidFill>
                  <a:ea typeface="方正琥珀繁体" pitchFamily="2" charset="-122"/>
                </a:endParaRPr>
              </a:p>
            </p:txBody>
          </p:sp>
          <p:sp>
            <p:nvSpPr>
              <p:cNvPr id="453682" name="Text Box 50"/>
              <p:cNvSpPr txBox="1">
                <a:spLocks noChangeArrowheads="1"/>
              </p:cNvSpPr>
              <p:nvPr/>
            </p:nvSpPr>
            <p:spPr bwMode="auto">
              <a:xfrm>
                <a:off x="1588" y="2524"/>
                <a:ext cx="19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1" hangingPunct="1">
                  <a:spcBef>
                    <a:spcPct val="50000"/>
                  </a:spcBef>
                </a:pPr>
                <a:r>
                  <a:rPr lang="en-US" altLang="zh-CN">
                    <a:solidFill>
                      <a:schemeClr val="tx1"/>
                    </a:solidFill>
                    <a:ea typeface="方正琥珀繁体" pitchFamily="2" charset="-122"/>
                  </a:rPr>
                  <a:t>P</a:t>
                </a:r>
                <a:endParaRPr lang="en-US" altLang="zh-CN" sz="1800">
                  <a:solidFill>
                    <a:schemeClr val="tx1"/>
                  </a:solidFill>
                  <a:ea typeface="方正琥珀繁体" pitchFamily="2" charset="-122"/>
                </a:endParaRPr>
              </a:p>
            </p:txBody>
          </p:sp>
          <p:sp>
            <p:nvSpPr>
              <p:cNvPr id="453683" name="Text Box 51"/>
              <p:cNvSpPr txBox="1">
                <a:spLocks noChangeArrowheads="1"/>
              </p:cNvSpPr>
              <p:nvPr/>
            </p:nvSpPr>
            <p:spPr bwMode="auto">
              <a:xfrm>
                <a:off x="1573" y="1996"/>
                <a:ext cx="255"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a:solidFill>
                      <a:srgbClr val="FF66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r>
                  <a:rPr lang="en-US" altLang="zh-CN">
                    <a:solidFill>
                      <a:schemeClr val="tx1"/>
                    </a:solidFill>
                    <a:ea typeface="方正琥珀繁体" pitchFamily="2" charset="-122"/>
                  </a:rPr>
                  <a:t>N</a:t>
                </a:r>
              </a:p>
            </p:txBody>
          </p:sp>
        </p:grpSp>
        <p:sp>
          <p:nvSpPr>
            <p:cNvPr id="453684" name="Text Box 52"/>
            <p:cNvSpPr txBox="1">
              <a:spLocks noChangeArrowheads="1"/>
            </p:cNvSpPr>
            <p:nvPr/>
          </p:nvSpPr>
          <p:spPr bwMode="auto">
            <a:xfrm>
              <a:off x="576" y="3696"/>
              <a:ext cx="4320"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zh-CN" altLang="en-US" b="1" dirty="0">
                  <a:solidFill>
                    <a:srgbClr val="FF00FF"/>
                  </a:solidFill>
                  <a:ea typeface="黑体" panose="02010609060101010101" pitchFamily="2" charset="-122"/>
                </a:rPr>
                <a:t>　三极管结构示意图和符号　　</a:t>
              </a:r>
              <a:r>
                <a:rPr lang="en-US" altLang="zh-CN" sz="2200" b="1" dirty="0">
                  <a:solidFill>
                    <a:srgbClr val="0000FF"/>
                  </a:solidFill>
                </a:rPr>
                <a:t>PNP </a:t>
              </a:r>
              <a:r>
                <a:rPr lang="zh-CN" altLang="en-US" sz="2200" b="1" dirty="0">
                  <a:solidFill>
                    <a:srgbClr val="0000FF"/>
                  </a:solidFill>
                </a:rPr>
                <a:t>型</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453664"/>
                                        </p:tgtEl>
                                        <p:attrNameLst>
                                          <p:attrName>style.visibility</p:attrName>
                                        </p:attrNameLst>
                                      </p:cBhvr>
                                      <p:to>
                                        <p:strVal val="visible"/>
                                      </p:to>
                                    </p:set>
                                    <p:animEffect transition="in" filter="fade">
                                      <p:cBhvr>
                                        <p:cTn id="7" dur="2000"/>
                                        <p:tgtEl>
                                          <p:spTgt spid="453664"/>
                                        </p:tgtEl>
                                      </p:cBhvr>
                                    </p:animEffect>
                                    <p:anim calcmode="lin" valueType="num">
                                      <p:cBhvr>
                                        <p:cTn id="8" dur="2000" fill="hold"/>
                                        <p:tgtEl>
                                          <p:spTgt spid="453664"/>
                                        </p:tgtEl>
                                        <p:attrNameLst>
                                          <p:attrName>ppt_w</p:attrName>
                                        </p:attrNameLst>
                                      </p:cBhvr>
                                      <p:tavLst>
                                        <p:tav tm="0" fmla="#ppt_w*sin(2.5*pi*$)">
                                          <p:val>
                                            <p:fltVal val="0"/>
                                          </p:val>
                                        </p:tav>
                                        <p:tav tm="100000">
                                          <p:val>
                                            <p:fltVal val="1"/>
                                          </p:val>
                                        </p:tav>
                                      </p:tavLst>
                                    </p:anim>
                                    <p:anim calcmode="lin" valueType="num">
                                      <p:cBhvr>
                                        <p:cTn id="9" dur="2000" fill="hold"/>
                                        <p:tgtEl>
                                          <p:spTgt spid="453664"/>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17" presetClass="entr" presetSubtype="8" fill="hold" grpId="0" nodeType="clickEffect">
                                  <p:stCondLst>
                                    <p:cond delay="0"/>
                                  </p:stCondLst>
                                  <p:childTnLst>
                                    <p:set>
                                      <p:cBhvr>
                                        <p:cTn id="13" dur="1" fill="hold">
                                          <p:stCondLst>
                                            <p:cond delay="0"/>
                                          </p:stCondLst>
                                        </p:cTn>
                                        <p:tgtEl>
                                          <p:spTgt spid="453643"/>
                                        </p:tgtEl>
                                        <p:attrNameLst>
                                          <p:attrName>style.visibility</p:attrName>
                                        </p:attrNameLst>
                                      </p:cBhvr>
                                      <p:to>
                                        <p:strVal val="visible"/>
                                      </p:to>
                                    </p:set>
                                    <p:anim calcmode="lin" valueType="num">
                                      <p:cBhvr>
                                        <p:cTn id="14" dur="500" fill="hold"/>
                                        <p:tgtEl>
                                          <p:spTgt spid="453643"/>
                                        </p:tgtEl>
                                        <p:attrNameLst>
                                          <p:attrName>ppt_x</p:attrName>
                                        </p:attrNameLst>
                                      </p:cBhvr>
                                      <p:tavLst>
                                        <p:tav tm="0">
                                          <p:val>
                                            <p:strVal val="#ppt_x-#ppt_w/2"/>
                                          </p:val>
                                        </p:tav>
                                        <p:tav tm="100000">
                                          <p:val>
                                            <p:strVal val="#ppt_x"/>
                                          </p:val>
                                        </p:tav>
                                      </p:tavLst>
                                    </p:anim>
                                    <p:anim calcmode="lin" valueType="num">
                                      <p:cBhvr>
                                        <p:cTn id="15" dur="500" fill="hold"/>
                                        <p:tgtEl>
                                          <p:spTgt spid="453643"/>
                                        </p:tgtEl>
                                        <p:attrNameLst>
                                          <p:attrName>ppt_y</p:attrName>
                                        </p:attrNameLst>
                                      </p:cBhvr>
                                      <p:tavLst>
                                        <p:tav tm="0">
                                          <p:val>
                                            <p:strVal val="#ppt_y"/>
                                          </p:val>
                                        </p:tav>
                                        <p:tav tm="100000">
                                          <p:val>
                                            <p:strVal val="#ppt_y"/>
                                          </p:val>
                                        </p:tav>
                                      </p:tavLst>
                                    </p:anim>
                                    <p:anim calcmode="lin" valueType="num">
                                      <p:cBhvr>
                                        <p:cTn id="16" dur="500" fill="hold"/>
                                        <p:tgtEl>
                                          <p:spTgt spid="453643"/>
                                        </p:tgtEl>
                                        <p:attrNameLst>
                                          <p:attrName>ppt_w</p:attrName>
                                        </p:attrNameLst>
                                      </p:cBhvr>
                                      <p:tavLst>
                                        <p:tav tm="0">
                                          <p:val>
                                            <p:fltVal val="0"/>
                                          </p:val>
                                        </p:tav>
                                        <p:tav tm="100000">
                                          <p:val>
                                            <p:strVal val="#ppt_w"/>
                                          </p:val>
                                        </p:tav>
                                      </p:tavLst>
                                    </p:anim>
                                    <p:anim calcmode="lin" valueType="num">
                                      <p:cBhvr>
                                        <p:cTn id="17" dur="500" fill="hold"/>
                                        <p:tgtEl>
                                          <p:spTgt spid="453643"/>
                                        </p:tgtEl>
                                        <p:attrNameLst>
                                          <p:attrName>ppt_h</p:attrName>
                                        </p:attrNameLst>
                                      </p:cBhvr>
                                      <p:tavLst>
                                        <p:tav tm="0">
                                          <p:val>
                                            <p:strVal val="#ppt_h"/>
                                          </p:val>
                                        </p:tav>
                                        <p:tav tm="100000">
                                          <p:val>
                                            <p:strVal val="#ppt_h"/>
                                          </p:val>
                                        </p:tav>
                                      </p:tavLst>
                                    </p:anim>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453638"/>
                                        </p:tgtEl>
                                        <p:attrNameLst>
                                          <p:attrName>style.visibility</p:attrName>
                                        </p:attrNameLst>
                                      </p:cBhvr>
                                      <p:to>
                                        <p:strVal val="visible"/>
                                      </p:to>
                                    </p:set>
                                    <p:animEffect transition="in" filter="dissolve">
                                      <p:cBhvr>
                                        <p:cTn id="21" dur="500"/>
                                        <p:tgtEl>
                                          <p:spTgt spid="453638"/>
                                        </p:tgtEl>
                                      </p:cBhvr>
                                    </p:animEffect>
                                  </p:childTnLst>
                                </p:cTn>
                              </p:par>
                            </p:childTnLst>
                          </p:cTn>
                        </p:par>
                        <p:par>
                          <p:cTn id="22" fill="hold">
                            <p:stCondLst>
                              <p:cond delay="1000"/>
                            </p:stCondLst>
                            <p:childTnLst>
                              <p:par>
                                <p:cTn id="23" presetID="17" presetClass="entr" presetSubtype="8" fill="hold" grpId="0" nodeType="afterEffect">
                                  <p:stCondLst>
                                    <p:cond delay="1000"/>
                                  </p:stCondLst>
                                  <p:childTnLst>
                                    <p:set>
                                      <p:cBhvr>
                                        <p:cTn id="24" dur="1" fill="hold">
                                          <p:stCondLst>
                                            <p:cond delay="0"/>
                                          </p:stCondLst>
                                        </p:cTn>
                                        <p:tgtEl>
                                          <p:spTgt spid="453641"/>
                                        </p:tgtEl>
                                        <p:attrNameLst>
                                          <p:attrName>style.visibility</p:attrName>
                                        </p:attrNameLst>
                                      </p:cBhvr>
                                      <p:to>
                                        <p:strVal val="visible"/>
                                      </p:to>
                                    </p:set>
                                    <p:anim calcmode="lin" valueType="num">
                                      <p:cBhvr>
                                        <p:cTn id="25" dur="500" fill="hold"/>
                                        <p:tgtEl>
                                          <p:spTgt spid="453641"/>
                                        </p:tgtEl>
                                        <p:attrNameLst>
                                          <p:attrName>ppt_x</p:attrName>
                                        </p:attrNameLst>
                                      </p:cBhvr>
                                      <p:tavLst>
                                        <p:tav tm="0">
                                          <p:val>
                                            <p:strVal val="#ppt_x-#ppt_w/2"/>
                                          </p:val>
                                        </p:tav>
                                        <p:tav tm="100000">
                                          <p:val>
                                            <p:strVal val="#ppt_x"/>
                                          </p:val>
                                        </p:tav>
                                      </p:tavLst>
                                    </p:anim>
                                    <p:anim calcmode="lin" valueType="num">
                                      <p:cBhvr>
                                        <p:cTn id="26" dur="500" fill="hold"/>
                                        <p:tgtEl>
                                          <p:spTgt spid="453641"/>
                                        </p:tgtEl>
                                        <p:attrNameLst>
                                          <p:attrName>ppt_y</p:attrName>
                                        </p:attrNameLst>
                                      </p:cBhvr>
                                      <p:tavLst>
                                        <p:tav tm="0">
                                          <p:val>
                                            <p:strVal val="#ppt_y"/>
                                          </p:val>
                                        </p:tav>
                                        <p:tav tm="100000">
                                          <p:val>
                                            <p:strVal val="#ppt_y"/>
                                          </p:val>
                                        </p:tav>
                                      </p:tavLst>
                                    </p:anim>
                                    <p:anim calcmode="lin" valueType="num">
                                      <p:cBhvr>
                                        <p:cTn id="27" dur="500" fill="hold"/>
                                        <p:tgtEl>
                                          <p:spTgt spid="453641"/>
                                        </p:tgtEl>
                                        <p:attrNameLst>
                                          <p:attrName>ppt_w</p:attrName>
                                        </p:attrNameLst>
                                      </p:cBhvr>
                                      <p:tavLst>
                                        <p:tav tm="0">
                                          <p:val>
                                            <p:fltVal val="0"/>
                                          </p:val>
                                        </p:tav>
                                        <p:tav tm="100000">
                                          <p:val>
                                            <p:strVal val="#ppt_w"/>
                                          </p:val>
                                        </p:tav>
                                      </p:tavLst>
                                    </p:anim>
                                    <p:anim calcmode="lin" valueType="num">
                                      <p:cBhvr>
                                        <p:cTn id="28" dur="500" fill="hold"/>
                                        <p:tgtEl>
                                          <p:spTgt spid="453641"/>
                                        </p:tgtEl>
                                        <p:attrNameLst>
                                          <p:attrName>ppt_h</p:attrName>
                                        </p:attrNameLst>
                                      </p:cBhvr>
                                      <p:tavLst>
                                        <p:tav tm="0">
                                          <p:val>
                                            <p:strVal val="#ppt_h"/>
                                          </p:val>
                                        </p:tav>
                                        <p:tav tm="100000">
                                          <p:val>
                                            <p:strVal val="#ppt_h"/>
                                          </p:val>
                                        </p:tav>
                                      </p:tavLst>
                                    </p:anim>
                                  </p:childTnLst>
                                </p:cTn>
                              </p:par>
                            </p:childTnLst>
                          </p:cTn>
                        </p:par>
                        <p:par>
                          <p:cTn id="29" fill="hold">
                            <p:stCondLst>
                              <p:cond delay="2500"/>
                            </p:stCondLst>
                            <p:childTnLst>
                              <p:par>
                                <p:cTn id="30" presetID="9" presetClass="entr" presetSubtype="0" fill="hold" grpId="0" nodeType="afterEffect">
                                  <p:stCondLst>
                                    <p:cond delay="0"/>
                                  </p:stCondLst>
                                  <p:childTnLst>
                                    <p:set>
                                      <p:cBhvr>
                                        <p:cTn id="31" dur="1" fill="hold">
                                          <p:stCondLst>
                                            <p:cond delay="0"/>
                                          </p:stCondLst>
                                        </p:cTn>
                                        <p:tgtEl>
                                          <p:spTgt spid="453636"/>
                                        </p:tgtEl>
                                        <p:attrNameLst>
                                          <p:attrName>style.visibility</p:attrName>
                                        </p:attrNameLst>
                                      </p:cBhvr>
                                      <p:to>
                                        <p:strVal val="visible"/>
                                      </p:to>
                                    </p:set>
                                    <p:animEffect transition="in" filter="dissolve">
                                      <p:cBhvr>
                                        <p:cTn id="32" dur="500"/>
                                        <p:tgtEl>
                                          <p:spTgt spid="453636"/>
                                        </p:tgtEl>
                                      </p:cBhvr>
                                    </p:animEffect>
                                  </p:childTnLst>
                                </p:cTn>
                              </p:par>
                            </p:childTnLst>
                          </p:cTn>
                        </p:par>
                        <p:par>
                          <p:cTn id="33" fill="hold">
                            <p:stCondLst>
                              <p:cond delay="3000"/>
                            </p:stCondLst>
                            <p:childTnLst>
                              <p:par>
                                <p:cTn id="34" presetID="17" presetClass="entr" presetSubtype="8" fill="hold" grpId="0" nodeType="afterEffect">
                                  <p:stCondLst>
                                    <p:cond delay="1000"/>
                                  </p:stCondLst>
                                  <p:childTnLst>
                                    <p:set>
                                      <p:cBhvr>
                                        <p:cTn id="35" dur="1" fill="hold">
                                          <p:stCondLst>
                                            <p:cond delay="0"/>
                                          </p:stCondLst>
                                        </p:cTn>
                                        <p:tgtEl>
                                          <p:spTgt spid="453639"/>
                                        </p:tgtEl>
                                        <p:attrNameLst>
                                          <p:attrName>style.visibility</p:attrName>
                                        </p:attrNameLst>
                                      </p:cBhvr>
                                      <p:to>
                                        <p:strVal val="visible"/>
                                      </p:to>
                                    </p:set>
                                    <p:anim calcmode="lin" valueType="num">
                                      <p:cBhvr>
                                        <p:cTn id="36" dur="500" fill="hold"/>
                                        <p:tgtEl>
                                          <p:spTgt spid="453639"/>
                                        </p:tgtEl>
                                        <p:attrNameLst>
                                          <p:attrName>ppt_x</p:attrName>
                                        </p:attrNameLst>
                                      </p:cBhvr>
                                      <p:tavLst>
                                        <p:tav tm="0">
                                          <p:val>
                                            <p:strVal val="#ppt_x-#ppt_w/2"/>
                                          </p:val>
                                        </p:tav>
                                        <p:tav tm="100000">
                                          <p:val>
                                            <p:strVal val="#ppt_x"/>
                                          </p:val>
                                        </p:tav>
                                      </p:tavLst>
                                    </p:anim>
                                    <p:anim calcmode="lin" valueType="num">
                                      <p:cBhvr>
                                        <p:cTn id="37" dur="500" fill="hold"/>
                                        <p:tgtEl>
                                          <p:spTgt spid="453639"/>
                                        </p:tgtEl>
                                        <p:attrNameLst>
                                          <p:attrName>ppt_y</p:attrName>
                                        </p:attrNameLst>
                                      </p:cBhvr>
                                      <p:tavLst>
                                        <p:tav tm="0">
                                          <p:val>
                                            <p:strVal val="#ppt_y"/>
                                          </p:val>
                                        </p:tav>
                                        <p:tav tm="100000">
                                          <p:val>
                                            <p:strVal val="#ppt_y"/>
                                          </p:val>
                                        </p:tav>
                                      </p:tavLst>
                                    </p:anim>
                                    <p:anim calcmode="lin" valueType="num">
                                      <p:cBhvr>
                                        <p:cTn id="38" dur="500" fill="hold"/>
                                        <p:tgtEl>
                                          <p:spTgt spid="453639"/>
                                        </p:tgtEl>
                                        <p:attrNameLst>
                                          <p:attrName>ppt_w</p:attrName>
                                        </p:attrNameLst>
                                      </p:cBhvr>
                                      <p:tavLst>
                                        <p:tav tm="0">
                                          <p:val>
                                            <p:fltVal val="0"/>
                                          </p:val>
                                        </p:tav>
                                        <p:tav tm="100000">
                                          <p:val>
                                            <p:strVal val="#ppt_w"/>
                                          </p:val>
                                        </p:tav>
                                      </p:tavLst>
                                    </p:anim>
                                    <p:anim calcmode="lin" valueType="num">
                                      <p:cBhvr>
                                        <p:cTn id="39" dur="500" fill="hold"/>
                                        <p:tgtEl>
                                          <p:spTgt spid="453639"/>
                                        </p:tgtEl>
                                        <p:attrNameLst>
                                          <p:attrName>ppt_h</p:attrName>
                                        </p:attrNameLst>
                                      </p:cBhvr>
                                      <p:tavLst>
                                        <p:tav tm="0">
                                          <p:val>
                                            <p:strVal val="#ppt_h"/>
                                          </p:val>
                                        </p:tav>
                                        <p:tav tm="100000">
                                          <p:val>
                                            <p:strVal val="#ppt_h"/>
                                          </p:val>
                                        </p:tav>
                                      </p:tavLst>
                                    </p:anim>
                                  </p:childTnLst>
                                </p:cTn>
                              </p:par>
                            </p:childTnLst>
                          </p:cTn>
                        </p:par>
                        <p:par>
                          <p:cTn id="40" fill="hold">
                            <p:stCondLst>
                              <p:cond delay="4500"/>
                            </p:stCondLst>
                            <p:childTnLst>
                              <p:par>
                                <p:cTn id="41" presetID="9" presetClass="entr" presetSubtype="0" fill="hold" grpId="0" nodeType="afterEffect">
                                  <p:stCondLst>
                                    <p:cond delay="0"/>
                                  </p:stCondLst>
                                  <p:childTnLst>
                                    <p:set>
                                      <p:cBhvr>
                                        <p:cTn id="42" dur="1" fill="hold">
                                          <p:stCondLst>
                                            <p:cond delay="0"/>
                                          </p:stCondLst>
                                        </p:cTn>
                                        <p:tgtEl>
                                          <p:spTgt spid="453634"/>
                                        </p:tgtEl>
                                        <p:attrNameLst>
                                          <p:attrName>style.visibility</p:attrName>
                                        </p:attrNameLst>
                                      </p:cBhvr>
                                      <p:to>
                                        <p:strVal val="visible"/>
                                      </p:to>
                                    </p:set>
                                    <p:animEffect transition="in" filter="dissolve">
                                      <p:cBhvr>
                                        <p:cTn id="43" dur="500"/>
                                        <p:tgtEl>
                                          <p:spTgt spid="453634"/>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453645"/>
                                        </p:tgtEl>
                                        <p:attrNameLst>
                                          <p:attrName>style.visibility</p:attrName>
                                        </p:attrNameLst>
                                      </p:cBhvr>
                                      <p:to>
                                        <p:strVal val="visible"/>
                                      </p:to>
                                    </p:set>
                                    <p:animEffect transition="in" filter="dissolve">
                                      <p:cBhvr>
                                        <p:cTn id="48" dur="500"/>
                                        <p:tgtEl>
                                          <p:spTgt spid="453645"/>
                                        </p:tgtEl>
                                      </p:cBhvr>
                                    </p:animEffect>
                                  </p:childTnLst>
                                </p:cTn>
                              </p:par>
                            </p:childTnLst>
                          </p:cTn>
                        </p:par>
                        <p:par>
                          <p:cTn id="49" fill="hold">
                            <p:stCondLst>
                              <p:cond delay="500"/>
                            </p:stCondLst>
                            <p:childTnLst>
                              <p:par>
                                <p:cTn id="50" presetID="9" presetClass="entr" presetSubtype="0" fill="hold" grpId="0" nodeType="afterEffect">
                                  <p:stCondLst>
                                    <p:cond delay="1000"/>
                                  </p:stCondLst>
                                  <p:childTnLst>
                                    <p:set>
                                      <p:cBhvr>
                                        <p:cTn id="51" dur="1" fill="hold">
                                          <p:stCondLst>
                                            <p:cond delay="0"/>
                                          </p:stCondLst>
                                        </p:cTn>
                                        <p:tgtEl>
                                          <p:spTgt spid="453646"/>
                                        </p:tgtEl>
                                        <p:attrNameLst>
                                          <p:attrName>style.visibility</p:attrName>
                                        </p:attrNameLst>
                                      </p:cBhvr>
                                      <p:to>
                                        <p:strVal val="visible"/>
                                      </p:to>
                                    </p:set>
                                    <p:animEffect transition="in" filter="dissolve">
                                      <p:cBhvr>
                                        <p:cTn id="52" dur="500"/>
                                        <p:tgtEl>
                                          <p:spTgt spid="453646"/>
                                        </p:tgtEl>
                                      </p:cBhvr>
                                    </p:animEffect>
                                  </p:childTnLst>
                                </p:cTn>
                              </p:par>
                            </p:childTnLst>
                          </p:cTn>
                        </p:par>
                        <p:par>
                          <p:cTn id="53" fill="hold">
                            <p:stCondLst>
                              <p:cond delay="2000"/>
                            </p:stCondLst>
                            <p:childTnLst>
                              <p:par>
                                <p:cTn id="54" presetID="9" presetClass="entr" presetSubtype="0" fill="hold" grpId="0" nodeType="afterEffect">
                                  <p:stCondLst>
                                    <p:cond delay="1000"/>
                                  </p:stCondLst>
                                  <p:childTnLst>
                                    <p:set>
                                      <p:cBhvr>
                                        <p:cTn id="55" dur="1" fill="hold">
                                          <p:stCondLst>
                                            <p:cond delay="0"/>
                                          </p:stCondLst>
                                        </p:cTn>
                                        <p:tgtEl>
                                          <p:spTgt spid="453644"/>
                                        </p:tgtEl>
                                        <p:attrNameLst>
                                          <p:attrName>style.visibility</p:attrName>
                                        </p:attrNameLst>
                                      </p:cBhvr>
                                      <p:to>
                                        <p:strVal val="visible"/>
                                      </p:to>
                                    </p:set>
                                    <p:animEffect transition="in" filter="dissolve">
                                      <p:cBhvr>
                                        <p:cTn id="56" dur="500"/>
                                        <p:tgtEl>
                                          <p:spTgt spid="453644"/>
                                        </p:tgtEl>
                                      </p:cBhvr>
                                    </p:animEffect>
                                  </p:childTnLst>
                                </p:cTn>
                              </p:par>
                            </p:childTnLst>
                          </p:cTn>
                        </p:par>
                      </p:childTnLst>
                    </p:cTn>
                  </p:par>
                  <p:par>
                    <p:cTn id="57" fill="hold">
                      <p:stCondLst>
                        <p:cond delay="indefinite"/>
                      </p:stCondLst>
                      <p:childTnLst>
                        <p:par>
                          <p:cTn id="58" fill="hold">
                            <p:stCondLst>
                              <p:cond delay="0"/>
                            </p:stCondLst>
                            <p:childTnLst>
                              <p:par>
                                <p:cTn id="59" presetID="17" presetClass="entr" presetSubtype="8" fill="hold" grpId="0" nodeType="clickEffect">
                                  <p:stCondLst>
                                    <p:cond delay="0"/>
                                  </p:stCondLst>
                                  <p:childTnLst>
                                    <p:set>
                                      <p:cBhvr>
                                        <p:cTn id="60" dur="1" fill="hold">
                                          <p:stCondLst>
                                            <p:cond delay="0"/>
                                          </p:stCondLst>
                                        </p:cTn>
                                        <p:tgtEl>
                                          <p:spTgt spid="453642"/>
                                        </p:tgtEl>
                                        <p:attrNameLst>
                                          <p:attrName>style.visibility</p:attrName>
                                        </p:attrNameLst>
                                      </p:cBhvr>
                                      <p:to>
                                        <p:strVal val="visible"/>
                                      </p:to>
                                    </p:set>
                                    <p:anim calcmode="lin" valueType="num">
                                      <p:cBhvr>
                                        <p:cTn id="61" dur="500" fill="hold"/>
                                        <p:tgtEl>
                                          <p:spTgt spid="453642"/>
                                        </p:tgtEl>
                                        <p:attrNameLst>
                                          <p:attrName>ppt_x</p:attrName>
                                        </p:attrNameLst>
                                      </p:cBhvr>
                                      <p:tavLst>
                                        <p:tav tm="0">
                                          <p:val>
                                            <p:strVal val="#ppt_x-#ppt_w/2"/>
                                          </p:val>
                                        </p:tav>
                                        <p:tav tm="100000">
                                          <p:val>
                                            <p:strVal val="#ppt_x"/>
                                          </p:val>
                                        </p:tav>
                                      </p:tavLst>
                                    </p:anim>
                                    <p:anim calcmode="lin" valueType="num">
                                      <p:cBhvr>
                                        <p:cTn id="62" dur="500" fill="hold"/>
                                        <p:tgtEl>
                                          <p:spTgt spid="453642"/>
                                        </p:tgtEl>
                                        <p:attrNameLst>
                                          <p:attrName>ppt_y</p:attrName>
                                        </p:attrNameLst>
                                      </p:cBhvr>
                                      <p:tavLst>
                                        <p:tav tm="0">
                                          <p:val>
                                            <p:strVal val="#ppt_y"/>
                                          </p:val>
                                        </p:tav>
                                        <p:tav tm="100000">
                                          <p:val>
                                            <p:strVal val="#ppt_y"/>
                                          </p:val>
                                        </p:tav>
                                      </p:tavLst>
                                    </p:anim>
                                    <p:anim calcmode="lin" valueType="num">
                                      <p:cBhvr>
                                        <p:cTn id="63" dur="500" fill="hold"/>
                                        <p:tgtEl>
                                          <p:spTgt spid="453642"/>
                                        </p:tgtEl>
                                        <p:attrNameLst>
                                          <p:attrName>ppt_w</p:attrName>
                                        </p:attrNameLst>
                                      </p:cBhvr>
                                      <p:tavLst>
                                        <p:tav tm="0">
                                          <p:val>
                                            <p:fltVal val="0"/>
                                          </p:val>
                                        </p:tav>
                                        <p:tav tm="100000">
                                          <p:val>
                                            <p:strVal val="#ppt_w"/>
                                          </p:val>
                                        </p:tav>
                                      </p:tavLst>
                                    </p:anim>
                                    <p:anim calcmode="lin" valueType="num">
                                      <p:cBhvr>
                                        <p:cTn id="64" dur="500" fill="hold"/>
                                        <p:tgtEl>
                                          <p:spTgt spid="453642"/>
                                        </p:tgtEl>
                                        <p:attrNameLst>
                                          <p:attrName>ppt_h</p:attrName>
                                        </p:attrNameLst>
                                      </p:cBhvr>
                                      <p:tavLst>
                                        <p:tav tm="0">
                                          <p:val>
                                            <p:strVal val="#ppt_h"/>
                                          </p:val>
                                        </p:tav>
                                        <p:tav tm="100000">
                                          <p:val>
                                            <p:strVal val="#ppt_h"/>
                                          </p:val>
                                        </p:tav>
                                      </p:tavLst>
                                    </p:anim>
                                  </p:childTnLst>
                                </p:cTn>
                              </p:par>
                            </p:childTnLst>
                          </p:cTn>
                        </p:par>
                        <p:par>
                          <p:cTn id="65" fill="hold">
                            <p:stCondLst>
                              <p:cond delay="500"/>
                            </p:stCondLst>
                            <p:childTnLst>
                              <p:par>
                                <p:cTn id="66" presetID="9" presetClass="entr" presetSubtype="0" fill="hold" grpId="0" nodeType="afterEffect">
                                  <p:stCondLst>
                                    <p:cond delay="0"/>
                                  </p:stCondLst>
                                  <p:childTnLst>
                                    <p:set>
                                      <p:cBhvr>
                                        <p:cTn id="67" dur="1" fill="hold">
                                          <p:stCondLst>
                                            <p:cond delay="0"/>
                                          </p:stCondLst>
                                        </p:cTn>
                                        <p:tgtEl>
                                          <p:spTgt spid="453637"/>
                                        </p:tgtEl>
                                        <p:attrNameLst>
                                          <p:attrName>style.visibility</p:attrName>
                                        </p:attrNameLst>
                                      </p:cBhvr>
                                      <p:to>
                                        <p:strVal val="visible"/>
                                      </p:to>
                                    </p:set>
                                    <p:animEffect transition="in" filter="dissolve">
                                      <p:cBhvr>
                                        <p:cTn id="68" dur="500"/>
                                        <p:tgtEl>
                                          <p:spTgt spid="453637"/>
                                        </p:tgtEl>
                                      </p:cBhvr>
                                    </p:animEffect>
                                  </p:childTnLst>
                                </p:cTn>
                              </p:par>
                            </p:childTnLst>
                          </p:cTn>
                        </p:par>
                        <p:par>
                          <p:cTn id="69" fill="hold">
                            <p:stCondLst>
                              <p:cond delay="1000"/>
                            </p:stCondLst>
                            <p:childTnLst>
                              <p:par>
                                <p:cTn id="70" presetID="17" presetClass="entr" presetSubtype="8" fill="hold" grpId="0" nodeType="afterEffect">
                                  <p:stCondLst>
                                    <p:cond delay="1000"/>
                                  </p:stCondLst>
                                  <p:childTnLst>
                                    <p:set>
                                      <p:cBhvr>
                                        <p:cTn id="71" dur="1" fill="hold">
                                          <p:stCondLst>
                                            <p:cond delay="0"/>
                                          </p:stCondLst>
                                        </p:cTn>
                                        <p:tgtEl>
                                          <p:spTgt spid="453640"/>
                                        </p:tgtEl>
                                        <p:attrNameLst>
                                          <p:attrName>style.visibility</p:attrName>
                                        </p:attrNameLst>
                                      </p:cBhvr>
                                      <p:to>
                                        <p:strVal val="visible"/>
                                      </p:to>
                                    </p:set>
                                    <p:anim calcmode="lin" valueType="num">
                                      <p:cBhvr>
                                        <p:cTn id="72" dur="500" fill="hold"/>
                                        <p:tgtEl>
                                          <p:spTgt spid="453640"/>
                                        </p:tgtEl>
                                        <p:attrNameLst>
                                          <p:attrName>ppt_x</p:attrName>
                                        </p:attrNameLst>
                                      </p:cBhvr>
                                      <p:tavLst>
                                        <p:tav tm="0">
                                          <p:val>
                                            <p:strVal val="#ppt_x-#ppt_w/2"/>
                                          </p:val>
                                        </p:tav>
                                        <p:tav tm="100000">
                                          <p:val>
                                            <p:strVal val="#ppt_x"/>
                                          </p:val>
                                        </p:tav>
                                      </p:tavLst>
                                    </p:anim>
                                    <p:anim calcmode="lin" valueType="num">
                                      <p:cBhvr>
                                        <p:cTn id="73" dur="500" fill="hold"/>
                                        <p:tgtEl>
                                          <p:spTgt spid="453640"/>
                                        </p:tgtEl>
                                        <p:attrNameLst>
                                          <p:attrName>ppt_y</p:attrName>
                                        </p:attrNameLst>
                                      </p:cBhvr>
                                      <p:tavLst>
                                        <p:tav tm="0">
                                          <p:val>
                                            <p:strVal val="#ppt_y"/>
                                          </p:val>
                                        </p:tav>
                                        <p:tav tm="100000">
                                          <p:val>
                                            <p:strVal val="#ppt_y"/>
                                          </p:val>
                                        </p:tav>
                                      </p:tavLst>
                                    </p:anim>
                                    <p:anim calcmode="lin" valueType="num">
                                      <p:cBhvr>
                                        <p:cTn id="74" dur="500" fill="hold"/>
                                        <p:tgtEl>
                                          <p:spTgt spid="453640"/>
                                        </p:tgtEl>
                                        <p:attrNameLst>
                                          <p:attrName>ppt_w</p:attrName>
                                        </p:attrNameLst>
                                      </p:cBhvr>
                                      <p:tavLst>
                                        <p:tav tm="0">
                                          <p:val>
                                            <p:fltVal val="0"/>
                                          </p:val>
                                        </p:tav>
                                        <p:tav tm="100000">
                                          <p:val>
                                            <p:strVal val="#ppt_w"/>
                                          </p:val>
                                        </p:tav>
                                      </p:tavLst>
                                    </p:anim>
                                    <p:anim calcmode="lin" valueType="num">
                                      <p:cBhvr>
                                        <p:cTn id="75" dur="500" fill="hold"/>
                                        <p:tgtEl>
                                          <p:spTgt spid="453640"/>
                                        </p:tgtEl>
                                        <p:attrNameLst>
                                          <p:attrName>ppt_h</p:attrName>
                                        </p:attrNameLst>
                                      </p:cBhvr>
                                      <p:tavLst>
                                        <p:tav tm="0">
                                          <p:val>
                                            <p:strVal val="#ppt_h"/>
                                          </p:val>
                                        </p:tav>
                                        <p:tav tm="100000">
                                          <p:val>
                                            <p:strVal val="#ppt_h"/>
                                          </p:val>
                                        </p:tav>
                                      </p:tavLst>
                                    </p:anim>
                                  </p:childTnLst>
                                </p:cTn>
                              </p:par>
                            </p:childTnLst>
                          </p:cTn>
                        </p:par>
                        <p:par>
                          <p:cTn id="76" fill="hold">
                            <p:stCondLst>
                              <p:cond delay="2500"/>
                            </p:stCondLst>
                            <p:childTnLst>
                              <p:par>
                                <p:cTn id="77" presetID="9" presetClass="entr" presetSubtype="0" fill="hold" grpId="0" nodeType="afterEffect">
                                  <p:stCondLst>
                                    <p:cond delay="1000"/>
                                  </p:stCondLst>
                                  <p:childTnLst>
                                    <p:set>
                                      <p:cBhvr>
                                        <p:cTn id="78" dur="1" fill="hold">
                                          <p:stCondLst>
                                            <p:cond delay="0"/>
                                          </p:stCondLst>
                                        </p:cTn>
                                        <p:tgtEl>
                                          <p:spTgt spid="453635"/>
                                        </p:tgtEl>
                                        <p:attrNameLst>
                                          <p:attrName>style.visibility</p:attrName>
                                        </p:attrNameLst>
                                      </p:cBhvr>
                                      <p:to>
                                        <p:strVal val="visible"/>
                                      </p:to>
                                    </p:set>
                                    <p:animEffect transition="in" filter="dissolve">
                                      <p:cBhvr>
                                        <p:cTn id="79" dur="500"/>
                                        <p:tgtEl>
                                          <p:spTgt spid="453635"/>
                                        </p:tgtEl>
                                      </p:cBhvr>
                                    </p:animEffect>
                                  </p:childTnLst>
                                </p:cTn>
                              </p:par>
                            </p:childTnLst>
                          </p:cTn>
                        </p:par>
                      </p:childTnLst>
                    </p:cTn>
                  </p:par>
                  <p:par>
                    <p:cTn id="80" fill="hold">
                      <p:stCondLst>
                        <p:cond delay="indefinite"/>
                      </p:stCondLst>
                      <p:childTnLst>
                        <p:par>
                          <p:cTn id="81" fill="hold">
                            <p:stCondLst>
                              <p:cond delay="0"/>
                            </p:stCondLst>
                            <p:childTnLst>
                              <p:par>
                                <p:cTn id="82" presetID="23" presetClass="entr" presetSubtype="16" fill="hold" nodeType="clickEffect">
                                  <p:stCondLst>
                                    <p:cond delay="0"/>
                                  </p:stCondLst>
                                  <p:childTnLst>
                                    <p:set>
                                      <p:cBhvr>
                                        <p:cTn id="83" dur="1" fill="hold">
                                          <p:stCondLst>
                                            <p:cond delay="0"/>
                                          </p:stCondLst>
                                        </p:cTn>
                                        <p:tgtEl>
                                          <p:spTgt spid="453647"/>
                                        </p:tgtEl>
                                        <p:attrNameLst>
                                          <p:attrName>style.visibility</p:attrName>
                                        </p:attrNameLst>
                                      </p:cBhvr>
                                      <p:to>
                                        <p:strVal val="visible"/>
                                      </p:to>
                                    </p:set>
                                    <p:anim calcmode="lin" valueType="num">
                                      <p:cBhvr>
                                        <p:cTn id="84" dur="500" fill="hold"/>
                                        <p:tgtEl>
                                          <p:spTgt spid="453647"/>
                                        </p:tgtEl>
                                        <p:attrNameLst>
                                          <p:attrName>ppt_w</p:attrName>
                                        </p:attrNameLst>
                                      </p:cBhvr>
                                      <p:tavLst>
                                        <p:tav tm="0">
                                          <p:val>
                                            <p:fltVal val="0"/>
                                          </p:val>
                                        </p:tav>
                                        <p:tav tm="100000">
                                          <p:val>
                                            <p:strVal val="#ppt_w"/>
                                          </p:val>
                                        </p:tav>
                                      </p:tavLst>
                                    </p:anim>
                                    <p:anim calcmode="lin" valueType="num">
                                      <p:cBhvr>
                                        <p:cTn id="85" dur="500" fill="hold"/>
                                        <p:tgtEl>
                                          <p:spTgt spid="45364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3634" grpId="0" autoUpdateAnimBg="0"/>
      <p:bldP spid="453635" grpId="0" autoUpdateAnimBg="0"/>
      <p:bldP spid="453636" grpId="0" autoUpdateAnimBg="0"/>
      <p:bldP spid="453637" grpId="0" autoUpdateAnimBg="0"/>
      <p:bldP spid="453638" grpId="0" autoUpdateAnimBg="0"/>
      <p:bldP spid="453639" grpId="0" animBg="1"/>
      <p:bldP spid="453640" grpId="0" animBg="1"/>
      <p:bldP spid="453641" grpId="0" animBg="1"/>
      <p:bldP spid="453642" grpId="0" animBg="1"/>
      <p:bldP spid="453643" grpId="0" animBg="1"/>
      <p:bldP spid="453644" grpId="0" autoUpdateAnimBg="0"/>
      <p:bldP spid="453645" grpId="0" autoUpdateAnimBg="0"/>
      <p:bldP spid="453646"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3"/>
          <p:cNvSpPr txBox="1">
            <a:spLocks noChangeArrowheads="1"/>
          </p:cNvSpPr>
          <p:nvPr/>
        </p:nvSpPr>
        <p:spPr bwMode="auto">
          <a:xfrm>
            <a:off x="908050" y="4319588"/>
            <a:ext cx="2951163" cy="420687"/>
          </a:xfrm>
          <a:prstGeom prst="rect">
            <a:avLst/>
          </a:prstGeom>
          <a:gradFill rotWithShape="1">
            <a:gsLst>
              <a:gs pos="0">
                <a:schemeClr val="hlink">
                  <a:gamma/>
                  <a:tint val="0"/>
                  <a:invGamma/>
                  <a:alpha val="0"/>
                </a:schemeClr>
              </a:gs>
              <a:gs pos="50000">
                <a:schemeClr val="hlink">
                  <a:alpha val="63000"/>
                </a:schemeClr>
              </a:gs>
              <a:gs pos="100000">
                <a:schemeClr val="hlink">
                  <a:gamma/>
                  <a:tint val="0"/>
                  <a:invGamma/>
                  <a:alpha val="0"/>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90000"/>
              </a:lnSpc>
              <a:defRPr/>
            </a:pPr>
            <a:r>
              <a:rPr kumimoji="1" lang="zh-CN" altLang="en-US" sz="2400">
                <a:solidFill>
                  <a:schemeClr val="bg2"/>
                </a:solidFill>
                <a:effectLst>
                  <a:outerShdw blurRad="38100" dist="38100" dir="2700000" algn="tl">
                    <a:srgbClr val="000000"/>
                  </a:outerShdw>
                </a:effectLst>
                <a:latin typeface="Times New Roman" panose="02020603050405020304" pitchFamily="18" charset="0"/>
                <a:ea typeface="隶书" panose="02010509060101010101" pitchFamily="49" charset="-122"/>
              </a:rPr>
              <a:t>晶体管芯结构剖面图</a:t>
            </a:r>
          </a:p>
        </p:txBody>
      </p:sp>
      <p:sp>
        <p:nvSpPr>
          <p:cNvPr id="5124" name="Text Box 4"/>
          <p:cNvSpPr txBox="1">
            <a:spLocks noChangeArrowheads="1"/>
          </p:cNvSpPr>
          <p:nvPr/>
        </p:nvSpPr>
        <p:spPr bwMode="auto">
          <a:xfrm>
            <a:off x="2482850" y="1163638"/>
            <a:ext cx="263525" cy="1001712"/>
          </a:xfrm>
          <a:prstGeom prst="rect">
            <a:avLst/>
          </a:prstGeom>
          <a:gradFill rotWithShape="1">
            <a:gsLst>
              <a:gs pos="0">
                <a:schemeClr val="hlink">
                  <a:alpha val="57001"/>
                </a:schemeClr>
              </a:gs>
              <a:gs pos="100000">
                <a:schemeClr val="hlink">
                  <a:gamma/>
                  <a:tint val="0"/>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eaLnBrk="1" hangingPunct="1">
              <a:lnSpc>
                <a:spcPct val="80000"/>
              </a:lnSpc>
              <a:defRPr/>
            </a:pPr>
            <a:r>
              <a:rPr kumimoji="1" lang="en-US" altLang="zh-CN" sz="2200" b="1" i="1">
                <a:solidFill>
                  <a:schemeClr val="bg2"/>
                </a:solidFill>
                <a:effectLst>
                  <a:outerShdw blurRad="38100" dist="38100" dir="2700000" algn="tl">
                    <a:srgbClr val="000000"/>
                  </a:outerShdw>
                </a:effectLst>
                <a:latin typeface="Times New Roman" panose="02020603050405020304" pitchFamily="18" charset="0"/>
              </a:rPr>
              <a:t>e</a:t>
            </a:r>
            <a:r>
              <a:rPr kumimoji="1" lang="zh-CN" altLang="en-US" sz="2000" b="1">
                <a:solidFill>
                  <a:schemeClr val="bg2"/>
                </a:solidFill>
                <a:effectLst>
                  <a:outerShdw blurRad="38100" dist="38100" dir="2700000" algn="tl">
                    <a:srgbClr val="000000"/>
                  </a:outerShdw>
                </a:effectLst>
                <a:latin typeface="Times New Roman" panose="02020603050405020304" pitchFamily="18" charset="0"/>
              </a:rPr>
              <a:t>发射极</a:t>
            </a:r>
          </a:p>
        </p:txBody>
      </p:sp>
      <p:grpSp>
        <p:nvGrpSpPr>
          <p:cNvPr id="5125" name="Group 5"/>
          <p:cNvGrpSpPr/>
          <p:nvPr/>
        </p:nvGrpSpPr>
        <p:grpSpPr bwMode="auto">
          <a:xfrm>
            <a:off x="857250" y="2320925"/>
            <a:ext cx="3054350" cy="1903413"/>
            <a:chOff x="1758" y="1736"/>
            <a:chExt cx="1924" cy="1199"/>
          </a:xfrm>
        </p:grpSpPr>
        <p:pic>
          <p:nvPicPr>
            <p:cNvPr id="620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8" y="1881"/>
              <a:ext cx="1924" cy="1054"/>
            </a:xfrm>
            <a:prstGeom prst="rect">
              <a:avLst/>
            </a:prstGeom>
            <a:noFill/>
            <a:ln>
              <a:noFill/>
            </a:ln>
            <a:effectLst/>
            <a:extLst>
              <a:ext uri="{909E8E84-426E-40DD-AFC4-6F175D3DCCD1}">
                <a14:hiddenFill xmlns:a14="http://schemas.microsoft.com/office/drawing/2010/main">
                  <a:gradFill rotWithShape="1">
                    <a:gsLst>
                      <a:gs pos="0">
                        <a:schemeClr val="accent1">
                          <a:alpha val="0"/>
                        </a:scheme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01" name="Rectangle 7"/>
            <p:cNvSpPr>
              <a:spLocks noChangeArrowheads="1"/>
            </p:cNvSpPr>
            <p:nvPr/>
          </p:nvSpPr>
          <p:spPr bwMode="auto">
            <a:xfrm>
              <a:off x="1997" y="1736"/>
              <a:ext cx="1458" cy="158"/>
            </a:xfrm>
            <a:prstGeom prst="rect">
              <a:avLst/>
            </a:prstGeom>
            <a:solidFill>
              <a:srgbClr val="CCECFF"/>
            </a:solidFill>
            <a:ln w="28575">
              <a:solidFill>
                <a:srgbClr val="5028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sp>
        <p:nvSpPr>
          <p:cNvPr id="5128" name="Text Box 8"/>
          <p:cNvSpPr txBox="1">
            <a:spLocks noChangeArrowheads="1"/>
          </p:cNvSpPr>
          <p:nvPr/>
        </p:nvSpPr>
        <p:spPr bwMode="auto">
          <a:xfrm>
            <a:off x="1797050" y="3581400"/>
            <a:ext cx="11350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1" hangingPunct="1">
              <a:defRPr/>
            </a:pPr>
            <a:r>
              <a:rPr kumimoji="1" lang="zh-CN" altLang="en-US" sz="2400" b="1">
                <a:solidFill>
                  <a:srgbClr val="0000FF"/>
                </a:solidFill>
                <a:effectLst>
                  <a:outerShdw blurRad="38100" dist="38100" dir="2700000" algn="tl">
                    <a:srgbClr val="C0C0C0"/>
                  </a:outerShdw>
                </a:effectLst>
                <a:latin typeface="Times New Roman" panose="02020603050405020304" pitchFamily="18" charset="0"/>
              </a:rPr>
              <a:t>集电区</a:t>
            </a:r>
            <a:r>
              <a:rPr kumimoji="1" lang="en-US" altLang="zh-CN" sz="2400" b="1">
                <a:solidFill>
                  <a:srgbClr val="0000FF"/>
                </a:solidFill>
                <a:effectLst>
                  <a:outerShdw blurRad="38100" dist="38100" dir="2700000" algn="tl">
                    <a:srgbClr val="C0C0C0"/>
                  </a:outerShdw>
                </a:effectLst>
                <a:latin typeface="Times New Roman" panose="02020603050405020304" pitchFamily="18" charset="0"/>
              </a:rPr>
              <a:t>N</a:t>
            </a:r>
          </a:p>
        </p:txBody>
      </p:sp>
      <p:sp>
        <p:nvSpPr>
          <p:cNvPr id="5129" name="Text Box 9"/>
          <p:cNvSpPr txBox="1">
            <a:spLocks noChangeArrowheads="1"/>
          </p:cNvSpPr>
          <p:nvPr/>
        </p:nvSpPr>
        <p:spPr bwMode="auto">
          <a:xfrm>
            <a:off x="2001838" y="3151188"/>
            <a:ext cx="808037" cy="334962"/>
          </a:xfrm>
          <a:prstGeom prst="rect">
            <a:avLst/>
          </a:prstGeom>
          <a:gradFill rotWithShape="1">
            <a:gsLst>
              <a:gs pos="0">
                <a:schemeClr val="accent1">
                  <a:alpha val="0"/>
                </a:schemeClr>
              </a:gs>
              <a:gs pos="100000">
                <a:schemeClr val="accent1">
                  <a:gamma/>
                  <a:tint val="0"/>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1" hangingPunct="1">
              <a:defRPr/>
            </a:pPr>
            <a:r>
              <a:rPr kumimoji="1" lang="zh-CN" altLang="zh-CN" sz="2200" b="1">
                <a:solidFill>
                  <a:srgbClr val="0000FF"/>
                </a:solidFill>
                <a:effectLst>
                  <a:outerShdw blurRad="38100" dist="38100" dir="2700000" algn="tl">
                    <a:srgbClr val="000000"/>
                  </a:outerShdw>
                </a:effectLst>
                <a:latin typeface="Times New Roman" panose="02020603050405020304" pitchFamily="18" charset="0"/>
              </a:rPr>
              <a:t>基区</a:t>
            </a:r>
            <a:r>
              <a:rPr kumimoji="1" lang="en-US" altLang="zh-CN" sz="2200" b="1">
                <a:solidFill>
                  <a:srgbClr val="0000FF"/>
                </a:solidFill>
                <a:effectLst>
                  <a:outerShdw blurRad="38100" dist="38100" dir="2700000" algn="tl">
                    <a:srgbClr val="000000"/>
                  </a:outerShdw>
                </a:effectLst>
                <a:latin typeface="Times New Roman" panose="02020603050405020304" pitchFamily="18" charset="0"/>
              </a:rPr>
              <a:t>P</a:t>
            </a:r>
          </a:p>
        </p:txBody>
      </p:sp>
      <p:sp>
        <p:nvSpPr>
          <p:cNvPr id="5130" name="Text Box 10"/>
          <p:cNvSpPr txBox="1">
            <a:spLocks noChangeArrowheads="1"/>
          </p:cNvSpPr>
          <p:nvPr/>
        </p:nvSpPr>
        <p:spPr bwMode="auto">
          <a:xfrm>
            <a:off x="1844675" y="2720975"/>
            <a:ext cx="1039813"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1" hangingPunct="1">
              <a:defRPr/>
            </a:pPr>
            <a:r>
              <a:rPr kumimoji="1" lang="zh-CN" altLang="en-US" sz="2200" b="1">
                <a:solidFill>
                  <a:schemeClr val="bg2"/>
                </a:solidFill>
                <a:effectLst>
                  <a:outerShdw blurRad="38100" dist="38100" dir="2700000" algn="tl">
                    <a:srgbClr val="C0C0C0"/>
                  </a:outerShdw>
                </a:effectLst>
                <a:latin typeface="Times New Roman" panose="02020603050405020304" pitchFamily="18" charset="0"/>
              </a:rPr>
              <a:t>发射区</a:t>
            </a:r>
            <a:r>
              <a:rPr kumimoji="1" lang="en-US" altLang="zh-CN" sz="2200" b="1">
                <a:solidFill>
                  <a:schemeClr val="bg2"/>
                </a:solidFill>
                <a:effectLst>
                  <a:outerShdw blurRad="38100" dist="38100" dir="2700000" algn="tl">
                    <a:srgbClr val="C0C0C0"/>
                  </a:outerShdw>
                </a:effectLst>
                <a:latin typeface="Times New Roman" panose="02020603050405020304" pitchFamily="18" charset="0"/>
              </a:rPr>
              <a:t>N</a:t>
            </a:r>
          </a:p>
        </p:txBody>
      </p:sp>
      <p:grpSp>
        <p:nvGrpSpPr>
          <p:cNvPr id="5131" name="Group 11"/>
          <p:cNvGrpSpPr/>
          <p:nvPr/>
        </p:nvGrpSpPr>
        <p:grpSpPr bwMode="auto">
          <a:xfrm>
            <a:off x="2236788" y="1573213"/>
            <a:ext cx="323850" cy="989012"/>
            <a:chOff x="3959" y="1170"/>
            <a:chExt cx="204" cy="623"/>
          </a:xfrm>
        </p:grpSpPr>
        <p:sp>
          <p:nvSpPr>
            <p:cNvPr id="6197" name="Rectangle 12"/>
            <p:cNvSpPr>
              <a:spLocks noChangeArrowheads="1"/>
            </p:cNvSpPr>
            <p:nvPr/>
          </p:nvSpPr>
          <p:spPr bwMode="auto">
            <a:xfrm>
              <a:off x="3959" y="1676"/>
              <a:ext cx="204" cy="117"/>
            </a:xfrm>
            <a:prstGeom prst="rect">
              <a:avLst/>
            </a:prstGeom>
            <a:solidFill>
              <a:srgbClr val="006600"/>
            </a:solidFill>
            <a:ln w="9525">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198" name="Line 13"/>
            <p:cNvSpPr>
              <a:spLocks noChangeShapeType="1"/>
            </p:cNvSpPr>
            <p:nvPr/>
          </p:nvSpPr>
          <p:spPr bwMode="auto">
            <a:xfrm flipV="1">
              <a:off x="4058" y="1244"/>
              <a:ext cx="1" cy="432"/>
            </a:xfrm>
            <a:prstGeom prst="line">
              <a:avLst/>
            </a:prstGeom>
            <a:noFill/>
            <a:ln w="38100">
              <a:solidFill>
                <a:srgbClr val="0058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9" name="Oval 14"/>
            <p:cNvSpPr>
              <a:spLocks noChangeArrowheads="1"/>
            </p:cNvSpPr>
            <p:nvPr/>
          </p:nvSpPr>
          <p:spPr bwMode="auto">
            <a:xfrm>
              <a:off x="4020" y="1170"/>
              <a:ext cx="71" cy="77"/>
            </a:xfrm>
            <a:prstGeom prst="ellipse">
              <a:avLst/>
            </a:prstGeom>
            <a:solidFill>
              <a:schemeClr val="bg1"/>
            </a:solidFill>
            <a:ln w="28575">
              <a:solidFill>
                <a:srgbClr val="0066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grpSp>
        <p:nvGrpSpPr>
          <p:cNvPr id="5135" name="Group 15"/>
          <p:cNvGrpSpPr/>
          <p:nvPr/>
        </p:nvGrpSpPr>
        <p:grpSpPr bwMode="auto">
          <a:xfrm>
            <a:off x="1500188" y="1573213"/>
            <a:ext cx="323850" cy="989012"/>
            <a:chOff x="3959" y="1170"/>
            <a:chExt cx="204" cy="623"/>
          </a:xfrm>
        </p:grpSpPr>
        <p:sp>
          <p:nvSpPr>
            <p:cNvPr id="6194" name="Rectangle 16"/>
            <p:cNvSpPr>
              <a:spLocks noChangeArrowheads="1"/>
            </p:cNvSpPr>
            <p:nvPr/>
          </p:nvSpPr>
          <p:spPr bwMode="auto">
            <a:xfrm>
              <a:off x="3959" y="1676"/>
              <a:ext cx="204" cy="117"/>
            </a:xfrm>
            <a:prstGeom prst="rect">
              <a:avLst/>
            </a:prstGeom>
            <a:solidFill>
              <a:srgbClr val="006600"/>
            </a:solidFill>
            <a:ln w="9525">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195" name="Line 17"/>
            <p:cNvSpPr>
              <a:spLocks noChangeShapeType="1"/>
            </p:cNvSpPr>
            <p:nvPr/>
          </p:nvSpPr>
          <p:spPr bwMode="auto">
            <a:xfrm flipV="1">
              <a:off x="4058" y="1244"/>
              <a:ext cx="1" cy="432"/>
            </a:xfrm>
            <a:prstGeom prst="line">
              <a:avLst/>
            </a:prstGeom>
            <a:noFill/>
            <a:ln w="38100">
              <a:solidFill>
                <a:srgbClr val="0058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6" name="Oval 18"/>
            <p:cNvSpPr>
              <a:spLocks noChangeArrowheads="1"/>
            </p:cNvSpPr>
            <p:nvPr/>
          </p:nvSpPr>
          <p:spPr bwMode="auto">
            <a:xfrm>
              <a:off x="4020" y="1170"/>
              <a:ext cx="71" cy="77"/>
            </a:xfrm>
            <a:prstGeom prst="ellipse">
              <a:avLst/>
            </a:prstGeom>
            <a:solidFill>
              <a:schemeClr val="bg1"/>
            </a:solidFill>
            <a:ln w="28575">
              <a:solidFill>
                <a:srgbClr val="0066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sp>
        <p:nvSpPr>
          <p:cNvPr id="5139" name="Text Box 19"/>
          <p:cNvSpPr txBox="1">
            <a:spLocks noChangeArrowheads="1"/>
          </p:cNvSpPr>
          <p:nvPr/>
        </p:nvSpPr>
        <p:spPr bwMode="auto">
          <a:xfrm>
            <a:off x="1744663" y="1181100"/>
            <a:ext cx="265112" cy="757238"/>
          </a:xfrm>
          <a:prstGeom prst="rect">
            <a:avLst/>
          </a:prstGeom>
          <a:gradFill rotWithShape="1">
            <a:gsLst>
              <a:gs pos="0">
                <a:schemeClr val="hlink">
                  <a:alpha val="57001"/>
                </a:schemeClr>
              </a:gs>
              <a:gs pos="100000">
                <a:schemeClr val="hlink">
                  <a:gamma/>
                  <a:tint val="0"/>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eaLnBrk="1" hangingPunct="1">
              <a:lnSpc>
                <a:spcPct val="80000"/>
              </a:lnSpc>
              <a:defRPr/>
            </a:pPr>
            <a:r>
              <a:rPr kumimoji="1" lang="en-US" altLang="zh-CN" sz="2200" b="1" i="1">
                <a:solidFill>
                  <a:schemeClr val="bg2"/>
                </a:solidFill>
                <a:effectLst>
                  <a:outerShdw blurRad="38100" dist="38100" dir="2700000" algn="tl">
                    <a:srgbClr val="000000"/>
                  </a:outerShdw>
                </a:effectLst>
                <a:latin typeface="Times New Roman" panose="02020603050405020304" pitchFamily="18" charset="0"/>
              </a:rPr>
              <a:t>b</a:t>
            </a:r>
            <a:r>
              <a:rPr kumimoji="1" lang="zh-CN" altLang="en-US" sz="2000" b="1">
                <a:solidFill>
                  <a:schemeClr val="bg2"/>
                </a:solidFill>
                <a:effectLst>
                  <a:outerShdw blurRad="38100" dist="38100" dir="2700000" algn="tl">
                    <a:srgbClr val="000000"/>
                  </a:outerShdw>
                </a:effectLst>
                <a:latin typeface="Times New Roman" panose="02020603050405020304" pitchFamily="18" charset="0"/>
              </a:rPr>
              <a:t>基极</a:t>
            </a:r>
          </a:p>
        </p:txBody>
      </p:sp>
      <p:grpSp>
        <p:nvGrpSpPr>
          <p:cNvPr id="5140" name="Group 20"/>
          <p:cNvGrpSpPr/>
          <p:nvPr/>
        </p:nvGrpSpPr>
        <p:grpSpPr bwMode="auto">
          <a:xfrm>
            <a:off x="3425825" y="1571625"/>
            <a:ext cx="323850" cy="989013"/>
            <a:chOff x="3959" y="1170"/>
            <a:chExt cx="204" cy="623"/>
          </a:xfrm>
        </p:grpSpPr>
        <p:sp>
          <p:nvSpPr>
            <p:cNvPr id="6191" name="Rectangle 21"/>
            <p:cNvSpPr>
              <a:spLocks noChangeArrowheads="1"/>
            </p:cNvSpPr>
            <p:nvPr/>
          </p:nvSpPr>
          <p:spPr bwMode="auto">
            <a:xfrm>
              <a:off x="3959" y="1676"/>
              <a:ext cx="204" cy="117"/>
            </a:xfrm>
            <a:prstGeom prst="rect">
              <a:avLst/>
            </a:prstGeom>
            <a:solidFill>
              <a:srgbClr val="006600"/>
            </a:solidFill>
            <a:ln w="9525">
              <a:solidFill>
                <a:srgbClr val="00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192" name="Line 22"/>
            <p:cNvSpPr>
              <a:spLocks noChangeShapeType="1"/>
            </p:cNvSpPr>
            <p:nvPr/>
          </p:nvSpPr>
          <p:spPr bwMode="auto">
            <a:xfrm flipV="1">
              <a:off x="4058" y="1244"/>
              <a:ext cx="1" cy="432"/>
            </a:xfrm>
            <a:prstGeom prst="line">
              <a:avLst/>
            </a:prstGeom>
            <a:noFill/>
            <a:ln w="38100">
              <a:solidFill>
                <a:srgbClr val="0058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3" name="Oval 23"/>
            <p:cNvSpPr>
              <a:spLocks noChangeArrowheads="1"/>
            </p:cNvSpPr>
            <p:nvPr/>
          </p:nvSpPr>
          <p:spPr bwMode="auto">
            <a:xfrm>
              <a:off x="4020" y="1170"/>
              <a:ext cx="71" cy="77"/>
            </a:xfrm>
            <a:prstGeom prst="ellipse">
              <a:avLst/>
            </a:prstGeom>
            <a:solidFill>
              <a:schemeClr val="bg1"/>
            </a:solidFill>
            <a:ln w="28575">
              <a:solidFill>
                <a:srgbClr val="0066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sp>
        <p:nvSpPr>
          <p:cNvPr id="5144" name="Text Box 24"/>
          <p:cNvSpPr txBox="1">
            <a:spLocks noChangeArrowheads="1"/>
          </p:cNvSpPr>
          <p:nvPr/>
        </p:nvSpPr>
        <p:spPr bwMode="auto">
          <a:xfrm>
            <a:off x="3230563" y="1135063"/>
            <a:ext cx="263525" cy="1001712"/>
          </a:xfrm>
          <a:prstGeom prst="rect">
            <a:avLst/>
          </a:prstGeom>
          <a:gradFill rotWithShape="1">
            <a:gsLst>
              <a:gs pos="0">
                <a:schemeClr val="hlink">
                  <a:alpha val="57001"/>
                </a:schemeClr>
              </a:gs>
              <a:gs pos="100000">
                <a:schemeClr val="hlink">
                  <a:gamma/>
                  <a:tint val="0"/>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eaLnBrk="1" hangingPunct="1">
              <a:lnSpc>
                <a:spcPct val="80000"/>
              </a:lnSpc>
              <a:defRPr/>
            </a:pPr>
            <a:r>
              <a:rPr kumimoji="1" lang="en-US" altLang="zh-CN" sz="2200" b="1" i="1">
                <a:solidFill>
                  <a:schemeClr val="bg2"/>
                </a:solidFill>
                <a:effectLst>
                  <a:outerShdw blurRad="38100" dist="38100" dir="2700000" algn="tl">
                    <a:srgbClr val="000000"/>
                  </a:outerShdw>
                </a:effectLst>
                <a:latin typeface="Times New Roman" panose="02020603050405020304" pitchFamily="18" charset="0"/>
              </a:rPr>
              <a:t>c</a:t>
            </a:r>
            <a:r>
              <a:rPr kumimoji="1" lang="zh-CN" altLang="en-US" sz="2000" b="1">
                <a:solidFill>
                  <a:schemeClr val="bg2"/>
                </a:solidFill>
                <a:effectLst>
                  <a:outerShdw blurRad="38100" dist="38100" dir="2700000" algn="tl">
                    <a:srgbClr val="000000"/>
                  </a:outerShdw>
                </a:effectLst>
                <a:latin typeface="Times New Roman" panose="02020603050405020304" pitchFamily="18" charset="0"/>
              </a:rPr>
              <a:t>集电极</a:t>
            </a:r>
          </a:p>
        </p:txBody>
      </p:sp>
      <p:sp>
        <p:nvSpPr>
          <p:cNvPr id="5145" name="Text Box 25"/>
          <p:cNvSpPr txBox="1">
            <a:spLocks noChangeArrowheads="1"/>
          </p:cNvSpPr>
          <p:nvPr/>
        </p:nvSpPr>
        <p:spPr bwMode="auto">
          <a:xfrm>
            <a:off x="1285876" y="116632"/>
            <a:ext cx="7102547" cy="755650"/>
          </a:xfrm>
          <a:prstGeom prst="rect">
            <a:avLst/>
          </a:prstGeom>
          <a:gradFill rotWithShape="1">
            <a:gsLst>
              <a:gs pos="0">
                <a:srgbClr val="FFFF99"/>
              </a:gs>
              <a:gs pos="100000">
                <a:srgbClr val="FFFF99">
                  <a:gamma/>
                  <a:tint val="0"/>
                  <a:invGamma/>
                  <a:alpha val="0"/>
                </a:srgbClr>
              </a:gs>
            </a:gsLst>
            <a:lin ang="5400000" scaled="1"/>
          </a:gradFill>
          <a:ln>
            <a:noFill/>
          </a:ln>
          <a:effectLst/>
          <a:extLst>
            <a:ext uri="{91240B29-F687-4F45-9708-019B960494DF}">
              <a14:hiddenLine xmlns:a14="http://schemas.microsoft.com/office/drawing/2010/main" w="38100">
                <a:solidFill>
                  <a:srgbClr val="FF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gn="ctr" eaLnBrk="1" hangingPunct="1">
              <a:lnSpc>
                <a:spcPct val="95000"/>
              </a:lnSpc>
              <a:defRPr/>
            </a:pPr>
            <a:r>
              <a:rPr lang="zh-CN" altLang="en-US" sz="2600" dirty="0">
                <a:solidFill>
                  <a:srgbClr val="00005C"/>
                </a:solidFill>
                <a:latin typeface="Times New Roman" panose="02020603050405020304" pitchFamily="18" charset="0"/>
                <a:ea typeface="隶书" panose="02010509060101010101" pitchFamily="49" charset="-122"/>
              </a:rPr>
              <a:t>晶体管实现电流</a:t>
            </a:r>
          </a:p>
          <a:p>
            <a:pPr algn="ctr" eaLnBrk="1" hangingPunct="1">
              <a:lnSpc>
                <a:spcPct val="95000"/>
              </a:lnSpc>
              <a:defRPr/>
            </a:pPr>
            <a:r>
              <a:rPr lang="zh-CN" altLang="en-US" sz="2600" dirty="0">
                <a:solidFill>
                  <a:srgbClr val="00005C"/>
                </a:solidFill>
                <a:latin typeface="Times New Roman" panose="02020603050405020304" pitchFamily="18" charset="0"/>
                <a:ea typeface="隶书" panose="02010509060101010101" pitchFamily="49" charset="-122"/>
              </a:rPr>
              <a:t>放大作用的</a:t>
            </a:r>
            <a:r>
              <a:rPr lang="zh-CN" altLang="en-US" sz="2600" dirty="0">
                <a:solidFill>
                  <a:srgbClr val="FF0066"/>
                </a:solidFill>
                <a:effectLst>
                  <a:outerShdw blurRad="38100" dist="38100" dir="2700000" algn="tl">
                    <a:srgbClr val="000000"/>
                  </a:outerShdw>
                </a:effectLst>
                <a:latin typeface="Times New Roman" panose="02020603050405020304" pitchFamily="18" charset="0"/>
                <a:ea typeface="方正舒体" panose="02010601030101010101" pitchFamily="2" charset="-122"/>
              </a:rPr>
              <a:t>内部结构条件</a:t>
            </a:r>
          </a:p>
        </p:txBody>
      </p:sp>
      <p:grpSp>
        <p:nvGrpSpPr>
          <p:cNvPr id="5146" name="Group 26"/>
          <p:cNvGrpSpPr/>
          <p:nvPr/>
        </p:nvGrpSpPr>
        <p:grpSpPr bwMode="auto">
          <a:xfrm>
            <a:off x="1863725" y="2581275"/>
            <a:ext cx="1090613" cy="588963"/>
            <a:chOff x="1174" y="1626"/>
            <a:chExt cx="687" cy="371"/>
          </a:xfrm>
        </p:grpSpPr>
        <p:sp>
          <p:nvSpPr>
            <p:cNvPr id="6180" name="Oval 27"/>
            <p:cNvSpPr>
              <a:spLocks noChangeArrowheads="1"/>
            </p:cNvSpPr>
            <p:nvPr/>
          </p:nvSpPr>
          <p:spPr bwMode="auto">
            <a:xfrm>
              <a:off x="1623" y="1733"/>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181" name="Oval 28"/>
            <p:cNvSpPr>
              <a:spLocks noChangeArrowheads="1"/>
            </p:cNvSpPr>
            <p:nvPr/>
          </p:nvSpPr>
          <p:spPr bwMode="auto">
            <a:xfrm>
              <a:off x="1479" y="1794"/>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182" name="Oval 29"/>
            <p:cNvSpPr>
              <a:spLocks noChangeArrowheads="1"/>
            </p:cNvSpPr>
            <p:nvPr/>
          </p:nvSpPr>
          <p:spPr bwMode="auto">
            <a:xfrm>
              <a:off x="1743" y="1836"/>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183" name="Oval 30"/>
            <p:cNvSpPr>
              <a:spLocks noChangeArrowheads="1"/>
            </p:cNvSpPr>
            <p:nvPr/>
          </p:nvSpPr>
          <p:spPr bwMode="auto">
            <a:xfrm>
              <a:off x="1525" y="1646"/>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184" name="Oval 31"/>
            <p:cNvSpPr>
              <a:spLocks noChangeArrowheads="1"/>
            </p:cNvSpPr>
            <p:nvPr/>
          </p:nvSpPr>
          <p:spPr bwMode="auto">
            <a:xfrm>
              <a:off x="1189" y="1856"/>
              <a:ext cx="114" cy="113"/>
            </a:xfrm>
            <a:prstGeom prst="ellipse">
              <a:avLst/>
            </a:prstGeom>
            <a:solidFill>
              <a:schemeClr val="bg1"/>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185" name="Oval 32"/>
            <p:cNvSpPr>
              <a:spLocks noChangeArrowheads="1"/>
            </p:cNvSpPr>
            <p:nvPr/>
          </p:nvSpPr>
          <p:spPr bwMode="auto">
            <a:xfrm>
              <a:off x="1174" y="1655"/>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186" name="Oval 33"/>
            <p:cNvSpPr>
              <a:spLocks noChangeArrowheads="1"/>
            </p:cNvSpPr>
            <p:nvPr/>
          </p:nvSpPr>
          <p:spPr bwMode="auto">
            <a:xfrm>
              <a:off x="1747" y="1647"/>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187" name="Oval 34"/>
            <p:cNvSpPr>
              <a:spLocks noChangeArrowheads="1"/>
            </p:cNvSpPr>
            <p:nvPr/>
          </p:nvSpPr>
          <p:spPr bwMode="auto">
            <a:xfrm>
              <a:off x="1309" y="1760"/>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188" name="Oval 35"/>
            <p:cNvSpPr>
              <a:spLocks noChangeArrowheads="1"/>
            </p:cNvSpPr>
            <p:nvPr/>
          </p:nvSpPr>
          <p:spPr bwMode="auto">
            <a:xfrm>
              <a:off x="1620" y="1881"/>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189" name="Oval 36"/>
            <p:cNvSpPr>
              <a:spLocks noChangeArrowheads="1"/>
            </p:cNvSpPr>
            <p:nvPr/>
          </p:nvSpPr>
          <p:spPr bwMode="auto">
            <a:xfrm>
              <a:off x="1377" y="1884"/>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190" name="Oval 37"/>
            <p:cNvSpPr>
              <a:spLocks noChangeArrowheads="1"/>
            </p:cNvSpPr>
            <p:nvPr/>
          </p:nvSpPr>
          <p:spPr bwMode="auto">
            <a:xfrm>
              <a:off x="1335" y="1626"/>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sp>
        <p:nvSpPr>
          <p:cNvPr id="5158" name="Text Box 38"/>
          <p:cNvSpPr txBox="1">
            <a:spLocks noChangeArrowheads="1"/>
          </p:cNvSpPr>
          <p:nvPr/>
        </p:nvSpPr>
        <p:spPr bwMode="auto">
          <a:xfrm>
            <a:off x="4075113" y="1957388"/>
            <a:ext cx="4465637" cy="730250"/>
          </a:xfrm>
          <a:prstGeom prst="rect">
            <a:avLst/>
          </a:prstGeom>
          <a:noFill/>
          <a:ln>
            <a:noFill/>
          </a:ln>
          <a:effectLst/>
          <a:extLst>
            <a:ext uri="{909E8E84-426E-40DD-AFC4-6F175D3DCCD1}">
              <a14:hiddenFill xmlns:a14="http://schemas.microsoft.com/office/drawing/2010/main">
                <a:gradFill rotWithShape="1">
                  <a:gsLst>
                    <a:gs pos="0">
                      <a:srgbClr val="CCFF99">
                        <a:gamma/>
                        <a:tint val="0"/>
                        <a:invGamma/>
                        <a:alpha val="0"/>
                      </a:srgbClr>
                    </a:gs>
                    <a:gs pos="50000">
                      <a:srgbClr val="CCFF99"/>
                    </a:gs>
                    <a:gs pos="100000">
                      <a:srgbClr val="CCFF99">
                        <a:gamma/>
                        <a:tint val="0"/>
                        <a:invGamma/>
                        <a:alpha val="0"/>
                      </a:srgb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1" hangingPunct="1">
              <a:defRPr/>
            </a:pPr>
            <a:r>
              <a:rPr kumimoji="1" lang="en-US" altLang="zh-CN" sz="2400">
                <a:solidFill>
                  <a:srgbClr val="000042"/>
                </a:solidFill>
                <a:latin typeface="隶书" panose="02010509060101010101" pitchFamily="49" charset="-122"/>
                <a:ea typeface="隶书" panose="02010509060101010101" pitchFamily="49" charset="-122"/>
              </a:rPr>
              <a:t>(1)</a:t>
            </a:r>
            <a:r>
              <a:rPr kumimoji="1" lang="zh-CN" altLang="en-US" sz="2400">
                <a:solidFill>
                  <a:srgbClr val="000042"/>
                </a:solidFill>
                <a:latin typeface="隶书" panose="02010509060101010101" pitchFamily="49" charset="-122"/>
                <a:ea typeface="隶书" panose="02010509060101010101" pitchFamily="49" charset="-122"/>
              </a:rPr>
              <a:t>发射区掺杂浓度很高，以便有</a:t>
            </a:r>
          </a:p>
          <a:p>
            <a:pPr eaLnBrk="1" hangingPunct="1">
              <a:defRPr/>
            </a:pPr>
            <a:r>
              <a:rPr kumimoji="1" lang="zh-CN" altLang="en-US" sz="2400">
                <a:solidFill>
                  <a:srgbClr val="000042"/>
                </a:solidFill>
                <a:latin typeface="隶书" panose="02010509060101010101" pitchFamily="49" charset="-122"/>
                <a:ea typeface="隶书" panose="02010509060101010101" pitchFamily="49" charset="-122"/>
              </a:rPr>
              <a:t>足够的载流子供</a:t>
            </a:r>
            <a:r>
              <a:rPr kumimoji="1" lang="zh-CN" altLang="en-US" sz="2400">
                <a:solidFill>
                  <a:srgbClr val="000042"/>
                </a:solidFill>
                <a:latin typeface="Times New Roman" panose="02020603050405020304" pitchFamily="18" charset="0"/>
                <a:ea typeface="隶书" panose="02010509060101010101" pitchFamily="49" charset="-122"/>
              </a:rPr>
              <a:t>“</a:t>
            </a:r>
            <a:r>
              <a:rPr kumimoji="1" lang="zh-CN" altLang="en-US" sz="2400">
                <a:solidFill>
                  <a:srgbClr val="A40000"/>
                </a:solidFill>
                <a:latin typeface="隶书" panose="02010509060101010101" pitchFamily="49" charset="-122"/>
                <a:ea typeface="隶书" panose="02010509060101010101" pitchFamily="49" charset="-122"/>
              </a:rPr>
              <a:t>发射</a:t>
            </a:r>
            <a:r>
              <a:rPr kumimoji="1" lang="zh-CN" altLang="en-US" sz="2400">
                <a:solidFill>
                  <a:srgbClr val="000042"/>
                </a:solidFill>
                <a:latin typeface="Times New Roman" panose="02020603050405020304" pitchFamily="18" charset="0"/>
                <a:ea typeface="隶书" panose="02010509060101010101" pitchFamily="49" charset="-122"/>
              </a:rPr>
              <a:t>”</a:t>
            </a:r>
            <a:r>
              <a:rPr kumimoji="1" lang="zh-CN" altLang="en-US" sz="2400">
                <a:solidFill>
                  <a:srgbClr val="000042"/>
                </a:solidFill>
                <a:latin typeface="隶书" panose="02010509060101010101" pitchFamily="49" charset="-122"/>
                <a:ea typeface="隶书" panose="02010509060101010101" pitchFamily="49" charset="-122"/>
              </a:rPr>
              <a:t>。</a:t>
            </a:r>
          </a:p>
        </p:txBody>
      </p:sp>
      <p:grpSp>
        <p:nvGrpSpPr>
          <p:cNvPr id="5159" name="Group 39"/>
          <p:cNvGrpSpPr/>
          <p:nvPr/>
        </p:nvGrpSpPr>
        <p:grpSpPr bwMode="auto">
          <a:xfrm>
            <a:off x="1576388" y="2701925"/>
            <a:ext cx="1654175" cy="687388"/>
            <a:chOff x="993" y="1702"/>
            <a:chExt cx="1042" cy="433"/>
          </a:xfrm>
        </p:grpSpPr>
        <p:sp>
          <p:nvSpPr>
            <p:cNvPr id="6177" name="Oval 40"/>
            <p:cNvSpPr>
              <a:spLocks noChangeArrowheads="1"/>
            </p:cNvSpPr>
            <p:nvPr/>
          </p:nvSpPr>
          <p:spPr bwMode="auto">
            <a:xfrm>
              <a:off x="1762" y="2040"/>
              <a:ext cx="97" cy="95"/>
            </a:xfrm>
            <a:prstGeom prst="ellipse">
              <a:avLst/>
            </a:prstGeom>
            <a:solidFill>
              <a:schemeClr val="bg1"/>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178" name="Oval 41"/>
            <p:cNvSpPr>
              <a:spLocks noChangeArrowheads="1"/>
            </p:cNvSpPr>
            <p:nvPr/>
          </p:nvSpPr>
          <p:spPr bwMode="auto">
            <a:xfrm>
              <a:off x="993" y="1886"/>
              <a:ext cx="97" cy="104"/>
            </a:xfrm>
            <a:prstGeom prst="ellipse">
              <a:avLst/>
            </a:prstGeom>
            <a:solidFill>
              <a:schemeClr val="bg1"/>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179" name="Oval 42"/>
            <p:cNvSpPr>
              <a:spLocks noChangeArrowheads="1"/>
            </p:cNvSpPr>
            <p:nvPr/>
          </p:nvSpPr>
          <p:spPr bwMode="auto">
            <a:xfrm>
              <a:off x="1938" y="1702"/>
              <a:ext cx="97" cy="96"/>
            </a:xfrm>
            <a:prstGeom prst="ellipse">
              <a:avLst/>
            </a:prstGeom>
            <a:solidFill>
              <a:schemeClr val="bg1"/>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sp>
        <p:nvSpPr>
          <p:cNvPr id="5163" name="Text Box 43"/>
          <p:cNvSpPr txBox="1">
            <a:spLocks noChangeArrowheads="1"/>
          </p:cNvSpPr>
          <p:nvPr/>
        </p:nvSpPr>
        <p:spPr bwMode="auto">
          <a:xfrm>
            <a:off x="4100513" y="2778125"/>
            <a:ext cx="4435475" cy="1095375"/>
          </a:xfrm>
          <a:prstGeom prst="rect">
            <a:avLst/>
          </a:prstGeom>
          <a:noFill/>
          <a:ln>
            <a:noFill/>
          </a:ln>
          <a:effectLst/>
          <a:extLst>
            <a:ext uri="{909E8E84-426E-40DD-AFC4-6F175D3DCCD1}">
              <a14:hiddenFill xmlns:a14="http://schemas.microsoft.com/office/drawing/2010/main">
                <a:gradFill rotWithShape="1">
                  <a:gsLst>
                    <a:gs pos="0">
                      <a:schemeClr val="accent1">
                        <a:alpha val="62000"/>
                      </a:scheme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400">
                <a:solidFill>
                  <a:srgbClr val="000042"/>
                </a:solidFill>
                <a:latin typeface="隶书" panose="02010509060101010101" pitchFamily="49" charset="-122"/>
                <a:ea typeface="隶书" panose="02010509060101010101" pitchFamily="49" charset="-122"/>
              </a:rPr>
              <a:t>(2)</a:t>
            </a:r>
            <a:r>
              <a:rPr kumimoji="1" lang="zh-CN" altLang="en-US" sz="2400">
                <a:solidFill>
                  <a:srgbClr val="000042"/>
                </a:solidFill>
                <a:latin typeface="隶书" panose="02010509060101010101" pitchFamily="49" charset="-122"/>
                <a:ea typeface="隶书" panose="02010509060101010101" pitchFamily="49" charset="-122"/>
              </a:rPr>
              <a:t>为</a:t>
            </a:r>
            <a:r>
              <a:rPr kumimoji="1" lang="zh-CN" altLang="en-US" sz="2400">
                <a:solidFill>
                  <a:srgbClr val="000042"/>
                </a:solidFill>
                <a:latin typeface="Times New Roman" panose="02020603050405020304" pitchFamily="18" charset="0"/>
                <a:ea typeface="隶书" panose="02010509060101010101" pitchFamily="49" charset="-122"/>
              </a:rPr>
              <a:t>减少载流子在基区的</a:t>
            </a:r>
            <a:r>
              <a:rPr kumimoji="1" lang="zh-CN" altLang="en-US" sz="2400">
                <a:solidFill>
                  <a:srgbClr val="A40000"/>
                </a:solidFill>
                <a:latin typeface="Times New Roman" panose="02020603050405020304" pitchFamily="18" charset="0"/>
                <a:ea typeface="隶书" panose="02010509060101010101" pitchFamily="49" charset="-122"/>
              </a:rPr>
              <a:t>复合</a:t>
            </a:r>
            <a:r>
              <a:rPr kumimoji="1" lang="zh-CN" altLang="en-US" sz="2400">
                <a:solidFill>
                  <a:srgbClr val="000042"/>
                </a:solidFill>
                <a:latin typeface="Times New Roman" panose="02020603050405020304" pitchFamily="18" charset="0"/>
                <a:ea typeface="隶书" panose="02010509060101010101" pitchFamily="49" charset="-122"/>
              </a:rPr>
              <a:t>机</a:t>
            </a:r>
          </a:p>
          <a:p>
            <a:pPr algn="l" eaLnBrk="1" hangingPunct="1"/>
            <a:r>
              <a:rPr kumimoji="1" lang="zh-CN" altLang="en-US" sz="2400">
                <a:solidFill>
                  <a:srgbClr val="000042"/>
                </a:solidFill>
                <a:latin typeface="Times New Roman" panose="02020603050405020304" pitchFamily="18" charset="0"/>
                <a:ea typeface="隶书" panose="02010509060101010101" pitchFamily="49" charset="-122"/>
              </a:rPr>
              <a:t>会，基区做得很薄，一般为几个</a:t>
            </a:r>
          </a:p>
          <a:p>
            <a:pPr algn="l" eaLnBrk="1" hangingPunct="1"/>
            <a:r>
              <a:rPr kumimoji="1" lang="zh-CN" altLang="en-US" sz="2400">
                <a:solidFill>
                  <a:srgbClr val="000042"/>
                </a:solidFill>
                <a:latin typeface="Times New Roman" panose="02020603050405020304" pitchFamily="18" charset="0"/>
                <a:ea typeface="隶书" panose="02010509060101010101" pitchFamily="49" charset="-122"/>
              </a:rPr>
              <a:t>微米，且掺杂浓度极低。</a:t>
            </a:r>
          </a:p>
        </p:txBody>
      </p:sp>
      <p:sp>
        <p:nvSpPr>
          <p:cNvPr id="5164" name="Text Box 44"/>
          <p:cNvSpPr txBox="1">
            <a:spLocks noChangeArrowheads="1"/>
          </p:cNvSpPr>
          <p:nvPr/>
        </p:nvSpPr>
        <p:spPr bwMode="auto">
          <a:xfrm>
            <a:off x="4086225" y="3963988"/>
            <a:ext cx="4541838" cy="1042987"/>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n-US" altLang="zh-CN" sz="2400">
                <a:solidFill>
                  <a:srgbClr val="000042"/>
                </a:solidFill>
                <a:latin typeface="隶书" panose="02010509060101010101" pitchFamily="49" charset="-122"/>
                <a:ea typeface="隶书" panose="02010509060101010101" pitchFamily="49" charset="-122"/>
              </a:rPr>
              <a:t>(3)</a:t>
            </a:r>
            <a:r>
              <a:rPr kumimoji="1" lang="zh-CN" altLang="en-US" sz="2400">
                <a:solidFill>
                  <a:srgbClr val="000042"/>
                </a:solidFill>
                <a:latin typeface="Times New Roman" panose="02020603050405020304" pitchFamily="18" charset="0"/>
                <a:ea typeface="隶书" panose="02010509060101010101" pitchFamily="49" charset="-122"/>
              </a:rPr>
              <a:t>集电区体积较大，且为了顺利</a:t>
            </a:r>
          </a:p>
          <a:p>
            <a:pPr algn="l" eaLnBrk="1" hangingPunct="1">
              <a:lnSpc>
                <a:spcPct val="95000"/>
              </a:lnSpc>
            </a:pPr>
            <a:r>
              <a:rPr kumimoji="1" lang="zh-CN" altLang="en-US" sz="2400">
                <a:solidFill>
                  <a:srgbClr val="A40000"/>
                </a:solidFill>
                <a:latin typeface="Times New Roman" panose="02020603050405020304" pitchFamily="18" charset="0"/>
                <a:ea typeface="隶书" panose="02010509060101010101" pitchFamily="49" charset="-122"/>
              </a:rPr>
              <a:t>收集</a:t>
            </a:r>
            <a:r>
              <a:rPr kumimoji="1" lang="zh-CN" altLang="en-US" sz="2400">
                <a:solidFill>
                  <a:srgbClr val="000042"/>
                </a:solidFill>
                <a:latin typeface="Times New Roman" panose="02020603050405020304" pitchFamily="18" charset="0"/>
                <a:ea typeface="隶书" panose="02010509060101010101" pitchFamily="49" charset="-122"/>
              </a:rPr>
              <a:t>边缘载流子，掺杂浓度界于</a:t>
            </a:r>
          </a:p>
          <a:p>
            <a:pPr algn="l" eaLnBrk="1" hangingPunct="1">
              <a:lnSpc>
                <a:spcPct val="95000"/>
              </a:lnSpc>
            </a:pPr>
            <a:r>
              <a:rPr kumimoji="1" lang="zh-CN" altLang="en-US" sz="2400">
                <a:solidFill>
                  <a:srgbClr val="000042"/>
                </a:solidFill>
                <a:latin typeface="Times New Roman" panose="02020603050405020304" pitchFamily="18" charset="0"/>
                <a:ea typeface="隶书" panose="02010509060101010101" pitchFamily="49" charset="-122"/>
              </a:rPr>
              <a:t>发射极和基极之间。</a:t>
            </a:r>
          </a:p>
        </p:txBody>
      </p:sp>
      <p:sp>
        <p:nvSpPr>
          <p:cNvPr id="5165" name="Text Box 45"/>
          <p:cNvSpPr txBox="1">
            <a:spLocks noChangeArrowheads="1"/>
          </p:cNvSpPr>
          <p:nvPr/>
        </p:nvSpPr>
        <p:spPr bwMode="auto">
          <a:xfrm>
            <a:off x="635000" y="5062538"/>
            <a:ext cx="8004175" cy="1107996"/>
          </a:xfrm>
          <a:prstGeom prst="rect">
            <a:avLst/>
          </a:prstGeom>
          <a:gradFill rotWithShape="1">
            <a:gsLst>
              <a:gs pos="0">
                <a:srgbClr val="FFFFFF">
                  <a:alpha val="0"/>
                </a:srgbClr>
              </a:gs>
              <a:gs pos="100000">
                <a:srgbClr val="FFFF99"/>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400" dirty="0">
                <a:solidFill>
                  <a:srgbClr val="000042"/>
                </a:solidFill>
                <a:latin typeface="Times New Roman" panose="02020603050405020304" pitchFamily="18" charset="0"/>
                <a:ea typeface="隶书" panose="02010509060101010101" pitchFamily="49" charset="-122"/>
              </a:rPr>
              <a:t>    </a:t>
            </a:r>
            <a:r>
              <a:rPr kumimoji="1" lang="zh-CN" altLang="en-US" sz="2400" dirty="0">
                <a:solidFill>
                  <a:srgbClr val="000042"/>
                </a:solidFill>
                <a:latin typeface="Times New Roman" panose="02020603050405020304" pitchFamily="18" charset="0"/>
                <a:ea typeface="隶书" panose="02010509060101010101" pitchFamily="49" charset="-122"/>
              </a:rPr>
              <a:t>可见，三极管并非是两个</a:t>
            </a:r>
            <a:r>
              <a:rPr kumimoji="1" lang="en-US" altLang="zh-CN" sz="2400" dirty="0">
                <a:solidFill>
                  <a:srgbClr val="000042"/>
                </a:solidFill>
                <a:latin typeface="Times New Roman" panose="02020603050405020304" pitchFamily="18" charset="0"/>
                <a:ea typeface="隶书" panose="02010509060101010101" pitchFamily="49" charset="-122"/>
              </a:rPr>
              <a:t>PN </a:t>
            </a:r>
            <a:r>
              <a:rPr kumimoji="1" lang="zh-CN" altLang="en-US" sz="2400" dirty="0">
                <a:solidFill>
                  <a:srgbClr val="000042"/>
                </a:solidFill>
                <a:latin typeface="Times New Roman" panose="02020603050405020304" pitchFamily="18" charset="0"/>
                <a:ea typeface="隶书" panose="02010509060101010101" pitchFamily="49" charset="-122"/>
              </a:rPr>
              <a:t>结的简单组合，而是利用一定的掺杂工艺制作而成。因此，绝不能用两个二极管来代替，使用时也决不允许把发射极和集电极接反。</a:t>
            </a:r>
          </a:p>
        </p:txBody>
      </p:sp>
      <p:grpSp>
        <p:nvGrpSpPr>
          <p:cNvPr id="5166" name="Group 46"/>
          <p:cNvGrpSpPr/>
          <p:nvPr/>
        </p:nvGrpSpPr>
        <p:grpSpPr bwMode="auto">
          <a:xfrm>
            <a:off x="979488" y="2857500"/>
            <a:ext cx="2765425" cy="1260475"/>
            <a:chOff x="617" y="1800"/>
            <a:chExt cx="1742" cy="794"/>
          </a:xfrm>
        </p:grpSpPr>
        <p:sp>
          <p:nvSpPr>
            <p:cNvPr id="6168" name="Oval 47"/>
            <p:cNvSpPr>
              <a:spLocks noChangeArrowheads="1"/>
            </p:cNvSpPr>
            <p:nvPr/>
          </p:nvSpPr>
          <p:spPr bwMode="auto">
            <a:xfrm>
              <a:off x="1202" y="2481"/>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169" name="Oval 48"/>
            <p:cNvSpPr>
              <a:spLocks noChangeArrowheads="1"/>
            </p:cNvSpPr>
            <p:nvPr/>
          </p:nvSpPr>
          <p:spPr bwMode="auto">
            <a:xfrm>
              <a:off x="2245" y="2285"/>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170" name="Oval 49"/>
            <p:cNvSpPr>
              <a:spLocks noChangeArrowheads="1"/>
            </p:cNvSpPr>
            <p:nvPr/>
          </p:nvSpPr>
          <p:spPr bwMode="auto">
            <a:xfrm>
              <a:off x="1761" y="2253"/>
              <a:ext cx="114" cy="113"/>
            </a:xfrm>
            <a:prstGeom prst="ellipse">
              <a:avLst/>
            </a:prstGeom>
            <a:solidFill>
              <a:schemeClr val="bg1"/>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171" name="Oval 50"/>
            <p:cNvSpPr>
              <a:spLocks noChangeArrowheads="1"/>
            </p:cNvSpPr>
            <p:nvPr/>
          </p:nvSpPr>
          <p:spPr bwMode="auto">
            <a:xfrm>
              <a:off x="2224" y="1860"/>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172" name="Oval 51"/>
            <p:cNvSpPr>
              <a:spLocks noChangeArrowheads="1"/>
            </p:cNvSpPr>
            <p:nvPr/>
          </p:nvSpPr>
          <p:spPr bwMode="auto">
            <a:xfrm>
              <a:off x="617" y="2216"/>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173" name="Oval 52"/>
            <p:cNvSpPr>
              <a:spLocks noChangeArrowheads="1"/>
            </p:cNvSpPr>
            <p:nvPr/>
          </p:nvSpPr>
          <p:spPr bwMode="auto">
            <a:xfrm>
              <a:off x="642" y="1800"/>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174" name="Oval 53"/>
            <p:cNvSpPr>
              <a:spLocks noChangeArrowheads="1"/>
            </p:cNvSpPr>
            <p:nvPr/>
          </p:nvSpPr>
          <p:spPr bwMode="auto">
            <a:xfrm>
              <a:off x="810" y="2001"/>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175" name="Oval 54"/>
            <p:cNvSpPr>
              <a:spLocks noChangeArrowheads="1"/>
            </p:cNvSpPr>
            <p:nvPr/>
          </p:nvSpPr>
          <p:spPr bwMode="auto">
            <a:xfrm>
              <a:off x="869" y="2425"/>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176" name="Oval 55"/>
            <p:cNvSpPr>
              <a:spLocks noChangeArrowheads="1"/>
            </p:cNvSpPr>
            <p:nvPr/>
          </p:nvSpPr>
          <p:spPr bwMode="auto">
            <a:xfrm>
              <a:off x="1918" y="2453"/>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125"/>
                                        </p:tgtEl>
                                        <p:attrNameLst>
                                          <p:attrName>style.visibility</p:attrName>
                                        </p:attrNameLst>
                                      </p:cBhvr>
                                      <p:to>
                                        <p:strVal val="visible"/>
                                      </p:to>
                                    </p:set>
                                    <p:animEffect transition="in" filter="box(in)">
                                      <p:cBhvr>
                                        <p:cTn id="7" dur="1000"/>
                                        <p:tgtEl>
                                          <p:spTgt spid="5125"/>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32" fill="hold" grpId="0" nodeType="clickEffect">
                                  <p:stCondLst>
                                    <p:cond delay="0"/>
                                  </p:stCondLst>
                                  <p:childTnLst>
                                    <p:set>
                                      <p:cBhvr>
                                        <p:cTn id="11" dur="1" fill="hold">
                                          <p:stCondLst>
                                            <p:cond delay="0"/>
                                          </p:stCondLst>
                                        </p:cTn>
                                        <p:tgtEl>
                                          <p:spTgt spid="5128"/>
                                        </p:tgtEl>
                                        <p:attrNameLst>
                                          <p:attrName>style.visibility</p:attrName>
                                        </p:attrNameLst>
                                      </p:cBhvr>
                                      <p:to>
                                        <p:strVal val="visible"/>
                                      </p:to>
                                    </p:set>
                                    <p:anim calcmode="lin" valueType="num">
                                      <p:cBhvr>
                                        <p:cTn id="12" dur="1000" fill="hold"/>
                                        <p:tgtEl>
                                          <p:spTgt spid="5128"/>
                                        </p:tgtEl>
                                        <p:attrNameLst>
                                          <p:attrName>ppt_w</p:attrName>
                                        </p:attrNameLst>
                                      </p:cBhvr>
                                      <p:tavLst>
                                        <p:tav tm="0">
                                          <p:val>
                                            <p:strVal val="4*#ppt_w"/>
                                          </p:val>
                                        </p:tav>
                                        <p:tav tm="100000">
                                          <p:val>
                                            <p:strVal val="#ppt_w"/>
                                          </p:val>
                                        </p:tav>
                                      </p:tavLst>
                                    </p:anim>
                                    <p:anim calcmode="lin" valueType="num">
                                      <p:cBhvr>
                                        <p:cTn id="13" dur="1000" fill="hold"/>
                                        <p:tgtEl>
                                          <p:spTgt spid="5128"/>
                                        </p:tgtEl>
                                        <p:attrNameLst>
                                          <p:attrName>ppt_h</p:attrName>
                                        </p:attrNameLst>
                                      </p:cBhvr>
                                      <p:tavLst>
                                        <p:tav tm="0">
                                          <p:val>
                                            <p:strVal val="4*#ppt_h"/>
                                          </p:val>
                                        </p:tav>
                                        <p:tav tm="100000">
                                          <p:val>
                                            <p:strVal val="#ppt_h"/>
                                          </p:val>
                                        </p:tav>
                                      </p:tavLst>
                                    </p:anim>
                                  </p:childTnLst>
                                </p:cTn>
                              </p:par>
                            </p:childTnLst>
                          </p:cTn>
                        </p:par>
                        <p:par>
                          <p:cTn id="14" fill="hold">
                            <p:stCondLst>
                              <p:cond delay="1000"/>
                            </p:stCondLst>
                            <p:childTnLst>
                              <p:par>
                                <p:cTn id="15" presetID="23" presetClass="entr" presetSubtype="32" fill="hold" grpId="0" nodeType="afterEffect">
                                  <p:stCondLst>
                                    <p:cond delay="0"/>
                                  </p:stCondLst>
                                  <p:childTnLst>
                                    <p:set>
                                      <p:cBhvr>
                                        <p:cTn id="16" dur="1" fill="hold">
                                          <p:stCondLst>
                                            <p:cond delay="0"/>
                                          </p:stCondLst>
                                        </p:cTn>
                                        <p:tgtEl>
                                          <p:spTgt spid="5129"/>
                                        </p:tgtEl>
                                        <p:attrNameLst>
                                          <p:attrName>style.visibility</p:attrName>
                                        </p:attrNameLst>
                                      </p:cBhvr>
                                      <p:to>
                                        <p:strVal val="visible"/>
                                      </p:to>
                                    </p:set>
                                    <p:anim calcmode="lin" valueType="num">
                                      <p:cBhvr>
                                        <p:cTn id="17" dur="1000" fill="hold"/>
                                        <p:tgtEl>
                                          <p:spTgt spid="5129"/>
                                        </p:tgtEl>
                                        <p:attrNameLst>
                                          <p:attrName>ppt_w</p:attrName>
                                        </p:attrNameLst>
                                      </p:cBhvr>
                                      <p:tavLst>
                                        <p:tav tm="0">
                                          <p:val>
                                            <p:strVal val="4*#ppt_w"/>
                                          </p:val>
                                        </p:tav>
                                        <p:tav tm="100000">
                                          <p:val>
                                            <p:strVal val="#ppt_w"/>
                                          </p:val>
                                        </p:tav>
                                      </p:tavLst>
                                    </p:anim>
                                    <p:anim calcmode="lin" valueType="num">
                                      <p:cBhvr>
                                        <p:cTn id="18" dur="1000" fill="hold"/>
                                        <p:tgtEl>
                                          <p:spTgt spid="5129"/>
                                        </p:tgtEl>
                                        <p:attrNameLst>
                                          <p:attrName>ppt_h</p:attrName>
                                        </p:attrNameLst>
                                      </p:cBhvr>
                                      <p:tavLst>
                                        <p:tav tm="0">
                                          <p:val>
                                            <p:strVal val="4*#ppt_h"/>
                                          </p:val>
                                        </p:tav>
                                        <p:tav tm="100000">
                                          <p:val>
                                            <p:strVal val="#ppt_h"/>
                                          </p:val>
                                        </p:tav>
                                      </p:tavLst>
                                    </p:anim>
                                  </p:childTnLst>
                                </p:cTn>
                              </p:par>
                            </p:childTnLst>
                          </p:cTn>
                        </p:par>
                        <p:par>
                          <p:cTn id="19" fill="hold">
                            <p:stCondLst>
                              <p:cond delay="2000"/>
                            </p:stCondLst>
                            <p:childTnLst>
                              <p:par>
                                <p:cTn id="20" presetID="23" presetClass="entr" presetSubtype="32" fill="hold" grpId="0" nodeType="afterEffect">
                                  <p:stCondLst>
                                    <p:cond delay="0"/>
                                  </p:stCondLst>
                                  <p:childTnLst>
                                    <p:set>
                                      <p:cBhvr>
                                        <p:cTn id="21" dur="1" fill="hold">
                                          <p:stCondLst>
                                            <p:cond delay="0"/>
                                          </p:stCondLst>
                                        </p:cTn>
                                        <p:tgtEl>
                                          <p:spTgt spid="5130"/>
                                        </p:tgtEl>
                                        <p:attrNameLst>
                                          <p:attrName>style.visibility</p:attrName>
                                        </p:attrNameLst>
                                      </p:cBhvr>
                                      <p:to>
                                        <p:strVal val="visible"/>
                                      </p:to>
                                    </p:set>
                                    <p:anim calcmode="lin" valueType="num">
                                      <p:cBhvr>
                                        <p:cTn id="22" dur="1000" fill="hold"/>
                                        <p:tgtEl>
                                          <p:spTgt spid="5130"/>
                                        </p:tgtEl>
                                        <p:attrNameLst>
                                          <p:attrName>ppt_w</p:attrName>
                                        </p:attrNameLst>
                                      </p:cBhvr>
                                      <p:tavLst>
                                        <p:tav tm="0">
                                          <p:val>
                                            <p:strVal val="4*#ppt_w"/>
                                          </p:val>
                                        </p:tav>
                                        <p:tav tm="100000">
                                          <p:val>
                                            <p:strVal val="#ppt_w"/>
                                          </p:val>
                                        </p:tav>
                                      </p:tavLst>
                                    </p:anim>
                                    <p:anim calcmode="lin" valueType="num">
                                      <p:cBhvr>
                                        <p:cTn id="23" dur="1000" fill="hold"/>
                                        <p:tgtEl>
                                          <p:spTgt spid="5130"/>
                                        </p:tgtEl>
                                        <p:attrNameLst>
                                          <p:attrName>ppt_h</p:attrName>
                                        </p:attrNameLst>
                                      </p:cBhvr>
                                      <p:tavLst>
                                        <p:tav tm="0">
                                          <p:val>
                                            <p:strVal val="4*#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5135"/>
                                        </p:tgtEl>
                                        <p:attrNameLst>
                                          <p:attrName>style.visibility</p:attrName>
                                        </p:attrNameLst>
                                      </p:cBhvr>
                                      <p:to>
                                        <p:strVal val="visible"/>
                                      </p:to>
                                    </p:set>
                                    <p:animEffect transition="in" filter="wipe(down)">
                                      <p:cBhvr>
                                        <p:cTn id="28" dur="500"/>
                                        <p:tgtEl>
                                          <p:spTgt spid="5135"/>
                                        </p:tgtEl>
                                      </p:cBhvr>
                                    </p:animEffect>
                                  </p:childTnLst>
                                </p:cTn>
                              </p:par>
                            </p:childTnLst>
                          </p:cTn>
                        </p:par>
                        <p:par>
                          <p:cTn id="29" fill="hold">
                            <p:stCondLst>
                              <p:cond delay="500"/>
                            </p:stCondLst>
                            <p:childTnLst>
                              <p:par>
                                <p:cTn id="30" presetID="22" presetClass="entr" presetSubtype="1" fill="hold" grpId="0" nodeType="afterEffect">
                                  <p:stCondLst>
                                    <p:cond delay="0"/>
                                  </p:stCondLst>
                                  <p:childTnLst>
                                    <p:set>
                                      <p:cBhvr>
                                        <p:cTn id="31" dur="1" fill="hold">
                                          <p:stCondLst>
                                            <p:cond delay="0"/>
                                          </p:stCondLst>
                                        </p:cTn>
                                        <p:tgtEl>
                                          <p:spTgt spid="5139"/>
                                        </p:tgtEl>
                                        <p:attrNameLst>
                                          <p:attrName>style.visibility</p:attrName>
                                        </p:attrNameLst>
                                      </p:cBhvr>
                                      <p:to>
                                        <p:strVal val="visible"/>
                                      </p:to>
                                    </p:set>
                                    <p:animEffect transition="in" filter="wipe(up)">
                                      <p:cBhvr>
                                        <p:cTn id="32" dur="1000"/>
                                        <p:tgtEl>
                                          <p:spTgt spid="513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5131"/>
                                        </p:tgtEl>
                                        <p:attrNameLst>
                                          <p:attrName>style.visibility</p:attrName>
                                        </p:attrNameLst>
                                      </p:cBhvr>
                                      <p:to>
                                        <p:strVal val="visible"/>
                                      </p:to>
                                    </p:set>
                                    <p:animEffect transition="in" filter="wipe(down)">
                                      <p:cBhvr>
                                        <p:cTn id="37" dur="500"/>
                                        <p:tgtEl>
                                          <p:spTgt spid="5131"/>
                                        </p:tgtEl>
                                      </p:cBhvr>
                                    </p:animEffect>
                                  </p:childTnLst>
                                </p:cTn>
                              </p:par>
                            </p:childTnLst>
                          </p:cTn>
                        </p:par>
                        <p:par>
                          <p:cTn id="38" fill="hold">
                            <p:stCondLst>
                              <p:cond delay="500"/>
                            </p:stCondLst>
                            <p:childTnLst>
                              <p:par>
                                <p:cTn id="39" presetID="22" presetClass="entr" presetSubtype="1" fill="hold" grpId="0" nodeType="afterEffect">
                                  <p:stCondLst>
                                    <p:cond delay="0"/>
                                  </p:stCondLst>
                                  <p:childTnLst>
                                    <p:set>
                                      <p:cBhvr>
                                        <p:cTn id="40" dur="1" fill="hold">
                                          <p:stCondLst>
                                            <p:cond delay="0"/>
                                          </p:stCondLst>
                                        </p:cTn>
                                        <p:tgtEl>
                                          <p:spTgt spid="5124"/>
                                        </p:tgtEl>
                                        <p:attrNameLst>
                                          <p:attrName>style.visibility</p:attrName>
                                        </p:attrNameLst>
                                      </p:cBhvr>
                                      <p:to>
                                        <p:strVal val="visible"/>
                                      </p:to>
                                    </p:set>
                                    <p:animEffect transition="in" filter="wipe(up)">
                                      <p:cBhvr>
                                        <p:cTn id="41" dur="1000"/>
                                        <p:tgtEl>
                                          <p:spTgt spid="512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5140"/>
                                        </p:tgtEl>
                                        <p:attrNameLst>
                                          <p:attrName>style.visibility</p:attrName>
                                        </p:attrNameLst>
                                      </p:cBhvr>
                                      <p:to>
                                        <p:strVal val="visible"/>
                                      </p:to>
                                    </p:set>
                                    <p:animEffect transition="in" filter="wipe(down)">
                                      <p:cBhvr>
                                        <p:cTn id="46" dur="500"/>
                                        <p:tgtEl>
                                          <p:spTgt spid="5140"/>
                                        </p:tgtEl>
                                      </p:cBhvr>
                                    </p:animEffect>
                                  </p:childTnLst>
                                </p:cTn>
                              </p:par>
                            </p:childTnLst>
                          </p:cTn>
                        </p:par>
                        <p:par>
                          <p:cTn id="47" fill="hold">
                            <p:stCondLst>
                              <p:cond delay="500"/>
                            </p:stCondLst>
                            <p:childTnLst>
                              <p:par>
                                <p:cTn id="48" presetID="22" presetClass="entr" presetSubtype="1" fill="hold" grpId="0" nodeType="afterEffect">
                                  <p:stCondLst>
                                    <p:cond delay="0"/>
                                  </p:stCondLst>
                                  <p:childTnLst>
                                    <p:set>
                                      <p:cBhvr>
                                        <p:cTn id="49" dur="1" fill="hold">
                                          <p:stCondLst>
                                            <p:cond delay="0"/>
                                          </p:stCondLst>
                                        </p:cTn>
                                        <p:tgtEl>
                                          <p:spTgt spid="5144"/>
                                        </p:tgtEl>
                                        <p:attrNameLst>
                                          <p:attrName>style.visibility</p:attrName>
                                        </p:attrNameLst>
                                      </p:cBhvr>
                                      <p:to>
                                        <p:strVal val="visible"/>
                                      </p:to>
                                    </p:set>
                                    <p:animEffect transition="in" filter="wipe(up)">
                                      <p:cBhvr>
                                        <p:cTn id="50" dur="1000"/>
                                        <p:tgtEl>
                                          <p:spTgt spid="5144"/>
                                        </p:tgtEl>
                                      </p:cBhvr>
                                    </p:animEffect>
                                  </p:childTnLst>
                                </p:cTn>
                              </p:par>
                            </p:childTnLst>
                          </p:cTn>
                        </p:par>
                        <p:par>
                          <p:cTn id="51" fill="hold">
                            <p:stCondLst>
                              <p:cond delay="1500"/>
                            </p:stCondLst>
                            <p:childTnLst>
                              <p:par>
                                <p:cTn id="52" presetID="55" presetClass="entr" presetSubtype="0" fill="hold" grpId="0" nodeType="afterEffect">
                                  <p:stCondLst>
                                    <p:cond delay="0"/>
                                  </p:stCondLst>
                                  <p:childTnLst>
                                    <p:set>
                                      <p:cBhvr>
                                        <p:cTn id="53" dur="1" fill="hold">
                                          <p:stCondLst>
                                            <p:cond delay="0"/>
                                          </p:stCondLst>
                                        </p:cTn>
                                        <p:tgtEl>
                                          <p:spTgt spid="5123"/>
                                        </p:tgtEl>
                                        <p:attrNameLst>
                                          <p:attrName>style.visibility</p:attrName>
                                        </p:attrNameLst>
                                      </p:cBhvr>
                                      <p:to>
                                        <p:strVal val="visible"/>
                                      </p:to>
                                    </p:set>
                                    <p:anim calcmode="lin" valueType="num">
                                      <p:cBhvr>
                                        <p:cTn id="54" dur="1000" fill="hold"/>
                                        <p:tgtEl>
                                          <p:spTgt spid="5123"/>
                                        </p:tgtEl>
                                        <p:attrNameLst>
                                          <p:attrName>ppt_w</p:attrName>
                                        </p:attrNameLst>
                                      </p:cBhvr>
                                      <p:tavLst>
                                        <p:tav tm="0">
                                          <p:val>
                                            <p:strVal val="#ppt_w*0.70"/>
                                          </p:val>
                                        </p:tav>
                                        <p:tav tm="100000">
                                          <p:val>
                                            <p:strVal val="#ppt_w"/>
                                          </p:val>
                                        </p:tav>
                                      </p:tavLst>
                                    </p:anim>
                                    <p:anim calcmode="lin" valueType="num">
                                      <p:cBhvr>
                                        <p:cTn id="55" dur="1000" fill="hold"/>
                                        <p:tgtEl>
                                          <p:spTgt spid="5123"/>
                                        </p:tgtEl>
                                        <p:attrNameLst>
                                          <p:attrName>ppt_h</p:attrName>
                                        </p:attrNameLst>
                                      </p:cBhvr>
                                      <p:tavLst>
                                        <p:tav tm="0">
                                          <p:val>
                                            <p:strVal val="#ppt_h"/>
                                          </p:val>
                                        </p:tav>
                                        <p:tav tm="100000">
                                          <p:val>
                                            <p:strVal val="#ppt_h"/>
                                          </p:val>
                                        </p:tav>
                                      </p:tavLst>
                                    </p:anim>
                                    <p:animEffect transition="in" filter="fade">
                                      <p:cBhvr>
                                        <p:cTn id="56" dur="1000"/>
                                        <p:tgtEl>
                                          <p:spTgt spid="5123"/>
                                        </p:tgtEl>
                                      </p:cBhvr>
                                    </p:animEffect>
                                  </p:childTnLst>
                                </p:cTn>
                              </p:par>
                            </p:childTnLst>
                          </p:cTn>
                        </p:par>
                      </p:childTnLst>
                    </p:cTn>
                  </p:par>
                  <p:par>
                    <p:cTn id="57" fill="hold">
                      <p:stCondLst>
                        <p:cond delay="indefinite"/>
                      </p:stCondLst>
                      <p:childTnLst>
                        <p:par>
                          <p:cTn id="58" fill="hold">
                            <p:stCondLst>
                              <p:cond delay="0"/>
                            </p:stCondLst>
                            <p:childTnLst>
                              <p:par>
                                <p:cTn id="59" presetID="50" presetClass="entr" presetSubtype="0" decel="100000" fill="hold" grpId="0" nodeType="clickEffect">
                                  <p:stCondLst>
                                    <p:cond delay="0"/>
                                  </p:stCondLst>
                                  <p:childTnLst>
                                    <p:set>
                                      <p:cBhvr>
                                        <p:cTn id="60" dur="1" fill="hold">
                                          <p:stCondLst>
                                            <p:cond delay="0"/>
                                          </p:stCondLst>
                                        </p:cTn>
                                        <p:tgtEl>
                                          <p:spTgt spid="5145"/>
                                        </p:tgtEl>
                                        <p:attrNameLst>
                                          <p:attrName>style.visibility</p:attrName>
                                        </p:attrNameLst>
                                      </p:cBhvr>
                                      <p:to>
                                        <p:strVal val="visible"/>
                                      </p:to>
                                    </p:set>
                                    <p:anim calcmode="lin" valueType="num">
                                      <p:cBhvr>
                                        <p:cTn id="61" dur="1000" fill="hold"/>
                                        <p:tgtEl>
                                          <p:spTgt spid="5145"/>
                                        </p:tgtEl>
                                        <p:attrNameLst>
                                          <p:attrName>ppt_w</p:attrName>
                                        </p:attrNameLst>
                                      </p:cBhvr>
                                      <p:tavLst>
                                        <p:tav tm="0">
                                          <p:val>
                                            <p:strVal val="#ppt_w+.3"/>
                                          </p:val>
                                        </p:tav>
                                        <p:tav tm="100000">
                                          <p:val>
                                            <p:strVal val="#ppt_w"/>
                                          </p:val>
                                        </p:tav>
                                      </p:tavLst>
                                    </p:anim>
                                    <p:anim calcmode="lin" valueType="num">
                                      <p:cBhvr>
                                        <p:cTn id="62" dur="1000" fill="hold"/>
                                        <p:tgtEl>
                                          <p:spTgt spid="5145"/>
                                        </p:tgtEl>
                                        <p:attrNameLst>
                                          <p:attrName>ppt_h</p:attrName>
                                        </p:attrNameLst>
                                      </p:cBhvr>
                                      <p:tavLst>
                                        <p:tav tm="0">
                                          <p:val>
                                            <p:strVal val="#ppt_h"/>
                                          </p:val>
                                        </p:tav>
                                        <p:tav tm="100000">
                                          <p:val>
                                            <p:strVal val="#ppt_h"/>
                                          </p:val>
                                        </p:tav>
                                      </p:tavLst>
                                    </p:anim>
                                    <p:animEffect transition="in" filter="fade">
                                      <p:cBhvr>
                                        <p:cTn id="63" dur="1000"/>
                                        <p:tgtEl>
                                          <p:spTgt spid="5145"/>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5158">
                                            <p:txEl>
                                              <p:pRg st="0" end="0"/>
                                            </p:txEl>
                                          </p:spTgt>
                                        </p:tgtEl>
                                        <p:attrNameLst>
                                          <p:attrName>style.visibility</p:attrName>
                                        </p:attrNameLst>
                                      </p:cBhvr>
                                      <p:to>
                                        <p:strVal val="visible"/>
                                      </p:to>
                                    </p:set>
                                    <p:animEffect transition="in" filter="wipe(left)">
                                      <p:cBhvr>
                                        <p:cTn id="68" dur="1000"/>
                                        <p:tgtEl>
                                          <p:spTgt spid="5158">
                                            <p:txEl>
                                              <p:pRg st="0" end="0"/>
                                            </p:txEl>
                                          </p:spTgt>
                                        </p:tgtEl>
                                      </p:cBhvr>
                                    </p:animEffect>
                                  </p:childTnLst>
                                </p:cTn>
                              </p:par>
                            </p:childTnLst>
                          </p:cTn>
                        </p:par>
                        <p:par>
                          <p:cTn id="69" fill="hold">
                            <p:stCondLst>
                              <p:cond delay="1000"/>
                            </p:stCondLst>
                            <p:childTnLst>
                              <p:par>
                                <p:cTn id="70" presetID="22" presetClass="entr" presetSubtype="8" fill="hold" nodeType="afterEffect">
                                  <p:stCondLst>
                                    <p:cond delay="0"/>
                                  </p:stCondLst>
                                  <p:childTnLst>
                                    <p:set>
                                      <p:cBhvr>
                                        <p:cTn id="71" dur="1" fill="hold">
                                          <p:stCondLst>
                                            <p:cond delay="0"/>
                                          </p:stCondLst>
                                        </p:cTn>
                                        <p:tgtEl>
                                          <p:spTgt spid="5158">
                                            <p:txEl>
                                              <p:pRg st="1" end="1"/>
                                            </p:txEl>
                                          </p:spTgt>
                                        </p:tgtEl>
                                        <p:attrNameLst>
                                          <p:attrName>style.visibility</p:attrName>
                                        </p:attrNameLst>
                                      </p:cBhvr>
                                      <p:to>
                                        <p:strVal val="visible"/>
                                      </p:to>
                                    </p:set>
                                    <p:animEffect transition="in" filter="wipe(left)">
                                      <p:cBhvr>
                                        <p:cTn id="72" dur="1000"/>
                                        <p:tgtEl>
                                          <p:spTgt spid="5158">
                                            <p:txEl>
                                              <p:pRg st="1" end="1"/>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nodeType="clickEffect">
                                  <p:stCondLst>
                                    <p:cond delay="0"/>
                                  </p:stCondLst>
                                  <p:childTnLst>
                                    <p:set>
                                      <p:cBhvr>
                                        <p:cTn id="76" dur="1" fill="hold">
                                          <p:stCondLst>
                                            <p:cond delay="0"/>
                                          </p:stCondLst>
                                        </p:cTn>
                                        <p:tgtEl>
                                          <p:spTgt spid="5146"/>
                                        </p:tgtEl>
                                        <p:attrNameLst>
                                          <p:attrName>style.visibility</p:attrName>
                                        </p:attrNameLst>
                                      </p:cBhvr>
                                      <p:to>
                                        <p:strVal val="visible"/>
                                      </p:to>
                                    </p:set>
                                    <p:animEffect transition="in" filter="dissolve">
                                      <p:cBhvr>
                                        <p:cTn id="77" dur="500"/>
                                        <p:tgtEl>
                                          <p:spTgt spid="514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5163">
                                            <p:txEl>
                                              <p:pRg st="0" end="0"/>
                                            </p:txEl>
                                          </p:spTgt>
                                        </p:tgtEl>
                                        <p:attrNameLst>
                                          <p:attrName>style.visibility</p:attrName>
                                        </p:attrNameLst>
                                      </p:cBhvr>
                                      <p:to>
                                        <p:strVal val="visible"/>
                                      </p:to>
                                    </p:set>
                                    <p:animEffect transition="in" filter="wipe(left)">
                                      <p:cBhvr>
                                        <p:cTn id="82" dur="1000"/>
                                        <p:tgtEl>
                                          <p:spTgt spid="5163">
                                            <p:txEl>
                                              <p:pRg st="0" end="0"/>
                                            </p:txEl>
                                          </p:spTgt>
                                        </p:tgtEl>
                                      </p:cBhvr>
                                    </p:animEffect>
                                  </p:childTnLst>
                                </p:cTn>
                              </p:par>
                            </p:childTnLst>
                          </p:cTn>
                        </p:par>
                        <p:par>
                          <p:cTn id="83" fill="hold">
                            <p:stCondLst>
                              <p:cond delay="1000"/>
                            </p:stCondLst>
                            <p:childTnLst>
                              <p:par>
                                <p:cTn id="84" presetID="22" presetClass="entr" presetSubtype="8" fill="hold" nodeType="afterEffect">
                                  <p:stCondLst>
                                    <p:cond delay="0"/>
                                  </p:stCondLst>
                                  <p:childTnLst>
                                    <p:set>
                                      <p:cBhvr>
                                        <p:cTn id="85" dur="1" fill="hold">
                                          <p:stCondLst>
                                            <p:cond delay="0"/>
                                          </p:stCondLst>
                                        </p:cTn>
                                        <p:tgtEl>
                                          <p:spTgt spid="5163">
                                            <p:txEl>
                                              <p:pRg st="1" end="1"/>
                                            </p:txEl>
                                          </p:spTgt>
                                        </p:tgtEl>
                                        <p:attrNameLst>
                                          <p:attrName>style.visibility</p:attrName>
                                        </p:attrNameLst>
                                      </p:cBhvr>
                                      <p:to>
                                        <p:strVal val="visible"/>
                                      </p:to>
                                    </p:set>
                                    <p:animEffect transition="in" filter="wipe(left)">
                                      <p:cBhvr>
                                        <p:cTn id="86" dur="1000"/>
                                        <p:tgtEl>
                                          <p:spTgt spid="5163">
                                            <p:txEl>
                                              <p:pRg st="1" end="1"/>
                                            </p:txEl>
                                          </p:spTgt>
                                        </p:tgtEl>
                                      </p:cBhvr>
                                    </p:animEffect>
                                  </p:childTnLst>
                                </p:cTn>
                              </p:par>
                            </p:childTnLst>
                          </p:cTn>
                        </p:par>
                        <p:par>
                          <p:cTn id="87" fill="hold">
                            <p:stCondLst>
                              <p:cond delay="2000"/>
                            </p:stCondLst>
                            <p:childTnLst>
                              <p:par>
                                <p:cTn id="88" presetID="22" presetClass="entr" presetSubtype="8" fill="hold" nodeType="afterEffect">
                                  <p:stCondLst>
                                    <p:cond delay="0"/>
                                  </p:stCondLst>
                                  <p:childTnLst>
                                    <p:set>
                                      <p:cBhvr>
                                        <p:cTn id="89" dur="1" fill="hold">
                                          <p:stCondLst>
                                            <p:cond delay="0"/>
                                          </p:stCondLst>
                                        </p:cTn>
                                        <p:tgtEl>
                                          <p:spTgt spid="5163">
                                            <p:txEl>
                                              <p:pRg st="2" end="2"/>
                                            </p:txEl>
                                          </p:spTgt>
                                        </p:tgtEl>
                                        <p:attrNameLst>
                                          <p:attrName>style.visibility</p:attrName>
                                        </p:attrNameLst>
                                      </p:cBhvr>
                                      <p:to>
                                        <p:strVal val="visible"/>
                                      </p:to>
                                    </p:set>
                                    <p:animEffect transition="in" filter="wipe(left)">
                                      <p:cBhvr>
                                        <p:cTn id="90" dur="1000"/>
                                        <p:tgtEl>
                                          <p:spTgt spid="5163">
                                            <p:txEl>
                                              <p:pRg st="2" end="2"/>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9" presetClass="entr" presetSubtype="0" fill="hold" nodeType="clickEffect">
                                  <p:stCondLst>
                                    <p:cond delay="0"/>
                                  </p:stCondLst>
                                  <p:childTnLst>
                                    <p:set>
                                      <p:cBhvr>
                                        <p:cTn id="94" dur="1" fill="hold">
                                          <p:stCondLst>
                                            <p:cond delay="0"/>
                                          </p:stCondLst>
                                        </p:cTn>
                                        <p:tgtEl>
                                          <p:spTgt spid="5159"/>
                                        </p:tgtEl>
                                        <p:attrNameLst>
                                          <p:attrName>style.visibility</p:attrName>
                                        </p:attrNameLst>
                                      </p:cBhvr>
                                      <p:to>
                                        <p:strVal val="visible"/>
                                      </p:to>
                                    </p:set>
                                    <p:animEffect transition="in" filter="dissolve">
                                      <p:cBhvr>
                                        <p:cTn id="95" dur="500"/>
                                        <p:tgtEl>
                                          <p:spTgt spid="5159"/>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5164">
                                            <p:txEl>
                                              <p:pRg st="0" end="0"/>
                                            </p:txEl>
                                          </p:spTgt>
                                        </p:tgtEl>
                                        <p:attrNameLst>
                                          <p:attrName>style.visibility</p:attrName>
                                        </p:attrNameLst>
                                      </p:cBhvr>
                                      <p:to>
                                        <p:strVal val="visible"/>
                                      </p:to>
                                    </p:set>
                                    <p:animEffect transition="in" filter="wipe(left)">
                                      <p:cBhvr>
                                        <p:cTn id="100" dur="1000"/>
                                        <p:tgtEl>
                                          <p:spTgt spid="5164">
                                            <p:txEl>
                                              <p:pRg st="0" end="0"/>
                                            </p:txEl>
                                          </p:spTgt>
                                        </p:tgtEl>
                                      </p:cBhvr>
                                    </p:animEffect>
                                  </p:childTnLst>
                                </p:cTn>
                              </p:par>
                            </p:childTnLst>
                          </p:cTn>
                        </p:par>
                        <p:par>
                          <p:cTn id="101" fill="hold">
                            <p:stCondLst>
                              <p:cond delay="1000"/>
                            </p:stCondLst>
                            <p:childTnLst>
                              <p:par>
                                <p:cTn id="102" presetID="22" presetClass="entr" presetSubtype="8" fill="hold" nodeType="afterEffect">
                                  <p:stCondLst>
                                    <p:cond delay="0"/>
                                  </p:stCondLst>
                                  <p:childTnLst>
                                    <p:set>
                                      <p:cBhvr>
                                        <p:cTn id="103" dur="1" fill="hold">
                                          <p:stCondLst>
                                            <p:cond delay="0"/>
                                          </p:stCondLst>
                                        </p:cTn>
                                        <p:tgtEl>
                                          <p:spTgt spid="5164">
                                            <p:txEl>
                                              <p:pRg st="1" end="1"/>
                                            </p:txEl>
                                          </p:spTgt>
                                        </p:tgtEl>
                                        <p:attrNameLst>
                                          <p:attrName>style.visibility</p:attrName>
                                        </p:attrNameLst>
                                      </p:cBhvr>
                                      <p:to>
                                        <p:strVal val="visible"/>
                                      </p:to>
                                    </p:set>
                                    <p:animEffect transition="in" filter="wipe(left)">
                                      <p:cBhvr>
                                        <p:cTn id="104" dur="1000"/>
                                        <p:tgtEl>
                                          <p:spTgt spid="5164">
                                            <p:txEl>
                                              <p:pRg st="1" end="1"/>
                                            </p:txEl>
                                          </p:spTgt>
                                        </p:tgtEl>
                                      </p:cBhvr>
                                    </p:animEffect>
                                  </p:childTnLst>
                                </p:cTn>
                              </p:par>
                            </p:childTnLst>
                          </p:cTn>
                        </p:par>
                        <p:par>
                          <p:cTn id="105" fill="hold">
                            <p:stCondLst>
                              <p:cond delay="2000"/>
                            </p:stCondLst>
                            <p:childTnLst>
                              <p:par>
                                <p:cTn id="106" presetID="22" presetClass="entr" presetSubtype="8" fill="hold" nodeType="afterEffect">
                                  <p:stCondLst>
                                    <p:cond delay="0"/>
                                  </p:stCondLst>
                                  <p:childTnLst>
                                    <p:set>
                                      <p:cBhvr>
                                        <p:cTn id="107" dur="1" fill="hold">
                                          <p:stCondLst>
                                            <p:cond delay="0"/>
                                          </p:stCondLst>
                                        </p:cTn>
                                        <p:tgtEl>
                                          <p:spTgt spid="5164">
                                            <p:txEl>
                                              <p:pRg st="2" end="2"/>
                                            </p:txEl>
                                          </p:spTgt>
                                        </p:tgtEl>
                                        <p:attrNameLst>
                                          <p:attrName>style.visibility</p:attrName>
                                        </p:attrNameLst>
                                      </p:cBhvr>
                                      <p:to>
                                        <p:strVal val="visible"/>
                                      </p:to>
                                    </p:set>
                                    <p:animEffect transition="in" filter="wipe(left)">
                                      <p:cBhvr>
                                        <p:cTn id="108" dur="1000"/>
                                        <p:tgtEl>
                                          <p:spTgt spid="5164">
                                            <p:txEl>
                                              <p:pRg st="2" end="2"/>
                                            </p:txEl>
                                          </p:spTgt>
                                        </p:tgtEl>
                                      </p:cBhvr>
                                    </p:animEffect>
                                  </p:childTnLst>
                                </p:cTn>
                              </p:par>
                            </p:childTnLst>
                          </p:cTn>
                        </p:par>
                      </p:childTnLst>
                    </p:cTn>
                  </p:par>
                  <p:par>
                    <p:cTn id="109" fill="hold">
                      <p:stCondLst>
                        <p:cond delay="indefinite"/>
                      </p:stCondLst>
                      <p:childTnLst>
                        <p:par>
                          <p:cTn id="110" fill="hold">
                            <p:stCondLst>
                              <p:cond delay="0"/>
                            </p:stCondLst>
                            <p:childTnLst>
                              <p:par>
                                <p:cTn id="111" presetID="9" presetClass="entr" presetSubtype="0" fill="hold" nodeType="clickEffect">
                                  <p:stCondLst>
                                    <p:cond delay="0"/>
                                  </p:stCondLst>
                                  <p:childTnLst>
                                    <p:set>
                                      <p:cBhvr>
                                        <p:cTn id="112" dur="1" fill="hold">
                                          <p:stCondLst>
                                            <p:cond delay="0"/>
                                          </p:stCondLst>
                                        </p:cTn>
                                        <p:tgtEl>
                                          <p:spTgt spid="5166"/>
                                        </p:tgtEl>
                                        <p:attrNameLst>
                                          <p:attrName>style.visibility</p:attrName>
                                        </p:attrNameLst>
                                      </p:cBhvr>
                                      <p:to>
                                        <p:strVal val="visible"/>
                                      </p:to>
                                    </p:set>
                                    <p:animEffect transition="in" filter="dissolve">
                                      <p:cBhvr>
                                        <p:cTn id="113" dur="500"/>
                                        <p:tgtEl>
                                          <p:spTgt spid="5166"/>
                                        </p:tgtEl>
                                      </p:cBhvr>
                                    </p:animEffect>
                                  </p:childTnLst>
                                </p:cTn>
                              </p:par>
                            </p:childTnLst>
                          </p:cTn>
                        </p:par>
                      </p:childTnLst>
                    </p:cTn>
                  </p:par>
                  <p:par>
                    <p:cTn id="114" fill="hold">
                      <p:stCondLst>
                        <p:cond delay="indefinite"/>
                      </p:stCondLst>
                      <p:childTnLst>
                        <p:par>
                          <p:cTn id="115" fill="hold">
                            <p:stCondLst>
                              <p:cond delay="0"/>
                            </p:stCondLst>
                            <p:childTnLst>
                              <p:par>
                                <p:cTn id="116" presetID="31" presetClass="entr" presetSubtype="0" fill="hold" grpId="0" nodeType="clickEffect">
                                  <p:stCondLst>
                                    <p:cond delay="0"/>
                                  </p:stCondLst>
                                  <p:iterate type="lt">
                                    <p:tmPct val="5000"/>
                                  </p:iterate>
                                  <p:childTnLst>
                                    <p:set>
                                      <p:cBhvr>
                                        <p:cTn id="117" dur="1" fill="hold">
                                          <p:stCondLst>
                                            <p:cond delay="0"/>
                                          </p:stCondLst>
                                        </p:cTn>
                                        <p:tgtEl>
                                          <p:spTgt spid="5165"/>
                                        </p:tgtEl>
                                        <p:attrNameLst>
                                          <p:attrName>style.visibility</p:attrName>
                                        </p:attrNameLst>
                                      </p:cBhvr>
                                      <p:to>
                                        <p:strVal val="visible"/>
                                      </p:to>
                                    </p:set>
                                    <p:anim calcmode="lin" valueType="num">
                                      <p:cBhvr>
                                        <p:cTn id="118" dur="500" fill="hold"/>
                                        <p:tgtEl>
                                          <p:spTgt spid="5165"/>
                                        </p:tgtEl>
                                        <p:attrNameLst>
                                          <p:attrName>ppt_w</p:attrName>
                                        </p:attrNameLst>
                                      </p:cBhvr>
                                      <p:tavLst>
                                        <p:tav tm="0">
                                          <p:val>
                                            <p:fltVal val="0"/>
                                          </p:val>
                                        </p:tav>
                                        <p:tav tm="100000">
                                          <p:val>
                                            <p:strVal val="#ppt_w"/>
                                          </p:val>
                                        </p:tav>
                                      </p:tavLst>
                                    </p:anim>
                                    <p:anim calcmode="lin" valueType="num">
                                      <p:cBhvr>
                                        <p:cTn id="119" dur="500" fill="hold"/>
                                        <p:tgtEl>
                                          <p:spTgt spid="5165"/>
                                        </p:tgtEl>
                                        <p:attrNameLst>
                                          <p:attrName>ppt_h</p:attrName>
                                        </p:attrNameLst>
                                      </p:cBhvr>
                                      <p:tavLst>
                                        <p:tav tm="0">
                                          <p:val>
                                            <p:fltVal val="0"/>
                                          </p:val>
                                        </p:tav>
                                        <p:tav tm="100000">
                                          <p:val>
                                            <p:strVal val="#ppt_h"/>
                                          </p:val>
                                        </p:tav>
                                      </p:tavLst>
                                    </p:anim>
                                    <p:anim calcmode="lin" valueType="num">
                                      <p:cBhvr>
                                        <p:cTn id="120" dur="500" fill="hold"/>
                                        <p:tgtEl>
                                          <p:spTgt spid="5165"/>
                                        </p:tgtEl>
                                        <p:attrNameLst>
                                          <p:attrName>style.rotation</p:attrName>
                                        </p:attrNameLst>
                                      </p:cBhvr>
                                      <p:tavLst>
                                        <p:tav tm="0">
                                          <p:val>
                                            <p:fltVal val="90"/>
                                          </p:val>
                                        </p:tav>
                                        <p:tav tm="100000">
                                          <p:val>
                                            <p:fltVal val="0"/>
                                          </p:val>
                                        </p:tav>
                                      </p:tavLst>
                                    </p:anim>
                                    <p:animEffect transition="in" filter="fade">
                                      <p:cBhvr>
                                        <p:cTn id="121" dur="500"/>
                                        <p:tgtEl>
                                          <p:spTgt spid="5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animBg="1"/>
      <p:bldP spid="5124" grpId="0" animBg="1" autoUpdateAnimBg="0"/>
      <p:bldP spid="5128" grpId="0" autoUpdateAnimBg="0"/>
      <p:bldP spid="5129" grpId="0" animBg="1" autoUpdateAnimBg="0"/>
      <p:bldP spid="5130" grpId="0" autoUpdateAnimBg="0"/>
      <p:bldP spid="5139" grpId="0" animBg="1" autoUpdateAnimBg="0"/>
      <p:bldP spid="5144" grpId="0" animBg="1" autoUpdateAnimBg="0"/>
      <p:bldP spid="5145" grpId="0" animBg="1"/>
      <p:bldP spid="516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1452563" y="582613"/>
            <a:ext cx="6175375" cy="406400"/>
          </a:xfrm>
          <a:prstGeom prst="rect">
            <a:avLst/>
          </a:prstGeom>
          <a:gradFill rotWithShape="1">
            <a:gsLst>
              <a:gs pos="0">
                <a:srgbClr val="FFFF99">
                  <a:gamma/>
                  <a:tint val="0"/>
                  <a:invGamma/>
                  <a:alpha val="0"/>
                </a:srgbClr>
              </a:gs>
              <a:gs pos="100000">
                <a:srgbClr val="FFFF99"/>
              </a:gs>
            </a:gsLst>
            <a:lin ang="5400000" scaled="1"/>
          </a:gradFill>
          <a:ln>
            <a:noFill/>
          </a:ln>
          <a:effectLst/>
          <a:extLst>
            <a:ext uri="{91240B29-F687-4F45-9708-019B960494DF}">
              <a14:hiddenLine xmlns:a14="http://schemas.microsoft.com/office/drawing/2010/main" w="38100">
                <a:solidFill>
                  <a:srgbClr val="FF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eaLnBrk="1" hangingPunct="1">
              <a:lnSpc>
                <a:spcPct val="95000"/>
              </a:lnSpc>
              <a:defRPr/>
            </a:pPr>
            <a:r>
              <a:rPr lang="zh-CN" altLang="en-US" sz="2800" dirty="0">
                <a:solidFill>
                  <a:srgbClr val="00005C"/>
                </a:solidFill>
                <a:latin typeface="Times New Roman" panose="02020603050405020304" pitchFamily="18" charset="0"/>
                <a:ea typeface="隶书" panose="02010509060101010101" pitchFamily="49" charset="-122"/>
              </a:rPr>
              <a:t>晶体管实现电流放大作用的</a:t>
            </a:r>
            <a:r>
              <a:rPr lang="zh-CN" altLang="en-US" sz="2800" dirty="0">
                <a:solidFill>
                  <a:srgbClr val="006400"/>
                </a:solidFill>
                <a:effectLst>
                  <a:outerShdw blurRad="38100" dist="38100" dir="2700000" algn="tl">
                    <a:srgbClr val="000000"/>
                  </a:outerShdw>
                </a:effectLst>
                <a:latin typeface="Times New Roman" panose="02020603050405020304" pitchFamily="18" charset="0"/>
                <a:ea typeface="隶书" panose="02010509060101010101" pitchFamily="49" charset="-122"/>
              </a:rPr>
              <a:t>外部条件</a:t>
            </a:r>
          </a:p>
        </p:txBody>
      </p:sp>
      <p:grpSp>
        <p:nvGrpSpPr>
          <p:cNvPr id="6147" name="Group 3"/>
          <p:cNvGrpSpPr/>
          <p:nvPr/>
        </p:nvGrpSpPr>
        <p:grpSpPr bwMode="auto">
          <a:xfrm>
            <a:off x="684213" y="3644900"/>
            <a:ext cx="4746625" cy="2125663"/>
            <a:chOff x="512" y="818"/>
            <a:chExt cx="2990" cy="1339"/>
          </a:xfrm>
        </p:grpSpPr>
        <p:sp>
          <p:nvSpPr>
            <p:cNvPr id="7257" name="Rectangle 4"/>
            <p:cNvSpPr>
              <a:spLocks noChangeArrowheads="1"/>
            </p:cNvSpPr>
            <p:nvPr/>
          </p:nvSpPr>
          <p:spPr bwMode="auto">
            <a:xfrm>
              <a:off x="1208" y="818"/>
              <a:ext cx="1599" cy="788"/>
            </a:xfrm>
            <a:prstGeom prst="rect">
              <a:avLst/>
            </a:prstGeom>
            <a:solidFill>
              <a:srgbClr val="FFCCFF"/>
            </a:solidFill>
            <a:ln w="28575">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58" name="Rectangle 5"/>
            <p:cNvSpPr>
              <a:spLocks noChangeArrowheads="1"/>
            </p:cNvSpPr>
            <p:nvPr/>
          </p:nvSpPr>
          <p:spPr bwMode="auto">
            <a:xfrm>
              <a:off x="1100" y="1078"/>
              <a:ext cx="107" cy="284"/>
            </a:xfrm>
            <a:prstGeom prst="rect">
              <a:avLst/>
            </a:prstGeom>
            <a:solidFill>
              <a:srgbClr val="006400"/>
            </a:solidFill>
            <a:ln w="28575">
              <a:solidFill>
                <a:srgbClr val="0058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59" name="Rectangle 6"/>
            <p:cNvSpPr>
              <a:spLocks noChangeArrowheads="1"/>
            </p:cNvSpPr>
            <p:nvPr/>
          </p:nvSpPr>
          <p:spPr bwMode="auto">
            <a:xfrm>
              <a:off x="1850" y="1604"/>
              <a:ext cx="217" cy="127"/>
            </a:xfrm>
            <a:prstGeom prst="rect">
              <a:avLst/>
            </a:prstGeom>
            <a:solidFill>
              <a:srgbClr val="006400"/>
            </a:solidFill>
            <a:ln w="2857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60" name="Line 7"/>
            <p:cNvSpPr>
              <a:spLocks noChangeShapeType="1"/>
            </p:cNvSpPr>
            <p:nvPr/>
          </p:nvSpPr>
          <p:spPr bwMode="auto">
            <a:xfrm>
              <a:off x="512" y="1211"/>
              <a:ext cx="585" cy="0"/>
            </a:xfrm>
            <a:prstGeom prst="line">
              <a:avLst/>
            </a:prstGeom>
            <a:noFill/>
            <a:ln w="28575">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61" name="Line 8"/>
            <p:cNvSpPr>
              <a:spLocks noChangeShapeType="1"/>
            </p:cNvSpPr>
            <p:nvPr/>
          </p:nvSpPr>
          <p:spPr bwMode="auto">
            <a:xfrm rot="-5400000">
              <a:off x="1752" y="1945"/>
              <a:ext cx="424" cy="0"/>
            </a:xfrm>
            <a:prstGeom prst="line">
              <a:avLst/>
            </a:prstGeom>
            <a:noFill/>
            <a:ln w="28575">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3" name="Text Box 9"/>
            <p:cNvSpPr txBox="1">
              <a:spLocks noChangeArrowheads="1"/>
            </p:cNvSpPr>
            <p:nvPr/>
          </p:nvSpPr>
          <p:spPr bwMode="auto">
            <a:xfrm>
              <a:off x="1370" y="1028"/>
              <a:ext cx="127" cy="179"/>
            </a:xfrm>
            <a:prstGeom prst="rect">
              <a:avLst/>
            </a:prstGeom>
            <a:gradFill rotWithShape="1">
              <a:gsLst>
                <a:gs pos="0">
                  <a:schemeClr val="accent1">
                    <a:alpha val="0"/>
                  </a:schemeClr>
                </a:gs>
                <a:gs pos="100000">
                  <a:schemeClr val="accent1">
                    <a:gamma/>
                    <a:tint val="0"/>
                    <a:invGamma/>
                    <a:alpha val="0"/>
                  </a:schemeClr>
                </a:gs>
              </a:gsLst>
              <a:path path="shape">
                <a:fillToRect l="50000" t="50000" r="50000" b="50000"/>
              </a:path>
            </a:gradFill>
            <a:ln>
              <a:noFill/>
            </a:ln>
            <a:effectLst/>
            <a:extLst>
              <a:ext uri="{91240B29-F687-4F45-9708-019B960494DF}">
                <a14:hiddenLine xmlns:a14="http://schemas.microsoft.com/office/drawing/2010/main" w="9525">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nSpc>
                  <a:spcPct val="85000"/>
                </a:lnSpc>
                <a:defRPr/>
              </a:pPr>
              <a:r>
                <a:rPr kumimoji="1" lang="en-US" altLang="zh-CN" sz="2200" b="1">
                  <a:solidFill>
                    <a:schemeClr val="bg2"/>
                  </a:solidFill>
                  <a:effectLst>
                    <a:outerShdw blurRad="38100" dist="38100" dir="2700000" algn="tl">
                      <a:srgbClr val="000000"/>
                    </a:outerShdw>
                  </a:effectLst>
                  <a:latin typeface="Times New Roman" panose="02020603050405020304" pitchFamily="18" charset="0"/>
                </a:rPr>
                <a:t>N</a:t>
              </a:r>
            </a:p>
          </p:txBody>
        </p:sp>
        <p:sp>
          <p:nvSpPr>
            <p:cNvPr id="6154" name="Text Box 10"/>
            <p:cNvSpPr txBox="1">
              <a:spLocks noChangeArrowheads="1"/>
            </p:cNvSpPr>
            <p:nvPr/>
          </p:nvSpPr>
          <p:spPr bwMode="auto">
            <a:xfrm>
              <a:off x="2440" y="1011"/>
              <a:ext cx="145" cy="179"/>
            </a:xfrm>
            <a:prstGeom prst="rect">
              <a:avLst/>
            </a:prstGeom>
            <a:gradFill rotWithShape="1">
              <a:gsLst>
                <a:gs pos="0">
                  <a:schemeClr val="accent1">
                    <a:alpha val="0"/>
                  </a:schemeClr>
                </a:gs>
                <a:gs pos="100000">
                  <a:schemeClr val="accent1">
                    <a:gamma/>
                    <a:tint val="0"/>
                    <a:invGamma/>
                    <a:alpha val="0"/>
                  </a:schemeClr>
                </a:gs>
              </a:gsLst>
              <a:path path="shape">
                <a:fillToRect l="50000" t="50000" r="50000" b="50000"/>
              </a:path>
            </a:gradFill>
            <a:ln>
              <a:noFill/>
            </a:ln>
            <a:effectLst/>
            <a:extLst>
              <a:ext uri="{91240B29-F687-4F45-9708-019B960494DF}">
                <a14:hiddenLine xmlns:a14="http://schemas.microsoft.com/office/drawing/2010/main" w="9525">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nSpc>
                  <a:spcPct val="85000"/>
                </a:lnSpc>
                <a:defRPr/>
              </a:pPr>
              <a:r>
                <a:rPr kumimoji="1" lang="en-US" altLang="zh-CN" sz="2200" b="1">
                  <a:solidFill>
                    <a:schemeClr val="bg2"/>
                  </a:solidFill>
                  <a:effectLst>
                    <a:outerShdw blurRad="38100" dist="38100" dir="2700000" algn="tl">
                      <a:srgbClr val="000000"/>
                    </a:outerShdw>
                  </a:effectLst>
                  <a:latin typeface="Times New Roman" panose="02020603050405020304" pitchFamily="18" charset="0"/>
                </a:rPr>
                <a:t>N</a:t>
              </a:r>
            </a:p>
          </p:txBody>
        </p:sp>
        <p:sp>
          <p:nvSpPr>
            <p:cNvPr id="6155" name="Text Box 11"/>
            <p:cNvSpPr txBox="1">
              <a:spLocks noChangeArrowheads="1"/>
            </p:cNvSpPr>
            <p:nvPr/>
          </p:nvSpPr>
          <p:spPr bwMode="auto">
            <a:xfrm>
              <a:off x="1886" y="1023"/>
              <a:ext cx="108" cy="179"/>
            </a:xfrm>
            <a:prstGeom prst="rect">
              <a:avLst/>
            </a:prstGeom>
            <a:gradFill rotWithShape="1">
              <a:gsLst>
                <a:gs pos="0">
                  <a:schemeClr val="accent1">
                    <a:alpha val="0"/>
                  </a:schemeClr>
                </a:gs>
                <a:gs pos="100000">
                  <a:schemeClr val="accent1">
                    <a:gamma/>
                    <a:tint val="0"/>
                    <a:invGamma/>
                    <a:alpha val="0"/>
                  </a:schemeClr>
                </a:gs>
              </a:gsLst>
              <a:path path="shape">
                <a:fillToRect l="50000" t="50000" r="50000" b="50000"/>
              </a:path>
            </a:gradFill>
            <a:ln>
              <a:noFill/>
            </a:ln>
            <a:effectLst/>
            <a:extLst>
              <a:ext uri="{91240B29-F687-4F45-9708-019B960494DF}">
                <a14:hiddenLine xmlns:a14="http://schemas.microsoft.com/office/drawing/2010/main" w="9525">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nSpc>
                  <a:spcPct val="85000"/>
                </a:lnSpc>
                <a:defRPr/>
              </a:pPr>
              <a:r>
                <a:rPr kumimoji="1" lang="en-US" altLang="zh-CN" sz="2200" b="1">
                  <a:solidFill>
                    <a:schemeClr val="bg2"/>
                  </a:solidFill>
                  <a:effectLst>
                    <a:outerShdw blurRad="38100" dist="38100" dir="2700000" algn="tl">
                      <a:srgbClr val="000000"/>
                    </a:outerShdw>
                  </a:effectLst>
                  <a:latin typeface="Times New Roman" panose="02020603050405020304" pitchFamily="18" charset="0"/>
                </a:rPr>
                <a:t>P</a:t>
              </a:r>
            </a:p>
          </p:txBody>
        </p:sp>
        <p:sp>
          <p:nvSpPr>
            <p:cNvPr id="7265" name="Rectangle 12"/>
            <p:cNvSpPr>
              <a:spLocks noChangeArrowheads="1"/>
            </p:cNvSpPr>
            <p:nvPr/>
          </p:nvSpPr>
          <p:spPr bwMode="auto">
            <a:xfrm>
              <a:off x="1748" y="822"/>
              <a:ext cx="77" cy="775"/>
            </a:xfrm>
            <a:prstGeom prst="rect">
              <a:avLst/>
            </a:prstGeom>
            <a:solidFill>
              <a:schemeClr val="tx1">
                <a:alpha val="92155"/>
              </a:schemeClr>
            </a:solidFill>
            <a:ln w="22225">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66" name="Rectangle 13"/>
            <p:cNvSpPr>
              <a:spLocks noChangeArrowheads="1"/>
            </p:cNvSpPr>
            <p:nvPr/>
          </p:nvSpPr>
          <p:spPr bwMode="auto">
            <a:xfrm>
              <a:off x="2067" y="824"/>
              <a:ext cx="63" cy="773"/>
            </a:xfrm>
            <a:prstGeom prst="rect">
              <a:avLst/>
            </a:prstGeom>
            <a:solidFill>
              <a:schemeClr val="tx1">
                <a:alpha val="92155"/>
              </a:schemeClr>
            </a:solidFill>
            <a:ln w="22225">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67" name="Rectangle 14"/>
            <p:cNvSpPr>
              <a:spLocks noChangeArrowheads="1"/>
            </p:cNvSpPr>
            <p:nvPr/>
          </p:nvSpPr>
          <p:spPr bwMode="auto">
            <a:xfrm>
              <a:off x="2807" y="1080"/>
              <a:ext cx="107" cy="282"/>
            </a:xfrm>
            <a:prstGeom prst="rect">
              <a:avLst/>
            </a:prstGeom>
            <a:solidFill>
              <a:srgbClr val="006400"/>
            </a:solidFill>
            <a:ln w="2857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68" name="Line 15"/>
            <p:cNvSpPr>
              <a:spLocks noChangeShapeType="1"/>
            </p:cNvSpPr>
            <p:nvPr/>
          </p:nvSpPr>
          <p:spPr bwMode="auto">
            <a:xfrm>
              <a:off x="2917" y="1211"/>
              <a:ext cx="585" cy="0"/>
            </a:xfrm>
            <a:prstGeom prst="line">
              <a:avLst/>
            </a:prstGeom>
            <a:noFill/>
            <a:ln w="28575">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69" name="Rectangle 16"/>
            <p:cNvSpPr>
              <a:spLocks noChangeArrowheads="1"/>
            </p:cNvSpPr>
            <p:nvPr/>
          </p:nvSpPr>
          <p:spPr bwMode="auto">
            <a:xfrm>
              <a:off x="2136" y="822"/>
              <a:ext cx="78" cy="775"/>
            </a:xfrm>
            <a:prstGeom prst="rect">
              <a:avLst/>
            </a:prstGeom>
            <a:gradFill rotWithShape="1">
              <a:gsLst>
                <a:gs pos="0">
                  <a:srgbClr val="00CC66">
                    <a:alpha val="92000"/>
                  </a:srgbClr>
                </a:gs>
                <a:gs pos="100000">
                  <a:srgbClr val="00C261">
                    <a:alpha val="40999"/>
                  </a:srgbClr>
                </a:gs>
              </a:gsLst>
              <a:lin ang="0" scaled="1"/>
            </a:gradFill>
            <a:ln w="22225">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70" name="Rectangle 17"/>
            <p:cNvSpPr>
              <a:spLocks noChangeArrowheads="1"/>
            </p:cNvSpPr>
            <p:nvPr/>
          </p:nvSpPr>
          <p:spPr bwMode="auto">
            <a:xfrm>
              <a:off x="1678" y="830"/>
              <a:ext cx="79" cy="774"/>
            </a:xfrm>
            <a:prstGeom prst="rect">
              <a:avLst/>
            </a:prstGeom>
            <a:gradFill rotWithShape="1">
              <a:gsLst>
                <a:gs pos="0">
                  <a:srgbClr val="00CC66">
                    <a:alpha val="92000"/>
                  </a:srgbClr>
                </a:gs>
                <a:gs pos="100000">
                  <a:srgbClr val="00C261">
                    <a:alpha val="40999"/>
                  </a:srgbClr>
                </a:gs>
              </a:gsLst>
              <a:lin ang="0" scaled="1"/>
            </a:gradFill>
            <a:ln w="22225">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sp>
        <p:nvSpPr>
          <p:cNvPr id="6162" name="Line 18"/>
          <p:cNvSpPr>
            <a:spLocks noChangeShapeType="1"/>
          </p:cNvSpPr>
          <p:nvPr/>
        </p:nvSpPr>
        <p:spPr bwMode="auto">
          <a:xfrm>
            <a:off x="673100" y="6329363"/>
            <a:ext cx="2303463" cy="0"/>
          </a:xfrm>
          <a:prstGeom prst="line">
            <a:avLst/>
          </a:prstGeom>
          <a:noFill/>
          <a:ln w="44450">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163" name="Group 19"/>
          <p:cNvGrpSpPr/>
          <p:nvPr/>
        </p:nvGrpSpPr>
        <p:grpSpPr bwMode="auto">
          <a:xfrm>
            <a:off x="457200" y="4256088"/>
            <a:ext cx="971550" cy="2089150"/>
            <a:chOff x="369" y="1203"/>
            <a:chExt cx="612" cy="1316"/>
          </a:xfrm>
        </p:grpSpPr>
        <p:grpSp>
          <p:nvGrpSpPr>
            <p:cNvPr id="7247" name="Group 20"/>
            <p:cNvGrpSpPr/>
            <p:nvPr/>
          </p:nvGrpSpPr>
          <p:grpSpPr bwMode="auto">
            <a:xfrm>
              <a:off x="369" y="1203"/>
              <a:ext cx="612" cy="1316"/>
              <a:chOff x="1247" y="1525"/>
              <a:chExt cx="612" cy="1316"/>
            </a:xfrm>
          </p:grpSpPr>
          <p:grpSp>
            <p:nvGrpSpPr>
              <p:cNvPr id="7251" name="Group 21"/>
              <p:cNvGrpSpPr/>
              <p:nvPr/>
            </p:nvGrpSpPr>
            <p:grpSpPr bwMode="auto">
              <a:xfrm flipV="1">
                <a:off x="1247" y="2365"/>
                <a:ext cx="272" cy="113"/>
                <a:chOff x="1519" y="3045"/>
                <a:chExt cx="386" cy="113"/>
              </a:xfrm>
            </p:grpSpPr>
            <p:sp>
              <p:nvSpPr>
                <p:cNvPr id="7255" name="Line 22"/>
                <p:cNvSpPr>
                  <a:spLocks noChangeShapeType="1"/>
                </p:cNvSpPr>
                <p:nvPr/>
              </p:nvSpPr>
              <p:spPr bwMode="auto">
                <a:xfrm>
                  <a:off x="1519" y="3045"/>
                  <a:ext cx="386" cy="0"/>
                </a:xfrm>
                <a:prstGeom prst="line">
                  <a:avLst/>
                </a:prstGeom>
                <a:noFill/>
                <a:ln w="571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56" name="Line 23"/>
                <p:cNvSpPr>
                  <a:spLocks noChangeShapeType="1"/>
                </p:cNvSpPr>
                <p:nvPr/>
              </p:nvSpPr>
              <p:spPr bwMode="auto">
                <a:xfrm>
                  <a:off x="1587" y="3158"/>
                  <a:ext cx="227" cy="0"/>
                </a:xfrm>
                <a:prstGeom prst="line">
                  <a:avLst/>
                </a:prstGeom>
                <a:noFill/>
                <a:ln w="571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252" name="Line 24"/>
              <p:cNvSpPr>
                <a:spLocks noChangeShapeType="1"/>
              </p:cNvSpPr>
              <p:nvPr/>
            </p:nvSpPr>
            <p:spPr bwMode="auto">
              <a:xfrm flipV="1">
                <a:off x="1383" y="1525"/>
                <a:ext cx="0" cy="839"/>
              </a:xfrm>
              <a:prstGeom prst="line">
                <a:avLst/>
              </a:prstGeom>
              <a:noFill/>
              <a:ln w="44450">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53" name="Line 25"/>
              <p:cNvSpPr>
                <a:spLocks noChangeShapeType="1"/>
              </p:cNvSpPr>
              <p:nvPr/>
            </p:nvSpPr>
            <p:spPr bwMode="auto">
              <a:xfrm flipV="1">
                <a:off x="1383" y="2478"/>
                <a:ext cx="0" cy="363"/>
              </a:xfrm>
              <a:prstGeom prst="line">
                <a:avLst/>
              </a:prstGeom>
              <a:noFill/>
              <a:ln w="44450">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54" name="Text Box 26"/>
              <p:cNvSpPr txBox="1">
                <a:spLocks noChangeArrowheads="1"/>
              </p:cNvSpPr>
              <p:nvPr/>
            </p:nvSpPr>
            <p:spPr bwMode="auto">
              <a:xfrm>
                <a:off x="1519" y="2296"/>
                <a:ext cx="340" cy="219"/>
              </a:xfrm>
              <a:prstGeom prst="rect">
                <a:avLst/>
              </a:prstGeom>
              <a:noFill/>
              <a:ln>
                <a:noFill/>
              </a:ln>
              <a:effectLst/>
              <a:extLst>
                <a:ext uri="{909E8E84-426E-40DD-AFC4-6F175D3DCCD1}">
                  <a14:hiddenFill xmlns:a14="http://schemas.microsoft.com/office/drawing/2010/main">
                    <a:gradFill rotWithShape="1">
                      <a:gsLst>
                        <a:gs pos="0">
                          <a:srgbClr val="FF9933">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n-US" altLang="zh-CN" sz="2400" b="1" i="1">
                    <a:solidFill>
                      <a:srgbClr val="00005C"/>
                    </a:solidFill>
                    <a:latin typeface="Times New Roman" panose="02020603050405020304" pitchFamily="18" charset="0"/>
                    <a:ea typeface="隶书" panose="02010509060101010101" pitchFamily="49" charset="-122"/>
                  </a:rPr>
                  <a:t>U</a:t>
                </a:r>
                <a:r>
                  <a:rPr kumimoji="1" lang="en-US" altLang="zh-CN" sz="2400" b="1" baseline="-25000">
                    <a:solidFill>
                      <a:srgbClr val="00005C"/>
                    </a:solidFill>
                    <a:latin typeface="Times New Roman" panose="02020603050405020304" pitchFamily="18" charset="0"/>
                    <a:ea typeface="隶书" panose="02010509060101010101" pitchFamily="49" charset="-122"/>
                  </a:rPr>
                  <a:t>BB</a:t>
                </a:r>
              </a:p>
            </p:txBody>
          </p:sp>
        </p:grpSp>
        <p:grpSp>
          <p:nvGrpSpPr>
            <p:cNvPr id="7248" name="Group 27"/>
            <p:cNvGrpSpPr/>
            <p:nvPr/>
          </p:nvGrpSpPr>
          <p:grpSpPr bwMode="auto">
            <a:xfrm>
              <a:off x="438" y="1455"/>
              <a:ext cx="454" cy="295"/>
              <a:chOff x="680" y="1548"/>
              <a:chExt cx="454" cy="295"/>
            </a:xfrm>
          </p:grpSpPr>
          <p:sp>
            <p:nvSpPr>
              <p:cNvPr id="7249" name="Text Box 28"/>
              <p:cNvSpPr txBox="1">
                <a:spLocks noChangeArrowheads="1"/>
              </p:cNvSpPr>
              <p:nvPr/>
            </p:nvSpPr>
            <p:spPr bwMode="auto">
              <a:xfrm>
                <a:off x="862" y="1570"/>
                <a:ext cx="272" cy="219"/>
              </a:xfrm>
              <a:prstGeom prst="rect">
                <a:avLst/>
              </a:prstGeom>
              <a:noFill/>
              <a:ln>
                <a:noFill/>
              </a:ln>
              <a:effectLst/>
              <a:extLst>
                <a:ext uri="{909E8E84-426E-40DD-AFC4-6F175D3DCCD1}">
                  <a14:hiddenFill xmlns:a14="http://schemas.microsoft.com/office/drawing/2010/main">
                    <a:gradFill rotWithShape="1">
                      <a:gsLst>
                        <a:gs pos="0">
                          <a:srgbClr val="FF9933">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n-US" altLang="zh-CN" sz="2400" b="1" i="1">
                    <a:solidFill>
                      <a:srgbClr val="00005C"/>
                    </a:solidFill>
                    <a:latin typeface="Times New Roman" panose="02020603050405020304" pitchFamily="18" charset="0"/>
                    <a:ea typeface="隶书" panose="02010509060101010101" pitchFamily="49" charset="-122"/>
                  </a:rPr>
                  <a:t>R</a:t>
                </a:r>
                <a:r>
                  <a:rPr kumimoji="1" lang="en-US" altLang="zh-CN" sz="2400" b="1" baseline="-25000">
                    <a:solidFill>
                      <a:srgbClr val="00005C"/>
                    </a:solidFill>
                    <a:latin typeface="Times New Roman" panose="02020603050405020304" pitchFamily="18" charset="0"/>
                    <a:ea typeface="隶书" panose="02010509060101010101" pitchFamily="49" charset="-122"/>
                  </a:rPr>
                  <a:t>B</a:t>
                </a:r>
              </a:p>
            </p:txBody>
          </p:sp>
          <p:sp>
            <p:nvSpPr>
              <p:cNvPr id="7250" name="Rectangle 29"/>
              <p:cNvSpPr>
                <a:spLocks noChangeArrowheads="1"/>
              </p:cNvSpPr>
              <p:nvPr/>
            </p:nvSpPr>
            <p:spPr bwMode="auto">
              <a:xfrm>
                <a:off x="680" y="1548"/>
                <a:ext cx="136" cy="295"/>
              </a:xfrm>
              <a:prstGeom prst="rect">
                <a:avLst/>
              </a:prstGeom>
              <a:gradFill rotWithShape="1">
                <a:gsLst>
                  <a:gs pos="0">
                    <a:srgbClr val="FFFFC1"/>
                  </a:gs>
                  <a:gs pos="100000">
                    <a:srgbClr val="FFFF99"/>
                  </a:gs>
                </a:gsLst>
                <a:path path="shape">
                  <a:fillToRect l="50000" t="50000" r="50000" b="50000"/>
                </a:path>
              </a:gradFill>
              <a:ln w="2857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grpSp>
      <p:sp>
        <p:nvSpPr>
          <p:cNvPr id="6174" name="Text Box 30"/>
          <p:cNvSpPr txBox="1">
            <a:spLocks noChangeArrowheads="1"/>
          </p:cNvSpPr>
          <p:nvPr/>
        </p:nvSpPr>
        <p:spPr bwMode="auto">
          <a:xfrm>
            <a:off x="2517775" y="5137150"/>
            <a:ext cx="360363" cy="317500"/>
          </a:xfrm>
          <a:prstGeom prst="rect">
            <a:avLst/>
          </a:prstGeom>
          <a:gradFill rotWithShape="1">
            <a:gsLst>
              <a:gs pos="0">
                <a:srgbClr val="FFFF99">
                  <a:alpha val="0"/>
                </a:srgbClr>
              </a:gs>
              <a:gs pos="100000">
                <a:srgbClr val="FFFF99">
                  <a:gamma/>
                  <a:tint val="0"/>
                  <a:invGamma/>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1" hangingPunct="1">
              <a:lnSpc>
                <a:spcPct val="95000"/>
              </a:lnSpc>
              <a:defRPr/>
            </a:pPr>
            <a:r>
              <a:rPr kumimoji="1" lang="en-US" altLang="en-US" sz="2200" b="1">
                <a:solidFill>
                  <a:srgbClr val="FF0000"/>
                </a:solidFill>
                <a:effectLst>
                  <a:outerShdw blurRad="38100" dist="38100" dir="2700000" algn="tl">
                    <a:srgbClr val="000000"/>
                  </a:outerShdw>
                </a:effectLst>
                <a:latin typeface="Times New Roman" panose="02020603050405020304" pitchFamily="18" charset="0"/>
              </a:rPr>
              <a:t>＋</a:t>
            </a:r>
            <a:endParaRPr kumimoji="1" lang="zh-CN" altLang="en-US" sz="2200" b="1">
              <a:solidFill>
                <a:srgbClr val="FF0000"/>
              </a:solidFill>
              <a:effectLst>
                <a:outerShdw blurRad="38100" dist="38100" dir="2700000" algn="tl">
                  <a:srgbClr val="000000"/>
                </a:outerShdw>
              </a:effectLst>
              <a:latin typeface="Times New Roman" panose="02020603050405020304" pitchFamily="18" charset="0"/>
            </a:endParaRPr>
          </a:p>
        </p:txBody>
      </p:sp>
      <p:sp>
        <p:nvSpPr>
          <p:cNvPr id="6175" name="Text Box 31"/>
          <p:cNvSpPr txBox="1">
            <a:spLocks noChangeArrowheads="1"/>
          </p:cNvSpPr>
          <p:nvPr/>
        </p:nvSpPr>
        <p:spPr bwMode="auto">
          <a:xfrm>
            <a:off x="1184275" y="4246563"/>
            <a:ext cx="360363" cy="317500"/>
          </a:xfrm>
          <a:prstGeom prst="rect">
            <a:avLst/>
          </a:prstGeom>
          <a:gradFill rotWithShape="1">
            <a:gsLst>
              <a:gs pos="0">
                <a:srgbClr val="FFFF99">
                  <a:alpha val="0"/>
                </a:srgbClr>
              </a:gs>
              <a:gs pos="100000">
                <a:srgbClr val="FFFF99">
                  <a:gamma/>
                  <a:tint val="0"/>
                  <a:invGamma/>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1" hangingPunct="1">
              <a:lnSpc>
                <a:spcPct val="95000"/>
              </a:lnSpc>
              <a:defRPr/>
            </a:pPr>
            <a:r>
              <a:rPr kumimoji="1" lang="en-US" altLang="en-US" sz="2200" b="1">
                <a:solidFill>
                  <a:srgbClr val="FF0000"/>
                </a:solidFill>
                <a:effectLst>
                  <a:outerShdw blurRad="38100" dist="38100" dir="2700000" algn="tl">
                    <a:srgbClr val="000000"/>
                  </a:outerShdw>
                </a:effectLst>
                <a:latin typeface="Times New Roman" panose="02020603050405020304" pitchFamily="18" charset="0"/>
              </a:rPr>
              <a:t>－</a:t>
            </a:r>
            <a:endParaRPr kumimoji="1" lang="zh-CN" altLang="en-US" sz="2200" b="1">
              <a:solidFill>
                <a:srgbClr val="FF0000"/>
              </a:solidFill>
              <a:effectLst>
                <a:outerShdw blurRad="38100" dist="38100" dir="2700000" algn="tl">
                  <a:srgbClr val="000000"/>
                </a:outerShdw>
              </a:effectLst>
              <a:latin typeface="Times New Roman" panose="02020603050405020304" pitchFamily="18" charset="0"/>
            </a:endParaRPr>
          </a:p>
        </p:txBody>
      </p:sp>
      <p:sp>
        <p:nvSpPr>
          <p:cNvPr id="6176" name="Line 32"/>
          <p:cNvSpPr>
            <a:spLocks noChangeShapeType="1"/>
          </p:cNvSpPr>
          <p:nvPr/>
        </p:nvSpPr>
        <p:spPr bwMode="auto">
          <a:xfrm rot="-5400000">
            <a:off x="2361406" y="5720557"/>
            <a:ext cx="1239837" cy="0"/>
          </a:xfrm>
          <a:prstGeom prst="line">
            <a:avLst/>
          </a:prstGeom>
          <a:noFill/>
          <a:ln w="44450">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177" name="Group 33"/>
          <p:cNvGrpSpPr/>
          <p:nvPr/>
        </p:nvGrpSpPr>
        <p:grpSpPr bwMode="auto">
          <a:xfrm>
            <a:off x="1858963" y="3746500"/>
            <a:ext cx="566737" cy="1025525"/>
            <a:chOff x="1886" y="1157"/>
            <a:chExt cx="498" cy="910"/>
          </a:xfrm>
        </p:grpSpPr>
        <p:sp>
          <p:nvSpPr>
            <p:cNvPr id="7233" name="Oval 34"/>
            <p:cNvSpPr>
              <a:spLocks noChangeArrowheads="1"/>
            </p:cNvSpPr>
            <p:nvPr/>
          </p:nvSpPr>
          <p:spPr bwMode="auto">
            <a:xfrm>
              <a:off x="2248" y="1157"/>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nvGrpSpPr>
            <p:cNvPr id="7234" name="Group 35"/>
            <p:cNvGrpSpPr/>
            <p:nvPr/>
          </p:nvGrpSpPr>
          <p:grpSpPr bwMode="auto">
            <a:xfrm>
              <a:off x="1886" y="1192"/>
              <a:ext cx="498" cy="875"/>
              <a:chOff x="1886" y="1192"/>
              <a:chExt cx="498" cy="875"/>
            </a:xfrm>
          </p:grpSpPr>
          <p:sp>
            <p:nvSpPr>
              <p:cNvPr id="7235" name="Oval 36"/>
              <p:cNvSpPr>
                <a:spLocks noChangeArrowheads="1"/>
              </p:cNvSpPr>
              <p:nvPr/>
            </p:nvSpPr>
            <p:spPr bwMode="auto">
              <a:xfrm>
                <a:off x="1931" y="1709"/>
                <a:ext cx="114" cy="113"/>
              </a:xfrm>
              <a:prstGeom prst="ellipse">
                <a:avLst/>
              </a:prstGeom>
              <a:solidFill>
                <a:schemeClr val="bg1"/>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nvGrpSpPr>
              <p:cNvPr id="7236" name="Group 37"/>
              <p:cNvGrpSpPr/>
              <p:nvPr/>
            </p:nvGrpSpPr>
            <p:grpSpPr bwMode="auto">
              <a:xfrm>
                <a:off x="1886" y="1192"/>
                <a:ext cx="479" cy="875"/>
                <a:chOff x="1886" y="1192"/>
                <a:chExt cx="479" cy="875"/>
              </a:xfrm>
            </p:grpSpPr>
            <p:sp>
              <p:nvSpPr>
                <p:cNvPr id="7242" name="Oval 38"/>
                <p:cNvSpPr>
                  <a:spLocks noChangeArrowheads="1"/>
                </p:cNvSpPr>
                <p:nvPr/>
              </p:nvSpPr>
              <p:spPr bwMode="auto">
                <a:xfrm>
                  <a:off x="2074" y="1559"/>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43" name="Oval 39"/>
                <p:cNvSpPr>
                  <a:spLocks noChangeArrowheads="1"/>
                </p:cNvSpPr>
                <p:nvPr/>
              </p:nvSpPr>
              <p:spPr bwMode="auto">
                <a:xfrm>
                  <a:off x="2251" y="1954"/>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44" name="Oval 40"/>
                <p:cNvSpPr>
                  <a:spLocks noChangeArrowheads="1"/>
                </p:cNvSpPr>
                <p:nvPr/>
              </p:nvSpPr>
              <p:spPr bwMode="auto">
                <a:xfrm>
                  <a:off x="1886" y="1469"/>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45" name="Oval 41"/>
                <p:cNvSpPr>
                  <a:spLocks noChangeArrowheads="1"/>
                </p:cNvSpPr>
                <p:nvPr/>
              </p:nvSpPr>
              <p:spPr bwMode="auto">
                <a:xfrm>
                  <a:off x="1913" y="1192"/>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46" name="Oval 42"/>
                <p:cNvSpPr>
                  <a:spLocks noChangeArrowheads="1"/>
                </p:cNvSpPr>
                <p:nvPr/>
              </p:nvSpPr>
              <p:spPr bwMode="auto">
                <a:xfrm>
                  <a:off x="1953" y="1932"/>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sp>
            <p:nvSpPr>
              <p:cNvPr id="7237" name="Oval 43"/>
              <p:cNvSpPr>
                <a:spLocks noChangeArrowheads="1"/>
              </p:cNvSpPr>
              <p:nvPr/>
            </p:nvSpPr>
            <p:spPr bwMode="auto">
              <a:xfrm>
                <a:off x="2072" y="1334"/>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38" name="Oval 44"/>
              <p:cNvSpPr>
                <a:spLocks noChangeArrowheads="1"/>
              </p:cNvSpPr>
              <p:nvPr/>
            </p:nvSpPr>
            <p:spPr bwMode="auto">
              <a:xfrm>
                <a:off x="2270" y="1688"/>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nvGrpSpPr>
              <p:cNvPr id="7239" name="Group 45"/>
              <p:cNvGrpSpPr/>
              <p:nvPr/>
            </p:nvGrpSpPr>
            <p:grpSpPr bwMode="auto">
              <a:xfrm>
                <a:off x="2116" y="1386"/>
                <a:ext cx="267" cy="470"/>
                <a:chOff x="2108" y="1425"/>
                <a:chExt cx="267" cy="470"/>
              </a:xfrm>
            </p:grpSpPr>
            <p:sp>
              <p:nvSpPr>
                <p:cNvPr id="7240" name="Oval 46"/>
                <p:cNvSpPr>
                  <a:spLocks noChangeArrowheads="1"/>
                </p:cNvSpPr>
                <p:nvPr/>
              </p:nvSpPr>
              <p:spPr bwMode="auto">
                <a:xfrm>
                  <a:off x="2261" y="1425"/>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41" name="Oval 47"/>
                <p:cNvSpPr>
                  <a:spLocks noChangeArrowheads="1"/>
                </p:cNvSpPr>
                <p:nvPr/>
              </p:nvSpPr>
              <p:spPr bwMode="auto">
                <a:xfrm>
                  <a:off x="2108" y="1782"/>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grpSp>
      </p:grpSp>
      <p:grpSp>
        <p:nvGrpSpPr>
          <p:cNvPr id="6192" name="Group 48"/>
          <p:cNvGrpSpPr/>
          <p:nvPr/>
        </p:nvGrpSpPr>
        <p:grpSpPr bwMode="auto">
          <a:xfrm>
            <a:off x="2792413" y="3790950"/>
            <a:ext cx="311150" cy="1039813"/>
            <a:chOff x="2662" y="1128"/>
            <a:chExt cx="290" cy="929"/>
          </a:xfrm>
        </p:grpSpPr>
        <p:sp>
          <p:nvSpPr>
            <p:cNvPr id="7227" name="Oval 49"/>
            <p:cNvSpPr>
              <a:spLocks noChangeArrowheads="1"/>
            </p:cNvSpPr>
            <p:nvPr/>
          </p:nvSpPr>
          <p:spPr bwMode="auto">
            <a:xfrm>
              <a:off x="2662" y="1128"/>
              <a:ext cx="114" cy="113"/>
            </a:xfrm>
            <a:prstGeom prst="ellipse">
              <a:avLst/>
            </a:prstGeom>
            <a:solidFill>
              <a:schemeClr val="bg1"/>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28" name="Oval 50"/>
            <p:cNvSpPr>
              <a:spLocks noChangeArrowheads="1"/>
            </p:cNvSpPr>
            <p:nvPr/>
          </p:nvSpPr>
          <p:spPr bwMode="auto">
            <a:xfrm>
              <a:off x="2703" y="1944"/>
              <a:ext cx="114" cy="113"/>
            </a:xfrm>
            <a:prstGeom prst="ellipse">
              <a:avLst/>
            </a:prstGeom>
            <a:solidFill>
              <a:schemeClr val="bg1"/>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29" name="Oval 51"/>
            <p:cNvSpPr>
              <a:spLocks noChangeArrowheads="1"/>
            </p:cNvSpPr>
            <p:nvPr/>
          </p:nvSpPr>
          <p:spPr bwMode="auto">
            <a:xfrm>
              <a:off x="2838" y="1134"/>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nvGrpSpPr>
            <p:cNvPr id="7230" name="Group 52"/>
            <p:cNvGrpSpPr/>
            <p:nvPr/>
          </p:nvGrpSpPr>
          <p:grpSpPr bwMode="auto">
            <a:xfrm>
              <a:off x="2666" y="1416"/>
              <a:ext cx="267" cy="470"/>
              <a:chOff x="2108" y="1425"/>
              <a:chExt cx="267" cy="470"/>
            </a:xfrm>
          </p:grpSpPr>
          <p:sp>
            <p:nvSpPr>
              <p:cNvPr id="7231" name="Oval 53"/>
              <p:cNvSpPr>
                <a:spLocks noChangeArrowheads="1"/>
              </p:cNvSpPr>
              <p:nvPr/>
            </p:nvSpPr>
            <p:spPr bwMode="auto">
              <a:xfrm>
                <a:off x="2261" y="1425"/>
                <a:ext cx="114" cy="113"/>
              </a:xfrm>
              <a:prstGeom prst="ellipse">
                <a:avLst/>
              </a:prstGeom>
              <a:solidFill>
                <a:schemeClr val="bg1"/>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32" name="Oval 54"/>
              <p:cNvSpPr>
                <a:spLocks noChangeArrowheads="1"/>
              </p:cNvSpPr>
              <p:nvPr/>
            </p:nvSpPr>
            <p:spPr bwMode="auto">
              <a:xfrm>
                <a:off x="2108" y="1782"/>
                <a:ext cx="114" cy="113"/>
              </a:xfrm>
              <a:prstGeom prst="ellipse">
                <a:avLst/>
              </a:prstGeom>
              <a:solidFill>
                <a:schemeClr val="bg1"/>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grpSp>
      <p:grpSp>
        <p:nvGrpSpPr>
          <p:cNvPr id="6199" name="Group 55"/>
          <p:cNvGrpSpPr/>
          <p:nvPr/>
        </p:nvGrpSpPr>
        <p:grpSpPr bwMode="auto">
          <a:xfrm>
            <a:off x="3463925" y="3741738"/>
            <a:ext cx="758825" cy="1014412"/>
            <a:chOff x="2263" y="879"/>
            <a:chExt cx="478" cy="639"/>
          </a:xfrm>
        </p:grpSpPr>
        <p:sp>
          <p:nvSpPr>
            <p:cNvPr id="7220" name="Oval 56"/>
            <p:cNvSpPr>
              <a:spLocks noChangeArrowheads="1"/>
            </p:cNvSpPr>
            <p:nvPr/>
          </p:nvSpPr>
          <p:spPr bwMode="auto">
            <a:xfrm>
              <a:off x="2632" y="1256"/>
              <a:ext cx="84" cy="8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21" name="Oval 57"/>
            <p:cNvSpPr>
              <a:spLocks noChangeArrowheads="1"/>
            </p:cNvSpPr>
            <p:nvPr/>
          </p:nvSpPr>
          <p:spPr bwMode="auto">
            <a:xfrm>
              <a:off x="2395" y="1061"/>
              <a:ext cx="85" cy="8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22" name="Oval 58"/>
            <p:cNvSpPr>
              <a:spLocks noChangeArrowheads="1"/>
            </p:cNvSpPr>
            <p:nvPr/>
          </p:nvSpPr>
          <p:spPr bwMode="auto">
            <a:xfrm>
              <a:off x="2406" y="1263"/>
              <a:ext cx="85" cy="82"/>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23" name="Oval 59"/>
            <p:cNvSpPr>
              <a:spLocks noChangeArrowheads="1"/>
            </p:cNvSpPr>
            <p:nvPr/>
          </p:nvSpPr>
          <p:spPr bwMode="auto">
            <a:xfrm>
              <a:off x="2594" y="879"/>
              <a:ext cx="84" cy="8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24" name="Oval 60"/>
            <p:cNvSpPr>
              <a:spLocks noChangeArrowheads="1"/>
            </p:cNvSpPr>
            <p:nvPr/>
          </p:nvSpPr>
          <p:spPr bwMode="auto">
            <a:xfrm>
              <a:off x="2657" y="1408"/>
              <a:ext cx="84" cy="82"/>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25" name="Oval 61"/>
            <p:cNvSpPr>
              <a:spLocks noChangeArrowheads="1"/>
            </p:cNvSpPr>
            <p:nvPr/>
          </p:nvSpPr>
          <p:spPr bwMode="auto">
            <a:xfrm>
              <a:off x="2283" y="1435"/>
              <a:ext cx="84" cy="83"/>
            </a:xfrm>
            <a:prstGeom prst="ellipse">
              <a:avLst/>
            </a:prstGeom>
            <a:solidFill>
              <a:schemeClr val="bg1"/>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26" name="Oval 62"/>
            <p:cNvSpPr>
              <a:spLocks noChangeArrowheads="1"/>
            </p:cNvSpPr>
            <p:nvPr/>
          </p:nvSpPr>
          <p:spPr bwMode="auto">
            <a:xfrm>
              <a:off x="2263" y="970"/>
              <a:ext cx="84" cy="82"/>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grpSp>
        <p:nvGrpSpPr>
          <p:cNvPr id="6207" name="Group 63"/>
          <p:cNvGrpSpPr/>
          <p:nvPr/>
        </p:nvGrpSpPr>
        <p:grpSpPr bwMode="auto">
          <a:xfrm>
            <a:off x="1871663" y="3786188"/>
            <a:ext cx="534987" cy="984250"/>
            <a:chOff x="1886" y="1192"/>
            <a:chExt cx="479" cy="875"/>
          </a:xfrm>
        </p:grpSpPr>
        <p:sp>
          <p:nvSpPr>
            <p:cNvPr id="7215" name="Oval 64"/>
            <p:cNvSpPr>
              <a:spLocks noChangeArrowheads="1"/>
            </p:cNvSpPr>
            <p:nvPr/>
          </p:nvSpPr>
          <p:spPr bwMode="auto">
            <a:xfrm>
              <a:off x="2074" y="1559"/>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16" name="Oval 65"/>
            <p:cNvSpPr>
              <a:spLocks noChangeArrowheads="1"/>
            </p:cNvSpPr>
            <p:nvPr/>
          </p:nvSpPr>
          <p:spPr bwMode="auto">
            <a:xfrm>
              <a:off x="2251" y="1954"/>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17" name="Oval 66"/>
            <p:cNvSpPr>
              <a:spLocks noChangeArrowheads="1"/>
            </p:cNvSpPr>
            <p:nvPr/>
          </p:nvSpPr>
          <p:spPr bwMode="auto">
            <a:xfrm>
              <a:off x="1886" y="1469"/>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18" name="Oval 67"/>
            <p:cNvSpPr>
              <a:spLocks noChangeArrowheads="1"/>
            </p:cNvSpPr>
            <p:nvPr/>
          </p:nvSpPr>
          <p:spPr bwMode="auto">
            <a:xfrm>
              <a:off x="1913" y="1192"/>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19" name="Oval 68"/>
            <p:cNvSpPr>
              <a:spLocks noChangeArrowheads="1"/>
            </p:cNvSpPr>
            <p:nvPr/>
          </p:nvSpPr>
          <p:spPr bwMode="auto">
            <a:xfrm>
              <a:off x="1953" y="1932"/>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grpSp>
        <p:nvGrpSpPr>
          <p:cNvPr id="6213" name="Group 69"/>
          <p:cNvGrpSpPr/>
          <p:nvPr/>
        </p:nvGrpSpPr>
        <p:grpSpPr bwMode="auto">
          <a:xfrm>
            <a:off x="2133600" y="3990975"/>
            <a:ext cx="288925" cy="550863"/>
            <a:chOff x="2108" y="1425"/>
            <a:chExt cx="267" cy="470"/>
          </a:xfrm>
        </p:grpSpPr>
        <p:sp>
          <p:nvSpPr>
            <p:cNvPr id="7213" name="Oval 70"/>
            <p:cNvSpPr>
              <a:spLocks noChangeArrowheads="1"/>
            </p:cNvSpPr>
            <p:nvPr/>
          </p:nvSpPr>
          <p:spPr bwMode="auto">
            <a:xfrm>
              <a:off x="2261" y="1425"/>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7214" name="Oval 71"/>
            <p:cNvSpPr>
              <a:spLocks noChangeArrowheads="1"/>
            </p:cNvSpPr>
            <p:nvPr/>
          </p:nvSpPr>
          <p:spPr bwMode="auto">
            <a:xfrm>
              <a:off x="2108" y="1782"/>
              <a:ext cx="114" cy="113"/>
            </a:xfrm>
            <a:prstGeom prst="ellipse">
              <a:avLst/>
            </a:prstGeom>
            <a:solidFill>
              <a:srgbClr val="FF0000"/>
            </a:solidFill>
            <a:ln w="19050">
              <a:solidFill>
                <a:srgbClr val="00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sp>
        <p:nvSpPr>
          <p:cNvPr id="6216" name="Oval 72"/>
          <p:cNvSpPr>
            <a:spLocks noChangeArrowheads="1"/>
          </p:cNvSpPr>
          <p:nvPr/>
        </p:nvSpPr>
        <p:spPr bwMode="auto">
          <a:xfrm>
            <a:off x="2782888" y="4483100"/>
            <a:ext cx="184150" cy="184150"/>
          </a:xfrm>
          <a:prstGeom prst="ellipse">
            <a:avLst/>
          </a:prstGeom>
          <a:solidFill>
            <a:srgbClr val="FFCCFF"/>
          </a:solidFill>
          <a:ln>
            <a:noFill/>
          </a:ln>
          <a:effectLst/>
          <a:extLst>
            <a:ext uri="{91240B29-F687-4F45-9708-019B960494DF}">
              <a14:hiddenLine xmlns:a14="http://schemas.microsoft.com/office/drawing/2010/main" w="9525">
                <a:solidFill>
                  <a:srgbClr val="00005C"/>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217" name="Oval 73"/>
          <p:cNvSpPr>
            <a:spLocks noChangeArrowheads="1"/>
          </p:cNvSpPr>
          <p:nvPr/>
        </p:nvSpPr>
        <p:spPr bwMode="auto">
          <a:xfrm>
            <a:off x="2922588" y="5360988"/>
            <a:ext cx="120650" cy="122237"/>
          </a:xfrm>
          <a:prstGeom prst="ellipse">
            <a:avLst/>
          </a:prstGeom>
          <a:solidFill>
            <a:schemeClr val="bg1"/>
          </a:solidFill>
          <a:ln w="9525">
            <a:solidFill>
              <a:srgbClr val="00005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6218" name="Text Box 74"/>
          <p:cNvSpPr txBox="1">
            <a:spLocks noChangeArrowheads="1"/>
          </p:cNvSpPr>
          <p:nvPr/>
        </p:nvSpPr>
        <p:spPr bwMode="auto">
          <a:xfrm>
            <a:off x="468313" y="1052513"/>
            <a:ext cx="7986712" cy="1107996"/>
          </a:xfrm>
          <a:prstGeom prst="rect">
            <a:avLst/>
          </a:prstGeom>
          <a:noFill/>
          <a:ln>
            <a:noFill/>
          </a:ln>
          <a:effectLst/>
          <a:extLst>
            <a:ext uri="{909E8E84-426E-40DD-AFC4-6F175D3DCCD1}">
              <a14:hiddenFill xmlns:a14="http://schemas.microsoft.com/office/drawing/2010/main">
                <a:gradFill rotWithShape="1">
                  <a:gsLst>
                    <a:gs pos="0">
                      <a:srgbClr val="CCFF99">
                        <a:gamma/>
                        <a:tint val="0"/>
                        <a:invGamma/>
                        <a:alpha val="0"/>
                      </a:srgbClr>
                    </a:gs>
                    <a:gs pos="50000">
                      <a:srgbClr val="CCFF99"/>
                    </a:gs>
                    <a:gs pos="100000">
                      <a:srgbClr val="CCFF99">
                        <a:gamma/>
                        <a:tint val="0"/>
                        <a:invGamma/>
                        <a:alpha val="0"/>
                      </a:srgb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1" hangingPunct="1">
              <a:defRPr/>
            </a:pPr>
            <a:r>
              <a:rPr kumimoji="1" lang="en-US" altLang="zh-CN" sz="2400" dirty="0">
                <a:solidFill>
                  <a:srgbClr val="000042"/>
                </a:solidFill>
                <a:latin typeface="Times New Roman" panose="02020603050405020304" pitchFamily="18" charset="0"/>
                <a:ea typeface="隶书" panose="02010509060101010101" pitchFamily="49" charset="-122"/>
              </a:rPr>
              <a:t>(1)</a:t>
            </a:r>
            <a:r>
              <a:rPr kumimoji="1" lang="zh-CN" altLang="en-US" sz="2400" dirty="0">
                <a:solidFill>
                  <a:srgbClr val="000042"/>
                </a:solidFill>
                <a:latin typeface="Times New Roman" panose="02020603050405020304" pitchFamily="18" charset="0"/>
                <a:ea typeface="隶书" panose="02010509060101010101" pitchFamily="49" charset="-122"/>
              </a:rPr>
              <a:t>发射结必须“</a:t>
            </a:r>
            <a:r>
              <a:rPr kumimoji="1" lang="zh-CN" altLang="en-US" sz="2400" dirty="0">
                <a:solidFill>
                  <a:srgbClr val="A40000"/>
                </a:solidFill>
                <a:latin typeface="Times New Roman" panose="02020603050405020304" pitchFamily="18" charset="0"/>
                <a:ea typeface="隶书" panose="02010509060101010101" pitchFamily="49" charset="-122"/>
              </a:rPr>
              <a:t>正向偏置</a:t>
            </a:r>
            <a:r>
              <a:rPr kumimoji="1" lang="zh-CN" altLang="en-US" sz="2400" dirty="0">
                <a:solidFill>
                  <a:srgbClr val="000042"/>
                </a:solidFill>
                <a:latin typeface="Times New Roman" panose="02020603050405020304" pitchFamily="18" charset="0"/>
                <a:ea typeface="隶书" panose="02010509060101010101" pitchFamily="49" charset="-122"/>
              </a:rPr>
              <a:t>”，以利于发射区电子的扩散，扩散电流即发射极电流</a:t>
            </a:r>
            <a:r>
              <a:rPr kumimoji="1" lang="en-US" altLang="zh-CN" sz="2400" b="1" i="1" dirty="0" err="1">
                <a:solidFill>
                  <a:srgbClr val="000042"/>
                </a:solidFill>
                <a:latin typeface="Times New Roman" panose="02020603050405020304" pitchFamily="18" charset="0"/>
                <a:ea typeface="隶书" panose="02010509060101010101" pitchFamily="49" charset="-122"/>
              </a:rPr>
              <a:t>i</a:t>
            </a:r>
            <a:r>
              <a:rPr kumimoji="1" lang="en-US" altLang="zh-CN" sz="2400" b="1" i="1" baseline="-25000" dirty="0" err="1">
                <a:solidFill>
                  <a:srgbClr val="000042"/>
                </a:solidFill>
                <a:latin typeface="Times New Roman" panose="02020603050405020304" pitchFamily="18" charset="0"/>
                <a:ea typeface="隶书" panose="02010509060101010101" pitchFamily="49" charset="-122"/>
              </a:rPr>
              <a:t>e</a:t>
            </a:r>
            <a:r>
              <a:rPr kumimoji="1" lang="zh-CN" altLang="en-US" sz="2400" b="1" i="1" dirty="0">
                <a:solidFill>
                  <a:srgbClr val="000042"/>
                </a:solidFill>
                <a:latin typeface="Times New Roman" panose="02020603050405020304" pitchFamily="18" charset="0"/>
                <a:ea typeface="隶书" panose="02010509060101010101" pitchFamily="49" charset="-122"/>
              </a:rPr>
              <a:t>，</a:t>
            </a:r>
            <a:r>
              <a:rPr kumimoji="1" lang="zh-CN" altLang="en-US" sz="2400" dirty="0">
                <a:solidFill>
                  <a:srgbClr val="000042"/>
                </a:solidFill>
                <a:latin typeface="Times New Roman" panose="02020603050405020304" pitchFamily="18" charset="0"/>
                <a:ea typeface="隶书" panose="02010509060101010101" pitchFamily="49" charset="-122"/>
              </a:rPr>
              <a:t>扩散电子的少数与基区空穴复合，形成基极电流</a:t>
            </a:r>
            <a:r>
              <a:rPr kumimoji="1" lang="en-US" altLang="zh-CN" sz="2400" b="1" i="1" dirty="0" err="1">
                <a:solidFill>
                  <a:srgbClr val="000042"/>
                </a:solidFill>
                <a:latin typeface="Times New Roman" panose="02020603050405020304" pitchFamily="18" charset="0"/>
                <a:ea typeface="隶书" panose="02010509060101010101" pitchFamily="49" charset="-122"/>
              </a:rPr>
              <a:t>i</a:t>
            </a:r>
            <a:r>
              <a:rPr kumimoji="1" lang="en-US" altLang="zh-CN" sz="2400" b="1" i="1" baseline="-25000" dirty="0" err="1">
                <a:solidFill>
                  <a:srgbClr val="000042"/>
                </a:solidFill>
                <a:latin typeface="Times New Roman" panose="02020603050405020304" pitchFamily="18" charset="0"/>
                <a:ea typeface="隶书" panose="02010509060101010101" pitchFamily="49" charset="-122"/>
              </a:rPr>
              <a:t>b</a:t>
            </a:r>
            <a:r>
              <a:rPr kumimoji="1" lang="zh-CN" altLang="en-US" sz="2400" dirty="0">
                <a:solidFill>
                  <a:srgbClr val="000042"/>
                </a:solidFill>
                <a:latin typeface="Times New Roman" panose="02020603050405020304" pitchFamily="18" charset="0"/>
                <a:ea typeface="隶书" panose="02010509060101010101" pitchFamily="49" charset="-122"/>
              </a:rPr>
              <a:t>，多数继续向集电结边缘扩散。</a:t>
            </a:r>
            <a:endParaRPr kumimoji="1" lang="zh-CN" altLang="en-US" sz="2400" b="1" i="1" baseline="-25000" dirty="0">
              <a:solidFill>
                <a:srgbClr val="000042"/>
              </a:solidFill>
              <a:latin typeface="Times New Roman" panose="02020603050405020304" pitchFamily="18" charset="0"/>
              <a:ea typeface="隶书" panose="02010509060101010101" pitchFamily="49" charset="-122"/>
            </a:endParaRPr>
          </a:p>
        </p:txBody>
      </p:sp>
      <p:sp>
        <p:nvSpPr>
          <p:cNvPr id="6219" name="Line 75"/>
          <p:cNvSpPr>
            <a:spLocks noChangeShapeType="1"/>
          </p:cNvSpPr>
          <p:nvPr/>
        </p:nvSpPr>
        <p:spPr bwMode="auto">
          <a:xfrm flipV="1">
            <a:off x="2982913" y="6329363"/>
            <a:ext cx="2428875" cy="0"/>
          </a:xfrm>
          <a:prstGeom prst="line">
            <a:avLst/>
          </a:prstGeom>
          <a:noFill/>
          <a:ln w="44450">
            <a:solidFill>
              <a:srgbClr val="663300"/>
            </a:solidFill>
            <a:round/>
            <a:head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20" name="Group 76"/>
          <p:cNvGrpSpPr/>
          <p:nvPr/>
        </p:nvGrpSpPr>
        <p:grpSpPr bwMode="auto">
          <a:xfrm>
            <a:off x="5195888" y="4259263"/>
            <a:ext cx="973137" cy="2087562"/>
            <a:chOff x="4431" y="1459"/>
            <a:chExt cx="613" cy="1315"/>
          </a:xfrm>
        </p:grpSpPr>
        <p:grpSp>
          <p:nvGrpSpPr>
            <p:cNvPr id="7201" name="Group 77"/>
            <p:cNvGrpSpPr/>
            <p:nvPr/>
          </p:nvGrpSpPr>
          <p:grpSpPr bwMode="auto">
            <a:xfrm>
              <a:off x="4431" y="1459"/>
              <a:ext cx="613" cy="1315"/>
              <a:chOff x="4105" y="1525"/>
              <a:chExt cx="613" cy="1315"/>
            </a:xfrm>
          </p:grpSpPr>
          <p:grpSp>
            <p:nvGrpSpPr>
              <p:cNvPr id="7205" name="Group 78"/>
              <p:cNvGrpSpPr/>
              <p:nvPr/>
            </p:nvGrpSpPr>
            <p:grpSpPr bwMode="auto">
              <a:xfrm>
                <a:off x="4105" y="2228"/>
                <a:ext cx="272" cy="249"/>
                <a:chOff x="816" y="3226"/>
                <a:chExt cx="386" cy="340"/>
              </a:xfrm>
            </p:grpSpPr>
            <p:sp>
              <p:nvSpPr>
                <p:cNvPr id="7209" name="Line 79"/>
                <p:cNvSpPr>
                  <a:spLocks noChangeShapeType="1"/>
                </p:cNvSpPr>
                <p:nvPr/>
              </p:nvSpPr>
              <p:spPr bwMode="auto">
                <a:xfrm>
                  <a:off x="816" y="3226"/>
                  <a:ext cx="386" cy="0"/>
                </a:xfrm>
                <a:prstGeom prst="line">
                  <a:avLst/>
                </a:prstGeom>
                <a:noFill/>
                <a:ln w="571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10" name="Line 80"/>
                <p:cNvSpPr>
                  <a:spLocks noChangeShapeType="1"/>
                </p:cNvSpPr>
                <p:nvPr/>
              </p:nvSpPr>
              <p:spPr bwMode="auto">
                <a:xfrm>
                  <a:off x="884" y="3339"/>
                  <a:ext cx="227" cy="0"/>
                </a:xfrm>
                <a:prstGeom prst="line">
                  <a:avLst/>
                </a:prstGeom>
                <a:noFill/>
                <a:ln w="571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11" name="Line 81"/>
                <p:cNvSpPr>
                  <a:spLocks noChangeShapeType="1"/>
                </p:cNvSpPr>
                <p:nvPr/>
              </p:nvSpPr>
              <p:spPr bwMode="auto">
                <a:xfrm>
                  <a:off x="816" y="3453"/>
                  <a:ext cx="386" cy="0"/>
                </a:xfrm>
                <a:prstGeom prst="line">
                  <a:avLst/>
                </a:prstGeom>
                <a:noFill/>
                <a:ln w="571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12" name="Line 82"/>
                <p:cNvSpPr>
                  <a:spLocks noChangeShapeType="1"/>
                </p:cNvSpPr>
                <p:nvPr/>
              </p:nvSpPr>
              <p:spPr bwMode="auto">
                <a:xfrm>
                  <a:off x="884" y="3566"/>
                  <a:ext cx="227" cy="0"/>
                </a:xfrm>
                <a:prstGeom prst="line">
                  <a:avLst/>
                </a:prstGeom>
                <a:noFill/>
                <a:ln w="571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206" name="Line 83"/>
              <p:cNvSpPr>
                <a:spLocks noChangeShapeType="1"/>
              </p:cNvSpPr>
              <p:nvPr/>
            </p:nvSpPr>
            <p:spPr bwMode="auto">
              <a:xfrm flipV="1">
                <a:off x="4241" y="1525"/>
                <a:ext cx="0" cy="703"/>
              </a:xfrm>
              <a:prstGeom prst="line">
                <a:avLst/>
              </a:prstGeom>
              <a:noFill/>
              <a:ln w="44450">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07" name="Line 84"/>
              <p:cNvSpPr>
                <a:spLocks noChangeShapeType="1"/>
              </p:cNvSpPr>
              <p:nvPr/>
            </p:nvSpPr>
            <p:spPr bwMode="auto">
              <a:xfrm flipV="1">
                <a:off x="4241" y="2477"/>
                <a:ext cx="0" cy="363"/>
              </a:xfrm>
              <a:prstGeom prst="line">
                <a:avLst/>
              </a:prstGeom>
              <a:noFill/>
              <a:ln w="44450">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08" name="Text Box 85"/>
              <p:cNvSpPr txBox="1">
                <a:spLocks noChangeArrowheads="1"/>
              </p:cNvSpPr>
              <p:nvPr/>
            </p:nvSpPr>
            <p:spPr bwMode="auto">
              <a:xfrm>
                <a:off x="4377" y="2273"/>
                <a:ext cx="341" cy="219"/>
              </a:xfrm>
              <a:prstGeom prst="rect">
                <a:avLst/>
              </a:prstGeom>
              <a:noFill/>
              <a:ln>
                <a:noFill/>
              </a:ln>
              <a:effectLst/>
              <a:extLst>
                <a:ext uri="{909E8E84-426E-40DD-AFC4-6F175D3DCCD1}">
                  <a14:hiddenFill xmlns:a14="http://schemas.microsoft.com/office/drawing/2010/main">
                    <a:gradFill rotWithShape="1">
                      <a:gsLst>
                        <a:gs pos="0">
                          <a:srgbClr val="FF9933">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n-US" altLang="zh-CN" sz="2400" b="1" i="1">
                    <a:solidFill>
                      <a:srgbClr val="00005C"/>
                    </a:solidFill>
                    <a:latin typeface="Times New Roman" panose="02020603050405020304" pitchFamily="18" charset="0"/>
                    <a:ea typeface="隶书" panose="02010509060101010101" pitchFamily="49" charset="-122"/>
                  </a:rPr>
                  <a:t>U</a:t>
                </a:r>
                <a:r>
                  <a:rPr kumimoji="1" lang="en-US" altLang="zh-CN" sz="2400" b="1" baseline="-25000">
                    <a:solidFill>
                      <a:srgbClr val="00005C"/>
                    </a:solidFill>
                    <a:latin typeface="Times New Roman" panose="02020603050405020304" pitchFamily="18" charset="0"/>
                    <a:ea typeface="隶书" panose="02010509060101010101" pitchFamily="49" charset="-122"/>
                  </a:rPr>
                  <a:t>CC</a:t>
                </a:r>
              </a:p>
            </p:txBody>
          </p:sp>
        </p:grpSp>
        <p:grpSp>
          <p:nvGrpSpPr>
            <p:cNvPr id="7202" name="Group 86"/>
            <p:cNvGrpSpPr/>
            <p:nvPr/>
          </p:nvGrpSpPr>
          <p:grpSpPr bwMode="auto">
            <a:xfrm>
              <a:off x="4498" y="1650"/>
              <a:ext cx="431" cy="295"/>
              <a:chOff x="4195" y="1707"/>
              <a:chExt cx="431" cy="295"/>
            </a:xfrm>
          </p:grpSpPr>
          <p:sp>
            <p:nvSpPr>
              <p:cNvPr id="7203" name="Text Box 87"/>
              <p:cNvSpPr txBox="1">
                <a:spLocks noChangeArrowheads="1"/>
              </p:cNvSpPr>
              <p:nvPr/>
            </p:nvSpPr>
            <p:spPr bwMode="auto">
              <a:xfrm>
                <a:off x="4354" y="1752"/>
                <a:ext cx="272" cy="219"/>
              </a:xfrm>
              <a:prstGeom prst="rect">
                <a:avLst/>
              </a:prstGeom>
              <a:noFill/>
              <a:ln>
                <a:noFill/>
              </a:ln>
              <a:effectLst/>
              <a:extLst>
                <a:ext uri="{909E8E84-426E-40DD-AFC4-6F175D3DCCD1}">
                  <a14:hiddenFill xmlns:a14="http://schemas.microsoft.com/office/drawing/2010/main">
                    <a:gradFill rotWithShape="1">
                      <a:gsLst>
                        <a:gs pos="0">
                          <a:srgbClr val="FF9933">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rgbClr val="66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n-US" altLang="zh-CN" sz="2400" b="1" i="1">
                    <a:solidFill>
                      <a:srgbClr val="00005C"/>
                    </a:solidFill>
                    <a:latin typeface="Times New Roman" panose="02020603050405020304" pitchFamily="18" charset="0"/>
                    <a:ea typeface="隶书" panose="02010509060101010101" pitchFamily="49" charset="-122"/>
                  </a:rPr>
                  <a:t>R</a:t>
                </a:r>
                <a:r>
                  <a:rPr kumimoji="1" lang="en-US" altLang="zh-CN" sz="2400" b="1" baseline="-25000">
                    <a:solidFill>
                      <a:srgbClr val="00005C"/>
                    </a:solidFill>
                    <a:latin typeface="Times New Roman" panose="02020603050405020304" pitchFamily="18" charset="0"/>
                    <a:ea typeface="隶书" panose="02010509060101010101" pitchFamily="49" charset="-122"/>
                  </a:rPr>
                  <a:t>C</a:t>
                </a:r>
              </a:p>
            </p:txBody>
          </p:sp>
          <p:sp>
            <p:nvSpPr>
              <p:cNvPr id="7204" name="Rectangle 88"/>
              <p:cNvSpPr>
                <a:spLocks noChangeArrowheads="1"/>
              </p:cNvSpPr>
              <p:nvPr/>
            </p:nvSpPr>
            <p:spPr bwMode="auto">
              <a:xfrm>
                <a:off x="4195" y="1707"/>
                <a:ext cx="136" cy="295"/>
              </a:xfrm>
              <a:prstGeom prst="rect">
                <a:avLst/>
              </a:prstGeom>
              <a:solidFill>
                <a:srgbClr val="FFFF99"/>
              </a:solidFill>
              <a:ln w="28575">
                <a:solidFill>
                  <a:srgbClr val="0058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grpSp>
      <p:sp>
        <p:nvSpPr>
          <p:cNvPr id="6233" name="Text Box 89"/>
          <p:cNvSpPr txBox="1">
            <a:spLocks noChangeArrowheads="1"/>
          </p:cNvSpPr>
          <p:nvPr/>
        </p:nvSpPr>
        <p:spPr bwMode="auto">
          <a:xfrm>
            <a:off x="4645025" y="3892550"/>
            <a:ext cx="360363" cy="317500"/>
          </a:xfrm>
          <a:prstGeom prst="rect">
            <a:avLst/>
          </a:prstGeom>
          <a:gradFill rotWithShape="1">
            <a:gsLst>
              <a:gs pos="0">
                <a:srgbClr val="FFFF99">
                  <a:alpha val="0"/>
                </a:srgbClr>
              </a:gs>
              <a:gs pos="100000">
                <a:srgbClr val="FFFF99">
                  <a:gamma/>
                  <a:tint val="0"/>
                  <a:invGamma/>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1" hangingPunct="1">
              <a:lnSpc>
                <a:spcPct val="95000"/>
              </a:lnSpc>
              <a:defRPr/>
            </a:pPr>
            <a:r>
              <a:rPr kumimoji="1" lang="en-US" altLang="en-US" sz="2200" b="1">
                <a:solidFill>
                  <a:srgbClr val="FF0000"/>
                </a:solidFill>
                <a:effectLst>
                  <a:outerShdw blurRad="38100" dist="38100" dir="2700000" algn="tl">
                    <a:srgbClr val="000000"/>
                  </a:outerShdw>
                </a:effectLst>
                <a:latin typeface="Times New Roman" panose="02020603050405020304" pitchFamily="18" charset="0"/>
              </a:rPr>
              <a:t>＋</a:t>
            </a:r>
            <a:endParaRPr kumimoji="1" lang="zh-CN" altLang="en-US" sz="2200" b="1">
              <a:solidFill>
                <a:srgbClr val="FF0000"/>
              </a:solidFill>
              <a:effectLst>
                <a:outerShdw blurRad="38100" dist="38100" dir="2700000" algn="tl">
                  <a:srgbClr val="000000"/>
                </a:outerShdw>
              </a:effectLst>
              <a:latin typeface="Times New Roman" panose="02020603050405020304" pitchFamily="18" charset="0"/>
            </a:endParaRPr>
          </a:p>
        </p:txBody>
      </p:sp>
      <p:sp>
        <p:nvSpPr>
          <p:cNvPr id="6234" name="Text Box 90"/>
          <p:cNvSpPr txBox="1">
            <a:spLocks noChangeArrowheads="1"/>
          </p:cNvSpPr>
          <p:nvPr/>
        </p:nvSpPr>
        <p:spPr bwMode="auto">
          <a:xfrm>
            <a:off x="3103563" y="5205413"/>
            <a:ext cx="360362" cy="317500"/>
          </a:xfrm>
          <a:prstGeom prst="rect">
            <a:avLst/>
          </a:prstGeom>
          <a:gradFill rotWithShape="1">
            <a:gsLst>
              <a:gs pos="0">
                <a:srgbClr val="FFFF99">
                  <a:alpha val="0"/>
                </a:srgbClr>
              </a:gs>
              <a:gs pos="100000">
                <a:srgbClr val="FFFF99">
                  <a:gamma/>
                  <a:tint val="0"/>
                  <a:invGamma/>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1" hangingPunct="1">
              <a:lnSpc>
                <a:spcPct val="95000"/>
              </a:lnSpc>
              <a:defRPr/>
            </a:pPr>
            <a:r>
              <a:rPr kumimoji="1" lang="en-US" altLang="en-US" sz="2200" b="1">
                <a:solidFill>
                  <a:srgbClr val="FF0000"/>
                </a:solidFill>
                <a:effectLst>
                  <a:outerShdw blurRad="38100" dist="38100" dir="2700000" algn="tl">
                    <a:srgbClr val="000000"/>
                  </a:outerShdw>
                </a:effectLst>
                <a:latin typeface="Times New Roman" panose="02020603050405020304" pitchFamily="18" charset="0"/>
              </a:rPr>
              <a:t>－</a:t>
            </a:r>
            <a:endParaRPr kumimoji="1" lang="zh-CN" altLang="en-US" sz="2200" b="1">
              <a:solidFill>
                <a:srgbClr val="FF0000"/>
              </a:solidFill>
              <a:effectLst>
                <a:outerShdw blurRad="38100" dist="38100" dir="2700000" algn="tl">
                  <a:srgbClr val="000000"/>
                </a:outerShdw>
              </a:effectLst>
              <a:latin typeface="Times New Roman" panose="02020603050405020304" pitchFamily="18" charset="0"/>
            </a:endParaRPr>
          </a:p>
        </p:txBody>
      </p:sp>
      <p:sp>
        <p:nvSpPr>
          <p:cNvPr id="6235" name="Text Box 91"/>
          <p:cNvSpPr txBox="1">
            <a:spLocks noChangeArrowheads="1"/>
          </p:cNvSpPr>
          <p:nvPr/>
        </p:nvSpPr>
        <p:spPr bwMode="auto">
          <a:xfrm>
            <a:off x="323850" y="2349500"/>
            <a:ext cx="8035925" cy="738664"/>
          </a:xfrm>
          <a:prstGeom prst="rect">
            <a:avLst/>
          </a:prstGeom>
          <a:noFill/>
          <a:ln>
            <a:noFill/>
          </a:ln>
          <a:effectLst/>
          <a:extLst>
            <a:ext uri="{909E8E84-426E-40DD-AFC4-6F175D3DCCD1}">
              <a14:hiddenFill xmlns:a14="http://schemas.microsoft.com/office/drawing/2010/main">
                <a:gradFill rotWithShape="1">
                  <a:gsLst>
                    <a:gs pos="0">
                      <a:srgbClr val="CCFF99">
                        <a:gamma/>
                        <a:tint val="0"/>
                        <a:invGamma/>
                        <a:alpha val="0"/>
                      </a:srgbClr>
                    </a:gs>
                    <a:gs pos="50000">
                      <a:srgbClr val="CCFF99"/>
                    </a:gs>
                    <a:gs pos="100000">
                      <a:srgbClr val="CCFF99">
                        <a:gamma/>
                        <a:tint val="0"/>
                        <a:invGamma/>
                        <a:alpha val="0"/>
                      </a:srgb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1" hangingPunct="1">
              <a:defRPr/>
            </a:pPr>
            <a:r>
              <a:rPr kumimoji="1" lang="en-US" altLang="zh-CN" sz="2400" dirty="0">
                <a:solidFill>
                  <a:srgbClr val="000042"/>
                </a:solidFill>
                <a:latin typeface="Times New Roman" panose="02020603050405020304" pitchFamily="18" charset="0"/>
                <a:ea typeface="隶书" panose="02010509060101010101" pitchFamily="49" charset="-122"/>
              </a:rPr>
              <a:t>(2)</a:t>
            </a:r>
            <a:r>
              <a:rPr kumimoji="1" lang="zh-CN" altLang="en-US" sz="2400" dirty="0">
                <a:solidFill>
                  <a:srgbClr val="000042"/>
                </a:solidFill>
                <a:latin typeface="Times New Roman" panose="02020603050405020304" pitchFamily="18" charset="0"/>
                <a:ea typeface="隶书" panose="02010509060101010101" pitchFamily="49" charset="-122"/>
              </a:rPr>
              <a:t>集电结必须“</a:t>
            </a:r>
            <a:r>
              <a:rPr kumimoji="1" lang="zh-CN" altLang="en-US" sz="2400" dirty="0">
                <a:solidFill>
                  <a:srgbClr val="A40000"/>
                </a:solidFill>
                <a:latin typeface="Times New Roman" panose="02020603050405020304" pitchFamily="18" charset="0"/>
                <a:ea typeface="隶书" panose="02010509060101010101" pitchFamily="49" charset="-122"/>
              </a:rPr>
              <a:t>反向偏置</a:t>
            </a:r>
            <a:r>
              <a:rPr kumimoji="1" lang="zh-CN" altLang="en-US" sz="2400" dirty="0">
                <a:solidFill>
                  <a:srgbClr val="000042"/>
                </a:solidFill>
                <a:latin typeface="Times New Roman" panose="02020603050405020304" pitchFamily="18" charset="0"/>
                <a:ea typeface="隶书" panose="02010509060101010101" pitchFamily="49" charset="-122"/>
              </a:rPr>
              <a:t>”，以利于收集扩散到集电结边缘的多数扩散电子，收集到集电区的电子形成集电极电流</a:t>
            </a:r>
            <a:r>
              <a:rPr kumimoji="1" lang="en-US" altLang="zh-CN" sz="2400" b="1" i="1" dirty="0" err="1">
                <a:solidFill>
                  <a:srgbClr val="000042"/>
                </a:solidFill>
                <a:latin typeface="Times New Roman" panose="02020603050405020304" pitchFamily="18" charset="0"/>
                <a:ea typeface="隶书" panose="02010509060101010101" pitchFamily="49" charset="-122"/>
              </a:rPr>
              <a:t>i</a:t>
            </a:r>
            <a:r>
              <a:rPr kumimoji="1" lang="en-US" altLang="zh-CN" sz="2400" b="1" i="1" baseline="-25000" dirty="0" err="1">
                <a:solidFill>
                  <a:srgbClr val="000042"/>
                </a:solidFill>
                <a:latin typeface="Times New Roman" panose="02020603050405020304" pitchFamily="18" charset="0"/>
                <a:ea typeface="隶书" panose="02010509060101010101" pitchFamily="49" charset="-122"/>
              </a:rPr>
              <a:t>c</a:t>
            </a:r>
            <a:r>
              <a:rPr kumimoji="1" lang="zh-CN" altLang="en-US" sz="2400" dirty="0">
                <a:solidFill>
                  <a:srgbClr val="000042"/>
                </a:solidFill>
                <a:latin typeface="Times New Roman" panose="02020603050405020304" pitchFamily="18" charset="0"/>
                <a:ea typeface="隶书" panose="02010509060101010101" pitchFamily="49" charset="-122"/>
              </a:rPr>
              <a:t>。</a:t>
            </a:r>
          </a:p>
        </p:txBody>
      </p:sp>
      <p:sp>
        <p:nvSpPr>
          <p:cNvPr id="6236" name="Line 92"/>
          <p:cNvSpPr>
            <a:spLocks noChangeShapeType="1"/>
          </p:cNvSpPr>
          <p:nvPr/>
        </p:nvSpPr>
        <p:spPr bwMode="auto">
          <a:xfrm flipH="1">
            <a:off x="920750" y="4114800"/>
            <a:ext cx="465138" cy="0"/>
          </a:xfrm>
          <a:prstGeom prst="line">
            <a:avLst/>
          </a:prstGeom>
          <a:noFill/>
          <a:ln w="28575">
            <a:solidFill>
              <a:srgbClr val="FF33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6237" name="Text Box 93"/>
          <p:cNvSpPr txBox="1">
            <a:spLocks noChangeArrowheads="1"/>
          </p:cNvSpPr>
          <p:nvPr/>
        </p:nvSpPr>
        <p:spPr bwMode="auto">
          <a:xfrm>
            <a:off x="1065213" y="3705225"/>
            <a:ext cx="300037" cy="347663"/>
          </a:xfrm>
          <a:prstGeom prst="rect">
            <a:avLst/>
          </a:prstGeom>
          <a:gradFill rotWithShape="1">
            <a:gsLst>
              <a:gs pos="0">
                <a:srgbClr val="FFFF99">
                  <a:alpha val="0"/>
                </a:srgbClr>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n-US" altLang="zh-CN" sz="2400" b="1" i="1">
                <a:solidFill>
                  <a:srgbClr val="00005C"/>
                </a:solidFill>
                <a:latin typeface="Times New Roman" panose="02020603050405020304" pitchFamily="18" charset="0"/>
              </a:rPr>
              <a:t>I</a:t>
            </a:r>
            <a:r>
              <a:rPr kumimoji="1" lang="en-US" altLang="zh-CN" sz="2400" b="1" baseline="-25000">
                <a:solidFill>
                  <a:srgbClr val="00005C"/>
                </a:solidFill>
                <a:latin typeface="Times New Roman" panose="02020603050405020304" pitchFamily="18" charset="0"/>
              </a:rPr>
              <a:t>E</a:t>
            </a:r>
          </a:p>
        </p:txBody>
      </p:sp>
      <p:sp>
        <p:nvSpPr>
          <p:cNvPr id="6238" name="Line 94"/>
          <p:cNvSpPr>
            <a:spLocks noChangeShapeType="1"/>
          </p:cNvSpPr>
          <p:nvPr/>
        </p:nvSpPr>
        <p:spPr bwMode="auto">
          <a:xfrm flipH="1">
            <a:off x="4983163" y="4144963"/>
            <a:ext cx="465137" cy="0"/>
          </a:xfrm>
          <a:prstGeom prst="line">
            <a:avLst/>
          </a:prstGeom>
          <a:noFill/>
          <a:ln w="28575">
            <a:solidFill>
              <a:srgbClr val="FF33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6239" name="Text Box 95"/>
          <p:cNvSpPr txBox="1">
            <a:spLocks noChangeArrowheads="1"/>
          </p:cNvSpPr>
          <p:nvPr/>
        </p:nvSpPr>
        <p:spPr bwMode="auto">
          <a:xfrm>
            <a:off x="5127625" y="3735388"/>
            <a:ext cx="300038" cy="347662"/>
          </a:xfrm>
          <a:prstGeom prst="rect">
            <a:avLst/>
          </a:prstGeom>
          <a:gradFill rotWithShape="1">
            <a:gsLst>
              <a:gs pos="0">
                <a:srgbClr val="FFFF99">
                  <a:alpha val="0"/>
                </a:srgbClr>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n-US" altLang="zh-CN" sz="2400" b="1" i="1">
                <a:solidFill>
                  <a:srgbClr val="00005C"/>
                </a:solidFill>
                <a:latin typeface="Times New Roman" panose="02020603050405020304" pitchFamily="18" charset="0"/>
              </a:rPr>
              <a:t>I</a:t>
            </a:r>
            <a:r>
              <a:rPr kumimoji="1" lang="en-US" altLang="zh-CN" sz="2400" b="1" baseline="-25000">
                <a:solidFill>
                  <a:srgbClr val="00005C"/>
                </a:solidFill>
                <a:latin typeface="Times New Roman" panose="02020603050405020304" pitchFamily="18" charset="0"/>
              </a:rPr>
              <a:t>C</a:t>
            </a:r>
          </a:p>
        </p:txBody>
      </p:sp>
      <p:sp>
        <p:nvSpPr>
          <p:cNvPr id="6240" name="Line 96"/>
          <p:cNvSpPr>
            <a:spLocks noChangeShapeType="1"/>
          </p:cNvSpPr>
          <p:nvPr/>
        </p:nvSpPr>
        <p:spPr bwMode="auto">
          <a:xfrm rot="5400000" flipH="1" flipV="1">
            <a:off x="2855119" y="5733257"/>
            <a:ext cx="465137" cy="0"/>
          </a:xfrm>
          <a:prstGeom prst="line">
            <a:avLst/>
          </a:prstGeom>
          <a:noFill/>
          <a:ln w="28575">
            <a:solidFill>
              <a:srgbClr val="FF33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zh-CN" altLang="en-US"/>
          </a:p>
        </p:txBody>
      </p:sp>
      <p:sp>
        <p:nvSpPr>
          <p:cNvPr id="6241" name="Text Box 97"/>
          <p:cNvSpPr txBox="1">
            <a:spLocks noChangeArrowheads="1"/>
          </p:cNvSpPr>
          <p:nvPr/>
        </p:nvSpPr>
        <p:spPr bwMode="auto">
          <a:xfrm>
            <a:off x="3163888" y="5594350"/>
            <a:ext cx="300037" cy="347663"/>
          </a:xfrm>
          <a:prstGeom prst="rect">
            <a:avLst/>
          </a:prstGeom>
          <a:gradFill rotWithShape="1">
            <a:gsLst>
              <a:gs pos="0">
                <a:srgbClr val="FFFF99">
                  <a:alpha val="0"/>
                </a:srgbClr>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n-US" altLang="zh-CN" sz="2400" b="1" i="1">
                <a:solidFill>
                  <a:srgbClr val="00005C"/>
                </a:solidFill>
                <a:latin typeface="Times New Roman" panose="02020603050405020304" pitchFamily="18" charset="0"/>
              </a:rPr>
              <a:t>I</a:t>
            </a:r>
            <a:r>
              <a:rPr kumimoji="1" lang="en-US" altLang="zh-CN" sz="2400" b="1" baseline="-25000">
                <a:solidFill>
                  <a:srgbClr val="00005C"/>
                </a:solidFill>
                <a:latin typeface="Times New Roman" panose="02020603050405020304" pitchFamily="18" charset="0"/>
              </a:rPr>
              <a:t>B</a:t>
            </a:r>
          </a:p>
        </p:txBody>
      </p:sp>
      <p:sp>
        <p:nvSpPr>
          <p:cNvPr id="6242" name="Text Box 98"/>
          <p:cNvSpPr txBox="1">
            <a:spLocks noChangeArrowheads="1"/>
          </p:cNvSpPr>
          <p:nvPr/>
        </p:nvSpPr>
        <p:spPr bwMode="auto">
          <a:xfrm>
            <a:off x="6227763" y="3357563"/>
            <a:ext cx="2257425" cy="2573337"/>
          </a:xfrm>
          <a:prstGeom prst="rect">
            <a:avLst/>
          </a:prstGeom>
          <a:gradFill rotWithShape="1">
            <a:gsLst>
              <a:gs pos="0">
                <a:srgbClr val="CCFF99">
                  <a:gamma/>
                  <a:tint val="0"/>
                  <a:invGamma/>
                  <a:alpha val="0"/>
                </a:srgbClr>
              </a:gs>
              <a:gs pos="100000">
                <a:srgbClr val="CCFF99">
                  <a:alpha val="67999"/>
                </a:srgbClr>
              </a:gs>
            </a:gsLst>
            <a:lin ang="5400000" scaled="1"/>
          </a:gradFill>
          <a:ln w="9525">
            <a:solidFill>
              <a:srgbClr val="FF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72000">
            <a:spAutoFit/>
          </a:bodyPr>
          <a:lstStyle/>
          <a:p>
            <a:pPr eaLnBrk="1" hangingPunct="1">
              <a:lnSpc>
                <a:spcPct val="95000"/>
              </a:lnSpc>
              <a:defRPr/>
            </a:pPr>
            <a:r>
              <a:rPr kumimoji="1" lang="en-US" altLang="zh-CN" sz="2400">
                <a:solidFill>
                  <a:srgbClr val="000042"/>
                </a:solidFill>
                <a:latin typeface="Times New Roman" panose="02020603050405020304" pitchFamily="18" charset="0"/>
                <a:ea typeface="隶书" panose="02010509060101010101" pitchFamily="49" charset="-122"/>
              </a:rPr>
              <a:t>    </a:t>
            </a:r>
            <a:r>
              <a:rPr kumimoji="1" lang="zh-CN" altLang="en-US" sz="2400">
                <a:solidFill>
                  <a:srgbClr val="000042"/>
                </a:solidFill>
                <a:latin typeface="Times New Roman" panose="02020603050405020304" pitchFamily="18" charset="0"/>
                <a:ea typeface="隶书" panose="02010509060101010101" pitchFamily="49" charset="-122"/>
              </a:rPr>
              <a:t>整个过程中，发射区向基区发射的电子数等于基区复合掉的电子与集电区收集的电子数之和，即： </a:t>
            </a:r>
            <a:r>
              <a:rPr kumimoji="1" lang="en-US" altLang="zh-CN" sz="2800" b="1" i="1">
                <a:solidFill>
                  <a:srgbClr val="C80000"/>
                </a:solidFill>
                <a:effectLst>
                  <a:outerShdw blurRad="38100" dist="38100" dir="2700000" algn="tl">
                    <a:srgbClr val="000000"/>
                  </a:outerShdw>
                </a:effectLst>
                <a:latin typeface="Times New Roman" panose="02020603050405020304" pitchFamily="18" charset="0"/>
                <a:ea typeface="隶书" panose="02010509060101010101" pitchFamily="49" charset="-122"/>
              </a:rPr>
              <a:t>I</a:t>
            </a:r>
            <a:r>
              <a:rPr kumimoji="1" lang="en-US" altLang="zh-CN" sz="2800" b="1" baseline="-25000">
                <a:solidFill>
                  <a:srgbClr val="C80000"/>
                </a:solidFill>
                <a:effectLst>
                  <a:outerShdw blurRad="38100" dist="38100" dir="2700000" algn="tl">
                    <a:srgbClr val="000000"/>
                  </a:outerShdw>
                </a:effectLst>
                <a:latin typeface="Times New Roman" panose="02020603050405020304" pitchFamily="18" charset="0"/>
                <a:ea typeface="隶书" panose="02010509060101010101" pitchFamily="49" charset="-122"/>
              </a:rPr>
              <a:t>E</a:t>
            </a:r>
            <a:r>
              <a:rPr kumimoji="1" lang="en-US" altLang="zh-CN" sz="2800" b="1">
                <a:solidFill>
                  <a:srgbClr val="C80000"/>
                </a:solidFill>
                <a:effectLst>
                  <a:outerShdw blurRad="38100" dist="38100" dir="2700000" algn="tl">
                    <a:srgbClr val="000000"/>
                  </a:outerShdw>
                </a:effectLst>
                <a:latin typeface="Times New Roman" panose="02020603050405020304" pitchFamily="18" charset="0"/>
                <a:ea typeface="隶书" panose="02010509060101010101" pitchFamily="49" charset="-122"/>
              </a:rPr>
              <a:t>=</a:t>
            </a:r>
            <a:r>
              <a:rPr kumimoji="1" lang="en-US" altLang="zh-CN" sz="2800" b="1" i="1">
                <a:solidFill>
                  <a:srgbClr val="C80000"/>
                </a:solidFill>
                <a:effectLst>
                  <a:outerShdw blurRad="38100" dist="38100" dir="2700000" algn="tl">
                    <a:srgbClr val="000000"/>
                  </a:outerShdw>
                </a:effectLst>
                <a:latin typeface="Times New Roman" panose="02020603050405020304" pitchFamily="18" charset="0"/>
                <a:ea typeface="隶书" panose="02010509060101010101" pitchFamily="49" charset="-122"/>
              </a:rPr>
              <a:t>I</a:t>
            </a:r>
            <a:r>
              <a:rPr kumimoji="1" lang="en-US" altLang="zh-CN" sz="2800" b="1" baseline="-25000">
                <a:solidFill>
                  <a:srgbClr val="C80000"/>
                </a:solidFill>
                <a:effectLst>
                  <a:outerShdw blurRad="38100" dist="38100" dir="2700000" algn="tl">
                    <a:srgbClr val="000000"/>
                  </a:outerShdw>
                </a:effectLst>
                <a:latin typeface="Times New Roman" panose="02020603050405020304" pitchFamily="18" charset="0"/>
                <a:ea typeface="隶书" panose="02010509060101010101" pitchFamily="49" charset="-122"/>
              </a:rPr>
              <a:t>B</a:t>
            </a:r>
            <a:r>
              <a:rPr kumimoji="1" lang="en-US" altLang="zh-CN" sz="2800" b="1">
                <a:solidFill>
                  <a:srgbClr val="C80000"/>
                </a:solidFill>
                <a:effectLst>
                  <a:outerShdw blurRad="38100" dist="38100" dir="2700000" algn="tl">
                    <a:srgbClr val="000000"/>
                  </a:outerShdw>
                </a:effectLst>
                <a:latin typeface="Times New Roman" panose="02020603050405020304" pitchFamily="18" charset="0"/>
                <a:ea typeface="隶书" panose="02010509060101010101" pitchFamily="49" charset="-122"/>
              </a:rPr>
              <a:t>+</a:t>
            </a:r>
            <a:r>
              <a:rPr kumimoji="1" lang="en-US" altLang="zh-CN" sz="2800" b="1" i="1">
                <a:solidFill>
                  <a:srgbClr val="C80000"/>
                </a:solidFill>
                <a:effectLst>
                  <a:outerShdw blurRad="38100" dist="38100" dir="2700000" algn="tl">
                    <a:srgbClr val="000000"/>
                  </a:outerShdw>
                </a:effectLst>
                <a:latin typeface="Times New Roman" panose="02020603050405020304" pitchFamily="18" charset="0"/>
                <a:ea typeface="隶书" panose="02010509060101010101" pitchFamily="49" charset="-122"/>
              </a:rPr>
              <a:t>I</a:t>
            </a:r>
            <a:r>
              <a:rPr kumimoji="1" lang="en-US" altLang="zh-CN" sz="2800" b="1" baseline="-25000">
                <a:solidFill>
                  <a:srgbClr val="C80000"/>
                </a:solidFill>
                <a:effectLst>
                  <a:outerShdw blurRad="38100" dist="38100" dir="2700000" algn="tl">
                    <a:srgbClr val="000000"/>
                  </a:outerShdw>
                </a:effectLst>
                <a:latin typeface="Times New Roman" panose="02020603050405020304" pitchFamily="18" charset="0"/>
                <a:ea typeface="隶书" panose="02010509060101010101" pitchFamily="49" charset="-122"/>
              </a:rPr>
              <a:t>C</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after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p:cTn id="7" dur="1000" fill="hold"/>
                                        <p:tgtEl>
                                          <p:spTgt spid="6146"/>
                                        </p:tgtEl>
                                        <p:attrNameLst>
                                          <p:attrName>ppt_w</p:attrName>
                                        </p:attrNameLst>
                                      </p:cBhvr>
                                      <p:tavLst>
                                        <p:tav tm="0">
                                          <p:val>
                                            <p:strVal val="#ppt_w+.3"/>
                                          </p:val>
                                        </p:tav>
                                        <p:tav tm="100000">
                                          <p:val>
                                            <p:strVal val="#ppt_w"/>
                                          </p:val>
                                        </p:tav>
                                      </p:tavLst>
                                    </p:anim>
                                    <p:anim calcmode="lin" valueType="num">
                                      <p:cBhvr>
                                        <p:cTn id="8" dur="1000" fill="hold"/>
                                        <p:tgtEl>
                                          <p:spTgt spid="6146"/>
                                        </p:tgtEl>
                                        <p:attrNameLst>
                                          <p:attrName>ppt_h</p:attrName>
                                        </p:attrNameLst>
                                      </p:cBhvr>
                                      <p:tavLst>
                                        <p:tav tm="0">
                                          <p:val>
                                            <p:strVal val="#ppt_h"/>
                                          </p:val>
                                        </p:tav>
                                        <p:tav tm="100000">
                                          <p:val>
                                            <p:strVal val="#ppt_h"/>
                                          </p:val>
                                        </p:tav>
                                      </p:tavLst>
                                    </p:anim>
                                    <p:animEffect transition="in" filter="fade">
                                      <p:cBhvr>
                                        <p:cTn id="9" dur="1000"/>
                                        <p:tgtEl>
                                          <p:spTgt spid="6146"/>
                                        </p:tgtEl>
                                      </p:cBhvr>
                                    </p:animEffect>
                                  </p:childTnLst>
                                </p:cTn>
                              </p:par>
                            </p:childTnLst>
                          </p:cTn>
                        </p:par>
                      </p:childTnLst>
                    </p:cTn>
                  </p:par>
                  <p:par>
                    <p:cTn id="10" fill="hold">
                      <p:stCondLst>
                        <p:cond delay="indefinite"/>
                      </p:stCondLst>
                      <p:childTnLst>
                        <p:par>
                          <p:cTn id="11" fill="hold">
                            <p:stCondLst>
                              <p:cond delay="0"/>
                            </p:stCondLst>
                            <p:childTnLst>
                              <p:par>
                                <p:cTn id="12" presetID="4" presetClass="entr" presetSubtype="32" fill="hold" nodeType="clickEffect">
                                  <p:stCondLst>
                                    <p:cond delay="0"/>
                                  </p:stCondLst>
                                  <p:childTnLst>
                                    <p:set>
                                      <p:cBhvr>
                                        <p:cTn id="13" dur="1" fill="hold">
                                          <p:stCondLst>
                                            <p:cond delay="0"/>
                                          </p:stCondLst>
                                        </p:cTn>
                                        <p:tgtEl>
                                          <p:spTgt spid="6147"/>
                                        </p:tgtEl>
                                        <p:attrNameLst>
                                          <p:attrName>style.visibility</p:attrName>
                                        </p:attrNameLst>
                                      </p:cBhvr>
                                      <p:to>
                                        <p:strVal val="visible"/>
                                      </p:to>
                                    </p:set>
                                    <p:animEffect transition="in" filter="box(out)">
                                      <p:cBhvr>
                                        <p:cTn id="14" dur="500"/>
                                        <p:tgtEl>
                                          <p:spTgt spid="6147"/>
                                        </p:tgtEl>
                                      </p:cBhvr>
                                    </p:animEffect>
                                  </p:childTnLst>
                                </p:cTn>
                              </p:par>
                            </p:childTnLst>
                          </p:cTn>
                        </p:par>
                        <p:par>
                          <p:cTn id="15" fill="hold">
                            <p:stCondLst>
                              <p:cond delay="500"/>
                            </p:stCondLst>
                            <p:childTnLst>
                              <p:par>
                                <p:cTn id="16" presetID="14" presetClass="entr" presetSubtype="10" fill="hold" nodeType="afterEffect">
                                  <p:stCondLst>
                                    <p:cond delay="0"/>
                                  </p:stCondLst>
                                  <p:childTnLst>
                                    <p:set>
                                      <p:cBhvr>
                                        <p:cTn id="17" dur="1" fill="hold">
                                          <p:stCondLst>
                                            <p:cond delay="0"/>
                                          </p:stCondLst>
                                        </p:cTn>
                                        <p:tgtEl>
                                          <p:spTgt spid="6177"/>
                                        </p:tgtEl>
                                        <p:attrNameLst>
                                          <p:attrName>style.visibility</p:attrName>
                                        </p:attrNameLst>
                                      </p:cBhvr>
                                      <p:to>
                                        <p:strVal val="visible"/>
                                      </p:to>
                                    </p:set>
                                    <p:animEffect transition="in" filter="randombar(horizontal)">
                                      <p:cBhvr>
                                        <p:cTn id="18" dur="500"/>
                                        <p:tgtEl>
                                          <p:spTgt spid="6177"/>
                                        </p:tgtEl>
                                      </p:cBhvr>
                                    </p:animEffect>
                                  </p:childTnLst>
                                </p:cTn>
                              </p:par>
                              <p:par>
                                <p:cTn id="19" presetID="14" presetClass="entr" presetSubtype="10" fill="hold" nodeType="withEffect">
                                  <p:stCondLst>
                                    <p:cond delay="0"/>
                                  </p:stCondLst>
                                  <p:childTnLst>
                                    <p:set>
                                      <p:cBhvr>
                                        <p:cTn id="20" dur="1" fill="hold">
                                          <p:stCondLst>
                                            <p:cond delay="0"/>
                                          </p:stCondLst>
                                        </p:cTn>
                                        <p:tgtEl>
                                          <p:spTgt spid="6192"/>
                                        </p:tgtEl>
                                        <p:attrNameLst>
                                          <p:attrName>style.visibility</p:attrName>
                                        </p:attrNameLst>
                                      </p:cBhvr>
                                      <p:to>
                                        <p:strVal val="visible"/>
                                      </p:to>
                                    </p:set>
                                    <p:animEffect transition="in" filter="randombar(horizontal)">
                                      <p:cBhvr>
                                        <p:cTn id="21" dur="500"/>
                                        <p:tgtEl>
                                          <p:spTgt spid="6192"/>
                                        </p:tgtEl>
                                      </p:cBhvr>
                                    </p:animEffect>
                                  </p:childTnLst>
                                </p:cTn>
                              </p:par>
                              <p:par>
                                <p:cTn id="22" presetID="14" presetClass="entr" presetSubtype="10" fill="hold" nodeType="withEffect">
                                  <p:stCondLst>
                                    <p:cond delay="0"/>
                                  </p:stCondLst>
                                  <p:childTnLst>
                                    <p:set>
                                      <p:cBhvr>
                                        <p:cTn id="23" dur="1" fill="hold">
                                          <p:stCondLst>
                                            <p:cond delay="0"/>
                                          </p:stCondLst>
                                        </p:cTn>
                                        <p:tgtEl>
                                          <p:spTgt spid="6199"/>
                                        </p:tgtEl>
                                        <p:attrNameLst>
                                          <p:attrName>style.visibility</p:attrName>
                                        </p:attrNameLst>
                                      </p:cBhvr>
                                      <p:to>
                                        <p:strVal val="visible"/>
                                      </p:to>
                                    </p:set>
                                    <p:animEffect transition="in" filter="randombar(horizontal)">
                                      <p:cBhvr>
                                        <p:cTn id="24" dur="500"/>
                                        <p:tgtEl>
                                          <p:spTgt spid="6199"/>
                                        </p:tgtEl>
                                      </p:cBhvr>
                                    </p:animEffect>
                                  </p:childTnLst>
                                </p:cTn>
                              </p:par>
                              <p:par>
                                <p:cTn id="25" presetID="14" presetClass="entr" presetSubtype="10" fill="hold" nodeType="withEffect">
                                  <p:stCondLst>
                                    <p:cond delay="0"/>
                                  </p:stCondLst>
                                  <p:childTnLst>
                                    <p:set>
                                      <p:cBhvr>
                                        <p:cTn id="26" dur="1" fill="hold">
                                          <p:stCondLst>
                                            <p:cond delay="0"/>
                                          </p:stCondLst>
                                        </p:cTn>
                                        <p:tgtEl>
                                          <p:spTgt spid="6207"/>
                                        </p:tgtEl>
                                        <p:attrNameLst>
                                          <p:attrName>style.visibility</p:attrName>
                                        </p:attrNameLst>
                                      </p:cBhvr>
                                      <p:to>
                                        <p:strVal val="visible"/>
                                      </p:to>
                                    </p:set>
                                    <p:animEffect transition="in" filter="randombar(horizontal)">
                                      <p:cBhvr>
                                        <p:cTn id="27" dur="500"/>
                                        <p:tgtEl>
                                          <p:spTgt spid="6207"/>
                                        </p:tgtEl>
                                      </p:cBhvr>
                                    </p:animEffect>
                                  </p:childTnLst>
                                </p:cTn>
                              </p:par>
                              <p:par>
                                <p:cTn id="28" presetID="14" presetClass="entr" presetSubtype="10" fill="hold" nodeType="withEffect">
                                  <p:stCondLst>
                                    <p:cond delay="0"/>
                                  </p:stCondLst>
                                  <p:childTnLst>
                                    <p:set>
                                      <p:cBhvr>
                                        <p:cTn id="29" dur="1" fill="hold">
                                          <p:stCondLst>
                                            <p:cond delay="0"/>
                                          </p:stCondLst>
                                        </p:cTn>
                                        <p:tgtEl>
                                          <p:spTgt spid="6213"/>
                                        </p:tgtEl>
                                        <p:attrNameLst>
                                          <p:attrName>style.visibility</p:attrName>
                                        </p:attrNameLst>
                                      </p:cBhvr>
                                      <p:to>
                                        <p:strVal val="visible"/>
                                      </p:to>
                                    </p:set>
                                    <p:animEffect transition="in" filter="randombar(horizontal)">
                                      <p:cBhvr>
                                        <p:cTn id="30" dur="500"/>
                                        <p:tgtEl>
                                          <p:spTgt spid="621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6218">
                                            <p:txEl>
                                              <p:pRg st="0" end="0"/>
                                            </p:txEl>
                                          </p:spTgt>
                                        </p:tgtEl>
                                        <p:attrNameLst>
                                          <p:attrName>style.visibility</p:attrName>
                                        </p:attrNameLst>
                                      </p:cBhvr>
                                      <p:to>
                                        <p:strVal val="visible"/>
                                      </p:to>
                                    </p:set>
                                    <p:animEffect transition="in" filter="wipe(left)">
                                      <p:cBhvr>
                                        <p:cTn id="35" dur="1000"/>
                                        <p:tgtEl>
                                          <p:spTgt spid="6218">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6163"/>
                                        </p:tgtEl>
                                        <p:attrNameLst>
                                          <p:attrName>style.visibility</p:attrName>
                                        </p:attrNameLst>
                                      </p:cBhvr>
                                      <p:to>
                                        <p:strVal val="visible"/>
                                      </p:to>
                                    </p:set>
                                    <p:animEffect transition="in" filter="wipe(up)">
                                      <p:cBhvr>
                                        <p:cTn id="40" dur="500"/>
                                        <p:tgtEl>
                                          <p:spTgt spid="6163"/>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6162"/>
                                        </p:tgtEl>
                                        <p:attrNameLst>
                                          <p:attrName>style.visibility</p:attrName>
                                        </p:attrNameLst>
                                      </p:cBhvr>
                                      <p:to>
                                        <p:strVal val="visible"/>
                                      </p:to>
                                    </p:set>
                                    <p:animEffect transition="in" filter="wipe(left)">
                                      <p:cBhvr>
                                        <p:cTn id="44" dur="500"/>
                                        <p:tgtEl>
                                          <p:spTgt spid="6162"/>
                                        </p:tgtEl>
                                      </p:cBhvr>
                                    </p:animEffect>
                                  </p:childTnLst>
                                </p:cTn>
                              </p:par>
                            </p:childTnLst>
                          </p:cTn>
                        </p:par>
                        <p:par>
                          <p:cTn id="45" fill="hold">
                            <p:stCondLst>
                              <p:cond delay="1000"/>
                            </p:stCondLst>
                            <p:childTnLst>
                              <p:par>
                                <p:cTn id="46" presetID="22" presetClass="entr" presetSubtype="4" fill="hold" grpId="0" nodeType="afterEffect">
                                  <p:stCondLst>
                                    <p:cond delay="0"/>
                                  </p:stCondLst>
                                  <p:childTnLst>
                                    <p:set>
                                      <p:cBhvr>
                                        <p:cTn id="47" dur="1" fill="hold">
                                          <p:stCondLst>
                                            <p:cond delay="0"/>
                                          </p:stCondLst>
                                        </p:cTn>
                                        <p:tgtEl>
                                          <p:spTgt spid="6176"/>
                                        </p:tgtEl>
                                        <p:attrNameLst>
                                          <p:attrName>style.visibility</p:attrName>
                                        </p:attrNameLst>
                                      </p:cBhvr>
                                      <p:to>
                                        <p:strVal val="visible"/>
                                      </p:to>
                                    </p:set>
                                    <p:animEffect transition="in" filter="wipe(down)">
                                      <p:cBhvr>
                                        <p:cTn id="48" dur="500"/>
                                        <p:tgtEl>
                                          <p:spTgt spid="6176"/>
                                        </p:tgtEl>
                                      </p:cBhvr>
                                    </p:animEffect>
                                  </p:childTnLst>
                                </p:cTn>
                              </p:par>
                            </p:childTnLst>
                          </p:cTn>
                        </p:par>
                        <p:par>
                          <p:cTn id="49" fill="hold">
                            <p:stCondLst>
                              <p:cond delay="1500"/>
                            </p:stCondLst>
                            <p:childTnLst>
                              <p:par>
                                <p:cTn id="50" presetID="23" presetClass="entr" presetSubtype="32" fill="hold" grpId="0" nodeType="afterEffect">
                                  <p:stCondLst>
                                    <p:cond delay="0"/>
                                  </p:stCondLst>
                                  <p:childTnLst>
                                    <p:set>
                                      <p:cBhvr>
                                        <p:cTn id="51" dur="1" fill="hold">
                                          <p:stCondLst>
                                            <p:cond delay="0"/>
                                          </p:stCondLst>
                                        </p:cTn>
                                        <p:tgtEl>
                                          <p:spTgt spid="6174"/>
                                        </p:tgtEl>
                                        <p:attrNameLst>
                                          <p:attrName>style.visibility</p:attrName>
                                        </p:attrNameLst>
                                      </p:cBhvr>
                                      <p:to>
                                        <p:strVal val="visible"/>
                                      </p:to>
                                    </p:set>
                                    <p:anim calcmode="lin" valueType="num">
                                      <p:cBhvr>
                                        <p:cTn id="52" dur="1000" fill="hold"/>
                                        <p:tgtEl>
                                          <p:spTgt spid="6174"/>
                                        </p:tgtEl>
                                        <p:attrNameLst>
                                          <p:attrName>ppt_w</p:attrName>
                                        </p:attrNameLst>
                                      </p:cBhvr>
                                      <p:tavLst>
                                        <p:tav tm="0">
                                          <p:val>
                                            <p:strVal val="4*#ppt_w"/>
                                          </p:val>
                                        </p:tav>
                                        <p:tav tm="100000">
                                          <p:val>
                                            <p:strVal val="#ppt_w"/>
                                          </p:val>
                                        </p:tav>
                                      </p:tavLst>
                                    </p:anim>
                                    <p:anim calcmode="lin" valueType="num">
                                      <p:cBhvr>
                                        <p:cTn id="53" dur="1000" fill="hold"/>
                                        <p:tgtEl>
                                          <p:spTgt spid="6174"/>
                                        </p:tgtEl>
                                        <p:attrNameLst>
                                          <p:attrName>ppt_h</p:attrName>
                                        </p:attrNameLst>
                                      </p:cBhvr>
                                      <p:tavLst>
                                        <p:tav tm="0">
                                          <p:val>
                                            <p:strVal val="4*#ppt_h"/>
                                          </p:val>
                                        </p:tav>
                                        <p:tav tm="100000">
                                          <p:val>
                                            <p:strVal val="#ppt_h"/>
                                          </p:val>
                                        </p:tav>
                                      </p:tavLst>
                                    </p:anim>
                                  </p:childTnLst>
                                </p:cTn>
                              </p:par>
                            </p:childTnLst>
                          </p:cTn>
                        </p:par>
                        <p:par>
                          <p:cTn id="54" fill="hold">
                            <p:stCondLst>
                              <p:cond delay="2500"/>
                            </p:stCondLst>
                            <p:childTnLst>
                              <p:par>
                                <p:cTn id="55" presetID="23" presetClass="entr" presetSubtype="32" fill="hold" grpId="0" nodeType="afterEffect">
                                  <p:stCondLst>
                                    <p:cond delay="0"/>
                                  </p:stCondLst>
                                  <p:childTnLst>
                                    <p:set>
                                      <p:cBhvr>
                                        <p:cTn id="56" dur="1" fill="hold">
                                          <p:stCondLst>
                                            <p:cond delay="0"/>
                                          </p:stCondLst>
                                        </p:cTn>
                                        <p:tgtEl>
                                          <p:spTgt spid="6175"/>
                                        </p:tgtEl>
                                        <p:attrNameLst>
                                          <p:attrName>style.visibility</p:attrName>
                                        </p:attrNameLst>
                                      </p:cBhvr>
                                      <p:to>
                                        <p:strVal val="visible"/>
                                      </p:to>
                                    </p:set>
                                    <p:anim calcmode="lin" valueType="num">
                                      <p:cBhvr>
                                        <p:cTn id="57" dur="1000" fill="hold"/>
                                        <p:tgtEl>
                                          <p:spTgt spid="6175"/>
                                        </p:tgtEl>
                                        <p:attrNameLst>
                                          <p:attrName>ppt_w</p:attrName>
                                        </p:attrNameLst>
                                      </p:cBhvr>
                                      <p:tavLst>
                                        <p:tav tm="0">
                                          <p:val>
                                            <p:strVal val="4*#ppt_w"/>
                                          </p:val>
                                        </p:tav>
                                        <p:tav tm="100000">
                                          <p:val>
                                            <p:strVal val="#ppt_w"/>
                                          </p:val>
                                        </p:tav>
                                      </p:tavLst>
                                    </p:anim>
                                    <p:anim calcmode="lin" valueType="num">
                                      <p:cBhvr>
                                        <p:cTn id="58" dur="1000" fill="hold"/>
                                        <p:tgtEl>
                                          <p:spTgt spid="6175"/>
                                        </p:tgtEl>
                                        <p:attrNameLst>
                                          <p:attrName>ppt_h</p:attrName>
                                        </p:attrNameLst>
                                      </p:cBhvr>
                                      <p:tavLst>
                                        <p:tav tm="0">
                                          <p:val>
                                            <p:strVal val="4*#ppt_h"/>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6235">
                                            <p:txEl>
                                              <p:pRg st="0" end="0"/>
                                            </p:txEl>
                                          </p:spTgt>
                                        </p:tgtEl>
                                        <p:attrNameLst>
                                          <p:attrName>style.visibility</p:attrName>
                                        </p:attrNameLst>
                                      </p:cBhvr>
                                      <p:to>
                                        <p:strVal val="visible"/>
                                      </p:to>
                                    </p:set>
                                    <p:animEffect transition="in" filter="wipe(left)">
                                      <p:cBhvr>
                                        <p:cTn id="63" dur="1000"/>
                                        <p:tgtEl>
                                          <p:spTgt spid="6235">
                                            <p:txEl>
                                              <p:pRg st="0" end="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6220"/>
                                        </p:tgtEl>
                                        <p:attrNameLst>
                                          <p:attrName>style.visibility</p:attrName>
                                        </p:attrNameLst>
                                      </p:cBhvr>
                                      <p:to>
                                        <p:strVal val="visible"/>
                                      </p:to>
                                    </p:set>
                                    <p:animEffect transition="in" filter="wipe(up)">
                                      <p:cBhvr>
                                        <p:cTn id="68" dur="500"/>
                                        <p:tgtEl>
                                          <p:spTgt spid="6220"/>
                                        </p:tgtEl>
                                      </p:cBhvr>
                                    </p:animEffect>
                                  </p:childTnLst>
                                </p:cTn>
                              </p:par>
                            </p:childTnLst>
                          </p:cTn>
                        </p:par>
                        <p:par>
                          <p:cTn id="69" fill="hold">
                            <p:stCondLst>
                              <p:cond delay="500"/>
                            </p:stCondLst>
                            <p:childTnLst>
                              <p:par>
                                <p:cTn id="70" presetID="22" presetClass="entr" presetSubtype="8" fill="hold" grpId="0" nodeType="afterEffect">
                                  <p:stCondLst>
                                    <p:cond delay="0"/>
                                  </p:stCondLst>
                                  <p:childTnLst>
                                    <p:set>
                                      <p:cBhvr>
                                        <p:cTn id="71" dur="1" fill="hold">
                                          <p:stCondLst>
                                            <p:cond delay="0"/>
                                          </p:stCondLst>
                                        </p:cTn>
                                        <p:tgtEl>
                                          <p:spTgt spid="6219"/>
                                        </p:tgtEl>
                                        <p:attrNameLst>
                                          <p:attrName>style.visibility</p:attrName>
                                        </p:attrNameLst>
                                      </p:cBhvr>
                                      <p:to>
                                        <p:strVal val="visible"/>
                                      </p:to>
                                    </p:set>
                                    <p:animEffect transition="in" filter="wipe(left)">
                                      <p:cBhvr>
                                        <p:cTn id="72" dur="500"/>
                                        <p:tgtEl>
                                          <p:spTgt spid="6219"/>
                                        </p:tgtEl>
                                      </p:cBhvr>
                                    </p:animEffect>
                                  </p:childTnLst>
                                </p:cTn>
                              </p:par>
                            </p:childTnLst>
                          </p:cTn>
                        </p:par>
                        <p:par>
                          <p:cTn id="73" fill="hold">
                            <p:stCondLst>
                              <p:cond delay="1000"/>
                            </p:stCondLst>
                            <p:childTnLst>
                              <p:par>
                                <p:cTn id="74" presetID="23" presetClass="entr" presetSubtype="32" fill="hold" grpId="0" nodeType="afterEffect">
                                  <p:stCondLst>
                                    <p:cond delay="0"/>
                                  </p:stCondLst>
                                  <p:childTnLst>
                                    <p:set>
                                      <p:cBhvr>
                                        <p:cTn id="75" dur="1" fill="hold">
                                          <p:stCondLst>
                                            <p:cond delay="0"/>
                                          </p:stCondLst>
                                        </p:cTn>
                                        <p:tgtEl>
                                          <p:spTgt spid="6233"/>
                                        </p:tgtEl>
                                        <p:attrNameLst>
                                          <p:attrName>style.visibility</p:attrName>
                                        </p:attrNameLst>
                                      </p:cBhvr>
                                      <p:to>
                                        <p:strVal val="visible"/>
                                      </p:to>
                                    </p:set>
                                    <p:anim calcmode="lin" valueType="num">
                                      <p:cBhvr>
                                        <p:cTn id="76" dur="1000" fill="hold"/>
                                        <p:tgtEl>
                                          <p:spTgt spid="6233"/>
                                        </p:tgtEl>
                                        <p:attrNameLst>
                                          <p:attrName>ppt_w</p:attrName>
                                        </p:attrNameLst>
                                      </p:cBhvr>
                                      <p:tavLst>
                                        <p:tav tm="0">
                                          <p:val>
                                            <p:strVal val="4*#ppt_w"/>
                                          </p:val>
                                        </p:tav>
                                        <p:tav tm="100000">
                                          <p:val>
                                            <p:strVal val="#ppt_w"/>
                                          </p:val>
                                        </p:tav>
                                      </p:tavLst>
                                    </p:anim>
                                    <p:anim calcmode="lin" valueType="num">
                                      <p:cBhvr>
                                        <p:cTn id="77" dur="1000" fill="hold"/>
                                        <p:tgtEl>
                                          <p:spTgt spid="6233"/>
                                        </p:tgtEl>
                                        <p:attrNameLst>
                                          <p:attrName>ppt_h</p:attrName>
                                        </p:attrNameLst>
                                      </p:cBhvr>
                                      <p:tavLst>
                                        <p:tav tm="0">
                                          <p:val>
                                            <p:strVal val="4*#ppt_h"/>
                                          </p:val>
                                        </p:tav>
                                        <p:tav tm="100000">
                                          <p:val>
                                            <p:strVal val="#ppt_h"/>
                                          </p:val>
                                        </p:tav>
                                      </p:tavLst>
                                    </p:anim>
                                  </p:childTnLst>
                                </p:cTn>
                              </p:par>
                            </p:childTnLst>
                          </p:cTn>
                        </p:par>
                        <p:par>
                          <p:cTn id="78" fill="hold">
                            <p:stCondLst>
                              <p:cond delay="2000"/>
                            </p:stCondLst>
                            <p:childTnLst>
                              <p:par>
                                <p:cTn id="79" presetID="23" presetClass="entr" presetSubtype="32" fill="hold" grpId="0" nodeType="afterEffect">
                                  <p:stCondLst>
                                    <p:cond delay="0"/>
                                  </p:stCondLst>
                                  <p:childTnLst>
                                    <p:set>
                                      <p:cBhvr>
                                        <p:cTn id="80" dur="1" fill="hold">
                                          <p:stCondLst>
                                            <p:cond delay="0"/>
                                          </p:stCondLst>
                                        </p:cTn>
                                        <p:tgtEl>
                                          <p:spTgt spid="6234"/>
                                        </p:tgtEl>
                                        <p:attrNameLst>
                                          <p:attrName>style.visibility</p:attrName>
                                        </p:attrNameLst>
                                      </p:cBhvr>
                                      <p:to>
                                        <p:strVal val="visible"/>
                                      </p:to>
                                    </p:set>
                                    <p:anim calcmode="lin" valueType="num">
                                      <p:cBhvr>
                                        <p:cTn id="81" dur="1000" fill="hold"/>
                                        <p:tgtEl>
                                          <p:spTgt spid="6234"/>
                                        </p:tgtEl>
                                        <p:attrNameLst>
                                          <p:attrName>ppt_w</p:attrName>
                                        </p:attrNameLst>
                                      </p:cBhvr>
                                      <p:tavLst>
                                        <p:tav tm="0">
                                          <p:val>
                                            <p:strVal val="4*#ppt_w"/>
                                          </p:val>
                                        </p:tav>
                                        <p:tav tm="100000">
                                          <p:val>
                                            <p:strVal val="#ppt_w"/>
                                          </p:val>
                                        </p:tav>
                                      </p:tavLst>
                                    </p:anim>
                                    <p:anim calcmode="lin" valueType="num">
                                      <p:cBhvr>
                                        <p:cTn id="82" dur="1000" fill="hold"/>
                                        <p:tgtEl>
                                          <p:spTgt spid="6234"/>
                                        </p:tgtEl>
                                        <p:attrNameLst>
                                          <p:attrName>ppt_h</p:attrName>
                                        </p:attrNameLst>
                                      </p:cBhvr>
                                      <p:tavLst>
                                        <p:tav tm="0">
                                          <p:val>
                                            <p:strVal val="4*#ppt_h"/>
                                          </p:val>
                                        </p:tav>
                                        <p:tav tm="100000">
                                          <p:val>
                                            <p:strVal val="#ppt_h"/>
                                          </p:val>
                                        </p:tav>
                                      </p:tavLst>
                                    </p:anim>
                                  </p:childTnLst>
                                </p:cTn>
                              </p:par>
                            </p:childTnLst>
                          </p:cTn>
                        </p:par>
                      </p:childTnLst>
                    </p:cTn>
                  </p:par>
                  <p:par>
                    <p:cTn id="83" fill="hold">
                      <p:stCondLst>
                        <p:cond delay="indefinite"/>
                      </p:stCondLst>
                      <p:childTnLst>
                        <p:par>
                          <p:cTn id="84" fill="hold">
                            <p:stCondLst>
                              <p:cond delay="0"/>
                            </p:stCondLst>
                            <p:childTnLst>
                              <p:par>
                                <p:cTn id="85" presetID="0" presetClass="path" presetSubtype="0" accel="50000" decel="50000" fill="hold" nodeType="clickEffect">
                                  <p:stCondLst>
                                    <p:cond delay="0"/>
                                  </p:stCondLst>
                                  <p:childTnLst>
                                    <p:animMotion origin="layout" path="M -4.44444E-6 2.42775E-6 C 0.00782 0.00069 0.0158 0.00138 0.02362 0.00277 C 0.03056 0.00393 0.03473 0.01225 0.04167 0.01387 C 0.05712 0.01803 0.05816 0.01688 0.07362 0.01688 " pathEditMode="relative" rAng="0" ptsTypes="fffA">
                                      <p:cBhvr>
                                        <p:cTn id="86" dur="2000" fill="hold"/>
                                        <p:tgtEl>
                                          <p:spTgt spid="6213"/>
                                        </p:tgtEl>
                                        <p:attrNameLst>
                                          <p:attrName>ppt_x</p:attrName>
                                          <p:attrName>ppt_y</p:attrName>
                                        </p:attrNameLst>
                                      </p:cBhvr>
                                      <p:rCtr x="3681" y="902"/>
                                    </p:animMotion>
                                  </p:childTnLst>
                                </p:cTn>
                              </p:par>
                              <p:par>
                                <p:cTn id="87" presetID="1" presetClass="entr" presetSubtype="0" fill="hold" grpId="0" nodeType="withEffect">
                                  <p:stCondLst>
                                    <p:cond delay="0"/>
                                  </p:stCondLst>
                                  <p:childTnLst>
                                    <p:set>
                                      <p:cBhvr>
                                        <p:cTn id="88" dur="1" fill="hold">
                                          <p:stCondLst>
                                            <p:cond delay="0"/>
                                          </p:stCondLst>
                                        </p:cTn>
                                        <p:tgtEl>
                                          <p:spTgt spid="6217"/>
                                        </p:tgtEl>
                                        <p:attrNameLst>
                                          <p:attrName>style.visibility</p:attrName>
                                        </p:attrNameLst>
                                      </p:cBhvr>
                                      <p:to>
                                        <p:strVal val="visible"/>
                                      </p:to>
                                    </p:set>
                                  </p:childTnLst>
                                </p:cTn>
                              </p:par>
                              <p:par>
                                <p:cTn id="89" presetID="0" presetClass="path" presetSubtype="0" accel="50000" decel="50000" fill="hold" nodeType="withEffect">
                                  <p:stCondLst>
                                    <p:cond delay="0"/>
                                  </p:stCondLst>
                                  <p:childTnLst>
                                    <p:animMotion origin="layout" path="M -0.00469 0.00416 L 0.19878 -0.00879 " pathEditMode="relative" rAng="0" ptsTypes="AA">
                                      <p:cBhvr>
                                        <p:cTn id="90" dur="2000" fill="hold"/>
                                        <p:tgtEl>
                                          <p:spTgt spid="6207"/>
                                        </p:tgtEl>
                                        <p:attrNameLst>
                                          <p:attrName>ppt_x</p:attrName>
                                          <p:attrName>ppt_y</p:attrName>
                                        </p:attrNameLst>
                                      </p:cBhvr>
                                      <p:rCtr x="10174" y="-647"/>
                                    </p:animMotion>
                                  </p:childTnLst>
                                </p:cTn>
                              </p:par>
                              <p:par>
                                <p:cTn id="91" presetID="0" presetClass="path" presetSubtype="0" accel="50000" decel="50000" fill="hold" grpId="1" nodeType="withEffect">
                                  <p:stCondLst>
                                    <p:cond delay="0"/>
                                  </p:stCondLst>
                                  <p:childTnLst>
                                    <p:animMotion origin="layout" path="M -1.94444E-6 1.27168E-6 L 0.00226 -0.08486 L -0.01267 -0.11561 " pathEditMode="relative" rAng="0" ptsTypes="AAA">
                                      <p:cBhvr>
                                        <p:cTn id="92" dur="2000" fill="hold"/>
                                        <p:tgtEl>
                                          <p:spTgt spid="6217"/>
                                        </p:tgtEl>
                                        <p:attrNameLst>
                                          <p:attrName>ppt_x</p:attrName>
                                          <p:attrName>ppt_y</p:attrName>
                                        </p:attrNameLst>
                                      </p:cBhvr>
                                      <p:rCtr x="-521" y="-5780"/>
                                    </p:animMotion>
                                  </p:childTnLst>
                                </p:cTn>
                              </p:par>
                            </p:childTnLst>
                          </p:cTn>
                        </p:par>
                        <p:par>
                          <p:cTn id="93" fill="hold">
                            <p:stCondLst>
                              <p:cond delay="2000"/>
                            </p:stCondLst>
                            <p:childTnLst>
                              <p:par>
                                <p:cTn id="94" presetID="1" presetClass="entr" presetSubtype="0" fill="hold" grpId="0" nodeType="afterEffect">
                                  <p:stCondLst>
                                    <p:cond delay="0"/>
                                  </p:stCondLst>
                                  <p:childTnLst>
                                    <p:set>
                                      <p:cBhvr>
                                        <p:cTn id="95" dur="1" fill="hold">
                                          <p:stCondLst>
                                            <p:cond delay="0"/>
                                          </p:stCondLst>
                                        </p:cTn>
                                        <p:tgtEl>
                                          <p:spTgt spid="6216"/>
                                        </p:tgtEl>
                                        <p:attrNameLst>
                                          <p:attrName>style.visibility</p:attrName>
                                        </p:attrNameLst>
                                      </p:cBhvr>
                                      <p:to>
                                        <p:strVal val="visible"/>
                                      </p:to>
                                    </p:set>
                                  </p:childTnLst>
                                </p:cTn>
                              </p:par>
                            </p:childTnLst>
                          </p:cTn>
                        </p:par>
                        <p:par>
                          <p:cTn id="96" fill="hold">
                            <p:stCondLst>
                              <p:cond delay="2000"/>
                            </p:stCondLst>
                            <p:childTnLst>
                              <p:par>
                                <p:cTn id="97" presetID="1" presetClass="exit" presetSubtype="0" fill="hold" grpId="2" nodeType="afterEffect">
                                  <p:stCondLst>
                                    <p:cond delay="0"/>
                                  </p:stCondLst>
                                  <p:childTnLst>
                                    <p:set>
                                      <p:cBhvr>
                                        <p:cTn id="98" dur="1" fill="hold">
                                          <p:stCondLst>
                                            <p:cond delay="0"/>
                                          </p:stCondLst>
                                        </p:cTn>
                                        <p:tgtEl>
                                          <p:spTgt spid="6217"/>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22" presetClass="entr" presetSubtype="2" fill="hold" grpId="0" nodeType="clickEffect">
                                  <p:stCondLst>
                                    <p:cond delay="0"/>
                                  </p:stCondLst>
                                  <p:childTnLst>
                                    <p:set>
                                      <p:cBhvr>
                                        <p:cTn id="102" dur="1" fill="hold">
                                          <p:stCondLst>
                                            <p:cond delay="0"/>
                                          </p:stCondLst>
                                        </p:cTn>
                                        <p:tgtEl>
                                          <p:spTgt spid="6236"/>
                                        </p:tgtEl>
                                        <p:attrNameLst>
                                          <p:attrName>style.visibility</p:attrName>
                                        </p:attrNameLst>
                                      </p:cBhvr>
                                      <p:to>
                                        <p:strVal val="visible"/>
                                      </p:to>
                                    </p:set>
                                    <p:animEffect transition="in" filter="wipe(right)">
                                      <p:cBhvr>
                                        <p:cTn id="103" dur="1000"/>
                                        <p:tgtEl>
                                          <p:spTgt spid="6236"/>
                                        </p:tgtEl>
                                      </p:cBhvr>
                                    </p:animEffect>
                                  </p:childTnLst>
                                </p:cTn>
                              </p:par>
                              <p:par>
                                <p:cTn id="104" presetID="22" presetClass="entr" presetSubtype="2" fill="hold" grpId="0" nodeType="withEffect">
                                  <p:stCondLst>
                                    <p:cond delay="0"/>
                                  </p:stCondLst>
                                  <p:childTnLst>
                                    <p:set>
                                      <p:cBhvr>
                                        <p:cTn id="105" dur="1" fill="hold">
                                          <p:stCondLst>
                                            <p:cond delay="0"/>
                                          </p:stCondLst>
                                        </p:cTn>
                                        <p:tgtEl>
                                          <p:spTgt spid="6238"/>
                                        </p:tgtEl>
                                        <p:attrNameLst>
                                          <p:attrName>style.visibility</p:attrName>
                                        </p:attrNameLst>
                                      </p:cBhvr>
                                      <p:to>
                                        <p:strVal val="visible"/>
                                      </p:to>
                                    </p:set>
                                    <p:animEffect transition="in" filter="wipe(right)">
                                      <p:cBhvr>
                                        <p:cTn id="106" dur="1000"/>
                                        <p:tgtEl>
                                          <p:spTgt spid="6238"/>
                                        </p:tgtEl>
                                      </p:cBhvr>
                                    </p:animEffect>
                                  </p:childTnLst>
                                </p:cTn>
                              </p:par>
                              <p:par>
                                <p:cTn id="107" presetID="22" presetClass="entr" presetSubtype="4" fill="hold" grpId="0" nodeType="withEffect">
                                  <p:stCondLst>
                                    <p:cond delay="0"/>
                                  </p:stCondLst>
                                  <p:childTnLst>
                                    <p:set>
                                      <p:cBhvr>
                                        <p:cTn id="108" dur="1" fill="hold">
                                          <p:stCondLst>
                                            <p:cond delay="0"/>
                                          </p:stCondLst>
                                        </p:cTn>
                                        <p:tgtEl>
                                          <p:spTgt spid="6240"/>
                                        </p:tgtEl>
                                        <p:attrNameLst>
                                          <p:attrName>style.visibility</p:attrName>
                                        </p:attrNameLst>
                                      </p:cBhvr>
                                      <p:to>
                                        <p:strVal val="visible"/>
                                      </p:to>
                                    </p:set>
                                    <p:animEffect transition="in" filter="wipe(down)">
                                      <p:cBhvr>
                                        <p:cTn id="109" dur="1000"/>
                                        <p:tgtEl>
                                          <p:spTgt spid="6240"/>
                                        </p:tgtEl>
                                      </p:cBhvr>
                                    </p:animEffect>
                                  </p:childTnLst>
                                </p:cTn>
                              </p:par>
                            </p:childTnLst>
                          </p:cTn>
                        </p:par>
                        <p:par>
                          <p:cTn id="110" fill="hold">
                            <p:stCondLst>
                              <p:cond delay="1000"/>
                            </p:stCondLst>
                            <p:childTnLst>
                              <p:par>
                                <p:cTn id="111" presetID="23" presetClass="entr" presetSubtype="16" fill="hold" grpId="0" nodeType="afterEffect">
                                  <p:stCondLst>
                                    <p:cond delay="0"/>
                                  </p:stCondLst>
                                  <p:childTnLst>
                                    <p:set>
                                      <p:cBhvr>
                                        <p:cTn id="112" dur="1" fill="hold">
                                          <p:stCondLst>
                                            <p:cond delay="0"/>
                                          </p:stCondLst>
                                        </p:cTn>
                                        <p:tgtEl>
                                          <p:spTgt spid="6237"/>
                                        </p:tgtEl>
                                        <p:attrNameLst>
                                          <p:attrName>style.visibility</p:attrName>
                                        </p:attrNameLst>
                                      </p:cBhvr>
                                      <p:to>
                                        <p:strVal val="visible"/>
                                      </p:to>
                                    </p:set>
                                    <p:anim calcmode="lin" valueType="num">
                                      <p:cBhvr>
                                        <p:cTn id="113" dur="500" fill="hold"/>
                                        <p:tgtEl>
                                          <p:spTgt spid="6237"/>
                                        </p:tgtEl>
                                        <p:attrNameLst>
                                          <p:attrName>ppt_w</p:attrName>
                                        </p:attrNameLst>
                                      </p:cBhvr>
                                      <p:tavLst>
                                        <p:tav tm="0">
                                          <p:val>
                                            <p:fltVal val="0"/>
                                          </p:val>
                                        </p:tav>
                                        <p:tav tm="100000">
                                          <p:val>
                                            <p:strVal val="#ppt_w"/>
                                          </p:val>
                                        </p:tav>
                                      </p:tavLst>
                                    </p:anim>
                                    <p:anim calcmode="lin" valueType="num">
                                      <p:cBhvr>
                                        <p:cTn id="114" dur="500" fill="hold"/>
                                        <p:tgtEl>
                                          <p:spTgt spid="6237"/>
                                        </p:tgtEl>
                                        <p:attrNameLst>
                                          <p:attrName>ppt_h</p:attrName>
                                        </p:attrNameLst>
                                      </p:cBhvr>
                                      <p:tavLst>
                                        <p:tav tm="0">
                                          <p:val>
                                            <p:fltVal val="0"/>
                                          </p:val>
                                        </p:tav>
                                        <p:tav tm="100000">
                                          <p:val>
                                            <p:strVal val="#ppt_h"/>
                                          </p:val>
                                        </p:tav>
                                      </p:tavLst>
                                    </p:anim>
                                  </p:childTnLst>
                                </p:cTn>
                              </p:par>
                              <p:par>
                                <p:cTn id="115" presetID="23" presetClass="entr" presetSubtype="16" fill="hold" grpId="0" nodeType="withEffect">
                                  <p:stCondLst>
                                    <p:cond delay="0"/>
                                  </p:stCondLst>
                                  <p:childTnLst>
                                    <p:set>
                                      <p:cBhvr>
                                        <p:cTn id="116" dur="1" fill="hold">
                                          <p:stCondLst>
                                            <p:cond delay="0"/>
                                          </p:stCondLst>
                                        </p:cTn>
                                        <p:tgtEl>
                                          <p:spTgt spid="6239"/>
                                        </p:tgtEl>
                                        <p:attrNameLst>
                                          <p:attrName>style.visibility</p:attrName>
                                        </p:attrNameLst>
                                      </p:cBhvr>
                                      <p:to>
                                        <p:strVal val="visible"/>
                                      </p:to>
                                    </p:set>
                                    <p:anim calcmode="lin" valueType="num">
                                      <p:cBhvr>
                                        <p:cTn id="117" dur="500" fill="hold"/>
                                        <p:tgtEl>
                                          <p:spTgt spid="6239"/>
                                        </p:tgtEl>
                                        <p:attrNameLst>
                                          <p:attrName>ppt_w</p:attrName>
                                        </p:attrNameLst>
                                      </p:cBhvr>
                                      <p:tavLst>
                                        <p:tav tm="0">
                                          <p:val>
                                            <p:fltVal val="0"/>
                                          </p:val>
                                        </p:tav>
                                        <p:tav tm="100000">
                                          <p:val>
                                            <p:strVal val="#ppt_w"/>
                                          </p:val>
                                        </p:tav>
                                      </p:tavLst>
                                    </p:anim>
                                    <p:anim calcmode="lin" valueType="num">
                                      <p:cBhvr>
                                        <p:cTn id="118" dur="500" fill="hold"/>
                                        <p:tgtEl>
                                          <p:spTgt spid="6239"/>
                                        </p:tgtEl>
                                        <p:attrNameLst>
                                          <p:attrName>ppt_h</p:attrName>
                                        </p:attrNameLst>
                                      </p:cBhvr>
                                      <p:tavLst>
                                        <p:tav tm="0">
                                          <p:val>
                                            <p:fltVal val="0"/>
                                          </p:val>
                                        </p:tav>
                                        <p:tav tm="100000">
                                          <p:val>
                                            <p:strVal val="#ppt_h"/>
                                          </p:val>
                                        </p:tav>
                                      </p:tavLst>
                                    </p:anim>
                                  </p:childTnLst>
                                </p:cTn>
                              </p:par>
                              <p:par>
                                <p:cTn id="119" presetID="23" presetClass="entr" presetSubtype="16" fill="hold" grpId="0" nodeType="withEffect">
                                  <p:stCondLst>
                                    <p:cond delay="0"/>
                                  </p:stCondLst>
                                  <p:childTnLst>
                                    <p:set>
                                      <p:cBhvr>
                                        <p:cTn id="120" dur="1" fill="hold">
                                          <p:stCondLst>
                                            <p:cond delay="0"/>
                                          </p:stCondLst>
                                        </p:cTn>
                                        <p:tgtEl>
                                          <p:spTgt spid="6241"/>
                                        </p:tgtEl>
                                        <p:attrNameLst>
                                          <p:attrName>style.visibility</p:attrName>
                                        </p:attrNameLst>
                                      </p:cBhvr>
                                      <p:to>
                                        <p:strVal val="visible"/>
                                      </p:to>
                                    </p:set>
                                    <p:anim calcmode="lin" valueType="num">
                                      <p:cBhvr>
                                        <p:cTn id="121" dur="500" fill="hold"/>
                                        <p:tgtEl>
                                          <p:spTgt spid="6241"/>
                                        </p:tgtEl>
                                        <p:attrNameLst>
                                          <p:attrName>ppt_w</p:attrName>
                                        </p:attrNameLst>
                                      </p:cBhvr>
                                      <p:tavLst>
                                        <p:tav tm="0">
                                          <p:val>
                                            <p:fltVal val="0"/>
                                          </p:val>
                                        </p:tav>
                                        <p:tav tm="100000">
                                          <p:val>
                                            <p:strVal val="#ppt_w"/>
                                          </p:val>
                                        </p:tav>
                                      </p:tavLst>
                                    </p:anim>
                                    <p:anim calcmode="lin" valueType="num">
                                      <p:cBhvr>
                                        <p:cTn id="122" dur="500" fill="hold"/>
                                        <p:tgtEl>
                                          <p:spTgt spid="6241"/>
                                        </p:tgtEl>
                                        <p:attrNameLst>
                                          <p:attrName>ppt_h</p:attrName>
                                        </p:attrNameLst>
                                      </p:cBhvr>
                                      <p:tavLst>
                                        <p:tav tm="0">
                                          <p:val>
                                            <p:fltVal val="0"/>
                                          </p:val>
                                        </p:tav>
                                        <p:tav tm="100000">
                                          <p:val>
                                            <p:strVal val="#ppt_h"/>
                                          </p:val>
                                        </p:tav>
                                      </p:tavLst>
                                    </p:anim>
                                  </p:childTnLst>
                                </p:cTn>
                              </p:par>
                            </p:childTnLst>
                          </p:cTn>
                        </p:par>
                      </p:childTnLst>
                    </p:cTn>
                  </p:par>
                  <p:par>
                    <p:cTn id="123" fill="hold">
                      <p:stCondLst>
                        <p:cond delay="indefinite"/>
                      </p:stCondLst>
                      <p:childTnLst>
                        <p:par>
                          <p:cTn id="124" fill="hold">
                            <p:stCondLst>
                              <p:cond delay="0"/>
                            </p:stCondLst>
                            <p:childTnLst>
                              <p:par>
                                <p:cTn id="125" presetID="22" presetClass="entr" presetSubtype="1" fill="hold" grpId="0" nodeType="clickEffect">
                                  <p:stCondLst>
                                    <p:cond delay="0"/>
                                  </p:stCondLst>
                                  <p:childTnLst>
                                    <p:set>
                                      <p:cBhvr>
                                        <p:cTn id="126" dur="1" fill="hold">
                                          <p:stCondLst>
                                            <p:cond delay="0"/>
                                          </p:stCondLst>
                                        </p:cTn>
                                        <p:tgtEl>
                                          <p:spTgt spid="6242"/>
                                        </p:tgtEl>
                                        <p:attrNameLst>
                                          <p:attrName>style.visibility</p:attrName>
                                        </p:attrNameLst>
                                      </p:cBhvr>
                                      <p:to>
                                        <p:strVal val="visible"/>
                                      </p:to>
                                    </p:set>
                                    <p:animEffect transition="in" filter="wipe(up)">
                                      <p:cBhvr>
                                        <p:cTn id="127" dur="2000"/>
                                        <p:tgtEl>
                                          <p:spTgt spid="6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nimBg="1"/>
      <p:bldP spid="6162" grpId="0" animBg="1"/>
      <p:bldP spid="6174" grpId="0" animBg="1"/>
      <p:bldP spid="6175" grpId="0" animBg="1"/>
      <p:bldP spid="6176" grpId="0" animBg="1"/>
      <p:bldP spid="6216" grpId="0" animBg="1"/>
      <p:bldP spid="6217" grpId="0" animBg="1"/>
      <p:bldP spid="6217" grpId="1" animBg="1"/>
      <p:bldP spid="6217" grpId="2" animBg="1"/>
      <p:bldP spid="6219" grpId="0" animBg="1"/>
      <p:bldP spid="6233" grpId="0" animBg="1"/>
      <p:bldP spid="6234" grpId="0" animBg="1"/>
      <p:bldP spid="6236" grpId="0" animBg="1"/>
      <p:bldP spid="6237" grpId="0" animBg="1"/>
      <p:bldP spid="6238" grpId="0" animBg="1"/>
      <p:bldP spid="6239" grpId="0" animBg="1"/>
      <p:bldP spid="6240" grpId="0" animBg="1"/>
      <p:bldP spid="6241" grpId="0" animBg="1"/>
      <p:bldP spid="624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1" name="Rectangle 5"/>
          <p:cNvSpPr>
            <a:spLocks noChangeArrowheads="1"/>
          </p:cNvSpPr>
          <p:nvPr/>
        </p:nvSpPr>
        <p:spPr bwMode="auto">
          <a:xfrm>
            <a:off x="395537" y="116632"/>
            <a:ext cx="7910166" cy="1599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6762" tIns="48381" rIns="96762" bIns="48381">
            <a:spAutoFit/>
          </a:bodyPr>
          <a:lstStyle/>
          <a:p>
            <a:pPr algn="ctr" defTabSz="913765">
              <a:lnSpc>
                <a:spcPct val="150000"/>
              </a:lnSpc>
              <a:spcBef>
                <a:spcPct val="5000"/>
              </a:spcBef>
            </a:pPr>
            <a:r>
              <a:rPr lang="en-US" altLang="zh-CN" b="1" dirty="0">
                <a:latin typeface="黑体" panose="02010609060101010101" pitchFamily="2" charset="-122"/>
                <a:ea typeface="黑体" panose="02010609060101010101" pitchFamily="2" charset="-122"/>
              </a:rPr>
              <a:t>    </a:t>
            </a:r>
            <a:r>
              <a:rPr lang="zh-CN" altLang="en-US" sz="3200" b="1" dirty="0">
                <a:solidFill>
                  <a:srgbClr val="C00000"/>
                </a:solidFill>
                <a:latin typeface="黑体" panose="02010609060101010101" pitchFamily="2" charset="-122"/>
                <a:ea typeface="黑体" panose="02010609060101010101" pitchFamily="2" charset="-122"/>
              </a:rPr>
              <a:t>三极管的电流放大作用</a:t>
            </a:r>
          </a:p>
          <a:p>
            <a:pPr algn="ctr" defTabSz="913765">
              <a:lnSpc>
                <a:spcPct val="150000"/>
              </a:lnSpc>
              <a:spcBef>
                <a:spcPct val="5000"/>
              </a:spcBef>
            </a:pPr>
            <a:r>
              <a:rPr lang="zh-CN" altLang="en-US" sz="3200" b="1" dirty="0">
                <a:solidFill>
                  <a:srgbClr val="C00000"/>
                </a:solidFill>
                <a:latin typeface="黑体" panose="02010609060101010101" pitchFamily="2" charset="-122"/>
                <a:ea typeface="黑体" panose="02010609060101010101" pitchFamily="2" charset="-122"/>
              </a:rPr>
              <a:t>    三极管放大的条件</a:t>
            </a:r>
          </a:p>
        </p:txBody>
      </p:sp>
      <p:sp>
        <p:nvSpPr>
          <p:cNvPr id="2" name="TextBox 1"/>
          <p:cNvSpPr txBox="1"/>
          <p:nvPr/>
        </p:nvSpPr>
        <p:spPr>
          <a:xfrm>
            <a:off x="573060" y="1988840"/>
            <a:ext cx="8280920" cy="3477875"/>
          </a:xfrm>
          <a:prstGeom prst="rect">
            <a:avLst/>
          </a:prstGeom>
          <a:noFill/>
        </p:spPr>
        <p:txBody>
          <a:bodyPr wrap="square" rtlCol="0">
            <a:spAutoFit/>
          </a:bodyPr>
          <a:lstStyle/>
          <a:p>
            <a:r>
              <a:rPr lang="zh-CN" altLang="en-US" b="1" dirty="0"/>
              <a:t> </a:t>
            </a:r>
            <a:r>
              <a:rPr lang="zh-CN" altLang="en-US" sz="4400" b="1" dirty="0"/>
              <a:t>三极管实现电流放大的外部偏置条件：</a:t>
            </a:r>
            <a:r>
              <a:rPr lang="zh-CN" altLang="en-US" sz="4400" b="1" dirty="0">
                <a:solidFill>
                  <a:srgbClr val="0000FF"/>
                </a:solidFill>
              </a:rPr>
              <a:t>发射结正偏，集电结反偏</a:t>
            </a:r>
            <a:r>
              <a:rPr lang="zh-CN" altLang="en-US" sz="4400" b="1" dirty="0"/>
              <a:t>。正向偏压一般硅管为</a:t>
            </a:r>
            <a:r>
              <a:rPr lang="en-US" altLang="zh-CN" sz="4400" b="1" dirty="0"/>
              <a:t>0.6-0.8V</a:t>
            </a:r>
            <a:r>
              <a:rPr lang="zh-CN" altLang="en-US" sz="4400" b="1" dirty="0"/>
              <a:t>，锗管为</a:t>
            </a:r>
            <a:r>
              <a:rPr lang="en-US" altLang="zh-CN" sz="4400" b="1" dirty="0"/>
              <a:t>0.1-0.3V</a:t>
            </a:r>
            <a:r>
              <a:rPr lang="zh-CN" altLang="en-US" sz="4400" b="1" dirty="0"/>
              <a:t>；反向电压为几伏至十几伏。</a:t>
            </a:r>
            <a:endParaRPr lang="zh-CN" altLang="en-US" sz="4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5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5541">
                                            <p:txEl>
                                              <p:pRg st="1" end="1"/>
                                            </p:txEl>
                                          </p:spTgt>
                                        </p:tgtEl>
                                        <p:attrNameLst>
                                          <p:attrName>style.visibility</p:attrName>
                                        </p:attrNameLst>
                                      </p:cBhvr>
                                      <p:to>
                                        <p:strVal val="visible"/>
                                      </p:to>
                                    </p:set>
                                    <p:animEffect transition="in" filter="fade">
                                      <p:cBhvr>
                                        <p:cTn id="11" dur="500"/>
                                        <p:tgtEl>
                                          <p:spTgt spid="65541">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descr="b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8439" y="1916832"/>
            <a:ext cx="7899537" cy="4824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818439" y="342595"/>
            <a:ext cx="7683513" cy="1574277"/>
          </a:xfrm>
          <a:prstGeom prst="rect">
            <a:avLst/>
          </a:prstGeom>
          <a:noFill/>
        </p:spPr>
        <p:txBody>
          <a:bodyPr wrap="square" rtlCol="0">
            <a:spAutoFit/>
          </a:bodyPr>
          <a:lstStyle/>
          <a:p>
            <a:pPr defTabSz="913765">
              <a:lnSpc>
                <a:spcPct val="150000"/>
              </a:lnSpc>
              <a:spcBef>
                <a:spcPct val="5000"/>
              </a:spcBef>
            </a:pPr>
            <a:r>
              <a:rPr lang="zh-CN" altLang="en-US" sz="2400" b="1" dirty="0"/>
              <a:t>各电极电位之间的关系是：                                                                                        </a:t>
            </a:r>
            <a:r>
              <a:rPr lang="en-US" altLang="zh-CN" sz="2400" b="1" dirty="0">
                <a:solidFill>
                  <a:srgbClr val="0000FF"/>
                </a:solidFill>
                <a:latin typeface="华文宋体" panose="02010600040101010101" pitchFamily="2" charset="-122"/>
                <a:ea typeface="华文宋体" panose="02010600040101010101" pitchFamily="2" charset="-122"/>
              </a:rPr>
              <a:t>NPN</a:t>
            </a:r>
            <a:r>
              <a:rPr lang="zh-CN" altLang="en-US" sz="2400" b="1" dirty="0">
                <a:solidFill>
                  <a:srgbClr val="0000FF"/>
                </a:solidFill>
                <a:latin typeface="华文宋体" panose="02010600040101010101" pitchFamily="2" charset="-122"/>
                <a:ea typeface="华文宋体" panose="02010600040101010101" pitchFamily="2" charset="-122"/>
              </a:rPr>
              <a:t>型     </a:t>
            </a:r>
            <a:r>
              <a:rPr lang="en-US" altLang="zh-CN" sz="2400" b="1" i="1" dirty="0">
                <a:solidFill>
                  <a:srgbClr val="0000FF"/>
                </a:solidFill>
                <a:latin typeface="华文宋体" panose="02010600040101010101" pitchFamily="2" charset="-122"/>
                <a:ea typeface="华文宋体" panose="02010600040101010101" pitchFamily="2" charset="-122"/>
              </a:rPr>
              <a:t>V</a:t>
            </a:r>
            <a:r>
              <a:rPr lang="en-US" altLang="zh-CN" sz="2400" b="1" baseline="-25000" dirty="0">
                <a:solidFill>
                  <a:srgbClr val="0000FF"/>
                </a:solidFill>
                <a:latin typeface="华文宋体" panose="02010600040101010101" pitchFamily="2" charset="-122"/>
                <a:ea typeface="华文宋体" panose="02010600040101010101" pitchFamily="2" charset="-122"/>
              </a:rPr>
              <a:t>C</a:t>
            </a:r>
            <a:r>
              <a:rPr lang="zh-CN" altLang="en-US" sz="2400" b="1" dirty="0">
                <a:solidFill>
                  <a:srgbClr val="0000FF"/>
                </a:solidFill>
                <a:latin typeface="华文宋体" panose="02010600040101010101" pitchFamily="2" charset="-122"/>
                <a:ea typeface="华文宋体" panose="02010600040101010101" pitchFamily="2" charset="-122"/>
              </a:rPr>
              <a:t>＞</a:t>
            </a:r>
            <a:r>
              <a:rPr lang="en-US" altLang="zh-CN" sz="2400" b="1" i="1" dirty="0">
                <a:solidFill>
                  <a:srgbClr val="0000FF"/>
                </a:solidFill>
                <a:latin typeface="华文宋体" panose="02010600040101010101" pitchFamily="2" charset="-122"/>
                <a:ea typeface="华文宋体" panose="02010600040101010101" pitchFamily="2" charset="-122"/>
              </a:rPr>
              <a:t>V</a:t>
            </a:r>
            <a:r>
              <a:rPr lang="en-US" altLang="zh-CN" sz="2400" b="1" baseline="-25000" dirty="0">
                <a:solidFill>
                  <a:srgbClr val="0000FF"/>
                </a:solidFill>
                <a:latin typeface="华文宋体" panose="02010600040101010101" pitchFamily="2" charset="-122"/>
                <a:ea typeface="华文宋体" panose="02010600040101010101" pitchFamily="2" charset="-122"/>
              </a:rPr>
              <a:t>B</a:t>
            </a:r>
            <a:r>
              <a:rPr lang="zh-CN" altLang="en-US" sz="2400" b="1" dirty="0">
                <a:solidFill>
                  <a:srgbClr val="0000FF"/>
                </a:solidFill>
                <a:latin typeface="华文宋体" panose="02010600040101010101" pitchFamily="2" charset="-122"/>
                <a:ea typeface="华文宋体" panose="02010600040101010101" pitchFamily="2" charset="-122"/>
              </a:rPr>
              <a:t>＞</a:t>
            </a:r>
            <a:r>
              <a:rPr lang="en-US" altLang="zh-CN" sz="2400" b="1" i="1" dirty="0">
                <a:solidFill>
                  <a:srgbClr val="0000FF"/>
                </a:solidFill>
                <a:latin typeface="华文宋体" panose="02010600040101010101" pitchFamily="2" charset="-122"/>
                <a:ea typeface="华文宋体" panose="02010600040101010101" pitchFamily="2" charset="-122"/>
              </a:rPr>
              <a:t>V</a:t>
            </a:r>
            <a:r>
              <a:rPr lang="en-US" altLang="zh-CN" sz="2400" b="1" baseline="-25000" dirty="0">
                <a:solidFill>
                  <a:srgbClr val="0000FF"/>
                </a:solidFill>
                <a:latin typeface="华文宋体" panose="02010600040101010101" pitchFamily="2" charset="-122"/>
                <a:ea typeface="华文宋体" panose="02010600040101010101" pitchFamily="2" charset="-122"/>
              </a:rPr>
              <a:t>E</a:t>
            </a:r>
            <a:r>
              <a:rPr lang="en-US" altLang="zh-CN" sz="2400" b="1" dirty="0">
                <a:latin typeface="华文宋体" panose="02010600040101010101" pitchFamily="2" charset="-122"/>
                <a:ea typeface="华文宋体" panose="02010600040101010101" pitchFamily="2" charset="-122"/>
              </a:rPr>
              <a:t>           </a:t>
            </a:r>
            <a:r>
              <a:rPr lang="en-US" altLang="zh-CN" sz="2400" b="1" dirty="0">
                <a:solidFill>
                  <a:srgbClr val="0000FF"/>
                </a:solidFill>
                <a:latin typeface="华文宋体" panose="02010600040101010101" pitchFamily="2" charset="-122"/>
                <a:ea typeface="华文宋体" panose="02010600040101010101" pitchFamily="2" charset="-122"/>
              </a:rPr>
              <a:t>  PNP</a:t>
            </a:r>
            <a:r>
              <a:rPr lang="zh-CN" altLang="en-US" sz="2400" b="1" dirty="0">
                <a:solidFill>
                  <a:srgbClr val="0000FF"/>
                </a:solidFill>
                <a:latin typeface="华文宋体" panose="02010600040101010101" pitchFamily="2" charset="-122"/>
                <a:ea typeface="华文宋体" panose="02010600040101010101" pitchFamily="2" charset="-122"/>
              </a:rPr>
              <a:t>型     </a:t>
            </a:r>
            <a:r>
              <a:rPr lang="en-US" altLang="zh-CN" sz="2400" b="1" i="1" dirty="0">
                <a:solidFill>
                  <a:srgbClr val="0000FF"/>
                </a:solidFill>
                <a:latin typeface="华文宋体" panose="02010600040101010101" pitchFamily="2" charset="-122"/>
                <a:ea typeface="华文宋体" panose="02010600040101010101" pitchFamily="2" charset="-122"/>
              </a:rPr>
              <a:t>V</a:t>
            </a:r>
            <a:r>
              <a:rPr lang="en-US" altLang="zh-CN" sz="2400" b="1" baseline="-25000" dirty="0">
                <a:solidFill>
                  <a:srgbClr val="0000FF"/>
                </a:solidFill>
                <a:latin typeface="华文宋体" panose="02010600040101010101" pitchFamily="2" charset="-122"/>
                <a:ea typeface="华文宋体" panose="02010600040101010101" pitchFamily="2" charset="-122"/>
              </a:rPr>
              <a:t>C</a:t>
            </a:r>
            <a:r>
              <a:rPr lang="zh-CN" altLang="en-US" sz="2400" b="1" dirty="0">
                <a:solidFill>
                  <a:srgbClr val="0000FF"/>
                </a:solidFill>
                <a:latin typeface="华文宋体" panose="02010600040101010101" pitchFamily="2" charset="-122"/>
                <a:ea typeface="华文宋体" panose="02010600040101010101" pitchFamily="2" charset="-122"/>
              </a:rPr>
              <a:t>＜</a:t>
            </a:r>
            <a:r>
              <a:rPr lang="en-US" altLang="zh-CN" sz="2400" b="1" i="1" dirty="0">
                <a:solidFill>
                  <a:srgbClr val="0000FF"/>
                </a:solidFill>
                <a:latin typeface="华文宋体" panose="02010600040101010101" pitchFamily="2" charset="-122"/>
                <a:ea typeface="华文宋体" panose="02010600040101010101" pitchFamily="2" charset="-122"/>
              </a:rPr>
              <a:t>V</a:t>
            </a:r>
            <a:r>
              <a:rPr lang="en-US" altLang="zh-CN" sz="2400" b="1" baseline="-25000" dirty="0">
                <a:solidFill>
                  <a:srgbClr val="0000FF"/>
                </a:solidFill>
                <a:latin typeface="华文宋体" panose="02010600040101010101" pitchFamily="2" charset="-122"/>
                <a:ea typeface="华文宋体" panose="02010600040101010101" pitchFamily="2" charset="-122"/>
              </a:rPr>
              <a:t>B</a:t>
            </a:r>
            <a:r>
              <a:rPr lang="zh-CN" altLang="en-US" sz="2400" b="1" dirty="0">
                <a:solidFill>
                  <a:srgbClr val="0000FF"/>
                </a:solidFill>
                <a:latin typeface="华文宋体" panose="02010600040101010101" pitchFamily="2" charset="-122"/>
                <a:ea typeface="华文宋体" panose="02010600040101010101" pitchFamily="2" charset="-122"/>
              </a:rPr>
              <a:t>＜</a:t>
            </a:r>
            <a:r>
              <a:rPr lang="en-US" altLang="zh-CN" sz="2400" b="1" i="1" dirty="0">
                <a:solidFill>
                  <a:srgbClr val="0000FF"/>
                </a:solidFill>
                <a:latin typeface="华文宋体" panose="02010600040101010101" pitchFamily="2" charset="-122"/>
                <a:ea typeface="华文宋体" panose="02010600040101010101" pitchFamily="2" charset="-122"/>
              </a:rPr>
              <a:t>V</a:t>
            </a:r>
            <a:r>
              <a:rPr lang="en-US" altLang="zh-CN" sz="2400" b="1" baseline="-25000" dirty="0">
                <a:solidFill>
                  <a:srgbClr val="0000FF"/>
                </a:solidFill>
                <a:latin typeface="华文宋体" panose="02010600040101010101" pitchFamily="2" charset="-122"/>
                <a:ea typeface="华文宋体" panose="02010600040101010101" pitchFamily="2" charset="-122"/>
              </a:rPr>
              <a:t>E</a:t>
            </a:r>
            <a:endParaRPr lang="en-US" altLang="zh-CN" sz="2400" b="1" dirty="0">
              <a:latin typeface="华文宋体" panose="02010600040101010101" pitchFamily="2" charset="-122"/>
              <a:ea typeface="华文宋体" panose="02010600040101010101" pitchFamily="2" charset="-122"/>
            </a:endParaRPr>
          </a:p>
          <a:p>
            <a:pPr defTabSz="913765">
              <a:lnSpc>
                <a:spcPct val="130000"/>
              </a:lnSpc>
              <a:spcBef>
                <a:spcPct val="5000"/>
              </a:spcBef>
            </a:pPr>
            <a:r>
              <a:rPr lang="en-US" altLang="zh-CN" dirty="0"/>
              <a:t>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Text Box 4"/>
          <p:cNvSpPr txBox="1">
            <a:spLocks noChangeArrowheads="1"/>
          </p:cNvSpPr>
          <p:nvPr/>
        </p:nvSpPr>
        <p:spPr bwMode="auto">
          <a:xfrm>
            <a:off x="683568" y="260648"/>
            <a:ext cx="7695878" cy="524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762" tIns="48381" rIns="96762" bIns="48381">
            <a:spAutoFit/>
          </a:bodyPr>
          <a:lstStyle>
            <a:lvl1pPr defTabSz="863600" eaLnBrk="0" hangingPunct="0">
              <a:defRPr sz="2400">
                <a:solidFill>
                  <a:schemeClr val="tx1"/>
                </a:solidFill>
                <a:latin typeface="Arial" panose="020B0604020202020204" pitchFamily="34" charset="0"/>
                <a:ea typeface="宋体" panose="02010600030101010101" pitchFamily="2" charset="-122"/>
              </a:defRPr>
            </a:lvl1pPr>
            <a:lvl2pPr marL="742950" indent="-285750" defTabSz="863600" eaLnBrk="0" hangingPunct="0">
              <a:defRPr sz="2400">
                <a:solidFill>
                  <a:schemeClr val="tx1"/>
                </a:solidFill>
                <a:latin typeface="Arial" panose="020B0604020202020204" pitchFamily="34" charset="0"/>
                <a:ea typeface="宋体" panose="02010600030101010101" pitchFamily="2" charset="-122"/>
              </a:defRPr>
            </a:lvl2pPr>
            <a:lvl3pPr marL="1143000" indent="-228600" defTabSz="863600" eaLnBrk="0" hangingPunct="0">
              <a:defRPr sz="2400">
                <a:solidFill>
                  <a:schemeClr val="tx1"/>
                </a:solidFill>
                <a:latin typeface="Arial" panose="020B0604020202020204" pitchFamily="34" charset="0"/>
                <a:ea typeface="宋体" panose="02010600030101010101" pitchFamily="2" charset="-122"/>
              </a:defRPr>
            </a:lvl3pPr>
            <a:lvl4pPr marL="1600200" indent="-228600" defTabSz="863600" eaLnBrk="0" hangingPunct="0">
              <a:defRPr sz="2400">
                <a:solidFill>
                  <a:schemeClr val="tx1"/>
                </a:solidFill>
                <a:latin typeface="Arial" panose="020B0604020202020204" pitchFamily="34" charset="0"/>
                <a:ea typeface="宋体" panose="02010600030101010101" pitchFamily="2" charset="-122"/>
              </a:defRPr>
            </a:lvl4pPr>
            <a:lvl5pPr marL="2057400" indent="-228600" defTabSz="863600" eaLnBrk="0" hangingPunct="0">
              <a:defRPr sz="2400">
                <a:solidFill>
                  <a:schemeClr val="tx1"/>
                </a:solidFill>
                <a:latin typeface="Arial" panose="020B0604020202020204" pitchFamily="34" charset="0"/>
                <a:ea typeface="宋体" panose="02010600030101010101" pitchFamily="2" charset="-122"/>
              </a:defRPr>
            </a:lvl5pPr>
            <a:lvl6pPr marL="25146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5000"/>
              </a:spcBef>
            </a:pPr>
            <a:r>
              <a:rPr lang="en-US" altLang="zh-CN" b="1" dirty="0">
                <a:latin typeface="黑体" panose="02010609060101010101" pitchFamily="2" charset="-122"/>
                <a:ea typeface="黑体" panose="02010609060101010101" pitchFamily="2" charset="-122"/>
              </a:rPr>
              <a:t>    </a:t>
            </a:r>
            <a:r>
              <a:rPr lang="zh-CN" altLang="en-US" b="1" dirty="0">
                <a:latin typeface="黑体" panose="02010609060101010101" pitchFamily="2" charset="-122"/>
                <a:ea typeface="黑体" panose="02010609060101010101" pitchFamily="2" charset="-122"/>
              </a:rPr>
              <a:t>电流分配关系</a:t>
            </a:r>
            <a:r>
              <a:rPr lang="zh-CN" altLang="en-US" b="1" dirty="0"/>
              <a:t>    </a:t>
            </a:r>
          </a:p>
        </p:txBody>
      </p:sp>
      <p:sp>
        <p:nvSpPr>
          <p:cNvPr id="66566" name="Rectangle 6"/>
          <p:cNvSpPr>
            <a:spLocks noChangeArrowheads="1"/>
          </p:cNvSpPr>
          <p:nvPr/>
        </p:nvSpPr>
        <p:spPr bwMode="auto">
          <a:xfrm>
            <a:off x="2267744" y="6093296"/>
            <a:ext cx="5036483" cy="467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762" tIns="48381" rIns="96762" bIns="48381">
            <a:spAutoFit/>
          </a:bodyPr>
          <a:lstStyle/>
          <a:p>
            <a:r>
              <a:rPr lang="zh-CN" altLang="en-US" sz="2400" b="1" dirty="0"/>
              <a:t> </a:t>
            </a:r>
            <a:r>
              <a:rPr lang="en-US" altLang="zh-CN" sz="2400" b="1" dirty="0"/>
              <a:t>NPN</a:t>
            </a:r>
            <a:r>
              <a:rPr lang="zh-CN" altLang="en-US" sz="2400" b="1" dirty="0"/>
              <a:t>管放大实验电路（共发射极）</a:t>
            </a:r>
            <a:r>
              <a:rPr lang="en-US" altLang="zh-CN" sz="2100" b="1" dirty="0"/>
              <a:t>   </a:t>
            </a:r>
            <a:endParaRPr lang="zh-CN" altLang="en-US" sz="2100" b="1" dirty="0"/>
          </a:p>
        </p:txBody>
      </p:sp>
      <p:graphicFrame>
        <p:nvGraphicFramePr>
          <p:cNvPr id="66567" name="Object 7"/>
          <p:cNvGraphicFramePr>
            <a:graphicFrameLocks noChangeAspect="1"/>
          </p:cNvGraphicFramePr>
          <p:nvPr/>
        </p:nvGraphicFramePr>
        <p:xfrm>
          <a:off x="509474" y="1196752"/>
          <a:ext cx="8280920" cy="4392488"/>
        </p:xfrm>
        <a:graphic>
          <a:graphicData uri="http://schemas.openxmlformats.org/presentationml/2006/ole">
            <mc:AlternateContent xmlns:mc="http://schemas.openxmlformats.org/markup-compatibility/2006">
              <mc:Choice xmlns:v="urn:schemas-microsoft-com:vml" Requires="v">
                <p:oleObj name="图像文档" r:id="rId2" imgW="6924675" imgH="2687320" progId="Imaging.Document">
                  <p:embed/>
                </p:oleObj>
              </mc:Choice>
              <mc:Fallback>
                <p:oleObj name="图像文档" r:id="rId2" imgW="6924675" imgH="2687320" progId="Imaging.Document">
                  <p:embed/>
                  <p:pic>
                    <p:nvPicPr>
                      <p:cNvPr id="0" name="图片 144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474" y="1196752"/>
                        <a:ext cx="8280920" cy="4392488"/>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5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66567"/>
                                        </p:tgtEl>
                                        <p:attrNameLst>
                                          <p:attrName>style.visibility</p:attrName>
                                        </p:attrNameLst>
                                      </p:cBhvr>
                                      <p:to>
                                        <p:strVal val="visible"/>
                                      </p:to>
                                    </p:set>
                                    <p:animEffect transition="in" filter="wipe(left)">
                                      <p:cBhvr>
                                        <p:cTn id="11" dur="500"/>
                                        <p:tgtEl>
                                          <p:spTgt spid="6656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6566"/>
                                        </p:tgtEl>
                                        <p:attrNameLst>
                                          <p:attrName>style.visibility</p:attrName>
                                        </p:attrNameLst>
                                      </p:cBhvr>
                                      <p:to>
                                        <p:strVal val="visible"/>
                                      </p:to>
                                    </p:set>
                                    <p:animEffect transition="in" filter="wipe(left)">
                                      <p:cBhvr>
                                        <p:cTn id="14" dur="500"/>
                                        <p:tgtEl>
                                          <p:spTgt spid="665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 grpId="0"/>
      <p:bldP spid="6656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Text Box 4"/>
          <p:cNvSpPr txBox="1">
            <a:spLocks noChangeArrowheads="1"/>
          </p:cNvSpPr>
          <p:nvPr/>
        </p:nvSpPr>
        <p:spPr bwMode="auto">
          <a:xfrm>
            <a:off x="323528" y="332656"/>
            <a:ext cx="8352928" cy="5763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6762" tIns="48381" rIns="96762" bIns="48381">
            <a:spAutoFit/>
          </a:bodyPr>
          <a:lstStyle>
            <a:lvl1pPr defTabSz="863600" eaLnBrk="0" hangingPunct="0">
              <a:defRPr sz="2400">
                <a:solidFill>
                  <a:schemeClr val="tx1"/>
                </a:solidFill>
                <a:latin typeface="Arial" panose="020B0604020202020204" pitchFamily="34" charset="0"/>
                <a:ea typeface="宋体" panose="02010600030101010101" pitchFamily="2" charset="-122"/>
              </a:defRPr>
            </a:lvl1pPr>
            <a:lvl2pPr marL="742950" indent="-285750" defTabSz="863600" eaLnBrk="0" hangingPunct="0">
              <a:defRPr sz="2400">
                <a:solidFill>
                  <a:schemeClr val="tx1"/>
                </a:solidFill>
                <a:latin typeface="Arial" panose="020B0604020202020204" pitchFamily="34" charset="0"/>
                <a:ea typeface="宋体" panose="02010600030101010101" pitchFamily="2" charset="-122"/>
              </a:defRPr>
            </a:lvl2pPr>
            <a:lvl3pPr marL="1143000" indent="-228600" defTabSz="863600" eaLnBrk="0" hangingPunct="0">
              <a:defRPr sz="2400">
                <a:solidFill>
                  <a:schemeClr val="tx1"/>
                </a:solidFill>
                <a:latin typeface="Arial" panose="020B0604020202020204" pitchFamily="34" charset="0"/>
                <a:ea typeface="宋体" panose="02010600030101010101" pitchFamily="2" charset="-122"/>
              </a:defRPr>
            </a:lvl3pPr>
            <a:lvl4pPr marL="1600200" indent="-228600" defTabSz="863600" eaLnBrk="0" hangingPunct="0">
              <a:defRPr sz="2400">
                <a:solidFill>
                  <a:schemeClr val="tx1"/>
                </a:solidFill>
                <a:latin typeface="Arial" panose="020B0604020202020204" pitchFamily="34" charset="0"/>
                <a:ea typeface="宋体" panose="02010600030101010101" pitchFamily="2" charset="-122"/>
              </a:defRPr>
            </a:lvl4pPr>
            <a:lvl5pPr marL="2057400" indent="-228600" defTabSz="863600" eaLnBrk="0" hangingPunct="0">
              <a:defRPr sz="2400">
                <a:solidFill>
                  <a:schemeClr val="tx1"/>
                </a:solidFill>
                <a:latin typeface="Arial" panose="020B0604020202020204" pitchFamily="34" charset="0"/>
                <a:ea typeface="宋体" panose="02010600030101010101" pitchFamily="2" charset="-122"/>
              </a:defRPr>
            </a:lvl5pPr>
            <a:lvl6pPr marL="25146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5000"/>
              </a:spcBef>
            </a:pPr>
            <a:r>
              <a:rPr lang="en-US" altLang="zh-CN" sz="2800" b="1" dirty="0"/>
              <a:t>       </a:t>
            </a:r>
            <a:r>
              <a:rPr lang="zh-CN" altLang="en-US" sz="2800" b="1" dirty="0"/>
              <a:t>电路中的三极管的偏置满足发射结正偏，集电结反偏。             </a:t>
            </a:r>
          </a:p>
          <a:p>
            <a:pPr eaLnBrk="1" hangingPunct="1">
              <a:lnSpc>
                <a:spcPct val="130000"/>
              </a:lnSpc>
              <a:spcBef>
                <a:spcPct val="5000"/>
              </a:spcBef>
            </a:pPr>
            <a:r>
              <a:rPr lang="zh-CN" altLang="en-US" sz="2800" b="1" dirty="0"/>
              <a:t>       发射结正偏，可使发射区的多子（自由电子）通过</a:t>
            </a:r>
            <a:r>
              <a:rPr lang="en-US" altLang="zh-CN" sz="2800" b="1" dirty="0"/>
              <a:t>PN</a:t>
            </a:r>
            <a:r>
              <a:rPr lang="zh-CN" altLang="en-US" sz="2800" b="1" dirty="0"/>
              <a:t>结注入到基区，以形成基极电流</a:t>
            </a:r>
            <a:r>
              <a:rPr lang="en-US" altLang="zh-CN" sz="2800" b="1" i="1" dirty="0">
                <a:latin typeface="宋体" panose="02010600030101010101" pitchFamily="2" charset="-122"/>
              </a:rPr>
              <a:t>I</a:t>
            </a:r>
            <a:r>
              <a:rPr lang="en-US" altLang="zh-CN" sz="2800" b="1" baseline="-25000" dirty="0"/>
              <a:t>B</a:t>
            </a:r>
            <a:r>
              <a:rPr lang="zh-CN" altLang="en-US" sz="2800" b="1" dirty="0"/>
              <a:t>；</a:t>
            </a:r>
          </a:p>
          <a:p>
            <a:pPr eaLnBrk="1" hangingPunct="1">
              <a:lnSpc>
                <a:spcPct val="130000"/>
              </a:lnSpc>
              <a:spcBef>
                <a:spcPct val="5000"/>
              </a:spcBef>
            </a:pPr>
            <a:r>
              <a:rPr lang="zh-CN" altLang="en-US" sz="2800" b="1" dirty="0"/>
              <a:t>       集电结反偏，使集电极电位高于基极电位，于是在集电结上有一个较强的电场，把由发射区注入到基区的自由电子大部分拉到集电区，形成集电极电流</a:t>
            </a:r>
            <a:r>
              <a:rPr lang="en-US" altLang="zh-CN" sz="2800" b="1" i="1" dirty="0">
                <a:latin typeface="宋体" panose="02010600030101010101" pitchFamily="2" charset="-122"/>
              </a:rPr>
              <a:t>I</a:t>
            </a:r>
            <a:r>
              <a:rPr lang="en-US" altLang="zh-CN" sz="2800" b="1" baseline="-25000" dirty="0"/>
              <a:t>C</a:t>
            </a:r>
            <a:r>
              <a:rPr lang="zh-CN" altLang="en-US" sz="2800" b="1" dirty="0"/>
              <a:t>。</a:t>
            </a:r>
          </a:p>
          <a:p>
            <a:pPr eaLnBrk="1" hangingPunct="1">
              <a:lnSpc>
                <a:spcPct val="130000"/>
              </a:lnSpc>
              <a:spcBef>
                <a:spcPct val="5000"/>
              </a:spcBef>
            </a:pPr>
            <a:r>
              <a:rPr lang="zh-CN" altLang="en-US" sz="2800" b="1" dirty="0"/>
              <a:t>        调节</a:t>
            </a:r>
            <a:r>
              <a:rPr lang="en-US" altLang="zh-CN" sz="2800" b="1" i="1" dirty="0" err="1"/>
              <a:t>R</a:t>
            </a:r>
            <a:r>
              <a:rPr lang="en-US" altLang="zh-CN" sz="2800" b="1" baseline="-25000" dirty="0" err="1"/>
              <a:t>b</a:t>
            </a:r>
            <a:r>
              <a:rPr lang="zh-CN" altLang="en-US" sz="2800" b="1" dirty="0"/>
              <a:t>，改变</a:t>
            </a:r>
            <a:r>
              <a:rPr lang="en-US" altLang="zh-CN" sz="2800" b="1" i="1" dirty="0">
                <a:latin typeface="宋体" panose="02010600030101010101" pitchFamily="2" charset="-122"/>
              </a:rPr>
              <a:t>I</a:t>
            </a:r>
            <a:r>
              <a:rPr lang="en-US" altLang="zh-CN" sz="2800" b="1" baseline="-25000" dirty="0"/>
              <a:t>B</a:t>
            </a:r>
            <a:r>
              <a:rPr lang="zh-CN" altLang="en-US" sz="2800" b="1" dirty="0"/>
              <a:t>的大小，得出相应的</a:t>
            </a:r>
            <a:r>
              <a:rPr lang="en-US" altLang="zh-CN" sz="2800" b="1" i="1" dirty="0">
                <a:latin typeface="宋体" panose="02010600030101010101" pitchFamily="2" charset="-122"/>
              </a:rPr>
              <a:t>I</a:t>
            </a:r>
            <a:r>
              <a:rPr lang="en-US" altLang="zh-CN" sz="2800" b="1" baseline="-25000" dirty="0"/>
              <a:t>C</a:t>
            </a:r>
            <a:r>
              <a:rPr lang="zh-CN" altLang="en-US" sz="2800" b="1" dirty="0"/>
              <a:t>和</a:t>
            </a:r>
            <a:r>
              <a:rPr lang="en-US" altLang="zh-CN" sz="2800" b="1" i="1" dirty="0">
                <a:latin typeface="宋体" panose="02010600030101010101" pitchFamily="2" charset="-122"/>
              </a:rPr>
              <a:t>I</a:t>
            </a:r>
            <a:r>
              <a:rPr lang="en-US" altLang="zh-CN" sz="2800" b="1" baseline="-25000" dirty="0"/>
              <a:t>E</a:t>
            </a:r>
            <a:r>
              <a:rPr lang="zh-CN" altLang="en-US" sz="2800" b="1" dirty="0"/>
              <a:t>的数据，如表所示。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3556">
                                            <p:txEl>
                                              <p:pRg st="0" end="0"/>
                                            </p:txEl>
                                          </p:spTgt>
                                        </p:tgtEl>
                                        <p:attrNameLst>
                                          <p:attrName>style.visibility</p:attrName>
                                        </p:attrNameLst>
                                      </p:cBhvr>
                                      <p:to>
                                        <p:strVal val="visible"/>
                                      </p:to>
                                    </p:set>
                                    <p:animEffect transition="in" filter="wipe(left)">
                                      <p:cBhvr>
                                        <p:cTn id="7" dur="500"/>
                                        <p:tgtEl>
                                          <p:spTgt spid="235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556">
                                            <p:txEl>
                                              <p:pRg st="1" end="1"/>
                                            </p:txEl>
                                          </p:spTgt>
                                        </p:tgtEl>
                                        <p:attrNameLst>
                                          <p:attrName>style.visibility</p:attrName>
                                        </p:attrNameLst>
                                      </p:cBhvr>
                                      <p:to>
                                        <p:strVal val="visible"/>
                                      </p:to>
                                    </p:set>
                                    <p:animEffect transition="in" filter="wipe(left)">
                                      <p:cBhvr>
                                        <p:cTn id="12" dur="500"/>
                                        <p:tgtEl>
                                          <p:spTgt spid="2355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3556">
                                            <p:txEl>
                                              <p:pRg st="2" end="2"/>
                                            </p:txEl>
                                          </p:spTgt>
                                        </p:tgtEl>
                                        <p:attrNameLst>
                                          <p:attrName>style.visibility</p:attrName>
                                        </p:attrNameLst>
                                      </p:cBhvr>
                                      <p:to>
                                        <p:strVal val="visible"/>
                                      </p:to>
                                    </p:set>
                                    <p:animEffect transition="in" filter="wipe(left)">
                                      <p:cBhvr>
                                        <p:cTn id="17" dur="500"/>
                                        <p:tgtEl>
                                          <p:spTgt spid="2355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556">
                                            <p:txEl>
                                              <p:pRg st="3" end="3"/>
                                            </p:txEl>
                                          </p:spTgt>
                                        </p:tgtEl>
                                        <p:attrNameLst>
                                          <p:attrName>style.visibility</p:attrName>
                                        </p:attrNameLst>
                                      </p:cBhvr>
                                      <p:to>
                                        <p:strVal val="visible"/>
                                      </p:to>
                                    </p:set>
                                    <p:animEffect transition="in" filter="wipe(left)">
                                      <p:cBhvr>
                                        <p:cTn id="22" dur="500"/>
                                        <p:tgtEl>
                                          <p:spTgt spid="2355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58"/>
          <p:cNvSpPr>
            <a:spLocks noChangeArrowheads="1"/>
          </p:cNvSpPr>
          <p:nvPr/>
        </p:nvSpPr>
        <p:spPr bwMode="auto">
          <a:xfrm>
            <a:off x="0" y="3975020"/>
            <a:ext cx="477107" cy="388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762" tIns="48381" rIns="96762" bIns="48381" anchor="ctr">
            <a:spAutoFit/>
          </a:bodyPr>
          <a:lstStyle/>
          <a:p>
            <a:pPr indent="281940"/>
            <a:endParaRPr lang="en-US" sz="1900"/>
          </a:p>
        </p:txBody>
      </p:sp>
      <p:sp>
        <p:nvSpPr>
          <p:cNvPr id="39939" name="Rectangle 181"/>
          <p:cNvSpPr>
            <a:spLocks noChangeArrowheads="1"/>
          </p:cNvSpPr>
          <p:nvPr/>
        </p:nvSpPr>
        <p:spPr bwMode="auto">
          <a:xfrm>
            <a:off x="2373645" y="700742"/>
            <a:ext cx="4636943" cy="651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6762" tIns="48381" rIns="96762" bIns="48381" anchor="ctr">
            <a:spAutoFit/>
          </a:bodyPr>
          <a:lstStyle/>
          <a:p>
            <a:r>
              <a:rPr lang="en-US" altLang="zh-CN" sz="2100" dirty="0">
                <a:latin typeface="宋体" panose="02010600030101010101" pitchFamily="2" charset="-122"/>
                <a:cs typeface="Times New Roman" panose="02020603050405020304" pitchFamily="18" charset="0"/>
              </a:rPr>
              <a:t> </a:t>
            </a:r>
            <a:r>
              <a:rPr lang="zh-CN" altLang="en-US" sz="3600" b="1" dirty="0">
                <a:latin typeface="宋体" panose="02010600030101010101" pitchFamily="2" charset="-122"/>
                <a:cs typeface="Times New Roman" panose="02020603050405020304" pitchFamily="18" charset="0"/>
              </a:rPr>
              <a:t>电流放大实验数据</a:t>
            </a:r>
            <a:endParaRPr lang="zh-CN" altLang="en-US" sz="3600" b="1" dirty="0"/>
          </a:p>
        </p:txBody>
      </p:sp>
      <p:graphicFrame>
        <p:nvGraphicFramePr>
          <p:cNvPr id="24975" name="Group 399"/>
          <p:cNvGraphicFramePr>
            <a:graphicFrameLocks noGrp="1"/>
          </p:cNvGraphicFramePr>
          <p:nvPr/>
        </p:nvGraphicFramePr>
        <p:xfrm>
          <a:off x="967655" y="1723741"/>
          <a:ext cx="7338049" cy="2387700"/>
        </p:xfrm>
        <a:graphic>
          <a:graphicData uri="http://schemas.openxmlformats.org/drawingml/2006/table">
            <a:tbl>
              <a:tblPr/>
              <a:tblGrid>
                <a:gridCol w="967655">
                  <a:extLst>
                    <a:ext uri="{9D8B030D-6E8A-4147-A177-3AD203B41FA5}">
                      <a16:colId xmlns:a16="http://schemas.microsoft.com/office/drawing/2014/main" val="20000"/>
                    </a:ext>
                  </a:extLst>
                </a:gridCol>
                <a:gridCol w="1024773">
                  <a:extLst>
                    <a:ext uri="{9D8B030D-6E8A-4147-A177-3AD203B41FA5}">
                      <a16:colId xmlns:a16="http://schemas.microsoft.com/office/drawing/2014/main" val="20001"/>
                    </a:ext>
                  </a:extLst>
                </a:gridCol>
                <a:gridCol w="813099">
                  <a:extLst>
                    <a:ext uri="{9D8B030D-6E8A-4147-A177-3AD203B41FA5}">
                      <a16:colId xmlns:a16="http://schemas.microsoft.com/office/drawing/2014/main" val="20002"/>
                    </a:ext>
                  </a:extLst>
                </a:gridCol>
                <a:gridCol w="927336">
                  <a:extLst>
                    <a:ext uri="{9D8B030D-6E8A-4147-A177-3AD203B41FA5}">
                      <a16:colId xmlns:a16="http://schemas.microsoft.com/office/drawing/2014/main" val="20003"/>
                    </a:ext>
                  </a:extLst>
                </a:gridCol>
                <a:gridCol w="930696">
                  <a:extLst>
                    <a:ext uri="{9D8B030D-6E8A-4147-A177-3AD203B41FA5}">
                      <a16:colId xmlns:a16="http://schemas.microsoft.com/office/drawing/2014/main" val="20004"/>
                    </a:ext>
                  </a:extLst>
                </a:gridCol>
                <a:gridCol w="927336">
                  <a:extLst>
                    <a:ext uri="{9D8B030D-6E8A-4147-A177-3AD203B41FA5}">
                      <a16:colId xmlns:a16="http://schemas.microsoft.com/office/drawing/2014/main" val="20005"/>
                    </a:ext>
                  </a:extLst>
                </a:gridCol>
                <a:gridCol w="929016">
                  <a:extLst>
                    <a:ext uri="{9D8B030D-6E8A-4147-A177-3AD203B41FA5}">
                      <a16:colId xmlns:a16="http://schemas.microsoft.com/office/drawing/2014/main" val="20006"/>
                    </a:ext>
                  </a:extLst>
                </a:gridCol>
                <a:gridCol w="818138">
                  <a:extLst>
                    <a:ext uri="{9D8B030D-6E8A-4147-A177-3AD203B41FA5}">
                      <a16:colId xmlns:a16="http://schemas.microsoft.com/office/drawing/2014/main" val="20007"/>
                    </a:ext>
                  </a:extLst>
                </a:gridCol>
              </a:tblGrid>
              <a:tr h="903872">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1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100" b="1" i="1"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a:t>
                      </a:r>
                      <a:endParaRPr kumimoji="0" lang="en-US" altLang="zh-CN" sz="21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6765" marR="96765" marT="48386" marB="483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1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0.004</a:t>
                      </a:r>
                      <a:endParaRPr kumimoji="0" lang="en-US" altLang="zh-CN" sz="21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6765" marR="96765" marT="48386" marB="483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0</a:t>
                      </a:r>
                      <a:endParaRPr kumimoji="0" lang="en-US" altLang="zh-CN" sz="21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6765" marR="96765" marT="48386" marB="483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0.01</a:t>
                      </a:r>
                      <a:endParaRPr kumimoji="0" lang="en-US" altLang="zh-CN" sz="21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6765" marR="96765" marT="48386" marB="483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0.02</a:t>
                      </a:r>
                      <a:endParaRPr kumimoji="0" lang="en-US" altLang="zh-CN" sz="21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6765" marR="96765" marT="48386" marB="483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0.03</a:t>
                      </a:r>
                      <a:endParaRPr kumimoji="0" lang="en-US" altLang="zh-CN" sz="21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6765" marR="96765" marT="48386" marB="483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0.04</a:t>
                      </a:r>
                      <a:endParaRPr kumimoji="0" lang="en-US" altLang="zh-CN" sz="21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6765" marR="96765" marT="48386" marB="483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0.05</a:t>
                      </a:r>
                      <a:endParaRPr kumimoji="0" lang="en-US" altLang="zh-CN" sz="21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6765" marR="96765" marT="48386" marB="483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41914">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1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100" b="1" i="1"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a:t>
                      </a:r>
                      <a:endParaRPr kumimoji="0" lang="en-US" altLang="zh-CN" sz="21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6765" marR="96765" marT="48386" marB="483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0.004</a:t>
                      </a:r>
                      <a:endParaRPr kumimoji="0" lang="en-US" altLang="zh-CN" sz="21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6765" marR="96765" marT="48386" marB="483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0.01</a:t>
                      </a:r>
                      <a:endParaRPr kumimoji="0" lang="en-US" altLang="zh-CN" sz="21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6765" marR="96765" marT="48386" marB="483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1.09</a:t>
                      </a:r>
                      <a:endParaRPr kumimoji="0" lang="en-US" altLang="zh-CN" sz="21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6765" marR="96765" marT="48386" marB="483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2.08</a:t>
                      </a:r>
                      <a:endParaRPr kumimoji="0" lang="en-US" altLang="zh-CN" sz="21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6765" marR="96765" marT="48386" marB="483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3.07</a:t>
                      </a:r>
                      <a:endParaRPr kumimoji="0" lang="en-US" altLang="zh-CN" sz="21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6765" marR="96765" marT="48386" marB="483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4.06</a:t>
                      </a:r>
                      <a:endParaRPr kumimoji="0" lang="en-US" altLang="zh-CN" sz="21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6765" marR="96765" marT="48386" marB="483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5.05</a:t>
                      </a:r>
                      <a:endParaRPr kumimoji="0" lang="en-US" altLang="zh-CN" sz="21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6765" marR="96765" marT="48386" marB="483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1914">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1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I</a:t>
                      </a:r>
                      <a:r>
                        <a:rPr kumimoji="0" lang="en-US" altLang="zh-CN" sz="2100" b="1" i="1"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r>
                        <a:rPr kumimoji="0" lang="en-US" altLang="zh-CN" sz="21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a:t>
                      </a:r>
                      <a:endParaRPr kumimoji="0" lang="en-US" altLang="zh-CN" sz="21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6765" marR="96765" marT="48386" marB="483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0</a:t>
                      </a:r>
                      <a:endParaRPr kumimoji="0" lang="en-US" altLang="zh-CN" sz="21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6765" marR="96765" marT="48386" marB="483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0.01</a:t>
                      </a:r>
                      <a:endParaRPr kumimoji="0" lang="en-US" altLang="zh-CN" sz="21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6765" marR="96765" marT="48386" marB="483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1.10</a:t>
                      </a:r>
                      <a:endParaRPr kumimoji="0" lang="en-US" altLang="zh-CN" sz="21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6765" marR="96765" marT="48386" marB="483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2.10</a:t>
                      </a:r>
                      <a:endParaRPr kumimoji="0" lang="en-US" altLang="zh-CN" sz="21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6765" marR="96765" marT="48386" marB="483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3.10</a:t>
                      </a:r>
                      <a:endParaRPr kumimoji="0" lang="en-US" altLang="zh-CN" sz="21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6765" marR="96765" marT="48386" marB="483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4.10</a:t>
                      </a:r>
                      <a:endParaRPr kumimoji="0" lang="en-US" altLang="zh-CN" sz="21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6765" marR="96765" marT="48386" marB="483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1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5.10</a:t>
                      </a:r>
                      <a:endParaRPr kumimoji="0" lang="en-US" altLang="zh-CN" sz="21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6765" marR="96765" marT="48386" marB="483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39978" name="Rectangle 334"/>
          <p:cNvSpPr>
            <a:spLocks noChangeArrowheads="1"/>
          </p:cNvSpPr>
          <p:nvPr/>
        </p:nvSpPr>
        <p:spPr bwMode="auto">
          <a:xfrm>
            <a:off x="0" y="3975020"/>
            <a:ext cx="477107" cy="388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762" tIns="48381" rIns="96762" bIns="48381" anchor="ctr">
            <a:spAutoFit/>
          </a:bodyPr>
          <a:lstStyle/>
          <a:p>
            <a:pPr indent="281940"/>
            <a:endParaRPr lang="en-US" sz="1900"/>
          </a:p>
        </p:txBody>
      </p:sp>
      <p:sp>
        <p:nvSpPr>
          <p:cNvPr id="24976" name="Rectangle 400"/>
          <p:cNvSpPr>
            <a:spLocks noChangeArrowheads="1"/>
          </p:cNvSpPr>
          <p:nvPr/>
        </p:nvSpPr>
        <p:spPr bwMode="auto">
          <a:xfrm>
            <a:off x="1043608" y="4363114"/>
            <a:ext cx="8172400" cy="1778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6762" tIns="48381" rIns="96762" bIns="48381">
            <a:spAutoFit/>
          </a:bodyPr>
          <a:lstStyle/>
          <a:p>
            <a:pPr>
              <a:lnSpc>
                <a:spcPct val="130000"/>
              </a:lnSpc>
            </a:pPr>
            <a:r>
              <a:rPr lang="zh-CN" altLang="en-US" sz="2800" b="1" dirty="0"/>
              <a:t>由表可得：三极管各电极电流分配关系是：</a:t>
            </a:r>
          </a:p>
          <a:p>
            <a:pPr>
              <a:lnSpc>
                <a:spcPct val="130000"/>
              </a:lnSpc>
            </a:pPr>
            <a:r>
              <a:rPr lang="zh-CN" altLang="en-US" sz="2800" b="1" dirty="0"/>
              <a:t>                    </a:t>
            </a:r>
            <a:r>
              <a:rPr lang="en-US" altLang="zh-CN" sz="2800" b="1" i="1" dirty="0">
                <a:solidFill>
                  <a:srgbClr val="0000FF"/>
                </a:solidFill>
                <a:latin typeface="宋体" panose="02010600030101010101" pitchFamily="2" charset="-122"/>
              </a:rPr>
              <a:t>I</a:t>
            </a:r>
            <a:r>
              <a:rPr lang="en-US" altLang="zh-CN" sz="2800" b="1" baseline="-25000" dirty="0">
                <a:solidFill>
                  <a:srgbClr val="0000FF"/>
                </a:solidFill>
              </a:rPr>
              <a:t>E</a:t>
            </a:r>
            <a:r>
              <a:rPr lang="en-US" altLang="zh-CN" sz="2800" b="1" dirty="0">
                <a:solidFill>
                  <a:srgbClr val="0000FF"/>
                </a:solidFill>
              </a:rPr>
              <a:t> = </a:t>
            </a:r>
            <a:r>
              <a:rPr lang="en-US" altLang="zh-CN" sz="2800" b="1" i="1" dirty="0">
                <a:solidFill>
                  <a:srgbClr val="0000FF"/>
                </a:solidFill>
                <a:latin typeface="宋体" panose="02010600030101010101" pitchFamily="2" charset="-122"/>
              </a:rPr>
              <a:t>I</a:t>
            </a:r>
            <a:r>
              <a:rPr lang="en-US" altLang="zh-CN" sz="2800" b="1" baseline="-25000" dirty="0">
                <a:solidFill>
                  <a:srgbClr val="0000FF"/>
                </a:solidFill>
              </a:rPr>
              <a:t>B</a:t>
            </a:r>
            <a:r>
              <a:rPr lang="en-US" altLang="zh-CN" sz="2800" b="1" dirty="0">
                <a:solidFill>
                  <a:srgbClr val="0000FF"/>
                </a:solidFill>
              </a:rPr>
              <a:t> + </a:t>
            </a:r>
            <a:r>
              <a:rPr lang="en-US" altLang="zh-CN" sz="2800" b="1" i="1" dirty="0">
                <a:solidFill>
                  <a:srgbClr val="0000FF"/>
                </a:solidFill>
                <a:latin typeface="宋体" panose="02010600030101010101" pitchFamily="2" charset="-122"/>
              </a:rPr>
              <a:t>I</a:t>
            </a:r>
            <a:r>
              <a:rPr lang="en-US" altLang="zh-CN" sz="2800" b="1" baseline="-25000" dirty="0">
                <a:solidFill>
                  <a:srgbClr val="0000FF"/>
                </a:solidFill>
              </a:rPr>
              <a:t>C</a:t>
            </a:r>
          </a:p>
          <a:p>
            <a:pPr>
              <a:lnSpc>
                <a:spcPct val="130000"/>
              </a:lnSpc>
            </a:pPr>
            <a:r>
              <a:rPr lang="zh-CN" altLang="en-US" sz="2800" b="1" dirty="0"/>
              <a:t>由于基极电流很小，因而</a:t>
            </a:r>
            <a:r>
              <a:rPr lang="en-US" altLang="zh-CN" sz="2800" b="1" i="1" dirty="0">
                <a:solidFill>
                  <a:srgbClr val="0000FF"/>
                </a:solidFill>
                <a:latin typeface="宋体" panose="02010600030101010101" pitchFamily="2" charset="-122"/>
              </a:rPr>
              <a:t>I</a:t>
            </a:r>
            <a:r>
              <a:rPr lang="en-US" altLang="zh-CN" sz="2800" b="1" baseline="-25000" dirty="0">
                <a:solidFill>
                  <a:srgbClr val="0000FF"/>
                </a:solidFill>
              </a:rPr>
              <a:t>E</a:t>
            </a:r>
            <a:r>
              <a:rPr lang="en-US" altLang="zh-CN" sz="2800" b="1" dirty="0">
                <a:solidFill>
                  <a:srgbClr val="0000FF"/>
                </a:solidFill>
              </a:rPr>
              <a:t>≈</a:t>
            </a:r>
            <a:r>
              <a:rPr lang="en-US" altLang="zh-CN" sz="2800" b="1" i="1" dirty="0">
                <a:solidFill>
                  <a:srgbClr val="0000FF"/>
                </a:solidFill>
                <a:latin typeface="宋体" panose="02010600030101010101" pitchFamily="2" charset="-122"/>
              </a:rPr>
              <a:t>I</a:t>
            </a:r>
            <a:r>
              <a:rPr lang="en-US" altLang="zh-CN" sz="2800" b="1" baseline="-25000" dirty="0">
                <a:solidFill>
                  <a:srgbClr val="0000FF"/>
                </a:solidFill>
              </a:rPr>
              <a:t>C</a:t>
            </a:r>
            <a:r>
              <a:rPr lang="zh-CN" altLang="en-US" sz="2800" b="1"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976">
                                            <p:txEl>
                                              <p:pRg st="0" end="0"/>
                                            </p:txEl>
                                          </p:spTgt>
                                        </p:tgtEl>
                                        <p:attrNameLst>
                                          <p:attrName>style.visibility</p:attrName>
                                        </p:attrNameLst>
                                      </p:cBhvr>
                                      <p:to>
                                        <p:strVal val="visible"/>
                                      </p:to>
                                    </p:set>
                                    <p:animEffect transition="in" filter="wipe(left)">
                                      <p:cBhvr>
                                        <p:cTn id="7" dur="500"/>
                                        <p:tgtEl>
                                          <p:spTgt spid="2497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976">
                                            <p:txEl>
                                              <p:pRg st="1" end="1"/>
                                            </p:txEl>
                                          </p:spTgt>
                                        </p:tgtEl>
                                        <p:attrNameLst>
                                          <p:attrName>style.visibility</p:attrName>
                                        </p:attrNameLst>
                                      </p:cBhvr>
                                      <p:to>
                                        <p:strVal val="visible"/>
                                      </p:to>
                                    </p:set>
                                    <p:animEffect transition="in" filter="wipe(left)">
                                      <p:cBhvr>
                                        <p:cTn id="12" dur="500"/>
                                        <p:tgtEl>
                                          <p:spTgt spid="2497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976">
                                            <p:txEl>
                                              <p:pRg st="2" end="2"/>
                                            </p:txEl>
                                          </p:spTgt>
                                        </p:tgtEl>
                                        <p:attrNameLst>
                                          <p:attrName>style.visibility</p:attrName>
                                        </p:attrNameLst>
                                      </p:cBhvr>
                                      <p:to>
                                        <p:strVal val="visible"/>
                                      </p:to>
                                    </p:set>
                                    <p:animEffect transition="in" filter="wipe(left)">
                                      <p:cBhvr>
                                        <p:cTn id="17" dur="500"/>
                                        <p:tgtEl>
                                          <p:spTgt spid="2497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76"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ext Box 4"/>
          <p:cNvSpPr txBox="1">
            <a:spLocks noChangeArrowheads="1"/>
          </p:cNvSpPr>
          <p:nvPr/>
        </p:nvSpPr>
        <p:spPr bwMode="auto">
          <a:xfrm>
            <a:off x="762701" y="1093719"/>
            <a:ext cx="7623639" cy="1757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762" tIns="48381" rIns="96762" bIns="48381">
            <a:spAutoFit/>
          </a:bodyPr>
          <a:lstStyle>
            <a:lvl1pPr defTabSz="863600" eaLnBrk="0" hangingPunct="0">
              <a:defRPr sz="2400">
                <a:solidFill>
                  <a:schemeClr val="tx1"/>
                </a:solidFill>
                <a:latin typeface="Arial" panose="020B0604020202020204" pitchFamily="34" charset="0"/>
                <a:ea typeface="宋体" panose="02010600030101010101" pitchFamily="2" charset="-122"/>
              </a:defRPr>
            </a:lvl1pPr>
            <a:lvl2pPr marL="742950" indent="-285750" defTabSz="863600" eaLnBrk="0" hangingPunct="0">
              <a:defRPr sz="2400">
                <a:solidFill>
                  <a:schemeClr val="tx1"/>
                </a:solidFill>
                <a:latin typeface="Arial" panose="020B0604020202020204" pitchFamily="34" charset="0"/>
                <a:ea typeface="宋体" panose="02010600030101010101" pitchFamily="2" charset="-122"/>
              </a:defRPr>
            </a:lvl2pPr>
            <a:lvl3pPr marL="1143000" indent="-228600" defTabSz="863600" eaLnBrk="0" hangingPunct="0">
              <a:defRPr sz="2400">
                <a:solidFill>
                  <a:schemeClr val="tx1"/>
                </a:solidFill>
                <a:latin typeface="Arial" panose="020B0604020202020204" pitchFamily="34" charset="0"/>
                <a:ea typeface="宋体" panose="02010600030101010101" pitchFamily="2" charset="-122"/>
              </a:defRPr>
            </a:lvl3pPr>
            <a:lvl4pPr marL="1600200" indent="-228600" defTabSz="863600" eaLnBrk="0" hangingPunct="0">
              <a:defRPr sz="2400">
                <a:solidFill>
                  <a:schemeClr val="tx1"/>
                </a:solidFill>
                <a:latin typeface="Arial" panose="020B0604020202020204" pitchFamily="34" charset="0"/>
                <a:ea typeface="宋体" panose="02010600030101010101" pitchFamily="2" charset="-122"/>
              </a:defRPr>
            </a:lvl4pPr>
            <a:lvl5pPr marL="2057400" indent="-228600" defTabSz="863600" eaLnBrk="0" hangingPunct="0">
              <a:defRPr sz="2400">
                <a:solidFill>
                  <a:schemeClr val="tx1"/>
                </a:solidFill>
                <a:latin typeface="Arial" panose="020B0604020202020204" pitchFamily="34" charset="0"/>
                <a:ea typeface="宋体" panose="02010600030101010101" pitchFamily="2" charset="-122"/>
              </a:defRPr>
            </a:lvl5pPr>
            <a:lvl6pPr marL="25146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2100" dirty="0"/>
              <a:t>         </a:t>
            </a:r>
            <a:endParaRPr lang="en-US" altLang="zh-CN" dirty="0"/>
          </a:p>
          <a:p>
            <a:pPr eaLnBrk="1" hangingPunct="1">
              <a:lnSpc>
                <a:spcPct val="130000"/>
              </a:lnSpc>
            </a:pPr>
            <a:r>
              <a:rPr lang="en-US" altLang="zh-CN" b="1" dirty="0"/>
              <a:t>       </a:t>
            </a:r>
            <a:r>
              <a:rPr lang="zh-CN" altLang="en-US" b="1" dirty="0"/>
              <a:t>通常称              为共射极直流电流放大系数，因而有</a:t>
            </a:r>
            <a:r>
              <a:rPr lang="zh-CN" altLang="en-US" sz="2100" b="1" dirty="0"/>
              <a:t>： </a:t>
            </a:r>
          </a:p>
          <a:p>
            <a:pPr eaLnBrk="1" hangingPunct="1">
              <a:lnSpc>
                <a:spcPct val="130000"/>
              </a:lnSpc>
            </a:pPr>
            <a:endParaRPr lang="zh-CN" altLang="en-US" sz="2100" dirty="0"/>
          </a:p>
        </p:txBody>
      </p:sp>
      <p:graphicFrame>
        <p:nvGraphicFramePr>
          <p:cNvPr id="2050" name="Object 5"/>
          <p:cNvGraphicFramePr>
            <a:graphicFrameLocks noChangeAspect="1"/>
          </p:cNvGraphicFramePr>
          <p:nvPr/>
        </p:nvGraphicFramePr>
        <p:xfrm>
          <a:off x="3203848" y="2492896"/>
          <a:ext cx="2027706" cy="524178"/>
        </p:xfrm>
        <a:graphic>
          <a:graphicData uri="http://schemas.openxmlformats.org/presentationml/2006/ole">
            <mc:AlternateContent xmlns:mc="http://schemas.openxmlformats.org/markup-compatibility/2006">
              <mc:Choice xmlns:v="urn:schemas-microsoft-com:vml" Requires="v">
                <p:oleObj name="公式" r:id="rId2" imgW="571500" imgH="254000" progId="Equation.3">
                  <p:embed/>
                </p:oleObj>
              </mc:Choice>
              <mc:Fallback>
                <p:oleObj name="公式" r:id="rId2" imgW="571500" imgH="254000" progId="Equation.3">
                  <p:embed/>
                  <p:pic>
                    <p:nvPicPr>
                      <p:cNvPr id="0" name="图片 1574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848" y="2492896"/>
                        <a:ext cx="2027706" cy="524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1" name="Object 6"/>
          <p:cNvGraphicFramePr>
            <a:graphicFrameLocks noChangeAspect="1"/>
          </p:cNvGraphicFramePr>
          <p:nvPr/>
        </p:nvGraphicFramePr>
        <p:xfrm>
          <a:off x="2993682" y="3320637"/>
          <a:ext cx="2741688" cy="519138"/>
        </p:xfrm>
        <a:graphic>
          <a:graphicData uri="http://schemas.openxmlformats.org/presentationml/2006/ole">
            <mc:AlternateContent xmlns:mc="http://schemas.openxmlformats.org/markup-compatibility/2006">
              <mc:Choice xmlns:v="urn:schemas-microsoft-com:vml" Requires="v">
                <p:oleObj name="公式" r:id="rId4" imgW="876300" imgH="241300" progId="Equation.3">
                  <p:embed/>
                </p:oleObj>
              </mc:Choice>
              <mc:Fallback>
                <p:oleObj name="公式" r:id="rId4" imgW="876300" imgH="241300" progId="Equation.3">
                  <p:embed/>
                  <p:pic>
                    <p:nvPicPr>
                      <p:cNvPr id="0" name="图片 1574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93682" y="3320637"/>
                        <a:ext cx="2741688" cy="519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6" name="Rectangle 7"/>
          <p:cNvSpPr>
            <a:spLocks noChangeArrowheads="1"/>
          </p:cNvSpPr>
          <p:nvPr/>
        </p:nvSpPr>
        <p:spPr bwMode="auto">
          <a:xfrm>
            <a:off x="865177" y="4509120"/>
            <a:ext cx="7418685" cy="157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762" tIns="48381" rIns="96762" bIns="48381">
            <a:spAutoFit/>
          </a:bodyPr>
          <a:lstStyle/>
          <a:p>
            <a:pPr defTabSz="913765"/>
            <a:r>
              <a:rPr lang="en-US" altLang="zh-CN" sz="2400" dirty="0"/>
              <a:t>        </a:t>
            </a:r>
            <a:r>
              <a:rPr lang="zh-CN" altLang="en-US" sz="2400" b="1" dirty="0"/>
              <a:t>通常                                称为共射极交流电流放大系数。</a:t>
            </a:r>
          </a:p>
          <a:p>
            <a:pPr defTabSz="913765"/>
            <a:r>
              <a:rPr lang="zh-CN" altLang="en-US" sz="2400" b="1" dirty="0"/>
              <a:t>        </a:t>
            </a:r>
          </a:p>
          <a:p>
            <a:pPr defTabSz="913765"/>
            <a:r>
              <a:rPr lang="zh-CN" altLang="en-US" sz="2400" b="1" dirty="0"/>
              <a:t>         由表</a:t>
            </a:r>
            <a:r>
              <a:rPr lang="en-US" altLang="zh-CN" sz="2400" b="1" dirty="0"/>
              <a:t>2.1</a:t>
            </a:r>
            <a:r>
              <a:rPr lang="zh-CN" altLang="en-US" sz="2400" b="1" dirty="0"/>
              <a:t>还可知：</a:t>
            </a:r>
            <a:r>
              <a:rPr lang="el-GR" altLang="zh-CN" sz="2400" b="1" dirty="0"/>
              <a:t>β</a:t>
            </a:r>
            <a:r>
              <a:rPr lang="en-US" altLang="zh-CN" sz="2400" b="1" dirty="0"/>
              <a:t>  ≈</a:t>
            </a:r>
          </a:p>
        </p:txBody>
      </p:sp>
      <p:graphicFrame>
        <p:nvGraphicFramePr>
          <p:cNvPr id="2052" name="Object 8"/>
          <p:cNvGraphicFramePr>
            <a:graphicFrameLocks noChangeAspect="1"/>
          </p:cNvGraphicFramePr>
          <p:nvPr/>
        </p:nvGraphicFramePr>
        <p:xfrm>
          <a:off x="2267744" y="4365104"/>
          <a:ext cx="1774033" cy="787948"/>
        </p:xfrm>
        <a:graphic>
          <a:graphicData uri="http://schemas.openxmlformats.org/presentationml/2006/ole">
            <mc:AlternateContent xmlns:mc="http://schemas.openxmlformats.org/markup-compatibility/2006">
              <mc:Choice xmlns:v="urn:schemas-microsoft-com:vml" Requires="v">
                <p:oleObj name="公式" r:id="rId6" imgW="571500" imgH="431800" progId="Equation.3">
                  <p:embed/>
                </p:oleObj>
              </mc:Choice>
              <mc:Fallback>
                <p:oleObj name="公式" r:id="rId6" imgW="571500" imgH="431800" progId="Equation.3">
                  <p:embed/>
                  <p:pic>
                    <p:nvPicPr>
                      <p:cNvPr id="0" name="图片 1574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7744" y="4365104"/>
                        <a:ext cx="1774033" cy="787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3" name="Object 9"/>
          <p:cNvGraphicFramePr>
            <a:graphicFrameLocks noChangeAspect="1"/>
          </p:cNvGraphicFramePr>
          <p:nvPr/>
        </p:nvGraphicFramePr>
        <p:xfrm>
          <a:off x="4427984" y="5628858"/>
          <a:ext cx="609824" cy="455296"/>
        </p:xfrm>
        <a:graphic>
          <a:graphicData uri="http://schemas.openxmlformats.org/presentationml/2006/ole">
            <mc:AlternateContent xmlns:mc="http://schemas.openxmlformats.org/markup-compatibility/2006">
              <mc:Choice xmlns:v="urn:schemas-microsoft-com:vml" Requires="v">
                <p:oleObj name="公式" r:id="rId8" imgW="152400" imgH="241300" progId="Equation.3">
                  <p:embed/>
                </p:oleObj>
              </mc:Choice>
              <mc:Fallback>
                <p:oleObj name="公式" r:id="rId8" imgW="152400" imgH="241300" progId="Equation.3">
                  <p:embed/>
                  <p:pic>
                    <p:nvPicPr>
                      <p:cNvPr id="0" name="图片 1574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27984" y="5628858"/>
                        <a:ext cx="609824" cy="455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4" name="Object 11"/>
          <p:cNvGraphicFramePr>
            <a:graphicFrameLocks noChangeAspect="1"/>
          </p:cNvGraphicFramePr>
          <p:nvPr/>
        </p:nvGraphicFramePr>
        <p:xfrm>
          <a:off x="2411760" y="1412776"/>
          <a:ext cx="1128930" cy="796348"/>
        </p:xfrm>
        <a:graphic>
          <a:graphicData uri="http://schemas.openxmlformats.org/presentationml/2006/ole">
            <mc:AlternateContent xmlns:mc="http://schemas.openxmlformats.org/markup-compatibility/2006">
              <mc:Choice xmlns:v="urn:schemas-microsoft-com:vml" Requires="v">
                <p:oleObj r:id="rId10" imgW="393700" imgH="342900" progId="Equation.3">
                  <p:embed/>
                </p:oleObj>
              </mc:Choice>
              <mc:Fallback>
                <p:oleObj r:id="rId10" imgW="393700" imgH="342900" progId="Equation.3">
                  <p:embed/>
                  <p:pic>
                    <p:nvPicPr>
                      <p:cNvPr id="0" name="图片 1575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11760" y="1412776"/>
                        <a:ext cx="1128930" cy="7963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extBox 1"/>
          <p:cNvSpPr txBox="1"/>
          <p:nvPr/>
        </p:nvSpPr>
        <p:spPr>
          <a:xfrm>
            <a:off x="1187624" y="459568"/>
            <a:ext cx="2808312" cy="584775"/>
          </a:xfrm>
          <a:prstGeom prst="rect">
            <a:avLst/>
          </a:prstGeom>
          <a:noFill/>
        </p:spPr>
        <p:txBody>
          <a:bodyPr wrap="square" rtlCol="0">
            <a:spAutoFit/>
          </a:bodyPr>
          <a:lstStyle/>
          <a:p>
            <a:r>
              <a:rPr lang="zh-CN" altLang="en-US" sz="3200" b="1" dirty="0">
                <a:solidFill>
                  <a:srgbClr val="C00000"/>
                </a:solidFill>
              </a:rPr>
              <a:t>电流放大系数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055"/>
                                        </p:tgtEl>
                                        <p:attrNameLst>
                                          <p:attrName>style.visibility</p:attrName>
                                        </p:attrNameLst>
                                      </p:cBhvr>
                                      <p:to>
                                        <p:strVal val="visible"/>
                                      </p:to>
                                    </p:set>
                                    <p:anim calcmode="lin" valueType="num">
                                      <p:cBhvr additive="base">
                                        <p:cTn id="12" dur="500" fill="hold"/>
                                        <p:tgtEl>
                                          <p:spTgt spid="2055"/>
                                        </p:tgtEl>
                                        <p:attrNameLst>
                                          <p:attrName>ppt_x</p:attrName>
                                        </p:attrNameLst>
                                      </p:cBhvr>
                                      <p:tavLst>
                                        <p:tav tm="0">
                                          <p:val>
                                            <p:strVal val="#ppt_x"/>
                                          </p:val>
                                        </p:tav>
                                        <p:tav tm="100000">
                                          <p:val>
                                            <p:strVal val="#ppt_x"/>
                                          </p:val>
                                        </p:tav>
                                      </p:tavLst>
                                    </p:anim>
                                    <p:anim calcmode="lin" valueType="num">
                                      <p:cBhvr additive="base">
                                        <p:cTn id="13" dur="500" fill="hold"/>
                                        <p:tgtEl>
                                          <p:spTgt spid="205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054"/>
                                        </p:tgtEl>
                                        <p:attrNameLst>
                                          <p:attrName>style.visibility</p:attrName>
                                        </p:attrNameLst>
                                      </p:cBhvr>
                                      <p:to>
                                        <p:strVal val="visible"/>
                                      </p:to>
                                    </p:set>
                                    <p:animEffect transition="in" filter="fade">
                                      <p:cBhvr>
                                        <p:cTn id="18" dur="500"/>
                                        <p:tgtEl>
                                          <p:spTgt spid="205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50"/>
                                        </p:tgtEl>
                                        <p:attrNameLst>
                                          <p:attrName>style.visibility</p:attrName>
                                        </p:attrNameLst>
                                      </p:cBhvr>
                                      <p:to>
                                        <p:strVal val="visible"/>
                                      </p:to>
                                    </p:set>
                                    <p:animEffect transition="in" filter="fade">
                                      <p:cBhvr>
                                        <p:cTn id="23" dur="500"/>
                                        <p:tgtEl>
                                          <p:spTgt spid="205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051"/>
                                        </p:tgtEl>
                                        <p:attrNameLst>
                                          <p:attrName>style.visibility</p:attrName>
                                        </p:attrNameLst>
                                      </p:cBhvr>
                                      <p:to>
                                        <p:strVal val="visible"/>
                                      </p:to>
                                    </p:set>
                                    <p:animEffect transition="in" filter="fade">
                                      <p:cBhvr>
                                        <p:cTn id="28" dur="500"/>
                                        <p:tgtEl>
                                          <p:spTgt spid="2051"/>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56">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56">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56">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0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5" grpId="0"/>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Text Box 4"/>
          <p:cNvSpPr txBox="1">
            <a:spLocks noChangeArrowheads="1"/>
          </p:cNvSpPr>
          <p:nvPr/>
        </p:nvSpPr>
        <p:spPr bwMode="auto">
          <a:xfrm>
            <a:off x="775260" y="764704"/>
            <a:ext cx="7579961" cy="5059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762" tIns="48381" rIns="96762" bIns="48381">
            <a:spAutoFit/>
          </a:bodyPr>
          <a:lstStyle>
            <a:lvl1pPr defTabSz="863600" eaLnBrk="0" hangingPunct="0">
              <a:defRPr sz="2400">
                <a:solidFill>
                  <a:schemeClr val="tx1"/>
                </a:solidFill>
                <a:latin typeface="Arial" panose="020B0604020202020204" pitchFamily="34" charset="0"/>
                <a:ea typeface="宋体" panose="02010600030101010101" pitchFamily="2" charset="-122"/>
              </a:defRPr>
            </a:lvl1pPr>
            <a:lvl2pPr marL="742950" indent="-285750" defTabSz="863600" eaLnBrk="0" hangingPunct="0">
              <a:defRPr sz="2400">
                <a:solidFill>
                  <a:schemeClr val="tx1"/>
                </a:solidFill>
                <a:latin typeface="Arial" panose="020B0604020202020204" pitchFamily="34" charset="0"/>
                <a:ea typeface="宋体" panose="02010600030101010101" pitchFamily="2" charset="-122"/>
              </a:defRPr>
            </a:lvl2pPr>
            <a:lvl3pPr marL="1143000" indent="-228600" defTabSz="863600" eaLnBrk="0" hangingPunct="0">
              <a:defRPr sz="2400">
                <a:solidFill>
                  <a:schemeClr val="tx1"/>
                </a:solidFill>
                <a:latin typeface="Arial" panose="020B0604020202020204" pitchFamily="34" charset="0"/>
                <a:ea typeface="宋体" panose="02010600030101010101" pitchFamily="2" charset="-122"/>
              </a:defRPr>
            </a:lvl3pPr>
            <a:lvl4pPr marL="1600200" indent="-228600" defTabSz="863600" eaLnBrk="0" hangingPunct="0">
              <a:defRPr sz="2400">
                <a:solidFill>
                  <a:schemeClr val="tx1"/>
                </a:solidFill>
                <a:latin typeface="Arial" panose="020B0604020202020204" pitchFamily="34" charset="0"/>
                <a:ea typeface="宋体" panose="02010600030101010101" pitchFamily="2" charset="-122"/>
              </a:defRPr>
            </a:lvl4pPr>
            <a:lvl5pPr marL="2057400" indent="-228600" defTabSz="863600" eaLnBrk="0" hangingPunct="0">
              <a:defRPr sz="2400">
                <a:solidFill>
                  <a:schemeClr val="tx1"/>
                </a:solidFill>
                <a:latin typeface="Arial" panose="020B0604020202020204" pitchFamily="34" charset="0"/>
                <a:ea typeface="宋体" panose="02010600030101010101" pitchFamily="2" charset="-122"/>
              </a:defRPr>
            </a:lvl5pPr>
            <a:lvl6pPr marL="25146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b="1" dirty="0"/>
              <a:t>       </a:t>
            </a:r>
            <a:r>
              <a:rPr lang="zh-CN" altLang="en-US" b="1" dirty="0">
                <a:latin typeface="黑体" panose="02010609060101010101" pitchFamily="2" charset="-122"/>
                <a:ea typeface="黑体" panose="02010609060101010101" pitchFamily="2" charset="-122"/>
              </a:rPr>
              <a:t>放大作用的实质</a:t>
            </a:r>
            <a:r>
              <a:rPr lang="zh-CN" altLang="en-US" b="1" dirty="0"/>
              <a:t> </a:t>
            </a:r>
          </a:p>
          <a:p>
            <a:pPr eaLnBrk="1" hangingPunct="1">
              <a:lnSpc>
                <a:spcPct val="130000"/>
              </a:lnSpc>
            </a:pPr>
            <a:r>
              <a:rPr lang="zh-CN" altLang="en-US" sz="3200" b="1" dirty="0"/>
              <a:t>       由上述实验结果可知，当</a:t>
            </a:r>
            <a:r>
              <a:rPr lang="en-US" altLang="zh-CN" sz="3200" b="1" i="1" dirty="0">
                <a:latin typeface="宋体" panose="02010600030101010101" pitchFamily="2" charset="-122"/>
              </a:rPr>
              <a:t>I</a:t>
            </a:r>
            <a:r>
              <a:rPr lang="en-US" altLang="zh-CN" sz="3200" b="1" baseline="-25000" dirty="0"/>
              <a:t>B</a:t>
            </a:r>
            <a:r>
              <a:rPr lang="zh-CN" altLang="en-US" sz="3200" b="1" dirty="0"/>
              <a:t>有一微小变化时，能引起</a:t>
            </a:r>
            <a:r>
              <a:rPr lang="en-US" altLang="zh-CN" sz="3200" b="1" i="1" dirty="0">
                <a:latin typeface="宋体" panose="02010600030101010101" pitchFamily="2" charset="-122"/>
              </a:rPr>
              <a:t>I</a:t>
            </a:r>
            <a:r>
              <a:rPr lang="en-US" altLang="zh-CN" sz="3200" b="1" baseline="-25000" dirty="0"/>
              <a:t>C</a:t>
            </a:r>
            <a:r>
              <a:rPr lang="zh-CN" altLang="en-US" sz="3200" b="1" dirty="0"/>
              <a:t>较大的变化，这种现象称为三极管的电流放大作用。</a:t>
            </a:r>
          </a:p>
          <a:p>
            <a:pPr eaLnBrk="1" hangingPunct="1">
              <a:lnSpc>
                <a:spcPct val="130000"/>
              </a:lnSpc>
            </a:pPr>
            <a:r>
              <a:rPr lang="zh-CN" altLang="en-US" sz="3200" b="1" dirty="0"/>
              <a:t>       </a:t>
            </a:r>
            <a:r>
              <a:rPr lang="zh-CN" altLang="en-US" sz="3200" b="1" dirty="0">
                <a:solidFill>
                  <a:srgbClr val="0000FF"/>
                </a:solidFill>
              </a:rPr>
              <a:t>电流放大作用的实质是通过改变基极电流</a:t>
            </a:r>
            <a:r>
              <a:rPr lang="en-US" altLang="zh-CN" sz="3200" b="1" i="1" dirty="0">
                <a:solidFill>
                  <a:srgbClr val="0000FF"/>
                </a:solidFill>
                <a:latin typeface="宋体" panose="02010600030101010101" pitchFamily="2" charset="-122"/>
              </a:rPr>
              <a:t>I</a:t>
            </a:r>
            <a:r>
              <a:rPr lang="en-US" altLang="zh-CN" sz="3200" b="1" baseline="-25000" dirty="0">
                <a:solidFill>
                  <a:srgbClr val="0000FF"/>
                </a:solidFill>
              </a:rPr>
              <a:t>B</a:t>
            </a:r>
            <a:r>
              <a:rPr lang="zh-CN" altLang="en-US" sz="3200" b="1" dirty="0">
                <a:solidFill>
                  <a:srgbClr val="0000FF"/>
                </a:solidFill>
              </a:rPr>
              <a:t>的大小，达到控制</a:t>
            </a:r>
            <a:r>
              <a:rPr lang="en-US" altLang="zh-CN" sz="3200" b="1" i="1" dirty="0">
                <a:solidFill>
                  <a:srgbClr val="0000FF"/>
                </a:solidFill>
                <a:latin typeface="宋体" panose="02010600030101010101" pitchFamily="2" charset="-122"/>
              </a:rPr>
              <a:t>I</a:t>
            </a:r>
            <a:r>
              <a:rPr lang="en-US" altLang="zh-CN" sz="3200" b="1" baseline="-25000" dirty="0">
                <a:solidFill>
                  <a:srgbClr val="0000FF"/>
                </a:solidFill>
              </a:rPr>
              <a:t>C</a:t>
            </a:r>
            <a:r>
              <a:rPr lang="zh-CN" altLang="en-US" sz="3200" b="1" dirty="0">
                <a:solidFill>
                  <a:srgbClr val="0000FF"/>
                </a:solidFill>
              </a:rPr>
              <a:t>的目的</a:t>
            </a:r>
            <a:r>
              <a:rPr lang="zh-CN" altLang="en-US" sz="3200" b="1" dirty="0"/>
              <a:t>，而并不是真正把微小电流放大了，因此称三极管为电流控制型器件。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5604">
                                            <p:txEl>
                                              <p:pRg st="0" end="0"/>
                                            </p:txEl>
                                          </p:spTgt>
                                        </p:tgtEl>
                                        <p:attrNameLst>
                                          <p:attrName>style.visibility</p:attrName>
                                        </p:attrNameLst>
                                      </p:cBhvr>
                                      <p:to>
                                        <p:strVal val="visible"/>
                                      </p:to>
                                    </p:set>
                                    <p:animEffect transition="in" filter="wipe(left)">
                                      <p:cBhvr>
                                        <p:cTn id="7" dur="500"/>
                                        <p:tgtEl>
                                          <p:spTgt spid="2560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604">
                                            <p:txEl>
                                              <p:pRg st="1" end="1"/>
                                            </p:txEl>
                                          </p:spTgt>
                                        </p:tgtEl>
                                        <p:attrNameLst>
                                          <p:attrName>style.visibility</p:attrName>
                                        </p:attrNameLst>
                                      </p:cBhvr>
                                      <p:to>
                                        <p:strVal val="visible"/>
                                      </p:to>
                                    </p:set>
                                    <p:animEffect transition="in" filter="wipe(left)">
                                      <p:cBhvr>
                                        <p:cTn id="12" dur="500"/>
                                        <p:tgtEl>
                                          <p:spTgt spid="2560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604">
                                            <p:txEl>
                                              <p:pRg st="2" end="2"/>
                                            </p:txEl>
                                          </p:spTgt>
                                        </p:tgtEl>
                                        <p:attrNameLst>
                                          <p:attrName>style.visibility</p:attrName>
                                        </p:attrNameLst>
                                      </p:cBhvr>
                                      <p:to>
                                        <p:strVal val="visible"/>
                                      </p:to>
                                    </p:set>
                                    <p:animEffect transition="in" filter="wipe(left)">
                                      <p:cBhvr>
                                        <p:cTn id="17" dur="500"/>
                                        <p:tgtEl>
                                          <p:spTgt spid="2560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5"/>
          <p:cNvSpPr txBox="1">
            <a:spLocks noChangeArrowheads="1"/>
          </p:cNvSpPr>
          <p:nvPr/>
        </p:nvSpPr>
        <p:spPr bwMode="auto">
          <a:xfrm>
            <a:off x="251520" y="188640"/>
            <a:ext cx="8640960" cy="4014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6762" tIns="48381" rIns="96762" bIns="48381">
            <a:spAutoFit/>
          </a:bodyPr>
          <a:lstStyle>
            <a:lvl1pPr marL="342900" indent="-342900" defTabSz="863600" eaLnBrk="0" hangingPunct="0">
              <a:defRPr sz="2400">
                <a:solidFill>
                  <a:schemeClr val="tx1"/>
                </a:solidFill>
                <a:latin typeface="Arial" panose="020B0604020202020204" pitchFamily="34" charset="0"/>
                <a:ea typeface="宋体" panose="02010600030101010101" pitchFamily="2" charset="-122"/>
              </a:defRPr>
            </a:lvl1pPr>
            <a:lvl2pPr marL="742950" indent="-285750" defTabSz="863600" eaLnBrk="0" hangingPunct="0">
              <a:defRPr sz="2400">
                <a:solidFill>
                  <a:schemeClr val="tx1"/>
                </a:solidFill>
                <a:latin typeface="Arial" panose="020B0604020202020204" pitchFamily="34" charset="0"/>
                <a:ea typeface="宋体" panose="02010600030101010101" pitchFamily="2" charset="-122"/>
              </a:defRPr>
            </a:lvl2pPr>
            <a:lvl3pPr marL="1143000" indent="-228600" defTabSz="863600" eaLnBrk="0" hangingPunct="0">
              <a:defRPr sz="2400">
                <a:solidFill>
                  <a:schemeClr val="tx1"/>
                </a:solidFill>
                <a:latin typeface="Arial" panose="020B0604020202020204" pitchFamily="34" charset="0"/>
                <a:ea typeface="宋体" panose="02010600030101010101" pitchFamily="2" charset="-122"/>
              </a:defRPr>
            </a:lvl3pPr>
            <a:lvl4pPr marL="1600200" indent="-228600" defTabSz="863600" eaLnBrk="0" hangingPunct="0">
              <a:defRPr sz="2400">
                <a:solidFill>
                  <a:schemeClr val="tx1"/>
                </a:solidFill>
                <a:latin typeface="Arial" panose="020B0604020202020204" pitchFamily="34" charset="0"/>
                <a:ea typeface="宋体" panose="02010600030101010101" pitchFamily="2" charset="-122"/>
              </a:defRPr>
            </a:lvl4pPr>
            <a:lvl5pPr marL="2057400" indent="-228600" defTabSz="863600" eaLnBrk="0" hangingPunct="0">
              <a:defRPr sz="2400">
                <a:solidFill>
                  <a:schemeClr val="tx1"/>
                </a:solidFill>
                <a:latin typeface="Arial" panose="020B0604020202020204" pitchFamily="34" charset="0"/>
                <a:ea typeface="宋体" panose="02010600030101010101" pitchFamily="2" charset="-122"/>
              </a:defRPr>
            </a:lvl5pPr>
            <a:lvl6pPr marL="25146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800" b="1" dirty="0"/>
              <a:t>        </a:t>
            </a:r>
            <a:r>
              <a:rPr lang="zh-CN" altLang="en-US" sz="2800" b="1">
                <a:latin typeface="黑体" panose="02010609060101010101" pitchFamily="2" charset="-122"/>
                <a:ea typeface="黑体" panose="02010609060101010101" pitchFamily="2" charset="-122"/>
              </a:rPr>
              <a:t>例</a:t>
            </a:r>
            <a:r>
              <a:rPr lang="en-US" altLang="zh-CN" sz="2800" b="1">
                <a:latin typeface="黑体" panose="02010609060101010101" pitchFamily="2" charset="-122"/>
                <a:ea typeface="黑体" panose="02010609060101010101" pitchFamily="2" charset="-122"/>
              </a:rPr>
              <a:t>1</a:t>
            </a:r>
            <a:r>
              <a:rPr lang="en-US" altLang="zh-CN" sz="2800" b="1"/>
              <a:t>  </a:t>
            </a:r>
            <a:r>
              <a:rPr lang="zh-CN" altLang="en-US" sz="2800" b="1" dirty="0"/>
              <a:t>测得工作在放大状态的三极管两个电极的电流如图</a:t>
            </a:r>
            <a:r>
              <a:rPr lang="en-US" altLang="zh-CN" sz="2800" b="1" dirty="0"/>
              <a:t>2.4</a:t>
            </a:r>
            <a:r>
              <a:rPr lang="zh-CN" altLang="en-US" sz="2800" b="1" dirty="0"/>
              <a:t>所示。</a:t>
            </a:r>
          </a:p>
          <a:p>
            <a:pPr eaLnBrk="1" hangingPunct="1">
              <a:lnSpc>
                <a:spcPct val="130000"/>
              </a:lnSpc>
            </a:pPr>
            <a:r>
              <a:rPr lang="zh-CN" altLang="en-US" sz="2800" b="1" dirty="0"/>
              <a:t>      （</a:t>
            </a:r>
            <a:r>
              <a:rPr lang="en-US" altLang="zh-CN" sz="2800" b="1" dirty="0"/>
              <a:t>1</a:t>
            </a:r>
            <a:r>
              <a:rPr lang="zh-CN" altLang="en-US" sz="2800" b="1" dirty="0"/>
              <a:t>）求另一个电极的电流，并在图中标出实际方向。</a:t>
            </a:r>
          </a:p>
          <a:p>
            <a:pPr eaLnBrk="1" hangingPunct="1">
              <a:lnSpc>
                <a:spcPct val="130000"/>
              </a:lnSpc>
            </a:pPr>
            <a:r>
              <a:rPr lang="zh-CN" altLang="en-US" sz="2800" b="1" dirty="0"/>
              <a:t>      （</a:t>
            </a:r>
            <a:r>
              <a:rPr lang="en-US" altLang="zh-CN" sz="2800" b="1" dirty="0"/>
              <a:t>2</a:t>
            </a:r>
            <a:r>
              <a:rPr lang="zh-CN" altLang="en-US" sz="2800" b="1" dirty="0"/>
              <a:t>）标出</a:t>
            </a:r>
            <a:r>
              <a:rPr lang="en-US" altLang="zh-CN" sz="2800" b="1" dirty="0"/>
              <a:t>e</a:t>
            </a:r>
            <a:r>
              <a:rPr lang="zh-CN" altLang="en-US" sz="2800" b="1" dirty="0"/>
              <a:t>、</a:t>
            </a:r>
            <a:r>
              <a:rPr lang="en-US" altLang="zh-CN" sz="2800" b="1" dirty="0"/>
              <a:t>b</a:t>
            </a:r>
            <a:r>
              <a:rPr lang="zh-CN" altLang="en-US" sz="2800" b="1" dirty="0"/>
              <a:t>、</a:t>
            </a:r>
            <a:r>
              <a:rPr lang="en-US" altLang="zh-CN" sz="2800" b="1" dirty="0"/>
              <a:t>c</a:t>
            </a:r>
            <a:r>
              <a:rPr lang="zh-CN" altLang="en-US" sz="2800" b="1" dirty="0"/>
              <a:t>极，并判断出该管是</a:t>
            </a:r>
            <a:r>
              <a:rPr lang="en-US" altLang="zh-CN" sz="2800" b="1" dirty="0"/>
              <a:t>NPN</a:t>
            </a:r>
            <a:r>
              <a:rPr lang="zh-CN" altLang="en-US" sz="2800" b="1" dirty="0"/>
              <a:t>型还</a:t>
            </a:r>
          </a:p>
          <a:p>
            <a:pPr eaLnBrk="1" hangingPunct="1">
              <a:lnSpc>
                <a:spcPct val="130000"/>
              </a:lnSpc>
            </a:pPr>
            <a:r>
              <a:rPr lang="zh-CN" altLang="en-US" sz="2800" b="1" dirty="0"/>
              <a:t>是</a:t>
            </a:r>
            <a:r>
              <a:rPr lang="en-US" altLang="zh-CN" sz="2800" b="1" dirty="0"/>
              <a:t>PNP</a:t>
            </a:r>
            <a:r>
              <a:rPr lang="zh-CN" altLang="en-US" sz="2800" b="1" dirty="0"/>
              <a:t>型管。</a:t>
            </a:r>
          </a:p>
          <a:p>
            <a:pPr eaLnBrk="1" hangingPunct="1">
              <a:lnSpc>
                <a:spcPct val="130000"/>
              </a:lnSpc>
            </a:pPr>
            <a:r>
              <a:rPr lang="zh-CN" altLang="en-US" sz="2800" b="1" dirty="0"/>
              <a:t>      （</a:t>
            </a:r>
            <a:r>
              <a:rPr lang="en-US" altLang="zh-CN" sz="2800" b="1" dirty="0"/>
              <a:t>3</a:t>
            </a:r>
            <a:r>
              <a:rPr lang="zh-CN" altLang="en-US" sz="2800" b="1" dirty="0"/>
              <a:t>）估算其</a:t>
            </a:r>
            <a:r>
              <a:rPr lang="en-US" altLang="zh-CN" sz="2800" b="1" i="1" dirty="0"/>
              <a:t>β</a:t>
            </a:r>
            <a:r>
              <a:rPr lang="zh-CN" altLang="en-US" sz="2800" b="1" dirty="0"/>
              <a:t>值。</a:t>
            </a:r>
          </a:p>
        </p:txBody>
      </p:sp>
      <p:graphicFrame>
        <p:nvGraphicFramePr>
          <p:cNvPr id="2" name="对象 1"/>
          <p:cNvGraphicFramePr>
            <a:graphicFrameLocks noGrp="1" noChangeAspect="1"/>
          </p:cNvGraphicFramePr>
          <p:nvPr/>
        </p:nvGraphicFramePr>
        <p:xfrm>
          <a:off x="827584" y="4005064"/>
          <a:ext cx="7416824" cy="2852936"/>
        </p:xfrm>
        <a:graphic>
          <a:graphicData uri="http://schemas.openxmlformats.org/presentationml/2006/ole">
            <mc:AlternateContent xmlns:mc="http://schemas.openxmlformats.org/markup-compatibility/2006">
              <mc:Choice xmlns:v="urn:schemas-microsoft-com:vml" Requires="v">
                <p:oleObj name="图像文档" r:id="rId2" imgW="6309360" imgH="2448560" progId="Imaging.Document">
                  <p:embed/>
                </p:oleObj>
              </mc:Choice>
              <mc:Fallback>
                <p:oleObj name="图像文档" r:id="rId2" imgW="6309360" imgH="2448560" progId="Imaging.Document">
                  <p:embed/>
                  <p:pic>
                    <p:nvPicPr>
                      <p:cNvPr id="0" name="Object 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4005064"/>
                        <a:ext cx="7416824" cy="2852936"/>
                      </a:xfrm>
                      <a:prstGeom prst="rect">
                        <a:avLst/>
                      </a:prstGeom>
                      <a:noFill/>
                      <a:ln>
                        <a:noFill/>
                      </a:ln>
                      <a:effectLst/>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 Box 5"/>
          <p:cNvSpPr txBox="1">
            <a:spLocks noChangeArrowheads="1"/>
          </p:cNvSpPr>
          <p:nvPr/>
        </p:nvSpPr>
        <p:spPr bwMode="auto">
          <a:xfrm>
            <a:off x="323528" y="260648"/>
            <a:ext cx="8640960" cy="507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6762" tIns="48381" rIns="96762" bIns="48381">
            <a:spAutoFit/>
          </a:bodyPr>
          <a:lstStyle>
            <a:lvl1pPr marL="342900" indent="-342900" defTabSz="863600" eaLnBrk="0" hangingPunct="0">
              <a:defRPr sz="2400">
                <a:solidFill>
                  <a:schemeClr val="tx1"/>
                </a:solidFill>
                <a:latin typeface="Arial" panose="020B0604020202020204" pitchFamily="34" charset="0"/>
                <a:ea typeface="宋体" panose="02010600030101010101" pitchFamily="2" charset="-122"/>
              </a:defRPr>
            </a:lvl1pPr>
            <a:lvl2pPr marL="742950" indent="-285750" defTabSz="863600" eaLnBrk="0" hangingPunct="0">
              <a:defRPr sz="2400">
                <a:solidFill>
                  <a:schemeClr val="tx1"/>
                </a:solidFill>
                <a:latin typeface="Arial" panose="020B0604020202020204" pitchFamily="34" charset="0"/>
                <a:ea typeface="宋体" panose="02010600030101010101" pitchFamily="2" charset="-122"/>
              </a:defRPr>
            </a:lvl2pPr>
            <a:lvl3pPr marL="1143000" indent="-228600" defTabSz="863600" eaLnBrk="0" hangingPunct="0">
              <a:defRPr sz="2400">
                <a:solidFill>
                  <a:schemeClr val="tx1"/>
                </a:solidFill>
                <a:latin typeface="Arial" panose="020B0604020202020204" pitchFamily="34" charset="0"/>
                <a:ea typeface="宋体" panose="02010600030101010101" pitchFamily="2" charset="-122"/>
              </a:defRPr>
            </a:lvl3pPr>
            <a:lvl4pPr marL="1600200" indent="-228600" defTabSz="863600" eaLnBrk="0" hangingPunct="0">
              <a:defRPr sz="2400">
                <a:solidFill>
                  <a:schemeClr val="tx1"/>
                </a:solidFill>
                <a:latin typeface="Arial" panose="020B0604020202020204" pitchFamily="34" charset="0"/>
                <a:ea typeface="宋体" panose="02010600030101010101" pitchFamily="2" charset="-122"/>
              </a:defRPr>
            </a:lvl4pPr>
            <a:lvl5pPr marL="2057400" indent="-228600" defTabSz="863600" eaLnBrk="0" hangingPunct="0">
              <a:defRPr sz="2400">
                <a:solidFill>
                  <a:schemeClr val="tx1"/>
                </a:solidFill>
                <a:latin typeface="Arial" panose="020B0604020202020204" pitchFamily="34" charset="0"/>
                <a:ea typeface="宋体" panose="02010600030101010101" pitchFamily="2" charset="-122"/>
              </a:defRPr>
            </a:lvl5pPr>
            <a:lvl6pPr marL="25146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800" b="1" dirty="0"/>
              <a:t>           </a:t>
            </a:r>
            <a:r>
              <a:rPr lang="zh-CN" altLang="en-US" sz="2800" b="1" dirty="0">
                <a:ea typeface="黑体" panose="02010609060101010101" pitchFamily="2" charset="-122"/>
              </a:rPr>
              <a:t>解：</a:t>
            </a:r>
          </a:p>
          <a:p>
            <a:pPr eaLnBrk="1" hangingPunct="1">
              <a:lnSpc>
                <a:spcPct val="130000"/>
              </a:lnSpc>
            </a:pPr>
            <a:r>
              <a:rPr lang="zh-CN" altLang="en-US" sz="2800" b="1" dirty="0"/>
              <a:t>          （</a:t>
            </a:r>
            <a:r>
              <a:rPr lang="en-US" altLang="zh-CN" sz="2800" b="1" dirty="0"/>
              <a:t>1</a:t>
            </a:r>
            <a:r>
              <a:rPr lang="zh-CN" altLang="en-US" sz="2800" b="1" dirty="0"/>
              <a:t>）图</a:t>
            </a:r>
            <a:r>
              <a:rPr lang="en-US" altLang="zh-CN" sz="2800" b="1" dirty="0"/>
              <a:t>2.4(a)</a:t>
            </a:r>
            <a:r>
              <a:rPr lang="zh-CN" altLang="en-US" sz="2800" b="1" dirty="0"/>
              <a:t>中①、②管脚的电流均为流入，则③管脚的电流必为流出，且大小为</a:t>
            </a:r>
            <a:r>
              <a:rPr lang="en-US" altLang="zh-CN" sz="2800" b="1" dirty="0"/>
              <a:t>0.1+4=4.1(mA)</a:t>
            </a:r>
            <a:r>
              <a:rPr lang="zh-CN" altLang="en-US" sz="2800" b="1" dirty="0"/>
              <a:t>，如图</a:t>
            </a:r>
            <a:r>
              <a:rPr lang="en-US" altLang="zh-CN" sz="2800" b="1" dirty="0"/>
              <a:t>2.4(b)</a:t>
            </a:r>
            <a:r>
              <a:rPr lang="zh-CN" altLang="en-US" sz="2800" b="1" dirty="0"/>
              <a:t>所示。</a:t>
            </a:r>
          </a:p>
          <a:p>
            <a:pPr eaLnBrk="1" hangingPunct="1">
              <a:lnSpc>
                <a:spcPct val="130000"/>
              </a:lnSpc>
            </a:pPr>
            <a:r>
              <a:rPr lang="zh-CN" altLang="en-US" sz="2800" b="1" dirty="0"/>
              <a:t>          （</a:t>
            </a:r>
            <a:r>
              <a:rPr lang="en-US" altLang="zh-CN" sz="2800" b="1" dirty="0"/>
              <a:t>2</a:t>
            </a:r>
            <a:r>
              <a:rPr lang="zh-CN" altLang="en-US" sz="2800" b="1" dirty="0"/>
              <a:t>）由于③管脚的电流最大，①管脚的电流最小，因此①管脚为</a:t>
            </a:r>
            <a:r>
              <a:rPr lang="en-US" altLang="zh-CN" sz="2800" b="1" dirty="0"/>
              <a:t>b</a:t>
            </a:r>
            <a:r>
              <a:rPr lang="zh-CN" altLang="en-US" sz="2800" b="1" dirty="0"/>
              <a:t>极，②管脚为</a:t>
            </a:r>
            <a:r>
              <a:rPr lang="en-US" altLang="zh-CN" sz="2800" b="1" dirty="0"/>
              <a:t>c</a:t>
            </a:r>
            <a:r>
              <a:rPr lang="zh-CN" altLang="en-US" sz="2800" b="1" dirty="0"/>
              <a:t>极，③管脚为</a:t>
            </a:r>
            <a:r>
              <a:rPr lang="en-US" altLang="zh-CN" sz="2800" b="1" dirty="0"/>
              <a:t>e</a:t>
            </a:r>
            <a:r>
              <a:rPr lang="zh-CN" altLang="en-US" sz="2800" b="1" dirty="0"/>
              <a:t>极。又由于③管脚的发射极电流为流出，故该管为</a:t>
            </a:r>
            <a:r>
              <a:rPr lang="en-US" altLang="zh-CN" sz="2800" b="1" dirty="0"/>
              <a:t>NPN</a:t>
            </a:r>
            <a:r>
              <a:rPr lang="zh-CN" altLang="en-US" sz="2800" b="1" dirty="0"/>
              <a:t>型管。 </a:t>
            </a:r>
          </a:p>
          <a:p>
            <a:pPr eaLnBrk="1" hangingPunct="1">
              <a:lnSpc>
                <a:spcPct val="130000"/>
              </a:lnSpc>
            </a:pPr>
            <a:r>
              <a:rPr lang="zh-CN" altLang="en-US" sz="2800" b="1" dirty="0"/>
              <a:t>           （</a:t>
            </a:r>
            <a:r>
              <a:rPr lang="en-US" altLang="zh-CN" sz="2800" b="1" dirty="0"/>
              <a:t>3</a:t>
            </a:r>
            <a:r>
              <a:rPr lang="zh-CN" altLang="en-US" sz="2800" b="1" dirty="0"/>
              <a:t>）由于</a:t>
            </a:r>
            <a:r>
              <a:rPr lang="en-US" altLang="zh-CN" sz="2800" b="1" i="1" dirty="0">
                <a:latin typeface="宋体" panose="02010600030101010101" pitchFamily="2" charset="-122"/>
              </a:rPr>
              <a:t>I</a:t>
            </a:r>
            <a:r>
              <a:rPr lang="en-US" altLang="zh-CN" sz="2800" b="1" baseline="-25000" dirty="0"/>
              <a:t>B</a:t>
            </a:r>
            <a:r>
              <a:rPr lang="en-US" altLang="zh-CN" sz="2800" b="1" dirty="0"/>
              <a:t> = 0.1mA</a:t>
            </a:r>
            <a:r>
              <a:rPr lang="zh-CN" altLang="en-US" sz="2800" b="1" dirty="0"/>
              <a:t>，</a:t>
            </a:r>
            <a:r>
              <a:rPr lang="en-US" altLang="zh-CN" sz="2800" b="1" i="1" dirty="0">
                <a:latin typeface="宋体" panose="02010600030101010101" pitchFamily="2" charset="-122"/>
              </a:rPr>
              <a:t>I</a:t>
            </a:r>
            <a:r>
              <a:rPr lang="en-US" altLang="zh-CN" sz="2800" b="1" baseline="-25000" dirty="0"/>
              <a:t>C</a:t>
            </a:r>
            <a:r>
              <a:rPr lang="en-US" altLang="zh-CN" sz="2800" b="1" dirty="0"/>
              <a:t> = 4mA</a:t>
            </a:r>
            <a:r>
              <a:rPr lang="zh-CN" altLang="en-US" sz="2800" b="1" dirty="0"/>
              <a:t>，故：</a:t>
            </a:r>
          </a:p>
        </p:txBody>
      </p:sp>
      <p:graphicFrame>
        <p:nvGraphicFramePr>
          <p:cNvPr id="4098" name="Object 8"/>
          <p:cNvGraphicFramePr>
            <a:graphicFrameLocks noChangeAspect="1"/>
          </p:cNvGraphicFramePr>
          <p:nvPr/>
        </p:nvGraphicFramePr>
        <p:xfrm>
          <a:off x="2123728" y="5323859"/>
          <a:ext cx="4464496" cy="1449890"/>
        </p:xfrm>
        <a:graphic>
          <a:graphicData uri="http://schemas.openxmlformats.org/presentationml/2006/ole">
            <mc:AlternateContent xmlns:mc="http://schemas.openxmlformats.org/markup-compatibility/2006">
              <mc:Choice xmlns:v="urn:schemas-microsoft-com:vml" Requires="v">
                <p:oleObj name="公式" r:id="rId2" imgW="1397000" imgH="431800" progId="Equation.3">
                  <p:embed/>
                </p:oleObj>
              </mc:Choice>
              <mc:Fallback>
                <p:oleObj name="公式" r:id="rId2" imgW="1397000" imgH="431800" progId="Equation.3">
                  <p:embed/>
                  <p:pic>
                    <p:nvPicPr>
                      <p:cNvPr id="0" name="图片 1748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5323859"/>
                        <a:ext cx="4464496" cy="1449890"/>
                      </a:xfrm>
                      <a:prstGeom prst="rect">
                        <a:avLst/>
                      </a:prstGeom>
                      <a:noFill/>
                      <a:ln>
                        <a:noFill/>
                      </a:ln>
                      <a:effec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2170114" y="404664"/>
            <a:ext cx="4586288" cy="377825"/>
          </a:xfrm>
          <a:prstGeom prst="rect">
            <a:avLst/>
          </a:prstGeom>
          <a:gradFill rotWithShape="1">
            <a:gsLst>
              <a:gs pos="0">
                <a:srgbClr val="9BFF69">
                  <a:alpha val="51999"/>
                </a:srgbClr>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5000"/>
              </a:lnSpc>
            </a:pPr>
            <a:r>
              <a:rPr lang="zh-CN" altLang="en-US" sz="2600" dirty="0">
                <a:solidFill>
                  <a:srgbClr val="002E00"/>
                </a:solidFill>
                <a:latin typeface="Times New Roman" panose="02020603050405020304" pitchFamily="18" charset="0"/>
                <a:ea typeface="隶书" panose="02010509060101010101" pitchFamily="49" charset="-122"/>
              </a:rPr>
              <a:t>三极管的伏安特性曲线</a:t>
            </a:r>
          </a:p>
        </p:txBody>
      </p:sp>
      <p:sp>
        <p:nvSpPr>
          <p:cNvPr id="10243" name="Text Box 3"/>
          <p:cNvSpPr txBox="1">
            <a:spLocks noChangeArrowheads="1"/>
          </p:cNvSpPr>
          <p:nvPr/>
        </p:nvSpPr>
        <p:spPr bwMode="auto">
          <a:xfrm>
            <a:off x="573088" y="1011238"/>
            <a:ext cx="8064500" cy="1095375"/>
          </a:xfrm>
          <a:prstGeom prst="rect">
            <a:avLst/>
          </a:prstGeom>
          <a:noFill/>
          <a:ln>
            <a:noFill/>
          </a:ln>
          <a:effectLst/>
          <a:extLst>
            <a:ext uri="{909E8E84-426E-40DD-AFC4-6F175D3DCCD1}">
              <a14:hiddenFill xmlns:a14="http://schemas.microsoft.com/office/drawing/2010/main">
                <a:gradFill rotWithShape="1">
                  <a:gsLst>
                    <a:gs pos="0">
                      <a:srgbClr val="CCFF99">
                        <a:alpha val="73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kumimoji="1" lang="en-US" altLang="zh-CN" sz="2400" dirty="0">
                <a:solidFill>
                  <a:srgbClr val="000048"/>
                </a:solidFill>
                <a:latin typeface="Times New Roman" panose="02020603050405020304" pitchFamily="18" charset="0"/>
                <a:ea typeface="隶书" panose="02010509060101010101" pitchFamily="49" charset="-122"/>
              </a:rPr>
              <a:t>    </a:t>
            </a:r>
            <a:r>
              <a:rPr kumimoji="1" lang="zh-CN" altLang="en-US" sz="2400" dirty="0">
                <a:solidFill>
                  <a:srgbClr val="000048"/>
                </a:solidFill>
                <a:latin typeface="Times New Roman" panose="02020603050405020304" pitchFamily="18" charset="0"/>
                <a:ea typeface="隶书" panose="02010509060101010101" pitchFamily="49" charset="-122"/>
              </a:rPr>
              <a:t>所谓伏安特性曲线是指各极电压与电流之间的关系曲线，是三极管内部载流子运动的外部表现。从工程应用角度来看，外部特性更为重要。</a:t>
            </a:r>
          </a:p>
        </p:txBody>
      </p:sp>
      <p:sp>
        <p:nvSpPr>
          <p:cNvPr id="10244" name="Text Box 4"/>
          <p:cNvSpPr txBox="1">
            <a:spLocks noChangeArrowheads="1"/>
          </p:cNvSpPr>
          <p:nvPr/>
        </p:nvSpPr>
        <p:spPr bwMode="auto">
          <a:xfrm>
            <a:off x="611188" y="2205038"/>
            <a:ext cx="2443162" cy="365125"/>
          </a:xfrm>
          <a:prstGeom prst="rect">
            <a:avLst/>
          </a:prstGeom>
          <a:gradFill rotWithShape="1">
            <a:gsLst>
              <a:gs pos="0">
                <a:srgbClr val="FFFF99"/>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kumimoji="1" lang="en-US" altLang="zh-CN" sz="2400">
                <a:solidFill>
                  <a:srgbClr val="003300"/>
                </a:solidFill>
                <a:latin typeface="Times New Roman" panose="02020603050405020304" pitchFamily="18" charset="0"/>
                <a:ea typeface="隶书" panose="02010509060101010101" pitchFamily="49" charset="-122"/>
              </a:rPr>
              <a:t>(1) </a:t>
            </a:r>
            <a:r>
              <a:rPr kumimoji="1" lang="zh-CN" altLang="en-US" sz="2400">
                <a:solidFill>
                  <a:srgbClr val="003300"/>
                </a:solidFill>
                <a:latin typeface="Times New Roman" panose="02020603050405020304" pitchFamily="18" charset="0"/>
                <a:ea typeface="隶书" panose="02010509060101010101" pitchFamily="49" charset="-122"/>
              </a:rPr>
              <a:t>输入特性曲线</a:t>
            </a:r>
          </a:p>
        </p:txBody>
      </p:sp>
      <p:sp>
        <p:nvSpPr>
          <p:cNvPr id="10245" name="Text Box 5"/>
          <p:cNvSpPr txBox="1">
            <a:spLocks noChangeArrowheads="1"/>
          </p:cNvSpPr>
          <p:nvPr/>
        </p:nvSpPr>
        <p:spPr bwMode="auto">
          <a:xfrm>
            <a:off x="617538" y="2622550"/>
            <a:ext cx="4705350" cy="730250"/>
          </a:xfrm>
          <a:prstGeom prst="rect">
            <a:avLst/>
          </a:prstGeom>
          <a:noFill/>
          <a:ln>
            <a:noFill/>
          </a:ln>
          <a:effectLst/>
          <a:extLst>
            <a:ext uri="{909E8E84-426E-40DD-AFC4-6F175D3DCCD1}">
              <a14:hiddenFill xmlns:a14="http://schemas.microsoft.com/office/drawing/2010/main">
                <a:gradFill rotWithShape="1">
                  <a:gsLst>
                    <a:gs pos="0">
                      <a:srgbClr val="FF9933">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kumimoji="1" lang="zh-CN" altLang="en-US" sz="2400">
                <a:solidFill>
                  <a:srgbClr val="000048"/>
                </a:solidFill>
                <a:latin typeface="Times New Roman" panose="02020603050405020304" pitchFamily="18" charset="0"/>
                <a:ea typeface="隶书" panose="02010509060101010101" pitchFamily="49" charset="-122"/>
              </a:rPr>
              <a:t>以常用的共射极放大电路为例说明（ </a:t>
            </a:r>
            <a:r>
              <a:rPr kumimoji="1" lang="en-US" altLang="zh-CN" b="1" i="1">
                <a:solidFill>
                  <a:srgbClr val="000048"/>
                </a:solidFill>
              </a:rPr>
              <a:t>U</a:t>
            </a:r>
            <a:r>
              <a:rPr kumimoji="1" lang="en-US" altLang="zh-CN" b="1" baseline="-25000">
                <a:solidFill>
                  <a:srgbClr val="000048"/>
                </a:solidFill>
              </a:rPr>
              <a:t>CE</a:t>
            </a:r>
            <a:r>
              <a:rPr kumimoji="1" lang="zh-CN" altLang="en-US" b="1">
                <a:solidFill>
                  <a:srgbClr val="000048"/>
                </a:solidFill>
              </a:rPr>
              <a:t>为常数时，</a:t>
            </a:r>
            <a:r>
              <a:rPr kumimoji="1" lang="en-US" altLang="zh-CN" b="1">
                <a:solidFill>
                  <a:srgbClr val="000048"/>
                </a:solidFill>
              </a:rPr>
              <a:t>I</a:t>
            </a:r>
            <a:r>
              <a:rPr kumimoji="1" lang="en-US" altLang="zh-CN" b="1" baseline="-25000">
                <a:solidFill>
                  <a:srgbClr val="000048"/>
                </a:solidFill>
              </a:rPr>
              <a:t>B</a:t>
            </a:r>
            <a:r>
              <a:rPr kumimoji="1" lang="zh-CN" altLang="en-US" b="1">
                <a:solidFill>
                  <a:srgbClr val="000048"/>
                </a:solidFill>
              </a:rPr>
              <a:t>和</a:t>
            </a:r>
            <a:r>
              <a:rPr kumimoji="1" lang="en-US" altLang="zh-CN" b="1">
                <a:solidFill>
                  <a:srgbClr val="000048"/>
                </a:solidFill>
              </a:rPr>
              <a:t>U</a:t>
            </a:r>
            <a:r>
              <a:rPr kumimoji="1" lang="en-US" altLang="zh-CN" b="1" baseline="-25000">
                <a:solidFill>
                  <a:srgbClr val="000048"/>
                </a:solidFill>
              </a:rPr>
              <a:t>BE</a:t>
            </a:r>
            <a:r>
              <a:rPr kumimoji="1" lang="zh-CN" altLang="en-US" b="1">
                <a:solidFill>
                  <a:srgbClr val="000048"/>
                </a:solidFill>
              </a:rPr>
              <a:t>之间的关系）</a:t>
            </a:r>
          </a:p>
        </p:txBody>
      </p:sp>
      <p:sp>
        <p:nvSpPr>
          <p:cNvPr id="10246" name="Freeform 6"/>
          <p:cNvSpPr/>
          <p:nvPr/>
        </p:nvSpPr>
        <p:spPr bwMode="auto">
          <a:xfrm>
            <a:off x="5724525" y="3567113"/>
            <a:ext cx="1028700" cy="2274887"/>
          </a:xfrm>
          <a:custGeom>
            <a:avLst/>
            <a:gdLst>
              <a:gd name="T0" fmla="*/ 0 w 648"/>
              <a:gd name="T1" fmla="*/ 2274887 h 1560"/>
              <a:gd name="T2" fmla="*/ 304800 w 648"/>
              <a:gd name="T3" fmla="*/ 2204890 h 1560"/>
              <a:gd name="T4" fmla="*/ 495300 w 648"/>
              <a:gd name="T5" fmla="*/ 2117395 h 1560"/>
              <a:gd name="T6" fmla="*/ 676275 w 648"/>
              <a:gd name="T7" fmla="*/ 1907405 h 1560"/>
              <a:gd name="T8" fmla="*/ 790575 w 648"/>
              <a:gd name="T9" fmla="*/ 1627419 h 1560"/>
              <a:gd name="T10" fmla="*/ 904875 w 648"/>
              <a:gd name="T11" fmla="*/ 1146193 h 1560"/>
              <a:gd name="T12" fmla="*/ 981075 w 648"/>
              <a:gd name="T13" fmla="*/ 533723 h 1560"/>
              <a:gd name="T14" fmla="*/ 1028700 w 648"/>
              <a:gd name="T15" fmla="*/ 0 h 156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8" h="1560">
                <a:moveTo>
                  <a:pt x="0" y="1560"/>
                </a:moveTo>
                <a:lnTo>
                  <a:pt x="192" y="1512"/>
                </a:lnTo>
                <a:lnTo>
                  <a:pt x="312" y="1452"/>
                </a:lnTo>
                <a:lnTo>
                  <a:pt x="426" y="1308"/>
                </a:lnTo>
                <a:lnTo>
                  <a:pt x="498" y="1116"/>
                </a:lnTo>
                <a:lnTo>
                  <a:pt x="570" y="786"/>
                </a:lnTo>
                <a:lnTo>
                  <a:pt x="618" y="366"/>
                </a:lnTo>
                <a:lnTo>
                  <a:pt x="648" y="0"/>
                </a:lnTo>
              </a:path>
            </a:pathLst>
          </a:custGeom>
          <a:noFill/>
          <a:ln w="3810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7" name="Text Box 7"/>
          <p:cNvSpPr txBox="1">
            <a:spLocks noChangeArrowheads="1"/>
          </p:cNvSpPr>
          <p:nvPr/>
        </p:nvSpPr>
        <p:spPr bwMode="auto">
          <a:xfrm rot="-4796198">
            <a:off x="6015831" y="4299744"/>
            <a:ext cx="8588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U</a:t>
            </a:r>
            <a:r>
              <a:rPr kumimoji="1" lang="en-US" altLang="zh-CN" sz="2000" b="1" i="1" baseline="-25000">
                <a:solidFill>
                  <a:srgbClr val="000048"/>
                </a:solidFill>
                <a:latin typeface="Times New Roman" panose="02020603050405020304" pitchFamily="18" charset="0"/>
              </a:rPr>
              <a:t>CE</a:t>
            </a:r>
            <a:r>
              <a:rPr kumimoji="1" lang="en-US" altLang="zh-CN" sz="2000" b="1">
                <a:solidFill>
                  <a:srgbClr val="000048"/>
                </a:solidFill>
                <a:latin typeface="Times New Roman" panose="02020603050405020304" pitchFamily="18" charset="0"/>
              </a:rPr>
              <a:t>=0V</a:t>
            </a:r>
          </a:p>
        </p:txBody>
      </p:sp>
      <p:grpSp>
        <p:nvGrpSpPr>
          <p:cNvPr id="10248" name="Group 8"/>
          <p:cNvGrpSpPr/>
          <p:nvPr/>
        </p:nvGrpSpPr>
        <p:grpSpPr bwMode="auto">
          <a:xfrm>
            <a:off x="5275263" y="3067050"/>
            <a:ext cx="3471862" cy="3073400"/>
            <a:chOff x="3323" y="1932"/>
            <a:chExt cx="2187" cy="1936"/>
          </a:xfrm>
        </p:grpSpPr>
        <p:grpSp>
          <p:nvGrpSpPr>
            <p:cNvPr id="11329" name="Group 9"/>
            <p:cNvGrpSpPr/>
            <p:nvPr/>
          </p:nvGrpSpPr>
          <p:grpSpPr bwMode="auto">
            <a:xfrm>
              <a:off x="3323" y="1932"/>
              <a:ext cx="2187" cy="1845"/>
              <a:chOff x="3323" y="1932"/>
              <a:chExt cx="2187" cy="1845"/>
            </a:xfrm>
          </p:grpSpPr>
          <p:grpSp>
            <p:nvGrpSpPr>
              <p:cNvPr id="11331" name="Group 10"/>
              <p:cNvGrpSpPr/>
              <p:nvPr/>
            </p:nvGrpSpPr>
            <p:grpSpPr bwMode="auto">
              <a:xfrm>
                <a:off x="3458" y="2133"/>
                <a:ext cx="2052" cy="1644"/>
                <a:chOff x="3308" y="2133"/>
                <a:chExt cx="2052" cy="1644"/>
              </a:xfrm>
            </p:grpSpPr>
            <p:grpSp>
              <p:nvGrpSpPr>
                <p:cNvPr id="11333" name="Group 11"/>
                <p:cNvGrpSpPr/>
                <p:nvPr/>
              </p:nvGrpSpPr>
              <p:grpSpPr bwMode="auto">
                <a:xfrm>
                  <a:off x="3308" y="2133"/>
                  <a:ext cx="1611" cy="1611"/>
                  <a:chOff x="3288" y="2304"/>
                  <a:chExt cx="1680" cy="1792"/>
                </a:xfrm>
              </p:grpSpPr>
              <p:sp>
                <p:nvSpPr>
                  <p:cNvPr id="11335" name="Line 12"/>
                  <p:cNvSpPr>
                    <a:spLocks noChangeShapeType="1"/>
                  </p:cNvSpPr>
                  <p:nvPr/>
                </p:nvSpPr>
                <p:spPr bwMode="auto">
                  <a:xfrm>
                    <a:off x="3288" y="4032"/>
                    <a:ext cx="1680" cy="0"/>
                  </a:xfrm>
                  <a:prstGeom prst="line">
                    <a:avLst/>
                  </a:prstGeom>
                  <a:noFill/>
                  <a:ln w="28575">
                    <a:solidFill>
                      <a:schemeClr val="bg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6" name="Line 13"/>
                  <p:cNvSpPr>
                    <a:spLocks noChangeShapeType="1"/>
                  </p:cNvSpPr>
                  <p:nvPr/>
                </p:nvSpPr>
                <p:spPr bwMode="auto">
                  <a:xfrm rot="-5400000">
                    <a:off x="2472" y="3200"/>
                    <a:ext cx="1792" cy="0"/>
                  </a:xfrm>
                  <a:prstGeom prst="line">
                    <a:avLst/>
                  </a:prstGeom>
                  <a:noFill/>
                  <a:ln w="28575">
                    <a:solidFill>
                      <a:schemeClr val="bg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1334" name="Text Box 14"/>
                <p:cNvSpPr txBox="1">
                  <a:spLocks noChangeArrowheads="1"/>
                </p:cNvSpPr>
                <p:nvPr/>
              </p:nvSpPr>
              <p:spPr bwMode="auto">
                <a:xfrm>
                  <a:off x="4896" y="3585"/>
                  <a:ext cx="4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U</a:t>
                  </a:r>
                  <a:r>
                    <a:rPr kumimoji="1" lang="en-US" altLang="zh-CN" sz="2000" b="1" baseline="-25000">
                      <a:solidFill>
                        <a:srgbClr val="000048"/>
                      </a:solidFill>
                      <a:latin typeface="Times New Roman" panose="02020603050405020304" pitchFamily="18" charset="0"/>
                    </a:rPr>
                    <a:t>BE</a:t>
                  </a:r>
                  <a:r>
                    <a:rPr kumimoji="1" lang="en-US" altLang="zh-CN" sz="2000" b="1" i="1" baseline="-25000">
                      <a:solidFill>
                        <a:srgbClr val="000048"/>
                      </a:solidFill>
                      <a:latin typeface="Times New Roman" panose="02020603050405020304" pitchFamily="18" charset="0"/>
                    </a:rPr>
                    <a:t> </a:t>
                  </a:r>
                  <a:r>
                    <a:rPr kumimoji="1" lang="en-US" altLang="zh-CN" sz="2000" b="1" i="1">
                      <a:solidFill>
                        <a:srgbClr val="000048"/>
                      </a:solidFill>
                      <a:latin typeface="Times New Roman" panose="02020603050405020304" pitchFamily="18" charset="0"/>
                    </a:rPr>
                    <a:t>/</a:t>
                  </a:r>
                  <a:r>
                    <a:rPr kumimoji="1" lang="en-US" altLang="zh-CN" sz="2000" b="1">
                      <a:solidFill>
                        <a:srgbClr val="000048"/>
                      </a:solidFill>
                      <a:latin typeface="Times New Roman" panose="02020603050405020304" pitchFamily="18" charset="0"/>
                    </a:rPr>
                    <a:t>V</a:t>
                  </a:r>
                </a:p>
              </p:txBody>
            </p:sp>
          </p:grpSp>
          <p:sp>
            <p:nvSpPr>
              <p:cNvPr id="11332" name="Text Box 15"/>
              <p:cNvSpPr txBox="1">
                <a:spLocks noChangeArrowheads="1"/>
              </p:cNvSpPr>
              <p:nvPr/>
            </p:nvSpPr>
            <p:spPr bwMode="auto">
              <a:xfrm>
                <a:off x="3323" y="1932"/>
                <a:ext cx="4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I</a:t>
                </a:r>
                <a:r>
                  <a:rPr kumimoji="1" lang="en-US" altLang="zh-CN" sz="2000" b="1" baseline="-25000">
                    <a:solidFill>
                      <a:srgbClr val="000048"/>
                    </a:solidFill>
                    <a:latin typeface="Times New Roman" panose="02020603050405020304" pitchFamily="18" charset="0"/>
                  </a:rPr>
                  <a:t>B</a:t>
                </a:r>
                <a:r>
                  <a:rPr kumimoji="1" lang="en-US" altLang="zh-CN" sz="2000" b="1" i="1" baseline="-25000">
                    <a:solidFill>
                      <a:srgbClr val="000048"/>
                    </a:solidFill>
                    <a:latin typeface="Times New Roman" panose="02020603050405020304" pitchFamily="18" charset="0"/>
                  </a:rPr>
                  <a:t> </a:t>
                </a:r>
                <a:r>
                  <a:rPr kumimoji="1" lang="en-US" altLang="zh-CN" sz="2000" b="1" i="1">
                    <a:solidFill>
                      <a:srgbClr val="000048"/>
                    </a:solidFill>
                    <a:latin typeface="Times New Roman" panose="02020603050405020304" pitchFamily="18" charset="0"/>
                  </a:rPr>
                  <a:t>/</a:t>
                </a:r>
                <a:r>
                  <a:rPr kumimoji="1" lang="en-US" altLang="zh-CN" sz="2000" b="1">
                    <a:solidFill>
                      <a:srgbClr val="000048"/>
                    </a:solidFill>
                    <a:latin typeface="Times New Roman" panose="02020603050405020304" pitchFamily="18" charset="0"/>
                    <a:sym typeface="Symbol" panose="05050102010706020507" pitchFamily="18" charset="2"/>
                  </a:rPr>
                  <a:t>A</a:t>
                </a:r>
                <a:endParaRPr kumimoji="1" lang="en-US" altLang="zh-CN" sz="2000" b="1">
                  <a:solidFill>
                    <a:srgbClr val="000048"/>
                  </a:solidFill>
                  <a:latin typeface="Times New Roman" panose="02020603050405020304" pitchFamily="18" charset="0"/>
                </a:endParaRPr>
              </a:p>
            </p:txBody>
          </p:sp>
        </p:grpSp>
        <p:sp>
          <p:nvSpPr>
            <p:cNvPr id="11330" name="Text Box 16"/>
            <p:cNvSpPr txBox="1">
              <a:spLocks noChangeArrowheads="1"/>
            </p:cNvSpPr>
            <p:nvPr/>
          </p:nvSpPr>
          <p:spPr bwMode="auto">
            <a:xfrm>
              <a:off x="3423" y="3676"/>
              <a:ext cx="14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a:solidFill>
                    <a:srgbClr val="000048"/>
                  </a:solidFill>
                  <a:latin typeface="Times New Roman" panose="02020603050405020304" pitchFamily="18" charset="0"/>
                </a:rPr>
                <a:t>0</a:t>
              </a:r>
            </a:p>
          </p:txBody>
        </p:sp>
      </p:grpSp>
      <p:grpSp>
        <p:nvGrpSpPr>
          <p:cNvPr id="10257" name="Group 17"/>
          <p:cNvGrpSpPr/>
          <p:nvPr/>
        </p:nvGrpSpPr>
        <p:grpSpPr bwMode="auto">
          <a:xfrm>
            <a:off x="2859088" y="3478213"/>
            <a:ext cx="946150" cy="2551112"/>
            <a:chOff x="1801" y="2191"/>
            <a:chExt cx="596" cy="1607"/>
          </a:xfrm>
        </p:grpSpPr>
        <p:sp>
          <p:nvSpPr>
            <p:cNvPr id="11327" name="Line 18"/>
            <p:cNvSpPr>
              <a:spLocks noChangeShapeType="1"/>
            </p:cNvSpPr>
            <p:nvPr/>
          </p:nvSpPr>
          <p:spPr bwMode="auto">
            <a:xfrm>
              <a:off x="2067" y="2191"/>
              <a:ext cx="0" cy="1607"/>
            </a:xfrm>
            <a:prstGeom prst="line">
              <a:avLst/>
            </a:prstGeom>
            <a:noFill/>
            <a:ln w="19050">
              <a:solidFill>
                <a:srgbClr val="AC004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8" name="Text Box 19"/>
            <p:cNvSpPr txBox="1">
              <a:spLocks noChangeArrowheads="1"/>
            </p:cNvSpPr>
            <p:nvPr/>
          </p:nvSpPr>
          <p:spPr bwMode="auto">
            <a:xfrm>
              <a:off x="1801" y="2747"/>
              <a:ext cx="596" cy="192"/>
            </a:xfrm>
            <a:prstGeom prst="rect">
              <a:avLst/>
            </a:prstGeom>
            <a:solidFill>
              <a:srgbClr val="FFEAD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U</a:t>
              </a:r>
              <a:r>
                <a:rPr kumimoji="1" lang="en-US" altLang="zh-CN" sz="2000" b="1" baseline="-25000">
                  <a:solidFill>
                    <a:srgbClr val="000048"/>
                  </a:solidFill>
                  <a:latin typeface="Times New Roman" panose="02020603050405020304" pitchFamily="18" charset="0"/>
                </a:rPr>
                <a:t>CE </a:t>
              </a:r>
              <a:r>
                <a:rPr kumimoji="1" lang="en-US" altLang="zh-CN" sz="2000" b="1">
                  <a:solidFill>
                    <a:srgbClr val="000048"/>
                  </a:solidFill>
                  <a:latin typeface="Times New Roman" panose="02020603050405020304" pitchFamily="18" charset="0"/>
                </a:rPr>
                <a:t>=0V</a:t>
              </a:r>
            </a:p>
          </p:txBody>
        </p:sp>
      </p:grpSp>
      <p:grpSp>
        <p:nvGrpSpPr>
          <p:cNvPr id="10260" name="Group 20"/>
          <p:cNvGrpSpPr/>
          <p:nvPr/>
        </p:nvGrpSpPr>
        <p:grpSpPr bwMode="auto">
          <a:xfrm>
            <a:off x="935038" y="3459163"/>
            <a:ext cx="3971925" cy="2613025"/>
            <a:chOff x="566" y="1752"/>
            <a:chExt cx="2502" cy="1646"/>
          </a:xfrm>
        </p:grpSpPr>
        <p:grpSp>
          <p:nvGrpSpPr>
            <p:cNvPr id="11292" name="Group 21"/>
            <p:cNvGrpSpPr/>
            <p:nvPr/>
          </p:nvGrpSpPr>
          <p:grpSpPr bwMode="auto">
            <a:xfrm rot="16200000" flipV="1">
              <a:off x="1297" y="2496"/>
              <a:ext cx="288" cy="344"/>
              <a:chOff x="4168" y="3064"/>
              <a:chExt cx="288" cy="344"/>
            </a:xfrm>
          </p:grpSpPr>
          <p:sp>
            <p:nvSpPr>
              <p:cNvPr id="11322" name="Rectangle 22"/>
              <p:cNvSpPr>
                <a:spLocks noChangeArrowheads="1"/>
              </p:cNvSpPr>
              <p:nvPr/>
            </p:nvSpPr>
            <p:spPr bwMode="auto">
              <a:xfrm>
                <a:off x="4176" y="3084"/>
                <a:ext cx="276" cy="312"/>
              </a:xfrm>
              <a:prstGeom prst="rect">
                <a:avLst/>
              </a:prstGeom>
              <a:solidFill>
                <a:srgbClr val="FFEEDD"/>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1323" name="Line 23"/>
              <p:cNvSpPr>
                <a:spLocks noChangeShapeType="1"/>
              </p:cNvSpPr>
              <p:nvPr/>
            </p:nvSpPr>
            <p:spPr bwMode="auto">
              <a:xfrm>
                <a:off x="4168" y="3248"/>
                <a:ext cx="288" cy="1"/>
              </a:xfrm>
              <a:prstGeom prst="line">
                <a:avLst/>
              </a:prstGeom>
              <a:noFill/>
              <a:ln w="57150">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4" name="Line 24"/>
              <p:cNvSpPr>
                <a:spLocks noChangeShapeType="1"/>
              </p:cNvSpPr>
              <p:nvPr/>
            </p:nvSpPr>
            <p:spPr bwMode="auto">
              <a:xfrm flipH="1" flipV="1">
                <a:off x="4168" y="3064"/>
                <a:ext cx="120" cy="192"/>
              </a:xfrm>
              <a:prstGeom prst="line">
                <a:avLst/>
              </a:prstGeom>
              <a:noFill/>
              <a:ln w="38100">
                <a:solidFill>
                  <a:srgbClr val="66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5" name="Line 25"/>
              <p:cNvSpPr>
                <a:spLocks noChangeShapeType="1"/>
              </p:cNvSpPr>
              <p:nvPr/>
            </p:nvSpPr>
            <p:spPr bwMode="auto">
              <a:xfrm flipV="1">
                <a:off x="4368" y="3080"/>
                <a:ext cx="80" cy="152"/>
              </a:xfrm>
              <a:prstGeom prst="line">
                <a:avLst/>
              </a:prstGeom>
              <a:noFill/>
              <a:ln w="38100">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6" name="Line 26"/>
              <p:cNvSpPr>
                <a:spLocks noChangeShapeType="1"/>
              </p:cNvSpPr>
              <p:nvPr/>
            </p:nvSpPr>
            <p:spPr bwMode="auto">
              <a:xfrm>
                <a:off x="4320" y="3258"/>
                <a:ext cx="0" cy="150"/>
              </a:xfrm>
              <a:prstGeom prst="line">
                <a:avLst/>
              </a:prstGeom>
              <a:noFill/>
              <a:ln w="38100">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1293" name="Oval 27"/>
            <p:cNvSpPr>
              <a:spLocks noChangeArrowheads="1"/>
            </p:cNvSpPr>
            <p:nvPr/>
          </p:nvSpPr>
          <p:spPr bwMode="auto">
            <a:xfrm>
              <a:off x="1565" y="3351"/>
              <a:ext cx="48" cy="47"/>
            </a:xfrm>
            <a:prstGeom prst="ellipse">
              <a:avLst/>
            </a:prstGeom>
            <a:solidFill>
              <a:schemeClr val="accent2"/>
            </a:solidFill>
            <a:ln w="9525">
              <a:solidFill>
                <a:schemeClr val="accent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1294" name="Text Box 28"/>
            <p:cNvSpPr txBox="1">
              <a:spLocks noChangeArrowheads="1"/>
            </p:cNvSpPr>
            <p:nvPr/>
          </p:nvSpPr>
          <p:spPr bwMode="auto">
            <a:xfrm>
              <a:off x="861" y="3091"/>
              <a:ext cx="35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U</a:t>
              </a:r>
              <a:r>
                <a:rPr kumimoji="1" lang="en-US" altLang="zh-CN" sz="2000" b="1" baseline="-25000">
                  <a:solidFill>
                    <a:srgbClr val="000048"/>
                  </a:solidFill>
                  <a:latin typeface="Times New Roman" panose="02020603050405020304" pitchFamily="18" charset="0"/>
                </a:rPr>
                <a:t>BB</a:t>
              </a:r>
              <a:endParaRPr kumimoji="1" lang="en-US" altLang="zh-CN" sz="2000" b="1">
                <a:solidFill>
                  <a:srgbClr val="000048"/>
                </a:solidFill>
                <a:latin typeface="Times New Roman" panose="02020603050405020304" pitchFamily="18" charset="0"/>
              </a:endParaRPr>
            </a:p>
          </p:txBody>
        </p:sp>
        <p:sp>
          <p:nvSpPr>
            <p:cNvPr id="11295" name="Text Box 29"/>
            <p:cNvSpPr txBox="1">
              <a:spLocks noChangeArrowheads="1"/>
            </p:cNvSpPr>
            <p:nvPr/>
          </p:nvSpPr>
          <p:spPr bwMode="auto">
            <a:xfrm>
              <a:off x="2676" y="2728"/>
              <a:ext cx="39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400" b="1" i="1">
                  <a:solidFill>
                    <a:srgbClr val="000048"/>
                  </a:solidFill>
                  <a:latin typeface="Times New Roman" panose="02020603050405020304" pitchFamily="18" charset="0"/>
                </a:rPr>
                <a:t>U</a:t>
              </a:r>
              <a:r>
                <a:rPr kumimoji="1" lang="en-US" altLang="zh-CN" sz="2400" b="1" baseline="-25000">
                  <a:solidFill>
                    <a:srgbClr val="000048"/>
                  </a:solidFill>
                  <a:latin typeface="Times New Roman" panose="02020603050405020304" pitchFamily="18" charset="0"/>
                </a:rPr>
                <a:t>CC</a:t>
              </a:r>
              <a:endParaRPr kumimoji="1" lang="en-US" altLang="zh-CN" sz="2400" b="1">
                <a:solidFill>
                  <a:srgbClr val="000048"/>
                </a:solidFill>
                <a:latin typeface="Times New Roman" panose="02020603050405020304" pitchFamily="18" charset="0"/>
              </a:endParaRPr>
            </a:p>
          </p:txBody>
        </p:sp>
        <p:sp>
          <p:nvSpPr>
            <p:cNvPr id="11296" name="Text Box 30"/>
            <p:cNvSpPr txBox="1">
              <a:spLocks noChangeArrowheads="1"/>
            </p:cNvSpPr>
            <p:nvPr/>
          </p:nvSpPr>
          <p:spPr bwMode="auto">
            <a:xfrm>
              <a:off x="2653" y="2161"/>
              <a:ext cx="25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R</a:t>
              </a:r>
              <a:r>
                <a:rPr kumimoji="1" lang="en-US" altLang="zh-CN" sz="2000" b="1" baseline="-25000">
                  <a:solidFill>
                    <a:srgbClr val="000048"/>
                  </a:solidFill>
                  <a:latin typeface="Times New Roman" panose="02020603050405020304" pitchFamily="18" charset="0"/>
                </a:rPr>
                <a:t>C</a:t>
              </a:r>
              <a:endParaRPr kumimoji="1" lang="en-US" altLang="zh-CN" sz="2000" b="1">
                <a:solidFill>
                  <a:srgbClr val="000048"/>
                </a:solidFill>
                <a:latin typeface="Times New Roman" panose="02020603050405020304" pitchFamily="18" charset="0"/>
              </a:endParaRPr>
            </a:p>
          </p:txBody>
        </p:sp>
        <p:sp>
          <p:nvSpPr>
            <p:cNvPr id="11297" name="Freeform 31"/>
            <p:cNvSpPr/>
            <p:nvPr/>
          </p:nvSpPr>
          <p:spPr bwMode="auto">
            <a:xfrm>
              <a:off x="719" y="2660"/>
              <a:ext cx="550" cy="730"/>
            </a:xfrm>
            <a:custGeom>
              <a:avLst/>
              <a:gdLst>
                <a:gd name="T0" fmla="*/ 550 w 768"/>
                <a:gd name="T1" fmla="*/ 0 h 624"/>
                <a:gd name="T2" fmla="*/ 0 w 768"/>
                <a:gd name="T3" fmla="*/ 0 h 624"/>
                <a:gd name="T4" fmla="*/ 0 w 768"/>
                <a:gd name="T5" fmla="*/ 730 h 624"/>
                <a:gd name="T6" fmla="*/ 0 60000 65536"/>
                <a:gd name="T7" fmla="*/ 0 60000 65536"/>
                <a:gd name="T8" fmla="*/ 0 60000 65536"/>
              </a:gdLst>
              <a:ahLst/>
              <a:cxnLst>
                <a:cxn ang="T6">
                  <a:pos x="T0" y="T1"/>
                </a:cxn>
                <a:cxn ang="T7">
                  <a:pos x="T2" y="T3"/>
                </a:cxn>
                <a:cxn ang="T8">
                  <a:pos x="T4" y="T5"/>
                </a:cxn>
              </a:cxnLst>
              <a:rect l="0" t="0" r="r" b="b"/>
              <a:pathLst>
                <a:path w="768" h="624">
                  <a:moveTo>
                    <a:pt x="768" y="0"/>
                  </a:moveTo>
                  <a:lnTo>
                    <a:pt x="0" y="0"/>
                  </a:lnTo>
                  <a:lnTo>
                    <a:pt x="0" y="624"/>
                  </a:lnTo>
                </a:path>
              </a:pathLst>
            </a:custGeom>
            <a:noFill/>
            <a:ln w="28575" cmpd="sng">
              <a:solidFill>
                <a:srgbClr val="66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8" name="Line 32"/>
            <p:cNvSpPr>
              <a:spLocks noChangeShapeType="1"/>
            </p:cNvSpPr>
            <p:nvPr/>
          </p:nvSpPr>
          <p:spPr bwMode="auto">
            <a:xfrm>
              <a:off x="725" y="3385"/>
              <a:ext cx="862" cy="0"/>
            </a:xfrm>
            <a:prstGeom prst="line">
              <a:avLst/>
            </a:prstGeom>
            <a:noFill/>
            <a:ln w="28575">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9" name="Freeform 33"/>
            <p:cNvSpPr/>
            <p:nvPr/>
          </p:nvSpPr>
          <p:spPr bwMode="auto">
            <a:xfrm rot="5400000" flipH="1">
              <a:off x="1265" y="2074"/>
              <a:ext cx="1622" cy="977"/>
            </a:xfrm>
            <a:custGeom>
              <a:avLst/>
              <a:gdLst>
                <a:gd name="T0" fmla="*/ 1622 w 768"/>
                <a:gd name="T1" fmla="*/ 0 h 624"/>
                <a:gd name="T2" fmla="*/ 0 w 768"/>
                <a:gd name="T3" fmla="*/ 0 h 624"/>
                <a:gd name="T4" fmla="*/ 0 w 768"/>
                <a:gd name="T5" fmla="*/ 977 h 624"/>
                <a:gd name="T6" fmla="*/ 0 60000 65536"/>
                <a:gd name="T7" fmla="*/ 0 60000 65536"/>
                <a:gd name="T8" fmla="*/ 0 60000 65536"/>
              </a:gdLst>
              <a:ahLst/>
              <a:cxnLst>
                <a:cxn ang="T6">
                  <a:pos x="T0" y="T1"/>
                </a:cxn>
                <a:cxn ang="T7">
                  <a:pos x="T2" y="T3"/>
                </a:cxn>
                <a:cxn ang="T8">
                  <a:pos x="T4" y="T5"/>
                </a:cxn>
              </a:cxnLst>
              <a:rect l="0" t="0" r="r" b="b"/>
              <a:pathLst>
                <a:path w="768" h="624">
                  <a:moveTo>
                    <a:pt x="768" y="0"/>
                  </a:moveTo>
                  <a:lnTo>
                    <a:pt x="0" y="0"/>
                  </a:lnTo>
                  <a:lnTo>
                    <a:pt x="0" y="624"/>
                  </a:lnTo>
                </a:path>
              </a:pathLst>
            </a:custGeom>
            <a:noFill/>
            <a:ln w="28575" cmpd="sng">
              <a:solidFill>
                <a:srgbClr val="66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1300" name="Group 34"/>
            <p:cNvGrpSpPr/>
            <p:nvPr/>
          </p:nvGrpSpPr>
          <p:grpSpPr bwMode="auto">
            <a:xfrm rot="10800000" flipV="1">
              <a:off x="634" y="3159"/>
              <a:ext cx="192" cy="89"/>
              <a:chOff x="296" y="1648"/>
              <a:chExt cx="192" cy="57"/>
            </a:xfrm>
          </p:grpSpPr>
          <p:sp>
            <p:nvSpPr>
              <p:cNvPr id="11319" name="Rectangle 35"/>
              <p:cNvSpPr>
                <a:spLocks noChangeArrowheads="1"/>
              </p:cNvSpPr>
              <p:nvPr/>
            </p:nvSpPr>
            <p:spPr bwMode="auto">
              <a:xfrm>
                <a:off x="312" y="1648"/>
                <a:ext cx="152" cy="4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1320" name="Line 36"/>
              <p:cNvSpPr>
                <a:spLocks noChangeShapeType="1"/>
              </p:cNvSpPr>
              <p:nvPr/>
            </p:nvSpPr>
            <p:spPr bwMode="auto">
              <a:xfrm>
                <a:off x="296" y="1648"/>
                <a:ext cx="192" cy="1"/>
              </a:xfrm>
              <a:prstGeom prst="line">
                <a:avLst/>
              </a:prstGeom>
              <a:noFill/>
              <a:ln w="444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1" name="Line 37"/>
              <p:cNvSpPr>
                <a:spLocks noChangeShapeType="1"/>
              </p:cNvSpPr>
              <p:nvPr/>
            </p:nvSpPr>
            <p:spPr bwMode="auto">
              <a:xfrm>
                <a:off x="344" y="1704"/>
                <a:ext cx="96" cy="1"/>
              </a:xfrm>
              <a:prstGeom prst="line">
                <a:avLst/>
              </a:prstGeom>
              <a:noFill/>
              <a:ln w="3810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301" name="Group 38"/>
            <p:cNvGrpSpPr/>
            <p:nvPr/>
          </p:nvGrpSpPr>
          <p:grpSpPr bwMode="auto">
            <a:xfrm>
              <a:off x="2471" y="2660"/>
              <a:ext cx="192" cy="285"/>
              <a:chOff x="848" y="1632"/>
              <a:chExt cx="192" cy="285"/>
            </a:xfrm>
          </p:grpSpPr>
          <p:sp>
            <p:nvSpPr>
              <p:cNvPr id="11309" name="Rectangle 39"/>
              <p:cNvSpPr>
                <a:spLocks noChangeArrowheads="1"/>
              </p:cNvSpPr>
              <p:nvPr/>
            </p:nvSpPr>
            <p:spPr bwMode="auto">
              <a:xfrm>
                <a:off x="864" y="1632"/>
                <a:ext cx="152" cy="276"/>
              </a:xfrm>
              <a:prstGeom prst="rect">
                <a:avLst/>
              </a:prstGeom>
              <a:solidFill>
                <a:schemeClr val="bg1"/>
              </a:solidFill>
              <a:ln>
                <a:noFill/>
              </a:ln>
              <a:effectLst/>
              <a:extLst>
                <a:ext uri="{91240B29-F687-4F45-9708-019B960494DF}">
                  <a14:hiddenLine xmlns:a14="http://schemas.microsoft.com/office/drawing/2010/main" w="9525">
                    <a:solidFill>
                      <a:srgbClr val="0066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nvGrpSpPr>
              <p:cNvPr id="11310" name="Group 40"/>
              <p:cNvGrpSpPr/>
              <p:nvPr/>
            </p:nvGrpSpPr>
            <p:grpSpPr bwMode="auto">
              <a:xfrm>
                <a:off x="848" y="1632"/>
                <a:ext cx="192" cy="57"/>
                <a:chOff x="848" y="1632"/>
                <a:chExt cx="192" cy="57"/>
              </a:xfrm>
            </p:grpSpPr>
            <p:sp>
              <p:nvSpPr>
                <p:cNvPr id="11317" name="Line 41"/>
                <p:cNvSpPr>
                  <a:spLocks noChangeShapeType="1"/>
                </p:cNvSpPr>
                <p:nvPr/>
              </p:nvSpPr>
              <p:spPr bwMode="auto">
                <a:xfrm>
                  <a:off x="848" y="1632"/>
                  <a:ext cx="192" cy="1"/>
                </a:xfrm>
                <a:prstGeom prst="line">
                  <a:avLst/>
                </a:prstGeom>
                <a:noFill/>
                <a:ln w="28575">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8" name="Line 42"/>
                <p:cNvSpPr>
                  <a:spLocks noChangeShapeType="1"/>
                </p:cNvSpPr>
                <p:nvPr/>
              </p:nvSpPr>
              <p:spPr bwMode="auto">
                <a:xfrm>
                  <a:off x="896" y="1688"/>
                  <a:ext cx="96" cy="1"/>
                </a:xfrm>
                <a:prstGeom prst="line">
                  <a:avLst/>
                </a:prstGeom>
                <a:noFill/>
                <a:ln w="571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311" name="Group 43"/>
              <p:cNvGrpSpPr/>
              <p:nvPr/>
            </p:nvGrpSpPr>
            <p:grpSpPr bwMode="auto">
              <a:xfrm>
                <a:off x="848" y="1744"/>
                <a:ext cx="192" cy="57"/>
                <a:chOff x="848" y="1632"/>
                <a:chExt cx="192" cy="57"/>
              </a:xfrm>
            </p:grpSpPr>
            <p:sp>
              <p:nvSpPr>
                <p:cNvPr id="11315" name="Line 44"/>
                <p:cNvSpPr>
                  <a:spLocks noChangeShapeType="1"/>
                </p:cNvSpPr>
                <p:nvPr/>
              </p:nvSpPr>
              <p:spPr bwMode="auto">
                <a:xfrm>
                  <a:off x="848" y="1632"/>
                  <a:ext cx="192" cy="1"/>
                </a:xfrm>
                <a:prstGeom prst="line">
                  <a:avLst/>
                </a:prstGeom>
                <a:noFill/>
                <a:ln w="28575">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6" name="Line 45"/>
                <p:cNvSpPr>
                  <a:spLocks noChangeShapeType="1"/>
                </p:cNvSpPr>
                <p:nvPr/>
              </p:nvSpPr>
              <p:spPr bwMode="auto">
                <a:xfrm>
                  <a:off x="896" y="1688"/>
                  <a:ext cx="96" cy="1"/>
                </a:xfrm>
                <a:prstGeom prst="line">
                  <a:avLst/>
                </a:prstGeom>
                <a:noFill/>
                <a:ln w="571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312" name="Group 46"/>
              <p:cNvGrpSpPr/>
              <p:nvPr/>
            </p:nvGrpSpPr>
            <p:grpSpPr bwMode="auto">
              <a:xfrm>
                <a:off x="848" y="1860"/>
                <a:ext cx="192" cy="57"/>
                <a:chOff x="848" y="1632"/>
                <a:chExt cx="192" cy="57"/>
              </a:xfrm>
            </p:grpSpPr>
            <p:sp>
              <p:nvSpPr>
                <p:cNvPr id="11313" name="Line 47"/>
                <p:cNvSpPr>
                  <a:spLocks noChangeShapeType="1"/>
                </p:cNvSpPr>
                <p:nvPr/>
              </p:nvSpPr>
              <p:spPr bwMode="auto">
                <a:xfrm>
                  <a:off x="848" y="1632"/>
                  <a:ext cx="192" cy="1"/>
                </a:xfrm>
                <a:prstGeom prst="line">
                  <a:avLst/>
                </a:prstGeom>
                <a:noFill/>
                <a:ln w="28575">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4" name="Line 48"/>
                <p:cNvSpPr>
                  <a:spLocks noChangeShapeType="1"/>
                </p:cNvSpPr>
                <p:nvPr/>
              </p:nvSpPr>
              <p:spPr bwMode="auto">
                <a:xfrm>
                  <a:off x="896" y="1688"/>
                  <a:ext cx="96" cy="1"/>
                </a:xfrm>
                <a:prstGeom prst="line">
                  <a:avLst/>
                </a:prstGeom>
                <a:noFill/>
                <a:ln w="571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1302" name="Rectangle 49"/>
            <p:cNvSpPr>
              <a:spLocks noChangeArrowheads="1"/>
            </p:cNvSpPr>
            <p:nvPr/>
          </p:nvSpPr>
          <p:spPr bwMode="auto">
            <a:xfrm>
              <a:off x="2517" y="2141"/>
              <a:ext cx="108" cy="234"/>
            </a:xfrm>
            <a:prstGeom prst="rect">
              <a:avLst/>
            </a:prstGeom>
            <a:solidFill>
              <a:srgbClr val="FFFF99"/>
            </a:solidFill>
            <a:ln w="2857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1303" name="Freeform 50"/>
            <p:cNvSpPr/>
            <p:nvPr/>
          </p:nvSpPr>
          <p:spPr bwMode="auto">
            <a:xfrm rot="16200000" flipH="1">
              <a:off x="1694" y="1645"/>
              <a:ext cx="774" cy="988"/>
            </a:xfrm>
            <a:custGeom>
              <a:avLst/>
              <a:gdLst>
                <a:gd name="T0" fmla="*/ 774 w 768"/>
                <a:gd name="T1" fmla="*/ 0 h 624"/>
                <a:gd name="T2" fmla="*/ 0 w 768"/>
                <a:gd name="T3" fmla="*/ 0 h 624"/>
                <a:gd name="T4" fmla="*/ 0 w 768"/>
                <a:gd name="T5" fmla="*/ 988 h 624"/>
                <a:gd name="T6" fmla="*/ 0 60000 65536"/>
                <a:gd name="T7" fmla="*/ 0 60000 65536"/>
                <a:gd name="T8" fmla="*/ 0 60000 65536"/>
              </a:gdLst>
              <a:ahLst/>
              <a:cxnLst>
                <a:cxn ang="T6">
                  <a:pos x="T0" y="T1"/>
                </a:cxn>
                <a:cxn ang="T7">
                  <a:pos x="T2" y="T3"/>
                </a:cxn>
                <a:cxn ang="T8">
                  <a:pos x="T4" y="T5"/>
                </a:cxn>
              </a:cxnLst>
              <a:rect l="0" t="0" r="r" b="b"/>
              <a:pathLst>
                <a:path w="768" h="624">
                  <a:moveTo>
                    <a:pt x="768" y="0"/>
                  </a:moveTo>
                  <a:lnTo>
                    <a:pt x="0" y="0"/>
                  </a:lnTo>
                  <a:lnTo>
                    <a:pt x="0" y="624"/>
                  </a:lnTo>
                </a:path>
              </a:pathLst>
            </a:custGeom>
            <a:noFill/>
            <a:ln w="28575" cmpd="sng">
              <a:solidFill>
                <a:srgbClr val="00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1" name="Text Box 51"/>
            <p:cNvSpPr txBox="1">
              <a:spLocks noChangeArrowheads="1"/>
            </p:cNvSpPr>
            <p:nvPr/>
          </p:nvSpPr>
          <p:spPr bwMode="auto">
            <a:xfrm>
              <a:off x="566" y="2932"/>
              <a:ext cx="109"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1" hangingPunct="1">
                <a:defRPr/>
              </a:pPr>
              <a:r>
                <a:rPr kumimoji="1" lang="en-US" altLang="zh-CN" sz="2400" b="1" i="1">
                  <a:solidFill>
                    <a:srgbClr val="A40000"/>
                  </a:solidFill>
                  <a:effectLst>
                    <a:outerShdw blurRad="38100" dist="38100" dir="2700000" algn="tl">
                      <a:srgbClr val="C0C0C0"/>
                    </a:outerShdw>
                  </a:effectLst>
                  <a:latin typeface="Times New Roman" panose="02020603050405020304" pitchFamily="18" charset="0"/>
                  <a:sym typeface="Symbol" panose="05050102010706020507" pitchFamily="18" charset="2"/>
                </a:rPr>
                <a:t>+</a:t>
              </a:r>
              <a:endParaRPr kumimoji="1" lang="en-US" altLang="zh-CN" sz="2400" b="1" i="1">
                <a:solidFill>
                  <a:srgbClr val="A40000"/>
                </a:solidFill>
                <a:effectLst>
                  <a:outerShdw blurRad="38100" dist="38100" dir="2700000" algn="tl">
                    <a:srgbClr val="C0C0C0"/>
                  </a:outerShdw>
                </a:effectLst>
                <a:latin typeface="Times New Roman" panose="02020603050405020304" pitchFamily="18" charset="0"/>
              </a:endParaRPr>
            </a:p>
          </p:txBody>
        </p:sp>
        <p:sp>
          <p:nvSpPr>
            <p:cNvPr id="11305" name="Text Box 52"/>
            <p:cNvSpPr txBox="1">
              <a:spLocks noChangeArrowheads="1"/>
            </p:cNvSpPr>
            <p:nvPr/>
          </p:nvSpPr>
          <p:spPr bwMode="auto">
            <a:xfrm>
              <a:off x="2608" y="2466"/>
              <a:ext cx="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sym typeface="Symbol" panose="05050102010706020507" pitchFamily="18" charset="2"/>
                </a:rPr>
                <a:t>+</a:t>
              </a:r>
              <a:endParaRPr kumimoji="1" lang="en-US" altLang="zh-CN" sz="2000" b="1" i="1">
                <a:solidFill>
                  <a:srgbClr val="000048"/>
                </a:solidFill>
                <a:latin typeface="Times New Roman" panose="02020603050405020304" pitchFamily="18" charset="0"/>
              </a:endParaRPr>
            </a:p>
          </p:txBody>
        </p:sp>
        <p:sp>
          <p:nvSpPr>
            <p:cNvPr id="11306" name="Line 53"/>
            <p:cNvSpPr>
              <a:spLocks noChangeShapeType="1"/>
            </p:cNvSpPr>
            <p:nvPr/>
          </p:nvSpPr>
          <p:spPr bwMode="auto">
            <a:xfrm>
              <a:off x="1587" y="2796"/>
              <a:ext cx="0" cy="589"/>
            </a:xfrm>
            <a:prstGeom prst="line">
              <a:avLst/>
            </a:prstGeom>
            <a:noFill/>
            <a:ln w="28575">
              <a:solidFill>
                <a:srgbClr val="663300"/>
              </a:solidFill>
              <a:rou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7" name="Text Box 54"/>
            <p:cNvSpPr txBox="1">
              <a:spLocks noChangeArrowheads="1"/>
            </p:cNvSpPr>
            <p:nvPr/>
          </p:nvSpPr>
          <p:spPr bwMode="auto">
            <a:xfrm>
              <a:off x="816" y="2750"/>
              <a:ext cx="25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R</a:t>
              </a:r>
              <a:r>
                <a:rPr kumimoji="1" lang="en-US" altLang="zh-CN" sz="2000" b="1" baseline="-25000">
                  <a:solidFill>
                    <a:srgbClr val="000048"/>
                  </a:solidFill>
                  <a:latin typeface="Times New Roman" panose="02020603050405020304" pitchFamily="18" charset="0"/>
                </a:rPr>
                <a:t>B</a:t>
              </a:r>
              <a:endParaRPr kumimoji="1" lang="en-US" altLang="zh-CN" sz="2000" b="1">
                <a:solidFill>
                  <a:srgbClr val="000048"/>
                </a:solidFill>
                <a:latin typeface="Times New Roman" panose="02020603050405020304" pitchFamily="18" charset="0"/>
              </a:endParaRPr>
            </a:p>
          </p:txBody>
        </p:sp>
        <p:sp>
          <p:nvSpPr>
            <p:cNvPr id="11308" name="Rectangle 55"/>
            <p:cNvSpPr>
              <a:spLocks noChangeArrowheads="1"/>
            </p:cNvSpPr>
            <p:nvPr/>
          </p:nvSpPr>
          <p:spPr bwMode="auto">
            <a:xfrm>
              <a:off x="680" y="2730"/>
              <a:ext cx="108" cy="234"/>
            </a:xfrm>
            <a:prstGeom prst="rect">
              <a:avLst/>
            </a:prstGeom>
            <a:solidFill>
              <a:srgbClr val="FFFF99"/>
            </a:solidFill>
            <a:ln w="2857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sp>
        <p:nvSpPr>
          <p:cNvPr id="10296" name="AutoShape 56"/>
          <p:cNvSpPr>
            <a:spLocks noChangeArrowheads="1"/>
          </p:cNvSpPr>
          <p:nvPr/>
        </p:nvSpPr>
        <p:spPr bwMode="auto">
          <a:xfrm>
            <a:off x="673100" y="3779838"/>
            <a:ext cx="1042988" cy="544512"/>
          </a:xfrm>
          <a:prstGeom prst="wedgeRoundRectCallout">
            <a:avLst>
              <a:gd name="adj1" fmla="val -10579"/>
              <a:gd name="adj2" fmla="val 252333"/>
              <a:gd name="adj3" fmla="val 16667"/>
            </a:avLst>
          </a:prstGeom>
          <a:gradFill rotWithShape="1">
            <a:gsLst>
              <a:gs pos="0">
                <a:srgbClr val="CCFF99">
                  <a:alpha val="85999"/>
                </a:srgbClr>
              </a:gs>
              <a:gs pos="100000">
                <a:srgbClr val="FFFFFF">
                  <a:alpha val="0"/>
                </a:srgbClr>
              </a:gs>
            </a:gsLst>
            <a:lin ang="2700000" scaled="1"/>
          </a:gradFill>
          <a:ln w="952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nSpc>
                <a:spcPct val="90000"/>
              </a:lnSpc>
            </a:pPr>
            <a:r>
              <a:rPr kumimoji="1" lang="zh-CN" altLang="en-US" b="1">
                <a:solidFill>
                  <a:srgbClr val="000048"/>
                </a:solidFill>
                <a:latin typeface="Times New Roman" panose="02020603050405020304" pitchFamily="18" charset="0"/>
                <a:ea typeface="楷体_GB2312" pitchFamily="49" charset="-122"/>
              </a:rPr>
              <a:t>令</a:t>
            </a:r>
            <a:r>
              <a:rPr kumimoji="1" lang="en-US" altLang="zh-CN" b="1" i="1">
                <a:solidFill>
                  <a:srgbClr val="000048"/>
                </a:solidFill>
                <a:latin typeface="Times New Roman" panose="02020603050405020304" pitchFamily="18" charset="0"/>
                <a:ea typeface="楷体_GB2312" pitchFamily="49" charset="-122"/>
              </a:rPr>
              <a:t>U</a:t>
            </a:r>
            <a:r>
              <a:rPr kumimoji="1" lang="en-US" altLang="zh-CN" b="1" baseline="-25000">
                <a:solidFill>
                  <a:srgbClr val="000048"/>
                </a:solidFill>
                <a:latin typeface="Times New Roman" panose="02020603050405020304" pitchFamily="18" charset="0"/>
                <a:ea typeface="楷体_GB2312" pitchFamily="49" charset="-122"/>
              </a:rPr>
              <a:t>BB</a:t>
            </a:r>
            <a:r>
              <a:rPr kumimoji="1" lang="zh-CN" altLang="en-US" b="1">
                <a:solidFill>
                  <a:srgbClr val="000048"/>
                </a:solidFill>
                <a:latin typeface="Times New Roman" panose="02020603050405020304" pitchFamily="18" charset="0"/>
                <a:ea typeface="楷体_GB2312" pitchFamily="49" charset="-122"/>
              </a:rPr>
              <a:t>从</a:t>
            </a:r>
            <a:r>
              <a:rPr kumimoji="1" lang="en-US" altLang="zh-CN" b="1">
                <a:solidFill>
                  <a:srgbClr val="000048"/>
                </a:solidFill>
                <a:latin typeface="Times New Roman" panose="02020603050405020304" pitchFamily="18" charset="0"/>
                <a:ea typeface="楷体_GB2312" pitchFamily="49" charset="-122"/>
              </a:rPr>
              <a:t>0</a:t>
            </a:r>
            <a:r>
              <a:rPr kumimoji="1" lang="zh-CN" altLang="en-US" b="1">
                <a:solidFill>
                  <a:srgbClr val="000048"/>
                </a:solidFill>
                <a:latin typeface="Times New Roman" panose="02020603050405020304" pitchFamily="18" charset="0"/>
                <a:ea typeface="楷体_GB2312" pitchFamily="49" charset="-122"/>
              </a:rPr>
              <a:t>开始增加</a:t>
            </a:r>
            <a:endParaRPr kumimoji="1" lang="zh-CN" altLang="en-US" b="1" baseline="-25000">
              <a:solidFill>
                <a:srgbClr val="000048"/>
              </a:solidFill>
              <a:latin typeface="Times New Roman" panose="02020603050405020304" pitchFamily="18" charset="0"/>
              <a:ea typeface="楷体_GB2312" pitchFamily="49" charset="-122"/>
            </a:endParaRPr>
          </a:p>
        </p:txBody>
      </p:sp>
      <p:sp>
        <p:nvSpPr>
          <p:cNvPr id="10297" name="Line 57"/>
          <p:cNvSpPr>
            <a:spLocks noChangeShapeType="1"/>
          </p:cNvSpPr>
          <p:nvPr/>
        </p:nvSpPr>
        <p:spPr bwMode="auto">
          <a:xfrm flipV="1">
            <a:off x="1008063" y="5546725"/>
            <a:ext cx="360362" cy="431800"/>
          </a:xfrm>
          <a:prstGeom prst="line">
            <a:avLst/>
          </a:prstGeom>
          <a:noFill/>
          <a:ln w="349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298" name="Group 58"/>
          <p:cNvGrpSpPr/>
          <p:nvPr/>
        </p:nvGrpSpPr>
        <p:grpSpPr bwMode="auto">
          <a:xfrm>
            <a:off x="1547813" y="4430713"/>
            <a:ext cx="468312" cy="396875"/>
            <a:chOff x="952" y="2364"/>
            <a:chExt cx="295" cy="250"/>
          </a:xfrm>
        </p:grpSpPr>
        <p:sp>
          <p:nvSpPr>
            <p:cNvPr id="11290" name="Line 59"/>
            <p:cNvSpPr>
              <a:spLocks noChangeShapeType="1"/>
            </p:cNvSpPr>
            <p:nvPr/>
          </p:nvSpPr>
          <p:spPr bwMode="auto">
            <a:xfrm>
              <a:off x="952" y="2614"/>
              <a:ext cx="295" cy="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91" name="Text Box 60"/>
            <p:cNvSpPr txBox="1">
              <a:spLocks noChangeArrowheads="1"/>
            </p:cNvSpPr>
            <p:nvPr/>
          </p:nvSpPr>
          <p:spPr bwMode="auto">
            <a:xfrm>
              <a:off x="975" y="2364"/>
              <a:ext cx="272" cy="182"/>
            </a:xfrm>
            <a:prstGeom prst="rect">
              <a:avLst/>
            </a:prstGeom>
            <a:noFill/>
            <a:ln>
              <a:noFill/>
            </a:ln>
            <a:effectLst/>
            <a:extLst>
              <a:ext uri="{909E8E84-426E-40DD-AFC4-6F175D3DCCD1}">
                <a14:hiddenFill xmlns:a14="http://schemas.microsoft.com/office/drawing/2010/main">
                  <a:gradFill rotWithShape="1">
                    <a:gsLst>
                      <a:gs pos="0">
                        <a:srgbClr val="FF9933">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n-US" altLang="zh-CN" sz="2000" b="1" i="1">
                  <a:solidFill>
                    <a:srgbClr val="003300"/>
                  </a:solidFill>
                  <a:latin typeface="Times New Roman" panose="02020603050405020304" pitchFamily="18" charset="0"/>
                </a:rPr>
                <a:t>I</a:t>
              </a:r>
              <a:r>
                <a:rPr kumimoji="1" lang="en-US" altLang="zh-CN" sz="2000" b="1" baseline="-25000">
                  <a:solidFill>
                    <a:srgbClr val="003300"/>
                  </a:solidFill>
                  <a:latin typeface="Times New Roman" panose="02020603050405020304" pitchFamily="18" charset="0"/>
                </a:rPr>
                <a:t>B</a:t>
              </a:r>
              <a:endParaRPr kumimoji="1" lang="en-US" altLang="zh-CN" sz="2000" b="1" i="1">
                <a:solidFill>
                  <a:srgbClr val="003300"/>
                </a:solidFill>
                <a:latin typeface="Times New Roman" panose="02020603050405020304" pitchFamily="18" charset="0"/>
              </a:endParaRPr>
            </a:p>
          </p:txBody>
        </p:sp>
      </p:grpSp>
      <p:grpSp>
        <p:nvGrpSpPr>
          <p:cNvPr id="10301" name="Group 61"/>
          <p:cNvGrpSpPr/>
          <p:nvPr/>
        </p:nvGrpSpPr>
        <p:grpSpPr bwMode="auto">
          <a:xfrm>
            <a:off x="2559050" y="5294313"/>
            <a:ext cx="668338" cy="468312"/>
            <a:chOff x="1612" y="3335"/>
            <a:chExt cx="421" cy="295"/>
          </a:xfrm>
        </p:grpSpPr>
        <p:sp>
          <p:nvSpPr>
            <p:cNvPr id="11288" name="Line 62"/>
            <p:cNvSpPr>
              <a:spLocks noChangeShapeType="1"/>
            </p:cNvSpPr>
            <p:nvPr/>
          </p:nvSpPr>
          <p:spPr bwMode="auto">
            <a:xfrm rot="5400000">
              <a:off x="1464" y="3483"/>
              <a:ext cx="295" cy="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9" name="Text Box 63"/>
            <p:cNvSpPr txBox="1">
              <a:spLocks noChangeArrowheads="1"/>
            </p:cNvSpPr>
            <p:nvPr/>
          </p:nvSpPr>
          <p:spPr bwMode="auto">
            <a:xfrm>
              <a:off x="1629" y="3368"/>
              <a:ext cx="404" cy="182"/>
            </a:xfrm>
            <a:prstGeom prst="rect">
              <a:avLst/>
            </a:prstGeom>
            <a:noFill/>
            <a:ln>
              <a:noFill/>
            </a:ln>
            <a:effectLst/>
            <a:extLst>
              <a:ext uri="{909E8E84-426E-40DD-AFC4-6F175D3DCCD1}">
                <a14:hiddenFill xmlns:a14="http://schemas.microsoft.com/office/drawing/2010/main">
                  <a:gradFill rotWithShape="1">
                    <a:gsLst>
                      <a:gs pos="0">
                        <a:srgbClr val="FF9933">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n-US" altLang="zh-CN" sz="2000" b="1" i="1">
                  <a:solidFill>
                    <a:srgbClr val="003300"/>
                  </a:solidFill>
                  <a:latin typeface="Times New Roman" panose="02020603050405020304" pitchFamily="18" charset="0"/>
                </a:rPr>
                <a:t>I</a:t>
              </a:r>
              <a:r>
                <a:rPr kumimoji="1" lang="en-US" altLang="zh-CN" sz="2000" b="1" baseline="-25000">
                  <a:solidFill>
                    <a:srgbClr val="003300"/>
                  </a:solidFill>
                  <a:latin typeface="Times New Roman" panose="02020603050405020304" pitchFamily="18" charset="0"/>
                </a:rPr>
                <a:t>E</a:t>
              </a:r>
              <a:r>
                <a:rPr kumimoji="1" lang="en-US" altLang="zh-CN" sz="2000" b="1">
                  <a:solidFill>
                    <a:srgbClr val="003300"/>
                  </a:solidFill>
                  <a:latin typeface="Times New Roman" panose="02020603050405020304" pitchFamily="18" charset="0"/>
                </a:rPr>
                <a:t>=</a:t>
              </a:r>
              <a:r>
                <a:rPr kumimoji="1" lang="en-US" altLang="zh-CN" sz="2000" b="1" i="1">
                  <a:solidFill>
                    <a:srgbClr val="003300"/>
                  </a:solidFill>
                  <a:latin typeface="Times New Roman" panose="02020603050405020304" pitchFamily="18" charset="0"/>
                </a:rPr>
                <a:t>I</a:t>
              </a:r>
              <a:r>
                <a:rPr kumimoji="1" lang="en-US" altLang="zh-CN" sz="2000" b="1" baseline="-25000">
                  <a:solidFill>
                    <a:srgbClr val="003300"/>
                  </a:solidFill>
                  <a:latin typeface="Times New Roman" panose="02020603050405020304" pitchFamily="18" charset="0"/>
                </a:rPr>
                <a:t>B</a:t>
              </a:r>
              <a:endParaRPr kumimoji="1" lang="en-US" altLang="zh-CN" sz="2000" b="1" i="1" baseline="-25000">
                <a:solidFill>
                  <a:srgbClr val="003300"/>
                </a:solidFill>
                <a:latin typeface="Times New Roman" panose="02020603050405020304" pitchFamily="18" charset="0"/>
              </a:endParaRPr>
            </a:p>
          </p:txBody>
        </p:sp>
      </p:grpSp>
      <p:grpSp>
        <p:nvGrpSpPr>
          <p:cNvPr id="10304" name="Group 64"/>
          <p:cNvGrpSpPr/>
          <p:nvPr/>
        </p:nvGrpSpPr>
        <p:grpSpPr bwMode="auto">
          <a:xfrm>
            <a:off x="1900238" y="5035550"/>
            <a:ext cx="512762" cy="369888"/>
            <a:chOff x="1197" y="3172"/>
            <a:chExt cx="323" cy="233"/>
          </a:xfrm>
        </p:grpSpPr>
        <p:sp>
          <p:nvSpPr>
            <p:cNvPr id="11286" name="Line 65"/>
            <p:cNvSpPr>
              <a:spLocks noChangeShapeType="1"/>
            </p:cNvSpPr>
            <p:nvPr/>
          </p:nvSpPr>
          <p:spPr bwMode="auto">
            <a:xfrm rot="16200000" flipH="1">
              <a:off x="1330" y="3163"/>
              <a:ext cx="182" cy="199"/>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7" name="Text Box 66"/>
            <p:cNvSpPr txBox="1">
              <a:spLocks noChangeArrowheads="1"/>
            </p:cNvSpPr>
            <p:nvPr/>
          </p:nvSpPr>
          <p:spPr bwMode="auto">
            <a:xfrm>
              <a:off x="1197" y="3223"/>
              <a:ext cx="314" cy="182"/>
            </a:xfrm>
            <a:prstGeom prst="rect">
              <a:avLst/>
            </a:prstGeom>
            <a:noFill/>
            <a:ln>
              <a:noFill/>
            </a:ln>
            <a:effectLst/>
            <a:extLst>
              <a:ext uri="{909E8E84-426E-40DD-AFC4-6F175D3DCCD1}">
                <a14:hiddenFill xmlns:a14="http://schemas.microsoft.com/office/drawing/2010/main">
                  <a:gradFill rotWithShape="1">
                    <a:gsLst>
                      <a:gs pos="0">
                        <a:srgbClr val="FF9933">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n-US" altLang="zh-CN" sz="2000" b="1" i="1">
                  <a:solidFill>
                    <a:srgbClr val="003300"/>
                  </a:solidFill>
                  <a:latin typeface="Times New Roman" panose="02020603050405020304" pitchFamily="18" charset="0"/>
                </a:rPr>
                <a:t>U</a:t>
              </a:r>
              <a:r>
                <a:rPr kumimoji="1" lang="en-US" altLang="zh-CN" sz="2000" b="1" baseline="-25000">
                  <a:solidFill>
                    <a:srgbClr val="003300"/>
                  </a:solidFill>
                  <a:latin typeface="Times New Roman" panose="02020603050405020304" pitchFamily="18" charset="0"/>
                </a:rPr>
                <a:t>BE</a:t>
              </a:r>
              <a:endParaRPr kumimoji="1" lang="en-US" altLang="zh-CN" sz="2000" b="1" i="1">
                <a:solidFill>
                  <a:srgbClr val="003300"/>
                </a:solidFill>
                <a:latin typeface="Times New Roman" panose="02020603050405020304" pitchFamily="18" charset="0"/>
              </a:endParaRPr>
            </a:p>
          </p:txBody>
        </p:sp>
      </p:grpSp>
      <p:sp>
        <p:nvSpPr>
          <p:cNvPr id="10307" name="Rectangle 67"/>
          <p:cNvSpPr>
            <a:spLocks noChangeArrowheads="1"/>
          </p:cNvSpPr>
          <p:nvPr/>
        </p:nvSpPr>
        <p:spPr bwMode="auto">
          <a:xfrm>
            <a:off x="3757613" y="4610100"/>
            <a:ext cx="1152525" cy="936625"/>
          </a:xfrm>
          <a:prstGeom prst="rect">
            <a:avLst/>
          </a:prstGeom>
          <a:solidFill>
            <a:srgbClr val="FFEE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0308" name="AutoShape 68"/>
          <p:cNvSpPr>
            <a:spLocks noChangeArrowheads="1"/>
          </p:cNvSpPr>
          <p:nvPr/>
        </p:nvSpPr>
        <p:spPr bwMode="auto">
          <a:xfrm>
            <a:off x="4356100" y="4502150"/>
            <a:ext cx="720725" cy="544513"/>
          </a:xfrm>
          <a:prstGeom prst="wedgeRoundRectCallout">
            <a:avLst>
              <a:gd name="adj1" fmla="val -75773"/>
              <a:gd name="adj2" fmla="val 96065"/>
              <a:gd name="adj3" fmla="val 16667"/>
            </a:avLst>
          </a:prstGeom>
          <a:gradFill rotWithShape="1">
            <a:gsLst>
              <a:gs pos="0">
                <a:srgbClr val="CCFF99">
                  <a:alpha val="85999"/>
                </a:srgbClr>
              </a:gs>
              <a:gs pos="100000">
                <a:srgbClr val="FFFFFF">
                  <a:alpha val="0"/>
                </a:srgbClr>
              </a:gs>
            </a:gsLst>
            <a:lin ang="2700000" scaled="1"/>
          </a:gradFill>
          <a:ln w="952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nSpc>
                <a:spcPct val="90000"/>
              </a:lnSpc>
            </a:pPr>
            <a:r>
              <a:rPr kumimoji="1" lang="zh-CN" altLang="en-US" b="1">
                <a:solidFill>
                  <a:srgbClr val="000048"/>
                </a:solidFill>
                <a:latin typeface="Times New Roman" panose="02020603050405020304" pitchFamily="18" charset="0"/>
                <a:ea typeface="楷体_GB2312" pitchFamily="49" charset="-122"/>
              </a:rPr>
              <a:t>令</a:t>
            </a:r>
            <a:r>
              <a:rPr kumimoji="1" lang="en-US" altLang="zh-CN" b="1" i="1">
                <a:solidFill>
                  <a:srgbClr val="000048"/>
                </a:solidFill>
                <a:latin typeface="Times New Roman" panose="02020603050405020304" pitchFamily="18" charset="0"/>
                <a:ea typeface="楷体_GB2312" pitchFamily="49" charset="-122"/>
              </a:rPr>
              <a:t>U</a:t>
            </a:r>
            <a:r>
              <a:rPr kumimoji="1" lang="en-US" altLang="zh-CN" b="1" baseline="-25000">
                <a:solidFill>
                  <a:srgbClr val="000048"/>
                </a:solidFill>
                <a:latin typeface="Times New Roman" panose="02020603050405020304" pitchFamily="18" charset="0"/>
                <a:ea typeface="楷体_GB2312" pitchFamily="49" charset="-122"/>
              </a:rPr>
              <a:t>CC</a:t>
            </a:r>
            <a:r>
              <a:rPr kumimoji="1" lang="zh-CN" altLang="en-US" b="1">
                <a:solidFill>
                  <a:srgbClr val="000048"/>
                </a:solidFill>
                <a:latin typeface="Times New Roman" panose="02020603050405020304" pitchFamily="18" charset="0"/>
                <a:ea typeface="楷体_GB2312" pitchFamily="49" charset="-122"/>
              </a:rPr>
              <a:t>为</a:t>
            </a:r>
            <a:r>
              <a:rPr kumimoji="1" lang="en-US" altLang="zh-CN" b="1">
                <a:solidFill>
                  <a:srgbClr val="000048"/>
                </a:solidFill>
                <a:latin typeface="Times New Roman" panose="02020603050405020304" pitchFamily="18" charset="0"/>
                <a:ea typeface="楷体_GB2312" pitchFamily="49" charset="-122"/>
              </a:rPr>
              <a:t>0</a:t>
            </a:r>
            <a:endParaRPr kumimoji="1" lang="en-US" altLang="zh-CN" b="1" baseline="-25000">
              <a:solidFill>
                <a:srgbClr val="000048"/>
              </a:solidFill>
              <a:latin typeface="Times New Roman" panose="02020603050405020304" pitchFamily="18" charset="0"/>
              <a:ea typeface="楷体_GB2312" pitchFamily="49" charset="-122"/>
            </a:endParaRPr>
          </a:p>
        </p:txBody>
      </p:sp>
      <p:sp>
        <p:nvSpPr>
          <p:cNvPr id="10309" name="Line 69"/>
          <p:cNvSpPr>
            <a:spLocks noChangeShapeType="1"/>
          </p:cNvSpPr>
          <p:nvPr/>
        </p:nvSpPr>
        <p:spPr bwMode="auto">
          <a:xfrm>
            <a:off x="4102100" y="4575175"/>
            <a:ext cx="0" cy="971550"/>
          </a:xfrm>
          <a:prstGeom prst="line">
            <a:avLst/>
          </a:prstGeom>
          <a:noFill/>
          <a:ln w="571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10" name="AutoShape 70"/>
          <p:cNvSpPr>
            <a:spLocks noChangeArrowheads="1"/>
          </p:cNvSpPr>
          <p:nvPr/>
        </p:nvSpPr>
        <p:spPr bwMode="auto">
          <a:xfrm>
            <a:off x="6696075" y="2343150"/>
            <a:ext cx="1439863" cy="544513"/>
          </a:xfrm>
          <a:prstGeom prst="wedgeRoundRectCallout">
            <a:avLst>
              <a:gd name="adj1" fmla="val -45699"/>
              <a:gd name="adj2" fmla="val 172741"/>
              <a:gd name="adj3" fmla="val 16667"/>
            </a:avLst>
          </a:prstGeom>
          <a:gradFill rotWithShape="1">
            <a:gsLst>
              <a:gs pos="0">
                <a:srgbClr val="CCFF99">
                  <a:alpha val="85999"/>
                </a:srgbClr>
              </a:gs>
              <a:gs pos="100000">
                <a:srgbClr val="FFFFFF">
                  <a:alpha val="0"/>
                </a:srgbClr>
              </a:gs>
            </a:gsLst>
            <a:lin ang="2700000" scaled="1"/>
          </a:gradFill>
          <a:ln w="952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nSpc>
                <a:spcPct val="90000"/>
              </a:lnSpc>
            </a:pPr>
            <a:r>
              <a:rPr kumimoji="1" lang="en-US" altLang="zh-CN" b="1" i="1">
                <a:solidFill>
                  <a:srgbClr val="000048"/>
                </a:solidFill>
                <a:latin typeface="Times New Roman" panose="02020603050405020304" pitchFamily="18" charset="0"/>
                <a:ea typeface="楷体_GB2312" pitchFamily="49" charset="-122"/>
              </a:rPr>
              <a:t>U</a:t>
            </a:r>
            <a:r>
              <a:rPr kumimoji="1" lang="en-US" altLang="zh-CN" b="1" baseline="-25000">
                <a:solidFill>
                  <a:srgbClr val="000048"/>
                </a:solidFill>
                <a:latin typeface="Times New Roman" panose="02020603050405020304" pitchFamily="18" charset="0"/>
                <a:ea typeface="楷体_GB2312" pitchFamily="49" charset="-122"/>
              </a:rPr>
              <a:t>CE</a:t>
            </a:r>
            <a:r>
              <a:rPr kumimoji="1" lang="en-US" altLang="zh-CN" b="1">
                <a:solidFill>
                  <a:srgbClr val="000048"/>
                </a:solidFill>
                <a:latin typeface="Times New Roman" panose="02020603050405020304" pitchFamily="18" charset="0"/>
                <a:ea typeface="楷体_GB2312" pitchFamily="49" charset="-122"/>
              </a:rPr>
              <a:t>=0</a:t>
            </a:r>
            <a:r>
              <a:rPr kumimoji="1" lang="zh-CN" altLang="en-US" b="1">
                <a:solidFill>
                  <a:srgbClr val="000048"/>
                </a:solidFill>
                <a:latin typeface="Times New Roman" panose="02020603050405020304" pitchFamily="18" charset="0"/>
                <a:ea typeface="楷体_GB2312" pitchFamily="49" charset="-122"/>
              </a:rPr>
              <a:t>时的输入特性曲线</a:t>
            </a:r>
            <a:endParaRPr kumimoji="1" lang="zh-CN" altLang="en-US" b="1" baseline="-25000">
              <a:solidFill>
                <a:srgbClr val="000048"/>
              </a:solidFill>
              <a:latin typeface="Times New Roman" panose="02020603050405020304" pitchFamily="18" charset="0"/>
              <a:ea typeface="楷体_GB2312" pitchFamily="49" charset="-122"/>
            </a:endParaRPr>
          </a:p>
        </p:txBody>
      </p:sp>
      <p:sp>
        <p:nvSpPr>
          <p:cNvPr id="10311" name="AutoShape 71"/>
          <p:cNvSpPr>
            <a:spLocks noChangeArrowheads="1"/>
          </p:cNvSpPr>
          <p:nvPr/>
        </p:nvSpPr>
        <p:spPr bwMode="auto">
          <a:xfrm>
            <a:off x="4249738" y="3303588"/>
            <a:ext cx="720725" cy="544512"/>
          </a:xfrm>
          <a:prstGeom prst="wedgeRoundRectCallout">
            <a:avLst>
              <a:gd name="adj1" fmla="val -159032"/>
              <a:gd name="adj2" fmla="val 134838"/>
              <a:gd name="adj3" fmla="val 16667"/>
            </a:avLst>
          </a:prstGeom>
          <a:gradFill rotWithShape="1">
            <a:gsLst>
              <a:gs pos="0">
                <a:srgbClr val="CCFF99">
                  <a:alpha val="85999"/>
                </a:srgbClr>
              </a:gs>
              <a:gs pos="100000">
                <a:srgbClr val="FFFFFF">
                  <a:alpha val="0"/>
                </a:srgbClr>
              </a:gs>
            </a:gsLst>
            <a:lin ang="2700000" scaled="1"/>
          </a:gradFill>
          <a:ln w="952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nSpc>
                <a:spcPct val="90000"/>
              </a:lnSpc>
            </a:pPr>
            <a:r>
              <a:rPr kumimoji="1" lang="en-US" altLang="zh-CN" b="1" i="1">
                <a:solidFill>
                  <a:srgbClr val="000048"/>
                </a:solidFill>
                <a:latin typeface="Times New Roman" panose="02020603050405020304" pitchFamily="18" charset="0"/>
                <a:ea typeface="楷体_GB2312" pitchFamily="49" charset="-122"/>
              </a:rPr>
              <a:t>U</a:t>
            </a:r>
            <a:r>
              <a:rPr kumimoji="1" lang="en-US" altLang="zh-CN" b="1" baseline="-25000">
                <a:solidFill>
                  <a:srgbClr val="000048"/>
                </a:solidFill>
                <a:latin typeface="Times New Roman" panose="02020603050405020304" pitchFamily="18" charset="0"/>
                <a:ea typeface="楷体_GB2312" pitchFamily="49" charset="-122"/>
              </a:rPr>
              <a:t>CE</a:t>
            </a:r>
            <a:r>
              <a:rPr kumimoji="1" lang="zh-CN" altLang="en-US" b="1">
                <a:solidFill>
                  <a:srgbClr val="000048"/>
                </a:solidFill>
                <a:latin typeface="Times New Roman" panose="02020603050405020304" pitchFamily="18" charset="0"/>
                <a:ea typeface="楷体_GB2312" pitchFamily="49" charset="-122"/>
              </a:rPr>
              <a:t>为</a:t>
            </a:r>
            <a:r>
              <a:rPr kumimoji="1" lang="en-US" altLang="zh-CN" b="1">
                <a:solidFill>
                  <a:srgbClr val="000048"/>
                </a:solidFill>
                <a:latin typeface="Times New Roman" panose="02020603050405020304" pitchFamily="18" charset="0"/>
                <a:ea typeface="楷体_GB2312" pitchFamily="49" charset="-122"/>
              </a:rPr>
              <a:t>0</a:t>
            </a:r>
            <a:r>
              <a:rPr kumimoji="1" lang="zh-CN" altLang="en-US" b="1">
                <a:solidFill>
                  <a:srgbClr val="000048"/>
                </a:solidFill>
                <a:latin typeface="Times New Roman" panose="02020603050405020304" pitchFamily="18" charset="0"/>
                <a:ea typeface="楷体_GB2312" pitchFamily="49" charset="-122"/>
              </a:rPr>
              <a:t>时</a:t>
            </a:r>
            <a:endParaRPr kumimoji="1" lang="zh-CN" altLang="en-US" b="1" baseline="-25000">
              <a:solidFill>
                <a:srgbClr val="000048"/>
              </a:solidFill>
              <a:latin typeface="Times New Roman" panose="02020603050405020304" pitchFamily="18" charset="0"/>
              <a:ea typeface="楷体_GB2312" pitchFamily="49" charset="-122"/>
            </a:endParaRPr>
          </a:p>
        </p:txBody>
      </p:sp>
      <p:sp>
        <p:nvSpPr>
          <p:cNvPr id="10312" name="Oval 72"/>
          <p:cNvSpPr>
            <a:spLocks noChangeArrowheads="1"/>
          </p:cNvSpPr>
          <p:nvPr/>
        </p:nvSpPr>
        <p:spPr bwMode="auto">
          <a:xfrm>
            <a:off x="1827213" y="4781550"/>
            <a:ext cx="88900" cy="119063"/>
          </a:xfrm>
          <a:prstGeom prst="ellipse">
            <a:avLst/>
          </a:prstGeom>
          <a:solidFill>
            <a:srgbClr val="FF3300"/>
          </a:solidFill>
          <a:ln w="9525" algn="ctr">
            <a:solidFill>
              <a:srgbClr val="FF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ctr" eaLnBrk="1" hangingPunct="1"/>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0" presetClass="entr" presetSubtype="0" fill="hold" grpId="0" nodeType="afterEffect">
                                  <p:stCondLst>
                                    <p:cond delay="0"/>
                                  </p:stCondLst>
                                  <p:iterate type="lt">
                                    <p:tmPct val="10000"/>
                                  </p:iterate>
                                  <p:childTnLst>
                                    <p:set>
                                      <p:cBhvr>
                                        <p:cTn id="6" dur="1" fill="hold">
                                          <p:stCondLst>
                                            <p:cond delay="0"/>
                                          </p:stCondLst>
                                        </p:cTn>
                                        <p:tgtEl>
                                          <p:spTgt spid="10242"/>
                                        </p:tgtEl>
                                        <p:attrNameLst>
                                          <p:attrName>style.visibility</p:attrName>
                                        </p:attrNameLst>
                                      </p:cBhvr>
                                      <p:to>
                                        <p:strVal val="visible"/>
                                      </p:to>
                                    </p:set>
                                    <p:animEffect transition="in" filter="fade">
                                      <p:cBhvr>
                                        <p:cTn id="7" dur="500"/>
                                        <p:tgtEl>
                                          <p:spTgt spid="10242"/>
                                        </p:tgtEl>
                                      </p:cBhvr>
                                    </p:animEffect>
                                    <p:anim calcmode="lin" valueType="num">
                                      <p:cBhvr>
                                        <p:cTn id="8" dur="500" fill="hold"/>
                                        <p:tgtEl>
                                          <p:spTgt spid="10242"/>
                                        </p:tgtEl>
                                        <p:attrNameLst>
                                          <p:attrName>ppt_x</p:attrName>
                                        </p:attrNameLst>
                                      </p:cBhvr>
                                      <p:tavLst>
                                        <p:tav tm="0">
                                          <p:val>
                                            <p:strVal val="#ppt_x-.1"/>
                                          </p:val>
                                        </p:tav>
                                        <p:tav tm="100000">
                                          <p:val>
                                            <p:strVal val="#ppt_x"/>
                                          </p:val>
                                        </p:tav>
                                      </p:tavLst>
                                    </p:anim>
                                    <p:anim calcmode="lin" valueType="num">
                                      <p:cBhvr>
                                        <p:cTn id="9" dur="500" fill="hold"/>
                                        <p:tgtEl>
                                          <p:spTgt spid="10242"/>
                                        </p:tgtEl>
                                        <p:attrNameLst>
                                          <p:attrName>ppt_y</p:attrName>
                                        </p:attrNameLst>
                                      </p:cBhvr>
                                      <p:tavLst>
                                        <p:tav tm="0">
                                          <p:val>
                                            <p:strVal val="#ppt_y"/>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10243">
                                            <p:txEl>
                                              <p:pRg st="0" end="0"/>
                                            </p:txEl>
                                          </p:spTgt>
                                        </p:tgtEl>
                                        <p:attrNameLst>
                                          <p:attrName>style.visibility</p:attrName>
                                        </p:attrNameLst>
                                      </p:cBhvr>
                                      <p:to>
                                        <p:strVal val="visible"/>
                                      </p:to>
                                    </p:set>
                                    <p:animEffect transition="in" filter="wipe(left)">
                                      <p:cBhvr>
                                        <p:cTn id="14" dur="1000"/>
                                        <p:tgtEl>
                                          <p:spTgt spid="1024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10244"/>
                                        </p:tgtEl>
                                        <p:attrNameLst>
                                          <p:attrName>style.visibility</p:attrName>
                                        </p:attrNameLst>
                                      </p:cBhvr>
                                      <p:to>
                                        <p:strVal val="visible"/>
                                      </p:to>
                                    </p:set>
                                    <p:animEffect transition="in" filter="box(in)">
                                      <p:cBhvr>
                                        <p:cTn id="19" dur="1000"/>
                                        <p:tgtEl>
                                          <p:spTgt spid="1024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0245"/>
                                        </p:tgtEl>
                                        <p:attrNameLst>
                                          <p:attrName>style.visibility</p:attrName>
                                        </p:attrNameLst>
                                      </p:cBhvr>
                                      <p:to>
                                        <p:strVal val="visible"/>
                                      </p:to>
                                    </p:set>
                                    <p:animEffect transition="in" filter="wipe(left)">
                                      <p:cBhvr>
                                        <p:cTn id="24" dur="1000"/>
                                        <p:tgtEl>
                                          <p:spTgt spid="10245"/>
                                        </p:tgtEl>
                                      </p:cBhvr>
                                    </p:animEffect>
                                  </p:childTnLst>
                                </p:cTn>
                              </p:par>
                            </p:childTnLst>
                          </p:cTn>
                        </p:par>
                      </p:childTnLst>
                    </p:cTn>
                  </p:par>
                  <p:par>
                    <p:cTn id="25" fill="hold">
                      <p:stCondLst>
                        <p:cond delay="indefinite"/>
                      </p:stCondLst>
                      <p:childTnLst>
                        <p:par>
                          <p:cTn id="26" fill="hold">
                            <p:stCondLst>
                              <p:cond delay="0"/>
                            </p:stCondLst>
                            <p:childTnLst>
                              <p:par>
                                <p:cTn id="27" presetID="20" presetClass="entr" presetSubtype="0" fill="hold" nodeType="clickEffect">
                                  <p:stCondLst>
                                    <p:cond delay="0"/>
                                  </p:stCondLst>
                                  <p:childTnLst>
                                    <p:set>
                                      <p:cBhvr>
                                        <p:cTn id="28" dur="1" fill="hold">
                                          <p:stCondLst>
                                            <p:cond delay="0"/>
                                          </p:stCondLst>
                                        </p:cTn>
                                        <p:tgtEl>
                                          <p:spTgt spid="10260"/>
                                        </p:tgtEl>
                                        <p:attrNameLst>
                                          <p:attrName>style.visibility</p:attrName>
                                        </p:attrNameLst>
                                      </p:cBhvr>
                                      <p:to>
                                        <p:strVal val="visible"/>
                                      </p:to>
                                    </p:set>
                                    <p:animEffect transition="in" filter="wedge">
                                      <p:cBhvr>
                                        <p:cTn id="29" dur="1000"/>
                                        <p:tgtEl>
                                          <p:spTgt spid="10260"/>
                                        </p:tgtEl>
                                      </p:cBhvr>
                                    </p:animEffect>
                                  </p:childTnLst>
                                </p:cTn>
                              </p:par>
                            </p:childTnLst>
                          </p:cTn>
                        </p:par>
                      </p:childTnLst>
                    </p:cTn>
                  </p:par>
                  <p:par>
                    <p:cTn id="30" fill="hold">
                      <p:stCondLst>
                        <p:cond delay="indefinite"/>
                      </p:stCondLst>
                      <p:childTnLst>
                        <p:par>
                          <p:cTn id="31" fill="hold">
                            <p:stCondLst>
                              <p:cond delay="0"/>
                            </p:stCondLst>
                            <p:childTnLst>
                              <p:par>
                                <p:cTn id="32" presetID="24" presetClass="entr" presetSubtype="0" fill="hold" grpId="0" nodeType="clickEffect">
                                  <p:stCondLst>
                                    <p:cond delay="0"/>
                                  </p:stCondLst>
                                  <p:childTnLst>
                                    <p:set>
                                      <p:cBhvr>
                                        <p:cTn id="33" dur="1" fill="hold">
                                          <p:stCondLst>
                                            <p:cond delay="0"/>
                                          </p:stCondLst>
                                        </p:cTn>
                                        <p:tgtEl>
                                          <p:spTgt spid="10308"/>
                                        </p:tgtEl>
                                        <p:attrNameLst>
                                          <p:attrName>style.visibility</p:attrName>
                                        </p:attrNameLst>
                                      </p:cBhvr>
                                      <p:to>
                                        <p:strVal val="visible"/>
                                      </p:to>
                                    </p:set>
                                    <p:anim to="" calcmode="lin" valueType="num">
                                      <p:cBhvr>
                                        <p:cTn id="34" dur="1" fill="hold"/>
                                        <p:tgtEl>
                                          <p:spTgt spid="10308"/>
                                        </p:tgtEl>
                                      </p:cBhvr>
                                    </p:anim>
                                  </p:childTnLst>
                                </p:cTn>
                              </p:par>
                            </p:childTnLst>
                          </p:cTn>
                        </p:par>
                        <p:par>
                          <p:cTn id="35" fill="hold">
                            <p:stCondLst>
                              <p:cond delay="0"/>
                            </p:stCondLst>
                            <p:childTnLst>
                              <p:par>
                                <p:cTn id="36" presetID="12" presetClass="entr" presetSubtype="1" fill="hold" grpId="0" nodeType="afterEffect">
                                  <p:stCondLst>
                                    <p:cond delay="0"/>
                                  </p:stCondLst>
                                  <p:childTnLst>
                                    <p:set>
                                      <p:cBhvr>
                                        <p:cTn id="37" dur="1" fill="hold">
                                          <p:stCondLst>
                                            <p:cond delay="0"/>
                                          </p:stCondLst>
                                        </p:cTn>
                                        <p:tgtEl>
                                          <p:spTgt spid="10307"/>
                                        </p:tgtEl>
                                        <p:attrNameLst>
                                          <p:attrName>style.visibility</p:attrName>
                                        </p:attrNameLst>
                                      </p:cBhvr>
                                      <p:to>
                                        <p:strVal val="visible"/>
                                      </p:to>
                                    </p:set>
                                    <p:animEffect transition="in" filter="slide(fromTop)">
                                      <p:cBhvr>
                                        <p:cTn id="38" dur="500"/>
                                        <p:tgtEl>
                                          <p:spTgt spid="10307"/>
                                        </p:tgtEl>
                                      </p:cBhvr>
                                    </p:animEffect>
                                  </p:childTnLst>
                                </p:cTn>
                              </p:par>
                              <p:par>
                                <p:cTn id="39" presetID="12" presetClass="entr" presetSubtype="1" fill="hold" grpId="0" nodeType="withEffect">
                                  <p:stCondLst>
                                    <p:cond delay="0"/>
                                  </p:stCondLst>
                                  <p:childTnLst>
                                    <p:set>
                                      <p:cBhvr>
                                        <p:cTn id="40" dur="1" fill="hold">
                                          <p:stCondLst>
                                            <p:cond delay="0"/>
                                          </p:stCondLst>
                                        </p:cTn>
                                        <p:tgtEl>
                                          <p:spTgt spid="10309"/>
                                        </p:tgtEl>
                                        <p:attrNameLst>
                                          <p:attrName>style.visibility</p:attrName>
                                        </p:attrNameLst>
                                      </p:cBhvr>
                                      <p:to>
                                        <p:strVal val="visible"/>
                                      </p:to>
                                    </p:set>
                                    <p:animEffect transition="in" filter="slide(fromTop)">
                                      <p:cBhvr>
                                        <p:cTn id="41" dur="1000"/>
                                        <p:tgtEl>
                                          <p:spTgt spid="10309"/>
                                        </p:tgtEl>
                                      </p:cBhvr>
                                    </p:animEffect>
                                  </p:childTnLst>
                                </p:cTn>
                              </p:par>
                            </p:childTnLst>
                          </p:cTn>
                        </p:par>
                      </p:childTnLst>
                    </p:cTn>
                  </p:par>
                  <p:par>
                    <p:cTn id="42" fill="hold">
                      <p:stCondLst>
                        <p:cond delay="indefinite"/>
                      </p:stCondLst>
                      <p:childTnLst>
                        <p:par>
                          <p:cTn id="43" fill="hold">
                            <p:stCondLst>
                              <p:cond delay="0"/>
                            </p:stCondLst>
                            <p:childTnLst>
                              <p:par>
                                <p:cTn id="44" presetID="24" presetClass="entr" presetSubtype="0" fill="hold" grpId="0" nodeType="clickEffect">
                                  <p:stCondLst>
                                    <p:cond delay="0"/>
                                  </p:stCondLst>
                                  <p:childTnLst>
                                    <p:set>
                                      <p:cBhvr>
                                        <p:cTn id="45" dur="1" fill="hold">
                                          <p:stCondLst>
                                            <p:cond delay="0"/>
                                          </p:stCondLst>
                                        </p:cTn>
                                        <p:tgtEl>
                                          <p:spTgt spid="10311"/>
                                        </p:tgtEl>
                                        <p:attrNameLst>
                                          <p:attrName>style.visibility</p:attrName>
                                        </p:attrNameLst>
                                      </p:cBhvr>
                                      <p:to>
                                        <p:strVal val="visible"/>
                                      </p:to>
                                    </p:set>
                                    <p:anim to="" calcmode="lin" valueType="num">
                                      <p:cBhvr>
                                        <p:cTn id="46" dur="1" fill="hold"/>
                                        <p:tgtEl>
                                          <p:spTgt spid="10311"/>
                                        </p:tgtEl>
                                      </p:cBhvr>
                                    </p:anim>
                                  </p:childTnLst>
                                </p:cTn>
                              </p:par>
                            </p:childTnLst>
                          </p:cTn>
                        </p:par>
                        <p:par>
                          <p:cTn id="47" fill="hold">
                            <p:stCondLst>
                              <p:cond delay="0"/>
                            </p:stCondLst>
                            <p:childTnLst>
                              <p:par>
                                <p:cTn id="48" presetID="16" presetClass="entr" presetSubtype="42" fill="hold" nodeType="afterEffect">
                                  <p:stCondLst>
                                    <p:cond delay="0"/>
                                  </p:stCondLst>
                                  <p:childTnLst>
                                    <p:set>
                                      <p:cBhvr>
                                        <p:cTn id="49" dur="1" fill="hold">
                                          <p:stCondLst>
                                            <p:cond delay="0"/>
                                          </p:stCondLst>
                                        </p:cTn>
                                        <p:tgtEl>
                                          <p:spTgt spid="10257"/>
                                        </p:tgtEl>
                                        <p:attrNameLst>
                                          <p:attrName>style.visibility</p:attrName>
                                        </p:attrNameLst>
                                      </p:cBhvr>
                                      <p:to>
                                        <p:strVal val="visible"/>
                                      </p:to>
                                    </p:set>
                                    <p:animEffect transition="in" filter="barn(outHorizontal)">
                                      <p:cBhvr>
                                        <p:cTn id="50" dur="500"/>
                                        <p:tgtEl>
                                          <p:spTgt spid="10257"/>
                                        </p:tgtEl>
                                      </p:cBhvr>
                                    </p:animEffect>
                                  </p:childTnLst>
                                </p:cTn>
                              </p:par>
                            </p:childTnLst>
                          </p:cTn>
                        </p:par>
                      </p:childTnLst>
                    </p:cTn>
                  </p:par>
                  <p:par>
                    <p:cTn id="51" fill="hold">
                      <p:stCondLst>
                        <p:cond delay="indefinite"/>
                      </p:stCondLst>
                      <p:childTnLst>
                        <p:par>
                          <p:cTn id="52" fill="hold">
                            <p:stCondLst>
                              <p:cond delay="0"/>
                            </p:stCondLst>
                            <p:childTnLst>
                              <p:par>
                                <p:cTn id="53" presetID="24" presetClass="entr" presetSubtype="0" fill="hold" grpId="0" nodeType="clickEffect">
                                  <p:stCondLst>
                                    <p:cond delay="0"/>
                                  </p:stCondLst>
                                  <p:childTnLst>
                                    <p:set>
                                      <p:cBhvr>
                                        <p:cTn id="54" dur="1" fill="hold">
                                          <p:stCondLst>
                                            <p:cond delay="0"/>
                                          </p:stCondLst>
                                        </p:cTn>
                                        <p:tgtEl>
                                          <p:spTgt spid="10296"/>
                                        </p:tgtEl>
                                        <p:attrNameLst>
                                          <p:attrName>style.visibility</p:attrName>
                                        </p:attrNameLst>
                                      </p:cBhvr>
                                      <p:to>
                                        <p:strVal val="visible"/>
                                      </p:to>
                                    </p:set>
                                    <p:anim to="" calcmode="lin" valueType="num">
                                      <p:cBhvr>
                                        <p:cTn id="55" dur="1" fill="hold"/>
                                        <p:tgtEl>
                                          <p:spTgt spid="10296"/>
                                        </p:tgtEl>
                                      </p:cBhvr>
                                    </p:anim>
                                  </p:childTnLst>
                                </p:cTn>
                              </p:par>
                            </p:childTnLst>
                          </p:cTn>
                        </p:par>
                        <p:par>
                          <p:cTn id="56" fill="hold">
                            <p:stCondLst>
                              <p:cond delay="0"/>
                            </p:stCondLst>
                            <p:childTnLst>
                              <p:par>
                                <p:cTn id="57" presetID="22" presetClass="entr" presetSubtype="4" fill="hold" grpId="0" nodeType="afterEffect">
                                  <p:stCondLst>
                                    <p:cond delay="0"/>
                                  </p:stCondLst>
                                  <p:childTnLst>
                                    <p:set>
                                      <p:cBhvr>
                                        <p:cTn id="58" dur="1" fill="hold">
                                          <p:stCondLst>
                                            <p:cond delay="0"/>
                                          </p:stCondLst>
                                        </p:cTn>
                                        <p:tgtEl>
                                          <p:spTgt spid="10297"/>
                                        </p:tgtEl>
                                        <p:attrNameLst>
                                          <p:attrName>style.visibility</p:attrName>
                                        </p:attrNameLst>
                                      </p:cBhvr>
                                      <p:to>
                                        <p:strVal val="visible"/>
                                      </p:to>
                                    </p:set>
                                    <p:animEffect transition="in" filter="wipe(down)">
                                      <p:cBhvr>
                                        <p:cTn id="59" dur="2000"/>
                                        <p:tgtEl>
                                          <p:spTgt spid="10297"/>
                                        </p:tgtEl>
                                      </p:cBhvr>
                                    </p:animEffect>
                                  </p:childTnLst>
                                </p:cTn>
                              </p:par>
                            </p:childTnLst>
                          </p:cTn>
                        </p:par>
                        <p:par>
                          <p:cTn id="60" fill="hold">
                            <p:stCondLst>
                              <p:cond delay="2000"/>
                            </p:stCondLst>
                            <p:childTnLst>
                              <p:par>
                                <p:cTn id="61" presetID="22" presetClass="entr" presetSubtype="8" fill="hold" nodeType="afterEffect">
                                  <p:stCondLst>
                                    <p:cond delay="0"/>
                                  </p:stCondLst>
                                  <p:childTnLst>
                                    <p:set>
                                      <p:cBhvr>
                                        <p:cTn id="62" dur="1" fill="hold">
                                          <p:stCondLst>
                                            <p:cond delay="0"/>
                                          </p:stCondLst>
                                        </p:cTn>
                                        <p:tgtEl>
                                          <p:spTgt spid="10298"/>
                                        </p:tgtEl>
                                        <p:attrNameLst>
                                          <p:attrName>style.visibility</p:attrName>
                                        </p:attrNameLst>
                                      </p:cBhvr>
                                      <p:to>
                                        <p:strVal val="visible"/>
                                      </p:to>
                                    </p:set>
                                    <p:animEffect transition="in" filter="wipe(left)">
                                      <p:cBhvr>
                                        <p:cTn id="63" dur="1000"/>
                                        <p:tgtEl>
                                          <p:spTgt spid="10298"/>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10312"/>
                                        </p:tgtEl>
                                        <p:attrNameLst>
                                          <p:attrName>style.visibility</p:attrName>
                                        </p:attrNameLst>
                                      </p:cBhvr>
                                      <p:to>
                                        <p:strVal val="visible"/>
                                      </p:to>
                                    </p:set>
                                  </p:childTnLst>
                                </p:cTn>
                              </p:par>
                            </p:childTnLst>
                          </p:cTn>
                        </p:par>
                        <p:par>
                          <p:cTn id="68" fill="hold">
                            <p:stCondLst>
                              <p:cond delay="0"/>
                            </p:stCondLst>
                            <p:childTnLst>
                              <p:par>
                                <p:cTn id="69" presetID="0" presetClass="path" presetSubtype="0" accel="50000" decel="50000" fill="hold" grpId="1" nodeType="afterEffect">
                                  <p:stCondLst>
                                    <p:cond delay="0"/>
                                  </p:stCondLst>
                                  <p:childTnLst>
                                    <p:animMotion origin="layout" path="M -3.61111E-6 -2.13873E-6 L 0.04757 -2.13873E-6 L 0.07222 0.037 L 0.07379 0.17457 L -0.07691 0.17457 L -0.07535 0.00648 L -3.61111E-6 -2.13873E-6 Z " pathEditMode="relative" ptsTypes="AAAAAAA">
                                      <p:cBhvr>
                                        <p:cTn id="70" dur="2000" fill="hold"/>
                                        <p:tgtEl>
                                          <p:spTgt spid="10312"/>
                                        </p:tgtEl>
                                        <p:attrNameLst>
                                          <p:attrName>ppt_x</p:attrName>
                                          <p:attrName>ppt_y</p:attrName>
                                        </p:attrNameLst>
                                      </p:cBhvr>
                                    </p:animMotion>
                                  </p:childTnLst>
                                </p:cTn>
                              </p:par>
                            </p:childTnLst>
                          </p:cTn>
                        </p:par>
                        <p:par>
                          <p:cTn id="71" fill="hold">
                            <p:stCondLst>
                              <p:cond delay="2000"/>
                            </p:stCondLst>
                            <p:childTnLst>
                              <p:par>
                                <p:cTn id="72" presetID="1" presetClass="exit" presetSubtype="0" fill="hold" grpId="2" nodeType="afterEffect">
                                  <p:stCondLst>
                                    <p:cond delay="0"/>
                                  </p:stCondLst>
                                  <p:childTnLst>
                                    <p:set>
                                      <p:cBhvr>
                                        <p:cTn id="73" dur="1" fill="hold">
                                          <p:stCondLst>
                                            <p:cond delay="0"/>
                                          </p:stCondLst>
                                        </p:cTn>
                                        <p:tgtEl>
                                          <p:spTgt spid="10312"/>
                                        </p:tgtEl>
                                        <p:attrNameLst>
                                          <p:attrName>style.visibility</p:attrName>
                                        </p:attrNameLst>
                                      </p:cBhvr>
                                      <p:to>
                                        <p:strVal val="hidden"/>
                                      </p:to>
                                    </p:se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nodeType="clickEffect">
                                  <p:stCondLst>
                                    <p:cond delay="0"/>
                                  </p:stCondLst>
                                  <p:childTnLst>
                                    <p:set>
                                      <p:cBhvr>
                                        <p:cTn id="77" dur="1" fill="hold">
                                          <p:stCondLst>
                                            <p:cond delay="0"/>
                                          </p:stCondLst>
                                        </p:cTn>
                                        <p:tgtEl>
                                          <p:spTgt spid="10301"/>
                                        </p:tgtEl>
                                        <p:attrNameLst>
                                          <p:attrName>style.visibility</p:attrName>
                                        </p:attrNameLst>
                                      </p:cBhvr>
                                      <p:to>
                                        <p:strVal val="visible"/>
                                      </p:to>
                                    </p:set>
                                    <p:animEffect transition="in" filter="wipe(up)">
                                      <p:cBhvr>
                                        <p:cTn id="78" dur="1000"/>
                                        <p:tgtEl>
                                          <p:spTgt spid="10301"/>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10304"/>
                                        </p:tgtEl>
                                        <p:attrNameLst>
                                          <p:attrName>style.visibility</p:attrName>
                                        </p:attrNameLst>
                                      </p:cBhvr>
                                      <p:to>
                                        <p:strVal val="visible"/>
                                      </p:to>
                                    </p:set>
                                    <p:animEffect transition="in" filter="wipe(left)">
                                      <p:cBhvr>
                                        <p:cTn id="83" dur="1000"/>
                                        <p:tgtEl>
                                          <p:spTgt spid="10304"/>
                                        </p:tgtEl>
                                      </p:cBhvr>
                                    </p:animEffect>
                                  </p:childTnLst>
                                </p:cTn>
                              </p:par>
                            </p:childTnLst>
                          </p:cTn>
                        </p:par>
                      </p:childTnLst>
                    </p:cTn>
                  </p:par>
                  <p:par>
                    <p:cTn id="84" fill="hold">
                      <p:stCondLst>
                        <p:cond delay="indefinite"/>
                      </p:stCondLst>
                      <p:childTnLst>
                        <p:par>
                          <p:cTn id="85" fill="hold">
                            <p:stCondLst>
                              <p:cond delay="0"/>
                            </p:stCondLst>
                            <p:childTnLst>
                              <p:par>
                                <p:cTn id="86" presetID="18" presetClass="entr" presetSubtype="3" fill="hold" nodeType="clickEffect">
                                  <p:stCondLst>
                                    <p:cond delay="0"/>
                                  </p:stCondLst>
                                  <p:childTnLst>
                                    <p:set>
                                      <p:cBhvr>
                                        <p:cTn id="87" dur="1" fill="hold">
                                          <p:stCondLst>
                                            <p:cond delay="0"/>
                                          </p:stCondLst>
                                        </p:cTn>
                                        <p:tgtEl>
                                          <p:spTgt spid="10248"/>
                                        </p:tgtEl>
                                        <p:attrNameLst>
                                          <p:attrName>style.visibility</p:attrName>
                                        </p:attrNameLst>
                                      </p:cBhvr>
                                      <p:to>
                                        <p:strVal val="visible"/>
                                      </p:to>
                                    </p:set>
                                    <p:animEffect transition="in" filter="strips(upRight)">
                                      <p:cBhvr>
                                        <p:cTn id="88" dur="500"/>
                                        <p:tgtEl>
                                          <p:spTgt spid="10248"/>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4" fill="hold" grpId="0" nodeType="clickEffect">
                                  <p:stCondLst>
                                    <p:cond delay="0"/>
                                  </p:stCondLst>
                                  <p:childTnLst>
                                    <p:set>
                                      <p:cBhvr>
                                        <p:cTn id="92" dur="1" fill="hold">
                                          <p:stCondLst>
                                            <p:cond delay="0"/>
                                          </p:stCondLst>
                                        </p:cTn>
                                        <p:tgtEl>
                                          <p:spTgt spid="10246"/>
                                        </p:tgtEl>
                                        <p:attrNameLst>
                                          <p:attrName>style.visibility</p:attrName>
                                        </p:attrNameLst>
                                      </p:cBhvr>
                                      <p:to>
                                        <p:strVal val="visible"/>
                                      </p:to>
                                    </p:set>
                                    <p:animEffect transition="in" filter="wipe(down)">
                                      <p:cBhvr>
                                        <p:cTn id="93" dur="500"/>
                                        <p:tgtEl>
                                          <p:spTgt spid="10246"/>
                                        </p:tgtEl>
                                      </p:cBhvr>
                                    </p:animEffect>
                                  </p:childTnLst>
                                </p:cTn>
                              </p:par>
                            </p:childTnLst>
                          </p:cTn>
                        </p:par>
                        <p:par>
                          <p:cTn id="94" fill="hold">
                            <p:stCondLst>
                              <p:cond delay="500"/>
                            </p:stCondLst>
                            <p:childTnLst>
                              <p:par>
                                <p:cTn id="95" presetID="22" presetClass="entr" presetSubtype="4" fill="hold" grpId="0" nodeType="afterEffect">
                                  <p:stCondLst>
                                    <p:cond delay="0"/>
                                  </p:stCondLst>
                                  <p:childTnLst>
                                    <p:set>
                                      <p:cBhvr>
                                        <p:cTn id="96" dur="1" fill="hold">
                                          <p:stCondLst>
                                            <p:cond delay="0"/>
                                          </p:stCondLst>
                                        </p:cTn>
                                        <p:tgtEl>
                                          <p:spTgt spid="10247"/>
                                        </p:tgtEl>
                                        <p:attrNameLst>
                                          <p:attrName>style.visibility</p:attrName>
                                        </p:attrNameLst>
                                      </p:cBhvr>
                                      <p:to>
                                        <p:strVal val="visible"/>
                                      </p:to>
                                    </p:set>
                                    <p:animEffect transition="in" filter="wipe(down)">
                                      <p:cBhvr>
                                        <p:cTn id="97" dur="500"/>
                                        <p:tgtEl>
                                          <p:spTgt spid="10247"/>
                                        </p:tgtEl>
                                      </p:cBhvr>
                                    </p:animEffect>
                                  </p:childTnLst>
                                </p:cTn>
                              </p:par>
                            </p:childTnLst>
                          </p:cTn>
                        </p:par>
                        <p:par>
                          <p:cTn id="98" fill="hold">
                            <p:stCondLst>
                              <p:cond delay="1000"/>
                            </p:stCondLst>
                            <p:childTnLst>
                              <p:par>
                                <p:cTn id="99" presetID="24" presetClass="entr" presetSubtype="0" fill="hold" grpId="0" nodeType="afterEffect">
                                  <p:stCondLst>
                                    <p:cond delay="0"/>
                                  </p:stCondLst>
                                  <p:childTnLst>
                                    <p:set>
                                      <p:cBhvr>
                                        <p:cTn id="100" dur="1" fill="hold">
                                          <p:stCondLst>
                                            <p:cond delay="0"/>
                                          </p:stCondLst>
                                        </p:cTn>
                                        <p:tgtEl>
                                          <p:spTgt spid="10310"/>
                                        </p:tgtEl>
                                        <p:attrNameLst>
                                          <p:attrName>style.visibility</p:attrName>
                                        </p:attrNameLst>
                                      </p:cBhvr>
                                      <p:to>
                                        <p:strVal val="visible"/>
                                      </p:to>
                                    </p:set>
                                    <p:anim to="" calcmode="lin" valueType="num">
                                      <p:cBhvr>
                                        <p:cTn id="101" dur="1" fill="hold"/>
                                        <p:tgtEl>
                                          <p:spTgt spid="10310"/>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animBg="1"/>
      <p:bldP spid="10244" grpId="0" animBg="1"/>
      <p:bldP spid="10245" grpId="0"/>
      <p:bldP spid="10246" grpId="0" animBg="1"/>
      <p:bldP spid="10247" grpId="0" autoUpdateAnimBg="0"/>
      <p:bldP spid="10296" grpId="0" animBg="1"/>
      <p:bldP spid="10297" grpId="0" animBg="1"/>
      <p:bldP spid="10307" grpId="0" animBg="1"/>
      <p:bldP spid="10308" grpId="0" animBg="1"/>
      <p:bldP spid="10309" grpId="0" animBg="1"/>
      <p:bldP spid="10310" grpId="0" animBg="1"/>
      <p:bldP spid="10311" grpId="0" animBg="1"/>
      <p:bldP spid="10312" grpId="0" animBg="1"/>
      <p:bldP spid="10312" grpId="1" animBg="1"/>
      <p:bldP spid="10312" grpId="2"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6" name="Group 2"/>
          <p:cNvGrpSpPr/>
          <p:nvPr/>
        </p:nvGrpSpPr>
        <p:grpSpPr bwMode="auto">
          <a:xfrm>
            <a:off x="2601913" y="1177925"/>
            <a:ext cx="1155700" cy="2551113"/>
            <a:chOff x="1583" y="2503"/>
            <a:chExt cx="728" cy="1607"/>
          </a:xfrm>
        </p:grpSpPr>
        <p:sp>
          <p:nvSpPr>
            <p:cNvPr id="12370" name="Line 3"/>
            <p:cNvSpPr>
              <a:spLocks noChangeShapeType="1"/>
            </p:cNvSpPr>
            <p:nvPr/>
          </p:nvSpPr>
          <p:spPr bwMode="auto">
            <a:xfrm>
              <a:off x="1925" y="2503"/>
              <a:ext cx="0" cy="1607"/>
            </a:xfrm>
            <a:prstGeom prst="line">
              <a:avLst/>
            </a:prstGeom>
            <a:noFill/>
            <a:ln w="19050">
              <a:solidFill>
                <a:srgbClr val="AC004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71" name="Text Box 4"/>
            <p:cNvSpPr txBox="1">
              <a:spLocks noChangeArrowheads="1"/>
            </p:cNvSpPr>
            <p:nvPr/>
          </p:nvSpPr>
          <p:spPr bwMode="auto">
            <a:xfrm>
              <a:off x="1583" y="3068"/>
              <a:ext cx="728" cy="192"/>
            </a:xfrm>
            <a:prstGeom prst="rect">
              <a:avLst/>
            </a:prstGeom>
            <a:solidFill>
              <a:srgbClr val="FFEAD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U</a:t>
              </a:r>
              <a:r>
                <a:rPr kumimoji="1" lang="en-US" altLang="zh-CN" sz="2000" b="1" baseline="-25000">
                  <a:solidFill>
                    <a:srgbClr val="000048"/>
                  </a:solidFill>
                  <a:latin typeface="Times New Roman" panose="02020603050405020304" pitchFamily="18" charset="0"/>
                </a:rPr>
                <a:t>CE </a:t>
              </a:r>
              <a:r>
                <a:rPr kumimoji="1" lang="en-US" altLang="zh-CN" sz="2000" b="1">
                  <a:solidFill>
                    <a:srgbClr val="000048"/>
                  </a:solidFill>
                  <a:latin typeface="Times New Roman" panose="02020603050405020304" pitchFamily="18" charset="0"/>
                </a:rPr>
                <a:t>=0.5V</a:t>
              </a:r>
            </a:p>
          </p:txBody>
        </p:sp>
      </p:grpSp>
      <p:grpSp>
        <p:nvGrpSpPr>
          <p:cNvPr id="11269" name="Group 5"/>
          <p:cNvGrpSpPr/>
          <p:nvPr/>
        </p:nvGrpSpPr>
        <p:grpSpPr bwMode="auto">
          <a:xfrm>
            <a:off x="754063" y="766763"/>
            <a:ext cx="7812087" cy="3073400"/>
            <a:chOff x="504" y="299"/>
            <a:chExt cx="4921" cy="1936"/>
          </a:xfrm>
        </p:grpSpPr>
        <p:grpSp>
          <p:nvGrpSpPr>
            <p:cNvPr id="12322" name="Group 6"/>
            <p:cNvGrpSpPr/>
            <p:nvPr/>
          </p:nvGrpSpPr>
          <p:grpSpPr bwMode="auto">
            <a:xfrm>
              <a:off x="3238" y="299"/>
              <a:ext cx="2187" cy="1936"/>
              <a:chOff x="3238" y="299"/>
              <a:chExt cx="2187" cy="1936"/>
            </a:xfrm>
          </p:grpSpPr>
          <p:sp>
            <p:nvSpPr>
              <p:cNvPr id="12359" name="Freeform 7"/>
              <p:cNvSpPr/>
              <p:nvPr/>
            </p:nvSpPr>
            <p:spPr bwMode="auto">
              <a:xfrm>
                <a:off x="3521" y="614"/>
                <a:ext cx="648" cy="1433"/>
              </a:xfrm>
              <a:custGeom>
                <a:avLst/>
                <a:gdLst>
                  <a:gd name="T0" fmla="*/ 0 w 648"/>
                  <a:gd name="T1" fmla="*/ 1433 h 1560"/>
                  <a:gd name="T2" fmla="*/ 192 w 648"/>
                  <a:gd name="T3" fmla="*/ 1389 h 1560"/>
                  <a:gd name="T4" fmla="*/ 312 w 648"/>
                  <a:gd name="T5" fmla="*/ 1334 h 1560"/>
                  <a:gd name="T6" fmla="*/ 426 w 648"/>
                  <a:gd name="T7" fmla="*/ 1202 h 1560"/>
                  <a:gd name="T8" fmla="*/ 498 w 648"/>
                  <a:gd name="T9" fmla="*/ 1025 h 1560"/>
                  <a:gd name="T10" fmla="*/ 570 w 648"/>
                  <a:gd name="T11" fmla="*/ 722 h 1560"/>
                  <a:gd name="T12" fmla="*/ 618 w 648"/>
                  <a:gd name="T13" fmla="*/ 336 h 1560"/>
                  <a:gd name="T14" fmla="*/ 648 w 648"/>
                  <a:gd name="T15" fmla="*/ 0 h 156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8" h="1560">
                    <a:moveTo>
                      <a:pt x="0" y="1560"/>
                    </a:moveTo>
                    <a:lnTo>
                      <a:pt x="192" y="1512"/>
                    </a:lnTo>
                    <a:lnTo>
                      <a:pt x="312" y="1452"/>
                    </a:lnTo>
                    <a:lnTo>
                      <a:pt x="426" y="1308"/>
                    </a:lnTo>
                    <a:lnTo>
                      <a:pt x="498" y="1116"/>
                    </a:lnTo>
                    <a:lnTo>
                      <a:pt x="570" y="786"/>
                    </a:lnTo>
                    <a:lnTo>
                      <a:pt x="618" y="366"/>
                    </a:lnTo>
                    <a:lnTo>
                      <a:pt x="648" y="0"/>
                    </a:lnTo>
                  </a:path>
                </a:pathLst>
              </a:custGeom>
              <a:noFill/>
              <a:ln w="3810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0" name="Text Box 8"/>
              <p:cNvSpPr txBox="1">
                <a:spLocks noChangeArrowheads="1"/>
              </p:cNvSpPr>
              <p:nvPr/>
            </p:nvSpPr>
            <p:spPr bwMode="auto">
              <a:xfrm rot="-4796198">
                <a:off x="3704" y="1076"/>
                <a:ext cx="54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U</a:t>
                </a:r>
                <a:r>
                  <a:rPr kumimoji="1" lang="en-US" altLang="zh-CN" sz="2000" b="1" i="1" baseline="-25000">
                    <a:solidFill>
                      <a:srgbClr val="000048"/>
                    </a:solidFill>
                    <a:latin typeface="Times New Roman" panose="02020603050405020304" pitchFamily="18" charset="0"/>
                  </a:rPr>
                  <a:t>CE</a:t>
                </a:r>
                <a:r>
                  <a:rPr kumimoji="1" lang="en-US" altLang="zh-CN" sz="2000" b="1">
                    <a:solidFill>
                      <a:srgbClr val="000048"/>
                    </a:solidFill>
                    <a:latin typeface="Times New Roman" panose="02020603050405020304" pitchFamily="18" charset="0"/>
                  </a:rPr>
                  <a:t>=0V</a:t>
                </a:r>
              </a:p>
            </p:txBody>
          </p:sp>
          <p:grpSp>
            <p:nvGrpSpPr>
              <p:cNvPr id="12361" name="Group 9"/>
              <p:cNvGrpSpPr/>
              <p:nvPr/>
            </p:nvGrpSpPr>
            <p:grpSpPr bwMode="auto">
              <a:xfrm>
                <a:off x="3238" y="299"/>
                <a:ext cx="2187" cy="1936"/>
                <a:chOff x="3323" y="1932"/>
                <a:chExt cx="2187" cy="1936"/>
              </a:xfrm>
            </p:grpSpPr>
            <p:grpSp>
              <p:nvGrpSpPr>
                <p:cNvPr id="12362" name="Group 10"/>
                <p:cNvGrpSpPr/>
                <p:nvPr/>
              </p:nvGrpSpPr>
              <p:grpSpPr bwMode="auto">
                <a:xfrm>
                  <a:off x="3323" y="1932"/>
                  <a:ext cx="2187" cy="1845"/>
                  <a:chOff x="3323" y="1932"/>
                  <a:chExt cx="2187" cy="1845"/>
                </a:xfrm>
              </p:grpSpPr>
              <p:grpSp>
                <p:nvGrpSpPr>
                  <p:cNvPr id="12364" name="Group 11"/>
                  <p:cNvGrpSpPr/>
                  <p:nvPr/>
                </p:nvGrpSpPr>
                <p:grpSpPr bwMode="auto">
                  <a:xfrm>
                    <a:off x="3458" y="2133"/>
                    <a:ext cx="2052" cy="1644"/>
                    <a:chOff x="3308" y="2133"/>
                    <a:chExt cx="2052" cy="1644"/>
                  </a:xfrm>
                </p:grpSpPr>
                <p:grpSp>
                  <p:nvGrpSpPr>
                    <p:cNvPr id="12366" name="Group 12"/>
                    <p:cNvGrpSpPr/>
                    <p:nvPr/>
                  </p:nvGrpSpPr>
                  <p:grpSpPr bwMode="auto">
                    <a:xfrm>
                      <a:off x="3308" y="2133"/>
                      <a:ext cx="1611" cy="1611"/>
                      <a:chOff x="3288" y="2304"/>
                      <a:chExt cx="1680" cy="1792"/>
                    </a:xfrm>
                  </p:grpSpPr>
                  <p:sp>
                    <p:nvSpPr>
                      <p:cNvPr id="12368" name="Line 13"/>
                      <p:cNvSpPr>
                        <a:spLocks noChangeShapeType="1"/>
                      </p:cNvSpPr>
                      <p:nvPr/>
                    </p:nvSpPr>
                    <p:spPr bwMode="auto">
                      <a:xfrm>
                        <a:off x="3288" y="4032"/>
                        <a:ext cx="1680" cy="0"/>
                      </a:xfrm>
                      <a:prstGeom prst="line">
                        <a:avLst/>
                      </a:prstGeom>
                      <a:noFill/>
                      <a:ln w="28575">
                        <a:solidFill>
                          <a:schemeClr val="bg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9" name="Line 14"/>
                      <p:cNvSpPr>
                        <a:spLocks noChangeShapeType="1"/>
                      </p:cNvSpPr>
                      <p:nvPr/>
                    </p:nvSpPr>
                    <p:spPr bwMode="auto">
                      <a:xfrm rot="-5400000">
                        <a:off x="2472" y="3200"/>
                        <a:ext cx="1792" cy="0"/>
                      </a:xfrm>
                      <a:prstGeom prst="line">
                        <a:avLst/>
                      </a:prstGeom>
                      <a:noFill/>
                      <a:ln w="28575">
                        <a:solidFill>
                          <a:schemeClr val="bg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367" name="Text Box 15"/>
                    <p:cNvSpPr txBox="1">
                      <a:spLocks noChangeArrowheads="1"/>
                    </p:cNvSpPr>
                    <p:nvPr/>
                  </p:nvSpPr>
                  <p:spPr bwMode="auto">
                    <a:xfrm>
                      <a:off x="4896" y="3585"/>
                      <a:ext cx="4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U</a:t>
                      </a:r>
                      <a:r>
                        <a:rPr kumimoji="1" lang="en-US" altLang="zh-CN" sz="2000" b="1" baseline="-25000">
                          <a:solidFill>
                            <a:srgbClr val="000048"/>
                          </a:solidFill>
                          <a:latin typeface="Times New Roman" panose="02020603050405020304" pitchFamily="18" charset="0"/>
                        </a:rPr>
                        <a:t>BE</a:t>
                      </a:r>
                      <a:r>
                        <a:rPr kumimoji="1" lang="en-US" altLang="zh-CN" sz="2000" b="1" i="1" baseline="-25000">
                          <a:solidFill>
                            <a:srgbClr val="000048"/>
                          </a:solidFill>
                          <a:latin typeface="Times New Roman" panose="02020603050405020304" pitchFamily="18" charset="0"/>
                        </a:rPr>
                        <a:t> </a:t>
                      </a:r>
                      <a:r>
                        <a:rPr kumimoji="1" lang="en-US" altLang="zh-CN" sz="2000" b="1" i="1">
                          <a:solidFill>
                            <a:srgbClr val="000048"/>
                          </a:solidFill>
                          <a:latin typeface="Times New Roman" panose="02020603050405020304" pitchFamily="18" charset="0"/>
                        </a:rPr>
                        <a:t>/</a:t>
                      </a:r>
                      <a:r>
                        <a:rPr kumimoji="1" lang="en-US" altLang="zh-CN" sz="2000" b="1">
                          <a:solidFill>
                            <a:srgbClr val="000048"/>
                          </a:solidFill>
                          <a:latin typeface="Times New Roman" panose="02020603050405020304" pitchFamily="18" charset="0"/>
                        </a:rPr>
                        <a:t>V</a:t>
                      </a:r>
                    </a:p>
                  </p:txBody>
                </p:sp>
              </p:grpSp>
              <p:sp>
                <p:nvSpPr>
                  <p:cNvPr id="12365" name="Text Box 16"/>
                  <p:cNvSpPr txBox="1">
                    <a:spLocks noChangeArrowheads="1"/>
                  </p:cNvSpPr>
                  <p:nvPr/>
                </p:nvSpPr>
                <p:spPr bwMode="auto">
                  <a:xfrm>
                    <a:off x="3323" y="1932"/>
                    <a:ext cx="4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I</a:t>
                    </a:r>
                    <a:r>
                      <a:rPr kumimoji="1" lang="en-US" altLang="zh-CN" sz="2000" b="1" baseline="-25000">
                        <a:solidFill>
                          <a:srgbClr val="000048"/>
                        </a:solidFill>
                        <a:latin typeface="Times New Roman" panose="02020603050405020304" pitchFamily="18" charset="0"/>
                      </a:rPr>
                      <a:t>B</a:t>
                    </a:r>
                    <a:r>
                      <a:rPr kumimoji="1" lang="en-US" altLang="zh-CN" sz="2000" b="1" i="1" baseline="-25000">
                        <a:solidFill>
                          <a:srgbClr val="000048"/>
                        </a:solidFill>
                        <a:latin typeface="Times New Roman" panose="02020603050405020304" pitchFamily="18" charset="0"/>
                      </a:rPr>
                      <a:t> </a:t>
                    </a:r>
                    <a:r>
                      <a:rPr kumimoji="1" lang="en-US" altLang="zh-CN" sz="2000" b="1" i="1">
                        <a:solidFill>
                          <a:srgbClr val="000048"/>
                        </a:solidFill>
                        <a:latin typeface="Times New Roman" panose="02020603050405020304" pitchFamily="18" charset="0"/>
                      </a:rPr>
                      <a:t>/</a:t>
                    </a:r>
                    <a:r>
                      <a:rPr kumimoji="1" lang="en-US" altLang="zh-CN" sz="2000" b="1">
                        <a:solidFill>
                          <a:srgbClr val="000048"/>
                        </a:solidFill>
                        <a:latin typeface="Times New Roman" panose="02020603050405020304" pitchFamily="18" charset="0"/>
                        <a:sym typeface="Symbol" panose="05050102010706020507" pitchFamily="18" charset="2"/>
                      </a:rPr>
                      <a:t>A</a:t>
                    </a:r>
                    <a:endParaRPr kumimoji="1" lang="en-US" altLang="zh-CN" sz="2000" b="1">
                      <a:solidFill>
                        <a:srgbClr val="000048"/>
                      </a:solidFill>
                      <a:latin typeface="Times New Roman" panose="02020603050405020304" pitchFamily="18" charset="0"/>
                    </a:endParaRPr>
                  </a:p>
                </p:txBody>
              </p:sp>
            </p:grpSp>
            <p:sp>
              <p:nvSpPr>
                <p:cNvPr id="12363" name="Text Box 17"/>
                <p:cNvSpPr txBox="1">
                  <a:spLocks noChangeArrowheads="1"/>
                </p:cNvSpPr>
                <p:nvPr/>
              </p:nvSpPr>
              <p:spPr bwMode="auto">
                <a:xfrm>
                  <a:off x="3423" y="3676"/>
                  <a:ext cx="14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a:solidFill>
                        <a:srgbClr val="000048"/>
                      </a:solidFill>
                      <a:latin typeface="Times New Roman" panose="02020603050405020304" pitchFamily="18" charset="0"/>
                    </a:rPr>
                    <a:t>0</a:t>
                  </a:r>
                </a:p>
              </p:txBody>
            </p:sp>
          </p:grpSp>
        </p:grpSp>
        <p:grpSp>
          <p:nvGrpSpPr>
            <p:cNvPr id="12323" name="Group 18"/>
            <p:cNvGrpSpPr/>
            <p:nvPr/>
          </p:nvGrpSpPr>
          <p:grpSpPr bwMode="auto">
            <a:xfrm>
              <a:off x="504" y="546"/>
              <a:ext cx="2502" cy="1646"/>
              <a:chOff x="566" y="1752"/>
              <a:chExt cx="2502" cy="1646"/>
            </a:xfrm>
          </p:grpSpPr>
          <p:grpSp>
            <p:nvGrpSpPr>
              <p:cNvPr id="12324" name="Group 19"/>
              <p:cNvGrpSpPr/>
              <p:nvPr/>
            </p:nvGrpSpPr>
            <p:grpSpPr bwMode="auto">
              <a:xfrm rot="16200000" flipV="1">
                <a:off x="1297" y="2496"/>
                <a:ext cx="288" cy="344"/>
                <a:chOff x="4168" y="3064"/>
                <a:chExt cx="288" cy="344"/>
              </a:xfrm>
            </p:grpSpPr>
            <p:sp>
              <p:nvSpPr>
                <p:cNvPr id="12354" name="Rectangle 20"/>
                <p:cNvSpPr>
                  <a:spLocks noChangeArrowheads="1"/>
                </p:cNvSpPr>
                <p:nvPr/>
              </p:nvSpPr>
              <p:spPr bwMode="auto">
                <a:xfrm>
                  <a:off x="4176" y="3084"/>
                  <a:ext cx="276" cy="312"/>
                </a:xfrm>
                <a:prstGeom prst="rect">
                  <a:avLst/>
                </a:prstGeom>
                <a:solidFill>
                  <a:srgbClr val="FFEEDD"/>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2355" name="Line 21"/>
                <p:cNvSpPr>
                  <a:spLocks noChangeShapeType="1"/>
                </p:cNvSpPr>
                <p:nvPr/>
              </p:nvSpPr>
              <p:spPr bwMode="auto">
                <a:xfrm>
                  <a:off x="4168" y="3248"/>
                  <a:ext cx="288" cy="1"/>
                </a:xfrm>
                <a:prstGeom prst="line">
                  <a:avLst/>
                </a:prstGeom>
                <a:noFill/>
                <a:ln w="57150">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6" name="Line 22"/>
                <p:cNvSpPr>
                  <a:spLocks noChangeShapeType="1"/>
                </p:cNvSpPr>
                <p:nvPr/>
              </p:nvSpPr>
              <p:spPr bwMode="auto">
                <a:xfrm flipH="1" flipV="1">
                  <a:off x="4168" y="3064"/>
                  <a:ext cx="120" cy="192"/>
                </a:xfrm>
                <a:prstGeom prst="line">
                  <a:avLst/>
                </a:prstGeom>
                <a:noFill/>
                <a:ln w="38100">
                  <a:solidFill>
                    <a:srgbClr val="66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7" name="Line 23"/>
                <p:cNvSpPr>
                  <a:spLocks noChangeShapeType="1"/>
                </p:cNvSpPr>
                <p:nvPr/>
              </p:nvSpPr>
              <p:spPr bwMode="auto">
                <a:xfrm flipV="1">
                  <a:off x="4368" y="3080"/>
                  <a:ext cx="80" cy="152"/>
                </a:xfrm>
                <a:prstGeom prst="line">
                  <a:avLst/>
                </a:prstGeom>
                <a:noFill/>
                <a:ln w="38100">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8" name="Line 24"/>
                <p:cNvSpPr>
                  <a:spLocks noChangeShapeType="1"/>
                </p:cNvSpPr>
                <p:nvPr/>
              </p:nvSpPr>
              <p:spPr bwMode="auto">
                <a:xfrm>
                  <a:off x="4320" y="3258"/>
                  <a:ext cx="0" cy="150"/>
                </a:xfrm>
                <a:prstGeom prst="line">
                  <a:avLst/>
                </a:prstGeom>
                <a:noFill/>
                <a:ln w="38100">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325" name="Oval 25"/>
              <p:cNvSpPr>
                <a:spLocks noChangeArrowheads="1"/>
              </p:cNvSpPr>
              <p:nvPr/>
            </p:nvSpPr>
            <p:spPr bwMode="auto">
              <a:xfrm>
                <a:off x="1565" y="3351"/>
                <a:ext cx="48" cy="47"/>
              </a:xfrm>
              <a:prstGeom prst="ellipse">
                <a:avLst/>
              </a:prstGeom>
              <a:solidFill>
                <a:schemeClr val="accent2"/>
              </a:solidFill>
              <a:ln w="9525">
                <a:solidFill>
                  <a:schemeClr val="accent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2326" name="Text Box 26"/>
              <p:cNvSpPr txBox="1">
                <a:spLocks noChangeArrowheads="1"/>
              </p:cNvSpPr>
              <p:nvPr/>
            </p:nvSpPr>
            <p:spPr bwMode="auto">
              <a:xfrm>
                <a:off x="861" y="3091"/>
                <a:ext cx="35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U</a:t>
                </a:r>
                <a:r>
                  <a:rPr kumimoji="1" lang="en-US" altLang="zh-CN" sz="2000" b="1" baseline="-25000">
                    <a:solidFill>
                      <a:srgbClr val="000048"/>
                    </a:solidFill>
                    <a:latin typeface="Times New Roman" panose="02020603050405020304" pitchFamily="18" charset="0"/>
                  </a:rPr>
                  <a:t>BB</a:t>
                </a:r>
                <a:endParaRPr kumimoji="1" lang="en-US" altLang="zh-CN" sz="2000" b="1">
                  <a:solidFill>
                    <a:srgbClr val="000048"/>
                  </a:solidFill>
                  <a:latin typeface="Times New Roman" panose="02020603050405020304" pitchFamily="18" charset="0"/>
                </a:endParaRPr>
              </a:p>
            </p:txBody>
          </p:sp>
          <p:sp>
            <p:nvSpPr>
              <p:cNvPr id="12327" name="Text Box 27"/>
              <p:cNvSpPr txBox="1">
                <a:spLocks noChangeArrowheads="1"/>
              </p:cNvSpPr>
              <p:nvPr/>
            </p:nvSpPr>
            <p:spPr bwMode="auto">
              <a:xfrm>
                <a:off x="2676" y="2728"/>
                <a:ext cx="3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U</a:t>
                </a:r>
                <a:r>
                  <a:rPr kumimoji="1" lang="en-US" altLang="zh-CN" sz="2000" b="1" baseline="-25000">
                    <a:solidFill>
                      <a:srgbClr val="000048"/>
                    </a:solidFill>
                    <a:latin typeface="Times New Roman" panose="02020603050405020304" pitchFamily="18" charset="0"/>
                  </a:rPr>
                  <a:t>CC</a:t>
                </a:r>
                <a:endParaRPr kumimoji="1" lang="en-US" altLang="zh-CN" sz="2000" b="1">
                  <a:solidFill>
                    <a:srgbClr val="000048"/>
                  </a:solidFill>
                  <a:latin typeface="Times New Roman" panose="02020603050405020304" pitchFamily="18" charset="0"/>
                </a:endParaRPr>
              </a:p>
            </p:txBody>
          </p:sp>
          <p:sp>
            <p:nvSpPr>
              <p:cNvPr id="12328" name="Text Box 28"/>
              <p:cNvSpPr txBox="1">
                <a:spLocks noChangeArrowheads="1"/>
              </p:cNvSpPr>
              <p:nvPr/>
            </p:nvSpPr>
            <p:spPr bwMode="auto">
              <a:xfrm>
                <a:off x="2653" y="2161"/>
                <a:ext cx="25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R</a:t>
                </a:r>
                <a:r>
                  <a:rPr kumimoji="1" lang="en-US" altLang="zh-CN" sz="2000" b="1" baseline="-25000">
                    <a:solidFill>
                      <a:srgbClr val="000048"/>
                    </a:solidFill>
                    <a:latin typeface="Times New Roman" panose="02020603050405020304" pitchFamily="18" charset="0"/>
                  </a:rPr>
                  <a:t>C</a:t>
                </a:r>
                <a:endParaRPr kumimoji="1" lang="en-US" altLang="zh-CN" sz="2000" b="1">
                  <a:solidFill>
                    <a:srgbClr val="000048"/>
                  </a:solidFill>
                  <a:latin typeface="Times New Roman" panose="02020603050405020304" pitchFamily="18" charset="0"/>
                </a:endParaRPr>
              </a:p>
            </p:txBody>
          </p:sp>
          <p:sp>
            <p:nvSpPr>
              <p:cNvPr id="12329" name="Freeform 29"/>
              <p:cNvSpPr/>
              <p:nvPr/>
            </p:nvSpPr>
            <p:spPr bwMode="auto">
              <a:xfrm>
                <a:off x="719" y="2660"/>
                <a:ext cx="550" cy="730"/>
              </a:xfrm>
              <a:custGeom>
                <a:avLst/>
                <a:gdLst>
                  <a:gd name="T0" fmla="*/ 550 w 768"/>
                  <a:gd name="T1" fmla="*/ 0 h 624"/>
                  <a:gd name="T2" fmla="*/ 0 w 768"/>
                  <a:gd name="T3" fmla="*/ 0 h 624"/>
                  <a:gd name="T4" fmla="*/ 0 w 768"/>
                  <a:gd name="T5" fmla="*/ 730 h 624"/>
                  <a:gd name="T6" fmla="*/ 0 60000 65536"/>
                  <a:gd name="T7" fmla="*/ 0 60000 65536"/>
                  <a:gd name="T8" fmla="*/ 0 60000 65536"/>
                </a:gdLst>
                <a:ahLst/>
                <a:cxnLst>
                  <a:cxn ang="T6">
                    <a:pos x="T0" y="T1"/>
                  </a:cxn>
                  <a:cxn ang="T7">
                    <a:pos x="T2" y="T3"/>
                  </a:cxn>
                  <a:cxn ang="T8">
                    <a:pos x="T4" y="T5"/>
                  </a:cxn>
                </a:cxnLst>
                <a:rect l="0" t="0" r="r" b="b"/>
                <a:pathLst>
                  <a:path w="768" h="624">
                    <a:moveTo>
                      <a:pt x="768" y="0"/>
                    </a:moveTo>
                    <a:lnTo>
                      <a:pt x="0" y="0"/>
                    </a:lnTo>
                    <a:lnTo>
                      <a:pt x="0" y="624"/>
                    </a:lnTo>
                  </a:path>
                </a:pathLst>
              </a:custGeom>
              <a:noFill/>
              <a:ln w="28575" cmpd="sng">
                <a:solidFill>
                  <a:srgbClr val="66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0" name="Line 30"/>
              <p:cNvSpPr>
                <a:spLocks noChangeShapeType="1"/>
              </p:cNvSpPr>
              <p:nvPr/>
            </p:nvSpPr>
            <p:spPr bwMode="auto">
              <a:xfrm>
                <a:off x="725" y="3385"/>
                <a:ext cx="862" cy="0"/>
              </a:xfrm>
              <a:prstGeom prst="line">
                <a:avLst/>
              </a:prstGeom>
              <a:noFill/>
              <a:ln w="28575">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1" name="Freeform 31"/>
              <p:cNvSpPr/>
              <p:nvPr/>
            </p:nvSpPr>
            <p:spPr bwMode="auto">
              <a:xfrm rot="5400000" flipH="1">
                <a:off x="1265" y="2074"/>
                <a:ext cx="1622" cy="977"/>
              </a:xfrm>
              <a:custGeom>
                <a:avLst/>
                <a:gdLst>
                  <a:gd name="T0" fmla="*/ 1622 w 768"/>
                  <a:gd name="T1" fmla="*/ 0 h 624"/>
                  <a:gd name="T2" fmla="*/ 0 w 768"/>
                  <a:gd name="T3" fmla="*/ 0 h 624"/>
                  <a:gd name="T4" fmla="*/ 0 w 768"/>
                  <a:gd name="T5" fmla="*/ 977 h 624"/>
                  <a:gd name="T6" fmla="*/ 0 60000 65536"/>
                  <a:gd name="T7" fmla="*/ 0 60000 65536"/>
                  <a:gd name="T8" fmla="*/ 0 60000 65536"/>
                </a:gdLst>
                <a:ahLst/>
                <a:cxnLst>
                  <a:cxn ang="T6">
                    <a:pos x="T0" y="T1"/>
                  </a:cxn>
                  <a:cxn ang="T7">
                    <a:pos x="T2" y="T3"/>
                  </a:cxn>
                  <a:cxn ang="T8">
                    <a:pos x="T4" y="T5"/>
                  </a:cxn>
                </a:cxnLst>
                <a:rect l="0" t="0" r="r" b="b"/>
                <a:pathLst>
                  <a:path w="768" h="624">
                    <a:moveTo>
                      <a:pt x="768" y="0"/>
                    </a:moveTo>
                    <a:lnTo>
                      <a:pt x="0" y="0"/>
                    </a:lnTo>
                    <a:lnTo>
                      <a:pt x="0" y="624"/>
                    </a:lnTo>
                  </a:path>
                </a:pathLst>
              </a:custGeom>
              <a:noFill/>
              <a:ln w="28575" cmpd="sng">
                <a:solidFill>
                  <a:srgbClr val="66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2332" name="Group 32"/>
              <p:cNvGrpSpPr/>
              <p:nvPr/>
            </p:nvGrpSpPr>
            <p:grpSpPr bwMode="auto">
              <a:xfrm rot="10800000" flipV="1">
                <a:off x="634" y="3159"/>
                <a:ext cx="192" cy="89"/>
                <a:chOff x="296" y="1648"/>
                <a:chExt cx="192" cy="57"/>
              </a:xfrm>
            </p:grpSpPr>
            <p:sp>
              <p:nvSpPr>
                <p:cNvPr id="12351" name="Rectangle 33"/>
                <p:cNvSpPr>
                  <a:spLocks noChangeArrowheads="1"/>
                </p:cNvSpPr>
                <p:nvPr/>
              </p:nvSpPr>
              <p:spPr bwMode="auto">
                <a:xfrm>
                  <a:off x="312" y="1648"/>
                  <a:ext cx="152" cy="4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2352" name="Line 34"/>
                <p:cNvSpPr>
                  <a:spLocks noChangeShapeType="1"/>
                </p:cNvSpPr>
                <p:nvPr/>
              </p:nvSpPr>
              <p:spPr bwMode="auto">
                <a:xfrm>
                  <a:off x="296" y="1648"/>
                  <a:ext cx="192" cy="1"/>
                </a:xfrm>
                <a:prstGeom prst="line">
                  <a:avLst/>
                </a:prstGeom>
                <a:noFill/>
                <a:ln w="444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3" name="Line 35"/>
                <p:cNvSpPr>
                  <a:spLocks noChangeShapeType="1"/>
                </p:cNvSpPr>
                <p:nvPr/>
              </p:nvSpPr>
              <p:spPr bwMode="auto">
                <a:xfrm>
                  <a:off x="344" y="1704"/>
                  <a:ext cx="96" cy="1"/>
                </a:xfrm>
                <a:prstGeom prst="line">
                  <a:avLst/>
                </a:prstGeom>
                <a:noFill/>
                <a:ln w="3810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333" name="Group 36"/>
              <p:cNvGrpSpPr/>
              <p:nvPr/>
            </p:nvGrpSpPr>
            <p:grpSpPr bwMode="auto">
              <a:xfrm>
                <a:off x="2471" y="2660"/>
                <a:ext cx="192" cy="285"/>
                <a:chOff x="848" y="1632"/>
                <a:chExt cx="192" cy="285"/>
              </a:xfrm>
            </p:grpSpPr>
            <p:sp>
              <p:nvSpPr>
                <p:cNvPr id="12341" name="Rectangle 37"/>
                <p:cNvSpPr>
                  <a:spLocks noChangeArrowheads="1"/>
                </p:cNvSpPr>
                <p:nvPr/>
              </p:nvSpPr>
              <p:spPr bwMode="auto">
                <a:xfrm>
                  <a:off x="864" y="1632"/>
                  <a:ext cx="152" cy="276"/>
                </a:xfrm>
                <a:prstGeom prst="rect">
                  <a:avLst/>
                </a:prstGeom>
                <a:solidFill>
                  <a:schemeClr val="bg1"/>
                </a:solidFill>
                <a:ln>
                  <a:noFill/>
                </a:ln>
                <a:effectLst/>
                <a:extLst>
                  <a:ext uri="{91240B29-F687-4F45-9708-019B960494DF}">
                    <a14:hiddenLine xmlns:a14="http://schemas.microsoft.com/office/drawing/2010/main" w="9525">
                      <a:solidFill>
                        <a:srgbClr val="0066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nvGrpSpPr>
                <p:cNvPr id="12342" name="Group 38"/>
                <p:cNvGrpSpPr/>
                <p:nvPr/>
              </p:nvGrpSpPr>
              <p:grpSpPr bwMode="auto">
                <a:xfrm>
                  <a:off x="848" y="1632"/>
                  <a:ext cx="192" cy="57"/>
                  <a:chOff x="848" y="1632"/>
                  <a:chExt cx="192" cy="57"/>
                </a:xfrm>
              </p:grpSpPr>
              <p:sp>
                <p:nvSpPr>
                  <p:cNvPr id="12349" name="Line 39"/>
                  <p:cNvSpPr>
                    <a:spLocks noChangeShapeType="1"/>
                  </p:cNvSpPr>
                  <p:nvPr/>
                </p:nvSpPr>
                <p:spPr bwMode="auto">
                  <a:xfrm>
                    <a:off x="848" y="1632"/>
                    <a:ext cx="192" cy="1"/>
                  </a:xfrm>
                  <a:prstGeom prst="line">
                    <a:avLst/>
                  </a:prstGeom>
                  <a:noFill/>
                  <a:ln w="28575">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0" name="Line 40"/>
                  <p:cNvSpPr>
                    <a:spLocks noChangeShapeType="1"/>
                  </p:cNvSpPr>
                  <p:nvPr/>
                </p:nvSpPr>
                <p:spPr bwMode="auto">
                  <a:xfrm>
                    <a:off x="896" y="1688"/>
                    <a:ext cx="96" cy="1"/>
                  </a:xfrm>
                  <a:prstGeom prst="line">
                    <a:avLst/>
                  </a:prstGeom>
                  <a:noFill/>
                  <a:ln w="571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343" name="Group 41"/>
                <p:cNvGrpSpPr/>
                <p:nvPr/>
              </p:nvGrpSpPr>
              <p:grpSpPr bwMode="auto">
                <a:xfrm>
                  <a:off x="848" y="1744"/>
                  <a:ext cx="192" cy="57"/>
                  <a:chOff x="848" y="1632"/>
                  <a:chExt cx="192" cy="57"/>
                </a:xfrm>
              </p:grpSpPr>
              <p:sp>
                <p:nvSpPr>
                  <p:cNvPr id="12347" name="Line 42"/>
                  <p:cNvSpPr>
                    <a:spLocks noChangeShapeType="1"/>
                  </p:cNvSpPr>
                  <p:nvPr/>
                </p:nvSpPr>
                <p:spPr bwMode="auto">
                  <a:xfrm>
                    <a:off x="848" y="1632"/>
                    <a:ext cx="192" cy="1"/>
                  </a:xfrm>
                  <a:prstGeom prst="line">
                    <a:avLst/>
                  </a:prstGeom>
                  <a:noFill/>
                  <a:ln w="28575">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8" name="Line 43"/>
                  <p:cNvSpPr>
                    <a:spLocks noChangeShapeType="1"/>
                  </p:cNvSpPr>
                  <p:nvPr/>
                </p:nvSpPr>
                <p:spPr bwMode="auto">
                  <a:xfrm>
                    <a:off x="896" y="1688"/>
                    <a:ext cx="96" cy="1"/>
                  </a:xfrm>
                  <a:prstGeom prst="line">
                    <a:avLst/>
                  </a:prstGeom>
                  <a:noFill/>
                  <a:ln w="571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344" name="Group 44"/>
                <p:cNvGrpSpPr/>
                <p:nvPr/>
              </p:nvGrpSpPr>
              <p:grpSpPr bwMode="auto">
                <a:xfrm>
                  <a:off x="848" y="1860"/>
                  <a:ext cx="192" cy="57"/>
                  <a:chOff x="848" y="1632"/>
                  <a:chExt cx="192" cy="57"/>
                </a:xfrm>
              </p:grpSpPr>
              <p:sp>
                <p:nvSpPr>
                  <p:cNvPr id="12345" name="Line 45"/>
                  <p:cNvSpPr>
                    <a:spLocks noChangeShapeType="1"/>
                  </p:cNvSpPr>
                  <p:nvPr/>
                </p:nvSpPr>
                <p:spPr bwMode="auto">
                  <a:xfrm>
                    <a:off x="848" y="1632"/>
                    <a:ext cx="192" cy="1"/>
                  </a:xfrm>
                  <a:prstGeom prst="line">
                    <a:avLst/>
                  </a:prstGeom>
                  <a:noFill/>
                  <a:ln w="28575">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6" name="Line 46"/>
                  <p:cNvSpPr>
                    <a:spLocks noChangeShapeType="1"/>
                  </p:cNvSpPr>
                  <p:nvPr/>
                </p:nvSpPr>
                <p:spPr bwMode="auto">
                  <a:xfrm>
                    <a:off x="896" y="1688"/>
                    <a:ext cx="96" cy="1"/>
                  </a:xfrm>
                  <a:prstGeom prst="line">
                    <a:avLst/>
                  </a:prstGeom>
                  <a:noFill/>
                  <a:ln w="571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2334" name="Rectangle 47"/>
              <p:cNvSpPr>
                <a:spLocks noChangeArrowheads="1"/>
              </p:cNvSpPr>
              <p:nvPr/>
            </p:nvSpPr>
            <p:spPr bwMode="auto">
              <a:xfrm>
                <a:off x="2517" y="2141"/>
                <a:ext cx="108" cy="234"/>
              </a:xfrm>
              <a:prstGeom prst="rect">
                <a:avLst/>
              </a:prstGeom>
              <a:solidFill>
                <a:srgbClr val="FFFF99"/>
              </a:solidFill>
              <a:ln w="2857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2335" name="Freeform 48"/>
              <p:cNvSpPr/>
              <p:nvPr/>
            </p:nvSpPr>
            <p:spPr bwMode="auto">
              <a:xfrm rot="16200000" flipH="1">
                <a:off x="1694" y="1645"/>
                <a:ext cx="774" cy="988"/>
              </a:xfrm>
              <a:custGeom>
                <a:avLst/>
                <a:gdLst>
                  <a:gd name="T0" fmla="*/ 774 w 768"/>
                  <a:gd name="T1" fmla="*/ 0 h 624"/>
                  <a:gd name="T2" fmla="*/ 0 w 768"/>
                  <a:gd name="T3" fmla="*/ 0 h 624"/>
                  <a:gd name="T4" fmla="*/ 0 w 768"/>
                  <a:gd name="T5" fmla="*/ 988 h 624"/>
                  <a:gd name="T6" fmla="*/ 0 60000 65536"/>
                  <a:gd name="T7" fmla="*/ 0 60000 65536"/>
                  <a:gd name="T8" fmla="*/ 0 60000 65536"/>
                </a:gdLst>
                <a:ahLst/>
                <a:cxnLst>
                  <a:cxn ang="T6">
                    <a:pos x="T0" y="T1"/>
                  </a:cxn>
                  <a:cxn ang="T7">
                    <a:pos x="T2" y="T3"/>
                  </a:cxn>
                  <a:cxn ang="T8">
                    <a:pos x="T4" y="T5"/>
                  </a:cxn>
                </a:cxnLst>
                <a:rect l="0" t="0" r="r" b="b"/>
                <a:pathLst>
                  <a:path w="768" h="624">
                    <a:moveTo>
                      <a:pt x="768" y="0"/>
                    </a:moveTo>
                    <a:lnTo>
                      <a:pt x="0" y="0"/>
                    </a:lnTo>
                    <a:lnTo>
                      <a:pt x="0" y="624"/>
                    </a:lnTo>
                  </a:path>
                </a:pathLst>
              </a:custGeom>
              <a:noFill/>
              <a:ln w="28575" cmpd="sng">
                <a:solidFill>
                  <a:srgbClr val="00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3" name="Text Box 49"/>
              <p:cNvSpPr txBox="1">
                <a:spLocks noChangeArrowheads="1"/>
              </p:cNvSpPr>
              <p:nvPr/>
            </p:nvSpPr>
            <p:spPr bwMode="auto">
              <a:xfrm>
                <a:off x="566" y="2932"/>
                <a:ext cx="109"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1" hangingPunct="1">
                  <a:defRPr/>
                </a:pPr>
                <a:r>
                  <a:rPr kumimoji="1" lang="en-US" altLang="zh-CN" sz="2400" b="1" i="1">
                    <a:solidFill>
                      <a:srgbClr val="A40000"/>
                    </a:solidFill>
                    <a:effectLst>
                      <a:outerShdw blurRad="38100" dist="38100" dir="2700000" algn="tl">
                        <a:srgbClr val="C0C0C0"/>
                      </a:outerShdw>
                    </a:effectLst>
                    <a:latin typeface="Times New Roman" panose="02020603050405020304" pitchFamily="18" charset="0"/>
                    <a:sym typeface="Symbol" panose="05050102010706020507" pitchFamily="18" charset="2"/>
                  </a:rPr>
                  <a:t>+</a:t>
                </a:r>
                <a:endParaRPr kumimoji="1" lang="en-US" altLang="zh-CN" sz="2400" b="1" i="1">
                  <a:solidFill>
                    <a:srgbClr val="A40000"/>
                  </a:solidFill>
                  <a:effectLst>
                    <a:outerShdw blurRad="38100" dist="38100" dir="2700000" algn="tl">
                      <a:srgbClr val="C0C0C0"/>
                    </a:outerShdw>
                  </a:effectLst>
                  <a:latin typeface="Times New Roman" panose="02020603050405020304" pitchFamily="18" charset="0"/>
                </a:endParaRPr>
              </a:p>
            </p:txBody>
          </p:sp>
          <p:sp>
            <p:nvSpPr>
              <p:cNvPr id="12337" name="Text Box 50"/>
              <p:cNvSpPr txBox="1">
                <a:spLocks noChangeArrowheads="1"/>
              </p:cNvSpPr>
              <p:nvPr/>
            </p:nvSpPr>
            <p:spPr bwMode="auto">
              <a:xfrm>
                <a:off x="2608" y="2466"/>
                <a:ext cx="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sym typeface="Symbol" panose="05050102010706020507" pitchFamily="18" charset="2"/>
                  </a:rPr>
                  <a:t>+</a:t>
                </a:r>
                <a:endParaRPr kumimoji="1" lang="en-US" altLang="zh-CN" sz="2000" b="1" i="1">
                  <a:solidFill>
                    <a:srgbClr val="000048"/>
                  </a:solidFill>
                  <a:latin typeface="Times New Roman" panose="02020603050405020304" pitchFamily="18" charset="0"/>
                </a:endParaRPr>
              </a:p>
            </p:txBody>
          </p:sp>
          <p:sp>
            <p:nvSpPr>
              <p:cNvPr id="12338" name="Line 51"/>
              <p:cNvSpPr>
                <a:spLocks noChangeShapeType="1"/>
              </p:cNvSpPr>
              <p:nvPr/>
            </p:nvSpPr>
            <p:spPr bwMode="auto">
              <a:xfrm>
                <a:off x="1587" y="2796"/>
                <a:ext cx="0" cy="589"/>
              </a:xfrm>
              <a:prstGeom prst="line">
                <a:avLst/>
              </a:prstGeom>
              <a:noFill/>
              <a:ln w="28575">
                <a:solidFill>
                  <a:srgbClr val="663300"/>
                </a:solidFill>
                <a:rou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9" name="Text Box 52"/>
              <p:cNvSpPr txBox="1">
                <a:spLocks noChangeArrowheads="1"/>
              </p:cNvSpPr>
              <p:nvPr/>
            </p:nvSpPr>
            <p:spPr bwMode="auto">
              <a:xfrm>
                <a:off x="816" y="2750"/>
                <a:ext cx="25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R</a:t>
                </a:r>
                <a:r>
                  <a:rPr kumimoji="1" lang="en-US" altLang="zh-CN" sz="2000" b="1" baseline="-25000">
                    <a:solidFill>
                      <a:srgbClr val="000048"/>
                    </a:solidFill>
                    <a:latin typeface="Times New Roman" panose="02020603050405020304" pitchFamily="18" charset="0"/>
                  </a:rPr>
                  <a:t>B</a:t>
                </a:r>
                <a:endParaRPr kumimoji="1" lang="en-US" altLang="zh-CN" sz="2000" b="1">
                  <a:solidFill>
                    <a:srgbClr val="000048"/>
                  </a:solidFill>
                  <a:latin typeface="Times New Roman" panose="02020603050405020304" pitchFamily="18" charset="0"/>
                </a:endParaRPr>
              </a:p>
            </p:txBody>
          </p:sp>
          <p:sp>
            <p:nvSpPr>
              <p:cNvPr id="12340" name="Rectangle 53"/>
              <p:cNvSpPr>
                <a:spLocks noChangeArrowheads="1"/>
              </p:cNvSpPr>
              <p:nvPr/>
            </p:nvSpPr>
            <p:spPr bwMode="auto">
              <a:xfrm>
                <a:off x="680" y="2730"/>
                <a:ext cx="108" cy="234"/>
              </a:xfrm>
              <a:prstGeom prst="rect">
                <a:avLst/>
              </a:prstGeom>
              <a:solidFill>
                <a:srgbClr val="FFFF99"/>
              </a:solidFill>
              <a:ln w="2857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grpSp>
      <p:sp>
        <p:nvSpPr>
          <p:cNvPr id="11318" name="AutoShape 54"/>
          <p:cNvSpPr>
            <a:spLocks noChangeArrowheads="1"/>
          </p:cNvSpPr>
          <p:nvPr/>
        </p:nvSpPr>
        <p:spPr bwMode="auto">
          <a:xfrm>
            <a:off x="596900" y="1090613"/>
            <a:ext cx="922338" cy="811212"/>
          </a:xfrm>
          <a:prstGeom prst="wedgeRoundRectCallout">
            <a:avLst>
              <a:gd name="adj1" fmla="val -23148"/>
              <a:gd name="adj2" fmla="val 198926"/>
              <a:gd name="adj3" fmla="val 16667"/>
            </a:avLst>
          </a:prstGeom>
          <a:gradFill rotWithShape="1">
            <a:gsLst>
              <a:gs pos="0">
                <a:srgbClr val="CCFF99">
                  <a:alpha val="85999"/>
                </a:srgbClr>
              </a:gs>
              <a:gs pos="100000">
                <a:srgbClr val="FFFFFF">
                  <a:alpha val="0"/>
                </a:srgbClr>
              </a:gs>
            </a:gsLst>
            <a:lin ang="2700000" scaled="1"/>
          </a:gradFill>
          <a:ln w="952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nSpc>
                <a:spcPct val="90000"/>
              </a:lnSpc>
            </a:pPr>
            <a:r>
              <a:rPr kumimoji="1" lang="zh-CN" altLang="en-US" b="1">
                <a:solidFill>
                  <a:srgbClr val="000048"/>
                </a:solidFill>
                <a:latin typeface="Times New Roman" panose="02020603050405020304" pitchFamily="18" charset="0"/>
                <a:ea typeface="楷体_GB2312" pitchFamily="49" charset="-122"/>
              </a:rPr>
              <a:t>令</a:t>
            </a:r>
            <a:r>
              <a:rPr kumimoji="1" lang="en-US" altLang="zh-CN" b="1" i="1">
                <a:solidFill>
                  <a:srgbClr val="000048"/>
                </a:solidFill>
                <a:latin typeface="Times New Roman" panose="02020603050405020304" pitchFamily="18" charset="0"/>
                <a:ea typeface="楷体_GB2312" pitchFamily="49" charset="-122"/>
              </a:rPr>
              <a:t>U</a:t>
            </a:r>
            <a:r>
              <a:rPr kumimoji="1" lang="en-US" altLang="zh-CN" b="1" baseline="-25000">
                <a:solidFill>
                  <a:srgbClr val="000048"/>
                </a:solidFill>
                <a:latin typeface="Times New Roman" panose="02020603050405020304" pitchFamily="18" charset="0"/>
                <a:ea typeface="楷体_GB2312" pitchFamily="49" charset="-122"/>
              </a:rPr>
              <a:t>BB</a:t>
            </a:r>
            <a:r>
              <a:rPr kumimoji="1" lang="zh-CN" altLang="en-US" b="1">
                <a:solidFill>
                  <a:srgbClr val="000048"/>
                </a:solidFill>
                <a:latin typeface="Times New Roman" panose="02020603050405020304" pitchFamily="18" charset="0"/>
                <a:ea typeface="楷体_GB2312" pitchFamily="49" charset="-122"/>
              </a:rPr>
              <a:t>重新从</a:t>
            </a:r>
            <a:r>
              <a:rPr kumimoji="1" lang="en-US" altLang="zh-CN" b="1">
                <a:solidFill>
                  <a:srgbClr val="000048"/>
                </a:solidFill>
                <a:latin typeface="Times New Roman" panose="02020603050405020304" pitchFamily="18" charset="0"/>
                <a:ea typeface="楷体_GB2312" pitchFamily="49" charset="-122"/>
              </a:rPr>
              <a:t>0</a:t>
            </a:r>
            <a:r>
              <a:rPr kumimoji="1" lang="zh-CN" altLang="en-US" b="1">
                <a:solidFill>
                  <a:srgbClr val="000048"/>
                </a:solidFill>
                <a:latin typeface="Times New Roman" panose="02020603050405020304" pitchFamily="18" charset="0"/>
                <a:ea typeface="楷体_GB2312" pitchFamily="49" charset="-122"/>
              </a:rPr>
              <a:t>开始增加</a:t>
            </a:r>
            <a:endParaRPr kumimoji="1" lang="zh-CN" altLang="en-US" b="1" baseline="-25000">
              <a:solidFill>
                <a:srgbClr val="000048"/>
              </a:solidFill>
              <a:latin typeface="Times New Roman" panose="02020603050405020304" pitchFamily="18" charset="0"/>
              <a:ea typeface="楷体_GB2312" pitchFamily="49" charset="-122"/>
            </a:endParaRPr>
          </a:p>
        </p:txBody>
      </p:sp>
      <p:sp>
        <p:nvSpPr>
          <p:cNvPr id="11319" name="Line 55"/>
          <p:cNvSpPr>
            <a:spLocks noChangeShapeType="1"/>
          </p:cNvSpPr>
          <p:nvPr/>
        </p:nvSpPr>
        <p:spPr bwMode="auto">
          <a:xfrm flipV="1">
            <a:off x="827088" y="3246438"/>
            <a:ext cx="360362" cy="431800"/>
          </a:xfrm>
          <a:prstGeom prst="line">
            <a:avLst/>
          </a:prstGeom>
          <a:noFill/>
          <a:ln w="349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320" name="Group 56"/>
          <p:cNvGrpSpPr/>
          <p:nvPr/>
        </p:nvGrpSpPr>
        <p:grpSpPr bwMode="auto">
          <a:xfrm>
            <a:off x="1336675" y="2205038"/>
            <a:ext cx="468313" cy="396875"/>
            <a:chOff x="952" y="2364"/>
            <a:chExt cx="295" cy="250"/>
          </a:xfrm>
        </p:grpSpPr>
        <p:sp>
          <p:nvSpPr>
            <p:cNvPr id="12320" name="Line 57"/>
            <p:cNvSpPr>
              <a:spLocks noChangeShapeType="1"/>
            </p:cNvSpPr>
            <p:nvPr/>
          </p:nvSpPr>
          <p:spPr bwMode="auto">
            <a:xfrm>
              <a:off x="952" y="2614"/>
              <a:ext cx="295" cy="0"/>
            </a:xfrm>
            <a:prstGeom prst="line">
              <a:avLst/>
            </a:prstGeom>
            <a:noFill/>
            <a:ln w="4445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1" name="Text Box 58"/>
            <p:cNvSpPr txBox="1">
              <a:spLocks noChangeArrowheads="1"/>
            </p:cNvSpPr>
            <p:nvPr/>
          </p:nvSpPr>
          <p:spPr bwMode="auto">
            <a:xfrm>
              <a:off x="975" y="2364"/>
              <a:ext cx="272" cy="182"/>
            </a:xfrm>
            <a:prstGeom prst="rect">
              <a:avLst/>
            </a:prstGeom>
            <a:noFill/>
            <a:ln>
              <a:noFill/>
            </a:ln>
            <a:effectLst/>
            <a:extLst>
              <a:ext uri="{909E8E84-426E-40DD-AFC4-6F175D3DCCD1}">
                <a14:hiddenFill xmlns:a14="http://schemas.microsoft.com/office/drawing/2010/main">
                  <a:gradFill rotWithShape="1">
                    <a:gsLst>
                      <a:gs pos="0">
                        <a:srgbClr val="FF9933">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n-US" altLang="zh-CN" sz="2000" b="1" i="1">
                  <a:solidFill>
                    <a:srgbClr val="003300"/>
                  </a:solidFill>
                  <a:latin typeface="Times New Roman" panose="02020603050405020304" pitchFamily="18" charset="0"/>
                </a:rPr>
                <a:t>I</a:t>
              </a:r>
              <a:r>
                <a:rPr kumimoji="1" lang="en-US" altLang="zh-CN" sz="2000" b="1" baseline="-25000">
                  <a:solidFill>
                    <a:srgbClr val="003300"/>
                  </a:solidFill>
                  <a:latin typeface="Times New Roman" panose="02020603050405020304" pitchFamily="18" charset="0"/>
                </a:rPr>
                <a:t>B</a:t>
              </a:r>
              <a:endParaRPr kumimoji="1" lang="en-US" altLang="zh-CN" sz="2000" b="1" i="1">
                <a:solidFill>
                  <a:srgbClr val="003300"/>
                </a:solidFill>
                <a:latin typeface="Times New Roman" panose="02020603050405020304" pitchFamily="18" charset="0"/>
              </a:endParaRPr>
            </a:p>
          </p:txBody>
        </p:sp>
      </p:grpSp>
      <p:grpSp>
        <p:nvGrpSpPr>
          <p:cNvPr id="11323" name="Group 59"/>
          <p:cNvGrpSpPr/>
          <p:nvPr/>
        </p:nvGrpSpPr>
        <p:grpSpPr bwMode="auto">
          <a:xfrm>
            <a:off x="2381250" y="1600200"/>
            <a:ext cx="412750" cy="468313"/>
            <a:chOff x="3841" y="2756"/>
            <a:chExt cx="260" cy="295"/>
          </a:xfrm>
        </p:grpSpPr>
        <p:sp>
          <p:nvSpPr>
            <p:cNvPr id="12318" name="Line 60"/>
            <p:cNvSpPr>
              <a:spLocks noChangeShapeType="1"/>
            </p:cNvSpPr>
            <p:nvPr/>
          </p:nvSpPr>
          <p:spPr bwMode="auto">
            <a:xfrm rot="16200000" flipV="1">
              <a:off x="3693" y="2904"/>
              <a:ext cx="295" cy="0"/>
            </a:xfrm>
            <a:prstGeom prst="line">
              <a:avLst/>
            </a:prstGeom>
            <a:noFill/>
            <a:ln w="38100">
              <a:solidFill>
                <a:srgbClr val="FF0000"/>
              </a:solidFill>
              <a:round/>
              <a:headEnd type="triangle" w="med" len="me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9" name="Text Box 61"/>
            <p:cNvSpPr txBox="1">
              <a:spLocks noChangeArrowheads="1"/>
            </p:cNvSpPr>
            <p:nvPr/>
          </p:nvSpPr>
          <p:spPr bwMode="auto">
            <a:xfrm>
              <a:off x="3886" y="2808"/>
              <a:ext cx="215" cy="182"/>
            </a:xfrm>
            <a:prstGeom prst="rect">
              <a:avLst/>
            </a:prstGeom>
            <a:noFill/>
            <a:ln>
              <a:noFill/>
            </a:ln>
            <a:effectLst/>
            <a:extLst>
              <a:ext uri="{909E8E84-426E-40DD-AFC4-6F175D3DCCD1}">
                <a14:hiddenFill xmlns:a14="http://schemas.microsoft.com/office/drawing/2010/main">
                  <a:gradFill rotWithShape="1">
                    <a:gsLst>
                      <a:gs pos="0">
                        <a:srgbClr val="FF9933">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n-US" altLang="zh-CN" sz="2000" b="1" i="1">
                  <a:solidFill>
                    <a:srgbClr val="000048"/>
                  </a:solidFill>
                  <a:latin typeface="Times New Roman" panose="02020603050405020304" pitchFamily="18" charset="0"/>
                </a:rPr>
                <a:t>I</a:t>
              </a:r>
              <a:r>
                <a:rPr kumimoji="1" lang="en-US" altLang="zh-CN" sz="2000" b="1" baseline="-25000">
                  <a:solidFill>
                    <a:srgbClr val="000048"/>
                  </a:solidFill>
                  <a:latin typeface="Times New Roman" panose="02020603050405020304" pitchFamily="18" charset="0"/>
                </a:rPr>
                <a:t>C</a:t>
              </a:r>
              <a:endParaRPr kumimoji="1" lang="en-US" altLang="zh-CN" sz="2000" b="1" i="1" baseline="-25000">
                <a:solidFill>
                  <a:srgbClr val="000048"/>
                </a:solidFill>
                <a:latin typeface="Times New Roman" panose="02020603050405020304" pitchFamily="18" charset="0"/>
              </a:endParaRPr>
            </a:p>
          </p:txBody>
        </p:sp>
      </p:grpSp>
      <p:grpSp>
        <p:nvGrpSpPr>
          <p:cNvPr id="11326" name="Group 62"/>
          <p:cNvGrpSpPr/>
          <p:nvPr/>
        </p:nvGrpSpPr>
        <p:grpSpPr bwMode="auto">
          <a:xfrm>
            <a:off x="1719263" y="2735263"/>
            <a:ext cx="512762" cy="369887"/>
            <a:chOff x="1197" y="3172"/>
            <a:chExt cx="323" cy="233"/>
          </a:xfrm>
        </p:grpSpPr>
        <p:sp>
          <p:nvSpPr>
            <p:cNvPr id="12316" name="Line 63"/>
            <p:cNvSpPr>
              <a:spLocks noChangeShapeType="1"/>
            </p:cNvSpPr>
            <p:nvPr/>
          </p:nvSpPr>
          <p:spPr bwMode="auto">
            <a:xfrm rot="16200000" flipH="1">
              <a:off x="1330" y="3163"/>
              <a:ext cx="182" cy="199"/>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7" name="Text Box 64"/>
            <p:cNvSpPr txBox="1">
              <a:spLocks noChangeArrowheads="1"/>
            </p:cNvSpPr>
            <p:nvPr/>
          </p:nvSpPr>
          <p:spPr bwMode="auto">
            <a:xfrm>
              <a:off x="1197" y="3223"/>
              <a:ext cx="314" cy="182"/>
            </a:xfrm>
            <a:prstGeom prst="rect">
              <a:avLst/>
            </a:prstGeom>
            <a:noFill/>
            <a:ln>
              <a:noFill/>
            </a:ln>
            <a:effectLst/>
            <a:extLst>
              <a:ext uri="{909E8E84-426E-40DD-AFC4-6F175D3DCCD1}">
                <a14:hiddenFill xmlns:a14="http://schemas.microsoft.com/office/drawing/2010/main">
                  <a:gradFill rotWithShape="1">
                    <a:gsLst>
                      <a:gs pos="0">
                        <a:srgbClr val="FF9933">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n-US" altLang="zh-CN" sz="2000" b="1" i="1">
                  <a:solidFill>
                    <a:srgbClr val="003300"/>
                  </a:solidFill>
                  <a:latin typeface="Times New Roman" panose="02020603050405020304" pitchFamily="18" charset="0"/>
                </a:rPr>
                <a:t>U</a:t>
              </a:r>
              <a:r>
                <a:rPr kumimoji="1" lang="en-US" altLang="zh-CN" sz="2000" b="1" baseline="-25000">
                  <a:solidFill>
                    <a:srgbClr val="003300"/>
                  </a:solidFill>
                  <a:latin typeface="Times New Roman" panose="02020603050405020304" pitchFamily="18" charset="0"/>
                </a:rPr>
                <a:t>BE</a:t>
              </a:r>
              <a:endParaRPr kumimoji="1" lang="en-US" altLang="zh-CN" sz="2000" b="1" i="1">
                <a:solidFill>
                  <a:srgbClr val="003300"/>
                </a:solidFill>
                <a:latin typeface="Times New Roman" panose="02020603050405020304" pitchFamily="18" charset="0"/>
              </a:endParaRPr>
            </a:p>
          </p:txBody>
        </p:sp>
      </p:grpSp>
      <p:sp>
        <p:nvSpPr>
          <p:cNvPr id="11329" name="AutoShape 65"/>
          <p:cNvSpPr>
            <a:spLocks noChangeArrowheads="1"/>
          </p:cNvSpPr>
          <p:nvPr/>
        </p:nvSpPr>
        <p:spPr bwMode="auto">
          <a:xfrm>
            <a:off x="4114800" y="3457575"/>
            <a:ext cx="944563" cy="312738"/>
          </a:xfrm>
          <a:prstGeom prst="wedgeRoundRectCallout">
            <a:avLst>
              <a:gd name="adj1" fmla="val -66639"/>
              <a:gd name="adj2" fmla="val -284481"/>
              <a:gd name="adj3" fmla="val 16667"/>
            </a:avLst>
          </a:prstGeom>
          <a:gradFill rotWithShape="1">
            <a:gsLst>
              <a:gs pos="0">
                <a:srgbClr val="CCFF99">
                  <a:alpha val="85999"/>
                </a:srgbClr>
              </a:gs>
              <a:gs pos="100000">
                <a:srgbClr val="FFFFFF">
                  <a:alpha val="0"/>
                </a:srgbClr>
              </a:gs>
            </a:gsLst>
            <a:lin ang="2700000" scaled="1"/>
          </a:gradFill>
          <a:ln w="952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36000">
            <a:spAutoFit/>
          </a:bodyPr>
          <a:lstStyle/>
          <a:p>
            <a:pPr>
              <a:lnSpc>
                <a:spcPct val="90000"/>
              </a:lnSpc>
            </a:pPr>
            <a:r>
              <a:rPr kumimoji="1" lang="zh-CN" altLang="en-US" b="1">
                <a:solidFill>
                  <a:srgbClr val="000048"/>
                </a:solidFill>
                <a:latin typeface="Times New Roman" panose="02020603050405020304" pitchFamily="18" charset="0"/>
                <a:ea typeface="楷体_GB2312" pitchFamily="49" charset="-122"/>
              </a:rPr>
              <a:t>增大</a:t>
            </a:r>
            <a:r>
              <a:rPr kumimoji="1" lang="en-US" altLang="zh-CN" b="1" i="1">
                <a:solidFill>
                  <a:srgbClr val="000048"/>
                </a:solidFill>
                <a:latin typeface="Times New Roman" panose="02020603050405020304" pitchFamily="18" charset="0"/>
                <a:ea typeface="楷体_GB2312" pitchFamily="49" charset="-122"/>
              </a:rPr>
              <a:t>U</a:t>
            </a:r>
            <a:r>
              <a:rPr kumimoji="1" lang="en-US" altLang="zh-CN" b="1" baseline="-25000">
                <a:solidFill>
                  <a:srgbClr val="000048"/>
                </a:solidFill>
                <a:latin typeface="Times New Roman" panose="02020603050405020304" pitchFamily="18" charset="0"/>
                <a:ea typeface="楷体_GB2312" pitchFamily="49" charset="-122"/>
              </a:rPr>
              <a:t>CC</a:t>
            </a:r>
          </a:p>
        </p:txBody>
      </p:sp>
      <p:sp>
        <p:nvSpPr>
          <p:cNvPr id="11330" name="AutoShape 66"/>
          <p:cNvSpPr>
            <a:spLocks noChangeArrowheads="1"/>
          </p:cNvSpPr>
          <p:nvPr/>
        </p:nvSpPr>
        <p:spPr bwMode="auto">
          <a:xfrm>
            <a:off x="3408363" y="684213"/>
            <a:ext cx="1484312" cy="312737"/>
          </a:xfrm>
          <a:prstGeom prst="wedgeRoundRectCallout">
            <a:avLst>
              <a:gd name="adj1" fmla="val -51389"/>
              <a:gd name="adj2" fmla="val 372333"/>
              <a:gd name="adj3" fmla="val 16667"/>
            </a:avLst>
          </a:prstGeom>
          <a:gradFill rotWithShape="1">
            <a:gsLst>
              <a:gs pos="0">
                <a:srgbClr val="CCFF99">
                  <a:alpha val="85999"/>
                </a:srgbClr>
              </a:gs>
              <a:gs pos="100000">
                <a:srgbClr val="FFFFFF">
                  <a:alpha val="0"/>
                </a:srgbClr>
              </a:gs>
            </a:gsLst>
            <a:lin ang="2700000" scaled="1"/>
          </a:gradFill>
          <a:ln w="952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36000">
            <a:spAutoFit/>
          </a:bodyPr>
          <a:lstStyle/>
          <a:p>
            <a:pPr>
              <a:lnSpc>
                <a:spcPct val="90000"/>
              </a:lnSpc>
            </a:pPr>
            <a:r>
              <a:rPr kumimoji="1" lang="zh-CN" altLang="en-US" b="1">
                <a:solidFill>
                  <a:srgbClr val="000048"/>
                </a:solidFill>
                <a:latin typeface="Times New Roman" panose="02020603050405020304" pitchFamily="18" charset="0"/>
                <a:ea typeface="楷体_GB2312" pitchFamily="49" charset="-122"/>
              </a:rPr>
              <a:t>让</a:t>
            </a:r>
            <a:r>
              <a:rPr kumimoji="1" lang="en-US" altLang="zh-CN" b="1" i="1">
                <a:solidFill>
                  <a:srgbClr val="000048"/>
                </a:solidFill>
                <a:latin typeface="Times New Roman" panose="02020603050405020304" pitchFamily="18" charset="0"/>
                <a:ea typeface="楷体_GB2312" pitchFamily="49" charset="-122"/>
              </a:rPr>
              <a:t>U</a:t>
            </a:r>
            <a:r>
              <a:rPr kumimoji="1" lang="en-US" altLang="zh-CN" b="1" baseline="-25000">
                <a:solidFill>
                  <a:srgbClr val="000048"/>
                </a:solidFill>
                <a:latin typeface="Times New Roman" panose="02020603050405020304" pitchFamily="18" charset="0"/>
                <a:ea typeface="楷体_GB2312" pitchFamily="49" charset="-122"/>
              </a:rPr>
              <a:t>CE</a:t>
            </a:r>
            <a:r>
              <a:rPr kumimoji="1" lang="en-US" altLang="zh-CN" b="1">
                <a:solidFill>
                  <a:srgbClr val="000048"/>
                </a:solidFill>
                <a:latin typeface="Times New Roman" panose="02020603050405020304" pitchFamily="18" charset="0"/>
                <a:ea typeface="楷体_GB2312" pitchFamily="49" charset="-122"/>
              </a:rPr>
              <a:t>=0.5V</a:t>
            </a:r>
            <a:endParaRPr kumimoji="1" lang="en-US" altLang="zh-CN" b="1" baseline="-25000">
              <a:solidFill>
                <a:srgbClr val="000048"/>
              </a:solidFill>
              <a:latin typeface="Times New Roman" panose="02020603050405020304" pitchFamily="18" charset="0"/>
              <a:ea typeface="楷体_GB2312" pitchFamily="49" charset="-122"/>
            </a:endParaRPr>
          </a:p>
        </p:txBody>
      </p:sp>
      <p:sp>
        <p:nvSpPr>
          <p:cNvPr id="11331" name="Oval 67"/>
          <p:cNvSpPr>
            <a:spLocks noChangeArrowheads="1"/>
          </p:cNvSpPr>
          <p:nvPr/>
        </p:nvSpPr>
        <p:spPr bwMode="auto">
          <a:xfrm>
            <a:off x="1555750" y="2527300"/>
            <a:ext cx="120650" cy="134938"/>
          </a:xfrm>
          <a:prstGeom prst="ellipse">
            <a:avLst/>
          </a:prstGeom>
          <a:solidFill>
            <a:srgbClr val="FF3300"/>
          </a:solidFill>
          <a:ln w="9525" algn="ctr">
            <a:solidFill>
              <a:srgbClr val="FF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ctr" eaLnBrk="1" hangingPunct="1"/>
            <a:endParaRPr lang="zh-CN" altLang="en-US"/>
          </a:p>
        </p:txBody>
      </p:sp>
      <p:sp>
        <p:nvSpPr>
          <p:cNvPr id="11332" name="Text Box 68"/>
          <p:cNvSpPr txBox="1">
            <a:spLocks noChangeArrowheads="1"/>
          </p:cNvSpPr>
          <p:nvPr/>
        </p:nvSpPr>
        <p:spPr bwMode="auto">
          <a:xfrm>
            <a:off x="2601913" y="2078038"/>
            <a:ext cx="1154112" cy="304800"/>
          </a:xfrm>
          <a:prstGeom prst="rect">
            <a:avLst/>
          </a:prstGeom>
          <a:solidFill>
            <a:srgbClr val="FFEAD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i="1">
                <a:solidFill>
                  <a:srgbClr val="000048"/>
                </a:solidFill>
                <a:latin typeface="Times New Roman" panose="02020603050405020304" pitchFamily="18" charset="0"/>
              </a:rPr>
              <a:t>U</a:t>
            </a:r>
            <a:r>
              <a:rPr kumimoji="1" lang="en-US" altLang="zh-CN" sz="2000" b="1" baseline="-25000">
                <a:solidFill>
                  <a:srgbClr val="000048"/>
                </a:solidFill>
                <a:latin typeface="Times New Roman" panose="02020603050405020304" pitchFamily="18" charset="0"/>
              </a:rPr>
              <a:t>CE </a:t>
            </a:r>
            <a:r>
              <a:rPr kumimoji="1" lang="en-US" altLang="zh-CN" sz="2000" b="1">
                <a:solidFill>
                  <a:srgbClr val="000048"/>
                </a:solidFill>
                <a:latin typeface="Times New Roman" panose="02020603050405020304" pitchFamily="18" charset="0"/>
              </a:rPr>
              <a:t>=1V</a:t>
            </a:r>
          </a:p>
        </p:txBody>
      </p:sp>
      <p:sp>
        <p:nvSpPr>
          <p:cNvPr id="11333" name="Line 69"/>
          <p:cNvSpPr>
            <a:spLocks noChangeShapeType="1"/>
          </p:cNvSpPr>
          <p:nvPr/>
        </p:nvSpPr>
        <p:spPr bwMode="auto">
          <a:xfrm flipV="1">
            <a:off x="3689350" y="2543175"/>
            <a:ext cx="525463" cy="623888"/>
          </a:xfrm>
          <a:prstGeom prst="line">
            <a:avLst/>
          </a:prstGeom>
          <a:noFill/>
          <a:ln w="349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34" name="Oval 70"/>
          <p:cNvSpPr>
            <a:spLocks noChangeArrowheads="1"/>
          </p:cNvSpPr>
          <p:nvPr/>
        </p:nvSpPr>
        <p:spPr bwMode="auto">
          <a:xfrm>
            <a:off x="2079625" y="2525713"/>
            <a:ext cx="120650" cy="134937"/>
          </a:xfrm>
          <a:prstGeom prst="ellipse">
            <a:avLst/>
          </a:prstGeom>
          <a:solidFill>
            <a:srgbClr val="FF3300"/>
          </a:solidFill>
          <a:ln w="9525" algn="ctr">
            <a:solidFill>
              <a:srgbClr val="FF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ctr" eaLnBrk="1" hangingPunct="1"/>
            <a:endParaRPr lang="zh-CN" altLang="en-US"/>
          </a:p>
        </p:txBody>
      </p:sp>
      <p:sp>
        <p:nvSpPr>
          <p:cNvPr id="11335" name="Freeform 71"/>
          <p:cNvSpPr/>
          <p:nvPr/>
        </p:nvSpPr>
        <p:spPr bwMode="auto">
          <a:xfrm>
            <a:off x="5876925" y="1073150"/>
            <a:ext cx="1028700" cy="2476500"/>
          </a:xfrm>
          <a:custGeom>
            <a:avLst/>
            <a:gdLst>
              <a:gd name="T0" fmla="*/ 0 w 648"/>
              <a:gd name="T1" fmla="*/ 2476500 h 1560"/>
              <a:gd name="T2" fmla="*/ 304800 w 648"/>
              <a:gd name="T3" fmla="*/ 2400300 h 1560"/>
              <a:gd name="T4" fmla="*/ 495300 w 648"/>
              <a:gd name="T5" fmla="*/ 2305050 h 1560"/>
              <a:gd name="T6" fmla="*/ 676275 w 648"/>
              <a:gd name="T7" fmla="*/ 2076450 h 1560"/>
              <a:gd name="T8" fmla="*/ 790575 w 648"/>
              <a:gd name="T9" fmla="*/ 1771650 h 1560"/>
              <a:gd name="T10" fmla="*/ 904875 w 648"/>
              <a:gd name="T11" fmla="*/ 1247775 h 1560"/>
              <a:gd name="T12" fmla="*/ 981075 w 648"/>
              <a:gd name="T13" fmla="*/ 581025 h 1560"/>
              <a:gd name="T14" fmla="*/ 1028700 w 648"/>
              <a:gd name="T15" fmla="*/ 0 h 156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8" h="1560">
                <a:moveTo>
                  <a:pt x="0" y="1560"/>
                </a:moveTo>
                <a:lnTo>
                  <a:pt x="192" y="1512"/>
                </a:lnTo>
                <a:lnTo>
                  <a:pt x="312" y="1452"/>
                </a:lnTo>
                <a:lnTo>
                  <a:pt x="426" y="1308"/>
                </a:lnTo>
                <a:lnTo>
                  <a:pt x="498" y="1116"/>
                </a:lnTo>
                <a:lnTo>
                  <a:pt x="570" y="786"/>
                </a:lnTo>
                <a:lnTo>
                  <a:pt x="618" y="366"/>
                </a:lnTo>
                <a:lnTo>
                  <a:pt x="648" y="0"/>
                </a:lnTo>
              </a:path>
            </a:pathLst>
          </a:custGeom>
          <a:noFill/>
          <a:ln w="3810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6" name="Text Box 72"/>
          <p:cNvSpPr txBox="1">
            <a:spLocks noChangeArrowheads="1"/>
          </p:cNvSpPr>
          <p:nvPr/>
        </p:nvSpPr>
        <p:spPr bwMode="auto">
          <a:xfrm rot="-4796198">
            <a:off x="6076156" y="2097882"/>
            <a:ext cx="10588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U</a:t>
            </a:r>
            <a:r>
              <a:rPr kumimoji="1" lang="en-US" altLang="zh-CN" sz="2000" b="1" baseline="-25000">
                <a:solidFill>
                  <a:srgbClr val="000048"/>
                </a:solidFill>
                <a:latin typeface="Times New Roman" panose="02020603050405020304" pitchFamily="18" charset="0"/>
              </a:rPr>
              <a:t>CE</a:t>
            </a:r>
            <a:r>
              <a:rPr kumimoji="1" lang="en-US" altLang="zh-CN" sz="2000" b="1">
                <a:solidFill>
                  <a:srgbClr val="000048"/>
                </a:solidFill>
                <a:latin typeface="Times New Roman" panose="02020603050405020304" pitchFamily="18" charset="0"/>
              </a:rPr>
              <a:t>=0.5V</a:t>
            </a:r>
          </a:p>
        </p:txBody>
      </p:sp>
      <p:sp>
        <p:nvSpPr>
          <p:cNvPr id="11337" name="AutoShape 73"/>
          <p:cNvSpPr>
            <a:spLocks noChangeArrowheads="1"/>
          </p:cNvSpPr>
          <p:nvPr/>
        </p:nvSpPr>
        <p:spPr bwMode="auto">
          <a:xfrm>
            <a:off x="7110413" y="1377950"/>
            <a:ext cx="1289050" cy="581025"/>
          </a:xfrm>
          <a:prstGeom prst="wedgeRoundRectCallout">
            <a:avLst>
              <a:gd name="adj1" fmla="val -72537"/>
              <a:gd name="adj2" fmla="val 132787"/>
              <a:gd name="adj3" fmla="val 16667"/>
            </a:avLst>
          </a:prstGeom>
          <a:gradFill rotWithShape="1">
            <a:gsLst>
              <a:gs pos="0">
                <a:srgbClr val="CCFF99">
                  <a:alpha val="85999"/>
                </a:srgbClr>
              </a:gs>
              <a:gs pos="100000">
                <a:srgbClr val="FFFFFF">
                  <a:alpha val="0"/>
                </a:srgbClr>
              </a:gs>
            </a:gsLst>
            <a:lin ang="2700000" scaled="1"/>
          </a:gradFill>
          <a:ln w="952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36000">
            <a:spAutoFit/>
          </a:bodyPr>
          <a:lstStyle/>
          <a:p>
            <a:pPr>
              <a:lnSpc>
                <a:spcPct val="90000"/>
              </a:lnSpc>
            </a:pPr>
            <a:r>
              <a:rPr kumimoji="1" lang="en-US" altLang="zh-CN" b="1" i="1">
                <a:solidFill>
                  <a:srgbClr val="000048"/>
                </a:solidFill>
                <a:latin typeface="Times New Roman" panose="02020603050405020304" pitchFamily="18" charset="0"/>
                <a:ea typeface="楷体_GB2312" pitchFamily="49" charset="-122"/>
              </a:rPr>
              <a:t>U</a:t>
            </a:r>
            <a:r>
              <a:rPr kumimoji="1" lang="en-US" altLang="zh-CN" b="1" baseline="-25000">
                <a:solidFill>
                  <a:srgbClr val="000048"/>
                </a:solidFill>
                <a:latin typeface="Times New Roman" panose="02020603050405020304" pitchFamily="18" charset="0"/>
                <a:ea typeface="楷体_GB2312" pitchFamily="49" charset="-122"/>
              </a:rPr>
              <a:t>CE</a:t>
            </a:r>
            <a:r>
              <a:rPr kumimoji="1" lang="en-US" altLang="zh-CN" b="1">
                <a:solidFill>
                  <a:srgbClr val="000048"/>
                </a:solidFill>
                <a:latin typeface="Times New Roman" panose="02020603050405020304" pitchFamily="18" charset="0"/>
                <a:ea typeface="楷体_GB2312" pitchFamily="49" charset="-122"/>
              </a:rPr>
              <a:t>=0.5V</a:t>
            </a:r>
            <a:r>
              <a:rPr kumimoji="1" lang="zh-CN" altLang="en-US" b="1">
                <a:solidFill>
                  <a:srgbClr val="000048"/>
                </a:solidFill>
                <a:latin typeface="Times New Roman" panose="02020603050405020304" pitchFamily="18" charset="0"/>
                <a:ea typeface="楷体_GB2312" pitchFamily="49" charset="-122"/>
              </a:rPr>
              <a:t>的特性曲线</a:t>
            </a:r>
            <a:endParaRPr kumimoji="1" lang="zh-CN" altLang="en-US" b="1" baseline="-25000">
              <a:solidFill>
                <a:srgbClr val="000048"/>
              </a:solidFill>
              <a:latin typeface="Times New Roman" panose="02020603050405020304" pitchFamily="18" charset="0"/>
              <a:ea typeface="楷体_GB2312" pitchFamily="49" charset="-122"/>
            </a:endParaRPr>
          </a:p>
        </p:txBody>
      </p:sp>
      <p:sp>
        <p:nvSpPr>
          <p:cNvPr id="11338" name="AutoShape 74"/>
          <p:cNvSpPr>
            <a:spLocks noChangeArrowheads="1"/>
          </p:cNvSpPr>
          <p:nvPr/>
        </p:nvSpPr>
        <p:spPr bwMode="auto">
          <a:xfrm>
            <a:off x="4203700" y="3267075"/>
            <a:ext cx="914400" cy="581025"/>
          </a:xfrm>
          <a:prstGeom prst="wedgeRoundRectCallout">
            <a:avLst>
              <a:gd name="adj1" fmla="val -73440"/>
              <a:gd name="adj2" fmla="val -113116"/>
              <a:gd name="adj3" fmla="val 16667"/>
            </a:avLst>
          </a:prstGeom>
          <a:gradFill rotWithShape="1">
            <a:gsLst>
              <a:gs pos="0">
                <a:srgbClr val="CCFF99">
                  <a:alpha val="85999"/>
                </a:srgbClr>
              </a:gs>
              <a:gs pos="100000">
                <a:srgbClr val="FFFFFF">
                  <a:alpha val="0"/>
                </a:srgbClr>
              </a:gs>
            </a:gsLst>
            <a:lin ang="2700000" scaled="1"/>
          </a:gradFill>
          <a:ln w="952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36000">
            <a:spAutoFit/>
          </a:bodyPr>
          <a:lstStyle/>
          <a:p>
            <a:pPr>
              <a:lnSpc>
                <a:spcPct val="90000"/>
              </a:lnSpc>
            </a:pPr>
            <a:r>
              <a:rPr kumimoji="1" lang="zh-CN" altLang="en-US" b="1">
                <a:solidFill>
                  <a:srgbClr val="000048"/>
                </a:solidFill>
                <a:latin typeface="Times New Roman" panose="02020603050405020304" pitchFamily="18" charset="0"/>
                <a:ea typeface="楷体_GB2312" pitchFamily="49" charset="-122"/>
              </a:rPr>
              <a:t>继续增大</a:t>
            </a:r>
            <a:r>
              <a:rPr kumimoji="1" lang="en-US" altLang="zh-CN" b="1" i="1">
                <a:solidFill>
                  <a:srgbClr val="000048"/>
                </a:solidFill>
                <a:latin typeface="Times New Roman" panose="02020603050405020304" pitchFamily="18" charset="0"/>
                <a:ea typeface="楷体_GB2312" pitchFamily="49" charset="-122"/>
              </a:rPr>
              <a:t>U</a:t>
            </a:r>
            <a:r>
              <a:rPr kumimoji="1" lang="en-US" altLang="zh-CN" b="1" baseline="-25000">
                <a:solidFill>
                  <a:srgbClr val="000048"/>
                </a:solidFill>
                <a:latin typeface="Times New Roman" panose="02020603050405020304" pitchFamily="18" charset="0"/>
                <a:ea typeface="楷体_GB2312" pitchFamily="49" charset="-122"/>
              </a:rPr>
              <a:t>CC</a:t>
            </a:r>
          </a:p>
        </p:txBody>
      </p:sp>
      <p:sp>
        <p:nvSpPr>
          <p:cNvPr id="11339" name="AutoShape 75"/>
          <p:cNvSpPr>
            <a:spLocks noChangeArrowheads="1"/>
          </p:cNvSpPr>
          <p:nvPr/>
        </p:nvSpPr>
        <p:spPr bwMode="auto">
          <a:xfrm>
            <a:off x="3317875" y="728663"/>
            <a:ext cx="1484313" cy="312737"/>
          </a:xfrm>
          <a:prstGeom prst="wedgeRoundRectCallout">
            <a:avLst>
              <a:gd name="adj1" fmla="val -51389"/>
              <a:gd name="adj2" fmla="val 372333"/>
              <a:gd name="adj3" fmla="val 16667"/>
            </a:avLst>
          </a:prstGeom>
          <a:gradFill rotWithShape="1">
            <a:gsLst>
              <a:gs pos="0">
                <a:srgbClr val="CCFF99">
                  <a:alpha val="85999"/>
                </a:srgbClr>
              </a:gs>
              <a:gs pos="100000">
                <a:srgbClr val="FFFFFF">
                  <a:alpha val="0"/>
                </a:srgbClr>
              </a:gs>
            </a:gsLst>
            <a:lin ang="2700000" scaled="1"/>
          </a:gradFill>
          <a:ln w="952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36000">
            <a:spAutoFit/>
          </a:bodyPr>
          <a:lstStyle/>
          <a:p>
            <a:pPr>
              <a:lnSpc>
                <a:spcPct val="90000"/>
              </a:lnSpc>
            </a:pPr>
            <a:r>
              <a:rPr kumimoji="1" lang="zh-CN" altLang="en-US" b="1">
                <a:solidFill>
                  <a:srgbClr val="000048"/>
                </a:solidFill>
                <a:latin typeface="Times New Roman" panose="02020603050405020304" pitchFamily="18" charset="0"/>
                <a:ea typeface="楷体_GB2312" pitchFamily="49" charset="-122"/>
              </a:rPr>
              <a:t>让</a:t>
            </a:r>
            <a:r>
              <a:rPr kumimoji="1" lang="en-US" altLang="zh-CN" b="1" i="1">
                <a:solidFill>
                  <a:srgbClr val="000048"/>
                </a:solidFill>
                <a:latin typeface="Times New Roman" panose="02020603050405020304" pitchFamily="18" charset="0"/>
                <a:ea typeface="楷体_GB2312" pitchFamily="49" charset="-122"/>
              </a:rPr>
              <a:t>U</a:t>
            </a:r>
            <a:r>
              <a:rPr kumimoji="1" lang="en-US" altLang="zh-CN" b="1" baseline="-25000">
                <a:solidFill>
                  <a:srgbClr val="000048"/>
                </a:solidFill>
                <a:latin typeface="Times New Roman" panose="02020603050405020304" pitchFamily="18" charset="0"/>
                <a:ea typeface="楷体_GB2312" pitchFamily="49" charset="-122"/>
              </a:rPr>
              <a:t>CE</a:t>
            </a:r>
            <a:r>
              <a:rPr kumimoji="1" lang="en-US" altLang="zh-CN" b="1">
                <a:solidFill>
                  <a:srgbClr val="000048"/>
                </a:solidFill>
                <a:latin typeface="Times New Roman" panose="02020603050405020304" pitchFamily="18" charset="0"/>
                <a:ea typeface="楷体_GB2312" pitchFamily="49" charset="-122"/>
              </a:rPr>
              <a:t>=1V</a:t>
            </a:r>
            <a:endParaRPr kumimoji="1" lang="en-US" altLang="zh-CN" b="1" baseline="-25000">
              <a:solidFill>
                <a:srgbClr val="000048"/>
              </a:solidFill>
              <a:latin typeface="Times New Roman" panose="02020603050405020304" pitchFamily="18" charset="0"/>
              <a:ea typeface="楷体_GB2312" pitchFamily="49" charset="-122"/>
            </a:endParaRPr>
          </a:p>
        </p:txBody>
      </p:sp>
      <p:sp>
        <p:nvSpPr>
          <p:cNvPr id="11340" name="AutoShape 76"/>
          <p:cNvSpPr>
            <a:spLocks noChangeArrowheads="1"/>
          </p:cNvSpPr>
          <p:nvPr/>
        </p:nvSpPr>
        <p:spPr bwMode="auto">
          <a:xfrm>
            <a:off x="611188" y="1079500"/>
            <a:ext cx="922337" cy="811213"/>
          </a:xfrm>
          <a:prstGeom prst="wedgeRoundRectCallout">
            <a:avLst>
              <a:gd name="adj1" fmla="val -26250"/>
              <a:gd name="adj2" fmla="val 192856"/>
              <a:gd name="adj3" fmla="val 16667"/>
            </a:avLst>
          </a:prstGeom>
          <a:gradFill rotWithShape="1">
            <a:gsLst>
              <a:gs pos="0">
                <a:srgbClr val="CCFF99">
                  <a:alpha val="85999"/>
                </a:srgbClr>
              </a:gs>
              <a:gs pos="100000">
                <a:srgbClr val="FFFFFF">
                  <a:alpha val="0"/>
                </a:srgbClr>
              </a:gs>
            </a:gsLst>
            <a:lin ang="2700000" scaled="1"/>
          </a:gradFill>
          <a:ln w="952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nSpc>
                <a:spcPct val="90000"/>
              </a:lnSpc>
            </a:pPr>
            <a:r>
              <a:rPr kumimoji="1" lang="zh-CN" altLang="en-US" b="1">
                <a:solidFill>
                  <a:srgbClr val="000048"/>
                </a:solidFill>
                <a:latin typeface="Times New Roman" panose="02020603050405020304" pitchFamily="18" charset="0"/>
                <a:ea typeface="楷体_GB2312" pitchFamily="49" charset="-122"/>
              </a:rPr>
              <a:t>令</a:t>
            </a:r>
            <a:r>
              <a:rPr kumimoji="1" lang="en-US" altLang="zh-CN" b="1" i="1">
                <a:solidFill>
                  <a:srgbClr val="000048"/>
                </a:solidFill>
                <a:latin typeface="Times New Roman" panose="02020603050405020304" pitchFamily="18" charset="0"/>
                <a:ea typeface="楷体_GB2312" pitchFamily="49" charset="-122"/>
              </a:rPr>
              <a:t>U</a:t>
            </a:r>
            <a:r>
              <a:rPr kumimoji="1" lang="en-US" altLang="zh-CN" b="1" baseline="-25000">
                <a:solidFill>
                  <a:srgbClr val="000048"/>
                </a:solidFill>
                <a:latin typeface="Times New Roman" panose="02020603050405020304" pitchFamily="18" charset="0"/>
                <a:ea typeface="楷体_GB2312" pitchFamily="49" charset="-122"/>
              </a:rPr>
              <a:t>BB</a:t>
            </a:r>
            <a:r>
              <a:rPr kumimoji="1" lang="zh-CN" altLang="en-US" b="1">
                <a:solidFill>
                  <a:srgbClr val="000048"/>
                </a:solidFill>
                <a:latin typeface="Times New Roman" panose="02020603050405020304" pitchFamily="18" charset="0"/>
                <a:ea typeface="楷体_GB2312" pitchFamily="49" charset="-122"/>
              </a:rPr>
              <a:t>重新从</a:t>
            </a:r>
            <a:r>
              <a:rPr kumimoji="1" lang="en-US" altLang="zh-CN" b="1">
                <a:solidFill>
                  <a:srgbClr val="000048"/>
                </a:solidFill>
                <a:latin typeface="Times New Roman" panose="02020603050405020304" pitchFamily="18" charset="0"/>
                <a:ea typeface="楷体_GB2312" pitchFamily="49" charset="-122"/>
              </a:rPr>
              <a:t>0</a:t>
            </a:r>
            <a:r>
              <a:rPr kumimoji="1" lang="zh-CN" altLang="en-US" b="1">
                <a:solidFill>
                  <a:srgbClr val="000048"/>
                </a:solidFill>
                <a:latin typeface="Times New Roman" panose="02020603050405020304" pitchFamily="18" charset="0"/>
                <a:ea typeface="楷体_GB2312" pitchFamily="49" charset="-122"/>
              </a:rPr>
              <a:t>开始增加</a:t>
            </a:r>
            <a:endParaRPr kumimoji="1" lang="zh-CN" altLang="en-US" b="1" baseline="-25000">
              <a:solidFill>
                <a:srgbClr val="000048"/>
              </a:solidFill>
              <a:latin typeface="Times New Roman" panose="02020603050405020304" pitchFamily="18" charset="0"/>
              <a:ea typeface="楷体_GB2312" pitchFamily="49" charset="-122"/>
            </a:endParaRPr>
          </a:p>
        </p:txBody>
      </p:sp>
      <p:sp>
        <p:nvSpPr>
          <p:cNvPr id="11341" name="Freeform 77"/>
          <p:cNvSpPr/>
          <p:nvPr/>
        </p:nvSpPr>
        <p:spPr bwMode="auto">
          <a:xfrm>
            <a:off x="6183313" y="1076325"/>
            <a:ext cx="1028700" cy="2476500"/>
          </a:xfrm>
          <a:custGeom>
            <a:avLst/>
            <a:gdLst>
              <a:gd name="T0" fmla="*/ 0 w 648"/>
              <a:gd name="T1" fmla="*/ 2476500 h 1560"/>
              <a:gd name="T2" fmla="*/ 304800 w 648"/>
              <a:gd name="T3" fmla="*/ 2400300 h 1560"/>
              <a:gd name="T4" fmla="*/ 495300 w 648"/>
              <a:gd name="T5" fmla="*/ 2305050 h 1560"/>
              <a:gd name="T6" fmla="*/ 676275 w 648"/>
              <a:gd name="T7" fmla="*/ 2076450 h 1560"/>
              <a:gd name="T8" fmla="*/ 790575 w 648"/>
              <a:gd name="T9" fmla="*/ 1771650 h 1560"/>
              <a:gd name="T10" fmla="*/ 904875 w 648"/>
              <a:gd name="T11" fmla="*/ 1247775 h 1560"/>
              <a:gd name="T12" fmla="*/ 981075 w 648"/>
              <a:gd name="T13" fmla="*/ 581025 h 1560"/>
              <a:gd name="T14" fmla="*/ 1028700 w 648"/>
              <a:gd name="T15" fmla="*/ 0 h 156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8" h="1560">
                <a:moveTo>
                  <a:pt x="0" y="1560"/>
                </a:moveTo>
                <a:lnTo>
                  <a:pt x="192" y="1512"/>
                </a:lnTo>
                <a:lnTo>
                  <a:pt x="312" y="1452"/>
                </a:lnTo>
                <a:lnTo>
                  <a:pt x="426" y="1308"/>
                </a:lnTo>
                <a:lnTo>
                  <a:pt x="498" y="1116"/>
                </a:lnTo>
                <a:lnTo>
                  <a:pt x="570" y="786"/>
                </a:lnTo>
                <a:lnTo>
                  <a:pt x="618" y="366"/>
                </a:lnTo>
                <a:lnTo>
                  <a:pt x="648" y="0"/>
                </a:lnTo>
              </a:path>
            </a:pathLst>
          </a:custGeom>
          <a:noFill/>
          <a:ln w="3810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42" name="Text Box 78"/>
          <p:cNvSpPr txBox="1">
            <a:spLocks noChangeArrowheads="1"/>
          </p:cNvSpPr>
          <p:nvPr/>
        </p:nvSpPr>
        <p:spPr bwMode="auto">
          <a:xfrm rot="-4796198">
            <a:off x="6423818" y="2409032"/>
            <a:ext cx="8683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U</a:t>
            </a:r>
            <a:r>
              <a:rPr kumimoji="1" lang="en-US" altLang="zh-CN" sz="2000" b="1" baseline="-25000">
                <a:solidFill>
                  <a:srgbClr val="000048"/>
                </a:solidFill>
                <a:latin typeface="Times New Roman" panose="02020603050405020304" pitchFamily="18" charset="0"/>
              </a:rPr>
              <a:t>CE</a:t>
            </a:r>
            <a:r>
              <a:rPr kumimoji="1" lang="en-US" altLang="zh-CN" sz="2000" b="1">
                <a:solidFill>
                  <a:srgbClr val="000048"/>
                </a:solidFill>
                <a:latin typeface="Times New Roman" panose="02020603050405020304" pitchFamily="18" charset="0"/>
              </a:rPr>
              <a:t>=1V</a:t>
            </a:r>
          </a:p>
        </p:txBody>
      </p:sp>
      <p:sp>
        <p:nvSpPr>
          <p:cNvPr id="11343" name="AutoShape 79"/>
          <p:cNvSpPr>
            <a:spLocks noChangeArrowheads="1"/>
          </p:cNvSpPr>
          <p:nvPr/>
        </p:nvSpPr>
        <p:spPr bwMode="auto">
          <a:xfrm>
            <a:off x="7245350" y="1498600"/>
            <a:ext cx="1289050" cy="581025"/>
          </a:xfrm>
          <a:prstGeom prst="wedgeRoundRectCallout">
            <a:avLst>
              <a:gd name="adj1" fmla="val -64407"/>
              <a:gd name="adj2" fmla="val 142898"/>
              <a:gd name="adj3" fmla="val 16667"/>
            </a:avLst>
          </a:prstGeom>
          <a:gradFill rotWithShape="1">
            <a:gsLst>
              <a:gs pos="0">
                <a:srgbClr val="CCFF99">
                  <a:alpha val="85999"/>
                </a:srgbClr>
              </a:gs>
              <a:gs pos="100000">
                <a:srgbClr val="FFFFFF">
                  <a:alpha val="0"/>
                </a:srgbClr>
              </a:gs>
            </a:gsLst>
            <a:lin ang="2700000" scaled="1"/>
          </a:gradFill>
          <a:ln w="952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36000">
            <a:spAutoFit/>
          </a:bodyPr>
          <a:lstStyle/>
          <a:p>
            <a:pPr>
              <a:lnSpc>
                <a:spcPct val="90000"/>
              </a:lnSpc>
            </a:pPr>
            <a:r>
              <a:rPr kumimoji="1" lang="en-US" altLang="zh-CN" b="1" i="1">
                <a:solidFill>
                  <a:srgbClr val="000048"/>
                </a:solidFill>
                <a:latin typeface="Times New Roman" panose="02020603050405020304" pitchFamily="18" charset="0"/>
                <a:ea typeface="楷体_GB2312" pitchFamily="49" charset="-122"/>
              </a:rPr>
              <a:t>U</a:t>
            </a:r>
            <a:r>
              <a:rPr kumimoji="1" lang="en-US" altLang="zh-CN" b="1" baseline="-25000">
                <a:solidFill>
                  <a:srgbClr val="000048"/>
                </a:solidFill>
                <a:latin typeface="Times New Roman" panose="02020603050405020304" pitchFamily="18" charset="0"/>
                <a:ea typeface="楷体_GB2312" pitchFamily="49" charset="-122"/>
              </a:rPr>
              <a:t>CE</a:t>
            </a:r>
            <a:r>
              <a:rPr kumimoji="1" lang="en-US" altLang="zh-CN" b="1">
                <a:solidFill>
                  <a:srgbClr val="000048"/>
                </a:solidFill>
                <a:latin typeface="Times New Roman" panose="02020603050405020304" pitchFamily="18" charset="0"/>
                <a:ea typeface="楷体_GB2312" pitchFamily="49" charset="-122"/>
              </a:rPr>
              <a:t>=1V</a:t>
            </a:r>
            <a:r>
              <a:rPr kumimoji="1" lang="zh-CN" altLang="en-US" b="1">
                <a:solidFill>
                  <a:srgbClr val="000048"/>
                </a:solidFill>
                <a:latin typeface="Times New Roman" panose="02020603050405020304" pitchFamily="18" charset="0"/>
                <a:ea typeface="楷体_GB2312" pitchFamily="49" charset="-122"/>
              </a:rPr>
              <a:t>的特性曲线</a:t>
            </a:r>
            <a:endParaRPr kumimoji="1" lang="zh-CN" altLang="en-US" b="1" baseline="-25000">
              <a:solidFill>
                <a:srgbClr val="000048"/>
              </a:solidFill>
              <a:latin typeface="Times New Roman" panose="02020603050405020304" pitchFamily="18" charset="0"/>
              <a:ea typeface="楷体_GB2312" pitchFamily="49" charset="-122"/>
            </a:endParaRPr>
          </a:p>
        </p:txBody>
      </p:sp>
      <p:sp>
        <p:nvSpPr>
          <p:cNvPr id="11344" name="Text Box 80"/>
          <p:cNvSpPr txBox="1">
            <a:spLocks noChangeArrowheads="1"/>
          </p:cNvSpPr>
          <p:nvPr/>
        </p:nvSpPr>
        <p:spPr bwMode="auto">
          <a:xfrm>
            <a:off x="625475" y="3954463"/>
            <a:ext cx="7921625" cy="1095375"/>
          </a:xfrm>
          <a:prstGeom prst="rect">
            <a:avLst/>
          </a:prstGeom>
          <a:noFill/>
          <a:ln>
            <a:noFill/>
          </a:ln>
          <a:effectLst/>
          <a:extLst>
            <a:ext uri="{909E8E84-426E-40DD-AFC4-6F175D3DCCD1}">
              <a14:hiddenFill xmlns:a14="http://schemas.microsoft.com/office/drawing/2010/main">
                <a:gradFill rotWithShape="1">
                  <a:gsLst>
                    <a:gs pos="0">
                      <a:srgbClr val="FFFFFF">
                        <a:alpha val="0"/>
                      </a:srgbClr>
                    </a:gs>
                    <a:gs pos="100000">
                      <a:srgbClr val="FFFF99"/>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kumimoji="1" lang="en-US" altLang="zh-CN" sz="2400">
                <a:solidFill>
                  <a:srgbClr val="000048"/>
                </a:solidFill>
                <a:latin typeface="Times New Roman" panose="02020603050405020304" pitchFamily="18" charset="0"/>
                <a:ea typeface="隶书" panose="02010509060101010101" pitchFamily="49" charset="-122"/>
              </a:rPr>
              <a:t>    </a:t>
            </a:r>
            <a:r>
              <a:rPr kumimoji="1" lang="zh-CN" altLang="en-US" sz="2400">
                <a:solidFill>
                  <a:srgbClr val="000048"/>
                </a:solidFill>
                <a:latin typeface="Times New Roman" panose="02020603050405020304" pitchFamily="18" charset="0"/>
                <a:ea typeface="隶书" panose="02010509060101010101" pitchFamily="49" charset="-122"/>
              </a:rPr>
              <a:t>继续增大</a:t>
            </a:r>
            <a:r>
              <a:rPr kumimoji="1" lang="en-US" altLang="zh-CN" sz="2400" b="1" i="1">
                <a:solidFill>
                  <a:srgbClr val="000048"/>
                </a:solidFill>
                <a:latin typeface="Times New Roman" panose="02020603050405020304" pitchFamily="18" charset="0"/>
                <a:ea typeface="隶书" panose="02010509060101010101" pitchFamily="49" charset="-122"/>
              </a:rPr>
              <a:t>U</a:t>
            </a:r>
            <a:r>
              <a:rPr kumimoji="1" lang="en-US" altLang="zh-CN" sz="2400" b="1" baseline="-25000">
                <a:solidFill>
                  <a:srgbClr val="000048"/>
                </a:solidFill>
                <a:latin typeface="Times New Roman" panose="02020603050405020304" pitchFamily="18" charset="0"/>
                <a:ea typeface="隶书" panose="02010509060101010101" pitchFamily="49" charset="-122"/>
              </a:rPr>
              <a:t>CC</a:t>
            </a:r>
            <a:r>
              <a:rPr kumimoji="1" lang="zh-CN" altLang="en-US" sz="2400">
                <a:solidFill>
                  <a:srgbClr val="000048"/>
                </a:solidFill>
                <a:latin typeface="Times New Roman" panose="02020603050405020304" pitchFamily="18" charset="0"/>
                <a:ea typeface="隶书" panose="02010509060101010101" pitchFamily="49" charset="-122"/>
              </a:rPr>
              <a:t>使</a:t>
            </a:r>
            <a:r>
              <a:rPr kumimoji="1" lang="en-US" altLang="zh-CN" sz="2400" i="1">
                <a:solidFill>
                  <a:srgbClr val="000048"/>
                </a:solidFill>
                <a:latin typeface="Times New Roman" panose="02020603050405020304" pitchFamily="18" charset="0"/>
                <a:ea typeface="隶书" panose="02010509060101010101" pitchFamily="49" charset="-122"/>
              </a:rPr>
              <a:t>U</a:t>
            </a:r>
            <a:r>
              <a:rPr kumimoji="1" lang="en-US" altLang="zh-CN" sz="2400" baseline="-25000">
                <a:solidFill>
                  <a:srgbClr val="000048"/>
                </a:solidFill>
                <a:latin typeface="Times New Roman" panose="02020603050405020304" pitchFamily="18" charset="0"/>
                <a:ea typeface="隶书" panose="02010509060101010101" pitchFamily="49" charset="-122"/>
              </a:rPr>
              <a:t>CE</a:t>
            </a:r>
            <a:r>
              <a:rPr kumimoji="1" lang="en-US" altLang="zh-CN" sz="2400">
                <a:solidFill>
                  <a:srgbClr val="000048"/>
                </a:solidFill>
                <a:latin typeface="Times New Roman" panose="02020603050405020304" pitchFamily="18" charset="0"/>
                <a:ea typeface="隶书" panose="02010509060101010101" pitchFamily="49" charset="-122"/>
              </a:rPr>
              <a:t>=1V</a:t>
            </a:r>
            <a:r>
              <a:rPr kumimoji="1" lang="zh-CN" altLang="en-US" sz="2400">
                <a:solidFill>
                  <a:srgbClr val="000048"/>
                </a:solidFill>
                <a:latin typeface="Times New Roman" panose="02020603050405020304" pitchFamily="18" charset="0"/>
                <a:ea typeface="隶书" panose="02010509060101010101" pitchFamily="49" charset="-122"/>
              </a:rPr>
              <a:t>以上的多个值，结果发现：之后</a:t>
            </a:r>
          </a:p>
          <a:p>
            <a:pPr algn="l"/>
            <a:r>
              <a:rPr kumimoji="1" lang="zh-CN" altLang="en-US" sz="2400">
                <a:solidFill>
                  <a:srgbClr val="000048"/>
                </a:solidFill>
                <a:latin typeface="Times New Roman" panose="02020603050405020304" pitchFamily="18" charset="0"/>
                <a:ea typeface="隶书" panose="02010509060101010101" pitchFamily="49" charset="-122"/>
              </a:rPr>
              <a:t>的所有输入特性几乎都与</a:t>
            </a:r>
            <a:r>
              <a:rPr kumimoji="1" lang="en-US" altLang="zh-CN" sz="2400" b="1" i="1">
                <a:solidFill>
                  <a:srgbClr val="000048"/>
                </a:solidFill>
                <a:latin typeface="Times New Roman" panose="02020603050405020304" pitchFamily="18" charset="0"/>
                <a:ea typeface="隶书" panose="02010509060101010101" pitchFamily="49" charset="-122"/>
              </a:rPr>
              <a:t>U</a:t>
            </a:r>
            <a:r>
              <a:rPr kumimoji="1" lang="en-US" altLang="zh-CN" sz="2400" b="1" baseline="-25000">
                <a:solidFill>
                  <a:srgbClr val="000048"/>
                </a:solidFill>
                <a:latin typeface="Times New Roman" panose="02020603050405020304" pitchFamily="18" charset="0"/>
                <a:ea typeface="隶书" panose="02010509060101010101" pitchFamily="49" charset="-122"/>
              </a:rPr>
              <a:t>CE</a:t>
            </a:r>
            <a:r>
              <a:rPr kumimoji="1" lang="en-US" altLang="zh-CN" sz="2400" b="1">
                <a:solidFill>
                  <a:srgbClr val="000048"/>
                </a:solidFill>
                <a:latin typeface="Times New Roman" panose="02020603050405020304" pitchFamily="18" charset="0"/>
                <a:ea typeface="隶书" panose="02010509060101010101" pitchFamily="49" charset="-122"/>
              </a:rPr>
              <a:t>=</a:t>
            </a:r>
            <a:r>
              <a:rPr kumimoji="1" lang="en-US" altLang="zh-CN" sz="2400">
                <a:solidFill>
                  <a:srgbClr val="000048"/>
                </a:solidFill>
                <a:latin typeface="Times New Roman" panose="02020603050405020304" pitchFamily="18" charset="0"/>
                <a:ea typeface="隶书" panose="02010509060101010101" pitchFamily="49" charset="-122"/>
              </a:rPr>
              <a:t>1V</a:t>
            </a:r>
            <a:r>
              <a:rPr kumimoji="1" lang="zh-CN" altLang="en-US" sz="2400">
                <a:solidFill>
                  <a:srgbClr val="000048"/>
                </a:solidFill>
                <a:latin typeface="Times New Roman" panose="02020603050405020304" pitchFamily="18" charset="0"/>
                <a:ea typeface="隶书" panose="02010509060101010101" pitchFamily="49" charset="-122"/>
              </a:rPr>
              <a:t>的特性相同，曲线基本不</a:t>
            </a:r>
          </a:p>
          <a:p>
            <a:pPr algn="l"/>
            <a:r>
              <a:rPr kumimoji="1" lang="zh-CN" altLang="en-US" sz="2400">
                <a:solidFill>
                  <a:srgbClr val="000048"/>
                </a:solidFill>
                <a:latin typeface="Times New Roman" panose="02020603050405020304" pitchFamily="18" charset="0"/>
                <a:ea typeface="隶书" panose="02010509060101010101" pitchFamily="49" charset="-122"/>
              </a:rPr>
              <a:t>再变化。</a:t>
            </a:r>
          </a:p>
        </p:txBody>
      </p:sp>
      <p:sp>
        <p:nvSpPr>
          <p:cNvPr id="11345" name="Text Box 81"/>
          <p:cNvSpPr txBox="1">
            <a:spLocks noChangeArrowheads="1"/>
          </p:cNvSpPr>
          <p:nvPr/>
        </p:nvSpPr>
        <p:spPr bwMode="auto">
          <a:xfrm>
            <a:off x="654050" y="5078413"/>
            <a:ext cx="7921625" cy="1095375"/>
          </a:xfrm>
          <a:prstGeom prst="rect">
            <a:avLst/>
          </a:prstGeom>
          <a:gradFill rotWithShape="1">
            <a:gsLst>
              <a:gs pos="0">
                <a:srgbClr val="FFFFFF">
                  <a:alpha val="0"/>
                </a:srgbClr>
              </a:gs>
              <a:gs pos="100000">
                <a:srgbClr val="FFFF99"/>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kumimoji="1" lang="en-US" altLang="zh-CN" sz="2400">
                <a:solidFill>
                  <a:srgbClr val="000048"/>
                </a:solidFill>
                <a:latin typeface="Times New Roman" panose="02020603050405020304" pitchFamily="18" charset="0"/>
                <a:ea typeface="隶书" panose="02010509060101010101" pitchFamily="49" charset="-122"/>
              </a:rPr>
              <a:t>    </a:t>
            </a:r>
            <a:r>
              <a:rPr kumimoji="1" lang="zh-CN" altLang="en-US" sz="2400">
                <a:solidFill>
                  <a:srgbClr val="000048"/>
                </a:solidFill>
                <a:latin typeface="Times New Roman" panose="02020603050405020304" pitchFamily="18" charset="0"/>
                <a:ea typeface="隶书" panose="02010509060101010101" pitchFamily="49" charset="-122"/>
              </a:rPr>
              <a:t>实用中三极管的</a:t>
            </a:r>
            <a:r>
              <a:rPr kumimoji="1" lang="en-US" altLang="zh-CN" sz="2400" b="1" i="1">
                <a:solidFill>
                  <a:srgbClr val="000048"/>
                </a:solidFill>
                <a:latin typeface="Times New Roman" panose="02020603050405020304" pitchFamily="18" charset="0"/>
                <a:ea typeface="隶书" panose="02010509060101010101" pitchFamily="49" charset="-122"/>
              </a:rPr>
              <a:t>U</a:t>
            </a:r>
            <a:r>
              <a:rPr kumimoji="1" lang="en-US" altLang="zh-CN" sz="2400" b="1" baseline="-25000">
                <a:solidFill>
                  <a:srgbClr val="000048"/>
                </a:solidFill>
                <a:latin typeface="Times New Roman" panose="02020603050405020304" pitchFamily="18" charset="0"/>
                <a:ea typeface="隶书" panose="02010509060101010101" pitchFamily="49" charset="-122"/>
              </a:rPr>
              <a:t>CE</a:t>
            </a:r>
            <a:r>
              <a:rPr kumimoji="1" lang="zh-CN" altLang="en-US" sz="2400">
                <a:solidFill>
                  <a:srgbClr val="000048"/>
                </a:solidFill>
                <a:latin typeface="Times New Roman" panose="02020603050405020304" pitchFamily="18" charset="0"/>
                <a:ea typeface="隶书" panose="02010509060101010101" pitchFamily="49" charset="-122"/>
              </a:rPr>
              <a:t>值一般都超过</a:t>
            </a:r>
            <a:r>
              <a:rPr kumimoji="1" lang="en-US" altLang="zh-CN" sz="2400">
                <a:solidFill>
                  <a:srgbClr val="000048"/>
                </a:solidFill>
                <a:latin typeface="Times New Roman" panose="02020603050405020304" pitchFamily="18" charset="0"/>
                <a:ea typeface="隶书" panose="02010509060101010101" pitchFamily="49" charset="-122"/>
              </a:rPr>
              <a:t>1V</a:t>
            </a:r>
            <a:r>
              <a:rPr kumimoji="1" lang="zh-CN" altLang="en-US" sz="2400">
                <a:solidFill>
                  <a:srgbClr val="000048"/>
                </a:solidFill>
                <a:latin typeface="Times New Roman" panose="02020603050405020304" pitchFamily="18" charset="0"/>
                <a:ea typeface="隶书" panose="02010509060101010101" pitchFamily="49" charset="-122"/>
              </a:rPr>
              <a:t>，所以其输入特性通常采用</a:t>
            </a:r>
            <a:r>
              <a:rPr kumimoji="1" lang="en-US" altLang="zh-CN" sz="2400" b="1" i="1">
                <a:solidFill>
                  <a:srgbClr val="000048"/>
                </a:solidFill>
                <a:latin typeface="Times New Roman" panose="02020603050405020304" pitchFamily="18" charset="0"/>
                <a:ea typeface="隶书" panose="02010509060101010101" pitchFamily="49" charset="-122"/>
              </a:rPr>
              <a:t>U</a:t>
            </a:r>
            <a:r>
              <a:rPr kumimoji="1" lang="en-US" altLang="zh-CN" sz="2400" b="1" baseline="-25000">
                <a:solidFill>
                  <a:srgbClr val="000048"/>
                </a:solidFill>
                <a:latin typeface="Times New Roman" panose="02020603050405020304" pitchFamily="18" charset="0"/>
                <a:ea typeface="隶书" panose="02010509060101010101" pitchFamily="49" charset="-122"/>
              </a:rPr>
              <a:t>CE</a:t>
            </a:r>
            <a:r>
              <a:rPr kumimoji="1" lang="en-US" altLang="zh-CN" sz="2400" b="1">
                <a:solidFill>
                  <a:srgbClr val="000048"/>
                </a:solidFill>
                <a:latin typeface="Times New Roman" panose="02020603050405020304" pitchFamily="18" charset="0"/>
                <a:ea typeface="隶书" panose="02010509060101010101" pitchFamily="49" charset="-122"/>
              </a:rPr>
              <a:t>=</a:t>
            </a:r>
            <a:r>
              <a:rPr kumimoji="1" lang="en-US" altLang="zh-CN" sz="2400">
                <a:solidFill>
                  <a:srgbClr val="000048"/>
                </a:solidFill>
                <a:latin typeface="Times New Roman" panose="02020603050405020304" pitchFamily="18" charset="0"/>
                <a:ea typeface="隶书" panose="02010509060101010101" pitchFamily="49" charset="-122"/>
              </a:rPr>
              <a:t>1V</a:t>
            </a:r>
            <a:r>
              <a:rPr kumimoji="1" lang="zh-CN" altLang="en-US" sz="2400">
                <a:solidFill>
                  <a:srgbClr val="000048"/>
                </a:solidFill>
                <a:latin typeface="Times New Roman" panose="02020603050405020304" pitchFamily="18" charset="0"/>
                <a:ea typeface="隶书" panose="02010509060101010101" pitchFamily="49" charset="-122"/>
              </a:rPr>
              <a:t>时的曲线。从特性曲线可看出，双极型三极管的输入特性与二极管的正向特性非常相似。</a:t>
            </a:r>
          </a:p>
        </p:txBody>
      </p:sp>
      <p:sp>
        <p:nvSpPr>
          <p:cNvPr id="11346" name="AutoShape 82"/>
          <p:cNvSpPr>
            <a:spLocks noChangeArrowheads="1"/>
          </p:cNvSpPr>
          <p:nvPr/>
        </p:nvSpPr>
        <p:spPr bwMode="auto">
          <a:xfrm>
            <a:off x="7424738" y="2308225"/>
            <a:ext cx="1154112" cy="581025"/>
          </a:xfrm>
          <a:prstGeom prst="wedgeRoundRectCallout">
            <a:avLst>
              <a:gd name="adj1" fmla="val -80398"/>
              <a:gd name="adj2" fmla="val 47542"/>
              <a:gd name="adj3" fmla="val 16667"/>
            </a:avLst>
          </a:prstGeom>
          <a:gradFill rotWithShape="1">
            <a:gsLst>
              <a:gs pos="0">
                <a:srgbClr val="CCFF99">
                  <a:alpha val="85999"/>
                </a:srgbClr>
              </a:gs>
              <a:gs pos="100000">
                <a:srgbClr val="FFFFFF">
                  <a:alpha val="0"/>
                </a:srgbClr>
              </a:gs>
            </a:gsLst>
            <a:lin ang="2700000" scaled="1"/>
          </a:gradFill>
          <a:ln w="952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36000">
            <a:spAutoFit/>
          </a:bodyPr>
          <a:lstStyle/>
          <a:p>
            <a:pPr>
              <a:lnSpc>
                <a:spcPct val="90000"/>
              </a:lnSpc>
            </a:pPr>
            <a:r>
              <a:rPr kumimoji="1" lang="en-US" altLang="zh-CN" b="1" i="1">
                <a:solidFill>
                  <a:srgbClr val="000048"/>
                </a:solidFill>
                <a:latin typeface="Times New Roman" panose="02020603050405020304" pitchFamily="18" charset="0"/>
                <a:ea typeface="楷体_GB2312" pitchFamily="49" charset="-122"/>
              </a:rPr>
              <a:t>U</a:t>
            </a:r>
            <a:r>
              <a:rPr kumimoji="1" lang="en-US" altLang="zh-CN" b="1" baseline="-25000">
                <a:solidFill>
                  <a:srgbClr val="000048"/>
                </a:solidFill>
                <a:latin typeface="Times New Roman" panose="02020603050405020304" pitchFamily="18" charset="0"/>
                <a:ea typeface="楷体_GB2312" pitchFamily="49" charset="-122"/>
              </a:rPr>
              <a:t>CE</a:t>
            </a:r>
            <a:r>
              <a:rPr kumimoji="1" lang="en-US" altLang="zh-CN" b="1">
                <a:solidFill>
                  <a:srgbClr val="000048"/>
                </a:solidFill>
                <a:latin typeface="Times New Roman" panose="02020603050405020304" pitchFamily="18" charset="0"/>
                <a:ea typeface="楷体_GB2312" pitchFamily="49" charset="-122"/>
              </a:rPr>
              <a:t>&gt;1V</a:t>
            </a:r>
            <a:r>
              <a:rPr kumimoji="1" lang="zh-CN" altLang="en-US" b="1">
                <a:solidFill>
                  <a:srgbClr val="000048"/>
                </a:solidFill>
                <a:latin typeface="Times New Roman" panose="02020603050405020304" pitchFamily="18" charset="0"/>
                <a:ea typeface="楷体_GB2312" pitchFamily="49" charset="-122"/>
              </a:rPr>
              <a:t>的特性曲线</a:t>
            </a:r>
            <a:endParaRPr kumimoji="1" lang="zh-CN" altLang="en-US" b="1" baseline="-25000">
              <a:solidFill>
                <a:srgbClr val="000048"/>
              </a:solidFill>
              <a:latin typeface="Times New Roman" panose="02020603050405020304" pitchFamily="18" charset="0"/>
              <a:ea typeface="楷体_GB2312" pitchFamily="49" charset="-122"/>
            </a:endParaRPr>
          </a:p>
        </p:txBody>
      </p:sp>
      <p:sp>
        <p:nvSpPr>
          <p:cNvPr id="11347" name="Freeform 83"/>
          <p:cNvSpPr/>
          <p:nvPr/>
        </p:nvSpPr>
        <p:spPr bwMode="auto">
          <a:xfrm>
            <a:off x="6211888" y="1076325"/>
            <a:ext cx="1028700" cy="2476500"/>
          </a:xfrm>
          <a:custGeom>
            <a:avLst/>
            <a:gdLst>
              <a:gd name="T0" fmla="*/ 0 w 648"/>
              <a:gd name="T1" fmla="*/ 2476500 h 1560"/>
              <a:gd name="T2" fmla="*/ 304800 w 648"/>
              <a:gd name="T3" fmla="*/ 2400300 h 1560"/>
              <a:gd name="T4" fmla="*/ 495300 w 648"/>
              <a:gd name="T5" fmla="*/ 2305050 h 1560"/>
              <a:gd name="T6" fmla="*/ 676275 w 648"/>
              <a:gd name="T7" fmla="*/ 2076450 h 1560"/>
              <a:gd name="T8" fmla="*/ 790575 w 648"/>
              <a:gd name="T9" fmla="*/ 1771650 h 1560"/>
              <a:gd name="T10" fmla="*/ 904875 w 648"/>
              <a:gd name="T11" fmla="*/ 1247775 h 1560"/>
              <a:gd name="T12" fmla="*/ 981075 w 648"/>
              <a:gd name="T13" fmla="*/ 581025 h 1560"/>
              <a:gd name="T14" fmla="*/ 1028700 w 648"/>
              <a:gd name="T15" fmla="*/ 0 h 156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48" h="1560">
                <a:moveTo>
                  <a:pt x="0" y="1560"/>
                </a:moveTo>
                <a:lnTo>
                  <a:pt x="192" y="1512"/>
                </a:lnTo>
                <a:lnTo>
                  <a:pt x="312" y="1452"/>
                </a:lnTo>
                <a:lnTo>
                  <a:pt x="426" y="1308"/>
                </a:lnTo>
                <a:lnTo>
                  <a:pt x="498" y="1116"/>
                </a:lnTo>
                <a:lnTo>
                  <a:pt x="570" y="786"/>
                </a:lnTo>
                <a:lnTo>
                  <a:pt x="618" y="366"/>
                </a:lnTo>
                <a:lnTo>
                  <a:pt x="648" y="0"/>
                </a:lnTo>
              </a:path>
            </a:pathLst>
          </a:custGeom>
          <a:noFill/>
          <a:ln w="571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11269"/>
                                        </p:tgtEl>
                                        <p:attrNameLst>
                                          <p:attrName>style.visibility</p:attrName>
                                        </p:attrNameLst>
                                      </p:cBhvr>
                                      <p:to>
                                        <p:strVal val="visible"/>
                                      </p:to>
                                    </p:set>
                                    <p:animEffect transition="in" filter="randombar(horizontal)">
                                      <p:cBhvr>
                                        <p:cTn id="7" dur="500"/>
                                        <p:tgtEl>
                                          <p:spTgt spid="11269"/>
                                        </p:tgtEl>
                                      </p:cBhvr>
                                    </p:animEffect>
                                  </p:childTnLst>
                                </p:cTn>
                              </p:par>
                              <p:par>
                                <p:cTn id="8" presetID="14" presetClass="entr" presetSubtype="10" fill="hold" nodeType="withEffect">
                                  <p:stCondLst>
                                    <p:cond delay="0"/>
                                  </p:stCondLst>
                                  <p:childTnLst>
                                    <p:set>
                                      <p:cBhvr>
                                        <p:cTn id="9" dur="1" fill="hold">
                                          <p:stCondLst>
                                            <p:cond delay="0"/>
                                          </p:stCondLst>
                                        </p:cTn>
                                        <p:tgtEl>
                                          <p:spTgt spid="11326"/>
                                        </p:tgtEl>
                                        <p:attrNameLst>
                                          <p:attrName>style.visibility</p:attrName>
                                        </p:attrNameLst>
                                      </p:cBhvr>
                                      <p:to>
                                        <p:strVal val="visible"/>
                                      </p:to>
                                    </p:set>
                                    <p:animEffect transition="in" filter="randombar(horizontal)">
                                      <p:cBhvr>
                                        <p:cTn id="10" dur="500"/>
                                        <p:tgtEl>
                                          <p:spTgt spid="1132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1333"/>
                                        </p:tgtEl>
                                        <p:attrNameLst>
                                          <p:attrName>style.visibility</p:attrName>
                                        </p:attrNameLst>
                                      </p:cBhvr>
                                      <p:to>
                                        <p:strVal val="visible"/>
                                      </p:to>
                                    </p:set>
                                    <p:animEffect transition="in" filter="wipe(down)">
                                      <p:cBhvr>
                                        <p:cTn id="15" dur="1000"/>
                                        <p:tgtEl>
                                          <p:spTgt spid="11333"/>
                                        </p:tgtEl>
                                      </p:cBhvr>
                                    </p:animEffect>
                                  </p:childTnLst>
                                </p:cTn>
                              </p:par>
                            </p:childTnLst>
                          </p:cTn>
                        </p:par>
                        <p:par>
                          <p:cTn id="16" fill="hold">
                            <p:stCondLst>
                              <p:cond delay="1000"/>
                            </p:stCondLst>
                            <p:childTnLst>
                              <p:par>
                                <p:cTn id="17" presetID="18" presetClass="entr" presetSubtype="9" fill="hold" grpId="0" nodeType="afterEffect">
                                  <p:stCondLst>
                                    <p:cond delay="0"/>
                                  </p:stCondLst>
                                  <p:childTnLst>
                                    <p:set>
                                      <p:cBhvr>
                                        <p:cTn id="18" dur="1" fill="hold">
                                          <p:stCondLst>
                                            <p:cond delay="0"/>
                                          </p:stCondLst>
                                        </p:cTn>
                                        <p:tgtEl>
                                          <p:spTgt spid="11329"/>
                                        </p:tgtEl>
                                        <p:attrNameLst>
                                          <p:attrName>style.visibility</p:attrName>
                                        </p:attrNameLst>
                                      </p:cBhvr>
                                      <p:to>
                                        <p:strVal val="visible"/>
                                      </p:to>
                                    </p:set>
                                    <p:animEffect transition="in" filter="strips(upLeft)">
                                      <p:cBhvr>
                                        <p:cTn id="19" dur="1000"/>
                                        <p:tgtEl>
                                          <p:spTgt spid="11329"/>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42" fill="hold" nodeType="clickEffect">
                                  <p:stCondLst>
                                    <p:cond delay="0"/>
                                  </p:stCondLst>
                                  <p:childTnLst>
                                    <p:set>
                                      <p:cBhvr>
                                        <p:cTn id="23" dur="1" fill="hold">
                                          <p:stCondLst>
                                            <p:cond delay="0"/>
                                          </p:stCondLst>
                                        </p:cTn>
                                        <p:tgtEl>
                                          <p:spTgt spid="11266"/>
                                        </p:tgtEl>
                                        <p:attrNameLst>
                                          <p:attrName>style.visibility</p:attrName>
                                        </p:attrNameLst>
                                      </p:cBhvr>
                                      <p:to>
                                        <p:strVal val="visible"/>
                                      </p:to>
                                    </p:set>
                                    <p:animEffect transition="in" filter="barn(outHorizontal)">
                                      <p:cBhvr>
                                        <p:cTn id="24" dur="500"/>
                                        <p:tgtEl>
                                          <p:spTgt spid="11266"/>
                                        </p:tgtEl>
                                      </p:cBhvr>
                                    </p:animEffect>
                                  </p:childTnLst>
                                </p:cTn>
                              </p:par>
                            </p:childTnLst>
                          </p:cTn>
                        </p:par>
                        <p:par>
                          <p:cTn id="25" fill="hold">
                            <p:stCondLst>
                              <p:cond delay="500"/>
                            </p:stCondLst>
                            <p:childTnLst>
                              <p:par>
                                <p:cTn id="26" presetID="18" presetClass="entr" presetSubtype="12" fill="hold" grpId="0" nodeType="afterEffect">
                                  <p:stCondLst>
                                    <p:cond delay="0"/>
                                  </p:stCondLst>
                                  <p:childTnLst>
                                    <p:set>
                                      <p:cBhvr>
                                        <p:cTn id="27" dur="1" fill="hold">
                                          <p:stCondLst>
                                            <p:cond delay="0"/>
                                          </p:stCondLst>
                                        </p:cTn>
                                        <p:tgtEl>
                                          <p:spTgt spid="11330"/>
                                        </p:tgtEl>
                                        <p:attrNameLst>
                                          <p:attrName>style.visibility</p:attrName>
                                        </p:attrNameLst>
                                      </p:cBhvr>
                                      <p:to>
                                        <p:strVal val="visible"/>
                                      </p:to>
                                    </p:set>
                                    <p:animEffect transition="in" filter="strips(downLeft)">
                                      <p:cBhvr>
                                        <p:cTn id="28" dur="500"/>
                                        <p:tgtEl>
                                          <p:spTgt spid="11330"/>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1318"/>
                                        </p:tgtEl>
                                        <p:attrNameLst>
                                          <p:attrName>style.visibility</p:attrName>
                                        </p:attrNameLst>
                                      </p:cBhvr>
                                      <p:to>
                                        <p:strVal val="visible"/>
                                      </p:to>
                                    </p:set>
                                    <p:animEffect transition="in" filter="box(in)">
                                      <p:cBhvr>
                                        <p:cTn id="33" dur="1000"/>
                                        <p:tgtEl>
                                          <p:spTgt spid="11318"/>
                                        </p:tgtEl>
                                      </p:cBhvr>
                                    </p:animEffect>
                                  </p:childTnLst>
                                </p:cTn>
                              </p:par>
                            </p:childTnLst>
                          </p:cTn>
                        </p:par>
                        <p:par>
                          <p:cTn id="34" fill="hold">
                            <p:stCondLst>
                              <p:cond delay="1000"/>
                            </p:stCondLst>
                            <p:childTnLst>
                              <p:par>
                                <p:cTn id="35" presetID="22" presetClass="entr" presetSubtype="4" fill="hold" grpId="0" nodeType="afterEffect">
                                  <p:stCondLst>
                                    <p:cond delay="0"/>
                                  </p:stCondLst>
                                  <p:childTnLst>
                                    <p:set>
                                      <p:cBhvr>
                                        <p:cTn id="36" dur="1" fill="hold">
                                          <p:stCondLst>
                                            <p:cond delay="0"/>
                                          </p:stCondLst>
                                        </p:cTn>
                                        <p:tgtEl>
                                          <p:spTgt spid="11319"/>
                                        </p:tgtEl>
                                        <p:attrNameLst>
                                          <p:attrName>style.visibility</p:attrName>
                                        </p:attrNameLst>
                                      </p:cBhvr>
                                      <p:to>
                                        <p:strVal val="visible"/>
                                      </p:to>
                                    </p:set>
                                    <p:animEffect transition="in" filter="wipe(down)">
                                      <p:cBhvr>
                                        <p:cTn id="37" dur="1000"/>
                                        <p:tgtEl>
                                          <p:spTgt spid="1131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1320"/>
                                        </p:tgtEl>
                                        <p:attrNameLst>
                                          <p:attrName>style.visibility</p:attrName>
                                        </p:attrNameLst>
                                      </p:cBhvr>
                                      <p:to>
                                        <p:strVal val="visible"/>
                                      </p:to>
                                    </p:set>
                                    <p:animEffect transition="in" filter="wipe(left)">
                                      <p:cBhvr>
                                        <p:cTn id="42" dur="1000"/>
                                        <p:tgtEl>
                                          <p:spTgt spid="1132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11323"/>
                                        </p:tgtEl>
                                        <p:attrNameLst>
                                          <p:attrName>style.visibility</p:attrName>
                                        </p:attrNameLst>
                                      </p:cBhvr>
                                      <p:to>
                                        <p:strVal val="visible"/>
                                      </p:to>
                                    </p:set>
                                    <p:animEffect transition="in" filter="wipe(down)">
                                      <p:cBhvr>
                                        <p:cTn id="47" dur="1000"/>
                                        <p:tgtEl>
                                          <p:spTgt spid="11323"/>
                                        </p:tgtEl>
                                      </p:cBhvr>
                                    </p:animEffect>
                                  </p:childTnLst>
                                </p:cTn>
                              </p:par>
                            </p:childTnLst>
                          </p:cTn>
                        </p:par>
                        <p:par>
                          <p:cTn id="48" fill="hold">
                            <p:stCondLst>
                              <p:cond delay="1000"/>
                            </p:stCondLst>
                            <p:childTnLst>
                              <p:par>
                                <p:cTn id="49" presetID="1" presetClass="entr" presetSubtype="0" fill="hold" grpId="0" nodeType="afterEffect">
                                  <p:stCondLst>
                                    <p:cond delay="0"/>
                                  </p:stCondLst>
                                  <p:childTnLst>
                                    <p:set>
                                      <p:cBhvr>
                                        <p:cTn id="50" dur="1" fill="hold">
                                          <p:stCondLst>
                                            <p:cond delay="0"/>
                                          </p:stCondLst>
                                        </p:cTn>
                                        <p:tgtEl>
                                          <p:spTgt spid="11331"/>
                                        </p:tgtEl>
                                        <p:attrNameLst>
                                          <p:attrName>style.visibility</p:attrName>
                                        </p:attrNameLst>
                                      </p:cBhvr>
                                      <p:to>
                                        <p:strVal val="visible"/>
                                      </p:to>
                                    </p:set>
                                  </p:childTnLst>
                                </p:cTn>
                              </p:par>
                            </p:childTnLst>
                          </p:cTn>
                        </p:par>
                        <p:par>
                          <p:cTn id="51" fill="hold">
                            <p:stCondLst>
                              <p:cond delay="1000"/>
                            </p:stCondLst>
                            <p:childTnLst>
                              <p:par>
                                <p:cTn id="52" presetID="0" presetClass="path" presetSubtype="0" accel="50000" decel="50000" fill="hold" grpId="1" nodeType="afterEffect">
                                  <p:stCondLst>
                                    <p:cond delay="0"/>
                                  </p:stCondLst>
                                  <p:childTnLst>
                                    <p:animMotion origin="layout" path="M -1.11111E-6 -7.57225E-6 L 0.054 -7.57225E-6 L 0.08525 0.0326 L 0.08351 0.17017 L -0.06892 0.16809 L -0.06892 -7.57225E-6 L -1.11111E-6 -7.57225E-6 Z " pathEditMode="relative" ptsTypes="AAAAAAA">
                                      <p:cBhvr>
                                        <p:cTn id="53" dur="2000" fill="hold"/>
                                        <p:tgtEl>
                                          <p:spTgt spid="11331"/>
                                        </p:tgtEl>
                                        <p:attrNameLst>
                                          <p:attrName>ppt_x</p:attrName>
                                          <p:attrName>ppt_y</p:attrName>
                                        </p:attrNameLst>
                                      </p:cBhvr>
                                    </p:animMotion>
                                  </p:childTnLst>
                                </p:cTn>
                              </p:par>
                            </p:childTnLst>
                          </p:cTn>
                        </p:par>
                        <p:par>
                          <p:cTn id="54" fill="hold">
                            <p:stCondLst>
                              <p:cond delay="3000"/>
                            </p:stCondLst>
                            <p:childTnLst>
                              <p:par>
                                <p:cTn id="55" presetID="1" presetClass="exit" presetSubtype="0" fill="hold" grpId="2" nodeType="afterEffect">
                                  <p:stCondLst>
                                    <p:cond delay="0"/>
                                  </p:stCondLst>
                                  <p:childTnLst>
                                    <p:set>
                                      <p:cBhvr>
                                        <p:cTn id="56" dur="1" fill="hold">
                                          <p:stCondLst>
                                            <p:cond delay="0"/>
                                          </p:stCondLst>
                                        </p:cTn>
                                        <p:tgtEl>
                                          <p:spTgt spid="11331"/>
                                        </p:tgtEl>
                                        <p:attrNameLst>
                                          <p:attrName>style.visibility</p:attrName>
                                        </p:attrNameLst>
                                      </p:cBhvr>
                                      <p:to>
                                        <p:strVal val="hidden"/>
                                      </p:to>
                                    </p:set>
                                  </p:childTnLst>
                                </p:cTn>
                              </p:par>
                            </p:childTnLst>
                          </p:cTn>
                        </p:par>
                        <p:par>
                          <p:cTn id="57" fill="hold">
                            <p:stCondLst>
                              <p:cond delay="3000"/>
                            </p:stCondLst>
                            <p:childTnLst>
                              <p:par>
                                <p:cTn id="58" presetID="1" presetClass="entr" presetSubtype="0" fill="hold" grpId="0" nodeType="afterEffect">
                                  <p:stCondLst>
                                    <p:cond delay="0"/>
                                  </p:stCondLst>
                                  <p:childTnLst>
                                    <p:set>
                                      <p:cBhvr>
                                        <p:cTn id="59" dur="1" fill="hold">
                                          <p:stCondLst>
                                            <p:cond delay="0"/>
                                          </p:stCondLst>
                                        </p:cTn>
                                        <p:tgtEl>
                                          <p:spTgt spid="11334"/>
                                        </p:tgtEl>
                                        <p:attrNameLst>
                                          <p:attrName>style.visibility</p:attrName>
                                        </p:attrNameLst>
                                      </p:cBhvr>
                                      <p:to>
                                        <p:strVal val="visible"/>
                                      </p:to>
                                    </p:set>
                                  </p:childTnLst>
                                </p:cTn>
                              </p:par>
                            </p:childTnLst>
                          </p:cTn>
                        </p:par>
                        <p:par>
                          <p:cTn id="60" fill="hold">
                            <p:stCondLst>
                              <p:cond delay="3000"/>
                            </p:stCondLst>
                            <p:childTnLst>
                              <p:par>
                                <p:cTn id="61" presetID="0" presetClass="path" presetSubtype="0" accel="50000" decel="50000" fill="hold" grpId="1" nodeType="afterEffect">
                                  <p:stCondLst>
                                    <p:cond delay="0"/>
                                  </p:stCondLst>
                                  <p:childTnLst>
                                    <p:animMotion origin="layout" path="M 7.5E-6 -6.6474E-6 L 0.03126 -0.02822 L 0.02796 -0.20741 L 0.2033 -0.20741 L 0.19844 0.166 L 0.02952 0.1704 L 0.02952 0.03282 L 7.5E-6 -6.6474E-6 Z " pathEditMode="relative" ptsTypes="AAAAAAAA">
                                      <p:cBhvr>
                                        <p:cTn id="62" dur="2000" fill="hold"/>
                                        <p:tgtEl>
                                          <p:spTgt spid="11334"/>
                                        </p:tgtEl>
                                        <p:attrNameLst>
                                          <p:attrName>ppt_x</p:attrName>
                                          <p:attrName>ppt_y</p:attrName>
                                        </p:attrNameLst>
                                      </p:cBhvr>
                                    </p:animMotion>
                                  </p:childTnLst>
                                </p:cTn>
                              </p:par>
                            </p:childTnLst>
                          </p:cTn>
                        </p:par>
                        <p:par>
                          <p:cTn id="63" fill="hold">
                            <p:stCondLst>
                              <p:cond delay="5000"/>
                            </p:stCondLst>
                            <p:childTnLst>
                              <p:par>
                                <p:cTn id="64" presetID="1" presetClass="exit" presetSubtype="0" fill="hold" grpId="2" nodeType="afterEffect">
                                  <p:stCondLst>
                                    <p:cond delay="0"/>
                                  </p:stCondLst>
                                  <p:childTnLst>
                                    <p:set>
                                      <p:cBhvr>
                                        <p:cTn id="65" dur="1" fill="hold">
                                          <p:stCondLst>
                                            <p:cond delay="0"/>
                                          </p:stCondLst>
                                        </p:cTn>
                                        <p:tgtEl>
                                          <p:spTgt spid="11334"/>
                                        </p:tgtEl>
                                        <p:attrNameLst>
                                          <p:attrName>style.visibility</p:attrName>
                                        </p:attrNameLst>
                                      </p:cBhvr>
                                      <p:to>
                                        <p:strVal val="hidden"/>
                                      </p:to>
                                    </p:set>
                                  </p:childTnLst>
                                </p:cTn>
                              </p:par>
                              <p:par>
                                <p:cTn id="66" presetID="1" presetClass="exit" presetSubtype="0" fill="hold" grpId="1" nodeType="withEffect">
                                  <p:stCondLst>
                                    <p:cond delay="0"/>
                                  </p:stCondLst>
                                  <p:childTnLst>
                                    <p:set>
                                      <p:cBhvr>
                                        <p:cTn id="67" dur="1" fill="hold">
                                          <p:stCondLst>
                                            <p:cond delay="0"/>
                                          </p:stCondLst>
                                        </p:cTn>
                                        <p:tgtEl>
                                          <p:spTgt spid="11330"/>
                                        </p:tgtEl>
                                        <p:attrNameLst>
                                          <p:attrName>style.visibility</p:attrName>
                                        </p:attrNameLst>
                                      </p:cBhvr>
                                      <p:to>
                                        <p:strVal val="hidden"/>
                                      </p:to>
                                    </p:set>
                                  </p:childTnLst>
                                </p:cTn>
                              </p:par>
                              <p:par>
                                <p:cTn id="68" presetID="1" presetClass="exit" presetSubtype="0" fill="hold" grpId="1" nodeType="withEffect">
                                  <p:stCondLst>
                                    <p:cond delay="0"/>
                                  </p:stCondLst>
                                  <p:childTnLst>
                                    <p:set>
                                      <p:cBhvr>
                                        <p:cTn id="69" dur="1" fill="hold">
                                          <p:stCondLst>
                                            <p:cond delay="0"/>
                                          </p:stCondLst>
                                        </p:cTn>
                                        <p:tgtEl>
                                          <p:spTgt spid="11318"/>
                                        </p:tgtEl>
                                        <p:attrNameLst>
                                          <p:attrName>style.visibility</p:attrName>
                                        </p:attrNameLst>
                                      </p:cBhvr>
                                      <p:to>
                                        <p:strVal val="hidden"/>
                                      </p:to>
                                    </p:set>
                                  </p:childTnLst>
                                </p:cTn>
                              </p:par>
                              <p:par>
                                <p:cTn id="70" presetID="1" presetClass="exit" presetSubtype="0" fill="hold" grpId="1" nodeType="withEffect">
                                  <p:stCondLst>
                                    <p:cond delay="0"/>
                                  </p:stCondLst>
                                  <p:childTnLst>
                                    <p:set>
                                      <p:cBhvr>
                                        <p:cTn id="71" dur="1" fill="hold">
                                          <p:stCondLst>
                                            <p:cond delay="0"/>
                                          </p:stCondLst>
                                        </p:cTn>
                                        <p:tgtEl>
                                          <p:spTgt spid="11329"/>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grpId="0" nodeType="clickEffect">
                                  <p:stCondLst>
                                    <p:cond delay="0"/>
                                  </p:stCondLst>
                                  <p:childTnLst>
                                    <p:set>
                                      <p:cBhvr>
                                        <p:cTn id="75" dur="1" fill="hold">
                                          <p:stCondLst>
                                            <p:cond delay="0"/>
                                          </p:stCondLst>
                                        </p:cTn>
                                        <p:tgtEl>
                                          <p:spTgt spid="11335"/>
                                        </p:tgtEl>
                                        <p:attrNameLst>
                                          <p:attrName>style.visibility</p:attrName>
                                        </p:attrNameLst>
                                      </p:cBhvr>
                                      <p:to>
                                        <p:strVal val="visible"/>
                                      </p:to>
                                    </p:set>
                                    <p:animEffect transition="in" filter="wipe(down)">
                                      <p:cBhvr>
                                        <p:cTn id="76" dur="1000"/>
                                        <p:tgtEl>
                                          <p:spTgt spid="11335"/>
                                        </p:tgtEl>
                                      </p:cBhvr>
                                    </p:animEffect>
                                  </p:childTnLst>
                                </p:cTn>
                              </p:par>
                            </p:childTnLst>
                          </p:cTn>
                        </p:par>
                        <p:par>
                          <p:cTn id="77" fill="hold">
                            <p:stCondLst>
                              <p:cond delay="1000"/>
                            </p:stCondLst>
                            <p:childTnLst>
                              <p:par>
                                <p:cTn id="78" presetID="22" presetClass="entr" presetSubtype="4" fill="hold" grpId="0" nodeType="afterEffect">
                                  <p:stCondLst>
                                    <p:cond delay="0"/>
                                  </p:stCondLst>
                                  <p:childTnLst>
                                    <p:set>
                                      <p:cBhvr>
                                        <p:cTn id="79" dur="1" fill="hold">
                                          <p:stCondLst>
                                            <p:cond delay="0"/>
                                          </p:stCondLst>
                                        </p:cTn>
                                        <p:tgtEl>
                                          <p:spTgt spid="11336"/>
                                        </p:tgtEl>
                                        <p:attrNameLst>
                                          <p:attrName>style.visibility</p:attrName>
                                        </p:attrNameLst>
                                      </p:cBhvr>
                                      <p:to>
                                        <p:strVal val="visible"/>
                                      </p:to>
                                    </p:set>
                                    <p:animEffect transition="in" filter="wipe(down)">
                                      <p:cBhvr>
                                        <p:cTn id="80" dur="1000"/>
                                        <p:tgtEl>
                                          <p:spTgt spid="11336"/>
                                        </p:tgtEl>
                                      </p:cBhvr>
                                    </p:animEffect>
                                  </p:childTnLst>
                                </p:cTn>
                              </p:par>
                            </p:childTnLst>
                          </p:cTn>
                        </p:par>
                        <p:par>
                          <p:cTn id="81" fill="hold">
                            <p:stCondLst>
                              <p:cond delay="2000"/>
                            </p:stCondLst>
                            <p:childTnLst>
                              <p:par>
                                <p:cTn id="82" presetID="18" presetClass="entr" presetSubtype="12" fill="hold" grpId="0" nodeType="afterEffect">
                                  <p:stCondLst>
                                    <p:cond delay="0"/>
                                  </p:stCondLst>
                                  <p:childTnLst>
                                    <p:set>
                                      <p:cBhvr>
                                        <p:cTn id="83" dur="1" fill="hold">
                                          <p:stCondLst>
                                            <p:cond delay="0"/>
                                          </p:stCondLst>
                                        </p:cTn>
                                        <p:tgtEl>
                                          <p:spTgt spid="11337"/>
                                        </p:tgtEl>
                                        <p:attrNameLst>
                                          <p:attrName>style.visibility</p:attrName>
                                        </p:attrNameLst>
                                      </p:cBhvr>
                                      <p:to>
                                        <p:strVal val="visible"/>
                                      </p:to>
                                    </p:set>
                                    <p:animEffect transition="in" filter="strips(downLeft)">
                                      <p:cBhvr>
                                        <p:cTn id="84" dur="500"/>
                                        <p:tgtEl>
                                          <p:spTgt spid="11337"/>
                                        </p:tgtEl>
                                      </p:cBhvr>
                                    </p:animEffect>
                                  </p:childTnLst>
                                </p:cTn>
                              </p:par>
                            </p:childTnLst>
                          </p:cTn>
                        </p:par>
                      </p:childTnLst>
                    </p:cTn>
                  </p:par>
                  <p:par>
                    <p:cTn id="85" fill="hold">
                      <p:stCondLst>
                        <p:cond delay="indefinite"/>
                      </p:stCondLst>
                      <p:childTnLst>
                        <p:par>
                          <p:cTn id="86" fill="hold">
                            <p:stCondLst>
                              <p:cond delay="0"/>
                            </p:stCondLst>
                            <p:childTnLst>
                              <p:par>
                                <p:cTn id="87" presetID="18" presetClass="entr" presetSubtype="9" fill="hold" grpId="0" nodeType="clickEffect">
                                  <p:stCondLst>
                                    <p:cond delay="0"/>
                                  </p:stCondLst>
                                  <p:childTnLst>
                                    <p:set>
                                      <p:cBhvr>
                                        <p:cTn id="88" dur="1" fill="hold">
                                          <p:stCondLst>
                                            <p:cond delay="0"/>
                                          </p:stCondLst>
                                        </p:cTn>
                                        <p:tgtEl>
                                          <p:spTgt spid="11338"/>
                                        </p:tgtEl>
                                        <p:attrNameLst>
                                          <p:attrName>style.visibility</p:attrName>
                                        </p:attrNameLst>
                                      </p:cBhvr>
                                      <p:to>
                                        <p:strVal val="visible"/>
                                      </p:to>
                                    </p:set>
                                    <p:animEffect transition="in" filter="strips(upLeft)">
                                      <p:cBhvr>
                                        <p:cTn id="89" dur="1000"/>
                                        <p:tgtEl>
                                          <p:spTgt spid="11338"/>
                                        </p:tgtEl>
                                      </p:cBhvr>
                                    </p:animEffect>
                                  </p:childTnLst>
                                </p:cTn>
                              </p:par>
                            </p:childTnLst>
                          </p:cTn>
                        </p:par>
                      </p:childTnLst>
                    </p:cTn>
                  </p:par>
                  <p:par>
                    <p:cTn id="90" fill="hold">
                      <p:stCondLst>
                        <p:cond delay="indefinite"/>
                      </p:stCondLst>
                      <p:childTnLst>
                        <p:par>
                          <p:cTn id="91" fill="hold">
                            <p:stCondLst>
                              <p:cond delay="0"/>
                            </p:stCondLst>
                            <p:childTnLst>
                              <p:par>
                                <p:cTn id="92" presetID="18" presetClass="entr" presetSubtype="12" fill="hold" grpId="0" nodeType="clickEffect">
                                  <p:stCondLst>
                                    <p:cond delay="0"/>
                                  </p:stCondLst>
                                  <p:childTnLst>
                                    <p:set>
                                      <p:cBhvr>
                                        <p:cTn id="93" dur="1" fill="hold">
                                          <p:stCondLst>
                                            <p:cond delay="0"/>
                                          </p:stCondLst>
                                        </p:cTn>
                                        <p:tgtEl>
                                          <p:spTgt spid="11339"/>
                                        </p:tgtEl>
                                        <p:attrNameLst>
                                          <p:attrName>style.visibility</p:attrName>
                                        </p:attrNameLst>
                                      </p:cBhvr>
                                      <p:to>
                                        <p:strVal val="visible"/>
                                      </p:to>
                                    </p:set>
                                    <p:animEffect transition="in" filter="strips(downLeft)">
                                      <p:cBhvr>
                                        <p:cTn id="94" dur="500"/>
                                        <p:tgtEl>
                                          <p:spTgt spid="11339"/>
                                        </p:tgtEl>
                                      </p:cBhvr>
                                    </p:animEffect>
                                  </p:childTnLst>
                                </p:cTn>
                              </p:par>
                            </p:childTnLst>
                          </p:cTn>
                        </p:par>
                      </p:childTnLst>
                    </p:cTn>
                  </p:par>
                  <p:par>
                    <p:cTn id="95" fill="hold">
                      <p:stCondLst>
                        <p:cond delay="indefinite"/>
                      </p:stCondLst>
                      <p:childTnLst>
                        <p:par>
                          <p:cTn id="96" fill="hold">
                            <p:stCondLst>
                              <p:cond delay="0"/>
                            </p:stCondLst>
                            <p:childTnLst>
                              <p:par>
                                <p:cTn id="97" presetID="23" presetClass="entr" presetSubtype="16" fill="hold" grpId="0" nodeType="clickEffect">
                                  <p:stCondLst>
                                    <p:cond delay="0"/>
                                  </p:stCondLst>
                                  <p:childTnLst>
                                    <p:set>
                                      <p:cBhvr>
                                        <p:cTn id="98" dur="1" fill="hold">
                                          <p:stCondLst>
                                            <p:cond delay="0"/>
                                          </p:stCondLst>
                                        </p:cTn>
                                        <p:tgtEl>
                                          <p:spTgt spid="11332"/>
                                        </p:tgtEl>
                                        <p:attrNameLst>
                                          <p:attrName>style.visibility</p:attrName>
                                        </p:attrNameLst>
                                      </p:cBhvr>
                                      <p:to>
                                        <p:strVal val="visible"/>
                                      </p:to>
                                    </p:set>
                                    <p:anim calcmode="lin" valueType="num">
                                      <p:cBhvr>
                                        <p:cTn id="99" dur="500" fill="hold"/>
                                        <p:tgtEl>
                                          <p:spTgt spid="11332"/>
                                        </p:tgtEl>
                                        <p:attrNameLst>
                                          <p:attrName>ppt_w</p:attrName>
                                        </p:attrNameLst>
                                      </p:cBhvr>
                                      <p:tavLst>
                                        <p:tav tm="0">
                                          <p:val>
                                            <p:fltVal val="0"/>
                                          </p:val>
                                        </p:tav>
                                        <p:tav tm="100000">
                                          <p:val>
                                            <p:strVal val="#ppt_w"/>
                                          </p:val>
                                        </p:tav>
                                      </p:tavLst>
                                    </p:anim>
                                    <p:anim calcmode="lin" valueType="num">
                                      <p:cBhvr>
                                        <p:cTn id="100" dur="500" fill="hold"/>
                                        <p:tgtEl>
                                          <p:spTgt spid="11332"/>
                                        </p:tgtEl>
                                        <p:attrNameLst>
                                          <p:attrName>ppt_h</p:attrName>
                                        </p:attrNameLst>
                                      </p:cBhvr>
                                      <p:tavLst>
                                        <p:tav tm="0">
                                          <p:val>
                                            <p:fltVal val="0"/>
                                          </p:val>
                                        </p:tav>
                                        <p:tav tm="100000">
                                          <p:val>
                                            <p:strVal val="#ppt_h"/>
                                          </p:val>
                                        </p:tav>
                                      </p:tavLst>
                                    </p:anim>
                                  </p:childTnLst>
                                </p:cTn>
                              </p:par>
                            </p:childTnLst>
                          </p:cTn>
                        </p:par>
                      </p:childTnLst>
                    </p:cTn>
                  </p:par>
                  <p:par>
                    <p:cTn id="101" fill="hold">
                      <p:stCondLst>
                        <p:cond delay="indefinite"/>
                      </p:stCondLst>
                      <p:childTnLst>
                        <p:par>
                          <p:cTn id="102" fill="hold">
                            <p:stCondLst>
                              <p:cond delay="0"/>
                            </p:stCondLst>
                            <p:childTnLst>
                              <p:par>
                                <p:cTn id="103" presetID="4" presetClass="entr" presetSubtype="16" fill="hold" grpId="0" nodeType="clickEffect">
                                  <p:stCondLst>
                                    <p:cond delay="0"/>
                                  </p:stCondLst>
                                  <p:childTnLst>
                                    <p:set>
                                      <p:cBhvr>
                                        <p:cTn id="104" dur="1" fill="hold">
                                          <p:stCondLst>
                                            <p:cond delay="0"/>
                                          </p:stCondLst>
                                        </p:cTn>
                                        <p:tgtEl>
                                          <p:spTgt spid="11340"/>
                                        </p:tgtEl>
                                        <p:attrNameLst>
                                          <p:attrName>style.visibility</p:attrName>
                                        </p:attrNameLst>
                                      </p:cBhvr>
                                      <p:to>
                                        <p:strVal val="visible"/>
                                      </p:to>
                                    </p:set>
                                    <p:animEffect transition="in" filter="box(in)">
                                      <p:cBhvr>
                                        <p:cTn id="105" dur="1000"/>
                                        <p:tgtEl>
                                          <p:spTgt spid="11340"/>
                                        </p:tgtEl>
                                      </p:cBhvr>
                                    </p:animEffect>
                                  </p:childTnLst>
                                </p:cTn>
                              </p:par>
                              <p:par>
                                <p:cTn id="106" presetID="1" presetClass="exit" presetSubtype="0" fill="hold" grpId="1" nodeType="withEffect">
                                  <p:stCondLst>
                                    <p:cond delay="0"/>
                                  </p:stCondLst>
                                  <p:childTnLst>
                                    <p:set>
                                      <p:cBhvr>
                                        <p:cTn id="107" dur="1" fill="hold">
                                          <p:stCondLst>
                                            <p:cond delay="0"/>
                                          </p:stCondLst>
                                        </p:cTn>
                                        <p:tgtEl>
                                          <p:spTgt spid="11337"/>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11320"/>
                                        </p:tgtEl>
                                        <p:attrNameLst>
                                          <p:attrName>style.visibility</p:attrName>
                                        </p:attrNameLst>
                                      </p:cBhvr>
                                      <p:to>
                                        <p:strVal val="visible"/>
                                      </p:to>
                                    </p:set>
                                    <p:animEffect transition="in" filter="wipe(left)">
                                      <p:cBhvr>
                                        <p:cTn id="112" dur="1000"/>
                                        <p:tgtEl>
                                          <p:spTgt spid="11320"/>
                                        </p:tgtEl>
                                      </p:cBhvr>
                                    </p:animEffect>
                                  </p:childTnLst>
                                </p:cTn>
                              </p:par>
                            </p:childTnLst>
                          </p:cTn>
                        </p:par>
                        <p:par>
                          <p:cTn id="113" fill="hold">
                            <p:stCondLst>
                              <p:cond delay="1000"/>
                            </p:stCondLst>
                            <p:childTnLst>
                              <p:par>
                                <p:cTn id="114" presetID="22" presetClass="entr" presetSubtype="4" fill="hold" nodeType="afterEffect">
                                  <p:stCondLst>
                                    <p:cond delay="0"/>
                                  </p:stCondLst>
                                  <p:childTnLst>
                                    <p:set>
                                      <p:cBhvr>
                                        <p:cTn id="115" dur="1" fill="hold">
                                          <p:stCondLst>
                                            <p:cond delay="0"/>
                                          </p:stCondLst>
                                        </p:cTn>
                                        <p:tgtEl>
                                          <p:spTgt spid="11323"/>
                                        </p:tgtEl>
                                        <p:attrNameLst>
                                          <p:attrName>style.visibility</p:attrName>
                                        </p:attrNameLst>
                                      </p:cBhvr>
                                      <p:to>
                                        <p:strVal val="visible"/>
                                      </p:to>
                                    </p:set>
                                    <p:animEffect transition="in" filter="wipe(down)">
                                      <p:cBhvr>
                                        <p:cTn id="116" dur="500"/>
                                        <p:tgtEl>
                                          <p:spTgt spid="11323"/>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4" fill="hold" grpId="0" nodeType="clickEffect">
                                  <p:stCondLst>
                                    <p:cond delay="0"/>
                                  </p:stCondLst>
                                  <p:childTnLst>
                                    <p:set>
                                      <p:cBhvr>
                                        <p:cTn id="120" dur="1" fill="hold">
                                          <p:stCondLst>
                                            <p:cond delay="0"/>
                                          </p:stCondLst>
                                        </p:cTn>
                                        <p:tgtEl>
                                          <p:spTgt spid="11341"/>
                                        </p:tgtEl>
                                        <p:attrNameLst>
                                          <p:attrName>style.visibility</p:attrName>
                                        </p:attrNameLst>
                                      </p:cBhvr>
                                      <p:to>
                                        <p:strVal val="visible"/>
                                      </p:to>
                                    </p:set>
                                    <p:animEffect transition="in" filter="wipe(down)">
                                      <p:cBhvr>
                                        <p:cTn id="121" dur="1000"/>
                                        <p:tgtEl>
                                          <p:spTgt spid="11341"/>
                                        </p:tgtEl>
                                      </p:cBhvr>
                                    </p:animEffect>
                                  </p:childTnLst>
                                </p:cTn>
                              </p:par>
                            </p:childTnLst>
                          </p:cTn>
                        </p:par>
                        <p:par>
                          <p:cTn id="122" fill="hold">
                            <p:stCondLst>
                              <p:cond delay="1000"/>
                            </p:stCondLst>
                            <p:childTnLst>
                              <p:par>
                                <p:cTn id="123" presetID="22" presetClass="entr" presetSubtype="4" fill="hold" grpId="0" nodeType="afterEffect">
                                  <p:stCondLst>
                                    <p:cond delay="0"/>
                                  </p:stCondLst>
                                  <p:childTnLst>
                                    <p:set>
                                      <p:cBhvr>
                                        <p:cTn id="124" dur="1" fill="hold">
                                          <p:stCondLst>
                                            <p:cond delay="0"/>
                                          </p:stCondLst>
                                        </p:cTn>
                                        <p:tgtEl>
                                          <p:spTgt spid="11342"/>
                                        </p:tgtEl>
                                        <p:attrNameLst>
                                          <p:attrName>style.visibility</p:attrName>
                                        </p:attrNameLst>
                                      </p:cBhvr>
                                      <p:to>
                                        <p:strVal val="visible"/>
                                      </p:to>
                                    </p:set>
                                    <p:animEffect transition="in" filter="wipe(down)">
                                      <p:cBhvr>
                                        <p:cTn id="125" dur="1000"/>
                                        <p:tgtEl>
                                          <p:spTgt spid="11342"/>
                                        </p:tgtEl>
                                      </p:cBhvr>
                                    </p:animEffect>
                                  </p:childTnLst>
                                </p:cTn>
                              </p:par>
                            </p:childTnLst>
                          </p:cTn>
                        </p:par>
                        <p:par>
                          <p:cTn id="126" fill="hold">
                            <p:stCondLst>
                              <p:cond delay="2000"/>
                            </p:stCondLst>
                            <p:childTnLst>
                              <p:par>
                                <p:cTn id="127" presetID="18" presetClass="entr" presetSubtype="12" fill="hold" grpId="0" nodeType="afterEffect">
                                  <p:stCondLst>
                                    <p:cond delay="0"/>
                                  </p:stCondLst>
                                  <p:childTnLst>
                                    <p:set>
                                      <p:cBhvr>
                                        <p:cTn id="128" dur="1" fill="hold">
                                          <p:stCondLst>
                                            <p:cond delay="0"/>
                                          </p:stCondLst>
                                        </p:cTn>
                                        <p:tgtEl>
                                          <p:spTgt spid="11343"/>
                                        </p:tgtEl>
                                        <p:attrNameLst>
                                          <p:attrName>style.visibility</p:attrName>
                                        </p:attrNameLst>
                                      </p:cBhvr>
                                      <p:to>
                                        <p:strVal val="visible"/>
                                      </p:to>
                                    </p:set>
                                    <p:animEffect transition="in" filter="strips(downLeft)">
                                      <p:cBhvr>
                                        <p:cTn id="129" dur="500"/>
                                        <p:tgtEl>
                                          <p:spTgt spid="11343"/>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nodeType="clickEffect">
                                  <p:stCondLst>
                                    <p:cond delay="0"/>
                                  </p:stCondLst>
                                  <p:childTnLst>
                                    <p:set>
                                      <p:cBhvr>
                                        <p:cTn id="133" dur="1" fill="hold">
                                          <p:stCondLst>
                                            <p:cond delay="0"/>
                                          </p:stCondLst>
                                        </p:cTn>
                                        <p:tgtEl>
                                          <p:spTgt spid="11344">
                                            <p:txEl>
                                              <p:pRg st="0" end="0"/>
                                            </p:txEl>
                                          </p:spTgt>
                                        </p:tgtEl>
                                        <p:attrNameLst>
                                          <p:attrName>style.visibility</p:attrName>
                                        </p:attrNameLst>
                                      </p:cBhvr>
                                      <p:to>
                                        <p:strVal val="visible"/>
                                      </p:to>
                                    </p:set>
                                    <p:animEffect transition="in" filter="wipe(left)">
                                      <p:cBhvr>
                                        <p:cTn id="134" dur="1000"/>
                                        <p:tgtEl>
                                          <p:spTgt spid="11344">
                                            <p:txEl>
                                              <p:pRg st="0" end="0"/>
                                            </p:txEl>
                                          </p:spTgt>
                                        </p:tgtEl>
                                      </p:cBhvr>
                                    </p:animEffect>
                                  </p:childTnLst>
                                </p:cTn>
                              </p:par>
                            </p:childTnLst>
                          </p:cTn>
                        </p:par>
                        <p:par>
                          <p:cTn id="135" fill="hold">
                            <p:stCondLst>
                              <p:cond delay="1000"/>
                            </p:stCondLst>
                            <p:childTnLst>
                              <p:par>
                                <p:cTn id="136" presetID="22" presetClass="entr" presetSubtype="8" fill="hold" nodeType="afterEffect">
                                  <p:stCondLst>
                                    <p:cond delay="0"/>
                                  </p:stCondLst>
                                  <p:childTnLst>
                                    <p:set>
                                      <p:cBhvr>
                                        <p:cTn id="137" dur="1" fill="hold">
                                          <p:stCondLst>
                                            <p:cond delay="0"/>
                                          </p:stCondLst>
                                        </p:cTn>
                                        <p:tgtEl>
                                          <p:spTgt spid="11344">
                                            <p:txEl>
                                              <p:pRg st="1" end="1"/>
                                            </p:txEl>
                                          </p:spTgt>
                                        </p:tgtEl>
                                        <p:attrNameLst>
                                          <p:attrName>style.visibility</p:attrName>
                                        </p:attrNameLst>
                                      </p:cBhvr>
                                      <p:to>
                                        <p:strVal val="visible"/>
                                      </p:to>
                                    </p:set>
                                    <p:animEffect transition="in" filter="wipe(left)">
                                      <p:cBhvr>
                                        <p:cTn id="138" dur="1000"/>
                                        <p:tgtEl>
                                          <p:spTgt spid="11344">
                                            <p:txEl>
                                              <p:pRg st="1" end="1"/>
                                            </p:txEl>
                                          </p:spTgt>
                                        </p:tgtEl>
                                      </p:cBhvr>
                                    </p:animEffect>
                                  </p:childTnLst>
                                </p:cTn>
                              </p:par>
                            </p:childTnLst>
                          </p:cTn>
                        </p:par>
                        <p:par>
                          <p:cTn id="139" fill="hold">
                            <p:stCondLst>
                              <p:cond delay="2000"/>
                            </p:stCondLst>
                            <p:childTnLst>
                              <p:par>
                                <p:cTn id="140" presetID="22" presetClass="entr" presetSubtype="8" fill="hold" nodeType="afterEffect">
                                  <p:stCondLst>
                                    <p:cond delay="0"/>
                                  </p:stCondLst>
                                  <p:childTnLst>
                                    <p:set>
                                      <p:cBhvr>
                                        <p:cTn id="141" dur="1" fill="hold">
                                          <p:stCondLst>
                                            <p:cond delay="0"/>
                                          </p:stCondLst>
                                        </p:cTn>
                                        <p:tgtEl>
                                          <p:spTgt spid="11344">
                                            <p:txEl>
                                              <p:pRg st="2" end="2"/>
                                            </p:txEl>
                                          </p:spTgt>
                                        </p:tgtEl>
                                        <p:attrNameLst>
                                          <p:attrName>style.visibility</p:attrName>
                                        </p:attrNameLst>
                                      </p:cBhvr>
                                      <p:to>
                                        <p:strVal val="visible"/>
                                      </p:to>
                                    </p:set>
                                    <p:animEffect transition="in" filter="wipe(left)">
                                      <p:cBhvr>
                                        <p:cTn id="142" dur="1000"/>
                                        <p:tgtEl>
                                          <p:spTgt spid="11344">
                                            <p:txEl>
                                              <p:pRg st="2" end="2"/>
                                            </p:txEl>
                                          </p:spTgt>
                                        </p:tgtEl>
                                      </p:cBhvr>
                                    </p:animEffect>
                                  </p:childTnLst>
                                </p:cTn>
                              </p:par>
                              <p:par>
                                <p:cTn id="143" presetID="1" presetClass="exit" presetSubtype="0" fill="hold" grpId="1" nodeType="withEffect">
                                  <p:stCondLst>
                                    <p:cond delay="0"/>
                                  </p:stCondLst>
                                  <p:childTnLst>
                                    <p:set>
                                      <p:cBhvr>
                                        <p:cTn id="144" dur="1" fill="hold">
                                          <p:stCondLst>
                                            <p:cond delay="0"/>
                                          </p:stCondLst>
                                        </p:cTn>
                                        <p:tgtEl>
                                          <p:spTgt spid="11343"/>
                                        </p:tgtEl>
                                        <p:attrNameLst>
                                          <p:attrName>style.visibility</p:attrName>
                                        </p:attrNameLst>
                                      </p:cBhvr>
                                      <p:to>
                                        <p:strVal val="hidden"/>
                                      </p:to>
                                    </p:set>
                                  </p:childTnLst>
                                </p:cTn>
                              </p:par>
                            </p:childTnLst>
                          </p:cTn>
                        </p:par>
                      </p:childTnLst>
                    </p:cTn>
                  </p:par>
                  <p:par>
                    <p:cTn id="145" fill="hold">
                      <p:stCondLst>
                        <p:cond delay="indefinite"/>
                      </p:stCondLst>
                      <p:childTnLst>
                        <p:par>
                          <p:cTn id="146" fill="hold">
                            <p:stCondLst>
                              <p:cond delay="0"/>
                            </p:stCondLst>
                            <p:childTnLst>
                              <p:par>
                                <p:cTn id="147" presetID="22" presetClass="entr" presetSubtype="4" fill="hold" grpId="0" nodeType="clickEffect">
                                  <p:stCondLst>
                                    <p:cond delay="0"/>
                                  </p:stCondLst>
                                  <p:childTnLst>
                                    <p:set>
                                      <p:cBhvr>
                                        <p:cTn id="148" dur="1" fill="hold">
                                          <p:stCondLst>
                                            <p:cond delay="0"/>
                                          </p:stCondLst>
                                        </p:cTn>
                                        <p:tgtEl>
                                          <p:spTgt spid="11347"/>
                                        </p:tgtEl>
                                        <p:attrNameLst>
                                          <p:attrName>style.visibility</p:attrName>
                                        </p:attrNameLst>
                                      </p:cBhvr>
                                      <p:to>
                                        <p:strVal val="visible"/>
                                      </p:to>
                                    </p:set>
                                    <p:animEffect transition="in" filter="wipe(down)">
                                      <p:cBhvr>
                                        <p:cTn id="149" dur="1000"/>
                                        <p:tgtEl>
                                          <p:spTgt spid="11347"/>
                                        </p:tgtEl>
                                      </p:cBhvr>
                                    </p:animEffect>
                                  </p:childTnLst>
                                </p:cTn>
                              </p:par>
                            </p:childTnLst>
                          </p:cTn>
                        </p:par>
                        <p:par>
                          <p:cTn id="150" fill="hold">
                            <p:stCondLst>
                              <p:cond delay="1000"/>
                            </p:stCondLst>
                            <p:childTnLst>
                              <p:par>
                                <p:cTn id="151" presetID="18" presetClass="entr" presetSubtype="12" fill="hold" grpId="0" nodeType="afterEffect">
                                  <p:stCondLst>
                                    <p:cond delay="0"/>
                                  </p:stCondLst>
                                  <p:childTnLst>
                                    <p:set>
                                      <p:cBhvr>
                                        <p:cTn id="152" dur="1" fill="hold">
                                          <p:stCondLst>
                                            <p:cond delay="0"/>
                                          </p:stCondLst>
                                        </p:cTn>
                                        <p:tgtEl>
                                          <p:spTgt spid="11346"/>
                                        </p:tgtEl>
                                        <p:attrNameLst>
                                          <p:attrName>style.visibility</p:attrName>
                                        </p:attrNameLst>
                                      </p:cBhvr>
                                      <p:to>
                                        <p:strVal val="visible"/>
                                      </p:to>
                                    </p:set>
                                    <p:animEffect transition="in" filter="strips(downLeft)">
                                      <p:cBhvr>
                                        <p:cTn id="153" dur="500"/>
                                        <p:tgtEl>
                                          <p:spTgt spid="11346"/>
                                        </p:tgtEl>
                                      </p:cBhvr>
                                    </p:animEffect>
                                  </p:childTnLst>
                                </p:cTn>
                              </p:par>
                            </p:childTnLst>
                          </p:cTn>
                        </p:par>
                      </p:childTnLst>
                    </p:cTn>
                  </p:par>
                  <p:par>
                    <p:cTn id="154" fill="hold">
                      <p:stCondLst>
                        <p:cond delay="indefinite"/>
                      </p:stCondLst>
                      <p:childTnLst>
                        <p:par>
                          <p:cTn id="155" fill="hold">
                            <p:stCondLst>
                              <p:cond delay="0"/>
                            </p:stCondLst>
                            <p:childTnLst>
                              <p:par>
                                <p:cTn id="156" presetID="31" presetClass="entr" presetSubtype="0" fill="hold" grpId="0" nodeType="clickEffect">
                                  <p:stCondLst>
                                    <p:cond delay="0"/>
                                  </p:stCondLst>
                                  <p:iterate type="lt">
                                    <p:tmPct val="5000"/>
                                  </p:iterate>
                                  <p:childTnLst>
                                    <p:set>
                                      <p:cBhvr>
                                        <p:cTn id="157" dur="1" fill="hold">
                                          <p:stCondLst>
                                            <p:cond delay="0"/>
                                          </p:stCondLst>
                                        </p:cTn>
                                        <p:tgtEl>
                                          <p:spTgt spid="11345"/>
                                        </p:tgtEl>
                                        <p:attrNameLst>
                                          <p:attrName>style.visibility</p:attrName>
                                        </p:attrNameLst>
                                      </p:cBhvr>
                                      <p:to>
                                        <p:strVal val="visible"/>
                                      </p:to>
                                    </p:set>
                                    <p:anim calcmode="lin" valueType="num">
                                      <p:cBhvr>
                                        <p:cTn id="158" dur="1000" fill="hold"/>
                                        <p:tgtEl>
                                          <p:spTgt spid="11345"/>
                                        </p:tgtEl>
                                        <p:attrNameLst>
                                          <p:attrName>ppt_w</p:attrName>
                                        </p:attrNameLst>
                                      </p:cBhvr>
                                      <p:tavLst>
                                        <p:tav tm="0">
                                          <p:val>
                                            <p:fltVal val="0"/>
                                          </p:val>
                                        </p:tav>
                                        <p:tav tm="100000">
                                          <p:val>
                                            <p:strVal val="#ppt_w"/>
                                          </p:val>
                                        </p:tav>
                                      </p:tavLst>
                                    </p:anim>
                                    <p:anim calcmode="lin" valueType="num">
                                      <p:cBhvr>
                                        <p:cTn id="159" dur="1000" fill="hold"/>
                                        <p:tgtEl>
                                          <p:spTgt spid="11345"/>
                                        </p:tgtEl>
                                        <p:attrNameLst>
                                          <p:attrName>ppt_h</p:attrName>
                                        </p:attrNameLst>
                                      </p:cBhvr>
                                      <p:tavLst>
                                        <p:tav tm="0">
                                          <p:val>
                                            <p:fltVal val="0"/>
                                          </p:val>
                                        </p:tav>
                                        <p:tav tm="100000">
                                          <p:val>
                                            <p:strVal val="#ppt_h"/>
                                          </p:val>
                                        </p:tav>
                                      </p:tavLst>
                                    </p:anim>
                                    <p:anim calcmode="lin" valueType="num">
                                      <p:cBhvr>
                                        <p:cTn id="160" dur="1000" fill="hold"/>
                                        <p:tgtEl>
                                          <p:spTgt spid="11345"/>
                                        </p:tgtEl>
                                        <p:attrNameLst>
                                          <p:attrName>style.rotation</p:attrName>
                                        </p:attrNameLst>
                                      </p:cBhvr>
                                      <p:tavLst>
                                        <p:tav tm="0">
                                          <p:val>
                                            <p:fltVal val="90"/>
                                          </p:val>
                                        </p:tav>
                                        <p:tav tm="100000">
                                          <p:val>
                                            <p:fltVal val="0"/>
                                          </p:val>
                                        </p:tav>
                                      </p:tavLst>
                                    </p:anim>
                                    <p:animEffect transition="in" filter="fade">
                                      <p:cBhvr>
                                        <p:cTn id="161" dur="1000"/>
                                        <p:tgtEl>
                                          <p:spTgt spid="11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18" grpId="0" animBg="1"/>
      <p:bldP spid="11318" grpId="1" animBg="1"/>
      <p:bldP spid="11319" grpId="0" animBg="1"/>
      <p:bldP spid="11329" grpId="0" animBg="1"/>
      <p:bldP spid="11329" grpId="1" animBg="1"/>
      <p:bldP spid="11330" grpId="0" animBg="1"/>
      <p:bldP spid="11330" grpId="1" animBg="1"/>
      <p:bldP spid="11331" grpId="0" animBg="1"/>
      <p:bldP spid="11331" grpId="1" animBg="1"/>
      <p:bldP spid="11331" grpId="2" animBg="1"/>
      <p:bldP spid="11332" grpId="0" animBg="1"/>
      <p:bldP spid="11333" grpId="0" animBg="1"/>
      <p:bldP spid="11334" grpId="0" animBg="1"/>
      <p:bldP spid="11334" grpId="1" animBg="1"/>
      <p:bldP spid="11334" grpId="2" animBg="1"/>
      <p:bldP spid="11335" grpId="0" animBg="1"/>
      <p:bldP spid="11336" grpId="0" autoUpdateAnimBg="0"/>
      <p:bldP spid="11337" grpId="0" animBg="1"/>
      <p:bldP spid="11337" grpId="1" animBg="1"/>
      <p:bldP spid="11338" grpId="0" animBg="1"/>
      <p:bldP spid="11339" grpId="0" animBg="1"/>
      <p:bldP spid="11340" grpId="0" animBg="1"/>
      <p:bldP spid="11341" grpId="0" animBg="1"/>
      <p:bldP spid="11342" grpId="0" autoUpdateAnimBg="0"/>
      <p:bldP spid="11343" grpId="0" animBg="1"/>
      <p:bldP spid="11343" grpId="1" animBg="1"/>
      <p:bldP spid="11345" grpId="0" animBg="1"/>
      <p:bldP spid="11346" grpId="0" animBg="1"/>
      <p:bldP spid="1134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Text Box 4"/>
          <p:cNvSpPr txBox="1">
            <a:spLocks noChangeArrowheads="1"/>
          </p:cNvSpPr>
          <p:nvPr/>
        </p:nvSpPr>
        <p:spPr bwMode="auto">
          <a:xfrm>
            <a:off x="251520" y="692696"/>
            <a:ext cx="8640960" cy="3938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6762" tIns="48381" rIns="96762" bIns="48381">
            <a:spAutoFit/>
          </a:bodyPr>
          <a:lstStyle>
            <a:lvl1pPr defTabSz="863600" eaLnBrk="0" hangingPunct="0">
              <a:defRPr sz="2400">
                <a:solidFill>
                  <a:schemeClr val="tx1"/>
                </a:solidFill>
                <a:latin typeface="Arial" panose="020B0604020202020204" pitchFamily="34" charset="0"/>
                <a:ea typeface="宋体" panose="02010600030101010101" pitchFamily="2" charset="-122"/>
              </a:defRPr>
            </a:lvl1pPr>
            <a:lvl2pPr marL="742950" indent="-285750" defTabSz="863600" eaLnBrk="0" hangingPunct="0">
              <a:defRPr sz="2400">
                <a:solidFill>
                  <a:schemeClr val="tx1"/>
                </a:solidFill>
                <a:latin typeface="Arial" panose="020B0604020202020204" pitchFamily="34" charset="0"/>
                <a:ea typeface="宋体" panose="02010600030101010101" pitchFamily="2" charset="-122"/>
              </a:defRPr>
            </a:lvl2pPr>
            <a:lvl3pPr marL="1143000" indent="-228600" defTabSz="863600" eaLnBrk="0" hangingPunct="0">
              <a:defRPr sz="2400">
                <a:solidFill>
                  <a:schemeClr val="tx1"/>
                </a:solidFill>
                <a:latin typeface="Arial" panose="020B0604020202020204" pitchFamily="34" charset="0"/>
                <a:ea typeface="宋体" panose="02010600030101010101" pitchFamily="2" charset="-122"/>
              </a:defRPr>
            </a:lvl3pPr>
            <a:lvl4pPr marL="1600200" indent="-228600" defTabSz="863600" eaLnBrk="0" hangingPunct="0">
              <a:defRPr sz="2400">
                <a:solidFill>
                  <a:schemeClr val="tx1"/>
                </a:solidFill>
                <a:latin typeface="Arial" panose="020B0604020202020204" pitchFamily="34" charset="0"/>
                <a:ea typeface="宋体" panose="02010600030101010101" pitchFamily="2" charset="-122"/>
              </a:defRPr>
            </a:lvl4pPr>
            <a:lvl5pPr marL="2057400" indent="-228600" defTabSz="863600" eaLnBrk="0" hangingPunct="0">
              <a:defRPr sz="2400">
                <a:solidFill>
                  <a:schemeClr val="tx1"/>
                </a:solidFill>
                <a:latin typeface="Arial" panose="020B0604020202020204" pitchFamily="34" charset="0"/>
                <a:ea typeface="宋体" panose="02010600030101010101" pitchFamily="2" charset="-122"/>
              </a:defRPr>
            </a:lvl5pPr>
            <a:lvl6pPr marL="25146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dirty="0"/>
              <a:t>        </a:t>
            </a:r>
            <a:r>
              <a:rPr lang="zh-CN" altLang="en-US" sz="3200" b="1" dirty="0"/>
              <a:t>由输入特性曲线可以看出：</a:t>
            </a:r>
          </a:p>
          <a:p>
            <a:pPr eaLnBrk="1" hangingPunct="1">
              <a:lnSpc>
                <a:spcPct val="130000"/>
              </a:lnSpc>
            </a:pPr>
            <a:r>
              <a:rPr lang="zh-CN" altLang="en-US" sz="3200" b="1" dirty="0"/>
              <a:t>        曲线是非线性的，也存在一段死区，当外加</a:t>
            </a:r>
            <a:r>
              <a:rPr lang="en-US" altLang="zh-CN" sz="3200" b="1" i="1" dirty="0"/>
              <a:t>U</a:t>
            </a:r>
            <a:r>
              <a:rPr lang="en-US" altLang="zh-CN" sz="3200" b="1" baseline="-25000" dirty="0"/>
              <a:t>BE</a:t>
            </a:r>
            <a:r>
              <a:rPr lang="zh-CN" altLang="en-US" sz="3200" b="1" dirty="0"/>
              <a:t>电压小于死区电压时，三极管不能导通，处于截止状态。</a:t>
            </a:r>
          </a:p>
          <a:p>
            <a:pPr eaLnBrk="1" hangingPunct="1">
              <a:lnSpc>
                <a:spcPct val="130000"/>
              </a:lnSpc>
            </a:pPr>
            <a:r>
              <a:rPr lang="zh-CN" altLang="en-US" sz="3200" b="1" dirty="0"/>
              <a:t>        三极管正常工作时，</a:t>
            </a:r>
            <a:r>
              <a:rPr lang="en-US" altLang="zh-CN" sz="3200" b="1" i="1" dirty="0">
                <a:latin typeface="宋体" panose="02010600030101010101" pitchFamily="2" charset="-122"/>
              </a:rPr>
              <a:t>U</a:t>
            </a:r>
            <a:r>
              <a:rPr lang="en-US" altLang="zh-CN" sz="3200" b="1" baseline="-25000" dirty="0"/>
              <a:t>BE</a:t>
            </a:r>
            <a:r>
              <a:rPr lang="zh-CN" altLang="en-US" sz="3200" b="1" dirty="0"/>
              <a:t>变化不大，对于硅管，</a:t>
            </a:r>
            <a:r>
              <a:rPr lang="en-US" altLang="zh-CN" sz="3200" b="1" i="1" dirty="0">
                <a:latin typeface="宋体" panose="02010600030101010101" pitchFamily="2" charset="-122"/>
              </a:rPr>
              <a:t>U</a:t>
            </a:r>
            <a:r>
              <a:rPr lang="en-US" altLang="zh-CN" sz="3200" b="1" baseline="-25000" dirty="0"/>
              <a:t>BE</a:t>
            </a:r>
            <a:r>
              <a:rPr lang="zh-CN" altLang="en-US" sz="3200" b="1" dirty="0"/>
              <a:t>约为</a:t>
            </a:r>
            <a:r>
              <a:rPr lang="en-US" altLang="zh-CN" sz="3200" b="1" dirty="0"/>
              <a:t>0.7V</a:t>
            </a:r>
            <a:r>
              <a:rPr lang="zh-CN" altLang="en-US" sz="3200" b="1" dirty="0"/>
              <a:t>左右，锗管的约为</a:t>
            </a:r>
            <a:r>
              <a:rPr lang="en-US" altLang="zh-CN" sz="3200" b="1" dirty="0"/>
              <a:t>0.3V</a:t>
            </a:r>
            <a:r>
              <a:rPr lang="zh-CN" altLang="en-US" sz="3200" b="1" dirty="0"/>
              <a:t>左右。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animEffect transition="in" filter="wipe(left)">
                                      <p:cBhvr>
                                        <p:cTn id="7" dur="500"/>
                                        <p:tgtEl>
                                          <p:spTgt spid="307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724">
                                            <p:txEl>
                                              <p:pRg st="1" end="1"/>
                                            </p:txEl>
                                          </p:spTgt>
                                        </p:tgtEl>
                                        <p:attrNameLst>
                                          <p:attrName>style.visibility</p:attrName>
                                        </p:attrNameLst>
                                      </p:cBhvr>
                                      <p:to>
                                        <p:strVal val="visible"/>
                                      </p:to>
                                    </p:set>
                                    <p:animEffect transition="in" filter="wipe(left)">
                                      <p:cBhvr>
                                        <p:cTn id="12" dur="500"/>
                                        <p:tgtEl>
                                          <p:spTgt spid="3072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724">
                                            <p:txEl>
                                              <p:pRg st="2" end="2"/>
                                            </p:txEl>
                                          </p:spTgt>
                                        </p:tgtEl>
                                        <p:attrNameLst>
                                          <p:attrName>style.visibility</p:attrName>
                                        </p:attrNameLst>
                                      </p:cBhvr>
                                      <p:to>
                                        <p:strVal val="visible"/>
                                      </p:to>
                                    </p:set>
                                    <p:animEffect transition="in" filter="wipe(left)">
                                      <p:cBhvr>
                                        <p:cTn id="17" dur="500"/>
                                        <p:tgtEl>
                                          <p:spTgt spid="3072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700088" y="585788"/>
            <a:ext cx="2443162" cy="365125"/>
          </a:xfrm>
          <a:prstGeom prst="rect">
            <a:avLst/>
          </a:prstGeom>
          <a:gradFill rotWithShape="1">
            <a:gsLst>
              <a:gs pos="0">
                <a:srgbClr val="FFFF99"/>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kumimoji="1" lang="en-US" altLang="zh-CN" sz="2400">
                <a:solidFill>
                  <a:srgbClr val="003300"/>
                </a:solidFill>
                <a:latin typeface="Times New Roman" panose="02020603050405020304" pitchFamily="18" charset="0"/>
                <a:ea typeface="隶书" panose="02010509060101010101" pitchFamily="49" charset="-122"/>
              </a:rPr>
              <a:t>(2) </a:t>
            </a:r>
            <a:r>
              <a:rPr kumimoji="1" lang="zh-CN" altLang="en-US" sz="2400">
                <a:solidFill>
                  <a:srgbClr val="003300"/>
                </a:solidFill>
                <a:latin typeface="Times New Roman" panose="02020603050405020304" pitchFamily="18" charset="0"/>
                <a:ea typeface="隶书" panose="02010509060101010101" pitchFamily="49" charset="-122"/>
              </a:rPr>
              <a:t>输出特性曲线</a:t>
            </a:r>
          </a:p>
        </p:txBody>
      </p:sp>
      <p:sp>
        <p:nvSpPr>
          <p:cNvPr id="12291" name="AutoShape 3"/>
          <p:cNvSpPr>
            <a:spLocks noChangeArrowheads="1"/>
          </p:cNvSpPr>
          <p:nvPr/>
        </p:nvSpPr>
        <p:spPr bwMode="auto">
          <a:xfrm>
            <a:off x="544513" y="2339975"/>
            <a:ext cx="1295400" cy="811213"/>
          </a:xfrm>
          <a:prstGeom prst="wedgeRoundRectCallout">
            <a:avLst>
              <a:gd name="adj1" fmla="val 38356"/>
              <a:gd name="adj2" fmla="val 79745"/>
              <a:gd name="adj3" fmla="val 16667"/>
            </a:avLst>
          </a:prstGeom>
          <a:gradFill rotWithShape="1">
            <a:gsLst>
              <a:gs pos="0">
                <a:srgbClr val="FFFFFF">
                  <a:alpha val="0"/>
                </a:srgbClr>
              </a:gs>
              <a:gs pos="100000">
                <a:srgbClr val="CCFF99">
                  <a:alpha val="87000"/>
                </a:srgbClr>
              </a:gs>
            </a:gsLst>
            <a:lin ang="2700000" scaled="1"/>
          </a:gradFill>
          <a:ln w="952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nSpc>
                <a:spcPct val="90000"/>
              </a:lnSpc>
            </a:pPr>
            <a:r>
              <a:rPr kumimoji="1" lang="zh-CN" altLang="en-US" b="1">
                <a:solidFill>
                  <a:srgbClr val="003300"/>
                </a:solidFill>
                <a:latin typeface="Times New Roman" panose="02020603050405020304" pitchFamily="18" charset="0"/>
                <a:ea typeface="楷体_GB2312" pitchFamily="49" charset="-122"/>
              </a:rPr>
              <a:t>先把</a:t>
            </a:r>
            <a:r>
              <a:rPr kumimoji="1" lang="en-US" altLang="zh-CN" b="1" i="1">
                <a:solidFill>
                  <a:srgbClr val="003300"/>
                </a:solidFill>
                <a:latin typeface="Times New Roman" panose="02020603050405020304" pitchFamily="18" charset="0"/>
                <a:ea typeface="楷体_GB2312" pitchFamily="49" charset="-122"/>
              </a:rPr>
              <a:t>I</a:t>
            </a:r>
            <a:r>
              <a:rPr kumimoji="1" lang="en-US" altLang="zh-CN" b="1" baseline="-25000">
                <a:solidFill>
                  <a:srgbClr val="003300"/>
                </a:solidFill>
                <a:latin typeface="Times New Roman" panose="02020603050405020304" pitchFamily="18" charset="0"/>
                <a:ea typeface="楷体_GB2312" pitchFamily="49" charset="-122"/>
              </a:rPr>
              <a:t>B</a:t>
            </a:r>
            <a:r>
              <a:rPr kumimoji="1" lang="zh-CN" altLang="en-US" b="1">
                <a:solidFill>
                  <a:srgbClr val="003300"/>
                </a:solidFill>
                <a:latin typeface="Times New Roman" panose="02020603050405020304" pitchFamily="18" charset="0"/>
                <a:ea typeface="楷体_GB2312" pitchFamily="49" charset="-122"/>
              </a:rPr>
              <a:t>调到某一固定值保持不变。</a:t>
            </a:r>
            <a:endParaRPr kumimoji="1" lang="zh-CN" altLang="en-US" b="1" baseline="-25000">
              <a:solidFill>
                <a:srgbClr val="003300"/>
              </a:solidFill>
              <a:latin typeface="Times New Roman" panose="02020603050405020304" pitchFamily="18" charset="0"/>
              <a:ea typeface="楷体_GB2312" pitchFamily="49" charset="-122"/>
            </a:endParaRPr>
          </a:p>
        </p:txBody>
      </p:sp>
      <p:sp>
        <p:nvSpPr>
          <p:cNvPr id="12292" name="Text Box 4"/>
          <p:cNvSpPr txBox="1">
            <a:spLocks noChangeArrowheads="1"/>
          </p:cNvSpPr>
          <p:nvPr/>
        </p:nvSpPr>
        <p:spPr bwMode="auto">
          <a:xfrm>
            <a:off x="504825" y="1042988"/>
            <a:ext cx="7993063" cy="730250"/>
          </a:xfrm>
          <a:prstGeom prst="rect">
            <a:avLst/>
          </a:prstGeom>
          <a:noFill/>
          <a:ln>
            <a:noFill/>
          </a:ln>
          <a:effectLst/>
          <a:extLst>
            <a:ext uri="{909E8E84-426E-40DD-AFC4-6F175D3DCCD1}">
              <a14:hiddenFill xmlns:a14="http://schemas.microsoft.com/office/drawing/2010/main">
                <a:gradFill rotWithShape="1">
                  <a:gsLst>
                    <a:gs pos="0">
                      <a:srgbClr val="FF9933">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kumimoji="1" lang="en-US" altLang="zh-CN" sz="2400">
                <a:solidFill>
                  <a:srgbClr val="000048"/>
                </a:solidFill>
                <a:latin typeface="Times New Roman" panose="02020603050405020304" pitchFamily="18" charset="0"/>
                <a:ea typeface="隶书" panose="02010509060101010101" pitchFamily="49" charset="-122"/>
              </a:rPr>
              <a:t>      </a:t>
            </a:r>
            <a:r>
              <a:rPr kumimoji="1" lang="zh-CN" altLang="en-US" sz="2400">
                <a:solidFill>
                  <a:srgbClr val="000048"/>
                </a:solidFill>
                <a:latin typeface="Times New Roman" panose="02020603050405020304" pitchFamily="18" charset="0"/>
                <a:ea typeface="隶书" panose="02010509060101010101" pitchFamily="49" charset="-122"/>
              </a:rPr>
              <a:t>当</a:t>
            </a:r>
            <a:r>
              <a:rPr kumimoji="1" lang="en-US" altLang="zh-CN" sz="2400" i="1">
                <a:solidFill>
                  <a:srgbClr val="000048"/>
                </a:solidFill>
                <a:latin typeface="Times New Roman" panose="02020603050405020304" pitchFamily="18" charset="0"/>
                <a:ea typeface="隶书" panose="02010509060101010101" pitchFamily="49" charset="-122"/>
              </a:rPr>
              <a:t>I</a:t>
            </a:r>
            <a:r>
              <a:rPr kumimoji="1" lang="en-US" altLang="zh-CN" sz="2400" baseline="-25000">
                <a:solidFill>
                  <a:srgbClr val="000048"/>
                </a:solidFill>
                <a:latin typeface="Times New Roman" panose="02020603050405020304" pitchFamily="18" charset="0"/>
                <a:ea typeface="隶书" panose="02010509060101010101" pitchFamily="49" charset="-122"/>
              </a:rPr>
              <a:t>B</a:t>
            </a:r>
            <a:r>
              <a:rPr kumimoji="1" lang="zh-CN" altLang="en-US" sz="2400">
                <a:solidFill>
                  <a:srgbClr val="000048"/>
                </a:solidFill>
                <a:latin typeface="Times New Roman" panose="02020603050405020304" pitchFamily="18" charset="0"/>
                <a:ea typeface="隶书" panose="02010509060101010101" pitchFamily="49" charset="-122"/>
              </a:rPr>
              <a:t>不变时，输出回路中的电流</a:t>
            </a:r>
            <a:r>
              <a:rPr kumimoji="1" lang="en-US" altLang="zh-CN" sz="2400" i="1">
                <a:solidFill>
                  <a:srgbClr val="FF0066"/>
                </a:solidFill>
                <a:latin typeface="Times New Roman" panose="02020603050405020304" pitchFamily="18" charset="0"/>
                <a:ea typeface="隶书" panose="02010509060101010101" pitchFamily="49" charset="-122"/>
              </a:rPr>
              <a:t>I</a:t>
            </a:r>
            <a:r>
              <a:rPr kumimoji="1" lang="en-US" altLang="zh-CN" sz="2400" baseline="-25000">
                <a:solidFill>
                  <a:srgbClr val="FF0066"/>
                </a:solidFill>
                <a:latin typeface="Times New Roman" panose="02020603050405020304" pitchFamily="18" charset="0"/>
                <a:ea typeface="隶书" panose="02010509060101010101" pitchFamily="49" charset="-122"/>
              </a:rPr>
              <a:t>C</a:t>
            </a:r>
            <a:r>
              <a:rPr kumimoji="1" lang="zh-CN" altLang="en-US" sz="2400">
                <a:solidFill>
                  <a:srgbClr val="000048"/>
                </a:solidFill>
                <a:latin typeface="Times New Roman" panose="02020603050405020304" pitchFamily="18" charset="0"/>
                <a:ea typeface="隶书" panose="02010509060101010101" pitchFamily="49" charset="-122"/>
              </a:rPr>
              <a:t>与管子输出端电压</a:t>
            </a:r>
            <a:r>
              <a:rPr kumimoji="1" lang="en-US" altLang="zh-CN" sz="2400" i="1">
                <a:solidFill>
                  <a:srgbClr val="FF0066"/>
                </a:solidFill>
                <a:latin typeface="Times New Roman" panose="02020603050405020304" pitchFamily="18" charset="0"/>
                <a:ea typeface="隶书" panose="02010509060101010101" pitchFamily="49" charset="-122"/>
              </a:rPr>
              <a:t>U</a:t>
            </a:r>
            <a:r>
              <a:rPr kumimoji="1" lang="en-US" altLang="zh-CN" sz="2400" baseline="-25000">
                <a:solidFill>
                  <a:srgbClr val="FF0066"/>
                </a:solidFill>
                <a:latin typeface="Times New Roman" panose="02020603050405020304" pitchFamily="18" charset="0"/>
                <a:ea typeface="隶书" panose="02010509060101010101" pitchFamily="49" charset="-122"/>
              </a:rPr>
              <a:t>CE</a:t>
            </a:r>
            <a:r>
              <a:rPr kumimoji="1" lang="zh-CN" altLang="en-US" sz="2400">
                <a:solidFill>
                  <a:srgbClr val="000048"/>
                </a:solidFill>
                <a:latin typeface="Times New Roman" panose="02020603050405020304" pitchFamily="18" charset="0"/>
                <a:ea typeface="隶书" panose="02010509060101010101" pitchFamily="49" charset="-122"/>
              </a:rPr>
              <a:t>之间的关系曲线称为输出特性。</a:t>
            </a:r>
            <a:endParaRPr kumimoji="1" lang="zh-CN" altLang="en-US" sz="1400">
              <a:solidFill>
                <a:srgbClr val="000048"/>
              </a:solidFill>
              <a:latin typeface="Times New Roman" panose="02020603050405020304" pitchFamily="18" charset="0"/>
            </a:endParaRPr>
          </a:p>
        </p:txBody>
      </p:sp>
      <p:sp>
        <p:nvSpPr>
          <p:cNvPr id="12293" name="AutoShape 5"/>
          <p:cNvSpPr>
            <a:spLocks noChangeArrowheads="1"/>
          </p:cNvSpPr>
          <p:nvPr/>
        </p:nvSpPr>
        <p:spPr bwMode="auto">
          <a:xfrm>
            <a:off x="904875" y="5003800"/>
            <a:ext cx="2735263" cy="811213"/>
          </a:xfrm>
          <a:prstGeom prst="wedgeRoundRectCallout">
            <a:avLst>
              <a:gd name="adj1" fmla="val 50060"/>
              <a:gd name="adj2" fmla="val -169764"/>
              <a:gd name="adj3" fmla="val 16667"/>
            </a:avLst>
          </a:prstGeom>
          <a:gradFill rotWithShape="1">
            <a:gsLst>
              <a:gs pos="0">
                <a:srgbClr val="FFFFFF">
                  <a:alpha val="0"/>
                </a:srgbClr>
              </a:gs>
              <a:gs pos="100000">
                <a:srgbClr val="CCFF99">
                  <a:alpha val="87000"/>
                </a:srgbClr>
              </a:gs>
            </a:gsLst>
            <a:lin ang="2700000" scaled="1"/>
          </a:gradFill>
          <a:ln w="952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nSpc>
                <a:spcPct val="90000"/>
              </a:lnSpc>
            </a:pPr>
            <a:r>
              <a:rPr kumimoji="1" lang="zh-CN" altLang="en-US" b="1">
                <a:solidFill>
                  <a:srgbClr val="003300"/>
                </a:solidFill>
                <a:latin typeface="Times New Roman" panose="02020603050405020304" pitchFamily="18" charset="0"/>
                <a:ea typeface="楷体_GB2312" pitchFamily="49" charset="-122"/>
              </a:rPr>
              <a:t>然后调节</a:t>
            </a:r>
            <a:r>
              <a:rPr kumimoji="1" lang="en-US" altLang="zh-CN" b="1" i="1">
                <a:solidFill>
                  <a:srgbClr val="003300"/>
                </a:solidFill>
                <a:latin typeface="Times New Roman" panose="02020603050405020304" pitchFamily="18" charset="0"/>
                <a:ea typeface="楷体_GB2312" pitchFamily="49" charset="-122"/>
              </a:rPr>
              <a:t>U</a:t>
            </a:r>
            <a:r>
              <a:rPr kumimoji="1" lang="en-US" altLang="zh-CN" b="1" baseline="-25000">
                <a:solidFill>
                  <a:srgbClr val="003300"/>
                </a:solidFill>
                <a:latin typeface="Times New Roman" panose="02020603050405020304" pitchFamily="18" charset="0"/>
                <a:ea typeface="楷体_GB2312" pitchFamily="49" charset="-122"/>
              </a:rPr>
              <a:t>CC</a:t>
            </a:r>
            <a:r>
              <a:rPr kumimoji="1" lang="zh-CN" altLang="en-US" b="1">
                <a:solidFill>
                  <a:srgbClr val="003300"/>
                </a:solidFill>
                <a:latin typeface="Times New Roman" panose="02020603050405020304" pitchFamily="18" charset="0"/>
                <a:ea typeface="楷体_GB2312" pitchFamily="49" charset="-122"/>
              </a:rPr>
              <a:t>使</a:t>
            </a:r>
            <a:r>
              <a:rPr kumimoji="1" lang="en-US" altLang="zh-CN" b="1" i="1">
                <a:solidFill>
                  <a:srgbClr val="003300"/>
                </a:solidFill>
                <a:latin typeface="Times New Roman" panose="02020603050405020304" pitchFamily="18" charset="0"/>
                <a:ea typeface="楷体_GB2312" pitchFamily="49" charset="-122"/>
              </a:rPr>
              <a:t>U</a:t>
            </a:r>
            <a:r>
              <a:rPr kumimoji="1" lang="en-US" altLang="zh-CN" b="1" baseline="-25000">
                <a:solidFill>
                  <a:srgbClr val="003300"/>
                </a:solidFill>
                <a:latin typeface="Times New Roman" panose="02020603050405020304" pitchFamily="18" charset="0"/>
                <a:ea typeface="楷体_GB2312" pitchFamily="49" charset="-122"/>
              </a:rPr>
              <a:t>CE</a:t>
            </a:r>
            <a:r>
              <a:rPr kumimoji="1" lang="zh-CN" altLang="en-US" b="1">
                <a:solidFill>
                  <a:srgbClr val="003300"/>
                </a:solidFill>
                <a:latin typeface="Times New Roman" panose="02020603050405020304" pitchFamily="18" charset="0"/>
                <a:ea typeface="楷体_GB2312" pitchFamily="49" charset="-122"/>
              </a:rPr>
              <a:t>从</a:t>
            </a:r>
            <a:r>
              <a:rPr kumimoji="1" lang="en-US" altLang="zh-CN" b="1">
                <a:solidFill>
                  <a:srgbClr val="003300"/>
                </a:solidFill>
                <a:latin typeface="Times New Roman" panose="02020603050405020304" pitchFamily="18" charset="0"/>
                <a:ea typeface="楷体_GB2312" pitchFamily="49" charset="-122"/>
              </a:rPr>
              <a:t>0</a:t>
            </a:r>
            <a:r>
              <a:rPr kumimoji="1" lang="zh-CN" altLang="en-US" b="1">
                <a:solidFill>
                  <a:srgbClr val="003300"/>
                </a:solidFill>
                <a:latin typeface="Times New Roman" panose="02020603050405020304" pitchFamily="18" charset="0"/>
                <a:ea typeface="楷体_GB2312" pitchFamily="49" charset="-122"/>
              </a:rPr>
              <a:t>增大，观察毫安表中</a:t>
            </a:r>
            <a:r>
              <a:rPr kumimoji="1" lang="en-US" altLang="zh-CN" b="1" i="1">
                <a:solidFill>
                  <a:srgbClr val="003300"/>
                </a:solidFill>
                <a:latin typeface="Times New Roman" panose="02020603050405020304" pitchFamily="18" charset="0"/>
                <a:ea typeface="楷体_GB2312" pitchFamily="49" charset="-122"/>
              </a:rPr>
              <a:t>I</a:t>
            </a:r>
            <a:r>
              <a:rPr kumimoji="1" lang="en-US" altLang="zh-CN" b="1" baseline="-25000">
                <a:solidFill>
                  <a:srgbClr val="003300"/>
                </a:solidFill>
                <a:latin typeface="Times New Roman" panose="02020603050405020304" pitchFamily="18" charset="0"/>
                <a:ea typeface="楷体_GB2312" pitchFamily="49" charset="-122"/>
              </a:rPr>
              <a:t>C</a:t>
            </a:r>
            <a:r>
              <a:rPr kumimoji="1" lang="zh-CN" altLang="en-US" b="1">
                <a:solidFill>
                  <a:srgbClr val="003300"/>
                </a:solidFill>
                <a:latin typeface="Times New Roman" panose="02020603050405020304" pitchFamily="18" charset="0"/>
                <a:ea typeface="楷体_GB2312" pitchFamily="49" charset="-122"/>
              </a:rPr>
              <a:t>的变化并记录下来。</a:t>
            </a:r>
            <a:endParaRPr kumimoji="1" lang="zh-CN" altLang="en-US" b="1" baseline="-25000">
              <a:solidFill>
                <a:srgbClr val="003300"/>
              </a:solidFill>
              <a:latin typeface="Times New Roman" panose="02020603050405020304" pitchFamily="18" charset="0"/>
              <a:ea typeface="楷体_GB2312" pitchFamily="49" charset="-122"/>
            </a:endParaRPr>
          </a:p>
        </p:txBody>
      </p:sp>
      <p:grpSp>
        <p:nvGrpSpPr>
          <p:cNvPr id="12294" name="Group 6"/>
          <p:cNvGrpSpPr/>
          <p:nvPr/>
        </p:nvGrpSpPr>
        <p:grpSpPr bwMode="auto">
          <a:xfrm>
            <a:off x="2597150" y="2794000"/>
            <a:ext cx="682625" cy="2051050"/>
            <a:chOff x="4241" y="1888"/>
            <a:chExt cx="430" cy="1292"/>
          </a:xfrm>
        </p:grpSpPr>
        <p:sp>
          <p:nvSpPr>
            <p:cNvPr id="13380" name="Line 7"/>
            <p:cNvSpPr>
              <a:spLocks noChangeShapeType="1"/>
            </p:cNvSpPr>
            <p:nvPr/>
          </p:nvSpPr>
          <p:spPr bwMode="auto">
            <a:xfrm rot="5400000">
              <a:off x="3595" y="2534"/>
              <a:ext cx="1292" cy="0"/>
            </a:xfrm>
            <a:prstGeom prst="line">
              <a:avLst/>
            </a:prstGeom>
            <a:noFill/>
            <a:ln w="28575">
              <a:solidFill>
                <a:srgbClr val="FF66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81" name="Text Box 8"/>
            <p:cNvSpPr txBox="1">
              <a:spLocks noChangeArrowheads="1"/>
            </p:cNvSpPr>
            <p:nvPr/>
          </p:nvSpPr>
          <p:spPr bwMode="auto">
            <a:xfrm>
              <a:off x="4263" y="2341"/>
              <a:ext cx="408" cy="182"/>
            </a:xfrm>
            <a:prstGeom prst="rect">
              <a:avLst/>
            </a:prstGeom>
            <a:noFill/>
            <a:ln>
              <a:noFill/>
            </a:ln>
            <a:effectLst/>
            <a:extLst>
              <a:ext uri="{909E8E84-426E-40DD-AFC4-6F175D3DCCD1}">
                <a14:hiddenFill xmlns:a14="http://schemas.microsoft.com/office/drawing/2010/main">
                  <a:gradFill rotWithShape="1">
                    <a:gsLst>
                      <a:gs pos="0">
                        <a:srgbClr val="FF9933">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n-US" altLang="zh-CN" sz="2000" b="1" i="1">
                  <a:solidFill>
                    <a:srgbClr val="003300"/>
                  </a:solidFill>
                  <a:latin typeface="Times New Roman" panose="02020603050405020304" pitchFamily="18" charset="0"/>
                </a:rPr>
                <a:t>U</a:t>
              </a:r>
              <a:r>
                <a:rPr kumimoji="1" lang="en-US" altLang="zh-CN" sz="2000" b="1" baseline="-25000">
                  <a:solidFill>
                    <a:srgbClr val="003300"/>
                  </a:solidFill>
                  <a:latin typeface="Times New Roman" panose="02020603050405020304" pitchFamily="18" charset="0"/>
                </a:rPr>
                <a:t>CE</a:t>
              </a:r>
              <a:endParaRPr kumimoji="1" lang="en-US" altLang="zh-CN" sz="2000" b="1" i="1">
                <a:solidFill>
                  <a:srgbClr val="003300"/>
                </a:solidFill>
                <a:latin typeface="Times New Roman" panose="02020603050405020304" pitchFamily="18" charset="0"/>
              </a:endParaRPr>
            </a:p>
          </p:txBody>
        </p:sp>
      </p:grpSp>
      <p:grpSp>
        <p:nvGrpSpPr>
          <p:cNvPr id="12297" name="Group 9"/>
          <p:cNvGrpSpPr/>
          <p:nvPr/>
        </p:nvGrpSpPr>
        <p:grpSpPr bwMode="auto">
          <a:xfrm>
            <a:off x="544513" y="2447925"/>
            <a:ext cx="3852862" cy="2432050"/>
            <a:chOff x="408" y="1185"/>
            <a:chExt cx="2427" cy="1532"/>
          </a:xfrm>
        </p:grpSpPr>
        <p:grpSp>
          <p:nvGrpSpPr>
            <p:cNvPr id="13331" name="Group 10"/>
            <p:cNvGrpSpPr/>
            <p:nvPr/>
          </p:nvGrpSpPr>
          <p:grpSpPr bwMode="auto">
            <a:xfrm rot="16200000" flipV="1">
              <a:off x="1139" y="1815"/>
              <a:ext cx="288" cy="344"/>
              <a:chOff x="4168" y="3064"/>
              <a:chExt cx="288" cy="344"/>
            </a:xfrm>
          </p:grpSpPr>
          <p:sp>
            <p:nvSpPr>
              <p:cNvPr id="13375" name="Rectangle 11"/>
              <p:cNvSpPr>
                <a:spLocks noChangeArrowheads="1"/>
              </p:cNvSpPr>
              <p:nvPr/>
            </p:nvSpPr>
            <p:spPr bwMode="auto">
              <a:xfrm>
                <a:off x="4176" y="3084"/>
                <a:ext cx="276" cy="312"/>
              </a:xfrm>
              <a:prstGeom prst="rect">
                <a:avLst/>
              </a:prstGeom>
              <a:solidFill>
                <a:schemeClr val="bg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3376" name="Line 12"/>
              <p:cNvSpPr>
                <a:spLocks noChangeShapeType="1"/>
              </p:cNvSpPr>
              <p:nvPr/>
            </p:nvSpPr>
            <p:spPr bwMode="auto">
              <a:xfrm>
                <a:off x="4168" y="3248"/>
                <a:ext cx="288" cy="1"/>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77" name="Line 13"/>
              <p:cNvSpPr>
                <a:spLocks noChangeShapeType="1"/>
              </p:cNvSpPr>
              <p:nvPr/>
            </p:nvSpPr>
            <p:spPr bwMode="auto">
              <a:xfrm flipH="1" flipV="1">
                <a:off x="4168" y="3064"/>
                <a:ext cx="120" cy="192"/>
              </a:xfrm>
              <a:prstGeom prst="line">
                <a:avLst/>
              </a:prstGeom>
              <a:noFill/>
              <a:ln w="38100">
                <a:solidFill>
                  <a:srgbClr val="00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78" name="Line 14"/>
              <p:cNvSpPr>
                <a:spLocks noChangeShapeType="1"/>
              </p:cNvSpPr>
              <p:nvPr/>
            </p:nvSpPr>
            <p:spPr bwMode="auto">
              <a:xfrm flipV="1">
                <a:off x="4368" y="3080"/>
                <a:ext cx="80" cy="152"/>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79" name="Line 15"/>
              <p:cNvSpPr>
                <a:spLocks noChangeShapeType="1"/>
              </p:cNvSpPr>
              <p:nvPr/>
            </p:nvSpPr>
            <p:spPr bwMode="auto">
              <a:xfrm>
                <a:off x="4320" y="3258"/>
                <a:ext cx="0" cy="150"/>
              </a:xfrm>
              <a:prstGeom prst="line">
                <a:avLst/>
              </a:prstGeom>
              <a:noFill/>
              <a:ln w="38100">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332" name="Oval 16"/>
            <p:cNvSpPr>
              <a:spLocks noChangeArrowheads="1"/>
            </p:cNvSpPr>
            <p:nvPr/>
          </p:nvSpPr>
          <p:spPr bwMode="auto">
            <a:xfrm>
              <a:off x="1407" y="2670"/>
              <a:ext cx="48" cy="47"/>
            </a:xfrm>
            <a:prstGeom prst="ellipse">
              <a:avLst/>
            </a:prstGeom>
            <a:solidFill>
              <a:schemeClr val="accent2"/>
            </a:solidFill>
            <a:ln w="9525">
              <a:solidFill>
                <a:schemeClr val="accent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3333" name="Text Box 17"/>
            <p:cNvSpPr txBox="1">
              <a:spLocks noChangeArrowheads="1"/>
            </p:cNvSpPr>
            <p:nvPr/>
          </p:nvSpPr>
          <p:spPr bwMode="auto">
            <a:xfrm>
              <a:off x="657" y="2409"/>
              <a:ext cx="31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U</a:t>
              </a:r>
              <a:r>
                <a:rPr kumimoji="1" lang="en-US" altLang="zh-CN" sz="2000" b="1" baseline="-25000">
                  <a:solidFill>
                    <a:srgbClr val="000048"/>
                  </a:solidFill>
                  <a:latin typeface="Times New Roman" panose="02020603050405020304" pitchFamily="18" charset="0"/>
                </a:rPr>
                <a:t>BB</a:t>
              </a:r>
              <a:endParaRPr kumimoji="1" lang="en-US" altLang="zh-CN" sz="2000" b="1">
                <a:solidFill>
                  <a:srgbClr val="000048"/>
                </a:solidFill>
                <a:latin typeface="Times New Roman" panose="02020603050405020304" pitchFamily="18" charset="0"/>
              </a:endParaRPr>
            </a:p>
          </p:txBody>
        </p:sp>
        <p:sp>
          <p:nvSpPr>
            <p:cNvPr id="13334" name="Text Box 18"/>
            <p:cNvSpPr txBox="1">
              <a:spLocks noChangeArrowheads="1"/>
            </p:cNvSpPr>
            <p:nvPr/>
          </p:nvSpPr>
          <p:spPr bwMode="auto">
            <a:xfrm>
              <a:off x="2517" y="2205"/>
              <a:ext cx="31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U</a:t>
              </a:r>
              <a:r>
                <a:rPr kumimoji="1" lang="en-US" altLang="zh-CN" sz="2000" b="1" baseline="-25000">
                  <a:solidFill>
                    <a:srgbClr val="000048"/>
                  </a:solidFill>
                  <a:latin typeface="Times New Roman" panose="02020603050405020304" pitchFamily="18" charset="0"/>
                </a:rPr>
                <a:t>CC</a:t>
              </a:r>
              <a:endParaRPr kumimoji="1" lang="en-US" altLang="zh-CN" sz="2000" b="1">
                <a:solidFill>
                  <a:srgbClr val="000048"/>
                </a:solidFill>
                <a:latin typeface="Times New Roman" panose="02020603050405020304" pitchFamily="18" charset="0"/>
              </a:endParaRPr>
            </a:p>
          </p:txBody>
        </p:sp>
        <p:sp>
          <p:nvSpPr>
            <p:cNvPr id="13335" name="Text Box 19"/>
            <p:cNvSpPr txBox="1">
              <a:spLocks noChangeArrowheads="1"/>
            </p:cNvSpPr>
            <p:nvPr/>
          </p:nvSpPr>
          <p:spPr bwMode="auto">
            <a:xfrm>
              <a:off x="2494" y="1638"/>
              <a:ext cx="20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R</a:t>
              </a:r>
              <a:r>
                <a:rPr kumimoji="1" lang="en-US" altLang="zh-CN" sz="2000" b="1" baseline="-25000">
                  <a:solidFill>
                    <a:srgbClr val="000048"/>
                  </a:solidFill>
                  <a:latin typeface="Times New Roman" panose="02020603050405020304" pitchFamily="18" charset="0"/>
                </a:rPr>
                <a:t>C</a:t>
              </a:r>
              <a:endParaRPr kumimoji="1" lang="en-US" altLang="zh-CN" sz="2000" b="1">
                <a:solidFill>
                  <a:srgbClr val="000048"/>
                </a:solidFill>
                <a:latin typeface="Times New Roman" panose="02020603050405020304" pitchFamily="18" charset="0"/>
              </a:endParaRPr>
            </a:p>
          </p:txBody>
        </p:sp>
        <p:sp>
          <p:nvSpPr>
            <p:cNvPr id="13336" name="Freeform 20"/>
            <p:cNvSpPr/>
            <p:nvPr/>
          </p:nvSpPr>
          <p:spPr bwMode="auto">
            <a:xfrm>
              <a:off x="561" y="1979"/>
              <a:ext cx="550" cy="730"/>
            </a:xfrm>
            <a:custGeom>
              <a:avLst/>
              <a:gdLst>
                <a:gd name="T0" fmla="*/ 550 w 768"/>
                <a:gd name="T1" fmla="*/ 0 h 624"/>
                <a:gd name="T2" fmla="*/ 0 w 768"/>
                <a:gd name="T3" fmla="*/ 0 h 624"/>
                <a:gd name="T4" fmla="*/ 0 w 768"/>
                <a:gd name="T5" fmla="*/ 730 h 624"/>
                <a:gd name="T6" fmla="*/ 0 60000 65536"/>
                <a:gd name="T7" fmla="*/ 0 60000 65536"/>
                <a:gd name="T8" fmla="*/ 0 60000 65536"/>
              </a:gdLst>
              <a:ahLst/>
              <a:cxnLst>
                <a:cxn ang="T6">
                  <a:pos x="T0" y="T1"/>
                </a:cxn>
                <a:cxn ang="T7">
                  <a:pos x="T2" y="T3"/>
                </a:cxn>
                <a:cxn ang="T8">
                  <a:pos x="T4" y="T5"/>
                </a:cxn>
              </a:cxnLst>
              <a:rect l="0" t="0" r="r" b="b"/>
              <a:pathLst>
                <a:path w="768" h="624">
                  <a:moveTo>
                    <a:pt x="768" y="0"/>
                  </a:moveTo>
                  <a:lnTo>
                    <a:pt x="0" y="0"/>
                  </a:lnTo>
                  <a:lnTo>
                    <a:pt x="0" y="624"/>
                  </a:lnTo>
                </a:path>
              </a:pathLst>
            </a:custGeom>
            <a:noFill/>
            <a:ln w="28575" cmpd="sng">
              <a:solidFill>
                <a:srgbClr val="66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7" name="Line 21"/>
            <p:cNvSpPr>
              <a:spLocks noChangeShapeType="1"/>
            </p:cNvSpPr>
            <p:nvPr/>
          </p:nvSpPr>
          <p:spPr bwMode="auto">
            <a:xfrm>
              <a:off x="567" y="2704"/>
              <a:ext cx="862" cy="0"/>
            </a:xfrm>
            <a:prstGeom prst="line">
              <a:avLst/>
            </a:prstGeom>
            <a:noFill/>
            <a:ln w="28575">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8" name="Freeform 22"/>
            <p:cNvSpPr/>
            <p:nvPr/>
          </p:nvSpPr>
          <p:spPr bwMode="auto">
            <a:xfrm rot="5400000" flipH="1">
              <a:off x="1266" y="1552"/>
              <a:ext cx="1304" cy="977"/>
            </a:xfrm>
            <a:custGeom>
              <a:avLst/>
              <a:gdLst>
                <a:gd name="T0" fmla="*/ 1304 w 768"/>
                <a:gd name="T1" fmla="*/ 0 h 624"/>
                <a:gd name="T2" fmla="*/ 0 w 768"/>
                <a:gd name="T3" fmla="*/ 0 h 624"/>
                <a:gd name="T4" fmla="*/ 0 w 768"/>
                <a:gd name="T5" fmla="*/ 977 h 624"/>
                <a:gd name="T6" fmla="*/ 0 60000 65536"/>
                <a:gd name="T7" fmla="*/ 0 60000 65536"/>
                <a:gd name="T8" fmla="*/ 0 60000 65536"/>
              </a:gdLst>
              <a:ahLst/>
              <a:cxnLst>
                <a:cxn ang="T6">
                  <a:pos x="T0" y="T1"/>
                </a:cxn>
                <a:cxn ang="T7">
                  <a:pos x="T2" y="T3"/>
                </a:cxn>
                <a:cxn ang="T8">
                  <a:pos x="T4" y="T5"/>
                </a:cxn>
              </a:cxnLst>
              <a:rect l="0" t="0" r="r" b="b"/>
              <a:pathLst>
                <a:path w="768" h="624">
                  <a:moveTo>
                    <a:pt x="768" y="0"/>
                  </a:moveTo>
                  <a:lnTo>
                    <a:pt x="0" y="0"/>
                  </a:lnTo>
                  <a:lnTo>
                    <a:pt x="0" y="624"/>
                  </a:lnTo>
                </a:path>
              </a:pathLst>
            </a:custGeom>
            <a:noFill/>
            <a:ln w="28575" cmpd="sng">
              <a:solidFill>
                <a:srgbClr val="66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39" name="Group 23"/>
            <p:cNvGrpSpPr/>
            <p:nvPr/>
          </p:nvGrpSpPr>
          <p:grpSpPr bwMode="auto">
            <a:xfrm rot="10800000" flipV="1">
              <a:off x="476" y="2478"/>
              <a:ext cx="192" cy="89"/>
              <a:chOff x="296" y="1648"/>
              <a:chExt cx="192" cy="57"/>
            </a:xfrm>
          </p:grpSpPr>
          <p:sp>
            <p:nvSpPr>
              <p:cNvPr id="13372" name="Rectangle 24"/>
              <p:cNvSpPr>
                <a:spLocks noChangeArrowheads="1"/>
              </p:cNvSpPr>
              <p:nvPr/>
            </p:nvSpPr>
            <p:spPr bwMode="auto">
              <a:xfrm>
                <a:off x="312" y="1648"/>
                <a:ext cx="152" cy="4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3373" name="Line 25"/>
              <p:cNvSpPr>
                <a:spLocks noChangeShapeType="1"/>
              </p:cNvSpPr>
              <p:nvPr/>
            </p:nvSpPr>
            <p:spPr bwMode="auto">
              <a:xfrm>
                <a:off x="296" y="1648"/>
                <a:ext cx="192" cy="1"/>
              </a:xfrm>
              <a:prstGeom prst="line">
                <a:avLst/>
              </a:prstGeom>
              <a:noFill/>
              <a:ln w="444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74" name="Line 26"/>
              <p:cNvSpPr>
                <a:spLocks noChangeShapeType="1"/>
              </p:cNvSpPr>
              <p:nvPr/>
            </p:nvSpPr>
            <p:spPr bwMode="auto">
              <a:xfrm>
                <a:off x="344" y="1704"/>
                <a:ext cx="96" cy="1"/>
              </a:xfrm>
              <a:prstGeom prst="line">
                <a:avLst/>
              </a:prstGeom>
              <a:noFill/>
              <a:ln w="3810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340" name="Group 27"/>
            <p:cNvGrpSpPr/>
            <p:nvPr/>
          </p:nvGrpSpPr>
          <p:grpSpPr bwMode="auto">
            <a:xfrm>
              <a:off x="2312" y="2137"/>
              <a:ext cx="192" cy="285"/>
              <a:chOff x="848" y="1632"/>
              <a:chExt cx="192" cy="285"/>
            </a:xfrm>
          </p:grpSpPr>
          <p:sp>
            <p:nvSpPr>
              <p:cNvPr id="13362" name="Rectangle 28"/>
              <p:cNvSpPr>
                <a:spLocks noChangeArrowheads="1"/>
              </p:cNvSpPr>
              <p:nvPr/>
            </p:nvSpPr>
            <p:spPr bwMode="auto">
              <a:xfrm>
                <a:off x="864" y="1632"/>
                <a:ext cx="152" cy="276"/>
              </a:xfrm>
              <a:prstGeom prst="rect">
                <a:avLst/>
              </a:prstGeom>
              <a:solidFill>
                <a:schemeClr val="bg1"/>
              </a:solidFill>
              <a:ln>
                <a:noFill/>
              </a:ln>
              <a:effectLst/>
              <a:extLst>
                <a:ext uri="{91240B29-F687-4F45-9708-019B960494DF}">
                  <a14:hiddenLine xmlns:a14="http://schemas.microsoft.com/office/drawing/2010/main" w="9525">
                    <a:solidFill>
                      <a:srgbClr val="0066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nvGrpSpPr>
              <p:cNvPr id="13363" name="Group 29"/>
              <p:cNvGrpSpPr/>
              <p:nvPr/>
            </p:nvGrpSpPr>
            <p:grpSpPr bwMode="auto">
              <a:xfrm>
                <a:off x="848" y="1632"/>
                <a:ext cx="192" cy="57"/>
                <a:chOff x="848" y="1632"/>
                <a:chExt cx="192" cy="57"/>
              </a:xfrm>
            </p:grpSpPr>
            <p:sp>
              <p:nvSpPr>
                <p:cNvPr id="13370" name="Line 30"/>
                <p:cNvSpPr>
                  <a:spLocks noChangeShapeType="1"/>
                </p:cNvSpPr>
                <p:nvPr/>
              </p:nvSpPr>
              <p:spPr bwMode="auto">
                <a:xfrm>
                  <a:off x="848" y="1632"/>
                  <a:ext cx="192" cy="1"/>
                </a:xfrm>
                <a:prstGeom prst="line">
                  <a:avLst/>
                </a:prstGeom>
                <a:noFill/>
                <a:ln w="28575">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71" name="Line 31"/>
                <p:cNvSpPr>
                  <a:spLocks noChangeShapeType="1"/>
                </p:cNvSpPr>
                <p:nvPr/>
              </p:nvSpPr>
              <p:spPr bwMode="auto">
                <a:xfrm>
                  <a:off x="896" y="1688"/>
                  <a:ext cx="96" cy="1"/>
                </a:xfrm>
                <a:prstGeom prst="line">
                  <a:avLst/>
                </a:prstGeom>
                <a:noFill/>
                <a:ln w="571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364" name="Group 32"/>
              <p:cNvGrpSpPr/>
              <p:nvPr/>
            </p:nvGrpSpPr>
            <p:grpSpPr bwMode="auto">
              <a:xfrm>
                <a:off x="848" y="1744"/>
                <a:ext cx="192" cy="57"/>
                <a:chOff x="848" y="1632"/>
                <a:chExt cx="192" cy="57"/>
              </a:xfrm>
            </p:grpSpPr>
            <p:sp>
              <p:nvSpPr>
                <p:cNvPr id="13368" name="Line 33"/>
                <p:cNvSpPr>
                  <a:spLocks noChangeShapeType="1"/>
                </p:cNvSpPr>
                <p:nvPr/>
              </p:nvSpPr>
              <p:spPr bwMode="auto">
                <a:xfrm>
                  <a:off x="848" y="1632"/>
                  <a:ext cx="192" cy="1"/>
                </a:xfrm>
                <a:prstGeom prst="line">
                  <a:avLst/>
                </a:prstGeom>
                <a:noFill/>
                <a:ln w="28575">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69" name="Line 34"/>
                <p:cNvSpPr>
                  <a:spLocks noChangeShapeType="1"/>
                </p:cNvSpPr>
                <p:nvPr/>
              </p:nvSpPr>
              <p:spPr bwMode="auto">
                <a:xfrm>
                  <a:off x="896" y="1688"/>
                  <a:ext cx="96" cy="1"/>
                </a:xfrm>
                <a:prstGeom prst="line">
                  <a:avLst/>
                </a:prstGeom>
                <a:noFill/>
                <a:ln w="571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365" name="Group 35"/>
              <p:cNvGrpSpPr/>
              <p:nvPr/>
            </p:nvGrpSpPr>
            <p:grpSpPr bwMode="auto">
              <a:xfrm>
                <a:off x="848" y="1860"/>
                <a:ext cx="192" cy="57"/>
                <a:chOff x="848" y="1632"/>
                <a:chExt cx="192" cy="57"/>
              </a:xfrm>
            </p:grpSpPr>
            <p:sp>
              <p:nvSpPr>
                <p:cNvPr id="13366" name="Line 36"/>
                <p:cNvSpPr>
                  <a:spLocks noChangeShapeType="1"/>
                </p:cNvSpPr>
                <p:nvPr/>
              </p:nvSpPr>
              <p:spPr bwMode="auto">
                <a:xfrm>
                  <a:off x="848" y="1632"/>
                  <a:ext cx="192" cy="1"/>
                </a:xfrm>
                <a:prstGeom prst="line">
                  <a:avLst/>
                </a:prstGeom>
                <a:noFill/>
                <a:ln w="28575">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67" name="Line 37"/>
                <p:cNvSpPr>
                  <a:spLocks noChangeShapeType="1"/>
                </p:cNvSpPr>
                <p:nvPr/>
              </p:nvSpPr>
              <p:spPr bwMode="auto">
                <a:xfrm>
                  <a:off x="896" y="1688"/>
                  <a:ext cx="96" cy="1"/>
                </a:xfrm>
                <a:prstGeom prst="line">
                  <a:avLst/>
                </a:prstGeom>
                <a:noFill/>
                <a:ln w="571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3341" name="Rectangle 38"/>
            <p:cNvSpPr>
              <a:spLocks noChangeArrowheads="1"/>
            </p:cNvSpPr>
            <p:nvPr/>
          </p:nvSpPr>
          <p:spPr bwMode="auto">
            <a:xfrm>
              <a:off x="2358" y="1618"/>
              <a:ext cx="108" cy="234"/>
            </a:xfrm>
            <a:prstGeom prst="rect">
              <a:avLst/>
            </a:prstGeom>
            <a:solidFill>
              <a:srgbClr val="FFFF99"/>
            </a:solidFill>
            <a:ln w="2857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3342" name="Freeform 39"/>
            <p:cNvSpPr/>
            <p:nvPr/>
          </p:nvSpPr>
          <p:spPr bwMode="auto">
            <a:xfrm rot="16200000" flipH="1">
              <a:off x="1695" y="1123"/>
              <a:ext cx="456" cy="988"/>
            </a:xfrm>
            <a:custGeom>
              <a:avLst/>
              <a:gdLst>
                <a:gd name="T0" fmla="*/ 456 w 768"/>
                <a:gd name="T1" fmla="*/ 0 h 624"/>
                <a:gd name="T2" fmla="*/ 0 w 768"/>
                <a:gd name="T3" fmla="*/ 0 h 624"/>
                <a:gd name="T4" fmla="*/ 0 w 768"/>
                <a:gd name="T5" fmla="*/ 988 h 624"/>
                <a:gd name="T6" fmla="*/ 0 60000 65536"/>
                <a:gd name="T7" fmla="*/ 0 60000 65536"/>
                <a:gd name="T8" fmla="*/ 0 60000 65536"/>
              </a:gdLst>
              <a:ahLst/>
              <a:cxnLst>
                <a:cxn ang="T6">
                  <a:pos x="T0" y="T1"/>
                </a:cxn>
                <a:cxn ang="T7">
                  <a:pos x="T2" y="T3"/>
                </a:cxn>
                <a:cxn ang="T8">
                  <a:pos x="T4" y="T5"/>
                </a:cxn>
              </a:cxnLst>
              <a:rect l="0" t="0" r="r" b="b"/>
              <a:pathLst>
                <a:path w="768" h="624">
                  <a:moveTo>
                    <a:pt x="768" y="0"/>
                  </a:moveTo>
                  <a:lnTo>
                    <a:pt x="0" y="0"/>
                  </a:lnTo>
                  <a:lnTo>
                    <a:pt x="0" y="624"/>
                  </a:lnTo>
                </a:path>
              </a:pathLst>
            </a:custGeom>
            <a:noFill/>
            <a:ln w="28575" cmpd="sng">
              <a:solidFill>
                <a:srgbClr val="66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8" name="Text Box 40"/>
            <p:cNvSpPr txBox="1">
              <a:spLocks noChangeArrowheads="1"/>
            </p:cNvSpPr>
            <p:nvPr/>
          </p:nvSpPr>
          <p:spPr bwMode="auto">
            <a:xfrm>
              <a:off x="408" y="2251"/>
              <a:ext cx="109"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1" hangingPunct="1">
                <a:defRPr/>
              </a:pPr>
              <a:r>
                <a:rPr kumimoji="1" lang="en-US" altLang="zh-CN" sz="2400" b="1">
                  <a:solidFill>
                    <a:srgbClr val="FF3300"/>
                  </a:solidFill>
                  <a:effectLst>
                    <a:outerShdw blurRad="38100" dist="38100" dir="2700000" algn="tl">
                      <a:srgbClr val="C0C0C0"/>
                    </a:outerShdw>
                  </a:effectLst>
                  <a:latin typeface="Times New Roman" panose="02020603050405020304" pitchFamily="18" charset="0"/>
                  <a:sym typeface="Symbol" panose="05050102010706020507" pitchFamily="18" charset="2"/>
                </a:rPr>
                <a:t>+</a:t>
              </a:r>
              <a:endParaRPr kumimoji="1" lang="en-US" altLang="zh-CN" sz="2400" b="1">
                <a:solidFill>
                  <a:srgbClr val="FF3300"/>
                </a:solidFill>
                <a:effectLst>
                  <a:outerShdw blurRad="38100" dist="38100" dir="2700000" algn="tl">
                    <a:srgbClr val="C0C0C0"/>
                  </a:outerShdw>
                </a:effectLst>
                <a:latin typeface="Times New Roman" panose="02020603050405020304" pitchFamily="18" charset="0"/>
              </a:endParaRPr>
            </a:p>
          </p:txBody>
        </p:sp>
        <p:sp>
          <p:nvSpPr>
            <p:cNvPr id="12329" name="Text Box 41"/>
            <p:cNvSpPr txBox="1">
              <a:spLocks noChangeArrowheads="1"/>
            </p:cNvSpPr>
            <p:nvPr/>
          </p:nvSpPr>
          <p:spPr bwMode="auto">
            <a:xfrm>
              <a:off x="2449" y="1943"/>
              <a:ext cx="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1" hangingPunct="1">
                <a:defRPr/>
              </a:pPr>
              <a:r>
                <a:rPr kumimoji="1" lang="en-US" altLang="zh-CN" sz="2000" b="1">
                  <a:solidFill>
                    <a:srgbClr val="FF3300"/>
                  </a:solidFill>
                  <a:effectLst>
                    <a:outerShdw blurRad="38100" dist="38100" dir="2700000" algn="tl">
                      <a:srgbClr val="C0C0C0"/>
                    </a:outerShdw>
                  </a:effectLst>
                  <a:latin typeface="Times New Roman" panose="02020603050405020304" pitchFamily="18" charset="0"/>
                  <a:sym typeface="Symbol" panose="05050102010706020507" pitchFamily="18" charset="2"/>
                </a:rPr>
                <a:t>+</a:t>
              </a:r>
              <a:endParaRPr kumimoji="1" lang="en-US" altLang="zh-CN" sz="2000" b="1">
                <a:solidFill>
                  <a:srgbClr val="FF3300"/>
                </a:solidFill>
                <a:effectLst>
                  <a:outerShdw blurRad="38100" dist="38100" dir="2700000" algn="tl">
                    <a:srgbClr val="C0C0C0"/>
                  </a:outerShdw>
                </a:effectLst>
                <a:latin typeface="Times New Roman" panose="02020603050405020304" pitchFamily="18" charset="0"/>
              </a:endParaRPr>
            </a:p>
          </p:txBody>
        </p:sp>
        <p:sp>
          <p:nvSpPr>
            <p:cNvPr id="13345" name="Line 42"/>
            <p:cNvSpPr>
              <a:spLocks noChangeShapeType="1"/>
            </p:cNvSpPr>
            <p:nvPr/>
          </p:nvSpPr>
          <p:spPr bwMode="auto">
            <a:xfrm>
              <a:off x="1429" y="2115"/>
              <a:ext cx="0" cy="589"/>
            </a:xfrm>
            <a:prstGeom prst="line">
              <a:avLst/>
            </a:prstGeom>
            <a:noFill/>
            <a:ln w="28575">
              <a:solidFill>
                <a:srgbClr val="663300"/>
              </a:solidFill>
              <a:rou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46" name="Text Box 43"/>
            <p:cNvSpPr txBox="1">
              <a:spLocks noChangeArrowheads="1"/>
            </p:cNvSpPr>
            <p:nvPr/>
          </p:nvSpPr>
          <p:spPr bwMode="auto">
            <a:xfrm>
              <a:off x="657" y="2092"/>
              <a:ext cx="25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R</a:t>
              </a:r>
              <a:r>
                <a:rPr kumimoji="1" lang="en-US" altLang="zh-CN" sz="2000" b="1" baseline="-25000">
                  <a:solidFill>
                    <a:srgbClr val="000048"/>
                  </a:solidFill>
                  <a:latin typeface="Times New Roman" panose="02020603050405020304" pitchFamily="18" charset="0"/>
                </a:rPr>
                <a:t>B</a:t>
              </a:r>
              <a:endParaRPr kumimoji="1" lang="en-US" altLang="zh-CN" sz="2000" b="1">
                <a:solidFill>
                  <a:srgbClr val="000048"/>
                </a:solidFill>
                <a:latin typeface="Times New Roman" panose="02020603050405020304" pitchFamily="18" charset="0"/>
              </a:endParaRPr>
            </a:p>
          </p:txBody>
        </p:sp>
        <p:sp>
          <p:nvSpPr>
            <p:cNvPr id="13347" name="Rectangle 44"/>
            <p:cNvSpPr>
              <a:spLocks noChangeArrowheads="1"/>
            </p:cNvSpPr>
            <p:nvPr/>
          </p:nvSpPr>
          <p:spPr bwMode="auto">
            <a:xfrm>
              <a:off x="522" y="2049"/>
              <a:ext cx="108" cy="234"/>
            </a:xfrm>
            <a:prstGeom prst="rect">
              <a:avLst/>
            </a:prstGeom>
            <a:solidFill>
              <a:srgbClr val="FFFF99"/>
            </a:solidFill>
            <a:ln w="2857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3348" name="Line 45"/>
            <p:cNvSpPr>
              <a:spLocks noChangeShapeType="1"/>
            </p:cNvSpPr>
            <p:nvPr/>
          </p:nvSpPr>
          <p:spPr bwMode="auto">
            <a:xfrm rot="10800000">
              <a:off x="1474" y="1389"/>
              <a:ext cx="295" cy="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49" name="Text Box 46"/>
            <p:cNvSpPr txBox="1">
              <a:spLocks noChangeArrowheads="1"/>
            </p:cNvSpPr>
            <p:nvPr/>
          </p:nvSpPr>
          <p:spPr bwMode="auto">
            <a:xfrm>
              <a:off x="1565" y="1185"/>
              <a:ext cx="180" cy="182"/>
            </a:xfrm>
            <a:prstGeom prst="rect">
              <a:avLst/>
            </a:prstGeom>
            <a:noFill/>
            <a:ln>
              <a:noFill/>
            </a:ln>
            <a:effectLst/>
            <a:extLst>
              <a:ext uri="{909E8E84-426E-40DD-AFC4-6F175D3DCCD1}">
                <a14:hiddenFill xmlns:a14="http://schemas.microsoft.com/office/drawing/2010/main">
                  <a:gradFill rotWithShape="1">
                    <a:gsLst>
                      <a:gs pos="0">
                        <a:srgbClr val="FF9933">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n-US" altLang="zh-CN" sz="2000" b="1" i="1">
                  <a:solidFill>
                    <a:srgbClr val="000048"/>
                  </a:solidFill>
                  <a:latin typeface="Times New Roman" panose="02020603050405020304" pitchFamily="18" charset="0"/>
                </a:rPr>
                <a:t>I</a:t>
              </a:r>
              <a:r>
                <a:rPr kumimoji="1" lang="en-US" altLang="zh-CN" sz="2000" b="1" baseline="-25000">
                  <a:solidFill>
                    <a:srgbClr val="000048"/>
                  </a:solidFill>
                  <a:latin typeface="Times New Roman" panose="02020603050405020304" pitchFamily="18" charset="0"/>
                </a:rPr>
                <a:t>C</a:t>
              </a:r>
              <a:endParaRPr kumimoji="1" lang="en-US" altLang="zh-CN" sz="2000" b="1" i="1">
                <a:solidFill>
                  <a:srgbClr val="000048"/>
                </a:solidFill>
                <a:latin typeface="Times New Roman" panose="02020603050405020304" pitchFamily="18" charset="0"/>
              </a:endParaRPr>
            </a:p>
          </p:txBody>
        </p:sp>
        <p:sp>
          <p:nvSpPr>
            <p:cNvPr id="13350" name="Line 47"/>
            <p:cNvSpPr>
              <a:spLocks noChangeShapeType="1"/>
            </p:cNvSpPr>
            <p:nvPr/>
          </p:nvSpPr>
          <p:spPr bwMode="auto">
            <a:xfrm>
              <a:off x="1043" y="1979"/>
              <a:ext cx="227" cy="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51" name="Text Box 48"/>
            <p:cNvSpPr txBox="1">
              <a:spLocks noChangeArrowheads="1"/>
            </p:cNvSpPr>
            <p:nvPr/>
          </p:nvSpPr>
          <p:spPr bwMode="auto">
            <a:xfrm>
              <a:off x="1043" y="1774"/>
              <a:ext cx="182" cy="182"/>
            </a:xfrm>
            <a:prstGeom prst="rect">
              <a:avLst/>
            </a:prstGeom>
            <a:noFill/>
            <a:ln>
              <a:noFill/>
            </a:ln>
            <a:effectLst/>
            <a:extLst>
              <a:ext uri="{909E8E84-426E-40DD-AFC4-6F175D3DCCD1}">
                <a14:hiddenFill xmlns:a14="http://schemas.microsoft.com/office/drawing/2010/main">
                  <a:gradFill rotWithShape="1">
                    <a:gsLst>
                      <a:gs pos="0">
                        <a:srgbClr val="FF9933">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n-US" altLang="zh-CN" sz="2000" b="1" i="1">
                  <a:solidFill>
                    <a:srgbClr val="000048"/>
                  </a:solidFill>
                  <a:latin typeface="Times New Roman" panose="02020603050405020304" pitchFamily="18" charset="0"/>
                </a:rPr>
                <a:t>I</a:t>
              </a:r>
              <a:r>
                <a:rPr kumimoji="1" lang="en-US" altLang="zh-CN" sz="2000" b="1" baseline="-25000">
                  <a:solidFill>
                    <a:srgbClr val="000048"/>
                  </a:solidFill>
                  <a:latin typeface="Times New Roman" panose="02020603050405020304" pitchFamily="18" charset="0"/>
                </a:rPr>
                <a:t>B</a:t>
              </a:r>
              <a:endParaRPr kumimoji="1" lang="en-US" altLang="zh-CN" sz="2000" b="1" i="1">
                <a:solidFill>
                  <a:srgbClr val="000048"/>
                </a:solidFill>
                <a:latin typeface="Times New Roman" panose="02020603050405020304" pitchFamily="18" charset="0"/>
              </a:endParaRPr>
            </a:p>
          </p:txBody>
        </p:sp>
        <p:sp>
          <p:nvSpPr>
            <p:cNvPr id="13352" name="Line 49"/>
            <p:cNvSpPr>
              <a:spLocks noChangeShapeType="1"/>
            </p:cNvSpPr>
            <p:nvPr/>
          </p:nvSpPr>
          <p:spPr bwMode="auto">
            <a:xfrm rot="16200000" flipH="1">
              <a:off x="975" y="2206"/>
              <a:ext cx="295" cy="249"/>
            </a:xfrm>
            <a:prstGeom prst="line">
              <a:avLst/>
            </a:prstGeom>
            <a:noFill/>
            <a:ln w="28575">
              <a:solidFill>
                <a:srgbClr val="FF33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53" name="Text Box 50"/>
            <p:cNvSpPr txBox="1">
              <a:spLocks noChangeArrowheads="1"/>
            </p:cNvSpPr>
            <p:nvPr/>
          </p:nvSpPr>
          <p:spPr bwMode="auto">
            <a:xfrm>
              <a:off x="1066" y="2115"/>
              <a:ext cx="306" cy="182"/>
            </a:xfrm>
            <a:prstGeom prst="rect">
              <a:avLst/>
            </a:prstGeom>
            <a:noFill/>
            <a:ln>
              <a:noFill/>
            </a:ln>
            <a:effectLst/>
            <a:extLst>
              <a:ext uri="{909E8E84-426E-40DD-AFC4-6F175D3DCCD1}">
                <a14:hiddenFill xmlns:a14="http://schemas.microsoft.com/office/drawing/2010/main">
                  <a:gradFill rotWithShape="1">
                    <a:gsLst>
                      <a:gs pos="0">
                        <a:srgbClr val="FF9933">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n-US" altLang="zh-CN" sz="2000" b="1" i="1">
                  <a:solidFill>
                    <a:srgbClr val="000048"/>
                  </a:solidFill>
                  <a:latin typeface="Times New Roman" panose="02020603050405020304" pitchFamily="18" charset="0"/>
                </a:rPr>
                <a:t>U</a:t>
              </a:r>
              <a:r>
                <a:rPr kumimoji="1" lang="en-US" altLang="zh-CN" sz="2000" b="1" baseline="-25000">
                  <a:solidFill>
                    <a:srgbClr val="000048"/>
                  </a:solidFill>
                  <a:latin typeface="Times New Roman" panose="02020603050405020304" pitchFamily="18" charset="0"/>
                </a:rPr>
                <a:t>BE</a:t>
              </a:r>
              <a:endParaRPr kumimoji="1" lang="en-US" altLang="zh-CN" sz="2000" b="1" i="1">
                <a:solidFill>
                  <a:srgbClr val="000048"/>
                </a:solidFill>
                <a:latin typeface="Times New Roman" panose="02020603050405020304" pitchFamily="18" charset="0"/>
              </a:endParaRPr>
            </a:p>
          </p:txBody>
        </p:sp>
        <p:grpSp>
          <p:nvGrpSpPr>
            <p:cNvPr id="13354" name="Group 51"/>
            <p:cNvGrpSpPr/>
            <p:nvPr/>
          </p:nvGrpSpPr>
          <p:grpSpPr bwMode="auto">
            <a:xfrm>
              <a:off x="1769" y="1253"/>
              <a:ext cx="295" cy="272"/>
              <a:chOff x="1769" y="1253"/>
              <a:chExt cx="295" cy="272"/>
            </a:xfrm>
          </p:grpSpPr>
          <p:sp>
            <p:nvSpPr>
              <p:cNvPr id="13360" name="Oval 52"/>
              <p:cNvSpPr>
                <a:spLocks noChangeArrowheads="1"/>
              </p:cNvSpPr>
              <p:nvPr/>
            </p:nvSpPr>
            <p:spPr bwMode="auto">
              <a:xfrm>
                <a:off x="1769" y="1253"/>
                <a:ext cx="272" cy="272"/>
              </a:xfrm>
              <a:prstGeom prst="ellipse">
                <a:avLst/>
              </a:prstGeom>
              <a:solidFill>
                <a:schemeClr val="bg1"/>
              </a:solidFill>
              <a:ln w="38100">
                <a:solidFill>
                  <a:srgbClr val="0066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3361" name="Text Box 53"/>
              <p:cNvSpPr txBox="1">
                <a:spLocks noChangeArrowheads="1"/>
              </p:cNvSpPr>
              <p:nvPr/>
            </p:nvSpPr>
            <p:spPr bwMode="auto">
              <a:xfrm>
                <a:off x="1791" y="1298"/>
                <a:ext cx="27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lnSpc>
                    <a:spcPct val="90000"/>
                  </a:lnSpc>
                </a:pPr>
                <a:r>
                  <a:rPr kumimoji="1" lang="en-US" altLang="zh-CN" sz="2000" b="1">
                    <a:solidFill>
                      <a:srgbClr val="000048"/>
                    </a:solidFill>
                    <a:latin typeface="Times New Roman" panose="02020603050405020304" pitchFamily="18" charset="0"/>
                  </a:rPr>
                  <a:t>mA</a:t>
                </a:r>
              </a:p>
            </p:txBody>
          </p:sp>
        </p:grpSp>
        <p:grpSp>
          <p:nvGrpSpPr>
            <p:cNvPr id="13355" name="Group 54"/>
            <p:cNvGrpSpPr/>
            <p:nvPr/>
          </p:nvGrpSpPr>
          <p:grpSpPr bwMode="auto">
            <a:xfrm>
              <a:off x="725" y="1820"/>
              <a:ext cx="324" cy="272"/>
              <a:chOff x="725" y="1820"/>
              <a:chExt cx="324" cy="272"/>
            </a:xfrm>
          </p:grpSpPr>
          <p:sp>
            <p:nvSpPr>
              <p:cNvPr id="13358" name="Oval 55"/>
              <p:cNvSpPr>
                <a:spLocks noChangeArrowheads="1"/>
              </p:cNvSpPr>
              <p:nvPr/>
            </p:nvSpPr>
            <p:spPr bwMode="auto">
              <a:xfrm>
                <a:off x="771" y="1842"/>
                <a:ext cx="249" cy="250"/>
              </a:xfrm>
              <a:prstGeom prst="ellipse">
                <a:avLst/>
              </a:prstGeom>
              <a:solidFill>
                <a:schemeClr val="bg1"/>
              </a:solidFill>
              <a:ln w="38100">
                <a:solidFill>
                  <a:srgbClr val="0066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3359" name="Rectangle 56"/>
              <p:cNvSpPr>
                <a:spLocks noChangeArrowheads="1"/>
              </p:cNvSpPr>
              <p:nvPr/>
            </p:nvSpPr>
            <p:spPr bwMode="auto">
              <a:xfrm>
                <a:off x="725" y="1820"/>
                <a:ext cx="32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48"/>
                    </a:solidFill>
                    <a:latin typeface="Times New Roman" panose="02020603050405020304" pitchFamily="18" charset="0"/>
                    <a:sym typeface="Symbol" panose="05050102010706020507" pitchFamily="18" charset="2"/>
                  </a:rPr>
                  <a:t>A</a:t>
                </a:r>
              </a:p>
            </p:txBody>
          </p:sp>
        </p:grpSp>
        <p:sp>
          <p:nvSpPr>
            <p:cNvPr id="13356" name="Line 57"/>
            <p:cNvSpPr>
              <a:spLocks noChangeShapeType="1"/>
            </p:cNvSpPr>
            <p:nvPr/>
          </p:nvSpPr>
          <p:spPr bwMode="auto">
            <a:xfrm rot="5400000">
              <a:off x="1281" y="2489"/>
              <a:ext cx="295" cy="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57" name="Text Box 58"/>
            <p:cNvSpPr txBox="1">
              <a:spLocks noChangeArrowheads="1"/>
            </p:cNvSpPr>
            <p:nvPr/>
          </p:nvSpPr>
          <p:spPr bwMode="auto">
            <a:xfrm>
              <a:off x="1474" y="2364"/>
              <a:ext cx="182" cy="182"/>
            </a:xfrm>
            <a:prstGeom prst="rect">
              <a:avLst/>
            </a:prstGeom>
            <a:noFill/>
            <a:ln>
              <a:noFill/>
            </a:ln>
            <a:effectLst/>
            <a:extLst>
              <a:ext uri="{909E8E84-426E-40DD-AFC4-6F175D3DCCD1}">
                <a14:hiddenFill xmlns:a14="http://schemas.microsoft.com/office/drawing/2010/main">
                  <a:gradFill rotWithShape="1">
                    <a:gsLst>
                      <a:gs pos="0">
                        <a:srgbClr val="FF9933">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n-US" altLang="zh-CN" sz="2000" b="1" i="1">
                  <a:solidFill>
                    <a:srgbClr val="000048"/>
                  </a:solidFill>
                  <a:latin typeface="Times New Roman" panose="02020603050405020304" pitchFamily="18" charset="0"/>
                </a:rPr>
                <a:t>I</a:t>
              </a:r>
              <a:r>
                <a:rPr kumimoji="1" lang="en-US" altLang="zh-CN" sz="2000" b="1" baseline="-25000">
                  <a:solidFill>
                    <a:srgbClr val="000048"/>
                  </a:solidFill>
                  <a:latin typeface="Times New Roman" panose="02020603050405020304" pitchFamily="18" charset="0"/>
                </a:rPr>
                <a:t>E</a:t>
              </a:r>
              <a:endParaRPr kumimoji="1" lang="en-US" altLang="zh-CN" sz="2000" b="1" i="1">
                <a:solidFill>
                  <a:srgbClr val="000048"/>
                </a:solidFill>
                <a:latin typeface="Times New Roman" panose="02020603050405020304" pitchFamily="18" charset="0"/>
              </a:endParaRPr>
            </a:p>
          </p:txBody>
        </p:sp>
      </p:grpSp>
      <p:sp>
        <p:nvSpPr>
          <p:cNvPr id="12347" name="Line 59"/>
          <p:cNvSpPr>
            <a:spLocks noChangeShapeType="1"/>
          </p:cNvSpPr>
          <p:nvPr/>
        </p:nvSpPr>
        <p:spPr bwMode="auto">
          <a:xfrm flipV="1">
            <a:off x="3532188" y="3779838"/>
            <a:ext cx="504825" cy="684212"/>
          </a:xfrm>
          <a:prstGeom prst="line">
            <a:avLst/>
          </a:prstGeom>
          <a:noFill/>
          <a:ln w="381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48" name="Text Box 60"/>
          <p:cNvSpPr txBox="1">
            <a:spLocks noChangeArrowheads="1"/>
          </p:cNvSpPr>
          <p:nvPr/>
        </p:nvSpPr>
        <p:spPr bwMode="auto">
          <a:xfrm>
            <a:off x="4117975" y="2028825"/>
            <a:ext cx="4427538" cy="933450"/>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2400">
                <a:solidFill>
                  <a:srgbClr val="000048"/>
                </a:solidFill>
                <a:latin typeface="Times New Roman" panose="02020603050405020304" pitchFamily="18" charset="0"/>
                <a:ea typeface="隶书" panose="02010509060101010101" pitchFamily="49" charset="-122"/>
              </a:rPr>
              <a:t>    </a:t>
            </a:r>
            <a:r>
              <a:rPr kumimoji="1" lang="zh-CN" altLang="en-US" sz="2400">
                <a:solidFill>
                  <a:srgbClr val="000048"/>
                </a:solidFill>
                <a:latin typeface="Times New Roman" panose="02020603050405020304" pitchFamily="18" charset="0"/>
                <a:ea typeface="隶书" panose="02010509060101010101" pitchFamily="49" charset="-122"/>
              </a:rPr>
              <a:t>根据记录可给出</a:t>
            </a:r>
            <a:r>
              <a:rPr kumimoji="1" lang="en-US" altLang="zh-CN" sz="2400" i="1">
                <a:solidFill>
                  <a:srgbClr val="000048"/>
                </a:solidFill>
                <a:latin typeface="Times New Roman" panose="02020603050405020304" pitchFamily="18" charset="0"/>
                <a:ea typeface="隶书" panose="02010509060101010101" pitchFamily="49" charset="-122"/>
              </a:rPr>
              <a:t>I</a:t>
            </a:r>
            <a:r>
              <a:rPr kumimoji="1" lang="en-US" altLang="zh-CN" sz="2400" baseline="-25000">
                <a:solidFill>
                  <a:srgbClr val="000048"/>
                </a:solidFill>
                <a:latin typeface="Times New Roman" panose="02020603050405020304" pitchFamily="18" charset="0"/>
                <a:ea typeface="隶书" panose="02010509060101010101" pitchFamily="49" charset="-122"/>
              </a:rPr>
              <a:t>C</a:t>
            </a:r>
            <a:r>
              <a:rPr kumimoji="1" lang="zh-CN" altLang="en-US" sz="2400">
                <a:solidFill>
                  <a:srgbClr val="000048"/>
                </a:solidFill>
                <a:latin typeface="Times New Roman" panose="02020603050405020304" pitchFamily="18" charset="0"/>
                <a:ea typeface="隶书" panose="02010509060101010101" pitchFamily="49" charset="-122"/>
              </a:rPr>
              <a:t>随</a:t>
            </a:r>
            <a:r>
              <a:rPr kumimoji="1" lang="en-US" altLang="zh-CN" sz="2400" i="1">
                <a:solidFill>
                  <a:srgbClr val="000048"/>
                </a:solidFill>
                <a:latin typeface="Times New Roman" panose="02020603050405020304" pitchFamily="18" charset="0"/>
                <a:ea typeface="隶书" panose="02010509060101010101" pitchFamily="49" charset="-122"/>
              </a:rPr>
              <a:t>U</a:t>
            </a:r>
            <a:r>
              <a:rPr kumimoji="1" lang="en-US" altLang="zh-CN" sz="2400" baseline="-25000">
                <a:solidFill>
                  <a:srgbClr val="000048"/>
                </a:solidFill>
                <a:latin typeface="Times New Roman" panose="02020603050405020304" pitchFamily="18" charset="0"/>
                <a:ea typeface="隶书" panose="02010509060101010101" pitchFamily="49" charset="-122"/>
              </a:rPr>
              <a:t>CE</a:t>
            </a:r>
            <a:r>
              <a:rPr kumimoji="1" lang="zh-CN" altLang="en-US" sz="2400">
                <a:solidFill>
                  <a:srgbClr val="000048"/>
                </a:solidFill>
                <a:latin typeface="Times New Roman" panose="02020603050405020304" pitchFamily="18" charset="0"/>
                <a:ea typeface="隶书" panose="02010509060101010101" pitchFamily="49" charset="-122"/>
              </a:rPr>
              <a:t>变化的伏安特性曲线，此曲线就是晶体管的</a:t>
            </a:r>
            <a:r>
              <a:rPr kumimoji="1" lang="zh-CN" altLang="en-US" sz="2400">
                <a:solidFill>
                  <a:srgbClr val="AC2100"/>
                </a:solidFill>
                <a:latin typeface="Times New Roman" panose="02020603050405020304" pitchFamily="18" charset="0"/>
                <a:ea typeface="隶书" panose="02010509060101010101" pitchFamily="49" charset="-122"/>
              </a:rPr>
              <a:t>输出特性</a:t>
            </a:r>
            <a:r>
              <a:rPr kumimoji="1" lang="zh-CN" altLang="en-US" sz="2400">
                <a:solidFill>
                  <a:srgbClr val="000048"/>
                </a:solidFill>
                <a:latin typeface="Times New Roman" panose="02020603050405020304" pitchFamily="18" charset="0"/>
                <a:ea typeface="隶书" panose="02010509060101010101" pitchFamily="49" charset="-122"/>
              </a:rPr>
              <a:t>曲线。</a:t>
            </a:r>
          </a:p>
        </p:txBody>
      </p:sp>
      <p:sp>
        <p:nvSpPr>
          <p:cNvPr id="12349" name="Text Box 61"/>
          <p:cNvSpPr txBox="1">
            <a:spLocks noChangeArrowheads="1"/>
          </p:cNvSpPr>
          <p:nvPr/>
        </p:nvSpPr>
        <p:spPr bwMode="auto">
          <a:xfrm>
            <a:off x="6434138" y="3684588"/>
            <a:ext cx="323850" cy="258762"/>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2000" b="1" i="1">
                <a:solidFill>
                  <a:srgbClr val="000048"/>
                </a:solidFill>
                <a:latin typeface="Times New Roman" panose="02020603050405020304" pitchFamily="18" charset="0"/>
                <a:ea typeface="隶书" panose="02010509060101010101" pitchFamily="49" charset="-122"/>
              </a:rPr>
              <a:t>I</a:t>
            </a:r>
            <a:r>
              <a:rPr kumimoji="1" lang="en-US" altLang="zh-CN" sz="2000" b="1" baseline="-25000">
                <a:solidFill>
                  <a:srgbClr val="000048"/>
                </a:solidFill>
                <a:latin typeface="Times New Roman" panose="02020603050405020304" pitchFamily="18" charset="0"/>
                <a:ea typeface="隶书" panose="02010509060101010101" pitchFamily="49" charset="-122"/>
              </a:rPr>
              <a:t>B</a:t>
            </a:r>
            <a:endParaRPr kumimoji="1" lang="en-US" altLang="zh-CN" sz="2000" b="1">
              <a:solidFill>
                <a:srgbClr val="000048"/>
              </a:solidFill>
              <a:latin typeface="Times New Roman" panose="02020603050405020304" pitchFamily="18" charset="0"/>
              <a:ea typeface="隶书" panose="02010509060101010101" pitchFamily="49" charset="-122"/>
            </a:endParaRPr>
          </a:p>
        </p:txBody>
      </p:sp>
      <p:grpSp>
        <p:nvGrpSpPr>
          <p:cNvPr id="12350" name="Group 62"/>
          <p:cNvGrpSpPr/>
          <p:nvPr/>
        </p:nvGrpSpPr>
        <p:grpSpPr bwMode="auto">
          <a:xfrm>
            <a:off x="4886325" y="5411788"/>
            <a:ext cx="3529013" cy="304800"/>
            <a:chOff x="3462" y="3621"/>
            <a:chExt cx="1984" cy="190"/>
          </a:xfrm>
        </p:grpSpPr>
        <p:sp>
          <p:nvSpPr>
            <p:cNvPr id="13329" name="Line 63"/>
            <p:cNvSpPr>
              <a:spLocks noChangeShapeType="1"/>
            </p:cNvSpPr>
            <p:nvPr/>
          </p:nvSpPr>
          <p:spPr bwMode="auto">
            <a:xfrm rot="5400000" flipV="1">
              <a:off x="4203" y="3033"/>
              <a:ext cx="0" cy="1482"/>
            </a:xfrm>
            <a:prstGeom prst="line">
              <a:avLst/>
            </a:prstGeom>
            <a:noFill/>
            <a:ln w="28575">
              <a:solidFill>
                <a:srgbClr val="000066"/>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0" name="Text Box 64"/>
            <p:cNvSpPr txBox="1">
              <a:spLocks noChangeArrowheads="1"/>
            </p:cNvSpPr>
            <p:nvPr/>
          </p:nvSpPr>
          <p:spPr bwMode="auto">
            <a:xfrm>
              <a:off x="4933" y="3621"/>
              <a:ext cx="513"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U</a:t>
              </a:r>
              <a:r>
                <a:rPr kumimoji="1" lang="en-US" altLang="zh-CN" sz="2000" b="1" baseline="-25000">
                  <a:solidFill>
                    <a:srgbClr val="000048"/>
                  </a:solidFill>
                  <a:latin typeface="Times New Roman" panose="02020603050405020304" pitchFamily="18" charset="0"/>
                </a:rPr>
                <a:t>CE </a:t>
              </a:r>
              <a:r>
                <a:rPr kumimoji="1" lang="en-US" altLang="zh-CN" sz="2000" b="1" i="1">
                  <a:solidFill>
                    <a:srgbClr val="000048"/>
                  </a:solidFill>
                  <a:latin typeface="Times New Roman" panose="02020603050405020304" pitchFamily="18" charset="0"/>
                </a:rPr>
                <a:t>/ </a:t>
              </a:r>
              <a:r>
                <a:rPr kumimoji="1" lang="en-US" altLang="zh-CN" sz="2000" b="1">
                  <a:solidFill>
                    <a:srgbClr val="000048"/>
                  </a:solidFill>
                  <a:latin typeface="Times New Roman" panose="02020603050405020304" pitchFamily="18" charset="0"/>
                </a:rPr>
                <a:t>V</a:t>
              </a:r>
            </a:p>
          </p:txBody>
        </p:sp>
      </p:grpSp>
      <p:grpSp>
        <p:nvGrpSpPr>
          <p:cNvPr id="12353" name="Group 65"/>
          <p:cNvGrpSpPr/>
          <p:nvPr/>
        </p:nvGrpSpPr>
        <p:grpSpPr bwMode="auto">
          <a:xfrm>
            <a:off x="4525963" y="3287713"/>
            <a:ext cx="949325" cy="2357437"/>
            <a:chOff x="3210" y="2262"/>
            <a:chExt cx="656" cy="1530"/>
          </a:xfrm>
        </p:grpSpPr>
        <p:sp>
          <p:nvSpPr>
            <p:cNvPr id="13327" name="Line 66"/>
            <p:cNvSpPr>
              <a:spLocks noChangeShapeType="1"/>
            </p:cNvSpPr>
            <p:nvPr/>
          </p:nvSpPr>
          <p:spPr bwMode="auto">
            <a:xfrm flipV="1">
              <a:off x="3456" y="2544"/>
              <a:ext cx="0" cy="1248"/>
            </a:xfrm>
            <a:prstGeom prst="line">
              <a:avLst/>
            </a:prstGeom>
            <a:noFill/>
            <a:ln w="28575">
              <a:solidFill>
                <a:srgbClr val="000066"/>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8" name="Text Box 67"/>
            <p:cNvSpPr txBox="1">
              <a:spLocks noChangeArrowheads="1"/>
            </p:cNvSpPr>
            <p:nvPr/>
          </p:nvSpPr>
          <p:spPr bwMode="auto">
            <a:xfrm>
              <a:off x="3210" y="2262"/>
              <a:ext cx="656"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I</a:t>
              </a:r>
              <a:r>
                <a:rPr kumimoji="1" lang="en-US" altLang="zh-CN" sz="2000" b="1" baseline="-25000">
                  <a:solidFill>
                    <a:srgbClr val="000048"/>
                  </a:solidFill>
                  <a:latin typeface="Times New Roman" panose="02020603050405020304" pitchFamily="18" charset="0"/>
                </a:rPr>
                <a:t>C </a:t>
              </a:r>
              <a:r>
                <a:rPr kumimoji="1" lang="en-US" altLang="zh-CN" sz="2000" b="1" i="1" baseline="-25000">
                  <a:solidFill>
                    <a:srgbClr val="000048"/>
                  </a:solidFill>
                  <a:latin typeface="Times New Roman" panose="02020603050405020304" pitchFamily="18" charset="0"/>
                </a:rPr>
                <a:t> </a:t>
              </a:r>
              <a:r>
                <a:rPr kumimoji="1" lang="en-US" altLang="zh-CN" sz="2000" b="1" i="1">
                  <a:solidFill>
                    <a:srgbClr val="000048"/>
                  </a:solidFill>
                  <a:latin typeface="Times New Roman" panose="02020603050405020304" pitchFamily="18" charset="0"/>
                </a:rPr>
                <a:t>/</a:t>
              </a:r>
              <a:r>
                <a:rPr kumimoji="1" lang="en-US" altLang="zh-CN" sz="2000" b="1">
                  <a:solidFill>
                    <a:srgbClr val="000048"/>
                  </a:solidFill>
                  <a:latin typeface="Times New Roman" panose="02020603050405020304" pitchFamily="18" charset="0"/>
                </a:rPr>
                <a:t>mA</a:t>
              </a:r>
            </a:p>
          </p:txBody>
        </p:sp>
      </p:grpSp>
      <p:sp>
        <p:nvSpPr>
          <p:cNvPr id="12356" name="Text Box 68"/>
          <p:cNvSpPr txBox="1">
            <a:spLocks noChangeArrowheads="1"/>
          </p:cNvSpPr>
          <p:nvPr/>
        </p:nvSpPr>
        <p:spPr bwMode="auto">
          <a:xfrm>
            <a:off x="4706938" y="5556250"/>
            <a:ext cx="1920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a:solidFill>
                  <a:srgbClr val="000048"/>
                </a:solidFill>
                <a:latin typeface="Times New Roman" panose="02020603050405020304" pitchFamily="18" charset="0"/>
              </a:rPr>
              <a:t>0</a:t>
            </a:r>
          </a:p>
        </p:txBody>
      </p:sp>
      <p:sp>
        <p:nvSpPr>
          <p:cNvPr id="12357" name="Freeform 69"/>
          <p:cNvSpPr/>
          <p:nvPr/>
        </p:nvSpPr>
        <p:spPr bwMode="auto">
          <a:xfrm>
            <a:off x="4886325" y="3829050"/>
            <a:ext cx="1514475" cy="1838325"/>
          </a:xfrm>
          <a:custGeom>
            <a:avLst/>
            <a:gdLst>
              <a:gd name="T0" fmla="*/ 0 w 954"/>
              <a:gd name="T1" fmla="*/ 1838325 h 1158"/>
              <a:gd name="T2" fmla="*/ 342900 w 954"/>
              <a:gd name="T3" fmla="*/ 190500 h 1158"/>
              <a:gd name="T4" fmla="*/ 400050 w 954"/>
              <a:gd name="T5" fmla="*/ 114300 h 1158"/>
              <a:gd name="T6" fmla="*/ 514350 w 954"/>
              <a:gd name="T7" fmla="*/ 47625 h 1158"/>
              <a:gd name="T8" fmla="*/ 581025 w 954"/>
              <a:gd name="T9" fmla="*/ 47625 h 1158"/>
              <a:gd name="T10" fmla="*/ 714375 w 954"/>
              <a:gd name="T11" fmla="*/ 38100 h 1158"/>
              <a:gd name="T12" fmla="*/ 847725 w 954"/>
              <a:gd name="T13" fmla="*/ 19050 h 1158"/>
              <a:gd name="T14" fmla="*/ 971550 w 954"/>
              <a:gd name="T15" fmla="*/ 19050 h 1158"/>
              <a:gd name="T16" fmla="*/ 1095375 w 954"/>
              <a:gd name="T17" fmla="*/ 19050 h 1158"/>
              <a:gd name="T18" fmla="*/ 1514475 w 954"/>
              <a:gd name="T19" fmla="*/ 0 h 11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54" h="1158">
                <a:moveTo>
                  <a:pt x="0" y="1158"/>
                </a:moveTo>
                <a:lnTo>
                  <a:pt x="216" y="120"/>
                </a:lnTo>
                <a:lnTo>
                  <a:pt x="252" y="72"/>
                </a:lnTo>
                <a:lnTo>
                  <a:pt x="324" y="30"/>
                </a:lnTo>
                <a:lnTo>
                  <a:pt x="366" y="30"/>
                </a:lnTo>
                <a:lnTo>
                  <a:pt x="450" y="24"/>
                </a:lnTo>
                <a:lnTo>
                  <a:pt x="534" y="12"/>
                </a:lnTo>
                <a:lnTo>
                  <a:pt x="612" y="12"/>
                </a:lnTo>
                <a:lnTo>
                  <a:pt x="690" y="12"/>
                </a:lnTo>
                <a:lnTo>
                  <a:pt x="954" y="0"/>
                </a:lnTo>
              </a:path>
            </a:pathLst>
          </a:custGeom>
          <a:noFill/>
          <a:ln w="444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box(in)">
                                      <p:cBhvr>
                                        <p:cTn id="7" dur="1000"/>
                                        <p:tgtEl>
                                          <p:spTgt spid="12290"/>
                                        </p:tgtEl>
                                      </p:cBhvr>
                                    </p:animEffect>
                                  </p:childTnLst>
                                </p:cTn>
                              </p:par>
                            </p:childTnLst>
                          </p:cTn>
                        </p:par>
                      </p:childTnLst>
                    </p:cTn>
                  </p:par>
                  <p:par>
                    <p:cTn id="8" fill="hold">
                      <p:stCondLst>
                        <p:cond delay="indefinite"/>
                      </p:stCondLst>
                      <p:childTnLst>
                        <p:par>
                          <p:cTn id="9" fill="hold">
                            <p:stCondLst>
                              <p:cond delay="0"/>
                            </p:stCondLst>
                            <p:childTnLst>
                              <p:par>
                                <p:cTn id="10" presetID="27" presetClass="entr" presetSubtype="0" fill="hold" grpId="0" nodeType="clickEffect">
                                  <p:stCondLst>
                                    <p:cond delay="0"/>
                                  </p:stCondLst>
                                  <p:iterate type="lt">
                                    <p:tmPct val="50000"/>
                                  </p:iterate>
                                  <p:childTnLst>
                                    <p:set>
                                      <p:cBhvr>
                                        <p:cTn id="11" dur="1" fill="hold">
                                          <p:stCondLst>
                                            <p:cond delay="0"/>
                                          </p:stCondLst>
                                        </p:cTn>
                                        <p:tgtEl>
                                          <p:spTgt spid="12292"/>
                                        </p:tgtEl>
                                        <p:attrNameLst>
                                          <p:attrName>style.visibility</p:attrName>
                                        </p:attrNameLst>
                                      </p:cBhvr>
                                      <p:to>
                                        <p:strVal val="visible"/>
                                      </p:to>
                                    </p:set>
                                    <p:anim calcmode="discrete" valueType="clr">
                                      <p:cBhvr override="childStyle">
                                        <p:cTn id="12" dur="80"/>
                                        <p:tgtEl>
                                          <p:spTgt spid="12292"/>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12292"/>
                                        </p:tgtEl>
                                        <p:attrNameLst>
                                          <p:attrName>fillcolor</p:attrName>
                                        </p:attrNameLst>
                                      </p:cBhvr>
                                      <p:tavLst>
                                        <p:tav tm="0">
                                          <p:val>
                                            <p:clrVal>
                                              <a:schemeClr val="accent2"/>
                                            </p:clrVal>
                                          </p:val>
                                        </p:tav>
                                        <p:tav tm="50000">
                                          <p:val>
                                            <p:clrVal>
                                              <a:schemeClr val="hlink"/>
                                            </p:clrVal>
                                          </p:val>
                                        </p:tav>
                                      </p:tavLst>
                                    </p:anim>
                                    <p:set>
                                      <p:cBhvr>
                                        <p:cTn id="14" dur="80"/>
                                        <p:tgtEl>
                                          <p:spTgt spid="12292"/>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20" presetClass="entr" presetSubtype="0" fill="hold" nodeType="clickEffect">
                                  <p:stCondLst>
                                    <p:cond delay="0"/>
                                  </p:stCondLst>
                                  <p:childTnLst>
                                    <p:set>
                                      <p:cBhvr>
                                        <p:cTn id="18" dur="1" fill="hold">
                                          <p:stCondLst>
                                            <p:cond delay="0"/>
                                          </p:stCondLst>
                                        </p:cTn>
                                        <p:tgtEl>
                                          <p:spTgt spid="12297"/>
                                        </p:tgtEl>
                                        <p:attrNameLst>
                                          <p:attrName>style.visibility</p:attrName>
                                        </p:attrNameLst>
                                      </p:cBhvr>
                                      <p:to>
                                        <p:strVal val="visible"/>
                                      </p:to>
                                    </p:set>
                                    <p:animEffect transition="in" filter="wedge">
                                      <p:cBhvr>
                                        <p:cTn id="19" dur="1000"/>
                                        <p:tgtEl>
                                          <p:spTgt spid="12297"/>
                                        </p:tgtEl>
                                      </p:cBhvr>
                                    </p:animEffect>
                                  </p:childTnLst>
                                </p:cTn>
                              </p:par>
                            </p:childTnLst>
                          </p:cTn>
                        </p:par>
                        <p:par>
                          <p:cTn id="20" fill="hold">
                            <p:stCondLst>
                              <p:cond delay="1000"/>
                            </p:stCondLst>
                            <p:childTnLst>
                              <p:par>
                                <p:cTn id="21" presetID="22" presetClass="entr" presetSubtype="8" fill="hold" nodeType="afterEffect">
                                  <p:stCondLst>
                                    <p:cond delay="0"/>
                                  </p:stCondLst>
                                  <p:childTnLst>
                                    <p:set>
                                      <p:cBhvr>
                                        <p:cTn id="22" dur="1" fill="hold">
                                          <p:stCondLst>
                                            <p:cond delay="0"/>
                                          </p:stCondLst>
                                        </p:cTn>
                                        <p:tgtEl>
                                          <p:spTgt spid="12350"/>
                                        </p:tgtEl>
                                        <p:attrNameLst>
                                          <p:attrName>style.visibility</p:attrName>
                                        </p:attrNameLst>
                                      </p:cBhvr>
                                      <p:to>
                                        <p:strVal val="visible"/>
                                      </p:to>
                                    </p:set>
                                    <p:animEffect transition="in" filter="wipe(left)">
                                      <p:cBhvr>
                                        <p:cTn id="23" dur="500"/>
                                        <p:tgtEl>
                                          <p:spTgt spid="12350"/>
                                        </p:tgtEl>
                                      </p:cBhvr>
                                    </p:animEffect>
                                  </p:childTnLst>
                                </p:cTn>
                              </p:par>
                            </p:childTnLst>
                          </p:cTn>
                        </p:par>
                        <p:par>
                          <p:cTn id="24" fill="hold">
                            <p:stCondLst>
                              <p:cond delay="1500"/>
                            </p:stCondLst>
                            <p:childTnLst>
                              <p:par>
                                <p:cTn id="25" presetID="22" presetClass="entr" presetSubtype="4" fill="hold" nodeType="afterEffect">
                                  <p:stCondLst>
                                    <p:cond delay="0"/>
                                  </p:stCondLst>
                                  <p:childTnLst>
                                    <p:set>
                                      <p:cBhvr>
                                        <p:cTn id="26" dur="1" fill="hold">
                                          <p:stCondLst>
                                            <p:cond delay="0"/>
                                          </p:stCondLst>
                                        </p:cTn>
                                        <p:tgtEl>
                                          <p:spTgt spid="12353"/>
                                        </p:tgtEl>
                                        <p:attrNameLst>
                                          <p:attrName>style.visibility</p:attrName>
                                        </p:attrNameLst>
                                      </p:cBhvr>
                                      <p:to>
                                        <p:strVal val="visible"/>
                                      </p:to>
                                    </p:set>
                                    <p:animEffect transition="in" filter="wipe(down)">
                                      <p:cBhvr>
                                        <p:cTn id="27" dur="500"/>
                                        <p:tgtEl>
                                          <p:spTgt spid="12353"/>
                                        </p:tgtEl>
                                      </p:cBhvr>
                                    </p:animEffect>
                                  </p:childTnLst>
                                </p:cTn>
                              </p:par>
                            </p:childTnLst>
                          </p:cTn>
                        </p:par>
                        <p:par>
                          <p:cTn id="28" fill="hold">
                            <p:stCondLst>
                              <p:cond delay="2000"/>
                            </p:stCondLst>
                            <p:childTnLst>
                              <p:par>
                                <p:cTn id="29" presetID="23" presetClass="entr" presetSubtype="32" fill="hold" grpId="0" nodeType="afterEffect">
                                  <p:stCondLst>
                                    <p:cond delay="0"/>
                                  </p:stCondLst>
                                  <p:childTnLst>
                                    <p:set>
                                      <p:cBhvr>
                                        <p:cTn id="30" dur="1" fill="hold">
                                          <p:stCondLst>
                                            <p:cond delay="0"/>
                                          </p:stCondLst>
                                        </p:cTn>
                                        <p:tgtEl>
                                          <p:spTgt spid="12356"/>
                                        </p:tgtEl>
                                        <p:attrNameLst>
                                          <p:attrName>style.visibility</p:attrName>
                                        </p:attrNameLst>
                                      </p:cBhvr>
                                      <p:to>
                                        <p:strVal val="visible"/>
                                      </p:to>
                                    </p:set>
                                    <p:anim calcmode="lin" valueType="num">
                                      <p:cBhvr>
                                        <p:cTn id="31" dur="500" fill="hold"/>
                                        <p:tgtEl>
                                          <p:spTgt spid="12356"/>
                                        </p:tgtEl>
                                        <p:attrNameLst>
                                          <p:attrName>ppt_w</p:attrName>
                                        </p:attrNameLst>
                                      </p:cBhvr>
                                      <p:tavLst>
                                        <p:tav tm="0">
                                          <p:val>
                                            <p:strVal val="4*#ppt_w"/>
                                          </p:val>
                                        </p:tav>
                                        <p:tav tm="100000">
                                          <p:val>
                                            <p:strVal val="#ppt_w"/>
                                          </p:val>
                                        </p:tav>
                                      </p:tavLst>
                                    </p:anim>
                                    <p:anim calcmode="lin" valueType="num">
                                      <p:cBhvr>
                                        <p:cTn id="32" dur="500" fill="hold"/>
                                        <p:tgtEl>
                                          <p:spTgt spid="12356"/>
                                        </p:tgtEl>
                                        <p:attrNameLst>
                                          <p:attrName>ppt_h</p:attrName>
                                        </p:attrNameLst>
                                      </p:cBhvr>
                                      <p:tavLst>
                                        <p:tav tm="0">
                                          <p:val>
                                            <p:strVal val="4*#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grpId="0" nodeType="clickEffect">
                                  <p:stCondLst>
                                    <p:cond delay="0"/>
                                  </p:stCondLst>
                                  <p:childTnLst>
                                    <p:set>
                                      <p:cBhvr>
                                        <p:cTn id="36" dur="1" fill="hold">
                                          <p:stCondLst>
                                            <p:cond delay="0"/>
                                          </p:stCondLst>
                                        </p:cTn>
                                        <p:tgtEl>
                                          <p:spTgt spid="12291"/>
                                        </p:tgtEl>
                                        <p:attrNameLst>
                                          <p:attrName>style.visibility</p:attrName>
                                        </p:attrNameLst>
                                      </p:cBhvr>
                                      <p:to>
                                        <p:strVal val="visible"/>
                                      </p:to>
                                    </p:set>
                                    <p:anim to="" calcmode="lin" valueType="num">
                                      <p:cBhvr>
                                        <p:cTn id="37" dur="1" fill="hold"/>
                                        <p:tgtEl>
                                          <p:spTgt spid="12291"/>
                                        </p:tgtEl>
                                      </p:cBhvr>
                                    </p:anim>
                                  </p:childTnLst>
                                </p:cTn>
                              </p:par>
                            </p:childTnLst>
                          </p:cTn>
                        </p:par>
                      </p:childTnLst>
                    </p:cTn>
                  </p:par>
                  <p:par>
                    <p:cTn id="38" fill="hold">
                      <p:stCondLst>
                        <p:cond delay="indefinite"/>
                      </p:stCondLst>
                      <p:childTnLst>
                        <p:par>
                          <p:cTn id="39" fill="hold">
                            <p:stCondLst>
                              <p:cond delay="0"/>
                            </p:stCondLst>
                            <p:childTnLst>
                              <p:par>
                                <p:cTn id="40" presetID="24" presetClass="entr" presetSubtype="0" fill="hold" grpId="0" nodeType="clickEffect">
                                  <p:stCondLst>
                                    <p:cond delay="0"/>
                                  </p:stCondLst>
                                  <p:childTnLst>
                                    <p:set>
                                      <p:cBhvr>
                                        <p:cTn id="41" dur="1" fill="hold">
                                          <p:stCondLst>
                                            <p:cond delay="0"/>
                                          </p:stCondLst>
                                        </p:cTn>
                                        <p:tgtEl>
                                          <p:spTgt spid="12293"/>
                                        </p:tgtEl>
                                        <p:attrNameLst>
                                          <p:attrName>style.visibility</p:attrName>
                                        </p:attrNameLst>
                                      </p:cBhvr>
                                      <p:to>
                                        <p:strVal val="visible"/>
                                      </p:to>
                                    </p:set>
                                    <p:anim to="" calcmode="lin" valueType="num">
                                      <p:cBhvr>
                                        <p:cTn id="42" dur="1" fill="hold"/>
                                        <p:tgtEl>
                                          <p:spTgt spid="12293"/>
                                        </p:tgtEl>
                                      </p:cBhvr>
                                    </p:anim>
                                  </p:childTnLst>
                                </p:cTn>
                              </p:par>
                            </p:childTnLst>
                          </p:cTn>
                        </p:par>
                        <p:par>
                          <p:cTn id="43" fill="hold">
                            <p:stCondLst>
                              <p:cond delay="0"/>
                            </p:stCondLst>
                            <p:childTnLst>
                              <p:par>
                                <p:cTn id="44" presetID="22" presetClass="entr" presetSubtype="4" fill="hold" grpId="0" nodeType="afterEffect">
                                  <p:stCondLst>
                                    <p:cond delay="0"/>
                                  </p:stCondLst>
                                  <p:childTnLst>
                                    <p:set>
                                      <p:cBhvr>
                                        <p:cTn id="45" dur="1" fill="hold">
                                          <p:stCondLst>
                                            <p:cond delay="0"/>
                                          </p:stCondLst>
                                        </p:cTn>
                                        <p:tgtEl>
                                          <p:spTgt spid="12347"/>
                                        </p:tgtEl>
                                        <p:attrNameLst>
                                          <p:attrName>style.visibility</p:attrName>
                                        </p:attrNameLst>
                                      </p:cBhvr>
                                      <p:to>
                                        <p:strVal val="visible"/>
                                      </p:to>
                                    </p:set>
                                    <p:animEffect transition="in" filter="wipe(down)">
                                      <p:cBhvr>
                                        <p:cTn id="46" dur="2000"/>
                                        <p:tgtEl>
                                          <p:spTgt spid="12347"/>
                                        </p:tgtEl>
                                      </p:cBhvr>
                                    </p:animEffect>
                                  </p:childTnLst>
                                </p:cTn>
                              </p:par>
                            </p:childTnLst>
                          </p:cTn>
                        </p:par>
                        <p:par>
                          <p:cTn id="47" fill="hold">
                            <p:stCondLst>
                              <p:cond delay="2000"/>
                            </p:stCondLst>
                            <p:childTnLst>
                              <p:par>
                                <p:cTn id="48" presetID="16" presetClass="entr" presetSubtype="42" fill="hold" nodeType="afterEffect">
                                  <p:stCondLst>
                                    <p:cond delay="0"/>
                                  </p:stCondLst>
                                  <p:childTnLst>
                                    <p:set>
                                      <p:cBhvr>
                                        <p:cTn id="49" dur="1" fill="hold">
                                          <p:stCondLst>
                                            <p:cond delay="0"/>
                                          </p:stCondLst>
                                        </p:cTn>
                                        <p:tgtEl>
                                          <p:spTgt spid="12294"/>
                                        </p:tgtEl>
                                        <p:attrNameLst>
                                          <p:attrName>style.visibility</p:attrName>
                                        </p:attrNameLst>
                                      </p:cBhvr>
                                      <p:to>
                                        <p:strVal val="visible"/>
                                      </p:to>
                                    </p:set>
                                    <p:animEffect transition="in" filter="barn(outHorizontal)">
                                      <p:cBhvr>
                                        <p:cTn id="50" dur="2000"/>
                                        <p:tgtEl>
                                          <p:spTgt spid="12294"/>
                                        </p:tgtEl>
                                      </p:cBhvr>
                                    </p:animEffect>
                                  </p:childTnLst>
                                </p:cTn>
                              </p:par>
                            </p:childTnLst>
                          </p:cTn>
                        </p:par>
                      </p:childTnLst>
                    </p:cTn>
                  </p:par>
                  <p:par>
                    <p:cTn id="51" fill="hold">
                      <p:stCondLst>
                        <p:cond delay="indefinite"/>
                      </p:stCondLst>
                      <p:childTnLst>
                        <p:par>
                          <p:cTn id="52" fill="hold">
                            <p:stCondLst>
                              <p:cond delay="0"/>
                            </p:stCondLst>
                            <p:childTnLst>
                              <p:par>
                                <p:cTn id="53" presetID="56" presetClass="entr" presetSubtype="0" fill="hold" grpId="0" nodeType="clickEffect">
                                  <p:stCondLst>
                                    <p:cond delay="0"/>
                                  </p:stCondLst>
                                  <p:iterate type="lt">
                                    <p:tmPct val="10000"/>
                                  </p:iterate>
                                  <p:childTnLst>
                                    <p:set>
                                      <p:cBhvr>
                                        <p:cTn id="54" dur="1" fill="hold">
                                          <p:stCondLst>
                                            <p:cond delay="0"/>
                                          </p:stCondLst>
                                        </p:cTn>
                                        <p:tgtEl>
                                          <p:spTgt spid="12348"/>
                                        </p:tgtEl>
                                        <p:attrNameLst>
                                          <p:attrName>style.visibility</p:attrName>
                                        </p:attrNameLst>
                                      </p:cBhvr>
                                      <p:to>
                                        <p:strVal val="visible"/>
                                      </p:to>
                                    </p:set>
                                    <p:anim by="(-#ppt_w*2)" calcmode="lin" valueType="num">
                                      <p:cBhvr rctx="PPT">
                                        <p:cTn id="55" dur="250" autoRev="1" fill="hold">
                                          <p:stCondLst>
                                            <p:cond delay="0"/>
                                          </p:stCondLst>
                                        </p:cTn>
                                        <p:tgtEl>
                                          <p:spTgt spid="12348"/>
                                        </p:tgtEl>
                                        <p:attrNameLst>
                                          <p:attrName>ppt_w</p:attrName>
                                        </p:attrNameLst>
                                      </p:cBhvr>
                                    </p:anim>
                                    <p:anim by="(#ppt_w*0.50)" calcmode="lin" valueType="num">
                                      <p:cBhvr>
                                        <p:cTn id="56" dur="250" decel="50000" autoRev="1" fill="hold">
                                          <p:stCondLst>
                                            <p:cond delay="0"/>
                                          </p:stCondLst>
                                        </p:cTn>
                                        <p:tgtEl>
                                          <p:spTgt spid="12348"/>
                                        </p:tgtEl>
                                        <p:attrNameLst>
                                          <p:attrName>ppt_x</p:attrName>
                                        </p:attrNameLst>
                                      </p:cBhvr>
                                    </p:anim>
                                    <p:anim from="(-#ppt_h/2)" to="(#ppt_y)" calcmode="lin" valueType="num">
                                      <p:cBhvr>
                                        <p:cTn id="57" dur="500" fill="hold">
                                          <p:stCondLst>
                                            <p:cond delay="0"/>
                                          </p:stCondLst>
                                        </p:cTn>
                                        <p:tgtEl>
                                          <p:spTgt spid="12348"/>
                                        </p:tgtEl>
                                        <p:attrNameLst>
                                          <p:attrName>ppt_y</p:attrName>
                                        </p:attrNameLst>
                                      </p:cBhvr>
                                    </p:anim>
                                    <p:animRot by="21600000">
                                      <p:cBhvr>
                                        <p:cTn id="58" dur="500" fill="hold">
                                          <p:stCondLst>
                                            <p:cond delay="0"/>
                                          </p:stCondLst>
                                        </p:cTn>
                                        <p:tgtEl>
                                          <p:spTgt spid="12348"/>
                                        </p:tgtEl>
                                        <p:attrNameLst>
                                          <p:attrName>r</p:attrName>
                                        </p:attrNameLst>
                                      </p:cBhvr>
                                    </p:animRo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2357"/>
                                        </p:tgtEl>
                                        <p:attrNameLst>
                                          <p:attrName>style.visibility</p:attrName>
                                        </p:attrNameLst>
                                      </p:cBhvr>
                                      <p:to>
                                        <p:strVal val="visible"/>
                                      </p:to>
                                    </p:set>
                                    <p:animEffect transition="in" filter="wipe(left)">
                                      <p:cBhvr>
                                        <p:cTn id="63" dur="2000"/>
                                        <p:tgtEl>
                                          <p:spTgt spid="12357"/>
                                        </p:tgtEl>
                                      </p:cBhvr>
                                    </p:animEffect>
                                  </p:childTnLst>
                                </p:cTn>
                              </p:par>
                            </p:childTnLst>
                          </p:cTn>
                        </p:par>
                        <p:par>
                          <p:cTn id="64" fill="hold">
                            <p:stCondLst>
                              <p:cond delay="2000"/>
                            </p:stCondLst>
                            <p:childTnLst>
                              <p:par>
                                <p:cTn id="65" presetID="51" presetClass="entr" presetSubtype="0" fill="hold" grpId="0" nodeType="afterEffect">
                                  <p:stCondLst>
                                    <p:cond delay="0"/>
                                  </p:stCondLst>
                                  <p:childTnLst>
                                    <p:set>
                                      <p:cBhvr>
                                        <p:cTn id="66" dur="1" fill="hold">
                                          <p:stCondLst>
                                            <p:cond delay="0"/>
                                          </p:stCondLst>
                                        </p:cTn>
                                        <p:tgtEl>
                                          <p:spTgt spid="12349"/>
                                        </p:tgtEl>
                                        <p:attrNameLst>
                                          <p:attrName>style.visibility</p:attrName>
                                        </p:attrNameLst>
                                      </p:cBhvr>
                                      <p:to>
                                        <p:strVal val="visible"/>
                                      </p:to>
                                    </p:set>
                                    <p:animEffect transition="in" filter="fade">
                                      <p:cBhvr>
                                        <p:cTn id="67" dur="385" decel="100000"/>
                                        <p:tgtEl>
                                          <p:spTgt spid="12349"/>
                                        </p:tgtEl>
                                      </p:cBhvr>
                                    </p:animEffect>
                                    <p:animScale>
                                      <p:cBhvr>
                                        <p:cTn id="68" dur="385" decel="100000"/>
                                        <p:tgtEl>
                                          <p:spTgt spid="12349"/>
                                        </p:tgtEl>
                                      </p:cBhvr>
                                      <p:from x="10000" y="10000"/>
                                      <p:to x="200000" y="450000"/>
                                    </p:animScale>
                                    <p:animScale>
                                      <p:cBhvr>
                                        <p:cTn id="69" dur="615" accel="100000" fill="hold">
                                          <p:stCondLst>
                                            <p:cond delay="385"/>
                                          </p:stCondLst>
                                        </p:cTn>
                                        <p:tgtEl>
                                          <p:spTgt spid="12349"/>
                                        </p:tgtEl>
                                      </p:cBhvr>
                                      <p:from x="200000" y="450000"/>
                                      <p:to x="100000" y="100000"/>
                                    </p:animScale>
                                    <p:set>
                                      <p:cBhvr>
                                        <p:cTn id="70" dur="385" fill="hold"/>
                                        <p:tgtEl>
                                          <p:spTgt spid="12349"/>
                                        </p:tgtEl>
                                        <p:attrNameLst>
                                          <p:attrName>ppt_x</p:attrName>
                                        </p:attrNameLst>
                                      </p:cBhvr>
                                      <p:to>
                                        <p:strVal val="(0.5)"/>
                                      </p:to>
                                    </p:set>
                                    <p:anim from="(0.5)" to="(#ppt_x)" calcmode="lin" valueType="num">
                                      <p:cBhvr>
                                        <p:cTn id="71" dur="615" accel="100000" fill="hold">
                                          <p:stCondLst>
                                            <p:cond delay="385"/>
                                          </p:stCondLst>
                                        </p:cTn>
                                        <p:tgtEl>
                                          <p:spTgt spid="12349"/>
                                        </p:tgtEl>
                                        <p:attrNameLst>
                                          <p:attrName>ppt_x</p:attrName>
                                        </p:attrNameLst>
                                      </p:cBhvr>
                                    </p:anim>
                                    <p:set>
                                      <p:cBhvr>
                                        <p:cTn id="72" dur="385" fill="hold"/>
                                        <p:tgtEl>
                                          <p:spTgt spid="12349"/>
                                        </p:tgtEl>
                                        <p:attrNameLst>
                                          <p:attrName>ppt_y</p:attrName>
                                        </p:attrNameLst>
                                      </p:cBhvr>
                                      <p:to>
                                        <p:strVal val="(#ppt_y+0.4)"/>
                                      </p:to>
                                    </p:set>
                                    <p:anim from="(#ppt_y+0.4)" to="(#ppt_y)" calcmode="lin" valueType="num">
                                      <p:cBhvr>
                                        <p:cTn id="73" dur="615" accel="100000" fill="hold">
                                          <p:stCondLst>
                                            <p:cond delay="385"/>
                                          </p:stCondLst>
                                        </p:cTn>
                                        <p:tgtEl>
                                          <p:spTgt spid="12349"/>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nimBg="1"/>
      <p:bldP spid="12291" grpId="0" animBg="1"/>
      <p:bldP spid="12292" grpId="0"/>
      <p:bldP spid="12293" grpId="0" animBg="1"/>
      <p:bldP spid="12347" grpId="0" animBg="1"/>
      <p:bldP spid="12348" grpId="0"/>
      <p:bldP spid="12349" grpId="0"/>
      <p:bldP spid="12356" grpId="0" autoUpdateAnimBg="0"/>
      <p:bldP spid="1235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4" name="Group 2"/>
          <p:cNvGrpSpPr/>
          <p:nvPr/>
        </p:nvGrpSpPr>
        <p:grpSpPr bwMode="auto">
          <a:xfrm>
            <a:off x="604838" y="695325"/>
            <a:ext cx="3852862" cy="2432050"/>
            <a:chOff x="390" y="381"/>
            <a:chExt cx="2427" cy="1532"/>
          </a:xfrm>
        </p:grpSpPr>
        <p:grpSp>
          <p:nvGrpSpPr>
            <p:cNvPr id="14378" name="Group 3"/>
            <p:cNvGrpSpPr/>
            <p:nvPr/>
          </p:nvGrpSpPr>
          <p:grpSpPr bwMode="auto">
            <a:xfrm rot="16200000" flipV="1">
              <a:off x="1121" y="1011"/>
              <a:ext cx="288" cy="344"/>
              <a:chOff x="4168" y="3064"/>
              <a:chExt cx="288" cy="344"/>
            </a:xfrm>
          </p:grpSpPr>
          <p:sp>
            <p:nvSpPr>
              <p:cNvPr id="14422" name="Rectangle 4"/>
              <p:cNvSpPr>
                <a:spLocks noChangeArrowheads="1"/>
              </p:cNvSpPr>
              <p:nvPr/>
            </p:nvSpPr>
            <p:spPr bwMode="auto">
              <a:xfrm>
                <a:off x="4176" y="3084"/>
                <a:ext cx="276" cy="312"/>
              </a:xfrm>
              <a:prstGeom prst="rect">
                <a:avLst/>
              </a:prstGeom>
              <a:solidFill>
                <a:schemeClr val="bg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4423" name="Line 5"/>
              <p:cNvSpPr>
                <a:spLocks noChangeShapeType="1"/>
              </p:cNvSpPr>
              <p:nvPr/>
            </p:nvSpPr>
            <p:spPr bwMode="auto">
              <a:xfrm>
                <a:off x="4168" y="3248"/>
                <a:ext cx="288" cy="1"/>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24" name="Line 6"/>
              <p:cNvSpPr>
                <a:spLocks noChangeShapeType="1"/>
              </p:cNvSpPr>
              <p:nvPr/>
            </p:nvSpPr>
            <p:spPr bwMode="auto">
              <a:xfrm flipH="1" flipV="1">
                <a:off x="4168" y="3064"/>
                <a:ext cx="120" cy="192"/>
              </a:xfrm>
              <a:prstGeom prst="line">
                <a:avLst/>
              </a:prstGeom>
              <a:noFill/>
              <a:ln w="38100">
                <a:solidFill>
                  <a:srgbClr val="000066"/>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25" name="Line 7"/>
              <p:cNvSpPr>
                <a:spLocks noChangeShapeType="1"/>
              </p:cNvSpPr>
              <p:nvPr/>
            </p:nvSpPr>
            <p:spPr bwMode="auto">
              <a:xfrm flipV="1">
                <a:off x="4368" y="3080"/>
                <a:ext cx="80" cy="152"/>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26" name="Line 8"/>
              <p:cNvSpPr>
                <a:spLocks noChangeShapeType="1"/>
              </p:cNvSpPr>
              <p:nvPr/>
            </p:nvSpPr>
            <p:spPr bwMode="auto">
              <a:xfrm>
                <a:off x="4320" y="3258"/>
                <a:ext cx="0" cy="150"/>
              </a:xfrm>
              <a:prstGeom prst="line">
                <a:avLst/>
              </a:prstGeom>
              <a:noFill/>
              <a:ln w="38100">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379" name="Oval 9"/>
            <p:cNvSpPr>
              <a:spLocks noChangeArrowheads="1"/>
            </p:cNvSpPr>
            <p:nvPr/>
          </p:nvSpPr>
          <p:spPr bwMode="auto">
            <a:xfrm>
              <a:off x="1389" y="1866"/>
              <a:ext cx="48" cy="47"/>
            </a:xfrm>
            <a:prstGeom prst="ellipse">
              <a:avLst/>
            </a:prstGeom>
            <a:solidFill>
              <a:schemeClr val="accent2"/>
            </a:solidFill>
            <a:ln w="9525">
              <a:solidFill>
                <a:schemeClr val="accent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4380" name="Text Box 10"/>
            <p:cNvSpPr txBox="1">
              <a:spLocks noChangeArrowheads="1"/>
            </p:cNvSpPr>
            <p:nvPr/>
          </p:nvSpPr>
          <p:spPr bwMode="auto">
            <a:xfrm>
              <a:off x="639" y="1605"/>
              <a:ext cx="31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U</a:t>
              </a:r>
              <a:r>
                <a:rPr kumimoji="1" lang="en-US" altLang="zh-CN" sz="2000" b="1" baseline="-25000">
                  <a:solidFill>
                    <a:srgbClr val="000048"/>
                  </a:solidFill>
                  <a:latin typeface="Times New Roman" panose="02020603050405020304" pitchFamily="18" charset="0"/>
                </a:rPr>
                <a:t>BB</a:t>
              </a:r>
              <a:endParaRPr kumimoji="1" lang="en-US" altLang="zh-CN" sz="2000" b="1">
                <a:solidFill>
                  <a:srgbClr val="000048"/>
                </a:solidFill>
                <a:latin typeface="Times New Roman" panose="02020603050405020304" pitchFamily="18" charset="0"/>
              </a:endParaRPr>
            </a:p>
          </p:txBody>
        </p:sp>
        <p:sp>
          <p:nvSpPr>
            <p:cNvPr id="14381" name="Text Box 11"/>
            <p:cNvSpPr txBox="1">
              <a:spLocks noChangeArrowheads="1"/>
            </p:cNvSpPr>
            <p:nvPr/>
          </p:nvSpPr>
          <p:spPr bwMode="auto">
            <a:xfrm>
              <a:off x="2499" y="1401"/>
              <a:ext cx="31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U</a:t>
              </a:r>
              <a:r>
                <a:rPr kumimoji="1" lang="en-US" altLang="zh-CN" sz="2000" b="1" baseline="-25000">
                  <a:solidFill>
                    <a:srgbClr val="000048"/>
                  </a:solidFill>
                  <a:latin typeface="Times New Roman" panose="02020603050405020304" pitchFamily="18" charset="0"/>
                </a:rPr>
                <a:t>CC</a:t>
              </a:r>
              <a:endParaRPr kumimoji="1" lang="en-US" altLang="zh-CN" sz="2000" b="1">
                <a:solidFill>
                  <a:srgbClr val="000048"/>
                </a:solidFill>
                <a:latin typeface="Times New Roman" panose="02020603050405020304" pitchFamily="18" charset="0"/>
              </a:endParaRPr>
            </a:p>
          </p:txBody>
        </p:sp>
        <p:sp>
          <p:nvSpPr>
            <p:cNvPr id="14382" name="Text Box 12"/>
            <p:cNvSpPr txBox="1">
              <a:spLocks noChangeArrowheads="1"/>
            </p:cNvSpPr>
            <p:nvPr/>
          </p:nvSpPr>
          <p:spPr bwMode="auto">
            <a:xfrm>
              <a:off x="2476" y="834"/>
              <a:ext cx="20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R</a:t>
              </a:r>
              <a:r>
                <a:rPr kumimoji="1" lang="en-US" altLang="zh-CN" sz="2000" b="1" baseline="-25000">
                  <a:solidFill>
                    <a:srgbClr val="000048"/>
                  </a:solidFill>
                  <a:latin typeface="Times New Roman" panose="02020603050405020304" pitchFamily="18" charset="0"/>
                </a:rPr>
                <a:t>C</a:t>
              </a:r>
              <a:endParaRPr kumimoji="1" lang="en-US" altLang="zh-CN" sz="2000" b="1">
                <a:solidFill>
                  <a:srgbClr val="000048"/>
                </a:solidFill>
                <a:latin typeface="Times New Roman" panose="02020603050405020304" pitchFamily="18" charset="0"/>
              </a:endParaRPr>
            </a:p>
          </p:txBody>
        </p:sp>
        <p:sp>
          <p:nvSpPr>
            <p:cNvPr id="14383" name="Freeform 13"/>
            <p:cNvSpPr/>
            <p:nvPr/>
          </p:nvSpPr>
          <p:spPr bwMode="auto">
            <a:xfrm>
              <a:off x="543" y="1175"/>
              <a:ext cx="550" cy="730"/>
            </a:xfrm>
            <a:custGeom>
              <a:avLst/>
              <a:gdLst>
                <a:gd name="T0" fmla="*/ 550 w 768"/>
                <a:gd name="T1" fmla="*/ 0 h 624"/>
                <a:gd name="T2" fmla="*/ 0 w 768"/>
                <a:gd name="T3" fmla="*/ 0 h 624"/>
                <a:gd name="T4" fmla="*/ 0 w 768"/>
                <a:gd name="T5" fmla="*/ 730 h 624"/>
                <a:gd name="T6" fmla="*/ 0 60000 65536"/>
                <a:gd name="T7" fmla="*/ 0 60000 65536"/>
                <a:gd name="T8" fmla="*/ 0 60000 65536"/>
              </a:gdLst>
              <a:ahLst/>
              <a:cxnLst>
                <a:cxn ang="T6">
                  <a:pos x="T0" y="T1"/>
                </a:cxn>
                <a:cxn ang="T7">
                  <a:pos x="T2" y="T3"/>
                </a:cxn>
                <a:cxn ang="T8">
                  <a:pos x="T4" y="T5"/>
                </a:cxn>
              </a:cxnLst>
              <a:rect l="0" t="0" r="r" b="b"/>
              <a:pathLst>
                <a:path w="768" h="624">
                  <a:moveTo>
                    <a:pt x="768" y="0"/>
                  </a:moveTo>
                  <a:lnTo>
                    <a:pt x="0" y="0"/>
                  </a:lnTo>
                  <a:lnTo>
                    <a:pt x="0" y="624"/>
                  </a:lnTo>
                </a:path>
              </a:pathLst>
            </a:custGeom>
            <a:noFill/>
            <a:ln w="28575" cmpd="sng">
              <a:solidFill>
                <a:srgbClr val="66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4" name="Line 14"/>
            <p:cNvSpPr>
              <a:spLocks noChangeShapeType="1"/>
            </p:cNvSpPr>
            <p:nvPr/>
          </p:nvSpPr>
          <p:spPr bwMode="auto">
            <a:xfrm>
              <a:off x="549" y="1900"/>
              <a:ext cx="862" cy="0"/>
            </a:xfrm>
            <a:prstGeom prst="line">
              <a:avLst/>
            </a:prstGeom>
            <a:noFill/>
            <a:ln w="28575">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5" name="Freeform 15"/>
            <p:cNvSpPr/>
            <p:nvPr/>
          </p:nvSpPr>
          <p:spPr bwMode="auto">
            <a:xfrm rot="5400000" flipH="1">
              <a:off x="1248" y="748"/>
              <a:ext cx="1304" cy="977"/>
            </a:xfrm>
            <a:custGeom>
              <a:avLst/>
              <a:gdLst>
                <a:gd name="T0" fmla="*/ 1304 w 768"/>
                <a:gd name="T1" fmla="*/ 0 h 624"/>
                <a:gd name="T2" fmla="*/ 0 w 768"/>
                <a:gd name="T3" fmla="*/ 0 h 624"/>
                <a:gd name="T4" fmla="*/ 0 w 768"/>
                <a:gd name="T5" fmla="*/ 977 h 624"/>
                <a:gd name="T6" fmla="*/ 0 60000 65536"/>
                <a:gd name="T7" fmla="*/ 0 60000 65536"/>
                <a:gd name="T8" fmla="*/ 0 60000 65536"/>
              </a:gdLst>
              <a:ahLst/>
              <a:cxnLst>
                <a:cxn ang="T6">
                  <a:pos x="T0" y="T1"/>
                </a:cxn>
                <a:cxn ang="T7">
                  <a:pos x="T2" y="T3"/>
                </a:cxn>
                <a:cxn ang="T8">
                  <a:pos x="T4" y="T5"/>
                </a:cxn>
              </a:cxnLst>
              <a:rect l="0" t="0" r="r" b="b"/>
              <a:pathLst>
                <a:path w="768" h="624">
                  <a:moveTo>
                    <a:pt x="768" y="0"/>
                  </a:moveTo>
                  <a:lnTo>
                    <a:pt x="0" y="0"/>
                  </a:lnTo>
                  <a:lnTo>
                    <a:pt x="0" y="624"/>
                  </a:lnTo>
                </a:path>
              </a:pathLst>
            </a:custGeom>
            <a:noFill/>
            <a:ln w="28575" cmpd="sng">
              <a:solidFill>
                <a:srgbClr val="66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386" name="Group 16"/>
            <p:cNvGrpSpPr/>
            <p:nvPr/>
          </p:nvGrpSpPr>
          <p:grpSpPr bwMode="auto">
            <a:xfrm rot="10800000" flipV="1">
              <a:off x="458" y="1674"/>
              <a:ext cx="192" cy="89"/>
              <a:chOff x="296" y="1648"/>
              <a:chExt cx="192" cy="57"/>
            </a:xfrm>
          </p:grpSpPr>
          <p:sp>
            <p:nvSpPr>
              <p:cNvPr id="14419" name="Rectangle 17"/>
              <p:cNvSpPr>
                <a:spLocks noChangeArrowheads="1"/>
              </p:cNvSpPr>
              <p:nvPr/>
            </p:nvSpPr>
            <p:spPr bwMode="auto">
              <a:xfrm>
                <a:off x="312" y="1648"/>
                <a:ext cx="152" cy="4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4420" name="Line 18"/>
              <p:cNvSpPr>
                <a:spLocks noChangeShapeType="1"/>
              </p:cNvSpPr>
              <p:nvPr/>
            </p:nvSpPr>
            <p:spPr bwMode="auto">
              <a:xfrm>
                <a:off x="296" y="1648"/>
                <a:ext cx="192" cy="1"/>
              </a:xfrm>
              <a:prstGeom prst="line">
                <a:avLst/>
              </a:prstGeom>
              <a:noFill/>
              <a:ln w="444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21" name="Line 19"/>
              <p:cNvSpPr>
                <a:spLocks noChangeShapeType="1"/>
              </p:cNvSpPr>
              <p:nvPr/>
            </p:nvSpPr>
            <p:spPr bwMode="auto">
              <a:xfrm>
                <a:off x="344" y="1704"/>
                <a:ext cx="96" cy="1"/>
              </a:xfrm>
              <a:prstGeom prst="line">
                <a:avLst/>
              </a:prstGeom>
              <a:noFill/>
              <a:ln w="3810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87" name="Group 20"/>
            <p:cNvGrpSpPr/>
            <p:nvPr/>
          </p:nvGrpSpPr>
          <p:grpSpPr bwMode="auto">
            <a:xfrm>
              <a:off x="2294" y="1333"/>
              <a:ext cx="192" cy="285"/>
              <a:chOff x="848" y="1632"/>
              <a:chExt cx="192" cy="285"/>
            </a:xfrm>
          </p:grpSpPr>
          <p:sp>
            <p:nvSpPr>
              <p:cNvPr id="14409" name="Rectangle 21"/>
              <p:cNvSpPr>
                <a:spLocks noChangeArrowheads="1"/>
              </p:cNvSpPr>
              <p:nvPr/>
            </p:nvSpPr>
            <p:spPr bwMode="auto">
              <a:xfrm>
                <a:off x="864" y="1632"/>
                <a:ext cx="152" cy="276"/>
              </a:xfrm>
              <a:prstGeom prst="rect">
                <a:avLst/>
              </a:prstGeom>
              <a:solidFill>
                <a:schemeClr val="bg1"/>
              </a:solidFill>
              <a:ln>
                <a:noFill/>
              </a:ln>
              <a:effectLst/>
              <a:extLst>
                <a:ext uri="{91240B29-F687-4F45-9708-019B960494DF}">
                  <a14:hiddenLine xmlns:a14="http://schemas.microsoft.com/office/drawing/2010/main" w="9525">
                    <a:solidFill>
                      <a:srgbClr val="0066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nvGrpSpPr>
              <p:cNvPr id="14410" name="Group 22"/>
              <p:cNvGrpSpPr/>
              <p:nvPr/>
            </p:nvGrpSpPr>
            <p:grpSpPr bwMode="auto">
              <a:xfrm>
                <a:off x="848" y="1632"/>
                <a:ext cx="192" cy="57"/>
                <a:chOff x="848" y="1632"/>
                <a:chExt cx="192" cy="57"/>
              </a:xfrm>
            </p:grpSpPr>
            <p:sp>
              <p:nvSpPr>
                <p:cNvPr id="14417" name="Line 23"/>
                <p:cNvSpPr>
                  <a:spLocks noChangeShapeType="1"/>
                </p:cNvSpPr>
                <p:nvPr/>
              </p:nvSpPr>
              <p:spPr bwMode="auto">
                <a:xfrm>
                  <a:off x="848" y="1632"/>
                  <a:ext cx="192" cy="1"/>
                </a:xfrm>
                <a:prstGeom prst="line">
                  <a:avLst/>
                </a:prstGeom>
                <a:noFill/>
                <a:ln w="28575">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8" name="Line 24"/>
                <p:cNvSpPr>
                  <a:spLocks noChangeShapeType="1"/>
                </p:cNvSpPr>
                <p:nvPr/>
              </p:nvSpPr>
              <p:spPr bwMode="auto">
                <a:xfrm>
                  <a:off x="896" y="1688"/>
                  <a:ext cx="96" cy="1"/>
                </a:xfrm>
                <a:prstGeom prst="line">
                  <a:avLst/>
                </a:prstGeom>
                <a:noFill/>
                <a:ln w="571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11" name="Group 25"/>
              <p:cNvGrpSpPr/>
              <p:nvPr/>
            </p:nvGrpSpPr>
            <p:grpSpPr bwMode="auto">
              <a:xfrm>
                <a:off x="848" y="1744"/>
                <a:ext cx="192" cy="57"/>
                <a:chOff x="848" y="1632"/>
                <a:chExt cx="192" cy="57"/>
              </a:xfrm>
            </p:grpSpPr>
            <p:sp>
              <p:nvSpPr>
                <p:cNvPr id="14415" name="Line 26"/>
                <p:cNvSpPr>
                  <a:spLocks noChangeShapeType="1"/>
                </p:cNvSpPr>
                <p:nvPr/>
              </p:nvSpPr>
              <p:spPr bwMode="auto">
                <a:xfrm>
                  <a:off x="848" y="1632"/>
                  <a:ext cx="192" cy="1"/>
                </a:xfrm>
                <a:prstGeom prst="line">
                  <a:avLst/>
                </a:prstGeom>
                <a:noFill/>
                <a:ln w="28575">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6" name="Line 27"/>
                <p:cNvSpPr>
                  <a:spLocks noChangeShapeType="1"/>
                </p:cNvSpPr>
                <p:nvPr/>
              </p:nvSpPr>
              <p:spPr bwMode="auto">
                <a:xfrm>
                  <a:off x="896" y="1688"/>
                  <a:ext cx="96" cy="1"/>
                </a:xfrm>
                <a:prstGeom prst="line">
                  <a:avLst/>
                </a:prstGeom>
                <a:noFill/>
                <a:ln w="571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12" name="Group 28"/>
              <p:cNvGrpSpPr/>
              <p:nvPr/>
            </p:nvGrpSpPr>
            <p:grpSpPr bwMode="auto">
              <a:xfrm>
                <a:off x="848" y="1860"/>
                <a:ext cx="192" cy="57"/>
                <a:chOff x="848" y="1632"/>
                <a:chExt cx="192" cy="57"/>
              </a:xfrm>
            </p:grpSpPr>
            <p:sp>
              <p:nvSpPr>
                <p:cNvPr id="14413" name="Line 29"/>
                <p:cNvSpPr>
                  <a:spLocks noChangeShapeType="1"/>
                </p:cNvSpPr>
                <p:nvPr/>
              </p:nvSpPr>
              <p:spPr bwMode="auto">
                <a:xfrm>
                  <a:off x="848" y="1632"/>
                  <a:ext cx="192" cy="1"/>
                </a:xfrm>
                <a:prstGeom prst="line">
                  <a:avLst/>
                </a:prstGeom>
                <a:noFill/>
                <a:ln w="28575">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4" name="Line 30"/>
                <p:cNvSpPr>
                  <a:spLocks noChangeShapeType="1"/>
                </p:cNvSpPr>
                <p:nvPr/>
              </p:nvSpPr>
              <p:spPr bwMode="auto">
                <a:xfrm>
                  <a:off x="896" y="1688"/>
                  <a:ext cx="96" cy="1"/>
                </a:xfrm>
                <a:prstGeom prst="line">
                  <a:avLst/>
                </a:prstGeom>
                <a:noFill/>
                <a:ln w="571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4388" name="Rectangle 31"/>
            <p:cNvSpPr>
              <a:spLocks noChangeArrowheads="1"/>
            </p:cNvSpPr>
            <p:nvPr/>
          </p:nvSpPr>
          <p:spPr bwMode="auto">
            <a:xfrm>
              <a:off x="2340" y="814"/>
              <a:ext cx="108" cy="234"/>
            </a:xfrm>
            <a:prstGeom prst="rect">
              <a:avLst/>
            </a:prstGeom>
            <a:solidFill>
              <a:srgbClr val="FFFF99"/>
            </a:solidFill>
            <a:ln w="2857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4389" name="Freeform 32"/>
            <p:cNvSpPr/>
            <p:nvPr/>
          </p:nvSpPr>
          <p:spPr bwMode="auto">
            <a:xfrm rot="16200000" flipH="1">
              <a:off x="1677" y="319"/>
              <a:ext cx="456" cy="988"/>
            </a:xfrm>
            <a:custGeom>
              <a:avLst/>
              <a:gdLst>
                <a:gd name="T0" fmla="*/ 456 w 768"/>
                <a:gd name="T1" fmla="*/ 0 h 624"/>
                <a:gd name="T2" fmla="*/ 0 w 768"/>
                <a:gd name="T3" fmla="*/ 0 h 624"/>
                <a:gd name="T4" fmla="*/ 0 w 768"/>
                <a:gd name="T5" fmla="*/ 988 h 624"/>
                <a:gd name="T6" fmla="*/ 0 60000 65536"/>
                <a:gd name="T7" fmla="*/ 0 60000 65536"/>
                <a:gd name="T8" fmla="*/ 0 60000 65536"/>
              </a:gdLst>
              <a:ahLst/>
              <a:cxnLst>
                <a:cxn ang="T6">
                  <a:pos x="T0" y="T1"/>
                </a:cxn>
                <a:cxn ang="T7">
                  <a:pos x="T2" y="T3"/>
                </a:cxn>
                <a:cxn ang="T8">
                  <a:pos x="T4" y="T5"/>
                </a:cxn>
              </a:cxnLst>
              <a:rect l="0" t="0" r="r" b="b"/>
              <a:pathLst>
                <a:path w="768" h="624">
                  <a:moveTo>
                    <a:pt x="768" y="0"/>
                  </a:moveTo>
                  <a:lnTo>
                    <a:pt x="0" y="0"/>
                  </a:lnTo>
                  <a:lnTo>
                    <a:pt x="0" y="624"/>
                  </a:lnTo>
                </a:path>
              </a:pathLst>
            </a:custGeom>
            <a:noFill/>
            <a:ln w="28575" cmpd="sng">
              <a:solidFill>
                <a:srgbClr val="66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45" name="Text Box 33"/>
            <p:cNvSpPr txBox="1">
              <a:spLocks noChangeArrowheads="1"/>
            </p:cNvSpPr>
            <p:nvPr/>
          </p:nvSpPr>
          <p:spPr bwMode="auto">
            <a:xfrm>
              <a:off x="390" y="1447"/>
              <a:ext cx="109"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1" hangingPunct="1">
                <a:defRPr/>
              </a:pPr>
              <a:r>
                <a:rPr kumimoji="1" lang="en-US" altLang="zh-CN" sz="2400" b="1">
                  <a:solidFill>
                    <a:srgbClr val="FF3300"/>
                  </a:solidFill>
                  <a:effectLst>
                    <a:outerShdw blurRad="38100" dist="38100" dir="2700000" algn="tl">
                      <a:srgbClr val="C0C0C0"/>
                    </a:outerShdw>
                  </a:effectLst>
                  <a:latin typeface="Times New Roman" panose="02020603050405020304" pitchFamily="18" charset="0"/>
                  <a:sym typeface="Symbol" panose="05050102010706020507" pitchFamily="18" charset="2"/>
                </a:rPr>
                <a:t>+</a:t>
              </a:r>
              <a:endParaRPr kumimoji="1" lang="en-US" altLang="zh-CN" sz="2400" b="1">
                <a:solidFill>
                  <a:srgbClr val="FF3300"/>
                </a:solidFill>
                <a:effectLst>
                  <a:outerShdw blurRad="38100" dist="38100" dir="2700000" algn="tl">
                    <a:srgbClr val="C0C0C0"/>
                  </a:outerShdw>
                </a:effectLst>
                <a:latin typeface="Times New Roman" panose="02020603050405020304" pitchFamily="18" charset="0"/>
              </a:endParaRPr>
            </a:p>
          </p:txBody>
        </p:sp>
        <p:sp>
          <p:nvSpPr>
            <p:cNvPr id="13346" name="Text Box 34"/>
            <p:cNvSpPr txBox="1">
              <a:spLocks noChangeArrowheads="1"/>
            </p:cNvSpPr>
            <p:nvPr/>
          </p:nvSpPr>
          <p:spPr bwMode="auto">
            <a:xfrm>
              <a:off x="2431" y="1139"/>
              <a:ext cx="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1" hangingPunct="1">
                <a:defRPr/>
              </a:pPr>
              <a:r>
                <a:rPr kumimoji="1" lang="en-US" altLang="zh-CN" sz="2000" b="1">
                  <a:solidFill>
                    <a:srgbClr val="FF3300"/>
                  </a:solidFill>
                  <a:effectLst>
                    <a:outerShdw blurRad="38100" dist="38100" dir="2700000" algn="tl">
                      <a:srgbClr val="C0C0C0"/>
                    </a:outerShdw>
                  </a:effectLst>
                  <a:latin typeface="Times New Roman" panose="02020603050405020304" pitchFamily="18" charset="0"/>
                  <a:sym typeface="Symbol" panose="05050102010706020507" pitchFamily="18" charset="2"/>
                </a:rPr>
                <a:t>+</a:t>
              </a:r>
              <a:endParaRPr kumimoji="1" lang="en-US" altLang="zh-CN" sz="2000" b="1">
                <a:solidFill>
                  <a:srgbClr val="FF3300"/>
                </a:solidFill>
                <a:effectLst>
                  <a:outerShdw blurRad="38100" dist="38100" dir="2700000" algn="tl">
                    <a:srgbClr val="C0C0C0"/>
                  </a:outerShdw>
                </a:effectLst>
                <a:latin typeface="Times New Roman" panose="02020603050405020304" pitchFamily="18" charset="0"/>
              </a:endParaRPr>
            </a:p>
          </p:txBody>
        </p:sp>
        <p:sp>
          <p:nvSpPr>
            <p:cNvPr id="14392" name="Line 35"/>
            <p:cNvSpPr>
              <a:spLocks noChangeShapeType="1"/>
            </p:cNvSpPr>
            <p:nvPr/>
          </p:nvSpPr>
          <p:spPr bwMode="auto">
            <a:xfrm>
              <a:off x="1411" y="1311"/>
              <a:ext cx="0" cy="589"/>
            </a:xfrm>
            <a:prstGeom prst="line">
              <a:avLst/>
            </a:prstGeom>
            <a:noFill/>
            <a:ln w="28575">
              <a:solidFill>
                <a:srgbClr val="663300"/>
              </a:solidFill>
              <a:rou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3" name="Text Box 36"/>
            <p:cNvSpPr txBox="1">
              <a:spLocks noChangeArrowheads="1"/>
            </p:cNvSpPr>
            <p:nvPr/>
          </p:nvSpPr>
          <p:spPr bwMode="auto">
            <a:xfrm>
              <a:off x="639" y="1288"/>
              <a:ext cx="25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R</a:t>
              </a:r>
              <a:r>
                <a:rPr kumimoji="1" lang="en-US" altLang="zh-CN" sz="2000" b="1" baseline="-25000">
                  <a:solidFill>
                    <a:srgbClr val="000048"/>
                  </a:solidFill>
                  <a:latin typeface="Times New Roman" panose="02020603050405020304" pitchFamily="18" charset="0"/>
                </a:rPr>
                <a:t>B</a:t>
              </a:r>
              <a:endParaRPr kumimoji="1" lang="en-US" altLang="zh-CN" sz="2000" b="1">
                <a:solidFill>
                  <a:srgbClr val="000048"/>
                </a:solidFill>
                <a:latin typeface="Times New Roman" panose="02020603050405020304" pitchFamily="18" charset="0"/>
              </a:endParaRPr>
            </a:p>
          </p:txBody>
        </p:sp>
        <p:sp>
          <p:nvSpPr>
            <p:cNvPr id="14394" name="Rectangle 37"/>
            <p:cNvSpPr>
              <a:spLocks noChangeArrowheads="1"/>
            </p:cNvSpPr>
            <p:nvPr/>
          </p:nvSpPr>
          <p:spPr bwMode="auto">
            <a:xfrm>
              <a:off x="504" y="1245"/>
              <a:ext cx="108" cy="234"/>
            </a:xfrm>
            <a:prstGeom prst="rect">
              <a:avLst/>
            </a:prstGeom>
            <a:solidFill>
              <a:srgbClr val="FFFF99"/>
            </a:solidFill>
            <a:ln w="2857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4395" name="Line 38"/>
            <p:cNvSpPr>
              <a:spLocks noChangeShapeType="1"/>
            </p:cNvSpPr>
            <p:nvPr/>
          </p:nvSpPr>
          <p:spPr bwMode="auto">
            <a:xfrm rot="10800000">
              <a:off x="1456" y="585"/>
              <a:ext cx="295" cy="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96" name="Text Box 39"/>
            <p:cNvSpPr txBox="1">
              <a:spLocks noChangeArrowheads="1"/>
            </p:cNvSpPr>
            <p:nvPr/>
          </p:nvSpPr>
          <p:spPr bwMode="auto">
            <a:xfrm>
              <a:off x="1547" y="381"/>
              <a:ext cx="180" cy="182"/>
            </a:xfrm>
            <a:prstGeom prst="rect">
              <a:avLst/>
            </a:prstGeom>
            <a:noFill/>
            <a:ln>
              <a:noFill/>
            </a:ln>
            <a:effectLst/>
            <a:extLst>
              <a:ext uri="{909E8E84-426E-40DD-AFC4-6F175D3DCCD1}">
                <a14:hiddenFill xmlns:a14="http://schemas.microsoft.com/office/drawing/2010/main">
                  <a:gradFill rotWithShape="1">
                    <a:gsLst>
                      <a:gs pos="0">
                        <a:srgbClr val="FF9933">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n-US" altLang="zh-CN" sz="2000" b="1" i="1">
                  <a:solidFill>
                    <a:srgbClr val="000048"/>
                  </a:solidFill>
                  <a:latin typeface="Times New Roman" panose="02020603050405020304" pitchFamily="18" charset="0"/>
                </a:rPr>
                <a:t>I</a:t>
              </a:r>
              <a:r>
                <a:rPr kumimoji="1" lang="en-US" altLang="zh-CN" sz="2000" b="1" baseline="-25000">
                  <a:solidFill>
                    <a:srgbClr val="000048"/>
                  </a:solidFill>
                  <a:latin typeface="Times New Roman" panose="02020603050405020304" pitchFamily="18" charset="0"/>
                </a:rPr>
                <a:t>C</a:t>
              </a:r>
              <a:endParaRPr kumimoji="1" lang="en-US" altLang="zh-CN" sz="2000" b="1" i="1">
                <a:solidFill>
                  <a:srgbClr val="000048"/>
                </a:solidFill>
                <a:latin typeface="Times New Roman" panose="02020603050405020304" pitchFamily="18" charset="0"/>
              </a:endParaRPr>
            </a:p>
          </p:txBody>
        </p:sp>
        <p:sp>
          <p:nvSpPr>
            <p:cNvPr id="14397" name="Line 40"/>
            <p:cNvSpPr>
              <a:spLocks noChangeShapeType="1"/>
            </p:cNvSpPr>
            <p:nvPr/>
          </p:nvSpPr>
          <p:spPr bwMode="auto">
            <a:xfrm>
              <a:off x="1025" y="1175"/>
              <a:ext cx="227" cy="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98" name="Text Box 41"/>
            <p:cNvSpPr txBox="1">
              <a:spLocks noChangeArrowheads="1"/>
            </p:cNvSpPr>
            <p:nvPr/>
          </p:nvSpPr>
          <p:spPr bwMode="auto">
            <a:xfrm>
              <a:off x="1025" y="970"/>
              <a:ext cx="182" cy="182"/>
            </a:xfrm>
            <a:prstGeom prst="rect">
              <a:avLst/>
            </a:prstGeom>
            <a:noFill/>
            <a:ln>
              <a:noFill/>
            </a:ln>
            <a:effectLst/>
            <a:extLst>
              <a:ext uri="{909E8E84-426E-40DD-AFC4-6F175D3DCCD1}">
                <a14:hiddenFill xmlns:a14="http://schemas.microsoft.com/office/drawing/2010/main">
                  <a:gradFill rotWithShape="1">
                    <a:gsLst>
                      <a:gs pos="0">
                        <a:srgbClr val="FF9933">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n-US" altLang="zh-CN" sz="2000" b="1" i="1">
                  <a:solidFill>
                    <a:srgbClr val="000048"/>
                  </a:solidFill>
                  <a:latin typeface="Times New Roman" panose="02020603050405020304" pitchFamily="18" charset="0"/>
                </a:rPr>
                <a:t>I</a:t>
              </a:r>
              <a:r>
                <a:rPr kumimoji="1" lang="en-US" altLang="zh-CN" sz="2000" b="1" baseline="-25000">
                  <a:solidFill>
                    <a:srgbClr val="000048"/>
                  </a:solidFill>
                  <a:latin typeface="Times New Roman" panose="02020603050405020304" pitchFamily="18" charset="0"/>
                </a:rPr>
                <a:t>B</a:t>
              </a:r>
              <a:endParaRPr kumimoji="1" lang="en-US" altLang="zh-CN" sz="2000" b="1" i="1">
                <a:solidFill>
                  <a:srgbClr val="000048"/>
                </a:solidFill>
                <a:latin typeface="Times New Roman" panose="02020603050405020304" pitchFamily="18" charset="0"/>
              </a:endParaRPr>
            </a:p>
          </p:txBody>
        </p:sp>
        <p:sp>
          <p:nvSpPr>
            <p:cNvPr id="14399" name="Line 42"/>
            <p:cNvSpPr>
              <a:spLocks noChangeShapeType="1"/>
            </p:cNvSpPr>
            <p:nvPr/>
          </p:nvSpPr>
          <p:spPr bwMode="auto">
            <a:xfrm rot="16200000" flipH="1">
              <a:off x="957" y="1402"/>
              <a:ext cx="295" cy="249"/>
            </a:xfrm>
            <a:prstGeom prst="line">
              <a:avLst/>
            </a:prstGeom>
            <a:noFill/>
            <a:ln w="28575">
              <a:solidFill>
                <a:srgbClr val="FF33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00" name="Text Box 43"/>
            <p:cNvSpPr txBox="1">
              <a:spLocks noChangeArrowheads="1"/>
            </p:cNvSpPr>
            <p:nvPr/>
          </p:nvSpPr>
          <p:spPr bwMode="auto">
            <a:xfrm>
              <a:off x="1048" y="1311"/>
              <a:ext cx="306" cy="182"/>
            </a:xfrm>
            <a:prstGeom prst="rect">
              <a:avLst/>
            </a:prstGeom>
            <a:noFill/>
            <a:ln>
              <a:noFill/>
            </a:ln>
            <a:effectLst/>
            <a:extLst>
              <a:ext uri="{909E8E84-426E-40DD-AFC4-6F175D3DCCD1}">
                <a14:hiddenFill xmlns:a14="http://schemas.microsoft.com/office/drawing/2010/main">
                  <a:gradFill rotWithShape="1">
                    <a:gsLst>
                      <a:gs pos="0">
                        <a:srgbClr val="FF9933">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n-US" altLang="zh-CN" sz="2000" b="1" i="1">
                  <a:solidFill>
                    <a:srgbClr val="000048"/>
                  </a:solidFill>
                  <a:latin typeface="Times New Roman" panose="02020603050405020304" pitchFamily="18" charset="0"/>
                </a:rPr>
                <a:t>U</a:t>
              </a:r>
              <a:r>
                <a:rPr kumimoji="1" lang="en-US" altLang="zh-CN" sz="2000" b="1" baseline="-25000">
                  <a:solidFill>
                    <a:srgbClr val="000048"/>
                  </a:solidFill>
                  <a:latin typeface="Times New Roman" panose="02020603050405020304" pitchFamily="18" charset="0"/>
                </a:rPr>
                <a:t>BE</a:t>
              </a:r>
              <a:endParaRPr kumimoji="1" lang="en-US" altLang="zh-CN" sz="2000" b="1" i="1">
                <a:solidFill>
                  <a:srgbClr val="000048"/>
                </a:solidFill>
                <a:latin typeface="Times New Roman" panose="02020603050405020304" pitchFamily="18" charset="0"/>
              </a:endParaRPr>
            </a:p>
          </p:txBody>
        </p:sp>
        <p:grpSp>
          <p:nvGrpSpPr>
            <p:cNvPr id="14401" name="Group 44"/>
            <p:cNvGrpSpPr/>
            <p:nvPr/>
          </p:nvGrpSpPr>
          <p:grpSpPr bwMode="auto">
            <a:xfrm>
              <a:off x="1751" y="449"/>
              <a:ext cx="295" cy="272"/>
              <a:chOff x="1769" y="1253"/>
              <a:chExt cx="295" cy="272"/>
            </a:xfrm>
          </p:grpSpPr>
          <p:sp>
            <p:nvSpPr>
              <p:cNvPr id="14407" name="Oval 45"/>
              <p:cNvSpPr>
                <a:spLocks noChangeArrowheads="1"/>
              </p:cNvSpPr>
              <p:nvPr/>
            </p:nvSpPr>
            <p:spPr bwMode="auto">
              <a:xfrm>
                <a:off x="1769" y="1253"/>
                <a:ext cx="272" cy="272"/>
              </a:xfrm>
              <a:prstGeom prst="ellipse">
                <a:avLst/>
              </a:prstGeom>
              <a:solidFill>
                <a:schemeClr val="bg1"/>
              </a:solidFill>
              <a:ln w="38100">
                <a:solidFill>
                  <a:srgbClr val="0066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4408" name="Text Box 46"/>
              <p:cNvSpPr txBox="1">
                <a:spLocks noChangeArrowheads="1"/>
              </p:cNvSpPr>
              <p:nvPr/>
            </p:nvSpPr>
            <p:spPr bwMode="auto">
              <a:xfrm>
                <a:off x="1791" y="1298"/>
                <a:ext cx="27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lnSpc>
                    <a:spcPct val="90000"/>
                  </a:lnSpc>
                </a:pPr>
                <a:r>
                  <a:rPr kumimoji="1" lang="en-US" altLang="zh-CN" sz="2000" b="1">
                    <a:solidFill>
                      <a:srgbClr val="000048"/>
                    </a:solidFill>
                    <a:latin typeface="Times New Roman" panose="02020603050405020304" pitchFamily="18" charset="0"/>
                  </a:rPr>
                  <a:t>mA</a:t>
                </a:r>
              </a:p>
            </p:txBody>
          </p:sp>
        </p:grpSp>
        <p:grpSp>
          <p:nvGrpSpPr>
            <p:cNvPr id="14402" name="Group 47"/>
            <p:cNvGrpSpPr/>
            <p:nvPr/>
          </p:nvGrpSpPr>
          <p:grpSpPr bwMode="auto">
            <a:xfrm>
              <a:off x="707" y="1016"/>
              <a:ext cx="324" cy="272"/>
              <a:chOff x="725" y="1820"/>
              <a:chExt cx="324" cy="272"/>
            </a:xfrm>
          </p:grpSpPr>
          <p:sp>
            <p:nvSpPr>
              <p:cNvPr id="14405" name="Oval 48"/>
              <p:cNvSpPr>
                <a:spLocks noChangeArrowheads="1"/>
              </p:cNvSpPr>
              <p:nvPr/>
            </p:nvSpPr>
            <p:spPr bwMode="auto">
              <a:xfrm>
                <a:off x="771" y="1842"/>
                <a:ext cx="249" cy="250"/>
              </a:xfrm>
              <a:prstGeom prst="ellipse">
                <a:avLst/>
              </a:prstGeom>
              <a:solidFill>
                <a:schemeClr val="bg1"/>
              </a:solidFill>
              <a:ln w="38100">
                <a:solidFill>
                  <a:srgbClr val="0066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4406" name="Rectangle 49"/>
              <p:cNvSpPr>
                <a:spLocks noChangeArrowheads="1"/>
              </p:cNvSpPr>
              <p:nvPr/>
            </p:nvSpPr>
            <p:spPr bwMode="auto">
              <a:xfrm>
                <a:off x="725" y="1820"/>
                <a:ext cx="32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48"/>
                    </a:solidFill>
                    <a:latin typeface="Times New Roman" panose="02020603050405020304" pitchFamily="18" charset="0"/>
                    <a:sym typeface="Symbol" panose="05050102010706020507" pitchFamily="18" charset="2"/>
                  </a:rPr>
                  <a:t>A</a:t>
                </a:r>
              </a:p>
            </p:txBody>
          </p:sp>
        </p:grpSp>
        <p:sp>
          <p:nvSpPr>
            <p:cNvPr id="14403" name="Line 50"/>
            <p:cNvSpPr>
              <a:spLocks noChangeShapeType="1"/>
            </p:cNvSpPr>
            <p:nvPr/>
          </p:nvSpPr>
          <p:spPr bwMode="auto">
            <a:xfrm rot="5400000">
              <a:off x="1263" y="1685"/>
              <a:ext cx="295" cy="0"/>
            </a:xfrm>
            <a:prstGeom prst="line">
              <a:avLst/>
            </a:prstGeom>
            <a:noFill/>
            <a:ln w="3810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04" name="Text Box 51"/>
            <p:cNvSpPr txBox="1">
              <a:spLocks noChangeArrowheads="1"/>
            </p:cNvSpPr>
            <p:nvPr/>
          </p:nvSpPr>
          <p:spPr bwMode="auto">
            <a:xfrm>
              <a:off x="1456" y="1560"/>
              <a:ext cx="182" cy="182"/>
            </a:xfrm>
            <a:prstGeom prst="rect">
              <a:avLst/>
            </a:prstGeom>
            <a:noFill/>
            <a:ln>
              <a:noFill/>
            </a:ln>
            <a:effectLst/>
            <a:extLst>
              <a:ext uri="{909E8E84-426E-40DD-AFC4-6F175D3DCCD1}">
                <a14:hiddenFill xmlns:a14="http://schemas.microsoft.com/office/drawing/2010/main">
                  <a:gradFill rotWithShape="1">
                    <a:gsLst>
                      <a:gs pos="0">
                        <a:srgbClr val="FF9933">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n-US" altLang="zh-CN" sz="2000" b="1" i="1">
                  <a:solidFill>
                    <a:srgbClr val="000048"/>
                  </a:solidFill>
                  <a:latin typeface="Times New Roman" panose="02020603050405020304" pitchFamily="18" charset="0"/>
                </a:rPr>
                <a:t>I</a:t>
              </a:r>
              <a:r>
                <a:rPr kumimoji="1" lang="en-US" altLang="zh-CN" sz="2000" b="1" baseline="-25000">
                  <a:solidFill>
                    <a:srgbClr val="000048"/>
                  </a:solidFill>
                  <a:latin typeface="Times New Roman" panose="02020603050405020304" pitchFamily="18" charset="0"/>
                </a:rPr>
                <a:t>E</a:t>
              </a:r>
              <a:endParaRPr kumimoji="1" lang="en-US" altLang="zh-CN" sz="2000" b="1" i="1">
                <a:solidFill>
                  <a:srgbClr val="000048"/>
                </a:solidFill>
                <a:latin typeface="Times New Roman" panose="02020603050405020304" pitchFamily="18" charset="0"/>
              </a:endParaRPr>
            </a:p>
          </p:txBody>
        </p:sp>
      </p:grpSp>
      <p:sp>
        <p:nvSpPr>
          <p:cNvPr id="13364" name="AutoShape 52"/>
          <p:cNvSpPr>
            <a:spLocks noChangeArrowheads="1"/>
          </p:cNvSpPr>
          <p:nvPr/>
        </p:nvSpPr>
        <p:spPr bwMode="auto">
          <a:xfrm>
            <a:off x="533400" y="522288"/>
            <a:ext cx="1295400" cy="1077912"/>
          </a:xfrm>
          <a:prstGeom prst="wedgeRoundRectCallout">
            <a:avLst>
              <a:gd name="adj1" fmla="val 47551"/>
              <a:gd name="adj2" fmla="val 60898"/>
              <a:gd name="adj3" fmla="val 16667"/>
            </a:avLst>
          </a:prstGeom>
          <a:gradFill rotWithShape="1">
            <a:gsLst>
              <a:gs pos="0">
                <a:srgbClr val="CCFF99">
                  <a:alpha val="67999"/>
                </a:srgbClr>
              </a:gs>
              <a:gs pos="50000">
                <a:srgbClr val="CCFF99">
                  <a:gamma/>
                  <a:tint val="0"/>
                  <a:invGamma/>
                  <a:alpha val="0"/>
                </a:srgbClr>
              </a:gs>
              <a:gs pos="100000">
                <a:srgbClr val="CCFF99">
                  <a:alpha val="67999"/>
                </a:srgbClr>
              </a:gs>
            </a:gsLst>
            <a:lin ang="2700000" scaled="1"/>
          </a:gradFill>
          <a:ln w="952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nSpc>
                <a:spcPct val="90000"/>
              </a:lnSpc>
              <a:defRPr/>
            </a:pPr>
            <a:r>
              <a:rPr kumimoji="1" lang="zh-CN" altLang="en-US" b="1">
                <a:solidFill>
                  <a:srgbClr val="003300"/>
                </a:solidFill>
                <a:latin typeface="Times New Roman" panose="02020603050405020304" pitchFamily="18" charset="0"/>
                <a:ea typeface="楷体_GB2312" pitchFamily="49" charset="-122"/>
              </a:rPr>
              <a:t>再调节</a:t>
            </a:r>
            <a:r>
              <a:rPr kumimoji="1" lang="en-US" altLang="zh-CN" b="1" i="1">
                <a:solidFill>
                  <a:srgbClr val="003300"/>
                </a:solidFill>
                <a:latin typeface="Times New Roman" panose="02020603050405020304" pitchFamily="18" charset="0"/>
                <a:ea typeface="楷体_GB2312" pitchFamily="49" charset="-122"/>
              </a:rPr>
              <a:t>I</a:t>
            </a:r>
            <a:r>
              <a:rPr kumimoji="1" lang="en-US" altLang="zh-CN" b="1" baseline="-25000">
                <a:solidFill>
                  <a:srgbClr val="003300"/>
                </a:solidFill>
                <a:latin typeface="Times New Roman" panose="02020603050405020304" pitchFamily="18" charset="0"/>
                <a:ea typeface="楷体_GB2312" pitchFamily="49" charset="-122"/>
              </a:rPr>
              <a:t>B1</a:t>
            </a:r>
            <a:r>
              <a:rPr kumimoji="1" lang="zh-CN" altLang="en-US" b="1">
                <a:solidFill>
                  <a:srgbClr val="003300"/>
                </a:solidFill>
                <a:latin typeface="Times New Roman" panose="02020603050405020304" pitchFamily="18" charset="0"/>
                <a:ea typeface="楷体_GB2312" pitchFamily="49" charset="-122"/>
              </a:rPr>
              <a:t>至另一稍小的固定值上保持不变。</a:t>
            </a:r>
            <a:endParaRPr kumimoji="1" lang="zh-CN" altLang="en-US" b="1" baseline="-25000">
              <a:solidFill>
                <a:srgbClr val="003300"/>
              </a:solidFill>
              <a:latin typeface="Times New Roman" panose="02020603050405020304" pitchFamily="18" charset="0"/>
              <a:ea typeface="楷体_GB2312" pitchFamily="49" charset="-122"/>
            </a:endParaRPr>
          </a:p>
        </p:txBody>
      </p:sp>
      <p:sp>
        <p:nvSpPr>
          <p:cNvPr id="13365" name="AutoShape 53"/>
          <p:cNvSpPr>
            <a:spLocks noChangeArrowheads="1"/>
          </p:cNvSpPr>
          <p:nvPr/>
        </p:nvSpPr>
        <p:spPr bwMode="auto">
          <a:xfrm>
            <a:off x="879475" y="3328988"/>
            <a:ext cx="2735263" cy="811212"/>
          </a:xfrm>
          <a:prstGeom prst="wedgeRoundRectCallout">
            <a:avLst>
              <a:gd name="adj1" fmla="val 49421"/>
              <a:gd name="adj2" fmla="val -131213"/>
              <a:gd name="adj3" fmla="val 16667"/>
            </a:avLst>
          </a:prstGeom>
          <a:gradFill rotWithShape="1">
            <a:gsLst>
              <a:gs pos="0">
                <a:srgbClr val="CCFF99">
                  <a:alpha val="67999"/>
                </a:srgbClr>
              </a:gs>
              <a:gs pos="50000">
                <a:srgbClr val="CCFF99">
                  <a:gamma/>
                  <a:tint val="0"/>
                  <a:invGamma/>
                  <a:alpha val="0"/>
                </a:srgbClr>
              </a:gs>
              <a:gs pos="100000">
                <a:srgbClr val="CCFF99">
                  <a:alpha val="67999"/>
                </a:srgbClr>
              </a:gs>
            </a:gsLst>
            <a:lin ang="2700000" scaled="1"/>
          </a:gradFill>
          <a:ln w="952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nSpc>
                <a:spcPct val="90000"/>
              </a:lnSpc>
              <a:defRPr/>
            </a:pPr>
            <a:r>
              <a:rPr kumimoji="1" lang="zh-CN" altLang="en-US" b="1">
                <a:solidFill>
                  <a:srgbClr val="003300"/>
                </a:solidFill>
                <a:latin typeface="Times New Roman" panose="02020603050405020304" pitchFamily="18" charset="0"/>
                <a:ea typeface="楷体_GB2312" pitchFamily="49" charset="-122"/>
              </a:rPr>
              <a:t>仍然调节</a:t>
            </a:r>
            <a:r>
              <a:rPr kumimoji="1" lang="en-US" altLang="zh-CN" b="1" i="1">
                <a:solidFill>
                  <a:srgbClr val="003300"/>
                </a:solidFill>
                <a:latin typeface="Times New Roman" panose="02020603050405020304" pitchFamily="18" charset="0"/>
                <a:ea typeface="楷体_GB2312" pitchFamily="49" charset="-122"/>
              </a:rPr>
              <a:t>U</a:t>
            </a:r>
            <a:r>
              <a:rPr kumimoji="1" lang="en-US" altLang="zh-CN" b="1" baseline="-25000">
                <a:solidFill>
                  <a:srgbClr val="003300"/>
                </a:solidFill>
                <a:latin typeface="Times New Roman" panose="02020603050405020304" pitchFamily="18" charset="0"/>
                <a:ea typeface="楷体_GB2312" pitchFamily="49" charset="-122"/>
              </a:rPr>
              <a:t>CC</a:t>
            </a:r>
            <a:r>
              <a:rPr kumimoji="1" lang="zh-CN" altLang="en-US" b="1">
                <a:solidFill>
                  <a:srgbClr val="003300"/>
                </a:solidFill>
                <a:latin typeface="Times New Roman" panose="02020603050405020304" pitchFamily="18" charset="0"/>
                <a:ea typeface="楷体_GB2312" pitchFamily="49" charset="-122"/>
              </a:rPr>
              <a:t>使</a:t>
            </a:r>
            <a:r>
              <a:rPr kumimoji="1" lang="en-US" altLang="zh-CN" b="1" i="1">
                <a:solidFill>
                  <a:srgbClr val="003300"/>
                </a:solidFill>
                <a:latin typeface="Times New Roman" panose="02020603050405020304" pitchFamily="18" charset="0"/>
                <a:ea typeface="楷体_GB2312" pitchFamily="49" charset="-122"/>
              </a:rPr>
              <a:t>U</a:t>
            </a:r>
            <a:r>
              <a:rPr kumimoji="1" lang="en-US" altLang="zh-CN" b="1" baseline="-25000">
                <a:solidFill>
                  <a:srgbClr val="003300"/>
                </a:solidFill>
                <a:latin typeface="Times New Roman" panose="02020603050405020304" pitchFamily="18" charset="0"/>
                <a:ea typeface="楷体_GB2312" pitchFamily="49" charset="-122"/>
              </a:rPr>
              <a:t>CE</a:t>
            </a:r>
            <a:r>
              <a:rPr kumimoji="1" lang="zh-CN" altLang="en-US" b="1">
                <a:solidFill>
                  <a:srgbClr val="003300"/>
                </a:solidFill>
                <a:latin typeface="Times New Roman" panose="02020603050405020304" pitchFamily="18" charset="0"/>
                <a:ea typeface="楷体_GB2312" pitchFamily="49" charset="-122"/>
              </a:rPr>
              <a:t>从</a:t>
            </a:r>
            <a:r>
              <a:rPr kumimoji="1" lang="en-US" altLang="zh-CN" b="1">
                <a:solidFill>
                  <a:srgbClr val="003300"/>
                </a:solidFill>
                <a:latin typeface="Times New Roman" panose="02020603050405020304" pitchFamily="18" charset="0"/>
                <a:ea typeface="楷体_GB2312" pitchFamily="49" charset="-122"/>
              </a:rPr>
              <a:t>0</a:t>
            </a:r>
            <a:r>
              <a:rPr kumimoji="1" lang="zh-CN" altLang="en-US" b="1">
                <a:solidFill>
                  <a:srgbClr val="003300"/>
                </a:solidFill>
                <a:latin typeface="Times New Roman" panose="02020603050405020304" pitchFamily="18" charset="0"/>
                <a:ea typeface="楷体_GB2312" pitchFamily="49" charset="-122"/>
              </a:rPr>
              <a:t>增</a:t>
            </a:r>
          </a:p>
          <a:p>
            <a:pPr>
              <a:lnSpc>
                <a:spcPct val="90000"/>
              </a:lnSpc>
              <a:defRPr/>
            </a:pPr>
            <a:r>
              <a:rPr kumimoji="1" lang="zh-CN" altLang="en-US" b="1">
                <a:solidFill>
                  <a:srgbClr val="003300"/>
                </a:solidFill>
                <a:latin typeface="Times New Roman" panose="02020603050405020304" pitchFamily="18" charset="0"/>
                <a:ea typeface="楷体_GB2312" pitchFamily="49" charset="-122"/>
              </a:rPr>
              <a:t>大，继续观察毫安表中</a:t>
            </a:r>
            <a:r>
              <a:rPr kumimoji="1" lang="en-US" altLang="zh-CN" b="1" i="1">
                <a:solidFill>
                  <a:srgbClr val="003300"/>
                </a:solidFill>
                <a:latin typeface="Times New Roman" panose="02020603050405020304" pitchFamily="18" charset="0"/>
                <a:ea typeface="楷体_GB2312" pitchFamily="49" charset="-122"/>
              </a:rPr>
              <a:t>I</a:t>
            </a:r>
            <a:r>
              <a:rPr kumimoji="1" lang="en-US" altLang="zh-CN" b="1" baseline="-25000">
                <a:solidFill>
                  <a:srgbClr val="003300"/>
                </a:solidFill>
                <a:latin typeface="Times New Roman" panose="02020603050405020304" pitchFamily="18" charset="0"/>
                <a:ea typeface="楷体_GB2312" pitchFamily="49" charset="-122"/>
              </a:rPr>
              <a:t>C</a:t>
            </a:r>
          </a:p>
          <a:p>
            <a:pPr>
              <a:lnSpc>
                <a:spcPct val="90000"/>
              </a:lnSpc>
              <a:defRPr/>
            </a:pPr>
            <a:r>
              <a:rPr kumimoji="1" lang="zh-CN" altLang="en-US" b="1">
                <a:solidFill>
                  <a:srgbClr val="003300"/>
                </a:solidFill>
                <a:latin typeface="Times New Roman" panose="02020603050405020304" pitchFamily="18" charset="0"/>
                <a:ea typeface="楷体_GB2312" pitchFamily="49" charset="-122"/>
              </a:rPr>
              <a:t>的变化并记录下来。</a:t>
            </a:r>
            <a:endParaRPr kumimoji="1" lang="zh-CN" altLang="en-US" b="1" baseline="-25000">
              <a:solidFill>
                <a:srgbClr val="003300"/>
              </a:solidFill>
              <a:latin typeface="Times New Roman" panose="02020603050405020304" pitchFamily="18" charset="0"/>
              <a:ea typeface="楷体_GB2312" pitchFamily="49" charset="-122"/>
            </a:endParaRPr>
          </a:p>
        </p:txBody>
      </p:sp>
      <p:grpSp>
        <p:nvGrpSpPr>
          <p:cNvPr id="13366" name="Group 54"/>
          <p:cNvGrpSpPr/>
          <p:nvPr/>
        </p:nvGrpSpPr>
        <p:grpSpPr bwMode="auto">
          <a:xfrm>
            <a:off x="2660650" y="1058863"/>
            <a:ext cx="682625" cy="2051050"/>
            <a:chOff x="4241" y="1888"/>
            <a:chExt cx="430" cy="1292"/>
          </a:xfrm>
        </p:grpSpPr>
        <p:sp>
          <p:nvSpPr>
            <p:cNvPr id="14376" name="Line 55"/>
            <p:cNvSpPr>
              <a:spLocks noChangeShapeType="1"/>
            </p:cNvSpPr>
            <p:nvPr/>
          </p:nvSpPr>
          <p:spPr bwMode="auto">
            <a:xfrm rot="5400000">
              <a:off x="3595" y="2534"/>
              <a:ext cx="1292" cy="0"/>
            </a:xfrm>
            <a:prstGeom prst="line">
              <a:avLst/>
            </a:prstGeom>
            <a:noFill/>
            <a:ln w="28575">
              <a:solidFill>
                <a:srgbClr val="FF66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7" name="Text Box 56"/>
            <p:cNvSpPr txBox="1">
              <a:spLocks noChangeArrowheads="1"/>
            </p:cNvSpPr>
            <p:nvPr/>
          </p:nvSpPr>
          <p:spPr bwMode="auto">
            <a:xfrm>
              <a:off x="4263" y="2341"/>
              <a:ext cx="408" cy="182"/>
            </a:xfrm>
            <a:prstGeom prst="rect">
              <a:avLst/>
            </a:prstGeom>
            <a:noFill/>
            <a:ln>
              <a:noFill/>
            </a:ln>
            <a:effectLst/>
            <a:extLst>
              <a:ext uri="{909E8E84-426E-40DD-AFC4-6F175D3DCCD1}">
                <a14:hiddenFill xmlns:a14="http://schemas.microsoft.com/office/drawing/2010/main">
                  <a:gradFill rotWithShape="1">
                    <a:gsLst>
                      <a:gs pos="0">
                        <a:srgbClr val="FF9933">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n-US" altLang="zh-CN" sz="2000" b="1" i="1">
                  <a:solidFill>
                    <a:srgbClr val="000048"/>
                  </a:solidFill>
                  <a:latin typeface="Times New Roman" panose="02020603050405020304" pitchFamily="18" charset="0"/>
                </a:rPr>
                <a:t>U</a:t>
              </a:r>
              <a:r>
                <a:rPr kumimoji="1" lang="en-US" altLang="zh-CN" sz="2000" b="1" baseline="-25000">
                  <a:solidFill>
                    <a:srgbClr val="000048"/>
                  </a:solidFill>
                  <a:latin typeface="Times New Roman" panose="02020603050405020304" pitchFamily="18" charset="0"/>
                </a:rPr>
                <a:t>CE</a:t>
              </a:r>
              <a:endParaRPr kumimoji="1" lang="en-US" altLang="zh-CN" sz="2000" b="1" i="1">
                <a:solidFill>
                  <a:srgbClr val="000048"/>
                </a:solidFill>
                <a:latin typeface="Times New Roman" panose="02020603050405020304" pitchFamily="18" charset="0"/>
              </a:endParaRPr>
            </a:p>
          </p:txBody>
        </p:sp>
      </p:grpSp>
      <p:sp>
        <p:nvSpPr>
          <p:cNvPr id="13369" name="Line 57"/>
          <p:cNvSpPr>
            <a:spLocks noChangeShapeType="1"/>
          </p:cNvSpPr>
          <p:nvPr/>
        </p:nvSpPr>
        <p:spPr bwMode="auto">
          <a:xfrm flipV="1">
            <a:off x="3551238" y="2105025"/>
            <a:ext cx="504825" cy="684213"/>
          </a:xfrm>
          <a:prstGeom prst="line">
            <a:avLst/>
          </a:prstGeom>
          <a:noFill/>
          <a:ln w="381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70" name="Text Box 58"/>
          <p:cNvSpPr txBox="1">
            <a:spLocks noChangeArrowheads="1"/>
          </p:cNvSpPr>
          <p:nvPr/>
        </p:nvSpPr>
        <p:spPr bwMode="auto">
          <a:xfrm>
            <a:off x="4149725" y="4098925"/>
            <a:ext cx="4427538" cy="933450"/>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2400">
                <a:solidFill>
                  <a:srgbClr val="000048"/>
                </a:solidFill>
                <a:latin typeface="Times New Roman" panose="02020603050405020304" pitchFamily="18" charset="0"/>
                <a:ea typeface="隶书" panose="02010509060101010101" pitchFamily="49" charset="-122"/>
              </a:rPr>
              <a:t>    </a:t>
            </a:r>
            <a:r>
              <a:rPr kumimoji="1" lang="zh-CN" altLang="en-US" sz="2400">
                <a:solidFill>
                  <a:srgbClr val="000048"/>
                </a:solidFill>
                <a:latin typeface="Times New Roman" panose="02020603050405020304" pitchFamily="18" charset="0"/>
                <a:ea typeface="隶书" panose="02010509060101010101" pitchFamily="49" charset="-122"/>
              </a:rPr>
              <a:t>根据电压、电流的记录值可绘出另一条</a:t>
            </a:r>
            <a:r>
              <a:rPr kumimoji="1" lang="en-US" altLang="zh-CN" sz="2400" i="1">
                <a:solidFill>
                  <a:srgbClr val="000048"/>
                </a:solidFill>
                <a:latin typeface="Times New Roman" panose="02020603050405020304" pitchFamily="18" charset="0"/>
                <a:ea typeface="隶书" panose="02010509060101010101" pitchFamily="49" charset="-122"/>
              </a:rPr>
              <a:t>I</a:t>
            </a:r>
            <a:r>
              <a:rPr kumimoji="1" lang="en-US" altLang="zh-CN" sz="2400" baseline="-25000">
                <a:solidFill>
                  <a:srgbClr val="000048"/>
                </a:solidFill>
                <a:latin typeface="Times New Roman" panose="02020603050405020304" pitchFamily="18" charset="0"/>
                <a:ea typeface="隶书" panose="02010509060101010101" pitchFamily="49" charset="-122"/>
              </a:rPr>
              <a:t>C</a:t>
            </a:r>
            <a:r>
              <a:rPr kumimoji="1" lang="zh-CN" altLang="en-US" sz="2400">
                <a:solidFill>
                  <a:srgbClr val="000048"/>
                </a:solidFill>
                <a:latin typeface="Times New Roman" panose="02020603050405020304" pitchFamily="18" charset="0"/>
                <a:ea typeface="隶书" panose="02010509060101010101" pitchFamily="49" charset="-122"/>
              </a:rPr>
              <a:t>随</a:t>
            </a:r>
            <a:r>
              <a:rPr kumimoji="1" lang="en-US" altLang="zh-CN" sz="2400" i="1">
                <a:solidFill>
                  <a:srgbClr val="000048"/>
                </a:solidFill>
                <a:latin typeface="Times New Roman" panose="02020603050405020304" pitchFamily="18" charset="0"/>
                <a:ea typeface="隶书" panose="02010509060101010101" pitchFamily="49" charset="-122"/>
              </a:rPr>
              <a:t>U</a:t>
            </a:r>
            <a:r>
              <a:rPr kumimoji="1" lang="en-US" altLang="zh-CN" sz="2400" baseline="-25000">
                <a:solidFill>
                  <a:srgbClr val="000048"/>
                </a:solidFill>
                <a:latin typeface="Times New Roman" panose="02020603050405020304" pitchFamily="18" charset="0"/>
                <a:ea typeface="隶书" panose="02010509060101010101" pitchFamily="49" charset="-122"/>
              </a:rPr>
              <a:t>CE</a:t>
            </a:r>
            <a:r>
              <a:rPr kumimoji="1" lang="zh-CN" altLang="en-US" sz="2400">
                <a:solidFill>
                  <a:srgbClr val="000048"/>
                </a:solidFill>
                <a:latin typeface="Times New Roman" panose="02020603050405020304" pitchFamily="18" charset="0"/>
                <a:ea typeface="隶书" panose="02010509060101010101" pitchFamily="49" charset="-122"/>
              </a:rPr>
              <a:t>变化的伏安特性曲线，此曲线较前面的稍低些。</a:t>
            </a:r>
          </a:p>
        </p:txBody>
      </p:sp>
      <p:grpSp>
        <p:nvGrpSpPr>
          <p:cNvPr id="13371" name="Group 59"/>
          <p:cNvGrpSpPr/>
          <p:nvPr/>
        </p:nvGrpSpPr>
        <p:grpSpPr bwMode="auto">
          <a:xfrm>
            <a:off x="4476750" y="1398588"/>
            <a:ext cx="3889375" cy="2573337"/>
            <a:chOff x="2835" y="1003"/>
            <a:chExt cx="2450" cy="1621"/>
          </a:xfrm>
        </p:grpSpPr>
        <p:grpSp>
          <p:nvGrpSpPr>
            <p:cNvPr id="14366" name="Group 60"/>
            <p:cNvGrpSpPr/>
            <p:nvPr/>
          </p:nvGrpSpPr>
          <p:grpSpPr bwMode="auto">
            <a:xfrm>
              <a:off x="2835" y="1003"/>
              <a:ext cx="2450" cy="1621"/>
              <a:chOff x="2834" y="844"/>
              <a:chExt cx="2450" cy="1621"/>
            </a:xfrm>
          </p:grpSpPr>
          <p:grpSp>
            <p:nvGrpSpPr>
              <p:cNvPr id="14368" name="Group 61"/>
              <p:cNvGrpSpPr/>
              <p:nvPr/>
            </p:nvGrpSpPr>
            <p:grpSpPr bwMode="auto">
              <a:xfrm>
                <a:off x="3061" y="2182"/>
                <a:ext cx="2223" cy="192"/>
                <a:chOff x="3462" y="3621"/>
                <a:chExt cx="1984" cy="190"/>
              </a:xfrm>
            </p:grpSpPr>
            <p:sp>
              <p:nvSpPr>
                <p:cNvPr id="14374" name="Line 62"/>
                <p:cNvSpPr>
                  <a:spLocks noChangeShapeType="1"/>
                </p:cNvSpPr>
                <p:nvPr/>
              </p:nvSpPr>
              <p:spPr bwMode="auto">
                <a:xfrm rot="5400000" flipV="1">
                  <a:off x="4203" y="3033"/>
                  <a:ext cx="0" cy="1482"/>
                </a:xfrm>
                <a:prstGeom prst="line">
                  <a:avLst/>
                </a:prstGeom>
                <a:noFill/>
                <a:ln w="28575">
                  <a:solidFill>
                    <a:srgbClr val="0033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5" name="Text Box 63"/>
                <p:cNvSpPr txBox="1">
                  <a:spLocks noChangeArrowheads="1"/>
                </p:cNvSpPr>
                <p:nvPr/>
              </p:nvSpPr>
              <p:spPr bwMode="auto">
                <a:xfrm>
                  <a:off x="4933" y="3621"/>
                  <a:ext cx="513" cy="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3300"/>
                      </a:solidFill>
                      <a:latin typeface="Times New Roman" panose="02020603050405020304" pitchFamily="18" charset="0"/>
                    </a:rPr>
                    <a:t>U</a:t>
                  </a:r>
                  <a:r>
                    <a:rPr kumimoji="1" lang="en-US" altLang="zh-CN" sz="2000" b="1" baseline="-25000">
                      <a:solidFill>
                        <a:srgbClr val="003300"/>
                      </a:solidFill>
                      <a:latin typeface="Times New Roman" panose="02020603050405020304" pitchFamily="18" charset="0"/>
                    </a:rPr>
                    <a:t>CE </a:t>
                  </a:r>
                  <a:r>
                    <a:rPr kumimoji="1" lang="en-US" altLang="zh-CN" sz="2000" b="1" i="1">
                      <a:solidFill>
                        <a:srgbClr val="003300"/>
                      </a:solidFill>
                      <a:latin typeface="Times New Roman" panose="02020603050405020304" pitchFamily="18" charset="0"/>
                    </a:rPr>
                    <a:t>/ </a:t>
                  </a:r>
                  <a:r>
                    <a:rPr kumimoji="1" lang="en-US" altLang="zh-CN" sz="2000" b="1">
                      <a:solidFill>
                        <a:srgbClr val="003300"/>
                      </a:solidFill>
                      <a:latin typeface="Times New Roman" panose="02020603050405020304" pitchFamily="18" charset="0"/>
                    </a:rPr>
                    <a:t>V</a:t>
                  </a:r>
                </a:p>
              </p:txBody>
            </p:sp>
          </p:grpSp>
          <p:grpSp>
            <p:nvGrpSpPr>
              <p:cNvPr id="14369" name="Group 64"/>
              <p:cNvGrpSpPr/>
              <p:nvPr/>
            </p:nvGrpSpPr>
            <p:grpSpPr bwMode="auto">
              <a:xfrm>
                <a:off x="2834" y="844"/>
                <a:ext cx="598" cy="1485"/>
                <a:chOff x="3210" y="2262"/>
                <a:chExt cx="656" cy="1530"/>
              </a:xfrm>
            </p:grpSpPr>
            <p:sp>
              <p:nvSpPr>
                <p:cNvPr id="14372" name="Line 65"/>
                <p:cNvSpPr>
                  <a:spLocks noChangeShapeType="1"/>
                </p:cNvSpPr>
                <p:nvPr/>
              </p:nvSpPr>
              <p:spPr bwMode="auto">
                <a:xfrm flipV="1">
                  <a:off x="3456" y="2544"/>
                  <a:ext cx="0" cy="1248"/>
                </a:xfrm>
                <a:prstGeom prst="line">
                  <a:avLst/>
                </a:prstGeom>
                <a:noFill/>
                <a:ln w="28575">
                  <a:solidFill>
                    <a:srgbClr val="0033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3" name="Text Box 66"/>
                <p:cNvSpPr txBox="1">
                  <a:spLocks noChangeArrowheads="1"/>
                </p:cNvSpPr>
                <p:nvPr/>
              </p:nvSpPr>
              <p:spPr bwMode="auto">
                <a:xfrm>
                  <a:off x="3210" y="2262"/>
                  <a:ext cx="656"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3300"/>
                      </a:solidFill>
                      <a:latin typeface="Times New Roman" panose="02020603050405020304" pitchFamily="18" charset="0"/>
                    </a:rPr>
                    <a:t>I</a:t>
                  </a:r>
                  <a:r>
                    <a:rPr kumimoji="1" lang="en-US" altLang="zh-CN" sz="2000" b="1" baseline="-25000">
                      <a:solidFill>
                        <a:srgbClr val="003300"/>
                      </a:solidFill>
                      <a:latin typeface="Times New Roman" panose="02020603050405020304" pitchFamily="18" charset="0"/>
                    </a:rPr>
                    <a:t>C </a:t>
                  </a:r>
                  <a:r>
                    <a:rPr kumimoji="1" lang="en-US" altLang="zh-CN" sz="2000" b="1" i="1" baseline="-25000">
                      <a:solidFill>
                        <a:srgbClr val="003300"/>
                      </a:solidFill>
                      <a:latin typeface="Times New Roman" panose="02020603050405020304" pitchFamily="18" charset="0"/>
                    </a:rPr>
                    <a:t> </a:t>
                  </a:r>
                  <a:r>
                    <a:rPr kumimoji="1" lang="en-US" altLang="zh-CN" sz="2000" b="1" i="1">
                      <a:solidFill>
                        <a:srgbClr val="003300"/>
                      </a:solidFill>
                      <a:latin typeface="Times New Roman" panose="02020603050405020304" pitchFamily="18" charset="0"/>
                    </a:rPr>
                    <a:t>/</a:t>
                  </a:r>
                  <a:r>
                    <a:rPr kumimoji="1" lang="en-US" altLang="zh-CN" sz="2000" b="1">
                      <a:solidFill>
                        <a:srgbClr val="003300"/>
                      </a:solidFill>
                      <a:latin typeface="Times New Roman" panose="02020603050405020304" pitchFamily="18" charset="0"/>
                    </a:rPr>
                    <a:t>mA</a:t>
                  </a:r>
                </a:p>
              </p:txBody>
            </p:sp>
          </p:grpSp>
          <p:sp>
            <p:nvSpPr>
              <p:cNvPr id="14370" name="Text Box 67"/>
              <p:cNvSpPr txBox="1">
                <a:spLocks noChangeArrowheads="1"/>
              </p:cNvSpPr>
              <p:nvPr/>
            </p:nvSpPr>
            <p:spPr bwMode="auto">
              <a:xfrm>
                <a:off x="2948" y="2273"/>
                <a:ext cx="12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a:latin typeface="Times New Roman" panose="02020603050405020304" pitchFamily="18" charset="0"/>
                  </a:rPr>
                  <a:t>0</a:t>
                </a:r>
              </a:p>
            </p:txBody>
          </p:sp>
          <p:sp>
            <p:nvSpPr>
              <p:cNvPr id="14371" name="Freeform 68"/>
              <p:cNvSpPr/>
              <p:nvPr/>
            </p:nvSpPr>
            <p:spPr bwMode="auto">
              <a:xfrm>
                <a:off x="3061" y="1185"/>
                <a:ext cx="954" cy="1158"/>
              </a:xfrm>
              <a:custGeom>
                <a:avLst/>
                <a:gdLst>
                  <a:gd name="T0" fmla="*/ 0 w 954"/>
                  <a:gd name="T1" fmla="*/ 1158 h 1158"/>
                  <a:gd name="T2" fmla="*/ 216 w 954"/>
                  <a:gd name="T3" fmla="*/ 120 h 1158"/>
                  <a:gd name="T4" fmla="*/ 252 w 954"/>
                  <a:gd name="T5" fmla="*/ 72 h 1158"/>
                  <a:gd name="T6" fmla="*/ 324 w 954"/>
                  <a:gd name="T7" fmla="*/ 30 h 1158"/>
                  <a:gd name="T8" fmla="*/ 366 w 954"/>
                  <a:gd name="T9" fmla="*/ 30 h 1158"/>
                  <a:gd name="T10" fmla="*/ 450 w 954"/>
                  <a:gd name="T11" fmla="*/ 24 h 1158"/>
                  <a:gd name="T12" fmla="*/ 534 w 954"/>
                  <a:gd name="T13" fmla="*/ 12 h 1158"/>
                  <a:gd name="T14" fmla="*/ 612 w 954"/>
                  <a:gd name="T15" fmla="*/ 12 h 1158"/>
                  <a:gd name="T16" fmla="*/ 690 w 954"/>
                  <a:gd name="T17" fmla="*/ 12 h 1158"/>
                  <a:gd name="T18" fmla="*/ 954 w 954"/>
                  <a:gd name="T19" fmla="*/ 0 h 11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54" h="1158">
                    <a:moveTo>
                      <a:pt x="0" y="1158"/>
                    </a:moveTo>
                    <a:lnTo>
                      <a:pt x="216" y="120"/>
                    </a:lnTo>
                    <a:lnTo>
                      <a:pt x="252" y="72"/>
                    </a:lnTo>
                    <a:lnTo>
                      <a:pt x="324" y="30"/>
                    </a:lnTo>
                    <a:lnTo>
                      <a:pt x="366" y="30"/>
                    </a:lnTo>
                    <a:lnTo>
                      <a:pt x="450" y="24"/>
                    </a:lnTo>
                    <a:lnTo>
                      <a:pt x="534" y="12"/>
                    </a:lnTo>
                    <a:lnTo>
                      <a:pt x="612" y="12"/>
                    </a:lnTo>
                    <a:lnTo>
                      <a:pt x="690" y="12"/>
                    </a:lnTo>
                    <a:lnTo>
                      <a:pt x="954" y="0"/>
                    </a:lnTo>
                  </a:path>
                </a:pathLst>
              </a:custGeom>
              <a:noFill/>
              <a:ln w="444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367" name="Text Box 69"/>
            <p:cNvSpPr txBox="1">
              <a:spLocks noChangeArrowheads="1"/>
            </p:cNvSpPr>
            <p:nvPr/>
          </p:nvSpPr>
          <p:spPr bwMode="auto">
            <a:xfrm>
              <a:off x="4037" y="1275"/>
              <a:ext cx="204" cy="163"/>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2000" b="1" i="1">
                  <a:solidFill>
                    <a:srgbClr val="000048"/>
                  </a:solidFill>
                  <a:latin typeface="Times New Roman" panose="02020603050405020304" pitchFamily="18" charset="0"/>
                  <a:ea typeface="隶书" panose="02010509060101010101" pitchFamily="49" charset="-122"/>
                </a:rPr>
                <a:t>I</a:t>
              </a:r>
              <a:r>
                <a:rPr kumimoji="1" lang="en-US" altLang="zh-CN" sz="2000" b="1" baseline="-25000">
                  <a:solidFill>
                    <a:srgbClr val="000048"/>
                  </a:solidFill>
                  <a:latin typeface="Times New Roman" panose="02020603050405020304" pitchFamily="18" charset="0"/>
                  <a:ea typeface="隶书" panose="02010509060101010101" pitchFamily="49" charset="-122"/>
                </a:rPr>
                <a:t>B</a:t>
              </a:r>
              <a:endParaRPr kumimoji="1" lang="en-US" altLang="zh-CN" sz="2000" b="1">
                <a:solidFill>
                  <a:srgbClr val="000048"/>
                </a:solidFill>
                <a:latin typeface="Times New Roman" panose="02020603050405020304" pitchFamily="18" charset="0"/>
                <a:ea typeface="隶书" panose="02010509060101010101" pitchFamily="49" charset="-122"/>
              </a:endParaRPr>
            </a:p>
          </p:txBody>
        </p:sp>
      </p:grpSp>
      <p:sp>
        <p:nvSpPr>
          <p:cNvPr id="13382" name="Text Box 70"/>
          <p:cNvSpPr txBox="1">
            <a:spLocks noChangeArrowheads="1"/>
          </p:cNvSpPr>
          <p:nvPr/>
        </p:nvSpPr>
        <p:spPr bwMode="auto">
          <a:xfrm>
            <a:off x="6600825" y="2190750"/>
            <a:ext cx="323850" cy="258763"/>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2000" b="1" i="1">
                <a:solidFill>
                  <a:srgbClr val="000048"/>
                </a:solidFill>
                <a:latin typeface="Times New Roman" panose="02020603050405020304" pitchFamily="18" charset="0"/>
                <a:ea typeface="隶书" panose="02010509060101010101" pitchFamily="49" charset="-122"/>
              </a:rPr>
              <a:t>I</a:t>
            </a:r>
            <a:r>
              <a:rPr kumimoji="1" lang="en-US" altLang="zh-CN" sz="2000" b="1" baseline="-25000">
                <a:solidFill>
                  <a:srgbClr val="000048"/>
                </a:solidFill>
                <a:latin typeface="Times New Roman" panose="02020603050405020304" pitchFamily="18" charset="0"/>
                <a:ea typeface="隶书" panose="02010509060101010101" pitchFamily="49" charset="-122"/>
              </a:rPr>
              <a:t>B1</a:t>
            </a:r>
            <a:endParaRPr kumimoji="1" lang="en-US" altLang="zh-CN" sz="2000" b="1">
              <a:solidFill>
                <a:srgbClr val="000048"/>
              </a:solidFill>
              <a:latin typeface="Times New Roman" panose="02020603050405020304" pitchFamily="18" charset="0"/>
              <a:ea typeface="隶书" panose="02010509060101010101" pitchFamily="49" charset="-122"/>
            </a:endParaRPr>
          </a:p>
        </p:txBody>
      </p:sp>
      <p:sp>
        <p:nvSpPr>
          <p:cNvPr id="13383" name="Text Box 71"/>
          <p:cNvSpPr txBox="1">
            <a:spLocks noChangeArrowheads="1"/>
          </p:cNvSpPr>
          <p:nvPr/>
        </p:nvSpPr>
        <p:spPr bwMode="auto">
          <a:xfrm>
            <a:off x="6672263" y="2587625"/>
            <a:ext cx="323850" cy="258763"/>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2000" b="1" i="1">
                <a:solidFill>
                  <a:srgbClr val="000048"/>
                </a:solidFill>
                <a:latin typeface="Times New Roman" panose="02020603050405020304" pitchFamily="18" charset="0"/>
                <a:ea typeface="隶书" panose="02010509060101010101" pitchFamily="49" charset="-122"/>
              </a:rPr>
              <a:t>I</a:t>
            </a:r>
            <a:r>
              <a:rPr kumimoji="1" lang="en-US" altLang="zh-CN" sz="2000" b="1" baseline="-25000">
                <a:solidFill>
                  <a:srgbClr val="000048"/>
                </a:solidFill>
                <a:latin typeface="Times New Roman" panose="02020603050405020304" pitchFamily="18" charset="0"/>
                <a:ea typeface="隶书" panose="02010509060101010101" pitchFamily="49" charset="-122"/>
              </a:rPr>
              <a:t>B2</a:t>
            </a:r>
            <a:endParaRPr kumimoji="1" lang="en-US" altLang="zh-CN" sz="2000" b="1">
              <a:solidFill>
                <a:srgbClr val="000048"/>
              </a:solidFill>
              <a:latin typeface="Times New Roman" panose="02020603050405020304" pitchFamily="18" charset="0"/>
              <a:ea typeface="隶书" panose="02010509060101010101" pitchFamily="49" charset="-122"/>
            </a:endParaRPr>
          </a:p>
        </p:txBody>
      </p:sp>
      <p:sp>
        <p:nvSpPr>
          <p:cNvPr id="13384" name="Text Box 72"/>
          <p:cNvSpPr txBox="1">
            <a:spLocks noChangeArrowheads="1"/>
          </p:cNvSpPr>
          <p:nvPr/>
        </p:nvSpPr>
        <p:spPr bwMode="auto">
          <a:xfrm>
            <a:off x="6853238" y="3019425"/>
            <a:ext cx="323850" cy="258763"/>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2000" b="1" i="1">
                <a:solidFill>
                  <a:srgbClr val="000048"/>
                </a:solidFill>
                <a:latin typeface="Times New Roman" panose="02020603050405020304" pitchFamily="18" charset="0"/>
                <a:ea typeface="隶书" panose="02010509060101010101" pitchFamily="49" charset="-122"/>
              </a:rPr>
              <a:t>I</a:t>
            </a:r>
            <a:r>
              <a:rPr kumimoji="1" lang="en-US" altLang="zh-CN" sz="2000" b="1" baseline="-25000">
                <a:solidFill>
                  <a:srgbClr val="000048"/>
                </a:solidFill>
                <a:latin typeface="Times New Roman" panose="02020603050405020304" pitchFamily="18" charset="0"/>
                <a:ea typeface="隶书" panose="02010509060101010101" pitchFamily="49" charset="-122"/>
              </a:rPr>
              <a:t>B3</a:t>
            </a:r>
            <a:endParaRPr kumimoji="1" lang="en-US" altLang="zh-CN" sz="2000" b="1">
              <a:solidFill>
                <a:srgbClr val="000048"/>
              </a:solidFill>
              <a:latin typeface="Times New Roman" panose="02020603050405020304" pitchFamily="18" charset="0"/>
              <a:ea typeface="隶书" panose="02010509060101010101" pitchFamily="49" charset="-122"/>
            </a:endParaRPr>
          </a:p>
        </p:txBody>
      </p:sp>
      <p:sp>
        <p:nvSpPr>
          <p:cNvPr id="13385" name="Text Box 73"/>
          <p:cNvSpPr txBox="1">
            <a:spLocks noChangeArrowheads="1"/>
          </p:cNvSpPr>
          <p:nvPr/>
        </p:nvSpPr>
        <p:spPr bwMode="auto">
          <a:xfrm>
            <a:off x="6888163" y="3414713"/>
            <a:ext cx="539750" cy="258762"/>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2000" b="1" i="1">
                <a:solidFill>
                  <a:srgbClr val="000048"/>
                </a:solidFill>
                <a:latin typeface="Times New Roman" panose="02020603050405020304" pitchFamily="18" charset="0"/>
                <a:ea typeface="隶书" panose="02010509060101010101" pitchFamily="49" charset="-122"/>
              </a:rPr>
              <a:t>I</a:t>
            </a:r>
            <a:r>
              <a:rPr kumimoji="1" lang="en-US" altLang="zh-CN" sz="2000" b="1" baseline="-25000">
                <a:solidFill>
                  <a:srgbClr val="000048"/>
                </a:solidFill>
                <a:latin typeface="Times New Roman" panose="02020603050405020304" pitchFamily="18" charset="0"/>
                <a:ea typeface="隶书" panose="02010509060101010101" pitchFamily="49" charset="-122"/>
              </a:rPr>
              <a:t>B</a:t>
            </a:r>
            <a:r>
              <a:rPr kumimoji="1" lang="en-US" altLang="zh-CN" sz="2000" b="1">
                <a:solidFill>
                  <a:srgbClr val="000048"/>
                </a:solidFill>
                <a:latin typeface="Times New Roman" panose="02020603050405020304" pitchFamily="18" charset="0"/>
                <a:ea typeface="隶书" panose="02010509060101010101" pitchFamily="49" charset="-122"/>
              </a:rPr>
              <a:t>=0</a:t>
            </a:r>
          </a:p>
        </p:txBody>
      </p:sp>
      <p:sp>
        <p:nvSpPr>
          <p:cNvPr id="13386" name="Freeform 74"/>
          <p:cNvSpPr/>
          <p:nvPr/>
        </p:nvSpPr>
        <p:spPr bwMode="auto">
          <a:xfrm>
            <a:off x="5087938" y="2371725"/>
            <a:ext cx="1404937" cy="287338"/>
          </a:xfrm>
          <a:custGeom>
            <a:avLst/>
            <a:gdLst>
              <a:gd name="T0" fmla="*/ 0 w 885"/>
              <a:gd name="T1" fmla="*/ 287338 h 181"/>
              <a:gd name="T2" fmla="*/ 73025 w 885"/>
              <a:gd name="T3" fmla="*/ 107950 h 181"/>
              <a:gd name="T4" fmla="*/ 288925 w 885"/>
              <a:gd name="T5" fmla="*/ 36513 h 181"/>
              <a:gd name="T6" fmla="*/ 649287 w 885"/>
              <a:gd name="T7" fmla="*/ 36513 h 181"/>
              <a:gd name="T8" fmla="*/ 1404937 w 885"/>
              <a:gd name="T9" fmla="*/ 0 h 1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5" h="181">
                <a:moveTo>
                  <a:pt x="0" y="181"/>
                </a:moveTo>
                <a:cubicBezTo>
                  <a:pt x="8" y="137"/>
                  <a:pt x="16" y="94"/>
                  <a:pt x="46" y="68"/>
                </a:cubicBezTo>
                <a:cubicBezTo>
                  <a:pt x="76" y="42"/>
                  <a:pt x="121" y="31"/>
                  <a:pt x="182" y="23"/>
                </a:cubicBezTo>
                <a:cubicBezTo>
                  <a:pt x="243" y="15"/>
                  <a:pt x="292" y="27"/>
                  <a:pt x="409" y="23"/>
                </a:cubicBezTo>
                <a:cubicBezTo>
                  <a:pt x="526" y="19"/>
                  <a:pt x="705" y="9"/>
                  <a:pt x="885" y="0"/>
                </a:cubicBezTo>
              </a:path>
            </a:pathLst>
          </a:custGeom>
          <a:noFill/>
          <a:ln w="444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87" name="Text Box 75"/>
          <p:cNvSpPr txBox="1">
            <a:spLocks noChangeArrowheads="1"/>
          </p:cNvSpPr>
          <p:nvPr/>
        </p:nvSpPr>
        <p:spPr bwMode="auto">
          <a:xfrm>
            <a:off x="468313" y="5337175"/>
            <a:ext cx="8189912" cy="647700"/>
          </a:xfrm>
          <a:prstGeom prst="rect">
            <a:avLst/>
          </a:prstGeom>
          <a:gradFill rotWithShape="1">
            <a:gsLst>
              <a:gs pos="0">
                <a:srgbClr val="FFFFFF">
                  <a:alpha val="0"/>
                </a:srgbClr>
              </a:gs>
              <a:gs pos="100000">
                <a:srgbClr val="FFFF66">
                  <a:alpha val="49001"/>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2500">
                <a:solidFill>
                  <a:srgbClr val="000048"/>
                </a:solidFill>
                <a:latin typeface="Times New Roman" panose="02020603050405020304" pitchFamily="18" charset="0"/>
                <a:ea typeface="隶书" panose="02010509060101010101" pitchFamily="49" charset="-122"/>
              </a:rPr>
              <a:t>     </a:t>
            </a:r>
            <a:r>
              <a:rPr kumimoji="1" lang="zh-CN" altLang="en-US" sz="2500">
                <a:solidFill>
                  <a:srgbClr val="000048"/>
                </a:solidFill>
                <a:latin typeface="Times New Roman" panose="02020603050405020304" pitchFamily="18" charset="0"/>
                <a:ea typeface="隶书" panose="02010509060101010101" pitchFamily="49" charset="-122"/>
              </a:rPr>
              <a:t>如此不断重复上述过程，我们即可得到不同基极电流</a:t>
            </a:r>
            <a:r>
              <a:rPr kumimoji="1" lang="en-US" altLang="zh-CN" sz="2500" b="1" i="1">
                <a:solidFill>
                  <a:srgbClr val="000048"/>
                </a:solidFill>
                <a:latin typeface="Times New Roman" panose="02020603050405020304" pitchFamily="18" charset="0"/>
                <a:ea typeface="隶书" panose="02010509060101010101" pitchFamily="49" charset="-122"/>
              </a:rPr>
              <a:t>I</a:t>
            </a:r>
            <a:r>
              <a:rPr kumimoji="1" lang="en-US" altLang="zh-CN" sz="2500" b="1" baseline="-25000">
                <a:solidFill>
                  <a:srgbClr val="000048"/>
                </a:solidFill>
                <a:latin typeface="Times New Roman" panose="02020603050405020304" pitchFamily="18" charset="0"/>
                <a:ea typeface="隶书" panose="02010509060101010101" pitchFamily="49" charset="-122"/>
              </a:rPr>
              <a:t>B</a:t>
            </a:r>
            <a:r>
              <a:rPr kumimoji="1" lang="zh-CN" altLang="en-US" sz="2500">
                <a:solidFill>
                  <a:srgbClr val="000048"/>
                </a:solidFill>
                <a:latin typeface="Times New Roman" panose="02020603050405020304" pitchFamily="18" charset="0"/>
                <a:ea typeface="隶书" panose="02010509060101010101" pitchFamily="49" charset="-122"/>
              </a:rPr>
              <a:t>对应相应</a:t>
            </a:r>
            <a:r>
              <a:rPr kumimoji="1" lang="en-US" altLang="zh-CN" sz="2500" b="1" i="1">
                <a:solidFill>
                  <a:srgbClr val="000048"/>
                </a:solidFill>
                <a:latin typeface="Times New Roman" panose="02020603050405020304" pitchFamily="18" charset="0"/>
                <a:ea typeface="隶书" panose="02010509060101010101" pitchFamily="49" charset="-122"/>
              </a:rPr>
              <a:t>I</a:t>
            </a:r>
            <a:r>
              <a:rPr kumimoji="1" lang="en-US" altLang="zh-CN" sz="2500" b="1" baseline="-25000">
                <a:solidFill>
                  <a:srgbClr val="000048"/>
                </a:solidFill>
                <a:latin typeface="Times New Roman" panose="02020603050405020304" pitchFamily="18" charset="0"/>
                <a:ea typeface="隶书" panose="02010509060101010101" pitchFamily="49" charset="-122"/>
              </a:rPr>
              <a:t>C</a:t>
            </a:r>
            <a:r>
              <a:rPr kumimoji="1" lang="zh-CN" altLang="en-US" sz="2500">
                <a:solidFill>
                  <a:srgbClr val="000048"/>
                </a:solidFill>
                <a:latin typeface="Times New Roman" panose="02020603050405020304" pitchFamily="18" charset="0"/>
                <a:ea typeface="隶书" panose="02010509060101010101" pitchFamily="49" charset="-122"/>
              </a:rPr>
              <a:t>、</a:t>
            </a:r>
            <a:r>
              <a:rPr kumimoji="1" lang="en-US" altLang="zh-CN" sz="2500" b="1" i="1">
                <a:solidFill>
                  <a:srgbClr val="000048"/>
                </a:solidFill>
                <a:latin typeface="Times New Roman" panose="02020603050405020304" pitchFamily="18" charset="0"/>
                <a:ea typeface="隶书" panose="02010509060101010101" pitchFamily="49" charset="-122"/>
              </a:rPr>
              <a:t>U</a:t>
            </a:r>
            <a:r>
              <a:rPr kumimoji="1" lang="en-US" altLang="zh-CN" sz="2500" b="1" baseline="-25000">
                <a:solidFill>
                  <a:srgbClr val="000048"/>
                </a:solidFill>
                <a:latin typeface="Times New Roman" panose="02020603050405020304" pitchFamily="18" charset="0"/>
                <a:ea typeface="隶书" panose="02010509060101010101" pitchFamily="49" charset="-122"/>
              </a:rPr>
              <a:t>CE</a:t>
            </a:r>
            <a:r>
              <a:rPr kumimoji="1" lang="zh-CN" altLang="en-US" sz="2500">
                <a:solidFill>
                  <a:srgbClr val="000048"/>
                </a:solidFill>
                <a:latin typeface="Times New Roman" panose="02020603050405020304" pitchFamily="18" charset="0"/>
                <a:ea typeface="隶书" panose="02010509060101010101" pitchFamily="49" charset="-122"/>
              </a:rPr>
              <a:t>数值的一组输出特性曲线。</a:t>
            </a:r>
          </a:p>
        </p:txBody>
      </p:sp>
      <p:sp>
        <p:nvSpPr>
          <p:cNvPr id="13388" name="Freeform 76"/>
          <p:cNvSpPr/>
          <p:nvPr/>
        </p:nvSpPr>
        <p:spPr bwMode="auto">
          <a:xfrm>
            <a:off x="4979988" y="2803525"/>
            <a:ext cx="1547812" cy="287338"/>
          </a:xfrm>
          <a:custGeom>
            <a:avLst/>
            <a:gdLst>
              <a:gd name="T0" fmla="*/ 0 w 885"/>
              <a:gd name="T1" fmla="*/ 287338 h 181"/>
              <a:gd name="T2" fmla="*/ 80451 w 885"/>
              <a:gd name="T3" fmla="*/ 107950 h 181"/>
              <a:gd name="T4" fmla="*/ 318307 w 885"/>
              <a:gd name="T5" fmla="*/ 36513 h 181"/>
              <a:gd name="T6" fmla="*/ 715317 w 885"/>
              <a:gd name="T7" fmla="*/ 36513 h 181"/>
              <a:gd name="T8" fmla="*/ 1547812 w 885"/>
              <a:gd name="T9" fmla="*/ 0 h 1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5" h="181">
                <a:moveTo>
                  <a:pt x="0" y="181"/>
                </a:moveTo>
                <a:cubicBezTo>
                  <a:pt x="8" y="137"/>
                  <a:pt x="16" y="94"/>
                  <a:pt x="46" y="68"/>
                </a:cubicBezTo>
                <a:cubicBezTo>
                  <a:pt x="76" y="42"/>
                  <a:pt x="121" y="31"/>
                  <a:pt x="182" y="23"/>
                </a:cubicBezTo>
                <a:cubicBezTo>
                  <a:pt x="243" y="15"/>
                  <a:pt x="292" y="27"/>
                  <a:pt x="409" y="23"/>
                </a:cubicBezTo>
                <a:cubicBezTo>
                  <a:pt x="526" y="19"/>
                  <a:pt x="705" y="9"/>
                  <a:pt x="885" y="0"/>
                </a:cubicBezTo>
              </a:path>
            </a:pathLst>
          </a:custGeom>
          <a:noFill/>
          <a:ln w="444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89" name="Freeform 77"/>
          <p:cNvSpPr/>
          <p:nvPr/>
        </p:nvSpPr>
        <p:spPr bwMode="auto">
          <a:xfrm>
            <a:off x="4908550" y="3163888"/>
            <a:ext cx="1835150" cy="360362"/>
          </a:xfrm>
          <a:custGeom>
            <a:avLst/>
            <a:gdLst>
              <a:gd name="T0" fmla="*/ 0 w 885"/>
              <a:gd name="T1" fmla="*/ 360362 h 181"/>
              <a:gd name="T2" fmla="*/ 95386 w 885"/>
              <a:gd name="T3" fmla="*/ 135385 h 181"/>
              <a:gd name="T4" fmla="*/ 377398 w 885"/>
              <a:gd name="T5" fmla="*/ 45792 h 181"/>
              <a:gd name="T6" fmla="*/ 848109 w 885"/>
              <a:gd name="T7" fmla="*/ 45792 h 181"/>
              <a:gd name="T8" fmla="*/ 1835150 w 885"/>
              <a:gd name="T9" fmla="*/ 0 h 1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5" h="181">
                <a:moveTo>
                  <a:pt x="0" y="181"/>
                </a:moveTo>
                <a:cubicBezTo>
                  <a:pt x="8" y="137"/>
                  <a:pt x="16" y="94"/>
                  <a:pt x="46" y="68"/>
                </a:cubicBezTo>
                <a:cubicBezTo>
                  <a:pt x="76" y="42"/>
                  <a:pt x="121" y="31"/>
                  <a:pt x="182" y="23"/>
                </a:cubicBezTo>
                <a:cubicBezTo>
                  <a:pt x="243" y="15"/>
                  <a:pt x="292" y="27"/>
                  <a:pt x="409" y="23"/>
                </a:cubicBezTo>
                <a:cubicBezTo>
                  <a:pt x="526" y="19"/>
                  <a:pt x="705" y="9"/>
                  <a:pt x="885" y="0"/>
                </a:cubicBezTo>
              </a:path>
            </a:pathLst>
          </a:custGeom>
          <a:noFill/>
          <a:ln w="444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90" name="Freeform 78"/>
          <p:cNvSpPr/>
          <p:nvPr/>
        </p:nvSpPr>
        <p:spPr bwMode="auto">
          <a:xfrm>
            <a:off x="4835525" y="3595688"/>
            <a:ext cx="1981200" cy="179387"/>
          </a:xfrm>
          <a:custGeom>
            <a:avLst/>
            <a:gdLst>
              <a:gd name="T0" fmla="*/ 0 w 885"/>
              <a:gd name="T1" fmla="*/ 179387 h 181"/>
              <a:gd name="T2" fmla="*/ 102978 w 885"/>
              <a:gd name="T3" fmla="*/ 67394 h 181"/>
              <a:gd name="T4" fmla="*/ 407433 w 885"/>
              <a:gd name="T5" fmla="*/ 22795 h 181"/>
              <a:gd name="T6" fmla="*/ 915605 w 885"/>
              <a:gd name="T7" fmla="*/ 22795 h 181"/>
              <a:gd name="T8" fmla="*/ 1981200 w 885"/>
              <a:gd name="T9" fmla="*/ 0 h 1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5" h="181">
                <a:moveTo>
                  <a:pt x="0" y="181"/>
                </a:moveTo>
                <a:cubicBezTo>
                  <a:pt x="8" y="137"/>
                  <a:pt x="16" y="94"/>
                  <a:pt x="46" y="68"/>
                </a:cubicBezTo>
                <a:cubicBezTo>
                  <a:pt x="76" y="42"/>
                  <a:pt x="121" y="31"/>
                  <a:pt x="182" y="23"/>
                </a:cubicBezTo>
                <a:cubicBezTo>
                  <a:pt x="243" y="15"/>
                  <a:pt x="292" y="27"/>
                  <a:pt x="409" y="23"/>
                </a:cubicBezTo>
                <a:cubicBezTo>
                  <a:pt x="526" y="19"/>
                  <a:pt x="705" y="9"/>
                  <a:pt x="885" y="0"/>
                </a:cubicBezTo>
              </a:path>
            </a:pathLst>
          </a:custGeom>
          <a:noFill/>
          <a:ln w="444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91" name="Line 79"/>
          <p:cNvSpPr>
            <a:spLocks noChangeShapeType="1"/>
          </p:cNvSpPr>
          <p:nvPr/>
        </p:nvSpPr>
        <p:spPr bwMode="auto">
          <a:xfrm flipV="1">
            <a:off x="4856163" y="2119313"/>
            <a:ext cx="325437" cy="1655762"/>
          </a:xfrm>
          <a:prstGeom prst="line">
            <a:avLst/>
          </a:prstGeom>
          <a:noFill/>
          <a:ln w="57150">
            <a:solidFill>
              <a:srgbClr val="8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92" name="AutoShape 80"/>
          <p:cNvSpPr>
            <a:spLocks noChangeArrowheads="1"/>
          </p:cNvSpPr>
          <p:nvPr/>
        </p:nvSpPr>
        <p:spPr bwMode="auto">
          <a:xfrm>
            <a:off x="1311275" y="4325938"/>
            <a:ext cx="2305050" cy="811212"/>
          </a:xfrm>
          <a:prstGeom prst="wedgeRoundRectCallout">
            <a:avLst>
              <a:gd name="adj1" fmla="val 114394"/>
              <a:gd name="adj2" fmla="val -216144"/>
              <a:gd name="adj3" fmla="val 16667"/>
            </a:avLst>
          </a:prstGeom>
          <a:gradFill rotWithShape="1">
            <a:gsLst>
              <a:gs pos="0">
                <a:srgbClr val="CCFF99">
                  <a:alpha val="67999"/>
                </a:srgbClr>
              </a:gs>
              <a:gs pos="50000">
                <a:srgbClr val="CCFF99">
                  <a:gamma/>
                  <a:tint val="0"/>
                  <a:invGamma/>
                  <a:alpha val="0"/>
                </a:srgbClr>
              </a:gs>
              <a:gs pos="100000">
                <a:srgbClr val="CCFF99">
                  <a:alpha val="67999"/>
                </a:srgbClr>
              </a:gs>
            </a:gsLst>
            <a:lin ang="2700000" scaled="1"/>
          </a:gradFill>
          <a:ln w="952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nSpc>
                <a:spcPct val="90000"/>
              </a:lnSpc>
              <a:defRPr/>
            </a:pPr>
            <a:r>
              <a:rPr kumimoji="1" lang="zh-CN" altLang="en-US" b="1">
                <a:solidFill>
                  <a:srgbClr val="003300"/>
                </a:solidFill>
                <a:latin typeface="Times New Roman" panose="02020603050405020304" pitchFamily="18" charset="0"/>
                <a:ea typeface="楷体_GB2312" pitchFamily="49" charset="-122"/>
              </a:rPr>
              <a:t>输出曲线开始部分很陡，说明</a:t>
            </a:r>
            <a:r>
              <a:rPr kumimoji="1" lang="en-US" altLang="zh-CN" b="1" i="1">
                <a:solidFill>
                  <a:srgbClr val="003300"/>
                </a:solidFill>
                <a:latin typeface="Times New Roman" panose="02020603050405020304" pitchFamily="18" charset="0"/>
                <a:ea typeface="楷体_GB2312" pitchFamily="49" charset="-122"/>
              </a:rPr>
              <a:t>I</a:t>
            </a:r>
            <a:r>
              <a:rPr kumimoji="1" lang="en-US" altLang="zh-CN" b="1" baseline="-25000">
                <a:solidFill>
                  <a:srgbClr val="003300"/>
                </a:solidFill>
                <a:latin typeface="Times New Roman" panose="02020603050405020304" pitchFamily="18" charset="0"/>
                <a:ea typeface="楷体_GB2312" pitchFamily="49" charset="-122"/>
              </a:rPr>
              <a:t>C</a:t>
            </a:r>
            <a:r>
              <a:rPr kumimoji="1" lang="zh-CN" altLang="en-US" b="1">
                <a:solidFill>
                  <a:srgbClr val="003300"/>
                </a:solidFill>
                <a:latin typeface="Times New Roman" panose="02020603050405020304" pitchFamily="18" charset="0"/>
                <a:ea typeface="楷体_GB2312" pitchFamily="49" charset="-122"/>
              </a:rPr>
              <a:t>随</a:t>
            </a:r>
            <a:r>
              <a:rPr kumimoji="1" lang="en-US" altLang="zh-CN" b="1" i="1">
                <a:solidFill>
                  <a:srgbClr val="003300"/>
                </a:solidFill>
                <a:latin typeface="Times New Roman" panose="02020603050405020304" pitchFamily="18" charset="0"/>
                <a:ea typeface="楷体_GB2312" pitchFamily="49" charset="-122"/>
              </a:rPr>
              <a:t>U</a:t>
            </a:r>
            <a:r>
              <a:rPr kumimoji="1" lang="en-US" altLang="zh-CN" b="1" baseline="-25000">
                <a:solidFill>
                  <a:srgbClr val="003300"/>
                </a:solidFill>
                <a:latin typeface="Times New Roman" panose="02020603050405020304" pitchFamily="18" charset="0"/>
                <a:ea typeface="楷体_GB2312" pitchFamily="49" charset="-122"/>
              </a:rPr>
              <a:t>CE</a:t>
            </a:r>
            <a:r>
              <a:rPr kumimoji="1" lang="zh-CN" altLang="en-US" b="1">
                <a:solidFill>
                  <a:srgbClr val="003300"/>
                </a:solidFill>
                <a:latin typeface="Times New Roman" panose="02020603050405020304" pitchFamily="18" charset="0"/>
                <a:ea typeface="楷体_GB2312" pitchFamily="49" charset="-122"/>
              </a:rPr>
              <a:t>的增加而急剧增大。</a:t>
            </a:r>
            <a:endParaRPr kumimoji="1" lang="zh-CN" altLang="en-US" b="1" baseline="-25000">
              <a:solidFill>
                <a:srgbClr val="003300"/>
              </a:solidFill>
              <a:latin typeface="Times New Roman" panose="02020603050405020304" pitchFamily="18" charset="0"/>
              <a:ea typeface="楷体_GB2312" pitchFamily="49" charset="-122"/>
            </a:endParaRPr>
          </a:p>
        </p:txBody>
      </p:sp>
      <p:sp>
        <p:nvSpPr>
          <p:cNvPr id="13393" name="AutoShape 81"/>
          <p:cNvSpPr>
            <a:spLocks noChangeArrowheads="1"/>
          </p:cNvSpPr>
          <p:nvPr/>
        </p:nvSpPr>
        <p:spPr bwMode="auto">
          <a:xfrm>
            <a:off x="4470400" y="574675"/>
            <a:ext cx="3743325" cy="811213"/>
          </a:xfrm>
          <a:prstGeom prst="wedgeRoundRectCallout">
            <a:avLst>
              <a:gd name="adj1" fmla="val -8102"/>
              <a:gd name="adj2" fmla="val 103815"/>
              <a:gd name="adj3" fmla="val 16667"/>
            </a:avLst>
          </a:prstGeom>
          <a:gradFill rotWithShape="1">
            <a:gsLst>
              <a:gs pos="0">
                <a:srgbClr val="CCFF99">
                  <a:alpha val="67999"/>
                </a:srgbClr>
              </a:gs>
              <a:gs pos="50000">
                <a:srgbClr val="CCFF99">
                  <a:gamma/>
                  <a:tint val="0"/>
                  <a:invGamma/>
                  <a:alpha val="0"/>
                </a:srgbClr>
              </a:gs>
              <a:gs pos="100000">
                <a:srgbClr val="CCFF99">
                  <a:alpha val="67999"/>
                </a:srgbClr>
              </a:gs>
            </a:gsLst>
            <a:lin ang="2700000" scaled="1"/>
          </a:gradFill>
          <a:ln w="952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nSpc>
                <a:spcPct val="90000"/>
              </a:lnSpc>
              <a:defRPr/>
            </a:pPr>
            <a:r>
              <a:rPr kumimoji="1" lang="zh-CN" altLang="en-US" b="1">
                <a:solidFill>
                  <a:srgbClr val="003300"/>
                </a:solidFill>
                <a:latin typeface="Times New Roman" panose="02020603050405020304" pitchFamily="18" charset="0"/>
                <a:ea typeface="楷体_GB2312" pitchFamily="49" charset="-122"/>
              </a:rPr>
              <a:t>当</a:t>
            </a:r>
            <a:r>
              <a:rPr kumimoji="1" lang="en-US" altLang="zh-CN" b="1" i="1">
                <a:solidFill>
                  <a:srgbClr val="003300"/>
                </a:solidFill>
                <a:latin typeface="Times New Roman" panose="02020603050405020304" pitchFamily="18" charset="0"/>
                <a:ea typeface="楷体_GB2312" pitchFamily="49" charset="-122"/>
              </a:rPr>
              <a:t>U</a:t>
            </a:r>
            <a:r>
              <a:rPr kumimoji="1" lang="en-US" altLang="zh-CN" b="1" baseline="-25000">
                <a:solidFill>
                  <a:srgbClr val="003300"/>
                </a:solidFill>
                <a:latin typeface="Times New Roman" panose="02020603050405020304" pitchFamily="18" charset="0"/>
                <a:ea typeface="楷体_GB2312" pitchFamily="49" charset="-122"/>
              </a:rPr>
              <a:t>CE</a:t>
            </a:r>
            <a:r>
              <a:rPr kumimoji="1" lang="zh-CN" altLang="en-US" b="1">
                <a:solidFill>
                  <a:srgbClr val="003300"/>
                </a:solidFill>
                <a:latin typeface="Times New Roman" panose="02020603050405020304" pitchFamily="18" charset="0"/>
                <a:ea typeface="楷体_GB2312" pitchFamily="49" charset="-122"/>
              </a:rPr>
              <a:t>增至一定数值时</a:t>
            </a:r>
            <a:r>
              <a:rPr kumimoji="1" lang="en-US" altLang="zh-CN" b="1">
                <a:solidFill>
                  <a:srgbClr val="003300"/>
                </a:solidFill>
                <a:latin typeface="Times New Roman" panose="02020603050405020304" pitchFamily="18" charset="0"/>
                <a:ea typeface="楷体_GB2312" pitchFamily="49" charset="-122"/>
              </a:rPr>
              <a:t>(</a:t>
            </a:r>
            <a:r>
              <a:rPr kumimoji="1" lang="zh-CN" altLang="en-US" b="1">
                <a:solidFill>
                  <a:srgbClr val="003300"/>
                </a:solidFill>
                <a:latin typeface="Times New Roman" panose="02020603050405020304" pitchFamily="18" charset="0"/>
                <a:ea typeface="楷体_GB2312" pitchFamily="49" charset="-122"/>
              </a:rPr>
              <a:t>一般小于</a:t>
            </a:r>
            <a:r>
              <a:rPr kumimoji="1" lang="en-US" altLang="zh-CN" b="1">
                <a:solidFill>
                  <a:srgbClr val="003300"/>
                </a:solidFill>
                <a:latin typeface="Times New Roman" panose="02020603050405020304" pitchFamily="18" charset="0"/>
                <a:ea typeface="楷体_GB2312" pitchFamily="49" charset="-122"/>
              </a:rPr>
              <a:t>1V)</a:t>
            </a:r>
            <a:r>
              <a:rPr kumimoji="1" lang="zh-CN" altLang="en-US" b="1">
                <a:solidFill>
                  <a:srgbClr val="003300"/>
                </a:solidFill>
                <a:latin typeface="Times New Roman" panose="02020603050405020304" pitchFamily="18" charset="0"/>
                <a:ea typeface="楷体_GB2312" pitchFamily="49" charset="-122"/>
              </a:rPr>
              <a:t>，输出特性曲线变得平坦，表明</a:t>
            </a:r>
            <a:r>
              <a:rPr kumimoji="1" lang="en-US" altLang="zh-CN" b="1" i="1">
                <a:solidFill>
                  <a:srgbClr val="003300"/>
                </a:solidFill>
                <a:latin typeface="Times New Roman" panose="02020603050405020304" pitchFamily="18" charset="0"/>
                <a:ea typeface="楷体_GB2312" pitchFamily="49" charset="-122"/>
              </a:rPr>
              <a:t>I</a:t>
            </a:r>
            <a:r>
              <a:rPr kumimoji="1" lang="en-US" altLang="zh-CN" b="1" baseline="-25000">
                <a:solidFill>
                  <a:srgbClr val="003300"/>
                </a:solidFill>
                <a:latin typeface="Times New Roman" panose="02020603050405020304" pitchFamily="18" charset="0"/>
                <a:ea typeface="楷体_GB2312" pitchFamily="49" charset="-122"/>
              </a:rPr>
              <a:t>C</a:t>
            </a:r>
            <a:r>
              <a:rPr kumimoji="1" lang="zh-CN" altLang="en-US" b="1">
                <a:solidFill>
                  <a:srgbClr val="003300"/>
                </a:solidFill>
                <a:latin typeface="Times New Roman" panose="02020603050405020304" pitchFamily="18" charset="0"/>
                <a:ea typeface="楷体_GB2312" pitchFamily="49" charset="-122"/>
              </a:rPr>
              <a:t>基本上不再随</a:t>
            </a:r>
            <a:r>
              <a:rPr kumimoji="1" lang="en-US" altLang="zh-CN" b="1" i="1">
                <a:solidFill>
                  <a:srgbClr val="003300"/>
                </a:solidFill>
                <a:latin typeface="Times New Roman" panose="02020603050405020304" pitchFamily="18" charset="0"/>
                <a:ea typeface="楷体_GB2312" pitchFamily="49" charset="-122"/>
              </a:rPr>
              <a:t>U</a:t>
            </a:r>
            <a:r>
              <a:rPr kumimoji="1" lang="en-US" altLang="zh-CN" b="1" baseline="-25000">
                <a:solidFill>
                  <a:srgbClr val="003300"/>
                </a:solidFill>
                <a:latin typeface="Times New Roman" panose="02020603050405020304" pitchFamily="18" charset="0"/>
                <a:ea typeface="楷体_GB2312" pitchFamily="49" charset="-122"/>
              </a:rPr>
              <a:t>CE</a:t>
            </a:r>
            <a:r>
              <a:rPr kumimoji="1" lang="zh-CN" altLang="en-US" b="1">
                <a:solidFill>
                  <a:srgbClr val="003300"/>
                </a:solidFill>
                <a:latin typeface="Times New Roman" panose="02020603050405020304" pitchFamily="18" charset="0"/>
                <a:ea typeface="楷体_GB2312" pitchFamily="49" charset="-122"/>
              </a:rPr>
              <a:t>而变化。</a:t>
            </a:r>
            <a:endParaRPr kumimoji="1" lang="zh-CN" altLang="en-US" b="1" baseline="-25000">
              <a:solidFill>
                <a:srgbClr val="003300"/>
              </a:solidFill>
              <a:latin typeface="Times New Roman" panose="02020603050405020304" pitchFamily="18" charset="0"/>
              <a:ea typeface="楷体_GB2312" pitchFamily="49" charset="-122"/>
            </a:endParaRPr>
          </a:p>
        </p:txBody>
      </p:sp>
      <p:sp>
        <p:nvSpPr>
          <p:cNvPr id="13394" name="Freeform 82"/>
          <p:cNvSpPr/>
          <p:nvPr/>
        </p:nvSpPr>
        <p:spPr bwMode="auto">
          <a:xfrm>
            <a:off x="5183188" y="1917700"/>
            <a:ext cx="1187450" cy="215900"/>
          </a:xfrm>
          <a:custGeom>
            <a:avLst/>
            <a:gdLst>
              <a:gd name="T0" fmla="*/ 0 w 748"/>
              <a:gd name="T1" fmla="*/ 215900 h 136"/>
              <a:gd name="T2" fmla="*/ 71438 w 748"/>
              <a:gd name="T3" fmla="*/ 107950 h 136"/>
              <a:gd name="T4" fmla="*/ 179388 w 748"/>
              <a:gd name="T5" fmla="*/ 71438 h 136"/>
              <a:gd name="T6" fmla="*/ 431800 w 748"/>
              <a:gd name="T7" fmla="*/ 34925 h 136"/>
              <a:gd name="T8" fmla="*/ 719138 w 748"/>
              <a:gd name="T9" fmla="*/ 34925 h 136"/>
              <a:gd name="T10" fmla="*/ 1187450 w 748"/>
              <a:gd name="T11" fmla="*/ 0 h 1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48" h="136">
                <a:moveTo>
                  <a:pt x="0" y="136"/>
                </a:moveTo>
                <a:cubicBezTo>
                  <a:pt x="13" y="109"/>
                  <a:pt x="26" y="83"/>
                  <a:pt x="45" y="68"/>
                </a:cubicBezTo>
                <a:cubicBezTo>
                  <a:pt x="64" y="53"/>
                  <a:pt x="75" y="53"/>
                  <a:pt x="113" y="45"/>
                </a:cubicBezTo>
                <a:cubicBezTo>
                  <a:pt x="151" y="37"/>
                  <a:pt x="215" y="26"/>
                  <a:pt x="272" y="22"/>
                </a:cubicBezTo>
                <a:cubicBezTo>
                  <a:pt x="329" y="18"/>
                  <a:pt x="374" y="26"/>
                  <a:pt x="453" y="22"/>
                </a:cubicBezTo>
                <a:cubicBezTo>
                  <a:pt x="532" y="18"/>
                  <a:pt x="699" y="4"/>
                  <a:pt x="748" y="0"/>
                </a:cubicBezTo>
              </a:path>
            </a:pathLst>
          </a:custGeom>
          <a:noFill/>
          <a:ln w="57150" cmpd="sng">
            <a:solidFill>
              <a:srgbClr val="8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after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wedge">
                                      <p:cBhvr>
                                        <p:cTn id="7" dur="500"/>
                                        <p:tgtEl>
                                          <p:spTgt spid="1331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13371"/>
                                        </p:tgtEl>
                                        <p:attrNameLst>
                                          <p:attrName>style.visibility</p:attrName>
                                        </p:attrNameLst>
                                      </p:cBhvr>
                                      <p:to>
                                        <p:strVal val="visible"/>
                                      </p:to>
                                    </p:set>
                                    <p:animEffect transition="in" filter="slide(fromBottom)">
                                      <p:cBhvr>
                                        <p:cTn id="12" dur="500"/>
                                        <p:tgtEl>
                                          <p:spTgt spid="13371"/>
                                        </p:tgtEl>
                                      </p:cBhvr>
                                    </p:animEffect>
                                  </p:childTnLst>
                                </p:cTn>
                              </p:par>
                            </p:childTnLst>
                          </p:cTn>
                        </p:par>
                      </p:childTnLst>
                    </p:cTn>
                  </p:par>
                  <p:par>
                    <p:cTn id="13" fill="hold">
                      <p:stCondLst>
                        <p:cond delay="indefinite"/>
                      </p:stCondLst>
                      <p:childTnLst>
                        <p:par>
                          <p:cTn id="14" fill="hold">
                            <p:stCondLst>
                              <p:cond delay="0"/>
                            </p:stCondLst>
                            <p:childTnLst>
                              <p:par>
                                <p:cTn id="15" presetID="27" presetClass="entr" presetSubtype="0" fill="hold" nodeType="clickEffect">
                                  <p:stCondLst>
                                    <p:cond delay="0"/>
                                  </p:stCondLst>
                                  <p:iterate type="lt">
                                    <p:tmPct val="50000"/>
                                  </p:iterate>
                                  <p:childTnLst>
                                    <p:set>
                                      <p:cBhvr>
                                        <p:cTn id="16" dur="1" fill="hold">
                                          <p:stCondLst>
                                            <p:cond delay="0"/>
                                          </p:stCondLst>
                                        </p:cTn>
                                        <p:tgtEl>
                                          <p:spTgt spid="13364"/>
                                        </p:tgtEl>
                                        <p:attrNameLst>
                                          <p:attrName>style.visibility</p:attrName>
                                        </p:attrNameLst>
                                      </p:cBhvr>
                                      <p:to>
                                        <p:strVal val="visible"/>
                                      </p:to>
                                    </p:set>
                                    <p:anim calcmode="discrete" valueType="clr">
                                      <p:cBhvr override="childStyle">
                                        <p:cTn id="17" dur="80"/>
                                        <p:tgtEl>
                                          <p:spTgt spid="13364"/>
                                        </p:tgtEl>
                                        <p:attrNameLst>
                                          <p:attrName>style.color</p:attrName>
                                        </p:attrNameLst>
                                      </p:cBhvr>
                                      <p:tavLst>
                                        <p:tav tm="0">
                                          <p:val>
                                            <p:clrVal>
                                              <a:schemeClr val="accent2"/>
                                            </p:clrVal>
                                          </p:val>
                                        </p:tav>
                                        <p:tav tm="50000">
                                          <p:val>
                                            <p:clrVal>
                                              <a:schemeClr val="hlink"/>
                                            </p:clrVal>
                                          </p:val>
                                        </p:tav>
                                      </p:tavLst>
                                    </p:anim>
                                    <p:anim calcmode="discrete" valueType="clr">
                                      <p:cBhvr>
                                        <p:cTn id="18" dur="80"/>
                                        <p:tgtEl>
                                          <p:spTgt spid="13364"/>
                                        </p:tgtEl>
                                        <p:attrNameLst>
                                          <p:attrName>fillcolor</p:attrName>
                                        </p:attrNameLst>
                                      </p:cBhvr>
                                      <p:tavLst>
                                        <p:tav tm="0">
                                          <p:val>
                                            <p:clrVal>
                                              <a:schemeClr val="accent2"/>
                                            </p:clrVal>
                                          </p:val>
                                        </p:tav>
                                        <p:tav tm="50000">
                                          <p:val>
                                            <p:clrVal>
                                              <a:schemeClr val="hlink"/>
                                            </p:clrVal>
                                          </p:val>
                                        </p:tav>
                                      </p:tavLst>
                                    </p:anim>
                                    <p:set>
                                      <p:cBhvr>
                                        <p:cTn id="19" dur="80"/>
                                        <p:tgtEl>
                                          <p:spTgt spid="13364"/>
                                        </p:tgtEl>
                                        <p:attrNameLst>
                                          <p:attrName>fill.type</p:attrName>
                                        </p:attrNameLst>
                                      </p:cBhvr>
                                      <p:to>
                                        <p:strVal val="solid"/>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13365"/>
                                        </p:tgtEl>
                                        <p:attrNameLst>
                                          <p:attrName>style.visibility</p:attrName>
                                        </p:attrNameLst>
                                      </p:cBhvr>
                                      <p:to>
                                        <p:strVal val="visible"/>
                                      </p:to>
                                    </p:set>
                                    <p:animEffect transition="in" filter="wipe(down)">
                                      <p:cBhvr>
                                        <p:cTn id="24" dur="500"/>
                                        <p:tgtEl>
                                          <p:spTgt spid="13365"/>
                                        </p:tgtEl>
                                      </p:cBhvr>
                                    </p:animEffect>
                                  </p:childTnLst>
                                </p:cTn>
                              </p:par>
                            </p:childTnLst>
                          </p:cTn>
                        </p:par>
                        <p:par>
                          <p:cTn id="25" fill="hold">
                            <p:stCondLst>
                              <p:cond delay="500"/>
                            </p:stCondLst>
                            <p:childTnLst>
                              <p:par>
                                <p:cTn id="26" presetID="22" presetClass="entr" presetSubtype="4" fill="hold" grpId="0" nodeType="afterEffect">
                                  <p:stCondLst>
                                    <p:cond delay="0"/>
                                  </p:stCondLst>
                                  <p:childTnLst>
                                    <p:set>
                                      <p:cBhvr>
                                        <p:cTn id="27" dur="1" fill="hold">
                                          <p:stCondLst>
                                            <p:cond delay="0"/>
                                          </p:stCondLst>
                                        </p:cTn>
                                        <p:tgtEl>
                                          <p:spTgt spid="13369"/>
                                        </p:tgtEl>
                                        <p:attrNameLst>
                                          <p:attrName>style.visibility</p:attrName>
                                        </p:attrNameLst>
                                      </p:cBhvr>
                                      <p:to>
                                        <p:strVal val="visible"/>
                                      </p:to>
                                    </p:set>
                                    <p:animEffect transition="in" filter="wipe(down)">
                                      <p:cBhvr>
                                        <p:cTn id="28" dur="2000"/>
                                        <p:tgtEl>
                                          <p:spTgt spid="13369"/>
                                        </p:tgtEl>
                                      </p:cBhvr>
                                    </p:animEffect>
                                  </p:childTnLst>
                                </p:cTn>
                              </p:par>
                            </p:childTnLst>
                          </p:cTn>
                        </p:par>
                        <p:par>
                          <p:cTn id="29" fill="hold">
                            <p:stCondLst>
                              <p:cond delay="2500"/>
                            </p:stCondLst>
                            <p:childTnLst>
                              <p:par>
                                <p:cTn id="30" presetID="16" presetClass="entr" presetSubtype="42" fill="hold" nodeType="afterEffect">
                                  <p:stCondLst>
                                    <p:cond delay="0"/>
                                  </p:stCondLst>
                                  <p:childTnLst>
                                    <p:set>
                                      <p:cBhvr>
                                        <p:cTn id="31" dur="1" fill="hold">
                                          <p:stCondLst>
                                            <p:cond delay="0"/>
                                          </p:stCondLst>
                                        </p:cTn>
                                        <p:tgtEl>
                                          <p:spTgt spid="13366"/>
                                        </p:tgtEl>
                                        <p:attrNameLst>
                                          <p:attrName>style.visibility</p:attrName>
                                        </p:attrNameLst>
                                      </p:cBhvr>
                                      <p:to>
                                        <p:strVal val="visible"/>
                                      </p:to>
                                    </p:set>
                                    <p:animEffect transition="in" filter="barn(outHorizontal)">
                                      <p:cBhvr>
                                        <p:cTn id="32" dur="2000"/>
                                        <p:tgtEl>
                                          <p:spTgt spid="13366"/>
                                        </p:tgtEl>
                                      </p:cBhvr>
                                    </p:animEffect>
                                  </p:childTnLst>
                                </p:cTn>
                              </p:par>
                            </p:childTnLst>
                          </p:cTn>
                        </p:par>
                      </p:childTnLst>
                    </p:cTn>
                  </p:par>
                  <p:par>
                    <p:cTn id="33" fill="hold">
                      <p:stCondLst>
                        <p:cond delay="indefinite"/>
                      </p:stCondLst>
                      <p:childTnLst>
                        <p:par>
                          <p:cTn id="34" fill="hold">
                            <p:stCondLst>
                              <p:cond delay="0"/>
                            </p:stCondLst>
                            <p:childTnLst>
                              <p:par>
                                <p:cTn id="35" presetID="27" presetClass="entr" presetSubtype="0" fill="hold" grpId="0" nodeType="clickEffect">
                                  <p:stCondLst>
                                    <p:cond delay="0"/>
                                  </p:stCondLst>
                                  <p:iterate type="lt">
                                    <p:tmPct val="50000"/>
                                  </p:iterate>
                                  <p:childTnLst>
                                    <p:set>
                                      <p:cBhvr>
                                        <p:cTn id="36" dur="1" fill="hold">
                                          <p:stCondLst>
                                            <p:cond delay="0"/>
                                          </p:stCondLst>
                                        </p:cTn>
                                        <p:tgtEl>
                                          <p:spTgt spid="13370"/>
                                        </p:tgtEl>
                                        <p:attrNameLst>
                                          <p:attrName>style.visibility</p:attrName>
                                        </p:attrNameLst>
                                      </p:cBhvr>
                                      <p:to>
                                        <p:strVal val="visible"/>
                                      </p:to>
                                    </p:set>
                                    <p:anim calcmode="discrete" valueType="clr">
                                      <p:cBhvr override="childStyle">
                                        <p:cTn id="37" dur="80"/>
                                        <p:tgtEl>
                                          <p:spTgt spid="13370"/>
                                        </p:tgtEl>
                                        <p:attrNameLst>
                                          <p:attrName>style.color</p:attrName>
                                        </p:attrNameLst>
                                      </p:cBhvr>
                                      <p:tavLst>
                                        <p:tav tm="0">
                                          <p:val>
                                            <p:clrVal>
                                              <a:schemeClr val="accent2"/>
                                            </p:clrVal>
                                          </p:val>
                                        </p:tav>
                                        <p:tav tm="50000">
                                          <p:val>
                                            <p:clrVal>
                                              <a:schemeClr val="hlink"/>
                                            </p:clrVal>
                                          </p:val>
                                        </p:tav>
                                      </p:tavLst>
                                    </p:anim>
                                    <p:anim calcmode="discrete" valueType="clr">
                                      <p:cBhvr>
                                        <p:cTn id="38" dur="80"/>
                                        <p:tgtEl>
                                          <p:spTgt spid="13370"/>
                                        </p:tgtEl>
                                        <p:attrNameLst>
                                          <p:attrName>fillcolor</p:attrName>
                                        </p:attrNameLst>
                                      </p:cBhvr>
                                      <p:tavLst>
                                        <p:tav tm="0">
                                          <p:val>
                                            <p:clrVal>
                                              <a:schemeClr val="accent2"/>
                                            </p:clrVal>
                                          </p:val>
                                        </p:tav>
                                        <p:tav tm="50000">
                                          <p:val>
                                            <p:clrVal>
                                              <a:schemeClr val="hlink"/>
                                            </p:clrVal>
                                          </p:val>
                                        </p:tav>
                                      </p:tavLst>
                                    </p:anim>
                                    <p:set>
                                      <p:cBhvr>
                                        <p:cTn id="39" dur="80"/>
                                        <p:tgtEl>
                                          <p:spTgt spid="13370"/>
                                        </p:tgtEl>
                                        <p:attrNameLst>
                                          <p:attrName>fill.type</p:attrName>
                                        </p:attrNameLst>
                                      </p:cBhvr>
                                      <p:to>
                                        <p:strVal val="solid"/>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3386"/>
                                        </p:tgtEl>
                                        <p:attrNameLst>
                                          <p:attrName>style.visibility</p:attrName>
                                        </p:attrNameLst>
                                      </p:cBhvr>
                                      <p:to>
                                        <p:strVal val="visible"/>
                                      </p:to>
                                    </p:set>
                                    <p:animEffect transition="in" filter="wipe(left)">
                                      <p:cBhvr>
                                        <p:cTn id="44" dur="1000"/>
                                        <p:tgtEl>
                                          <p:spTgt spid="13386"/>
                                        </p:tgtEl>
                                      </p:cBhvr>
                                    </p:animEffect>
                                  </p:childTnLst>
                                </p:cTn>
                              </p:par>
                            </p:childTnLst>
                          </p:cTn>
                        </p:par>
                        <p:par>
                          <p:cTn id="45" fill="hold">
                            <p:stCondLst>
                              <p:cond delay="1000"/>
                            </p:stCondLst>
                            <p:childTnLst>
                              <p:par>
                                <p:cTn id="46" presetID="23" presetClass="entr" presetSubtype="32" fill="hold" grpId="0" nodeType="afterEffect">
                                  <p:stCondLst>
                                    <p:cond delay="0"/>
                                  </p:stCondLst>
                                  <p:childTnLst>
                                    <p:set>
                                      <p:cBhvr>
                                        <p:cTn id="47" dur="1" fill="hold">
                                          <p:stCondLst>
                                            <p:cond delay="0"/>
                                          </p:stCondLst>
                                        </p:cTn>
                                        <p:tgtEl>
                                          <p:spTgt spid="13382"/>
                                        </p:tgtEl>
                                        <p:attrNameLst>
                                          <p:attrName>style.visibility</p:attrName>
                                        </p:attrNameLst>
                                      </p:cBhvr>
                                      <p:to>
                                        <p:strVal val="visible"/>
                                      </p:to>
                                    </p:set>
                                    <p:anim calcmode="lin" valueType="num">
                                      <p:cBhvr>
                                        <p:cTn id="48" dur="500" fill="hold"/>
                                        <p:tgtEl>
                                          <p:spTgt spid="13382"/>
                                        </p:tgtEl>
                                        <p:attrNameLst>
                                          <p:attrName>ppt_w</p:attrName>
                                        </p:attrNameLst>
                                      </p:cBhvr>
                                      <p:tavLst>
                                        <p:tav tm="0">
                                          <p:val>
                                            <p:strVal val="4*#ppt_w"/>
                                          </p:val>
                                        </p:tav>
                                        <p:tav tm="100000">
                                          <p:val>
                                            <p:strVal val="#ppt_w"/>
                                          </p:val>
                                        </p:tav>
                                      </p:tavLst>
                                    </p:anim>
                                    <p:anim calcmode="lin" valueType="num">
                                      <p:cBhvr>
                                        <p:cTn id="49" dur="500" fill="hold"/>
                                        <p:tgtEl>
                                          <p:spTgt spid="13382"/>
                                        </p:tgtEl>
                                        <p:attrNameLst>
                                          <p:attrName>ppt_h</p:attrName>
                                        </p:attrNameLst>
                                      </p:cBhvr>
                                      <p:tavLst>
                                        <p:tav tm="0">
                                          <p:val>
                                            <p:strVal val="4*#ppt_h"/>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31" presetClass="entr" presetSubtype="0" fill="hold" grpId="0" nodeType="clickEffect">
                                  <p:stCondLst>
                                    <p:cond delay="0"/>
                                  </p:stCondLst>
                                  <p:iterate type="lt">
                                    <p:tmPct val="5000"/>
                                  </p:iterate>
                                  <p:childTnLst>
                                    <p:set>
                                      <p:cBhvr>
                                        <p:cTn id="53" dur="1" fill="hold">
                                          <p:stCondLst>
                                            <p:cond delay="0"/>
                                          </p:stCondLst>
                                        </p:cTn>
                                        <p:tgtEl>
                                          <p:spTgt spid="13387"/>
                                        </p:tgtEl>
                                        <p:attrNameLst>
                                          <p:attrName>style.visibility</p:attrName>
                                        </p:attrNameLst>
                                      </p:cBhvr>
                                      <p:to>
                                        <p:strVal val="visible"/>
                                      </p:to>
                                    </p:set>
                                    <p:anim calcmode="lin" valueType="num">
                                      <p:cBhvr>
                                        <p:cTn id="54" dur="1000" fill="hold"/>
                                        <p:tgtEl>
                                          <p:spTgt spid="13387"/>
                                        </p:tgtEl>
                                        <p:attrNameLst>
                                          <p:attrName>ppt_w</p:attrName>
                                        </p:attrNameLst>
                                      </p:cBhvr>
                                      <p:tavLst>
                                        <p:tav tm="0">
                                          <p:val>
                                            <p:fltVal val="0"/>
                                          </p:val>
                                        </p:tav>
                                        <p:tav tm="100000">
                                          <p:val>
                                            <p:strVal val="#ppt_w"/>
                                          </p:val>
                                        </p:tav>
                                      </p:tavLst>
                                    </p:anim>
                                    <p:anim calcmode="lin" valueType="num">
                                      <p:cBhvr>
                                        <p:cTn id="55" dur="1000" fill="hold"/>
                                        <p:tgtEl>
                                          <p:spTgt spid="13387"/>
                                        </p:tgtEl>
                                        <p:attrNameLst>
                                          <p:attrName>ppt_h</p:attrName>
                                        </p:attrNameLst>
                                      </p:cBhvr>
                                      <p:tavLst>
                                        <p:tav tm="0">
                                          <p:val>
                                            <p:fltVal val="0"/>
                                          </p:val>
                                        </p:tav>
                                        <p:tav tm="100000">
                                          <p:val>
                                            <p:strVal val="#ppt_h"/>
                                          </p:val>
                                        </p:tav>
                                      </p:tavLst>
                                    </p:anim>
                                    <p:anim calcmode="lin" valueType="num">
                                      <p:cBhvr>
                                        <p:cTn id="56" dur="1000" fill="hold"/>
                                        <p:tgtEl>
                                          <p:spTgt spid="13387"/>
                                        </p:tgtEl>
                                        <p:attrNameLst>
                                          <p:attrName>style.rotation</p:attrName>
                                        </p:attrNameLst>
                                      </p:cBhvr>
                                      <p:tavLst>
                                        <p:tav tm="0">
                                          <p:val>
                                            <p:fltVal val="90"/>
                                          </p:val>
                                        </p:tav>
                                        <p:tav tm="100000">
                                          <p:val>
                                            <p:fltVal val="0"/>
                                          </p:val>
                                        </p:tav>
                                      </p:tavLst>
                                    </p:anim>
                                    <p:animEffect transition="in" filter="fade">
                                      <p:cBhvr>
                                        <p:cTn id="57" dur="1000"/>
                                        <p:tgtEl>
                                          <p:spTgt spid="13387"/>
                                        </p:tgtEl>
                                      </p:cBhvr>
                                    </p:animEffect>
                                  </p:childTnLst>
                                </p:cTn>
                              </p:par>
                              <p:par>
                                <p:cTn id="58" presetID="1" presetClass="exit" presetSubtype="0" fill="hold" nodeType="withEffect">
                                  <p:stCondLst>
                                    <p:cond delay="0"/>
                                  </p:stCondLst>
                                  <p:iterate type="lt">
                                    <p:tmAbs val="0"/>
                                  </p:iterate>
                                  <p:childTnLst>
                                    <p:set>
                                      <p:cBhvr>
                                        <p:cTn id="59" dur="1" fill="hold">
                                          <p:stCondLst>
                                            <p:cond delay="0"/>
                                          </p:stCondLst>
                                        </p:cTn>
                                        <p:tgtEl>
                                          <p:spTgt spid="13364"/>
                                        </p:tgtEl>
                                        <p:attrNameLst>
                                          <p:attrName>style.visibility</p:attrName>
                                        </p:attrNameLst>
                                      </p:cBhvr>
                                      <p:to>
                                        <p:strVal val="hidden"/>
                                      </p:to>
                                    </p:set>
                                  </p:childTnLst>
                                </p:cTn>
                              </p:par>
                              <p:par>
                                <p:cTn id="60" presetID="1" presetClass="exit" presetSubtype="0" fill="hold" nodeType="withEffect">
                                  <p:stCondLst>
                                    <p:cond delay="0"/>
                                  </p:stCondLst>
                                  <p:childTnLst>
                                    <p:set>
                                      <p:cBhvr>
                                        <p:cTn id="61" dur="1" fill="hold">
                                          <p:stCondLst>
                                            <p:cond delay="0"/>
                                          </p:stCondLst>
                                        </p:cTn>
                                        <p:tgtEl>
                                          <p:spTgt spid="13365"/>
                                        </p:tgtEl>
                                        <p:attrNameLst>
                                          <p:attrName>style.visibility</p:attrName>
                                        </p:attrNameLst>
                                      </p:cBhvr>
                                      <p:to>
                                        <p:strVal val="hidden"/>
                                      </p:to>
                                    </p:set>
                                  </p:childTnLst>
                                </p:cTn>
                              </p:par>
                            </p:childTnLst>
                          </p:cTn>
                        </p:par>
                        <p:par>
                          <p:cTn id="62" fill="hold">
                            <p:stCondLst>
                              <p:cond delay="3549"/>
                            </p:stCondLst>
                            <p:childTnLst>
                              <p:par>
                                <p:cTn id="63" presetID="22" presetClass="entr" presetSubtype="8" fill="hold" grpId="0" nodeType="afterEffect">
                                  <p:stCondLst>
                                    <p:cond delay="0"/>
                                  </p:stCondLst>
                                  <p:childTnLst>
                                    <p:set>
                                      <p:cBhvr>
                                        <p:cTn id="64" dur="1" fill="hold">
                                          <p:stCondLst>
                                            <p:cond delay="0"/>
                                          </p:stCondLst>
                                        </p:cTn>
                                        <p:tgtEl>
                                          <p:spTgt spid="13388"/>
                                        </p:tgtEl>
                                        <p:attrNameLst>
                                          <p:attrName>style.visibility</p:attrName>
                                        </p:attrNameLst>
                                      </p:cBhvr>
                                      <p:to>
                                        <p:strVal val="visible"/>
                                      </p:to>
                                    </p:set>
                                    <p:animEffect transition="in" filter="wipe(left)">
                                      <p:cBhvr>
                                        <p:cTn id="65" dur="1000"/>
                                        <p:tgtEl>
                                          <p:spTgt spid="13388"/>
                                        </p:tgtEl>
                                      </p:cBhvr>
                                    </p:animEffect>
                                  </p:childTnLst>
                                </p:cTn>
                              </p:par>
                            </p:childTnLst>
                          </p:cTn>
                        </p:par>
                        <p:par>
                          <p:cTn id="66" fill="hold">
                            <p:stCondLst>
                              <p:cond delay="4549"/>
                            </p:stCondLst>
                            <p:childTnLst>
                              <p:par>
                                <p:cTn id="67" presetID="23" presetClass="entr" presetSubtype="32" fill="hold" grpId="0" nodeType="afterEffect">
                                  <p:stCondLst>
                                    <p:cond delay="0"/>
                                  </p:stCondLst>
                                  <p:childTnLst>
                                    <p:set>
                                      <p:cBhvr>
                                        <p:cTn id="68" dur="1" fill="hold">
                                          <p:stCondLst>
                                            <p:cond delay="0"/>
                                          </p:stCondLst>
                                        </p:cTn>
                                        <p:tgtEl>
                                          <p:spTgt spid="13383"/>
                                        </p:tgtEl>
                                        <p:attrNameLst>
                                          <p:attrName>style.visibility</p:attrName>
                                        </p:attrNameLst>
                                      </p:cBhvr>
                                      <p:to>
                                        <p:strVal val="visible"/>
                                      </p:to>
                                    </p:set>
                                    <p:anim calcmode="lin" valueType="num">
                                      <p:cBhvr>
                                        <p:cTn id="69" dur="500" fill="hold"/>
                                        <p:tgtEl>
                                          <p:spTgt spid="13383"/>
                                        </p:tgtEl>
                                        <p:attrNameLst>
                                          <p:attrName>ppt_w</p:attrName>
                                        </p:attrNameLst>
                                      </p:cBhvr>
                                      <p:tavLst>
                                        <p:tav tm="0">
                                          <p:val>
                                            <p:strVal val="4*#ppt_w"/>
                                          </p:val>
                                        </p:tav>
                                        <p:tav tm="100000">
                                          <p:val>
                                            <p:strVal val="#ppt_w"/>
                                          </p:val>
                                        </p:tav>
                                      </p:tavLst>
                                    </p:anim>
                                    <p:anim calcmode="lin" valueType="num">
                                      <p:cBhvr>
                                        <p:cTn id="70" dur="500" fill="hold"/>
                                        <p:tgtEl>
                                          <p:spTgt spid="13383"/>
                                        </p:tgtEl>
                                        <p:attrNameLst>
                                          <p:attrName>ppt_h</p:attrName>
                                        </p:attrNameLst>
                                      </p:cBhvr>
                                      <p:tavLst>
                                        <p:tav tm="0">
                                          <p:val>
                                            <p:strVal val="4*#ppt_h"/>
                                          </p:val>
                                        </p:tav>
                                        <p:tav tm="100000">
                                          <p:val>
                                            <p:strVal val="#ppt_h"/>
                                          </p:val>
                                        </p:tav>
                                      </p:tavLst>
                                    </p:anim>
                                  </p:childTnLst>
                                </p:cTn>
                              </p:par>
                            </p:childTnLst>
                          </p:cTn>
                        </p:par>
                        <p:par>
                          <p:cTn id="71" fill="hold">
                            <p:stCondLst>
                              <p:cond delay="5049"/>
                            </p:stCondLst>
                            <p:childTnLst>
                              <p:par>
                                <p:cTn id="72" presetID="22" presetClass="entr" presetSubtype="8" fill="hold" grpId="0" nodeType="afterEffect">
                                  <p:stCondLst>
                                    <p:cond delay="0"/>
                                  </p:stCondLst>
                                  <p:childTnLst>
                                    <p:set>
                                      <p:cBhvr>
                                        <p:cTn id="73" dur="1" fill="hold">
                                          <p:stCondLst>
                                            <p:cond delay="0"/>
                                          </p:stCondLst>
                                        </p:cTn>
                                        <p:tgtEl>
                                          <p:spTgt spid="13389"/>
                                        </p:tgtEl>
                                        <p:attrNameLst>
                                          <p:attrName>style.visibility</p:attrName>
                                        </p:attrNameLst>
                                      </p:cBhvr>
                                      <p:to>
                                        <p:strVal val="visible"/>
                                      </p:to>
                                    </p:set>
                                    <p:animEffect transition="in" filter="wipe(left)">
                                      <p:cBhvr>
                                        <p:cTn id="74" dur="1000"/>
                                        <p:tgtEl>
                                          <p:spTgt spid="13389"/>
                                        </p:tgtEl>
                                      </p:cBhvr>
                                    </p:animEffect>
                                  </p:childTnLst>
                                </p:cTn>
                              </p:par>
                            </p:childTnLst>
                          </p:cTn>
                        </p:par>
                        <p:par>
                          <p:cTn id="75" fill="hold">
                            <p:stCondLst>
                              <p:cond delay="6049"/>
                            </p:stCondLst>
                            <p:childTnLst>
                              <p:par>
                                <p:cTn id="76" presetID="23" presetClass="entr" presetSubtype="32" fill="hold" grpId="0" nodeType="afterEffect">
                                  <p:stCondLst>
                                    <p:cond delay="0"/>
                                  </p:stCondLst>
                                  <p:childTnLst>
                                    <p:set>
                                      <p:cBhvr>
                                        <p:cTn id="77" dur="1" fill="hold">
                                          <p:stCondLst>
                                            <p:cond delay="0"/>
                                          </p:stCondLst>
                                        </p:cTn>
                                        <p:tgtEl>
                                          <p:spTgt spid="13384"/>
                                        </p:tgtEl>
                                        <p:attrNameLst>
                                          <p:attrName>style.visibility</p:attrName>
                                        </p:attrNameLst>
                                      </p:cBhvr>
                                      <p:to>
                                        <p:strVal val="visible"/>
                                      </p:to>
                                    </p:set>
                                    <p:anim calcmode="lin" valueType="num">
                                      <p:cBhvr>
                                        <p:cTn id="78" dur="500" fill="hold"/>
                                        <p:tgtEl>
                                          <p:spTgt spid="13384"/>
                                        </p:tgtEl>
                                        <p:attrNameLst>
                                          <p:attrName>ppt_w</p:attrName>
                                        </p:attrNameLst>
                                      </p:cBhvr>
                                      <p:tavLst>
                                        <p:tav tm="0">
                                          <p:val>
                                            <p:strVal val="4*#ppt_w"/>
                                          </p:val>
                                        </p:tav>
                                        <p:tav tm="100000">
                                          <p:val>
                                            <p:strVal val="#ppt_w"/>
                                          </p:val>
                                        </p:tav>
                                      </p:tavLst>
                                    </p:anim>
                                    <p:anim calcmode="lin" valueType="num">
                                      <p:cBhvr>
                                        <p:cTn id="79" dur="500" fill="hold"/>
                                        <p:tgtEl>
                                          <p:spTgt spid="13384"/>
                                        </p:tgtEl>
                                        <p:attrNameLst>
                                          <p:attrName>ppt_h</p:attrName>
                                        </p:attrNameLst>
                                      </p:cBhvr>
                                      <p:tavLst>
                                        <p:tav tm="0">
                                          <p:val>
                                            <p:strVal val="4*#ppt_h"/>
                                          </p:val>
                                        </p:tav>
                                        <p:tav tm="100000">
                                          <p:val>
                                            <p:strVal val="#ppt_h"/>
                                          </p:val>
                                        </p:tav>
                                      </p:tavLst>
                                    </p:anim>
                                  </p:childTnLst>
                                </p:cTn>
                              </p:par>
                            </p:childTnLst>
                          </p:cTn>
                        </p:par>
                        <p:par>
                          <p:cTn id="80" fill="hold">
                            <p:stCondLst>
                              <p:cond delay="6549"/>
                            </p:stCondLst>
                            <p:childTnLst>
                              <p:par>
                                <p:cTn id="81" presetID="22" presetClass="entr" presetSubtype="8" fill="hold" grpId="0" nodeType="afterEffect">
                                  <p:stCondLst>
                                    <p:cond delay="0"/>
                                  </p:stCondLst>
                                  <p:childTnLst>
                                    <p:set>
                                      <p:cBhvr>
                                        <p:cTn id="82" dur="1" fill="hold">
                                          <p:stCondLst>
                                            <p:cond delay="0"/>
                                          </p:stCondLst>
                                        </p:cTn>
                                        <p:tgtEl>
                                          <p:spTgt spid="13390"/>
                                        </p:tgtEl>
                                        <p:attrNameLst>
                                          <p:attrName>style.visibility</p:attrName>
                                        </p:attrNameLst>
                                      </p:cBhvr>
                                      <p:to>
                                        <p:strVal val="visible"/>
                                      </p:to>
                                    </p:set>
                                    <p:animEffect transition="in" filter="wipe(left)">
                                      <p:cBhvr>
                                        <p:cTn id="83" dur="1000"/>
                                        <p:tgtEl>
                                          <p:spTgt spid="13390"/>
                                        </p:tgtEl>
                                      </p:cBhvr>
                                    </p:animEffect>
                                  </p:childTnLst>
                                </p:cTn>
                              </p:par>
                            </p:childTnLst>
                          </p:cTn>
                        </p:par>
                        <p:par>
                          <p:cTn id="84" fill="hold">
                            <p:stCondLst>
                              <p:cond delay="7549"/>
                            </p:stCondLst>
                            <p:childTnLst>
                              <p:par>
                                <p:cTn id="85" presetID="23" presetClass="entr" presetSubtype="32" fill="hold" grpId="0" nodeType="afterEffect">
                                  <p:stCondLst>
                                    <p:cond delay="0"/>
                                  </p:stCondLst>
                                  <p:childTnLst>
                                    <p:set>
                                      <p:cBhvr>
                                        <p:cTn id="86" dur="1" fill="hold">
                                          <p:stCondLst>
                                            <p:cond delay="0"/>
                                          </p:stCondLst>
                                        </p:cTn>
                                        <p:tgtEl>
                                          <p:spTgt spid="13385"/>
                                        </p:tgtEl>
                                        <p:attrNameLst>
                                          <p:attrName>style.visibility</p:attrName>
                                        </p:attrNameLst>
                                      </p:cBhvr>
                                      <p:to>
                                        <p:strVal val="visible"/>
                                      </p:to>
                                    </p:set>
                                    <p:anim calcmode="lin" valueType="num">
                                      <p:cBhvr>
                                        <p:cTn id="87" dur="500" fill="hold"/>
                                        <p:tgtEl>
                                          <p:spTgt spid="13385"/>
                                        </p:tgtEl>
                                        <p:attrNameLst>
                                          <p:attrName>ppt_w</p:attrName>
                                        </p:attrNameLst>
                                      </p:cBhvr>
                                      <p:tavLst>
                                        <p:tav tm="0">
                                          <p:val>
                                            <p:strVal val="4*#ppt_w"/>
                                          </p:val>
                                        </p:tav>
                                        <p:tav tm="100000">
                                          <p:val>
                                            <p:strVal val="#ppt_w"/>
                                          </p:val>
                                        </p:tav>
                                      </p:tavLst>
                                    </p:anim>
                                    <p:anim calcmode="lin" valueType="num">
                                      <p:cBhvr>
                                        <p:cTn id="88" dur="500" fill="hold"/>
                                        <p:tgtEl>
                                          <p:spTgt spid="13385"/>
                                        </p:tgtEl>
                                        <p:attrNameLst>
                                          <p:attrName>ppt_h</p:attrName>
                                        </p:attrNameLst>
                                      </p:cBhvr>
                                      <p:tavLst>
                                        <p:tav tm="0">
                                          <p:val>
                                            <p:strVal val="4*#ppt_h"/>
                                          </p:val>
                                        </p:tav>
                                        <p:tav tm="100000">
                                          <p:val>
                                            <p:strVal val="#ppt_h"/>
                                          </p:val>
                                        </p:tav>
                                      </p:tavLst>
                                    </p:anim>
                                  </p:childTnLst>
                                </p:cTn>
                              </p:par>
                            </p:childTnLst>
                          </p:cTn>
                        </p:par>
                      </p:childTnLst>
                    </p:cTn>
                  </p:par>
                  <p:par>
                    <p:cTn id="89" fill="hold">
                      <p:stCondLst>
                        <p:cond delay="indefinite"/>
                      </p:stCondLst>
                      <p:childTnLst>
                        <p:par>
                          <p:cTn id="90" fill="hold">
                            <p:stCondLst>
                              <p:cond delay="0"/>
                            </p:stCondLst>
                            <p:childTnLst>
                              <p:par>
                                <p:cTn id="91" presetID="22" presetClass="entr" presetSubtype="4" fill="hold" grpId="0" nodeType="clickEffect">
                                  <p:stCondLst>
                                    <p:cond delay="0"/>
                                  </p:stCondLst>
                                  <p:childTnLst>
                                    <p:set>
                                      <p:cBhvr>
                                        <p:cTn id="92" dur="1" fill="hold">
                                          <p:stCondLst>
                                            <p:cond delay="0"/>
                                          </p:stCondLst>
                                        </p:cTn>
                                        <p:tgtEl>
                                          <p:spTgt spid="13391"/>
                                        </p:tgtEl>
                                        <p:attrNameLst>
                                          <p:attrName>style.visibility</p:attrName>
                                        </p:attrNameLst>
                                      </p:cBhvr>
                                      <p:to>
                                        <p:strVal val="visible"/>
                                      </p:to>
                                    </p:set>
                                    <p:animEffect transition="in" filter="wipe(down)">
                                      <p:cBhvr>
                                        <p:cTn id="93" dur="2000"/>
                                        <p:tgtEl>
                                          <p:spTgt spid="13391"/>
                                        </p:tgtEl>
                                      </p:cBhvr>
                                    </p:animEffect>
                                  </p:childTnLst>
                                </p:cTn>
                              </p:par>
                            </p:childTnLst>
                          </p:cTn>
                        </p:par>
                      </p:childTnLst>
                    </p:cTn>
                  </p:par>
                  <p:par>
                    <p:cTn id="94" fill="hold">
                      <p:stCondLst>
                        <p:cond delay="indefinite"/>
                      </p:stCondLst>
                      <p:childTnLst>
                        <p:par>
                          <p:cTn id="95" fill="hold">
                            <p:stCondLst>
                              <p:cond delay="0"/>
                            </p:stCondLst>
                            <p:childTnLst>
                              <p:par>
                                <p:cTn id="96" presetID="18" presetClass="entr" presetSubtype="3" fill="hold" nodeType="clickEffect">
                                  <p:stCondLst>
                                    <p:cond delay="0"/>
                                  </p:stCondLst>
                                  <p:childTnLst>
                                    <p:set>
                                      <p:cBhvr>
                                        <p:cTn id="97" dur="1" fill="hold">
                                          <p:stCondLst>
                                            <p:cond delay="0"/>
                                          </p:stCondLst>
                                        </p:cTn>
                                        <p:tgtEl>
                                          <p:spTgt spid="13392"/>
                                        </p:tgtEl>
                                        <p:attrNameLst>
                                          <p:attrName>style.visibility</p:attrName>
                                        </p:attrNameLst>
                                      </p:cBhvr>
                                      <p:to>
                                        <p:strVal val="visible"/>
                                      </p:to>
                                    </p:set>
                                    <p:animEffect transition="in" filter="strips(upRight)">
                                      <p:cBhvr>
                                        <p:cTn id="98" dur="500"/>
                                        <p:tgtEl>
                                          <p:spTgt spid="13392"/>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13394"/>
                                        </p:tgtEl>
                                        <p:attrNameLst>
                                          <p:attrName>style.visibility</p:attrName>
                                        </p:attrNameLst>
                                      </p:cBhvr>
                                      <p:to>
                                        <p:strVal val="visible"/>
                                      </p:to>
                                    </p:set>
                                    <p:animEffect transition="in" filter="wipe(left)">
                                      <p:cBhvr>
                                        <p:cTn id="103" dur="2000"/>
                                        <p:tgtEl>
                                          <p:spTgt spid="13394"/>
                                        </p:tgtEl>
                                      </p:cBhvr>
                                    </p:animEffect>
                                  </p:childTnLst>
                                </p:cTn>
                              </p:par>
                            </p:childTnLst>
                          </p:cTn>
                        </p:par>
                      </p:childTnLst>
                    </p:cTn>
                  </p:par>
                  <p:par>
                    <p:cTn id="104" fill="hold">
                      <p:stCondLst>
                        <p:cond delay="indefinite"/>
                      </p:stCondLst>
                      <p:childTnLst>
                        <p:par>
                          <p:cTn id="105" fill="hold">
                            <p:stCondLst>
                              <p:cond delay="0"/>
                            </p:stCondLst>
                            <p:childTnLst>
                              <p:par>
                                <p:cTn id="106" presetID="56" presetClass="entr" presetSubtype="0" fill="hold" nodeType="clickEffect">
                                  <p:stCondLst>
                                    <p:cond delay="0"/>
                                  </p:stCondLst>
                                  <p:iterate type="lt">
                                    <p:tmPct val="10000"/>
                                  </p:iterate>
                                  <p:childTnLst>
                                    <p:set>
                                      <p:cBhvr>
                                        <p:cTn id="107" dur="1" fill="hold">
                                          <p:stCondLst>
                                            <p:cond delay="0"/>
                                          </p:stCondLst>
                                        </p:cTn>
                                        <p:tgtEl>
                                          <p:spTgt spid="13393"/>
                                        </p:tgtEl>
                                        <p:attrNameLst>
                                          <p:attrName>style.visibility</p:attrName>
                                        </p:attrNameLst>
                                      </p:cBhvr>
                                      <p:to>
                                        <p:strVal val="visible"/>
                                      </p:to>
                                    </p:set>
                                    <p:anim by="(-#ppt_w*2)" calcmode="lin" valueType="num">
                                      <p:cBhvr rctx="PPT">
                                        <p:cTn id="108" dur="250" autoRev="1" fill="hold">
                                          <p:stCondLst>
                                            <p:cond delay="0"/>
                                          </p:stCondLst>
                                        </p:cTn>
                                        <p:tgtEl>
                                          <p:spTgt spid="13393"/>
                                        </p:tgtEl>
                                        <p:attrNameLst>
                                          <p:attrName>ppt_w</p:attrName>
                                        </p:attrNameLst>
                                      </p:cBhvr>
                                    </p:anim>
                                    <p:anim by="(#ppt_w*0.50)" calcmode="lin" valueType="num">
                                      <p:cBhvr>
                                        <p:cTn id="109" dur="250" decel="50000" autoRev="1" fill="hold">
                                          <p:stCondLst>
                                            <p:cond delay="0"/>
                                          </p:stCondLst>
                                        </p:cTn>
                                        <p:tgtEl>
                                          <p:spTgt spid="13393"/>
                                        </p:tgtEl>
                                        <p:attrNameLst>
                                          <p:attrName>ppt_x</p:attrName>
                                        </p:attrNameLst>
                                      </p:cBhvr>
                                    </p:anim>
                                    <p:anim from="(-#ppt_h/2)" to="(#ppt_y)" calcmode="lin" valueType="num">
                                      <p:cBhvr>
                                        <p:cTn id="110" dur="500" fill="hold">
                                          <p:stCondLst>
                                            <p:cond delay="0"/>
                                          </p:stCondLst>
                                        </p:cTn>
                                        <p:tgtEl>
                                          <p:spTgt spid="13393"/>
                                        </p:tgtEl>
                                        <p:attrNameLst>
                                          <p:attrName>ppt_y</p:attrName>
                                        </p:attrNameLst>
                                      </p:cBhvr>
                                    </p:anim>
                                    <p:animRot by="21600000">
                                      <p:cBhvr>
                                        <p:cTn id="111" dur="500" fill="hold">
                                          <p:stCondLst>
                                            <p:cond delay="0"/>
                                          </p:stCondLst>
                                        </p:cTn>
                                        <p:tgtEl>
                                          <p:spTgt spid="1339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69" grpId="0" animBg="1"/>
      <p:bldP spid="13370" grpId="0"/>
      <p:bldP spid="13382" grpId="0"/>
      <p:bldP spid="13383" grpId="0"/>
      <p:bldP spid="13384" grpId="0"/>
      <p:bldP spid="13385" grpId="0"/>
      <p:bldP spid="13386" grpId="0" animBg="1"/>
      <p:bldP spid="13387" grpId="0" animBg="1"/>
      <p:bldP spid="13388" grpId="0" animBg="1"/>
      <p:bldP spid="13389" grpId="0" animBg="1"/>
      <p:bldP spid="13390" grpId="0" animBg="1"/>
      <p:bldP spid="13391" grpId="0" animBg="1"/>
      <p:bldP spid="1339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3956050" y="631825"/>
            <a:ext cx="4627563" cy="2105025"/>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300">
                <a:solidFill>
                  <a:srgbClr val="00004C"/>
                </a:solidFill>
                <a:latin typeface="Times New Roman" panose="02020603050405020304" pitchFamily="18" charset="0"/>
                <a:ea typeface="隶书" panose="02010509060101010101" pitchFamily="49" charset="-122"/>
              </a:rPr>
              <a:t>  </a:t>
            </a:r>
            <a:r>
              <a:rPr kumimoji="1" lang="zh-CN" altLang="en-US" sz="2300">
                <a:solidFill>
                  <a:srgbClr val="00004C"/>
                </a:solidFill>
                <a:latin typeface="Times New Roman" panose="02020603050405020304" pitchFamily="18" charset="0"/>
                <a:ea typeface="隶书" panose="02010509060101010101" pitchFamily="49" charset="-122"/>
              </a:rPr>
              <a:t>当</a:t>
            </a:r>
            <a:r>
              <a:rPr kumimoji="1" lang="en-US" altLang="zh-CN" sz="2300" i="1">
                <a:solidFill>
                  <a:srgbClr val="00004C"/>
                </a:solidFill>
                <a:latin typeface="Times New Roman" panose="02020603050405020304" pitchFamily="18" charset="0"/>
                <a:ea typeface="隶书" panose="02010509060101010101" pitchFamily="49" charset="-122"/>
              </a:rPr>
              <a:t>I</a:t>
            </a:r>
            <a:r>
              <a:rPr kumimoji="1" lang="en-US" altLang="zh-CN" sz="2300" baseline="-25000">
                <a:solidFill>
                  <a:srgbClr val="00004C"/>
                </a:solidFill>
                <a:latin typeface="Times New Roman" panose="02020603050405020304" pitchFamily="18" charset="0"/>
                <a:ea typeface="隶书" panose="02010509060101010101" pitchFamily="49" charset="-122"/>
              </a:rPr>
              <a:t>B</a:t>
            </a:r>
            <a:r>
              <a:rPr kumimoji="1" lang="zh-CN" altLang="en-US" sz="2300">
                <a:solidFill>
                  <a:srgbClr val="00004C"/>
                </a:solidFill>
                <a:latin typeface="Times New Roman" panose="02020603050405020304" pitchFamily="18" charset="0"/>
                <a:ea typeface="隶书" panose="02010509060101010101" pitchFamily="49" charset="-122"/>
              </a:rPr>
              <a:t>一定时，从发射区扩散到基区的电子数大致一定。当</a:t>
            </a:r>
            <a:r>
              <a:rPr kumimoji="1" lang="en-US" altLang="zh-CN" sz="2300" i="1">
                <a:solidFill>
                  <a:srgbClr val="00004C"/>
                </a:solidFill>
                <a:latin typeface="Times New Roman" panose="02020603050405020304" pitchFamily="18" charset="0"/>
                <a:ea typeface="隶书" panose="02010509060101010101" pitchFamily="49" charset="-122"/>
              </a:rPr>
              <a:t>U</a:t>
            </a:r>
            <a:r>
              <a:rPr kumimoji="1" lang="en-US" altLang="zh-CN" sz="2300" baseline="-25000">
                <a:solidFill>
                  <a:srgbClr val="00004C"/>
                </a:solidFill>
                <a:latin typeface="Times New Roman" panose="02020603050405020304" pitchFamily="18" charset="0"/>
                <a:ea typeface="隶书" panose="02010509060101010101" pitchFamily="49" charset="-122"/>
              </a:rPr>
              <a:t>CE</a:t>
            </a:r>
            <a:r>
              <a:rPr kumimoji="1" lang="zh-CN" altLang="en-US" sz="2300">
                <a:solidFill>
                  <a:srgbClr val="00004C"/>
                </a:solidFill>
                <a:latin typeface="Times New Roman" panose="02020603050405020304" pitchFamily="18" charset="0"/>
                <a:ea typeface="隶书" panose="02010509060101010101" pitchFamily="49" charset="-122"/>
              </a:rPr>
              <a:t>超过</a:t>
            </a:r>
            <a:r>
              <a:rPr kumimoji="1" lang="en-US" altLang="zh-CN" sz="2300">
                <a:solidFill>
                  <a:srgbClr val="00004C"/>
                </a:solidFill>
                <a:latin typeface="Times New Roman" panose="02020603050405020304" pitchFamily="18" charset="0"/>
                <a:ea typeface="隶书" panose="02010509060101010101" pitchFamily="49" charset="-122"/>
              </a:rPr>
              <a:t>1V</a:t>
            </a:r>
            <a:r>
              <a:rPr kumimoji="1" lang="zh-CN" altLang="en-US" sz="2300">
                <a:solidFill>
                  <a:srgbClr val="00004C"/>
                </a:solidFill>
                <a:latin typeface="Times New Roman" panose="02020603050405020304" pitchFamily="18" charset="0"/>
                <a:ea typeface="隶书" panose="02010509060101010101" pitchFamily="49" charset="-122"/>
              </a:rPr>
              <a:t>以后，这些电子的绝大部分被拉入集电区而形成集电极电流</a:t>
            </a:r>
            <a:r>
              <a:rPr kumimoji="1" lang="en-US" altLang="zh-CN" sz="2300" i="1">
                <a:solidFill>
                  <a:srgbClr val="00004C"/>
                </a:solidFill>
                <a:latin typeface="Times New Roman" panose="02020603050405020304" pitchFamily="18" charset="0"/>
                <a:ea typeface="隶书" panose="02010509060101010101" pitchFamily="49" charset="-122"/>
                <a:sym typeface="Symbol" panose="05050102010706020507" pitchFamily="18" charset="2"/>
              </a:rPr>
              <a:t>I</a:t>
            </a:r>
            <a:r>
              <a:rPr kumimoji="1" lang="en-US" altLang="zh-CN" sz="2300" baseline="-25000">
                <a:solidFill>
                  <a:srgbClr val="00004C"/>
                </a:solidFill>
                <a:latin typeface="Times New Roman" panose="02020603050405020304" pitchFamily="18" charset="0"/>
                <a:ea typeface="隶书" panose="02010509060101010101" pitchFamily="49" charset="-122"/>
                <a:sym typeface="Symbol" panose="05050102010706020507" pitchFamily="18" charset="2"/>
              </a:rPr>
              <a:t>C</a:t>
            </a:r>
            <a:r>
              <a:rPr kumimoji="1" lang="en-US" altLang="zh-CN" sz="2300">
                <a:solidFill>
                  <a:srgbClr val="00004C"/>
                </a:solidFill>
                <a:latin typeface="Times New Roman" panose="02020603050405020304" pitchFamily="18" charset="0"/>
                <a:ea typeface="隶书" panose="02010509060101010101" pitchFamily="49" charset="-122"/>
              </a:rPr>
              <a:t> </a:t>
            </a:r>
            <a:r>
              <a:rPr kumimoji="1" lang="zh-CN" altLang="en-US" sz="2300">
                <a:solidFill>
                  <a:srgbClr val="00004C"/>
                </a:solidFill>
                <a:latin typeface="Times New Roman" panose="02020603050405020304" pitchFamily="18" charset="0"/>
                <a:ea typeface="隶书" panose="02010509060101010101" pitchFamily="49" charset="-122"/>
              </a:rPr>
              <a:t>。之后即使</a:t>
            </a:r>
            <a:r>
              <a:rPr kumimoji="1" lang="en-US" altLang="zh-CN" sz="2300" i="1">
                <a:solidFill>
                  <a:srgbClr val="00004C"/>
                </a:solidFill>
                <a:latin typeface="Times New Roman" panose="02020603050405020304" pitchFamily="18" charset="0"/>
                <a:ea typeface="隶书" panose="02010509060101010101" pitchFamily="49" charset="-122"/>
                <a:sym typeface="Symbol" panose="05050102010706020507" pitchFamily="18" charset="2"/>
              </a:rPr>
              <a:t>U</a:t>
            </a:r>
            <a:r>
              <a:rPr kumimoji="1" lang="en-US" altLang="zh-CN" sz="2300" baseline="-25000">
                <a:solidFill>
                  <a:srgbClr val="00004C"/>
                </a:solidFill>
                <a:latin typeface="Times New Roman" panose="02020603050405020304" pitchFamily="18" charset="0"/>
                <a:ea typeface="隶书" panose="02010509060101010101" pitchFamily="49" charset="-122"/>
                <a:sym typeface="Symbol" panose="05050102010706020507" pitchFamily="18" charset="2"/>
              </a:rPr>
              <a:t>CE</a:t>
            </a:r>
            <a:r>
              <a:rPr kumimoji="1" lang="zh-CN" altLang="en-US" sz="2300">
                <a:solidFill>
                  <a:srgbClr val="00004C"/>
                </a:solidFill>
                <a:latin typeface="Times New Roman" panose="02020603050405020304" pitchFamily="18" charset="0"/>
                <a:ea typeface="隶书" panose="02010509060101010101" pitchFamily="49" charset="-122"/>
              </a:rPr>
              <a:t>继续增大，集电极电流</a:t>
            </a:r>
            <a:r>
              <a:rPr kumimoji="1" lang="en-US" altLang="zh-CN" sz="2300" i="1">
                <a:solidFill>
                  <a:srgbClr val="00004C"/>
                </a:solidFill>
                <a:latin typeface="Times New Roman" panose="02020603050405020304" pitchFamily="18" charset="0"/>
                <a:ea typeface="隶书" panose="02010509060101010101" pitchFamily="49" charset="-122"/>
              </a:rPr>
              <a:t>I</a:t>
            </a:r>
            <a:r>
              <a:rPr kumimoji="1" lang="en-US" altLang="zh-CN" sz="2300" baseline="-25000">
                <a:solidFill>
                  <a:srgbClr val="00004C"/>
                </a:solidFill>
                <a:latin typeface="Times New Roman" panose="02020603050405020304" pitchFamily="18" charset="0"/>
                <a:ea typeface="隶书" panose="02010509060101010101" pitchFamily="49" charset="-122"/>
              </a:rPr>
              <a:t>C</a:t>
            </a:r>
            <a:r>
              <a:rPr kumimoji="1" lang="zh-CN" altLang="en-US" sz="2300">
                <a:solidFill>
                  <a:srgbClr val="00004C"/>
                </a:solidFill>
                <a:latin typeface="Times New Roman" panose="02020603050405020304" pitchFamily="18" charset="0"/>
                <a:ea typeface="隶书" panose="02010509060101010101" pitchFamily="49" charset="-122"/>
              </a:rPr>
              <a:t>也不会再有明显的增加，具有</a:t>
            </a:r>
            <a:r>
              <a:rPr kumimoji="1" lang="zh-CN" altLang="en-US" sz="2300">
                <a:solidFill>
                  <a:srgbClr val="AC2100"/>
                </a:solidFill>
                <a:latin typeface="Times New Roman" panose="02020603050405020304" pitchFamily="18" charset="0"/>
                <a:ea typeface="隶书" panose="02010509060101010101" pitchFamily="49" charset="-122"/>
              </a:rPr>
              <a:t>恒流特性</a:t>
            </a:r>
            <a:r>
              <a:rPr kumimoji="1" lang="zh-CN" altLang="en-US" sz="2300">
                <a:solidFill>
                  <a:srgbClr val="00004C"/>
                </a:solidFill>
                <a:latin typeface="Times New Roman" panose="02020603050405020304" pitchFamily="18" charset="0"/>
                <a:ea typeface="隶书" panose="02010509060101010101" pitchFamily="49" charset="-122"/>
              </a:rPr>
              <a:t>。</a:t>
            </a:r>
          </a:p>
        </p:txBody>
      </p:sp>
      <p:grpSp>
        <p:nvGrpSpPr>
          <p:cNvPr id="14339" name="Group 3"/>
          <p:cNvGrpSpPr/>
          <p:nvPr/>
        </p:nvGrpSpPr>
        <p:grpSpPr bwMode="auto">
          <a:xfrm>
            <a:off x="503238" y="476250"/>
            <a:ext cx="4248150" cy="2925763"/>
            <a:chOff x="1497" y="414"/>
            <a:chExt cx="2676" cy="1843"/>
          </a:xfrm>
        </p:grpSpPr>
        <p:sp>
          <p:nvSpPr>
            <p:cNvPr id="15376" name="Line 4"/>
            <p:cNvSpPr>
              <a:spLocks noChangeShapeType="1"/>
            </p:cNvSpPr>
            <p:nvPr/>
          </p:nvSpPr>
          <p:spPr bwMode="auto">
            <a:xfrm rot="5400000" flipV="1">
              <a:off x="2674" y="1210"/>
              <a:ext cx="0" cy="1878"/>
            </a:xfrm>
            <a:prstGeom prst="line">
              <a:avLst/>
            </a:prstGeom>
            <a:noFill/>
            <a:ln w="28575">
              <a:solidFill>
                <a:srgbClr val="0033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7" name="Text Box 5"/>
            <p:cNvSpPr txBox="1">
              <a:spLocks noChangeArrowheads="1"/>
            </p:cNvSpPr>
            <p:nvPr/>
          </p:nvSpPr>
          <p:spPr bwMode="auto">
            <a:xfrm>
              <a:off x="3599" y="2046"/>
              <a:ext cx="57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b="1" i="1">
                  <a:solidFill>
                    <a:srgbClr val="003300"/>
                  </a:solidFill>
                  <a:latin typeface="Times New Roman" panose="02020603050405020304" pitchFamily="18" charset="0"/>
                </a:rPr>
                <a:t>U</a:t>
              </a:r>
              <a:r>
                <a:rPr kumimoji="1" lang="en-US" altLang="zh-CN" b="1" baseline="-25000">
                  <a:solidFill>
                    <a:srgbClr val="003300"/>
                  </a:solidFill>
                  <a:latin typeface="Times New Roman" panose="02020603050405020304" pitchFamily="18" charset="0"/>
                </a:rPr>
                <a:t>CE </a:t>
              </a:r>
              <a:r>
                <a:rPr kumimoji="1" lang="en-US" altLang="zh-CN" b="1" i="1">
                  <a:solidFill>
                    <a:srgbClr val="003300"/>
                  </a:solidFill>
                  <a:latin typeface="Times New Roman" panose="02020603050405020304" pitchFamily="18" charset="0"/>
                </a:rPr>
                <a:t>/ </a:t>
              </a:r>
              <a:r>
                <a:rPr kumimoji="1" lang="en-US" altLang="zh-CN" b="1">
                  <a:solidFill>
                    <a:srgbClr val="003300"/>
                  </a:solidFill>
                  <a:latin typeface="Times New Roman" panose="02020603050405020304" pitchFamily="18" charset="0"/>
                </a:rPr>
                <a:t>V</a:t>
              </a:r>
            </a:p>
          </p:txBody>
        </p:sp>
        <p:sp>
          <p:nvSpPr>
            <p:cNvPr id="15378" name="Line 6"/>
            <p:cNvSpPr>
              <a:spLocks noChangeShapeType="1"/>
            </p:cNvSpPr>
            <p:nvPr/>
          </p:nvSpPr>
          <p:spPr bwMode="auto">
            <a:xfrm flipH="1" flipV="1">
              <a:off x="1726" y="548"/>
              <a:ext cx="5" cy="1591"/>
            </a:xfrm>
            <a:prstGeom prst="line">
              <a:avLst/>
            </a:prstGeom>
            <a:noFill/>
            <a:ln w="28575">
              <a:solidFill>
                <a:srgbClr val="0033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9" name="Text Box 7"/>
            <p:cNvSpPr txBox="1">
              <a:spLocks noChangeArrowheads="1"/>
            </p:cNvSpPr>
            <p:nvPr/>
          </p:nvSpPr>
          <p:spPr bwMode="auto">
            <a:xfrm>
              <a:off x="1497" y="414"/>
              <a:ext cx="55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b="1" i="1">
                  <a:solidFill>
                    <a:srgbClr val="003300"/>
                  </a:solidFill>
                  <a:latin typeface="Times New Roman" panose="02020603050405020304" pitchFamily="18" charset="0"/>
                </a:rPr>
                <a:t>I</a:t>
              </a:r>
              <a:r>
                <a:rPr kumimoji="1" lang="en-US" altLang="zh-CN" b="1" baseline="-25000">
                  <a:solidFill>
                    <a:srgbClr val="003300"/>
                  </a:solidFill>
                  <a:latin typeface="Times New Roman" panose="02020603050405020304" pitchFamily="18" charset="0"/>
                </a:rPr>
                <a:t>C </a:t>
              </a:r>
              <a:r>
                <a:rPr kumimoji="1" lang="en-US" altLang="zh-CN" b="1" i="1" baseline="-25000">
                  <a:solidFill>
                    <a:srgbClr val="003300"/>
                  </a:solidFill>
                  <a:latin typeface="Times New Roman" panose="02020603050405020304" pitchFamily="18" charset="0"/>
                </a:rPr>
                <a:t> </a:t>
              </a:r>
              <a:r>
                <a:rPr kumimoji="1" lang="en-US" altLang="zh-CN" b="1" i="1">
                  <a:solidFill>
                    <a:srgbClr val="003300"/>
                  </a:solidFill>
                  <a:latin typeface="Times New Roman" panose="02020603050405020304" pitchFamily="18" charset="0"/>
                </a:rPr>
                <a:t>/</a:t>
              </a:r>
              <a:r>
                <a:rPr kumimoji="1" lang="en-US" altLang="zh-CN" b="1">
                  <a:solidFill>
                    <a:srgbClr val="003300"/>
                  </a:solidFill>
                  <a:latin typeface="Times New Roman" panose="02020603050405020304" pitchFamily="18" charset="0"/>
                </a:rPr>
                <a:t>mA</a:t>
              </a:r>
            </a:p>
          </p:txBody>
        </p:sp>
        <p:sp>
          <p:nvSpPr>
            <p:cNvPr id="15380" name="Text Box 8"/>
            <p:cNvSpPr txBox="1">
              <a:spLocks noChangeArrowheads="1"/>
            </p:cNvSpPr>
            <p:nvPr/>
          </p:nvSpPr>
          <p:spPr bwMode="auto">
            <a:xfrm>
              <a:off x="1630" y="2066"/>
              <a:ext cx="210" cy="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a:solidFill>
                    <a:srgbClr val="003300"/>
                  </a:solidFill>
                  <a:latin typeface="Times New Roman" panose="02020603050405020304" pitchFamily="18" charset="0"/>
                </a:rPr>
                <a:t>0</a:t>
              </a:r>
            </a:p>
          </p:txBody>
        </p:sp>
        <p:sp>
          <p:nvSpPr>
            <p:cNvPr id="15381" name="Freeform 9"/>
            <p:cNvSpPr/>
            <p:nvPr/>
          </p:nvSpPr>
          <p:spPr bwMode="auto">
            <a:xfrm>
              <a:off x="1726" y="822"/>
              <a:ext cx="1013" cy="1340"/>
            </a:xfrm>
            <a:custGeom>
              <a:avLst/>
              <a:gdLst>
                <a:gd name="T0" fmla="*/ 0 w 954"/>
                <a:gd name="T1" fmla="*/ 1340 h 1158"/>
                <a:gd name="T2" fmla="*/ 229 w 954"/>
                <a:gd name="T3" fmla="*/ 139 h 1158"/>
                <a:gd name="T4" fmla="*/ 268 w 954"/>
                <a:gd name="T5" fmla="*/ 83 h 1158"/>
                <a:gd name="T6" fmla="*/ 344 w 954"/>
                <a:gd name="T7" fmla="*/ 35 h 1158"/>
                <a:gd name="T8" fmla="*/ 389 w 954"/>
                <a:gd name="T9" fmla="*/ 35 h 1158"/>
                <a:gd name="T10" fmla="*/ 478 w 954"/>
                <a:gd name="T11" fmla="*/ 28 h 1158"/>
                <a:gd name="T12" fmla="*/ 567 w 954"/>
                <a:gd name="T13" fmla="*/ 14 h 1158"/>
                <a:gd name="T14" fmla="*/ 650 w 954"/>
                <a:gd name="T15" fmla="*/ 14 h 1158"/>
                <a:gd name="T16" fmla="*/ 733 w 954"/>
                <a:gd name="T17" fmla="*/ 14 h 1158"/>
                <a:gd name="T18" fmla="*/ 1013 w 954"/>
                <a:gd name="T19" fmla="*/ 0 h 11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54" h="1158">
                  <a:moveTo>
                    <a:pt x="0" y="1158"/>
                  </a:moveTo>
                  <a:lnTo>
                    <a:pt x="216" y="120"/>
                  </a:lnTo>
                  <a:lnTo>
                    <a:pt x="252" y="72"/>
                  </a:lnTo>
                  <a:lnTo>
                    <a:pt x="324" y="30"/>
                  </a:lnTo>
                  <a:lnTo>
                    <a:pt x="366" y="30"/>
                  </a:lnTo>
                  <a:lnTo>
                    <a:pt x="450" y="24"/>
                  </a:lnTo>
                  <a:lnTo>
                    <a:pt x="534" y="12"/>
                  </a:lnTo>
                  <a:lnTo>
                    <a:pt x="612" y="12"/>
                  </a:lnTo>
                  <a:lnTo>
                    <a:pt x="690" y="12"/>
                  </a:lnTo>
                  <a:lnTo>
                    <a:pt x="954" y="0"/>
                  </a:lnTo>
                </a:path>
              </a:pathLst>
            </a:custGeom>
            <a:noFill/>
            <a:ln w="444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2" name="Text Box 10"/>
            <p:cNvSpPr txBox="1">
              <a:spLocks noChangeArrowheads="1"/>
            </p:cNvSpPr>
            <p:nvPr/>
          </p:nvSpPr>
          <p:spPr bwMode="auto">
            <a:xfrm>
              <a:off x="3129" y="1729"/>
              <a:ext cx="383" cy="146"/>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b="1">
                  <a:solidFill>
                    <a:srgbClr val="003300"/>
                  </a:solidFill>
                  <a:latin typeface="Times New Roman" panose="02020603050405020304" pitchFamily="18" charset="0"/>
                  <a:ea typeface="隶书" panose="02010509060101010101" pitchFamily="49" charset="-122"/>
                </a:rPr>
                <a:t>20 </a:t>
              </a:r>
              <a:r>
                <a:rPr kumimoji="1" lang="en-US" altLang="zh-CN" b="1">
                  <a:solidFill>
                    <a:srgbClr val="003300"/>
                  </a:solidFill>
                  <a:latin typeface="Times New Roman" panose="02020603050405020304" pitchFamily="18" charset="0"/>
                  <a:sym typeface="Symbol" panose="05050102010706020507" pitchFamily="18" charset="2"/>
                </a:rPr>
                <a:t>A</a:t>
              </a:r>
            </a:p>
          </p:txBody>
        </p:sp>
        <p:sp>
          <p:nvSpPr>
            <p:cNvPr id="15383" name="Text Box 11"/>
            <p:cNvSpPr txBox="1">
              <a:spLocks noChangeArrowheads="1"/>
            </p:cNvSpPr>
            <p:nvPr/>
          </p:nvSpPr>
          <p:spPr bwMode="auto">
            <a:xfrm>
              <a:off x="3175" y="1956"/>
              <a:ext cx="384" cy="147"/>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b="1" i="1">
                  <a:solidFill>
                    <a:srgbClr val="003300"/>
                  </a:solidFill>
                  <a:latin typeface="Times New Roman" panose="02020603050405020304" pitchFamily="18" charset="0"/>
                  <a:ea typeface="隶书" panose="02010509060101010101" pitchFamily="49" charset="-122"/>
                </a:rPr>
                <a:t>I</a:t>
              </a:r>
              <a:r>
                <a:rPr kumimoji="1" lang="en-US" altLang="zh-CN" b="1" baseline="-25000">
                  <a:solidFill>
                    <a:srgbClr val="003300"/>
                  </a:solidFill>
                  <a:latin typeface="Times New Roman" panose="02020603050405020304" pitchFamily="18" charset="0"/>
                  <a:ea typeface="隶书" panose="02010509060101010101" pitchFamily="49" charset="-122"/>
                </a:rPr>
                <a:t>B</a:t>
              </a:r>
              <a:r>
                <a:rPr kumimoji="1" lang="en-US" altLang="zh-CN" b="1">
                  <a:solidFill>
                    <a:srgbClr val="003300"/>
                  </a:solidFill>
                  <a:latin typeface="Times New Roman" panose="02020603050405020304" pitchFamily="18" charset="0"/>
                  <a:ea typeface="隶书" panose="02010509060101010101" pitchFamily="49" charset="-122"/>
                </a:rPr>
                <a:t>=0</a:t>
              </a:r>
            </a:p>
          </p:txBody>
        </p:sp>
        <p:sp>
          <p:nvSpPr>
            <p:cNvPr id="15384" name="Freeform 12"/>
            <p:cNvSpPr/>
            <p:nvPr/>
          </p:nvSpPr>
          <p:spPr bwMode="auto">
            <a:xfrm>
              <a:off x="1837" y="1321"/>
              <a:ext cx="1001" cy="210"/>
            </a:xfrm>
            <a:custGeom>
              <a:avLst/>
              <a:gdLst>
                <a:gd name="T0" fmla="*/ 0 w 885"/>
                <a:gd name="T1" fmla="*/ 210 h 181"/>
                <a:gd name="T2" fmla="*/ 52 w 885"/>
                <a:gd name="T3" fmla="*/ 79 h 181"/>
                <a:gd name="T4" fmla="*/ 206 w 885"/>
                <a:gd name="T5" fmla="*/ 27 h 181"/>
                <a:gd name="T6" fmla="*/ 463 w 885"/>
                <a:gd name="T7" fmla="*/ 27 h 181"/>
                <a:gd name="T8" fmla="*/ 1001 w 885"/>
                <a:gd name="T9" fmla="*/ 0 h 1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5" h="181">
                  <a:moveTo>
                    <a:pt x="0" y="181"/>
                  </a:moveTo>
                  <a:cubicBezTo>
                    <a:pt x="8" y="137"/>
                    <a:pt x="16" y="94"/>
                    <a:pt x="46" y="68"/>
                  </a:cubicBezTo>
                  <a:cubicBezTo>
                    <a:pt x="76" y="42"/>
                    <a:pt x="121" y="31"/>
                    <a:pt x="182" y="23"/>
                  </a:cubicBezTo>
                  <a:cubicBezTo>
                    <a:pt x="243" y="15"/>
                    <a:pt x="292" y="27"/>
                    <a:pt x="409" y="23"/>
                  </a:cubicBezTo>
                  <a:cubicBezTo>
                    <a:pt x="526" y="19"/>
                    <a:pt x="705" y="9"/>
                    <a:pt x="885" y="0"/>
                  </a:cubicBezTo>
                </a:path>
              </a:pathLst>
            </a:custGeom>
            <a:noFill/>
            <a:ln w="444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5" name="Freeform 13"/>
            <p:cNvSpPr/>
            <p:nvPr/>
          </p:nvSpPr>
          <p:spPr bwMode="auto">
            <a:xfrm>
              <a:off x="1791" y="1570"/>
              <a:ext cx="1103" cy="211"/>
            </a:xfrm>
            <a:custGeom>
              <a:avLst/>
              <a:gdLst>
                <a:gd name="T0" fmla="*/ 0 w 885"/>
                <a:gd name="T1" fmla="*/ 211 h 181"/>
                <a:gd name="T2" fmla="*/ 57 w 885"/>
                <a:gd name="T3" fmla="*/ 79 h 181"/>
                <a:gd name="T4" fmla="*/ 227 w 885"/>
                <a:gd name="T5" fmla="*/ 27 h 181"/>
                <a:gd name="T6" fmla="*/ 510 w 885"/>
                <a:gd name="T7" fmla="*/ 27 h 181"/>
                <a:gd name="T8" fmla="*/ 1103 w 885"/>
                <a:gd name="T9" fmla="*/ 0 h 1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5" h="181">
                  <a:moveTo>
                    <a:pt x="0" y="181"/>
                  </a:moveTo>
                  <a:cubicBezTo>
                    <a:pt x="8" y="137"/>
                    <a:pt x="16" y="94"/>
                    <a:pt x="46" y="68"/>
                  </a:cubicBezTo>
                  <a:cubicBezTo>
                    <a:pt x="76" y="42"/>
                    <a:pt x="121" y="31"/>
                    <a:pt x="182" y="23"/>
                  </a:cubicBezTo>
                  <a:cubicBezTo>
                    <a:pt x="243" y="15"/>
                    <a:pt x="292" y="27"/>
                    <a:pt x="409" y="23"/>
                  </a:cubicBezTo>
                  <a:cubicBezTo>
                    <a:pt x="526" y="19"/>
                    <a:pt x="705" y="9"/>
                    <a:pt x="885" y="0"/>
                  </a:cubicBezTo>
                </a:path>
              </a:pathLst>
            </a:custGeom>
            <a:noFill/>
            <a:ln w="444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6" name="Freeform 14"/>
            <p:cNvSpPr/>
            <p:nvPr/>
          </p:nvSpPr>
          <p:spPr bwMode="auto">
            <a:xfrm>
              <a:off x="1746" y="1797"/>
              <a:ext cx="1307" cy="264"/>
            </a:xfrm>
            <a:custGeom>
              <a:avLst/>
              <a:gdLst>
                <a:gd name="T0" fmla="*/ 0 w 885"/>
                <a:gd name="T1" fmla="*/ 264 h 181"/>
                <a:gd name="T2" fmla="*/ 68 w 885"/>
                <a:gd name="T3" fmla="*/ 99 h 181"/>
                <a:gd name="T4" fmla="*/ 269 w 885"/>
                <a:gd name="T5" fmla="*/ 34 h 181"/>
                <a:gd name="T6" fmla="*/ 604 w 885"/>
                <a:gd name="T7" fmla="*/ 34 h 181"/>
                <a:gd name="T8" fmla="*/ 1307 w 885"/>
                <a:gd name="T9" fmla="*/ 0 h 1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5" h="181">
                  <a:moveTo>
                    <a:pt x="0" y="181"/>
                  </a:moveTo>
                  <a:cubicBezTo>
                    <a:pt x="8" y="137"/>
                    <a:pt x="16" y="94"/>
                    <a:pt x="46" y="68"/>
                  </a:cubicBezTo>
                  <a:cubicBezTo>
                    <a:pt x="76" y="42"/>
                    <a:pt x="121" y="31"/>
                    <a:pt x="182" y="23"/>
                  </a:cubicBezTo>
                  <a:cubicBezTo>
                    <a:pt x="243" y="15"/>
                    <a:pt x="292" y="27"/>
                    <a:pt x="409" y="23"/>
                  </a:cubicBezTo>
                  <a:cubicBezTo>
                    <a:pt x="526" y="19"/>
                    <a:pt x="705" y="9"/>
                    <a:pt x="885" y="0"/>
                  </a:cubicBezTo>
                </a:path>
              </a:pathLst>
            </a:custGeom>
            <a:noFill/>
            <a:ln w="444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7" name="Freeform 15"/>
            <p:cNvSpPr/>
            <p:nvPr/>
          </p:nvSpPr>
          <p:spPr bwMode="auto">
            <a:xfrm>
              <a:off x="1723" y="2047"/>
              <a:ext cx="1412" cy="108"/>
            </a:xfrm>
            <a:custGeom>
              <a:avLst/>
              <a:gdLst>
                <a:gd name="T0" fmla="*/ 0 w 885"/>
                <a:gd name="T1" fmla="*/ 108 h 181"/>
                <a:gd name="T2" fmla="*/ 73 w 885"/>
                <a:gd name="T3" fmla="*/ 41 h 181"/>
                <a:gd name="T4" fmla="*/ 290 w 885"/>
                <a:gd name="T5" fmla="*/ 14 h 181"/>
                <a:gd name="T6" fmla="*/ 653 w 885"/>
                <a:gd name="T7" fmla="*/ 14 h 181"/>
                <a:gd name="T8" fmla="*/ 1412 w 885"/>
                <a:gd name="T9" fmla="*/ 0 h 1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5" h="181">
                  <a:moveTo>
                    <a:pt x="0" y="181"/>
                  </a:moveTo>
                  <a:cubicBezTo>
                    <a:pt x="8" y="137"/>
                    <a:pt x="16" y="94"/>
                    <a:pt x="46" y="68"/>
                  </a:cubicBezTo>
                  <a:cubicBezTo>
                    <a:pt x="76" y="42"/>
                    <a:pt x="121" y="31"/>
                    <a:pt x="182" y="23"/>
                  </a:cubicBezTo>
                  <a:cubicBezTo>
                    <a:pt x="243" y="15"/>
                    <a:pt x="292" y="27"/>
                    <a:pt x="409" y="23"/>
                  </a:cubicBezTo>
                  <a:cubicBezTo>
                    <a:pt x="526" y="19"/>
                    <a:pt x="705" y="9"/>
                    <a:pt x="885" y="0"/>
                  </a:cubicBezTo>
                </a:path>
              </a:pathLst>
            </a:custGeom>
            <a:noFill/>
            <a:ln w="444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8" name="Text Box 16"/>
            <p:cNvSpPr txBox="1">
              <a:spLocks noChangeArrowheads="1"/>
            </p:cNvSpPr>
            <p:nvPr/>
          </p:nvSpPr>
          <p:spPr bwMode="auto">
            <a:xfrm>
              <a:off x="2971" y="1480"/>
              <a:ext cx="420" cy="148"/>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b="1">
                  <a:solidFill>
                    <a:srgbClr val="003300"/>
                  </a:solidFill>
                  <a:latin typeface="Times New Roman" panose="02020603050405020304" pitchFamily="18" charset="0"/>
                  <a:ea typeface="隶书" panose="02010509060101010101" pitchFamily="49" charset="-122"/>
                </a:rPr>
                <a:t>40 </a:t>
              </a:r>
              <a:r>
                <a:rPr kumimoji="1" lang="en-US" altLang="zh-CN" b="1">
                  <a:solidFill>
                    <a:srgbClr val="003300"/>
                  </a:solidFill>
                  <a:latin typeface="Times New Roman" panose="02020603050405020304" pitchFamily="18" charset="0"/>
                  <a:sym typeface="Symbol" panose="05050102010706020507" pitchFamily="18" charset="2"/>
                </a:rPr>
                <a:t>A</a:t>
              </a:r>
            </a:p>
          </p:txBody>
        </p:sp>
        <p:sp>
          <p:nvSpPr>
            <p:cNvPr id="15389" name="Text Box 17"/>
            <p:cNvSpPr txBox="1">
              <a:spLocks noChangeArrowheads="1"/>
            </p:cNvSpPr>
            <p:nvPr/>
          </p:nvSpPr>
          <p:spPr bwMode="auto">
            <a:xfrm>
              <a:off x="2880" y="1230"/>
              <a:ext cx="532" cy="147"/>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b="1">
                  <a:solidFill>
                    <a:srgbClr val="003300"/>
                  </a:solidFill>
                  <a:latin typeface="Times New Roman" panose="02020603050405020304" pitchFamily="18" charset="0"/>
                  <a:ea typeface="隶书" panose="02010509060101010101" pitchFamily="49" charset="-122"/>
                </a:rPr>
                <a:t>60 </a:t>
              </a:r>
              <a:r>
                <a:rPr kumimoji="1" lang="en-US" altLang="zh-CN" b="1">
                  <a:solidFill>
                    <a:srgbClr val="003300"/>
                  </a:solidFill>
                  <a:latin typeface="Times New Roman" panose="02020603050405020304" pitchFamily="18" charset="0"/>
                  <a:sym typeface="Symbol" panose="05050102010706020507" pitchFamily="18" charset="2"/>
                </a:rPr>
                <a:t>A</a:t>
              </a:r>
            </a:p>
          </p:txBody>
        </p:sp>
        <p:sp>
          <p:nvSpPr>
            <p:cNvPr id="15390" name="Text Box 18"/>
            <p:cNvSpPr txBox="1">
              <a:spLocks noChangeArrowheads="1"/>
            </p:cNvSpPr>
            <p:nvPr/>
          </p:nvSpPr>
          <p:spPr bwMode="auto">
            <a:xfrm>
              <a:off x="2758" y="721"/>
              <a:ext cx="650" cy="147"/>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b="1" i="1">
                  <a:solidFill>
                    <a:srgbClr val="003300"/>
                  </a:solidFill>
                  <a:latin typeface="Times New Roman" panose="02020603050405020304" pitchFamily="18" charset="0"/>
                  <a:ea typeface="隶书" panose="02010509060101010101" pitchFamily="49" charset="-122"/>
                </a:rPr>
                <a:t>I</a:t>
              </a:r>
              <a:r>
                <a:rPr kumimoji="1" lang="en-US" altLang="zh-CN" b="1" baseline="-25000">
                  <a:solidFill>
                    <a:srgbClr val="003300"/>
                  </a:solidFill>
                  <a:latin typeface="Times New Roman" panose="02020603050405020304" pitchFamily="18" charset="0"/>
                  <a:ea typeface="隶书" panose="02010509060101010101" pitchFamily="49" charset="-122"/>
                </a:rPr>
                <a:t>B</a:t>
              </a:r>
              <a:r>
                <a:rPr kumimoji="1" lang="en-US" altLang="zh-CN" b="1">
                  <a:solidFill>
                    <a:srgbClr val="003300"/>
                  </a:solidFill>
                  <a:latin typeface="Times New Roman" panose="02020603050405020304" pitchFamily="18" charset="0"/>
                  <a:ea typeface="隶书" panose="02010509060101010101" pitchFamily="49" charset="-122"/>
                </a:rPr>
                <a:t>=100 </a:t>
              </a:r>
              <a:r>
                <a:rPr kumimoji="1" lang="en-US" altLang="zh-CN" b="1">
                  <a:solidFill>
                    <a:srgbClr val="003300"/>
                  </a:solidFill>
                  <a:latin typeface="Times New Roman" panose="02020603050405020304" pitchFamily="18" charset="0"/>
                  <a:sym typeface="Symbol" panose="05050102010706020507" pitchFamily="18" charset="2"/>
                </a:rPr>
                <a:t>A</a:t>
              </a:r>
            </a:p>
          </p:txBody>
        </p:sp>
        <p:sp>
          <p:nvSpPr>
            <p:cNvPr id="15391" name="Text Box 19"/>
            <p:cNvSpPr txBox="1">
              <a:spLocks noChangeArrowheads="1"/>
            </p:cNvSpPr>
            <p:nvPr/>
          </p:nvSpPr>
          <p:spPr bwMode="auto">
            <a:xfrm>
              <a:off x="2815" y="970"/>
              <a:ext cx="402" cy="147"/>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b="1">
                  <a:solidFill>
                    <a:srgbClr val="003300"/>
                  </a:solidFill>
                  <a:latin typeface="Times New Roman" panose="02020603050405020304" pitchFamily="18" charset="0"/>
                  <a:ea typeface="隶书" panose="02010509060101010101" pitchFamily="49" charset="-122"/>
                </a:rPr>
                <a:t>80 </a:t>
              </a:r>
              <a:r>
                <a:rPr kumimoji="1" lang="en-US" altLang="zh-CN" b="1">
                  <a:solidFill>
                    <a:srgbClr val="003300"/>
                  </a:solidFill>
                  <a:latin typeface="Times New Roman" panose="02020603050405020304" pitchFamily="18" charset="0"/>
                  <a:sym typeface="Symbol" panose="05050102010706020507" pitchFamily="18" charset="2"/>
                </a:rPr>
                <a:t>A</a:t>
              </a:r>
            </a:p>
          </p:txBody>
        </p:sp>
        <p:sp>
          <p:nvSpPr>
            <p:cNvPr id="15392" name="Freeform 20"/>
            <p:cNvSpPr/>
            <p:nvPr/>
          </p:nvSpPr>
          <p:spPr bwMode="auto">
            <a:xfrm>
              <a:off x="1905" y="1071"/>
              <a:ext cx="880" cy="210"/>
            </a:xfrm>
            <a:custGeom>
              <a:avLst/>
              <a:gdLst>
                <a:gd name="T0" fmla="*/ 0 w 885"/>
                <a:gd name="T1" fmla="*/ 210 h 181"/>
                <a:gd name="T2" fmla="*/ 46 w 885"/>
                <a:gd name="T3" fmla="*/ 79 h 181"/>
                <a:gd name="T4" fmla="*/ 181 w 885"/>
                <a:gd name="T5" fmla="*/ 27 h 181"/>
                <a:gd name="T6" fmla="*/ 407 w 885"/>
                <a:gd name="T7" fmla="*/ 27 h 181"/>
                <a:gd name="T8" fmla="*/ 880 w 885"/>
                <a:gd name="T9" fmla="*/ 0 h 1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5" h="181">
                  <a:moveTo>
                    <a:pt x="0" y="181"/>
                  </a:moveTo>
                  <a:cubicBezTo>
                    <a:pt x="8" y="137"/>
                    <a:pt x="16" y="94"/>
                    <a:pt x="46" y="68"/>
                  </a:cubicBezTo>
                  <a:cubicBezTo>
                    <a:pt x="76" y="42"/>
                    <a:pt x="121" y="31"/>
                    <a:pt x="182" y="23"/>
                  </a:cubicBezTo>
                  <a:cubicBezTo>
                    <a:pt x="243" y="15"/>
                    <a:pt x="292" y="27"/>
                    <a:pt x="409" y="23"/>
                  </a:cubicBezTo>
                  <a:cubicBezTo>
                    <a:pt x="526" y="19"/>
                    <a:pt x="705" y="9"/>
                    <a:pt x="885" y="0"/>
                  </a:cubicBezTo>
                </a:path>
              </a:pathLst>
            </a:custGeom>
            <a:noFill/>
            <a:ln w="444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3" name="Line 21"/>
            <p:cNvSpPr>
              <a:spLocks noChangeShapeType="1"/>
            </p:cNvSpPr>
            <p:nvPr/>
          </p:nvSpPr>
          <p:spPr bwMode="auto">
            <a:xfrm>
              <a:off x="1687" y="798"/>
              <a:ext cx="58"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4" name="Line 22"/>
            <p:cNvSpPr>
              <a:spLocks noChangeShapeType="1"/>
            </p:cNvSpPr>
            <p:nvPr/>
          </p:nvSpPr>
          <p:spPr bwMode="auto">
            <a:xfrm>
              <a:off x="1687" y="1469"/>
              <a:ext cx="58"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5" name="Line 23"/>
            <p:cNvSpPr>
              <a:spLocks noChangeShapeType="1"/>
            </p:cNvSpPr>
            <p:nvPr/>
          </p:nvSpPr>
          <p:spPr bwMode="auto">
            <a:xfrm>
              <a:off x="1687" y="1105"/>
              <a:ext cx="58"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6" name="Line 24"/>
            <p:cNvSpPr>
              <a:spLocks noChangeShapeType="1"/>
            </p:cNvSpPr>
            <p:nvPr/>
          </p:nvSpPr>
          <p:spPr bwMode="auto">
            <a:xfrm>
              <a:off x="1687" y="1815"/>
              <a:ext cx="58"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7" name="Line 25"/>
            <p:cNvSpPr>
              <a:spLocks noChangeShapeType="1"/>
            </p:cNvSpPr>
            <p:nvPr/>
          </p:nvSpPr>
          <p:spPr bwMode="auto">
            <a:xfrm>
              <a:off x="1687" y="1335"/>
              <a:ext cx="58"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8" name="Line 26"/>
            <p:cNvSpPr>
              <a:spLocks noChangeShapeType="1"/>
            </p:cNvSpPr>
            <p:nvPr/>
          </p:nvSpPr>
          <p:spPr bwMode="auto">
            <a:xfrm>
              <a:off x="1687" y="1641"/>
              <a:ext cx="58"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9" name="Text Box 27"/>
            <p:cNvSpPr txBox="1">
              <a:spLocks noChangeArrowheads="1"/>
            </p:cNvSpPr>
            <p:nvPr/>
          </p:nvSpPr>
          <p:spPr bwMode="auto">
            <a:xfrm>
              <a:off x="1611" y="740"/>
              <a:ext cx="134" cy="131"/>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1600" b="1">
                  <a:solidFill>
                    <a:srgbClr val="003300"/>
                  </a:solidFill>
                  <a:latin typeface="Times New Roman" panose="02020603050405020304" pitchFamily="18" charset="0"/>
                  <a:sym typeface="Symbol" panose="05050102010706020507" pitchFamily="18" charset="2"/>
                </a:rPr>
                <a:t>4</a:t>
              </a:r>
            </a:p>
          </p:txBody>
        </p:sp>
        <p:sp>
          <p:nvSpPr>
            <p:cNvPr id="15400" name="Text Box 28"/>
            <p:cNvSpPr txBox="1">
              <a:spLocks noChangeArrowheads="1"/>
            </p:cNvSpPr>
            <p:nvPr/>
          </p:nvSpPr>
          <p:spPr bwMode="auto">
            <a:xfrm>
              <a:off x="1611" y="1047"/>
              <a:ext cx="134" cy="131"/>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1600" b="1">
                  <a:solidFill>
                    <a:srgbClr val="003300"/>
                  </a:solidFill>
                  <a:latin typeface="Times New Roman" panose="02020603050405020304" pitchFamily="18" charset="0"/>
                  <a:sym typeface="Symbol" panose="05050102010706020507" pitchFamily="18" charset="2"/>
                </a:rPr>
                <a:t>3</a:t>
              </a:r>
            </a:p>
          </p:txBody>
        </p:sp>
        <p:sp>
          <p:nvSpPr>
            <p:cNvPr id="15401" name="Text Box 29"/>
            <p:cNvSpPr txBox="1">
              <a:spLocks noChangeArrowheads="1"/>
            </p:cNvSpPr>
            <p:nvPr/>
          </p:nvSpPr>
          <p:spPr bwMode="auto">
            <a:xfrm>
              <a:off x="1592" y="1411"/>
              <a:ext cx="134" cy="131"/>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1600" b="1">
                  <a:solidFill>
                    <a:srgbClr val="003300"/>
                  </a:solidFill>
                  <a:latin typeface="Times New Roman" panose="02020603050405020304" pitchFamily="18" charset="0"/>
                  <a:sym typeface="Symbol" panose="05050102010706020507" pitchFamily="18" charset="2"/>
                </a:rPr>
                <a:t>2</a:t>
              </a:r>
            </a:p>
          </p:txBody>
        </p:sp>
        <p:sp>
          <p:nvSpPr>
            <p:cNvPr id="15402" name="Text Box 30"/>
            <p:cNvSpPr txBox="1">
              <a:spLocks noChangeArrowheads="1"/>
            </p:cNvSpPr>
            <p:nvPr/>
          </p:nvSpPr>
          <p:spPr bwMode="auto">
            <a:xfrm>
              <a:off x="1573" y="1758"/>
              <a:ext cx="134" cy="130"/>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1600" b="1">
                  <a:solidFill>
                    <a:srgbClr val="003300"/>
                  </a:solidFill>
                  <a:latin typeface="Times New Roman" panose="02020603050405020304" pitchFamily="18" charset="0"/>
                  <a:sym typeface="Symbol" panose="05050102010706020507" pitchFamily="18" charset="2"/>
                </a:rPr>
                <a:t>1</a:t>
              </a:r>
            </a:p>
          </p:txBody>
        </p:sp>
        <p:sp>
          <p:nvSpPr>
            <p:cNvPr id="15403" name="Text Box 31"/>
            <p:cNvSpPr txBox="1">
              <a:spLocks noChangeArrowheads="1"/>
            </p:cNvSpPr>
            <p:nvPr/>
          </p:nvSpPr>
          <p:spPr bwMode="auto">
            <a:xfrm>
              <a:off x="1516" y="1603"/>
              <a:ext cx="193" cy="131"/>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1600" b="1">
                  <a:solidFill>
                    <a:srgbClr val="003300"/>
                  </a:solidFill>
                  <a:latin typeface="Times New Roman" panose="02020603050405020304" pitchFamily="18" charset="0"/>
                  <a:sym typeface="Symbol" panose="05050102010706020507" pitchFamily="18" charset="2"/>
                </a:rPr>
                <a:t>1.5</a:t>
              </a:r>
            </a:p>
          </p:txBody>
        </p:sp>
        <p:sp>
          <p:nvSpPr>
            <p:cNvPr id="15404" name="Text Box 32"/>
            <p:cNvSpPr txBox="1">
              <a:spLocks noChangeArrowheads="1"/>
            </p:cNvSpPr>
            <p:nvPr/>
          </p:nvSpPr>
          <p:spPr bwMode="auto">
            <a:xfrm>
              <a:off x="1535" y="1277"/>
              <a:ext cx="172" cy="131"/>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1600" b="1">
                  <a:solidFill>
                    <a:srgbClr val="003300"/>
                  </a:solidFill>
                  <a:latin typeface="Times New Roman" panose="02020603050405020304" pitchFamily="18" charset="0"/>
                  <a:sym typeface="Symbol" panose="05050102010706020507" pitchFamily="18" charset="2"/>
                </a:rPr>
                <a:t>2.3</a:t>
              </a:r>
            </a:p>
          </p:txBody>
        </p:sp>
      </p:grpSp>
      <p:sp>
        <p:nvSpPr>
          <p:cNvPr id="14369" name="Text Box 33"/>
          <p:cNvSpPr txBox="1">
            <a:spLocks noChangeArrowheads="1"/>
          </p:cNvSpPr>
          <p:nvPr/>
        </p:nvSpPr>
        <p:spPr bwMode="auto">
          <a:xfrm>
            <a:off x="684213" y="3465513"/>
            <a:ext cx="7966075" cy="701675"/>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300">
                <a:solidFill>
                  <a:srgbClr val="00004C"/>
                </a:solidFill>
                <a:latin typeface="Times New Roman" panose="02020603050405020304" pitchFamily="18" charset="0"/>
                <a:ea typeface="隶书" panose="02010509060101010101" pitchFamily="49" charset="-122"/>
              </a:rPr>
              <a:t>  </a:t>
            </a:r>
            <a:r>
              <a:rPr kumimoji="1" lang="zh-CN" altLang="en-US" sz="2300">
                <a:solidFill>
                  <a:srgbClr val="00004C"/>
                </a:solidFill>
                <a:latin typeface="Times New Roman" panose="02020603050405020304" pitchFamily="18" charset="0"/>
                <a:ea typeface="隶书" panose="02010509060101010101" pitchFamily="49" charset="-122"/>
              </a:rPr>
              <a:t>当</a:t>
            </a:r>
            <a:r>
              <a:rPr kumimoji="1" lang="en-US" altLang="zh-CN" sz="2300" i="1">
                <a:solidFill>
                  <a:srgbClr val="00004C"/>
                </a:solidFill>
                <a:latin typeface="Times New Roman" panose="02020603050405020304" pitchFamily="18" charset="0"/>
                <a:ea typeface="隶书" panose="02010509060101010101" pitchFamily="49" charset="-122"/>
              </a:rPr>
              <a:t>I</a:t>
            </a:r>
            <a:r>
              <a:rPr kumimoji="1" lang="en-US" altLang="zh-CN" sz="2300" baseline="-25000">
                <a:solidFill>
                  <a:srgbClr val="00004C"/>
                </a:solidFill>
                <a:latin typeface="Times New Roman" panose="02020603050405020304" pitchFamily="18" charset="0"/>
                <a:ea typeface="隶书" panose="02010509060101010101" pitchFamily="49" charset="-122"/>
              </a:rPr>
              <a:t>B</a:t>
            </a:r>
            <a:r>
              <a:rPr kumimoji="1" lang="zh-CN" altLang="en-US" sz="2300">
                <a:solidFill>
                  <a:srgbClr val="00004C"/>
                </a:solidFill>
                <a:latin typeface="Times New Roman" panose="02020603050405020304" pitchFamily="18" charset="0"/>
                <a:ea typeface="隶书" panose="02010509060101010101" pitchFamily="49" charset="-122"/>
              </a:rPr>
              <a:t>增大时，相应</a:t>
            </a:r>
            <a:r>
              <a:rPr kumimoji="1" lang="en-US" altLang="zh-CN" sz="2300" i="1">
                <a:solidFill>
                  <a:srgbClr val="00004C"/>
                </a:solidFill>
                <a:latin typeface="Times New Roman" panose="02020603050405020304" pitchFamily="18" charset="0"/>
                <a:ea typeface="隶书" panose="02010509060101010101" pitchFamily="49" charset="-122"/>
              </a:rPr>
              <a:t>I</a:t>
            </a:r>
            <a:r>
              <a:rPr kumimoji="1" lang="en-US" altLang="zh-CN" sz="2300" baseline="-25000">
                <a:solidFill>
                  <a:srgbClr val="00004C"/>
                </a:solidFill>
                <a:latin typeface="Times New Roman" panose="02020603050405020304" pitchFamily="18" charset="0"/>
                <a:ea typeface="隶书" panose="02010509060101010101" pitchFamily="49" charset="-122"/>
              </a:rPr>
              <a:t>C</a:t>
            </a:r>
            <a:r>
              <a:rPr kumimoji="1" lang="zh-CN" altLang="en-US" sz="2300">
                <a:solidFill>
                  <a:srgbClr val="00004C"/>
                </a:solidFill>
                <a:latin typeface="Times New Roman" panose="02020603050405020304" pitchFamily="18" charset="0"/>
                <a:ea typeface="隶书" panose="02010509060101010101" pitchFamily="49" charset="-122"/>
              </a:rPr>
              <a:t>也增大，输出特性曲线上移， 且</a:t>
            </a:r>
            <a:r>
              <a:rPr kumimoji="1" lang="en-US" altLang="zh-CN" sz="2300" i="1">
                <a:solidFill>
                  <a:srgbClr val="00004C"/>
                </a:solidFill>
                <a:latin typeface="Times New Roman" panose="02020603050405020304" pitchFamily="18" charset="0"/>
                <a:ea typeface="隶书" panose="02010509060101010101" pitchFamily="49" charset="-122"/>
                <a:sym typeface="Symbol" panose="05050102010706020507" pitchFamily="18" charset="2"/>
              </a:rPr>
              <a:t>I</a:t>
            </a:r>
            <a:r>
              <a:rPr kumimoji="1" lang="en-US" altLang="zh-CN" sz="2300" baseline="-25000">
                <a:solidFill>
                  <a:srgbClr val="00004C"/>
                </a:solidFill>
                <a:latin typeface="Times New Roman" panose="02020603050405020304" pitchFamily="18" charset="0"/>
                <a:ea typeface="隶书" panose="02010509060101010101" pitchFamily="49" charset="-122"/>
                <a:sym typeface="Symbol" panose="05050102010706020507" pitchFamily="18" charset="2"/>
              </a:rPr>
              <a:t>C</a:t>
            </a:r>
            <a:r>
              <a:rPr kumimoji="1" lang="zh-CN" altLang="en-US" sz="2300">
                <a:solidFill>
                  <a:srgbClr val="00004C"/>
                </a:solidFill>
                <a:latin typeface="Times New Roman" panose="02020603050405020304" pitchFamily="18" charset="0"/>
                <a:ea typeface="隶书" panose="02010509060101010101" pitchFamily="49" charset="-122"/>
              </a:rPr>
              <a:t>增大的幅度比对应</a:t>
            </a:r>
            <a:r>
              <a:rPr kumimoji="1" lang="en-US" altLang="zh-CN" sz="2300" i="1">
                <a:solidFill>
                  <a:srgbClr val="00004C"/>
                </a:solidFill>
                <a:latin typeface="Times New Roman" panose="02020603050405020304" pitchFamily="18" charset="0"/>
                <a:ea typeface="隶书" panose="02010509060101010101" pitchFamily="49" charset="-122"/>
                <a:sym typeface="Symbol" panose="05050102010706020507" pitchFamily="18" charset="2"/>
              </a:rPr>
              <a:t>I</a:t>
            </a:r>
            <a:r>
              <a:rPr kumimoji="1" lang="en-US" altLang="zh-CN" sz="2300" baseline="-25000">
                <a:solidFill>
                  <a:srgbClr val="00004C"/>
                </a:solidFill>
                <a:latin typeface="Times New Roman" panose="02020603050405020304" pitchFamily="18" charset="0"/>
                <a:ea typeface="隶书" panose="02010509060101010101" pitchFamily="49" charset="-122"/>
                <a:sym typeface="Symbol" panose="05050102010706020507" pitchFamily="18" charset="2"/>
              </a:rPr>
              <a:t>B</a:t>
            </a:r>
            <a:r>
              <a:rPr kumimoji="1" lang="zh-CN" altLang="en-US" sz="2300">
                <a:solidFill>
                  <a:srgbClr val="00004C"/>
                </a:solidFill>
                <a:latin typeface="Times New Roman" panose="02020603050405020304" pitchFamily="18" charset="0"/>
                <a:ea typeface="隶书" panose="02010509060101010101" pitchFamily="49" charset="-122"/>
              </a:rPr>
              <a:t>大得多。这一点正是晶体管的</a:t>
            </a:r>
            <a:r>
              <a:rPr kumimoji="1" lang="zh-CN" altLang="en-US" sz="2300">
                <a:solidFill>
                  <a:srgbClr val="AC2100"/>
                </a:solidFill>
                <a:latin typeface="Times New Roman" panose="02020603050405020304" pitchFamily="18" charset="0"/>
                <a:ea typeface="隶书" panose="02010509060101010101" pitchFamily="49" charset="-122"/>
              </a:rPr>
              <a:t>电流放大作用</a:t>
            </a:r>
            <a:r>
              <a:rPr kumimoji="1" lang="zh-CN" altLang="en-US" sz="2300">
                <a:solidFill>
                  <a:srgbClr val="00004C"/>
                </a:solidFill>
                <a:latin typeface="Times New Roman" panose="02020603050405020304" pitchFamily="18" charset="0"/>
                <a:ea typeface="隶书" panose="02010509060101010101" pitchFamily="49" charset="-122"/>
              </a:rPr>
              <a:t>。</a:t>
            </a:r>
          </a:p>
        </p:txBody>
      </p:sp>
      <p:sp>
        <p:nvSpPr>
          <p:cNvPr id="14370" name="Text Box 34"/>
          <p:cNvSpPr txBox="1">
            <a:spLocks noChangeArrowheads="1"/>
          </p:cNvSpPr>
          <p:nvPr/>
        </p:nvSpPr>
        <p:spPr bwMode="auto">
          <a:xfrm>
            <a:off x="788988" y="4221163"/>
            <a:ext cx="6629400" cy="350837"/>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zh-CN" altLang="en-US" sz="2300">
                <a:solidFill>
                  <a:srgbClr val="00004C"/>
                </a:solidFill>
                <a:latin typeface="隶书" panose="02010509060101010101" pitchFamily="49" charset="-122"/>
                <a:ea typeface="隶书" panose="02010509060101010101" pitchFamily="49" charset="-122"/>
              </a:rPr>
              <a:t>从输出特性曲线可求出三极管的电流放大系数</a:t>
            </a:r>
            <a:r>
              <a:rPr kumimoji="1" lang="el-GR" altLang="zh-CN" sz="2300">
                <a:solidFill>
                  <a:srgbClr val="00004C"/>
                </a:solidFill>
                <a:latin typeface="隶书" panose="02010509060101010101" pitchFamily="49" charset="-122"/>
                <a:ea typeface="隶书" panose="02010509060101010101" pitchFamily="49" charset="-122"/>
              </a:rPr>
              <a:t>β</a:t>
            </a:r>
            <a:r>
              <a:rPr kumimoji="1" lang="zh-CN" altLang="en-US" sz="2300">
                <a:solidFill>
                  <a:srgbClr val="00004C"/>
                </a:solidFill>
                <a:latin typeface="隶书" panose="02010509060101010101" pitchFamily="49" charset="-122"/>
                <a:ea typeface="隶书" panose="02010509060101010101" pitchFamily="49" charset="-122"/>
              </a:rPr>
              <a:t>。</a:t>
            </a:r>
          </a:p>
        </p:txBody>
      </p:sp>
      <p:grpSp>
        <p:nvGrpSpPr>
          <p:cNvPr id="14371" name="Group 35"/>
          <p:cNvGrpSpPr/>
          <p:nvPr/>
        </p:nvGrpSpPr>
        <p:grpSpPr bwMode="auto">
          <a:xfrm>
            <a:off x="1763713" y="1916113"/>
            <a:ext cx="1439862" cy="828675"/>
            <a:chOff x="1111" y="1230"/>
            <a:chExt cx="907" cy="499"/>
          </a:xfrm>
        </p:grpSpPr>
        <p:sp>
          <p:nvSpPr>
            <p:cNvPr id="15374" name="Line 36"/>
            <p:cNvSpPr>
              <a:spLocks noChangeShapeType="1"/>
            </p:cNvSpPr>
            <p:nvPr/>
          </p:nvSpPr>
          <p:spPr bwMode="auto">
            <a:xfrm rot="5400000">
              <a:off x="884" y="1480"/>
              <a:ext cx="499" cy="0"/>
            </a:xfrm>
            <a:prstGeom prst="line">
              <a:avLst/>
            </a:prstGeom>
            <a:noFill/>
            <a:ln w="28575">
              <a:solidFill>
                <a:srgbClr val="00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5" name="Text Box 37"/>
            <p:cNvSpPr txBox="1">
              <a:spLocks noChangeArrowheads="1"/>
            </p:cNvSpPr>
            <p:nvPr/>
          </p:nvSpPr>
          <p:spPr bwMode="auto">
            <a:xfrm>
              <a:off x="1111" y="1502"/>
              <a:ext cx="907" cy="174"/>
            </a:xfrm>
            <a:prstGeom prst="rect">
              <a:avLst/>
            </a:prstGeom>
            <a:noFill/>
            <a:ln>
              <a:noFill/>
            </a:ln>
            <a:effectLst/>
            <a:extLst>
              <a:ext uri="{909E8E84-426E-40DD-AFC4-6F175D3DCCD1}">
                <a14:hiddenFill xmlns:a14="http://schemas.microsoft.com/office/drawing/2010/main">
                  <a:gradFill rotWithShape="1">
                    <a:gsLst>
                      <a:gs pos="0">
                        <a:srgbClr val="FF9933">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l-GR" altLang="zh-CN" sz="2000" b="1">
                  <a:solidFill>
                    <a:srgbClr val="000066"/>
                  </a:solidFill>
                  <a:latin typeface="Times New Roman" panose="02020603050405020304" pitchFamily="18" charset="0"/>
                  <a:cs typeface="Times New Roman" panose="02020603050405020304" pitchFamily="18" charset="0"/>
                </a:rPr>
                <a:t>Δ</a:t>
              </a:r>
              <a:r>
                <a:rPr kumimoji="1" lang="en-US" altLang="zh-CN" sz="2000" b="1" i="1">
                  <a:solidFill>
                    <a:srgbClr val="000066"/>
                  </a:solidFill>
                  <a:latin typeface="Times New Roman" panose="02020603050405020304" pitchFamily="18" charset="0"/>
                </a:rPr>
                <a:t>I</a:t>
              </a:r>
              <a:r>
                <a:rPr kumimoji="1" lang="en-US" altLang="zh-CN" sz="2000" b="1" baseline="-25000">
                  <a:solidFill>
                    <a:srgbClr val="000066"/>
                  </a:solidFill>
                  <a:latin typeface="Times New Roman" panose="02020603050405020304" pitchFamily="18" charset="0"/>
                </a:rPr>
                <a:t>B</a:t>
              </a:r>
              <a:r>
                <a:rPr kumimoji="1" lang="en-US" altLang="zh-CN" sz="2000" b="1">
                  <a:solidFill>
                    <a:srgbClr val="000066"/>
                  </a:solidFill>
                  <a:latin typeface="Times New Roman" panose="02020603050405020304" pitchFamily="18" charset="0"/>
                </a:rPr>
                <a:t>=40 </a:t>
              </a:r>
              <a:r>
                <a:rPr kumimoji="1" lang="en-US" altLang="zh-CN" b="1">
                  <a:solidFill>
                    <a:srgbClr val="000066"/>
                  </a:solidFill>
                  <a:latin typeface="Times New Roman" panose="02020603050405020304" pitchFamily="18" charset="0"/>
                  <a:sym typeface="Symbol" panose="05050102010706020507" pitchFamily="18" charset="2"/>
                </a:rPr>
                <a:t>A</a:t>
              </a:r>
            </a:p>
          </p:txBody>
        </p:sp>
      </p:grpSp>
      <p:sp>
        <p:nvSpPr>
          <p:cNvPr id="14374" name="Text Box 38"/>
          <p:cNvSpPr txBox="1">
            <a:spLocks noChangeArrowheads="1"/>
          </p:cNvSpPr>
          <p:nvPr/>
        </p:nvSpPr>
        <p:spPr bwMode="auto">
          <a:xfrm>
            <a:off x="788988" y="4616450"/>
            <a:ext cx="7847012" cy="350838"/>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zh-CN" altLang="en-US" sz="2300">
                <a:solidFill>
                  <a:srgbClr val="00004C"/>
                </a:solidFill>
                <a:latin typeface="隶书" panose="02010509060101010101" pitchFamily="49" charset="-122"/>
                <a:ea typeface="隶书" panose="02010509060101010101" pitchFamily="49" charset="-122"/>
              </a:rPr>
              <a:t>取任意再两条特性曲线上的平坦段，读出其基极电流之差；</a:t>
            </a:r>
          </a:p>
        </p:txBody>
      </p:sp>
      <p:sp>
        <p:nvSpPr>
          <p:cNvPr id="14375" name="Text Box 39"/>
          <p:cNvSpPr txBox="1">
            <a:spLocks noChangeArrowheads="1"/>
          </p:cNvSpPr>
          <p:nvPr/>
        </p:nvSpPr>
        <p:spPr bwMode="auto">
          <a:xfrm>
            <a:off x="754063" y="5013325"/>
            <a:ext cx="7234237" cy="350838"/>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zh-CN" altLang="en-US" sz="2300">
                <a:solidFill>
                  <a:srgbClr val="00004C"/>
                </a:solidFill>
                <a:latin typeface="Times New Roman" panose="02020603050405020304" pitchFamily="18" charset="0"/>
                <a:ea typeface="隶书" panose="02010509060101010101" pitchFamily="49" charset="-122"/>
              </a:rPr>
              <a:t>再读出这两条曲线对应的集电极电流之差</a:t>
            </a:r>
            <a:r>
              <a:rPr kumimoji="1" lang="el-GR" altLang="zh-CN" sz="2300">
                <a:solidFill>
                  <a:srgbClr val="00004C"/>
                </a:solidFill>
                <a:latin typeface="Times New Roman" panose="02020603050405020304" pitchFamily="18" charset="0"/>
                <a:ea typeface="隶书" panose="02010509060101010101" pitchFamily="49" charset="-122"/>
                <a:cs typeface="Times New Roman" panose="02020603050405020304" pitchFamily="18" charset="0"/>
              </a:rPr>
              <a:t>Δ</a:t>
            </a:r>
            <a:r>
              <a:rPr kumimoji="1" lang="en-US" altLang="zh-CN" sz="2300" i="1">
                <a:solidFill>
                  <a:srgbClr val="00004C"/>
                </a:solidFill>
                <a:latin typeface="Times New Roman" panose="02020603050405020304" pitchFamily="18" charset="0"/>
                <a:ea typeface="隶书" panose="02010509060101010101" pitchFamily="49" charset="-122"/>
                <a:cs typeface="Times New Roman" panose="02020603050405020304" pitchFamily="18" charset="0"/>
              </a:rPr>
              <a:t>I</a:t>
            </a:r>
            <a:r>
              <a:rPr kumimoji="1" lang="en-US" altLang="zh-CN" sz="2300" baseline="-25000">
                <a:solidFill>
                  <a:srgbClr val="00004C"/>
                </a:solidFill>
                <a:latin typeface="Times New Roman" panose="02020603050405020304" pitchFamily="18" charset="0"/>
                <a:ea typeface="隶书" panose="02010509060101010101" pitchFamily="49" charset="-122"/>
                <a:cs typeface="Times New Roman" panose="02020603050405020304" pitchFamily="18" charset="0"/>
              </a:rPr>
              <a:t>C</a:t>
            </a:r>
            <a:r>
              <a:rPr kumimoji="1" lang="en-US" altLang="zh-CN" sz="2300">
                <a:solidFill>
                  <a:srgbClr val="00004C"/>
                </a:solidFill>
                <a:latin typeface="Times New Roman" panose="02020603050405020304" pitchFamily="18" charset="0"/>
                <a:ea typeface="隶书" panose="02010509060101010101" pitchFamily="49" charset="-122"/>
                <a:cs typeface="Times New Roman" panose="02020603050405020304" pitchFamily="18" charset="0"/>
              </a:rPr>
              <a:t>=1.3mA</a:t>
            </a:r>
            <a:r>
              <a:rPr kumimoji="1" lang="zh-CN" altLang="en-US" sz="2300">
                <a:solidFill>
                  <a:srgbClr val="00004C"/>
                </a:solidFill>
                <a:latin typeface="Times New Roman" panose="02020603050405020304" pitchFamily="18" charset="0"/>
                <a:ea typeface="隶书" panose="02010509060101010101" pitchFamily="49" charset="-122"/>
              </a:rPr>
              <a:t>；</a:t>
            </a:r>
          </a:p>
        </p:txBody>
      </p:sp>
      <p:sp>
        <p:nvSpPr>
          <p:cNvPr id="14376" name="Line 40"/>
          <p:cNvSpPr>
            <a:spLocks noChangeShapeType="1"/>
          </p:cNvSpPr>
          <p:nvPr/>
        </p:nvSpPr>
        <p:spPr bwMode="auto">
          <a:xfrm flipH="1">
            <a:off x="863600" y="1952625"/>
            <a:ext cx="936625" cy="36513"/>
          </a:xfrm>
          <a:prstGeom prst="line">
            <a:avLst/>
          </a:prstGeom>
          <a:noFill/>
          <a:ln w="19050">
            <a:solidFill>
              <a:srgbClr val="000066"/>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7" name="Line 41"/>
          <p:cNvSpPr>
            <a:spLocks noChangeShapeType="1"/>
          </p:cNvSpPr>
          <p:nvPr/>
        </p:nvSpPr>
        <p:spPr bwMode="auto">
          <a:xfrm flipH="1">
            <a:off x="827088" y="2708275"/>
            <a:ext cx="936625" cy="36513"/>
          </a:xfrm>
          <a:prstGeom prst="line">
            <a:avLst/>
          </a:prstGeom>
          <a:noFill/>
          <a:ln w="19050">
            <a:solidFill>
              <a:srgbClr val="000066"/>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8" name="AutoShape 42"/>
          <p:cNvSpPr/>
          <p:nvPr/>
        </p:nvSpPr>
        <p:spPr bwMode="auto">
          <a:xfrm>
            <a:off x="935038" y="1989138"/>
            <a:ext cx="180975" cy="719137"/>
          </a:xfrm>
          <a:prstGeom prst="rightBrace">
            <a:avLst>
              <a:gd name="adj1" fmla="val 33114"/>
              <a:gd name="adj2" fmla="val 50000"/>
            </a:avLst>
          </a:prstGeom>
          <a:noFill/>
          <a:ln w="28575">
            <a:solidFill>
              <a:srgbClr val="00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4379" name="Text Box 43"/>
          <p:cNvSpPr txBox="1">
            <a:spLocks noChangeArrowheads="1"/>
          </p:cNvSpPr>
          <p:nvPr/>
        </p:nvSpPr>
        <p:spPr bwMode="auto">
          <a:xfrm>
            <a:off x="1116013" y="2168525"/>
            <a:ext cx="720725" cy="347663"/>
          </a:xfrm>
          <a:prstGeom prst="rect">
            <a:avLst/>
          </a:prstGeom>
          <a:gradFill rotWithShape="1">
            <a:gsLst>
              <a:gs pos="0">
                <a:srgbClr val="8BFF8B">
                  <a:alpha val="62000"/>
                </a:srgbClr>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457200" indent="-457200" algn="ctr">
              <a:defRPr>
                <a:solidFill>
                  <a:schemeClr val="tx1"/>
                </a:solidFill>
                <a:latin typeface="Arial" panose="020B0604020202020204" pitchFamily="34" charset="0"/>
                <a:ea typeface="宋体" panose="02010600030101010101" pitchFamily="2" charset="-122"/>
              </a:defRPr>
            </a:lvl1pPr>
            <a:lvl2pPr marL="914400" indent="-457200" algn="ctr">
              <a:defRPr>
                <a:solidFill>
                  <a:schemeClr val="tx1"/>
                </a:solidFill>
                <a:latin typeface="Arial" panose="020B0604020202020204" pitchFamily="34" charset="0"/>
                <a:ea typeface="宋体" panose="02010600030101010101" pitchFamily="2" charset="-122"/>
              </a:defRPr>
            </a:lvl2pPr>
            <a:lvl3pPr marL="1371600" indent="-457200" algn="ctr">
              <a:defRPr>
                <a:solidFill>
                  <a:schemeClr val="tx1"/>
                </a:solidFill>
                <a:latin typeface="Arial" panose="020B0604020202020204" pitchFamily="34" charset="0"/>
                <a:ea typeface="宋体" panose="02010600030101010101" pitchFamily="2" charset="-122"/>
              </a:defRPr>
            </a:lvl3pPr>
            <a:lvl4pPr marL="1828800" indent="-457200" algn="ctr">
              <a:defRPr>
                <a:solidFill>
                  <a:schemeClr val="tx1"/>
                </a:solidFill>
                <a:latin typeface="Arial" panose="020B0604020202020204" pitchFamily="34" charset="0"/>
                <a:ea typeface="宋体" panose="02010600030101010101" pitchFamily="2" charset="-122"/>
              </a:defRPr>
            </a:lvl4pPr>
            <a:lvl5pPr marL="2286000" indent="-457200" algn="ctr">
              <a:defRPr>
                <a:solidFill>
                  <a:schemeClr val="tx1"/>
                </a:solidFill>
                <a:latin typeface="Arial" panose="020B0604020202020204" pitchFamily="34" charset="0"/>
                <a:ea typeface="宋体" panose="02010600030101010101" pitchFamily="2" charset="-122"/>
              </a:defRPr>
            </a:lvl5pPr>
            <a:lvl6pPr marL="2743200" indent="-4572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95000"/>
              </a:lnSpc>
            </a:pPr>
            <a:r>
              <a:rPr kumimoji="1" lang="el-GR" altLang="zh-CN" sz="2400" b="1">
                <a:solidFill>
                  <a:srgbClr val="003300"/>
                </a:solidFill>
                <a:latin typeface="Times New Roman" panose="02020603050405020304" pitchFamily="18" charset="0"/>
                <a:ea typeface="隶书" panose="02010509060101010101" pitchFamily="49" charset="-122"/>
                <a:cs typeface="Times New Roman" panose="02020603050405020304" pitchFamily="18" charset="0"/>
              </a:rPr>
              <a:t>Δ</a:t>
            </a:r>
            <a:r>
              <a:rPr kumimoji="1" lang="en-US" altLang="zh-CN" sz="2400" b="1" i="1">
                <a:solidFill>
                  <a:srgbClr val="003300"/>
                </a:solidFill>
                <a:latin typeface="Times New Roman" panose="02020603050405020304" pitchFamily="18" charset="0"/>
                <a:ea typeface="隶书" panose="02010509060101010101" pitchFamily="49" charset="-122"/>
                <a:cs typeface="Times New Roman" panose="02020603050405020304" pitchFamily="18" charset="0"/>
              </a:rPr>
              <a:t>I</a:t>
            </a:r>
            <a:r>
              <a:rPr kumimoji="1" lang="en-US" altLang="zh-CN" sz="2400" b="1" baseline="-25000">
                <a:solidFill>
                  <a:srgbClr val="003300"/>
                </a:solidFill>
                <a:latin typeface="Times New Roman" panose="02020603050405020304" pitchFamily="18" charset="0"/>
                <a:ea typeface="隶书" panose="02010509060101010101" pitchFamily="49" charset="-122"/>
                <a:cs typeface="Times New Roman" panose="02020603050405020304" pitchFamily="18" charset="0"/>
              </a:rPr>
              <a:t>C</a:t>
            </a:r>
            <a:endParaRPr kumimoji="1" lang="el-GR" altLang="zh-CN" sz="2400" b="1" baseline="-25000">
              <a:solidFill>
                <a:srgbClr val="003300"/>
              </a:solidFill>
              <a:latin typeface="Times New Roman" panose="02020603050405020304" pitchFamily="18" charset="0"/>
              <a:ea typeface="隶书" panose="02010509060101010101" pitchFamily="49" charset="-122"/>
              <a:cs typeface="Times New Roman" panose="02020603050405020304" pitchFamily="18" charset="0"/>
            </a:endParaRPr>
          </a:p>
        </p:txBody>
      </p:sp>
      <p:sp>
        <p:nvSpPr>
          <p:cNvPr id="14380" name="Text Box 44"/>
          <p:cNvSpPr txBox="1">
            <a:spLocks noChangeArrowheads="1"/>
          </p:cNvSpPr>
          <p:nvPr/>
        </p:nvSpPr>
        <p:spPr bwMode="auto">
          <a:xfrm>
            <a:off x="896938" y="5445125"/>
            <a:ext cx="6215062" cy="715963"/>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66">
                        <a:gamma/>
                        <a:tint val="0"/>
                        <a:invGamma/>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1" hangingPunct="1">
              <a:defRPr/>
            </a:pPr>
            <a:r>
              <a:rPr kumimoji="1" lang="zh-CN" altLang="en-US" sz="2300">
                <a:solidFill>
                  <a:srgbClr val="00004C"/>
                </a:solidFill>
                <a:latin typeface="Times New Roman" panose="02020603050405020304" pitchFamily="18" charset="0"/>
                <a:ea typeface="隶书" panose="02010509060101010101" pitchFamily="49" charset="-122"/>
              </a:rPr>
              <a:t>于是我们可得到三极管的</a:t>
            </a:r>
            <a:r>
              <a:rPr kumimoji="1" lang="zh-CN" altLang="en-US" sz="2300">
                <a:solidFill>
                  <a:srgbClr val="000048"/>
                </a:solidFill>
                <a:latin typeface="Times New Roman" panose="02020603050405020304" pitchFamily="18" charset="0"/>
                <a:ea typeface="隶书" panose="02010509060101010101" pitchFamily="49" charset="-122"/>
              </a:rPr>
              <a:t>电流放大倍数：</a:t>
            </a:r>
            <a:r>
              <a:rPr kumimoji="1" lang="zh-CN" altLang="en-US" sz="23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rPr>
              <a:t>                </a:t>
            </a:r>
          </a:p>
          <a:p>
            <a:pPr eaLnBrk="1" hangingPunct="1">
              <a:defRPr/>
            </a:pPr>
            <a:r>
              <a:rPr kumimoji="1" lang="zh-CN" altLang="en-US" sz="23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rPr>
              <a:t>                                </a:t>
            </a:r>
            <a:r>
              <a:rPr kumimoji="1" lang="el-GR" altLang="zh-CN" sz="2300" b="1">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β</a:t>
            </a:r>
            <a:r>
              <a:rPr kumimoji="1" lang="en-US" altLang="zh-CN" sz="2300" b="1">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a:t>
            </a:r>
            <a:r>
              <a:rPr kumimoji="1" lang="el-GR" altLang="zh-CN" sz="2300" b="1">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Times New Roman" panose="02020603050405020304" pitchFamily="18" charset="0"/>
              </a:rPr>
              <a:t>Δ</a:t>
            </a:r>
            <a:r>
              <a:rPr kumimoji="1" lang="en-US" altLang="zh-CN" sz="2300" b="1" i="1">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Times New Roman" panose="02020603050405020304" pitchFamily="18" charset="0"/>
              </a:rPr>
              <a:t>I</a:t>
            </a:r>
            <a:r>
              <a:rPr kumimoji="1" lang="en-US" altLang="zh-CN" sz="2300" b="1" baseline="-2500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Times New Roman" panose="02020603050405020304" pitchFamily="18" charset="0"/>
              </a:rPr>
              <a:t>C</a:t>
            </a:r>
            <a:r>
              <a:rPr kumimoji="1" lang="en-US" altLang="zh-CN" sz="2300" b="1">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Times New Roman" panose="02020603050405020304" pitchFamily="18" charset="0"/>
              </a:rPr>
              <a:t>/</a:t>
            </a:r>
            <a:r>
              <a:rPr kumimoji="1" lang="el-GR" altLang="zh-CN" sz="2300" b="1">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Times New Roman" panose="02020603050405020304" pitchFamily="18" charset="0"/>
              </a:rPr>
              <a:t>Δ</a:t>
            </a:r>
            <a:r>
              <a:rPr kumimoji="1" lang="en-US" altLang="zh-CN" sz="2300" b="1" i="1">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Times New Roman" panose="02020603050405020304" pitchFamily="18" charset="0"/>
              </a:rPr>
              <a:t>I</a:t>
            </a:r>
            <a:r>
              <a:rPr kumimoji="1" lang="en-US" altLang="zh-CN" sz="2300" b="1" baseline="-25000">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Times New Roman" panose="02020603050405020304" pitchFamily="18" charset="0"/>
              </a:rPr>
              <a:t>B</a:t>
            </a:r>
            <a:r>
              <a:rPr kumimoji="1" lang="en-US" altLang="zh-CN" sz="2300" b="1">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Times New Roman" panose="02020603050405020304" pitchFamily="18" charset="0"/>
              </a:rPr>
              <a:t>=1.3</a:t>
            </a:r>
            <a:r>
              <a:rPr kumimoji="1" lang="en-US" altLang="zh-CN" sz="2400" b="1">
                <a:solidFill>
                  <a:srgbClr val="FF3300"/>
                </a:solidFill>
                <a:effectLst>
                  <a:outerShdw blurRad="38100" dist="38100" dir="2700000" algn="tl">
                    <a:srgbClr val="C0C0C0"/>
                  </a:outerShdw>
                </a:effectLst>
                <a:latin typeface="Times New Roman" panose="02020603050405020304" pitchFamily="18" charset="0"/>
              </a:rPr>
              <a:t>÷</a:t>
            </a:r>
            <a:r>
              <a:rPr kumimoji="1" lang="en-US" altLang="zh-CN" sz="2300" b="1">
                <a:solidFill>
                  <a:srgbClr val="FF0000"/>
                </a:solidFill>
                <a:effectLst>
                  <a:outerShdw blurRad="38100" dist="38100" dir="2700000" algn="tl">
                    <a:srgbClr val="C0C0C0"/>
                  </a:outerShdw>
                </a:effectLst>
                <a:latin typeface="Times New Roman" panose="02020603050405020304" pitchFamily="18" charset="0"/>
                <a:ea typeface="隶书" panose="02010509060101010101" pitchFamily="49" charset="-122"/>
              </a:rPr>
              <a:t>0.04=32.5</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afterEffect">
                                  <p:stCondLst>
                                    <p:cond delay="0"/>
                                  </p:stCondLst>
                                  <p:childTnLst>
                                    <p:set>
                                      <p:cBhvr>
                                        <p:cTn id="6" dur="1" fill="hold">
                                          <p:stCondLst>
                                            <p:cond delay="0"/>
                                          </p:stCondLst>
                                        </p:cTn>
                                        <p:tgtEl>
                                          <p:spTgt spid="14339"/>
                                        </p:tgtEl>
                                        <p:attrNameLst>
                                          <p:attrName>style.visibility</p:attrName>
                                        </p:attrNameLst>
                                      </p:cBhvr>
                                      <p:to>
                                        <p:strVal val="visible"/>
                                      </p:to>
                                    </p:set>
                                    <p:animEffect transition="in" filter="wedge">
                                      <p:cBhvr>
                                        <p:cTn id="7" dur="500"/>
                                        <p:tgtEl>
                                          <p:spTgt spid="14339"/>
                                        </p:tgtEl>
                                      </p:cBhvr>
                                    </p:animEffect>
                                  </p:childTnLst>
                                </p:cTn>
                              </p:par>
                            </p:childTnLst>
                          </p:cTn>
                        </p:par>
                      </p:childTnLst>
                    </p:cTn>
                  </p:par>
                  <p:par>
                    <p:cTn id="8" fill="hold">
                      <p:stCondLst>
                        <p:cond delay="indefinite"/>
                      </p:stCondLst>
                      <p:childTnLst>
                        <p:par>
                          <p:cTn id="9" fill="hold">
                            <p:stCondLst>
                              <p:cond delay="0"/>
                            </p:stCondLst>
                            <p:childTnLst>
                              <p:par>
                                <p:cTn id="10" presetID="56" presetClass="entr" presetSubtype="0" fill="hold" grpId="0" nodeType="clickEffect">
                                  <p:stCondLst>
                                    <p:cond delay="0"/>
                                  </p:stCondLst>
                                  <p:iterate type="lt">
                                    <p:tmPct val="10000"/>
                                  </p:iterate>
                                  <p:childTnLst>
                                    <p:set>
                                      <p:cBhvr>
                                        <p:cTn id="11" dur="1" fill="hold">
                                          <p:stCondLst>
                                            <p:cond delay="0"/>
                                          </p:stCondLst>
                                        </p:cTn>
                                        <p:tgtEl>
                                          <p:spTgt spid="14338"/>
                                        </p:tgtEl>
                                        <p:attrNameLst>
                                          <p:attrName>style.visibility</p:attrName>
                                        </p:attrNameLst>
                                      </p:cBhvr>
                                      <p:to>
                                        <p:strVal val="visible"/>
                                      </p:to>
                                    </p:set>
                                    <p:anim by="(-#ppt_w*2)" calcmode="lin" valueType="num">
                                      <p:cBhvr rctx="PPT">
                                        <p:cTn id="12" dur="500" autoRev="1" fill="hold">
                                          <p:stCondLst>
                                            <p:cond delay="0"/>
                                          </p:stCondLst>
                                        </p:cTn>
                                        <p:tgtEl>
                                          <p:spTgt spid="14338"/>
                                        </p:tgtEl>
                                        <p:attrNameLst>
                                          <p:attrName>ppt_w</p:attrName>
                                        </p:attrNameLst>
                                      </p:cBhvr>
                                    </p:anim>
                                    <p:anim by="(#ppt_w*0.50)" calcmode="lin" valueType="num">
                                      <p:cBhvr>
                                        <p:cTn id="13" dur="500" decel="50000" autoRev="1" fill="hold">
                                          <p:stCondLst>
                                            <p:cond delay="0"/>
                                          </p:stCondLst>
                                        </p:cTn>
                                        <p:tgtEl>
                                          <p:spTgt spid="14338"/>
                                        </p:tgtEl>
                                        <p:attrNameLst>
                                          <p:attrName>ppt_x</p:attrName>
                                        </p:attrNameLst>
                                      </p:cBhvr>
                                    </p:anim>
                                    <p:anim from="(-#ppt_h/2)" to="(#ppt_y)" calcmode="lin" valueType="num">
                                      <p:cBhvr>
                                        <p:cTn id="14" dur="1000" fill="hold">
                                          <p:stCondLst>
                                            <p:cond delay="0"/>
                                          </p:stCondLst>
                                        </p:cTn>
                                        <p:tgtEl>
                                          <p:spTgt spid="14338"/>
                                        </p:tgtEl>
                                        <p:attrNameLst>
                                          <p:attrName>ppt_y</p:attrName>
                                        </p:attrNameLst>
                                      </p:cBhvr>
                                    </p:anim>
                                    <p:animRot by="21600000">
                                      <p:cBhvr>
                                        <p:cTn id="15" dur="1000" fill="hold">
                                          <p:stCondLst>
                                            <p:cond delay="0"/>
                                          </p:stCondLst>
                                        </p:cTn>
                                        <p:tgtEl>
                                          <p:spTgt spid="14338"/>
                                        </p:tgtEl>
                                        <p:attrNameLst>
                                          <p:attrName>r</p:attrName>
                                        </p:attrNameLst>
                                      </p:cBhvr>
                                    </p:animRot>
                                  </p:childTnLst>
                                </p:cTn>
                              </p:par>
                            </p:childTnLst>
                          </p:cTn>
                        </p:par>
                      </p:childTnLst>
                    </p:cTn>
                  </p:par>
                  <p:par>
                    <p:cTn id="16" fill="hold">
                      <p:stCondLst>
                        <p:cond delay="indefinite"/>
                      </p:stCondLst>
                      <p:childTnLst>
                        <p:par>
                          <p:cTn id="17" fill="hold">
                            <p:stCondLst>
                              <p:cond delay="0"/>
                            </p:stCondLst>
                            <p:childTnLst>
                              <p:par>
                                <p:cTn id="18" presetID="38" presetClass="entr" presetSubtype="0" accel="50000" fill="hold" grpId="0" nodeType="clickEffect">
                                  <p:stCondLst>
                                    <p:cond delay="0"/>
                                  </p:stCondLst>
                                  <p:iterate type="lt">
                                    <p:tmPct val="50000"/>
                                  </p:iterate>
                                  <p:childTnLst>
                                    <p:set>
                                      <p:cBhvr>
                                        <p:cTn id="19" dur="1" fill="hold">
                                          <p:stCondLst>
                                            <p:cond delay="0"/>
                                          </p:stCondLst>
                                        </p:cTn>
                                        <p:tgtEl>
                                          <p:spTgt spid="14369"/>
                                        </p:tgtEl>
                                        <p:attrNameLst>
                                          <p:attrName>style.visibility</p:attrName>
                                        </p:attrNameLst>
                                      </p:cBhvr>
                                      <p:to>
                                        <p:strVal val="visible"/>
                                      </p:to>
                                    </p:set>
                                    <p:set>
                                      <p:cBhvr>
                                        <p:cTn id="20" dur="228" fill="hold">
                                          <p:stCondLst>
                                            <p:cond delay="0"/>
                                          </p:stCondLst>
                                        </p:cTn>
                                        <p:tgtEl>
                                          <p:spTgt spid="14369"/>
                                        </p:tgtEl>
                                        <p:attrNameLst>
                                          <p:attrName>style.rotation</p:attrName>
                                        </p:attrNameLst>
                                      </p:cBhvr>
                                      <p:to>
                                        <p:strVal val="-45.0"/>
                                      </p:to>
                                    </p:set>
                                    <p:anim calcmode="lin" valueType="num">
                                      <p:cBhvr>
                                        <p:cTn id="21" dur="228" fill="hold">
                                          <p:stCondLst>
                                            <p:cond delay="228"/>
                                          </p:stCondLst>
                                        </p:cTn>
                                        <p:tgtEl>
                                          <p:spTgt spid="14369"/>
                                        </p:tgtEl>
                                        <p:attrNameLst>
                                          <p:attrName>style.rotation</p:attrName>
                                        </p:attrNameLst>
                                      </p:cBhvr>
                                      <p:tavLst>
                                        <p:tav tm="0">
                                          <p:val>
                                            <p:fltVal val="-45"/>
                                          </p:val>
                                        </p:tav>
                                        <p:tav tm="69900">
                                          <p:val>
                                            <p:fltVal val="45"/>
                                          </p:val>
                                        </p:tav>
                                        <p:tav tm="100000">
                                          <p:val>
                                            <p:fltVal val="0"/>
                                          </p:val>
                                        </p:tav>
                                      </p:tavLst>
                                    </p:anim>
                                    <p:anim calcmode="lin" valueType="num">
                                      <p:cBhvr>
                                        <p:cTn id="22" dur="228" fill="hold">
                                          <p:stCondLst>
                                            <p:cond delay="0"/>
                                          </p:stCondLst>
                                        </p:cTn>
                                        <p:tgtEl>
                                          <p:spTgt spid="14369"/>
                                        </p:tgtEl>
                                        <p:attrNameLst>
                                          <p:attrName>ppt_y</p:attrName>
                                        </p:attrNameLst>
                                      </p:cBhvr>
                                      <p:tavLst>
                                        <p:tav tm="0">
                                          <p:val>
                                            <p:strVal val="#ppt_y-1"/>
                                          </p:val>
                                        </p:tav>
                                        <p:tav tm="100000">
                                          <p:val>
                                            <p:strVal val="#ppt_y-(0.354*#ppt_w-0.172*#ppt_h)"/>
                                          </p:val>
                                        </p:tav>
                                      </p:tavLst>
                                    </p:anim>
                                    <p:anim calcmode="lin" valueType="num">
                                      <p:cBhvr>
                                        <p:cTn id="23" dur="78" decel="50000" autoRev="1" fill="hold">
                                          <p:stCondLst>
                                            <p:cond delay="228"/>
                                          </p:stCondLst>
                                        </p:cTn>
                                        <p:tgtEl>
                                          <p:spTgt spid="14369"/>
                                        </p:tgtEl>
                                        <p:attrNameLst>
                                          <p:attrName>ppt_y</p:attrName>
                                        </p:attrNameLst>
                                      </p:cBhvr>
                                      <p:tavLst>
                                        <p:tav tm="0">
                                          <p:val>
                                            <p:strVal val="#ppt_y-(0.354*#ppt_w-0.172*#ppt_h)"/>
                                          </p:val>
                                        </p:tav>
                                        <p:tav tm="100000">
                                          <p:val>
                                            <p:strVal val="#ppt_y-(0.354*#ppt_w-0.172*#ppt_h)-#ppt_h/2"/>
                                          </p:val>
                                        </p:tav>
                                      </p:tavLst>
                                    </p:anim>
                                    <p:anim calcmode="lin" valueType="num">
                                      <p:cBhvr>
                                        <p:cTn id="24" dur="68" fill="hold">
                                          <p:stCondLst>
                                            <p:cond delay="432"/>
                                          </p:stCondLst>
                                        </p:cTn>
                                        <p:tgtEl>
                                          <p:spTgt spid="14369"/>
                                        </p:tgtEl>
                                        <p:attrNameLst>
                                          <p:attrName>ppt_y</p:attrName>
                                        </p:attrNameLst>
                                      </p:cBhvr>
                                      <p:tavLst>
                                        <p:tav tm="0">
                                          <p:val>
                                            <p:strVal val="#ppt_y-(0.354*#ppt_w-0.172*#ppt_h)"/>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4370"/>
                                        </p:tgtEl>
                                        <p:attrNameLst>
                                          <p:attrName>style.visibility</p:attrName>
                                        </p:attrNameLst>
                                      </p:cBhvr>
                                      <p:to>
                                        <p:strVal val="visible"/>
                                      </p:to>
                                    </p:set>
                                    <p:animEffect transition="in" filter="wipe(left)">
                                      <p:cBhvr>
                                        <p:cTn id="29" dur="2000"/>
                                        <p:tgtEl>
                                          <p:spTgt spid="1437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4374"/>
                                        </p:tgtEl>
                                        <p:attrNameLst>
                                          <p:attrName>style.visibility</p:attrName>
                                        </p:attrNameLst>
                                      </p:cBhvr>
                                      <p:to>
                                        <p:strVal val="visible"/>
                                      </p:to>
                                    </p:set>
                                    <p:animEffect transition="in" filter="wipe(left)">
                                      <p:cBhvr>
                                        <p:cTn id="34" dur="2000"/>
                                        <p:tgtEl>
                                          <p:spTgt spid="14374"/>
                                        </p:tgtEl>
                                      </p:cBhvr>
                                    </p:animEffect>
                                  </p:childTnLst>
                                </p:cTn>
                              </p:par>
                            </p:childTnLst>
                          </p:cTn>
                        </p:par>
                        <p:par>
                          <p:cTn id="35" fill="hold">
                            <p:stCondLst>
                              <p:cond delay="2000"/>
                            </p:stCondLst>
                            <p:childTnLst>
                              <p:par>
                                <p:cTn id="36" presetID="16" presetClass="entr" presetSubtype="42" fill="hold" nodeType="afterEffect">
                                  <p:stCondLst>
                                    <p:cond delay="0"/>
                                  </p:stCondLst>
                                  <p:childTnLst>
                                    <p:set>
                                      <p:cBhvr>
                                        <p:cTn id="37" dur="1" fill="hold">
                                          <p:stCondLst>
                                            <p:cond delay="0"/>
                                          </p:stCondLst>
                                        </p:cTn>
                                        <p:tgtEl>
                                          <p:spTgt spid="14371"/>
                                        </p:tgtEl>
                                        <p:attrNameLst>
                                          <p:attrName>style.visibility</p:attrName>
                                        </p:attrNameLst>
                                      </p:cBhvr>
                                      <p:to>
                                        <p:strVal val="visible"/>
                                      </p:to>
                                    </p:set>
                                    <p:animEffect transition="in" filter="barn(outHorizontal)">
                                      <p:cBhvr>
                                        <p:cTn id="38" dur="2000"/>
                                        <p:tgtEl>
                                          <p:spTgt spid="1437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4375"/>
                                        </p:tgtEl>
                                        <p:attrNameLst>
                                          <p:attrName>style.visibility</p:attrName>
                                        </p:attrNameLst>
                                      </p:cBhvr>
                                      <p:to>
                                        <p:strVal val="visible"/>
                                      </p:to>
                                    </p:set>
                                    <p:animEffect transition="in" filter="wipe(left)">
                                      <p:cBhvr>
                                        <p:cTn id="43" dur="2000"/>
                                        <p:tgtEl>
                                          <p:spTgt spid="14375"/>
                                        </p:tgtEl>
                                      </p:cBhvr>
                                    </p:animEffect>
                                  </p:childTnLst>
                                </p:cTn>
                              </p:par>
                            </p:childTnLst>
                          </p:cTn>
                        </p:par>
                        <p:par>
                          <p:cTn id="44" fill="hold">
                            <p:stCondLst>
                              <p:cond delay="2000"/>
                            </p:stCondLst>
                            <p:childTnLst>
                              <p:par>
                                <p:cTn id="45" presetID="12" presetClass="entr" presetSubtype="2" fill="hold" grpId="0" nodeType="afterEffect">
                                  <p:stCondLst>
                                    <p:cond delay="0"/>
                                  </p:stCondLst>
                                  <p:childTnLst>
                                    <p:set>
                                      <p:cBhvr>
                                        <p:cTn id="46" dur="1" fill="hold">
                                          <p:stCondLst>
                                            <p:cond delay="0"/>
                                          </p:stCondLst>
                                        </p:cTn>
                                        <p:tgtEl>
                                          <p:spTgt spid="14376"/>
                                        </p:tgtEl>
                                        <p:attrNameLst>
                                          <p:attrName>style.visibility</p:attrName>
                                        </p:attrNameLst>
                                      </p:cBhvr>
                                      <p:to>
                                        <p:strVal val="visible"/>
                                      </p:to>
                                    </p:set>
                                    <p:animEffect transition="in" filter="slide(fromRight)">
                                      <p:cBhvr>
                                        <p:cTn id="47" dur="1000"/>
                                        <p:tgtEl>
                                          <p:spTgt spid="14376"/>
                                        </p:tgtEl>
                                      </p:cBhvr>
                                    </p:animEffect>
                                  </p:childTnLst>
                                </p:cTn>
                              </p:par>
                            </p:childTnLst>
                          </p:cTn>
                        </p:par>
                        <p:par>
                          <p:cTn id="48" fill="hold">
                            <p:stCondLst>
                              <p:cond delay="3000"/>
                            </p:stCondLst>
                            <p:childTnLst>
                              <p:par>
                                <p:cTn id="49" presetID="12" presetClass="entr" presetSubtype="2" fill="hold" grpId="0" nodeType="afterEffect">
                                  <p:stCondLst>
                                    <p:cond delay="0"/>
                                  </p:stCondLst>
                                  <p:childTnLst>
                                    <p:set>
                                      <p:cBhvr>
                                        <p:cTn id="50" dur="1" fill="hold">
                                          <p:stCondLst>
                                            <p:cond delay="0"/>
                                          </p:stCondLst>
                                        </p:cTn>
                                        <p:tgtEl>
                                          <p:spTgt spid="14377"/>
                                        </p:tgtEl>
                                        <p:attrNameLst>
                                          <p:attrName>style.visibility</p:attrName>
                                        </p:attrNameLst>
                                      </p:cBhvr>
                                      <p:to>
                                        <p:strVal val="visible"/>
                                      </p:to>
                                    </p:set>
                                    <p:animEffect transition="in" filter="slide(fromRight)">
                                      <p:cBhvr>
                                        <p:cTn id="51" dur="1000"/>
                                        <p:tgtEl>
                                          <p:spTgt spid="14377"/>
                                        </p:tgtEl>
                                      </p:cBhvr>
                                    </p:animEffect>
                                  </p:childTnLst>
                                </p:cTn>
                              </p:par>
                            </p:childTnLst>
                          </p:cTn>
                        </p:par>
                        <p:par>
                          <p:cTn id="52" fill="hold">
                            <p:stCondLst>
                              <p:cond delay="4000"/>
                            </p:stCondLst>
                            <p:childTnLst>
                              <p:par>
                                <p:cTn id="53" presetID="16" presetClass="entr" presetSubtype="26" fill="hold" grpId="0" nodeType="afterEffect">
                                  <p:stCondLst>
                                    <p:cond delay="0"/>
                                  </p:stCondLst>
                                  <p:childTnLst>
                                    <p:set>
                                      <p:cBhvr>
                                        <p:cTn id="54" dur="1" fill="hold">
                                          <p:stCondLst>
                                            <p:cond delay="0"/>
                                          </p:stCondLst>
                                        </p:cTn>
                                        <p:tgtEl>
                                          <p:spTgt spid="14378"/>
                                        </p:tgtEl>
                                        <p:attrNameLst>
                                          <p:attrName>style.visibility</p:attrName>
                                        </p:attrNameLst>
                                      </p:cBhvr>
                                      <p:to>
                                        <p:strVal val="visible"/>
                                      </p:to>
                                    </p:set>
                                    <p:animEffect transition="in" filter="barn(inHorizontal)">
                                      <p:cBhvr>
                                        <p:cTn id="55" dur="1000"/>
                                        <p:tgtEl>
                                          <p:spTgt spid="14378"/>
                                        </p:tgtEl>
                                      </p:cBhvr>
                                    </p:animEffect>
                                  </p:childTnLst>
                                </p:cTn>
                              </p:par>
                            </p:childTnLst>
                          </p:cTn>
                        </p:par>
                        <p:par>
                          <p:cTn id="56" fill="hold">
                            <p:stCondLst>
                              <p:cond delay="5000"/>
                            </p:stCondLst>
                            <p:childTnLst>
                              <p:par>
                                <p:cTn id="57" presetID="51" presetClass="entr" presetSubtype="0" fill="hold" grpId="0" nodeType="afterEffect">
                                  <p:stCondLst>
                                    <p:cond delay="0"/>
                                  </p:stCondLst>
                                  <p:childTnLst>
                                    <p:set>
                                      <p:cBhvr>
                                        <p:cTn id="58" dur="1" fill="hold">
                                          <p:stCondLst>
                                            <p:cond delay="0"/>
                                          </p:stCondLst>
                                        </p:cTn>
                                        <p:tgtEl>
                                          <p:spTgt spid="14379"/>
                                        </p:tgtEl>
                                        <p:attrNameLst>
                                          <p:attrName>style.visibility</p:attrName>
                                        </p:attrNameLst>
                                      </p:cBhvr>
                                      <p:to>
                                        <p:strVal val="visible"/>
                                      </p:to>
                                    </p:set>
                                    <p:animEffect transition="in" filter="fade">
                                      <p:cBhvr>
                                        <p:cTn id="59" dur="385" decel="100000"/>
                                        <p:tgtEl>
                                          <p:spTgt spid="14379"/>
                                        </p:tgtEl>
                                      </p:cBhvr>
                                    </p:animEffect>
                                    <p:animScale>
                                      <p:cBhvr>
                                        <p:cTn id="60" dur="385" decel="100000"/>
                                        <p:tgtEl>
                                          <p:spTgt spid="14379"/>
                                        </p:tgtEl>
                                      </p:cBhvr>
                                      <p:from x="10000" y="10000"/>
                                      <p:to x="200000" y="450000"/>
                                    </p:animScale>
                                    <p:animScale>
                                      <p:cBhvr>
                                        <p:cTn id="61" dur="615" accel="100000" fill="hold">
                                          <p:stCondLst>
                                            <p:cond delay="385"/>
                                          </p:stCondLst>
                                        </p:cTn>
                                        <p:tgtEl>
                                          <p:spTgt spid="14379"/>
                                        </p:tgtEl>
                                      </p:cBhvr>
                                      <p:from x="200000" y="450000"/>
                                      <p:to x="100000" y="100000"/>
                                    </p:animScale>
                                    <p:set>
                                      <p:cBhvr>
                                        <p:cTn id="62" dur="385" fill="hold"/>
                                        <p:tgtEl>
                                          <p:spTgt spid="14379"/>
                                        </p:tgtEl>
                                        <p:attrNameLst>
                                          <p:attrName>ppt_x</p:attrName>
                                        </p:attrNameLst>
                                      </p:cBhvr>
                                      <p:to>
                                        <p:strVal val="(0.5)"/>
                                      </p:to>
                                    </p:set>
                                    <p:anim from="(0.5)" to="(#ppt_x)" calcmode="lin" valueType="num">
                                      <p:cBhvr>
                                        <p:cTn id="63" dur="615" accel="100000" fill="hold">
                                          <p:stCondLst>
                                            <p:cond delay="385"/>
                                          </p:stCondLst>
                                        </p:cTn>
                                        <p:tgtEl>
                                          <p:spTgt spid="14379"/>
                                        </p:tgtEl>
                                        <p:attrNameLst>
                                          <p:attrName>ppt_x</p:attrName>
                                        </p:attrNameLst>
                                      </p:cBhvr>
                                    </p:anim>
                                    <p:set>
                                      <p:cBhvr>
                                        <p:cTn id="64" dur="385" fill="hold"/>
                                        <p:tgtEl>
                                          <p:spTgt spid="14379"/>
                                        </p:tgtEl>
                                        <p:attrNameLst>
                                          <p:attrName>ppt_y</p:attrName>
                                        </p:attrNameLst>
                                      </p:cBhvr>
                                      <p:to>
                                        <p:strVal val="(#ppt_y+0.4)"/>
                                      </p:to>
                                    </p:set>
                                    <p:anim from="(#ppt_y+0.4)" to="(#ppt_y)" calcmode="lin" valueType="num">
                                      <p:cBhvr>
                                        <p:cTn id="65" dur="615" accel="100000" fill="hold">
                                          <p:stCondLst>
                                            <p:cond delay="385"/>
                                          </p:stCondLst>
                                        </p:cTn>
                                        <p:tgtEl>
                                          <p:spTgt spid="14379"/>
                                        </p:tgtEl>
                                        <p:attrNameLst>
                                          <p:attrName>ppt_y</p:attrName>
                                        </p:attrNameLst>
                                      </p:cBhvr>
                                    </p:anim>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4380"/>
                                        </p:tgtEl>
                                        <p:attrNameLst>
                                          <p:attrName>style.visibility</p:attrName>
                                        </p:attrNameLst>
                                      </p:cBhvr>
                                      <p:to>
                                        <p:strVal val="visible"/>
                                      </p:to>
                                    </p:set>
                                    <p:animEffect transition="in" filter="wipe(left)">
                                      <p:cBhvr>
                                        <p:cTn id="70" dur="2000"/>
                                        <p:tgtEl>
                                          <p:spTgt spid="143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p:bldP spid="14369" grpId="0"/>
      <p:bldP spid="14370" grpId="0"/>
      <p:bldP spid="14374" grpId="0"/>
      <p:bldP spid="14375" grpId="0"/>
      <p:bldP spid="14376" grpId="0" animBg="1"/>
      <p:bldP spid="14377" grpId="0" animBg="1"/>
      <p:bldP spid="14378" grpId="0" animBg="1"/>
      <p:bldP spid="14379" grpId="0" animBg="1"/>
      <p:bldP spid="1438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2" name="Group 2"/>
          <p:cNvGrpSpPr/>
          <p:nvPr/>
        </p:nvGrpSpPr>
        <p:grpSpPr bwMode="auto">
          <a:xfrm>
            <a:off x="3860800" y="1163638"/>
            <a:ext cx="4860925" cy="3241675"/>
            <a:chOff x="1497" y="414"/>
            <a:chExt cx="2676" cy="1823"/>
          </a:xfrm>
        </p:grpSpPr>
        <p:sp>
          <p:nvSpPr>
            <p:cNvPr id="16400" name="Line 3"/>
            <p:cNvSpPr>
              <a:spLocks noChangeShapeType="1"/>
            </p:cNvSpPr>
            <p:nvPr/>
          </p:nvSpPr>
          <p:spPr bwMode="auto">
            <a:xfrm rot="5400000" flipV="1">
              <a:off x="2674" y="1210"/>
              <a:ext cx="0" cy="1878"/>
            </a:xfrm>
            <a:prstGeom prst="line">
              <a:avLst/>
            </a:prstGeom>
            <a:noFill/>
            <a:ln w="28575">
              <a:solidFill>
                <a:srgbClr val="0033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1" name="Text Box 4"/>
            <p:cNvSpPr txBox="1">
              <a:spLocks noChangeArrowheads="1"/>
            </p:cNvSpPr>
            <p:nvPr/>
          </p:nvSpPr>
          <p:spPr bwMode="auto">
            <a:xfrm>
              <a:off x="3599" y="2046"/>
              <a:ext cx="57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b="1" i="1">
                  <a:solidFill>
                    <a:srgbClr val="003300"/>
                  </a:solidFill>
                  <a:latin typeface="Times New Roman" panose="02020603050405020304" pitchFamily="18" charset="0"/>
                </a:rPr>
                <a:t>U</a:t>
              </a:r>
              <a:r>
                <a:rPr kumimoji="1" lang="en-US" altLang="zh-CN" b="1" baseline="-25000">
                  <a:solidFill>
                    <a:srgbClr val="003300"/>
                  </a:solidFill>
                  <a:latin typeface="Times New Roman" panose="02020603050405020304" pitchFamily="18" charset="0"/>
                </a:rPr>
                <a:t>CE </a:t>
              </a:r>
              <a:r>
                <a:rPr kumimoji="1" lang="en-US" altLang="zh-CN" b="1" i="1">
                  <a:solidFill>
                    <a:srgbClr val="003300"/>
                  </a:solidFill>
                  <a:latin typeface="Times New Roman" panose="02020603050405020304" pitchFamily="18" charset="0"/>
                </a:rPr>
                <a:t>/ </a:t>
              </a:r>
              <a:r>
                <a:rPr kumimoji="1" lang="en-US" altLang="zh-CN" b="1">
                  <a:solidFill>
                    <a:srgbClr val="003300"/>
                  </a:solidFill>
                  <a:latin typeface="Times New Roman" panose="02020603050405020304" pitchFamily="18" charset="0"/>
                </a:rPr>
                <a:t>V</a:t>
              </a:r>
            </a:p>
          </p:txBody>
        </p:sp>
        <p:sp>
          <p:nvSpPr>
            <p:cNvPr id="16402" name="Line 5"/>
            <p:cNvSpPr>
              <a:spLocks noChangeShapeType="1"/>
            </p:cNvSpPr>
            <p:nvPr/>
          </p:nvSpPr>
          <p:spPr bwMode="auto">
            <a:xfrm flipH="1" flipV="1">
              <a:off x="1726" y="548"/>
              <a:ext cx="5" cy="1591"/>
            </a:xfrm>
            <a:prstGeom prst="line">
              <a:avLst/>
            </a:prstGeom>
            <a:noFill/>
            <a:ln w="28575">
              <a:solidFill>
                <a:srgbClr val="000066"/>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3" name="Text Box 6"/>
            <p:cNvSpPr txBox="1">
              <a:spLocks noChangeArrowheads="1"/>
            </p:cNvSpPr>
            <p:nvPr/>
          </p:nvSpPr>
          <p:spPr bwMode="auto">
            <a:xfrm>
              <a:off x="1497" y="414"/>
              <a:ext cx="55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b="1" i="1">
                  <a:solidFill>
                    <a:srgbClr val="003300"/>
                  </a:solidFill>
                  <a:latin typeface="Times New Roman" panose="02020603050405020304" pitchFamily="18" charset="0"/>
                </a:rPr>
                <a:t>I</a:t>
              </a:r>
              <a:r>
                <a:rPr kumimoji="1" lang="en-US" altLang="zh-CN" b="1" baseline="-25000">
                  <a:solidFill>
                    <a:srgbClr val="003300"/>
                  </a:solidFill>
                  <a:latin typeface="Times New Roman" panose="02020603050405020304" pitchFamily="18" charset="0"/>
                </a:rPr>
                <a:t>C </a:t>
              </a:r>
              <a:r>
                <a:rPr kumimoji="1" lang="en-US" altLang="zh-CN" b="1" i="1" baseline="-25000">
                  <a:solidFill>
                    <a:srgbClr val="003300"/>
                  </a:solidFill>
                  <a:latin typeface="Times New Roman" panose="02020603050405020304" pitchFamily="18" charset="0"/>
                </a:rPr>
                <a:t> </a:t>
              </a:r>
              <a:r>
                <a:rPr kumimoji="1" lang="en-US" altLang="zh-CN" b="1" i="1">
                  <a:solidFill>
                    <a:srgbClr val="003300"/>
                  </a:solidFill>
                  <a:latin typeface="Times New Roman" panose="02020603050405020304" pitchFamily="18" charset="0"/>
                </a:rPr>
                <a:t>/</a:t>
              </a:r>
              <a:r>
                <a:rPr kumimoji="1" lang="en-US" altLang="zh-CN" b="1">
                  <a:solidFill>
                    <a:srgbClr val="003300"/>
                  </a:solidFill>
                  <a:latin typeface="Times New Roman" panose="02020603050405020304" pitchFamily="18" charset="0"/>
                </a:rPr>
                <a:t>mA</a:t>
              </a:r>
            </a:p>
          </p:txBody>
        </p:sp>
        <p:sp>
          <p:nvSpPr>
            <p:cNvPr id="16404" name="Text Box 7"/>
            <p:cNvSpPr txBox="1">
              <a:spLocks noChangeArrowheads="1"/>
            </p:cNvSpPr>
            <p:nvPr/>
          </p:nvSpPr>
          <p:spPr bwMode="auto">
            <a:xfrm>
              <a:off x="1630" y="2066"/>
              <a:ext cx="210" cy="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a:solidFill>
                    <a:srgbClr val="003300"/>
                  </a:solidFill>
                  <a:latin typeface="Times New Roman" panose="02020603050405020304" pitchFamily="18" charset="0"/>
                </a:rPr>
                <a:t>0</a:t>
              </a:r>
            </a:p>
          </p:txBody>
        </p:sp>
        <p:sp>
          <p:nvSpPr>
            <p:cNvPr id="16405" name="Freeform 8"/>
            <p:cNvSpPr/>
            <p:nvPr/>
          </p:nvSpPr>
          <p:spPr bwMode="auto">
            <a:xfrm>
              <a:off x="1726" y="822"/>
              <a:ext cx="1013" cy="1340"/>
            </a:xfrm>
            <a:custGeom>
              <a:avLst/>
              <a:gdLst>
                <a:gd name="T0" fmla="*/ 0 w 954"/>
                <a:gd name="T1" fmla="*/ 1340 h 1158"/>
                <a:gd name="T2" fmla="*/ 229 w 954"/>
                <a:gd name="T3" fmla="*/ 139 h 1158"/>
                <a:gd name="T4" fmla="*/ 268 w 954"/>
                <a:gd name="T5" fmla="*/ 83 h 1158"/>
                <a:gd name="T6" fmla="*/ 344 w 954"/>
                <a:gd name="T7" fmla="*/ 35 h 1158"/>
                <a:gd name="T8" fmla="*/ 389 w 954"/>
                <a:gd name="T9" fmla="*/ 35 h 1158"/>
                <a:gd name="T10" fmla="*/ 478 w 954"/>
                <a:gd name="T11" fmla="*/ 28 h 1158"/>
                <a:gd name="T12" fmla="*/ 567 w 954"/>
                <a:gd name="T13" fmla="*/ 14 h 1158"/>
                <a:gd name="T14" fmla="*/ 650 w 954"/>
                <a:gd name="T15" fmla="*/ 14 h 1158"/>
                <a:gd name="T16" fmla="*/ 733 w 954"/>
                <a:gd name="T17" fmla="*/ 14 h 1158"/>
                <a:gd name="T18" fmla="*/ 1013 w 954"/>
                <a:gd name="T19" fmla="*/ 0 h 11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54" h="1158">
                  <a:moveTo>
                    <a:pt x="0" y="1158"/>
                  </a:moveTo>
                  <a:lnTo>
                    <a:pt x="216" y="120"/>
                  </a:lnTo>
                  <a:lnTo>
                    <a:pt x="252" y="72"/>
                  </a:lnTo>
                  <a:lnTo>
                    <a:pt x="324" y="30"/>
                  </a:lnTo>
                  <a:lnTo>
                    <a:pt x="366" y="30"/>
                  </a:lnTo>
                  <a:lnTo>
                    <a:pt x="450" y="24"/>
                  </a:lnTo>
                  <a:lnTo>
                    <a:pt x="534" y="12"/>
                  </a:lnTo>
                  <a:lnTo>
                    <a:pt x="612" y="12"/>
                  </a:lnTo>
                  <a:lnTo>
                    <a:pt x="690" y="12"/>
                  </a:lnTo>
                  <a:lnTo>
                    <a:pt x="954" y="0"/>
                  </a:lnTo>
                </a:path>
              </a:pathLst>
            </a:custGeom>
            <a:noFill/>
            <a:ln w="444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6" name="Text Box 9"/>
            <p:cNvSpPr txBox="1">
              <a:spLocks noChangeArrowheads="1"/>
            </p:cNvSpPr>
            <p:nvPr/>
          </p:nvSpPr>
          <p:spPr bwMode="auto">
            <a:xfrm>
              <a:off x="3129" y="1729"/>
              <a:ext cx="383" cy="132"/>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b="1">
                  <a:solidFill>
                    <a:srgbClr val="003300"/>
                  </a:solidFill>
                  <a:latin typeface="Times New Roman" panose="02020603050405020304" pitchFamily="18" charset="0"/>
                  <a:ea typeface="隶书" panose="02010509060101010101" pitchFamily="49" charset="-122"/>
                </a:rPr>
                <a:t>20 </a:t>
              </a:r>
              <a:r>
                <a:rPr kumimoji="1" lang="en-US" altLang="zh-CN" b="1">
                  <a:solidFill>
                    <a:srgbClr val="003300"/>
                  </a:solidFill>
                  <a:latin typeface="Times New Roman" panose="02020603050405020304" pitchFamily="18" charset="0"/>
                  <a:sym typeface="Symbol" panose="05050102010706020507" pitchFamily="18" charset="2"/>
                </a:rPr>
                <a:t>A</a:t>
              </a:r>
            </a:p>
          </p:txBody>
        </p:sp>
        <p:sp>
          <p:nvSpPr>
            <p:cNvPr id="16407" name="Text Box 10"/>
            <p:cNvSpPr txBox="1">
              <a:spLocks noChangeArrowheads="1"/>
            </p:cNvSpPr>
            <p:nvPr/>
          </p:nvSpPr>
          <p:spPr bwMode="auto">
            <a:xfrm>
              <a:off x="3175" y="1956"/>
              <a:ext cx="384" cy="131"/>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b="1" i="1">
                  <a:solidFill>
                    <a:srgbClr val="003300"/>
                  </a:solidFill>
                  <a:latin typeface="Times New Roman" panose="02020603050405020304" pitchFamily="18" charset="0"/>
                  <a:ea typeface="隶书" panose="02010509060101010101" pitchFamily="49" charset="-122"/>
                </a:rPr>
                <a:t>I</a:t>
              </a:r>
              <a:r>
                <a:rPr kumimoji="1" lang="en-US" altLang="zh-CN" b="1" baseline="-25000">
                  <a:solidFill>
                    <a:srgbClr val="003300"/>
                  </a:solidFill>
                  <a:latin typeface="Times New Roman" panose="02020603050405020304" pitchFamily="18" charset="0"/>
                  <a:ea typeface="隶书" panose="02010509060101010101" pitchFamily="49" charset="-122"/>
                </a:rPr>
                <a:t>B</a:t>
              </a:r>
              <a:r>
                <a:rPr kumimoji="1" lang="en-US" altLang="zh-CN" b="1">
                  <a:solidFill>
                    <a:srgbClr val="003300"/>
                  </a:solidFill>
                  <a:latin typeface="Times New Roman" panose="02020603050405020304" pitchFamily="18" charset="0"/>
                  <a:ea typeface="隶书" panose="02010509060101010101" pitchFamily="49" charset="-122"/>
                </a:rPr>
                <a:t>=0</a:t>
              </a:r>
            </a:p>
          </p:txBody>
        </p:sp>
        <p:sp>
          <p:nvSpPr>
            <p:cNvPr id="16408" name="Freeform 11"/>
            <p:cNvSpPr/>
            <p:nvPr/>
          </p:nvSpPr>
          <p:spPr bwMode="auto">
            <a:xfrm>
              <a:off x="1837" y="1321"/>
              <a:ext cx="1001" cy="210"/>
            </a:xfrm>
            <a:custGeom>
              <a:avLst/>
              <a:gdLst>
                <a:gd name="T0" fmla="*/ 0 w 885"/>
                <a:gd name="T1" fmla="*/ 210 h 181"/>
                <a:gd name="T2" fmla="*/ 52 w 885"/>
                <a:gd name="T3" fmla="*/ 79 h 181"/>
                <a:gd name="T4" fmla="*/ 206 w 885"/>
                <a:gd name="T5" fmla="*/ 27 h 181"/>
                <a:gd name="T6" fmla="*/ 463 w 885"/>
                <a:gd name="T7" fmla="*/ 27 h 181"/>
                <a:gd name="T8" fmla="*/ 1001 w 885"/>
                <a:gd name="T9" fmla="*/ 0 h 1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5" h="181">
                  <a:moveTo>
                    <a:pt x="0" y="181"/>
                  </a:moveTo>
                  <a:cubicBezTo>
                    <a:pt x="8" y="137"/>
                    <a:pt x="16" y="94"/>
                    <a:pt x="46" y="68"/>
                  </a:cubicBezTo>
                  <a:cubicBezTo>
                    <a:pt x="76" y="42"/>
                    <a:pt x="121" y="31"/>
                    <a:pt x="182" y="23"/>
                  </a:cubicBezTo>
                  <a:cubicBezTo>
                    <a:pt x="243" y="15"/>
                    <a:pt x="292" y="27"/>
                    <a:pt x="409" y="23"/>
                  </a:cubicBezTo>
                  <a:cubicBezTo>
                    <a:pt x="526" y="19"/>
                    <a:pt x="705" y="9"/>
                    <a:pt x="885" y="0"/>
                  </a:cubicBezTo>
                </a:path>
              </a:pathLst>
            </a:custGeom>
            <a:noFill/>
            <a:ln w="444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09" name="Freeform 12"/>
            <p:cNvSpPr/>
            <p:nvPr/>
          </p:nvSpPr>
          <p:spPr bwMode="auto">
            <a:xfrm>
              <a:off x="1791" y="1570"/>
              <a:ext cx="1103" cy="211"/>
            </a:xfrm>
            <a:custGeom>
              <a:avLst/>
              <a:gdLst>
                <a:gd name="T0" fmla="*/ 0 w 885"/>
                <a:gd name="T1" fmla="*/ 211 h 181"/>
                <a:gd name="T2" fmla="*/ 57 w 885"/>
                <a:gd name="T3" fmla="*/ 79 h 181"/>
                <a:gd name="T4" fmla="*/ 227 w 885"/>
                <a:gd name="T5" fmla="*/ 27 h 181"/>
                <a:gd name="T6" fmla="*/ 510 w 885"/>
                <a:gd name="T7" fmla="*/ 27 h 181"/>
                <a:gd name="T8" fmla="*/ 1103 w 885"/>
                <a:gd name="T9" fmla="*/ 0 h 1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5" h="181">
                  <a:moveTo>
                    <a:pt x="0" y="181"/>
                  </a:moveTo>
                  <a:cubicBezTo>
                    <a:pt x="8" y="137"/>
                    <a:pt x="16" y="94"/>
                    <a:pt x="46" y="68"/>
                  </a:cubicBezTo>
                  <a:cubicBezTo>
                    <a:pt x="76" y="42"/>
                    <a:pt x="121" y="31"/>
                    <a:pt x="182" y="23"/>
                  </a:cubicBezTo>
                  <a:cubicBezTo>
                    <a:pt x="243" y="15"/>
                    <a:pt x="292" y="27"/>
                    <a:pt x="409" y="23"/>
                  </a:cubicBezTo>
                  <a:cubicBezTo>
                    <a:pt x="526" y="19"/>
                    <a:pt x="705" y="9"/>
                    <a:pt x="885" y="0"/>
                  </a:cubicBezTo>
                </a:path>
              </a:pathLst>
            </a:custGeom>
            <a:noFill/>
            <a:ln w="444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10" name="Freeform 13"/>
            <p:cNvSpPr/>
            <p:nvPr/>
          </p:nvSpPr>
          <p:spPr bwMode="auto">
            <a:xfrm>
              <a:off x="1746" y="1797"/>
              <a:ext cx="1307" cy="264"/>
            </a:xfrm>
            <a:custGeom>
              <a:avLst/>
              <a:gdLst>
                <a:gd name="T0" fmla="*/ 0 w 885"/>
                <a:gd name="T1" fmla="*/ 264 h 181"/>
                <a:gd name="T2" fmla="*/ 68 w 885"/>
                <a:gd name="T3" fmla="*/ 99 h 181"/>
                <a:gd name="T4" fmla="*/ 269 w 885"/>
                <a:gd name="T5" fmla="*/ 34 h 181"/>
                <a:gd name="T6" fmla="*/ 604 w 885"/>
                <a:gd name="T7" fmla="*/ 34 h 181"/>
                <a:gd name="T8" fmla="*/ 1307 w 885"/>
                <a:gd name="T9" fmla="*/ 0 h 1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5" h="181">
                  <a:moveTo>
                    <a:pt x="0" y="181"/>
                  </a:moveTo>
                  <a:cubicBezTo>
                    <a:pt x="8" y="137"/>
                    <a:pt x="16" y="94"/>
                    <a:pt x="46" y="68"/>
                  </a:cubicBezTo>
                  <a:cubicBezTo>
                    <a:pt x="76" y="42"/>
                    <a:pt x="121" y="31"/>
                    <a:pt x="182" y="23"/>
                  </a:cubicBezTo>
                  <a:cubicBezTo>
                    <a:pt x="243" y="15"/>
                    <a:pt x="292" y="27"/>
                    <a:pt x="409" y="23"/>
                  </a:cubicBezTo>
                  <a:cubicBezTo>
                    <a:pt x="526" y="19"/>
                    <a:pt x="705" y="9"/>
                    <a:pt x="885" y="0"/>
                  </a:cubicBezTo>
                </a:path>
              </a:pathLst>
            </a:custGeom>
            <a:noFill/>
            <a:ln w="444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11" name="Freeform 14"/>
            <p:cNvSpPr/>
            <p:nvPr/>
          </p:nvSpPr>
          <p:spPr bwMode="auto">
            <a:xfrm>
              <a:off x="1723" y="2047"/>
              <a:ext cx="1412" cy="108"/>
            </a:xfrm>
            <a:custGeom>
              <a:avLst/>
              <a:gdLst>
                <a:gd name="T0" fmla="*/ 0 w 885"/>
                <a:gd name="T1" fmla="*/ 108 h 181"/>
                <a:gd name="T2" fmla="*/ 73 w 885"/>
                <a:gd name="T3" fmla="*/ 41 h 181"/>
                <a:gd name="T4" fmla="*/ 290 w 885"/>
                <a:gd name="T5" fmla="*/ 14 h 181"/>
                <a:gd name="T6" fmla="*/ 653 w 885"/>
                <a:gd name="T7" fmla="*/ 14 h 181"/>
                <a:gd name="T8" fmla="*/ 1412 w 885"/>
                <a:gd name="T9" fmla="*/ 0 h 1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5" h="181">
                  <a:moveTo>
                    <a:pt x="0" y="181"/>
                  </a:moveTo>
                  <a:cubicBezTo>
                    <a:pt x="8" y="137"/>
                    <a:pt x="16" y="94"/>
                    <a:pt x="46" y="68"/>
                  </a:cubicBezTo>
                  <a:cubicBezTo>
                    <a:pt x="76" y="42"/>
                    <a:pt x="121" y="31"/>
                    <a:pt x="182" y="23"/>
                  </a:cubicBezTo>
                  <a:cubicBezTo>
                    <a:pt x="243" y="15"/>
                    <a:pt x="292" y="27"/>
                    <a:pt x="409" y="23"/>
                  </a:cubicBezTo>
                  <a:cubicBezTo>
                    <a:pt x="526" y="19"/>
                    <a:pt x="705" y="9"/>
                    <a:pt x="885" y="0"/>
                  </a:cubicBezTo>
                </a:path>
              </a:pathLst>
            </a:custGeom>
            <a:noFill/>
            <a:ln w="444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12" name="Text Box 15"/>
            <p:cNvSpPr txBox="1">
              <a:spLocks noChangeArrowheads="1"/>
            </p:cNvSpPr>
            <p:nvPr/>
          </p:nvSpPr>
          <p:spPr bwMode="auto">
            <a:xfrm>
              <a:off x="2971" y="1480"/>
              <a:ext cx="420" cy="131"/>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b="1">
                  <a:solidFill>
                    <a:srgbClr val="003300"/>
                  </a:solidFill>
                  <a:latin typeface="Times New Roman" panose="02020603050405020304" pitchFamily="18" charset="0"/>
                  <a:ea typeface="隶书" panose="02010509060101010101" pitchFamily="49" charset="-122"/>
                </a:rPr>
                <a:t>40 </a:t>
              </a:r>
              <a:r>
                <a:rPr kumimoji="1" lang="en-US" altLang="zh-CN" b="1">
                  <a:solidFill>
                    <a:srgbClr val="003300"/>
                  </a:solidFill>
                  <a:latin typeface="Times New Roman" panose="02020603050405020304" pitchFamily="18" charset="0"/>
                  <a:sym typeface="Symbol" panose="05050102010706020507" pitchFamily="18" charset="2"/>
                </a:rPr>
                <a:t>A</a:t>
              </a:r>
            </a:p>
          </p:txBody>
        </p:sp>
        <p:sp>
          <p:nvSpPr>
            <p:cNvPr id="16413" name="Text Box 16"/>
            <p:cNvSpPr txBox="1">
              <a:spLocks noChangeArrowheads="1"/>
            </p:cNvSpPr>
            <p:nvPr/>
          </p:nvSpPr>
          <p:spPr bwMode="auto">
            <a:xfrm>
              <a:off x="2880" y="1230"/>
              <a:ext cx="532" cy="131"/>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b="1">
                  <a:solidFill>
                    <a:srgbClr val="003300"/>
                  </a:solidFill>
                  <a:latin typeface="Times New Roman" panose="02020603050405020304" pitchFamily="18" charset="0"/>
                  <a:ea typeface="隶书" panose="02010509060101010101" pitchFamily="49" charset="-122"/>
                </a:rPr>
                <a:t>60 </a:t>
              </a:r>
              <a:r>
                <a:rPr kumimoji="1" lang="en-US" altLang="zh-CN" b="1">
                  <a:solidFill>
                    <a:srgbClr val="003300"/>
                  </a:solidFill>
                  <a:latin typeface="Times New Roman" panose="02020603050405020304" pitchFamily="18" charset="0"/>
                  <a:sym typeface="Symbol" panose="05050102010706020507" pitchFamily="18" charset="2"/>
                </a:rPr>
                <a:t>A</a:t>
              </a:r>
            </a:p>
          </p:txBody>
        </p:sp>
        <p:sp>
          <p:nvSpPr>
            <p:cNvPr id="16414" name="Text Box 17"/>
            <p:cNvSpPr txBox="1">
              <a:spLocks noChangeArrowheads="1"/>
            </p:cNvSpPr>
            <p:nvPr/>
          </p:nvSpPr>
          <p:spPr bwMode="auto">
            <a:xfrm>
              <a:off x="2758" y="721"/>
              <a:ext cx="650" cy="131"/>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b="1" i="1">
                  <a:solidFill>
                    <a:srgbClr val="003300"/>
                  </a:solidFill>
                  <a:latin typeface="Times New Roman" panose="02020603050405020304" pitchFamily="18" charset="0"/>
                  <a:ea typeface="隶书" panose="02010509060101010101" pitchFamily="49" charset="-122"/>
                </a:rPr>
                <a:t>I</a:t>
              </a:r>
              <a:r>
                <a:rPr kumimoji="1" lang="en-US" altLang="zh-CN" b="1" baseline="-25000">
                  <a:solidFill>
                    <a:srgbClr val="003300"/>
                  </a:solidFill>
                  <a:latin typeface="Times New Roman" panose="02020603050405020304" pitchFamily="18" charset="0"/>
                  <a:ea typeface="隶书" panose="02010509060101010101" pitchFamily="49" charset="-122"/>
                </a:rPr>
                <a:t>B</a:t>
              </a:r>
              <a:r>
                <a:rPr kumimoji="1" lang="en-US" altLang="zh-CN" b="1">
                  <a:solidFill>
                    <a:srgbClr val="003300"/>
                  </a:solidFill>
                  <a:latin typeface="Times New Roman" panose="02020603050405020304" pitchFamily="18" charset="0"/>
                  <a:ea typeface="隶书" panose="02010509060101010101" pitchFamily="49" charset="-122"/>
                </a:rPr>
                <a:t>=100 </a:t>
              </a:r>
              <a:r>
                <a:rPr kumimoji="1" lang="en-US" altLang="zh-CN" b="1">
                  <a:solidFill>
                    <a:srgbClr val="003300"/>
                  </a:solidFill>
                  <a:latin typeface="Times New Roman" panose="02020603050405020304" pitchFamily="18" charset="0"/>
                  <a:sym typeface="Symbol" panose="05050102010706020507" pitchFamily="18" charset="2"/>
                </a:rPr>
                <a:t>A</a:t>
              </a:r>
            </a:p>
          </p:txBody>
        </p:sp>
        <p:sp>
          <p:nvSpPr>
            <p:cNvPr id="16415" name="Text Box 18"/>
            <p:cNvSpPr txBox="1">
              <a:spLocks noChangeArrowheads="1"/>
            </p:cNvSpPr>
            <p:nvPr/>
          </p:nvSpPr>
          <p:spPr bwMode="auto">
            <a:xfrm>
              <a:off x="2815" y="970"/>
              <a:ext cx="402" cy="132"/>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b="1">
                  <a:solidFill>
                    <a:srgbClr val="003300"/>
                  </a:solidFill>
                  <a:latin typeface="Times New Roman" panose="02020603050405020304" pitchFamily="18" charset="0"/>
                  <a:ea typeface="隶书" panose="02010509060101010101" pitchFamily="49" charset="-122"/>
                </a:rPr>
                <a:t>80 </a:t>
              </a:r>
              <a:r>
                <a:rPr kumimoji="1" lang="en-US" altLang="zh-CN" b="1">
                  <a:solidFill>
                    <a:srgbClr val="003300"/>
                  </a:solidFill>
                  <a:latin typeface="Times New Roman" panose="02020603050405020304" pitchFamily="18" charset="0"/>
                  <a:sym typeface="Symbol" panose="05050102010706020507" pitchFamily="18" charset="2"/>
                </a:rPr>
                <a:t>A</a:t>
              </a:r>
            </a:p>
          </p:txBody>
        </p:sp>
        <p:sp>
          <p:nvSpPr>
            <p:cNvPr id="16416" name="Freeform 19"/>
            <p:cNvSpPr/>
            <p:nvPr/>
          </p:nvSpPr>
          <p:spPr bwMode="auto">
            <a:xfrm>
              <a:off x="1905" y="1071"/>
              <a:ext cx="880" cy="210"/>
            </a:xfrm>
            <a:custGeom>
              <a:avLst/>
              <a:gdLst>
                <a:gd name="T0" fmla="*/ 0 w 885"/>
                <a:gd name="T1" fmla="*/ 210 h 181"/>
                <a:gd name="T2" fmla="*/ 46 w 885"/>
                <a:gd name="T3" fmla="*/ 79 h 181"/>
                <a:gd name="T4" fmla="*/ 181 w 885"/>
                <a:gd name="T5" fmla="*/ 27 h 181"/>
                <a:gd name="T6" fmla="*/ 407 w 885"/>
                <a:gd name="T7" fmla="*/ 27 h 181"/>
                <a:gd name="T8" fmla="*/ 880 w 885"/>
                <a:gd name="T9" fmla="*/ 0 h 1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5" h="181">
                  <a:moveTo>
                    <a:pt x="0" y="181"/>
                  </a:moveTo>
                  <a:cubicBezTo>
                    <a:pt x="8" y="137"/>
                    <a:pt x="16" y="94"/>
                    <a:pt x="46" y="68"/>
                  </a:cubicBezTo>
                  <a:cubicBezTo>
                    <a:pt x="76" y="42"/>
                    <a:pt x="121" y="31"/>
                    <a:pt x="182" y="23"/>
                  </a:cubicBezTo>
                  <a:cubicBezTo>
                    <a:pt x="243" y="15"/>
                    <a:pt x="292" y="27"/>
                    <a:pt x="409" y="23"/>
                  </a:cubicBezTo>
                  <a:cubicBezTo>
                    <a:pt x="526" y="19"/>
                    <a:pt x="705" y="9"/>
                    <a:pt x="885" y="0"/>
                  </a:cubicBezTo>
                </a:path>
              </a:pathLst>
            </a:custGeom>
            <a:noFill/>
            <a:ln w="444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17" name="Line 20"/>
            <p:cNvSpPr>
              <a:spLocks noChangeShapeType="1"/>
            </p:cNvSpPr>
            <p:nvPr/>
          </p:nvSpPr>
          <p:spPr bwMode="auto">
            <a:xfrm>
              <a:off x="1687" y="798"/>
              <a:ext cx="58"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18" name="Line 21"/>
            <p:cNvSpPr>
              <a:spLocks noChangeShapeType="1"/>
            </p:cNvSpPr>
            <p:nvPr/>
          </p:nvSpPr>
          <p:spPr bwMode="auto">
            <a:xfrm>
              <a:off x="1687" y="1469"/>
              <a:ext cx="58"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19" name="Line 22"/>
            <p:cNvSpPr>
              <a:spLocks noChangeShapeType="1"/>
            </p:cNvSpPr>
            <p:nvPr/>
          </p:nvSpPr>
          <p:spPr bwMode="auto">
            <a:xfrm>
              <a:off x="1687" y="1105"/>
              <a:ext cx="58"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20" name="Line 23"/>
            <p:cNvSpPr>
              <a:spLocks noChangeShapeType="1"/>
            </p:cNvSpPr>
            <p:nvPr/>
          </p:nvSpPr>
          <p:spPr bwMode="auto">
            <a:xfrm>
              <a:off x="1687" y="1815"/>
              <a:ext cx="58"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21" name="Line 24"/>
            <p:cNvSpPr>
              <a:spLocks noChangeShapeType="1"/>
            </p:cNvSpPr>
            <p:nvPr/>
          </p:nvSpPr>
          <p:spPr bwMode="auto">
            <a:xfrm>
              <a:off x="1687" y="1335"/>
              <a:ext cx="58"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22" name="Line 25"/>
            <p:cNvSpPr>
              <a:spLocks noChangeShapeType="1"/>
            </p:cNvSpPr>
            <p:nvPr/>
          </p:nvSpPr>
          <p:spPr bwMode="auto">
            <a:xfrm>
              <a:off x="1687" y="1641"/>
              <a:ext cx="58"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23" name="Text Box 26"/>
            <p:cNvSpPr txBox="1">
              <a:spLocks noChangeArrowheads="1"/>
            </p:cNvSpPr>
            <p:nvPr/>
          </p:nvSpPr>
          <p:spPr bwMode="auto">
            <a:xfrm>
              <a:off x="1611" y="740"/>
              <a:ext cx="134" cy="117"/>
            </a:xfrm>
            <a:prstGeom prst="rect">
              <a:avLst/>
            </a:prstGeom>
            <a:gradFill rotWithShape="1">
              <a:gsLst>
                <a:gs pos="0">
                  <a:srgbClr val="FFFF66">
                    <a:alpha val="62000"/>
                  </a:srgbClr>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1600" b="1">
                  <a:solidFill>
                    <a:srgbClr val="003300"/>
                  </a:solidFill>
                  <a:latin typeface="Times New Roman" panose="02020603050405020304" pitchFamily="18" charset="0"/>
                  <a:sym typeface="Symbol" panose="05050102010706020507" pitchFamily="18" charset="2"/>
                </a:rPr>
                <a:t>4</a:t>
              </a:r>
            </a:p>
          </p:txBody>
        </p:sp>
        <p:sp>
          <p:nvSpPr>
            <p:cNvPr id="16424" name="Text Box 27"/>
            <p:cNvSpPr txBox="1">
              <a:spLocks noChangeArrowheads="1"/>
            </p:cNvSpPr>
            <p:nvPr/>
          </p:nvSpPr>
          <p:spPr bwMode="auto">
            <a:xfrm>
              <a:off x="1611" y="1047"/>
              <a:ext cx="134" cy="117"/>
            </a:xfrm>
            <a:prstGeom prst="rect">
              <a:avLst/>
            </a:prstGeom>
            <a:gradFill rotWithShape="1">
              <a:gsLst>
                <a:gs pos="0">
                  <a:srgbClr val="FFFF66">
                    <a:alpha val="62000"/>
                  </a:srgbClr>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1600" b="1">
                  <a:solidFill>
                    <a:srgbClr val="003300"/>
                  </a:solidFill>
                  <a:latin typeface="Times New Roman" panose="02020603050405020304" pitchFamily="18" charset="0"/>
                  <a:sym typeface="Symbol" panose="05050102010706020507" pitchFamily="18" charset="2"/>
                </a:rPr>
                <a:t>3</a:t>
              </a:r>
            </a:p>
          </p:txBody>
        </p:sp>
        <p:sp>
          <p:nvSpPr>
            <p:cNvPr id="16425" name="Text Box 28"/>
            <p:cNvSpPr txBox="1">
              <a:spLocks noChangeArrowheads="1"/>
            </p:cNvSpPr>
            <p:nvPr/>
          </p:nvSpPr>
          <p:spPr bwMode="auto">
            <a:xfrm>
              <a:off x="1592" y="1411"/>
              <a:ext cx="134" cy="117"/>
            </a:xfrm>
            <a:prstGeom prst="rect">
              <a:avLst/>
            </a:prstGeom>
            <a:gradFill rotWithShape="1">
              <a:gsLst>
                <a:gs pos="0">
                  <a:srgbClr val="FFFF66">
                    <a:alpha val="62000"/>
                  </a:srgbClr>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1600" b="1">
                  <a:solidFill>
                    <a:srgbClr val="003300"/>
                  </a:solidFill>
                  <a:latin typeface="Times New Roman" panose="02020603050405020304" pitchFamily="18" charset="0"/>
                  <a:sym typeface="Symbol" panose="05050102010706020507" pitchFamily="18" charset="2"/>
                </a:rPr>
                <a:t>2</a:t>
              </a:r>
            </a:p>
          </p:txBody>
        </p:sp>
        <p:sp>
          <p:nvSpPr>
            <p:cNvPr id="16426" name="Text Box 29"/>
            <p:cNvSpPr txBox="1">
              <a:spLocks noChangeArrowheads="1"/>
            </p:cNvSpPr>
            <p:nvPr/>
          </p:nvSpPr>
          <p:spPr bwMode="auto">
            <a:xfrm>
              <a:off x="1573" y="1758"/>
              <a:ext cx="134" cy="117"/>
            </a:xfrm>
            <a:prstGeom prst="rect">
              <a:avLst/>
            </a:prstGeom>
            <a:gradFill rotWithShape="1">
              <a:gsLst>
                <a:gs pos="0">
                  <a:srgbClr val="FFFF66">
                    <a:alpha val="62000"/>
                  </a:srgbClr>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1600" b="1">
                  <a:solidFill>
                    <a:srgbClr val="003300"/>
                  </a:solidFill>
                  <a:latin typeface="Times New Roman" panose="02020603050405020304" pitchFamily="18" charset="0"/>
                  <a:sym typeface="Symbol" panose="05050102010706020507" pitchFamily="18" charset="2"/>
                </a:rPr>
                <a:t>1</a:t>
              </a:r>
            </a:p>
          </p:txBody>
        </p:sp>
        <p:sp>
          <p:nvSpPr>
            <p:cNvPr id="16427" name="Text Box 30"/>
            <p:cNvSpPr txBox="1">
              <a:spLocks noChangeArrowheads="1"/>
            </p:cNvSpPr>
            <p:nvPr/>
          </p:nvSpPr>
          <p:spPr bwMode="auto">
            <a:xfrm>
              <a:off x="1516" y="1603"/>
              <a:ext cx="193" cy="117"/>
            </a:xfrm>
            <a:prstGeom prst="rect">
              <a:avLst/>
            </a:prstGeom>
            <a:gradFill rotWithShape="1">
              <a:gsLst>
                <a:gs pos="0">
                  <a:srgbClr val="FFFF66">
                    <a:alpha val="62000"/>
                  </a:srgbClr>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1600" b="1">
                  <a:solidFill>
                    <a:srgbClr val="003300"/>
                  </a:solidFill>
                  <a:latin typeface="Times New Roman" panose="02020603050405020304" pitchFamily="18" charset="0"/>
                  <a:sym typeface="Symbol" panose="05050102010706020507" pitchFamily="18" charset="2"/>
                </a:rPr>
                <a:t>1.5</a:t>
              </a:r>
            </a:p>
          </p:txBody>
        </p:sp>
        <p:sp>
          <p:nvSpPr>
            <p:cNvPr id="16428" name="Text Box 31"/>
            <p:cNvSpPr txBox="1">
              <a:spLocks noChangeArrowheads="1"/>
            </p:cNvSpPr>
            <p:nvPr/>
          </p:nvSpPr>
          <p:spPr bwMode="auto">
            <a:xfrm>
              <a:off x="1535" y="1277"/>
              <a:ext cx="172" cy="117"/>
            </a:xfrm>
            <a:prstGeom prst="rect">
              <a:avLst/>
            </a:prstGeom>
            <a:gradFill rotWithShape="1">
              <a:gsLst>
                <a:gs pos="0">
                  <a:srgbClr val="FFFF66">
                    <a:alpha val="62000"/>
                  </a:srgbClr>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1600" b="1">
                  <a:solidFill>
                    <a:srgbClr val="003300"/>
                  </a:solidFill>
                  <a:latin typeface="Times New Roman" panose="02020603050405020304" pitchFamily="18" charset="0"/>
                  <a:sym typeface="Symbol" panose="05050102010706020507" pitchFamily="18" charset="2"/>
                </a:rPr>
                <a:t>2.3</a:t>
              </a:r>
            </a:p>
          </p:txBody>
        </p:sp>
      </p:grpSp>
      <p:sp>
        <p:nvSpPr>
          <p:cNvPr id="15392" name="Text Box 32"/>
          <p:cNvSpPr txBox="1">
            <a:spLocks noChangeArrowheads="1"/>
          </p:cNvSpPr>
          <p:nvPr/>
        </p:nvSpPr>
        <p:spPr bwMode="auto">
          <a:xfrm>
            <a:off x="1835150" y="625475"/>
            <a:ext cx="5253038" cy="323850"/>
          </a:xfrm>
          <a:prstGeom prst="rect">
            <a:avLst/>
          </a:prstGeom>
          <a:gradFill rotWithShape="1">
            <a:gsLst>
              <a:gs pos="0">
                <a:srgbClr val="FFFF99">
                  <a:alpha val="81000"/>
                </a:srgbClr>
              </a:gs>
              <a:gs pos="100000">
                <a:srgbClr val="FFFFFF">
                  <a:alpha val="0"/>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zh-CN" altLang="en-US" sz="2500">
                <a:solidFill>
                  <a:srgbClr val="000048"/>
                </a:solidFill>
                <a:latin typeface="Times New Roman" panose="02020603050405020304" pitchFamily="18" charset="0"/>
                <a:ea typeface="隶书" panose="02010509060101010101" pitchFamily="49" charset="-122"/>
              </a:rPr>
              <a:t>输出特性曲线上一般可分为三个区：</a:t>
            </a:r>
          </a:p>
        </p:txBody>
      </p:sp>
      <p:sp>
        <p:nvSpPr>
          <p:cNvPr id="15393" name="Freeform 33" descr="浅色下对角线"/>
          <p:cNvSpPr/>
          <p:nvPr/>
        </p:nvSpPr>
        <p:spPr bwMode="auto">
          <a:xfrm>
            <a:off x="4278313" y="1882775"/>
            <a:ext cx="447675" cy="2341563"/>
          </a:xfrm>
          <a:custGeom>
            <a:avLst/>
            <a:gdLst>
              <a:gd name="T0" fmla="*/ 0 w 340"/>
              <a:gd name="T1" fmla="*/ 2341563 h 1475"/>
              <a:gd name="T2" fmla="*/ 30284 w 340"/>
              <a:gd name="T3" fmla="*/ 0 h 1475"/>
              <a:gd name="T4" fmla="*/ 447675 w 340"/>
              <a:gd name="T5" fmla="*/ 0 h 1475"/>
              <a:gd name="T6" fmla="*/ 0 w 340"/>
              <a:gd name="T7" fmla="*/ 2341563 h 147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40" h="1475">
                <a:moveTo>
                  <a:pt x="0" y="1475"/>
                </a:moveTo>
                <a:lnTo>
                  <a:pt x="23" y="0"/>
                </a:lnTo>
                <a:lnTo>
                  <a:pt x="340" y="0"/>
                </a:lnTo>
                <a:lnTo>
                  <a:pt x="0" y="1475"/>
                </a:lnTo>
                <a:close/>
              </a:path>
            </a:pathLst>
          </a:custGeom>
          <a:pattFill prst="ltDnDiag">
            <a:fgClr>
              <a:srgbClr val="00004C">
                <a:alpha val="63136"/>
              </a:srgbClr>
            </a:fgClr>
            <a:bgClr>
              <a:schemeClr val="bg1">
                <a:alpha val="63136"/>
              </a:schemeClr>
            </a:bgClr>
          </a:patt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4" name="AutoShape 34"/>
          <p:cNvSpPr>
            <a:spLocks noChangeArrowheads="1"/>
          </p:cNvSpPr>
          <p:nvPr/>
        </p:nvSpPr>
        <p:spPr bwMode="auto">
          <a:xfrm>
            <a:off x="914400" y="1201738"/>
            <a:ext cx="2322513" cy="2147887"/>
          </a:xfrm>
          <a:prstGeom prst="wedgeRoundRectCallout">
            <a:avLst>
              <a:gd name="adj1" fmla="val 100921"/>
              <a:gd name="adj2" fmla="val -3731"/>
              <a:gd name="adj3" fmla="val 16667"/>
            </a:avLst>
          </a:prstGeom>
          <a:gradFill rotWithShape="1">
            <a:gsLst>
              <a:gs pos="0">
                <a:srgbClr val="CCFF99">
                  <a:alpha val="84000"/>
                </a:srgbClr>
              </a:gs>
              <a:gs pos="100000">
                <a:srgbClr val="FFFFFF">
                  <a:alpha val="0"/>
                </a:srgbClr>
              </a:gs>
            </a:gsLst>
            <a:lin ang="2700000" scaled="1"/>
          </a:gradFill>
          <a:ln w="952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nSpc>
                <a:spcPct val="90000"/>
              </a:lnSpc>
            </a:pPr>
            <a:r>
              <a:rPr kumimoji="1" lang="zh-CN" altLang="en-US" b="1">
                <a:solidFill>
                  <a:srgbClr val="AC2100"/>
                </a:solidFill>
                <a:latin typeface="Times New Roman" panose="02020603050405020304" pitchFamily="18" charset="0"/>
                <a:ea typeface="楷体_GB2312" pitchFamily="49" charset="-122"/>
              </a:rPr>
              <a:t>饱和区</a:t>
            </a:r>
            <a:r>
              <a:rPr kumimoji="1" lang="zh-CN" altLang="en-US" b="1">
                <a:solidFill>
                  <a:srgbClr val="003300"/>
                </a:solidFill>
                <a:latin typeface="Times New Roman" panose="02020603050405020304" pitchFamily="18" charset="0"/>
                <a:ea typeface="楷体_GB2312" pitchFamily="49" charset="-122"/>
              </a:rPr>
              <a:t>。当</a:t>
            </a:r>
            <a:r>
              <a:rPr kumimoji="1" lang="zh-CN" altLang="en-US" b="1">
                <a:solidFill>
                  <a:srgbClr val="000048"/>
                </a:solidFill>
                <a:latin typeface="Times New Roman" panose="02020603050405020304" pitchFamily="18" charset="0"/>
                <a:ea typeface="楷体_GB2312" pitchFamily="49" charset="-122"/>
              </a:rPr>
              <a:t>发射结和集电结均为正向偏置</a:t>
            </a:r>
            <a:r>
              <a:rPr kumimoji="1" lang="zh-CN" altLang="en-US" b="1">
                <a:solidFill>
                  <a:srgbClr val="003300"/>
                </a:solidFill>
                <a:latin typeface="Times New Roman" panose="02020603050405020304" pitchFamily="18" charset="0"/>
                <a:ea typeface="楷体_GB2312" pitchFamily="49" charset="-122"/>
              </a:rPr>
              <a:t>时，三极管处于饱和状态。此时集电极电流</a:t>
            </a:r>
            <a:r>
              <a:rPr kumimoji="1" lang="en-US" altLang="zh-CN" b="1" i="1">
                <a:solidFill>
                  <a:srgbClr val="003300"/>
                </a:solidFill>
                <a:latin typeface="Times New Roman" panose="02020603050405020304" pitchFamily="18" charset="0"/>
                <a:ea typeface="楷体_GB2312" pitchFamily="49" charset="-122"/>
              </a:rPr>
              <a:t>I</a:t>
            </a:r>
            <a:r>
              <a:rPr kumimoji="1" lang="en-US" altLang="zh-CN" b="1" baseline="-25000">
                <a:solidFill>
                  <a:srgbClr val="003300"/>
                </a:solidFill>
                <a:latin typeface="Times New Roman" panose="02020603050405020304" pitchFamily="18" charset="0"/>
                <a:ea typeface="楷体_GB2312" pitchFamily="49" charset="-122"/>
              </a:rPr>
              <a:t>C</a:t>
            </a:r>
            <a:r>
              <a:rPr kumimoji="1" lang="zh-CN" altLang="en-US" b="1">
                <a:solidFill>
                  <a:srgbClr val="003300"/>
                </a:solidFill>
                <a:latin typeface="Times New Roman" panose="02020603050405020304" pitchFamily="18" charset="0"/>
                <a:ea typeface="楷体_GB2312" pitchFamily="49" charset="-122"/>
              </a:rPr>
              <a:t>与基极电流</a:t>
            </a:r>
            <a:r>
              <a:rPr kumimoji="1" lang="en-US" altLang="zh-CN" b="1" i="1">
                <a:solidFill>
                  <a:srgbClr val="003300"/>
                </a:solidFill>
                <a:latin typeface="Times New Roman" panose="02020603050405020304" pitchFamily="18" charset="0"/>
                <a:ea typeface="楷体_GB2312" pitchFamily="49" charset="-122"/>
              </a:rPr>
              <a:t>I</a:t>
            </a:r>
            <a:r>
              <a:rPr kumimoji="1" lang="en-US" altLang="zh-CN" b="1" baseline="-25000">
                <a:solidFill>
                  <a:srgbClr val="003300"/>
                </a:solidFill>
                <a:latin typeface="Times New Roman" panose="02020603050405020304" pitchFamily="18" charset="0"/>
                <a:ea typeface="楷体_GB2312" pitchFamily="49" charset="-122"/>
              </a:rPr>
              <a:t>B</a:t>
            </a:r>
            <a:r>
              <a:rPr kumimoji="1" lang="zh-CN" altLang="en-US" b="1">
                <a:solidFill>
                  <a:srgbClr val="003300"/>
                </a:solidFill>
                <a:latin typeface="Times New Roman" panose="02020603050405020304" pitchFamily="18" charset="0"/>
                <a:ea typeface="楷体_GB2312" pitchFamily="49" charset="-122"/>
              </a:rPr>
              <a:t>之间不再成比例关系，</a:t>
            </a:r>
            <a:r>
              <a:rPr kumimoji="1" lang="en-US" altLang="zh-CN" b="1" i="1">
                <a:solidFill>
                  <a:srgbClr val="003300"/>
                </a:solidFill>
                <a:latin typeface="Times New Roman" panose="02020603050405020304" pitchFamily="18" charset="0"/>
                <a:ea typeface="楷体_GB2312" pitchFamily="49" charset="-122"/>
              </a:rPr>
              <a:t>I</a:t>
            </a:r>
            <a:r>
              <a:rPr kumimoji="1" lang="en-US" altLang="zh-CN" b="1" baseline="-25000">
                <a:solidFill>
                  <a:srgbClr val="003300"/>
                </a:solidFill>
                <a:latin typeface="Times New Roman" panose="02020603050405020304" pitchFamily="18" charset="0"/>
                <a:ea typeface="楷体_GB2312" pitchFamily="49" charset="-122"/>
              </a:rPr>
              <a:t>B</a:t>
            </a:r>
            <a:r>
              <a:rPr kumimoji="1" lang="zh-CN" altLang="en-US" b="1">
                <a:solidFill>
                  <a:srgbClr val="003300"/>
                </a:solidFill>
                <a:latin typeface="Times New Roman" panose="02020603050405020304" pitchFamily="18" charset="0"/>
                <a:ea typeface="楷体_GB2312" pitchFamily="49" charset="-122"/>
              </a:rPr>
              <a:t>的变化对</a:t>
            </a:r>
            <a:r>
              <a:rPr kumimoji="1" lang="en-US" altLang="zh-CN" b="1" i="1">
                <a:solidFill>
                  <a:srgbClr val="003300"/>
                </a:solidFill>
                <a:latin typeface="Times New Roman" panose="02020603050405020304" pitchFamily="18" charset="0"/>
                <a:ea typeface="楷体_GB2312" pitchFamily="49" charset="-122"/>
              </a:rPr>
              <a:t>I</a:t>
            </a:r>
            <a:r>
              <a:rPr kumimoji="1" lang="en-US" altLang="zh-CN" b="1" baseline="-25000">
                <a:solidFill>
                  <a:srgbClr val="003300"/>
                </a:solidFill>
                <a:latin typeface="Times New Roman" panose="02020603050405020304" pitchFamily="18" charset="0"/>
                <a:ea typeface="楷体_GB2312" pitchFamily="49" charset="-122"/>
              </a:rPr>
              <a:t>C</a:t>
            </a:r>
            <a:r>
              <a:rPr kumimoji="1" lang="zh-CN" altLang="en-US" b="1">
                <a:solidFill>
                  <a:srgbClr val="003300"/>
                </a:solidFill>
                <a:latin typeface="Times New Roman" panose="02020603050405020304" pitchFamily="18" charset="0"/>
                <a:ea typeface="楷体_GB2312" pitchFamily="49" charset="-122"/>
              </a:rPr>
              <a:t>的影响很小。</a:t>
            </a:r>
            <a:endParaRPr kumimoji="1" lang="zh-CN" altLang="en-US" b="1" baseline="-25000">
              <a:solidFill>
                <a:srgbClr val="003300"/>
              </a:solidFill>
              <a:latin typeface="Times New Roman" panose="02020603050405020304" pitchFamily="18" charset="0"/>
              <a:ea typeface="楷体_GB2312" pitchFamily="49" charset="-122"/>
            </a:endParaRPr>
          </a:p>
        </p:txBody>
      </p:sp>
      <p:sp>
        <p:nvSpPr>
          <p:cNvPr id="15395" name="Freeform 35" descr="浅色上对角线"/>
          <p:cNvSpPr/>
          <p:nvPr/>
        </p:nvSpPr>
        <p:spPr bwMode="auto">
          <a:xfrm>
            <a:off x="4292600" y="4102100"/>
            <a:ext cx="2555875" cy="138113"/>
          </a:xfrm>
          <a:custGeom>
            <a:avLst/>
            <a:gdLst>
              <a:gd name="T0" fmla="*/ 0 w 1633"/>
              <a:gd name="T1" fmla="*/ 138113 h 113"/>
              <a:gd name="T2" fmla="*/ 142428 w 1633"/>
              <a:gd name="T3" fmla="*/ 28111 h 113"/>
              <a:gd name="T4" fmla="*/ 2555875 w 1633"/>
              <a:gd name="T5" fmla="*/ 0 h 113"/>
              <a:gd name="T6" fmla="*/ 2555875 w 1633"/>
              <a:gd name="T7" fmla="*/ 111224 h 113"/>
              <a:gd name="T8" fmla="*/ 0 w 1633"/>
              <a:gd name="T9" fmla="*/ 138113 h 11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33" h="113">
                <a:moveTo>
                  <a:pt x="0" y="113"/>
                </a:moveTo>
                <a:lnTo>
                  <a:pt x="91" y="23"/>
                </a:lnTo>
                <a:lnTo>
                  <a:pt x="1633" y="0"/>
                </a:lnTo>
                <a:lnTo>
                  <a:pt x="1633" y="91"/>
                </a:lnTo>
                <a:lnTo>
                  <a:pt x="0" y="113"/>
                </a:lnTo>
                <a:close/>
              </a:path>
            </a:pathLst>
          </a:custGeom>
          <a:pattFill prst="ltUpDiag">
            <a:fgClr>
              <a:srgbClr val="663300"/>
            </a:fgClr>
            <a:bgClr>
              <a:schemeClr val="bg1"/>
            </a:bgClr>
          </a:patt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6" name="AutoShape 36"/>
          <p:cNvSpPr>
            <a:spLocks noChangeArrowheads="1"/>
          </p:cNvSpPr>
          <p:nvPr/>
        </p:nvSpPr>
        <p:spPr bwMode="auto">
          <a:xfrm>
            <a:off x="690563" y="3592513"/>
            <a:ext cx="2138362" cy="2414587"/>
          </a:xfrm>
          <a:prstGeom prst="wedgeRoundRectCallout">
            <a:avLst>
              <a:gd name="adj1" fmla="val 182963"/>
              <a:gd name="adj2" fmla="val -26069"/>
              <a:gd name="adj3" fmla="val 16667"/>
            </a:avLst>
          </a:prstGeom>
          <a:gradFill rotWithShape="1">
            <a:gsLst>
              <a:gs pos="0">
                <a:srgbClr val="CCFF99">
                  <a:alpha val="84000"/>
                </a:srgbClr>
              </a:gs>
              <a:gs pos="100000">
                <a:srgbClr val="FFFFFF">
                  <a:alpha val="0"/>
                </a:srgbClr>
              </a:gs>
            </a:gsLst>
            <a:lin ang="2700000" scaled="1"/>
          </a:gradFill>
          <a:ln w="952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nSpc>
                <a:spcPct val="90000"/>
              </a:lnSpc>
            </a:pPr>
            <a:r>
              <a:rPr kumimoji="1" lang="zh-CN" altLang="en-US" b="1">
                <a:solidFill>
                  <a:srgbClr val="AC2100"/>
                </a:solidFill>
                <a:latin typeface="Times New Roman" panose="02020603050405020304" pitchFamily="18" charset="0"/>
                <a:ea typeface="楷体_GB2312" pitchFamily="49" charset="-122"/>
              </a:rPr>
              <a:t>截止区</a:t>
            </a:r>
            <a:r>
              <a:rPr kumimoji="1" lang="zh-CN" altLang="en-US" b="1">
                <a:solidFill>
                  <a:srgbClr val="003300"/>
                </a:solidFill>
                <a:latin typeface="Times New Roman" panose="02020603050405020304" pitchFamily="18" charset="0"/>
                <a:ea typeface="楷体_GB2312" pitchFamily="49" charset="-122"/>
              </a:rPr>
              <a:t>。当基极电流</a:t>
            </a:r>
            <a:r>
              <a:rPr kumimoji="1" lang="en-US" altLang="zh-CN" b="1" i="1">
                <a:solidFill>
                  <a:srgbClr val="003300"/>
                </a:solidFill>
                <a:latin typeface="Times New Roman" panose="02020603050405020304" pitchFamily="18" charset="0"/>
                <a:ea typeface="楷体_GB2312" pitchFamily="49" charset="-122"/>
              </a:rPr>
              <a:t>I</a:t>
            </a:r>
            <a:r>
              <a:rPr kumimoji="1" lang="en-US" altLang="zh-CN" b="1" baseline="-25000">
                <a:solidFill>
                  <a:srgbClr val="003300"/>
                </a:solidFill>
                <a:latin typeface="Times New Roman" panose="02020603050405020304" pitchFamily="18" charset="0"/>
                <a:ea typeface="楷体_GB2312" pitchFamily="49" charset="-122"/>
              </a:rPr>
              <a:t>B</a:t>
            </a:r>
            <a:r>
              <a:rPr kumimoji="1" lang="zh-CN" altLang="en-US" b="1">
                <a:solidFill>
                  <a:srgbClr val="003300"/>
                </a:solidFill>
                <a:latin typeface="Times New Roman" panose="02020603050405020304" pitchFamily="18" charset="0"/>
                <a:ea typeface="楷体_GB2312" pitchFamily="49" charset="-122"/>
              </a:rPr>
              <a:t>等于</a:t>
            </a:r>
            <a:r>
              <a:rPr kumimoji="1" lang="en-US" altLang="zh-CN" b="1">
                <a:solidFill>
                  <a:srgbClr val="003300"/>
                </a:solidFill>
                <a:latin typeface="Times New Roman" panose="02020603050405020304" pitchFamily="18" charset="0"/>
                <a:ea typeface="楷体_GB2312" pitchFamily="49" charset="-122"/>
              </a:rPr>
              <a:t>0</a:t>
            </a:r>
            <a:r>
              <a:rPr kumimoji="1" lang="zh-CN" altLang="en-US" b="1">
                <a:solidFill>
                  <a:srgbClr val="003300"/>
                </a:solidFill>
                <a:latin typeface="Times New Roman" panose="02020603050405020304" pitchFamily="18" charset="0"/>
                <a:ea typeface="楷体_GB2312" pitchFamily="49" charset="-122"/>
              </a:rPr>
              <a:t>时，晶体管处于截止状态。实际上当发射结电压处在正向死区范围时，晶体管就已经截止，为让其可靠截止，常使</a:t>
            </a:r>
            <a:r>
              <a:rPr kumimoji="1" lang="en-US" altLang="zh-CN" b="1" i="1">
                <a:solidFill>
                  <a:srgbClr val="003300"/>
                </a:solidFill>
                <a:latin typeface="Times New Roman" panose="02020603050405020304" pitchFamily="18" charset="0"/>
                <a:ea typeface="楷体_GB2312" pitchFamily="49" charset="-122"/>
              </a:rPr>
              <a:t>U</a:t>
            </a:r>
            <a:r>
              <a:rPr kumimoji="1" lang="en-US" altLang="zh-CN" b="1" baseline="-25000">
                <a:solidFill>
                  <a:srgbClr val="003300"/>
                </a:solidFill>
                <a:latin typeface="Times New Roman" panose="02020603050405020304" pitchFamily="18" charset="0"/>
                <a:ea typeface="楷体_GB2312" pitchFamily="49" charset="-122"/>
              </a:rPr>
              <a:t>BE</a:t>
            </a:r>
            <a:r>
              <a:rPr kumimoji="1" lang="zh-CN" altLang="en-US" b="1">
                <a:solidFill>
                  <a:srgbClr val="003300"/>
                </a:solidFill>
                <a:latin typeface="Times New Roman" panose="02020603050405020304" pitchFamily="18" charset="0"/>
                <a:ea typeface="楷体_GB2312" pitchFamily="49" charset="-122"/>
              </a:rPr>
              <a:t>小于和等于零。</a:t>
            </a:r>
          </a:p>
        </p:txBody>
      </p:sp>
      <p:sp>
        <p:nvSpPr>
          <p:cNvPr id="15397" name="Freeform 37" descr="宽下对角线"/>
          <p:cNvSpPr/>
          <p:nvPr/>
        </p:nvSpPr>
        <p:spPr bwMode="auto">
          <a:xfrm>
            <a:off x="4386263" y="1939925"/>
            <a:ext cx="2185987" cy="2117725"/>
          </a:xfrm>
          <a:custGeom>
            <a:avLst/>
            <a:gdLst>
              <a:gd name="T0" fmla="*/ 326460 w 1520"/>
              <a:gd name="T1" fmla="*/ 219019 h 1315"/>
              <a:gd name="T2" fmla="*/ 488971 w 1520"/>
              <a:gd name="T3" fmla="*/ 0 h 1315"/>
              <a:gd name="T4" fmla="*/ 1597784 w 1520"/>
              <a:gd name="T5" fmla="*/ 0 h 1315"/>
              <a:gd name="T6" fmla="*/ 2185987 w 1520"/>
              <a:gd name="T7" fmla="*/ 2117725 h 1315"/>
              <a:gd name="T8" fmla="*/ 0 w 1520"/>
              <a:gd name="T9" fmla="*/ 2117725 h 1315"/>
              <a:gd name="T10" fmla="*/ 326460 w 1520"/>
              <a:gd name="T11" fmla="*/ 219019 h 131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20" h="1315">
                <a:moveTo>
                  <a:pt x="227" y="136"/>
                </a:moveTo>
                <a:lnTo>
                  <a:pt x="340" y="0"/>
                </a:lnTo>
                <a:lnTo>
                  <a:pt x="1111" y="0"/>
                </a:lnTo>
                <a:lnTo>
                  <a:pt x="1520" y="1315"/>
                </a:lnTo>
                <a:lnTo>
                  <a:pt x="0" y="1315"/>
                </a:lnTo>
                <a:lnTo>
                  <a:pt x="227" y="136"/>
                </a:lnTo>
                <a:close/>
              </a:path>
            </a:pathLst>
          </a:custGeom>
          <a:pattFill prst="wdDnDiag">
            <a:fgClr>
              <a:schemeClr val="hlink">
                <a:alpha val="41176"/>
              </a:schemeClr>
            </a:fgClr>
            <a:bgClr>
              <a:schemeClr val="bg1">
                <a:alpha val="41176"/>
              </a:schemeClr>
            </a:bgClr>
          </a:patt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8" name="Text Box 38"/>
          <p:cNvSpPr txBox="1">
            <a:spLocks noChangeArrowheads="1"/>
          </p:cNvSpPr>
          <p:nvPr/>
        </p:nvSpPr>
        <p:spPr bwMode="auto">
          <a:xfrm>
            <a:off x="4976813" y="2495550"/>
            <a:ext cx="1187450" cy="1042988"/>
          </a:xfrm>
          <a:prstGeom prst="rect">
            <a:avLst/>
          </a:prstGeom>
          <a:gradFill rotWithShape="1">
            <a:gsLst>
              <a:gs pos="0">
                <a:srgbClr val="8BFF8B">
                  <a:alpha val="0"/>
                </a:srgbClr>
              </a:gs>
              <a:gs pos="100000">
                <a:srgbClr val="8BFF8B">
                  <a:gamma/>
                  <a:tint val="0"/>
                  <a:invGamma/>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457200" indent="-457200" algn="l">
              <a:defRPr>
                <a:solidFill>
                  <a:schemeClr val="tx1"/>
                </a:solidFill>
                <a:latin typeface="Arial" panose="020B0604020202020204" pitchFamily="34" charset="0"/>
                <a:ea typeface="宋体" panose="02010600030101010101" pitchFamily="2" charset="-122"/>
              </a:defRPr>
            </a:lvl1pPr>
            <a:lvl2pPr marL="914400" indent="-457200" algn="l">
              <a:defRPr>
                <a:solidFill>
                  <a:schemeClr val="tx1"/>
                </a:solidFill>
                <a:latin typeface="Arial" panose="020B0604020202020204" pitchFamily="34" charset="0"/>
                <a:ea typeface="宋体" panose="02010600030101010101" pitchFamily="2" charset="-122"/>
              </a:defRPr>
            </a:lvl2pPr>
            <a:lvl3pPr marL="1371600" indent="-457200" algn="l">
              <a:defRPr>
                <a:solidFill>
                  <a:schemeClr val="tx1"/>
                </a:solidFill>
                <a:latin typeface="Arial" panose="020B0604020202020204" pitchFamily="34" charset="0"/>
                <a:ea typeface="宋体" panose="02010600030101010101" pitchFamily="2" charset="-122"/>
              </a:defRPr>
            </a:lvl3pPr>
            <a:lvl4pPr marL="1828800" indent="-457200" algn="l">
              <a:defRPr>
                <a:solidFill>
                  <a:schemeClr val="tx1"/>
                </a:solidFill>
                <a:latin typeface="Arial" panose="020B0604020202020204" pitchFamily="34" charset="0"/>
                <a:ea typeface="宋体" panose="02010600030101010101" pitchFamily="2" charset="-122"/>
              </a:defRPr>
            </a:lvl4pPr>
            <a:lvl5pPr marL="2286000" indent="-457200" algn="l">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5000"/>
              </a:lnSpc>
              <a:defRPr/>
            </a:pPr>
            <a:r>
              <a:rPr kumimoji="1" lang="zh-CN" altLang="en-US" sz="2400" b="1">
                <a:solidFill>
                  <a:srgbClr val="FF0000"/>
                </a:solidFill>
                <a:effectLst>
                  <a:outerShdw blurRad="38100" dist="38100" dir="2700000" algn="tl">
                    <a:srgbClr val="000000"/>
                  </a:outerShdw>
                </a:effectLst>
                <a:latin typeface="Times New Roman" panose="02020603050405020304" pitchFamily="18" charset="0"/>
                <a:ea typeface="隶书" panose="02010509060101010101" pitchFamily="49" charset="-122"/>
                <a:cs typeface="Times New Roman" panose="02020603050405020304" pitchFamily="18" charset="0"/>
              </a:rPr>
              <a:t>放</a:t>
            </a:r>
          </a:p>
          <a:p>
            <a:pPr eaLnBrk="1" hangingPunct="1">
              <a:lnSpc>
                <a:spcPct val="95000"/>
              </a:lnSpc>
              <a:defRPr/>
            </a:pPr>
            <a:r>
              <a:rPr kumimoji="1" lang="zh-CN" altLang="en-US" sz="2400" b="1">
                <a:solidFill>
                  <a:srgbClr val="FF0000"/>
                </a:solidFill>
                <a:effectLst>
                  <a:outerShdw blurRad="38100" dist="38100" dir="2700000" algn="tl">
                    <a:srgbClr val="000000"/>
                  </a:outerShdw>
                </a:effectLst>
                <a:latin typeface="Times New Roman" panose="02020603050405020304" pitchFamily="18" charset="0"/>
                <a:ea typeface="隶书" panose="02010509060101010101" pitchFamily="49" charset="-122"/>
                <a:cs typeface="Times New Roman" panose="02020603050405020304" pitchFamily="18" charset="0"/>
              </a:rPr>
              <a:t>    大</a:t>
            </a:r>
          </a:p>
          <a:p>
            <a:pPr eaLnBrk="1" hangingPunct="1">
              <a:lnSpc>
                <a:spcPct val="95000"/>
              </a:lnSpc>
              <a:defRPr/>
            </a:pPr>
            <a:r>
              <a:rPr kumimoji="1" lang="zh-CN" altLang="en-US" sz="2400" b="1">
                <a:solidFill>
                  <a:srgbClr val="FF0000"/>
                </a:solidFill>
                <a:effectLst>
                  <a:outerShdw blurRad="38100" dist="38100" dir="2700000" algn="tl">
                    <a:srgbClr val="000000"/>
                  </a:outerShdw>
                </a:effectLst>
                <a:latin typeface="Times New Roman" panose="02020603050405020304" pitchFamily="18" charset="0"/>
                <a:ea typeface="隶书" panose="02010509060101010101" pitchFamily="49" charset="-122"/>
                <a:cs typeface="Times New Roman" panose="02020603050405020304" pitchFamily="18" charset="0"/>
              </a:rPr>
              <a:t>         区</a:t>
            </a:r>
            <a:endParaRPr kumimoji="1" lang="zh-CN" altLang="el-GR" sz="2400" b="1" baseline="-25000">
              <a:solidFill>
                <a:srgbClr val="FF0000"/>
              </a:solidFill>
              <a:effectLst>
                <a:outerShdw blurRad="38100" dist="38100" dir="2700000" algn="tl">
                  <a:srgbClr val="000000"/>
                </a:outerShdw>
              </a:effectLst>
              <a:latin typeface="Times New Roman" panose="02020603050405020304" pitchFamily="18" charset="0"/>
              <a:ea typeface="隶书" panose="02010509060101010101" pitchFamily="49" charset="-122"/>
              <a:cs typeface="Times New Roman" panose="02020603050405020304" pitchFamily="18" charset="0"/>
            </a:endParaRPr>
          </a:p>
        </p:txBody>
      </p:sp>
      <p:sp>
        <p:nvSpPr>
          <p:cNvPr id="15399" name="Text Box 39"/>
          <p:cNvSpPr txBox="1">
            <a:spLocks noChangeArrowheads="1"/>
          </p:cNvSpPr>
          <p:nvPr/>
        </p:nvSpPr>
        <p:spPr bwMode="auto">
          <a:xfrm>
            <a:off x="3163888" y="4489450"/>
            <a:ext cx="5292725" cy="1825625"/>
          </a:xfrm>
          <a:prstGeom prst="rect">
            <a:avLst/>
          </a:prstGeom>
          <a:gradFill rotWithShape="1">
            <a:gsLst>
              <a:gs pos="0">
                <a:srgbClr val="FFFFFF">
                  <a:alpha val="0"/>
                </a:srgbClr>
              </a:gs>
              <a:gs pos="100000">
                <a:srgbClr val="FFFF66">
                  <a:alpha val="62000"/>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400">
                <a:solidFill>
                  <a:srgbClr val="000048"/>
                </a:solidFill>
                <a:latin typeface="Times New Roman" panose="02020603050405020304" pitchFamily="18" charset="0"/>
                <a:ea typeface="隶书" panose="02010509060101010101" pitchFamily="49" charset="-122"/>
              </a:rPr>
              <a:t>    </a:t>
            </a:r>
            <a:r>
              <a:rPr kumimoji="1" lang="zh-CN" altLang="en-US" sz="2400">
                <a:solidFill>
                  <a:srgbClr val="000048"/>
                </a:solidFill>
                <a:latin typeface="Times New Roman" panose="02020603050405020304" pitchFamily="18" charset="0"/>
                <a:ea typeface="隶书" panose="02010509060101010101" pitchFamily="49" charset="-122"/>
              </a:rPr>
              <a:t>晶体管工作在放大状态时，</a:t>
            </a:r>
            <a:r>
              <a:rPr kumimoji="1" lang="zh-CN" altLang="en-US" sz="2400">
                <a:solidFill>
                  <a:srgbClr val="AC2100"/>
                </a:solidFill>
                <a:latin typeface="Times New Roman" panose="02020603050405020304" pitchFamily="18" charset="0"/>
                <a:ea typeface="隶书" panose="02010509060101010101" pitchFamily="49" charset="-122"/>
              </a:rPr>
              <a:t>发射结正</a:t>
            </a:r>
          </a:p>
          <a:p>
            <a:pPr algn="l" eaLnBrk="1" hangingPunct="1"/>
            <a:r>
              <a:rPr kumimoji="1" lang="zh-CN" altLang="en-US" sz="2400">
                <a:solidFill>
                  <a:srgbClr val="AC2100"/>
                </a:solidFill>
                <a:latin typeface="Times New Roman" panose="02020603050405020304" pitchFamily="18" charset="0"/>
                <a:ea typeface="隶书" panose="02010509060101010101" pitchFamily="49" charset="-122"/>
              </a:rPr>
              <a:t>偏，集电结反偏</a:t>
            </a:r>
            <a:r>
              <a:rPr kumimoji="1" lang="zh-CN" altLang="en-US" sz="2400">
                <a:solidFill>
                  <a:srgbClr val="000048"/>
                </a:solidFill>
                <a:latin typeface="Times New Roman" panose="02020603050405020304" pitchFamily="18" charset="0"/>
                <a:ea typeface="隶书" panose="02010509060101010101" pitchFamily="49" charset="-122"/>
              </a:rPr>
              <a:t>。在放大区，集电极电</a:t>
            </a:r>
          </a:p>
          <a:p>
            <a:pPr algn="l" eaLnBrk="1" hangingPunct="1"/>
            <a:r>
              <a:rPr kumimoji="1" lang="zh-CN" altLang="en-US" sz="2400">
                <a:solidFill>
                  <a:srgbClr val="000048"/>
                </a:solidFill>
                <a:latin typeface="Times New Roman" panose="02020603050405020304" pitchFamily="18" charset="0"/>
                <a:ea typeface="隶书" panose="02010509060101010101" pitchFamily="49" charset="-122"/>
              </a:rPr>
              <a:t>流与基极电流之间成</a:t>
            </a:r>
            <a:r>
              <a:rPr kumimoji="1" lang="el-GR" altLang="zh-CN" sz="2400">
                <a:solidFill>
                  <a:srgbClr val="000048"/>
                </a:solidFill>
                <a:latin typeface="隶书" panose="02010509060101010101" pitchFamily="49" charset="-122"/>
                <a:ea typeface="隶书" panose="02010509060101010101" pitchFamily="49" charset="-122"/>
              </a:rPr>
              <a:t>β</a:t>
            </a:r>
            <a:r>
              <a:rPr kumimoji="1" lang="zh-CN" altLang="en-US" sz="2400">
                <a:solidFill>
                  <a:srgbClr val="000048"/>
                </a:solidFill>
                <a:latin typeface="隶书" panose="02010509060101010101" pitchFamily="49" charset="-122"/>
                <a:ea typeface="隶书" panose="02010509060101010101" pitchFamily="49" charset="-122"/>
              </a:rPr>
              <a:t>倍</a:t>
            </a:r>
            <a:r>
              <a:rPr kumimoji="1" lang="zh-CN" altLang="en-US" sz="2400">
                <a:solidFill>
                  <a:srgbClr val="000048"/>
                </a:solidFill>
                <a:latin typeface="Times New Roman" panose="02020603050405020304" pitchFamily="18" charset="0"/>
                <a:ea typeface="隶书" panose="02010509060101010101" pitchFamily="49" charset="-122"/>
              </a:rPr>
              <a:t>的数量关系，</a:t>
            </a:r>
          </a:p>
          <a:p>
            <a:pPr algn="l" eaLnBrk="1" hangingPunct="1"/>
            <a:r>
              <a:rPr kumimoji="1" lang="zh-CN" altLang="en-US" sz="2400">
                <a:solidFill>
                  <a:srgbClr val="000048"/>
                </a:solidFill>
                <a:latin typeface="Times New Roman" panose="02020603050405020304" pitchFamily="18" charset="0"/>
                <a:ea typeface="隶书" panose="02010509060101010101" pitchFamily="49" charset="-122"/>
              </a:rPr>
              <a:t>即晶体管在放大区时具有电流放大作用。</a:t>
            </a:r>
            <a:endParaRPr kumimoji="1" lang="zh-CN" altLang="el-GR" sz="2400">
              <a:solidFill>
                <a:srgbClr val="000048"/>
              </a:solidFill>
              <a:latin typeface="Times New Roman" panose="02020603050405020304" pitchFamily="18" charset="0"/>
              <a:ea typeface="隶书" panose="02010509060101010101" pitchFamily="49" charset="-122"/>
            </a:endParaRPr>
          </a:p>
        </p:txBody>
      </p:sp>
      <p:sp>
        <p:nvSpPr>
          <p:cNvPr id="15400" name="AutoShape 40"/>
          <p:cNvSpPr>
            <a:spLocks noChangeArrowheads="1"/>
          </p:cNvSpPr>
          <p:nvPr/>
        </p:nvSpPr>
        <p:spPr bwMode="auto">
          <a:xfrm>
            <a:off x="395288" y="4581525"/>
            <a:ext cx="3457575" cy="1517650"/>
          </a:xfrm>
          <a:prstGeom prst="wedgeRectCallout">
            <a:avLst>
              <a:gd name="adj1" fmla="val 70019"/>
              <a:gd name="adj2" fmla="val -219769"/>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lnSpc>
                <a:spcPct val="125000"/>
              </a:lnSpc>
            </a:pPr>
            <a:r>
              <a:rPr lang="zh-CN" altLang="en-US"/>
              <a:t>此时</a:t>
            </a:r>
            <a:r>
              <a:rPr lang="en-US" altLang="zh-CN"/>
              <a:t>U</a:t>
            </a:r>
            <a:r>
              <a:rPr lang="en-US" altLang="zh-CN" baseline="-25000"/>
              <a:t>CE</a:t>
            </a:r>
            <a:r>
              <a:rPr lang="zh-CN" altLang="en-US"/>
              <a:t>小于</a:t>
            </a:r>
            <a:r>
              <a:rPr lang="en-US" altLang="zh-CN"/>
              <a:t>U</a:t>
            </a:r>
            <a:r>
              <a:rPr lang="en-US" altLang="zh-CN" baseline="-25000"/>
              <a:t>BE,</a:t>
            </a:r>
            <a:r>
              <a:rPr lang="zh-CN" altLang="en-US"/>
              <a:t>规定： </a:t>
            </a:r>
            <a:r>
              <a:rPr lang="en-US" altLang="zh-CN"/>
              <a:t>U</a:t>
            </a:r>
            <a:r>
              <a:rPr lang="en-US" altLang="zh-CN" baseline="-25000"/>
              <a:t>CE</a:t>
            </a:r>
            <a:r>
              <a:rPr lang="en-US" altLang="zh-CN"/>
              <a:t>=U</a:t>
            </a:r>
            <a:r>
              <a:rPr lang="en-US" altLang="zh-CN" baseline="-25000"/>
              <a:t>BE</a:t>
            </a:r>
            <a:r>
              <a:rPr lang="zh-CN" altLang="en-US"/>
              <a:t>时，为临近饱和状态，用</a:t>
            </a:r>
            <a:r>
              <a:rPr lang="en-US" altLang="zh-CN"/>
              <a:t>U</a:t>
            </a:r>
            <a:r>
              <a:rPr lang="en-US" altLang="zh-CN" baseline="-25000"/>
              <a:t>CES</a:t>
            </a:r>
            <a:r>
              <a:rPr lang="zh-CN" altLang="en-US"/>
              <a:t>（</a:t>
            </a:r>
            <a:r>
              <a:rPr lang="en-US" altLang="zh-CN"/>
              <a:t>0.3</a:t>
            </a:r>
            <a:r>
              <a:rPr lang="zh-CN" altLang="en-US"/>
              <a:t>或</a:t>
            </a:r>
            <a:r>
              <a:rPr lang="en-US" altLang="zh-CN"/>
              <a:t>0.1</a:t>
            </a:r>
            <a:r>
              <a:rPr lang="zh-CN" altLang="en-US"/>
              <a:t>）表示，此时集电极临近饱和电流是</a:t>
            </a:r>
          </a:p>
        </p:txBody>
      </p:sp>
      <p:grpSp>
        <p:nvGrpSpPr>
          <p:cNvPr id="15408" name="Group 48"/>
          <p:cNvGrpSpPr/>
          <p:nvPr/>
        </p:nvGrpSpPr>
        <p:grpSpPr bwMode="auto">
          <a:xfrm>
            <a:off x="4211638" y="4365625"/>
            <a:ext cx="4464050" cy="1739900"/>
            <a:chOff x="1882" y="1344"/>
            <a:chExt cx="2541" cy="1096"/>
          </a:xfrm>
        </p:grpSpPr>
        <p:sp>
          <p:nvSpPr>
            <p:cNvPr id="16398" name="Text Box 49"/>
            <p:cNvSpPr txBox="1">
              <a:spLocks noChangeArrowheads="1"/>
            </p:cNvSpPr>
            <p:nvPr/>
          </p:nvSpPr>
          <p:spPr bwMode="auto">
            <a:xfrm>
              <a:off x="1882" y="1344"/>
              <a:ext cx="2517" cy="1096"/>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en-US" altLang="zh-CN"/>
                <a:t>                                             </a:t>
              </a:r>
            </a:p>
            <a:p>
              <a:pPr algn="l" eaLnBrk="1" hangingPunct="1"/>
              <a:endParaRPr lang="en-US" altLang="zh-CN"/>
            </a:p>
            <a:p>
              <a:pPr algn="l" eaLnBrk="1" hangingPunct="1"/>
              <a:endParaRPr lang="en-US" altLang="zh-CN"/>
            </a:p>
            <a:p>
              <a:pPr algn="l" eaLnBrk="1" hangingPunct="1"/>
              <a:endParaRPr lang="en-US" altLang="zh-CN"/>
            </a:p>
            <a:p>
              <a:pPr algn="l" eaLnBrk="1" hangingPunct="1"/>
              <a:endParaRPr lang="en-US" altLang="zh-CN"/>
            </a:p>
            <a:p>
              <a:pPr algn="l" eaLnBrk="1" hangingPunct="1"/>
              <a:r>
                <a:rPr lang="en-US" altLang="zh-CN"/>
                <a:t>                                                           </a:t>
              </a:r>
            </a:p>
          </p:txBody>
        </p:sp>
        <p:graphicFrame>
          <p:nvGraphicFramePr>
            <p:cNvPr id="16399" name="Object 50"/>
            <p:cNvGraphicFramePr>
              <a:graphicFrameLocks noChangeAspect="1"/>
            </p:cNvGraphicFramePr>
            <p:nvPr/>
          </p:nvGraphicFramePr>
          <p:xfrm>
            <a:off x="1882" y="1497"/>
            <a:ext cx="2541" cy="900"/>
          </p:xfrm>
          <a:graphic>
            <a:graphicData uri="http://schemas.openxmlformats.org/presentationml/2006/ole">
              <mc:AlternateContent xmlns:mc="http://schemas.openxmlformats.org/markup-compatibility/2006">
                <mc:Choice xmlns:v="urn:schemas-microsoft-com:vml" Requires="v">
                  <p:oleObj name="公式" r:id="rId2" imgW="1981200" imgH="685800" progId="Equation.3">
                    <p:embed/>
                  </p:oleObj>
                </mc:Choice>
                <mc:Fallback>
                  <p:oleObj name="公式" r:id="rId2" imgW="1981200" imgH="685800" progId="Equation.3">
                    <p:embed/>
                    <p:pic>
                      <p:nvPicPr>
                        <p:cNvPr id="0" name="图片 1134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2" y="1497"/>
                          <a:ext cx="2541" cy="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5412" name="Text Box 52"/>
          <p:cNvSpPr txBox="1">
            <a:spLocks noChangeArrowheads="1"/>
          </p:cNvSpPr>
          <p:nvPr/>
        </p:nvSpPr>
        <p:spPr bwMode="auto">
          <a:xfrm>
            <a:off x="3148013" y="1700213"/>
            <a:ext cx="5995987" cy="1465262"/>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en-US" altLang="zh-CN"/>
              <a:t>                                                                                 </a:t>
            </a:r>
          </a:p>
          <a:p>
            <a:pPr algn="l" eaLnBrk="1" hangingPunct="1"/>
            <a:r>
              <a:rPr lang="zh-CN" altLang="en-US"/>
              <a:t>管子深度饱和时，硅管的</a:t>
            </a:r>
            <a:r>
              <a:rPr lang="en-US" altLang="zh-CN" i="1"/>
              <a:t>V</a:t>
            </a:r>
            <a:r>
              <a:rPr lang="en-US" altLang="zh-CN"/>
              <a:t>CE</a:t>
            </a:r>
            <a:r>
              <a:rPr lang="zh-CN" altLang="en-US"/>
              <a:t>约为</a:t>
            </a:r>
            <a:r>
              <a:rPr lang="en-US" altLang="zh-CN"/>
              <a:t>0.3V</a:t>
            </a:r>
            <a:r>
              <a:rPr lang="zh-CN" altLang="en-US"/>
              <a:t>，锗管约为</a:t>
            </a:r>
            <a:r>
              <a:rPr lang="en-US" altLang="zh-CN"/>
              <a:t>0.1V,</a:t>
            </a:r>
            <a:r>
              <a:rPr lang="zh-CN" altLang="en-US"/>
              <a:t>　由于深度饱和时</a:t>
            </a:r>
            <a:r>
              <a:rPr lang="en-US" altLang="zh-CN" i="1"/>
              <a:t>V</a:t>
            </a:r>
            <a:r>
              <a:rPr lang="en-US" altLang="zh-CN"/>
              <a:t>CE</a:t>
            </a:r>
            <a:r>
              <a:rPr lang="zh-CN" altLang="en-US"/>
              <a:t>约等于</a:t>
            </a:r>
            <a:r>
              <a:rPr lang="en-US" altLang="zh-CN"/>
              <a:t>0</a:t>
            </a:r>
            <a:r>
              <a:rPr lang="zh-CN" altLang="en-US"/>
              <a:t>，晶体管在电路中犹如一个闭合的开关。</a:t>
            </a:r>
          </a:p>
          <a:p>
            <a:pPr algn="l" eaLnBrk="1" hangingPunct="1"/>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392"/>
                                        </p:tgtEl>
                                        <p:attrNameLst>
                                          <p:attrName>style.visibility</p:attrName>
                                        </p:attrNameLst>
                                      </p:cBhvr>
                                      <p:to>
                                        <p:strVal val="visible"/>
                                      </p:to>
                                    </p:set>
                                    <p:animEffect transition="in" filter="wipe(left)">
                                      <p:cBhvr>
                                        <p:cTn id="7" dur="2000"/>
                                        <p:tgtEl>
                                          <p:spTgt spid="15392"/>
                                        </p:tgtEl>
                                      </p:cBhvr>
                                    </p:animEffect>
                                  </p:childTnLst>
                                </p:cTn>
                              </p:par>
                            </p:childTnLst>
                          </p:cTn>
                        </p:par>
                        <p:par>
                          <p:cTn id="8" fill="hold">
                            <p:stCondLst>
                              <p:cond delay="2000"/>
                            </p:stCondLst>
                            <p:childTnLst>
                              <p:par>
                                <p:cTn id="9" presetID="18" presetClass="entr" presetSubtype="3" fill="hold" nodeType="afterEffect">
                                  <p:stCondLst>
                                    <p:cond delay="0"/>
                                  </p:stCondLst>
                                  <p:childTnLst>
                                    <p:set>
                                      <p:cBhvr>
                                        <p:cTn id="10" dur="1" fill="hold">
                                          <p:stCondLst>
                                            <p:cond delay="0"/>
                                          </p:stCondLst>
                                        </p:cTn>
                                        <p:tgtEl>
                                          <p:spTgt spid="15362"/>
                                        </p:tgtEl>
                                        <p:attrNameLst>
                                          <p:attrName>style.visibility</p:attrName>
                                        </p:attrNameLst>
                                      </p:cBhvr>
                                      <p:to>
                                        <p:strVal val="visible"/>
                                      </p:to>
                                    </p:set>
                                    <p:animEffect transition="in" filter="strips(upRight)">
                                      <p:cBhvr>
                                        <p:cTn id="11" dur="1000"/>
                                        <p:tgtEl>
                                          <p:spTgt spid="1536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5397"/>
                                        </p:tgtEl>
                                        <p:attrNameLst>
                                          <p:attrName>style.visibility</p:attrName>
                                        </p:attrNameLst>
                                      </p:cBhvr>
                                      <p:to>
                                        <p:strVal val="visible"/>
                                      </p:to>
                                    </p:set>
                                    <p:animEffect transition="in" filter="wipe(left)">
                                      <p:cBhvr>
                                        <p:cTn id="16" dur="500"/>
                                        <p:tgtEl>
                                          <p:spTgt spid="15397"/>
                                        </p:tgtEl>
                                      </p:cBhvr>
                                    </p:animEffect>
                                  </p:childTnLst>
                                </p:cTn>
                              </p:par>
                            </p:childTnLst>
                          </p:cTn>
                        </p:par>
                        <p:par>
                          <p:cTn id="17" fill="hold">
                            <p:stCondLst>
                              <p:cond delay="500"/>
                            </p:stCondLst>
                            <p:childTnLst>
                              <p:par>
                                <p:cTn id="18" presetID="23" presetClass="entr" presetSubtype="32" fill="hold" grpId="0" nodeType="afterEffect">
                                  <p:stCondLst>
                                    <p:cond delay="0"/>
                                  </p:stCondLst>
                                  <p:childTnLst>
                                    <p:set>
                                      <p:cBhvr>
                                        <p:cTn id="19" dur="1" fill="hold">
                                          <p:stCondLst>
                                            <p:cond delay="0"/>
                                          </p:stCondLst>
                                        </p:cTn>
                                        <p:tgtEl>
                                          <p:spTgt spid="15398"/>
                                        </p:tgtEl>
                                        <p:attrNameLst>
                                          <p:attrName>style.visibility</p:attrName>
                                        </p:attrNameLst>
                                      </p:cBhvr>
                                      <p:to>
                                        <p:strVal val="visible"/>
                                      </p:to>
                                    </p:set>
                                    <p:anim calcmode="lin" valueType="num">
                                      <p:cBhvr>
                                        <p:cTn id="20" dur="500" fill="hold"/>
                                        <p:tgtEl>
                                          <p:spTgt spid="15398"/>
                                        </p:tgtEl>
                                        <p:attrNameLst>
                                          <p:attrName>ppt_w</p:attrName>
                                        </p:attrNameLst>
                                      </p:cBhvr>
                                      <p:tavLst>
                                        <p:tav tm="0">
                                          <p:val>
                                            <p:strVal val="4*#ppt_w"/>
                                          </p:val>
                                        </p:tav>
                                        <p:tav tm="100000">
                                          <p:val>
                                            <p:strVal val="#ppt_w"/>
                                          </p:val>
                                        </p:tav>
                                      </p:tavLst>
                                    </p:anim>
                                    <p:anim calcmode="lin" valueType="num">
                                      <p:cBhvr>
                                        <p:cTn id="21" dur="500" fill="hold"/>
                                        <p:tgtEl>
                                          <p:spTgt spid="15398"/>
                                        </p:tgtEl>
                                        <p:attrNameLst>
                                          <p:attrName>ppt_h</p:attrName>
                                        </p:attrNameLst>
                                      </p:cBhvr>
                                      <p:tavLst>
                                        <p:tav tm="0">
                                          <p:val>
                                            <p:strVal val="4*#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5399">
                                            <p:txEl>
                                              <p:pRg st="0" end="0"/>
                                            </p:txEl>
                                          </p:spTgt>
                                        </p:tgtEl>
                                        <p:attrNameLst>
                                          <p:attrName>style.visibility</p:attrName>
                                        </p:attrNameLst>
                                      </p:cBhvr>
                                      <p:to>
                                        <p:strVal val="visible"/>
                                      </p:to>
                                    </p:set>
                                    <p:animEffect transition="in" filter="wipe(left)">
                                      <p:cBhvr>
                                        <p:cTn id="26" dur="1000"/>
                                        <p:tgtEl>
                                          <p:spTgt spid="15399">
                                            <p:txEl>
                                              <p:pRg st="0" end="0"/>
                                            </p:txEl>
                                          </p:spTgt>
                                        </p:tgtEl>
                                      </p:cBhvr>
                                    </p:animEffect>
                                  </p:childTnLst>
                                </p:cTn>
                              </p:par>
                            </p:childTnLst>
                          </p:cTn>
                        </p:par>
                        <p:par>
                          <p:cTn id="27" fill="hold">
                            <p:stCondLst>
                              <p:cond delay="1000"/>
                            </p:stCondLst>
                            <p:childTnLst>
                              <p:par>
                                <p:cTn id="28" presetID="22" presetClass="entr" presetSubtype="8" fill="hold" nodeType="afterEffect">
                                  <p:stCondLst>
                                    <p:cond delay="0"/>
                                  </p:stCondLst>
                                  <p:childTnLst>
                                    <p:set>
                                      <p:cBhvr>
                                        <p:cTn id="29" dur="1" fill="hold">
                                          <p:stCondLst>
                                            <p:cond delay="0"/>
                                          </p:stCondLst>
                                        </p:cTn>
                                        <p:tgtEl>
                                          <p:spTgt spid="15399">
                                            <p:txEl>
                                              <p:pRg st="1" end="1"/>
                                            </p:txEl>
                                          </p:spTgt>
                                        </p:tgtEl>
                                        <p:attrNameLst>
                                          <p:attrName>style.visibility</p:attrName>
                                        </p:attrNameLst>
                                      </p:cBhvr>
                                      <p:to>
                                        <p:strVal val="visible"/>
                                      </p:to>
                                    </p:set>
                                    <p:animEffect transition="in" filter="wipe(left)">
                                      <p:cBhvr>
                                        <p:cTn id="30" dur="1000"/>
                                        <p:tgtEl>
                                          <p:spTgt spid="15399">
                                            <p:txEl>
                                              <p:pRg st="1" end="1"/>
                                            </p:txEl>
                                          </p:spTgt>
                                        </p:tgtEl>
                                      </p:cBhvr>
                                    </p:animEffect>
                                  </p:childTnLst>
                                </p:cTn>
                              </p:par>
                            </p:childTnLst>
                          </p:cTn>
                        </p:par>
                        <p:par>
                          <p:cTn id="31" fill="hold">
                            <p:stCondLst>
                              <p:cond delay="2000"/>
                            </p:stCondLst>
                            <p:childTnLst>
                              <p:par>
                                <p:cTn id="32" presetID="22" presetClass="entr" presetSubtype="8" fill="hold" nodeType="afterEffect">
                                  <p:stCondLst>
                                    <p:cond delay="0"/>
                                  </p:stCondLst>
                                  <p:childTnLst>
                                    <p:set>
                                      <p:cBhvr>
                                        <p:cTn id="33" dur="1" fill="hold">
                                          <p:stCondLst>
                                            <p:cond delay="0"/>
                                          </p:stCondLst>
                                        </p:cTn>
                                        <p:tgtEl>
                                          <p:spTgt spid="15399">
                                            <p:txEl>
                                              <p:pRg st="2" end="2"/>
                                            </p:txEl>
                                          </p:spTgt>
                                        </p:tgtEl>
                                        <p:attrNameLst>
                                          <p:attrName>style.visibility</p:attrName>
                                        </p:attrNameLst>
                                      </p:cBhvr>
                                      <p:to>
                                        <p:strVal val="visible"/>
                                      </p:to>
                                    </p:set>
                                    <p:animEffect transition="in" filter="wipe(left)">
                                      <p:cBhvr>
                                        <p:cTn id="34" dur="1000"/>
                                        <p:tgtEl>
                                          <p:spTgt spid="15399">
                                            <p:txEl>
                                              <p:pRg st="2" end="2"/>
                                            </p:txEl>
                                          </p:spTgt>
                                        </p:tgtEl>
                                      </p:cBhvr>
                                    </p:animEffect>
                                  </p:childTnLst>
                                </p:cTn>
                              </p:par>
                            </p:childTnLst>
                          </p:cTn>
                        </p:par>
                        <p:par>
                          <p:cTn id="35" fill="hold">
                            <p:stCondLst>
                              <p:cond delay="3000"/>
                            </p:stCondLst>
                            <p:childTnLst>
                              <p:par>
                                <p:cTn id="36" presetID="22" presetClass="entr" presetSubtype="8" fill="hold" nodeType="afterEffect">
                                  <p:stCondLst>
                                    <p:cond delay="0"/>
                                  </p:stCondLst>
                                  <p:childTnLst>
                                    <p:set>
                                      <p:cBhvr>
                                        <p:cTn id="37" dur="1" fill="hold">
                                          <p:stCondLst>
                                            <p:cond delay="0"/>
                                          </p:stCondLst>
                                        </p:cTn>
                                        <p:tgtEl>
                                          <p:spTgt spid="15399">
                                            <p:txEl>
                                              <p:pRg st="3" end="3"/>
                                            </p:txEl>
                                          </p:spTgt>
                                        </p:tgtEl>
                                        <p:attrNameLst>
                                          <p:attrName>style.visibility</p:attrName>
                                        </p:attrNameLst>
                                      </p:cBhvr>
                                      <p:to>
                                        <p:strVal val="visible"/>
                                      </p:to>
                                    </p:set>
                                    <p:animEffect transition="in" filter="wipe(left)">
                                      <p:cBhvr>
                                        <p:cTn id="38" dur="1000"/>
                                        <p:tgtEl>
                                          <p:spTgt spid="15399">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15393"/>
                                        </p:tgtEl>
                                        <p:attrNameLst>
                                          <p:attrName>style.visibility</p:attrName>
                                        </p:attrNameLst>
                                      </p:cBhvr>
                                      <p:to>
                                        <p:strVal val="visible"/>
                                      </p:to>
                                    </p:set>
                                    <p:animEffect transition="in" filter="wipe(up)">
                                      <p:cBhvr>
                                        <p:cTn id="43" dur="1000"/>
                                        <p:tgtEl>
                                          <p:spTgt spid="15393"/>
                                        </p:tgtEl>
                                      </p:cBhvr>
                                    </p:animEffect>
                                  </p:childTnLst>
                                </p:cTn>
                              </p:par>
                            </p:childTnLst>
                          </p:cTn>
                        </p:par>
                        <p:par>
                          <p:cTn id="44" fill="hold">
                            <p:stCondLst>
                              <p:cond delay="1000"/>
                            </p:stCondLst>
                            <p:childTnLst>
                              <p:par>
                                <p:cTn id="45" presetID="27" presetClass="entr" presetSubtype="0" fill="hold" grpId="0" nodeType="afterEffect">
                                  <p:stCondLst>
                                    <p:cond delay="0"/>
                                  </p:stCondLst>
                                  <p:iterate type="lt">
                                    <p:tmPct val="50000"/>
                                  </p:iterate>
                                  <p:childTnLst>
                                    <p:set>
                                      <p:cBhvr>
                                        <p:cTn id="46" dur="1" fill="hold">
                                          <p:stCondLst>
                                            <p:cond delay="0"/>
                                          </p:stCondLst>
                                        </p:cTn>
                                        <p:tgtEl>
                                          <p:spTgt spid="15394"/>
                                        </p:tgtEl>
                                        <p:attrNameLst>
                                          <p:attrName>style.visibility</p:attrName>
                                        </p:attrNameLst>
                                      </p:cBhvr>
                                      <p:to>
                                        <p:strVal val="visible"/>
                                      </p:to>
                                    </p:set>
                                    <p:anim calcmode="discrete" valueType="clr">
                                      <p:cBhvr override="childStyle">
                                        <p:cTn id="47" dur="80"/>
                                        <p:tgtEl>
                                          <p:spTgt spid="15394"/>
                                        </p:tgtEl>
                                        <p:attrNameLst>
                                          <p:attrName>style.color</p:attrName>
                                        </p:attrNameLst>
                                      </p:cBhvr>
                                      <p:tavLst>
                                        <p:tav tm="0">
                                          <p:val>
                                            <p:clrVal>
                                              <a:schemeClr val="accent2"/>
                                            </p:clrVal>
                                          </p:val>
                                        </p:tav>
                                        <p:tav tm="50000">
                                          <p:val>
                                            <p:clrVal>
                                              <a:schemeClr val="hlink"/>
                                            </p:clrVal>
                                          </p:val>
                                        </p:tav>
                                      </p:tavLst>
                                    </p:anim>
                                    <p:anim calcmode="discrete" valueType="clr">
                                      <p:cBhvr>
                                        <p:cTn id="48" dur="80"/>
                                        <p:tgtEl>
                                          <p:spTgt spid="15394"/>
                                        </p:tgtEl>
                                        <p:attrNameLst>
                                          <p:attrName>fillcolor</p:attrName>
                                        </p:attrNameLst>
                                      </p:cBhvr>
                                      <p:tavLst>
                                        <p:tav tm="0">
                                          <p:val>
                                            <p:clrVal>
                                              <a:schemeClr val="accent2"/>
                                            </p:clrVal>
                                          </p:val>
                                        </p:tav>
                                        <p:tav tm="50000">
                                          <p:val>
                                            <p:clrVal>
                                              <a:schemeClr val="hlink"/>
                                            </p:clrVal>
                                          </p:val>
                                        </p:tav>
                                      </p:tavLst>
                                    </p:anim>
                                    <p:set>
                                      <p:cBhvr>
                                        <p:cTn id="49" dur="80"/>
                                        <p:tgtEl>
                                          <p:spTgt spid="15394"/>
                                        </p:tgtEl>
                                        <p:attrNameLst>
                                          <p:attrName>fill.type</p:attrName>
                                        </p:attrNameLst>
                                      </p:cBhvr>
                                      <p:to>
                                        <p:strVal val="solid"/>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5395"/>
                                        </p:tgtEl>
                                        <p:attrNameLst>
                                          <p:attrName>style.visibility</p:attrName>
                                        </p:attrNameLst>
                                      </p:cBhvr>
                                      <p:to>
                                        <p:strVal val="visible"/>
                                      </p:to>
                                    </p:set>
                                    <p:animEffect transition="in" filter="wipe(left)">
                                      <p:cBhvr>
                                        <p:cTn id="54" dur="1000"/>
                                        <p:tgtEl>
                                          <p:spTgt spid="15395"/>
                                        </p:tgtEl>
                                      </p:cBhvr>
                                    </p:animEffect>
                                  </p:childTnLst>
                                </p:cTn>
                              </p:par>
                            </p:childTnLst>
                          </p:cTn>
                        </p:par>
                        <p:par>
                          <p:cTn id="55" fill="hold">
                            <p:stCondLst>
                              <p:cond delay="1000"/>
                            </p:stCondLst>
                            <p:childTnLst>
                              <p:par>
                                <p:cTn id="56" presetID="31" presetClass="entr" presetSubtype="0" fill="hold" grpId="0" nodeType="afterEffect">
                                  <p:stCondLst>
                                    <p:cond delay="0"/>
                                  </p:stCondLst>
                                  <p:iterate type="lt">
                                    <p:tmPct val="5000"/>
                                  </p:iterate>
                                  <p:childTnLst>
                                    <p:set>
                                      <p:cBhvr>
                                        <p:cTn id="57" dur="1" fill="hold">
                                          <p:stCondLst>
                                            <p:cond delay="0"/>
                                          </p:stCondLst>
                                        </p:cTn>
                                        <p:tgtEl>
                                          <p:spTgt spid="15396"/>
                                        </p:tgtEl>
                                        <p:attrNameLst>
                                          <p:attrName>style.visibility</p:attrName>
                                        </p:attrNameLst>
                                      </p:cBhvr>
                                      <p:to>
                                        <p:strVal val="visible"/>
                                      </p:to>
                                    </p:set>
                                    <p:anim calcmode="lin" valueType="num">
                                      <p:cBhvr>
                                        <p:cTn id="58" dur="1000" fill="hold"/>
                                        <p:tgtEl>
                                          <p:spTgt spid="15396"/>
                                        </p:tgtEl>
                                        <p:attrNameLst>
                                          <p:attrName>ppt_w</p:attrName>
                                        </p:attrNameLst>
                                      </p:cBhvr>
                                      <p:tavLst>
                                        <p:tav tm="0">
                                          <p:val>
                                            <p:fltVal val="0"/>
                                          </p:val>
                                        </p:tav>
                                        <p:tav tm="100000">
                                          <p:val>
                                            <p:strVal val="#ppt_w"/>
                                          </p:val>
                                        </p:tav>
                                      </p:tavLst>
                                    </p:anim>
                                    <p:anim calcmode="lin" valueType="num">
                                      <p:cBhvr>
                                        <p:cTn id="59" dur="1000" fill="hold"/>
                                        <p:tgtEl>
                                          <p:spTgt spid="15396"/>
                                        </p:tgtEl>
                                        <p:attrNameLst>
                                          <p:attrName>ppt_h</p:attrName>
                                        </p:attrNameLst>
                                      </p:cBhvr>
                                      <p:tavLst>
                                        <p:tav tm="0">
                                          <p:val>
                                            <p:fltVal val="0"/>
                                          </p:val>
                                        </p:tav>
                                        <p:tav tm="100000">
                                          <p:val>
                                            <p:strVal val="#ppt_h"/>
                                          </p:val>
                                        </p:tav>
                                      </p:tavLst>
                                    </p:anim>
                                    <p:anim calcmode="lin" valueType="num">
                                      <p:cBhvr>
                                        <p:cTn id="60" dur="1000" fill="hold"/>
                                        <p:tgtEl>
                                          <p:spTgt spid="15396"/>
                                        </p:tgtEl>
                                        <p:attrNameLst>
                                          <p:attrName>style.rotation</p:attrName>
                                        </p:attrNameLst>
                                      </p:cBhvr>
                                      <p:tavLst>
                                        <p:tav tm="0">
                                          <p:val>
                                            <p:fltVal val="90"/>
                                          </p:val>
                                        </p:tav>
                                        <p:tav tm="100000">
                                          <p:val>
                                            <p:fltVal val="0"/>
                                          </p:val>
                                        </p:tav>
                                      </p:tavLst>
                                    </p:anim>
                                    <p:animEffect transition="in" filter="fade">
                                      <p:cBhvr>
                                        <p:cTn id="61" dur="1000"/>
                                        <p:tgtEl>
                                          <p:spTgt spid="15396"/>
                                        </p:tgtEl>
                                      </p:cBhvr>
                                    </p:animEffect>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15400"/>
                                        </p:tgtEl>
                                        <p:attrNameLst>
                                          <p:attrName>style.visibility</p:attrName>
                                        </p:attrNameLst>
                                      </p:cBhvr>
                                      <p:to>
                                        <p:strVal val="visible"/>
                                      </p:to>
                                    </p:set>
                                    <p:anim calcmode="lin" valueType="num">
                                      <p:cBhvr additive="base">
                                        <p:cTn id="66" dur="500" fill="hold"/>
                                        <p:tgtEl>
                                          <p:spTgt spid="15400"/>
                                        </p:tgtEl>
                                        <p:attrNameLst>
                                          <p:attrName>ppt_x</p:attrName>
                                        </p:attrNameLst>
                                      </p:cBhvr>
                                      <p:tavLst>
                                        <p:tav tm="0">
                                          <p:val>
                                            <p:strVal val="#ppt_x"/>
                                          </p:val>
                                        </p:tav>
                                        <p:tav tm="100000">
                                          <p:val>
                                            <p:strVal val="#ppt_x"/>
                                          </p:val>
                                        </p:tav>
                                      </p:tavLst>
                                    </p:anim>
                                    <p:anim calcmode="lin" valueType="num">
                                      <p:cBhvr additive="base">
                                        <p:cTn id="67" dur="500" fill="hold"/>
                                        <p:tgtEl>
                                          <p:spTgt spid="15400"/>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15408"/>
                                        </p:tgtEl>
                                        <p:attrNameLst>
                                          <p:attrName>style.visibility</p:attrName>
                                        </p:attrNameLst>
                                      </p:cBhvr>
                                      <p:to>
                                        <p:strVal val="visible"/>
                                      </p:to>
                                    </p:set>
                                    <p:animEffect transition="in" filter="blinds(horizontal)">
                                      <p:cBhvr>
                                        <p:cTn id="72" dur="500"/>
                                        <p:tgtEl>
                                          <p:spTgt spid="15408"/>
                                        </p:tgtEl>
                                      </p:cBhvr>
                                    </p:animEffect>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15412"/>
                                        </p:tgtEl>
                                        <p:attrNameLst>
                                          <p:attrName>style.visibility</p:attrName>
                                        </p:attrNameLst>
                                      </p:cBhvr>
                                      <p:to>
                                        <p:strVal val="visible"/>
                                      </p:to>
                                    </p:set>
                                    <p:anim calcmode="lin" valueType="num">
                                      <p:cBhvr additive="base">
                                        <p:cTn id="77" dur="500" fill="hold"/>
                                        <p:tgtEl>
                                          <p:spTgt spid="15412"/>
                                        </p:tgtEl>
                                        <p:attrNameLst>
                                          <p:attrName>ppt_x</p:attrName>
                                        </p:attrNameLst>
                                      </p:cBhvr>
                                      <p:tavLst>
                                        <p:tav tm="0">
                                          <p:val>
                                            <p:strVal val="#ppt_x"/>
                                          </p:val>
                                        </p:tav>
                                        <p:tav tm="100000">
                                          <p:val>
                                            <p:strVal val="#ppt_x"/>
                                          </p:val>
                                        </p:tav>
                                      </p:tavLst>
                                    </p:anim>
                                    <p:anim calcmode="lin" valueType="num">
                                      <p:cBhvr additive="base">
                                        <p:cTn id="78" dur="500" fill="hold"/>
                                        <p:tgtEl>
                                          <p:spTgt spid="154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92" grpId="0" animBg="1"/>
      <p:bldP spid="15393" grpId="0" animBg="1"/>
      <p:bldP spid="15394" grpId="0" animBg="1"/>
      <p:bldP spid="15395" grpId="0" animBg="1"/>
      <p:bldP spid="15396" grpId="0" animBg="1"/>
      <p:bldP spid="15397" grpId="0" animBg="1"/>
      <p:bldP spid="15398" grpId="0" animBg="1"/>
      <p:bldP spid="15400" grpId="0" animBg="1"/>
      <p:bldP spid="1541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Text Box 4"/>
          <p:cNvSpPr txBox="1">
            <a:spLocks noChangeArrowheads="1"/>
          </p:cNvSpPr>
          <p:nvPr/>
        </p:nvSpPr>
        <p:spPr bwMode="auto">
          <a:xfrm>
            <a:off x="846698" y="982835"/>
            <a:ext cx="7539642" cy="2545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762" tIns="48381" rIns="96762" bIns="48381">
            <a:spAutoFit/>
          </a:bodyPr>
          <a:lstStyle>
            <a:lvl1pPr defTabSz="863600" eaLnBrk="0" hangingPunct="0">
              <a:defRPr sz="2400">
                <a:solidFill>
                  <a:schemeClr val="tx1"/>
                </a:solidFill>
                <a:latin typeface="Arial" panose="020B0604020202020204" pitchFamily="34" charset="0"/>
                <a:ea typeface="宋体" panose="02010600030101010101" pitchFamily="2" charset="-122"/>
              </a:defRPr>
            </a:lvl1pPr>
            <a:lvl2pPr marL="742950" indent="-285750" defTabSz="863600" eaLnBrk="0" hangingPunct="0">
              <a:defRPr sz="2400">
                <a:solidFill>
                  <a:schemeClr val="tx1"/>
                </a:solidFill>
                <a:latin typeface="Arial" panose="020B0604020202020204" pitchFamily="34" charset="0"/>
                <a:ea typeface="宋体" panose="02010600030101010101" pitchFamily="2" charset="-122"/>
              </a:defRPr>
            </a:lvl2pPr>
            <a:lvl3pPr marL="1143000" indent="-228600" defTabSz="863600" eaLnBrk="0" hangingPunct="0">
              <a:defRPr sz="2400">
                <a:solidFill>
                  <a:schemeClr val="tx1"/>
                </a:solidFill>
                <a:latin typeface="Arial" panose="020B0604020202020204" pitchFamily="34" charset="0"/>
                <a:ea typeface="宋体" panose="02010600030101010101" pitchFamily="2" charset="-122"/>
              </a:defRPr>
            </a:lvl3pPr>
            <a:lvl4pPr marL="1600200" indent="-228600" defTabSz="863600" eaLnBrk="0" hangingPunct="0">
              <a:defRPr sz="2400">
                <a:solidFill>
                  <a:schemeClr val="tx1"/>
                </a:solidFill>
                <a:latin typeface="Arial" panose="020B0604020202020204" pitchFamily="34" charset="0"/>
                <a:ea typeface="宋体" panose="02010600030101010101" pitchFamily="2" charset="-122"/>
              </a:defRPr>
            </a:lvl4pPr>
            <a:lvl5pPr marL="2057400" indent="-228600" defTabSz="863600" eaLnBrk="0" hangingPunct="0">
              <a:defRPr sz="2400">
                <a:solidFill>
                  <a:schemeClr val="tx1"/>
                </a:solidFill>
                <a:latin typeface="Arial" panose="020B0604020202020204" pitchFamily="34" charset="0"/>
                <a:ea typeface="宋体" panose="02010600030101010101" pitchFamily="2" charset="-122"/>
              </a:defRPr>
            </a:lvl5pPr>
            <a:lvl6pPr marL="25146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dirty="0">
                <a:latin typeface="黑体" panose="02010609060101010101" pitchFamily="2" charset="-122"/>
                <a:ea typeface="黑体" panose="02010609060101010101" pitchFamily="2" charset="-122"/>
              </a:rPr>
              <a:t>    3.</a:t>
            </a:r>
            <a:r>
              <a:rPr lang="zh-CN" altLang="en-US" sz="2800" b="1" dirty="0">
                <a:latin typeface="黑体" panose="02010609060101010101" pitchFamily="2" charset="-122"/>
                <a:ea typeface="黑体" panose="02010609060101010101" pitchFamily="2" charset="-122"/>
              </a:rPr>
              <a:t>三极管的三个工作区</a:t>
            </a:r>
          </a:p>
          <a:p>
            <a:pPr eaLnBrk="1" hangingPunct="1">
              <a:lnSpc>
                <a:spcPct val="120000"/>
              </a:lnSpc>
            </a:pPr>
            <a:r>
              <a:rPr lang="zh-CN" altLang="en-US" sz="2800" b="1" dirty="0"/>
              <a:t>        </a:t>
            </a:r>
            <a:r>
              <a:rPr lang="en-US" altLang="zh-CN" sz="2800" b="1" dirty="0"/>
              <a:t>(1) </a:t>
            </a:r>
            <a:r>
              <a:rPr lang="zh-CN" altLang="en-US" sz="2800" b="1" dirty="0"/>
              <a:t>三极管输出特性曲线中，</a:t>
            </a:r>
            <a:r>
              <a:rPr lang="en-US" altLang="zh-CN" sz="2800" b="1" i="1" dirty="0">
                <a:latin typeface="宋体" panose="02010600030101010101" pitchFamily="2" charset="-122"/>
              </a:rPr>
              <a:t>I</a:t>
            </a:r>
            <a:r>
              <a:rPr lang="en-US" altLang="zh-CN" sz="2800" b="1" baseline="-25000" dirty="0"/>
              <a:t>B</a:t>
            </a:r>
            <a:r>
              <a:rPr lang="en-US" altLang="zh-CN" sz="2800" b="1" dirty="0"/>
              <a:t>=0</a:t>
            </a:r>
            <a:r>
              <a:rPr lang="zh-CN" altLang="en-US" sz="2800" b="1" dirty="0"/>
              <a:t>的输出特性曲线以下，横轴以上的区域称为截止区。其特点是：发射结和集电结均为反偏，各电极电流很小，相当于一个断开的开关。</a:t>
            </a:r>
          </a:p>
        </p:txBody>
      </p:sp>
      <p:sp>
        <p:nvSpPr>
          <p:cNvPr id="31750" name="Rectangle 6"/>
          <p:cNvSpPr>
            <a:spLocks noChangeArrowheads="1"/>
          </p:cNvSpPr>
          <p:nvPr/>
        </p:nvSpPr>
        <p:spPr bwMode="auto">
          <a:xfrm>
            <a:off x="846698" y="3645024"/>
            <a:ext cx="7418685" cy="2898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762" tIns="48381" rIns="96762" bIns="48381">
            <a:spAutoFit/>
          </a:bodyPr>
          <a:lstStyle/>
          <a:p>
            <a:pPr>
              <a:lnSpc>
                <a:spcPct val="130000"/>
              </a:lnSpc>
            </a:pPr>
            <a:r>
              <a:rPr lang="en-US" altLang="zh-CN" sz="2800" b="1" dirty="0"/>
              <a:t>       (2) </a:t>
            </a:r>
            <a:r>
              <a:rPr lang="zh-CN" altLang="en-US" sz="2800" b="1" dirty="0"/>
              <a:t>输出特性曲线中，截止区以上平坦段组成的区域称为放大区。其特点是：发射结正偏，集电结反偏。此时</a:t>
            </a:r>
            <a:r>
              <a:rPr lang="en-US" altLang="zh-CN" sz="2800" b="1" i="1" dirty="0">
                <a:latin typeface="宋体" panose="02010600030101010101" pitchFamily="2" charset="-122"/>
              </a:rPr>
              <a:t>I</a:t>
            </a:r>
            <a:r>
              <a:rPr lang="en-US" altLang="zh-CN" sz="2800" b="1" baseline="-25000" dirty="0"/>
              <a:t>C</a:t>
            </a:r>
            <a:r>
              <a:rPr lang="zh-CN" altLang="en-US" sz="2800" b="1" dirty="0"/>
              <a:t>受控于</a:t>
            </a:r>
            <a:r>
              <a:rPr lang="en-US" altLang="zh-CN" sz="2800" b="1" i="1" dirty="0">
                <a:latin typeface="宋体" panose="02010600030101010101" pitchFamily="2" charset="-122"/>
              </a:rPr>
              <a:t>I</a:t>
            </a:r>
            <a:r>
              <a:rPr lang="en-US" altLang="zh-CN" sz="2800" b="1" baseline="-25000" dirty="0"/>
              <a:t>B</a:t>
            </a:r>
            <a:r>
              <a:rPr lang="zh-CN" altLang="en-US" sz="2800" b="1" dirty="0"/>
              <a:t>；同时</a:t>
            </a:r>
            <a:r>
              <a:rPr lang="en-US" altLang="zh-CN" sz="2800" b="1" i="1" dirty="0">
                <a:latin typeface="宋体" panose="02010600030101010101" pitchFamily="2" charset="-122"/>
              </a:rPr>
              <a:t>I</a:t>
            </a:r>
            <a:r>
              <a:rPr lang="en-US" altLang="zh-CN" sz="2800" b="1" baseline="-25000" dirty="0"/>
              <a:t>C</a:t>
            </a:r>
            <a:r>
              <a:rPr lang="zh-CN" altLang="en-US" sz="2800" b="1" dirty="0"/>
              <a:t>与</a:t>
            </a:r>
            <a:r>
              <a:rPr lang="en-US" altLang="zh-CN" sz="2800" b="1" i="1" dirty="0">
                <a:latin typeface="宋体" panose="02010600030101010101" pitchFamily="2" charset="-122"/>
              </a:rPr>
              <a:t>U</a:t>
            </a:r>
            <a:r>
              <a:rPr lang="en-US" altLang="zh-CN" sz="2800" b="1" baseline="-25000" dirty="0"/>
              <a:t>CE</a:t>
            </a:r>
            <a:r>
              <a:rPr lang="zh-CN" altLang="en-US" sz="2800" b="1" dirty="0"/>
              <a:t>基本无关，可近似看成恒流。此区内三极管具有电流放大作用。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1748">
                                            <p:txEl>
                                              <p:pRg st="0" end="0"/>
                                            </p:txEl>
                                          </p:spTgt>
                                        </p:tgtEl>
                                        <p:attrNameLst>
                                          <p:attrName>style.visibility</p:attrName>
                                        </p:attrNameLst>
                                      </p:cBhvr>
                                      <p:to>
                                        <p:strVal val="visible"/>
                                      </p:to>
                                    </p:set>
                                    <p:animEffect transition="in" filter="wipe(down)">
                                      <p:cBhvr>
                                        <p:cTn id="7" dur="500"/>
                                        <p:tgtEl>
                                          <p:spTgt spid="3174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1748">
                                            <p:txEl>
                                              <p:pRg st="1" end="1"/>
                                            </p:txEl>
                                          </p:spTgt>
                                        </p:tgtEl>
                                        <p:attrNameLst>
                                          <p:attrName>style.visibility</p:attrName>
                                        </p:attrNameLst>
                                      </p:cBhvr>
                                      <p:to>
                                        <p:strVal val="visible"/>
                                      </p:to>
                                    </p:set>
                                    <p:animEffect transition="in" filter="wipe(left)">
                                      <p:cBhvr>
                                        <p:cTn id="12" dur="500"/>
                                        <p:tgtEl>
                                          <p:spTgt spid="3174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1750"/>
                                        </p:tgtEl>
                                        <p:attrNameLst>
                                          <p:attrName>style.visibility</p:attrName>
                                        </p:attrNameLst>
                                      </p:cBhvr>
                                      <p:to>
                                        <p:strVal val="visible"/>
                                      </p:to>
                                    </p:set>
                                    <p:animEffect transition="in" filter="wipe(left)">
                                      <p:cBhvr>
                                        <p:cTn id="17" dur="500"/>
                                        <p:tgtEl>
                                          <p:spTgt spid="317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Text Box 4"/>
          <p:cNvSpPr txBox="1">
            <a:spLocks noChangeArrowheads="1"/>
          </p:cNvSpPr>
          <p:nvPr/>
        </p:nvSpPr>
        <p:spPr bwMode="auto">
          <a:xfrm>
            <a:off x="821499" y="1134040"/>
            <a:ext cx="7539642" cy="5219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762" tIns="48381" rIns="96762" bIns="48381">
            <a:spAutoFit/>
          </a:bodyPr>
          <a:lstStyle>
            <a:lvl1pPr defTabSz="863600" eaLnBrk="0" hangingPunct="0">
              <a:defRPr sz="2400">
                <a:solidFill>
                  <a:schemeClr val="tx1"/>
                </a:solidFill>
                <a:latin typeface="Arial" panose="020B0604020202020204" pitchFamily="34" charset="0"/>
                <a:ea typeface="宋体" panose="02010600030101010101" pitchFamily="2" charset="-122"/>
              </a:defRPr>
            </a:lvl1pPr>
            <a:lvl2pPr marL="742950" indent="-285750" defTabSz="863600" eaLnBrk="0" hangingPunct="0">
              <a:defRPr sz="2400">
                <a:solidFill>
                  <a:schemeClr val="tx1"/>
                </a:solidFill>
                <a:latin typeface="Arial" panose="020B0604020202020204" pitchFamily="34" charset="0"/>
                <a:ea typeface="宋体" panose="02010600030101010101" pitchFamily="2" charset="-122"/>
              </a:defRPr>
            </a:lvl2pPr>
            <a:lvl3pPr marL="1143000" indent="-228600" defTabSz="863600" eaLnBrk="0" hangingPunct="0">
              <a:defRPr sz="2400">
                <a:solidFill>
                  <a:schemeClr val="tx1"/>
                </a:solidFill>
                <a:latin typeface="Arial" panose="020B0604020202020204" pitchFamily="34" charset="0"/>
                <a:ea typeface="宋体" panose="02010600030101010101" pitchFamily="2" charset="-122"/>
              </a:defRPr>
            </a:lvl3pPr>
            <a:lvl4pPr marL="1600200" indent="-228600" defTabSz="863600" eaLnBrk="0" hangingPunct="0">
              <a:defRPr sz="2400">
                <a:solidFill>
                  <a:schemeClr val="tx1"/>
                </a:solidFill>
                <a:latin typeface="Arial" panose="020B0604020202020204" pitchFamily="34" charset="0"/>
                <a:ea typeface="宋体" panose="02010600030101010101" pitchFamily="2" charset="-122"/>
              </a:defRPr>
            </a:lvl4pPr>
            <a:lvl5pPr marL="2057400" indent="-228600" defTabSz="863600" eaLnBrk="0" hangingPunct="0">
              <a:defRPr sz="2400">
                <a:solidFill>
                  <a:schemeClr val="tx1"/>
                </a:solidFill>
                <a:latin typeface="Arial" panose="020B0604020202020204" pitchFamily="34" charset="0"/>
                <a:ea typeface="宋体" panose="02010600030101010101" pitchFamily="2" charset="-122"/>
              </a:defRPr>
            </a:lvl5pPr>
            <a:lvl6pPr marL="25146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3200" b="1" dirty="0"/>
              <a:t>        (3) </a:t>
            </a:r>
            <a:r>
              <a:rPr lang="zh-CN" altLang="en-US" sz="3200" b="1" dirty="0"/>
              <a:t>输出特性曲线中，</a:t>
            </a:r>
            <a:r>
              <a:rPr lang="en-US" altLang="zh-CN" sz="3200" b="1" i="1" dirty="0">
                <a:latin typeface="宋体" panose="02010600030101010101" pitchFamily="2" charset="-122"/>
              </a:rPr>
              <a:t>U</a:t>
            </a:r>
            <a:r>
              <a:rPr lang="en-US" altLang="zh-CN" sz="3200" b="1" baseline="-25000" dirty="0"/>
              <a:t>CE</a:t>
            </a:r>
            <a:r>
              <a:rPr lang="en-US" altLang="zh-CN" sz="3200" b="1" dirty="0"/>
              <a:t>≤</a:t>
            </a:r>
            <a:r>
              <a:rPr lang="en-US" altLang="zh-CN" sz="3200" b="1" i="1" dirty="0">
                <a:latin typeface="宋体" panose="02010600030101010101" pitchFamily="2" charset="-122"/>
              </a:rPr>
              <a:t>U</a:t>
            </a:r>
            <a:r>
              <a:rPr lang="en-US" altLang="zh-CN" sz="3200" b="1" baseline="-25000" dirty="0"/>
              <a:t>BE</a:t>
            </a:r>
            <a:r>
              <a:rPr lang="zh-CN" altLang="en-US" sz="3200" b="1" dirty="0"/>
              <a:t>的区域，即曲线的上升段组成的区域称为饱和区。饱和区的特点是：发射结和集电结均为正偏。</a:t>
            </a:r>
          </a:p>
          <a:p>
            <a:pPr eaLnBrk="1" hangingPunct="1">
              <a:lnSpc>
                <a:spcPct val="130000"/>
              </a:lnSpc>
            </a:pPr>
            <a:r>
              <a:rPr lang="zh-CN" altLang="en-US" sz="3200" b="1" dirty="0"/>
              <a:t>        饱和时的</a:t>
            </a:r>
            <a:r>
              <a:rPr lang="en-US" altLang="zh-CN" sz="3200" b="1" i="1" dirty="0">
                <a:latin typeface="宋体" panose="02010600030101010101" pitchFamily="2" charset="-122"/>
              </a:rPr>
              <a:t>U</a:t>
            </a:r>
            <a:r>
              <a:rPr lang="en-US" altLang="zh-CN" sz="3200" b="1" baseline="-25000" dirty="0"/>
              <a:t>CE</a:t>
            </a:r>
            <a:r>
              <a:rPr lang="zh-CN" altLang="en-US" sz="3200" b="1" dirty="0"/>
              <a:t>称为饱和压降，用</a:t>
            </a:r>
            <a:r>
              <a:rPr lang="en-US" altLang="zh-CN" sz="3200" b="1" i="1" dirty="0">
                <a:latin typeface="宋体" panose="02010600030101010101" pitchFamily="2" charset="-122"/>
              </a:rPr>
              <a:t>U</a:t>
            </a:r>
            <a:r>
              <a:rPr lang="en-US" altLang="zh-CN" sz="3200" b="1" baseline="-25000" dirty="0"/>
              <a:t>CES</a:t>
            </a:r>
            <a:r>
              <a:rPr lang="zh-CN" altLang="en-US" sz="3200" b="1" dirty="0"/>
              <a:t>表示，</a:t>
            </a:r>
            <a:r>
              <a:rPr lang="en-US" altLang="zh-CN" sz="3200" b="1" i="1" dirty="0">
                <a:latin typeface="宋体" panose="02010600030101010101" pitchFamily="2" charset="-122"/>
              </a:rPr>
              <a:t>U</a:t>
            </a:r>
            <a:r>
              <a:rPr lang="en-US" altLang="zh-CN" sz="3200" b="1" baseline="-25000" dirty="0"/>
              <a:t>CES</a:t>
            </a:r>
            <a:r>
              <a:rPr lang="zh-CN" altLang="en-US" sz="3200" b="1" dirty="0"/>
              <a:t>很小，一般</a:t>
            </a:r>
            <a:r>
              <a:rPr lang="zh-CN" altLang="en-US" sz="3200" b="1" dirty="0">
                <a:latin typeface="宋体" panose="02010600030101010101" pitchFamily="2" charset="-122"/>
              </a:rPr>
              <a:t>约为</a:t>
            </a:r>
            <a:r>
              <a:rPr lang="en-US" altLang="zh-CN" sz="3200" b="1" dirty="0"/>
              <a:t>0.3V</a:t>
            </a:r>
            <a:r>
              <a:rPr lang="zh-CN" altLang="en-US" sz="3200" b="1" dirty="0"/>
              <a:t>。工作在此区的三极管相当于一个闭合的开关，没有电流放大作用。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2772">
                                            <p:txEl>
                                              <p:pRg st="0" end="0"/>
                                            </p:txEl>
                                          </p:spTgt>
                                        </p:tgtEl>
                                        <p:attrNameLst>
                                          <p:attrName>style.visibility</p:attrName>
                                        </p:attrNameLst>
                                      </p:cBhvr>
                                      <p:to>
                                        <p:strVal val="visible"/>
                                      </p:to>
                                    </p:set>
                                    <p:animEffect transition="in" filter="wipe(left)">
                                      <p:cBhvr>
                                        <p:cTn id="7" dur="500"/>
                                        <p:tgtEl>
                                          <p:spTgt spid="327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2772">
                                            <p:txEl>
                                              <p:pRg st="1" end="1"/>
                                            </p:txEl>
                                          </p:spTgt>
                                        </p:tgtEl>
                                        <p:attrNameLst>
                                          <p:attrName>style.visibility</p:attrName>
                                        </p:attrNameLst>
                                      </p:cBhvr>
                                      <p:to>
                                        <p:strVal val="visible"/>
                                      </p:to>
                                    </p:set>
                                    <p:animEffect transition="in" filter="wipe(left)">
                                      <p:cBhvr>
                                        <p:cTn id="12" dur="500"/>
                                        <p:tgtEl>
                                          <p:spTgt spid="3277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4"/>
          <p:cNvSpPr txBox="1">
            <a:spLocks noChangeArrowheads="1"/>
          </p:cNvSpPr>
          <p:nvPr/>
        </p:nvSpPr>
        <p:spPr bwMode="auto">
          <a:xfrm>
            <a:off x="683568" y="836712"/>
            <a:ext cx="7893596" cy="4529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6762" tIns="48381" rIns="96762" bIns="48381">
            <a:spAutoFit/>
          </a:bodyPr>
          <a:lstStyle>
            <a:lvl1pPr defTabSz="863600" eaLnBrk="0" hangingPunct="0">
              <a:defRPr sz="2400">
                <a:solidFill>
                  <a:schemeClr val="tx1"/>
                </a:solidFill>
                <a:latin typeface="Arial" panose="020B0604020202020204" pitchFamily="34" charset="0"/>
                <a:ea typeface="宋体" panose="02010600030101010101" pitchFamily="2" charset="-122"/>
              </a:defRPr>
            </a:lvl1pPr>
            <a:lvl2pPr marL="742950" indent="-285750" defTabSz="863600" eaLnBrk="0" hangingPunct="0">
              <a:defRPr sz="2400">
                <a:solidFill>
                  <a:schemeClr val="tx1"/>
                </a:solidFill>
                <a:latin typeface="Arial" panose="020B0604020202020204" pitchFamily="34" charset="0"/>
                <a:ea typeface="宋体" panose="02010600030101010101" pitchFamily="2" charset="-122"/>
              </a:defRPr>
            </a:lvl2pPr>
            <a:lvl3pPr marL="1143000" indent="-228600" defTabSz="863600" eaLnBrk="0" hangingPunct="0">
              <a:defRPr sz="2400">
                <a:solidFill>
                  <a:schemeClr val="tx1"/>
                </a:solidFill>
                <a:latin typeface="Arial" panose="020B0604020202020204" pitchFamily="34" charset="0"/>
                <a:ea typeface="宋体" panose="02010600030101010101" pitchFamily="2" charset="-122"/>
              </a:defRPr>
            </a:lvl3pPr>
            <a:lvl4pPr marL="1600200" indent="-228600" defTabSz="863600" eaLnBrk="0" hangingPunct="0">
              <a:defRPr sz="2400">
                <a:solidFill>
                  <a:schemeClr val="tx1"/>
                </a:solidFill>
                <a:latin typeface="Arial" panose="020B0604020202020204" pitchFamily="34" charset="0"/>
                <a:ea typeface="宋体" panose="02010600030101010101" pitchFamily="2" charset="-122"/>
              </a:defRPr>
            </a:lvl4pPr>
            <a:lvl5pPr marL="2057400" indent="-228600" defTabSz="863600" eaLnBrk="0" hangingPunct="0">
              <a:defRPr sz="2400">
                <a:solidFill>
                  <a:schemeClr val="tx1"/>
                </a:solidFill>
                <a:latin typeface="Arial" panose="020B0604020202020204" pitchFamily="34" charset="0"/>
                <a:ea typeface="宋体" panose="02010600030101010101" pitchFamily="2" charset="-122"/>
              </a:defRPr>
            </a:lvl5pPr>
            <a:lvl6pPr marL="25146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dirty="0"/>
              <a:t>       </a:t>
            </a:r>
            <a:r>
              <a:rPr lang="zh-CN" altLang="en-US" sz="3200" b="1" dirty="0">
                <a:latin typeface="黑体" panose="02010609060101010101" pitchFamily="2" charset="-122"/>
                <a:ea typeface="黑体" panose="02010609060101010101" pitchFamily="2" charset="-122"/>
              </a:rPr>
              <a:t>例</a:t>
            </a:r>
            <a:r>
              <a:rPr lang="en-US" altLang="zh-CN" sz="3200" b="1" dirty="0">
                <a:latin typeface="黑体" panose="02010609060101010101" pitchFamily="2" charset="-122"/>
                <a:ea typeface="黑体" panose="02010609060101010101" pitchFamily="2" charset="-122"/>
              </a:rPr>
              <a:t>2.2</a:t>
            </a:r>
            <a:r>
              <a:rPr lang="en-US" altLang="zh-CN" sz="3200" b="1" dirty="0"/>
              <a:t>  </a:t>
            </a:r>
            <a:r>
              <a:rPr lang="zh-CN" altLang="en-US" sz="3200" b="1" dirty="0"/>
              <a:t>若测得放大电路中工作在放大状态的三个三极管的三个电极对地电位</a:t>
            </a:r>
            <a:r>
              <a:rPr lang="en-US" altLang="zh-CN" sz="3200" b="1" i="1" dirty="0"/>
              <a:t>U</a:t>
            </a:r>
            <a:r>
              <a:rPr lang="en-US" altLang="zh-CN" sz="3200" b="1" baseline="-25000" dirty="0"/>
              <a:t>1</a:t>
            </a:r>
            <a:r>
              <a:rPr lang="zh-CN" altLang="en-US" sz="3200" b="1" dirty="0"/>
              <a:t>、</a:t>
            </a:r>
            <a:r>
              <a:rPr lang="en-US" altLang="zh-CN" sz="3200" b="1" i="1" dirty="0"/>
              <a:t>U</a:t>
            </a:r>
            <a:r>
              <a:rPr lang="en-US" altLang="zh-CN" sz="3200" b="1" baseline="-25000" dirty="0"/>
              <a:t>2</a:t>
            </a:r>
            <a:r>
              <a:rPr lang="zh-CN" altLang="en-US" sz="3200" b="1" dirty="0"/>
              <a:t>、</a:t>
            </a:r>
            <a:r>
              <a:rPr lang="en-US" altLang="zh-CN" sz="3200" b="1" i="1" dirty="0"/>
              <a:t>U</a:t>
            </a:r>
            <a:r>
              <a:rPr lang="en-US" altLang="zh-CN" sz="3200" b="1" baseline="-25000" dirty="0"/>
              <a:t>3</a:t>
            </a:r>
            <a:r>
              <a:rPr lang="zh-CN" altLang="en-US" sz="3200" b="1" dirty="0"/>
              <a:t>分别为下述数值，试判断它们是硅管还是锗管？是</a:t>
            </a:r>
            <a:r>
              <a:rPr lang="en-US" altLang="zh-CN" sz="3200" b="1" dirty="0"/>
              <a:t>NPN</a:t>
            </a:r>
            <a:r>
              <a:rPr lang="zh-CN" altLang="en-US" sz="3200" b="1" dirty="0"/>
              <a:t>型还是</a:t>
            </a:r>
            <a:r>
              <a:rPr lang="en-US" altLang="zh-CN" sz="3200" b="1" dirty="0"/>
              <a:t>PNP</a:t>
            </a:r>
            <a:r>
              <a:rPr lang="zh-CN" altLang="en-US" sz="3200" b="1" dirty="0"/>
              <a:t>型？并确定</a:t>
            </a:r>
            <a:r>
              <a:rPr lang="en-US" altLang="zh-CN" sz="3200" b="1" dirty="0"/>
              <a:t>c</a:t>
            </a:r>
            <a:r>
              <a:rPr lang="zh-CN" altLang="en-US" sz="3200" b="1" dirty="0"/>
              <a:t>、</a:t>
            </a:r>
            <a:r>
              <a:rPr lang="en-US" altLang="zh-CN" sz="3200" b="1" dirty="0"/>
              <a:t>b</a:t>
            </a:r>
            <a:r>
              <a:rPr lang="zh-CN" altLang="en-US" sz="3200" b="1" dirty="0"/>
              <a:t>、</a:t>
            </a:r>
            <a:r>
              <a:rPr lang="en-US" altLang="zh-CN" sz="3200" b="1" dirty="0"/>
              <a:t>e</a:t>
            </a:r>
            <a:r>
              <a:rPr lang="zh-CN" altLang="en-US" sz="3200" b="1" dirty="0"/>
              <a:t>极。</a:t>
            </a:r>
          </a:p>
          <a:p>
            <a:pPr eaLnBrk="1" hangingPunct="1"/>
            <a:endParaRPr lang="zh-CN" altLang="en-US" sz="3200" b="1" dirty="0"/>
          </a:p>
          <a:p>
            <a:pPr eaLnBrk="1" hangingPunct="1"/>
            <a:r>
              <a:rPr lang="zh-CN" altLang="en-US" sz="3200" b="1" dirty="0"/>
              <a:t>    </a:t>
            </a:r>
            <a:r>
              <a:rPr lang="en-US" altLang="zh-CN" sz="3200" b="1" dirty="0"/>
              <a:t>(1)</a:t>
            </a:r>
            <a:r>
              <a:rPr lang="en-US" altLang="zh-CN" sz="3200" b="1" i="1" dirty="0"/>
              <a:t> U</a:t>
            </a:r>
            <a:r>
              <a:rPr lang="en-US" altLang="zh-CN" sz="3200" b="1" baseline="-25000" dirty="0"/>
              <a:t>1</a:t>
            </a:r>
            <a:r>
              <a:rPr lang="en-US" altLang="zh-CN" sz="3200" b="1" dirty="0"/>
              <a:t> = 2.5V   </a:t>
            </a:r>
            <a:r>
              <a:rPr lang="en-US" altLang="zh-CN" sz="3200" b="1" i="1" dirty="0"/>
              <a:t>   U</a:t>
            </a:r>
            <a:r>
              <a:rPr lang="en-US" altLang="zh-CN" sz="3200" b="1" baseline="-25000" dirty="0"/>
              <a:t>2</a:t>
            </a:r>
            <a:r>
              <a:rPr lang="en-US" altLang="zh-CN" sz="3200" b="1" dirty="0"/>
              <a:t> = 6V    </a:t>
            </a:r>
            <a:r>
              <a:rPr lang="en-US" altLang="zh-CN" sz="3200" b="1" i="1" dirty="0"/>
              <a:t>  U</a:t>
            </a:r>
            <a:r>
              <a:rPr lang="en-US" altLang="zh-CN" sz="3200" b="1" baseline="-25000" dirty="0"/>
              <a:t>3</a:t>
            </a:r>
            <a:r>
              <a:rPr lang="en-US" altLang="zh-CN" sz="3200" b="1" dirty="0"/>
              <a:t> = 1.8V</a:t>
            </a:r>
          </a:p>
          <a:p>
            <a:pPr eaLnBrk="1" hangingPunct="1"/>
            <a:r>
              <a:rPr lang="en-US" altLang="zh-CN" sz="3200" b="1" dirty="0"/>
              <a:t>    (2)</a:t>
            </a:r>
            <a:r>
              <a:rPr lang="en-US" altLang="zh-CN" sz="3200" b="1" i="1" dirty="0"/>
              <a:t> U</a:t>
            </a:r>
            <a:r>
              <a:rPr lang="en-US" altLang="zh-CN" sz="3200" b="1" baseline="-25000" dirty="0"/>
              <a:t>1</a:t>
            </a:r>
            <a:r>
              <a:rPr lang="en-US" altLang="zh-CN" sz="3200" b="1" dirty="0"/>
              <a:t> = -6V        </a:t>
            </a:r>
            <a:r>
              <a:rPr lang="en-US" altLang="zh-CN" sz="3200" b="1" i="1" dirty="0"/>
              <a:t>U</a:t>
            </a:r>
            <a:r>
              <a:rPr lang="en-US" altLang="zh-CN" sz="3200" b="1" baseline="-25000" dirty="0"/>
              <a:t>2</a:t>
            </a:r>
            <a:r>
              <a:rPr lang="en-US" altLang="zh-CN" sz="3200" b="1" dirty="0"/>
              <a:t> = -3V   </a:t>
            </a:r>
            <a:r>
              <a:rPr lang="en-US" altLang="zh-CN" sz="3200" b="1" i="1" dirty="0"/>
              <a:t>  U</a:t>
            </a:r>
            <a:r>
              <a:rPr lang="en-US" altLang="zh-CN" sz="3200" b="1" baseline="-25000" dirty="0"/>
              <a:t>3</a:t>
            </a:r>
            <a:r>
              <a:rPr lang="en-US" altLang="zh-CN" sz="3200" b="1" dirty="0"/>
              <a:t> = -2.7V</a:t>
            </a:r>
          </a:p>
          <a:p>
            <a:pPr eaLnBrk="1" hangingPunct="1"/>
            <a:r>
              <a:rPr lang="en-US" altLang="zh-CN" sz="3200" b="1" dirty="0"/>
              <a:t>    (3)</a:t>
            </a:r>
            <a:r>
              <a:rPr lang="en-US" altLang="zh-CN" sz="3200" b="1" i="1" dirty="0"/>
              <a:t> U</a:t>
            </a:r>
            <a:r>
              <a:rPr lang="en-US" altLang="zh-CN" sz="3200" b="1" baseline="-25000" dirty="0"/>
              <a:t>1</a:t>
            </a:r>
            <a:r>
              <a:rPr lang="en-US" altLang="zh-CN" sz="3200" b="1" dirty="0"/>
              <a:t> = -1.7V     </a:t>
            </a:r>
            <a:r>
              <a:rPr lang="en-US" altLang="zh-CN" sz="3200" b="1" i="1" dirty="0"/>
              <a:t>U</a:t>
            </a:r>
            <a:r>
              <a:rPr lang="en-US" altLang="zh-CN" sz="3200" b="1" baseline="-25000" dirty="0"/>
              <a:t>2 </a:t>
            </a:r>
            <a:r>
              <a:rPr lang="en-US" altLang="zh-CN" sz="3200" b="1" dirty="0"/>
              <a:t>= -2V   </a:t>
            </a:r>
            <a:r>
              <a:rPr lang="en-US" altLang="zh-CN" sz="3200" b="1" i="1" dirty="0"/>
              <a:t>  U</a:t>
            </a:r>
            <a:r>
              <a:rPr lang="en-US" altLang="zh-CN" sz="3200" b="1" baseline="-25000" dirty="0"/>
              <a:t>3</a:t>
            </a:r>
            <a:r>
              <a:rPr lang="en-US" altLang="zh-CN" sz="3200" b="1" i="1" dirty="0"/>
              <a:t> </a:t>
            </a:r>
            <a:r>
              <a:rPr lang="en-US" altLang="zh-CN" sz="3200" b="1" dirty="0"/>
              <a:t>= 0V</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4"/>
          <p:cNvSpPr txBox="1">
            <a:spLocks noChangeArrowheads="1"/>
          </p:cNvSpPr>
          <p:nvPr/>
        </p:nvSpPr>
        <p:spPr bwMode="auto">
          <a:xfrm>
            <a:off x="381824" y="764704"/>
            <a:ext cx="8377940" cy="4899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6762" tIns="48381" rIns="96762" bIns="48381">
            <a:spAutoFit/>
          </a:bodyPr>
          <a:lstStyle>
            <a:lvl1pPr defTabSz="863600" eaLnBrk="0" hangingPunct="0">
              <a:defRPr sz="2400">
                <a:solidFill>
                  <a:schemeClr val="tx1"/>
                </a:solidFill>
                <a:latin typeface="Arial" panose="020B0604020202020204" pitchFamily="34" charset="0"/>
                <a:ea typeface="宋体" panose="02010600030101010101" pitchFamily="2" charset="-122"/>
              </a:defRPr>
            </a:lvl1pPr>
            <a:lvl2pPr marL="742950" indent="-285750" defTabSz="863600" eaLnBrk="0" hangingPunct="0">
              <a:defRPr sz="2400">
                <a:solidFill>
                  <a:schemeClr val="tx1"/>
                </a:solidFill>
                <a:latin typeface="Arial" panose="020B0604020202020204" pitchFamily="34" charset="0"/>
                <a:ea typeface="宋体" panose="02010600030101010101" pitchFamily="2" charset="-122"/>
              </a:defRPr>
            </a:lvl2pPr>
            <a:lvl3pPr marL="1143000" indent="-228600" defTabSz="863600" eaLnBrk="0" hangingPunct="0">
              <a:defRPr sz="2400">
                <a:solidFill>
                  <a:schemeClr val="tx1"/>
                </a:solidFill>
                <a:latin typeface="Arial" panose="020B0604020202020204" pitchFamily="34" charset="0"/>
                <a:ea typeface="宋体" panose="02010600030101010101" pitchFamily="2" charset="-122"/>
              </a:defRPr>
            </a:lvl3pPr>
            <a:lvl4pPr marL="1600200" indent="-228600" defTabSz="863600" eaLnBrk="0" hangingPunct="0">
              <a:defRPr sz="2400">
                <a:solidFill>
                  <a:schemeClr val="tx1"/>
                </a:solidFill>
                <a:latin typeface="Arial" panose="020B0604020202020204" pitchFamily="34" charset="0"/>
                <a:ea typeface="宋体" panose="02010600030101010101" pitchFamily="2" charset="-122"/>
              </a:defRPr>
            </a:lvl4pPr>
            <a:lvl5pPr marL="2057400" indent="-228600" defTabSz="863600" eaLnBrk="0" hangingPunct="0">
              <a:defRPr sz="2400">
                <a:solidFill>
                  <a:schemeClr val="tx1"/>
                </a:solidFill>
                <a:latin typeface="Arial" panose="020B0604020202020204" pitchFamily="34" charset="0"/>
                <a:ea typeface="宋体" panose="02010600030101010101" pitchFamily="2" charset="-122"/>
              </a:defRPr>
            </a:lvl5pPr>
            <a:lvl6pPr marL="25146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defTabSz="863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b="1" dirty="0"/>
              <a:t>        </a:t>
            </a:r>
            <a:r>
              <a:rPr lang="zh-CN" altLang="en-US" b="1" dirty="0"/>
              <a:t>解：</a:t>
            </a:r>
          </a:p>
          <a:p>
            <a:pPr eaLnBrk="1" hangingPunct="1">
              <a:lnSpc>
                <a:spcPct val="130000"/>
              </a:lnSpc>
            </a:pPr>
            <a:r>
              <a:rPr lang="zh-CN" altLang="en-US" b="1" dirty="0"/>
              <a:t>        </a:t>
            </a:r>
            <a:r>
              <a:rPr lang="en-US" altLang="zh-CN" b="1" dirty="0"/>
              <a:t>(1) </a:t>
            </a:r>
            <a:r>
              <a:rPr lang="zh-CN" altLang="en-US" b="1" dirty="0"/>
              <a:t>由于</a:t>
            </a:r>
            <a:r>
              <a:rPr lang="en-US" altLang="zh-CN" b="1" i="1" dirty="0"/>
              <a:t>U</a:t>
            </a:r>
            <a:r>
              <a:rPr lang="en-US" altLang="zh-CN" b="1" baseline="-25000" dirty="0"/>
              <a:t>13</a:t>
            </a:r>
            <a:r>
              <a:rPr lang="en-US" altLang="zh-CN" b="1" dirty="0"/>
              <a:t> =</a:t>
            </a:r>
            <a:r>
              <a:rPr lang="en-US" altLang="zh-CN" b="1" i="1" dirty="0"/>
              <a:t> U</a:t>
            </a:r>
            <a:r>
              <a:rPr lang="en-US" altLang="zh-CN" b="1" baseline="-25000" dirty="0"/>
              <a:t>1</a:t>
            </a:r>
            <a:r>
              <a:rPr lang="en-US" altLang="zh-CN" b="1" dirty="0"/>
              <a:t>-</a:t>
            </a:r>
            <a:r>
              <a:rPr lang="en-US" altLang="zh-CN" b="1" i="1" dirty="0"/>
              <a:t> U</a:t>
            </a:r>
            <a:r>
              <a:rPr lang="en-US" altLang="zh-CN" b="1" baseline="-25000" dirty="0"/>
              <a:t>3</a:t>
            </a:r>
            <a:r>
              <a:rPr lang="en-US" altLang="zh-CN" b="1" dirty="0"/>
              <a:t>= 0.7V</a:t>
            </a:r>
            <a:r>
              <a:rPr lang="zh-CN" altLang="en-US" b="1" dirty="0"/>
              <a:t>，故该管为硅管，且</a:t>
            </a:r>
            <a:r>
              <a:rPr lang="en-US" altLang="zh-CN" b="1" dirty="0"/>
              <a:t>1</a:t>
            </a:r>
            <a:r>
              <a:rPr lang="zh-CN" altLang="en-US" b="1" dirty="0"/>
              <a:t>、</a:t>
            </a:r>
            <a:r>
              <a:rPr lang="en-US" altLang="zh-CN" b="1" dirty="0"/>
              <a:t>3</a:t>
            </a:r>
            <a:r>
              <a:rPr lang="zh-CN" altLang="en-US" b="1" dirty="0"/>
              <a:t>管脚中一个是</a:t>
            </a:r>
            <a:r>
              <a:rPr lang="en-US" altLang="zh-CN" b="1" dirty="0"/>
              <a:t>e</a:t>
            </a:r>
            <a:r>
              <a:rPr lang="zh-CN" altLang="en-US" b="1" dirty="0"/>
              <a:t>极，一个是</a:t>
            </a:r>
            <a:r>
              <a:rPr lang="en-US" altLang="zh-CN" b="1" dirty="0"/>
              <a:t>b</a:t>
            </a:r>
            <a:r>
              <a:rPr lang="zh-CN" altLang="en-US" b="1" dirty="0"/>
              <a:t>极，则</a:t>
            </a:r>
            <a:r>
              <a:rPr lang="en-US" altLang="zh-CN" b="1" dirty="0"/>
              <a:t>2</a:t>
            </a:r>
            <a:r>
              <a:rPr lang="zh-CN" altLang="en-US" b="1" dirty="0"/>
              <a:t>脚为</a:t>
            </a:r>
            <a:r>
              <a:rPr lang="en-US" altLang="zh-CN" b="1" dirty="0"/>
              <a:t>c</a:t>
            </a:r>
            <a:r>
              <a:rPr lang="zh-CN" altLang="en-US" b="1" dirty="0"/>
              <a:t>极。又因为</a:t>
            </a:r>
            <a:r>
              <a:rPr lang="en-US" altLang="zh-CN" b="1" i="1" dirty="0"/>
              <a:t>2</a:t>
            </a:r>
            <a:r>
              <a:rPr lang="zh-CN" altLang="en-US" b="1" dirty="0"/>
              <a:t>脚电位最高，故该管为</a:t>
            </a:r>
            <a:r>
              <a:rPr lang="en-US" altLang="zh-CN" b="1" dirty="0"/>
              <a:t>NPN</a:t>
            </a:r>
            <a:r>
              <a:rPr lang="zh-CN" altLang="en-US" b="1" dirty="0"/>
              <a:t>型，从而得出</a:t>
            </a:r>
            <a:r>
              <a:rPr lang="en-US" altLang="zh-CN" b="1" dirty="0"/>
              <a:t>1</a:t>
            </a:r>
            <a:r>
              <a:rPr lang="zh-CN" altLang="en-US" b="1" dirty="0"/>
              <a:t>脚为</a:t>
            </a:r>
            <a:r>
              <a:rPr lang="en-US" altLang="zh-CN" b="1" dirty="0"/>
              <a:t>b</a:t>
            </a:r>
            <a:r>
              <a:rPr lang="zh-CN" altLang="en-US" b="1" dirty="0"/>
              <a:t>极，</a:t>
            </a:r>
            <a:r>
              <a:rPr lang="en-US" altLang="zh-CN" b="1" dirty="0"/>
              <a:t>3</a:t>
            </a:r>
            <a:r>
              <a:rPr lang="zh-CN" altLang="en-US" b="1" dirty="0"/>
              <a:t>脚为</a:t>
            </a:r>
            <a:r>
              <a:rPr lang="en-US" altLang="zh-CN" b="1" dirty="0"/>
              <a:t>e</a:t>
            </a:r>
            <a:r>
              <a:rPr lang="zh-CN" altLang="en-US" b="1" dirty="0"/>
              <a:t>极。</a:t>
            </a:r>
          </a:p>
          <a:p>
            <a:pPr eaLnBrk="1" hangingPunct="1">
              <a:lnSpc>
                <a:spcPct val="130000"/>
              </a:lnSpc>
            </a:pPr>
            <a:r>
              <a:rPr lang="zh-CN" altLang="en-US" b="1" dirty="0"/>
              <a:t>       </a:t>
            </a:r>
            <a:r>
              <a:rPr lang="en-US" altLang="zh-CN" b="1" dirty="0"/>
              <a:t>(2) </a:t>
            </a:r>
            <a:r>
              <a:rPr lang="zh-CN" altLang="en-US" b="1" dirty="0"/>
              <a:t>由于∣</a:t>
            </a:r>
            <a:r>
              <a:rPr lang="en-US" altLang="zh-CN" b="1" i="1" dirty="0"/>
              <a:t>U</a:t>
            </a:r>
            <a:r>
              <a:rPr lang="en-US" altLang="zh-CN" b="1" baseline="-25000" dirty="0"/>
              <a:t>23</a:t>
            </a:r>
            <a:r>
              <a:rPr lang="en-US" altLang="zh-CN" b="1" dirty="0"/>
              <a:t>∣= 0.3V</a:t>
            </a:r>
            <a:r>
              <a:rPr lang="zh-CN" altLang="en-US" b="1" dirty="0"/>
              <a:t>，故该管为锗管，且</a:t>
            </a:r>
            <a:r>
              <a:rPr lang="en-US" altLang="zh-CN" b="1" dirty="0"/>
              <a:t>2</a:t>
            </a:r>
            <a:r>
              <a:rPr lang="zh-CN" altLang="en-US" b="1" dirty="0"/>
              <a:t>、</a:t>
            </a:r>
            <a:r>
              <a:rPr lang="en-US" altLang="zh-CN" b="1" dirty="0"/>
              <a:t>3</a:t>
            </a:r>
            <a:r>
              <a:rPr lang="zh-CN" altLang="en-US" b="1" dirty="0"/>
              <a:t>管脚中一个是</a:t>
            </a:r>
            <a:r>
              <a:rPr lang="en-US" altLang="zh-CN" b="1" dirty="0"/>
              <a:t>e</a:t>
            </a:r>
            <a:r>
              <a:rPr lang="zh-CN" altLang="en-US" b="1" dirty="0"/>
              <a:t>极，一个是</a:t>
            </a:r>
            <a:r>
              <a:rPr lang="en-US" altLang="zh-CN" b="1" dirty="0"/>
              <a:t>b</a:t>
            </a:r>
            <a:r>
              <a:rPr lang="zh-CN" altLang="en-US" b="1" dirty="0"/>
              <a:t>极，则</a:t>
            </a:r>
            <a:r>
              <a:rPr lang="en-US" altLang="zh-CN" b="1" dirty="0"/>
              <a:t>1</a:t>
            </a:r>
            <a:r>
              <a:rPr lang="zh-CN" altLang="en-US" b="1" dirty="0"/>
              <a:t>脚为</a:t>
            </a:r>
            <a:r>
              <a:rPr lang="en-US" altLang="zh-CN" b="1" dirty="0"/>
              <a:t>c</a:t>
            </a:r>
            <a:r>
              <a:rPr lang="zh-CN" altLang="en-US" b="1" dirty="0"/>
              <a:t>极。又因为</a:t>
            </a:r>
            <a:r>
              <a:rPr lang="en-US" altLang="zh-CN" b="1" dirty="0"/>
              <a:t>1</a:t>
            </a:r>
            <a:r>
              <a:rPr lang="zh-CN" altLang="en-US" b="1" dirty="0"/>
              <a:t>脚电位最低，故该管为</a:t>
            </a:r>
            <a:r>
              <a:rPr lang="en-US" altLang="zh-CN" b="1" dirty="0"/>
              <a:t>PNP</a:t>
            </a:r>
            <a:r>
              <a:rPr lang="zh-CN" altLang="en-US" b="1" dirty="0"/>
              <a:t>型，从而得出</a:t>
            </a:r>
            <a:r>
              <a:rPr lang="en-US" altLang="zh-CN" b="1" dirty="0"/>
              <a:t>2</a:t>
            </a:r>
            <a:r>
              <a:rPr lang="zh-CN" altLang="en-US" b="1" dirty="0"/>
              <a:t>脚为</a:t>
            </a:r>
            <a:r>
              <a:rPr lang="en-US" altLang="zh-CN" b="1" dirty="0"/>
              <a:t>b</a:t>
            </a:r>
            <a:r>
              <a:rPr lang="zh-CN" altLang="en-US" b="1" dirty="0"/>
              <a:t>极，</a:t>
            </a:r>
            <a:r>
              <a:rPr lang="en-US" altLang="zh-CN" b="1" dirty="0"/>
              <a:t>3</a:t>
            </a:r>
            <a:r>
              <a:rPr lang="zh-CN" altLang="en-US" b="1" dirty="0"/>
              <a:t>脚为</a:t>
            </a:r>
            <a:r>
              <a:rPr lang="en-US" altLang="zh-CN" b="1" dirty="0"/>
              <a:t>e</a:t>
            </a:r>
            <a:r>
              <a:rPr lang="zh-CN" altLang="en-US" b="1" dirty="0"/>
              <a:t>极。</a:t>
            </a:r>
            <a:endParaRPr lang="en-US" altLang="zh-CN" b="1" dirty="0"/>
          </a:p>
          <a:p>
            <a:pPr eaLnBrk="1" hangingPunct="1">
              <a:lnSpc>
                <a:spcPct val="130000"/>
              </a:lnSpc>
            </a:pPr>
            <a:r>
              <a:rPr lang="en-US" altLang="zh-CN" b="1" dirty="0"/>
              <a:t>      (3) </a:t>
            </a:r>
            <a:r>
              <a:rPr lang="zh-CN" altLang="en-US" b="1" dirty="0"/>
              <a:t>由于∣</a:t>
            </a:r>
            <a:r>
              <a:rPr lang="en-US" altLang="zh-CN" b="1" i="1" dirty="0"/>
              <a:t>U</a:t>
            </a:r>
            <a:r>
              <a:rPr lang="en-US" altLang="zh-CN" b="1" baseline="-25000" dirty="0"/>
              <a:t>12</a:t>
            </a:r>
            <a:r>
              <a:rPr lang="en-US" altLang="zh-CN" b="1" dirty="0"/>
              <a:t>∣= 0.3V</a:t>
            </a:r>
            <a:r>
              <a:rPr lang="zh-CN" altLang="en-US" b="1" dirty="0"/>
              <a:t>，故该管为锗管，且</a:t>
            </a:r>
            <a:r>
              <a:rPr lang="en-US" altLang="zh-CN" b="1" dirty="0"/>
              <a:t>1</a:t>
            </a:r>
            <a:r>
              <a:rPr lang="zh-CN" altLang="en-US" b="1" dirty="0"/>
              <a:t>、</a:t>
            </a:r>
            <a:r>
              <a:rPr lang="en-US" altLang="zh-CN" b="1" dirty="0"/>
              <a:t>2</a:t>
            </a:r>
            <a:r>
              <a:rPr lang="zh-CN" altLang="en-US" b="1" dirty="0"/>
              <a:t>管脚中一个是</a:t>
            </a:r>
            <a:r>
              <a:rPr lang="en-US" altLang="zh-CN" b="1" dirty="0"/>
              <a:t>e</a:t>
            </a:r>
            <a:r>
              <a:rPr lang="zh-CN" altLang="en-US" b="1" dirty="0"/>
              <a:t>极，一个是</a:t>
            </a:r>
            <a:r>
              <a:rPr lang="en-US" altLang="zh-CN" b="1" dirty="0"/>
              <a:t>b</a:t>
            </a:r>
            <a:r>
              <a:rPr lang="zh-CN" altLang="en-US" b="1" dirty="0"/>
              <a:t>极，则</a:t>
            </a:r>
            <a:r>
              <a:rPr lang="en-US" altLang="zh-CN" b="1" dirty="0"/>
              <a:t>3</a:t>
            </a:r>
            <a:r>
              <a:rPr lang="zh-CN" altLang="en-US" b="1" dirty="0"/>
              <a:t>脚为</a:t>
            </a:r>
            <a:r>
              <a:rPr lang="en-US" altLang="zh-CN" b="1" dirty="0"/>
              <a:t>c</a:t>
            </a:r>
            <a:r>
              <a:rPr lang="zh-CN" altLang="en-US" b="1" dirty="0"/>
              <a:t>极。又因为，</a:t>
            </a:r>
            <a:r>
              <a:rPr lang="en-US" altLang="zh-CN" b="1" dirty="0"/>
              <a:t>3</a:t>
            </a:r>
            <a:r>
              <a:rPr lang="zh-CN" altLang="en-US" b="1" dirty="0"/>
              <a:t>脚电位最高，故该管为</a:t>
            </a:r>
            <a:r>
              <a:rPr lang="en-US" altLang="zh-CN" b="1" dirty="0"/>
              <a:t>NPN</a:t>
            </a:r>
            <a:r>
              <a:rPr lang="zh-CN" altLang="en-US" b="1" dirty="0"/>
              <a:t>型，从而得出</a:t>
            </a:r>
            <a:r>
              <a:rPr lang="en-US" altLang="zh-CN" b="1" dirty="0"/>
              <a:t>1</a:t>
            </a:r>
            <a:r>
              <a:rPr lang="zh-CN" altLang="en-US" b="1" dirty="0"/>
              <a:t>脚为</a:t>
            </a:r>
            <a:r>
              <a:rPr lang="en-US" altLang="zh-CN" b="1" dirty="0"/>
              <a:t>b</a:t>
            </a:r>
            <a:r>
              <a:rPr lang="zh-CN" altLang="en-US" b="1" dirty="0"/>
              <a:t>极，</a:t>
            </a:r>
            <a:r>
              <a:rPr lang="en-US" altLang="zh-CN" b="1" dirty="0"/>
              <a:t>2</a:t>
            </a:r>
            <a:r>
              <a:rPr lang="zh-CN" altLang="en-US" b="1" dirty="0"/>
              <a:t>脚为</a:t>
            </a:r>
            <a:r>
              <a:rPr lang="en-US" altLang="zh-CN" b="1" dirty="0"/>
              <a:t>e</a:t>
            </a:r>
            <a:r>
              <a:rPr lang="zh-CN" altLang="en-US" b="1" dirty="0"/>
              <a:t>极。</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1343025" y="542925"/>
            <a:ext cx="6497638" cy="377825"/>
          </a:xfrm>
          <a:prstGeom prst="rect">
            <a:avLst/>
          </a:prstGeom>
          <a:gradFill rotWithShape="1">
            <a:gsLst>
              <a:gs pos="0">
                <a:srgbClr val="9BFF69">
                  <a:alpha val="51999"/>
                </a:srgbClr>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5000"/>
              </a:lnSpc>
            </a:pPr>
            <a:r>
              <a:rPr lang="en-US" altLang="zh-CN" sz="2600" dirty="0">
                <a:solidFill>
                  <a:srgbClr val="002E00"/>
                </a:solidFill>
                <a:latin typeface="Times New Roman" panose="02020603050405020304" pitchFamily="18" charset="0"/>
                <a:ea typeface="隶书" panose="02010509060101010101" pitchFamily="49" charset="-122"/>
              </a:rPr>
              <a:t> </a:t>
            </a:r>
            <a:r>
              <a:rPr lang="zh-CN" altLang="en-US" sz="2600" dirty="0">
                <a:solidFill>
                  <a:srgbClr val="002E00"/>
                </a:solidFill>
                <a:latin typeface="Times New Roman" panose="02020603050405020304" pitchFamily="18" charset="0"/>
                <a:ea typeface="隶书" panose="02010509060101010101" pitchFamily="49" charset="-122"/>
              </a:rPr>
              <a:t>三极管的主要参数</a:t>
            </a:r>
          </a:p>
        </p:txBody>
      </p:sp>
      <p:sp>
        <p:nvSpPr>
          <p:cNvPr id="16387" name="Text Box 3"/>
          <p:cNvSpPr txBox="1">
            <a:spLocks noChangeArrowheads="1"/>
          </p:cNvSpPr>
          <p:nvPr/>
        </p:nvSpPr>
        <p:spPr bwMode="auto">
          <a:xfrm>
            <a:off x="581025" y="1193800"/>
            <a:ext cx="2260600" cy="311150"/>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2400">
                <a:solidFill>
                  <a:srgbClr val="000048"/>
                </a:solidFill>
                <a:latin typeface="Times New Roman" panose="02020603050405020304" pitchFamily="18" charset="0"/>
                <a:ea typeface="隶书" panose="02010509060101010101" pitchFamily="49" charset="-122"/>
              </a:rPr>
              <a:t>1.</a:t>
            </a:r>
            <a:r>
              <a:rPr kumimoji="1" lang="zh-CN" altLang="en-US" sz="2400">
                <a:solidFill>
                  <a:srgbClr val="000048"/>
                </a:solidFill>
                <a:latin typeface="Times New Roman" panose="02020603050405020304" pitchFamily="18" charset="0"/>
                <a:ea typeface="隶书" panose="02010509060101010101" pitchFamily="49" charset="-122"/>
              </a:rPr>
              <a:t>电流放大倍数</a:t>
            </a:r>
          </a:p>
        </p:txBody>
      </p:sp>
      <p:graphicFrame>
        <p:nvGraphicFramePr>
          <p:cNvPr id="16388" name="Object 4"/>
          <p:cNvGraphicFramePr>
            <a:graphicFrameLocks noChangeAspect="1"/>
          </p:cNvGraphicFramePr>
          <p:nvPr/>
        </p:nvGraphicFramePr>
        <p:xfrm>
          <a:off x="2814638" y="1000125"/>
          <a:ext cx="1052512" cy="814388"/>
        </p:xfrm>
        <a:graphic>
          <a:graphicData uri="http://schemas.openxmlformats.org/presentationml/2006/ole">
            <mc:AlternateContent xmlns:mc="http://schemas.openxmlformats.org/markup-compatibility/2006">
              <mc:Choice xmlns:v="urn:schemas-microsoft-com:vml" Requires="v">
                <p:oleObj name="公式" r:id="rId2" imgW="558800" imgH="431800" progId="Equation.3">
                  <p:embed/>
                </p:oleObj>
              </mc:Choice>
              <mc:Fallback>
                <p:oleObj name="公式" r:id="rId2" imgW="558800" imgH="431800" progId="Equation.3">
                  <p:embed/>
                  <p:pic>
                    <p:nvPicPr>
                      <p:cNvPr id="0" name="图片 135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4638" y="1000125"/>
                        <a:ext cx="1052512" cy="814388"/>
                      </a:xfrm>
                      <a:prstGeom prst="rect">
                        <a:avLst/>
                      </a:prstGeom>
                      <a:noFill/>
                      <a:ln>
                        <a:noFill/>
                      </a:ln>
                      <a:effectLst/>
                      <a:extLst>
                        <a:ext uri="{909E8E84-426E-40DD-AFC4-6F175D3DCCD1}">
                          <a14:hiddenFill xmlns:a14="http://schemas.microsoft.com/office/drawing/2010/main">
                            <a:gradFill rotWithShape="1">
                              <a:gsLst>
                                <a:gs pos="0">
                                  <a:srgbClr val="FF66CC">
                                    <a:alpha val="42998"/>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9" name="Text Box 5"/>
          <p:cNvSpPr txBox="1">
            <a:spLocks noChangeArrowheads="1"/>
          </p:cNvSpPr>
          <p:nvPr/>
        </p:nvSpPr>
        <p:spPr bwMode="auto">
          <a:xfrm>
            <a:off x="595313" y="1628775"/>
            <a:ext cx="1981200" cy="311150"/>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2400">
                <a:solidFill>
                  <a:srgbClr val="000048"/>
                </a:solidFill>
                <a:latin typeface="Times New Roman" panose="02020603050405020304" pitchFamily="18" charset="0"/>
                <a:ea typeface="隶书" panose="02010509060101010101" pitchFamily="49" charset="-122"/>
              </a:rPr>
              <a:t>2.</a:t>
            </a:r>
            <a:r>
              <a:rPr kumimoji="1" lang="zh-CN" altLang="en-US" sz="2400">
                <a:solidFill>
                  <a:srgbClr val="000048"/>
                </a:solidFill>
                <a:latin typeface="Times New Roman" panose="02020603050405020304" pitchFamily="18" charset="0"/>
                <a:ea typeface="隶书" panose="02010509060101010101" pitchFamily="49" charset="-122"/>
              </a:rPr>
              <a:t>极限参数</a:t>
            </a:r>
          </a:p>
        </p:txBody>
      </p:sp>
      <p:sp>
        <p:nvSpPr>
          <p:cNvPr id="16390" name="Text Box 6"/>
          <p:cNvSpPr txBox="1">
            <a:spLocks noChangeArrowheads="1"/>
          </p:cNvSpPr>
          <p:nvPr/>
        </p:nvSpPr>
        <p:spPr bwMode="auto">
          <a:xfrm>
            <a:off x="723900" y="2054225"/>
            <a:ext cx="3997325" cy="311150"/>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2400">
                <a:solidFill>
                  <a:srgbClr val="000048"/>
                </a:solidFill>
                <a:latin typeface="隶书" panose="02010509060101010101" pitchFamily="49" charset="-122"/>
                <a:ea typeface="隶书" panose="02010509060101010101" pitchFamily="49" charset="-122"/>
              </a:rPr>
              <a:t>①</a:t>
            </a:r>
            <a:r>
              <a:rPr kumimoji="1" lang="zh-CN" altLang="en-US" sz="2400">
                <a:solidFill>
                  <a:srgbClr val="000048"/>
                </a:solidFill>
                <a:latin typeface="Times New Roman" panose="02020603050405020304" pitchFamily="18" charset="0"/>
                <a:ea typeface="隶书" panose="02010509060101010101" pitchFamily="49" charset="-122"/>
              </a:rPr>
              <a:t>集电极最大允许电流</a:t>
            </a:r>
            <a:r>
              <a:rPr kumimoji="1" lang="en-US" altLang="zh-CN" sz="2400" b="1" i="1">
                <a:solidFill>
                  <a:srgbClr val="000048"/>
                </a:solidFill>
                <a:latin typeface="Times New Roman" panose="02020603050405020304" pitchFamily="18" charset="0"/>
                <a:ea typeface="隶书" panose="02010509060101010101" pitchFamily="49" charset="-122"/>
              </a:rPr>
              <a:t>I</a:t>
            </a:r>
            <a:r>
              <a:rPr kumimoji="1" lang="en-US" altLang="zh-CN" sz="2400" b="1" baseline="-25000">
                <a:solidFill>
                  <a:srgbClr val="000048"/>
                </a:solidFill>
                <a:latin typeface="Times New Roman" panose="02020603050405020304" pitchFamily="18" charset="0"/>
                <a:ea typeface="隶书" panose="02010509060101010101" pitchFamily="49" charset="-122"/>
              </a:rPr>
              <a:t>CM</a:t>
            </a:r>
          </a:p>
        </p:txBody>
      </p:sp>
      <p:graphicFrame>
        <p:nvGraphicFramePr>
          <p:cNvPr id="16391" name="Object 7"/>
          <p:cNvGraphicFramePr>
            <a:graphicFrameLocks noChangeAspect="1"/>
          </p:cNvGraphicFramePr>
          <p:nvPr/>
        </p:nvGraphicFramePr>
        <p:xfrm>
          <a:off x="5419725" y="3460750"/>
          <a:ext cx="558800" cy="449263"/>
        </p:xfrm>
        <a:graphic>
          <a:graphicData uri="http://schemas.openxmlformats.org/presentationml/2006/ole">
            <mc:AlternateContent xmlns:mc="http://schemas.openxmlformats.org/markup-compatibility/2006">
              <mc:Choice xmlns:v="urn:schemas-microsoft-com:vml" Requires="v">
                <p:oleObj name="公式" r:id="rId4" imgW="254000" imgH="203200" progId="Equation.3">
                  <p:embed/>
                </p:oleObj>
              </mc:Choice>
              <mc:Fallback>
                <p:oleObj name="公式" r:id="rId4" imgW="254000" imgH="203200" progId="Equation.3">
                  <p:embed/>
                  <p:pic>
                    <p:nvPicPr>
                      <p:cNvPr id="0" name="图片 1355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9725" y="3460750"/>
                        <a:ext cx="558800" cy="449263"/>
                      </a:xfrm>
                      <a:prstGeom prst="rect">
                        <a:avLst/>
                      </a:prstGeom>
                      <a:solidFill>
                        <a:srgbClr val="FFEAD5">
                          <a:alpha val="43137"/>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6392" name="Group 8"/>
          <p:cNvGrpSpPr/>
          <p:nvPr/>
        </p:nvGrpSpPr>
        <p:grpSpPr bwMode="auto">
          <a:xfrm>
            <a:off x="4556125" y="3316288"/>
            <a:ext cx="3455988" cy="2717800"/>
            <a:chOff x="2971" y="1457"/>
            <a:chExt cx="2177" cy="1712"/>
          </a:xfrm>
        </p:grpSpPr>
        <p:sp>
          <p:nvSpPr>
            <p:cNvPr id="24631" name="Line 9"/>
            <p:cNvSpPr>
              <a:spLocks noChangeShapeType="1"/>
            </p:cNvSpPr>
            <p:nvPr/>
          </p:nvSpPr>
          <p:spPr bwMode="auto">
            <a:xfrm rot="5400000" flipV="1">
              <a:off x="3954" y="2305"/>
              <a:ext cx="0" cy="1497"/>
            </a:xfrm>
            <a:prstGeom prst="line">
              <a:avLst/>
            </a:prstGeom>
            <a:noFill/>
            <a:ln w="28575">
              <a:solidFill>
                <a:srgbClr val="0033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32" name="Text Box 10"/>
            <p:cNvSpPr txBox="1">
              <a:spLocks noChangeArrowheads="1"/>
            </p:cNvSpPr>
            <p:nvPr/>
          </p:nvSpPr>
          <p:spPr bwMode="auto">
            <a:xfrm>
              <a:off x="4691" y="2959"/>
              <a:ext cx="457"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b="1" i="1">
                  <a:solidFill>
                    <a:srgbClr val="000048"/>
                  </a:solidFill>
                  <a:latin typeface="Times New Roman" panose="02020603050405020304" pitchFamily="18" charset="0"/>
                </a:rPr>
                <a:t>U</a:t>
              </a:r>
              <a:r>
                <a:rPr kumimoji="1" lang="en-US" altLang="zh-CN" b="1" baseline="-25000">
                  <a:solidFill>
                    <a:srgbClr val="000048"/>
                  </a:solidFill>
                  <a:latin typeface="Times New Roman" panose="02020603050405020304" pitchFamily="18" charset="0"/>
                </a:rPr>
                <a:t>CE </a:t>
              </a:r>
              <a:r>
                <a:rPr kumimoji="1" lang="en-US" altLang="zh-CN" b="1" i="1">
                  <a:solidFill>
                    <a:srgbClr val="000048"/>
                  </a:solidFill>
                  <a:latin typeface="Times New Roman" panose="02020603050405020304" pitchFamily="18" charset="0"/>
                </a:rPr>
                <a:t>/ </a:t>
              </a:r>
              <a:r>
                <a:rPr kumimoji="1" lang="en-US" altLang="zh-CN" b="1">
                  <a:solidFill>
                    <a:srgbClr val="000048"/>
                  </a:solidFill>
                  <a:latin typeface="Times New Roman" panose="02020603050405020304" pitchFamily="18" charset="0"/>
                </a:rPr>
                <a:t>V</a:t>
              </a:r>
            </a:p>
          </p:txBody>
        </p:sp>
        <p:sp>
          <p:nvSpPr>
            <p:cNvPr id="24633" name="Line 11"/>
            <p:cNvSpPr>
              <a:spLocks noChangeShapeType="1"/>
            </p:cNvSpPr>
            <p:nvPr/>
          </p:nvSpPr>
          <p:spPr bwMode="auto">
            <a:xfrm flipH="1" flipV="1">
              <a:off x="3198" y="1580"/>
              <a:ext cx="5" cy="1465"/>
            </a:xfrm>
            <a:prstGeom prst="line">
              <a:avLst/>
            </a:prstGeom>
            <a:noFill/>
            <a:ln w="28575">
              <a:solidFill>
                <a:srgbClr val="0033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34" name="Text Box 12"/>
            <p:cNvSpPr txBox="1">
              <a:spLocks noChangeArrowheads="1"/>
            </p:cNvSpPr>
            <p:nvPr/>
          </p:nvSpPr>
          <p:spPr bwMode="auto">
            <a:xfrm>
              <a:off x="3016" y="1457"/>
              <a:ext cx="44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b="1" i="1">
                  <a:solidFill>
                    <a:srgbClr val="000048"/>
                  </a:solidFill>
                  <a:latin typeface="Times New Roman" panose="02020603050405020304" pitchFamily="18" charset="0"/>
                </a:rPr>
                <a:t>I</a:t>
              </a:r>
              <a:r>
                <a:rPr kumimoji="1" lang="en-US" altLang="zh-CN" b="1" baseline="-25000">
                  <a:solidFill>
                    <a:srgbClr val="000048"/>
                  </a:solidFill>
                  <a:latin typeface="Times New Roman" panose="02020603050405020304" pitchFamily="18" charset="0"/>
                </a:rPr>
                <a:t>C </a:t>
              </a:r>
              <a:r>
                <a:rPr kumimoji="1" lang="en-US" altLang="zh-CN" b="1" i="1" baseline="-25000">
                  <a:solidFill>
                    <a:srgbClr val="000048"/>
                  </a:solidFill>
                  <a:latin typeface="Times New Roman" panose="02020603050405020304" pitchFamily="18" charset="0"/>
                </a:rPr>
                <a:t> </a:t>
              </a:r>
              <a:r>
                <a:rPr kumimoji="1" lang="en-US" altLang="zh-CN" b="1" i="1">
                  <a:solidFill>
                    <a:srgbClr val="000048"/>
                  </a:solidFill>
                  <a:latin typeface="Times New Roman" panose="02020603050405020304" pitchFamily="18" charset="0"/>
                </a:rPr>
                <a:t>/</a:t>
              </a:r>
              <a:r>
                <a:rPr kumimoji="1" lang="en-US" altLang="zh-CN" b="1">
                  <a:solidFill>
                    <a:srgbClr val="000048"/>
                  </a:solidFill>
                  <a:latin typeface="Times New Roman" panose="02020603050405020304" pitchFamily="18" charset="0"/>
                </a:rPr>
                <a:t>mA</a:t>
              </a:r>
            </a:p>
          </p:txBody>
        </p:sp>
        <p:sp>
          <p:nvSpPr>
            <p:cNvPr id="24635" name="Text Box 13"/>
            <p:cNvSpPr txBox="1">
              <a:spLocks noChangeArrowheads="1"/>
            </p:cNvSpPr>
            <p:nvPr/>
          </p:nvSpPr>
          <p:spPr bwMode="auto">
            <a:xfrm>
              <a:off x="3122" y="2977"/>
              <a:ext cx="16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a:solidFill>
                    <a:srgbClr val="000048"/>
                  </a:solidFill>
                  <a:latin typeface="Times New Roman" panose="02020603050405020304" pitchFamily="18" charset="0"/>
                </a:rPr>
                <a:t>0</a:t>
              </a:r>
            </a:p>
          </p:txBody>
        </p:sp>
        <p:sp>
          <p:nvSpPr>
            <p:cNvPr id="24636" name="Freeform 14"/>
            <p:cNvSpPr/>
            <p:nvPr/>
          </p:nvSpPr>
          <p:spPr bwMode="auto">
            <a:xfrm>
              <a:off x="3198" y="1833"/>
              <a:ext cx="807" cy="1233"/>
            </a:xfrm>
            <a:custGeom>
              <a:avLst/>
              <a:gdLst>
                <a:gd name="T0" fmla="*/ 0 w 954"/>
                <a:gd name="T1" fmla="*/ 1233 h 1158"/>
                <a:gd name="T2" fmla="*/ 183 w 954"/>
                <a:gd name="T3" fmla="*/ 128 h 1158"/>
                <a:gd name="T4" fmla="*/ 213 w 954"/>
                <a:gd name="T5" fmla="*/ 77 h 1158"/>
                <a:gd name="T6" fmla="*/ 274 w 954"/>
                <a:gd name="T7" fmla="*/ 32 h 1158"/>
                <a:gd name="T8" fmla="*/ 310 w 954"/>
                <a:gd name="T9" fmla="*/ 32 h 1158"/>
                <a:gd name="T10" fmla="*/ 381 w 954"/>
                <a:gd name="T11" fmla="*/ 26 h 1158"/>
                <a:gd name="T12" fmla="*/ 452 w 954"/>
                <a:gd name="T13" fmla="*/ 13 h 1158"/>
                <a:gd name="T14" fmla="*/ 518 w 954"/>
                <a:gd name="T15" fmla="*/ 13 h 1158"/>
                <a:gd name="T16" fmla="*/ 584 w 954"/>
                <a:gd name="T17" fmla="*/ 13 h 1158"/>
                <a:gd name="T18" fmla="*/ 807 w 954"/>
                <a:gd name="T19" fmla="*/ 0 h 11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54" h="1158">
                  <a:moveTo>
                    <a:pt x="0" y="1158"/>
                  </a:moveTo>
                  <a:lnTo>
                    <a:pt x="216" y="120"/>
                  </a:lnTo>
                  <a:lnTo>
                    <a:pt x="252" y="72"/>
                  </a:lnTo>
                  <a:lnTo>
                    <a:pt x="324" y="30"/>
                  </a:lnTo>
                  <a:lnTo>
                    <a:pt x="366" y="30"/>
                  </a:lnTo>
                  <a:lnTo>
                    <a:pt x="450" y="24"/>
                  </a:lnTo>
                  <a:lnTo>
                    <a:pt x="534" y="12"/>
                  </a:lnTo>
                  <a:lnTo>
                    <a:pt x="612" y="12"/>
                  </a:lnTo>
                  <a:lnTo>
                    <a:pt x="690" y="12"/>
                  </a:lnTo>
                  <a:lnTo>
                    <a:pt x="954" y="0"/>
                  </a:lnTo>
                </a:path>
              </a:pathLst>
            </a:custGeom>
            <a:noFill/>
            <a:ln w="444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37" name="Text Box 15"/>
            <p:cNvSpPr txBox="1">
              <a:spLocks noChangeArrowheads="1"/>
            </p:cNvSpPr>
            <p:nvPr/>
          </p:nvSpPr>
          <p:spPr bwMode="auto">
            <a:xfrm>
              <a:off x="4353" y="2876"/>
              <a:ext cx="306" cy="148"/>
            </a:xfrm>
            <a:prstGeom prst="rect">
              <a:avLst/>
            </a:prstGeom>
            <a:gradFill rotWithShape="1">
              <a:gsLst>
                <a:gs pos="0">
                  <a:srgbClr val="FFFF66">
                    <a:alpha val="62000"/>
                  </a:srgbClr>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b="1" i="1">
                  <a:solidFill>
                    <a:srgbClr val="000048"/>
                  </a:solidFill>
                  <a:latin typeface="Times New Roman" panose="02020603050405020304" pitchFamily="18" charset="0"/>
                  <a:ea typeface="隶书" panose="02010509060101010101" pitchFamily="49" charset="-122"/>
                </a:rPr>
                <a:t>I</a:t>
              </a:r>
              <a:r>
                <a:rPr kumimoji="1" lang="en-US" altLang="zh-CN" b="1" baseline="-25000">
                  <a:solidFill>
                    <a:srgbClr val="000048"/>
                  </a:solidFill>
                  <a:latin typeface="Times New Roman" panose="02020603050405020304" pitchFamily="18" charset="0"/>
                  <a:ea typeface="隶书" panose="02010509060101010101" pitchFamily="49" charset="-122"/>
                </a:rPr>
                <a:t>B</a:t>
              </a:r>
              <a:r>
                <a:rPr kumimoji="1" lang="en-US" altLang="zh-CN" b="1">
                  <a:solidFill>
                    <a:srgbClr val="000048"/>
                  </a:solidFill>
                  <a:latin typeface="Times New Roman" panose="02020603050405020304" pitchFamily="18" charset="0"/>
                  <a:ea typeface="隶书" panose="02010509060101010101" pitchFamily="49" charset="-122"/>
                </a:rPr>
                <a:t>=0</a:t>
              </a:r>
            </a:p>
          </p:txBody>
        </p:sp>
        <p:sp>
          <p:nvSpPr>
            <p:cNvPr id="24638" name="Freeform 16"/>
            <p:cNvSpPr/>
            <p:nvPr/>
          </p:nvSpPr>
          <p:spPr bwMode="auto">
            <a:xfrm>
              <a:off x="3287" y="2292"/>
              <a:ext cx="797" cy="193"/>
            </a:xfrm>
            <a:custGeom>
              <a:avLst/>
              <a:gdLst>
                <a:gd name="T0" fmla="*/ 0 w 885"/>
                <a:gd name="T1" fmla="*/ 193 h 181"/>
                <a:gd name="T2" fmla="*/ 41 w 885"/>
                <a:gd name="T3" fmla="*/ 73 h 181"/>
                <a:gd name="T4" fmla="*/ 164 w 885"/>
                <a:gd name="T5" fmla="*/ 25 h 181"/>
                <a:gd name="T6" fmla="*/ 368 w 885"/>
                <a:gd name="T7" fmla="*/ 25 h 181"/>
                <a:gd name="T8" fmla="*/ 797 w 885"/>
                <a:gd name="T9" fmla="*/ 0 h 1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5" h="181">
                  <a:moveTo>
                    <a:pt x="0" y="181"/>
                  </a:moveTo>
                  <a:cubicBezTo>
                    <a:pt x="8" y="137"/>
                    <a:pt x="16" y="94"/>
                    <a:pt x="46" y="68"/>
                  </a:cubicBezTo>
                  <a:cubicBezTo>
                    <a:pt x="76" y="42"/>
                    <a:pt x="121" y="31"/>
                    <a:pt x="182" y="23"/>
                  </a:cubicBezTo>
                  <a:cubicBezTo>
                    <a:pt x="243" y="15"/>
                    <a:pt x="292" y="27"/>
                    <a:pt x="409" y="23"/>
                  </a:cubicBezTo>
                  <a:cubicBezTo>
                    <a:pt x="526" y="19"/>
                    <a:pt x="705" y="9"/>
                    <a:pt x="885" y="0"/>
                  </a:cubicBezTo>
                </a:path>
              </a:pathLst>
            </a:custGeom>
            <a:noFill/>
            <a:ln w="444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39" name="Freeform 17"/>
            <p:cNvSpPr/>
            <p:nvPr/>
          </p:nvSpPr>
          <p:spPr bwMode="auto">
            <a:xfrm>
              <a:off x="3250" y="2521"/>
              <a:ext cx="879" cy="194"/>
            </a:xfrm>
            <a:custGeom>
              <a:avLst/>
              <a:gdLst>
                <a:gd name="T0" fmla="*/ 0 w 885"/>
                <a:gd name="T1" fmla="*/ 194 h 181"/>
                <a:gd name="T2" fmla="*/ 46 w 885"/>
                <a:gd name="T3" fmla="*/ 73 h 181"/>
                <a:gd name="T4" fmla="*/ 181 w 885"/>
                <a:gd name="T5" fmla="*/ 25 h 181"/>
                <a:gd name="T6" fmla="*/ 406 w 885"/>
                <a:gd name="T7" fmla="*/ 25 h 181"/>
                <a:gd name="T8" fmla="*/ 879 w 885"/>
                <a:gd name="T9" fmla="*/ 0 h 1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5" h="181">
                  <a:moveTo>
                    <a:pt x="0" y="181"/>
                  </a:moveTo>
                  <a:cubicBezTo>
                    <a:pt x="8" y="137"/>
                    <a:pt x="16" y="94"/>
                    <a:pt x="46" y="68"/>
                  </a:cubicBezTo>
                  <a:cubicBezTo>
                    <a:pt x="76" y="42"/>
                    <a:pt x="121" y="31"/>
                    <a:pt x="182" y="23"/>
                  </a:cubicBezTo>
                  <a:cubicBezTo>
                    <a:pt x="243" y="15"/>
                    <a:pt x="292" y="27"/>
                    <a:pt x="409" y="23"/>
                  </a:cubicBezTo>
                  <a:cubicBezTo>
                    <a:pt x="526" y="19"/>
                    <a:pt x="705" y="9"/>
                    <a:pt x="885" y="0"/>
                  </a:cubicBezTo>
                </a:path>
              </a:pathLst>
            </a:custGeom>
            <a:noFill/>
            <a:ln w="444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40" name="Freeform 18"/>
            <p:cNvSpPr/>
            <p:nvPr/>
          </p:nvSpPr>
          <p:spPr bwMode="auto">
            <a:xfrm>
              <a:off x="3214" y="2730"/>
              <a:ext cx="1041" cy="243"/>
            </a:xfrm>
            <a:custGeom>
              <a:avLst/>
              <a:gdLst>
                <a:gd name="T0" fmla="*/ 0 w 885"/>
                <a:gd name="T1" fmla="*/ 243 h 181"/>
                <a:gd name="T2" fmla="*/ 54 w 885"/>
                <a:gd name="T3" fmla="*/ 91 h 181"/>
                <a:gd name="T4" fmla="*/ 214 w 885"/>
                <a:gd name="T5" fmla="*/ 31 h 181"/>
                <a:gd name="T6" fmla="*/ 481 w 885"/>
                <a:gd name="T7" fmla="*/ 31 h 181"/>
                <a:gd name="T8" fmla="*/ 1041 w 885"/>
                <a:gd name="T9" fmla="*/ 0 h 1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5" h="181">
                  <a:moveTo>
                    <a:pt x="0" y="181"/>
                  </a:moveTo>
                  <a:cubicBezTo>
                    <a:pt x="8" y="137"/>
                    <a:pt x="16" y="94"/>
                    <a:pt x="46" y="68"/>
                  </a:cubicBezTo>
                  <a:cubicBezTo>
                    <a:pt x="76" y="42"/>
                    <a:pt x="121" y="31"/>
                    <a:pt x="182" y="23"/>
                  </a:cubicBezTo>
                  <a:cubicBezTo>
                    <a:pt x="243" y="15"/>
                    <a:pt x="292" y="27"/>
                    <a:pt x="409" y="23"/>
                  </a:cubicBezTo>
                  <a:cubicBezTo>
                    <a:pt x="526" y="19"/>
                    <a:pt x="705" y="9"/>
                    <a:pt x="885" y="0"/>
                  </a:cubicBezTo>
                </a:path>
              </a:pathLst>
            </a:custGeom>
            <a:noFill/>
            <a:ln w="444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41" name="Freeform 19"/>
            <p:cNvSpPr/>
            <p:nvPr/>
          </p:nvSpPr>
          <p:spPr bwMode="auto">
            <a:xfrm>
              <a:off x="3196" y="2960"/>
              <a:ext cx="1125" cy="100"/>
            </a:xfrm>
            <a:custGeom>
              <a:avLst/>
              <a:gdLst>
                <a:gd name="T0" fmla="*/ 0 w 885"/>
                <a:gd name="T1" fmla="*/ 100 h 181"/>
                <a:gd name="T2" fmla="*/ 58 w 885"/>
                <a:gd name="T3" fmla="*/ 38 h 181"/>
                <a:gd name="T4" fmla="*/ 231 w 885"/>
                <a:gd name="T5" fmla="*/ 13 h 181"/>
                <a:gd name="T6" fmla="*/ 520 w 885"/>
                <a:gd name="T7" fmla="*/ 13 h 181"/>
                <a:gd name="T8" fmla="*/ 1125 w 885"/>
                <a:gd name="T9" fmla="*/ 0 h 1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5" h="181">
                  <a:moveTo>
                    <a:pt x="0" y="181"/>
                  </a:moveTo>
                  <a:cubicBezTo>
                    <a:pt x="8" y="137"/>
                    <a:pt x="16" y="94"/>
                    <a:pt x="46" y="68"/>
                  </a:cubicBezTo>
                  <a:cubicBezTo>
                    <a:pt x="76" y="42"/>
                    <a:pt x="121" y="31"/>
                    <a:pt x="182" y="23"/>
                  </a:cubicBezTo>
                  <a:cubicBezTo>
                    <a:pt x="243" y="15"/>
                    <a:pt x="292" y="27"/>
                    <a:pt x="409" y="23"/>
                  </a:cubicBezTo>
                  <a:cubicBezTo>
                    <a:pt x="526" y="19"/>
                    <a:pt x="705" y="9"/>
                    <a:pt x="885" y="0"/>
                  </a:cubicBezTo>
                </a:path>
              </a:pathLst>
            </a:custGeom>
            <a:noFill/>
            <a:ln w="444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42" name="Freeform 20"/>
            <p:cNvSpPr/>
            <p:nvPr/>
          </p:nvSpPr>
          <p:spPr bwMode="auto">
            <a:xfrm>
              <a:off x="3341" y="2062"/>
              <a:ext cx="701" cy="193"/>
            </a:xfrm>
            <a:custGeom>
              <a:avLst/>
              <a:gdLst>
                <a:gd name="T0" fmla="*/ 0 w 885"/>
                <a:gd name="T1" fmla="*/ 193 h 181"/>
                <a:gd name="T2" fmla="*/ 36 w 885"/>
                <a:gd name="T3" fmla="*/ 73 h 181"/>
                <a:gd name="T4" fmla="*/ 144 w 885"/>
                <a:gd name="T5" fmla="*/ 25 h 181"/>
                <a:gd name="T6" fmla="*/ 324 w 885"/>
                <a:gd name="T7" fmla="*/ 25 h 181"/>
                <a:gd name="T8" fmla="*/ 701 w 885"/>
                <a:gd name="T9" fmla="*/ 0 h 1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5" h="181">
                  <a:moveTo>
                    <a:pt x="0" y="181"/>
                  </a:moveTo>
                  <a:cubicBezTo>
                    <a:pt x="8" y="137"/>
                    <a:pt x="16" y="94"/>
                    <a:pt x="46" y="68"/>
                  </a:cubicBezTo>
                  <a:cubicBezTo>
                    <a:pt x="76" y="42"/>
                    <a:pt x="121" y="31"/>
                    <a:pt x="182" y="23"/>
                  </a:cubicBezTo>
                  <a:cubicBezTo>
                    <a:pt x="243" y="15"/>
                    <a:pt x="292" y="27"/>
                    <a:pt x="409" y="23"/>
                  </a:cubicBezTo>
                  <a:cubicBezTo>
                    <a:pt x="526" y="19"/>
                    <a:pt x="705" y="9"/>
                    <a:pt x="885" y="0"/>
                  </a:cubicBezTo>
                </a:path>
              </a:pathLst>
            </a:custGeom>
            <a:noFill/>
            <a:ln w="44450" cmpd="sng">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43" name="Line 21"/>
            <p:cNvSpPr>
              <a:spLocks noChangeShapeType="1"/>
            </p:cNvSpPr>
            <p:nvPr/>
          </p:nvSpPr>
          <p:spPr bwMode="auto">
            <a:xfrm>
              <a:off x="3167" y="1810"/>
              <a:ext cx="47"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44" name="Line 22"/>
            <p:cNvSpPr>
              <a:spLocks noChangeShapeType="1"/>
            </p:cNvSpPr>
            <p:nvPr/>
          </p:nvSpPr>
          <p:spPr bwMode="auto">
            <a:xfrm>
              <a:off x="3167" y="2428"/>
              <a:ext cx="47"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45" name="Line 23"/>
            <p:cNvSpPr>
              <a:spLocks noChangeShapeType="1"/>
            </p:cNvSpPr>
            <p:nvPr/>
          </p:nvSpPr>
          <p:spPr bwMode="auto">
            <a:xfrm>
              <a:off x="3167" y="2093"/>
              <a:ext cx="47"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46" name="Line 24"/>
            <p:cNvSpPr>
              <a:spLocks noChangeShapeType="1"/>
            </p:cNvSpPr>
            <p:nvPr/>
          </p:nvSpPr>
          <p:spPr bwMode="auto">
            <a:xfrm>
              <a:off x="3167" y="2747"/>
              <a:ext cx="47"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47" name="Line 25"/>
            <p:cNvSpPr>
              <a:spLocks noChangeShapeType="1"/>
            </p:cNvSpPr>
            <p:nvPr/>
          </p:nvSpPr>
          <p:spPr bwMode="auto">
            <a:xfrm>
              <a:off x="3167" y="2305"/>
              <a:ext cx="47"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48" name="Line 26"/>
            <p:cNvSpPr>
              <a:spLocks noChangeShapeType="1"/>
            </p:cNvSpPr>
            <p:nvPr/>
          </p:nvSpPr>
          <p:spPr bwMode="auto">
            <a:xfrm>
              <a:off x="3167" y="2586"/>
              <a:ext cx="47"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49" name="Text Box 27"/>
            <p:cNvSpPr txBox="1">
              <a:spLocks noChangeArrowheads="1"/>
            </p:cNvSpPr>
            <p:nvPr/>
          </p:nvSpPr>
          <p:spPr bwMode="auto">
            <a:xfrm>
              <a:off x="3107" y="1757"/>
              <a:ext cx="107" cy="131"/>
            </a:xfrm>
            <a:prstGeom prst="rect">
              <a:avLst/>
            </a:prstGeom>
            <a:gradFill rotWithShape="1">
              <a:gsLst>
                <a:gs pos="0">
                  <a:srgbClr val="FFFF66">
                    <a:alpha val="62000"/>
                  </a:srgbClr>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1600" b="1">
                  <a:solidFill>
                    <a:srgbClr val="000048"/>
                  </a:solidFill>
                  <a:latin typeface="Times New Roman" panose="02020603050405020304" pitchFamily="18" charset="0"/>
                  <a:sym typeface="Symbol" panose="05050102010706020507" pitchFamily="18" charset="2"/>
                </a:rPr>
                <a:t>4</a:t>
              </a:r>
            </a:p>
          </p:txBody>
        </p:sp>
        <p:sp>
          <p:nvSpPr>
            <p:cNvPr id="24650" name="Text Box 28"/>
            <p:cNvSpPr txBox="1">
              <a:spLocks noChangeArrowheads="1"/>
            </p:cNvSpPr>
            <p:nvPr/>
          </p:nvSpPr>
          <p:spPr bwMode="auto">
            <a:xfrm>
              <a:off x="3107" y="2040"/>
              <a:ext cx="107" cy="131"/>
            </a:xfrm>
            <a:prstGeom prst="rect">
              <a:avLst/>
            </a:prstGeom>
            <a:gradFill rotWithShape="1">
              <a:gsLst>
                <a:gs pos="0">
                  <a:srgbClr val="FFFF66">
                    <a:alpha val="62000"/>
                  </a:srgbClr>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1600" b="1">
                  <a:solidFill>
                    <a:srgbClr val="000048"/>
                  </a:solidFill>
                  <a:latin typeface="Times New Roman" panose="02020603050405020304" pitchFamily="18" charset="0"/>
                  <a:sym typeface="Symbol" panose="05050102010706020507" pitchFamily="18" charset="2"/>
                </a:rPr>
                <a:t>3</a:t>
              </a:r>
            </a:p>
          </p:txBody>
        </p:sp>
        <p:sp>
          <p:nvSpPr>
            <p:cNvPr id="24651" name="Text Box 29"/>
            <p:cNvSpPr txBox="1">
              <a:spLocks noChangeArrowheads="1"/>
            </p:cNvSpPr>
            <p:nvPr/>
          </p:nvSpPr>
          <p:spPr bwMode="auto">
            <a:xfrm>
              <a:off x="3092" y="2375"/>
              <a:ext cx="106" cy="132"/>
            </a:xfrm>
            <a:prstGeom prst="rect">
              <a:avLst/>
            </a:prstGeom>
            <a:gradFill rotWithShape="1">
              <a:gsLst>
                <a:gs pos="0">
                  <a:srgbClr val="FFFF66">
                    <a:alpha val="62000"/>
                  </a:srgbClr>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1600" b="1">
                  <a:solidFill>
                    <a:srgbClr val="000048"/>
                  </a:solidFill>
                  <a:latin typeface="Times New Roman" panose="02020603050405020304" pitchFamily="18" charset="0"/>
                  <a:sym typeface="Symbol" panose="05050102010706020507" pitchFamily="18" charset="2"/>
                </a:rPr>
                <a:t>2</a:t>
              </a:r>
            </a:p>
          </p:txBody>
        </p:sp>
        <p:sp>
          <p:nvSpPr>
            <p:cNvPr id="24652" name="Text Box 30"/>
            <p:cNvSpPr txBox="1">
              <a:spLocks noChangeArrowheads="1"/>
            </p:cNvSpPr>
            <p:nvPr/>
          </p:nvSpPr>
          <p:spPr bwMode="auto">
            <a:xfrm>
              <a:off x="3077" y="2694"/>
              <a:ext cx="106" cy="131"/>
            </a:xfrm>
            <a:prstGeom prst="rect">
              <a:avLst/>
            </a:prstGeom>
            <a:gradFill rotWithShape="1">
              <a:gsLst>
                <a:gs pos="0">
                  <a:srgbClr val="FFFF66">
                    <a:alpha val="62000"/>
                  </a:srgbClr>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1600" b="1">
                  <a:solidFill>
                    <a:srgbClr val="000048"/>
                  </a:solidFill>
                  <a:latin typeface="Times New Roman" panose="02020603050405020304" pitchFamily="18" charset="0"/>
                  <a:sym typeface="Symbol" panose="05050102010706020507" pitchFamily="18" charset="2"/>
                </a:rPr>
                <a:t>1</a:t>
              </a:r>
            </a:p>
          </p:txBody>
        </p:sp>
        <p:sp>
          <p:nvSpPr>
            <p:cNvPr id="24653" name="Text Box 31"/>
            <p:cNvSpPr txBox="1">
              <a:spLocks noChangeArrowheads="1"/>
            </p:cNvSpPr>
            <p:nvPr/>
          </p:nvSpPr>
          <p:spPr bwMode="auto">
            <a:xfrm>
              <a:off x="2971" y="2553"/>
              <a:ext cx="214" cy="131"/>
            </a:xfrm>
            <a:prstGeom prst="rect">
              <a:avLst/>
            </a:prstGeom>
            <a:gradFill rotWithShape="1">
              <a:gsLst>
                <a:gs pos="0">
                  <a:srgbClr val="FFFF66">
                    <a:alpha val="62000"/>
                  </a:srgbClr>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1600" b="1">
                  <a:solidFill>
                    <a:srgbClr val="000048"/>
                  </a:solidFill>
                  <a:latin typeface="Times New Roman" panose="02020603050405020304" pitchFamily="18" charset="0"/>
                  <a:sym typeface="Symbol" panose="05050102010706020507" pitchFamily="18" charset="2"/>
                </a:rPr>
                <a:t>1.5</a:t>
              </a:r>
            </a:p>
          </p:txBody>
        </p:sp>
        <p:sp>
          <p:nvSpPr>
            <p:cNvPr id="24654" name="Text Box 32"/>
            <p:cNvSpPr txBox="1">
              <a:spLocks noChangeArrowheads="1"/>
            </p:cNvSpPr>
            <p:nvPr/>
          </p:nvSpPr>
          <p:spPr bwMode="auto">
            <a:xfrm>
              <a:off x="2971" y="2252"/>
              <a:ext cx="212" cy="131"/>
            </a:xfrm>
            <a:prstGeom prst="rect">
              <a:avLst/>
            </a:prstGeom>
            <a:gradFill rotWithShape="1">
              <a:gsLst>
                <a:gs pos="0">
                  <a:srgbClr val="FFFF66">
                    <a:alpha val="62000"/>
                  </a:srgbClr>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1600" b="1">
                  <a:solidFill>
                    <a:srgbClr val="000048"/>
                  </a:solidFill>
                  <a:latin typeface="Times New Roman" panose="02020603050405020304" pitchFamily="18" charset="0"/>
                  <a:sym typeface="Symbol" panose="05050102010706020507" pitchFamily="18" charset="2"/>
                </a:rPr>
                <a:t>2.3</a:t>
              </a:r>
            </a:p>
          </p:txBody>
        </p:sp>
      </p:grpSp>
      <p:sp>
        <p:nvSpPr>
          <p:cNvPr id="16417" name="Line 33"/>
          <p:cNvSpPr>
            <a:spLocks noChangeShapeType="1"/>
          </p:cNvSpPr>
          <p:nvPr/>
        </p:nvSpPr>
        <p:spPr bwMode="auto">
          <a:xfrm>
            <a:off x="4821238" y="3898900"/>
            <a:ext cx="1042987" cy="0"/>
          </a:xfrm>
          <a:prstGeom prst="line">
            <a:avLst/>
          </a:prstGeom>
          <a:noFill/>
          <a:ln w="19050">
            <a:solidFill>
              <a:srgbClr val="800080"/>
            </a:solidFill>
            <a:prstDash val="dash"/>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18" name="Text Box 34"/>
          <p:cNvSpPr txBox="1">
            <a:spLocks noChangeArrowheads="1"/>
          </p:cNvSpPr>
          <p:nvPr/>
        </p:nvSpPr>
        <p:spPr bwMode="auto">
          <a:xfrm>
            <a:off x="739775" y="2492375"/>
            <a:ext cx="3443288" cy="311150"/>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2400">
                <a:solidFill>
                  <a:srgbClr val="000048"/>
                </a:solidFill>
                <a:latin typeface="隶书" panose="02010509060101010101" pitchFamily="49" charset="-122"/>
                <a:ea typeface="隶书" panose="02010509060101010101" pitchFamily="49" charset="-122"/>
              </a:rPr>
              <a:t>②</a:t>
            </a:r>
            <a:r>
              <a:rPr kumimoji="1" lang="zh-CN" altLang="en-US" sz="2400">
                <a:solidFill>
                  <a:srgbClr val="000048"/>
                </a:solidFill>
                <a:latin typeface="Times New Roman" panose="02020603050405020304" pitchFamily="18" charset="0"/>
                <a:ea typeface="隶书" panose="02010509060101010101" pitchFamily="49" charset="-122"/>
              </a:rPr>
              <a:t>反向击穿电压</a:t>
            </a:r>
            <a:r>
              <a:rPr kumimoji="1" lang="en-US" altLang="zh-CN" sz="2400" b="1" i="1">
                <a:solidFill>
                  <a:srgbClr val="000048"/>
                </a:solidFill>
                <a:latin typeface="Times New Roman" panose="02020603050405020304" pitchFamily="18" charset="0"/>
                <a:ea typeface="隶书" panose="02010509060101010101" pitchFamily="49" charset="-122"/>
              </a:rPr>
              <a:t>U</a:t>
            </a:r>
            <a:r>
              <a:rPr kumimoji="1" lang="en-US" altLang="zh-CN" sz="2400" b="1" baseline="-25000">
                <a:solidFill>
                  <a:srgbClr val="000048"/>
                </a:solidFill>
                <a:latin typeface="Times New Roman" panose="02020603050405020304" pitchFamily="18" charset="0"/>
                <a:ea typeface="隶书" panose="02010509060101010101" pitchFamily="49" charset="-122"/>
              </a:rPr>
              <a:t>(BR)CEO</a:t>
            </a:r>
          </a:p>
        </p:txBody>
      </p:sp>
      <p:sp>
        <p:nvSpPr>
          <p:cNvPr id="16419" name="Freeform 35"/>
          <p:cNvSpPr/>
          <p:nvPr/>
        </p:nvSpPr>
        <p:spPr bwMode="auto">
          <a:xfrm>
            <a:off x="2519363" y="3752850"/>
            <a:ext cx="889000" cy="685800"/>
          </a:xfrm>
          <a:custGeom>
            <a:avLst/>
            <a:gdLst>
              <a:gd name="T0" fmla="*/ 889000 w 576"/>
              <a:gd name="T1" fmla="*/ 457200 h 432"/>
              <a:gd name="T2" fmla="*/ 889000 w 576"/>
              <a:gd name="T3" fmla="*/ 0 h 432"/>
              <a:gd name="T4" fmla="*/ 0 w 576"/>
              <a:gd name="T5" fmla="*/ 0 h 432"/>
              <a:gd name="T6" fmla="*/ 0 w 576"/>
              <a:gd name="T7" fmla="*/ 685800 h 4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6" h="432">
                <a:moveTo>
                  <a:pt x="576" y="288"/>
                </a:moveTo>
                <a:lnTo>
                  <a:pt x="576" y="0"/>
                </a:lnTo>
                <a:lnTo>
                  <a:pt x="0" y="0"/>
                </a:lnTo>
                <a:lnTo>
                  <a:pt x="0" y="432"/>
                </a:lnTo>
              </a:path>
            </a:pathLst>
          </a:custGeom>
          <a:noFill/>
          <a:ln w="28575" cmpd="sng">
            <a:solidFill>
              <a:srgbClr val="66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420" name="Group 36"/>
          <p:cNvGrpSpPr/>
          <p:nvPr/>
        </p:nvGrpSpPr>
        <p:grpSpPr bwMode="auto">
          <a:xfrm>
            <a:off x="3240088" y="4041775"/>
            <a:ext cx="304800" cy="452438"/>
            <a:chOff x="848" y="1632"/>
            <a:chExt cx="192" cy="285"/>
          </a:xfrm>
        </p:grpSpPr>
        <p:sp>
          <p:nvSpPr>
            <p:cNvPr id="24621" name="Rectangle 37"/>
            <p:cNvSpPr>
              <a:spLocks noChangeArrowheads="1"/>
            </p:cNvSpPr>
            <p:nvPr/>
          </p:nvSpPr>
          <p:spPr bwMode="auto">
            <a:xfrm>
              <a:off x="864" y="1632"/>
              <a:ext cx="152" cy="276"/>
            </a:xfrm>
            <a:prstGeom prst="rect">
              <a:avLst/>
            </a:prstGeom>
            <a:solidFill>
              <a:srgbClr val="FFEAD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nvGrpSpPr>
            <p:cNvPr id="24622" name="Group 38"/>
            <p:cNvGrpSpPr/>
            <p:nvPr/>
          </p:nvGrpSpPr>
          <p:grpSpPr bwMode="auto">
            <a:xfrm>
              <a:off x="848" y="1632"/>
              <a:ext cx="192" cy="57"/>
              <a:chOff x="848" y="1632"/>
              <a:chExt cx="192" cy="57"/>
            </a:xfrm>
          </p:grpSpPr>
          <p:sp>
            <p:nvSpPr>
              <p:cNvPr id="24629" name="Line 39"/>
              <p:cNvSpPr>
                <a:spLocks noChangeShapeType="1"/>
              </p:cNvSpPr>
              <p:nvPr/>
            </p:nvSpPr>
            <p:spPr bwMode="auto">
              <a:xfrm>
                <a:off x="848" y="1632"/>
                <a:ext cx="192" cy="1"/>
              </a:xfrm>
              <a:prstGeom prst="line">
                <a:avLst/>
              </a:prstGeom>
              <a:noFill/>
              <a:ln w="28575">
                <a:solidFill>
                  <a:srgbClr val="21654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30" name="Line 40"/>
              <p:cNvSpPr>
                <a:spLocks noChangeShapeType="1"/>
              </p:cNvSpPr>
              <p:nvPr/>
            </p:nvSpPr>
            <p:spPr bwMode="auto">
              <a:xfrm>
                <a:off x="896" y="1688"/>
                <a:ext cx="96" cy="1"/>
              </a:xfrm>
              <a:prstGeom prst="line">
                <a:avLst/>
              </a:prstGeom>
              <a:noFill/>
              <a:ln w="57150">
                <a:solidFill>
                  <a:srgbClr val="21654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4623" name="Group 41"/>
            <p:cNvGrpSpPr/>
            <p:nvPr/>
          </p:nvGrpSpPr>
          <p:grpSpPr bwMode="auto">
            <a:xfrm>
              <a:off x="848" y="1744"/>
              <a:ext cx="192" cy="57"/>
              <a:chOff x="848" y="1632"/>
              <a:chExt cx="192" cy="57"/>
            </a:xfrm>
          </p:grpSpPr>
          <p:sp>
            <p:nvSpPr>
              <p:cNvPr id="24627" name="Line 42"/>
              <p:cNvSpPr>
                <a:spLocks noChangeShapeType="1"/>
              </p:cNvSpPr>
              <p:nvPr/>
            </p:nvSpPr>
            <p:spPr bwMode="auto">
              <a:xfrm>
                <a:off x="848" y="1632"/>
                <a:ext cx="192" cy="1"/>
              </a:xfrm>
              <a:prstGeom prst="line">
                <a:avLst/>
              </a:prstGeom>
              <a:noFill/>
              <a:ln w="28575">
                <a:solidFill>
                  <a:srgbClr val="21654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28" name="Line 43"/>
              <p:cNvSpPr>
                <a:spLocks noChangeShapeType="1"/>
              </p:cNvSpPr>
              <p:nvPr/>
            </p:nvSpPr>
            <p:spPr bwMode="auto">
              <a:xfrm>
                <a:off x="896" y="1688"/>
                <a:ext cx="96" cy="1"/>
              </a:xfrm>
              <a:prstGeom prst="line">
                <a:avLst/>
              </a:prstGeom>
              <a:noFill/>
              <a:ln w="57150">
                <a:solidFill>
                  <a:srgbClr val="21654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4624" name="Group 44"/>
            <p:cNvGrpSpPr/>
            <p:nvPr/>
          </p:nvGrpSpPr>
          <p:grpSpPr bwMode="auto">
            <a:xfrm>
              <a:off x="848" y="1860"/>
              <a:ext cx="192" cy="57"/>
              <a:chOff x="848" y="1632"/>
              <a:chExt cx="192" cy="57"/>
            </a:xfrm>
          </p:grpSpPr>
          <p:sp>
            <p:nvSpPr>
              <p:cNvPr id="24625" name="Line 45"/>
              <p:cNvSpPr>
                <a:spLocks noChangeShapeType="1"/>
              </p:cNvSpPr>
              <p:nvPr/>
            </p:nvSpPr>
            <p:spPr bwMode="auto">
              <a:xfrm>
                <a:off x="848" y="1632"/>
                <a:ext cx="192" cy="1"/>
              </a:xfrm>
              <a:prstGeom prst="line">
                <a:avLst/>
              </a:prstGeom>
              <a:noFill/>
              <a:ln w="28575">
                <a:solidFill>
                  <a:srgbClr val="21654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26" name="Line 46"/>
              <p:cNvSpPr>
                <a:spLocks noChangeShapeType="1"/>
              </p:cNvSpPr>
              <p:nvPr/>
            </p:nvSpPr>
            <p:spPr bwMode="auto">
              <a:xfrm>
                <a:off x="896" y="1688"/>
                <a:ext cx="96" cy="1"/>
              </a:xfrm>
              <a:prstGeom prst="line">
                <a:avLst/>
              </a:prstGeom>
              <a:noFill/>
              <a:ln w="57150">
                <a:solidFill>
                  <a:srgbClr val="21654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6431" name="Group 47"/>
          <p:cNvGrpSpPr/>
          <p:nvPr/>
        </p:nvGrpSpPr>
        <p:grpSpPr bwMode="auto">
          <a:xfrm>
            <a:off x="1331913" y="4618038"/>
            <a:ext cx="647700" cy="74612"/>
            <a:chOff x="2381" y="3181"/>
            <a:chExt cx="408" cy="47"/>
          </a:xfrm>
        </p:grpSpPr>
        <p:sp>
          <p:nvSpPr>
            <p:cNvPr id="24619" name="Line 48"/>
            <p:cNvSpPr>
              <a:spLocks noChangeShapeType="1"/>
            </p:cNvSpPr>
            <p:nvPr/>
          </p:nvSpPr>
          <p:spPr bwMode="auto">
            <a:xfrm rot="5400000">
              <a:off x="2608" y="3024"/>
              <a:ext cx="2" cy="360"/>
            </a:xfrm>
            <a:prstGeom prst="line">
              <a:avLst/>
            </a:prstGeom>
            <a:noFill/>
            <a:ln w="31750">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20" name="Oval 49"/>
            <p:cNvSpPr>
              <a:spLocks noChangeArrowheads="1"/>
            </p:cNvSpPr>
            <p:nvPr/>
          </p:nvSpPr>
          <p:spPr bwMode="auto">
            <a:xfrm rot="5400000">
              <a:off x="2381" y="3181"/>
              <a:ext cx="47" cy="47"/>
            </a:xfrm>
            <a:prstGeom prst="ellipse">
              <a:avLst/>
            </a:prstGeom>
            <a:noFill/>
            <a:ln w="28575">
              <a:solidFill>
                <a:srgbClr val="66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sp>
        <p:nvSpPr>
          <p:cNvPr id="16434" name="Freeform 50"/>
          <p:cNvSpPr/>
          <p:nvPr/>
        </p:nvSpPr>
        <p:spPr bwMode="auto">
          <a:xfrm>
            <a:off x="2484438" y="4510088"/>
            <a:ext cx="901700" cy="1066800"/>
          </a:xfrm>
          <a:custGeom>
            <a:avLst/>
            <a:gdLst>
              <a:gd name="T0" fmla="*/ 901700 w 1296"/>
              <a:gd name="T1" fmla="*/ 0 h 672"/>
              <a:gd name="T2" fmla="*/ 901700 w 1296"/>
              <a:gd name="T3" fmla="*/ 1066800 h 672"/>
              <a:gd name="T4" fmla="*/ 0 w 1296"/>
              <a:gd name="T5" fmla="*/ 1066800 h 672"/>
              <a:gd name="T6" fmla="*/ 0 60000 65536"/>
              <a:gd name="T7" fmla="*/ 0 60000 65536"/>
              <a:gd name="T8" fmla="*/ 0 60000 65536"/>
            </a:gdLst>
            <a:ahLst/>
            <a:cxnLst>
              <a:cxn ang="T6">
                <a:pos x="T0" y="T1"/>
              </a:cxn>
              <a:cxn ang="T7">
                <a:pos x="T2" y="T3"/>
              </a:cxn>
              <a:cxn ang="T8">
                <a:pos x="T4" y="T5"/>
              </a:cxn>
            </a:cxnLst>
            <a:rect l="0" t="0" r="r" b="b"/>
            <a:pathLst>
              <a:path w="1296" h="672">
                <a:moveTo>
                  <a:pt x="1296" y="0"/>
                </a:moveTo>
                <a:lnTo>
                  <a:pt x="1296" y="672"/>
                </a:lnTo>
                <a:lnTo>
                  <a:pt x="0" y="672"/>
                </a:lnTo>
              </a:path>
            </a:pathLst>
          </a:custGeom>
          <a:noFill/>
          <a:ln w="28575" cmpd="sng">
            <a:solidFill>
              <a:srgbClr val="66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435" name="Group 51"/>
          <p:cNvGrpSpPr/>
          <p:nvPr/>
        </p:nvGrpSpPr>
        <p:grpSpPr bwMode="auto">
          <a:xfrm>
            <a:off x="1763713" y="4005263"/>
            <a:ext cx="1135062" cy="1274762"/>
            <a:chOff x="3039" y="2886"/>
            <a:chExt cx="715" cy="803"/>
          </a:xfrm>
        </p:grpSpPr>
        <p:sp>
          <p:nvSpPr>
            <p:cNvPr id="24611" name="Rectangle 52"/>
            <p:cNvSpPr>
              <a:spLocks noChangeArrowheads="1"/>
            </p:cNvSpPr>
            <p:nvPr/>
          </p:nvSpPr>
          <p:spPr bwMode="auto">
            <a:xfrm rot="16200000" flipV="1">
              <a:off x="3205" y="3144"/>
              <a:ext cx="276" cy="312"/>
            </a:xfrm>
            <a:prstGeom prst="rect">
              <a:avLst/>
            </a:prstGeom>
            <a:solidFill>
              <a:srgbClr val="FFEAD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24612" name="Line 53"/>
            <p:cNvSpPr>
              <a:spLocks noChangeShapeType="1"/>
            </p:cNvSpPr>
            <p:nvPr/>
          </p:nvSpPr>
          <p:spPr bwMode="auto">
            <a:xfrm rot="16200000" flipV="1">
              <a:off x="3191" y="3301"/>
              <a:ext cx="288" cy="1"/>
            </a:xfrm>
            <a:prstGeom prst="line">
              <a:avLst/>
            </a:prstGeom>
            <a:noFill/>
            <a:ln w="444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13" name="Line 54"/>
            <p:cNvSpPr>
              <a:spLocks noChangeShapeType="1"/>
            </p:cNvSpPr>
            <p:nvPr/>
          </p:nvSpPr>
          <p:spPr bwMode="auto">
            <a:xfrm rot="16200000" flipH="1">
              <a:off x="3363" y="3290"/>
              <a:ext cx="120" cy="192"/>
            </a:xfrm>
            <a:prstGeom prst="line">
              <a:avLst/>
            </a:prstGeom>
            <a:noFill/>
            <a:ln w="31750">
              <a:solidFill>
                <a:srgbClr val="0066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14" name="Line 55"/>
            <p:cNvSpPr>
              <a:spLocks noChangeShapeType="1"/>
            </p:cNvSpPr>
            <p:nvPr/>
          </p:nvSpPr>
          <p:spPr bwMode="auto">
            <a:xfrm rot="-5400000">
              <a:off x="3379" y="3113"/>
              <a:ext cx="91" cy="181"/>
            </a:xfrm>
            <a:prstGeom prst="line">
              <a:avLst/>
            </a:prstGeom>
            <a:noFill/>
            <a:ln w="317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15" name="Line 56"/>
            <p:cNvSpPr>
              <a:spLocks noChangeShapeType="1"/>
            </p:cNvSpPr>
            <p:nvPr/>
          </p:nvSpPr>
          <p:spPr bwMode="auto">
            <a:xfrm rot="16200000" flipV="1">
              <a:off x="3250" y="3219"/>
              <a:ext cx="0" cy="150"/>
            </a:xfrm>
            <a:prstGeom prst="line">
              <a:avLst/>
            </a:prstGeom>
            <a:noFill/>
            <a:ln w="31750">
              <a:solidFill>
                <a:srgbClr val="00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16" name="Rectangle 57"/>
            <p:cNvSpPr>
              <a:spLocks noChangeArrowheads="1"/>
            </p:cNvSpPr>
            <p:nvPr/>
          </p:nvSpPr>
          <p:spPr bwMode="auto">
            <a:xfrm>
              <a:off x="3606" y="2886"/>
              <a:ext cx="148"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lgn="ctr" eaLnBrk="1" hangingPunct="1"/>
              <a:r>
                <a:rPr lang="en-US" altLang="zh-CN" sz="2400" i="1">
                  <a:solidFill>
                    <a:srgbClr val="000048"/>
                  </a:solidFill>
                  <a:latin typeface="Times New Roman" panose="02020603050405020304" pitchFamily="18" charset="0"/>
                  <a:ea typeface="黑体" panose="02010609060101010101" pitchFamily="2" charset="-122"/>
                  <a:sym typeface="Symbol" panose="05050102010706020507" pitchFamily="18" charset="2"/>
                </a:rPr>
                <a:t>c</a:t>
              </a:r>
              <a:endParaRPr lang="en-US" altLang="zh-CN" sz="2400" i="1" baseline="-25000">
                <a:solidFill>
                  <a:srgbClr val="000048"/>
                </a:solidFill>
                <a:latin typeface="Times New Roman" panose="02020603050405020304" pitchFamily="18" charset="0"/>
                <a:ea typeface="黑体" panose="02010609060101010101" pitchFamily="2" charset="-122"/>
              </a:endParaRPr>
            </a:p>
          </p:txBody>
        </p:sp>
        <p:sp>
          <p:nvSpPr>
            <p:cNvPr id="24617" name="Rectangle 58"/>
            <p:cNvSpPr>
              <a:spLocks noChangeArrowheads="1"/>
            </p:cNvSpPr>
            <p:nvPr/>
          </p:nvSpPr>
          <p:spPr bwMode="auto">
            <a:xfrm>
              <a:off x="3560" y="3407"/>
              <a:ext cx="148"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lgn="ctr" eaLnBrk="1" hangingPunct="1"/>
              <a:r>
                <a:rPr lang="en-US" altLang="zh-CN" sz="2400" i="1">
                  <a:solidFill>
                    <a:srgbClr val="000048"/>
                  </a:solidFill>
                  <a:latin typeface="Times New Roman" panose="02020603050405020304" pitchFamily="18" charset="0"/>
                  <a:ea typeface="黑体" panose="02010609060101010101" pitchFamily="2" charset="-122"/>
                  <a:sym typeface="Symbol" panose="05050102010706020507" pitchFamily="18" charset="2"/>
                </a:rPr>
                <a:t>e</a:t>
              </a:r>
              <a:endParaRPr lang="en-US" altLang="zh-CN" sz="2400" i="1" baseline="-25000">
                <a:solidFill>
                  <a:srgbClr val="000048"/>
                </a:solidFill>
                <a:latin typeface="Times New Roman" panose="02020603050405020304" pitchFamily="18" charset="0"/>
                <a:ea typeface="黑体" panose="02010609060101010101" pitchFamily="2" charset="-122"/>
              </a:endParaRPr>
            </a:p>
          </p:txBody>
        </p:sp>
        <p:sp>
          <p:nvSpPr>
            <p:cNvPr id="24618" name="Rectangle 59"/>
            <p:cNvSpPr>
              <a:spLocks noChangeArrowheads="1"/>
            </p:cNvSpPr>
            <p:nvPr/>
          </p:nvSpPr>
          <p:spPr bwMode="auto">
            <a:xfrm>
              <a:off x="3039" y="3067"/>
              <a:ext cx="204"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lgn="ctr" eaLnBrk="1" hangingPunct="1"/>
              <a:r>
                <a:rPr lang="en-US" altLang="zh-CN" sz="2000" i="1">
                  <a:solidFill>
                    <a:srgbClr val="000048"/>
                  </a:solidFill>
                  <a:latin typeface="Times New Roman" panose="02020603050405020304" pitchFamily="18" charset="0"/>
                  <a:ea typeface="黑体" panose="02010609060101010101" pitchFamily="2" charset="-122"/>
                  <a:sym typeface="Symbol" panose="05050102010706020507" pitchFamily="18" charset="2"/>
                </a:rPr>
                <a:t>b</a:t>
              </a:r>
              <a:endParaRPr lang="en-US" altLang="zh-CN" sz="2000" i="1" baseline="-25000">
                <a:solidFill>
                  <a:srgbClr val="000048"/>
                </a:solidFill>
                <a:latin typeface="Times New Roman" panose="02020603050405020304" pitchFamily="18" charset="0"/>
                <a:ea typeface="黑体" panose="02010609060101010101" pitchFamily="2" charset="-122"/>
              </a:endParaRPr>
            </a:p>
          </p:txBody>
        </p:sp>
      </p:grpSp>
      <p:sp>
        <p:nvSpPr>
          <p:cNvPr id="16444" name="Text Box 60"/>
          <p:cNvSpPr txBox="1">
            <a:spLocks noChangeArrowheads="1"/>
          </p:cNvSpPr>
          <p:nvPr/>
        </p:nvSpPr>
        <p:spPr bwMode="auto">
          <a:xfrm>
            <a:off x="3563938" y="4113213"/>
            <a:ext cx="495300"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200" b="1" i="1">
                <a:solidFill>
                  <a:srgbClr val="000048"/>
                </a:solidFill>
                <a:latin typeface="Times New Roman" panose="02020603050405020304" pitchFamily="18" charset="0"/>
              </a:rPr>
              <a:t>U</a:t>
            </a:r>
            <a:r>
              <a:rPr kumimoji="1" lang="en-US" altLang="zh-CN" sz="2200" b="1" baseline="-25000">
                <a:solidFill>
                  <a:srgbClr val="000048"/>
                </a:solidFill>
                <a:latin typeface="Times New Roman" panose="02020603050405020304" pitchFamily="18" charset="0"/>
              </a:rPr>
              <a:t>CC</a:t>
            </a:r>
            <a:endParaRPr kumimoji="1" lang="en-US" altLang="zh-CN" sz="2200" b="1">
              <a:solidFill>
                <a:srgbClr val="000048"/>
              </a:solidFill>
              <a:latin typeface="Times New Roman" panose="02020603050405020304" pitchFamily="18" charset="0"/>
            </a:endParaRPr>
          </a:p>
        </p:txBody>
      </p:sp>
      <p:sp>
        <p:nvSpPr>
          <p:cNvPr id="16445" name="Line 61"/>
          <p:cNvSpPr>
            <a:spLocks noChangeShapeType="1"/>
          </p:cNvSpPr>
          <p:nvPr/>
        </p:nvSpPr>
        <p:spPr bwMode="auto">
          <a:xfrm>
            <a:off x="2484438" y="4868863"/>
            <a:ext cx="0" cy="720725"/>
          </a:xfrm>
          <a:prstGeom prst="line">
            <a:avLst/>
          </a:prstGeom>
          <a:noFill/>
          <a:ln w="28575">
            <a:solidFill>
              <a:srgbClr val="66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46" name="Line 62"/>
          <p:cNvSpPr>
            <a:spLocks noChangeShapeType="1"/>
          </p:cNvSpPr>
          <p:nvPr/>
        </p:nvSpPr>
        <p:spPr bwMode="auto">
          <a:xfrm flipH="1">
            <a:off x="2914650" y="3752850"/>
            <a:ext cx="15875" cy="1835150"/>
          </a:xfrm>
          <a:prstGeom prst="line">
            <a:avLst/>
          </a:prstGeom>
          <a:noFill/>
          <a:ln w="19050">
            <a:solidFill>
              <a:srgbClr val="FF006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47" name="AutoShape 63"/>
          <p:cNvSpPr>
            <a:spLocks noChangeArrowheads="1"/>
          </p:cNvSpPr>
          <p:nvPr/>
        </p:nvSpPr>
        <p:spPr bwMode="auto">
          <a:xfrm flipH="1">
            <a:off x="2339975" y="4292600"/>
            <a:ext cx="228600" cy="609600"/>
          </a:xfrm>
          <a:prstGeom prst="lightningBolt">
            <a:avLst/>
          </a:prstGeom>
          <a:solidFill>
            <a:srgbClr val="FF0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6448" name="AutoShape 64"/>
          <p:cNvSpPr>
            <a:spLocks noChangeArrowheads="1"/>
          </p:cNvSpPr>
          <p:nvPr/>
        </p:nvSpPr>
        <p:spPr bwMode="auto">
          <a:xfrm flipH="1">
            <a:off x="2339975" y="4292600"/>
            <a:ext cx="228600" cy="609600"/>
          </a:xfrm>
          <a:prstGeom prst="lightningBolt">
            <a:avLst/>
          </a:prstGeom>
          <a:solidFill>
            <a:srgbClr val="FF0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6449" name="AutoShape 65"/>
          <p:cNvSpPr>
            <a:spLocks noChangeArrowheads="1"/>
          </p:cNvSpPr>
          <p:nvPr/>
        </p:nvSpPr>
        <p:spPr bwMode="auto">
          <a:xfrm flipH="1">
            <a:off x="2339975" y="4292600"/>
            <a:ext cx="228600" cy="609600"/>
          </a:xfrm>
          <a:prstGeom prst="lightningBol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16450" name="Text Box 66"/>
          <p:cNvSpPr txBox="1">
            <a:spLocks noChangeArrowheads="1"/>
          </p:cNvSpPr>
          <p:nvPr/>
        </p:nvSpPr>
        <p:spPr bwMode="auto">
          <a:xfrm>
            <a:off x="2916238" y="4725988"/>
            <a:ext cx="1079500" cy="3048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kumimoji="1" lang="en-US" altLang="zh-CN" sz="2000" b="1" i="1">
                <a:solidFill>
                  <a:srgbClr val="000048"/>
                </a:solidFill>
                <a:latin typeface="Times New Roman" panose="02020603050405020304" pitchFamily="18" charset="0"/>
              </a:rPr>
              <a:t>U</a:t>
            </a:r>
            <a:r>
              <a:rPr kumimoji="1" lang="en-US" altLang="zh-CN" sz="2000" b="1" baseline="-25000">
                <a:solidFill>
                  <a:srgbClr val="000048"/>
                </a:solidFill>
                <a:latin typeface="Times New Roman" panose="02020603050405020304" pitchFamily="18" charset="0"/>
              </a:rPr>
              <a:t>(BR ) CEO</a:t>
            </a:r>
          </a:p>
        </p:txBody>
      </p:sp>
      <p:sp>
        <p:nvSpPr>
          <p:cNvPr id="16451" name="AutoShape 67"/>
          <p:cNvSpPr>
            <a:spLocks noChangeArrowheads="1"/>
          </p:cNvSpPr>
          <p:nvPr/>
        </p:nvSpPr>
        <p:spPr bwMode="auto">
          <a:xfrm>
            <a:off x="684213" y="3719513"/>
            <a:ext cx="1223962" cy="306387"/>
          </a:xfrm>
          <a:prstGeom prst="wedgeRoundRectCallout">
            <a:avLst>
              <a:gd name="adj1" fmla="val 22375"/>
              <a:gd name="adj2" fmla="val 230310"/>
              <a:gd name="adj3" fmla="val 16667"/>
            </a:avLst>
          </a:prstGeom>
          <a:gradFill rotWithShape="1">
            <a:gsLst>
              <a:gs pos="0">
                <a:schemeClr val="hlink">
                  <a:alpha val="57001"/>
                </a:schemeClr>
              </a:gs>
              <a:gs pos="100000">
                <a:schemeClr val="hlink">
                  <a:gamma/>
                  <a:tint val="0"/>
                  <a:invGamma/>
                  <a:alpha val="0"/>
                </a:schemeClr>
              </a:gs>
            </a:gsLst>
            <a:lin ang="2700000" scaled="1"/>
          </a:gradFill>
          <a:ln w="9525">
            <a:solidFill>
              <a:srgbClr val="66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nSpc>
                <a:spcPct val="90000"/>
              </a:lnSpc>
              <a:defRPr/>
            </a:pPr>
            <a:r>
              <a:rPr kumimoji="1" lang="zh-CN" altLang="en-US" sz="2000" b="1">
                <a:solidFill>
                  <a:srgbClr val="000048"/>
                </a:solidFill>
                <a:latin typeface="Times New Roman" panose="02020603050405020304" pitchFamily="18" charset="0"/>
                <a:ea typeface="楷体_GB2312" pitchFamily="49" charset="-122"/>
              </a:rPr>
              <a:t>基极开路</a:t>
            </a:r>
          </a:p>
        </p:txBody>
      </p:sp>
      <p:sp>
        <p:nvSpPr>
          <p:cNvPr id="16452" name="Rectangle 68"/>
          <p:cNvSpPr>
            <a:spLocks noChangeArrowheads="1"/>
          </p:cNvSpPr>
          <p:nvPr/>
        </p:nvSpPr>
        <p:spPr bwMode="auto">
          <a:xfrm>
            <a:off x="736600" y="2960688"/>
            <a:ext cx="3614738" cy="549275"/>
          </a:xfrm>
          <a:prstGeom prst="rect">
            <a:avLst/>
          </a:prstGeom>
          <a:noFill/>
          <a:ln>
            <a:noFill/>
          </a:ln>
          <a:effectLst/>
          <a:extLst>
            <a:ext uri="{909E8E84-426E-40DD-AFC4-6F175D3DCCD1}">
              <a14:hiddenFill xmlns:a14="http://schemas.microsoft.com/office/drawing/2010/main">
                <a:gradFill rotWithShape="1">
                  <a:gsLst>
                    <a:gs pos="0">
                      <a:schemeClr val="hlink">
                        <a:alpha val="37000"/>
                      </a:scheme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nSpc>
                <a:spcPct val="90000"/>
              </a:lnSpc>
            </a:pPr>
            <a:r>
              <a:rPr kumimoji="1" lang="en-US" altLang="zh-CN" sz="2000">
                <a:solidFill>
                  <a:srgbClr val="000048"/>
                </a:solidFill>
                <a:latin typeface="隶书" panose="02010509060101010101" pitchFamily="49" charset="-122"/>
                <a:ea typeface="隶书" panose="02010509060101010101" pitchFamily="49" charset="-122"/>
              </a:rPr>
              <a:t>  </a:t>
            </a:r>
            <a:r>
              <a:rPr kumimoji="1" lang="zh-CN" altLang="en-US" sz="2000">
                <a:solidFill>
                  <a:srgbClr val="000048"/>
                </a:solidFill>
                <a:latin typeface="隶书" panose="02010509060101010101" pitchFamily="49" charset="-122"/>
                <a:ea typeface="隶书" panose="02010509060101010101" pitchFamily="49" charset="-122"/>
              </a:rPr>
              <a:t>指基极开路时集电极与发射极间的反向击穿电</a:t>
            </a:r>
            <a:r>
              <a:rPr kumimoji="1" lang="zh-CN" altLang="en-US" sz="2000">
                <a:solidFill>
                  <a:srgbClr val="000048"/>
                </a:solidFill>
                <a:latin typeface="隶书" panose="02010509060101010101" pitchFamily="49" charset="-122"/>
                <a:ea typeface="隶书" panose="02010509060101010101" pitchFamily="49" charset="-122"/>
                <a:sym typeface="Symbol" panose="05050102010706020507" pitchFamily="18" charset="2"/>
              </a:rPr>
              <a:t>压。</a:t>
            </a:r>
          </a:p>
        </p:txBody>
      </p:sp>
      <p:sp>
        <p:nvSpPr>
          <p:cNvPr id="16453" name="AutoShape 69"/>
          <p:cNvSpPr>
            <a:spLocks noChangeArrowheads="1"/>
          </p:cNvSpPr>
          <p:nvPr/>
        </p:nvSpPr>
        <p:spPr bwMode="auto">
          <a:xfrm>
            <a:off x="466725" y="4832350"/>
            <a:ext cx="1692275" cy="1077913"/>
          </a:xfrm>
          <a:prstGeom prst="wedgeRoundRectCallout">
            <a:avLst>
              <a:gd name="adj1" fmla="val 109005"/>
              <a:gd name="adj2" fmla="val -28644"/>
              <a:gd name="adj3" fmla="val 16667"/>
            </a:avLst>
          </a:prstGeom>
          <a:gradFill rotWithShape="1">
            <a:gsLst>
              <a:gs pos="0">
                <a:schemeClr val="folHlink">
                  <a:gamma/>
                  <a:tint val="0"/>
                  <a:invGamma/>
                  <a:alpha val="0"/>
                </a:schemeClr>
              </a:gs>
              <a:gs pos="100000">
                <a:schemeClr val="folHlink">
                  <a:alpha val="25000"/>
                </a:schemeClr>
              </a:gs>
            </a:gsLst>
            <a:lin ang="2700000" scaled="1"/>
          </a:gradFill>
          <a:ln w="9525">
            <a:solidFill>
              <a:srgbClr val="21654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nSpc>
                <a:spcPct val="90000"/>
              </a:lnSpc>
              <a:defRPr/>
            </a:pPr>
            <a:r>
              <a:rPr kumimoji="1" lang="zh-CN" altLang="en-US" b="1">
                <a:solidFill>
                  <a:srgbClr val="000048"/>
                </a:solidFill>
                <a:latin typeface="楷体_GB2312" pitchFamily="49" charset="-122"/>
                <a:ea typeface="楷体_GB2312" pitchFamily="49" charset="-122"/>
                <a:sym typeface="Symbol" panose="05050102010706020507" pitchFamily="18" charset="2"/>
              </a:rPr>
              <a:t>使用中若超过此值</a:t>
            </a:r>
            <a:r>
              <a:rPr kumimoji="1" lang="en-US" altLang="zh-CN" b="1">
                <a:solidFill>
                  <a:srgbClr val="000048"/>
                </a:solidFill>
                <a:latin typeface="楷体_GB2312" pitchFamily="49" charset="-122"/>
                <a:ea typeface="楷体_GB2312" pitchFamily="49" charset="-122"/>
                <a:sym typeface="Symbol" panose="05050102010706020507" pitchFamily="18" charset="2"/>
              </a:rPr>
              <a:t>,</a:t>
            </a:r>
            <a:r>
              <a:rPr kumimoji="1" lang="zh-CN" altLang="en-US" b="1">
                <a:solidFill>
                  <a:srgbClr val="000048"/>
                </a:solidFill>
                <a:latin typeface="楷体_GB2312" pitchFamily="49" charset="-122"/>
                <a:ea typeface="楷体_GB2312" pitchFamily="49" charset="-122"/>
                <a:sym typeface="Symbol" panose="05050102010706020507" pitchFamily="18" charset="2"/>
              </a:rPr>
              <a:t>晶体管的集电结就会出现</a:t>
            </a:r>
            <a:r>
              <a:rPr kumimoji="1" lang="zh-CN" altLang="en-US" b="1">
                <a:solidFill>
                  <a:srgbClr val="AC2100"/>
                </a:solidFill>
                <a:effectLst>
                  <a:outerShdw blurRad="38100" dist="38100" dir="2700000" algn="tl">
                    <a:srgbClr val="000000"/>
                  </a:outerShdw>
                </a:effectLst>
                <a:latin typeface="Times New Roman" panose="02020603050405020304" pitchFamily="18" charset="0"/>
                <a:sym typeface="Symbol" panose="05050102010706020507" pitchFamily="18" charset="2"/>
              </a:rPr>
              <a:t>击穿</a:t>
            </a:r>
            <a:r>
              <a:rPr kumimoji="1" lang="zh-CN" altLang="en-US">
                <a:solidFill>
                  <a:srgbClr val="000048"/>
                </a:solidFill>
                <a:latin typeface="Times New Roman" panose="02020603050405020304" pitchFamily="18" charset="0"/>
                <a:sym typeface="Symbol" panose="05050102010706020507" pitchFamily="18" charset="2"/>
              </a:rPr>
              <a:t>。</a:t>
            </a:r>
          </a:p>
        </p:txBody>
      </p:sp>
      <p:sp>
        <p:nvSpPr>
          <p:cNvPr id="16454" name="AutoShape 70"/>
          <p:cNvSpPr>
            <a:spLocks noChangeArrowheads="1"/>
          </p:cNvSpPr>
          <p:nvPr/>
        </p:nvSpPr>
        <p:spPr bwMode="auto">
          <a:xfrm>
            <a:off x="4664075" y="1060450"/>
            <a:ext cx="2916238" cy="601663"/>
          </a:xfrm>
          <a:prstGeom prst="wedgeRoundRectCallout">
            <a:avLst>
              <a:gd name="adj1" fmla="val -75639"/>
              <a:gd name="adj2" fmla="val 7519"/>
              <a:gd name="adj3" fmla="val 16667"/>
            </a:avLst>
          </a:prstGeom>
          <a:gradFill rotWithShape="1">
            <a:gsLst>
              <a:gs pos="0">
                <a:schemeClr val="hlink">
                  <a:alpha val="57001"/>
                </a:schemeClr>
              </a:gs>
              <a:gs pos="100000">
                <a:schemeClr val="hlink">
                  <a:gamma/>
                  <a:tint val="0"/>
                  <a:invGamma/>
                  <a:alpha val="0"/>
                </a:schemeClr>
              </a:gs>
            </a:gsLst>
            <a:lin ang="2700000" scaled="1"/>
          </a:gradFill>
          <a:ln w="9525">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nSpc>
                <a:spcPct val="90000"/>
              </a:lnSpc>
              <a:defRPr/>
            </a:pPr>
            <a:r>
              <a:rPr kumimoji="1" lang="el-GR" altLang="zh-CN" sz="2000" b="1">
                <a:solidFill>
                  <a:srgbClr val="000048"/>
                </a:solidFill>
                <a:latin typeface="楷体_GB2312" pitchFamily="49" charset="-122"/>
                <a:ea typeface="楷体_GB2312" pitchFamily="49" charset="-122"/>
              </a:rPr>
              <a:t>Β</a:t>
            </a:r>
            <a:r>
              <a:rPr kumimoji="1" lang="zh-CN" altLang="en-US" sz="2000" b="1">
                <a:solidFill>
                  <a:srgbClr val="000048"/>
                </a:solidFill>
                <a:latin typeface="楷体_GB2312" pitchFamily="49" charset="-122"/>
                <a:ea typeface="楷体_GB2312" pitchFamily="49" charset="-122"/>
              </a:rPr>
              <a:t>值的大小反映了晶体管的电流放大能力。</a:t>
            </a:r>
            <a:endParaRPr kumimoji="1" lang="zh-CN" altLang="el-GR" sz="2000" b="1">
              <a:solidFill>
                <a:srgbClr val="000048"/>
              </a:solidFill>
              <a:latin typeface="楷体_GB2312" pitchFamily="49" charset="-122"/>
              <a:ea typeface="楷体_GB2312" pitchFamily="49" charset="-122"/>
            </a:endParaRPr>
          </a:p>
        </p:txBody>
      </p:sp>
      <p:sp>
        <p:nvSpPr>
          <p:cNvPr id="16455" name="AutoShape 71"/>
          <p:cNvSpPr>
            <a:spLocks noChangeArrowheads="1"/>
          </p:cNvSpPr>
          <p:nvPr/>
        </p:nvSpPr>
        <p:spPr bwMode="auto">
          <a:xfrm>
            <a:off x="5735638" y="1851025"/>
            <a:ext cx="2808287" cy="601663"/>
          </a:xfrm>
          <a:prstGeom prst="wedgeRoundRectCallout">
            <a:avLst>
              <a:gd name="adj1" fmla="val -102231"/>
              <a:gd name="adj2" fmla="val 18602"/>
              <a:gd name="adj3" fmla="val 16667"/>
            </a:avLst>
          </a:prstGeom>
          <a:gradFill rotWithShape="1">
            <a:gsLst>
              <a:gs pos="0">
                <a:srgbClr val="FF6600">
                  <a:alpha val="32999"/>
                </a:srgbClr>
              </a:gs>
              <a:gs pos="100000">
                <a:srgbClr val="FFFFFF">
                  <a:alpha val="0"/>
                </a:srgbClr>
              </a:gs>
            </a:gsLst>
            <a:lin ang="2700000" scaled="1"/>
          </a:gradFill>
          <a:ln w="9525">
            <a:solidFill>
              <a:srgbClr val="66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kumimoji="1" lang="en-US" altLang="zh-CN" b="1" i="1">
                <a:solidFill>
                  <a:srgbClr val="000048"/>
                </a:solidFill>
                <a:latin typeface="Times New Roman" panose="02020603050405020304" pitchFamily="18" charset="0"/>
              </a:rPr>
              <a:t>I</a:t>
            </a:r>
            <a:r>
              <a:rPr kumimoji="1" lang="en-US" altLang="zh-CN" b="1" baseline="-25000">
                <a:solidFill>
                  <a:srgbClr val="000048"/>
                </a:solidFill>
                <a:latin typeface="Times New Roman" panose="02020603050405020304" pitchFamily="18" charset="0"/>
              </a:rPr>
              <a:t>C</a:t>
            </a:r>
            <a:r>
              <a:rPr kumimoji="1" lang="en-US" altLang="zh-CN" b="1">
                <a:solidFill>
                  <a:srgbClr val="000048"/>
                </a:solidFill>
                <a:latin typeface="Times New Roman" panose="02020603050405020304" pitchFamily="18" charset="0"/>
              </a:rPr>
              <a:t>&gt;</a:t>
            </a:r>
            <a:r>
              <a:rPr kumimoji="1" lang="en-US" altLang="zh-CN" b="1" i="1">
                <a:solidFill>
                  <a:srgbClr val="000048"/>
                </a:solidFill>
                <a:latin typeface="Times New Roman" panose="02020603050405020304" pitchFamily="18" charset="0"/>
              </a:rPr>
              <a:t>I</a:t>
            </a:r>
            <a:r>
              <a:rPr kumimoji="1" lang="en-US" altLang="zh-CN" b="1" baseline="-25000">
                <a:solidFill>
                  <a:srgbClr val="000048"/>
                </a:solidFill>
                <a:latin typeface="Times New Roman" panose="02020603050405020304" pitchFamily="18" charset="0"/>
              </a:rPr>
              <a:t>CM</a:t>
            </a:r>
            <a:r>
              <a:rPr kumimoji="1" lang="zh-CN" altLang="en-US" b="1">
                <a:solidFill>
                  <a:srgbClr val="000048"/>
                </a:solidFill>
                <a:latin typeface="Times New Roman" panose="02020603050405020304" pitchFamily="18" charset="0"/>
              </a:rPr>
              <a:t>时，晶体管不一定烧损，但</a:t>
            </a:r>
            <a:r>
              <a:rPr kumimoji="1" lang="en-US" altLang="zh-CN" b="1">
                <a:solidFill>
                  <a:srgbClr val="000048"/>
                </a:solidFill>
                <a:latin typeface="Times New Roman" panose="02020603050405020304" pitchFamily="18" charset="0"/>
              </a:rPr>
              <a:t>β</a:t>
            </a:r>
            <a:r>
              <a:rPr kumimoji="1" lang="zh-CN" altLang="en-US" b="1">
                <a:solidFill>
                  <a:srgbClr val="000048"/>
                </a:solidFill>
                <a:latin typeface="Times New Roman" panose="02020603050405020304" pitchFamily="18" charset="0"/>
              </a:rPr>
              <a:t>值明显下降。</a:t>
            </a:r>
            <a:endParaRPr kumimoji="1" lang="zh-CN" altLang="en-US" b="1">
              <a:solidFill>
                <a:srgbClr val="000048"/>
              </a:solidFill>
              <a:latin typeface="Times New Roman" panose="02020603050405020304" pitchFamily="18" charset="0"/>
              <a:ea typeface="楷体_GB2312" pitchFamily="49" charset="-122"/>
            </a:endParaRPr>
          </a:p>
        </p:txBody>
      </p:sp>
      <p:sp>
        <p:nvSpPr>
          <p:cNvPr id="16456" name="Text Box 72"/>
          <p:cNvSpPr txBox="1">
            <a:spLocks noChangeArrowheads="1"/>
          </p:cNvSpPr>
          <p:nvPr/>
        </p:nvSpPr>
        <p:spPr bwMode="auto">
          <a:xfrm>
            <a:off x="4583113" y="2720975"/>
            <a:ext cx="3862387" cy="311150"/>
          </a:xfrm>
          <a:prstGeom prst="rect">
            <a:avLst/>
          </a:prstGeom>
          <a:noFill/>
          <a:ln>
            <a:noFill/>
          </a:ln>
          <a:effectLst/>
          <a:extLst>
            <a:ext uri="{909E8E84-426E-40DD-AFC4-6F175D3DCCD1}">
              <a14:hiddenFill xmlns:a14="http://schemas.microsoft.com/office/drawing/2010/main">
                <a:gradFill rotWithShape="1">
                  <a:gsLst>
                    <a:gs pos="0">
                      <a:srgbClr val="FFFF66">
                        <a:alpha val="62000"/>
                      </a:srgbClr>
                    </a:gs>
                    <a:gs pos="100000">
                      <a:srgbClr val="FFFFFF">
                        <a:alpha val="0"/>
                      </a:srgbClr>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85000"/>
              </a:lnSpc>
            </a:pPr>
            <a:r>
              <a:rPr kumimoji="1" lang="en-US" altLang="zh-CN" sz="2400">
                <a:solidFill>
                  <a:srgbClr val="000048"/>
                </a:solidFill>
                <a:latin typeface="隶书" panose="02010509060101010101" pitchFamily="49" charset="-122"/>
                <a:ea typeface="隶书" panose="02010509060101010101" pitchFamily="49" charset="-122"/>
              </a:rPr>
              <a:t>③</a:t>
            </a:r>
            <a:r>
              <a:rPr kumimoji="1" lang="zh-CN" altLang="en-US" sz="2400">
                <a:solidFill>
                  <a:srgbClr val="000048"/>
                </a:solidFill>
                <a:latin typeface="Times New Roman" panose="02020603050405020304" pitchFamily="18" charset="0"/>
                <a:ea typeface="隶书" panose="02010509060101010101" pitchFamily="49" charset="-122"/>
              </a:rPr>
              <a:t>集电极最大允许功耗</a:t>
            </a:r>
            <a:r>
              <a:rPr kumimoji="1" lang="en-US" altLang="zh-CN" sz="2400" b="1" i="1">
                <a:solidFill>
                  <a:srgbClr val="000048"/>
                </a:solidFill>
                <a:latin typeface="Times New Roman" panose="02020603050405020304" pitchFamily="18" charset="0"/>
                <a:ea typeface="隶书" panose="02010509060101010101" pitchFamily="49" charset="-122"/>
              </a:rPr>
              <a:t>P</a:t>
            </a:r>
            <a:r>
              <a:rPr kumimoji="1" lang="en-US" altLang="zh-CN" sz="2400" b="1" baseline="-25000">
                <a:solidFill>
                  <a:srgbClr val="000048"/>
                </a:solidFill>
                <a:latin typeface="Times New Roman" panose="02020603050405020304" pitchFamily="18" charset="0"/>
                <a:ea typeface="隶书" panose="02010509060101010101" pitchFamily="49" charset="-122"/>
              </a:rPr>
              <a:t>CM</a:t>
            </a:r>
          </a:p>
        </p:txBody>
      </p:sp>
      <p:sp>
        <p:nvSpPr>
          <p:cNvPr id="16457" name="Freeform 73"/>
          <p:cNvSpPr/>
          <p:nvPr/>
        </p:nvSpPr>
        <p:spPr bwMode="auto">
          <a:xfrm rot="-183767">
            <a:off x="5708650" y="3890963"/>
            <a:ext cx="1331913" cy="1897062"/>
          </a:xfrm>
          <a:custGeom>
            <a:avLst/>
            <a:gdLst>
              <a:gd name="T0" fmla="*/ 0 w 839"/>
              <a:gd name="T1" fmla="*/ 0 h 1195"/>
              <a:gd name="T2" fmla="*/ 73025 w 839"/>
              <a:gd name="T3" fmla="*/ 433387 h 1195"/>
              <a:gd name="T4" fmla="*/ 144463 w 839"/>
              <a:gd name="T5" fmla="*/ 828675 h 1195"/>
              <a:gd name="T6" fmla="*/ 252413 w 839"/>
              <a:gd name="T7" fmla="*/ 1152525 h 1195"/>
              <a:gd name="T8" fmla="*/ 431800 w 839"/>
              <a:gd name="T9" fmla="*/ 1512887 h 1195"/>
              <a:gd name="T10" fmla="*/ 900113 w 839"/>
              <a:gd name="T11" fmla="*/ 1836737 h 1195"/>
              <a:gd name="T12" fmla="*/ 1331913 w 839"/>
              <a:gd name="T13" fmla="*/ 1873250 h 119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9" h="1195">
                <a:moveTo>
                  <a:pt x="0" y="0"/>
                </a:moveTo>
                <a:cubicBezTo>
                  <a:pt x="15" y="93"/>
                  <a:pt x="31" y="186"/>
                  <a:pt x="46" y="273"/>
                </a:cubicBezTo>
                <a:cubicBezTo>
                  <a:pt x="61" y="360"/>
                  <a:pt x="72" y="447"/>
                  <a:pt x="91" y="522"/>
                </a:cubicBezTo>
                <a:cubicBezTo>
                  <a:pt x="110" y="597"/>
                  <a:pt x="129" y="654"/>
                  <a:pt x="159" y="726"/>
                </a:cubicBezTo>
                <a:cubicBezTo>
                  <a:pt x="189" y="798"/>
                  <a:pt x="204" y="881"/>
                  <a:pt x="272" y="953"/>
                </a:cubicBezTo>
                <a:cubicBezTo>
                  <a:pt x="340" y="1025"/>
                  <a:pt x="473" y="1119"/>
                  <a:pt x="567" y="1157"/>
                </a:cubicBezTo>
                <a:cubicBezTo>
                  <a:pt x="661" y="1195"/>
                  <a:pt x="794" y="1176"/>
                  <a:pt x="839" y="1180"/>
                </a:cubicBezTo>
              </a:path>
            </a:pathLst>
          </a:custGeom>
          <a:noFill/>
          <a:ln w="38100" cmpd="sng">
            <a:solidFill>
              <a:srgbClr val="216543"/>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6458" name="Object 74"/>
          <p:cNvGraphicFramePr>
            <a:graphicFrameLocks noChangeAspect="1"/>
          </p:cNvGraphicFramePr>
          <p:nvPr/>
        </p:nvGraphicFramePr>
        <p:xfrm>
          <a:off x="5816600" y="4540250"/>
          <a:ext cx="585788" cy="449263"/>
        </p:xfrm>
        <a:graphic>
          <a:graphicData uri="http://schemas.openxmlformats.org/presentationml/2006/ole">
            <mc:AlternateContent xmlns:mc="http://schemas.openxmlformats.org/markup-compatibility/2006">
              <mc:Choice xmlns:v="urn:schemas-microsoft-com:vml" Requires="v">
                <p:oleObj name="公式" r:id="rId6" imgW="266700" imgH="203200" progId="Equation.3">
                  <p:embed/>
                </p:oleObj>
              </mc:Choice>
              <mc:Fallback>
                <p:oleObj name="公式" r:id="rId6" imgW="266700" imgH="203200" progId="Equation.3">
                  <p:embed/>
                  <p:pic>
                    <p:nvPicPr>
                      <p:cNvPr id="0" name="图片 1355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16600" y="4540250"/>
                        <a:ext cx="585788" cy="449263"/>
                      </a:xfrm>
                      <a:prstGeom prst="rect">
                        <a:avLst/>
                      </a:prstGeom>
                      <a:gradFill rotWithShape="1">
                        <a:gsLst>
                          <a:gs pos="0">
                            <a:srgbClr val="FF66CC">
                              <a:alpha val="42998"/>
                            </a:srgbClr>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59" name="Freeform 75"/>
          <p:cNvSpPr/>
          <p:nvPr/>
        </p:nvSpPr>
        <p:spPr bwMode="auto">
          <a:xfrm rot="-186254">
            <a:off x="5719763" y="3903663"/>
            <a:ext cx="1025525" cy="1860550"/>
          </a:xfrm>
          <a:custGeom>
            <a:avLst/>
            <a:gdLst>
              <a:gd name="T0" fmla="*/ 0 w 749"/>
              <a:gd name="T1" fmla="*/ 34053 h 1202"/>
              <a:gd name="T2" fmla="*/ 93105 w 749"/>
              <a:gd name="T3" fmla="*/ 561880 h 1202"/>
              <a:gd name="T4" fmla="*/ 156088 w 749"/>
              <a:gd name="T5" fmla="*/ 947302 h 1202"/>
              <a:gd name="T6" fmla="*/ 249193 w 749"/>
              <a:gd name="T7" fmla="*/ 1229016 h 1202"/>
              <a:gd name="T8" fmla="*/ 342298 w 749"/>
              <a:gd name="T9" fmla="*/ 1473580 h 1202"/>
              <a:gd name="T10" fmla="*/ 590122 w 749"/>
              <a:gd name="T11" fmla="*/ 1719693 h 1202"/>
              <a:gd name="T12" fmla="*/ 776332 w 749"/>
              <a:gd name="T13" fmla="*/ 1789348 h 1202"/>
              <a:gd name="T14" fmla="*/ 1025525 w 749"/>
              <a:gd name="T15" fmla="*/ 1860550 h 1202"/>
              <a:gd name="T16" fmla="*/ 839315 w 749"/>
              <a:gd name="T17" fmla="*/ 1509182 h 1202"/>
              <a:gd name="T18" fmla="*/ 714718 w 749"/>
              <a:gd name="T19" fmla="*/ 1193414 h 1202"/>
              <a:gd name="T20" fmla="*/ 621613 w 749"/>
              <a:gd name="T21" fmla="*/ 911700 h 1202"/>
              <a:gd name="T22" fmla="*/ 528508 w 749"/>
              <a:gd name="T23" fmla="*/ 456624 h 1202"/>
              <a:gd name="T24" fmla="*/ 465525 w 749"/>
              <a:gd name="T25" fmla="*/ 139309 h 1202"/>
              <a:gd name="T26" fmla="*/ 435403 w 749"/>
              <a:gd name="T27" fmla="*/ 0 h 1202"/>
              <a:gd name="T28" fmla="*/ 249193 w 749"/>
              <a:gd name="T29" fmla="*/ 0 h 1202"/>
              <a:gd name="T30" fmla="*/ 0 w 749"/>
              <a:gd name="T31" fmla="*/ 34053 h 120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749" h="1202">
                <a:moveTo>
                  <a:pt x="0" y="22"/>
                </a:moveTo>
                <a:lnTo>
                  <a:pt x="68" y="363"/>
                </a:lnTo>
                <a:lnTo>
                  <a:pt x="114" y="612"/>
                </a:lnTo>
                <a:lnTo>
                  <a:pt x="182" y="794"/>
                </a:lnTo>
                <a:lnTo>
                  <a:pt x="250" y="952"/>
                </a:lnTo>
                <a:lnTo>
                  <a:pt x="431" y="1111"/>
                </a:lnTo>
                <a:lnTo>
                  <a:pt x="567" y="1156"/>
                </a:lnTo>
                <a:lnTo>
                  <a:pt x="749" y="1202"/>
                </a:lnTo>
                <a:lnTo>
                  <a:pt x="613" y="975"/>
                </a:lnTo>
                <a:lnTo>
                  <a:pt x="522" y="771"/>
                </a:lnTo>
                <a:lnTo>
                  <a:pt x="454" y="589"/>
                </a:lnTo>
                <a:lnTo>
                  <a:pt x="386" y="295"/>
                </a:lnTo>
                <a:lnTo>
                  <a:pt x="340" y="90"/>
                </a:lnTo>
                <a:lnTo>
                  <a:pt x="318" y="0"/>
                </a:lnTo>
                <a:lnTo>
                  <a:pt x="182" y="0"/>
                </a:lnTo>
                <a:lnTo>
                  <a:pt x="0" y="22"/>
                </a:lnTo>
                <a:close/>
              </a:path>
            </a:pathLst>
          </a:custGeom>
          <a:gradFill rotWithShape="1">
            <a:gsLst>
              <a:gs pos="0">
                <a:srgbClr val="800080">
                  <a:alpha val="75998"/>
                </a:srgbClr>
              </a:gs>
              <a:gs pos="100000">
                <a:srgbClr val="860C86">
                  <a:alpha val="0"/>
                </a:srgbClr>
              </a:gs>
            </a:gsLst>
            <a:lin ang="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60" name="AutoShape 76"/>
          <p:cNvSpPr>
            <a:spLocks noChangeArrowheads="1"/>
          </p:cNvSpPr>
          <p:nvPr/>
        </p:nvSpPr>
        <p:spPr bwMode="auto">
          <a:xfrm>
            <a:off x="6751638" y="3771900"/>
            <a:ext cx="1655762" cy="898525"/>
          </a:xfrm>
          <a:prstGeom prst="wedgeRoundRectCallout">
            <a:avLst>
              <a:gd name="adj1" fmla="val -87394"/>
              <a:gd name="adj2" fmla="val 34454"/>
              <a:gd name="adj3" fmla="val 16667"/>
            </a:avLst>
          </a:prstGeom>
          <a:gradFill rotWithShape="1">
            <a:gsLst>
              <a:gs pos="0">
                <a:srgbClr val="FF6600">
                  <a:alpha val="32999"/>
                </a:srgbClr>
              </a:gs>
              <a:gs pos="100000">
                <a:srgbClr val="FFFFFF">
                  <a:alpha val="0"/>
                </a:srgbClr>
              </a:gs>
            </a:gsLst>
            <a:lin ang="2700000" scaled="1"/>
          </a:gradFill>
          <a:ln w="9525">
            <a:solidFill>
              <a:srgbClr val="66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r>
              <a:rPr kumimoji="1" lang="zh-CN" altLang="en-US" b="1">
                <a:solidFill>
                  <a:srgbClr val="000048"/>
                </a:solidFill>
                <a:latin typeface="Times New Roman" panose="02020603050405020304" pitchFamily="18" charset="0"/>
              </a:rPr>
              <a:t>晶体管上的功耗超过</a:t>
            </a:r>
            <a:r>
              <a:rPr kumimoji="1" lang="en-US" altLang="zh-CN" b="1" i="1">
                <a:solidFill>
                  <a:srgbClr val="000048"/>
                </a:solidFill>
                <a:latin typeface="Times New Roman" panose="02020603050405020304" pitchFamily="18" charset="0"/>
              </a:rPr>
              <a:t>P</a:t>
            </a:r>
            <a:r>
              <a:rPr kumimoji="1" lang="en-US" altLang="zh-CN" b="1" baseline="-25000">
                <a:solidFill>
                  <a:srgbClr val="000048"/>
                </a:solidFill>
                <a:latin typeface="Times New Roman" panose="02020603050405020304" pitchFamily="18" charset="0"/>
              </a:rPr>
              <a:t>CM</a:t>
            </a:r>
            <a:r>
              <a:rPr kumimoji="1" lang="zh-CN" altLang="en-US" b="1">
                <a:solidFill>
                  <a:srgbClr val="000048"/>
                </a:solidFill>
                <a:latin typeface="Times New Roman" panose="02020603050405020304" pitchFamily="18" charset="0"/>
              </a:rPr>
              <a:t>，管子将损坏。</a:t>
            </a:r>
          </a:p>
        </p:txBody>
      </p:sp>
      <p:sp>
        <p:nvSpPr>
          <p:cNvPr id="16461" name="Freeform 77"/>
          <p:cNvSpPr/>
          <p:nvPr/>
        </p:nvSpPr>
        <p:spPr bwMode="auto">
          <a:xfrm>
            <a:off x="4916488" y="3949700"/>
            <a:ext cx="1908175" cy="1835150"/>
          </a:xfrm>
          <a:custGeom>
            <a:avLst/>
            <a:gdLst>
              <a:gd name="T0" fmla="*/ 396875 w 1202"/>
              <a:gd name="T1" fmla="*/ 71438 h 1156"/>
              <a:gd name="T2" fmla="*/ 612775 w 1202"/>
              <a:gd name="T3" fmla="*/ 0 h 1156"/>
              <a:gd name="T4" fmla="*/ 755650 w 1202"/>
              <a:gd name="T5" fmla="*/ 0 h 1156"/>
              <a:gd name="T6" fmla="*/ 792163 w 1202"/>
              <a:gd name="T7" fmla="*/ 323850 h 1156"/>
              <a:gd name="T8" fmla="*/ 900113 w 1202"/>
              <a:gd name="T9" fmla="*/ 719138 h 1156"/>
              <a:gd name="T10" fmla="*/ 1081088 w 1202"/>
              <a:gd name="T11" fmla="*/ 1295400 h 1156"/>
              <a:gd name="T12" fmla="*/ 1368425 w 1202"/>
              <a:gd name="T13" fmla="*/ 1584325 h 1156"/>
              <a:gd name="T14" fmla="*/ 1765300 w 1202"/>
              <a:gd name="T15" fmla="*/ 1800225 h 1156"/>
              <a:gd name="T16" fmla="*/ 1908175 w 1202"/>
              <a:gd name="T17" fmla="*/ 1835150 h 1156"/>
              <a:gd name="T18" fmla="*/ 0 w 1202"/>
              <a:gd name="T19" fmla="*/ 1835150 h 1156"/>
              <a:gd name="T20" fmla="*/ 73025 w 1202"/>
              <a:gd name="T21" fmla="*/ 1368425 h 1156"/>
              <a:gd name="T22" fmla="*/ 215900 w 1202"/>
              <a:gd name="T23" fmla="*/ 539750 h 1156"/>
              <a:gd name="T24" fmla="*/ 288925 w 1202"/>
              <a:gd name="T25" fmla="*/ 107950 h 1156"/>
              <a:gd name="T26" fmla="*/ 396875 w 1202"/>
              <a:gd name="T27" fmla="*/ 71438 h 11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202" h="1156">
                <a:moveTo>
                  <a:pt x="250" y="45"/>
                </a:moveTo>
                <a:lnTo>
                  <a:pt x="386" y="0"/>
                </a:lnTo>
                <a:lnTo>
                  <a:pt x="476" y="0"/>
                </a:lnTo>
                <a:lnTo>
                  <a:pt x="499" y="204"/>
                </a:lnTo>
                <a:lnTo>
                  <a:pt x="567" y="453"/>
                </a:lnTo>
                <a:lnTo>
                  <a:pt x="681" y="816"/>
                </a:lnTo>
                <a:lnTo>
                  <a:pt x="862" y="998"/>
                </a:lnTo>
                <a:lnTo>
                  <a:pt x="1112" y="1134"/>
                </a:lnTo>
                <a:lnTo>
                  <a:pt x="1202" y="1156"/>
                </a:lnTo>
                <a:lnTo>
                  <a:pt x="0" y="1156"/>
                </a:lnTo>
                <a:lnTo>
                  <a:pt x="46" y="862"/>
                </a:lnTo>
                <a:lnTo>
                  <a:pt x="136" y="340"/>
                </a:lnTo>
                <a:lnTo>
                  <a:pt x="182" y="68"/>
                </a:lnTo>
                <a:lnTo>
                  <a:pt x="250" y="45"/>
                </a:lnTo>
                <a:close/>
              </a:path>
            </a:pathLst>
          </a:custGeom>
          <a:gradFill rotWithShape="1">
            <a:gsLst>
              <a:gs pos="0">
                <a:srgbClr val="339966">
                  <a:alpha val="81000"/>
                </a:srgbClr>
              </a:gs>
              <a:gs pos="100000">
                <a:srgbClr val="2D885B">
                  <a:alpha val="0"/>
                </a:srgbClr>
              </a:gs>
            </a:gsLst>
            <a:lin ang="5400000" scaled="1"/>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62" name="Rectangle 78"/>
          <p:cNvSpPr>
            <a:spLocks noChangeArrowheads="1"/>
          </p:cNvSpPr>
          <p:nvPr/>
        </p:nvSpPr>
        <p:spPr bwMode="auto">
          <a:xfrm>
            <a:off x="5167313" y="4432300"/>
            <a:ext cx="833437" cy="1217613"/>
          </a:xfrm>
          <a:prstGeom prst="rect">
            <a:avLst/>
          </a:prstGeom>
          <a:gradFill rotWithShape="1">
            <a:gsLst>
              <a:gs pos="0">
                <a:srgbClr val="99FF99">
                  <a:alpha val="14000"/>
                </a:srgbClr>
              </a:gs>
              <a:gs pos="100000">
                <a:srgbClr val="99FF99">
                  <a:gamma/>
                  <a:tint val="0"/>
                  <a:invGamma/>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defRPr sz="4400">
                <a:solidFill>
                  <a:schemeClr val="tx2"/>
                </a:solidFill>
                <a:latin typeface="Arial" panose="020B0604020202020204" pitchFamily="34" charset="0"/>
                <a:ea typeface="宋体" panose="02010600030101010101" pitchFamily="2" charset="-122"/>
              </a:defRPr>
            </a:lvl1pPr>
            <a:lvl2pPr>
              <a:defRPr sz="4400">
                <a:solidFill>
                  <a:schemeClr val="tx2"/>
                </a:solidFill>
                <a:latin typeface="Arial" panose="020B0604020202020204" pitchFamily="34" charset="0"/>
                <a:ea typeface="宋体" panose="02010600030101010101" pitchFamily="2" charset="-122"/>
              </a:defRPr>
            </a:lvl2pPr>
            <a:lvl3pPr>
              <a:defRPr sz="4400">
                <a:solidFill>
                  <a:schemeClr val="tx2"/>
                </a:solidFill>
                <a:latin typeface="Arial" panose="020B0604020202020204" pitchFamily="34" charset="0"/>
                <a:ea typeface="宋体" panose="02010600030101010101" pitchFamily="2" charset="-122"/>
              </a:defRPr>
            </a:lvl3pPr>
            <a:lvl4pPr>
              <a:defRPr sz="4400">
                <a:solidFill>
                  <a:schemeClr val="tx2"/>
                </a:solidFill>
                <a:latin typeface="Arial" panose="020B0604020202020204" pitchFamily="34" charset="0"/>
                <a:ea typeface="宋体" panose="02010600030101010101" pitchFamily="2" charset="-122"/>
              </a:defRPr>
            </a:lvl4pPr>
            <a:lvl5pP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ctr" eaLnBrk="1" hangingPunct="1">
              <a:lnSpc>
                <a:spcPct val="50000"/>
              </a:lnSpc>
              <a:defRPr/>
            </a:pPr>
            <a:r>
              <a:rPr lang="zh-CN" altLang="en-US" sz="2200">
                <a:solidFill>
                  <a:srgbClr val="006600"/>
                </a:solidFill>
                <a:effectLst>
                  <a:outerShdw blurRad="38100" dist="38100" dir="2700000" algn="tl">
                    <a:srgbClr val="000000"/>
                  </a:outerShdw>
                </a:effectLst>
                <a:latin typeface="楷体_GB2312" pitchFamily="49" charset="-122"/>
                <a:ea typeface="楷体_GB2312" pitchFamily="49" charset="-122"/>
              </a:rPr>
              <a:t>安</a:t>
            </a:r>
            <a:br>
              <a:rPr lang="zh-CN" altLang="en-US" sz="2200" baseline="-25000">
                <a:solidFill>
                  <a:srgbClr val="006600"/>
                </a:solidFill>
                <a:effectLst>
                  <a:outerShdw blurRad="38100" dist="38100" dir="2700000" algn="tl">
                    <a:srgbClr val="000000"/>
                  </a:outerShdw>
                </a:effectLst>
                <a:latin typeface="楷体_GB2312" pitchFamily="49" charset="-122"/>
                <a:ea typeface="楷体_GB2312" pitchFamily="49" charset="-122"/>
              </a:rPr>
            </a:br>
            <a:br>
              <a:rPr lang="zh-CN" altLang="en-US" sz="2200">
                <a:solidFill>
                  <a:srgbClr val="006600"/>
                </a:solidFill>
                <a:effectLst>
                  <a:outerShdw blurRad="38100" dist="38100" dir="2700000" algn="tl">
                    <a:srgbClr val="000000"/>
                  </a:outerShdw>
                </a:effectLst>
                <a:latin typeface="楷体_GB2312" pitchFamily="49" charset="-122"/>
                <a:ea typeface="楷体_GB2312" pitchFamily="49" charset="-122"/>
              </a:rPr>
            </a:br>
            <a:r>
              <a:rPr lang="zh-CN" altLang="en-US" sz="2200">
                <a:solidFill>
                  <a:srgbClr val="006600"/>
                </a:solidFill>
                <a:effectLst>
                  <a:outerShdw blurRad="38100" dist="38100" dir="2700000" algn="tl">
                    <a:srgbClr val="000000"/>
                  </a:outerShdw>
                </a:effectLst>
                <a:latin typeface="楷体_GB2312" pitchFamily="49" charset="-122"/>
                <a:ea typeface="楷体_GB2312" pitchFamily="49" charset="-122"/>
              </a:rPr>
              <a:t> 全</a:t>
            </a:r>
            <a:br>
              <a:rPr lang="zh-CN" altLang="en-US" sz="2200" baseline="-25000">
                <a:solidFill>
                  <a:srgbClr val="006600"/>
                </a:solidFill>
                <a:effectLst>
                  <a:outerShdw blurRad="38100" dist="38100" dir="2700000" algn="tl">
                    <a:srgbClr val="000000"/>
                  </a:outerShdw>
                </a:effectLst>
                <a:latin typeface="楷体_GB2312" pitchFamily="49" charset="-122"/>
                <a:ea typeface="楷体_GB2312" pitchFamily="49" charset="-122"/>
              </a:rPr>
            </a:br>
            <a:r>
              <a:rPr lang="zh-CN" altLang="en-US" sz="2200">
                <a:solidFill>
                  <a:srgbClr val="006600"/>
                </a:solidFill>
                <a:effectLst>
                  <a:outerShdw blurRad="38100" dist="38100" dir="2700000" algn="tl">
                    <a:srgbClr val="000000"/>
                  </a:outerShdw>
                </a:effectLst>
                <a:latin typeface="楷体_GB2312" pitchFamily="49" charset="-122"/>
                <a:ea typeface="楷体_GB2312" pitchFamily="49" charset="-122"/>
              </a:rPr>
              <a:t> </a:t>
            </a:r>
            <a:br>
              <a:rPr lang="zh-CN" altLang="en-US" sz="2200">
                <a:solidFill>
                  <a:srgbClr val="006600"/>
                </a:solidFill>
                <a:effectLst>
                  <a:outerShdw blurRad="38100" dist="38100" dir="2700000" algn="tl">
                    <a:srgbClr val="000000"/>
                  </a:outerShdw>
                </a:effectLst>
                <a:latin typeface="楷体_GB2312" pitchFamily="49" charset="-122"/>
                <a:ea typeface="楷体_GB2312" pitchFamily="49" charset="-122"/>
              </a:rPr>
            </a:br>
            <a:r>
              <a:rPr lang="zh-CN" altLang="en-US" sz="2200">
                <a:solidFill>
                  <a:srgbClr val="006600"/>
                </a:solidFill>
                <a:effectLst>
                  <a:outerShdw blurRad="38100" dist="38100" dir="2700000" algn="tl">
                    <a:srgbClr val="000000"/>
                  </a:outerShdw>
                </a:effectLst>
                <a:latin typeface="楷体_GB2312" pitchFamily="49" charset="-122"/>
                <a:ea typeface="楷体_GB2312" pitchFamily="49" charset="-122"/>
              </a:rPr>
              <a:t>  区</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0" presetClass="entr" presetSubtype="0" fill="hold" grpId="0" nodeType="afterEffect">
                                  <p:stCondLst>
                                    <p:cond delay="0"/>
                                  </p:stCondLst>
                                  <p:iterate type="lt">
                                    <p:tmPct val="10000"/>
                                  </p:iterate>
                                  <p:childTnLst>
                                    <p:set>
                                      <p:cBhvr>
                                        <p:cTn id="6" dur="1" fill="hold">
                                          <p:stCondLst>
                                            <p:cond delay="0"/>
                                          </p:stCondLst>
                                        </p:cTn>
                                        <p:tgtEl>
                                          <p:spTgt spid="16386"/>
                                        </p:tgtEl>
                                        <p:attrNameLst>
                                          <p:attrName>style.visibility</p:attrName>
                                        </p:attrNameLst>
                                      </p:cBhvr>
                                      <p:to>
                                        <p:strVal val="visible"/>
                                      </p:to>
                                    </p:set>
                                    <p:animEffect transition="in" filter="fade">
                                      <p:cBhvr>
                                        <p:cTn id="7" dur="500"/>
                                        <p:tgtEl>
                                          <p:spTgt spid="16386"/>
                                        </p:tgtEl>
                                      </p:cBhvr>
                                    </p:animEffect>
                                    <p:anim calcmode="lin" valueType="num">
                                      <p:cBhvr>
                                        <p:cTn id="8" dur="500" fill="hold"/>
                                        <p:tgtEl>
                                          <p:spTgt spid="16386"/>
                                        </p:tgtEl>
                                        <p:attrNameLst>
                                          <p:attrName>ppt_x</p:attrName>
                                        </p:attrNameLst>
                                      </p:cBhvr>
                                      <p:tavLst>
                                        <p:tav tm="0">
                                          <p:val>
                                            <p:strVal val="#ppt_x-.1"/>
                                          </p:val>
                                        </p:tav>
                                        <p:tav tm="100000">
                                          <p:val>
                                            <p:strVal val="#ppt_x"/>
                                          </p:val>
                                        </p:tav>
                                      </p:tavLst>
                                    </p:anim>
                                    <p:anim calcmode="lin" valueType="num">
                                      <p:cBhvr>
                                        <p:cTn id="9" dur="500" fill="hold"/>
                                        <p:tgtEl>
                                          <p:spTgt spid="16386"/>
                                        </p:tgtEl>
                                        <p:attrNameLst>
                                          <p:attrName>ppt_y</p:attrName>
                                        </p:attrNameLst>
                                      </p:cBhvr>
                                      <p:tavLst>
                                        <p:tav tm="0">
                                          <p:val>
                                            <p:strVal val="#ppt_y"/>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16387"/>
                                        </p:tgtEl>
                                        <p:attrNameLst>
                                          <p:attrName>style.visibility</p:attrName>
                                        </p:attrNameLst>
                                      </p:cBhvr>
                                      <p:to>
                                        <p:strVal val="visible"/>
                                      </p:to>
                                    </p:set>
                                    <p:anim calcmode="discrete" valueType="clr">
                                      <p:cBhvr override="childStyle">
                                        <p:cTn id="14" dur="500"/>
                                        <p:tgtEl>
                                          <p:spTgt spid="16387"/>
                                        </p:tgtEl>
                                        <p:attrNameLst>
                                          <p:attrName>style.color</p:attrName>
                                        </p:attrNameLst>
                                      </p:cBhvr>
                                      <p:tavLst>
                                        <p:tav tm="0">
                                          <p:val>
                                            <p:clrVal>
                                              <a:schemeClr val="accent2"/>
                                            </p:clrVal>
                                          </p:val>
                                        </p:tav>
                                        <p:tav tm="50000">
                                          <p:val>
                                            <p:clrVal>
                                              <a:schemeClr val="hlink"/>
                                            </p:clrVal>
                                          </p:val>
                                        </p:tav>
                                      </p:tavLst>
                                    </p:anim>
                                    <p:anim calcmode="discrete" valueType="clr">
                                      <p:cBhvr>
                                        <p:cTn id="15" dur="500"/>
                                        <p:tgtEl>
                                          <p:spTgt spid="16387"/>
                                        </p:tgtEl>
                                        <p:attrNameLst>
                                          <p:attrName>fillcolor</p:attrName>
                                        </p:attrNameLst>
                                      </p:cBhvr>
                                      <p:tavLst>
                                        <p:tav tm="0">
                                          <p:val>
                                            <p:clrVal>
                                              <a:schemeClr val="accent2"/>
                                            </p:clrVal>
                                          </p:val>
                                        </p:tav>
                                        <p:tav tm="50000">
                                          <p:val>
                                            <p:clrVal>
                                              <a:schemeClr val="hlink"/>
                                            </p:clrVal>
                                          </p:val>
                                        </p:tav>
                                      </p:tavLst>
                                    </p:anim>
                                    <p:set>
                                      <p:cBhvr>
                                        <p:cTn id="16" dur="500"/>
                                        <p:tgtEl>
                                          <p:spTgt spid="16387"/>
                                        </p:tgtEl>
                                        <p:attrNameLst>
                                          <p:attrName>fill.type</p:attrName>
                                        </p:attrNameLst>
                                      </p:cBhvr>
                                      <p:to>
                                        <p:strVal val="solid"/>
                                      </p:to>
                                    </p:set>
                                  </p:childTnLst>
                                </p:cTn>
                              </p:par>
                            </p:childTnLst>
                          </p:cTn>
                        </p:par>
                        <p:par>
                          <p:cTn id="17" fill="hold">
                            <p:stCondLst>
                              <p:cond delay="2250"/>
                            </p:stCondLst>
                            <p:childTnLst>
                              <p:par>
                                <p:cTn id="18" presetID="22" presetClass="entr" presetSubtype="8" fill="hold" nodeType="afterEffect">
                                  <p:stCondLst>
                                    <p:cond delay="0"/>
                                  </p:stCondLst>
                                  <p:childTnLst>
                                    <p:set>
                                      <p:cBhvr>
                                        <p:cTn id="19" dur="1" fill="hold">
                                          <p:stCondLst>
                                            <p:cond delay="0"/>
                                          </p:stCondLst>
                                        </p:cTn>
                                        <p:tgtEl>
                                          <p:spTgt spid="16388"/>
                                        </p:tgtEl>
                                        <p:attrNameLst>
                                          <p:attrName>style.visibility</p:attrName>
                                        </p:attrNameLst>
                                      </p:cBhvr>
                                      <p:to>
                                        <p:strVal val="visible"/>
                                      </p:to>
                                    </p:set>
                                    <p:animEffect transition="in" filter="wipe(left)">
                                      <p:cBhvr>
                                        <p:cTn id="20" dur="1000"/>
                                        <p:tgtEl>
                                          <p:spTgt spid="16388"/>
                                        </p:tgtEl>
                                      </p:cBhvr>
                                    </p:animEffect>
                                  </p:childTnLst>
                                </p:cTn>
                              </p:par>
                            </p:childTnLst>
                          </p:cTn>
                        </p:par>
                        <p:par>
                          <p:cTn id="21" fill="hold">
                            <p:stCondLst>
                              <p:cond delay="3250"/>
                            </p:stCondLst>
                            <p:childTnLst>
                              <p:par>
                                <p:cTn id="22" presetID="24" presetClass="entr" presetSubtype="0" fill="hold" grpId="0" nodeType="afterEffect">
                                  <p:stCondLst>
                                    <p:cond delay="0"/>
                                  </p:stCondLst>
                                  <p:childTnLst>
                                    <p:set>
                                      <p:cBhvr>
                                        <p:cTn id="23" dur="1" fill="hold">
                                          <p:stCondLst>
                                            <p:cond delay="0"/>
                                          </p:stCondLst>
                                        </p:cTn>
                                        <p:tgtEl>
                                          <p:spTgt spid="16454"/>
                                        </p:tgtEl>
                                        <p:attrNameLst>
                                          <p:attrName>style.visibility</p:attrName>
                                        </p:attrNameLst>
                                      </p:cBhvr>
                                      <p:to>
                                        <p:strVal val="visible"/>
                                      </p:to>
                                    </p:set>
                                    <p:anim to="" calcmode="lin" valueType="num">
                                      <p:cBhvr>
                                        <p:cTn id="24" dur="1" fill="hold"/>
                                        <p:tgtEl>
                                          <p:spTgt spid="16454"/>
                                        </p:tgtEl>
                                      </p:cBhvr>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6389"/>
                                        </p:tgtEl>
                                        <p:attrNameLst>
                                          <p:attrName>style.visibility</p:attrName>
                                        </p:attrNameLst>
                                      </p:cBhvr>
                                      <p:to>
                                        <p:strVal val="visible"/>
                                      </p:to>
                                    </p:set>
                                    <p:animEffect transition="in" filter="wipe(left)">
                                      <p:cBhvr>
                                        <p:cTn id="29" dur="2000"/>
                                        <p:tgtEl>
                                          <p:spTgt spid="16389"/>
                                        </p:tgtEl>
                                      </p:cBhvr>
                                    </p:animEffect>
                                  </p:childTnLst>
                                </p:cTn>
                              </p:par>
                            </p:childTnLst>
                          </p:cTn>
                        </p:par>
                        <p:par>
                          <p:cTn id="30" fill="hold">
                            <p:stCondLst>
                              <p:cond delay="2000"/>
                            </p:stCondLst>
                            <p:childTnLst>
                              <p:par>
                                <p:cTn id="31" presetID="18" presetClass="entr" presetSubtype="3" fill="hold" nodeType="afterEffect">
                                  <p:stCondLst>
                                    <p:cond delay="0"/>
                                  </p:stCondLst>
                                  <p:childTnLst>
                                    <p:set>
                                      <p:cBhvr>
                                        <p:cTn id="32" dur="1" fill="hold">
                                          <p:stCondLst>
                                            <p:cond delay="0"/>
                                          </p:stCondLst>
                                        </p:cTn>
                                        <p:tgtEl>
                                          <p:spTgt spid="16392"/>
                                        </p:tgtEl>
                                        <p:attrNameLst>
                                          <p:attrName>style.visibility</p:attrName>
                                        </p:attrNameLst>
                                      </p:cBhvr>
                                      <p:to>
                                        <p:strVal val="visible"/>
                                      </p:to>
                                    </p:set>
                                    <p:animEffect transition="in" filter="strips(upRight)">
                                      <p:cBhvr>
                                        <p:cTn id="33" dur="500"/>
                                        <p:tgtEl>
                                          <p:spTgt spid="1639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6390"/>
                                        </p:tgtEl>
                                        <p:attrNameLst>
                                          <p:attrName>style.visibility</p:attrName>
                                        </p:attrNameLst>
                                      </p:cBhvr>
                                      <p:to>
                                        <p:strVal val="visible"/>
                                      </p:to>
                                    </p:set>
                                    <p:animEffect transition="in" filter="wipe(left)">
                                      <p:cBhvr>
                                        <p:cTn id="38" dur="2000"/>
                                        <p:tgtEl>
                                          <p:spTgt spid="16390"/>
                                        </p:tgtEl>
                                      </p:cBhvr>
                                    </p:animEffect>
                                  </p:childTnLst>
                                </p:cTn>
                              </p:par>
                            </p:childTnLst>
                          </p:cTn>
                        </p:par>
                        <p:par>
                          <p:cTn id="39" fill="hold">
                            <p:stCondLst>
                              <p:cond delay="2000"/>
                            </p:stCondLst>
                            <p:childTnLst>
                              <p:par>
                                <p:cTn id="40" presetID="22" presetClass="entr" presetSubtype="8" fill="hold" grpId="0" nodeType="afterEffect">
                                  <p:stCondLst>
                                    <p:cond delay="0"/>
                                  </p:stCondLst>
                                  <p:childTnLst>
                                    <p:set>
                                      <p:cBhvr>
                                        <p:cTn id="41" dur="1" fill="hold">
                                          <p:stCondLst>
                                            <p:cond delay="0"/>
                                          </p:stCondLst>
                                        </p:cTn>
                                        <p:tgtEl>
                                          <p:spTgt spid="16417"/>
                                        </p:tgtEl>
                                        <p:attrNameLst>
                                          <p:attrName>style.visibility</p:attrName>
                                        </p:attrNameLst>
                                      </p:cBhvr>
                                      <p:to>
                                        <p:strVal val="visible"/>
                                      </p:to>
                                    </p:set>
                                    <p:animEffect transition="in" filter="wipe(left)">
                                      <p:cBhvr>
                                        <p:cTn id="42" dur="1000"/>
                                        <p:tgtEl>
                                          <p:spTgt spid="16417"/>
                                        </p:tgtEl>
                                      </p:cBhvr>
                                    </p:animEffect>
                                  </p:childTnLst>
                                </p:cTn>
                              </p:par>
                            </p:childTnLst>
                          </p:cTn>
                        </p:par>
                        <p:par>
                          <p:cTn id="43" fill="hold">
                            <p:stCondLst>
                              <p:cond delay="3000"/>
                            </p:stCondLst>
                            <p:childTnLst>
                              <p:par>
                                <p:cTn id="44" presetID="51" presetClass="entr" presetSubtype="0" fill="hold" nodeType="afterEffect">
                                  <p:stCondLst>
                                    <p:cond delay="0"/>
                                  </p:stCondLst>
                                  <p:childTnLst>
                                    <p:set>
                                      <p:cBhvr>
                                        <p:cTn id="45" dur="1" fill="hold">
                                          <p:stCondLst>
                                            <p:cond delay="0"/>
                                          </p:stCondLst>
                                        </p:cTn>
                                        <p:tgtEl>
                                          <p:spTgt spid="16391"/>
                                        </p:tgtEl>
                                        <p:attrNameLst>
                                          <p:attrName>style.visibility</p:attrName>
                                        </p:attrNameLst>
                                      </p:cBhvr>
                                      <p:to>
                                        <p:strVal val="visible"/>
                                      </p:to>
                                    </p:set>
                                    <p:animEffect transition="in" filter="fade">
                                      <p:cBhvr>
                                        <p:cTn id="46" dur="192" decel="100000"/>
                                        <p:tgtEl>
                                          <p:spTgt spid="16391"/>
                                        </p:tgtEl>
                                      </p:cBhvr>
                                    </p:animEffect>
                                    <p:animScale>
                                      <p:cBhvr>
                                        <p:cTn id="47" dur="192" decel="100000"/>
                                        <p:tgtEl>
                                          <p:spTgt spid="16391"/>
                                        </p:tgtEl>
                                      </p:cBhvr>
                                      <p:from x="10000" y="10000"/>
                                      <p:to x="200000" y="450000"/>
                                    </p:animScale>
                                    <p:animScale>
                                      <p:cBhvr>
                                        <p:cTn id="48" dur="308" accel="100000" fill="hold">
                                          <p:stCondLst>
                                            <p:cond delay="192"/>
                                          </p:stCondLst>
                                        </p:cTn>
                                        <p:tgtEl>
                                          <p:spTgt spid="16391"/>
                                        </p:tgtEl>
                                      </p:cBhvr>
                                      <p:from x="200000" y="450000"/>
                                      <p:to x="100000" y="100000"/>
                                    </p:animScale>
                                    <p:set>
                                      <p:cBhvr>
                                        <p:cTn id="49" dur="192" fill="hold"/>
                                        <p:tgtEl>
                                          <p:spTgt spid="16391"/>
                                        </p:tgtEl>
                                        <p:attrNameLst>
                                          <p:attrName>ppt_x</p:attrName>
                                        </p:attrNameLst>
                                      </p:cBhvr>
                                      <p:to>
                                        <p:strVal val="(0.5)"/>
                                      </p:to>
                                    </p:set>
                                    <p:anim from="(0.5)" to="(#ppt_x)" calcmode="lin" valueType="num">
                                      <p:cBhvr>
                                        <p:cTn id="50" dur="308" accel="100000" fill="hold">
                                          <p:stCondLst>
                                            <p:cond delay="192"/>
                                          </p:stCondLst>
                                        </p:cTn>
                                        <p:tgtEl>
                                          <p:spTgt spid="16391"/>
                                        </p:tgtEl>
                                        <p:attrNameLst>
                                          <p:attrName>ppt_x</p:attrName>
                                        </p:attrNameLst>
                                      </p:cBhvr>
                                    </p:anim>
                                    <p:set>
                                      <p:cBhvr>
                                        <p:cTn id="51" dur="192" fill="hold"/>
                                        <p:tgtEl>
                                          <p:spTgt spid="16391"/>
                                        </p:tgtEl>
                                        <p:attrNameLst>
                                          <p:attrName>ppt_y</p:attrName>
                                        </p:attrNameLst>
                                      </p:cBhvr>
                                      <p:to>
                                        <p:strVal val="(#ppt_y+0.4)"/>
                                      </p:to>
                                    </p:set>
                                    <p:anim from="(#ppt_y+0.4)" to="(#ppt_y)" calcmode="lin" valueType="num">
                                      <p:cBhvr>
                                        <p:cTn id="52" dur="308" accel="100000" fill="hold">
                                          <p:stCondLst>
                                            <p:cond delay="192"/>
                                          </p:stCondLst>
                                        </p:cTn>
                                        <p:tgtEl>
                                          <p:spTgt spid="16391"/>
                                        </p:tgtEl>
                                        <p:attrNameLst>
                                          <p:attrName>ppt_y</p:attrName>
                                        </p:attrNameLst>
                                      </p:cBhvr>
                                    </p:anim>
                                  </p:childTnLst>
                                </p:cTn>
                              </p:par>
                            </p:childTnLst>
                          </p:cTn>
                        </p:par>
                        <p:par>
                          <p:cTn id="53" fill="hold">
                            <p:stCondLst>
                              <p:cond delay="3500"/>
                            </p:stCondLst>
                            <p:childTnLst>
                              <p:par>
                                <p:cTn id="54" presetID="24" presetClass="entr" presetSubtype="0" fill="hold" grpId="0" nodeType="afterEffect">
                                  <p:stCondLst>
                                    <p:cond delay="0"/>
                                  </p:stCondLst>
                                  <p:childTnLst>
                                    <p:set>
                                      <p:cBhvr>
                                        <p:cTn id="55" dur="1" fill="hold">
                                          <p:stCondLst>
                                            <p:cond delay="0"/>
                                          </p:stCondLst>
                                        </p:cTn>
                                        <p:tgtEl>
                                          <p:spTgt spid="16455"/>
                                        </p:tgtEl>
                                        <p:attrNameLst>
                                          <p:attrName>style.visibility</p:attrName>
                                        </p:attrNameLst>
                                      </p:cBhvr>
                                      <p:to>
                                        <p:strVal val="visible"/>
                                      </p:to>
                                    </p:set>
                                    <p:anim to="" calcmode="lin" valueType="num">
                                      <p:cBhvr>
                                        <p:cTn id="56" dur="1" fill="hold"/>
                                        <p:tgtEl>
                                          <p:spTgt spid="16455"/>
                                        </p:tgtEl>
                                      </p:cBhvr>
                                    </p:anim>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6418"/>
                                        </p:tgtEl>
                                        <p:attrNameLst>
                                          <p:attrName>style.visibility</p:attrName>
                                        </p:attrNameLst>
                                      </p:cBhvr>
                                      <p:to>
                                        <p:strVal val="visible"/>
                                      </p:to>
                                    </p:set>
                                    <p:animEffect transition="in" filter="wipe(left)">
                                      <p:cBhvr>
                                        <p:cTn id="61" dur="2000"/>
                                        <p:tgtEl>
                                          <p:spTgt spid="16418"/>
                                        </p:tgtEl>
                                      </p:cBhvr>
                                    </p:animEffect>
                                  </p:childTnLst>
                                </p:cTn>
                              </p:par>
                            </p:childTnLst>
                          </p:cTn>
                        </p:par>
                        <p:par>
                          <p:cTn id="62" fill="hold">
                            <p:stCondLst>
                              <p:cond delay="2000"/>
                            </p:stCondLst>
                            <p:childTnLst>
                              <p:par>
                                <p:cTn id="63" presetID="27" presetClass="entr" presetSubtype="0" fill="hold" grpId="0" nodeType="afterEffect">
                                  <p:stCondLst>
                                    <p:cond delay="0"/>
                                  </p:stCondLst>
                                  <p:iterate type="lt">
                                    <p:tmPct val="50000"/>
                                  </p:iterate>
                                  <p:childTnLst>
                                    <p:set>
                                      <p:cBhvr>
                                        <p:cTn id="64" dur="1" fill="hold">
                                          <p:stCondLst>
                                            <p:cond delay="0"/>
                                          </p:stCondLst>
                                        </p:cTn>
                                        <p:tgtEl>
                                          <p:spTgt spid="16452"/>
                                        </p:tgtEl>
                                        <p:attrNameLst>
                                          <p:attrName>style.visibility</p:attrName>
                                        </p:attrNameLst>
                                      </p:cBhvr>
                                      <p:to>
                                        <p:strVal val="visible"/>
                                      </p:to>
                                    </p:set>
                                    <p:anim calcmode="discrete" valueType="clr">
                                      <p:cBhvr override="childStyle">
                                        <p:cTn id="65" dur="80"/>
                                        <p:tgtEl>
                                          <p:spTgt spid="16452"/>
                                        </p:tgtEl>
                                        <p:attrNameLst>
                                          <p:attrName>style.color</p:attrName>
                                        </p:attrNameLst>
                                      </p:cBhvr>
                                      <p:tavLst>
                                        <p:tav tm="0">
                                          <p:val>
                                            <p:clrVal>
                                              <a:schemeClr val="accent2"/>
                                            </p:clrVal>
                                          </p:val>
                                        </p:tav>
                                        <p:tav tm="50000">
                                          <p:val>
                                            <p:clrVal>
                                              <a:schemeClr val="hlink"/>
                                            </p:clrVal>
                                          </p:val>
                                        </p:tav>
                                      </p:tavLst>
                                    </p:anim>
                                    <p:anim calcmode="discrete" valueType="clr">
                                      <p:cBhvr>
                                        <p:cTn id="66" dur="80"/>
                                        <p:tgtEl>
                                          <p:spTgt spid="16452"/>
                                        </p:tgtEl>
                                        <p:attrNameLst>
                                          <p:attrName>fillcolor</p:attrName>
                                        </p:attrNameLst>
                                      </p:cBhvr>
                                      <p:tavLst>
                                        <p:tav tm="0">
                                          <p:val>
                                            <p:clrVal>
                                              <a:schemeClr val="accent2"/>
                                            </p:clrVal>
                                          </p:val>
                                        </p:tav>
                                        <p:tav tm="50000">
                                          <p:val>
                                            <p:clrVal>
                                              <a:schemeClr val="hlink"/>
                                            </p:clrVal>
                                          </p:val>
                                        </p:tav>
                                      </p:tavLst>
                                    </p:anim>
                                    <p:set>
                                      <p:cBhvr>
                                        <p:cTn id="67" dur="80"/>
                                        <p:tgtEl>
                                          <p:spTgt spid="16452"/>
                                        </p:tgtEl>
                                        <p:attrNameLst>
                                          <p:attrName>fill.type</p:attrName>
                                        </p:attrNameLst>
                                      </p:cBhvr>
                                      <p:to>
                                        <p:strVal val="solid"/>
                                      </p:to>
                                    </p:se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nodeType="clickEffect">
                                  <p:stCondLst>
                                    <p:cond delay="0"/>
                                  </p:stCondLst>
                                  <p:childTnLst>
                                    <p:set>
                                      <p:cBhvr>
                                        <p:cTn id="71" dur="1" fill="hold">
                                          <p:stCondLst>
                                            <p:cond delay="0"/>
                                          </p:stCondLst>
                                        </p:cTn>
                                        <p:tgtEl>
                                          <p:spTgt spid="16435"/>
                                        </p:tgtEl>
                                        <p:attrNameLst>
                                          <p:attrName>style.visibility</p:attrName>
                                        </p:attrNameLst>
                                      </p:cBhvr>
                                      <p:to>
                                        <p:strVal val="visible"/>
                                      </p:to>
                                    </p:set>
                                    <p:animEffect transition="in" filter="wipe(down)">
                                      <p:cBhvr>
                                        <p:cTn id="72" dur="500"/>
                                        <p:tgtEl>
                                          <p:spTgt spid="16435"/>
                                        </p:tgtEl>
                                      </p:cBhvr>
                                    </p:animEffect>
                                  </p:childTnLst>
                                </p:cTn>
                              </p:par>
                              <p:par>
                                <p:cTn id="73" presetID="22" presetClass="entr" presetSubtype="8" fill="hold" nodeType="withEffect">
                                  <p:stCondLst>
                                    <p:cond delay="0"/>
                                  </p:stCondLst>
                                  <p:childTnLst>
                                    <p:set>
                                      <p:cBhvr>
                                        <p:cTn id="74" dur="1" fill="hold">
                                          <p:stCondLst>
                                            <p:cond delay="0"/>
                                          </p:stCondLst>
                                        </p:cTn>
                                        <p:tgtEl>
                                          <p:spTgt spid="16431"/>
                                        </p:tgtEl>
                                        <p:attrNameLst>
                                          <p:attrName>style.visibility</p:attrName>
                                        </p:attrNameLst>
                                      </p:cBhvr>
                                      <p:to>
                                        <p:strVal val="visible"/>
                                      </p:to>
                                    </p:set>
                                    <p:animEffect transition="in" filter="wipe(left)">
                                      <p:cBhvr>
                                        <p:cTn id="75" dur="500"/>
                                        <p:tgtEl>
                                          <p:spTgt spid="16431"/>
                                        </p:tgtEl>
                                      </p:cBhvr>
                                    </p:animEffect>
                                  </p:childTnLst>
                                </p:cTn>
                              </p:par>
                            </p:childTnLst>
                          </p:cTn>
                        </p:par>
                      </p:childTnLst>
                    </p:cTn>
                  </p:par>
                  <p:par>
                    <p:cTn id="76" fill="hold">
                      <p:stCondLst>
                        <p:cond delay="indefinite"/>
                      </p:stCondLst>
                      <p:childTnLst>
                        <p:par>
                          <p:cTn id="77" fill="hold">
                            <p:stCondLst>
                              <p:cond delay="0"/>
                            </p:stCondLst>
                            <p:childTnLst>
                              <p:par>
                                <p:cTn id="78" presetID="24" presetClass="entr" presetSubtype="0" fill="hold" grpId="0" nodeType="clickEffect">
                                  <p:stCondLst>
                                    <p:cond delay="0"/>
                                  </p:stCondLst>
                                  <p:childTnLst>
                                    <p:set>
                                      <p:cBhvr>
                                        <p:cTn id="79" dur="1" fill="hold">
                                          <p:stCondLst>
                                            <p:cond delay="0"/>
                                          </p:stCondLst>
                                        </p:cTn>
                                        <p:tgtEl>
                                          <p:spTgt spid="16451"/>
                                        </p:tgtEl>
                                        <p:attrNameLst>
                                          <p:attrName>style.visibility</p:attrName>
                                        </p:attrNameLst>
                                      </p:cBhvr>
                                      <p:to>
                                        <p:strVal val="visible"/>
                                      </p:to>
                                    </p:set>
                                    <p:anim to="" calcmode="lin" valueType="num">
                                      <p:cBhvr>
                                        <p:cTn id="80" dur="1" fill="hold"/>
                                        <p:tgtEl>
                                          <p:spTgt spid="16451"/>
                                        </p:tgtEl>
                                      </p:cBhvr>
                                    </p:anim>
                                  </p:childTnLst>
                                </p:cTn>
                              </p:par>
                            </p:childTnLst>
                          </p:cTn>
                        </p:par>
                      </p:childTnLst>
                    </p:cTn>
                  </p:par>
                  <p:par>
                    <p:cTn id="81" fill="hold">
                      <p:stCondLst>
                        <p:cond delay="indefinite"/>
                      </p:stCondLst>
                      <p:childTnLst>
                        <p:par>
                          <p:cTn id="82" fill="hold">
                            <p:stCondLst>
                              <p:cond delay="0"/>
                            </p:stCondLst>
                            <p:childTnLst>
                              <p:par>
                                <p:cTn id="83" presetID="23" presetClass="entr" presetSubtype="32" fill="hold" nodeType="clickEffect">
                                  <p:stCondLst>
                                    <p:cond delay="0"/>
                                  </p:stCondLst>
                                  <p:childTnLst>
                                    <p:set>
                                      <p:cBhvr>
                                        <p:cTn id="84" dur="1" fill="hold">
                                          <p:stCondLst>
                                            <p:cond delay="0"/>
                                          </p:stCondLst>
                                        </p:cTn>
                                        <p:tgtEl>
                                          <p:spTgt spid="16420"/>
                                        </p:tgtEl>
                                        <p:attrNameLst>
                                          <p:attrName>style.visibility</p:attrName>
                                        </p:attrNameLst>
                                      </p:cBhvr>
                                      <p:to>
                                        <p:strVal val="visible"/>
                                      </p:to>
                                    </p:set>
                                    <p:anim calcmode="lin" valueType="num">
                                      <p:cBhvr>
                                        <p:cTn id="85" dur="500" fill="hold"/>
                                        <p:tgtEl>
                                          <p:spTgt spid="16420"/>
                                        </p:tgtEl>
                                        <p:attrNameLst>
                                          <p:attrName>ppt_w</p:attrName>
                                        </p:attrNameLst>
                                      </p:cBhvr>
                                      <p:tavLst>
                                        <p:tav tm="0">
                                          <p:val>
                                            <p:strVal val="4*#ppt_w"/>
                                          </p:val>
                                        </p:tav>
                                        <p:tav tm="100000">
                                          <p:val>
                                            <p:strVal val="#ppt_w"/>
                                          </p:val>
                                        </p:tav>
                                      </p:tavLst>
                                    </p:anim>
                                    <p:anim calcmode="lin" valueType="num">
                                      <p:cBhvr>
                                        <p:cTn id="86" dur="500" fill="hold"/>
                                        <p:tgtEl>
                                          <p:spTgt spid="16420"/>
                                        </p:tgtEl>
                                        <p:attrNameLst>
                                          <p:attrName>ppt_h</p:attrName>
                                        </p:attrNameLst>
                                      </p:cBhvr>
                                      <p:tavLst>
                                        <p:tav tm="0">
                                          <p:val>
                                            <p:strVal val="4*#ppt_h"/>
                                          </p:val>
                                        </p:tav>
                                        <p:tav tm="100000">
                                          <p:val>
                                            <p:strVal val="#ppt_h"/>
                                          </p:val>
                                        </p:tav>
                                      </p:tavLst>
                                    </p:anim>
                                  </p:childTnLst>
                                </p:cTn>
                              </p:par>
                            </p:childTnLst>
                          </p:cTn>
                        </p:par>
                        <p:par>
                          <p:cTn id="87" fill="hold">
                            <p:stCondLst>
                              <p:cond delay="500"/>
                            </p:stCondLst>
                            <p:childTnLst>
                              <p:par>
                                <p:cTn id="88" presetID="23" presetClass="entr" presetSubtype="32" fill="hold" grpId="0" nodeType="afterEffect">
                                  <p:stCondLst>
                                    <p:cond delay="0"/>
                                  </p:stCondLst>
                                  <p:childTnLst>
                                    <p:set>
                                      <p:cBhvr>
                                        <p:cTn id="89" dur="1" fill="hold">
                                          <p:stCondLst>
                                            <p:cond delay="0"/>
                                          </p:stCondLst>
                                        </p:cTn>
                                        <p:tgtEl>
                                          <p:spTgt spid="16444"/>
                                        </p:tgtEl>
                                        <p:attrNameLst>
                                          <p:attrName>style.visibility</p:attrName>
                                        </p:attrNameLst>
                                      </p:cBhvr>
                                      <p:to>
                                        <p:strVal val="visible"/>
                                      </p:to>
                                    </p:set>
                                    <p:anim calcmode="lin" valueType="num">
                                      <p:cBhvr>
                                        <p:cTn id="90" dur="500" fill="hold"/>
                                        <p:tgtEl>
                                          <p:spTgt spid="16444"/>
                                        </p:tgtEl>
                                        <p:attrNameLst>
                                          <p:attrName>ppt_w</p:attrName>
                                        </p:attrNameLst>
                                      </p:cBhvr>
                                      <p:tavLst>
                                        <p:tav tm="0">
                                          <p:val>
                                            <p:strVal val="4*#ppt_w"/>
                                          </p:val>
                                        </p:tav>
                                        <p:tav tm="100000">
                                          <p:val>
                                            <p:strVal val="#ppt_w"/>
                                          </p:val>
                                        </p:tav>
                                      </p:tavLst>
                                    </p:anim>
                                    <p:anim calcmode="lin" valueType="num">
                                      <p:cBhvr>
                                        <p:cTn id="91" dur="500" fill="hold"/>
                                        <p:tgtEl>
                                          <p:spTgt spid="16444"/>
                                        </p:tgtEl>
                                        <p:attrNameLst>
                                          <p:attrName>ppt_h</p:attrName>
                                        </p:attrNameLst>
                                      </p:cBhvr>
                                      <p:tavLst>
                                        <p:tav tm="0">
                                          <p:val>
                                            <p:strVal val="4*#ppt_h"/>
                                          </p:val>
                                        </p:tav>
                                        <p:tav tm="100000">
                                          <p:val>
                                            <p:strVal val="#ppt_h"/>
                                          </p:val>
                                        </p:tav>
                                      </p:tavLst>
                                    </p:anim>
                                  </p:childTnLst>
                                </p:cTn>
                              </p:par>
                            </p:childTnLst>
                          </p:cTn>
                        </p:par>
                        <p:par>
                          <p:cTn id="92" fill="hold">
                            <p:stCondLst>
                              <p:cond delay="1000"/>
                            </p:stCondLst>
                            <p:childTnLst>
                              <p:par>
                                <p:cTn id="93" presetID="22" presetClass="entr" presetSubtype="2" fill="hold" grpId="0" nodeType="afterEffect">
                                  <p:stCondLst>
                                    <p:cond delay="0"/>
                                  </p:stCondLst>
                                  <p:childTnLst>
                                    <p:set>
                                      <p:cBhvr>
                                        <p:cTn id="94" dur="1" fill="hold">
                                          <p:stCondLst>
                                            <p:cond delay="0"/>
                                          </p:stCondLst>
                                        </p:cTn>
                                        <p:tgtEl>
                                          <p:spTgt spid="16419"/>
                                        </p:tgtEl>
                                        <p:attrNameLst>
                                          <p:attrName>style.visibility</p:attrName>
                                        </p:attrNameLst>
                                      </p:cBhvr>
                                      <p:to>
                                        <p:strVal val="visible"/>
                                      </p:to>
                                    </p:set>
                                    <p:animEffect transition="in" filter="wipe(right)">
                                      <p:cBhvr>
                                        <p:cTn id="95" dur="500"/>
                                        <p:tgtEl>
                                          <p:spTgt spid="16419"/>
                                        </p:tgtEl>
                                      </p:cBhvr>
                                    </p:animEffect>
                                  </p:childTnLst>
                                </p:cTn>
                              </p:par>
                              <p:par>
                                <p:cTn id="96" presetID="18" presetClass="entr" presetSubtype="12" fill="hold" grpId="0" nodeType="withEffect">
                                  <p:stCondLst>
                                    <p:cond delay="0"/>
                                  </p:stCondLst>
                                  <p:childTnLst>
                                    <p:set>
                                      <p:cBhvr>
                                        <p:cTn id="97" dur="1" fill="hold">
                                          <p:stCondLst>
                                            <p:cond delay="0"/>
                                          </p:stCondLst>
                                        </p:cTn>
                                        <p:tgtEl>
                                          <p:spTgt spid="16434"/>
                                        </p:tgtEl>
                                        <p:attrNameLst>
                                          <p:attrName>style.visibility</p:attrName>
                                        </p:attrNameLst>
                                      </p:cBhvr>
                                      <p:to>
                                        <p:strVal val="visible"/>
                                      </p:to>
                                    </p:set>
                                    <p:animEffect transition="in" filter="strips(downLeft)">
                                      <p:cBhvr>
                                        <p:cTn id="98" dur="500"/>
                                        <p:tgtEl>
                                          <p:spTgt spid="16434"/>
                                        </p:tgtEl>
                                      </p:cBhvr>
                                    </p:animEffect>
                                  </p:childTnLst>
                                </p:cTn>
                              </p:par>
                            </p:childTnLst>
                          </p:cTn>
                        </p:par>
                        <p:par>
                          <p:cTn id="99" fill="hold">
                            <p:stCondLst>
                              <p:cond delay="1500"/>
                            </p:stCondLst>
                            <p:childTnLst>
                              <p:par>
                                <p:cTn id="100" presetID="22" presetClass="entr" presetSubtype="4" fill="hold" grpId="0" nodeType="afterEffect">
                                  <p:stCondLst>
                                    <p:cond delay="0"/>
                                  </p:stCondLst>
                                  <p:childTnLst>
                                    <p:set>
                                      <p:cBhvr>
                                        <p:cTn id="101" dur="1" fill="hold">
                                          <p:stCondLst>
                                            <p:cond delay="0"/>
                                          </p:stCondLst>
                                        </p:cTn>
                                        <p:tgtEl>
                                          <p:spTgt spid="16445"/>
                                        </p:tgtEl>
                                        <p:attrNameLst>
                                          <p:attrName>style.visibility</p:attrName>
                                        </p:attrNameLst>
                                      </p:cBhvr>
                                      <p:to>
                                        <p:strVal val="visible"/>
                                      </p:to>
                                    </p:set>
                                    <p:animEffect transition="in" filter="wipe(down)">
                                      <p:cBhvr>
                                        <p:cTn id="102" dur="500"/>
                                        <p:tgtEl>
                                          <p:spTgt spid="16445"/>
                                        </p:tgtEl>
                                      </p:cBhvr>
                                    </p:animEffect>
                                  </p:childTnLst>
                                </p:cTn>
                              </p:par>
                            </p:childTnLst>
                          </p:cTn>
                        </p:par>
                        <p:par>
                          <p:cTn id="103" fill="hold">
                            <p:stCondLst>
                              <p:cond delay="2000"/>
                            </p:stCondLst>
                            <p:childTnLst>
                              <p:par>
                                <p:cTn id="104" presetID="16" presetClass="entr" presetSubtype="42" fill="hold" grpId="0" nodeType="afterEffect">
                                  <p:stCondLst>
                                    <p:cond delay="0"/>
                                  </p:stCondLst>
                                  <p:childTnLst>
                                    <p:set>
                                      <p:cBhvr>
                                        <p:cTn id="105" dur="1" fill="hold">
                                          <p:stCondLst>
                                            <p:cond delay="0"/>
                                          </p:stCondLst>
                                        </p:cTn>
                                        <p:tgtEl>
                                          <p:spTgt spid="16446"/>
                                        </p:tgtEl>
                                        <p:attrNameLst>
                                          <p:attrName>style.visibility</p:attrName>
                                        </p:attrNameLst>
                                      </p:cBhvr>
                                      <p:to>
                                        <p:strVal val="visible"/>
                                      </p:to>
                                    </p:set>
                                    <p:animEffect transition="in" filter="barn(outHorizontal)">
                                      <p:cBhvr>
                                        <p:cTn id="106" dur="1000"/>
                                        <p:tgtEl>
                                          <p:spTgt spid="16446"/>
                                        </p:tgtEl>
                                      </p:cBhvr>
                                    </p:animEffect>
                                  </p:childTnLst>
                                </p:cTn>
                              </p:par>
                            </p:childTnLst>
                          </p:cTn>
                        </p:par>
                        <p:par>
                          <p:cTn id="107" fill="hold">
                            <p:stCondLst>
                              <p:cond delay="3000"/>
                            </p:stCondLst>
                            <p:childTnLst>
                              <p:par>
                                <p:cTn id="108" presetID="23" presetClass="entr" presetSubtype="32" fill="hold" grpId="0" nodeType="afterEffect">
                                  <p:stCondLst>
                                    <p:cond delay="0"/>
                                  </p:stCondLst>
                                  <p:childTnLst>
                                    <p:set>
                                      <p:cBhvr>
                                        <p:cTn id="109" dur="1" fill="hold">
                                          <p:stCondLst>
                                            <p:cond delay="0"/>
                                          </p:stCondLst>
                                        </p:cTn>
                                        <p:tgtEl>
                                          <p:spTgt spid="16450"/>
                                        </p:tgtEl>
                                        <p:attrNameLst>
                                          <p:attrName>style.visibility</p:attrName>
                                        </p:attrNameLst>
                                      </p:cBhvr>
                                      <p:to>
                                        <p:strVal val="visible"/>
                                      </p:to>
                                    </p:set>
                                    <p:anim calcmode="lin" valueType="num">
                                      <p:cBhvr>
                                        <p:cTn id="110" dur="1000" fill="hold"/>
                                        <p:tgtEl>
                                          <p:spTgt spid="16450"/>
                                        </p:tgtEl>
                                        <p:attrNameLst>
                                          <p:attrName>ppt_w</p:attrName>
                                        </p:attrNameLst>
                                      </p:cBhvr>
                                      <p:tavLst>
                                        <p:tav tm="0">
                                          <p:val>
                                            <p:strVal val="4*#ppt_w"/>
                                          </p:val>
                                        </p:tav>
                                        <p:tav tm="100000">
                                          <p:val>
                                            <p:strVal val="#ppt_w"/>
                                          </p:val>
                                        </p:tav>
                                      </p:tavLst>
                                    </p:anim>
                                    <p:anim calcmode="lin" valueType="num">
                                      <p:cBhvr>
                                        <p:cTn id="111" dur="1000" fill="hold"/>
                                        <p:tgtEl>
                                          <p:spTgt spid="16450"/>
                                        </p:tgtEl>
                                        <p:attrNameLst>
                                          <p:attrName>ppt_h</p:attrName>
                                        </p:attrNameLst>
                                      </p:cBhvr>
                                      <p:tavLst>
                                        <p:tav tm="0">
                                          <p:val>
                                            <p:strVal val="4*#ppt_h"/>
                                          </p:val>
                                        </p:tav>
                                        <p:tav tm="100000">
                                          <p:val>
                                            <p:strVal val="#ppt_h"/>
                                          </p:val>
                                        </p:tav>
                                      </p:tavLst>
                                    </p:anim>
                                  </p:childTnLst>
                                </p:cTn>
                              </p:par>
                            </p:childTnLst>
                          </p:cTn>
                        </p:par>
                        <p:par>
                          <p:cTn id="112" fill="hold">
                            <p:stCondLst>
                              <p:cond delay="4000"/>
                            </p:stCondLst>
                            <p:childTnLst>
                              <p:par>
                                <p:cTn id="113" presetID="11" presetClass="entr" presetSubtype="0" fill="hold" grpId="0" nodeType="afterEffect">
                                  <p:stCondLst>
                                    <p:cond delay="1000"/>
                                  </p:stCondLst>
                                  <p:childTnLst>
                                    <p:set>
                                      <p:cBhvr>
                                        <p:cTn id="114" dur="500">
                                          <p:stCondLst>
                                            <p:cond delay="0"/>
                                          </p:stCondLst>
                                        </p:cTn>
                                        <p:tgtEl>
                                          <p:spTgt spid="16447"/>
                                        </p:tgtEl>
                                        <p:attrNameLst>
                                          <p:attrName>style.visibility</p:attrName>
                                        </p:attrNameLst>
                                      </p:cBhvr>
                                      <p:to>
                                        <p:strVal val="visible"/>
                                      </p:to>
                                    </p:set>
                                  </p:childTnLst>
                                </p:cTn>
                              </p:par>
                            </p:childTnLst>
                          </p:cTn>
                        </p:par>
                        <p:par>
                          <p:cTn id="115" fill="hold">
                            <p:stCondLst>
                              <p:cond delay="5500"/>
                            </p:stCondLst>
                            <p:childTnLst>
                              <p:par>
                                <p:cTn id="116" presetID="11" presetClass="entr" presetSubtype="0" fill="hold" grpId="0" nodeType="afterEffect">
                                  <p:stCondLst>
                                    <p:cond delay="1000"/>
                                  </p:stCondLst>
                                  <p:childTnLst>
                                    <p:set>
                                      <p:cBhvr>
                                        <p:cTn id="117" dur="500">
                                          <p:stCondLst>
                                            <p:cond delay="0"/>
                                          </p:stCondLst>
                                        </p:cTn>
                                        <p:tgtEl>
                                          <p:spTgt spid="16448"/>
                                        </p:tgtEl>
                                        <p:attrNameLst>
                                          <p:attrName>style.visibility</p:attrName>
                                        </p:attrNameLst>
                                      </p:cBhvr>
                                      <p:to>
                                        <p:strVal val="visible"/>
                                      </p:to>
                                    </p:set>
                                  </p:childTnLst>
                                </p:cTn>
                              </p:par>
                            </p:childTnLst>
                          </p:cTn>
                        </p:par>
                        <p:par>
                          <p:cTn id="118" fill="hold">
                            <p:stCondLst>
                              <p:cond delay="7000"/>
                            </p:stCondLst>
                            <p:childTnLst>
                              <p:par>
                                <p:cTn id="119" presetID="11" presetClass="entr" presetSubtype="0" fill="hold" grpId="0" nodeType="afterEffect">
                                  <p:stCondLst>
                                    <p:cond delay="1000"/>
                                  </p:stCondLst>
                                  <p:childTnLst>
                                    <p:set>
                                      <p:cBhvr>
                                        <p:cTn id="120" dur="500">
                                          <p:stCondLst>
                                            <p:cond delay="0"/>
                                          </p:stCondLst>
                                        </p:cTn>
                                        <p:tgtEl>
                                          <p:spTgt spid="16449"/>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24" presetClass="entr" presetSubtype="0" fill="hold" grpId="0" nodeType="clickEffect">
                                  <p:stCondLst>
                                    <p:cond delay="0"/>
                                  </p:stCondLst>
                                  <p:childTnLst>
                                    <p:set>
                                      <p:cBhvr>
                                        <p:cTn id="124" dur="1" fill="hold">
                                          <p:stCondLst>
                                            <p:cond delay="0"/>
                                          </p:stCondLst>
                                        </p:cTn>
                                        <p:tgtEl>
                                          <p:spTgt spid="16453"/>
                                        </p:tgtEl>
                                        <p:attrNameLst>
                                          <p:attrName>style.visibility</p:attrName>
                                        </p:attrNameLst>
                                      </p:cBhvr>
                                      <p:to>
                                        <p:strVal val="visible"/>
                                      </p:to>
                                    </p:set>
                                    <p:anim to="" calcmode="lin" valueType="num">
                                      <p:cBhvr>
                                        <p:cTn id="125" dur="1" fill="hold"/>
                                        <p:tgtEl>
                                          <p:spTgt spid="16453"/>
                                        </p:tgtEl>
                                      </p:cBhvr>
                                    </p:anim>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16456"/>
                                        </p:tgtEl>
                                        <p:attrNameLst>
                                          <p:attrName>style.visibility</p:attrName>
                                        </p:attrNameLst>
                                      </p:cBhvr>
                                      <p:to>
                                        <p:strVal val="visible"/>
                                      </p:to>
                                    </p:set>
                                    <p:animEffect transition="in" filter="wipe(left)">
                                      <p:cBhvr>
                                        <p:cTn id="130" dur="2000"/>
                                        <p:tgtEl>
                                          <p:spTgt spid="16456"/>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1" fill="hold" grpId="0" nodeType="clickEffect">
                                  <p:stCondLst>
                                    <p:cond delay="0"/>
                                  </p:stCondLst>
                                  <p:childTnLst>
                                    <p:set>
                                      <p:cBhvr>
                                        <p:cTn id="134" dur="1" fill="hold">
                                          <p:stCondLst>
                                            <p:cond delay="0"/>
                                          </p:stCondLst>
                                        </p:cTn>
                                        <p:tgtEl>
                                          <p:spTgt spid="16457"/>
                                        </p:tgtEl>
                                        <p:attrNameLst>
                                          <p:attrName>style.visibility</p:attrName>
                                        </p:attrNameLst>
                                      </p:cBhvr>
                                      <p:to>
                                        <p:strVal val="visible"/>
                                      </p:to>
                                    </p:set>
                                    <p:animEffect transition="in" filter="wipe(up)">
                                      <p:cBhvr>
                                        <p:cTn id="135" dur="1000"/>
                                        <p:tgtEl>
                                          <p:spTgt spid="16457"/>
                                        </p:tgtEl>
                                      </p:cBhvr>
                                    </p:animEffect>
                                  </p:childTnLst>
                                </p:cTn>
                              </p:par>
                            </p:childTnLst>
                          </p:cTn>
                        </p:par>
                        <p:par>
                          <p:cTn id="136" fill="hold">
                            <p:stCondLst>
                              <p:cond delay="1000"/>
                            </p:stCondLst>
                            <p:childTnLst>
                              <p:par>
                                <p:cTn id="137" presetID="51" presetClass="entr" presetSubtype="0" fill="hold" nodeType="afterEffect">
                                  <p:stCondLst>
                                    <p:cond delay="0"/>
                                  </p:stCondLst>
                                  <p:childTnLst>
                                    <p:set>
                                      <p:cBhvr>
                                        <p:cTn id="138" dur="1" fill="hold">
                                          <p:stCondLst>
                                            <p:cond delay="0"/>
                                          </p:stCondLst>
                                        </p:cTn>
                                        <p:tgtEl>
                                          <p:spTgt spid="16458"/>
                                        </p:tgtEl>
                                        <p:attrNameLst>
                                          <p:attrName>style.visibility</p:attrName>
                                        </p:attrNameLst>
                                      </p:cBhvr>
                                      <p:to>
                                        <p:strVal val="visible"/>
                                      </p:to>
                                    </p:set>
                                    <p:animEffect transition="in" filter="fade">
                                      <p:cBhvr>
                                        <p:cTn id="139" dur="192" decel="100000"/>
                                        <p:tgtEl>
                                          <p:spTgt spid="16458"/>
                                        </p:tgtEl>
                                      </p:cBhvr>
                                    </p:animEffect>
                                    <p:animScale>
                                      <p:cBhvr>
                                        <p:cTn id="140" dur="192" decel="100000"/>
                                        <p:tgtEl>
                                          <p:spTgt spid="16458"/>
                                        </p:tgtEl>
                                      </p:cBhvr>
                                      <p:from x="10000" y="10000"/>
                                      <p:to x="200000" y="450000"/>
                                    </p:animScale>
                                    <p:animScale>
                                      <p:cBhvr>
                                        <p:cTn id="141" dur="308" accel="100000" fill="hold">
                                          <p:stCondLst>
                                            <p:cond delay="192"/>
                                          </p:stCondLst>
                                        </p:cTn>
                                        <p:tgtEl>
                                          <p:spTgt spid="16458"/>
                                        </p:tgtEl>
                                      </p:cBhvr>
                                      <p:from x="200000" y="450000"/>
                                      <p:to x="100000" y="100000"/>
                                    </p:animScale>
                                    <p:set>
                                      <p:cBhvr>
                                        <p:cTn id="142" dur="192" fill="hold"/>
                                        <p:tgtEl>
                                          <p:spTgt spid="16458"/>
                                        </p:tgtEl>
                                        <p:attrNameLst>
                                          <p:attrName>ppt_x</p:attrName>
                                        </p:attrNameLst>
                                      </p:cBhvr>
                                      <p:to>
                                        <p:strVal val="(0.5)"/>
                                      </p:to>
                                    </p:set>
                                    <p:anim from="(0.5)" to="(#ppt_x)" calcmode="lin" valueType="num">
                                      <p:cBhvr>
                                        <p:cTn id="143" dur="308" accel="100000" fill="hold">
                                          <p:stCondLst>
                                            <p:cond delay="192"/>
                                          </p:stCondLst>
                                        </p:cTn>
                                        <p:tgtEl>
                                          <p:spTgt spid="16458"/>
                                        </p:tgtEl>
                                        <p:attrNameLst>
                                          <p:attrName>ppt_x</p:attrName>
                                        </p:attrNameLst>
                                      </p:cBhvr>
                                    </p:anim>
                                    <p:set>
                                      <p:cBhvr>
                                        <p:cTn id="144" dur="192" fill="hold"/>
                                        <p:tgtEl>
                                          <p:spTgt spid="16458"/>
                                        </p:tgtEl>
                                        <p:attrNameLst>
                                          <p:attrName>ppt_y</p:attrName>
                                        </p:attrNameLst>
                                      </p:cBhvr>
                                      <p:to>
                                        <p:strVal val="(#ppt_y+0.4)"/>
                                      </p:to>
                                    </p:set>
                                    <p:anim from="(#ppt_y+0.4)" to="(#ppt_y)" calcmode="lin" valueType="num">
                                      <p:cBhvr>
                                        <p:cTn id="145" dur="308" accel="100000" fill="hold">
                                          <p:stCondLst>
                                            <p:cond delay="192"/>
                                          </p:stCondLst>
                                        </p:cTn>
                                        <p:tgtEl>
                                          <p:spTgt spid="16458"/>
                                        </p:tgtEl>
                                        <p:attrNameLst>
                                          <p:attrName>ppt_y</p:attrName>
                                        </p:attrNameLst>
                                      </p:cBhvr>
                                    </p:anim>
                                  </p:childTnLst>
                                </p:cTn>
                              </p:par>
                            </p:childTnLst>
                          </p:cTn>
                        </p:par>
                        <p:par>
                          <p:cTn id="146" fill="hold">
                            <p:stCondLst>
                              <p:cond delay="1500"/>
                            </p:stCondLst>
                            <p:childTnLst>
                              <p:par>
                                <p:cTn id="147" presetID="22" presetClass="entr" presetSubtype="1" fill="hold" grpId="0" nodeType="afterEffect">
                                  <p:stCondLst>
                                    <p:cond delay="0"/>
                                  </p:stCondLst>
                                  <p:childTnLst>
                                    <p:set>
                                      <p:cBhvr>
                                        <p:cTn id="148" dur="1" fill="hold">
                                          <p:stCondLst>
                                            <p:cond delay="0"/>
                                          </p:stCondLst>
                                        </p:cTn>
                                        <p:tgtEl>
                                          <p:spTgt spid="16459"/>
                                        </p:tgtEl>
                                        <p:attrNameLst>
                                          <p:attrName>style.visibility</p:attrName>
                                        </p:attrNameLst>
                                      </p:cBhvr>
                                      <p:to>
                                        <p:strVal val="visible"/>
                                      </p:to>
                                    </p:set>
                                    <p:animEffect transition="in" filter="wipe(up)">
                                      <p:cBhvr>
                                        <p:cTn id="149" dur="1000"/>
                                        <p:tgtEl>
                                          <p:spTgt spid="16459"/>
                                        </p:tgtEl>
                                      </p:cBhvr>
                                    </p:animEffect>
                                  </p:childTnLst>
                                </p:cTn>
                              </p:par>
                            </p:childTnLst>
                          </p:cTn>
                        </p:par>
                        <p:par>
                          <p:cTn id="150" fill="hold">
                            <p:stCondLst>
                              <p:cond delay="2500"/>
                            </p:stCondLst>
                            <p:childTnLst>
                              <p:par>
                                <p:cTn id="151" presetID="24" presetClass="entr" presetSubtype="0" fill="hold" grpId="0" nodeType="afterEffect">
                                  <p:stCondLst>
                                    <p:cond delay="0"/>
                                  </p:stCondLst>
                                  <p:childTnLst>
                                    <p:set>
                                      <p:cBhvr>
                                        <p:cTn id="152" dur="1" fill="hold">
                                          <p:stCondLst>
                                            <p:cond delay="0"/>
                                          </p:stCondLst>
                                        </p:cTn>
                                        <p:tgtEl>
                                          <p:spTgt spid="16460"/>
                                        </p:tgtEl>
                                        <p:attrNameLst>
                                          <p:attrName>style.visibility</p:attrName>
                                        </p:attrNameLst>
                                      </p:cBhvr>
                                      <p:to>
                                        <p:strVal val="visible"/>
                                      </p:to>
                                    </p:set>
                                    <p:anim to="" calcmode="lin" valueType="num">
                                      <p:cBhvr>
                                        <p:cTn id="153" dur="1" fill="hold"/>
                                        <p:tgtEl>
                                          <p:spTgt spid="16460"/>
                                        </p:tgtEl>
                                      </p:cBhvr>
                                    </p:anim>
                                  </p:childTnLst>
                                </p:cTn>
                              </p:par>
                            </p:childTnLst>
                          </p:cTn>
                        </p:par>
                      </p:childTnLst>
                    </p:cTn>
                  </p:par>
                  <p:par>
                    <p:cTn id="154" fill="hold">
                      <p:stCondLst>
                        <p:cond delay="indefinite"/>
                      </p:stCondLst>
                      <p:childTnLst>
                        <p:par>
                          <p:cTn id="155" fill="hold">
                            <p:stCondLst>
                              <p:cond delay="0"/>
                            </p:stCondLst>
                            <p:childTnLst>
                              <p:par>
                                <p:cTn id="156" presetID="22" presetClass="entr" presetSubtype="1" fill="hold" grpId="0" nodeType="clickEffect">
                                  <p:stCondLst>
                                    <p:cond delay="0"/>
                                  </p:stCondLst>
                                  <p:childTnLst>
                                    <p:set>
                                      <p:cBhvr>
                                        <p:cTn id="157" dur="1" fill="hold">
                                          <p:stCondLst>
                                            <p:cond delay="0"/>
                                          </p:stCondLst>
                                        </p:cTn>
                                        <p:tgtEl>
                                          <p:spTgt spid="16461"/>
                                        </p:tgtEl>
                                        <p:attrNameLst>
                                          <p:attrName>style.visibility</p:attrName>
                                        </p:attrNameLst>
                                      </p:cBhvr>
                                      <p:to>
                                        <p:strVal val="visible"/>
                                      </p:to>
                                    </p:set>
                                    <p:animEffect transition="in" filter="wipe(up)">
                                      <p:cBhvr>
                                        <p:cTn id="158" dur="1000"/>
                                        <p:tgtEl>
                                          <p:spTgt spid="16461"/>
                                        </p:tgtEl>
                                      </p:cBhvr>
                                    </p:animEffect>
                                  </p:childTnLst>
                                </p:cTn>
                              </p:par>
                            </p:childTnLst>
                          </p:cTn>
                        </p:par>
                        <p:par>
                          <p:cTn id="159" fill="hold">
                            <p:stCondLst>
                              <p:cond delay="1000"/>
                            </p:stCondLst>
                            <p:childTnLst>
                              <p:par>
                                <p:cTn id="160" presetID="23" presetClass="entr" presetSubtype="32" fill="hold" grpId="0" nodeType="afterEffect">
                                  <p:stCondLst>
                                    <p:cond delay="0"/>
                                  </p:stCondLst>
                                  <p:childTnLst>
                                    <p:set>
                                      <p:cBhvr>
                                        <p:cTn id="161" dur="1" fill="hold">
                                          <p:stCondLst>
                                            <p:cond delay="0"/>
                                          </p:stCondLst>
                                        </p:cTn>
                                        <p:tgtEl>
                                          <p:spTgt spid="16462"/>
                                        </p:tgtEl>
                                        <p:attrNameLst>
                                          <p:attrName>style.visibility</p:attrName>
                                        </p:attrNameLst>
                                      </p:cBhvr>
                                      <p:to>
                                        <p:strVal val="visible"/>
                                      </p:to>
                                    </p:set>
                                    <p:anim calcmode="lin" valueType="num">
                                      <p:cBhvr>
                                        <p:cTn id="162" dur="1000" fill="hold"/>
                                        <p:tgtEl>
                                          <p:spTgt spid="16462"/>
                                        </p:tgtEl>
                                        <p:attrNameLst>
                                          <p:attrName>ppt_w</p:attrName>
                                        </p:attrNameLst>
                                      </p:cBhvr>
                                      <p:tavLst>
                                        <p:tav tm="0">
                                          <p:val>
                                            <p:strVal val="4*#ppt_w"/>
                                          </p:val>
                                        </p:tav>
                                        <p:tav tm="100000">
                                          <p:val>
                                            <p:strVal val="#ppt_w"/>
                                          </p:val>
                                        </p:tav>
                                      </p:tavLst>
                                    </p:anim>
                                    <p:anim calcmode="lin" valueType="num">
                                      <p:cBhvr>
                                        <p:cTn id="163" dur="1000" fill="hold"/>
                                        <p:tgtEl>
                                          <p:spTgt spid="16462"/>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nimBg="1"/>
      <p:bldP spid="16387" grpId="0"/>
      <p:bldP spid="16389" grpId="0"/>
      <p:bldP spid="16390" grpId="0"/>
      <p:bldP spid="16417" grpId="0" animBg="1"/>
      <p:bldP spid="16418" grpId="0"/>
      <p:bldP spid="16419" grpId="0" animBg="1"/>
      <p:bldP spid="16434" grpId="0" animBg="1"/>
      <p:bldP spid="16444" grpId="0" autoUpdateAnimBg="0"/>
      <p:bldP spid="16445" grpId="0" animBg="1"/>
      <p:bldP spid="16446" grpId="0" animBg="1"/>
      <p:bldP spid="16447" grpId="0" animBg="1"/>
      <p:bldP spid="16448" grpId="0" animBg="1"/>
      <p:bldP spid="16449" grpId="0" animBg="1"/>
      <p:bldP spid="16450" grpId="0" autoUpdateAnimBg="0"/>
      <p:bldP spid="16451" grpId="0" animBg="1"/>
      <p:bldP spid="16452" grpId="0"/>
      <p:bldP spid="16453" grpId="0" animBg="1"/>
      <p:bldP spid="16454" grpId="0" animBg="1"/>
      <p:bldP spid="16455" grpId="0" animBg="1"/>
      <p:bldP spid="16456" grpId="0"/>
      <p:bldP spid="16457" grpId="0" animBg="1"/>
      <p:bldP spid="16459" grpId="0" animBg="1"/>
      <p:bldP spid="16460" grpId="0" animBg="1"/>
      <p:bldP spid="16461" grpId="0" animBg="1"/>
      <p:bldP spid="16462"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bwMode="auto">
          <a:xfrm>
            <a:off x="468313" y="549275"/>
            <a:ext cx="8229600" cy="41751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rmAutofit fontScale="90000"/>
          </a:bodyPr>
          <a:lstStyle/>
          <a:p>
            <a:pPr algn="l" eaLnBrk="1" hangingPunct="1"/>
            <a:r>
              <a:rPr lang="en-US" altLang="zh-CN" sz="2400" b="1" dirty="0"/>
              <a:t>3.</a:t>
            </a:r>
            <a:r>
              <a:rPr lang="zh-CN" altLang="en-US" sz="2400" b="1" dirty="0"/>
              <a:t>极间电流</a:t>
            </a:r>
          </a:p>
        </p:txBody>
      </p:sp>
      <p:sp>
        <p:nvSpPr>
          <p:cNvPr id="45059" name="Rectangle 3"/>
          <p:cNvSpPr>
            <a:spLocks noGrp="1" noChangeArrowheads="1"/>
          </p:cNvSpPr>
          <p:nvPr>
            <p:ph type="body" idx="1"/>
          </p:nvPr>
        </p:nvSpPr>
        <p:spPr bwMode="auto">
          <a:xfrm>
            <a:off x="468313" y="1196975"/>
            <a:ext cx="8229600" cy="4525963"/>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eaLnBrk="1" hangingPunct="1">
              <a:defRPr/>
            </a:pPr>
            <a:r>
              <a:rPr kumimoji="1" lang="zh-CN" altLang="en-US" b="1">
                <a:solidFill>
                  <a:schemeClr val="accent2"/>
                </a:solidFill>
                <a:effectLst>
                  <a:outerShdw blurRad="38100" dist="38100" dir="2700000" algn="tl">
                    <a:srgbClr val="C0C0C0"/>
                  </a:outerShdw>
                </a:effectLst>
              </a:rPr>
              <a:t>集电极</a:t>
            </a:r>
            <a:r>
              <a:rPr kumimoji="1" lang="en-US" altLang="zh-CN" b="1">
                <a:solidFill>
                  <a:schemeClr val="accent2"/>
                </a:solidFill>
                <a:effectLst>
                  <a:outerShdw blurRad="38100" dist="38100" dir="2700000" algn="tl">
                    <a:srgbClr val="C0C0C0"/>
                  </a:outerShdw>
                </a:effectLst>
              </a:rPr>
              <a:t>-</a:t>
            </a:r>
            <a:r>
              <a:rPr kumimoji="1" lang="zh-CN" altLang="en-US" b="1">
                <a:solidFill>
                  <a:schemeClr val="accent2"/>
                </a:solidFill>
                <a:effectLst>
                  <a:outerShdw blurRad="38100" dist="38100" dir="2700000" algn="tl">
                    <a:srgbClr val="C0C0C0"/>
                  </a:outerShdw>
                </a:effectLst>
              </a:rPr>
              <a:t>发射极反向饱和电流</a:t>
            </a:r>
            <a:r>
              <a:rPr kumimoji="1" lang="en-US" altLang="zh-CN" b="1" i="1">
                <a:solidFill>
                  <a:schemeClr val="accent2"/>
                </a:solidFill>
                <a:effectLst>
                  <a:outerShdw blurRad="38100" dist="38100" dir="2700000" algn="tl">
                    <a:srgbClr val="C0C0C0"/>
                  </a:outerShdw>
                </a:effectLst>
              </a:rPr>
              <a:t>I</a:t>
            </a:r>
            <a:r>
              <a:rPr kumimoji="1" lang="en-US" altLang="zh-CN" b="1" baseline="-25000">
                <a:solidFill>
                  <a:schemeClr val="accent2"/>
                </a:solidFill>
                <a:effectLst>
                  <a:outerShdw blurRad="38100" dist="38100" dir="2700000" algn="tl">
                    <a:srgbClr val="C0C0C0"/>
                  </a:outerShdw>
                </a:effectLst>
              </a:rPr>
              <a:t>CEO</a:t>
            </a:r>
            <a:r>
              <a:rPr kumimoji="1" lang="zh-CN" altLang="en-US" b="1">
                <a:solidFill>
                  <a:schemeClr val="accent2"/>
                </a:solidFill>
                <a:effectLst>
                  <a:outerShdw blurRad="38100" dist="38100" dir="2700000" algn="tl">
                    <a:srgbClr val="C0C0C0"/>
                  </a:outerShdw>
                </a:effectLst>
              </a:rPr>
              <a:t>（穿透电流）</a:t>
            </a:r>
          </a:p>
          <a:p>
            <a:pPr eaLnBrk="1" hangingPunct="1">
              <a:buFontTx/>
              <a:buNone/>
              <a:defRPr/>
            </a:pPr>
            <a:r>
              <a:rPr kumimoji="1" lang="zh-CN" altLang="en-US" b="1"/>
              <a:t>指基极开路时，</a:t>
            </a:r>
            <a:r>
              <a:rPr kumimoji="1" lang="zh-CN" altLang="en-US" b="1">
                <a:solidFill>
                  <a:schemeClr val="accent2"/>
                </a:solidFill>
                <a:effectLst>
                  <a:outerShdw blurRad="38100" dist="38100" dir="2700000" algn="tl">
                    <a:srgbClr val="C0C0C0"/>
                  </a:outerShdw>
                </a:effectLst>
              </a:rPr>
              <a:t>集电极与发射极</a:t>
            </a:r>
            <a:r>
              <a:rPr kumimoji="1" lang="zh-CN" altLang="en-US" b="1">
                <a:effectLst>
                  <a:outerShdw blurRad="38100" dist="38100" dir="2700000" algn="tl">
                    <a:srgbClr val="C0C0C0"/>
                  </a:outerShdw>
                </a:effectLst>
              </a:rPr>
              <a:t>之间加一定反向电压时的集电极</a:t>
            </a:r>
            <a:r>
              <a:rPr kumimoji="1" lang="zh-CN" altLang="en-US" b="1"/>
              <a:t>电流。该值越小越好。</a:t>
            </a:r>
          </a:p>
          <a:p>
            <a:pPr eaLnBrk="1" hangingPunct="1">
              <a:buFontTx/>
              <a:buNone/>
              <a:defRPr/>
            </a:pPr>
            <a:r>
              <a:rPr kumimoji="1" lang="en-US" altLang="zh-CN" b="1"/>
              <a:t>.  </a:t>
            </a:r>
            <a:r>
              <a:rPr kumimoji="1" lang="zh-CN" altLang="en-US" b="1"/>
              <a:t>集电极反向饱和电流</a:t>
            </a:r>
            <a:r>
              <a:rPr kumimoji="1" lang="en-US" altLang="zh-CN" b="1"/>
              <a:t>I</a:t>
            </a:r>
            <a:r>
              <a:rPr kumimoji="1" lang="en-US" altLang="zh-CN" b="1" baseline="-25000">
                <a:solidFill>
                  <a:srgbClr val="FF0066"/>
                </a:solidFill>
              </a:rPr>
              <a:t>CBO</a:t>
            </a:r>
            <a:r>
              <a:rPr kumimoji="1" lang="en-US" altLang="zh-CN" b="1"/>
              <a:t>,</a:t>
            </a:r>
            <a:r>
              <a:rPr kumimoji="1" lang="zh-CN" altLang="en-US" b="1"/>
              <a:t>是少数载流子运动的结果，其值越小越好。</a:t>
            </a:r>
          </a:p>
          <a:p>
            <a:pPr eaLnBrk="1" hangingPunct="1">
              <a:buFontTx/>
              <a:buNone/>
              <a:defRPr/>
            </a:pPr>
            <a:endParaRPr lang="en-US"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05" name="Group 37"/>
          <p:cNvGrpSpPr/>
          <p:nvPr/>
        </p:nvGrpSpPr>
        <p:grpSpPr bwMode="auto">
          <a:xfrm>
            <a:off x="593725" y="292100"/>
            <a:ext cx="4970463" cy="900113"/>
            <a:chOff x="374" y="184"/>
            <a:chExt cx="3131" cy="567"/>
          </a:xfrm>
        </p:grpSpPr>
        <p:graphicFrame>
          <p:nvGraphicFramePr>
            <p:cNvPr id="7185" name="Object 17"/>
            <p:cNvGraphicFramePr>
              <a:graphicFrameLocks noChangeAspect="1"/>
            </p:cNvGraphicFramePr>
            <p:nvPr/>
          </p:nvGraphicFramePr>
          <p:xfrm>
            <a:off x="374" y="184"/>
            <a:ext cx="3131" cy="567"/>
          </p:xfrm>
          <a:graphic>
            <a:graphicData uri="http://schemas.openxmlformats.org/presentationml/2006/ole">
              <mc:AlternateContent xmlns:mc="http://schemas.openxmlformats.org/markup-compatibility/2006">
                <mc:Choice xmlns:v="urn:schemas-microsoft-com:vml" Requires="v">
                  <p:oleObj name="Clip" r:id="rId3" imgW="971550" imgH="409575" progId="MS_ClipArt_Gallery.5">
                    <p:embed/>
                  </p:oleObj>
                </mc:Choice>
                <mc:Fallback>
                  <p:oleObj name="Clip" r:id="rId3" imgW="971550" imgH="409575" progId="MS_ClipArt_Gallery.5">
                    <p:embed/>
                    <p:pic>
                      <p:nvPicPr>
                        <p:cNvPr id="0" name="图片 225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 y="184"/>
                          <a:ext cx="3131" cy="567"/>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sp>
          <p:nvSpPr>
            <p:cNvPr id="7186" name="Text Box 18"/>
            <p:cNvSpPr txBox="1">
              <a:spLocks noChangeArrowheads="1"/>
            </p:cNvSpPr>
            <p:nvPr/>
          </p:nvSpPr>
          <p:spPr bwMode="auto">
            <a:xfrm>
              <a:off x="538" y="268"/>
              <a:ext cx="2727" cy="3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txBody>
            <a:bodyPr anchor="ctr">
              <a:spAutoFit/>
            </a:bodyPr>
            <a:lstStyle/>
            <a:p>
              <a:pPr>
                <a:spcBef>
                  <a:spcPct val="0"/>
                </a:spcBef>
              </a:pPr>
              <a:r>
                <a:rPr kumimoji="0" lang="zh-CN" altLang="en-US" sz="3200">
                  <a:solidFill>
                    <a:schemeClr val="tx2"/>
                  </a:solidFill>
                  <a:ea typeface="黑体" panose="02010609060101010101" pitchFamily="2" charset="-122"/>
                </a:rPr>
                <a:t>国产三极管的命名方式</a:t>
              </a:r>
            </a:p>
          </p:txBody>
        </p:sp>
      </p:grpSp>
      <p:sp>
        <p:nvSpPr>
          <p:cNvPr id="7189" name="Rectangle 21"/>
          <p:cNvSpPr>
            <a:spLocks noChangeArrowheads="1"/>
          </p:cNvSpPr>
          <p:nvPr/>
        </p:nvSpPr>
        <p:spPr bwMode="auto">
          <a:xfrm>
            <a:off x="1079500" y="1517650"/>
            <a:ext cx="2098675" cy="547688"/>
          </a:xfrm>
          <a:prstGeom prst="rect">
            <a:avLst/>
          </a:prstGeom>
          <a:solidFill>
            <a:schemeClr val="bg1"/>
          </a:solidFill>
          <a:ln w="28575">
            <a:solidFill>
              <a:srgbClr val="33CCFF"/>
            </a:solidFill>
            <a:miter lim="800000"/>
          </a:ln>
          <a:effectLst/>
          <a:extLst>
            <a:ext uri="{AF507438-7753-43E0-B8FC-AC1667EBCBE1}">
              <a14:hiddenEffects xmlns:a14="http://schemas.microsoft.com/office/drawing/2010/main">
                <a:effectLst>
                  <a:outerShdw dist="107763" dir="13500000" algn="ctr" rotWithShape="0">
                    <a:srgbClr val="808080"/>
                  </a:outerShdw>
                </a:effectLst>
              </a14:hiddenEffects>
            </a:ext>
          </a:extLst>
        </p:spPr>
        <p:txBody>
          <a:bodyPr lIns="90000" tIns="46800" rIns="90000" bIns="46800" anchor="ctr">
            <a:spAutoFit/>
          </a:bodyPr>
          <a:lstStyle/>
          <a:p>
            <a:r>
              <a:rPr lang="en-US" altLang="zh-CN" sz="2800">
                <a:latin typeface="宋体" panose="02010600030101010101" pitchFamily="2" charset="-122"/>
              </a:rPr>
              <a:t>3  D  G  6</a:t>
            </a:r>
          </a:p>
        </p:txBody>
      </p:sp>
      <p:sp>
        <p:nvSpPr>
          <p:cNvPr id="7190" name="AutoShape 22"/>
          <p:cNvSpPr>
            <a:spLocks noChangeArrowheads="1"/>
          </p:cNvSpPr>
          <p:nvPr/>
        </p:nvSpPr>
        <p:spPr bwMode="auto">
          <a:xfrm>
            <a:off x="1139825" y="2128838"/>
            <a:ext cx="295275" cy="977900"/>
          </a:xfrm>
          <a:prstGeom prst="downArrow">
            <a:avLst>
              <a:gd name="adj1" fmla="val 50000"/>
              <a:gd name="adj2" fmla="val 82796"/>
            </a:avLst>
          </a:prstGeom>
          <a:solidFill>
            <a:srgbClr val="FFCC00"/>
          </a:solidFill>
          <a:ln w="9525">
            <a:solidFill>
              <a:srgbClr val="33CCFF"/>
            </a:solidFill>
            <a:miter lim="800000"/>
          </a:ln>
          <a:effectLst/>
          <a:extLst>
            <a:ext uri="{AF507438-7753-43E0-B8FC-AC1667EBCBE1}">
              <a14:hiddenEffects xmlns:a14="http://schemas.microsoft.com/office/drawing/2010/main">
                <a:effectLst>
                  <a:outerShdw dist="107763" dir="13500000" algn="ctr" rotWithShape="0">
                    <a:srgbClr val="808080"/>
                  </a:outerShdw>
                </a:effectLst>
              </a14:hiddenEffects>
            </a:ext>
          </a:extLst>
        </p:spPr>
        <p:txBody>
          <a:bodyPr lIns="90000" tIns="46800" rIns="90000" bIns="46800" anchor="ctr">
            <a:spAutoFit/>
          </a:bodyPr>
          <a:lstStyle/>
          <a:p>
            <a:endParaRPr lang="zh-CN" altLang="en-US"/>
          </a:p>
        </p:txBody>
      </p:sp>
      <p:sp>
        <p:nvSpPr>
          <p:cNvPr id="7191" name="Text Box 23"/>
          <p:cNvSpPr txBox="1">
            <a:spLocks noChangeArrowheads="1"/>
          </p:cNvSpPr>
          <p:nvPr/>
        </p:nvSpPr>
        <p:spPr bwMode="auto">
          <a:xfrm>
            <a:off x="1071563" y="3154363"/>
            <a:ext cx="519112" cy="925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txBody>
          <a:bodyPr lIns="90000" tIns="46800" rIns="90000" bIns="46800">
            <a:spAutoFit/>
          </a:bodyPr>
          <a:lstStyle/>
          <a:p>
            <a:r>
              <a:rPr lang="zh-CN" altLang="en-US" dirty="0"/>
              <a:t>三极管</a:t>
            </a:r>
          </a:p>
        </p:txBody>
      </p:sp>
      <p:sp>
        <p:nvSpPr>
          <p:cNvPr id="7192" name="AutoShape 24"/>
          <p:cNvSpPr>
            <a:spLocks noChangeArrowheads="1"/>
          </p:cNvSpPr>
          <p:nvPr/>
        </p:nvSpPr>
        <p:spPr bwMode="auto">
          <a:xfrm>
            <a:off x="1735138" y="2139950"/>
            <a:ext cx="293687" cy="977900"/>
          </a:xfrm>
          <a:prstGeom prst="downArrow">
            <a:avLst>
              <a:gd name="adj1" fmla="val 50000"/>
              <a:gd name="adj2" fmla="val 83243"/>
            </a:avLst>
          </a:prstGeom>
          <a:solidFill>
            <a:srgbClr val="FFCC00"/>
          </a:solidFill>
          <a:ln w="9525">
            <a:solidFill>
              <a:srgbClr val="33CCFF"/>
            </a:solidFill>
            <a:miter lim="800000"/>
          </a:ln>
          <a:effectLst/>
          <a:extLst>
            <a:ext uri="{AF507438-7753-43E0-B8FC-AC1667EBCBE1}">
              <a14:hiddenEffects xmlns:a14="http://schemas.microsoft.com/office/drawing/2010/main">
                <a:effectLst>
                  <a:outerShdw dist="107763" dir="13500000" algn="ctr" rotWithShape="0">
                    <a:srgbClr val="808080"/>
                  </a:outerShdw>
                </a:effectLst>
              </a14:hiddenEffects>
            </a:ext>
          </a:extLst>
        </p:spPr>
        <p:txBody>
          <a:bodyPr lIns="90000" tIns="46800" rIns="90000" bIns="46800" anchor="ctr">
            <a:spAutoFit/>
          </a:bodyPr>
          <a:lstStyle/>
          <a:p>
            <a:endParaRPr lang="zh-CN" altLang="en-US"/>
          </a:p>
        </p:txBody>
      </p:sp>
      <p:sp>
        <p:nvSpPr>
          <p:cNvPr id="7193" name="Text Box 25"/>
          <p:cNvSpPr txBox="1">
            <a:spLocks noChangeArrowheads="1"/>
          </p:cNvSpPr>
          <p:nvPr/>
        </p:nvSpPr>
        <p:spPr bwMode="auto">
          <a:xfrm>
            <a:off x="1625600" y="3154363"/>
            <a:ext cx="519113" cy="2587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txBody>
          <a:bodyPr lIns="90000" tIns="46800" rIns="90000" bIns="46800">
            <a:spAutoFit/>
          </a:bodyPr>
          <a:lstStyle/>
          <a:p>
            <a:r>
              <a:rPr lang="zh-CN" altLang="en-US" dirty="0"/>
              <a:t>表示器件材料和极性</a:t>
            </a:r>
          </a:p>
        </p:txBody>
      </p:sp>
      <p:sp>
        <p:nvSpPr>
          <p:cNvPr id="7194" name="AutoShape 26"/>
          <p:cNvSpPr>
            <a:spLocks noChangeArrowheads="1"/>
          </p:cNvSpPr>
          <p:nvPr/>
        </p:nvSpPr>
        <p:spPr bwMode="auto">
          <a:xfrm>
            <a:off x="2247900" y="2151063"/>
            <a:ext cx="295275" cy="977900"/>
          </a:xfrm>
          <a:prstGeom prst="downArrow">
            <a:avLst>
              <a:gd name="adj1" fmla="val 50000"/>
              <a:gd name="adj2" fmla="val 82796"/>
            </a:avLst>
          </a:prstGeom>
          <a:solidFill>
            <a:srgbClr val="FFCC00"/>
          </a:solidFill>
          <a:ln w="9525">
            <a:solidFill>
              <a:srgbClr val="33CCFF"/>
            </a:solidFill>
            <a:miter lim="800000"/>
          </a:ln>
          <a:effectLst/>
          <a:extLst>
            <a:ext uri="{AF507438-7753-43E0-B8FC-AC1667EBCBE1}">
              <a14:hiddenEffects xmlns:a14="http://schemas.microsoft.com/office/drawing/2010/main">
                <a:effectLst>
                  <a:outerShdw dist="107763" dir="13500000" algn="ctr" rotWithShape="0">
                    <a:srgbClr val="808080"/>
                  </a:outerShdw>
                </a:effectLst>
              </a14:hiddenEffects>
            </a:ext>
          </a:extLst>
        </p:spPr>
        <p:txBody>
          <a:bodyPr lIns="90000" tIns="46800" rIns="90000" bIns="46800" anchor="ctr">
            <a:spAutoFit/>
          </a:bodyPr>
          <a:lstStyle/>
          <a:p>
            <a:endParaRPr lang="zh-CN" altLang="en-US"/>
          </a:p>
        </p:txBody>
      </p:sp>
      <p:sp>
        <p:nvSpPr>
          <p:cNvPr id="7195" name="AutoShape 27"/>
          <p:cNvSpPr>
            <a:spLocks noChangeArrowheads="1"/>
          </p:cNvSpPr>
          <p:nvPr/>
        </p:nvSpPr>
        <p:spPr bwMode="auto">
          <a:xfrm>
            <a:off x="2779713" y="2160588"/>
            <a:ext cx="263525" cy="977900"/>
          </a:xfrm>
          <a:prstGeom prst="downArrow">
            <a:avLst>
              <a:gd name="adj1" fmla="val 50000"/>
              <a:gd name="adj2" fmla="val 92771"/>
            </a:avLst>
          </a:prstGeom>
          <a:solidFill>
            <a:srgbClr val="FFCC00"/>
          </a:solidFill>
          <a:ln w="9525">
            <a:solidFill>
              <a:srgbClr val="33CCFF"/>
            </a:solidFill>
            <a:miter lim="800000"/>
          </a:ln>
          <a:effectLst/>
          <a:extLst>
            <a:ext uri="{AF507438-7753-43E0-B8FC-AC1667EBCBE1}">
              <a14:hiddenEffects xmlns:a14="http://schemas.microsoft.com/office/drawing/2010/main">
                <a:effectLst>
                  <a:outerShdw dist="107763" dir="13500000" algn="ctr" rotWithShape="0">
                    <a:srgbClr val="808080"/>
                  </a:outerShdw>
                </a:effectLst>
              </a14:hiddenEffects>
            </a:ext>
          </a:extLst>
        </p:spPr>
        <p:txBody>
          <a:bodyPr lIns="90000" tIns="46800" rIns="90000" bIns="46800" anchor="ctr">
            <a:spAutoFit/>
          </a:bodyPr>
          <a:lstStyle/>
          <a:p>
            <a:endParaRPr lang="zh-CN" altLang="en-US"/>
          </a:p>
        </p:txBody>
      </p:sp>
      <p:sp>
        <p:nvSpPr>
          <p:cNvPr id="7196" name="Text Box 28"/>
          <p:cNvSpPr txBox="1">
            <a:spLocks noChangeArrowheads="1"/>
          </p:cNvSpPr>
          <p:nvPr/>
        </p:nvSpPr>
        <p:spPr bwMode="auto">
          <a:xfrm>
            <a:off x="2189193" y="3089275"/>
            <a:ext cx="458757" cy="1262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txBody>
          <a:bodyPr vert="eaVert" lIns="90000" tIns="46800" rIns="90000" bIns="46800">
            <a:spAutoFit/>
          </a:bodyPr>
          <a:lstStyle/>
          <a:p>
            <a:r>
              <a:rPr lang="zh-CN" altLang="en-US" dirty="0"/>
              <a:t>高频管</a:t>
            </a:r>
          </a:p>
        </p:txBody>
      </p:sp>
      <p:sp>
        <p:nvSpPr>
          <p:cNvPr id="7197" name="Text Box 29"/>
          <p:cNvSpPr txBox="1">
            <a:spLocks noChangeArrowheads="1"/>
          </p:cNvSpPr>
          <p:nvPr/>
        </p:nvSpPr>
        <p:spPr bwMode="auto">
          <a:xfrm>
            <a:off x="2657316" y="3138488"/>
            <a:ext cx="458757" cy="151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txBody>
          <a:bodyPr vert="eaVert" lIns="90000" tIns="46800" rIns="90000" bIns="46800">
            <a:spAutoFit/>
          </a:bodyPr>
          <a:lstStyle/>
          <a:p>
            <a:r>
              <a:rPr lang="zh-CN" altLang="en-US" dirty="0"/>
              <a:t>设计序号</a:t>
            </a:r>
          </a:p>
        </p:txBody>
      </p:sp>
      <p:sp>
        <p:nvSpPr>
          <p:cNvPr id="7204" name="AutoShape 36"/>
          <p:cNvSpPr>
            <a:spLocks noChangeArrowheads="1"/>
          </p:cNvSpPr>
          <p:nvPr/>
        </p:nvSpPr>
        <p:spPr bwMode="auto">
          <a:xfrm>
            <a:off x="3862388" y="2001838"/>
            <a:ext cx="4886325" cy="3816350"/>
          </a:xfrm>
          <a:prstGeom prst="cloudCallout">
            <a:avLst>
              <a:gd name="adj1" fmla="val -83495"/>
              <a:gd name="adj2" fmla="val 29407"/>
            </a:avLst>
          </a:prstGeom>
          <a:solidFill>
            <a:schemeClr val="accent2"/>
          </a:solidFill>
          <a:ln w="9525">
            <a:solidFill>
              <a:schemeClr val="tx1"/>
            </a:solidFill>
            <a:round/>
          </a:ln>
          <a:effectLst/>
          <a:extLst>
            <a:ext uri="{AF507438-7753-43E0-B8FC-AC1667EBCBE1}">
              <a14:hiddenEffects xmlns:a14="http://schemas.microsoft.com/office/drawing/2010/main">
                <a:effectLst>
                  <a:outerShdw dist="107763" dir="13500000" algn="ctr" rotWithShape="0">
                    <a:srgbClr val="808080"/>
                  </a:outerShdw>
                </a:effectLst>
              </a14:hiddenEffects>
            </a:ext>
          </a:extLst>
        </p:spPr>
        <p:txBody>
          <a:bodyPr lIns="90000" tIns="46800" rIns="90000" bIns="46800"/>
          <a:lstStyle/>
          <a:p>
            <a:endParaRPr lang="zh-CN" altLang="zh-CN"/>
          </a:p>
        </p:txBody>
      </p:sp>
      <p:sp>
        <p:nvSpPr>
          <p:cNvPr id="7200" name="Rectangle 32"/>
          <p:cNvSpPr>
            <a:spLocks noChangeArrowheads="1"/>
          </p:cNvSpPr>
          <p:nvPr/>
        </p:nvSpPr>
        <p:spPr bwMode="auto">
          <a:xfrm>
            <a:off x="5140325" y="2535238"/>
            <a:ext cx="2282825" cy="485775"/>
          </a:xfrm>
          <a:prstGeom prst="rect">
            <a:avLst/>
          </a:prstGeom>
          <a:solidFill>
            <a:schemeClr val="bg1"/>
          </a:solidFill>
          <a:ln w="28575">
            <a:solidFill>
              <a:srgbClr val="33CCFF"/>
            </a:solidFill>
            <a:miter lim="800000"/>
          </a:ln>
          <a:effectLst/>
          <a:extLst>
            <a:ext uri="{AF507438-7753-43E0-B8FC-AC1667EBCBE1}">
              <a14:hiddenEffects xmlns:a14="http://schemas.microsoft.com/office/drawing/2010/main">
                <a:effectLst>
                  <a:outerShdw dist="107763" dir="13500000" algn="ctr" rotWithShape="0">
                    <a:srgbClr val="808080"/>
                  </a:outerShdw>
                </a:effectLst>
              </a14:hiddenEffects>
            </a:ext>
          </a:extLst>
        </p:spPr>
        <p:txBody>
          <a:bodyPr wrap="none" lIns="90000" tIns="46800" rIns="90000" bIns="46800" anchor="ctr">
            <a:spAutoFit/>
          </a:bodyPr>
          <a:lstStyle/>
          <a:p>
            <a:pPr algn="l"/>
            <a:r>
              <a:rPr lang="en-US" altLang="zh-CN">
                <a:latin typeface="Arial" panose="020B0604020202020204" pitchFamily="34" charset="0"/>
              </a:rPr>
              <a:t>A</a:t>
            </a:r>
            <a:r>
              <a:rPr lang="zh-CN" altLang="en-US">
                <a:latin typeface="Arial" panose="020B0604020202020204" pitchFamily="34" charset="0"/>
              </a:rPr>
              <a:t>：</a:t>
            </a:r>
            <a:r>
              <a:rPr lang="en-US" altLang="zh-CN">
                <a:latin typeface="Arial" panose="020B0604020202020204" pitchFamily="34" charset="0"/>
              </a:rPr>
              <a:t>PNP</a:t>
            </a:r>
            <a:r>
              <a:rPr lang="zh-CN" altLang="en-US">
                <a:latin typeface="Arial" panose="020B0604020202020204" pitchFamily="34" charset="0"/>
              </a:rPr>
              <a:t>锗材料</a:t>
            </a:r>
          </a:p>
        </p:txBody>
      </p:sp>
      <p:sp>
        <p:nvSpPr>
          <p:cNvPr id="7201" name="Rectangle 33"/>
          <p:cNvSpPr>
            <a:spLocks noChangeArrowheads="1"/>
          </p:cNvSpPr>
          <p:nvPr/>
        </p:nvSpPr>
        <p:spPr bwMode="auto">
          <a:xfrm>
            <a:off x="5135563" y="3238500"/>
            <a:ext cx="2300287" cy="485775"/>
          </a:xfrm>
          <a:prstGeom prst="rect">
            <a:avLst/>
          </a:prstGeom>
          <a:solidFill>
            <a:schemeClr val="bg1"/>
          </a:solidFill>
          <a:ln w="28575">
            <a:solidFill>
              <a:srgbClr val="33CCFF"/>
            </a:solidFill>
            <a:miter lim="800000"/>
          </a:ln>
          <a:effectLst/>
          <a:extLst>
            <a:ext uri="{AF507438-7753-43E0-B8FC-AC1667EBCBE1}">
              <a14:hiddenEffects xmlns:a14="http://schemas.microsoft.com/office/drawing/2010/main">
                <a:effectLst>
                  <a:outerShdw dist="107763" dir="13500000" algn="ctr" rotWithShape="0">
                    <a:srgbClr val="808080"/>
                  </a:outerShdw>
                </a:effectLst>
              </a14:hiddenEffects>
            </a:ext>
          </a:extLst>
        </p:spPr>
        <p:txBody>
          <a:bodyPr wrap="none" lIns="90000" tIns="46800" rIns="90000" bIns="46800" anchor="ctr">
            <a:spAutoFit/>
          </a:bodyPr>
          <a:lstStyle/>
          <a:p>
            <a:pPr algn="l"/>
            <a:r>
              <a:rPr lang="en-US" altLang="zh-CN">
                <a:latin typeface="Arial" panose="020B0604020202020204" pitchFamily="34" charset="0"/>
              </a:rPr>
              <a:t>B</a:t>
            </a:r>
            <a:r>
              <a:rPr lang="zh-CN" altLang="en-US">
                <a:latin typeface="Arial" panose="020B0604020202020204" pitchFamily="34" charset="0"/>
              </a:rPr>
              <a:t>：</a:t>
            </a:r>
            <a:r>
              <a:rPr lang="en-US" altLang="zh-CN">
                <a:latin typeface="Arial" panose="020B0604020202020204" pitchFamily="34" charset="0"/>
              </a:rPr>
              <a:t>NPN</a:t>
            </a:r>
            <a:r>
              <a:rPr lang="zh-CN" altLang="en-US">
                <a:latin typeface="Arial" panose="020B0604020202020204" pitchFamily="34" charset="0"/>
              </a:rPr>
              <a:t>锗材料</a:t>
            </a:r>
          </a:p>
        </p:txBody>
      </p:sp>
      <p:sp>
        <p:nvSpPr>
          <p:cNvPr id="7202" name="Rectangle 34"/>
          <p:cNvSpPr>
            <a:spLocks noChangeArrowheads="1"/>
          </p:cNvSpPr>
          <p:nvPr/>
        </p:nvSpPr>
        <p:spPr bwMode="auto">
          <a:xfrm>
            <a:off x="5183188" y="4595813"/>
            <a:ext cx="2300287" cy="485775"/>
          </a:xfrm>
          <a:prstGeom prst="rect">
            <a:avLst/>
          </a:prstGeom>
          <a:solidFill>
            <a:schemeClr val="bg1"/>
          </a:solidFill>
          <a:ln w="28575">
            <a:solidFill>
              <a:srgbClr val="33CCFF"/>
            </a:solidFill>
            <a:miter lim="800000"/>
          </a:ln>
          <a:effectLst/>
          <a:extLst>
            <a:ext uri="{AF507438-7753-43E0-B8FC-AC1667EBCBE1}">
              <a14:hiddenEffects xmlns:a14="http://schemas.microsoft.com/office/drawing/2010/main">
                <a:effectLst>
                  <a:outerShdw dist="107763" dir="13500000" algn="ctr" rotWithShape="0">
                    <a:srgbClr val="808080"/>
                  </a:outerShdw>
                </a:effectLst>
              </a14:hiddenEffects>
            </a:ext>
          </a:extLst>
        </p:spPr>
        <p:txBody>
          <a:bodyPr wrap="none" lIns="90000" tIns="46800" rIns="90000" bIns="46800" anchor="ctr">
            <a:spAutoFit/>
          </a:bodyPr>
          <a:lstStyle/>
          <a:p>
            <a:pPr algn="l"/>
            <a:r>
              <a:rPr lang="en-US" altLang="zh-CN">
                <a:latin typeface="Arial" panose="020B0604020202020204" pitchFamily="34" charset="0"/>
              </a:rPr>
              <a:t>D</a:t>
            </a:r>
            <a:r>
              <a:rPr lang="zh-CN" altLang="en-US">
                <a:latin typeface="Arial" panose="020B0604020202020204" pitchFamily="34" charset="0"/>
              </a:rPr>
              <a:t>：</a:t>
            </a:r>
            <a:r>
              <a:rPr lang="en-US" altLang="zh-CN">
                <a:latin typeface="Arial" panose="020B0604020202020204" pitchFamily="34" charset="0"/>
              </a:rPr>
              <a:t>NPN</a:t>
            </a:r>
            <a:r>
              <a:rPr lang="zh-CN" altLang="en-US">
                <a:latin typeface="Arial" panose="020B0604020202020204" pitchFamily="34" charset="0"/>
              </a:rPr>
              <a:t>硅材料</a:t>
            </a:r>
          </a:p>
        </p:txBody>
      </p:sp>
      <p:sp>
        <p:nvSpPr>
          <p:cNvPr id="7203" name="Rectangle 35"/>
          <p:cNvSpPr>
            <a:spLocks noChangeArrowheads="1"/>
          </p:cNvSpPr>
          <p:nvPr/>
        </p:nvSpPr>
        <p:spPr bwMode="auto">
          <a:xfrm>
            <a:off x="5178425" y="3892550"/>
            <a:ext cx="2282825" cy="485775"/>
          </a:xfrm>
          <a:prstGeom prst="rect">
            <a:avLst/>
          </a:prstGeom>
          <a:solidFill>
            <a:schemeClr val="bg1"/>
          </a:solidFill>
          <a:ln w="28575">
            <a:solidFill>
              <a:srgbClr val="33CCFF"/>
            </a:solidFill>
            <a:miter lim="800000"/>
          </a:ln>
          <a:effectLst/>
          <a:extLst>
            <a:ext uri="{AF507438-7753-43E0-B8FC-AC1667EBCBE1}">
              <a14:hiddenEffects xmlns:a14="http://schemas.microsoft.com/office/drawing/2010/main">
                <a:effectLst>
                  <a:outerShdw dist="107763" dir="13500000" algn="ctr" rotWithShape="0">
                    <a:srgbClr val="808080"/>
                  </a:outerShdw>
                </a:effectLst>
              </a14:hiddenEffects>
            </a:ext>
          </a:extLst>
        </p:spPr>
        <p:txBody>
          <a:bodyPr wrap="none" lIns="90000" tIns="46800" rIns="90000" bIns="46800" anchor="ctr">
            <a:spAutoFit/>
          </a:bodyPr>
          <a:lstStyle/>
          <a:p>
            <a:pPr algn="l"/>
            <a:r>
              <a:rPr lang="en-US" altLang="zh-CN">
                <a:latin typeface="Arial" panose="020B0604020202020204" pitchFamily="34" charset="0"/>
              </a:rPr>
              <a:t>C</a:t>
            </a:r>
            <a:r>
              <a:rPr lang="zh-CN" altLang="en-US">
                <a:latin typeface="Arial" panose="020B0604020202020204" pitchFamily="34" charset="0"/>
              </a:rPr>
              <a:t>：</a:t>
            </a:r>
            <a:r>
              <a:rPr lang="en-US" altLang="zh-CN">
                <a:latin typeface="Arial" panose="020B0604020202020204" pitchFamily="34" charset="0"/>
              </a:rPr>
              <a:t>PNP</a:t>
            </a:r>
            <a:r>
              <a:rPr lang="zh-CN" altLang="en-US">
                <a:latin typeface="Arial" panose="020B0604020202020204" pitchFamily="34" charset="0"/>
              </a:rPr>
              <a:t>硅材料</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89"/>
                                        </p:tgtEl>
                                        <p:attrNameLst>
                                          <p:attrName>style.visibility</p:attrName>
                                        </p:attrNameLst>
                                      </p:cBhvr>
                                      <p:to>
                                        <p:strVal val="visible"/>
                                      </p:to>
                                    </p:set>
                                    <p:anim calcmode="lin" valueType="num">
                                      <p:cBhvr additive="base">
                                        <p:cTn id="7" dur="500" fill="hold"/>
                                        <p:tgtEl>
                                          <p:spTgt spid="7189"/>
                                        </p:tgtEl>
                                        <p:attrNameLst>
                                          <p:attrName>ppt_x</p:attrName>
                                        </p:attrNameLst>
                                      </p:cBhvr>
                                      <p:tavLst>
                                        <p:tav tm="0">
                                          <p:val>
                                            <p:strVal val="#ppt_x"/>
                                          </p:val>
                                        </p:tav>
                                        <p:tav tm="100000">
                                          <p:val>
                                            <p:strVal val="#ppt_x"/>
                                          </p:val>
                                        </p:tav>
                                      </p:tavLst>
                                    </p:anim>
                                    <p:anim calcmode="lin" valueType="num">
                                      <p:cBhvr additive="base">
                                        <p:cTn id="8" dur="500" fill="hold"/>
                                        <p:tgtEl>
                                          <p:spTgt spid="718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7190"/>
                                        </p:tgtEl>
                                        <p:attrNameLst>
                                          <p:attrName>style.visibility</p:attrName>
                                        </p:attrNameLst>
                                      </p:cBhvr>
                                      <p:to>
                                        <p:strVal val="visible"/>
                                      </p:to>
                                    </p:set>
                                    <p:animEffect transition="in" filter="slide(fromLeft)">
                                      <p:cBhvr>
                                        <p:cTn id="13" dur="500"/>
                                        <p:tgtEl>
                                          <p:spTgt spid="7190"/>
                                        </p:tgtEl>
                                      </p:cBhvr>
                                    </p:animEffect>
                                  </p:childTnLst>
                                </p:cTn>
                              </p:par>
                            </p:childTnLst>
                          </p:cTn>
                        </p:par>
                        <p:par>
                          <p:cTn id="14" fill="hold">
                            <p:stCondLst>
                              <p:cond delay="500"/>
                            </p:stCondLst>
                            <p:childTnLst>
                              <p:par>
                                <p:cTn id="15" presetID="12" presetClass="entr" presetSubtype="4" fill="hold" grpId="0" nodeType="afterEffect">
                                  <p:stCondLst>
                                    <p:cond delay="0"/>
                                  </p:stCondLst>
                                  <p:childTnLst>
                                    <p:set>
                                      <p:cBhvr>
                                        <p:cTn id="16" dur="1" fill="hold">
                                          <p:stCondLst>
                                            <p:cond delay="0"/>
                                          </p:stCondLst>
                                        </p:cTn>
                                        <p:tgtEl>
                                          <p:spTgt spid="7191"/>
                                        </p:tgtEl>
                                        <p:attrNameLst>
                                          <p:attrName>style.visibility</p:attrName>
                                        </p:attrNameLst>
                                      </p:cBhvr>
                                      <p:to>
                                        <p:strVal val="visible"/>
                                      </p:to>
                                    </p:set>
                                    <p:animEffect transition="in" filter="slide(fromBottom)">
                                      <p:cBhvr>
                                        <p:cTn id="17" dur="500"/>
                                        <p:tgtEl>
                                          <p:spTgt spid="7191"/>
                                        </p:tgtEl>
                                      </p:cBhvr>
                                    </p:animEffect>
                                  </p:childTnLst>
                                </p:cTn>
                              </p:par>
                            </p:childTnLst>
                          </p:cTn>
                        </p:par>
                      </p:childTnLst>
                    </p:cTn>
                  </p:par>
                  <p:par>
                    <p:cTn id="18" fill="hold">
                      <p:stCondLst>
                        <p:cond delay="indefinite"/>
                      </p:stCondLst>
                      <p:childTnLst>
                        <p:par>
                          <p:cTn id="19" fill="hold">
                            <p:stCondLst>
                              <p:cond delay="0"/>
                            </p:stCondLst>
                            <p:childTnLst>
                              <p:par>
                                <p:cTn id="20" presetID="17" presetClass="entr" presetSubtype="10" fill="hold" grpId="0" nodeType="clickEffect">
                                  <p:stCondLst>
                                    <p:cond delay="0"/>
                                  </p:stCondLst>
                                  <p:childTnLst>
                                    <p:set>
                                      <p:cBhvr>
                                        <p:cTn id="21" dur="1" fill="hold">
                                          <p:stCondLst>
                                            <p:cond delay="0"/>
                                          </p:stCondLst>
                                        </p:cTn>
                                        <p:tgtEl>
                                          <p:spTgt spid="7192"/>
                                        </p:tgtEl>
                                        <p:attrNameLst>
                                          <p:attrName>style.visibility</p:attrName>
                                        </p:attrNameLst>
                                      </p:cBhvr>
                                      <p:to>
                                        <p:strVal val="visible"/>
                                      </p:to>
                                    </p:set>
                                    <p:anim calcmode="lin" valueType="num">
                                      <p:cBhvr>
                                        <p:cTn id="22" dur="500" fill="hold"/>
                                        <p:tgtEl>
                                          <p:spTgt spid="7192"/>
                                        </p:tgtEl>
                                        <p:attrNameLst>
                                          <p:attrName>ppt_w</p:attrName>
                                        </p:attrNameLst>
                                      </p:cBhvr>
                                      <p:tavLst>
                                        <p:tav tm="0">
                                          <p:val>
                                            <p:fltVal val="0"/>
                                          </p:val>
                                        </p:tav>
                                        <p:tav tm="100000">
                                          <p:val>
                                            <p:strVal val="#ppt_w"/>
                                          </p:val>
                                        </p:tav>
                                      </p:tavLst>
                                    </p:anim>
                                    <p:anim calcmode="lin" valueType="num">
                                      <p:cBhvr>
                                        <p:cTn id="23" dur="500" fill="hold"/>
                                        <p:tgtEl>
                                          <p:spTgt spid="7192"/>
                                        </p:tgtEl>
                                        <p:attrNameLst>
                                          <p:attrName>ppt_h</p:attrName>
                                        </p:attrNameLst>
                                      </p:cBhvr>
                                      <p:tavLst>
                                        <p:tav tm="0">
                                          <p:val>
                                            <p:strVal val="#ppt_h"/>
                                          </p:val>
                                        </p:tav>
                                        <p:tav tm="100000">
                                          <p:val>
                                            <p:strVal val="#ppt_h"/>
                                          </p:val>
                                        </p:tav>
                                      </p:tavLst>
                                    </p:anim>
                                  </p:childTnLst>
                                </p:cTn>
                              </p:par>
                            </p:childTnLst>
                          </p:cTn>
                        </p:par>
                        <p:par>
                          <p:cTn id="24" fill="hold">
                            <p:stCondLst>
                              <p:cond delay="500"/>
                            </p:stCondLst>
                            <p:childTnLst>
                              <p:par>
                                <p:cTn id="25" presetID="3" presetClass="entr" presetSubtype="10" fill="hold" grpId="0" nodeType="afterEffect">
                                  <p:stCondLst>
                                    <p:cond delay="0"/>
                                  </p:stCondLst>
                                  <p:childTnLst>
                                    <p:set>
                                      <p:cBhvr>
                                        <p:cTn id="26" dur="1" fill="hold">
                                          <p:stCondLst>
                                            <p:cond delay="0"/>
                                          </p:stCondLst>
                                        </p:cTn>
                                        <p:tgtEl>
                                          <p:spTgt spid="7193"/>
                                        </p:tgtEl>
                                        <p:attrNameLst>
                                          <p:attrName>style.visibility</p:attrName>
                                        </p:attrNameLst>
                                      </p:cBhvr>
                                      <p:to>
                                        <p:strVal val="visible"/>
                                      </p:to>
                                    </p:set>
                                    <p:animEffect transition="in" filter="blinds(horizontal)">
                                      <p:cBhvr>
                                        <p:cTn id="27" dur="500"/>
                                        <p:tgtEl>
                                          <p:spTgt spid="7193"/>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7194"/>
                                        </p:tgtEl>
                                        <p:attrNameLst>
                                          <p:attrName>style.visibility</p:attrName>
                                        </p:attrNameLst>
                                      </p:cBhvr>
                                      <p:to>
                                        <p:strVal val="visible"/>
                                      </p:to>
                                    </p:set>
                                    <p:anim calcmode="lin" valueType="num">
                                      <p:cBhvr additive="base">
                                        <p:cTn id="32" dur="500" fill="hold"/>
                                        <p:tgtEl>
                                          <p:spTgt spid="7194"/>
                                        </p:tgtEl>
                                        <p:attrNameLst>
                                          <p:attrName>ppt_x</p:attrName>
                                        </p:attrNameLst>
                                      </p:cBhvr>
                                      <p:tavLst>
                                        <p:tav tm="0">
                                          <p:val>
                                            <p:strVal val="#ppt_x"/>
                                          </p:val>
                                        </p:tav>
                                        <p:tav tm="100000">
                                          <p:val>
                                            <p:strVal val="#ppt_x"/>
                                          </p:val>
                                        </p:tav>
                                      </p:tavLst>
                                    </p:anim>
                                    <p:anim calcmode="lin" valueType="num">
                                      <p:cBhvr additive="base">
                                        <p:cTn id="33" dur="500" fill="hold"/>
                                        <p:tgtEl>
                                          <p:spTgt spid="7194"/>
                                        </p:tgtEl>
                                        <p:attrNameLst>
                                          <p:attrName>ppt_y</p:attrName>
                                        </p:attrNameLst>
                                      </p:cBhvr>
                                      <p:tavLst>
                                        <p:tav tm="0">
                                          <p:val>
                                            <p:strVal val="1+#ppt_h/2"/>
                                          </p:val>
                                        </p:tav>
                                        <p:tav tm="100000">
                                          <p:val>
                                            <p:strVal val="#ppt_y"/>
                                          </p:val>
                                        </p:tav>
                                      </p:tavLst>
                                    </p:anim>
                                  </p:childTnLst>
                                </p:cTn>
                              </p:par>
                            </p:childTnLst>
                          </p:cTn>
                        </p:par>
                        <p:par>
                          <p:cTn id="34" fill="hold">
                            <p:stCondLst>
                              <p:cond delay="500"/>
                            </p:stCondLst>
                            <p:childTnLst>
                              <p:par>
                                <p:cTn id="35" presetID="12" presetClass="entr" presetSubtype="4" fill="hold" grpId="0" nodeType="afterEffect">
                                  <p:stCondLst>
                                    <p:cond delay="0"/>
                                  </p:stCondLst>
                                  <p:childTnLst>
                                    <p:set>
                                      <p:cBhvr>
                                        <p:cTn id="36" dur="1" fill="hold">
                                          <p:stCondLst>
                                            <p:cond delay="0"/>
                                          </p:stCondLst>
                                        </p:cTn>
                                        <p:tgtEl>
                                          <p:spTgt spid="7196"/>
                                        </p:tgtEl>
                                        <p:attrNameLst>
                                          <p:attrName>style.visibility</p:attrName>
                                        </p:attrNameLst>
                                      </p:cBhvr>
                                      <p:to>
                                        <p:strVal val="visible"/>
                                      </p:to>
                                    </p:set>
                                    <p:animEffect transition="in" filter="slide(fromBottom)">
                                      <p:cBhvr>
                                        <p:cTn id="37" dur="500"/>
                                        <p:tgtEl>
                                          <p:spTgt spid="7196"/>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7195"/>
                                        </p:tgtEl>
                                        <p:attrNameLst>
                                          <p:attrName>style.visibility</p:attrName>
                                        </p:attrNameLst>
                                      </p:cBhvr>
                                      <p:to>
                                        <p:strVal val="visible"/>
                                      </p:to>
                                    </p:set>
                                    <p:animEffect transition="in" filter="slide(fromBottom)">
                                      <p:cBhvr>
                                        <p:cTn id="42" dur="500"/>
                                        <p:tgtEl>
                                          <p:spTgt spid="7195"/>
                                        </p:tgtEl>
                                      </p:cBhvr>
                                    </p:animEffect>
                                  </p:childTnLst>
                                </p:cTn>
                              </p:par>
                            </p:childTnLst>
                          </p:cTn>
                        </p:par>
                        <p:par>
                          <p:cTn id="43" fill="hold">
                            <p:stCondLst>
                              <p:cond delay="500"/>
                            </p:stCondLst>
                            <p:childTnLst>
                              <p:par>
                                <p:cTn id="44" presetID="14" presetClass="entr" presetSubtype="10" fill="hold" grpId="0" nodeType="afterEffect">
                                  <p:stCondLst>
                                    <p:cond delay="0"/>
                                  </p:stCondLst>
                                  <p:childTnLst>
                                    <p:set>
                                      <p:cBhvr>
                                        <p:cTn id="45" dur="1" fill="hold">
                                          <p:stCondLst>
                                            <p:cond delay="0"/>
                                          </p:stCondLst>
                                        </p:cTn>
                                        <p:tgtEl>
                                          <p:spTgt spid="7197"/>
                                        </p:tgtEl>
                                        <p:attrNameLst>
                                          <p:attrName>style.visibility</p:attrName>
                                        </p:attrNameLst>
                                      </p:cBhvr>
                                      <p:to>
                                        <p:strVal val="visible"/>
                                      </p:to>
                                    </p:set>
                                    <p:animEffect transition="in" filter="randombar(horizontal)">
                                      <p:cBhvr>
                                        <p:cTn id="46" dur="500"/>
                                        <p:tgtEl>
                                          <p:spTgt spid="7197"/>
                                        </p:tgtEl>
                                      </p:cBhvr>
                                    </p:animEffect>
                                  </p:childTnLst>
                                </p:cTn>
                              </p:par>
                            </p:childTnLst>
                          </p:cTn>
                        </p:par>
                      </p:childTnLst>
                    </p:cTn>
                  </p:par>
                  <p:par>
                    <p:cTn id="47" fill="hold">
                      <p:stCondLst>
                        <p:cond delay="indefinite"/>
                      </p:stCondLst>
                      <p:childTnLst>
                        <p:par>
                          <p:cTn id="48" fill="hold">
                            <p:stCondLst>
                              <p:cond delay="0"/>
                            </p:stCondLst>
                            <p:childTnLst>
                              <p:par>
                                <p:cTn id="49" presetID="5" presetClass="entr" presetSubtype="10" fill="hold" grpId="0" nodeType="clickEffect">
                                  <p:stCondLst>
                                    <p:cond delay="0"/>
                                  </p:stCondLst>
                                  <p:childTnLst>
                                    <p:set>
                                      <p:cBhvr>
                                        <p:cTn id="50" dur="1" fill="hold">
                                          <p:stCondLst>
                                            <p:cond delay="0"/>
                                          </p:stCondLst>
                                        </p:cTn>
                                        <p:tgtEl>
                                          <p:spTgt spid="7204"/>
                                        </p:tgtEl>
                                        <p:attrNameLst>
                                          <p:attrName>style.visibility</p:attrName>
                                        </p:attrNameLst>
                                      </p:cBhvr>
                                      <p:to>
                                        <p:strVal val="visible"/>
                                      </p:to>
                                    </p:set>
                                    <p:animEffect transition="in" filter="checkerboard(across)">
                                      <p:cBhvr>
                                        <p:cTn id="51" dur="500"/>
                                        <p:tgtEl>
                                          <p:spTgt spid="7204"/>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7200"/>
                                        </p:tgtEl>
                                        <p:attrNameLst>
                                          <p:attrName>style.visibility</p:attrName>
                                        </p:attrNameLst>
                                      </p:cBhvr>
                                      <p:to>
                                        <p:strVal val="visible"/>
                                      </p:to>
                                    </p:set>
                                    <p:animEffect transition="in" filter="blinds(horizontal)">
                                      <p:cBhvr>
                                        <p:cTn id="56" dur="500"/>
                                        <p:tgtEl>
                                          <p:spTgt spid="7200"/>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7201"/>
                                        </p:tgtEl>
                                        <p:attrNameLst>
                                          <p:attrName>style.visibility</p:attrName>
                                        </p:attrNameLst>
                                      </p:cBhvr>
                                      <p:to>
                                        <p:strVal val="visible"/>
                                      </p:to>
                                    </p:set>
                                    <p:animEffect transition="in" filter="blinds(horizontal)">
                                      <p:cBhvr>
                                        <p:cTn id="61" dur="500"/>
                                        <p:tgtEl>
                                          <p:spTgt spid="7201"/>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7203"/>
                                        </p:tgtEl>
                                        <p:attrNameLst>
                                          <p:attrName>style.visibility</p:attrName>
                                        </p:attrNameLst>
                                      </p:cBhvr>
                                      <p:to>
                                        <p:strVal val="visible"/>
                                      </p:to>
                                    </p:set>
                                    <p:animEffect transition="in" filter="blinds(horizontal)">
                                      <p:cBhvr>
                                        <p:cTn id="66" dur="500"/>
                                        <p:tgtEl>
                                          <p:spTgt spid="7203"/>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7202"/>
                                        </p:tgtEl>
                                        <p:attrNameLst>
                                          <p:attrName>style.visibility</p:attrName>
                                        </p:attrNameLst>
                                      </p:cBhvr>
                                      <p:to>
                                        <p:strVal val="visible"/>
                                      </p:to>
                                    </p:set>
                                    <p:animEffect transition="in" filter="blinds(horizontal)">
                                      <p:cBhvr>
                                        <p:cTn id="71" dur="500"/>
                                        <p:tgtEl>
                                          <p:spTgt spid="7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9" grpId="0" animBg="1" autoUpdateAnimBg="0"/>
      <p:bldP spid="7190" grpId="0" animBg="1"/>
      <p:bldP spid="7191" grpId="0" autoUpdateAnimBg="0"/>
      <p:bldP spid="7192" grpId="0" animBg="1"/>
      <p:bldP spid="7193" grpId="0" autoUpdateAnimBg="0"/>
      <p:bldP spid="7194" grpId="0" animBg="1"/>
      <p:bldP spid="7195" grpId="0" animBg="1"/>
      <p:bldP spid="7196" grpId="0" autoUpdateAnimBg="0"/>
      <p:bldP spid="7197" grpId="0" autoUpdateAnimBg="0"/>
      <p:bldP spid="7204" grpId="0" animBg="1" autoUpdateAnimBg="0"/>
      <p:bldP spid="7200" grpId="0" animBg="1" autoUpdateAnimBg="0"/>
      <p:bldP spid="7201" grpId="0" animBg="1" autoUpdateAnimBg="0"/>
      <p:bldP spid="7202" grpId="0" animBg="1" autoUpdateAnimBg="0"/>
      <p:bldP spid="7203"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45" name="Group 25"/>
          <p:cNvGrpSpPr/>
          <p:nvPr/>
        </p:nvGrpSpPr>
        <p:grpSpPr bwMode="auto">
          <a:xfrm>
            <a:off x="1104364" y="476672"/>
            <a:ext cx="1817688" cy="822325"/>
            <a:chOff x="630" y="883"/>
            <a:chExt cx="1145" cy="518"/>
          </a:xfrm>
        </p:grpSpPr>
        <p:graphicFrame>
          <p:nvGraphicFramePr>
            <p:cNvPr id="5133" name="Object 13"/>
            <p:cNvGraphicFramePr>
              <a:graphicFrameLocks noChangeAspect="1"/>
            </p:cNvGraphicFramePr>
            <p:nvPr/>
          </p:nvGraphicFramePr>
          <p:xfrm>
            <a:off x="630" y="883"/>
            <a:ext cx="1145" cy="518"/>
          </p:xfrm>
          <a:graphic>
            <a:graphicData uri="http://schemas.openxmlformats.org/presentationml/2006/ole">
              <mc:AlternateContent xmlns:mc="http://schemas.openxmlformats.org/markup-compatibility/2006">
                <mc:Choice xmlns:v="urn:schemas-microsoft-com:vml" Requires="v">
                  <p:oleObj name="Clip" r:id="rId3" imgW="971550" imgH="409575" progId="MS_ClipArt_Gallery.5">
                    <p:embed/>
                  </p:oleObj>
                </mc:Choice>
                <mc:Fallback>
                  <p:oleObj name="Clip" r:id="rId3" imgW="971550" imgH="409575" progId="MS_ClipArt_Gallery.5">
                    <p:embed/>
                    <p:pic>
                      <p:nvPicPr>
                        <p:cNvPr id="0" name="图片 195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 y="883"/>
                          <a:ext cx="1145" cy="518"/>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sp>
          <p:nvSpPr>
            <p:cNvPr id="5134" name="Text Box 14"/>
            <p:cNvSpPr txBox="1">
              <a:spLocks noChangeArrowheads="1"/>
            </p:cNvSpPr>
            <p:nvPr/>
          </p:nvSpPr>
          <p:spPr bwMode="auto">
            <a:xfrm>
              <a:off x="705" y="950"/>
              <a:ext cx="976" cy="3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txBody>
            <a:bodyPr anchor="ctr">
              <a:spAutoFit/>
            </a:bodyPr>
            <a:lstStyle/>
            <a:p>
              <a:pPr>
                <a:spcBef>
                  <a:spcPct val="0"/>
                </a:spcBef>
              </a:pPr>
              <a:r>
                <a:rPr kumimoji="0" lang="zh-CN" altLang="en-US" sz="3200">
                  <a:solidFill>
                    <a:schemeClr val="tx2"/>
                  </a:solidFill>
                  <a:ea typeface="黑体" panose="02010609060101010101" pitchFamily="2" charset="-122"/>
                </a:rPr>
                <a:t>分类</a:t>
              </a:r>
            </a:p>
          </p:txBody>
        </p:sp>
      </p:grpSp>
      <p:pic>
        <p:nvPicPr>
          <p:cNvPr id="5136" name="Picture 16" descr="ball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17700" y="2425700"/>
            <a:ext cx="762000" cy="571500"/>
          </a:xfrm>
          <a:prstGeom prst="rect">
            <a:avLst/>
          </a:prstGeom>
          <a:noFill/>
          <a:effectLst>
            <a:outerShdw dist="107763" dir="13500000" algn="ctr" rotWithShape="0">
              <a:srgbClr val="808080"/>
            </a:outerShdw>
          </a:effectLst>
          <a:extLst>
            <a:ext uri="{909E8E84-426E-40DD-AFC4-6F175D3DCCD1}">
              <a14:hiddenFill xmlns:a14="http://schemas.microsoft.com/office/drawing/2010/main">
                <a:solidFill>
                  <a:srgbClr val="FFFFFF"/>
                </a:solidFill>
              </a14:hiddenFill>
            </a:ext>
          </a:extLst>
        </p:spPr>
      </p:pic>
      <p:sp>
        <p:nvSpPr>
          <p:cNvPr id="5138" name="Rectangle 18"/>
          <p:cNvSpPr>
            <a:spLocks noChangeArrowheads="1"/>
          </p:cNvSpPr>
          <p:nvPr/>
        </p:nvSpPr>
        <p:spPr bwMode="auto">
          <a:xfrm>
            <a:off x="2743200" y="2425700"/>
            <a:ext cx="4495800" cy="547688"/>
          </a:xfrm>
          <a:prstGeom prst="rect">
            <a:avLst/>
          </a:prstGeom>
          <a:solidFill>
            <a:schemeClr val="bg1"/>
          </a:solidFill>
          <a:ln w="28575">
            <a:solidFill>
              <a:srgbClr val="FF9900"/>
            </a:solidFill>
            <a:miter lim="800000"/>
          </a:ln>
          <a:effectLst/>
          <a:extLst>
            <a:ext uri="{AF507438-7753-43E0-B8FC-AC1667EBCBE1}">
              <a14:hiddenEffects xmlns:a14="http://schemas.microsoft.com/office/drawing/2010/main">
                <a:effectLst>
                  <a:outerShdw dist="107763" dir="13500000" algn="ctr" rotWithShape="0">
                    <a:srgbClr val="808080"/>
                  </a:outerShdw>
                </a:effectLst>
              </a14:hiddenEffects>
            </a:ext>
          </a:extLst>
        </p:spPr>
        <p:txBody>
          <a:bodyPr wrap="none" lIns="90000" tIns="46800" rIns="90000" bIns="46800" anchor="ctr">
            <a:spAutoFit/>
          </a:bodyPr>
          <a:lstStyle/>
          <a:p>
            <a:pPr algn="l"/>
            <a:r>
              <a:rPr lang="zh-CN" altLang="en-US" sz="2800">
                <a:latin typeface="Arial" panose="020B0604020202020204" pitchFamily="34" charset="0"/>
              </a:rPr>
              <a:t>按频率分有高频管、低频管</a:t>
            </a:r>
          </a:p>
        </p:txBody>
      </p:sp>
      <p:pic>
        <p:nvPicPr>
          <p:cNvPr id="5139" name="Picture 19" descr="ball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0400" y="3467100"/>
            <a:ext cx="762000" cy="571500"/>
          </a:xfrm>
          <a:prstGeom prst="rect">
            <a:avLst/>
          </a:prstGeom>
          <a:noFill/>
          <a:effectLst>
            <a:outerShdw dist="107763" dir="13500000" algn="ctr" rotWithShape="0">
              <a:srgbClr val="808080"/>
            </a:outerShdw>
          </a:effectLst>
          <a:extLst>
            <a:ext uri="{909E8E84-426E-40DD-AFC4-6F175D3DCCD1}">
              <a14:hiddenFill xmlns:a14="http://schemas.microsoft.com/office/drawing/2010/main">
                <a:solidFill>
                  <a:srgbClr val="FFFFFF"/>
                </a:solidFill>
              </a14:hiddenFill>
            </a:ext>
          </a:extLst>
        </p:spPr>
      </p:pic>
      <p:sp>
        <p:nvSpPr>
          <p:cNvPr id="5140" name="Rectangle 20"/>
          <p:cNvSpPr>
            <a:spLocks noChangeArrowheads="1"/>
          </p:cNvSpPr>
          <p:nvPr/>
        </p:nvSpPr>
        <p:spPr bwMode="auto">
          <a:xfrm>
            <a:off x="2755900" y="3454400"/>
            <a:ext cx="4852988" cy="547688"/>
          </a:xfrm>
          <a:prstGeom prst="rect">
            <a:avLst/>
          </a:prstGeom>
          <a:solidFill>
            <a:schemeClr val="bg1"/>
          </a:solidFill>
          <a:ln w="28575">
            <a:solidFill>
              <a:srgbClr val="FF9900"/>
            </a:solidFill>
            <a:miter lim="800000"/>
          </a:ln>
          <a:effectLst/>
          <a:extLst>
            <a:ext uri="{AF507438-7753-43E0-B8FC-AC1667EBCBE1}">
              <a14:hiddenEffects xmlns:a14="http://schemas.microsoft.com/office/drawing/2010/main">
                <a:effectLst>
                  <a:outerShdw dist="107763" dir="13500000" algn="ctr" rotWithShape="0">
                    <a:srgbClr val="808080"/>
                  </a:outerShdw>
                </a:effectLst>
              </a14:hiddenEffects>
            </a:ext>
          </a:extLst>
        </p:spPr>
        <p:txBody>
          <a:bodyPr wrap="none" lIns="90000" tIns="46800" rIns="90000" bIns="46800" anchor="ctr">
            <a:spAutoFit/>
          </a:bodyPr>
          <a:lstStyle/>
          <a:p>
            <a:pPr algn="l"/>
            <a:r>
              <a:rPr lang="zh-CN" altLang="en-US" sz="2800">
                <a:latin typeface="Arial" panose="020B0604020202020204" pitchFamily="34" charset="0"/>
              </a:rPr>
              <a:t>按功率分有小、中、大功率管</a:t>
            </a:r>
          </a:p>
        </p:txBody>
      </p:sp>
      <p:pic>
        <p:nvPicPr>
          <p:cNvPr id="5141" name="Picture 21" descr="ball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92300" y="4533900"/>
            <a:ext cx="762000" cy="571500"/>
          </a:xfrm>
          <a:prstGeom prst="rect">
            <a:avLst/>
          </a:prstGeom>
          <a:noFill/>
          <a:effectLst>
            <a:outerShdw dist="107763" dir="13500000" algn="ctr" rotWithShape="0">
              <a:srgbClr val="808080"/>
            </a:outerShdw>
          </a:effectLst>
          <a:extLst>
            <a:ext uri="{909E8E84-426E-40DD-AFC4-6F175D3DCCD1}">
              <a14:hiddenFill xmlns:a14="http://schemas.microsoft.com/office/drawing/2010/main">
                <a:solidFill>
                  <a:srgbClr val="FFFFFF"/>
                </a:solidFill>
              </a14:hiddenFill>
            </a:ext>
          </a:extLst>
        </p:spPr>
      </p:pic>
      <p:pic>
        <p:nvPicPr>
          <p:cNvPr id="5142" name="Picture 22" descr="ball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17700" y="5575300"/>
            <a:ext cx="762000" cy="571500"/>
          </a:xfrm>
          <a:prstGeom prst="rect">
            <a:avLst/>
          </a:prstGeom>
          <a:noFill/>
          <a:effectLst>
            <a:outerShdw dist="107763" dir="13500000" algn="ctr" rotWithShape="0">
              <a:srgbClr val="808080"/>
            </a:outerShdw>
          </a:effectLst>
          <a:extLst>
            <a:ext uri="{909E8E84-426E-40DD-AFC4-6F175D3DCCD1}">
              <a14:hiddenFill xmlns:a14="http://schemas.microsoft.com/office/drawing/2010/main">
                <a:solidFill>
                  <a:srgbClr val="FFFFFF"/>
                </a:solidFill>
              </a14:hiddenFill>
            </a:ext>
          </a:extLst>
        </p:spPr>
      </p:pic>
      <p:sp>
        <p:nvSpPr>
          <p:cNvPr id="5143" name="Rectangle 23"/>
          <p:cNvSpPr>
            <a:spLocks noChangeArrowheads="1"/>
          </p:cNvSpPr>
          <p:nvPr/>
        </p:nvSpPr>
        <p:spPr bwMode="auto">
          <a:xfrm>
            <a:off x="2768600" y="4508500"/>
            <a:ext cx="3781425" cy="547688"/>
          </a:xfrm>
          <a:prstGeom prst="rect">
            <a:avLst/>
          </a:prstGeom>
          <a:solidFill>
            <a:schemeClr val="bg1"/>
          </a:solidFill>
          <a:ln w="28575">
            <a:solidFill>
              <a:srgbClr val="FF9900"/>
            </a:solidFill>
            <a:miter lim="800000"/>
          </a:ln>
          <a:effectLst/>
          <a:extLst>
            <a:ext uri="{AF507438-7753-43E0-B8FC-AC1667EBCBE1}">
              <a14:hiddenEffects xmlns:a14="http://schemas.microsoft.com/office/drawing/2010/main">
                <a:effectLst>
                  <a:outerShdw dist="107763" dir="13500000" algn="ctr" rotWithShape="0">
                    <a:srgbClr val="808080"/>
                  </a:outerShdw>
                </a:effectLst>
              </a14:hiddenEffects>
            </a:ext>
          </a:extLst>
        </p:spPr>
        <p:txBody>
          <a:bodyPr wrap="none" lIns="90000" tIns="46800" rIns="90000" bIns="46800" anchor="ctr">
            <a:spAutoFit/>
          </a:bodyPr>
          <a:lstStyle/>
          <a:p>
            <a:pPr algn="l"/>
            <a:r>
              <a:rPr lang="zh-CN" altLang="en-US" sz="2800">
                <a:latin typeface="Arial" panose="020B0604020202020204" pitchFamily="34" charset="0"/>
              </a:rPr>
              <a:t>按材料分有硅管、锗管</a:t>
            </a:r>
          </a:p>
        </p:txBody>
      </p:sp>
      <p:sp>
        <p:nvSpPr>
          <p:cNvPr id="5144" name="Rectangle 24"/>
          <p:cNvSpPr>
            <a:spLocks noChangeArrowheads="1"/>
          </p:cNvSpPr>
          <p:nvPr/>
        </p:nvSpPr>
        <p:spPr bwMode="auto">
          <a:xfrm>
            <a:off x="2781300" y="5588000"/>
            <a:ext cx="4143375" cy="547688"/>
          </a:xfrm>
          <a:prstGeom prst="rect">
            <a:avLst/>
          </a:prstGeom>
          <a:solidFill>
            <a:schemeClr val="bg1"/>
          </a:solidFill>
          <a:ln w="28575">
            <a:solidFill>
              <a:srgbClr val="FF9900"/>
            </a:solidFill>
            <a:miter lim="800000"/>
          </a:ln>
          <a:effectLst/>
          <a:extLst>
            <a:ext uri="{AF507438-7753-43E0-B8FC-AC1667EBCBE1}">
              <a14:hiddenEffects xmlns:a14="http://schemas.microsoft.com/office/drawing/2010/main">
                <a:effectLst>
                  <a:outerShdw dist="107763" dir="13500000" algn="ctr" rotWithShape="0">
                    <a:srgbClr val="808080"/>
                  </a:outerShdw>
                </a:effectLst>
              </a14:hiddenEffects>
            </a:ext>
          </a:extLst>
        </p:spPr>
        <p:txBody>
          <a:bodyPr wrap="none" lIns="90000" tIns="46800" rIns="90000" bIns="46800" anchor="ctr">
            <a:spAutoFit/>
          </a:bodyPr>
          <a:lstStyle/>
          <a:p>
            <a:pPr algn="l"/>
            <a:r>
              <a:rPr lang="zh-CN" altLang="en-US" sz="2800">
                <a:latin typeface="宋体" panose="02010600030101010101" pitchFamily="2" charset="-122"/>
              </a:rPr>
              <a:t>按结构分有</a:t>
            </a:r>
            <a:r>
              <a:rPr lang="en-US" altLang="zh-CN" sz="2800">
                <a:solidFill>
                  <a:srgbClr val="FF0066"/>
                </a:solidFill>
                <a:latin typeface="宋体" panose="02010600030101010101" pitchFamily="2" charset="-122"/>
              </a:rPr>
              <a:t>NPN</a:t>
            </a:r>
            <a:r>
              <a:rPr lang="zh-CN" altLang="en-US" sz="2800">
                <a:latin typeface="宋体" panose="02010600030101010101" pitchFamily="2" charset="-122"/>
              </a:rPr>
              <a:t>型和</a:t>
            </a:r>
            <a:r>
              <a:rPr lang="en-US" altLang="zh-CN" sz="2800">
                <a:solidFill>
                  <a:srgbClr val="FF0066"/>
                </a:solidFill>
                <a:latin typeface="宋体" panose="02010600030101010101" pitchFamily="2" charset="-122"/>
              </a:rPr>
              <a:t>PNP</a:t>
            </a:r>
            <a:r>
              <a:rPr lang="zh-CN" altLang="en-US" sz="2800">
                <a:latin typeface="宋体" panose="02010600030101010101" pitchFamily="2" charset="-122"/>
              </a:rPr>
              <a:t>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45"/>
                                        </p:tgtEl>
                                        <p:attrNameLst>
                                          <p:attrName>style.visibility</p:attrName>
                                        </p:attrNameLst>
                                      </p:cBhvr>
                                      <p:to>
                                        <p:strVal val="visible"/>
                                      </p:to>
                                    </p:set>
                                    <p:anim calcmode="lin" valueType="num">
                                      <p:cBhvr additive="base">
                                        <p:cTn id="7" dur="500" fill="hold"/>
                                        <p:tgtEl>
                                          <p:spTgt spid="5145"/>
                                        </p:tgtEl>
                                        <p:attrNameLst>
                                          <p:attrName>ppt_x</p:attrName>
                                        </p:attrNameLst>
                                      </p:cBhvr>
                                      <p:tavLst>
                                        <p:tav tm="0">
                                          <p:val>
                                            <p:strVal val="#ppt_x"/>
                                          </p:val>
                                        </p:tav>
                                        <p:tav tm="100000">
                                          <p:val>
                                            <p:strVal val="#ppt_x"/>
                                          </p:val>
                                        </p:tav>
                                      </p:tavLst>
                                    </p:anim>
                                    <p:anim calcmode="lin" valueType="num">
                                      <p:cBhvr additive="base">
                                        <p:cTn id="8" dur="500" fill="hold"/>
                                        <p:tgtEl>
                                          <p:spTgt spid="514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5136"/>
                                        </p:tgtEl>
                                        <p:attrNameLst>
                                          <p:attrName>style.visibility</p:attrName>
                                        </p:attrNameLst>
                                      </p:cBhvr>
                                      <p:to>
                                        <p:strVal val="visible"/>
                                      </p:to>
                                    </p:se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5138"/>
                                        </p:tgtEl>
                                        <p:attrNameLst>
                                          <p:attrName>style.visibility</p:attrName>
                                        </p:attrNameLst>
                                      </p:cBhvr>
                                      <p:to>
                                        <p:strVal val="visible"/>
                                      </p:to>
                                    </p:set>
                                    <p:animEffect transition="in" filter="blinds(horizontal)">
                                      <p:cBhvr>
                                        <p:cTn id="16" dur="500"/>
                                        <p:tgtEl>
                                          <p:spTgt spid="513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5139"/>
                                        </p:tgtEl>
                                        <p:attrNameLst>
                                          <p:attrName>style.visibility</p:attrName>
                                        </p:attrNameLst>
                                      </p:cBhvr>
                                      <p:to>
                                        <p:strVal val="visible"/>
                                      </p:to>
                                    </p:set>
                                  </p:childTnLst>
                                </p:cTn>
                              </p:par>
                            </p:childTnLst>
                          </p:cTn>
                        </p:par>
                        <p:par>
                          <p:cTn id="21" fill="hold">
                            <p:stCondLst>
                              <p:cond delay="500"/>
                            </p:stCondLst>
                            <p:childTnLst>
                              <p:par>
                                <p:cTn id="22" presetID="4" presetClass="entr" presetSubtype="16" fill="hold" grpId="0" nodeType="afterEffect">
                                  <p:stCondLst>
                                    <p:cond delay="0"/>
                                  </p:stCondLst>
                                  <p:childTnLst>
                                    <p:set>
                                      <p:cBhvr>
                                        <p:cTn id="23" dur="1" fill="hold">
                                          <p:stCondLst>
                                            <p:cond delay="0"/>
                                          </p:stCondLst>
                                        </p:cTn>
                                        <p:tgtEl>
                                          <p:spTgt spid="5140"/>
                                        </p:tgtEl>
                                        <p:attrNameLst>
                                          <p:attrName>style.visibility</p:attrName>
                                        </p:attrNameLst>
                                      </p:cBhvr>
                                      <p:to>
                                        <p:strVal val="visible"/>
                                      </p:to>
                                    </p:set>
                                    <p:animEffect transition="in" filter="box(in)">
                                      <p:cBhvr>
                                        <p:cTn id="24" dur="500"/>
                                        <p:tgtEl>
                                          <p:spTgt spid="5140"/>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499"/>
                                          </p:stCondLst>
                                        </p:cTn>
                                        <p:tgtEl>
                                          <p:spTgt spid="5141"/>
                                        </p:tgtEl>
                                        <p:attrNameLst>
                                          <p:attrName>style.visibility</p:attrName>
                                        </p:attrNameLst>
                                      </p:cBhvr>
                                      <p:to>
                                        <p:strVal val="visible"/>
                                      </p:to>
                                    </p:set>
                                  </p:childTnLst>
                                </p:cTn>
                              </p:par>
                            </p:childTnLst>
                          </p:cTn>
                        </p:par>
                        <p:par>
                          <p:cTn id="29" fill="hold">
                            <p:stCondLst>
                              <p:cond delay="500"/>
                            </p:stCondLst>
                            <p:childTnLst>
                              <p:par>
                                <p:cTn id="30" presetID="12" presetClass="entr" presetSubtype="4" fill="hold" grpId="0" nodeType="afterEffect">
                                  <p:stCondLst>
                                    <p:cond delay="0"/>
                                  </p:stCondLst>
                                  <p:childTnLst>
                                    <p:set>
                                      <p:cBhvr>
                                        <p:cTn id="31" dur="1" fill="hold">
                                          <p:stCondLst>
                                            <p:cond delay="0"/>
                                          </p:stCondLst>
                                        </p:cTn>
                                        <p:tgtEl>
                                          <p:spTgt spid="5143"/>
                                        </p:tgtEl>
                                        <p:attrNameLst>
                                          <p:attrName>style.visibility</p:attrName>
                                        </p:attrNameLst>
                                      </p:cBhvr>
                                      <p:to>
                                        <p:strVal val="visible"/>
                                      </p:to>
                                    </p:set>
                                    <p:animEffect transition="in" filter="slide(fromBottom)">
                                      <p:cBhvr>
                                        <p:cTn id="32" dur="500"/>
                                        <p:tgtEl>
                                          <p:spTgt spid="5143"/>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499"/>
                                          </p:stCondLst>
                                        </p:cTn>
                                        <p:tgtEl>
                                          <p:spTgt spid="5142"/>
                                        </p:tgtEl>
                                        <p:attrNameLst>
                                          <p:attrName>style.visibility</p:attrName>
                                        </p:attrNameLst>
                                      </p:cBhvr>
                                      <p:to>
                                        <p:strVal val="visible"/>
                                      </p:to>
                                    </p:set>
                                  </p:childTnLst>
                                </p:cTn>
                              </p:par>
                            </p:childTnLst>
                          </p:cTn>
                        </p:par>
                        <p:par>
                          <p:cTn id="37" fill="hold">
                            <p:stCondLst>
                              <p:cond delay="500"/>
                            </p:stCondLst>
                            <p:childTnLst>
                              <p:par>
                                <p:cTn id="38" presetID="16" presetClass="entr" presetSubtype="26" fill="hold" grpId="0" nodeType="afterEffect">
                                  <p:stCondLst>
                                    <p:cond delay="0"/>
                                  </p:stCondLst>
                                  <p:childTnLst>
                                    <p:set>
                                      <p:cBhvr>
                                        <p:cTn id="39" dur="1" fill="hold">
                                          <p:stCondLst>
                                            <p:cond delay="0"/>
                                          </p:stCondLst>
                                        </p:cTn>
                                        <p:tgtEl>
                                          <p:spTgt spid="5144"/>
                                        </p:tgtEl>
                                        <p:attrNameLst>
                                          <p:attrName>style.visibility</p:attrName>
                                        </p:attrNameLst>
                                      </p:cBhvr>
                                      <p:to>
                                        <p:strVal val="visible"/>
                                      </p:to>
                                    </p:set>
                                    <p:animEffect transition="in" filter="barn(inHorizontal)">
                                      <p:cBhvr>
                                        <p:cTn id="40" dur="500"/>
                                        <p:tgtEl>
                                          <p:spTgt spid="5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8" grpId="0" animBg="1" autoUpdateAnimBg="0"/>
      <p:bldP spid="5140" grpId="0" animBg="1" autoUpdateAnimBg="0"/>
      <p:bldP spid="5143" grpId="0" animBg="1" autoUpdateAnimBg="0"/>
      <p:bldP spid="5144"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1573213" y="633413"/>
            <a:ext cx="5995987" cy="377825"/>
          </a:xfrm>
          <a:prstGeom prst="rect">
            <a:avLst/>
          </a:prstGeom>
          <a:gradFill rotWithShape="1">
            <a:gsLst>
              <a:gs pos="0">
                <a:srgbClr val="9BFF69">
                  <a:alpha val="51999"/>
                </a:srgbClr>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5000"/>
              </a:lnSpc>
            </a:pPr>
            <a:r>
              <a:rPr lang="zh-CN" altLang="en-US" sz="2600">
                <a:solidFill>
                  <a:srgbClr val="002E00"/>
                </a:solidFill>
                <a:latin typeface="Times New Roman" panose="02020603050405020304" pitchFamily="18" charset="0"/>
                <a:ea typeface="隶书" panose="02010509060101010101" pitchFamily="49" charset="-122"/>
              </a:rPr>
              <a:t>用万用表测试二极管好坏及极性的方法</a:t>
            </a:r>
          </a:p>
        </p:txBody>
      </p:sp>
      <p:sp>
        <p:nvSpPr>
          <p:cNvPr id="18435" name="Text Box 3"/>
          <p:cNvSpPr txBox="1">
            <a:spLocks noChangeArrowheads="1"/>
          </p:cNvSpPr>
          <p:nvPr/>
        </p:nvSpPr>
        <p:spPr bwMode="auto">
          <a:xfrm>
            <a:off x="1068388" y="1114425"/>
            <a:ext cx="7086600"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2400">
                <a:solidFill>
                  <a:srgbClr val="000058"/>
                </a:solidFill>
                <a:latin typeface="Times New Roman" panose="02020603050405020304" pitchFamily="18" charset="0"/>
                <a:ea typeface="隶书" panose="02010509060101010101" pitchFamily="49" charset="-122"/>
              </a:rPr>
              <a:t>用万用表欧姆档检查二极管是否存在单向导电性？并判别其极性。</a:t>
            </a:r>
          </a:p>
        </p:txBody>
      </p:sp>
      <p:pic>
        <p:nvPicPr>
          <p:cNvPr id="18436" name="Picture 4" descr="7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0" y="2270125"/>
            <a:ext cx="119063"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5" descr="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0725" y="2176463"/>
            <a:ext cx="25019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8" name="Picture 6" descr="7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7575" y="2070100"/>
            <a:ext cx="2832100" cy="216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9" name="AutoShape 7"/>
          <p:cNvSpPr>
            <a:spLocks noChangeArrowheads="1"/>
          </p:cNvSpPr>
          <p:nvPr/>
        </p:nvSpPr>
        <p:spPr bwMode="auto">
          <a:xfrm>
            <a:off x="3735388" y="1695450"/>
            <a:ext cx="1385887" cy="908050"/>
          </a:xfrm>
          <a:prstGeom prst="wedgeRoundRectCallout">
            <a:avLst>
              <a:gd name="adj1" fmla="val -71764"/>
              <a:gd name="adj2" fmla="val 34264"/>
              <a:gd name="adj3" fmla="val 16667"/>
            </a:avLst>
          </a:prstGeom>
          <a:gradFill rotWithShape="1">
            <a:gsLst>
              <a:gs pos="0">
                <a:schemeClr val="accent1"/>
              </a:gs>
              <a:gs pos="100000">
                <a:schemeClr val="accent1">
                  <a:gamma/>
                  <a:tint val="0"/>
                  <a:invGamma/>
                  <a:alpha val="0"/>
                </a:schemeClr>
              </a:gs>
            </a:gsLst>
            <a:lin ang="2700000" scaled="1"/>
          </a:gradFill>
          <a:ln w="19050">
            <a:solidFill>
              <a:srgbClr val="000048"/>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defRPr/>
            </a:pPr>
            <a:r>
              <a:rPr kumimoji="1" lang="zh-CN" altLang="en-US" b="1">
                <a:solidFill>
                  <a:srgbClr val="990000"/>
                </a:solidFill>
                <a:latin typeface="Times New Roman" panose="02020603050405020304" pitchFamily="18" charset="0"/>
                <a:ea typeface="楷体_GB2312" pitchFamily="49" charset="-122"/>
              </a:rPr>
              <a:t>正向导通电阻很小。指针偏转大。</a:t>
            </a:r>
          </a:p>
        </p:txBody>
      </p:sp>
      <p:sp>
        <p:nvSpPr>
          <p:cNvPr id="18440" name="AutoShape 8"/>
          <p:cNvSpPr>
            <a:spLocks noChangeArrowheads="1"/>
          </p:cNvSpPr>
          <p:nvPr/>
        </p:nvSpPr>
        <p:spPr bwMode="auto">
          <a:xfrm>
            <a:off x="6467475" y="1616075"/>
            <a:ext cx="1625600" cy="908050"/>
          </a:xfrm>
          <a:prstGeom prst="wedgeRoundRectCallout">
            <a:avLst>
              <a:gd name="adj1" fmla="val -91796"/>
              <a:gd name="adj2" fmla="val 121153"/>
              <a:gd name="adj3" fmla="val 16667"/>
            </a:avLst>
          </a:prstGeom>
          <a:gradFill rotWithShape="1">
            <a:gsLst>
              <a:gs pos="0">
                <a:schemeClr val="accent1"/>
              </a:gs>
              <a:gs pos="100000">
                <a:schemeClr val="accent1">
                  <a:gamma/>
                  <a:tint val="0"/>
                  <a:invGamma/>
                  <a:alpha val="0"/>
                </a:schemeClr>
              </a:gs>
            </a:gsLst>
            <a:lin ang="2700000" scaled="1"/>
          </a:gradFill>
          <a:ln w="19050">
            <a:solidFill>
              <a:srgbClr val="000048"/>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defRPr/>
            </a:pPr>
            <a:r>
              <a:rPr kumimoji="1" lang="zh-CN" altLang="en-US" b="1">
                <a:solidFill>
                  <a:srgbClr val="990000"/>
                </a:solidFill>
                <a:latin typeface="Times New Roman" panose="02020603050405020304" pitchFamily="18" charset="0"/>
                <a:ea typeface="楷体_GB2312" pitchFamily="49" charset="-122"/>
              </a:rPr>
              <a:t>反向阻断时电</a:t>
            </a:r>
          </a:p>
          <a:p>
            <a:pPr algn="ctr">
              <a:defRPr/>
            </a:pPr>
            <a:r>
              <a:rPr kumimoji="1" lang="zh-CN" altLang="en-US" b="1">
                <a:solidFill>
                  <a:srgbClr val="990000"/>
                </a:solidFill>
                <a:latin typeface="Times New Roman" panose="02020603050405020304" pitchFamily="18" charset="0"/>
                <a:ea typeface="楷体_GB2312" pitchFamily="49" charset="-122"/>
              </a:rPr>
              <a:t>阻很大，指针基本不动。</a:t>
            </a:r>
          </a:p>
        </p:txBody>
      </p:sp>
      <p:sp>
        <p:nvSpPr>
          <p:cNvPr id="18441" name="Text Box 9"/>
          <p:cNvSpPr txBox="1">
            <a:spLocks noChangeArrowheads="1"/>
          </p:cNvSpPr>
          <p:nvPr/>
        </p:nvSpPr>
        <p:spPr bwMode="auto">
          <a:xfrm>
            <a:off x="682625" y="4551363"/>
            <a:ext cx="7899400" cy="109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en-US" altLang="zh-CN" sz="2400">
                <a:solidFill>
                  <a:srgbClr val="000058"/>
                </a:solidFill>
                <a:latin typeface="Times New Roman" panose="02020603050405020304" pitchFamily="18" charset="0"/>
                <a:ea typeface="隶书" panose="02010509060101010101" pitchFamily="49" charset="-122"/>
              </a:rPr>
              <a:t>     </a:t>
            </a:r>
            <a:r>
              <a:rPr lang="zh-CN" altLang="en-US" sz="2400">
                <a:solidFill>
                  <a:srgbClr val="000058"/>
                </a:solidFill>
                <a:latin typeface="Times New Roman" panose="02020603050405020304" pitchFamily="18" charset="0"/>
                <a:ea typeface="隶书" panose="02010509060101010101" pitchFamily="49" charset="-122"/>
              </a:rPr>
              <a:t>选择万用表</a:t>
            </a:r>
            <a:r>
              <a:rPr lang="en-US" altLang="zh-CN" sz="2400">
                <a:solidFill>
                  <a:srgbClr val="000058"/>
                </a:solidFill>
                <a:latin typeface="Times New Roman" panose="02020603050405020304" pitchFamily="18" charset="0"/>
                <a:ea typeface="隶书" panose="02010509060101010101" pitchFamily="49" charset="-122"/>
              </a:rPr>
              <a:t>R</a:t>
            </a:r>
            <a:r>
              <a:rPr lang="en-US" altLang="zh-CN" b="1">
                <a:solidFill>
                  <a:srgbClr val="000048"/>
                </a:solidFill>
                <a:latin typeface="Verdana" panose="020B0604030504040204" pitchFamily="34" charset="0"/>
              </a:rPr>
              <a:t>×</a:t>
            </a:r>
            <a:r>
              <a:rPr lang="en-US" altLang="zh-CN" sz="2400">
                <a:solidFill>
                  <a:srgbClr val="000058"/>
                </a:solidFill>
                <a:latin typeface="Times New Roman" panose="02020603050405020304" pitchFamily="18" charset="0"/>
                <a:ea typeface="隶书" panose="02010509060101010101" pitchFamily="49" charset="-122"/>
              </a:rPr>
              <a:t>1k </a:t>
            </a:r>
            <a:r>
              <a:rPr lang="zh-CN" altLang="en-US" sz="2400">
                <a:solidFill>
                  <a:srgbClr val="000058"/>
                </a:solidFill>
                <a:latin typeface="Times New Roman" panose="02020603050405020304" pitchFamily="18" charset="0"/>
                <a:ea typeface="隶书" panose="02010509060101010101" pitchFamily="49" charset="-122"/>
              </a:rPr>
              <a:t>的欧姆档，其中黑表棒作为电源正极，</a:t>
            </a:r>
          </a:p>
          <a:p>
            <a:pPr algn="l" eaLnBrk="1" hangingPunct="1"/>
            <a:r>
              <a:rPr lang="zh-CN" altLang="en-US" sz="2400">
                <a:solidFill>
                  <a:srgbClr val="000058"/>
                </a:solidFill>
                <a:latin typeface="Times New Roman" panose="02020603050405020304" pitchFamily="18" charset="0"/>
                <a:ea typeface="隶书" panose="02010509060101010101" pitchFamily="49" charset="-122"/>
              </a:rPr>
              <a:t>红表棒作为电源负极，根据二极管正向导通、反向阻断的</a:t>
            </a:r>
          </a:p>
          <a:p>
            <a:pPr algn="l" eaLnBrk="1" hangingPunct="1"/>
            <a:r>
              <a:rPr lang="zh-CN" altLang="en-US" sz="2400">
                <a:solidFill>
                  <a:srgbClr val="000058"/>
                </a:solidFill>
                <a:latin typeface="Times New Roman" panose="02020603050405020304" pitchFamily="18" charset="0"/>
                <a:ea typeface="隶书" panose="02010509060101010101" pitchFamily="49" charset="-122"/>
              </a:rPr>
              <a:t>单向导电性将表棒对调一次即可测出其极性及好坏。</a:t>
            </a:r>
          </a:p>
        </p:txBody>
      </p:sp>
      <p:pic>
        <p:nvPicPr>
          <p:cNvPr id="18442" name="Picture 10" descr="j0343747[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08150" y="2554288"/>
            <a:ext cx="860425"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3" name="Picture 11" descr="j0343747[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73563" y="2409825"/>
            <a:ext cx="860425"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4" name="Picture 12" descr="MCj02921120000[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27088" y="5724525"/>
            <a:ext cx="1141412"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5" name="Text Box 13"/>
          <p:cNvSpPr txBox="1">
            <a:spLocks noChangeArrowheads="1"/>
          </p:cNvSpPr>
          <p:nvPr/>
        </p:nvSpPr>
        <p:spPr bwMode="auto">
          <a:xfrm>
            <a:off x="1979613" y="5799138"/>
            <a:ext cx="5467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rgbClr val="FF0066"/>
                </a:solidFill>
                <a:ea typeface="华文行楷" panose="02010800040101010101" pitchFamily="2" charset="-122"/>
              </a:rPr>
              <a:t>如何判断二级管的正负极呢？</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0" presetClass="entr" presetSubtype="0" fill="hold" grpId="0" nodeType="afterEffect">
                                  <p:stCondLst>
                                    <p:cond delay="0"/>
                                  </p:stCondLst>
                                  <p:iterate type="lt">
                                    <p:tmPct val="10000"/>
                                  </p:iterate>
                                  <p:childTnLst>
                                    <p:set>
                                      <p:cBhvr>
                                        <p:cTn id="6" dur="1" fill="hold">
                                          <p:stCondLst>
                                            <p:cond delay="0"/>
                                          </p:stCondLst>
                                        </p:cTn>
                                        <p:tgtEl>
                                          <p:spTgt spid="18434"/>
                                        </p:tgtEl>
                                        <p:attrNameLst>
                                          <p:attrName>style.visibility</p:attrName>
                                        </p:attrNameLst>
                                      </p:cBhvr>
                                      <p:to>
                                        <p:strVal val="visible"/>
                                      </p:to>
                                    </p:set>
                                    <p:animEffect transition="in" filter="fade">
                                      <p:cBhvr>
                                        <p:cTn id="7" dur="500"/>
                                        <p:tgtEl>
                                          <p:spTgt spid="18434"/>
                                        </p:tgtEl>
                                      </p:cBhvr>
                                    </p:animEffect>
                                    <p:anim calcmode="lin" valueType="num">
                                      <p:cBhvr>
                                        <p:cTn id="8" dur="500" fill="hold"/>
                                        <p:tgtEl>
                                          <p:spTgt spid="18434"/>
                                        </p:tgtEl>
                                        <p:attrNameLst>
                                          <p:attrName>ppt_x</p:attrName>
                                        </p:attrNameLst>
                                      </p:cBhvr>
                                      <p:tavLst>
                                        <p:tav tm="0">
                                          <p:val>
                                            <p:strVal val="#ppt_x-.1"/>
                                          </p:val>
                                        </p:tav>
                                        <p:tav tm="100000">
                                          <p:val>
                                            <p:strVal val="#ppt_x"/>
                                          </p:val>
                                        </p:tav>
                                      </p:tavLst>
                                    </p:anim>
                                    <p:anim calcmode="lin" valueType="num">
                                      <p:cBhvr>
                                        <p:cTn id="9" dur="500" fill="hold"/>
                                        <p:tgtEl>
                                          <p:spTgt spid="18434"/>
                                        </p:tgtEl>
                                        <p:attrNameLst>
                                          <p:attrName>ppt_y</p:attrName>
                                        </p:attrNameLst>
                                      </p:cBhvr>
                                      <p:tavLst>
                                        <p:tav tm="0">
                                          <p:val>
                                            <p:strVal val="#ppt_y"/>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18435"/>
                                        </p:tgtEl>
                                        <p:attrNameLst>
                                          <p:attrName>style.visibility</p:attrName>
                                        </p:attrNameLst>
                                      </p:cBhvr>
                                      <p:to>
                                        <p:strVal val="visible"/>
                                      </p:to>
                                    </p:set>
                                    <p:anim calcmode="discrete" valueType="clr">
                                      <p:cBhvr override="childStyle">
                                        <p:cTn id="14" dur="80"/>
                                        <p:tgtEl>
                                          <p:spTgt spid="18435"/>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8435"/>
                                        </p:tgtEl>
                                        <p:attrNameLst>
                                          <p:attrName>fillcolor</p:attrName>
                                        </p:attrNameLst>
                                      </p:cBhvr>
                                      <p:tavLst>
                                        <p:tav tm="0">
                                          <p:val>
                                            <p:clrVal>
                                              <a:schemeClr val="accent2"/>
                                            </p:clrVal>
                                          </p:val>
                                        </p:tav>
                                        <p:tav tm="50000">
                                          <p:val>
                                            <p:clrVal>
                                              <a:schemeClr val="hlink"/>
                                            </p:clrVal>
                                          </p:val>
                                        </p:tav>
                                      </p:tavLst>
                                    </p:anim>
                                    <p:set>
                                      <p:cBhvr>
                                        <p:cTn id="16" dur="80"/>
                                        <p:tgtEl>
                                          <p:spTgt spid="18435"/>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18" presetClass="entr" presetSubtype="12" fill="hold" nodeType="clickEffect">
                                  <p:stCondLst>
                                    <p:cond delay="0"/>
                                  </p:stCondLst>
                                  <p:childTnLst>
                                    <p:set>
                                      <p:cBhvr>
                                        <p:cTn id="20" dur="1" fill="hold">
                                          <p:stCondLst>
                                            <p:cond delay="0"/>
                                          </p:stCondLst>
                                        </p:cTn>
                                        <p:tgtEl>
                                          <p:spTgt spid="18436"/>
                                        </p:tgtEl>
                                        <p:attrNameLst>
                                          <p:attrName>style.visibility</p:attrName>
                                        </p:attrNameLst>
                                      </p:cBhvr>
                                      <p:to>
                                        <p:strVal val="visible"/>
                                      </p:to>
                                    </p:set>
                                    <p:animEffect transition="in" filter="strips(downLeft)">
                                      <p:cBhvr>
                                        <p:cTn id="21" dur="500"/>
                                        <p:tgtEl>
                                          <p:spTgt spid="18436"/>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18437"/>
                                        </p:tgtEl>
                                        <p:attrNameLst>
                                          <p:attrName>style.visibility</p:attrName>
                                        </p:attrNameLst>
                                      </p:cBhvr>
                                      <p:to>
                                        <p:strVal val="visible"/>
                                      </p:to>
                                    </p:set>
                                    <p:animEffect transition="in" filter="checkerboard(across)">
                                      <p:cBhvr>
                                        <p:cTn id="26" dur="500"/>
                                        <p:tgtEl>
                                          <p:spTgt spid="1843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8441">
                                            <p:txEl>
                                              <p:pRg st="0" end="0"/>
                                            </p:txEl>
                                          </p:spTgt>
                                        </p:tgtEl>
                                        <p:attrNameLst>
                                          <p:attrName>style.visibility</p:attrName>
                                        </p:attrNameLst>
                                      </p:cBhvr>
                                      <p:to>
                                        <p:strVal val="visible"/>
                                      </p:to>
                                    </p:set>
                                    <p:animEffect transition="in" filter="wipe(left)">
                                      <p:cBhvr>
                                        <p:cTn id="31" dur="2000"/>
                                        <p:tgtEl>
                                          <p:spTgt spid="18441">
                                            <p:txEl>
                                              <p:pRg st="0" end="0"/>
                                            </p:txEl>
                                          </p:spTgt>
                                        </p:tgtEl>
                                      </p:cBhvr>
                                    </p:animEffect>
                                  </p:childTnLst>
                                </p:cTn>
                              </p:par>
                            </p:childTnLst>
                          </p:cTn>
                        </p:par>
                        <p:par>
                          <p:cTn id="32" fill="hold">
                            <p:stCondLst>
                              <p:cond delay="2000"/>
                            </p:stCondLst>
                            <p:childTnLst>
                              <p:par>
                                <p:cTn id="33" presetID="22" presetClass="entr" presetSubtype="8" fill="hold" nodeType="afterEffect">
                                  <p:stCondLst>
                                    <p:cond delay="0"/>
                                  </p:stCondLst>
                                  <p:childTnLst>
                                    <p:set>
                                      <p:cBhvr>
                                        <p:cTn id="34" dur="1" fill="hold">
                                          <p:stCondLst>
                                            <p:cond delay="0"/>
                                          </p:stCondLst>
                                        </p:cTn>
                                        <p:tgtEl>
                                          <p:spTgt spid="18441">
                                            <p:txEl>
                                              <p:pRg st="1" end="1"/>
                                            </p:txEl>
                                          </p:spTgt>
                                        </p:tgtEl>
                                        <p:attrNameLst>
                                          <p:attrName>style.visibility</p:attrName>
                                        </p:attrNameLst>
                                      </p:cBhvr>
                                      <p:to>
                                        <p:strVal val="visible"/>
                                      </p:to>
                                    </p:set>
                                    <p:animEffect transition="in" filter="wipe(left)">
                                      <p:cBhvr>
                                        <p:cTn id="35" dur="2000"/>
                                        <p:tgtEl>
                                          <p:spTgt spid="18441">
                                            <p:txEl>
                                              <p:pRg st="1" end="1"/>
                                            </p:txEl>
                                          </p:spTgt>
                                        </p:tgtEl>
                                      </p:cBhvr>
                                    </p:animEffect>
                                  </p:childTnLst>
                                </p:cTn>
                              </p:par>
                            </p:childTnLst>
                          </p:cTn>
                        </p:par>
                        <p:par>
                          <p:cTn id="36" fill="hold">
                            <p:stCondLst>
                              <p:cond delay="4000"/>
                            </p:stCondLst>
                            <p:childTnLst>
                              <p:par>
                                <p:cTn id="37" presetID="22" presetClass="entr" presetSubtype="8" fill="hold" nodeType="afterEffect">
                                  <p:stCondLst>
                                    <p:cond delay="0"/>
                                  </p:stCondLst>
                                  <p:childTnLst>
                                    <p:set>
                                      <p:cBhvr>
                                        <p:cTn id="38" dur="1" fill="hold">
                                          <p:stCondLst>
                                            <p:cond delay="0"/>
                                          </p:stCondLst>
                                        </p:cTn>
                                        <p:tgtEl>
                                          <p:spTgt spid="18441">
                                            <p:txEl>
                                              <p:pRg st="2" end="2"/>
                                            </p:txEl>
                                          </p:spTgt>
                                        </p:tgtEl>
                                        <p:attrNameLst>
                                          <p:attrName>style.visibility</p:attrName>
                                        </p:attrNameLst>
                                      </p:cBhvr>
                                      <p:to>
                                        <p:strVal val="visible"/>
                                      </p:to>
                                    </p:set>
                                    <p:animEffect transition="in" filter="wipe(left)">
                                      <p:cBhvr>
                                        <p:cTn id="39" dur="2000"/>
                                        <p:tgtEl>
                                          <p:spTgt spid="18441">
                                            <p:txEl>
                                              <p:pRg st="2" end="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8" presetClass="entr" presetSubtype="3" fill="hold" nodeType="clickEffect">
                                  <p:stCondLst>
                                    <p:cond delay="0"/>
                                  </p:stCondLst>
                                  <p:childTnLst>
                                    <p:set>
                                      <p:cBhvr>
                                        <p:cTn id="43" dur="1" fill="hold">
                                          <p:stCondLst>
                                            <p:cond delay="0"/>
                                          </p:stCondLst>
                                        </p:cTn>
                                        <p:tgtEl>
                                          <p:spTgt spid="18442"/>
                                        </p:tgtEl>
                                        <p:attrNameLst>
                                          <p:attrName>style.visibility</p:attrName>
                                        </p:attrNameLst>
                                      </p:cBhvr>
                                      <p:to>
                                        <p:strVal val="visible"/>
                                      </p:to>
                                    </p:set>
                                    <p:animEffect transition="in" filter="strips(upRight)">
                                      <p:cBhvr>
                                        <p:cTn id="44" dur="500"/>
                                        <p:tgtEl>
                                          <p:spTgt spid="18442"/>
                                        </p:tgtEl>
                                      </p:cBhvr>
                                    </p:animEffect>
                                  </p:childTnLst>
                                </p:cTn>
                              </p:par>
                            </p:childTnLst>
                          </p:cTn>
                        </p:par>
                        <p:par>
                          <p:cTn id="45" fill="hold">
                            <p:stCondLst>
                              <p:cond delay="500"/>
                            </p:stCondLst>
                            <p:childTnLst>
                              <p:par>
                                <p:cTn id="46" presetID="27" presetClass="entr" presetSubtype="0" fill="hold" grpId="0" nodeType="afterEffect">
                                  <p:stCondLst>
                                    <p:cond delay="0"/>
                                  </p:stCondLst>
                                  <p:iterate type="lt">
                                    <p:tmPct val="50000"/>
                                  </p:iterate>
                                  <p:childTnLst>
                                    <p:set>
                                      <p:cBhvr>
                                        <p:cTn id="47" dur="1" fill="hold">
                                          <p:stCondLst>
                                            <p:cond delay="0"/>
                                          </p:stCondLst>
                                        </p:cTn>
                                        <p:tgtEl>
                                          <p:spTgt spid="18439"/>
                                        </p:tgtEl>
                                        <p:attrNameLst>
                                          <p:attrName>style.visibility</p:attrName>
                                        </p:attrNameLst>
                                      </p:cBhvr>
                                      <p:to>
                                        <p:strVal val="visible"/>
                                      </p:to>
                                    </p:set>
                                    <p:anim calcmode="discrete" valueType="clr">
                                      <p:cBhvr override="childStyle">
                                        <p:cTn id="48" dur="80"/>
                                        <p:tgtEl>
                                          <p:spTgt spid="18439"/>
                                        </p:tgtEl>
                                        <p:attrNameLst>
                                          <p:attrName>style.color</p:attrName>
                                        </p:attrNameLst>
                                      </p:cBhvr>
                                      <p:tavLst>
                                        <p:tav tm="0">
                                          <p:val>
                                            <p:clrVal>
                                              <a:schemeClr val="accent2"/>
                                            </p:clrVal>
                                          </p:val>
                                        </p:tav>
                                        <p:tav tm="50000">
                                          <p:val>
                                            <p:clrVal>
                                              <a:schemeClr val="hlink"/>
                                            </p:clrVal>
                                          </p:val>
                                        </p:tav>
                                      </p:tavLst>
                                    </p:anim>
                                    <p:anim calcmode="discrete" valueType="clr">
                                      <p:cBhvr>
                                        <p:cTn id="49" dur="80"/>
                                        <p:tgtEl>
                                          <p:spTgt spid="18439"/>
                                        </p:tgtEl>
                                        <p:attrNameLst>
                                          <p:attrName>fillcolor</p:attrName>
                                        </p:attrNameLst>
                                      </p:cBhvr>
                                      <p:tavLst>
                                        <p:tav tm="0">
                                          <p:val>
                                            <p:clrVal>
                                              <a:schemeClr val="accent2"/>
                                            </p:clrVal>
                                          </p:val>
                                        </p:tav>
                                        <p:tav tm="50000">
                                          <p:val>
                                            <p:clrVal>
                                              <a:schemeClr val="hlink"/>
                                            </p:clrVal>
                                          </p:val>
                                        </p:tav>
                                      </p:tavLst>
                                    </p:anim>
                                    <p:set>
                                      <p:cBhvr>
                                        <p:cTn id="50" dur="80"/>
                                        <p:tgtEl>
                                          <p:spTgt spid="18439"/>
                                        </p:tgtEl>
                                        <p:attrNameLst>
                                          <p:attrName>fill.type</p:attrName>
                                        </p:attrNameLst>
                                      </p:cBhvr>
                                      <p:to>
                                        <p:strVal val="solid"/>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18442"/>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8" presetClass="entr" presetSubtype="6" fill="hold" nodeType="clickEffect">
                                  <p:stCondLst>
                                    <p:cond delay="0"/>
                                  </p:stCondLst>
                                  <p:childTnLst>
                                    <p:set>
                                      <p:cBhvr>
                                        <p:cTn id="58" dur="1" fill="hold">
                                          <p:stCondLst>
                                            <p:cond delay="0"/>
                                          </p:stCondLst>
                                        </p:cTn>
                                        <p:tgtEl>
                                          <p:spTgt spid="18438"/>
                                        </p:tgtEl>
                                        <p:attrNameLst>
                                          <p:attrName>style.visibility</p:attrName>
                                        </p:attrNameLst>
                                      </p:cBhvr>
                                      <p:to>
                                        <p:strVal val="visible"/>
                                      </p:to>
                                    </p:set>
                                    <p:animEffect transition="in" filter="strips(downRight)">
                                      <p:cBhvr>
                                        <p:cTn id="59" dur="500"/>
                                        <p:tgtEl>
                                          <p:spTgt spid="18438"/>
                                        </p:tgtEl>
                                      </p:cBhvr>
                                    </p:animEffect>
                                  </p:childTnLst>
                                </p:cTn>
                              </p:par>
                            </p:childTnLst>
                          </p:cTn>
                        </p:par>
                        <p:par>
                          <p:cTn id="60" fill="hold">
                            <p:stCondLst>
                              <p:cond delay="500"/>
                            </p:stCondLst>
                            <p:childTnLst>
                              <p:par>
                                <p:cTn id="61" presetID="18" presetClass="entr" presetSubtype="3" fill="hold" nodeType="afterEffect">
                                  <p:stCondLst>
                                    <p:cond delay="0"/>
                                  </p:stCondLst>
                                  <p:childTnLst>
                                    <p:set>
                                      <p:cBhvr>
                                        <p:cTn id="62" dur="1" fill="hold">
                                          <p:stCondLst>
                                            <p:cond delay="0"/>
                                          </p:stCondLst>
                                        </p:cTn>
                                        <p:tgtEl>
                                          <p:spTgt spid="18443"/>
                                        </p:tgtEl>
                                        <p:attrNameLst>
                                          <p:attrName>style.visibility</p:attrName>
                                        </p:attrNameLst>
                                      </p:cBhvr>
                                      <p:to>
                                        <p:strVal val="visible"/>
                                      </p:to>
                                    </p:set>
                                    <p:animEffect transition="in" filter="strips(upRight)">
                                      <p:cBhvr>
                                        <p:cTn id="63" dur="500"/>
                                        <p:tgtEl>
                                          <p:spTgt spid="18443"/>
                                        </p:tgtEl>
                                      </p:cBhvr>
                                    </p:animEffect>
                                  </p:childTnLst>
                                </p:cTn>
                              </p:par>
                            </p:childTnLst>
                          </p:cTn>
                        </p:par>
                        <p:par>
                          <p:cTn id="64" fill="hold">
                            <p:stCondLst>
                              <p:cond delay="1000"/>
                            </p:stCondLst>
                            <p:childTnLst>
                              <p:par>
                                <p:cTn id="65" presetID="27" presetClass="entr" presetSubtype="0" fill="hold" grpId="0" nodeType="afterEffect">
                                  <p:stCondLst>
                                    <p:cond delay="0"/>
                                  </p:stCondLst>
                                  <p:iterate type="lt">
                                    <p:tmPct val="50000"/>
                                  </p:iterate>
                                  <p:childTnLst>
                                    <p:set>
                                      <p:cBhvr>
                                        <p:cTn id="66" dur="1" fill="hold">
                                          <p:stCondLst>
                                            <p:cond delay="0"/>
                                          </p:stCondLst>
                                        </p:cTn>
                                        <p:tgtEl>
                                          <p:spTgt spid="18440"/>
                                        </p:tgtEl>
                                        <p:attrNameLst>
                                          <p:attrName>style.visibility</p:attrName>
                                        </p:attrNameLst>
                                      </p:cBhvr>
                                      <p:to>
                                        <p:strVal val="visible"/>
                                      </p:to>
                                    </p:set>
                                    <p:anim calcmode="discrete" valueType="clr">
                                      <p:cBhvr override="childStyle">
                                        <p:cTn id="67" dur="80"/>
                                        <p:tgtEl>
                                          <p:spTgt spid="18440"/>
                                        </p:tgtEl>
                                        <p:attrNameLst>
                                          <p:attrName>style.color</p:attrName>
                                        </p:attrNameLst>
                                      </p:cBhvr>
                                      <p:tavLst>
                                        <p:tav tm="0">
                                          <p:val>
                                            <p:clrVal>
                                              <a:schemeClr val="accent2"/>
                                            </p:clrVal>
                                          </p:val>
                                        </p:tav>
                                        <p:tav tm="50000">
                                          <p:val>
                                            <p:clrVal>
                                              <a:schemeClr val="hlink"/>
                                            </p:clrVal>
                                          </p:val>
                                        </p:tav>
                                      </p:tavLst>
                                    </p:anim>
                                    <p:anim calcmode="discrete" valueType="clr">
                                      <p:cBhvr>
                                        <p:cTn id="68" dur="80"/>
                                        <p:tgtEl>
                                          <p:spTgt spid="18440"/>
                                        </p:tgtEl>
                                        <p:attrNameLst>
                                          <p:attrName>fillcolor</p:attrName>
                                        </p:attrNameLst>
                                      </p:cBhvr>
                                      <p:tavLst>
                                        <p:tav tm="0">
                                          <p:val>
                                            <p:clrVal>
                                              <a:schemeClr val="accent2"/>
                                            </p:clrVal>
                                          </p:val>
                                        </p:tav>
                                        <p:tav tm="50000">
                                          <p:val>
                                            <p:clrVal>
                                              <a:schemeClr val="hlink"/>
                                            </p:clrVal>
                                          </p:val>
                                        </p:tav>
                                      </p:tavLst>
                                    </p:anim>
                                    <p:set>
                                      <p:cBhvr>
                                        <p:cTn id="69" dur="80"/>
                                        <p:tgtEl>
                                          <p:spTgt spid="18440"/>
                                        </p:tgtEl>
                                        <p:attrNameLst>
                                          <p:attrName>fill.type</p:attrName>
                                        </p:attrNameLst>
                                      </p:cBhvr>
                                      <p:to>
                                        <p:strVal val="solid"/>
                                      </p:to>
                                    </p:set>
                                  </p:childTnLst>
                                </p:cTn>
                              </p:par>
                            </p:childTnLst>
                          </p:cTn>
                        </p:par>
                      </p:childTnLst>
                    </p:cTn>
                  </p:par>
                  <p:par>
                    <p:cTn id="70" fill="hold">
                      <p:stCondLst>
                        <p:cond delay="indefinite"/>
                      </p:stCondLst>
                      <p:childTnLst>
                        <p:par>
                          <p:cTn id="71" fill="hold">
                            <p:stCondLst>
                              <p:cond delay="0"/>
                            </p:stCondLst>
                            <p:childTnLst>
                              <p:par>
                                <p:cTn id="72" presetID="1" presetClass="exit" presetSubtype="0" fill="hold" nodeType="clickEffect">
                                  <p:stCondLst>
                                    <p:cond delay="0"/>
                                  </p:stCondLst>
                                  <p:childTnLst>
                                    <p:set>
                                      <p:cBhvr>
                                        <p:cTn id="73" dur="1" fill="hold">
                                          <p:stCondLst>
                                            <p:cond delay="0"/>
                                          </p:stCondLst>
                                        </p:cTn>
                                        <p:tgtEl>
                                          <p:spTgt spid="18443"/>
                                        </p:tgtEl>
                                        <p:attrNameLst>
                                          <p:attrName>style.visibility</p:attrName>
                                        </p:attrNameLst>
                                      </p:cBhvr>
                                      <p:to>
                                        <p:strVal val="hidden"/>
                                      </p:to>
                                    </p:set>
                                  </p:childTnLst>
                                </p:cTn>
                              </p:par>
                              <p:par>
                                <p:cTn id="74" presetID="33" presetClass="emph" presetSubtype="0" fill="remove" nodeType="withEffect">
                                  <p:stCondLst>
                                    <p:cond delay="0"/>
                                  </p:stCondLst>
                                  <p:childTnLst>
                                    <p:animClr clrSpc="rgb" dir="cw">
                                      <p:cBhvr override="childStyle">
                                        <p:cTn id="75" dur="1500" accel="50000" autoRev="1" fill="hold" tmFilter="0, 0; .33333, 1; 1, 1">
                                          <p:stCondLst>
                                            <p:cond delay="0"/>
                                          </p:stCondLst>
                                        </p:cTn>
                                        <p:tgtEl>
                                          <p:spTgt spid="18444"/>
                                        </p:tgtEl>
                                        <p:attrNameLst>
                                          <p:attrName>style.color</p:attrName>
                                        </p:attrNameLst>
                                      </p:cBhvr>
                                      <p:to>
                                        <a:schemeClr val="accent2"/>
                                      </p:to>
                                    </p:animClr>
                                    <p:animClr clrSpc="rgb" dir="cw">
                                      <p:cBhvr>
                                        <p:cTn id="76" dur="1500" accel="50000" autoRev="1" fill="hold" tmFilter="0, 0; .33333, 1; 1, 1">
                                          <p:stCondLst>
                                            <p:cond delay="0"/>
                                          </p:stCondLst>
                                        </p:cTn>
                                        <p:tgtEl>
                                          <p:spTgt spid="18444"/>
                                        </p:tgtEl>
                                        <p:attrNameLst>
                                          <p:attrName>fillcolor</p:attrName>
                                        </p:attrNameLst>
                                      </p:cBhvr>
                                      <p:to>
                                        <a:schemeClr val="accent2"/>
                                      </p:to>
                                    </p:animClr>
                                    <p:set>
                                      <p:cBhvr>
                                        <p:cTn id="77" dur="3000" fill="hold"/>
                                        <p:tgtEl>
                                          <p:spTgt spid="18444"/>
                                        </p:tgtEl>
                                        <p:attrNameLst>
                                          <p:attrName>fill.type</p:attrName>
                                        </p:attrNameLst>
                                      </p:cBhvr>
                                      <p:to>
                                        <p:strVal val="solid"/>
                                      </p:to>
                                    </p:set>
                                    <p:set>
                                      <p:cBhvr>
                                        <p:cTn id="78" dur="3000" fill="hold"/>
                                        <p:tgtEl>
                                          <p:spTgt spid="18444"/>
                                        </p:tgtEl>
                                        <p:attrNameLst>
                                          <p:attrName>fill.on</p:attrName>
                                        </p:attrNameLst>
                                      </p:cBhvr>
                                      <p:to>
                                        <p:strVal val="true"/>
                                      </p:to>
                                    </p:set>
                                    <p:animScale>
                                      <p:cBhvr>
                                        <p:cTn id="79" dur="1500" accel="50000" autoRev="1" fill="hold" tmFilter="0, 0; .33333, 1; 1, 1">
                                          <p:stCondLst>
                                            <p:cond delay="0"/>
                                          </p:stCondLst>
                                        </p:cTn>
                                        <p:tgtEl>
                                          <p:spTgt spid="18444"/>
                                        </p:tgtEl>
                                      </p:cBhvr>
                                      <p:from x="100000" y="100000"/>
                                      <p:to x="100000" y="140000"/>
                                    </p:animScale>
                                  </p:childTnLst>
                                </p:cTn>
                              </p:par>
                            </p:childTnLst>
                          </p:cTn>
                        </p:par>
                      </p:childTnLst>
                    </p:cTn>
                  </p:par>
                  <p:par>
                    <p:cTn id="80" fill="hold">
                      <p:stCondLst>
                        <p:cond delay="indefinite"/>
                      </p:stCondLst>
                      <p:childTnLst>
                        <p:par>
                          <p:cTn id="81" fill="hold">
                            <p:stCondLst>
                              <p:cond delay="0"/>
                            </p:stCondLst>
                            <p:childTnLst>
                              <p:par>
                                <p:cTn id="82" presetID="26" presetClass="emph" presetSubtype="0" fill="hold" grpId="0" nodeType="clickEffect">
                                  <p:stCondLst>
                                    <p:cond delay="0"/>
                                  </p:stCondLst>
                                  <p:childTnLst>
                                    <p:animEffect transition="out" filter="fade">
                                      <p:cBhvr>
                                        <p:cTn id="83" dur="500" tmFilter="0, 0; .2, .5; .8, .5; 1, 0"/>
                                        <p:tgtEl>
                                          <p:spTgt spid="18445"/>
                                        </p:tgtEl>
                                      </p:cBhvr>
                                    </p:animEffect>
                                    <p:animScale>
                                      <p:cBhvr>
                                        <p:cTn id="84" dur="250" autoRev="1" fill="hold"/>
                                        <p:tgtEl>
                                          <p:spTgt spid="1844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animBg="1"/>
      <p:bldP spid="18435" grpId="0"/>
      <p:bldP spid="18439" grpId="0" animBg="1"/>
      <p:bldP spid="18440" grpId="0" animBg="1"/>
      <p:bldP spid="1844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1573213" y="561975"/>
            <a:ext cx="5995987" cy="377825"/>
          </a:xfrm>
          <a:prstGeom prst="rect">
            <a:avLst/>
          </a:prstGeom>
          <a:gradFill rotWithShape="1">
            <a:gsLst>
              <a:gs pos="0">
                <a:srgbClr val="9BFF69">
                  <a:alpha val="51999"/>
                </a:srgbClr>
              </a:gs>
              <a:gs pos="100000">
                <a:srgbClr val="FFFFFF">
                  <a:alpha val="0"/>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5000"/>
              </a:lnSpc>
            </a:pPr>
            <a:r>
              <a:rPr lang="zh-CN" altLang="en-US" sz="2600">
                <a:solidFill>
                  <a:srgbClr val="000048"/>
                </a:solidFill>
                <a:latin typeface="Times New Roman" panose="02020603050405020304" pitchFamily="18" charset="0"/>
                <a:ea typeface="隶书" panose="02010509060101010101" pitchFamily="49" charset="-122"/>
              </a:rPr>
              <a:t>用万用表测试三极管好坏及极性的方法</a:t>
            </a:r>
          </a:p>
        </p:txBody>
      </p:sp>
      <p:sp>
        <p:nvSpPr>
          <p:cNvPr id="19459" name="Rectangle 3"/>
          <p:cNvSpPr>
            <a:spLocks noChangeArrowheads="1"/>
          </p:cNvSpPr>
          <p:nvPr/>
        </p:nvSpPr>
        <p:spPr bwMode="auto">
          <a:xfrm>
            <a:off x="658813" y="1030288"/>
            <a:ext cx="6207125"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eaLnBrk="1" hangingPunct="1"/>
            <a:r>
              <a:rPr lang="en-US" altLang="zh-CN" sz="2300">
                <a:solidFill>
                  <a:srgbClr val="003300"/>
                </a:solidFill>
                <a:latin typeface="Times New Roman" panose="02020603050405020304" pitchFamily="18" charset="0"/>
                <a:ea typeface="隶书" panose="02010509060101010101" pitchFamily="49" charset="-122"/>
              </a:rPr>
              <a:t>    </a:t>
            </a:r>
            <a:r>
              <a:rPr lang="zh-CN" altLang="en-US" sz="2300">
                <a:solidFill>
                  <a:srgbClr val="003300"/>
                </a:solidFill>
                <a:latin typeface="Times New Roman" panose="02020603050405020304" pitchFamily="18" charset="0"/>
                <a:ea typeface="隶书" panose="02010509060101010101" pitchFamily="49" charset="-122"/>
              </a:rPr>
              <a:t>用指针式万用表检测三极管的</a:t>
            </a:r>
            <a:r>
              <a:rPr lang="zh-CN" altLang="en-US" sz="2300">
                <a:solidFill>
                  <a:srgbClr val="990000"/>
                </a:solidFill>
                <a:latin typeface="Times New Roman" panose="02020603050405020304" pitchFamily="18" charset="0"/>
                <a:ea typeface="隶书" panose="02010509060101010101" pitchFamily="49" charset="-122"/>
              </a:rPr>
              <a:t>基极</a:t>
            </a:r>
            <a:r>
              <a:rPr lang="zh-CN" altLang="en-US" sz="2300">
                <a:solidFill>
                  <a:srgbClr val="003300"/>
                </a:solidFill>
                <a:latin typeface="Times New Roman" panose="02020603050405020304" pitchFamily="18" charset="0"/>
                <a:ea typeface="隶书" panose="02010509060101010101" pitchFamily="49" charset="-122"/>
              </a:rPr>
              <a:t>和</a:t>
            </a:r>
            <a:r>
              <a:rPr lang="zh-CN" altLang="en-US" sz="2300">
                <a:solidFill>
                  <a:srgbClr val="990000"/>
                </a:solidFill>
                <a:latin typeface="Times New Roman" panose="02020603050405020304" pitchFamily="18" charset="0"/>
                <a:ea typeface="隶书" panose="02010509060101010101" pitchFamily="49" charset="-122"/>
              </a:rPr>
              <a:t>管型</a:t>
            </a:r>
            <a:r>
              <a:rPr lang="zh-CN" altLang="en-US" sz="2300">
                <a:solidFill>
                  <a:srgbClr val="003300"/>
                </a:solidFill>
                <a:latin typeface="Times New Roman" panose="02020603050405020304" pitchFamily="18" charset="0"/>
                <a:ea typeface="隶书" panose="02010509060101010101" pitchFamily="49" charset="-122"/>
              </a:rPr>
              <a:t>：</a:t>
            </a:r>
          </a:p>
        </p:txBody>
      </p:sp>
      <p:grpSp>
        <p:nvGrpSpPr>
          <p:cNvPr id="19460" name="Group 4"/>
          <p:cNvGrpSpPr/>
          <p:nvPr/>
        </p:nvGrpSpPr>
        <p:grpSpPr bwMode="auto">
          <a:xfrm>
            <a:off x="4051300" y="3644900"/>
            <a:ext cx="844550" cy="833438"/>
            <a:chOff x="2469" y="1820"/>
            <a:chExt cx="532" cy="525"/>
          </a:xfrm>
        </p:grpSpPr>
        <p:pic>
          <p:nvPicPr>
            <p:cNvPr id="29769" name="Picture 5" descr="8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2" y="1820"/>
              <a:ext cx="235"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70" name="Line 6"/>
            <p:cNvSpPr>
              <a:spLocks noChangeShapeType="1"/>
            </p:cNvSpPr>
            <p:nvPr/>
          </p:nvSpPr>
          <p:spPr bwMode="auto">
            <a:xfrm flipH="1">
              <a:off x="2667" y="2020"/>
              <a:ext cx="9" cy="177"/>
            </a:xfrm>
            <a:prstGeom prst="line">
              <a:avLst/>
            </a:prstGeom>
            <a:noFill/>
            <a:ln w="28575">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71" name="Line 7"/>
            <p:cNvSpPr>
              <a:spLocks noChangeShapeType="1"/>
            </p:cNvSpPr>
            <p:nvPr/>
          </p:nvSpPr>
          <p:spPr bwMode="auto">
            <a:xfrm>
              <a:off x="2718" y="2035"/>
              <a:ext cx="8" cy="310"/>
            </a:xfrm>
            <a:prstGeom prst="line">
              <a:avLst/>
            </a:prstGeom>
            <a:noFill/>
            <a:ln w="28575">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72" name="Line 8"/>
            <p:cNvSpPr>
              <a:spLocks noChangeShapeType="1"/>
            </p:cNvSpPr>
            <p:nvPr/>
          </p:nvSpPr>
          <p:spPr bwMode="auto">
            <a:xfrm>
              <a:off x="2780" y="2054"/>
              <a:ext cx="18" cy="151"/>
            </a:xfrm>
            <a:prstGeom prst="line">
              <a:avLst/>
            </a:prstGeom>
            <a:noFill/>
            <a:ln w="28575">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73" name="Line 9"/>
            <p:cNvSpPr>
              <a:spLocks noChangeShapeType="1"/>
            </p:cNvSpPr>
            <p:nvPr/>
          </p:nvSpPr>
          <p:spPr bwMode="auto">
            <a:xfrm flipH="1">
              <a:off x="2469" y="2187"/>
              <a:ext cx="195" cy="106"/>
            </a:xfrm>
            <a:prstGeom prst="line">
              <a:avLst/>
            </a:prstGeom>
            <a:noFill/>
            <a:ln w="28575">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74" name="Line 10"/>
            <p:cNvSpPr>
              <a:spLocks noChangeShapeType="1"/>
            </p:cNvSpPr>
            <p:nvPr/>
          </p:nvSpPr>
          <p:spPr bwMode="auto">
            <a:xfrm>
              <a:off x="2798" y="2195"/>
              <a:ext cx="203" cy="141"/>
            </a:xfrm>
            <a:prstGeom prst="line">
              <a:avLst/>
            </a:prstGeom>
            <a:noFill/>
            <a:ln w="28575">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19467" name="Picture 11" descr="500型万用表"/>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3100" y="3863975"/>
            <a:ext cx="788988" cy="93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8" name="Line 12"/>
          <p:cNvSpPr>
            <a:spLocks noChangeShapeType="1"/>
          </p:cNvSpPr>
          <p:nvPr/>
        </p:nvSpPr>
        <p:spPr bwMode="auto">
          <a:xfrm flipH="1" flipV="1">
            <a:off x="5899150" y="3968750"/>
            <a:ext cx="215900" cy="274638"/>
          </a:xfrm>
          <a:prstGeom prst="line">
            <a:avLst/>
          </a:prstGeom>
          <a:noFill/>
          <a:ln w="9525">
            <a:solidFill>
              <a:srgbClr val="AC21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9469" name="Group 13"/>
          <p:cNvGrpSpPr/>
          <p:nvPr/>
        </p:nvGrpSpPr>
        <p:grpSpPr bwMode="auto">
          <a:xfrm>
            <a:off x="4449763" y="4392613"/>
            <a:ext cx="1982787" cy="766762"/>
            <a:chOff x="2754" y="2088"/>
            <a:chExt cx="1231" cy="688"/>
          </a:xfrm>
        </p:grpSpPr>
        <p:grpSp>
          <p:nvGrpSpPr>
            <p:cNvPr id="29763" name="Group 14"/>
            <p:cNvGrpSpPr/>
            <p:nvPr/>
          </p:nvGrpSpPr>
          <p:grpSpPr bwMode="auto">
            <a:xfrm rot="-5826713">
              <a:off x="2543" y="2299"/>
              <a:ext cx="460" cy="37"/>
              <a:chOff x="1693" y="2789"/>
              <a:chExt cx="461" cy="38"/>
            </a:xfrm>
          </p:grpSpPr>
          <p:sp>
            <p:nvSpPr>
              <p:cNvPr id="29766" name="Rectangle 15"/>
              <p:cNvSpPr>
                <a:spLocks noChangeArrowheads="1"/>
              </p:cNvSpPr>
              <p:nvPr/>
            </p:nvSpPr>
            <p:spPr bwMode="auto">
              <a:xfrm>
                <a:off x="1719" y="2789"/>
                <a:ext cx="337" cy="38"/>
              </a:xfrm>
              <a:prstGeom prst="rect">
                <a:avLst/>
              </a:prstGeom>
              <a:solidFill>
                <a:srgbClr val="AC2100"/>
              </a:solidFill>
              <a:ln w="9525">
                <a:solidFill>
                  <a:srgbClr val="AC21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29767" name="Line 16"/>
              <p:cNvSpPr>
                <a:spLocks noChangeShapeType="1"/>
              </p:cNvSpPr>
              <p:nvPr/>
            </p:nvSpPr>
            <p:spPr bwMode="auto">
              <a:xfrm>
                <a:off x="2038" y="2809"/>
                <a:ext cx="116" cy="0"/>
              </a:xfrm>
              <a:prstGeom prst="line">
                <a:avLst/>
              </a:prstGeom>
              <a:noFill/>
              <a:ln w="25400">
                <a:solidFill>
                  <a:srgbClr val="AC21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68" name="Oval 17"/>
              <p:cNvSpPr>
                <a:spLocks noChangeArrowheads="1"/>
              </p:cNvSpPr>
              <p:nvPr/>
            </p:nvSpPr>
            <p:spPr bwMode="auto">
              <a:xfrm>
                <a:off x="1693" y="2789"/>
                <a:ext cx="47" cy="38"/>
              </a:xfrm>
              <a:prstGeom prst="ellipse">
                <a:avLst/>
              </a:prstGeom>
              <a:solidFill>
                <a:srgbClr val="AC2100"/>
              </a:solidFill>
              <a:ln w="9525">
                <a:solidFill>
                  <a:srgbClr val="AC21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pic>
          <p:nvPicPr>
            <p:cNvPr id="29764" name="Picture 18" descr="8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5400000">
              <a:off x="3845" y="2152"/>
              <a:ext cx="14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AC2100"/>
                  </a:solidFill>
                  <a:miter lim="800000"/>
                  <a:headEnd/>
                  <a:tailEnd/>
                </a14:hiddenLine>
              </a:ext>
            </a:extLst>
          </p:spPr>
        </p:pic>
        <p:sp>
          <p:nvSpPr>
            <p:cNvPr id="29765" name="Freeform 19"/>
            <p:cNvSpPr/>
            <p:nvPr/>
          </p:nvSpPr>
          <p:spPr bwMode="auto">
            <a:xfrm>
              <a:off x="2800" y="2189"/>
              <a:ext cx="1180" cy="587"/>
            </a:xfrm>
            <a:custGeom>
              <a:avLst/>
              <a:gdLst>
                <a:gd name="T0" fmla="*/ 0 w 1180"/>
                <a:gd name="T1" fmla="*/ 337 h 587"/>
                <a:gd name="T2" fmla="*/ 89 w 1180"/>
                <a:gd name="T3" fmla="*/ 549 h 587"/>
                <a:gd name="T4" fmla="*/ 177 w 1180"/>
                <a:gd name="T5" fmla="*/ 567 h 587"/>
                <a:gd name="T6" fmla="*/ 665 w 1180"/>
                <a:gd name="T7" fmla="*/ 531 h 587"/>
                <a:gd name="T8" fmla="*/ 931 w 1180"/>
                <a:gd name="T9" fmla="*/ 469 h 587"/>
                <a:gd name="T10" fmla="*/ 1099 w 1180"/>
                <a:gd name="T11" fmla="*/ 310 h 587"/>
                <a:gd name="T12" fmla="*/ 1170 w 1180"/>
                <a:gd name="T13" fmla="*/ 142 h 587"/>
                <a:gd name="T14" fmla="*/ 1161 w 1180"/>
                <a:gd name="T15" fmla="*/ 71 h 587"/>
                <a:gd name="T16" fmla="*/ 1135 w 1180"/>
                <a:gd name="T17" fmla="*/ 0 h 5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80" h="587">
                  <a:moveTo>
                    <a:pt x="0" y="337"/>
                  </a:moveTo>
                  <a:cubicBezTo>
                    <a:pt x="30" y="424"/>
                    <a:pt x="60" y="511"/>
                    <a:pt x="89" y="549"/>
                  </a:cubicBezTo>
                  <a:cubicBezTo>
                    <a:pt x="118" y="587"/>
                    <a:pt x="81" y="570"/>
                    <a:pt x="177" y="567"/>
                  </a:cubicBezTo>
                  <a:cubicBezTo>
                    <a:pt x="273" y="564"/>
                    <a:pt x="539" y="547"/>
                    <a:pt x="665" y="531"/>
                  </a:cubicBezTo>
                  <a:cubicBezTo>
                    <a:pt x="791" y="515"/>
                    <a:pt x="859" y="506"/>
                    <a:pt x="931" y="469"/>
                  </a:cubicBezTo>
                  <a:cubicBezTo>
                    <a:pt x="1003" y="432"/>
                    <a:pt x="1059" y="364"/>
                    <a:pt x="1099" y="310"/>
                  </a:cubicBezTo>
                  <a:cubicBezTo>
                    <a:pt x="1139" y="256"/>
                    <a:pt x="1160" y="182"/>
                    <a:pt x="1170" y="142"/>
                  </a:cubicBezTo>
                  <a:cubicBezTo>
                    <a:pt x="1180" y="102"/>
                    <a:pt x="1167" y="95"/>
                    <a:pt x="1161" y="71"/>
                  </a:cubicBezTo>
                  <a:cubicBezTo>
                    <a:pt x="1155" y="47"/>
                    <a:pt x="1145" y="23"/>
                    <a:pt x="1135" y="0"/>
                  </a:cubicBezTo>
                </a:path>
              </a:pathLst>
            </a:custGeom>
            <a:noFill/>
            <a:ln w="22225" cmpd="sng">
              <a:solidFill>
                <a:srgbClr val="AC21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476" name="Group 20"/>
          <p:cNvGrpSpPr/>
          <p:nvPr/>
        </p:nvGrpSpPr>
        <p:grpSpPr bwMode="auto">
          <a:xfrm>
            <a:off x="3784600" y="4340225"/>
            <a:ext cx="2767013" cy="914400"/>
            <a:chOff x="2282" y="2019"/>
            <a:chExt cx="1814" cy="832"/>
          </a:xfrm>
        </p:grpSpPr>
        <p:grpSp>
          <p:nvGrpSpPr>
            <p:cNvPr id="29758" name="Group 21"/>
            <p:cNvGrpSpPr/>
            <p:nvPr/>
          </p:nvGrpSpPr>
          <p:grpSpPr bwMode="auto">
            <a:xfrm rot="-3944203">
              <a:off x="2180" y="2231"/>
              <a:ext cx="461" cy="38"/>
              <a:chOff x="1693" y="2789"/>
              <a:chExt cx="461" cy="38"/>
            </a:xfrm>
          </p:grpSpPr>
          <p:sp>
            <p:nvSpPr>
              <p:cNvPr id="29760" name="Rectangle 22"/>
              <p:cNvSpPr>
                <a:spLocks noChangeArrowheads="1"/>
              </p:cNvSpPr>
              <p:nvPr/>
            </p:nvSpPr>
            <p:spPr bwMode="auto">
              <a:xfrm>
                <a:off x="1719" y="2789"/>
                <a:ext cx="337" cy="38"/>
              </a:xfrm>
              <a:prstGeom prst="rect">
                <a:avLst/>
              </a:prstGeom>
              <a:solidFill>
                <a:schemeClr val="bg2"/>
              </a:solidFill>
              <a:ln w="9525">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29761" name="Line 23"/>
              <p:cNvSpPr>
                <a:spLocks noChangeShapeType="1"/>
              </p:cNvSpPr>
              <p:nvPr/>
            </p:nvSpPr>
            <p:spPr bwMode="auto">
              <a:xfrm>
                <a:off x="2038" y="2809"/>
                <a:ext cx="116" cy="0"/>
              </a:xfrm>
              <a:prstGeom prst="line">
                <a:avLst/>
              </a:prstGeom>
              <a:noFill/>
              <a:ln w="254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62" name="Oval 24"/>
              <p:cNvSpPr>
                <a:spLocks noChangeArrowheads="1"/>
              </p:cNvSpPr>
              <p:nvPr/>
            </p:nvSpPr>
            <p:spPr bwMode="auto">
              <a:xfrm>
                <a:off x="1693" y="2789"/>
                <a:ext cx="47" cy="38"/>
              </a:xfrm>
              <a:prstGeom prst="ellipse">
                <a:avLst/>
              </a:prstGeom>
              <a:solidFill>
                <a:schemeClr val="tx2"/>
              </a:solidFill>
              <a:ln w="9525">
                <a:solidFill>
                  <a:schemeClr val="bg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sp>
          <p:nvSpPr>
            <p:cNvPr id="29759" name="Freeform 25"/>
            <p:cNvSpPr/>
            <p:nvPr/>
          </p:nvSpPr>
          <p:spPr bwMode="auto">
            <a:xfrm>
              <a:off x="2282" y="2152"/>
              <a:ext cx="1814" cy="699"/>
            </a:xfrm>
            <a:custGeom>
              <a:avLst/>
              <a:gdLst>
                <a:gd name="T0" fmla="*/ 40 w 1814"/>
                <a:gd name="T1" fmla="*/ 280 h 699"/>
                <a:gd name="T2" fmla="*/ 40 w 1814"/>
                <a:gd name="T3" fmla="*/ 472 h 699"/>
                <a:gd name="T4" fmla="*/ 278 w 1814"/>
                <a:gd name="T5" fmla="*/ 618 h 699"/>
                <a:gd name="T6" fmla="*/ 735 w 1814"/>
                <a:gd name="T7" fmla="*/ 691 h 699"/>
                <a:gd name="T8" fmla="*/ 1421 w 1814"/>
                <a:gd name="T9" fmla="*/ 646 h 699"/>
                <a:gd name="T10" fmla="*/ 1750 w 1814"/>
                <a:gd name="T11" fmla="*/ 371 h 699"/>
                <a:gd name="T12" fmla="*/ 1805 w 1814"/>
                <a:gd name="T13" fmla="*/ 88 h 699"/>
                <a:gd name="T14" fmla="*/ 1750 w 1814"/>
                <a:gd name="T15" fmla="*/ 6 h 699"/>
                <a:gd name="T16" fmla="*/ 1686 w 1814"/>
                <a:gd name="T17" fmla="*/ 51 h 6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14" h="699">
                  <a:moveTo>
                    <a:pt x="40" y="280"/>
                  </a:moveTo>
                  <a:cubicBezTo>
                    <a:pt x="20" y="348"/>
                    <a:pt x="0" y="416"/>
                    <a:pt x="40" y="472"/>
                  </a:cubicBezTo>
                  <a:cubicBezTo>
                    <a:pt x="80" y="528"/>
                    <a:pt x="162" y="582"/>
                    <a:pt x="278" y="618"/>
                  </a:cubicBezTo>
                  <a:cubicBezTo>
                    <a:pt x="394" y="654"/>
                    <a:pt x="545" y="686"/>
                    <a:pt x="735" y="691"/>
                  </a:cubicBezTo>
                  <a:cubicBezTo>
                    <a:pt x="925" y="696"/>
                    <a:pt x="1252" y="699"/>
                    <a:pt x="1421" y="646"/>
                  </a:cubicBezTo>
                  <a:cubicBezTo>
                    <a:pt x="1590" y="593"/>
                    <a:pt x="1686" y="464"/>
                    <a:pt x="1750" y="371"/>
                  </a:cubicBezTo>
                  <a:cubicBezTo>
                    <a:pt x="1814" y="278"/>
                    <a:pt x="1805" y="149"/>
                    <a:pt x="1805" y="88"/>
                  </a:cubicBezTo>
                  <a:cubicBezTo>
                    <a:pt x="1805" y="27"/>
                    <a:pt x="1770" y="12"/>
                    <a:pt x="1750" y="6"/>
                  </a:cubicBezTo>
                  <a:cubicBezTo>
                    <a:pt x="1730" y="0"/>
                    <a:pt x="1694" y="39"/>
                    <a:pt x="1686" y="51"/>
                  </a:cubicBezTo>
                </a:path>
              </a:pathLst>
            </a:custGeom>
            <a:noFill/>
            <a:ln w="22225">
              <a:solidFill>
                <a:schemeClr val="bg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9482" name="Line 26"/>
          <p:cNvSpPr>
            <a:spLocks noChangeShapeType="1"/>
          </p:cNvSpPr>
          <p:nvPr/>
        </p:nvSpPr>
        <p:spPr bwMode="auto">
          <a:xfrm flipH="1" flipV="1">
            <a:off x="5894388" y="3965575"/>
            <a:ext cx="215900" cy="274638"/>
          </a:xfrm>
          <a:prstGeom prst="line">
            <a:avLst/>
          </a:prstGeom>
          <a:noFill/>
          <a:ln w="9525">
            <a:solidFill>
              <a:srgbClr val="AC21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9483" name="Group 27"/>
          <p:cNvGrpSpPr/>
          <p:nvPr/>
        </p:nvGrpSpPr>
        <p:grpSpPr bwMode="auto">
          <a:xfrm>
            <a:off x="4930775" y="4391025"/>
            <a:ext cx="1458913" cy="639763"/>
            <a:chOff x="3076" y="2068"/>
            <a:chExt cx="892" cy="553"/>
          </a:xfrm>
        </p:grpSpPr>
        <p:grpSp>
          <p:nvGrpSpPr>
            <p:cNvPr id="29753" name="Group 28"/>
            <p:cNvGrpSpPr/>
            <p:nvPr/>
          </p:nvGrpSpPr>
          <p:grpSpPr bwMode="auto">
            <a:xfrm rot="3944203" flipH="1">
              <a:off x="2864" y="2280"/>
              <a:ext cx="461" cy="38"/>
              <a:chOff x="1693" y="2789"/>
              <a:chExt cx="461" cy="38"/>
            </a:xfrm>
          </p:grpSpPr>
          <p:sp>
            <p:nvSpPr>
              <p:cNvPr id="29755" name="Rectangle 29"/>
              <p:cNvSpPr>
                <a:spLocks noChangeArrowheads="1"/>
              </p:cNvSpPr>
              <p:nvPr/>
            </p:nvSpPr>
            <p:spPr bwMode="auto">
              <a:xfrm>
                <a:off x="1719" y="2789"/>
                <a:ext cx="337" cy="38"/>
              </a:xfrm>
              <a:prstGeom prst="rect">
                <a:avLst/>
              </a:prstGeom>
              <a:solidFill>
                <a:schemeClr val="bg2"/>
              </a:solidFill>
              <a:ln w="9525">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29756" name="Line 30"/>
              <p:cNvSpPr>
                <a:spLocks noChangeShapeType="1"/>
              </p:cNvSpPr>
              <p:nvPr/>
            </p:nvSpPr>
            <p:spPr bwMode="auto">
              <a:xfrm>
                <a:off x="2038" y="2809"/>
                <a:ext cx="116" cy="0"/>
              </a:xfrm>
              <a:prstGeom prst="line">
                <a:avLst/>
              </a:prstGeom>
              <a:noFill/>
              <a:ln w="254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57" name="Oval 31"/>
              <p:cNvSpPr>
                <a:spLocks noChangeArrowheads="1"/>
              </p:cNvSpPr>
              <p:nvPr/>
            </p:nvSpPr>
            <p:spPr bwMode="auto">
              <a:xfrm>
                <a:off x="1693" y="2789"/>
                <a:ext cx="47" cy="38"/>
              </a:xfrm>
              <a:prstGeom prst="ellipse">
                <a:avLst/>
              </a:prstGeom>
              <a:solidFill>
                <a:schemeClr val="bg2"/>
              </a:solidFill>
              <a:ln w="9525">
                <a:solidFill>
                  <a:schemeClr val="bg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sp>
          <p:nvSpPr>
            <p:cNvPr id="29754" name="Freeform 32"/>
            <p:cNvSpPr/>
            <p:nvPr/>
          </p:nvSpPr>
          <p:spPr bwMode="auto">
            <a:xfrm>
              <a:off x="3182" y="2258"/>
              <a:ext cx="786" cy="363"/>
            </a:xfrm>
            <a:custGeom>
              <a:avLst/>
              <a:gdLst>
                <a:gd name="T0" fmla="*/ 0 w 786"/>
                <a:gd name="T1" fmla="*/ 238 h 363"/>
                <a:gd name="T2" fmla="*/ 119 w 786"/>
                <a:gd name="T3" fmla="*/ 320 h 363"/>
                <a:gd name="T4" fmla="*/ 347 w 786"/>
                <a:gd name="T5" fmla="*/ 357 h 363"/>
                <a:gd name="T6" fmla="*/ 539 w 786"/>
                <a:gd name="T7" fmla="*/ 284 h 363"/>
                <a:gd name="T8" fmla="*/ 713 w 786"/>
                <a:gd name="T9" fmla="*/ 110 h 363"/>
                <a:gd name="T10" fmla="*/ 786 w 786"/>
                <a:gd name="T11" fmla="*/ 0 h 36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86" h="363">
                  <a:moveTo>
                    <a:pt x="0" y="238"/>
                  </a:moveTo>
                  <a:cubicBezTo>
                    <a:pt x="30" y="269"/>
                    <a:pt x="61" y="300"/>
                    <a:pt x="119" y="320"/>
                  </a:cubicBezTo>
                  <a:cubicBezTo>
                    <a:pt x="177" y="340"/>
                    <a:pt x="277" y="363"/>
                    <a:pt x="347" y="357"/>
                  </a:cubicBezTo>
                  <a:cubicBezTo>
                    <a:pt x="417" y="351"/>
                    <a:pt x="478" y="325"/>
                    <a:pt x="539" y="284"/>
                  </a:cubicBezTo>
                  <a:cubicBezTo>
                    <a:pt x="600" y="243"/>
                    <a:pt x="672" y="157"/>
                    <a:pt x="713" y="110"/>
                  </a:cubicBezTo>
                  <a:cubicBezTo>
                    <a:pt x="754" y="63"/>
                    <a:pt x="770" y="31"/>
                    <a:pt x="786" y="0"/>
                  </a:cubicBezTo>
                </a:path>
              </a:pathLst>
            </a:custGeom>
            <a:noFill/>
            <a:ln w="22225" cap="flat">
              <a:solidFill>
                <a:schemeClr val="bg2"/>
              </a:solidFill>
              <a:prstDash val="solid"/>
              <a:round/>
            </a:ln>
            <a:effectLst/>
            <a:extLst>
              <a:ext uri="{909E8E84-426E-40DD-AFC4-6F175D3DCCD1}">
                <a14:hiddenFill xmlns:a14="http://schemas.microsoft.com/office/drawing/2010/main">
                  <a:solidFill>
                    <a:srgbClr val="AC21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9489" name="AutoShape 33"/>
          <p:cNvSpPr>
            <a:spLocks noChangeArrowheads="1"/>
          </p:cNvSpPr>
          <p:nvPr/>
        </p:nvSpPr>
        <p:spPr bwMode="auto">
          <a:xfrm>
            <a:off x="4540250" y="2640013"/>
            <a:ext cx="1946275" cy="908050"/>
          </a:xfrm>
          <a:prstGeom prst="wedgeRoundRectCallout">
            <a:avLst>
              <a:gd name="adj1" fmla="val 21861"/>
              <a:gd name="adj2" fmla="val 103495"/>
              <a:gd name="adj3" fmla="val 16667"/>
            </a:avLst>
          </a:prstGeom>
          <a:gradFill rotWithShape="1">
            <a:gsLst>
              <a:gs pos="0">
                <a:schemeClr val="accent1">
                  <a:gamma/>
                  <a:tint val="0"/>
                  <a:invGamma/>
                  <a:alpha val="0"/>
                </a:schemeClr>
              </a:gs>
              <a:gs pos="100000">
                <a:schemeClr val="accent1"/>
              </a:gs>
            </a:gsLst>
            <a:lin ang="2700000" scaled="1"/>
          </a:gradFill>
          <a:ln w="19050">
            <a:solidFill>
              <a:srgbClr val="000048"/>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defRPr/>
            </a:pPr>
            <a:r>
              <a:rPr kumimoji="1" lang="zh-CN" altLang="en-US" b="1">
                <a:solidFill>
                  <a:srgbClr val="990000"/>
                </a:solidFill>
                <a:latin typeface="Times New Roman" panose="02020603050405020304" pitchFamily="18" charset="0"/>
                <a:ea typeface="楷体_GB2312" pitchFamily="49" charset="-122"/>
              </a:rPr>
              <a:t>指针不动，说明管子反偏截止，因此为</a:t>
            </a:r>
            <a:r>
              <a:rPr kumimoji="1" lang="en-US" altLang="zh-CN" b="1">
                <a:solidFill>
                  <a:srgbClr val="990000"/>
                </a:solidFill>
                <a:latin typeface="Times New Roman" panose="02020603050405020304" pitchFamily="18" charset="0"/>
                <a:ea typeface="楷体_GB2312" pitchFamily="49" charset="-122"/>
              </a:rPr>
              <a:t>NPN</a:t>
            </a:r>
            <a:r>
              <a:rPr kumimoji="1" lang="zh-CN" altLang="en-US" b="1">
                <a:solidFill>
                  <a:srgbClr val="990000"/>
                </a:solidFill>
                <a:latin typeface="Times New Roman" panose="02020603050405020304" pitchFamily="18" charset="0"/>
                <a:ea typeface="楷体_GB2312" pitchFamily="49" charset="-122"/>
              </a:rPr>
              <a:t>型。</a:t>
            </a:r>
          </a:p>
        </p:txBody>
      </p:sp>
      <p:sp>
        <p:nvSpPr>
          <p:cNvPr id="19490" name="Rectangle 34"/>
          <p:cNvSpPr>
            <a:spLocks noChangeArrowheads="1"/>
          </p:cNvSpPr>
          <p:nvPr/>
        </p:nvSpPr>
        <p:spPr bwMode="auto">
          <a:xfrm>
            <a:off x="538163" y="1419225"/>
            <a:ext cx="7956550" cy="1052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eaLnBrk="1" hangingPunct="1"/>
            <a:r>
              <a:rPr lang="en-US" altLang="zh-CN" sz="2300">
                <a:solidFill>
                  <a:srgbClr val="000048"/>
                </a:solidFill>
                <a:latin typeface="Times New Roman" panose="02020603050405020304" pitchFamily="18" charset="0"/>
                <a:ea typeface="隶书" panose="02010509060101010101" pitchFamily="49" charset="-122"/>
              </a:rPr>
              <a:t>  </a:t>
            </a:r>
            <a:r>
              <a:rPr lang="zh-CN" altLang="en-US" sz="2300">
                <a:solidFill>
                  <a:srgbClr val="000048"/>
                </a:solidFill>
                <a:latin typeface="Times New Roman" panose="02020603050405020304" pitchFamily="18" charset="0"/>
                <a:ea typeface="隶书" panose="02010509060101010101" pitchFamily="49" charset="-122"/>
              </a:rPr>
              <a:t>先将万用表置于</a:t>
            </a:r>
            <a:r>
              <a:rPr lang="en-US" altLang="zh-CN" sz="2300">
                <a:solidFill>
                  <a:srgbClr val="000048"/>
                </a:solidFill>
                <a:latin typeface="Times New Roman" panose="02020603050405020304" pitchFamily="18" charset="0"/>
                <a:ea typeface="隶书" panose="02010509060101010101" pitchFamily="49" charset="-122"/>
              </a:rPr>
              <a:t>R×lk </a:t>
            </a:r>
            <a:r>
              <a:rPr lang="zh-CN" altLang="en-US" sz="2300">
                <a:solidFill>
                  <a:srgbClr val="000048"/>
                </a:solidFill>
                <a:latin typeface="Times New Roman" panose="02020603050405020304" pitchFamily="18" charset="0"/>
                <a:ea typeface="隶书" panose="02010509060101010101" pitchFamily="49" charset="-122"/>
              </a:rPr>
              <a:t>欧姆档，将红表棒接假定的基极</a:t>
            </a:r>
            <a:r>
              <a:rPr lang="en-US" altLang="zh-CN" sz="2300">
                <a:solidFill>
                  <a:srgbClr val="000048"/>
                </a:solidFill>
                <a:latin typeface="Times New Roman" panose="02020603050405020304" pitchFamily="18" charset="0"/>
                <a:ea typeface="隶书" panose="02010509060101010101" pitchFamily="49" charset="-122"/>
              </a:rPr>
              <a:t>B</a:t>
            </a:r>
            <a:r>
              <a:rPr lang="zh-CN" altLang="en-US" sz="2300">
                <a:solidFill>
                  <a:srgbClr val="000048"/>
                </a:solidFill>
                <a:latin typeface="Times New Roman" panose="02020603050405020304" pitchFamily="18" charset="0"/>
                <a:ea typeface="隶书" panose="02010509060101010101" pitchFamily="49" charset="-122"/>
              </a:rPr>
              <a:t>，黑表棒分别与另两个极相接触，观测到指针不动</a:t>
            </a:r>
            <a:r>
              <a:rPr lang="en-US" altLang="zh-CN" sz="2300">
                <a:solidFill>
                  <a:srgbClr val="000048"/>
                </a:solidFill>
                <a:latin typeface="Times New Roman" panose="02020603050405020304" pitchFamily="18" charset="0"/>
                <a:ea typeface="隶书" panose="02010509060101010101" pitchFamily="49" charset="-122"/>
              </a:rPr>
              <a:t>(</a:t>
            </a:r>
            <a:r>
              <a:rPr lang="zh-CN" altLang="en-US" sz="2300">
                <a:solidFill>
                  <a:srgbClr val="000048"/>
                </a:solidFill>
                <a:latin typeface="Times New Roman" panose="02020603050405020304" pitchFamily="18" charset="0"/>
                <a:ea typeface="隶书" panose="02010509060101010101" pitchFamily="49" charset="-122"/>
              </a:rPr>
              <a:t>或近满偏</a:t>
            </a:r>
            <a:r>
              <a:rPr lang="en-US" altLang="zh-CN" sz="2300">
                <a:solidFill>
                  <a:srgbClr val="000048"/>
                </a:solidFill>
                <a:latin typeface="Times New Roman" panose="02020603050405020304" pitchFamily="18" charset="0"/>
                <a:ea typeface="隶书" panose="02010509060101010101" pitchFamily="49" charset="-122"/>
              </a:rPr>
              <a:t>)</a:t>
            </a:r>
            <a:r>
              <a:rPr lang="zh-CN" altLang="en-US" sz="2300">
                <a:solidFill>
                  <a:srgbClr val="000048"/>
                </a:solidFill>
                <a:latin typeface="Times New Roman" panose="02020603050405020304" pitchFamily="18" charset="0"/>
                <a:ea typeface="隶书" panose="02010509060101010101" pitchFamily="49" charset="-122"/>
              </a:rPr>
              <a:t>时，则假定的基极是正确的</a:t>
            </a:r>
            <a:r>
              <a:rPr lang="en-US" altLang="zh-CN" sz="2300">
                <a:solidFill>
                  <a:srgbClr val="000048"/>
                </a:solidFill>
                <a:latin typeface="Times New Roman" panose="02020603050405020304" pitchFamily="18" charset="0"/>
                <a:ea typeface="隶书" panose="02010509060101010101" pitchFamily="49" charset="-122"/>
              </a:rPr>
              <a:t>;</a:t>
            </a:r>
            <a:r>
              <a:rPr lang="zh-CN" altLang="en-US" sz="2300">
                <a:solidFill>
                  <a:srgbClr val="000048"/>
                </a:solidFill>
                <a:latin typeface="Times New Roman" panose="02020603050405020304" pitchFamily="18" charset="0"/>
                <a:ea typeface="隶书" panose="02010509060101010101" pitchFamily="49" charset="-122"/>
              </a:rPr>
              <a:t>且晶体管类型为</a:t>
            </a:r>
            <a:r>
              <a:rPr lang="en-US" altLang="zh-CN" sz="2300">
                <a:solidFill>
                  <a:srgbClr val="000048"/>
                </a:solidFill>
                <a:latin typeface="Times New Roman" panose="02020603050405020304" pitchFamily="18" charset="0"/>
                <a:ea typeface="隶书" panose="02010509060101010101" pitchFamily="49" charset="-122"/>
              </a:rPr>
              <a:t>NPN</a:t>
            </a:r>
            <a:r>
              <a:rPr lang="zh-CN" altLang="en-US" sz="2300">
                <a:solidFill>
                  <a:srgbClr val="000048"/>
                </a:solidFill>
                <a:latin typeface="Times New Roman" panose="02020603050405020304" pitchFamily="18" charset="0"/>
                <a:ea typeface="隶书" panose="02010509060101010101" pitchFamily="49" charset="-122"/>
              </a:rPr>
              <a:t>型（或</a:t>
            </a:r>
            <a:r>
              <a:rPr lang="en-US" altLang="zh-CN" sz="2300">
                <a:solidFill>
                  <a:srgbClr val="000048"/>
                </a:solidFill>
                <a:latin typeface="Times New Roman" panose="02020603050405020304" pitchFamily="18" charset="0"/>
                <a:ea typeface="隶书" panose="02010509060101010101" pitchFamily="49" charset="-122"/>
              </a:rPr>
              <a:t>PNP</a:t>
            </a:r>
            <a:r>
              <a:rPr lang="zh-CN" altLang="en-US" sz="2300">
                <a:solidFill>
                  <a:srgbClr val="000048"/>
                </a:solidFill>
                <a:latin typeface="Times New Roman" panose="02020603050405020304" pitchFamily="18" charset="0"/>
                <a:ea typeface="隶书" panose="02010509060101010101" pitchFamily="49" charset="-122"/>
              </a:rPr>
              <a:t>型）。</a:t>
            </a:r>
          </a:p>
        </p:txBody>
      </p:sp>
      <p:sp>
        <p:nvSpPr>
          <p:cNvPr id="19491" name="Rectangle 35"/>
          <p:cNvSpPr>
            <a:spLocks noChangeArrowheads="1"/>
          </p:cNvSpPr>
          <p:nvPr/>
        </p:nvSpPr>
        <p:spPr bwMode="auto">
          <a:xfrm>
            <a:off x="493713" y="5302250"/>
            <a:ext cx="6257925"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eaLnBrk="1" hangingPunct="1">
              <a:defRPr/>
            </a:pPr>
            <a:r>
              <a:rPr lang="zh-CN" altLang="en-US" sz="2400">
                <a:solidFill>
                  <a:srgbClr val="003300"/>
                </a:solidFill>
                <a:latin typeface="Times New Roman" panose="02020603050405020304" pitchFamily="18" charset="0"/>
                <a:ea typeface="隶书" panose="02010509060101010101" pitchFamily="49" charset="-122"/>
              </a:rPr>
              <a:t>如果把红黑两表棒对调后，指针仍不动</a:t>
            </a:r>
            <a:r>
              <a:rPr lang="en-US" altLang="zh-CN" sz="2400">
                <a:solidFill>
                  <a:srgbClr val="003300"/>
                </a:solidFill>
                <a:latin typeface="Times New Roman" panose="02020603050405020304" pitchFamily="18" charset="0"/>
                <a:ea typeface="隶书" panose="02010509060101010101" pitchFamily="49" charset="-122"/>
              </a:rPr>
              <a:t>(</a:t>
            </a:r>
            <a:r>
              <a:rPr lang="zh-CN" altLang="en-US" sz="2400">
                <a:solidFill>
                  <a:srgbClr val="003300"/>
                </a:solidFill>
                <a:latin typeface="Times New Roman" panose="02020603050405020304" pitchFamily="18" charset="0"/>
                <a:ea typeface="隶书" panose="02010509060101010101" pitchFamily="49" charset="-122"/>
              </a:rPr>
              <a:t>或仍偏转</a:t>
            </a:r>
            <a:r>
              <a:rPr lang="en-US" altLang="zh-CN" sz="2400">
                <a:solidFill>
                  <a:srgbClr val="003300"/>
                </a:solidFill>
                <a:latin typeface="Times New Roman" panose="02020603050405020304" pitchFamily="18" charset="0"/>
                <a:ea typeface="隶书" panose="02010509060101010101" pitchFamily="49" charset="-122"/>
              </a:rPr>
              <a:t>)</a:t>
            </a:r>
            <a:r>
              <a:rPr lang="zh-CN" altLang="en-US" sz="2400">
                <a:solidFill>
                  <a:srgbClr val="003300"/>
                </a:solidFill>
                <a:latin typeface="Times New Roman" panose="02020603050405020304" pitchFamily="18" charset="0"/>
                <a:ea typeface="隶书" panose="02010509060101010101" pitchFamily="49" charset="-122"/>
              </a:rPr>
              <a:t>，则说明管子已经</a:t>
            </a:r>
            <a:r>
              <a:rPr lang="zh-CN" altLang="en-US" sz="240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rPr>
              <a:t>老化</a:t>
            </a:r>
            <a:r>
              <a:rPr lang="en-US" altLang="zh-CN" sz="2400">
                <a:solidFill>
                  <a:srgbClr val="003300"/>
                </a:solidFill>
                <a:latin typeface="Times New Roman" panose="02020603050405020304" pitchFamily="18" charset="0"/>
                <a:ea typeface="隶书" panose="02010509060101010101" pitchFamily="49" charset="-122"/>
              </a:rPr>
              <a:t>(</a:t>
            </a:r>
            <a:r>
              <a:rPr lang="zh-CN" altLang="en-US" sz="2400">
                <a:solidFill>
                  <a:srgbClr val="003300"/>
                </a:solidFill>
                <a:latin typeface="Times New Roman" panose="02020603050405020304" pitchFamily="18" charset="0"/>
                <a:ea typeface="隶书" panose="02010509060101010101" pitchFamily="49" charset="-122"/>
              </a:rPr>
              <a:t>或已被</a:t>
            </a:r>
            <a:r>
              <a:rPr lang="zh-CN" altLang="en-US" sz="240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rPr>
              <a:t>击穿</a:t>
            </a:r>
            <a:r>
              <a:rPr lang="en-US" altLang="zh-CN" sz="2400">
                <a:solidFill>
                  <a:srgbClr val="003300"/>
                </a:solidFill>
                <a:latin typeface="Times New Roman" panose="02020603050405020304" pitchFamily="18" charset="0"/>
                <a:ea typeface="隶书" panose="02010509060101010101" pitchFamily="49" charset="-122"/>
              </a:rPr>
              <a:t>)</a:t>
            </a:r>
            <a:r>
              <a:rPr lang="zh-CN" altLang="en-US" sz="2400">
                <a:solidFill>
                  <a:srgbClr val="003300"/>
                </a:solidFill>
                <a:latin typeface="Times New Roman" panose="02020603050405020304" pitchFamily="18" charset="0"/>
                <a:ea typeface="隶书" panose="02010509060101010101" pitchFamily="49" charset="-122"/>
              </a:rPr>
              <a:t>损坏。</a:t>
            </a:r>
          </a:p>
        </p:txBody>
      </p:sp>
      <p:sp>
        <p:nvSpPr>
          <p:cNvPr id="19492" name="AutoShape 36"/>
          <p:cNvSpPr>
            <a:spLocks noChangeArrowheads="1"/>
          </p:cNvSpPr>
          <p:nvPr/>
        </p:nvSpPr>
        <p:spPr bwMode="auto">
          <a:xfrm>
            <a:off x="6659563" y="3468688"/>
            <a:ext cx="1800225" cy="1354137"/>
          </a:xfrm>
          <a:prstGeom prst="cloudCallout">
            <a:avLst>
              <a:gd name="adj1" fmla="val -440"/>
              <a:gd name="adj2" fmla="val 76380"/>
            </a:avLst>
          </a:prstGeom>
          <a:gradFill rotWithShape="1">
            <a:gsLst>
              <a:gs pos="0">
                <a:srgbClr val="FF9966">
                  <a:gamma/>
                  <a:tint val="0"/>
                  <a:invGamma/>
                  <a:alpha val="0"/>
                </a:srgbClr>
              </a:gs>
              <a:gs pos="100000">
                <a:srgbClr val="FF9966"/>
              </a:gs>
            </a:gsLst>
            <a:lin ang="2700000" scaled="1"/>
          </a:gradFill>
          <a:ln w="9525">
            <a:solidFill>
              <a:srgbClr val="AC21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1" hangingPunct="1">
              <a:lnSpc>
                <a:spcPct val="80000"/>
              </a:lnSpc>
              <a:defRPr/>
            </a:pPr>
            <a:r>
              <a:rPr lang="zh-CN" altLang="en-US" b="1">
                <a:solidFill>
                  <a:schemeClr val="bg2"/>
                </a:solidFill>
                <a:effectLst>
                  <a:outerShdw blurRad="38100" dist="38100" dir="2700000" algn="tl">
                    <a:srgbClr val="000000"/>
                  </a:outerShdw>
                </a:effectLst>
                <a:latin typeface="Verdana" panose="020B0604030504040204" pitchFamily="34" charset="0"/>
                <a:ea typeface="楷体_GB2312" pitchFamily="49" charset="-122"/>
              </a:rPr>
              <a:t>想一想，这种检测方法依据的是什么？</a:t>
            </a:r>
          </a:p>
        </p:txBody>
      </p:sp>
      <p:pic>
        <p:nvPicPr>
          <p:cNvPr id="19493" name="Picture 37" descr="MCj0292112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43738" y="5067300"/>
            <a:ext cx="1141412"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9494" name="Group 38"/>
          <p:cNvGrpSpPr/>
          <p:nvPr/>
        </p:nvGrpSpPr>
        <p:grpSpPr bwMode="auto">
          <a:xfrm>
            <a:off x="955675" y="3567113"/>
            <a:ext cx="844550" cy="833437"/>
            <a:chOff x="2469" y="1820"/>
            <a:chExt cx="532" cy="525"/>
          </a:xfrm>
        </p:grpSpPr>
        <p:pic>
          <p:nvPicPr>
            <p:cNvPr id="29747" name="Picture 39" descr="8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2" y="1820"/>
              <a:ext cx="235"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48" name="Line 40"/>
            <p:cNvSpPr>
              <a:spLocks noChangeShapeType="1"/>
            </p:cNvSpPr>
            <p:nvPr/>
          </p:nvSpPr>
          <p:spPr bwMode="auto">
            <a:xfrm flipH="1">
              <a:off x="2667" y="2020"/>
              <a:ext cx="9" cy="177"/>
            </a:xfrm>
            <a:prstGeom prst="line">
              <a:avLst/>
            </a:prstGeom>
            <a:noFill/>
            <a:ln w="28575">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49" name="Line 41"/>
            <p:cNvSpPr>
              <a:spLocks noChangeShapeType="1"/>
            </p:cNvSpPr>
            <p:nvPr/>
          </p:nvSpPr>
          <p:spPr bwMode="auto">
            <a:xfrm>
              <a:off x="2718" y="2035"/>
              <a:ext cx="8" cy="310"/>
            </a:xfrm>
            <a:prstGeom prst="line">
              <a:avLst/>
            </a:prstGeom>
            <a:noFill/>
            <a:ln w="28575">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50" name="Line 42"/>
            <p:cNvSpPr>
              <a:spLocks noChangeShapeType="1"/>
            </p:cNvSpPr>
            <p:nvPr/>
          </p:nvSpPr>
          <p:spPr bwMode="auto">
            <a:xfrm>
              <a:off x="2780" y="2054"/>
              <a:ext cx="18" cy="151"/>
            </a:xfrm>
            <a:prstGeom prst="line">
              <a:avLst/>
            </a:prstGeom>
            <a:noFill/>
            <a:ln w="28575">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51" name="Line 43"/>
            <p:cNvSpPr>
              <a:spLocks noChangeShapeType="1"/>
            </p:cNvSpPr>
            <p:nvPr/>
          </p:nvSpPr>
          <p:spPr bwMode="auto">
            <a:xfrm flipH="1">
              <a:off x="2469" y="2187"/>
              <a:ext cx="195" cy="106"/>
            </a:xfrm>
            <a:prstGeom prst="line">
              <a:avLst/>
            </a:prstGeom>
            <a:noFill/>
            <a:ln w="28575">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52" name="Line 44"/>
            <p:cNvSpPr>
              <a:spLocks noChangeShapeType="1"/>
            </p:cNvSpPr>
            <p:nvPr/>
          </p:nvSpPr>
          <p:spPr bwMode="auto">
            <a:xfrm>
              <a:off x="2798" y="2195"/>
              <a:ext cx="203" cy="141"/>
            </a:xfrm>
            <a:prstGeom prst="line">
              <a:avLst/>
            </a:prstGeom>
            <a:noFill/>
            <a:ln w="28575">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19501" name="Picture 45" descr="500型万用表"/>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7475" y="3786188"/>
            <a:ext cx="788988"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9502" name="Group 46"/>
          <p:cNvGrpSpPr/>
          <p:nvPr/>
        </p:nvGrpSpPr>
        <p:grpSpPr bwMode="auto">
          <a:xfrm>
            <a:off x="1354138" y="4314825"/>
            <a:ext cx="1982787" cy="766763"/>
            <a:chOff x="2754" y="2088"/>
            <a:chExt cx="1231" cy="688"/>
          </a:xfrm>
        </p:grpSpPr>
        <p:grpSp>
          <p:nvGrpSpPr>
            <p:cNvPr id="29741" name="Group 47"/>
            <p:cNvGrpSpPr/>
            <p:nvPr/>
          </p:nvGrpSpPr>
          <p:grpSpPr bwMode="auto">
            <a:xfrm rot="-5826713">
              <a:off x="2543" y="2299"/>
              <a:ext cx="460" cy="37"/>
              <a:chOff x="1693" y="2789"/>
              <a:chExt cx="461" cy="38"/>
            </a:xfrm>
          </p:grpSpPr>
          <p:sp>
            <p:nvSpPr>
              <p:cNvPr id="29744" name="Rectangle 48"/>
              <p:cNvSpPr>
                <a:spLocks noChangeArrowheads="1"/>
              </p:cNvSpPr>
              <p:nvPr/>
            </p:nvSpPr>
            <p:spPr bwMode="auto">
              <a:xfrm>
                <a:off x="1719" y="2789"/>
                <a:ext cx="337" cy="38"/>
              </a:xfrm>
              <a:prstGeom prst="rect">
                <a:avLst/>
              </a:prstGeom>
              <a:solidFill>
                <a:srgbClr val="AC2100"/>
              </a:solidFill>
              <a:ln w="9525">
                <a:solidFill>
                  <a:srgbClr val="AC21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29745" name="Line 49"/>
              <p:cNvSpPr>
                <a:spLocks noChangeShapeType="1"/>
              </p:cNvSpPr>
              <p:nvPr/>
            </p:nvSpPr>
            <p:spPr bwMode="auto">
              <a:xfrm>
                <a:off x="2038" y="2809"/>
                <a:ext cx="116" cy="0"/>
              </a:xfrm>
              <a:prstGeom prst="line">
                <a:avLst/>
              </a:prstGeom>
              <a:noFill/>
              <a:ln w="25400">
                <a:solidFill>
                  <a:srgbClr val="AC21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46" name="Oval 50"/>
              <p:cNvSpPr>
                <a:spLocks noChangeArrowheads="1"/>
              </p:cNvSpPr>
              <p:nvPr/>
            </p:nvSpPr>
            <p:spPr bwMode="auto">
              <a:xfrm>
                <a:off x="1693" y="2789"/>
                <a:ext cx="47" cy="38"/>
              </a:xfrm>
              <a:prstGeom prst="ellipse">
                <a:avLst/>
              </a:prstGeom>
              <a:solidFill>
                <a:srgbClr val="AC2100"/>
              </a:solidFill>
              <a:ln w="9525">
                <a:solidFill>
                  <a:srgbClr val="AC21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pic>
          <p:nvPicPr>
            <p:cNvPr id="29742" name="Picture 51" descr="8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5400000">
              <a:off x="3845" y="2152"/>
              <a:ext cx="14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AC2100"/>
                  </a:solidFill>
                  <a:miter lim="800000"/>
                  <a:headEnd/>
                  <a:tailEnd/>
                </a14:hiddenLine>
              </a:ext>
            </a:extLst>
          </p:spPr>
        </p:pic>
        <p:sp>
          <p:nvSpPr>
            <p:cNvPr id="29743" name="Freeform 52"/>
            <p:cNvSpPr/>
            <p:nvPr/>
          </p:nvSpPr>
          <p:spPr bwMode="auto">
            <a:xfrm>
              <a:off x="2800" y="2189"/>
              <a:ext cx="1180" cy="587"/>
            </a:xfrm>
            <a:custGeom>
              <a:avLst/>
              <a:gdLst>
                <a:gd name="T0" fmla="*/ 0 w 1180"/>
                <a:gd name="T1" fmla="*/ 337 h 587"/>
                <a:gd name="T2" fmla="*/ 89 w 1180"/>
                <a:gd name="T3" fmla="*/ 549 h 587"/>
                <a:gd name="T4" fmla="*/ 177 w 1180"/>
                <a:gd name="T5" fmla="*/ 567 h 587"/>
                <a:gd name="T6" fmla="*/ 665 w 1180"/>
                <a:gd name="T7" fmla="*/ 531 h 587"/>
                <a:gd name="T8" fmla="*/ 931 w 1180"/>
                <a:gd name="T9" fmla="*/ 469 h 587"/>
                <a:gd name="T10" fmla="*/ 1099 w 1180"/>
                <a:gd name="T11" fmla="*/ 310 h 587"/>
                <a:gd name="T12" fmla="*/ 1170 w 1180"/>
                <a:gd name="T13" fmla="*/ 142 h 587"/>
                <a:gd name="T14" fmla="*/ 1161 w 1180"/>
                <a:gd name="T15" fmla="*/ 71 h 587"/>
                <a:gd name="T16" fmla="*/ 1135 w 1180"/>
                <a:gd name="T17" fmla="*/ 0 h 5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80" h="587">
                  <a:moveTo>
                    <a:pt x="0" y="337"/>
                  </a:moveTo>
                  <a:cubicBezTo>
                    <a:pt x="30" y="424"/>
                    <a:pt x="60" y="511"/>
                    <a:pt x="89" y="549"/>
                  </a:cubicBezTo>
                  <a:cubicBezTo>
                    <a:pt x="118" y="587"/>
                    <a:pt x="81" y="570"/>
                    <a:pt x="177" y="567"/>
                  </a:cubicBezTo>
                  <a:cubicBezTo>
                    <a:pt x="273" y="564"/>
                    <a:pt x="539" y="547"/>
                    <a:pt x="665" y="531"/>
                  </a:cubicBezTo>
                  <a:cubicBezTo>
                    <a:pt x="791" y="515"/>
                    <a:pt x="859" y="506"/>
                    <a:pt x="931" y="469"/>
                  </a:cubicBezTo>
                  <a:cubicBezTo>
                    <a:pt x="1003" y="432"/>
                    <a:pt x="1059" y="364"/>
                    <a:pt x="1099" y="310"/>
                  </a:cubicBezTo>
                  <a:cubicBezTo>
                    <a:pt x="1139" y="256"/>
                    <a:pt x="1160" y="182"/>
                    <a:pt x="1170" y="142"/>
                  </a:cubicBezTo>
                  <a:cubicBezTo>
                    <a:pt x="1180" y="102"/>
                    <a:pt x="1167" y="95"/>
                    <a:pt x="1161" y="71"/>
                  </a:cubicBezTo>
                  <a:cubicBezTo>
                    <a:pt x="1155" y="47"/>
                    <a:pt x="1145" y="23"/>
                    <a:pt x="1135" y="0"/>
                  </a:cubicBezTo>
                </a:path>
              </a:pathLst>
            </a:custGeom>
            <a:noFill/>
            <a:ln w="22225" cmpd="sng">
              <a:solidFill>
                <a:srgbClr val="AC21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509" name="Group 53"/>
          <p:cNvGrpSpPr/>
          <p:nvPr/>
        </p:nvGrpSpPr>
        <p:grpSpPr bwMode="auto">
          <a:xfrm>
            <a:off x="688975" y="4262438"/>
            <a:ext cx="2767013" cy="914400"/>
            <a:chOff x="2282" y="2019"/>
            <a:chExt cx="1814" cy="832"/>
          </a:xfrm>
        </p:grpSpPr>
        <p:grpSp>
          <p:nvGrpSpPr>
            <p:cNvPr id="29736" name="Group 54"/>
            <p:cNvGrpSpPr/>
            <p:nvPr/>
          </p:nvGrpSpPr>
          <p:grpSpPr bwMode="auto">
            <a:xfrm rot="-3944203">
              <a:off x="2180" y="2231"/>
              <a:ext cx="461" cy="38"/>
              <a:chOff x="1693" y="2789"/>
              <a:chExt cx="461" cy="38"/>
            </a:xfrm>
          </p:grpSpPr>
          <p:sp>
            <p:nvSpPr>
              <p:cNvPr id="29738" name="Rectangle 55"/>
              <p:cNvSpPr>
                <a:spLocks noChangeArrowheads="1"/>
              </p:cNvSpPr>
              <p:nvPr/>
            </p:nvSpPr>
            <p:spPr bwMode="auto">
              <a:xfrm>
                <a:off x="1719" y="2789"/>
                <a:ext cx="337" cy="38"/>
              </a:xfrm>
              <a:prstGeom prst="rect">
                <a:avLst/>
              </a:prstGeom>
              <a:solidFill>
                <a:schemeClr val="bg2"/>
              </a:solidFill>
              <a:ln w="9525">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29739" name="Line 56"/>
              <p:cNvSpPr>
                <a:spLocks noChangeShapeType="1"/>
              </p:cNvSpPr>
              <p:nvPr/>
            </p:nvSpPr>
            <p:spPr bwMode="auto">
              <a:xfrm>
                <a:off x="2038" y="2809"/>
                <a:ext cx="116" cy="0"/>
              </a:xfrm>
              <a:prstGeom prst="line">
                <a:avLst/>
              </a:prstGeom>
              <a:noFill/>
              <a:ln w="254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40" name="Oval 57"/>
              <p:cNvSpPr>
                <a:spLocks noChangeArrowheads="1"/>
              </p:cNvSpPr>
              <p:nvPr/>
            </p:nvSpPr>
            <p:spPr bwMode="auto">
              <a:xfrm>
                <a:off x="1693" y="2789"/>
                <a:ext cx="47" cy="38"/>
              </a:xfrm>
              <a:prstGeom prst="ellipse">
                <a:avLst/>
              </a:prstGeom>
              <a:solidFill>
                <a:schemeClr val="tx2"/>
              </a:solidFill>
              <a:ln w="9525">
                <a:solidFill>
                  <a:schemeClr val="bg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sp>
          <p:nvSpPr>
            <p:cNvPr id="29737" name="Freeform 58"/>
            <p:cNvSpPr/>
            <p:nvPr/>
          </p:nvSpPr>
          <p:spPr bwMode="auto">
            <a:xfrm>
              <a:off x="2282" y="2152"/>
              <a:ext cx="1814" cy="699"/>
            </a:xfrm>
            <a:custGeom>
              <a:avLst/>
              <a:gdLst>
                <a:gd name="T0" fmla="*/ 40 w 1814"/>
                <a:gd name="T1" fmla="*/ 280 h 699"/>
                <a:gd name="T2" fmla="*/ 40 w 1814"/>
                <a:gd name="T3" fmla="*/ 472 h 699"/>
                <a:gd name="T4" fmla="*/ 278 w 1814"/>
                <a:gd name="T5" fmla="*/ 618 h 699"/>
                <a:gd name="T6" fmla="*/ 735 w 1814"/>
                <a:gd name="T7" fmla="*/ 691 h 699"/>
                <a:gd name="T8" fmla="*/ 1421 w 1814"/>
                <a:gd name="T9" fmla="*/ 646 h 699"/>
                <a:gd name="T10" fmla="*/ 1750 w 1814"/>
                <a:gd name="T11" fmla="*/ 371 h 699"/>
                <a:gd name="T12" fmla="*/ 1805 w 1814"/>
                <a:gd name="T13" fmla="*/ 88 h 699"/>
                <a:gd name="T14" fmla="*/ 1750 w 1814"/>
                <a:gd name="T15" fmla="*/ 6 h 699"/>
                <a:gd name="T16" fmla="*/ 1686 w 1814"/>
                <a:gd name="T17" fmla="*/ 51 h 6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14" h="699">
                  <a:moveTo>
                    <a:pt x="40" y="280"/>
                  </a:moveTo>
                  <a:cubicBezTo>
                    <a:pt x="20" y="348"/>
                    <a:pt x="0" y="416"/>
                    <a:pt x="40" y="472"/>
                  </a:cubicBezTo>
                  <a:cubicBezTo>
                    <a:pt x="80" y="528"/>
                    <a:pt x="162" y="582"/>
                    <a:pt x="278" y="618"/>
                  </a:cubicBezTo>
                  <a:cubicBezTo>
                    <a:pt x="394" y="654"/>
                    <a:pt x="545" y="686"/>
                    <a:pt x="735" y="691"/>
                  </a:cubicBezTo>
                  <a:cubicBezTo>
                    <a:pt x="925" y="696"/>
                    <a:pt x="1252" y="699"/>
                    <a:pt x="1421" y="646"/>
                  </a:cubicBezTo>
                  <a:cubicBezTo>
                    <a:pt x="1590" y="593"/>
                    <a:pt x="1686" y="464"/>
                    <a:pt x="1750" y="371"/>
                  </a:cubicBezTo>
                  <a:cubicBezTo>
                    <a:pt x="1814" y="278"/>
                    <a:pt x="1805" y="149"/>
                    <a:pt x="1805" y="88"/>
                  </a:cubicBezTo>
                  <a:cubicBezTo>
                    <a:pt x="1805" y="27"/>
                    <a:pt x="1770" y="12"/>
                    <a:pt x="1750" y="6"/>
                  </a:cubicBezTo>
                  <a:cubicBezTo>
                    <a:pt x="1730" y="0"/>
                    <a:pt x="1694" y="39"/>
                    <a:pt x="1686" y="51"/>
                  </a:cubicBezTo>
                </a:path>
              </a:pathLst>
            </a:custGeom>
            <a:noFill/>
            <a:ln w="22225">
              <a:solidFill>
                <a:schemeClr val="bg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515" name="Group 59"/>
          <p:cNvGrpSpPr/>
          <p:nvPr/>
        </p:nvGrpSpPr>
        <p:grpSpPr bwMode="auto">
          <a:xfrm>
            <a:off x="1835150" y="4313238"/>
            <a:ext cx="1458913" cy="639762"/>
            <a:chOff x="3076" y="2068"/>
            <a:chExt cx="892" cy="553"/>
          </a:xfrm>
        </p:grpSpPr>
        <p:grpSp>
          <p:nvGrpSpPr>
            <p:cNvPr id="29731" name="Group 60"/>
            <p:cNvGrpSpPr/>
            <p:nvPr/>
          </p:nvGrpSpPr>
          <p:grpSpPr bwMode="auto">
            <a:xfrm rot="3944203" flipH="1">
              <a:off x="2864" y="2280"/>
              <a:ext cx="461" cy="38"/>
              <a:chOff x="1693" y="2789"/>
              <a:chExt cx="461" cy="38"/>
            </a:xfrm>
          </p:grpSpPr>
          <p:sp>
            <p:nvSpPr>
              <p:cNvPr id="29733" name="Rectangle 61"/>
              <p:cNvSpPr>
                <a:spLocks noChangeArrowheads="1"/>
              </p:cNvSpPr>
              <p:nvPr/>
            </p:nvSpPr>
            <p:spPr bwMode="auto">
              <a:xfrm>
                <a:off x="1719" y="2789"/>
                <a:ext cx="337" cy="38"/>
              </a:xfrm>
              <a:prstGeom prst="rect">
                <a:avLst/>
              </a:prstGeom>
              <a:solidFill>
                <a:schemeClr val="bg2"/>
              </a:solidFill>
              <a:ln w="9525">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29734" name="Line 62"/>
              <p:cNvSpPr>
                <a:spLocks noChangeShapeType="1"/>
              </p:cNvSpPr>
              <p:nvPr/>
            </p:nvSpPr>
            <p:spPr bwMode="auto">
              <a:xfrm>
                <a:off x="2038" y="2809"/>
                <a:ext cx="116" cy="0"/>
              </a:xfrm>
              <a:prstGeom prst="line">
                <a:avLst/>
              </a:prstGeom>
              <a:noFill/>
              <a:ln w="254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35" name="Oval 63"/>
              <p:cNvSpPr>
                <a:spLocks noChangeArrowheads="1"/>
              </p:cNvSpPr>
              <p:nvPr/>
            </p:nvSpPr>
            <p:spPr bwMode="auto">
              <a:xfrm>
                <a:off x="1693" y="2789"/>
                <a:ext cx="47" cy="38"/>
              </a:xfrm>
              <a:prstGeom prst="ellipse">
                <a:avLst/>
              </a:prstGeom>
              <a:solidFill>
                <a:schemeClr val="bg2"/>
              </a:solidFill>
              <a:ln w="9525">
                <a:solidFill>
                  <a:schemeClr val="bg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sp>
          <p:nvSpPr>
            <p:cNvPr id="29732" name="Freeform 64"/>
            <p:cNvSpPr/>
            <p:nvPr/>
          </p:nvSpPr>
          <p:spPr bwMode="auto">
            <a:xfrm>
              <a:off x="3182" y="2258"/>
              <a:ext cx="786" cy="363"/>
            </a:xfrm>
            <a:custGeom>
              <a:avLst/>
              <a:gdLst>
                <a:gd name="T0" fmla="*/ 0 w 786"/>
                <a:gd name="T1" fmla="*/ 238 h 363"/>
                <a:gd name="T2" fmla="*/ 119 w 786"/>
                <a:gd name="T3" fmla="*/ 320 h 363"/>
                <a:gd name="T4" fmla="*/ 347 w 786"/>
                <a:gd name="T5" fmla="*/ 357 h 363"/>
                <a:gd name="T6" fmla="*/ 539 w 786"/>
                <a:gd name="T7" fmla="*/ 284 h 363"/>
                <a:gd name="T8" fmla="*/ 713 w 786"/>
                <a:gd name="T9" fmla="*/ 110 h 363"/>
                <a:gd name="T10" fmla="*/ 786 w 786"/>
                <a:gd name="T11" fmla="*/ 0 h 36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86" h="363">
                  <a:moveTo>
                    <a:pt x="0" y="238"/>
                  </a:moveTo>
                  <a:cubicBezTo>
                    <a:pt x="30" y="269"/>
                    <a:pt x="61" y="300"/>
                    <a:pt x="119" y="320"/>
                  </a:cubicBezTo>
                  <a:cubicBezTo>
                    <a:pt x="177" y="340"/>
                    <a:pt x="277" y="363"/>
                    <a:pt x="347" y="357"/>
                  </a:cubicBezTo>
                  <a:cubicBezTo>
                    <a:pt x="417" y="351"/>
                    <a:pt x="478" y="325"/>
                    <a:pt x="539" y="284"/>
                  </a:cubicBezTo>
                  <a:cubicBezTo>
                    <a:pt x="600" y="243"/>
                    <a:pt x="672" y="157"/>
                    <a:pt x="713" y="110"/>
                  </a:cubicBezTo>
                  <a:cubicBezTo>
                    <a:pt x="754" y="63"/>
                    <a:pt x="770" y="31"/>
                    <a:pt x="786" y="0"/>
                  </a:cubicBezTo>
                </a:path>
              </a:pathLst>
            </a:custGeom>
            <a:noFill/>
            <a:ln w="22225" cap="flat">
              <a:solidFill>
                <a:schemeClr val="bg2"/>
              </a:solidFill>
              <a:prstDash val="solid"/>
              <a:round/>
            </a:ln>
            <a:effectLst/>
            <a:extLst>
              <a:ext uri="{909E8E84-426E-40DD-AFC4-6F175D3DCCD1}">
                <a14:hiddenFill xmlns:a14="http://schemas.microsoft.com/office/drawing/2010/main">
                  <a:solidFill>
                    <a:srgbClr val="AC21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9521" name="AutoShape 65"/>
          <p:cNvSpPr>
            <a:spLocks noChangeArrowheads="1"/>
          </p:cNvSpPr>
          <p:nvPr/>
        </p:nvSpPr>
        <p:spPr bwMode="auto">
          <a:xfrm>
            <a:off x="1444625" y="2562225"/>
            <a:ext cx="1946275" cy="908050"/>
          </a:xfrm>
          <a:prstGeom prst="wedgeRoundRectCallout">
            <a:avLst>
              <a:gd name="adj1" fmla="val 30912"/>
              <a:gd name="adj2" fmla="val 101921"/>
              <a:gd name="adj3" fmla="val 16667"/>
            </a:avLst>
          </a:prstGeom>
          <a:gradFill rotWithShape="1">
            <a:gsLst>
              <a:gs pos="0">
                <a:schemeClr val="accent1">
                  <a:gamma/>
                  <a:tint val="0"/>
                  <a:invGamma/>
                  <a:alpha val="0"/>
                </a:schemeClr>
              </a:gs>
              <a:gs pos="100000">
                <a:schemeClr val="accent1"/>
              </a:gs>
            </a:gsLst>
            <a:lin ang="2700000" scaled="1"/>
          </a:gradFill>
          <a:ln w="19050">
            <a:solidFill>
              <a:srgbClr val="000048"/>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defRPr/>
            </a:pPr>
            <a:r>
              <a:rPr kumimoji="1" lang="zh-CN" altLang="en-US" b="1">
                <a:solidFill>
                  <a:srgbClr val="990000"/>
                </a:solidFill>
                <a:latin typeface="Times New Roman" panose="02020603050405020304" pitchFamily="18" charset="0"/>
                <a:ea typeface="楷体_GB2312" pitchFamily="49" charset="-122"/>
              </a:rPr>
              <a:t>指针偏转，说明管子正向导通，因此为</a:t>
            </a:r>
            <a:r>
              <a:rPr kumimoji="1" lang="en-US" altLang="zh-CN" b="1">
                <a:solidFill>
                  <a:srgbClr val="990000"/>
                </a:solidFill>
                <a:latin typeface="Times New Roman" panose="02020603050405020304" pitchFamily="18" charset="0"/>
                <a:ea typeface="楷体_GB2312" pitchFamily="49" charset="-122"/>
              </a:rPr>
              <a:t>PNP</a:t>
            </a:r>
            <a:r>
              <a:rPr kumimoji="1" lang="zh-CN" altLang="en-US" b="1">
                <a:solidFill>
                  <a:srgbClr val="990000"/>
                </a:solidFill>
                <a:latin typeface="Times New Roman" panose="02020603050405020304" pitchFamily="18" charset="0"/>
                <a:ea typeface="楷体_GB2312" pitchFamily="49" charset="-122"/>
              </a:rPr>
              <a:t>型。</a:t>
            </a:r>
          </a:p>
        </p:txBody>
      </p:sp>
      <p:sp>
        <p:nvSpPr>
          <p:cNvPr id="19522" name="Line 66"/>
          <p:cNvSpPr>
            <a:spLocks noChangeShapeType="1"/>
          </p:cNvSpPr>
          <p:nvPr/>
        </p:nvSpPr>
        <p:spPr bwMode="auto">
          <a:xfrm flipH="1" flipV="1">
            <a:off x="2784475" y="3973513"/>
            <a:ext cx="217488" cy="217487"/>
          </a:xfrm>
          <a:prstGeom prst="line">
            <a:avLst/>
          </a:prstGeom>
          <a:noFill/>
          <a:ln w="9525">
            <a:solidFill>
              <a:srgbClr val="AC21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23" name="Line 67"/>
          <p:cNvSpPr>
            <a:spLocks noChangeShapeType="1"/>
          </p:cNvSpPr>
          <p:nvPr/>
        </p:nvSpPr>
        <p:spPr bwMode="auto">
          <a:xfrm flipH="1" flipV="1">
            <a:off x="2874963" y="3905250"/>
            <a:ext cx="130175" cy="290513"/>
          </a:xfrm>
          <a:prstGeom prst="line">
            <a:avLst/>
          </a:prstGeom>
          <a:noFill/>
          <a:ln w="9525">
            <a:solidFill>
              <a:srgbClr val="AC21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24" name="Line 68"/>
          <p:cNvSpPr>
            <a:spLocks noChangeShapeType="1"/>
          </p:cNvSpPr>
          <p:nvPr/>
        </p:nvSpPr>
        <p:spPr bwMode="auto">
          <a:xfrm flipH="1" flipV="1">
            <a:off x="2921000" y="3890963"/>
            <a:ext cx="85725" cy="277812"/>
          </a:xfrm>
          <a:prstGeom prst="line">
            <a:avLst/>
          </a:prstGeom>
          <a:noFill/>
          <a:ln w="9525">
            <a:solidFill>
              <a:srgbClr val="AC21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25" name="Line 69"/>
          <p:cNvSpPr>
            <a:spLocks noChangeShapeType="1"/>
          </p:cNvSpPr>
          <p:nvPr/>
        </p:nvSpPr>
        <p:spPr bwMode="auto">
          <a:xfrm flipV="1">
            <a:off x="2994025" y="3852863"/>
            <a:ext cx="31750" cy="346075"/>
          </a:xfrm>
          <a:prstGeom prst="line">
            <a:avLst/>
          </a:prstGeom>
          <a:noFill/>
          <a:ln w="9525">
            <a:solidFill>
              <a:srgbClr val="AC21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26" name="Line 70"/>
          <p:cNvSpPr>
            <a:spLocks noChangeShapeType="1"/>
          </p:cNvSpPr>
          <p:nvPr/>
        </p:nvSpPr>
        <p:spPr bwMode="auto">
          <a:xfrm flipV="1">
            <a:off x="3032125" y="3949700"/>
            <a:ext cx="231775" cy="217488"/>
          </a:xfrm>
          <a:prstGeom prst="line">
            <a:avLst/>
          </a:prstGeom>
          <a:noFill/>
          <a:ln w="9525">
            <a:solidFill>
              <a:srgbClr val="AC21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27" name="Line 71"/>
          <p:cNvSpPr>
            <a:spLocks noChangeShapeType="1"/>
          </p:cNvSpPr>
          <p:nvPr/>
        </p:nvSpPr>
        <p:spPr bwMode="auto">
          <a:xfrm flipV="1">
            <a:off x="3019425" y="3889375"/>
            <a:ext cx="144463" cy="290513"/>
          </a:xfrm>
          <a:prstGeom prst="line">
            <a:avLst/>
          </a:prstGeom>
          <a:noFill/>
          <a:ln w="9525">
            <a:solidFill>
              <a:srgbClr val="AC21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28" name="Line 72"/>
          <p:cNvSpPr>
            <a:spLocks noChangeShapeType="1"/>
          </p:cNvSpPr>
          <p:nvPr/>
        </p:nvSpPr>
        <p:spPr bwMode="auto">
          <a:xfrm flipH="1" flipV="1">
            <a:off x="2795588" y="3956050"/>
            <a:ext cx="217487" cy="217488"/>
          </a:xfrm>
          <a:prstGeom prst="line">
            <a:avLst/>
          </a:prstGeom>
          <a:noFill/>
          <a:ln w="9525">
            <a:solidFill>
              <a:srgbClr val="AC21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29" name="Line 73"/>
          <p:cNvSpPr>
            <a:spLocks noChangeShapeType="1"/>
          </p:cNvSpPr>
          <p:nvPr/>
        </p:nvSpPr>
        <p:spPr bwMode="auto">
          <a:xfrm flipH="1" flipV="1">
            <a:off x="2886075" y="3887788"/>
            <a:ext cx="130175" cy="290512"/>
          </a:xfrm>
          <a:prstGeom prst="line">
            <a:avLst/>
          </a:prstGeom>
          <a:noFill/>
          <a:ln w="9525">
            <a:solidFill>
              <a:srgbClr val="AC21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30" name="Line 74"/>
          <p:cNvSpPr>
            <a:spLocks noChangeShapeType="1"/>
          </p:cNvSpPr>
          <p:nvPr/>
        </p:nvSpPr>
        <p:spPr bwMode="auto">
          <a:xfrm flipH="1" flipV="1">
            <a:off x="2932113" y="3873500"/>
            <a:ext cx="85725" cy="277813"/>
          </a:xfrm>
          <a:prstGeom prst="line">
            <a:avLst/>
          </a:prstGeom>
          <a:noFill/>
          <a:ln w="9525">
            <a:solidFill>
              <a:srgbClr val="AC21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31" name="Line 75"/>
          <p:cNvSpPr>
            <a:spLocks noChangeShapeType="1"/>
          </p:cNvSpPr>
          <p:nvPr/>
        </p:nvSpPr>
        <p:spPr bwMode="auto">
          <a:xfrm flipV="1">
            <a:off x="3005138" y="3835400"/>
            <a:ext cx="31750" cy="346075"/>
          </a:xfrm>
          <a:prstGeom prst="line">
            <a:avLst/>
          </a:prstGeom>
          <a:noFill/>
          <a:ln w="9525">
            <a:solidFill>
              <a:srgbClr val="AC21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32" name="Line 76"/>
          <p:cNvSpPr>
            <a:spLocks noChangeShapeType="1"/>
          </p:cNvSpPr>
          <p:nvPr/>
        </p:nvSpPr>
        <p:spPr bwMode="auto">
          <a:xfrm flipV="1">
            <a:off x="3043238" y="3932238"/>
            <a:ext cx="231775" cy="217487"/>
          </a:xfrm>
          <a:prstGeom prst="line">
            <a:avLst/>
          </a:prstGeom>
          <a:noFill/>
          <a:ln w="9525">
            <a:solidFill>
              <a:srgbClr val="AC21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33" name="Line 77"/>
          <p:cNvSpPr>
            <a:spLocks noChangeShapeType="1"/>
          </p:cNvSpPr>
          <p:nvPr/>
        </p:nvSpPr>
        <p:spPr bwMode="auto">
          <a:xfrm flipV="1">
            <a:off x="3030538" y="3871913"/>
            <a:ext cx="144462" cy="290512"/>
          </a:xfrm>
          <a:prstGeom prst="line">
            <a:avLst/>
          </a:prstGeom>
          <a:noFill/>
          <a:ln w="9525">
            <a:solidFill>
              <a:srgbClr val="AC21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534" name="Rectangle 78"/>
          <p:cNvSpPr>
            <a:spLocks noChangeArrowheads="1"/>
          </p:cNvSpPr>
          <p:nvPr/>
        </p:nvSpPr>
        <p:spPr bwMode="auto">
          <a:xfrm>
            <a:off x="6724650" y="2673350"/>
            <a:ext cx="174625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ctr" eaLnBrk="1" hangingPunct="1">
              <a:lnSpc>
                <a:spcPct val="90000"/>
              </a:lnSpc>
              <a:defRPr/>
            </a:pPr>
            <a:r>
              <a:rPr lang="en-US" altLang="zh-CN" sz="240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rPr>
              <a:t>PN</a:t>
            </a:r>
            <a:r>
              <a:rPr lang="zh-CN" altLang="en-US" sz="240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rPr>
              <a:t>结的</a:t>
            </a:r>
          </a:p>
          <a:p>
            <a:pPr algn="ctr" eaLnBrk="1" hangingPunct="1">
              <a:lnSpc>
                <a:spcPct val="90000"/>
              </a:lnSpc>
              <a:defRPr/>
            </a:pPr>
            <a:r>
              <a:rPr lang="zh-CN" altLang="en-US" sz="240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rPr>
              <a:t>单向导电性</a:t>
            </a:r>
            <a:endParaRPr lang="zh-CN" altLang="en-US" sz="2400">
              <a:solidFill>
                <a:srgbClr val="003300"/>
              </a:solidFill>
              <a:latin typeface="Times New Roman" panose="02020603050405020304" pitchFamily="18" charset="0"/>
              <a:ea typeface="隶书" panose="020105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0" presetClass="entr" presetSubtype="0" fill="hold" grpId="0" nodeType="afterEffect">
                                  <p:stCondLst>
                                    <p:cond delay="0"/>
                                  </p:stCondLst>
                                  <p:iterate type="lt">
                                    <p:tmPct val="10000"/>
                                  </p:iterate>
                                  <p:childTnLst>
                                    <p:set>
                                      <p:cBhvr>
                                        <p:cTn id="6" dur="1" fill="hold">
                                          <p:stCondLst>
                                            <p:cond delay="0"/>
                                          </p:stCondLst>
                                        </p:cTn>
                                        <p:tgtEl>
                                          <p:spTgt spid="19458"/>
                                        </p:tgtEl>
                                        <p:attrNameLst>
                                          <p:attrName>style.visibility</p:attrName>
                                        </p:attrNameLst>
                                      </p:cBhvr>
                                      <p:to>
                                        <p:strVal val="visible"/>
                                      </p:to>
                                    </p:set>
                                    <p:animEffect transition="in" filter="fade">
                                      <p:cBhvr>
                                        <p:cTn id="7" dur="500"/>
                                        <p:tgtEl>
                                          <p:spTgt spid="19458"/>
                                        </p:tgtEl>
                                      </p:cBhvr>
                                    </p:animEffect>
                                    <p:anim calcmode="lin" valueType="num">
                                      <p:cBhvr>
                                        <p:cTn id="8" dur="500" fill="hold"/>
                                        <p:tgtEl>
                                          <p:spTgt spid="19458"/>
                                        </p:tgtEl>
                                        <p:attrNameLst>
                                          <p:attrName>ppt_x</p:attrName>
                                        </p:attrNameLst>
                                      </p:cBhvr>
                                      <p:tavLst>
                                        <p:tav tm="0">
                                          <p:val>
                                            <p:strVal val="#ppt_x-.1"/>
                                          </p:val>
                                        </p:tav>
                                        <p:tav tm="100000">
                                          <p:val>
                                            <p:strVal val="#ppt_x"/>
                                          </p:val>
                                        </p:tav>
                                      </p:tavLst>
                                    </p:anim>
                                    <p:anim calcmode="lin" valueType="num">
                                      <p:cBhvr>
                                        <p:cTn id="9" dur="500" fill="hold"/>
                                        <p:tgtEl>
                                          <p:spTgt spid="19458"/>
                                        </p:tgtEl>
                                        <p:attrNameLst>
                                          <p:attrName>ppt_y</p:attrName>
                                        </p:attrNameLst>
                                      </p:cBhvr>
                                      <p:tavLst>
                                        <p:tav tm="0">
                                          <p:val>
                                            <p:strVal val="#ppt_y"/>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9459"/>
                                        </p:tgtEl>
                                        <p:attrNameLst>
                                          <p:attrName>style.visibility</p:attrName>
                                        </p:attrNameLst>
                                      </p:cBhvr>
                                      <p:to>
                                        <p:strVal val="visible"/>
                                      </p:to>
                                    </p:set>
                                    <p:animEffect transition="in" filter="wipe(left)">
                                      <p:cBhvr>
                                        <p:cTn id="14" dur="2000"/>
                                        <p:tgtEl>
                                          <p:spTgt spid="19459"/>
                                        </p:tgtEl>
                                      </p:cBhvr>
                                    </p:animEffect>
                                  </p:childTnLst>
                                </p:cTn>
                              </p:par>
                            </p:childTnLst>
                          </p:cTn>
                        </p:par>
                      </p:childTnLst>
                    </p:cTn>
                  </p:par>
                  <p:par>
                    <p:cTn id="15" fill="hold">
                      <p:stCondLst>
                        <p:cond delay="indefinite"/>
                      </p:stCondLst>
                      <p:childTnLst>
                        <p:par>
                          <p:cTn id="16" fill="hold">
                            <p:stCondLst>
                              <p:cond delay="0"/>
                            </p:stCondLst>
                            <p:childTnLst>
                              <p:par>
                                <p:cTn id="17" presetID="27" presetClass="entr" presetSubtype="0" fill="hold" grpId="0" nodeType="clickEffect">
                                  <p:stCondLst>
                                    <p:cond delay="0"/>
                                  </p:stCondLst>
                                  <p:iterate type="lt">
                                    <p:tmPct val="50000"/>
                                  </p:iterate>
                                  <p:childTnLst>
                                    <p:set>
                                      <p:cBhvr>
                                        <p:cTn id="18" dur="1" fill="hold">
                                          <p:stCondLst>
                                            <p:cond delay="0"/>
                                          </p:stCondLst>
                                        </p:cTn>
                                        <p:tgtEl>
                                          <p:spTgt spid="19490"/>
                                        </p:tgtEl>
                                        <p:attrNameLst>
                                          <p:attrName>style.visibility</p:attrName>
                                        </p:attrNameLst>
                                      </p:cBhvr>
                                      <p:to>
                                        <p:strVal val="visible"/>
                                      </p:to>
                                    </p:set>
                                    <p:anim calcmode="discrete" valueType="clr">
                                      <p:cBhvr override="childStyle">
                                        <p:cTn id="19" dur="80"/>
                                        <p:tgtEl>
                                          <p:spTgt spid="19490"/>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19490"/>
                                        </p:tgtEl>
                                        <p:attrNameLst>
                                          <p:attrName>fillcolor</p:attrName>
                                        </p:attrNameLst>
                                      </p:cBhvr>
                                      <p:tavLst>
                                        <p:tav tm="0">
                                          <p:val>
                                            <p:clrVal>
                                              <a:schemeClr val="accent2"/>
                                            </p:clrVal>
                                          </p:val>
                                        </p:tav>
                                        <p:tav tm="50000">
                                          <p:val>
                                            <p:clrVal>
                                              <a:schemeClr val="hlink"/>
                                            </p:clrVal>
                                          </p:val>
                                        </p:tav>
                                      </p:tavLst>
                                    </p:anim>
                                    <p:set>
                                      <p:cBhvr>
                                        <p:cTn id="21" dur="80"/>
                                        <p:tgtEl>
                                          <p:spTgt spid="19490"/>
                                        </p:tgtEl>
                                        <p:attrNameLst>
                                          <p:attrName>fill.type</p:attrName>
                                        </p:attrNameLst>
                                      </p:cBhvr>
                                      <p:to>
                                        <p:strVal val="solid"/>
                                      </p:to>
                                    </p:se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19460"/>
                                        </p:tgtEl>
                                        <p:attrNameLst>
                                          <p:attrName>style.visibility</p:attrName>
                                        </p:attrNameLst>
                                      </p:cBhvr>
                                      <p:to>
                                        <p:strVal val="visible"/>
                                      </p:to>
                                    </p:set>
                                    <p:animEffect transition="in" filter="checkerboard(across)">
                                      <p:cBhvr>
                                        <p:cTn id="26" dur="500"/>
                                        <p:tgtEl>
                                          <p:spTgt spid="19460"/>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nodeType="clickEffect">
                                  <p:stCondLst>
                                    <p:cond delay="0"/>
                                  </p:stCondLst>
                                  <p:childTnLst>
                                    <p:set>
                                      <p:cBhvr>
                                        <p:cTn id="30" dur="1" fill="hold">
                                          <p:stCondLst>
                                            <p:cond delay="0"/>
                                          </p:stCondLst>
                                        </p:cTn>
                                        <p:tgtEl>
                                          <p:spTgt spid="19467"/>
                                        </p:tgtEl>
                                        <p:attrNameLst>
                                          <p:attrName>style.visibility</p:attrName>
                                        </p:attrNameLst>
                                      </p:cBhvr>
                                      <p:to>
                                        <p:strVal val="visible"/>
                                      </p:to>
                                    </p:set>
                                    <p:animEffect transition="in" filter="strips(downRight)">
                                      <p:cBhvr>
                                        <p:cTn id="31" dur="500"/>
                                        <p:tgtEl>
                                          <p:spTgt spid="19467"/>
                                        </p:tgtEl>
                                      </p:cBhvr>
                                    </p:animEffect>
                                  </p:childTnLst>
                                </p:cTn>
                              </p:par>
                              <p:par>
                                <p:cTn id="32" presetID="1" presetClass="entr" presetSubtype="0" fill="hold" grpId="0" nodeType="withEffect">
                                  <p:stCondLst>
                                    <p:cond delay="0"/>
                                  </p:stCondLst>
                                  <p:childTnLst>
                                    <p:set>
                                      <p:cBhvr>
                                        <p:cTn id="33" dur="1" fill="hold">
                                          <p:stCondLst>
                                            <p:cond delay="0"/>
                                          </p:stCondLst>
                                        </p:cTn>
                                        <p:tgtEl>
                                          <p:spTgt spid="1948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2" fill="hold" nodeType="clickEffect">
                                  <p:stCondLst>
                                    <p:cond delay="0"/>
                                  </p:stCondLst>
                                  <p:childTnLst>
                                    <p:set>
                                      <p:cBhvr>
                                        <p:cTn id="37" dur="1" fill="hold">
                                          <p:stCondLst>
                                            <p:cond delay="0"/>
                                          </p:stCondLst>
                                        </p:cTn>
                                        <p:tgtEl>
                                          <p:spTgt spid="19469"/>
                                        </p:tgtEl>
                                        <p:attrNameLst>
                                          <p:attrName>style.visibility</p:attrName>
                                        </p:attrNameLst>
                                      </p:cBhvr>
                                      <p:to>
                                        <p:strVal val="visible"/>
                                      </p:to>
                                    </p:set>
                                    <p:animEffect transition="in" filter="wipe(right)">
                                      <p:cBhvr>
                                        <p:cTn id="38" dur="500"/>
                                        <p:tgtEl>
                                          <p:spTgt spid="1946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nodeType="clickEffect">
                                  <p:stCondLst>
                                    <p:cond delay="0"/>
                                  </p:stCondLst>
                                  <p:childTnLst>
                                    <p:set>
                                      <p:cBhvr>
                                        <p:cTn id="42" dur="1" fill="hold">
                                          <p:stCondLst>
                                            <p:cond delay="0"/>
                                          </p:stCondLst>
                                        </p:cTn>
                                        <p:tgtEl>
                                          <p:spTgt spid="19476"/>
                                        </p:tgtEl>
                                        <p:attrNameLst>
                                          <p:attrName>style.visibility</p:attrName>
                                        </p:attrNameLst>
                                      </p:cBhvr>
                                      <p:to>
                                        <p:strVal val="visible"/>
                                      </p:to>
                                    </p:set>
                                    <p:animEffect transition="in" filter="wipe(right)">
                                      <p:cBhvr>
                                        <p:cTn id="43" dur="500"/>
                                        <p:tgtEl>
                                          <p:spTgt spid="19476"/>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nodeType="clickEffect">
                                  <p:stCondLst>
                                    <p:cond delay="0"/>
                                  </p:stCondLst>
                                  <p:childTnLst>
                                    <p:set>
                                      <p:cBhvr>
                                        <p:cTn id="47" dur="1" fill="hold">
                                          <p:stCondLst>
                                            <p:cond delay="0"/>
                                          </p:stCondLst>
                                        </p:cTn>
                                        <p:tgtEl>
                                          <p:spTgt spid="19476"/>
                                        </p:tgtEl>
                                        <p:attrNameLst>
                                          <p:attrName>style.visibility</p:attrName>
                                        </p:attrNameLst>
                                      </p:cBhvr>
                                      <p:to>
                                        <p:strVal val="hidden"/>
                                      </p:to>
                                    </p:set>
                                  </p:childTnLst>
                                </p:cTn>
                              </p:par>
                            </p:childTnLst>
                          </p:cTn>
                        </p:par>
                        <p:par>
                          <p:cTn id="48" fill="hold">
                            <p:stCondLst>
                              <p:cond delay="0"/>
                            </p:stCondLst>
                            <p:childTnLst>
                              <p:par>
                                <p:cTn id="49" presetID="22" presetClass="entr" presetSubtype="2" fill="hold" nodeType="afterEffect">
                                  <p:stCondLst>
                                    <p:cond delay="0"/>
                                  </p:stCondLst>
                                  <p:childTnLst>
                                    <p:set>
                                      <p:cBhvr>
                                        <p:cTn id="50" dur="1" fill="hold">
                                          <p:stCondLst>
                                            <p:cond delay="0"/>
                                          </p:stCondLst>
                                        </p:cTn>
                                        <p:tgtEl>
                                          <p:spTgt spid="19483"/>
                                        </p:tgtEl>
                                        <p:attrNameLst>
                                          <p:attrName>style.visibility</p:attrName>
                                        </p:attrNameLst>
                                      </p:cBhvr>
                                      <p:to>
                                        <p:strVal val="visible"/>
                                      </p:to>
                                    </p:set>
                                    <p:animEffect transition="in" filter="wipe(right)">
                                      <p:cBhvr>
                                        <p:cTn id="51" dur="500"/>
                                        <p:tgtEl>
                                          <p:spTgt spid="19483"/>
                                        </p:tgtEl>
                                      </p:cBhvr>
                                    </p:animEffect>
                                  </p:childTnLst>
                                </p:cTn>
                              </p:par>
                            </p:childTnLst>
                          </p:cTn>
                        </p:par>
                        <p:par>
                          <p:cTn id="52" fill="hold">
                            <p:stCondLst>
                              <p:cond delay="500"/>
                            </p:stCondLst>
                            <p:childTnLst>
                              <p:par>
                                <p:cTn id="53" presetID="22" presetClass="entr" presetSubtype="4" fill="hold" grpId="0" nodeType="afterEffect">
                                  <p:stCondLst>
                                    <p:cond delay="0"/>
                                  </p:stCondLst>
                                  <p:childTnLst>
                                    <p:set>
                                      <p:cBhvr>
                                        <p:cTn id="54" dur="1" fill="hold">
                                          <p:stCondLst>
                                            <p:cond delay="0"/>
                                          </p:stCondLst>
                                        </p:cTn>
                                        <p:tgtEl>
                                          <p:spTgt spid="19468"/>
                                        </p:tgtEl>
                                        <p:attrNameLst>
                                          <p:attrName>style.visibility</p:attrName>
                                        </p:attrNameLst>
                                      </p:cBhvr>
                                      <p:to>
                                        <p:strVal val="visible"/>
                                      </p:to>
                                    </p:set>
                                    <p:animEffect transition="in" filter="wipe(down)">
                                      <p:cBhvr>
                                        <p:cTn id="55" dur="1000"/>
                                        <p:tgtEl>
                                          <p:spTgt spid="19468"/>
                                        </p:tgtEl>
                                      </p:cBhvr>
                                    </p:animEffect>
                                  </p:childTnLst>
                                </p:cTn>
                              </p:par>
                            </p:childTnLst>
                          </p:cTn>
                        </p:par>
                      </p:childTnLst>
                    </p:cTn>
                  </p:par>
                  <p:par>
                    <p:cTn id="56" fill="hold">
                      <p:stCondLst>
                        <p:cond delay="indefinite"/>
                      </p:stCondLst>
                      <p:childTnLst>
                        <p:par>
                          <p:cTn id="57" fill="hold">
                            <p:stCondLst>
                              <p:cond delay="0"/>
                            </p:stCondLst>
                            <p:childTnLst>
                              <p:par>
                                <p:cTn id="58" presetID="27" presetClass="entr" presetSubtype="0" fill="hold" grpId="0" nodeType="clickEffect">
                                  <p:stCondLst>
                                    <p:cond delay="0"/>
                                  </p:stCondLst>
                                  <p:iterate type="lt">
                                    <p:tmPct val="50000"/>
                                  </p:iterate>
                                  <p:childTnLst>
                                    <p:set>
                                      <p:cBhvr>
                                        <p:cTn id="59" dur="1" fill="hold">
                                          <p:stCondLst>
                                            <p:cond delay="0"/>
                                          </p:stCondLst>
                                        </p:cTn>
                                        <p:tgtEl>
                                          <p:spTgt spid="19489"/>
                                        </p:tgtEl>
                                        <p:attrNameLst>
                                          <p:attrName>style.visibility</p:attrName>
                                        </p:attrNameLst>
                                      </p:cBhvr>
                                      <p:to>
                                        <p:strVal val="visible"/>
                                      </p:to>
                                    </p:set>
                                    <p:anim calcmode="discrete" valueType="clr">
                                      <p:cBhvr override="childStyle">
                                        <p:cTn id="60" dur="500"/>
                                        <p:tgtEl>
                                          <p:spTgt spid="19489"/>
                                        </p:tgtEl>
                                        <p:attrNameLst>
                                          <p:attrName>style.color</p:attrName>
                                        </p:attrNameLst>
                                      </p:cBhvr>
                                      <p:tavLst>
                                        <p:tav tm="0">
                                          <p:val>
                                            <p:clrVal>
                                              <a:schemeClr val="accent2"/>
                                            </p:clrVal>
                                          </p:val>
                                        </p:tav>
                                        <p:tav tm="50000">
                                          <p:val>
                                            <p:clrVal>
                                              <a:schemeClr val="hlink"/>
                                            </p:clrVal>
                                          </p:val>
                                        </p:tav>
                                      </p:tavLst>
                                    </p:anim>
                                    <p:anim calcmode="discrete" valueType="clr">
                                      <p:cBhvr>
                                        <p:cTn id="61" dur="500"/>
                                        <p:tgtEl>
                                          <p:spTgt spid="19489"/>
                                        </p:tgtEl>
                                        <p:attrNameLst>
                                          <p:attrName>fillcolor</p:attrName>
                                        </p:attrNameLst>
                                      </p:cBhvr>
                                      <p:tavLst>
                                        <p:tav tm="0">
                                          <p:val>
                                            <p:clrVal>
                                              <a:schemeClr val="accent2"/>
                                            </p:clrVal>
                                          </p:val>
                                        </p:tav>
                                        <p:tav tm="50000">
                                          <p:val>
                                            <p:clrVal>
                                              <a:schemeClr val="hlink"/>
                                            </p:clrVal>
                                          </p:val>
                                        </p:tav>
                                      </p:tavLst>
                                    </p:anim>
                                    <p:set>
                                      <p:cBhvr>
                                        <p:cTn id="62" dur="500"/>
                                        <p:tgtEl>
                                          <p:spTgt spid="19489"/>
                                        </p:tgtEl>
                                        <p:attrNameLst>
                                          <p:attrName>fill.type</p:attrName>
                                        </p:attrNameLst>
                                      </p:cBhvr>
                                      <p:to>
                                        <p:strVal val="solid"/>
                                      </p:to>
                                    </p:set>
                                  </p:childTnLst>
                                </p:cTn>
                              </p:par>
                            </p:childTnLst>
                          </p:cTn>
                        </p:par>
                      </p:childTnLst>
                    </p:cTn>
                  </p:par>
                  <p:par>
                    <p:cTn id="63" fill="hold">
                      <p:stCondLst>
                        <p:cond delay="indefinite"/>
                      </p:stCondLst>
                      <p:childTnLst>
                        <p:par>
                          <p:cTn id="64" fill="hold">
                            <p:stCondLst>
                              <p:cond delay="0"/>
                            </p:stCondLst>
                            <p:childTnLst>
                              <p:par>
                                <p:cTn id="65" presetID="5" presetClass="entr" presetSubtype="10" fill="hold" nodeType="clickEffect">
                                  <p:stCondLst>
                                    <p:cond delay="0"/>
                                  </p:stCondLst>
                                  <p:childTnLst>
                                    <p:set>
                                      <p:cBhvr>
                                        <p:cTn id="66" dur="1" fill="hold">
                                          <p:stCondLst>
                                            <p:cond delay="0"/>
                                          </p:stCondLst>
                                        </p:cTn>
                                        <p:tgtEl>
                                          <p:spTgt spid="19494"/>
                                        </p:tgtEl>
                                        <p:attrNameLst>
                                          <p:attrName>style.visibility</p:attrName>
                                        </p:attrNameLst>
                                      </p:cBhvr>
                                      <p:to>
                                        <p:strVal val="visible"/>
                                      </p:to>
                                    </p:set>
                                    <p:animEffect transition="in" filter="checkerboard(across)">
                                      <p:cBhvr>
                                        <p:cTn id="67" dur="500"/>
                                        <p:tgtEl>
                                          <p:spTgt spid="19494"/>
                                        </p:tgtEl>
                                      </p:cBhvr>
                                    </p:animEffect>
                                  </p:childTnLst>
                                </p:cTn>
                              </p:par>
                            </p:childTnLst>
                          </p:cTn>
                        </p:par>
                      </p:childTnLst>
                    </p:cTn>
                  </p:par>
                  <p:par>
                    <p:cTn id="68" fill="hold">
                      <p:stCondLst>
                        <p:cond delay="indefinite"/>
                      </p:stCondLst>
                      <p:childTnLst>
                        <p:par>
                          <p:cTn id="69" fill="hold">
                            <p:stCondLst>
                              <p:cond delay="0"/>
                            </p:stCondLst>
                            <p:childTnLst>
                              <p:par>
                                <p:cTn id="70" presetID="18" presetClass="entr" presetSubtype="6" fill="hold" nodeType="clickEffect">
                                  <p:stCondLst>
                                    <p:cond delay="0"/>
                                  </p:stCondLst>
                                  <p:childTnLst>
                                    <p:set>
                                      <p:cBhvr>
                                        <p:cTn id="71" dur="1" fill="hold">
                                          <p:stCondLst>
                                            <p:cond delay="0"/>
                                          </p:stCondLst>
                                        </p:cTn>
                                        <p:tgtEl>
                                          <p:spTgt spid="19501"/>
                                        </p:tgtEl>
                                        <p:attrNameLst>
                                          <p:attrName>style.visibility</p:attrName>
                                        </p:attrNameLst>
                                      </p:cBhvr>
                                      <p:to>
                                        <p:strVal val="visible"/>
                                      </p:to>
                                    </p:set>
                                    <p:animEffect transition="in" filter="strips(downRight)">
                                      <p:cBhvr>
                                        <p:cTn id="72" dur="500"/>
                                        <p:tgtEl>
                                          <p:spTgt spid="1950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2" fill="hold" nodeType="clickEffect">
                                  <p:stCondLst>
                                    <p:cond delay="0"/>
                                  </p:stCondLst>
                                  <p:childTnLst>
                                    <p:set>
                                      <p:cBhvr>
                                        <p:cTn id="76" dur="1" fill="hold">
                                          <p:stCondLst>
                                            <p:cond delay="0"/>
                                          </p:stCondLst>
                                        </p:cTn>
                                        <p:tgtEl>
                                          <p:spTgt spid="19502"/>
                                        </p:tgtEl>
                                        <p:attrNameLst>
                                          <p:attrName>style.visibility</p:attrName>
                                        </p:attrNameLst>
                                      </p:cBhvr>
                                      <p:to>
                                        <p:strVal val="visible"/>
                                      </p:to>
                                    </p:set>
                                    <p:animEffect transition="in" filter="wipe(right)">
                                      <p:cBhvr>
                                        <p:cTn id="77" dur="500"/>
                                        <p:tgtEl>
                                          <p:spTgt spid="19502"/>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2" fill="hold" nodeType="clickEffect">
                                  <p:stCondLst>
                                    <p:cond delay="0"/>
                                  </p:stCondLst>
                                  <p:childTnLst>
                                    <p:set>
                                      <p:cBhvr>
                                        <p:cTn id="81" dur="1" fill="hold">
                                          <p:stCondLst>
                                            <p:cond delay="0"/>
                                          </p:stCondLst>
                                        </p:cTn>
                                        <p:tgtEl>
                                          <p:spTgt spid="19509"/>
                                        </p:tgtEl>
                                        <p:attrNameLst>
                                          <p:attrName>style.visibility</p:attrName>
                                        </p:attrNameLst>
                                      </p:cBhvr>
                                      <p:to>
                                        <p:strVal val="visible"/>
                                      </p:to>
                                    </p:set>
                                    <p:animEffect transition="in" filter="wipe(right)">
                                      <p:cBhvr>
                                        <p:cTn id="82" dur="500"/>
                                        <p:tgtEl>
                                          <p:spTgt spid="19509"/>
                                        </p:tgtEl>
                                      </p:cBhvr>
                                    </p:animEffect>
                                  </p:childTnLst>
                                </p:cTn>
                              </p:par>
                            </p:childTnLst>
                          </p:cTn>
                        </p:par>
                        <p:par>
                          <p:cTn id="83" fill="hold">
                            <p:stCondLst>
                              <p:cond delay="500"/>
                            </p:stCondLst>
                            <p:childTnLst>
                              <p:par>
                                <p:cTn id="84" presetID="11" presetClass="entr" presetSubtype="0" fill="hold" grpId="0" nodeType="afterEffect">
                                  <p:stCondLst>
                                    <p:cond delay="0"/>
                                  </p:stCondLst>
                                  <p:childTnLst>
                                    <p:set>
                                      <p:cBhvr>
                                        <p:cTn id="85" dur="500">
                                          <p:stCondLst>
                                            <p:cond delay="0"/>
                                          </p:stCondLst>
                                        </p:cTn>
                                        <p:tgtEl>
                                          <p:spTgt spid="19528"/>
                                        </p:tgtEl>
                                        <p:attrNameLst>
                                          <p:attrName>style.visibility</p:attrName>
                                        </p:attrNameLst>
                                      </p:cBhvr>
                                      <p:to>
                                        <p:strVal val="visible"/>
                                      </p:to>
                                    </p:set>
                                  </p:childTnLst>
                                </p:cTn>
                              </p:par>
                            </p:childTnLst>
                          </p:cTn>
                        </p:par>
                        <p:par>
                          <p:cTn id="86" fill="hold">
                            <p:stCondLst>
                              <p:cond delay="1000"/>
                            </p:stCondLst>
                            <p:childTnLst>
                              <p:par>
                                <p:cTn id="87" presetID="11" presetClass="entr" presetSubtype="0" fill="hold" grpId="0" nodeType="afterEffect">
                                  <p:stCondLst>
                                    <p:cond delay="0"/>
                                  </p:stCondLst>
                                  <p:childTnLst>
                                    <p:set>
                                      <p:cBhvr>
                                        <p:cTn id="88" dur="500">
                                          <p:stCondLst>
                                            <p:cond delay="0"/>
                                          </p:stCondLst>
                                        </p:cTn>
                                        <p:tgtEl>
                                          <p:spTgt spid="19529"/>
                                        </p:tgtEl>
                                        <p:attrNameLst>
                                          <p:attrName>style.visibility</p:attrName>
                                        </p:attrNameLst>
                                      </p:cBhvr>
                                      <p:to>
                                        <p:strVal val="visible"/>
                                      </p:to>
                                    </p:set>
                                  </p:childTnLst>
                                </p:cTn>
                              </p:par>
                            </p:childTnLst>
                          </p:cTn>
                        </p:par>
                        <p:par>
                          <p:cTn id="89" fill="hold">
                            <p:stCondLst>
                              <p:cond delay="1500"/>
                            </p:stCondLst>
                            <p:childTnLst>
                              <p:par>
                                <p:cTn id="90" presetID="11" presetClass="entr" presetSubtype="0" fill="hold" grpId="0" nodeType="afterEffect">
                                  <p:stCondLst>
                                    <p:cond delay="0"/>
                                  </p:stCondLst>
                                  <p:childTnLst>
                                    <p:set>
                                      <p:cBhvr>
                                        <p:cTn id="91" dur="500">
                                          <p:stCondLst>
                                            <p:cond delay="0"/>
                                          </p:stCondLst>
                                        </p:cTn>
                                        <p:tgtEl>
                                          <p:spTgt spid="19530"/>
                                        </p:tgtEl>
                                        <p:attrNameLst>
                                          <p:attrName>style.visibility</p:attrName>
                                        </p:attrNameLst>
                                      </p:cBhvr>
                                      <p:to>
                                        <p:strVal val="visible"/>
                                      </p:to>
                                    </p:set>
                                  </p:childTnLst>
                                </p:cTn>
                              </p:par>
                            </p:childTnLst>
                          </p:cTn>
                        </p:par>
                        <p:par>
                          <p:cTn id="92" fill="hold">
                            <p:stCondLst>
                              <p:cond delay="2000"/>
                            </p:stCondLst>
                            <p:childTnLst>
                              <p:par>
                                <p:cTn id="93" presetID="11" presetClass="entr" presetSubtype="0" fill="hold" grpId="0" nodeType="afterEffect">
                                  <p:stCondLst>
                                    <p:cond delay="0"/>
                                  </p:stCondLst>
                                  <p:childTnLst>
                                    <p:set>
                                      <p:cBhvr>
                                        <p:cTn id="94" dur="500">
                                          <p:stCondLst>
                                            <p:cond delay="0"/>
                                          </p:stCondLst>
                                        </p:cTn>
                                        <p:tgtEl>
                                          <p:spTgt spid="19531"/>
                                        </p:tgtEl>
                                        <p:attrNameLst>
                                          <p:attrName>style.visibility</p:attrName>
                                        </p:attrNameLst>
                                      </p:cBhvr>
                                      <p:to>
                                        <p:strVal val="visible"/>
                                      </p:to>
                                    </p:set>
                                  </p:childTnLst>
                                </p:cTn>
                              </p:par>
                            </p:childTnLst>
                          </p:cTn>
                        </p:par>
                        <p:par>
                          <p:cTn id="95" fill="hold">
                            <p:stCondLst>
                              <p:cond delay="2500"/>
                            </p:stCondLst>
                            <p:childTnLst>
                              <p:par>
                                <p:cTn id="96" presetID="11" presetClass="entr" presetSubtype="0" fill="hold" grpId="0" nodeType="afterEffect">
                                  <p:stCondLst>
                                    <p:cond delay="0"/>
                                  </p:stCondLst>
                                  <p:childTnLst>
                                    <p:set>
                                      <p:cBhvr>
                                        <p:cTn id="97" dur="500">
                                          <p:stCondLst>
                                            <p:cond delay="0"/>
                                          </p:stCondLst>
                                        </p:cTn>
                                        <p:tgtEl>
                                          <p:spTgt spid="19533"/>
                                        </p:tgtEl>
                                        <p:attrNameLst>
                                          <p:attrName>style.visibility</p:attrName>
                                        </p:attrNameLst>
                                      </p:cBhvr>
                                      <p:to>
                                        <p:strVal val="visible"/>
                                      </p:to>
                                    </p:set>
                                  </p:childTnLst>
                                </p:cTn>
                              </p:par>
                            </p:childTnLst>
                          </p:cTn>
                        </p:par>
                        <p:par>
                          <p:cTn id="98" fill="hold">
                            <p:stCondLst>
                              <p:cond delay="3000"/>
                            </p:stCondLst>
                            <p:childTnLst>
                              <p:par>
                                <p:cTn id="99" presetID="1" presetClass="entr" presetSubtype="0" fill="hold" grpId="0" nodeType="afterEffect">
                                  <p:stCondLst>
                                    <p:cond delay="0"/>
                                  </p:stCondLst>
                                  <p:childTnLst>
                                    <p:set>
                                      <p:cBhvr>
                                        <p:cTn id="100" dur="1" fill="hold">
                                          <p:stCondLst>
                                            <p:cond delay="0"/>
                                          </p:stCondLst>
                                        </p:cTn>
                                        <p:tgtEl>
                                          <p:spTgt spid="19532"/>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xit" presetSubtype="0" fill="hold" nodeType="clickEffect">
                                  <p:stCondLst>
                                    <p:cond delay="0"/>
                                  </p:stCondLst>
                                  <p:childTnLst>
                                    <p:set>
                                      <p:cBhvr>
                                        <p:cTn id="104" dur="1" fill="hold">
                                          <p:stCondLst>
                                            <p:cond delay="0"/>
                                          </p:stCondLst>
                                        </p:cTn>
                                        <p:tgtEl>
                                          <p:spTgt spid="19509"/>
                                        </p:tgtEl>
                                        <p:attrNameLst>
                                          <p:attrName>style.visibility</p:attrName>
                                        </p:attrNameLst>
                                      </p:cBhvr>
                                      <p:to>
                                        <p:strVal val="hidden"/>
                                      </p:to>
                                    </p:set>
                                  </p:childTnLst>
                                </p:cTn>
                              </p:par>
                              <p:par>
                                <p:cTn id="105" presetID="1" presetClass="exit" presetSubtype="0" fill="hold" grpId="1" nodeType="withEffect">
                                  <p:stCondLst>
                                    <p:cond delay="0"/>
                                  </p:stCondLst>
                                  <p:childTnLst>
                                    <p:set>
                                      <p:cBhvr>
                                        <p:cTn id="106" dur="1" fill="hold">
                                          <p:stCondLst>
                                            <p:cond delay="0"/>
                                          </p:stCondLst>
                                        </p:cTn>
                                        <p:tgtEl>
                                          <p:spTgt spid="19532"/>
                                        </p:tgtEl>
                                        <p:attrNameLst>
                                          <p:attrName>style.visibility</p:attrName>
                                        </p:attrNameLst>
                                      </p:cBhvr>
                                      <p:to>
                                        <p:strVal val="hidden"/>
                                      </p:to>
                                    </p:set>
                                  </p:childTnLst>
                                </p:cTn>
                              </p:par>
                            </p:childTnLst>
                          </p:cTn>
                        </p:par>
                        <p:par>
                          <p:cTn id="107" fill="hold">
                            <p:stCondLst>
                              <p:cond delay="0"/>
                            </p:stCondLst>
                            <p:childTnLst>
                              <p:par>
                                <p:cTn id="108" presetID="22" presetClass="entr" presetSubtype="2" fill="hold" nodeType="afterEffect">
                                  <p:stCondLst>
                                    <p:cond delay="0"/>
                                  </p:stCondLst>
                                  <p:childTnLst>
                                    <p:set>
                                      <p:cBhvr>
                                        <p:cTn id="109" dur="1" fill="hold">
                                          <p:stCondLst>
                                            <p:cond delay="0"/>
                                          </p:stCondLst>
                                        </p:cTn>
                                        <p:tgtEl>
                                          <p:spTgt spid="19515"/>
                                        </p:tgtEl>
                                        <p:attrNameLst>
                                          <p:attrName>style.visibility</p:attrName>
                                        </p:attrNameLst>
                                      </p:cBhvr>
                                      <p:to>
                                        <p:strVal val="visible"/>
                                      </p:to>
                                    </p:set>
                                    <p:animEffect transition="in" filter="wipe(right)">
                                      <p:cBhvr>
                                        <p:cTn id="110" dur="500"/>
                                        <p:tgtEl>
                                          <p:spTgt spid="19515"/>
                                        </p:tgtEl>
                                      </p:cBhvr>
                                    </p:animEffect>
                                  </p:childTnLst>
                                </p:cTn>
                              </p:par>
                            </p:childTnLst>
                          </p:cTn>
                        </p:par>
                        <p:par>
                          <p:cTn id="111" fill="hold">
                            <p:stCondLst>
                              <p:cond delay="500"/>
                            </p:stCondLst>
                            <p:childTnLst>
                              <p:par>
                                <p:cTn id="112" presetID="11" presetClass="entr" presetSubtype="0" fill="hold" grpId="0" nodeType="afterEffect">
                                  <p:stCondLst>
                                    <p:cond delay="0"/>
                                  </p:stCondLst>
                                  <p:childTnLst>
                                    <p:set>
                                      <p:cBhvr>
                                        <p:cTn id="113" dur="500">
                                          <p:stCondLst>
                                            <p:cond delay="0"/>
                                          </p:stCondLst>
                                        </p:cTn>
                                        <p:tgtEl>
                                          <p:spTgt spid="19522"/>
                                        </p:tgtEl>
                                        <p:attrNameLst>
                                          <p:attrName>style.visibility</p:attrName>
                                        </p:attrNameLst>
                                      </p:cBhvr>
                                      <p:to>
                                        <p:strVal val="visible"/>
                                      </p:to>
                                    </p:set>
                                  </p:childTnLst>
                                </p:cTn>
                              </p:par>
                            </p:childTnLst>
                          </p:cTn>
                        </p:par>
                        <p:par>
                          <p:cTn id="114" fill="hold">
                            <p:stCondLst>
                              <p:cond delay="1000"/>
                            </p:stCondLst>
                            <p:childTnLst>
                              <p:par>
                                <p:cTn id="115" presetID="11" presetClass="entr" presetSubtype="0" fill="hold" grpId="0" nodeType="afterEffect">
                                  <p:stCondLst>
                                    <p:cond delay="0"/>
                                  </p:stCondLst>
                                  <p:childTnLst>
                                    <p:set>
                                      <p:cBhvr>
                                        <p:cTn id="116" dur="500">
                                          <p:stCondLst>
                                            <p:cond delay="0"/>
                                          </p:stCondLst>
                                        </p:cTn>
                                        <p:tgtEl>
                                          <p:spTgt spid="19523"/>
                                        </p:tgtEl>
                                        <p:attrNameLst>
                                          <p:attrName>style.visibility</p:attrName>
                                        </p:attrNameLst>
                                      </p:cBhvr>
                                      <p:to>
                                        <p:strVal val="visible"/>
                                      </p:to>
                                    </p:set>
                                  </p:childTnLst>
                                </p:cTn>
                              </p:par>
                            </p:childTnLst>
                          </p:cTn>
                        </p:par>
                        <p:par>
                          <p:cTn id="117" fill="hold">
                            <p:stCondLst>
                              <p:cond delay="1500"/>
                            </p:stCondLst>
                            <p:childTnLst>
                              <p:par>
                                <p:cTn id="118" presetID="11" presetClass="entr" presetSubtype="0" fill="hold" grpId="0" nodeType="afterEffect">
                                  <p:stCondLst>
                                    <p:cond delay="0"/>
                                  </p:stCondLst>
                                  <p:childTnLst>
                                    <p:set>
                                      <p:cBhvr>
                                        <p:cTn id="119" dur="500">
                                          <p:stCondLst>
                                            <p:cond delay="0"/>
                                          </p:stCondLst>
                                        </p:cTn>
                                        <p:tgtEl>
                                          <p:spTgt spid="19524"/>
                                        </p:tgtEl>
                                        <p:attrNameLst>
                                          <p:attrName>style.visibility</p:attrName>
                                        </p:attrNameLst>
                                      </p:cBhvr>
                                      <p:to>
                                        <p:strVal val="visible"/>
                                      </p:to>
                                    </p:set>
                                  </p:childTnLst>
                                </p:cTn>
                              </p:par>
                            </p:childTnLst>
                          </p:cTn>
                        </p:par>
                        <p:par>
                          <p:cTn id="120" fill="hold">
                            <p:stCondLst>
                              <p:cond delay="2000"/>
                            </p:stCondLst>
                            <p:childTnLst>
                              <p:par>
                                <p:cTn id="121" presetID="11" presetClass="entr" presetSubtype="0" fill="hold" grpId="0" nodeType="afterEffect">
                                  <p:stCondLst>
                                    <p:cond delay="0"/>
                                  </p:stCondLst>
                                  <p:childTnLst>
                                    <p:set>
                                      <p:cBhvr>
                                        <p:cTn id="122" dur="500">
                                          <p:stCondLst>
                                            <p:cond delay="0"/>
                                          </p:stCondLst>
                                        </p:cTn>
                                        <p:tgtEl>
                                          <p:spTgt spid="19525"/>
                                        </p:tgtEl>
                                        <p:attrNameLst>
                                          <p:attrName>style.visibility</p:attrName>
                                        </p:attrNameLst>
                                      </p:cBhvr>
                                      <p:to>
                                        <p:strVal val="visible"/>
                                      </p:to>
                                    </p:set>
                                  </p:childTnLst>
                                </p:cTn>
                              </p:par>
                            </p:childTnLst>
                          </p:cTn>
                        </p:par>
                        <p:par>
                          <p:cTn id="123" fill="hold">
                            <p:stCondLst>
                              <p:cond delay="2500"/>
                            </p:stCondLst>
                            <p:childTnLst>
                              <p:par>
                                <p:cTn id="124" presetID="11" presetClass="entr" presetSubtype="0" fill="hold" grpId="0" nodeType="afterEffect">
                                  <p:stCondLst>
                                    <p:cond delay="0"/>
                                  </p:stCondLst>
                                  <p:childTnLst>
                                    <p:set>
                                      <p:cBhvr>
                                        <p:cTn id="125" dur="500">
                                          <p:stCondLst>
                                            <p:cond delay="0"/>
                                          </p:stCondLst>
                                        </p:cTn>
                                        <p:tgtEl>
                                          <p:spTgt spid="19527"/>
                                        </p:tgtEl>
                                        <p:attrNameLst>
                                          <p:attrName>style.visibility</p:attrName>
                                        </p:attrNameLst>
                                      </p:cBhvr>
                                      <p:to>
                                        <p:strVal val="visible"/>
                                      </p:to>
                                    </p:set>
                                  </p:childTnLst>
                                </p:cTn>
                              </p:par>
                            </p:childTnLst>
                          </p:cTn>
                        </p:par>
                        <p:par>
                          <p:cTn id="126" fill="hold">
                            <p:stCondLst>
                              <p:cond delay="3000"/>
                            </p:stCondLst>
                            <p:childTnLst>
                              <p:par>
                                <p:cTn id="127" presetID="1" presetClass="entr" presetSubtype="0" fill="hold" grpId="0" nodeType="afterEffect">
                                  <p:stCondLst>
                                    <p:cond delay="0"/>
                                  </p:stCondLst>
                                  <p:childTnLst>
                                    <p:set>
                                      <p:cBhvr>
                                        <p:cTn id="128" dur="1" fill="hold">
                                          <p:stCondLst>
                                            <p:cond delay="0"/>
                                          </p:stCondLst>
                                        </p:cTn>
                                        <p:tgtEl>
                                          <p:spTgt spid="19526"/>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27" presetClass="entr" presetSubtype="0" fill="hold" grpId="0" nodeType="clickEffect">
                                  <p:stCondLst>
                                    <p:cond delay="0"/>
                                  </p:stCondLst>
                                  <p:iterate type="lt">
                                    <p:tmPct val="50000"/>
                                  </p:iterate>
                                  <p:childTnLst>
                                    <p:set>
                                      <p:cBhvr>
                                        <p:cTn id="132" dur="1" fill="hold">
                                          <p:stCondLst>
                                            <p:cond delay="0"/>
                                          </p:stCondLst>
                                        </p:cTn>
                                        <p:tgtEl>
                                          <p:spTgt spid="19521"/>
                                        </p:tgtEl>
                                        <p:attrNameLst>
                                          <p:attrName>style.visibility</p:attrName>
                                        </p:attrNameLst>
                                      </p:cBhvr>
                                      <p:to>
                                        <p:strVal val="visible"/>
                                      </p:to>
                                    </p:set>
                                    <p:anim calcmode="discrete" valueType="clr">
                                      <p:cBhvr override="childStyle">
                                        <p:cTn id="133" dur="500"/>
                                        <p:tgtEl>
                                          <p:spTgt spid="19521"/>
                                        </p:tgtEl>
                                        <p:attrNameLst>
                                          <p:attrName>style.color</p:attrName>
                                        </p:attrNameLst>
                                      </p:cBhvr>
                                      <p:tavLst>
                                        <p:tav tm="0">
                                          <p:val>
                                            <p:clrVal>
                                              <a:schemeClr val="accent2"/>
                                            </p:clrVal>
                                          </p:val>
                                        </p:tav>
                                        <p:tav tm="50000">
                                          <p:val>
                                            <p:clrVal>
                                              <a:schemeClr val="hlink"/>
                                            </p:clrVal>
                                          </p:val>
                                        </p:tav>
                                      </p:tavLst>
                                    </p:anim>
                                    <p:anim calcmode="discrete" valueType="clr">
                                      <p:cBhvr>
                                        <p:cTn id="134" dur="500"/>
                                        <p:tgtEl>
                                          <p:spTgt spid="19521"/>
                                        </p:tgtEl>
                                        <p:attrNameLst>
                                          <p:attrName>fillcolor</p:attrName>
                                        </p:attrNameLst>
                                      </p:cBhvr>
                                      <p:tavLst>
                                        <p:tav tm="0">
                                          <p:val>
                                            <p:clrVal>
                                              <a:schemeClr val="accent2"/>
                                            </p:clrVal>
                                          </p:val>
                                        </p:tav>
                                        <p:tav tm="50000">
                                          <p:val>
                                            <p:clrVal>
                                              <a:schemeClr val="hlink"/>
                                            </p:clrVal>
                                          </p:val>
                                        </p:tav>
                                      </p:tavLst>
                                    </p:anim>
                                    <p:set>
                                      <p:cBhvr>
                                        <p:cTn id="135" dur="500"/>
                                        <p:tgtEl>
                                          <p:spTgt spid="19521"/>
                                        </p:tgtEl>
                                        <p:attrNameLst>
                                          <p:attrName>fill.type</p:attrName>
                                        </p:attrNameLst>
                                      </p:cBhvr>
                                      <p:to>
                                        <p:strVal val="solid"/>
                                      </p:to>
                                    </p:set>
                                  </p:childTnLst>
                                </p:cTn>
                              </p:par>
                            </p:childTnLst>
                          </p:cTn>
                        </p:par>
                      </p:childTnLst>
                    </p:cTn>
                  </p:par>
                  <p:par>
                    <p:cTn id="136" fill="hold">
                      <p:stCondLst>
                        <p:cond delay="indefinite"/>
                      </p:stCondLst>
                      <p:childTnLst>
                        <p:par>
                          <p:cTn id="137" fill="hold">
                            <p:stCondLst>
                              <p:cond delay="0"/>
                            </p:stCondLst>
                            <p:childTnLst>
                              <p:par>
                                <p:cTn id="138" presetID="9" presetClass="entr" presetSubtype="0" fill="hold" nodeType="clickEffect">
                                  <p:stCondLst>
                                    <p:cond delay="0"/>
                                  </p:stCondLst>
                                  <p:childTnLst>
                                    <p:set>
                                      <p:cBhvr>
                                        <p:cTn id="139" dur="1" fill="hold">
                                          <p:stCondLst>
                                            <p:cond delay="0"/>
                                          </p:stCondLst>
                                        </p:cTn>
                                        <p:tgtEl>
                                          <p:spTgt spid="19493"/>
                                        </p:tgtEl>
                                        <p:attrNameLst>
                                          <p:attrName>style.visibility</p:attrName>
                                        </p:attrNameLst>
                                      </p:cBhvr>
                                      <p:to>
                                        <p:strVal val="visible"/>
                                      </p:to>
                                    </p:set>
                                    <p:animEffect transition="in" filter="dissolve">
                                      <p:cBhvr>
                                        <p:cTn id="140" dur="500"/>
                                        <p:tgtEl>
                                          <p:spTgt spid="19493"/>
                                        </p:tgtEl>
                                      </p:cBhvr>
                                    </p:animEffect>
                                  </p:childTnLst>
                                </p:cTn>
                              </p:par>
                            </p:childTnLst>
                          </p:cTn>
                        </p:par>
                        <p:par>
                          <p:cTn id="141" fill="hold">
                            <p:stCondLst>
                              <p:cond delay="500"/>
                            </p:stCondLst>
                            <p:childTnLst>
                              <p:par>
                                <p:cTn id="142" presetID="4" presetClass="entr" presetSubtype="32" fill="hold" grpId="0" nodeType="afterEffect">
                                  <p:stCondLst>
                                    <p:cond delay="0"/>
                                  </p:stCondLst>
                                  <p:childTnLst>
                                    <p:set>
                                      <p:cBhvr>
                                        <p:cTn id="143" dur="1" fill="hold">
                                          <p:stCondLst>
                                            <p:cond delay="0"/>
                                          </p:stCondLst>
                                        </p:cTn>
                                        <p:tgtEl>
                                          <p:spTgt spid="19492"/>
                                        </p:tgtEl>
                                        <p:attrNameLst>
                                          <p:attrName>style.visibility</p:attrName>
                                        </p:attrNameLst>
                                      </p:cBhvr>
                                      <p:to>
                                        <p:strVal val="visible"/>
                                      </p:to>
                                    </p:set>
                                    <p:animEffect transition="in" filter="box(out)">
                                      <p:cBhvr>
                                        <p:cTn id="144" dur="500"/>
                                        <p:tgtEl>
                                          <p:spTgt spid="19492"/>
                                        </p:tgtEl>
                                      </p:cBhvr>
                                    </p:animEffect>
                                  </p:childTnLst>
                                </p:cTn>
                              </p:par>
                            </p:childTnLst>
                          </p:cTn>
                        </p:par>
                      </p:childTnLst>
                    </p:cTn>
                  </p:par>
                  <p:par>
                    <p:cTn id="145" fill="hold">
                      <p:stCondLst>
                        <p:cond delay="indefinite"/>
                      </p:stCondLst>
                      <p:childTnLst>
                        <p:par>
                          <p:cTn id="146" fill="hold">
                            <p:stCondLst>
                              <p:cond delay="0"/>
                            </p:stCondLst>
                            <p:childTnLst>
                              <p:par>
                                <p:cTn id="147" presetID="23" presetClass="entr" presetSubtype="32" fill="hold" grpId="0" nodeType="clickEffect">
                                  <p:stCondLst>
                                    <p:cond delay="0"/>
                                  </p:stCondLst>
                                  <p:childTnLst>
                                    <p:set>
                                      <p:cBhvr>
                                        <p:cTn id="148" dur="1" fill="hold">
                                          <p:stCondLst>
                                            <p:cond delay="0"/>
                                          </p:stCondLst>
                                        </p:cTn>
                                        <p:tgtEl>
                                          <p:spTgt spid="19534"/>
                                        </p:tgtEl>
                                        <p:attrNameLst>
                                          <p:attrName>style.visibility</p:attrName>
                                        </p:attrNameLst>
                                      </p:cBhvr>
                                      <p:to>
                                        <p:strVal val="visible"/>
                                      </p:to>
                                    </p:set>
                                    <p:anim calcmode="lin" valueType="num">
                                      <p:cBhvr>
                                        <p:cTn id="149" dur="500" fill="hold"/>
                                        <p:tgtEl>
                                          <p:spTgt spid="19534"/>
                                        </p:tgtEl>
                                        <p:attrNameLst>
                                          <p:attrName>ppt_w</p:attrName>
                                        </p:attrNameLst>
                                      </p:cBhvr>
                                      <p:tavLst>
                                        <p:tav tm="0">
                                          <p:val>
                                            <p:strVal val="4*#ppt_w"/>
                                          </p:val>
                                        </p:tav>
                                        <p:tav tm="100000">
                                          <p:val>
                                            <p:strVal val="#ppt_w"/>
                                          </p:val>
                                        </p:tav>
                                      </p:tavLst>
                                    </p:anim>
                                    <p:anim calcmode="lin" valueType="num">
                                      <p:cBhvr>
                                        <p:cTn id="150" dur="500" fill="hold"/>
                                        <p:tgtEl>
                                          <p:spTgt spid="19534"/>
                                        </p:tgtEl>
                                        <p:attrNameLst>
                                          <p:attrName>ppt_h</p:attrName>
                                        </p:attrNameLst>
                                      </p:cBhvr>
                                      <p:tavLst>
                                        <p:tav tm="0">
                                          <p:val>
                                            <p:strVal val="4*#ppt_h"/>
                                          </p:val>
                                        </p:tav>
                                        <p:tav tm="100000">
                                          <p:val>
                                            <p:strVal val="#ppt_h"/>
                                          </p:val>
                                        </p:tav>
                                      </p:tavLst>
                                    </p:anim>
                                  </p:childTnLst>
                                </p:cTn>
                              </p:par>
                            </p:childTnLst>
                          </p:cTn>
                        </p:par>
                      </p:childTnLst>
                    </p:cTn>
                  </p:par>
                  <p:par>
                    <p:cTn id="151" fill="hold">
                      <p:stCondLst>
                        <p:cond delay="indefinite"/>
                      </p:stCondLst>
                      <p:childTnLst>
                        <p:par>
                          <p:cTn id="152" fill="hold">
                            <p:stCondLst>
                              <p:cond delay="0"/>
                            </p:stCondLst>
                            <p:childTnLst>
                              <p:par>
                                <p:cTn id="153" presetID="23" presetClass="entr" presetSubtype="32" fill="hold" grpId="0" nodeType="clickEffect">
                                  <p:stCondLst>
                                    <p:cond delay="0"/>
                                  </p:stCondLst>
                                  <p:childTnLst>
                                    <p:set>
                                      <p:cBhvr>
                                        <p:cTn id="154" dur="1" fill="hold">
                                          <p:stCondLst>
                                            <p:cond delay="0"/>
                                          </p:stCondLst>
                                        </p:cTn>
                                        <p:tgtEl>
                                          <p:spTgt spid="19491"/>
                                        </p:tgtEl>
                                        <p:attrNameLst>
                                          <p:attrName>style.visibility</p:attrName>
                                        </p:attrNameLst>
                                      </p:cBhvr>
                                      <p:to>
                                        <p:strVal val="visible"/>
                                      </p:to>
                                    </p:set>
                                    <p:anim calcmode="lin" valueType="num">
                                      <p:cBhvr>
                                        <p:cTn id="155" dur="500" fill="hold"/>
                                        <p:tgtEl>
                                          <p:spTgt spid="19491"/>
                                        </p:tgtEl>
                                        <p:attrNameLst>
                                          <p:attrName>ppt_w</p:attrName>
                                        </p:attrNameLst>
                                      </p:cBhvr>
                                      <p:tavLst>
                                        <p:tav tm="0">
                                          <p:val>
                                            <p:strVal val="4*#ppt_w"/>
                                          </p:val>
                                        </p:tav>
                                        <p:tav tm="100000">
                                          <p:val>
                                            <p:strVal val="#ppt_w"/>
                                          </p:val>
                                        </p:tav>
                                      </p:tavLst>
                                    </p:anim>
                                    <p:anim calcmode="lin" valueType="num">
                                      <p:cBhvr>
                                        <p:cTn id="156" dur="500" fill="hold"/>
                                        <p:tgtEl>
                                          <p:spTgt spid="19491"/>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animBg="1"/>
      <p:bldP spid="19459" grpId="0"/>
      <p:bldP spid="19468" grpId="0" animBg="1"/>
      <p:bldP spid="19482" grpId="0" animBg="1"/>
      <p:bldP spid="19489" grpId="0" animBg="1"/>
      <p:bldP spid="19490" grpId="0"/>
      <p:bldP spid="19491" grpId="0"/>
      <p:bldP spid="19492" grpId="0" animBg="1"/>
      <p:bldP spid="19521" grpId="0" animBg="1"/>
      <p:bldP spid="19522" grpId="0" animBg="1"/>
      <p:bldP spid="19523" grpId="0" animBg="1"/>
      <p:bldP spid="19524" grpId="0" animBg="1"/>
      <p:bldP spid="19525" grpId="0" animBg="1"/>
      <p:bldP spid="19526" grpId="0" animBg="1"/>
      <p:bldP spid="19527" grpId="0" animBg="1"/>
      <p:bldP spid="19528" grpId="0" animBg="1"/>
      <p:bldP spid="19529" grpId="0" animBg="1"/>
      <p:bldP spid="19530" grpId="0" animBg="1"/>
      <p:bldP spid="19531" grpId="0" animBg="1"/>
      <p:bldP spid="19532" grpId="0" animBg="1"/>
      <p:bldP spid="19532" grpId="1" animBg="1"/>
      <p:bldP spid="19533" grpId="0" animBg="1"/>
      <p:bldP spid="1953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2" name="Group 2"/>
          <p:cNvGrpSpPr/>
          <p:nvPr/>
        </p:nvGrpSpPr>
        <p:grpSpPr bwMode="auto">
          <a:xfrm>
            <a:off x="5207000" y="3162300"/>
            <a:ext cx="633413" cy="838200"/>
            <a:chOff x="5202" y="2799"/>
            <a:chExt cx="399" cy="528"/>
          </a:xfrm>
        </p:grpSpPr>
        <p:pic>
          <p:nvPicPr>
            <p:cNvPr id="30789" name="Picture 3" descr="8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2" y="2799"/>
              <a:ext cx="235"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90" name="Line 4"/>
            <p:cNvSpPr>
              <a:spLocks noChangeShapeType="1"/>
            </p:cNvSpPr>
            <p:nvPr/>
          </p:nvSpPr>
          <p:spPr bwMode="auto">
            <a:xfrm flipH="1">
              <a:off x="5267" y="2999"/>
              <a:ext cx="9" cy="177"/>
            </a:xfrm>
            <a:prstGeom prst="line">
              <a:avLst/>
            </a:prstGeom>
            <a:noFill/>
            <a:ln w="28575">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91" name="Line 5"/>
            <p:cNvSpPr>
              <a:spLocks noChangeShapeType="1"/>
            </p:cNvSpPr>
            <p:nvPr/>
          </p:nvSpPr>
          <p:spPr bwMode="auto">
            <a:xfrm>
              <a:off x="5318" y="3014"/>
              <a:ext cx="8" cy="310"/>
            </a:xfrm>
            <a:prstGeom prst="line">
              <a:avLst/>
            </a:prstGeom>
            <a:noFill/>
            <a:ln w="28575">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92" name="Line 6"/>
            <p:cNvSpPr>
              <a:spLocks noChangeShapeType="1"/>
            </p:cNvSpPr>
            <p:nvPr/>
          </p:nvSpPr>
          <p:spPr bwMode="auto">
            <a:xfrm>
              <a:off x="5380" y="3033"/>
              <a:ext cx="18" cy="151"/>
            </a:xfrm>
            <a:prstGeom prst="line">
              <a:avLst/>
            </a:prstGeom>
            <a:noFill/>
            <a:ln w="28575">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93" name="Line 7"/>
            <p:cNvSpPr>
              <a:spLocks noChangeShapeType="1"/>
            </p:cNvSpPr>
            <p:nvPr/>
          </p:nvSpPr>
          <p:spPr bwMode="auto">
            <a:xfrm flipH="1">
              <a:off x="5213" y="3166"/>
              <a:ext cx="51" cy="161"/>
            </a:xfrm>
            <a:prstGeom prst="line">
              <a:avLst/>
            </a:prstGeom>
            <a:noFill/>
            <a:ln w="28575">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94" name="Line 8"/>
            <p:cNvSpPr>
              <a:spLocks noChangeShapeType="1"/>
            </p:cNvSpPr>
            <p:nvPr/>
          </p:nvSpPr>
          <p:spPr bwMode="auto">
            <a:xfrm>
              <a:off x="5398" y="3174"/>
              <a:ext cx="203" cy="141"/>
            </a:xfrm>
            <a:prstGeom prst="line">
              <a:avLst/>
            </a:prstGeom>
            <a:noFill/>
            <a:ln w="28575">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489" name="Group 9"/>
          <p:cNvGrpSpPr/>
          <p:nvPr/>
        </p:nvGrpSpPr>
        <p:grpSpPr bwMode="auto">
          <a:xfrm>
            <a:off x="1198563" y="3244850"/>
            <a:ext cx="771525" cy="833438"/>
            <a:chOff x="696" y="2651"/>
            <a:chExt cx="486" cy="525"/>
          </a:xfrm>
        </p:grpSpPr>
        <p:pic>
          <p:nvPicPr>
            <p:cNvPr id="30783" name="Picture 10" descr="8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 y="2651"/>
              <a:ext cx="235"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84" name="Line 11"/>
            <p:cNvSpPr>
              <a:spLocks noChangeShapeType="1"/>
            </p:cNvSpPr>
            <p:nvPr/>
          </p:nvSpPr>
          <p:spPr bwMode="auto">
            <a:xfrm flipH="1">
              <a:off x="848" y="2851"/>
              <a:ext cx="9" cy="177"/>
            </a:xfrm>
            <a:prstGeom prst="line">
              <a:avLst/>
            </a:prstGeom>
            <a:noFill/>
            <a:ln w="28575">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85" name="Line 12"/>
            <p:cNvSpPr>
              <a:spLocks noChangeShapeType="1"/>
            </p:cNvSpPr>
            <p:nvPr/>
          </p:nvSpPr>
          <p:spPr bwMode="auto">
            <a:xfrm>
              <a:off x="899" y="2866"/>
              <a:ext cx="8" cy="310"/>
            </a:xfrm>
            <a:prstGeom prst="line">
              <a:avLst/>
            </a:prstGeom>
            <a:noFill/>
            <a:ln w="28575">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86" name="Line 13"/>
            <p:cNvSpPr>
              <a:spLocks noChangeShapeType="1"/>
            </p:cNvSpPr>
            <p:nvPr/>
          </p:nvSpPr>
          <p:spPr bwMode="auto">
            <a:xfrm>
              <a:off x="961" y="2885"/>
              <a:ext cx="18" cy="151"/>
            </a:xfrm>
            <a:prstGeom prst="line">
              <a:avLst/>
            </a:prstGeom>
            <a:noFill/>
            <a:ln w="28575">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87" name="Line 14"/>
            <p:cNvSpPr>
              <a:spLocks noChangeShapeType="1"/>
            </p:cNvSpPr>
            <p:nvPr/>
          </p:nvSpPr>
          <p:spPr bwMode="auto">
            <a:xfrm flipH="1">
              <a:off x="696" y="3018"/>
              <a:ext cx="149" cy="143"/>
            </a:xfrm>
            <a:prstGeom prst="line">
              <a:avLst/>
            </a:prstGeom>
            <a:noFill/>
            <a:ln w="28575">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88" name="Line 15"/>
            <p:cNvSpPr>
              <a:spLocks noChangeShapeType="1"/>
            </p:cNvSpPr>
            <p:nvPr/>
          </p:nvSpPr>
          <p:spPr bwMode="auto">
            <a:xfrm>
              <a:off x="979" y="3026"/>
              <a:ext cx="203" cy="141"/>
            </a:xfrm>
            <a:prstGeom prst="line">
              <a:avLst/>
            </a:prstGeom>
            <a:noFill/>
            <a:ln w="28575">
              <a:solidFill>
                <a:srgbClr val="777777"/>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496" name="Rectangle 16"/>
          <p:cNvSpPr>
            <a:spLocks noChangeArrowheads="1"/>
          </p:cNvSpPr>
          <p:nvPr/>
        </p:nvSpPr>
        <p:spPr bwMode="auto">
          <a:xfrm>
            <a:off x="688975" y="1214438"/>
            <a:ext cx="7805738" cy="1754187"/>
          </a:xfrm>
          <a:prstGeom prst="rect">
            <a:avLst/>
          </a:prstGeom>
          <a:solidFill>
            <a:srgbClr val="FFFF99">
              <a:alpha val="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eaLnBrk="1" hangingPunct="1"/>
            <a:r>
              <a:rPr lang="en-US" altLang="zh-CN" sz="2300">
                <a:solidFill>
                  <a:srgbClr val="003300"/>
                </a:solidFill>
                <a:latin typeface="Times New Roman" panose="02020603050405020304" pitchFamily="18" charset="0"/>
                <a:ea typeface="隶书" panose="02010509060101010101" pitchFamily="49" charset="-122"/>
              </a:rPr>
              <a:t>    </a:t>
            </a:r>
            <a:r>
              <a:rPr lang="zh-CN" altLang="en-US" sz="2300">
                <a:solidFill>
                  <a:srgbClr val="000048"/>
                </a:solidFill>
                <a:latin typeface="Times New Roman" panose="02020603050405020304" pitchFamily="18" charset="0"/>
                <a:ea typeface="隶书" panose="02010509060101010101" pitchFamily="49" charset="-122"/>
              </a:rPr>
              <a:t>若被测管为</a:t>
            </a:r>
            <a:r>
              <a:rPr lang="en-US" altLang="zh-CN" sz="2300">
                <a:solidFill>
                  <a:srgbClr val="000048"/>
                </a:solidFill>
                <a:latin typeface="Times New Roman" panose="02020603050405020304" pitchFamily="18" charset="0"/>
                <a:ea typeface="隶书" panose="02010509060101010101" pitchFamily="49" charset="-122"/>
              </a:rPr>
              <a:t>NPN</a:t>
            </a:r>
            <a:r>
              <a:rPr lang="zh-CN" altLang="en-US" sz="2300">
                <a:solidFill>
                  <a:srgbClr val="000048"/>
                </a:solidFill>
                <a:latin typeface="Times New Roman" panose="02020603050405020304" pitchFamily="18" charset="0"/>
                <a:ea typeface="隶书" panose="02010509060101010101" pitchFamily="49" charset="-122"/>
              </a:rPr>
              <a:t>三极管，让黑表棒接假定的集电极</a:t>
            </a:r>
            <a:r>
              <a:rPr lang="en-US" altLang="zh-CN" sz="2300">
                <a:solidFill>
                  <a:srgbClr val="000048"/>
                </a:solidFill>
                <a:latin typeface="Times New Roman" panose="02020603050405020304" pitchFamily="18" charset="0"/>
                <a:ea typeface="隶书" panose="02010509060101010101" pitchFamily="49" charset="-122"/>
              </a:rPr>
              <a:t>C </a:t>
            </a:r>
            <a:r>
              <a:rPr lang="zh-CN" altLang="en-US" sz="2300">
                <a:solidFill>
                  <a:srgbClr val="000048"/>
                </a:solidFill>
                <a:latin typeface="Times New Roman" panose="02020603050405020304" pitchFamily="18" charset="0"/>
                <a:ea typeface="隶书" panose="02010509060101010101" pitchFamily="49" charset="-122"/>
              </a:rPr>
              <a:t>，红表棒接假定的发射极</a:t>
            </a:r>
            <a:r>
              <a:rPr lang="en-US" altLang="zh-CN" sz="2300">
                <a:solidFill>
                  <a:srgbClr val="000048"/>
                </a:solidFill>
                <a:latin typeface="Times New Roman" panose="02020603050405020304" pitchFamily="18" charset="0"/>
                <a:ea typeface="隶书" panose="02010509060101010101" pitchFamily="49" charset="-122"/>
              </a:rPr>
              <a:t>E </a:t>
            </a:r>
            <a:r>
              <a:rPr lang="zh-CN" altLang="en-US" sz="2300">
                <a:solidFill>
                  <a:srgbClr val="000048"/>
                </a:solidFill>
                <a:latin typeface="Times New Roman" panose="02020603050405020304" pitchFamily="18" charset="0"/>
                <a:ea typeface="隶书" panose="02010509060101010101" pitchFamily="49" charset="-122"/>
              </a:rPr>
              <a:t>。两手分别捏住</a:t>
            </a:r>
            <a:r>
              <a:rPr lang="en-US" altLang="zh-CN" sz="2300">
                <a:solidFill>
                  <a:srgbClr val="000048"/>
                </a:solidFill>
                <a:latin typeface="Times New Roman" panose="02020603050405020304" pitchFamily="18" charset="0"/>
                <a:ea typeface="隶书" panose="02010509060101010101" pitchFamily="49" charset="-122"/>
              </a:rPr>
              <a:t>B</a:t>
            </a:r>
            <a:r>
              <a:rPr lang="zh-CN" altLang="en-US" sz="2300">
                <a:solidFill>
                  <a:srgbClr val="000048"/>
                </a:solidFill>
                <a:latin typeface="Times New Roman" panose="02020603050405020304" pitchFamily="18" charset="0"/>
                <a:ea typeface="隶书" panose="02010509060101010101" pitchFamily="49" charset="-122"/>
              </a:rPr>
              <a:t>、</a:t>
            </a:r>
            <a:r>
              <a:rPr lang="en-US" altLang="zh-CN" sz="2300">
                <a:solidFill>
                  <a:srgbClr val="000048"/>
                </a:solidFill>
                <a:latin typeface="Times New Roman" panose="02020603050405020304" pitchFamily="18" charset="0"/>
                <a:ea typeface="隶书" panose="02010509060101010101" pitchFamily="49" charset="-122"/>
              </a:rPr>
              <a:t>C</a:t>
            </a:r>
            <a:r>
              <a:rPr lang="zh-CN" altLang="en-US" sz="2300">
                <a:solidFill>
                  <a:srgbClr val="000048"/>
                </a:solidFill>
                <a:latin typeface="Times New Roman" panose="02020603050405020304" pitchFamily="18" charset="0"/>
                <a:ea typeface="隶书" panose="02010509060101010101" pitchFamily="49" charset="-122"/>
              </a:rPr>
              <a:t>两极充当基极电阻</a:t>
            </a:r>
            <a:r>
              <a:rPr lang="en-US" altLang="zh-CN" sz="2300">
                <a:solidFill>
                  <a:srgbClr val="000048"/>
                </a:solidFill>
                <a:latin typeface="Times New Roman" panose="02020603050405020304" pitchFamily="18" charset="0"/>
                <a:ea typeface="隶书" panose="02010509060101010101" pitchFamily="49" charset="-122"/>
              </a:rPr>
              <a:t>R</a:t>
            </a:r>
            <a:r>
              <a:rPr lang="en-US" altLang="zh-CN" sz="2300" baseline="-25000">
                <a:solidFill>
                  <a:srgbClr val="000048"/>
                </a:solidFill>
                <a:latin typeface="Times New Roman" panose="02020603050405020304" pitchFamily="18" charset="0"/>
                <a:ea typeface="隶书" panose="02010509060101010101" pitchFamily="49" charset="-122"/>
              </a:rPr>
              <a:t>B</a:t>
            </a:r>
            <a:r>
              <a:rPr lang="en-US" altLang="zh-CN" sz="2300">
                <a:solidFill>
                  <a:srgbClr val="000048"/>
                </a:solidFill>
                <a:latin typeface="Times New Roman" panose="02020603050405020304" pitchFamily="18" charset="0"/>
                <a:ea typeface="隶书" panose="02010509060101010101" pitchFamily="49" charset="-122"/>
              </a:rPr>
              <a:t>(</a:t>
            </a:r>
            <a:r>
              <a:rPr lang="zh-CN" altLang="en-US" sz="2300">
                <a:solidFill>
                  <a:srgbClr val="000048"/>
                </a:solidFill>
                <a:latin typeface="Times New Roman" panose="02020603050405020304" pitchFamily="18" charset="0"/>
                <a:ea typeface="隶书" panose="02010509060101010101" pitchFamily="49" charset="-122"/>
              </a:rPr>
              <a:t>两手不能相接触</a:t>
            </a:r>
            <a:r>
              <a:rPr lang="en-US" altLang="zh-CN" sz="2300">
                <a:solidFill>
                  <a:srgbClr val="000048"/>
                </a:solidFill>
                <a:latin typeface="Times New Roman" panose="02020603050405020304" pitchFamily="18" charset="0"/>
                <a:ea typeface="隶书" panose="02010509060101010101" pitchFamily="49" charset="-122"/>
              </a:rPr>
              <a:t>)</a:t>
            </a:r>
            <a:r>
              <a:rPr lang="zh-CN" altLang="en-US" sz="2300">
                <a:solidFill>
                  <a:srgbClr val="000048"/>
                </a:solidFill>
                <a:latin typeface="Times New Roman" panose="02020603050405020304" pitchFamily="18" charset="0"/>
                <a:ea typeface="隶书" panose="02010509060101010101" pitchFamily="49" charset="-122"/>
              </a:rPr>
              <a:t>。注意观察电表指针偏转的大小； 之后，再将两检测极反过来假定，仍然注意观察电表指针偏转的大小。</a:t>
            </a:r>
          </a:p>
        </p:txBody>
      </p:sp>
      <p:pic>
        <p:nvPicPr>
          <p:cNvPr id="20497" name="Picture 17" descr="500型万用表"/>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00" y="3354388"/>
            <a:ext cx="788988"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98" name="Line 18"/>
          <p:cNvSpPr>
            <a:spLocks noChangeShapeType="1"/>
          </p:cNvSpPr>
          <p:nvPr/>
        </p:nvSpPr>
        <p:spPr bwMode="auto">
          <a:xfrm flipH="1" flipV="1">
            <a:off x="3609975" y="3514725"/>
            <a:ext cx="217488" cy="217488"/>
          </a:xfrm>
          <a:prstGeom prst="line">
            <a:avLst/>
          </a:prstGeom>
          <a:noFill/>
          <a:ln w="9525">
            <a:solidFill>
              <a:srgbClr val="AC21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0499" name="Group 19"/>
          <p:cNvGrpSpPr/>
          <p:nvPr/>
        </p:nvGrpSpPr>
        <p:grpSpPr bwMode="auto">
          <a:xfrm>
            <a:off x="1592263" y="3941763"/>
            <a:ext cx="2690812" cy="985837"/>
            <a:chOff x="2282" y="2019"/>
            <a:chExt cx="1814" cy="832"/>
          </a:xfrm>
        </p:grpSpPr>
        <p:grpSp>
          <p:nvGrpSpPr>
            <p:cNvPr id="30778" name="Group 20"/>
            <p:cNvGrpSpPr/>
            <p:nvPr/>
          </p:nvGrpSpPr>
          <p:grpSpPr bwMode="auto">
            <a:xfrm rot="-3944203">
              <a:off x="2180" y="2231"/>
              <a:ext cx="461" cy="38"/>
              <a:chOff x="1693" y="2789"/>
              <a:chExt cx="461" cy="38"/>
            </a:xfrm>
          </p:grpSpPr>
          <p:sp>
            <p:nvSpPr>
              <p:cNvPr id="30780" name="Rectangle 21"/>
              <p:cNvSpPr>
                <a:spLocks noChangeArrowheads="1"/>
              </p:cNvSpPr>
              <p:nvPr/>
            </p:nvSpPr>
            <p:spPr bwMode="auto">
              <a:xfrm>
                <a:off x="1719" y="2789"/>
                <a:ext cx="337" cy="38"/>
              </a:xfrm>
              <a:prstGeom prst="rect">
                <a:avLst/>
              </a:prstGeom>
              <a:solidFill>
                <a:schemeClr val="bg2"/>
              </a:solidFill>
              <a:ln w="9525">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30781" name="Line 22"/>
              <p:cNvSpPr>
                <a:spLocks noChangeShapeType="1"/>
              </p:cNvSpPr>
              <p:nvPr/>
            </p:nvSpPr>
            <p:spPr bwMode="auto">
              <a:xfrm>
                <a:off x="2038" y="2809"/>
                <a:ext cx="116" cy="0"/>
              </a:xfrm>
              <a:prstGeom prst="line">
                <a:avLst/>
              </a:prstGeom>
              <a:noFill/>
              <a:ln w="254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82" name="Oval 23"/>
              <p:cNvSpPr>
                <a:spLocks noChangeArrowheads="1"/>
              </p:cNvSpPr>
              <p:nvPr/>
            </p:nvSpPr>
            <p:spPr bwMode="auto">
              <a:xfrm>
                <a:off x="1693" y="2789"/>
                <a:ext cx="47" cy="38"/>
              </a:xfrm>
              <a:prstGeom prst="ellipse">
                <a:avLst/>
              </a:prstGeom>
              <a:solidFill>
                <a:schemeClr val="bg2"/>
              </a:solidFill>
              <a:ln w="9525">
                <a:solidFill>
                  <a:schemeClr val="bg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sp>
          <p:nvSpPr>
            <p:cNvPr id="30779" name="Freeform 24"/>
            <p:cNvSpPr/>
            <p:nvPr/>
          </p:nvSpPr>
          <p:spPr bwMode="auto">
            <a:xfrm>
              <a:off x="2282" y="2152"/>
              <a:ext cx="1814" cy="699"/>
            </a:xfrm>
            <a:custGeom>
              <a:avLst/>
              <a:gdLst>
                <a:gd name="T0" fmla="*/ 40 w 1814"/>
                <a:gd name="T1" fmla="*/ 280 h 699"/>
                <a:gd name="T2" fmla="*/ 40 w 1814"/>
                <a:gd name="T3" fmla="*/ 472 h 699"/>
                <a:gd name="T4" fmla="*/ 278 w 1814"/>
                <a:gd name="T5" fmla="*/ 618 h 699"/>
                <a:gd name="T6" fmla="*/ 735 w 1814"/>
                <a:gd name="T7" fmla="*/ 691 h 699"/>
                <a:gd name="T8" fmla="*/ 1421 w 1814"/>
                <a:gd name="T9" fmla="*/ 646 h 699"/>
                <a:gd name="T10" fmla="*/ 1750 w 1814"/>
                <a:gd name="T11" fmla="*/ 371 h 699"/>
                <a:gd name="T12" fmla="*/ 1805 w 1814"/>
                <a:gd name="T13" fmla="*/ 88 h 699"/>
                <a:gd name="T14" fmla="*/ 1750 w 1814"/>
                <a:gd name="T15" fmla="*/ 6 h 699"/>
                <a:gd name="T16" fmla="*/ 1686 w 1814"/>
                <a:gd name="T17" fmla="*/ 51 h 6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14" h="699">
                  <a:moveTo>
                    <a:pt x="40" y="280"/>
                  </a:moveTo>
                  <a:cubicBezTo>
                    <a:pt x="20" y="348"/>
                    <a:pt x="0" y="416"/>
                    <a:pt x="40" y="472"/>
                  </a:cubicBezTo>
                  <a:cubicBezTo>
                    <a:pt x="80" y="528"/>
                    <a:pt x="162" y="582"/>
                    <a:pt x="278" y="618"/>
                  </a:cubicBezTo>
                  <a:cubicBezTo>
                    <a:pt x="394" y="654"/>
                    <a:pt x="545" y="686"/>
                    <a:pt x="735" y="691"/>
                  </a:cubicBezTo>
                  <a:cubicBezTo>
                    <a:pt x="925" y="696"/>
                    <a:pt x="1252" y="699"/>
                    <a:pt x="1421" y="646"/>
                  </a:cubicBezTo>
                  <a:cubicBezTo>
                    <a:pt x="1590" y="593"/>
                    <a:pt x="1686" y="464"/>
                    <a:pt x="1750" y="371"/>
                  </a:cubicBezTo>
                  <a:cubicBezTo>
                    <a:pt x="1814" y="278"/>
                    <a:pt x="1805" y="149"/>
                    <a:pt x="1805" y="88"/>
                  </a:cubicBezTo>
                  <a:cubicBezTo>
                    <a:pt x="1805" y="27"/>
                    <a:pt x="1770" y="12"/>
                    <a:pt x="1750" y="6"/>
                  </a:cubicBezTo>
                  <a:cubicBezTo>
                    <a:pt x="1730" y="0"/>
                    <a:pt x="1694" y="39"/>
                    <a:pt x="1686" y="51"/>
                  </a:cubicBezTo>
                </a:path>
              </a:pathLst>
            </a:custGeom>
            <a:noFill/>
            <a:ln w="22225">
              <a:solidFill>
                <a:schemeClr val="bg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505" name="Text Box 25"/>
          <p:cNvSpPr txBox="1">
            <a:spLocks noChangeArrowheads="1"/>
          </p:cNvSpPr>
          <p:nvPr/>
        </p:nvSpPr>
        <p:spPr bwMode="auto">
          <a:xfrm>
            <a:off x="1787525" y="3678238"/>
            <a:ext cx="41751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eaLnBrk="1" hangingPunct="1">
              <a:spcBef>
                <a:spcPct val="50000"/>
              </a:spcBef>
              <a:defRPr/>
            </a:pPr>
            <a:r>
              <a:rPr lang="en-US" altLang="zh-CN" sz="2400" b="1">
                <a:solidFill>
                  <a:srgbClr val="FF6600"/>
                </a:solidFill>
                <a:effectLst>
                  <a:outerShdw blurRad="38100" dist="38100" dir="2700000" algn="tl">
                    <a:srgbClr val="C0C0C0"/>
                  </a:outerShdw>
                </a:effectLst>
                <a:latin typeface="Arial" panose="020B0604020202020204" pitchFamily="34" charset="0"/>
              </a:rPr>
              <a:t>c</a:t>
            </a:r>
          </a:p>
        </p:txBody>
      </p:sp>
      <p:sp>
        <p:nvSpPr>
          <p:cNvPr id="20506" name="Text Box 26"/>
          <p:cNvSpPr txBox="1">
            <a:spLocks noChangeArrowheads="1"/>
          </p:cNvSpPr>
          <p:nvPr/>
        </p:nvSpPr>
        <p:spPr bwMode="auto">
          <a:xfrm>
            <a:off x="1479550" y="3862388"/>
            <a:ext cx="41751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eaLnBrk="1" hangingPunct="1">
              <a:spcBef>
                <a:spcPct val="50000"/>
              </a:spcBef>
              <a:defRPr/>
            </a:pPr>
            <a:r>
              <a:rPr lang="en-US" altLang="zh-CN" sz="2400" b="1">
                <a:solidFill>
                  <a:srgbClr val="FF6600"/>
                </a:solidFill>
                <a:effectLst>
                  <a:outerShdw blurRad="38100" dist="38100" dir="2700000" algn="tl">
                    <a:srgbClr val="C0C0C0"/>
                  </a:outerShdw>
                </a:effectLst>
                <a:latin typeface="Arial" panose="020B0604020202020204" pitchFamily="34" charset="0"/>
              </a:rPr>
              <a:t>b</a:t>
            </a:r>
            <a:r>
              <a:rPr lang="en-US" altLang="zh-CN" sz="2400" b="1">
                <a:solidFill>
                  <a:schemeClr val="accent2"/>
                </a:solidFill>
                <a:effectLst>
                  <a:outerShdw blurRad="38100" dist="38100" dir="2700000" algn="tl">
                    <a:srgbClr val="C0C0C0"/>
                  </a:outerShdw>
                </a:effectLst>
                <a:latin typeface="Arial" panose="020B0604020202020204" pitchFamily="34" charset="0"/>
              </a:rPr>
              <a:t> </a:t>
            </a:r>
          </a:p>
        </p:txBody>
      </p:sp>
      <p:sp>
        <p:nvSpPr>
          <p:cNvPr id="20507" name="Text Box 27"/>
          <p:cNvSpPr txBox="1">
            <a:spLocks noChangeArrowheads="1"/>
          </p:cNvSpPr>
          <p:nvPr/>
        </p:nvSpPr>
        <p:spPr bwMode="auto">
          <a:xfrm>
            <a:off x="808038" y="3789363"/>
            <a:ext cx="45878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eaLnBrk="1" hangingPunct="1">
              <a:spcBef>
                <a:spcPct val="50000"/>
              </a:spcBef>
              <a:defRPr/>
            </a:pPr>
            <a:r>
              <a:rPr lang="en-US" altLang="zh-CN" sz="2400" b="1">
                <a:solidFill>
                  <a:srgbClr val="FF6600"/>
                </a:solidFill>
                <a:effectLst>
                  <a:outerShdw blurRad="38100" dist="38100" dir="2700000" algn="tl">
                    <a:srgbClr val="C0C0C0"/>
                  </a:outerShdw>
                </a:effectLst>
                <a:latin typeface="Arial" panose="020B0604020202020204" pitchFamily="34" charset="0"/>
              </a:rPr>
              <a:t>e</a:t>
            </a:r>
          </a:p>
        </p:txBody>
      </p:sp>
      <p:sp>
        <p:nvSpPr>
          <p:cNvPr id="20508" name="Rectangle 28"/>
          <p:cNvSpPr>
            <a:spLocks noChangeArrowheads="1"/>
          </p:cNvSpPr>
          <p:nvPr/>
        </p:nvSpPr>
        <p:spPr bwMode="auto">
          <a:xfrm>
            <a:off x="2319338" y="3551238"/>
            <a:ext cx="549275" cy="239712"/>
          </a:xfrm>
          <a:prstGeom prst="rect">
            <a:avLst/>
          </a:prstGeom>
          <a:solidFill>
            <a:srgbClr val="CCFF99"/>
          </a:solidFill>
          <a:ln w="25400">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20509" name="Text Box 29"/>
          <p:cNvSpPr txBox="1">
            <a:spLocks noChangeArrowheads="1"/>
          </p:cNvSpPr>
          <p:nvPr/>
        </p:nvSpPr>
        <p:spPr bwMode="auto">
          <a:xfrm>
            <a:off x="2124075" y="3214688"/>
            <a:ext cx="9429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b="1">
                <a:solidFill>
                  <a:srgbClr val="004C00"/>
                </a:solidFill>
                <a:latin typeface="Verdana" panose="020B0604030504040204" pitchFamily="34" charset="0"/>
                <a:ea typeface="楷体_GB2312" pitchFamily="49" charset="-122"/>
              </a:rPr>
              <a:t>人体电阻</a:t>
            </a:r>
          </a:p>
        </p:txBody>
      </p:sp>
      <p:sp>
        <p:nvSpPr>
          <p:cNvPr id="20510" name="Freeform 30"/>
          <p:cNvSpPr/>
          <p:nvPr/>
        </p:nvSpPr>
        <p:spPr bwMode="auto">
          <a:xfrm>
            <a:off x="1925638" y="3644900"/>
            <a:ext cx="379412" cy="404813"/>
          </a:xfrm>
          <a:custGeom>
            <a:avLst/>
            <a:gdLst>
              <a:gd name="T0" fmla="*/ 0 w 230"/>
              <a:gd name="T1" fmla="*/ 400050 h 255"/>
              <a:gd name="T2" fmla="*/ 219399 w 230"/>
              <a:gd name="T3" fmla="*/ 385763 h 255"/>
              <a:gd name="T4" fmla="*/ 232596 w 230"/>
              <a:gd name="T5" fmla="*/ 287338 h 255"/>
              <a:gd name="T6" fmla="*/ 160013 w 230"/>
              <a:gd name="T7" fmla="*/ 47625 h 255"/>
              <a:gd name="T8" fmla="*/ 379412 w 230"/>
              <a:gd name="T9" fmla="*/ 6350 h 2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0" h="255">
                <a:moveTo>
                  <a:pt x="0" y="252"/>
                </a:moveTo>
                <a:cubicBezTo>
                  <a:pt x="54" y="253"/>
                  <a:pt x="109" y="255"/>
                  <a:pt x="133" y="243"/>
                </a:cubicBezTo>
                <a:cubicBezTo>
                  <a:pt x="157" y="231"/>
                  <a:pt x="147" y="216"/>
                  <a:pt x="141" y="181"/>
                </a:cubicBezTo>
                <a:cubicBezTo>
                  <a:pt x="135" y="146"/>
                  <a:pt x="82" y="60"/>
                  <a:pt x="97" y="30"/>
                </a:cubicBezTo>
                <a:cubicBezTo>
                  <a:pt x="112" y="0"/>
                  <a:pt x="171" y="2"/>
                  <a:pt x="230" y="4"/>
                </a:cubicBezTo>
              </a:path>
            </a:pathLst>
          </a:custGeom>
          <a:noFill/>
          <a:ln w="25400">
            <a:solidFill>
              <a:srgbClr val="004C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11" name="Freeform 31"/>
          <p:cNvSpPr/>
          <p:nvPr/>
        </p:nvSpPr>
        <p:spPr bwMode="auto">
          <a:xfrm>
            <a:off x="1498600" y="3657600"/>
            <a:ext cx="1697038" cy="593725"/>
          </a:xfrm>
          <a:custGeom>
            <a:avLst/>
            <a:gdLst>
              <a:gd name="T0" fmla="*/ 1384300 w 1069"/>
              <a:gd name="T1" fmla="*/ 6201 h 383"/>
              <a:gd name="T2" fmla="*/ 1593850 w 1069"/>
              <a:gd name="T3" fmla="*/ 20153 h 383"/>
              <a:gd name="T4" fmla="*/ 1622425 w 1069"/>
              <a:gd name="T5" fmla="*/ 130216 h 383"/>
              <a:gd name="T6" fmla="*/ 1144588 w 1069"/>
              <a:gd name="T7" fmla="*/ 418553 h 383"/>
              <a:gd name="T8" fmla="*/ 230188 w 1069"/>
              <a:gd name="T9" fmla="*/ 582874 h 383"/>
              <a:gd name="T10" fmla="*/ 33338 w 1069"/>
              <a:gd name="T11" fmla="*/ 486761 h 383"/>
              <a:gd name="T12" fmla="*/ 33338 w 1069"/>
              <a:gd name="T13" fmla="*/ 364296 h 38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69" h="383">
                <a:moveTo>
                  <a:pt x="872" y="4"/>
                </a:moveTo>
                <a:cubicBezTo>
                  <a:pt x="925" y="2"/>
                  <a:pt x="979" y="0"/>
                  <a:pt x="1004" y="13"/>
                </a:cubicBezTo>
                <a:cubicBezTo>
                  <a:pt x="1029" y="26"/>
                  <a:pt x="1069" y="41"/>
                  <a:pt x="1022" y="84"/>
                </a:cubicBezTo>
                <a:cubicBezTo>
                  <a:pt x="975" y="127"/>
                  <a:pt x="867" y="221"/>
                  <a:pt x="721" y="270"/>
                </a:cubicBezTo>
                <a:cubicBezTo>
                  <a:pt x="575" y="319"/>
                  <a:pt x="262" y="369"/>
                  <a:pt x="145" y="376"/>
                </a:cubicBezTo>
                <a:cubicBezTo>
                  <a:pt x="28" y="383"/>
                  <a:pt x="42" y="338"/>
                  <a:pt x="21" y="314"/>
                </a:cubicBezTo>
                <a:cubicBezTo>
                  <a:pt x="0" y="290"/>
                  <a:pt x="18" y="254"/>
                  <a:pt x="21" y="235"/>
                </a:cubicBezTo>
              </a:path>
            </a:pathLst>
          </a:custGeom>
          <a:noFill/>
          <a:ln w="25400">
            <a:solidFill>
              <a:srgbClr val="004C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0512" name="Group 32"/>
          <p:cNvGrpSpPr/>
          <p:nvPr/>
        </p:nvGrpSpPr>
        <p:grpSpPr bwMode="auto">
          <a:xfrm>
            <a:off x="1270000" y="3975100"/>
            <a:ext cx="2943225" cy="912813"/>
            <a:chOff x="192" y="3277"/>
            <a:chExt cx="1854" cy="575"/>
          </a:xfrm>
        </p:grpSpPr>
        <p:grpSp>
          <p:nvGrpSpPr>
            <p:cNvPr id="30771" name="Group 33"/>
            <p:cNvGrpSpPr/>
            <p:nvPr/>
          </p:nvGrpSpPr>
          <p:grpSpPr bwMode="auto">
            <a:xfrm rot="-5826713">
              <a:off x="51" y="3418"/>
              <a:ext cx="323" cy="41"/>
              <a:chOff x="1693" y="2789"/>
              <a:chExt cx="461" cy="38"/>
            </a:xfrm>
          </p:grpSpPr>
          <p:sp>
            <p:nvSpPr>
              <p:cNvPr id="30775" name="Rectangle 34"/>
              <p:cNvSpPr>
                <a:spLocks noChangeArrowheads="1"/>
              </p:cNvSpPr>
              <p:nvPr/>
            </p:nvSpPr>
            <p:spPr bwMode="auto">
              <a:xfrm>
                <a:off x="1719" y="2789"/>
                <a:ext cx="337" cy="38"/>
              </a:xfrm>
              <a:prstGeom prst="rect">
                <a:avLst/>
              </a:prstGeom>
              <a:solidFill>
                <a:srgbClr val="AC2100"/>
              </a:solidFill>
              <a:ln w="9525">
                <a:solidFill>
                  <a:srgbClr val="AC21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30776" name="Line 35"/>
              <p:cNvSpPr>
                <a:spLocks noChangeShapeType="1"/>
              </p:cNvSpPr>
              <p:nvPr/>
            </p:nvSpPr>
            <p:spPr bwMode="auto">
              <a:xfrm>
                <a:off x="2038" y="2809"/>
                <a:ext cx="116" cy="0"/>
              </a:xfrm>
              <a:prstGeom prst="line">
                <a:avLst/>
              </a:prstGeom>
              <a:noFill/>
              <a:ln w="25400">
                <a:solidFill>
                  <a:srgbClr val="AC21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77" name="Oval 36"/>
              <p:cNvSpPr>
                <a:spLocks noChangeArrowheads="1"/>
              </p:cNvSpPr>
              <p:nvPr/>
            </p:nvSpPr>
            <p:spPr bwMode="auto">
              <a:xfrm>
                <a:off x="1693" y="2789"/>
                <a:ext cx="47" cy="38"/>
              </a:xfrm>
              <a:prstGeom prst="ellipse">
                <a:avLst/>
              </a:prstGeom>
              <a:solidFill>
                <a:schemeClr val="accent2"/>
              </a:solidFill>
              <a:ln w="9525">
                <a:solidFill>
                  <a:srgbClr val="AC21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pic>
          <p:nvPicPr>
            <p:cNvPr id="30772" name="Picture 37" descr="8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5400000">
              <a:off x="1906" y="3290"/>
              <a:ext cx="10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AC2100"/>
                  </a:solidFill>
                  <a:miter lim="800000"/>
                  <a:headEnd/>
                  <a:tailEnd/>
                </a14:hiddenLine>
              </a:ext>
            </a:extLst>
          </p:spPr>
        </p:pic>
        <p:sp>
          <p:nvSpPr>
            <p:cNvPr id="30773" name="Freeform 38"/>
            <p:cNvSpPr/>
            <p:nvPr/>
          </p:nvSpPr>
          <p:spPr bwMode="auto">
            <a:xfrm>
              <a:off x="224" y="3374"/>
              <a:ext cx="1822" cy="478"/>
            </a:xfrm>
            <a:custGeom>
              <a:avLst/>
              <a:gdLst>
                <a:gd name="T0" fmla="*/ 0 w 1180"/>
                <a:gd name="T1" fmla="*/ 274 h 587"/>
                <a:gd name="T2" fmla="*/ 137 w 1180"/>
                <a:gd name="T3" fmla="*/ 447 h 587"/>
                <a:gd name="T4" fmla="*/ 273 w 1180"/>
                <a:gd name="T5" fmla="*/ 462 h 587"/>
                <a:gd name="T6" fmla="*/ 1027 w 1180"/>
                <a:gd name="T7" fmla="*/ 432 h 587"/>
                <a:gd name="T8" fmla="*/ 1438 w 1180"/>
                <a:gd name="T9" fmla="*/ 382 h 587"/>
                <a:gd name="T10" fmla="*/ 1697 w 1180"/>
                <a:gd name="T11" fmla="*/ 252 h 587"/>
                <a:gd name="T12" fmla="*/ 1807 w 1180"/>
                <a:gd name="T13" fmla="*/ 116 h 587"/>
                <a:gd name="T14" fmla="*/ 1793 w 1180"/>
                <a:gd name="T15" fmla="*/ 58 h 587"/>
                <a:gd name="T16" fmla="*/ 1753 w 1180"/>
                <a:gd name="T17" fmla="*/ 0 h 5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80" h="587">
                  <a:moveTo>
                    <a:pt x="0" y="337"/>
                  </a:moveTo>
                  <a:cubicBezTo>
                    <a:pt x="30" y="424"/>
                    <a:pt x="60" y="511"/>
                    <a:pt x="89" y="549"/>
                  </a:cubicBezTo>
                  <a:cubicBezTo>
                    <a:pt x="118" y="587"/>
                    <a:pt x="81" y="570"/>
                    <a:pt x="177" y="567"/>
                  </a:cubicBezTo>
                  <a:cubicBezTo>
                    <a:pt x="273" y="564"/>
                    <a:pt x="539" y="547"/>
                    <a:pt x="665" y="531"/>
                  </a:cubicBezTo>
                  <a:cubicBezTo>
                    <a:pt x="791" y="515"/>
                    <a:pt x="859" y="506"/>
                    <a:pt x="931" y="469"/>
                  </a:cubicBezTo>
                  <a:cubicBezTo>
                    <a:pt x="1003" y="432"/>
                    <a:pt x="1059" y="364"/>
                    <a:pt x="1099" y="310"/>
                  </a:cubicBezTo>
                  <a:cubicBezTo>
                    <a:pt x="1139" y="256"/>
                    <a:pt x="1160" y="182"/>
                    <a:pt x="1170" y="142"/>
                  </a:cubicBezTo>
                  <a:cubicBezTo>
                    <a:pt x="1180" y="102"/>
                    <a:pt x="1167" y="95"/>
                    <a:pt x="1161" y="71"/>
                  </a:cubicBezTo>
                  <a:cubicBezTo>
                    <a:pt x="1155" y="47"/>
                    <a:pt x="1145" y="23"/>
                    <a:pt x="1135" y="0"/>
                  </a:cubicBezTo>
                </a:path>
              </a:pathLst>
            </a:custGeom>
            <a:noFill/>
            <a:ln w="22225" cmpd="sng">
              <a:solidFill>
                <a:srgbClr val="AC21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74" name="Line 39"/>
            <p:cNvSpPr>
              <a:spLocks noChangeShapeType="1"/>
            </p:cNvSpPr>
            <p:nvPr/>
          </p:nvSpPr>
          <p:spPr bwMode="auto">
            <a:xfrm flipV="1">
              <a:off x="228" y="3575"/>
              <a:ext cx="0" cy="101"/>
            </a:xfrm>
            <a:prstGeom prst="line">
              <a:avLst/>
            </a:prstGeom>
            <a:noFill/>
            <a:ln w="28575">
              <a:solidFill>
                <a:srgbClr val="AC21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520" name="Line 40"/>
          <p:cNvSpPr>
            <a:spLocks noChangeShapeType="1"/>
          </p:cNvSpPr>
          <p:nvPr/>
        </p:nvSpPr>
        <p:spPr bwMode="auto">
          <a:xfrm flipH="1" flipV="1">
            <a:off x="3686175" y="3446463"/>
            <a:ext cx="158750" cy="292100"/>
          </a:xfrm>
          <a:prstGeom prst="line">
            <a:avLst/>
          </a:prstGeom>
          <a:noFill/>
          <a:ln w="9525">
            <a:solidFill>
              <a:srgbClr val="AC21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21" name="Line 41"/>
          <p:cNvSpPr>
            <a:spLocks noChangeShapeType="1"/>
          </p:cNvSpPr>
          <p:nvPr/>
        </p:nvSpPr>
        <p:spPr bwMode="auto">
          <a:xfrm flipH="1" flipV="1">
            <a:off x="3776663" y="3448050"/>
            <a:ext cx="69850" cy="261938"/>
          </a:xfrm>
          <a:prstGeom prst="line">
            <a:avLst/>
          </a:prstGeom>
          <a:noFill/>
          <a:ln w="9525">
            <a:solidFill>
              <a:srgbClr val="AC21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22" name="Line 42"/>
          <p:cNvSpPr>
            <a:spLocks noChangeShapeType="1"/>
          </p:cNvSpPr>
          <p:nvPr/>
        </p:nvSpPr>
        <p:spPr bwMode="auto">
          <a:xfrm flipV="1">
            <a:off x="3860800" y="3448050"/>
            <a:ext cx="34925" cy="288925"/>
          </a:xfrm>
          <a:prstGeom prst="line">
            <a:avLst/>
          </a:prstGeom>
          <a:noFill/>
          <a:ln w="9525">
            <a:solidFill>
              <a:srgbClr val="AC21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20523" name="Picture 43" descr="500型万用表"/>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0138" y="3271838"/>
            <a:ext cx="788987"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4" name="Line 44"/>
          <p:cNvSpPr>
            <a:spLocks noChangeShapeType="1"/>
          </p:cNvSpPr>
          <p:nvPr/>
        </p:nvSpPr>
        <p:spPr bwMode="auto">
          <a:xfrm flipH="1" flipV="1">
            <a:off x="7580313" y="3475038"/>
            <a:ext cx="217487" cy="217487"/>
          </a:xfrm>
          <a:prstGeom prst="line">
            <a:avLst/>
          </a:prstGeom>
          <a:noFill/>
          <a:ln w="9525">
            <a:solidFill>
              <a:srgbClr val="AC21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0525" name="Group 45"/>
          <p:cNvGrpSpPr/>
          <p:nvPr/>
        </p:nvGrpSpPr>
        <p:grpSpPr bwMode="auto">
          <a:xfrm>
            <a:off x="4945063" y="3860800"/>
            <a:ext cx="3227387" cy="901700"/>
            <a:chOff x="2882" y="3000"/>
            <a:chExt cx="2059" cy="568"/>
          </a:xfrm>
        </p:grpSpPr>
        <p:grpSp>
          <p:nvGrpSpPr>
            <p:cNvPr id="30766" name="Group 46"/>
            <p:cNvGrpSpPr/>
            <p:nvPr/>
          </p:nvGrpSpPr>
          <p:grpSpPr bwMode="auto">
            <a:xfrm rot="-3944203">
              <a:off x="2831" y="3154"/>
              <a:ext cx="344" cy="35"/>
              <a:chOff x="1693" y="2789"/>
              <a:chExt cx="461" cy="38"/>
            </a:xfrm>
          </p:grpSpPr>
          <p:sp>
            <p:nvSpPr>
              <p:cNvPr id="30768" name="Rectangle 47"/>
              <p:cNvSpPr>
                <a:spLocks noChangeArrowheads="1"/>
              </p:cNvSpPr>
              <p:nvPr/>
            </p:nvSpPr>
            <p:spPr bwMode="auto">
              <a:xfrm>
                <a:off x="1719" y="2789"/>
                <a:ext cx="337" cy="38"/>
              </a:xfrm>
              <a:prstGeom prst="rect">
                <a:avLst/>
              </a:prstGeom>
              <a:solidFill>
                <a:schemeClr val="bg2"/>
              </a:solidFill>
              <a:ln w="9525">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30769" name="Line 48"/>
              <p:cNvSpPr>
                <a:spLocks noChangeShapeType="1"/>
              </p:cNvSpPr>
              <p:nvPr/>
            </p:nvSpPr>
            <p:spPr bwMode="auto">
              <a:xfrm>
                <a:off x="2038" y="2809"/>
                <a:ext cx="116" cy="0"/>
              </a:xfrm>
              <a:prstGeom prst="line">
                <a:avLst/>
              </a:prstGeom>
              <a:noFill/>
              <a:ln w="254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70" name="Oval 49"/>
              <p:cNvSpPr>
                <a:spLocks noChangeArrowheads="1"/>
              </p:cNvSpPr>
              <p:nvPr/>
            </p:nvSpPr>
            <p:spPr bwMode="auto">
              <a:xfrm>
                <a:off x="1693" y="2789"/>
                <a:ext cx="47" cy="38"/>
              </a:xfrm>
              <a:prstGeom prst="ellipse">
                <a:avLst/>
              </a:prstGeom>
              <a:solidFill>
                <a:schemeClr val="tx2"/>
              </a:solidFill>
              <a:ln w="9525">
                <a:solidFill>
                  <a:schemeClr val="bg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sp>
          <p:nvSpPr>
            <p:cNvPr id="30767" name="Freeform 50"/>
            <p:cNvSpPr/>
            <p:nvPr/>
          </p:nvSpPr>
          <p:spPr bwMode="auto">
            <a:xfrm>
              <a:off x="2882" y="3152"/>
              <a:ext cx="2059" cy="416"/>
            </a:xfrm>
            <a:custGeom>
              <a:avLst/>
              <a:gdLst>
                <a:gd name="T0" fmla="*/ 45 w 1814"/>
                <a:gd name="T1" fmla="*/ 167 h 699"/>
                <a:gd name="T2" fmla="*/ 45 w 1814"/>
                <a:gd name="T3" fmla="*/ 281 h 699"/>
                <a:gd name="T4" fmla="*/ 316 w 1814"/>
                <a:gd name="T5" fmla="*/ 368 h 699"/>
                <a:gd name="T6" fmla="*/ 834 w 1814"/>
                <a:gd name="T7" fmla="*/ 411 h 699"/>
                <a:gd name="T8" fmla="*/ 1613 w 1814"/>
                <a:gd name="T9" fmla="*/ 384 h 699"/>
                <a:gd name="T10" fmla="*/ 1986 w 1814"/>
                <a:gd name="T11" fmla="*/ 221 h 699"/>
                <a:gd name="T12" fmla="*/ 2049 w 1814"/>
                <a:gd name="T13" fmla="*/ 52 h 699"/>
                <a:gd name="T14" fmla="*/ 1986 w 1814"/>
                <a:gd name="T15" fmla="*/ 4 h 699"/>
                <a:gd name="T16" fmla="*/ 1914 w 1814"/>
                <a:gd name="T17" fmla="*/ 30 h 6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14" h="699">
                  <a:moveTo>
                    <a:pt x="40" y="280"/>
                  </a:moveTo>
                  <a:cubicBezTo>
                    <a:pt x="20" y="348"/>
                    <a:pt x="0" y="416"/>
                    <a:pt x="40" y="472"/>
                  </a:cubicBezTo>
                  <a:cubicBezTo>
                    <a:pt x="80" y="528"/>
                    <a:pt x="162" y="582"/>
                    <a:pt x="278" y="618"/>
                  </a:cubicBezTo>
                  <a:cubicBezTo>
                    <a:pt x="394" y="654"/>
                    <a:pt x="545" y="686"/>
                    <a:pt x="735" y="691"/>
                  </a:cubicBezTo>
                  <a:cubicBezTo>
                    <a:pt x="925" y="696"/>
                    <a:pt x="1252" y="699"/>
                    <a:pt x="1421" y="646"/>
                  </a:cubicBezTo>
                  <a:cubicBezTo>
                    <a:pt x="1590" y="593"/>
                    <a:pt x="1686" y="464"/>
                    <a:pt x="1750" y="371"/>
                  </a:cubicBezTo>
                  <a:cubicBezTo>
                    <a:pt x="1814" y="278"/>
                    <a:pt x="1805" y="149"/>
                    <a:pt x="1805" y="88"/>
                  </a:cubicBezTo>
                  <a:cubicBezTo>
                    <a:pt x="1805" y="27"/>
                    <a:pt x="1770" y="12"/>
                    <a:pt x="1750" y="6"/>
                  </a:cubicBezTo>
                  <a:cubicBezTo>
                    <a:pt x="1730" y="0"/>
                    <a:pt x="1694" y="39"/>
                    <a:pt x="1686" y="51"/>
                  </a:cubicBezTo>
                </a:path>
              </a:pathLst>
            </a:custGeom>
            <a:noFill/>
            <a:ln w="22225">
              <a:solidFill>
                <a:schemeClr val="bg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531" name="Text Box 51"/>
          <p:cNvSpPr txBox="1">
            <a:spLocks noChangeArrowheads="1"/>
          </p:cNvSpPr>
          <p:nvPr/>
        </p:nvSpPr>
        <p:spPr bwMode="auto">
          <a:xfrm>
            <a:off x="4816475" y="3722688"/>
            <a:ext cx="41751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eaLnBrk="1" hangingPunct="1">
              <a:spcBef>
                <a:spcPct val="50000"/>
              </a:spcBef>
              <a:defRPr/>
            </a:pPr>
            <a:r>
              <a:rPr lang="en-US" altLang="zh-CN" sz="2400" b="1">
                <a:solidFill>
                  <a:srgbClr val="FF6600"/>
                </a:solidFill>
                <a:effectLst>
                  <a:outerShdw blurRad="38100" dist="38100" dir="2700000" algn="tl">
                    <a:srgbClr val="C0C0C0"/>
                  </a:outerShdw>
                </a:effectLst>
                <a:latin typeface="Arial" panose="020B0604020202020204" pitchFamily="34" charset="0"/>
              </a:rPr>
              <a:t>c</a:t>
            </a:r>
          </a:p>
        </p:txBody>
      </p:sp>
      <p:sp>
        <p:nvSpPr>
          <p:cNvPr id="20532" name="Text Box 52"/>
          <p:cNvSpPr txBox="1">
            <a:spLocks noChangeArrowheads="1"/>
          </p:cNvSpPr>
          <p:nvPr/>
        </p:nvSpPr>
        <p:spPr bwMode="auto">
          <a:xfrm>
            <a:off x="5351463" y="3781425"/>
            <a:ext cx="4175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eaLnBrk="1" hangingPunct="1">
              <a:spcBef>
                <a:spcPct val="50000"/>
              </a:spcBef>
              <a:defRPr/>
            </a:pPr>
            <a:r>
              <a:rPr lang="en-US" altLang="zh-CN" sz="2400" b="1">
                <a:solidFill>
                  <a:srgbClr val="FF6600"/>
                </a:solidFill>
                <a:effectLst>
                  <a:outerShdw blurRad="38100" dist="38100" dir="2700000" algn="tl">
                    <a:srgbClr val="C0C0C0"/>
                  </a:outerShdw>
                </a:effectLst>
                <a:latin typeface="Arial" panose="020B0604020202020204" pitchFamily="34" charset="0"/>
              </a:rPr>
              <a:t>b </a:t>
            </a:r>
          </a:p>
        </p:txBody>
      </p:sp>
      <p:sp>
        <p:nvSpPr>
          <p:cNvPr id="20533" name="Text Box 53"/>
          <p:cNvSpPr txBox="1">
            <a:spLocks noChangeArrowheads="1"/>
          </p:cNvSpPr>
          <p:nvPr/>
        </p:nvSpPr>
        <p:spPr bwMode="auto">
          <a:xfrm>
            <a:off x="5707063" y="3665538"/>
            <a:ext cx="45878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eaLnBrk="1" hangingPunct="1">
              <a:spcBef>
                <a:spcPct val="50000"/>
              </a:spcBef>
              <a:defRPr/>
            </a:pPr>
            <a:r>
              <a:rPr lang="en-US" altLang="zh-CN" sz="2400" b="1">
                <a:solidFill>
                  <a:srgbClr val="FF6600"/>
                </a:solidFill>
                <a:effectLst>
                  <a:outerShdw blurRad="38100" dist="38100" dir="2700000" algn="tl">
                    <a:srgbClr val="C0C0C0"/>
                  </a:outerShdw>
                </a:effectLst>
                <a:latin typeface="Arial" panose="020B0604020202020204" pitchFamily="34" charset="0"/>
              </a:rPr>
              <a:t>e</a:t>
            </a:r>
          </a:p>
        </p:txBody>
      </p:sp>
      <p:sp>
        <p:nvSpPr>
          <p:cNvPr id="20534" name="Rectangle 54"/>
          <p:cNvSpPr>
            <a:spLocks noChangeArrowheads="1"/>
          </p:cNvSpPr>
          <p:nvPr/>
        </p:nvSpPr>
        <p:spPr bwMode="auto">
          <a:xfrm>
            <a:off x="6248400" y="4229100"/>
            <a:ext cx="549275" cy="239713"/>
          </a:xfrm>
          <a:prstGeom prst="rect">
            <a:avLst/>
          </a:prstGeom>
          <a:solidFill>
            <a:srgbClr val="CCFF99"/>
          </a:solidFill>
          <a:ln w="25400">
            <a:solidFill>
              <a:srgbClr val="00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20535" name="Text Box 55"/>
          <p:cNvSpPr txBox="1">
            <a:spLocks noChangeArrowheads="1"/>
          </p:cNvSpPr>
          <p:nvPr/>
        </p:nvSpPr>
        <p:spPr bwMode="auto">
          <a:xfrm>
            <a:off x="6051550" y="4454525"/>
            <a:ext cx="9429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b="1">
                <a:solidFill>
                  <a:srgbClr val="004C00"/>
                </a:solidFill>
                <a:latin typeface="Verdana" panose="020B0604030504040204" pitchFamily="34" charset="0"/>
                <a:ea typeface="楷体_GB2312" pitchFamily="49" charset="-122"/>
              </a:rPr>
              <a:t>人体电阻</a:t>
            </a:r>
          </a:p>
        </p:txBody>
      </p:sp>
      <p:grpSp>
        <p:nvGrpSpPr>
          <p:cNvPr id="20536" name="Group 56"/>
          <p:cNvGrpSpPr/>
          <p:nvPr/>
        </p:nvGrpSpPr>
        <p:grpSpPr bwMode="auto">
          <a:xfrm>
            <a:off x="5845175" y="3932238"/>
            <a:ext cx="2281238" cy="955675"/>
            <a:chOff x="192" y="3277"/>
            <a:chExt cx="1854" cy="575"/>
          </a:xfrm>
        </p:grpSpPr>
        <p:grpSp>
          <p:nvGrpSpPr>
            <p:cNvPr id="30759" name="Group 57"/>
            <p:cNvGrpSpPr/>
            <p:nvPr/>
          </p:nvGrpSpPr>
          <p:grpSpPr bwMode="auto">
            <a:xfrm rot="-5826713">
              <a:off x="51" y="3418"/>
              <a:ext cx="323" cy="41"/>
              <a:chOff x="1693" y="2789"/>
              <a:chExt cx="461" cy="38"/>
            </a:xfrm>
          </p:grpSpPr>
          <p:sp>
            <p:nvSpPr>
              <p:cNvPr id="30763" name="Rectangle 58"/>
              <p:cNvSpPr>
                <a:spLocks noChangeArrowheads="1"/>
              </p:cNvSpPr>
              <p:nvPr/>
            </p:nvSpPr>
            <p:spPr bwMode="auto">
              <a:xfrm>
                <a:off x="1719" y="2789"/>
                <a:ext cx="337" cy="38"/>
              </a:xfrm>
              <a:prstGeom prst="rect">
                <a:avLst/>
              </a:prstGeom>
              <a:solidFill>
                <a:srgbClr val="AC2100"/>
              </a:solidFill>
              <a:ln w="9525">
                <a:solidFill>
                  <a:srgbClr val="AC21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sp>
            <p:nvSpPr>
              <p:cNvPr id="30764" name="Line 59"/>
              <p:cNvSpPr>
                <a:spLocks noChangeShapeType="1"/>
              </p:cNvSpPr>
              <p:nvPr/>
            </p:nvSpPr>
            <p:spPr bwMode="auto">
              <a:xfrm>
                <a:off x="2038" y="2809"/>
                <a:ext cx="116" cy="0"/>
              </a:xfrm>
              <a:prstGeom prst="line">
                <a:avLst/>
              </a:prstGeom>
              <a:noFill/>
              <a:ln w="25400">
                <a:solidFill>
                  <a:srgbClr val="AC21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65" name="Oval 60"/>
              <p:cNvSpPr>
                <a:spLocks noChangeArrowheads="1"/>
              </p:cNvSpPr>
              <p:nvPr/>
            </p:nvSpPr>
            <p:spPr bwMode="auto">
              <a:xfrm>
                <a:off x="1693" y="2789"/>
                <a:ext cx="47" cy="38"/>
              </a:xfrm>
              <a:prstGeom prst="ellipse">
                <a:avLst/>
              </a:prstGeom>
              <a:solidFill>
                <a:schemeClr val="accent2"/>
              </a:solidFill>
              <a:ln w="9525">
                <a:solidFill>
                  <a:srgbClr val="AC21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a:p>
            </p:txBody>
          </p:sp>
        </p:grpSp>
        <p:pic>
          <p:nvPicPr>
            <p:cNvPr id="30760" name="Picture 61" descr="8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5400000">
              <a:off x="1906" y="3290"/>
              <a:ext cx="10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AC2100"/>
                  </a:solidFill>
                  <a:miter lim="800000"/>
                  <a:headEnd/>
                  <a:tailEnd/>
                </a14:hiddenLine>
              </a:ext>
            </a:extLst>
          </p:spPr>
        </p:pic>
        <p:sp>
          <p:nvSpPr>
            <p:cNvPr id="30761" name="Freeform 62"/>
            <p:cNvSpPr/>
            <p:nvPr/>
          </p:nvSpPr>
          <p:spPr bwMode="auto">
            <a:xfrm>
              <a:off x="224" y="3374"/>
              <a:ext cx="1822" cy="478"/>
            </a:xfrm>
            <a:custGeom>
              <a:avLst/>
              <a:gdLst>
                <a:gd name="T0" fmla="*/ 0 w 1180"/>
                <a:gd name="T1" fmla="*/ 274 h 587"/>
                <a:gd name="T2" fmla="*/ 137 w 1180"/>
                <a:gd name="T3" fmla="*/ 447 h 587"/>
                <a:gd name="T4" fmla="*/ 273 w 1180"/>
                <a:gd name="T5" fmla="*/ 462 h 587"/>
                <a:gd name="T6" fmla="*/ 1027 w 1180"/>
                <a:gd name="T7" fmla="*/ 432 h 587"/>
                <a:gd name="T8" fmla="*/ 1438 w 1180"/>
                <a:gd name="T9" fmla="*/ 382 h 587"/>
                <a:gd name="T10" fmla="*/ 1697 w 1180"/>
                <a:gd name="T11" fmla="*/ 252 h 587"/>
                <a:gd name="T12" fmla="*/ 1807 w 1180"/>
                <a:gd name="T13" fmla="*/ 116 h 587"/>
                <a:gd name="T14" fmla="*/ 1793 w 1180"/>
                <a:gd name="T15" fmla="*/ 58 h 587"/>
                <a:gd name="T16" fmla="*/ 1753 w 1180"/>
                <a:gd name="T17" fmla="*/ 0 h 5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80" h="587">
                  <a:moveTo>
                    <a:pt x="0" y="337"/>
                  </a:moveTo>
                  <a:cubicBezTo>
                    <a:pt x="30" y="424"/>
                    <a:pt x="60" y="511"/>
                    <a:pt x="89" y="549"/>
                  </a:cubicBezTo>
                  <a:cubicBezTo>
                    <a:pt x="118" y="587"/>
                    <a:pt x="81" y="570"/>
                    <a:pt x="177" y="567"/>
                  </a:cubicBezTo>
                  <a:cubicBezTo>
                    <a:pt x="273" y="564"/>
                    <a:pt x="539" y="547"/>
                    <a:pt x="665" y="531"/>
                  </a:cubicBezTo>
                  <a:cubicBezTo>
                    <a:pt x="791" y="515"/>
                    <a:pt x="859" y="506"/>
                    <a:pt x="931" y="469"/>
                  </a:cubicBezTo>
                  <a:cubicBezTo>
                    <a:pt x="1003" y="432"/>
                    <a:pt x="1059" y="364"/>
                    <a:pt x="1099" y="310"/>
                  </a:cubicBezTo>
                  <a:cubicBezTo>
                    <a:pt x="1139" y="256"/>
                    <a:pt x="1160" y="182"/>
                    <a:pt x="1170" y="142"/>
                  </a:cubicBezTo>
                  <a:cubicBezTo>
                    <a:pt x="1180" y="102"/>
                    <a:pt x="1167" y="95"/>
                    <a:pt x="1161" y="71"/>
                  </a:cubicBezTo>
                  <a:cubicBezTo>
                    <a:pt x="1155" y="47"/>
                    <a:pt x="1145" y="23"/>
                    <a:pt x="1135" y="0"/>
                  </a:cubicBezTo>
                </a:path>
              </a:pathLst>
            </a:custGeom>
            <a:noFill/>
            <a:ln w="22225" cmpd="sng">
              <a:solidFill>
                <a:srgbClr val="AC21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62" name="Line 63"/>
            <p:cNvSpPr>
              <a:spLocks noChangeShapeType="1"/>
            </p:cNvSpPr>
            <p:nvPr/>
          </p:nvSpPr>
          <p:spPr bwMode="auto">
            <a:xfrm flipV="1">
              <a:off x="228" y="3575"/>
              <a:ext cx="0" cy="101"/>
            </a:xfrm>
            <a:prstGeom prst="line">
              <a:avLst/>
            </a:prstGeom>
            <a:noFill/>
            <a:ln w="28575">
              <a:solidFill>
                <a:srgbClr val="AC21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544" name="Line 64"/>
          <p:cNvSpPr>
            <a:spLocks noChangeShapeType="1"/>
          </p:cNvSpPr>
          <p:nvPr/>
        </p:nvSpPr>
        <p:spPr bwMode="auto">
          <a:xfrm flipH="1" flipV="1">
            <a:off x="7670800" y="3406775"/>
            <a:ext cx="130175" cy="290513"/>
          </a:xfrm>
          <a:prstGeom prst="line">
            <a:avLst/>
          </a:prstGeom>
          <a:noFill/>
          <a:ln w="9525">
            <a:solidFill>
              <a:srgbClr val="AC21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45" name="Line 65"/>
          <p:cNvSpPr>
            <a:spLocks noChangeShapeType="1"/>
          </p:cNvSpPr>
          <p:nvPr/>
        </p:nvSpPr>
        <p:spPr bwMode="auto">
          <a:xfrm flipH="1" flipV="1">
            <a:off x="7716838" y="3392488"/>
            <a:ext cx="85725" cy="277812"/>
          </a:xfrm>
          <a:prstGeom prst="line">
            <a:avLst/>
          </a:prstGeom>
          <a:noFill/>
          <a:ln w="9525">
            <a:solidFill>
              <a:srgbClr val="AC21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46" name="Line 66"/>
          <p:cNvSpPr>
            <a:spLocks noChangeShapeType="1"/>
          </p:cNvSpPr>
          <p:nvPr/>
        </p:nvSpPr>
        <p:spPr bwMode="auto">
          <a:xfrm flipV="1">
            <a:off x="7818438" y="3367088"/>
            <a:ext cx="31750" cy="346075"/>
          </a:xfrm>
          <a:prstGeom prst="line">
            <a:avLst/>
          </a:prstGeom>
          <a:noFill/>
          <a:ln w="9525">
            <a:solidFill>
              <a:srgbClr val="AC21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47" name="Line 67"/>
          <p:cNvSpPr>
            <a:spLocks noChangeShapeType="1"/>
          </p:cNvSpPr>
          <p:nvPr/>
        </p:nvSpPr>
        <p:spPr bwMode="auto">
          <a:xfrm flipV="1">
            <a:off x="7856538" y="3451225"/>
            <a:ext cx="231775" cy="217488"/>
          </a:xfrm>
          <a:prstGeom prst="line">
            <a:avLst/>
          </a:prstGeom>
          <a:noFill/>
          <a:ln w="9525">
            <a:solidFill>
              <a:srgbClr val="AC21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48" name="Line 68"/>
          <p:cNvSpPr>
            <a:spLocks noChangeShapeType="1"/>
          </p:cNvSpPr>
          <p:nvPr/>
        </p:nvSpPr>
        <p:spPr bwMode="auto">
          <a:xfrm flipV="1">
            <a:off x="7829550" y="3376613"/>
            <a:ext cx="144463" cy="290512"/>
          </a:xfrm>
          <a:prstGeom prst="line">
            <a:avLst/>
          </a:prstGeom>
          <a:noFill/>
          <a:ln w="9525">
            <a:solidFill>
              <a:srgbClr val="AC21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49" name="Freeform 69"/>
          <p:cNvSpPr/>
          <p:nvPr/>
        </p:nvSpPr>
        <p:spPr bwMode="auto">
          <a:xfrm>
            <a:off x="5210175" y="3922713"/>
            <a:ext cx="1041400" cy="457200"/>
          </a:xfrm>
          <a:custGeom>
            <a:avLst/>
            <a:gdLst>
              <a:gd name="T0" fmla="*/ 1041400 w 656"/>
              <a:gd name="T1" fmla="*/ 438271 h 314"/>
              <a:gd name="T2" fmla="*/ 407988 w 656"/>
              <a:gd name="T3" fmla="*/ 438271 h 314"/>
              <a:gd name="T4" fmla="*/ 69850 w 656"/>
              <a:gd name="T5" fmla="*/ 321787 h 314"/>
              <a:gd name="T6" fmla="*/ 0 w 656"/>
              <a:gd name="T7" fmla="*/ 0 h 3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56" h="314">
                <a:moveTo>
                  <a:pt x="656" y="301"/>
                </a:moveTo>
                <a:cubicBezTo>
                  <a:pt x="507" y="307"/>
                  <a:pt x="359" y="314"/>
                  <a:pt x="257" y="301"/>
                </a:cubicBezTo>
                <a:cubicBezTo>
                  <a:pt x="155" y="288"/>
                  <a:pt x="87" y="271"/>
                  <a:pt x="44" y="221"/>
                </a:cubicBezTo>
                <a:cubicBezTo>
                  <a:pt x="1" y="171"/>
                  <a:pt x="0" y="85"/>
                  <a:pt x="0" y="0"/>
                </a:cubicBezTo>
              </a:path>
            </a:pathLst>
          </a:custGeom>
          <a:noFill/>
          <a:ln w="28575" cmpd="sng">
            <a:solidFill>
              <a:srgbClr val="004C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50" name="Freeform 70"/>
          <p:cNvSpPr/>
          <p:nvPr/>
        </p:nvSpPr>
        <p:spPr bwMode="auto">
          <a:xfrm>
            <a:off x="5381625" y="3908425"/>
            <a:ext cx="1709738" cy="465138"/>
          </a:xfrm>
          <a:custGeom>
            <a:avLst/>
            <a:gdLst>
              <a:gd name="T0" fmla="*/ 1412318 w 1006"/>
              <a:gd name="T1" fmla="*/ 465138 h 231"/>
              <a:gd name="T2" fmla="*/ 1684245 w 1006"/>
              <a:gd name="T3" fmla="*/ 394663 h 231"/>
              <a:gd name="T4" fmla="*/ 1563577 w 1006"/>
              <a:gd name="T5" fmla="*/ 54367 h 231"/>
              <a:gd name="T6" fmla="*/ 1021424 w 1006"/>
              <a:gd name="T7" fmla="*/ 72489 h 231"/>
              <a:gd name="T8" fmla="*/ 163156 w 1006"/>
              <a:gd name="T9" fmla="*/ 233576 h 231"/>
              <a:gd name="T10" fmla="*/ 42489 w 1006"/>
              <a:gd name="T11" fmla="*/ 144978 h 231"/>
              <a:gd name="T12" fmla="*/ 27193 w 1006"/>
              <a:gd name="T13" fmla="*/ 20136 h 2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06" h="231">
                <a:moveTo>
                  <a:pt x="831" y="231"/>
                </a:moveTo>
                <a:cubicBezTo>
                  <a:pt x="903" y="230"/>
                  <a:pt x="976" y="230"/>
                  <a:pt x="991" y="196"/>
                </a:cubicBezTo>
                <a:cubicBezTo>
                  <a:pt x="1006" y="162"/>
                  <a:pt x="985" y="54"/>
                  <a:pt x="920" y="27"/>
                </a:cubicBezTo>
                <a:cubicBezTo>
                  <a:pt x="855" y="0"/>
                  <a:pt x="738" y="21"/>
                  <a:pt x="601" y="36"/>
                </a:cubicBezTo>
                <a:cubicBezTo>
                  <a:pt x="464" y="51"/>
                  <a:pt x="192" y="110"/>
                  <a:pt x="96" y="116"/>
                </a:cubicBezTo>
                <a:cubicBezTo>
                  <a:pt x="0" y="122"/>
                  <a:pt x="38" y="90"/>
                  <a:pt x="25" y="72"/>
                </a:cubicBezTo>
                <a:cubicBezTo>
                  <a:pt x="12" y="54"/>
                  <a:pt x="19" y="20"/>
                  <a:pt x="16" y="10"/>
                </a:cubicBezTo>
              </a:path>
            </a:pathLst>
          </a:custGeom>
          <a:noFill/>
          <a:ln w="28575" cmpd="sng">
            <a:solidFill>
              <a:srgbClr val="004C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51" name="AutoShape 71"/>
          <p:cNvSpPr>
            <a:spLocks noChangeArrowheads="1"/>
          </p:cNvSpPr>
          <p:nvPr/>
        </p:nvSpPr>
        <p:spPr bwMode="auto">
          <a:xfrm>
            <a:off x="5948363" y="3155950"/>
            <a:ext cx="1312862" cy="315913"/>
          </a:xfrm>
          <a:prstGeom prst="wedgeRoundRectCallout">
            <a:avLst>
              <a:gd name="adj1" fmla="val -31500"/>
              <a:gd name="adj2" fmla="val 187690"/>
              <a:gd name="adj3" fmla="val 16667"/>
            </a:avLst>
          </a:prstGeom>
          <a:gradFill rotWithShape="1">
            <a:gsLst>
              <a:gs pos="0">
                <a:schemeClr val="accent1"/>
              </a:gs>
              <a:gs pos="100000">
                <a:schemeClr val="accent1">
                  <a:gamma/>
                  <a:tint val="0"/>
                  <a:invGamma/>
                  <a:alpha val="0"/>
                </a:schemeClr>
              </a:gs>
            </a:gsLst>
            <a:lin ang="18900000" scaled="1"/>
          </a:gradFill>
          <a:ln w="19050">
            <a:solidFill>
              <a:srgbClr val="000048"/>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defRPr/>
            </a:pPr>
            <a:r>
              <a:rPr kumimoji="1" lang="zh-CN" altLang="en-US" b="1">
                <a:solidFill>
                  <a:srgbClr val="990000"/>
                </a:solidFill>
                <a:latin typeface="Times New Roman" panose="02020603050405020304" pitchFamily="18" charset="0"/>
                <a:ea typeface="楷体_GB2312" pitchFamily="49" charset="-122"/>
              </a:rPr>
              <a:t>假定极正确</a:t>
            </a:r>
          </a:p>
        </p:txBody>
      </p:sp>
      <p:sp>
        <p:nvSpPr>
          <p:cNvPr id="20552" name="AutoShape 72"/>
          <p:cNvSpPr>
            <a:spLocks noChangeArrowheads="1"/>
          </p:cNvSpPr>
          <p:nvPr/>
        </p:nvSpPr>
        <p:spPr bwMode="auto">
          <a:xfrm>
            <a:off x="2124075" y="4341813"/>
            <a:ext cx="1385888" cy="315912"/>
          </a:xfrm>
          <a:prstGeom prst="wedgeRoundRectCallout">
            <a:avLst>
              <a:gd name="adj1" fmla="val -38204"/>
              <a:gd name="adj2" fmla="val -119847"/>
              <a:gd name="adj3" fmla="val 16667"/>
            </a:avLst>
          </a:prstGeom>
          <a:gradFill rotWithShape="1">
            <a:gsLst>
              <a:gs pos="0">
                <a:schemeClr val="accent1"/>
              </a:gs>
              <a:gs pos="100000">
                <a:schemeClr val="accent1">
                  <a:gamma/>
                  <a:tint val="0"/>
                  <a:invGamma/>
                  <a:alpha val="0"/>
                </a:schemeClr>
              </a:gs>
            </a:gsLst>
            <a:lin ang="18900000" scaled="1"/>
          </a:gradFill>
          <a:ln w="19050">
            <a:solidFill>
              <a:srgbClr val="000048"/>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defRPr/>
            </a:pPr>
            <a:r>
              <a:rPr kumimoji="1" lang="zh-CN" altLang="en-US" b="1">
                <a:solidFill>
                  <a:srgbClr val="990000"/>
                </a:solidFill>
                <a:latin typeface="Times New Roman" panose="02020603050405020304" pitchFamily="18" charset="0"/>
                <a:ea typeface="楷体_GB2312" pitchFamily="49" charset="-122"/>
              </a:rPr>
              <a:t>假定极错误</a:t>
            </a:r>
          </a:p>
        </p:txBody>
      </p:sp>
      <p:sp>
        <p:nvSpPr>
          <p:cNvPr id="20553" name="Rectangle 73"/>
          <p:cNvSpPr>
            <a:spLocks noChangeArrowheads="1"/>
          </p:cNvSpPr>
          <p:nvPr/>
        </p:nvSpPr>
        <p:spPr bwMode="auto">
          <a:xfrm>
            <a:off x="1169988" y="669925"/>
            <a:ext cx="674687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eaLnBrk="1" hangingPunct="1"/>
            <a:r>
              <a:rPr lang="en-US" altLang="zh-CN" sz="2500">
                <a:solidFill>
                  <a:srgbClr val="003300"/>
                </a:solidFill>
                <a:latin typeface="Times New Roman" panose="02020603050405020304" pitchFamily="18" charset="0"/>
                <a:ea typeface="隶书" panose="02010509060101010101" pitchFamily="49" charset="-122"/>
              </a:rPr>
              <a:t> </a:t>
            </a:r>
            <a:r>
              <a:rPr lang="zh-CN" altLang="en-US" sz="2500">
                <a:solidFill>
                  <a:srgbClr val="003300"/>
                </a:solidFill>
                <a:latin typeface="Times New Roman" panose="02020603050405020304" pitchFamily="18" charset="0"/>
                <a:ea typeface="隶书" panose="02010509060101010101" pitchFamily="49" charset="-122"/>
              </a:rPr>
              <a:t>用万用表</a:t>
            </a:r>
            <a:r>
              <a:rPr lang="en-US" altLang="zh-CN" sz="2500">
                <a:solidFill>
                  <a:srgbClr val="003300"/>
                </a:solidFill>
                <a:latin typeface="Times New Roman" panose="02020603050405020304" pitchFamily="18" charset="0"/>
                <a:ea typeface="隶书" panose="02010509060101010101" pitchFamily="49" charset="-122"/>
              </a:rPr>
              <a:t>R</a:t>
            </a:r>
            <a:r>
              <a:rPr lang="en-US" altLang="en-US" sz="2500">
                <a:latin typeface="Verdana" panose="020B0604030504040204" pitchFamily="34" charset="0"/>
              </a:rPr>
              <a:t>×</a:t>
            </a:r>
            <a:r>
              <a:rPr lang="en-US" altLang="zh-CN" sz="2500">
                <a:solidFill>
                  <a:srgbClr val="003300"/>
                </a:solidFill>
                <a:latin typeface="Times New Roman" panose="02020603050405020304" pitchFamily="18" charset="0"/>
                <a:ea typeface="隶书" panose="02010509060101010101" pitchFamily="49" charset="-122"/>
              </a:rPr>
              <a:t>1k</a:t>
            </a:r>
            <a:r>
              <a:rPr lang="zh-CN" altLang="en-US" sz="2500">
                <a:solidFill>
                  <a:srgbClr val="003300"/>
                </a:solidFill>
                <a:latin typeface="Times New Roman" panose="02020603050405020304" pitchFamily="18" charset="0"/>
                <a:ea typeface="隶书" panose="02010509060101010101" pitchFamily="49" charset="-122"/>
              </a:rPr>
              <a:t>欧姆档判别</a:t>
            </a:r>
            <a:r>
              <a:rPr lang="zh-CN" altLang="en-US" sz="2500">
                <a:solidFill>
                  <a:srgbClr val="990000"/>
                </a:solidFill>
                <a:latin typeface="Times New Roman" panose="02020603050405020304" pitchFamily="18" charset="0"/>
                <a:ea typeface="隶书" panose="02010509060101010101" pitchFamily="49" charset="-122"/>
              </a:rPr>
              <a:t>发射极</a:t>
            </a:r>
            <a:r>
              <a:rPr lang="en-US" altLang="zh-CN" sz="2500">
                <a:solidFill>
                  <a:srgbClr val="990000"/>
                </a:solidFill>
                <a:latin typeface="Times New Roman" panose="02020603050405020304" pitchFamily="18" charset="0"/>
                <a:ea typeface="隶书" panose="02010509060101010101" pitchFamily="49" charset="-122"/>
              </a:rPr>
              <a:t>E</a:t>
            </a:r>
            <a:r>
              <a:rPr lang="zh-CN" altLang="en-US" sz="2500">
                <a:solidFill>
                  <a:srgbClr val="003300"/>
                </a:solidFill>
                <a:latin typeface="Times New Roman" panose="02020603050405020304" pitchFamily="18" charset="0"/>
                <a:ea typeface="隶书" panose="02010509060101010101" pitchFamily="49" charset="-122"/>
              </a:rPr>
              <a:t>和</a:t>
            </a:r>
            <a:r>
              <a:rPr lang="zh-CN" altLang="en-US" sz="2500">
                <a:solidFill>
                  <a:srgbClr val="990000"/>
                </a:solidFill>
                <a:latin typeface="Times New Roman" panose="02020603050405020304" pitchFamily="18" charset="0"/>
                <a:ea typeface="隶书" panose="02010509060101010101" pitchFamily="49" charset="-122"/>
              </a:rPr>
              <a:t>集电极</a:t>
            </a:r>
            <a:r>
              <a:rPr lang="en-US" altLang="zh-CN" sz="2500">
                <a:solidFill>
                  <a:srgbClr val="990000"/>
                </a:solidFill>
                <a:latin typeface="Times New Roman" panose="02020603050405020304" pitchFamily="18" charset="0"/>
                <a:ea typeface="隶书" panose="02010509060101010101" pitchFamily="49" charset="-122"/>
              </a:rPr>
              <a:t>C</a:t>
            </a:r>
            <a:endParaRPr lang="en-US" altLang="zh-CN" sz="2500">
              <a:solidFill>
                <a:srgbClr val="003300"/>
              </a:solidFill>
              <a:latin typeface="Times New Roman" panose="02020603050405020304" pitchFamily="18" charset="0"/>
              <a:ea typeface="隶书" panose="02010509060101010101" pitchFamily="49" charset="-122"/>
            </a:endParaRPr>
          </a:p>
        </p:txBody>
      </p:sp>
      <p:sp>
        <p:nvSpPr>
          <p:cNvPr id="20554" name="Rectangle 74"/>
          <p:cNvSpPr>
            <a:spLocks noChangeArrowheads="1"/>
          </p:cNvSpPr>
          <p:nvPr/>
        </p:nvSpPr>
        <p:spPr bwMode="auto">
          <a:xfrm>
            <a:off x="641350" y="5056188"/>
            <a:ext cx="7805738" cy="1052512"/>
          </a:xfrm>
          <a:prstGeom prst="rect">
            <a:avLst/>
          </a:prstGeom>
          <a:solidFill>
            <a:srgbClr val="FFFF99">
              <a:alpha val="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eaLnBrk="1" hangingPunct="1"/>
            <a:r>
              <a:rPr lang="en-US" altLang="zh-CN" sz="2300">
                <a:solidFill>
                  <a:srgbClr val="003300"/>
                </a:solidFill>
                <a:latin typeface="Times New Roman" panose="02020603050405020304" pitchFamily="18" charset="0"/>
                <a:ea typeface="隶书" panose="02010509060101010101" pitchFamily="49" charset="-122"/>
              </a:rPr>
              <a:t>    </a:t>
            </a:r>
            <a:r>
              <a:rPr lang="zh-CN" altLang="en-US" sz="2300">
                <a:solidFill>
                  <a:srgbClr val="003300"/>
                </a:solidFill>
                <a:latin typeface="Times New Roman" panose="02020603050405020304" pitchFamily="18" charset="0"/>
                <a:ea typeface="隶书" panose="02010509060101010101" pitchFamily="49" charset="-122"/>
              </a:rPr>
              <a:t>偏转较大的假定极是正确的！偏转小的反映其放大能力下降，即集电极和发射极接反了。</a:t>
            </a:r>
          </a:p>
          <a:p>
            <a:pPr eaLnBrk="1" hangingPunct="1"/>
            <a:r>
              <a:rPr lang="zh-CN" altLang="en-US" sz="2300">
                <a:solidFill>
                  <a:srgbClr val="003300"/>
                </a:solidFill>
                <a:latin typeface="Times New Roman" panose="02020603050405020304" pitchFamily="18" charset="0"/>
                <a:ea typeface="隶书" panose="02010509060101010101" pitchFamily="49" charset="-122"/>
              </a:rPr>
              <a:t>    </a:t>
            </a:r>
            <a:r>
              <a:rPr lang="zh-CN" altLang="en-US" sz="2300">
                <a:solidFill>
                  <a:srgbClr val="000048"/>
                </a:solidFill>
                <a:latin typeface="Times New Roman" panose="02020603050405020304" pitchFamily="18" charset="0"/>
                <a:ea typeface="隶书" panose="02010509060101010101" pitchFamily="49" charset="-122"/>
              </a:rPr>
              <a:t>如果两次检测时电阻相差不大，则说明管子的性能较差。</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grpId="0" nodeType="afterEffect">
                                  <p:stCondLst>
                                    <p:cond delay="0"/>
                                  </p:stCondLst>
                                  <p:iterate type="lt">
                                    <p:tmPct val="50000"/>
                                  </p:iterate>
                                  <p:childTnLst>
                                    <p:set>
                                      <p:cBhvr>
                                        <p:cTn id="6" dur="1" fill="hold">
                                          <p:stCondLst>
                                            <p:cond delay="0"/>
                                          </p:stCondLst>
                                        </p:cTn>
                                        <p:tgtEl>
                                          <p:spTgt spid="20553"/>
                                        </p:tgtEl>
                                        <p:attrNameLst>
                                          <p:attrName>style.visibility</p:attrName>
                                        </p:attrNameLst>
                                      </p:cBhvr>
                                      <p:to>
                                        <p:strVal val="visible"/>
                                      </p:to>
                                    </p:set>
                                    <p:anim calcmode="discrete" valueType="clr">
                                      <p:cBhvr override="childStyle">
                                        <p:cTn id="7" dur="80"/>
                                        <p:tgtEl>
                                          <p:spTgt spid="20553"/>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0553"/>
                                        </p:tgtEl>
                                        <p:attrNameLst>
                                          <p:attrName>fillcolor</p:attrName>
                                        </p:attrNameLst>
                                      </p:cBhvr>
                                      <p:tavLst>
                                        <p:tav tm="0">
                                          <p:val>
                                            <p:clrVal>
                                              <a:schemeClr val="accent2"/>
                                            </p:clrVal>
                                          </p:val>
                                        </p:tav>
                                        <p:tav tm="50000">
                                          <p:val>
                                            <p:clrVal>
                                              <a:schemeClr val="hlink"/>
                                            </p:clrVal>
                                          </p:val>
                                        </p:tav>
                                      </p:tavLst>
                                    </p:anim>
                                    <p:set>
                                      <p:cBhvr>
                                        <p:cTn id="9" dur="80"/>
                                        <p:tgtEl>
                                          <p:spTgt spid="20553"/>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20496"/>
                                        </p:tgtEl>
                                        <p:attrNameLst>
                                          <p:attrName>style.visibility</p:attrName>
                                        </p:attrNameLst>
                                      </p:cBhvr>
                                      <p:to>
                                        <p:strVal val="visible"/>
                                      </p:to>
                                    </p:set>
                                    <p:anim calcmode="discrete" valueType="clr">
                                      <p:cBhvr override="childStyle">
                                        <p:cTn id="14" dur="80"/>
                                        <p:tgtEl>
                                          <p:spTgt spid="20496"/>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0496"/>
                                        </p:tgtEl>
                                        <p:attrNameLst>
                                          <p:attrName>fillcolor</p:attrName>
                                        </p:attrNameLst>
                                      </p:cBhvr>
                                      <p:tavLst>
                                        <p:tav tm="0">
                                          <p:val>
                                            <p:clrVal>
                                              <a:schemeClr val="accent2"/>
                                            </p:clrVal>
                                          </p:val>
                                        </p:tav>
                                        <p:tav tm="50000">
                                          <p:val>
                                            <p:clrVal>
                                              <a:schemeClr val="hlink"/>
                                            </p:clrVal>
                                          </p:val>
                                        </p:tav>
                                      </p:tavLst>
                                    </p:anim>
                                    <p:set>
                                      <p:cBhvr>
                                        <p:cTn id="16" dur="80"/>
                                        <p:tgtEl>
                                          <p:spTgt spid="20496"/>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18" presetClass="entr" presetSubtype="6" fill="hold" nodeType="clickEffect">
                                  <p:stCondLst>
                                    <p:cond delay="0"/>
                                  </p:stCondLst>
                                  <p:childTnLst>
                                    <p:set>
                                      <p:cBhvr>
                                        <p:cTn id="20" dur="1" fill="hold">
                                          <p:stCondLst>
                                            <p:cond delay="0"/>
                                          </p:stCondLst>
                                        </p:cTn>
                                        <p:tgtEl>
                                          <p:spTgt spid="20489"/>
                                        </p:tgtEl>
                                        <p:attrNameLst>
                                          <p:attrName>style.visibility</p:attrName>
                                        </p:attrNameLst>
                                      </p:cBhvr>
                                      <p:to>
                                        <p:strVal val="visible"/>
                                      </p:to>
                                    </p:set>
                                    <p:animEffect transition="in" filter="strips(downRight)">
                                      <p:cBhvr>
                                        <p:cTn id="21" dur="500"/>
                                        <p:tgtEl>
                                          <p:spTgt spid="20489"/>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nodeType="clickEffect">
                                  <p:stCondLst>
                                    <p:cond delay="0"/>
                                  </p:stCondLst>
                                  <p:childTnLst>
                                    <p:set>
                                      <p:cBhvr>
                                        <p:cTn id="25" dur="1" fill="hold">
                                          <p:stCondLst>
                                            <p:cond delay="0"/>
                                          </p:stCondLst>
                                        </p:cTn>
                                        <p:tgtEl>
                                          <p:spTgt spid="20497"/>
                                        </p:tgtEl>
                                        <p:attrNameLst>
                                          <p:attrName>style.visibility</p:attrName>
                                        </p:attrNameLst>
                                      </p:cBhvr>
                                      <p:to>
                                        <p:strVal val="visible"/>
                                      </p:to>
                                    </p:set>
                                    <p:animEffect transition="in" filter="strips(downLeft)">
                                      <p:cBhvr>
                                        <p:cTn id="26" dur="500"/>
                                        <p:tgtEl>
                                          <p:spTgt spid="20497"/>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grpId="0" nodeType="clickEffect">
                                  <p:stCondLst>
                                    <p:cond delay="0"/>
                                  </p:stCondLst>
                                  <p:childTnLst>
                                    <p:set>
                                      <p:cBhvr>
                                        <p:cTn id="30" dur="1" fill="hold">
                                          <p:stCondLst>
                                            <p:cond delay="0"/>
                                          </p:stCondLst>
                                        </p:cTn>
                                        <p:tgtEl>
                                          <p:spTgt spid="20508"/>
                                        </p:tgtEl>
                                        <p:attrNameLst>
                                          <p:attrName>style.visibility</p:attrName>
                                        </p:attrNameLst>
                                      </p:cBhvr>
                                      <p:to>
                                        <p:strVal val="visible"/>
                                      </p:to>
                                    </p:set>
                                    <p:anim calcmode="lin" valueType="num">
                                      <p:cBhvr>
                                        <p:cTn id="31" dur="500" fill="hold"/>
                                        <p:tgtEl>
                                          <p:spTgt spid="20508"/>
                                        </p:tgtEl>
                                        <p:attrNameLst>
                                          <p:attrName>ppt_w</p:attrName>
                                        </p:attrNameLst>
                                      </p:cBhvr>
                                      <p:tavLst>
                                        <p:tav tm="0">
                                          <p:val>
                                            <p:strVal val="#ppt_w*0.70"/>
                                          </p:val>
                                        </p:tav>
                                        <p:tav tm="100000">
                                          <p:val>
                                            <p:strVal val="#ppt_w"/>
                                          </p:val>
                                        </p:tav>
                                      </p:tavLst>
                                    </p:anim>
                                    <p:anim calcmode="lin" valueType="num">
                                      <p:cBhvr>
                                        <p:cTn id="32" dur="500" fill="hold"/>
                                        <p:tgtEl>
                                          <p:spTgt spid="20508"/>
                                        </p:tgtEl>
                                        <p:attrNameLst>
                                          <p:attrName>ppt_h</p:attrName>
                                        </p:attrNameLst>
                                      </p:cBhvr>
                                      <p:tavLst>
                                        <p:tav tm="0">
                                          <p:val>
                                            <p:strVal val="#ppt_h"/>
                                          </p:val>
                                        </p:tav>
                                        <p:tav tm="100000">
                                          <p:val>
                                            <p:strVal val="#ppt_h"/>
                                          </p:val>
                                        </p:tav>
                                      </p:tavLst>
                                    </p:anim>
                                    <p:animEffect transition="in" filter="fade">
                                      <p:cBhvr>
                                        <p:cTn id="33" dur="500"/>
                                        <p:tgtEl>
                                          <p:spTgt spid="20508"/>
                                        </p:tgtEl>
                                      </p:cBhvr>
                                    </p:animEffect>
                                  </p:childTnLst>
                                </p:cTn>
                              </p:par>
                            </p:childTnLst>
                          </p:cTn>
                        </p:par>
                        <p:par>
                          <p:cTn id="34" fill="hold">
                            <p:stCondLst>
                              <p:cond delay="500"/>
                            </p:stCondLst>
                            <p:childTnLst>
                              <p:par>
                                <p:cTn id="35" presetID="27" presetClass="entr" presetSubtype="0" fill="hold" grpId="0" nodeType="afterEffect">
                                  <p:stCondLst>
                                    <p:cond delay="0"/>
                                  </p:stCondLst>
                                  <p:iterate type="lt">
                                    <p:tmPct val="50000"/>
                                  </p:iterate>
                                  <p:childTnLst>
                                    <p:set>
                                      <p:cBhvr>
                                        <p:cTn id="36" dur="1" fill="hold">
                                          <p:stCondLst>
                                            <p:cond delay="0"/>
                                          </p:stCondLst>
                                        </p:cTn>
                                        <p:tgtEl>
                                          <p:spTgt spid="20509"/>
                                        </p:tgtEl>
                                        <p:attrNameLst>
                                          <p:attrName>style.visibility</p:attrName>
                                        </p:attrNameLst>
                                      </p:cBhvr>
                                      <p:to>
                                        <p:strVal val="visible"/>
                                      </p:to>
                                    </p:set>
                                    <p:anim calcmode="discrete" valueType="clr">
                                      <p:cBhvr override="childStyle">
                                        <p:cTn id="37" dur="500"/>
                                        <p:tgtEl>
                                          <p:spTgt spid="20509"/>
                                        </p:tgtEl>
                                        <p:attrNameLst>
                                          <p:attrName>style.color</p:attrName>
                                        </p:attrNameLst>
                                      </p:cBhvr>
                                      <p:tavLst>
                                        <p:tav tm="0">
                                          <p:val>
                                            <p:clrVal>
                                              <a:schemeClr val="accent2"/>
                                            </p:clrVal>
                                          </p:val>
                                        </p:tav>
                                        <p:tav tm="50000">
                                          <p:val>
                                            <p:clrVal>
                                              <a:schemeClr val="hlink"/>
                                            </p:clrVal>
                                          </p:val>
                                        </p:tav>
                                      </p:tavLst>
                                    </p:anim>
                                    <p:anim calcmode="discrete" valueType="clr">
                                      <p:cBhvr>
                                        <p:cTn id="38" dur="500"/>
                                        <p:tgtEl>
                                          <p:spTgt spid="20509"/>
                                        </p:tgtEl>
                                        <p:attrNameLst>
                                          <p:attrName>fillcolor</p:attrName>
                                        </p:attrNameLst>
                                      </p:cBhvr>
                                      <p:tavLst>
                                        <p:tav tm="0">
                                          <p:val>
                                            <p:clrVal>
                                              <a:schemeClr val="accent2"/>
                                            </p:clrVal>
                                          </p:val>
                                        </p:tav>
                                        <p:tav tm="50000">
                                          <p:val>
                                            <p:clrVal>
                                              <a:schemeClr val="hlink"/>
                                            </p:clrVal>
                                          </p:val>
                                        </p:tav>
                                      </p:tavLst>
                                    </p:anim>
                                    <p:set>
                                      <p:cBhvr>
                                        <p:cTn id="39" dur="500"/>
                                        <p:tgtEl>
                                          <p:spTgt spid="20509"/>
                                        </p:tgtEl>
                                        <p:attrNameLst>
                                          <p:attrName>fill.type</p:attrName>
                                        </p:attrNameLst>
                                      </p:cBhvr>
                                      <p:to>
                                        <p:strVal val="solid"/>
                                      </p:to>
                                    </p:set>
                                  </p:childTnLst>
                                </p:cTn>
                              </p:par>
                            </p:childTnLst>
                          </p:cTn>
                        </p:par>
                      </p:childTnLst>
                    </p:cTn>
                  </p:par>
                  <p:par>
                    <p:cTn id="40" fill="hold">
                      <p:stCondLst>
                        <p:cond delay="indefinite"/>
                      </p:stCondLst>
                      <p:childTnLst>
                        <p:par>
                          <p:cTn id="41" fill="hold">
                            <p:stCondLst>
                              <p:cond delay="0"/>
                            </p:stCondLst>
                            <p:childTnLst>
                              <p:par>
                                <p:cTn id="42" presetID="51" presetClass="entr" presetSubtype="0" fill="hold" grpId="0" nodeType="clickEffect">
                                  <p:stCondLst>
                                    <p:cond delay="0"/>
                                  </p:stCondLst>
                                  <p:childTnLst>
                                    <p:set>
                                      <p:cBhvr>
                                        <p:cTn id="43" dur="1" fill="hold">
                                          <p:stCondLst>
                                            <p:cond delay="0"/>
                                          </p:stCondLst>
                                        </p:cTn>
                                        <p:tgtEl>
                                          <p:spTgt spid="20506"/>
                                        </p:tgtEl>
                                        <p:attrNameLst>
                                          <p:attrName>style.visibility</p:attrName>
                                        </p:attrNameLst>
                                      </p:cBhvr>
                                      <p:to>
                                        <p:strVal val="visible"/>
                                      </p:to>
                                    </p:set>
                                    <p:animEffect transition="in" filter="fade">
                                      <p:cBhvr>
                                        <p:cTn id="44" dur="385" decel="100000"/>
                                        <p:tgtEl>
                                          <p:spTgt spid="20506"/>
                                        </p:tgtEl>
                                      </p:cBhvr>
                                    </p:animEffect>
                                    <p:animScale>
                                      <p:cBhvr>
                                        <p:cTn id="45" dur="385" decel="100000"/>
                                        <p:tgtEl>
                                          <p:spTgt spid="20506"/>
                                        </p:tgtEl>
                                      </p:cBhvr>
                                      <p:from x="10000" y="10000"/>
                                      <p:to x="200000" y="450000"/>
                                    </p:animScale>
                                    <p:animScale>
                                      <p:cBhvr>
                                        <p:cTn id="46" dur="615" accel="100000" fill="hold">
                                          <p:stCondLst>
                                            <p:cond delay="385"/>
                                          </p:stCondLst>
                                        </p:cTn>
                                        <p:tgtEl>
                                          <p:spTgt spid="20506"/>
                                        </p:tgtEl>
                                      </p:cBhvr>
                                      <p:from x="200000" y="450000"/>
                                      <p:to x="100000" y="100000"/>
                                    </p:animScale>
                                    <p:set>
                                      <p:cBhvr>
                                        <p:cTn id="47" dur="385" fill="hold"/>
                                        <p:tgtEl>
                                          <p:spTgt spid="20506"/>
                                        </p:tgtEl>
                                        <p:attrNameLst>
                                          <p:attrName>ppt_x</p:attrName>
                                        </p:attrNameLst>
                                      </p:cBhvr>
                                      <p:to>
                                        <p:strVal val="(0.5)"/>
                                      </p:to>
                                    </p:set>
                                    <p:anim from="(0.5)" to="(#ppt_x)" calcmode="lin" valueType="num">
                                      <p:cBhvr>
                                        <p:cTn id="48" dur="615" accel="100000" fill="hold">
                                          <p:stCondLst>
                                            <p:cond delay="385"/>
                                          </p:stCondLst>
                                        </p:cTn>
                                        <p:tgtEl>
                                          <p:spTgt spid="20506"/>
                                        </p:tgtEl>
                                        <p:attrNameLst>
                                          <p:attrName>ppt_x</p:attrName>
                                        </p:attrNameLst>
                                      </p:cBhvr>
                                    </p:anim>
                                    <p:set>
                                      <p:cBhvr>
                                        <p:cTn id="49" dur="385" fill="hold"/>
                                        <p:tgtEl>
                                          <p:spTgt spid="20506"/>
                                        </p:tgtEl>
                                        <p:attrNameLst>
                                          <p:attrName>ppt_y</p:attrName>
                                        </p:attrNameLst>
                                      </p:cBhvr>
                                      <p:to>
                                        <p:strVal val="(#ppt_y+0.4)"/>
                                      </p:to>
                                    </p:set>
                                    <p:anim from="(#ppt_y+0.4)" to="(#ppt_y)" calcmode="lin" valueType="num">
                                      <p:cBhvr>
                                        <p:cTn id="50" dur="615" accel="100000" fill="hold">
                                          <p:stCondLst>
                                            <p:cond delay="385"/>
                                          </p:stCondLst>
                                        </p:cTn>
                                        <p:tgtEl>
                                          <p:spTgt spid="20506"/>
                                        </p:tgtEl>
                                        <p:attrNameLst>
                                          <p:attrName>ppt_y</p:attrName>
                                        </p:attrNameLst>
                                      </p:cBhvr>
                                    </p:anim>
                                  </p:childTnLst>
                                </p:cTn>
                              </p:par>
                            </p:childTnLst>
                          </p:cTn>
                        </p:par>
                      </p:childTnLst>
                    </p:cTn>
                  </p:par>
                  <p:par>
                    <p:cTn id="51" fill="hold">
                      <p:stCondLst>
                        <p:cond delay="indefinite"/>
                      </p:stCondLst>
                      <p:childTnLst>
                        <p:par>
                          <p:cTn id="52" fill="hold">
                            <p:stCondLst>
                              <p:cond delay="0"/>
                            </p:stCondLst>
                            <p:childTnLst>
                              <p:par>
                                <p:cTn id="53" presetID="51" presetClass="entr" presetSubtype="0" fill="hold" grpId="0" nodeType="clickEffect">
                                  <p:stCondLst>
                                    <p:cond delay="0"/>
                                  </p:stCondLst>
                                  <p:childTnLst>
                                    <p:set>
                                      <p:cBhvr>
                                        <p:cTn id="54" dur="1" fill="hold">
                                          <p:stCondLst>
                                            <p:cond delay="0"/>
                                          </p:stCondLst>
                                        </p:cTn>
                                        <p:tgtEl>
                                          <p:spTgt spid="20505"/>
                                        </p:tgtEl>
                                        <p:attrNameLst>
                                          <p:attrName>style.visibility</p:attrName>
                                        </p:attrNameLst>
                                      </p:cBhvr>
                                      <p:to>
                                        <p:strVal val="visible"/>
                                      </p:to>
                                    </p:set>
                                    <p:animEffect transition="in" filter="fade">
                                      <p:cBhvr>
                                        <p:cTn id="55" dur="385" decel="100000"/>
                                        <p:tgtEl>
                                          <p:spTgt spid="20505"/>
                                        </p:tgtEl>
                                      </p:cBhvr>
                                    </p:animEffect>
                                    <p:animScale>
                                      <p:cBhvr>
                                        <p:cTn id="56" dur="385" decel="100000"/>
                                        <p:tgtEl>
                                          <p:spTgt spid="20505"/>
                                        </p:tgtEl>
                                      </p:cBhvr>
                                      <p:from x="10000" y="10000"/>
                                      <p:to x="200000" y="450000"/>
                                    </p:animScale>
                                    <p:animScale>
                                      <p:cBhvr>
                                        <p:cTn id="57" dur="615" accel="100000" fill="hold">
                                          <p:stCondLst>
                                            <p:cond delay="385"/>
                                          </p:stCondLst>
                                        </p:cTn>
                                        <p:tgtEl>
                                          <p:spTgt spid="20505"/>
                                        </p:tgtEl>
                                      </p:cBhvr>
                                      <p:from x="200000" y="450000"/>
                                      <p:to x="100000" y="100000"/>
                                    </p:animScale>
                                    <p:set>
                                      <p:cBhvr>
                                        <p:cTn id="58" dur="385" fill="hold"/>
                                        <p:tgtEl>
                                          <p:spTgt spid="20505"/>
                                        </p:tgtEl>
                                        <p:attrNameLst>
                                          <p:attrName>ppt_x</p:attrName>
                                        </p:attrNameLst>
                                      </p:cBhvr>
                                      <p:to>
                                        <p:strVal val="(0.5)"/>
                                      </p:to>
                                    </p:set>
                                    <p:anim from="(0.5)" to="(#ppt_x)" calcmode="lin" valueType="num">
                                      <p:cBhvr>
                                        <p:cTn id="59" dur="615" accel="100000" fill="hold">
                                          <p:stCondLst>
                                            <p:cond delay="385"/>
                                          </p:stCondLst>
                                        </p:cTn>
                                        <p:tgtEl>
                                          <p:spTgt spid="20505"/>
                                        </p:tgtEl>
                                        <p:attrNameLst>
                                          <p:attrName>ppt_x</p:attrName>
                                        </p:attrNameLst>
                                      </p:cBhvr>
                                    </p:anim>
                                    <p:set>
                                      <p:cBhvr>
                                        <p:cTn id="60" dur="385" fill="hold"/>
                                        <p:tgtEl>
                                          <p:spTgt spid="20505"/>
                                        </p:tgtEl>
                                        <p:attrNameLst>
                                          <p:attrName>ppt_y</p:attrName>
                                        </p:attrNameLst>
                                      </p:cBhvr>
                                      <p:to>
                                        <p:strVal val="(#ppt_y+0.4)"/>
                                      </p:to>
                                    </p:set>
                                    <p:anim from="(#ppt_y+0.4)" to="(#ppt_y)" calcmode="lin" valueType="num">
                                      <p:cBhvr>
                                        <p:cTn id="61" dur="615" accel="100000" fill="hold">
                                          <p:stCondLst>
                                            <p:cond delay="385"/>
                                          </p:stCondLst>
                                        </p:cTn>
                                        <p:tgtEl>
                                          <p:spTgt spid="20505"/>
                                        </p:tgtEl>
                                        <p:attrNameLst>
                                          <p:attrName>ppt_y</p:attrName>
                                        </p:attrNameLst>
                                      </p:cBhvr>
                                    </p:anim>
                                  </p:childTnLst>
                                </p:cTn>
                              </p:par>
                            </p:childTnLst>
                          </p:cTn>
                        </p:par>
                      </p:childTnLst>
                    </p:cTn>
                  </p:par>
                  <p:par>
                    <p:cTn id="62" fill="hold">
                      <p:stCondLst>
                        <p:cond delay="indefinite"/>
                      </p:stCondLst>
                      <p:childTnLst>
                        <p:par>
                          <p:cTn id="63" fill="hold">
                            <p:stCondLst>
                              <p:cond delay="0"/>
                            </p:stCondLst>
                            <p:childTnLst>
                              <p:par>
                                <p:cTn id="64" presetID="51" presetClass="entr" presetSubtype="0" fill="hold" grpId="0" nodeType="clickEffect">
                                  <p:stCondLst>
                                    <p:cond delay="0"/>
                                  </p:stCondLst>
                                  <p:childTnLst>
                                    <p:set>
                                      <p:cBhvr>
                                        <p:cTn id="65" dur="1" fill="hold">
                                          <p:stCondLst>
                                            <p:cond delay="0"/>
                                          </p:stCondLst>
                                        </p:cTn>
                                        <p:tgtEl>
                                          <p:spTgt spid="20507"/>
                                        </p:tgtEl>
                                        <p:attrNameLst>
                                          <p:attrName>style.visibility</p:attrName>
                                        </p:attrNameLst>
                                      </p:cBhvr>
                                      <p:to>
                                        <p:strVal val="visible"/>
                                      </p:to>
                                    </p:set>
                                    <p:animEffect transition="in" filter="fade">
                                      <p:cBhvr>
                                        <p:cTn id="66" dur="385" decel="100000"/>
                                        <p:tgtEl>
                                          <p:spTgt spid="20507"/>
                                        </p:tgtEl>
                                      </p:cBhvr>
                                    </p:animEffect>
                                    <p:animScale>
                                      <p:cBhvr>
                                        <p:cTn id="67" dur="385" decel="100000"/>
                                        <p:tgtEl>
                                          <p:spTgt spid="20507"/>
                                        </p:tgtEl>
                                      </p:cBhvr>
                                      <p:from x="10000" y="10000"/>
                                      <p:to x="200000" y="450000"/>
                                    </p:animScale>
                                    <p:animScale>
                                      <p:cBhvr>
                                        <p:cTn id="68" dur="615" accel="100000" fill="hold">
                                          <p:stCondLst>
                                            <p:cond delay="385"/>
                                          </p:stCondLst>
                                        </p:cTn>
                                        <p:tgtEl>
                                          <p:spTgt spid="20507"/>
                                        </p:tgtEl>
                                      </p:cBhvr>
                                      <p:from x="200000" y="450000"/>
                                      <p:to x="100000" y="100000"/>
                                    </p:animScale>
                                    <p:set>
                                      <p:cBhvr>
                                        <p:cTn id="69" dur="385" fill="hold"/>
                                        <p:tgtEl>
                                          <p:spTgt spid="20507"/>
                                        </p:tgtEl>
                                        <p:attrNameLst>
                                          <p:attrName>ppt_x</p:attrName>
                                        </p:attrNameLst>
                                      </p:cBhvr>
                                      <p:to>
                                        <p:strVal val="(0.5)"/>
                                      </p:to>
                                    </p:set>
                                    <p:anim from="(0.5)" to="(#ppt_x)" calcmode="lin" valueType="num">
                                      <p:cBhvr>
                                        <p:cTn id="70" dur="615" accel="100000" fill="hold">
                                          <p:stCondLst>
                                            <p:cond delay="385"/>
                                          </p:stCondLst>
                                        </p:cTn>
                                        <p:tgtEl>
                                          <p:spTgt spid="20507"/>
                                        </p:tgtEl>
                                        <p:attrNameLst>
                                          <p:attrName>ppt_x</p:attrName>
                                        </p:attrNameLst>
                                      </p:cBhvr>
                                    </p:anim>
                                    <p:set>
                                      <p:cBhvr>
                                        <p:cTn id="71" dur="385" fill="hold"/>
                                        <p:tgtEl>
                                          <p:spTgt spid="20507"/>
                                        </p:tgtEl>
                                        <p:attrNameLst>
                                          <p:attrName>ppt_y</p:attrName>
                                        </p:attrNameLst>
                                      </p:cBhvr>
                                      <p:to>
                                        <p:strVal val="(#ppt_y+0.4)"/>
                                      </p:to>
                                    </p:set>
                                    <p:anim from="(#ppt_y+0.4)" to="(#ppt_y)" calcmode="lin" valueType="num">
                                      <p:cBhvr>
                                        <p:cTn id="72" dur="615" accel="100000" fill="hold">
                                          <p:stCondLst>
                                            <p:cond delay="385"/>
                                          </p:stCondLst>
                                        </p:cTn>
                                        <p:tgtEl>
                                          <p:spTgt spid="20507"/>
                                        </p:tgtEl>
                                        <p:attrNameLst>
                                          <p:attrName>ppt_y</p:attrName>
                                        </p:attrNameLst>
                                      </p:cBhvr>
                                    </p:anim>
                                  </p:childTnLst>
                                </p:cTn>
                              </p:par>
                            </p:childTnLst>
                          </p:cTn>
                        </p:par>
                      </p:childTnLst>
                    </p:cTn>
                  </p:par>
                  <p:par>
                    <p:cTn id="73" fill="hold">
                      <p:stCondLst>
                        <p:cond delay="indefinite"/>
                      </p:stCondLst>
                      <p:childTnLst>
                        <p:par>
                          <p:cTn id="74" fill="hold">
                            <p:stCondLst>
                              <p:cond delay="0"/>
                            </p:stCondLst>
                            <p:childTnLst>
                              <p:par>
                                <p:cTn id="75" presetID="22" presetClass="entr" presetSubtype="2" fill="hold" grpId="0" nodeType="clickEffect">
                                  <p:stCondLst>
                                    <p:cond delay="0"/>
                                  </p:stCondLst>
                                  <p:childTnLst>
                                    <p:set>
                                      <p:cBhvr>
                                        <p:cTn id="76" dur="1" fill="hold">
                                          <p:stCondLst>
                                            <p:cond delay="0"/>
                                          </p:stCondLst>
                                        </p:cTn>
                                        <p:tgtEl>
                                          <p:spTgt spid="20510"/>
                                        </p:tgtEl>
                                        <p:attrNameLst>
                                          <p:attrName>style.visibility</p:attrName>
                                        </p:attrNameLst>
                                      </p:cBhvr>
                                      <p:to>
                                        <p:strVal val="visible"/>
                                      </p:to>
                                    </p:set>
                                    <p:animEffect transition="in" filter="wipe(right)">
                                      <p:cBhvr>
                                        <p:cTn id="77" dur="500"/>
                                        <p:tgtEl>
                                          <p:spTgt spid="20510"/>
                                        </p:tgtEl>
                                      </p:cBhvr>
                                    </p:animEffect>
                                  </p:childTnLst>
                                </p:cTn>
                              </p:par>
                            </p:childTnLst>
                          </p:cTn>
                        </p:par>
                        <p:par>
                          <p:cTn id="78" fill="hold">
                            <p:stCondLst>
                              <p:cond delay="500"/>
                            </p:stCondLst>
                            <p:childTnLst>
                              <p:par>
                                <p:cTn id="79" presetID="22" presetClass="entr" presetSubtype="2" fill="hold" grpId="0" nodeType="afterEffect">
                                  <p:stCondLst>
                                    <p:cond delay="0"/>
                                  </p:stCondLst>
                                  <p:childTnLst>
                                    <p:set>
                                      <p:cBhvr>
                                        <p:cTn id="80" dur="1" fill="hold">
                                          <p:stCondLst>
                                            <p:cond delay="0"/>
                                          </p:stCondLst>
                                        </p:cTn>
                                        <p:tgtEl>
                                          <p:spTgt spid="20511"/>
                                        </p:tgtEl>
                                        <p:attrNameLst>
                                          <p:attrName>style.visibility</p:attrName>
                                        </p:attrNameLst>
                                      </p:cBhvr>
                                      <p:to>
                                        <p:strVal val="visible"/>
                                      </p:to>
                                    </p:set>
                                    <p:animEffect transition="in" filter="wipe(right)">
                                      <p:cBhvr>
                                        <p:cTn id="81" dur="500"/>
                                        <p:tgtEl>
                                          <p:spTgt spid="20511"/>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2" fill="hold" nodeType="clickEffect">
                                  <p:stCondLst>
                                    <p:cond delay="0"/>
                                  </p:stCondLst>
                                  <p:childTnLst>
                                    <p:set>
                                      <p:cBhvr>
                                        <p:cTn id="85" dur="1" fill="hold">
                                          <p:stCondLst>
                                            <p:cond delay="0"/>
                                          </p:stCondLst>
                                        </p:cTn>
                                        <p:tgtEl>
                                          <p:spTgt spid="20499"/>
                                        </p:tgtEl>
                                        <p:attrNameLst>
                                          <p:attrName>style.visibility</p:attrName>
                                        </p:attrNameLst>
                                      </p:cBhvr>
                                      <p:to>
                                        <p:strVal val="visible"/>
                                      </p:to>
                                    </p:set>
                                    <p:animEffect transition="in" filter="wipe(right)">
                                      <p:cBhvr>
                                        <p:cTn id="86" dur="500"/>
                                        <p:tgtEl>
                                          <p:spTgt spid="20499"/>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2" fill="hold" nodeType="clickEffect">
                                  <p:stCondLst>
                                    <p:cond delay="0"/>
                                  </p:stCondLst>
                                  <p:childTnLst>
                                    <p:set>
                                      <p:cBhvr>
                                        <p:cTn id="90" dur="1" fill="hold">
                                          <p:stCondLst>
                                            <p:cond delay="0"/>
                                          </p:stCondLst>
                                        </p:cTn>
                                        <p:tgtEl>
                                          <p:spTgt spid="20512"/>
                                        </p:tgtEl>
                                        <p:attrNameLst>
                                          <p:attrName>style.visibility</p:attrName>
                                        </p:attrNameLst>
                                      </p:cBhvr>
                                      <p:to>
                                        <p:strVal val="visible"/>
                                      </p:to>
                                    </p:set>
                                    <p:animEffect transition="in" filter="wipe(right)">
                                      <p:cBhvr>
                                        <p:cTn id="91" dur="500"/>
                                        <p:tgtEl>
                                          <p:spTgt spid="20512"/>
                                        </p:tgtEl>
                                      </p:cBhvr>
                                    </p:animEffect>
                                  </p:childTnLst>
                                </p:cTn>
                              </p:par>
                            </p:childTnLst>
                          </p:cTn>
                        </p:par>
                      </p:childTnLst>
                    </p:cTn>
                  </p:par>
                  <p:par>
                    <p:cTn id="92" fill="hold">
                      <p:stCondLst>
                        <p:cond delay="indefinite"/>
                      </p:stCondLst>
                      <p:childTnLst>
                        <p:par>
                          <p:cTn id="93" fill="hold">
                            <p:stCondLst>
                              <p:cond delay="0"/>
                            </p:stCondLst>
                            <p:childTnLst>
                              <p:par>
                                <p:cTn id="94" presetID="11" presetClass="entr" presetSubtype="0" fill="hold" grpId="0" nodeType="clickEffect">
                                  <p:stCondLst>
                                    <p:cond delay="0"/>
                                  </p:stCondLst>
                                  <p:childTnLst>
                                    <p:set>
                                      <p:cBhvr>
                                        <p:cTn id="95" dur="500">
                                          <p:stCondLst>
                                            <p:cond delay="0"/>
                                          </p:stCondLst>
                                        </p:cTn>
                                        <p:tgtEl>
                                          <p:spTgt spid="20498"/>
                                        </p:tgtEl>
                                        <p:attrNameLst>
                                          <p:attrName>style.visibility</p:attrName>
                                        </p:attrNameLst>
                                      </p:cBhvr>
                                      <p:to>
                                        <p:strVal val="visible"/>
                                      </p:to>
                                    </p:set>
                                  </p:childTnLst>
                                </p:cTn>
                              </p:par>
                            </p:childTnLst>
                          </p:cTn>
                        </p:par>
                        <p:par>
                          <p:cTn id="96" fill="hold">
                            <p:stCondLst>
                              <p:cond delay="500"/>
                            </p:stCondLst>
                            <p:childTnLst>
                              <p:par>
                                <p:cTn id="97" presetID="11" presetClass="entr" presetSubtype="0" fill="hold" grpId="0" nodeType="afterEffect">
                                  <p:stCondLst>
                                    <p:cond delay="0"/>
                                  </p:stCondLst>
                                  <p:childTnLst>
                                    <p:set>
                                      <p:cBhvr>
                                        <p:cTn id="98" dur="500">
                                          <p:stCondLst>
                                            <p:cond delay="0"/>
                                          </p:stCondLst>
                                        </p:cTn>
                                        <p:tgtEl>
                                          <p:spTgt spid="20520"/>
                                        </p:tgtEl>
                                        <p:attrNameLst>
                                          <p:attrName>style.visibility</p:attrName>
                                        </p:attrNameLst>
                                      </p:cBhvr>
                                      <p:to>
                                        <p:strVal val="visible"/>
                                      </p:to>
                                    </p:set>
                                  </p:childTnLst>
                                </p:cTn>
                              </p:par>
                            </p:childTnLst>
                          </p:cTn>
                        </p:par>
                        <p:par>
                          <p:cTn id="99" fill="hold">
                            <p:stCondLst>
                              <p:cond delay="1000"/>
                            </p:stCondLst>
                            <p:childTnLst>
                              <p:par>
                                <p:cTn id="100" presetID="11" presetClass="entr" presetSubtype="0" fill="hold" grpId="0" nodeType="afterEffect">
                                  <p:stCondLst>
                                    <p:cond delay="0"/>
                                  </p:stCondLst>
                                  <p:childTnLst>
                                    <p:set>
                                      <p:cBhvr>
                                        <p:cTn id="101" dur="500">
                                          <p:stCondLst>
                                            <p:cond delay="0"/>
                                          </p:stCondLst>
                                        </p:cTn>
                                        <p:tgtEl>
                                          <p:spTgt spid="20521"/>
                                        </p:tgtEl>
                                        <p:attrNameLst>
                                          <p:attrName>style.visibility</p:attrName>
                                        </p:attrNameLst>
                                      </p:cBhvr>
                                      <p:to>
                                        <p:strVal val="visible"/>
                                      </p:to>
                                    </p:set>
                                  </p:childTnLst>
                                </p:cTn>
                              </p:par>
                            </p:childTnLst>
                          </p:cTn>
                        </p:par>
                        <p:par>
                          <p:cTn id="102" fill="hold">
                            <p:stCondLst>
                              <p:cond delay="1500"/>
                            </p:stCondLst>
                            <p:childTnLst>
                              <p:par>
                                <p:cTn id="103" presetID="1" presetClass="entr" presetSubtype="0" fill="hold" grpId="0" nodeType="afterEffect">
                                  <p:stCondLst>
                                    <p:cond delay="0"/>
                                  </p:stCondLst>
                                  <p:childTnLst>
                                    <p:set>
                                      <p:cBhvr>
                                        <p:cTn id="104" dur="1" fill="hold">
                                          <p:stCondLst>
                                            <p:cond delay="0"/>
                                          </p:stCondLst>
                                        </p:cTn>
                                        <p:tgtEl>
                                          <p:spTgt spid="20522"/>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8" presetClass="entr" presetSubtype="6" fill="hold" nodeType="clickEffect">
                                  <p:stCondLst>
                                    <p:cond delay="0"/>
                                  </p:stCondLst>
                                  <p:childTnLst>
                                    <p:set>
                                      <p:cBhvr>
                                        <p:cTn id="108" dur="1" fill="hold">
                                          <p:stCondLst>
                                            <p:cond delay="0"/>
                                          </p:stCondLst>
                                        </p:cTn>
                                        <p:tgtEl>
                                          <p:spTgt spid="20482"/>
                                        </p:tgtEl>
                                        <p:attrNameLst>
                                          <p:attrName>style.visibility</p:attrName>
                                        </p:attrNameLst>
                                      </p:cBhvr>
                                      <p:to>
                                        <p:strVal val="visible"/>
                                      </p:to>
                                    </p:set>
                                    <p:animEffect transition="in" filter="strips(downRight)">
                                      <p:cBhvr>
                                        <p:cTn id="109" dur="500"/>
                                        <p:tgtEl>
                                          <p:spTgt spid="20482"/>
                                        </p:tgtEl>
                                      </p:cBhvr>
                                    </p:animEffect>
                                  </p:childTnLst>
                                </p:cTn>
                              </p:par>
                            </p:childTnLst>
                          </p:cTn>
                        </p:par>
                      </p:childTnLst>
                    </p:cTn>
                  </p:par>
                  <p:par>
                    <p:cTn id="110" fill="hold">
                      <p:stCondLst>
                        <p:cond delay="indefinite"/>
                      </p:stCondLst>
                      <p:childTnLst>
                        <p:par>
                          <p:cTn id="111" fill="hold">
                            <p:stCondLst>
                              <p:cond delay="0"/>
                            </p:stCondLst>
                            <p:childTnLst>
                              <p:par>
                                <p:cTn id="112" presetID="18" presetClass="entr" presetSubtype="12" fill="hold" nodeType="clickEffect">
                                  <p:stCondLst>
                                    <p:cond delay="0"/>
                                  </p:stCondLst>
                                  <p:childTnLst>
                                    <p:set>
                                      <p:cBhvr>
                                        <p:cTn id="113" dur="1" fill="hold">
                                          <p:stCondLst>
                                            <p:cond delay="0"/>
                                          </p:stCondLst>
                                        </p:cTn>
                                        <p:tgtEl>
                                          <p:spTgt spid="20523"/>
                                        </p:tgtEl>
                                        <p:attrNameLst>
                                          <p:attrName>style.visibility</p:attrName>
                                        </p:attrNameLst>
                                      </p:cBhvr>
                                      <p:to>
                                        <p:strVal val="visible"/>
                                      </p:to>
                                    </p:set>
                                    <p:animEffect transition="in" filter="strips(downLeft)">
                                      <p:cBhvr>
                                        <p:cTn id="114" dur="500"/>
                                        <p:tgtEl>
                                          <p:spTgt spid="20523"/>
                                        </p:tgtEl>
                                      </p:cBhvr>
                                    </p:animEffect>
                                  </p:childTnLst>
                                </p:cTn>
                              </p:par>
                            </p:childTnLst>
                          </p:cTn>
                        </p:par>
                      </p:childTnLst>
                    </p:cTn>
                  </p:par>
                  <p:par>
                    <p:cTn id="115" fill="hold">
                      <p:stCondLst>
                        <p:cond delay="indefinite"/>
                      </p:stCondLst>
                      <p:childTnLst>
                        <p:par>
                          <p:cTn id="116" fill="hold">
                            <p:stCondLst>
                              <p:cond delay="0"/>
                            </p:stCondLst>
                            <p:childTnLst>
                              <p:par>
                                <p:cTn id="117" presetID="55" presetClass="entr" presetSubtype="0" fill="hold" grpId="0" nodeType="clickEffect">
                                  <p:stCondLst>
                                    <p:cond delay="0"/>
                                  </p:stCondLst>
                                  <p:childTnLst>
                                    <p:set>
                                      <p:cBhvr>
                                        <p:cTn id="118" dur="1" fill="hold">
                                          <p:stCondLst>
                                            <p:cond delay="0"/>
                                          </p:stCondLst>
                                        </p:cTn>
                                        <p:tgtEl>
                                          <p:spTgt spid="20534"/>
                                        </p:tgtEl>
                                        <p:attrNameLst>
                                          <p:attrName>style.visibility</p:attrName>
                                        </p:attrNameLst>
                                      </p:cBhvr>
                                      <p:to>
                                        <p:strVal val="visible"/>
                                      </p:to>
                                    </p:set>
                                    <p:anim calcmode="lin" valueType="num">
                                      <p:cBhvr>
                                        <p:cTn id="119" dur="500" fill="hold"/>
                                        <p:tgtEl>
                                          <p:spTgt spid="20534"/>
                                        </p:tgtEl>
                                        <p:attrNameLst>
                                          <p:attrName>ppt_w</p:attrName>
                                        </p:attrNameLst>
                                      </p:cBhvr>
                                      <p:tavLst>
                                        <p:tav tm="0">
                                          <p:val>
                                            <p:strVal val="#ppt_w*0.70"/>
                                          </p:val>
                                        </p:tav>
                                        <p:tav tm="100000">
                                          <p:val>
                                            <p:strVal val="#ppt_w"/>
                                          </p:val>
                                        </p:tav>
                                      </p:tavLst>
                                    </p:anim>
                                    <p:anim calcmode="lin" valueType="num">
                                      <p:cBhvr>
                                        <p:cTn id="120" dur="500" fill="hold"/>
                                        <p:tgtEl>
                                          <p:spTgt spid="20534"/>
                                        </p:tgtEl>
                                        <p:attrNameLst>
                                          <p:attrName>ppt_h</p:attrName>
                                        </p:attrNameLst>
                                      </p:cBhvr>
                                      <p:tavLst>
                                        <p:tav tm="0">
                                          <p:val>
                                            <p:strVal val="#ppt_h"/>
                                          </p:val>
                                        </p:tav>
                                        <p:tav tm="100000">
                                          <p:val>
                                            <p:strVal val="#ppt_h"/>
                                          </p:val>
                                        </p:tav>
                                      </p:tavLst>
                                    </p:anim>
                                    <p:animEffect transition="in" filter="fade">
                                      <p:cBhvr>
                                        <p:cTn id="121" dur="500"/>
                                        <p:tgtEl>
                                          <p:spTgt spid="20534"/>
                                        </p:tgtEl>
                                      </p:cBhvr>
                                    </p:animEffect>
                                  </p:childTnLst>
                                </p:cTn>
                              </p:par>
                            </p:childTnLst>
                          </p:cTn>
                        </p:par>
                        <p:par>
                          <p:cTn id="122" fill="hold">
                            <p:stCondLst>
                              <p:cond delay="500"/>
                            </p:stCondLst>
                            <p:childTnLst>
                              <p:par>
                                <p:cTn id="123" presetID="27" presetClass="entr" presetSubtype="0" fill="hold" grpId="0" nodeType="afterEffect">
                                  <p:stCondLst>
                                    <p:cond delay="0"/>
                                  </p:stCondLst>
                                  <p:iterate type="lt">
                                    <p:tmPct val="50000"/>
                                  </p:iterate>
                                  <p:childTnLst>
                                    <p:set>
                                      <p:cBhvr>
                                        <p:cTn id="124" dur="1" fill="hold">
                                          <p:stCondLst>
                                            <p:cond delay="0"/>
                                          </p:stCondLst>
                                        </p:cTn>
                                        <p:tgtEl>
                                          <p:spTgt spid="20535"/>
                                        </p:tgtEl>
                                        <p:attrNameLst>
                                          <p:attrName>style.visibility</p:attrName>
                                        </p:attrNameLst>
                                      </p:cBhvr>
                                      <p:to>
                                        <p:strVal val="visible"/>
                                      </p:to>
                                    </p:set>
                                    <p:anim calcmode="discrete" valueType="clr">
                                      <p:cBhvr override="childStyle">
                                        <p:cTn id="125" dur="500"/>
                                        <p:tgtEl>
                                          <p:spTgt spid="20535"/>
                                        </p:tgtEl>
                                        <p:attrNameLst>
                                          <p:attrName>style.color</p:attrName>
                                        </p:attrNameLst>
                                      </p:cBhvr>
                                      <p:tavLst>
                                        <p:tav tm="0">
                                          <p:val>
                                            <p:clrVal>
                                              <a:schemeClr val="accent2"/>
                                            </p:clrVal>
                                          </p:val>
                                        </p:tav>
                                        <p:tav tm="50000">
                                          <p:val>
                                            <p:clrVal>
                                              <a:schemeClr val="hlink"/>
                                            </p:clrVal>
                                          </p:val>
                                        </p:tav>
                                      </p:tavLst>
                                    </p:anim>
                                    <p:anim calcmode="discrete" valueType="clr">
                                      <p:cBhvr>
                                        <p:cTn id="126" dur="500"/>
                                        <p:tgtEl>
                                          <p:spTgt spid="20535"/>
                                        </p:tgtEl>
                                        <p:attrNameLst>
                                          <p:attrName>fillcolor</p:attrName>
                                        </p:attrNameLst>
                                      </p:cBhvr>
                                      <p:tavLst>
                                        <p:tav tm="0">
                                          <p:val>
                                            <p:clrVal>
                                              <a:schemeClr val="accent2"/>
                                            </p:clrVal>
                                          </p:val>
                                        </p:tav>
                                        <p:tav tm="50000">
                                          <p:val>
                                            <p:clrVal>
                                              <a:schemeClr val="hlink"/>
                                            </p:clrVal>
                                          </p:val>
                                        </p:tav>
                                      </p:tavLst>
                                    </p:anim>
                                    <p:set>
                                      <p:cBhvr>
                                        <p:cTn id="127" dur="500"/>
                                        <p:tgtEl>
                                          <p:spTgt spid="20535"/>
                                        </p:tgtEl>
                                        <p:attrNameLst>
                                          <p:attrName>fill.type</p:attrName>
                                        </p:attrNameLst>
                                      </p:cBhvr>
                                      <p:to>
                                        <p:strVal val="solid"/>
                                      </p:to>
                                    </p:set>
                                  </p:childTnLst>
                                </p:cTn>
                              </p:par>
                            </p:childTnLst>
                          </p:cTn>
                        </p:par>
                        <p:par>
                          <p:cTn id="128" fill="hold">
                            <p:stCondLst>
                              <p:cond delay="1750"/>
                            </p:stCondLst>
                            <p:childTnLst>
                              <p:par>
                                <p:cTn id="129" presetID="22" presetClass="entr" presetSubtype="8" fill="hold" grpId="0" nodeType="afterEffect">
                                  <p:stCondLst>
                                    <p:cond delay="0"/>
                                  </p:stCondLst>
                                  <p:childTnLst>
                                    <p:set>
                                      <p:cBhvr>
                                        <p:cTn id="130" dur="1" fill="hold">
                                          <p:stCondLst>
                                            <p:cond delay="0"/>
                                          </p:stCondLst>
                                        </p:cTn>
                                        <p:tgtEl>
                                          <p:spTgt spid="20549"/>
                                        </p:tgtEl>
                                        <p:attrNameLst>
                                          <p:attrName>style.visibility</p:attrName>
                                        </p:attrNameLst>
                                      </p:cBhvr>
                                      <p:to>
                                        <p:strVal val="visible"/>
                                      </p:to>
                                    </p:set>
                                    <p:animEffect transition="in" filter="wipe(left)">
                                      <p:cBhvr>
                                        <p:cTn id="131" dur="500"/>
                                        <p:tgtEl>
                                          <p:spTgt spid="20549"/>
                                        </p:tgtEl>
                                      </p:cBhvr>
                                    </p:animEffect>
                                  </p:childTnLst>
                                </p:cTn>
                              </p:par>
                            </p:childTnLst>
                          </p:cTn>
                        </p:par>
                        <p:par>
                          <p:cTn id="132" fill="hold">
                            <p:stCondLst>
                              <p:cond delay="2250"/>
                            </p:stCondLst>
                            <p:childTnLst>
                              <p:par>
                                <p:cTn id="133" presetID="22" presetClass="entr" presetSubtype="2" fill="hold" grpId="0" nodeType="afterEffect">
                                  <p:stCondLst>
                                    <p:cond delay="0"/>
                                  </p:stCondLst>
                                  <p:childTnLst>
                                    <p:set>
                                      <p:cBhvr>
                                        <p:cTn id="134" dur="1" fill="hold">
                                          <p:stCondLst>
                                            <p:cond delay="0"/>
                                          </p:stCondLst>
                                        </p:cTn>
                                        <p:tgtEl>
                                          <p:spTgt spid="20550"/>
                                        </p:tgtEl>
                                        <p:attrNameLst>
                                          <p:attrName>style.visibility</p:attrName>
                                        </p:attrNameLst>
                                      </p:cBhvr>
                                      <p:to>
                                        <p:strVal val="visible"/>
                                      </p:to>
                                    </p:set>
                                    <p:animEffect transition="in" filter="wipe(right)">
                                      <p:cBhvr>
                                        <p:cTn id="135" dur="500"/>
                                        <p:tgtEl>
                                          <p:spTgt spid="20550"/>
                                        </p:tgtEl>
                                      </p:cBhvr>
                                    </p:animEffect>
                                  </p:childTnLst>
                                </p:cTn>
                              </p:par>
                            </p:childTnLst>
                          </p:cTn>
                        </p:par>
                      </p:childTnLst>
                    </p:cTn>
                  </p:par>
                  <p:par>
                    <p:cTn id="136" fill="hold">
                      <p:stCondLst>
                        <p:cond delay="indefinite"/>
                      </p:stCondLst>
                      <p:childTnLst>
                        <p:par>
                          <p:cTn id="137" fill="hold">
                            <p:stCondLst>
                              <p:cond delay="0"/>
                            </p:stCondLst>
                            <p:childTnLst>
                              <p:par>
                                <p:cTn id="138" presetID="51" presetClass="entr" presetSubtype="0" fill="hold" grpId="0" nodeType="clickEffect">
                                  <p:stCondLst>
                                    <p:cond delay="0"/>
                                  </p:stCondLst>
                                  <p:childTnLst>
                                    <p:set>
                                      <p:cBhvr>
                                        <p:cTn id="139" dur="1" fill="hold">
                                          <p:stCondLst>
                                            <p:cond delay="0"/>
                                          </p:stCondLst>
                                        </p:cTn>
                                        <p:tgtEl>
                                          <p:spTgt spid="20531"/>
                                        </p:tgtEl>
                                        <p:attrNameLst>
                                          <p:attrName>style.visibility</p:attrName>
                                        </p:attrNameLst>
                                      </p:cBhvr>
                                      <p:to>
                                        <p:strVal val="visible"/>
                                      </p:to>
                                    </p:set>
                                    <p:animEffect transition="in" filter="fade">
                                      <p:cBhvr>
                                        <p:cTn id="140" dur="385" decel="100000"/>
                                        <p:tgtEl>
                                          <p:spTgt spid="20531"/>
                                        </p:tgtEl>
                                      </p:cBhvr>
                                    </p:animEffect>
                                    <p:animScale>
                                      <p:cBhvr>
                                        <p:cTn id="141" dur="385" decel="100000"/>
                                        <p:tgtEl>
                                          <p:spTgt spid="20531"/>
                                        </p:tgtEl>
                                      </p:cBhvr>
                                      <p:from x="10000" y="10000"/>
                                      <p:to x="200000" y="450000"/>
                                    </p:animScale>
                                    <p:animScale>
                                      <p:cBhvr>
                                        <p:cTn id="142" dur="615" accel="100000" fill="hold">
                                          <p:stCondLst>
                                            <p:cond delay="385"/>
                                          </p:stCondLst>
                                        </p:cTn>
                                        <p:tgtEl>
                                          <p:spTgt spid="20531"/>
                                        </p:tgtEl>
                                      </p:cBhvr>
                                      <p:from x="200000" y="450000"/>
                                      <p:to x="100000" y="100000"/>
                                    </p:animScale>
                                    <p:set>
                                      <p:cBhvr>
                                        <p:cTn id="143" dur="385" fill="hold"/>
                                        <p:tgtEl>
                                          <p:spTgt spid="20531"/>
                                        </p:tgtEl>
                                        <p:attrNameLst>
                                          <p:attrName>ppt_x</p:attrName>
                                        </p:attrNameLst>
                                      </p:cBhvr>
                                      <p:to>
                                        <p:strVal val="(0.5)"/>
                                      </p:to>
                                    </p:set>
                                    <p:anim from="(0.5)" to="(#ppt_x)" calcmode="lin" valueType="num">
                                      <p:cBhvr>
                                        <p:cTn id="144" dur="615" accel="100000" fill="hold">
                                          <p:stCondLst>
                                            <p:cond delay="385"/>
                                          </p:stCondLst>
                                        </p:cTn>
                                        <p:tgtEl>
                                          <p:spTgt spid="20531"/>
                                        </p:tgtEl>
                                        <p:attrNameLst>
                                          <p:attrName>ppt_x</p:attrName>
                                        </p:attrNameLst>
                                      </p:cBhvr>
                                    </p:anim>
                                    <p:set>
                                      <p:cBhvr>
                                        <p:cTn id="145" dur="385" fill="hold"/>
                                        <p:tgtEl>
                                          <p:spTgt spid="20531"/>
                                        </p:tgtEl>
                                        <p:attrNameLst>
                                          <p:attrName>ppt_y</p:attrName>
                                        </p:attrNameLst>
                                      </p:cBhvr>
                                      <p:to>
                                        <p:strVal val="(#ppt_y+0.4)"/>
                                      </p:to>
                                    </p:set>
                                    <p:anim from="(#ppt_y+0.4)" to="(#ppt_y)" calcmode="lin" valueType="num">
                                      <p:cBhvr>
                                        <p:cTn id="146" dur="615" accel="100000" fill="hold">
                                          <p:stCondLst>
                                            <p:cond delay="385"/>
                                          </p:stCondLst>
                                        </p:cTn>
                                        <p:tgtEl>
                                          <p:spTgt spid="20531"/>
                                        </p:tgtEl>
                                        <p:attrNameLst>
                                          <p:attrName>ppt_y</p:attrName>
                                        </p:attrNameLst>
                                      </p:cBhvr>
                                    </p:anim>
                                  </p:childTnLst>
                                </p:cTn>
                              </p:par>
                            </p:childTnLst>
                          </p:cTn>
                        </p:par>
                      </p:childTnLst>
                    </p:cTn>
                  </p:par>
                  <p:par>
                    <p:cTn id="147" fill="hold">
                      <p:stCondLst>
                        <p:cond delay="indefinite"/>
                      </p:stCondLst>
                      <p:childTnLst>
                        <p:par>
                          <p:cTn id="148" fill="hold">
                            <p:stCondLst>
                              <p:cond delay="0"/>
                            </p:stCondLst>
                            <p:childTnLst>
                              <p:par>
                                <p:cTn id="149" presetID="51" presetClass="entr" presetSubtype="0" fill="hold" grpId="0" nodeType="clickEffect">
                                  <p:stCondLst>
                                    <p:cond delay="0"/>
                                  </p:stCondLst>
                                  <p:childTnLst>
                                    <p:set>
                                      <p:cBhvr>
                                        <p:cTn id="150" dur="1" fill="hold">
                                          <p:stCondLst>
                                            <p:cond delay="0"/>
                                          </p:stCondLst>
                                        </p:cTn>
                                        <p:tgtEl>
                                          <p:spTgt spid="20532"/>
                                        </p:tgtEl>
                                        <p:attrNameLst>
                                          <p:attrName>style.visibility</p:attrName>
                                        </p:attrNameLst>
                                      </p:cBhvr>
                                      <p:to>
                                        <p:strVal val="visible"/>
                                      </p:to>
                                    </p:set>
                                    <p:animEffect transition="in" filter="fade">
                                      <p:cBhvr>
                                        <p:cTn id="151" dur="385" decel="100000"/>
                                        <p:tgtEl>
                                          <p:spTgt spid="20532"/>
                                        </p:tgtEl>
                                      </p:cBhvr>
                                    </p:animEffect>
                                    <p:animScale>
                                      <p:cBhvr>
                                        <p:cTn id="152" dur="385" decel="100000"/>
                                        <p:tgtEl>
                                          <p:spTgt spid="20532"/>
                                        </p:tgtEl>
                                      </p:cBhvr>
                                      <p:from x="10000" y="10000"/>
                                      <p:to x="200000" y="450000"/>
                                    </p:animScale>
                                    <p:animScale>
                                      <p:cBhvr>
                                        <p:cTn id="153" dur="615" accel="100000" fill="hold">
                                          <p:stCondLst>
                                            <p:cond delay="385"/>
                                          </p:stCondLst>
                                        </p:cTn>
                                        <p:tgtEl>
                                          <p:spTgt spid="20532"/>
                                        </p:tgtEl>
                                      </p:cBhvr>
                                      <p:from x="200000" y="450000"/>
                                      <p:to x="100000" y="100000"/>
                                    </p:animScale>
                                    <p:set>
                                      <p:cBhvr>
                                        <p:cTn id="154" dur="385" fill="hold"/>
                                        <p:tgtEl>
                                          <p:spTgt spid="20532"/>
                                        </p:tgtEl>
                                        <p:attrNameLst>
                                          <p:attrName>ppt_x</p:attrName>
                                        </p:attrNameLst>
                                      </p:cBhvr>
                                      <p:to>
                                        <p:strVal val="(0.5)"/>
                                      </p:to>
                                    </p:set>
                                    <p:anim from="(0.5)" to="(#ppt_x)" calcmode="lin" valueType="num">
                                      <p:cBhvr>
                                        <p:cTn id="155" dur="615" accel="100000" fill="hold">
                                          <p:stCondLst>
                                            <p:cond delay="385"/>
                                          </p:stCondLst>
                                        </p:cTn>
                                        <p:tgtEl>
                                          <p:spTgt spid="20532"/>
                                        </p:tgtEl>
                                        <p:attrNameLst>
                                          <p:attrName>ppt_x</p:attrName>
                                        </p:attrNameLst>
                                      </p:cBhvr>
                                    </p:anim>
                                    <p:set>
                                      <p:cBhvr>
                                        <p:cTn id="156" dur="385" fill="hold"/>
                                        <p:tgtEl>
                                          <p:spTgt spid="20532"/>
                                        </p:tgtEl>
                                        <p:attrNameLst>
                                          <p:attrName>ppt_y</p:attrName>
                                        </p:attrNameLst>
                                      </p:cBhvr>
                                      <p:to>
                                        <p:strVal val="(#ppt_y+0.4)"/>
                                      </p:to>
                                    </p:set>
                                    <p:anim from="(#ppt_y+0.4)" to="(#ppt_y)" calcmode="lin" valueType="num">
                                      <p:cBhvr>
                                        <p:cTn id="157" dur="615" accel="100000" fill="hold">
                                          <p:stCondLst>
                                            <p:cond delay="385"/>
                                          </p:stCondLst>
                                        </p:cTn>
                                        <p:tgtEl>
                                          <p:spTgt spid="20532"/>
                                        </p:tgtEl>
                                        <p:attrNameLst>
                                          <p:attrName>ppt_y</p:attrName>
                                        </p:attrNameLst>
                                      </p:cBhvr>
                                    </p:anim>
                                  </p:childTnLst>
                                </p:cTn>
                              </p:par>
                            </p:childTnLst>
                          </p:cTn>
                        </p:par>
                      </p:childTnLst>
                    </p:cTn>
                  </p:par>
                  <p:par>
                    <p:cTn id="158" fill="hold">
                      <p:stCondLst>
                        <p:cond delay="indefinite"/>
                      </p:stCondLst>
                      <p:childTnLst>
                        <p:par>
                          <p:cTn id="159" fill="hold">
                            <p:stCondLst>
                              <p:cond delay="0"/>
                            </p:stCondLst>
                            <p:childTnLst>
                              <p:par>
                                <p:cTn id="160" presetID="51" presetClass="entr" presetSubtype="0" fill="hold" grpId="0" nodeType="clickEffect">
                                  <p:stCondLst>
                                    <p:cond delay="0"/>
                                  </p:stCondLst>
                                  <p:childTnLst>
                                    <p:set>
                                      <p:cBhvr>
                                        <p:cTn id="161" dur="1" fill="hold">
                                          <p:stCondLst>
                                            <p:cond delay="0"/>
                                          </p:stCondLst>
                                        </p:cTn>
                                        <p:tgtEl>
                                          <p:spTgt spid="20533"/>
                                        </p:tgtEl>
                                        <p:attrNameLst>
                                          <p:attrName>style.visibility</p:attrName>
                                        </p:attrNameLst>
                                      </p:cBhvr>
                                      <p:to>
                                        <p:strVal val="visible"/>
                                      </p:to>
                                    </p:set>
                                    <p:animEffect transition="in" filter="fade">
                                      <p:cBhvr>
                                        <p:cTn id="162" dur="385" decel="100000"/>
                                        <p:tgtEl>
                                          <p:spTgt spid="20533"/>
                                        </p:tgtEl>
                                      </p:cBhvr>
                                    </p:animEffect>
                                    <p:animScale>
                                      <p:cBhvr>
                                        <p:cTn id="163" dur="385" decel="100000"/>
                                        <p:tgtEl>
                                          <p:spTgt spid="20533"/>
                                        </p:tgtEl>
                                      </p:cBhvr>
                                      <p:from x="10000" y="10000"/>
                                      <p:to x="200000" y="450000"/>
                                    </p:animScale>
                                    <p:animScale>
                                      <p:cBhvr>
                                        <p:cTn id="164" dur="615" accel="100000" fill="hold">
                                          <p:stCondLst>
                                            <p:cond delay="385"/>
                                          </p:stCondLst>
                                        </p:cTn>
                                        <p:tgtEl>
                                          <p:spTgt spid="20533"/>
                                        </p:tgtEl>
                                      </p:cBhvr>
                                      <p:from x="200000" y="450000"/>
                                      <p:to x="100000" y="100000"/>
                                    </p:animScale>
                                    <p:set>
                                      <p:cBhvr>
                                        <p:cTn id="165" dur="385" fill="hold"/>
                                        <p:tgtEl>
                                          <p:spTgt spid="20533"/>
                                        </p:tgtEl>
                                        <p:attrNameLst>
                                          <p:attrName>ppt_x</p:attrName>
                                        </p:attrNameLst>
                                      </p:cBhvr>
                                      <p:to>
                                        <p:strVal val="(0.5)"/>
                                      </p:to>
                                    </p:set>
                                    <p:anim from="(0.5)" to="(#ppt_x)" calcmode="lin" valueType="num">
                                      <p:cBhvr>
                                        <p:cTn id="166" dur="615" accel="100000" fill="hold">
                                          <p:stCondLst>
                                            <p:cond delay="385"/>
                                          </p:stCondLst>
                                        </p:cTn>
                                        <p:tgtEl>
                                          <p:spTgt spid="20533"/>
                                        </p:tgtEl>
                                        <p:attrNameLst>
                                          <p:attrName>ppt_x</p:attrName>
                                        </p:attrNameLst>
                                      </p:cBhvr>
                                    </p:anim>
                                    <p:set>
                                      <p:cBhvr>
                                        <p:cTn id="167" dur="385" fill="hold"/>
                                        <p:tgtEl>
                                          <p:spTgt spid="20533"/>
                                        </p:tgtEl>
                                        <p:attrNameLst>
                                          <p:attrName>ppt_y</p:attrName>
                                        </p:attrNameLst>
                                      </p:cBhvr>
                                      <p:to>
                                        <p:strVal val="(#ppt_y+0.4)"/>
                                      </p:to>
                                    </p:set>
                                    <p:anim from="(#ppt_y+0.4)" to="(#ppt_y)" calcmode="lin" valueType="num">
                                      <p:cBhvr>
                                        <p:cTn id="168" dur="615" accel="100000" fill="hold">
                                          <p:stCondLst>
                                            <p:cond delay="385"/>
                                          </p:stCondLst>
                                        </p:cTn>
                                        <p:tgtEl>
                                          <p:spTgt spid="20533"/>
                                        </p:tgtEl>
                                        <p:attrNameLst>
                                          <p:attrName>ppt_y</p:attrName>
                                        </p:attrNameLst>
                                      </p:cBhvr>
                                    </p:anim>
                                  </p:childTnLst>
                                </p:cTn>
                              </p:par>
                            </p:childTnLst>
                          </p:cTn>
                        </p:par>
                      </p:childTnLst>
                    </p:cTn>
                  </p:par>
                  <p:par>
                    <p:cTn id="169" fill="hold">
                      <p:stCondLst>
                        <p:cond delay="indefinite"/>
                      </p:stCondLst>
                      <p:childTnLst>
                        <p:par>
                          <p:cTn id="170" fill="hold">
                            <p:stCondLst>
                              <p:cond delay="0"/>
                            </p:stCondLst>
                            <p:childTnLst>
                              <p:par>
                                <p:cTn id="171" presetID="22" presetClass="entr" presetSubtype="2" fill="hold" nodeType="clickEffect">
                                  <p:stCondLst>
                                    <p:cond delay="0"/>
                                  </p:stCondLst>
                                  <p:childTnLst>
                                    <p:set>
                                      <p:cBhvr>
                                        <p:cTn id="172" dur="1" fill="hold">
                                          <p:stCondLst>
                                            <p:cond delay="0"/>
                                          </p:stCondLst>
                                        </p:cTn>
                                        <p:tgtEl>
                                          <p:spTgt spid="20536"/>
                                        </p:tgtEl>
                                        <p:attrNameLst>
                                          <p:attrName>style.visibility</p:attrName>
                                        </p:attrNameLst>
                                      </p:cBhvr>
                                      <p:to>
                                        <p:strVal val="visible"/>
                                      </p:to>
                                    </p:set>
                                    <p:animEffect transition="in" filter="wipe(right)">
                                      <p:cBhvr>
                                        <p:cTn id="173" dur="500"/>
                                        <p:tgtEl>
                                          <p:spTgt spid="20536"/>
                                        </p:tgtEl>
                                      </p:cBhvr>
                                    </p:animEffect>
                                  </p:childTnLst>
                                </p:cTn>
                              </p:par>
                            </p:childTnLst>
                          </p:cTn>
                        </p:par>
                      </p:childTnLst>
                    </p:cTn>
                  </p:par>
                  <p:par>
                    <p:cTn id="174" fill="hold">
                      <p:stCondLst>
                        <p:cond delay="indefinite"/>
                      </p:stCondLst>
                      <p:childTnLst>
                        <p:par>
                          <p:cTn id="175" fill="hold">
                            <p:stCondLst>
                              <p:cond delay="0"/>
                            </p:stCondLst>
                            <p:childTnLst>
                              <p:par>
                                <p:cTn id="176" presetID="22" presetClass="entr" presetSubtype="2" fill="hold" nodeType="clickEffect">
                                  <p:stCondLst>
                                    <p:cond delay="0"/>
                                  </p:stCondLst>
                                  <p:childTnLst>
                                    <p:set>
                                      <p:cBhvr>
                                        <p:cTn id="177" dur="1" fill="hold">
                                          <p:stCondLst>
                                            <p:cond delay="0"/>
                                          </p:stCondLst>
                                        </p:cTn>
                                        <p:tgtEl>
                                          <p:spTgt spid="20525"/>
                                        </p:tgtEl>
                                        <p:attrNameLst>
                                          <p:attrName>style.visibility</p:attrName>
                                        </p:attrNameLst>
                                      </p:cBhvr>
                                      <p:to>
                                        <p:strVal val="visible"/>
                                      </p:to>
                                    </p:set>
                                    <p:animEffect transition="in" filter="wipe(right)">
                                      <p:cBhvr>
                                        <p:cTn id="178" dur="500"/>
                                        <p:tgtEl>
                                          <p:spTgt spid="20525"/>
                                        </p:tgtEl>
                                      </p:cBhvr>
                                    </p:animEffect>
                                  </p:childTnLst>
                                </p:cTn>
                              </p:par>
                            </p:childTnLst>
                          </p:cTn>
                        </p:par>
                      </p:childTnLst>
                    </p:cTn>
                  </p:par>
                  <p:par>
                    <p:cTn id="179" fill="hold">
                      <p:stCondLst>
                        <p:cond delay="indefinite"/>
                      </p:stCondLst>
                      <p:childTnLst>
                        <p:par>
                          <p:cTn id="180" fill="hold">
                            <p:stCondLst>
                              <p:cond delay="0"/>
                            </p:stCondLst>
                            <p:childTnLst>
                              <p:par>
                                <p:cTn id="181" presetID="11" presetClass="entr" presetSubtype="0" fill="hold" grpId="0" nodeType="clickEffect">
                                  <p:stCondLst>
                                    <p:cond delay="0"/>
                                  </p:stCondLst>
                                  <p:childTnLst>
                                    <p:set>
                                      <p:cBhvr>
                                        <p:cTn id="182" dur="500">
                                          <p:stCondLst>
                                            <p:cond delay="0"/>
                                          </p:stCondLst>
                                        </p:cTn>
                                        <p:tgtEl>
                                          <p:spTgt spid="20524"/>
                                        </p:tgtEl>
                                        <p:attrNameLst>
                                          <p:attrName>style.visibility</p:attrName>
                                        </p:attrNameLst>
                                      </p:cBhvr>
                                      <p:to>
                                        <p:strVal val="visible"/>
                                      </p:to>
                                    </p:set>
                                  </p:childTnLst>
                                </p:cTn>
                              </p:par>
                            </p:childTnLst>
                          </p:cTn>
                        </p:par>
                        <p:par>
                          <p:cTn id="183" fill="hold">
                            <p:stCondLst>
                              <p:cond delay="500"/>
                            </p:stCondLst>
                            <p:childTnLst>
                              <p:par>
                                <p:cTn id="184" presetID="11" presetClass="entr" presetSubtype="0" fill="hold" grpId="0" nodeType="afterEffect">
                                  <p:stCondLst>
                                    <p:cond delay="0"/>
                                  </p:stCondLst>
                                  <p:childTnLst>
                                    <p:set>
                                      <p:cBhvr>
                                        <p:cTn id="185" dur="500">
                                          <p:stCondLst>
                                            <p:cond delay="0"/>
                                          </p:stCondLst>
                                        </p:cTn>
                                        <p:tgtEl>
                                          <p:spTgt spid="20544"/>
                                        </p:tgtEl>
                                        <p:attrNameLst>
                                          <p:attrName>style.visibility</p:attrName>
                                        </p:attrNameLst>
                                      </p:cBhvr>
                                      <p:to>
                                        <p:strVal val="visible"/>
                                      </p:to>
                                    </p:set>
                                  </p:childTnLst>
                                </p:cTn>
                              </p:par>
                            </p:childTnLst>
                          </p:cTn>
                        </p:par>
                        <p:par>
                          <p:cTn id="186" fill="hold">
                            <p:stCondLst>
                              <p:cond delay="1000"/>
                            </p:stCondLst>
                            <p:childTnLst>
                              <p:par>
                                <p:cTn id="187" presetID="11" presetClass="entr" presetSubtype="0" fill="hold" grpId="0" nodeType="afterEffect">
                                  <p:stCondLst>
                                    <p:cond delay="0"/>
                                  </p:stCondLst>
                                  <p:childTnLst>
                                    <p:set>
                                      <p:cBhvr>
                                        <p:cTn id="188" dur="500">
                                          <p:stCondLst>
                                            <p:cond delay="0"/>
                                          </p:stCondLst>
                                        </p:cTn>
                                        <p:tgtEl>
                                          <p:spTgt spid="20545"/>
                                        </p:tgtEl>
                                        <p:attrNameLst>
                                          <p:attrName>style.visibility</p:attrName>
                                        </p:attrNameLst>
                                      </p:cBhvr>
                                      <p:to>
                                        <p:strVal val="visible"/>
                                      </p:to>
                                    </p:set>
                                  </p:childTnLst>
                                </p:cTn>
                              </p:par>
                            </p:childTnLst>
                          </p:cTn>
                        </p:par>
                        <p:par>
                          <p:cTn id="189" fill="hold">
                            <p:stCondLst>
                              <p:cond delay="1500"/>
                            </p:stCondLst>
                            <p:childTnLst>
                              <p:par>
                                <p:cTn id="190" presetID="11" presetClass="entr" presetSubtype="0" fill="hold" grpId="0" nodeType="afterEffect">
                                  <p:stCondLst>
                                    <p:cond delay="0"/>
                                  </p:stCondLst>
                                  <p:childTnLst>
                                    <p:set>
                                      <p:cBhvr>
                                        <p:cTn id="191" dur="500">
                                          <p:stCondLst>
                                            <p:cond delay="0"/>
                                          </p:stCondLst>
                                        </p:cTn>
                                        <p:tgtEl>
                                          <p:spTgt spid="20546"/>
                                        </p:tgtEl>
                                        <p:attrNameLst>
                                          <p:attrName>style.visibility</p:attrName>
                                        </p:attrNameLst>
                                      </p:cBhvr>
                                      <p:to>
                                        <p:strVal val="visible"/>
                                      </p:to>
                                    </p:set>
                                  </p:childTnLst>
                                </p:cTn>
                              </p:par>
                            </p:childTnLst>
                          </p:cTn>
                        </p:par>
                        <p:par>
                          <p:cTn id="192" fill="hold">
                            <p:stCondLst>
                              <p:cond delay="2000"/>
                            </p:stCondLst>
                            <p:childTnLst>
                              <p:par>
                                <p:cTn id="193" presetID="11" presetClass="entr" presetSubtype="0" fill="hold" grpId="0" nodeType="afterEffect">
                                  <p:stCondLst>
                                    <p:cond delay="0"/>
                                  </p:stCondLst>
                                  <p:childTnLst>
                                    <p:set>
                                      <p:cBhvr>
                                        <p:cTn id="194" dur="500">
                                          <p:stCondLst>
                                            <p:cond delay="0"/>
                                          </p:stCondLst>
                                        </p:cTn>
                                        <p:tgtEl>
                                          <p:spTgt spid="20548"/>
                                        </p:tgtEl>
                                        <p:attrNameLst>
                                          <p:attrName>style.visibility</p:attrName>
                                        </p:attrNameLst>
                                      </p:cBhvr>
                                      <p:to>
                                        <p:strVal val="visible"/>
                                      </p:to>
                                    </p:set>
                                  </p:childTnLst>
                                </p:cTn>
                              </p:par>
                            </p:childTnLst>
                          </p:cTn>
                        </p:par>
                        <p:par>
                          <p:cTn id="195" fill="hold">
                            <p:stCondLst>
                              <p:cond delay="2500"/>
                            </p:stCondLst>
                            <p:childTnLst>
                              <p:par>
                                <p:cTn id="196" presetID="1" presetClass="entr" presetSubtype="0" fill="hold" grpId="0" nodeType="afterEffect">
                                  <p:stCondLst>
                                    <p:cond delay="0"/>
                                  </p:stCondLst>
                                  <p:childTnLst>
                                    <p:set>
                                      <p:cBhvr>
                                        <p:cTn id="197" dur="1" fill="hold">
                                          <p:stCondLst>
                                            <p:cond delay="0"/>
                                          </p:stCondLst>
                                        </p:cTn>
                                        <p:tgtEl>
                                          <p:spTgt spid="20547"/>
                                        </p:tgtEl>
                                        <p:attrNameLst>
                                          <p:attrName>style.visibility</p:attrName>
                                        </p:attrNameLst>
                                      </p:cBhvr>
                                      <p:to>
                                        <p:strVal val="visible"/>
                                      </p:to>
                                    </p:set>
                                  </p:childTnLst>
                                </p:cTn>
                              </p:par>
                            </p:childTnLst>
                          </p:cTn>
                        </p:par>
                      </p:childTnLst>
                    </p:cTn>
                  </p:par>
                  <p:par>
                    <p:cTn id="198" fill="hold">
                      <p:stCondLst>
                        <p:cond delay="indefinite"/>
                      </p:stCondLst>
                      <p:childTnLst>
                        <p:par>
                          <p:cTn id="199" fill="hold">
                            <p:stCondLst>
                              <p:cond delay="0"/>
                            </p:stCondLst>
                            <p:childTnLst>
                              <p:par>
                                <p:cTn id="200" presetID="27" presetClass="entr" presetSubtype="0" fill="hold" grpId="0" nodeType="clickEffect">
                                  <p:stCondLst>
                                    <p:cond delay="0"/>
                                  </p:stCondLst>
                                  <p:iterate type="lt">
                                    <p:tmPct val="50000"/>
                                  </p:iterate>
                                  <p:childTnLst>
                                    <p:set>
                                      <p:cBhvr>
                                        <p:cTn id="201" dur="1" fill="hold">
                                          <p:stCondLst>
                                            <p:cond delay="0"/>
                                          </p:stCondLst>
                                        </p:cTn>
                                        <p:tgtEl>
                                          <p:spTgt spid="20551"/>
                                        </p:tgtEl>
                                        <p:attrNameLst>
                                          <p:attrName>style.visibility</p:attrName>
                                        </p:attrNameLst>
                                      </p:cBhvr>
                                      <p:to>
                                        <p:strVal val="visible"/>
                                      </p:to>
                                    </p:set>
                                    <p:anim calcmode="discrete" valueType="clr">
                                      <p:cBhvr override="childStyle">
                                        <p:cTn id="202" dur="500"/>
                                        <p:tgtEl>
                                          <p:spTgt spid="20551"/>
                                        </p:tgtEl>
                                        <p:attrNameLst>
                                          <p:attrName>style.color</p:attrName>
                                        </p:attrNameLst>
                                      </p:cBhvr>
                                      <p:tavLst>
                                        <p:tav tm="0">
                                          <p:val>
                                            <p:clrVal>
                                              <a:schemeClr val="accent2"/>
                                            </p:clrVal>
                                          </p:val>
                                        </p:tav>
                                        <p:tav tm="50000">
                                          <p:val>
                                            <p:clrVal>
                                              <a:schemeClr val="hlink"/>
                                            </p:clrVal>
                                          </p:val>
                                        </p:tav>
                                      </p:tavLst>
                                    </p:anim>
                                    <p:anim calcmode="discrete" valueType="clr">
                                      <p:cBhvr>
                                        <p:cTn id="203" dur="500"/>
                                        <p:tgtEl>
                                          <p:spTgt spid="20551"/>
                                        </p:tgtEl>
                                        <p:attrNameLst>
                                          <p:attrName>fillcolor</p:attrName>
                                        </p:attrNameLst>
                                      </p:cBhvr>
                                      <p:tavLst>
                                        <p:tav tm="0">
                                          <p:val>
                                            <p:clrVal>
                                              <a:schemeClr val="accent2"/>
                                            </p:clrVal>
                                          </p:val>
                                        </p:tav>
                                        <p:tav tm="50000">
                                          <p:val>
                                            <p:clrVal>
                                              <a:schemeClr val="hlink"/>
                                            </p:clrVal>
                                          </p:val>
                                        </p:tav>
                                      </p:tavLst>
                                    </p:anim>
                                    <p:set>
                                      <p:cBhvr>
                                        <p:cTn id="204" dur="500"/>
                                        <p:tgtEl>
                                          <p:spTgt spid="20551"/>
                                        </p:tgtEl>
                                        <p:attrNameLst>
                                          <p:attrName>fill.type</p:attrName>
                                        </p:attrNameLst>
                                      </p:cBhvr>
                                      <p:to>
                                        <p:strVal val="solid"/>
                                      </p:to>
                                    </p:set>
                                  </p:childTnLst>
                                </p:cTn>
                              </p:par>
                            </p:childTnLst>
                          </p:cTn>
                        </p:par>
                      </p:childTnLst>
                    </p:cTn>
                  </p:par>
                  <p:par>
                    <p:cTn id="205" fill="hold">
                      <p:stCondLst>
                        <p:cond delay="indefinite"/>
                      </p:stCondLst>
                      <p:childTnLst>
                        <p:par>
                          <p:cTn id="206" fill="hold">
                            <p:stCondLst>
                              <p:cond delay="0"/>
                            </p:stCondLst>
                            <p:childTnLst>
                              <p:par>
                                <p:cTn id="207" presetID="27" presetClass="entr" presetSubtype="0" fill="hold" grpId="0" nodeType="clickEffect">
                                  <p:stCondLst>
                                    <p:cond delay="0"/>
                                  </p:stCondLst>
                                  <p:iterate type="lt">
                                    <p:tmPct val="50000"/>
                                  </p:iterate>
                                  <p:childTnLst>
                                    <p:set>
                                      <p:cBhvr>
                                        <p:cTn id="208" dur="1" fill="hold">
                                          <p:stCondLst>
                                            <p:cond delay="0"/>
                                          </p:stCondLst>
                                        </p:cTn>
                                        <p:tgtEl>
                                          <p:spTgt spid="20552"/>
                                        </p:tgtEl>
                                        <p:attrNameLst>
                                          <p:attrName>style.visibility</p:attrName>
                                        </p:attrNameLst>
                                      </p:cBhvr>
                                      <p:to>
                                        <p:strVal val="visible"/>
                                      </p:to>
                                    </p:set>
                                    <p:anim calcmode="discrete" valueType="clr">
                                      <p:cBhvr override="childStyle">
                                        <p:cTn id="209" dur="500"/>
                                        <p:tgtEl>
                                          <p:spTgt spid="20552"/>
                                        </p:tgtEl>
                                        <p:attrNameLst>
                                          <p:attrName>style.color</p:attrName>
                                        </p:attrNameLst>
                                      </p:cBhvr>
                                      <p:tavLst>
                                        <p:tav tm="0">
                                          <p:val>
                                            <p:clrVal>
                                              <a:schemeClr val="accent2"/>
                                            </p:clrVal>
                                          </p:val>
                                        </p:tav>
                                        <p:tav tm="50000">
                                          <p:val>
                                            <p:clrVal>
                                              <a:schemeClr val="hlink"/>
                                            </p:clrVal>
                                          </p:val>
                                        </p:tav>
                                      </p:tavLst>
                                    </p:anim>
                                    <p:anim calcmode="discrete" valueType="clr">
                                      <p:cBhvr>
                                        <p:cTn id="210" dur="500"/>
                                        <p:tgtEl>
                                          <p:spTgt spid="20552"/>
                                        </p:tgtEl>
                                        <p:attrNameLst>
                                          <p:attrName>fillcolor</p:attrName>
                                        </p:attrNameLst>
                                      </p:cBhvr>
                                      <p:tavLst>
                                        <p:tav tm="0">
                                          <p:val>
                                            <p:clrVal>
                                              <a:schemeClr val="accent2"/>
                                            </p:clrVal>
                                          </p:val>
                                        </p:tav>
                                        <p:tav tm="50000">
                                          <p:val>
                                            <p:clrVal>
                                              <a:schemeClr val="hlink"/>
                                            </p:clrVal>
                                          </p:val>
                                        </p:tav>
                                      </p:tavLst>
                                    </p:anim>
                                    <p:set>
                                      <p:cBhvr>
                                        <p:cTn id="211" dur="500"/>
                                        <p:tgtEl>
                                          <p:spTgt spid="20552"/>
                                        </p:tgtEl>
                                        <p:attrNameLst>
                                          <p:attrName>fill.type</p:attrName>
                                        </p:attrNameLst>
                                      </p:cBhvr>
                                      <p:to>
                                        <p:strVal val="solid"/>
                                      </p:to>
                                    </p:set>
                                  </p:childTnLst>
                                </p:cTn>
                              </p:par>
                            </p:childTnLst>
                          </p:cTn>
                        </p:par>
                      </p:childTnLst>
                    </p:cTn>
                  </p:par>
                  <p:par>
                    <p:cTn id="212" fill="hold">
                      <p:stCondLst>
                        <p:cond delay="indefinite"/>
                      </p:stCondLst>
                      <p:childTnLst>
                        <p:par>
                          <p:cTn id="213" fill="hold">
                            <p:stCondLst>
                              <p:cond delay="0"/>
                            </p:stCondLst>
                            <p:childTnLst>
                              <p:par>
                                <p:cTn id="214" presetID="27" presetClass="entr" presetSubtype="0" fill="hold" grpId="0" nodeType="clickEffect">
                                  <p:stCondLst>
                                    <p:cond delay="0"/>
                                  </p:stCondLst>
                                  <p:iterate type="lt">
                                    <p:tmPct val="50000"/>
                                  </p:iterate>
                                  <p:childTnLst>
                                    <p:set>
                                      <p:cBhvr>
                                        <p:cTn id="215" dur="1" fill="hold">
                                          <p:stCondLst>
                                            <p:cond delay="0"/>
                                          </p:stCondLst>
                                        </p:cTn>
                                        <p:tgtEl>
                                          <p:spTgt spid="20554"/>
                                        </p:tgtEl>
                                        <p:attrNameLst>
                                          <p:attrName>style.visibility</p:attrName>
                                        </p:attrNameLst>
                                      </p:cBhvr>
                                      <p:to>
                                        <p:strVal val="visible"/>
                                      </p:to>
                                    </p:set>
                                    <p:anim calcmode="discrete" valueType="clr">
                                      <p:cBhvr override="childStyle">
                                        <p:cTn id="216" dur="80"/>
                                        <p:tgtEl>
                                          <p:spTgt spid="20554"/>
                                        </p:tgtEl>
                                        <p:attrNameLst>
                                          <p:attrName>style.color</p:attrName>
                                        </p:attrNameLst>
                                      </p:cBhvr>
                                      <p:tavLst>
                                        <p:tav tm="0">
                                          <p:val>
                                            <p:clrVal>
                                              <a:schemeClr val="accent2"/>
                                            </p:clrVal>
                                          </p:val>
                                        </p:tav>
                                        <p:tav tm="50000">
                                          <p:val>
                                            <p:clrVal>
                                              <a:schemeClr val="hlink"/>
                                            </p:clrVal>
                                          </p:val>
                                        </p:tav>
                                      </p:tavLst>
                                    </p:anim>
                                    <p:anim calcmode="discrete" valueType="clr">
                                      <p:cBhvr>
                                        <p:cTn id="217" dur="80"/>
                                        <p:tgtEl>
                                          <p:spTgt spid="20554"/>
                                        </p:tgtEl>
                                        <p:attrNameLst>
                                          <p:attrName>fillcolor</p:attrName>
                                        </p:attrNameLst>
                                      </p:cBhvr>
                                      <p:tavLst>
                                        <p:tav tm="0">
                                          <p:val>
                                            <p:clrVal>
                                              <a:schemeClr val="accent2"/>
                                            </p:clrVal>
                                          </p:val>
                                        </p:tav>
                                        <p:tav tm="50000">
                                          <p:val>
                                            <p:clrVal>
                                              <a:schemeClr val="hlink"/>
                                            </p:clrVal>
                                          </p:val>
                                        </p:tav>
                                      </p:tavLst>
                                    </p:anim>
                                    <p:set>
                                      <p:cBhvr>
                                        <p:cTn id="218" dur="80"/>
                                        <p:tgtEl>
                                          <p:spTgt spid="2055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6" grpId="0" animBg="1"/>
      <p:bldP spid="20498" grpId="0" animBg="1"/>
      <p:bldP spid="20505" grpId="0"/>
      <p:bldP spid="20506" grpId="0"/>
      <p:bldP spid="20507" grpId="0"/>
      <p:bldP spid="20508" grpId="0" animBg="1"/>
      <p:bldP spid="20509" grpId="0"/>
      <p:bldP spid="20510" grpId="0" animBg="1"/>
      <p:bldP spid="20511" grpId="0" animBg="1"/>
      <p:bldP spid="20520" grpId="0" animBg="1"/>
      <p:bldP spid="20521" grpId="0" animBg="1"/>
      <p:bldP spid="20522" grpId="0" animBg="1"/>
      <p:bldP spid="20524" grpId="0" animBg="1"/>
      <p:bldP spid="20531" grpId="0"/>
      <p:bldP spid="20532" grpId="0"/>
      <p:bldP spid="20533" grpId="0"/>
      <p:bldP spid="20534" grpId="0" animBg="1"/>
      <p:bldP spid="20535" grpId="0"/>
      <p:bldP spid="20544" grpId="0" animBg="1"/>
      <p:bldP spid="20545" grpId="0" animBg="1"/>
      <p:bldP spid="20546" grpId="0" animBg="1"/>
      <p:bldP spid="20547" grpId="0" animBg="1"/>
      <p:bldP spid="20548" grpId="0" animBg="1"/>
      <p:bldP spid="20549" grpId="0" animBg="1"/>
      <p:bldP spid="20550" grpId="0" animBg="1"/>
      <p:bldP spid="20551" grpId="0" animBg="1"/>
      <p:bldP spid="20552" grpId="0" animBg="1"/>
      <p:bldP spid="20553" grpId="0"/>
      <p:bldP spid="2055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ChangeArrowheads="1"/>
          </p:cNvSpPr>
          <p:nvPr>
            <p:ph type="body" idx="1"/>
          </p:nvPr>
        </p:nvSpPr>
        <p:spPr bwMode="auto">
          <a:xfrm>
            <a:off x="611188" y="404813"/>
            <a:ext cx="8281987" cy="604837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rmAutofit/>
          </a:bodyPr>
          <a:lstStyle/>
          <a:p>
            <a:pPr eaLnBrk="1" hangingPunct="1">
              <a:lnSpc>
                <a:spcPct val="80000"/>
              </a:lnSpc>
            </a:pPr>
            <a:r>
              <a:rPr lang="zh-CN" altLang="en-US" sz="2400" b="1" dirty="0"/>
              <a:t>二、 </a:t>
            </a:r>
            <a:r>
              <a:rPr lang="en-US" altLang="zh-CN" sz="2400" b="1" dirty="0"/>
              <a:t>PN</a:t>
            </a:r>
            <a:r>
              <a:rPr lang="zh-CN" altLang="en-US" sz="2400" b="1" dirty="0"/>
              <a:t>结，定管型</a:t>
            </a:r>
            <a:br>
              <a:rPr lang="zh-CN" altLang="en-US" sz="2400" b="1" dirty="0"/>
            </a:br>
            <a:r>
              <a:rPr lang="zh-CN" altLang="en-US" sz="2400" b="1" dirty="0"/>
              <a:t>找出三极管的基极后，我们就可以根据基极与另外两个电极之间</a:t>
            </a:r>
            <a:r>
              <a:rPr lang="en-US" altLang="zh-CN" sz="2400" b="1" dirty="0"/>
              <a:t>PN</a:t>
            </a:r>
            <a:r>
              <a:rPr lang="zh-CN" altLang="en-US" sz="2400" b="1" dirty="0"/>
              <a:t>结的方向来确定管子的导电类型。将万用表的黑表笔接触基极，红表笔接触另外两个电极中的任一电极，若表头指针偏转角度很大，则说明被测三极管为</a:t>
            </a:r>
            <a:r>
              <a:rPr lang="en-US" altLang="zh-CN" sz="2400" b="1" dirty="0"/>
              <a:t>NPN</a:t>
            </a:r>
            <a:r>
              <a:rPr lang="zh-CN" altLang="en-US" sz="2400" b="1" dirty="0"/>
              <a:t>型管；若表头指针偏转角度很小，则被测管即为</a:t>
            </a:r>
            <a:r>
              <a:rPr lang="en-US" altLang="zh-CN" sz="2400" b="1" dirty="0"/>
              <a:t>PNP</a:t>
            </a:r>
            <a:r>
              <a:rPr lang="zh-CN" altLang="en-US" sz="2400" b="1" dirty="0"/>
              <a:t>型。</a:t>
            </a:r>
          </a:p>
          <a:p>
            <a:pPr eaLnBrk="1" hangingPunct="1">
              <a:lnSpc>
                <a:spcPct val="80000"/>
              </a:lnSpc>
            </a:pPr>
            <a:r>
              <a:rPr lang="zh-CN" altLang="en-US" sz="2400" b="1" dirty="0"/>
              <a:t>三、 顺箭头，偏转大</a:t>
            </a:r>
            <a:br>
              <a:rPr lang="zh-CN" altLang="en-US" sz="2400" b="1" dirty="0"/>
            </a:br>
            <a:r>
              <a:rPr lang="zh-CN" altLang="en-US" sz="2400" b="1" dirty="0"/>
              <a:t>找出了基极</a:t>
            </a:r>
            <a:r>
              <a:rPr lang="en-US" altLang="zh-CN" sz="2400" b="1" dirty="0"/>
              <a:t>b</a:t>
            </a:r>
            <a:r>
              <a:rPr lang="zh-CN" altLang="en-US" sz="2400" b="1" dirty="0"/>
              <a:t>，另外两个电极哪个是集电极</a:t>
            </a:r>
            <a:r>
              <a:rPr lang="en-US" altLang="zh-CN" sz="2400" b="1" dirty="0"/>
              <a:t>c</a:t>
            </a:r>
            <a:r>
              <a:rPr lang="zh-CN" altLang="en-US" sz="2400" b="1" dirty="0"/>
              <a:t>，哪个是发射极</a:t>
            </a:r>
            <a:r>
              <a:rPr lang="en-US" altLang="zh-CN" sz="2400" b="1" dirty="0"/>
              <a:t>e</a:t>
            </a:r>
            <a:r>
              <a:rPr lang="zh-CN" altLang="en-US" sz="2400" b="1" dirty="0"/>
              <a:t>呢</a:t>
            </a:r>
            <a:r>
              <a:rPr lang="en-US" altLang="zh-CN" sz="2400" b="1" dirty="0"/>
              <a:t>?</a:t>
            </a:r>
            <a:r>
              <a:rPr lang="zh-CN" altLang="en-US" sz="2400" b="1" dirty="0"/>
              <a:t>这时我们可以用测穿透电流</a:t>
            </a:r>
            <a:r>
              <a:rPr lang="en-US" altLang="zh-CN" sz="2400" b="1" dirty="0" err="1"/>
              <a:t>Iceo</a:t>
            </a:r>
            <a:r>
              <a:rPr lang="zh-CN" altLang="en-US" sz="2400" b="1" dirty="0"/>
              <a:t>的方法确定集电极</a:t>
            </a:r>
            <a:r>
              <a:rPr lang="en-US" altLang="zh-CN" sz="2400" b="1" dirty="0"/>
              <a:t>c</a:t>
            </a:r>
            <a:r>
              <a:rPr lang="zh-CN" altLang="en-US" sz="2400" b="1" dirty="0"/>
              <a:t>和发射极</a:t>
            </a:r>
            <a:r>
              <a:rPr lang="en-US" altLang="zh-CN" sz="2400" b="1" dirty="0"/>
              <a:t>e</a:t>
            </a:r>
            <a:r>
              <a:rPr lang="zh-CN" altLang="en-US" sz="2400" b="1" dirty="0"/>
              <a:t>。 </a:t>
            </a:r>
            <a:r>
              <a:rPr lang="en-US" altLang="zh-CN" sz="2400" b="1" dirty="0"/>
              <a:t>(1) </a:t>
            </a:r>
            <a:br>
              <a:rPr lang="en-US" altLang="zh-CN" sz="2400" b="1" dirty="0"/>
            </a:br>
            <a:r>
              <a:rPr lang="zh-CN" altLang="en-US" sz="2400" b="1" dirty="0"/>
              <a:t>对于</a:t>
            </a:r>
            <a:r>
              <a:rPr lang="en-US" altLang="zh-CN" sz="2400" b="1" dirty="0"/>
              <a:t>NPN</a:t>
            </a:r>
            <a:r>
              <a:rPr lang="zh-CN" altLang="en-US" sz="2400" b="1" dirty="0"/>
              <a:t>型三极管，穿透电流的测量电路如图</a:t>
            </a:r>
            <a:r>
              <a:rPr lang="en-US" altLang="zh-CN" sz="2400" b="1" dirty="0"/>
              <a:t>3</a:t>
            </a:r>
            <a:r>
              <a:rPr lang="zh-CN" altLang="en-US" sz="2400" b="1" dirty="0"/>
              <a:t>所示。根据这个原理，用万用电表的黑、红表笔颠倒测量两极间的正、反向电阻</a:t>
            </a:r>
            <a:r>
              <a:rPr lang="en-US" altLang="zh-CN" sz="2400" b="1" dirty="0" err="1"/>
              <a:t>Rce</a:t>
            </a:r>
            <a:r>
              <a:rPr lang="zh-CN" altLang="en-US" sz="2400" b="1" dirty="0"/>
              <a:t>和</a:t>
            </a:r>
            <a:r>
              <a:rPr lang="en-US" altLang="zh-CN" sz="2400" b="1" dirty="0"/>
              <a:t>Rec</a:t>
            </a:r>
            <a:r>
              <a:rPr lang="zh-CN" altLang="en-US" sz="2400" b="1" dirty="0"/>
              <a:t>，虽然两次测量中万用表指针偏转角度都很小，但仔细观察，总会有一次偏转角度稍大，此时电流的流向一定是：黑表笔→</a:t>
            </a:r>
            <a:r>
              <a:rPr lang="en-US" altLang="zh-CN" sz="2400" b="1" dirty="0"/>
              <a:t>c</a:t>
            </a:r>
            <a:r>
              <a:rPr lang="zh-CN" altLang="en-US" sz="2400" b="1" dirty="0"/>
              <a:t>极→</a:t>
            </a:r>
            <a:r>
              <a:rPr lang="en-US" altLang="zh-CN" sz="2400" b="1" dirty="0"/>
              <a:t>b</a:t>
            </a:r>
            <a:r>
              <a:rPr lang="zh-CN" altLang="en-US" sz="2400" b="1" dirty="0"/>
              <a:t>极→</a:t>
            </a:r>
            <a:r>
              <a:rPr lang="en-US" altLang="zh-CN" sz="2400" b="1" dirty="0"/>
              <a:t>e</a:t>
            </a:r>
            <a:r>
              <a:rPr lang="zh-CN" altLang="en-US" sz="2400" b="1" dirty="0"/>
              <a:t>极→红表笔，电流流向正好与三极管符号中的箭头方向一致</a:t>
            </a:r>
            <a:r>
              <a:rPr lang="en-US" altLang="zh-CN" sz="2400" b="1" dirty="0"/>
              <a:t>(“</a:t>
            </a:r>
            <a:r>
              <a:rPr lang="zh-CN" altLang="en-US" sz="2400" b="1" dirty="0"/>
              <a:t>顺箭头”</a:t>
            </a:r>
            <a:r>
              <a:rPr lang="en-US" altLang="zh-CN" sz="2400" b="1" dirty="0"/>
              <a:t>)</a:t>
            </a:r>
            <a:r>
              <a:rPr lang="zh-CN" altLang="en-US" sz="2400" b="1" dirty="0"/>
              <a:t>，所以此时黑表笔所接的一定是集电极</a:t>
            </a:r>
            <a:r>
              <a:rPr lang="en-US" altLang="zh-CN" sz="2400" b="1" dirty="0"/>
              <a:t>c</a:t>
            </a:r>
            <a:r>
              <a:rPr lang="zh-CN" altLang="en-US" sz="2400" b="1" dirty="0"/>
              <a:t>，红表笔所接的一定是发射极</a:t>
            </a:r>
            <a:r>
              <a:rPr lang="en-US" altLang="zh-CN" sz="2400" b="1" dirty="0"/>
              <a:t>e</a:t>
            </a:r>
            <a:r>
              <a:rPr lang="zh-CN" altLang="en-US" sz="2400" b="1" dirty="0"/>
              <a:t>。 </a:t>
            </a:r>
            <a:br>
              <a:rPr lang="zh-CN" altLang="en-US" sz="2400" b="1" dirty="0"/>
            </a:br>
            <a:endParaRPr lang="zh-CN" altLang="en-US" sz="2400" b="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4"/>
          <p:cNvSpPr>
            <a:spLocks noChangeArrowheads="1"/>
          </p:cNvSpPr>
          <p:nvPr/>
        </p:nvSpPr>
        <p:spPr bwMode="auto">
          <a:xfrm>
            <a:off x="3064592" y="423724"/>
            <a:ext cx="2619154" cy="420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762" tIns="48381" rIns="96762" bIns="48381">
            <a:spAutoFit/>
          </a:bodyPr>
          <a:lstStyle/>
          <a:p>
            <a:r>
              <a:rPr lang="zh-CN" altLang="en-US" sz="2100" b="1" dirty="0"/>
              <a:t>常用三极管管脚排列</a:t>
            </a:r>
          </a:p>
        </p:txBody>
      </p:sp>
      <p:pic>
        <p:nvPicPr>
          <p:cNvPr id="53251" name="Picture 11" descr="图2"/>
          <p:cNvPicPr>
            <a:picLocks noGrp="1" noChangeAspect="1" noChangeArrowheads="1"/>
          </p:cNvPicPr>
          <p:nvPr>
            <p:ph/>
          </p:nvPr>
        </p:nvPicPr>
        <p:blipFill>
          <a:blip r:embed="rId2">
            <a:extLst>
              <a:ext uri="{28A0092B-C50C-407E-A947-70E740481C1C}">
                <a14:useLocalDpi xmlns:a14="http://schemas.microsoft.com/office/drawing/2010/main" val="0"/>
              </a:ext>
            </a:extLst>
          </a:blip>
          <a:srcRect/>
          <a:stretch>
            <a:fillRect/>
          </a:stretch>
        </p:blipFill>
        <p:spPr>
          <a:xfrm>
            <a:off x="971600" y="1219723"/>
            <a:ext cx="7704856" cy="4877211"/>
          </a:xfr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A783DF-49A6-7EF1-661E-C574E2C2F386}"/>
              </a:ext>
            </a:extLst>
          </p:cNvPr>
          <p:cNvSpPr>
            <a:spLocks noGrp="1"/>
          </p:cNvSpPr>
          <p:nvPr>
            <p:ph type="title"/>
          </p:nvPr>
        </p:nvSpPr>
        <p:spPr/>
        <p:txBody>
          <a:bodyPr>
            <a:normAutofit/>
          </a:bodyPr>
          <a:lstStyle/>
          <a:p>
            <a:r>
              <a:rPr lang="zh-CN" altLang="en-US" b="1" dirty="0">
                <a:solidFill>
                  <a:srgbClr val="4F4F4F"/>
                </a:solidFill>
                <a:effectLst/>
                <a:latin typeface="PingFang SC"/>
              </a:rPr>
              <a:t>分立元件实验二</a:t>
            </a:r>
            <a:endParaRPr lang="zh-CN" altLang="en-US" dirty="0">
              <a:effectLst>
                <a:outerShdw blurRad="38100" dist="38100" dir="2700000" algn="tl">
                  <a:srgbClr val="000000">
                    <a:alpha val="43137"/>
                  </a:srgbClr>
                </a:outerShdw>
              </a:effectLst>
            </a:endParaRPr>
          </a:p>
        </p:txBody>
      </p:sp>
      <p:sp>
        <p:nvSpPr>
          <p:cNvPr id="3" name="内容占位符 2">
            <a:extLst>
              <a:ext uri="{FF2B5EF4-FFF2-40B4-BE49-F238E27FC236}">
                <a16:creationId xmlns:a16="http://schemas.microsoft.com/office/drawing/2014/main" id="{9E0BA8B8-92DA-1AC9-79B9-A552D184BB54}"/>
              </a:ext>
            </a:extLst>
          </p:cNvPr>
          <p:cNvSpPr>
            <a:spLocks noGrp="1"/>
          </p:cNvSpPr>
          <p:nvPr>
            <p:ph idx="1"/>
          </p:nvPr>
        </p:nvSpPr>
        <p:spPr/>
        <p:txBody>
          <a:bodyPr>
            <a:normAutofit/>
          </a:bodyPr>
          <a:lstStyle/>
          <a:p>
            <a:r>
              <a:rPr lang="zh-CN" altLang="en-US" b="1" i="0" dirty="0">
                <a:solidFill>
                  <a:srgbClr val="0D0016"/>
                </a:solidFill>
                <a:effectLst/>
                <a:latin typeface="-apple-system"/>
              </a:rPr>
              <a:t>简单变调电子门铃</a:t>
            </a:r>
            <a:endParaRPr lang="en-US" altLang="zh-CN" dirty="0"/>
          </a:p>
        </p:txBody>
      </p:sp>
    </p:spTree>
    <p:extLst>
      <p:ext uri="{BB962C8B-B14F-4D97-AF65-F5344CB8AC3E}">
        <p14:creationId xmlns:p14="http://schemas.microsoft.com/office/powerpoint/2010/main" val="972159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9869B5-631B-3548-36CE-E9292FDD78D4}"/>
              </a:ext>
            </a:extLst>
          </p:cNvPr>
          <p:cNvSpPr>
            <a:spLocks noGrp="1"/>
          </p:cNvSpPr>
          <p:nvPr>
            <p:ph type="title"/>
          </p:nvPr>
        </p:nvSpPr>
        <p:spPr/>
        <p:txBody>
          <a:bodyPr/>
          <a:lstStyle/>
          <a:p>
            <a:r>
              <a:rPr lang="zh-CN" altLang="en-US" dirty="0"/>
              <a:t>电路图</a:t>
            </a:r>
            <a:endParaRPr lang="LID4096" dirty="0"/>
          </a:p>
        </p:txBody>
      </p:sp>
      <p:pic>
        <p:nvPicPr>
          <p:cNvPr id="5" name="内容占位符 4">
            <a:extLst>
              <a:ext uri="{FF2B5EF4-FFF2-40B4-BE49-F238E27FC236}">
                <a16:creationId xmlns:a16="http://schemas.microsoft.com/office/drawing/2014/main" id="{3D1E55D0-E667-5012-4B64-CD5306D02B6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783460" y="2275285"/>
            <a:ext cx="5577081" cy="3263503"/>
          </a:xfrm>
        </p:spPr>
      </p:pic>
    </p:spTree>
    <p:extLst>
      <p:ext uri="{BB962C8B-B14F-4D97-AF65-F5344CB8AC3E}">
        <p14:creationId xmlns:p14="http://schemas.microsoft.com/office/powerpoint/2010/main" val="1248256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D227B293-1053-5E46-522B-F4C10EC1AA60}"/>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rot="16200000">
            <a:off x="1928033" y="255616"/>
            <a:ext cx="4760075" cy="6346769"/>
          </a:xfrm>
        </p:spPr>
      </p:pic>
    </p:spTree>
    <p:extLst>
      <p:ext uri="{BB962C8B-B14F-4D97-AF65-F5344CB8AC3E}">
        <p14:creationId xmlns:p14="http://schemas.microsoft.com/office/powerpoint/2010/main" val="955040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C80DBE-3286-054D-F108-F4EBAE6D85F1}"/>
              </a:ext>
            </a:extLst>
          </p:cNvPr>
          <p:cNvSpPr>
            <a:spLocks noGrp="1"/>
          </p:cNvSpPr>
          <p:nvPr>
            <p:ph type="title"/>
          </p:nvPr>
        </p:nvSpPr>
        <p:spPr/>
        <p:txBody>
          <a:bodyPr/>
          <a:lstStyle/>
          <a:p>
            <a:r>
              <a:rPr lang="zh-CN" altLang="en-US" dirty="0"/>
              <a:t>装配图</a:t>
            </a:r>
            <a:endParaRPr lang="LID4096" dirty="0"/>
          </a:p>
        </p:txBody>
      </p:sp>
      <p:pic>
        <p:nvPicPr>
          <p:cNvPr id="5" name="内容占位符 4">
            <a:extLst>
              <a:ext uri="{FF2B5EF4-FFF2-40B4-BE49-F238E27FC236}">
                <a16:creationId xmlns:a16="http://schemas.microsoft.com/office/drawing/2014/main" id="{94A66861-AF00-456B-E12F-23C6469A665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3784" y="857250"/>
            <a:ext cx="7886700" cy="5576907"/>
          </a:xfrm>
        </p:spPr>
      </p:pic>
    </p:spTree>
    <p:extLst>
      <p:ext uri="{BB962C8B-B14F-4D97-AF65-F5344CB8AC3E}">
        <p14:creationId xmlns:p14="http://schemas.microsoft.com/office/powerpoint/2010/main" val="2469324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0FAF81-2CF5-EFEB-45F4-B1A9F1CD16A8}"/>
              </a:ext>
            </a:extLst>
          </p:cNvPr>
          <p:cNvSpPr>
            <a:spLocks noGrp="1"/>
          </p:cNvSpPr>
          <p:nvPr>
            <p:ph type="title"/>
          </p:nvPr>
        </p:nvSpPr>
        <p:spPr/>
        <p:txBody>
          <a:bodyPr/>
          <a:lstStyle/>
          <a:p>
            <a:r>
              <a:rPr lang="zh-CN" altLang="en-US" dirty="0"/>
              <a:t>装配提醒</a:t>
            </a:r>
            <a:endParaRPr lang="LID4096" dirty="0"/>
          </a:p>
        </p:txBody>
      </p:sp>
      <p:sp>
        <p:nvSpPr>
          <p:cNvPr id="3" name="内容占位符 2">
            <a:extLst>
              <a:ext uri="{FF2B5EF4-FFF2-40B4-BE49-F238E27FC236}">
                <a16:creationId xmlns:a16="http://schemas.microsoft.com/office/drawing/2014/main" id="{7F39EF70-C6AB-C011-7F4B-5FF503003094}"/>
              </a:ext>
            </a:extLst>
          </p:cNvPr>
          <p:cNvSpPr>
            <a:spLocks noGrp="1"/>
          </p:cNvSpPr>
          <p:nvPr>
            <p:ph idx="1"/>
          </p:nvPr>
        </p:nvSpPr>
        <p:spPr/>
        <p:txBody>
          <a:bodyPr>
            <a:normAutofit fontScale="85000" lnSpcReduction="20000"/>
          </a:bodyPr>
          <a:lstStyle/>
          <a:p>
            <a:r>
              <a:rPr lang="zh-CN" altLang="en-US" dirty="0"/>
              <a:t>适当增大</a:t>
            </a:r>
            <a:r>
              <a:rPr lang="en-US" altLang="zh-CN" dirty="0"/>
              <a:t>R3</a:t>
            </a:r>
            <a:r>
              <a:rPr lang="zh-CN" altLang="en-US" dirty="0"/>
              <a:t>阻值，或者增加</a:t>
            </a:r>
            <a:r>
              <a:rPr lang="en-US" altLang="zh-CN" dirty="0"/>
              <a:t>C2</a:t>
            </a:r>
            <a:r>
              <a:rPr lang="zh-CN" altLang="en-US" dirty="0"/>
              <a:t>的电容值，可以降低振荡频率，反之振荡频率将升高。电阻</a:t>
            </a:r>
            <a:r>
              <a:rPr lang="en-US" altLang="zh-CN" dirty="0"/>
              <a:t>R1</a:t>
            </a:r>
            <a:r>
              <a:rPr lang="zh-CN" altLang="en-US" dirty="0"/>
              <a:t>的阻值需适当，如阻值过大，当按下按钮</a:t>
            </a:r>
            <a:r>
              <a:rPr lang="en-US" altLang="zh-CN" dirty="0"/>
              <a:t>S1</a:t>
            </a:r>
            <a:r>
              <a:rPr lang="zh-CN" altLang="en-US" dirty="0"/>
              <a:t>后，电容</a:t>
            </a:r>
            <a:r>
              <a:rPr lang="en-US" altLang="zh-CN" dirty="0"/>
              <a:t>C1</a:t>
            </a:r>
            <a:r>
              <a:rPr lang="zh-CN" altLang="en-US" dirty="0"/>
              <a:t>充电时间过长，将导致电路不能马上起振。</a:t>
            </a:r>
            <a:r>
              <a:rPr lang="en-US" altLang="zh-CN" dirty="0"/>
              <a:t>S1</a:t>
            </a:r>
            <a:r>
              <a:rPr lang="zh-CN" altLang="en-US" dirty="0"/>
              <a:t>可用</a:t>
            </a:r>
            <a:r>
              <a:rPr lang="en-US" altLang="zh-CN" dirty="0"/>
              <a:t>4</a:t>
            </a:r>
            <a:r>
              <a:rPr lang="zh-CN" altLang="en-US" dirty="0"/>
              <a:t>位拨码开关中的一位代用，先将开关置于“</a:t>
            </a:r>
            <a:r>
              <a:rPr lang="en-US" altLang="zh-CN" dirty="0"/>
              <a:t>ON”</a:t>
            </a:r>
            <a:r>
              <a:rPr lang="zh-CN" altLang="en-US" dirty="0"/>
              <a:t>位置，稍后再断开，以模拟按钮开关的动作过程。电源使用</a:t>
            </a:r>
            <a:r>
              <a:rPr lang="en-US" altLang="zh-CN" dirty="0"/>
              <a:t>2</a:t>
            </a:r>
            <a:r>
              <a:rPr lang="zh-CN" altLang="en-US" dirty="0"/>
              <a:t>节</a:t>
            </a:r>
            <a:r>
              <a:rPr lang="en-US" altLang="zh-CN" dirty="0"/>
              <a:t>5</a:t>
            </a:r>
            <a:r>
              <a:rPr lang="zh-CN" altLang="en-US" dirty="0"/>
              <a:t>号电池。使用</a:t>
            </a:r>
            <a:r>
              <a:rPr lang="en-US" altLang="zh-CN" dirty="0"/>
              <a:t>4</a:t>
            </a:r>
            <a:r>
              <a:rPr lang="zh-CN" altLang="en-US" dirty="0"/>
              <a:t>节</a:t>
            </a:r>
            <a:r>
              <a:rPr lang="en-US" altLang="zh-CN" dirty="0"/>
              <a:t>5</a:t>
            </a:r>
            <a:r>
              <a:rPr lang="zh-CN" altLang="en-US" dirty="0"/>
              <a:t>号电池盒时，可通过另加引线的方式引出</a:t>
            </a:r>
            <a:r>
              <a:rPr lang="en-US" altLang="zh-CN" dirty="0"/>
              <a:t>3V</a:t>
            </a:r>
            <a:r>
              <a:rPr lang="zh-CN" altLang="en-US" dirty="0"/>
              <a:t>电源的负极，接至面包板上，引出时要注意电池盒内电池的排列顺序，有的电池盒是按照</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r>
              <a:rPr lang="zh-CN" altLang="en-US" dirty="0"/>
              <a:t>顺序排列电池，有的则不一定，有可能是</a:t>
            </a:r>
            <a:r>
              <a:rPr lang="en-US" altLang="zh-CN" dirty="0"/>
              <a:t>1</a:t>
            </a:r>
            <a:r>
              <a:rPr lang="zh-CN" altLang="en-US" dirty="0"/>
              <a:t>、</a:t>
            </a:r>
            <a:r>
              <a:rPr lang="en-US" altLang="zh-CN" dirty="0"/>
              <a:t>3</a:t>
            </a:r>
            <a:r>
              <a:rPr lang="zh-CN" altLang="en-US" dirty="0"/>
              <a:t>、</a:t>
            </a:r>
            <a:r>
              <a:rPr lang="en-US" altLang="zh-CN" dirty="0"/>
              <a:t>4</a:t>
            </a:r>
            <a:r>
              <a:rPr lang="zh-CN" altLang="en-US" dirty="0"/>
              <a:t>、</a:t>
            </a:r>
            <a:r>
              <a:rPr lang="en-US" altLang="zh-CN" dirty="0"/>
              <a:t>2</a:t>
            </a:r>
            <a:r>
              <a:rPr lang="zh-CN" altLang="en-US" dirty="0"/>
              <a:t>的顺序，此时引出</a:t>
            </a:r>
            <a:r>
              <a:rPr lang="en-US" altLang="zh-CN" dirty="0"/>
              <a:t>3V</a:t>
            </a:r>
            <a:r>
              <a:rPr lang="zh-CN" altLang="en-US" dirty="0"/>
              <a:t>的话，则</a:t>
            </a:r>
            <a:r>
              <a:rPr lang="en-US" altLang="zh-CN" dirty="0"/>
              <a:t>2</a:t>
            </a:r>
            <a:r>
              <a:rPr lang="zh-CN" altLang="en-US" dirty="0"/>
              <a:t>节</a:t>
            </a:r>
            <a:r>
              <a:rPr lang="en-US" altLang="zh-CN" dirty="0"/>
              <a:t>5</a:t>
            </a:r>
            <a:r>
              <a:rPr lang="zh-CN" altLang="en-US" dirty="0"/>
              <a:t>号电池需分别安装在电池盒的两侧。</a:t>
            </a:r>
            <a:endParaRPr lang="LID4096" dirty="0"/>
          </a:p>
        </p:txBody>
      </p:sp>
    </p:spTree>
    <p:extLst>
      <p:ext uri="{BB962C8B-B14F-4D97-AF65-F5344CB8AC3E}">
        <p14:creationId xmlns:p14="http://schemas.microsoft.com/office/powerpoint/2010/main" val="2187731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4122</Words>
  <Application>Microsoft Office PowerPoint</Application>
  <PresentationFormat>全屏显示(4:3)</PresentationFormat>
  <Paragraphs>430</Paragraphs>
  <Slides>39</Slides>
  <Notes>5</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4</vt:i4>
      </vt:variant>
      <vt:variant>
        <vt:lpstr>幻灯片标题</vt:lpstr>
      </vt:variant>
      <vt:variant>
        <vt:i4>39</vt:i4>
      </vt:variant>
    </vt:vector>
  </HeadingPairs>
  <TitlesOfParts>
    <vt:vector size="57" baseType="lpstr">
      <vt:lpstr>-apple-system</vt:lpstr>
      <vt:lpstr>PingFang SC</vt:lpstr>
      <vt:lpstr>方正琥珀繁体</vt:lpstr>
      <vt:lpstr>黑体</vt:lpstr>
      <vt:lpstr>华文宋体</vt:lpstr>
      <vt:lpstr>华文行楷</vt:lpstr>
      <vt:lpstr>楷体_GB2312</vt:lpstr>
      <vt:lpstr>隶书</vt:lpstr>
      <vt:lpstr>宋体</vt:lpstr>
      <vt:lpstr>Arial</vt:lpstr>
      <vt:lpstr>Calibri</vt:lpstr>
      <vt:lpstr>Times New Roman</vt:lpstr>
      <vt:lpstr>Verdana</vt:lpstr>
      <vt:lpstr>Office 主题</vt:lpstr>
      <vt:lpstr>图像文档</vt:lpstr>
      <vt:lpstr>公式</vt:lpstr>
      <vt:lpstr>Equation.3</vt:lpstr>
      <vt:lpstr>Clip</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3.极间电流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分立元件实验二</vt:lpstr>
      <vt:lpstr>电路图</vt:lpstr>
      <vt:lpstr>PowerPoint 演示文稿</vt:lpstr>
      <vt:lpstr>装配图</vt:lpstr>
      <vt:lpstr>装配提醒</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国栋 李</cp:lastModifiedBy>
  <cp:revision>75</cp:revision>
  <dcterms:created xsi:type="dcterms:W3CDTF">2017-12-13T02:47:00Z</dcterms:created>
  <dcterms:modified xsi:type="dcterms:W3CDTF">2025-03-14T01:06:08Z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2052-10.1.0.7698</vt:lpwstr>
  </property>
</Properties>
</file>
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303" r:id="rId19"/>
    <p:sldId id="304" r:id="rId20"/>
    <p:sldId id="305" r:id="rId21"/>
    <p:sldId id="306" r:id="rId22"/>
    <p:sldId id="307" r:id="rId23"/>
    <p:sldId id="289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144" y="150"/>
      </p:cViewPr>
      <p:guideLst>
        <p:guide orient="horz" pos="2160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1055688" y="3860800"/>
            <a:ext cx="10318750" cy="936625"/>
          </a:xfrm>
        </p:spPr>
        <p:txBody>
          <a:bodyPr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865" b="0" i="0" u="none" strike="noStrike" kern="1200" cap="none" spc="0" normalizeH="0" baseline="0" noProof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第二章</a:t>
            </a:r>
            <a:r>
              <a:rPr kumimoji="0" lang="en-US" altLang="zh-CN" sz="5865" b="0" i="0" u="none" strike="noStrike" kern="1200" cap="none" spc="0" normalizeH="0" baseline="0" noProof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 </a:t>
            </a:r>
            <a:r>
              <a:rPr kumimoji="0" lang="zh-CN" altLang="en-US" sz="5865" b="0" i="0" u="none" strike="noStrike" kern="1200" cap="none" spc="0" normalizeH="0" baseline="0" noProof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图像任务标注项目</a:t>
            </a:r>
            <a:endParaRPr kumimoji="0" lang="en-US" altLang="zh-CN" sz="5865" b="0" i="0" u="none" strike="noStrike" kern="1200" cap="none" spc="0" normalizeH="0" baseline="0" noProof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847850" y="5013325"/>
            <a:ext cx="8534400" cy="858838"/>
          </a:xfrm>
        </p:spPr>
        <p:txBody>
          <a:bodyPr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4265" b="0" i="0" u="none" strike="noStrike" kern="1200" cap="none" spc="0" normalizeH="0" baseline="0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任务一</a:t>
            </a:r>
            <a:r>
              <a:rPr kumimoji="0" lang="en-US" altLang="zh-CN" sz="4265" b="0" i="0" u="none" strike="noStrike" kern="1200" cap="none" spc="0" normalizeH="0" baseline="0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zh-CN" altLang="en-US" sz="4265" b="0" i="0" u="none" strike="noStrike" kern="1200" cap="none" spc="0" normalizeH="0" baseline="0" noProof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图像标签分类标注</a:t>
            </a:r>
            <a:endParaRPr kumimoji="0" lang="zh-CN" altLang="zh-CN" sz="4265" b="0" i="0" u="none" strike="noStrike" kern="1200" cap="none" spc="0" normalizeH="0" baseline="0" noProof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内容概括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63675" y="1600200"/>
            <a:ext cx="9591675" cy="4525963"/>
          </a:xfrm>
        </p:spPr>
        <p:txBody>
          <a:bodyPr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概念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典型应用场景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实践标注操作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小结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4439816" y="2564764"/>
            <a:ext cx="6912530" cy="2565400"/>
          </a:xfrm>
        </p:spPr>
        <p:txBody>
          <a:bodyPr anchor="t" anchorCtr="0"/>
          <a:lstStyle/>
          <a:p>
            <a:pPr marL="0" indent="0" algn="ctr">
              <a:buNone/>
            </a:pPr>
            <a:r>
              <a:rPr sz="3600">
                <a:latin typeface="黑体" panose="02010609060101010101" charset="-122"/>
                <a:ea typeface="黑体" panose="02010609060101010101" charset="-122"/>
              </a:rPr>
              <a:t>“人之情，目欲视色”</a:t>
            </a:r>
            <a:endParaRPr sz="360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r">
              <a:buNone/>
            </a:pPr>
            <a:r>
              <a:rPr sz="3600">
                <a:latin typeface="黑体" panose="02010609060101010101" charset="-122"/>
                <a:ea typeface="黑体" panose="02010609060101010101" charset="-122"/>
              </a:rPr>
              <a:t>--庄子</a:t>
            </a:r>
            <a:endParaRPr sz="36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9560" y="1916430"/>
            <a:ext cx="2529205" cy="336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</a:rPr>
              <a:t>1.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概念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983432" y="1556792"/>
            <a:ext cx="9937104" cy="4525963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图像分类是根据图像的语义信息将不同类别图像区分开来，是计算机视觉中重要的基本问题，也是图像检测、图像分割、物体跟踪、行为分析等其他高层视觉任务的基础。其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核心思想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便是从给定的分类集合中给图像分配一个标签的任务。实际上，图像分类的任务是分析一个输入图像并返回一个将图像分类的标签。标签来自预定义的可能类别集。</a:t>
            </a:r>
            <a:endParaRPr lang="en-US" altLang="zh-CN" sz="28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623392" y="1988840"/>
            <a:ext cx="5754687" cy="3312517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图像分类在很多领域有广泛应用，包括安防领域的人脸识别和智能视频分析等，交通领域的交通场景识别，互联网领域基于内容的图像检索和相册自动归类，医学领域的图像识别等。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60425" y="561975"/>
            <a:ext cx="10721975" cy="587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</a:rPr>
              <a:t>2.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典型应用场景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2132856"/>
            <a:ext cx="4380409" cy="269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</a:rPr>
              <a:t>2.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典型应用场景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551384" y="1484630"/>
            <a:ext cx="11031016" cy="5040714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中医药数据领域广泛应用深度学习等新技术开展研究。中药作为中医药的重要组成部分，其有着数千年的悠久历史，底蕴十分丰富。中国劳动人民几千年来在与疾病作斗争的过程中，通过实践，不断认识，逐渐积累了丰富的医药知识。由于太古时期文字未兴，这些知识只能依靠师承口授。后来有了文字，便逐渐记录下来，出现了医药书籍，这些书籍起到了总结前人经验并便于流传和推广的作用。由于药物中草类占大多数，所以记载药物的书籍便称为“本草”。据考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素汉之际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本草流行已较多，但可惜这些本草都已亡佚，无可考察。现知的最早本草著作称为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《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神农本草经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》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，著者不详，根据其中记载的地名，可能是东汉医家修订前人著作而成。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60425" y="561975"/>
            <a:ext cx="10721975" cy="587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</a:rPr>
              <a:t>2.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典型应用场景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79376" y="1183832"/>
            <a:ext cx="7704856" cy="5517232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人工智能技术的发展为中医诊断手段带来新的契机，随着中医传统诊断方法现代化研究的深入，脉诊仪、舌诊仪、色诊仪、闻诊仪、经络仪等已成为新兴的现代中医诊断技术。人工智能具有独立自主的诊疗能力，通过大数据学习可达到与中医专家高度匹配的诊疗结果，以现代中医诊断技术及其数据为支撑，基于案例推理模型，利用人体信息采集设备，应用人工智能技术模拟中医诊断过程，为医生提供诊疗所需的知识、经验、方法等启发医生思维，辅助医生诊断，实现中医诊断技术的信息化、数字化、标准化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2708920"/>
            <a:ext cx="3582542" cy="256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>
                <a:latin typeface="黑体" panose="02010609060101010101" charset="-122"/>
                <a:ea typeface="黑体" panose="02010609060101010101" charset="-122"/>
              </a:rPr>
              <a:t>准备数据</a:t>
            </a:r>
            <a:endParaRPr lang="zh-CN" altLang="en-US" sz="3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77936" y="2447897"/>
            <a:ext cx="4392488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此处准备了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30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张动物图像用于标注，分别是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张鸡的图像，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张兔子的图像，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张老鼠的图像。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98762" y="2447897"/>
            <a:ext cx="5020864" cy="3781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创建项目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77936" y="2447897"/>
            <a:ext cx="4392488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打开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label-studio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，在页面选择“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Create Project”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创建项目，命名为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AnimalClassify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，并添加相应描述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5920" y="2552734"/>
            <a:ext cx="6667544" cy="2794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导入数据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77936" y="2447897"/>
            <a:ext cx="4392488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选择“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Data Import”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，通过左上角的“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Upload Files”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选择准备好的数据，进行导入。右图分别为导入数据前后的“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Data Import”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界面。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04588" y="1498317"/>
            <a:ext cx="4874152" cy="207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4005064"/>
            <a:ext cx="4882740" cy="206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Labeling Setup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55419" y="2276872"/>
            <a:ext cx="5714143" cy="4320480"/>
          </a:xfrm>
        </p:spPr>
        <p:txBody>
          <a:bodyPr anchor="t" anchorCtr="0"/>
          <a:lstStyle/>
          <a:p>
            <a:pPr marL="0" indent="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导入数据后，选择界面上方的“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Labeling Setup”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，之后出现如图所示界面，左边列表为任务选择列表，包括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Computer Vision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Natural Language Processing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Audio/speech Processing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等，根据不同任务选择选项，本次的图片分类任务选择第一项“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Computer Vision”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。之后界面右侧会出现八个不同的任务选项，由于本节要进行的是图片分类任务，所以选择第六个任务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</a:rPr>
              <a:t>-“Image Classification”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。</a:t>
            </a:r>
            <a:endParaRPr lang="en-US" altLang="zh-CN" sz="2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6737" y="3284984"/>
            <a:ext cx="5497928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Labeling Setup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77936" y="2636912"/>
            <a:ext cx="4808533" cy="3960440"/>
          </a:xfrm>
        </p:spPr>
        <p:txBody>
          <a:bodyPr anchor="t" anchorCtr="0"/>
          <a:lstStyle/>
          <a:p>
            <a:pPr marL="0" indent="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选择项目模板类型后，跳转至如图所示界面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2996952"/>
            <a:ext cx="5615370" cy="2376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Labeling Setup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83413" y="2204864"/>
            <a:ext cx="4808533" cy="4392488"/>
          </a:xfrm>
        </p:spPr>
        <p:txBody>
          <a:bodyPr anchor="t" anchorCtr="0"/>
          <a:lstStyle/>
          <a:p>
            <a:pPr marL="0" indent="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在上述界面的左边添加图片中动物的分类，因为图片分别有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张鸡，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张兔子以及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张老鼠，故设置了三个英文标签，分别为：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chicken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rabbit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rat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。添加完标签后，便可点击界面右上角的“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Save”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按钮，跳转至如图所示界面，该界面中展示了所有载入的图像。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36301" y="2780928"/>
            <a:ext cx="6048672" cy="2673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开始标注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60156" y="2060719"/>
            <a:ext cx="4930032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任意点击任务主界面的一张图像，便可进入该图像的标注界面。例如点击，如图所示的母鸡图片，在此界面可以根据该图像所属的标签类型，选择对应的标签，比如该图像内容是一只鸡，则选择对应的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chicken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标签，选完之后，点击右上角的“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Submit”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提交。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0016" y="2924944"/>
            <a:ext cx="5681746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开始标注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77936" y="2204864"/>
            <a:ext cx="4930032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通过图任务主界面点击中上方位置的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Label All Tasks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按钮，则会进入到如图所示界面。于该界面中同样可对图片进行标注操作，打完标签后，点击右上角的“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Submit”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按钮即可跳转到下一张图像继续标注。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57936" y="2636912"/>
            <a:ext cx="6049835" cy="270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开始标注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77936" y="2924944"/>
            <a:ext cx="10546656" cy="312804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如果当前图片不属于三个标签中的任一类或者该图像不能确认类别，则可点击界面右上角的“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Skip”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按钮，跳过该图像的标注过程。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对于已经标记了的图像，可在标注界面通过左上角的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&lt;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&gt;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进行图像的切换选择待修改图像，更新该图像的标签后，点击右上角的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Updata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即可。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开始标注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877936" y="2204864"/>
            <a:ext cx="4930032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所有图像标注完成之后，便会跳转到如图所示界面，代表所有图像均已处理完成。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67468" y="2924944"/>
            <a:ext cx="5615938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开始标注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77936" y="2204864"/>
            <a:ext cx="4930032" cy="384812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点击界面左上角的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AnimalClassify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便可查看图片的标注情况，如图所示，其中第一列数据代表图像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id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，第二列代表标注时间，第三列代表标注与否，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为标注完成，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为未标注，第四列代表是否跳过标注，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代表跳过，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代表未跳过。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07968" y="2636912"/>
            <a:ext cx="6321179" cy="280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导出结果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77936" y="2204864"/>
            <a:ext cx="4930032" cy="439248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若要导出最终的标注结果，则可图中“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Export”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按钮，便会出现如图所示界面，根据处理任务的不同会显示不同文件生成结果，由于本节任务是图像分类，所以，可以生成如图所示的四类文件，若要导出哪种文件到本地，选中其后，点击右下角“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Export”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即可。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07968" y="2996952"/>
            <a:ext cx="6051822" cy="26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结果展示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77936" y="2204864"/>
            <a:ext cx="4930032" cy="439248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将所需文件导出到本地后，可以进行查看，比如导出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JSON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格式文件，如图所示，由于篇幅过大，所以只展示了部分数据。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600056" y="188640"/>
          <a:ext cx="4248472" cy="6383655"/>
        </p:xfrm>
        <a:graphic>
          <a:graphicData uri="http://schemas.openxmlformats.org/drawingml/2006/table">
            <a:tbl>
              <a:tblPr firstRow="1" firstCol="1" bandRow="1"/>
              <a:tblGrid>
                <a:gridCol w="4248472"/>
              </a:tblGrid>
              <a:tr h="4752528">
                <a:tc>
                  <a:txBody>
                    <a:bodyPr/>
                    <a:lstStyle/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[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{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"id"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90,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"annotations"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[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{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"id"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91,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"completed_by"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1,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"result"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[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{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"value"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{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"choices"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[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"rat"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] },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"id"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"IkO1NcTGG_"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"from_name"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"choice"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"to_name"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"image"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"type"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"choices"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"origin"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"manual"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  }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],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"was_cancelled"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false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"ground_truth"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false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"created_at"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"2022-05-19T11:08:02.299987Z"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"updated_at"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"2022-05-19T11:08:02.299987Z"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"lead_time"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4.131,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"prediction"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{},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"result_count"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0,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"task"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90,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"parent_prediction"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null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"parent_annotation"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null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  }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],</a:t>
                      </a:r>
                      <a:endParaRPr lang="zh-CN" sz="7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l" latinLnBrk="1">
                        <a:lnSpc>
                          <a:spcPct val="150000"/>
                        </a:lnSpc>
                      </a:pPr>
                      <a:r>
                        <a:rPr lang="zh-CN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………………</a:t>
                      </a:r>
                      <a:endParaRPr lang="zh-CN" sz="7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"file_upload"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"ab51fbca-chickens007.jpg"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"drafts"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[],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"predictions"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[],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"data"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{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"image"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"\/data\/upload\/9\/ab51fbca-chickens007.jpg"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},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"meta"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{},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"created_at"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"2022-05-19T10:56:03.092880Z"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"updated_at"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</a:t>
                      </a:r>
                      <a:r>
                        <a:rPr lang="en-US" sz="7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"2022-05-19T11:00:58.184831Z"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,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  </a:t>
                      </a:r>
                      <a:r>
                        <a:rPr lang="en-US" sz="700">
                          <a:solidFill>
                            <a:srgbClr val="2E75B6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"project"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: 9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just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  }</a:t>
                      </a:r>
                      <a:endParaRPr lang="zh-CN" sz="70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408305" algn="l" latinLnBrk="1">
                        <a:lnSpc>
                          <a:spcPct val="150000"/>
                        </a:lnSpc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新宋体" panose="02010609030101010101" pitchFamily="49" charset="-122"/>
                          <a:cs typeface="新宋体" panose="02010609030101010101" pitchFamily="49" charset="-122"/>
                        </a:rPr>
                        <a:t>]</a:t>
                      </a:r>
                      <a:endParaRPr lang="zh-CN" sz="7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886" marR="138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en-US" altLang="zh-CN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3.</a:t>
            </a:r>
            <a:r>
              <a:rPr lang="zh-CN" altLang="en-US" sz="4000"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实践标注操作</a:t>
            </a:r>
            <a:endParaRPr lang="en-US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99"/>
          <p:cNvSpPr txBox="1"/>
          <p:nvPr/>
        </p:nvSpPr>
        <p:spPr>
          <a:xfrm>
            <a:off x="877936" y="1498317"/>
            <a:ext cx="50800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结果展示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77936" y="2204864"/>
            <a:ext cx="4930032" cy="4392488"/>
          </a:xfrm>
        </p:spPr>
        <p:txBody>
          <a:bodyPr anchor="t" anchorCtr="0"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或者所需文件为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CSV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文件，则将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CSV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文件导出，如图所示。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89720" y="1868852"/>
            <a:ext cx="5605324" cy="439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860425" y="561975"/>
            <a:ext cx="10721975" cy="587375"/>
          </a:xfrm>
        </p:spPr>
        <p:txBody>
          <a:bodyPr anchor="ctr" anchorCtr="0"/>
          <a:lstStyle/>
          <a:p>
            <a:pPr algn="l"/>
            <a:r>
              <a:rPr lang="zh-CN" altLang="zh-CN" sz="4000">
                <a:latin typeface="黑体" panose="02010609060101010101" charset="-122"/>
                <a:ea typeface="黑体" panose="02010609060101010101" charset="-122"/>
              </a:rPr>
              <a:t>小结</a:t>
            </a:r>
            <a:endParaRPr lang="zh-CN" altLang="zh-CN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5575" y="1484630"/>
            <a:ext cx="9591675" cy="4525963"/>
          </a:xfrm>
        </p:spPr>
        <p:txBody>
          <a:bodyPr anchor="t" anchorCtr="0"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知识目标：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）明确分类任务标注方法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）熟悉分类任务结果导出格式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思政目标：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）了解中国传统哲学文化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2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）了解中医药发展的历程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1250,&quot;width&quot;:7950}"/>
</p:tagLst>
</file>

<file path=ppt/tags/tag2.xml><?xml version="1.0" encoding="utf-8"?>
<p:tagLst xmlns:p="http://schemas.openxmlformats.org/presentationml/2006/main">
  <p:tag name="COMMONDATA" val="eyJoZGlkIjoiNDRmNjRlOWZkYmY2NTFkZmFlNDg5YmY2OTYxNTg2ZW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3342</Words>
  <Application>WPS 演示</Application>
  <PresentationFormat>宽屏</PresentationFormat>
  <Paragraphs>168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Consolas</vt:lpstr>
      <vt:lpstr>新宋体</vt:lpstr>
      <vt:lpstr>Cambria</vt:lpstr>
      <vt:lpstr>Times New Roman</vt:lpstr>
      <vt:lpstr>默认设计模板</vt:lpstr>
      <vt:lpstr>第二章 图像任务标注项目</vt:lpstr>
      <vt:lpstr>内容概括</vt:lpstr>
      <vt:lpstr>PowerPoint 演示文稿</vt:lpstr>
      <vt:lpstr>1.概念</vt:lpstr>
      <vt:lpstr>PowerPoint 演示文稿</vt:lpstr>
      <vt:lpstr>2.典型应用场景</vt:lpstr>
      <vt:lpstr>PowerPoint 演示文稿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3.实践标注操作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图像任务标注项目</dc:title>
  <dc:creator>Administrator</dc:creator>
  <cp:lastModifiedBy>MR</cp:lastModifiedBy>
  <cp:revision>98</cp:revision>
  <dcterms:created xsi:type="dcterms:W3CDTF">2022-07-22T02:58:00Z</dcterms:created>
  <dcterms:modified xsi:type="dcterms:W3CDTF">2026-05-09T10:18:38Z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957492F625F64B2CBA96DEA70768014C</vt:lpwstr>
  </property>
</Properties>
</file>
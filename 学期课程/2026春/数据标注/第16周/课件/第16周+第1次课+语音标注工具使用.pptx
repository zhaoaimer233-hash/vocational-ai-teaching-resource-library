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4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今天这节课的主题是语音标注工具使用，重点不是单纯认识Praat，而是能够用它完成一份规范的语音标注结果。大家会接触TextGrid、多层标注、精确分割和语音转写规范。请先确认电脑、耳机和软件都能正常使用，后面的学习会以实操为主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节课一共一百八十分钟，我们按五个阶段推进。前十分钟完成组织和导入，接着用较长时间讲清Praat高级功能，再进入两轮实操。最后通过综合练习和小组互查，把工具操作和质量意识落实到一份可提交的标注结果里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是本次课的学习目标。知识目标要求大家说清楚Praat的高级功能、分割策略和标注规范。能力目标要求大家真正做出精确分割、角色标注、内容转写和结果导出。职业素养目标则提醒我们，语音数据往往涉及隐私，操作时要认真、规范、安全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Praat标注可以看成一条完整流程：先导入音频，再创建TextGrid，然后设置层级、完成分割、填写标签，最后保存导出。大家不要把菜单命令当成孤立知识点，而要把它们串成这条主线。后面每个操作都可以放回这六步里理解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TextGrid的核心是多层结构。interval tier适合标注一段有起点和终点的内容，比如一句话、一段发言或者持续事件。point tier适合记录某个瞬时发生的位置，比如说话人切换点或突发声音。只有把内容、角色和事件分层存放，后面的检查才不会混乱。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做第一次教师演示。请大家跟着屏幕同步操作：打开Praat，导入音频，查看波形和播放情况，然后新建TextGrid。这里最容易出错的是层级命名和未及时保存，所以我会在建层位置放慢速度，大家要确认自己的内容层、角色层和事件层都建好了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精确分割不能只凭感觉。我们要先放大目标片段，再通过反复听辨和观察波形来定位声音边界。插入边界后还要补充标签，并在导出前复查一次。好的标注不是切得越碎越好，而是边界准确、标签一致、结果可以复核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现在进入第一轮实操。每位同学需要导入练习音频，创建多层TextGrid结构，完成基础分割，并尝试interval tier和point tier两类标注。教师会重点巡视层级命名、分割边界和导出结果。请先保证做出一份能被检查的文件，再追求速度。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转写标注要遵循一个原则：听到什么，就按规范写什么。逐字转写时不要擅自润色句子，非语言事件要使用统一标签，文件命名也要能追溯任务来源。标准化表达不是形式主义，它决定语音数据后续能不能训练、能不能复核、能不能交付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多说话人语音最容易出错的地方，是角色切换和非语言事件。大家先听辨说话人，再标出切换点，随后填写角色标签和逐句转写内容。遇到笑声、停顿、背景噪声等事件，要用统一标签补充。最后一定要复听核对，因为很多错误第一次听不出来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二轮实操要求更完整。大家要在同一段语音里完成转写、角色和质量三个层面的工作。转写要忠实，角色要统一，事件要补充，最后还要导出最终结果。这个任务的目标，是让大家从会点工具，过渡到能交付一份标准标注结果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提交前请按四项清单自检。第一看边界，第二看文本，第三看标签，第四看数据安全。特别提醒大家，语音素材不要外传，文件不要随意改名或乱放目录。质量控制不是最后随便看一眼，而是按标准逐项确认。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综合练习采用小组互查闭环。先各自完成标注，再交换检查，然后根据反馈修正，最后提交成果。互查时不要只看有没有完成，还要看边界、角色、转写、事件标签和文件格式。这样做的目的，是让标注规范从个人习惯变成团队共同标准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做一个小结。今天我们学习了Praat操作主线、TextGrid多层结构、转写与角色标注规范，以及质量自检和数据安全要求。课后作业是独立完成一段不少于两分钟的对话语音完整标注，包括转写、角色标注和非语言事件，并按标准格式导出提交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4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0" y="-523875"/>
            <a:ext cx="12192000" cy="7381875"/>
            <a:chOff x="0" y="-523875"/>
            <a:chExt cx="12192000" cy="7381875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8FB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8A999">
                    <a:alpha val="18000"/>
                  </a:srgbClr>
                </a:gs>
                <a:gs pos="100000">
                  <a:srgbClr val="18A999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9239250" y="-523875"/>
              <a:ext cx="2857500" cy="2857500"/>
            </a:xfrm>
            <a:prstGeom prst="ellipse">
              <a:avLst/>
            </a:prstGeom>
            <a:solidFill>
              <a:srgbClr val="1D5B8F">
                <a:alpha val="6000"/>
              </a:srgb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9077325" y="1028700"/>
              <a:ext cx="1181100" cy="1181100"/>
            </a:xfrm>
            <a:prstGeom prst="ellipse">
              <a:avLst/>
            </a:prstGeom>
            <a:solidFill>
              <a:srgbClr val="F2B84B">
                <a:alpha val="16000"/>
              </a:srgbClr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666750" y="4429125"/>
              <a:ext cx="10858500" cy="1047750"/>
            </a:xfrm>
            <a:custGeom>
              <a:avLst/>
              <a:gdLst/>
              <a:ahLst/>
              <a:cxnLst/>
              <a:rect l="l" t="t" r="r" b="b"/>
              <a:pathLst>
                <a:path w="10858500" h="1047750">
                  <a:moveTo>
                    <a:pt x="0" y="523875"/>
                  </a:moveTo>
                  <a:cubicBezTo>
                    <a:pt x="714375" y="0"/>
                    <a:pt x="1381125" y="1047750"/>
                    <a:pt x="2095500" y="523875"/>
                  </a:cubicBezTo>
                  <a:cubicBezTo>
                    <a:pt x="2809875" y="0"/>
                    <a:pt x="3476625" y="0"/>
                    <a:pt x="4191000" y="523875"/>
                  </a:cubicBezTo>
                  <a:cubicBezTo>
                    <a:pt x="4905375" y="1047750"/>
                    <a:pt x="5572125" y="1047750"/>
                    <a:pt x="6286500" y="523875"/>
                  </a:cubicBezTo>
                  <a:cubicBezTo>
                    <a:pt x="7000875" y="0"/>
                    <a:pt x="7667625" y="0"/>
                    <a:pt x="8382000" y="523875"/>
                  </a:cubicBezTo>
                  <a:cubicBezTo>
                    <a:pt x="9096375" y="1047750"/>
                    <a:pt x="9763125" y="1047750"/>
                    <a:pt x="10858500" y="428625"/>
                  </a:cubicBezTo>
                </a:path>
              </a:pathLst>
            </a:custGeom>
            <a:noFill/>
            <a:ln w="47625" cap="rnd">
              <a:solidFill>
                <a:srgbClr val="CFE1EA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666750" y="4810125"/>
              <a:ext cx="10858500" cy="1047750"/>
            </a:xfrm>
            <a:custGeom>
              <a:avLst/>
              <a:gdLst/>
              <a:ahLst/>
              <a:cxnLst/>
              <a:rect l="l" t="t" r="r" b="b"/>
              <a:pathLst>
                <a:path w="10858500" h="1047750">
                  <a:moveTo>
                    <a:pt x="0" y="523875"/>
                  </a:moveTo>
                  <a:cubicBezTo>
                    <a:pt x="714375" y="0"/>
                    <a:pt x="1381125" y="1047750"/>
                    <a:pt x="2095500" y="523875"/>
                  </a:cubicBezTo>
                  <a:cubicBezTo>
                    <a:pt x="2809875" y="0"/>
                    <a:pt x="3476625" y="0"/>
                    <a:pt x="4191000" y="523875"/>
                  </a:cubicBezTo>
                  <a:cubicBezTo>
                    <a:pt x="4905375" y="1047750"/>
                    <a:pt x="5572125" y="1047750"/>
                    <a:pt x="6286500" y="523875"/>
                  </a:cubicBezTo>
                  <a:cubicBezTo>
                    <a:pt x="7000875" y="0"/>
                    <a:pt x="7667625" y="0"/>
                    <a:pt x="8382000" y="523875"/>
                  </a:cubicBezTo>
                  <a:cubicBezTo>
                    <a:pt x="9096375" y="1047750"/>
                    <a:pt x="9763125" y="1047750"/>
                    <a:pt x="10858500" y="428625"/>
                  </a:cubicBezTo>
                </a:path>
              </a:pathLst>
            </a:custGeom>
            <a:noFill/>
            <a:ln w="28575" cap="rnd">
              <a:solidFill>
                <a:srgbClr val="18A999">
                  <a:alpha val="32000"/>
                </a:srgbClr>
              </a:solidFill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685800" y="819150"/>
            <a:ext cx="6768989" cy="2571750"/>
            <a:chOff x="685800" y="819150"/>
            <a:chExt cx="6768989" cy="2571750"/>
          </a:xfrm>
        </p:grpSpPr>
        <p:sp>
          <p:nvSpPr>
            <p:cNvPr id="9" name="Rectangle 9"/>
            <p:cNvSpPr/>
            <p:nvPr/>
          </p:nvSpPr>
          <p:spPr>
            <a:xfrm>
              <a:off x="685800" y="819150"/>
              <a:ext cx="876300" cy="876300"/>
            </a:xfrm>
            <a:prstGeom prst="roundRect">
              <a:avLst>
                <a:gd name="adj" fmla="val 28261"/>
              </a:avLst>
            </a:prstGeom>
            <a:gradFill>
              <a:gsLst>
                <a:gs pos="0">
                  <a:srgbClr val="1D5B8F"/>
                </a:gs>
                <a:gs pos="100000">
                  <a:srgbClr val="18A999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971543" y="1047750"/>
              <a:ext cx="304816" cy="400050"/>
            </a:xfrm>
            <a:custGeom>
              <a:avLst/>
              <a:gdLst/>
              <a:ahLst/>
              <a:cxnLst/>
              <a:rect l="l" t="t" r="r" b="b"/>
              <a:pathLst>
                <a:path w="304816" h="400050">
                  <a:moveTo>
                    <a:pt x="285757" y="152400"/>
                  </a:moveTo>
                  <a:cubicBezTo>
                    <a:pt x="296278" y="152400"/>
                    <a:pt x="304807" y="160929"/>
                    <a:pt x="304807" y="171450"/>
                  </a:cubicBezTo>
                  <a:cubicBezTo>
                    <a:pt x="304816" y="248251"/>
                    <a:pt x="247674" y="313059"/>
                    <a:pt x="171476" y="322669"/>
                  </a:cubicBezTo>
                  <a:lnTo>
                    <a:pt x="171457" y="361950"/>
                  </a:lnTo>
                  <a:lnTo>
                    <a:pt x="228607" y="361950"/>
                  </a:lnTo>
                  <a:cubicBezTo>
                    <a:pt x="239128" y="361950"/>
                    <a:pt x="247657" y="370479"/>
                    <a:pt x="247657" y="381000"/>
                  </a:cubicBezTo>
                  <a:cubicBezTo>
                    <a:pt x="247657" y="391521"/>
                    <a:pt x="239128" y="400050"/>
                    <a:pt x="228607" y="400050"/>
                  </a:cubicBezTo>
                  <a:lnTo>
                    <a:pt x="76207" y="400050"/>
                  </a:lnTo>
                  <a:cubicBezTo>
                    <a:pt x="65686" y="400050"/>
                    <a:pt x="57157" y="391521"/>
                    <a:pt x="57157" y="381000"/>
                  </a:cubicBezTo>
                  <a:cubicBezTo>
                    <a:pt x="57157" y="370479"/>
                    <a:pt x="65686" y="361950"/>
                    <a:pt x="76207" y="361950"/>
                  </a:cubicBezTo>
                  <a:lnTo>
                    <a:pt x="133357" y="361950"/>
                  </a:lnTo>
                  <a:lnTo>
                    <a:pt x="133357" y="322669"/>
                  </a:lnTo>
                  <a:cubicBezTo>
                    <a:pt x="57152" y="313068"/>
                    <a:pt x="0" y="248258"/>
                    <a:pt x="7" y="171450"/>
                  </a:cubicBezTo>
                  <a:cubicBezTo>
                    <a:pt x="7" y="160929"/>
                    <a:pt x="8536" y="152400"/>
                    <a:pt x="19057" y="152400"/>
                  </a:cubicBezTo>
                  <a:cubicBezTo>
                    <a:pt x="29578" y="152400"/>
                    <a:pt x="38107" y="160929"/>
                    <a:pt x="38107" y="171450"/>
                  </a:cubicBezTo>
                  <a:cubicBezTo>
                    <a:pt x="38107" y="234576"/>
                    <a:pt x="89281" y="285750"/>
                    <a:pt x="152407" y="285750"/>
                  </a:cubicBezTo>
                  <a:cubicBezTo>
                    <a:pt x="215533" y="285750"/>
                    <a:pt x="266707" y="234576"/>
                    <a:pt x="266707" y="171450"/>
                  </a:cubicBezTo>
                  <a:cubicBezTo>
                    <a:pt x="266707" y="160929"/>
                    <a:pt x="275236" y="152400"/>
                    <a:pt x="285757" y="152400"/>
                  </a:cubicBezTo>
                  <a:moveTo>
                    <a:pt x="152407" y="0"/>
                  </a:moveTo>
                  <a:cubicBezTo>
                    <a:pt x="194491" y="0"/>
                    <a:pt x="228607" y="34116"/>
                    <a:pt x="228607" y="76200"/>
                  </a:cubicBezTo>
                  <a:lnTo>
                    <a:pt x="228607" y="171450"/>
                  </a:lnTo>
                  <a:cubicBezTo>
                    <a:pt x="228607" y="213534"/>
                    <a:pt x="194491" y="247650"/>
                    <a:pt x="152407" y="247650"/>
                  </a:cubicBezTo>
                  <a:cubicBezTo>
                    <a:pt x="110323" y="247650"/>
                    <a:pt x="76207" y="213534"/>
                    <a:pt x="76207" y="171450"/>
                  </a:cubicBezTo>
                  <a:lnTo>
                    <a:pt x="76207" y="76200"/>
                  </a:lnTo>
                  <a:cubicBezTo>
                    <a:pt x="76207" y="34116"/>
                    <a:pt x="110323" y="0"/>
                    <a:pt x="152407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39140" y="1748790"/>
              <a:ext cx="5498592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语音标注工具使用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13435" y="2513648"/>
              <a:ext cx="6641354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数据标注专业核心课 · Praat / TextGrid / 语音转写规范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38200" y="3028950"/>
              <a:ext cx="1371600" cy="361950"/>
            </a:xfrm>
            <a:prstGeom prst="roundRect">
              <a:avLst>
                <a:gd name="adj" fmla="val 50000"/>
              </a:avLst>
            </a:prstGeom>
            <a:solidFill>
              <a:srgbClr val="EAF3F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172718" y="314706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D5B8F"/>
                  </a:solidFill>
                  <a:latin typeface="Arial"/>
                  <a:ea typeface="Microsoft YaHei"/>
                  <a:cs typeface="Arial"/>
                </a:rPr>
                <a:t>中技学生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2362200" y="3028950"/>
              <a:ext cx="1504950" cy="361950"/>
            </a:xfrm>
            <a:prstGeom prst="roundRect">
              <a:avLst>
                <a:gd name="adj" fmla="val 50000"/>
              </a:avLst>
            </a:prstGeom>
            <a:solidFill>
              <a:srgbClr val="EAF3F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792797" y="3147060"/>
              <a:ext cx="64375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D5B8F"/>
                  </a:solidFill>
                  <a:latin typeface="Arial"/>
                  <a:ea typeface="Microsoft YaHei"/>
                  <a:cs typeface="Arial"/>
                </a:rPr>
                <a:t>180分钟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4019550" y="3028950"/>
              <a:ext cx="1752600" cy="361950"/>
            </a:xfrm>
            <a:prstGeom prst="roundRect">
              <a:avLst>
                <a:gd name="adj" fmla="val 50000"/>
              </a:avLst>
            </a:prstGeom>
            <a:solidFill>
              <a:srgbClr val="EAF3F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376547" y="3147060"/>
              <a:ext cx="10386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D5B8F"/>
                  </a:solidFill>
                  <a:latin typeface="Arial"/>
                  <a:ea typeface="Microsoft YaHei"/>
                  <a:cs typeface="Arial"/>
                </a:rPr>
                <a:t>任务驱动实操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62000" y="4095750"/>
            <a:ext cx="4953000" cy="1381125"/>
            <a:chOff x="762000" y="4095750"/>
            <a:chExt cx="4953000" cy="1381125"/>
          </a:xfrm>
        </p:grpSpPr>
        <p:sp>
          <p:nvSpPr>
            <p:cNvPr id="20" name="Rectangle 20"/>
            <p:cNvSpPr/>
            <p:nvPr/>
          </p:nvSpPr>
          <p:spPr>
            <a:xfrm>
              <a:off x="762000" y="4095750"/>
              <a:ext cx="4953000" cy="1381125"/>
            </a:xfrm>
            <a:prstGeom prst="roundRect">
              <a:avLst>
                <a:gd name="adj" fmla="val 12414"/>
              </a:avLst>
            </a:prstGeom>
            <a:solidFill>
              <a:srgbClr val="FFFFFF"/>
            </a:solidFill>
            <a:ln w="19050">
              <a:solidFill>
                <a:srgbClr val="CFE1EA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1097764" y="4479925"/>
              <a:ext cx="334955" cy="241300"/>
            </a:xfrm>
            <a:custGeom>
              <a:avLst/>
              <a:gdLst/>
              <a:ahLst/>
              <a:cxnLst/>
              <a:rect l="l" t="t" r="r" b="b"/>
              <a:pathLst>
                <a:path w="334955" h="241300">
                  <a:moveTo>
                    <a:pt x="274630" y="142231"/>
                  </a:moveTo>
                  <a:lnTo>
                    <a:pt x="274630" y="180975"/>
                  </a:lnTo>
                  <a:cubicBezTo>
                    <a:pt x="274630" y="217140"/>
                    <a:pt x="226294" y="241300"/>
                    <a:pt x="169061" y="241300"/>
                  </a:cubicBezTo>
                  <a:cubicBezTo>
                    <a:pt x="111827" y="241300"/>
                    <a:pt x="63492" y="217140"/>
                    <a:pt x="63492" y="180975"/>
                  </a:cubicBezTo>
                  <a:lnTo>
                    <a:pt x="63492" y="142231"/>
                  </a:lnTo>
                  <a:lnTo>
                    <a:pt x="152260" y="177733"/>
                  </a:lnTo>
                  <a:cubicBezTo>
                    <a:pt x="161933" y="181605"/>
                    <a:pt x="172645" y="182021"/>
                    <a:pt x="182589" y="178909"/>
                  </a:cubicBezTo>
                  <a:lnTo>
                    <a:pt x="185861" y="177733"/>
                  </a:lnTo>
                  <a:close/>
                  <a:moveTo>
                    <a:pt x="304792" y="97666"/>
                  </a:moveTo>
                  <a:lnTo>
                    <a:pt x="174656" y="149727"/>
                  </a:lnTo>
                  <a:cubicBezTo>
                    <a:pt x="171064" y="151162"/>
                    <a:pt x="167058" y="151162"/>
                    <a:pt x="163466" y="149727"/>
                  </a:cubicBezTo>
                  <a:lnTo>
                    <a:pt x="12653" y="89402"/>
                  </a:lnTo>
                  <a:cubicBezTo>
                    <a:pt x="0" y="84349"/>
                    <a:pt x="0" y="66463"/>
                    <a:pt x="12653" y="61411"/>
                  </a:cubicBezTo>
                  <a:lnTo>
                    <a:pt x="163466" y="1086"/>
                  </a:lnTo>
                  <a:cubicBezTo>
                    <a:pt x="164651" y="609"/>
                    <a:pt x="165893" y="285"/>
                    <a:pt x="167161" y="121"/>
                  </a:cubicBezTo>
                  <a:lnTo>
                    <a:pt x="169061" y="0"/>
                  </a:lnTo>
                  <a:lnTo>
                    <a:pt x="170961" y="121"/>
                  </a:lnTo>
                  <a:cubicBezTo>
                    <a:pt x="172229" y="285"/>
                    <a:pt x="173470" y="609"/>
                    <a:pt x="174656" y="1086"/>
                  </a:cubicBezTo>
                  <a:lnTo>
                    <a:pt x="325951" y="61607"/>
                  </a:lnTo>
                  <a:lnTo>
                    <a:pt x="327580" y="62436"/>
                  </a:lnTo>
                  <a:lnTo>
                    <a:pt x="329073" y="63462"/>
                  </a:lnTo>
                  <a:lnTo>
                    <a:pt x="330400" y="64608"/>
                  </a:lnTo>
                  <a:lnTo>
                    <a:pt x="331531" y="65845"/>
                  </a:lnTo>
                  <a:lnTo>
                    <a:pt x="332059" y="66508"/>
                  </a:lnTo>
                  <a:lnTo>
                    <a:pt x="333160" y="68243"/>
                  </a:lnTo>
                  <a:lnTo>
                    <a:pt x="333944" y="69977"/>
                  </a:lnTo>
                  <a:lnTo>
                    <a:pt x="334457" y="71515"/>
                  </a:lnTo>
                  <a:lnTo>
                    <a:pt x="334834" y="73551"/>
                  </a:lnTo>
                  <a:lnTo>
                    <a:pt x="334924" y="74426"/>
                  </a:lnTo>
                  <a:lnTo>
                    <a:pt x="334955" y="165894"/>
                  </a:lnTo>
                  <a:cubicBezTo>
                    <a:pt x="334955" y="174223"/>
                    <a:pt x="328202" y="180975"/>
                    <a:pt x="319873" y="180975"/>
                  </a:cubicBezTo>
                  <a:cubicBezTo>
                    <a:pt x="311544" y="180975"/>
                    <a:pt x="304792" y="174223"/>
                    <a:pt x="304792" y="165894"/>
                  </a:cubicBezTo>
                  <a:close/>
                </a:path>
              </a:pathLst>
            </a:custGeom>
            <a:solidFill>
              <a:srgbClr val="18A999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600200" y="4476750"/>
              <a:ext cx="294696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2024级人工智能技术应用班-G5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602105" y="4826318"/>
              <a:ext cx="260861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地点：H301 · 日期：2026.6.26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602105" y="5112068"/>
              <a:ext cx="399478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方法：讲授法、演示法、任务驱动法、实操训练法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239000" y="3829050"/>
            <a:ext cx="3048000" cy="2133600"/>
            <a:chOff x="7239000" y="3829050"/>
            <a:chExt cx="3048000" cy="2133600"/>
          </a:xfrm>
        </p:grpSpPr>
        <p:sp>
          <p:nvSpPr>
            <p:cNvPr id="26" name="Rectangle 26"/>
            <p:cNvSpPr/>
            <p:nvPr/>
          </p:nvSpPr>
          <p:spPr>
            <a:xfrm>
              <a:off x="7239000" y="3829050"/>
              <a:ext cx="1238250" cy="742950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 w="19050">
              <a:solidFill>
                <a:srgbClr val="CFE1EA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550289" y="4114800"/>
              <a:ext cx="6156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D5B8F"/>
                  </a:solidFill>
                  <a:latin typeface="Arial"/>
                  <a:ea typeface="Microsoft YaHei"/>
                  <a:cs typeface="Arial"/>
                </a:rPr>
                <a:t>Praat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8763000" y="4305300"/>
              <a:ext cx="1524000" cy="742950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 w="19050">
              <a:solidFill>
                <a:srgbClr val="CFE1EA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070146" y="4591050"/>
              <a:ext cx="90970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8A999"/>
                  </a:solidFill>
                  <a:latin typeface="Arial"/>
                  <a:ea typeface="Microsoft YaHei"/>
                  <a:cs typeface="Arial"/>
                </a:rPr>
                <a:t>TextGrid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7905750" y="5219700"/>
              <a:ext cx="2000250" cy="742950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 w="19050">
              <a:solidFill>
                <a:srgbClr val="CFE1EA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466772" y="5505450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DC8A00"/>
                  </a:solidFill>
                  <a:latin typeface="Arial"/>
                  <a:ea typeface="Microsoft YaHei"/>
                  <a:cs typeface="Arial"/>
                </a:rPr>
                <a:t>转写规范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750570" y="6398895"/>
            <a:ext cx="10690860" cy="182880"/>
            <a:chOff x="750570" y="6398895"/>
            <a:chExt cx="10690860" cy="182880"/>
          </a:xfrm>
        </p:grpSpPr>
        <p:sp>
          <p:nvSpPr>
            <p:cNvPr id="33" name="TextBox 33"/>
            <p:cNvSpPr txBox="1"/>
            <p:nvPr/>
          </p:nvSpPr>
          <p:spPr>
            <a:xfrm>
              <a:off x="750570" y="6398895"/>
              <a:ext cx="181708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8796"/>
                  </a:solidFill>
                  <a:latin typeface="Arial"/>
                  <a:ea typeface="Microsoft YaHei"/>
                  <a:cs typeface="Arial"/>
                </a:rPr>
                <a:t>SZXC/JWC-005 · 专业核心课教案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016520" y="63988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8796"/>
                  </a:solidFill>
                  <a:latin typeface="Arial"/>
                  <a:ea typeface="Microsoft YaHei"/>
                  <a:cs typeface="Arial"/>
                </a:rPr>
                <a:t>01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5" grpId="0"/>
      <p:bldP spid="3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8FB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400050" y="361950"/>
              <a:ext cx="11391900" cy="6019800"/>
            </a:xfrm>
            <a:prstGeom prst="roundRect">
              <a:avLst>
                <a:gd name="adj" fmla="val 3797"/>
              </a:avLst>
            </a:prstGeom>
            <a:solidFill>
              <a:srgbClr val="FFFFFF"/>
            </a:solidFill>
            <a:ln w="19050">
              <a:solidFill>
                <a:srgbClr val="CFE1EA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762000" y="628650"/>
            <a:ext cx="10371582" cy="750094"/>
            <a:chOff x="762000" y="628650"/>
            <a:chExt cx="10371582" cy="750094"/>
          </a:xfrm>
        </p:grpSpPr>
        <p:sp>
          <p:nvSpPr>
            <p:cNvPr id="5" name="Rectangle 5"/>
            <p:cNvSpPr/>
            <p:nvPr/>
          </p:nvSpPr>
          <p:spPr>
            <a:xfrm>
              <a:off x="762000" y="647700"/>
              <a:ext cx="57150" cy="723900"/>
            </a:xfrm>
            <a:prstGeom prst="roundRect">
              <a:avLst>
                <a:gd name="adj" fmla="val 50000"/>
              </a:avLst>
            </a:prstGeom>
            <a:solidFill>
              <a:srgbClr val="1D5B8F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56310" y="661035"/>
              <a:ext cx="2960641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180分钟学习路线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74408" y="1119664"/>
              <a:ext cx="617015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从工具准备到完整标注成果，课堂节奏按“讲清楚、看明白、做出来、查得准”推进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9639300" y="628650"/>
              <a:ext cx="1466850" cy="628650"/>
            </a:xfrm>
            <a:prstGeom prst="roundRect">
              <a:avLst>
                <a:gd name="adj" fmla="val 27273"/>
              </a:avLst>
            </a:prstGeom>
            <a:solidFill>
              <a:srgbClr val="EAF3F8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9853612" y="818579"/>
              <a:ext cx="250389" cy="250799"/>
            </a:xfrm>
            <a:custGeom>
              <a:avLst/>
              <a:gdLst/>
              <a:ahLst/>
              <a:cxnLst/>
              <a:rect l="l" t="t" r="r" b="b"/>
              <a:pathLst>
                <a:path w="250389" h="250799">
                  <a:moveTo>
                    <a:pt x="178594" y="21288"/>
                  </a:moveTo>
                  <a:cubicBezTo>
                    <a:pt x="228212" y="49937"/>
                    <a:pt x="250389" y="109863"/>
                    <a:pt x="231374" y="163911"/>
                  </a:cubicBezTo>
                  <a:cubicBezTo>
                    <a:pt x="212360" y="217958"/>
                    <a:pt x="157547" y="250799"/>
                    <a:pt x="100920" y="242070"/>
                  </a:cubicBezTo>
                  <a:cubicBezTo>
                    <a:pt x="44294" y="233341"/>
                    <a:pt x="1915" y="185518"/>
                    <a:pt x="60" y="128253"/>
                  </a:cubicBezTo>
                  <a:lnTo>
                    <a:pt x="0" y="124396"/>
                  </a:lnTo>
                  <a:lnTo>
                    <a:pt x="60" y="120538"/>
                  </a:lnTo>
                  <a:cubicBezTo>
                    <a:pt x="1416" y="78711"/>
                    <a:pt x="24632" y="40667"/>
                    <a:pt x="61209" y="20334"/>
                  </a:cubicBezTo>
                  <a:cubicBezTo>
                    <a:pt x="97786" y="0"/>
                    <a:pt x="142352" y="362"/>
                    <a:pt x="178594" y="21288"/>
                  </a:cubicBezTo>
                  <a:close/>
                  <a:moveTo>
                    <a:pt x="119062" y="52958"/>
                  </a:moveTo>
                  <a:cubicBezTo>
                    <a:pt x="113026" y="52959"/>
                    <a:pt x="107946" y="57477"/>
                    <a:pt x="107240" y="63471"/>
                  </a:cubicBezTo>
                  <a:lnTo>
                    <a:pt x="107156" y="64865"/>
                  </a:lnTo>
                  <a:lnTo>
                    <a:pt x="107156" y="124396"/>
                  </a:lnTo>
                  <a:lnTo>
                    <a:pt x="107263" y="125955"/>
                  </a:lnTo>
                  <a:cubicBezTo>
                    <a:pt x="107535" y="128021"/>
                    <a:pt x="108344" y="129980"/>
                    <a:pt x="109609" y="131635"/>
                  </a:cubicBezTo>
                  <a:lnTo>
                    <a:pt x="110645" y="132825"/>
                  </a:lnTo>
                  <a:lnTo>
                    <a:pt x="146364" y="168544"/>
                  </a:lnTo>
                  <a:lnTo>
                    <a:pt x="147483" y="169520"/>
                  </a:lnTo>
                  <a:cubicBezTo>
                    <a:pt x="151778" y="172853"/>
                    <a:pt x="157785" y="172853"/>
                    <a:pt x="162080" y="169520"/>
                  </a:cubicBezTo>
                  <a:lnTo>
                    <a:pt x="163199" y="168532"/>
                  </a:lnTo>
                  <a:lnTo>
                    <a:pt x="164187" y="167413"/>
                  </a:lnTo>
                  <a:cubicBezTo>
                    <a:pt x="167520" y="163118"/>
                    <a:pt x="167520" y="157111"/>
                    <a:pt x="164187" y="152816"/>
                  </a:cubicBezTo>
                  <a:lnTo>
                    <a:pt x="163199" y="151697"/>
                  </a:lnTo>
                  <a:lnTo>
                    <a:pt x="130969" y="119455"/>
                  </a:lnTo>
                  <a:lnTo>
                    <a:pt x="130969" y="64865"/>
                  </a:lnTo>
                  <a:lnTo>
                    <a:pt x="130885" y="63471"/>
                  </a:lnTo>
                  <a:cubicBezTo>
                    <a:pt x="130179" y="57477"/>
                    <a:pt x="125099" y="52959"/>
                    <a:pt x="119062" y="52958"/>
                  </a:cubicBezTo>
                  <a:close/>
                </a:path>
              </a:pathLst>
            </a:custGeom>
            <a:solidFill>
              <a:srgbClr val="1D5B8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260330" y="802005"/>
              <a:ext cx="53850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D5B8F"/>
                  </a:solidFill>
                  <a:latin typeface="Arial"/>
                  <a:ea typeface="Microsoft YaHei"/>
                  <a:cs typeface="Arial"/>
                </a:rPr>
                <a:t>180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767060" y="899160"/>
              <a:ext cx="36652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5B8F"/>
                  </a:solidFill>
                  <a:latin typeface="Arial"/>
                  <a:ea typeface="Microsoft YaHei"/>
                  <a:cs typeface="Arial"/>
                </a:rPr>
                <a:t>分钟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914400" y="1771650"/>
            <a:ext cx="9944100" cy="4191000"/>
            <a:chOff x="914400" y="1771650"/>
            <a:chExt cx="9944100" cy="4191000"/>
          </a:xfrm>
        </p:grpSpPr>
        <p:sp>
          <p:nvSpPr>
            <p:cNvPr id="13" name="Line 13"/>
            <p:cNvSpPr/>
            <p:nvPr/>
          </p:nvSpPr>
          <p:spPr>
            <a:xfrm>
              <a:off x="1143000" y="1885950"/>
              <a:ext cx="9525" cy="4019550"/>
            </a:xfrm>
            <a:custGeom>
              <a:avLst/>
              <a:gdLst/>
              <a:ahLst/>
              <a:cxnLst/>
              <a:rect l="l" t="t" r="r" b="b"/>
              <a:pathLst>
                <a:path w="9525" h="4019550">
                  <a:moveTo>
                    <a:pt x="0" y="0"/>
                  </a:moveTo>
                  <a:lnTo>
                    <a:pt x="0" y="4019550"/>
                  </a:lnTo>
                </a:path>
              </a:pathLst>
            </a:custGeom>
            <a:noFill/>
            <a:ln w="38100" cap="rnd">
              <a:gradFill>
                <a:gsLst>
                  <a:gs pos="0">
                    <a:srgbClr val="1D5B8F"/>
                  </a:gs>
                  <a:gs pos="100000">
                    <a:srgbClr val="18A999"/>
                  </a:gs>
                </a:gsLst>
                <a:lin ang="5400000" scaled="1"/>
              </a:gradFill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914400" y="1771650"/>
              <a:ext cx="9944100" cy="571500"/>
              <a:chOff x="914400" y="1771650"/>
              <a:chExt cx="9944100" cy="571500"/>
            </a:xfrm>
          </p:grpSpPr>
          <p:sp>
            <p:nvSpPr>
              <p:cNvPr id="14" name="Ellipse 14"/>
              <p:cNvSpPr/>
              <p:nvPr/>
            </p:nvSpPr>
            <p:spPr>
              <a:xfrm>
                <a:off x="914400" y="1771650"/>
                <a:ext cx="457200" cy="457200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1D5B8F"/>
                </a:solidFill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042077" y="1955006"/>
                <a:ext cx="201847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1D5B8F"/>
                    </a:solidFill>
                    <a:latin typeface="Arial"/>
                    <a:ea typeface="Microsoft YaHei"/>
                    <a:cs typeface="Arial"/>
                  </a:rPr>
                  <a:t>01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579245" y="1784032"/>
                <a:ext cx="1197054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组织与导入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584960" y="2099310"/>
                <a:ext cx="463105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检查设备和Praat运行，回顾语音标注基础，展示专业成果样例。</a:t>
                </a:r>
              </a:p>
            </p:txBody>
          </p:sp>
          <p:sp>
            <p:nvSpPr>
              <p:cNvPr id="18" name="Rectangle 18"/>
              <p:cNvSpPr/>
              <p:nvPr/>
            </p:nvSpPr>
            <p:spPr>
              <a:xfrm>
                <a:off x="9963150" y="1809750"/>
                <a:ext cx="895350" cy="323850"/>
              </a:xfrm>
              <a:prstGeom prst="roundRect">
                <a:avLst>
                  <a:gd name="adj" fmla="val 50000"/>
                </a:avLst>
              </a:prstGeom>
              <a:solidFill>
                <a:srgbClr val="EAF3F8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10152382" y="1907381"/>
                <a:ext cx="51688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1D5B8F"/>
                    </a:solidFill>
                    <a:latin typeface="Arial"/>
                    <a:ea typeface="Microsoft YaHei"/>
                    <a:cs typeface="Arial"/>
                  </a:rPr>
                  <a:t>10分钟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914400" y="2676525"/>
              <a:ext cx="9944100" cy="571500"/>
              <a:chOff x="914400" y="2676525"/>
              <a:chExt cx="9944100" cy="571500"/>
            </a:xfrm>
          </p:grpSpPr>
          <p:sp>
            <p:nvSpPr>
              <p:cNvPr id="21" name="Ellipse 21"/>
              <p:cNvSpPr/>
              <p:nvPr/>
            </p:nvSpPr>
            <p:spPr>
              <a:xfrm>
                <a:off x="914400" y="2676525"/>
                <a:ext cx="457200" cy="457200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1D5B8F"/>
                </a:solidFill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1042077" y="2859881"/>
                <a:ext cx="201847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1D5B8F"/>
                    </a:solidFill>
                    <a:latin typeface="Arial"/>
                    <a:ea typeface="Microsoft YaHei"/>
                    <a:cs typeface="Arial"/>
                  </a:rPr>
                  <a:t>02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579245" y="2688908"/>
                <a:ext cx="2063413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Praat高级功能讲解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584960" y="3004185"/>
                <a:ext cx="453504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讲清TextGrid多层结构、分割技巧、快捷键和脚本自动化思路。</a:t>
                </a:r>
              </a:p>
            </p:txBody>
          </p:sp>
          <p:sp>
            <p:nvSpPr>
              <p:cNvPr id="25" name="Rectangle 25"/>
              <p:cNvSpPr/>
              <p:nvPr/>
            </p:nvSpPr>
            <p:spPr>
              <a:xfrm>
                <a:off x="9963150" y="2714625"/>
                <a:ext cx="895350" cy="323850"/>
              </a:xfrm>
              <a:prstGeom prst="roundRect">
                <a:avLst>
                  <a:gd name="adj" fmla="val 50000"/>
                </a:avLst>
              </a:prstGeom>
              <a:solidFill>
                <a:srgbClr val="EAF3F8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10152382" y="2812256"/>
                <a:ext cx="51688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1D5B8F"/>
                    </a:solidFill>
                    <a:latin typeface="Arial"/>
                    <a:ea typeface="Microsoft YaHei"/>
                    <a:cs typeface="Arial"/>
                  </a:rPr>
                  <a:t>60分钟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914400" y="3581400"/>
              <a:ext cx="9944100" cy="571500"/>
              <a:chOff x="914400" y="3581400"/>
              <a:chExt cx="9944100" cy="571500"/>
            </a:xfrm>
          </p:grpSpPr>
          <p:sp>
            <p:nvSpPr>
              <p:cNvPr id="28" name="Ellipse 28"/>
              <p:cNvSpPr/>
              <p:nvPr/>
            </p:nvSpPr>
            <p:spPr>
              <a:xfrm>
                <a:off x="914400" y="3581400"/>
                <a:ext cx="457200" cy="457200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18A999"/>
                </a:solidFill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1042077" y="3764756"/>
                <a:ext cx="201847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18A999"/>
                    </a:solidFill>
                    <a:latin typeface="Arial"/>
                    <a:ea typeface="Microsoft YaHei"/>
                    <a:cs typeface="Arial"/>
                  </a:rPr>
                  <a:t>03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1579245" y="3593782"/>
                <a:ext cx="2941322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实操练习1：分割与多层标注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584960" y="3909060"/>
                <a:ext cx="441502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学生导入练习音频，创建标注层，完成interval和point标注。</a:t>
                </a:r>
              </a:p>
            </p:txBody>
          </p:sp>
          <p:sp>
            <p:nvSpPr>
              <p:cNvPr id="32" name="Rectangle 32"/>
              <p:cNvSpPr/>
              <p:nvPr/>
            </p:nvSpPr>
            <p:spPr>
              <a:xfrm>
                <a:off x="9963150" y="3619500"/>
                <a:ext cx="895350" cy="323850"/>
              </a:xfrm>
              <a:prstGeom prst="roundRect">
                <a:avLst>
                  <a:gd name="adj" fmla="val 50000"/>
                </a:avLst>
              </a:prstGeom>
              <a:solidFill>
                <a:srgbClr val="EAF3F8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10152382" y="3717131"/>
                <a:ext cx="51688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18A999"/>
                    </a:solidFill>
                    <a:latin typeface="Arial"/>
                    <a:ea typeface="Microsoft YaHei"/>
                    <a:cs typeface="Arial"/>
                  </a:rPr>
                  <a:t>40分钟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914400" y="4486275"/>
              <a:ext cx="9944100" cy="571500"/>
              <a:chOff x="914400" y="4486275"/>
              <a:chExt cx="9944100" cy="571500"/>
            </a:xfrm>
          </p:grpSpPr>
          <p:sp>
            <p:nvSpPr>
              <p:cNvPr id="35" name="Ellipse 35"/>
              <p:cNvSpPr/>
              <p:nvPr/>
            </p:nvSpPr>
            <p:spPr>
              <a:xfrm>
                <a:off x="914400" y="4486275"/>
                <a:ext cx="457200" cy="457200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F2B84B"/>
                </a:solidFill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1042077" y="4669631"/>
                <a:ext cx="201847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DC8A00"/>
                    </a:solidFill>
                    <a:latin typeface="Arial"/>
                    <a:ea typeface="Microsoft YaHei"/>
                    <a:cs typeface="Arial"/>
                  </a:rPr>
                  <a:t>04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1579245" y="4498658"/>
                <a:ext cx="2121170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转写规范与完整标注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1584960" y="4813935"/>
                <a:ext cx="467106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讲授逐字转写、说话人角色、非语言事件、格式命名和质量自检。</a:t>
                </a:r>
              </a:p>
            </p:txBody>
          </p:sp>
          <p:sp>
            <p:nvSpPr>
              <p:cNvPr id="39" name="Rectangle 39"/>
              <p:cNvSpPr/>
              <p:nvPr/>
            </p:nvSpPr>
            <p:spPr>
              <a:xfrm>
                <a:off x="9963150" y="4524375"/>
                <a:ext cx="895350" cy="323850"/>
              </a:xfrm>
              <a:prstGeom prst="roundRect">
                <a:avLst>
                  <a:gd name="adj" fmla="val 50000"/>
                </a:avLst>
              </a:prstGeom>
              <a:solidFill>
                <a:srgbClr val="EAF3F8"/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10152382" y="4622006"/>
                <a:ext cx="51688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DC8A00"/>
                    </a:solidFill>
                    <a:latin typeface="Arial"/>
                    <a:ea typeface="Microsoft YaHei"/>
                    <a:cs typeface="Arial"/>
                  </a:rPr>
                  <a:t>60分钟</a:t>
                </a: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914400" y="5391150"/>
              <a:ext cx="9944100" cy="571500"/>
              <a:chOff x="914400" y="5391150"/>
              <a:chExt cx="9944100" cy="571500"/>
            </a:xfrm>
          </p:grpSpPr>
          <p:sp>
            <p:nvSpPr>
              <p:cNvPr id="42" name="Ellipse 42"/>
              <p:cNvSpPr/>
              <p:nvPr/>
            </p:nvSpPr>
            <p:spPr>
              <a:xfrm>
                <a:off x="914400" y="5391150"/>
                <a:ext cx="457200" cy="457200"/>
              </a:xfrm>
              <a:prstGeom prst="ellipse">
                <a:avLst/>
              </a:prstGeom>
              <a:solidFill>
                <a:srgbClr val="18A999"/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1042077" y="5574506"/>
                <a:ext cx="201847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05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1579245" y="5403532"/>
                <a:ext cx="2941322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实操练习2、综合互查与小结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1584960" y="5718810"/>
                <a:ext cx="523913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完成完整标注、交叉检查、修正提交，并布置不少于2分钟对话语音作业。</a:t>
                </a:r>
              </a:p>
            </p:txBody>
          </p:sp>
          <p:sp>
            <p:nvSpPr>
              <p:cNvPr id="46" name="Rectangle 46"/>
              <p:cNvSpPr/>
              <p:nvPr/>
            </p:nvSpPr>
            <p:spPr>
              <a:xfrm>
                <a:off x="9963150" y="5429250"/>
                <a:ext cx="895350" cy="323850"/>
              </a:xfrm>
              <a:prstGeom prst="roundRect">
                <a:avLst>
                  <a:gd name="adj" fmla="val 50000"/>
                </a:avLst>
              </a:prstGeom>
              <a:solidFill>
                <a:srgbClr val="18A999"/>
              </a:solidFill>
              <a:ln>
                <a:noFill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10152382" y="5526881"/>
                <a:ext cx="51688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80分钟</a:t>
                </a:r>
              </a:p>
            </p:txBody>
          </p:sp>
        </p:grpSp>
      </p:grpSp>
      <p:grpSp>
        <p:nvGrpSpPr>
          <p:cNvPr id="52" name="Group 52"/>
          <p:cNvGrpSpPr/>
          <p:nvPr/>
        </p:nvGrpSpPr>
        <p:grpSpPr>
          <a:xfrm>
            <a:off x="750570" y="6398895"/>
            <a:ext cx="10690860" cy="182880"/>
            <a:chOff x="750570" y="6398895"/>
            <a:chExt cx="10690860" cy="182880"/>
          </a:xfrm>
        </p:grpSpPr>
        <p:sp>
          <p:nvSpPr>
            <p:cNvPr id="50" name="TextBox 50"/>
            <p:cNvSpPr txBox="1"/>
            <p:nvPr/>
          </p:nvSpPr>
          <p:spPr>
            <a:xfrm>
              <a:off x="750570" y="6398895"/>
              <a:ext cx="160105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8796"/>
                  </a:solidFill>
                  <a:latin typeface="Arial"/>
                  <a:ea typeface="Microsoft YaHei"/>
                  <a:cs typeface="Arial"/>
                </a:rPr>
                <a:t>语音标注工具使用 · 教学流程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016520" y="63988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8796"/>
                  </a:solidFill>
                  <a:latin typeface="Arial"/>
                  <a:ea typeface="Microsoft YaHei"/>
                  <a:cs typeface="Arial"/>
                </a:rPr>
                <a:t>02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8FBFF"/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9525000" y="0"/>
              <a:ext cx="2286000" cy="2286000"/>
            </a:xfrm>
            <a:prstGeom prst="ellipse">
              <a:avLst/>
            </a:prstGeom>
            <a:solidFill>
              <a:srgbClr val="18A999">
                <a:alpha val="8000"/>
              </a:srgbClr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75310" y="451485"/>
            <a:ext cx="10664190" cy="743903"/>
            <a:chOff x="575310" y="451485"/>
            <a:chExt cx="10664190" cy="743903"/>
          </a:xfrm>
        </p:grpSpPr>
        <p:sp>
          <p:nvSpPr>
            <p:cNvPr id="5" name="TextBox 5"/>
            <p:cNvSpPr txBox="1"/>
            <p:nvPr/>
          </p:nvSpPr>
          <p:spPr>
            <a:xfrm>
              <a:off x="575310" y="451485"/>
              <a:ext cx="158076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学习目标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92455" y="921068"/>
              <a:ext cx="311267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学完后要能“说清楚、做出来、查得准”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9810750" y="552450"/>
              <a:ext cx="1428750" cy="381000"/>
            </a:xfrm>
            <a:prstGeom prst="roundRect">
              <a:avLst>
                <a:gd name="adj" fmla="val 50000"/>
              </a:avLst>
            </a:prstGeom>
            <a:solidFill>
              <a:srgbClr val="EAF3F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195798" y="67865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D5B8F"/>
                  </a:solidFill>
                  <a:latin typeface="Arial"/>
                  <a:ea typeface="Microsoft YaHei"/>
                  <a:cs typeface="Arial"/>
                </a:rPr>
                <a:t>目标对齐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09600" y="1581150"/>
            <a:ext cx="3352800" cy="4000500"/>
            <a:chOff x="609600" y="1581150"/>
            <a:chExt cx="3352800" cy="4000500"/>
          </a:xfrm>
        </p:grpSpPr>
        <p:sp>
          <p:nvSpPr>
            <p:cNvPr id="10" name="Rectangle 10"/>
            <p:cNvSpPr/>
            <p:nvPr/>
          </p:nvSpPr>
          <p:spPr>
            <a:xfrm>
              <a:off x="609600" y="1581150"/>
              <a:ext cx="3352800" cy="4000500"/>
            </a:xfrm>
            <a:prstGeom prst="roundRect">
              <a:avLst>
                <a:gd name="adj" fmla="val 5114"/>
              </a:avLst>
            </a:prstGeom>
            <a:solidFill>
              <a:srgbClr val="FFFFFF"/>
            </a:solidFill>
            <a:ln w="19050">
              <a:solidFill>
                <a:srgbClr val="CFE1EA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609600" y="1581150"/>
              <a:ext cx="3352800" cy="876300"/>
            </a:xfrm>
            <a:prstGeom prst="roundRect">
              <a:avLst>
                <a:gd name="adj" fmla="val 19565"/>
              </a:avLst>
            </a:prstGeom>
            <a:solidFill>
              <a:srgbClr val="EAF3F8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928688" y="1866111"/>
              <a:ext cx="333375" cy="277758"/>
            </a:xfrm>
            <a:custGeom>
              <a:avLst/>
              <a:gdLst/>
              <a:ahLst/>
              <a:cxnLst/>
              <a:rect l="l" t="t" r="r" b="b"/>
              <a:pathLst>
                <a:path w="333375" h="277758">
                  <a:moveTo>
                    <a:pt x="325041" y="29216"/>
                  </a:moveTo>
                  <a:cubicBezTo>
                    <a:pt x="329592" y="31844"/>
                    <a:pt x="332638" y="36465"/>
                    <a:pt x="333258" y="41685"/>
                  </a:cubicBezTo>
                  <a:lnTo>
                    <a:pt x="333375" y="43651"/>
                  </a:lnTo>
                  <a:lnTo>
                    <a:pt x="333375" y="260345"/>
                  </a:lnTo>
                  <a:cubicBezTo>
                    <a:pt x="333375" y="266300"/>
                    <a:pt x="330198" y="271803"/>
                    <a:pt x="325040" y="274780"/>
                  </a:cubicBezTo>
                  <a:cubicBezTo>
                    <a:pt x="319883" y="277758"/>
                    <a:pt x="313529" y="277758"/>
                    <a:pt x="308372" y="274780"/>
                  </a:cubicBezTo>
                  <a:cubicBezTo>
                    <a:pt x="270021" y="252636"/>
                    <a:pt x="223179" y="250974"/>
                    <a:pt x="183356" y="270346"/>
                  </a:cubicBezTo>
                  <a:lnTo>
                    <a:pt x="183356" y="17415"/>
                  </a:lnTo>
                  <a:cubicBezTo>
                    <a:pt x="229978" y="0"/>
                    <a:pt x="281942" y="4328"/>
                    <a:pt x="325041" y="29216"/>
                  </a:cubicBezTo>
                  <a:moveTo>
                    <a:pt x="150019" y="17432"/>
                  </a:moveTo>
                  <a:lnTo>
                    <a:pt x="150035" y="270363"/>
                  </a:lnTo>
                  <a:cubicBezTo>
                    <a:pt x="111827" y="251763"/>
                    <a:pt x="67041" y="252487"/>
                    <a:pt x="29454" y="272313"/>
                  </a:cubicBezTo>
                  <a:lnTo>
                    <a:pt x="24003" y="275314"/>
                  </a:lnTo>
                  <a:lnTo>
                    <a:pt x="22286" y="276047"/>
                  </a:lnTo>
                  <a:lnTo>
                    <a:pt x="21469" y="276314"/>
                  </a:lnTo>
                  <a:lnTo>
                    <a:pt x="19636" y="276747"/>
                  </a:lnTo>
                  <a:lnTo>
                    <a:pt x="18619" y="276914"/>
                  </a:lnTo>
                  <a:lnTo>
                    <a:pt x="16669" y="277014"/>
                  </a:lnTo>
                  <a:lnTo>
                    <a:pt x="15969" y="277014"/>
                  </a:lnTo>
                  <a:lnTo>
                    <a:pt x="14135" y="276814"/>
                  </a:lnTo>
                  <a:lnTo>
                    <a:pt x="12852" y="276581"/>
                  </a:lnTo>
                  <a:lnTo>
                    <a:pt x="11051" y="276047"/>
                  </a:lnTo>
                  <a:lnTo>
                    <a:pt x="8951" y="275114"/>
                  </a:lnTo>
                  <a:lnTo>
                    <a:pt x="7368" y="274180"/>
                  </a:lnTo>
                  <a:lnTo>
                    <a:pt x="5884" y="273063"/>
                  </a:lnTo>
                  <a:lnTo>
                    <a:pt x="4884" y="272130"/>
                  </a:lnTo>
                  <a:lnTo>
                    <a:pt x="3667" y="270763"/>
                  </a:lnTo>
                  <a:lnTo>
                    <a:pt x="2600" y="269280"/>
                  </a:lnTo>
                  <a:lnTo>
                    <a:pt x="2234" y="268680"/>
                  </a:lnTo>
                  <a:lnTo>
                    <a:pt x="1700" y="267679"/>
                  </a:lnTo>
                  <a:lnTo>
                    <a:pt x="967" y="265963"/>
                  </a:lnTo>
                  <a:lnTo>
                    <a:pt x="700" y="265146"/>
                  </a:lnTo>
                  <a:lnTo>
                    <a:pt x="267" y="263312"/>
                  </a:lnTo>
                  <a:lnTo>
                    <a:pt x="100" y="262295"/>
                  </a:lnTo>
                  <a:lnTo>
                    <a:pt x="33" y="261479"/>
                  </a:lnTo>
                  <a:lnTo>
                    <a:pt x="0" y="43651"/>
                  </a:lnTo>
                  <a:cubicBezTo>
                    <a:pt x="0" y="37696"/>
                    <a:pt x="3177" y="32194"/>
                    <a:pt x="8334" y="29216"/>
                  </a:cubicBezTo>
                  <a:cubicBezTo>
                    <a:pt x="51435" y="4334"/>
                    <a:pt x="103399" y="12"/>
                    <a:pt x="150019" y="17432"/>
                  </a:cubicBezTo>
                </a:path>
              </a:pathLst>
            </a:custGeom>
            <a:solidFill>
              <a:srgbClr val="1D5B8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442085" y="1856422"/>
              <a:ext cx="114166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D5B8F"/>
                  </a:solidFill>
                  <a:latin typeface="Arial"/>
                  <a:ea typeface="Microsoft YaHei"/>
                  <a:cs typeface="Arial"/>
                </a:rPr>
                <a:t>知识目标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76300" y="2790825"/>
              <a:ext cx="1895475" cy="1333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7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能说出Praat高级功能</a:t>
              </a:r>
              <a:r>
                <a:rPr lang="zh-CN" sz="15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能概括语音分割策略</a:t>
              </a:r>
              <a:r>
                <a:rPr lang="zh-CN" sz="15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能识记转写格式要求</a:t>
              </a:r>
              <a:r>
                <a:rPr lang="zh-CN" sz="15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能说明文件命名规则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81062" y="4869656"/>
              <a:ext cx="234636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关键词：功能 · 层级 · 规范 · 命名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419600" y="1581150"/>
            <a:ext cx="3352800" cy="4000500"/>
            <a:chOff x="4419600" y="1581150"/>
            <a:chExt cx="3352800" cy="4000500"/>
          </a:xfrm>
        </p:grpSpPr>
        <p:sp>
          <p:nvSpPr>
            <p:cNvPr id="17" name="Rectangle 17"/>
            <p:cNvSpPr/>
            <p:nvPr/>
          </p:nvSpPr>
          <p:spPr>
            <a:xfrm>
              <a:off x="4419600" y="1581150"/>
              <a:ext cx="3352800" cy="4000500"/>
            </a:xfrm>
            <a:prstGeom prst="roundRect">
              <a:avLst>
                <a:gd name="adj" fmla="val 5114"/>
              </a:avLst>
            </a:prstGeom>
            <a:solidFill>
              <a:srgbClr val="FFFFFF"/>
            </a:solidFill>
            <a:ln w="19050">
              <a:solidFill>
                <a:srgbClr val="CFE1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4419600" y="1581150"/>
              <a:ext cx="3352800" cy="876300"/>
            </a:xfrm>
            <a:prstGeom prst="roundRect">
              <a:avLst>
                <a:gd name="adj" fmla="val 19565"/>
              </a:avLst>
            </a:prstGeom>
            <a:solidFill>
              <a:srgbClr val="E8F8F5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4727119" y="1831519"/>
              <a:ext cx="356511" cy="356511"/>
            </a:xfrm>
            <a:custGeom>
              <a:avLst/>
              <a:gdLst/>
              <a:ahLst/>
              <a:cxnLst/>
              <a:rect l="l" t="t" r="r" b="b"/>
              <a:pathLst>
                <a:path w="356511" h="356511">
                  <a:moveTo>
                    <a:pt x="222378" y="46256"/>
                  </a:moveTo>
                  <a:cubicBezTo>
                    <a:pt x="223285" y="49999"/>
                    <a:pt x="225925" y="53085"/>
                    <a:pt x="229483" y="54561"/>
                  </a:cubicBezTo>
                  <a:cubicBezTo>
                    <a:pt x="233041" y="56037"/>
                    <a:pt x="237089" y="55726"/>
                    <a:pt x="240380" y="53723"/>
                  </a:cubicBezTo>
                  <a:cubicBezTo>
                    <a:pt x="281035" y="28970"/>
                    <a:pt x="327558" y="75476"/>
                    <a:pt x="302805" y="116131"/>
                  </a:cubicBezTo>
                  <a:cubicBezTo>
                    <a:pt x="300802" y="119419"/>
                    <a:pt x="300489" y="123466"/>
                    <a:pt x="301961" y="127023"/>
                  </a:cubicBezTo>
                  <a:cubicBezTo>
                    <a:pt x="303433" y="130581"/>
                    <a:pt x="306515" y="133222"/>
                    <a:pt x="310255" y="134133"/>
                  </a:cubicBezTo>
                  <a:cubicBezTo>
                    <a:pt x="356511" y="145351"/>
                    <a:pt x="356511" y="211143"/>
                    <a:pt x="310255" y="222378"/>
                  </a:cubicBezTo>
                  <a:cubicBezTo>
                    <a:pt x="306512" y="223285"/>
                    <a:pt x="303426" y="225925"/>
                    <a:pt x="301950" y="229483"/>
                  </a:cubicBezTo>
                  <a:cubicBezTo>
                    <a:pt x="300474" y="233041"/>
                    <a:pt x="300785" y="237089"/>
                    <a:pt x="302788" y="240380"/>
                  </a:cubicBezTo>
                  <a:cubicBezTo>
                    <a:pt x="327541" y="281035"/>
                    <a:pt x="281035" y="327558"/>
                    <a:pt x="240380" y="302805"/>
                  </a:cubicBezTo>
                  <a:cubicBezTo>
                    <a:pt x="237092" y="300802"/>
                    <a:pt x="233045" y="300489"/>
                    <a:pt x="229488" y="301961"/>
                  </a:cubicBezTo>
                  <a:cubicBezTo>
                    <a:pt x="225930" y="303433"/>
                    <a:pt x="223289" y="306515"/>
                    <a:pt x="222378" y="310255"/>
                  </a:cubicBezTo>
                  <a:cubicBezTo>
                    <a:pt x="211160" y="356511"/>
                    <a:pt x="145368" y="356511"/>
                    <a:pt x="134133" y="310255"/>
                  </a:cubicBezTo>
                  <a:cubicBezTo>
                    <a:pt x="133226" y="306512"/>
                    <a:pt x="130587" y="303426"/>
                    <a:pt x="127029" y="301950"/>
                  </a:cubicBezTo>
                  <a:cubicBezTo>
                    <a:pt x="123471" y="300474"/>
                    <a:pt x="119422" y="300785"/>
                    <a:pt x="116131" y="302788"/>
                  </a:cubicBezTo>
                  <a:cubicBezTo>
                    <a:pt x="75476" y="327541"/>
                    <a:pt x="28954" y="281035"/>
                    <a:pt x="53707" y="240380"/>
                  </a:cubicBezTo>
                  <a:cubicBezTo>
                    <a:pt x="55709" y="237092"/>
                    <a:pt x="56023" y="233045"/>
                    <a:pt x="54550" y="229488"/>
                  </a:cubicBezTo>
                  <a:cubicBezTo>
                    <a:pt x="53078" y="225930"/>
                    <a:pt x="49996" y="223289"/>
                    <a:pt x="46256" y="222378"/>
                  </a:cubicBezTo>
                  <a:cubicBezTo>
                    <a:pt x="0" y="211160"/>
                    <a:pt x="0" y="145368"/>
                    <a:pt x="46256" y="134133"/>
                  </a:cubicBezTo>
                  <a:cubicBezTo>
                    <a:pt x="49999" y="133226"/>
                    <a:pt x="53085" y="130587"/>
                    <a:pt x="54561" y="127029"/>
                  </a:cubicBezTo>
                  <a:cubicBezTo>
                    <a:pt x="56037" y="123471"/>
                    <a:pt x="55726" y="119422"/>
                    <a:pt x="53723" y="116131"/>
                  </a:cubicBezTo>
                  <a:cubicBezTo>
                    <a:pt x="28970" y="75476"/>
                    <a:pt x="75476" y="28954"/>
                    <a:pt x="116131" y="53707"/>
                  </a:cubicBezTo>
                  <a:cubicBezTo>
                    <a:pt x="119417" y="55725"/>
                    <a:pt x="123470" y="56046"/>
                    <a:pt x="127032" y="54572"/>
                  </a:cubicBezTo>
                  <a:cubicBezTo>
                    <a:pt x="130595" y="53097"/>
                    <a:pt x="133235" y="50005"/>
                    <a:pt x="134133" y="46256"/>
                  </a:cubicBezTo>
                  <a:cubicBezTo>
                    <a:pt x="145351" y="0"/>
                    <a:pt x="211143" y="0"/>
                    <a:pt x="222378" y="46256"/>
                  </a:cubicBezTo>
                  <a:close/>
                  <a:moveTo>
                    <a:pt x="178256" y="128249"/>
                  </a:moveTo>
                  <a:cubicBezTo>
                    <a:pt x="150638" y="128249"/>
                    <a:pt x="128249" y="150638"/>
                    <a:pt x="128249" y="178256"/>
                  </a:cubicBezTo>
                  <a:cubicBezTo>
                    <a:pt x="128249" y="205873"/>
                    <a:pt x="150638" y="228262"/>
                    <a:pt x="178256" y="228262"/>
                  </a:cubicBezTo>
                  <a:cubicBezTo>
                    <a:pt x="205873" y="228262"/>
                    <a:pt x="228262" y="205873"/>
                    <a:pt x="228262" y="178256"/>
                  </a:cubicBezTo>
                  <a:cubicBezTo>
                    <a:pt x="228262" y="150638"/>
                    <a:pt x="205873" y="128249"/>
                    <a:pt x="178256" y="128249"/>
                  </a:cubicBezTo>
                </a:path>
              </a:pathLst>
            </a:custGeom>
            <a:solidFill>
              <a:srgbClr val="18A999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252085" y="1856422"/>
              <a:ext cx="114166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8A999"/>
                  </a:solidFill>
                  <a:latin typeface="Arial"/>
                  <a:ea typeface="Microsoft YaHei"/>
                  <a:cs typeface="Arial"/>
                </a:rPr>
                <a:t>能力目标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686300" y="2790825"/>
              <a:ext cx="19431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7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能完成语音精确分割</a:t>
              </a:r>
              <a:r>
                <a:rPr lang="zh-CN" sz="15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能创建多层TextGrid</a:t>
              </a:r>
              <a:r>
                <a:rPr lang="zh-CN" sz="15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能标注角色与内容转写</a:t>
              </a:r>
              <a:r>
                <a:rPr lang="zh-CN" sz="15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能导出标准数据格式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691062" y="4869656"/>
              <a:ext cx="234636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关键词：操作 · 转写 · 导出 · 复核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229600" y="1581150"/>
            <a:ext cx="3352800" cy="4000500"/>
            <a:chOff x="8229600" y="1581150"/>
            <a:chExt cx="3352800" cy="4000500"/>
          </a:xfrm>
        </p:grpSpPr>
        <p:sp>
          <p:nvSpPr>
            <p:cNvPr id="24" name="Rectangle 24"/>
            <p:cNvSpPr/>
            <p:nvPr/>
          </p:nvSpPr>
          <p:spPr>
            <a:xfrm>
              <a:off x="8229600" y="1581150"/>
              <a:ext cx="3352800" cy="4000500"/>
            </a:xfrm>
            <a:prstGeom prst="roundRect">
              <a:avLst>
                <a:gd name="adj" fmla="val 5114"/>
              </a:avLst>
            </a:prstGeom>
            <a:solidFill>
              <a:srgbClr val="FFFFFF"/>
            </a:solidFill>
            <a:ln w="19050">
              <a:solidFill>
                <a:srgbClr val="CFE1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8229600" y="1581150"/>
              <a:ext cx="3352800" cy="876300"/>
            </a:xfrm>
            <a:prstGeom prst="roundRect">
              <a:avLst>
                <a:gd name="adj" fmla="val 19565"/>
              </a:avLst>
            </a:prstGeom>
            <a:solidFill>
              <a:srgbClr val="FFF4D8"/>
            </a:solidFill>
            <a:ln>
              <a:noFill/>
            </a:ln>
          </p:spPr>
        </p:sp>
        <p:sp>
          <p:nvSpPr>
            <p:cNvPr id="26" name="Freeform 26"/>
            <p:cNvSpPr/>
            <p:nvPr/>
          </p:nvSpPr>
          <p:spPr>
            <a:xfrm>
              <a:off x="8541140" y="1843088"/>
              <a:ext cx="348454" cy="333553"/>
            </a:xfrm>
            <a:custGeom>
              <a:avLst/>
              <a:gdLst/>
              <a:ahLst/>
              <a:cxnLst/>
              <a:rect l="l" t="t" r="r" b="b"/>
              <a:pathLst>
                <a:path w="348454" h="333553">
                  <a:moveTo>
                    <a:pt x="174202" y="0"/>
                  </a:moveTo>
                  <a:lnTo>
                    <a:pt x="176169" y="117"/>
                  </a:lnTo>
                  <a:lnTo>
                    <a:pt x="177152" y="250"/>
                  </a:lnTo>
                  <a:lnTo>
                    <a:pt x="178169" y="467"/>
                  </a:lnTo>
                  <a:lnTo>
                    <a:pt x="180019" y="1033"/>
                  </a:lnTo>
                  <a:cubicBezTo>
                    <a:pt x="181297" y="1505"/>
                    <a:pt x="182512" y="2132"/>
                    <a:pt x="183636" y="2900"/>
                  </a:cubicBezTo>
                  <a:lnTo>
                    <a:pt x="185370" y="4267"/>
                  </a:lnTo>
                  <a:lnTo>
                    <a:pt x="189620" y="7901"/>
                  </a:lnTo>
                  <a:cubicBezTo>
                    <a:pt x="223246" y="35831"/>
                    <a:pt x="265744" y="50828"/>
                    <a:pt x="309452" y="50190"/>
                  </a:cubicBezTo>
                  <a:lnTo>
                    <a:pt x="315153" y="50023"/>
                  </a:lnTo>
                  <a:cubicBezTo>
                    <a:pt x="322823" y="49673"/>
                    <a:pt x="329740" y="54608"/>
                    <a:pt x="331905" y="61974"/>
                  </a:cubicBezTo>
                  <a:cubicBezTo>
                    <a:pt x="348454" y="118269"/>
                    <a:pt x="341466" y="178869"/>
                    <a:pt x="312538" y="229920"/>
                  </a:cubicBezTo>
                  <a:cubicBezTo>
                    <a:pt x="283610" y="280971"/>
                    <a:pt x="235216" y="318108"/>
                    <a:pt x="178419" y="332842"/>
                  </a:cubicBezTo>
                  <a:cubicBezTo>
                    <a:pt x="175675" y="333553"/>
                    <a:pt x="172795" y="333553"/>
                    <a:pt x="170051" y="332842"/>
                  </a:cubicBezTo>
                  <a:cubicBezTo>
                    <a:pt x="113251" y="318112"/>
                    <a:pt x="64853" y="280976"/>
                    <a:pt x="35921" y="229925"/>
                  </a:cubicBezTo>
                  <a:cubicBezTo>
                    <a:pt x="6990" y="178874"/>
                    <a:pt x="0" y="118272"/>
                    <a:pt x="16549" y="61974"/>
                  </a:cubicBezTo>
                  <a:cubicBezTo>
                    <a:pt x="18714" y="54608"/>
                    <a:pt x="25631" y="49673"/>
                    <a:pt x="33301" y="50023"/>
                  </a:cubicBezTo>
                  <a:cubicBezTo>
                    <a:pt x="78931" y="52109"/>
                    <a:pt x="123696" y="37088"/>
                    <a:pt x="158833" y="7901"/>
                  </a:cubicBezTo>
                  <a:lnTo>
                    <a:pt x="163217" y="4151"/>
                  </a:lnTo>
                  <a:lnTo>
                    <a:pt x="164817" y="2900"/>
                  </a:lnTo>
                  <a:cubicBezTo>
                    <a:pt x="165941" y="2132"/>
                    <a:pt x="167156" y="1505"/>
                    <a:pt x="168434" y="1033"/>
                  </a:cubicBezTo>
                  <a:lnTo>
                    <a:pt x="170301" y="467"/>
                  </a:lnTo>
                  <a:cubicBezTo>
                    <a:pt x="170954" y="309"/>
                    <a:pt x="171617" y="192"/>
                    <a:pt x="172285" y="117"/>
                  </a:cubicBezTo>
                  <a:lnTo>
                    <a:pt x="174202" y="0"/>
                  </a:lnTo>
                  <a:close/>
                  <a:moveTo>
                    <a:pt x="236043" y="121565"/>
                  </a:moveTo>
                  <a:cubicBezTo>
                    <a:pt x="232916" y="118435"/>
                    <a:pt x="228674" y="116676"/>
                    <a:pt x="224250" y="116676"/>
                  </a:cubicBezTo>
                  <a:cubicBezTo>
                    <a:pt x="219826" y="116676"/>
                    <a:pt x="215583" y="118435"/>
                    <a:pt x="212456" y="121565"/>
                  </a:cubicBezTo>
                  <a:lnTo>
                    <a:pt x="157566" y="176439"/>
                  </a:lnTo>
                  <a:lnTo>
                    <a:pt x="136014" y="154903"/>
                  </a:lnTo>
                  <a:lnTo>
                    <a:pt x="134447" y="153519"/>
                  </a:lnTo>
                  <a:cubicBezTo>
                    <a:pt x="127494" y="148143"/>
                    <a:pt x="117561" y="149089"/>
                    <a:pt x="111748" y="155681"/>
                  </a:cubicBezTo>
                  <a:cubicBezTo>
                    <a:pt x="105935" y="162274"/>
                    <a:pt x="106240" y="172247"/>
                    <a:pt x="112444" y="178472"/>
                  </a:cubicBezTo>
                  <a:lnTo>
                    <a:pt x="145781" y="211810"/>
                  </a:lnTo>
                  <a:lnTo>
                    <a:pt x="147348" y="213193"/>
                  </a:lnTo>
                  <a:cubicBezTo>
                    <a:pt x="153984" y="218341"/>
                    <a:pt x="163413" y="217748"/>
                    <a:pt x="169351" y="211810"/>
                  </a:cubicBezTo>
                  <a:lnTo>
                    <a:pt x="236026" y="145135"/>
                  </a:lnTo>
                  <a:lnTo>
                    <a:pt x="237410" y="143568"/>
                  </a:lnTo>
                  <a:cubicBezTo>
                    <a:pt x="242557" y="136932"/>
                    <a:pt x="241964" y="127504"/>
                    <a:pt x="236026" y="121565"/>
                  </a:cubicBezTo>
                  <a:close/>
                </a:path>
              </a:pathLst>
            </a:custGeom>
            <a:solidFill>
              <a:srgbClr val="DC8A00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062085" y="1856422"/>
              <a:ext cx="114166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DC8A00"/>
                  </a:solidFill>
                  <a:latin typeface="Arial"/>
                  <a:ea typeface="Microsoft YaHei"/>
                  <a:cs typeface="Arial"/>
                </a:rPr>
                <a:t>素养目标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496300" y="2790825"/>
              <a:ext cx="17526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7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按要求规范使用工具</a:t>
              </a:r>
              <a:r>
                <a:rPr lang="zh-CN" sz="15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保护语音数据隐私</a:t>
              </a:r>
              <a:r>
                <a:rPr lang="zh-CN" sz="15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认真细致完成自检</a:t>
              </a:r>
              <a:r>
                <a:rPr lang="zh-CN" sz="15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形成精益求精意识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501062" y="4869656"/>
              <a:ext cx="264640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关键词：安全 · 质量 · 规范 · 工匠精神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98170" y="6398895"/>
            <a:ext cx="10843260" cy="182880"/>
            <a:chOff x="598170" y="6398895"/>
            <a:chExt cx="10843260" cy="182880"/>
          </a:xfrm>
        </p:grpSpPr>
        <p:sp>
          <p:nvSpPr>
            <p:cNvPr id="31" name="TextBox 31"/>
            <p:cNvSpPr txBox="1"/>
            <p:nvPr/>
          </p:nvSpPr>
          <p:spPr>
            <a:xfrm>
              <a:off x="598170" y="6398895"/>
              <a:ext cx="160105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8796"/>
                  </a:solidFill>
                  <a:latin typeface="Arial"/>
                  <a:ea typeface="Microsoft YaHei"/>
                  <a:cs typeface="Arial"/>
                </a:rPr>
                <a:t>语音标注工具使用 · 学习目标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016520" y="63988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8796"/>
                  </a:solidFill>
                  <a:latin typeface="Arial"/>
                  <a:ea typeface="Microsoft YaHei"/>
                  <a:cs typeface="Arial"/>
                </a:rPr>
                <a:t>03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3" grpId="0"/>
      <p:bldP spid="3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75310" y="394335"/>
            <a:ext cx="3507867" cy="743903"/>
            <a:chOff x="575310" y="394335"/>
            <a:chExt cx="3507867" cy="743903"/>
          </a:xfrm>
        </p:grpSpPr>
        <p:sp>
          <p:nvSpPr>
            <p:cNvPr id="3" name="TextBox 3"/>
            <p:cNvSpPr txBox="1"/>
            <p:nvPr/>
          </p:nvSpPr>
          <p:spPr>
            <a:xfrm>
              <a:off x="575310" y="394335"/>
              <a:ext cx="299844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Praat操作全流程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2455" y="863918"/>
              <a:ext cx="349072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从“导入音频”开始，到“导出标准结果”结束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19250" y="2286000"/>
            <a:ext cx="8953500" cy="1"/>
            <a:chOff x="1619250" y="2286000"/>
            <a:chExt cx="8953500" cy="1"/>
          </a:xfrm>
        </p:grpSpPr>
        <p:sp>
          <p:nvSpPr>
            <p:cNvPr id="6" name="Line 6"/>
            <p:cNvSpPr/>
            <p:nvPr/>
          </p:nvSpPr>
          <p:spPr>
            <a:xfrm>
              <a:off x="1619250" y="2286000"/>
              <a:ext cx="8953500" cy="1"/>
            </a:xfrm>
            <a:prstGeom prst="line">
              <a:avLst/>
            </a:prstGeom>
            <a:noFill/>
            <a:ln w="38100">
              <a:solidFill>
                <a:srgbClr val="1D5B8F"/>
              </a:solidFill>
              <a:tailEnd type="triangle" w="lg" len="lg"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723900" y="1885950"/>
            <a:ext cx="1619250" cy="2933700"/>
            <a:chOff x="723900" y="1885950"/>
            <a:chExt cx="1619250" cy="2933700"/>
          </a:xfrm>
        </p:grpSpPr>
        <p:sp>
          <p:nvSpPr>
            <p:cNvPr id="8" name="Ellipse 8"/>
            <p:cNvSpPr/>
            <p:nvPr/>
          </p:nvSpPr>
          <p:spPr>
            <a:xfrm>
              <a:off x="1123950" y="1885950"/>
              <a:ext cx="800100" cy="800100"/>
            </a:xfrm>
            <a:prstGeom prst="ellipse">
              <a:avLst/>
            </a:prstGeom>
            <a:solidFill>
              <a:srgbClr val="1D5B8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431831" y="2186940"/>
              <a:ext cx="18433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723900" y="3143250"/>
              <a:ext cx="1619250" cy="1676400"/>
            </a:xfrm>
            <a:prstGeom prst="roundRect">
              <a:avLst>
                <a:gd name="adj" fmla="val 10588"/>
              </a:avLst>
            </a:prstGeom>
            <a:solidFill>
              <a:srgbClr val="FFFFFF"/>
            </a:solidFill>
            <a:ln w="19050">
              <a:solidFill>
                <a:srgbClr val="CFE1EA"/>
              </a:solidFill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1390649" y="3424238"/>
              <a:ext cx="266703" cy="333376"/>
              <a:chOff x="1390649" y="3424238"/>
              <a:chExt cx="266703" cy="333376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1390649" y="3424238"/>
                <a:ext cx="266703" cy="333376"/>
              </a:xfrm>
              <a:custGeom>
                <a:avLst/>
                <a:gdLst/>
                <a:ahLst/>
                <a:cxnLst/>
                <a:rect l="l" t="t" r="r" b="b"/>
                <a:pathLst>
                  <a:path w="266703" h="333376">
                    <a:moveTo>
                      <a:pt x="133351" y="0"/>
                    </a:moveTo>
                    <a:lnTo>
                      <a:pt x="135302" y="117"/>
                    </a:lnTo>
                    <a:cubicBezTo>
                      <a:pt x="142961" y="1020"/>
                      <a:pt x="149000" y="7059"/>
                      <a:pt x="149904" y="14719"/>
                    </a:cubicBezTo>
                    <a:lnTo>
                      <a:pt x="150020" y="16669"/>
                    </a:lnTo>
                    <a:lnTo>
                      <a:pt x="150020" y="83344"/>
                    </a:lnTo>
                    <a:lnTo>
                      <a:pt x="150104" y="85844"/>
                    </a:lnTo>
                    <a:cubicBezTo>
                      <a:pt x="151336" y="102244"/>
                      <a:pt x="164345" y="115295"/>
                      <a:pt x="180741" y="116581"/>
                    </a:cubicBezTo>
                    <a:lnTo>
                      <a:pt x="183358" y="116681"/>
                    </a:lnTo>
                    <a:lnTo>
                      <a:pt x="250033" y="116681"/>
                    </a:lnTo>
                    <a:lnTo>
                      <a:pt x="251983" y="116798"/>
                    </a:lnTo>
                    <a:cubicBezTo>
                      <a:pt x="259642" y="117701"/>
                      <a:pt x="265682" y="123741"/>
                      <a:pt x="266585" y="131400"/>
                    </a:cubicBezTo>
                    <a:lnTo>
                      <a:pt x="266701" y="133350"/>
                    </a:lnTo>
                    <a:lnTo>
                      <a:pt x="266701" y="283369"/>
                    </a:lnTo>
                    <a:cubicBezTo>
                      <a:pt x="266703" y="309848"/>
                      <a:pt x="246063" y="331738"/>
                      <a:pt x="219629" y="333292"/>
                    </a:cubicBezTo>
                    <a:lnTo>
                      <a:pt x="216695" y="333375"/>
                    </a:lnTo>
                    <a:lnTo>
                      <a:pt x="50008" y="333375"/>
                    </a:lnTo>
                    <a:cubicBezTo>
                      <a:pt x="23528" y="333376"/>
                      <a:pt x="1638" y="312736"/>
                      <a:pt x="85" y="286302"/>
                    </a:cubicBezTo>
                    <a:lnTo>
                      <a:pt x="1" y="283369"/>
                    </a:lnTo>
                    <a:lnTo>
                      <a:pt x="1" y="50006"/>
                    </a:lnTo>
                    <a:cubicBezTo>
                      <a:pt x="0" y="23527"/>
                      <a:pt x="20640" y="1637"/>
                      <a:pt x="47074" y="83"/>
                    </a:cubicBezTo>
                    <a:lnTo>
                      <a:pt x="50008" y="0"/>
                    </a:lnTo>
                    <a:close/>
                    <a:moveTo>
                      <a:pt x="140802" y="151786"/>
                    </a:moveTo>
                    <a:cubicBezTo>
                      <a:pt x="135637" y="149204"/>
                      <a:pt x="129503" y="149481"/>
                      <a:pt x="124590" y="152516"/>
                    </a:cubicBezTo>
                    <a:cubicBezTo>
                      <a:pt x="119678" y="155551"/>
                      <a:pt x="116686" y="160913"/>
                      <a:pt x="116683" y="166688"/>
                    </a:cubicBezTo>
                    <a:lnTo>
                      <a:pt x="116683" y="216694"/>
                    </a:lnTo>
                    <a:cubicBezTo>
                      <a:pt x="99237" y="216688"/>
                      <a:pt x="84737" y="230134"/>
                      <a:pt x="83429" y="247531"/>
                    </a:cubicBezTo>
                    <a:lnTo>
                      <a:pt x="83345" y="250031"/>
                    </a:lnTo>
                    <a:cubicBezTo>
                      <a:pt x="83345" y="268443"/>
                      <a:pt x="98271" y="283369"/>
                      <a:pt x="116683" y="283369"/>
                    </a:cubicBezTo>
                    <a:cubicBezTo>
                      <a:pt x="135095" y="283369"/>
                      <a:pt x="150020" y="268443"/>
                      <a:pt x="150020" y="250031"/>
                    </a:cubicBezTo>
                    <a:lnTo>
                      <a:pt x="150020" y="193658"/>
                    </a:lnTo>
                    <a:lnTo>
                      <a:pt x="159238" y="198258"/>
                    </a:lnTo>
                    <a:cubicBezTo>
                      <a:pt x="167413" y="202035"/>
                      <a:pt x="177110" y="198635"/>
                      <a:pt x="181137" y="190580"/>
                    </a:cubicBezTo>
                    <a:cubicBezTo>
                      <a:pt x="185165" y="182526"/>
                      <a:pt x="182066" y="172729"/>
                      <a:pt x="174140" y="168454"/>
                    </a:cubicBezTo>
                    <a:close/>
                  </a:path>
                </a:pathLst>
              </a:custGeom>
              <a:solidFill>
                <a:srgbClr val="1D5B8F"/>
              </a:solidFill>
              <a:ln>
                <a:noFill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573990" y="3440890"/>
                <a:ext cx="66692" cy="66692"/>
              </a:xfrm>
              <a:custGeom>
                <a:avLst/>
                <a:gdLst/>
                <a:ahLst/>
                <a:cxnLst/>
                <a:rect l="l" t="t" r="r" b="b"/>
                <a:pathLst>
                  <a:path w="66692" h="66692">
                    <a:moveTo>
                      <a:pt x="66692" y="66692"/>
                    </a:moveTo>
                    <a:lnTo>
                      <a:pt x="17" y="666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D5B8F"/>
              </a:solidFill>
              <a:ln>
                <a:noFill/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1072467" y="3887629"/>
              <a:ext cx="922115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75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导入音频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94172" y="4279106"/>
              <a:ext cx="10787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确认素材可播放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533650" y="1885950"/>
            <a:ext cx="1619250" cy="2933700"/>
            <a:chOff x="2533650" y="1885950"/>
            <a:chExt cx="1619250" cy="2933700"/>
          </a:xfrm>
        </p:grpSpPr>
        <p:sp>
          <p:nvSpPr>
            <p:cNvPr id="17" name="Ellipse 17"/>
            <p:cNvSpPr/>
            <p:nvPr/>
          </p:nvSpPr>
          <p:spPr>
            <a:xfrm>
              <a:off x="2933700" y="1885950"/>
              <a:ext cx="800100" cy="800100"/>
            </a:xfrm>
            <a:prstGeom prst="ellipse">
              <a:avLst/>
            </a:prstGeom>
            <a:solidFill>
              <a:srgbClr val="18A999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241581" y="2186940"/>
              <a:ext cx="18433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2533650" y="3143250"/>
              <a:ext cx="1619250" cy="1676400"/>
            </a:xfrm>
            <a:prstGeom prst="roundRect">
              <a:avLst>
                <a:gd name="adj" fmla="val 10588"/>
              </a:avLst>
            </a:prstGeom>
            <a:solidFill>
              <a:srgbClr val="FFFFFF"/>
            </a:solidFill>
            <a:ln w="19050">
              <a:solidFill>
                <a:srgbClr val="CFE1EA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3200396" y="3424238"/>
              <a:ext cx="266707" cy="333375"/>
            </a:xfrm>
            <a:custGeom>
              <a:avLst/>
              <a:gdLst/>
              <a:ahLst/>
              <a:cxnLst/>
              <a:rect l="l" t="t" r="r" b="b"/>
              <a:pathLst>
                <a:path w="266707" h="333375">
                  <a:moveTo>
                    <a:pt x="233316" y="36171"/>
                  </a:moveTo>
                  <a:cubicBezTo>
                    <a:pt x="253325" y="43221"/>
                    <a:pt x="266707" y="62129"/>
                    <a:pt x="266704" y="83344"/>
                  </a:cubicBezTo>
                  <a:lnTo>
                    <a:pt x="266704" y="283369"/>
                  </a:lnTo>
                  <a:cubicBezTo>
                    <a:pt x="266704" y="310986"/>
                    <a:pt x="244315" y="333375"/>
                    <a:pt x="216697" y="333375"/>
                  </a:cubicBezTo>
                  <a:lnTo>
                    <a:pt x="50010" y="333375"/>
                  </a:lnTo>
                  <a:cubicBezTo>
                    <a:pt x="22392" y="333375"/>
                    <a:pt x="4" y="310986"/>
                    <a:pt x="4" y="283369"/>
                  </a:cubicBezTo>
                  <a:lnTo>
                    <a:pt x="4" y="83344"/>
                  </a:lnTo>
                  <a:cubicBezTo>
                    <a:pt x="0" y="62129"/>
                    <a:pt x="13383" y="43221"/>
                    <a:pt x="33391" y="36171"/>
                  </a:cubicBezTo>
                  <a:cubicBezTo>
                    <a:pt x="34909" y="71864"/>
                    <a:pt x="64291" y="100018"/>
                    <a:pt x="100016" y="100012"/>
                  </a:cubicBezTo>
                  <a:lnTo>
                    <a:pt x="166691" y="100012"/>
                  </a:lnTo>
                  <a:cubicBezTo>
                    <a:pt x="200916" y="100016"/>
                    <a:pt x="229585" y="74106"/>
                    <a:pt x="233033" y="40055"/>
                  </a:cubicBezTo>
                  <a:close/>
                  <a:moveTo>
                    <a:pt x="83514" y="216694"/>
                  </a:moveTo>
                  <a:lnTo>
                    <a:pt x="83347" y="216694"/>
                  </a:lnTo>
                  <a:cubicBezTo>
                    <a:pt x="74528" y="216704"/>
                    <a:pt x="67243" y="223581"/>
                    <a:pt x="66726" y="232386"/>
                  </a:cubicBezTo>
                  <a:cubicBezTo>
                    <a:pt x="66209" y="241190"/>
                    <a:pt x="72640" y="248873"/>
                    <a:pt x="81397" y="249915"/>
                  </a:cubicBezTo>
                  <a:lnTo>
                    <a:pt x="83514" y="250031"/>
                  </a:lnTo>
                  <a:cubicBezTo>
                    <a:pt x="92720" y="250031"/>
                    <a:pt x="100183" y="242568"/>
                    <a:pt x="100183" y="233362"/>
                  </a:cubicBezTo>
                  <a:cubicBezTo>
                    <a:pt x="100183" y="224157"/>
                    <a:pt x="92720" y="216694"/>
                    <a:pt x="83514" y="216694"/>
                  </a:cubicBezTo>
                  <a:moveTo>
                    <a:pt x="183360" y="216694"/>
                  </a:moveTo>
                  <a:lnTo>
                    <a:pt x="150022" y="216694"/>
                  </a:lnTo>
                  <a:cubicBezTo>
                    <a:pt x="140816" y="216694"/>
                    <a:pt x="133354" y="224157"/>
                    <a:pt x="133354" y="233362"/>
                  </a:cubicBezTo>
                  <a:cubicBezTo>
                    <a:pt x="133354" y="242568"/>
                    <a:pt x="140816" y="250031"/>
                    <a:pt x="150022" y="250031"/>
                  </a:cubicBezTo>
                  <a:lnTo>
                    <a:pt x="183360" y="250031"/>
                  </a:lnTo>
                  <a:cubicBezTo>
                    <a:pt x="192566" y="250031"/>
                    <a:pt x="200029" y="242568"/>
                    <a:pt x="200029" y="233362"/>
                  </a:cubicBezTo>
                  <a:cubicBezTo>
                    <a:pt x="200029" y="224157"/>
                    <a:pt x="192566" y="216694"/>
                    <a:pt x="183360" y="216694"/>
                  </a:cubicBezTo>
                  <a:moveTo>
                    <a:pt x="83514" y="150019"/>
                  </a:moveTo>
                  <a:lnTo>
                    <a:pt x="83347" y="150019"/>
                  </a:lnTo>
                  <a:cubicBezTo>
                    <a:pt x="74528" y="150029"/>
                    <a:pt x="67243" y="156906"/>
                    <a:pt x="66726" y="165711"/>
                  </a:cubicBezTo>
                  <a:cubicBezTo>
                    <a:pt x="66209" y="174515"/>
                    <a:pt x="72640" y="182198"/>
                    <a:pt x="81397" y="183240"/>
                  </a:cubicBezTo>
                  <a:lnTo>
                    <a:pt x="83514" y="183356"/>
                  </a:lnTo>
                  <a:cubicBezTo>
                    <a:pt x="92720" y="183356"/>
                    <a:pt x="100183" y="175893"/>
                    <a:pt x="100183" y="166688"/>
                  </a:cubicBezTo>
                  <a:cubicBezTo>
                    <a:pt x="100183" y="157482"/>
                    <a:pt x="92720" y="150019"/>
                    <a:pt x="83514" y="150019"/>
                  </a:cubicBezTo>
                  <a:moveTo>
                    <a:pt x="183360" y="150019"/>
                  </a:moveTo>
                  <a:lnTo>
                    <a:pt x="150022" y="150019"/>
                  </a:lnTo>
                  <a:cubicBezTo>
                    <a:pt x="140816" y="150019"/>
                    <a:pt x="133354" y="157482"/>
                    <a:pt x="133354" y="166688"/>
                  </a:cubicBezTo>
                  <a:cubicBezTo>
                    <a:pt x="133354" y="175893"/>
                    <a:pt x="140816" y="183356"/>
                    <a:pt x="150022" y="183356"/>
                  </a:cubicBezTo>
                  <a:lnTo>
                    <a:pt x="183360" y="183356"/>
                  </a:lnTo>
                  <a:cubicBezTo>
                    <a:pt x="192566" y="183356"/>
                    <a:pt x="200029" y="175893"/>
                    <a:pt x="200029" y="166688"/>
                  </a:cubicBezTo>
                  <a:cubicBezTo>
                    <a:pt x="200029" y="157482"/>
                    <a:pt x="192566" y="150019"/>
                    <a:pt x="183360" y="150019"/>
                  </a:cubicBezTo>
                  <a:moveTo>
                    <a:pt x="166691" y="0"/>
                  </a:moveTo>
                  <a:cubicBezTo>
                    <a:pt x="185103" y="0"/>
                    <a:pt x="200029" y="14926"/>
                    <a:pt x="200029" y="33338"/>
                  </a:cubicBezTo>
                  <a:cubicBezTo>
                    <a:pt x="200029" y="51749"/>
                    <a:pt x="185103" y="66675"/>
                    <a:pt x="166691" y="66675"/>
                  </a:cubicBezTo>
                  <a:lnTo>
                    <a:pt x="100016" y="66675"/>
                  </a:lnTo>
                  <a:cubicBezTo>
                    <a:pt x="81604" y="66675"/>
                    <a:pt x="66679" y="51749"/>
                    <a:pt x="66679" y="33338"/>
                  </a:cubicBezTo>
                  <a:cubicBezTo>
                    <a:pt x="66679" y="14926"/>
                    <a:pt x="81604" y="0"/>
                    <a:pt x="100016" y="0"/>
                  </a:cubicBezTo>
                  <a:close/>
                </a:path>
              </a:pathLst>
            </a:custGeom>
            <a:solidFill>
              <a:srgbClr val="18A999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755414" y="3887629"/>
              <a:ext cx="1175722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75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建TextGrid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803922" y="4279106"/>
              <a:ext cx="10787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先搭好多层结构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4343400" y="1885950"/>
            <a:ext cx="1619250" cy="2933700"/>
            <a:chOff x="4343400" y="1885950"/>
            <a:chExt cx="1619250" cy="2933700"/>
          </a:xfrm>
        </p:grpSpPr>
        <p:sp>
          <p:nvSpPr>
            <p:cNvPr id="24" name="Ellipse 24"/>
            <p:cNvSpPr/>
            <p:nvPr/>
          </p:nvSpPr>
          <p:spPr>
            <a:xfrm>
              <a:off x="4743450" y="1885950"/>
              <a:ext cx="800100" cy="800100"/>
            </a:xfrm>
            <a:prstGeom prst="ellipse">
              <a:avLst/>
            </a:prstGeom>
            <a:solidFill>
              <a:srgbClr val="1D5B8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051331" y="2186940"/>
              <a:ext cx="18433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4343400" y="3143250"/>
              <a:ext cx="1619250" cy="1676400"/>
            </a:xfrm>
            <a:prstGeom prst="roundRect">
              <a:avLst>
                <a:gd name="adj" fmla="val 10588"/>
              </a:avLst>
            </a:prstGeom>
            <a:solidFill>
              <a:srgbClr val="FFFFFF"/>
            </a:solidFill>
            <a:ln w="19050">
              <a:solidFill>
                <a:srgbClr val="CFE1EA"/>
              </a:solidFill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4983714" y="3447617"/>
              <a:ext cx="309804" cy="278281"/>
              <a:chOff x="4983714" y="3447617"/>
              <a:chExt cx="309804" cy="278281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4983714" y="3447617"/>
                <a:ext cx="103069" cy="78256"/>
              </a:xfrm>
              <a:custGeom>
                <a:avLst/>
                <a:gdLst/>
                <a:ahLst/>
                <a:cxnLst/>
                <a:rect l="l" t="t" r="r" b="b"/>
                <a:pathLst>
                  <a:path w="103069" h="78256">
                    <a:moveTo>
                      <a:pt x="96562" y="6507"/>
                    </a:moveTo>
                    <a:cubicBezTo>
                      <a:pt x="103069" y="13016"/>
                      <a:pt x="103069" y="23568"/>
                      <a:pt x="96562" y="30077"/>
                    </a:cubicBezTo>
                    <a:lnTo>
                      <a:pt x="54890" y="71749"/>
                    </a:lnTo>
                    <a:cubicBezTo>
                      <a:pt x="48381" y="78256"/>
                      <a:pt x="37829" y="78256"/>
                      <a:pt x="31320" y="71749"/>
                    </a:cubicBezTo>
                    <a:lnTo>
                      <a:pt x="6317" y="46746"/>
                    </a:lnTo>
                    <a:cubicBezTo>
                      <a:pt x="0" y="40205"/>
                      <a:pt x="90" y="29809"/>
                      <a:pt x="6520" y="23379"/>
                    </a:cubicBezTo>
                    <a:cubicBezTo>
                      <a:pt x="12950" y="16949"/>
                      <a:pt x="23346" y="16859"/>
                      <a:pt x="29887" y="23176"/>
                    </a:cubicBezTo>
                    <a:lnTo>
                      <a:pt x="43105" y="36394"/>
                    </a:lnTo>
                    <a:lnTo>
                      <a:pt x="72992" y="6507"/>
                    </a:lnTo>
                    <a:cubicBezTo>
                      <a:pt x="79501" y="0"/>
                      <a:pt x="90052" y="0"/>
                      <a:pt x="96562" y="6507"/>
                    </a:cubicBezTo>
                  </a:path>
                </a:pathLst>
              </a:custGeom>
              <a:solidFill>
                <a:srgbClr val="1D5B8F"/>
              </a:solidFill>
              <a:ln>
                <a:noFill/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4983714" y="3547630"/>
                <a:ext cx="103069" cy="78256"/>
              </a:xfrm>
              <a:custGeom>
                <a:avLst/>
                <a:gdLst/>
                <a:ahLst/>
                <a:cxnLst/>
                <a:rect l="l" t="t" r="r" b="b"/>
                <a:pathLst>
                  <a:path w="103069" h="78256">
                    <a:moveTo>
                      <a:pt x="96562" y="6507"/>
                    </a:moveTo>
                    <a:cubicBezTo>
                      <a:pt x="103069" y="13016"/>
                      <a:pt x="103069" y="23568"/>
                      <a:pt x="96562" y="30077"/>
                    </a:cubicBezTo>
                    <a:lnTo>
                      <a:pt x="54890" y="71749"/>
                    </a:lnTo>
                    <a:cubicBezTo>
                      <a:pt x="48381" y="78256"/>
                      <a:pt x="37829" y="78256"/>
                      <a:pt x="31320" y="71749"/>
                    </a:cubicBezTo>
                    <a:lnTo>
                      <a:pt x="6317" y="46746"/>
                    </a:lnTo>
                    <a:cubicBezTo>
                      <a:pt x="0" y="40205"/>
                      <a:pt x="90" y="29809"/>
                      <a:pt x="6520" y="23379"/>
                    </a:cubicBezTo>
                    <a:cubicBezTo>
                      <a:pt x="12950" y="16949"/>
                      <a:pt x="23346" y="16859"/>
                      <a:pt x="29887" y="23176"/>
                    </a:cubicBezTo>
                    <a:lnTo>
                      <a:pt x="43105" y="36394"/>
                    </a:lnTo>
                    <a:lnTo>
                      <a:pt x="72992" y="6507"/>
                    </a:lnTo>
                    <a:cubicBezTo>
                      <a:pt x="79501" y="0"/>
                      <a:pt x="90052" y="0"/>
                      <a:pt x="96562" y="6507"/>
                    </a:cubicBezTo>
                  </a:path>
                </a:pathLst>
              </a:custGeom>
              <a:solidFill>
                <a:srgbClr val="1D5B8F"/>
              </a:solidFill>
              <a:ln>
                <a:noFill/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4983714" y="3647642"/>
                <a:ext cx="103069" cy="78256"/>
              </a:xfrm>
              <a:custGeom>
                <a:avLst/>
                <a:gdLst/>
                <a:ahLst/>
                <a:cxnLst/>
                <a:rect l="l" t="t" r="r" b="b"/>
                <a:pathLst>
                  <a:path w="103069" h="78256">
                    <a:moveTo>
                      <a:pt x="96562" y="6507"/>
                    </a:moveTo>
                    <a:cubicBezTo>
                      <a:pt x="103069" y="13016"/>
                      <a:pt x="103069" y="23568"/>
                      <a:pt x="96562" y="30077"/>
                    </a:cubicBezTo>
                    <a:lnTo>
                      <a:pt x="54890" y="71749"/>
                    </a:lnTo>
                    <a:cubicBezTo>
                      <a:pt x="48381" y="78256"/>
                      <a:pt x="37829" y="78256"/>
                      <a:pt x="31320" y="71749"/>
                    </a:cubicBezTo>
                    <a:lnTo>
                      <a:pt x="6317" y="46746"/>
                    </a:lnTo>
                    <a:cubicBezTo>
                      <a:pt x="0" y="40205"/>
                      <a:pt x="90" y="29809"/>
                      <a:pt x="6520" y="23379"/>
                    </a:cubicBezTo>
                    <a:cubicBezTo>
                      <a:pt x="12950" y="16949"/>
                      <a:pt x="23346" y="16859"/>
                      <a:pt x="29887" y="23176"/>
                    </a:cubicBezTo>
                    <a:lnTo>
                      <a:pt x="43105" y="36394"/>
                    </a:lnTo>
                    <a:lnTo>
                      <a:pt x="72992" y="6507"/>
                    </a:lnTo>
                    <a:cubicBezTo>
                      <a:pt x="79501" y="0"/>
                      <a:pt x="90052" y="0"/>
                      <a:pt x="96562" y="6507"/>
                    </a:cubicBezTo>
                  </a:path>
                </a:pathLst>
              </a:custGeom>
              <a:solidFill>
                <a:srgbClr val="1D5B8F"/>
              </a:solidFill>
              <a:ln>
                <a:noFill/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5110162" y="3474244"/>
                <a:ext cx="183356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183356" h="33338">
                    <a:moveTo>
                      <a:pt x="183356" y="16669"/>
                    </a:moveTo>
                    <a:cubicBezTo>
                      <a:pt x="183356" y="25875"/>
                      <a:pt x="175893" y="33338"/>
                      <a:pt x="166688" y="33338"/>
                    </a:cubicBezTo>
                    <a:lnTo>
                      <a:pt x="16669" y="33338"/>
                    </a:lnTo>
                    <a:cubicBezTo>
                      <a:pt x="7463" y="33338"/>
                      <a:pt x="0" y="25875"/>
                      <a:pt x="0" y="16669"/>
                    </a:cubicBezTo>
                    <a:cubicBezTo>
                      <a:pt x="0" y="7463"/>
                      <a:pt x="7463" y="0"/>
                      <a:pt x="16669" y="0"/>
                    </a:cubicBezTo>
                    <a:lnTo>
                      <a:pt x="166688" y="0"/>
                    </a:lnTo>
                    <a:cubicBezTo>
                      <a:pt x="175893" y="0"/>
                      <a:pt x="183356" y="7463"/>
                      <a:pt x="183356" y="16669"/>
                    </a:cubicBezTo>
                  </a:path>
                </a:pathLst>
              </a:custGeom>
              <a:solidFill>
                <a:srgbClr val="1D5B8F"/>
              </a:solidFill>
              <a:ln>
                <a:noFill/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5110162" y="3574256"/>
                <a:ext cx="183356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183356" h="33338">
                    <a:moveTo>
                      <a:pt x="183356" y="16669"/>
                    </a:moveTo>
                    <a:cubicBezTo>
                      <a:pt x="183356" y="25875"/>
                      <a:pt x="175893" y="33338"/>
                      <a:pt x="166688" y="33338"/>
                    </a:cubicBezTo>
                    <a:lnTo>
                      <a:pt x="16669" y="33338"/>
                    </a:lnTo>
                    <a:cubicBezTo>
                      <a:pt x="7463" y="33338"/>
                      <a:pt x="0" y="25875"/>
                      <a:pt x="0" y="16669"/>
                    </a:cubicBezTo>
                    <a:cubicBezTo>
                      <a:pt x="0" y="7463"/>
                      <a:pt x="7463" y="0"/>
                      <a:pt x="16669" y="0"/>
                    </a:cubicBezTo>
                    <a:lnTo>
                      <a:pt x="166688" y="0"/>
                    </a:lnTo>
                    <a:cubicBezTo>
                      <a:pt x="175893" y="0"/>
                      <a:pt x="183356" y="7463"/>
                      <a:pt x="183356" y="16669"/>
                    </a:cubicBezTo>
                  </a:path>
                </a:pathLst>
              </a:custGeom>
              <a:solidFill>
                <a:srgbClr val="1D5B8F"/>
              </a:solidFill>
              <a:ln>
                <a:noFill/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5110162" y="3674269"/>
                <a:ext cx="183356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183356" h="33338">
                    <a:moveTo>
                      <a:pt x="183356" y="16669"/>
                    </a:moveTo>
                    <a:cubicBezTo>
                      <a:pt x="183356" y="25875"/>
                      <a:pt x="175893" y="33338"/>
                      <a:pt x="166688" y="33338"/>
                    </a:cubicBezTo>
                    <a:lnTo>
                      <a:pt x="16669" y="33338"/>
                    </a:lnTo>
                    <a:cubicBezTo>
                      <a:pt x="7463" y="33338"/>
                      <a:pt x="0" y="25875"/>
                      <a:pt x="0" y="16669"/>
                    </a:cubicBezTo>
                    <a:cubicBezTo>
                      <a:pt x="0" y="7463"/>
                      <a:pt x="7463" y="0"/>
                      <a:pt x="16669" y="0"/>
                    </a:cubicBezTo>
                    <a:lnTo>
                      <a:pt x="166688" y="0"/>
                    </a:lnTo>
                    <a:cubicBezTo>
                      <a:pt x="175893" y="0"/>
                      <a:pt x="183356" y="7463"/>
                      <a:pt x="183356" y="16669"/>
                    </a:cubicBezTo>
                  </a:path>
                </a:pathLst>
              </a:custGeom>
              <a:solidFill>
                <a:srgbClr val="1D5B8F"/>
              </a:solidFill>
              <a:ln>
                <a:noFill/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4691967" y="3887629"/>
              <a:ext cx="922115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75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设置层级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516160" y="4279106"/>
              <a:ext cx="12737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内容 / 角色 / 事件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153150" y="1885950"/>
            <a:ext cx="1619250" cy="2933700"/>
            <a:chOff x="6153150" y="1885950"/>
            <a:chExt cx="1619250" cy="2933700"/>
          </a:xfrm>
        </p:grpSpPr>
        <p:sp>
          <p:nvSpPr>
            <p:cNvPr id="37" name="Ellipse 37"/>
            <p:cNvSpPr/>
            <p:nvPr/>
          </p:nvSpPr>
          <p:spPr>
            <a:xfrm>
              <a:off x="6553200" y="1885950"/>
              <a:ext cx="800100" cy="800100"/>
            </a:xfrm>
            <a:prstGeom prst="ellipse">
              <a:avLst/>
            </a:prstGeom>
            <a:solidFill>
              <a:srgbClr val="18A999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861081" y="2186940"/>
              <a:ext cx="18433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4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153150" y="3143250"/>
              <a:ext cx="1619250" cy="1676400"/>
            </a:xfrm>
            <a:prstGeom prst="roundRect">
              <a:avLst>
                <a:gd name="adj" fmla="val 10588"/>
              </a:avLst>
            </a:prstGeom>
            <a:solidFill>
              <a:srgbClr val="FFFFFF"/>
            </a:solidFill>
            <a:ln w="19050">
              <a:solidFill>
                <a:srgbClr val="CFE1EA"/>
              </a:solidFill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6819899" y="3424238"/>
              <a:ext cx="266703" cy="333376"/>
              <a:chOff x="6819899" y="3424238"/>
              <a:chExt cx="266703" cy="333376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6819899" y="3424238"/>
                <a:ext cx="266703" cy="333376"/>
              </a:xfrm>
              <a:custGeom>
                <a:avLst/>
                <a:gdLst/>
                <a:ahLst/>
                <a:cxnLst/>
                <a:rect l="l" t="t" r="r" b="b"/>
                <a:pathLst>
                  <a:path w="266703" h="333376">
                    <a:moveTo>
                      <a:pt x="133351" y="0"/>
                    </a:moveTo>
                    <a:lnTo>
                      <a:pt x="135302" y="117"/>
                    </a:lnTo>
                    <a:cubicBezTo>
                      <a:pt x="142961" y="1020"/>
                      <a:pt x="149000" y="7059"/>
                      <a:pt x="149904" y="14719"/>
                    </a:cubicBezTo>
                    <a:lnTo>
                      <a:pt x="150020" y="16669"/>
                    </a:lnTo>
                    <a:lnTo>
                      <a:pt x="150020" y="83344"/>
                    </a:lnTo>
                    <a:lnTo>
                      <a:pt x="150104" y="85844"/>
                    </a:lnTo>
                    <a:cubicBezTo>
                      <a:pt x="151336" y="102244"/>
                      <a:pt x="164345" y="115295"/>
                      <a:pt x="180741" y="116581"/>
                    </a:cubicBezTo>
                    <a:lnTo>
                      <a:pt x="183358" y="116681"/>
                    </a:lnTo>
                    <a:lnTo>
                      <a:pt x="250033" y="116681"/>
                    </a:lnTo>
                    <a:lnTo>
                      <a:pt x="251983" y="116798"/>
                    </a:lnTo>
                    <a:cubicBezTo>
                      <a:pt x="259642" y="117701"/>
                      <a:pt x="265682" y="123741"/>
                      <a:pt x="266585" y="131400"/>
                    </a:cubicBezTo>
                    <a:lnTo>
                      <a:pt x="266701" y="133350"/>
                    </a:lnTo>
                    <a:lnTo>
                      <a:pt x="266701" y="283369"/>
                    </a:lnTo>
                    <a:cubicBezTo>
                      <a:pt x="266703" y="309848"/>
                      <a:pt x="246063" y="331738"/>
                      <a:pt x="219629" y="333292"/>
                    </a:cubicBezTo>
                    <a:lnTo>
                      <a:pt x="216695" y="333375"/>
                    </a:lnTo>
                    <a:lnTo>
                      <a:pt x="50008" y="333375"/>
                    </a:lnTo>
                    <a:cubicBezTo>
                      <a:pt x="23528" y="333376"/>
                      <a:pt x="1638" y="312736"/>
                      <a:pt x="85" y="286302"/>
                    </a:cubicBezTo>
                    <a:lnTo>
                      <a:pt x="1" y="283369"/>
                    </a:lnTo>
                    <a:lnTo>
                      <a:pt x="1" y="50006"/>
                    </a:lnTo>
                    <a:cubicBezTo>
                      <a:pt x="0" y="23527"/>
                      <a:pt x="20640" y="1637"/>
                      <a:pt x="47074" y="83"/>
                    </a:cubicBezTo>
                    <a:lnTo>
                      <a:pt x="50008" y="0"/>
                    </a:lnTo>
                    <a:close/>
                    <a:moveTo>
                      <a:pt x="95130" y="154903"/>
                    </a:moveTo>
                    <a:cubicBezTo>
                      <a:pt x="90945" y="150570"/>
                      <a:pt x="84747" y="148832"/>
                      <a:pt x="78920" y="150357"/>
                    </a:cubicBezTo>
                    <a:cubicBezTo>
                      <a:pt x="73092" y="151883"/>
                      <a:pt x="68540" y="156434"/>
                      <a:pt x="67015" y="162262"/>
                    </a:cubicBezTo>
                    <a:cubicBezTo>
                      <a:pt x="65489" y="168090"/>
                      <a:pt x="67227" y="174287"/>
                      <a:pt x="71560" y="178472"/>
                    </a:cubicBezTo>
                    <a:lnTo>
                      <a:pt x="109765" y="216694"/>
                    </a:lnTo>
                    <a:lnTo>
                      <a:pt x="91963" y="234479"/>
                    </a:lnTo>
                    <a:cubicBezTo>
                      <a:pt x="82371" y="231929"/>
                      <a:pt x="72142" y="233778"/>
                      <a:pt x="64050" y="239524"/>
                    </a:cubicBezTo>
                    <a:cubicBezTo>
                      <a:pt x="55959" y="245271"/>
                      <a:pt x="50843" y="254320"/>
                      <a:pt x="50091" y="264216"/>
                    </a:cubicBezTo>
                    <a:lnTo>
                      <a:pt x="50008" y="266700"/>
                    </a:lnTo>
                    <a:cubicBezTo>
                      <a:pt x="50025" y="279642"/>
                      <a:pt x="57531" y="291404"/>
                      <a:pt x="69261" y="296872"/>
                    </a:cubicBezTo>
                    <a:cubicBezTo>
                      <a:pt x="80991" y="302339"/>
                      <a:pt x="94825" y="300524"/>
                      <a:pt x="104748" y="292216"/>
                    </a:cubicBezTo>
                    <a:cubicBezTo>
                      <a:pt x="114670" y="283907"/>
                      <a:pt x="118888" y="270607"/>
                      <a:pt x="115566" y="258099"/>
                    </a:cubicBezTo>
                    <a:lnTo>
                      <a:pt x="133351" y="240280"/>
                    </a:lnTo>
                    <a:lnTo>
                      <a:pt x="151137" y="258082"/>
                    </a:lnTo>
                    <a:cubicBezTo>
                      <a:pt x="150602" y="260090"/>
                      <a:pt x="150256" y="262144"/>
                      <a:pt x="150104" y="264216"/>
                    </a:cubicBezTo>
                    <a:lnTo>
                      <a:pt x="150020" y="266700"/>
                    </a:lnTo>
                    <a:cubicBezTo>
                      <a:pt x="150025" y="280978"/>
                      <a:pt x="159123" y="293668"/>
                      <a:pt x="172643" y="298257"/>
                    </a:cubicBezTo>
                    <a:cubicBezTo>
                      <a:pt x="186164" y="302846"/>
                      <a:pt x="201106" y="298315"/>
                      <a:pt x="209801" y="286989"/>
                    </a:cubicBezTo>
                    <a:cubicBezTo>
                      <a:pt x="218496" y="275664"/>
                      <a:pt x="219013" y="260058"/>
                      <a:pt x="211087" y="248182"/>
                    </a:cubicBezTo>
                    <a:cubicBezTo>
                      <a:pt x="203161" y="236306"/>
                      <a:pt x="188552" y="230795"/>
                      <a:pt x="174757" y="234479"/>
                    </a:cubicBezTo>
                    <a:lnTo>
                      <a:pt x="156938" y="216694"/>
                    </a:lnTo>
                    <a:lnTo>
                      <a:pt x="195143" y="178472"/>
                    </a:lnTo>
                    <a:cubicBezTo>
                      <a:pt x="201460" y="171932"/>
                      <a:pt x="201369" y="161535"/>
                      <a:pt x="194939" y="155106"/>
                    </a:cubicBezTo>
                    <a:cubicBezTo>
                      <a:pt x="188510" y="148676"/>
                      <a:pt x="178113" y="148586"/>
                      <a:pt x="171573" y="154903"/>
                    </a:cubicBezTo>
                    <a:lnTo>
                      <a:pt x="133351" y="193107"/>
                    </a:lnTo>
                    <a:close/>
                  </a:path>
                </a:pathLst>
              </a:custGeom>
              <a:solidFill>
                <a:srgbClr val="18A999"/>
              </a:solidFill>
              <a:ln>
                <a:noFill/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7003240" y="3440890"/>
                <a:ext cx="66692" cy="66692"/>
              </a:xfrm>
              <a:custGeom>
                <a:avLst/>
                <a:gdLst/>
                <a:ahLst/>
                <a:cxnLst/>
                <a:rect l="l" t="t" r="r" b="b"/>
                <a:pathLst>
                  <a:path w="66692" h="66692">
                    <a:moveTo>
                      <a:pt x="66692" y="66692"/>
                    </a:moveTo>
                    <a:lnTo>
                      <a:pt x="17" y="666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8A999"/>
              </a:solidFill>
              <a:ln>
                <a:noFill/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6501717" y="3887629"/>
              <a:ext cx="922115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75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精确分割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412170" y="4279106"/>
              <a:ext cx="110120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听辨 + 波形定位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7962900" y="1885950"/>
            <a:ext cx="1619250" cy="2933700"/>
            <a:chOff x="7962900" y="1885950"/>
            <a:chExt cx="1619250" cy="2933700"/>
          </a:xfrm>
        </p:grpSpPr>
        <p:sp>
          <p:nvSpPr>
            <p:cNvPr id="46" name="Ellipse 46"/>
            <p:cNvSpPr/>
            <p:nvPr/>
          </p:nvSpPr>
          <p:spPr>
            <a:xfrm>
              <a:off x="8362950" y="1885950"/>
              <a:ext cx="800100" cy="800100"/>
            </a:xfrm>
            <a:prstGeom prst="ellipse">
              <a:avLst/>
            </a:prstGeom>
            <a:solidFill>
              <a:srgbClr val="1D5B8F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670831" y="2186940"/>
              <a:ext cx="18433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5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7962900" y="3143250"/>
              <a:ext cx="1619250" cy="1676400"/>
            </a:xfrm>
            <a:prstGeom prst="roundRect">
              <a:avLst>
                <a:gd name="adj" fmla="val 10588"/>
              </a:avLst>
            </a:prstGeom>
            <a:solidFill>
              <a:srgbClr val="FFFFFF"/>
            </a:solidFill>
            <a:ln w="19050">
              <a:solidFill>
                <a:srgbClr val="CFE1EA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8579644" y="3474244"/>
              <a:ext cx="366712" cy="233362"/>
            </a:xfrm>
            <a:custGeom>
              <a:avLst/>
              <a:gdLst/>
              <a:ahLst/>
              <a:cxnLst/>
              <a:rect l="l" t="t" r="r" b="b"/>
              <a:pathLst>
                <a:path w="366712" h="233362">
                  <a:moveTo>
                    <a:pt x="316706" y="0"/>
                  </a:moveTo>
                  <a:cubicBezTo>
                    <a:pt x="344324" y="0"/>
                    <a:pt x="366712" y="22389"/>
                    <a:pt x="366712" y="50006"/>
                  </a:cubicBezTo>
                  <a:lnTo>
                    <a:pt x="366712" y="183356"/>
                  </a:lnTo>
                  <a:cubicBezTo>
                    <a:pt x="366712" y="210974"/>
                    <a:pt x="344324" y="233362"/>
                    <a:pt x="316706" y="233362"/>
                  </a:cubicBezTo>
                  <a:lnTo>
                    <a:pt x="50006" y="233362"/>
                  </a:lnTo>
                  <a:cubicBezTo>
                    <a:pt x="22389" y="233362"/>
                    <a:pt x="0" y="210974"/>
                    <a:pt x="0" y="183356"/>
                  </a:cubicBezTo>
                  <a:lnTo>
                    <a:pt x="0" y="50006"/>
                  </a:lnTo>
                  <a:cubicBezTo>
                    <a:pt x="0" y="22389"/>
                    <a:pt x="22389" y="0"/>
                    <a:pt x="50006" y="0"/>
                  </a:cubicBezTo>
                  <a:close/>
                  <a:moveTo>
                    <a:pt x="83344" y="133350"/>
                  </a:moveTo>
                  <a:cubicBezTo>
                    <a:pt x="74138" y="133350"/>
                    <a:pt x="66675" y="140813"/>
                    <a:pt x="66675" y="150019"/>
                  </a:cubicBezTo>
                  <a:lnTo>
                    <a:pt x="66675" y="150185"/>
                  </a:lnTo>
                  <a:cubicBezTo>
                    <a:pt x="66675" y="159391"/>
                    <a:pt x="74138" y="166854"/>
                    <a:pt x="83344" y="166854"/>
                  </a:cubicBezTo>
                  <a:cubicBezTo>
                    <a:pt x="92550" y="166854"/>
                    <a:pt x="100012" y="159391"/>
                    <a:pt x="100012" y="150185"/>
                  </a:cubicBezTo>
                  <a:lnTo>
                    <a:pt x="100012" y="150019"/>
                  </a:lnTo>
                  <a:cubicBezTo>
                    <a:pt x="100012" y="140813"/>
                    <a:pt x="92550" y="133350"/>
                    <a:pt x="83344" y="133350"/>
                  </a:cubicBezTo>
                  <a:moveTo>
                    <a:pt x="283369" y="133350"/>
                  </a:moveTo>
                  <a:cubicBezTo>
                    <a:pt x="274163" y="133350"/>
                    <a:pt x="266700" y="140813"/>
                    <a:pt x="266700" y="150019"/>
                  </a:cubicBezTo>
                  <a:lnTo>
                    <a:pt x="266700" y="150185"/>
                  </a:lnTo>
                  <a:cubicBezTo>
                    <a:pt x="266700" y="159391"/>
                    <a:pt x="274163" y="166854"/>
                    <a:pt x="283369" y="166854"/>
                  </a:cubicBezTo>
                  <a:cubicBezTo>
                    <a:pt x="292575" y="166854"/>
                    <a:pt x="300038" y="159391"/>
                    <a:pt x="300038" y="150185"/>
                  </a:cubicBezTo>
                  <a:lnTo>
                    <a:pt x="300038" y="150019"/>
                  </a:lnTo>
                  <a:cubicBezTo>
                    <a:pt x="300038" y="140813"/>
                    <a:pt x="292575" y="133350"/>
                    <a:pt x="283369" y="133350"/>
                  </a:cubicBezTo>
                  <a:moveTo>
                    <a:pt x="150052" y="133350"/>
                  </a:moveTo>
                  <a:cubicBezTo>
                    <a:pt x="140846" y="133332"/>
                    <a:pt x="133368" y="140780"/>
                    <a:pt x="133350" y="149985"/>
                  </a:cubicBezTo>
                  <a:cubicBezTo>
                    <a:pt x="133332" y="159191"/>
                    <a:pt x="140780" y="166669"/>
                    <a:pt x="149985" y="166688"/>
                  </a:cubicBezTo>
                  <a:lnTo>
                    <a:pt x="216660" y="166854"/>
                  </a:lnTo>
                  <a:cubicBezTo>
                    <a:pt x="225866" y="166877"/>
                    <a:pt x="233348" y="159433"/>
                    <a:pt x="233371" y="150227"/>
                  </a:cubicBezTo>
                  <a:cubicBezTo>
                    <a:pt x="233394" y="141021"/>
                    <a:pt x="225950" y="133540"/>
                    <a:pt x="216744" y="133517"/>
                  </a:cubicBezTo>
                  <a:close/>
                  <a:moveTo>
                    <a:pt x="83344" y="66675"/>
                  </a:moveTo>
                  <a:cubicBezTo>
                    <a:pt x="74138" y="66675"/>
                    <a:pt x="66675" y="74138"/>
                    <a:pt x="66675" y="83344"/>
                  </a:cubicBezTo>
                  <a:lnTo>
                    <a:pt x="66675" y="83510"/>
                  </a:lnTo>
                  <a:cubicBezTo>
                    <a:pt x="66675" y="92716"/>
                    <a:pt x="74138" y="100179"/>
                    <a:pt x="83344" y="100179"/>
                  </a:cubicBezTo>
                  <a:cubicBezTo>
                    <a:pt x="92550" y="100179"/>
                    <a:pt x="100012" y="92716"/>
                    <a:pt x="100012" y="83510"/>
                  </a:cubicBezTo>
                  <a:lnTo>
                    <a:pt x="100012" y="83344"/>
                  </a:lnTo>
                  <a:cubicBezTo>
                    <a:pt x="100012" y="74138"/>
                    <a:pt x="92550" y="66675"/>
                    <a:pt x="83344" y="66675"/>
                  </a:cubicBezTo>
                  <a:moveTo>
                    <a:pt x="150019" y="66675"/>
                  </a:moveTo>
                  <a:cubicBezTo>
                    <a:pt x="140813" y="66675"/>
                    <a:pt x="133350" y="74138"/>
                    <a:pt x="133350" y="83344"/>
                  </a:cubicBezTo>
                  <a:lnTo>
                    <a:pt x="133350" y="83510"/>
                  </a:lnTo>
                  <a:cubicBezTo>
                    <a:pt x="133350" y="92716"/>
                    <a:pt x="140813" y="100179"/>
                    <a:pt x="150019" y="100179"/>
                  </a:cubicBezTo>
                  <a:cubicBezTo>
                    <a:pt x="159225" y="100179"/>
                    <a:pt x="166688" y="92716"/>
                    <a:pt x="166688" y="83510"/>
                  </a:cubicBezTo>
                  <a:lnTo>
                    <a:pt x="166688" y="83344"/>
                  </a:lnTo>
                  <a:cubicBezTo>
                    <a:pt x="166688" y="74138"/>
                    <a:pt x="159225" y="66675"/>
                    <a:pt x="150019" y="66675"/>
                  </a:cubicBezTo>
                  <a:moveTo>
                    <a:pt x="216694" y="66675"/>
                  </a:moveTo>
                  <a:cubicBezTo>
                    <a:pt x="207488" y="66675"/>
                    <a:pt x="200025" y="74138"/>
                    <a:pt x="200025" y="83344"/>
                  </a:cubicBezTo>
                  <a:lnTo>
                    <a:pt x="200025" y="83510"/>
                  </a:lnTo>
                  <a:cubicBezTo>
                    <a:pt x="200025" y="92716"/>
                    <a:pt x="207488" y="100179"/>
                    <a:pt x="216694" y="100179"/>
                  </a:cubicBezTo>
                  <a:cubicBezTo>
                    <a:pt x="225900" y="100179"/>
                    <a:pt x="233362" y="92716"/>
                    <a:pt x="233362" y="83510"/>
                  </a:cubicBezTo>
                  <a:lnTo>
                    <a:pt x="233362" y="83344"/>
                  </a:lnTo>
                  <a:cubicBezTo>
                    <a:pt x="233362" y="74138"/>
                    <a:pt x="225900" y="66675"/>
                    <a:pt x="216694" y="66675"/>
                  </a:cubicBezTo>
                  <a:moveTo>
                    <a:pt x="283369" y="66675"/>
                  </a:moveTo>
                  <a:cubicBezTo>
                    <a:pt x="274163" y="66675"/>
                    <a:pt x="266700" y="74138"/>
                    <a:pt x="266700" y="83344"/>
                  </a:cubicBezTo>
                  <a:lnTo>
                    <a:pt x="266700" y="83510"/>
                  </a:lnTo>
                  <a:cubicBezTo>
                    <a:pt x="266700" y="92716"/>
                    <a:pt x="274163" y="100179"/>
                    <a:pt x="283369" y="100179"/>
                  </a:cubicBezTo>
                  <a:cubicBezTo>
                    <a:pt x="292575" y="100179"/>
                    <a:pt x="300038" y="92716"/>
                    <a:pt x="300038" y="83510"/>
                  </a:cubicBezTo>
                  <a:lnTo>
                    <a:pt x="300038" y="83344"/>
                  </a:lnTo>
                  <a:cubicBezTo>
                    <a:pt x="300038" y="74138"/>
                    <a:pt x="292575" y="66675"/>
                    <a:pt x="283369" y="66675"/>
                  </a:cubicBezTo>
                </a:path>
              </a:pathLst>
            </a:custGeom>
            <a:solidFill>
              <a:srgbClr val="1D5B8F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311467" y="3887629"/>
              <a:ext cx="922115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75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填写标签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233172" y="4279106"/>
              <a:ext cx="10787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转写与角色标注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9772650" y="1885950"/>
            <a:ext cx="1619250" cy="2933700"/>
            <a:chOff x="9772650" y="1885950"/>
            <a:chExt cx="1619250" cy="2933700"/>
          </a:xfrm>
        </p:grpSpPr>
        <p:sp>
          <p:nvSpPr>
            <p:cNvPr id="53" name="Ellipse 53"/>
            <p:cNvSpPr/>
            <p:nvPr/>
          </p:nvSpPr>
          <p:spPr>
            <a:xfrm>
              <a:off x="10172700" y="1885950"/>
              <a:ext cx="800100" cy="800100"/>
            </a:xfrm>
            <a:prstGeom prst="ellipse">
              <a:avLst/>
            </a:prstGeom>
            <a:solidFill>
              <a:srgbClr val="F2B84B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0480581" y="2186940"/>
              <a:ext cx="18433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6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9772650" y="3143250"/>
              <a:ext cx="1619250" cy="1676400"/>
            </a:xfrm>
            <a:prstGeom prst="roundRect">
              <a:avLst>
                <a:gd name="adj" fmla="val 10588"/>
              </a:avLst>
            </a:prstGeom>
            <a:solidFill>
              <a:srgbClr val="FFFFFF"/>
            </a:solidFill>
            <a:ln w="19050">
              <a:solidFill>
                <a:srgbClr val="CFE1EA"/>
              </a:solidFill>
            </a:ln>
          </p:spPr>
        </p:sp>
        <p:sp>
          <p:nvSpPr>
            <p:cNvPr id="56" name="Freeform 56"/>
            <p:cNvSpPr/>
            <p:nvPr/>
          </p:nvSpPr>
          <p:spPr>
            <a:xfrm>
              <a:off x="10422731" y="3440906"/>
              <a:ext cx="300038" cy="316706"/>
            </a:xfrm>
            <a:custGeom>
              <a:avLst/>
              <a:gdLst/>
              <a:ahLst/>
              <a:cxnLst/>
              <a:rect l="l" t="t" r="r" b="b"/>
              <a:pathLst>
                <a:path w="300038" h="316706">
                  <a:moveTo>
                    <a:pt x="283369" y="216694"/>
                  </a:moveTo>
                  <a:cubicBezTo>
                    <a:pt x="292575" y="216694"/>
                    <a:pt x="300038" y="224157"/>
                    <a:pt x="300038" y="233362"/>
                  </a:cubicBezTo>
                  <a:lnTo>
                    <a:pt x="300038" y="266700"/>
                  </a:lnTo>
                  <a:cubicBezTo>
                    <a:pt x="300038" y="294318"/>
                    <a:pt x="277649" y="316706"/>
                    <a:pt x="250031" y="316706"/>
                  </a:cubicBezTo>
                  <a:lnTo>
                    <a:pt x="50006" y="316706"/>
                  </a:lnTo>
                  <a:cubicBezTo>
                    <a:pt x="22389" y="316706"/>
                    <a:pt x="0" y="294318"/>
                    <a:pt x="0" y="266700"/>
                  </a:cubicBezTo>
                  <a:lnTo>
                    <a:pt x="0" y="233362"/>
                  </a:lnTo>
                  <a:cubicBezTo>
                    <a:pt x="0" y="224157"/>
                    <a:pt x="7463" y="216694"/>
                    <a:pt x="16669" y="216694"/>
                  </a:cubicBezTo>
                  <a:cubicBezTo>
                    <a:pt x="25875" y="216694"/>
                    <a:pt x="33338" y="224157"/>
                    <a:pt x="33338" y="233362"/>
                  </a:cubicBezTo>
                  <a:lnTo>
                    <a:pt x="33338" y="266700"/>
                  </a:lnTo>
                  <a:cubicBezTo>
                    <a:pt x="33338" y="275906"/>
                    <a:pt x="40800" y="283369"/>
                    <a:pt x="50006" y="283369"/>
                  </a:cubicBezTo>
                  <a:lnTo>
                    <a:pt x="250031" y="283369"/>
                  </a:lnTo>
                  <a:cubicBezTo>
                    <a:pt x="259237" y="283369"/>
                    <a:pt x="266700" y="275906"/>
                    <a:pt x="266700" y="266700"/>
                  </a:cubicBezTo>
                  <a:lnTo>
                    <a:pt x="266700" y="233362"/>
                  </a:lnTo>
                  <a:cubicBezTo>
                    <a:pt x="266700" y="224157"/>
                    <a:pt x="274163" y="216694"/>
                    <a:pt x="283369" y="216694"/>
                  </a:cubicBezTo>
                  <a:moveTo>
                    <a:pt x="150019" y="0"/>
                  </a:moveTo>
                  <a:cubicBezTo>
                    <a:pt x="159225" y="0"/>
                    <a:pt x="166688" y="7463"/>
                    <a:pt x="166688" y="16669"/>
                  </a:cubicBezTo>
                  <a:lnTo>
                    <a:pt x="166688" y="176439"/>
                  </a:lnTo>
                  <a:lnTo>
                    <a:pt x="221578" y="121565"/>
                  </a:lnTo>
                  <a:cubicBezTo>
                    <a:pt x="228118" y="115248"/>
                    <a:pt x="238515" y="115339"/>
                    <a:pt x="244944" y="121768"/>
                  </a:cubicBezTo>
                  <a:cubicBezTo>
                    <a:pt x="251374" y="128198"/>
                    <a:pt x="251464" y="138594"/>
                    <a:pt x="245147" y="145135"/>
                  </a:cubicBezTo>
                  <a:lnTo>
                    <a:pt x="161804" y="228479"/>
                  </a:lnTo>
                  <a:cubicBezTo>
                    <a:pt x="161331" y="228953"/>
                    <a:pt x="160830" y="229398"/>
                    <a:pt x="160303" y="229812"/>
                  </a:cubicBezTo>
                  <a:lnTo>
                    <a:pt x="161804" y="228479"/>
                  </a:lnTo>
                  <a:cubicBezTo>
                    <a:pt x="158812" y="231467"/>
                    <a:pt x="154796" y="233207"/>
                    <a:pt x="150569" y="233346"/>
                  </a:cubicBezTo>
                  <a:lnTo>
                    <a:pt x="150019" y="233362"/>
                  </a:lnTo>
                  <a:lnTo>
                    <a:pt x="149485" y="233362"/>
                  </a:lnTo>
                  <a:lnTo>
                    <a:pt x="148585" y="233296"/>
                  </a:lnTo>
                  <a:lnTo>
                    <a:pt x="150019" y="233362"/>
                  </a:lnTo>
                  <a:cubicBezTo>
                    <a:pt x="146290" y="233363"/>
                    <a:pt x="142669" y="232113"/>
                    <a:pt x="139734" y="229812"/>
                  </a:cubicBezTo>
                  <a:cubicBezTo>
                    <a:pt x="139208" y="229398"/>
                    <a:pt x="138707" y="228953"/>
                    <a:pt x="138234" y="228479"/>
                  </a:cubicBezTo>
                  <a:lnTo>
                    <a:pt x="54890" y="145135"/>
                  </a:lnTo>
                  <a:cubicBezTo>
                    <a:pt x="48573" y="138594"/>
                    <a:pt x="48664" y="128198"/>
                    <a:pt x="55093" y="121768"/>
                  </a:cubicBezTo>
                  <a:cubicBezTo>
                    <a:pt x="61523" y="115339"/>
                    <a:pt x="71919" y="115248"/>
                    <a:pt x="78460" y="121565"/>
                  </a:cubicBezTo>
                  <a:lnTo>
                    <a:pt x="133350" y="176439"/>
                  </a:lnTo>
                  <a:lnTo>
                    <a:pt x="133350" y="16669"/>
                  </a:lnTo>
                  <a:cubicBezTo>
                    <a:pt x="133350" y="7463"/>
                    <a:pt x="140813" y="0"/>
                    <a:pt x="150019" y="0"/>
                  </a:cubicBezTo>
                </a:path>
              </a:pathLst>
            </a:custGeom>
            <a:solidFill>
              <a:srgbClr val="DC8A00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0121217" y="3887629"/>
              <a:ext cx="922115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75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保存导出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042922" y="4279106"/>
              <a:ext cx="10787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形成可提交结果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1524000" y="5381625"/>
            <a:ext cx="9144000" cy="609600"/>
            <a:chOff x="1524000" y="5381625"/>
            <a:chExt cx="9144000" cy="609600"/>
          </a:xfrm>
        </p:grpSpPr>
        <p:sp>
          <p:nvSpPr>
            <p:cNvPr id="60" name="Rectangle 60"/>
            <p:cNvSpPr/>
            <p:nvPr/>
          </p:nvSpPr>
          <p:spPr>
            <a:xfrm>
              <a:off x="1524000" y="5381625"/>
              <a:ext cx="9144000" cy="609600"/>
            </a:xfrm>
            <a:prstGeom prst="roundRect">
              <a:avLst>
                <a:gd name="adj" fmla="val 31250"/>
              </a:avLst>
            </a:prstGeom>
            <a:solidFill>
              <a:srgbClr val="EAF3F8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3649242" y="5594032"/>
              <a:ext cx="489351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D5B8F"/>
                  </a:solidFill>
                  <a:latin typeface="Arial"/>
                  <a:ea typeface="Microsoft YaHei"/>
                  <a:cs typeface="Arial"/>
                </a:rPr>
                <a:t>记住主线，零散菜单就会变成可执行的标注流程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598170" y="6398895"/>
            <a:ext cx="10843260" cy="182880"/>
            <a:chOff x="598170" y="6398895"/>
            <a:chExt cx="10843260" cy="182880"/>
          </a:xfrm>
        </p:grpSpPr>
        <p:sp>
          <p:nvSpPr>
            <p:cNvPr id="63" name="TextBox 63"/>
            <p:cNvSpPr txBox="1"/>
            <p:nvPr/>
          </p:nvSpPr>
          <p:spPr>
            <a:xfrm>
              <a:off x="598170" y="6398895"/>
              <a:ext cx="193109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8796"/>
                  </a:solidFill>
                  <a:latin typeface="Arial"/>
                  <a:ea typeface="Microsoft YaHei"/>
                  <a:cs typeface="Arial"/>
                </a:rPr>
                <a:t>语音标注工具使用 · Praat操作主线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016520" y="63988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8796"/>
                  </a:solidFill>
                  <a:latin typeface="Arial"/>
                  <a:ea typeface="Microsoft YaHei"/>
                  <a:cs typeface="Arial"/>
                </a:rPr>
                <a:t>04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6" grpId="0"/>
      <p:bldP spid="23" grpId="0"/>
      <p:bldP spid="36" grpId="0"/>
      <p:bldP spid="45" grpId="0"/>
      <p:bldP spid="52" grpId="0"/>
      <p:bldP spid="59" grpId="0"/>
      <p:bldP spid="6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75310" y="432435"/>
            <a:ext cx="3149665" cy="743903"/>
            <a:chOff x="575310" y="432435"/>
            <a:chExt cx="3149665" cy="743903"/>
          </a:xfrm>
        </p:grpSpPr>
        <p:sp>
          <p:nvSpPr>
            <p:cNvPr id="3" name="TextBox 3"/>
            <p:cNvSpPr txBox="1"/>
            <p:nvPr/>
          </p:nvSpPr>
          <p:spPr>
            <a:xfrm>
              <a:off x="575310" y="432435"/>
              <a:ext cx="3149665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TextGrid多层结构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2455" y="902018"/>
              <a:ext cx="313067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关键是“分段层”和“点标注层”各司其职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85800" y="1543050"/>
            <a:ext cx="4953000" cy="4095750"/>
            <a:chOff x="685800" y="1543050"/>
            <a:chExt cx="4953000" cy="4095750"/>
          </a:xfrm>
        </p:grpSpPr>
        <p:sp>
          <p:nvSpPr>
            <p:cNvPr id="6" name="Rectangle 6"/>
            <p:cNvSpPr/>
            <p:nvPr/>
          </p:nvSpPr>
          <p:spPr>
            <a:xfrm>
              <a:off x="685800" y="1543050"/>
              <a:ext cx="4953000" cy="4095750"/>
            </a:xfrm>
            <a:prstGeom prst="roundRect">
              <a:avLst>
                <a:gd name="adj" fmla="val 5116"/>
              </a:avLst>
            </a:prstGeom>
            <a:solidFill>
              <a:srgbClr val="FFFFFF"/>
            </a:solidFill>
            <a:ln w="19050">
              <a:solidFill>
                <a:srgbClr val="CFE1EA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85800" y="1543050"/>
              <a:ext cx="4953000" cy="819150"/>
            </a:xfrm>
            <a:prstGeom prst="roundRect">
              <a:avLst>
                <a:gd name="adj" fmla="val 25581"/>
              </a:avLst>
            </a:prstGeom>
            <a:solidFill>
              <a:srgbClr val="EAF3F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38225" y="1804988"/>
              <a:ext cx="3034272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D5B8F"/>
                  </a:solidFill>
                  <a:latin typeface="Arial"/>
                  <a:ea typeface="Microsoft YaHei"/>
                  <a:cs typeface="Arial"/>
                </a:rPr>
                <a:t>interval tier 分段层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46798" y="2592229"/>
              <a:ext cx="3440430" cy="11201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150"/>
                </a:lnSpc>
              </a:pPr>
              <a:r>
                <a:rPr lang="zh-CN" sz="1575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适合有起止时间的一段语音</a:t>
              </a:r>
              <a:r>
                <a:rPr lang="zh-CN" sz="1575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记录句子、角色持续发言、事件持续段</a:t>
              </a:r>
              <a:r>
                <a:rPr lang="zh-CN" sz="1575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边界必须贴近声音开始和结束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66800" y="4191000"/>
              <a:ext cx="4000500" cy="742950"/>
            </a:xfrm>
            <a:prstGeom prst="roundRect">
              <a:avLst>
                <a:gd name="adj" fmla="val 17949"/>
              </a:avLst>
            </a:prstGeom>
            <a:solidFill>
              <a:srgbClr val="F8FBFF"/>
            </a:solidFill>
            <a:ln w="19050">
              <a:solidFill>
                <a:srgbClr val="CFE1EA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1428750" y="4552950"/>
              <a:ext cx="3257550" cy="9525"/>
            </a:xfrm>
            <a:custGeom>
              <a:avLst/>
              <a:gdLst/>
              <a:ahLst/>
              <a:cxnLst/>
              <a:rect l="l" t="t" r="r" b="b"/>
              <a:pathLst>
                <a:path w="3257550" h="9525">
                  <a:moveTo>
                    <a:pt x="0" y="0"/>
                  </a:moveTo>
                  <a:lnTo>
                    <a:pt x="3257550" y="0"/>
                  </a:lnTo>
                </a:path>
              </a:pathLst>
            </a:custGeom>
            <a:noFill/>
            <a:ln w="47625" cap="rnd">
              <a:solidFill>
                <a:srgbClr val="18A999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1905000" y="4457700"/>
              <a:ext cx="190500" cy="190500"/>
            </a:xfrm>
            <a:prstGeom prst="ellipse">
              <a:avLst/>
            </a:prstGeom>
            <a:solidFill>
              <a:srgbClr val="1D5B8F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3619500" y="4457700"/>
              <a:ext cx="190500" cy="190500"/>
            </a:xfrm>
            <a:prstGeom prst="ellipse">
              <a:avLst/>
            </a:prstGeom>
            <a:solidFill>
              <a:srgbClr val="1D5B8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909346" y="4707731"/>
              <a:ext cx="189630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一段话 = 起点 + 终点 + 标签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553200" y="1543050"/>
            <a:ext cx="4953000" cy="4095750"/>
            <a:chOff x="6553200" y="1543050"/>
            <a:chExt cx="4953000" cy="4095750"/>
          </a:xfrm>
        </p:grpSpPr>
        <p:sp>
          <p:nvSpPr>
            <p:cNvPr id="16" name="Rectangle 16"/>
            <p:cNvSpPr/>
            <p:nvPr/>
          </p:nvSpPr>
          <p:spPr>
            <a:xfrm>
              <a:off x="6553200" y="1543050"/>
              <a:ext cx="4953000" cy="4095750"/>
            </a:xfrm>
            <a:prstGeom prst="roundRect">
              <a:avLst>
                <a:gd name="adj" fmla="val 5116"/>
              </a:avLst>
            </a:prstGeom>
            <a:solidFill>
              <a:srgbClr val="FFFFFF"/>
            </a:solidFill>
            <a:ln w="19050">
              <a:solidFill>
                <a:srgbClr val="CFE1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6553200" y="1543050"/>
              <a:ext cx="4953000" cy="819150"/>
            </a:xfrm>
            <a:prstGeom prst="roundRect">
              <a:avLst>
                <a:gd name="adj" fmla="val 25581"/>
              </a:avLst>
            </a:prstGeom>
            <a:solidFill>
              <a:srgbClr val="E8F8F5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905625" y="1804988"/>
              <a:ext cx="2908256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8A999"/>
                  </a:solidFill>
                  <a:latin typeface="Arial"/>
                  <a:ea typeface="Microsoft YaHei"/>
                  <a:cs typeface="Arial"/>
                </a:rPr>
                <a:t>point tier 点标注层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914198" y="2592229"/>
              <a:ext cx="3040380" cy="11201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150"/>
                </a:lnSpc>
              </a:pPr>
              <a:r>
                <a:rPr lang="zh-CN" sz="1575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适合瞬时发生的标记点</a:t>
              </a:r>
              <a:r>
                <a:rPr lang="zh-CN" sz="1575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记录说话人切换、咳嗽、突发噪声</a:t>
              </a:r>
              <a:r>
                <a:rPr lang="zh-CN" sz="1575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重点是位置准确和标签一致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934200" y="4191000"/>
              <a:ext cx="4000500" cy="742950"/>
            </a:xfrm>
            <a:prstGeom prst="roundRect">
              <a:avLst>
                <a:gd name="adj" fmla="val 17949"/>
              </a:avLst>
            </a:prstGeom>
            <a:solidFill>
              <a:srgbClr val="F8FBFF"/>
            </a:solidFill>
            <a:ln w="19050">
              <a:solidFill>
                <a:srgbClr val="CFE1EA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7296150" y="4552950"/>
              <a:ext cx="3257550" cy="9525"/>
            </a:xfrm>
            <a:custGeom>
              <a:avLst/>
              <a:gdLst/>
              <a:ahLst/>
              <a:cxnLst/>
              <a:rect l="l" t="t" r="r" b="b"/>
              <a:pathLst>
                <a:path w="3257550" h="9525">
                  <a:moveTo>
                    <a:pt x="0" y="0"/>
                  </a:moveTo>
                  <a:lnTo>
                    <a:pt x="3257550" y="0"/>
                  </a:lnTo>
                </a:path>
              </a:pathLst>
            </a:custGeom>
            <a:noFill/>
            <a:ln w="47625" cap="rnd">
              <a:solidFill>
                <a:srgbClr val="CFE1EA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7972425" y="4429125"/>
              <a:ext cx="247650" cy="247650"/>
            </a:xfrm>
            <a:prstGeom prst="ellipse">
              <a:avLst/>
            </a:prstGeom>
            <a:solidFill>
              <a:srgbClr val="F2B84B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9258300" y="4429125"/>
              <a:ext cx="247650" cy="247650"/>
            </a:xfrm>
            <a:prstGeom prst="ellipse">
              <a:avLst/>
            </a:prstGeom>
            <a:solidFill>
              <a:srgbClr val="F2B84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063032" y="4707731"/>
              <a:ext cx="172378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一个事件 = 时间点 + 标签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2000250" y="5905500"/>
            <a:ext cx="8191500" cy="457200"/>
            <a:chOff x="2000250" y="5905500"/>
            <a:chExt cx="8191500" cy="457200"/>
          </a:xfrm>
        </p:grpSpPr>
        <p:sp>
          <p:nvSpPr>
            <p:cNvPr id="26" name="Rectangle 26"/>
            <p:cNvSpPr/>
            <p:nvPr/>
          </p:nvSpPr>
          <p:spPr>
            <a:xfrm>
              <a:off x="2000250" y="5905500"/>
              <a:ext cx="8191500" cy="457200"/>
            </a:xfrm>
            <a:prstGeom prst="roundRect">
              <a:avLst>
                <a:gd name="adj" fmla="val 50000"/>
              </a:avLst>
            </a:prstGeom>
            <a:solidFill>
              <a:srgbClr val="1D5B8F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766661" y="6048375"/>
              <a:ext cx="465867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内容、角色、事件分层存放，后续检查才不会混乱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98170" y="6532245"/>
            <a:ext cx="10843260" cy="182880"/>
            <a:chOff x="598170" y="6532245"/>
            <a:chExt cx="10843260" cy="182880"/>
          </a:xfrm>
        </p:grpSpPr>
        <p:sp>
          <p:nvSpPr>
            <p:cNvPr id="29" name="TextBox 29"/>
            <p:cNvSpPr txBox="1"/>
            <p:nvPr/>
          </p:nvSpPr>
          <p:spPr>
            <a:xfrm>
              <a:off x="598170" y="6532245"/>
              <a:ext cx="18590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8796"/>
                  </a:solidFill>
                  <a:latin typeface="Arial"/>
                  <a:ea typeface="Microsoft YaHei"/>
                  <a:cs typeface="Arial"/>
                </a:rPr>
                <a:t>语音标注工具使用 · TextGrid概念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016520" y="65322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8796"/>
                  </a:solidFill>
                  <a:latin typeface="Arial"/>
                  <a:ea typeface="Microsoft YaHei"/>
                  <a:cs typeface="Arial"/>
                </a:rPr>
                <a:t>05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75310" y="394335"/>
            <a:ext cx="4443984" cy="743903"/>
            <a:chOff x="575310" y="394335"/>
            <a:chExt cx="4443984" cy="743903"/>
          </a:xfrm>
        </p:grpSpPr>
        <p:sp>
          <p:nvSpPr>
            <p:cNvPr id="3" name="TextBox 3"/>
            <p:cNvSpPr txBox="1"/>
            <p:nvPr/>
          </p:nvSpPr>
          <p:spPr>
            <a:xfrm>
              <a:off x="575310" y="394335"/>
              <a:ext cx="330088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演示1：导入与建层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2455" y="863918"/>
              <a:ext cx="442683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先把“音频 + TextGrid骨架”搭起来，后面分割才有落点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66750" y="1600200"/>
            <a:ext cx="10858500" cy="2628900"/>
            <a:chOff x="666750" y="1600200"/>
            <a:chExt cx="10858500" cy="2628900"/>
          </a:xfrm>
        </p:grpSpPr>
        <p:sp>
          <p:nvSpPr>
            <p:cNvPr id="6" name="Rectangle 6"/>
            <p:cNvSpPr/>
            <p:nvPr/>
          </p:nvSpPr>
          <p:spPr>
            <a:xfrm>
              <a:off x="666750" y="1600200"/>
              <a:ext cx="10858500" cy="2628900"/>
            </a:xfrm>
            <a:prstGeom prst="roundRect">
              <a:avLst>
                <a:gd name="adj" fmla="val 8696"/>
              </a:avLst>
            </a:prstGeom>
            <a:solidFill>
              <a:srgbClr val="FFFFFF"/>
            </a:solidFill>
            <a:ln w="19050">
              <a:solidFill>
                <a:srgbClr val="CFE1EA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1600200" y="2905125"/>
              <a:ext cx="8763000" cy="1"/>
            </a:xfrm>
            <a:prstGeom prst="line">
              <a:avLst/>
            </a:prstGeom>
            <a:noFill/>
            <a:ln w="38100">
              <a:solidFill>
                <a:srgbClr val="18A999"/>
              </a:solidFill>
              <a:tailEnd type="triangle" w="lg" len="lg"/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1082338" y="2505075"/>
              <a:ext cx="1035725" cy="1526381"/>
              <a:chOff x="1082338" y="2505075"/>
              <a:chExt cx="1035725" cy="1526381"/>
            </a:xfrm>
          </p:grpSpPr>
          <p:sp>
            <p:nvSpPr>
              <p:cNvPr id="8" name="Ellipse 8"/>
              <p:cNvSpPr/>
              <p:nvPr/>
            </p:nvSpPr>
            <p:spPr>
              <a:xfrm>
                <a:off x="1200150" y="2505075"/>
                <a:ext cx="800100" cy="800100"/>
              </a:xfrm>
              <a:prstGeom prst="ellipse">
                <a:avLst/>
              </a:prstGeom>
              <a:solidFill>
                <a:srgbClr val="1D5B8F"/>
              </a:solidFill>
              <a:ln>
                <a:noFill/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413456" y="2718381"/>
                <a:ext cx="373488" cy="373488"/>
              </a:xfrm>
              <a:custGeom>
                <a:avLst/>
                <a:gdLst/>
                <a:ahLst/>
                <a:cxnLst/>
                <a:rect l="l" t="t" r="r" b="b"/>
                <a:pathLst>
                  <a:path w="373488" h="373488">
                    <a:moveTo>
                      <a:pt x="232967" y="48458"/>
                    </a:moveTo>
                    <a:cubicBezTo>
                      <a:pt x="233917" y="52380"/>
                      <a:pt x="236683" y="55613"/>
                      <a:pt x="240410" y="57159"/>
                    </a:cubicBezTo>
                    <a:cubicBezTo>
                      <a:pt x="244138" y="58705"/>
                      <a:pt x="248379" y="58379"/>
                      <a:pt x="251827" y="56282"/>
                    </a:cubicBezTo>
                    <a:cubicBezTo>
                      <a:pt x="294418" y="30350"/>
                      <a:pt x="343156" y="79070"/>
                      <a:pt x="317224" y="121661"/>
                    </a:cubicBezTo>
                    <a:cubicBezTo>
                      <a:pt x="315126" y="125106"/>
                      <a:pt x="314798" y="129345"/>
                      <a:pt x="316340" y="133072"/>
                    </a:cubicBezTo>
                    <a:cubicBezTo>
                      <a:pt x="317883" y="136799"/>
                      <a:pt x="321111" y="139566"/>
                      <a:pt x="325030" y="140521"/>
                    </a:cubicBezTo>
                    <a:cubicBezTo>
                      <a:pt x="373488" y="152273"/>
                      <a:pt x="373488" y="221197"/>
                      <a:pt x="325030" y="232967"/>
                    </a:cubicBezTo>
                    <a:cubicBezTo>
                      <a:pt x="321108" y="233917"/>
                      <a:pt x="317875" y="236683"/>
                      <a:pt x="316329" y="240410"/>
                    </a:cubicBezTo>
                    <a:cubicBezTo>
                      <a:pt x="314782" y="244138"/>
                      <a:pt x="315109" y="248379"/>
                      <a:pt x="317206" y="251827"/>
                    </a:cubicBezTo>
                    <a:cubicBezTo>
                      <a:pt x="343138" y="294418"/>
                      <a:pt x="294418" y="343156"/>
                      <a:pt x="251827" y="317224"/>
                    </a:cubicBezTo>
                    <a:cubicBezTo>
                      <a:pt x="248382" y="315126"/>
                      <a:pt x="244143" y="314798"/>
                      <a:pt x="240416" y="316340"/>
                    </a:cubicBezTo>
                    <a:cubicBezTo>
                      <a:pt x="236689" y="317883"/>
                      <a:pt x="233922" y="321111"/>
                      <a:pt x="232967" y="325030"/>
                    </a:cubicBezTo>
                    <a:cubicBezTo>
                      <a:pt x="221215" y="373488"/>
                      <a:pt x="152290" y="373488"/>
                      <a:pt x="140521" y="325030"/>
                    </a:cubicBezTo>
                    <a:cubicBezTo>
                      <a:pt x="139570" y="321108"/>
                      <a:pt x="136805" y="317875"/>
                      <a:pt x="133078" y="316329"/>
                    </a:cubicBezTo>
                    <a:cubicBezTo>
                      <a:pt x="129350" y="314782"/>
                      <a:pt x="125109" y="315109"/>
                      <a:pt x="121661" y="317206"/>
                    </a:cubicBezTo>
                    <a:cubicBezTo>
                      <a:pt x="79070" y="343138"/>
                      <a:pt x="30332" y="294418"/>
                      <a:pt x="56264" y="251827"/>
                    </a:cubicBezTo>
                    <a:cubicBezTo>
                      <a:pt x="58362" y="248382"/>
                      <a:pt x="58690" y="244143"/>
                      <a:pt x="57148" y="240416"/>
                    </a:cubicBezTo>
                    <a:cubicBezTo>
                      <a:pt x="55605" y="236689"/>
                      <a:pt x="52377" y="233922"/>
                      <a:pt x="48458" y="232967"/>
                    </a:cubicBezTo>
                    <a:cubicBezTo>
                      <a:pt x="0" y="221215"/>
                      <a:pt x="0" y="152290"/>
                      <a:pt x="48458" y="140521"/>
                    </a:cubicBezTo>
                    <a:cubicBezTo>
                      <a:pt x="52380" y="139570"/>
                      <a:pt x="55613" y="136805"/>
                      <a:pt x="57159" y="133078"/>
                    </a:cubicBezTo>
                    <a:cubicBezTo>
                      <a:pt x="58705" y="129350"/>
                      <a:pt x="58379" y="125109"/>
                      <a:pt x="56282" y="121661"/>
                    </a:cubicBezTo>
                    <a:cubicBezTo>
                      <a:pt x="30350" y="79070"/>
                      <a:pt x="79070" y="30332"/>
                      <a:pt x="121661" y="56264"/>
                    </a:cubicBezTo>
                    <a:cubicBezTo>
                      <a:pt x="125103" y="58378"/>
                      <a:pt x="129349" y="58715"/>
                      <a:pt x="133081" y="57170"/>
                    </a:cubicBezTo>
                    <a:cubicBezTo>
                      <a:pt x="136814" y="55626"/>
                      <a:pt x="139580" y="52386"/>
                      <a:pt x="140521" y="48458"/>
                    </a:cubicBezTo>
                    <a:cubicBezTo>
                      <a:pt x="152273" y="0"/>
                      <a:pt x="221197" y="0"/>
                      <a:pt x="232967" y="48458"/>
                    </a:cubicBezTo>
                    <a:close/>
                    <a:moveTo>
                      <a:pt x="186744" y="134356"/>
                    </a:moveTo>
                    <a:cubicBezTo>
                      <a:pt x="157811" y="134356"/>
                      <a:pt x="134356" y="157811"/>
                      <a:pt x="134356" y="186744"/>
                    </a:cubicBezTo>
                    <a:cubicBezTo>
                      <a:pt x="134356" y="215677"/>
                      <a:pt x="157811" y="239131"/>
                      <a:pt x="186744" y="239131"/>
                    </a:cubicBezTo>
                    <a:cubicBezTo>
                      <a:pt x="215677" y="239131"/>
                      <a:pt x="239131" y="215677"/>
                      <a:pt x="239131" y="186744"/>
                    </a:cubicBezTo>
                    <a:cubicBezTo>
                      <a:pt x="239131" y="157811"/>
                      <a:pt x="215677" y="134356"/>
                      <a:pt x="186744" y="13435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1082338" y="3476625"/>
                <a:ext cx="103572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打开Praat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135856" y="3802856"/>
                <a:ext cx="92868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检查软件运行</a:t>
                </a: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2913698" y="2505075"/>
              <a:ext cx="878205" cy="1526381"/>
              <a:chOff x="2913698" y="2505075"/>
              <a:chExt cx="878205" cy="1526381"/>
            </a:xfrm>
          </p:grpSpPr>
          <p:sp>
            <p:nvSpPr>
              <p:cNvPr id="13" name="Ellipse 13"/>
              <p:cNvSpPr/>
              <p:nvPr/>
            </p:nvSpPr>
            <p:spPr>
              <a:xfrm>
                <a:off x="2952750" y="2505075"/>
                <a:ext cx="800100" cy="800100"/>
              </a:xfrm>
              <a:prstGeom prst="ellipse">
                <a:avLst/>
              </a:prstGeom>
              <a:solidFill>
                <a:srgbClr val="18A999"/>
              </a:solidFill>
              <a:ln>
                <a:noFill/>
              </a:ln>
            </p:spPr>
          </p:sp>
          <p:grpSp>
            <p:nvGrpSpPr>
              <p:cNvPr id="16" name="Group 16"/>
              <p:cNvGrpSpPr/>
              <p:nvPr/>
            </p:nvGrpSpPr>
            <p:grpSpPr>
              <a:xfrm>
                <a:off x="3213098" y="2730500"/>
                <a:ext cx="279403" cy="349252"/>
                <a:chOff x="3213098" y="2730500"/>
                <a:chExt cx="279403" cy="349252"/>
              </a:xfrm>
            </p:grpSpPr>
            <p:sp>
              <p:nvSpPr>
                <p:cNvPr id="14" name="Freeform 14"/>
                <p:cNvSpPr/>
                <p:nvPr/>
              </p:nvSpPr>
              <p:spPr>
                <a:xfrm>
                  <a:off x="3213098" y="2730500"/>
                  <a:ext cx="279403" cy="3492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9403" h="349252">
                      <a:moveTo>
                        <a:pt x="139702" y="0"/>
                      </a:moveTo>
                      <a:lnTo>
                        <a:pt x="141745" y="122"/>
                      </a:lnTo>
                      <a:cubicBezTo>
                        <a:pt x="149769" y="1068"/>
                        <a:pt x="156096" y="7396"/>
                        <a:pt x="157042" y="15419"/>
                      </a:cubicBezTo>
                      <a:lnTo>
                        <a:pt x="157164" y="17462"/>
                      </a:lnTo>
                      <a:lnTo>
                        <a:pt x="157164" y="87312"/>
                      </a:lnTo>
                      <a:lnTo>
                        <a:pt x="157251" y="89932"/>
                      </a:lnTo>
                      <a:cubicBezTo>
                        <a:pt x="158543" y="107113"/>
                        <a:pt x="172171" y="120786"/>
                        <a:pt x="189347" y="122133"/>
                      </a:cubicBezTo>
                      <a:lnTo>
                        <a:pt x="192089" y="122237"/>
                      </a:lnTo>
                      <a:lnTo>
                        <a:pt x="261939" y="122237"/>
                      </a:lnTo>
                      <a:lnTo>
                        <a:pt x="263982" y="122360"/>
                      </a:lnTo>
                      <a:cubicBezTo>
                        <a:pt x="272006" y="123306"/>
                        <a:pt x="278333" y="129633"/>
                        <a:pt x="279279" y="137657"/>
                      </a:cubicBezTo>
                      <a:lnTo>
                        <a:pt x="279402" y="139700"/>
                      </a:lnTo>
                      <a:lnTo>
                        <a:pt x="279402" y="296862"/>
                      </a:lnTo>
                      <a:cubicBezTo>
                        <a:pt x="279403" y="324603"/>
                        <a:pt x="257780" y="347535"/>
                        <a:pt x="230087" y="349163"/>
                      </a:cubicBezTo>
                      <a:lnTo>
                        <a:pt x="227014" y="349250"/>
                      </a:lnTo>
                      <a:lnTo>
                        <a:pt x="52389" y="349250"/>
                      </a:lnTo>
                      <a:cubicBezTo>
                        <a:pt x="24649" y="349252"/>
                        <a:pt x="1716" y="327628"/>
                        <a:pt x="89" y="299936"/>
                      </a:cubicBezTo>
                      <a:lnTo>
                        <a:pt x="2" y="296862"/>
                      </a:lnTo>
                      <a:lnTo>
                        <a:pt x="2" y="52388"/>
                      </a:lnTo>
                      <a:cubicBezTo>
                        <a:pt x="0" y="24647"/>
                        <a:pt x="21623" y="1715"/>
                        <a:pt x="49316" y="87"/>
                      </a:cubicBezTo>
                      <a:lnTo>
                        <a:pt x="52389" y="0"/>
                      </a:lnTo>
                      <a:close/>
                      <a:moveTo>
                        <a:pt x="147507" y="159014"/>
                      </a:moveTo>
                      <a:cubicBezTo>
                        <a:pt x="142096" y="156309"/>
                        <a:pt x="135670" y="156599"/>
                        <a:pt x="130523" y="159778"/>
                      </a:cubicBezTo>
                      <a:cubicBezTo>
                        <a:pt x="125376" y="162958"/>
                        <a:pt x="122242" y="168575"/>
                        <a:pt x="122239" y="174625"/>
                      </a:cubicBezTo>
                      <a:lnTo>
                        <a:pt x="122239" y="227012"/>
                      </a:lnTo>
                      <a:cubicBezTo>
                        <a:pt x="103962" y="227007"/>
                        <a:pt x="88772" y="241093"/>
                        <a:pt x="87401" y="259318"/>
                      </a:cubicBezTo>
                      <a:lnTo>
                        <a:pt x="87314" y="261938"/>
                      </a:lnTo>
                      <a:cubicBezTo>
                        <a:pt x="87314" y="281226"/>
                        <a:pt x="102951" y="296862"/>
                        <a:pt x="122239" y="296862"/>
                      </a:cubicBezTo>
                      <a:cubicBezTo>
                        <a:pt x="141528" y="296862"/>
                        <a:pt x="157164" y="281226"/>
                        <a:pt x="157164" y="261938"/>
                      </a:cubicBezTo>
                      <a:lnTo>
                        <a:pt x="157164" y="202879"/>
                      </a:lnTo>
                      <a:lnTo>
                        <a:pt x="166821" y="207699"/>
                      </a:lnTo>
                      <a:cubicBezTo>
                        <a:pt x="175385" y="211655"/>
                        <a:pt x="185544" y="208094"/>
                        <a:pt x="189763" y="199656"/>
                      </a:cubicBezTo>
                      <a:cubicBezTo>
                        <a:pt x="193982" y="191217"/>
                        <a:pt x="190736" y="180954"/>
                        <a:pt x="182432" y="17647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15" name="Freeform 15"/>
                <p:cNvSpPr/>
                <p:nvPr/>
              </p:nvSpPr>
              <p:spPr>
                <a:xfrm>
                  <a:off x="3405170" y="2747945"/>
                  <a:ext cx="69867" cy="698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867" h="69867">
                      <a:moveTo>
                        <a:pt x="69867" y="69867"/>
                      </a:moveTo>
                      <a:lnTo>
                        <a:pt x="17" y="6986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</p:sp>
          </p:grpSp>
          <p:sp>
            <p:nvSpPr>
              <p:cNvPr id="17" name="TextBox 17"/>
              <p:cNvSpPr txBox="1"/>
              <p:nvPr/>
            </p:nvSpPr>
            <p:spPr>
              <a:xfrm>
                <a:off x="2913698" y="3476625"/>
                <a:ext cx="87820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导入音频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2963466" y="3802856"/>
                <a:ext cx="77866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确认可播放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4641056" y="2505075"/>
              <a:ext cx="928688" cy="1526381"/>
              <a:chOff x="4641056" y="2505075"/>
              <a:chExt cx="928688" cy="1526381"/>
            </a:xfrm>
          </p:grpSpPr>
          <p:sp>
            <p:nvSpPr>
              <p:cNvPr id="20" name="Ellipse 20"/>
              <p:cNvSpPr/>
              <p:nvPr/>
            </p:nvSpPr>
            <p:spPr>
              <a:xfrm>
                <a:off x="4705350" y="2505075"/>
                <a:ext cx="800100" cy="800100"/>
              </a:xfrm>
              <a:prstGeom prst="ellipse">
                <a:avLst/>
              </a:prstGeom>
              <a:solidFill>
                <a:srgbClr val="1D5B8F"/>
              </a:solidFill>
              <a:ln>
                <a:noFill/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4965700" y="2730500"/>
                <a:ext cx="279400" cy="349250"/>
              </a:xfrm>
              <a:custGeom>
                <a:avLst/>
                <a:gdLst/>
                <a:ahLst/>
                <a:cxnLst/>
                <a:rect l="l" t="t" r="r" b="b"/>
                <a:pathLst>
                  <a:path w="279400" h="349250">
                    <a:moveTo>
                      <a:pt x="227012" y="0"/>
                    </a:moveTo>
                    <a:cubicBezTo>
                      <a:pt x="255945" y="0"/>
                      <a:pt x="279400" y="23455"/>
                      <a:pt x="279400" y="52388"/>
                    </a:cubicBezTo>
                    <a:lnTo>
                      <a:pt x="279400" y="296862"/>
                    </a:lnTo>
                    <a:cubicBezTo>
                      <a:pt x="279400" y="325795"/>
                      <a:pt x="255945" y="349250"/>
                      <a:pt x="227012" y="349250"/>
                    </a:cubicBezTo>
                    <a:lnTo>
                      <a:pt x="52388" y="349250"/>
                    </a:lnTo>
                    <a:cubicBezTo>
                      <a:pt x="23455" y="349250"/>
                      <a:pt x="0" y="325795"/>
                      <a:pt x="0" y="296862"/>
                    </a:cubicBezTo>
                    <a:lnTo>
                      <a:pt x="0" y="52388"/>
                    </a:lnTo>
                    <a:cubicBezTo>
                      <a:pt x="0" y="23455"/>
                      <a:pt x="23455" y="0"/>
                      <a:pt x="52388" y="0"/>
                    </a:cubicBezTo>
                    <a:close/>
                    <a:moveTo>
                      <a:pt x="139700" y="157162"/>
                    </a:moveTo>
                    <a:cubicBezTo>
                      <a:pt x="102480" y="157162"/>
                      <a:pt x="71798" y="186347"/>
                      <a:pt x="69937" y="223520"/>
                    </a:cubicBezTo>
                    <a:lnTo>
                      <a:pt x="69850" y="227012"/>
                    </a:lnTo>
                    <a:cubicBezTo>
                      <a:pt x="69850" y="265590"/>
                      <a:pt x="101123" y="296862"/>
                      <a:pt x="139700" y="296862"/>
                    </a:cubicBezTo>
                    <a:cubicBezTo>
                      <a:pt x="178277" y="296862"/>
                      <a:pt x="209550" y="265590"/>
                      <a:pt x="209550" y="227012"/>
                    </a:cubicBezTo>
                    <a:cubicBezTo>
                      <a:pt x="209550" y="188435"/>
                      <a:pt x="178277" y="157162"/>
                      <a:pt x="139700" y="157162"/>
                    </a:cubicBezTo>
                    <a:moveTo>
                      <a:pt x="139700" y="69850"/>
                    </a:moveTo>
                    <a:cubicBezTo>
                      <a:pt x="130056" y="69850"/>
                      <a:pt x="122237" y="77668"/>
                      <a:pt x="122237" y="87312"/>
                    </a:cubicBezTo>
                    <a:lnTo>
                      <a:pt x="122237" y="87487"/>
                    </a:lnTo>
                    <a:cubicBezTo>
                      <a:pt x="122237" y="97131"/>
                      <a:pt x="130056" y="104950"/>
                      <a:pt x="139700" y="104950"/>
                    </a:cubicBezTo>
                    <a:cubicBezTo>
                      <a:pt x="149344" y="104950"/>
                      <a:pt x="157162" y="97131"/>
                      <a:pt x="157162" y="87487"/>
                    </a:cubicBezTo>
                    <a:lnTo>
                      <a:pt x="157162" y="87312"/>
                    </a:lnTo>
                    <a:cubicBezTo>
                      <a:pt x="157162" y="77668"/>
                      <a:pt x="149344" y="69850"/>
                      <a:pt x="139700" y="6985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4666298" y="3476625"/>
                <a:ext cx="87820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查看波形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4641056" y="3802856"/>
                <a:ext cx="92868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听辨重点片段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6193119" y="2505075"/>
              <a:ext cx="1329761" cy="1526381"/>
              <a:chOff x="6193119" y="2505075"/>
              <a:chExt cx="1329761" cy="1526381"/>
            </a:xfrm>
          </p:grpSpPr>
          <p:sp>
            <p:nvSpPr>
              <p:cNvPr id="25" name="Ellipse 25"/>
              <p:cNvSpPr/>
              <p:nvPr/>
            </p:nvSpPr>
            <p:spPr>
              <a:xfrm>
                <a:off x="6457950" y="2505075"/>
                <a:ext cx="800100" cy="800100"/>
              </a:xfrm>
              <a:prstGeom prst="ellipse">
                <a:avLst/>
              </a:prstGeom>
              <a:solidFill>
                <a:srgbClr val="18A999"/>
              </a:solidFill>
              <a:ln>
                <a:noFill/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6718296" y="2730500"/>
                <a:ext cx="279408" cy="349250"/>
              </a:xfrm>
              <a:custGeom>
                <a:avLst/>
                <a:gdLst/>
                <a:ahLst/>
                <a:cxnLst/>
                <a:rect l="l" t="t" r="r" b="b"/>
                <a:pathLst>
                  <a:path w="279408" h="349250">
                    <a:moveTo>
                      <a:pt x="244426" y="37894"/>
                    </a:moveTo>
                    <a:cubicBezTo>
                      <a:pt x="265388" y="45280"/>
                      <a:pt x="279408" y="65088"/>
                      <a:pt x="279404" y="87312"/>
                    </a:cubicBezTo>
                    <a:lnTo>
                      <a:pt x="279404" y="296862"/>
                    </a:lnTo>
                    <a:cubicBezTo>
                      <a:pt x="279404" y="325795"/>
                      <a:pt x="255949" y="349250"/>
                      <a:pt x="227016" y="349250"/>
                    </a:cubicBezTo>
                    <a:lnTo>
                      <a:pt x="52391" y="349250"/>
                    </a:lnTo>
                    <a:cubicBezTo>
                      <a:pt x="23458" y="349250"/>
                      <a:pt x="4" y="325795"/>
                      <a:pt x="4" y="296862"/>
                    </a:cubicBezTo>
                    <a:lnTo>
                      <a:pt x="4" y="87312"/>
                    </a:lnTo>
                    <a:cubicBezTo>
                      <a:pt x="0" y="65088"/>
                      <a:pt x="14020" y="45280"/>
                      <a:pt x="34981" y="37894"/>
                    </a:cubicBezTo>
                    <a:cubicBezTo>
                      <a:pt x="36572" y="75286"/>
                      <a:pt x="67352" y="104781"/>
                      <a:pt x="104779" y="104775"/>
                    </a:cubicBezTo>
                    <a:lnTo>
                      <a:pt x="174629" y="104775"/>
                    </a:lnTo>
                    <a:cubicBezTo>
                      <a:pt x="210483" y="104778"/>
                      <a:pt x="240517" y="77634"/>
                      <a:pt x="244130" y="41962"/>
                    </a:cubicBezTo>
                    <a:close/>
                    <a:moveTo>
                      <a:pt x="87491" y="227012"/>
                    </a:moveTo>
                    <a:lnTo>
                      <a:pt x="87316" y="227012"/>
                    </a:lnTo>
                    <a:cubicBezTo>
                      <a:pt x="78077" y="227023"/>
                      <a:pt x="70445" y="234228"/>
                      <a:pt x="69903" y="243452"/>
                    </a:cubicBezTo>
                    <a:cubicBezTo>
                      <a:pt x="69362" y="252675"/>
                      <a:pt x="76099" y="260724"/>
                      <a:pt x="85273" y="261815"/>
                    </a:cubicBezTo>
                    <a:lnTo>
                      <a:pt x="87491" y="261938"/>
                    </a:lnTo>
                    <a:cubicBezTo>
                      <a:pt x="97135" y="261938"/>
                      <a:pt x="104953" y="254119"/>
                      <a:pt x="104953" y="244475"/>
                    </a:cubicBezTo>
                    <a:cubicBezTo>
                      <a:pt x="104953" y="234831"/>
                      <a:pt x="97135" y="227012"/>
                      <a:pt x="87491" y="227012"/>
                    </a:cubicBezTo>
                    <a:moveTo>
                      <a:pt x="192091" y="227012"/>
                    </a:moveTo>
                    <a:lnTo>
                      <a:pt x="157166" y="227012"/>
                    </a:lnTo>
                    <a:cubicBezTo>
                      <a:pt x="147522" y="227012"/>
                      <a:pt x="139704" y="234831"/>
                      <a:pt x="139704" y="244475"/>
                    </a:cubicBezTo>
                    <a:cubicBezTo>
                      <a:pt x="139704" y="254119"/>
                      <a:pt x="147522" y="261938"/>
                      <a:pt x="157166" y="261938"/>
                    </a:cubicBezTo>
                    <a:lnTo>
                      <a:pt x="192091" y="261938"/>
                    </a:lnTo>
                    <a:cubicBezTo>
                      <a:pt x="201736" y="261938"/>
                      <a:pt x="209554" y="254119"/>
                      <a:pt x="209554" y="244475"/>
                    </a:cubicBezTo>
                    <a:cubicBezTo>
                      <a:pt x="209554" y="234831"/>
                      <a:pt x="201736" y="227012"/>
                      <a:pt x="192091" y="227012"/>
                    </a:cubicBezTo>
                    <a:moveTo>
                      <a:pt x="87491" y="157162"/>
                    </a:moveTo>
                    <a:lnTo>
                      <a:pt x="87316" y="157162"/>
                    </a:lnTo>
                    <a:cubicBezTo>
                      <a:pt x="78077" y="157173"/>
                      <a:pt x="70445" y="164378"/>
                      <a:pt x="69903" y="173602"/>
                    </a:cubicBezTo>
                    <a:cubicBezTo>
                      <a:pt x="69362" y="182825"/>
                      <a:pt x="76099" y="190874"/>
                      <a:pt x="85273" y="191965"/>
                    </a:cubicBezTo>
                    <a:lnTo>
                      <a:pt x="87491" y="192087"/>
                    </a:lnTo>
                    <a:cubicBezTo>
                      <a:pt x="97135" y="192087"/>
                      <a:pt x="104953" y="184269"/>
                      <a:pt x="104953" y="174625"/>
                    </a:cubicBezTo>
                    <a:cubicBezTo>
                      <a:pt x="104953" y="164981"/>
                      <a:pt x="97135" y="157162"/>
                      <a:pt x="87491" y="157162"/>
                    </a:cubicBezTo>
                    <a:moveTo>
                      <a:pt x="192091" y="157162"/>
                    </a:moveTo>
                    <a:lnTo>
                      <a:pt x="157166" y="157162"/>
                    </a:lnTo>
                    <a:cubicBezTo>
                      <a:pt x="147522" y="157162"/>
                      <a:pt x="139704" y="164981"/>
                      <a:pt x="139704" y="174625"/>
                    </a:cubicBezTo>
                    <a:cubicBezTo>
                      <a:pt x="139704" y="184269"/>
                      <a:pt x="147522" y="192087"/>
                      <a:pt x="157166" y="192087"/>
                    </a:cubicBezTo>
                    <a:lnTo>
                      <a:pt x="192091" y="192087"/>
                    </a:lnTo>
                    <a:cubicBezTo>
                      <a:pt x="201736" y="192087"/>
                      <a:pt x="209554" y="184269"/>
                      <a:pt x="209554" y="174625"/>
                    </a:cubicBezTo>
                    <a:cubicBezTo>
                      <a:pt x="209554" y="164981"/>
                      <a:pt x="201736" y="157162"/>
                      <a:pt x="192091" y="157162"/>
                    </a:cubicBezTo>
                    <a:moveTo>
                      <a:pt x="174629" y="0"/>
                    </a:moveTo>
                    <a:cubicBezTo>
                      <a:pt x="193917" y="0"/>
                      <a:pt x="209554" y="15636"/>
                      <a:pt x="209554" y="34925"/>
                    </a:cubicBezTo>
                    <a:cubicBezTo>
                      <a:pt x="209554" y="54214"/>
                      <a:pt x="193917" y="69850"/>
                      <a:pt x="174629" y="69850"/>
                    </a:cubicBezTo>
                    <a:lnTo>
                      <a:pt x="104779" y="69850"/>
                    </a:lnTo>
                    <a:cubicBezTo>
                      <a:pt x="85490" y="69850"/>
                      <a:pt x="69854" y="54214"/>
                      <a:pt x="69854" y="34925"/>
                    </a:cubicBezTo>
                    <a:cubicBezTo>
                      <a:pt x="69854" y="15636"/>
                      <a:pt x="85490" y="0"/>
                      <a:pt x="10477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6193119" y="3476625"/>
                <a:ext cx="1329761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新建TextGrid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6393656" y="3802856"/>
                <a:ext cx="92868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设置标注对象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973735" y="2505075"/>
              <a:ext cx="1273731" cy="1526381"/>
              <a:chOff x="7973735" y="2505075"/>
              <a:chExt cx="1273731" cy="1526381"/>
            </a:xfrm>
          </p:grpSpPr>
          <p:sp>
            <p:nvSpPr>
              <p:cNvPr id="30" name="Ellipse 30"/>
              <p:cNvSpPr/>
              <p:nvPr/>
            </p:nvSpPr>
            <p:spPr>
              <a:xfrm>
                <a:off x="8210550" y="2505075"/>
                <a:ext cx="800100" cy="800100"/>
              </a:xfrm>
              <a:prstGeom prst="ellipse">
                <a:avLst/>
              </a:prstGeom>
              <a:solidFill>
                <a:srgbClr val="1D5B8F"/>
              </a:solidFill>
              <a:ln>
                <a:noFill/>
              </a:ln>
            </p:spPr>
          </p:sp>
          <p:grpSp>
            <p:nvGrpSpPr>
              <p:cNvPr id="33" name="Group 33"/>
              <p:cNvGrpSpPr/>
              <p:nvPr/>
            </p:nvGrpSpPr>
            <p:grpSpPr>
              <a:xfrm>
                <a:off x="8453438" y="2725216"/>
                <a:ext cx="337161" cy="337072"/>
                <a:chOff x="8453438" y="2725216"/>
                <a:chExt cx="337161" cy="337072"/>
              </a:xfrm>
            </p:grpSpPr>
            <p:sp>
              <p:nvSpPr>
                <p:cNvPr id="31" name="Freeform 31"/>
                <p:cNvSpPr/>
                <p:nvPr/>
              </p:nvSpPr>
              <p:spPr>
                <a:xfrm>
                  <a:off x="8453438" y="2800350"/>
                  <a:ext cx="261938" cy="2619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1938" h="261938">
                      <a:moveTo>
                        <a:pt x="87312" y="17462"/>
                      </a:moveTo>
                      <a:cubicBezTo>
                        <a:pt x="87312" y="27107"/>
                        <a:pt x="79494" y="34925"/>
                        <a:pt x="69850" y="34925"/>
                      </a:cubicBezTo>
                      <a:lnTo>
                        <a:pt x="52388" y="34925"/>
                      </a:lnTo>
                      <a:cubicBezTo>
                        <a:pt x="42743" y="34925"/>
                        <a:pt x="34925" y="42743"/>
                        <a:pt x="34925" y="52388"/>
                      </a:cubicBezTo>
                      <a:lnTo>
                        <a:pt x="34925" y="209550"/>
                      </a:lnTo>
                      <a:cubicBezTo>
                        <a:pt x="34925" y="219194"/>
                        <a:pt x="42743" y="227012"/>
                        <a:pt x="52388" y="227012"/>
                      </a:cubicBezTo>
                      <a:lnTo>
                        <a:pt x="209550" y="227012"/>
                      </a:lnTo>
                      <a:cubicBezTo>
                        <a:pt x="219194" y="227012"/>
                        <a:pt x="227013" y="219194"/>
                        <a:pt x="227013" y="209550"/>
                      </a:cubicBezTo>
                      <a:lnTo>
                        <a:pt x="227013" y="192088"/>
                      </a:lnTo>
                      <a:cubicBezTo>
                        <a:pt x="227013" y="182443"/>
                        <a:pt x="234831" y="174625"/>
                        <a:pt x="244475" y="174625"/>
                      </a:cubicBezTo>
                      <a:cubicBezTo>
                        <a:pt x="254119" y="174625"/>
                        <a:pt x="261938" y="182443"/>
                        <a:pt x="261938" y="192088"/>
                      </a:cubicBezTo>
                      <a:lnTo>
                        <a:pt x="261938" y="209550"/>
                      </a:lnTo>
                      <a:cubicBezTo>
                        <a:pt x="261938" y="238483"/>
                        <a:pt x="238483" y="261938"/>
                        <a:pt x="209550" y="261938"/>
                      </a:cubicBezTo>
                      <a:lnTo>
                        <a:pt x="52388" y="261938"/>
                      </a:lnTo>
                      <a:cubicBezTo>
                        <a:pt x="23455" y="261938"/>
                        <a:pt x="0" y="238483"/>
                        <a:pt x="0" y="209550"/>
                      </a:cubicBezTo>
                      <a:lnTo>
                        <a:pt x="0" y="52388"/>
                      </a:lnTo>
                      <a:cubicBezTo>
                        <a:pt x="0" y="23455"/>
                        <a:pt x="23455" y="0"/>
                        <a:pt x="52388" y="0"/>
                      </a:cubicBezTo>
                      <a:lnTo>
                        <a:pt x="69850" y="0"/>
                      </a:lnTo>
                      <a:cubicBezTo>
                        <a:pt x="79494" y="0"/>
                        <a:pt x="87312" y="7818"/>
                        <a:pt x="87312" y="17462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8540750" y="2725216"/>
                  <a:ext cx="249849" cy="2497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9849" h="249759">
                      <a:moveTo>
                        <a:pt x="115183" y="57863"/>
                      </a:moveTo>
                      <a:lnTo>
                        <a:pt x="191878" y="134559"/>
                      </a:lnTo>
                      <a:lnTo>
                        <a:pt x="82213" y="244625"/>
                      </a:lnTo>
                      <a:cubicBezTo>
                        <a:pt x="78938" y="247911"/>
                        <a:pt x="74490" y="249758"/>
                        <a:pt x="69850" y="249759"/>
                      </a:cubicBezTo>
                      <a:lnTo>
                        <a:pt x="17463" y="249759"/>
                      </a:lnTo>
                      <a:cubicBezTo>
                        <a:pt x="7818" y="249759"/>
                        <a:pt x="0" y="241941"/>
                        <a:pt x="0" y="232296"/>
                      </a:cubicBezTo>
                      <a:lnTo>
                        <a:pt x="0" y="179909"/>
                      </a:lnTo>
                      <a:cubicBezTo>
                        <a:pt x="1" y="175269"/>
                        <a:pt x="1848" y="170821"/>
                        <a:pt x="5134" y="167545"/>
                      </a:cubicBezTo>
                      <a:close/>
                      <a:moveTo>
                        <a:pt x="228619" y="21140"/>
                      </a:moveTo>
                      <a:cubicBezTo>
                        <a:pt x="248594" y="41101"/>
                        <a:pt x="249849" y="73069"/>
                        <a:pt x="231500" y="94535"/>
                      </a:cubicBezTo>
                      <a:lnTo>
                        <a:pt x="228637" y="97678"/>
                      </a:lnTo>
                      <a:lnTo>
                        <a:pt x="216535" y="109797"/>
                      </a:lnTo>
                      <a:lnTo>
                        <a:pt x="139927" y="33189"/>
                      </a:lnTo>
                      <a:lnTo>
                        <a:pt x="152063" y="21140"/>
                      </a:lnTo>
                      <a:cubicBezTo>
                        <a:pt x="173204" y="0"/>
                        <a:pt x="207479" y="0"/>
                        <a:pt x="228619" y="21140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</p:sp>
          </p:grpSp>
          <p:sp>
            <p:nvSpPr>
              <p:cNvPr id="34" name="TextBox 34"/>
              <p:cNvSpPr txBox="1"/>
              <p:nvPr/>
            </p:nvSpPr>
            <p:spPr>
              <a:xfrm>
                <a:off x="8171498" y="3476625"/>
                <a:ext cx="87820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命名层级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7973735" y="3802856"/>
                <a:ext cx="127373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内容 / 角色 / 事件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9963150" y="2505075"/>
              <a:ext cx="800100" cy="1526381"/>
              <a:chOff x="9963150" y="2505075"/>
              <a:chExt cx="800100" cy="1526381"/>
            </a:xfrm>
          </p:grpSpPr>
          <p:sp>
            <p:nvSpPr>
              <p:cNvPr id="37" name="Ellipse 37"/>
              <p:cNvSpPr/>
              <p:nvPr/>
            </p:nvSpPr>
            <p:spPr>
              <a:xfrm>
                <a:off x="9963150" y="2505075"/>
                <a:ext cx="800100" cy="800100"/>
              </a:xfrm>
              <a:prstGeom prst="ellipse">
                <a:avLst/>
              </a:prstGeom>
              <a:solidFill>
                <a:srgbClr val="F2B84B"/>
              </a:solidFill>
              <a:ln>
                <a:noFill/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10206038" y="2747962"/>
                <a:ext cx="314325" cy="331787"/>
              </a:xfrm>
              <a:custGeom>
                <a:avLst/>
                <a:gdLst/>
                <a:ahLst/>
                <a:cxnLst/>
                <a:rect l="l" t="t" r="r" b="b"/>
                <a:pathLst>
                  <a:path w="314325" h="331787">
                    <a:moveTo>
                      <a:pt x="296863" y="227012"/>
                    </a:moveTo>
                    <a:cubicBezTo>
                      <a:pt x="306507" y="227012"/>
                      <a:pt x="314325" y="234831"/>
                      <a:pt x="314325" y="244475"/>
                    </a:cubicBezTo>
                    <a:lnTo>
                      <a:pt x="314325" y="279400"/>
                    </a:lnTo>
                    <a:cubicBezTo>
                      <a:pt x="314325" y="308333"/>
                      <a:pt x="290870" y="331787"/>
                      <a:pt x="261938" y="331787"/>
                    </a:cubicBezTo>
                    <a:lnTo>
                      <a:pt x="52388" y="331787"/>
                    </a:lnTo>
                    <a:cubicBezTo>
                      <a:pt x="23455" y="331787"/>
                      <a:pt x="0" y="308333"/>
                      <a:pt x="0" y="279400"/>
                    </a:cubicBezTo>
                    <a:lnTo>
                      <a:pt x="0" y="244475"/>
                    </a:lnTo>
                    <a:cubicBezTo>
                      <a:pt x="0" y="234831"/>
                      <a:pt x="7818" y="227012"/>
                      <a:pt x="17462" y="227012"/>
                    </a:cubicBezTo>
                    <a:cubicBezTo>
                      <a:pt x="27107" y="227012"/>
                      <a:pt x="34925" y="234831"/>
                      <a:pt x="34925" y="244475"/>
                    </a:cubicBezTo>
                    <a:lnTo>
                      <a:pt x="34925" y="279400"/>
                    </a:lnTo>
                    <a:cubicBezTo>
                      <a:pt x="34925" y="289044"/>
                      <a:pt x="42743" y="296863"/>
                      <a:pt x="52388" y="296863"/>
                    </a:cubicBezTo>
                    <a:lnTo>
                      <a:pt x="261938" y="296863"/>
                    </a:lnTo>
                    <a:cubicBezTo>
                      <a:pt x="271582" y="296863"/>
                      <a:pt x="279400" y="289044"/>
                      <a:pt x="279400" y="279400"/>
                    </a:cubicBezTo>
                    <a:lnTo>
                      <a:pt x="279400" y="244475"/>
                    </a:lnTo>
                    <a:cubicBezTo>
                      <a:pt x="279400" y="234831"/>
                      <a:pt x="287218" y="227012"/>
                      <a:pt x="296863" y="227012"/>
                    </a:cubicBezTo>
                    <a:moveTo>
                      <a:pt x="157162" y="0"/>
                    </a:moveTo>
                    <a:cubicBezTo>
                      <a:pt x="166807" y="0"/>
                      <a:pt x="174625" y="7818"/>
                      <a:pt x="174625" y="17462"/>
                    </a:cubicBezTo>
                    <a:lnTo>
                      <a:pt x="174625" y="184841"/>
                    </a:lnTo>
                    <a:lnTo>
                      <a:pt x="232129" y="127354"/>
                    </a:lnTo>
                    <a:cubicBezTo>
                      <a:pt x="238981" y="120736"/>
                      <a:pt x="249872" y="120831"/>
                      <a:pt x="256608" y="127567"/>
                    </a:cubicBezTo>
                    <a:cubicBezTo>
                      <a:pt x="263344" y="134303"/>
                      <a:pt x="263439" y="145194"/>
                      <a:pt x="256821" y="152046"/>
                    </a:cubicBezTo>
                    <a:lnTo>
                      <a:pt x="169508" y="239358"/>
                    </a:lnTo>
                    <a:cubicBezTo>
                      <a:pt x="169013" y="239855"/>
                      <a:pt x="168488" y="240322"/>
                      <a:pt x="167937" y="240755"/>
                    </a:cubicBezTo>
                    <a:lnTo>
                      <a:pt x="169508" y="239358"/>
                    </a:lnTo>
                    <a:cubicBezTo>
                      <a:pt x="166374" y="242490"/>
                      <a:pt x="162167" y="244312"/>
                      <a:pt x="157739" y="244458"/>
                    </a:cubicBezTo>
                    <a:lnTo>
                      <a:pt x="157162" y="244475"/>
                    </a:lnTo>
                    <a:lnTo>
                      <a:pt x="156604" y="244475"/>
                    </a:lnTo>
                    <a:lnTo>
                      <a:pt x="155661" y="244405"/>
                    </a:lnTo>
                    <a:lnTo>
                      <a:pt x="157162" y="244475"/>
                    </a:lnTo>
                    <a:cubicBezTo>
                      <a:pt x="153256" y="244475"/>
                      <a:pt x="149462" y="243166"/>
                      <a:pt x="146388" y="240755"/>
                    </a:cubicBezTo>
                    <a:cubicBezTo>
                      <a:pt x="145837" y="240322"/>
                      <a:pt x="145312" y="239855"/>
                      <a:pt x="144817" y="239358"/>
                    </a:cubicBezTo>
                    <a:lnTo>
                      <a:pt x="57504" y="152046"/>
                    </a:lnTo>
                    <a:cubicBezTo>
                      <a:pt x="50886" y="145194"/>
                      <a:pt x="50981" y="134303"/>
                      <a:pt x="57717" y="127567"/>
                    </a:cubicBezTo>
                    <a:cubicBezTo>
                      <a:pt x="64453" y="120831"/>
                      <a:pt x="75344" y="120736"/>
                      <a:pt x="82196" y="127354"/>
                    </a:cubicBezTo>
                    <a:lnTo>
                      <a:pt x="139700" y="184841"/>
                    </a:lnTo>
                    <a:lnTo>
                      <a:pt x="139700" y="17462"/>
                    </a:lnTo>
                    <a:cubicBezTo>
                      <a:pt x="139700" y="7818"/>
                      <a:pt x="147518" y="0"/>
                      <a:pt x="157162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10029111" y="3476625"/>
                <a:ext cx="668179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先保存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10048875" y="3802856"/>
                <a:ext cx="62865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防止返工</a:t>
                </a:r>
              </a:p>
            </p:txBody>
          </p:sp>
        </p:grpSp>
      </p:grpSp>
      <p:grpSp>
        <p:nvGrpSpPr>
          <p:cNvPr id="52" name="Group 52"/>
          <p:cNvGrpSpPr/>
          <p:nvPr/>
        </p:nvGrpSpPr>
        <p:grpSpPr>
          <a:xfrm>
            <a:off x="857250" y="4686300"/>
            <a:ext cx="12452509" cy="1028700"/>
            <a:chOff x="857250" y="4686300"/>
            <a:chExt cx="12452509" cy="1028700"/>
          </a:xfrm>
        </p:grpSpPr>
        <p:sp>
          <p:nvSpPr>
            <p:cNvPr id="43" name="Rectangle 43"/>
            <p:cNvSpPr/>
            <p:nvPr/>
          </p:nvSpPr>
          <p:spPr>
            <a:xfrm>
              <a:off x="857250" y="4686300"/>
              <a:ext cx="3238500" cy="1028700"/>
            </a:xfrm>
            <a:prstGeom prst="roundRect">
              <a:avLst>
                <a:gd name="adj" fmla="val 16667"/>
              </a:avLst>
            </a:prstGeom>
            <a:solidFill>
              <a:srgbClr val="EAF3F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102995" y="48510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5B8F"/>
                  </a:solidFill>
                  <a:latin typeface="Arial"/>
                  <a:ea typeface="Microsoft YaHei"/>
                  <a:cs typeface="Arial"/>
                </a:rPr>
                <a:t>教师提示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07758" y="5215414"/>
              <a:ext cx="498000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演示时放慢“建层命名”步骤，要求学生同步检查自己的层级名称。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4476750" y="4686300"/>
              <a:ext cx="3238500" cy="1028700"/>
            </a:xfrm>
            <a:prstGeom prst="roundRect">
              <a:avLst>
                <a:gd name="adj" fmla="val 16667"/>
              </a:avLst>
            </a:prstGeom>
            <a:solidFill>
              <a:srgbClr val="E8F8F5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4722495" y="48510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8A999"/>
                  </a:solidFill>
                  <a:latin typeface="Arial"/>
                  <a:ea typeface="Microsoft YaHei"/>
                  <a:cs typeface="Arial"/>
                </a:rPr>
                <a:t>学生动作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727258" y="5215414"/>
              <a:ext cx="430841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打开练习素材，完成TextGrid创建，并截图或举手确认。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8096250" y="4686300"/>
              <a:ext cx="3238500" cy="1028700"/>
            </a:xfrm>
            <a:prstGeom prst="roundRect">
              <a:avLst>
                <a:gd name="adj" fmla="val 16667"/>
              </a:avLst>
            </a:prstGeom>
            <a:solidFill>
              <a:srgbClr val="FFF4D8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341995" y="4851082"/>
              <a:ext cx="73499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DC8A00"/>
                  </a:solidFill>
                  <a:latin typeface="Arial"/>
                  <a:ea typeface="Microsoft YaHei"/>
                  <a:cs typeface="Arial"/>
                </a:rPr>
                <a:t>易错点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346758" y="5215414"/>
              <a:ext cx="496300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先标注再命名、层级混用、文件未保存，是后续返工的主要来源。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598170" y="6398895"/>
            <a:ext cx="10843260" cy="182880"/>
            <a:chOff x="598170" y="6398895"/>
            <a:chExt cx="10843260" cy="182880"/>
          </a:xfrm>
        </p:grpSpPr>
        <p:sp>
          <p:nvSpPr>
            <p:cNvPr id="53" name="TextBox 53"/>
            <p:cNvSpPr txBox="1"/>
            <p:nvPr/>
          </p:nvSpPr>
          <p:spPr>
            <a:xfrm>
              <a:off x="598170" y="6398895"/>
              <a:ext cx="160105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8796"/>
                  </a:solidFill>
                  <a:latin typeface="Arial"/>
                  <a:ea typeface="Microsoft YaHei"/>
                  <a:cs typeface="Arial"/>
                </a:rPr>
                <a:t>语音标注工具使用 · 教师演示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016520" y="63988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8796"/>
                  </a:solidFill>
                  <a:latin typeface="Arial"/>
                  <a:ea typeface="Microsoft YaHei"/>
                  <a:cs typeface="Arial"/>
                </a:rPr>
                <a:t>06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5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75310" y="394335"/>
            <a:ext cx="4056978" cy="743903"/>
            <a:chOff x="575310" y="394335"/>
            <a:chExt cx="4056978" cy="743903"/>
          </a:xfrm>
        </p:grpSpPr>
        <p:sp>
          <p:nvSpPr>
            <p:cNvPr id="3" name="TextBox 3"/>
            <p:cNvSpPr txBox="1"/>
            <p:nvPr/>
          </p:nvSpPr>
          <p:spPr>
            <a:xfrm>
              <a:off x="575310" y="394335"/>
              <a:ext cx="405697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演示2：精确分割与导出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2455" y="863918"/>
              <a:ext cx="370674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精确分割要靠“听辨 + 波形 + 快捷键”共同完成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85800" y="1409700"/>
            <a:ext cx="10820400" cy="1714500"/>
            <a:chOff x="685800" y="1409700"/>
            <a:chExt cx="10820400" cy="1714500"/>
          </a:xfrm>
        </p:grpSpPr>
        <p:sp>
          <p:nvSpPr>
            <p:cNvPr id="6" name="Rectangle 6"/>
            <p:cNvSpPr/>
            <p:nvPr/>
          </p:nvSpPr>
          <p:spPr>
            <a:xfrm>
              <a:off x="685800" y="1409700"/>
              <a:ext cx="10820400" cy="1714500"/>
            </a:xfrm>
            <a:prstGeom prst="roundRect">
              <a:avLst>
                <a:gd name="adj" fmla="val 12222"/>
              </a:avLst>
            </a:prstGeom>
            <a:solidFill>
              <a:srgbClr val="FFFFFF"/>
            </a:solidFill>
            <a:ln w="19050">
              <a:solidFill>
                <a:srgbClr val="CFE1EA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73455" y="1664018"/>
              <a:ext cx="343671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D5B8F"/>
                  </a:solidFill>
                  <a:latin typeface="Arial"/>
                  <a:ea typeface="Microsoft YaHei"/>
                  <a:cs typeface="Arial"/>
                </a:rPr>
                <a:t>示意波形：找到边界，而不是凭感觉切段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1238250" y="2381250"/>
              <a:ext cx="9715500" cy="9525"/>
            </a:xfrm>
            <a:custGeom>
              <a:avLst/>
              <a:gdLst/>
              <a:ahLst/>
              <a:cxnLst/>
              <a:rect l="l" t="t" r="r" b="b"/>
              <a:pathLst>
                <a:path w="9715500" h="9525">
                  <a:moveTo>
                    <a:pt x="0" y="0"/>
                  </a:moveTo>
                  <a:lnTo>
                    <a:pt x="9715500" y="0"/>
                  </a:lnTo>
                </a:path>
              </a:pathLst>
            </a:custGeom>
            <a:noFill/>
            <a:ln w="19050">
              <a:solidFill>
                <a:srgbClr val="CFE1EA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1238250" y="1952625"/>
              <a:ext cx="9429750" cy="857250"/>
            </a:xfrm>
            <a:custGeom>
              <a:avLst/>
              <a:gdLst/>
              <a:ahLst/>
              <a:cxnLst/>
              <a:rect l="l" t="t" r="r" b="b"/>
              <a:pathLst>
                <a:path w="9429750" h="857250">
                  <a:moveTo>
                    <a:pt x="0" y="428625"/>
                  </a:moveTo>
                  <a:cubicBezTo>
                    <a:pt x="142875" y="47625"/>
                    <a:pt x="285750" y="809625"/>
                    <a:pt x="428625" y="428625"/>
                  </a:cubicBezTo>
                  <a:cubicBezTo>
                    <a:pt x="571500" y="47625"/>
                    <a:pt x="714375" y="47625"/>
                    <a:pt x="857250" y="428625"/>
                  </a:cubicBezTo>
                  <a:cubicBezTo>
                    <a:pt x="1000125" y="809625"/>
                    <a:pt x="1143000" y="828675"/>
                    <a:pt x="1285875" y="428625"/>
                  </a:cubicBezTo>
                  <a:cubicBezTo>
                    <a:pt x="1428750" y="28575"/>
                    <a:pt x="1571625" y="0"/>
                    <a:pt x="1714500" y="428625"/>
                  </a:cubicBezTo>
                  <a:cubicBezTo>
                    <a:pt x="1857375" y="857250"/>
                    <a:pt x="2000250" y="771525"/>
                    <a:pt x="2143125" y="428625"/>
                  </a:cubicBezTo>
                  <a:cubicBezTo>
                    <a:pt x="2286000" y="85725"/>
                    <a:pt x="2428875" y="123825"/>
                    <a:pt x="2571750" y="428625"/>
                  </a:cubicBezTo>
                  <a:cubicBezTo>
                    <a:pt x="2714625" y="733425"/>
                    <a:pt x="2857500" y="714375"/>
                    <a:pt x="3000375" y="428625"/>
                  </a:cubicBezTo>
                  <a:cubicBezTo>
                    <a:pt x="3143250" y="142875"/>
                    <a:pt x="3286125" y="28575"/>
                    <a:pt x="3429000" y="428625"/>
                  </a:cubicBezTo>
                  <a:cubicBezTo>
                    <a:pt x="3571875" y="828675"/>
                    <a:pt x="3714750" y="790575"/>
                    <a:pt x="3857625" y="428625"/>
                  </a:cubicBezTo>
                  <a:cubicBezTo>
                    <a:pt x="4000500" y="66675"/>
                    <a:pt x="4143375" y="142875"/>
                    <a:pt x="4286250" y="428625"/>
                  </a:cubicBezTo>
                  <a:cubicBezTo>
                    <a:pt x="4429125" y="714375"/>
                    <a:pt x="4572000" y="752475"/>
                    <a:pt x="4714875" y="428625"/>
                  </a:cubicBezTo>
                  <a:cubicBezTo>
                    <a:pt x="4857750" y="104775"/>
                    <a:pt x="5000625" y="85725"/>
                    <a:pt x="5143500" y="428625"/>
                  </a:cubicBezTo>
                  <a:cubicBezTo>
                    <a:pt x="5286375" y="771525"/>
                    <a:pt x="5429250" y="819150"/>
                    <a:pt x="5572125" y="428625"/>
                  </a:cubicBezTo>
                  <a:cubicBezTo>
                    <a:pt x="5715000" y="38100"/>
                    <a:pt x="5857875" y="114300"/>
                    <a:pt x="6000750" y="428625"/>
                  </a:cubicBezTo>
                  <a:cubicBezTo>
                    <a:pt x="6143625" y="742950"/>
                    <a:pt x="6286500" y="733425"/>
                    <a:pt x="6429375" y="428625"/>
                  </a:cubicBezTo>
                  <a:cubicBezTo>
                    <a:pt x="6572250" y="123825"/>
                    <a:pt x="6715125" y="47625"/>
                    <a:pt x="6858000" y="428625"/>
                  </a:cubicBezTo>
                  <a:cubicBezTo>
                    <a:pt x="7000875" y="809625"/>
                    <a:pt x="7143750" y="809625"/>
                    <a:pt x="7286625" y="428625"/>
                  </a:cubicBezTo>
                  <a:cubicBezTo>
                    <a:pt x="7429500" y="47625"/>
                    <a:pt x="7572375" y="161925"/>
                    <a:pt x="7715250" y="428625"/>
                  </a:cubicBezTo>
                  <a:cubicBezTo>
                    <a:pt x="7858125" y="695325"/>
                    <a:pt x="8001000" y="695325"/>
                    <a:pt x="8143875" y="428625"/>
                  </a:cubicBezTo>
                  <a:cubicBezTo>
                    <a:pt x="8286750" y="161925"/>
                    <a:pt x="8429625" y="95250"/>
                    <a:pt x="8572500" y="428625"/>
                  </a:cubicBezTo>
                  <a:cubicBezTo>
                    <a:pt x="8715375" y="762000"/>
                    <a:pt x="8858250" y="790575"/>
                    <a:pt x="9001125" y="428625"/>
                  </a:cubicBezTo>
                  <a:cubicBezTo>
                    <a:pt x="9144000" y="66675"/>
                    <a:pt x="9286875" y="180975"/>
                    <a:pt x="9429750" y="428625"/>
                  </a:cubicBezTo>
                </a:path>
              </a:pathLst>
            </a:custGeom>
            <a:noFill/>
            <a:ln w="38100" cap="rnd">
              <a:solidFill>
                <a:srgbClr val="18A999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3381375" y="1809750"/>
              <a:ext cx="9525" cy="1047750"/>
            </a:xfrm>
            <a:custGeom>
              <a:avLst/>
              <a:gdLst/>
              <a:ahLst/>
              <a:cxnLst/>
              <a:rect l="l" t="t" r="r" b="b"/>
              <a:pathLst>
                <a:path w="9525" h="1047750">
                  <a:moveTo>
                    <a:pt x="0" y="0"/>
                  </a:moveTo>
                  <a:lnTo>
                    <a:pt x="0" y="1047750"/>
                  </a:lnTo>
                </a:path>
              </a:pathLst>
            </a:custGeom>
            <a:noFill/>
            <a:ln w="38100">
              <a:solidFill>
                <a:srgbClr val="F2B84B"/>
              </a:solidFill>
              <a:prstDash val="lgDash"/>
            </a:ln>
          </p:spPr>
        </p:sp>
        <p:sp>
          <p:nvSpPr>
            <p:cNvPr id="11" name="Line 11"/>
            <p:cNvSpPr/>
            <p:nvPr/>
          </p:nvSpPr>
          <p:spPr>
            <a:xfrm>
              <a:off x="8524875" y="1809750"/>
              <a:ext cx="9525" cy="1047750"/>
            </a:xfrm>
            <a:custGeom>
              <a:avLst/>
              <a:gdLst/>
              <a:ahLst/>
              <a:cxnLst/>
              <a:rect l="l" t="t" r="r" b="b"/>
              <a:pathLst>
                <a:path w="9525" h="1047750">
                  <a:moveTo>
                    <a:pt x="0" y="0"/>
                  </a:moveTo>
                  <a:lnTo>
                    <a:pt x="0" y="1047750"/>
                  </a:lnTo>
                </a:path>
              </a:pathLst>
            </a:custGeom>
            <a:noFill/>
            <a:ln w="38100">
              <a:solidFill>
                <a:srgbClr val="F2B84B"/>
              </a:solidFill>
              <a:prstDash val="lgDash"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228023" y="2896552"/>
              <a:ext cx="3067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DC8A00"/>
                  </a:solidFill>
                  <a:latin typeface="Arial"/>
                  <a:ea typeface="Microsoft YaHei"/>
                  <a:cs typeface="Arial"/>
                </a:rPr>
                <a:t>起点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371522" y="2896552"/>
              <a:ext cx="3067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DC8A00"/>
                  </a:solidFill>
                  <a:latin typeface="Arial"/>
                  <a:ea typeface="Microsoft YaHei"/>
                  <a:cs typeface="Arial"/>
                </a:rPr>
                <a:t>终点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857250" y="3714750"/>
            <a:ext cx="10668000" cy="1238250"/>
            <a:chOff x="857250" y="3714750"/>
            <a:chExt cx="10668000" cy="1238250"/>
          </a:xfrm>
        </p:grpSpPr>
        <p:sp>
          <p:nvSpPr>
            <p:cNvPr id="15" name="Rectangle 15"/>
            <p:cNvSpPr/>
            <p:nvPr/>
          </p:nvSpPr>
          <p:spPr>
            <a:xfrm>
              <a:off x="857250" y="3714750"/>
              <a:ext cx="1714500" cy="1238250"/>
            </a:xfrm>
            <a:prstGeom prst="roundRect">
              <a:avLst>
                <a:gd name="adj" fmla="val 13846"/>
              </a:avLst>
            </a:prstGeom>
            <a:solidFill>
              <a:srgbClr val="FFFFFF"/>
            </a:solidFill>
            <a:ln w="19050">
              <a:solidFill>
                <a:srgbClr val="CFE1EA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231487" y="387953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D5B8F"/>
                  </a:solidFill>
                  <a:latin typeface="Arial"/>
                  <a:ea typeface="Microsoft YaHei"/>
                  <a:cs typeface="Arial"/>
                </a:rPr>
                <a:t>放大片段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39190" y="4271010"/>
              <a:ext cx="11506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先看波形密集区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2571750" y="4333875"/>
              <a:ext cx="666750" cy="1"/>
            </a:xfrm>
            <a:prstGeom prst="line">
              <a:avLst/>
            </a:prstGeom>
            <a:noFill/>
            <a:ln w="28575">
              <a:solidFill>
                <a:srgbClr val="1D5B8F"/>
              </a:solidFill>
              <a:tailEnd type="triangle" w="lg" len="lg"/>
            </a:ln>
          </p:spPr>
        </p:sp>
        <p:sp>
          <p:nvSpPr>
            <p:cNvPr id="19" name="Rectangle 19"/>
            <p:cNvSpPr/>
            <p:nvPr/>
          </p:nvSpPr>
          <p:spPr>
            <a:xfrm>
              <a:off x="3333750" y="3714750"/>
              <a:ext cx="1714500" cy="1238250"/>
            </a:xfrm>
            <a:prstGeom prst="roundRect">
              <a:avLst>
                <a:gd name="adj" fmla="val 13846"/>
              </a:avLst>
            </a:prstGeom>
            <a:solidFill>
              <a:srgbClr val="FFFFFF"/>
            </a:solidFill>
            <a:ln w="19050">
              <a:solidFill>
                <a:srgbClr val="CFE1EA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707987" y="387953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D5B8F"/>
                  </a:solidFill>
                  <a:latin typeface="Arial"/>
                  <a:ea typeface="Microsoft YaHei"/>
                  <a:cs typeface="Arial"/>
                </a:rPr>
                <a:t>反复听辨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695700" y="4271010"/>
              <a:ext cx="9906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确认声音边界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5048250" y="4333875"/>
              <a:ext cx="666750" cy="1"/>
            </a:xfrm>
            <a:prstGeom prst="line">
              <a:avLst/>
            </a:prstGeom>
            <a:noFill/>
            <a:ln w="28575">
              <a:solidFill>
                <a:srgbClr val="1D5B8F"/>
              </a:solidFill>
              <a:tailEnd type="triangle" w="lg" len="lg"/>
            </a:ln>
          </p:spPr>
        </p:sp>
        <p:sp>
          <p:nvSpPr>
            <p:cNvPr id="23" name="Rectangle 23"/>
            <p:cNvSpPr/>
            <p:nvPr/>
          </p:nvSpPr>
          <p:spPr>
            <a:xfrm>
              <a:off x="5810250" y="3714750"/>
              <a:ext cx="1714500" cy="1238250"/>
            </a:xfrm>
            <a:prstGeom prst="roundRect">
              <a:avLst>
                <a:gd name="adj" fmla="val 13846"/>
              </a:avLst>
            </a:prstGeom>
            <a:solidFill>
              <a:srgbClr val="FFFFFF"/>
            </a:solidFill>
            <a:ln w="19050">
              <a:solidFill>
                <a:srgbClr val="CFE1EA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184487" y="387953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8A999"/>
                  </a:solidFill>
                  <a:latin typeface="Arial"/>
                  <a:ea typeface="Microsoft YaHei"/>
                  <a:cs typeface="Arial"/>
                </a:rPr>
                <a:t>插入边界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172200" y="4271010"/>
              <a:ext cx="9906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切分不漏不重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7524750" y="4333875"/>
              <a:ext cx="666750" cy="1"/>
            </a:xfrm>
            <a:prstGeom prst="line">
              <a:avLst/>
            </a:prstGeom>
            <a:noFill/>
            <a:ln w="28575">
              <a:solidFill>
                <a:srgbClr val="1D5B8F"/>
              </a:solidFill>
              <a:tailEnd type="triangle" w="lg" len="lg"/>
            </a:ln>
          </p:spPr>
        </p:sp>
        <p:sp>
          <p:nvSpPr>
            <p:cNvPr id="27" name="Rectangle 27"/>
            <p:cNvSpPr/>
            <p:nvPr/>
          </p:nvSpPr>
          <p:spPr>
            <a:xfrm>
              <a:off x="8286750" y="3714750"/>
              <a:ext cx="1714500" cy="1238250"/>
            </a:xfrm>
            <a:prstGeom prst="roundRect">
              <a:avLst>
                <a:gd name="adj" fmla="val 13846"/>
              </a:avLst>
            </a:prstGeom>
            <a:solidFill>
              <a:srgbClr val="FFFFFF"/>
            </a:solidFill>
            <a:ln w="19050">
              <a:solidFill>
                <a:srgbClr val="CFE1EA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660987" y="387953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8A999"/>
                  </a:solidFill>
                  <a:latin typeface="Arial"/>
                  <a:ea typeface="Microsoft YaHei"/>
                  <a:cs typeface="Arial"/>
                </a:rPr>
                <a:t>补充标签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568690" y="4271010"/>
              <a:ext cx="11506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内容或事件说明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10001250" y="4333875"/>
              <a:ext cx="666750" cy="1"/>
            </a:xfrm>
            <a:prstGeom prst="line">
              <a:avLst/>
            </a:prstGeom>
            <a:noFill/>
            <a:ln w="28575">
              <a:solidFill>
                <a:srgbClr val="1D5B8F"/>
              </a:solidFill>
              <a:tailEnd type="triangle" w="lg" len="lg"/>
            </a:ln>
          </p:spPr>
        </p:sp>
        <p:sp>
          <p:nvSpPr>
            <p:cNvPr id="31" name="Rectangle 31"/>
            <p:cNvSpPr/>
            <p:nvPr/>
          </p:nvSpPr>
          <p:spPr>
            <a:xfrm>
              <a:off x="10763250" y="3714750"/>
              <a:ext cx="762000" cy="1238250"/>
            </a:xfrm>
            <a:prstGeom prst="roundRect">
              <a:avLst>
                <a:gd name="adj" fmla="val 22500"/>
              </a:avLst>
            </a:prstGeom>
            <a:solidFill>
              <a:srgbClr val="F2B84B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10987088" y="4052888"/>
              <a:ext cx="314325" cy="331787"/>
            </a:xfrm>
            <a:custGeom>
              <a:avLst/>
              <a:gdLst/>
              <a:ahLst/>
              <a:cxnLst/>
              <a:rect l="l" t="t" r="r" b="b"/>
              <a:pathLst>
                <a:path w="314325" h="331787">
                  <a:moveTo>
                    <a:pt x="296863" y="227012"/>
                  </a:moveTo>
                  <a:cubicBezTo>
                    <a:pt x="306507" y="227012"/>
                    <a:pt x="314325" y="234831"/>
                    <a:pt x="314325" y="244475"/>
                  </a:cubicBezTo>
                  <a:lnTo>
                    <a:pt x="314325" y="279400"/>
                  </a:lnTo>
                  <a:cubicBezTo>
                    <a:pt x="314325" y="308333"/>
                    <a:pt x="290870" y="331787"/>
                    <a:pt x="261938" y="331787"/>
                  </a:cubicBezTo>
                  <a:lnTo>
                    <a:pt x="52388" y="331787"/>
                  </a:lnTo>
                  <a:cubicBezTo>
                    <a:pt x="23455" y="331787"/>
                    <a:pt x="0" y="308333"/>
                    <a:pt x="0" y="279400"/>
                  </a:cubicBezTo>
                  <a:lnTo>
                    <a:pt x="0" y="244475"/>
                  </a:lnTo>
                  <a:cubicBezTo>
                    <a:pt x="0" y="234831"/>
                    <a:pt x="7818" y="227012"/>
                    <a:pt x="17462" y="227012"/>
                  </a:cubicBezTo>
                  <a:cubicBezTo>
                    <a:pt x="27107" y="227012"/>
                    <a:pt x="34925" y="234831"/>
                    <a:pt x="34925" y="244475"/>
                  </a:cubicBezTo>
                  <a:lnTo>
                    <a:pt x="34925" y="279400"/>
                  </a:lnTo>
                  <a:cubicBezTo>
                    <a:pt x="34925" y="289044"/>
                    <a:pt x="42743" y="296863"/>
                    <a:pt x="52388" y="296863"/>
                  </a:cubicBezTo>
                  <a:lnTo>
                    <a:pt x="261938" y="296863"/>
                  </a:lnTo>
                  <a:cubicBezTo>
                    <a:pt x="271582" y="296863"/>
                    <a:pt x="279400" y="289044"/>
                    <a:pt x="279400" y="279400"/>
                  </a:cubicBezTo>
                  <a:lnTo>
                    <a:pt x="279400" y="244475"/>
                  </a:lnTo>
                  <a:cubicBezTo>
                    <a:pt x="279400" y="234831"/>
                    <a:pt x="287218" y="227012"/>
                    <a:pt x="296863" y="227012"/>
                  </a:cubicBezTo>
                  <a:moveTo>
                    <a:pt x="157162" y="0"/>
                  </a:moveTo>
                  <a:cubicBezTo>
                    <a:pt x="166807" y="0"/>
                    <a:pt x="174625" y="7818"/>
                    <a:pt x="174625" y="17462"/>
                  </a:cubicBezTo>
                  <a:lnTo>
                    <a:pt x="174625" y="184841"/>
                  </a:lnTo>
                  <a:lnTo>
                    <a:pt x="232129" y="127354"/>
                  </a:lnTo>
                  <a:cubicBezTo>
                    <a:pt x="238981" y="120736"/>
                    <a:pt x="249872" y="120831"/>
                    <a:pt x="256608" y="127567"/>
                  </a:cubicBezTo>
                  <a:cubicBezTo>
                    <a:pt x="263344" y="134303"/>
                    <a:pt x="263439" y="145194"/>
                    <a:pt x="256821" y="152046"/>
                  </a:cubicBezTo>
                  <a:lnTo>
                    <a:pt x="169508" y="239358"/>
                  </a:lnTo>
                  <a:cubicBezTo>
                    <a:pt x="169013" y="239855"/>
                    <a:pt x="168488" y="240322"/>
                    <a:pt x="167937" y="240755"/>
                  </a:cubicBezTo>
                  <a:lnTo>
                    <a:pt x="169508" y="239358"/>
                  </a:lnTo>
                  <a:cubicBezTo>
                    <a:pt x="166374" y="242490"/>
                    <a:pt x="162167" y="244312"/>
                    <a:pt x="157739" y="244458"/>
                  </a:cubicBezTo>
                  <a:lnTo>
                    <a:pt x="157162" y="244475"/>
                  </a:lnTo>
                  <a:lnTo>
                    <a:pt x="156604" y="244475"/>
                  </a:lnTo>
                  <a:lnTo>
                    <a:pt x="155661" y="244405"/>
                  </a:lnTo>
                  <a:lnTo>
                    <a:pt x="157162" y="244475"/>
                  </a:lnTo>
                  <a:cubicBezTo>
                    <a:pt x="153256" y="244475"/>
                    <a:pt x="149462" y="243166"/>
                    <a:pt x="146388" y="240755"/>
                  </a:cubicBezTo>
                  <a:cubicBezTo>
                    <a:pt x="145837" y="240322"/>
                    <a:pt x="145312" y="239855"/>
                    <a:pt x="144817" y="239358"/>
                  </a:cubicBezTo>
                  <a:lnTo>
                    <a:pt x="57504" y="152046"/>
                  </a:lnTo>
                  <a:cubicBezTo>
                    <a:pt x="50886" y="145194"/>
                    <a:pt x="50981" y="134303"/>
                    <a:pt x="57717" y="127567"/>
                  </a:cubicBezTo>
                  <a:cubicBezTo>
                    <a:pt x="64453" y="120831"/>
                    <a:pt x="75344" y="120736"/>
                    <a:pt x="82196" y="127354"/>
                  </a:cubicBezTo>
                  <a:lnTo>
                    <a:pt x="139700" y="184841"/>
                  </a:lnTo>
                  <a:lnTo>
                    <a:pt x="139700" y="17462"/>
                  </a:lnTo>
                  <a:cubicBezTo>
                    <a:pt x="139700" y="7818"/>
                    <a:pt x="147518" y="0"/>
                    <a:pt x="15716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938081" y="4559618"/>
              <a:ext cx="4123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导出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2095500" y="5410200"/>
            <a:ext cx="8001000" cy="552450"/>
            <a:chOff x="2095500" y="5410200"/>
            <a:chExt cx="8001000" cy="552450"/>
          </a:xfrm>
        </p:grpSpPr>
        <p:sp>
          <p:nvSpPr>
            <p:cNvPr id="35" name="Rectangle 35"/>
            <p:cNvSpPr/>
            <p:nvPr/>
          </p:nvSpPr>
          <p:spPr>
            <a:xfrm>
              <a:off x="2095500" y="5410200"/>
              <a:ext cx="8001000" cy="552450"/>
            </a:xfrm>
            <a:prstGeom prst="roundRect">
              <a:avLst>
                <a:gd name="adj" fmla="val 31034"/>
              </a:avLst>
            </a:prstGeom>
            <a:solidFill>
              <a:srgbClr val="EAF3F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2988612" y="5583079"/>
              <a:ext cx="6214777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75" b="1" dirty="0">
                  <a:solidFill>
                    <a:srgbClr val="1D5B8F"/>
                  </a:solidFill>
                  <a:latin typeface="Arial"/>
                  <a:ea typeface="Microsoft YaHei"/>
                  <a:cs typeface="Arial"/>
                </a:rPr>
                <a:t>好的分割不是越碎越好，而是边界准确、标签一致、结果可复核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598170" y="6398895"/>
            <a:ext cx="10843260" cy="182880"/>
            <a:chOff x="598170" y="6398895"/>
            <a:chExt cx="10843260" cy="182880"/>
          </a:xfrm>
        </p:grpSpPr>
        <p:sp>
          <p:nvSpPr>
            <p:cNvPr id="38" name="TextBox 38"/>
            <p:cNvSpPr txBox="1"/>
            <p:nvPr/>
          </p:nvSpPr>
          <p:spPr>
            <a:xfrm>
              <a:off x="598170" y="6398895"/>
              <a:ext cx="160105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8796"/>
                  </a:solidFill>
                  <a:latin typeface="Arial"/>
                  <a:ea typeface="Microsoft YaHei"/>
                  <a:cs typeface="Arial"/>
                </a:rPr>
                <a:t>语音标注工具使用 · 精确分割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016520" y="63988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8796"/>
                  </a:solidFill>
                  <a:latin typeface="Arial"/>
                  <a:ea typeface="Microsoft YaHei"/>
                  <a:cs typeface="Arial"/>
                </a:rPr>
                <a:t>07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34" grpId="0"/>
      <p:bldP spid="3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718185" y="408622"/>
            <a:ext cx="4312444" cy="915353"/>
            <a:chOff x="718185" y="408622"/>
            <a:chExt cx="4312444" cy="915353"/>
          </a:xfrm>
        </p:grpSpPr>
        <p:sp>
          <p:nvSpPr>
            <p:cNvPr id="3" name="TextBox 3"/>
            <p:cNvSpPr txBox="1"/>
            <p:nvPr/>
          </p:nvSpPr>
          <p:spPr>
            <a:xfrm>
              <a:off x="718185" y="408622"/>
              <a:ext cx="3734736" cy="701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实操练习1任务单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0" y="1019175"/>
              <a:ext cx="42686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第一轮实操：完成多层TextGrid结构和精确分割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95350" y="1771650"/>
            <a:ext cx="5143500" cy="3143250"/>
            <a:chOff x="895350" y="1771650"/>
            <a:chExt cx="5143500" cy="3143250"/>
          </a:xfrm>
        </p:grpSpPr>
        <p:sp>
          <p:nvSpPr>
            <p:cNvPr id="6" name="Rectangle 6"/>
            <p:cNvSpPr/>
            <p:nvPr/>
          </p:nvSpPr>
          <p:spPr>
            <a:xfrm>
              <a:off x="895350" y="1771650"/>
              <a:ext cx="5143500" cy="3143250"/>
            </a:xfrm>
            <a:prstGeom prst="roundRect">
              <a:avLst>
                <a:gd name="adj" fmla="val 7879"/>
              </a:avLst>
            </a:prstGeom>
            <a:solidFill>
              <a:srgbClr val="FFFFFF"/>
            </a:solidFill>
            <a:ln w="19050">
              <a:solidFill>
                <a:srgbClr val="CFE1EA"/>
              </a:solidFill>
            </a:ln>
          </p:spPr>
        </p:sp>
        <p:grpSp>
          <p:nvGrpSpPr>
            <p:cNvPr id="9" name="Group 9"/>
            <p:cNvGrpSpPr/>
            <p:nvPr/>
          </p:nvGrpSpPr>
          <p:grpSpPr>
            <a:xfrm>
              <a:off x="1254919" y="2145538"/>
              <a:ext cx="352487" cy="352394"/>
              <a:chOff x="1254919" y="2145538"/>
              <a:chExt cx="352487" cy="352394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1254919" y="2224088"/>
                <a:ext cx="273844" cy="273844"/>
              </a:xfrm>
              <a:custGeom>
                <a:avLst/>
                <a:gdLst/>
                <a:ahLst/>
                <a:cxnLst/>
                <a:rect l="l" t="t" r="r" b="b"/>
                <a:pathLst>
                  <a:path w="273844" h="273844">
                    <a:moveTo>
                      <a:pt x="91281" y="18256"/>
                    </a:moveTo>
                    <a:cubicBezTo>
                      <a:pt x="91281" y="28339"/>
                      <a:pt x="83108" y="36513"/>
                      <a:pt x="73025" y="36513"/>
                    </a:cubicBezTo>
                    <a:lnTo>
                      <a:pt x="54769" y="36513"/>
                    </a:lnTo>
                    <a:cubicBezTo>
                      <a:pt x="44686" y="36513"/>
                      <a:pt x="36513" y="44686"/>
                      <a:pt x="36513" y="54769"/>
                    </a:cubicBezTo>
                    <a:lnTo>
                      <a:pt x="36513" y="219075"/>
                    </a:lnTo>
                    <a:cubicBezTo>
                      <a:pt x="36513" y="229158"/>
                      <a:pt x="44686" y="237331"/>
                      <a:pt x="54769" y="237331"/>
                    </a:cubicBezTo>
                    <a:lnTo>
                      <a:pt x="219075" y="237331"/>
                    </a:lnTo>
                    <a:cubicBezTo>
                      <a:pt x="229158" y="237331"/>
                      <a:pt x="237331" y="229158"/>
                      <a:pt x="237331" y="219075"/>
                    </a:cubicBezTo>
                    <a:lnTo>
                      <a:pt x="237331" y="200819"/>
                    </a:lnTo>
                    <a:cubicBezTo>
                      <a:pt x="237331" y="190736"/>
                      <a:pt x="245505" y="182562"/>
                      <a:pt x="255588" y="182562"/>
                    </a:cubicBezTo>
                    <a:cubicBezTo>
                      <a:pt x="265670" y="182562"/>
                      <a:pt x="273844" y="190736"/>
                      <a:pt x="273844" y="200819"/>
                    </a:cubicBezTo>
                    <a:lnTo>
                      <a:pt x="273844" y="219075"/>
                    </a:lnTo>
                    <a:cubicBezTo>
                      <a:pt x="273844" y="249323"/>
                      <a:pt x="249323" y="273844"/>
                      <a:pt x="219075" y="273844"/>
                    </a:cubicBezTo>
                    <a:lnTo>
                      <a:pt x="54769" y="273844"/>
                    </a:lnTo>
                    <a:cubicBezTo>
                      <a:pt x="24521" y="273844"/>
                      <a:pt x="0" y="249323"/>
                      <a:pt x="0" y="219075"/>
                    </a:cubicBezTo>
                    <a:lnTo>
                      <a:pt x="0" y="54769"/>
                    </a:lnTo>
                    <a:cubicBezTo>
                      <a:pt x="0" y="24521"/>
                      <a:pt x="24521" y="0"/>
                      <a:pt x="54769" y="0"/>
                    </a:cubicBezTo>
                    <a:lnTo>
                      <a:pt x="73025" y="0"/>
                    </a:lnTo>
                    <a:cubicBezTo>
                      <a:pt x="83108" y="0"/>
                      <a:pt x="91281" y="8174"/>
                      <a:pt x="91281" y="18256"/>
                    </a:cubicBezTo>
                  </a:path>
                </a:pathLst>
              </a:custGeom>
              <a:solidFill>
                <a:srgbClr val="18A999"/>
              </a:solidFill>
              <a:ln>
                <a:noFill/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346200" y="2145538"/>
                <a:ext cx="261206" cy="261112"/>
              </a:xfrm>
              <a:custGeom>
                <a:avLst/>
                <a:gdLst/>
                <a:ahLst/>
                <a:cxnLst/>
                <a:rect l="l" t="t" r="r" b="b"/>
                <a:pathLst>
                  <a:path w="261206" h="261112">
                    <a:moveTo>
                      <a:pt x="120418" y="60494"/>
                    </a:moveTo>
                    <a:lnTo>
                      <a:pt x="200600" y="140675"/>
                    </a:lnTo>
                    <a:lnTo>
                      <a:pt x="85950" y="255744"/>
                    </a:lnTo>
                    <a:cubicBezTo>
                      <a:pt x="82526" y="259179"/>
                      <a:pt x="77875" y="261111"/>
                      <a:pt x="73025" y="261112"/>
                    </a:cubicBezTo>
                    <a:lnTo>
                      <a:pt x="18256" y="261112"/>
                    </a:lnTo>
                    <a:cubicBezTo>
                      <a:pt x="8174" y="261112"/>
                      <a:pt x="0" y="252938"/>
                      <a:pt x="0" y="242855"/>
                    </a:cubicBezTo>
                    <a:lnTo>
                      <a:pt x="0" y="188087"/>
                    </a:lnTo>
                    <a:cubicBezTo>
                      <a:pt x="1" y="183236"/>
                      <a:pt x="1932" y="178586"/>
                      <a:pt x="5367" y="175161"/>
                    </a:cubicBezTo>
                    <a:close/>
                    <a:moveTo>
                      <a:pt x="239011" y="22101"/>
                    </a:moveTo>
                    <a:cubicBezTo>
                      <a:pt x="259894" y="42969"/>
                      <a:pt x="261206" y="76391"/>
                      <a:pt x="242023" y="98832"/>
                    </a:cubicBezTo>
                    <a:lnTo>
                      <a:pt x="239029" y="102118"/>
                    </a:lnTo>
                    <a:lnTo>
                      <a:pt x="226377" y="114788"/>
                    </a:lnTo>
                    <a:lnTo>
                      <a:pt x="146287" y="34698"/>
                    </a:lnTo>
                    <a:lnTo>
                      <a:pt x="158975" y="22101"/>
                    </a:lnTo>
                    <a:cubicBezTo>
                      <a:pt x="181077" y="0"/>
                      <a:pt x="216909" y="0"/>
                      <a:pt x="239011" y="22101"/>
                    </a:cubicBezTo>
                  </a:path>
                </a:pathLst>
              </a:custGeom>
              <a:solidFill>
                <a:srgbClr val="18A999"/>
              </a:solidFill>
              <a:ln>
                <a:noFill/>
              </a:ln>
            </p:spPr>
          </p:sp>
        </p:grpSp>
        <p:sp>
          <p:nvSpPr>
            <p:cNvPr id="10" name="TextBox 10"/>
            <p:cNvSpPr txBox="1"/>
            <p:nvPr/>
          </p:nvSpPr>
          <p:spPr>
            <a:xfrm>
              <a:off x="1783080" y="2192655"/>
              <a:ext cx="122948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8A999"/>
                  </a:solidFill>
                  <a:latin typeface="Arial"/>
                  <a:ea typeface="Microsoft YaHei"/>
                  <a:cs typeface="Arial"/>
                </a:rPr>
                <a:t>学生任务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79195" y="2850832"/>
              <a:ext cx="3478530" cy="19354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150"/>
                </a:lnSpc>
              </a:pPr>
              <a:r>
                <a:rPr lang="zh-CN" sz="16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1. 导入练习语音文件</a:t>
              </a:r>
              <a:r>
                <a:rPr lang="zh-CN" sz="16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2. 创建内容、角色、事件三类标注层</a:t>
              </a:r>
              <a:r>
                <a:rPr lang="zh-CN" sz="16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3. 完成精确分割并添加分段标签</a:t>
              </a:r>
              <a:r>
                <a:rPr lang="zh-CN" sz="16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4. 练习point tier点标注</a:t>
              </a:r>
              <a:r>
                <a:rPr lang="zh-CN" sz="16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5. 保存并导出标注数据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572250" y="1771650"/>
            <a:ext cx="5021580" cy="1466850"/>
            <a:chOff x="6572250" y="1771650"/>
            <a:chExt cx="5021580" cy="1466850"/>
          </a:xfrm>
        </p:grpSpPr>
        <p:sp>
          <p:nvSpPr>
            <p:cNvPr id="13" name="Rectangle 13"/>
            <p:cNvSpPr/>
            <p:nvPr/>
          </p:nvSpPr>
          <p:spPr>
            <a:xfrm>
              <a:off x="6572250" y="1771650"/>
              <a:ext cx="4724400" cy="1466850"/>
            </a:xfrm>
            <a:prstGeom prst="roundRect">
              <a:avLst>
                <a:gd name="adj" fmla="val 15584"/>
              </a:avLst>
            </a:prstGeom>
            <a:solidFill>
              <a:srgbClr val="E8F8F5"/>
            </a:solidFill>
            <a:ln w="19050">
              <a:solidFill>
                <a:srgbClr val="CFE1EA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6956422" y="2125662"/>
              <a:ext cx="241307" cy="301625"/>
            </a:xfrm>
            <a:custGeom>
              <a:avLst/>
              <a:gdLst/>
              <a:ahLst/>
              <a:cxnLst/>
              <a:rect l="l" t="t" r="r" b="b"/>
              <a:pathLst>
                <a:path w="241307" h="301625">
                  <a:moveTo>
                    <a:pt x="211096" y="32726"/>
                  </a:moveTo>
                  <a:cubicBezTo>
                    <a:pt x="229199" y="39105"/>
                    <a:pt x="241307" y="56212"/>
                    <a:pt x="241303" y="75406"/>
                  </a:cubicBezTo>
                  <a:lnTo>
                    <a:pt x="241303" y="256381"/>
                  </a:lnTo>
                  <a:cubicBezTo>
                    <a:pt x="241303" y="281369"/>
                    <a:pt x="221047" y="301625"/>
                    <a:pt x="196060" y="301625"/>
                  </a:cubicBezTo>
                  <a:lnTo>
                    <a:pt x="45247" y="301625"/>
                  </a:lnTo>
                  <a:cubicBezTo>
                    <a:pt x="20260" y="301625"/>
                    <a:pt x="3" y="281369"/>
                    <a:pt x="3" y="256381"/>
                  </a:cubicBezTo>
                  <a:lnTo>
                    <a:pt x="3" y="75406"/>
                  </a:lnTo>
                  <a:cubicBezTo>
                    <a:pt x="0" y="56212"/>
                    <a:pt x="12108" y="39105"/>
                    <a:pt x="30211" y="32726"/>
                  </a:cubicBezTo>
                  <a:cubicBezTo>
                    <a:pt x="31585" y="65020"/>
                    <a:pt x="58168" y="90492"/>
                    <a:pt x="90491" y="90488"/>
                  </a:cubicBezTo>
                  <a:lnTo>
                    <a:pt x="150816" y="90488"/>
                  </a:lnTo>
                  <a:cubicBezTo>
                    <a:pt x="181781" y="90490"/>
                    <a:pt x="207719" y="67048"/>
                    <a:pt x="210839" y="36240"/>
                  </a:cubicBezTo>
                  <a:close/>
                  <a:moveTo>
                    <a:pt x="155235" y="140150"/>
                  </a:moveTo>
                  <a:lnTo>
                    <a:pt x="105572" y="189798"/>
                  </a:lnTo>
                  <a:lnTo>
                    <a:pt x="86072" y="170313"/>
                  </a:lnTo>
                  <a:cubicBezTo>
                    <a:pt x="82285" y="166392"/>
                    <a:pt x="76678" y="164820"/>
                    <a:pt x="71405" y="166200"/>
                  </a:cubicBezTo>
                  <a:cubicBezTo>
                    <a:pt x="66133" y="167580"/>
                    <a:pt x="62015" y="171698"/>
                    <a:pt x="60634" y="176971"/>
                  </a:cubicBezTo>
                  <a:cubicBezTo>
                    <a:pt x="59254" y="182244"/>
                    <a:pt x="60827" y="187851"/>
                    <a:pt x="64747" y="191637"/>
                  </a:cubicBezTo>
                  <a:lnTo>
                    <a:pt x="94910" y="221800"/>
                  </a:lnTo>
                  <a:cubicBezTo>
                    <a:pt x="100799" y="227687"/>
                    <a:pt x="110345" y="227687"/>
                    <a:pt x="116234" y="221800"/>
                  </a:cubicBezTo>
                  <a:lnTo>
                    <a:pt x="176559" y="161475"/>
                  </a:lnTo>
                  <a:cubicBezTo>
                    <a:pt x="182275" y="155557"/>
                    <a:pt x="182193" y="146151"/>
                    <a:pt x="176376" y="140334"/>
                  </a:cubicBezTo>
                  <a:cubicBezTo>
                    <a:pt x="170558" y="134516"/>
                    <a:pt x="161152" y="134435"/>
                    <a:pt x="155235" y="140150"/>
                  </a:cubicBezTo>
                  <a:moveTo>
                    <a:pt x="150816" y="0"/>
                  </a:moveTo>
                  <a:cubicBezTo>
                    <a:pt x="167474" y="0"/>
                    <a:pt x="180978" y="13504"/>
                    <a:pt x="180978" y="30163"/>
                  </a:cubicBezTo>
                  <a:cubicBezTo>
                    <a:pt x="180978" y="46821"/>
                    <a:pt x="167474" y="60325"/>
                    <a:pt x="150816" y="60325"/>
                  </a:cubicBezTo>
                  <a:lnTo>
                    <a:pt x="90491" y="60325"/>
                  </a:lnTo>
                  <a:cubicBezTo>
                    <a:pt x="73832" y="60325"/>
                    <a:pt x="60328" y="46821"/>
                    <a:pt x="60328" y="30163"/>
                  </a:cubicBezTo>
                  <a:cubicBezTo>
                    <a:pt x="60328" y="13504"/>
                    <a:pt x="73832" y="0"/>
                    <a:pt x="90491" y="0"/>
                  </a:cubicBezTo>
                  <a:close/>
                </a:path>
              </a:pathLst>
            </a:custGeom>
            <a:solidFill>
              <a:srgbClr val="18A999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406640" y="2158365"/>
              <a:ext cx="10538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完成标准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878955" y="2654618"/>
              <a:ext cx="471487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能打开、能播放、能看到层级、能检查边界、能导出结果。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572250" y="3448050"/>
            <a:ext cx="5201603" cy="1466850"/>
            <a:chOff x="6572250" y="3448050"/>
            <a:chExt cx="5201603" cy="1466850"/>
          </a:xfrm>
        </p:grpSpPr>
        <p:sp>
          <p:nvSpPr>
            <p:cNvPr id="18" name="Rectangle 18"/>
            <p:cNvSpPr/>
            <p:nvPr/>
          </p:nvSpPr>
          <p:spPr>
            <a:xfrm>
              <a:off x="6572250" y="3448050"/>
              <a:ext cx="4724400" cy="1466850"/>
            </a:xfrm>
            <a:prstGeom prst="roundRect">
              <a:avLst>
                <a:gd name="adj" fmla="val 15584"/>
              </a:avLst>
            </a:prstGeom>
            <a:solidFill>
              <a:srgbClr val="FFF4D8"/>
            </a:solidFill>
            <a:ln w="19050">
              <a:solidFill>
                <a:srgbClr val="CFE1EA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6908014" y="3832225"/>
              <a:ext cx="334955" cy="241300"/>
            </a:xfrm>
            <a:custGeom>
              <a:avLst/>
              <a:gdLst/>
              <a:ahLst/>
              <a:cxnLst/>
              <a:rect l="l" t="t" r="r" b="b"/>
              <a:pathLst>
                <a:path w="334955" h="241300">
                  <a:moveTo>
                    <a:pt x="274630" y="142231"/>
                  </a:moveTo>
                  <a:lnTo>
                    <a:pt x="274630" y="180975"/>
                  </a:lnTo>
                  <a:cubicBezTo>
                    <a:pt x="274630" y="217140"/>
                    <a:pt x="226294" y="241300"/>
                    <a:pt x="169061" y="241300"/>
                  </a:cubicBezTo>
                  <a:cubicBezTo>
                    <a:pt x="111827" y="241300"/>
                    <a:pt x="63492" y="217140"/>
                    <a:pt x="63492" y="180975"/>
                  </a:cubicBezTo>
                  <a:lnTo>
                    <a:pt x="63492" y="142231"/>
                  </a:lnTo>
                  <a:lnTo>
                    <a:pt x="152260" y="177733"/>
                  </a:lnTo>
                  <a:cubicBezTo>
                    <a:pt x="161933" y="181605"/>
                    <a:pt x="172645" y="182021"/>
                    <a:pt x="182589" y="178909"/>
                  </a:cubicBezTo>
                  <a:lnTo>
                    <a:pt x="185861" y="177733"/>
                  </a:lnTo>
                  <a:close/>
                  <a:moveTo>
                    <a:pt x="304792" y="97666"/>
                  </a:moveTo>
                  <a:lnTo>
                    <a:pt x="174656" y="149727"/>
                  </a:lnTo>
                  <a:cubicBezTo>
                    <a:pt x="171064" y="151162"/>
                    <a:pt x="167058" y="151162"/>
                    <a:pt x="163466" y="149727"/>
                  </a:cubicBezTo>
                  <a:lnTo>
                    <a:pt x="12653" y="89402"/>
                  </a:lnTo>
                  <a:cubicBezTo>
                    <a:pt x="0" y="84349"/>
                    <a:pt x="0" y="66463"/>
                    <a:pt x="12653" y="61411"/>
                  </a:cubicBezTo>
                  <a:lnTo>
                    <a:pt x="163466" y="1086"/>
                  </a:lnTo>
                  <a:cubicBezTo>
                    <a:pt x="164651" y="609"/>
                    <a:pt x="165893" y="285"/>
                    <a:pt x="167161" y="121"/>
                  </a:cubicBezTo>
                  <a:lnTo>
                    <a:pt x="169061" y="0"/>
                  </a:lnTo>
                  <a:lnTo>
                    <a:pt x="170961" y="121"/>
                  </a:lnTo>
                  <a:cubicBezTo>
                    <a:pt x="172229" y="285"/>
                    <a:pt x="173470" y="609"/>
                    <a:pt x="174656" y="1086"/>
                  </a:cubicBezTo>
                  <a:lnTo>
                    <a:pt x="325951" y="61607"/>
                  </a:lnTo>
                  <a:lnTo>
                    <a:pt x="327580" y="62436"/>
                  </a:lnTo>
                  <a:lnTo>
                    <a:pt x="329073" y="63462"/>
                  </a:lnTo>
                  <a:lnTo>
                    <a:pt x="330400" y="64608"/>
                  </a:lnTo>
                  <a:lnTo>
                    <a:pt x="331531" y="65845"/>
                  </a:lnTo>
                  <a:lnTo>
                    <a:pt x="332059" y="66508"/>
                  </a:lnTo>
                  <a:lnTo>
                    <a:pt x="333160" y="68243"/>
                  </a:lnTo>
                  <a:lnTo>
                    <a:pt x="333944" y="69977"/>
                  </a:lnTo>
                  <a:lnTo>
                    <a:pt x="334457" y="71515"/>
                  </a:lnTo>
                  <a:lnTo>
                    <a:pt x="334834" y="73551"/>
                  </a:lnTo>
                  <a:lnTo>
                    <a:pt x="334924" y="74426"/>
                  </a:lnTo>
                  <a:lnTo>
                    <a:pt x="334955" y="165894"/>
                  </a:lnTo>
                  <a:cubicBezTo>
                    <a:pt x="334955" y="174223"/>
                    <a:pt x="328202" y="180975"/>
                    <a:pt x="319873" y="180975"/>
                  </a:cubicBezTo>
                  <a:cubicBezTo>
                    <a:pt x="311544" y="180975"/>
                    <a:pt x="304792" y="174223"/>
                    <a:pt x="304792" y="165894"/>
                  </a:cubicBezTo>
                  <a:close/>
                </a:path>
              </a:pathLst>
            </a:custGeom>
            <a:solidFill>
              <a:srgbClr val="DC8A0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406640" y="3834765"/>
              <a:ext cx="155790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教师巡视重点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878955" y="4331018"/>
              <a:ext cx="489489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看层级命名、分割边界、标签格式，及时纠正常见操作问题。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714500" y="5391150"/>
            <a:ext cx="8763000" cy="590550"/>
            <a:chOff x="1714500" y="5391150"/>
            <a:chExt cx="8763000" cy="590550"/>
          </a:xfrm>
        </p:grpSpPr>
        <p:sp>
          <p:nvSpPr>
            <p:cNvPr id="23" name="Rectangle 23"/>
            <p:cNvSpPr/>
            <p:nvPr/>
          </p:nvSpPr>
          <p:spPr>
            <a:xfrm>
              <a:off x="1714500" y="5391150"/>
              <a:ext cx="8763000" cy="590550"/>
            </a:xfrm>
            <a:prstGeom prst="roundRect">
              <a:avLst>
                <a:gd name="adj" fmla="val 50000"/>
              </a:avLst>
            </a:prstGeom>
            <a:solidFill>
              <a:srgbClr val="1D5B8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414208" y="5568315"/>
              <a:ext cx="536358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先做出一份“能被检查”的标注文件，再追求速度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98170" y="6398895"/>
            <a:ext cx="10843260" cy="182880"/>
            <a:chOff x="598170" y="6398895"/>
            <a:chExt cx="10843260" cy="182880"/>
          </a:xfrm>
        </p:grpSpPr>
        <p:sp>
          <p:nvSpPr>
            <p:cNvPr id="26" name="TextBox 26"/>
            <p:cNvSpPr txBox="1"/>
            <p:nvPr/>
          </p:nvSpPr>
          <p:spPr>
            <a:xfrm>
              <a:off x="598170" y="6398895"/>
              <a:ext cx="16670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8796"/>
                  </a:solidFill>
                  <a:latin typeface="Arial"/>
                  <a:ea typeface="Microsoft YaHei"/>
                  <a:cs typeface="Arial"/>
                </a:rPr>
                <a:t>语音标注工具使用 · 实操练习1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016520" y="63988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8796"/>
                  </a:solidFill>
                  <a:latin typeface="Arial"/>
                  <a:ea typeface="Microsoft YaHei"/>
                  <a:cs typeface="Arial"/>
                </a:rPr>
                <a:t>08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7" grpId="0"/>
      <p:bldP spid="22" grpId="0"/>
      <p:bldP spid="2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75310" y="432435"/>
            <a:ext cx="3489865" cy="743903"/>
            <a:chOff x="575310" y="432435"/>
            <a:chExt cx="3489865" cy="743903"/>
          </a:xfrm>
        </p:grpSpPr>
        <p:sp>
          <p:nvSpPr>
            <p:cNvPr id="3" name="TextBox 3"/>
            <p:cNvSpPr txBox="1"/>
            <p:nvPr/>
          </p:nvSpPr>
          <p:spPr>
            <a:xfrm>
              <a:off x="575310" y="432435"/>
              <a:ext cx="309295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语音转写标注规范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2455" y="902018"/>
              <a:ext cx="347272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转写标注要做到“听到什么、按规范写什么”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23900" y="1619250"/>
            <a:ext cx="3352800" cy="3619500"/>
            <a:chOff x="723900" y="1619250"/>
            <a:chExt cx="3352800" cy="3619500"/>
          </a:xfrm>
        </p:grpSpPr>
        <p:sp>
          <p:nvSpPr>
            <p:cNvPr id="6" name="Rectangle 6"/>
            <p:cNvSpPr/>
            <p:nvPr/>
          </p:nvSpPr>
          <p:spPr>
            <a:xfrm>
              <a:off x="723900" y="1619250"/>
              <a:ext cx="3352800" cy="3619500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19050">
              <a:solidFill>
                <a:srgbClr val="CFE1EA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1066800" y="2076450"/>
              <a:ext cx="419100" cy="266700"/>
            </a:xfrm>
            <a:custGeom>
              <a:avLst/>
              <a:gdLst/>
              <a:ahLst/>
              <a:cxnLst/>
              <a:rect l="l" t="t" r="r" b="b"/>
              <a:pathLst>
                <a:path w="419100" h="266700">
                  <a:moveTo>
                    <a:pt x="361950" y="0"/>
                  </a:moveTo>
                  <a:cubicBezTo>
                    <a:pt x="393513" y="0"/>
                    <a:pt x="419100" y="25587"/>
                    <a:pt x="419100" y="57150"/>
                  </a:cubicBezTo>
                  <a:lnTo>
                    <a:pt x="419100" y="209550"/>
                  </a:lnTo>
                  <a:cubicBezTo>
                    <a:pt x="419100" y="241113"/>
                    <a:pt x="393513" y="266700"/>
                    <a:pt x="361950" y="266700"/>
                  </a:cubicBezTo>
                  <a:lnTo>
                    <a:pt x="57150" y="266700"/>
                  </a:lnTo>
                  <a:cubicBezTo>
                    <a:pt x="25587" y="266700"/>
                    <a:pt x="0" y="241113"/>
                    <a:pt x="0" y="2095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  <a:moveTo>
                    <a:pt x="95250" y="152400"/>
                  </a:moveTo>
                  <a:cubicBezTo>
                    <a:pt x="84729" y="152400"/>
                    <a:pt x="76200" y="160929"/>
                    <a:pt x="76200" y="171450"/>
                  </a:cubicBezTo>
                  <a:lnTo>
                    <a:pt x="76200" y="171641"/>
                  </a:lnTo>
                  <a:cubicBezTo>
                    <a:pt x="76200" y="182162"/>
                    <a:pt x="84729" y="190691"/>
                    <a:pt x="95250" y="190691"/>
                  </a:cubicBezTo>
                  <a:cubicBezTo>
                    <a:pt x="105771" y="190691"/>
                    <a:pt x="114300" y="182162"/>
                    <a:pt x="114300" y="171641"/>
                  </a:cubicBezTo>
                  <a:lnTo>
                    <a:pt x="114300" y="171450"/>
                  </a:lnTo>
                  <a:cubicBezTo>
                    <a:pt x="114300" y="160929"/>
                    <a:pt x="105771" y="152400"/>
                    <a:pt x="95250" y="152400"/>
                  </a:cubicBezTo>
                  <a:moveTo>
                    <a:pt x="323850" y="152400"/>
                  </a:moveTo>
                  <a:cubicBezTo>
                    <a:pt x="313329" y="152400"/>
                    <a:pt x="304800" y="160929"/>
                    <a:pt x="304800" y="171450"/>
                  </a:cubicBezTo>
                  <a:lnTo>
                    <a:pt x="304800" y="171641"/>
                  </a:lnTo>
                  <a:cubicBezTo>
                    <a:pt x="304800" y="182162"/>
                    <a:pt x="313329" y="190691"/>
                    <a:pt x="323850" y="190691"/>
                  </a:cubicBezTo>
                  <a:cubicBezTo>
                    <a:pt x="334371" y="190691"/>
                    <a:pt x="342900" y="182162"/>
                    <a:pt x="342900" y="171641"/>
                  </a:cubicBezTo>
                  <a:lnTo>
                    <a:pt x="342900" y="171450"/>
                  </a:lnTo>
                  <a:cubicBezTo>
                    <a:pt x="342900" y="160929"/>
                    <a:pt x="334371" y="152400"/>
                    <a:pt x="323850" y="152400"/>
                  </a:cubicBezTo>
                  <a:moveTo>
                    <a:pt x="171488" y="152400"/>
                  </a:moveTo>
                  <a:cubicBezTo>
                    <a:pt x="160967" y="152379"/>
                    <a:pt x="152421" y="160891"/>
                    <a:pt x="152400" y="171412"/>
                  </a:cubicBezTo>
                  <a:cubicBezTo>
                    <a:pt x="152379" y="181933"/>
                    <a:pt x="160891" y="190479"/>
                    <a:pt x="171412" y="190500"/>
                  </a:cubicBezTo>
                  <a:lnTo>
                    <a:pt x="247612" y="190691"/>
                  </a:lnTo>
                  <a:cubicBezTo>
                    <a:pt x="258133" y="190717"/>
                    <a:pt x="266683" y="182209"/>
                    <a:pt x="266710" y="171688"/>
                  </a:cubicBezTo>
                  <a:cubicBezTo>
                    <a:pt x="266736" y="161167"/>
                    <a:pt x="258228" y="152617"/>
                    <a:pt x="247707" y="152591"/>
                  </a:cubicBezTo>
                  <a:close/>
                  <a:moveTo>
                    <a:pt x="95250" y="76200"/>
                  </a:moveTo>
                  <a:cubicBezTo>
                    <a:pt x="84729" y="76200"/>
                    <a:pt x="76200" y="84729"/>
                    <a:pt x="76200" y="95250"/>
                  </a:cubicBezTo>
                  <a:lnTo>
                    <a:pt x="76200" y="95441"/>
                  </a:lnTo>
                  <a:cubicBezTo>
                    <a:pt x="76200" y="105962"/>
                    <a:pt x="84729" y="114491"/>
                    <a:pt x="95250" y="114491"/>
                  </a:cubicBezTo>
                  <a:cubicBezTo>
                    <a:pt x="105771" y="114491"/>
                    <a:pt x="114300" y="105962"/>
                    <a:pt x="114300" y="95441"/>
                  </a:cubicBezTo>
                  <a:lnTo>
                    <a:pt x="114300" y="95250"/>
                  </a:lnTo>
                  <a:cubicBezTo>
                    <a:pt x="114300" y="84729"/>
                    <a:pt x="105771" y="76200"/>
                    <a:pt x="95250" y="76200"/>
                  </a:cubicBezTo>
                  <a:moveTo>
                    <a:pt x="171450" y="76200"/>
                  </a:moveTo>
                  <a:cubicBezTo>
                    <a:pt x="160929" y="76200"/>
                    <a:pt x="152400" y="84729"/>
                    <a:pt x="152400" y="95250"/>
                  </a:cubicBezTo>
                  <a:lnTo>
                    <a:pt x="152400" y="95441"/>
                  </a:lnTo>
                  <a:cubicBezTo>
                    <a:pt x="152400" y="105962"/>
                    <a:pt x="160929" y="114491"/>
                    <a:pt x="171450" y="114491"/>
                  </a:cubicBezTo>
                  <a:cubicBezTo>
                    <a:pt x="181971" y="114491"/>
                    <a:pt x="190500" y="105962"/>
                    <a:pt x="190500" y="95441"/>
                  </a:cubicBezTo>
                  <a:lnTo>
                    <a:pt x="190500" y="95250"/>
                  </a:lnTo>
                  <a:cubicBezTo>
                    <a:pt x="190500" y="84729"/>
                    <a:pt x="181971" y="76200"/>
                    <a:pt x="171450" y="76200"/>
                  </a:cubicBezTo>
                  <a:moveTo>
                    <a:pt x="247650" y="76200"/>
                  </a:moveTo>
                  <a:cubicBezTo>
                    <a:pt x="237129" y="76200"/>
                    <a:pt x="228600" y="84729"/>
                    <a:pt x="228600" y="95250"/>
                  </a:cubicBezTo>
                  <a:lnTo>
                    <a:pt x="228600" y="95441"/>
                  </a:lnTo>
                  <a:cubicBezTo>
                    <a:pt x="228600" y="105962"/>
                    <a:pt x="237129" y="114491"/>
                    <a:pt x="247650" y="114491"/>
                  </a:cubicBezTo>
                  <a:cubicBezTo>
                    <a:pt x="258171" y="114491"/>
                    <a:pt x="266700" y="105962"/>
                    <a:pt x="266700" y="95441"/>
                  </a:cubicBezTo>
                  <a:lnTo>
                    <a:pt x="266700" y="95250"/>
                  </a:lnTo>
                  <a:cubicBezTo>
                    <a:pt x="266700" y="84729"/>
                    <a:pt x="258171" y="76200"/>
                    <a:pt x="247650" y="76200"/>
                  </a:cubicBezTo>
                  <a:moveTo>
                    <a:pt x="323850" y="76200"/>
                  </a:moveTo>
                  <a:cubicBezTo>
                    <a:pt x="313329" y="76200"/>
                    <a:pt x="304800" y="84729"/>
                    <a:pt x="304800" y="95250"/>
                  </a:cubicBezTo>
                  <a:lnTo>
                    <a:pt x="304800" y="95441"/>
                  </a:lnTo>
                  <a:cubicBezTo>
                    <a:pt x="304800" y="105962"/>
                    <a:pt x="313329" y="114491"/>
                    <a:pt x="323850" y="114491"/>
                  </a:cubicBezTo>
                  <a:cubicBezTo>
                    <a:pt x="334371" y="114491"/>
                    <a:pt x="342900" y="105962"/>
                    <a:pt x="342900" y="95441"/>
                  </a:cubicBezTo>
                  <a:lnTo>
                    <a:pt x="342900" y="95250"/>
                  </a:lnTo>
                  <a:cubicBezTo>
                    <a:pt x="342900" y="84729"/>
                    <a:pt x="334371" y="76200"/>
                    <a:pt x="323850" y="76200"/>
                  </a:cubicBezTo>
                </a:path>
              </a:pathLst>
            </a:custGeom>
            <a:solidFill>
              <a:srgbClr val="1D5B8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21080" y="2554605"/>
              <a:ext cx="122948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D5B8F"/>
                  </a:solidFill>
                  <a:latin typeface="Arial"/>
                  <a:ea typeface="Microsoft YaHei"/>
                  <a:cs typeface="Arial"/>
                </a:rPr>
                <a:t>逐字转写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28700" y="3095625"/>
              <a:ext cx="2133600" cy="1028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8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保留真实语序</a:t>
              </a:r>
              <a:r>
                <a:rPr lang="zh-CN" sz="15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不擅自改写句子</a:t>
              </a:r>
              <a:r>
                <a:rPr lang="zh-CN" sz="15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听不清处按统一规则处理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419600" y="1619250"/>
            <a:ext cx="3352800" cy="3619500"/>
            <a:chOff x="4419600" y="1619250"/>
            <a:chExt cx="3352800" cy="3619500"/>
          </a:xfrm>
        </p:grpSpPr>
        <p:sp>
          <p:nvSpPr>
            <p:cNvPr id="11" name="Rectangle 11"/>
            <p:cNvSpPr/>
            <p:nvPr/>
          </p:nvSpPr>
          <p:spPr>
            <a:xfrm>
              <a:off x="4419600" y="1619250"/>
              <a:ext cx="3352800" cy="3619500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19050">
              <a:solidFill>
                <a:srgbClr val="CFE1EA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4781550" y="2038350"/>
              <a:ext cx="381000" cy="362841"/>
            </a:xfrm>
            <a:custGeom>
              <a:avLst/>
              <a:gdLst/>
              <a:ahLst/>
              <a:cxnLst/>
              <a:rect l="l" t="t" r="r" b="b"/>
              <a:pathLst>
                <a:path w="381000" h="362841">
                  <a:moveTo>
                    <a:pt x="304800" y="0"/>
                  </a:moveTo>
                  <a:cubicBezTo>
                    <a:pt x="346884" y="0"/>
                    <a:pt x="381000" y="34116"/>
                    <a:pt x="381000" y="76200"/>
                  </a:cubicBezTo>
                  <a:lnTo>
                    <a:pt x="381000" y="228600"/>
                  </a:lnTo>
                  <a:cubicBezTo>
                    <a:pt x="381000" y="270684"/>
                    <a:pt x="346884" y="304800"/>
                    <a:pt x="304800" y="304800"/>
                  </a:cubicBezTo>
                  <a:lnTo>
                    <a:pt x="214808" y="304800"/>
                  </a:lnTo>
                  <a:lnTo>
                    <a:pt x="124092" y="359226"/>
                  </a:lnTo>
                  <a:cubicBezTo>
                    <a:pt x="118540" y="362557"/>
                    <a:pt x="111677" y="362841"/>
                    <a:pt x="105870" y="359980"/>
                  </a:cubicBezTo>
                  <a:cubicBezTo>
                    <a:pt x="100062" y="357118"/>
                    <a:pt x="96105" y="351503"/>
                    <a:pt x="95364" y="345072"/>
                  </a:cubicBezTo>
                  <a:lnTo>
                    <a:pt x="95250" y="342900"/>
                  </a:lnTo>
                  <a:lnTo>
                    <a:pt x="95250" y="304800"/>
                  </a:lnTo>
                  <a:lnTo>
                    <a:pt x="76200" y="304800"/>
                  </a:lnTo>
                  <a:cubicBezTo>
                    <a:pt x="35597" y="304800"/>
                    <a:pt x="2125" y="272962"/>
                    <a:pt x="95" y="232410"/>
                  </a:cubicBezTo>
                  <a:lnTo>
                    <a:pt x="0" y="228600"/>
                  </a:ln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  <a:moveTo>
                    <a:pt x="228600" y="171450"/>
                  </a:moveTo>
                  <a:lnTo>
                    <a:pt x="114300" y="171450"/>
                  </a:lnTo>
                  <a:cubicBezTo>
                    <a:pt x="103779" y="171450"/>
                    <a:pt x="95250" y="179979"/>
                    <a:pt x="95250" y="190500"/>
                  </a:cubicBezTo>
                  <a:cubicBezTo>
                    <a:pt x="95250" y="201021"/>
                    <a:pt x="103779" y="209550"/>
                    <a:pt x="114300" y="209550"/>
                  </a:cubicBezTo>
                  <a:lnTo>
                    <a:pt x="228600" y="209550"/>
                  </a:lnTo>
                  <a:cubicBezTo>
                    <a:pt x="239121" y="209550"/>
                    <a:pt x="247650" y="201021"/>
                    <a:pt x="247650" y="190500"/>
                  </a:cubicBezTo>
                  <a:cubicBezTo>
                    <a:pt x="247650" y="179979"/>
                    <a:pt x="239121" y="171450"/>
                    <a:pt x="228600" y="171450"/>
                  </a:cubicBezTo>
                  <a:moveTo>
                    <a:pt x="266700" y="95250"/>
                  </a:moveTo>
                  <a:lnTo>
                    <a:pt x="114300" y="95250"/>
                  </a:lnTo>
                  <a:cubicBezTo>
                    <a:pt x="103779" y="95250"/>
                    <a:pt x="95250" y="103779"/>
                    <a:pt x="95250" y="114300"/>
                  </a:cubicBezTo>
                  <a:cubicBezTo>
                    <a:pt x="95250" y="124821"/>
                    <a:pt x="103779" y="133350"/>
                    <a:pt x="114300" y="133350"/>
                  </a:cubicBezTo>
                  <a:lnTo>
                    <a:pt x="266700" y="133350"/>
                  </a:lnTo>
                  <a:cubicBezTo>
                    <a:pt x="277221" y="133350"/>
                    <a:pt x="285750" y="124821"/>
                    <a:pt x="285750" y="114300"/>
                  </a:cubicBezTo>
                  <a:cubicBezTo>
                    <a:pt x="285750" y="103779"/>
                    <a:pt x="277221" y="95250"/>
                    <a:pt x="266700" y="95250"/>
                  </a:cubicBezTo>
                </a:path>
              </a:pathLst>
            </a:custGeom>
            <a:solidFill>
              <a:srgbClr val="18A999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716780" y="2554605"/>
              <a:ext cx="122948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8A999"/>
                  </a:solidFill>
                  <a:latin typeface="Arial"/>
                  <a:ea typeface="Microsoft YaHei"/>
                  <a:cs typeface="Arial"/>
                </a:rPr>
                <a:t>事件标注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724400" y="3095625"/>
              <a:ext cx="1752600" cy="1028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8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笑声、停顿、噪声</a:t>
              </a:r>
              <a:r>
                <a:rPr lang="zh-CN" sz="15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使用统一标签</a:t>
              </a:r>
              <a:r>
                <a:rPr lang="zh-CN" sz="15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不要把事件写成正文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8115300" y="1619250"/>
            <a:ext cx="3352800" cy="3619500"/>
            <a:chOff x="8115300" y="1619250"/>
            <a:chExt cx="3352800" cy="3619500"/>
          </a:xfrm>
        </p:grpSpPr>
        <p:sp>
          <p:nvSpPr>
            <p:cNvPr id="16" name="Rectangle 16"/>
            <p:cNvSpPr/>
            <p:nvPr/>
          </p:nvSpPr>
          <p:spPr>
            <a:xfrm>
              <a:off x="8115300" y="1619250"/>
              <a:ext cx="3352800" cy="3619500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19050">
              <a:solidFill>
                <a:srgbClr val="CFE1EA"/>
              </a:solidFill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8515348" y="2019300"/>
              <a:ext cx="304803" cy="381002"/>
              <a:chOff x="8515348" y="2019300"/>
              <a:chExt cx="304803" cy="381002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8515348" y="2019300"/>
                <a:ext cx="304803" cy="381002"/>
              </a:xfrm>
              <a:custGeom>
                <a:avLst/>
                <a:gdLst/>
                <a:ahLst/>
                <a:cxnLst/>
                <a:rect l="l" t="t" r="r" b="b"/>
                <a:pathLst>
                  <a:path w="304803" h="381002">
                    <a:moveTo>
                      <a:pt x="152402" y="0"/>
                    </a:moveTo>
                    <a:lnTo>
                      <a:pt x="154631" y="133"/>
                    </a:lnTo>
                    <a:cubicBezTo>
                      <a:pt x="163384" y="1166"/>
                      <a:pt x="170286" y="8068"/>
                      <a:pt x="171318" y="16821"/>
                    </a:cubicBezTo>
                    <a:lnTo>
                      <a:pt x="171452" y="19050"/>
                    </a:lnTo>
                    <a:lnTo>
                      <a:pt x="171452" y="95250"/>
                    </a:lnTo>
                    <a:lnTo>
                      <a:pt x="171547" y="98108"/>
                    </a:lnTo>
                    <a:cubicBezTo>
                      <a:pt x="172955" y="116851"/>
                      <a:pt x="187822" y="131766"/>
                      <a:pt x="206561" y="133236"/>
                    </a:cubicBezTo>
                    <a:lnTo>
                      <a:pt x="209552" y="133350"/>
                    </a:lnTo>
                    <a:lnTo>
                      <a:pt x="285752" y="133350"/>
                    </a:lnTo>
                    <a:lnTo>
                      <a:pt x="287981" y="133483"/>
                    </a:lnTo>
                    <a:cubicBezTo>
                      <a:pt x="296734" y="134516"/>
                      <a:pt x="303636" y="141418"/>
                      <a:pt x="304668" y="150171"/>
                    </a:cubicBezTo>
                    <a:lnTo>
                      <a:pt x="304802" y="152400"/>
                    </a:lnTo>
                    <a:lnTo>
                      <a:pt x="304802" y="323850"/>
                    </a:lnTo>
                    <a:cubicBezTo>
                      <a:pt x="304803" y="354112"/>
                      <a:pt x="281214" y="379129"/>
                      <a:pt x="251004" y="380905"/>
                    </a:cubicBezTo>
                    <a:lnTo>
                      <a:pt x="247652" y="381000"/>
                    </a:lnTo>
                    <a:lnTo>
                      <a:pt x="57152" y="381000"/>
                    </a:lnTo>
                    <a:cubicBezTo>
                      <a:pt x="26890" y="381002"/>
                      <a:pt x="1872" y="357413"/>
                      <a:pt x="97" y="327203"/>
                    </a:cubicBezTo>
                    <a:lnTo>
                      <a:pt x="2" y="323850"/>
                    </a:lnTo>
                    <a:lnTo>
                      <a:pt x="2" y="57150"/>
                    </a:lnTo>
                    <a:cubicBezTo>
                      <a:pt x="0" y="26888"/>
                      <a:pt x="23589" y="1871"/>
                      <a:pt x="53799" y="95"/>
                    </a:cubicBezTo>
                    <a:lnTo>
                      <a:pt x="57152" y="0"/>
                    </a:lnTo>
                    <a:close/>
                    <a:moveTo>
                      <a:pt x="209552" y="266700"/>
                    </a:moveTo>
                    <a:lnTo>
                      <a:pt x="95252" y="266700"/>
                    </a:lnTo>
                    <a:cubicBezTo>
                      <a:pt x="84731" y="266700"/>
                      <a:pt x="76202" y="275229"/>
                      <a:pt x="76202" y="285750"/>
                    </a:cubicBezTo>
                    <a:cubicBezTo>
                      <a:pt x="76202" y="296271"/>
                      <a:pt x="84731" y="304800"/>
                      <a:pt x="95252" y="304800"/>
                    </a:cubicBezTo>
                    <a:lnTo>
                      <a:pt x="209552" y="304800"/>
                    </a:lnTo>
                    <a:cubicBezTo>
                      <a:pt x="220073" y="304800"/>
                      <a:pt x="228602" y="296271"/>
                      <a:pt x="228602" y="285750"/>
                    </a:cubicBezTo>
                    <a:cubicBezTo>
                      <a:pt x="228602" y="275229"/>
                      <a:pt x="220073" y="266700"/>
                      <a:pt x="209552" y="266700"/>
                    </a:cubicBezTo>
                    <a:moveTo>
                      <a:pt x="209552" y="190500"/>
                    </a:moveTo>
                    <a:lnTo>
                      <a:pt x="95252" y="190500"/>
                    </a:lnTo>
                    <a:cubicBezTo>
                      <a:pt x="84731" y="190500"/>
                      <a:pt x="76202" y="199029"/>
                      <a:pt x="76202" y="209550"/>
                    </a:cubicBezTo>
                    <a:cubicBezTo>
                      <a:pt x="76202" y="220071"/>
                      <a:pt x="84731" y="228600"/>
                      <a:pt x="95252" y="228600"/>
                    </a:cubicBezTo>
                    <a:lnTo>
                      <a:pt x="209552" y="228600"/>
                    </a:lnTo>
                    <a:cubicBezTo>
                      <a:pt x="220073" y="228600"/>
                      <a:pt x="228602" y="220071"/>
                      <a:pt x="228602" y="209550"/>
                    </a:cubicBezTo>
                    <a:cubicBezTo>
                      <a:pt x="228602" y="199029"/>
                      <a:pt x="220073" y="190500"/>
                      <a:pt x="209552" y="190500"/>
                    </a:cubicBezTo>
                    <a:moveTo>
                      <a:pt x="114302" y="114300"/>
                    </a:moveTo>
                    <a:lnTo>
                      <a:pt x="95252" y="114300"/>
                    </a:lnTo>
                    <a:cubicBezTo>
                      <a:pt x="84731" y="114300"/>
                      <a:pt x="76202" y="122829"/>
                      <a:pt x="76202" y="133350"/>
                    </a:cubicBezTo>
                    <a:cubicBezTo>
                      <a:pt x="76202" y="143871"/>
                      <a:pt x="84731" y="152400"/>
                      <a:pt x="95252" y="152400"/>
                    </a:cubicBezTo>
                    <a:lnTo>
                      <a:pt x="114302" y="152400"/>
                    </a:lnTo>
                    <a:cubicBezTo>
                      <a:pt x="124823" y="152400"/>
                      <a:pt x="133352" y="143871"/>
                      <a:pt x="133352" y="133350"/>
                    </a:cubicBezTo>
                    <a:cubicBezTo>
                      <a:pt x="133352" y="122829"/>
                      <a:pt x="124823" y="114300"/>
                      <a:pt x="114302" y="114300"/>
                    </a:cubicBezTo>
                  </a:path>
                </a:pathLst>
              </a:custGeom>
              <a:solidFill>
                <a:srgbClr val="DC8A00"/>
              </a:solidFill>
              <a:ln>
                <a:noFill/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8724881" y="2038331"/>
                <a:ext cx="76219" cy="76219"/>
              </a:xfrm>
              <a:custGeom>
                <a:avLst/>
                <a:gdLst/>
                <a:ahLst/>
                <a:cxnLst/>
                <a:rect l="l" t="t" r="r" b="b"/>
                <a:pathLst>
                  <a:path w="76219" h="76219">
                    <a:moveTo>
                      <a:pt x="76219" y="76219"/>
                    </a:moveTo>
                    <a:lnTo>
                      <a:pt x="19" y="7621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C8A00"/>
              </a:solidFill>
              <a:ln>
                <a:noFill/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8412480" y="2554605"/>
              <a:ext cx="122948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DC8A00"/>
                  </a:solidFill>
                  <a:latin typeface="Arial"/>
                  <a:ea typeface="Microsoft YaHei"/>
                  <a:cs typeface="Arial"/>
                </a:rPr>
                <a:t>格式命名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420100" y="3095625"/>
              <a:ext cx="1943100" cy="1028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8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文件名能追溯任务</a:t>
              </a:r>
              <a:r>
                <a:rPr lang="zh-CN" sz="15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同类标签全程一致</a:t>
              </a:r>
              <a:r>
                <a:rPr lang="zh-CN" sz="15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导出格式符合提交要求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905000" y="5619750"/>
            <a:ext cx="8382000" cy="457200"/>
            <a:chOff x="1905000" y="5619750"/>
            <a:chExt cx="8382000" cy="457200"/>
          </a:xfrm>
        </p:grpSpPr>
        <p:sp>
          <p:nvSpPr>
            <p:cNvPr id="23" name="Rectangle 23"/>
            <p:cNvSpPr/>
            <p:nvPr/>
          </p:nvSpPr>
          <p:spPr>
            <a:xfrm>
              <a:off x="1905000" y="5619750"/>
              <a:ext cx="8382000" cy="457200"/>
            </a:xfrm>
            <a:prstGeom prst="roundRect">
              <a:avLst>
                <a:gd name="adj" fmla="val 50000"/>
              </a:avLst>
            </a:prstGeom>
            <a:solidFill>
              <a:srgbClr val="EAF3F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451622" y="5753100"/>
              <a:ext cx="528875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D5B8F"/>
                  </a:solidFill>
                  <a:latin typeface="Arial"/>
                  <a:ea typeface="Microsoft YaHei"/>
                  <a:cs typeface="Arial"/>
                </a:rPr>
                <a:t>标准化表达，是语音数据可训练、可复核、可交付的前提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98170" y="6398895"/>
            <a:ext cx="10843260" cy="182880"/>
            <a:chOff x="598170" y="6398895"/>
            <a:chExt cx="10843260" cy="182880"/>
          </a:xfrm>
        </p:grpSpPr>
        <p:sp>
          <p:nvSpPr>
            <p:cNvPr id="26" name="TextBox 26"/>
            <p:cNvSpPr txBox="1"/>
            <p:nvPr/>
          </p:nvSpPr>
          <p:spPr>
            <a:xfrm>
              <a:off x="598170" y="6398895"/>
              <a:ext cx="160105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8796"/>
                  </a:solidFill>
                  <a:latin typeface="Arial"/>
                  <a:ea typeface="Microsoft YaHei"/>
                  <a:cs typeface="Arial"/>
                </a:rPr>
                <a:t>语音标注工具使用 · 转写规范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016520" y="63988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8796"/>
                  </a:solidFill>
                  <a:latin typeface="Arial"/>
                  <a:ea typeface="Microsoft YaHei"/>
                  <a:cs typeface="Arial"/>
                </a:rPr>
                <a:t>09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75310" y="394335"/>
            <a:ext cx="4227957" cy="743903"/>
            <a:chOff x="575310" y="394335"/>
            <a:chExt cx="4227957" cy="743903"/>
          </a:xfrm>
        </p:grpSpPr>
        <p:sp>
          <p:nvSpPr>
            <p:cNvPr id="3" name="TextBox 3"/>
            <p:cNvSpPr txBox="1"/>
            <p:nvPr/>
          </p:nvSpPr>
          <p:spPr>
            <a:xfrm>
              <a:off x="575310" y="394335"/>
              <a:ext cx="3471005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角色与事件标注流程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2455" y="863918"/>
              <a:ext cx="421081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角色标注解决“谁在说”，事件标注解决“发生了什么”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66750" y="1524000"/>
            <a:ext cx="10858500" cy="2857500"/>
            <a:chOff x="666750" y="1524000"/>
            <a:chExt cx="10858500" cy="2857500"/>
          </a:xfrm>
        </p:grpSpPr>
        <p:sp>
          <p:nvSpPr>
            <p:cNvPr id="6" name="Rectangle 6"/>
            <p:cNvSpPr/>
            <p:nvPr/>
          </p:nvSpPr>
          <p:spPr>
            <a:xfrm>
              <a:off x="666750" y="1524000"/>
              <a:ext cx="10858500" cy="28575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9050">
              <a:solidFill>
                <a:srgbClr val="CFE1EA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1543050" y="2952750"/>
              <a:ext cx="8801100" cy="1"/>
            </a:xfrm>
            <a:prstGeom prst="line">
              <a:avLst/>
            </a:prstGeom>
            <a:noFill/>
            <a:ln w="38100">
              <a:solidFill>
                <a:srgbClr val="18A999"/>
              </a:solidFill>
              <a:tailEnd type="triangle" w="lg" len="lg"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998934" y="2543175"/>
              <a:ext cx="1088231" cy="1314450"/>
              <a:chOff x="998934" y="2543175"/>
              <a:chExt cx="1088231" cy="1314450"/>
            </a:xfrm>
          </p:grpSpPr>
          <p:sp>
            <p:nvSpPr>
              <p:cNvPr id="8" name="Ellipse 8"/>
              <p:cNvSpPr/>
              <p:nvPr/>
            </p:nvSpPr>
            <p:spPr>
              <a:xfrm>
                <a:off x="1133475" y="2543175"/>
                <a:ext cx="819150" cy="819150"/>
              </a:xfrm>
              <a:prstGeom prst="ellipse">
                <a:avLst/>
              </a:prstGeom>
              <a:solidFill>
                <a:srgbClr val="1D5B8F"/>
              </a:solidFill>
              <a:ln>
                <a:noFill/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403350" y="2778125"/>
                <a:ext cx="279400" cy="349250"/>
              </a:xfrm>
              <a:custGeom>
                <a:avLst/>
                <a:gdLst/>
                <a:ahLst/>
                <a:cxnLst/>
                <a:rect l="l" t="t" r="r" b="b"/>
                <a:pathLst>
                  <a:path w="279400" h="349250">
                    <a:moveTo>
                      <a:pt x="227012" y="0"/>
                    </a:moveTo>
                    <a:cubicBezTo>
                      <a:pt x="255945" y="0"/>
                      <a:pt x="279400" y="23455"/>
                      <a:pt x="279400" y="52388"/>
                    </a:cubicBezTo>
                    <a:lnTo>
                      <a:pt x="279400" y="296862"/>
                    </a:lnTo>
                    <a:cubicBezTo>
                      <a:pt x="279400" y="325795"/>
                      <a:pt x="255945" y="349250"/>
                      <a:pt x="227012" y="349250"/>
                    </a:cubicBezTo>
                    <a:lnTo>
                      <a:pt x="52388" y="349250"/>
                    </a:lnTo>
                    <a:cubicBezTo>
                      <a:pt x="23455" y="349250"/>
                      <a:pt x="0" y="325795"/>
                      <a:pt x="0" y="296862"/>
                    </a:cubicBezTo>
                    <a:lnTo>
                      <a:pt x="0" y="52388"/>
                    </a:lnTo>
                    <a:cubicBezTo>
                      <a:pt x="0" y="23455"/>
                      <a:pt x="23455" y="0"/>
                      <a:pt x="52388" y="0"/>
                    </a:cubicBezTo>
                    <a:close/>
                    <a:moveTo>
                      <a:pt x="139700" y="157162"/>
                    </a:moveTo>
                    <a:cubicBezTo>
                      <a:pt x="102480" y="157162"/>
                      <a:pt x="71798" y="186347"/>
                      <a:pt x="69937" y="223520"/>
                    </a:cubicBezTo>
                    <a:lnTo>
                      <a:pt x="69850" y="227012"/>
                    </a:lnTo>
                    <a:cubicBezTo>
                      <a:pt x="69850" y="265590"/>
                      <a:pt x="101123" y="296862"/>
                      <a:pt x="139700" y="296862"/>
                    </a:cubicBezTo>
                    <a:cubicBezTo>
                      <a:pt x="178277" y="296862"/>
                      <a:pt x="209550" y="265590"/>
                      <a:pt x="209550" y="227012"/>
                    </a:cubicBezTo>
                    <a:cubicBezTo>
                      <a:pt x="209550" y="188435"/>
                      <a:pt x="178277" y="157162"/>
                      <a:pt x="139700" y="157162"/>
                    </a:cubicBezTo>
                    <a:moveTo>
                      <a:pt x="139700" y="69850"/>
                    </a:moveTo>
                    <a:cubicBezTo>
                      <a:pt x="130056" y="69850"/>
                      <a:pt x="122237" y="77668"/>
                      <a:pt x="122237" y="87312"/>
                    </a:cubicBezTo>
                    <a:lnTo>
                      <a:pt x="122237" y="87487"/>
                    </a:lnTo>
                    <a:cubicBezTo>
                      <a:pt x="122237" y="97131"/>
                      <a:pt x="130056" y="104950"/>
                      <a:pt x="139700" y="104950"/>
                    </a:cubicBezTo>
                    <a:cubicBezTo>
                      <a:pt x="149344" y="104950"/>
                      <a:pt x="157162" y="97131"/>
                      <a:pt x="157162" y="87487"/>
                    </a:cubicBezTo>
                    <a:lnTo>
                      <a:pt x="157162" y="87312"/>
                    </a:lnTo>
                    <a:cubicBezTo>
                      <a:pt x="157162" y="77668"/>
                      <a:pt x="149344" y="69850"/>
                      <a:pt x="139700" y="6985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998934" y="3552825"/>
                <a:ext cx="1088231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听辨说话人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2751534" y="2543175"/>
              <a:ext cx="1088231" cy="1314450"/>
              <a:chOff x="2751534" y="2543175"/>
              <a:chExt cx="1088231" cy="1314450"/>
            </a:xfrm>
          </p:grpSpPr>
          <p:sp>
            <p:nvSpPr>
              <p:cNvPr id="12" name="Ellipse 12"/>
              <p:cNvSpPr/>
              <p:nvPr/>
            </p:nvSpPr>
            <p:spPr>
              <a:xfrm>
                <a:off x="2886075" y="2543175"/>
                <a:ext cx="819150" cy="819150"/>
              </a:xfrm>
              <a:prstGeom prst="ellipse">
                <a:avLst/>
              </a:prstGeom>
              <a:solidFill>
                <a:srgbClr val="18A999"/>
              </a:solidFill>
              <a:ln>
                <a:noFill/>
              </a:ln>
            </p:spPr>
          </p:sp>
          <p:grpSp>
            <p:nvGrpSpPr>
              <p:cNvPr id="15" name="Group 15"/>
              <p:cNvGrpSpPr/>
              <p:nvPr/>
            </p:nvGrpSpPr>
            <p:grpSpPr>
              <a:xfrm>
                <a:off x="3155948" y="2778125"/>
                <a:ext cx="279403" cy="349252"/>
                <a:chOff x="3155948" y="2778125"/>
                <a:chExt cx="279403" cy="349252"/>
              </a:xfrm>
            </p:grpSpPr>
            <p:sp>
              <p:nvSpPr>
                <p:cNvPr id="13" name="Freeform 13"/>
                <p:cNvSpPr/>
                <p:nvPr/>
              </p:nvSpPr>
              <p:spPr>
                <a:xfrm>
                  <a:off x="3155948" y="2778125"/>
                  <a:ext cx="279403" cy="3492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9403" h="349252">
                      <a:moveTo>
                        <a:pt x="139702" y="0"/>
                      </a:moveTo>
                      <a:lnTo>
                        <a:pt x="141745" y="122"/>
                      </a:lnTo>
                      <a:cubicBezTo>
                        <a:pt x="149769" y="1068"/>
                        <a:pt x="156096" y="7396"/>
                        <a:pt x="157042" y="15419"/>
                      </a:cubicBezTo>
                      <a:lnTo>
                        <a:pt x="157164" y="17462"/>
                      </a:lnTo>
                      <a:lnTo>
                        <a:pt x="157164" y="87312"/>
                      </a:lnTo>
                      <a:lnTo>
                        <a:pt x="157251" y="89932"/>
                      </a:lnTo>
                      <a:cubicBezTo>
                        <a:pt x="158543" y="107113"/>
                        <a:pt x="172171" y="120786"/>
                        <a:pt x="189347" y="122133"/>
                      </a:cubicBezTo>
                      <a:lnTo>
                        <a:pt x="192089" y="122237"/>
                      </a:lnTo>
                      <a:lnTo>
                        <a:pt x="261939" y="122237"/>
                      </a:lnTo>
                      <a:lnTo>
                        <a:pt x="263982" y="122360"/>
                      </a:lnTo>
                      <a:cubicBezTo>
                        <a:pt x="272006" y="123306"/>
                        <a:pt x="278333" y="129633"/>
                        <a:pt x="279279" y="137657"/>
                      </a:cubicBezTo>
                      <a:lnTo>
                        <a:pt x="279402" y="139700"/>
                      </a:lnTo>
                      <a:lnTo>
                        <a:pt x="279402" y="296862"/>
                      </a:lnTo>
                      <a:cubicBezTo>
                        <a:pt x="279403" y="324603"/>
                        <a:pt x="257780" y="347535"/>
                        <a:pt x="230087" y="349163"/>
                      </a:cubicBezTo>
                      <a:lnTo>
                        <a:pt x="227014" y="349250"/>
                      </a:lnTo>
                      <a:lnTo>
                        <a:pt x="52389" y="349250"/>
                      </a:lnTo>
                      <a:cubicBezTo>
                        <a:pt x="24649" y="349252"/>
                        <a:pt x="1716" y="327628"/>
                        <a:pt x="89" y="299936"/>
                      </a:cubicBezTo>
                      <a:lnTo>
                        <a:pt x="2" y="296862"/>
                      </a:lnTo>
                      <a:lnTo>
                        <a:pt x="2" y="52388"/>
                      </a:lnTo>
                      <a:cubicBezTo>
                        <a:pt x="0" y="24647"/>
                        <a:pt x="21623" y="1715"/>
                        <a:pt x="49316" y="87"/>
                      </a:cubicBezTo>
                      <a:lnTo>
                        <a:pt x="52389" y="0"/>
                      </a:lnTo>
                      <a:close/>
                      <a:moveTo>
                        <a:pt x="99660" y="162279"/>
                      </a:moveTo>
                      <a:cubicBezTo>
                        <a:pt x="95276" y="157740"/>
                        <a:pt x="88783" y="155919"/>
                        <a:pt x="82678" y="157517"/>
                      </a:cubicBezTo>
                      <a:cubicBezTo>
                        <a:pt x="76572" y="159115"/>
                        <a:pt x="71804" y="163883"/>
                        <a:pt x="70206" y="169989"/>
                      </a:cubicBezTo>
                      <a:cubicBezTo>
                        <a:pt x="68608" y="176094"/>
                        <a:pt x="70429" y="182587"/>
                        <a:pt x="74968" y="186971"/>
                      </a:cubicBezTo>
                      <a:lnTo>
                        <a:pt x="114992" y="227012"/>
                      </a:lnTo>
                      <a:lnTo>
                        <a:pt x="96342" y="245645"/>
                      </a:lnTo>
                      <a:cubicBezTo>
                        <a:pt x="86294" y="242973"/>
                        <a:pt x="75578" y="244910"/>
                        <a:pt x="67100" y="250930"/>
                      </a:cubicBezTo>
                      <a:cubicBezTo>
                        <a:pt x="58623" y="256951"/>
                        <a:pt x="53264" y="266430"/>
                        <a:pt x="52476" y="276798"/>
                      </a:cubicBezTo>
                      <a:lnTo>
                        <a:pt x="52389" y="279400"/>
                      </a:lnTo>
                      <a:cubicBezTo>
                        <a:pt x="52407" y="292958"/>
                        <a:pt x="60270" y="305280"/>
                        <a:pt x="72559" y="311008"/>
                      </a:cubicBezTo>
                      <a:cubicBezTo>
                        <a:pt x="84847" y="316736"/>
                        <a:pt x="99340" y="314835"/>
                        <a:pt x="109735" y="306131"/>
                      </a:cubicBezTo>
                      <a:cubicBezTo>
                        <a:pt x="120131" y="297427"/>
                        <a:pt x="124549" y="283493"/>
                        <a:pt x="121069" y="270389"/>
                      </a:cubicBezTo>
                      <a:lnTo>
                        <a:pt x="139702" y="251722"/>
                      </a:lnTo>
                      <a:lnTo>
                        <a:pt x="158334" y="270372"/>
                      </a:lnTo>
                      <a:cubicBezTo>
                        <a:pt x="157774" y="272476"/>
                        <a:pt x="157411" y="274627"/>
                        <a:pt x="157251" y="276798"/>
                      </a:cubicBezTo>
                      <a:lnTo>
                        <a:pt x="157164" y="279400"/>
                      </a:lnTo>
                      <a:cubicBezTo>
                        <a:pt x="157169" y="294358"/>
                        <a:pt x="166700" y="307652"/>
                        <a:pt x="180865" y="312460"/>
                      </a:cubicBezTo>
                      <a:cubicBezTo>
                        <a:pt x="195029" y="317267"/>
                        <a:pt x="210683" y="312520"/>
                        <a:pt x="219792" y="300655"/>
                      </a:cubicBezTo>
                      <a:cubicBezTo>
                        <a:pt x="228901" y="288790"/>
                        <a:pt x="229442" y="272442"/>
                        <a:pt x="221139" y="260000"/>
                      </a:cubicBezTo>
                      <a:cubicBezTo>
                        <a:pt x="212835" y="247558"/>
                        <a:pt x="197530" y="241786"/>
                        <a:pt x="183078" y="245645"/>
                      </a:cubicBezTo>
                      <a:lnTo>
                        <a:pt x="164411" y="227012"/>
                      </a:lnTo>
                      <a:lnTo>
                        <a:pt x="204435" y="186971"/>
                      </a:lnTo>
                      <a:cubicBezTo>
                        <a:pt x="211053" y="180119"/>
                        <a:pt x="210958" y="169228"/>
                        <a:pt x="204222" y="162492"/>
                      </a:cubicBezTo>
                      <a:cubicBezTo>
                        <a:pt x="197486" y="155756"/>
                        <a:pt x="186595" y="155661"/>
                        <a:pt x="179743" y="162279"/>
                      </a:cubicBezTo>
                      <a:lnTo>
                        <a:pt x="139702" y="202303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14" name="Freeform 14"/>
                <p:cNvSpPr/>
                <p:nvPr/>
              </p:nvSpPr>
              <p:spPr>
                <a:xfrm>
                  <a:off x="3348020" y="2795570"/>
                  <a:ext cx="69867" cy="698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867" h="69867">
                      <a:moveTo>
                        <a:pt x="69867" y="69867"/>
                      </a:moveTo>
                      <a:lnTo>
                        <a:pt x="17" y="6986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</p:sp>
          </p:grpSp>
          <p:sp>
            <p:nvSpPr>
              <p:cNvPr id="16" name="TextBox 16"/>
              <p:cNvSpPr txBox="1"/>
              <p:nvPr/>
            </p:nvSpPr>
            <p:spPr>
              <a:xfrm>
                <a:off x="2751534" y="3552825"/>
                <a:ext cx="1088231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标记切换点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4399121" y="2543175"/>
              <a:ext cx="1298258" cy="1314450"/>
              <a:chOff x="4399121" y="2543175"/>
              <a:chExt cx="1298258" cy="1314450"/>
            </a:xfrm>
          </p:grpSpPr>
          <p:sp>
            <p:nvSpPr>
              <p:cNvPr id="18" name="Ellipse 18"/>
              <p:cNvSpPr/>
              <p:nvPr/>
            </p:nvSpPr>
            <p:spPr>
              <a:xfrm>
                <a:off x="4638675" y="2543175"/>
                <a:ext cx="819150" cy="819150"/>
              </a:xfrm>
              <a:prstGeom prst="ellipse">
                <a:avLst/>
              </a:prstGeom>
              <a:solidFill>
                <a:srgbClr val="1D5B8F"/>
              </a:solidFill>
              <a:ln>
                <a:noFill/>
              </a:ln>
            </p:spPr>
          </p:sp>
          <p:grpSp>
            <p:nvGrpSpPr>
              <p:cNvPr id="21" name="Group 21"/>
              <p:cNvGrpSpPr/>
              <p:nvPr/>
            </p:nvGrpSpPr>
            <p:grpSpPr>
              <a:xfrm>
                <a:off x="4926012" y="2778125"/>
                <a:ext cx="244475" cy="349250"/>
                <a:chOff x="4926012" y="2778125"/>
                <a:chExt cx="244475" cy="349250"/>
              </a:xfrm>
            </p:grpSpPr>
            <p:sp>
              <p:nvSpPr>
                <p:cNvPr id="19" name="Freeform 19"/>
                <p:cNvSpPr/>
                <p:nvPr/>
              </p:nvSpPr>
              <p:spPr>
                <a:xfrm>
                  <a:off x="4960938" y="2778125"/>
                  <a:ext cx="174625" cy="174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625" h="174625">
                      <a:moveTo>
                        <a:pt x="87312" y="0"/>
                      </a:moveTo>
                      <a:cubicBezTo>
                        <a:pt x="135534" y="0"/>
                        <a:pt x="174625" y="39091"/>
                        <a:pt x="174625" y="87312"/>
                      </a:cubicBezTo>
                      <a:cubicBezTo>
                        <a:pt x="174625" y="135534"/>
                        <a:pt x="135534" y="174625"/>
                        <a:pt x="87312" y="174625"/>
                      </a:cubicBezTo>
                      <a:cubicBezTo>
                        <a:pt x="39091" y="174625"/>
                        <a:pt x="0" y="135534"/>
                        <a:pt x="0" y="87312"/>
                      </a:cubicBezTo>
                      <a:lnTo>
                        <a:pt x="87" y="83523"/>
                      </a:lnTo>
                      <a:cubicBezTo>
                        <a:pt x="2116" y="36822"/>
                        <a:pt x="40567" y="3"/>
                        <a:pt x="87312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20" name="Freeform 20"/>
                <p:cNvSpPr/>
                <p:nvPr/>
              </p:nvSpPr>
              <p:spPr>
                <a:xfrm>
                  <a:off x="4926012" y="2987675"/>
                  <a:ext cx="244475" cy="1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4475" h="139700">
                      <a:moveTo>
                        <a:pt x="157162" y="0"/>
                      </a:moveTo>
                      <a:cubicBezTo>
                        <a:pt x="205384" y="0"/>
                        <a:pt x="244475" y="39091"/>
                        <a:pt x="244475" y="87312"/>
                      </a:cubicBezTo>
                      <a:lnTo>
                        <a:pt x="244475" y="104775"/>
                      </a:lnTo>
                      <a:cubicBezTo>
                        <a:pt x="244475" y="124064"/>
                        <a:pt x="228839" y="139700"/>
                        <a:pt x="209550" y="139700"/>
                      </a:cubicBezTo>
                      <a:lnTo>
                        <a:pt x="34925" y="139700"/>
                      </a:lnTo>
                      <a:cubicBezTo>
                        <a:pt x="15636" y="139700"/>
                        <a:pt x="0" y="124064"/>
                        <a:pt x="0" y="104775"/>
                      </a:cubicBezTo>
                      <a:lnTo>
                        <a:pt x="0" y="87312"/>
                      </a:lnTo>
                      <a:cubicBezTo>
                        <a:pt x="0" y="39091"/>
                        <a:pt x="39091" y="0"/>
                        <a:pt x="87313" y="0"/>
                      </a:cubicBezTo>
                      <a:lnTo>
                        <a:pt x="157162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</p:sp>
          </p:grpSp>
          <p:sp>
            <p:nvSpPr>
              <p:cNvPr id="22" name="TextBox 22"/>
              <p:cNvSpPr txBox="1"/>
              <p:nvPr/>
            </p:nvSpPr>
            <p:spPr>
              <a:xfrm>
                <a:off x="4399121" y="3552825"/>
                <a:ext cx="1298258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填写角色标签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6361748" y="2543175"/>
              <a:ext cx="878205" cy="1314450"/>
              <a:chOff x="6361748" y="2543175"/>
              <a:chExt cx="878205" cy="1314450"/>
            </a:xfrm>
          </p:grpSpPr>
          <p:sp>
            <p:nvSpPr>
              <p:cNvPr id="24" name="Ellipse 24"/>
              <p:cNvSpPr/>
              <p:nvPr/>
            </p:nvSpPr>
            <p:spPr>
              <a:xfrm>
                <a:off x="6391275" y="2543175"/>
                <a:ext cx="819150" cy="819150"/>
              </a:xfrm>
              <a:prstGeom prst="ellipse">
                <a:avLst/>
              </a:prstGeom>
              <a:solidFill>
                <a:srgbClr val="18A999"/>
              </a:solidFill>
              <a:ln>
                <a:noFill/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6608762" y="2830512"/>
                <a:ext cx="384175" cy="244475"/>
              </a:xfrm>
              <a:custGeom>
                <a:avLst/>
                <a:gdLst/>
                <a:ahLst/>
                <a:cxnLst/>
                <a:rect l="l" t="t" r="r" b="b"/>
                <a:pathLst>
                  <a:path w="384175" h="244475">
                    <a:moveTo>
                      <a:pt x="331787" y="0"/>
                    </a:moveTo>
                    <a:cubicBezTo>
                      <a:pt x="360720" y="0"/>
                      <a:pt x="384175" y="23455"/>
                      <a:pt x="384175" y="52388"/>
                    </a:cubicBezTo>
                    <a:lnTo>
                      <a:pt x="384175" y="192087"/>
                    </a:lnTo>
                    <a:cubicBezTo>
                      <a:pt x="384175" y="221020"/>
                      <a:pt x="360720" y="244475"/>
                      <a:pt x="331787" y="244475"/>
                    </a:cubicBezTo>
                    <a:lnTo>
                      <a:pt x="52388" y="244475"/>
                    </a:lnTo>
                    <a:cubicBezTo>
                      <a:pt x="23455" y="244475"/>
                      <a:pt x="0" y="221020"/>
                      <a:pt x="0" y="192087"/>
                    </a:cubicBezTo>
                    <a:lnTo>
                      <a:pt x="0" y="52388"/>
                    </a:lnTo>
                    <a:cubicBezTo>
                      <a:pt x="0" y="23455"/>
                      <a:pt x="23455" y="0"/>
                      <a:pt x="52388" y="0"/>
                    </a:cubicBezTo>
                    <a:close/>
                    <a:moveTo>
                      <a:pt x="87312" y="139700"/>
                    </a:moveTo>
                    <a:cubicBezTo>
                      <a:pt x="77668" y="139700"/>
                      <a:pt x="69850" y="147518"/>
                      <a:pt x="69850" y="157162"/>
                    </a:cubicBezTo>
                    <a:lnTo>
                      <a:pt x="69850" y="157337"/>
                    </a:lnTo>
                    <a:cubicBezTo>
                      <a:pt x="69850" y="166981"/>
                      <a:pt x="77668" y="174800"/>
                      <a:pt x="87312" y="174800"/>
                    </a:cubicBezTo>
                    <a:cubicBezTo>
                      <a:pt x="96957" y="174800"/>
                      <a:pt x="104775" y="166981"/>
                      <a:pt x="104775" y="157337"/>
                    </a:cubicBezTo>
                    <a:lnTo>
                      <a:pt x="104775" y="157162"/>
                    </a:lnTo>
                    <a:cubicBezTo>
                      <a:pt x="104775" y="147518"/>
                      <a:pt x="96957" y="139700"/>
                      <a:pt x="87312" y="139700"/>
                    </a:cubicBezTo>
                    <a:moveTo>
                      <a:pt x="296862" y="139700"/>
                    </a:moveTo>
                    <a:cubicBezTo>
                      <a:pt x="287218" y="139700"/>
                      <a:pt x="279400" y="147518"/>
                      <a:pt x="279400" y="157162"/>
                    </a:cubicBezTo>
                    <a:lnTo>
                      <a:pt x="279400" y="157337"/>
                    </a:lnTo>
                    <a:cubicBezTo>
                      <a:pt x="279400" y="166981"/>
                      <a:pt x="287218" y="174800"/>
                      <a:pt x="296862" y="174800"/>
                    </a:cubicBezTo>
                    <a:cubicBezTo>
                      <a:pt x="306507" y="174800"/>
                      <a:pt x="314325" y="166981"/>
                      <a:pt x="314325" y="157337"/>
                    </a:cubicBezTo>
                    <a:lnTo>
                      <a:pt x="314325" y="157162"/>
                    </a:lnTo>
                    <a:cubicBezTo>
                      <a:pt x="314325" y="147518"/>
                      <a:pt x="306507" y="139700"/>
                      <a:pt x="296862" y="139700"/>
                    </a:cubicBezTo>
                    <a:moveTo>
                      <a:pt x="157197" y="139700"/>
                    </a:moveTo>
                    <a:cubicBezTo>
                      <a:pt x="147553" y="139681"/>
                      <a:pt x="139719" y="147483"/>
                      <a:pt x="139700" y="157128"/>
                    </a:cubicBezTo>
                    <a:cubicBezTo>
                      <a:pt x="139681" y="166772"/>
                      <a:pt x="147483" y="174606"/>
                      <a:pt x="157128" y="174625"/>
                    </a:cubicBezTo>
                    <a:lnTo>
                      <a:pt x="226978" y="174800"/>
                    </a:lnTo>
                    <a:cubicBezTo>
                      <a:pt x="236622" y="174824"/>
                      <a:pt x="244460" y="167025"/>
                      <a:pt x="244484" y="157381"/>
                    </a:cubicBezTo>
                    <a:cubicBezTo>
                      <a:pt x="244508" y="147737"/>
                      <a:pt x="236709" y="139899"/>
                      <a:pt x="227065" y="139875"/>
                    </a:cubicBezTo>
                    <a:close/>
                    <a:moveTo>
                      <a:pt x="87312" y="69850"/>
                    </a:moveTo>
                    <a:cubicBezTo>
                      <a:pt x="77668" y="69850"/>
                      <a:pt x="69850" y="77668"/>
                      <a:pt x="69850" y="87312"/>
                    </a:cubicBezTo>
                    <a:lnTo>
                      <a:pt x="69850" y="87487"/>
                    </a:lnTo>
                    <a:cubicBezTo>
                      <a:pt x="69850" y="97131"/>
                      <a:pt x="77668" y="104950"/>
                      <a:pt x="87312" y="104950"/>
                    </a:cubicBezTo>
                    <a:cubicBezTo>
                      <a:pt x="96957" y="104950"/>
                      <a:pt x="104775" y="97131"/>
                      <a:pt x="104775" y="87487"/>
                    </a:cubicBezTo>
                    <a:lnTo>
                      <a:pt x="104775" y="87312"/>
                    </a:lnTo>
                    <a:cubicBezTo>
                      <a:pt x="104775" y="77668"/>
                      <a:pt x="96957" y="69850"/>
                      <a:pt x="87312" y="69850"/>
                    </a:cubicBezTo>
                    <a:moveTo>
                      <a:pt x="157162" y="69850"/>
                    </a:moveTo>
                    <a:cubicBezTo>
                      <a:pt x="147518" y="69850"/>
                      <a:pt x="139700" y="77668"/>
                      <a:pt x="139700" y="87312"/>
                    </a:cubicBezTo>
                    <a:lnTo>
                      <a:pt x="139700" y="87487"/>
                    </a:lnTo>
                    <a:cubicBezTo>
                      <a:pt x="139700" y="97131"/>
                      <a:pt x="147518" y="104950"/>
                      <a:pt x="157162" y="104950"/>
                    </a:cubicBezTo>
                    <a:cubicBezTo>
                      <a:pt x="166807" y="104950"/>
                      <a:pt x="174625" y="97131"/>
                      <a:pt x="174625" y="87487"/>
                    </a:cubicBezTo>
                    <a:lnTo>
                      <a:pt x="174625" y="87312"/>
                    </a:lnTo>
                    <a:cubicBezTo>
                      <a:pt x="174625" y="77668"/>
                      <a:pt x="166807" y="69850"/>
                      <a:pt x="157162" y="69850"/>
                    </a:cubicBezTo>
                    <a:moveTo>
                      <a:pt x="227012" y="69850"/>
                    </a:moveTo>
                    <a:cubicBezTo>
                      <a:pt x="217368" y="69850"/>
                      <a:pt x="209550" y="77668"/>
                      <a:pt x="209550" y="87312"/>
                    </a:cubicBezTo>
                    <a:lnTo>
                      <a:pt x="209550" y="87487"/>
                    </a:lnTo>
                    <a:cubicBezTo>
                      <a:pt x="209550" y="97131"/>
                      <a:pt x="217368" y="104950"/>
                      <a:pt x="227012" y="104950"/>
                    </a:cubicBezTo>
                    <a:cubicBezTo>
                      <a:pt x="236657" y="104950"/>
                      <a:pt x="244475" y="97131"/>
                      <a:pt x="244475" y="87487"/>
                    </a:cubicBezTo>
                    <a:lnTo>
                      <a:pt x="244475" y="87312"/>
                    </a:lnTo>
                    <a:cubicBezTo>
                      <a:pt x="244475" y="77668"/>
                      <a:pt x="236657" y="69850"/>
                      <a:pt x="227012" y="69850"/>
                    </a:cubicBezTo>
                    <a:moveTo>
                      <a:pt x="296862" y="69850"/>
                    </a:moveTo>
                    <a:cubicBezTo>
                      <a:pt x="287218" y="69850"/>
                      <a:pt x="279400" y="77668"/>
                      <a:pt x="279400" y="87312"/>
                    </a:cubicBezTo>
                    <a:lnTo>
                      <a:pt x="279400" y="87487"/>
                    </a:lnTo>
                    <a:cubicBezTo>
                      <a:pt x="279400" y="97131"/>
                      <a:pt x="287218" y="104950"/>
                      <a:pt x="296862" y="104950"/>
                    </a:cubicBezTo>
                    <a:cubicBezTo>
                      <a:pt x="306507" y="104950"/>
                      <a:pt x="314325" y="97131"/>
                      <a:pt x="314325" y="87487"/>
                    </a:cubicBezTo>
                    <a:lnTo>
                      <a:pt x="314325" y="87312"/>
                    </a:lnTo>
                    <a:cubicBezTo>
                      <a:pt x="314325" y="77668"/>
                      <a:pt x="306507" y="69850"/>
                      <a:pt x="296862" y="6985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6361748" y="3552825"/>
                <a:ext cx="87820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逐句转写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8114348" y="2543175"/>
              <a:ext cx="878205" cy="1314450"/>
              <a:chOff x="8114348" y="2543175"/>
              <a:chExt cx="878205" cy="1314450"/>
            </a:xfrm>
          </p:grpSpPr>
          <p:sp>
            <p:nvSpPr>
              <p:cNvPr id="28" name="Ellipse 28"/>
              <p:cNvSpPr/>
              <p:nvPr/>
            </p:nvSpPr>
            <p:spPr>
              <a:xfrm>
                <a:off x="8143875" y="2543175"/>
                <a:ext cx="819150" cy="819150"/>
              </a:xfrm>
              <a:prstGeom prst="ellipse">
                <a:avLst/>
              </a:prstGeom>
              <a:solidFill>
                <a:srgbClr val="F2B84B"/>
              </a:solidFill>
              <a:ln>
                <a:noFill/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378825" y="2795588"/>
                <a:ext cx="349250" cy="332605"/>
              </a:xfrm>
              <a:custGeom>
                <a:avLst/>
                <a:gdLst/>
                <a:ahLst/>
                <a:cxnLst/>
                <a:rect l="l" t="t" r="r" b="b"/>
                <a:pathLst>
                  <a:path w="349250" h="332605">
                    <a:moveTo>
                      <a:pt x="279400" y="0"/>
                    </a:moveTo>
                    <a:cubicBezTo>
                      <a:pt x="317977" y="0"/>
                      <a:pt x="349250" y="31273"/>
                      <a:pt x="349250" y="69850"/>
                    </a:cubicBezTo>
                    <a:lnTo>
                      <a:pt x="349250" y="209550"/>
                    </a:lnTo>
                    <a:cubicBezTo>
                      <a:pt x="349250" y="248127"/>
                      <a:pt x="317977" y="279400"/>
                      <a:pt x="279400" y="279400"/>
                    </a:cubicBezTo>
                    <a:lnTo>
                      <a:pt x="196907" y="279400"/>
                    </a:lnTo>
                    <a:lnTo>
                      <a:pt x="113751" y="329290"/>
                    </a:lnTo>
                    <a:cubicBezTo>
                      <a:pt x="108662" y="332344"/>
                      <a:pt x="102371" y="332605"/>
                      <a:pt x="97047" y="329982"/>
                    </a:cubicBezTo>
                    <a:cubicBezTo>
                      <a:pt x="91724" y="327359"/>
                      <a:pt x="88096" y="322211"/>
                      <a:pt x="87417" y="316316"/>
                    </a:cubicBezTo>
                    <a:lnTo>
                      <a:pt x="87313" y="314325"/>
                    </a:lnTo>
                    <a:lnTo>
                      <a:pt x="87313" y="279400"/>
                    </a:lnTo>
                    <a:lnTo>
                      <a:pt x="69850" y="279400"/>
                    </a:lnTo>
                    <a:cubicBezTo>
                      <a:pt x="32630" y="279400"/>
                      <a:pt x="1948" y="250216"/>
                      <a:pt x="87" y="213043"/>
                    </a:cubicBezTo>
                    <a:lnTo>
                      <a:pt x="0" y="209550"/>
                    </a:lnTo>
                    <a:lnTo>
                      <a:pt x="0" y="69850"/>
                    </a:lnTo>
                    <a:cubicBezTo>
                      <a:pt x="0" y="31273"/>
                      <a:pt x="31273" y="0"/>
                      <a:pt x="69850" y="0"/>
                    </a:cubicBezTo>
                    <a:close/>
                    <a:moveTo>
                      <a:pt x="209550" y="157162"/>
                    </a:moveTo>
                    <a:lnTo>
                      <a:pt x="104775" y="157162"/>
                    </a:lnTo>
                    <a:cubicBezTo>
                      <a:pt x="95131" y="157162"/>
                      <a:pt x="87313" y="164981"/>
                      <a:pt x="87313" y="174625"/>
                    </a:cubicBezTo>
                    <a:cubicBezTo>
                      <a:pt x="87313" y="184269"/>
                      <a:pt x="95131" y="192088"/>
                      <a:pt x="104775" y="192088"/>
                    </a:cubicBezTo>
                    <a:lnTo>
                      <a:pt x="209550" y="192088"/>
                    </a:lnTo>
                    <a:cubicBezTo>
                      <a:pt x="219194" y="192088"/>
                      <a:pt x="227013" y="184269"/>
                      <a:pt x="227013" y="174625"/>
                    </a:cubicBezTo>
                    <a:cubicBezTo>
                      <a:pt x="227013" y="164981"/>
                      <a:pt x="219194" y="157162"/>
                      <a:pt x="209550" y="157162"/>
                    </a:cubicBezTo>
                    <a:moveTo>
                      <a:pt x="244475" y="87313"/>
                    </a:moveTo>
                    <a:lnTo>
                      <a:pt x="104775" y="87313"/>
                    </a:lnTo>
                    <a:cubicBezTo>
                      <a:pt x="95131" y="87313"/>
                      <a:pt x="87313" y="95131"/>
                      <a:pt x="87313" y="104775"/>
                    </a:cubicBezTo>
                    <a:cubicBezTo>
                      <a:pt x="87313" y="114419"/>
                      <a:pt x="95131" y="122237"/>
                      <a:pt x="104775" y="122237"/>
                    </a:cubicBezTo>
                    <a:lnTo>
                      <a:pt x="244475" y="122237"/>
                    </a:lnTo>
                    <a:cubicBezTo>
                      <a:pt x="254119" y="122237"/>
                      <a:pt x="261938" y="114419"/>
                      <a:pt x="261938" y="104775"/>
                    </a:cubicBezTo>
                    <a:cubicBezTo>
                      <a:pt x="261938" y="95131"/>
                      <a:pt x="254119" y="87313"/>
                      <a:pt x="244475" y="8731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8114348" y="3552825"/>
                <a:ext cx="87820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补充事件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9905048" y="2543175"/>
              <a:ext cx="878205" cy="1314450"/>
              <a:chOff x="9905048" y="2543175"/>
              <a:chExt cx="878205" cy="1314450"/>
            </a:xfrm>
          </p:grpSpPr>
          <p:sp>
            <p:nvSpPr>
              <p:cNvPr id="32" name="Ellipse 32"/>
              <p:cNvSpPr/>
              <p:nvPr/>
            </p:nvSpPr>
            <p:spPr>
              <a:xfrm>
                <a:off x="9934575" y="2543175"/>
                <a:ext cx="819150" cy="819150"/>
              </a:xfrm>
              <a:prstGeom prst="ellipse">
                <a:avLst/>
              </a:prstGeom>
              <a:solidFill>
                <a:srgbClr val="1D5B8F"/>
              </a:solidFill>
              <a:ln>
                <a:noFill/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10204446" y="2778125"/>
                <a:ext cx="279408" cy="349250"/>
              </a:xfrm>
              <a:custGeom>
                <a:avLst/>
                <a:gdLst/>
                <a:ahLst/>
                <a:cxnLst/>
                <a:rect l="l" t="t" r="r" b="b"/>
                <a:pathLst>
                  <a:path w="279408" h="349250">
                    <a:moveTo>
                      <a:pt x="244426" y="37894"/>
                    </a:moveTo>
                    <a:cubicBezTo>
                      <a:pt x="265388" y="45280"/>
                      <a:pt x="279408" y="65088"/>
                      <a:pt x="279404" y="87312"/>
                    </a:cubicBezTo>
                    <a:lnTo>
                      <a:pt x="279404" y="296862"/>
                    </a:lnTo>
                    <a:cubicBezTo>
                      <a:pt x="279404" y="325795"/>
                      <a:pt x="255949" y="349250"/>
                      <a:pt x="227016" y="349250"/>
                    </a:cubicBezTo>
                    <a:lnTo>
                      <a:pt x="52391" y="349250"/>
                    </a:lnTo>
                    <a:cubicBezTo>
                      <a:pt x="23458" y="349250"/>
                      <a:pt x="4" y="325795"/>
                      <a:pt x="4" y="296862"/>
                    </a:cubicBezTo>
                    <a:lnTo>
                      <a:pt x="4" y="87312"/>
                    </a:lnTo>
                    <a:cubicBezTo>
                      <a:pt x="0" y="65088"/>
                      <a:pt x="14020" y="45280"/>
                      <a:pt x="34981" y="37894"/>
                    </a:cubicBezTo>
                    <a:cubicBezTo>
                      <a:pt x="36572" y="75286"/>
                      <a:pt x="67352" y="104781"/>
                      <a:pt x="104779" y="104775"/>
                    </a:cubicBezTo>
                    <a:lnTo>
                      <a:pt x="174629" y="104775"/>
                    </a:lnTo>
                    <a:cubicBezTo>
                      <a:pt x="210483" y="104778"/>
                      <a:pt x="240517" y="77634"/>
                      <a:pt x="244130" y="41962"/>
                    </a:cubicBezTo>
                    <a:close/>
                    <a:moveTo>
                      <a:pt x="179745" y="162279"/>
                    </a:moveTo>
                    <a:lnTo>
                      <a:pt x="122241" y="219766"/>
                    </a:lnTo>
                    <a:lnTo>
                      <a:pt x="99662" y="197204"/>
                    </a:lnTo>
                    <a:cubicBezTo>
                      <a:pt x="95278" y="192665"/>
                      <a:pt x="88785" y="190844"/>
                      <a:pt x="82680" y="192442"/>
                    </a:cubicBezTo>
                    <a:cubicBezTo>
                      <a:pt x="76574" y="194040"/>
                      <a:pt x="71806" y="198808"/>
                      <a:pt x="70208" y="204914"/>
                    </a:cubicBezTo>
                    <a:cubicBezTo>
                      <a:pt x="68610" y="211019"/>
                      <a:pt x="70431" y="217512"/>
                      <a:pt x="74970" y="221896"/>
                    </a:cubicBezTo>
                    <a:lnTo>
                      <a:pt x="109895" y="256821"/>
                    </a:lnTo>
                    <a:cubicBezTo>
                      <a:pt x="116714" y="263638"/>
                      <a:pt x="127768" y="263638"/>
                      <a:pt x="134587" y="256821"/>
                    </a:cubicBezTo>
                    <a:lnTo>
                      <a:pt x="204437" y="186971"/>
                    </a:lnTo>
                    <a:cubicBezTo>
                      <a:pt x="211055" y="180119"/>
                      <a:pt x="210960" y="169228"/>
                      <a:pt x="204225" y="162492"/>
                    </a:cubicBezTo>
                    <a:cubicBezTo>
                      <a:pt x="197489" y="155756"/>
                      <a:pt x="186597" y="155661"/>
                      <a:pt x="179745" y="162279"/>
                    </a:cubicBezTo>
                    <a:moveTo>
                      <a:pt x="174629" y="0"/>
                    </a:moveTo>
                    <a:cubicBezTo>
                      <a:pt x="193917" y="0"/>
                      <a:pt x="209554" y="15636"/>
                      <a:pt x="209554" y="34925"/>
                    </a:cubicBezTo>
                    <a:cubicBezTo>
                      <a:pt x="209554" y="54214"/>
                      <a:pt x="193917" y="69850"/>
                      <a:pt x="174629" y="69850"/>
                    </a:cubicBezTo>
                    <a:lnTo>
                      <a:pt x="104779" y="69850"/>
                    </a:lnTo>
                    <a:cubicBezTo>
                      <a:pt x="85490" y="69850"/>
                      <a:pt x="69854" y="54214"/>
                      <a:pt x="69854" y="34925"/>
                    </a:cubicBezTo>
                    <a:cubicBezTo>
                      <a:pt x="69854" y="15636"/>
                      <a:pt x="85490" y="0"/>
                      <a:pt x="10477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9905048" y="3552825"/>
                <a:ext cx="87820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复听核对</a:t>
                </a:r>
              </a:p>
            </p:txBody>
          </p:sp>
        </p:grpSp>
      </p:grpSp>
      <p:grpSp>
        <p:nvGrpSpPr>
          <p:cNvPr id="43" name="Group 43"/>
          <p:cNvGrpSpPr/>
          <p:nvPr/>
        </p:nvGrpSpPr>
        <p:grpSpPr>
          <a:xfrm>
            <a:off x="1428750" y="4857750"/>
            <a:ext cx="9349740" cy="857250"/>
            <a:chOff x="1428750" y="4857750"/>
            <a:chExt cx="9349740" cy="857250"/>
          </a:xfrm>
        </p:grpSpPr>
        <p:sp>
          <p:nvSpPr>
            <p:cNvPr id="37" name="Rectangle 37"/>
            <p:cNvSpPr/>
            <p:nvPr/>
          </p:nvSpPr>
          <p:spPr>
            <a:xfrm>
              <a:off x="1428750" y="4857750"/>
              <a:ext cx="4286250" cy="857250"/>
            </a:xfrm>
            <a:prstGeom prst="roundRect">
              <a:avLst>
                <a:gd name="adj" fmla="val 22222"/>
              </a:avLst>
            </a:prstGeom>
            <a:solidFill>
              <a:srgbClr val="EAF3F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731645" y="5022532"/>
              <a:ext cx="119705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5B8F"/>
                  </a:solidFill>
                  <a:latin typeface="Arial"/>
                  <a:ea typeface="Microsoft YaHei"/>
                  <a:cs typeface="Arial"/>
                </a:rPr>
                <a:t>说话人切换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735455" y="5359718"/>
              <a:ext cx="41748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听到声音来源变化时，先标切换点，再写角色标签。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477000" y="4857750"/>
              <a:ext cx="4286250" cy="857250"/>
            </a:xfrm>
            <a:prstGeom prst="roundRect">
              <a:avLst>
                <a:gd name="adj" fmla="val 22222"/>
              </a:avLst>
            </a:prstGeom>
            <a:solidFill>
              <a:srgbClr val="FFF4D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779895" y="5022532"/>
              <a:ext cx="119705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DC8A00"/>
                  </a:solidFill>
                  <a:latin typeface="Arial"/>
                  <a:ea typeface="Microsoft YaHei"/>
                  <a:cs typeface="Arial"/>
                </a:rPr>
                <a:t>非语言事件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783705" y="5359718"/>
              <a:ext cx="399478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笑声、停顿、噪声要用统一标签，避免自由发挥。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598170" y="6398895"/>
            <a:ext cx="10843260" cy="182880"/>
            <a:chOff x="598170" y="6398895"/>
            <a:chExt cx="10843260" cy="182880"/>
          </a:xfrm>
        </p:grpSpPr>
        <p:sp>
          <p:nvSpPr>
            <p:cNvPr id="44" name="TextBox 44"/>
            <p:cNvSpPr txBox="1"/>
            <p:nvPr/>
          </p:nvSpPr>
          <p:spPr>
            <a:xfrm>
              <a:off x="598170" y="6398895"/>
              <a:ext cx="172107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8796"/>
                  </a:solidFill>
                  <a:latin typeface="Arial"/>
                  <a:ea typeface="Microsoft YaHei"/>
                  <a:cs typeface="Arial"/>
                </a:rPr>
                <a:t>语音标注工具使用 · 角色与事件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016520" y="63988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8796"/>
                  </a:solidFill>
                  <a:latin typeface="Arial"/>
                  <a:ea typeface="Microsoft YaHei"/>
                  <a:cs typeface="Arial"/>
                </a:rPr>
                <a:t>10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4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75310" y="413385"/>
            <a:ext cx="4732020" cy="743903"/>
            <a:chOff x="575310" y="413385"/>
            <a:chExt cx="4732020" cy="743903"/>
          </a:xfrm>
        </p:grpSpPr>
        <p:sp>
          <p:nvSpPr>
            <p:cNvPr id="3" name="TextBox 3"/>
            <p:cNvSpPr txBox="1"/>
            <p:nvPr/>
          </p:nvSpPr>
          <p:spPr>
            <a:xfrm>
              <a:off x="575310" y="413385"/>
              <a:ext cx="2922837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实操练习2任务单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2455" y="882968"/>
              <a:ext cx="471487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完成一段语音的完整标注：不仅会操作，还要符合提交标准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85800" y="1524000"/>
            <a:ext cx="3352800" cy="3714750"/>
            <a:chOff x="685800" y="1524000"/>
            <a:chExt cx="3352800" cy="3714750"/>
          </a:xfrm>
        </p:grpSpPr>
        <p:sp>
          <p:nvSpPr>
            <p:cNvPr id="6" name="Rectangle 6"/>
            <p:cNvSpPr/>
            <p:nvPr/>
          </p:nvSpPr>
          <p:spPr>
            <a:xfrm>
              <a:off x="685800" y="1524000"/>
              <a:ext cx="3352800" cy="3714750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19050">
              <a:solidFill>
                <a:srgbClr val="CFE1EA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914400" y="1809750"/>
              <a:ext cx="609600" cy="609600"/>
            </a:xfrm>
            <a:prstGeom prst="roundRect">
              <a:avLst>
                <a:gd name="adj" fmla="val 28125"/>
              </a:avLst>
            </a:prstGeom>
            <a:solidFill>
              <a:srgbClr val="EAF3F8"/>
            </a:soli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1044575" y="2003425"/>
              <a:ext cx="349250" cy="222250"/>
            </a:xfrm>
            <a:custGeom>
              <a:avLst/>
              <a:gdLst/>
              <a:ahLst/>
              <a:cxnLst/>
              <a:rect l="l" t="t" r="r" b="b"/>
              <a:pathLst>
                <a:path w="349250" h="222250">
                  <a:moveTo>
                    <a:pt x="301625" y="0"/>
                  </a:moveTo>
                  <a:cubicBezTo>
                    <a:pt x="327928" y="0"/>
                    <a:pt x="349250" y="21322"/>
                    <a:pt x="349250" y="47625"/>
                  </a:cubicBezTo>
                  <a:lnTo>
                    <a:pt x="349250" y="174625"/>
                  </a:lnTo>
                  <a:cubicBezTo>
                    <a:pt x="349250" y="200928"/>
                    <a:pt x="327928" y="222250"/>
                    <a:pt x="301625" y="222250"/>
                  </a:cubicBezTo>
                  <a:lnTo>
                    <a:pt x="47625" y="222250"/>
                  </a:lnTo>
                  <a:cubicBezTo>
                    <a:pt x="21322" y="222250"/>
                    <a:pt x="0" y="200928"/>
                    <a:pt x="0" y="174625"/>
                  </a:cubicBezTo>
                  <a:lnTo>
                    <a:pt x="0" y="47625"/>
                  </a:lnTo>
                  <a:cubicBezTo>
                    <a:pt x="0" y="21322"/>
                    <a:pt x="21322" y="0"/>
                    <a:pt x="47625" y="0"/>
                  </a:cubicBezTo>
                  <a:close/>
                  <a:moveTo>
                    <a:pt x="79375" y="127000"/>
                  </a:moveTo>
                  <a:cubicBezTo>
                    <a:pt x="70607" y="127000"/>
                    <a:pt x="63500" y="134107"/>
                    <a:pt x="63500" y="142875"/>
                  </a:cubicBezTo>
                  <a:lnTo>
                    <a:pt x="63500" y="143034"/>
                  </a:lnTo>
                  <a:cubicBezTo>
                    <a:pt x="63500" y="151801"/>
                    <a:pt x="70607" y="158909"/>
                    <a:pt x="79375" y="158909"/>
                  </a:cubicBezTo>
                  <a:cubicBezTo>
                    <a:pt x="88143" y="158909"/>
                    <a:pt x="95250" y="151801"/>
                    <a:pt x="95250" y="143034"/>
                  </a:cubicBezTo>
                  <a:lnTo>
                    <a:pt x="95250" y="142875"/>
                  </a:lnTo>
                  <a:cubicBezTo>
                    <a:pt x="95250" y="134107"/>
                    <a:pt x="88143" y="127000"/>
                    <a:pt x="79375" y="127000"/>
                  </a:cubicBezTo>
                  <a:moveTo>
                    <a:pt x="269875" y="127000"/>
                  </a:moveTo>
                  <a:cubicBezTo>
                    <a:pt x="261107" y="127000"/>
                    <a:pt x="254000" y="134107"/>
                    <a:pt x="254000" y="142875"/>
                  </a:cubicBezTo>
                  <a:lnTo>
                    <a:pt x="254000" y="143034"/>
                  </a:lnTo>
                  <a:cubicBezTo>
                    <a:pt x="254000" y="151801"/>
                    <a:pt x="261107" y="158909"/>
                    <a:pt x="269875" y="158909"/>
                  </a:cubicBezTo>
                  <a:cubicBezTo>
                    <a:pt x="278643" y="158909"/>
                    <a:pt x="285750" y="151801"/>
                    <a:pt x="285750" y="143034"/>
                  </a:cubicBezTo>
                  <a:lnTo>
                    <a:pt x="285750" y="142875"/>
                  </a:lnTo>
                  <a:cubicBezTo>
                    <a:pt x="285750" y="134107"/>
                    <a:pt x="278643" y="127000"/>
                    <a:pt x="269875" y="127000"/>
                  </a:cubicBezTo>
                  <a:moveTo>
                    <a:pt x="142907" y="127000"/>
                  </a:moveTo>
                  <a:cubicBezTo>
                    <a:pt x="134139" y="126982"/>
                    <a:pt x="127018" y="134076"/>
                    <a:pt x="127000" y="142843"/>
                  </a:cubicBezTo>
                  <a:cubicBezTo>
                    <a:pt x="126982" y="151611"/>
                    <a:pt x="134076" y="158732"/>
                    <a:pt x="142843" y="158750"/>
                  </a:cubicBezTo>
                  <a:lnTo>
                    <a:pt x="206343" y="158909"/>
                  </a:lnTo>
                  <a:cubicBezTo>
                    <a:pt x="215111" y="158931"/>
                    <a:pt x="222236" y="151841"/>
                    <a:pt x="222258" y="143073"/>
                  </a:cubicBezTo>
                  <a:cubicBezTo>
                    <a:pt x="222280" y="134306"/>
                    <a:pt x="215190" y="127181"/>
                    <a:pt x="206423" y="127159"/>
                  </a:cubicBezTo>
                  <a:close/>
                  <a:moveTo>
                    <a:pt x="79375" y="63500"/>
                  </a:moveTo>
                  <a:cubicBezTo>
                    <a:pt x="70607" y="63500"/>
                    <a:pt x="63500" y="70607"/>
                    <a:pt x="63500" y="79375"/>
                  </a:cubicBezTo>
                  <a:lnTo>
                    <a:pt x="63500" y="79534"/>
                  </a:lnTo>
                  <a:cubicBezTo>
                    <a:pt x="63500" y="88301"/>
                    <a:pt x="70607" y="95409"/>
                    <a:pt x="79375" y="95409"/>
                  </a:cubicBezTo>
                  <a:cubicBezTo>
                    <a:pt x="88143" y="95409"/>
                    <a:pt x="95250" y="88301"/>
                    <a:pt x="95250" y="79534"/>
                  </a:cubicBezTo>
                  <a:lnTo>
                    <a:pt x="95250" y="79375"/>
                  </a:lnTo>
                  <a:cubicBezTo>
                    <a:pt x="95250" y="70607"/>
                    <a:pt x="88143" y="63500"/>
                    <a:pt x="79375" y="63500"/>
                  </a:cubicBezTo>
                  <a:moveTo>
                    <a:pt x="142875" y="63500"/>
                  </a:moveTo>
                  <a:cubicBezTo>
                    <a:pt x="134107" y="63500"/>
                    <a:pt x="127000" y="70607"/>
                    <a:pt x="127000" y="79375"/>
                  </a:cubicBezTo>
                  <a:lnTo>
                    <a:pt x="127000" y="79534"/>
                  </a:lnTo>
                  <a:cubicBezTo>
                    <a:pt x="127000" y="88301"/>
                    <a:pt x="134107" y="95409"/>
                    <a:pt x="142875" y="95409"/>
                  </a:cubicBezTo>
                  <a:cubicBezTo>
                    <a:pt x="151643" y="95409"/>
                    <a:pt x="158750" y="88301"/>
                    <a:pt x="158750" y="79534"/>
                  </a:cubicBezTo>
                  <a:lnTo>
                    <a:pt x="158750" y="79375"/>
                  </a:lnTo>
                  <a:cubicBezTo>
                    <a:pt x="158750" y="70607"/>
                    <a:pt x="151643" y="63500"/>
                    <a:pt x="142875" y="63500"/>
                  </a:cubicBezTo>
                  <a:moveTo>
                    <a:pt x="206375" y="63500"/>
                  </a:moveTo>
                  <a:cubicBezTo>
                    <a:pt x="197607" y="63500"/>
                    <a:pt x="190500" y="70607"/>
                    <a:pt x="190500" y="79375"/>
                  </a:cubicBezTo>
                  <a:lnTo>
                    <a:pt x="190500" y="79534"/>
                  </a:lnTo>
                  <a:cubicBezTo>
                    <a:pt x="190500" y="88301"/>
                    <a:pt x="197607" y="95409"/>
                    <a:pt x="206375" y="95409"/>
                  </a:cubicBezTo>
                  <a:cubicBezTo>
                    <a:pt x="215143" y="95409"/>
                    <a:pt x="222250" y="88301"/>
                    <a:pt x="222250" y="79534"/>
                  </a:cubicBezTo>
                  <a:lnTo>
                    <a:pt x="222250" y="79375"/>
                  </a:lnTo>
                  <a:cubicBezTo>
                    <a:pt x="222250" y="70607"/>
                    <a:pt x="215143" y="63500"/>
                    <a:pt x="206375" y="63500"/>
                  </a:cubicBezTo>
                  <a:moveTo>
                    <a:pt x="269875" y="63500"/>
                  </a:moveTo>
                  <a:cubicBezTo>
                    <a:pt x="261107" y="63500"/>
                    <a:pt x="254000" y="70607"/>
                    <a:pt x="254000" y="79375"/>
                  </a:cubicBezTo>
                  <a:lnTo>
                    <a:pt x="254000" y="79534"/>
                  </a:lnTo>
                  <a:cubicBezTo>
                    <a:pt x="254000" y="88301"/>
                    <a:pt x="261107" y="95409"/>
                    <a:pt x="269875" y="95409"/>
                  </a:cubicBezTo>
                  <a:cubicBezTo>
                    <a:pt x="278643" y="95409"/>
                    <a:pt x="285750" y="88301"/>
                    <a:pt x="285750" y="79534"/>
                  </a:cubicBezTo>
                  <a:lnTo>
                    <a:pt x="285750" y="79375"/>
                  </a:lnTo>
                  <a:cubicBezTo>
                    <a:pt x="285750" y="70607"/>
                    <a:pt x="278643" y="63500"/>
                    <a:pt x="269875" y="63500"/>
                  </a:cubicBezTo>
                </a:path>
              </a:pathLst>
            </a:custGeom>
            <a:solidFill>
              <a:srgbClr val="1D5B8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87730" y="2630805"/>
              <a:ext cx="64141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D5B8F"/>
                  </a:solidFill>
                  <a:latin typeface="Arial"/>
                  <a:ea typeface="Microsoft YaHei"/>
                  <a:cs typeface="Arial"/>
                </a:rPr>
                <a:t>转写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95350" y="3171825"/>
              <a:ext cx="1371600" cy="1028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8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逐句听辨内容</a:t>
              </a:r>
              <a:r>
                <a:rPr lang="zh-CN" sz="15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保留真实表达</a:t>
              </a:r>
              <a:r>
                <a:rPr lang="zh-CN" sz="15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不擅自润色改写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419600" y="1524000"/>
            <a:ext cx="3352800" cy="3714750"/>
            <a:chOff x="4419600" y="1524000"/>
            <a:chExt cx="3352800" cy="3714750"/>
          </a:xfrm>
        </p:grpSpPr>
        <p:sp>
          <p:nvSpPr>
            <p:cNvPr id="12" name="Rectangle 12"/>
            <p:cNvSpPr/>
            <p:nvPr/>
          </p:nvSpPr>
          <p:spPr>
            <a:xfrm>
              <a:off x="4419600" y="1524000"/>
              <a:ext cx="3352800" cy="3714750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19050">
              <a:solidFill>
                <a:srgbClr val="CFE1EA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4648200" y="1809750"/>
              <a:ext cx="609600" cy="609600"/>
            </a:xfrm>
            <a:prstGeom prst="roundRect">
              <a:avLst>
                <a:gd name="adj" fmla="val 28125"/>
              </a:avLst>
            </a:prstGeom>
            <a:solidFill>
              <a:srgbClr val="E8F8F5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4841875" y="1955800"/>
              <a:ext cx="222250" cy="317500"/>
              <a:chOff x="4841875" y="1955800"/>
              <a:chExt cx="222250" cy="3175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4873625" y="1955800"/>
                <a:ext cx="158750" cy="158750"/>
              </a:xfrm>
              <a:custGeom>
                <a:avLst/>
                <a:gdLst/>
                <a:ahLst/>
                <a:cxnLst/>
                <a:rect l="l" t="t" r="r" b="b"/>
                <a:pathLst>
                  <a:path w="158750" h="158750">
                    <a:moveTo>
                      <a:pt x="79375" y="0"/>
                    </a:moveTo>
                    <a:cubicBezTo>
                      <a:pt x="123213" y="0"/>
                      <a:pt x="158750" y="35537"/>
                      <a:pt x="158750" y="79375"/>
                    </a:cubicBezTo>
                    <a:cubicBezTo>
                      <a:pt x="158750" y="123213"/>
                      <a:pt x="123213" y="158750"/>
                      <a:pt x="79375" y="158750"/>
                    </a:cubicBezTo>
                    <a:cubicBezTo>
                      <a:pt x="35537" y="158750"/>
                      <a:pt x="0" y="123213"/>
                      <a:pt x="0" y="79375"/>
                    </a:cubicBezTo>
                    <a:lnTo>
                      <a:pt x="79" y="75930"/>
                    </a:lnTo>
                    <a:cubicBezTo>
                      <a:pt x="1924" y="33474"/>
                      <a:pt x="36879" y="2"/>
                      <a:pt x="79375" y="0"/>
                    </a:cubicBezTo>
                    <a:close/>
                  </a:path>
                </a:pathLst>
              </a:custGeom>
              <a:solidFill>
                <a:srgbClr val="18A999"/>
              </a:solidFill>
              <a:ln>
                <a:noFill/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4841875" y="2146300"/>
                <a:ext cx="22225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127000">
                    <a:moveTo>
                      <a:pt x="142875" y="0"/>
                    </a:moveTo>
                    <a:cubicBezTo>
                      <a:pt x="186713" y="0"/>
                      <a:pt x="222250" y="35537"/>
                      <a:pt x="222250" y="79375"/>
                    </a:cubicBezTo>
                    <a:lnTo>
                      <a:pt x="222250" y="95250"/>
                    </a:lnTo>
                    <a:cubicBezTo>
                      <a:pt x="222250" y="112785"/>
                      <a:pt x="208035" y="127000"/>
                      <a:pt x="190500" y="127000"/>
                    </a:cubicBezTo>
                    <a:lnTo>
                      <a:pt x="31750" y="127000"/>
                    </a:lnTo>
                    <a:cubicBezTo>
                      <a:pt x="14215" y="127000"/>
                      <a:pt x="0" y="112785"/>
                      <a:pt x="0" y="95250"/>
                    </a:cubicBezTo>
                    <a:lnTo>
                      <a:pt x="0" y="79375"/>
                    </a:lnTo>
                    <a:cubicBezTo>
                      <a:pt x="0" y="35537"/>
                      <a:pt x="35537" y="0"/>
                      <a:pt x="79375" y="0"/>
                    </a:cubicBezTo>
                    <a:lnTo>
                      <a:pt x="142875" y="0"/>
                    </a:lnTo>
                    <a:close/>
                  </a:path>
                </a:pathLst>
              </a:custGeom>
              <a:solidFill>
                <a:srgbClr val="18A999"/>
              </a:solidFill>
              <a:ln>
                <a:noFill/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4621530" y="2630805"/>
              <a:ext cx="64141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8A999"/>
                  </a:solidFill>
                  <a:latin typeface="Arial"/>
                  <a:ea typeface="Microsoft YaHei"/>
                  <a:cs typeface="Arial"/>
                </a:rPr>
                <a:t>角色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29150" y="3171825"/>
              <a:ext cx="1181100" cy="1028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8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识别说话人</a:t>
              </a:r>
              <a:r>
                <a:rPr lang="zh-CN" sz="15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标出切换点</a:t>
              </a:r>
              <a:r>
                <a:rPr lang="zh-CN" sz="15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统一角色命名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153400" y="1524000"/>
            <a:ext cx="3352800" cy="3714750"/>
            <a:chOff x="8153400" y="1524000"/>
            <a:chExt cx="3352800" cy="3714750"/>
          </a:xfrm>
        </p:grpSpPr>
        <p:sp>
          <p:nvSpPr>
            <p:cNvPr id="20" name="Rectangle 20"/>
            <p:cNvSpPr/>
            <p:nvPr/>
          </p:nvSpPr>
          <p:spPr>
            <a:xfrm>
              <a:off x="8153400" y="1524000"/>
              <a:ext cx="3352800" cy="3714750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19050">
              <a:solidFill>
                <a:srgbClr val="CFE1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8382000" y="1809750"/>
              <a:ext cx="609600" cy="609600"/>
            </a:xfrm>
            <a:prstGeom prst="roundRect">
              <a:avLst>
                <a:gd name="adj" fmla="val 28125"/>
              </a:avLst>
            </a:prstGeom>
            <a:solidFill>
              <a:srgbClr val="FFF4D8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8559797" y="1955800"/>
              <a:ext cx="254007" cy="317500"/>
            </a:xfrm>
            <a:custGeom>
              <a:avLst/>
              <a:gdLst/>
              <a:ahLst/>
              <a:cxnLst/>
              <a:rect l="l" t="t" r="r" b="b"/>
              <a:pathLst>
                <a:path w="254007" h="317500">
                  <a:moveTo>
                    <a:pt x="222206" y="34449"/>
                  </a:moveTo>
                  <a:cubicBezTo>
                    <a:pt x="241262" y="41163"/>
                    <a:pt x="254007" y="59171"/>
                    <a:pt x="254003" y="79375"/>
                  </a:cubicBezTo>
                  <a:lnTo>
                    <a:pt x="254003" y="269875"/>
                  </a:lnTo>
                  <a:cubicBezTo>
                    <a:pt x="254003" y="296178"/>
                    <a:pt x="232681" y="317500"/>
                    <a:pt x="206378" y="317500"/>
                  </a:cubicBezTo>
                  <a:lnTo>
                    <a:pt x="47628" y="317500"/>
                  </a:lnTo>
                  <a:cubicBezTo>
                    <a:pt x="21326" y="317500"/>
                    <a:pt x="3" y="296178"/>
                    <a:pt x="3" y="269875"/>
                  </a:cubicBezTo>
                  <a:lnTo>
                    <a:pt x="3" y="79375"/>
                  </a:lnTo>
                  <a:cubicBezTo>
                    <a:pt x="0" y="59171"/>
                    <a:pt x="12745" y="41163"/>
                    <a:pt x="31801" y="34449"/>
                  </a:cubicBezTo>
                  <a:cubicBezTo>
                    <a:pt x="33247" y="68442"/>
                    <a:pt x="61229" y="95255"/>
                    <a:pt x="95253" y="95250"/>
                  </a:cubicBezTo>
                  <a:lnTo>
                    <a:pt x="158753" y="95250"/>
                  </a:lnTo>
                  <a:cubicBezTo>
                    <a:pt x="191348" y="95253"/>
                    <a:pt x="218652" y="70577"/>
                    <a:pt x="221936" y="38148"/>
                  </a:cubicBezTo>
                  <a:close/>
                  <a:moveTo>
                    <a:pt x="163405" y="147526"/>
                  </a:moveTo>
                  <a:lnTo>
                    <a:pt x="111128" y="199787"/>
                  </a:lnTo>
                  <a:lnTo>
                    <a:pt x="90602" y="179276"/>
                  </a:lnTo>
                  <a:cubicBezTo>
                    <a:pt x="86616" y="175150"/>
                    <a:pt x="80714" y="173495"/>
                    <a:pt x="75164" y="174947"/>
                  </a:cubicBezTo>
                  <a:cubicBezTo>
                    <a:pt x="69613" y="176400"/>
                    <a:pt x="65279" y="180735"/>
                    <a:pt x="63826" y="186285"/>
                  </a:cubicBezTo>
                  <a:cubicBezTo>
                    <a:pt x="62373" y="191835"/>
                    <a:pt x="64028" y="197738"/>
                    <a:pt x="68155" y="201724"/>
                  </a:cubicBezTo>
                  <a:lnTo>
                    <a:pt x="99905" y="233474"/>
                  </a:lnTo>
                  <a:cubicBezTo>
                    <a:pt x="106104" y="239671"/>
                    <a:pt x="116153" y="239671"/>
                    <a:pt x="122352" y="233474"/>
                  </a:cubicBezTo>
                  <a:lnTo>
                    <a:pt x="185852" y="169974"/>
                  </a:lnTo>
                  <a:cubicBezTo>
                    <a:pt x="191868" y="163745"/>
                    <a:pt x="191782" y="153843"/>
                    <a:pt x="185659" y="147720"/>
                  </a:cubicBezTo>
                  <a:cubicBezTo>
                    <a:pt x="179535" y="141596"/>
                    <a:pt x="169634" y="141510"/>
                    <a:pt x="163405" y="147526"/>
                  </a:cubicBezTo>
                  <a:moveTo>
                    <a:pt x="158753" y="0"/>
                  </a:moveTo>
                  <a:cubicBezTo>
                    <a:pt x="176289" y="0"/>
                    <a:pt x="190503" y="14215"/>
                    <a:pt x="190503" y="31750"/>
                  </a:cubicBezTo>
                  <a:cubicBezTo>
                    <a:pt x="190503" y="49285"/>
                    <a:pt x="176289" y="63500"/>
                    <a:pt x="158753" y="63500"/>
                  </a:cubicBezTo>
                  <a:lnTo>
                    <a:pt x="95253" y="63500"/>
                  </a:lnTo>
                  <a:cubicBezTo>
                    <a:pt x="77718" y="63500"/>
                    <a:pt x="63503" y="49285"/>
                    <a:pt x="63503" y="31750"/>
                  </a:cubicBezTo>
                  <a:cubicBezTo>
                    <a:pt x="63503" y="14215"/>
                    <a:pt x="77718" y="0"/>
                    <a:pt x="95253" y="0"/>
                  </a:cubicBezTo>
                  <a:close/>
                </a:path>
              </a:pathLst>
            </a:custGeom>
            <a:solidFill>
              <a:srgbClr val="DC8A00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355330" y="2630805"/>
              <a:ext cx="64141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DC8A00"/>
                  </a:solidFill>
                  <a:latin typeface="Arial"/>
                  <a:ea typeface="Microsoft YaHei"/>
                  <a:cs typeface="Arial"/>
                </a:rPr>
                <a:t>质量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62950" y="3171825"/>
              <a:ext cx="1371600" cy="1028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8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标注事件标签</a:t>
              </a:r>
              <a:r>
                <a:rPr lang="zh-CN" sz="15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自检边界和文本</a:t>
              </a:r>
              <a:r>
                <a:rPr lang="zh-CN" sz="15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导出最终结果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714500" y="5572125"/>
            <a:ext cx="8763000" cy="514350"/>
            <a:chOff x="1714500" y="5572125"/>
            <a:chExt cx="8763000" cy="514350"/>
          </a:xfrm>
        </p:grpSpPr>
        <p:sp>
          <p:nvSpPr>
            <p:cNvPr id="26" name="Rectangle 26"/>
            <p:cNvSpPr/>
            <p:nvPr/>
          </p:nvSpPr>
          <p:spPr>
            <a:xfrm>
              <a:off x="1714500" y="5572125"/>
              <a:ext cx="8763000" cy="514350"/>
            </a:xfrm>
            <a:prstGeom prst="roundRect">
              <a:avLst>
                <a:gd name="adj" fmla="val 50000"/>
              </a:avLst>
            </a:prstGeom>
            <a:solidFill>
              <a:srgbClr val="18A999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2840641" y="5727382"/>
              <a:ext cx="651071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本轮产出：一份含转写、角色、事件和自检痕迹的完整标注结果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98170" y="6398895"/>
            <a:ext cx="10843260" cy="182880"/>
            <a:chOff x="598170" y="6398895"/>
            <a:chExt cx="10843260" cy="182880"/>
          </a:xfrm>
        </p:grpSpPr>
        <p:sp>
          <p:nvSpPr>
            <p:cNvPr id="29" name="TextBox 29"/>
            <p:cNvSpPr txBox="1"/>
            <p:nvPr/>
          </p:nvSpPr>
          <p:spPr>
            <a:xfrm>
              <a:off x="598170" y="6398895"/>
              <a:ext cx="16670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8796"/>
                  </a:solidFill>
                  <a:latin typeface="Arial"/>
                  <a:ea typeface="Microsoft YaHei"/>
                  <a:cs typeface="Arial"/>
                </a:rPr>
                <a:t>语音标注工具使用 · 实操练习2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016520" y="63988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8796"/>
                  </a:solidFill>
                  <a:latin typeface="Arial"/>
                  <a:ea typeface="Microsoft YaHei"/>
                  <a:cs typeface="Arial"/>
                </a:rPr>
                <a:t>11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9" grpId="0"/>
      <p:bldP spid="25" grpId="0"/>
      <p:bldP spid="2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75310" y="413385"/>
            <a:ext cx="3831908" cy="743903"/>
            <a:chOff x="575310" y="413385"/>
            <a:chExt cx="3831908" cy="743903"/>
          </a:xfrm>
        </p:grpSpPr>
        <p:sp>
          <p:nvSpPr>
            <p:cNvPr id="3" name="TextBox 3"/>
            <p:cNvSpPr txBox="1"/>
            <p:nvPr/>
          </p:nvSpPr>
          <p:spPr>
            <a:xfrm>
              <a:off x="575310" y="413385"/>
              <a:ext cx="3471005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质量自检与数据安全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2455" y="882968"/>
              <a:ext cx="381476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交付前先做四项自检：边界、文本、标签、安全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238250" y="1428750"/>
            <a:ext cx="9525000" cy="4267200"/>
            <a:chOff x="1238250" y="1428750"/>
            <a:chExt cx="9525000" cy="4267200"/>
          </a:xfrm>
        </p:grpSpPr>
        <p:sp>
          <p:nvSpPr>
            <p:cNvPr id="6" name="Line 6"/>
            <p:cNvSpPr/>
            <p:nvPr/>
          </p:nvSpPr>
          <p:spPr>
            <a:xfrm>
              <a:off x="1485900" y="1638300"/>
              <a:ext cx="9525" cy="4057650"/>
            </a:xfrm>
            <a:custGeom>
              <a:avLst/>
              <a:gdLst/>
              <a:ahLst/>
              <a:cxnLst/>
              <a:rect l="l" t="t" r="r" b="b"/>
              <a:pathLst>
                <a:path w="9525" h="4057650">
                  <a:moveTo>
                    <a:pt x="0" y="0"/>
                  </a:moveTo>
                  <a:lnTo>
                    <a:pt x="0" y="4057650"/>
                  </a:lnTo>
                </a:path>
              </a:pathLst>
            </a:custGeom>
            <a:noFill/>
            <a:ln w="38100" cap="rnd">
              <a:solidFill>
                <a:srgbClr val="18A999"/>
              </a:solidFill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1238250" y="1428750"/>
              <a:ext cx="9525000" cy="762000"/>
              <a:chOff x="1238250" y="1428750"/>
              <a:chExt cx="9525000" cy="762000"/>
            </a:xfrm>
          </p:grpSpPr>
          <p:sp>
            <p:nvSpPr>
              <p:cNvPr id="7" name="Ellipse 7"/>
              <p:cNvSpPr/>
              <p:nvPr/>
            </p:nvSpPr>
            <p:spPr>
              <a:xfrm>
                <a:off x="1238250" y="1562100"/>
                <a:ext cx="495300" cy="495300"/>
              </a:xfrm>
              <a:prstGeom prst="ellipse">
                <a:avLst/>
              </a:prstGeom>
              <a:solidFill>
                <a:srgbClr val="18A999"/>
              </a:solidFill>
              <a:ln>
                <a:noFill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1424454" y="1756410"/>
                <a:ext cx="12289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1</a:t>
                </a:r>
              </a:p>
            </p:txBody>
          </p:sp>
          <p:sp>
            <p:nvSpPr>
              <p:cNvPr id="9" name="Rectangle 9"/>
              <p:cNvSpPr/>
              <p:nvPr/>
            </p:nvSpPr>
            <p:spPr>
              <a:xfrm>
                <a:off x="2000250" y="1428750"/>
                <a:ext cx="8763000" cy="762000"/>
              </a:xfrm>
              <a:prstGeom prst="roundRect">
                <a:avLst>
                  <a:gd name="adj" fmla="val 20000"/>
                </a:avLst>
              </a:prstGeom>
              <a:solidFill>
                <a:srgbClr val="FFFFFF"/>
              </a:solidFill>
              <a:ln w="19050">
                <a:solidFill>
                  <a:srgbClr val="CFE1EA"/>
                </a:solidFill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2265045" y="1574482"/>
                <a:ext cx="2352199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边界是否贴合语音起止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2270760" y="1889760"/>
                <a:ext cx="355092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不要切掉开头，也不要把静音和下一句话混进来。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1238250" y="2476500"/>
              <a:ext cx="9525000" cy="762000"/>
              <a:chOff x="1238250" y="2476500"/>
              <a:chExt cx="9525000" cy="762000"/>
            </a:xfrm>
          </p:grpSpPr>
          <p:sp>
            <p:nvSpPr>
              <p:cNvPr id="13" name="Ellipse 13"/>
              <p:cNvSpPr/>
              <p:nvPr/>
            </p:nvSpPr>
            <p:spPr>
              <a:xfrm>
                <a:off x="1238250" y="2609850"/>
                <a:ext cx="495300" cy="495300"/>
              </a:xfrm>
              <a:prstGeom prst="ellipse">
                <a:avLst/>
              </a:prstGeom>
              <a:solidFill>
                <a:srgbClr val="1D5B8F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1424454" y="2804160"/>
                <a:ext cx="12289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2</a:t>
                </a:r>
              </a:p>
            </p:txBody>
          </p:sp>
          <p:sp>
            <p:nvSpPr>
              <p:cNvPr id="15" name="Rectangle 15"/>
              <p:cNvSpPr/>
              <p:nvPr/>
            </p:nvSpPr>
            <p:spPr>
              <a:xfrm>
                <a:off x="2000250" y="2476500"/>
                <a:ext cx="8763000" cy="762000"/>
              </a:xfrm>
              <a:prstGeom prst="roundRect">
                <a:avLst>
                  <a:gd name="adj" fmla="val 20000"/>
                </a:avLst>
              </a:prstGeom>
              <a:solidFill>
                <a:srgbClr val="FFFFFF"/>
              </a:solidFill>
              <a:ln w="19050">
                <a:solidFill>
                  <a:srgbClr val="CFE1EA"/>
                </a:solidFill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2265045" y="2622232"/>
                <a:ext cx="281425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转写是否漏字、错字、多字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2270760" y="2937510"/>
                <a:ext cx="387096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至少复听一次重点片段，尤其检查听不清和重叠语音。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1238250" y="3524250"/>
              <a:ext cx="9525000" cy="762000"/>
              <a:chOff x="1238250" y="3524250"/>
              <a:chExt cx="9525000" cy="762000"/>
            </a:xfrm>
          </p:grpSpPr>
          <p:sp>
            <p:nvSpPr>
              <p:cNvPr id="19" name="Ellipse 19"/>
              <p:cNvSpPr/>
              <p:nvPr/>
            </p:nvSpPr>
            <p:spPr>
              <a:xfrm>
                <a:off x="1238250" y="3657600"/>
                <a:ext cx="495300" cy="495300"/>
              </a:xfrm>
              <a:prstGeom prst="ellipse">
                <a:avLst/>
              </a:prstGeom>
              <a:solidFill>
                <a:srgbClr val="18A999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1424454" y="3851910"/>
                <a:ext cx="12289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3</a:t>
                </a:r>
              </a:p>
            </p:txBody>
          </p:sp>
          <p:sp>
            <p:nvSpPr>
              <p:cNvPr id="21" name="Rectangle 21"/>
              <p:cNvSpPr/>
              <p:nvPr/>
            </p:nvSpPr>
            <p:spPr>
              <a:xfrm>
                <a:off x="2000250" y="3524250"/>
                <a:ext cx="8763000" cy="762000"/>
              </a:xfrm>
              <a:prstGeom prst="roundRect">
                <a:avLst>
                  <a:gd name="adj" fmla="val 20000"/>
                </a:avLst>
              </a:prstGeom>
              <a:solidFill>
                <a:srgbClr val="FFFFFF"/>
              </a:solidFill>
              <a:ln w="19050">
                <a:solidFill>
                  <a:srgbClr val="CFE1EA"/>
                </a:solidFill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2265045" y="3669982"/>
                <a:ext cx="2583228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角色和事件标签是否一致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2270760" y="3985260"/>
                <a:ext cx="387096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同一说话人、同一事件类型，全程使用同一标签写法。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1238250" y="4572000"/>
              <a:ext cx="9525000" cy="762000"/>
              <a:chOff x="1238250" y="4572000"/>
              <a:chExt cx="9525000" cy="762000"/>
            </a:xfrm>
          </p:grpSpPr>
          <p:sp>
            <p:nvSpPr>
              <p:cNvPr id="25" name="Ellipse 25"/>
              <p:cNvSpPr/>
              <p:nvPr/>
            </p:nvSpPr>
            <p:spPr>
              <a:xfrm>
                <a:off x="1238250" y="4705350"/>
                <a:ext cx="495300" cy="495300"/>
              </a:xfrm>
              <a:prstGeom prst="ellipse">
                <a:avLst/>
              </a:prstGeom>
              <a:solidFill>
                <a:srgbClr val="F2B84B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1424454" y="4899660"/>
                <a:ext cx="12289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4</a:t>
                </a:r>
              </a:p>
            </p:txBody>
          </p:sp>
          <p:sp>
            <p:nvSpPr>
              <p:cNvPr id="27" name="Rectangle 27"/>
              <p:cNvSpPr/>
              <p:nvPr/>
            </p:nvSpPr>
            <p:spPr>
              <a:xfrm>
                <a:off x="2000250" y="4572000"/>
                <a:ext cx="8763000" cy="762000"/>
              </a:xfrm>
              <a:prstGeom prst="roundRect">
                <a:avLst>
                  <a:gd name="adj" fmla="val 20000"/>
                </a:avLst>
              </a:prstGeom>
              <a:solidFill>
                <a:srgbClr val="FFFFFF"/>
              </a:solidFill>
              <a:ln w="19050">
                <a:solidFill>
                  <a:srgbClr val="CFE1EA"/>
                </a:solidFill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2265045" y="4717732"/>
                <a:ext cx="2583228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素材和结果是否安全保存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2270760" y="5033010"/>
                <a:ext cx="403098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不外传语音素材，不随意改名，不把结果放到无关目录。</a:t>
                </a:r>
              </a:p>
            </p:txBody>
          </p:sp>
        </p:grpSp>
      </p:grpSp>
      <p:grpSp>
        <p:nvGrpSpPr>
          <p:cNvPr id="34" name="Group 34"/>
          <p:cNvGrpSpPr/>
          <p:nvPr/>
        </p:nvGrpSpPr>
        <p:grpSpPr>
          <a:xfrm>
            <a:off x="598170" y="6398895"/>
            <a:ext cx="10843260" cy="182880"/>
            <a:chOff x="598170" y="6398895"/>
            <a:chExt cx="10843260" cy="182880"/>
          </a:xfrm>
        </p:grpSpPr>
        <p:sp>
          <p:nvSpPr>
            <p:cNvPr id="32" name="TextBox 32"/>
            <p:cNvSpPr txBox="1"/>
            <p:nvPr/>
          </p:nvSpPr>
          <p:spPr>
            <a:xfrm>
              <a:off x="598170" y="6398895"/>
              <a:ext cx="160105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8796"/>
                  </a:solidFill>
                  <a:latin typeface="Arial"/>
                  <a:ea typeface="Microsoft YaHei"/>
                  <a:cs typeface="Arial"/>
                </a:rPr>
                <a:t>语音标注工具使用 · 质量控制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016520" y="63988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8796"/>
                  </a:solidFill>
                  <a:latin typeface="Arial"/>
                  <a:ea typeface="Microsoft YaHei"/>
                  <a:cs typeface="Arial"/>
                </a:rPr>
                <a:t>12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661035" y="446722"/>
            <a:ext cx="5401294" cy="915353"/>
            <a:chOff x="661035" y="446722"/>
            <a:chExt cx="5401294" cy="915353"/>
          </a:xfrm>
        </p:grpSpPr>
        <p:sp>
          <p:nvSpPr>
            <p:cNvPr id="3" name="TextBox 3"/>
            <p:cNvSpPr txBox="1"/>
            <p:nvPr/>
          </p:nvSpPr>
          <p:spPr>
            <a:xfrm>
              <a:off x="661035" y="446722"/>
              <a:ext cx="5401294" cy="701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综合练习：小组互查闭环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04850" y="1057275"/>
              <a:ext cx="34385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标注质量要从个人习惯，变成团队标准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314450" y="1314450"/>
            <a:ext cx="5372100" cy="4800600"/>
            <a:chOff x="1314450" y="1314450"/>
            <a:chExt cx="5372100" cy="4800600"/>
          </a:xfrm>
        </p:grpSpPr>
        <p:sp>
          <p:nvSpPr>
            <p:cNvPr id="6" name="Ellipse 6"/>
            <p:cNvSpPr/>
            <p:nvPr/>
          </p:nvSpPr>
          <p:spPr>
            <a:xfrm>
              <a:off x="2362200" y="2076450"/>
              <a:ext cx="3276600" cy="3276600"/>
            </a:xfrm>
            <a:prstGeom prst="ellipse">
              <a:avLst/>
            </a:prstGeom>
            <a:noFill/>
            <a:ln w="47625">
              <a:solidFill>
                <a:srgbClr val="CFE1EA"/>
              </a:solidFill>
              <a:custDash>
                <a:ds d="200000" sp="160000"/>
              </a:custDash>
            </a:ln>
          </p:spPr>
        </p:sp>
        <p:sp>
          <p:nvSpPr>
            <p:cNvPr id="7" name="Freeform 7"/>
            <p:cNvSpPr/>
            <p:nvPr/>
          </p:nvSpPr>
          <p:spPr>
            <a:xfrm>
              <a:off x="4000500" y="2076450"/>
              <a:ext cx="2571750" cy="2400300"/>
            </a:xfrm>
            <a:custGeom>
              <a:avLst/>
              <a:gdLst/>
              <a:ahLst/>
              <a:cxnLst/>
              <a:rect l="l" t="t" r="r" b="b"/>
              <a:pathLst>
                <a:path w="2571750" h="2400300">
                  <a:moveTo>
                    <a:pt x="0" y="0"/>
                  </a:moveTo>
                  <a:cubicBezTo>
                    <a:pt x="1333500" y="57150"/>
                    <a:pt x="2571750" y="1066800"/>
                    <a:pt x="2190750" y="2400300"/>
                  </a:cubicBezTo>
                </a:path>
              </a:pathLst>
            </a:custGeom>
            <a:noFill/>
            <a:ln w="38100">
              <a:solidFill>
                <a:srgbClr val="18A999"/>
              </a:solidFill>
              <a:tailEnd type="triangle" w="lg" len="lg"/>
            </a:ln>
          </p:spPr>
        </p:sp>
        <p:sp>
          <p:nvSpPr>
            <p:cNvPr id="8" name="Freeform 8"/>
            <p:cNvSpPr/>
            <p:nvPr/>
          </p:nvSpPr>
          <p:spPr>
            <a:xfrm>
              <a:off x="2238375" y="4762500"/>
              <a:ext cx="3590925" cy="1238250"/>
            </a:xfrm>
            <a:custGeom>
              <a:avLst/>
              <a:gdLst/>
              <a:ahLst/>
              <a:cxnLst/>
              <a:rect l="l" t="t" r="r" b="b"/>
              <a:pathLst>
                <a:path w="3590925" h="1238250">
                  <a:moveTo>
                    <a:pt x="3590925" y="333375"/>
                  </a:moveTo>
                  <a:cubicBezTo>
                    <a:pt x="2524125" y="1238250"/>
                    <a:pt x="923925" y="1047750"/>
                    <a:pt x="0" y="0"/>
                  </a:cubicBezTo>
                </a:path>
              </a:pathLst>
            </a:custGeom>
            <a:noFill/>
            <a:ln w="38100">
              <a:solidFill>
                <a:srgbClr val="18A999"/>
              </a:solidFill>
              <a:tailEnd type="triangle" w="lg" len="lg"/>
            </a:ln>
          </p:spPr>
        </p:sp>
        <p:sp>
          <p:nvSpPr>
            <p:cNvPr id="9" name="Freeform 9"/>
            <p:cNvSpPr/>
            <p:nvPr/>
          </p:nvSpPr>
          <p:spPr>
            <a:xfrm>
              <a:off x="1524000" y="2076450"/>
              <a:ext cx="2190750" cy="2257425"/>
            </a:xfrm>
            <a:custGeom>
              <a:avLst/>
              <a:gdLst/>
              <a:ahLst/>
              <a:cxnLst/>
              <a:rect l="l" t="t" r="r" b="b"/>
              <a:pathLst>
                <a:path w="2190750" h="2257425">
                  <a:moveTo>
                    <a:pt x="552450" y="2257425"/>
                  </a:moveTo>
                  <a:cubicBezTo>
                    <a:pt x="0" y="923925"/>
                    <a:pt x="952500" y="66675"/>
                    <a:pt x="2190750" y="0"/>
                  </a:cubicBezTo>
                </a:path>
              </a:pathLst>
            </a:custGeom>
            <a:noFill/>
            <a:ln w="38100">
              <a:solidFill>
                <a:srgbClr val="18A999"/>
              </a:solidFill>
              <a:tailEnd type="triangle" w="lg" len="lg"/>
            </a:ln>
          </p:spPr>
        </p:sp>
        <p:sp>
          <p:nvSpPr>
            <p:cNvPr id="10" name="Ellipse 10"/>
            <p:cNvSpPr/>
            <p:nvPr/>
          </p:nvSpPr>
          <p:spPr>
            <a:xfrm>
              <a:off x="3124200" y="2838450"/>
              <a:ext cx="1752600" cy="17526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CFE1EA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3429667" y="3428048"/>
              <a:ext cx="114166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1D5B8F"/>
                  </a:solidFill>
                  <a:latin typeface="Arial"/>
                  <a:ea typeface="Microsoft YaHei"/>
                  <a:cs typeface="Arial"/>
                </a:rPr>
                <a:t>互查闭环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505200" y="3832860"/>
              <a:ext cx="9906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做完再看一遍</a:t>
              </a:r>
            </a:p>
          </p:txBody>
        </p:sp>
        <p:grpSp>
          <p:nvGrpSpPr>
            <p:cNvPr id="15" name="Group 15"/>
            <p:cNvGrpSpPr/>
            <p:nvPr/>
          </p:nvGrpSpPr>
          <p:grpSpPr>
            <a:xfrm>
              <a:off x="3505200" y="1314450"/>
              <a:ext cx="990600" cy="990600"/>
              <a:chOff x="3505200" y="1314450"/>
              <a:chExt cx="990600" cy="990600"/>
            </a:xfrm>
          </p:grpSpPr>
          <p:sp>
            <p:nvSpPr>
              <p:cNvPr id="13" name="Ellipse 13"/>
              <p:cNvSpPr/>
              <p:nvPr/>
            </p:nvSpPr>
            <p:spPr>
              <a:xfrm>
                <a:off x="3505200" y="1314450"/>
                <a:ext cx="990600" cy="990600"/>
              </a:xfrm>
              <a:prstGeom prst="ellipse">
                <a:avLst/>
              </a:prstGeom>
              <a:solidFill>
                <a:srgbClr val="1D5B8F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3771424" y="1724025"/>
                <a:ext cx="458152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标注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5695950" y="3219450"/>
              <a:ext cx="990600" cy="990600"/>
              <a:chOff x="5695950" y="3219450"/>
              <a:chExt cx="990600" cy="990600"/>
            </a:xfrm>
          </p:grpSpPr>
          <p:sp>
            <p:nvSpPr>
              <p:cNvPr id="16" name="Ellipse 16"/>
              <p:cNvSpPr/>
              <p:nvPr/>
            </p:nvSpPr>
            <p:spPr>
              <a:xfrm>
                <a:off x="5695950" y="3219450"/>
                <a:ext cx="990600" cy="990600"/>
              </a:xfrm>
              <a:prstGeom prst="ellipse">
                <a:avLst/>
              </a:prstGeom>
              <a:solidFill>
                <a:srgbClr val="18A999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5962174" y="3629025"/>
                <a:ext cx="458152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互查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3505200" y="5124450"/>
              <a:ext cx="990600" cy="990600"/>
              <a:chOff x="3505200" y="5124450"/>
              <a:chExt cx="990600" cy="990600"/>
            </a:xfrm>
          </p:grpSpPr>
          <p:sp>
            <p:nvSpPr>
              <p:cNvPr id="19" name="Ellipse 19"/>
              <p:cNvSpPr/>
              <p:nvPr/>
            </p:nvSpPr>
            <p:spPr>
              <a:xfrm>
                <a:off x="3505200" y="5124450"/>
                <a:ext cx="990600" cy="990600"/>
              </a:xfrm>
              <a:prstGeom prst="ellipse">
                <a:avLst/>
              </a:prstGeom>
              <a:solidFill>
                <a:srgbClr val="F2B84B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3771424" y="5534025"/>
                <a:ext cx="458152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修正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1314450" y="3219450"/>
              <a:ext cx="990600" cy="990600"/>
              <a:chOff x="1314450" y="3219450"/>
              <a:chExt cx="990600" cy="990600"/>
            </a:xfrm>
          </p:grpSpPr>
          <p:sp>
            <p:nvSpPr>
              <p:cNvPr id="22" name="Ellipse 22"/>
              <p:cNvSpPr/>
              <p:nvPr/>
            </p:nvSpPr>
            <p:spPr>
              <a:xfrm>
                <a:off x="1314450" y="3219450"/>
                <a:ext cx="990600" cy="990600"/>
              </a:xfrm>
              <a:prstGeom prst="ellipse">
                <a:avLst/>
              </a:prstGeom>
              <a:solidFill>
                <a:srgbClr val="1D5B8F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1580674" y="3629025"/>
                <a:ext cx="458152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提交</a:t>
                </a:r>
              </a:p>
            </p:txBody>
          </p:sp>
        </p:grpSp>
      </p:grpSp>
      <p:grpSp>
        <p:nvGrpSpPr>
          <p:cNvPr id="29" name="Group 29"/>
          <p:cNvGrpSpPr/>
          <p:nvPr/>
        </p:nvGrpSpPr>
        <p:grpSpPr>
          <a:xfrm>
            <a:off x="7239000" y="1847850"/>
            <a:ext cx="4000500" cy="3429000"/>
            <a:chOff x="7239000" y="1847850"/>
            <a:chExt cx="4000500" cy="3429000"/>
          </a:xfrm>
        </p:grpSpPr>
        <p:sp>
          <p:nvSpPr>
            <p:cNvPr id="26" name="Rectangle 26"/>
            <p:cNvSpPr/>
            <p:nvPr/>
          </p:nvSpPr>
          <p:spPr>
            <a:xfrm>
              <a:off x="7239000" y="1847850"/>
              <a:ext cx="4000500" cy="342900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19050">
              <a:solidFill>
                <a:srgbClr val="CFE1EA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595235" y="2132648"/>
              <a:ext cx="1687735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互查时看什么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00950" y="2733675"/>
              <a:ext cx="23241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1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边界是否准确</a:t>
              </a:r>
              <a:r>
                <a:rPr lang="zh-CN" sz="15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角色是否统一</a:t>
              </a:r>
              <a:r>
                <a:rPr lang="zh-CN" sz="15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转写是否忠实</a:t>
              </a:r>
              <a:r>
                <a:rPr lang="zh-CN" sz="15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事件标签是否规范</a:t>
              </a:r>
              <a:r>
                <a:rPr lang="zh-CN" sz="15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文件名和导出格式是否正确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98170" y="6398895"/>
            <a:ext cx="10843260" cy="182880"/>
            <a:chOff x="598170" y="6398895"/>
            <a:chExt cx="10843260" cy="182880"/>
          </a:xfrm>
        </p:grpSpPr>
        <p:sp>
          <p:nvSpPr>
            <p:cNvPr id="30" name="TextBox 30"/>
            <p:cNvSpPr txBox="1"/>
            <p:nvPr/>
          </p:nvSpPr>
          <p:spPr>
            <a:xfrm>
              <a:off x="598170" y="6398895"/>
              <a:ext cx="160105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8796"/>
                  </a:solidFill>
                  <a:latin typeface="Arial"/>
                  <a:ea typeface="Microsoft YaHei"/>
                  <a:cs typeface="Arial"/>
                </a:rPr>
                <a:t>语音标注工具使用 · 综合练习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016520" y="63988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8796"/>
                  </a:solidFill>
                  <a:latin typeface="Arial"/>
                  <a:ea typeface="Microsoft YaHei"/>
                  <a:cs typeface="Arial"/>
                </a:rPr>
                <a:t>13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0" y="0"/>
            <a:ext cx="12192000" cy="1257300"/>
            <a:chOff x="0" y="0"/>
            <a:chExt cx="12192000" cy="1257300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12192000" cy="1257300"/>
            </a:xfrm>
            <a:prstGeom prst="rect">
              <a:avLst/>
            </a:prstGeom>
            <a:gradFill>
              <a:gsLst>
                <a:gs pos="0">
                  <a:srgbClr val="1D5B8F"/>
                </a:gs>
                <a:gs pos="100000">
                  <a:srgbClr val="18A999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20090" y="386715"/>
              <a:ext cx="2394109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小结与作业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3905" y="921068"/>
              <a:ext cx="453485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>
                      <a:alphaMod val="86000"/>
                    </a:srgbClr>
                  </a:solidFill>
                  <a:latin typeface="Arial"/>
                  <a:ea typeface="Microsoft YaHei"/>
                  <a:cs typeface="Arial"/>
                </a:rPr>
                <a:t>把工具操作、转写规范和质量自检整合到一次独立任务中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04850" y="1752600"/>
            <a:ext cx="4953000" cy="3714750"/>
            <a:chOff x="704850" y="1752600"/>
            <a:chExt cx="4953000" cy="3714750"/>
          </a:xfrm>
        </p:grpSpPr>
        <p:sp>
          <p:nvSpPr>
            <p:cNvPr id="7" name="Rectangle 7"/>
            <p:cNvSpPr/>
            <p:nvPr/>
          </p:nvSpPr>
          <p:spPr>
            <a:xfrm>
              <a:off x="704850" y="1752600"/>
              <a:ext cx="4953000" cy="3714750"/>
            </a:xfrm>
            <a:prstGeom prst="roundRect">
              <a:avLst>
                <a:gd name="adj" fmla="val 6154"/>
              </a:avLst>
            </a:prstGeom>
            <a:solidFill>
              <a:srgbClr val="FFFFFF"/>
            </a:solidFill>
            <a:ln w="19050">
              <a:solidFill>
                <a:srgbClr val="CFE1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40130" y="2040255"/>
              <a:ext cx="211159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D5B8F"/>
                  </a:solidFill>
                  <a:latin typeface="Arial"/>
                  <a:ea typeface="Microsoft YaHei"/>
                  <a:cs typeface="Arial"/>
                </a:rPr>
                <a:t>今天带走四件事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46798" y="2706529"/>
              <a:ext cx="2240280" cy="163449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450"/>
                </a:lnSpc>
              </a:pPr>
              <a:r>
                <a:rPr lang="zh-CN" sz="1575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Praat操作主线</a:t>
              </a:r>
              <a:r>
                <a:rPr lang="zh-CN" sz="1575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TextGrid多层结构</a:t>
              </a:r>
              <a:r>
                <a:rPr lang="zh-CN" sz="1575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转写与角色标注规范</a:t>
              </a:r>
              <a:r>
                <a:rPr lang="zh-CN" sz="1575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质量自检与数据安全意识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419850" y="1752600"/>
            <a:ext cx="5067300" cy="3714750"/>
            <a:chOff x="6419850" y="1752600"/>
            <a:chExt cx="5067300" cy="3714750"/>
          </a:xfrm>
        </p:grpSpPr>
        <p:sp>
          <p:nvSpPr>
            <p:cNvPr id="11" name="Rectangle 11"/>
            <p:cNvSpPr/>
            <p:nvPr/>
          </p:nvSpPr>
          <p:spPr>
            <a:xfrm>
              <a:off x="6419850" y="1752600"/>
              <a:ext cx="5067300" cy="3714750"/>
            </a:xfrm>
            <a:prstGeom prst="roundRect">
              <a:avLst>
                <a:gd name="adj" fmla="val 6154"/>
              </a:avLst>
            </a:prstGeom>
            <a:solidFill>
              <a:srgbClr val="FFFFFF"/>
            </a:solidFill>
            <a:ln w="19050">
              <a:solidFill>
                <a:srgbClr val="CFE1E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6743700" y="2114550"/>
              <a:ext cx="876300" cy="876300"/>
            </a:xfrm>
            <a:prstGeom prst="roundRect">
              <a:avLst>
                <a:gd name="adj" fmla="val 26087"/>
              </a:avLst>
            </a:prstGeom>
            <a:solidFill>
              <a:srgbClr val="E8F8F5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7010400" y="2356436"/>
              <a:ext cx="367812" cy="367714"/>
              <a:chOff x="7010400" y="2356436"/>
              <a:chExt cx="367812" cy="367714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7010400" y="2438400"/>
                <a:ext cx="28575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285750">
                    <a:moveTo>
                      <a:pt x="95250" y="19050"/>
                    </a:moveTo>
                    <a:cubicBezTo>
                      <a:pt x="95250" y="29571"/>
                      <a:pt x="86721" y="38100"/>
                      <a:pt x="76200" y="38100"/>
                    </a:cubicBezTo>
                    <a:lnTo>
                      <a:pt x="57150" y="38100"/>
                    </a:lnTo>
                    <a:cubicBezTo>
                      <a:pt x="46629" y="38100"/>
                      <a:pt x="38100" y="46629"/>
                      <a:pt x="38100" y="57150"/>
                    </a:cubicBezTo>
                    <a:lnTo>
                      <a:pt x="38100" y="228600"/>
                    </a:lnTo>
                    <a:cubicBezTo>
                      <a:pt x="38100" y="239121"/>
                      <a:pt x="46629" y="247650"/>
                      <a:pt x="57150" y="247650"/>
                    </a:cubicBezTo>
                    <a:lnTo>
                      <a:pt x="228600" y="247650"/>
                    </a:lnTo>
                    <a:cubicBezTo>
                      <a:pt x="239121" y="247650"/>
                      <a:pt x="247650" y="239121"/>
                      <a:pt x="247650" y="228600"/>
                    </a:cubicBezTo>
                    <a:lnTo>
                      <a:pt x="247650" y="209550"/>
                    </a:lnTo>
                    <a:cubicBezTo>
                      <a:pt x="247650" y="199029"/>
                      <a:pt x="256179" y="190500"/>
                      <a:pt x="266700" y="190500"/>
                    </a:cubicBezTo>
                    <a:cubicBezTo>
                      <a:pt x="277221" y="190500"/>
                      <a:pt x="285750" y="199029"/>
                      <a:pt x="285750" y="209550"/>
                    </a:cubicBezTo>
                    <a:lnTo>
                      <a:pt x="285750" y="228600"/>
                    </a:lnTo>
                    <a:cubicBezTo>
                      <a:pt x="285750" y="260163"/>
                      <a:pt x="260163" y="285750"/>
                      <a:pt x="228600" y="285750"/>
                    </a:cubicBezTo>
                    <a:lnTo>
                      <a:pt x="57150" y="285750"/>
                    </a:lnTo>
                    <a:cubicBezTo>
                      <a:pt x="25587" y="285750"/>
                      <a:pt x="0" y="260163"/>
                      <a:pt x="0" y="228600"/>
                    </a:cubicBez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lnTo>
                      <a:pt x="76200" y="0"/>
                    </a:lnTo>
                    <a:cubicBezTo>
                      <a:pt x="86721" y="0"/>
                      <a:pt x="95250" y="8529"/>
                      <a:pt x="95250" y="19050"/>
                    </a:cubicBezTo>
                  </a:path>
                </a:pathLst>
              </a:custGeom>
              <a:solidFill>
                <a:srgbClr val="18A999"/>
              </a:solidFill>
              <a:ln>
                <a:noFill/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7105650" y="2356436"/>
                <a:ext cx="272562" cy="272464"/>
              </a:xfrm>
              <a:custGeom>
                <a:avLst/>
                <a:gdLst/>
                <a:ahLst/>
                <a:cxnLst/>
                <a:rect l="l" t="t" r="r" b="b"/>
                <a:pathLst>
                  <a:path w="272562" h="272464">
                    <a:moveTo>
                      <a:pt x="125654" y="63124"/>
                    </a:moveTo>
                    <a:lnTo>
                      <a:pt x="209321" y="146791"/>
                    </a:lnTo>
                    <a:lnTo>
                      <a:pt x="89687" y="266864"/>
                    </a:lnTo>
                    <a:cubicBezTo>
                      <a:pt x="86114" y="270448"/>
                      <a:pt x="81261" y="272463"/>
                      <a:pt x="76200" y="272464"/>
                    </a:cubicBezTo>
                    <a:lnTo>
                      <a:pt x="19050" y="272464"/>
                    </a:lnTo>
                    <a:cubicBezTo>
                      <a:pt x="8529" y="272464"/>
                      <a:pt x="0" y="263935"/>
                      <a:pt x="0" y="253414"/>
                    </a:cubicBezTo>
                    <a:lnTo>
                      <a:pt x="0" y="196264"/>
                    </a:lnTo>
                    <a:cubicBezTo>
                      <a:pt x="1" y="191203"/>
                      <a:pt x="2016" y="186350"/>
                      <a:pt x="5601" y="182777"/>
                    </a:cubicBezTo>
                    <a:close/>
                    <a:moveTo>
                      <a:pt x="249403" y="23062"/>
                    </a:moveTo>
                    <a:cubicBezTo>
                      <a:pt x="271193" y="44837"/>
                      <a:pt x="272562" y="79712"/>
                      <a:pt x="252546" y="103129"/>
                    </a:cubicBezTo>
                    <a:lnTo>
                      <a:pt x="249422" y="106558"/>
                    </a:lnTo>
                    <a:lnTo>
                      <a:pt x="236220" y="119778"/>
                    </a:lnTo>
                    <a:lnTo>
                      <a:pt x="152648" y="36206"/>
                    </a:lnTo>
                    <a:lnTo>
                      <a:pt x="165887" y="23062"/>
                    </a:lnTo>
                    <a:cubicBezTo>
                      <a:pt x="188950" y="0"/>
                      <a:pt x="226340" y="0"/>
                      <a:pt x="249403" y="23062"/>
                    </a:cubicBezTo>
                  </a:path>
                </a:pathLst>
              </a:custGeom>
              <a:solidFill>
                <a:srgbClr val="18A999"/>
              </a:solidFill>
              <a:ln>
                <a:noFill/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7840980" y="2211705"/>
              <a:ext cx="122948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8A999"/>
                  </a:solidFill>
                  <a:latin typeface="Arial"/>
                  <a:ea typeface="Microsoft YaHei"/>
                  <a:cs typeface="Arial"/>
                </a:rPr>
                <a:t>课后作业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850505" y="2654618"/>
              <a:ext cx="28336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独立完成不少于2分钟对话语音标注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723698" y="3316129"/>
              <a:ext cx="2520315" cy="15773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300"/>
                </a:lnSpc>
              </a:pPr>
              <a:r>
                <a:rPr lang="zh-CN" sz="1575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1. 完成逐字转写</a:t>
              </a:r>
              <a:r>
                <a:rPr lang="zh-CN" sz="1575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2. 标注说话人角色和切换点</a:t>
              </a:r>
              <a:r>
                <a:rPr lang="zh-CN" sz="1575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3. 标注非语言事件</a:t>
              </a:r>
              <a:r>
                <a:rPr lang="zh-CN" sz="1575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4. 按标准格式导出并提交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2095500" y="5886450"/>
            <a:ext cx="8001000" cy="476250"/>
            <a:chOff x="2095500" y="5886450"/>
            <a:chExt cx="8001000" cy="476250"/>
          </a:xfrm>
        </p:grpSpPr>
        <p:sp>
          <p:nvSpPr>
            <p:cNvPr id="20" name="Rectangle 20"/>
            <p:cNvSpPr/>
            <p:nvPr/>
          </p:nvSpPr>
          <p:spPr>
            <a:xfrm>
              <a:off x="2095500" y="5886450"/>
              <a:ext cx="8001000" cy="476250"/>
            </a:xfrm>
            <a:prstGeom prst="roundRect">
              <a:avLst>
                <a:gd name="adj" fmla="val 50000"/>
              </a:avLst>
            </a:prstGeom>
            <a:solidFill>
              <a:srgbClr val="EAF3F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319403" y="6021229"/>
              <a:ext cx="5553194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75" b="1" dirty="0">
                  <a:solidFill>
                    <a:srgbClr val="1D5B8F"/>
                  </a:solidFill>
                  <a:latin typeface="Arial"/>
                  <a:ea typeface="Microsoft YaHei"/>
                  <a:cs typeface="Arial"/>
                </a:rPr>
                <a:t>工具熟练度来自反复操作，标注质量来自每一次认真自检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98170" y="6570345"/>
            <a:ext cx="10843260" cy="182880"/>
            <a:chOff x="598170" y="6570345"/>
            <a:chExt cx="10843260" cy="182880"/>
          </a:xfrm>
        </p:grpSpPr>
        <p:sp>
          <p:nvSpPr>
            <p:cNvPr id="23" name="TextBox 23"/>
            <p:cNvSpPr txBox="1"/>
            <p:nvPr/>
          </p:nvSpPr>
          <p:spPr>
            <a:xfrm>
              <a:off x="598170" y="6570345"/>
              <a:ext cx="172107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8796"/>
                  </a:solidFill>
                  <a:latin typeface="Arial"/>
                  <a:ea typeface="Microsoft YaHei"/>
                  <a:cs typeface="Arial"/>
                </a:rPr>
                <a:t>语音标注工具使用 · 小结与作业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016520" y="65703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8796"/>
                  </a:solidFill>
                  <a:latin typeface="Arial"/>
                  <a:ea typeface="Microsoft YaHei"/>
                  <a:cs typeface="Arial"/>
                </a:rPr>
                <a:t>14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9" grpId="0"/>
      <p:bldP spid="2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2026-06-18T04:28:34Z</dcterms:created>
  <dcterms:modified xsi:type="dcterms:W3CDTF">2026-06-18T04:28:34Z</dcterms:modified>
  <cp:category/>
  <cp:contentStatus/>
</cp:coreProperties>
</file>
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53" r:id="rId3"/>
    <p:sldMasterId id="2147483672" r:id="rId4"/>
    <p:sldMasterId id="2147483675" r:id="rId5"/>
    <p:sldMasterId id="2147483679" r:id="rId6"/>
  </p:sldMasterIdLst>
  <p:notesMasterIdLst>
    <p:notesMasterId r:id="rId9"/>
  </p:notesMasterIdLst>
  <p:sldIdLst>
    <p:sldId id="257" r:id="rId7"/>
    <p:sldId id="380" r:id="rId8"/>
    <p:sldId id="511" r:id="rId10"/>
    <p:sldId id="556" r:id="rId11"/>
    <p:sldId id="595" r:id="rId12"/>
    <p:sldId id="596" r:id="rId13"/>
    <p:sldId id="597" r:id="rId14"/>
    <p:sldId id="598" r:id="rId15"/>
    <p:sldId id="599" r:id="rId16"/>
    <p:sldId id="600" r:id="rId17"/>
    <p:sldId id="601" r:id="rId18"/>
    <p:sldId id="602" r:id="rId19"/>
    <p:sldId id="603" r:id="rId20"/>
    <p:sldId id="604" r:id="rId21"/>
    <p:sldId id="605" r:id="rId22"/>
    <p:sldId id="606" r:id="rId23"/>
    <p:sldId id="607" r:id="rId24"/>
    <p:sldId id="608" r:id="rId25"/>
    <p:sldId id="641" r:id="rId26"/>
    <p:sldId id="642" r:id="rId27"/>
    <p:sldId id="643" r:id="rId28"/>
    <p:sldId id="644" r:id="rId29"/>
    <p:sldId id="645" r:id="rId30"/>
    <p:sldId id="646" r:id="rId31"/>
    <p:sldId id="647" r:id="rId32"/>
    <p:sldId id="648" r:id="rId33"/>
    <p:sldId id="649" r:id="rId34"/>
    <p:sldId id="650" r:id="rId35"/>
    <p:sldId id="651" r:id="rId36"/>
    <p:sldId id="652" r:id="rId37"/>
    <p:sldId id="653" r:id="rId38"/>
    <p:sldId id="654" r:id="rId39"/>
    <p:sldId id="655" r:id="rId40"/>
    <p:sldId id="656" r:id="rId41"/>
    <p:sldId id="657" r:id="rId42"/>
    <p:sldId id="658" r:id="rId43"/>
    <p:sldId id="659" r:id="rId44"/>
    <p:sldId id="660" r:id="rId45"/>
    <p:sldId id="661" r:id="rId46"/>
    <p:sldId id="662" r:id="rId47"/>
    <p:sldId id="663" r:id="rId48"/>
    <p:sldId id="609" r:id="rId49"/>
    <p:sldId id="610" r:id="rId50"/>
    <p:sldId id="611" r:id="rId51"/>
    <p:sldId id="612" r:id="rId52"/>
    <p:sldId id="613" r:id="rId53"/>
    <p:sldId id="614" r:id="rId54"/>
    <p:sldId id="615" r:id="rId55"/>
    <p:sldId id="616" r:id="rId56"/>
    <p:sldId id="617" r:id="rId57"/>
    <p:sldId id="618" r:id="rId58"/>
    <p:sldId id="619" r:id="rId59"/>
    <p:sldId id="620" r:id="rId60"/>
    <p:sldId id="621" r:id="rId61"/>
    <p:sldId id="622" r:id="rId62"/>
    <p:sldId id="623" r:id="rId63"/>
    <p:sldId id="624" r:id="rId64"/>
    <p:sldId id="625" r:id="rId65"/>
    <p:sldId id="626" r:id="rId66"/>
    <p:sldId id="627" r:id="rId67"/>
    <p:sldId id="629" r:id="rId68"/>
    <p:sldId id="630" r:id="rId69"/>
    <p:sldId id="631" r:id="rId70"/>
    <p:sldId id="633" r:id="rId71"/>
    <p:sldId id="632" r:id="rId72"/>
    <p:sldId id="634" r:id="rId73"/>
    <p:sldId id="635" r:id="rId74"/>
    <p:sldId id="636" r:id="rId75"/>
    <p:sldId id="637" r:id="rId76"/>
    <p:sldId id="628" r:id="rId77"/>
    <p:sldId id="594" r:id="rId7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73" autoAdjust="0"/>
    <p:restoredTop sz="94364" autoAdjust="0"/>
  </p:normalViewPr>
  <p:slideViewPr>
    <p:cSldViewPr snapToGrid="0">
      <p:cViewPr varScale="1">
        <p:scale>
          <a:sx n="74" d="100"/>
          <a:sy n="74" d="100"/>
        </p:scale>
        <p:origin x="1416" y="66"/>
      </p:cViewPr>
      <p:guideLst>
        <p:guide orient="horz" pos="2131"/>
        <p:guide pos="286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2" Type="http://schemas.openxmlformats.org/officeDocument/2006/relationships/commentAuthors" Target="commentAuthors.xml"/><Relationship Id="rId81" Type="http://schemas.openxmlformats.org/officeDocument/2006/relationships/tableStyles" Target="tableStyles.xml"/><Relationship Id="rId80" Type="http://schemas.openxmlformats.org/officeDocument/2006/relationships/viewProps" Target="viewProps.xml"/><Relationship Id="rId8" Type="http://schemas.openxmlformats.org/officeDocument/2006/relationships/slide" Target="slides/slide2.xml"/><Relationship Id="rId79" Type="http://schemas.openxmlformats.org/officeDocument/2006/relationships/presProps" Target="presProps.xml"/><Relationship Id="rId78" Type="http://schemas.openxmlformats.org/officeDocument/2006/relationships/slide" Target="slides/slide71.xml"/><Relationship Id="rId77" Type="http://schemas.openxmlformats.org/officeDocument/2006/relationships/slide" Target="slides/slide70.xml"/><Relationship Id="rId76" Type="http://schemas.openxmlformats.org/officeDocument/2006/relationships/slide" Target="slides/slide69.xml"/><Relationship Id="rId75" Type="http://schemas.openxmlformats.org/officeDocument/2006/relationships/slide" Target="slides/slide68.xml"/><Relationship Id="rId74" Type="http://schemas.openxmlformats.org/officeDocument/2006/relationships/slide" Target="slides/slide67.xml"/><Relationship Id="rId73" Type="http://schemas.openxmlformats.org/officeDocument/2006/relationships/slide" Target="slides/slide66.xml"/><Relationship Id="rId72" Type="http://schemas.openxmlformats.org/officeDocument/2006/relationships/slide" Target="slides/slide65.xml"/><Relationship Id="rId71" Type="http://schemas.openxmlformats.org/officeDocument/2006/relationships/slide" Target="slides/slide64.xml"/><Relationship Id="rId70" Type="http://schemas.openxmlformats.org/officeDocument/2006/relationships/slide" Target="slides/slide63.xml"/><Relationship Id="rId7" Type="http://schemas.openxmlformats.org/officeDocument/2006/relationships/slide" Target="slides/slide1.xml"/><Relationship Id="rId69" Type="http://schemas.openxmlformats.org/officeDocument/2006/relationships/slide" Target="slides/slide62.xml"/><Relationship Id="rId68" Type="http://schemas.openxmlformats.org/officeDocument/2006/relationships/slide" Target="slides/slide61.xml"/><Relationship Id="rId67" Type="http://schemas.openxmlformats.org/officeDocument/2006/relationships/slide" Target="slides/slide60.xml"/><Relationship Id="rId66" Type="http://schemas.openxmlformats.org/officeDocument/2006/relationships/slide" Target="slides/slide59.xml"/><Relationship Id="rId65" Type="http://schemas.openxmlformats.org/officeDocument/2006/relationships/slide" Target="slides/slide58.xml"/><Relationship Id="rId64" Type="http://schemas.openxmlformats.org/officeDocument/2006/relationships/slide" Target="slides/slide57.xml"/><Relationship Id="rId63" Type="http://schemas.openxmlformats.org/officeDocument/2006/relationships/slide" Target="slides/slide56.xml"/><Relationship Id="rId62" Type="http://schemas.openxmlformats.org/officeDocument/2006/relationships/slide" Target="slides/slide55.xml"/><Relationship Id="rId61" Type="http://schemas.openxmlformats.org/officeDocument/2006/relationships/slide" Target="slides/slide54.xml"/><Relationship Id="rId60" Type="http://schemas.openxmlformats.org/officeDocument/2006/relationships/slide" Target="slides/slide53.xml"/><Relationship Id="rId6" Type="http://schemas.openxmlformats.org/officeDocument/2006/relationships/slideMaster" Target="slideMasters/slideMaster5.xml"/><Relationship Id="rId59" Type="http://schemas.openxmlformats.org/officeDocument/2006/relationships/slide" Target="slides/slide52.xml"/><Relationship Id="rId58" Type="http://schemas.openxmlformats.org/officeDocument/2006/relationships/slide" Target="slides/slide51.xml"/><Relationship Id="rId57" Type="http://schemas.openxmlformats.org/officeDocument/2006/relationships/slide" Target="slides/slide50.xml"/><Relationship Id="rId56" Type="http://schemas.openxmlformats.org/officeDocument/2006/relationships/slide" Target="slides/slide49.xml"/><Relationship Id="rId55" Type="http://schemas.openxmlformats.org/officeDocument/2006/relationships/slide" Target="slides/slide48.xml"/><Relationship Id="rId54" Type="http://schemas.openxmlformats.org/officeDocument/2006/relationships/slide" Target="slides/slide47.xml"/><Relationship Id="rId53" Type="http://schemas.openxmlformats.org/officeDocument/2006/relationships/slide" Target="slides/slide46.xml"/><Relationship Id="rId52" Type="http://schemas.openxmlformats.org/officeDocument/2006/relationships/slide" Target="slides/slide45.xml"/><Relationship Id="rId51" Type="http://schemas.openxmlformats.org/officeDocument/2006/relationships/slide" Target="slides/slide44.xml"/><Relationship Id="rId50" Type="http://schemas.openxmlformats.org/officeDocument/2006/relationships/slide" Target="slides/slide43.xml"/><Relationship Id="rId5" Type="http://schemas.openxmlformats.org/officeDocument/2006/relationships/slideMaster" Target="slideMasters/slideMaster4.xml"/><Relationship Id="rId49" Type="http://schemas.openxmlformats.org/officeDocument/2006/relationships/slide" Target="slides/slide42.xml"/><Relationship Id="rId48" Type="http://schemas.openxmlformats.org/officeDocument/2006/relationships/slide" Target="slides/slide41.xml"/><Relationship Id="rId47" Type="http://schemas.openxmlformats.org/officeDocument/2006/relationships/slide" Target="slides/slide40.xml"/><Relationship Id="rId46" Type="http://schemas.openxmlformats.org/officeDocument/2006/relationships/slide" Target="slides/slide39.xml"/><Relationship Id="rId45" Type="http://schemas.openxmlformats.org/officeDocument/2006/relationships/slide" Target="slides/slide38.xml"/><Relationship Id="rId44" Type="http://schemas.openxmlformats.org/officeDocument/2006/relationships/slide" Target="slides/slide37.xml"/><Relationship Id="rId43" Type="http://schemas.openxmlformats.org/officeDocument/2006/relationships/slide" Target="slides/slide36.xml"/><Relationship Id="rId42" Type="http://schemas.openxmlformats.org/officeDocument/2006/relationships/slide" Target="slides/slide35.xml"/><Relationship Id="rId41" Type="http://schemas.openxmlformats.org/officeDocument/2006/relationships/slide" Target="slides/slide34.xml"/><Relationship Id="rId40" Type="http://schemas.openxmlformats.org/officeDocument/2006/relationships/slide" Target="slides/slide33.xml"/><Relationship Id="rId4" Type="http://schemas.openxmlformats.org/officeDocument/2006/relationships/slideMaster" Target="slideMasters/slideMaster3.xml"/><Relationship Id="rId39" Type="http://schemas.openxmlformats.org/officeDocument/2006/relationships/slide" Target="slides/slide32.xml"/><Relationship Id="rId38" Type="http://schemas.openxmlformats.org/officeDocument/2006/relationships/slide" Target="slides/slide31.xml"/><Relationship Id="rId37" Type="http://schemas.openxmlformats.org/officeDocument/2006/relationships/slide" Target="slides/slide30.xml"/><Relationship Id="rId36" Type="http://schemas.openxmlformats.org/officeDocument/2006/relationships/slide" Target="slides/slide29.xml"/><Relationship Id="rId35" Type="http://schemas.openxmlformats.org/officeDocument/2006/relationships/slide" Target="slides/slide28.xml"/><Relationship Id="rId34" Type="http://schemas.openxmlformats.org/officeDocument/2006/relationships/slide" Target="slides/slide27.xml"/><Relationship Id="rId33" Type="http://schemas.openxmlformats.org/officeDocument/2006/relationships/slide" Target="slides/slide26.xml"/><Relationship Id="rId32" Type="http://schemas.openxmlformats.org/officeDocument/2006/relationships/slide" Target="slides/slide25.xml"/><Relationship Id="rId31" Type="http://schemas.openxmlformats.org/officeDocument/2006/relationships/slide" Target="slides/slide24.xml"/><Relationship Id="rId30" Type="http://schemas.openxmlformats.org/officeDocument/2006/relationships/slide" Target="slides/slide23.xml"/><Relationship Id="rId3" Type="http://schemas.openxmlformats.org/officeDocument/2006/relationships/slideMaster" Target="slideMasters/slideMaster2.xml"/><Relationship Id="rId29" Type="http://schemas.openxmlformats.org/officeDocument/2006/relationships/slide" Target="slides/slide22.xml"/><Relationship Id="rId28" Type="http://schemas.openxmlformats.org/officeDocument/2006/relationships/slide" Target="slides/slide21.xml"/><Relationship Id="rId27" Type="http://schemas.openxmlformats.org/officeDocument/2006/relationships/slide" Target="slides/slide20.xml"/><Relationship Id="rId26" Type="http://schemas.openxmlformats.org/officeDocument/2006/relationships/slide" Target="slides/slide19.xml"/><Relationship Id="rId25" Type="http://schemas.openxmlformats.org/officeDocument/2006/relationships/slide" Target="slides/slide18.xml"/><Relationship Id="rId24" Type="http://schemas.openxmlformats.org/officeDocument/2006/relationships/slide" Target="slides/slide17.xml"/><Relationship Id="rId23" Type="http://schemas.openxmlformats.org/officeDocument/2006/relationships/slide" Target="slides/slide16.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slide" Target="slides/slide7.xml"/><Relationship Id="rId13" Type="http://schemas.openxmlformats.org/officeDocument/2006/relationships/slide" Target="slides/slide6.xml"/><Relationship Id="rId12" Type="http://schemas.openxmlformats.org/officeDocument/2006/relationships/slide" Target="slides/slide5.xml"/><Relationship Id="rId11" Type="http://schemas.openxmlformats.org/officeDocument/2006/relationships/slide" Target="slides/slide4.xml"/><Relationship Id="rId10" Type="http://schemas.openxmlformats.org/officeDocument/2006/relationships/slide" Target="slides/slide3.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25A8C7-CC1A-4A08-9B4B-31F43B054C7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E1B693-632D-4080-9CF6-EA28B66DC80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5EBAAA1-E281-4744-B3FB-F2AF5002EA96}" type="slidenum">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5EBAAA1-E281-4744-B3FB-F2AF5002EA96}" type="slidenum">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5EBAAA1-E281-4744-B3FB-F2AF5002EA96}" type="slidenum">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1730213-C7A7-41CC-918A-A6DC9FA172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A7C82D-E9FA-40AB-8863-DC443673E5AC}"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A7C82D-E9FA-40AB-8863-DC443673E5AC}"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A7C82D-E9FA-40AB-8863-DC443673E5AC}"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A7C82D-E9FA-40AB-8863-DC443673E5AC}"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A7C82D-E9FA-40AB-8863-DC443673E5AC}"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A7C82D-E9FA-40AB-8863-DC443673E5AC}"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A7C82D-E9FA-40AB-8863-DC443673E5AC}"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A7C82D-E9FA-40AB-8863-DC443673E5AC}"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A7C82D-E9FA-40AB-8863-DC443673E5AC}"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A7C82D-E9FA-40AB-8863-DC443673E5AC}"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A7C82D-E9FA-40AB-8863-DC443673E5AC}"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A7C82D-E9FA-40AB-8863-DC443673E5AC}"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A7C82D-E9FA-40AB-8863-DC443673E5AC}"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A7C82D-E9FA-40AB-8863-DC443673E5AC}"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A7C82D-E9FA-40AB-8863-DC443673E5AC}"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A7C82D-E9FA-40AB-8863-DC443673E5AC}"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A7C82D-E9FA-40AB-8863-DC443673E5AC}"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A7C82D-E9FA-40AB-8863-DC443673E5AC}"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A7C82D-E9FA-40AB-8863-DC443673E5AC}"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A7C82D-E9FA-40AB-8863-DC443673E5AC}"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5EBAAA1-E281-4744-B3FB-F2AF5002EA96}" type="slidenum">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5EBAAA1-E281-4744-B3FB-F2AF5002EA96}" type="slidenum">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5EBAAA1-E281-4744-B3FB-F2AF5002EA96}" type="slidenum">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5EBAAA1-E281-4744-B3FB-F2AF5002EA96}" type="slidenum">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143000" y="1854199"/>
            <a:ext cx="6858000" cy="1655763"/>
          </a:xfrm>
        </p:spPr>
        <p:txBody>
          <a:bodyPr anchor="b">
            <a:normAutofit/>
          </a:bodyPr>
          <a:lstStyle>
            <a:lvl1pPr algn="ctr">
              <a:defRPr sz="7200" b="0"/>
            </a:lvl1pPr>
          </a:lstStyle>
          <a:p>
            <a:r>
              <a:rPr lang="zh-CN" altLang="en-US" dirty="0"/>
              <a:t>单击此处编辑标题</a:t>
            </a:r>
            <a:endParaRPr lang="zh-CN" altLang="en-US" dirty="0"/>
          </a:p>
        </p:txBody>
      </p:sp>
      <p:sp>
        <p:nvSpPr>
          <p:cNvPr id="3" name="副标题 2"/>
          <p:cNvSpPr>
            <a:spLocks noGrp="1"/>
          </p:cNvSpPr>
          <p:nvPr>
            <p:ph type="subTitle" idx="1"/>
          </p:nvPr>
        </p:nvSpPr>
        <p:spPr>
          <a:xfrm>
            <a:off x="1143000" y="3602038"/>
            <a:ext cx="6858000" cy="1655762"/>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grpSp>
        <p:nvGrpSpPr>
          <p:cNvPr id="6" name="组合 5"/>
          <p:cNvGrpSpPr/>
          <p:nvPr userDrawn="1"/>
        </p:nvGrpSpPr>
        <p:grpSpPr>
          <a:xfrm>
            <a:off x="-1" y="-2439"/>
            <a:ext cx="9145787" cy="718411"/>
            <a:chOff x="-1" y="190175"/>
            <a:chExt cx="9145786" cy="525795"/>
          </a:xfrm>
        </p:grpSpPr>
        <p:sp>
          <p:nvSpPr>
            <p:cNvPr id="7"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prstClr val="white"/>
                </a:solidFill>
              </a:endParaRPr>
            </a:p>
          </p:txBody>
        </p:sp>
        <p:sp>
          <p:nvSpPr>
            <p:cNvPr id="8"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prstClr val="white"/>
                </a:solidFill>
              </a:endParaRPr>
            </a:p>
          </p:txBody>
        </p:sp>
        <p:sp>
          <p:nvSpPr>
            <p:cNvPr id="9"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prstClr val="white"/>
                </a:solidFill>
              </a:endParaRPr>
            </a:p>
          </p:txBody>
        </p:sp>
      </p:grpSp>
      <p:sp>
        <p:nvSpPr>
          <p:cNvPr id="11" name="文本占位符 10"/>
          <p:cNvSpPr>
            <a:spLocks noGrp="1"/>
          </p:cNvSpPr>
          <p:nvPr>
            <p:ph type="body" sz="quarter" idx="13" hasCustomPrompt="1"/>
          </p:nvPr>
        </p:nvSpPr>
        <p:spPr>
          <a:xfrm>
            <a:off x="392113" y="948743"/>
            <a:ext cx="7094537" cy="544391"/>
          </a:xfrm>
        </p:spPr>
        <p:txBody>
          <a:bodyPr>
            <a:normAutofit/>
          </a:bodyPr>
          <a:lstStyle>
            <a:lvl1pPr marL="0" indent="0">
              <a:buNone/>
              <a:defRPr sz="1600" b="1">
                <a:solidFill>
                  <a:schemeClr val="accent5">
                    <a:lumMod val="75000"/>
                  </a:schemeClr>
                </a:solidFill>
              </a:defRPr>
            </a:lvl1pPr>
          </a:lstStyle>
          <a:p>
            <a:pPr lvl="0"/>
            <a:r>
              <a:rPr lang="zh-CN" altLang="en-US" dirty="0"/>
              <a:t>编辑母版文本样式</a:t>
            </a:r>
            <a:endParaRPr lang="zh-CN" altLang="en-US" dirty="0"/>
          </a:p>
        </p:txBody>
      </p:sp>
      <p:sp>
        <p:nvSpPr>
          <p:cNvPr id="13" name="内容占位符 12"/>
          <p:cNvSpPr>
            <a:spLocks noGrp="1"/>
          </p:cNvSpPr>
          <p:nvPr>
            <p:ph sz="quarter" idx="14" hasCustomPrompt="1"/>
          </p:nvPr>
        </p:nvSpPr>
        <p:spPr>
          <a:xfrm>
            <a:off x="628650" y="1863725"/>
            <a:ext cx="7886700" cy="4044950"/>
          </a:xfrm>
        </p:spPr>
        <p:txBody>
          <a:bodyPr/>
          <a:lstStyle>
            <a:lvl1pPr marL="0" indent="0">
              <a:buNone/>
              <a:defRPr sz="1600"/>
            </a:lvl1pPr>
            <a:lvl2pPr marL="457200" indent="0">
              <a:buNone/>
              <a:defRPr/>
            </a:lvl2pPr>
          </a:lstStyle>
          <a:p>
            <a:pPr lvl="0"/>
            <a:r>
              <a:rPr lang="zh-CN" altLang="en-US" dirty="0"/>
              <a:t>编辑母版文本样式</a:t>
            </a:r>
            <a:endParaRPr lang="zh-CN" altLang="en-US" dirty="0"/>
          </a:p>
        </p:txBody>
      </p:sp>
      <p:sp>
        <p:nvSpPr>
          <p:cNvPr id="15" name="矩形 14"/>
          <p:cNvSpPr/>
          <p:nvPr userDrawn="1"/>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defTabSz="914400"/>
            <a:fld id="{E9C828EB-24EE-4A31-9BA5-B664883E82A4}" type="datetimeFigureOut">
              <a:rPr lang="zh-CN" altLang="en-US" smtClean="0">
                <a:solidFill>
                  <a:prstClr val="black">
                    <a:tint val="75000"/>
                  </a:prstClr>
                </a:solidFill>
              </a:rPr>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pPr defTabSz="914400"/>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pPr defTabSz="914400"/>
            <a:fld id="{B813CE2E-101C-45E3-A183-32D265DB4F22}"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mc:AlternateContent xmlns:mc="http://schemas.openxmlformats.org/markup-compatibility/2006">
    <mc:Choice xmlns:p14="http://schemas.microsoft.com/office/powerpoint/2010/main" Requires="p14">
      <p:transition p14:dur="10" advClick="0" advTm="0">
        <p14:gallery dir="l"/>
      </p:transition>
    </mc:Choice>
    <mc:Fallback>
      <p:transition advClick="0" advTm="0">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duotone>
              <a:schemeClr val="bg2">
                <a:shade val="45000"/>
                <a:satMod val="135000"/>
              </a:schemeClr>
              <a:prstClr val="white"/>
            </a:duotone>
            <a:extLst>
              <a:ext uri="{28A0092B-C50C-407E-A947-70E740481C1C}">
                <a14:useLocalDpi xmlns:a14="http://schemas.microsoft.com/office/drawing/2010/main" val="0"/>
              </a:ext>
            </a:extLst>
          </a:blip>
          <a:srcRect l="10285" r="15524" b="21730"/>
          <a:stretch>
            <a:fillRect/>
          </a:stretch>
        </p:blipFill>
        <p:spPr>
          <a:xfrm>
            <a:off x="396" y="3389050"/>
            <a:ext cx="9143604" cy="3468950"/>
          </a:xfrm>
          <a:prstGeom prst="rect">
            <a:avLst/>
          </a:prstGeom>
        </p:spPr>
      </p:pic>
      <p:sp>
        <p:nvSpPr>
          <p:cNvPr id="8" name="矩形 7"/>
          <p:cNvSpPr/>
          <p:nvPr userDrawn="1"/>
        </p:nvSpPr>
        <p:spPr>
          <a:xfrm>
            <a:off x="0" y="0"/>
            <a:ext cx="9144000" cy="6858000"/>
          </a:xfrm>
          <a:prstGeom prst="rect">
            <a:avLst/>
          </a:prstGeom>
          <a:solidFill>
            <a:schemeClr val="bg1">
              <a:lumMod val="95000"/>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矩形 1"/>
          <p:cNvSpPr/>
          <p:nvPr userDrawn="1"/>
        </p:nvSpPr>
        <p:spPr>
          <a:xfrm>
            <a:off x="0" y="0"/>
            <a:ext cx="9144000" cy="101600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2308F32-F09A-4344-B65D-3757FEAF56BD}"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22308F32-F09A-4344-B65D-3757FEAF56BD}"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endParaRPr lang="zh-CN" altLang="en-US">
              <a:solidFill>
                <a:prstClr val="black">
                  <a:tint val="75000"/>
                </a:prstClr>
              </a:solidFill>
            </a:endParaRPr>
          </a:p>
        </p:txBody>
      </p:sp>
      <p:sp>
        <p:nvSpPr>
          <p:cNvPr id="8" name="Footer Placeholder 7"/>
          <p:cNvSpPr>
            <a:spLocks noGrp="1"/>
          </p:cNvSpPr>
          <p:nvPr>
            <p:ph type="ftr" sz="quarter" idx="11"/>
          </p:nvPr>
        </p:nvSpPr>
        <p:spPr/>
        <p:txBody>
          <a:bodyPr/>
          <a:lstStyle/>
          <a:p>
            <a:r>
              <a:rPr lang="en-US" altLang="zh-CN" dirty="0" smtClean="0">
                <a:solidFill>
                  <a:prstClr val="black">
                    <a:tint val="75000"/>
                  </a:prstClr>
                </a:solidFill>
              </a:rPr>
              <a:t>Of  69</a:t>
            </a:r>
            <a:endParaRPr lang="zh-CN" alt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22308F32-F09A-4344-B65D-3757FEAF56BD}"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endParaRPr lang="zh-CN"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22308F32-F09A-4344-B65D-3757FEAF56BD}"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zh-CN"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CN"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22308F32-F09A-4344-B65D-3757FEAF56BD}"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22308F32-F09A-4344-B65D-3757FEAF56BD}"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22308F32-F09A-4344-B65D-3757FEAF56BD}"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2308F32-F09A-4344-B65D-3757FEAF56BD}"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2308F32-F09A-4344-B65D-3757FEAF56BD}"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kumimoji="1" b="1"/>
            </a:lvl1pPr>
          </a:lstStyle>
          <a:p>
            <a:pPr>
              <a:defRPr/>
            </a:pPr>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lvl1pPr>
              <a:defRPr kumimoji="1" b="1"/>
            </a:lvl1p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lvl1pPr>
              <a:defRPr kumimoji="1" b="1"/>
            </a:lvl1pPr>
          </a:lstStyle>
          <a:p>
            <a:pPr>
              <a:defRPr/>
            </a:pPr>
            <a:fld id="{67C3AAF4-1844-4EEA-8132-22A06EE6489A}" type="slidenum">
              <a:rPr lang="zh-CN" altLang="en-US">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kumimoji="1" b="1"/>
            </a:lvl1pPr>
          </a:lstStyle>
          <a:p>
            <a:pPr>
              <a:defRPr/>
            </a:pPr>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lvl1pPr>
              <a:defRPr kumimoji="1" b="1"/>
            </a:lvl1p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lvl1pPr>
              <a:defRPr kumimoji="1" b="1"/>
            </a:lvl1pPr>
          </a:lstStyle>
          <a:p>
            <a:pPr>
              <a:defRPr/>
            </a:pPr>
            <a:fld id="{F9AD98D2-E8AF-49B1-9C8C-175DE0A5BE71}" type="slidenum">
              <a:rPr lang="zh-CN" altLang="en-US">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701675" y="233363"/>
            <a:ext cx="7829550" cy="57594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01675" y="233363"/>
            <a:ext cx="7829550" cy="595312"/>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701675" y="1628775"/>
            <a:ext cx="7829550" cy="4364038"/>
          </a:xfrm>
        </p:spPr>
        <p:txBody>
          <a:bodyPr/>
          <a:lstStyle/>
          <a:p>
            <a:pPr lvl="0"/>
            <a:endParaRPr lang="zh-CN" altLang="en-US" noProof="0" smtClean="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143000" y="1854199"/>
            <a:ext cx="6858000" cy="1655763"/>
          </a:xfrm>
        </p:spPr>
        <p:txBody>
          <a:bodyPr anchor="b">
            <a:normAutofit/>
          </a:bodyPr>
          <a:lstStyle>
            <a:lvl1pPr algn="ctr">
              <a:defRPr sz="7200" b="0"/>
            </a:lvl1pPr>
          </a:lstStyle>
          <a:p>
            <a:r>
              <a:rPr lang="zh-CN" altLang="en-US" dirty="0"/>
              <a:t>单击此处编辑标题</a:t>
            </a:r>
            <a:endParaRPr lang="zh-CN" altLang="en-US" dirty="0"/>
          </a:p>
        </p:txBody>
      </p:sp>
      <p:sp>
        <p:nvSpPr>
          <p:cNvPr id="3" name="副标题 2"/>
          <p:cNvSpPr>
            <a:spLocks noGrp="1"/>
          </p:cNvSpPr>
          <p:nvPr>
            <p:ph type="subTitle" idx="1"/>
          </p:nvPr>
        </p:nvSpPr>
        <p:spPr>
          <a:xfrm>
            <a:off x="1143000" y="3602038"/>
            <a:ext cx="6858000" cy="1655762"/>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D997B5FA-0921-464F-AAE1-844C04324D75}" type="datetimeFigureOut">
              <a:rPr lang="zh-CN" altLang="en-US" smtClean="0">
                <a:solidFill>
                  <a:srgbClr val="FFFFFF">
                    <a:lumMod val="50000"/>
                  </a:srgbClr>
                </a:solidFill>
              </a:rPr>
            </a:fld>
            <a:endParaRPr lang="zh-CN" altLang="en-US" dirty="0">
              <a:solidFill>
                <a:srgbClr val="FFFFFF">
                  <a:lumMod val="50000"/>
                </a:srgbClr>
              </a:solidFill>
            </a:endParaRPr>
          </a:p>
        </p:txBody>
      </p:sp>
      <p:sp>
        <p:nvSpPr>
          <p:cNvPr id="5" name="页脚占位符 4"/>
          <p:cNvSpPr>
            <a:spLocks noGrp="1"/>
          </p:cNvSpPr>
          <p:nvPr>
            <p:ph type="ftr" sz="quarter" idx="11"/>
          </p:nvPr>
        </p:nvSpPr>
        <p:spPr/>
        <p:txBody>
          <a:bodyPr/>
          <a:lstStyle/>
          <a:p>
            <a:endParaRPr lang="zh-CN" altLang="en-US">
              <a:solidFill>
                <a:srgbClr val="FFFFFF">
                  <a:lumMod val="50000"/>
                </a:srgb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srgbClr val="FFFFFF">
                    <a:lumMod val="50000"/>
                  </a:srgbClr>
                </a:solidFill>
              </a:rPr>
            </a:fld>
            <a:endParaRPr lang="zh-CN" altLang="en-US">
              <a:solidFill>
                <a:srgbClr val="FFFFFF">
                  <a:lumMod val="50000"/>
                </a:srgbClr>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8" name="组合 7"/>
          <p:cNvGrpSpPr/>
          <p:nvPr/>
        </p:nvGrpSpPr>
        <p:grpSpPr>
          <a:xfrm>
            <a:off x="690257" y="854039"/>
            <a:ext cx="7832784" cy="781051"/>
            <a:chOff x="3725790" y="847725"/>
            <a:chExt cx="3730770" cy="781050"/>
          </a:xfrm>
        </p:grpSpPr>
        <p:grpSp>
          <p:nvGrpSpPr>
            <p:cNvPr id="10" name="组合 9"/>
            <p:cNvGrpSpPr/>
            <p:nvPr/>
          </p:nvGrpSpPr>
          <p:grpSpPr>
            <a:xfrm>
              <a:off x="3725790" y="1019175"/>
              <a:ext cx="627135" cy="609600"/>
              <a:chOff x="3725790" y="1019175"/>
              <a:chExt cx="627135" cy="609600"/>
            </a:xfrm>
          </p:grpSpPr>
          <p:sp>
            <p:nvSpPr>
              <p:cNvPr id="15" name="任意多边形 11"/>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16" name="直角三角形 15"/>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grpSp>
        <p:grpSp>
          <p:nvGrpSpPr>
            <p:cNvPr id="11" name="组合 10"/>
            <p:cNvGrpSpPr/>
            <p:nvPr/>
          </p:nvGrpSpPr>
          <p:grpSpPr>
            <a:xfrm flipH="1">
              <a:off x="6829425" y="1019175"/>
              <a:ext cx="627135" cy="609600"/>
              <a:chOff x="3725790" y="1019175"/>
              <a:chExt cx="627135" cy="609600"/>
            </a:xfrm>
          </p:grpSpPr>
          <p:sp>
            <p:nvSpPr>
              <p:cNvPr id="13" name="任意多边形 9"/>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14" name="直角三角形 13"/>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grpSp>
        <p:sp>
          <p:nvSpPr>
            <p:cNvPr id="12" name="矩形 11"/>
            <p:cNvSpPr/>
            <p:nvPr/>
          </p:nvSpPr>
          <p:spPr>
            <a:xfrm>
              <a:off x="4181475" y="847725"/>
              <a:ext cx="2819400"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grpSp>
      <p:grpSp>
        <p:nvGrpSpPr>
          <p:cNvPr id="17" name="组合 16"/>
          <p:cNvGrpSpPr/>
          <p:nvPr userDrawn="1"/>
        </p:nvGrpSpPr>
        <p:grpSpPr>
          <a:xfrm>
            <a:off x="1754535" y="2048547"/>
            <a:ext cx="5693399" cy="415498"/>
            <a:chOff x="1807265" y="2462595"/>
            <a:chExt cx="5693399" cy="415498"/>
          </a:xfrm>
          <a:solidFill>
            <a:schemeClr val="bg2"/>
          </a:solidFill>
        </p:grpSpPr>
        <p:sp>
          <p:nvSpPr>
            <p:cNvPr id="18" name="圆角矩形 46"/>
            <p:cNvSpPr/>
            <p:nvPr/>
          </p:nvSpPr>
          <p:spPr>
            <a:xfrm>
              <a:off x="1807265" y="2478527"/>
              <a:ext cx="5693399" cy="394154"/>
            </a:xfrm>
            <a:prstGeom prst="roundRect">
              <a:avLst>
                <a:gd name="adj" fmla="val 20658"/>
              </a:avLst>
            </a:prstGeom>
            <a:grp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srgbClr val="FFFFFF"/>
                </a:solidFill>
              </a:endParaRPr>
            </a:p>
          </p:txBody>
        </p:sp>
        <p:sp>
          <p:nvSpPr>
            <p:cNvPr id="19" name="矩形 18"/>
            <p:cNvSpPr/>
            <p:nvPr/>
          </p:nvSpPr>
          <p:spPr>
            <a:xfrm>
              <a:off x="1883286" y="2462595"/>
              <a:ext cx="3007662" cy="415498"/>
            </a:xfrm>
            <a:prstGeom prst="rect">
              <a:avLst/>
            </a:prstGeom>
            <a:grpFill/>
          </p:spPr>
          <p:txBody>
            <a:bodyPr wrap="square">
              <a:spAutoFit/>
            </a:bodyPr>
            <a:lstStyle/>
            <a:p>
              <a:endParaRPr lang="zh-CN" altLang="en-US" sz="2100" spc="225" dirty="0">
                <a:solidFill>
                  <a:srgbClr val="FFFFFF"/>
                </a:solidFill>
                <a:latin typeface="微软雅黑" panose="020B0503020204020204" pitchFamily="34" charset="-122"/>
              </a:endParaRPr>
            </a:p>
          </p:txBody>
        </p:sp>
      </p:grpSp>
      <p:grpSp>
        <p:nvGrpSpPr>
          <p:cNvPr id="20" name="组合 19"/>
          <p:cNvGrpSpPr/>
          <p:nvPr userDrawn="1"/>
        </p:nvGrpSpPr>
        <p:grpSpPr>
          <a:xfrm>
            <a:off x="1754535" y="2753555"/>
            <a:ext cx="5693399" cy="426278"/>
            <a:chOff x="1807265" y="2935089"/>
            <a:chExt cx="5693399" cy="426278"/>
          </a:xfrm>
        </p:grpSpPr>
        <p:sp>
          <p:nvSpPr>
            <p:cNvPr id="21" name="圆角矩形 48"/>
            <p:cNvSpPr/>
            <p:nvPr/>
          </p:nvSpPr>
          <p:spPr>
            <a:xfrm>
              <a:off x="1807265" y="2935089"/>
              <a:ext cx="5693399" cy="394200"/>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srgbClr val="FFFFFF"/>
                </a:solidFill>
              </a:endParaRPr>
            </a:p>
          </p:txBody>
        </p:sp>
        <p:sp>
          <p:nvSpPr>
            <p:cNvPr id="22" name="矩形 21"/>
            <p:cNvSpPr/>
            <p:nvPr/>
          </p:nvSpPr>
          <p:spPr>
            <a:xfrm>
              <a:off x="1881814" y="2945869"/>
              <a:ext cx="184731" cy="415498"/>
            </a:xfrm>
            <a:prstGeom prst="rect">
              <a:avLst/>
            </a:prstGeom>
          </p:spPr>
          <p:txBody>
            <a:bodyPr wrap="none">
              <a:spAutoFit/>
            </a:bodyPr>
            <a:lstStyle/>
            <a:p>
              <a:endParaRPr lang="zh-CN" altLang="en-US" sz="2100" spc="225" dirty="0">
                <a:solidFill>
                  <a:srgbClr val="000000">
                    <a:lumMod val="75000"/>
                    <a:lumOff val="25000"/>
                  </a:srgbClr>
                </a:solidFill>
                <a:latin typeface="微软雅黑" panose="020B0503020204020204" pitchFamily="34" charset="-122"/>
              </a:endParaRPr>
            </a:p>
          </p:txBody>
        </p:sp>
      </p:grpSp>
      <p:grpSp>
        <p:nvGrpSpPr>
          <p:cNvPr id="23" name="组合 22"/>
          <p:cNvGrpSpPr/>
          <p:nvPr userDrawn="1"/>
        </p:nvGrpSpPr>
        <p:grpSpPr>
          <a:xfrm>
            <a:off x="1754535" y="3469343"/>
            <a:ext cx="5693399" cy="426278"/>
            <a:chOff x="1807265" y="3400693"/>
            <a:chExt cx="5693399" cy="426278"/>
          </a:xfrm>
        </p:grpSpPr>
        <p:sp>
          <p:nvSpPr>
            <p:cNvPr id="24" name="圆角矩形 50"/>
            <p:cNvSpPr/>
            <p:nvPr/>
          </p:nvSpPr>
          <p:spPr>
            <a:xfrm>
              <a:off x="1807265" y="3400693"/>
              <a:ext cx="5693399" cy="394200"/>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srgbClr val="FFFFFF"/>
                </a:solidFill>
              </a:endParaRPr>
            </a:p>
          </p:txBody>
        </p:sp>
        <p:sp>
          <p:nvSpPr>
            <p:cNvPr id="25" name="矩形 24"/>
            <p:cNvSpPr/>
            <p:nvPr/>
          </p:nvSpPr>
          <p:spPr>
            <a:xfrm>
              <a:off x="1881814" y="3411473"/>
              <a:ext cx="184731" cy="415498"/>
            </a:xfrm>
            <a:prstGeom prst="rect">
              <a:avLst/>
            </a:prstGeom>
          </p:spPr>
          <p:txBody>
            <a:bodyPr wrap="none">
              <a:spAutoFit/>
            </a:bodyPr>
            <a:lstStyle/>
            <a:p>
              <a:endParaRPr lang="zh-CN" altLang="en-US" sz="2100" spc="225" dirty="0">
                <a:solidFill>
                  <a:srgbClr val="000000">
                    <a:lumMod val="75000"/>
                    <a:lumOff val="25000"/>
                  </a:srgbClr>
                </a:solidFill>
                <a:latin typeface="微软雅黑" panose="020B0503020204020204" pitchFamily="34" charset="-122"/>
              </a:endParaRPr>
            </a:p>
          </p:txBody>
        </p:sp>
      </p:grpSp>
      <p:grpSp>
        <p:nvGrpSpPr>
          <p:cNvPr id="26" name="组合 25"/>
          <p:cNvGrpSpPr/>
          <p:nvPr userDrawn="1"/>
        </p:nvGrpSpPr>
        <p:grpSpPr>
          <a:xfrm>
            <a:off x="1754535" y="4185131"/>
            <a:ext cx="5693399" cy="426279"/>
            <a:chOff x="1807265" y="3866296"/>
            <a:chExt cx="5693399" cy="426279"/>
          </a:xfrm>
        </p:grpSpPr>
        <p:sp>
          <p:nvSpPr>
            <p:cNvPr id="27" name="圆角矩形 52"/>
            <p:cNvSpPr/>
            <p:nvPr/>
          </p:nvSpPr>
          <p:spPr>
            <a:xfrm>
              <a:off x="1807265" y="3866296"/>
              <a:ext cx="5693399" cy="394200"/>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srgbClr val="FFFFFF"/>
                </a:solidFill>
              </a:endParaRPr>
            </a:p>
          </p:txBody>
        </p:sp>
        <p:sp>
          <p:nvSpPr>
            <p:cNvPr id="28" name="矩形 27"/>
            <p:cNvSpPr/>
            <p:nvPr/>
          </p:nvSpPr>
          <p:spPr>
            <a:xfrm>
              <a:off x="1881814" y="3877077"/>
              <a:ext cx="184731" cy="415498"/>
            </a:xfrm>
            <a:prstGeom prst="rect">
              <a:avLst/>
            </a:prstGeom>
          </p:spPr>
          <p:txBody>
            <a:bodyPr wrap="none">
              <a:spAutoFit/>
            </a:bodyPr>
            <a:lstStyle/>
            <a:p>
              <a:endParaRPr lang="zh-CN" altLang="en-US" sz="2100" spc="225" dirty="0">
                <a:solidFill>
                  <a:srgbClr val="000000">
                    <a:lumMod val="75000"/>
                    <a:lumOff val="25000"/>
                  </a:srgbClr>
                </a:solidFill>
                <a:latin typeface="微软雅黑" panose="020B0503020204020204" pitchFamily="34" charset="-122"/>
              </a:endParaRPr>
            </a:p>
          </p:txBody>
        </p:sp>
      </p:grpSp>
      <p:sp>
        <p:nvSpPr>
          <p:cNvPr id="29" name="圆角矩形 42"/>
          <p:cNvSpPr/>
          <p:nvPr userDrawn="1"/>
        </p:nvSpPr>
        <p:spPr>
          <a:xfrm>
            <a:off x="1765367" y="4900919"/>
            <a:ext cx="5693399" cy="394200"/>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100" dirty="0">
                <a:solidFill>
                  <a:srgbClr val="000000">
                    <a:lumMod val="75000"/>
                    <a:lumOff val="25000"/>
                  </a:srgbClr>
                </a:solidFill>
              </a:rPr>
              <a:t> </a:t>
            </a:r>
            <a:endParaRPr lang="zh-CN" altLang="en-US" sz="2100" dirty="0">
              <a:solidFill>
                <a:srgbClr val="000000">
                  <a:lumMod val="75000"/>
                  <a:lumOff val="25000"/>
                </a:srgbClr>
              </a:solidFill>
            </a:endParaRPr>
          </a:p>
        </p:txBody>
      </p:sp>
      <p:sp>
        <p:nvSpPr>
          <p:cNvPr id="30" name="圆角矩形 1"/>
          <p:cNvSpPr/>
          <p:nvPr userDrawn="1"/>
        </p:nvSpPr>
        <p:spPr>
          <a:xfrm>
            <a:off x="1784416" y="5511788"/>
            <a:ext cx="5693399" cy="394200"/>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dirty="0">
              <a:solidFill>
                <a:srgbClr val="000000">
                  <a:lumMod val="75000"/>
                  <a:lumOff val="25000"/>
                </a:srgbClr>
              </a:solidFill>
            </a:endParaRPr>
          </a:p>
        </p:txBody>
      </p:sp>
      <p:sp>
        <p:nvSpPr>
          <p:cNvPr id="34" name="文本占位符 33"/>
          <p:cNvSpPr>
            <a:spLocks noGrp="1"/>
          </p:cNvSpPr>
          <p:nvPr>
            <p:ph type="body" sz="quarter" idx="13" hasCustomPrompt="1"/>
          </p:nvPr>
        </p:nvSpPr>
        <p:spPr>
          <a:xfrm>
            <a:off x="2106613" y="854075"/>
            <a:ext cx="4954587" cy="523875"/>
          </a:xfrm>
        </p:spPr>
        <p:txBody>
          <a:bodyPr>
            <a:normAutofit/>
          </a:bodyPr>
          <a:lstStyle>
            <a:lvl1pPr marL="0" indent="0" algn="ctr">
              <a:buNone/>
              <a:defRPr sz="2800">
                <a:solidFill>
                  <a:srgbClr val="FFC000"/>
                </a:solidFill>
              </a:defRPr>
            </a:lvl1pPr>
          </a:lstStyle>
          <a:p>
            <a:pPr lvl="0"/>
            <a:r>
              <a:rPr lang="zh-CN" altLang="en-US" dirty="0"/>
              <a:t>编辑母版文本样式</a:t>
            </a:r>
            <a:endParaRPr lang="zh-CN" altLang="en-US" dirty="0"/>
          </a:p>
        </p:txBody>
      </p:sp>
      <p:sp>
        <p:nvSpPr>
          <p:cNvPr id="36" name="文本占位符 35"/>
          <p:cNvSpPr>
            <a:spLocks noGrp="1"/>
          </p:cNvSpPr>
          <p:nvPr>
            <p:ph type="body" sz="quarter" idx="14" hasCustomPrompt="1"/>
          </p:nvPr>
        </p:nvSpPr>
        <p:spPr>
          <a:xfrm>
            <a:off x="1920875" y="2063750"/>
            <a:ext cx="5011738" cy="411163"/>
          </a:xfrm>
        </p:spPr>
        <p:txBody>
          <a:bodyPr>
            <a:normAutofit/>
          </a:bodyPr>
          <a:lstStyle>
            <a:lvl1pPr>
              <a:defRPr sz="2100"/>
            </a:lvl1pPr>
          </a:lstStyle>
          <a:p>
            <a:pPr lvl="0"/>
            <a:r>
              <a:rPr lang="zh-CN" altLang="en-US" dirty="0"/>
              <a:t>编辑母版文本样式</a:t>
            </a:r>
            <a:endParaRPr lang="zh-CN" altLang="en-US" dirty="0"/>
          </a:p>
        </p:txBody>
      </p:sp>
      <p:sp>
        <p:nvSpPr>
          <p:cNvPr id="37" name="文本占位符 35"/>
          <p:cNvSpPr>
            <a:spLocks noGrp="1"/>
          </p:cNvSpPr>
          <p:nvPr>
            <p:ph type="body" sz="quarter" idx="15" hasCustomPrompt="1"/>
          </p:nvPr>
        </p:nvSpPr>
        <p:spPr>
          <a:xfrm>
            <a:off x="1920875" y="2747372"/>
            <a:ext cx="5011738" cy="411163"/>
          </a:xfrm>
        </p:spPr>
        <p:txBody>
          <a:bodyPr>
            <a:normAutofit/>
          </a:bodyPr>
          <a:lstStyle>
            <a:lvl1pPr>
              <a:defRPr sz="2100"/>
            </a:lvl1pPr>
          </a:lstStyle>
          <a:p>
            <a:pPr lvl="0"/>
            <a:r>
              <a:rPr lang="zh-CN" altLang="en-US" dirty="0"/>
              <a:t>编辑母版文本样式</a:t>
            </a:r>
            <a:endParaRPr lang="zh-CN" altLang="en-US" dirty="0"/>
          </a:p>
        </p:txBody>
      </p:sp>
      <p:sp>
        <p:nvSpPr>
          <p:cNvPr id="38" name="文本占位符 35"/>
          <p:cNvSpPr>
            <a:spLocks noGrp="1"/>
          </p:cNvSpPr>
          <p:nvPr>
            <p:ph type="body" sz="quarter" idx="16" hasCustomPrompt="1"/>
          </p:nvPr>
        </p:nvSpPr>
        <p:spPr>
          <a:xfrm>
            <a:off x="1920875" y="3468767"/>
            <a:ext cx="5011738" cy="411163"/>
          </a:xfrm>
        </p:spPr>
        <p:txBody>
          <a:bodyPr>
            <a:normAutofit/>
          </a:bodyPr>
          <a:lstStyle>
            <a:lvl1pPr>
              <a:defRPr sz="2100"/>
            </a:lvl1pPr>
          </a:lstStyle>
          <a:p>
            <a:pPr lvl="0"/>
            <a:r>
              <a:rPr lang="zh-CN" altLang="en-US" dirty="0"/>
              <a:t>编辑母版文本样式</a:t>
            </a:r>
            <a:endParaRPr lang="zh-CN" altLang="en-US" dirty="0"/>
          </a:p>
        </p:txBody>
      </p:sp>
      <p:sp>
        <p:nvSpPr>
          <p:cNvPr id="39" name="文本占位符 35"/>
          <p:cNvSpPr>
            <a:spLocks noGrp="1"/>
          </p:cNvSpPr>
          <p:nvPr>
            <p:ph type="body" sz="quarter" idx="17" hasCustomPrompt="1"/>
          </p:nvPr>
        </p:nvSpPr>
        <p:spPr>
          <a:xfrm>
            <a:off x="1920875" y="5532807"/>
            <a:ext cx="5011738" cy="411163"/>
          </a:xfrm>
        </p:spPr>
        <p:txBody>
          <a:bodyPr>
            <a:normAutofit/>
          </a:bodyPr>
          <a:lstStyle>
            <a:lvl1pPr>
              <a:defRPr sz="2100"/>
            </a:lvl1pPr>
          </a:lstStyle>
          <a:p>
            <a:pPr lvl="0"/>
            <a:r>
              <a:rPr lang="zh-CN" altLang="en-US" dirty="0"/>
              <a:t>编辑母版文本样式</a:t>
            </a:r>
            <a:endParaRPr lang="zh-CN" altLang="en-US" dirty="0"/>
          </a:p>
        </p:txBody>
      </p:sp>
      <p:sp>
        <p:nvSpPr>
          <p:cNvPr id="40" name="文本占位符 35"/>
          <p:cNvSpPr>
            <a:spLocks noGrp="1"/>
          </p:cNvSpPr>
          <p:nvPr>
            <p:ph type="body" sz="quarter" idx="18" hasCustomPrompt="1"/>
          </p:nvPr>
        </p:nvSpPr>
        <p:spPr>
          <a:xfrm>
            <a:off x="1920875" y="4176649"/>
            <a:ext cx="5011738" cy="411163"/>
          </a:xfrm>
        </p:spPr>
        <p:txBody>
          <a:bodyPr>
            <a:normAutofit/>
          </a:bodyPr>
          <a:lstStyle>
            <a:lvl1pPr>
              <a:defRPr sz="2100"/>
            </a:lvl1pPr>
          </a:lstStyle>
          <a:p>
            <a:pPr lvl="0"/>
            <a:r>
              <a:rPr lang="zh-CN" altLang="en-US" dirty="0"/>
              <a:t>编辑母版文本样式</a:t>
            </a:r>
            <a:endParaRPr lang="zh-CN" altLang="en-US" dirty="0"/>
          </a:p>
        </p:txBody>
      </p:sp>
      <p:sp>
        <p:nvSpPr>
          <p:cNvPr id="41" name="文本占位符 35"/>
          <p:cNvSpPr>
            <a:spLocks noGrp="1"/>
          </p:cNvSpPr>
          <p:nvPr>
            <p:ph type="body" sz="quarter" idx="19" hasCustomPrompt="1"/>
          </p:nvPr>
        </p:nvSpPr>
        <p:spPr>
          <a:xfrm>
            <a:off x="1920875" y="4906446"/>
            <a:ext cx="5011738" cy="411163"/>
          </a:xfrm>
        </p:spPr>
        <p:txBody>
          <a:bodyPr>
            <a:normAutofit/>
          </a:bodyPr>
          <a:lstStyle>
            <a:lvl1pPr>
              <a:defRPr sz="2100"/>
            </a:lvl1pPr>
          </a:lstStyle>
          <a:p>
            <a:pPr lvl="0"/>
            <a:r>
              <a:rPr lang="zh-CN" altLang="en-US" dirty="0"/>
              <a:t>编辑母版文本样式</a:t>
            </a:r>
            <a:endParaRPr lang="zh-CN" altLang="en-US" dirty="0"/>
          </a:p>
        </p:txBody>
      </p:sp>
      <p:sp>
        <p:nvSpPr>
          <p:cNvPr id="42" name="矩形 41"/>
          <p:cNvSpPr/>
          <p:nvPr userDrawn="1"/>
        </p:nvSpPr>
        <p:spPr>
          <a:xfrm>
            <a:off x="0" y="-8890"/>
            <a:ext cx="9144000" cy="38227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355">
                <a:solidFill>
                  <a:prstClr val="white"/>
                </a:solidFill>
              </a:rPr>
              <a:t>大数据应用人才培养系列教材</a:t>
            </a:r>
            <a:endParaRPr lang="zh-CN" altLang="en-US" sz="1355">
              <a:solidFill>
                <a:prstClr val="white"/>
              </a:solidFill>
            </a:endParaRPr>
          </a:p>
        </p:txBody>
      </p:sp>
      <p:sp>
        <p:nvSpPr>
          <p:cNvPr id="44" name="矩形 43"/>
          <p:cNvSpPr/>
          <p:nvPr userDrawn="1"/>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143000" y="1854199"/>
            <a:ext cx="6858000" cy="1655763"/>
          </a:xfrm>
        </p:spPr>
        <p:txBody>
          <a:bodyPr anchor="b">
            <a:normAutofit/>
          </a:bodyPr>
          <a:lstStyle>
            <a:lvl1pPr algn="ctr">
              <a:defRPr sz="7200" b="0"/>
            </a:lvl1pPr>
          </a:lstStyle>
          <a:p>
            <a:r>
              <a:rPr lang="zh-CN" altLang="en-US" dirty="0"/>
              <a:t>单击此处编辑标题</a:t>
            </a:r>
            <a:endParaRPr lang="zh-CN" altLang="en-US" dirty="0"/>
          </a:p>
        </p:txBody>
      </p:sp>
      <p:sp>
        <p:nvSpPr>
          <p:cNvPr id="3" name="副标题 2"/>
          <p:cNvSpPr>
            <a:spLocks noGrp="1"/>
          </p:cNvSpPr>
          <p:nvPr>
            <p:ph type="subTitle" idx="1"/>
          </p:nvPr>
        </p:nvSpPr>
        <p:spPr>
          <a:xfrm>
            <a:off x="1143000" y="3602038"/>
            <a:ext cx="6858000" cy="1655762"/>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D997B5FA-0921-464F-AAE1-844C04324D75}" type="datetimeFigureOut">
              <a:rPr lang="zh-CN" altLang="en-US" smtClean="0">
                <a:solidFill>
                  <a:srgbClr val="FFFFFF">
                    <a:lumMod val="50000"/>
                  </a:srgbClr>
                </a:solidFill>
              </a:rPr>
            </a:fld>
            <a:endParaRPr lang="zh-CN" altLang="en-US" dirty="0">
              <a:solidFill>
                <a:srgbClr val="FFFFFF">
                  <a:lumMod val="50000"/>
                </a:srgbClr>
              </a:solidFill>
            </a:endParaRPr>
          </a:p>
        </p:txBody>
      </p:sp>
      <p:sp>
        <p:nvSpPr>
          <p:cNvPr id="5" name="页脚占位符 4"/>
          <p:cNvSpPr>
            <a:spLocks noGrp="1"/>
          </p:cNvSpPr>
          <p:nvPr>
            <p:ph type="ftr" sz="quarter" idx="11"/>
          </p:nvPr>
        </p:nvSpPr>
        <p:spPr/>
        <p:txBody>
          <a:bodyPr/>
          <a:lstStyle/>
          <a:p>
            <a:endParaRPr lang="zh-CN" altLang="en-US">
              <a:solidFill>
                <a:srgbClr val="FFFFFF">
                  <a:lumMod val="50000"/>
                </a:srgb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srgbClr val="FFFFFF">
                    <a:lumMod val="50000"/>
                  </a:srgbClr>
                </a:solidFill>
              </a:rPr>
            </a:fld>
            <a:endParaRPr lang="zh-CN" altLang="en-US">
              <a:solidFill>
                <a:srgbClr val="FFFFFF">
                  <a:lumMod val="50000"/>
                </a:srgbClr>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8" name="组合 7"/>
          <p:cNvGrpSpPr/>
          <p:nvPr/>
        </p:nvGrpSpPr>
        <p:grpSpPr>
          <a:xfrm>
            <a:off x="690257" y="854039"/>
            <a:ext cx="7832784" cy="781051"/>
            <a:chOff x="3725790" y="847725"/>
            <a:chExt cx="3730770" cy="781050"/>
          </a:xfrm>
        </p:grpSpPr>
        <p:grpSp>
          <p:nvGrpSpPr>
            <p:cNvPr id="10" name="组合 9"/>
            <p:cNvGrpSpPr/>
            <p:nvPr/>
          </p:nvGrpSpPr>
          <p:grpSpPr>
            <a:xfrm>
              <a:off x="3725790" y="1019175"/>
              <a:ext cx="627135" cy="609600"/>
              <a:chOff x="3725790" y="1019175"/>
              <a:chExt cx="627135" cy="609600"/>
            </a:xfrm>
          </p:grpSpPr>
          <p:sp>
            <p:nvSpPr>
              <p:cNvPr id="15" name="任意多边形 11"/>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16" name="直角三角形 15"/>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grpSp>
        <p:grpSp>
          <p:nvGrpSpPr>
            <p:cNvPr id="11" name="组合 10"/>
            <p:cNvGrpSpPr/>
            <p:nvPr/>
          </p:nvGrpSpPr>
          <p:grpSpPr>
            <a:xfrm flipH="1">
              <a:off x="6829425" y="1019175"/>
              <a:ext cx="627135" cy="609600"/>
              <a:chOff x="3725790" y="1019175"/>
              <a:chExt cx="627135" cy="609600"/>
            </a:xfrm>
          </p:grpSpPr>
          <p:sp>
            <p:nvSpPr>
              <p:cNvPr id="13" name="任意多边形 9"/>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14" name="直角三角形 13"/>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grpSp>
        <p:sp>
          <p:nvSpPr>
            <p:cNvPr id="12" name="矩形 11"/>
            <p:cNvSpPr/>
            <p:nvPr/>
          </p:nvSpPr>
          <p:spPr>
            <a:xfrm>
              <a:off x="4181475" y="847725"/>
              <a:ext cx="2819400"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grpSp>
      <p:grpSp>
        <p:nvGrpSpPr>
          <p:cNvPr id="17" name="组合 16"/>
          <p:cNvGrpSpPr/>
          <p:nvPr userDrawn="1"/>
        </p:nvGrpSpPr>
        <p:grpSpPr>
          <a:xfrm>
            <a:off x="1754535" y="2048547"/>
            <a:ext cx="5693399" cy="415498"/>
            <a:chOff x="1807265" y="2462595"/>
            <a:chExt cx="5693399" cy="415498"/>
          </a:xfrm>
          <a:solidFill>
            <a:schemeClr val="bg2"/>
          </a:solidFill>
        </p:grpSpPr>
        <p:sp>
          <p:nvSpPr>
            <p:cNvPr id="18" name="圆角矩形 46"/>
            <p:cNvSpPr/>
            <p:nvPr/>
          </p:nvSpPr>
          <p:spPr>
            <a:xfrm>
              <a:off x="1807265" y="2478527"/>
              <a:ext cx="5693399" cy="394154"/>
            </a:xfrm>
            <a:prstGeom prst="roundRect">
              <a:avLst>
                <a:gd name="adj" fmla="val 20658"/>
              </a:avLst>
            </a:prstGeom>
            <a:grp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srgbClr val="FFFFFF"/>
                </a:solidFill>
              </a:endParaRPr>
            </a:p>
          </p:txBody>
        </p:sp>
        <p:sp>
          <p:nvSpPr>
            <p:cNvPr id="19" name="矩形 18"/>
            <p:cNvSpPr/>
            <p:nvPr/>
          </p:nvSpPr>
          <p:spPr>
            <a:xfrm>
              <a:off x="1883286" y="2462595"/>
              <a:ext cx="3007662" cy="415498"/>
            </a:xfrm>
            <a:prstGeom prst="rect">
              <a:avLst/>
            </a:prstGeom>
            <a:grpFill/>
          </p:spPr>
          <p:txBody>
            <a:bodyPr wrap="square">
              <a:spAutoFit/>
            </a:bodyPr>
            <a:lstStyle/>
            <a:p>
              <a:endParaRPr lang="zh-CN" altLang="en-US" sz="2100" spc="225" dirty="0">
                <a:solidFill>
                  <a:srgbClr val="FFFFFF"/>
                </a:solidFill>
                <a:latin typeface="微软雅黑" panose="020B0503020204020204" pitchFamily="34" charset="-122"/>
              </a:endParaRPr>
            </a:p>
          </p:txBody>
        </p:sp>
      </p:grpSp>
      <p:grpSp>
        <p:nvGrpSpPr>
          <p:cNvPr id="20" name="组合 19"/>
          <p:cNvGrpSpPr/>
          <p:nvPr userDrawn="1"/>
        </p:nvGrpSpPr>
        <p:grpSpPr>
          <a:xfrm>
            <a:off x="1754535" y="2753555"/>
            <a:ext cx="5693399" cy="426278"/>
            <a:chOff x="1807265" y="2935089"/>
            <a:chExt cx="5693399" cy="426278"/>
          </a:xfrm>
        </p:grpSpPr>
        <p:sp>
          <p:nvSpPr>
            <p:cNvPr id="21" name="圆角矩形 48"/>
            <p:cNvSpPr/>
            <p:nvPr/>
          </p:nvSpPr>
          <p:spPr>
            <a:xfrm>
              <a:off x="1807265" y="2935089"/>
              <a:ext cx="5693399" cy="394200"/>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srgbClr val="FFFFFF"/>
                </a:solidFill>
              </a:endParaRPr>
            </a:p>
          </p:txBody>
        </p:sp>
        <p:sp>
          <p:nvSpPr>
            <p:cNvPr id="22" name="矩形 21"/>
            <p:cNvSpPr/>
            <p:nvPr/>
          </p:nvSpPr>
          <p:spPr>
            <a:xfrm>
              <a:off x="1881814" y="2945869"/>
              <a:ext cx="184731" cy="415498"/>
            </a:xfrm>
            <a:prstGeom prst="rect">
              <a:avLst/>
            </a:prstGeom>
          </p:spPr>
          <p:txBody>
            <a:bodyPr wrap="none">
              <a:spAutoFit/>
            </a:bodyPr>
            <a:lstStyle/>
            <a:p>
              <a:endParaRPr lang="zh-CN" altLang="en-US" sz="2100" spc="225" dirty="0">
                <a:solidFill>
                  <a:srgbClr val="000000">
                    <a:lumMod val="75000"/>
                    <a:lumOff val="25000"/>
                  </a:srgbClr>
                </a:solidFill>
                <a:latin typeface="微软雅黑" panose="020B0503020204020204" pitchFamily="34" charset="-122"/>
              </a:endParaRPr>
            </a:p>
          </p:txBody>
        </p:sp>
      </p:grpSp>
      <p:grpSp>
        <p:nvGrpSpPr>
          <p:cNvPr id="23" name="组合 22"/>
          <p:cNvGrpSpPr/>
          <p:nvPr userDrawn="1"/>
        </p:nvGrpSpPr>
        <p:grpSpPr>
          <a:xfrm>
            <a:off x="1754535" y="3469343"/>
            <a:ext cx="5693399" cy="426278"/>
            <a:chOff x="1807265" y="3400693"/>
            <a:chExt cx="5693399" cy="426278"/>
          </a:xfrm>
        </p:grpSpPr>
        <p:sp>
          <p:nvSpPr>
            <p:cNvPr id="24" name="圆角矩形 50"/>
            <p:cNvSpPr/>
            <p:nvPr/>
          </p:nvSpPr>
          <p:spPr>
            <a:xfrm>
              <a:off x="1807265" y="3400693"/>
              <a:ext cx="5693399" cy="394200"/>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srgbClr val="FFFFFF"/>
                </a:solidFill>
              </a:endParaRPr>
            </a:p>
          </p:txBody>
        </p:sp>
        <p:sp>
          <p:nvSpPr>
            <p:cNvPr id="25" name="矩形 24"/>
            <p:cNvSpPr/>
            <p:nvPr/>
          </p:nvSpPr>
          <p:spPr>
            <a:xfrm>
              <a:off x="1881814" y="3411473"/>
              <a:ext cx="184731" cy="415498"/>
            </a:xfrm>
            <a:prstGeom prst="rect">
              <a:avLst/>
            </a:prstGeom>
          </p:spPr>
          <p:txBody>
            <a:bodyPr wrap="none">
              <a:spAutoFit/>
            </a:bodyPr>
            <a:lstStyle/>
            <a:p>
              <a:endParaRPr lang="zh-CN" altLang="en-US" sz="2100" spc="225" dirty="0">
                <a:solidFill>
                  <a:srgbClr val="000000">
                    <a:lumMod val="75000"/>
                    <a:lumOff val="25000"/>
                  </a:srgbClr>
                </a:solidFill>
                <a:latin typeface="微软雅黑" panose="020B0503020204020204" pitchFamily="34" charset="-122"/>
              </a:endParaRPr>
            </a:p>
          </p:txBody>
        </p:sp>
      </p:grpSp>
      <p:grpSp>
        <p:nvGrpSpPr>
          <p:cNvPr id="26" name="组合 25"/>
          <p:cNvGrpSpPr/>
          <p:nvPr userDrawn="1"/>
        </p:nvGrpSpPr>
        <p:grpSpPr>
          <a:xfrm>
            <a:off x="1754535" y="4185131"/>
            <a:ext cx="5693399" cy="426279"/>
            <a:chOff x="1807265" y="3866296"/>
            <a:chExt cx="5693399" cy="426279"/>
          </a:xfrm>
        </p:grpSpPr>
        <p:sp>
          <p:nvSpPr>
            <p:cNvPr id="27" name="圆角矩形 52"/>
            <p:cNvSpPr/>
            <p:nvPr/>
          </p:nvSpPr>
          <p:spPr>
            <a:xfrm>
              <a:off x="1807265" y="3866296"/>
              <a:ext cx="5693399" cy="394200"/>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srgbClr val="FFFFFF"/>
                </a:solidFill>
              </a:endParaRPr>
            </a:p>
          </p:txBody>
        </p:sp>
        <p:sp>
          <p:nvSpPr>
            <p:cNvPr id="28" name="矩形 27"/>
            <p:cNvSpPr/>
            <p:nvPr/>
          </p:nvSpPr>
          <p:spPr>
            <a:xfrm>
              <a:off x="1881814" y="3877077"/>
              <a:ext cx="184731" cy="415498"/>
            </a:xfrm>
            <a:prstGeom prst="rect">
              <a:avLst/>
            </a:prstGeom>
          </p:spPr>
          <p:txBody>
            <a:bodyPr wrap="none">
              <a:spAutoFit/>
            </a:bodyPr>
            <a:lstStyle/>
            <a:p>
              <a:endParaRPr lang="zh-CN" altLang="en-US" sz="2100" spc="225" dirty="0">
                <a:solidFill>
                  <a:srgbClr val="000000">
                    <a:lumMod val="75000"/>
                    <a:lumOff val="25000"/>
                  </a:srgbClr>
                </a:solidFill>
                <a:latin typeface="微软雅黑" panose="020B0503020204020204" pitchFamily="34" charset="-122"/>
              </a:endParaRPr>
            </a:p>
          </p:txBody>
        </p:sp>
      </p:grpSp>
      <p:sp>
        <p:nvSpPr>
          <p:cNvPr id="29" name="圆角矩形 42"/>
          <p:cNvSpPr/>
          <p:nvPr userDrawn="1"/>
        </p:nvSpPr>
        <p:spPr>
          <a:xfrm>
            <a:off x="1765367" y="4900919"/>
            <a:ext cx="5693399" cy="394200"/>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100" dirty="0">
                <a:solidFill>
                  <a:srgbClr val="000000">
                    <a:lumMod val="75000"/>
                    <a:lumOff val="25000"/>
                  </a:srgbClr>
                </a:solidFill>
              </a:rPr>
              <a:t> </a:t>
            </a:r>
            <a:endParaRPr lang="zh-CN" altLang="en-US" sz="2100" dirty="0">
              <a:solidFill>
                <a:srgbClr val="000000">
                  <a:lumMod val="75000"/>
                  <a:lumOff val="25000"/>
                </a:srgbClr>
              </a:solidFill>
            </a:endParaRPr>
          </a:p>
        </p:txBody>
      </p:sp>
      <p:sp>
        <p:nvSpPr>
          <p:cNvPr id="30" name="圆角矩形 1"/>
          <p:cNvSpPr/>
          <p:nvPr userDrawn="1"/>
        </p:nvSpPr>
        <p:spPr>
          <a:xfrm>
            <a:off x="1784416" y="5511788"/>
            <a:ext cx="5693399" cy="394200"/>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dirty="0">
              <a:solidFill>
                <a:srgbClr val="000000">
                  <a:lumMod val="75000"/>
                  <a:lumOff val="25000"/>
                </a:srgbClr>
              </a:solidFill>
            </a:endParaRPr>
          </a:p>
        </p:txBody>
      </p:sp>
      <p:sp>
        <p:nvSpPr>
          <p:cNvPr id="34" name="文本占位符 33"/>
          <p:cNvSpPr>
            <a:spLocks noGrp="1"/>
          </p:cNvSpPr>
          <p:nvPr>
            <p:ph type="body" sz="quarter" idx="13" hasCustomPrompt="1"/>
          </p:nvPr>
        </p:nvSpPr>
        <p:spPr>
          <a:xfrm>
            <a:off x="2106613" y="854075"/>
            <a:ext cx="4954587" cy="523875"/>
          </a:xfrm>
        </p:spPr>
        <p:txBody>
          <a:bodyPr>
            <a:normAutofit/>
          </a:bodyPr>
          <a:lstStyle>
            <a:lvl1pPr marL="0" indent="0" algn="ctr">
              <a:buNone/>
              <a:defRPr sz="2800">
                <a:solidFill>
                  <a:srgbClr val="FFC000"/>
                </a:solidFill>
              </a:defRPr>
            </a:lvl1pPr>
          </a:lstStyle>
          <a:p>
            <a:pPr lvl="0"/>
            <a:r>
              <a:rPr lang="zh-CN" altLang="en-US" dirty="0"/>
              <a:t>编辑母版文本样式</a:t>
            </a:r>
            <a:endParaRPr lang="zh-CN" altLang="en-US" dirty="0"/>
          </a:p>
        </p:txBody>
      </p:sp>
      <p:sp>
        <p:nvSpPr>
          <p:cNvPr id="36" name="文本占位符 35"/>
          <p:cNvSpPr>
            <a:spLocks noGrp="1"/>
          </p:cNvSpPr>
          <p:nvPr>
            <p:ph type="body" sz="quarter" idx="14" hasCustomPrompt="1"/>
          </p:nvPr>
        </p:nvSpPr>
        <p:spPr>
          <a:xfrm>
            <a:off x="1920875" y="2063750"/>
            <a:ext cx="5011738" cy="411163"/>
          </a:xfrm>
        </p:spPr>
        <p:txBody>
          <a:bodyPr>
            <a:normAutofit/>
          </a:bodyPr>
          <a:lstStyle>
            <a:lvl1pPr>
              <a:defRPr sz="2100"/>
            </a:lvl1pPr>
          </a:lstStyle>
          <a:p>
            <a:pPr lvl="0"/>
            <a:r>
              <a:rPr lang="zh-CN" altLang="en-US" dirty="0"/>
              <a:t>编辑母版文本样式</a:t>
            </a:r>
            <a:endParaRPr lang="zh-CN" altLang="en-US" dirty="0"/>
          </a:p>
        </p:txBody>
      </p:sp>
      <p:sp>
        <p:nvSpPr>
          <p:cNvPr id="37" name="文本占位符 35"/>
          <p:cNvSpPr>
            <a:spLocks noGrp="1"/>
          </p:cNvSpPr>
          <p:nvPr>
            <p:ph type="body" sz="quarter" idx="15" hasCustomPrompt="1"/>
          </p:nvPr>
        </p:nvSpPr>
        <p:spPr>
          <a:xfrm>
            <a:off x="1920875" y="2747372"/>
            <a:ext cx="5011738" cy="411163"/>
          </a:xfrm>
        </p:spPr>
        <p:txBody>
          <a:bodyPr>
            <a:normAutofit/>
          </a:bodyPr>
          <a:lstStyle>
            <a:lvl1pPr>
              <a:defRPr sz="2100"/>
            </a:lvl1pPr>
          </a:lstStyle>
          <a:p>
            <a:pPr lvl="0"/>
            <a:r>
              <a:rPr lang="zh-CN" altLang="en-US" dirty="0"/>
              <a:t>编辑母版文本样式</a:t>
            </a:r>
            <a:endParaRPr lang="zh-CN" altLang="en-US" dirty="0"/>
          </a:p>
        </p:txBody>
      </p:sp>
      <p:sp>
        <p:nvSpPr>
          <p:cNvPr id="38" name="文本占位符 35"/>
          <p:cNvSpPr>
            <a:spLocks noGrp="1"/>
          </p:cNvSpPr>
          <p:nvPr>
            <p:ph type="body" sz="quarter" idx="16" hasCustomPrompt="1"/>
          </p:nvPr>
        </p:nvSpPr>
        <p:spPr>
          <a:xfrm>
            <a:off x="1920875" y="3468767"/>
            <a:ext cx="5011738" cy="411163"/>
          </a:xfrm>
        </p:spPr>
        <p:txBody>
          <a:bodyPr>
            <a:normAutofit/>
          </a:bodyPr>
          <a:lstStyle>
            <a:lvl1pPr>
              <a:defRPr sz="2100"/>
            </a:lvl1pPr>
          </a:lstStyle>
          <a:p>
            <a:pPr lvl="0"/>
            <a:r>
              <a:rPr lang="zh-CN" altLang="en-US" dirty="0"/>
              <a:t>编辑母版文本样式</a:t>
            </a:r>
            <a:endParaRPr lang="zh-CN" altLang="en-US" dirty="0"/>
          </a:p>
        </p:txBody>
      </p:sp>
      <p:sp>
        <p:nvSpPr>
          <p:cNvPr id="39" name="文本占位符 35"/>
          <p:cNvSpPr>
            <a:spLocks noGrp="1"/>
          </p:cNvSpPr>
          <p:nvPr>
            <p:ph type="body" sz="quarter" idx="17" hasCustomPrompt="1"/>
          </p:nvPr>
        </p:nvSpPr>
        <p:spPr>
          <a:xfrm>
            <a:off x="1920875" y="5532807"/>
            <a:ext cx="5011738" cy="411163"/>
          </a:xfrm>
        </p:spPr>
        <p:txBody>
          <a:bodyPr>
            <a:normAutofit/>
          </a:bodyPr>
          <a:lstStyle>
            <a:lvl1pPr>
              <a:defRPr sz="2100"/>
            </a:lvl1pPr>
          </a:lstStyle>
          <a:p>
            <a:pPr lvl="0"/>
            <a:r>
              <a:rPr lang="zh-CN" altLang="en-US" dirty="0"/>
              <a:t>编辑母版文本样式</a:t>
            </a:r>
            <a:endParaRPr lang="zh-CN" altLang="en-US" dirty="0"/>
          </a:p>
        </p:txBody>
      </p:sp>
      <p:sp>
        <p:nvSpPr>
          <p:cNvPr id="40" name="文本占位符 35"/>
          <p:cNvSpPr>
            <a:spLocks noGrp="1"/>
          </p:cNvSpPr>
          <p:nvPr>
            <p:ph type="body" sz="quarter" idx="18" hasCustomPrompt="1"/>
          </p:nvPr>
        </p:nvSpPr>
        <p:spPr>
          <a:xfrm>
            <a:off x="1920875" y="4176649"/>
            <a:ext cx="5011738" cy="411163"/>
          </a:xfrm>
        </p:spPr>
        <p:txBody>
          <a:bodyPr>
            <a:normAutofit/>
          </a:bodyPr>
          <a:lstStyle>
            <a:lvl1pPr>
              <a:defRPr sz="2100"/>
            </a:lvl1pPr>
          </a:lstStyle>
          <a:p>
            <a:pPr lvl="0"/>
            <a:r>
              <a:rPr lang="zh-CN" altLang="en-US" dirty="0"/>
              <a:t>编辑母版文本样式</a:t>
            </a:r>
            <a:endParaRPr lang="zh-CN" altLang="en-US" dirty="0"/>
          </a:p>
        </p:txBody>
      </p:sp>
      <p:sp>
        <p:nvSpPr>
          <p:cNvPr id="41" name="文本占位符 35"/>
          <p:cNvSpPr>
            <a:spLocks noGrp="1"/>
          </p:cNvSpPr>
          <p:nvPr>
            <p:ph type="body" sz="quarter" idx="19" hasCustomPrompt="1"/>
          </p:nvPr>
        </p:nvSpPr>
        <p:spPr>
          <a:xfrm>
            <a:off x="1920875" y="4906446"/>
            <a:ext cx="5011738" cy="411163"/>
          </a:xfrm>
        </p:spPr>
        <p:txBody>
          <a:bodyPr>
            <a:normAutofit/>
          </a:bodyPr>
          <a:lstStyle>
            <a:lvl1pPr>
              <a:defRPr sz="2100"/>
            </a:lvl1pPr>
          </a:lstStyle>
          <a:p>
            <a:pPr lvl="0"/>
            <a:r>
              <a:rPr lang="zh-CN" altLang="en-US" dirty="0"/>
              <a:t>编辑母版文本样式</a:t>
            </a:r>
            <a:endParaRPr lang="zh-CN" altLang="en-US" dirty="0"/>
          </a:p>
        </p:txBody>
      </p:sp>
      <p:sp>
        <p:nvSpPr>
          <p:cNvPr id="42" name="矩形 41"/>
          <p:cNvSpPr/>
          <p:nvPr userDrawn="1"/>
        </p:nvSpPr>
        <p:spPr>
          <a:xfrm>
            <a:off x="0" y="-8890"/>
            <a:ext cx="9144000" cy="38227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355">
                <a:solidFill>
                  <a:prstClr val="white"/>
                </a:solidFill>
              </a:rPr>
              <a:t>大数据应用人才培养系列教材</a:t>
            </a:r>
            <a:endParaRPr lang="zh-CN" altLang="en-US" sz="1355">
              <a:solidFill>
                <a:prstClr val="white"/>
              </a:solidFill>
            </a:endParaRPr>
          </a:p>
        </p:txBody>
      </p:sp>
      <p:sp>
        <p:nvSpPr>
          <p:cNvPr id="44" name="矩形 43"/>
          <p:cNvSpPr/>
          <p:nvPr userDrawn="1"/>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0DD7636-5BE1-44BC-BB5F-15739D9E18E1}" type="datetimeFigureOut">
              <a:rPr lang="zh-CN" altLang="en-US" smtClean="0">
                <a:solidFill>
                  <a:srgbClr val="FFFFFF">
                    <a:lumMod val="50000"/>
                  </a:srgbClr>
                </a:solidFill>
              </a:rPr>
            </a:fld>
            <a:endParaRPr lang="zh-CN" altLang="en-US">
              <a:solidFill>
                <a:srgbClr val="FFFFFF">
                  <a:lumMod val="50000"/>
                </a:srgbClr>
              </a:solidFill>
            </a:endParaRPr>
          </a:p>
        </p:txBody>
      </p:sp>
      <p:sp>
        <p:nvSpPr>
          <p:cNvPr id="3" name="页脚占位符 2"/>
          <p:cNvSpPr>
            <a:spLocks noGrp="1"/>
          </p:cNvSpPr>
          <p:nvPr>
            <p:ph type="ftr" sz="quarter" idx="11"/>
          </p:nvPr>
        </p:nvSpPr>
        <p:spPr/>
        <p:txBody>
          <a:bodyPr/>
          <a:lstStyle/>
          <a:p>
            <a:endParaRPr lang="zh-CN" altLang="en-US">
              <a:solidFill>
                <a:srgbClr val="FFFFFF">
                  <a:lumMod val="50000"/>
                </a:srgbClr>
              </a:solidFill>
            </a:endParaRPr>
          </a:p>
        </p:txBody>
      </p:sp>
      <p:sp>
        <p:nvSpPr>
          <p:cNvPr id="4" name="灯片编号占位符 3"/>
          <p:cNvSpPr>
            <a:spLocks noGrp="1"/>
          </p:cNvSpPr>
          <p:nvPr>
            <p:ph type="sldNum" sz="quarter" idx="12"/>
          </p:nvPr>
        </p:nvSpPr>
        <p:spPr/>
        <p:txBody>
          <a:bodyPr/>
          <a:lstStyle/>
          <a:p>
            <a:fld id="{E87C0E1D-24C4-406F-9615-DBDA8D2D1F93}" type="slidenum">
              <a:rPr lang="zh-CN" altLang="en-US" smtClean="0">
                <a:solidFill>
                  <a:srgbClr val="FFFFFF">
                    <a:lumMod val="50000"/>
                  </a:srgbClr>
                </a:solidFill>
              </a:rPr>
            </a:fld>
            <a:endParaRPr lang="zh-CN" altLang="en-US">
              <a:solidFill>
                <a:srgbClr val="FFFFFF">
                  <a:lumMod val="50000"/>
                </a:srgbClr>
              </a:solidFill>
            </a:endParaRPr>
          </a:p>
        </p:txBody>
      </p:sp>
      <p:grpSp>
        <p:nvGrpSpPr>
          <p:cNvPr id="6" name="组合 5"/>
          <p:cNvGrpSpPr/>
          <p:nvPr userDrawn="1"/>
        </p:nvGrpSpPr>
        <p:grpSpPr>
          <a:xfrm>
            <a:off x="-1" y="-2439"/>
            <a:ext cx="9145787" cy="718411"/>
            <a:chOff x="-1" y="190175"/>
            <a:chExt cx="9145786" cy="525795"/>
          </a:xfrm>
        </p:grpSpPr>
        <p:sp>
          <p:nvSpPr>
            <p:cNvPr id="7"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prstClr val="white"/>
                </a:solidFill>
              </a:endParaRPr>
            </a:p>
          </p:txBody>
        </p:sp>
        <p:sp>
          <p:nvSpPr>
            <p:cNvPr id="8"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prstClr val="white"/>
                </a:solidFill>
              </a:endParaRPr>
            </a:p>
          </p:txBody>
        </p:sp>
        <p:sp>
          <p:nvSpPr>
            <p:cNvPr id="9"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prstClr val="white"/>
                </a:solidFill>
              </a:endParaRPr>
            </a:p>
          </p:txBody>
        </p:sp>
      </p:grpSp>
      <p:sp>
        <p:nvSpPr>
          <p:cNvPr id="11" name="文本占位符 10"/>
          <p:cNvSpPr>
            <a:spLocks noGrp="1"/>
          </p:cNvSpPr>
          <p:nvPr>
            <p:ph type="body" sz="quarter" idx="13" hasCustomPrompt="1"/>
          </p:nvPr>
        </p:nvSpPr>
        <p:spPr>
          <a:xfrm>
            <a:off x="392113" y="948743"/>
            <a:ext cx="7094537" cy="544391"/>
          </a:xfrm>
        </p:spPr>
        <p:txBody>
          <a:bodyPr>
            <a:normAutofit/>
          </a:bodyPr>
          <a:lstStyle>
            <a:lvl1pPr marL="0" indent="0">
              <a:buNone/>
              <a:defRPr sz="1600" b="1">
                <a:solidFill>
                  <a:schemeClr val="accent5">
                    <a:lumMod val="75000"/>
                  </a:schemeClr>
                </a:solidFill>
              </a:defRPr>
            </a:lvl1pPr>
          </a:lstStyle>
          <a:p>
            <a:pPr lvl="0"/>
            <a:r>
              <a:rPr lang="zh-CN" altLang="en-US" dirty="0"/>
              <a:t>编辑母版文本样式</a:t>
            </a:r>
            <a:endParaRPr lang="zh-CN" altLang="en-US" dirty="0"/>
          </a:p>
        </p:txBody>
      </p:sp>
      <p:sp>
        <p:nvSpPr>
          <p:cNvPr id="13" name="内容占位符 12"/>
          <p:cNvSpPr>
            <a:spLocks noGrp="1"/>
          </p:cNvSpPr>
          <p:nvPr>
            <p:ph sz="quarter" idx="14" hasCustomPrompt="1"/>
          </p:nvPr>
        </p:nvSpPr>
        <p:spPr>
          <a:xfrm>
            <a:off x="628650" y="1863725"/>
            <a:ext cx="7886700" cy="4044950"/>
          </a:xfrm>
        </p:spPr>
        <p:txBody>
          <a:bodyPr/>
          <a:lstStyle>
            <a:lvl1pPr marL="0" indent="0">
              <a:buNone/>
              <a:defRPr sz="1600"/>
            </a:lvl1pPr>
            <a:lvl2pPr marL="457200" indent="0">
              <a:buNone/>
              <a:defRPr/>
            </a:lvl2pPr>
          </a:lstStyle>
          <a:p>
            <a:pPr lvl="0"/>
            <a:r>
              <a:rPr lang="zh-CN" altLang="en-US" dirty="0"/>
              <a:t>编辑母版文本样式</a:t>
            </a:r>
            <a:endParaRPr lang="zh-CN" altLang="en-US" dirty="0"/>
          </a:p>
        </p:txBody>
      </p:sp>
      <p:sp>
        <p:nvSpPr>
          <p:cNvPr id="15" name="矩形 14"/>
          <p:cNvSpPr/>
          <p:nvPr userDrawn="1"/>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143000" y="1854199"/>
            <a:ext cx="6858000" cy="1655763"/>
          </a:xfrm>
        </p:spPr>
        <p:txBody>
          <a:bodyPr anchor="b">
            <a:normAutofit/>
          </a:bodyPr>
          <a:lstStyle>
            <a:lvl1pPr algn="ctr">
              <a:defRPr sz="7200" b="0"/>
            </a:lvl1pPr>
          </a:lstStyle>
          <a:p>
            <a:r>
              <a:rPr lang="zh-CN" altLang="en-US" dirty="0"/>
              <a:t>单击此处编辑标题</a:t>
            </a:r>
            <a:endParaRPr lang="zh-CN" altLang="en-US" dirty="0"/>
          </a:p>
        </p:txBody>
      </p:sp>
      <p:sp>
        <p:nvSpPr>
          <p:cNvPr id="3" name="副标题 2"/>
          <p:cNvSpPr>
            <a:spLocks noGrp="1"/>
          </p:cNvSpPr>
          <p:nvPr>
            <p:ph type="subTitle" idx="1"/>
          </p:nvPr>
        </p:nvSpPr>
        <p:spPr>
          <a:xfrm>
            <a:off x="1143000" y="3602038"/>
            <a:ext cx="6858000" cy="1655762"/>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D997B5FA-0921-464F-AAE1-844C04324D75}" type="datetimeFigureOut">
              <a:rPr lang="zh-CN" altLang="en-US" smtClean="0">
                <a:solidFill>
                  <a:srgbClr val="FFFFFF">
                    <a:lumMod val="50000"/>
                  </a:srgbClr>
                </a:solidFill>
              </a:rPr>
            </a:fld>
            <a:endParaRPr lang="zh-CN" altLang="en-US" dirty="0">
              <a:solidFill>
                <a:srgbClr val="FFFFFF">
                  <a:lumMod val="50000"/>
                </a:srgbClr>
              </a:solidFill>
            </a:endParaRPr>
          </a:p>
        </p:txBody>
      </p:sp>
      <p:sp>
        <p:nvSpPr>
          <p:cNvPr id="5" name="页脚占位符 4"/>
          <p:cNvSpPr>
            <a:spLocks noGrp="1"/>
          </p:cNvSpPr>
          <p:nvPr>
            <p:ph type="ftr" sz="quarter" idx="11"/>
          </p:nvPr>
        </p:nvSpPr>
        <p:spPr/>
        <p:txBody>
          <a:bodyPr/>
          <a:lstStyle/>
          <a:p>
            <a:endParaRPr lang="zh-CN" altLang="en-US">
              <a:solidFill>
                <a:srgbClr val="FFFFFF">
                  <a:lumMod val="50000"/>
                </a:srgb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srgbClr val="FFFFFF">
                    <a:lumMod val="50000"/>
                  </a:srgbClr>
                </a:solidFill>
              </a:rPr>
            </a:fld>
            <a:endParaRPr lang="zh-CN" altLang="en-US">
              <a:solidFill>
                <a:srgbClr val="FFFFFF">
                  <a:lumMod val="50000"/>
                </a:srgbClr>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8" name="组合 7"/>
          <p:cNvGrpSpPr/>
          <p:nvPr/>
        </p:nvGrpSpPr>
        <p:grpSpPr>
          <a:xfrm>
            <a:off x="690257" y="854039"/>
            <a:ext cx="7832784" cy="781051"/>
            <a:chOff x="3725790" y="847725"/>
            <a:chExt cx="3730770" cy="781050"/>
          </a:xfrm>
        </p:grpSpPr>
        <p:grpSp>
          <p:nvGrpSpPr>
            <p:cNvPr id="10" name="组合 9"/>
            <p:cNvGrpSpPr/>
            <p:nvPr/>
          </p:nvGrpSpPr>
          <p:grpSpPr>
            <a:xfrm>
              <a:off x="3725790" y="1019175"/>
              <a:ext cx="627135" cy="609600"/>
              <a:chOff x="3725790" y="1019175"/>
              <a:chExt cx="627135" cy="609600"/>
            </a:xfrm>
          </p:grpSpPr>
          <p:sp>
            <p:nvSpPr>
              <p:cNvPr id="15" name="任意多边形 11"/>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16" name="直角三角形 15"/>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grpSp>
        <p:grpSp>
          <p:nvGrpSpPr>
            <p:cNvPr id="11" name="组合 10"/>
            <p:cNvGrpSpPr/>
            <p:nvPr/>
          </p:nvGrpSpPr>
          <p:grpSpPr>
            <a:xfrm flipH="1">
              <a:off x="6829425" y="1019175"/>
              <a:ext cx="627135" cy="609600"/>
              <a:chOff x="3725790" y="1019175"/>
              <a:chExt cx="627135" cy="609600"/>
            </a:xfrm>
          </p:grpSpPr>
          <p:sp>
            <p:nvSpPr>
              <p:cNvPr id="13" name="任意多边形 9"/>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14" name="直角三角形 13"/>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grpSp>
        <p:sp>
          <p:nvSpPr>
            <p:cNvPr id="12" name="矩形 11"/>
            <p:cNvSpPr/>
            <p:nvPr/>
          </p:nvSpPr>
          <p:spPr>
            <a:xfrm>
              <a:off x="4181475" y="847725"/>
              <a:ext cx="2819400"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grpSp>
      <p:grpSp>
        <p:nvGrpSpPr>
          <p:cNvPr id="17" name="组合 16"/>
          <p:cNvGrpSpPr/>
          <p:nvPr userDrawn="1"/>
        </p:nvGrpSpPr>
        <p:grpSpPr>
          <a:xfrm>
            <a:off x="1754535" y="2048547"/>
            <a:ext cx="5693399" cy="415498"/>
            <a:chOff x="1807265" y="2462595"/>
            <a:chExt cx="5693399" cy="415498"/>
          </a:xfrm>
          <a:solidFill>
            <a:schemeClr val="bg2"/>
          </a:solidFill>
        </p:grpSpPr>
        <p:sp>
          <p:nvSpPr>
            <p:cNvPr id="18" name="圆角矩形 46"/>
            <p:cNvSpPr/>
            <p:nvPr/>
          </p:nvSpPr>
          <p:spPr>
            <a:xfrm>
              <a:off x="1807265" y="2478527"/>
              <a:ext cx="5693399" cy="394154"/>
            </a:xfrm>
            <a:prstGeom prst="roundRect">
              <a:avLst>
                <a:gd name="adj" fmla="val 20658"/>
              </a:avLst>
            </a:prstGeom>
            <a:grp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srgbClr val="FFFFFF"/>
                </a:solidFill>
              </a:endParaRPr>
            </a:p>
          </p:txBody>
        </p:sp>
        <p:sp>
          <p:nvSpPr>
            <p:cNvPr id="19" name="矩形 18"/>
            <p:cNvSpPr/>
            <p:nvPr/>
          </p:nvSpPr>
          <p:spPr>
            <a:xfrm>
              <a:off x="1883286" y="2462595"/>
              <a:ext cx="3007662" cy="415498"/>
            </a:xfrm>
            <a:prstGeom prst="rect">
              <a:avLst/>
            </a:prstGeom>
            <a:grpFill/>
          </p:spPr>
          <p:txBody>
            <a:bodyPr wrap="square">
              <a:spAutoFit/>
            </a:bodyPr>
            <a:lstStyle/>
            <a:p>
              <a:endParaRPr lang="zh-CN" altLang="en-US" sz="2100" spc="225" dirty="0">
                <a:solidFill>
                  <a:srgbClr val="FFFFFF"/>
                </a:solidFill>
                <a:latin typeface="微软雅黑" panose="020B0503020204020204" pitchFamily="34" charset="-122"/>
              </a:endParaRPr>
            </a:p>
          </p:txBody>
        </p:sp>
      </p:grpSp>
      <p:grpSp>
        <p:nvGrpSpPr>
          <p:cNvPr id="20" name="组合 19"/>
          <p:cNvGrpSpPr/>
          <p:nvPr userDrawn="1"/>
        </p:nvGrpSpPr>
        <p:grpSpPr>
          <a:xfrm>
            <a:off x="1754535" y="2753555"/>
            <a:ext cx="5693399" cy="426278"/>
            <a:chOff x="1807265" y="2935089"/>
            <a:chExt cx="5693399" cy="426278"/>
          </a:xfrm>
        </p:grpSpPr>
        <p:sp>
          <p:nvSpPr>
            <p:cNvPr id="21" name="圆角矩形 48"/>
            <p:cNvSpPr/>
            <p:nvPr/>
          </p:nvSpPr>
          <p:spPr>
            <a:xfrm>
              <a:off x="1807265" y="2935089"/>
              <a:ext cx="5693399" cy="394200"/>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srgbClr val="FFFFFF"/>
                </a:solidFill>
              </a:endParaRPr>
            </a:p>
          </p:txBody>
        </p:sp>
        <p:sp>
          <p:nvSpPr>
            <p:cNvPr id="22" name="矩形 21"/>
            <p:cNvSpPr/>
            <p:nvPr/>
          </p:nvSpPr>
          <p:spPr>
            <a:xfrm>
              <a:off x="1881814" y="2945869"/>
              <a:ext cx="184731" cy="415498"/>
            </a:xfrm>
            <a:prstGeom prst="rect">
              <a:avLst/>
            </a:prstGeom>
          </p:spPr>
          <p:txBody>
            <a:bodyPr wrap="none">
              <a:spAutoFit/>
            </a:bodyPr>
            <a:lstStyle/>
            <a:p>
              <a:endParaRPr lang="zh-CN" altLang="en-US" sz="2100" spc="225" dirty="0">
                <a:solidFill>
                  <a:srgbClr val="000000">
                    <a:lumMod val="75000"/>
                    <a:lumOff val="25000"/>
                  </a:srgbClr>
                </a:solidFill>
                <a:latin typeface="微软雅黑" panose="020B0503020204020204" pitchFamily="34" charset="-122"/>
              </a:endParaRPr>
            </a:p>
          </p:txBody>
        </p:sp>
      </p:grpSp>
      <p:grpSp>
        <p:nvGrpSpPr>
          <p:cNvPr id="23" name="组合 22"/>
          <p:cNvGrpSpPr/>
          <p:nvPr userDrawn="1"/>
        </p:nvGrpSpPr>
        <p:grpSpPr>
          <a:xfrm>
            <a:off x="1754535" y="3469343"/>
            <a:ext cx="5693399" cy="426278"/>
            <a:chOff x="1807265" y="3400693"/>
            <a:chExt cx="5693399" cy="426278"/>
          </a:xfrm>
        </p:grpSpPr>
        <p:sp>
          <p:nvSpPr>
            <p:cNvPr id="24" name="圆角矩形 50"/>
            <p:cNvSpPr/>
            <p:nvPr/>
          </p:nvSpPr>
          <p:spPr>
            <a:xfrm>
              <a:off x="1807265" y="3400693"/>
              <a:ext cx="5693399" cy="394200"/>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srgbClr val="FFFFFF"/>
                </a:solidFill>
              </a:endParaRPr>
            </a:p>
          </p:txBody>
        </p:sp>
        <p:sp>
          <p:nvSpPr>
            <p:cNvPr id="25" name="矩形 24"/>
            <p:cNvSpPr/>
            <p:nvPr/>
          </p:nvSpPr>
          <p:spPr>
            <a:xfrm>
              <a:off x="1881814" y="3411473"/>
              <a:ext cx="184731" cy="415498"/>
            </a:xfrm>
            <a:prstGeom prst="rect">
              <a:avLst/>
            </a:prstGeom>
          </p:spPr>
          <p:txBody>
            <a:bodyPr wrap="none">
              <a:spAutoFit/>
            </a:bodyPr>
            <a:lstStyle/>
            <a:p>
              <a:endParaRPr lang="zh-CN" altLang="en-US" sz="2100" spc="225" dirty="0">
                <a:solidFill>
                  <a:srgbClr val="000000">
                    <a:lumMod val="75000"/>
                    <a:lumOff val="25000"/>
                  </a:srgbClr>
                </a:solidFill>
                <a:latin typeface="微软雅黑" panose="020B0503020204020204" pitchFamily="34" charset="-122"/>
              </a:endParaRPr>
            </a:p>
          </p:txBody>
        </p:sp>
      </p:grpSp>
      <p:grpSp>
        <p:nvGrpSpPr>
          <p:cNvPr id="26" name="组合 25"/>
          <p:cNvGrpSpPr/>
          <p:nvPr userDrawn="1"/>
        </p:nvGrpSpPr>
        <p:grpSpPr>
          <a:xfrm>
            <a:off x="1754535" y="4185131"/>
            <a:ext cx="5693399" cy="426279"/>
            <a:chOff x="1807265" y="3866296"/>
            <a:chExt cx="5693399" cy="426279"/>
          </a:xfrm>
        </p:grpSpPr>
        <p:sp>
          <p:nvSpPr>
            <p:cNvPr id="27" name="圆角矩形 52"/>
            <p:cNvSpPr/>
            <p:nvPr/>
          </p:nvSpPr>
          <p:spPr>
            <a:xfrm>
              <a:off x="1807265" y="3866296"/>
              <a:ext cx="5693399" cy="394200"/>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srgbClr val="FFFFFF"/>
                </a:solidFill>
              </a:endParaRPr>
            </a:p>
          </p:txBody>
        </p:sp>
        <p:sp>
          <p:nvSpPr>
            <p:cNvPr id="28" name="矩形 27"/>
            <p:cNvSpPr/>
            <p:nvPr/>
          </p:nvSpPr>
          <p:spPr>
            <a:xfrm>
              <a:off x="1881814" y="3877077"/>
              <a:ext cx="184731" cy="415498"/>
            </a:xfrm>
            <a:prstGeom prst="rect">
              <a:avLst/>
            </a:prstGeom>
          </p:spPr>
          <p:txBody>
            <a:bodyPr wrap="none">
              <a:spAutoFit/>
            </a:bodyPr>
            <a:lstStyle/>
            <a:p>
              <a:endParaRPr lang="zh-CN" altLang="en-US" sz="2100" spc="225" dirty="0">
                <a:solidFill>
                  <a:srgbClr val="000000">
                    <a:lumMod val="75000"/>
                    <a:lumOff val="25000"/>
                  </a:srgbClr>
                </a:solidFill>
                <a:latin typeface="微软雅黑" panose="020B0503020204020204" pitchFamily="34" charset="-122"/>
              </a:endParaRPr>
            </a:p>
          </p:txBody>
        </p:sp>
      </p:grpSp>
      <p:sp>
        <p:nvSpPr>
          <p:cNvPr id="29" name="圆角矩形 42"/>
          <p:cNvSpPr/>
          <p:nvPr userDrawn="1"/>
        </p:nvSpPr>
        <p:spPr>
          <a:xfrm>
            <a:off x="1765367" y="4900919"/>
            <a:ext cx="5693399" cy="394200"/>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100" dirty="0">
                <a:solidFill>
                  <a:srgbClr val="000000">
                    <a:lumMod val="75000"/>
                    <a:lumOff val="25000"/>
                  </a:srgbClr>
                </a:solidFill>
              </a:rPr>
              <a:t> </a:t>
            </a:r>
            <a:endParaRPr lang="zh-CN" altLang="en-US" sz="2100" dirty="0">
              <a:solidFill>
                <a:srgbClr val="000000">
                  <a:lumMod val="75000"/>
                  <a:lumOff val="25000"/>
                </a:srgbClr>
              </a:solidFill>
            </a:endParaRPr>
          </a:p>
        </p:txBody>
      </p:sp>
      <p:sp>
        <p:nvSpPr>
          <p:cNvPr id="30" name="圆角矩形 1"/>
          <p:cNvSpPr/>
          <p:nvPr userDrawn="1"/>
        </p:nvSpPr>
        <p:spPr>
          <a:xfrm>
            <a:off x="1784416" y="5511788"/>
            <a:ext cx="5693399" cy="394200"/>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100" dirty="0">
              <a:solidFill>
                <a:srgbClr val="000000">
                  <a:lumMod val="75000"/>
                  <a:lumOff val="25000"/>
                </a:srgbClr>
              </a:solidFill>
            </a:endParaRPr>
          </a:p>
        </p:txBody>
      </p:sp>
      <p:sp>
        <p:nvSpPr>
          <p:cNvPr id="34" name="文本占位符 33"/>
          <p:cNvSpPr>
            <a:spLocks noGrp="1"/>
          </p:cNvSpPr>
          <p:nvPr>
            <p:ph type="body" sz="quarter" idx="13" hasCustomPrompt="1"/>
          </p:nvPr>
        </p:nvSpPr>
        <p:spPr>
          <a:xfrm>
            <a:off x="2106613" y="854075"/>
            <a:ext cx="4954587" cy="523875"/>
          </a:xfrm>
        </p:spPr>
        <p:txBody>
          <a:bodyPr>
            <a:normAutofit/>
          </a:bodyPr>
          <a:lstStyle>
            <a:lvl1pPr marL="0" indent="0" algn="ctr">
              <a:buNone/>
              <a:defRPr sz="2800">
                <a:solidFill>
                  <a:srgbClr val="FFC000"/>
                </a:solidFill>
              </a:defRPr>
            </a:lvl1pPr>
          </a:lstStyle>
          <a:p>
            <a:pPr lvl="0"/>
            <a:r>
              <a:rPr lang="zh-CN" altLang="en-US" dirty="0"/>
              <a:t>编辑母版文本样式</a:t>
            </a:r>
            <a:endParaRPr lang="zh-CN" altLang="en-US" dirty="0"/>
          </a:p>
        </p:txBody>
      </p:sp>
      <p:sp>
        <p:nvSpPr>
          <p:cNvPr id="36" name="文本占位符 35"/>
          <p:cNvSpPr>
            <a:spLocks noGrp="1"/>
          </p:cNvSpPr>
          <p:nvPr>
            <p:ph type="body" sz="quarter" idx="14" hasCustomPrompt="1"/>
          </p:nvPr>
        </p:nvSpPr>
        <p:spPr>
          <a:xfrm>
            <a:off x="1920875" y="2063750"/>
            <a:ext cx="5011738" cy="411163"/>
          </a:xfrm>
        </p:spPr>
        <p:txBody>
          <a:bodyPr>
            <a:normAutofit/>
          </a:bodyPr>
          <a:lstStyle>
            <a:lvl1pPr>
              <a:defRPr sz="2100"/>
            </a:lvl1pPr>
          </a:lstStyle>
          <a:p>
            <a:pPr lvl="0"/>
            <a:r>
              <a:rPr lang="zh-CN" altLang="en-US" dirty="0"/>
              <a:t>编辑母版文本样式</a:t>
            </a:r>
            <a:endParaRPr lang="zh-CN" altLang="en-US" dirty="0"/>
          </a:p>
        </p:txBody>
      </p:sp>
      <p:sp>
        <p:nvSpPr>
          <p:cNvPr id="37" name="文本占位符 35"/>
          <p:cNvSpPr>
            <a:spLocks noGrp="1"/>
          </p:cNvSpPr>
          <p:nvPr>
            <p:ph type="body" sz="quarter" idx="15" hasCustomPrompt="1"/>
          </p:nvPr>
        </p:nvSpPr>
        <p:spPr>
          <a:xfrm>
            <a:off x="1920875" y="2747372"/>
            <a:ext cx="5011738" cy="411163"/>
          </a:xfrm>
        </p:spPr>
        <p:txBody>
          <a:bodyPr>
            <a:normAutofit/>
          </a:bodyPr>
          <a:lstStyle>
            <a:lvl1pPr>
              <a:defRPr sz="2100"/>
            </a:lvl1pPr>
          </a:lstStyle>
          <a:p>
            <a:pPr lvl="0"/>
            <a:r>
              <a:rPr lang="zh-CN" altLang="en-US" dirty="0"/>
              <a:t>编辑母版文本样式</a:t>
            </a:r>
            <a:endParaRPr lang="zh-CN" altLang="en-US" dirty="0"/>
          </a:p>
        </p:txBody>
      </p:sp>
      <p:sp>
        <p:nvSpPr>
          <p:cNvPr id="38" name="文本占位符 35"/>
          <p:cNvSpPr>
            <a:spLocks noGrp="1"/>
          </p:cNvSpPr>
          <p:nvPr>
            <p:ph type="body" sz="quarter" idx="16" hasCustomPrompt="1"/>
          </p:nvPr>
        </p:nvSpPr>
        <p:spPr>
          <a:xfrm>
            <a:off x="1920875" y="3468767"/>
            <a:ext cx="5011738" cy="411163"/>
          </a:xfrm>
        </p:spPr>
        <p:txBody>
          <a:bodyPr>
            <a:normAutofit/>
          </a:bodyPr>
          <a:lstStyle>
            <a:lvl1pPr>
              <a:defRPr sz="2100"/>
            </a:lvl1pPr>
          </a:lstStyle>
          <a:p>
            <a:pPr lvl="0"/>
            <a:r>
              <a:rPr lang="zh-CN" altLang="en-US" dirty="0"/>
              <a:t>编辑母版文本样式</a:t>
            </a:r>
            <a:endParaRPr lang="zh-CN" altLang="en-US" dirty="0"/>
          </a:p>
        </p:txBody>
      </p:sp>
      <p:sp>
        <p:nvSpPr>
          <p:cNvPr id="39" name="文本占位符 35"/>
          <p:cNvSpPr>
            <a:spLocks noGrp="1"/>
          </p:cNvSpPr>
          <p:nvPr>
            <p:ph type="body" sz="quarter" idx="17" hasCustomPrompt="1"/>
          </p:nvPr>
        </p:nvSpPr>
        <p:spPr>
          <a:xfrm>
            <a:off x="1920875" y="5532807"/>
            <a:ext cx="5011738" cy="411163"/>
          </a:xfrm>
        </p:spPr>
        <p:txBody>
          <a:bodyPr>
            <a:normAutofit/>
          </a:bodyPr>
          <a:lstStyle>
            <a:lvl1pPr>
              <a:defRPr sz="2100"/>
            </a:lvl1pPr>
          </a:lstStyle>
          <a:p>
            <a:pPr lvl="0"/>
            <a:r>
              <a:rPr lang="zh-CN" altLang="en-US" dirty="0"/>
              <a:t>编辑母版文本样式</a:t>
            </a:r>
            <a:endParaRPr lang="zh-CN" altLang="en-US" dirty="0"/>
          </a:p>
        </p:txBody>
      </p:sp>
      <p:sp>
        <p:nvSpPr>
          <p:cNvPr id="40" name="文本占位符 35"/>
          <p:cNvSpPr>
            <a:spLocks noGrp="1"/>
          </p:cNvSpPr>
          <p:nvPr>
            <p:ph type="body" sz="quarter" idx="18" hasCustomPrompt="1"/>
          </p:nvPr>
        </p:nvSpPr>
        <p:spPr>
          <a:xfrm>
            <a:off x="1920875" y="4176649"/>
            <a:ext cx="5011738" cy="411163"/>
          </a:xfrm>
        </p:spPr>
        <p:txBody>
          <a:bodyPr>
            <a:normAutofit/>
          </a:bodyPr>
          <a:lstStyle>
            <a:lvl1pPr>
              <a:defRPr sz="2100"/>
            </a:lvl1pPr>
          </a:lstStyle>
          <a:p>
            <a:pPr lvl="0"/>
            <a:r>
              <a:rPr lang="zh-CN" altLang="en-US" dirty="0"/>
              <a:t>编辑母版文本样式</a:t>
            </a:r>
            <a:endParaRPr lang="zh-CN" altLang="en-US" dirty="0"/>
          </a:p>
        </p:txBody>
      </p:sp>
      <p:sp>
        <p:nvSpPr>
          <p:cNvPr id="41" name="文本占位符 35"/>
          <p:cNvSpPr>
            <a:spLocks noGrp="1"/>
          </p:cNvSpPr>
          <p:nvPr>
            <p:ph type="body" sz="quarter" idx="19" hasCustomPrompt="1"/>
          </p:nvPr>
        </p:nvSpPr>
        <p:spPr>
          <a:xfrm>
            <a:off x="1920875" y="4906446"/>
            <a:ext cx="5011738" cy="411163"/>
          </a:xfrm>
        </p:spPr>
        <p:txBody>
          <a:bodyPr>
            <a:normAutofit/>
          </a:bodyPr>
          <a:lstStyle>
            <a:lvl1pPr>
              <a:defRPr sz="2100"/>
            </a:lvl1pPr>
          </a:lstStyle>
          <a:p>
            <a:pPr lvl="0"/>
            <a:r>
              <a:rPr lang="zh-CN" altLang="en-US" dirty="0"/>
              <a:t>编辑母版文本样式</a:t>
            </a:r>
            <a:endParaRPr lang="zh-CN" altLang="en-US" dirty="0"/>
          </a:p>
        </p:txBody>
      </p:sp>
      <p:sp>
        <p:nvSpPr>
          <p:cNvPr id="42" name="矩形 41"/>
          <p:cNvSpPr/>
          <p:nvPr userDrawn="1"/>
        </p:nvSpPr>
        <p:spPr>
          <a:xfrm>
            <a:off x="0" y="-8890"/>
            <a:ext cx="9144000" cy="38227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355">
                <a:solidFill>
                  <a:prstClr val="white"/>
                </a:solidFill>
              </a:rPr>
              <a:t>大数据应用人才培养系列教材</a:t>
            </a:r>
            <a:endParaRPr lang="zh-CN" altLang="en-US" sz="1355">
              <a:solidFill>
                <a:prstClr val="white"/>
              </a:solidFill>
            </a:endParaRPr>
          </a:p>
        </p:txBody>
      </p:sp>
      <p:sp>
        <p:nvSpPr>
          <p:cNvPr id="44" name="矩形 43"/>
          <p:cNvSpPr/>
          <p:nvPr userDrawn="1"/>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grpSp>
        <p:nvGrpSpPr>
          <p:cNvPr id="6" name="组合 5"/>
          <p:cNvGrpSpPr/>
          <p:nvPr userDrawn="1"/>
        </p:nvGrpSpPr>
        <p:grpSpPr>
          <a:xfrm>
            <a:off x="-1" y="-2439"/>
            <a:ext cx="9145787" cy="718411"/>
            <a:chOff x="-1" y="190175"/>
            <a:chExt cx="9145786" cy="525795"/>
          </a:xfrm>
        </p:grpSpPr>
        <p:sp>
          <p:nvSpPr>
            <p:cNvPr id="7"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prstClr val="white"/>
                </a:solidFill>
              </a:endParaRPr>
            </a:p>
          </p:txBody>
        </p:sp>
        <p:sp>
          <p:nvSpPr>
            <p:cNvPr id="8"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prstClr val="white"/>
                </a:solidFill>
              </a:endParaRPr>
            </a:p>
          </p:txBody>
        </p:sp>
        <p:sp>
          <p:nvSpPr>
            <p:cNvPr id="9"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prstClr val="white"/>
                </a:solidFill>
              </a:endParaRPr>
            </a:p>
          </p:txBody>
        </p:sp>
      </p:grpSp>
      <p:sp>
        <p:nvSpPr>
          <p:cNvPr id="11" name="文本占位符 10"/>
          <p:cNvSpPr>
            <a:spLocks noGrp="1"/>
          </p:cNvSpPr>
          <p:nvPr>
            <p:ph type="body" sz="quarter" idx="13" hasCustomPrompt="1"/>
          </p:nvPr>
        </p:nvSpPr>
        <p:spPr>
          <a:xfrm>
            <a:off x="392113" y="948743"/>
            <a:ext cx="7094537" cy="544391"/>
          </a:xfrm>
        </p:spPr>
        <p:txBody>
          <a:bodyPr>
            <a:normAutofit/>
          </a:bodyPr>
          <a:lstStyle>
            <a:lvl1pPr marL="0" indent="0">
              <a:buNone/>
              <a:defRPr sz="1600" b="1">
                <a:solidFill>
                  <a:schemeClr val="accent5">
                    <a:lumMod val="75000"/>
                  </a:schemeClr>
                </a:solidFill>
              </a:defRPr>
            </a:lvl1pPr>
          </a:lstStyle>
          <a:p>
            <a:pPr lvl="0"/>
            <a:r>
              <a:rPr lang="zh-CN" altLang="en-US" dirty="0"/>
              <a:t>编辑母版文本样式</a:t>
            </a:r>
            <a:endParaRPr lang="zh-CN" altLang="en-US" dirty="0"/>
          </a:p>
        </p:txBody>
      </p:sp>
      <p:sp>
        <p:nvSpPr>
          <p:cNvPr id="13" name="内容占位符 12"/>
          <p:cNvSpPr>
            <a:spLocks noGrp="1"/>
          </p:cNvSpPr>
          <p:nvPr>
            <p:ph sz="quarter" idx="14" hasCustomPrompt="1"/>
          </p:nvPr>
        </p:nvSpPr>
        <p:spPr>
          <a:xfrm>
            <a:off x="628650" y="1863725"/>
            <a:ext cx="7886700" cy="4044950"/>
          </a:xfrm>
        </p:spPr>
        <p:txBody>
          <a:bodyPr/>
          <a:lstStyle>
            <a:lvl1pPr marL="0" indent="0">
              <a:buNone/>
              <a:defRPr sz="1600"/>
            </a:lvl1pPr>
            <a:lvl2pPr marL="457200" indent="0">
              <a:buNone/>
              <a:defRPr/>
            </a:lvl2pPr>
          </a:lstStyle>
          <a:p>
            <a:pPr lvl="0"/>
            <a:r>
              <a:rPr lang="zh-CN" altLang="en-US" dirty="0"/>
              <a:t>编辑母版文本样式</a:t>
            </a:r>
            <a:endParaRPr lang="zh-CN" altLang="en-US" dirty="0"/>
          </a:p>
        </p:txBody>
      </p:sp>
      <p:sp>
        <p:nvSpPr>
          <p:cNvPr id="15" name="矩形 14"/>
          <p:cNvSpPr/>
          <p:nvPr userDrawn="1"/>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tags" Target="../tags/tag3.xml"/><Relationship Id="rId6" Type="http://schemas.openxmlformats.org/officeDocument/2006/relationships/tags" Target="../tags/tag2.xml"/><Relationship Id="rId5" Type="http://schemas.openxmlformats.org/officeDocument/2006/relationships/tags" Target="../tags/tag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slideLayout" Target="../slideLayouts/slideLayout12.xml"/><Relationship Id="rId7" Type="http://schemas.openxmlformats.org/officeDocument/2006/relationships/slideLayout" Target="../slideLayouts/slideLayout11.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3" Type="http://schemas.openxmlformats.org/officeDocument/2006/relationships/slideLayout" Target="../slideLayouts/slideLayout7.xml"/><Relationship Id="rId2" Type="http://schemas.openxmlformats.org/officeDocument/2006/relationships/slideLayout" Target="../slideLayouts/slideLayout6.xml"/><Relationship Id="rId19" Type="http://schemas.openxmlformats.org/officeDocument/2006/relationships/theme" Target="../theme/theme2.xml"/><Relationship Id="rId18" Type="http://schemas.openxmlformats.org/officeDocument/2006/relationships/slideLayout" Target="../slideLayouts/slideLayout22.xml"/><Relationship Id="rId17" Type="http://schemas.openxmlformats.org/officeDocument/2006/relationships/slideLayout" Target="../slideLayouts/slideLayout21.xml"/><Relationship Id="rId16" Type="http://schemas.openxmlformats.org/officeDocument/2006/relationships/slideLayout" Target="../slideLayouts/slideLayout20.xml"/><Relationship Id="rId15" Type="http://schemas.openxmlformats.org/officeDocument/2006/relationships/slideLayout" Target="../slideLayouts/slideLayout19.xml"/><Relationship Id="rId14" Type="http://schemas.openxmlformats.org/officeDocument/2006/relationships/slideLayout" Target="../slideLayouts/slideLayout18.xml"/><Relationship Id="rId13" Type="http://schemas.openxmlformats.org/officeDocument/2006/relationships/slideLayout" Target="../slideLayouts/slideLayout17.xml"/><Relationship Id="rId12" Type="http://schemas.openxmlformats.org/officeDocument/2006/relationships/slideLayout" Target="../slideLayouts/slideLayout16.xml"/><Relationship Id="rId11" Type="http://schemas.openxmlformats.org/officeDocument/2006/relationships/slideLayout" Target="../slideLayouts/slideLayout15.xml"/><Relationship Id="rId10" Type="http://schemas.openxmlformats.org/officeDocument/2006/relationships/slideLayout" Target="../slideLayouts/slideLayout14.xml"/><Relationship Id="rId1"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6" Type="http://schemas.openxmlformats.org/officeDocument/2006/relationships/theme" Target="../theme/theme3.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slideLayout" Target="../slideLayouts/slideLayout24.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7" Type="http://schemas.openxmlformats.org/officeDocument/2006/relationships/theme" Target="../theme/theme4.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s>
</file>

<file path=ppt/slideMasters/_rels/slideMaster5.xml.rels><?xml version="1.0" encoding="UTF-8" standalone="yes"?>
<Relationships xmlns="http://schemas.openxmlformats.org/package/2006/relationships"><Relationship Id="rId7" Type="http://schemas.openxmlformats.org/officeDocument/2006/relationships/theme" Target="../theme/theme5.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slideLayout" Target="../slideLayouts/slideLayout30.xml"/><Relationship Id="rId2" Type="http://schemas.openxmlformats.org/officeDocument/2006/relationships/slideLayout" Target="../slideLayouts/slideLayout29.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标题占位符 1"/>
          <p:cNvSpPr>
            <a:spLocks noGrp="1"/>
          </p:cNvSpPr>
          <p:nvPr>
            <p:ph type="title"/>
            <p:custDataLst>
              <p:tags r:id="rId5"/>
            </p:custDataLst>
          </p:nvPr>
        </p:nvSpPr>
        <p:spPr>
          <a:xfrm>
            <a:off x="628650" y="365125"/>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8" name="文本占位符 2"/>
          <p:cNvSpPr>
            <a:spLocks noGrp="1"/>
          </p:cNvSpPr>
          <p:nvPr>
            <p:ph type="body" idx="1"/>
            <p:custDataLst>
              <p:tags r:id="rId6"/>
            </p:custDataLst>
          </p:nvPr>
        </p:nvSpPr>
        <p:spPr>
          <a:xfrm>
            <a:off x="628650" y="1825625"/>
            <a:ext cx="78867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fld id="{D997B5FA-0921-464F-AAE1-844C04324D75}" type="datetimeFigureOut">
              <a:rPr lang="zh-CN" altLang="en-US" smtClean="0"/>
            </a:fld>
            <a:endParaRPr lang="zh-CN" altLang="en-US" dirty="0"/>
          </a:p>
        </p:txBody>
      </p:sp>
      <p:sp>
        <p:nvSpPr>
          <p:cNvPr id="10"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endParaRPr lang="zh-CN" altLang="en-US"/>
          </a:p>
        </p:txBody>
      </p:sp>
      <p:sp>
        <p:nvSpPr>
          <p:cNvPr id="11"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fld id="{565CE74E-AB26-4998-AD42-012C4C1AD076}" type="slidenum">
              <a:rPr lang="zh-CN" altLang="en-US" smtClean="0"/>
            </a:fld>
            <a:endParaRPr lang="zh-CN" altLang="en-US"/>
          </a:p>
        </p:txBody>
      </p:sp>
      <p:sp>
        <p:nvSpPr>
          <p:cNvPr id="2" name="KSO_TEMPLATE" hidden="1"/>
          <p:cNvSpPr/>
          <p:nvPr userDrawn="1">
            <p:custDataLst>
              <p:tags r:id="rId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solidFill>
                <a:prstClr val="black">
                  <a:tint val="75000"/>
                </a:prstClr>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308F32-F09A-4344-B65D-3757FEAF56BD}" type="slidenum">
              <a:rPr lang="zh-CN" altLang="en-US" smtClean="0">
                <a:solidFill>
                  <a:prstClr val="black">
                    <a:tint val="75000"/>
                  </a:prstClr>
                </a:solidFill>
              </a:rPr>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 id="2147483668" r:id="rId15"/>
    <p:sldLayoutId id="2147483669" r:id="rId16"/>
    <p:sldLayoutId id="2147483670" r:id="rId17"/>
    <p:sldLayoutId id="2147483671"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标题占位符 1"/>
          <p:cNvSpPr>
            <a:spLocks noGrp="1"/>
          </p:cNvSpPr>
          <p:nvPr>
            <p:ph type="title"/>
            <p:custDataLst>
              <p:tags r:id="rId3"/>
            </p:custDataLst>
          </p:nvPr>
        </p:nvSpPr>
        <p:spPr>
          <a:xfrm>
            <a:off x="628650" y="365125"/>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8" name="文本占位符 2"/>
          <p:cNvSpPr>
            <a:spLocks noGrp="1"/>
          </p:cNvSpPr>
          <p:nvPr>
            <p:ph type="body" idx="1"/>
            <p:custDataLst>
              <p:tags r:id="rId4"/>
            </p:custDataLst>
          </p:nvPr>
        </p:nvSpPr>
        <p:spPr>
          <a:xfrm>
            <a:off x="628650" y="1825625"/>
            <a:ext cx="78867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fld id="{D997B5FA-0921-464F-AAE1-844C04324D75}" type="datetimeFigureOut">
              <a:rPr lang="zh-CN" altLang="en-US" smtClean="0">
                <a:solidFill>
                  <a:srgbClr val="FFFFFF">
                    <a:lumMod val="50000"/>
                  </a:srgbClr>
                </a:solidFill>
              </a:rPr>
            </a:fld>
            <a:endParaRPr lang="zh-CN" altLang="en-US" dirty="0">
              <a:solidFill>
                <a:srgbClr val="FFFFFF">
                  <a:lumMod val="50000"/>
                </a:srgbClr>
              </a:solidFill>
            </a:endParaRPr>
          </a:p>
        </p:txBody>
      </p:sp>
      <p:sp>
        <p:nvSpPr>
          <p:cNvPr id="10"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endParaRPr lang="zh-CN" altLang="en-US">
              <a:solidFill>
                <a:srgbClr val="FFFFFF">
                  <a:lumMod val="50000"/>
                </a:srgbClr>
              </a:solidFill>
            </a:endParaRPr>
          </a:p>
        </p:txBody>
      </p:sp>
      <p:sp>
        <p:nvSpPr>
          <p:cNvPr id="11"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fld id="{565CE74E-AB26-4998-AD42-012C4C1AD076}" type="slidenum">
              <a:rPr lang="zh-CN" altLang="en-US" smtClean="0">
                <a:solidFill>
                  <a:srgbClr val="FFFFFF">
                    <a:lumMod val="50000"/>
                  </a:srgbClr>
                </a:solidFill>
              </a:rPr>
            </a:fld>
            <a:endParaRPr lang="zh-CN" altLang="en-US">
              <a:solidFill>
                <a:srgbClr val="FFFFFF">
                  <a:lumMod val="50000"/>
                </a:srgbClr>
              </a:solidFill>
            </a:endParaRPr>
          </a:p>
        </p:txBody>
      </p:sp>
      <p:sp>
        <p:nvSpPr>
          <p:cNvPr id="2" name="KSO_TEMPLATE" hidden="1"/>
          <p:cNvSpPr/>
          <p:nvPr userDrawn="1">
            <p:custDataLst>
              <p:tags r:id="rId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标题占位符 1"/>
          <p:cNvSpPr>
            <a:spLocks noGrp="1"/>
          </p:cNvSpPr>
          <p:nvPr>
            <p:ph type="title"/>
            <p:custDataLst>
              <p:tags r:id="rId4"/>
            </p:custDataLst>
          </p:nvPr>
        </p:nvSpPr>
        <p:spPr>
          <a:xfrm>
            <a:off x="628650" y="365125"/>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8" name="文本占位符 2"/>
          <p:cNvSpPr>
            <a:spLocks noGrp="1"/>
          </p:cNvSpPr>
          <p:nvPr>
            <p:ph type="body" idx="1"/>
            <p:custDataLst>
              <p:tags r:id="rId5"/>
            </p:custDataLst>
          </p:nvPr>
        </p:nvSpPr>
        <p:spPr>
          <a:xfrm>
            <a:off x="628650" y="1825625"/>
            <a:ext cx="78867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fld id="{D997B5FA-0921-464F-AAE1-844C04324D75}" type="datetimeFigureOut">
              <a:rPr lang="zh-CN" altLang="en-US" smtClean="0">
                <a:solidFill>
                  <a:srgbClr val="FFFFFF">
                    <a:lumMod val="50000"/>
                  </a:srgbClr>
                </a:solidFill>
              </a:rPr>
            </a:fld>
            <a:endParaRPr lang="zh-CN" altLang="en-US" dirty="0">
              <a:solidFill>
                <a:srgbClr val="FFFFFF">
                  <a:lumMod val="50000"/>
                </a:srgbClr>
              </a:solidFill>
            </a:endParaRPr>
          </a:p>
        </p:txBody>
      </p:sp>
      <p:sp>
        <p:nvSpPr>
          <p:cNvPr id="10"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endParaRPr lang="zh-CN" altLang="en-US">
              <a:solidFill>
                <a:srgbClr val="FFFFFF">
                  <a:lumMod val="50000"/>
                </a:srgbClr>
              </a:solidFill>
            </a:endParaRPr>
          </a:p>
        </p:txBody>
      </p:sp>
      <p:sp>
        <p:nvSpPr>
          <p:cNvPr id="11"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fld id="{565CE74E-AB26-4998-AD42-012C4C1AD076}" type="slidenum">
              <a:rPr lang="zh-CN" altLang="en-US" smtClean="0">
                <a:solidFill>
                  <a:srgbClr val="FFFFFF">
                    <a:lumMod val="50000"/>
                  </a:srgbClr>
                </a:solidFill>
              </a:rPr>
            </a:fld>
            <a:endParaRPr lang="zh-CN" altLang="en-US">
              <a:solidFill>
                <a:srgbClr val="FFFFFF">
                  <a:lumMod val="50000"/>
                </a:srgbClr>
              </a:solidFill>
            </a:endParaRPr>
          </a:p>
        </p:txBody>
      </p:sp>
      <p:sp>
        <p:nvSpPr>
          <p:cNvPr id="2" name="KSO_TEMPLATE" hidden="1"/>
          <p:cNvSpPr/>
          <p:nvPr userDrawn="1">
            <p:custDataLst>
              <p:tags r:id="rId6"/>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标题占位符 1"/>
          <p:cNvSpPr>
            <a:spLocks noGrp="1"/>
          </p:cNvSpPr>
          <p:nvPr>
            <p:ph type="title"/>
            <p:custDataLst>
              <p:tags r:id="rId4"/>
            </p:custDataLst>
          </p:nvPr>
        </p:nvSpPr>
        <p:spPr>
          <a:xfrm>
            <a:off x="628650" y="365125"/>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8" name="文本占位符 2"/>
          <p:cNvSpPr>
            <a:spLocks noGrp="1"/>
          </p:cNvSpPr>
          <p:nvPr>
            <p:ph type="body" idx="1"/>
            <p:custDataLst>
              <p:tags r:id="rId5"/>
            </p:custDataLst>
          </p:nvPr>
        </p:nvSpPr>
        <p:spPr>
          <a:xfrm>
            <a:off x="628650" y="1825625"/>
            <a:ext cx="78867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fld id="{D997B5FA-0921-464F-AAE1-844C04324D75}" type="datetimeFigureOut">
              <a:rPr lang="zh-CN" altLang="en-US" smtClean="0">
                <a:solidFill>
                  <a:srgbClr val="FFFFFF">
                    <a:lumMod val="50000"/>
                  </a:srgbClr>
                </a:solidFill>
              </a:rPr>
            </a:fld>
            <a:endParaRPr lang="zh-CN" altLang="en-US" dirty="0">
              <a:solidFill>
                <a:srgbClr val="FFFFFF">
                  <a:lumMod val="50000"/>
                </a:srgbClr>
              </a:solidFill>
            </a:endParaRPr>
          </a:p>
        </p:txBody>
      </p:sp>
      <p:sp>
        <p:nvSpPr>
          <p:cNvPr id="10"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endParaRPr lang="zh-CN" altLang="en-US">
              <a:solidFill>
                <a:srgbClr val="FFFFFF">
                  <a:lumMod val="50000"/>
                </a:srgbClr>
              </a:solidFill>
            </a:endParaRPr>
          </a:p>
        </p:txBody>
      </p:sp>
      <p:sp>
        <p:nvSpPr>
          <p:cNvPr id="11"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fld id="{565CE74E-AB26-4998-AD42-012C4C1AD076}" type="slidenum">
              <a:rPr lang="zh-CN" altLang="en-US" smtClean="0">
                <a:solidFill>
                  <a:srgbClr val="FFFFFF">
                    <a:lumMod val="50000"/>
                  </a:srgbClr>
                </a:solidFill>
              </a:rPr>
            </a:fld>
            <a:endParaRPr lang="zh-CN" altLang="en-US">
              <a:solidFill>
                <a:srgbClr val="FFFFFF">
                  <a:lumMod val="50000"/>
                </a:srgbClr>
              </a:solidFill>
            </a:endParaRPr>
          </a:p>
        </p:txBody>
      </p:sp>
      <p:sp>
        <p:nvSpPr>
          <p:cNvPr id="2" name="KSO_TEMPLATE" hidden="1"/>
          <p:cNvSpPr/>
          <p:nvPr userDrawn="1">
            <p:custDataLst>
              <p:tags r:id="rId6"/>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Tree>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image" Target="../media/image3.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image" Target="../media/image4.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image" Target="../media/image7.emf"/></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3.xml"/><Relationship Id="rId2" Type="http://schemas.openxmlformats.org/officeDocument/2006/relationships/image" Target="../media/image9.png"/><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image" Target="../media/image10.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image" Target="../media/image15.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image" Target="../media/image16.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image" Target="../media/image17.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4.xml"/><Relationship Id="rId2" Type="http://schemas.openxmlformats.org/officeDocument/2006/relationships/image" Target="../media/image19.png"/><Relationship Id="rId1" Type="http://schemas.openxmlformats.org/officeDocument/2006/relationships/image" Target="../media/image18.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xml"/><Relationship Id="rId1" Type="http://schemas.openxmlformats.org/officeDocument/2006/relationships/image" Target="../media/image20.emf"/></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3.xml"/><Relationship Id="rId1" Type="http://schemas.openxmlformats.org/officeDocument/2006/relationships/image" Target="../media/image21.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3.xml"/><Relationship Id="rId1" Type="http://schemas.openxmlformats.org/officeDocument/2006/relationships/image" Target="../media/image22.jpe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3.xml"/><Relationship Id="rId1" Type="http://schemas.openxmlformats.org/officeDocument/2006/relationships/image" Target="../media/image24.e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3.xml"/><Relationship Id="rId1" Type="http://schemas.openxmlformats.org/officeDocument/2006/relationships/image" Target="../media/image25.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3.xml"/><Relationship Id="rId1" Type="http://schemas.openxmlformats.org/officeDocument/2006/relationships/image" Target="../media/image26.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3.xml"/><Relationship Id="rId1" Type="http://schemas.openxmlformats.org/officeDocument/2006/relationships/image" Target="../media/image27.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3.xml"/><Relationship Id="rId1" Type="http://schemas.openxmlformats.org/officeDocument/2006/relationships/image" Target="../media/image28.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3.xml"/><Relationship Id="rId1" Type="http://schemas.openxmlformats.org/officeDocument/2006/relationships/image" Target="../media/image29.emf"/></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3.xml"/><Relationship Id="rId1" Type="http://schemas.openxmlformats.org/officeDocument/2006/relationships/image" Target="../media/image30.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7143" y="-9147"/>
            <a:ext cx="9158091" cy="3821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355" dirty="0">
                <a:solidFill>
                  <a:prstClr val="white"/>
                </a:solidFill>
              </a:rPr>
              <a:t>人工智能技术应用核心课程系列教材</a:t>
            </a:r>
            <a:endParaRPr lang="zh-CN" altLang="en-US" sz="1355" dirty="0">
              <a:solidFill>
                <a:prstClr val="white"/>
              </a:solidFill>
            </a:endParaRPr>
          </a:p>
        </p:txBody>
      </p:sp>
      <p:sp>
        <p:nvSpPr>
          <p:cNvPr id="4" name="矩形 3"/>
          <p:cNvSpPr/>
          <p:nvPr/>
        </p:nvSpPr>
        <p:spPr>
          <a:xfrm>
            <a:off x="892314" y="2061304"/>
            <a:ext cx="7426960" cy="1938992"/>
          </a:xfrm>
          <a:prstGeom prst="rect">
            <a:avLst/>
          </a:prstGeom>
          <a:effectLst/>
        </p:spPr>
        <p:txBody>
          <a:bodyPr wrap="square">
            <a:spAutoFit/>
          </a:bodyPr>
          <a:lstStyle/>
          <a:p>
            <a:pPr algn="ctr">
              <a:defRPr/>
            </a:pPr>
            <a:r>
              <a:rPr lang="zh-CN" altLang="en-US" sz="8000" b="1" spc="300" dirty="0">
                <a:ln w="11430"/>
                <a:solidFill>
                  <a:srgbClr val="3D89BC"/>
                </a:solidFill>
                <a:latin typeface="微软雅黑" panose="020B0503020204020204" pitchFamily="34" charset="-122"/>
                <a:ea typeface="微软雅黑" panose="020B0503020204020204" pitchFamily="34" charset="-122"/>
              </a:rPr>
              <a:t>数据标注工程</a:t>
            </a:r>
            <a:endParaRPr lang="zh-CN" altLang="en-US" sz="8000" b="1" spc="300" dirty="0">
              <a:ln w="11430"/>
              <a:solidFill>
                <a:srgbClr val="3D89BC"/>
              </a:solidFill>
              <a:latin typeface="微软雅黑" panose="020B0503020204020204" pitchFamily="34" charset="-122"/>
              <a:ea typeface="微软雅黑" panose="020B0503020204020204" pitchFamily="34" charset="-122"/>
            </a:endParaRPr>
          </a:p>
          <a:p>
            <a:pPr algn="ctr">
              <a:defRPr/>
            </a:pPr>
            <a:r>
              <a:rPr lang="en-US" altLang="zh-CN" sz="4000" b="1" spc="300" dirty="0">
                <a:ln w="11430"/>
                <a:solidFill>
                  <a:srgbClr val="3D89BC"/>
                </a:solidFill>
                <a:latin typeface="微软雅黑" panose="020B0503020204020204" pitchFamily="34" charset="-122"/>
                <a:ea typeface="微软雅黑" panose="020B0503020204020204" pitchFamily="34" charset="-122"/>
              </a:rPr>
              <a:t>——</a:t>
            </a:r>
            <a:r>
              <a:rPr lang="zh-CN" altLang="en-US" sz="4000" b="1" spc="300" dirty="0">
                <a:ln w="11430"/>
                <a:solidFill>
                  <a:srgbClr val="3D89BC"/>
                </a:solidFill>
                <a:latin typeface="微软雅黑" panose="020B0503020204020204" pitchFamily="34" charset="-122"/>
                <a:ea typeface="微软雅黑" panose="020B0503020204020204" pitchFamily="34" charset="-122"/>
              </a:rPr>
              <a:t>概念、方法、工具与案例</a:t>
            </a:r>
            <a:endParaRPr lang="zh-CN" altLang="en-US" sz="4000" b="1" spc="300" dirty="0">
              <a:ln w="11430"/>
              <a:solidFill>
                <a:srgbClr val="3D89BC"/>
              </a:solidFill>
              <a:latin typeface="微软雅黑" panose="020B0503020204020204" pitchFamily="34" charset="-122"/>
              <a:ea typeface="微软雅黑" panose="020B0503020204020204" pitchFamily="34" charset="-122"/>
            </a:endParaRPr>
          </a:p>
        </p:txBody>
      </p:sp>
      <p:sp>
        <p:nvSpPr>
          <p:cNvPr id="5" name="矩形 4"/>
          <p:cNvSpPr/>
          <p:nvPr/>
        </p:nvSpPr>
        <p:spPr>
          <a:xfrm>
            <a:off x="0" y="6669360"/>
            <a:ext cx="9144000" cy="1886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grpSp>
        <p:nvGrpSpPr>
          <p:cNvPr id="73" name="组合 72"/>
          <p:cNvGrpSpPr/>
          <p:nvPr/>
        </p:nvGrpSpPr>
        <p:grpSpPr>
          <a:xfrm>
            <a:off x="690258" y="854039"/>
            <a:ext cx="7832785" cy="781050"/>
            <a:chOff x="2788580" y="1152524"/>
            <a:chExt cx="3730770" cy="781050"/>
          </a:xfrm>
        </p:grpSpPr>
        <p:grpSp>
          <p:nvGrpSpPr>
            <p:cNvPr id="6" name="组合 5"/>
            <p:cNvGrpSpPr/>
            <p:nvPr/>
          </p:nvGrpSpPr>
          <p:grpSpPr>
            <a:xfrm>
              <a:off x="2788580" y="1152524"/>
              <a:ext cx="3730770" cy="781050"/>
              <a:chOff x="3725790" y="847725"/>
              <a:chExt cx="3730770" cy="781050"/>
            </a:xfrm>
          </p:grpSpPr>
          <p:grpSp>
            <p:nvGrpSpPr>
              <p:cNvPr id="7" name="组合 6"/>
              <p:cNvGrpSpPr/>
              <p:nvPr/>
            </p:nvGrpSpPr>
            <p:grpSpPr>
              <a:xfrm>
                <a:off x="3725790" y="1019175"/>
                <a:ext cx="627135" cy="609600"/>
                <a:chOff x="3725790" y="1019175"/>
                <a:chExt cx="627135" cy="609600"/>
              </a:xfrm>
            </p:grpSpPr>
            <p:sp>
              <p:nvSpPr>
                <p:cNvPr id="12" name="任意多边形 11"/>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3" name="直角三角形 12"/>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8" name="组合 7"/>
              <p:cNvGrpSpPr/>
              <p:nvPr/>
            </p:nvGrpSpPr>
            <p:grpSpPr>
              <a:xfrm flipH="1">
                <a:off x="6829425" y="1019175"/>
                <a:ext cx="627135" cy="609600"/>
                <a:chOff x="3725790" y="1019175"/>
                <a:chExt cx="627135" cy="609600"/>
              </a:xfrm>
            </p:grpSpPr>
            <p:sp>
              <p:nvSpPr>
                <p:cNvPr id="10" name="任意多边形 9"/>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直角三角形 10"/>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9" name="矩形 8"/>
              <p:cNvSpPr/>
              <p:nvPr/>
            </p:nvSpPr>
            <p:spPr>
              <a:xfrm>
                <a:off x="4181475" y="847725"/>
                <a:ext cx="2819400"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14" name="文本框 14"/>
            <p:cNvSpPr txBox="1"/>
            <p:nvPr/>
          </p:nvSpPr>
          <p:spPr>
            <a:xfrm>
              <a:off x="3247868" y="1169836"/>
              <a:ext cx="2753382" cy="523220"/>
            </a:xfrm>
            <a:prstGeom prst="rect">
              <a:avLst/>
            </a:prstGeom>
            <a:noFill/>
          </p:spPr>
          <p:txBody>
            <a:bodyPr wrap="none" rtlCol="0">
              <a:spAutoFit/>
            </a:bodyPr>
            <a:lstStyle/>
            <a:p>
              <a:pPr algn="ctr"/>
              <a:r>
                <a:rPr lang="zh-CN" altLang="en-US" sz="2800" dirty="0" smtClean="0">
                  <a:solidFill>
                    <a:srgbClr val="FFC000"/>
                  </a:solidFill>
                </a:rPr>
                <a:t>第</a:t>
              </a:r>
              <a:r>
                <a:rPr lang="en-US" altLang="zh-CN" sz="2800" dirty="0">
                  <a:solidFill>
                    <a:srgbClr val="FFC000"/>
                  </a:solidFill>
                </a:rPr>
                <a:t>2</a:t>
              </a:r>
              <a:r>
                <a:rPr lang="zh-CN" altLang="en-US" sz="2800" dirty="0" smtClean="0">
                  <a:solidFill>
                    <a:srgbClr val="FFC000"/>
                  </a:solidFill>
                </a:rPr>
                <a:t>章　数据标注概念、工具与方法</a:t>
              </a:r>
              <a:endParaRPr lang="zh-CN" altLang="en-US" sz="2800" dirty="0" smtClean="0">
                <a:solidFill>
                  <a:srgbClr val="FFC000"/>
                </a:solidFill>
              </a:endParaRPr>
            </a:p>
          </p:txBody>
        </p:sp>
      </p:grpSp>
      <p:sp>
        <p:nvSpPr>
          <p:cNvPr id="48" name="矩形 47"/>
          <p:cNvSpPr/>
          <p:nvPr/>
        </p:nvSpPr>
        <p:spPr>
          <a:xfrm>
            <a:off x="1485903" y="2160000"/>
            <a:ext cx="184731" cy="415498"/>
          </a:xfrm>
          <a:prstGeom prst="rect">
            <a:avLst/>
          </a:prstGeom>
        </p:spPr>
        <p:txBody>
          <a:bodyPr wrap="none">
            <a:spAutoFit/>
          </a:bodyPr>
          <a:lstStyle/>
          <a:p>
            <a:endParaRPr lang="zh-CN" altLang="en-US" sz="2100" spc="225" dirty="0" smtClean="0">
              <a:solidFill>
                <a:schemeClr val="bg1"/>
              </a:solidFill>
            </a:endParaRPr>
          </a:p>
        </p:txBody>
      </p:sp>
      <p:sp>
        <p:nvSpPr>
          <p:cNvPr id="49" name="圆角矩形 48"/>
          <p:cNvSpPr/>
          <p:nvPr/>
        </p:nvSpPr>
        <p:spPr>
          <a:xfrm>
            <a:off x="1409882" y="2668468"/>
            <a:ext cx="6315212"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smtClean="0">
                <a:solidFill>
                  <a:schemeClr val="bg1"/>
                </a:solidFill>
              </a:rPr>
              <a:t>2.2 </a:t>
            </a:r>
            <a:r>
              <a:rPr lang="zh-CN" altLang="en-US" sz="2000" spc="225" dirty="0" smtClean="0">
                <a:solidFill>
                  <a:schemeClr val="bg1"/>
                </a:solidFill>
              </a:rPr>
              <a:t>数据</a:t>
            </a:r>
            <a:r>
              <a:rPr lang="zh-CN" altLang="en-US" sz="2000" spc="225" dirty="0">
                <a:solidFill>
                  <a:schemeClr val="bg1"/>
                </a:solidFill>
              </a:rPr>
              <a:t>标注对象</a:t>
            </a:r>
            <a:endParaRPr lang="zh-CN" altLang="en-US" sz="2000" spc="225" dirty="0">
              <a:solidFill>
                <a:schemeClr val="bg1"/>
              </a:solidFill>
            </a:endParaRPr>
          </a:p>
        </p:txBody>
      </p:sp>
      <p:sp>
        <p:nvSpPr>
          <p:cNvPr id="32" name="矩形 31"/>
          <p:cNvSpPr/>
          <p:nvPr/>
        </p:nvSpPr>
        <p:spPr>
          <a:xfrm>
            <a:off x="-7143" y="-9147"/>
            <a:ext cx="9158090" cy="3821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36" name="矩形 35"/>
          <p:cNvSpPr/>
          <p:nvPr/>
        </p:nvSpPr>
        <p:spPr>
          <a:xfrm>
            <a:off x="0" y="6669360"/>
            <a:ext cx="9144000" cy="1886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5" name="矩形 44"/>
          <p:cNvSpPr/>
          <p:nvPr/>
        </p:nvSpPr>
        <p:spPr>
          <a:xfrm>
            <a:off x="7929" y="38314"/>
            <a:ext cx="2954655" cy="300082"/>
          </a:xfrm>
          <a:prstGeom prst="rect">
            <a:avLst/>
          </a:prstGeom>
        </p:spPr>
        <p:txBody>
          <a:bodyPr wrap="none">
            <a:spAutoFit/>
          </a:bodyPr>
          <a:lstStyle/>
          <a:p>
            <a:r>
              <a:rPr lang="zh-CN" altLang="en-US" sz="1350" dirty="0">
                <a:solidFill>
                  <a:prstClr val="white"/>
                </a:solidFill>
              </a:rPr>
              <a:t>人工智能技术应用核心课程系列教材</a:t>
            </a:r>
            <a:endParaRPr lang="zh-CN" altLang="en-US" sz="1350" dirty="0">
              <a:solidFill>
                <a:prstClr val="white"/>
              </a:solidFill>
            </a:endParaRPr>
          </a:p>
        </p:txBody>
      </p:sp>
      <p:sp>
        <p:nvSpPr>
          <p:cNvPr id="2" name="圆角矩形 1"/>
          <p:cNvSpPr/>
          <p:nvPr/>
        </p:nvSpPr>
        <p:spPr>
          <a:xfrm>
            <a:off x="1409881" y="2175766"/>
            <a:ext cx="6315213" cy="415498"/>
          </a:xfrm>
          <a:prstGeom prst="round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spc="225" dirty="0" smtClean="0">
                <a:solidFill>
                  <a:schemeClr val="bg1"/>
                </a:solidFill>
              </a:rPr>
              <a:t>2.1 </a:t>
            </a:r>
            <a:r>
              <a:rPr lang="zh-CN" altLang="zh-CN" sz="2000" spc="225" dirty="0">
                <a:solidFill>
                  <a:schemeClr val="bg1"/>
                </a:solidFill>
              </a:rPr>
              <a:t>数据标注的概念及其对人工智能发展的意义</a:t>
            </a:r>
            <a:r>
              <a:rPr lang="en-US" altLang="zh-CN" sz="2000" spc="225" dirty="0">
                <a:solidFill>
                  <a:schemeClr val="bg1"/>
                </a:solidFill>
              </a:rPr>
              <a:t> </a:t>
            </a:r>
            <a:endParaRPr lang="zh-CN" altLang="en-US" sz="2000" spc="225" dirty="0">
              <a:solidFill>
                <a:schemeClr val="bg1"/>
              </a:solidFill>
            </a:endParaRPr>
          </a:p>
        </p:txBody>
      </p:sp>
      <p:sp>
        <p:nvSpPr>
          <p:cNvPr id="40" name="圆角矩形 39"/>
          <p:cNvSpPr/>
          <p:nvPr/>
        </p:nvSpPr>
        <p:spPr>
          <a:xfrm>
            <a:off x="1409882" y="3146067"/>
            <a:ext cx="6315212"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smtClean="0">
                <a:solidFill>
                  <a:schemeClr val="bg1"/>
                </a:solidFill>
              </a:rPr>
              <a:t>2.3 </a:t>
            </a:r>
            <a:r>
              <a:rPr lang="zh-CN" altLang="en-US" sz="2000" spc="225" dirty="0" smtClean="0">
                <a:solidFill>
                  <a:schemeClr val="bg1"/>
                </a:solidFill>
              </a:rPr>
              <a:t>数据</a:t>
            </a:r>
            <a:r>
              <a:rPr lang="zh-CN" altLang="en-US" sz="2000" spc="225" dirty="0">
                <a:solidFill>
                  <a:schemeClr val="bg1"/>
                </a:solidFill>
              </a:rPr>
              <a:t>标注工具与平台</a:t>
            </a:r>
            <a:endParaRPr lang="zh-CN" altLang="en-US" sz="2000" spc="225" dirty="0">
              <a:solidFill>
                <a:schemeClr val="bg1"/>
              </a:solidFill>
            </a:endParaRPr>
          </a:p>
        </p:txBody>
      </p:sp>
      <p:sp>
        <p:nvSpPr>
          <p:cNvPr id="41" name="圆角矩形 40"/>
          <p:cNvSpPr/>
          <p:nvPr/>
        </p:nvSpPr>
        <p:spPr>
          <a:xfrm>
            <a:off x="1403072" y="3616488"/>
            <a:ext cx="6315212"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smtClean="0">
                <a:solidFill>
                  <a:schemeClr val="bg1"/>
                </a:solidFill>
              </a:rPr>
              <a:t>2.4 </a:t>
            </a:r>
            <a:r>
              <a:rPr lang="zh-CN" altLang="en-US" sz="2000" spc="225" dirty="0" smtClean="0">
                <a:solidFill>
                  <a:schemeClr val="bg1"/>
                </a:solidFill>
              </a:rPr>
              <a:t>典型</a:t>
            </a:r>
            <a:r>
              <a:rPr lang="zh-CN" altLang="en-US" sz="2000" spc="225" dirty="0">
                <a:solidFill>
                  <a:schemeClr val="bg1"/>
                </a:solidFill>
              </a:rPr>
              <a:t>数据标注技术</a:t>
            </a:r>
            <a:endParaRPr lang="zh-CN" altLang="en-US" sz="2000" spc="225" dirty="0">
              <a:solidFill>
                <a:schemeClr val="bg1"/>
              </a:solidFill>
            </a:endParaRPr>
          </a:p>
        </p:txBody>
      </p:sp>
      <p:sp>
        <p:nvSpPr>
          <p:cNvPr id="44" name="圆角矩形 43"/>
          <p:cNvSpPr/>
          <p:nvPr/>
        </p:nvSpPr>
        <p:spPr>
          <a:xfrm>
            <a:off x="1403072" y="4088372"/>
            <a:ext cx="6311995"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smtClean="0">
                <a:solidFill>
                  <a:schemeClr val="bg1"/>
                </a:solidFill>
              </a:rPr>
              <a:t>2.5 </a:t>
            </a:r>
            <a:r>
              <a:rPr lang="zh-CN" altLang="en-US" sz="2000" spc="225" dirty="0" smtClean="0">
                <a:solidFill>
                  <a:schemeClr val="bg1"/>
                </a:solidFill>
              </a:rPr>
              <a:t>数据</a:t>
            </a:r>
            <a:r>
              <a:rPr lang="zh-CN" altLang="en-US" sz="2000" spc="225" dirty="0">
                <a:solidFill>
                  <a:schemeClr val="bg1"/>
                </a:solidFill>
              </a:rPr>
              <a:t>标注工程 </a:t>
            </a:r>
            <a:endParaRPr lang="zh-CN" altLang="en-US" sz="2000" spc="225" dirty="0">
              <a:solidFill>
                <a:schemeClr val="bg1"/>
              </a:solidFill>
            </a:endParaRPr>
          </a:p>
        </p:txBody>
      </p:sp>
      <p:sp>
        <p:nvSpPr>
          <p:cNvPr id="21" name="圆角矩形 20"/>
          <p:cNvSpPr/>
          <p:nvPr/>
        </p:nvSpPr>
        <p:spPr>
          <a:xfrm>
            <a:off x="1395894" y="4540376"/>
            <a:ext cx="6311995"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smtClean="0">
                <a:solidFill>
                  <a:schemeClr val="bg1"/>
                </a:solidFill>
              </a:rPr>
              <a:t>2.6 </a:t>
            </a:r>
            <a:r>
              <a:rPr lang="zh-CN" altLang="en-US" sz="2000" spc="225" dirty="0" smtClean="0">
                <a:solidFill>
                  <a:schemeClr val="bg1"/>
                </a:solidFill>
              </a:rPr>
              <a:t>本章小结 </a:t>
            </a:r>
            <a:endParaRPr lang="zh-CN" altLang="en-US" sz="2000" spc="225" dirty="0">
              <a:solidFill>
                <a:schemeClr val="bg1"/>
              </a:solidFill>
            </a:endParaRPr>
          </a:p>
        </p:txBody>
      </p:sp>
      <p:sp>
        <p:nvSpPr>
          <p:cNvPr id="22" name="圆角矩形 21"/>
          <p:cNvSpPr/>
          <p:nvPr/>
        </p:nvSpPr>
        <p:spPr>
          <a:xfrm>
            <a:off x="1388405" y="5008146"/>
            <a:ext cx="6311995"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smtClean="0">
                <a:solidFill>
                  <a:schemeClr val="bg1"/>
                </a:solidFill>
              </a:rPr>
              <a:t>2.7 </a:t>
            </a:r>
            <a:r>
              <a:rPr lang="zh-CN" altLang="en-US" sz="2000" spc="225" dirty="0" smtClean="0">
                <a:solidFill>
                  <a:schemeClr val="bg1"/>
                </a:solidFill>
              </a:rPr>
              <a:t>作业与练习 </a:t>
            </a:r>
            <a:endParaRPr lang="zh-CN" altLang="en-US" sz="2000" spc="225" dirty="0">
              <a:solidFill>
                <a:schemeClr val="bg1"/>
              </a:solidFill>
            </a:endParaRPr>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461" y="152805"/>
            <a:ext cx="6438394" cy="415498"/>
          </a:xfrm>
          <a:prstGeom prst="rect">
            <a:avLst/>
          </a:prstGeom>
          <a:noFill/>
        </p:spPr>
        <p:txBody>
          <a:bodyPr wrap="square" rtlCol="0">
            <a:spAutoFit/>
          </a:bodyPr>
          <a:lstStyle/>
          <a:p>
            <a:r>
              <a:rPr lang="en-US" sz="2100" b="1" spc="225" dirty="0" smtClean="0">
                <a:solidFill>
                  <a:prstClr val="white"/>
                </a:solidFill>
              </a:rPr>
              <a:t>2</a:t>
            </a:r>
            <a:r>
              <a:rPr sz="2100" b="1" spc="225" dirty="0" smtClean="0">
                <a:solidFill>
                  <a:prstClr val="white"/>
                </a:solidFill>
              </a:rPr>
              <a:t>.1</a:t>
            </a:r>
            <a:r>
              <a:rPr lang="zh-CN" altLang="en-US" sz="2100" b="1" spc="225" dirty="0">
                <a:solidFill>
                  <a:prstClr val="white"/>
                </a:solidFill>
              </a:rPr>
              <a:t>数据标注的概念及其对人工智能发展的意义 </a:t>
            </a:r>
            <a:endParaRPr lang="zh-CN" altLang="en-US" sz="2100" b="1" spc="225" dirty="0">
              <a:solidFill>
                <a:prstClr val="white"/>
              </a:solidFill>
            </a:endParaRPr>
          </a:p>
        </p:txBody>
      </p:sp>
      <p:sp>
        <p:nvSpPr>
          <p:cNvPr id="5" name="TextBox 4"/>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sp>
        <p:nvSpPr>
          <p:cNvPr id="6" name="文本占位符 7"/>
          <p:cNvSpPr>
            <a:spLocks noGrp="1"/>
          </p:cNvSpPr>
          <p:nvPr>
            <p:ph type="body" sz="quarter" idx="13"/>
          </p:nvPr>
        </p:nvSpPr>
        <p:spPr>
          <a:xfrm>
            <a:off x="392113" y="2411088"/>
            <a:ext cx="8185830" cy="2223973"/>
          </a:xfrm>
        </p:spPr>
        <p:txBody>
          <a:bodyPr>
            <a:normAutofit/>
          </a:bodyPr>
          <a:lstStyle/>
          <a:p>
            <a:pPr>
              <a:lnSpc>
                <a:spcPct val="120000"/>
              </a:lnSpc>
            </a:pPr>
            <a:r>
              <a:rPr lang="zh-CN" altLang="zh-CN" sz="1800" b="0" dirty="0">
                <a:solidFill>
                  <a:schemeClr val="tx1">
                    <a:lumMod val="75000"/>
                    <a:lumOff val="25000"/>
                  </a:schemeClr>
                </a:solidFill>
              </a:rPr>
              <a:t>数据标注（</a:t>
            </a:r>
            <a:r>
              <a:rPr lang="en-US" altLang="zh-CN" sz="1800" b="0" dirty="0">
                <a:solidFill>
                  <a:schemeClr val="tx1">
                    <a:lumMod val="75000"/>
                    <a:lumOff val="25000"/>
                  </a:schemeClr>
                </a:solidFill>
              </a:rPr>
              <a:t>Data Annotations</a:t>
            </a:r>
            <a:r>
              <a:rPr lang="zh-CN" altLang="zh-CN" sz="1800" b="0" dirty="0">
                <a:solidFill>
                  <a:schemeClr val="tx1">
                    <a:lumMod val="75000"/>
                    <a:lumOff val="25000"/>
                  </a:schemeClr>
                </a:solidFill>
              </a:rPr>
              <a:t>）是指对收集到的、未处理的原始数据或初级数据，包括语音、图片、文本、视频等类型的数据进行加工处理，并转换为机器可识别信息的过程。数据标注与人工智能相伴而生，是大部分人工智能算法得以有效应用的关键环节。数据标注越准确、标注的数据量越大，算法的性能就越好、准确度就越高。</a:t>
            </a:r>
            <a:endParaRPr lang="zh-CN" altLang="zh-CN" sz="1800" b="0" dirty="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endParaRPr lang="zh-CN" altLang="en-US" sz="2000" dirty="0"/>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4"/>
            <a:ext cx="8185830" cy="3867966"/>
          </a:xfrm>
        </p:spPr>
        <p:txBody>
          <a:bodyPr>
            <a:normAutofit/>
          </a:bodyPr>
          <a:lstStyle/>
          <a:p>
            <a:pPr>
              <a:lnSpc>
                <a:spcPct val="120000"/>
              </a:lnSpc>
            </a:pPr>
            <a:r>
              <a:rPr lang="zh-CN" altLang="en-US" sz="1800" b="0" dirty="0">
                <a:solidFill>
                  <a:schemeClr val="tx1">
                    <a:lumMod val="75000"/>
                    <a:lumOff val="25000"/>
                  </a:schemeClr>
                </a:solidFill>
              </a:rPr>
              <a:t>根据国际数据公司（</a:t>
            </a:r>
            <a:r>
              <a:rPr lang="en-US" altLang="zh-CN" sz="1800" b="0" dirty="0">
                <a:solidFill>
                  <a:schemeClr val="tx1">
                    <a:lumMod val="75000"/>
                    <a:lumOff val="25000"/>
                  </a:schemeClr>
                </a:solidFill>
              </a:rPr>
              <a:t>IDC</a:t>
            </a:r>
            <a:r>
              <a:rPr lang="zh-CN" altLang="en-US" sz="1800" b="0" dirty="0">
                <a:solidFill>
                  <a:schemeClr val="tx1">
                    <a:lumMod val="75000"/>
                    <a:lumOff val="25000"/>
                  </a:schemeClr>
                </a:solidFill>
              </a:rPr>
              <a:t>）的监测数据显示</a:t>
            </a: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2018</a:t>
            </a:r>
            <a:r>
              <a:rPr lang="zh-CN" altLang="en-US" sz="1800" b="0" dirty="0">
                <a:solidFill>
                  <a:schemeClr val="tx1">
                    <a:lumMod val="75000"/>
                    <a:lumOff val="25000"/>
                  </a:schemeClr>
                </a:solidFill>
              </a:rPr>
              <a:t>年全球大数据储量达到</a:t>
            </a:r>
            <a:r>
              <a:rPr lang="en-US" altLang="zh-CN" sz="1800" b="0" dirty="0">
                <a:solidFill>
                  <a:schemeClr val="tx1">
                    <a:lumMod val="75000"/>
                    <a:lumOff val="25000"/>
                  </a:schemeClr>
                </a:solidFill>
              </a:rPr>
              <a:t>33.0ZB</a:t>
            </a:r>
            <a:r>
              <a:rPr lang="zh-CN" altLang="en-US" sz="1800" b="0" dirty="0">
                <a:solidFill>
                  <a:schemeClr val="tx1">
                    <a:lumMod val="75000"/>
                    <a:lumOff val="25000"/>
                  </a:schemeClr>
                </a:solidFill>
              </a:rPr>
              <a:t>，同比增长</a:t>
            </a:r>
            <a:r>
              <a:rPr lang="en-US" altLang="zh-CN" sz="1800" b="0" dirty="0">
                <a:solidFill>
                  <a:schemeClr val="tx1">
                    <a:lumMod val="75000"/>
                    <a:lumOff val="25000"/>
                  </a:schemeClr>
                </a:solidFill>
              </a:rPr>
              <a:t>52.8</a:t>
            </a:r>
            <a:r>
              <a:rPr lang="en-US" altLang="zh-CN" sz="1800" b="0" dirty="0" smtClean="0">
                <a:solidFill>
                  <a:schemeClr val="tx1">
                    <a:lumMod val="75000"/>
                    <a:lumOff val="25000"/>
                  </a:schemeClr>
                </a:solidFill>
              </a:rPr>
              <a:t>%</a:t>
            </a:r>
            <a:r>
              <a:rPr lang="zh-CN" altLang="en-US" sz="1800" b="0" dirty="0" smtClean="0">
                <a:solidFill>
                  <a:schemeClr val="tx1">
                    <a:lumMod val="75000"/>
                    <a:lumOff val="25000"/>
                  </a:schemeClr>
                </a:solidFill>
              </a:rPr>
              <a:t>。到</a:t>
            </a:r>
            <a:r>
              <a:rPr lang="en-US" altLang="zh-CN" sz="1800" b="0" dirty="0">
                <a:solidFill>
                  <a:schemeClr val="tx1">
                    <a:lumMod val="75000"/>
                    <a:lumOff val="25000"/>
                  </a:schemeClr>
                </a:solidFill>
              </a:rPr>
              <a:t>2020</a:t>
            </a:r>
            <a:r>
              <a:rPr lang="zh-CN" altLang="en-US" sz="1800" b="0" dirty="0">
                <a:solidFill>
                  <a:schemeClr val="tx1">
                    <a:lumMod val="75000"/>
                    <a:lumOff val="25000"/>
                  </a:schemeClr>
                </a:solidFill>
              </a:rPr>
              <a:t>年，全球将总共拥有超过</a:t>
            </a:r>
            <a:r>
              <a:rPr lang="en-US" altLang="zh-CN" sz="1800" b="0" dirty="0">
                <a:solidFill>
                  <a:schemeClr val="tx1">
                    <a:lumMod val="75000"/>
                    <a:lumOff val="25000"/>
                  </a:schemeClr>
                </a:solidFill>
              </a:rPr>
              <a:t>44ZB</a:t>
            </a:r>
            <a:r>
              <a:rPr lang="zh-CN" altLang="en-US" sz="1800" b="0" dirty="0">
                <a:solidFill>
                  <a:schemeClr val="tx1">
                    <a:lumMod val="75000"/>
                    <a:lumOff val="25000"/>
                  </a:schemeClr>
                </a:solidFill>
              </a:rPr>
              <a:t>的数据量；其中文本、照片、音频、视频、医疗影像等非结构化内容超过</a:t>
            </a:r>
            <a:r>
              <a:rPr lang="en-US" altLang="zh-CN" sz="1800" b="0" dirty="0">
                <a:solidFill>
                  <a:schemeClr val="tx1">
                    <a:lumMod val="75000"/>
                    <a:lumOff val="25000"/>
                  </a:schemeClr>
                </a:solidFill>
              </a:rPr>
              <a:t>85%</a:t>
            </a:r>
            <a:r>
              <a:rPr lang="zh-CN" altLang="en-US" sz="1800" b="0" dirty="0">
                <a:solidFill>
                  <a:schemeClr val="tx1">
                    <a:lumMod val="75000"/>
                    <a:lumOff val="25000"/>
                  </a:schemeClr>
                </a:solidFill>
              </a:rPr>
              <a:t>。大数据蕴含</a:t>
            </a:r>
            <a:r>
              <a:rPr lang="zh-CN" altLang="en-US" sz="1800" b="0" dirty="0" smtClean="0">
                <a:solidFill>
                  <a:schemeClr val="tx1">
                    <a:lumMod val="75000"/>
                    <a:lumOff val="25000"/>
                  </a:schemeClr>
                </a:solidFill>
              </a:rPr>
              <a:t>的前所未有</a:t>
            </a:r>
            <a:r>
              <a:rPr lang="zh-CN" altLang="en-US" sz="1800" b="0" dirty="0">
                <a:solidFill>
                  <a:schemeClr val="tx1">
                    <a:lumMod val="75000"/>
                    <a:lumOff val="25000"/>
                  </a:schemeClr>
                </a:solidFill>
              </a:rPr>
              <a:t>的社会价值和商业价值，是一个发展潜力十分巨大的机遇。因此，大数据也被被誉为“新的石油”。</a:t>
            </a: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1</a:t>
            </a:r>
            <a:r>
              <a:rPr lang="zh-CN" altLang="en-US" sz="2000" dirty="0"/>
              <a:t>.</a:t>
            </a:r>
            <a:r>
              <a:rPr lang="zh-CN" altLang="en-US" sz="2000" dirty="0" smtClean="0"/>
              <a:t>1  全球</a:t>
            </a:r>
            <a:r>
              <a:rPr lang="zh-CN" altLang="en-US" sz="2000" dirty="0"/>
              <a:t>数据的快速增长催生大数据产业</a:t>
            </a:r>
            <a:endParaRPr lang="zh-CN" altLang="en-US" sz="2000" dirty="0"/>
          </a:p>
        </p:txBody>
      </p:sp>
      <p:sp>
        <p:nvSpPr>
          <p:cNvPr id="7" name="TextBox 6"/>
          <p:cNvSpPr txBox="1"/>
          <p:nvPr/>
        </p:nvSpPr>
        <p:spPr>
          <a:xfrm>
            <a:off x="25461" y="152805"/>
            <a:ext cx="6438394" cy="415498"/>
          </a:xfrm>
          <a:prstGeom prst="rect">
            <a:avLst/>
          </a:prstGeom>
          <a:noFill/>
        </p:spPr>
        <p:txBody>
          <a:bodyPr wrap="square" rtlCol="0">
            <a:spAutoFit/>
          </a:bodyPr>
          <a:lstStyle/>
          <a:p>
            <a:r>
              <a:rPr lang="en-US" sz="2100" b="1" spc="225" dirty="0" smtClean="0">
                <a:solidFill>
                  <a:prstClr val="white"/>
                </a:solidFill>
              </a:rPr>
              <a:t>2</a:t>
            </a:r>
            <a:r>
              <a:rPr sz="2100" b="1" spc="225" dirty="0" smtClean="0">
                <a:solidFill>
                  <a:prstClr val="white"/>
                </a:solidFill>
              </a:rPr>
              <a:t>.1</a:t>
            </a:r>
            <a:r>
              <a:rPr lang="zh-CN" altLang="en-US" sz="2100" b="1" spc="225" dirty="0">
                <a:solidFill>
                  <a:prstClr val="white"/>
                </a:solidFill>
              </a:rPr>
              <a:t>数据标注的概念及其对人工智能发展的意义 </a:t>
            </a:r>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pic>
        <p:nvPicPr>
          <p:cNvPr id="2" name="图表 128"/>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83179" y="3111334"/>
            <a:ext cx="4963886" cy="3479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4"/>
            <a:ext cx="8185830" cy="3867966"/>
          </a:xfrm>
        </p:spPr>
        <p:txBody>
          <a:bodyPr>
            <a:normAutofit/>
          </a:bodyPr>
          <a:lstStyle/>
          <a:p>
            <a:pPr>
              <a:lnSpc>
                <a:spcPct val="120000"/>
              </a:lnSpc>
            </a:pPr>
            <a:r>
              <a:rPr lang="en-US" altLang="zh-CN" sz="1800" b="0" dirty="0">
                <a:solidFill>
                  <a:schemeClr val="tx1">
                    <a:lumMod val="75000"/>
                    <a:lumOff val="25000"/>
                  </a:schemeClr>
                </a:solidFill>
              </a:rPr>
              <a:t>20</a:t>
            </a:r>
            <a:r>
              <a:rPr lang="zh-CN" altLang="en-US" sz="1800" b="0" dirty="0">
                <a:solidFill>
                  <a:schemeClr val="tx1">
                    <a:lumMod val="75000"/>
                    <a:lumOff val="25000"/>
                  </a:schemeClr>
                </a:solidFill>
              </a:rPr>
              <a:t>世纪</a:t>
            </a:r>
            <a:r>
              <a:rPr lang="en-US" altLang="zh-CN" sz="1800" b="0" dirty="0">
                <a:solidFill>
                  <a:schemeClr val="tx1">
                    <a:lumMod val="75000"/>
                    <a:lumOff val="25000"/>
                  </a:schemeClr>
                </a:solidFill>
              </a:rPr>
              <a:t>80</a:t>
            </a:r>
            <a:r>
              <a:rPr lang="zh-CN" altLang="en-US" sz="1800" b="0" dirty="0">
                <a:solidFill>
                  <a:schemeClr val="tx1">
                    <a:lumMod val="75000"/>
                    <a:lumOff val="25000"/>
                  </a:schemeClr>
                </a:solidFill>
              </a:rPr>
              <a:t>年代出现的深度学习神经网络算法，因为没有足够的数据支持而</a:t>
            </a:r>
            <a:r>
              <a:rPr lang="zh-CN" altLang="en-US" sz="1800" b="0" dirty="0" smtClean="0">
                <a:solidFill>
                  <a:schemeClr val="tx1">
                    <a:lumMod val="75000"/>
                    <a:lumOff val="25000"/>
                  </a:schemeClr>
                </a:solidFill>
              </a:rPr>
              <a:t>步履维艰</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自</a:t>
            </a:r>
            <a:r>
              <a:rPr lang="en-US" altLang="zh-CN" sz="1800" b="0" dirty="0">
                <a:solidFill>
                  <a:schemeClr val="tx1">
                    <a:lumMod val="75000"/>
                    <a:lumOff val="25000"/>
                  </a:schemeClr>
                </a:solidFill>
              </a:rPr>
              <a:t>2012</a:t>
            </a:r>
            <a:r>
              <a:rPr lang="zh-CN" altLang="en-US" sz="1800" b="0" dirty="0">
                <a:solidFill>
                  <a:schemeClr val="tx1">
                    <a:lumMod val="75000"/>
                    <a:lumOff val="25000"/>
                  </a:schemeClr>
                </a:solidFill>
              </a:rPr>
              <a:t>年之后，数据技术推动数据产业的发展。大数据、人工智能、物联网及云计算等技术的快速发展，智慧城市、智慧园区、智能家电、穿戴设备、智能机器人等智能应用不断涌现，对经济社会发展产生了巨大而又深远的影响，同时也采集、获取、积累了大量的原始数据资源。智能应用技术中算法模型的学习和训练依赖于大量数据样本训练集，由此也产生了大量场景化的人工智能数据</a:t>
            </a:r>
            <a:r>
              <a:rPr lang="zh-CN" altLang="en-US" sz="1800" b="0" dirty="0" smtClean="0">
                <a:solidFill>
                  <a:schemeClr val="tx1">
                    <a:lumMod val="75000"/>
                    <a:lumOff val="25000"/>
                  </a:schemeClr>
                </a:solidFill>
              </a:rPr>
              <a:t>需求。</a:t>
            </a: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smtClean="0"/>
              <a:t>2</a:t>
            </a:r>
            <a:r>
              <a:rPr lang="zh-CN" altLang="en-US" sz="2000" dirty="0" smtClean="0"/>
              <a:t>.</a:t>
            </a:r>
            <a:r>
              <a:rPr lang="en-US" altLang="zh-CN" sz="2000" dirty="0" smtClean="0"/>
              <a:t>1</a:t>
            </a:r>
            <a:r>
              <a:rPr lang="zh-CN" altLang="en-US" sz="2000" dirty="0" smtClean="0"/>
              <a:t>.</a:t>
            </a:r>
            <a:r>
              <a:rPr lang="en-US" altLang="zh-CN" sz="2000" dirty="0" smtClean="0"/>
              <a:t>2  </a:t>
            </a:r>
            <a:r>
              <a:rPr lang="zh-CN" altLang="en-US" sz="2000" dirty="0" smtClean="0"/>
              <a:t>数据</a:t>
            </a:r>
            <a:r>
              <a:rPr lang="zh-CN" altLang="en-US" sz="2000" dirty="0"/>
              <a:t>产业推动人工智能应用技术的发展</a:t>
            </a:r>
            <a:endParaRPr lang="zh-CN" altLang="en-US" sz="2000" dirty="0"/>
          </a:p>
        </p:txBody>
      </p:sp>
      <p:sp>
        <p:nvSpPr>
          <p:cNvPr id="7" name="TextBox 6"/>
          <p:cNvSpPr txBox="1"/>
          <p:nvPr/>
        </p:nvSpPr>
        <p:spPr>
          <a:xfrm>
            <a:off x="25461" y="152805"/>
            <a:ext cx="6438394" cy="415498"/>
          </a:xfrm>
          <a:prstGeom prst="rect">
            <a:avLst/>
          </a:prstGeom>
          <a:noFill/>
        </p:spPr>
        <p:txBody>
          <a:bodyPr wrap="square" rtlCol="0">
            <a:spAutoFit/>
          </a:bodyPr>
          <a:lstStyle/>
          <a:p>
            <a:r>
              <a:rPr lang="en-US" sz="2100" b="1" spc="225" dirty="0" smtClean="0">
                <a:solidFill>
                  <a:prstClr val="white"/>
                </a:solidFill>
              </a:rPr>
              <a:t>2</a:t>
            </a:r>
            <a:r>
              <a:rPr sz="2100" b="1" spc="225" dirty="0" smtClean="0">
                <a:solidFill>
                  <a:prstClr val="white"/>
                </a:solidFill>
              </a:rPr>
              <a:t>.1</a:t>
            </a:r>
            <a:r>
              <a:rPr lang="zh-CN" altLang="en-US" sz="2100" b="1" spc="225" dirty="0">
                <a:solidFill>
                  <a:prstClr val="white"/>
                </a:solidFill>
              </a:rPr>
              <a:t>数据标注的概念及其对人工智能发展的意义 </a:t>
            </a:r>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4"/>
            <a:ext cx="8185830" cy="5077532"/>
          </a:xfrm>
        </p:spPr>
        <p:txBody>
          <a:bodyPr>
            <a:normAutofit/>
          </a:bodyPr>
          <a:lstStyle/>
          <a:p>
            <a:pPr>
              <a:lnSpc>
                <a:spcPct val="120000"/>
              </a:lnSpc>
            </a:pPr>
            <a:r>
              <a:rPr lang="zh-CN" altLang="en-US" sz="1800" b="0" dirty="0" smtClean="0">
                <a:solidFill>
                  <a:schemeClr val="tx1">
                    <a:lumMod val="75000"/>
                    <a:lumOff val="25000"/>
                  </a:schemeClr>
                </a:solidFill>
              </a:rPr>
              <a:t>数据</a:t>
            </a:r>
            <a:r>
              <a:rPr lang="zh-CN" altLang="en-US" sz="1800" b="0" dirty="0">
                <a:solidFill>
                  <a:schemeClr val="tx1">
                    <a:lumMod val="75000"/>
                    <a:lumOff val="25000"/>
                  </a:schemeClr>
                </a:solidFill>
              </a:rPr>
              <a:t>标注就是将大量的、原始的、杂乱的数据转化为规范化的、计算机能够读懂的、标识出关键特征的数据集，从而支持人工智能的相关应用</a:t>
            </a:r>
            <a:r>
              <a:rPr lang="zh-CN" altLang="en-US" sz="1800" b="0" dirty="0" smtClean="0">
                <a:solidFill>
                  <a:schemeClr val="tx1">
                    <a:lumMod val="75000"/>
                    <a:lumOff val="25000"/>
                  </a:schemeClr>
                </a:solidFill>
              </a:rPr>
              <a:t>。</a:t>
            </a:r>
            <a:endParaRPr lang="en-US" altLang="zh-CN" sz="1800" b="0" dirty="0" smtClean="0">
              <a:solidFill>
                <a:schemeClr val="tx1">
                  <a:lumMod val="75000"/>
                  <a:lumOff val="25000"/>
                </a:schemeClr>
              </a:solidFill>
            </a:endParaRPr>
          </a:p>
          <a:p>
            <a:pPr>
              <a:lnSpc>
                <a:spcPct val="120000"/>
              </a:lnSpc>
            </a:pPr>
            <a:r>
              <a:rPr lang="zh-CN" altLang="en-US" sz="1800" b="0" dirty="0">
                <a:solidFill>
                  <a:schemeClr val="tx1">
                    <a:lumMod val="75000"/>
                    <a:lumOff val="25000"/>
                  </a:schemeClr>
                </a:solidFill>
              </a:rPr>
              <a:t>数据标注质量影响人工智能应用效率。高质量的、准确标注的数据将最大限度地提升人工智能判别的准确率；而低质量的、没有准确标注的数据会影响、甚至阻滞人工智能的进化能力</a:t>
            </a:r>
            <a:r>
              <a:rPr lang="zh-CN" altLang="en-US" sz="1800" b="0" dirty="0" smtClean="0">
                <a:solidFill>
                  <a:schemeClr val="tx1">
                    <a:lumMod val="75000"/>
                    <a:lumOff val="25000"/>
                  </a:schemeClr>
                </a:solidFill>
              </a:rPr>
              <a:t>。</a:t>
            </a:r>
            <a:endParaRPr lang="en-US" altLang="zh-CN" sz="1800" b="0" dirty="0" smtClean="0">
              <a:solidFill>
                <a:schemeClr val="tx1">
                  <a:lumMod val="75000"/>
                  <a:lumOff val="25000"/>
                </a:schemeClr>
              </a:solidFill>
            </a:endParaRPr>
          </a:p>
          <a:p>
            <a:pPr>
              <a:lnSpc>
                <a:spcPct val="120000"/>
              </a:lnSpc>
            </a:pPr>
            <a:r>
              <a:rPr lang="zh-CN" altLang="en-US" sz="1800" b="0" dirty="0">
                <a:solidFill>
                  <a:schemeClr val="tx1">
                    <a:lumMod val="75000"/>
                    <a:lumOff val="25000"/>
                  </a:schemeClr>
                </a:solidFill>
              </a:rPr>
              <a:t>人工智能的发展促使数据标注不断进步。随着人工智能的不断发展，对数据标注的需求度越来越高，数据标注任务要求不断细化，以满足不同行业对数据的不同</a:t>
            </a:r>
            <a:r>
              <a:rPr lang="zh-CN" altLang="en-US" sz="1800" b="0" dirty="0" smtClean="0">
                <a:solidFill>
                  <a:schemeClr val="tx1">
                    <a:lumMod val="75000"/>
                    <a:lumOff val="25000"/>
                  </a:schemeClr>
                </a:solidFill>
              </a:rPr>
              <a:t>要求。</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因此，高质量的数据标注对于促进人工智能行业健康发展具有重要意义。</a:t>
            </a:r>
            <a:endParaRPr lang="en-US" altLang="zh-CN" sz="1800" b="0" dirty="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smtClean="0"/>
              <a:t>2</a:t>
            </a:r>
            <a:r>
              <a:rPr lang="zh-CN" altLang="en-US" sz="2000" dirty="0" smtClean="0"/>
              <a:t>.</a:t>
            </a:r>
            <a:r>
              <a:rPr lang="en-US" altLang="zh-CN" sz="2000" dirty="0" smtClean="0"/>
              <a:t>1</a:t>
            </a:r>
            <a:r>
              <a:rPr lang="zh-CN" altLang="en-US" sz="2000" dirty="0" smtClean="0"/>
              <a:t>.</a:t>
            </a:r>
            <a:r>
              <a:rPr lang="en-US" altLang="zh-CN" sz="2000" dirty="0" smtClean="0"/>
              <a:t>3  </a:t>
            </a:r>
            <a:r>
              <a:rPr lang="zh-CN" altLang="en-US" sz="2000" dirty="0" smtClean="0"/>
              <a:t>数据</a:t>
            </a:r>
            <a:r>
              <a:rPr lang="zh-CN" altLang="en-US" sz="2000" dirty="0"/>
              <a:t>标注对于人工智能应用的意义</a:t>
            </a:r>
            <a:endParaRPr lang="zh-CN" altLang="en-US" sz="2000" dirty="0"/>
          </a:p>
        </p:txBody>
      </p:sp>
      <p:sp>
        <p:nvSpPr>
          <p:cNvPr id="7" name="TextBox 6"/>
          <p:cNvSpPr txBox="1"/>
          <p:nvPr/>
        </p:nvSpPr>
        <p:spPr>
          <a:xfrm>
            <a:off x="25461" y="152805"/>
            <a:ext cx="6438394" cy="415498"/>
          </a:xfrm>
          <a:prstGeom prst="rect">
            <a:avLst/>
          </a:prstGeom>
          <a:noFill/>
        </p:spPr>
        <p:txBody>
          <a:bodyPr wrap="square" rtlCol="0">
            <a:spAutoFit/>
          </a:bodyPr>
          <a:lstStyle/>
          <a:p>
            <a:r>
              <a:rPr lang="en-US" sz="2100" b="1" spc="225" dirty="0" smtClean="0">
                <a:solidFill>
                  <a:prstClr val="white"/>
                </a:solidFill>
              </a:rPr>
              <a:t>2</a:t>
            </a:r>
            <a:r>
              <a:rPr sz="2100" b="1" spc="225" dirty="0" smtClean="0">
                <a:solidFill>
                  <a:prstClr val="white"/>
                </a:solidFill>
              </a:rPr>
              <a:t>.1</a:t>
            </a:r>
            <a:r>
              <a:rPr lang="zh-CN" altLang="en-US" sz="2100" b="1" spc="225" dirty="0">
                <a:solidFill>
                  <a:prstClr val="white"/>
                </a:solidFill>
              </a:rPr>
              <a:t>数据标注的概念及其对人工智能发展的意义 </a:t>
            </a:r>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p:cNvGrpSpPr/>
          <p:nvPr/>
        </p:nvGrpSpPr>
        <p:grpSpPr>
          <a:xfrm>
            <a:off x="690258" y="854039"/>
            <a:ext cx="7832785" cy="781050"/>
            <a:chOff x="2788580" y="1152524"/>
            <a:chExt cx="3730770" cy="781050"/>
          </a:xfrm>
        </p:grpSpPr>
        <p:grpSp>
          <p:nvGrpSpPr>
            <p:cNvPr id="6" name="组合 5"/>
            <p:cNvGrpSpPr/>
            <p:nvPr/>
          </p:nvGrpSpPr>
          <p:grpSpPr>
            <a:xfrm>
              <a:off x="2788580" y="1152524"/>
              <a:ext cx="3730770" cy="781050"/>
              <a:chOff x="3725790" y="847725"/>
              <a:chExt cx="3730770" cy="781050"/>
            </a:xfrm>
          </p:grpSpPr>
          <p:grpSp>
            <p:nvGrpSpPr>
              <p:cNvPr id="7" name="组合 6"/>
              <p:cNvGrpSpPr/>
              <p:nvPr/>
            </p:nvGrpSpPr>
            <p:grpSpPr>
              <a:xfrm>
                <a:off x="3725790" y="1019175"/>
                <a:ext cx="627135" cy="609600"/>
                <a:chOff x="3725790" y="1019175"/>
                <a:chExt cx="627135" cy="609600"/>
              </a:xfrm>
            </p:grpSpPr>
            <p:sp>
              <p:nvSpPr>
                <p:cNvPr id="12" name="任意多边形 11"/>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3" name="直角三角形 12"/>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8" name="组合 7"/>
              <p:cNvGrpSpPr/>
              <p:nvPr/>
            </p:nvGrpSpPr>
            <p:grpSpPr>
              <a:xfrm flipH="1">
                <a:off x="6829425" y="1019175"/>
                <a:ext cx="627135" cy="609600"/>
                <a:chOff x="3725790" y="1019175"/>
                <a:chExt cx="627135" cy="609600"/>
              </a:xfrm>
            </p:grpSpPr>
            <p:sp>
              <p:nvSpPr>
                <p:cNvPr id="10" name="任意多边形 9"/>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直角三角形 10"/>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9" name="矩形 8"/>
              <p:cNvSpPr/>
              <p:nvPr/>
            </p:nvSpPr>
            <p:spPr>
              <a:xfrm>
                <a:off x="4181475" y="847725"/>
                <a:ext cx="2819400"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14" name="文本框 14"/>
            <p:cNvSpPr txBox="1"/>
            <p:nvPr/>
          </p:nvSpPr>
          <p:spPr>
            <a:xfrm>
              <a:off x="3247868" y="1169836"/>
              <a:ext cx="2753382" cy="523220"/>
            </a:xfrm>
            <a:prstGeom prst="rect">
              <a:avLst/>
            </a:prstGeom>
            <a:noFill/>
          </p:spPr>
          <p:txBody>
            <a:bodyPr wrap="none" rtlCol="0">
              <a:spAutoFit/>
            </a:bodyPr>
            <a:lstStyle/>
            <a:p>
              <a:pPr algn="ctr"/>
              <a:r>
                <a:rPr lang="zh-CN" altLang="en-US" sz="2800" dirty="0" smtClean="0">
                  <a:solidFill>
                    <a:srgbClr val="FFC000"/>
                  </a:solidFill>
                </a:rPr>
                <a:t>第</a:t>
              </a:r>
              <a:r>
                <a:rPr lang="en-US" altLang="zh-CN" sz="2800" dirty="0">
                  <a:solidFill>
                    <a:srgbClr val="FFC000"/>
                  </a:solidFill>
                </a:rPr>
                <a:t>2</a:t>
              </a:r>
              <a:r>
                <a:rPr lang="zh-CN" altLang="en-US" sz="2800" dirty="0" smtClean="0">
                  <a:solidFill>
                    <a:srgbClr val="FFC000"/>
                  </a:solidFill>
                </a:rPr>
                <a:t>章　数据标注概念、工具与方法</a:t>
              </a:r>
              <a:endParaRPr lang="zh-CN" altLang="en-US" sz="2800" dirty="0" smtClean="0">
                <a:solidFill>
                  <a:srgbClr val="FFC000"/>
                </a:solidFill>
              </a:endParaRPr>
            </a:p>
          </p:txBody>
        </p:sp>
      </p:grpSp>
      <p:sp>
        <p:nvSpPr>
          <p:cNvPr id="48" name="矩形 47"/>
          <p:cNvSpPr/>
          <p:nvPr/>
        </p:nvSpPr>
        <p:spPr>
          <a:xfrm>
            <a:off x="1485903" y="2160000"/>
            <a:ext cx="184731" cy="415498"/>
          </a:xfrm>
          <a:prstGeom prst="rect">
            <a:avLst/>
          </a:prstGeom>
        </p:spPr>
        <p:txBody>
          <a:bodyPr wrap="none">
            <a:spAutoFit/>
          </a:bodyPr>
          <a:lstStyle/>
          <a:p>
            <a:endParaRPr lang="zh-CN" altLang="en-US" sz="2100" spc="225" dirty="0" smtClean="0">
              <a:solidFill>
                <a:schemeClr val="bg1"/>
              </a:solidFill>
            </a:endParaRPr>
          </a:p>
        </p:txBody>
      </p:sp>
      <p:sp>
        <p:nvSpPr>
          <p:cNvPr id="49" name="圆角矩形 48"/>
          <p:cNvSpPr/>
          <p:nvPr/>
        </p:nvSpPr>
        <p:spPr>
          <a:xfrm>
            <a:off x="1414394" y="2183191"/>
            <a:ext cx="6315212"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a:solidFill>
                  <a:schemeClr val="bg1"/>
                </a:solidFill>
              </a:rPr>
              <a:t>2.1 </a:t>
            </a:r>
            <a:r>
              <a:rPr lang="zh-CN" altLang="zh-CN" sz="2000" spc="225" dirty="0">
                <a:solidFill>
                  <a:schemeClr val="bg1"/>
                </a:solidFill>
              </a:rPr>
              <a:t>数据标注的概念及其对人工智能发展的意义</a:t>
            </a:r>
            <a:r>
              <a:rPr lang="en-US" altLang="zh-CN" sz="2000" spc="225" dirty="0">
                <a:solidFill>
                  <a:schemeClr val="bg1"/>
                </a:solidFill>
              </a:rPr>
              <a:t> </a:t>
            </a:r>
            <a:endParaRPr lang="zh-CN" altLang="en-US" sz="2000" spc="225" dirty="0">
              <a:solidFill>
                <a:schemeClr val="bg1"/>
              </a:solidFill>
            </a:endParaRPr>
          </a:p>
        </p:txBody>
      </p:sp>
      <p:sp>
        <p:nvSpPr>
          <p:cNvPr id="32" name="矩形 31"/>
          <p:cNvSpPr/>
          <p:nvPr/>
        </p:nvSpPr>
        <p:spPr>
          <a:xfrm>
            <a:off x="-7143" y="-9147"/>
            <a:ext cx="9158090" cy="3821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36" name="矩形 35"/>
          <p:cNvSpPr/>
          <p:nvPr/>
        </p:nvSpPr>
        <p:spPr>
          <a:xfrm>
            <a:off x="0" y="6669360"/>
            <a:ext cx="9144000" cy="1886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5" name="矩形 44"/>
          <p:cNvSpPr/>
          <p:nvPr/>
        </p:nvSpPr>
        <p:spPr>
          <a:xfrm>
            <a:off x="7929" y="38314"/>
            <a:ext cx="2954655" cy="300082"/>
          </a:xfrm>
          <a:prstGeom prst="rect">
            <a:avLst/>
          </a:prstGeom>
        </p:spPr>
        <p:txBody>
          <a:bodyPr wrap="none">
            <a:spAutoFit/>
          </a:bodyPr>
          <a:lstStyle/>
          <a:p>
            <a:r>
              <a:rPr lang="zh-CN" altLang="en-US" sz="1350" dirty="0">
                <a:solidFill>
                  <a:prstClr val="white"/>
                </a:solidFill>
              </a:rPr>
              <a:t>人工智能技术应用核心课程系列教材</a:t>
            </a:r>
            <a:endParaRPr lang="zh-CN" altLang="en-US" sz="1350" dirty="0">
              <a:solidFill>
                <a:prstClr val="white"/>
              </a:solidFill>
            </a:endParaRPr>
          </a:p>
        </p:txBody>
      </p:sp>
      <p:sp>
        <p:nvSpPr>
          <p:cNvPr id="2" name="圆角矩形 1"/>
          <p:cNvSpPr/>
          <p:nvPr/>
        </p:nvSpPr>
        <p:spPr>
          <a:xfrm>
            <a:off x="1394284" y="2660047"/>
            <a:ext cx="6315213" cy="415498"/>
          </a:xfrm>
          <a:prstGeom prst="round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spc="225" dirty="0">
                <a:solidFill>
                  <a:schemeClr val="bg1"/>
                </a:solidFill>
              </a:rPr>
              <a:t>2.2 </a:t>
            </a:r>
            <a:r>
              <a:rPr lang="zh-CN" altLang="en-US" sz="2000" spc="225" dirty="0">
                <a:solidFill>
                  <a:schemeClr val="bg1"/>
                </a:solidFill>
              </a:rPr>
              <a:t>数据标注对象</a:t>
            </a:r>
            <a:endParaRPr lang="zh-CN" altLang="en-US" sz="2000" spc="225" dirty="0">
              <a:solidFill>
                <a:schemeClr val="bg1"/>
              </a:solidFill>
            </a:endParaRPr>
          </a:p>
        </p:txBody>
      </p:sp>
      <p:sp>
        <p:nvSpPr>
          <p:cNvPr id="40" name="圆角矩形 39"/>
          <p:cNvSpPr/>
          <p:nvPr/>
        </p:nvSpPr>
        <p:spPr>
          <a:xfrm>
            <a:off x="1409882" y="3146067"/>
            <a:ext cx="6315212"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smtClean="0">
                <a:solidFill>
                  <a:schemeClr val="bg1"/>
                </a:solidFill>
              </a:rPr>
              <a:t>2.3 </a:t>
            </a:r>
            <a:r>
              <a:rPr lang="zh-CN" altLang="en-US" sz="2000" spc="225" dirty="0" smtClean="0">
                <a:solidFill>
                  <a:schemeClr val="bg1"/>
                </a:solidFill>
              </a:rPr>
              <a:t>数据</a:t>
            </a:r>
            <a:r>
              <a:rPr lang="zh-CN" altLang="en-US" sz="2000" spc="225" dirty="0">
                <a:solidFill>
                  <a:schemeClr val="bg1"/>
                </a:solidFill>
              </a:rPr>
              <a:t>标注工具与平台</a:t>
            </a:r>
            <a:endParaRPr lang="zh-CN" altLang="en-US" sz="2000" spc="225" dirty="0">
              <a:solidFill>
                <a:schemeClr val="bg1"/>
              </a:solidFill>
            </a:endParaRPr>
          </a:p>
        </p:txBody>
      </p:sp>
      <p:sp>
        <p:nvSpPr>
          <p:cNvPr id="41" name="圆角矩形 40"/>
          <p:cNvSpPr/>
          <p:nvPr/>
        </p:nvSpPr>
        <p:spPr>
          <a:xfrm>
            <a:off x="1403072" y="3616488"/>
            <a:ext cx="6315212"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smtClean="0">
                <a:solidFill>
                  <a:schemeClr val="bg1"/>
                </a:solidFill>
              </a:rPr>
              <a:t>2.4 </a:t>
            </a:r>
            <a:r>
              <a:rPr lang="zh-CN" altLang="en-US" sz="2000" spc="225" dirty="0" smtClean="0">
                <a:solidFill>
                  <a:schemeClr val="bg1"/>
                </a:solidFill>
              </a:rPr>
              <a:t>典型</a:t>
            </a:r>
            <a:r>
              <a:rPr lang="zh-CN" altLang="en-US" sz="2000" spc="225" dirty="0">
                <a:solidFill>
                  <a:schemeClr val="bg1"/>
                </a:solidFill>
              </a:rPr>
              <a:t>数据标注技术</a:t>
            </a:r>
            <a:endParaRPr lang="zh-CN" altLang="en-US" sz="2000" spc="225" dirty="0">
              <a:solidFill>
                <a:schemeClr val="bg1"/>
              </a:solidFill>
            </a:endParaRPr>
          </a:p>
        </p:txBody>
      </p:sp>
      <p:sp>
        <p:nvSpPr>
          <p:cNvPr id="44" name="圆角矩形 43"/>
          <p:cNvSpPr/>
          <p:nvPr/>
        </p:nvSpPr>
        <p:spPr>
          <a:xfrm>
            <a:off x="1403072" y="4088372"/>
            <a:ext cx="6311995"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smtClean="0">
                <a:solidFill>
                  <a:schemeClr val="bg1"/>
                </a:solidFill>
              </a:rPr>
              <a:t>2.5 </a:t>
            </a:r>
            <a:r>
              <a:rPr lang="zh-CN" altLang="en-US" sz="2000" spc="225" dirty="0" smtClean="0">
                <a:solidFill>
                  <a:schemeClr val="bg1"/>
                </a:solidFill>
              </a:rPr>
              <a:t>数据</a:t>
            </a:r>
            <a:r>
              <a:rPr lang="zh-CN" altLang="en-US" sz="2000" spc="225" dirty="0">
                <a:solidFill>
                  <a:schemeClr val="bg1"/>
                </a:solidFill>
              </a:rPr>
              <a:t>标注工程 </a:t>
            </a:r>
            <a:endParaRPr lang="zh-CN" altLang="en-US" sz="2000" spc="225" dirty="0">
              <a:solidFill>
                <a:schemeClr val="bg1"/>
              </a:solidFill>
            </a:endParaRPr>
          </a:p>
        </p:txBody>
      </p:sp>
      <p:sp>
        <p:nvSpPr>
          <p:cNvPr id="21" name="圆角矩形 20"/>
          <p:cNvSpPr/>
          <p:nvPr/>
        </p:nvSpPr>
        <p:spPr>
          <a:xfrm>
            <a:off x="1395894" y="4540376"/>
            <a:ext cx="6311995"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smtClean="0">
                <a:solidFill>
                  <a:schemeClr val="bg1"/>
                </a:solidFill>
              </a:rPr>
              <a:t>2.6 </a:t>
            </a:r>
            <a:r>
              <a:rPr lang="zh-CN" altLang="en-US" sz="2000" spc="225" dirty="0" smtClean="0">
                <a:solidFill>
                  <a:schemeClr val="bg1"/>
                </a:solidFill>
              </a:rPr>
              <a:t>本章小结 </a:t>
            </a:r>
            <a:endParaRPr lang="zh-CN" altLang="en-US" sz="2000" spc="225" dirty="0">
              <a:solidFill>
                <a:schemeClr val="bg1"/>
              </a:solidFill>
            </a:endParaRPr>
          </a:p>
        </p:txBody>
      </p:sp>
      <p:sp>
        <p:nvSpPr>
          <p:cNvPr id="22" name="圆角矩形 21"/>
          <p:cNvSpPr/>
          <p:nvPr/>
        </p:nvSpPr>
        <p:spPr>
          <a:xfrm>
            <a:off x="1388405" y="5008146"/>
            <a:ext cx="6311995"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smtClean="0">
                <a:solidFill>
                  <a:schemeClr val="bg1"/>
                </a:solidFill>
              </a:rPr>
              <a:t>2.7 </a:t>
            </a:r>
            <a:r>
              <a:rPr lang="zh-CN" altLang="en-US" sz="2000" spc="225" dirty="0" smtClean="0">
                <a:solidFill>
                  <a:schemeClr val="bg1"/>
                </a:solidFill>
              </a:rPr>
              <a:t>作业与练习 </a:t>
            </a:r>
            <a:endParaRPr lang="zh-CN" altLang="en-US" sz="2000" spc="225" dirty="0">
              <a:solidFill>
                <a:schemeClr val="bg1"/>
              </a:solidFill>
            </a:endParaRPr>
          </a:p>
        </p:txBody>
      </p:sp>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4"/>
            <a:ext cx="8185830" cy="3867966"/>
          </a:xfrm>
        </p:spPr>
        <p:txBody>
          <a:bodyPr>
            <a:normAutofit/>
          </a:bodyPr>
          <a:lstStyle/>
          <a:p>
            <a:pPr>
              <a:lnSpc>
                <a:spcPct val="120000"/>
              </a:lnSpc>
            </a:pPr>
            <a:r>
              <a:rPr lang="zh-CN" altLang="en-US" sz="1800" b="0" dirty="0">
                <a:solidFill>
                  <a:schemeClr val="tx1">
                    <a:lumMod val="75000"/>
                    <a:lumOff val="25000"/>
                  </a:schemeClr>
                </a:solidFill>
              </a:rPr>
              <a:t>数据集（</a:t>
            </a:r>
            <a:r>
              <a:rPr lang="en-US" altLang="zh-CN" sz="1800" b="0" dirty="0">
                <a:solidFill>
                  <a:schemeClr val="tx1">
                    <a:lumMod val="75000"/>
                    <a:lumOff val="25000"/>
                  </a:schemeClr>
                </a:solidFill>
              </a:rPr>
              <a:t>Data Set</a:t>
            </a:r>
            <a:r>
              <a:rPr lang="zh-CN" altLang="en-US" sz="1800" b="0" dirty="0">
                <a:solidFill>
                  <a:schemeClr val="tx1">
                    <a:lumMod val="75000"/>
                    <a:lumOff val="25000"/>
                  </a:schemeClr>
                </a:solidFill>
              </a:rPr>
              <a:t>）又称为资料集、数据集合、资料集合或数据产品，是经过规范化整理、工程化标注的一组具有统一格式的数据</a:t>
            </a:r>
            <a:r>
              <a:rPr lang="zh-CN" altLang="en-US" sz="1800" b="0" dirty="0" smtClean="0">
                <a:solidFill>
                  <a:schemeClr val="tx1">
                    <a:lumMod val="75000"/>
                    <a:lumOff val="25000"/>
                  </a:schemeClr>
                </a:solidFill>
              </a:rPr>
              <a:t>集合。</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人工智能</a:t>
            </a:r>
            <a:r>
              <a:rPr lang="zh-CN" altLang="en-US" sz="1800" b="0" dirty="0">
                <a:solidFill>
                  <a:schemeClr val="tx1">
                    <a:lumMod val="75000"/>
                    <a:lumOff val="25000"/>
                  </a:schemeClr>
                </a:solidFill>
              </a:rPr>
              <a:t>数据集主要分为语音数据集、图像数据集、文本数据集和视频数据集等四大类别</a:t>
            </a:r>
            <a:r>
              <a:rPr lang="zh-CN" altLang="en-US" sz="1800" b="0" dirty="0" smtClean="0">
                <a:solidFill>
                  <a:schemeClr val="tx1">
                    <a:lumMod val="75000"/>
                    <a:lumOff val="25000"/>
                  </a:schemeClr>
                </a:solidFill>
              </a:rPr>
              <a:t>。</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部分国际人工智能公共数据集如下：</a:t>
            </a:r>
            <a:endParaRPr lang="en-US" altLang="zh-CN" sz="1800" b="0" dirty="0" smtClean="0">
              <a:solidFill>
                <a:schemeClr val="tx1">
                  <a:lumMod val="75000"/>
                  <a:lumOff val="25000"/>
                </a:schemeClr>
              </a:solidFill>
            </a:endParaRPr>
          </a:p>
          <a:p>
            <a:pPr>
              <a:lnSpc>
                <a:spcPct val="120000"/>
              </a:lnSpc>
            </a:pP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2</a:t>
            </a:r>
            <a:r>
              <a:rPr lang="zh-CN" altLang="en-US" sz="2000" dirty="0" smtClean="0"/>
              <a:t>.1  </a:t>
            </a:r>
            <a:r>
              <a:rPr lang="zh-CN" altLang="en-US" sz="2000" dirty="0"/>
              <a:t>数据</a:t>
            </a:r>
            <a:r>
              <a:rPr lang="zh-CN" altLang="en-US" sz="2000" dirty="0" smtClean="0"/>
              <a:t>集</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sz="2100" b="1" spc="225" dirty="0" smtClean="0">
                <a:solidFill>
                  <a:prstClr val="white"/>
                </a:solidFill>
              </a:rPr>
              <a:t>2</a:t>
            </a:r>
            <a:r>
              <a:rPr sz="2100" b="1" spc="225" dirty="0" smtClean="0">
                <a:solidFill>
                  <a:prstClr val="white"/>
                </a:solidFill>
              </a:rPr>
              <a:t>.</a:t>
            </a:r>
            <a:r>
              <a:rPr lang="en-US" sz="2100" b="1" spc="225" dirty="0" smtClean="0">
                <a:solidFill>
                  <a:prstClr val="white"/>
                </a:solidFill>
              </a:rPr>
              <a:t>2  </a:t>
            </a:r>
            <a:r>
              <a:rPr lang="zh-CN" altLang="en-US" sz="2100" b="1" spc="225" dirty="0" smtClean="0">
                <a:solidFill>
                  <a:prstClr val="white"/>
                </a:solidFill>
              </a:rPr>
              <a:t>数据</a:t>
            </a:r>
            <a:r>
              <a:rPr lang="zh-CN" altLang="en-US" sz="2100" b="1" spc="225" dirty="0">
                <a:solidFill>
                  <a:prstClr val="white"/>
                </a:solidFill>
              </a:rPr>
              <a:t>标注对象</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pic>
        <p:nvPicPr>
          <p:cNvPr id="2049" name="Picture 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25011" y="3371767"/>
            <a:ext cx="6993941" cy="31286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3"/>
            <a:ext cx="8185830" cy="4870697"/>
          </a:xfrm>
        </p:spPr>
        <p:txBody>
          <a:bodyPr>
            <a:normAutofit/>
          </a:bodyPr>
          <a:lstStyle/>
          <a:p>
            <a:pPr>
              <a:lnSpc>
                <a:spcPct val="120000"/>
              </a:lnSpc>
            </a:pPr>
            <a:r>
              <a:rPr lang="zh-CN" altLang="en-US" sz="1800" b="0" dirty="0">
                <a:solidFill>
                  <a:schemeClr val="tx1">
                    <a:lumMod val="75000"/>
                    <a:lumOff val="25000"/>
                  </a:schemeClr>
                </a:solidFill>
              </a:rPr>
              <a:t>在人与人、人与计算机的信息交互中，需要一种更加方便、自然的交互方式</a:t>
            </a:r>
            <a:r>
              <a:rPr lang="zh-CN" altLang="en-US" sz="1800" b="0" dirty="0" smtClean="0">
                <a:solidFill>
                  <a:schemeClr val="tx1">
                    <a:lumMod val="75000"/>
                    <a:lumOff val="25000"/>
                  </a:schemeClr>
                </a:solidFill>
              </a:rPr>
              <a:t>。语言</a:t>
            </a:r>
            <a:r>
              <a:rPr lang="zh-CN" altLang="en-US" sz="1800" b="0" dirty="0">
                <a:solidFill>
                  <a:schemeClr val="tx1">
                    <a:lumMod val="75000"/>
                    <a:lumOff val="25000"/>
                  </a:schemeClr>
                </a:solidFill>
              </a:rPr>
              <a:t>是人类最重要、最有效、最常用和最方便的信息交流形式</a:t>
            </a:r>
            <a:r>
              <a:rPr lang="zh-CN" altLang="en-US" sz="1800" b="0" dirty="0" smtClean="0">
                <a:solidFill>
                  <a:schemeClr val="tx1">
                    <a:lumMod val="75000"/>
                    <a:lumOff val="25000"/>
                  </a:schemeClr>
                </a:solidFill>
              </a:rPr>
              <a:t>。</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人工智能语音数据集，按照不同的维度，通常可以分为三种：</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1</a:t>
            </a:r>
            <a:r>
              <a:rPr lang="zh-CN" altLang="en-US" sz="1800" b="0" dirty="0" smtClean="0">
                <a:solidFill>
                  <a:schemeClr val="tx1">
                    <a:lumMod val="75000"/>
                    <a:lumOff val="25000"/>
                  </a:schemeClr>
                </a:solidFill>
              </a:rPr>
              <a:t>）按照语种</a:t>
            </a:r>
            <a:r>
              <a:rPr lang="zh-CN" altLang="en-US" sz="1800" b="0" dirty="0">
                <a:solidFill>
                  <a:schemeClr val="tx1">
                    <a:lumMod val="75000"/>
                    <a:lumOff val="25000"/>
                  </a:schemeClr>
                </a:solidFill>
              </a:rPr>
              <a:t>分类：世界上有五千多种语言，目前的语音</a:t>
            </a:r>
            <a:r>
              <a:rPr lang="zh-CN" altLang="en-US" sz="1800" b="0" dirty="0" smtClean="0">
                <a:solidFill>
                  <a:schemeClr val="tx1">
                    <a:lumMod val="75000"/>
                    <a:lumOff val="25000"/>
                  </a:schemeClr>
                </a:solidFill>
              </a:rPr>
              <a:t>数据集主要</a:t>
            </a:r>
            <a:r>
              <a:rPr lang="zh-CN" altLang="en-US" sz="1800" b="0" dirty="0">
                <a:solidFill>
                  <a:schemeClr val="tx1">
                    <a:lumMod val="75000"/>
                    <a:lumOff val="25000"/>
                  </a:schemeClr>
                </a:solidFill>
              </a:rPr>
              <a:t>包含了使用人数较多的语种，如汉语、英语、西班牙语、</a:t>
            </a:r>
            <a:r>
              <a:rPr lang="zh-CN" altLang="en-US" sz="1800" b="0" dirty="0" smtClean="0">
                <a:solidFill>
                  <a:schemeClr val="tx1">
                    <a:lumMod val="75000"/>
                    <a:lumOff val="25000"/>
                  </a:schemeClr>
                </a:solidFill>
              </a:rPr>
              <a:t>法语等。</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2</a:t>
            </a:r>
            <a:r>
              <a:rPr lang="zh-CN" altLang="en-US" sz="1800" b="0" dirty="0" smtClean="0">
                <a:solidFill>
                  <a:schemeClr val="tx1">
                    <a:lumMod val="75000"/>
                    <a:lumOff val="25000"/>
                  </a:schemeClr>
                </a:solidFill>
              </a:rPr>
              <a:t>）按照方言分类：汉语有七大方言区，外语也有方言之分</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3</a:t>
            </a:r>
            <a:r>
              <a:rPr lang="zh-CN" altLang="en-US" sz="1800" b="0" dirty="0">
                <a:solidFill>
                  <a:schemeClr val="tx1">
                    <a:lumMod val="75000"/>
                    <a:lumOff val="25000"/>
                  </a:schemeClr>
                </a:solidFill>
              </a:rPr>
              <a:t>）按照语音属性分类：朗读语音、引导语音、自然对话、情感语音</a:t>
            </a:r>
            <a:r>
              <a:rPr lang="zh-CN" altLang="en-US" sz="1800" b="0" dirty="0" smtClean="0">
                <a:solidFill>
                  <a:schemeClr val="tx1">
                    <a:lumMod val="75000"/>
                    <a:lumOff val="25000"/>
                  </a:schemeClr>
                </a:solidFill>
              </a:rPr>
              <a:t>等</a:t>
            </a:r>
            <a:endParaRPr lang="en-US" altLang="zh-CN" sz="1800" b="0" dirty="0" smtClean="0">
              <a:solidFill>
                <a:schemeClr val="tx1">
                  <a:lumMod val="75000"/>
                  <a:lumOff val="25000"/>
                </a:schemeClr>
              </a:solidFill>
            </a:endParaRPr>
          </a:p>
          <a:p>
            <a:pPr>
              <a:lnSpc>
                <a:spcPct val="120000"/>
              </a:lnSpc>
            </a:pPr>
            <a:r>
              <a:rPr lang="zh-CN" altLang="en-US" sz="1800" b="0" dirty="0">
                <a:solidFill>
                  <a:schemeClr val="tx1">
                    <a:lumMod val="75000"/>
                    <a:lumOff val="25000"/>
                  </a:schemeClr>
                </a:solidFill>
              </a:rPr>
              <a:t>上述各种维度的语音</a:t>
            </a:r>
            <a:r>
              <a:rPr lang="zh-CN" altLang="en-US" sz="1800" b="0" dirty="0" smtClean="0">
                <a:solidFill>
                  <a:schemeClr val="tx1">
                    <a:lumMod val="75000"/>
                    <a:lumOff val="25000"/>
                  </a:schemeClr>
                </a:solidFill>
              </a:rPr>
              <a:t>数据集，</a:t>
            </a:r>
            <a:r>
              <a:rPr lang="zh-CN" altLang="en-US" sz="1800" b="0" dirty="0">
                <a:solidFill>
                  <a:schemeClr val="tx1">
                    <a:lumMod val="75000"/>
                    <a:lumOff val="25000"/>
                  </a:schemeClr>
                </a:solidFill>
              </a:rPr>
              <a:t>在形成数据产品的时候往往会多维度结合，各种维度交错，构成大量的语音数据产品。</a:t>
            </a:r>
            <a:endParaRPr lang="en-US" altLang="zh-CN" sz="1800" b="0" dirty="0" smtClean="0">
              <a:solidFill>
                <a:schemeClr val="tx1">
                  <a:lumMod val="75000"/>
                  <a:lumOff val="25000"/>
                </a:schemeClr>
              </a:solidFill>
            </a:endParaRPr>
          </a:p>
          <a:p>
            <a:pPr>
              <a:lnSpc>
                <a:spcPct val="120000"/>
              </a:lnSpc>
            </a:pP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2</a:t>
            </a:r>
            <a:r>
              <a:rPr lang="zh-CN" altLang="en-US" sz="2000" dirty="0" smtClean="0"/>
              <a:t>.</a:t>
            </a:r>
            <a:r>
              <a:rPr lang="en-US" altLang="zh-CN" sz="2000" dirty="0"/>
              <a:t>2</a:t>
            </a:r>
            <a:r>
              <a:rPr lang="zh-CN" altLang="en-US" sz="2000" dirty="0" smtClean="0"/>
              <a:t>  语音数据集</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sz="2100" b="1" spc="225" dirty="0" smtClean="0">
                <a:solidFill>
                  <a:prstClr val="white"/>
                </a:solidFill>
              </a:rPr>
              <a:t>2</a:t>
            </a:r>
            <a:r>
              <a:rPr sz="2100" b="1" spc="225" dirty="0" smtClean="0">
                <a:solidFill>
                  <a:prstClr val="white"/>
                </a:solidFill>
              </a:rPr>
              <a:t>.</a:t>
            </a:r>
            <a:r>
              <a:rPr lang="en-US" sz="2100" b="1" spc="225" dirty="0" smtClean="0">
                <a:solidFill>
                  <a:prstClr val="white"/>
                </a:solidFill>
              </a:rPr>
              <a:t>2  </a:t>
            </a:r>
            <a:r>
              <a:rPr lang="zh-CN" altLang="en-US" sz="2100" b="1" spc="225" dirty="0" smtClean="0">
                <a:solidFill>
                  <a:prstClr val="white"/>
                </a:solidFill>
              </a:rPr>
              <a:t>数据</a:t>
            </a:r>
            <a:r>
              <a:rPr lang="zh-CN" altLang="en-US" sz="2100" b="1" spc="225" dirty="0">
                <a:solidFill>
                  <a:prstClr val="white"/>
                </a:solidFill>
              </a:rPr>
              <a:t>标注对象</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3"/>
            <a:ext cx="8185830" cy="4870697"/>
          </a:xfrm>
        </p:spPr>
        <p:txBody>
          <a:bodyPr>
            <a:normAutofit/>
          </a:bodyPr>
          <a:lstStyle/>
          <a:p>
            <a:pPr>
              <a:lnSpc>
                <a:spcPct val="120000"/>
              </a:lnSpc>
            </a:pPr>
            <a:r>
              <a:rPr lang="zh-CN" altLang="en-US" sz="1800" b="0" dirty="0">
                <a:solidFill>
                  <a:schemeClr val="tx1">
                    <a:lumMod val="75000"/>
                    <a:lumOff val="25000"/>
                  </a:schemeClr>
                </a:solidFill>
              </a:rPr>
              <a:t>图像（图片）经数字化后形成可以存储、编辑的图像数据（图片数据）。对于计算机来说一张数字化图片的内容信息就相当于一连串代表每个像素位置和颜色的数字序列，也就是图像数据</a:t>
            </a:r>
            <a:r>
              <a:rPr lang="zh-CN" altLang="en-US" sz="1800" b="0" dirty="0" smtClean="0">
                <a:solidFill>
                  <a:schemeClr val="tx1">
                    <a:lumMod val="75000"/>
                    <a:lumOff val="25000"/>
                  </a:schemeClr>
                </a:solidFill>
              </a:rPr>
              <a:t>。</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人工智能</a:t>
            </a:r>
            <a:r>
              <a:rPr lang="zh-CN" altLang="en-US" sz="1800" b="0" dirty="0">
                <a:solidFill>
                  <a:schemeClr val="tx1">
                    <a:lumMod val="75000"/>
                    <a:lumOff val="25000"/>
                  </a:schemeClr>
                </a:solidFill>
              </a:rPr>
              <a:t>图像</a:t>
            </a:r>
            <a:r>
              <a:rPr lang="zh-CN" altLang="en-US" sz="1800" b="0" dirty="0" smtClean="0">
                <a:solidFill>
                  <a:schemeClr val="tx1">
                    <a:lumMod val="75000"/>
                    <a:lumOff val="25000"/>
                  </a:schemeClr>
                </a:solidFill>
              </a:rPr>
              <a:t>数据</a:t>
            </a:r>
            <a:r>
              <a:rPr lang="zh-CN" altLang="en-US" sz="1800" b="0" dirty="0">
                <a:solidFill>
                  <a:schemeClr val="tx1">
                    <a:lumMod val="75000"/>
                    <a:lumOff val="25000"/>
                  </a:schemeClr>
                </a:solidFill>
              </a:rPr>
              <a:t>集，按照不同的维</a:t>
            </a:r>
            <a:r>
              <a:rPr lang="zh-CN" altLang="en-US" sz="1800" b="0" dirty="0" smtClean="0">
                <a:solidFill>
                  <a:schemeClr val="tx1">
                    <a:lumMod val="75000"/>
                    <a:lumOff val="25000"/>
                  </a:schemeClr>
                </a:solidFill>
              </a:rPr>
              <a:t>度，通常可以分为七种：</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1</a:t>
            </a:r>
            <a:r>
              <a:rPr lang="zh-CN" altLang="en-US" sz="1800" b="0" dirty="0">
                <a:solidFill>
                  <a:schemeClr val="tx1">
                    <a:lumMod val="75000"/>
                    <a:lumOff val="25000"/>
                  </a:schemeClr>
                </a:solidFill>
              </a:rPr>
              <a:t>）按照应用场景分类</a:t>
            </a:r>
            <a:r>
              <a:rPr lang="zh-CN" altLang="en-US" sz="1800" b="0" dirty="0" smtClean="0">
                <a:solidFill>
                  <a:schemeClr val="tx1">
                    <a:lumMod val="75000"/>
                    <a:lumOff val="25000"/>
                  </a:schemeClr>
                </a:solidFill>
              </a:rPr>
              <a:t>：例如人体</a:t>
            </a:r>
            <a:r>
              <a:rPr lang="zh-CN" altLang="en-US" sz="1800" b="0" dirty="0">
                <a:solidFill>
                  <a:schemeClr val="tx1">
                    <a:lumMod val="75000"/>
                    <a:lumOff val="25000"/>
                  </a:schemeClr>
                </a:solidFill>
              </a:rPr>
              <a:t>识别、车辆识别、车牌识别、动物</a:t>
            </a:r>
            <a:r>
              <a:rPr lang="zh-CN" altLang="en-US" sz="1800" b="0" dirty="0" smtClean="0">
                <a:solidFill>
                  <a:schemeClr val="tx1">
                    <a:lumMod val="75000"/>
                    <a:lumOff val="25000"/>
                  </a:schemeClr>
                </a:solidFill>
              </a:rPr>
              <a:t>识别等</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2</a:t>
            </a:r>
            <a:r>
              <a:rPr lang="zh-CN" altLang="en-US" sz="1800" b="0" dirty="0">
                <a:solidFill>
                  <a:schemeClr val="tx1">
                    <a:lumMod val="75000"/>
                    <a:lumOff val="25000"/>
                  </a:schemeClr>
                </a:solidFill>
              </a:rPr>
              <a:t>）按照局部或整体特征</a:t>
            </a:r>
            <a:r>
              <a:rPr lang="zh-CN" altLang="en-US" sz="1800" b="0" dirty="0" smtClean="0">
                <a:solidFill>
                  <a:schemeClr val="tx1">
                    <a:lumMod val="75000"/>
                    <a:lumOff val="25000"/>
                  </a:schemeClr>
                </a:solidFill>
              </a:rPr>
              <a:t>分类：以车辆为例，车牌为局部，车型为整体</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3</a:t>
            </a:r>
            <a:r>
              <a:rPr lang="zh-CN" altLang="en-US" sz="1800" b="0" dirty="0">
                <a:solidFill>
                  <a:schemeClr val="tx1">
                    <a:lumMod val="75000"/>
                    <a:lumOff val="25000"/>
                  </a:schemeClr>
                </a:solidFill>
              </a:rPr>
              <a:t>）按照待识别对象的数量</a:t>
            </a:r>
            <a:r>
              <a:rPr lang="zh-CN" altLang="en-US" sz="1800" b="0" dirty="0" smtClean="0">
                <a:solidFill>
                  <a:schemeClr val="tx1">
                    <a:lumMod val="75000"/>
                    <a:lumOff val="25000"/>
                  </a:schemeClr>
                </a:solidFill>
              </a:rPr>
              <a:t>分类：例如单人、人群</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4</a:t>
            </a:r>
            <a:r>
              <a:rPr lang="zh-CN" altLang="en-US" sz="1800" b="0" dirty="0">
                <a:solidFill>
                  <a:schemeClr val="tx1">
                    <a:lumMod val="75000"/>
                    <a:lumOff val="25000"/>
                  </a:schemeClr>
                </a:solidFill>
              </a:rPr>
              <a:t>）按照气象条件分类：晴天、阴天、雨天、雪天、雾霾、白天、</a:t>
            </a:r>
            <a:r>
              <a:rPr lang="zh-CN" altLang="en-US" sz="1800" b="0" dirty="0" smtClean="0">
                <a:solidFill>
                  <a:schemeClr val="tx1">
                    <a:lumMod val="75000"/>
                    <a:lumOff val="25000"/>
                  </a:schemeClr>
                </a:solidFill>
              </a:rPr>
              <a:t>黑夜等</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5</a:t>
            </a:r>
            <a:r>
              <a:rPr lang="zh-CN" altLang="en-US" sz="1800" b="0" dirty="0">
                <a:solidFill>
                  <a:schemeClr val="tx1">
                    <a:lumMod val="75000"/>
                    <a:lumOff val="25000"/>
                  </a:schemeClr>
                </a:solidFill>
              </a:rPr>
              <a:t>）按照拍摄角度分类：正面、侧面、上面、下面、</a:t>
            </a:r>
            <a:r>
              <a:rPr lang="zh-CN" altLang="en-US" sz="1800" b="0" dirty="0" smtClean="0">
                <a:solidFill>
                  <a:schemeClr val="tx1">
                    <a:lumMod val="75000"/>
                    <a:lumOff val="25000"/>
                  </a:schemeClr>
                </a:solidFill>
              </a:rPr>
              <a:t>背面</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6</a:t>
            </a:r>
            <a:r>
              <a:rPr lang="zh-CN" altLang="en-US" sz="1800" b="0" dirty="0">
                <a:solidFill>
                  <a:schemeClr val="tx1">
                    <a:lumMod val="75000"/>
                    <a:lumOff val="25000"/>
                  </a:schemeClr>
                </a:solidFill>
              </a:rPr>
              <a:t>）按照光线情况分类：顺光、侧光、逆光、侧</a:t>
            </a:r>
            <a:r>
              <a:rPr lang="zh-CN" altLang="en-US" sz="1800" b="0" dirty="0" smtClean="0">
                <a:solidFill>
                  <a:schemeClr val="tx1">
                    <a:lumMod val="75000"/>
                    <a:lumOff val="25000"/>
                  </a:schemeClr>
                </a:solidFill>
              </a:rPr>
              <a:t>逆光</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7</a:t>
            </a:r>
            <a:r>
              <a:rPr lang="zh-CN" altLang="en-US" sz="1800" b="0" dirty="0">
                <a:solidFill>
                  <a:schemeClr val="tx1">
                    <a:lumMod val="75000"/>
                    <a:lumOff val="25000"/>
                  </a:schemeClr>
                </a:solidFill>
              </a:rPr>
              <a:t>）按照拍摄对象</a:t>
            </a:r>
            <a:r>
              <a:rPr lang="zh-CN" altLang="en-US" sz="1800" b="0" dirty="0" smtClean="0">
                <a:solidFill>
                  <a:schemeClr val="tx1">
                    <a:lumMod val="75000"/>
                    <a:lumOff val="25000"/>
                  </a:schemeClr>
                </a:solidFill>
              </a:rPr>
              <a:t>分类：不同人种、不同性别、不同表情等</a:t>
            </a: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2</a:t>
            </a:r>
            <a:r>
              <a:rPr lang="zh-CN" altLang="en-US" sz="2000" dirty="0" smtClean="0"/>
              <a:t>.</a:t>
            </a:r>
            <a:r>
              <a:rPr lang="en-US" altLang="zh-CN" sz="2000" dirty="0" smtClean="0"/>
              <a:t>3</a:t>
            </a:r>
            <a:r>
              <a:rPr lang="zh-CN" altLang="en-US" sz="2000" dirty="0" smtClean="0"/>
              <a:t>  图像数据集</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sz="2100" b="1" spc="225" dirty="0" smtClean="0">
                <a:solidFill>
                  <a:prstClr val="white"/>
                </a:solidFill>
              </a:rPr>
              <a:t>2</a:t>
            </a:r>
            <a:r>
              <a:rPr sz="2100" b="1" spc="225" dirty="0" smtClean="0">
                <a:solidFill>
                  <a:prstClr val="white"/>
                </a:solidFill>
              </a:rPr>
              <a:t>.</a:t>
            </a:r>
            <a:r>
              <a:rPr lang="en-US" sz="2100" b="1" spc="225" dirty="0" smtClean="0">
                <a:solidFill>
                  <a:prstClr val="white"/>
                </a:solidFill>
              </a:rPr>
              <a:t>2  </a:t>
            </a:r>
            <a:r>
              <a:rPr lang="zh-CN" altLang="en-US" sz="2100" b="1" spc="225" dirty="0" smtClean="0">
                <a:solidFill>
                  <a:prstClr val="white"/>
                </a:solidFill>
              </a:rPr>
              <a:t>数据</a:t>
            </a:r>
            <a:r>
              <a:rPr lang="zh-CN" altLang="en-US" sz="2100" b="1" spc="225" dirty="0">
                <a:solidFill>
                  <a:prstClr val="white"/>
                </a:solidFill>
              </a:rPr>
              <a:t>标注对象</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3"/>
            <a:ext cx="8185830" cy="4870697"/>
          </a:xfrm>
        </p:spPr>
        <p:txBody>
          <a:bodyPr>
            <a:normAutofit/>
          </a:bodyPr>
          <a:lstStyle/>
          <a:p>
            <a:pPr>
              <a:lnSpc>
                <a:spcPct val="120000"/>
              </a:lnSpc>
            </a:pPr>
            <a:r>
              <a:rPr lang="zh-CN" altLang="en-US" sz="1800" b="0" dirty="0">
                <a:solidFill>
                  <a:schemeClr val="tx1">
                    <a:lumMod val="75000"/>
                    <a:lumOff val="25000"/>
                  </a:schemeClr>
                </a:solidFill>
              </a:rPr>
              <a:t>文本数据是指不能参与算术运算的字符集合，也称为字符型数据。文本数据集主要应用于自然语言理解、机器翻译、语音识别、智能交通等领域</a:t>
            </a:r>
            <a:r>
              <a:rPr lang="zh-CN" altLang="en-US" sz="1800" b="0" dirty="0" smtClean="0">
                <a:solidFill>
                  <a:schemeClr val="tx1">
                    <a:lumMod val="75000"/>
                    <a:lumOff val="25000"/>
                  </a:schemeClr>
                </a:solidFill>
              </a:rPr>
              <a:t>。</a:t>
            </a:r>
            <a:endParaRPr lang="en-US" altLang="zh-CN" sz="1800" b="0" dirty="0" smtClean="0">
              <a:solidFill>
                <a:schemeClr val="tx1">
                  <a:lumMod val="75000"/>
                  <a:lumOff val="25000"/>
                </a:schemeClr>
              </a:solidFill>
            </a:endParaRPr>
          </a:p>
          <a:p>
            <a:pPr>
              <a:lnSpc>
                <a:spcPct val="120000"/>
              </a:lnSpc>
            </a:pPr>
            <a:endParaRPr lang="en-US" altLang="zh-CN" sz="1800" b="0" dirty="0" smtClean="0">
              <a:solidFill>
                <a:schemeClr val="tx1">
                  <a:lumMod val="75000"/>
                  <a:lumOff val="25000"/>
                </a:schemeClr>
              </a:solidFill>
            </a:endParaRPr>
          </a:p>
          <a:p>
            <a:pPr>
              <a:lnSpc>
                <a:spcPct val="120000"/>
              </a:lnSpc>
            </a:pPr>
            <a:endParaRPr lang="en-US" altLang="zh-CN" sz="1800" b="0" dirty="0">
              <a:solidFill>
                <a:schemeClr val="tx1">
                  <a:lumMod val="75000"/>
                  <a:lumOff val="25000"/>
                </a:schemeClr>
              </a:solidFill>
            </a:endParaRPr>
          </a:p>
          <a:p>
            <a:pPr>
              <a:lnSpc>
                <a:spcPct val="120000"/>
              </a:lnSpc>
            </a:pPr>
            <a:endParaRPr lang="en-US" altLang="zh-CN" sz="1800" b="0" dirty="0" smtClean="0">
              <a:solidFill>
                <a:schemeClr val="tx1">
                  <a:lumMod val="75000"/>
                  <a:lumOff val="25000"/>
                </a:schemeClr>
              </a:solidFill>
            </a:endParaRPr>
          </a:p>
          <a:p>
            <a:pPr>
              <a:lnSpc>
                <a:spcPct val="120000"/>
              </a:lnSpc>
            </a:pPr>
            <a:endParaRPr lang="en-US" altLang="zh-CN" sz="1800" b="0" dirty="0">
              <a:solidFill>
                <a:schemeClr val="tx1">
                  <a:lumMod val="75000"/>
                  <a:lumOff val="25000"/>
                </a:schemeClr>
              </a:solidFill>
            </a:endParaRPr>
          </a:p>
          <a:p>
            <a:pPr>
              <a:lnSpc>
                <a:spcPct val="120000"/>
              </a:lnSpc>
            </a:pPr>
            <a:endParaRPr lang="en-US" altLang="zh-CN" sz="1800" b="0" dirty="0" smtClean="0">
              <a:solidFill>
                <a:schemeClr val="tx1">
                  <a:lumMod val="75000"/>
                  <a:lumOff val="25000"/>
                </a:schemeClr>
              </a:solidFill>
            </a:endParaRPr>
          </a:p>
          <a:p>
            <a:pPr>
              <a:lnSpc>
                <a:spcPct val="120000"/>
              </a:lnSpc>
            </a:pPr>
            <a:endParaRPr lang="en-US" altLang="zh-CN" sz="1800" b="0" dirty="0" smtClean="0">
              <a:solidFill>
                <a:schemeClr val="tx1">
                  <a:lumMod val="75000"/>
                  <a:lumOff val="25000"/>
                </a:schemeClr>
              </a:solidFill>
            </a:endParaRPr>
          </a:p>
          <a:p>
            <a:pPr>
              <a:lnSpc>
                <a:spcPct val="120000"/>
              </a:lnSpc>
            </a:pPr>
            <a:r>
              <a:rPr lang="zh-CN" altLang="en-US" sz="1800" b="0" dirty="0">
                <a:solidFill>
                  <a:schemeClr val="tx1">
                    <a:lumMod val="75000"/>
                    <a:lumOff val="25000"/>
                  </a:schemeClr>
                </a:solidFill>
              </a:rPr>
              <a:t>文本数据可收集的种类包括：命令词、常见人名、地名库、歌曲名称、影视名称、餐饮词汇、短信库、电子邮件等文本分类、语言识别、机器翻译、文本校对等</a:t>
            </a:r>
            <a:r>
              <a:rPr lang="zh-CN" altLang="en-US" sz="1800" b="0" dirty="0" smtClean="0">
                <a:solidFill>
                  <a:schemeClr val="tx1">
                    <a:lumMod val="75000"/>
                    <a:lumOff val="25000"/>
                  </a:schemeClr>
                </a:solidFill>
              </a:rPr>
              <a:t>。</a:t>
            </a: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2</a:t>
            </a:r>
            <a:r>
              <a:rPr lang="zh-CN" altLang="en-US" sz="2000" dirty="0" smtClean="0"/>
              <a:t>.</a:t>
            </a:r>
            <a:r>
              <a:rPr lang="en-US" altLang="zh-CN" sz="2000" dirty="0"/>
              <a:t>4</a:t>
            </a:r>
            <a:r>
              <a:rPr lang="zh-CN" altLang="en-US" sz="2000" dirty="0" smtClean="0"/>
              <a:t>  文本数据集</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sz="2100" b="1" spc="225" dirty="0" smtClean="0">
                <a:solidFill>
                  <a:prstClr val="white"/>
                </a:solidFill>
              </a:rPr>
              <a:t>2</a:t>
            </a:r>
            <a:r>
              <a:rPr sz="2100" b="1" spc="225" dirty="0" smtClean="0">
                <a:solidFill>
                  <a:prstClr val="white"/>
                </a:solidFill>
              </a:rPr>
              <a:t>.</a:t>
            </a:r>
            <a:r>
              <a:rPr lang="en-US" sz="2100" b="1" spc="225" dirty="0" smtClean="0">
                <a:solidFill>
                  <a:prstClr val="white"/>
                </a:solidFill>
              </a:rPr>
              <a:t>2  </a:t>
            </a:r>
            <a:r>
              <a:rPr lang="zh-CN" altLang="en-US" sz="2100" b="1" spc="225" dirty="0" smtClean="0">
                <a:solidFill>
                  <a:prstClr val="white"/>
                </a:solidFill>
              </a:rPr>
              <a:t>数据</a:t>
            </a:r>
            <a:r>
              <a:rPr lang="zh-CN" altLang="en-US" sz="2100" b="1" spc="225" dirty="0">
                <a:solidFill>
                  <a:prstClr val="white"/>
                </a:solidFill>
              </a:rPr>
              <a:t>标注对象</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pic>
        <p:nvPicPr>
          <p:cNvPr id="2"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92113" y="2379101"/>
            <a:ext cx="8486313" cy="19078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3"/>
            <a:ext cx="8185830" cy="4870697"/>
          </a:xfrm>
        </p:spPr>
        <p:txBody>
          <a:bodyPr>
            <a:normAutofit/>
          </a:bodyPr>
          <a:lstStyle/>
          <a:p>
            <a:pPr>
              <a:lnSpc>
                <a:spcPct val="120000"/>
              </a:lnSpc>
            </a:pPr>
            <a:r>
              <a:rPr lang="zh-CN" altLang="en-US" sz="1800" b="0" dirty="0">
                <a:solidFill>
                  <a:schemeClr val="tx1">
                    <a:lumMod val="75000"/>
                    <a:lumOff val="25000"/>
                  </a:schemeClr>
                </a:solidFill>
              </a:rPr>
              <a:t>视频是典型的、复合的多媒体数据，可以包含图像、语音、音乐、音效和文字等多种媒体</a:t>
            </a:r>
            <a:r>
              <a:rPr lang="zh-CN" altLang="en-US" sz="1800" b="0" dirty="0" smtClean="0">
                <a:solidFill>
                  <a:schemeClr val="tx1">
                    <a:lumMod val="75000"/>
                    <a:lumOff val="25000"/>
                  </a:schemeClr>
                </a:solidFill>
              </a:rPr>
              <a:t>信息。</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视频数据的特点：</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1</a:t>
            </a:r>
            <a:r>
              <a:rPr lang="zh-CN" altLang="en-US" sz="1800" b="0" dirty="0">
                <a:solidFill>
                  <a:schemeClr val="tx1">
                    <a:lumMod val="75000"/>
                    <a:lumOff val="25000"/>
                  </a:schemeClr>
                </a:solidFill>
              </a:rPr>
              <a:t>）信息内容丰富：视频数据是随时间变化的图像流，含有更为丰富的其他媒体所无法表达的信息和内容</a:t>
            </a:r>
            <a:r>
              <a:rPr lang="zh-CN" altLang="en-US" sz="1800" b="0" dirty="0" smtClean="0">
                <a:solidFill>
                  <a:schemeClr val="tx1">
                    <a:lumMod val="75000"/>
                    <a:lumOff val="25000"/>
                  </a:schemeClr>
                </a:solidFill>
              </a:rPr>
              <a:t>。</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2</a:t>
            </a:r>
            <a:r>
              <a:rPr lang="zh-CN" altLang="en-US" sz="1800" b="0" dirty="0">
                <a:solidFill>
                  <a:schemeClr val="tx1">
                    <a:lumMod val="75000"/>
                    <a:lumOff val="25000"/>
                  </a:schemeClr>
                </a:solidFill>
              </a:rPr>
              <a:t>）数据量巨大：静态图像、文本等类型的数据，数据量较小，而视频数据，数据量巨大</a:t>
            </a:r>
            <a:r>
              <a:rPr lang="zh-CN" altLang="en-US" sz="1800" b="0" dirty="0" smtClean="0">
                <a:solidFill>
                  <a:schemeClr val="tx1">
                    <a:lumMod val="75000"/>
                    <a:lumOff val="25000"/>
                  </a:schemeClr>
                </a:solidFill>
              </a:rPr>
              <a:t>。</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3</a:t>
            </a:r>
            <a:r>
              <a:rPr lang="zh-CN" altLang="en-US" sz="1800" b="0" dirty="0">
                <a:solidFill>
                  <a:schemeClr val="tx1">
                    <a:lumMod val="75000"/>
                    <a:lumOff val="25000"/>
                  </a:schemeClr>
                </a:solidFill>
              </a:rPr>
              <a:t>）时空二重性的复杂结构关系：视频数据由多幅连续的图像序列</a:t>
            </a:r>
            <a:r>
              <a:rPr lang="zh-CN" altLang="en-US" sz="1800" b="0" dirty="0" smtClean="0">
                <a:solidFill>
                  <a:schemeClr val="tx1">
                    <a:lumMod val="75000"/>
                    <a:lumOff val="25000"/>
                  </a:schemeClr>
                </a:solidFill>
              </a:rPr>
              <a:t>构成，既有</a:t>
            </a:r>
            <a:r>
              <a:rPr lang="zh-CN" altLang="en-US" sz="1800" b="0" dirty="0">
                <a:solidFill>
                  <a:schemeClr val="tx1">
                    <a:lumMod val="75000"/>
                    <a:lumOff val="25000"/>
                  </a:schemeClr>
                </a:solidFill>
              </a:rPr>
              <a:t>时间属性又有空间属性</a:t>
            </a:r>
            <a:r>
              <a:rPr lang="zh-CN" altLang="en-US" sz="1800" b="0" dirty="0" smtClean="0">
                <a:solidFill>
                  <a:schemeClr val="tx1">
                    <a:lumMod val="75000"/>
                    <a:lumOff val="25000"/>
                  </a:schemeClr>
                </a:solidFill>
              </a:rPr>
              <a:t>。</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4</a:t>
            </a:r>
            <a:r>
              <a:rPr lang="zh-CN" altLang="en-US" sz="1800" b="0" dirty="0">
                <a:solidFill>
                  <a:schemeClr val="tx1">
                    <a:lumMod val="75000"/>
                    <a:lumOff val="25000"/>
                  </a:schemeClr>
                </a:solidFill>
              </a:rPr>
              <a:t>）数据解释的多样性、主观性：视频数据具有十分丰富的内涵，受人的个体主观因素影响较大，不同的人对同一段视频会产生不同的感受和重述。</a:t>
            </a:r>
            <a:endParaRPr lang="en-US" altLang="zh-CN" sz="1800" b="0" dirty="0" smtClean="0">
              <a:solidFill>
                <a:schemeClr val="tx1">
                  <a:lumMod val="75000"/>
                  <a:lumOff val="25000"/>
                </a:schemeClr>
              </a:solidFill>
            </a:endParaRPr>
          </a:p>
          <a:p>
            <a:pPr>
              <a:lnSpc>
                <a:spcPct val="120000"/>
              </a:lnSpc>
            </a:pPr>
            <a:endParaRPr lang="en-US" altLang="zh-CN" sz="1800" b="0" dirty="0" smtClean="0">
              <a:solidFill>
                <a:schemeClr val="tx1">
                  <a:lumMod val="75000"/>
                  <a:lumOff val="25000"/>
                </a:schemeClr>
              </a:solidFill>
            </a:endParaRPr>
          </a:p>
          <a:p>
            <a:pPr>
              <a:lnSpc>
                <a:spcPct val="120000"/>
              </a:lnSpc>
            </a:pPr>
            <a:endParaRPr lang="en-US" altLang="zh-CN" sz="1800" b="0" dirty="0">
              <a:solidFill>
                <a:schemeClr val="tx1">
                  <a:lumMod val="75000"/>
                  <a:lumOff val="25000"/>
                </a:schemeClr>
              </a:solidFill>
            </a:endParaRPr>
          </a:p>
          <a:p>
            <a:pPr>
              <a:lnSpc>
                <a:spcPct val="120000"/>
              </a:lnSpc>
            </a:pPr>
            <a:endParaRPr lang="en-US" altLang="zh-CN" sz="1800" b="0" dirty="0" smtClean="0">
              <a:solidFill>
                <a:schemeClr val="tx1">
                  <a:lumMod val="75000"/>
                  <a:lumOff val="25000"/>
                </a:schemeClr>
              </a:solidFill>
            </a:endParaRPr>
          </a:p>
          <a:p>
            <a:pPr>
              <a:lnSpc>
                <a:spcPct val="120000"/>
              </a:lnSpc>
            </a:pPr>
            <a:endParaRPr lang="en-US" altLang="zh-CN" sz="1800" b="0" dirty="0">
              <a:solidFill>
                <a:schemeClr val="tx1">
                  <a:lumMod val="75000"/>
                  <a:lumOff val="25000"/>
                </a:schemeClr>
              </a:solidFill>
            </a:endParaRPr>
          </a:p>
          <a:p>
            <a:pPr>
              <a:lnSpc>
                <a:spcPct val="120000"/>
              </a:lnSpc>
            </a:pPr>
            <a:endParaRPr lang="en-US" altLang="zh-CN" sz="1800" b="0" dirty="0" smtClean="0">
              <a:solidFill>
                <a:schemeClr val="tx1">
                  <a:lumMod val="75000"/>
                  <a:lumOff val="25000"/>
                </a:schemeClr>
              </a:solidFill>
            </a:endParaRPr>
          </a:p>
          <a:p>
            <a:pPr>
              <a:lnSpc>
                <a:spcPct val="120000"/>
              </a:lnSpc>
            </a:pP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2</a:t>
            </a:r>
            <a:r>
              <a:rPr lang="zh-CN" altLang="en-US" sz="2000" dirty="0" smtClean="0"/>
              <a:t>.</a:t>
            </a:r>
            <a:r>
              <a:rPr lang="en-US" altLang="zh-CN" sz="2000" dirty="0" smtClean="0"/>
              <a:t>5</a:t>
            </a:r>
            <a:r>
              <a:rPr lang="zh-CN" altLang="en-US" sz="2000" dirty="0" smtClean="0"/>
              <a:t>  视频数据集</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sz="2100" b="1" spc="225" dirty="0" smtClean="0">
                <a:solidFill>
                  <a:prstClr val="white"/>
                </a:solidFill>
              </a:rPr>
              <a:t>2</a:t>
            </a:r>
            <a:r>
              <a:rPr sz="2100" b="1" spc="225" dirty="0" smtClean="0">
                <a:solidFill>
                  <a:prstClr val="white"/>
                </a:solidFill>
              </a:rPr>
              <a:t>.</a:t>
            </a:r>
            <a:r>
              <a:rPr lang="en-US" sz="2100" b="1" spc="225" dirty="0" smtClean="0">
                <a:solidFill>
                  <a:prstClr val="white"/>
                </a:solidFill>
              </a:rPr>
              <a:t>2  </a:t>
            </a:r>
            <a:r>
              <a:rPr lang="zh-CN" altLang="en-US" sz="2100" b="1" spc="225" dirty="0" smtClean="0">
                <a:solidFill>
                  <a:prstClr val="white"/>
                </a:solidFill>
              </a:rPr>
              <a:t>数据</a:t>
            </a:r>
            <a:r>
              <a:rPr lang="zh-CN" altLang="en-US" sz="2100" b="1" spc="225" dirty="0">
                <a:solidFill>
                  <a:prstClr val="white"/>
                </a:solidFill>
              </a:rPr>
              <a:t>标注对象</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p:cNvGrpSpPr/>
          <p:nvPr/>
        </p:nvGrpSpPr>
        <p:grpSpPr>
          <a:xfrm>
            <a:off x="690258" y="854039"/>
            <a:ext cx="7832785" cy="781050"/>
            <a:chOff x="2788580" y="1152524"/>
            <a:chExt cx="3730770" cy="781050"/>
          </a:xfrm>
        </p:grpSpPr>
        <p:grpSp>
          <p:nvGrpSpPr>
            <p:cNvPr id="6" name="组合 5"/>
            <p:cNvGrpSpPr/>
            <p:nvPr/>
          </p:nvGrpSpPr>
          <p:grpSpPr>
            <a:xfrm>
              <a:off x="2788580" y="1152524"/>
              <a:ext cx="3730770" cy="781050"/>
              <a:chOff x="3725790" y="847725"/>
              <a:chExt cx="3730770" cy="781050"/>
            </a:xfrm>
          </p:grpSpPr>
          <p:grpSp>
            <p:nvGrpSpPr>
              <p:cNvPr id="7" name="组合 6"/>
              <p:cNvGrpSpPr/>
              <p:nvPr/>
            </p:nvGrpSpPr>
            <p:grpSpPr>
              <a:xfrm>
                <a:off x="3725790" y="1019175"/>
                <a:ext cx="627135" cy="609600"/>
                <a:chOff x="3725790" y="1019175"/>
                <a:chExt cx="627135" cy="609600"/>
              </a:xfrm>
            </p:grpSpPr>
            <p:sp>
              <p:nvSpPr>
                <p:cNvPr id="12" name="任意多边形 11"/>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3" name="直角三角形 12"/>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8" name="组合 7"/>
              <p:cNvGrpSpPr/>
              <p:nvPr/>
            </p:nvGrpSpPr>
            <p:grpSpPr>
              <a:xfrm flipH="1">
                <a:off x="6829425" y="1019175"/>
                <a:ext cx="627135" cy="609600"/>
                <a:chOff x="3725790" y="1019175"/>
                <a:chExt cx="627135" cy="609600"/>
              </a:xfrm>
            </p:grpSpPr>
            <p:sp>
              <p:nvSpPr>
                <p:cNvPr id="10" name="任意多边形 9"/>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直角三角形 10"/>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9" name="矩形 8"/>
              <p:cNvSpPr/>
              <p:nvPr/>
            </p:nvSpPr>
            <p:spPr>
              <a:xfrm>
                <a:off x="4181475" y="847725"/>
                <a:ext cx="2819400"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14" name="文本框 14"/>
            <p:cNvSpPr txBox="1"/>
            <p:nvPr/>
          </p:nvSpPr>
          <p:spPr>
            <a:xfrm>
              <a:off x="3247868" y="1169836"/>
              <a:ext cx="2753382" cy="523220"/>
            </a:xfrm>
            <a:prstGeom prst="rect">
              <a:avLst/>
            </a:prstGeom>
            <a:noFill/>
          </p:spPr>
          <p:txBody>
            <a:bodyPr wrap="none" rtlCol="0">
              <a:spAutoFit/>
            </a:bodyPr>
            <a:lstStyle/>
            <a:p>
              <a:pPr algn="ctr"/>
              <a:r>
                <a:rPr lang="zh-CN" altLang="en-US" sz="2800" dirty="0" smtClean="0">
                  <a:solidFill>
                    <a:srgbClr val="FFC000"/>
                  </a:solidFill>
                </a:rPr>
                <a:t>第</a:t>
              </a:r>
              <a:r>
                <a:rPr lang="en-US" altLang="zh-CN" sz="2800" dirty="0">
                  <a:solidFill>
                    <a:srgbClr val="FFC000"/>
                  </a:solidFill>
                </a:rPr>
                <a:t>2</a:t>
              </a:r>
              <a:r>
                <a:rPr lang="zh-CN" altLang="en-US" sz="2800" dirty="0" smtClean="0">
                  <a:solidFill>
                    <a:srgbClr val="FFC000"/>
                  </a:solidFill>
                </a:rPr>
                <a:t>章　数据标注概念、工具与方法</a:t>
              </a:r>
              <a:endParaRPr lang="zh-CN" altLang="en-US" sz="2800" dirty="0" smtClean="0">
                <a:solidFill>
                  <a:srgbClr val="FFC000"/>
                </a:solidFill>
              </a:endParaRPr>
            </a:p>
          </p:txBody>
        </p:sp>
      </p:grpSp>
      <p:sp>
        <p:nvSpPr>
          <p:cNvPr id="48" name="矩形 47"/>
          <p:cNvSpPr/>
          <p:nvPr/>
        </p:nvSpPr>
        <p:spPr>
          <a:xfrm>
            <a:off x="1485903" y="2160000"/>
            <a:ext cx="184731" cy="415498"/>
          </a:xfrm>
          <a:prstGeom prst="rect">
            <a:avLst/>
          </a:prstGeom>
        </p:spPr>
        <p:txBody>
          <a:bodyPr wrap="none">
            <a:spAutoFit/>
          </a:bodyPr>
          <a:lstStyle/>
          <a:p>
            <a:endParaRPr lang="zh-CN" altLang="en-US" sz="2100" spc="225" dirty="0" smtClean="0">
              <a:solidFill>
                <a:schemeClr val="bg1"/>
              </a:solidFill>
            </a:endParaRPr>
          </a:p>
        </p:txBody>
      </p:sp>
      <p:sp>
        <p:nvSpPr>
          <p:cNvPr id="49" name="圆角矩形 48"/>
          <p:cNvSpPr/>
          <p:nvPr/>
        </p:nvSpPr>
        <p:spPr>
          <a:xfrm>
            <a:off x="1414394" y="2183191"/>
            <a:ext cx="6315212"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a:solidFill>
                  <a:schemeClr val="bg1"/>
                </a:solidFill>
              </a:rPr>
              <a:t>2.1 </a:t>
            </a:r>
            <a:r>
              <a:rPr lang="zh-CN" altLang="zh-CN" sz="2000" spc="225" dirty="0">
                <a:solidFill>
                  <a:schemeClr val="bg1"/>
                </a:solidFill>
              </a:rPr>
              <a:t>数据标注的概念及其对人工智能发展的意义</a:t>
            </a:r>
            <a:r>
              <a:rPr lang="en-US" altLang="zh-CN" sz="2000" spc="225" dirty="0">
                <a:solidFill>
                  <a:schemeClr val="bg1"/>
                </a:solidFill>
              </a:rPr>
              <a:t> </a:t>
            </a:r>
            <a:endParaRPr lang="zh-CN" altLang="en-US" sz="2000" spc="225" dirty="0">
              <a:solidFill>
                <a:schemeClr val="bg1"/>
              </a:solidFill>
            </a:endParaRPr>
          </a:p>
        </p:txBody>
      </p:sp>
      <p:sp>
        <p:nvSpPr>
          <p:cNvPr id="32" name="矩形 31"/>
          <p:cNvSpPr/>
          <p:nvPr/>
        </p:nvSpPr>
        <p:spPr>
          <a:xfrm>
            <a:off x="-7143" y="-9147"/>
            <a:ext cx="9158090" cy="3821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36" name="矩形 35"/>
          <p:cNvSpPr/>
          <p:nvPr/>
        </p:nvSpPr>
        <p:spPr>
          <a:xfrm>
            <a:off x="0" y="6669360"/>
            <a:ext cx="9144000" cy="1886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5" name="矩形 44"/>
          <p:cNvSpPr/>
          <p:nvPr/>
        </p:nvSpPr>
        <p:spPr>
          <a:xfrm>
            <a:off x="7929" y="38314"/>
            <a:ext cx="2954655" cy="300082"/>
          </a:xfrm>
          <a:prstGeom prst="rect">
            <a:avLst/>
          </a:prstGeom>
        </p:spPr>
        <p:txBody>
          <a:bodyPr wrap="none">
            <a:spAutoFit/>
          </a:bodyPr>
          <a:lstStyle/>
          <a:p>
            <a:r>
              <a:rPr lang="zh-CN" altLang="en-US" sz="1350" dirty="0">
                <a:solidFill>
                  <a:prstClr val="white"/>
                </a:solidFill>
              </a:rPr>
              <a:t>人工智能技术应用核心课程系列教材</a:t>
            </a:r>
            <a:endParaRPr lang="zh-CN" altLang="en-US" sz="1350" dirty="0">
              <a:solidFill>
                <a:prstClr val="white"/>
              </a:solidFill>
            </a:endParaRPr>
          </a:p>
        </p:txBody>
      </p:sp>
      <p:sp>
        <p:nvSpPr>
          <p:cNvPr id="2" name="圆角矩形 1"/>
          <p:cNvSpPr/>
          <p:nvPr/>
        </p:nvSpPr>
        <p:spPr>
          <a:xfrm>
            <a:off x="1414923" y="3129927"/>
            <a:ext cx="6315213" cy="415498"/>
          </a:xfrm>
          <a:prstGeom prst="round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spc="225" dirty="0">
                <a:solidFill>
                  <a:schemeClr val="bg1"/>
                </a:solidFill>
              </a:rPr>
              <a:t>2.3 </a:t>
            </a:r>
            <a:r>
              <a:rPr lang="zh-CN" altLang="en-US" sz="2000" spc="225" dirty="0">
                <a:solidFill>
                  <a:schemeClr val="bg1"/>
                </a:solidFill>
              </a:rPr>
              <a:t>数据标注工具与平台</a:t>
            </a:r>
            <a:endParaRPr lang="zh-CN" altLang="en-US" sz="2000" spc="225" dirty="0">
              <a:solidFill>
                <a:schemeClr val="bg1"/>
              </a:solidFill>
            </a:endParaRPr>
          </a:p>
        </p:txBody>
      </p:sp>
      <p:sp>
        <p:nvSpPr>
          <p:cNvPr id="40" name="圆角矩形 39"/>
          <p:cNvSpPr/>
          <p:nvPr/>
        </p:nvSpPr>
        <p:spPr>
          <a:xfrm>
            <a:off x="1414923" y="2649765"/>
            <a:ext cx="6315212"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a:solidFill>
                  <a:schemeClr val="bg1"/>
                </a:solidFill>
              </a:rPr>
              <a:t>2.2 </a:t>
            </a:r>
            <a:r>
              <a:rPr lang="zh-CN" altLang="en-US" sz="2000" spc="225" dirty="0">
                <a:solidFill>
                  <a:schemeClr val="bg1"/>
                </a:solidFill>
              </a:rPr>
              <a:t>数据标注对象</a:t>
            </a:r>
            <a:endParaRPr lang="zh-CN" altLang="en-US" sz="2000" spc="225" dirty="0">
              <a:solidFill>
                <a:schemeClr val="bg1"/>
              </a:solidFill>
            </a:endParaRPr>
          </a:p>
        </p:txBody>
      </p:sp>
      <p:sp>
        <p:nvSpPr>
          <p:cNvPr id="41" name="圆角矩形 40"/>
          <p:cNvSpPr/>
          <p:nvPr/>
        </p:nvSpPr>
        <p:spPr>
          <a:xfrm>
            <a:off x="1403072" y="3616488"/>
            <a:ext cx="6315212"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smtClean="0">
                <a:solidFill>
                  <a:schemeClr val="bg1"/>
                </a:solidFill>
              </a:rPr>
              <a:t>2.4 </a:t>
            </a:r>
            <a:r>
              <a:rPr lang="zh-CN" altLang="en-US" sz="2000" spc="225" dirty="0" smtClean="0">
                <a:solidFill>
                  <a:schemeClr val="bg1"/>
                </a:solidFill>
              </a:rPr>
              <a:t>典型</a:t>
            </a:r>
            <a:r>
              <a:rPr lang="zh-CN" altLang="en-US" sz="2000" spc="225" dirty="0">
                <a:solidFill>
                  <a:schemeClr val="bg1"/>
                </a:solidFill>
              </a:rPr>
              <a:t>数据标注技术</a:t>
            </a:r>
            <a:endParaRPr lang="zh-CN" altLang="en-US" sz="2000" spc="225" dirty="0">
              <a:solidFill>
                <a:schemeClr val="bg1"/>
              </a:solidFill>
            </a:endParaRPr>
          </a:p>
        </p:txBody>
      </p:sp>
      <p:sp>
        <p:nvSpPr>
          <p:cNvPr id="44" name="圆角矩形 43"/>
          <p:cNvSpPr/>
          <p:nvPr/>
        </p:nvSpPr>
        <p:spPr>
          <a:xfrm>
            <a:off x="1403072" y="4088372"/>
            <a:ext cx="6311995"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smtClean="0">
                <a:solidFill>
                  <a:schemeClr val="bg1"/>
                </a:solidFill>
              </a:rPr>
              <a:t>2.5 </a:t>
            </a:r>
            <a:r>
              <a:rPr lang="zh-CN" altLang="en-US" sz="2000" spc="225" dirty="0" smtClean="0">
                <a:solidFill>
                  <a:schemeClr val="bg1"/>
                </a:solidFill>
              </a:rPr>
              <a:t>数据</a:t>
            </a:r>
            <a:r>
              <a:rPr lang="zh-CN" altLang="en-US" sz="2000" spc="225" dirty="0">
                <a:solidFill>
                  <a:schemeClr val="bg1"/>
                </a:solidFill>
              </a:rPr>
              <a:t>标注工程 </a:t>
            </a:r>
            <a:endParaRPr lang="zh-CN" altLang="en-US" sz="2000" spc="225" dirty="0">
              <a:solidFill>
                <a:schemeClr val="bg1"/>
              </a:solidFill>
            </a:endParaRPr>
          </a:p>
        </p:txBody>
      </p:sp>
      <p:sp>
        <p:nvSpPr>
          <p:cNvPr id="21" name="圆角矩形 20"/>
          <p:cNvSpPr/>
          <p:nvPr/>
        </p:nvSpPr>
        <p:spPr>
          <a:xfrm>
            <a:off x="1395894" y="4540376"/>
            <a:ext cx="6311995"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smtClean="0">
                <a:solidFill>
                  <a:schemeClr val="bg1"/>
                </a:solidFill>
              </a:rPr>
              <a:t>2.6 </a:t>
            </a:r>
            <a:r>
              <a:rPr lang="zh-CN" altLang="en-US" sz="2000" spc="225" dirty="0" smtClean="0">
                <a:solidFill>
                  <a:schemeClr val="bg1"/>
                </a:solidFill>
              </a:rPr>
              <a:t>本章小结 </a:t>
            </a:r>
            <a:endParaRPr lang="zh-CN" altLang="en-US" sz="2000" spc="225" dirty="0">
              <a:solidFill>
                <a:schemeClr val="bg1"/>
              </a:solidFill>
            </a:endParaRPr>
          </a:p>
        </p:txBody>
      </p:sp>
      <p:sp>
        <p:nvSpPr>
          <p:cNvPr id="22" name="圆角矩形 21"/>
          <p:cNvSpPr/>
          <p:nvPr/>
        </p:nvSpPr>
        <p:spPr>
          <a:xfrm>
            <a:off x="1388405" y="5021794"/>
            <a:ext cx="6311995"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smtClean="0">
                <a:solidFill>
                  <a:schemeClr val="bg1"/>
                </a:solidFill>
              </a:rPr>
              <a:t>2.7 </a:t>
            </a:r>
            <a:r>
              <a:rPr lang="zh-CN" altLang="en-US" sz="2000" spc="225" dirty="0" smtClean="0">
                <a:solidFill>
                  <a:schemeClr val="bg1"/>
                </a:solidFill>
              </a:rPr>
              <a:t>作业与练习 </a:t>
            </a:r>
            <a:endParaRPr lang="zh-CN" altLang="en-US" sz="2000" spc="225" dirty="0">
              <a:solidFill>
                <a:schemeClr val="bg1"/>
              </a:solidFill>
            </a:endParaRPr>
          </a:p>
        </p:txBody>
      </p:sp>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4"/>
            <a:ext cx="8185830" cy="3867966"/>
          </a:xfrm>
        </p:spPr>
        <p:txBody>
          <a:bodyPr>
            <a:normAutofit/>
          </a:bodyPr>
          <a:lstStyle/>
          <a:p>
            <a:pPr>
              <a:lnSpc>
                <a:spcPct val="120000"/>
              </a:lnSpc>
            </a:pPr>
            <a:r>
              <a:rPr lang="zh-CN" altLang="en-US" sz="1800" b="0" dirty="0">
                <a:solidFill>
                  <a:schemeClr val="tx1">
                    <a:lumMod val="75000"/>
                    <a:lumOff val="25000"/>
                  </a:schemeClr>
                </a:solidFill>
              </a:rPr>
              <a:t>常见的语音数据标注工具包括</a:t>
            </a:r>
            <a:r>
              <a:rPr lang="zh-CN" altLang="en-US" sz="1800" b="0" dirty="0" smtClean="0">
                <a:solidFill>
                  <a:schemeClr val="tx1">
                    <a:lumMod val="75000"/>
                    <a:lumOff val="25000"/>
                  </a:schemeClr>
                </a:solidFill>
              </a:rPr>
              <a:t>：单</a:t>
            </a:r>
            <a:r>
              <a:rPr lang="zh-CN" altLang="en-US" sz="1800" b="0" dirty="0">
                <a:solidFill>
                  <a:schemeClr val="tx1">
                    <a:lumMod val="75000"/>
                    <a:lumOff val="25000"/>
                  </a:schemeClr>
                </a:solidFill>
              </a:rPr>
              <a:t>段落语音数据标注</a:t>
            </a:r>
            <a:r>
              <a:rPr lang="zh-CN" altLang="en-US" sz="1800" b="0" dirty="0" smtClean="0">
                <a:solidFill>
                  <a:schemeClr val="tx1">
                    <a:lumMod val="75000"/>
                    <a:lumOff val="25000"/>
                  </a:schemeClr>
                </a:solidFill>
              </a:rPr>
              <a:t>、多</a:t>
            </a:r>
            <a:r>
              <a:rPr lang="zh-CN" altLang="en-US" sz="1800" b="0" dirty="0">
                <a:solidFill>
                  <a:schemeClr val="tx1">
                    <a:lumMod val="75000"/>
                    <a:lumOff val="25000"/>
                  </a:schemeClr>
                </a:solidFill>
              </a:rPr>
              <a:t>段落语音数据</a:t>
            </a:r>
            <a:r>
              <a:rPr lang="zh-CN" altLang="en-US" sz="1800" b="0" dirty="0" smtClean="0">
                <a:solidFill>
                  <a:schemeClr val="tx1">
                    <a:lumMod val="75000"/>
                    <a:lumOff val="25000"/>
                  </a:schemeClr>
                </a:solidFill>
              </a:rPr>
              <a:t>标注等。</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1</a:t>
            </a:r>
            <a:r>
              <a:rPr lang="zh-CN" altLang="en-US" sz="1800" b="0" dirty="0">
                <a:solidFill>
                  <a:schemeClr val="tx1">
                    <a:lumMod val="75000"/>
                    <a:lumOff val="25000"/>
                  </a:schemeClr>
                </a:solidFill>
              </a:rPr>
              <a:t>）单段落语音标注</a:t>
            </a:r>
            <a:r>
              <a:rPr lang="zh-CN" altLang="en-US" sz="1800" b="0" dirty="0" smtClean="0">
                <a:solidFill>
                  <a:schemeClr val="tx1">
                    <a:lumMod val="75000"/>
                    <a:lumOff val="25000"/>
                  </a:schemeClr>
                </a:solidFill>
              </a:rPr>
              <a:t>：标注</a:t>
            </a:r>
            <a:r>
              <a:rPr lang="zh-CN" altLang="en-US" sz="1800" b="0" dirty="0">
                <a:solidFill>
                  <a:schemeClr val="tx1">
                    <a:lumMod val="75000"/>
                    <a:lumOff val="25000"/>
                  </a:schemeClr>
                </a:solidFill>
              </a:rPr>
              <a:t>人员试听语音资料后，需要判定语音资料的有效性，说话人的说话内容以及周围环境等信息，试听判断完成后，将相应信息填写到音频下方的文本输入框</a:t>
            </a:r>
            <a:r>
              <a:rPr lang="zh-CN" altLang="en-US" sz="1800" b="0" dirty="0" smtClean="0">
                <a:solidFill>
                  <a:schemeClr val="tx1">
                    <a:lumMod val="75000"/>
                    <a:lumOff val="25000"/>
                  </a:schemeClr>
                </a:solidFill>
              </a:rPr>
              <a:t>中</a:t>
            </a: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3</a:t>
            </a:r>
            <a:r>
              <a:rPr lang="zh-CN" altLang="en-US" sz="2000" dirty="0" smtClean="0"/>
              <a:t>.1  语音</a:t>
            </a:r>
            <a:r>
              <a:rPr lang="zh-CN" altLang="en-US" sz="2000" dirty="0"/>
              <a:t>数据标注工具</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sz="2100" b="1" spc="225" dirty="0" smtClean="0">
                <a:solidFill>
                  <a:prstClr val="white"/>
                </a:solidFill>
              </a:rPr>
              <a:t>2</a:t>
            </a:r>
            <a:r>
              <a:rPr sz="2100" b="1" spc="225" dirty="0" smtClean="0">
                <a:solidFill>
                  <a:prstClr val="white"/>
                </a:solidFill>
              </a:rPr>
              <a:t>.</a:t>
            </a:r>
            <a:r>
              <a:rPr lang="en-US" sz="2100" b="1" spc="225" dirty="0" smtClean="0">
                <a:solidFill>
                  <a:prstClr val="white"/>
                </a:solidFill>
              </a:rPr>
              <a:t>3  </a:t>
            </a:r>
            <a:r>
              <a:rPr lang="zh-CN" altLang="en-US" sz="2100" b="1" spc="225" dirty="0" smtClean="0">
                <a:solidFill>
                  <a:prstClr val="white"/>
                </a:solidFill>
              </a:rPr>
              <a:t>数据</a:t>
            </a:r>
            <a:r>
              <a:rPr lang="zh-CN" altLang="en-US" sz="2100" b="1" spc="225" dirty="0">
                <a:solidFill>
                  <a:prstClr val="white"/>
                </a:solidFill>
              </a:rPr>
              <a:t>标注工具与平台</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pic>
        <p:nvPicPr>
          <p:cNvPr id="4099" name="图片 4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10047" y="2802575"/>
            <a:ext cx="5367646" cy="382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4"/>
            <a:ext cx="8185830" cy="3867966"/>
          </a:xfrm>
        </p:spPr>
        <p:txBody>
          <a:bodyPr>
            <a:normAutofit/>
          </a:bodyPr>
          <a:lstStyle/>
          <a:p>
            <a:pPr>
              <a:lnSpc>
                <a:spcPct val="120000"/>
              </a:lnSpc>
            </a:pPr>
            <a:r>
              <a:rPr lang="zh-CN" altLang="en-US" sz="1800" b="0" dirty="0" smtClean="0">
                <a:solidFill>
                  <a:schemeClr val="tx1">
                    <a:lumMod val="75000"/>
                    <a:lumOff val="25000"/>
                  </a:schemeClr>
                </a:solidFill>
              </a:rPr>
              <a:t>（</a:t>
            </a:r>
            <a:r>
              <a:rPr lang="en-US" altLang="zh-CN" sz="1800" b="0" dirty="0">
                <a:solidFill>
                  <a:schemeClr val="tx1">
                    <a:lumMod val="75000"/>
                    <a:lumOff val="25000"/>
                  </a:schemeClr>
                </a:solidFill>
              </a:rPr>
              <a:t>2</a:t>
            </a:r>
            <a:r>
              <a:rPr lang="zh-CN" altLang="en-US" sz="1800" b="0" dirty="0" smtClean="0">
                <a:solidFill>
                  <a:schemeClr val="tx1">
                    <a:lumMod val="75000"/>
                    <a:lumOff val="25000"/>
                  </a:schemeClr>
                </a:solidFill>
              </a:rPr>
              <a:t>）多段落</a:t>
            </a:r>
            <a:r>
              <a:rPr lang="zh-CN" altLang="en-US" sz="1800" b="0" dirty="0">
                <a:solidFill>
                  <a:schemeClr val="tx1">
                    <a:lumMod val="75000"/>
                    <a:lumOff val="25000"/>
                  </a:schemeClr>
                </a:solidFill>
              </a:rPr>
              <a:t>语音标注</a:t>
            </a:r>
            <a:r>
              <a:rPr lang="zh-CN" altLang="en-US" sz="1800" b="0" dirty="0" smtClean="0">
                <a:solidFill>
                  <a:schemeClr val="tx1">
                    <a:lumMod val="75000"/>
                    <a:lumOff val="25000"/>
                  </a:schemeClr>
                </a:solidFill>
              </a:rPr>
              <a:t>：标注</a:t>
            </a:r>
            <a:r>
              <a:rPr lang="zh-CN" altLang="en-US" sz="1800" b="0" dirty="0">
                <a:solidFill>
                  <a:schemeClr val="tx1">
                    <a:lumMod val="75000"/>
                    <a:lumOff val="25000"/>
                  </a:schemeClr>
                </a:solidFill>
              </a:rPr>
              <a:t>人员同样需要试听一段语音资料，与单段落标注不同的是，多段落标注中的语音视频为多人对话，标注人员可以拖动鼠标对有人声的语音资料进行选取，之后对语音资料中说话人的性别、说话内容以及周围环境等信息进行识别，并填写音频下方的相关内容</a:t>
            </a: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3</a:t>
            </a:r>
            <a:r>
              <a:rPr lang="zh-CN" altLang="en-US" sz="2000" dirty="0" smtClean="0"/>
              <a:t>.1  语音</a:t>
            </a:r>
            <a:r>
              <a:rPr lang="zh-CN" altLang="en-US" sz="2000" dirty="0"/>
              <a:t>数据标注工具</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sz="2100" b="1" spc="225" dirty="0" smtClean="0">
                <a:solidFill>
                  <a:prstClr val="white"/>
                </a:solidFill>
              </a:rPr>
              <a:t>2</a:t>
            </a:r>
            <a:r>
              <a:rPr sz="2100" b="1" spc="225" dirty="0" smtClean="0">
                <a:solidFill>
                  <a:prstClr val="white"/>
                </a:solidFill>
              </a:rPr>
              <a:t>.</a:t>
            </a:r>
            <a:r>
              <a:rPr lang="en-US" sz="2100" b="1" spc="225" dirty="0" smtClean="0">
                <a:solidFill>
                  <a:prstClr val="white"/>
                </a:solidFill>
              </a:rPr>
              <a:t>3  </a:t>
            </a:r>
            <a:r>
              <a:rPr lang="zh-CN" altLang="en-US" sz="2100" b="1" spc="225" dirty="0" smtClean="0">
                <a:solidFill>
                  <a:prstClr val="white"/>
                </a:solidFill>
              </a:rPr>
              <a:t>数据</a:t>
            </a:r>
            <a:r>
              <a:rPr lang="zh-CN" altLang="en-US" sz="2100" b="1" spc="225" dirty="0">
                <a:solidFill>
                  <a:prstClr val="white"/>
                </a:solidFill>
              </a:rPr>
              <a:t>标注工具与平台</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pic>
        <p:nvPicPr>
          <p:cNvPr id="5123" name="图片 48"/>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00270" y="2743200"/>
            <a:ext cx="5101174"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4"/>
            <a:ext cx="8185830" cy="3867966"/>
          </a:xfrm>
        </p:spPr>
        <p:txBody>
          <a:bodyPr>
            <a:normAutofit/>
          </a:bodyPr>
          <a:lstStyle/>
          <a:p>
            <a:pPr>
              <a:lnSpc>
                <a:spcPct val="120000"/>
              </a:lnSpc>
            </a:pPr>
            <a:r>
              <a:rPr lang="zh-CN" altLang="en-US" sz="1800" b="0" dirty="0">
                <a:solidFill>
                  <a:schemeClr val="tx1">
                    <a:lumMod val="75000"/>
                    <a:lumOff val="25000"/>
                  </a:schemeClr>
                </a:solidFill>
              </a:rPr>
              <a:t>图片标注工具主要实现的标注功能有：关键点标注、</a:t>
            </a:r>
            <a:r>
              <a:rPr lang="en-US" altLang="zh-CN" sz="1800" b="0" dirty="0">
                <a:solidFill>
                  <a:schemeClr val="tx1">
                    <a:lumMod val="75000"/>
                    <a:lumOff val="25000"/>
                  </a:schemeClr>
                </a:solidFill>
              </a:rPr>
              <a:t>2D</a:t>
            </a:r>
            <a:r>
              <a:rPr lang="zh-CN" altLang="en-US" sz="1800" b="0" dirty="0">
                <a:solidFill>
                  <a:schemeClr val="tx1">
                    <a:lumMod val="75000"/>
                    <a:lumOff val="25000"/>
                  </a:schemeClr>
                </a:solidFill>
              </a:rPr>
              <a:t>标注框标注、</a:t>
            </a:r>
            <a:r>
              <a:rPr lang="en-US" altLang="zh-CN" sz="1800" b="0" dirty="0">
                <a:solidFill>
                  <a:schemeClr val="tx1">
                    <a:lumMod val="75000"/>
                    <a:lumOff val="25000"/>
                  </a:schemeClr>
                </a:solidFill>
              </a:rPr>
              <a:t>3D</a:t>
            </a:r>
            <a:r>
              <a:rPr lang="zh-CN" altLang="en-US" sz="1800" b="0" dirty="0">
                <a:solidFill>
                  <a:schemeClr val="tx1">
                    <a:lumMod val="75000"/>
                    <a:lumOff val="25000"/>
                  </a:schemeClr>
                </a:solidFill>
              </a:rPr>
              <a:t>标注框标注、线标注、区域标注、图片属性标注</a:t>
            </a:r>
            <a:r>
              <a:rPr lang="zh-CN" altLang="en-US" sz="1800" b="0" dirty="0" smtClean="0">
                <a:solidFill>
                  <a:schemeClr val="tx1">
                    <a:lumMod val="75000"/>
                    <a:lumOff val="25000"/>
                  </a:schemeClr>
                </a:solidFill>
              </a:rPr>
              <a:t>等</a:t>
            </a:r>
            <a:endParaRPr lang="en-US" altLang="zh-CN" sz="1800" b="0" dirty="0" smtClean="0">
              <a:solidFill>
                <a:schemeClr val="tx1">
                  <a:lumMod val="75000"/>
                  <a:lumOff val="25000"/>
                </a:schemeClr>
              </a:solidFill>
            </a:endParaRPr>
          </a:p>
          <a:p>
            <a:pPr>
              <a:lnSpc>
                <a:spcPct val="120000"/>
              </a:lnSpc>
            </a:pP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3</a:t>
            </a:r>
            <a:r>
              <a:rPr lang="zh-CN" altLang="en-US" sz="2000" dirty="0" smtClean="0"/>
              <a:t>.</a:t>
            </a:r>
            <a:r>
              <a:rPr lang="en-US" altLang="zh-CN" sz="2000" dirty="0"/>
              <a:t>2</a:t>
            </a:r>
            <a:r>
              <a:rPr lang="zh-CN" altLang="en-US" sz="2000" dirty="0" smtClean="0"/>
              <a:t>  图像数据</a:t>
            </a:r>
            <a:r>
              <a:rPr lang="zh-CN" altLang="en-US" sz="2000" dirty="0"/>
              <a:t>标注工具</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sz="2100" b="1" spc="225" dirty="0" smtClean="0">
                <a:solidFill>
                  <a:prstClr val="white"/>
                </a:solidFill>
              </a:rPr>
              <a:t>2</a:t>
            </a:r>
            <a:r>
              <a:rPr sz="2100" b="1" spc="225" dirty="0" smtClean="0">
                <a:solidFill>
                  <a:prstClr val="white"/>
                </a:solidFill>
              </a:rPr>
              <a:t>.</a:t>
            </a:r>
            <a:r>
              <a:rPr lang="en-US" sz="2100" b="1" spc="225" dirty="0" smtClean="0">
                <a:solidFill>
                  <a:prstClr val="white"/>
                </a:solidFill>
              </a:rPr>
              <a:t>3  </a:t>
            </a:r>
            <a:r>
              <a:rPr lang="zh-CN" altLang="en-US" sz="2100" b="1" spc="225" dirty="0" smtClean="0">
                <a:solidFill>
                  <a:prstClr val="white"/>
                </a:solidFill>
              </a:rPr>
              <a:t>数据</a:t>
            </a:r>
            <a:r>
              <a:rPr lang="zh-CN" altLang="en-US" sz="2100" b="1" spc="225" dirty="0">
                <a:solidFill>
                  <a:prstClr val="white"/>
                </a:solidFill>
              </a:rPr>
              <a:t>标注工具与平台</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pic>
        <p:nvPicPr>
          <p:cNvPr id="3"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52083" y="2292742"/>
            <a:ext cx="7445319" cy="35024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4"/>
            <a:ext cx="8185830" cy="3867966"/>
          </a:xfrm>
        </p:spPr>
        <p:txBody>
          <a:bodyPr>
            <a:normAutofit/>
          </a:bodyPr>
          <a:lstStyle/>
          <a:p>
            <a:pPr>
              <a:lnSpc>
                <a:spcPct val="120000"/>
              </a:lnSpc>
            </a:pPr>
            <a:r>
              <a:rPr lang="zh-CN" altLang="en-US" sz="1800" b="0" dirty="0">
                <a:solidFill>
                  <a:schemeClr val="tx1">
                    <a:lumMod val="75000"/>
                    <a:lumOff val="25000"/>
                  </a:schemeClr>
                </a:solidFill>
              </a:rPr>
              <a:t>视频</a:t>
            </a:r>
            <a:r>
              <a:rPr lang="zh-CN" altLang="en-US" sz="1800" b="0" dirty="0" smtClean="0">
                <a:solidFill>
                  <a:schemeClr val="tx1">
                    <a:lumMod val="75000"/>
                    <a:lumOff val="25000"/>
                  </a:schemeClr>
                </a:solidFill>
              </a:rPr>
              <a:t>标注工具通常包含视频通用功能标注工具和物体跟踪标注工具：</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1</a:t>
            </a:r>
            <a:r>
              <a:rPr lang="zh-CN" altLang="en-US" sz="1800" b="0" dirty="0" smtClean="0">
                <a:solidFill>
                  <a:schemeClr val="tx1">
                    <a:lumMod val="75000"/>
                    <a:lumOff val="25000"/>
                  </a:schemeClr>
                </a:solidFill>
              </a:rPr>
              <a:t>）视频通用功能标注工具：包含点（</a:t>
            </a:r>
            <a:r>
              <a:rPr lang="en-US" altLang="zh-CN" sz="1800" b="0" dirty="0" err="1" smtClean="0">
                <a:solidFill>
                  <a:schemeClr val="tx1">
                    <a:lumMod val="75000"/>
                    <a:lumOff val="25000"/>
                  </a:schemeClr>
                </a:solidFill>
              </a:rPr>
              <a:t>Shift+A</a:t>
            </a:r>
            <a:r>
              <a:rPr lang="zh-CN" altLang="en-US" sz="1800" b="0" dirty="0" smtClean="0">
                <a:solidFill>
                  <a:schemeClr val="tx1">
                    <a:lumMod val="75000"/>
                    <a:lumOff val="25000"/>
                  </a:schemeClr>
                </a:solidFill>
              </a:rPr>
              <a:t>）、线（</a:t>
            </a:r>
            <a:r>
              <a:rPr lang="en-US" altLang="zh-CN" sz="1800" b="0" dirty="0" err="1" smtClean="0">
                <a:solidFill>
                  <a:schemeClr val="tx1">
                    <a:lumMod val="75000"/>
                    <a:lumOff val="25000"/>
                  </a:schemeClr>
                </a:solidFill>
              </a:rPr>
              <a:t>Shift+S</a:t>
            </a:r>
            <a:r>
              <a:rPr lang="zh-CN" altLang="en-US" sz="1800" b="0" dirty="0" smtClean="0">
                <a:solidFill>
                  <a:schemeClr val="tx1">
                    <a:lumMod val="75000"/>
                    <a:lumOff val="25000"/>
                  </a:schemeClr>
                </a:solidFill>
              </a:rPr>
              <a:t>）、矩形（</a:t>
            </a:r>
            <a:r>
              <a:rPr lang="en-US" altLang="zh-CN" sz="1800" b="0" dirty="0" err="1" smtClean="0">
                <a:solidFill>
                  <a:schemeClr val="tx1">
                    <a:lumMod val="75000"/>
                    <a:lumOff val="25000"/>
                  </a:schemeClr>
                </a:solidFill>
              </a:rPr>
              <a:t>Shift+D</a:t>
            </a:r>
            <a:r>
              <a:rPr lang="zh-CN" altLang="en-US" sz="1800" b="0" dirty="0" smtClean="0">
                <a:solidFill>
                  <a:schemeClr val="tx1">
                    <a:lumMod val="75000"/>
                    <a:lumOff val="25000"/>
                  </a:schemeClr>
                </a:solidFill>
              </a:rPr>
              <a:t>）、多边形（</a:t>
            </a:r>
            <a:r>
              <a:rPr lang="en-US" altLang="zh-CN" sz="1800" b="0" dirty="0" err="1" smtClean="0">
                <a:solidFill>
                  <a:schemeClr val="tx1">
                    <a:lumMod val="75000"/>
                    <a:lumOff val="25000"/>
                  </a:schemeClr>
                </a:solidFill>
              </a:rPr>
              <a:t>Shift+F</a:t>
            </a:r>
            <a:r>
              <a:rPr lang="zh-CN" altLang="en-US" sz="1800" b="0" dirty="0" smtClean="0">
                <a:solidFill>
                  <a:schemeClr val="tx1">
                    <a:lumMod val="75000"/>
                    <a:lumOff val="25000"/>
                  </a:schemeClr>
                </a:solidFill>
              </a:rPr>
              <a:t>），并支持快捷键选择工具。支持标注图形使用</a:t>
            </a:r>
            <a:r>
              <a:rPr lang="en-US" altLang="zh-CN" sz="1800" b="0" dirty="0" smtClean="0">
                <a:solidFill>
                  <a:schemeClr val="tx1">
                    <a:lumMod val="75000"/>
                    <a:lumOff val="25000"/>
                  </a:schemeClr>
                </a:solidFill>
              </a:rPr>
              <a:t>delete</a:t>
            </a:r>
            <a:r>
              <a:rPr lang="zh-CN" altLang="en-US" sz="1800" b="0" dirty="0" smtClean="0">
                <a:solidFill>
                  <a:schemeClr val="tx1">
                    <a:lumMod val="75000"/>
                    <a:lumOff val="25000"/>
                  </a:schemeClr>
                </a:solidFill>
              </a:rPr>
              <a:t>键删除或者直接点击下面属性名称删除。</a:t>
            </a: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3</a:t>
            </a:r>
            <a:r>
              <a:rPr lang="zh-CN" altLang="en-US" sz="2000" dirty="0" smtClean="0"/>
              <a:t>.</a:t>
            </a:r>
            <a:r>
              <a:rPr lang="en-US" altLang="zh-CN" sz="2000" dirty="0" smtClean="0"/>
              <a:t>3</a:t>
            </a:r>
            <a:r>
              <a:rPr lang="zh-CN" altLang="en-US" sz="2000" dirty="0" smtClean="0"/>
              <a:t>  视频数据</a:t>
            </a:r>
            <a:r>
              <a:rPr lang="zh-CN" altLang="en-US" sz="2000" dirty="0"/>
              <a:t>标注工具</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sz="2100" b="1" spc="225" dirty="0" smtClean="0">
                <a:solidFill>
                  <a:prstClr val="white"/>
                </a:solidFill>
              </a:rPr>
              <a:t>2</a:t>
            </a:r>
            <a:r>
              <a:rPr sz="2100" b="1" spc="225" dirty="0" smtClean="0">
                <a:solidFill>
                  <a:prstClr val="white"/>
                </a:solidFill>
              </a:rPr>
              <a:t>.</a:t>
            </a:r>
            <a:r>
              <a:rPr lang="en-US" sz="2100" b="1" spc="225" dirty="0" smtClean="0">
                <a:solidFill>
                  <a:prstClr val="white"/>
                </a:solidFill>
              </a:rPr>
              <a:t>3  </a:t>
            </a:r>
            <a:r>
              <a:rPr lang="zh-CN" altLang="en-US" sz="2100" b="1" spc="225" dirty="0" smtClean="0">
                <a:solidFill>
                  <a:prstClr val="white"/>
                </a:solidFill>
              </a:rPr>
              <a:t>数据</a:t>
            </a:r>
            <a:r>
              <a:rPr lang="zh-CN" altLang="en-US" sz="2100" b="1" spc="225" dirty="0">
                <a:solidFill>
                  <a:prstClr val="white"/>
                </a:solidFill>
              </a:rPr>
              <a:t>标注工具与平台</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sp>
        <p:nvSpPr>
          <p:cNvPr id="3" name="TextBox 2"/>
          <p:cNvSpPr txBox="1"/>
          <p:nvPr/>
        </p:nvSpPr>
        <p:spPr>
          <a:xfrm>
            <a:off x="984738" y="5602142"/>
            <a:ext cx="2719754" cy="307777"/>
          </a:xfrm>
          <a:prstGeom prst="rect">
            <a:avLst/>
          </a:prstGeom>
          <a:noFill/>
        </p:spPr>
        <p:txBody>
          <a:bodyPr wrap="square" rtlCol="0">
            <a:spAutoFit/>
          </a:bodyPr>
          <a:lstStyle/>
          <a:p>
            <a:pPr algn="ctr"/>
            <a:r>
              <a:rPr lang="zh-CN" altLang="en-US" sz="1400" dirty="0" smtClean="0"/>
              <a:t>下拉列表表单</a:t>
            </a:r>
            <a:endParaRPr lang="zh-CN" altLang="en-US" sz="1400" dirty="0"/>
          </a:p>
        </p:txBody>
      </p:sp>
      <p:sp>
        <p:nvSpPr>
          <p:cNvPr id="12" name="TextBox 11"/>
          <p:cNvSpPr txBox="1"/>
          <p:nvPr/>
        </p:nvSpPr>
        <p:spPr>
          <a:xfrm>
            <a:off x="5298830" y="5620117"/>
            <a:ext cx="2719754" cy="307777"/>
          </a:xfrm>
          <a:prstGeom prst="rect">
            <a:avLst/>
          </a:prstGeom>
          <a:noFill/>
        </p:spPr>
        <p:txBody>
          <a:bodyPr wrap="square" rtlCol="0">
            <a:spAutoFit/>
          </a:bodyPr>
          <a:lstStyle/>
          <a:p>
            <a:pPr algn="ctr"/>
            <a:r>
              <a:rPr lang="zh-CN" altLang="en-US" sz="1400" dirty="0"/>
              <a:t>输入框</a:t>
            </a:r>
            <a:r>
              <a:rPr lang="zh-CN" altLang="en-US" sz="1400" dirty="0" smtClean="0"/>
              <a:t>表单</a:t>
            </a:r>
            <a:endParaRPr lang="zh-CN" altLang="en-US" sz="1400" dirty="0"/>
          </a:p>
        </p:txBody>
      </p:sp>
      <p:pic>
        <p:nvPicPr>
          <p:cNvPr id="2" name="图片 43"/>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14161" y="3134092"/>
            <a:ext cx="4210337" cy="246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4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53682" y="3102710"/>
            <a:ext cx="4210050"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4"/>
            <a:ext cx="8185830" cy="3867966"/>
          </a:xfrm>
        </p:spPr>
        <p:txBody>
          <a:bodyPr>
            <a:normAutofit/>
          </a:bodyPr>
          <a:lstStyle/>
          <a:p>
            <a:pPr>
              <a:lnSpc>
                <a:spcPct val="120000"/>
              </a:lnSpc>
            </a:pPr>
            <a:r>
              <a:rPr lang="zh-CN" altLang="en-US" sz="1800" b="0" dirty="0" smtClean="0">
                <a:solidFill>
                  <a:schemeClr val="tx1">
                    <a:lumMod val="75000"/>
                    <a:lumOff val="25000"/>
                  </a:schemeClr>
                </a:solidFill>
              </a:rPr>
              <a:t>（</a:t>
            </a:r>
            <a:r>
              <a:rPr lang="en-US" altLang="zh-CN" sz="1800" b="0" dirty="0">
                <a:solidFill>
                  <a:schemeClr val="tx1">
                    <a:lumMod val="75000"/>
                    <a:lumOff val="25000"/>
                  </a:schemeClr>
                </a:solidFill>
              </a:rPr>
              <a:t>2</a:t>
            </a:r>
            <a:r>
              <a:rPr lang="zh-CN" altLang="en-US" sz="1800" b="0" dirty="0" smtClean="0">
                <a:solidFill>
                  <a:schemeClr val="tx1">
                    <a:lumMod val="75000"/>
                    <a:lumOff val="25000"/>
                  </a:schemeClr>
                </a:solidFill>
              </a:rPr>
              <a:t>）物体跟踪标注</a:t>
            </a:r>
            <a:r>
              <a:rPr lang="zh-CN" altLang="en-US" sz="1800" b="0" dirty="0">
                <a:solidFill>
                  <a:schemeClr val="tx1">
                    <a:lumMod val="75000"/>
                    <a:lumOff val="25000"/>
                  </a:schemeClr>
                </a:solidFill>
              </a:rPr>
              <a:t>工具：标注人员通过拖动鼠标进行画框以及输入物体编号的方式对车辆、行人进行标注，在此过程中，用户可以通过点击重播、上一帧、下一帧、上十帧、下十帧按钮或直接拖动进度条的方式来对视频播放进度进行</a:t>
            </a:r>
            <a:r>
              <a:rPr lang="zh-CN" altLang="en-US" sz="1800" b="0" dirty="0" smtClean="0">
                <a:solidFill>
                  <a:schemeClr val="tx1">
                    <a:lumMod val="75000"/>
                    <a:lumOff val="25000"/>
                  </a:schemeClr>
                </a:solidFill>
              </a:rPr>
              <a:t>控制。</a:t>
            </a: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3</a:t>
            </a:r>
            <a:r>
              <a:rPr lang="zh-CN" altLang="en-US" sz="2000" dirty="0" smtClean="0"/>
              <a:t>.</a:t>
            </a:r>
            <a:r>
              <a:rPr lang="en-US" altLang="zh-CN" sz="2000" dirty="0" smtClean="0"/>
              <a:t>3</a:t>
            </a:r>
            <a:r>
              <a:rPr lang="zh-CN" altLang="en-US" sz="2000" dirty="0" smtClean="0"/>
              <a:t>  视频数据</a:t>
            </a:r>
            <a:r>
              <a:rPr lang="zh-CN" altLang="en-US" sz="2000" dirty="0"/>
              <a:t>标注工具</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sz="2100" b="1" spc="225" dirty="0" smtClean="0">
                <a:solidFill>
                  <a:prstClr val="white"/>
                </a:solidFill>
              </a:rPr>
              <a:t>2</a:t>
            </a:r>
            <a:r>
              <a:rPr sz="2100" b="1" spc="225" dirty="0" smtClean="0">
                <a:solidFill>
                  <a:prstClr val="white"/>
                </a:solidFill>
              </a:rPr>
              <a:t>.</a:t>
            </a:r>
            <a:r>
              <a:rPr lang="en-US" sz="2100" b="1" spc="225" dirty="0" smtClean="0">
                <a:solidFill>
                  <a:prstClr val="white"/>
                </a:solidFill>
              </a:rPr>
              <a:t>3  </a:t>
            </a:r>
            <a:r>
              <a:rPr lang="zh-CN" altLang="en-US" sz="2100" b="1" spc="225" dirty="0" smtClean="0">
                <a:solidFill>
                  <a:prstClr val="white"/>
                </a:solidFill>
              </a:rPr>
              <a:t>数据</a:t>
            </a:r>
            <a:r>
              <a:rPr lang="zh-CN" altLang="en-US" sz="2100" b="1" spc="225" dirty="0">
                <a:solidFill>
                  <a:prstClr val="white"/>
                </a:solidFill>
              </a:rPr>
              <a:t>标注工具与平台</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pic>
        <p:nvPicPr>
          <p:cNvPr id="8194" name="图片 40"/>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5416" y="2450123"/>
            <a:ext cx="6588369" cy="4103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直接连接符 34"/>
          <p:cNvCxnSpPr/>
          <p:nvPr/>
        </p:nvCxnSpPr>
        <p:spPr>
          <a:xfrm flipH="1">
            <a:off x="3121174" y="692696"/>
            <a:ext cx="2901652" cy="2901652"/>
          </a:xfrm>
          <a:prstGeom prst="line">
            <a:avLst/>
          </a:prstGeom>
          <a:ln w="25400">
            <a:solidFill>
              <a:srgbClr val="F7BA3B"/>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7" name="Rectangle 5"/>
          <p:cNvSpPr>
            <a:spLocks noChangeArrowheads="1"/>
          </p:cNvSpPr>
          <p:nvPr/>
        </p:nvSpPr>
        <p:spPr bwMode="auto">
          <a:xfrm>
            <a:off x="1054101" y="3053323"/>
            <a:ext cx="7353300"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defTabSz="914400" fontAlgn="base">
              <a:spcBef>
                <a:spcPct val="0"/>
              </a:spcBef>
              <a:spcAft>
                <a:spcPct val="0"/>
              </a:spcAft>
            </a:pPr>
            <a:r>
              <a:rPr lang="zh-CN" altLang="en-US" sz="4000" b="1" dirty="0" smtClean="0">
                <a:solidFill>
                  <a:prstClr val="white"/>
                </a:solidFill>
                <a:latin typeface="Arial" panose="020B0604020202020204" pitchFamily="34" charset="0"/>
                <a:ea typeface="微软雅黑" panose="020B0503020204020204" pitchFamily="34" charset="-122"/>
              </a:rPr>
              <a:t>第 </a:t>
            </a:r>
            <a:r>
              <a:rPr lang="en-US" altLang="zh-CN" sz="4000" b="1" dirty="0" smtClean="0">
                <a:solidFill>
                  <a:prstClr val="white"/>
                </a:solidFill>
                <a:latin typeface="Arial" panose="020B0604020202020204" pitchFamily="34" charset="0"/>
                <a:ea typeface="微软雅黑" panose="020B0503020204020204" pitchFamily="34" charset="-122"/>
              </a:rPr>
              <a:t>11</a:t>
            </a:r>
            <a:r>
              <a:rPr lang="en-US" altLang="zh-CN" sz="4000" b="1" dirty="0" smtClean="0">
                <a:solidFill>
                  <a:prstClr val="white"/>
                </a:solidFill>
                <a:latin typeface="Arial" panose="020B0604020202020204" pitchFamily="34" charset="0"/>
                <a:ea typeface="微软雅黑" panose="020B0503020204020204" pitchFamily="34" charset="-122"/>
              </a:rPr>
              <a:t> </a:t>
            </a:r>
            <a:r>
              <a:rPr lang="zh-CN" altLang="en-US" sz="4000" b="1" dirty="0" smtClean="0">
                <a:solidFill>
                  <a:prstClr val="white"/>
                </a:solidFill>
                <a:latin typeface="Arial" panose="020B0604020202020204" pitchFamily="34" charset="0"/>
                <a:ea typeface="微软雅黑" panose="020B0503020204020204" pitchFamily="34" charset="-122"/>
              </a:rPr>
              <a:t>章  </a:t>
            </a:r>
            <a:r>
              <a:rPr lang="zh-CN" altLang="en-US" sz="4000" b="1" dirty="0" smtClean="0">
                <a:solidFill>
                  <a:prstClr val="white"/>
                </a:solidFill>
                <a:latin typeface="Arial" panose="020B0604020202020204" pitchFamily="34" charset="0"/>
                <a:ea typeface="微软雅黑" panose="020B0503020204020204" pitchFamily="34" charset="-122"/>
              </a:rPr>
              <a:t>手机</a:t>
            </a:r>
            <a:r>
              <a:rPr lang="zh-CN" altLang="en-US" sz="4000" b="1" dirty="0" smtClean="0">
                <a:solidFill>
                  <a:prstClr val="white"/>
                </a:solidFill>
                <a:latin typeface="Arial" panose="020B0604020202020204" pitchFamily="34" charset="0"/>
                <a:ea typeface="微软雅黑" panose="020B0503020204020204" pitchFamily="34" charset="-122"/>
              </a:rPr>
              <a:t>客户端解析</a:t>
            </a:r>
            <a:r>
              <a:rPr lang="en-US" altLang="zh-CN" sz="4000" b="1" dirty="0" smtClean="0">
                <a:solidFill>
                  <a:prstClr val="white"/>
                </a:solidFill>
                <a:latin typeface="Arial" panose="020B0604020202020204" pitchFamily="34" charset="0"/>
                <a:ea typeface="微软雅黑" panose="020B0503020204020204" pitchFamily="34" charset="-122"/>
              </a:rPr>
              <a:t>JSON</a:t>
            </a:r>
            <a:endParaRPr lang="zh-CN" altLang="en-US" sz="4000" dirty="0">
              <a:solidFill>
                <a:prstClr val="white"/>
              </a:solidFill>
              <a:latin typeface="Arial" panose="020B0604020202020204" pitchFamily="34" charset="0"/>
              <a:ea typeface="微软雅黑" panose="020B0503020204020204" pitchFamily="34" charset="-122"/>
            </a:endParaRPr>
          </a:p>
        </p:txBody>
      </p:sp>
      <p:cxnSp>
        <p:nvCxnSpPr>
          <p:cNvPr id="6" name="直接连接符 5"/>
          <p:cNvCxnSpPr/>
          <p:nvPr/>
        </p:nvCxnSpPr>
        <p:spPr>
          <a:xfrm flipH="1">
            <a:off x="-324544" y="2348880"/>
            <a:ext cx="965026" cy="965026"/>
          </a:xfrm>
          <a:prstGeom prst="line">
            <a:avLst/>
          </a:prstGeom>
          <a:ln w="25400">
            <a:solidFill>
              <a:srgbClr val="2FB6A8"/>
            </a:solidFill>
            <a:headEnd type="triangle"/>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7668344" y="620688"/>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20100" y="4891261"/>
            <a:ext cx="1728192" cy="1728192"/>
          </a:xfrm>
          <a:prstGeom prst="line">
            <a:avLst/>
          </a:prstGeom>
          <a:ln w="25400">
            <a:solidFill>
              <a:srgbClr val="F7BA3B"/>
            </a:solidFill>
            <a:headEnd type="triangle"/>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7596336" y="1988840"/>
            <a:ext cx="1979712" cy="1979712"/>
          </a:xfrm>
          <a:prstGeom prst="line">
            <a:avLst/>
          </a:prstGeom>
          <a:ln w="25400">
            <a:solidFill>
              <a:srgbClr val="DA634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6948264" y="4653136"/>
            <a:ext cx="1656184" cy="1656184"/>
          </a:xfrm>
          <a:prstGeom prst="line">
            <a:avLst/>
          </a:prstGeom>
          <a:ln w="25400">
            <a:solidFill>
              <a:srgbClr val="2FB6A8"/>
            </a:solidFill>
            <a:headEnd type="triangle"/>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5292080" y="5517232"/>
            <a:ext cx="767730" cy="767730"/>
          </a:xfrm>
          <a:prstGeom prst="line">
            <a:avLst/>
          </a:prstGeom>
          <a:ln w="25400">
            <a:solidFill>
              <a:srgbClr val="DA634F"/>
            </a:solidFill>
            <a:headEnd type="triangle"/>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1187624" y="260648"/>
            <a:ext cx="1541092" cy="1541090"/>
          </a:xfrm>
          <a:prstGeom prst="line">
            <a:avLst/>
          </a:prstGeom>
          <a:ln w="25400">
            <a:solidFill>
              <a:srgbClr val="2FB6A8"/>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899592" y="3212307"/>
            <a:ext cx="720080" cy="720080"/>
          </a:xfrm>
          <a:prstGeom prst="line">
            <a:avLst/>
          </a:prstGeom>
          <a:ln w="25400">
            <a:solidFill>
              <a:srgbClr val="ADD072"/>
            </a:solidFill>
            <a:head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750" fill="hold"/>
                                        <p:tgtEl>
                                          <p:spTgt spid="54"/>
                                        </p:tgtEl>
                                        <p:attrNameLst>
                                          <p:attrName>ppt_x</p:attrName>
                                        </p:attrNameLst>
                                      </p:cBhvr>
                                      <p:tavLst>
                                        <p:tav tm="0">
                                          <p:val>
                                            <p:strVal val="#ppt_x"/>
                                          </p:val>
                                        </p:tav>
                                        <p:tav tm="100000">
                                          <p:val>
                                            <p:strVal val="#ppt_x"/>
                                          </p:val>
                                        </p:tav>
                                      </p:tavLst>
                                    </p:anim>
                                    <p:anim calcmode="lin" valueType="num">
                                      <p:cBhvr additive="base">
                                        <p:cTn id="8" dur="750" fill="hold"/>
                                        <p:tgtEl>
                                          <p:spTgt spid="54"/>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10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750" fill="hold"/>
                                        <p:tgtEl>
                                          <p:spTgt spid="35"/>
                                        </p:tgtEl>
                                        <p:attrNameLst>
                                          <p:attrName>ppt_x</p:attrName>
                                        </p:attrNameLst>
                                      </p:cBhvr>
                                      <p:tavLst>
                                        <p:tav tm="0">
                                          <p:val>
                                            <p:strVal val="#ppt_x"/>
                                          </p:val>
                                        </p:tav>
                                        <p:tav tm="100000">
                                          <p:val>
                                            <p:strVal val="#ppt_x"/>
                                          </p:val>
                                        </p:tav>
                                      </p:tavLst>
                                    </p:anim>
                                    <p:anim calcmode="lin" valueType="num">
                                      <p:cBhvr additive="base">
                                        <p:cTn id="12" dur="750" fill="hold"/>
                                        <p:tgtEl>
                                          <p:spTgt spid="35"/>
                                        </p:tgtEl>
                                        <p:attrNameLst>
                                          <p:attrName>ppt_y</p:attrName>
                                        </p:attrNameLst>
                                      </p:cBhvr>
                                      <p:tavLst>
                                        <p:tav tm="0">
                                          <p:val>
                                            <p:strVal val="0-#ppt_h/2"/>
                                          </p:val>
                                        </p:tav>
                                        <p:tav tm="100000">
                                          <p:val>
                                            <p:strVal val="#ppt_y"/>
                                          </p:val>
                                        </p:tav>
                                      </p:tavLst>
                                    </p:anim>
                                  </p:childTnLst>
                                </p:cTn>
                              </p:par>
                              <p:par>
                                <p:cTn id="13" presetID="2" presetClass="entr" presetSubtype="1" fill="hold" nodeType="withEffect">
                                  <p:stCondLst>
                                    <p:cond delay="20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750" fill="hold"/>
                                        <p:tgtEl>
                                          <p:spTgt spid="34"/>
                                        </p:tgtEl>
                                        <p:attrNameLst>
                                          <p:attrName>ppt_x</p:attrName>
                                        </p:attrNameLst>
                                      </p:cBhvr>
                                      <p:tavLst>
                                        <p:tav tm="0">
                                          <p:val>
                                            <p:strVal val="#ppt_x"/>
                                          </p:val>
                                        </p:tav>
                                        <p:tav tm="100000">
                                          <p:val>
                                            <p:strVal val="#ppt_x"/>
                                          </p:val>
                                        </p:tav>
                                      </p:tavLst>
                                    </p:anim>
                                    <p:anim calcmode="lin" valueType="num">
                                      <p:cBhvr additive="base">
                                        <p:cTn id="16" dur="750" fill="hold"/>
                                        <p:tgtEl>
                                          <p:spTgt spid="34"/>
                                        </p:tgtEl>
                                        <p:attrNameLst>
                                          <p:attrName>ppt_y</p:attrName>
                                        </p:attrNameLst>
                                      </p:cBhvr>
                                      <p:tavLst>
                                        <p:tav tm="0">
                                          <p:val>
                                            <p:strVal val="0-#ppt_h/2"/>
                                          </p:val>
                                        </p:tav>
                                        <p:tav tm="100000">
                                          <p:val>
                                            <p:strVal val="#ppt_y"/>
                                          </p:val>
                                        </p:tav>
                                      </p:tavLst>
                                    </p:anim>
                                  </p:childTnLst>
                                </p:cTn>
                              </p:par>
                              <p:par>
                                <p:cTn id="17" presetID="2" presetClass="entr" presetSubtype="3" fill="hold" nodeType="withEffect">
                                  <p:stCondLst>
                                    <p:cond delay="30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750" fill="hold"/>
                                        <p:tgtEl>
                                          <p:spTgt spid="42"/>
                                        </p:tgtEl>
                                        <p:attrNameLst>
                                          <p:attrName>ppt_x</p:attrName>
                                        </p:attrNameLst>
                                      </p:cBhvr>
                                      <p:tavLst>
                                        <p:tav tm="0">
                                          <p:val>
                                            <p:strVal val="1+#ppt_w/2"/>
                                          </p:val>
                                        </p:tav>
                                        <p:tav tm="100000">
                                          <p:val>
                                            <p:strVal val="#ppt_x"/>
                                          </p:val>
                                        </p:tav>
                                      </p:tavLst>
                                    </p:anim>
                                    <p:anim calcmode="lin" valueType="num">
                                      <p:cBhvr additive="base">
                                        <p:cTn id="20" dur="750" fill="hold"/>
                                        <p:tgtEl>
                                          <p:spTgt spid="42"/>
                                        </p:tgtEl>
                                        <p:attrNameLst>
                                          <p:attrName>ppt_y</p:attrName>
                                        </p:attrNameLst>
                                      </p:cBhvr>
                                      <p:tavLst>
                                        <p:tav tm="0">
                                          <p:val>
                                            <p:strVal val="0-#ppt_h/2"/>
                                          </p:val>
                                        </p:tav>
                                        <p:tav tm="100000">
                                          <p:val>
                                            <p:strVal val="#ppt_y"/>
                                          </p:val>
                                        </p:tav>
                                      </p:tavLst>
                                    </p:anim>
                                  </p:childTnLst>
                                </p:cTn>
                              </p:par>
                              <p:par>
                                <p:cTn id="21" presetID="2" presetClass="entr" presetSubtype="4" fill="hold" nodeType="withEffect">
                                  <p:stCondLst>
                                    <p:cond delay="400"/>
                                  </p:stCondLst>
                                  <p:childTnLst>
                                    <p:set>
                                      <p:cBhvr>
                                        <p:cTn id="22" dur="1" fill="hold">
                                          <p:stCondLst>
                                            <p:cond delay="0"/>
                                          </p:stCondLst>
                                        </p:cTn>
                                        <p:tgtEl>
                                          <p:spTgt spid="49"/>
                                        </p:tgtEl>
                                        <p:attrNameLst>
                                          <p:attrName>style.visibility</p:attrName>
                                        </p:attrNameLst>
                                      </p:cBhvr>
                                      <p:to>
                                        <p:strVal val="visible"/>
                                      </p:to>
                                    </p:set>
                                    <p:anim calcmode="lin" valueType="num">
                                      <p:cBhvr additive="base">
                                        <p:cTn id="23" dur="750" fill="hold"/>
                                        <p:tgtEl>
                                          <p:spTgt spid="49"/>
                                        </p:tgtEl>
                                        <p:attrNameLst>
                                          <p:attrName>ppt_x</p:attrName>
                                        </p:attrNameLst>
                                      </p:cBhvr>
                                      <p:tavLst>
                                        <p:tav tm="0">
                                          <p:val>
                                            <p:strVal val="#ppt_x"/>
                                          </p:val>
                                        </p:tav>
                                        <p:tav tm="100000">
                                          <p:val>
                                            <p:strVal val="#ppt_x"/>
                                          </p:val>
                                        </p:tav>
                                      </p:tavLst>
                                    </p:anim>
                                    <p:anim calcmode="lin" valueType="num">
                                      <p:cBhvr additive="base">
                                        <p:cTn id="24" dur="750" fill="hold"/>
                                        <p:tgtEl>
                                          <p:spTgt spid="49"/>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300"/>
                                  </p:stCondLst>
                                  <p:childTnLst>
                                    <p:set>
                                      <p:cBhvr>
                                        <p:cTn id="26" dur="1" fill="hold">
                                          <p:stCondLst>
                                            <p:cond delay="0"/>
                                          </p:stCondLst>
                                        </p:cTn>
                                        <p:tgtEl>
                                          <p:spTgt spid="43"/>
                                        </p:tgtEl>
                                        <p:attrNameLst>
                                          <p:attrName>style.visibility</p:attrName>
                                        </p:attrNameLst>
                                      </p:cBhvr>
                                      <p:to>
                                        <p:strVal val="visible"/>
                                      </p:to>
                                    </p:set>
                                    <p:anim calcmode="lin" valueType="num">
                                      <p:cBhvr additive="base">
                                        <p:cTn id="27" dur="750" fill="hold"/>
                                        <p:tgtEl>
                                          <p:spTgt spid="43"/>
                                        </p:tgtEl>
                                        <p:attrNameLst>
                                          <p:attrName>ppt_x</p:attrName>
                                        </p:attrNameLst>
                                      </p:cBhvr>
                                      <p:tavLst>
                                        <p:tav tm="0">
                                          <p:val>
                                            <p:strVal val="#ppt_x"/>
                                          </p:val>
                                        </p:tav>
                                        <p:tav tm="100000">
                                          <p:val>
                                            <p:strVal val="#ppt_x"/>
                                          </p:val>
                                        </p:tav>
                                      </p:tavLst>
                                    </p:anim>
                                    <p:anim calcmode="lin" valueType="num">
                                      <p:cBhvr additive="base">
                                        <p:cTn id="28" dur="750" fill="hold"/>
                                        <p:tgtEl>
                                          <p:spTgt spid="43"/>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200"/>
                                  </p:stCondLst>
                                  <p:childTnLst>
                                    <p:set>
                                      <p:cBhvr>
                                        <p:cTn id="30" dur="1" fill="hold">
                                          <p:stCondLst>
                                            <p:cond delay="0"/>
                                          </p:stCondLst>
                                        </p:cTn>
                                        <p:tgtEl>
                                          <p:spTgt spid="36"/>
                                        </p:tgtEl>
                                        <p:attrNameLst>
                                          <p:attrName>style.visibility</p:attrName>
                                        </p:attrNameLst>
                                      </p:cBhvr>
                                      <p:to>
                                        <p:strVal val="visible"/>
                                      </p:to>
                                    </p:set>
                                    <p:anim calcmode="lin" valueType="num">
                                      <p:cBhvr additive="base">
                                        <p:cTn id="31" dur="750" fill="hold"/>
                                        <p:tgtEl>
                                          <p:spTgt spid="36"/>
                                        </p:tgtEl>
                                        <p:attrNameLst>
                                          <p:attrName>ppt_x</p:attrName>
                                        </p:attrNameLst>
                                      </p:cBhvr>
                                      <p:tavLst>
                                        <p:tav tm="0">
                                          <p:val>
                                            <p:strVal val="#ppt_x"/>
                                          </p:val>
                                        </p:tav>
                                        <p:tav tm="100000">
                                          <p:val>
                                            <p:strVal val="#ppt_x"/>
                                          </p:val>
                                        </p:tav>
                                      </p:tavLst>
                                    </p:anim>
                                    <p:anim calcmode="lin" valueType="num">
                                      <p:cBhvr additive="base">
                                        <p:cTn id="32" dur="750" fill="hold"/>
                                        <p:tgtEl>
                                          <p:spTgt spid="36"/>
                                        </p:tgtEl>
                                        <p:attrNameLst>
                                          <p:attrName>ppt_y</p:attrName>
                                        </p:attrNameLst>
                                      </p:cBhvr>
                                      <p:tavLst>
                                        <p:tav tm="0">
                                          <p:val>
                                            <p:strVal val="1+#ppt_h/2"/>
                                          </p:val>
                                        </p:tav>
                                        <p:tav tm="100000">
                                          <p:val>
                                            <p:strVal val="#ppt_y"/>
                                          </p:val>
                                        </p:tav>
                                      </p:tavLst>
                                    </p:anim>
                                  </p:childTnLst>
                                </p:cTn>
                              </p:par>
                              <p:par>
                                <p:cTn id="33" presetID="2" presetClass="entr" presetSubtype="12" fill="hold" nodeType="withEffect">
                                  <p:stCondLst>
                                    <p:cond delay="100"/>
                                  </p:stCondLst>
                                  <p:childTnLst>
                                    <p:set>
                                      <p:cBhvr>
                                        <p:cTn id="34" dur="1" fill="hold">
                                          <p:stCondLst>
                                            <p:cond delay="0"/>
                                          </p:stCondLst>
                                        </p:cTn>
                                        <p:tgtEl>
                                          <p:spTgt spid="60"/>
                                        </p:tgtEl>
                                        <p:attrNameLst>
                                          <p:attrName>style.visibility</p:attrName>
                                        </p:attrNameLst>
                                      </p:cBhvr>
                                      <p:to>
                                        <p:strVal val="visible"/>
                                      </p:to>
                                    </p:set>
                                    <p:anim calcmode="lin" valueType="num">
                                      <p:cBhvr additive="base">
                                        <p:cTn id="35" dur="750" fill="hold"/>
                                        <p:tgtEl>
                                          <p:spTgt spid="60"/>
                                        </p:tgtEl>
                                        <p:attrNameLst>
                                          <p:attrName>ppt_x</p:attrName>
                                        </p:attrNameLst>
                                      </p:cBhvr>
                                      <p:tavLst>
                                        <p:tav tm="0">
                                          <p:val>
                                            <p:strVal val="0-#ppt_w/2"/>
                                          </p:val>
                                        </p:tav>
                                        <p:tav tm="100000">
                                          <p:val>
                                            <p:strVal val="#ppt_x"/>
                                          </p:val>
                                        </p:tav>
                                      </p:tavLst>
                                    </p:anim>
                                    <p:anim calcmode="lin" valueType="num">
                                      <p:cBhvr additive="base">
                                        <p:cTn id="36" dur="750" fill="hold"/>
                                        <p:tgtEl>
                                          <p:spTgt spid="60"/>
                                        </p:tgtEl>
                                        <p:attrNameLst>
                                          <p:attrName>ppt_y</p:attrName>
                                        </p:attrNameLst>
                                      </p:cBhvr>
                                      <p:tavLst>
                                        <p:tav tm="0">
                                          <p:val>
                                            <p:strVal val="1+#ppt_h/2"/>
                                          </p:val>
                                        </p:tav>
                                        <p:tav tm="100000">
                                          <p:val>
                                            <p:strVal val="#ppt_y"/>
                                          </p:val>
                                        </p:tav>
                                      </p:tavLst>
                                    </p:anim>
                                  </p:childTnLst>
                                </p:cTn>
                              </p:par>
                              <p:par>
                                <p:cTn id="37" presetID="2" presetClass="entr" presetSubtype="12" fill="hold" nodeType="withEffect">
                                  <p:stCondLst>
                                    <p:cond delay="0"/>
                                  </p:stCondLst>
                                  <p:childTnLst>
                                    <p:set>
                                      <p:cBhvr>
                                        <p:cTn id="38" dur="1" fill="hold">
                                          <p:stCondLst>
                                            <p:cond delay="0"/>
                                          </p:stCondLst>
                                        </p:cTn>
                                        <p:tgtEl>
                                          <p:spTgt spid="6"/>
                                        </p:tgtEl>
                                        <p:attrNameLst>
                                          <p:attrName>style.visibility</p:attrName>
                                        </p:attrNameLst>
                                      </p:cBhvr>
                                      <p:to>
                                        <p:strVal val="visible"/>
                                      </p:to>
                                    </p:set>
                                    <p:anim calcmode="lin" valueType="num">
                                      <p:cBhvr additive="base">
                                        <p:cTn id="39" dur="750" fill="hold"/>
                                        <p:tgtEl>
                                          <p:spTgt spid="6"/>
                                        </p:tgtEl>
                                        <p:attrNameLst>
                                          <p:attrName>ppt_x</p:attrName>
                                        </p:attrNameLst>
                                      </p:cBhvr>
                                      <p:tavLst>
                                        <p:tav tm="0">
                                          <p:val>
                                            <p:strVal val="0-#ppt_w/2"/>
                                          </p:val>
                                        </p:tav>
                                        <p:tav tm="100000">
                                          <p:val>
                                            <p:strVal val="#ppt_x"/>
                                          </p:val>
                                        </p:tav>
                                      </p:tavLst>
                                    </p:anim>
                                    <p:anim calcmode="lin" valueType="num">
                                      <p:cBhvr additive="base">
                                        <p:cTn id="40" dur="750" fill="hold"/>
                                        <p:tgtEl>
                                          <p:spTgt spid="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800"/>
                                  </p:stCondLst>
                                  <p:childTnLst>
                                    <p:set>
                                      <p:cBhvr>
                                        <p:cTn id="42" dur="1" fill="hold">
                                          <p:stCondLst>
                                            <p:cond delay="0"/>
                                          </p:stCondLst>
                                        </p:cTn>
                                        <p:tgtEl>
                                          <p:spTgt spid="37"/>
                                        </p:tgtEl>
                                        <p:attrNameLst>
                                          <p:attrName>style.visibility</p:attrName>
                                        </p:attrNameLst>
                                      </p:cBhvr>
                                      <p:to>
                                        <p:strVal val="visible"/>
                                      </p:to>
                                    </p:set>
                                    <p:anim calcmode="lin" valueType="num">
                                      <p:cBhvr additive="base">
                                        <p:cTn id="43" dur="600" fill="hold"/>
                                        <p:tgtEl>
                                          <p:spTgt spid="37"/>
                                        </p:tgtEl>
                                        <p:attrNameLst>
                                          <p:attrName>ppt_x</p:attrName>
                                        </p:attrNameLst>
                                      </p:cBhvr>
                                      <p:tavLst>
                                        <p:tav tm="0">
                                          <p:val>
                                            <p:strVal val="#ppt_x"/>
                                          </p:val>
                                        </p:tav>
                                        <p:tav tm="100000">
                                          <p:val>
                                            <p:strVal val="#ppt_x"/>
                                          </p:val>
                                        </p:tav>
                                      </p:tavLst>
                                    </p:anim>
                                    <p:anim calcmode="lin" valueType="num">
                                      <p:cBhvr additive="base">
                                        <p:cTn id="44" dur="6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59467" y="1138756"/>
            <a:ext cx="702417" cy="702417"/>
            <a:chOff x="2921917" y="2223151"/>
            <a:chExt cx="1527064" cy="1527064"/>
          </a:xfrm>
        </p:grpSpPr>
        <p:grpSp>
          <p:nvGrpSpPr>
            <p:cNvPr id="3" name="组合 2"/>
            <p:cNvGrpSpPr/>
            <p:nvPr/>
          </p:nvGrpSpPr>
          <p:grpSpPr>
            <a:xfrm>
              <a:off x="2921917" y="2223151"/>
              <a:ext cx="1527064" cy="1527064"/>
              <a:chOff x="1200760" y="3842075"/>
              <a:chExt cx="1784148" cy="1784148"/>
            </a:xfrm>
          </p:grpSpPr>
          <p:sp>
            <p:nvSpPr>
              <p:cNvPr id="5" name="椭圆 4"/>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sp>
            <p:nvSpPr>
              <p:cNvPr id="6" name="椭圆 5"/>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grpSp>
        <p:sp>
          <p:nvSpPr>
            <p:cNvPr id="4" name="文本框 168"/>
            <p:cNvSpPr txBox="1"/>
            <p:nvPr/>
          </p:nvSpPr>
          <p:spPr>
            <a:xfrm>
              <a:off x="2921917" y="2490948"/>
              <a:ext cx="1415526" cy="1134770"/>
            </a:xfrm>
            <a:prstGeom prst="rect">
              <a:avLst/>
            </a:prstGeom>
            <a:noFill/>
          </p:spPr>
          <p:txBody>
            <a:bodyPr wrap="square" rtlCol="0">
              <a:spAutoFit/>
            </a:bodyPr>
            <a:lstStyle/>
            <a:p>
              <a:pPr algn="ctr">
                <a:defRPr/>
              </a:pPr>
              <a:r>
                <a:rPr lang="en-US" altLang="zh-CN" sz="2800" dirty="0">
                  <a:solidFill>
                    <a:prstClr val="white"/>
                  </a:solidFill>
                  <a:latin typeface="微软雅黑" panose="020B0503020204020204" pitchFamily="34" charset="-122"/>
                  <a:ea typeface="微软雅黑" panose="020B0503020204020204" pitchFamily="34" charset="-122"/>
                </a:rPr>
                <a:t>01</a:t>
              </a:r>
              <a:endParaRPr lang="zh-CN" altLang="en-US" sz="2800" dirty="0">
                <a:solidFill>
                  <a:prstClr val="white"/>
                </a:solidFill>
                <a:latin typeface="微软雅黑" panose="020B0503020204020204" pitchFamily="34" charset="-122"/>
                <a:ea typeface="微软雅黑" panose="020B0503020204020204" pitchFamily="34" charset="-122"/>
              </a:endParaRPr>
            </a:p>
          </p:txBody>
        </p:sp>
      </p:grpSp>
      <p:sp>
        <p:nvSpPr>
          <p:cNvPr id="7" name="文本框 6"/>
          <p:cNvSpPr txBox="1"/>
          <p:nvPr/>
        </p:nvSpPr>
        <p:spPr>
          <a:xfrm>
            <a:off x="1476815" y="1307656"/>
            <a:ext cx="5216085"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11.1 JSON </a:t>
            </a:r>
            <a:r>
              <a:rPr lang="zh-CN" altLang="en-US" sz="2400" b="1" dirty="0" smtClean="0">
                <a:solidFill>
                  <a:prstClr val="white"/>
                </a:solidFill>
                <a:latin typeface="微软雅黑" panose="020B0503020204020204" pitchFamily="34" charset="-122"/>
                <a:ea typeface="微软雅黑" panose="020B0503020204020204" pitchFamily="34" charset="-122"/>
              </a:rPr>
              <a:t>简介</a:t>
            </a:r>
            <a:endParaRPr lang="zh-CN" altLang="en-US" dirty="0">
              <a:solidFill>
                <a:prstClr val="white"/>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359467" y="2063954"/>
            <a:ext cx="702417" cy="702417"/>
            <a:chOff x="2921917" y="2223151"/>
            <a:chExt cx="1527064" cy="1527064"/>
          </a:xfrm>
        </p:grpSpPr>
        <p:grpSp>
          <p:nvGrpSpPr>
            <p:cNvPr id="9" name="组合 8"/>
            <p:cNvGrpSpPr/>
            <p:nvPr/>
          </p:nvGrpSpPr>
          <p:grpSpPr>
            <a:xfrm>
              <a:off x="2921917" y="2223151"/>
              <a:ext cx="1527064" cy="1527064"/>
              <a:chOff x="1200760" y="3842075"/>
              <a:chExt cx="1784148" cy="1784148"/>
            </a:xfrm>
          </p:grpSpPr>
          <p:sp>
            <p:nvSpPr>
              <p:cNvPr id="11" name="椭圆 10"/>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sp>
            <p:nvSpPr>
              <p:cNvPr id="12" name="椭圆 11"/>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grpSp>
        <p:sp>
          <p:nvSpPr>
            <p:cNvPr id="10" name="文本框 168"/>
            <p:cNvSpPr txBox="1"/>
            <p:nvPr/>
          </p:nvSpPr>
          <p:spPr>
            <a:xfrm>
              <a:off x="2921917" y="2490948"/>
              <a:ext cx="1415526" cy="1134770"/>
            </a:xfrm>
            <a:prstGeom prst="rect">
              <a:avLst/>
            </a:prstGeom>
            <a:noFill/>
          </p:spPr>
          <p:txBody>
            <a:bodyPr wrap="square" rtlCol="0">
              <a:spAutoFit/>
            </a:bodyPr>
            <a:lstStyle/>
            <a:p>
              <a:pPr algn="ctr">
                <a:defRPr/>
              </a:pPr>
              <a:r>
                <a:rPr lang="en-US" altLang="zh-CN" sz="2800" dirty="0">
                  <a:solidFill>
                    <a:prstClr val="white"/>
                  </a:solidFill>
                  <a:latin typeface="微软雅黑" panose="020B0503020204020204" pitchFamily="34" charset="-122"/>
                  <a:ea typeface="微软雅黑" panose="020B0503020204020204" pitchFamily="34" charset="-122"/>
                </a:rPr>
                <a:t>02</a:t>
              </a:r>
              <a:endParaRPr lang="zh-CN" altLang="en-US" sz="2800" dirty="0">
                <a:solidFill>
                  <a:prstClr val="white"/>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389017" y="3036391"/>
            <a:ext cx="702417" cy="702417"/>
            <a:chOff x="2921917" y="2223151"/>
            <a:chExt cx="1527064" cy="1527064"/>
          </a:xfrm>
        </p:grpSpPr>
        <p:grpSp>
          <p:nvGrpSpPr>
            <p:cNvPr id="15" name="组合 14"/>
            <p:cNvGrpSpPr/>
            <p:nvPr/>
          </p:nvGrpSpPr>
          <p:grpSpPr>
            <a:xfrm>
              <a:off x="2921917" y="2223151"/>
              <a:ext cx="1527064" cy="1527064"/>
              <a:chOff x="1200760" y="3842075"/>
              <a:chExt cx="1784148" cy="1784148"/>
            </a:xfrm>
          </p:grpSpPr>
          <p:sp>
            <p:nvSpPr>
              <p:cNvPr id="17" name="椭圆 16"/>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sp>
            <p:nvSpPr>
              <p:cNvPr id="18" name="椭圆 17"/>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grpSp>
        <p:sp>
          <p:nvSpPr>
            <p:cNvPr id="16" name="文本框 168"/>
            <p:cNvSpPr txBox="1"/>
            <p:nvPr/>
          </p:nvSpPr>
          <p:spPr>
            <a:xfrm>
              <a:off x="2921917" y="2490948"/>
              <a:ext cx="1415526" cy="1134770"/>
            </a:xfrm>
            <a:prstGeom prst="rect">
              <a:avLst/>
            </a:prstGeom>
            <a:noFill/>
          </p:spPr>
          <p:txBody>
            <a:bodyPr wrap="square" rtlCol="0">
              <a:spAutoFit/>
            </a:bodyPr>
            <a:lstStyle/>
            <a:p>
              <a:pPr algn="ctr">
                <a:defRPr/>
              </a:pPr>
              <a:r>
                <a:rPr lang="en-US" altLang="zh-CN" sz="2800" dirty="0">
                  <a:solidFill>
                    <a:prstClr val="white"/>
                  </a:solidFill>
                  <a:latin typeface="微软雅黑" panose="020B0503020204020204" pitchFamily="34" charset="-122"/>
                  <a:ea typeface="微软雅黑" panose="020B0503020204020204" pitchFamily="34" charset="-122"/>
                </a:rPr>
                <a:t>03</a:t>
              </a:r>
              <a:endParaRPr lang="zh-CN" altLang="en-US" sz="2800" dirty="0">
                <a:solidFill>
                  <a:prstClr val="white"/>
                </a:solidFill>
                <a:latin typeface="微软雅黑" panose="020B0503020204020204" pitchFamily="34" charset="-122"/>
                <a:ea typeface="微软雅黑" panose="020B0503020204020204" pitchFamily="34" charset="-122"/>
              </a:endParaRPr>
            </a:p>
          </p:txBody>
        </p:sp>
      </p:grpSp>
      <p:grpSp>
        <p:nvGrpSpPr>
          <p:cNvPr id="20" name="组合 19"/>
          <p:cNvGrpSpPr/>
          <p:nvPr/>
        </p:nvGrpSpPr>
        <p:grpSpPr>
          <a:xfrm>
            <a:off x="363617" y="3980304"/>
            <a:ext cx="702417" cy="702417"/>
            <a:chOff x="2921917" y="2223151"/>
            <a:chExt cx="1527064" cy="1527064"/>
          </a:xfrm>
        </p:grpSpPr>
        <p:grpSp>
          <p:nvGrpSpPr>
            <p:cNvPr id="21" name="组合 20"/>
            <p:cNvGrpSpPr/>
            <p:nvPr/>
          </p:nvGrpSpPr>
          <p:grpSpPr>
            <a:xfrm>
              <a:off x="2921917" y="2223151"/>
              <a:ext cx="1527064" cy="1527064"/>
              <a:chOff x="1200760" y="3842075"/>
              <a:chExt cx="1784148" cy="1784148"/>
            </a:xfrm>
          </p:grpSpPr>
          <p:sp>
            <p:nvSpPr>
              <p:cNvPr id="23" name="椭圆 22"/>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sp>
            <p:nvSpPr>
              <p:cNvPr id="24" name="椭圆 23"/>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grpSp>
        <p:sp>
          <p:nvSpPr>
            <p:cNvPr id="22" name="文本框 168"/>
            <p:cNvSpPr txBox="1"/>
            <p:nvPr/>
          </p:nvSpPr>
          <p:spPr>
            <a:xfrm>
              <a:off x="2921917" y="2490948"/>
              <a:ext cx="1415526" cy="1134770"/>
            </a:xfrm>
            <a:prstGeom prst="rect">
              <a:avLst/>
            </a:prstGeom>
            <a:noFill/>
          </p:spPr>
          <p:txBody>
            <a:bodyPr wrap="square" rtlCol="0">
              <a:spAutoFit/>
            </a:bodyPr>
            <a:lstStyle/>
            <a:p>
              <a:pPr algn="ctr">
                <a:defRPr/>
              </a:pPr>
              <a:r>
                <a:rPr lang="en-US" altLang="zh-CN" sz="2800" dirty="0">
                  <a:solidFill>
                    <a:prstClr val="white"/>
                  </a:solidFill>
                  <a:latin typeface="微软雅黑" panose="020B0503020204020204" pitchFamily="34" charset="-122"/>
                  <a:ea typeface="微软雅黑" panose="020B0503020204020204" pitchFamily="34" charset="-122"/>
                </a:rPr>
                <a:t>04</a:t>
              </a:r>
              <a:endParaRPr lang="zh-CN" altLang="en-US" sz="2800" dirty="0">
                <a:solidFill>
                  <a:prstClr val="white"/>
                </a:solidFill>
                <a:latin typeface="微软雅黑" panose="020B0503020204020204" pitchFamily="34" charset="-122"/>
                <a:ea typeface="微软雅黑" panose="020B0503020204020204" pitchFamily="34" charset="-122"/>
              </a:endParaRPr>
            </a:p>
          </p:txBody>
        </p:sp>
      </p:grpSp>
      <p:cxnSp>
        <p:nvCxnSpPr>
          <p:cNvPr id="27" name="直接连接符 26"/>
          <p:cNvCxnSpPr/>
          <p:nvPr/>
        </p:nvCxnSpPr>
        <p:spPr>
          <a:xfrm flipH="1">
            <a:off x="5523803" y="-41991"/>
            <a:ext cx="2901652" cy="2901652"/>
          </a:xfrm>
          <a:prstGeom prst="line">
            <a:avLst/>
          </a:prstGeom>
          <a:ln w="25400">
            <a:solidFill>
              <a:srgbClr val="F7BA3B"/>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7668344" y="620688"/>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7596336" y="1988840"/>
            <a:ext cx="1979712" cy="1979712"/>
          </a:xfrm>
          <a:prstGeom prst="line">
            <a:avLst/>
          </a:prstGeom>
          <a:ln w="25400">
            <a:solidFill>
              <a:srgbClr val="DA634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6948264" y="4653136"/>
            <a:ext cx="1656184" cy="1656184"/>
          </a:xfrm>
          <a:prstGeom prst="line">
            <a:avLst/>
          </a:prstGeom>
          <a:ln w="25400">
            <a:solidFill>
              <a:srgbClr val="2FB6A8"/>
            </a:solidFill>
            <a:headEnd type="triangle"/>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5292080" y="5517232"/>
            <a:ext cx="767730" cy="767730"/>
          </a:xfrm>
          <a:prstGeom prst="line">
            <a:avLst/>
          </a:prstGeom>
          <a:ln w="25400">
            <a:solidFill>
              <a:srgbClr val="DA634F"/>
            </a:solidFill>
            <a:head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6256186" y="3035885"/>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9" name="文本框 6"/>
          <p:cNvSpPr txBox="1"/>
          <p:nvPr/>
        </p:nvSpPr>
        <p:spPr>
          <a:xfrm>
            <a:off x="1476814" y="2285556"/>
            <a:ext cx="4962086"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a:t>
            </a:r>
            <a:r>
              <a:rPr lang="en-US" altLang="zh-CN" sz="2400" b="1" dirty="0" smtClean="0">
                <a:solidFill>
                  <a:prstClr val="white"/>
                </a:solidFill>
                <a:latin typeface="微软雅黑" panose="020B0503020204020204" pitchFamily="34" charset="-122"/>
                <a:ea typeface="微软雅黑" panose="020B0503020204020204" pitchFamily="34" charset="-122"/>
              </a:rPr>
              <a:t>.2 </a:t>
            </a:r>
            <a:r>
              <a:rPr lang="zh-CN" altLang="en-US" sz="2400" b="1" dirty="0" smtClean="0">
                <a:solidFill>
                  <a:prstClr val="white"/>
                </a:solidFill>
                <a:latin typeface="微软雅黑" panose="020B0503020204020204" pitchFamily="34" charset="-122"/>
                <a:ea typeface="微软雅黑" panose="020B0503020204020204" pitchFamily="34" charset="-122"/>
              </a:rPr>
              <a:t>服务器端生成 </a:t>
            </a:r>
            <a:r>
              <a:rPr lang="en-US" altLang="zh-CN" sz="2400" b="1" dirty="0" smtClean="0">
                <a:solidFill>
                  <a:prstClr val="white"/>
                </a:solidFill>
                <a:latin typeface="微软雅黑" panose="020B0503020204020204" pitchFamily="34" charset="-122"/>
                <a:ea typeface="微软雅黑" panose="020B0503020204020204" pitchFamily="34" charset="-122"/>
              </a:rPr>
              <a:t>JSON </a:t>
            </a:r>
            <a:r>
              <a:rPr lang="zh-CN" altLang="en-US" sz="2400" b="1" dirty="0" smtClean="0">
                <a:solidFill>
                  <a:prstClr val="white"/>
                </a:solidFill>
                <a:latin typeface="微软雅黑" panose="020B0503020204020204" pitchFamily="34" charset="-122"/>
                <a:ea typeface="微软雅黑" panose="020B0503020204020204" pitchFamily="34" charset="-122"/>
              </a:rPr>
              <a:t>数据</a:t>
            </a: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50" name="文本框 6"/>
          <p:cNvSpPr txBox="1"/>
          <p:nvPr/>
        </p:nvSpPr>
        <p:spPr>
          <a:xfrm>
            <a:off x="1476814" y="3212656"/>
            <a:ext cx="4873186"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11.3 </a:t>
            </a:r>
            <a:r>
              <a:rPr lang="zh-CN" altLang="en-US" sz="2400" b="1" dirty="0" smtClean="0">
                <a:solidFill>
                  <a:prstClr val="white"/>
                </a:solidFill>
                <a:latin typeface="微软雅黑" panose="020B0503020204020204" pitchFamily="34" charset="-122"/>
                <a:ea typeface="微软雅黑" panose="020B0503020204020204" pitchFamily="34" charset="-122"/>
              </a:rPr>
              <a:t>在手机客户端解析 </a:t>
            </a:r>
            <a:r>
              <a:rPr lang="en-US" altLang="zh-CN" sz="2400" b="1" dirty="0" smtClean="0">
                <a:solidFill>
                  <a:prstClr val="white"/>
                </a:solidFill>
                <a:latin typeface="微软雅黑" panose="020B0503020204020204" pitchFamily="34" charset="-122"/>
                <a:ea typeface="微软雅黑" panose="020B0503020204020204" pitchFamily="34" charset="-122"/>
              </a:rPr>
              <a:t>JSON</a:t>
            </a: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51" name="文本框 6"/>
          <p:cNvSpPr txBox="1"/>
          <p:nvPr/>
        </p:nvSpPr>
        <p:spPr>
          <a:xfrm>
            <a:off x="1476814" y="4127056"/>
            <a:ext cx="3272985"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11.4 </a:t>
            </a:r>
            <a:r>
              <a:rPr lang="zh-CN" altLang="en-US" sz="2400" b="1" dirty="0" smtClean="0">
                <a:solidFill>
                  <a:prstClr val="white"/>
                </a:solidFill>
                <a:latin typeface="微软雅黑" panose="020B0503020204020204" pitchFamily="34" charset="-122"/>
                <a:ea typeface="微软雅黑" panose="020B0503020204020204" pitchFamily="34" charset="-122"/>
              </a:rPr>
              <a:t>项目实战</a:t>
            </a:r>
            <a:endParaRPr lang="zh-CN" altLang="en-US" dirty="0">
              <a:solidFill>
                <a:prstClr val="white"/>
              </a:solidFill>
              <a:latin typeface="微软雅黑" panose="020B0503020204020204" pitchFamily="34" charset="-122"/>
              <a:ea typeface="微软雅黑" panose="020B0503020204020204" pitchFamily="34" charset="-122"/>
            </a:endParaRPr>
          </a:p>
        </p:txBody>
      </p:sp>
      <p:grpSp>
        <p:nvGrpSpPr>
          <p:cNvPr id="32" name="组合 31"/>
          <p:cNvGrpSpPr/>
          <p:nvPr/>
        </p:nvGrpSpPr>
        <p:grpSpPr>
          <a:xfrm>
            <a:off x="363617" y="4958204"/>
            <a:ext cx="702417" cy="702417"/>
            <a:chOff x="2921917" y="2223151"/>
            <a:chExt cx="1527064" cy="1527064"/>
          </a:xfrm>
        </p:grpSpPr>
        <p:grpSp>
          <p:nvGrpSpPr>
            <p:cNvPr id="34" name="组合 20"/>
            <p:cNvGrpSpPr/>
            <p:nvPr/>
          </p:nvGrpSpPr>
          <p:grpSpPr>
            <a:xfrm>
              <a:off x="2921917" y="2223151"/>
              <a:ext cx="1527064" cy="1527064"/>
              <a:chOff x="1200760" y="3842075"/>
              <a:chExt cx="1784148" cy="1784148"/>
            </a:xfrm>
          </p:grpSpPr>
          <p:sp>
            <p:nvSpPr>
              <p:cNvPr id="36" name="椭圆 35"/>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sp>
            <p:nvSpPr>
              <p:cNvPr id="37" name="椭圆 36"/>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grpSp>
        <p:sp>
          <p:nvSpPr>
            <p:cNvPr id="35" name="文本框 168"/>
            <p:cNvSpPr txBox="1"/>
            <p:nvPr/>
          </p:nvSpPr>
          <p:spPr>
            <a:xfrm>
              <a:off x="2921917" y="2490948"/>
              <a:ext cx="1415526" cy="1134770"/>
            </a:xfrm>
            <a:prstGeom prst="rect">
              <a:avLst/>
            </a:prstGeom>
            <a:noFill/>
          </p:spPr>
          <p:txBody>
            <a:bodyPr wrap="square" rtlCol="0">
              <a:spAutoFit/>
            </a:bodyPr>
            <a:lstStyle/>
            <a:p>
              <a:pPr algn="ctr">
                <a:defRPr/>
              </a:pPr>
              <a:r>
                <a:rPr lang="en-US" altLang="zh-CN" sz="2800" dirty="0" smtClean="0">
                  <a:solidFill>
                    <a:prstClr val="white"/>
                  </a:solidFill>
                  <a:latin typeface="微软雅黑" panose="020B0503020204020204" pitchFamily="34" charset="-122"/>
                  <a:ea typeface="微软雅黑" panose="020B0503020204020204" pitchFamily="34" charset="-122"/>
                </a:rPr>
                <a:t>05</a:t>
              </a:r>
              <a:endParaRPr lang="zh-CN" altLang="en-US" sz="2800" dirty="0">
                <a:solidFill>
                  <a:prstClr val="white"/>
                </a:solidFill>
                <a:latin typeface="微软雅黑" panose="020B0503020204020204" pitchFamily="34" charset="-122"/>
                <a:ea typeface="微软雅黑" panose="020B0503020204020204" pitchFamily="34" charset="-122"/>
              </a:endParaRPr>
            </a:p>
          </p:txBody>
        </p:sp>
      </p:grpSp>
      <p:sp>
        <p:nvSpPr>
          <p:cNvPr id="38" name="文本框 6"/>
          <p:cNvSpPr txBox="1"/>
          <p:nvPr/>
        </p:nvSpPr>
        <p:spPr>
          <a:xfrm>
            <a:off x="1476814" y="5104956"/>
            <a:ext cx="3272985"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11.5 </a:t>
            </a:r>
            <a:r>
              <a:rPr lang="zh-CN" altLang="en-US" sz="2400" b="1" dirty="0" smtClean="0">
                <a:solidFill>
                  <a:prstClr val="white"/>
                </a:solidFill>
                <a:latin typeface="微软雅黑" panose="020B0503020204020204" pitchFamily="34" charset="-122"/>
                <a:ea typeface="微软雅黑" panose="020B0503020204020204" pitchFamily="34" charset="-122"/>
              </a:rPr>
              <a:t>本章小结</a:t>
            </a:r>
            <a:endParaRPr lang="zh-CN" altLang="en-US"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ppt_w</p:attrName>
                                        </p:attrNameLst>
                                      </p:cBhvr>
                                      <p:tavLst>
                                        <p:tav tm="0">
                                          <p:val>
                                            <p:fltVal val="0"/>
                                          </p:val>
                                        </p:tav>
                                        <p:tav tm="100000">
                                          <p:val>
                                            <p:strVal val="#ppt_w"/>
                                          </p:val>
                                        </p:tav>
                                      </p:tavLst>
                                    </p:anim>
                                    <p:anim calcmode="lin" valueType="num">
                                      <p:cBhvr>
                                        <p:cTn id="14" dur="500" fill="hold"/>
                                        <p:tgtEl>
                                          <p:spTgt spid="7"/>
                                        </p:tgtEl>
                                        <p:attrNameLst>
                                          <p:attrName>ppt_h</p:attrName>
                                        </p:attrNameLst>
                                      </p:cBhvr>
                                      <p:tavLst>
                                        <p:tav tm="0">
                                          <p:val>
                                            <p:fltVal val="0"/>
                                          </p:val>
                                        </p:tav>
                                        <p:tav tm="100000">
                                          <p:val>
                                            <p:strVal val="#ppt_h"/>
                                          </p:val>
                                        </p:tav>
                                      </p:tavLst>
                                    </p:anim>
                                    <p:animEffect transition="in" filter="fade">
                                      <p:cBhvr>
                                        <p:cTn id="15" dur="500"/>
                                        <p:tgtEl>
                                          <p:spTgt spid="7"/>
                                        </p:tgtEl>
                                      </p:cBhvr>
                                    </p:animEffect>
                                  </p:childTnLst>
                                </p:cTn>
                              </p:par>
                            </p:childTnLst>
                          </p:cTn>
                        </p:par>
                        <p:par>
                          <p:cTn id="16" fill="hold">
                            <p:stCondLst>
                              <p:cond delay="1000"/>
                            </p:stCondLst>
                            <p:childTnLst>
                              <p:par>
                                <p:cTn id="17" presetID="53" presetClass="entr" presetSubtype="16"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500" fill="hold"/>
                                        <p:tgtEl>
                                          <p:spTgt spid="8"/>
                                        </p:tgtEl>
                                        <p:attrNameLst>
                                          <p:attrName>ppt_w</p:attrName>
                                        </p:attrNameLst>
                                      </p:cBhvr>
                                      <p:tavLst>
                                        <p:tav tm="0">
                                          <p:val>
                                            <p:fltVal val="0"/>
                                          </p:val>
                                        </p:tav>
                                        <p:tav tm="100000">
                                          <p:val>
                                            <p:strVal val="#ppt_w"/>
                                          </p:val>
                                        </p:tav>
                                      </p:tavLst>
                                    </p:anim>
                                    <p:anim calcmode="lin" valueType="num">
                                      <p:cBhvr>
                                        <p:cTn id="20" dur="500" fill="hold"/>
                                        <p:tgtEl>
                                          <p:spTgt spid="8"/>
                                        </p:tgtEl>
                                        <p:attrNameLst>
                                          <p:attrName>ppt_h</p:attrName>
                                        </p:attrNameLst>
                                      </p:cBhvr>
                                      <p:tavLst>
                                        <p:tav tm="0">
                                          <p:val>
                                            <p:fltVal val="0"/>
                                          </p:val>
                                        </p:tav>
                                        <p:tav tm="100000">
                                          <p:val>
                                            <p:strVal val="#ppt_h"/>
                                          </p:val>
                                        </p:tav>
                                      </p:tavLst>
                                    </p:anim>
                                    <p:animEffect transition="in" filter="fade">
                                      <p:cBhvr>
                                        <p:cTn id="21" dur="500"/>
                                        <p:tgtEl>
                                          <p:spTgt spid="8"/>
                                        </p:tgtEl>
                                      </p:cBhvr>
                                    </p:animEffect>
                                  </p:childTnLst>
                                </p:cTn>
                              </p:par>
                            </p:childTnLst>
                          </p:cTn>
                        </p:par>
                        <p:par>
                          <p:cTn id="22" fill="hold">
                            <p:stCondLst>
                              <p:cond delay="1500"/>
                            </p:stCondLst>
                            <p:childTnLst>
                              <p:par>
                                <p:cTn id="23" presetID="53" presetClass="entr" presetSubtype="16" fill="hold" nodeType="after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p:cTn id="25" dur="500" fill="hold"/>
                                        <p:tgtEl>
                                          <p:spTgt spid="14"/>
                                        </p:tgtEl>
                                        <p:attrNameLst>
                                          <p:attrName>ppt_w</p:attrName>
                                        </p:attrNameLst>
                                      </p:cBhvr>
                                      <p:tavLst>
                                        <p:tav tm="0">
                                          <p:val>
                                            <p:fltVal val="0"/>
                                          </p:val>
                                        </p:tav>
                                        <p:tav tm="100000">
                                          <p:val>
                                            <p:strVal val="#ppt_w"/>
                                          </p:val>
                                        </p:tav>
                                      </p:tavLst>
                                    </p:anim>
                                    <p:anim calcmode="lin" valueType="num">
                                      <p:cBhvr>
                                        <p:cTn id="26" dur="500" fill="hold"/>
                                        <p:tgtEl>
                                          <p:spTgt spid="14"/>
                                        </p:tgtEl>
                                        <p:attrNameLst>
                                          <p:attrName>ppt_h</p:attrName>
                                        </p:attrNameLst>
                                      </p:cBhvr>
                                      <p:tavLst>
                                        <p:tav tm="0">
                                          <p:val>
                                            <p:fltVal val="0"/>
                                          </p:val>
                                        </p:tav>
                                        <p:tav tm="100000">
                                          <p:val>
                                            <p:strVal val="#ppt_h"/>
                                          </p:val>
                                        </p:tav>
                                      </p:tavLst>
                                    </p:anim>
                                    <p:animEffect transition="in" filter="fade">
                                      <p:cBhvr>
                                        <p:cTn id="27" dur="500"/>
                                        <p:tgtEl>
                                          <p:spTgt spid="14"/>
                                        </p:tgtEl>
                                      </p:cBhvr>
                                    </p:animEffect>
                                  </p:childTnLst>
                                </p:cTn>
                              </p:par>
                            </p:childTnLst>
                          </p:cTn>
                        </p:par>
                        <p:par>
                          <p:cTn id="28" fill="hold">
                            <p:stCondLst>
                              <p:cond delay="2000"/>
                            </p:stCondLst>
                            <p:childTnLst>
                              <p:par>
                                <p:cTn id="29" presetID="53" presetClass="entr" presetSubtype="16" fill="hold" nodeType="after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p:cTn id="31" dur="500" fill="hold"/>
                                        <p:tgtEl>
                                          <p:spTgt spid="20"/>
                                        </p:tgtEl>
                                        <p:attrNameLst>
                                          <p:attrName>ppt_w</p:attrName>
                                        </p:attrNameLst>
                                      </p:cBhvr>
                                      <p:tavLst>
                                        <p:tav tm="0">
                                          <p:val>
                                            <p:fltVal val="0"/>
                                          </p:val>
                                        </p:tav>
                                        <p:tav tm="100000">
                                          <p:val>
                                            <p:strVal val="#ppt_w"/>
                                          </p:val>
                                        </p:tav>
                                      </p:tavLst>
                                    </p:anim>
                                    <p:anim calcmode="lin" valueType="num">
                                      <p:cBhvr>
                                        <p:cTn id="32" dur="500" fill="hold"/>
                                        <p:tgtEl>
                                          <p:spTgt spid="20"/>
                                        </p:tgtEl>
                                        <p:attrNameLst>
                                          <p:attrName>ppt_h</p:attrName>
                                        </p:attrNameLst>
                                      </p:cBhvr>
                                      <p:tavLst>
                                        <p:tav tm="0">
                                          <p:val>
                                            <p:fltVal val="0"/>
                                          </p:val>
                                        </p:tav>
                                        <p:tav tm="100000">
                                          <p:val>
                                            <p:strVal val="#ppt_h"/>
                                          </p:val>
                                        </p:tav>
                                      </p:tavLst>
                                    </p:anim>
                                    <p:animEffect transition="in" filter="fade">
                                      <p:cBhvr>
                                        <p:cTn id="33" dur="500"/>
                                        <p:tgtEl>
                                          <p:spTgt spid="20"/>
                                        </p:tgtEl>
                                      </p:cBhvr>
                                    </p:animEffect>
                                  </p:childTnLst>
                                </p:cTn>
                              </p:par>
                            </p:childTnLst>
                          </p:cTn>
                        </p:par>
                        <p:par>
                          <p:cTn id="34" fill="hold">
                            <p:stCondLst>
                              <p:cond delay="2500"/>
                            </p:stCondLst>
                            <p:childTnLst>
                              <p:par>
                                <p:cTn id="35" presetID="53" presetClass="entr" presetSubtype="16" fill="hold" grpId="0" nodeType="afterEffect">
                                  <p:stCondLst>
                                    <p:cond delay="0"/>
                                  </p:stCondLst>
                                  <p:childTnLst>
                                    <p:set>
                                      <p:cBhvr>
                                        <p:cTn id="36" dur="1" fill="hold">
                                          <p:stCondLst>
                                            <p:cond delay="0"/>
                                          </p:stCondLst>
                                        </p:cTn>
                                        <p:tgtEl>
                                          <p:spTgt spid="49"/>
                                        </p:tgtEl>
                                        <p:attrNameLst>
                                          <p:attrName>style.visibility</p:attrName>
                                        </p:attrNameLst>
                                      </p:cBhvr>
                                      <p:to>
                                        <p:strVal val="visible"/>
                                      </p:to>
                                    </p:set>
                                    <p:anim calcmode="lin" valueType="num">
                                      <p:cBhvr>
                                        <p:cTn id="37" dur="500" fill="hold"/>
                                        <p:tgtEl>
                                          <p:spTgt spid="49"/>
                                        </p:tgtEl>
                                        <p:attrNameLst>
                                          <p:attrName>ppt_w</p:attrName>
                                        </p:attrNameLst>
                                      </p:cBhvr>
                                      <p:tavLst>
                                        <p:tav tm="0">
                                          <p:val>
                                            <p:fltVal val="0"/>
                                          </p:val>
                                        </p:tav>
                                        <p:tav tm="100000">
                                          <p:val>
                                            <p:strVal val="#ppt_w"/>
                                          </p:val>
                                        </p:tav>
                                      </p:tavLst>
                                    </p:anim>
                                    <p:anim calcmode="lin" valueType="num">
                                      <p:cBhvr>
                                        <p:cTn id="38" dur="500" fill="hold"/>
                                        <p:tgtEl>
                                          <p:spTgt spid="49"/>
                                        </p:tgtEl>
                                        <p:attrNameLst>
                                          <p:attrName>ppt_h</p:attrName>
                                        </p:attrNameLst>
                                      </p:cBhvr>
                                      <p:tavLst>
                                        <p:tav tm="0">
                                          <p:val>
                                            <p:fltVal val="0"/>
                                          </p:val>
                                        </p:tav>
                                        <p:tav tm="100000">
                                          <p:val>
                                            <p:strVal val="#ppt_h"/>
                                          </p:val>
                                        </p:tav>
                                      </p:tavLst>
                                    </p:anim>
                                    <p:animEffect transition="in" filter="fade">
                                      <p:cBhvr>
                                        <p:cTn id="39" dur="500"/>
                                        <p:tgtEl>
                                          <p:spTgt spid="49"/>
                                        </p:tgtEl>
                                      </p:cBhvr>
                                    </p:animEffect>
                                  </p:childTnLst>
                                </p:cTn>
                              </p:par>
                            </p:childTnLst>
                          </p:cTn>
                        </p:par>
                        <p:par>
                          <p:cTn id="40" fill="hold">
                            <p:stCondLst>
                              <p:cond delay="3000"/>
                            </p:stCondLst>
                            <p:childTnLst>
                              <p:par>
                                <p:cTn id="41" presetID="53" presetClass="entr" presetSubtype="16" fill="hold" grpId="0" nodeType="afterEffect">
                                  <p:stCondLst>
                                    <p:cond delay="0"/>
                                  </p:stCondLst>
                                  <p:childTnLst>
                                    <p:set>
                                      <p:cBhvr>
                                        <p:cTn id="42" dur="1" fill="hold">
                                          <p:stCondLst>
                                            <p:cond delay="0"/>
                                          </p:stCondLst>
                                        </p:cTn>
                                        <p:tgtEl>
                                          <p:spTgt spid="50"/>
                                        </p:tgtEl>
                                        <p:attrNameLst>
                                          <p:attrName>style.visibility</p:attrName>
                                        </p:attrNameLst>
                                      </p:cBhvr>
                                      <p:to>
                                        <p:strVal val="visible"/>
                                      </p:to>
                                    </p:set>
                                    <p:anim calcmode="lin" valueType="num">
                                      <p:cBhvr>
                                        <p:cTn id="43" dur="500" fill="hold"/>
                                        <p:tgtEl>
                                          <p:spTgt spid="50"/>
                                        </p:tgtEl>
                                        <p:attrNameLst>
                                          <p:attrName>ppt_w</p:attrName>
                                        </p:attrNameLst>
                                      </p:cBhvr>
                                      <p:tavLst>
                                        <p:tav tm="0">
                                          <p:val>
                                            <p:fltVal val="0"/>
                                          </p:val>
                                        </p:tav>
                                        <p:tav tm="100000">
                                          <p:val>
                                            <p:strVal val="#ppt_w"/>
                                          </p:val>
                                        </p:tav>
                                      </p:tavLst>
                                    </p:anim>
                                    <p:anim calcmode="lin" valueType="num">
                                      <p:cBhvr>
                                        <p:cTn id="44" dur="500" fill="hold"/>
                                        <p:tgtEl>
                                          <p:spTgt spid="50"/>
                                        </p:tgtEl>
                                        <p:attrNameLst>
                                          <p:attrName>ppt_h</p:attrName>
                                        </p:attrNameLst>
                                      </p:cBhvr>
                                      <p:tavLst>
                                        <p:tav tm="0">
                                          <p:val>
                                            <p:fltVal val="0"/>
                                          </p:val>
                                        </p:tav>
                                        <p:tav tm="100000">
                                          <p:val>
                                            <p:strVal val="#ppt_h"/>
                                          </p:val>
                                        </p:tav>
                                      </p:tavLst>
                                    </p:anim>
                                    <p:animEffect transition="in" filter="fade">
                                      <p:cBhvr>
                                        <p:cTn id="45" dur="500"/>
                                        <p:tgtEl>
                                          <p:spTgt spid="50"/>
                                        </p:tgtEl>
                                      </p:cBhvr>
                                    </p:animEffect>
                                  </p:childTnLst>
                                </p:cTn>
                              </p:par>
                            </p:childTnLst>
                          </p:cTn>
                        </p:par>
                        <p:par>
                          <p:cTn id="46" fill="hold">
                            <p:stCondLst>
                              <p:cond delay="3500"/>
                            </p:stCondLst>
                            <p:childTnLst>
                              <p:par>
                                <p:cTn id="47" presetID="53" presetClass="entr" presetSubtype="16" fill="hold" grpId="0" nodeType="afterEffect">
                                  <p:stCondLst>
                                    <p:cond delay="0"/>
                                  </p:stCondLst>
                                  <p:childTnLst>
                                    <p:set>
                                      <p:cBhvr>
                                        <p:cTn id="48" dur="1" fill="hold">
                                          <p:stCondLst>
                                            <p:cond delay="0"/>
                                          </p:stCondLst>
                                        </p:cTn>
                                        <p:tgtEl>
                                          <p:spTgt spid="51"/>
                                        </p:tgtEl>
                                        <p:attrNameLst>
                                          <p:attrName>style.visibility</p:attrName>
                                        </p:attrNameLst>
                                      </p:cBhvr>
                                      <p:to>
                                        <p:strVal val="visible"/>
                                      </p:to>
                                    </p:set>
                                    <p:anim calcmode="lin" valueType="num">
                                      <p:cBhvr>
                                        <p:cTn id="49" dur="500" fill="hold"/>
                                        <p:tgtEl>
                                          <p:spTgt spid="51"/>
                                        </p:tgtEl>
                                        <p:attrNameLst>
                                          <p:attrName>ppt_w</p:attrName>
                                        </p:attrNameLst>
                                      </p:cBhvr>
                                      <p:tavLst>
                                        <p:tav tm="0">
                                          <p:val>
                                            <p:fltVal val="0"/>
                                          </p:val>
                                        </p:tav>
                                        <p:tav tm="100000">
                                          <p:val>
                                            <p:strVal val="#ppt_w"/>
                                          </p:val>
                                        </p:tav>
                                      </p:tavLst>
                                    </p:anim>
                                    <p:anim calcmode="lin" valueType="num">
                                      <p:cBhvr>
                                        <p:cTn id="50" dur="500" fill="hold"/>
                                        <p:tgtEl>
                                          <p:spTgt spid="51"/>
                                        </p:tgtEl>
                                        <p:attrNameLst>
                                          <p:attrName>ppt_h</p:attrName>
                                        </p:attrNameLst>
                                      </p:cBhvr>
                                      <p:tavLst>
                                        <p:tav tm="0">
                                          <p:val>
                                            <p:fltVal val="0"/>
                                          </p:val>
                                        </p:tav>
                                        <p:tav tm="100000">
                                          <p:val>
                                            <p:strVal val="#ppt_h"/>
                                          </p:val>
                                        </p:tav>
                                      </p:tavLst>
                                    </p:anim>
                                    <p:animEffect transition="in" filter="fade">
                                      <p:cBhvr>
                                        <p:cTn id="51" dur="500"/>
                                        <p:tgtEl>
                                          <p:spTgt spid="51"/>
                                        </p:tgtEl>
                                      </p:cBhvr>
                                    </p:animEffect>
                                  </p:childTnLst>
                                </p:cTn>
                              </p:par>
                            </p:childTnLst>
                          </p:cTn>
                        </p:par>
                        <p:par>
                          <p:cTn id="52" fill="hold">
                            <p:stCondLst>
                              <p:cond delay="4000"/>
                            </p:stCondLst>
                            <p:childTnLst>
                              <p:par>
                                <p:cTn id="53" presetID="53" presetClass="entr" presetSubtype="16" fill="hold" nodeType="afterEffect">
                                  <p:stCondLst>
                                    <p:cond delay="0"/>
                                  </p:stCondLst>
                                  <p:childTnLst>
                                    <p:set>
                                      <p:cBhvr>
                                        <p:cTn id="54" dur="1" fill="hold">
                                          <p:stCondLst>
                                            <p:cond delay="0"/>
                                          </p:stCondLst>
                                        </p:cTn>
                                        <p:tgtEl>
                                          <p:spTgt spid="32"/>
                                        </p:tgtEl>
                                        <p:attrNameLst>
                                          <p:attrName>style.visibility</p:attrName>
                                        </p:attrNameLst>
                                      </p:cBhvr>
                                      <p:to>
                                        <p:strVal val="visible"/>
                                      </p:to>
                                    </p:set>
                                    <p:anim calcmode="lin" valueType="num">
                                      <p:cBhvr>
                                        <p:cTn id="55" dur="500" fill="hold"/>
                                        <p:tgtEl>
                                          <p:spTgt spid="32"/>
                                        </p:tgtEl>
                                        <p:attrNameLst>
                                          <p:attrName>ppt_w</p:attrName>
                                        </p:attrNameLst>
                                      </p:cBhvr>
                                      <p:tavLst>
                                        <p:tav tm="0">
                                          <p:val>
                                            <p:fltVal val="0"/>
                                          </p:val>
                                        </p:tav>
                                        <p:tav tm="100000">
                                          <p:val>
                                            <p:strVal val="#ppt_w"/>
                                          </p:val>
                                        </p:tav>
                                      </p:tavLst>
                                    </p:anim>
                                    <p:anim calcmode="lin" valueType="num">
                                      <p:cBhvr>
                                        <p:cTn id="56" dur="500" fill="hold"/>
                                        <p:tgtEl>
                                          <p:spTgt spid="32"/>
                                        </p:tgtEl>
                                        <p:attrNameLst>
                                          <p:attrName>ppt_h</p:attrName>
                                        </p:attrNameLst>
                                      </p:cBhvr>
                                      <p:tavLst>
                                        <p:tav tm="0">
                                          <p:val>
                                            <p:fltVal val="0"/>
                                          </p:val>
                                        </p:tav>
                                        <p:tav tm="100000">
                                          <p:val>
                                            <p:strVal val="#ppt_h"/>
                                          </p:val>
                                        </p:tav>
                                      </p:tavLst>
                                    </p:anim>
                                    <p:animEffect transition="in" filter="fade">
                                      <p:cBhvr>
                                        <p:cTn id="57" dur="500"/>
                                        <p:tgtEl>
                                          <p:spTgt spid="32"/>
                                        </p:tgtEl>
                                      </p:cBhvr>
                                    </p:animEffect>
                                  </p:childTnLst>
                                </p:cTn>
                              </p:par>
                            </p:childTnLst>
                          </p:cTn>
                        </p:par>
                        <p:par>
                          <p:cTn id="58" fill="hold">
                            <p:stCondLst>
                              <p:cond delay="4500"/>
                            </p:stCondLst>
                            <p:childTnLst>
                              <p:par>
                                <p:cTn id="59" presetID="53" presetClass="entr" presetSubtype="16" fill="hold" grpId="0" nodeType="afterEffect">
                                  <p:stCondLst>
                                    <p:cond delay="0"/>
                                  </p:stCondLst>
                                  <p:childTnLst>
                                    <p:set>
                                      <p:cBhvr>
                                        <p:cTn id="60" dur="1" fill="hold">
                                          <p:stCondLst>
                                            <p:cond delay="0"/>
                                          </p:stCondLst>
                                        </p:cTn>
                                        <p:tgtEl>
                                          <p:spTgt spid="38"/>
                                        </p:tgtEl>
                                        <p:attrNameLst>
                                          <p:attrName>style.visibility</p:attrName>
                                        </p:attrNameLst>
                                      </p:cBhvr>
                                      <p:to>
                                        <p:strVal val="visible"/>
                                      </p:to>
                                    </p:set>
                                    <p:anim calcmode="lin" valueType="num">
                                      <p:cBhvr>
                                        <p:cTn id="61" dur="500" fill="hold"/>
                                        <p:tgtEl>
                                          <p:spTgt spid="38"/>
                                        </p:tgtEl>
                                        <p:attrNameLst>
                                          <p:attrName>ppt_w</p:attrName>
                                        </p:attrNameLst>
                                      </p:cBhvr>
                                      <p:tavLst>
                                        <p:tav tm="0">
                                          <p:val>
                                            <p:fltVal val="0"/>
                                          </p:val>
                                        </p:tav>
                                        <p:tav tm="100000">
                                          <p:val>
                                            <p:strVal val="#ppt_w"/>
                                          </p:val>
                                        </p:tav>
                                      </p:tavLst>
                                    </p:anim>
                                    <p:anim calcmode="lin" valueType="num">
                                      <p:cBhvr>
                                        <p:cTn id="62" dur="500" fill="hold"/>
                                        <p:tgtEl>
                                          <p:spTgt spid="38"/>
                                        </p:tgtEl>
                                        <p:attrNameLst>
                                          <p:attrName>ppt_h</p:attrName>
                                        </p:attrNameLst>
                                      </p:cBhvr>
                                      <p:tavLst>
                                        <p:tav tm="0">
                                          <p:val>
                                            <p:fltVal val="0"/>
                                          </p:val>
                                        </p:tav>
                                        <p:tav tm="100000">
                                          <p:val>
                                            <p:strVal val="#ppt_h"/>
                                          </p:val>
                                        </p:tav>
                                      </p:tavLst>
                                    </p:anim>
                                    <p:animEffect transition="in" filter="fade">
                                      <p:cBhvr>
                                        <p:cTn id="6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9" grpId="0"/>
      <p:bldP spid="50" grpId="0"/>
      <p:bldP spid="51" grpId="0"/>
      <p:bldP spid="3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04800" y="1085850"/>
            <a:ext cx="685800" cy="1438347"/>
            <a:chOff x="2921917" y="2223151"/>
            <a:chExt cx="1527064" cy="3312653"/>
          </a:xfrm>
        </p:grpSpPr>
        <p:grpSp>
          <p:nvGrpSpPr>
            <p:cNvPr id="3" name="组合 2"/>
            <p:cNvGrpSpPr/>
            <p:nvPr/>
          </p:nvGrpSpPr>
          <p:grpSpPr>
            <a:xfrm>
              <a:off x="2921917" y="2223151"/>
              <a:ext cx="1527064" cy="1527064"/>
              <a:chOff x="1200760" y="3842075"/>
              <a:chExt cx="1784148" cy="1784148"/>
            </a:xfrm>
          </p:grpSpPr>
          <p:sp>
            <p:nvSpPr>
              <p:cNvPr id="5" name="椭圆 4"/>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4400">
                  <a:solidFill>
                    <a:prstClr val="white"/>
                  </a:solidFill>
                  <a:latin typeface="Calibri" panose="020F0502020204030204"/>
                  <a:ea typeface="等线" panose="02010600030101010101" pitchFamily="2" charset="-122"/>
                </a:endParaRPr>
              </a:p>
            </p:txBody>
          </p:sp>
          <p:sp>
            <p:nvSpPr>
              <p:cNvPr id="6" name="椭圆 5"/>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4400">
                  <a:solidFill>
                    <a:prstClr val="white"/>
                  </a:solidFill>
                  <a:latin typeface="Calibri" panose="020F0502020204030204"/>
                  <a:ea typeface="等线" panose="02010600030101010101" pitchFamily="2" charset="-122"/>
                </a:endParaRPr>
              </a:p>
            </p:txBody>
          </p:sp>
        </p:grpSp>
        <p:sp>
          <p:nvSpPr>
            <p:cNvPr id="4" name="文本框 168"/>
            <p:cNvSpPr txBox="1"/>
            <p:nvPr/>
          </p:nvSpPr>
          <p:spPr>
            <a:xfrm>
              <a:off x="2921917" y="2490948"/>
              <a:ext cx="1415526" cy="3044856"/>
            </a:xfrm>
            <a:prstGeom prst="rect">
              <a:avLst/>
            </a:prstGeom>
            <a:noFill/>
          </p:spPr>
          <p:txBody>
            <a:bodyPr wrap="square" rtlCol="0">
              <a:spAutoFit/>
            </a:bodyPr>
            <a:lstStyle/>
            <a:p>
              <a:pPr algn="ctr">
                <a:defRPr/>
              </a:pPr>
              <a:endParaRPr lang="zh-CN" altLang="en-US" sz="8000" dirty="0">
                <a:solidFill>
                  <a:prstClr val="white"/>
                </a:solidFill>
                <a:latin typeface="微软雅黑" panose="020B0503020204020204" pitchFamily="34" charset="-122"/>
                <a:ea typeface="微软雅黑" panose="020B0503020204020204" pitchFamily="34" charset="-122"/>
              </a:endParaRPr>
            </a:p>
          </p:txBody>
        </p:sp>
      </p:grpSp>
      <p:sp>
        <p:nvSpPr>
          <p:cNvPr id="7" name="文本框 6"/>
          <p:cNvSpPr txBox="1"/>
          <p:nvPr/>
        </p:nvSpPr>
        <p:spPr>
          <a:xfrm>
            <a:off x="1095814" y="1066356"/>
            <a:ext cx="2244286" cy="645160"/>
          </a:xfrm>
          <a:prstGeom prst="rect">
            <a:avLst/>
          </a:prstGeom>
          <a:noFill/>
        </p:spPr>
        <p:txBody>
          <a:bodyPr wrap="square" rtlCol="0">
            <a:spAutoFit/>
          </a:bodyPr>
          <a:lstStyle/>
          <a:p>
            <a:pPr>
              <a:defRPr/>
            </a:pPr>
            <a:r>
              <a:rPr lang="zh-CN" altLang="en-US" sz="3600" b="1" dirty="0" smtClean="0">
                <a:solidFill>
                  <a:prstClr val="white"/>
                </a:solidFill>
                <a:latin typeface="微软雅黑" panose="020B0503020204020204" pitchFamily="34" charset="-122"/>
                <a:ea typeface="微软雅黑" panose="020B0503020204020204" pitchFamily="34" charset="-122"/>
              </a:rPr>
              <a:t>本章导读</a:t>
            </a:r>
            <a:endParaRPr lang="zh-CN" altLang="en-US" sz="3600" dirty="0">
              <a:solidFill>
                <a:prstClr val="white"/>
              </a:solidFill>
              <a:latin typeface="微软雅黑" panose="020B0503020204020204" pitchFamily="34" charset="-122"/>
              <a:ea typeface="微软雅黑" panose="020B0503020204020204" pitchFamily="34" charset="-122"/>
            </a:endParaRPr>
          </a:p>
        </p:txBody>
      </p:sp>
      <p:sp>
        <p:nvSpPr>
          <p:cNvPr id="9" name="圆角矩形 8"/>
          <p:cNvSpPr/>
          <p:nvPr/>
        </p:nvSpPr>
        <p:spPr>
          <a:xfrm>
            <a:off x="596900" y="1784350"/>
            <a:ext cx="7975600" cy="3962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en-US" sz="2000" b="1" dirty="0" smtClean="0">
                <a:latin typeface="Times New Roman" panose="02020603050405020304" pitchFamily="18" charset="0"/>
                <a:cs typeface="Times New Roman" panose="02020603050405020304" pitchFamily="18" charset="0"/>
              </a:rPr>
              <a:t>JSON</a:t>
            </a:r>
            <a:r>
              <a:rPr lang="zh-CN" altLang="en-US" sz="2000" b="1" dirty="0" smtClean="0">
                <a:latin typeface="Times New Roman" panose="02020603050405020304" pitchFamily="18" charset="0"/>
                <a:cs typeface="Times New Roman" panose="02020603050405020304" pitchFamily="18" charset="0"/>
              </a:rPr>
              <a:t>基于</a:t>
            </a:r>
            <a:r>
              <a:rPr lang="en-US" altLang="en-US" sz="2000" b="1" dirty="0" smtClean="0">
                <a:latin typeface="Times New Roman" panose="02020603050405020304" pitchFamily="18" charset="0"/>
                <a:cs typeface="Times New Roman" panose="02020603050405020304" pitchFamily="18" charset="0"/>
              </a:rPr>
              <a:t>JavaScript</a:t>
            </a:r>
            <a:r>
              <a:rPr lang="zh-CN" altLang="en-US" sz="2000" b="1" dirty="0" smtClean="0">
                <a:latin typeface="Times New Roman" panose="02020603050405020304" pitchFamily="18" charset="0"/>
                <a:cs typeface="Times New Roman" panose="02020603050405020304" pitchFamily="18" charset="0"/>
              </a:rPr>
              <a:t>，是</a:t>
            </a:r>
            <a:r>
              <a:rPr lang="zh-CN" altLang="en-US" sz="2000" b="1" dirty="0" smtClean="0">
                <a:solidFill>
                  <a:srgbClr val="FF0000"/>
                </a:solidFill>
                <a:latin typeface="Times New Roman" panose="02020603050405020304" pitchFamily="18" charset="0"/>
                <a:cs typeface="Times New Roman" panose="02020603050405020304" pitchFamily="18" charset="0"/>
              </a:rPr>
              <a:t>一种轻量级的数据交换格式</a:t>
            </a:r>
            <a:r>
              <a:rPr lang="zh-CN" altLang="en-US" sz="2000" b="1" dirty="0" smtClean="0">
                <a:latin typeface="Times New Roman" panose="02020603050405020304" pitchFamily="18" charset="0"/>
                <a:cs typeface="Times New Roman" panose="02020603050405020304" pitchFamily="18" charset="0"/>
              </a:rPr>
              <a:t>，易于人阅读和编写，同时也易于机器解析和生成</a:t>
            </a:r>
            <a:r>
              <a:rPr lang="zh-CN" altLang="en-US" sz="2000" b="1" dirty="0" smtClean="0">
                <a:latin typeface="Times New Roman" panose="02020603050405020304" pitchFamily="18" charset="0"/>
                <a:cs typeface="Times New Roman" panose="02020603050405020304" pitchFamily="18" charset="0"/>
              </a:rPr>
              <a:t>。</a:t>
            </a:r>
            <a:endParaRPr lang="en-US" altLang="zh-CN" sz="2000" b="1" dirty="0" smtClean="0">
              <a:latin typeface="Times New Roman" panose="02020603050405020304" pitchFamily="18" charset="0"/>
              <a:cs typeface="Times New Roman" panose="02020603050405020304" pitchFamily="18" charset="0"/>
            </a:endParaRPr>
          </a:p>
          <a:p>
            <a:pPr>
              <a:lnSpc>
                <a:spcPct val="150000"/>
              </a:lnSpc>
            </a:pPr>
            <a:r>
              <a:rPr lang="en-US" altLang="en-US" sz="2000" b="1" dirty="0" smtClean="0">
                <a:latin typeface="Times New Roman" panose="02020603050405020304" pitchFamily="18" charset="0"/>
                <a:cs typeface="Times New Roman" panose="02020603050405020304" pitchFamily="18" charset="0"/>
              </a:rPr>
              <a:t>JSON</a:t>
            </a:r>
            <a:r>
              <a:rPr lang="zh-CN" altLang="en-US" sz="2000" b="1" dirty="0" smtClean="0">
                <a:latin typeface="Times New Roman" panose="02020603050405020304" pitchFamily="18" charset="0"/>
                <a:cs typeface="Times New Roman" panose="02020603050405020304" pitchFamily="18" charset="0"/>
              </a:rPr>
              <a:t>采用完全独立于语言的文本格式，但也使用了类似于</a:t>
            </a:r>
            <a:r>
              <a:rPr lang="en-US" altLang="en-US" sz="2000" b="1" dirty="0" smtClean="0">
                <a:latin typeface="Times New Roman" panose="02020603050405020304" pitchFamily="18" charset="0"/>
                <a:cs typeface="Times New Roman" panose="02020603050405020304" pitchFamily="18" charset="0"/>
              </a:rPr>
              <a:t>C</a:t>
            </a:r>
            <a:r>
              <a:rPr lang="zh-CN" altLang="en-US" sz="2000" b="1" dirty="0" smtClean="0">
                <a:latin typeface="Times New Roman" panose="02020603050405020304" pitchFamily="18" charset="0"/>
                <a:cs typeface="Times New Roman" panose="02020603050405020304" pitchFamily="18" charset="0"/>
              </a:rPr>
              <a:t>语言家族的习惯（包括</a:t>
            </a:r>
            <a:r>
              <a:rPr lang="en-US" altLang="en-US" sz="2000" b="1" dirty="0" smtClean="0">
                <a:latin typeface="Times New Roman" panose="02020603050405020304" pitchFamily="18" charset="0"/>
                <a:cs typeface="Times New Roman" panose="02020603050405020304" pitchFamily="18" charset="0"/>
              </a:rPr>
              <a:t>C</a:t>
            </a:r>
            <a:r>
              <a:rPr lang="zh-CN" altLang="en-US" sz="2000" b="1" dirty="0" smtClean="0">
                <a:latin typeface="Times New Roman" panose="02020603050405020304" pitchFamily="18" charset="0"/>
                <a:cs typeface="Times New Roman" panose="02020603050405020304" pitchFamily="18" charset="0"/>
              </a:rPr>
              <a:t>、</a:t>
            </a:r>
            <a:r>
              <a:rPr lang="en-US" altLang="en-US" sz="2000" b="1" dirty="0" smtClean="0">
                <a:latin typeface="Times New Roman" panose="02020603050405020304" pitchFamily="18" charset="0"/>
                <a:cs typeface="Times New Roman" panose="02020603050405020304" pitchFamily="18" charset="0"/>
              </a:rPr>
              <a:t>C++</a:t>
            </a:r>
            <a:r>
              <a:rPr lang="zh-CN" altLang="en-US" sz="2000" b="1" dirty="0" smtClean="0">
                <a:latin typeface="Times New Roman" panose="02020603050405020304" pitchFamily="18" charset="0"/>
                <a:cs typeface="Times New Roman" panose="02020603050405020304" pitchFamily="18" charset="0"/>
              </a:rPr>
              <a:t>、</a:t>
            </a:r>
            <a:r>
              <a:rPr lang="en-US" altLang="en-US" sz="2000" b="1" dirty="0" smtClean="0">
                <a:latin typeface="Times New Roman" panose="02020603050405020304" pitchFamily="18" charset="0"/>
                <a:cs typeface="Times New Roman" panose="02020603050405020304" pitchFamily="18" charset="0"/>
              </a:rPr>
              <a:t>C#</a:t>
            </a:r>
            <a:r>
              <a:rPr lang="zh-CN" altLang="en-US" sz="2000" b="1" dirty="0" smtClean="0">
                <a:latin typeface="Times New Roman" panose="02020603050405020304" pitchFamily="18" charset="0"/>
                <a:cs typeface="Times New Roman" panose="02020603050405020304" pitchFamily="18" charset="0"/>
              </a:rPr>
              <a:t>、</a:t>
            </a:r>
            <a:r>
              <a:rPr lang="en-US" altLang="en-US" sz="2000" b="1" dirty="0" smtClean="0">
                <a:latin typeface="Times New Roman" panose="02020603050405020304" pitchFamily="18" charset="0"/>
                <a:cs typeface="Times New Roman" panose="02020603050405020304" pitchFamily="18" charset="0"/>
              </a:rPr>
              <a:t>Java</a:t>
            </a:r>
            <a:r>
              <a:rPr lang="zh-CN" altLang="en-US" sz="2000" b="1" dirty="0" smtClean="0">
                <a:latin typeface="Times New Roman" panose="02020603050405020304" pitchFamily="18" charset="0"/>
                <a:cs typeface="Times New Roman" panose="02020603050405020304" pitchFamily="18" charset="0"/>
              </a:rPr>
              <a:t>、</a:t>
            </a:r>
            <a:r>
              <a:rPr lang="en-US" altLang="en-US" sz="2000" b="1" dirty="0" smtClean="0">
                <a:latin typeface="Times New Roman" panose="02020603050405020304" pitchFamily="18" charset="0"/>
                <a:cs typeface="Times New Roman" panose="02020603050405020304" pitchFamily="18" charset="0"/>
              </a:rPr>
              <a:t>JavaScript</a:t>
            </a:r>
            <a:r>
              <a:rPr lang="zh-CN" altLang="en-US" sz="2000" b="1" dirty="0" smtClean="0">
                <a:latin typeface="Times New Roman" panose="02020603050405020304" pitchFamily="18" charset="0"/>
                <a:cs typeface="Times New Roman" panose="02020603050405020304" pitchFamily="18" charset="0"/>
              </a:rPr>
              <a:t>、</a:t>
            </a:r>
            <a:r>
              <a:rPr lang="en-US" altLang="en-US" sz="2000" b="1" dirty="0" smtClean="0">
                <a:latin typeface="Times New Roman" panose="02020603050405020304" pitchFamily="18" charset="0"/>
                <a:cs typeface="Times New Roman" panose="02020603050405020304" pitchFamily="18" charset="0"/>
              </a:rPr>
              <a:t>Perl</a:t>
            </a:r>
            <a:r>
              <a:rPr lang="zh-CN" altLang="en-US" sz="2000" b="1" dirty="0" smtClean="0">
                <a:latin typeface="Times New Roman" panose="02020603050405020304" pitchFamily="18" charset="0"/>
                <a:cs typeface="Times New Roman" panose="02020603050405020304" pitchFamily="18" charset="0"/>
              </a:rPr>
              <a:t>、</a:t>
            </a:r>
            <a:r>
              <a:rPr lang="en-US" altLang="en-US" sz="2000" b="1" dirty="0" smtClean="0">
                <a:latin typeface="Times New Roman" panose="02020603050405020304" pitchFamily="18" charset="0"/>
                <a:cs typeface="Times New Roman" panose="02020603050405020304" pitchFamily="18" charset="0"/>
              </a:rPr>
              <a:t>Python</a:t>
            </a:r>
            <a:r>
              <a:rPr lang="zh-CN" altLang="en-US" sz="2000" b="1" dirty="0" smtClean="0">
                <a:latin typeface="Times New Roman" panose="02020603050405020304" pitchFamily="18" charset="0"/>
                <a:cs typeface="Times New Roman" panose="02020603050405020304" pitchFamily="18" charset="0"/>
              </a:rPr>
              <a:t>等）</a:t>
            </a:r>
            <a:r>
              <a:rPr lang="zh-CN" altLang="en-US" sz="2000" b="1" dirty="0" smtClean="0">
                <a:latin typeface="Times New Roman" panose="02020603050405020304" pitchFamily="18" charset="0"/>
                <a:cs typeface="Times New Roman" panose="02020603050405020304" pitchFamily="18" charset="0"/>
              </a:rPr>
              <a:t>。</a:t>
            </a:r>
            <a:endParaRPr lang="en-US" altLang="zh-CN" sz="2000" b="1" dirty="0" smtClean="0">
              <a:latin typeface="Times New Roman" panose="02020603050405020304" pitchFamily="18" charset="0"/>
              <a:cs typeface="Times New Roman" panose="02020603050405020304" pitchFamily="18" charset="0"/>
            </a:endParaRPr>
          </a:p>
          <a:p>
            <a:pPr>
              <a:lnSpc>
                <a:spcPct val="150000"/>
              </a:lnSpc>
            </a:pPr>
            <a:r>
              <a:rPr lang="zh-CN" altLang="en-US" sz="2000" b="1" dirty="0" smtClean="0">
                <a:latin typeface="Times New Roman" panose="02020603050405020304" pitchFamily="18" charset="0"/>
                <a:cs typeface="Times New Roman" panose="02020603050405020304" pitchFamily="18" charset="0"/>
              </a:rPr>
              <a:t>这些</a:t>
            </a:r>
            <a:r>
              <a:rPr lang="zh-CN" altLang="en-US" sz="2000" b="1" dirty="0" smtClean="0">
                <a:latin typeface="Times New Roman" panose="02020603050405020304" pitchFamily="18" charset="0"/>
                <a:cs typeface="Times New Roman" panose="02020603050405020304" pitchFamily="18" charset="0"/>
              </a:rPr>
              <a:t>特性</a:t>
            </a:r>
            <a:r>
              <a:rPr lang="zh-CN" altLang="en-US" sz="2000" b="1" dirty="0" smtClean="0">
                <a:latin typeface="Times New Roman" panose="02020603050405020304" pitchFamily="18" charset="0"/>
                <a:cs typeface="Times New Roman" panose="02020603050405020304" pitchFamily="18" charset="0"/>
              </a:rPr>
              <a:t>使 </a:t>
            </a:r>
            <a:r>
              <a:rPr lang="en-US" altLang="en-US" sz="2000" b="1" dirty="0" smtClean="0">
                <a:latin typeface="Times New Roman" panose="02020603050405020304" pitchFamily="18" charset="0"/>
                <a:cs typeface="Times New Roman" panose="02020603050405020304" pitchFamily="18" charset="0"/>
              </a:rPr>
              <a:t>JSON </a:t>
            </a:r>
            <a:r>
              <a:rPr lang="zh-CN" altLang="en-US" sz="2000" b="1" dirty="0" smtClean="0">
                <a:latin typeface="Times New Roman" panose="02020603050405020304" pitchFamily="18" charset="0"/>
                <a:cs typeface="Times New Roman" panose="02020603050405020304" pitchFamily="18" charset="0"/>
              </a:rPr>
              <a:t>成为</a:t>
            </a:r>
            <a:r>
              <a:rPr lang="zh-CN" altLang="en-US" sz="2000" b="1" dirty="0" smtClean="0">
                <a:solidFill>
                  <a:srgbClr val="FF0000"/>
                </a:solidFill>
                <a:latin typeface="Times New Roman" panose="02020603050405020304" pitchFamily="18" charset="0"/>
                <a:cs typeface="Times New Roman" panose="02020603050405020304" pitchFamily="18" charset="0"/>
              </a:rPr>
              <a:t>理想的数据交换语言</a:t>
            </a:r>
            <a:r>
              <a:rPr lang="zh-CN" altLang="en-US" sz="2000" b="1" dirty="0" smtClean="0">
                <a:latin typeface="Times New Roman" panose="02020603050405020304" pitchFamily="18" charset="0"/>
                <a:cs typeface="Times New Roman" panose="02020603050405020304" pitchFamily="18" charset="0"/>
              </a:rPr>
              <a:t>，</a:t>
            </a:r>
            <a:r>
              <a:rPr lang="zh-CN" altLang="en-US" sz="2000" b="1" dirty="0" smtClean="0">
                <a:solidFill>
                  <a:srgbClr val="FF0000"/>
                </a:solidFill>
                <a:latin typeface="Times New Roman" panose="02020603050405020304" pitchFamily="18" charset="0"/>
                <a:cs typeface="Times New Roman" panose="02020603050405020304" pitchFamily="18" charset="0"/>
              </a:rPr>
              <a:t>尤其在智能手机客户端与服务器网络交互中</a:t>
            </a:r>
            <a:r>
              <a:rPr lang="zh-CN" altLang="en-US" sz="2000" b="1" dirty="0" smtClean="0">
                <a:solidFill>
                  <a:schemeClr val="bg1"/>
                </a:solidFill>
                <a:latin typeface="Times New Roman" panose="02020603050405020304" pitchFamily="18" charset="0"/>
                <a:cs typeface="Times New Roman" panose="02020603050405020304" pitchFamily="18" charset="0"/>
              </a:rPr>
              <a:t>。</a:t>
            </a:r>
            <a:endParaRPr lang="zh-CN" altLang="en-US" sz="2000" b="1"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ransition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ppt_w</p:attrName>
                                        </p:attrNameLst>
                                      </p:cBhvr>
                                      <p:tavLst>
                                        <p:tav tm="0">
                                          <p:val>
                                            <p:fltVal val="0"/>
                                          </p:val>
                                        </p:tav>
                                        <p:tav tm="100000">
                                          <p:val>
                                            <p:strVal val="#ppt_w"/>
                                          </p:val>
                                        </p:tav>
                                      </p:tavLst>
                                    </p:anim>
                                    <p:anim calcmode="lin" valueType="num">
                                      <p:cBhvr>
                                        <p:cTn id="14" dur="500" fill="hold"/>
                                        <p:tgtEl>
                                          <p:spTgt spid="7"/>
                                        </p:tgtEl>
                                        <p:attrNameLst>
                                          <p:attrName>ppt_h</p:attrName>
                                        </p:attrNameLst>
                                      </p:cBhvr>
                                      <p:tavLst>
                                        <p:tav tm="0">
                                          <p:val>
                                            <p:fltVal val="0"/>
                                          </p:val>
                                        </p:tav>
                                        <p:tav tm="100000">
                                          <p:val>
                                            <p:strVal val="#ppt_h"/>
                                          </p:val>
                                        </p:tav>
                                      </p:tavLst>
                                    </p:anim>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04800" y="1085850"/>
            <a:ext cx="685800" cy="1438347"/>
            <a:chOff x="2921917" y="2223151"/>
            <a:chExt cx="1527064" cy="3312653"/>
          </a:xfrm>
        </p:grpSpPr>
        <p:grpSp>
          <p:nvGrpSpPr>
            <p:cNvPr id="3" name="组合 2"/>
            <p:cNvGrpSpPr/>
            <p:nvPr/>
          </p:nvGrpSpPr>
          <p:grpSpPr>
            <a:xfrm>
              <a:off x="2921917" y="2223151"/>
              <a:ext cx="1527064" cy="1527064"/>
              <a:chOff x="1200760" y="3842075"/>
              <a:chExt cx="1784148" cy="1784148"/>
            </a:xfrm>
          </p:grpSpPr>
          <p:sp>
            <p:nvSpPr>
              <p:cNvPr id="5" name="椭圆 4"/>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4400">
                  <a:solidFill>
                    <a:prstClr val="white"/>
                  </a:solidFill>
                  <a:latin typeface="Calibri" panose="020F0502020204030204"/>
                  <a:ea typeface="等线" panose="02010600030101010101" pitchFamily="2" charset="-122"/>
                </a:endParaRPr>
              </a:p>
            </p:txBody>
          </p:sp>
          <p:sp>
            <p:nvSpPr>
              <p:cNvPr id="6" name="椭圆 5"/>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4400">
                  <a:solidFill>
                    <a:prstClr val="white"/>
                  </a:solidFill>
                  <a:latin typeface="Calibri" panose="020F0502020204030204"/>
                  <a:ea typeface="等线" panose="02010600030101010101" pitchFamily="2" charset="-122"/>
                </a:endParaRPr>
              </a:p>
            </p:txBody>
          </p:sp>
        </p:grpSp>
        <p:sp>
          <p:nvSpPr>
            <p:cNvPr id="4" name="文本框 168"/>
            <p:cNvSpPr txBox="1"/>
            <p:nvPr/>
          </p:nvSpPr>
          <p:spPr>
            <a:xfrm>
              <a:off x="2921917" y="2490948"/>
              <a:ext cx="1415526" cy="3044856"/>
            </a:xfrm>
            <a:prstGeom prst="rect">
              <a:avLst/>
            </a:prstGeom>
            <a:noFill/>
          </p:spPr>
          <p:txBody>
            <a:bodyPr wrap="square" rtlCol="0">
              <a:spAutoFit/>
            </a:bodyPr>
            <a:lstStyle/>
            <a:p>
              <a:pPr algn="ctr">
                <a:defRPr/>
              </a:pPr>
              <a:endParaRPr lang="zh-CN" altLang="en-US" sz="8000" dirty="0">
                <a:solidFill>
                  <a:prstClr val="white"/>
                </a:solidFill>
                <a:latin typeface="微软雅黑" panose="020B0503020204020204" pitchFamily="34" charset="-122"/>
                <a:ea typeface="微软雅黑" panose="020B0503020204020204" pitchFamily="34" charset="-122"/>
              </a:endParaRPr>
            </a:p>
          </p:txBody>
        </p:sp>
      </p:grpSp>
      <p:sp>
        <p:nvSpPr>
          <p:cNvPr id="7" name="文本框 6"/>
          <p:cNvSpPr txBox="1"/>
          <p:nvPr/>
        </p:nvSpPr>
        <p:spPr>
          <a:xfrm>
            <a:off x="1095814" y="1066356"/>
            <a:ext cx="2244286" cy="645160"/>
          </a:xfrm>
          <a:prstGeom prst="rect">
            <a:avLst/>
          </a:prstGeom>
          <a:noFill/>
        </p:spPr>
        <p:txBody>
          <a:bodyPr wrap="square" rtlCol="0">
            <a:spAutoFit/>
          </a:bodyPr>
          <a:lstStyle/>
          <a:p>
            <a:pPr>
              <a:defRPr/>
            </a:pPr>
            <a:r>
              <a:rPr lang="zh-CN" altLang="en-US" sz="3600" b="1" dirty="0" smtClean="0">
                <a:solidFill>
                  <a:prstClr val="white"/>
                </a:solidFill>
                <a:latin typeface="微软雅黑" panose="020B0503020204020204" pitchFamily="34" charset="-122"/>
                <a:ea typeface="微软雅黑" panose="020B0503020204020204" pitchFamily="34" charset="-122"/>
              </a:rPr>
              <a:t>本章导读</a:t>
            </a:r>
            <a:endParaRPr lang="zh-CN" altLang="en-US" sz="3600" dirty="0">
              <a:solidFill>
                <a:prstClr val="white"/>
              </a:solidFill>
              <a:latin typeface="微软雅黑" panose="020B0503020204020204" pitchFamily="34" charset="-122"/>
              <a:ea typeface="微软雅黑" panose="020B0503020204020204" pitchFamily="34" charset="-122"/>
            </a:endParaRPr>
          </a:p>
        </p:txBody>
      </p:sp>
      <p:sp>
        <p:nvSpPr>
          <p:cNvPr id="9" name="圆角矩形 8"/>
          <p:cNvSpPr/>
          <p:nvPr/>
        </p:nvSpPr>
        <p:spPr>
          <a:xfrm>
            <a:off x="469900" y="1784350"/>
            <a:ext cx="8242300" cy="4038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2800" b="1" dirty="0" smtClean="0">
                <a:latin typeface="Times New Roman" panose="02020603050405020304" pitchFamily="18" charset="0"/>
                <a:cs typeface="Times New Roman" panose="02020603050405020304" pitchFamily="18" charset="0"/>
              </a:rPr>
              <a:t>本章</a:t>
            </a:r>
            <a:r>
              <a:rPr lang="zh-CN" altLang="en-US" sz="2800" b="1" dirty="0" smtClean="0">
                <a:latin typeface="Times New Roman" panose="02020603050405020304" pitchFamily="18" charset="0"/>
                <a:cs typeface="Times New Roman" panose="02020603050405020304" pitchFamily="18" charset="0"/>
              </a:rPr>
              <a:t>主要知识点有</a:t>
            </a:r>
            <a:r>
              <a:rPr lang="zh-CN" altLang="en-US" sz="2800" b="1" dirty="0" smtClean="0">
                <a:latin typeface="Times New Roman" panose="02020603050405020304" pitchFamily="18" charset="0"/>
                <a:cs typeface="Times New Roman" panose="02020603050405020304" pitchFamily="18" charset="0"/>
              </a:rPr>
              <a:t>：</a:t>
            </a:r>
            <a:endParaRPr lang="en-US" altLang="zh-CN" sz="2800" b="1" dirty="0" smtClean="0">
              <a:latin typeface="Times New Roman" panose="02020603050405020304" pitchFamily="18" charset="0"/>
              <a:cs typeface="Times New Roman" panose="02020603050405020304" pitchFamily="18" charset="0"/>
            </a:endParaRPr>
          </a:p>
          <a:p>
            <a:pPr>
              <a:lnSpc>
                <a:spcPct val="150000"/>
              </a:lnSpc>
            </a:pPr>
            <a:r>
              <a:rPr lang="zh-CN" altLang="en-US" sz="2800" b="1" dirty="0" smtClean="0">
                <a:latin typeface="Times New Roman" panose="02020603050405020304" pitchFamily="18" charset="0"/>
                <a:cs typeface="Times New Roman" panose="02020603050405020304" pitchFamily="18" charset="0"/>
              </a:rPr>
              <a:t>（</a:t>
            </a:r>
            <a:r>
              <a:rPr lang="en-US" altLang="en-US" sz="2800" b="1" dirty="0" smtClean="0">
                <a:latin typeface="Times New Roman" panose="02020603050405020304" pitchFamily="18" charset="0"/>
                <a:cs typeface="Times New Roman" panose="02020603050405020304" pitchFamily="18" charset="0"/>
              </a:rPr>
              <a:t>1</a:t>
            </a:r>
            <a:r>
              <a:rPr lang="zh-CN" altLang="en-US" sz="2800" b="1" dirty="0" smtClean="0">
                <a:latin typeface="Times New Roman" panose="02020603050405020304" pitchFamily="18" charset="0"/>
                <a:cs typeface="Times New Roman" panose="02020603050405020304" pitchFamily="18" charset="0"/>
              </a:rPr>
              <a:t>）</a:t>
            </a:r>
            <a:r>
              <a:rPr lang="en-US" altLang="en-US" sz="2800" b="1" dirty="0" smtClean="0">
                <a:latin typeface="Times New Roman" panose="02020603050405020304" pitchFamily="18" charset="0"/>
                <a:cs typeface="Times New Roman" panose="02020603050405020304" pitchFamily="18" charset="0"/>
              </a:rPr>
              <a:t>JSON</a:t>
            </a:r>
            <a:r>
              <a:rPr lang="zh-CN" altLang="en-US" sz="2800" b="1" dirty="0" smtClean="0">
                <a:latin typeface="Times New Roman" panose="02020603050405020304" pitchFamily="18" charset="0"/>
                <a:cs typeface="Times New Roman" panose="02020603050405020304" pitchFamily="18" charset="0"/>
              </a:rPr>
              <a:t>简介</a:t>
            </a:r>
            <a:r>
              <a:rPr lang="zh-CN" altLang="en-US" sz="2800" b="1" dirty="0" smtClean="0">
                <a:latin typeface="Times New Roman" panose="02020603050405020304" pitchFamily="18" charset="0"/>
                <a:cs typeface="Times New Roman" panose="02020603050405020304" pitchFamily="18" charset="0"/>
              </a:rPr>
              <a:t>；</a:t>
            </a:r>
            <a:endParaRPr lang="en-US" altLang="zh-CN" sz="2800" b="1" dirty="0" smtClean="0">
              <a:latin typeface="Times New Roman" panose="02020603050405020304" pitchFamily="18" charset="0"/>
              <a:cs typeface="Times New Roman" panose="02020603050405020304" pitchFamily="18" charset="0"/>
            </a:endParaRPr>
          </a:p>
          <a:p>
            <a:pPr>
              <a:lnSpc>
                <a:spcPct val="150000"/>
              </a:lnSpc>
            </a:pPr>
            <a:r>
              <a:rPr lang="zh-CN" altLang="en-US" sz="2800" b="1" dirty="0" smtClean="0">
                <a:latin typeface="Times New Roman" panose="02020603050405020304" pitchFamily="18" charset="0"/>
                <a:cs typeface="Times New Roman" panose="02020603050405020304" pitchFamily="18" charset="0"/>
              </a:rPr>
              <a:t>（</a:t>
            </a:r>
            <a:r>
              <a:rPr lang="en-US" altLang="en-US" sz="2800" b="1" dirty="0" smtClean="0">
                <a:latin typeface="Times New Roman" panose="02020603050405020304" pitchFamily="18" charset="0"/>
                <a:cs typeface="Times New Roman" panose="02020603050405020304" pitchFamily="18" charset="0"/>
              </a:rPr>
              <a:t>2</a:t>
            </a:r>
            <a:r>
              <a:rPr lang="zh-CN" altLang="en-US" sz="2800" b="1" dirty="0" smtClean="0">
                <a:latin typeface="Times New Roman" panose="02020603050405020304" pitchFamily="18" charset="0"/>
                <a:cs typeface="Times New Roman" panose="02020603050405020304" pitchFamily="18" charset="0"/>
              </a:rPr>
              <a:t>）服务器端生成</a:t>
            </a:r>
            <a:r>
              <a:rPr lang="en-US" altLang="en-US" sz="2800" b="1" dirty="0" smtClean="0">
                <a:latin typeface="Times New Roman" panose="02020603050405020304" pitchFamily="18" charset="0"/>
                <a:cs typeface="Times New Roman" panose="02020603050405020304" pitchFamily="18" charset="0"/>
              </a:rPr>
              <a:t>JSON</a:t>
            </a:r>
            <a:r>
              <a:rPr lang="zh-CN" altLang="en-US" sz="2800" b="1" dirty="0" smtClean="0">
                <a:latin typeface="Times New Roman" panose="02020603050405020304" pitchFamily="18" charset="0"/>
                <a:cs typeface="Times New Roman" panose="02020603050405020304" pitchFamily="18" charset="0"/>
              </a:rPr>
              <a:t>数据</a:t>
            </a:r>
            <a:r>
              <a:rPr lang="zh-CN" altLang="en-US" sz="2800" b="1" dirty="0" smtClean="0">
                <a:latin typeface="Times New Roman" panose="02020603050405020304" pitchFamily="18" charset="0"/>
                <a:cs typeface="Times New Roman" panose="02020603050405020304" pitchFamily="18" charset="0"/>
              </a:rPr>
              <a:t>；</a:t>
            </a:r>
            <a:endParaRPr lang="en-US" altLang="zh-CN" sz="2800" b="1" dirty="0" smtClean="0">
              <a:latin typeface="Times New Roman" panose="02020603050405020304" pitchFamily="18" charset="0"/>
              <a:cs typeface="Times New Roman" panose="02020603050405020304" pitchFamily="18" charset="0"/>
            </a:endParaRPr>
          </a:p>
          <a:p>
            <a:pPr>
              <a:lnSpc>
                <a:spcPct val="150000"/>
              </a:lnSpc>
            </a:pPr>
            <a:r>
              <a:rPr lang="zh-CN" altLang="en-US" sz="2800" b="1" dirty="0" smtClean="0">
                <a:latin typeface="Times New Roman" panose="02020603050405020304" pitchFamily="18" charset="0"/>
                <a:cs typeface="Times New Roman" panose="02020603050405020304" pitchFamily="18" charset="0"/>
              </a:rPr>
              <a:t>（</a:t>
            </a:r>
            <a:r>
              <a:rPr lang="en-US" altLang="en-US" sz="2800" b="1" dirty="0" smtClean="0">
                <a:latin typeface="Times New Roman" panose="02020603050405020304" pitchFamily="18" charset="0"/>
                <a:cs typeface="Times New Roman" panose="02020603050405020304" pitchFamily="18" charset="0"/>
              </a:rPr>
              <a:t>3</a:t>
            </a:r>
            <a:r>
              <a:rPr lang="zh-CN" altLang="en-US" sz="2800" b="1" dirty="0" smtClean="0">
                <a:latin typeface="Times New Roman" panose="02020603050405020304" pitchFamily="18" charset="0"/>
                <a:cs typeface="Times New Roman" panose="02020603050405020304" pitchFamily="18" charset="0"/>
              </a:rPr>
              <a:t>）在手机客户端解析</a:t>
            </a:r>
            <a:r>
              <a:rPr lang="en-US" altLang="en-US" sz="2800" b="1" dirty="0" smtClean="0">
                <a:latin typeface="Times New Roman" panose="02020603050405020304" pitchFamily="18" charset="0"/>
                <a:cs typeface="Times New Roman" panose="02020603050405020304" pitchFamily="18" charset="0"/>
              </a:rPr>
              <a:t>JSON</a:t>
            </a:r>
            <a:r>
              <a:rPr lang="zh-CN" altLang="en-US" sz="2800" b="1" dirty="0" smtClean="0">
                <a:latin typeface="Times New Roman" panose="02020603050405020304" pitchFamily="18" charset="0"/>
                <a:cs typeface="Times New Roman" panose="02020603050405020304" pitchFamily="18" charset="0"/>
              </a:rPr>
              <a:t>。</a:t>
            </a:r>
            <a:endParaRPr lang="zh-CN" altLang="en-US" sz="2800" b="1" dirty="0">
              <a:latin typeface="Times New Roman" panose="02020603050405020304" pitchFamily="18" charset="0"/>
              <a:cs typeface="Times New Roman" panose="02020603050405020304" pitchFamily="18" charset="0"/>
            </a:endParaRPr>
          </a:p>
        </p:txBody>
      </p:sp>
    </p:spTree>
  </p:cSld>
  <p:clrMapOvr>
    <a:masterClrMapping/>
  </p:clrMapOvr>
  <p:transition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ppt_w</p:attrName>
                                        </p:attrNameLst>
                                      </p:cBhvr>
                                      <p:tavLst>
                                        <p:tav tm="0">
                                          <p:val>
                                            <p:fltVal val="0"/>
                                          </p:val>
                                        </p:tav>
                                        <p:tav tm="100000">
                                          <p:val>
                                            <p:strVal val="#ppt_w"/>
                                          </p:val>
                                        </p:tav>
                                      </p:tavLst>
                                    </p:anim>
                                    <p:anim calcmode="lin" valueType="num">
                                      <p:cBhvr>
                                        <p:cTn id="14" dur="500" fill="hold"/>
                                        <p:tgtEl>
                                          <p:spTgt spid="7"/>
                                        </p:tgtEl>
                                        <p:attrNameLst>
                                          <p:attrName>ppt_h</p:attrName>
                                        </p:attrNameLst>
                                      </p:cBhvr>
                                      <p:tavLst>
                                        <p:tav tm="0">
                                          <p:val>
                                            <p:fltVal val="0"/>
                                          </p:val>
                                        </p:tav>
                                        <p:tav tm="100000">
                                          <p:val>
                                            <p:strVal val="#ppt_h"/>
                                          </p:val>
                                        </p:tav>
                                      </p:tavLst>
                                    </p:anim>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flipH="1">
            <a:off x="5523803" y="-41991"/>
            <a:ext cx="2901652" cy="2901652"/>
          </a:xfrm>
          <a:prstGeom prst="line">
            <a:avLst/>
          </a:prstGeom>
          <a:ln w="25400">
            <a:solidFill>
              <a:srgbClr val="F7BA3B"/>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7668344" y="620688"/>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7596336" y="1988840"/>
            <a:ext cx="1979712" cy="1979712"/>
          </a:xfrm>
          <a:prstGeom prst="line">
            <a:avLst/>
          </a:prstGeom>
          <a:ln w="25400">
            <a:solidFill>
              <a:srgbClr val="DA634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6948264" y="4653136"/>
            <a:ext cx="1656184" cy="1656184"/>
          </a:xfrm>
          <a:prstGeom prst="line">
            <a:avLst/>
          </a:prstGeom>
          <a:ln w="25400">
            <a:solidFill>
              <a:srgbClr val="2FB6A8"/>
            </a:solidFill>
            <a:headEnd type="triangle"/>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5292080" y="5517232"/>
            <a:ext cx="767730" cy="767730"/>
          </a:xfrm>
          <a:prstGeom prst="line">
            <a:avLst/>
          </a:prstGeom>
          <a:ln w="25400">
            <a:solidFill>
              <a:srgbClr val="DA634F"/>
            </a:solidFill>
            <a:head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6256186" y="3035885"/>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359467" y="872056"/>
            <a:ext cx="702417" cy="702417"/>
            <a:chOff x="2921917" y="2223151"/>
            <a:chExt cx="1527064" cy="1527064"/>
          </a:xfrm>
        </p:grpSpPr>
        <p:grpSp>
          <p:nvGrpSpPr>
            <p:cNvPr id="16" name="组合 15"/>
            <p:cNvGrpSpPr/>
            <p:nvPr/>
          </p:nvGrpSpPr>
          <p:grpSpPr>
            <a:xfrm>
              <a:off x="2921917" y="2223151"/>
              <a:ext cx="1527064" cy="1527064"/>
              <a:chOff x="1200760" y="3842075"/>
              <a:chExt cx="1784148" cy="1784148"/>
            </a:xfrm>
          </p:grpSpPr>
          <p:sp>
            <p:nvSpPr>
              <p:cNvPr id="18" name="椭圆 17"/>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sp>
            <p:nvSpPr>
              <p:cNvPr id="19" name="椭圆 18"/>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grpSp>
        <p:sp>
          <p:nvSpPr>
            <p:cNvPr id="17" name="文本框 168"/>
            <p:cNvSpPr txBox="1"/>
            <p:nvPr/>
          </p:nvSpPr>
          <p:spPr>
            <a:xfrm>
              <a:off x="2921917" y="2490948"/>
              <a:ext cx="1415526" cy="1134770"/>
            </a:xfrm>
            <a:prstGeom prst="rect">
              <a:avLst/>
            </a:prstGeom>
            <a:noFill/>
          </p:spPr>
          <p:txBody>
            <a:bodyPr wrap="square" rtlCol="0">
              <a:spAutoFit/>
            </a:bodyPr>
            <a:lstStyle/>
            <a:p>
              <a:pPr algn="ctr">
                <a:defRPr/>
              </a:pPr>
              <a:r>
                <a:rPr lang="en-US" altLang="zh-CN" sz="2800" dirty="0">
                  <a:solidFill>
                    <a:prstClr val="white"/>
                  </a:solidFill>
                  <a:latin typeface="微软雅黑" panose="020B0503020204020204" pitchFamily="34" charset="-122"/>
                  <a:ea typeface="微软雅黑" panose="020B0503020204020204" pitchFamily="34" charset="-122"/>
                </a:rPr>
                <a:t>01</a:t>
              </a:r>
              <a:endParaRPr lang="zh-CN" altLang="en-US" sz="2800" dirty="0">
                <a:solidFill>
                  <a:prstClr val="white"/>
                </a:solidFill>
                <a:latin typeface="微软雅黑" panose="020B0503020204020204" pitchFamily="34" charset="-122"/>
                <a:ea typeface="微软雅黑" panose="020B0503020204020204" pitchFamily="34" charset="-122"/>
              </a:endParaRPr>
            </a:p>
          </p:txBody>
        </p:sp>
      </p:grpSp>
      <p:sp>
        <p:nvSpPr>
          <p:cNvPr id="20" name="文本框 6"/>
          <p:cNvSpPr txBox="1"/>
          <p:nvPr/>
        </p:nvSpPr>
        <p:spPr>
          <a:xfrm>
            <a:off x="1349815" y="1002856"/>
            <a:ext cx="5152585"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a:t>
            </a:r>
            <a:r>
              <a:rPr lang="en-US" altLang="zh-CN" sz="2400" b="1" dirty="0" smtClean="0">
                <a:solidFill>
                  <a:prstClr val="white"/>
                </a:solidFill>
                <a:latin typeface="微软雅黑" panose="020B0503020204020204" pitchFamily="34" charset="-122"/>
                <a:ea typeface="微软雅黑" panose="020B0503020204020204" pitchFamily="34" charset="-122"/>
              </a:rPr>
              <a:t>.1  JSON </a:t>
            </a:r>
            <a:r>
              <a:rPr lang="zh-CN" altLang="en-US" sz="2400" b="1" dirty="0" smtClean="0">
                <a:solidFill>
                  <a:prstClr val="white"/>
                </a:solidFill>
                <a:latin typeface="微软雅黑" panose="020B0503020204020204" pitchFamily="34" charset="-122"/>
                <a:ea typeface="微软雅黑" panose="020B0503020204020204" pitchFamily="34" charset="-122"/>
              </a:rPr>
              <a:t>简介</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14" name="圆角矩形 13"/>
          <p:cNvSpPr/>
          <p:nvPr/>
        </p:nvSpPr>
        <p:spPr>
          <a:xfrm>
            <a:off x="292100" y="2292350"/>
            <a:ext cx="8572500" cy="34163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sz="2000" b="1" dirty="0" smtClean="0">
                <a:latin typeface="Times New Roman" panose="02020603050405020304" pitchFamily="18" charset="0"/>
                <a:cs typeface="Times New Roman" panose="02020603050405020304" pitchFamily="18" charset="0"/>
              </a:rPr>
              <a:t>JSON </a:t>
            </a:r>
            <a:r>
              <a:rPr lang="zh-CN" altLang="en-US" sz="2000" b="1" dirty="0" smtClean="0">
                <a:latin typeface="Times New Roman" panose="02020603050405020304" pitchFamily="18" charset="0"/>
                <a:cs typeface="Times New Roman" panose="02020603050405020304" pitchFamily="18" charset="0"/>
              </a:rPr>
              <a:t>的</a:t>
            </a:r>
            <a:r>
              <a:rPr lang="zh-CN" altLang="en-US" sz="2000" b="1" dirty="0" smtClean="0">
                <a:latin typeface="Times New Roman" panose="02020603050405020304" pitchFamily="18" charset="0"/>
                <a:cs typeface="Times New Roman" panose="02020603050405020304" pitchFamily="18" charset="0"/>
              </a:rPr>
              <a:t>诞生原因是</a:t>
            </a:r>
            <a:r>
              <a:rPr lang="zh-CN" altLang="en-US" sz="2000" b="1" dirty="0" smtClean="0">
                <a:latin typeface="Times New Roman" panose="02020603050405020304" pitchFamily="18" charset="0"/>
                <a:cs typeface="Times New Roman" panose="02020603050405020304" pitchFamily="18" charset="0"/>
              </a:rPr>
              <a:t>因为 </a:t>
            </a:r>
            <a:r>
              <a:rPr lang="en-US" altLang="zh-CN" sz="2000" b="1" dirty="0" smtClean="0">
                <a:latin typeface="Times New Roman" panose="02020603050405020304" pitchFamily="18" charset="0"/>
                <a:cs typeface="Times New Roman" panose="02020603050405020304" pitchFamily="18" charset="0"/>
              </a:rPr>
              <a:t>XML </a:t>
            </a:r>
            <a:r>
              <a:rPr lang="zh-CN" altLang="en-US" sz="2000" b="1" dirty="0" smtClean="0">
                <a:latin typeface="Times New Roman" panose="02020603050405020304" pitchFamily="18" charset="0"/>
                <a:cs typeface="Times New Roman" panose="02020603050405020304" pitchFamily="18" charset="0"/>
              </a:rPr>
              <a:t>整合到 </a:t>
            </a:r>
            <a:r>
              <a:rPr lang="en-US" altLang="zh-CN" sz="2000" b="1" dirty="0" smtClean="0">
                <a:latin typeface="Times New Roman" panose="02020603050405020304" pitchFamily="18" charset="0"/>
                <a:cs typeface="Times New Roman" panose="02020603050405020304" pitchFamily="18" charset="0"/>
              </a:rPr>
              <a:t>HTML </a:t>
            </a:r>
            <a:r>
              <a:rPr lang="zh-CN" altLang="en-US" sz="2000" b="1" dirty="0" smtClean="0">
                <a:latin typeface="Times New Roman" panose="02020603050405020304" pitchFamily="18" charset="0"/>
                <a:cs typeface="Times New Roman" panose="02020603050405020304" pitchFamily="18" charset="0"/>
              </a:rPr>
              <a:t>中</a:t>
            </a:r>
            <a:r>
              <a:rPr lang="zh-CN" altLang="en-US" sz="2000" b="1" dirty="0" smtClean="0">
                <a:latin typeface="Times New Roman" panose="02020603050405020304" pitchFamily="18" charset="0"/>
                <a:cs typeface="Times New Roman" panose="02020603050405020304" pitchFamily="18" charset="0"/>
              </a:rPr>
              <a:t>各个浏览器实现的细节不尽相同，所以</a:t>
            </a:r>
            <a:r>
              <a:rPr lang="zh-CN" altLang="en-US" sz="2000" b="1" dirty="0" smtClean="0">
                <a:solidFill>
                  <a:srgbClr val="FF0000"/>
                </a:solidFill>
                <a:latin typeface="Times New Roman" panose="02020603050405020304" pitchFamily="18" charset="0"/>
                <a:cs typeface="Times New Roman" panose="02020603050405020304" pitchFamily="18" charset="0"/>
              </a:rPr>
              <a:t>道格拉斯</a:t>
            </a:r>
            <a:r>
              <a:rPr lang="en-US" altLang="zh-CN" sz="2000" b="1" dirty="0" smtClean="0">
                <a:solidFill>
                  <a:srgbClr val="FF0000"/>
                </a:solidFill>
                <a:latin typeface="Times New Roman" panose="02020603050405020304" pitchFamily="18" charset="0"/>
                <a:cs typeface="Times New Roman" panose="02020603050405020304" pitchFamily="18" charset="0"/>
              </a:rPr>
              <a:t>·</a:t>
            </a:r>
            <a:r>
              <a:rPr lang="zh-CN" altLang="en-US" sz="2000" b="1" dirty="0" smtClean="0">
                <a:solidFill>
                  <a:srgbClr val="FF0000"/>
                </a:solidFill>
                <a:latin typeface="Times New Roman" panose="02020603050405020304" pitchFamily="18" charset="0"/>
                <a:cs typeface="Times New Roman" panose="02020603050405020304" pitchFamily="18" charset="0"/>
              </a:rPr>
              <a:t>克罗克福特（</a:t>
            </a:r>
            <a:r>
              <a:rPr lang="en-US" altLang="zh-CN" sz="2000" b="1" dirty="0" smtClean="0">
                <a:solidFill>
                  <a:srgbClr val="FF0000"/>
                </a:solidFill>
                <a:latin typeface="Times New Roman" panose="02020603050405020304" pitchFamily="18" charset="0"/>
                <a:cs typeface="Times New Roman" panose="02020603050405020304" pitchFamily="18" charset="0"/>
              </a:rPr>
              <a:t>Douglas </a:t>
            </a:r>
            <a:r>
              <a:rPr lang="en-US" altLang="zh-CN" sz="2000" b="1" dirty="0" err="1" smtClean="0">
                <a:solidFill>
                  <a:srgbClr val="FF0000"/>
                </a:solidFill>
                <a:latin typeface="Times New Roman" panose="02020603050405020304" pitchFamily="18" charset="0"/>
                <a:cs typeface="Times New Roman" panose="02020603050405020304" pitchFamily="18" charset="0"/>
              </a:rPr>
              <a:t>Crockford</a:t>
            </a:r>
            <a:r>
              <a:rPr lang="zh-CN" altLang="en-US" sz="2000" b="1" dirty="0" smtClean="0">
                <a:solidFill>
                  <a:srgbClr val="FF0000"/>
                </a:solidFill>
                <a:latin typeface="Times New Roman" panose="02020603050405020304" pitchFamily="18" charset="0"/>
                <a:cs typeface="Times New Roman" panose="02020603050405020304" pitchFamily="18" charset="0"/>
              </a:rPr>
              <a:t>） </a:t>
            </a:r>
            <a:r>
              <a:rPr lang="zh-CN" altLang="en-US" sz="2000" b="1" dirty="0" smtClean="0">
                <a:latin typeface="Times New Roman" panose="02020603050405020304" pitchFamily="18" charset="0"/>
                <a:cs typeface="Times New Roman" panose="02020603050405020304" pitchFamily="18" charset="0"/>
              </a:rPr>
              <a:t>和 </a:t>
            </a:r>
            <a:r>
              <a:rPr lang="zh-CN" altLang="en-US" sz="2000" b="1" dirty="0" smtClean="0">
                <a:solidFill>
                  <a:srgbClr val="FF0000"/>
                </a:solidFill>
                <a:latin typeface="Times New Roman" panose="02020603050405020304" pitchFamily="18" charset="0"/>
                <a:cs typeface="Times New Roman" panose="02020603050405020304" pitchFamily="18" charset="0"/>
              </a:rPr>
              <a:t>奇普</a:t>
            </a:r>
            <a:r>
              <a:rPr lang="en-US" altLang="zh-CN" sz="2000" b="1" dirty="0" smtClean="0">
                <a:solidFill>
                  <a:srgbClr val="FF0000"/>
                </a:solidFill>
                <a:latin typeface="Times New Roman" panose="02020603050405020304" pitchFamily="18" charset="0"/>
                <a:cs typeface="Times New Roman" panose="02020603050405020304" pitchFamily="18" charset="0"/>
              </a:rPr>
              <a:t>·</a:t>
            </a:r>
            <a:r>
              <a:rPr lang="zh-CN" altLang="en-US" sz="2000" b="1" dirty="0" smtClean="0">
                <a:solidFill>
                  <a:srgbClr val="FF0000"/>
                </a:solidFill>
                <a:latin typeface="Times New Roman" panose="02020603050405020304" pitchFamily="18" charset="0"/>
                <a:cs typeface="Times New Roman" panose="02020603050405020304" pitchFamily="18" charset="0"/>
              </a:rPr>
              <a:t>莫宁斯达（</a:t>
            </a:r>
            <a:r>
              <a:rPr lang="en-US" altLang="zh-CN" sz="2000" b="1" dirty="0" smtClean="0">
                <a:solidFill>
                  <a:srgbClr val="FF0000"/>
                </a:solidFill>
                <a:latin typeface="Times New Roman" panose="02020603050405020304" pitchFamily="18" charset="0"/>
                <a:cs typeface="Times New Roman" panose="02020603050405020304" pitchFamily="18" charset="0"/>
              </a:rPr>
              <a:t>Chip Morningstar</a:t>
            </a:r>
            <a:r>
              <a:rPr lang="zh-CN" altLang="en-US" sz="2000" b="1" dirty="0" smtClean="0">
                <a:solidFill>
                  <a:srgbClr val="FF0000"/>
                </a:solidFill>
                <a:latin typeface="Times New Roman" panose="02020603050405020304" pitchFamily="18" charset="0"/>
                <a:cs typeface="Times New Roman" panose="02020603050405020304" pitchFamily="18" charset="0"/>
              </a:rPr>
              <a:t>）</a:t>
            </a:r>
            <a:r>
              <a:rPr lang="zh-CN" altLang="en-US" sz="2000" b="1" dirty="0" smtClean="0">
                <a:latin typeface="Times New Roman" panose="02020603050405020304" pitchFamily="18" charset="0"/>
                <a:cs typeface="Times New Roman" panose="02020603050405020304" pitchFamily="18" charset="0"/>
              </a:rPr>
              <a:t>一起</a:t>
            </a:r>
            <a:r>
              <a:rPr lang="zh-CN" altLang="en-US" sz="2000" b="1" dirty="0" smtClean="0">
                <a:solidFill>
                  <a:srgbClr val="FF0000"/>
                </a:solidFill>
                <a:latin typeface="Times New Roman" panose="02020603050405020304" pitchFamily="18" charset="0"/>
                <a:cs typeface="Times New Roman" panose="02020603050405020304" pitchFamily="18" charset="0"/>
              </a:rPr>
              <a:t>从 </a:t>
            </a:r>
            <a:r>
              <a:rPr lang="en-US" altLang="zh-CN" sz="2000" b="1" dirty="0" smtClean="0">
                <a:solidFill>
                  <a:srgbClr val="FF0000"/>
                </a:solidFill>
                <a:latin typeface="Times New Roman" panose="02020603050405020304" pitchFamily="18" charset="0"/>
                <a:cs typeface="Times New Roman" panose="02020603050405020304" pitchFamily="18" charset="0"/>
              </a:rPr>
              <a:t>JS </a:t>
            </a:r>
            <a:r>
              <a:rPr lang="zh-CN" altLang="en-US" sz="2000" b="1" dirty="0" smtClean="0">
                <a:solidFill>
                  <a:srgbClr val="FF0000"/>
                </a:solidFill>
                <a:latin typeface="Times New Roman" panose="02020603050405020304" pitchFamily="18" charset="0"/>
                <a:cs typeface="Times New Roman" panose="02020603050405020304" pitchFamily="18" charset="0"/>
              </a:rPr>
              <a:t>的</a:t>
            </a:r>
            <a:r>
              <a:rPr lang="zh-CN" altLang="en-US" sz="2000" b="1" dirty="0" smtClean="0">
                <a:solidFill>
                  <a:srgbClr val="FF0000"/>
                </a:solidFill>
                <a:latin typeface="Times New Roman" panose="02020603050405020304" pitchFamily="18" charset="0"/>
                <a:cs typeface="Times New Roman" panose="02020603050405020304" pitchFamily="18" charset="0"/>
              </a:rPr>
              <a:t>数据类型中提取了一个子集</a:t>
            </a:r>
            <a:r>
              <a:rPr lang="zh-CN" altLang="en-US" sz="2000" b="1" dirty="0" smtClean="0">
                <a:latin typeface="Times New Roman" panose="02020603050405020304" pitchFamily="18" charset="0"/>
                <a:cs typeface="Times New Roman" panose="02020603050405020304" pitchFamily="18" charset="0"/>
              </a:rPr>
              <a:t>，</a:t>
            </a:r>
            <a:r>
              <a:rPr lang="zh-CN" altLang="en-US" sz="2000" b="1" dirty="0" smtClean="0">
                <a:solidFill>
                  <a:srgbClr val="FF0000"/>
                </a:solidFill>
                <a:latin typeface="Times New Roman" panose="02020603050405020304" pitchFamily="18" charset="0"/>
                <a:cs typeface="Times New Roman" panose="02020603050405020304" pitchFamily="18" charset="0"/>
              </a:rPr>
              <a:t>作为新的数据交换格式</a:t>
            </a:r>
            <a:r>
              <a:rPr lang="zh-CN" altLang="en-US" sz="2000" b="1" dirty="0" smtClean="0">
                <a:latin typeface="Times New Roman" panose="02020603050405020304" pitchFamily="18" charset="0"/>
                <a:cs typeface="Times New Roman" panose="02020603050405020304" pitchFamily="18" charset="0"/>
              </a:rPr>
              <a:t>，因为主流的浏览器使用了</a:t>
            </a:r>
            <a:r>
              <a:rPr lang="zh-CN" altLang="en-US" sz="2000" b="1" dirty="0" smtClean="0">
                <a:solidFill>
                  <a:srgbClr val="FF0000"/>
                </a:solidFill>
                <a:latin typeface="Times New Roman" panose="02020603050405020304" pitchFamily="18" charset="0"/>
                <a:cs typeface="Times New Roman" panose="02020603050405020304" pitchFamily="18" charset="0"/>
              </a:rPr>
              <a:t>通用</a:t>
            </a:r>
            <a:r>
              <a:rPr lang="zh-CN" altLang="en-US" sz="2000" b="1" dirty="0" smtClean="0">
                <a:solidFill>
                  <a:srgbClr val="FF0000"/>
                </a:solidFill>
                <a:latin typeface="Times New Roman" panose="02020603050405020304" pitchFamily="18" charset="0"/>
                <a:cs typeface="Times New Roman" panose="02020603050405020304" pitchFamily="18" charset="0"/>
              </a:rPr>
              <a:t>的 </a:t>
            </a:r>
            <a:r>
              <a:rPr lang="en-US" altLang="zh-CN" sz="2000" b="1" dirty="0" smtClean="0">
                <a:solidFill>
                  <a:srgbClr val="FF0000"/>
                </a:solidFill>
                <a:latin typeface="Times New Roman" panose="02020603050405020304" pitchFamily="18" charset="0"/>
                <a:cs typeface="Times New Roman" panose="02020603050405020304" pitchFamily="18" charset="0"/>
              </a:rPr>
              <a:t>JavaScript </a:t>
            </a:r>
            <a:r>
              <a:rPr lang="zh-CN" altLang="en-US" sz="2000" b="1" dirty="0" smtClean="0">
                <a:solidFill>
                  <a:srgbClr val="FF0000"/>
                </a:solidFill>
                <a:latin typeface="Times New Roman" panose="02020603050405020304" pitchFamily="18" charset="0"/>
                <a:cs typeface="Times New Roman" panose="02020603050405020304" pitchFamily="18" charset="0"/>
              </a:rPr>
              <a:t>引擎</a:t>
            </a:r>
            <a:r>
              <a:rPr lang="zh-CN" altLang="en-US" sz="2000" b="1" dirty="0" smtClean="0">
                <a:latin typeface="Times New Roman" panose="02020603050405020304" pitchFamily="18" charset="0"/>
                <a:cs typeface="Times New Roman" panose="02020603050405020304" pitchFamily="18" charset="0"/>
              </a:rPr>
              <a:t>组件，所以在解析这种新数据格式时就</a:t>
            </a:r>
            <a:r>
              <a:rPr lang="zh-CN" altLang="en-US" sz="2000" b="1" dirty="0" smtClean="0">
                <a:solidFill>
                  <a:srgbClr val="FF0000"/>
                </a:solidFill>
                <a:latin typeface="Times New Roman" panose="02020603050405020304" pitchFamily="18" charset="0"/>
                <a:cs typeface="Times New Roman" panose="02020603050405020304" pitchFamily="18" charset="0"/>
              </a:rPr>
              <a:t>不存在兼容性问题</a:t>
            </a:r>
            <a:r>
              <a:rPr lang="zh-CN" altLang="en-US" sz="2000" b="1" dirty="0" smtClean="0">
                <a:latin typeface="Times New Roman" panose="02020603050405020304" pitchFamily="18" charset="0"/>
                <a:cs typeface="Times New Roman" panose="02020603050405020304" pitchFamily="18" charset="0"/>
              </a:rPr>
              <a:t>，于是他们将这种数据格式命名为 “</a:t>
            </a:r>
            <a:r>
              <a:rPr lang="en-US" altLang="zh-CN" sz="2000" b="1" dirty="0" smtClean="0">
                <a:solidFill>
                  <a:srgbClr val="FF0000"/>
                </a:solidFill>
                <a:latin typeface="Times New Roman" panose="02020603050405020304" pitchFamily="18" charset="0"/>
                <a:cs typeface="Times New Roman" panose="02020603050405020304" pitchFamily="18" charset="0"/>
              </a:rPr>
              <a:t>JavaScript Object Notation</a:t>
            </a:r>
            <a:r>
              <a:rPr lang="en-US" altLang="zh-CN" sz="2000" b="1" dirty="0" smtClean="0">
                <a:latin typeface="Times New Roman" panose="02020603050405020304" pitchFamily="18" charset="0"/>
                <a:cs typeface="Times New Roman" panose="02020603050405020304" pitchFamily="18" charset="0"/>
              </a:rPr>
              <a:t>”</a:t>
            </a:r>
            <a:r>
              <a:rPr lang="zh-CN" altLang="en-US" sz="2000" b="1" dirty="0" smtClean="0">
                <a:latin typeface="Times New Roman" panose="02020603050405020304" pitchFamily="18" charset="0"/>
                <a:cs typeface="Times New Roman" panose="02020603050405020304" pitchFamily="18" charset="0"/>
              </a:rPr>
              <a:t>，缩写为 </a:t>
            </a:r>
            <a:r>
              <a:rPr lang="zh-CN" altLang="en-US" sz="2000" b="1" dirty="0" smtClean="0">
                <a:latin typeface="Times New Roman" panose="02020603050405020304" pitchFamily="18" charset="0"/>
                <a:cs typeface="Times New Roman" panose="02020603050405020304" pitchFamily="18" charset="0"/>
              </a:rPr>
              <a:t> </a:t>
            </a:r>
            <a:r>
              <a:rPr lang="en-US" altLang="zh-CN" sz="2000" b="1" dirty="0" smtClean="0">
                <a:latin typeface="Times New Roman" panose="02020603050405020304" pitchFamily="18" charset="0"/>
                <a:cs typeface="Times New Roman" panose="02020603050405020304" pitchFamily="18" charset="0"/>
              </a:rPr>
              <a:t>JSON </a:t>
            </a:r>
            <a:r>
              <a:rPr lang="zh-CN" altLang="en-US" sz="2000" b="1" dirty="0" smtClean="0">
                <a:latin typeface="Times New Roman" panose="02020603050405020304" pitchFamily="18" charset="0"/>
                <a:cs typeface="Times New Roman" panose="02020603050405020304" pitchFamily="18" charset="0"/>
              </a:rPr>
              <a:t>，由此 </a:t>
            </a:r>
            <a:r>
              <a:rPr lang="en-US" altLang="zh-CN" sz="2000" b="1" dirty="0" smtClean="0">
                <a:latin typeface="Times New Roman" panose="02020603050405020304" pitchFamily="18" charset="0"/>
                <a:cs typeface="Times New Roman" panose="02020603050405020304" pitchFamily="18" charset="0"/>
              </a:rPr>
              <a:t>JSON </a:t>
            </a:r>
            <a:r>
              <a:rPr lang="zh-CN" altLang="en-US" sz="2000" b="1" dirty="0" smtClean="0">
                <a:latin typeface="Times New Roman" panose="02020603050405020304" pitchFamily="18" charset="0"/>
                <a:cs typeface="Times New Roman" panose="02020603050405020304" pitchFamily="18" charset="0"/>
              </a:rPr>
              <a:t>便</a:t>
            </a:r>
            <a:r>
              <a:rPr lang="zh-CN" altLang="en-US" sz="2000" b="1" dirty="0" smtClean="0">
                <a:latin typeface="Times New Roman" panose="02020603050405020304" pitchFamily="18" charset="0"/>
                <a:cs typeface="Times New Roman" panose="02020603050405020304" pitchFamily="18" charset="0"/>
              </a:rPr>
              <a:t>诞生了！</a:t>
            </a:r>
            <a:endParaRPr lang="en-US" altLang="zh-CN" sz="2000" b="1" dirty="0" smtClean="0">
              <a:latin typeface="Times New Roman" panose="02020603050405020304" pitchFamily="18" charset="0"/>
              <a:cs typeface="Times New Roman" panose="02020603050405020304" pitchFamily="18" charset="0"/>
            </a:endParaRPr>
          </a:p>
        </p:txBody>
      </p:sp>
      <p:sp>
        <p:nvSpPr>
          <p:cNvPr id="21" name="文本框 6"/>
          <p:cNvSpPr txBox="1"/>
          <p:nvPr/>
        </p:nvSpPr>
        <p:spPr>
          <a:xfrm>
            <a:off x="1349814" y="1599756"/>
            <a:ext cx="7463986"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  JSON </a:t>
            </a:r>
            <a:r>
              <a:rPr lang="zh-CN" altLang="en-US" sz="2400" b="1" dirty="0" smtClean="0">
                <a:solidFill>
                  <a:prstClr val="white"/>
                </a:solidFill>
                <a:latin typeface="微软雅黑" panose="020B0503020204020204" pitchFamily="34" charset="-122"/>
                <a:ea typeface="微软雅黑" panose="020B0503020204020204" pitchFamily="34" charset="-122"/>
              </a:rPr>
              <a:t>数据格式的定义</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p:cTn id="13" dur="500" fill="hold"/>
                                        <p:tgtEl>
                                          <p:spTgt spid="20"/>
                                        </p:tgtEl>
                                        <p:attrNameLst>
                                          <p:attrName>ppt_w</p:attrName>
                                        </p:attrNameLst>
                                      </p:cBhvr>
                                      <p:tavLst>
                                        <p:tav tm="0">
                                          <p:val>
                                            <p:fltVal val="0"/>
                                          </p:val>
                                        </p:tav>
                                        <p:tav tm="100000">
                                          <p:val>
                                            <p:strVal val="#ppt_w"/>
                                          </p:val>
                                        </p:tav>
                                      </p:tavLst>
                                    </p:anim>
                                    <p:anim calcmode="lin" valueType="num">
                                      <p:cBhvr>
                                        <p:cTn id="14" dur="500" fill="hold"/>
                                        <p:tgtEl>
                                          <p:spTgt spid="20"/>
                                        </p:tgtEl>
                                        <p:attrNameLst>
                                          <p:attrName>ppt_h</p:attrName>
                                        </p:attrNameLst>
                                      </p:cBhvr>
                                      <p:tavLst>
                                        <p:tav tm="0">
                                          <p:val>
                                            <p:fltVal val="0"/>
                                          </p:val>
                                        </p:tav>
                                        <p:tav tm="100000">
                                          <p:val>
                                            <p:strVal val="#ppt_h"/>
                                          </p:val>
                                        </p:tav>
                                      </p:tavLst>
                                    </p:anim>
                                    <p:animEffect transition="in" filter="fade">
                                      <p:cBhvr>
                                        <p:cTn id="15" dur="500"/>
                                        <p:tgtEl>
                                          <p:spTgt spid="20"/>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500" fill="hold"/>
                                        <p:tgtEl>
                                          <p:spTgt spid="21"/>
                                        </p:tgtEl>
                                        <p:attrNameLst>
                                          <p:attrName>ppt_w</p:attrName>
                                        </p:attrNameLst>
                                      </p:cBhvr>
                                      <p:tavLst>
                                        <p:tav tm="0">
                                          <p:val>
                                            <p:fltVal val="0"/>
                                          </p:val>
                                        </p:tav>
                                        <p:tav tm="100000">
                                          <p:val>
                                            <p:strVal val="#ppt_w"/>
                                          </p:val>
                                        </p:tav>
                                      </p:tavLst>
                                    </p:anim>
                                    <p:anim calcmode="lin" valueType="num">
                                      <p:cBhvr>
                                        <p:cTn id="20" dur="500" fill="hold"/>
                                        <p:tgtEl>
                                          <p:spTgt spid="21"/>
                                        </p:tgtEl>
                                        <p:attrNameLst>
                                          <p:attrName>ppt_h</p:attrName>
                                        </p:attrNameLst>
                                      </p:cBhvr>
                                      <p:tavLst>
                                        <p:tav tm="0">
                                          <p:val>
                                            <p:fltVal val="0"/>
                                          </p:val>
                                        </p:tav>
                                        <p:tav tm="100000">
                                          <p:val>
                                            <p:strVal val="#ppt_h"/>
                                          </p:val>
                                        </p:tav>
                                      </p:tavLst>
                                    </p:anim>
                                    <p:animEffect transition="in" filter="fade">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flipH="1">
            <a:off x="5523803" y="-41991"/>
            <a:ext cx="2901652" cy="2901652"/>
          </a:xfrm>
          <a:prstGeom prst="line">
            <a:avLst/>
          </a:prstGeom>
          <a:ln w="25400">
            <a:solidFill>
              <a:srgbClr val="F7BA3B"/>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7668344" y="620688"/>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7596336" y="1988840"/>
            <a:ext cx="1979712" cy="1979712"/>
          </a:xfrm>
          <a:prstGeom prst="line">
            <a:avLst/>
          </a:prstGeom>
          <a:ln w="25400">
            <a:solidFill>
              <a:srgbClr val="DA634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6948264" y="4653136"/>
            <a:ext cx="1656184" cy="1656184"/>
          </a:xfrm>
          <a:prstGeom prst="line">
            <a:avLst/>
          </a:prstGeom>
          <a:ln w="25400">
            <a:solidFill>
              <a:srgbClr val="2FB6A8"/>
            </a:solidFill>
            <a:headEnd type="triangle"/>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5292080" y="5517232"/>
            <a:ext cx="767730" cy="767730"/>
          </a:xfrm>
          <a:prstGeom prst="line">
            <a:avLst/>
          </a:prstGeom>
          <a:ln w="25400">
            <a:solidFill>
              <a:srgbClr val="DA634F"/>
            </a:solidFill>
            <a:head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6256186" y="3035885"/>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 name="组合 14"/>
          <p:cNvGrpSpPr/>
          <p:nvPr/>
        </p:nvGrpSpPr>
        <p:grpSpPr>
          <a:xfrm>
            <a:off x="359467" y="872056"/>
            <a:ext cx="702417" cy="702417"/>
            <a:chOff x="2921917" y="2223151"/>
            <a:chExt cx="1527064" cy="1527064"/>
          </a:xfrm>
        </p:grpSpPr>
        <p:grpSp>
          <p:nvGrpSpPr>
            <p:cNvPr id="3" name="组合 15"/>
            <p:cNvGrpSpPr/>
            <p:nvPr/>
          </p:nvGrpSpPr>
          <p:grpSpPr>
            <a:xfrm>
              <a:off x="2921917" y="2223151"/>
              <a:ext cx="1527064" cy="1527064"/>
              <a:chOff x="1200760" y="3842075"/>
              <a:chExt cx="1784148" cy="1784148"/>
            </a:xfrm>
          </p:grpSpPr>
          <p:sp>
            <p:nvSpPr>
              <p:cNvPr id="18" name="椭圆 17"/>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sp>
            <p:nvSpPr>
              <p:cNvPr id="19" name="椭圆 18"/>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grpSp>
        <p:sp>
          <p:nvSpPr>
            <p:cNvPr id="17" name="文本框 168"/>
            <p:cNvSpPr txBox="1"/>
            <p:nvPr/>
          </p:nvSpPr>
          <p:spPr>
            <a:xfrm>
              <a:off x="2921917" y="2490948"/>
              <a:ext cx="1415526" cy="1134770"/>
            </a:xfrm>
            <a:prstGeom prst="rect">
              <a:avLst/>
            </a:prstGeom>
            <a:noFill/>
          </p:spPr>
          <p:txBody>
            <a:bodyPr wrap="square" rtlCol="0">
              <a:spAutoFit/>
            </a:bodyPr>
            <a:lstStyle/>
            <a:p>
              <a:pPr algn="ctr">
                <a:defRPr/>
              </a:pPr>
              <a:r>
                <a:rPr lang="en-US" altLang="zh-CN" sz="2800" dirty="0">
                  <a:solidFill>
                    <a:prstClr val="white"/>
                  </a:solidFill>
                  <a:latin typeface="微软雅黑" panose="020B0503020204020204" pitchFamily="34" charset="-122"/>
                  <a:ea typeface="微软雅黑" panose="020B0503020204020204" pitchFamily="34" charset="-122"/>
                </a:rPr>
                <a:t>01</a:t>
              </a:r>
              <a:endParaRPr lang="zh-CN" altLang="en-US" sz="2800" dirty="0">
                <a:solidFill>
                  <a:prstClr val="white"/>
                </a:solidFill>
                <a:latin typeface="微软雅黑" panose="020B0503020204020204" pitchFamily="34" charset="-122"/>
                <a:ea typeface="微软雅黑" panose="020B0503020204020204" pitchFamily="34" charset="-122"/>
              </a:endParaRPr>
            </a:p>
          </p:txBody>
        </p:sp>
      </p:grpSp>
      <p:sp>
        <p:nvSpPr>
          <p:cNvPr id="20" name="文本框 6"/>
          <p:cNvSpPr txBox="1"/>
          <p:nvPr/>
        </p:nvSpPr>
        <p:spPr>
          <a:xfrm>
            <a:off x="1349815" y="1002856"/>
            <a:ext cx="5152585"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a:t>
            </a:r>
            <a:r>
              <a:rPr lang="en-US" altLang="zh-CN" sz="2400" b="1" dirty="0" smtClean="0">
                <a:solidFill>
                  <a:prstClr val="white"/>
                </a:solidFill>
                <a:latin typeface="微软雅黑" panose="020B0503020204020204" pitchFamily="34" charset="-122"/>
                <a:ea typeface="微软雅黑" panose="020B0503020204020204" pitchFamily="34" charset="-122"/>
              </a:rPr>
              <a:t>.1  JSON </a:t>
            </a:r>
            <a:r>
              <a:rPr lang="zh-CN" altLang="en-US" sz="2400" b="1" dirty="0" smtClean="0">
                <a:solidFill>
                  <a:prstClr val="white"/>
                </a:solidFill>
                <a:latin typeface="微软雅黑" panose="020B0503020204020204" pitchFamily="34" charset="-122"/>
                <a:ea typeface="微软雅黑" panose="020B0503020204020204" pitchFamily="34" charset="-122"/>
              </a:rPr>
              <a:t>简介</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14" name="圆角矩形 13"/>
          <p:cNvSpPr/>
          <p:nvPr/>
        </p:nvSpPr>
        <p:spPr>
          <a:xfrm>
            <a:off x="292100" y="2432050"/>
            <a:ext cx="8572500" cy="1016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en-US" sz="2400" b="1" dirty="0" smtClean="0">
                <a:latin typeface="Times New Roman" panose="02020603050405020304" pitchFamily="18" charset="0"/>
                <a:cs typeface="Times New Roman" panose="02020603050405020304" pitchFamily="18" charset="0"/>
              </a:rPr>
              <a:t>JSON</a:t>
            </a:r>
            <a:r>
              <a:rPr lang="zh-CN" altLang="en-US" sz="2400" b="1" dirty="0" smtClean="0">
                <a:latin typeface="Times New Roman" panose="02020603050405020304" pitchFamily="18" charset="0"/>
                <a:cs typeface="Times New Roman" panose="02020603050405020304" pitchFamily="18" charset="0"/>
              </a:rPr>
              <a:t>的全称是：</a:t>
            </a:r>
            <a:r>
              <a:rPr lang="en-US" altLang="en-US" sz="2400" b="1" dirty="0" smtClean="0">
                <a:latin typeface="Times New Roman" panose="02020603050405020304" pitchFamily="18" charset="0"/>
                <a:cs typeface="Times New Roman" panose="02020603050405020304" pitchFamily="18" charset="0"/>
              </a:rPr>
              <a:t>JavaScript Object Notation</a:t>
            </a:r>
            <a:r>
              <a:rPr lang="zh-CN" altLang="en-US" sz="2400" b="1" dirty="0" smtClean="0">
                <a:latin typeface="Times New Roman" panose="02020603050405020304" pitchFamily="18" charset="0"/>
                <a:cs typeface="Times New Roman" panose="02020603050405020304" pitchFamily="18" charset="0"/>
              </a:rPr>
              <a:t>，是</a:t>
            </a:r>
            <a:r>
              <a:rPr lang="zh-CN" altLang="en-US" sz="2400" b="1" dirty="0" smtClean="0">
                <a:solidFill>
                  <a:srgbClr val="FF0000"/>
                </a:solidFill>
                <a:latin typeface="Times New Roman" panose="02020603050405020304" pitchFamily="18" charset="0"/>
                <a:cs typeface="Times New Roman" panose="02020603050405020304" pitchFamily="18" charset="0"/>
              </a:rPr>
              <a:t>一种轻量级的数据交换格式</a:t>
            </a:r>
            <a:r>
              <a:rPr lang="zh-CN" altLang="en-US" sz="2400" b="1" dirty="0" smtClean="0">
                <a:latin typeface="Times New Roman" panose="02020603050405020304" pitchFamily="18" charset="0"/>
                <a:cs typeface="Times New Roman" panose="02020603050405020304" pitchFamily="18" charset="0"/>
              </a:rPr>
              <a:t>。它构建于两种结构：</a:t>
            </a:r>
            <a:endParaRPr lang="en-US" altLang="zh-CN" sz="2400" b="1" dirty="0" smtClean="0">
              <a:latin typeface="Times New Roman" panose="02020603050405020304" pitchFamily="18" charset="0"/>
              <a:cs typeface="Times New Roman" panose="02020603050405020304" pitchFamily="18" charset="0"/>
            </a:endParaRPr>
          </a:p>
        </p:txBody>
      </p:sp>
      <p:sp>
        <p:nvSpPr>
          <p:cNvPr id="21" name="文本框 6"/>
          <p:cNvSpPr txBox="1"/>
          <p:nvPr/>
        </p:nvSpPr>
        <p:spPr>
          <a:xfrm>
            <a:off x="1349814" y="1599756"/>
            <a:ext cx="7463986"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  JSON </a:t>
            </a:r>
            <a:r>
              <a:rPr lang="zh-CN" altLang="en-US" sz="2400" b="1" dirty="0" smtClean="0">
                <a:solidFill>
                  <a:prstClr val="white"/>
                </a:solidFill>
                <a:latin typeface="微软雅黑" panose="020B0503020204020204" pitchFamily="34" charset="-122"/>
                <a:ea typeface="微软雅黑" panose="020B0503020204020204" pitchFamily="34" charset="-122"/>
              </a:rPr>
              <a:t>数据格式的定义</a:t>
            </a:r>
            <a:endParaRPr lang="zh-CN" altLang="en-US" sz="2400" dirty="0">
              <a:solidFill>
                <a:prstClr val="white"/>
              </a:solidFill>
              <a:latin typeface="微软雅黑" panose="020B0503020204020204" pitchFamily="34" charset="-122"/>
              <a:ea typeface="微软雅黑" panose="020B0503020204020204" pitchFamily="34" charset="-122"/>
            </a:endParaRPr>
          </a:p>
        </p:txBody>
      </p:sp>
      <p:pic>
        <p:nvPicPr>
          <p:cNvPr id="1026" name="Picture 2"/>
          <p:cNvPicPr>
            <a:picLocks noChangeAspect="1" noChangeArrowheads="1"/>
          </p:cNvPicPr>
          <p:nvPr/>
        </p:nvPicPr>
        <p:blipFill>
          <a:blip r:embed="rId1"/>
          <a:srcRect/>
          <a:stretch>
            <a:fillRect/>
          </a:stretch>
        </p:blipFill>
        <p:spPr bwMode="auto">
          <a:xfrm>
            <a:off x="377825" y="3579813"/>
            <a:ext cx="8428304" cy="1252537"/>
          </a:xfrm>
          <a:prstGeom prst="rect">
            <a:avLst/>
          </a:prstGeom>
          <a:noFill/>
          <a:ln w="9525">
            <a:noFill/>
            <a:miter lim="800000"/>
            <a:headEnd/>
            <a:tailEnd/>
          </a:ln>
          <a:effectLst/>
        </p:spPr>
      </p:pic>
    </p:spTree>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p:cTn id="13" dur="500" fill="hold"/>
                                        <p:tgtEl>
                                          <p:spTgt spid="20"/>
                                        </p:tgtEl>
                                        <p:attrNameLst>
                                          <p:attrName>ppt_w</p:attrName>
                                        </p:attrNameLst>
                                      </p:cBhvr>
                                      <p:tavLst>
                                        <p:tav tm="0">
                                          <p:val>
                                            <p:fltVal val="0"/>
                                          </p:val>
                                        </p:tav>
                                        <p:tav tm="100000">
                                          <p:val>
                                            <p:strVal val="#ppt_w"/>
                                          </p:val>
                                        </p:tav>
                                      </p:tavLst>
                                    </p:anim>
                                    <p:anim calcmode="lin" valueType="num">
                                      <p:cBhvr>
                                        <p:cTn id="14" dur="500" fill="hold"/>
                                        <p:tgtEl>
                                          <p:spTgt spid="20"/>
                                        </p:tgtEl>
                                        <p:attrNameLst>
                                          <p:attrName>ppt_h</p:attrName>
                                        </p:attrNameLst>
                                      </p:cBhvr>
                                      <p:tavLst>
                                        <p:tav tm="0">
                                          <p:val>
                                            <p:fltVal val="0"/>
                                          </p:val>
                                        </p:tav>
                                        <p:tav tm="100000">
                                          <p:val>
                                            <p:strVal val="#ppt_h"/>
                                          </p:val>
                                        </p:tav>
                                      </p:tavLst>
                                    </p:anim>
                                    <p:animEffect transition="in" filter="fade">
                                      <p:cBhvr>
                                        <p:cTn id="15" dur="500"/>
                                        <p:tgtEl>
                                          <p:spTgt spid="20"/>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500" fill="hold"/>
                                        <p:tgtEl>
                                          <p:spTgt spid="21"/>
                                        </p:tgtEl>
                                        <p:attrNameLst>
                                          <p:attrName>ppt_w</p:attrName>
                                        </p:attrNameLst>
                                      </p:cBhvr>
                                      <p:tavLst>
                                        <p:tav tm="0">
                                          <p:val>
                                            <p:fltVal val="0"/>
                                          </p:val>
                                        </p:tav>
                                        <p:tav tm="100000">
                                          <p:val>
                                            <p:strVal val="#ppt_w"/>
                                          </p:val>
                                        </p:tav>
                                      </p:tavLst>
                                    </p:anim>
                                    <p:anim calcmode="lin" valueType="num">
                                      <p:cBhvr>
                                        <p:cTn id="20" dur="500" fill="hold"/>
                                        <p:tgtEl>
                                          <p:spTgt spid="21"/>
                                        </p:tgtEl>
                                        <p:attrNameLst>
                                          <p:attrName>ppt_h</p:attrName>
                                        </p:attrNameLst>
                                      </p:cBhvr>
                                      <p:tavLst>
                                        <p:tav tm="0">
                                          <p:val>
                                            <p:fltVal val="0"/>
                                          </p:val>
                                        </p:tav>
                                        <p:tav tm="100000">
                                          <p:val>
                                            <p:strVal val="#ppt_h"/>
                                          </p:val>
                                        </p:tav>
                                      </p:tavLst>
                                    </p:anim>
                                    <p:animEffect transition="in" filter="fade">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flipH="1">
            <a:off x="5523803" y="-41991"/>
            <a:ext cx="2901652" cy="2901652"/>
          </a:xfrm>
          <a:prstGeom prst="line">
            <a:avLst/>
          </a:prstGeom>
          <a:ln w="25400">
            <a:solidFill>
              <a:srgbClr val="F7BA3B"/>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7668344" y="620688"/>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7596336" y="1988840"/>
            <a:ext cx="1979712" cy="1979712"/>
          </a:xfrm>
          <a:prstGeom prst="line">
            <a:avLst/>
          </a:prstGeom>
          <a:ln w="25400">
            <a:solidFill>
              <a:srgbClr val="DA634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6948264" y="4653136"/>
            <a:ext cx="1656184" cy="1656184"/>
          </a:xfrm>
          <a:prstGeom prst="line">
            <a:avLst/>
          </a:prstGeom>
          <a:ln w="25400">
            <a:solidFill>
              <a:srgbClr val="2FB6A8"/>
            </a:solidFill>
            <a:headEnd type="triangle"/>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5292080" y="5517232"/>
            <a:ext cx="767730" cy="767730"/>
          </a:xfrm>
          <a:prstGeom prst="line">
            <a:avLst/>
          </a:prstGeom>
          <a:ln w="25400">
            <a:solidFill>
              <a:srgbClr val="DA634F"/>
            </a:solidFill>
            <a:head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6256186" y="3035885"/>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 name="组合 14"/>
          <p:cNvGrpSpPr/>
          <p:nvPr/>
        </p:nvGrpSpPr>
        <p:grpSpPr>
          <a:xfrm>
            <a:off x="359467" y="872056"/>
            <a:ext cx="702417" cy="702417"/>
            <a:chOff x="2921917" y="2223151"/>
            <a:chExt cx="1527064" cy="1527064"/>
          </a:xfrm>
        </p:grpSpPr>
        <p:grpSp>
          <p:nvGrpSpPr>
            <p:cNvPr id="3" name="组合 15"/>
            <p:cNvGrpSpPr/>
            <p:nvPr/>
          </p:nvGrpSpPr>
          <p:grpSpPr>
            <a:xfrm>
              <a:off x="2921917" y="2223151"/>
              <a:ext cx="1527064" cy="1527064"/>
              <a:chOff x="1200760" y="3842075"/>
              <a:chExt cx="1784148" cy="1784148"/>
            </a:xfrm>
          </p:grpSpPr>
          <p:sp>
            <p:nvSpPr>
              <p:cNvPr id="18" name="椭圆 17"/>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sp>
            <p:nvSpPr>
              <p:cNvPr id="19" name="椭圆 18"/>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grpSp>
        <p:sp>
          <p:nvSpPr>
            <p:cNvPr id="17" name="文本框 168"/>
            <p:cNvSpPr txBox="1"/>
            <p:nvPr/>
          </p:nvSpPr>
          <p:spPr>
            <a:xfrm>
              <a:off x="2921917" y="2490948"/>
              <a:ext cx="1415526" cy="1134770"/>
            </a:xfrm>
            <a:prstGeom prst="rect">
              <a:avLst/>
            </a:prstGeom>
            <a:noFill/>
          </p:spPr>
          <p:txBody>
            <a:bodyPr wrap="square" rtlCol="0">
              <a:spAutoFit/>
            </a:bodyPr>
            <a:lstStyle/>
            <a:p>
              <a:pPr algn="ctr">
                <a:defRPr/>
              </a:pPr>
              <a:r>
                <a:rPr lang="en-US" altLang="zh-CN" sz="2800" dirty="0">
                  <a:solidFill>
                    <a:prstClr val="white"/>
                  </a:solidFill>
                  <a:latin typeface="微软雅黑" panose="020B0503020204020204" pitchFamily="34" charset="-122"/>
                  <a:ea typeface="微软雅黑" panose="020B0503020204020204" pitchFamily="34" charset="-122"/>
                </a:rPr>
                <a:t>01</a:t>
              </a:r>
              <a:endParaRPr lang="zh-CN" altLang="en-US" sz="2800" dirty="0">
                <a:solidFill>
                  <a:prstClr val="white"/>
                </a:solidFill>
                <a:latin typeface="微软雅黑" panose="020B0503020204020204" pitchFamily="34" charset="-122"/>
                <a:ea typeface="微软雅黑" panose="020B0503020204020204" pitchFamily="34" charset="-122"/>
              </a:endParaRPr>
            </a:p>
          </p:txBody>
        </p:sp>
      </p:grpSp>
      <p:sp>
        <p:nvSpPr>
          <p:cNvPr id="20" name="文本框 6"/>
          <p:cNvSpPr txBox="1"/>
          <p:nvPr/>
        </p:nvSpPr>
        <p:spPr>
          <a:xfrm>
            <a:off x="1349815" y="1002856"/>
            <a:ext cx="5152585"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a:t>
            </a:r>
            <a:r>
              <a:rPr lang="en-US" altLang="zh-CN" sz="2400" b="1" dirty="0" smtClean="0">
                <a:solidFill>
                  <a:prstClr val="white"/>
                </a:solidFill>
                <a:latin typeface="微软雅黑" panose="020B0503020204020204" pitchFamily="34" charset="-122"/>
                <a:ea typeface="微软雅黑" panose="020B0503020204020204" pitchFamily="34" charset="-122"/>
              </a:rPr>
              <a:t>.1  JSON </a:t>
            </a:r>
            <a:r>
              <a:rPr lang="zh-CN" altLang="en-US" sz="2400" b="1" dirty="0" smtClean="0">
                <a:solidFill>
                  <a:prstClr val="white"/>
                </a:solidFill>
                <a:latin typeface="微软雅黑" panose="020B0503020204020204" pitchFamily="34" charset="-122"/>
                <a:ea typeface="微软雅黑" panose="020B0503020204020204" pitchFamily="34" charset="-122"/>
              </a:rPr>
              <a:t>简介</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14" name="圆角矩形 13"/>
          <p:cNvSpPr/>
          <p:nvPr/>
        </p:nvSpPr>
        <p:spPr>
          <a:xfrm>
            <a:off x="673100" y="2228850"/>
            <a:ext cx="7874000" cy="1663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en-US" sz="2000" b="1" dirty="0" smtClean="0">
                <a:latin typeface="Times New Roman" panose="02020603050405020304" pitchFamily="18" charset="0"/>
                <a:cs typeface="Times New Roman" panose="02020603050405020304" pitchFamily="18" charset="0"/>
              </a:rPr>
              <a:t>JSON </a:t>
            </a:r>
            <a:r>
              <a:rPr lang="zh-CN" altLang="en-US" sz="2000" b="1" dirty="0" smtClean="0">
                <a:latin typeface="Times New Roman" panose="02020603050405020304" pitchFamily="18" charset="0"/>
                <a:cs typeface="Times New Roman" panose="02020603050405020304" pitchFamily="18" charset="0"/>
              </a:rPr>
              <a:t>对象</a:t>
            </a:r>
            <a:r>
              <a:rPr lang="zh-CN" altLang="en-US" sz="2000" b="1" dirty="0" smtClean="0">
                <a:latin typeface="Times New Roman" panose="02020603050405020304" pitchFamily="18" charset="0"/>
                <a:cs typeface="Times New Roman" panose="02020603050405020304" pitchFamily="18" charset="0"/>
              </a:rPr>
              <a:t>是一个无序的“‘</a:t>
            </a:r>
            <a:r>
              <a:rPr lang="zh-CN" altLang="en-US" sz="2000" b="1" dirty="0" smtClean="0">
                <a:solidFill>
                  <a:srgbClr val="FF0000"/>
                </a:solidFill>
                <a:latin typeface="Times New Roman" panose="02020603050405020304" pitchFamily="18" charset="0"/>
                <a:cs typeface="Times New Roman" panose="02020603050405020304" pitchFamily="18" charset="0"/>
              </a:rPr>
              <a:t>名称</a:t>
            </a:r>
            <a:r>
              <a:rPr lang="en-US" altLang="en-US" sz="2000" b="1" dirty="0" smtClean="0">
                <a:solidFill>
                  <a:schemeClr val="bg1"/>
                </a:solidFill>
                <a:latin typeface="Times New Roman" panose="02020603050405020304" pitchFamily="18" charset="0"/>
                <a:cs typeface="Times New Roman" panose="02020603050405020304" pitchFamily="18" charset="0"/>
              </a:rPr>
              <a:t>/</a:t>
            </a:r>
            <a:r>
              <a:rPr lang="zh-CN" altLang="en-US" sz="2000" b="1" dirty="0" smtClean="0">
                <a:solidFill>
                  <a:srgbClr val="FF0000"/>
                </a:solidFill>
                <a:latin typeface="Times New Roman" panose="02020603050405020304" pitchFamily="18" charset="0"/>
                <a:cs typeface="Times New Roman" panose="02020603050405020304" pitchFamily="18" charset="0"/>
              </a:rPr>
              <a:t>值</a:t>
            </a:r>
            <a:r>
              <a:rPr lang="zh-CN" altLang="en-US" sz="2000" b="1" dirty="0" smtClean="0">
                <a:latin typeface="Times New Roman" panose="02020603050405020304" pitchFamily="18" charset="0"/>
                <a:cs typeface="Times New Roman" panose="02020603050405020304" pitchFamily="18" charset="0"/>
              </a:rPr>
              <a:t>’对”的集合，一个对象以“</a:t>
            </a:r>
            <a:r>
              <a:rPr lang="en-US" altLang="en-US" sz="2000" b="1" dirty="0" smtClean="0">
                <a:latin typeface="Times New Roman" panose="02020603050405020304" pitchFamily="18" charset="0"/>
                <a:cs typeface="Times New Roman" panose="02020603050405020304" pitchFamily="18" charset="0"/>
              </a:rPr>
              <a:t>{</a:t>
            </a:r>
            <a:r>
              <a:rPr lang="zh-CN" altLang="en-US" sz="2000" b="1" dirty="0" smtClean="0">
                <a:latin typeface="Times New Roman" panose="02020603050405020304" pitchFamily="18" charset="0"/>
                <a:cs typeface="Times New Roman" panose="02020603050405020304" pitchFamily="18" charset="0"/>
              </a:rPr>
              <a:t>”</a:t>
            </a:r>
            <a:r>
              <a:rPr lang="en-US" altLang="en-US" sz="2000" b="1" dirty="0" smtClean="0">
                <a:latin typeface="Times New Roman" panose="02020603050405020304" pitchFamily="18" charset="0"/>
                <a:cs typeface="Times New Roman" panose="02020603050405020304" pitchFamily="18" charset="0"/>
              </a:rPr>
              <a:t>(</a:t>
            </a:r>
            <a:r>
              <a:rPr lang="zh-CN" altLang="en-US" sz="2000" b="1" dirty="0" smtClean="0">
                <a:latin typeface="Times New Roman" panose="02020603050405020304" pitchFamily="18" charset="0"/>
                <a:cs typeface="Times New Roman" panose="02020603050405020304" pitchFamily="18" charset="0"/>
              </a:rPr>
              <a:t>左括号</a:t>
            </a:r>
            <a:r>
              <a:rPr lang="en-US" altLang="en-US" sz="2000" b="1" dirty="0" smtClean="0">
                <a:latin typeface="Times New Roman" panose="02020603050405020304" pitchFamily="18" charset="0"/>
                <a:cs typeface="Times New Roman" panose="02020603050405020304" pitchFamily="18" charset="0"/>
              </a:rPr>
              <a:t>)</a:t>
            </a:r>
            <a:r>
              <a:rPr lang="zh-CN" altLang="en-US" sz="2000" b="1" dirty="0" smtClean="0">
                <a:latin typeface="Times New Roman" panose="02020603050405020304" pitchFamily="18" charset="0"/>
                <a:cs typeface="Times New Roman" panose="02020603050405020304" pitchFamily="18" charset="0"/>
              </a:rPr>
              <a:t>开始， 以“</a:t>
            </a:r>
            <a:r>
              <a:rPr lang="en-US" altLang="en-US" sz="2000" b="1" dirty="0" smtClean="0">
                <a:latin typeface="Times New Roman" panose="02020603050405020304" pitchFamily="18" charset="0"/>
                <a:cs typeface="Times New Roman" panose="02020603050405020304" pitchFamily="18" charset="0"/>
              </a:rPr>
              <a:t>}</a:t>
            </a:r>
            <a:r>
              <a:rPr lang="zh-CN" altLang="en-US" sz="2000" b="1" dirty="0" smtClean="0">
                <a:latin typeface="Times New Roman" panose="02020603050405020304" pitchFamily="18" charset="0"/>
                <a:cs typeface="Times New Roman" panose="02020603050405020304" pitchFamily="18" charset="0"/>
              </a:rPr>
              <a:t>”（右括号）结束，每个“名称”后跟一个“：”（冒号），名称</a:t>
            </a:r>
            <a:r>
              <a:rPr lang="en-US" altLang="en-US" sz="2000" b="1" dirty="0" smtClean="0">
                <a:latin typeface="Times New Roman" panose="02020603050405020304" pitchFamily="18" charset="0"/>
                <a:cs typeface="Times New Roman" panose="02020603050405020304" pitchFamily="18" charset="0"/>
              </a:rPr>
              <a:t>/</a:t>
            </a:r>
            <a:r>
              <a:rPr lang="zh-CN" altLang="en-US" sz="2000" b="1" dirty="0" smtClean="0">
                <a:latin typeface="Times New Roman" panose="02020603050405020304" pitchFamily="18" charset="0"/>
                <a:cs typeface="Times New Roman" panose="02020603050405020304" pitchFamily="18" charset="0"/>
              </a:rPr>
              <a:t>值 对之间使用“，”（逗号）分隔</a:t>
            </a:r>
            <a:r>
              <a:rPr lang="zh-CN" altLang="en-US" sz="2000" b="1" dirty="0" smtClean="0">
                <a:latin typeface="Times New Roman" panose="02020603050405020304" pitchFamily="18" charset="0"/>
                <a:cs typeface="Times New Roman" panose="02020603050405020304" pitchFamily="18" charset="0"/>
              </a:rPr>
              <a:t>。</a:t>
            </a:r>
            <a:endParaRPr lang="en-US" altLang="zh-CN" sz="2000" b="1" dirty="0" smtClean="0">
              <a:latin typeface="Times New Roman" panose="02020603050405020304" pitchFamily="18" charset="0"/>
              <a:cs typeface="Times New Roman" panose="02020603050405020304" pitchFamily="18" charset="0"/>
            </a:endParaRPr>
          </a:p>
        </p:txBody>
      </p:sp>
      <p:sp>
        <p:nvSpPr>
          <p:cNvPr id="21" name="文本框 6"/>
          <p:cNvSpPr txBox="1"/>
          <p:nvPr/>
        </p:nvSpPr>
        <p:spPr>
          <a:xfrm>
            <a:off x="1349814" y="1599756"/>
            <a:ext cx="7057586"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2.  JSON </a:t>
            </a:r>
            <a:r>
              <a:rPr lang="zh-CN" altLang="en-US" sz="2400" b="1" dirty="0" smtClean="0">
                <a:solidFill>
                  <a:prstClr val="white"/>
                </a:solidFill>
                <a:latin typeface="微软雅黑" panose="020B0503020204020204" pitchFamily="34" charset="-122"/>
                <a:ea typeface="微软雅黑" panose="020B0503020204020204" pitchFamily="34" charset="-122"/>
              </a:rPr>
              <a:t>数据格式的特点</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22" name="圆角矩形 21"/>
          <p:cNvSpPr/>
          <p:nvPr/>
        </p:nvSpPr>
        <p:spPr>
          <a:xfrm>
            <a:off x="673100" y="4044950"/>
            <a:ext cx="7874000" cy="1663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2000" b="1" dirty="0" smtClean="0">
                <a:latin typeface="Times New Roman" panose="02020603050405020304" pitchFamily="18" charset="0"/>
                <a:cs typeface="Times New Roman" panose="02020603050405020304" pitchFamily="18" charset="0"/>
              </a:rPr>
              <a:t>如</a:t>
            </a:r>
            <a:r>
              <a:rPr lang="zh-CN" altLang="en-US" sz="2000" b="1" dirty="0" smtClean="0">
                <a:latin typeface="Times New Roman" panose="02020603050405020304" pitchFamily="18" charset="0"/>
                <a:cs typeface="Times New Roman" panose="02020603050405020304" pitchFamily="18" charset="0"/>
              </a:rPr>
              <a:t>：</a:t>
            </a:r>
            <a:r>
              <a:rPr lang="en-US" altLang="en-US" sz="2000" dirty="0" smtClean="0">
                <a:latin typeface="Times New Roman" panose="02020603050405020304" pitchFamily="18" charset="0"/>
                <a:cs typeface="Times New Roman" panose="02020603050405020304" pitchFamily="18" charset="0"/>
              </a:rPr>
              <a:t>{“name”:“</a:t>
            </a:r>
            <a:r>
              <a:rPr lang="en-US" altLang="en-US" sz="2000" dirty="0" err="1" smtClean="0">
                <a:latin typeface="Times New Roman" panose="02020603050405020304" pitchFamily="18" charset="0"/>
                <a:cs typeface="Times New Roman" panose="02020603050405020304" pitchFamily="18" charset="0"/>
              </a:rPr>
              <a:t>jackson</a:t>
            </a:r>
            <a:r>
              <a:rPr lang="en-US" altLang="en-US" sz="2000" dirty="0" smtClean="0">
                <a:latin typeface="Times New Roman" panose="02020603050405020304" pitchFamily="18" charset="0"/>
                <a:cs typeface="Times New Roman" panose="02020603050405020304" pitchFamily="18" charset="0"/>
              </a:rPr>
              <a:t>”, “age”:100 }</a:t>
            </a:r>
            <a:endParaRPr lang="zh-CN" altLang="en-US" sz="2000" dirty="0" smtClean="0">
              <a:latin typeface="Times New Roman" panose="02020603050405020304" pitchFamily="18" charset="0"/>
              <a:cs typeface="Times New Roman" panose="02020603050405020304" pitchFamily="18" charset="0"/>
            </a:endParaRPr>
          </a:p>
          <a:p>
            <a:pPr>
              <a:lnSpc>
                <a:spcPct val="150000"/>
              </a:lnSpc>
            </a:pPr>
            <a:r>
              <a:rPr lang="zh-CN" altLang="en-US" sz="2000" b="1" dirty="0" smtClean="0">
                <a:latin typeface="Times New Roman" panose="02020603050405020304" pitchFamily="18" charset="0"/>
                <a:cs typeface="Times New Roman" panose="02020603050405020304" pitchFamily="18" charset="0"/>
              </a:rPr>
              <a:t>如</a:t>
            </a:r>
            <a:r>
              <a:rPr lang="zh-CN" altLang="en-US" sz="2000" b="1" dirty="0" smtClean="0">
                <a:latin typeface="Times New Roman" panose="02020603050405020304" pitchFamily="18" charset="0"/>
                <a:cs typeface="Times New Roman" panose="02020603050405020304" pitchFamily="18" charset="0"/>
              </a:rPr>
              <a:t>：</a:t>
            </a:r>
            <a:r>
              <a:rPr lang="en-US" altLang="en-US" sz="2000" dirty="0" smtClean="0">
                <a:latin typeface="Times New Roman" panose="02020603050405020304" pitchFamily="18" charset="0"/>
                <a:cs typeface="Times New Roman" panose="02020603050405020304" pitchFamily="18" charset="0"/>
              </a:rPr>
              <a:t>{"</a:t>
            </a:r>
            <a:r>
              <a:rPr lang="en-US" altLang="en-US" sz="2000" dirty="0" err="1" smtClean="0">
                <a:latin typeface="Times New Roman" panose="02020603050405020304" pitchFamily="18" charset="0"/>
                <a:cs typeface="Times New Roman" panose="02020603050405020304" pitchFamily="18" charset="0"/>
              </a:rPr>
              <a:t>studengs</a:t>
            </a:r>
            <a:r>
              <a:rPr lang="en-US" altLang="en-US" sz="2000" dirty="0" smtClean="0">
                <a:latin typeface="Times New Roman" panose="02020603050405020304" pitchFamily="18" charset="0"/>
                <a:cs typeface="Times New Roman" panose="02020603050405020304" pitchFamily="18" charset="0"/>
              </a:rPr>
              <a:t>":</a:t>
            </a:r>
            <a:r>
              <a:rPr lang="en-US" altLang="en-US" sz="2000" dirty="0" smtClean="0">
                <a:solidFill>
                  <a:srgbClr val="FF0000"/>
                </a:solidFill>
                <a:latin typeface="Times New Roman" panose="02020603050405020304" pitchFamily="18" charset="0"/>
                <a:cs typeface="Times New Roman" panose="02020603050405020304" pitchFamily="18" charset="0"/>
              </a:rPr>
              <a:t>[</a:t>
            </a:r>
            <a:r>
              <a:rPr lang="en-US" altLang="en-US" sz="2000" dirty="0" smtClean="0">
                <a:latin typeface="Times New Roman" panose="02020603050405020304" pitchFamily="18" charset="0"/>
                <a:cs typeface="Times New Roman" panose="02020603050405020304" pitchFamily="18" charset="0"/>
              </a:rPr>
              <a:t>{"name":"</a:t>
            </a:r>
            <a:r>
              <a:rPr lang="en-US" altLang="en-US" sz="2000" dirty="0" err="1" smtClean="0">
                <a:latin typeface="Times New Roman" panose="02020603050405020304" pitchFamily="18" charset="0"/>
                <a:cs typeface="Times New Roman" panose="02020603050405020304" pitchFamily="18" charset="0"/>
              </a:rPr>
              <a:t>jackson","age</a:t>
            </a:r>
            <a:r>
              <a:rPr lang="en-US" altLang="en-US" sz="2000" dirty="0" smtClean="0">
                <a:latin typeface="Times New Roman" panose="02020603050405020304" pitchFamily="18" charset="0"/>
                <a:cs typeface="Times New Roman" panose="02020603050405020304" pitchFamily="18" charset="0"/>
              </a:rPr>
              <a:t>":100},{"name": "</a:t>
            </a:r>
            <a:r>
              <a:rPr lang="en-US" altLang="en-US" sz="2000" dirty="0" err="1" smtClean="0">
                <a:latin typeface="Times New Roman" panose="02020603050405020304" pitchFamily="18" charset="0"/>
                <a:cs typeface="Times New Roman" panose="02020603050405020304" pitchFamily="18" charset="0"/>
              </a:rPr>
              <a:t>michael</a:t>
            </a:r>
            <a:r>
              <a:rPr lang="en-US" altLang="en-US" sz="2000" dirty="0" smtClean="0">
                <a:latin typeface="Times New Roman" panose="02020603050405020304" pitchFamily="18" charset="0"/>
                <a:cs typeface="Times New Roman" panose="02020603050405020304" pitchFamily="18" charset="0"/>
              </a:rPr>
              <a:t>", "age": 51}</a:t>
            </a:r>
            <a:r>
              <a:rPr lang="en-US" altLang="en-US" sz="2000" dirty="0" smtClean="0">
                <a:solidFill>
                  <a:srgbClr val="FF0000"/>
                </a:solidFill>
                <a:latin typeface="Times New Roman" panose="02020603050405020304" pitchFamily="18" charset="0"/>
                <a:cs typeface="Times New Roman" panose="02020603050405020304" pitchFamily="18" charset="0"/>
              </a:rPr>
              <a:t>]</a:t>
            </a:r>
            <a:r>
              <a:rPr lang="en-US" altLang="en-US" sz="2000" dirty="0" smtClean="0">
                <a:latin typeface="Times New Roman" panose="02020603050405020304" pitchFamily="18" charset="0"/>
                <a:cs typeface="Times New Roman" panose="02020603050405020304" pitchFamily="18" charset="0"/>
              </a:rPr>
              <a:t>}</a:t>
            </a:r>
            <a:endParaRPr lang="zh-CN" altLang="en-US" sz="2000" dirty="0" smtClean="0">
              <a:latin typeface="Times New Roman" panose="02020603050405020304" pitchFamily="18" charset="0"/>
              <a:cs typeface="Times New Roman" panose="02020603050405020304" pitchFamily="18" charset="0"/>
            </a:endParaRPr>
          </a:p>
          <a:p>
            <a:pPr>
              <a:lnSpc>
                <a:spcPct val="150000"/>
              </a:lnSpc>
            </a:pPr>
            <a:endParaRPr lang="en-US" altLang="zh-CN" sz="2000" b="1" dirty="0" smtClean="0">
              <a:latin typeface="Times New Roman" panose="02020603050405020304" pitchFamily="18" charset="0"/>
              <a:cs typeface="Times New Roman" panose="02020603050405020304" pitchFamily="18" charset="0"/>
            </a:endParaRPr>
          </a:p>
        </p:txBody>
      </p:sp>
    </p:spTree>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p:cTn id="13" dur="500" fill="hold"/>
                                        <p:tgtEl>
                                          <p:spTgt spid="20"/>
                                        </p:tgtEl>
                                        <p:attrNameLst>
                                          <p:attrName>ppt_w</p:attrName>
                                        </p:attrNameLst>
                                      </p:cBhvr>
                                      <p:tavLst>
                                        <p:tav tm="0">
                                          <p:val>
                                            <p:fltVal val="0"/>
                                          </p:val>
                                        </p:tav>
                                        <p:tav tm="100000">
                                          <p:val>
                                            <p:strVal val="#ppt_w"/>
                                          </p:val>
                                        </p:tav>
                                      </p:tavLst>
                                    </p:anim>
                                    <p:anim calcmode="lin" valueType="num">
                                      <p:cBhvr>
                                        <p:cTn id="14" dur="500" fill="hold"/>
                                        <p:tgtEl>
                                          <p:spTgt spid="20"/>
                                        </p:tgtEl>
                                        <p:attrNameLst>
                                          <p:attrName>ppt_h</p:attrName>
                                        </p:attrNameLst>
                                      </p:cBhvr>
                                      <p:tavLst>
                                        <p:tav tm="0">
                                          <p:val>
                                            <p:fltVal val="0"/>
                                          </p:val>
                                        </p:tav>
                                        <p:tav tm="100000">
                                          <p:val>
                                            <p:strVal val="#ppt_h"/>
                                          </p:val>
                                        </p:tav>
                                      </p:tavLst>
                                    </p:anim>
                                    <p:animEffect transition="in" filter="fade">
                                      <p:cBhvr>
                                        <p:cTn id="15" dur="500"/>
                                        <p:tgtEl>
                                          <p:spTgt spid="20"/>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500" fill="hold"/>
                                        <p:tgtEl>
                                          <p:spTgt spid="21"/>
                                        </p:tgtEl>
                                        <p:attrNameLst>
                                          <p:attrName>ppt_w</p:attrName>
                                        </p:attrNameLst>
                                      </p:cBhvr>
                                      <p:tavLst>
                                        <p:tav tm="0">
                                          <p:val>
                                            <p:fltVal val="0"/>
                                          </p:val>
                                        </p:tav>
                                        <p:tav tm="100000">
                                          <p:val>
                                            <p:strVal val="#ppt_w"/>
                                          </p:val>
                                        </p:tav>
                                      </p:tavLst>
                                    </p:anim>
                                    <p:anim calcmode="lin" valueType="num">
                                      <p:cBhvr>
                                        <p:cTn id="20" dur="500" fill="hold"/>
                                        <p:tgtEl>
                                          <p:spTgt spid="21"/>
                                        </p:tgtEl>
                                        <p:attrNameLst>
                                          <p:attrName>ppt_h</p:attrName>
                                        </p:attrNameLst>
                                      </p:cBhvr>
                                      <p:tavLst>
                                        <p:tav tm="0">
                                          <p:val>
                                            <p:fltVal val="0"/>
                                          </p:val>
                                        </p:tav>
                                        <p:tav tm="100000">
                                          <p:val>
                                            <p:strVal val="#ppt_h"/>
                                          </p:val>
                                        </p:tav>
                                      </p:tavLst>
                                    </p:anim>
                                    <p:animEffect transition="in" filter="fade">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flipH="1">
            <a:off x="5523803" y="-41991"/>
            <a:ext cx="2901652" cy="2901652"/>
          </a:xfrm>
          <a:prstGeom prst="line">
            <a:avLst/>
          </a:prstGeom>
          <a:ln w="25400">
            <a:solidFill>
              <a:srgbClr val="F7BA3B"/>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7668344" y="620688"/>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7596336" y="1988840"/>
            <a:ext cx="1979712" cy="1979712"/>
          </a:xfrm>
          <a:prstGeom prst="line">
            <a:avLst/>
          </a:prstGeom>
          <a:ln w="25400">
            <a:solidFill>
              <a:srgbClr val="DA634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6948264" y="4653136"/>
            <a:ext cx="1656184" cy="1656184"/>
          </a:xfrm>
          <a:prstGeom prst="line">
            <a:avLst/>
          </a:prstGeom>
          <a:ln w="25400">
            <a:solidFill>
              <a:srgbClr val="2FB6A8"/>
            </a:solidFill>
            <a:headEnd type="triangle"/>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5292080" y="5517232"/>
            <a:ext cx="767730" cy="767730"/>
          </a:xfrm>
          <a:prstGeom prst="line">
            <a:avLst/>
          </a:prstGeom>
          <a:ln w="25400">
            <a:solidFill>
              <a:srgbClr val="DA634F"/>
            </a:solidFill>
            <a:head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6256186" y="3035885"/>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 name="组合 14"/>
          <p:cNvGrpSpPr/>
          <p:nvPr/>
        </p:nvGrpSpPr>
        <p:grpSpPr>
          <a:xfrm>
            <a:off x="359467" y="872056"/>
            <a:ext cx="702417" cy="702417"/>
            <a:chOff x="2921917" y="2223151"/>
            <a:chExt cx="1527064" cy="1527064"/>
          </a:xfrm>
        </p:grpSpPr>
        <p:grpSp>
          <p:nvGrpSpPr>
            <p:cNvPr id="3" name="组合 15"/>
            <p:cNvGrpSpPr/>
            <p:nvPr/>
          </p:nvGrpSpPr>
          <p:grpSpPr>
            <a:xfrm>
              <a:off x="2921917" y="2223151"/>
              <a:ext cx="1527064" cy="1527064"/>
              <a:chOff x="1200760" y="3842075"/>
              <a:chExt cx="1784148" cy="1784148"/>
            </a:xfrm>
          </p:grpSpPr>
          <p:sp>
            <p:nvSpPr>
              <p:cNvPr id="18" name="椭圆 17"/>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sp>
            <p:nvSpPr>
              <p:cNvPr id="19" name="椭圆 18"/>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grpSp>
        <p:sp>
          <p:nvSpPr>
            <p:cNvPr id="17" name="文本框 168"/>
            <p:cNvSpPr txBox="1"/>
            <p:nvPr/>
          </p:nvSpPr>
          <p:spPr>
            <a:xfrm>
              <a:off x="2921917" y="2490948"/>
              <a:ext cx="1415526" cy="1134770"/>
            </a:xfrm>
            <a:prstGeom prst="rect">
              <a:avLst/>
            </a:prstGeom>
            <a:noFill/>
          </p:spPr>
          <p:txBody>
            <a:bodyPr wrap="square" rtlCol="0">
              <a:spAutoFit/>
            </a:bodyPr>
            <a:lstStyle/>
            <a:p>
              <a:pPr algn="ctr">
                <a:defRPr/>
              </a:pPr>
              <a:r>
                <a:rPr lang="en-US" altLang="zh-CN" sz="2800" dirty="0">
                  <a:solidFill>
                    <a:prstClr val="white"/>
                  </a:solidFill>
                  <a:latin typeface="微软雅黑" panose="020B0503020204020204" pitchFamily="34" charset="-122"/>
                  <a:ea typeface="微软雅黑" panose="020B0503020204020204" pitchFamily="34" charset="-122"/>
                </a:rPr>
                <a:t>01</a:t>
              </a:r>
              <a:endParaRPr lang="zh-CN" altLang="en-US" sz="2800" dirty="0">
                <a:solidFill>
                  <a:prstClr val="white"/>
                </a:solidFill>
                <a:latin typeface="微软雅黑" panose="020B0503020204020204" pitchFamily="34" charset="-122"/>
                <a:ea typeface="微软雅黑" panose="020B0503020204020204" pitchFamily="34" charset="-122"/>
              </a:endParaRPr>
            </a:p>
          </p:txBody>
        </p:sp>
      </p:grpSp>
      <p:sp>
        <p:nvSpPr>
          <p:cNvPr id="20" name="文本框 6"/>
          <p:cNvSpPr txBox="1"/>
          <p:nvPr/>
        </p:nvSpPr>
        <p:spPr>
          <a:xfrm>
            <a:off x="1349815" y="1002856"/>
            <a:ext cx="5152585"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a:t>
            </a:r>
            <a:r>
              <a:rPr lang="en-US" altLang="zh-CN" sz="2400" b="1" dirty="0" smtClean="0">
                <a:solidFill>
                  <a:prstClr val="white"/>
                </a:solidFill>
                <a:latin typeface="微软雅黑" panose="020B0503020204020204" pitchFamily="34" charset="-122"/>
                <a:ea typeface="微软雅黑" panose="020B0503020204020204" pitchFamily="34" charset="-122"/>
              </a:rPr>
              <a:t>.1  JSON </a:t>
            </a:r>
            <a:r>
              <a:rPr lang="zh-CN" altLang="en-US" sz="2400" b="1" dirty="0" smtClean="0">
                <a:solidFill>
                  <a:prstClr val="white"/>
                </a:solidFill>
                <a:latin typeface="微软雅黑" panose="020B0503020204020204" pitchFamily="34" charset="-122"/>
                <a:ea typeface="微软雅黑" panose="020B0503020204020204" pitchFamily="34" charset="-122"/>
              </a:rPr>
              <a:t>简介</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21" name="文本框 6"/>
          <p:cNvSpPr txBox="1"/>
          <p:nvPr/>
        </p:nvSpPr>
        <p:spPr>
          <a:xfrm>
            <a:off x="1349814" y="1599756"/>
            <a:ext cx="7057586"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2.  JSON </a:t>
            </a:r>
            <a:r>
              <a:rPr lang="zh-CN" altLang="en-US" sz="2400" b="1" dirty="0" smtClean="0">
                <a:solidFill>
                  <a:prstClr val="white"/>
                </a:solidFill>
                <a:latin typeface="微软雅黑" panose="020B0503020204020204" pitchFamily="34" charset="-122"/>
                <a:ea typeface="微软雅黑" panose="020B0503020204020204" pitchFamily="34" charset="-122"/>
              </a:rPr>
              <a:t>数据格式的特点</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22" name="圆角矩形 21"/>
          <p:cNvSpPr/>
          <p:nvPr/>
        </p:nvSpPr>
        <p:spPr>
          <a:xfrm>
            <a:off x="647700" y="2216150"/>
            <a:ext cx="7874000" cy="3060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en-US" sz="2000" b="1" dirty="0" smtClean="0">
                <a:solidFill>
                  <a:srgbClr val="FF0000"/>
                </a:solidFill>
                <a:latin typeface="Times New Roman" panose="02020603050405020304" pitchFamily="18" charset="0"/>
                <a:cs typeface="Times New Roman" panose="02020603050405020304" pitchFamily="18" charset="0"/>
              </a:rPr>
              <a:t>Demo</a:t>
            </a:r>
            <a:r>
              <a:rPr lang="en-US" altLang="en-US" sz="2000" b="1" dirty="0" smtClean="0">
                <a:latin typeface="Times New Roman" panose="02020603050405020304" pitchFamily="18" charset="0"/>
                <a:cs typeface="Times New Roman" panose="02020603050405020304" pitchFamily="18" charset="0"/>
              </a:rPr>
              <a:t>: </a:t>
            </a:r>
            <a:r>
              <a:rPr lang="en-US" altLang="en-US" sz="2000" b="1" dirty="0" smtClean="0">
                <a:solidFill>
                  <a:srgbClr val="FF0000"/>
                </a:solidFill>
                <a:latin typeface="Times New Roman" panose="02020603050405020304" pitchFamily="18" charset="0"/>
                <a:cs typeface="Times New Roman" panose="02020603050405020304" pitchFamily="18" charset="0"/>
              </a:rPr>
              <a:t>JSON </a:t>
            </a:r>
            <a:r>
              <a:rPr lang="zh-CN" altLang="en-US" sz="2000" b="1" dirty="0" smtClean="0">
                <a:solidFill>
                  <a:srgbClr val="FF0000"/>
                </a:solidFill>
                <a:latin typeface="Times New Roman" panose="02020603050405020304" pitchFamily="18" charset="0"/>
                <a:cs typeface="Times New Roman" panose="02020603050405020304" pitchFamily="18" charset="0"/>
              </a:rPr>
              <a:t>表示一个对象</a:t>
            </a:r>
            <a:br>
              <a:rPr lang="zh-CN" altLang="en-US" sz="2000" b="1" dirty="0" smtClean="0">
                <a:latin typeface="Times New Roman" panose="02020603050405020304" pitchFamily="18" charset="0"/>
                <a:cs typeface="Times New Roman" panose="02020603050405020304" pitchFamily="18" charset="0"/>
              </a:rPr>
            </a:br>
            <a:r>
              <a:rPr lang="en-US" altLang="zh-CN" sz="2000" b="1" dirty="0" smtClean="0">
                <a:latin typeface="Times New Roman" panose="02020603050405020304" pitchFamily="18" charset="0"/>
                <a:cs typeface="Times New Roman" panose="02020603050405020304" pitchFamily="18" charset="0"/>
              </a:rPr>
              <a:t>{</a:t>
            </a:r>
            <a:br>
              <a:rPr lang="zh-CN" altLang="en-US" sz="2000" b="1" dirty="0" smtClean="0">
                <a:latin typeface="Times New Roman" panose="02020603050405020304" pitchFamily="18" charset="0"/>
                <a:cs typeface="Times New Roman" panose="02020603050405020304" pitchFamily="18" charset="0"/>
              </a:rPr>
            </a:br>
            <a:r>
              <a:rPr lang="zh-CN" altLang="en-US" sz="2000" b="1" dirty="0" smtClean="0">
                <a:latin typeface="Times New Roman" panose="02020603050405020304" pitchFamily="18" charset="0"/>
                <a:cs typeface="Times New Roman" panose="02020603050405020304" pitchFamily="18" charset="0"/>
              </a:rPr>
              <a:t>　　</a:t>
            </a:r>
            <a:r>
              <a:rPr lang="en-US" altLang="zh-CN" sz="2000" b="1" dirty="0" smtClean="0">
                <a:latin typeface="Times New Roman" panose="02020603050405020304" pitchFamily="18" charset="0"/>
                <a:cs typeface="Times New Roman" panose="02020603050405020304" pitchFamily="18" charset="0"/>
              </a:rPr>
              <a:t>"</a:t>
            </a:r>
            <a:r>
              <a:rPr lang="en-US" altLang="en-US" sz="2000" b="1" dirty="0" smtClean="0">
                <a:latin typeface="Times New Roman" panose="02020603050405020304" pitchFamily="18" charset="0"/>
                <a:cs typeface="Times New Roman" panose="02020603050405020304" pitchFamily="18" charset="0"/>
              </a:rPr>
              <a:t>name":"smith".</a:t>
            </a:r>
            <a:br>
              <a:rPr lang="en-US" altLang="en-US" sz="2000" b="1" dirty="0" smtClean="0">
                <a:latin typeface="Times New Roman" panose="02020603050405020304" pitchFamily="18" charset="0"/>
                <a:cs typeface="Times New Roman" panose="02020603050405020304" pitchFamily="18" charset="0"/>
              </a:rPr>
            </a:br>
            <a:r>
              <a:rPr lang="en-US" altLang="en-US" sz="2000" b="1" dirty="0" smtClean="0">
                <a:latin typeface="Times New Roman" panose="02020603050405020304" pitchFamily="18" charset="0"/>
                <a:cs typeface="Times New Roman" panose="02020603050405020304" pitchFamily="18" charset="0"/>
              </a:rPr>
              <a:t>　　"age":30,</a:t>
            </a:r>
            <a:br>
              <a:rPr lang="en-US" altLang="en-US" sz="2000" b="1" dirty="0" smtClean="0">
                <a:latin typeface="Times New Roman" panose="02020603050405020304" pitchFamily="18" charset="0"/>
                <a:cs typeface="Times New Roman" panose="02020603050405020304" pitchFamily="18" charset="0"/>
              </a:rPr>
            </a:br>
            <a:r>
              <a:rPr lang="en-US" altLang="en-US" sz="2000" b="1" dirty="0" smtClean="0">
                <a:latin typeface="Times New Roman" panose="02020603050405020304" pitchFamily="18" charset="0"/>
                <a:cs typeface="Times New Roman" panose="02020603050405020304" pitchFamily="18" charset="0"/>
              </a:rPr>
              <a:t>　　"sex":"</a:t>
            </a:r>
            <a:r>
              <a:rPr lang="zh-CN" altLang="en-US" sz="2000" b="1" dirty="0" smtClean="0">
                <a:latin typeface="Times New Roman" panose="02020603050405020304" pitchFamily="18" charset="0"/>
                <a:cs typeface="Times New Roman" panose="02020603050405020304" pitchFamily="18" charset="0"/>
              </a:rPr>
              <a:t>男</a:t>
            </a:r>
            <a:r>
              <a:rPr lang="en-US" altLang="zh-CN" sz="2000" b="1" dirty="0" smtClean="0">
                <a:latin typeface="Times New Roman" panose="02020603050405020304" pitchFamily="18" charset="0"/>
                <a:cs typeface="Times New Roman" panose="02020603050405020304" pitchFamily="18" charset="0"/>
              </a:rPr>
              <a:t>"</a:t>
            </a:r>
            <a:br>
              <a:rPr lang="zh-CN" altLang="en-US" sz="2000" b="1" dirty="0" smtClean="0">
                <a:latin typeface="Times New Roman" panose="02020603050405020304" pitchFamily="18" charset="0"/>
                <a:cs typeface="Times New Roman" panose="02020603050405020304" pitchFamily="18" charset="0"/>
              </a:rPr>
            </a:br>
            <a:r>
              <a:rPr lang="en-US" altLang="zh-CN" sz="2000" b="1" dirty="0" smtClean="0">
                <a:latin typeface="Times New Roman" panose="02020603050405020304" pitchFamily="18" charset="0"/>
                <a:cs typeface="Times New Roman" panose="02020603050405020304" pitchFamily="18" charset="0"/>
              </a:rPr>
              <a:t>}</a:t>
            </a:r>
            <a:endParaRPr lang="en-US" altLang="zh-CN" sz="2000" b="1" dirty="0" smtClean="0">
              <a:latin typeface="Times New Roman" panose="02020603050405020304" pitchFamily="18" charset="0"/>
              <a:cs typeface="Times New Roman" panose="02020603050405020304" pitchFamily="18" charset="0"/>
            </a:endParaRPr>
          </a:p>
        </p:txBody>
      </p:sp>
    </p:spTree>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p:cTn id="13" dur="500" fill="hold"/>
                                        <p:tgtEl>
                                          <p:spTgt spid="20"/>
                                        </p:tgtEl>
                                        <p:attrNameLst>
                                          <p:attrName>ppt_w</p:attrName>
                                        </p:attrNameLst>
                                      </p:cBhvr>
                                      <p:tavLst>
                                        <p:tav tm="0">
                                          <p:val>
                                            <p:fltVal val="0"/>
                                          </p:val>
                                        </p:tav>
                                        <p:tav tm="100000">
                                          <p:val>
                                            <p:strVal val="#ppt_w"/>
                                          </p:val>
                                        </p:tav>
                                      </p:tavLst>
                                    </p:anim>
                                    <p:anim calcmode="lin" valueType="num">
                                      <p:cBhvr>
                                        <p:cTn id="14" dur="500" fill="hold"/>
                                        <p:tgtEl>
                                          <p:spTgt spid="20"/>
                                        </p:tgtEl>
                                        <p:attrNameLst>
                                          <p:attrName>ppt_h</p:attrName>
                                        </p:attrNameLst>
                                      </p:cBhvr>
                                      <p:tavLst>
                                        <p:tav tm="0">
                                          <p:val>
                                            <p:fltVal val="0"/>
                                          </p:val>
                                        </p:tav>
                                        <p:tav tm="100000">
                                          <p:val>
                                            <p:strVal val="#ppt_h"/>
                                          </p:val>
                                        </p:tav>
                                      </p:tavLst>
                                    </p:anim>
                                    <p:animEffect transition="in" filter="fade">
                                      <p:cBhvr>
                                        <p:cTn id="15" dur="500"/>
                                        <p:tgtEl>
                                          <p:spTgt spid="20"/>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500" fill="hold"/>
                                        <p:tgtEl>
                                          <p:spTgt spid="21"/>
                                        </p:tgtEl>
                                        <p:attrNameLst>
                                          <p:attrName>ppt_w</p:attrName>
                                        </p:attrNameLst>
                                      </p:cBhvr>
                                      <p:tavLst>
                                        <p:tav tm="0">
                                          <p:val>
                                            <p:fltVal val="0"/>
                                          </p:val>
                                        </p:tav>
                                        <p:tav tm="100000">
                                          <p:val>
                                            <p:strVal val="#ppt_w"/>
                                          </p:val>
                                        </p:tav>
                                      </p:tavLst>
                                    </p:anim>
                                    <p:anim calcmode="lin" valueType="num">
                                      <p:cBhvr>
                                        <p:cTn id="20" dur="500" fill="hold"/>
                                        <p:tgtEl>
                                          <p:spTgt spid="21"/>
                                        </p:tgtEl>
                                        <p:attrNameLst>
                                          <p:attrName>ppt_h</p:attrName>
                                        </p:attrNameLst>
                                      </p:cBhvr>
                                      <p:tavLst>
                                        <p:tav tm="0">
                                          <p:val>
                                            <p:fltVal val="0"/>
                                          </p:val>
                                        </p:tav>
                                        <p:tav tm="100000">
                                          <p:val>
                                            <p:strVal val="#ppt_h"/>
                                          </p:val>
                                        </p:tav>
                                      </p:tavLst>
                                    </p:anim>
                                    <p:animEffect transition="in" filter="fade">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flipH="1">
            <a:off x="5523803" y="-41991"/>
            <a:ext cx="2901652" cy="2901652"/>
          </a:xfrm>
          <a:prstGeom prst="line">
            <a:avLst/>
          </a:prstGeom>
          <a:ln w="25400">
            <a:solidFill>
              <a:srgbClr val="F7BA3B"/>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7668344" y="620688"/>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7596336" y="1988840"/>
            <a:ext cx="1979712" cy="1979712"/>
          </a:xfrm>
          <a:prstGeom prst="line">
            <a:avLst/>
          </a:prstGeom>
          <a:ln w="25400">
            <a:solidFill>
              <a:srgbClr val="DA634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6948264" y="4653136"/>
            <a:ext cx="1656184" cy="1656184"/>
          </a:xfrm>
          <a:prstGeom prst="line">
            <a:avLst/>
          </a:prstGeom>
          <a:ln w="25400">
            <a:solidFill>
              <a:srgbClr val="2FB6A8"/>
            </a:solidFill>
            <a:headEnd type="triangle"/>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5292080" y="5517232"/>
            <a:ext cx="767730" cy="767730"/>
          </a:xfrm>
          <a:prstGeom prst="line">
            <a:avLst/>
          </a:prstGeom>
          <a:ln w="25400">
            <a:solidFill>
              <a:srgbClr val="DA634F"/>
            </a:solidFill>
            <a:head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6256186" y="3035885"/>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 name="组合 14"/>
          <p:cNvGrpSpPr/>
          <p:nvPr/>
        </p:nvGrpSpPr>
        <p:grpSpPr>
          <a:xfrm>
            <a:off x="359467" y="872056"/>
            <a:ext cx="702417" cy="702417"/>
            <a:chOff x="2921917" y="2223151"/>
            <a:chExt cx="1527064" cy="1527064"/>
          </a:xfrm>
        </p:grpSpPr>
        <p:grpSp>
          <p:nvGrpSpPr>
            <p:cNvPr id="3" name="组合 15"/>
            <p:cNvGrpSpPr/>
            <p:nvPr/>
          </p:nvGrpSpPr>
          <p:grpSpPr>
            <a:xfrm>
              <a:off x="2921917" y="2223151"/>
              <a:ext cx="1527064" cy="1527064"/>
              <a:chOff x="1200760" y="3842075"/>
              <a:chExt cx="1784148" cy="1784148"/>
            </a:xfrm>
          </p:grpSpPr>
          <p:sp>
            <p:nvSpPr>
              <p:cNvPr id="18" name="椭圆 17"/>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sp>
            <p:nvSpPr>
              <p:cNvPr id="19" name="椭圆 18"/>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grpSp>
        <p:sp>
          <p:nvSpPr>
            <p:cNvPr id="17" name="文本框 168"/>
            <p:cNvSpPr txBox="1"/>
            <p:nvPr/>
          </p:nvSpPr>
          <p:spPr>
            <a:xfrm>
              <a:off x="2921917" y="2490948"/>
              <a:ext cx="1415526" cy="1134770"/>
            </a:xfrm>
            <a:prstGeom prst="rect">
              <a:avLst/>
            </a:prstGeom>
            <a:noFill/>
          </p:spPr>
          <p:txBody>
            <a:bodyPr wrap="square" rtlCol="0">
              <a:spAutoFit/>
            </a:bodyPr>
            <a:lstStyle/>
            <a:p>
              <a:pPr algn="ctr">
                <a:defRPr/>
              </a:pPr>
              <a:r>
                <a:rPr lang="en-US" altLang="zh-CN" sz="2800" dirty="0">
                  <a:solidFill>
                    <a:prstClr val="white"/>
                  </a:solidFill>
                  <a:latin typeface="微软雅黑" panose="020B0503020204020204" pitchFamily="34" charset="-122"/>
                  <a:ea typeface="微软雅黑" panose="020B0503020204020204" pitchFamily="34" charset="-122"/>
                </a:rPr>
                <a:t>01</a:t>
              </a:r>
              <a:endParaRPr lang="zh-CN" altLang="en-US" sz="2800" dirty="0">
                <a:solidFill>
                  <a:prstClr val="white"/>
                </a:solidFill>
                <a:latin typeface="微软雅黑" panose="020B0503020204020204" pitchFamily="34" charset="-122"/>
                <a:ea typeface="微软雅黑" panose="020B0503020204020204" pitchFamily="34" charset="-122"/>
              </a:endParaRPr>
            </a:p>
          </p:txBody>
        </p:sp>
      </p:grpSp>
      <p:sp>
        <p:nvSpPr>
          <p:cNvPr id="20" name="文本框 6"/>
          <p:cNvSpPr txBox="1"/>
          <p:nvPr/>
        </p:nvSpPr>
        <p:spPr>
          <a:xfrm>
            <a:off x="1349815" y="1002856"/>
            <a:ext cx="5152585"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a:t>
            </a:r>
            <a:r>
              <a:rPr lang="en-US" altLang="zh-CN" sz="2400" b="1" dirty="0" smtClean="0">
                <a:solidFill>
                  <a:prstClr val="white"/>
                </a:solidFill>
                <a:latin typeface="微软雅黑" panose="020B0503020204020204" pitchFamily="34" charset="-122"/>
                <a:ea typeface="微软雅黑" panose="020B0503020204020204" pitchFamily="34" charset="-122"/>
              </a:rPr>
              <a:t>.1  JSON </a:t>
            </a:r>
            <a:r>
              <a:rPr lang="zh-CN" altLang="en-US" sz="2400" b="1" dirty="0" smtClean="0">
                <a:solidFill>
                  <a:prstClr val="white"/>
                </a:solidFill>
                <a:latin typeface="微软雅黑" panose="020B0503020204020204" pitchFamily="34" charset="-122"/>
                <a:ea typeface="微软雅黑" panose="020B0503020204020204" pitchFamily="34" charset="-122"/>
              </a:rPr>
              <a:t>简介</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21" name="文本框 6"/>
          <p:cNvSpPr txBox="1"/>
          <p:nvPr/>
        </p:nvSpPr>
        <p:spPr>
          <a:xfrm>
            <a:off x="1349814" y="1599756"/>
            <a:ext cx="7057586"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2.  JSON </a:t>
            </a:r>
            <a:r>
              <a:rPr lang="zh-CN" altLang="en-US" sz="2400" b="1" dirty="0" smtClean="0">
                <a:solidFill>
                  <a:prstClr val="white"/>
                </a:solidFill>
                <a:latin typeface="微软雅黑" panose="020B0503020204020204" pitchFamily="34" charset="-122"/>
                <a:ea typeface="微软雅黑" panose="020B0503020204020204" pitchFamily="34" charset="-122"/>
              </a:rPr>
              <a:t>数据格式的特点</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22" name="圆角矩形 21"/>
          <p:cNvSpPr/>
          <p:nvPr/>
        </p:nvSpPr>
        <p:spPr>
          <a:xfrm>
            <a:off x="635000" y="2203450"/>
            <a:ext cx="7874000" cy="3606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smtClean="0">
                <a:solidFill>
                  <a:srgbClr val="FF0000"/>
                </a:solidFill>
                <a:latin typeface="Times New Roman" panose="02020603050405020304" pitchFamily="18" charset="0"/>
                <a:cs typeface="Times New Roman" panose="02020603050405020304" pitchFamily="18" charset="0"/>
              </a:rPr>
              <a:t>Demo</a:t>
            </a:r>
            <a:r>
              <a:rPr lang="en-US" sz="2000" b="1" dirty="0" smtClean="0">
                <a:latin typeface="Times New Roman" panose="02020603050405020304" pitchFamily="18" charset="0"/>
                <a:cs typeface="Times New Roman" panose="02020603050405020304" pitchFamily="18" charset="0"/>
              </a:rPr>
              <a:t>:</a:t>
            </a:r>
            <a:r>
              <a:rPr lang="en-US" sz="2000" dirty="0" smtClean="0">
                <a:latin typeface="Times New Roman" panose="02020603050405020304" pitchFamily="18" charset="0"/>
                <a:cs typeface="Times New Roman" panose="02020603050405020304" pitchFamily="18" charset="0"/>
              </a:rPr>
              <a:t> </a:t>
            </a:r>
            <a:r>
              <a:rPr lang="en-US" sz="2000" b="1" dirty="0" smtClean="0">
                <a:solidFill>
                  <a:srgbClr val="FF0000"/>
                </a:solidFill>
                <a:latin typeface="Times New Roman" panose="02020603050405020304" pitchFamily="18" charset="0"/>
                <a:cs typeface="Times New Roman" panose="02020603050405020304" pitchFamily="18" charset="0"/>
              </a:rPr>
              <a:t>JSON</a:t>
            </a:r>
            <a:r>
              <a:rPr lang="zh-CN" altLang="en-US" sz="2000" b="1" dirty="0" smtClean="0">
                <a:solidFill>
                  <a:srgbClr val="FF0000"/>
                </a:solidFill>
                <a:latin typeface="Times New Roman" panose="02020603050405020304" pitchFamily="18" charset="0"/>
                <a:cs typeface="Times New Roman" panose="02020603050405020304" pitchFamily="18" charset="0"/>
              </a:rPr>
              <a:t>对象的属性可以是</a:t>
            </a:r>
            <a:r>
              <a:rPr lang="zh-CN" altLang="en-US" sz="2000" b="1" dirty="0" smtClean="0">
                <a:solidFill>
                  <a:srgbClr val="FF0000"/>
                </a:solidFill>
                <a:latin typeface="Times New Roman" panose="02020603050405020304" pitchFamily="18" charset="0"/>
                <a:cs typeface="Times New Roman" panose="02020603050405020304" pitchFamily="18" charset="0"/>
              </a:rPr>
              <a:t>对象</a:t>
            </a:r>
            <a:br>
              <a:rPr lang="zh-CN" altLang="en-US" sz="2000" dirty="0" smtClean="0">
                <a:solidFill>
                  <a:srgbClr val="FF0000"/>
                </a:solidFill>
                <a:latin typeface="Times New Roman" panose="02020603050405020304" pitchFamily="18" charset="0"/>
                <a:cs typeface="Times New Roman" panose="02020603050405020304" pitchFamily="18" charset="0"/>
              </a:rPr>
            </a:br>
            <a:r>
              <a:rPr lang="en-US" altLang="zh-CN" sz="2000" dirty="0" smtClean="0">
                <a:solidFill>
                  <a:schemeClr val="bg1"/>
                </a:solidFill>
                <a:latin typeface="Times New Roman" panose="02020603050405020304" pitchFamily="18" charset="0"/>
                <a:cs typeface="Times New Roman" panose="02020603050405020304" pitchFamily="18" charset="0"/>
              </a:rPr>
              <a:t>{</a:t>
            </a:r>
            <a:br>
              <a:rPr lang="zh-CN" altLang="en-US" sz="2000" dirty="0" smtClean="0">
                <a:latin typeface="Times New Roman" panose="02020603050405020304" pitchFamily="18" charset="0"/>
                <a:cs typeface="Times New Roman" panose="02020603050405020304" pitchFamily="18" charset="0"/>
              </a:rPr>
            </a:br>
            <a:r>
              <a:rPr lang="zh-CN" altLang="en-US" sz="2000" dirty="0" smtClean="0">
                <a:latin typeface="Times New Roman" panose="02020603050405020304" pitchFamily="18" charset="0"/>
                <a:cs typeface="Times New Roman" panose="02020603050405020304" pitchFamily="18" charset="0"/>
              </a:rPr>
              <a:t>　　</a:t>
            </a:r>
            <a:r>
              <a:rPr lang="en-US" altLang="zh-CN" sz="2000" dirty="0" smtClean="0">
                <a:latin typeface="Times New Roman" panose="02020603050405020304" pitchFamily="18" charset="0"/>
                <a:cs typeface="Times New Roman" panose="02020603050405020304" pitchFamily="18" charset="0"/>
              </a:rPr>
              <a:t>“</a:t>
            </a:r>
            <a:r>
              <a:rPr lang="en-US" sz="2000" dirty="0" smtClean="0">
                <a:latin typeface="Times New Roman" panose="02020603050405020304" pitchFamily="18" charset="0"/>
                <a:cs typeface="Times New Roman" panose="02020603050405020304" pitchFamily="18" charset="0"/>
              </a:rPr>
              <a:t>name”:“smith”.</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“age”:</a:t>
            </a:r>
            <a:r>
              <a:rPr lang="en-US" sz="2000" dirty="0" smtClean="0">
                <a:latin typeface="Times New Roman" panose="02020603050405020304" pitchFamily="18" charset="0"/>
                <a:cs typeface="Times New Roman" panose="02020603050405020304" pitchFamily="18" charset="0"/>
              </a:rPr>
              <a:t>28,</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“sex”:“</a:t>
            </a:r>
            <a:r>
              <a:rPr lang="zh-CN" altLang="en-US" sz="2000" dirty="0" smtClean="0">
                <a:latin typeface="Times New Roman" panose="02020603050405020304" pitchFamily="18" charset="0"/>
                <a:cs typeface="Times New Roman" panose="02020603050405020304" pitchFamily="18" charset="0"/>
              </a:rPr>
              <a:t>男</a:t>
            </a:r>
            <a:r>
              <a:rPr lang="en-US" altLang="zh-CN" sz="2000" dirty="0" smtClean="0">
                <a:latin typeface="Times New Roman" panose="02020603050405020304" pitchFamily="18" charset="0"/>
                <a:cs typeface="Times New Roman" panose="02020603050405020304" pitchFamily="18" charset="0"/>
              </a:rPr>
              <a:t>”</a:t>
            </a:r>
            <a:br>
              <a:rPr lang="zh-CN" altLang="en-US" sz="2000" dirty="0" smtClean="0">
                <a:latin typeface="Times New Roman" panose="02020603050405020304" pitchFamily="18" charset="0"/>
                <a:cs typeface="Times New Roman" panose="02020603050405020304" pitchFamily="18" charset="0"/>
              </a:rPr>
            </a:br>
            <a:r>
              <a:rPr lang="zh-CN" altLang="en-US" sz="2000" dirty="0" smtClean="0">
                <a:latin typeface="Times New Roman" panose="02020603050405020304" pitchFamily="18" charset="0"/>
                <a:cs typeface="Times New Roman" panose="02020603050405020304" pitchFamily="18" charset="0"/>
              </a:rPr>
              <a:t>　　</a:t>
            </a:r>
            <a:r>
              <a:rPr lang="en-US" altLang="zh-CN" sz="2000" dirty="0" smtClean="0">
                <a:latin typeface="Times New Roman" panose="02020603050405020304" pitchFamily="18" charset="0"/>
                <a:cs typeface="Times New Roman" panose="02020603050405020304" pitchFamily="18" charset="0"/>
              </a:rPr>
              <a:t>“</a:t>
            </a:r>
            <a:r>
              <a:rPr lang="en-US" sz="2000" dirty="0" smtClean="0">
                <a:latin typeface="Times New Roman" panose="02020603050405020304" pitchFamily="18" charset="0"/>
                <a:cs typeface="Times New Roman" panose="02020603050405020304" pitchFamily="18" charset="0"/>
              </a:rPr>
              <a:t>school”:</a:t>
            </a:r>
            <a:r>
              <a:rPr lang="en-US" sz="2000" dirty="0" smtClean="0">
                <a:solidFill>
                  <a:srgbClr val="FF0000"/>
                </a:solidFill>
                <a:latin typeface="Times New Roman" panose="02020603050405020304" pitchFamily="18" charset="0"/>
                <a:cs typeface="Times New Roman" panose="02020603050405020304" pitchFamily="18" charset="0"/>
              </a:rPr>
              <a:t>{</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a:t>
            </a:r>
            <a:r>
              <a:rPr lang="en-US" sz="2000" dirty="0" err="1" smtClean="0">
                <a:latin typeface="Times New Roman" panose="02020603050405020304" pitchFamily="18" charset="0"/>
                <a:cs typeface="Times New Roman" panose="02020603050405020304" pitchFamily="18" charset="0"/>
              </a:rPr>
              <a:t>sname</a:t>
            </a:r>
            <a:r>
              <a:rPr lang="en-US" sz="2000" dirty="0" smtClean="0">
                <a:latin typeface="Times New Roman" panose="02020603050405020304" pitchFamily="18" charset="0"/>
                <a:cs typeface="Times New Roman" panose="02020603050405020304" pitchFamily="18" charset="0"/>
              </a:rPr>
              <a:t>”:“</a:t>
            </a:r>
            <a:r>
              <a:rPr lang="zh-CN" altLang="en-US" sz="2000" dirty="0" smtClean="0">
                <a:latin typeface="Times New Roman" panose="02020603050405020304" pitchFamily="18" charset="0"/>
                <a:cs typeface="Times New Roman" panose="02020603050405020304" pitchFamily="18" charset="0"/>
              </a:rPr>
              <a:t>南京大学</a:t>
            </a:r>
            <a:r>
              <a:rPr lang="en-US" altLang="zh-CN" sz="2000" dirty="0" smtClean="0">
                <a:latin typeface="Times New Roman" panose="02020603050405020304" pitchFamily="18" charset="0"/>
                <a:cs typeface="Times New Roman" panose="02020603050405020304" pitchFamily="18" charset="0"/>
              </a:rPr>
              <a:t>”.</a:t>
            </a:r>
            <a:br>
              <a:rPr lang="zh-CN" altLang="en-US" sz="2000" dirty="0" smtClean="0">
                <a:latin typeface="Times New Roman" panose="02020603050405020304" pitchFamily="18" charset="0"/>
                <a:cs typeface="Times New Roman" panose="02020603050405020304" pitchFamily="18" charset="0"/>
              </a:rPr>
            </a:br>
            <a:r>
              <a:rPr lang="zh-CN" altLang="en-US" sz="2000" dirty="0" smtClean="0">
                <a:latin typeface="Times New Roman" panose="02020603050405020304" pitchFamily="18" charset="0"/>
                <a:cs typeface="Times New Roman" panose="02020603050405020304" pitchFamily="18" charset="0"/>
              </a:rPr>
              <a:t>　　</a:t>
            </a:r>
            <a:r>
              <a:rPr lang="en-US" altLang="zh-CN" sz="2000" dirty="0" smtClean="0">
                <a:latin typeface="Times New Roman" panose="02020603050405020304" pitchFamily="18" charset="0"/>
                <a:cs typeface="Times New Roman" panose="02020603050405020304" pitchFamily="18" charset="0"/>
              </a:rPr>
              <a:t>“</a:t>
            </a:r>
            <a:r>
              <a:rPr lang="en-US" sz="2000" dirty="0" smtClean="0">
                <a:latin typeface="Times New Roman" panose="02020603050405020304" pitchFamily="18" charset="0"/>
                <a:cs typeface="Times New Roman" panose="02020603050405020304" pitchFamily="18" charset="0"/>
              </a:rPr>
              <a:t>address”:“</a:t>
            </a:r>
            <a:r>
              <a:rPr lang="zh-CN" altLang="en-US" sz="2000" dirty="0" smtClean="0">
                <a:latin typeface="Times New Roman" panose="02020603050405020304" pitchFamily="18" charset="0"/>
                <a:cs typeface="Times New Roman" panose="02020603050405020304" pitchFamily="18" charset="0"/>
              </a:rPr>
              <a:t>南京市</a:t>
            </a:r>
            <a:r>
              <a:rPr lang="zh-CN" altLang="en-US" sz="2000" dirty="0" smtClean="0">
                <a:latin typeface="Times New Roman" panose="02020603050405020304" pitchFamily="18" charset="0"/>
                <a:cs typeface="Times New Roman" panose="02020603050405020304" pitchFamily="18" charset="0"/>
              </a:rPr>
              <a:t>鼓楼区汉口路</a:t>
            </a:r>
            <a:r>
              <a:rPr lang="en-US" altLang="zh-CN" sz="2000" dirty="0" smtClean="0">
                <a:latin typeface="Times New Roman" panose="02020603050405020304" pitchFamily="18" charset="0"/>
                <a:cs typeface="Times New Roman" panose="02020603050405020304" pitchFamily="18" charset="0"/>
              </a:rPr>
              <a:t>22</a:t>
            </a:r>
            <a:r>
              <a:rPr lang="zh-CN" altLang="en-US" sz="2000" dirty="0" smtClean="0">
                <a:latin typeface="Times New Roman" panose="02020603050405020304" pitchFamily="18" charset="0"/>
                <a:cs typeface="Times New Roman" panose="02020603050405020304" pitchFamily="18" charset="0"/>
              </a:rPr>
              <a:t>号</a:t>
            </a:r>
            <a:r>
              <a:rPr lang="en-US" altLang="zh-CN" sz="2000" dirty="0" smtClean="0">
                <a:latin typeface="Times New Roman" panose="02020603050405020304" pitchFamily="18" charset="0"/>
                <a:cs typeface="Times New Roman" panose="02020603050405020304" pitchFamily="18" charset="0"/>
              </a:rPr>
              <a:t>”</a:t>
            </a:r>
            <a:br>
              <a:rPr lang="zh-CN" altLang="en-US" sz="2000" dirty="0" smtClean="0">
                <a:latin typeface="Times New Roman" panose="02020603050405020304" pitchFamily="18" charset="0"/>
                <a:cs typeface="Times New Roman" panose="02020603050405020304" pitchFamily="18" charset="0"/>
              </a:rPr>
            </a:br>
            <a:r>
              <a:rPr lang="zh-CN" altLang="en-US" sz="2000" dirty="0" smtClean="0">
                <a:latin typeface="Times New Roman" panose="02020603050405020304" pitchFamily="18" charset="0"/>
                <a:cs typeface="Times New Roman" panose="02020603050405020304" pitchFamily="18" charset="0"/>
              </a:rPr>
              <a:t>        </a:t>
            </a:r>
            <a:r>
              <a:rPr lang="en-US" altLang="zh-CN" sz="2000" dirty="0" smtClean="0">
                <a:solidFill>
                  <a:srgbClr val="FF0000"/>
                </a:solidFill>
                <a:latin typeface="Times New Roman" panose="02020603050405020304" pitchFamily="18" charset="0"/>
                <a:cs typeface="Times New Roman" panose="02020603050405020304" pitchFamily="18" charset="0"/>
              </a:rPr>
              <a:t>}</a:t>
            </a:r>
            <a:br>
              <a:rPr lang="zh-CN" altLang="en-US" sz="2000" dirty="0" smtClean="0"/>
            </a:br>
            <a:r>
              <a:rPr lang="en-US" altLang="zh-CN" sz="2000" dirty="0" smtClean="0"/>
              <a:t>}</a:t>
            </a:r>
            <a:endParaRPr lang="en-US" altLang="zh-CN" sz="2000" b="1" dirty="0" smtClean="0">
              <a:latin typeface="Times New Roman" panose="02020603050405020304" pitchFamily="18" charset="0"/>
              <a:cs typeface="Times New Roman" panose="02020603050405020304" pitchFamily="18" charset="0"/>
            </a:endParaRPr>
          </a:p>
        </p:txBody>
      </p:sp>
    </p:spTree>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p:cTn id="13" dur="500" fill="hold"/>
                                        <p:tgtEl>
                                          <p:spTgt spid="20"/>
                                        </p:tgtEl>
                                        <p:attrNameLst>
                                          <p:attrName>ppt_w</p:attrName>
                                        </p:attrNameLst>
                                      </p:cBhvr>
                                      <p:tavLst>
                                        <p:tav tm="0">
                                          <p:val>
                                            <p:fltVal val="0"/>
                                          </p:val>
                                        </p:tav>
                                        <p:tav tm="100000">
                                          <p:val>
                                            <p:strVal val="#ppt_w"/>
                                          </p:val>
                                        </p:tav>
                                      </p:tavLst>
                                    </p:anim>
                                    <p:anim calcmode="lin" valueType="num">
                                      <p:cBhvr>
                                        <p:cTn id="14" dur="500" fill="hold"/>
                                        <p:tgtEl>
                                          <p:spTgt spid="20"/>
                                        </p:tgtEl>
                                        <p:attrNameLst>
                                          <p:attrName>ppt_h</p:attrName>
                                        </p:attrNameLst>
                                      </p:cBhvr>
                                      <p:tavLst>
                                        <p:tav tm="0">
                                          <p:val>
                                            <p:fltVal val="0"/>
                                          </p:val>
                                        </p:tav>
                                        <p:tav tm="100000">
                                          <p:val>
                                            <p:strVal val="#ppt_h"/>
                                          </p:val>
                                        </p:tav>
                                      </p:tavLst>
                                    </p:anim>
                                    <p:animEffect transition="in" filter="fade">
                                      <p:cBhvr>
                                        <p:cTn id="15" dur="500"/>
                                        <p:tgtEl>
                                          <p:spTgt spid="20"/>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500" fill="hold"/>
                                        <p:tgtEl>
                                          <p:spTgt spid="21"/>
                                        </p:tgtEl>
                                        <p:attrNameLst>
                                          <p:attrName>ppt_w</p:attrName>
                                        </p:attrNameLst>
                                      </p:cBhvr>
                                      <p:tavLst>
                                        <p:tav tm="0">
                                          <p:val>
                                            <p:fltVal val="0"/>
                                          </p:val>
                                        </p:tav>
                                        <p:tav tm="100000">
                                          <p:val>
                                            <p:strVal val="#ppt_w"/>
                                          </p:val>
                                        </p:tav>
                                      </p:tavLst>
                                    </p:anim>
                                    <p:anim calcmode="lin" valueType="num">
                                      <p:cBhvr>
                                        <p:cTn id="20" dur="500" fill="hold"/>
                                        <p:tgtEl>
                                          <p:spTgt spid="21"/>
                                        </p:tgtEl>
                                        <p:attrNameLst>
                                          <p:attrName>ppt_h</p:attrName>
                                        </p:attrNameLst>
                                      </p:cBhvr>
                                      <p:tavLst>
                                        <p:tav tm="0">
                                          <p:val>
                                            <p:fltVal val="0"/>
                                          </p:val>
                                        </p:tav>
                                        <p:tav tm="100000">
                                          <p:val>
                                            <p:strVal val="#ppt_h"/>
                                          </p:val>
                                        </p:tav>
                                      </p:tavLst>
                                    </p:anim>
                                    <p:animEffect transition="in" filter="fade">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flipH="1">
            <a:off x="5523803" y="-41991"/>
            <a:ext cx="2901652" cy="2901652"/>
          </a:xfrm>
          <a:prstGeom prst="line">
            <a:avLst/>
          </a:prstGeom>
          <a:ln w="25400">
            <a:solidFill>
              <a:srgbClr val="F7BA3B"/>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7668344" y="620688"/>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7596336" y="1988840"/>
            <a:ext cx="1979712" cy="1979712"/>
          </a:xfrm>
          <a:prstGeom prst="line">
            <a:avLst/>
          </a:prstGeom>
          <a:ln w="25400">
            <a:solidFill>
              <a:srgbClr val="DA634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6948264" y="4653136"/>
            <a:ext cx="1656184" cy="1656184"/>
          </a:xfrm>
          <a:prstGeom prst="line">
            <a:avLst/>
          </a:prstGeom>
          <a:ln w="25400">
            <a:solidFill>
              <a:srgbClr val="2FB6A8"/>
            </a:solidFill>
            <a:headEnd type="triangle"/>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5292080" y="5517232"/>
            <a:ext cx="767730" cy="767730"/>
          </a:xfrm>
          <a:prstGeom prst="line">
            <a:avLst/>
          </a:prstGeom>
          <a:ln w="25400">
            <a:solidFill>
              <a:srgbClr val="DA634F"/>
            </a:solidFill>
            <a:head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6256186" y="3035885"/>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 name="组合 14"/>
          <p:cNvGrpSpPr/>
          <p:nvPr/>
        </p:nvGrpSpPr>
        <p:grpSpPr>
          <a:xfrm>
            <a:off x="359467" y="872056"/>
            <a:ext cx="702417" cy="702417"/>
            <a:chOff x="2921917" y="2223151"/>
            <a:chExt cx="1527064" cy="1527064"/>
          </a:xfrm>
        </p:grpSpPr>
        <p:grpSp>
          <p:nvGrpSpPr>
            <p:cNvPr id="3" name="组合 15"/>
            <p:cNvGrpSpPr/>
            <p:nvPr/>
          </p:nvGrpSpPr>
          <p:grpSpPr>
            <a:xfrm>
              <a:off x="2921917" y="2223151"/>
              <a:ext cx="1527064" cy="1527064"/>
              <a:chOff x="1200760" y="3842075"/>
              <a:chExt cx="1784148" cy="1784148"/>
            </a:xfrm>
          </p:grpSpPr>
          <p:sp>
            <p:nvSpPr>
              <p:cNvPr id="18" name="椭圆 17"/>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sp>
            <p:nvSpPr>
              <p:cNvPr id="19" name="椭圆 18"/>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grpSp>
        <p:sp>
          <p:nvSpPr>
            <p:cNvPr id="17" name="文本框 168"/>
            <p:cNvSpPr txBox="1"/>
            <p:nvPr/>
          </p:nvSpPr>
          <p:spPr>
            <a:xfrm>
              <a:off x="2921917" y="2490948"/>
              <a:ext cx="1415526" cy="1134770"/>
            </a:xfrm>
            <a:prstGeom prst="rect">
              <a:avLst/>
            </a:prstGeom>
            <a:noFill/>
          </p:spPr>
          <p:txBody>
            <a:bodyPr wrap="square" rtlCol="0">
              <a:spAutoFit/>
            </a:bodyPr>
            <a:lstStyle/>
            <a:p>
              <a:pPr algn="ctr">
                <a:defRPr/>
              </a:pPr>
              <a:r>
                <a:rPr lang="en-US" altLang="zh-CN" sz="2800" dirty="0">
                  <a:solidFill>
                    <a:prstClr val="white"/>
                  </a:solidFill>
                  <a:latin typeface="微软雅黑" panose="020B0503020204020204" pitchFamily="34" charset="-122"/>
                  <a:ea typeface="微软雅黑" panose="020B0503020204020204" pitchFamily="34" charset="-122"/>
                </a:rPr>
                <a:t>01</a:t>
              </a:r>
              <a:endParaRPr lang="zh-CN" altLang="en-US" sz="2800" dirty="0">
                <a:solidFill>
                  <a:prstClr val="white"/>
                </a:solidFill>
                <a:latin typeface="微软雅黑" panose="020B0503020204020204" pitchFamily="34" charset="-122"/>
                <a:ea typeface="微软雅黑" panose="020B0503020204020204" pitchFamily="34" charset="-122"/>
              </a:endParaRPr>
            </a:p>
          </p:txBody>
        </p:sp>
      </p:grpSp>
      <p:sp>
        <p:nvSpPr>
          <p:cNvPr id="20" name="文本框 6"/>
          <p:cNvSpPr txBox="1"/>
          <p:nvPr/>
        </p:nvSpPr>
        <p:spPr>
          <a:xfrm>
            <a:off x="1349815" y="1002856"/>
            <a:ext cx="5152585"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a:t>
            </a:r>
            <a:r>
              <a:rPr lang="en-US" altLang="zh-CN" sz="2400" b="1" dirty="0" smtClean="0">
                <a:solidFill>
                  <a:prstClr val="white"/>
                </a:solidFill>
                <a:latin typeface="微软雅黑" panose="020B0503020204020204" pitchFamily="34" charset="-122"/>
                <a:ea typeface="微软雅黑" panose="020B0503020204020204" pitchFamily="34" charset="-122"/>
              </a:rPr>
              <a:t>.1  JSON </a:t>
            </a:r>
            <a:r>
              <a:rPr lang="zh-CN" altLang="en-US" sz="2400" b="1" dirty="0" smtClean="0">
                <a:solidFill>
                  <a:prstClr val="white"/>
                </a:solidFill>
                <a:latin typeface="微软雅黑" panose="020B0503020204020204" pitchFamily="34" charset="-122"/>
                <a:ea typeface="微软雅黑" panose="020B0503020204020204" pitchFamily="34" charset="-122"/>
              </a:rPr>
              <a:t>简介</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21" name="文本框 6"/>
          <p:cNvSpPr txBox="1"/>
          <p:nvPr/>
        </p:nvSpPr>
        <p:spPr>
          <a:xfrm>
            <a:off x="1349814" y="1599756"/>
            <a:ext cx="7057586"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2.  JSON </a:t>
            </a:r>
            <a:r>
              <a:rPr lang="zh-CN" altLang="en-US" sz="2400" b="1" dirty="0" smtClean="0">
                <a:solidFill>
                  <a:prstClr val="white"/>
                </a:solidFill>
                <a:latin typeface="微软雅黑" panose="020B0503020204020204" pitchFamily="34" charset="-122"/>
                <a:ea typeface="微软雅黑" panose="020B0503020204020204" pitchFamily="34" charset="-122"/>
              </a:rPr>
              <a:t>数据格式的特点</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22" name="圆角矩形 21"/>
          <p:cNvSpPr/>
          <p:nvPr/>
        </p:nvSpPr>
        <p:spPr>
          <a:xfrm>
            <a:off x="635000" y="2203450"/>
            <a:ext cx="7874000" cy="3606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2000" b="1" dirty="0" smtClean="0">
                <a:solidFill>
                  <a:srgbClr val="FF0000"/>
                </a:solidFill>
                <a:latin typeface="Times New Roman" panose="02020603050405020304" pitchFamily="18" charset="0"/>
                <a:cs typeface="Times New Roman" panose="02020603050405020304" pitchFamily="18" charset="0"/>
              </a:rPr>
              <a:t>Demo</a:t>
            </a:r>
            <a:r>
              <a:rPr lang="en-US" sz="2000" b="1" dirty="0" smtClean="0">
                <a:latin typeface="Times New Roman" panose="02020603050405020304" pitchFamily="18" charset="0"/>
                <a:cs typeface="Times New Roman" panose="02020603050405020304" pitchFamily="18" charset="0"/>
              </a:rPr>
              <a:t>:</a:t>
            </a:r>
            <a:r>
              <a:rPr lang="en-US" sz="2000" dirty="0" smtClean="0">
                <a:latin typeface="Times New Roman" panose="02020603050405020304" pitchFamily="18" charset="0"/>
                <a:cs typeface="Times New Roman" panose="02020603050405020304" pitchFamily="18" charset="0"/>
              </a:rPr>
              <a:t> </a:t>
            </a:r>
            <a:r>
              <a:rPr lang="en-US" sz="2000" b="1" dirty="0" smtClean="0">
                <a:solidFill>
                  <a:srgbClr val="FF0000"/>
                </a:solidFill>
                <a:latin typeface="Times New Roman" panose="02020603050405020304" pitchFamily="18" charset="0"/>
                <a:cs typeface="Times New Roman" panose="02020603050405020304" pitchFamily="18" charset="0"/>
              </a:rPr>
              <a:t>JSON </a:t>
            </a:r>
            <a:r>
              <a:rPr lang="zh-CN" altLang="en-US" sz="2000" b="1" dirty="0" smtClean="0">
                <a:solidFill>
                  <a:srgbClr val="FF0000"/>
                </a:solidFill>
                <a:latin typeface="Times New Roman" panose="02020603050405020304" pitchFamily="18" charset="0"/>
                <a:cs typeface="Times New Roman" panose="02020603050405020304" pitchFamily="18" charset="0"/>
              </a:rPr>
              <a:t>格式表示</a:t>
            </a:r>
            <a:r>
              <a:rPr lang="zh-CN" altLang="en-US" sz="2000" b="1" dirty="0" smtClean="0">
                <a:solidFill>
                  <a:srgbClr val="FF0000"/>
                </a:solidFill>
                <a:latin typeface="Times New Roman" panose="02020603050405020304" pitchFamily="18" charset="0"/>
                <a:cs typeface="Times New Roman" panose="02020603050405020304" pitchFamily="18" charset="0"/>
              </a:rPr>
              <a:t>数组</a:t>
            </a:r>
            <a:endParaRPr lang="en-US" altLang="zh-CN" sz="2000" b="1" dirty="0" smtClean="0">
              <a:solidFill>
                <a:srgbClr val="FF0000"/>
              </a:solidFill>
              <a:latin typeface="Times New Roman" panose="02020603050405020304" pitchFamily="18" charset="0"/>
              <a:cs typeface="Times New Roman" panose="02020603050405020304" pitchFamily="18" charset="0"/>
            </a:endParaRPr>
          </a:p>
          <a:p>
            <a:pPr>
              <a:lnSpc>
                <a:spcPct val="150000"/>
              </a:lnSpc>
            </a:pPr>
            <a:r>
              <a:rPr lang="en-US" sz="2000" dirty="0" smtClean="0">
                <a:latin typeface="Times New Roman" panose="02020603050405020304" pitchFamily="18" charset="0"/>
                <a:cs typeface="Times New Roman" panose="02020603050405020304" pitchFamily="18" charset="0"/>
              </a:rPr>
              <a:t>[</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　　{"name":"</a:t>
            </a:r>
            <a:r>
              <a:rPr lang="en-US" sz="2000" dirty="0" err="1" smtClean="0">
                <a:latin typeface="Times New Roman" panose="02020603050405020304" pitchFamily="18" charset="0"/>
                <a:cs typeface="Times New Roman" panose="02020603050405020304" pitchFamily="18" charset="0"/>
              </a:rPr>
              <a:t>smith","empno</a:t>
            </a:r>
            <a:r>
              <a:rPr lang="en-US" sz="2000" dirty="0" smtClean="0">
                <a:latin typeface="Times New Roman" panose="02020603050405020304" pitchFamily="18" charset="0"/>
                <a:cs typeface="Times New Roman" panose="02020603050405020304" pitchFamily="18" charset="0"/>
              </a:rPr>
              <a:t>":1001,"job":"</a:t>
            </a:r>
            <a:r>
              <a:rPr lang="en-US" sz="2000" dirty="0" err="1" smtClean="0">
                <a:latin typeface="Times New Roman" panose="02020603050405020304" pitchFamily="18" charset="0"/>
                <a:cs typeface="Times New Roman" panose="02020603050405020304" pitchFamily="18" charset="0"/>
              </a:rPr>
              <a:t>clerck","sal</a:t>
            </a:r>
            <a:r>
              <a:rPr lang="en-US" sz="2000" dirty="0" smtClean="0">
                <a:latin typeface="Times New Roman" panose="02020603050405020304" pitchFamily="18" charset="0"/>
                <a:cs typeface="Times New Roman" panose="02020603050405020304" pitchFamily="18" charset="0"/>
              </a:rPr>
              <a:t>":</a:t>
            </a:r>
            <a:r>
              <a:rPr lang="en-US" sz="2000" dirty="0" smtClean="0">
                <a:latin typeface="Times New Roman" panose="02020603050405020304" pitchFamily="18" charset="0"/>
                <a:cs typeface="Times New Roman" panose="02020603050405020304" pitchFamily="18" charset="0"/>
              </a:rPr>
              <a:t>9000.00},</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　　{"name":"</a:t>
            </a:r>
            <a:r>
              <a:rPr lang="en-US" sz="2000" dirty="0" err="1" smtClean="0">
                <a:latin typeface="Times New Roman" panose="02020603050405020304" pitchFamily="18" charset="0"/>
                <a:cs typeface="Times New Roman" panose="02020603050405020304" pitchFamily="18" charset="0"/>
              </a:rPr>
              <a:t>smith","empno</a:t>
            </a:r>
            <a:r>
              <a:rPr lang="en-US" sz="2000" dirty="0" smtClean="0">
                <a:latin typeface="Times New Roman" panose="02020603050405020304" pitchFamily="18" charset="0"/>
                <a:cs typeface="Times New Roman" panose="02020603050405020304" pitchFamily="18" charset="0"/>
              </a:rPr>
              <a:t>":1001,"job":"</a:t>
            </a:r>
            <a:r>
              <a:rPr lang="en-US" sz="2000" dirty="0" err="1" smtClean="0">
                <a:latin typeface="Times New Roman" panose="02020603050405020304" pitchFamily="18" charset="0"/>
                <a:cs typeface="Times New Roman" panose="02020603050405020304" pitchFamily="18" charset="0"/>
              </a:rPr>
              <a:t>clerck","sal</a:t>
            </a:r>
            <a:r>
              <a:rPr lang="en-US" sz="2000" dirty="0" smtClean="0">
                <a:latin typeface="Times New Roman" panose="02020603050405020304" pitchFamily="18" charset="0"/>
                <a:cs typeface="Times New Roman" panose="02020603050405020304" pitchFamily="18" charset="0"/>
              </a:rPr>
              <a:t>":</a:t>
            </a:r>
            <a:r>
              <a:rPr lang="en-US" sz="2000" dirty="0" smtClean="0">
                <a:latin typeface="Times New Roman" panose="02020603050405020304" pitchFamily="18" charset="0"/>
                <a:cs typeface="Times New Roman" panose="02020603050405020304" pitchFamily="18" charset="0"/>
              </a:rPr>
              <a:t>9000.00},</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　　{"name":"</a:t>
            </a:r>
            <a:r>
              <a:rPr lang="en-US" sz="2000" dirty="0" err="1" smtClean="0">
                <a:latin typeface="Times New Roman" panose="02020603050405020304" pitchFamily="18" charset="0"/>
                <a:cs typeface="Times New Roman" panose="02020603050405020304" pitchFamily="18" charset="0"/>
              </a:rPr>
              <a:t>smith","empno</a:t>
            </a:r>
            <a:r>
              <a:rPr lang="en-US" sz="2000" dirty="0" smtClean="0">
                <a:latin typeface="Times New Roman" panose="02020603050405020304" pitchFamily="18" charset="0"/>
                <a:cs typeface="Times New Roman" panose="02020603050405020304" pitchFamily="18" charset="0"/>
              </a:rPr>
              <a:t>":1001,"job":"</a:t>
            </a:r>
            <a:r>
              <a:rPr lang="en-US" sz="2000" dirty="0" err="1" smtClean="0">
                <a:latin typeface="Times New Roman" panose="02020603050405020304" pitchFamily="18" charset="0"/>
                <a:cs typeface="Times New Roman" panose="02020603050405020304" pitchFamily="18" charset="0"/>
              </a:rPr>
              <a:t>clerck","sal</a:t>
            </a:r>
            <a:r>
              <a:rPr lang="en-US" sz="2000" dirty="0" smtClean="0">
                <a:latin typeface="Times New Roman" panose="02020603050405020304" pitchFamily="18" charset="0"/>
                <a:cs typeface="Times New Roman" panose="02020603050405020304" pitchFamily="18" charset="0"/>
              </a:rPr>
              <a:t>":</a:t>
            </a:r>
            <a:r>
              <a:rPr lang="en-US" sz="2000" dirty="0" smtClean="0">
                <a:latin typeface="Times New Roman" panose="02020603050405020304" pitchFamily="18" charset="0"/>
                <a:cs typeface="Times New Roman" panose="02020603050405020304" pitchFamily="18" charset="0"/>
              </a:rPr>
              <a:t>9000.00},</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a:t>
            </a:r>
            <a:endParaRPr lang="en-US" altLang="zh-CN" sz="2000" b="1" dirty="0" smtClean="0">
              <a:latin typeface="Times New Roman" panose="02020603050405020304" pitchFamily="18" charset="0"/>
              <a:cs typeface="Times New Roman" panose="02020603050405020304" pitchFamily="18" charset="0"/>
            </a:endParaRPr>
          </a:p>
        </p:txBody>
      </p:sp>
    </p:spTree>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p:cTn id="13" dur="500" fill="hold"/>
                                        <p:tgtEl>
                                          <p:spTgt spid="20"/>
                                        </p:tgtEl>
                                        <p:attrNameLst>
                                          <p:attrName>ppt_w</p:attrName>
                                        </p:attrNameLst>
                                      </p:cBhvr>
                                      <p:tavLst>
                                        <p:tav tm="0">
                                          <p:val>
                                            <p:fltVal val="0"/>
                                          </p:val>
                                        </p:tav>
                                        <p:tav tm="100000">
                                          <p:val>
                                            <p:strVal val="#ppt_w"/>
                                          </p:val>
                                        </p:tav>
                                      </p:tavLst>
                                    </p:anim>
                                    <p:anim calcmode="lin" valueType="num">
                                      <p:cBhvr>
                                        <p:cTn id="14" dur="500" fill="hold"/>
                                        <p:tgtEl>
                                          <p:spTgt spid="20"/>
                                        </p:tgtEl>
                                        <p:attrNameLst>
                                          <p:attrName>ppt_h</p:attrName>
                                        </p:attrNameLst>
                                      </p:cBhvr>
                                      <p:tavLst>
                                        <p:tav tm="0">
                                          <p:val>
                                            <p:fltVal val="0"/>
                                          </p:val>
                                        </p:tav>
                                        <p:tav tm="100000">
                                          <p:val>
                                            <p:strVal val="#ppt_h"/>
                                          </p:val>
                                        </p:tav>
                                      </p:tavLst>
                                    </p:anim>
                                    <p:animEffect transition="in" filter="fade">
                                      <p:cBhvr>
                                        <p:cTn id="15" dur="500"/>
                                        <p:tgtEl>
                                          <p:spTgt spid="20"/>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500" fill="hold"/>
                                        <p:tgtEl>
                                          <p:spTgt spid="21"/>
                                        </p:tgtEl>
                                        <p:attrNameLst>
                                          <p:attrName>ppt_w</p:attrName>
                                        </p:attrNameLst>
                                      </p:cBhvr>
                                      <p:tavLst>
                                        <p:tav tm="0">
                                          <p:val>
                                            <p:fltVal val="0"/>
                                          </p:val>
                                        </p:tav>
                                        <p:tav tm="100000">
                                          <p:val>
                                            <p:strVal val="#ppt_w"/>
                                          </p:val>
                                        </p:tav>
                                      </p:tavLst>
                                    </p:anim>
                                    <p:anim calcmode="lin" valueType="num">
                                      <p:cBhvr>
                                        <p:cTn id="20" dur="500" fill="hold"/>
                                        <p:tgtEl>
                                          <p:spTgt spid="21"/>
                                        </p:tgtEl>
                                        <p:attrNameLst>
                                          <p:attrName>ppt_h</p:attrName>
                                        </p:attrNameLst>
                                      </p:cBhvr>
                                      <p:tavLst>
                                        <p:tav tm="0">
                                          <p:val>
                                            <p:fltVal val="0"/>
                                          </p:val>
                                        </p:tav>
                                        <p:tav tm="100000">
                                          <p:val>
                                            <p:strVal val="#ppt_h"/>
                                          </p:val>
                                        </p:tav>
                                      </p:tavLst>
                                    </p:anim>
                                    <p:animEffect transition="in" filter="fade">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flipH="1">
            <a:off x="5523803" y="-41991"/>
            <a:ext cx="2901652" cy="2901652"/>
          </a:xfrm>
          <a:prstGeom prst="line">
            <a:avLst/>
          </a:prstGeom>
          <a:ln w="25400">
            <a:solidFill>
              <a:srgbClr val="F7BA3B"/>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7668344" y="620688"/>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7596336" y="1988840"/>
            <a:ext cx="1979712" cy="1979712"/>
          </a:xfrm>
          <a:prstGeom prst="line">
            <a:avLst/>
          </a:prstGeom>
          <a:ln w="25400">
            <a:solidFill>
              <a:srgbClr val="DA634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6948264" y="4653136"/>
            <a:ext cx="1656184" cy="1656184"/>
          </a:xfrm>
          <a:prstGeom prst="line">
            <a:avLst/>
          </a:prstGeom>
          <a:ln w="25400">
            <a:solidFill>
              <a:srgbClr val="2FB6A8"/>
            </a:solidFill>
            <a:headEnd type="triangle"/>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5292080" y="5517232"/>
            <a:ext cx="767730" cy="767730"/>
          </a:xfrm>
          <a:prstGeom prst="line">
            <a:avLst/>
          </a:prstGeom>
          <a:ln w="25400">
            <a:solidFill>
              <a:srgbClr val="DA634F"/>
            </a:solidFill>
            <a:head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6256186" y="3035885"/>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 name="组合 14"/>
          <p:cNvGrpSpPr/>
          <p:nvPr/>
        </p:nvGrpSpPr>
        <p:grpSpPr>
          <a:xfrm>
            <a:off x="359467" y="872056"/>
            <a:ext cx="702417" cy="702417"/>
            <a:chOff x="2921917" y="2223151"/>
            <a:chExt cx="1527064" cy="1527064"/>
          </a:xfrm>
        </p:grpSpPr>
        <p:grpSp>
          <p:nvGrpSpPr>
            <p:cNvPr id="3" name="组合 15"/>
            <p:cNvGrpSpPr/>
            <p:nvPr/>
          </p:nvGrpSpPr>
          <p:grpSpPr>
            <a:xfrm>
              <a:off x="2921917" y="2223151"/>
              <a:ext cx="1527064" cy="1527064"/>
              <a:chOff x="1200760" y="3842075"/>
              <a:chExt cx="1784148" cy="1784148"/>
            </a:xfrm>
          </p:grpSpPr>
          <p:sp>
            <p:nvSpPr>
              <p:cNvPr id="18" name="椭圆 17"/>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sp>
            <p:nvSpPr>
              <p:cNvPr id="19" name="椭圆 18"/>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grpSp>
        <p:sp>
          <p:nvSpPr>
            <p:cNvPr id="17" name="文本框 168"/>
            <p:cNvSpPr txBox="1"/>
            <p:nvPr/>
          </p:nvSpPr>
          <p:spPr>
            <a:xfrm>
              <a:off x="2921917" y="2490948"/>
              <a:ext cx="1415526" cy="1134770"/>
            </a:xfrm>
            <a:prstGeom prst="rect">
              <a:avLst/>
            </a:prstGeom>
            <a:noFill/>
          </p:spPr>
          <p:txBody>
            <a:bodyPr wrap="square" rtlCol="0">
              <a:spAutoFit/>
            </a:bodyPr>
            <a:lstStyle/>
            <a:p>
              <a:pPr algn="ctr">
                <a:defRPr/>
              </a:pPr>
              <a:r>
                <a:rPr lang="en-US" altLang="zh-CN" sz="2800" dirty="0">
                  <a:solidFill>
                    <a:prstClr val="white"/>
                  </a:solidFill>
                  <a:latin typeface="微软雅黑" panose="020B0503020204020204" pitchFamily="34" charset="-122"/>
                  <a:ea typeface="微软雅黑" panose="020B0503020204020204" pitchFamily="34" charset="-122"/>
                </a:rPr>
                <a:t>01</a:t>
              </a:r>
              <a:endParaRPr lang="zh-CN" altLang="en-US" sz="2800" dirty="0">
                <a:solidFill>
                  <a:prstClr val="white"/>
                </a:solidFill>
                <a:latin typeface="微软雅黑" panose="020B0503020204020204" pitchFamily="34" charset="-122"/>
                <a:ea typeface="微软雅黑" panose="020B0503020204020204" pitchFamily="34" charset="-122"/>
              </a:endParaRPr>
            </a:p>
          </p:txBody>
        </p:sp>
      </p:grpSp>
      <p:sp>
        <p:nvSpPr>
          <p:cNvPr id="20" name="文本框 6"/>
          <p:cNvSpPr txBox="1"/>
          <p:nvPr/>
        </p:nvSpPr>
        <p:spPr>
          <a:xfrm>
            <a:off x="1349815" y="1002856"/>
            <a:ext cx="5152585"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a:t>
            </a:r>
            <a:r>
              <a:rPr lang="en-US" altLang="zh-CN" sz="2400" b="1" dirty="0" smtClean="0">
                <a:solidFill>
                  <a:prstClr val="white"/>
                </a:solidFill>
                <a:latin typeface="微软雅黑" panose="020B0503020204020204" pitchFamily="34" charset="-122"/>
                <a:ea typeface="微软雅黑" panose="020B0503020204020204" pitchFamily="34" charset="-122"/>
              </a:rPr>
              <a:t>.1  JSON </a:t>
            </a:r>
            <a:r>
              <a:rPr lang="zh-CN" altLang="en-US" sz="2400" b="1" dirty="0" smtClean="0">
                <a:solidFill>
                  <a:prstClr val="white"/>
                </a:solidFill>
                <a:latin typeface="微软雅黑" panose="020B0503020204020204" pitchFamily="34" charset="-122"/>
                <a:ea typeface="微软雅黑" panose="020B0503020204020204" pitchFamily="34" charset="-122"/>
              </a:rPr>
              <a:t>简介</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21" name="文本框 6"/>
          <p:cNvSpPr txBox="1"/>
          <p:nvPr/>
        </p:nvSpPr>
        <p:spPr>
          <a:xfrm>
            <a:off x="1349814" y="1599756"/>
            <a:ext cx="7057586"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2.  JSON </a:t>
            </a:r>
            <a:r>
              <a:rPr lang="zh-CN" altLang="en-US" sz="2400" b="1" dirty="0" smtClean="0">
                <a:solidFill>
                  <a:prstClr val="white"/>
                </a:solidFill>
                <a:latin typeface="微软雅黑" panose="020B0503020204020204" pitchFamily="34" charset="-122"/>
                <a:ea typeface="微软雅黑" panose="020B0503020204020204" pitchFamily="34" charset="-122"/>
              </a:rPr>
              <a:t>数据格式的特点</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22" name="圆角矩形 21"/>
          <p:cNvSpPr/>
          <p:nvPr/>
        </p:nvSpPr>
        <p:spPr>
          <a:xfrm>
            <a:off x="3568700" y="2216150"/>
            <a:ext cx="5054600" cy="378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800" dirty="0" smtClean="0">
                <a:solidFill>
                  <a:srgbClr val="FF0000"/>
                </a:solidFill>
                <a:latin typeface="Times New Roman" panose="02020603050405020304" pitchFamily="18" charset="0"/>
                <a:cs typeface="Times New Roman" panose="02020603050405020304" pitchFamily="18" charset="0"/>
              </a:rPr>
              <a:t>[</a:t>
            </a:r>
            <a:br>
              <a:rPr lang="zh-CN" altLang="en-US" sz="1800" dirty="0" smtClean="0">
                <a:latin typeface="Times New Roman" panose="02020603050405020304" pitchFamily="18" charset="0"/>
                <a:cs typeface="Times New Roman" panose="02020603050405020304" pitchFamily="18" charset="0"/>
              </a:rPr>
            </a:br>
            <a:r>
              <a:rPr lang="zh-CN" altLang="en-US" sz="1800" dirty="0" smtClean="0">
                <a:latin typeface="Times New Roman" panose="02020603050405020304" pitchFamily="18" charset="0"/>
                <a:cs typeface="Times New Roman" panose="02020603050405020304" pitchFamily="18" charset="0"/>
              </a:rPr>
              <a:t>　　</a:t>
            </a:r>
            <a:r>
              <a:rPr lang="en-US" altLang="zh-CN" sz="1800" dirty="0" smtClean="0">
                <a:latin typeface="Times New Roman" panose="02020603050405020304" pitchFamily="18" charset="0"/>
                <a:cs typeface="Times New Roman" panose="02020603050405020304" pitchFamily="18" charset="0"/>
              </a:rPr>
              <a:t>{</a:t>
            </a:r>
            <a:br>
              <a:rPr lang="zh-CN" altLang="en-US" sz="1800" dirty="0" smtClean="0">
                <a:latin typeface="Times New Roman" panose="02020603050405020304" pitchFamily="18" charset="0"/>
                <a:cs typeface="Times New Roman" panose="02020603050405020304" pitchFamily="18" charset="0"/>
              </a:rPr>
            </a:br>
            <a:r>
              <a:rPr lang="zh-CN" altLang="en-US" sz="1800" dirty="0" smtClean="0">
                <a:latin typeface="Times New Roman" panose="02020603050405020304" pitchFamily="18" charset="0"/>
                <a:cs typeface="Times New Roman" panose="02020603050405020304" pitchFamily="18" charset="0"/>
              </a:rPr>
              <a:t>　　　　</a:t>
            </a:r>
            <a:r>
              <a:rPr lang="en-US" altLang="zh-CN" sz="1800" dirty="0" smtClean="0">
                <a:latin typeface="Times New Roman" panose="02020603050405020304" pitchFamily="18" charset="0"/>
                <a:cs typeface="Times New Roman" panose="02020603050405020304" pitchFamily="18" charset="0"/>
              </a:rPr>
              <a:t>"</a:t>
            </a:r>
            <a:r>
              <a:rPr lang="en-US" sz="1800" dirty="0" smtClean="0">
                <a:latin typeface="Times New Roman" panose="02020603050405020304" pitchFamily="18" charset="0"/>
                <a:cs typeface="Times New Roman" panose="02020603050405020304" pitchFamily="18" charset="0"/>
              </a:rPr>
              <a:t>title":"Java </a:t>
            </a:r>
            <a:r>
              <a:rPr lang="zh-CN" altLang="en-US" sz="1800" dirty="0" smtClean="0">
                <a:latin typeface="Times New Roman" panose="02020603050405020304" pitchFamily="18" charset="0"/>
                <a:cs typeface="Times New Roman" panose="02020603050405020304" pitchFamily="18" charset="0"/>
              </a:rPr>
              <a:t>开发</a:t>
            </a:r>
            <a:r>
              <a:rPr lang="en-US" altLang="zh-CN" sz="1800" dirty="0" smtClean="0">
                <a:latin typeface="Times New Roman" panose="02020603050405020304" pitchFamily="18" charset="0"/>
                <a:cs typeface="Times New Roman" panose="02020603050405020304" pitchFamily="18" charset="0"/>
              </a:rPr>
              <a:t>",</a:t>
            </a:r>
            <a:br>
              <a:rPr lang="zh-CN" altLang="en-US" sz="1800" dirty="0" smtClean="0">
                <a:latin typeface="Times New Roman" panose="02020603050405020304" pitchFamily="18" charset="0"/>
                <a:cs typeface="Times New Roman" panose="02020603050405020304" pitchFamily="18" charset="0"/>
              </a:rPr>
            </a:br>
            <a:r>
              <a:rPr lang="zh-CN" altLang="en-US" sz="1800" dirty="0" smtClean="0">
                <a:latin typeface="Times New Roman" panose="02020603050405020304" pitchFamily="18" charset="0"/>
                <a:cs typeface="Times New Roman" panose="02020603050405020304" pitchFamily="18" charset="0"/>
              </a:rPr>
              <a:t>　　　　</a:t>
            </a:r>
            <a:r>
              <a:rPr lang="en-US" altLang="zh-CN" sz="1800" dirty="0" smtClean="0">
                <a:latin typeface="Times New Roman" panose="02020603050405020304" pitchFamily="18" charset="0"/>
                <a:cs typeface="Times New Roman" panose="02020603050405020304" pitchFamily="18" charset="0"/>
              </a:rPr>
              <a:t>"</a:t>
            </a:r>
            <a:r>
              <a:rPr lang="en-US" sz="1800" dirty="0" smtClean="0">
                <a:latin typeface="Times New Roman" panose="02020603050405020304" pitchFamily="18" charset="0"/>
                <a:cs typeface="Times New Roman" panose="02020603050405020304" pitchFamily="18" charset="0"/>
              </a:rPr>
              <a:t>edition":3,</a:t>
            </a:r>
            <a:br>
              <a:rPr lang="en-US" sz="1800" dirty="0" smtClean="0">
                <a:latin typeface="Times New Roman" panose="02020603050405020304" pitchFamily="18" charset="0"/>
                <a:cs typeface="Times New Roman" panose="02020603050405020304" pitchFamily="18" charset="0"/>
              </a:rPr>
            </a:br>
            <a:r>
              <a:rPr lang="en-US" sz="1800" dirty="0" smtClean="0">
                <a:latin typeface="Times New Roman" panose="02020603050405020304" pitchFamily="18" charset="0"/>
                <a:cs typeface="Times New Roman" panose="02020603050405020304" pitchFamily="18" charset="0"/>
              </a:rPr>
              <a:t>　　　　"author":["smith","</a:t>
            </a:r>
            <a:r>
              <a:rPr lang="zh-CN" altLang="en-US" sz="1800" dirty="0" smtClean="0">
                <a:latin typeface="Times New Roman" panose="02020603050405020304" pitchFamily="18" charset="0"/>
                <a:cs typeface="Times New Roman" panose="02020603050405020304" pitchFamily="18" charset="0"/>
              </a:rPr>
              <a:t>张三</a:t>
            </a:r>
            <a:r>
              <a:rPr lang="en-US" altLang="zh-CN" sz="1800" dirty="0" smtClean="0">
                <a:latin typeface="Times New Roman" panose="02020603050405020304" pitchFamily="18" charset="0"/>
                <a:cs typeface="Times New Roman" panose="02020603050405020304" pitchFamily="18" charset="0"/>
              </a:rPr>
              <a:t>","</a:t>
            </a:r>
            <a:r>
              <a:rPr lang="zh-CN" altLang="en-US" sz="1800" dirty="0" smtClean="0">
                <a:latin typeface="Times New Roman" panose="02020603050405020304" pitchFamily="18" charset="0"/>
                <a:cs typeface="Times New Roman" panose="02020603050405020304" pitchFamily="18" charset="0"/>
              </a:rPr>
              <a:t>李四</a:t>
            </a:r>
            <a:r>
              <a:rPr lang="en-US" altLang="zh-CN" sz="1800" dirty="0" smtClean="0">
                <a:latin typeface="Times New Roman" panose="02020603050405020304" pitchFamily="18" charset="0"/>
                <a:cs typeface="Times New Roman" panose="02020603050405020304" pitchFamily="18" charset="0"/>
              </a:rPr>
              <a:t>"]</a:t>
            </a:r>
            <a:br>
              <a:rPr lang="zh-CN" altLang="en-US" sz="1800" dirty="0" smtClean="0">
                <a:latin typeface="Times New Roman" panose="02020603050405020304" pitchFamily="18" charset="0"/>
                <a:cs typeface="Times New Roman" panose="02020603050405020304" pitchFamily="18" charset="0"/>
              </a:rPr>
            </a:br>
            <a:r>
              <a:rPr lang="zh-CN" altLang="en-US" sz="1800" dirty="0" smtClean="0">
                <a:latin typeface="Times New Roman" panose="02020603050405020304" pitchFamily="18" charset="0"/>
                <a:cs typeface="Times New Roman" panose="02020603050405020304" pitchFamily="18" charset="0"/>
              </a:rPr>
              <a:t>　　</a:t>
            </a:r>
            <a:r>
              <a:rPr lang="en-US" altLang="zh-CN" sz="1800" dirty="0" smtClean="0">
                <a:latin typeface="Times New Roman" panose="02020603050405020304" pitchFamily="18" charset="0"/>
                <a:cs typeface="Times New Roman" panose="02020603050405020304" pitchFamily="18" charset="0"/>
              </a:rPr>
              <a:t>},</a:t>
            </a:r>
            <a:br>
              <a:rPr lang="zh-CN" altLang="en-US" sz="1800" dirty="0" smtClean="0">
                <a:latin typeface="Times New Roman" panose="02020603050405020304" pitchFamily="18" charset="0"/>
                <a:cs typeface="Times New Roman" panose="02020603050405020304" pitchFamily="18" charset="0"/>
              </a:rPr>
            </a:br>
            <a:r>
              <a:rPr lang="zh-CN" altLang="en-US" sz="1800" dirty="0" smtClean="0">
                <a:latin typeface="Times New Roman" panose="02020603050405020304" pitchFamily="18" charset="0"/>
                <a:cs typeface="Times New Roman" panose="02020603050405020304" pitchFamily="18" charset="0"/>
              </a:rPr>
              <a:t>　　</a:t>
            </a:r>
            <a:r>
              <a:rPr lang="en-US" altLang="zh-CN" sz="1800" dirty="0" smtClean="0">
                <a:latin typeface="Times New Roman" panose="02020603050405020304" pitchFamily="18" charset="0"/>
                <a:cs typeface="Times New Roman" panose="02020603050405020304" pitchFamily="18" charset="0"/>
              </a:rPr>
              <a:t>{</a:t>
            </a:r>
            <a:br>
              <a:rPr lang="zh-CN" altLang="en-US" sz="1800" dirty="0" smtClean="0">
                <a:latin typeface="Times New Roman" panose="02020603050405020304" pitchFamily="18" charset="0"/>
                <a:cs typeface="Times New Roman" panose="02020603050405020304" pitchFamily="18" charset="0"/>
              </a:rPr>
            </a:br>
            <a:r>
              <a:rPr lang="zh-CN" altLang="en-US" sz="1800" dirty="0" smtClean="0">
                <a:latin typeface="Times New Roman" panose="02020603050405020304" pitchFamily="18" charset="0"/>
                <a:cs typeface="Times New Roman" panose="02020603050405020304" pitchFamily="18" charset="0"/>
              </a:rPr>
              <a:t>　　　　</a:t>
            </a:r>
            <a:r>
              <a:rPr lang="en-US" altLang="zh-CN" sz="1800" dirty="0" smtClean="0">
                <a:latin typeface="Times New Roman" panose="02020603050405020304" pitchFamily="18" charset="0"/>
                <a:cs typeface="Times New Roman" panose="02020603050405020304" pitchFamily="18" charset="0"/>
              </a:rPr>
              <a:t>"</a:t>
            </a:r>
            <a:r>
              <a:rPr lang="en-US" sz="1800" dirty="0" smtClean="0">
                <a:latin typeface="Times New Roman" panose="02020603050405020304" pitchFamily="18" charset="0"/>
                <a:cs typeface="Times New Roman" panose="02020603050405020304" pitchFamily="18" charset="0"/>
              </a:rPr>
              <a:t>title":"Web </a:t>
            </a:r>
            <a:r>
              <a:rPr lang="zh-CN" altLang="en-US" sz="1800" dirty="0" smtClean="0">
                <a:latin typeface="Times New Roman" panose="02020603050405020304" pitchFamily="18" charset="0"/>
                <a:cs typeface="Times New Roman" panose="02020603050405020304" pitchFamily="18" charset="0"/>
              </a:rPr>
              <a:t>开发</a:t>
            </a:r>
            <a:r>
              <a:rPr lang="en-US" altLang="zh-CN" sz="1800" dirty="0" smtClean="0">
                <a:latin typeface="Times New Roman" panose="02020603050405020304" pitchFamily="18" charset="0"/>
                <a:cs typeface="Times New Roman" panose="02020603050405020304" pitchFamily="18" charset="0"/>
              </a:rPr>
              <a:t>",</a:t>
            </a:r>
            <a:br>
              <a:rPr lang="zh-CN" altLang="en-US" sz="1800" dirty="0" smtClean="0">
                <a:latin typeface="Times New Roman" panose="02020603050405020304" pitchFamily="18" charset="0"/>
                <a:cs typeface="Times New Roman" panose="02020603050405020304" pitchFamily="18" charset="0"/>
              </a:rPr>
            </a:br>
            <a:r>
              <a:rPr lang="zh-CN" altLang="en-US" sz="1800" dirty="0" smtClean="0">
                <a:latin typeface="Times New Roman" panose="02020603050405020304" pitchFamily="18" charset="0"/>
                <a:cs typeface="Times New Roman" panose="02020603050405020304" pitchFamily="18" charset="0"/>
              </a:rPr>
              <a:t>　　　　</a:t>
            </a:r>
            <a:r>
              <a:rPr lang="en-US" altLang="zh-CN" sz="1800" dirty="0" smtClean="0">
                <a:latin typeface="Times New Roman" panose="02020603050405020304" pitchFamily="18" charset="0"/>
                <a:cs typeface="Times New Roman" panose="02020603050405020304" pitchFamily="18" charset="0"/>
              </a:rPr>
              <a:t>"</a:t>
            </a:r>
            <a:r>
              <a:rPr lang="en-US" sz="1800" dirty="0" smtClean="0">
                <a:latin typeface="Times New Roman" panose="02020603050405020304" pitchFamily="18" charset="0"/>
                <a:cs typeface="Times New Roman" panose="02020603050405020304" pitchFamily="18" charset="0"/>
              </a:rPr>
              <a:t>edition":3,</a:t>
            </a:r>
            <a:br>
              <a:rPr lang="en-US" sz="1800" dirty="0" smtClean="0">
                <a:latin typeface="Times New Roman" panose="02020603050405020304" pitchFamily="18" charset="0"/>
                <a:cs typeface="Times New Roman" panose="02020603050405020304" pitchFamily="18" charset="0"/>
              </a:rPr>
            </a:br>
            <a:r>
              <a:rPr lang="en-US" sz="1800" dirty="0" smtClean="0">
                <a:latin typeface="Times New Roman" panose="02020603050405020304" pitchFamily="18" charset="0"/>
                <a:cs typeface="Times New Roman" panose="02020603050405020304" pitchFamily="18" charset="0"/>
              </a:rPr>
              <a:t>　　　　"author":["Allen","</a:t>
            </a:r>
            <a:r>
              <a:rPr lang="zh-CN" altLang="en-US" sz="1800" dirty="0" smtClean="0">
                <a:latin typeface="Times New Roman" panose="02020603050405020304" pitchFamily="18" charset="0"/>
                <a:cs typeface="Times New Roman" panose="02020603050405020304" pitchFamily="18" charset="0"/>
              </a:rPr>
              <a:t>王五</a:t>
            </a:r>
            <a:r>
              <a:rPr lang="en-US" altLang="zh-CN" sz="1800" dirty="0" smtClean="0">
                <a:latin typeface="Times New Roman" panose="02020603050405020304" pitchFamily="18" charset="0"/>
                <a:cs typeface="Times New Roman" panose="02020603050405020304" pitchFamily="18" charset="0"/>
              </a:rPr>
              <a:t>","</a:t>
            </a:r>
            <a:r>
              <a:rPr lang="zh-CN" altLang="en-US" sz="1800" dirty="0" smtClean="0">
                <a:latin typeface="Times New Roman" panose="02020603050405020304" pitchFamily="18" charset="0"/>
                <a:cs typeface="Times New Roman" panose="02020603050405020304" pitchFamily="18" charset="0"/>
              </a:rPr>
              <a:t>赵六</a:t>
            </a:r>
            <a:r>
              <a:rPr lang="en-US" altLang="zh-CN" sz="1800" dirty="0" smtClean="0">
                <a:latin typeface="Times New Roman" panose="02020603050405020304" pitchFamily="18" charset="0"/>
                <a:cs typeface="Times New Roman" panose="02020603050405020304" pitchFamily="18" charset="0"/>
              </a:rPr>
              <a:t>"]</a:t>
            </a:r>
            <a:br>
              <a:rPr lang="zh-CN" altLang="en-US" sz="1800" dirty="0" smtClean="0">
                <a:latin typeface="Times New Roman" panose="02020603050405020304" pitchFamily="18" charset="0"/>
                <a:cs typeface="Times New Roman" panose="02020603050405020304" pitchFamily="18" charset="0"/>
              </a:rPr>
            </a:br>
            <a:r>
              <a:rPr lang="zh-CN" altLang="en-US" sz="1800" dirty="0" smtClean="0">
                <a:latin typeface="Times New Roman" panose="02020603050405020304" pitchFamily="18" charset="0"/>
                <a:cs typeface="Times New Roman" panose="02020603050405020304" pitchFamily="18" charset="0"/>
              </a:rPr>
              <a:t>　　</a:t>
            </a:r>
            <a:r>
              <a:rPr lang="en-US" altLang="zh-CN" sz="1800" dirty="0" smtClean="0">
                <a:latin typeface="Times New Roman" panose="02020603050405020304" pitchFamily="18" charset="0"/>
                <a:cs typeface="Times New Roman" panose="02020603050405020304" pitchFamily="18" charset="0"/>
              </a:rPr>
              <a:t>}</a:t>
            </a:r>
            <a:br>
              <a:rPr lang="zh-CN" altLang="en-US" sz="1800" dirty="0" smtClean="0">
                <a:latin typeface="Times New Roman" panose="02020603050405020304" pitchFamily="18" charset="0"/>
                <a:cs typeface="Times New Roman" panose="02020603050405020304" pitchFamily="18" charset="0"/>
              </a:rPr>
            </a:br>
            <a:r>
              <a:rPr lang="en-US" altLang="zh-CN" sz="1800" dirty="0" smtClean="0">
                <a:solidFill>
                  <a:srgbClr val="FF0000"/>
                </a:solidFill>
                <a:latin typeface="Times New Roman" panose="02020603050405020304" pitchFamily="18" charset="0"/>
                <a:cs typeface="Times New Roman" panose="02020603050405020304" pitchFamily="18" charset="0"/>
              </a:rPr>
              <a:t>]</a:t>
            </a:r>
            <a:endParaRPr lang="en-US" altLang="zh-CN" sz="1800" b="1" dirty="0" smtClean="0">
              <a:solidFill>
                <a:srgbClr val="FF0000"/>
              </a:solidFill>
              <a:latin typeface="Times New Roman" panose="02020603050405020304" pitchFamily="18" charset="0"/>
              <a:cs typeface="Times New Roman" panose="02020603050405020304" pitchFamily="18" charset="0"/>
            </a:endParaRPr>
          </a:p>
        </p:txBody>
      </p:sp>
      <p:sp>
        <p:nvSpPr>
          <p:cNvPr id="16" name="圆角矩形 15"/>
          <p:cNvSpPr/>
          <p:nvPr/>
        </p:nvSpPr>
        <p:spPr>
          <a:xfrm>
            <a:off x="419100" y="2203450"/>
            <a:ext cx="2997200" cy="3606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2400" b="1" dirty="0" smtClean="0">
                <a:solidFill>
                  <a:srgbClr val="FF0000"/>
                </a:solidFill>
                <a:latin typeface="Times New Roman" panose="02020603050405020304" pitchFamily="18" charset="0"/>
                <a:cs typeface="Times New Roman" panose="02020603050405020304" pitchFamily="18" charset="0"/>
              </a:rPr>
              <a:t>Demo</a:t>
            </a:r>
            <a:r>
              <a:rPr lang="en-US" sz="2400" b="1" dirty="0" smtClean="0">
                <a:latin typeface="Times New Roman" panose="02020603050405020304" pitchFamily="18" charset="0"/>
                <a:cs typeface="Times New Roman" panose="02020603050405020304" pitchFamily="18" charset="0"/>
              </a:rPr>
              <a:t>:</a:t>
            </a:r>
            <a:r>
              <a:rPr lang="en-US" sz="2400" dirty="0" smtClean="0">
                <a:latin typeface="Times New Roman" panose="02020603050405020304" pitchFamily="18" charset="0"/>
                <a:cs typeface="Times New Roman" panose="02020603050405020304" pitchFamily="18" charset="0"/>
              </a:rPr>
              <a:t> </a:t>
            </a:r>
            <a:r>
              <a:rPr lang="zh-CN" altLang="en-US" sz="2400" b="1" dirty="0" smtClean="0">
                <a:solidFill>
                  <a:srgbClr val="FF0000"/>
                </a:solidFill>
                <a:latin typeface="Times New Roman" panose="02020603050405020304" pitchFamily="18" charset="0"/>
                <a:cs typeface="Times New Roman" panose="02020603050405020304" pitchFamily="18" charset="0"/>
              </a:rPr>
              <a:t>对象数组</a:t>
            </a:r>
            <a:br>
              <a:rPr lang="zh-CN" altLang="en-US" sz="2400" b="1" dirty="0" smtClean="0">
                <a:solidFill>
                  <a:srgbClr val="FF0000"/>
                </a:solidFill>
                <a:latin typeface="Times New Roman" panose="02020603050405020304" pitchFamily="18" charset="0"/>
                <a:cs typeface="Times New Roman" panose="02020603050405020304" pitchFamily="18" charset="0"/>
              </a:rPr>
            </a:br>
            <a:r>
              <a:rPr lang="zh-CN" altLang="en-US" sz="2400" b="1" dirty="0" smtClean="0">
                <a:latin typeface="Times New Roman" panose="02020603050405020304" pitchFamily="18" charset="0"/>
                <a:cs typeface="Times New Roman" panose="02020603050405020304" pitchFamily="18" charset="0"/>
              </a:rPr>
              <a:t>在一个</a:t>
            </a:r>
            <a:r>
              <a:rPr lang="zh-CN" altLang="en-US" sz="2400" b="1" dirty="0" smtClean="0">
                <a:latin typeface="Times New Roman" panose="02020603050405020304" pitchFamily="18" charset="0"/>
                <a:cs typeface="Times New Roman" panose="02020603050405020304" pitchFamily="18" charset="0"/>
              </a:rPr>
              <a:t>数组中保存</a:t>
            </a:r>
            <a:r>
              <a:rPr lang="zh-CN" altLang="en-US" sz="2400" b="1" dirty="0" smtClean="0">
                <a:latin typeface="Times New Roman" panose="02020603050405020304" pitchFamily="18" charset="0"/>
                <a:cs typeface="Times New Roman" panose="02020603050405020304" pitchFamily="18" charset="0"/>
              </a:rPr>
              <a:t>多个 </a:t>
            </a:r>
            <a:r>
              <a:rPr lang="en-US" altLang="zh-CN" sz="2400" b="1" dirty="0" smtClean="0">
                <a:latin typeface="Times New Roman" panose="02020603050405020304" pitchFamily="18" charset="0"/>
                <a:cs typeface="Times New Roman" panose="02020603050405020304" pitchFamily="18" charset="0"/>
              </a:rPr>
              <a:t>JSON</a:t>
            </a:r>
            <a:r>
              <a:rPr lang="en-US"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对象 </a:t>
            </a:r>
            <a:br>
              <a:rPr lang="zh-CN" altLang="en-US" sz="2400" dirty="0" smtClean="0">
                <a:latin typeface="Times New Roman" panose="02020603050405020304" pitchFamily="18" charset="0"/>
                <a:cs typeface="Times New Roman" panose="02020603050405020304" pitchFamily="18" charset="0"/>
              </a:rPr>
            </a:br>
            <a:endParaRPr lang="en-US" altLang="zh-CN" sz="2400" b="1" dirty="0" smtClean="0">
              <a:latin typeface="Times New Roman" panose="02020603050405020304" pitchFamily="18" charset="0"/>
              <a:cs typeface="Times New Roman" panose="02020603050405020304" pitchFamily="18" charset="0"/>
            </a:endParaRPr>
          </a:p>
        </p:txBody>
      </p:sp>
    </p:spTree>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p:cTn id="13" dur="500" fill="hold"/>
                                        <p:tgtEl>
                                          <p:spTgt spid="20"/>
                                        </p:tgtEl>
                                        <p:attrNameLst>
                                          <p:attrName>ppt_w</p:attrName>
                                        </p:attrNameLst>
                                      </p:cBhvr>
                                      <p:tavLst>
                                        <p:tav tm="0">
                                          <p:val>
                                            <p:fltVal val="0"/>
                                          </p:val>
                                        </p:tav>
                                        <p:tav tm="100000">
                                          <p:val>
                                            <p:strVal val="#ppt_w"/>
                                          </p:val>
                                        </p:tav>
                                      </p:tavLst>
                                    </p:anim>
                                    <p:anim calcmode="lin" valueType="num">
                                      <p:cBhvr>
                                        <p:cTn id="14" dur="500" fill="hold"/>
                                        <p:tgtEl>
                                          <p:spTgt spid="20"/>
                                        </p:tgtEl>
                                        <p:attrNameLst>
                                          <p:attrName>ppt_h</p:attrName>
                                        </p:attrNameLst>
                                      </p:cBhvr>
                                      <p:tavLst>
                                        <p:tav tm="0">
                                          <p:val>
                                            <p:fltVal val="0"/>
                                          </p:val>
                                        </p:tav>
                                        <p:tav tm="100000">
                                          <p:val>
                                            <p:strVal val="#ppt_h"/>
                                          </p:val>
                                        </p:tav>
                                      </p:tavLst>
                                    </p:anim>
                                    <p:animEffect transition="in" filter="fade">
                                      <p:cBhvr>
                                        <p:cTn id="15" dur="500"/>
                                        <p:tgtEl>
                                          <p:spTgt spid="20"/>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500" fill="hold"/>
                                        <p:tgtEl>
                                          <p:spTgt spid="21"/>
                                        </p:tgtEl>
                                        <p:attrNameLst>
                                          <p:attrName>ppt_w</p:attrName>
                                        </p:attrNameLst>
                                      </p:cBhvr>
                                      <p:tavLst>
                                        <p:tav tm="0">
                                          <p:val>
                                            <p:fltVal val="0"/>
                                          </p:val>
                                        </p:tav>
                                        <p:tav tm="100000">
                                          <p:val>
                                            <p:strVal val="#ppt_w"/>
                                          </p:val>
                                        </p:tav>
                                      </p:tavLst>
                                    </p:anim>
                                    <p:anim calcmode="lin" valueType="num">
                                      <p:cBhvr>
                                        <p:cTn id="20" dur="500" fill="hold"/>
                                        <p:tgtEl>
                                          <p:spTgt spid="21"/>
                                        </p:tgtEl>
                                        <p:attrNameLst>
                                          <p:attrName>ppt_h</p:attrName>
                                        </p:attrNameLst>
                                      </p:cBhvr>
                                      <p:tavLst>
                                        <p:tav tm="0">
                                          <p:val>
                                            <p:fltVal val="0"/>
                                          </p:val>
                                        </p:tav>
                                        <p:tav tm="100000">
                                          <p:val>
                                            <p:strVal val="#ppt_h"/>
                                          </p:val>
                                        </p:tav>
                                      </p:tavLst>
                                    </p:anim>
                                    <p:animEffect transition="in" filter="fade">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flipH="1">
            <a:off x="5523803" y="-41991"/>
            <a:ext cx="2901652" cy="2901652"/>
          </a:xfrm>
          <a:prstGeom prst="line">
            <a:avLst/>
          </a:prstGeom>
          <a:ln w="25400">
            <a:solidFill>
              <a:srgbClr val="F7BA3B"/>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7668344" y="620688"/>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7596336" y="1988840"/>
            <a:ext cx="1979712" cy="1979712"/>
          </a:xfrm>
          <a:prstGeom prst="line">
            <a:avLst/>
          </a:prstGeom>
          <a:ln w="25400">
            <a:solidFill>
              <a:srgbClr val="DA634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6948264" y="4653136"/>
            <a:ext cx="1656184" cy="1656184"/>
          </a:xfrm>
          <a:prstGeom prst="line">
            <a:avLst/>
          </a:prstGeom>
          <a:ln w="25400">
            <a:solidFill>
              <a:srgbClr val="2FB6A8"/>
            </a:solidFill>
            <a:headEnd type="triangle"/>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5292080" y="5517232"/>
            <a:ext cx="767730" cy="767730"/>
          </a:xfrm>
          <a:prstGeom prst="line">
            <a:avLst/>
          </a:prstGeom>
          <a:ln w="25400">
            <a:solidFill>
              <a:srgbClr val="DA634F"/>
            </a:solidFill>
            <a:head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6256186" y="3035885"/>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 name="组合 14"/>
          <p:cNvGrpSpPr/>
          <p:nvPr/>
        </p:nvGrpSpPr>
        <p:grpSpPr>
          <a:xfrm>
            <a:off x="359467" y="872056"/>
            <a:ext cx="702417" cy="702417"/>
            <a:chOff x="2921917" y="2223151"/>
            <a:chExt cx="1527064" cy="1527064"/>
          </a:xfrm>
        </p:grpSpPr>
        <p:grpSp>
          <p:nvGrpSpPr>
            <p:cNvPr id="3" name="组合 15"/>
            <p:cNvGrpSpPr/>
            <p:nvPr/>
          </p:nvGrpSpPr>
          <p:grpSpPr>
            <a:xfrm>
              <a:off x="2921917" y="2223151"/>
              <a:ext cx="1527064" cy="1527064"/>
              <a:chOff x="1200760" y="3842075"/>
              <a:chExt cx="1784148" cy="1784148"/>
            </a:xfrm>
          </p:grpSpPr>
          <p:sp>
            <p:nvSpPr>
              <p:cNvPr id="18" name="椭圆 17"/>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sp>
            <p:nvSpPr>
              <p:cNvPr id="19" name="椭圆 18"/>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grpSp>
        <p:sp>
          <p:nvSpPr>
            <p:cNvPr id="17" name="文本框 168"/>
            <p:cNvSpPr txBox="1"/>
            <p:nvPr/>
          </p:nvSpPr>
          <p:spPr>
            <a:xfrm>
              <a:off x="2921917" y="2490948"/>
              <a:ext cx="1415526" cy="1134770"/>
            </a:xfrm>
            <a:prstGeom prst="rect">
              <a:avLst/>
            </a:prstGeom>
            <a:noFill/>
          </p:spPr>
          <p:txBody>
            <a:bodyPr wrap="square" rtlCol="0">
              <a:spAutoFit/>
            </a:bodyPr>
            <a:lstStyle/>
            <a:p>
              <a:pPr algn="ctr">
                <a:defRPr/>
              </a:pPr>
              <a:r>
                <a:rPr lang="en-US" altLang="zh-CN" sz="2800" dirty="0" smtClean="0">
                  <a:solidFill>
                    <a:prstClr val="white"/>
                  </a:solidFill>
                  <a:latin typeface="微软雅黑" panose="020B0503020204020204" pitchFamily="34" charset="-122"/>
                  <a:ea typeface="微软雅黑" panose="020B0503020204020204" pitchFamily="34" charset="-122"/>
                </a:rPr>
                <a:t>02</a:t>
              </a:r>
              <a:endParaRPr lang="zh-CN" altLang="en-US" sz="2800" dirty="0">
                <a:solidFill>
                  <a:prstClr val="white"/>
                </a:solidFill>
                <a:latin typeface="微软雅黑" panose="020B0503020204020204" pitchFamily="34" charset="-122"/>
                <a:ea typeface="微软雅黑" panose="020B0503020204020204" pitchFamily="34" charset="-122"/>
              </a:endParaRPr>
            </a:p>
          </p:txBody>
        </p:sp>
      </p:grpSp>
      <p:sp>
        <p:nvSpPr>
          <p:cNvPr id="20" name="文本框 6"/>
          <p:cNvSpPr txBox="1"/>
          <p:nvPr/>
        </p:nvSpPr>
        <p:spPr>
          <a:xfrm>
            <a:off x="1349815" y="1002856"/>
            <a:ext cx="5304985"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11.2 </a:t>
            </a:r>
            <a:r>
              <a:rPr lang="zh-CN" altLang="en-US" sz="2400" b="1" dirty="0" smtClean="0">
                <a:solidFill>
                  <a:prstClr val="white"/>
                </a:solidFill>
                <a:latin typeface="微软雅黑" panose="020B0503020204020204" pitchFamily="34" charset="-122"/>
                <a:ea typeface="微软雅黑" panose="020B0503020204020204" pitchFamily="34" charset="-122"/>
              </a:rPr>
              <a:t>服务器</a:t>
            </a:r>
            <a:r>
              <a:rPr lang="zh-CN" altLang="en-US" sz="2400" b="1" dirty="0" smtClean="0">
                <a:solidFill>
                  <a:prstClr val="white"/>
                </a:solidFill>
                <a:latin typeface="微软雅黑" panose="020B0503020204020204" pitchFamily="34" charset="-122"/>
                <a:ea typeface="微软雅黑" panose="020B0503020204020204" pitchFamily="34" charset="-122"/>
              </a:rPr>
              <a:t>端生成 </a:t>
            </a:r>
            <a:r>
              <a:rPr lang="en-US" altLang="zh-CN" sz="2400" b="1" dirty="0" smtClean="0">
                <a:solidFill>
                  <a:prstClr val="white"/>
                </a:solidFill>
                <a:latin typeface="微软雅黑" panose="020B0503020204020204" pitchFamily="34" charset="-122"/>
                <a:ea typeface="微软雅黑" panose="020B0503020204020204" pitchFamily="34" charset="-122"/>
              </a:rPr>
              <a:t>JSON </a:t>
            </a:r>
            <a:r>
              <a:rPr lang="zh-CN" altLang="en-US" sz="2400" b="1" dirty="0" smtClean="0">
                <a:solidFill>
                  <a:prstClr val="white"/>
                </a:solidFill>
                <a:latin typeface="微软雅黑" panose="020B0503020204020204" pitchFamily="34" charset="-122"/>
                <a:ea typeface="微软雅黑" panose="020B0503020204020204" pitchFamily="34" charset="-122"/>
              </a:rPr>
              <a:t>数据</a:t>
            </a:r>
            <a:endParaRPr lang="zh-CN" altLang="en-US" sz="2400" dirty="0">
              <a:solidFill>
                <a:prstClr val="white"/>
              </a:solidFill>
              <a:latin typeface="微软雅黑" panose="020B0503020204020204" pitchFamily="34" charset="-122"/>
              <a:ea typeface="微软雅黑" panose="020B0503020204020204" pitchFamily="34" charset="-122"/>
            </a:endParaRPr>
          </a:p>
        </p:txBody>
      </p:sp>
      <p:pic>
        <p:nvPicPr>
          <p:cNvPr id="2050" name="Picture 2"/>
          <p:cNvPicPr>
            <a:picLocks noChangeAspect="1" noChangeArrowheads="1"/>
          </p:cNvPicPr>
          <p:nvPr/>
        </p:nvPicPr>
        <p:blipFill>
          <a:blip r:embed="rId1"/>
          <a:srcRect/>
          <a:stretch>
            <a:fillRect/>
          </a:stretch>
        </p:blipFill>
        <p:spPr bwMode="auto">
          <a:xfrm>
            <a:off x="1049338" y="1685924"/>
            <a:ext cx="7136266" cy="4048125"/>
          </a:xfrm>
          <a:prstGeom prst="rect">
            <a:avLst/>
          </a:prstGeom>
          <a:noFill/>
          <a:ln w="9525">
            <a:noFill/>
            <a:miter lim="800000"/>
            <a:headEnd/>
            <a:tailEnd/>
          </a:ln>
          <a:effectLst/>
        </p:spPr>
      </p:pic>
    </p:spTree>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p:cTn id="13" dur="500" fill="hold"/>
                                        <p:tgtEl>
                                          <p:spTgt spid="20"/>
                                        </p:tgtEl>
                                        <p:attrNameLst>
                                          <p:attrName>ppt_w</p:attrName>
                                        </p:attrNameLst>
                                      </p:cBhvr>
                                      <p:tavLst>
                                        <p:tav tm="0">
                                          <p:val>
                                            <p:fltVal val="0"/>
                                          </p:val>
                                        </p:tav>
                                        <p:tav tm="100000">
                                          <p:val>
                                            <p:strVal val="#ppt_w"/>
                                          </p:val>
                                        </p:tav>
                                      </p:tavLst>
                                    </p:anim>
                                    <p:anim calcmode="lin" valueType="num">
                                      <p:cBhvr>
                                        <p:cTn id="14" dur="500" fill="hold"/>
                                        <p:tgtEl>
                                          <p:spTgt spid="20"/>
                                        </p:tgtEl>
                                        <p:attrNameLst>
                                          <p:attrName>ppt_h</p:attrName>
                                        </p:attrNameLst>
                                      </p:cBhvr>
                                      <p:tavLst>
                                        <p:tav tm="0">
                                          <p:val>
                                            <p:fltVal val="0"/>
                                          </p:val>
                                        </p:tav>
                                        <p:tav tm="100000">
                                          <p:val>
                                            <p:strVal val="#ppt_h"/>
                                          </p:val>
                                        </p:tav>
                                      </p:tavLst>
                                    </p:anim>
                                    <p:animEffect transition="in" filter="fade">
                                      <p:cBhvr>
                                        <p:cTn id="1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flipH="1">
            <a:off x="5523803" y="-41991"/>
            <a:ext cx="2901652" cy="2901652"/>
          </a:xfrm>
          <a:prstGeom prst="line">
            <a:avLst/>
          </a:prstGeom>
          <a:ln w="25400">
            <a:solidFill>
              <a:srgbClr val="F7BA3B"/>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7668344" y="620688"/>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7596336" y="1988840"/>
            <a:ext cx="1979712" cy="1979712"/>
          </a:xfrm>
          <a:prstGeom prst="line">
            <a:avLst/>
          </a:prstGeom>
          <a:ln w="25400">
            <a:solidFill>
              <a:srgbClr val="DA634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6948264" y="4653136"/>
            <a:ext cx="1656184" cy="1656184"/>
          </a:xfrm>
          <a:prstGeom prst="line">
            <a:avLst/>
          </a:prstGeom>
          <a:ln w="25400">
            <a:solidFill>
              <a:srgbClr val="2FB6A8"/>
            </a:solidFill>
            <a:headEnd type="triangle"/>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5292080" y="5517232"/>
            <a:ext cx="767730" cy="767730"/>
          </a:xfrm>
          <a:prstGeom prst="line">
            <a:avLst/>
          </a:prstGeom>
          <a:ln w="25400">
            <a:solidFill>
              <a:srgbClr val="DA634F"/>
            </a:solidFill>
            <a:head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6256186" y="3035885"/>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 name="组合 14"/>
          <p:cNvGrpSpPr/>
          <p:nvPr/>
        </p:nvGrpSpPr>
        <p:grpSpPr>
          <a:xfrm>
            <a:off x="359467" y="872056"/>
            <a:ext cx="702417" cy="702417"/>
            <a:chOff x="2921917" y="2223151"/>
            <a:chExt cx="1527064" cy="1527064"/>
          </a:xfrm>
        </p:grpSpPr>
        <p:grpSp>
          <p:nvGrpSpPr>
            <p:cNvPr id="3" name="组合 15"/>
            <p:cNvGrpSpPr/>
            <p:nvPr/>
          </p:nvGrpSpPr>
          <p:grpSpPr>
            <a:xfrm>
              <a:off x="2921917" y="2223151"/>
              <a:ext cx="1527064" cy="1527064"/>
              <a:chOff x="1200760" y="3842075"/>
              <a:chExt cx="1784148" cy="1784148"/>
            </a:xfrm>
          </p:grpSpPr>
          <p:sp>
            <p:nvSpPr>
              <p:cNvPr id="18" name="椭圆 17"/>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sp>
            <p:nvSpPr>
              <p:cNvPr id="19" name="椭圆 18"/>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grpSp>
        <p:sp>
          <p:nvSpPr>
            <p:cNvPr id="17" name="文本框 168"/>
            <p:cNvSpPr txBox="1"/>
            <p:nvPr/>
          </p:nvSpPr>
          <p:spPr>
            <a:xfrm>
              <a:off x="2921917" y="2490948"/>
              <a:ext cx="1415526" cy="1134770"/>
            </a:xfrm>
            <a:prstGeom prst="rect">
              <a:avLst/>
            </a:prstGeom>
            <a:noFill/>
          </p:spPr>
          <p:txBody>
            <a:bodyPr wrap="square" rtlCol="0">
              <a:spAutoFit/>
            </a:bodyPr>
            <a:lstStyle/>
            <a:p>
              <a:pPr algn="ctr">
                <a:defRPr/>
              </a:pPr>
              <a:r>
                <a:rPr lang="en-US" altLang="zh-CN" sz="2800" dirty="0" smtClean="0">
                  <a:solidFill>
                    <a:prstClr val="white"/>
                  </a:solidFill>
                  <a:latin typeface="微软雅黑" panose="020B0503020204020204" pitchFamily="34" charset="-122"/>
                  <a:ea typeface="微软雅黑" panose="020B0503020204020204" pitchFamily="34" charset="-122"/>
                </a:rPr>
                <a:t>02</a:t>
              </a:r>
              <a:endParaRPr lang="zh-CN" altLang="en-US" sz="2800" dirty="0">
                <a:solidFill>
                  <a:prstClr val="white"/>
                </a:solidFill>
                <a:latin typeface="微软雅黑" panose="020B0503020204020204" pitchFamily="34" charset="-122"/>
                <a:ea typeface="微软雅黑" panose="020B0503020204020204" pitchFamily="34" charset="-122"/>
              </a:endParaRPr>
            </a:p>
          </p:txBody>
        </p:sp>
      </p:grpSp>
      <p:sp>
        <p:nvSpPr>
          <p:cNvPr id="20" name="文本框 6"/>
          <p:cNvSpPr txBox="1"/>
          <p:nvPr/>
        </p:nvSpPr>
        <p:spPr>
          <a:xfrm>
            <a:off x="1349815" y="1002856"/>
            <a:ext cx="5673285"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11.2 </a:t>
            </a:r>
            <a:r>
              <a:rPr lang="zh-CN" altLang="en-US" sz="2400" b="1" dirty="0" smtClean="0">
                <a:solidFill>
                  <a:prstClr val="white"/>
                </a:solidFill>
                <a:latin typeface="微软雅黑" panose="020B0503020204020204" pitchFamily="34" charset="-122"/>
                <a:ea typeface="微软雅黑" panose="020B0503020204020204" pitchFamily="34" charset="-122"/>
              </a:rPr>
              <a:t>服务器端生成 </a:t>
            </a:r>
            <a:r>
              <a:rPr lang="en-US" altLang="zh-CN" sz="2400" b="1" dirty="0" smtClean="0">
                <a:solidFill>
                  <a:prstClr val="white"/>
                </a:solidFill>
                <a:latin typeface="微软雅黑" panose="020B0503020204020204" pitchFamily="34" charset="-122"/>
                <a:ea typeface="微软雅黑" panose="020B0503020204020204" pitchFamily="34" charset="-122"/>
              </a:rPr>
              <a:t>JSON </a:t>
            </a:r>
            <a:r>
              <a:rPr lang="zh-CN" altLang="en-US" sz="2400" b="1" dirty="0" smtClean="0">
                <a:solidFill>
                  <a:prstClr val="white"/>
                </a:solidFill>
                <a:latin typeface="微软雅黑" panose="020B0503020204020204" pitchFamily="34" charset="-122"/>
                <a:ea typeface="微软雅黑" panose="020B0503020204020204" pitchFamily="34" charset="-122"/>
              </a:rPr>
              <a:t>数据</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15" name="文本框 6"/>
          <p:cNvSpPr txBox="1"/>
          <p:nvPr/>
        </p:nvSpPr>
        <p:spPr>
          <a:xfrm>
            <a:off x="1349815" y="1536256"/>
            <a:ext cx="3831785"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a:t>
            </a:r>
            <a:r>
              <a:rPr lang="en-US" altLang="zh-CN" sz="2400" b="1" dirty="0" smtClean="0">
                <a:solidFill>
                  <a:prstClr val="white"/>
                </a:solidFill>
                <a:latin typeface="微软雅黑" panose="020B0503020204020204" pitchFamily="34" charset="-122"/>
                <a:ea typeface="微软雅黑" panose="020B0503020204020204" pitchFamily="34" charset="-122"/>
              </a:rPr>
              <a:t>.2.1 </a:t>
            </a:r>
            <a:r>
              <a:rPr lang="zh-CN" altLang="en-US" sz="2400" b="1" dirty="0" smtClean="0">
                <a:solidFill>
                  <a:prstClr val="white"/>
                </a:solidFill>
                <a:latin typeface="微软雅黑" panose="020B0503020204020204" pitchFamily="34" charset="-122"/>
                <a:ea typeface="微软雅黑" panose="020B0503020204020204" pitchFamily="34" charset="-122"/>
              </a:rPr>
              <a:t>浏览器调用</a:t>
            </a:r>
            <a:endParaRPr lang="zh-CN" altLang="en-US" sz="2400" dirty="0">
              <a:solidFill>
                <a:prstClr val="white"/>
              </a:solidFill>
              <a:latin typeface="微软雅黑" panose="020B0503020204020204" pitchFamily="34" charset="-122"/>
              <a:ea typeface="微软雅黑" panose="020B0503020204020204" pitchFamily="34" charset="-122"/>
            </a:endParaRPr>
          </a:p>
        </p:txBody>
      </p:sp>
      <p:pic>
        <p:nvPicPr>
          <p:cNvPr id="3074" name="Picture 2"/>
          <p:cNvPicPr>
            <a:picLocks noChangeAspect="1" noChangeArrowheads="1"/>
          </p:cNvPicPr>
          <p:nvPr/>
        </p:nvPicPr>
        <p:blipFill>
          <a:blip r:embed="rId1"/>
          <a:srcRect/>
          <a:stretch>
            <a:fillRect/>
          </a:stretch>
        </p:blipFill>
        <p:spPr bwMode="auto">
          <a:xfrm>
            <a:off x="501650" y="2184400"/>
            <a:ext cx="8121147" cy="3460750"/>
          </a:xfrm>
          <a:prstGeom prst="rect">
            <a:avLst/>
          </a:prstGeom>
          <a:noFill/>
          <a:ln w="9525">
            <a:noFill/>
            <a:miter lim="800000"/>
            <a:headEnd/>
            <a:tailEnd/>
          </a:ln>
          <a:effectLst/>
        </p:spPr>
      </p:pic>
    </p:spTree>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p:cTn id="13" dur="500" fill="hold"/>
                                        <p:tgtEl>
                                          <p:spTgt spid="20"/>
                                        </p:tgtEl>
                                        <p:attrNameLst>
                                          <p:attrName>ppt_w</p:attrName>
                                        </p:attrNameLst>
                                      </p:cBhvr>
                                      <p:tavLst>
                                        <p:tav tm="0">
                                          <p:val>
                                            <p:fltVal val="0"/>
                                          </p:val>
                                        </p:tav>
                                        <p:tav tm="100000">
                                          <p:val>
                                            <p:strVal val="#ppt_w"/>
                                          </p:val>
                                        </p:tav>
                                      </p:tavLst>
                                    </p:anim>
                                    <p:anim calcmode="lin" valueType="num">
                                      <p:cBhvr>
                                        <p:cTn id="14" dur="500" fill="hold"/>
                                        <p:tgtEl>
                                          <p:spTgt spid="20"/>
                                        </p:tgtEl>
                                        <p:attrNameLst>
                                          <p:attrName>ppt_h</p:attrName>
                                        </p:attrNameLst>
                                      </p:cBhvr>
                                      <p:tavLst>
                                        <p:tav tm="0">
                                          <p:val>
                                            <p:fltVal val="0"/>
                                          </p:val>
                                        </p:tav>
                                        <p:tav tm="100000">
                                          <p:val>
                                            <p:strVal val="#ppt_h"/>
                                          </p:val>
                                        </p:tav>
                                      </p:tavLst>
                                    </p:anim>
                                    <p:animEffect transition="in" filter="fade">
                                      <p:cBhvr>
                                        <p:cTn id="15" dur="500"/>
                                        <p:tgtEl>
                                          <p:spTgt spid="20"/>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p:cTn id="19" dur="500" fill="hold"/>
                                        <p:tgtEl>
                                          <p:spTgt spid="15"/>
                                        </p:tgtEl>
                                        <p:attrNameLst>
                                          <p:attrName>ppt_w</p:attrName>
                                        </p:attrNameLst>
                                      </p:cBhvr>
                                      <p:tavLst>
                                        <p:tav tm="0">
                                          <p:val>
                                            <p:fltVal val="0"/>
                                          </p:val>
                                        </p:tav>
                                        <p:tav tm="100000">
                                          <p:val>
                                            <p:strVal val="#ppt_w"/>
                                          </p:val>
                                        </p:tav>
                                      </p:tavLst>
                                    </p:anim>
                                    <p:anim calcmode="lin" valueType="num">
                                      <p:cBhvr>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flipH="1">
            <a:off x="5523803" y="-41991"/>
            <a:ext cx="2901652" cy="2901652"/>
          </a:xfrm>
          <a:prstGeom prst="line">
            <a:avLst/>
          </a:prstGeom>
          <a:ln w="25400">
            <a:solidFill>
              <a:srgbClr val="F7BA3B"/>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7668344" y="620688"/>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7596336" y="1988840"/>
            <a:ext cx="1979712" cy="1979712"/>
          </a:xfrm>
          <a:prstGeom prst="line">
            <a:avLst/>
          </a:prstGeom>
          <a:ln w="25400">
            <a:solidFill>
              <a:srgbClr val="DA634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6948264" y="4653136"/>
            <a:ext cx="1656184" cy="1656184"/>
          </a:xfrm>
          <a:prstGeom prst="line">
            <a:avLst/>
          </a:prstGeom>
          <a:ln w="25400">
            <a:solidFill>
              <a:srgbClr val="2FB6A8"/>
            </a:solidFill>
            <a:headEnd type="triangle"/>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5292080" y="5517232"/>
            <a:ext cx="767730" cy="767730"/>
          </a:xfrm>
          <a:prstGeom prst="line">
            <a:avLst/>
          </a:prstGeom>
          <a:ln w="25400">
            <a:solidFill>
              <a:srgbClr val="DA634F"/>
            </a:solidFill>
            <a:head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6256186" y="3035885"/>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 name="组合 14"/>
          <p:cNvGrpSpPr/>
          <p:nvPr/>
        </p:nvGrpSpPr>
        <p:grpSpPr>
          <a:xfrm>
            <a:off x="359467" y="872056"/>
            <a:ext cx="702417" cy="702417"/>
            <a:chOff x="2921917" y="2223151"/>
            <a:chExt cx="1527064" cy="1527064"/>
          </a:xfrm>
        </p:grpSpPr>
        <p:grpSp>
          <p:nvGrpSpPr>
            <p:cNvPr id="3" name="组合 15"/>
            <p:cNvGrpSpPr/>
            <p:nvPr/>
          </p:nvGrpSpPr>
          <p:grpSpPr>
            <a:xfrm>
              <a:off x="2921917" y="2223151"/>
              <a:ext cx="1527064" cy="1527064"/>
              <a:chOff x="1200760" y="3842075"/>
              <a:chExt cx="1784148" cy="1784148"/>
            </a:xfrm>
          </p:grpSpPr>
          <p:sp>
            <p:nvSpPr>
              <p:cNvPr id="18" name="椭圆 17"/>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sp>
            <p:nvSpPr>
              <p:cNvPr id="19" name="椭圆 18"/>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grpSp>
        <p:sp>
          <p:nvSpPr>
            <p:cNvPr id="17" name="文本框 168"/>
            <p:cNvSpPr txBox="1"/>
            <p:nvPr/>
          </p:nvSpPr>
          <p:spPr>
            <a:xfrm>
              <a:off x="2921917" y="2490948"/>
              <a:ext cx="1415526" cy="1134770"/>
            </a:xfrm>
            <a:prstGeom prst="rect">
              <a:avLst/>
            </a:prstGeom>
            <a:noFill/>
          </p:spPr>
          <p:txBody>
            <a:bodyPr wrap="square" rtlCol="0">
              <a:spAutoFit/>
            </a:bodyPr>
            <a:lstStyle/>
            <a:p>
              <a:pPr algn="ctr">
                <a:defRPr/>
              </a:pPr>
              <a:r>
                <a:rPr lang="en-US" altLang="zh-CN" sz="2800" dirty="0" smtClean="0">
                  <a:solidFill>
                    <a:prstClr val="white"/>
                  </a:solidFill>
                  <a:latin typeface="微软雅黑" panose="020B0503020204020204" pitchFamily="34" charset="-122"/>
                  <a:ea typeface="微软雅黑" panose="020B0503020204020204" pitchFamily="34" charset="-122"/>
                </a:rPr>
                <a:t>02</a:t>
              </a:r>
              <a:endParaRPr lang="zh-CN" altLang="en-US" sz="2800" dirty="0">
                <a:solidFill>
                  <a:prstClr val="white"/>
                </a:solidFill>
                <a:latin typeface="微软雅黑" panose="020B0503020204020204" pitchFamily="34" charset="-122"/>
                <a:ea typeface="微软雅黑" panose="020B0503020204020204" pitchFamily="34" charset="-122"/>
              </a:endParaRPr>
            </a:p>
          </p:txBody>
        </p:sp>
      </p:grpSp>
      <p:sp>
        <p:nvSpPr>
          <p:cNvPr id="20" name="文本框 6"/>
          <p:cNvSpPr txBox="1"/>
          <p:nvPr/>
        </p:nvSpPr>
        <p:spPr>
          <a:xfrm>
            <a:off x="1349815" y="1002856"/>
            <a:ext cx="5673285"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11.2 </a:t>
            </a:r>
            <a:r>
              <a:rPr lang="zh-CN" altLang="en-US" sz="2400" b="1" dirty="0" smtClean="0">
                <a:solidFill>
                  <a:prstClr val="white"/>
                </a:solidFill>
                <a:latin typeface="微软雅黑" panose="020B0503020204020204" pitchFamily="34" charset="-122"/>
                <a:ea typeface="微软雅黑" panose="020B0503020204020204" pitchFamily="34" charset="-122"/>
              </a:rPr>
              <a:t>服务器端生成 </a:t>
            </a:r>
            <a:r>
              <a:rPr lang="en-US" altLang="zh-CN" sz="2400" b="1" dirty="0" smtClean="0">
                <a:solidFill>
                  <a:prstClr val="white"/>
                </a:solidFill>
                <a:latin typeface="微软雅黑" panose="020B0503020204020204" pitchFamily="34" charset="-122"/>
                <a:ea typeface="微软雅黑" panose="020B0503020204020204" pitchFamily="34" charset="-122"/>
              </a:rPr>
              <a:t>JSON </a:t>
            </a:r>
            <a:r>
              <a:rPr lang="zh-CN" altLang="en-US" sz="2400" b="1" dirty="0" smtClean="0">
                <a:solidFill>
                  <a:prstClr val="white"/>
                </a:solidFill>
                <a:latin typeface="微软雅黑" panose="020B0503020204020204" pitchFamily="34" charset="-122"/>
                <a:ea typeface="微软雅黑" panose="020B0503020204020204" pitchFamily="34" charset="-122"/>
              </a:rPr>
              <a:t>数据</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15" name="文本框 6"/>
          <p:cNvSpPr txBox="1"/>
          <p:nvPr/>
        </p:nvSpPr>
        <p:spPr>
          <a:xfrm>
            <a:off x="1349815" y="1536256"/>
            <a:ext cx="3831785"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a:t>
            </a:r>
            <a:r>
              <a:rPr lang="en-US" altLang="zh-CN" sz="2400" b="1" dirty="0" smtClean="0">
                <a:solidFill>
                  <a:prstClr val="white"/>
                </a:solidFill>
                <a:latin typeface="微软雅黑" panose="020B0503020204020204" pitchFamily="34" charset="-122"/>
                <a:ea typeface="微软雅黑" panose="020B0503020204020204" pitchFamily="34" charset="-122"/>
              </a:rPr>
              <a:t>.2.1 </a:t>
            </a:r>
            <a:r>
              <a:rPr lang="zh-CN" altLang="en-US" sz="2400" b="1" dirty="0" smtClean="0">
                <a:solidFill>
                  <a:prstClr val="white"/>
                </a:solidFill>
                <a:latin typeface="微软雅黑" panose="020B0503020204020204" pitchFamily="34" charset="-122"/>
                <a:ea typeface="微软雅黑" panose="020B0503020204020204" pitchFamily="34" charset="-122"/>
              </a:rPr>
              <a:t>浏览器调用</a:t>
            </a:r>
            <a:endParaRPr lang="zh-CN" altLang="en-US" sz="2400" dirty="0">
              <a:solidFill>
                <a:prstClr val="white"/>
              </a:solidFill>
              <a:latin typeface="微软雅黑" panose="020B0503020204020204" pitchFamily="34" charset="-122"/>
              <a:ea typeface="微软雅黑" panose="020B0503020204020204" pitchFamily="34" charset="-122"/>
            </a:endParaRPr>
          </a:p>
        </p:txBody>
      </p:sp>
      <p:pic>
        <p:nvPicPr>
          <p:cNvPr id="4098" name="Picture 2"/>
          <p:cNvPicPr>
            <a:picLocks noChangeAspect="1" noChangeArrowheads="1"/>
          </p:cNvPicPr>
          <p:nvPr/>
        </p:nvPicPr>
        <p:blipFill>
          <a:blip r:embed="rId1"/>
          <a:srcRect/>
          <a:stretch>
            <a:fillRect/>
          </a:stretch>
        </p:blipFill>
        <p:spPr bwMode="auto">
          <a:xfrm>
            <a:off x="563563" y="2176463"/>
            <a:ext cx="8061604" cy="3138487"/>
          </a:xfrm>
          <a:prstGeom prst="rect">
            <a:avLst/>
          </a:prstGeom>
          <a:noFill/>
          <a:ln w="9525">
            <a:noFill/>
            <a:miter lim="800000"/>
            <a:headEnd/>
            <a:tailEnd/>
          </a:ln>
          <a:effectLst/>
        </p:spPr>
      </p:pic>
    </p:spTree>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p:cTn id="13" dur="500" fill="hold"/>
                                        <p:tgtEl>
                                          <p:spTgt spid="20"/>
                                        </p:tgtEl>
                                        <p:attrNameLst>
                                          <p:attrName>ppt_w</p:attrName>
                                        </p:attrNameLst>
                                      </p:cBhvr>
                                      <p:tavLst>
                                        <p:tav tm="0">
                                          <p:val>
                                            <p:fltVal val="0"/>
                                          </p:val>
                                        </p:tav>
                                        <p:tav tm="100000">
                                          <p:val>
                                            <p:strVal val="#ppt_w"/>
                                          </p:val>
                                        </p:tav>
                                      </p:tavLst>
                                    </p:anim>
                                    <p:anim calcmode="lin" valueType="num">
                                      <p:cBhvr>
                                        <p:cTn id="14" dur="500" fill="hold"/>
                                        <p:tgtEl>
                                          <p:spTgt spid="20"/>
                                        </p:tgtEl>
                                        <p:attrNameLst>
                                          <p:attrName>ppt_h</p:attrName>
                                        </p:attrNameLst>
                                      </p:cBhvr>
                                      <p:tavLst>
                                        <p:tav tm="0">
                                          <p:val>
                                            <p:fltVal val="0"/>
                                          </p:val>
                                        </p:tav>
                                        <p:tav tm="100000">
                                          <p:val>
                                            <p:strVal val="#ppt_h"/>
                                          </p:val>
                                        </p:tav>
                                      </p:tavLst>
                                    </p:anim>
                                    <p:animEffect transition="in" filter="fade">
                                      <p:cBhvr>
                                        <p:cTn id="15" dur="500"/>
                                        <p:tgtEl>
                                          <p:spTgt spid="20"/>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p:cTn id="19" dur="500" fill="hold"/>
                                        <p:tgtEl>
                                          <p:spTgt spid="15"/>
                                        </p:tgtEl>
                                        <p:attrNameLst>
                                          <p:attrName>ppt_w</p:attrName>
                                        </p:attrNameLst>
                                      </p:cBhvr>
                                      <p:tavLst>
                                        <p:tav tm="0">
                                          <p:val>
                                            <p:fltVal val="0"/>
                                          </p:val>
                                        </p:tav>
                                        <p:tav tm="100000">
                                          <p:val>
                                            <p:strVal val="#ppt_w"/>
                                          </p:val>
                                        </p:tav>
                                      </p:tavLst>
                                    </p:anim>
                                    <p:anim calcmode="lin" valueType="num">
                                      <p:cBhvr>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flipH="1">
            <a:off x="5523803" y="-41991"/>
            <a:ext cx="2901652" cy="2901652"/>
          </a:xfrm>
          <a:prstGeom prst="line">
            <a:avLst/>
          </a:prstGeom>
          <a:ln w="25400">
            <a:solidFill>
              <a:srgbClr val="F7BA3B"/>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7668344" y="620688"/>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7596336" y="1988840"/>
            <a:ext cx="1979712" cy="1979712"/>
          </a:xfrm>
          <a:prstGeom prst="line">
            <a:avLst/>
          </a:prstGeom>
          <a:ln w="25400">
            <a:solidFill>
              <a:srgbClr val="DA634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6948264" y="4653136"/>
            <a:ext cx="1656184" cy="1656184"/>
          </a:xfrm>
          <a:prstGeom prst="line">
            <a:avLst/>
          </a:prstGeom>
          <a:ln w="25400">
            <a:solidFill>
              <a:srgbClr val="2FB6A8"/>
            </a:solidFill>
            <a:headEnd type="triangle"/>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5292080" y="5517232"/>
            <a:ext cx="767730" cy="767730"/>
          </a:xfrm>
          <a:prstGeom prst="line">
            <a:avLst/>
          </a:prstGeom>
          <a:ln w="25400">
            <a:solidFill>
              <a:srgbClr val="DA634F"/>
            </a:solidFill>
            <a:head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6256186" y="3035885"/>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 name="组合 14"/>
          <p:cNvGrpSpPr/>
          <p:nvPr/>
        </p:nvGrpSpPr>
        <p:grpSpPr>
          <a:xfrm>
            <a:off x="359467" y="872056"/>
            <a:ext cx="702417" cy="702417"/>
            <a:chOff x="2921917" y="2223151"/>
            <a:chExt cx="1527064" cy="1527064"/>
          </a:xfrm>
        </p:grpSpPr>
        <p:grpSp>
          <p:nvGrpSpPr>
            <p:cNvPr id="3" name="组合 15"/>
            <p:cNvGrpSpPr/>
            <p:nvPr/>
          </p:nvGrpSpPr>
          <p:grpSpPr>
            <a:xfrm>
              <a:off x="2921917" y="2223151"/>
              <a:ext cx="1527064" cy="1527064"/>
              <a:chOff x="1200760" y="3842075"/>
              <a:chExt cx="1784148" cy="1784148"/>
            </a:xfrm>
          </p:grpSpPr>
          <p:sp>
            <p:nvSpPr>
              <p:cNvPr id="18" name="椭圆 17"/>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sp>
            <p:nvSpPr>
              <p:cNvPr id="19" name="椭圆 18"/>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grpSp>
        <p:sp>
          <p:nvSpPr>
            <p:cNvPr id="17" name="文本框 168"/>
            <p:cNvSpPr txBox="1"/>
            <p:nvPr/>
          </p:nvSpPr>
          <p:spPr>
            <a:xfrm>
              <a:off x="2921917" y="2490948"/>
              <a:ext cx="1415526" cy="1134770"/>
            </a:xfrm>
            <a:prstGeom prst="rect">
              <a:avLst/>
            </a:prstGeom>
            <a:noFill/>
          </p:spPr>
          <p:txBody>
            <a:bodyPr wrap="square" rtlCol="0">
              <a:spAutoFit/>
            </a:bodyPr>
            <a:lstStyle/>
            <a:p>
              <a:pPr algn="ctr">
                <a:defRPr/>
              </a:pPr>
              <a:r>
                <a:rPr lang="en-US" altLang="zh-CN" sz="2800" dirty="0" smtClean="0">
                  <a:solidFill>
                    <a:prstClr val="white"/>
                  </a:solidFill>
                  <a:latin typeface="微软雅黑" panose="020B0503020204020204" pitchFamily="34" charset="-122"/>
                  <a:ea typeface="微软雅黑" panose="020B0503020204020204" pitchFamily="34" charset="-122"/>
                </a:rPr>
                <a:t>02</a:t>
              </a:r>
              <a:endParaRPr lang="zh-CN" altLang="en-US" sz="2800" dirty="0">
                <a:solidFill>
                  <a:prstClr val="white"/>
                </a:solidFill>
                <a:latin typeface="微软雅黑" panose="020B0503020204020204" pitchFamily="34" charset="-122"/>
                <a:ea typeface="微软雅黑" panose="020B0503020204020204" pitchFamily="34" charset="-122"/>
              </a:endParaRPr>
            </a:p>
          </p:txBody>
        </p:sp>
      </p:grpSp>
      <p:sp>
        <p:nvSpPr>
          <p:cNvPr id="20" name="文本框 6"/>
          <p:cNvSpPr txBox="1"/>
          <p:nvPr/>
        </p:nvSpPr>
        <p:spPr>
          <a:xfrm>
            <a:off x="1349815" y="1002856"/>
            <a:ext cx="5673285"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11.2 </a:t>
            </a:r>
            <a:r>
              <a:rPr lang="zh-CN" altLang="en-US" sz="2400" b="1" dirty="0" smtClean="0">
                <a:solidFill>
                  <a:prstClr val="white"/>
                </a:solidFill>
                <a:latin typeface="微软雅黑" panose="020B0503020204020204" pitchFamily="34" charset="-122"/>
                <a:ea typeface="微软雅黑" panose="020B0503020204020204" pitchFamily="34" charset="-122"/>
              </a:rPr>
              <a:t>服务器端生成 </a:t>
            </a:r>
            <a:r>
              <a:rPr lang="en-US" altLang="zh-CN" sz="2400" b="1" dirty="0" smtClean="0">
                <a:solidFill>
                  <a:prstClr val="white"/>
                </a:solidFill>
                <a:latin typeface="微软雅黑" panose="020B0503020204020204" pitchFamily="34" charset="-122"/>
                <a:ea typeface="微软雅黑" panose="020B0503020204020204" pitchFamily="34" charset="-122"/>
              </a:rPr>
              <a:t>JSON </a:t>
            </a:r>
            <a:r>
              <a:rPr lang="zh-CN" altLang="en-US" sz="2400" b="1" dirty="0" smtClean="0">
                <a:solidFill>
                  <a:prstClr val="white"/>
                </a:solidFill>
                <a:latin typeface="微软雅黑" panose="020B0503020204020204" pitchFamily="34" charset="-122"/>
                <a:ea typeface="微软雅黑" panose="020B0503020204020204" pitchFamily="34" charset="-122"/>
              </a:rPr>
              <a:t>数据</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15" name="文本框 6"/>
          <p:cNvSpPr txBox="1"/>
          <p:nvPr/>
        </p:nvSpPr>
        <p:spPr>
          <a:xfrm>
            <a:off x="1349815" y="1536256"/>
            <a:ext cx="3831785"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a:t>
            </a:r>
            <a:r>
              <a:rPr lang="en-US" altLang="zh-CN" sz="2400" b="1" dirty="0" smtClean="0">
                <a:solidFill>
                  <a:prstClr val="white"/>
                </a:solidFill>
                <a:latin typeface="微软雅黑" panose="020B0503020204020204" pitchFamily="34" charset="-122"/>
                <a:ea typeface="微软雅黑" panose="020B0503020204020204" pitchFamily="34" charset="-122"/>
              </a:rPr>
              <a:t>.2.1 </a:t>
            </a:r>
            <a:r>
              <a:rPr lang="zh-CN" altLang="en-US" sz="2400" b="1" dirty="0" smtClean="0">
                <a:solidFill>
                  <a:prstClr val="white"/>
                </a:solidFill>
                <a:latin typeface="微软雅黑" panose="020B0503020204020204" pitchFamily="34" charset="-122"/>
                <a:ea typeface="微软雅黑" panose="020B0503020204020204" pitchFamily="34" charset="-122"/>
              </a:rPr>
              <a:t>浏览器调用</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16" name="圆角矩形 15"/>
          <p:cNvSpPr/>
          <p:nvPr/>
        </p:nvSpPr>
        <p:spPr>
          <a:xfrm>
            <a:off x="393700" y="2444750"/>
            <a:ext cx="8394700" cy="23749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2800" b="1" dirty="0" smtClean="0">
                <a:latin typeface="Times New Roman" panose="02020603050405020304" pitchFamily="18" charset="0"/>
                <a:cs typeface="Times New Roman" panose="02020603050405020304" pitchFamily="18" charset="0"/>
              </a:rPr>
              <a:t>我们</a:t>
            </a:r>
            <a:r>
              <a:rPr lang="zh-CN" altLang="en-US" sz="2800" b="1" dirty="0" smtClean="0">
                <a:latin typeface="Times New Roman" panose="02020603050405020304" pitchFamily="18" charset="0"/>
                <a:cs typeface="Times New Roman" panose="02020603050405020304" pitchFamily="18" charset="0"/>
              </a:rPr>
              <a:t>会看到服务器端产生</a:t>
            </a:r>
            <a:r>
              <a:rPr lang="en-US" altLang="en-US" sz="2800" b="1" dirty="0" smtClean="0">
                <a:latin typeface="Times New Roman" panose="02020603050405020304" pitchFamily="18" charset="0"/>
                <a:cs typeface="Times New Roman" panose="02020603050405020304" pitchFamily="18" charset="0"/>
              </a:rPr>
              <a:t>4</a:t>
            </a:r>
            <a:r>
              <a:rPr lang="zh-CN" altLang="en-US" sz="2800" b="1" dirty="0" smtClean="0">
                <a:latin typeface="Times New Roman" panose="02020603050405020304" pitchFamily="18" charset="0"/>
                <a:cs typeface="Times New Roman" panose="02020603050405020304" pitchFamily="18" charset="0"/>
              </a:rPr>
              <a:t>种类型</a:t>
            </a:r>
            <a:r>
              <a:rPr lang="zh-CN" altLang="en-US" sz="2800" b="1" dirty="0" smtClean="0">
                <a:latin typeface="Times New Roman" panose="02020603050405020304" pitchFamily="18" charset="0"/>
                <a:cs typeface="Times New Roman" panose="02020603050405020304" pitchFamily="18" charset="0"/>
              </a:rPr>
              <a:t>的 </a:t>
            </a:r>
            <a:r>
              <a:rPr lang="en-US" altLang="zh-CN" sz="2800" b="1" dirty="0" smtClean="0">
                <a:latin typeface="Times New Roman" panose="02020603050405020304" pitchFamily="18" charset="0"/>
                <a:cs typeface="Times New Roman" panose="02020603050405020304" pitchFamily="18" charset="0"/>
              </a:rPr>
              <a:t>JSON</a:t>
            </a:r>
            <a:r>
              <a:rPr lang="en-US" altLang="en-US" sz="2800" b="1" dirty="0" smtClean="0">
                <a:latin typeface="Times New Roman" panose="02020603050405020304" pitchFamily="18" charset="0"/>
                <a:cs typeface="Times New Roman" panose="02020603050405020304" pitchFamily="18" charset="0"/>
              </a:rPr>
              <a:t> </a:t>
            </a:r>
            <a:r>
              <a:rPr lang="zh-CN" altLang="en-US" sz="2800" b="1" dirty="0" smtClean="0">
                <a:latin typeface="Times New Roman" panose="02020603050405020304" pitchFamily="18" charset="0"/>
                <a:cs typeface="Times New Roman" panose="02020603050405020304" pitchFamily="18" charset="0"/>
              </a:rPr>
              <a:t>数据。</a:t>
            </a:r>
            <a:endParaRPr lang="en-US" altLang="zh-CN" sz="2800" b="1" dirty="0" smtClean="0">
              <a:latin typeface="Times New Roman" panose="02020603050405020304" pitchFamily="18" charset="0"/>
              <a:cs typeface="Times New Roman" panose="02020603050405020304" pitchFamily="18" charset="0"/>
            </a:endParaRPr>
          </a:p>
          <a:p>
            <a:pPr>
              <a:lnSpc>
                <a:spcPct val="150000"/>
              </a:lnSpc>
            </a:pPr>
            <a:r>
              <a:rPr lang="en-US" altLang="zh-CN" sz="2800" b="1" dirty="0" smtClean="0">
                <a:latin typeface="Times New Roman" panose="02020603050405020304" pitchFamily="18" charset="0"/>
                <a:cs typeface="Times New Roman" panose="02020603050405020304" pitchFamily="18" charset="0"/>
              </a:rPr>
              <a:t>HTTP </a:t>
            </a:r>
            <a:r>
              <a:rPr lang="zh-CN" altLang="en-US" sz="2800" b="1" dirty="0" smtClean="0">
                <a:latin typeface="Times New Roman" panose="02020603050405020304" pitchFamily="18" charset="0"/>
                <a:cs typeface="Times New Roman" panose="02020603050405020304" pitchFamily="18" charset="0"/>
              </a:rPr>
              <a:t>请求</a:t>
            </a:r>
            <a:r>
              <a:rPr lang="zh-CN" altLang="en-US" sz="2800" b="1" dirty="0" smtClean="0">
                <a:latin typeface="Times New Roman" panose="02020603050405020304" pitchFamily="18" charset="0"/>
                <a:cs typeface="Times New Roman" panose="02020603050405020304" pitchFamily="18" charset="0"/>
              </a:rPr>
              <a:t>传递参数</a:t>
            </a:r>
            <a:r>
              <a:rPr lang="zh-CN" altLang="en-US" sz="2800" b="1" dirty="0" smtClean="0">
                <a:latin typeface="Times New Roman" panose="02020603050405020304" pitchFamily="18" charset="0"/>
                <a:cs typeface="Times New Roman" panose="02020603050405020304" pitchFamily="18" charset="0"/>
              </a:rPr>
              <a:t>为 </a:t>
            </a:r>
            <a:r>
              <a:rPr lang="en-US" altLang="en-US" sz="2800" b="1" dirty="0" err="1" smtClean="0">
                <a:solidFill>
                  <a:srgbClr val="FF0000"/>
                </a:solidFill>
                <a:latin typeface="Times New Roman" panose="02020603050405020304" pitchFamily="18" charset="0"/>
                <a:cs typeface="Times New Roman" panose="02020603050405020304" pitchFamily="18" charset="0"/>
              </a:rPr>
              <a:t>action_flag</a:t>
            </a:r>
            <a:r>
              <a:rPr lang="en-US" altLang="en-US" sz="2800" b="1" dirty="0" smtClean="0">
                <a:latin typeface="Times New Roman" panose="02020603050405020304" pitchFamily="18" charset="0"/>
                <a:cs typeface="Times New Roman" panose="02020603050405020304" pitchFamily="18" charset="0"/>
              </a:rPr>
              <a:t> </a:t>
            </a:r>
            <a:r>
              <a:rPr lang="zh-CN" altLang="en-US" sz="2800" b="1" dirty="0" smtClean="0">
                <a:latin typeface="Times New Roman" panose="02020603050405020304" pitchFamily="18" charset="0"/>
                <a:cs typeface="Times New Roman" panose="02020603050405020304" pitchFamily="18" charset="0"/>
              </a:rPr>
              <a:t>，</a:t>
            </a:r>
            <a:r>
              <a:rPr lang="zh-CN" altLang="en-US" sz="2800" b="1" dirty="0" smtClean="0">
                <a:latin typeface="Times New Roman" panose="02020603050405020304" pitchFamily="18" charset="0"/>
                <a:cs typeface="Times New Roman" panose="02020603050405020304" pitchFamily="18" charset="0"/>
              </a:rPr>
              <a:t>服务器端</a:t>
            </a:r>
            <a:r>
              <a:rPr lang="zh-CN" altLang="en-US" sz="2800" b="1" dirty="0" smtClean="0">
                <a:latin typeface="Times New Roman" panose="02020603050405020304" pitchFamily="18" charset="0"/>
                <a:cs typeface="Times New Roman" panose="02020603050405020304" pitchFamily="18" charset="0"/>
              </a:rPr>
              <a:t>根据 </a:t>
            </a:r>
            <a:r>
              <a:rPr lang="en-US" altLang="en-US" sz="2800" b="1" dirty="0" err="1" smtClean="0">
                <a:latin typeface="Times New Roman" panose="02020603050405020304" pitchFamily="18" charset="0"/>
                <a:cs typeface="Times New Roman" panose="02020603050405020304" pitchFamily="18" charset="0"/>
              </a:rPr>
              <a:t>action_flag</a:t>
            </a:r>
            <a:r>
              <a:rPr lang="en-US" altLang="en-US" sz="2800" b="1" dirty="0" smtClean="0">
                <a:latin typeface="Times New Roman" panose="02020603050405020304" pitchFamily="18" charset="0"/>
                <a:cs typeface="Times New Roman" panose="02020603050405020304" pitchFamily="18" charset="0"/>
              </a:rPr>
              <a:t> </a:t>
            </a:r>
            <a:r>
              <a:rPr lang="zh-CN" altLang="en-US" sz="2800" b="1" dirty="0" smtClean="0">
                <a:latin typeface="Times New Roman" panose="02020603050405020304" pitchFamily="18" charset="0"/>
                <a:cs typeface="Times New Roman" panose="02020603050405020304" pitchFamily="18" charset="0"/>
              </a:rPr>
              <a:t>返回不同</a:t>
            </a:r>
            <a:r>
              <a:rPr lang="zh-CN" altLang="en-US" sz="2800" b="1" dirty="0" smtClean="0">
                <a:latin typeface="Times New Roman" panose="02020603050405020304" pitchFamily="18" charset="0"/>
                <a:cs typeface="Times New Roman" panose="02020603050405020304" pitchFamily="18" charset="0"/>
              </a:rPr>
              <a:t>的 </a:t>
            </a:r>
            <a:r>
              <a:rPr lang="en-US" altLang="en-US" sz="2800" b="1" dirty="0" smtClean="0">
                <a:latin typeface="Times New Roman" panose="02020603050405020304" pitchFamily="18" charset="0"/>
                <a:cs typeface="Times New Roman" panose="02020603050405020304" pitchFamily="18" charset="0"/>
              </a:rPr>
              <a:t>JSON </a:t>
            </a:r>
            <a:r>
              <a:rPr lang="zh-CN" altLang="en-US" sz="2800" b="1" dirty="0" smtClean="0">
                <a:latin typeface="Times New Roman" panose="02020603050405020304" pitchFamily="18" charset="0"/>
                <a:cs typeface="Times New Roman" panose="02020603050405020304" pitchFamily="18" charset="0"/>
              </a:rPr>
              <a:t>数据</a:t>
            </a:r>
            <a:r>
              <a:rPr lang="zh-CN" altLang="en-US" sz="2800" b="1" dirty="0" smtClean="0">
                <a:latin typeface="Times New Roman" panose="02020603050405020304" pitchFamily="18" charset="0"/>
                <a:cs typeface="Times New Roman" panose="02020603050405020304" pitchFamily="18" charset="0"/>
              </a:rPr>
              <a:t>给客户端</a:t>
            </a:r>
            <a:r>
              <a:rPr lang="zh-CN" altLang="en-US" sz="2800" b="1" dirty="0" smtClean="0">
                <a:latin typeface="Times New Roman" panose="02020603050405020304" pitchFamily="18" charset="0"/>
                <a:cs typeface="Times New Roman" panose="02020603050405020304" pitchFamily="18" charset="0"/>
              </a:rPr>
              <a:t>。</a:t>
            </a:r>
            <a:endParaRPr lang="en-US" altLang="zh-CN" sz="2800" b="1" dirty="0" smtClean="0">
              <a:latin typeface="Times New Roman" panose="02020603050405020304" pitchFamily="18" charset="0"/>
              <a:cs typeface="Times New Roman" panose="02020603050405020304" pitchFamily="18" charset="0"/>
            </a:endParaRPr>
          </a:p>
        </p:txBody>
      </p:sp>
    </p:spTree>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p:cTn id="13" dur="500" fill="hold"/>
                                        <p:tgtEl>
                                          <p:spTgt spid="20"/>
                                        </p:tgtEl>
                                        <p:attrNameLst>
                                          <p:attrName>ppt_w</p:attrName>
                                        </p:attrNameLst>
                                      </p:cBhvr>
                                      <p:tavLst>
                                        <p:tav tm="0">
                                          <p:val>
                                            <p:fltVal val="0"/>
                                          </p:val>
                                        </p:tav>
                                        <p:tav tm="100000">
                                          <p:val>
                                            <p:strVal val="#ppt_w"/>
                                          </p:val>
                                        </p:tav>
                                      </p:tavLst>
                                    </p:anim>
                                    <p:anim calcmode="lin" valueType="num">
                                      <p:cBhvr>
                                        <p:cTn id="14" dur="500" fill="hold"/>
                                        <p:tgtEl>
                                          <p:spTgt spid="20"/>
                                        </p:tgtEl>
                                        <p:attrNameLst>
                                          <p:attrName>ppt_h</p:attrName>
                                        </p:attrNameLst>
                                      </p:cBhvr>
                                      <p:tavLst>
                                        <p:tav tm="0">
                                          <p:val>
                                            <p:fltVal val="0"/>
                                          </p:val>
                                        </p:tav>
                                        <p:tav tm="100000">
                                          <p:val>
                                            <p:strVal val="#ppt_h"/>
                                          </p:val>
                                        </p:tav>
                                      </p:tavLst>
                                    </p:anim>
                                    <p:animEffect transition="in" filter="fade">
                                      <p:cBhvr>
                                        <p:cTn id="15" dur="500"/>
                                        <p:tgtEl>
                                          <p:spTgt spid="20"/>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p:cTn id="19" dur="500" fill="hold"/>
                                        <p:tgtEl>
                                          <p:spTgt spid="15"/>
                                        </p:tgtEl>
                                        <p:attrNameLst>
                                          <p:attrName>ppt_w</p:attrName>
                                        </p:attrNameLst>
                                      </p:cBhvr>
                                      <p:tavLst>
                                        <p:tav tm="0">
                                          <p:val>
                                            <p:fltVal val="0"/>
                                          </p:val>
                                        </p:tav>
                                        <p:tav tm="100000">
                                          <p:val>
                                            <p:strVal val="#ppt_w"/>
                                          </p:val>
                                        </p:tav>
                                      </p:tavLst>
                                    </p:anim>
                                    <p:anim calcmode="lin" valueType="num">
                                      <p:cBhvr>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flipH="1">
            <a:off x="5523803" y="-41991"/>
            <a:ext cx="2901652" cy="2901652"/>
          </a:xfrm>
          <a:prstGeom prst="line">
            <a:avLst/>
          </a:prstGeom>
          <a:ln w="25400">
            <a:solidFill>
              <a:srgbClr val="F7BA3B"/>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7668344" y="620688"/>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7596336" y="1988840"/>
            <a:ext cx="1979712" cy="1979712"/>
          </a:xfrm>
          <a:prstGeom prst="line">
            <a:avLst/>
          </a:prstGeom>
          <a:ln w="25400">
            <a:solidFill>
              <a:srgbClr val="DA634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6948264" y="4653136"/>
            <a:ext cx="1656184" cy="1656184"/>
          </a:xfrm>
          <a:prstGeom prst="line">
            <a:avLst/>
          </a:prstGeom>
          <a:ln w="25400">
            <a:solidFill>
              <a:srgbClr val="2FB6A8"/>
            </a:solidFill>
            <a:headEnd type="triangle"/>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5292080" y="5517232"/>
            <a:ext cx="767730" cy="767730"/>
          </a:xfrm>
          <a:prstGeom prst="line">
            <a:avLst/>
          </a:prstGeom>
          <a:ln w="25400">
            <a:solidFill>
              <a:srgbClr val="DA634F"/>
            </a:solidFill>
            <a:head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6256186" y="3035885"/>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 name="组合 14"/>
          <p:cNvGrpSpPr/>
          <p:nvPr/>
        </p:nvGrpSpPr>
        <p:grpSpPr>
          <a:xfrm>
            <a:off x="359467" y="872056"/>
            <a:ext cx="702417" cy="702417"/>
            <a:chOff x="2921917" y="2223151"/>
            <a:chExt cx="1527064" cy="1527064"/>
          </a:xfrm>
        </p:grpSpPr>
        <p:grpSp>
          <p:nvGrpSpPr>
            <p:cNvPr id="3" name="组合 15"/>
            <p:cNvGrpSpPr/>
            <p:nvPr/>
          </p:nvGrpSpPr>
          <p:grpSpPr>
            <a:xfrm>
              <a:off x="2921917" y="2223151"/>
              <a:ext cx="1527064" cy="1527064"/>
              <a:chOff x="1200760" y="3842075"/>
              <a:chExt cx="1784148" cy="1784148"/>
            </a:xfrm>
          </p:grpSpPr>
          <p:sp>
            <p:nvSpPr>
              <p:cNvPr id="18" name="椭圆 17"/>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sp>
            <p:nvSpPr>
              <p:cNvPr id="19" name="椭圆 18"/>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grpSp>
        <p:sp>
          <p:nvSpPr>
            <p:cNvPr id="17" name="文本框 168"/>
            <p:cNvSpPr txBox="1"/>
            <p:nvPr/>
          </p:nvSpPr>
          <p:spPr>
            <a:xfrm>
              <a:off x="2921917" y="2490948"/>
              <a:ext cx="1415526" cy="1134770"/>
            </a:xfrm>
            <a:prstGeom prst="rect">
              <a:avLst/>
            </a:prstGeom>
            <a:noFill/>
          </p:spPr>
          <p:txBody>
            <a:bodyPr wrap="square" rtlCol="0">
              <a:spAutoFit/>
            </a:bodyPr>
            <a:lstStyle/>
            <a:p>
              <a:pPr algn="ctr">
                <a:defRPr/>
              </a:pPr>
              <a:r>
                <a:rPr lang="en-US" altLang="zh-CN" sz="2800" dirty="0" smtClean="0">
                  <a:solidFill>
                    <a:prstClr val="white"/>
                  </a:solidFill>
                  <a:latin typeface="微软雅黑" panose="020B0503020204020204" pitchFamily="34" charset="-122"/>
                  <a:ea typeface="微软雅黑" panose="020B0503020204020204" pitchFamily="34" charset="-122"/>
                </a:rPr>
                <a:t>02</a:t>
              </a:r>
              <a:endParaRPr lang="zh-CN" altLang="en-US" sz="2800" dirty="0">
                <a:solidFill>
                  <a:prstClr val="white"/>
                </a:solidFill>
                <a:latin typeface="微软雅黑" panose="020B0503020204020204" pitchFamily="34" charset="-122"/>
                <a:ea typeface="微软雅黑" panose="020B0503020204020204" pitchFamily="34" charset="-122"/>
              </a:endParaRPr>
            </a:p>
          </p:txBody>
        </p:sp>
      </p:grpSp>
      <p:sp>
        <p:nvSpPr>
          <p:cNvPr id="20" name="文本框 6"/>
          <p:cNvSpPr txBox="1"/>
          <p:nvPr/>
        </p:nvSpPr>
        <p:spPr>
          <a:xfrm>
            <a:off x="1349815" y="1002856"/>
            <a:ext cx="5673285"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11.2 </a:t>
            </a:r>
            <a:r>
              <a:rPr lang="zh-CN" altLang="en-US" sz="2400" b="1" dirty="0" smtClean="0">
                <a:solidFill>
                  <a:prstClr val="white"/>
                </a:solidFill>
                <a:latin typeface="微软雅黑" panose="020B0503020204020204" pitchFamily="34" charset="-122"/>
                <a:ea typeface="微软雅黑" panose="020B0503020204020204" pitchFamily="34" charset="-122"/>
              </a:rPr>
              <a:t>服务器端生成 </a:t>
            </a:r>
            <a:r>
              <a:rPr lang="en-US" altLang="zh-CN" sz="2400" b="1" dirty="0" smtClean="0">
                <a:solidFill>
                  <a:prstClr val="white"/>
                </a:solidFill>
                <a:latin typeface="微软雅黑" panose="020B0503020204020204" pitchFamily="34" charset="-122"/>
                <a:ea typeface="微软雅黑" panose="020B0503020204020204" pitchFamily="34" charset="-122"/>
              </a:rPr>
              <a:t>JSON </a:t>
            </a:r>
            <a:r>
              <a:rPr lang="zh-CN" altLang="en-US" sz="2400" b="1" dirty="0" smtClean="0">
                <a:solidFill>
                  <a:prstClr val="white"/>
                </a:solidFill>
                <a:latin typeface="微软雅黑" panose="020B0503020204020204" pitchFamily="34" charset="-122"/>
                <a:ea typeface="微软雅黑" panose="020B0503020204020204" pitchFamily="34" charset="-122"/>
              </a:rPr>
              <a:t>数据</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15" name="文本框 6"/>
          <p:cNvSpPr txBox="1"/>
          <p:nvPr/>
        </p:nvSpPr>
        <p:spPr>
          <a:xfrm>
            <a:off x="1349815" y="1536256"/>
            <a:ext cx="5978085"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a:t>
            </a:r>
            <a:r>
              <a:rPr lang="en-US" altLang="zh-CN" sz="2400" b="1" dirty="0" smtClean="0">
                <a:solidFill>
                  <a:prstClr val="white"/>
                </a:solidFill>
                <a:latin typeface="微软雅黑" panose="020B0503020204020204" pitchFamily="34" charset="-122"/>
                <a:ea typeface="微软雅黑" panose="020B0503020204020204" pitchFamily="34" charset="-122"/>
              </a:rPr>
              <a:t>.2.2 </a:t>
            </a:r>
            <a:r>
              <a:rPr lang="en-US" altLang="zh-CN" sz="2400" b="1" dirty="0" err="1" smtClean="0">
                <a:solidFill>
                  <a:prstClr val="white"/>
                </a:solidFill>
                <a:latin typeface="微软雅黑" panose="020B0503020204020204" pitchFamily="34" charset="-122"/>
                <a:ea typeface="微软雅黑" panose="020B0503020204020204" pitchFamily="34" charset="-122"/>
              </a:rPr>
              <a:t>jsonserver</a:t>
            </a:r>
            <a:r>
              <a:rPr lang="en-US" altLang="zh-CN" sz="2400" b="1" dirty="0" smtClean="0">
                <a:solidFill>
                  <a:prstClr val="white"/>
                </a:solidFill>
                <a:latin typeface="微软雅黑" panose="020B0503020204020204" pitchFamily="34" charset="-122"/>
                <a:ea typeface="微软雅黑" panose="020B0503020204020204" pitchFamily="34" charset="-122"/>
              </a:rPr>
              <a:t> </a:t>
            </a:r>
            <a:r>
              <a:rPr lang="zh-CN" altLang="en-US" sz="2400" b="1" dirty="0" smtClean="0">
                <a:solidFill>
                  <a:prstClr val="white"/>
                </a:solidFill>
                <a:latin typeface="微软雅黑" panose="020B0503020204020204" pitchFamily="34" charset="-122"/>
                <a:ea typeface="微软雅黑" panose="020B0503020204020204" pitchFamily="34" charset="-122"/>
              </a:rPr>
              <a:t>工程主要代码</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16" name="圆角矩形 15"/>
          <p:cNvSpPr/>
          <p:nvPr/>
        </p:nvSpPr>
        <p:spPr>
          <a:xfrm>
            <a:off x="393700" y="2343150"/>
            <a:ext cx="8394700" cy="307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2200" b="1" dirty="0" smtClean="0">
                <a:latin typeface="Times New Roman" panose="02020603050405020304" pitchFamily="18" charset="0"/>
                <a:cs typeface="Times New Roman" panose="02020603050405020304" pitchFamily="18" charset="0"/>
              </a:rPr>
              <a:t>客户端请求</a:t>
            </a:r>
            <a:r>
              <a:rPr lang="zh-CN" altLang="en-US" sz="2200" b="1" dirty="0" smtClean="0">
                <a:latin typeface="Times New Roman" panose="02020603050405020304" pitchFamily="18" charset="0"/>
                <a:cs typeface="Times New Roman" panose="02020603050405020304" pitchFamily="18" charset="0"/>
              </a:rPr>
              <a:t>将提交给服务器</a:t>
            </a:r>
            <a:r>
              <a:rPr lang="zh-CN" altLang="en-US" sz="2200" b="1" dirty="0" smtClean="0">
                <a:latin typeface="Times New Roman" panose="02020603050405020304" pitchFamily="18" charset="0"/>
                <a:cs typeface="Times New Roman" panose="02020603050405020304" pitchFamily="18" charset="0"/>
              </a:rPr>
              <a:t>端的 </a:t>
            </a:r>
            <a:r>
              <a:rPr lang="en-US" altLang="en-US" sz="2200" b="1" dirty="0" err="1" smtClean="0">
                <a:solidFill>
                  <a:srgbClr val="FF0000"/>
                </a:solidFill>
                <a:latin typeface="Times New Roman" panose="02020603050405020304" pitchFamily="18" charset="0"/>
                <a:cs typeface="Times New Roman" panose="02020603050405020304" pitchFamily="18" charset="0"/>
              </a:rPr>
              <a:t>JsonServlet</a:t>
            </a:r>
            <a:r>
              <a:rPr lang="en-US" altLang="en-US" sz="2200" b="1" dirty="0" smtClean="0">
                <a:solidFill>
                  <a:srgbClr val="FF0000"/>
                </a:solidFill>
                <a:latin typeface="Times New Roman" panose="02020603050405020304" pitchFamily="18" charset="0"/>
                <a:cs typeface="Times New Roman" panose="02020603050405020304" pitchFamily="18" charset="0"/>
              </a:rPr>
              <a:t> </a:t>
            </a:r>
            <a:r>
              <a:rPr lang="zh-CN" altLang="en-US" sz="2200" b="1" dirty="0" smtClean="0">
                <a:latin typeface="Times New Roman" panose="02020603050405020304" pitchFamily="18" charset="0"/>
                <a:cs typeface="Times New Roman" panose="02020603050405020304" pitchFamily="18" charset="0"/>
              </a:rPr>
              <a:t>来作</a:t>
            </a:r>
            <a:r>
              <a:rPr lang="zh-CN" altLang="en-US" sz="2200" b="1" dirty="0" smtClean="0">
                <a:latin typeface="Times New Roman" panose="02020603050405020304" pitchFamily="18" charset="0"/>
                <a:cs typeface="Times New Roman" panose="02020603050405020304" pitchFamily="18" charset="0"/>
              </a:rPr>
              <a:t>处理</a:t>
            </a:r>
            <a:r>
              <a:rPr lang="zh-CN" altLang="en-US" sz="2200" b="1" dirty="0" smtClean="0">
                <a:latin typeface="Times New Roman" panose="02020603050405020304" pitchFamily="18" charset="0"/>
                <a:cs typeface="Times New Roman" panose="02020603050405020304" pitchFamily="18" charset="0"/>
              </a:rPr>
              <a:t>。</a:t>
            </a:r>
            <a:endParaRPr lang="en-US" altLang="zh-CN" sz="2200" b="1" dirty="0" smtClean="0">
              <a:latin typeface="Times New Roman" panose="02020603050405020304" pitchFamily="18" charset="0"/>
              <a:cs typeface="Times New Roman" panose="02020603050405020304" pitchFamily="18" charset="0"/>
            </a:endParaRPr>
          </a:p>
          <a:p>
            <a:pPr>
              <a:lnSpc>
                <a:spcPct val="150000"/>
              </a:lnSpc>
            </a:pPr>
            <a:r>
              <a:rPr lang="en-US" altLang="en-US" sz="2200" b="1" dirty="0" err="1" smtClean="0">
                <a:latin typeface="Times New Roman" panose="02020603050405020304" pitchFamily="18" charset="0"/>
                <a:cs typeface="Times New Roman" panose="02020603050405020304" pitchFamily="18" charset="0"/>
              </a:rPr>
              <a:t>JsonServlet</a:t>
            </a:r>
            <a:r>
              <a:rPr lang="en-US" altLang="en-US" sz="2200" b="1" dirty="0" smtClean="0">
                <a:latin typeface="Times New Roman" panose="02020603050405020304" pitchFamily="18" charset="0"/>
                <a:cs typeface="Times New Roman" panose="02020603050405020304" pitchFamily="18" charset="0"/>
              </a:rPr>
              <a:t> </a:t>
            </a:r>
            <a:r>
              <a:rPr lang="zh-CN" altLang="en-US" sz="2200" b="1" dirty="0" smtClean="0">
                <a:latin typeface="Times New Roman" panose="02020603050405020304" pitchFamily="18" charset="0"/>
                <a:cs typeface="Times New Roman" panose="02020603050405020304" pitchFamily="18" charset="0"/>
              </a:rPr>
              <a:t>中</a:t>
            </a:r>
            <a:r>
              <a:rPr lang="zh-CN" altLang="en-US" sz="2200" b="1" dirty="0" smtClean="0">
                <a:latin typeface="Times New Roman" panose="02020603050405020304" pitchFamily="18" charset="0"/>
                <a:cs typeface="Times New Roman" panose="02020603050405020304" pitchFamily="18" charset="0"/>
              </a:rPr>
              <a:t>包含</a:t>
            </a:r>
            <a:r>
              <a:rPr lang="zh-CN" altLang="en-US" sz="2200" b="1" dirty="0" smtClean="0">
                <a:solidFill>
                  <a:schemeClr val="bg1"/>
                </a:solidFill>
                <a:latin typeface="Times New Roman" panose="02020603050405020304" pitchFamily="18" charset="0"/>
                <a:cs typeface="Times New Roman" panose="02020603050405020304" pitchFamily="18" charset="0"/>
              </a:rPr>
              <a:t>了</a:t>
            </a:r>
            <a:r>
              <a:rPr lang="zh-CN" altLang="en-US" sz="2200" b="1" dirty="0" smtClean="0">
                <a:solidFill>
                  <a:srgbClr val="FF0000"/>
                </a:solidFill>
                <a:latin typeface="Times New Roman" panose="02020603050405020304" pitchFamily="18" charset="0"/>
                <a:cs typeface="Times New Roman" panose="02020603050405020304" pitchFamily="18" charset="0"/>
              </a:rPr>
              <a:t> </a:t>
            </a:r>
            <a:r>
              <a:rPr lang="en-US" altLang="en-US" sz="2200" b="1" dirty="0" err="1" smtClean="0">
                <a:solidFill>
                  <a:srgbClr val="FF0000"/>
                </a:solidFill>
                <a:latin typeface="Times New Roman" panose="02020603050405020304" pitchFamily="18" charset="0"/>
                <a:cs typeface="Times New Roman" panose="02020603050405020304" pitchFamily="18" charset="0"/>
              </a:rPr>
              <a:t>JsonService</a:t>
            </a:r>
            <a:r>
              <a:rPr lang="en-US" altLang="en-US" sz="2200" b="1" dirty="0" smtClean="0">
                <a:solidFill>
                  <a:srgbClr val="FF0000"/>
                </a:solidFill>
                <a:latin typeface="Times New Roman" panose="02020603050405020304" pitchFamily="18" charset="0"/>
                <a:cs typeface="Times New Roman" panose="02020603050405020304" pitchFamily="18" charset="0"/>
              </a:rPr>
              <a:t> </a:t>
            </a:r>
            <a:r>
              <a:rPr lang="zh-CN" altLang="en-US" sz="2200" b="1" dirty="0" smtClean="0">
                <a:latin typeface="Times New Roman" panose="02020603050405020304" pitchFamily="18" charset="0"/>
                <a:cs typeface="Times New Roman" panose="02020603050405020304" pitchFamily="18" charset="0"/>
              </a:rPr>
              <a:t>的</a:t>
            </a:r>
            <a:r>
              <a:rPr lang="zh-CN" altLang="en-US" sz="2200" b="1" dirty="0" smtClean="0">
                <a:latin typeface="Times New Roman" panose="02020603050405020304" pitchFamily="18" charset="0"/>
                <a:cs typeface="Times New Roman" panose="02020603050405020304" pitchFamily="18" charset="0"/>
              </a:rPr>
              <a:t>对象引用，</a:t>
            </a:r>
            <a:r>
              <a:rPr lang="en-US" altLang="en-US" sz="2200" b="1" dirty="0" err="1" smtClean="0">
                <a:latin typeface="Times New Roman" panose="02020603050405020304" pitchFamily="18" charset="0"/>
                <a:cs typeface="Times New Roman" panose="02020603050405020304" pitchFamily="18" charset="0"/>
              </a:rPr>
              <a:t>JsonServlet</a:t>
            </a:r>
            <a:r>
              <a:rPr lang="en-US" altLang="en-US" sz="2200" b="1" dirty="0" smtClean="0">
                <a:latin typeface="Times New Roman" panose="02020603050405020304" pitchFamily="18" charset="0"/>
                <a:cs typeface="Times New Roman" panose="02020603050405020304" pitchFamily="18" charset="0"/>
              </a:rPr>
              <a:t> </a:t>
            </a:r>
            <a:r>
              <a:rPr lang="zh-CN" altLang="en-US" sz="2200" b="1" dirty="0" smtClean="0">
                <a:latin typeface="Times New Roman" panose="02020603050405020304" pitchFamily="18" charset="0"/>
                <a:cs typeface="Times New Roman" panose="02020603050405020304" pitchFamily="18" charset="0"/>
              </a:rPr>
              <a:t>将调用 </a:t>
            </a:r>
            <a:r>
              <a:rPr lang="en-US" altLang="en-US" sz="2200" b="1" dirty="0" err="1" smtClean="0">
                <a:solidFill>
                  <a:srgbClr val="FF0000"/>
                </a:solidFill>
                <a:latin typeface="Times New Roman" panose="02020603050405020304" pitchFamily="18" charset="0"/>
                <a:cs typeface="Times New Roman" panose="02020603050405020304" pitchFamily="18" charset="0"/>
              </a:rPr>
              <a:t>JsonService</a:t>
            </a:r>
            <a:r>
              <a:rPr lang="en-US" altLang="en-US" sz="2200" b="1" dirty="0" smtClean="0">
                <a:solidFill>
                  <a:srgbClr val="FF0000"/>
                </a:solidFill>
                <a:latin typeface="Times New Roman" panose="02020603050405020304" pitchFamily="18" charset="0"/>
                <a:cs typeface="Times New Roman" panose="02020603050405020304" pitchFamily="18" charset="0"/>
              </a:rPr>
              <a:t> </a:t>
            </a:r>
            <a:r>
              <a:rPr lang="zh-CN" altLang="en-US" sz="2200" b="1" dirty="0" smtClean="0">
                <a:solidFill>
                  <a:srgbClr val="FF0000"/>
                </a:solidFill>
                <a:latin typeface="Times New Roman" panose="02020603050405020304" pitchFamily="18" charset="0"/>
                <a:cs typeface="Times New Roman" panose="02020603050405020304" pitchFamily="18" charset="0"/>
              </a:rPr>
              <a:t>和 </a:t>
            </a:r>
            <a:r>
              <a:rPr lang="en-US" altLang="en-US" sz="2200" b="1" dirty="0" err="1" smtClean="0">
                <a:solidFill>
                  <a:srgbClr val="FF0000"/>
                </a:solidFill>
                <a:latin typeface="Times New Roman" panose="02020603050405020304" pitchFamily="18" charset="0"/>
                <a:cs typeface="Times New Roman" panose="02020603050405020304" pitchFamily="18" charset="0"/>
              </a:rPr>
              <a:t>JsonTool</a:t>
            </a:r>
            <a:r>
              <a:rPr lang="en-US" altLang="en-US" sz="2200" b="1" dirty="0" smtClean="0">
                <a:solidFill>
                  <a:srgbClr val="FF0000"/>
                </a:solidFill>
                <a:latin typeface="Times New Roman" panose="02020603050405020304" pitchFamily="18" charset="0"/>
                <a:cs typeface="Times New Roman" panose="02020603050405020304" pitchFamily="18" charset="0"/>
              </a:rPr>
              <a:t> </a:t>
            </a:r>
            <a:r>
              <a:rPr lang="zh-CN" altLang="en-US" sz="2200" b="1" dirty="0" smtClean="0">
                <a:latin typeface="Times New Roman" panose="02020603050405020304" pitchFamily="18" charset="0"/>
                <a:cs typeface="Times New Roman" panose="02020603050405020304" pitchFamily="18" charset="0"/>
              </a:rPr>
              <a:t>的</a:t>
            </a:r>
            <a:r>
              <a:rPr lang="zh-CN" altLang="en-US" sz="2200" b="1" dirty="0" smtClean="0">
                <a:latin typeface="Times New Roman" panose="02020603050405020304" pitchFamily="18" charset="0"/>
                <a:cs typeface="Times New Roman" panose="02020603050405020304" pitchFamily="18" charset="0"/>
              </a:rPr>
              <a:t>相关方法以</a:t>
            </a:r>
            <a:r>
              <a:rPr lang="zh-CN" altLang="en-US" sz="2200" b="1" dirty="0" smtClean="0">
                <a:latin typeface="Times New Roman" panose="02020603050405020304" pitchFamily="18" charset="0"/>
                <a:cs typeface="Times New Roman" panose="02020603050405020304" pitchFamily="18" charset="0"/>
              </a:rPr>
              <a:t>得到 </a:t>
            </a:r>
            <a:r>
              <a:rPr lang="en-US" altLang="en-US" sz="2200" b="1" dirty="0" smtClean="0">
                <a:latin typeface="Times New Roman" panose="02020603050405020304" pitchFamily="18" charset="0"/>
                <a:cs typeface="Times New Roman" panose="02020603050405020304" pitchFamily="18" charset="0"/>
              </a:rPr>
              <a:t>JSON </a:t>
            </a:r>
            <a:r>
              <a:rPr lang="zh-CN" altLang="en-US" sz="2200" b="1" dirty="0" smtClean="0">
                <a:latin typeface="Times New Roman" panose="02020603050405020304" pitchFamily="18" charset="0"/>
                <a:cs typeface="Times New Roman" panose="02020603050405020304" pitchFamily="18" charset="0"/>
              </a:rPr>
              <a:t>接口</a:t>
            </a:r>
            <a:r>
              <a:rPr lang="zh-CN" altLang="en-US" sz="2200" b="1" dirty="0" smtClean="0">
                <a:latin typeface="Times New Roman" panose="02020603050405020304" pitchFamily="18" charset="0"/>
                <a:cs typeface="Times New Roman" panose="02020603050405020304" pitchFamily="18" charset="0"/>
              </a:rPr>
              <a:t>数据</a:t>
            </a:r>
            <a:r>
              <a:rPr lang="zh-CN" altLang="en-US" sz="2200" b="1" dirty="0" smtClean="0">
                <a:latin typeface="Times New Roman" panose="02020603050405020304" pitchFamily="18" charset="0"/>
                <a:cs typeface="Times New Roman" panose="02020603050405020304" pitchFamily="18" charset="0"/>
              </a:rPr>
              <a:t>。</a:t>
            </a:r>
            <a:endParaRPr lang="en-US" altLang="zh-CN" sz="2200" b="1" dirty="0" smtClean="0">
              <a:latin typeface="Times New Roman" panose="02020603050405020304" pitchFamily="18" charset="0"/>
              <a:cs typeface="Times New Roman" panose="02020603050405020304" pitchFamily="18" charset="0"/>
            </a:endParaRPr>
          </a:p>
          <a:p>
            <a:pPr>
              <a:lnSpc>
                <a:spcPct val="150000"/>
              </a:lnSpc>
            </a:pPr>
            <a:r>
              <a:rPr lang="en-US" altLang="en-US" sz="2200" b="1" dirty="0" smtClean="0">
                <a:latin typeface="Times New Roman" panose="02020603050405020304" pitchFamily="18" charset="0"/>
                <a:cs typeface="Times New Roman" panose="02020603050405020304" pitchFamily="18" charset="0"/>
              </a:rPr>
              <a:t> </a:t>
            </a:r>
            <a:r>
              <a:rPr lang="en-US" altLang="en-US" sz="2200" b="1" dirty="0" err="1" smtClean="0">
                <a:latin typeface="Times New Roman" panose="02020603050405020304" pitchFamily="18" charset="0"/>
                <a:cs typeface="Times New Roman" panose="02020603050405020304" pitchFamily="18" charset="0"/>
              </a:rPr>
              <a:t>JsonService</a:t>
            </a:r>
            <a:r>
              <a:rPr lang="en-US" altLang="en-US" sz="2200" b="1" dirty="0" smtClean="0">
                <a:latin typeface="Times New Roman" panose="02020603050405020304" pitchFamily="18" charset="0"/>
                <a:cs typeface="Times New Roman" panose="02020603050405020304" pitchFamily="18" charset="0"/>
              </a:rPr>
              <a:t> </a:t>
            </a:r>
            <a:r>
              <a:rPr lang="zh-CN" altLang="en-US" sz="2200" b="1" dirty="0" smtClean="0">
                <a:latin typeface="Times New Roman" panose="02020603050405020304" pitchFamily="18" charset="0"/>
                <a:cs typeface="Times New Roman" panose="02020603050405020304" pitchFamily="18" charset="0"/>
              </a:rPr>
              <a:t>提供了 </a:t>
            </a:r>
            <a:r>
              <a:rPr lang="en-US" altLang="en-US" sz="2200" b="1" dirty="0" err="1" smtClean="0">
                <a:latin typeface="Times New Roman" panose="02020603050405020304" pitchFamily="18" charset="0"/>
                <a:cs typeface="Times New Roman" panose="02020603050405020304" pitchFamily="18" charset="0"/>
              </a:rPr>
              <a:t>getPerson</a:t>
            </a:r>
            <a:r>
              <a:rPr lang="en-US" altLang="en-US" sz="2200" b="1" dirty="0" smtClean="0">
                <a:latin typeface="Times New Roman" panose="02020603050405020304" pitchFamily="18" charset="0"/>
                <a:cs typeface="Times New Roman" panose="02020603050405020304" pitchFamily="18" charset="0"/>
              </a:rPr>
              <a:t>()</a:t>
            </a:r>
            <a:r>
              <a:rPr lang="zh-CN" altLang="en-US" sz="2200" b="1" dirty="0" smtClean="0">
                <a:latin typeface="Times New Roman" panose="02020603050405020304" pitchFamily="18" charset="0"/>
                <a:cs typeface="Times New Roman" panose="02020603050405020304" pitchFamily="18" charset="0"/>
              </a:rPr>
              <a:t>、</a:t>
            </a:r>
            <a:r>
              <a:rPr lang="en-US" altLang="en-US" sz="2200" b="1" dirty="0" err="1" smtClean="0">
                <a:latin typeface="Times New Roman" panose="02020603050405020304" pitchFamily="18" charset="0"/>
                <a:cs typeface="Times New Roman" panose="02020603050405020304" pitchFamily="18" charset="0"/>
              </a:rPr>
              <a:t>getListPerson</a:t>
            </a:r>
            <a:r>
              <a:rPr lang="en-US" altLang="en-US" sz="2200" b="1" dirty="0" smtClean="0">
                <a:latin typeface="Times New Roman" panose="02020603050405020304" pitchFamily="18" charset="0"/>
                <a:cs typeface="Times New Roman" panose="02020603050405020304" pitchFamily="18" charset="0"/>
              </a:rPr>
              <a:t>() </a:t>
            </a:r>
            <a:r>
              <a:rPr lang="zh-CN" altLang="en-US" sz="2200" b="1" dirty="0" smtClean="0">
                <a:latin typeface="Times New Roman" panose="02020603050405020304" pitchFamily="18" charset="0"/>
                <a:cs typeface="Times New Roman" panose="02020603050405020304" pitchFamily="18" charset="0"/>
              </a:rPr>
              <a:t>等</a:t>
            </a:r>
            <a:r>
              <a:rPr lang="zh-CN" altLang="en-US" sz="2200" b="1" dirty="0" smtClean="0">
                <a:latin typeface="Times New Roman" panose="02020603050405020304" pitchFamily="18" charset="0"/>
                <a:cs typeface="Times New Roman" panose="02020603050405020304" pitchFamily="18" charset="0"/>
              </a:rPr>
              <a:t>实例方法，用于产生包含</a:t>
            </a:r>
            <a:r>
              <a:rPr lang="zh-CN" altLang="en-US" sz="2200" b="1" dirty="0" smtClean="0">
                <a:latin typeface="Times New Roman" panose="02020603050405020304" pitchFamily="18" charset="0"/>
                <a:cs typeface="Times New Roman" panose="02020603050405020304" pitchFamily="18" charset="0"/>
              </a:rPr>
              <a:t>有 </a:t>
            </a:r>
            <a:r>
              <a:rPr lang="en-US" altLang="en-US" sz="2200" b="1" dirty="0" smtClean="0">
                <a:latin typeface="Times New Roman" panose="02020603050405020304" pitchFamily="18" charset="0"/>
                <a:cs typeface="Times New Roman" panose="02020603050405020304" pitchFamily="18" charset="0"/>
              </a:rPr>
              <a:t>JSON </a:t>
            </a:r>
            <a:r>
              <a:rPr lang="zh-CN" altLang="en-US" sz="2200" b="1" dirty="0" smtClean="0">
                <a:latin typeface="Times New Roman" panose="02020603050405020304" pitchFamily="18" charset="0"/>
                <a:cs typeface="Times New Roman" panose="02020603050405020304" pitchFamily="18" charset="0"/>
              </a:rPr>
              <a:t>数据的 </a:t>
            </a:r>
            <a:r>
              <a:rPr lang="en-US" altLang="en-US" sz="2200" b="1" dirty="0" smtClean="0">
                <a:latin typeface="Times New Roman" panose="02020603050405020304" pitchFamily="18" charset="0"/>
                <a:cs typeface="Times New Roman" panose="02020603050405020304" pitchFamily="18" charset="0"/>
              </a:rPr>
              <a:t>Java </a:t>
            </a:r>
            <a:r>
              <a:rPr lang="zh-CN" altLang="en-US" sz="2200" b="1" dirty="0" smtClean="0">
                <a:latin typeface="Times New Roman" panose="02020603050405020304" pitchFamily="18" charset="0"/>
                <a:cs typeface="Times New Roman" panose="02020603050405020304" pitchFamily="18" charset="0"/>
              </a:rPr>
              <a:t>对象</a:t>
            </a:r>
            <a:r>
              <a:rPr lang="zh-CN" altLang="en-US" sz="2200" b="1" dirty="0" smtClean="0">
                <a:latin typeface="Times New Roman" panose="02020603050405020304" pitchFamily="18" charset="0"/>
                <a:cs typeface="Times New Roman" panose="02020603050405020304" pitchFamily="18" charset="0"/>
              </a:rPr>
              <a:t>和容器对象</a:t>
            </a:r>
            <a:r>
              <a:rPr lang="zh-CN" altLang="en-US" sz="2200" b="1" dirty="0" smtClean="0">
                <a:latin typeface="Times New Roman" panose="02020603050405020304" pitchFamily="18" charset="0"/>
                <a:cs typeface="Times New Roman" panose="02020603050405020304" pitchFamily="18" charset="0"/>
              </a:rPr>
              <a:t>。</a:t>
            </a:r>
            <a:endParaRPr lang="en-US" altLang="zh-CN" sz="2800" b="1" dirty="0" smtClean="0">
              <a:latin typeface="Times New Roman" panose="02020603050405020304" pitchFamily="18" charset="0"/>
              <a:cs typeface="Times New Roman" panose="02020603050405020304" pitchFamily="18" charset="0"/>
            </a:endParaRPr>
          </a:p>
        </p:txBody>
      </p:sp>
    </p:spTree>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p:cTn id="13" dur="500" fill="hold"/>
                                        <p:tgtEl>
                                          <p:spTgt spid="20"/>
                                        </p:tgtEl>
                                        <p:attrNameLst>
                                          <p:attrName>ppt_w</p:attrName>
                                        </p:attrNameLst>
                                      </p:cBhvr>
                                      <p:tavLst>
                                        <p:tav tm="0">
                                          <p:val>
                                            <p:fltVal val="0"/>
                                          </p:val>
                                        </p:tav>
                                        <p:tav tm="100000">
                                          <p:val>
                                            <p:strVal val="#ppt_w"/>
                                          </p:val>
                                        </p:tav>
                                      </p:tavLst>
                                    </p:anim>
                                    <p:anim calcmode="lin" valueType="num">
                                      <p:cBhvr>
                                        <p:cTn id="14" dur="500" fill="hold"/>
                                        <p:tgtEl>
                                          <p:spTgt spid="20"/>
                                        </p:tgtEl>
                                        <p:attrNameLst>
                                          <p:attrName>ppt_h</p:attrName>
                                        </p:attrNameLst>
                                      </p:cBhvr>
                                      <p:tavLst>
                                        <p:tav tm="0">
                                          <p:val>
                                            <p:fltVal val="0"/>
                                          </p:val>
                                        </p:tav>
                                        <p:tav tm="100000">
                                          <p:val>
                                            <p:strVal val="#ppt_h"/>
                                          </p:val>
                                        </p:tav>
                                      </p:tavLst>
                                    </p:anim>
                                    <p:animEffect transition="in" filter="fade">
                                      <p:cBhvr>
                                        <p:cTn id="15" dur="500"/>
                                        <p:tgtEl>
                                          <p:spTgt spid="20"/>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p:cTn id="19" dur="500" fill="hold"/>
                                        <p:tgtEl>
                                          <p:spTgt spid="15"/>
                                        </p:tgtEl>
                                        <p:attrNameLst>
                                          <p:attrName>ppt_w</p:attrName>
                                        </p:attrNameLst>
                                      </p:cBhvr>
                                      <p:tavLst>
                                        <p:tav tm="0">
                                          <p:val>
                                            <p:fltVal val="0"/>
                                          </p:val>
                                        </p:tav>
                                        <p:tav tm="100000">
                                          <p:val>
                                            <p:strVal val="#ppt_w"/>
                                          </p:val>
                                        </p:tav>
                                      </p:tavLst>
                                    </p:anim>
                                    <p:anim calcmode="lin" valueType="num">
                                      <p:cBhvr>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flipH="1">
            <a:off x="5523803" y="-41991"/>
            <a:ext cx="2901652" cy="2901652"/>
          </a:xfrm>
          <a:prstGeom prst="line">
            <a:avLst/>
          </a:prstGeom>
          <a:ln w="25400">
            <a:solidFill>
              <a:srgbClr val="F7BA3B"/>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7668344" y="620688"/>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7596336" y="1988840"/>
            <a:ext cx="1979712" cy="1979712"/>
          </a:xfrm>
          <a:prstGeom prst="line">
            <a:avLst/>
          </a:prstGeom>
          <a:ln w="25400">
            <a:solidFill>
              <a:srgbClr val="DA634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6948264" y="4653136"/>
            <a:ext cx="1656184" cy="1656184"/>
          </a:xfrm>
          <a:prstGeom prst="line">
            <a:avLst/>
          </a:prstGeom>
          <a:ln w="25400">
            <a:solidFill>
              <a:srgbClr val="2FB6A8"/>
            </a:solidFill>
            <a:headEnd type="triangle"/>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5292080" y="5517232"/>
            <a:ext cx="767730" cy="767730"/>
          </a:xfrm>
          <a:prstGeom prst="line">
            <a:avLst/>
          </a:prstGeom>
          <a:ln w="25400">
            <a:solidFill>
              <a:srgbClr val="DA634F"/>
            </a:solidFill>
            <a:head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6256186" y="3035885"/>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 name="组合 14"/>
          <p:cNvGrpSpPr/>
          <p:nvPr/>
        </p:nvGrpSpPr>
        <p:grpSpPr>
          <a:xfrm>
            <a:off x="359467" y="872056"/>
            <a:ext cx="702417" cy="702417"/>
            <a:chOff x="2921917" y="2223151"/>
            <a:chExt cx="1527064" cy="1527064"/>
          </a:xfrm>
        </p:grpSpPr>
        <p:grpSp>
          <p:nvGrpSpPr>
            <p:cNvPr id="3" name="组合 15"/>
            <p:cNvGrpSpPr/>
            <p:nvPr/>
          </p:nvGrpSpPr>
          <p:grpSpPr>
            <a:xfrm>
              <a:off x="2921917" y="2223151"/>
              <a:ext cx="1527064" cy="1527064"/>
              <a:chOff x="1200760" y="3842075"/>
              <a:chExt cx="1784148" cy="1784148"/>
            </a:xfrm>
          </p:grpSpPr>
          <p:sp>
            <p:nvSpPr>
              <p:cNvPr id="18" name="椭圆 17"/>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sp>
            <p:nvSpPr>
              <p:cNvPr id="19" name="椭圆 18"/>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grpSp>
        <p:sp>
          <p:nvSpPr>
            <p:cNvPr id="17" name="文本框 168"/>
            <p:cNvSpPr txBox="1"/>
            <p:nvPr/>
          </p:nvSpPr>
          <p:spPr>
            <a:xfrm>
              <a:off x="2921917" y="2490948"/>
              <a:ext cx="1415526" cy="1134770"/>
            </a:xfrm>
            <a:prstGeom prst="rect">
              <a:avLst/>
            </a:prstGeom>
            <a:noFill/>
          </p:spPr>
          <p:txBody>
            <a:bodyPr wrap="square" rtlCol="0">
              <a:spAutoFit/>
            </a:bodyPr>
            <a:lstStyle/>
            <a:p>
              <a:pPr algn="ctr">
                <a:defRPr/>
              </a:pPr>
              <a:r>
                <a:rPr lang="en-US" altLang="zh-CN" sz="2800" dirty="0" smtClean="0">
                  <a:solidFill>
                    <a:prstClr val="white"/>
                  </a:solidFill>
                  <a:latin typeface="微软雅黑" panose="020B0503020204020204" pitchFamily="34" charset="-122"/>
                  <a:ea typeface="微软雅黑" panose="020B0503020204020204" pitchFamily="34" charset="-122"/>
                </a:rPr>
                <a:t>02</a:t>
              </a:r>
              <a:endParaRPr lang="zh-CN" altLang="en-US" sz="2800" dirty="0">
                <a:solidFill>
                  <a:prstClr val="white"/>
                </a:solidFill>
                <a:latin typeface="微软雅黑" panose="020B0503020204020204" pitchFamily="34" charset="-122"/>
                <a:ea typeface="微软雅黑" panose="020B0503020204020204" pitchFamily="34" charset="-122"/>
              </a:endParaRPr>
            </a:p>
          </p:txBody>
        </p:sp>
      </p:grpSp>
      <p:sp>
        <p:nvSpPr>
          <p:cNvPr id="20" name="文本框 6"/>
          <p:cNvSpPr txBox="1"/>
          <p:nvPr/>
        </p:nvSpPr>
        <p:spPr>
          <a:xfrm>
            <a:off x="1349815" y="1002856"/>
            <a:ext cx="5673285"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11.2 </a:t>
            </a:r>
            <a:r>
              <a:rPr lang="zh-CN" altLang="en-US" sz="2400" b="1" dirty="0" smtClean="0">
                <a:solidFill>
                  <a:prstClr val="white"/>
                </a:solidFill>
                <a:latin typeface="微软雅黑" panose="020B0503020204020204" pitchFamily="34" charset="-122"/>
                <a:ea typeface="微软雅黑" panose="020B0503020204020204" pitchFamily="34" charset="-122"/>
              </a:rPr>
              <a:t>服务器端生成 </a:t>
            </a:r>
            <a:r>
              <a:rPr lang="en-US" altLang="zh-CN" sz="2400" b="1" dirty="0" smtClean="0">
                <a:solidFill>
                  <a:prstClr val="white"/>
                </a:solidFill>
                <a:latin typeface="微软雅黑" panose="020B0503020204020204" pitchFamily="34" charset="-122"/>
                <a:ea typeface="微软雅黑" panose="020B0503020204020204" pitchFamily="34" charset="-122"/>
              </a:rPr>
              <a:t>JSON </a:t>
            </a:r>
            <a:r>
              <a:rPr lang="zh-CN" altLang="en-US" sz="2400" b="1" dirty="0" smtClean="0">
                <a:solidFill>
                  <a:prstClr val="white"/>
                </a:solidFill>
                <a:latin typeface="微软雅黑" panose="020B0503020204020204" pitchFamily="34" charset="-122"/>
                <a:ea typeface="微软雅黑" panose="020B0503020204020204" pitchFamily="34" charset="-122"/>
              </a:rPr>
              <a:t>数据</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15" name="文本框 6"/>
          <p:cNvSpPr txBox="1"/>
          <p:nvPr/>
        </p:nvSpPr>
        <p:spPr>
          <a:xfrm>
            <a:off x="1349815" y="1536256"/>
            <a:ext cx="5978085"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a:t>
            </a:r>
            <a:r>
              <a:rPr lang="en-US" altLang="zh-CN" sz="2400" b="1" dirty="0" smtClean="0">
                <a:solidFill>
                  <a:prstClr val="white"/>
                </a:solidFill>
                <a:latin typeface="微软雅黑" panose="020B0503020204020204" pitchFamily="34" charset="-122"/>
                <a:ea typeface="微软雅黑" panose="020B0503020204020204" pitchFamily="34" charset="-122"/>
              </a:rPr>
              <a:t>.2.2 </a:t>
            </a:r>
            <a:r>
              <a:rPr lang="en-US" altLang="zh-CN" sz="2400" b="1" dirty="0" err="1" smtClean="0">
                <a:solidFill>
                  <a:prstClr val="white"/>
                </a:solidFill>
                <a:latin typeface="微软雅黑" panose="020B0503020204020204" pitchFamily="34" charset="-122"/>
                <a:ea typeface="微软雅黑" panose="020B0503020204020204" pitchFamily="34" charset="-122"/>
              </a:rPr>
              <a:t>jsonserver</a:t>
            </a:r>
            <a:r>
              <a:rPr lang="en-US" altLang="zh-CN" sz="2400" b="1" dirty="0" smtClean="0">
                <a:solidFill>
                  <a:prstClr val="white"/>
                </a:solidFill>
                <a:latin typeface="微软雅黑" panose="020B0503020204020204" pitchFamily="34" charset="-122"/>
                <a:ea typeface="微软雅黑" panose="020B0503020204020204" pitchFamily="34" charset="-122"/>
              </a:rPr>
              <a:t> </a:t>
            </a:r>
            <a:r>
              <a:rPr lang="zh-CN" altLang="en-US" sz="2400" b="1" dirty="0" smtClean="0">
                <a:solidFill>
                  <a:prstClr val="white"/>
                </a:solidFill>
                <a:latin typeface="微软雅黑" panose="020B0503020204020204" pitchFamily="34" charset="-122"/>
                <a:ea typeface="微软雅黑" panose="020B0503020204020204" pitchFamily="34" charset="-122"/>
              </a:rPr>
              <a:t>工程主要代码</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16" name="圆角矩形 15"/>
          <p:cNvSpPr/>
          <p:nvPr/>
        </p:nvSpPr>
        <p:spPr>
          <a:xfrm>
            <a:off x="304800" y="2343150"/>
            <a:ext cx="4267200" cy="307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zh-CN" altLang="en-US" sz="2000" b="1" dirty="0" smtClean="0">
                <a:latin typeface="Times New Roman" panose="02020603050405020304" pitchFamily="18" charset="0"/>
                <a:cs typeface="Times New Roman" panose="02020603050405020304" pitchFamily="18" charset="0"/>
              </a:rPr>
              <a:t>而</a:t>
            </a:r>
            <a:r>
              <a:rPr lang="en-US" altLang="en-US" sz="2000" b="1" dirty="0" err="1" smtClean="0">
                <a:latin typeface="Times New Roman" panose="02020603050405020304" pitchFamily="18" charset="0"/>
                <a:cs typeface="Times New Roman" panose="02020603050405020304" pitchFamily="18" charset="0"/>
              </a:rPr>
              <a:t>JsonTool</a:t>
            </a:r>
            <a:r>
              <a:rPr lang="en-US" altLang="en-US" sz="2000" b="1" dirty="0" smtClean="0">
                <a:latin typeface="Times New Roman" panose="02020603050405020304" pitchFamily="18" charset="0"/>
                <a:cs typeface="Times New Roman" panose="02020603050405020304" pitchFamily="18" charset="0"/>
              </a:rPr>
              <a:t> </a:t>
            </a:r>
            <a:r>
              <a:rPr lang="zh-CN" altLang="en-US" sz="2000" b="1" dirty="0" smtClean="0">
                <a:latin typeface="Times New Roman" panose="02020603050405020304" pitchFamily="18" charset="0"/>
                <a:cs typeface="Times New Roman" panose="02020603050405020304" pitchFamily="18" charset="0"/>
              </a:rPr>
              <a:t>则提供了类方法（静态方法）</a:t>
            </a:r>
            <a:r>
              <a:rPr lang="en-US" altLang="en-US" sz="2000" b="1" dirty="0" err="1" smtClean="0">
                <a:solidFill>
                  <a:srgbClr val="FF0000"/>
                </a:solidFill>
                <a:latin typeface="Times New Roman" panose="02020603050405020304" pitchFamily="18" charset="0"/>
                <a:cs typeface="Times New Roman" panose="02020603050405020304" pitchFamily="18" charset="0"/>
              </a:rPr>
              <a:t>creatJsonString</a:t>
            </a:r>
            <a:r>
              <a:rPr lang="en-US" altLang="en-US" sz="2000" b="1" dirty="0" smtClean="0">
                <a:latin typeface="Times New Roman" panose="02020603050405020304" pitchFamily="18" charset="0"/>
                <a:cs typeface="Times New Roman" panose="02020603050405020304" pitchFamily="18" charset="0"/>
              </a:rPr>
              <a:t>(String key, Object value)</a:t>
            </a:r>
            <a:r>
              <a:rPr lang="zh-CN" altLang="en-US" sz="2000" b="1" dirty="0" smtClean="0">
                <a:latin typeface="Times New Roman" panose="02020603050405020304" pitchFamily="18" charset="0"/>
                <a:cs typeface="Times New Roman" panose="02020603050405020304" pitchFamily="18" charset="0"/>
              </a:rPr>
              <a:t>，</a:t>
            </a:r>
            <a:r>
              <a:rPr lang="en-US" altLang="en-US" sz="2000" b="1" dirty="0" err="1" smtClean="0">
                <a:solidFill>
                  <a:srgbClr val="FF0000"/>
                </a:solidFill>
                <a:latin typeface="Times New Roman" panose="02020603050405020304" pitchFamily="18" charset="0"/>
                <a:cs typeface="Times New Roman" panose="02020603050405020304" pitchFamily="18" charset="0"/>
              </a:rPr>
              <a:t>creatJsonString</a:t>
            </a:r>
            <a:r>
              <a:rPr lang="en-US" altLang="en-US" sz="2000" b="1" dirty="0" smtClean="0">
                <a:solidFill>
                  <a:srgbClr val="FF0000"/>
                </a:solidFill>
                <a:latin typeface="Times New Roman" panose="02020603050405020304" pitchFamily="18" charset="0"/>
                <a:cs typeface="Times New Roman" panose="02020603050405020304" pitchFamily="18" charset="0"/>
              </a:rPr>
              <a:t>() </a:t>
            </a:r>
            <a:r>
              <a:rPr lang="zh-CN" altLang="en-US" sz="2000" b="1" dirty="0" smtClean="0">
                <a:solidFill>
                  <a:srgbClr val="FF0000"/>
                </a:solidFill>
                <a:latin typeface="Times New Roman" panose="02020603050405020304" pitchFamily="18" charset="0"/>
                <a:cs typeface="Times New Roman" panose="02020603050405020304" pitchFamily="18" charset="0"/>
              </a:rPr>
              <a:t>方法</a:t>
            </a:r>
            <a:r>
              <a:rPr lang="zh-CN" altLang="en-US" sz="2000" b="1" dirty="0" smtClean="0">
                <a:latin typeface="Times New Roman" panose="02020603050405020304" pitchFamily="18" charset="0"/>
                <a:cs typeface="Times New Roman" panose="02020603050405020304" pitchFamily="18" charset="0"/>
              </a:rPr>
              <a:t>是</a:t>
            </a:r>
            <a:r>
              <a:rPr lang="zh-CN" altLang="en-US" sz="2000" b="1" dirty="0" smtClean="0">
                <a:solidFill>
                  <a:srgbClr val="FF0000"/>
                </a:solidFill>
                <a:latin typeface="Times New Roman" panose="02020603050405020304" pitchFamily="18" charset="0"/>
                <a:cs typeface="Times New Roman" panose="02020603050405020304" pitchFamily="18" charset="0"/>
              </a:rPr>
              <a:t>将 </a:t>
            </a:r>
            <a:r>
              <a:rPr lang="en-US" altLang="en-US" sz="2000" b="1" dirty="0" smtClean="0">
                <a:solidFill>
                  <a:srgbClr val="FF0000"/>
                </a:solidFill>
                <a:latin typeface="Times New Roman" panose="02020603050405020304" pitchFamily="18" charset="0"/>
                <a:cs typeface="Times New Roman" panose="02020603050405020304" pitchFamily="18" charset="0"/>
              </a:rPr>
              <a:t>Java </a:t>
            </a:r>
            <a:r>
              <a:rPr lang="zh-CN" altLang="en-US" sz="2000" b="1" dirty="0" smtClean="0">
                <a:solidFill>
                  <a:srgbClr val="FF0000"/>
                </a:solidFill>
                <a:latin typeface="Times New Roman" panose="02020603050405020304" pitchFamily="18" charset="0"/>
                <a:cs typeface="Times New Roman" panose="02020603050405020304" pitchFamily="18" charset="0"/>
              </a:rPr>
              <a:t>对象</a:t>
            </a:r>
            <a:r>
              <a:rPr lang="zh-CN" altLang="en-US" sz="2000" b="1" dirty="0" smtClean="0">
                <a:solidFill>
                  <a:srgbClr val="FF0000"/>
                </a:solidFill>
                <a:latin typeface="Times New Roman" panose="02020603050405020304" pitchFamily="18" charset="0"/>
                <a:cs typeface="Times New Roman" panose="02020603050405020304" pitchFamily="18" charset="0"/>
              </a:rPr>
              <a:t>或容器对象装换</a:t>
            </a:r>
            <a:r>
              <a:rPr lang="zh-CN" altLang="en-US" sz="2000" b="1" dirty="0" smtClean="0">
                <a:solidFill>
                  <a:srgbClr val="FF0000"/>
                </a:solidFill>
                <a:latin typeface="Times New Roman" panose="02020603050405020304" pitchFamily="18" charset="0"/>
                <a:cs typeface="Times New Roman" panose="02020603050405020304" pitchFamily="18" charset="0"/>
              </a:rPr>
              <a:t>为 </a:t>
            </a:r>
            <a:r>
              <a:rPr lang="en-US" altLang="en-US" sz="2000" b="1" dirty="0" smtClean="0">
                <a:solidFill>
                  <a:srgbClr val="FF0000"/>
                </a:solidFill>
                <a:latin typeface="Times New Roman" panose="02020603050405020304" pitchFamily="18" charset="0"/>
                <a:cs typeface="Times New Roman" panose="02020603050405020304" pitchFamily="18" charset="0"/>
              </a:rPr>
              <a:t>JSON </a:t>
            </a:r>
            <a:r>
              <a:rPr lang="zh-CN" altLang="en-US" sz="2000" b="1" dirty="0" smtClean="0">
                <a:solidFill>
                  <a:srgbClr val="FF0000"/>
                </a:solidFill>
                <a:latin typeface="Times New Roman" panose="02020603050405020304" pitchFamily="18" charset="0"/>
                <a:cs typeface="Times New Roman" panose="02020603050405020304" pitchFamily="18" charset="0"/>
              </a:rPr>
              <a:t>数据</a:t>
            </a:r>
            <a:r>
              <a:rPr lang="zh-CN" altLang="en-US" sz="2000" b="1" dirty="0" smtClean="0">
                <a:solidFill>
                  <a:srgbClr val="FF0000"/>
                </a:solidFill>
                <a:latin typeface="Times New Roman" panose="02020603050405020304" pitchFamily="18" charset="0"/>
                <a:cs typeface="Times New Roman" panose="02020603050405020304" pitchFamily="18" charset="0"/>
              </a:rPr>
              <a:t>的</a:t>
            </a:r>
            <a:r>
              <a:rPr lang="zh-CN" altLang="en-US" sz="2000" b="1" dirty="0" smtClean="0">
                <a:latin typeface="Times New Roman" panose="02020603050405020304" pitchFamily="18" charset="0"/>
                <a:cs typeface="Times New Roman" panose="02020603050405020304" pitchFamily="18" charset="0"/>
              </a:rPr>
              <a:t>。这里由于使用了第三</a:t>
            </a:r>
            <a:r>
              <a:rPr lang="zh-CN" altLang="en-US" sz="2000" b="1" dirty="0" smtClean="0">
                <a:latin typeface="Times New Roman" panose="02020603050405020304" pitchFamily="18" charset="0"/>
                <a:cs typeface="Times New Roman" panose="02020603050405020304" pitchFamily="18" charset="0"/>
              </a:rPr>
              <a:t>方 </a:t>
            </a:r>
            <a:r>
              <a:rPr lang="en-US" altLang="en-US" sz="2000" b="1" dirty="0" smtClean="0">
                <a:latin typeface="Times New Roman" panose="02020603050405020304" pitchFamily="18" charset="0"/>
                <a:cs typeface="Times New Roman" panose="02020603050405020304" pitchFamily="18" charset="0"/>
              </a:rPr>
              <a:t>JAR </a:t>
            </a:r>
            <a:r>
              <a:rPr lang="zh-CN" altLang="en-US" sz="2000" b="1" dirty="0" smtClean="0">
                <a:latin typeface="Times New Roman" panose="02020603050405020304" pitchFamily="18" charset="0"/>
                <a:cs typeface="Times New Roman" panose="02020603050405020304" pitchFamily="18" charset="0"/>
              </a:rPr>
              <a:t>包 </a:t>
            </a:r>
            <a:r>
              <a:rPr lang="en-US" altLang="en-US" sz="2000" b="1" dirty="0" err="1" smtClean="0">
                <a:latin typeface="Times New Roman" panose="02020603050405020304" pitchFamily="18" charset="0"/>
                <a:cs typeface="Times New Roman" panose="02020603050405020304" pitchFamily="18" charset="0"/>
              </a:rPr>
              <a:t>json</a:t>
            </a:r>
            <a:r>
              <a:rPr lang="en-US" altLang="en-US" sz="2000" b="1" dirty="0" smtClean="0">
                <a:latin typeface="Times New Roman" panose="02020603050405020304" pitchFamily="18" charset="0"/>
                <a:cs typeface="Times New Roman" panose="02020603050405020304" pitchFamily="18" charset="0"/>
              </a:rPr>
              <a:t>-lib</a:t>
            </a:r>
            <a:r>
              <a:rPr lang="zh-CN" altLang="en-US" sz="2000" b="1" dirty="0" smtClean="0">
                <a:latin typeface="Times New Roman" panose="02020603050405020304" pitchFamily="18" charset="0"/>
                <a:cs typeface="Times New Roman" panose="02020603050405020304" pitchFamily="18" charset="0"/>
              </a:rPr>
              <a:t>，代码较为简单。</a:t>
            </a:r>
            <a:endParaRPr lang="en-US" altLang="zh-CN" sz="2000" b="1" dirty="0" smtClean="0">
              <a:latin typeface="Times New Roman" panose="02020603050405020304" pitchFamily="18" charset="0"/>
              <a:cs typeface="Times New Roman" panose="02020603050405020304" pitchFamily="18" charset="0"/>
            </a:endParaRPr>
          </a:p>
        </p:txBody>
      </p:sp>
      <p:pic>
        <p:nvPicPr>
          <p:cNvPr id="5123" name="Picture 3"/>
          <p:cNvPicPr>
            <a:picLocks noChangeAspect="1" noChangeArrowheads="1"/>
          </p:cNvPicPr>
          <p:nvPr/>
        </p:nvPicPr>
        <p:blipFill>
          <a:blip r:embed="rId1"/>
          <a:srcRect/>
          <a:stretch>
            <a:fillRect/>
          </a:stretch>
        </p:blipFill>
        <p:spPr bwMode="auto">
          <a:xfrm>
            <a:off x="4772025" y="2767013"/>
            <a:ext cx="4095750" cy="2162175"/>
          </a:xfrm>
          <a:prstGeom prst="rect">
            <a:avLst/>
          </a:prstGeom>
          <a:noFill/>
          <a:ln w="9525">
            <a:noFill/>
            <a:miter lim="800000"/>
            <a:headEnd/>
            <a:tailEnd/>
          </a:ln>
          <a:effectLst/>
        </p:spPr>
      </p:pic>
    </p:spTree>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p:cTn id="13" dur="500" fill="hold"/>
                                        <p:tgtEl>
                                          <p:spTgt spid="20"/>
                                        </p:tgtEl>
                                        <p:attrNameLst>
                                          <p:attrName>ppt_w</p:attrName>
                                        </p:attrNameLst>
                                      </p:cBhvr>
                                      <p:tavLst>
                                        <p:tav tm="0">
                                          <p:val>
                                            <p:fltVal val="0"/>
                                          </p:val>
                                        </p:tav>
                                        <p:tav tm="100000">
                                          <p:val>
                                            <p:strVal val="#ppt_w"/>
                                          </p:val>
                                        </p:tav>
                                      </p:tavLst>
                                    </p:anim>
                                    <p:anim calcmode="lin" valueType="num">
                                      <p:cBhvr>
                                        <p:cTn id="14" dur="500" fill="hold"/>
                                        <p:tgtEl>
                                          <p:spTgt spid="20"/>
                                        </p:tgtEl>
                                        <p:attrNameLst>
                                          <p:attrName>ppt_h</p:attrName>
                                        </p:attrNameLst>
                                      </p:cBhvr>
                                      <p:tavLst>
                                        <p:tav tm="0">
                                          <p:val>
                                            <p:fltVal val="0"/>
                                          </p:val>
                                        </p:tav>
                                        <p:tav tm="100000">
                                          <p:val>
                                            <p:strVal val="#ppt_h"/>
                                          </p:val>
                                        </p:tav>
                                      </p:tavLst>
                                    </p:anim>
                                    <p:animEffect transition="in" filter="fade">
                                      <p:cBhvr>
                                        <p:cTn id="15" dur="500"/>
                                        <p:tgtEl>
                                          <p:spTgt spid="20"/>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p:cTn id="19" dur="500" fill="hold"/>
                                        <p:tgtEl>
                                          <p:spTgt spid="15"/>
                                        </p:tgtEl>
                                        <p:attrNameLst>
                                          <p:attrName>ppt_w</p:attrName>
                                        </p:attrNameLst>
                                      </p:cBhvr>
                                      <p:tavLst>
                                        <p:tav tm="0">
                                          <p:val>
                                            <p:fltVal val="0"/>
                                          </p:val>
                                        </p:tav>
                                        <p:tav tm="100000">
                                          <p:val>
                                            <p:strVal val="#ppt_w"/>
                                          </p:val>
                                        </p:tav>
                                      </p:tavLst>
                                    </p:anim>
                                    <p:anim calcmode="lin" valueType="num">
                                      <p:cBhvr>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flipH="1">
            <a:off x="5523803" y="-41991"/>
            <a:ext cx="2901652" cy="2901652"/>
          </a:xfrm>
          <a:prstGeom prst="line">
            <a:avLst/>
          </a:prstGeom>
          <a:ln w="25400">
            <a:solidFill>
              <a:srgbClr val="F7BA3B"/>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7668344" y="620688"/>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7596336" y="1988840"/>
            <a:ext cx="1979712" cy="1979712"/>
          </a:xfrm>
          <a:prstGeom prst="line">
            <a:avLst/>
          </a:prstGeom>
          <a:ln w="25400">
            <a:solidFill>
              <a:srgbClr val="DA634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6948264" y="4653136"/>
            <a:ext cx="1656184" cy="1656184"/>
          </a:xfrm>
          <a:prstGeom prst="line">
            <a:avLst/>
          </a:prstGeom>
          <a:ln w="25400">
            <a:solidFill>
              <a:srgbClr val="2FB6A8"/>
            </a:solidFill>
            <a:headEnd type="triangle"/>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5292080" y="5517232"/>
            <a:ext cx="767730" cy="767730"/>
          </a:xfrm>
          <a:prstGeom prst="line">
            <a:avLst/>
          </a:prstGeom>
          <a:ln w="25400">
            <a:solidFill>
              <a:srgbClr val="DA634F"/>
            </a:solidFill>
            <a:head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6256186" y="3035885"/>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 name="组合 14"/>
          <p:cNvGrpSpPr/>
          <p:nvPr/>
        </p:nvGrpSpPr>
        <p:grpSpPr>
          <a:xfrm>
            <a:off x="359467" y="872056"/>
            <a:ext cx="702417" cy="702417"/>
            <a:chOff x="2921917" y="2223151"/>
            <a:chExt cx="1527064" cy="1527064"/>
          </a:xfrm>
        </p:grpSpPr>
        <p:grpSp>
          <p:nvGrpSpPr>
            <p:cNvPr id="3" name="组合 15"/>
            <p:cNvGrpSpPr/>
            <p:nvPr/>
          </p:nvGrpSpPr>
          <p:grpSpPr>
            <a:xfrm>
              <a:off x="2921917" y="2223151"/>
              <a:ext cx="1527064" cy="1527064"/>
              <a:chOff x="1200760" y="3842075"/>
              <a:chExt cx="1784148" cy="1784148"/>
            </a:xfrm>
          </p:grpSpPr>
          <p:sp>
            <p:nvSpPr>
              <p:cNvPr id="18" name="椭圆 17"/>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sp>
            <p:nvSpPr>
              <p:cNvPr id="19" name="椭圆 18"/>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grpSp>
        <p:sp>
          <p:nvSpPr>
            <p:cNvPr id="17" name="文本框 168"/>
            <p:cNvSpPr txBox="1"/>
            <p:nvPr/>
          </p:nvSpPr>
          <p:spPr>
            <a:xfrm>
              <a:off x="2921917" y="2490948"/>
              <a:ext cx="1415526" cy="1134770"/>
            </a:xfrm>
            <a:prstGeom prst="rect">
              <a:avLst/>
            </a:prstGeom>
            <a:noFill/>
          </p:spPr>
          <p:txBody>
            <a:bodyPr wrap="square" rtlCol="0">
              <a:spAutoFit/>
            </a:bodyPr>
            <a:lstStyle/>
            <a:p>
              <a:pPr algn="ctr">
                <a:defRPr/>
              </a:pPr>
              <a:r>
                <a:rPr lang="en-US" altLang="zh-CN" sz="2800" dirty="0" smtClean="0">
                  <a:solidFill>
                    <a:prstClr val="white"/>
                  </a:solidFill>
                  <a:latin typeface="微软雅黑" panose="020B0503020204020204" pitchFamily="34" charset="-122"/>
                  <a:ea typeface="微软雅黑" panose="020B0503020204020204" pitchFamily="34" charset="-122"/>
                </a:rPr>
                <a:t>02</a:t>
              </a:r>
              <a:endParaRPr lang="zh-CN" altLang="en-US" sz="2800" dirty="0">
                <a:solidFill>
                  <a:prstClr val="white"/>
                </a:solidFill>
                <a:latin typeface="微软雅黑" panose="020B0503020204020204" pitchFamily="34" charset="-122"/>
                <a:ea typeface="微软雅黑" panose="020B0503020204020204" pitchFamily="34" charset="-122"/>
              </a:endParaRPr>
            </a:p>
          </p:txBody>
        </p:sp>
      </p:grpSp>
      <p:pic>
        <p:nvPicPr>
          <p:cNvPr id="6146" name="Picture 2"/>
          <p:cNvPicPr>
            <a:picLocks noChangeAspect="1" noChangeArrowheads="1"/>
          </p:cNvPicPr>
          <p:nvPr/>
        </p:nvPicPr>
        <p:blipFill>
          <a:blip r:embed="rId1"/>
          <a:srcRect/>
          <a:stretch>
            <a:fillRect/>
          </a:stretch>
        </p:blipFill>
        <p:spPr bwMode="auto">
          <a:xfrm>
            <a:off x="1938338" y="938213"/>
            <a:ext cx="5267325" cy="4981575"/>
          </a:xfrm>
          <a:prstGeom prst="rect">
            <a:avLst/>
          </a:prstGeom>
          <a:noFill/>
          <a:ln w="9525">
            <a:noFill/>
            <a:miter lim="800000"/>
            <a:headEnd/>
            <a:tailEnd/>
          </a:ln>
          <a:effectLst/>
        </p:spPr>
      </p:pic>
    </p:spTree>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flipH="1">
            <a:off x="5523803" y="-41991"/>
            <a:ext cx="2901652" cy="2901652"/>
          </a:xfrm>
          <a:prstGeom prst="line">
            <a:avLst/>
          </a:prstGeom>
          <a:ln w="25400">
            <a:solidFill>
              <a:srgbClr val="F7BA3B"/>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7668344" y="620688"/>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7596336" y="1988840"/>
            <a:ext cx="1979712" cy="1979712"/>
          </a:xfrm>
          <a:prstGeom prst="line">
            <a:avLst/>
          </a:prstGeom>
          <a:ln w="25400">
            <a:solidFill>
              <a:srgbClr val="DA634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6948264" y="4653136"/>
            <a:ext cx="1656184" cy="1656184"/>
          </a:xfrm>
          <a:prstGeom prst="line">
            <a:avLst/>
          </a:prstGeom>
          <a:ln w="25400">
            <a:solidFill>
              <a:srgbClr val="2FB6A8"/>
            </a:solidFill>
            <a:headEnd type="triangle"/>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5292080" y="5517232"/>
            <a:ext cx="767730" cy="767730"/>
          </a:xfrm>
          <a:prstGeom prst="line">
            <a:avLst/>
          </a:prstGeom>
          <a:ln w="25400">
            <a:solidFill>
              <a:srgbClr val="DA634F"/>
            </a:solidFill>
            <a:head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6256186" y="3035885"/>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 name="组合 14"/>
          <p:cNvGrpSpPr/>
          <p:nvPr/>
        </p:nvGrpSpPr>
        <p:grpSpPr>
          <a:xfrm>
            <a:off x="359467" y="872056"/>
            <a:ext cx="702417" cy="702417"/>
            <a:chOff x="2921917" y="2223151"/>
            <a:chExt cx="1527064" cy="1527064"/>
          </a:xfrm>
        </p:grpSpPr>
        <p:grpSp>
          <p:nvGrpSpPr>
            <p:cNvPr id="3" name="组合 15"/>
            <p:cNvGrpSpPr/>
            <p:nvPr/>
          </p:nvGrpSpPr>
          <p:grpSpPr>
            <a:xfrm>
              <a:off x="2921917" y="2223151"/>
              <a:ext cx="1527064" cy="1527064"/>
              <a:chOff x="1200760" y="3842075"/>
              <a:chExt cx="1784148" cy="1784148"/>
            </a:xfrm>
          </p:grpSpPr>
          <p:sp>
            <p:nvSpPr>
              <p:cNvPr id="18" name="椭圆 17"/>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sp>
            <p:nvSpPr>
              <p:cNvPr id="19" name="椭圆 18"/>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grpSp>
        <p:sp>
          <p:nvSpPr>
            <p:cNvPr id="17" name="文本框 168"/>
            <p:cNvSpPr txBox="1"/>
            <p:nvPr/>
          </p:nvSpPr>
          <p:spPr>
            <a:xfrm>
              <a:off x="2921917" y="2490948"/>
              <a:ext cx="1415526" cy="1134770"/>
            </a:xfrm>
            <a:prstGeom prst="rect">
              <a:avLst/>
            </a:prstGeom>
            <a:noFill/>
          </p:spPr>
          <p:txBody>
            <a:bodyPr wrap="square" rtlCol="0">
              <a:spAutoFit/>
            </a:bodyPr>
            <a:lstStyle/>
            <a:p>
              <a:pPr algn="ctr">
                <a:defRPr/>
              </a:pPr>
              <a:r>
                <a:rPr lang="en-US" altLang="zh-CN" sz="2800" dirty="0" smtClean="0">
                  <a:solidFill>
                    <a:prstClr val="white"/>
                  </a:solidFill>
                  <a:latin typeface="微软雅黑" panose="020B0503020204020204" pitchFamily="34" charset="-122"/>
                  <a:ea typeface="微软雅黑" panose="020B0503020204020204" pitchFamily="34" charset="-122"/>
                </a:rPr>
                <a:t>02</a:t>
              </a:r>
              <a:endParaRPr lang="zh-CN" altLang="en-US" sz="2800" dirty="0">
                <a:solidFill>
                  <a:prstClr val="white"/>
                </a:solidFill>
                <a:latin typeface="微软雅黑" panose="020B0503020204020204" pitchFamily="34" charset="-122"/>
                <a:ea typeface="微软雅黑" panose="020B0503020204020204" pitchFamily="34" charset="-122"/>
              </a:endParaRPr>
            </a:p>
          </p:txBody>
        </p:sp>
      </p:grpSp>
      <p:sp>
        <p:nvSpPr>
          <p:cNvPr id="20" name="文本框 6"/>
          <p:cNvSpPr txBox="1"/>
          <p:nvPr/>
        </p:nvSpPr>
        <p:spPr>
          <a:xfrm>
            <a:off x="1349815" y="1002856"/>
            <a:ext cx="5673285"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11.2 </a:t>
            </a:r>
            <a:r>
              <a:rPr lang="zh-CN" altLang="en-US" sz="2400" b="1" dirty="0" smtClean="0">
                <a:solidFill>
                  <a:prstClr val="white"/>
                </a:solidFill>
                <a:latin typeface="微软雅黑" panose="020B0503020204020204" pitchFamily="34" charset="-122"/>
                <a:ea typeface="微软雅黑" panose="020B0503020204020204" pitchFamily="34" charset="-122"/>
              </a:rPr>
              <a:t>服务器端生成 </a:t>
            </a:r>
            <a:r>
              <a:rPr lang="en-US" altLang="zh-CN" sz="2400" b="1" dirty="0" smtClean="0">
                <a:solidFill>
                  <a:prstClr val="white"/>
                </a:solidFill>
                <a:latin typeface="微软雅黑" panose="020B0503020204020204" pitchFamily="34" charset="-122"/>
                <a:ea typeface="微软雅黑" panose="020B0503020204020204" pitchFamily="34" charset="-122"/>
              </a:rPr>
              <a:t>JSON </a:t>
            </a:r>
            <a:r>
              <a:rPr lang="zh-CN" altLang="en-US" sz="2400" b="1" dirty="0" smtClean="0">
                <a:solidFill>
                  <a:prstClr val="white"/>
                </a:solidFill>
                <a:latin typeface="微软雅黑" panose="020B0503020204020204" pitchFamily="34" charset="-122"/>
                <a:ea typeface="微软雅黑" panose="020B0503020204020204" pitchFamily="34" charset="-122"/>
              </a:rPr>
              <a:t>数据</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15" name="文本框 6"/>
          <p:cNvSpPr txBox="1"/>
          <p:nvPr/>
        </p:nvSpPr>
        <p:spPr>
          <a:xfrm>
            <a:off x="1349815" y="1536256"/>
            <a:ext cx="5978085"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a:t>
            </a:r>
            <a:r>
              <a:rPr lang="en-US" altLang="zh-CN" sz="2400" b="1" dirty="0" smtClean="0">
                <a:solidFill>
                  <a:prstClr val="white"/>
                </a:solidFill>
                <a:latin typeface="微软雅黑" panose="020B0503020204020204" pitchFamily="34" charset="-122"/>
                <a:ea typeface="微软雅黑" panose="020B0503020204020204" pitchFamily="34" charset="-122"/>
              </a:rPr>
              <a:t>.2.2 </a:t>
            </a:r>
            <a:r>
              <a:rPr lang="en-US" altLang="zh-CN" sz="2400" b="1" dirty="0" err="1" smtClean="0">
                <a:solidFill>
                  <a:prstClr val="white"/>
                </a:solidFill>
                <a:latin typeface="微软雅黑" panose="020B0503020204020204" pitchFamily="34" charset="-122"/>
                <a:ea typeface="微软雅黑" panose="020B0503020204020204" pitchFamily="34" charset="-122"/>
              </a:rPr>
              <a:t>jsonserver</a:t>
            </a:r>
            <a:r>
              <a:rPr lang="en-US" altLang="zh-CN" sz="2400" b="1" dirty="0" smtClean="0">
                <a:solidFill>
                  <a:prstClr val="white"/>
                </a:solidFill>
                <a:latin typeface="微软雅黑" panose="020B0503020204020204" pitchFamily="34" charset="-122"/>
                <a:ea typeface="微软雅黑" panose="020B0503020204020204" pitchFamily="34" charset="-122"/>
              </a:rPr>
              <a:t> </a:t>
            </a:r>
            <a:r>
              <a:rPr lang="zh-CN" altLang="en-US" sz="2400" b="1" dirty="0" smtClean="0">
                <a:solidFill>
                  <a:prstClr val="white"/>
                </a:solidFill>
                <a:latin typeface="微软雅黑" panose="020B0503020204020204" pitchFamily="34" charset="-122"/>
                <a:ea typeface="微软雅黑" panose="020B0503020204020204" pitchFamily="34" charset="-122"/>
              </a:rPr>
              <a:t>工程主要代码</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16" name="圆角矩形 15"/>
          <p:cNvSpPr/>
          <p:nvPr/>
        </p:nvSpPr>
        <p:spPr>
          <a:xfrm>
            <a:off x="393700" y="2343150"/>
            <a:ext cx="8394700" cy="307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en-US" sz="2800" b="1" dirty="0" err="1" smtClean="0">
                <a:latin typeface="Times New Roman" panose="02020603050405020304" pitchFamily="18" charset="0"/>
                <a:cs typeface="Times New Roman" panose="02020603050405020304" pitchFamily="18" charset="0"/>
              </a:rPr>
              <a:t>JsonServlet</a:t>
            </a:r>
            <a:r>
              <a:rPr lang="en-US" altLang="en-US" sz="2800" b="1" dirty="0" smtClean="0">
                <a:latin typeface="Times New Roman" panose="02020603050405020304" pitchFamily="18" charset="0"/>
                <a:cs typeface="Times New Roman" panose="02020603050405020304" pitchFamily="18" charset="0"/>
              </a:rPr>
              <a:t> </a:t>
            </a:r>
            <a:r>
              <a:rPr lang="zh-CN" altLang="en-US" sz="2800" b="1" dirty="0" smtClean="0">
                <a:latin typeface="Times New Roman" panose="02020603050405020304" pitchFamily="18" charset="0"/>
                <a:cs typeface="Times New Roman" panose="02020603050405020304" pitchFamily="18" charset="0"/>
              </a:rPr>
              <a:t>的 </a:t>
            </a:r>
            <a:r>
              <a:rPr lang="en-US" altLang="en-US" sz="2800" b="1" dirty="0" err="1" smtClean="0">
                <a:latin typeface="Times New Roman" panose="02020603050405020304" pitchFamily="18" charset="0"/>
                <a:cs typeface="Times New Roman" panose="02020603050405020304" pitchFamily="18" charset="0"/>
              </a:rPr>
              <a:t>doGet</a:t>
            </a:r>
            <a:r>
              <a:rPr lang="en-US" altLang="en-US" sz="2800" b="1" dirty="0" smtClean="0">
                <a:latin typeface="Times New Roman" panose="02020603050405020304" pitchFamily="18" charset="0"/>
                <a:cs typeface="Times New Roman" panose="02020603050405020304" pitchFamily="18" charset="0"/>
              </a:rPr>
              <a:t> </a:t>
            </a:r>
            <a:r>
              <a:rPr lang="zh-CN" altLang="en-US" sz="2800" b="1" dirty="0" smtClean="0">
                <a:latin typeface="Times New Roman" panose="02020603050405020304" pitchFamily="18" charset="0"/>
                <a:cs typeface="Times New Roman" panose="02020603050405020304" pitchFamily="18" charset="0"/>
              </a:rPr>
              <a:t>方法</a:t>
            </a:r>
            <a:r>
              <a:rPr lang="zh-CN" altLang="en-US" sz="2800" b="1" dirty="0" smtClean="0">
                <a:latin typeface="Times New Roman" panose="02020603050405020304" pitchFamily="18" charset="0"/>
                <a:cs typeface="Times New Roman" panose="02020603050405020304" pitchFamily="18" charset="0"/>
              </a:rPr>
              <a:t>调用</a:t>
            </a:r>
            <a:r>
              <a:rPr lang="zh-CN" altLang="en-US" sz="2800" b="1" dirty="0" smtClean="0">
                <a:latin typeface="Times New Roman" panose="02020603050405020304" pitchFamily="18" charset="0"/>
                <a:cs typeface="Times New Roman" panose="02020603050405020304" pitchFamily="18" charset="0"/>
              </a:rPr>
              <a:t>了 </a:t>
            </a:r>
            <a:r>
              <a:rPr lang="en-US" altLang="en-US" sz="2800" b="1" dirty="0" err="1" smtClean="0">
                <a:solidFill>
                  <a:srgbClr val="FF0000"/>
                </a:solidFill>
                <a:latin typeface="Times New Roman" panose="02020603050405020304" pitchFamily="18" charset="0"/>
                <a:cs typeface="Times New Roman" panose="02020603050405020304" pitchFamily="18" charset="0"/>
              </a:rPr>
              <a:t>doPost</a:t>
            </a:r>
            <a:r>
              <a:rPr lang="en-US" altLang="en-US" sz="2800" b="1" dirty="0" smtClean="0">
                <a:solidFill>
                  <a:srgbClr val="FF0000"/>
                </a:solidFill>
                <a:latin typeface="Times New Roman" panose="02020603050405020304" pitchFamily="18" charset="0"/>
                <a:cs typeface="Times New Roman" panose="02020603050405020304" pitchFamily="18" charset="0"/>
              </a:rPr>
              <a:t> </a:t>
            </a:r>
            <a:r>
              <a:rPr lang="zh-CN" altLang="en-US" sz="2800" b="1" dirty="0" smtClean="0">
                <a:solidFill>
                  <a:srgbClr val="FF0000"/>
                </a:solidFill>
                <a:latin typeface="Times New Roman" panose="02020603050405020304" pitchFamily="18" charset="0"/>
                <a:cs typeface="Times New Roman" panose="02020603050405020304" pitchFamily="18" charset="0"/>
              </a:rPr>
              <a:t>方法</a:t>
            </a:r>
            <a:r>
              <a:rPr lang="zh-CN" altLang="en-US" sz="2800" b="1" dirty="0" smtClean="0">
                <a:latin typeface="Times New Roman" panose="02020603050405020304" pitchFamily="18" charset="0"/>
                <a:cs typeface="Times New Roman" panose="02020603050405020304" pitchFamily="18" charset="0"/>
              </a:rPr>
              <a:t>，</a:t>
            </a:r>
            <a:r>
              <a:rPr lang="zh-CN" altLang="en-US" sz="2800" b="1" dirty="0" smtClean="0">
                <a:latin typeface="Times New Roman" panose="02020603050405020304" pitchFamily="18" charset="0"/>
                <a:cs typeface="Times New Roman" panose="02020603050405020304" pitchFamily="18" charset="0"/>
              </a:rPr>
              <a:t>在 </a:t>
            </a:r>
            <a:r>
              <a:rPr lang="en-US" altLang="en-US" sz="2800" b="1" dirty="0" err="1" smtClean="0">
                <a:latin typeface="Times New Roman" panose="02020603050405020304" pitchFamily="18" charset="0"/>
                <a:cs typeface="Times New Roman" panose="02020603050405020304" pitchFamily="18" charset="0"/>
              </a:rPr>
              <a:t>doPost</a:t>
            </a:r>
            <a:r>
              <a:rPr lang="en-US" altLang="en-US" sz="2800" b="1" dirty="0" smtClean="0">
                <a:latin typeface="Times New Roman" panose="02020603050405020304" pitchFamily="18" charset="0"/>
                <a:cs typeface="Times New Roman" panose="02020603050405020304" pitchFamily="18" charset="0"/>
              </a:rPr>
              <a:t> </a:t>
            </a:r>
            <a:r>
              <a:rPr lang="zh-CN" altLang="en-US" sz="2800" b="1" dirty="0" smtClean="0">
                <a:latin typeface="Times New Roman" panose="02020603050405020304" pitchFamily="18" charset="0"/>
                <a:cs typeface="Times New Roman" panose="02020603050405020304" pitchFamily="18" charset="0"/>
              </a:rPr>
              <a:t>方法</a:t>
            </a:r>
            <a:r>
              <a:rPr lang="zh-CN" altLang="en-US" sz="2800" b="1" dirty="0" smtClean="0">
                <a:latin typeface="Times New Roman" panose="02020603050405020304" pitchFamily="18" charset="0"/>
                <a:cs typeface="Times New Roman" panose="02020603050405020304" pitchFamily="18" charset="0"/>
              </a:rPr>
              <a:t>中，</a:t>
            </a:r>
            <a:r>
              <a:rPr lang="zh-CN" altLang="en-US" sz="2800" b="1" dirty="0" smtClean="0">
                <a:solidFill>
                  <a:srgbClr val="FF0000"/>
                </a:solidFill>
                <a:latin typeface="Times New Roman" panose="02020603050405020304" pitchFamily="18" charset="0"/>
                <a:cs typeface="Times New Roman" panose="02020603050405020304" pitchFamily="18" charset="0"/>
              </a:rPr>
              <a:t>根据 </a:t>
            </a:r>
            <a:r>
              <a:rPr lang="en-US" altLang="en-US" sz="2800" b="1" dirty="0" smtClean="0">
                <a:solidFill>
                  <a:srgbClr val="FF0000"/>
                </a:solidFill>
                <a:latin typeface="Times New Roman" panose="02020603050405020304" pitchFamily="18" charset="0"/>
                <a:cs typeface="Times New Roman" panose="02020603050405020304" pitchFamily="18" charset="0"/>
              </a:rPr>
              <a:t>HTTP </a:t>
            </a:r>
            <a:r>
              <a:rPr lang="zh-CN" altLang="en-US" sz="2800" b="1" dirty="0" smtClean="0">
                <a:solidFill>
                  <a:srgbClr val="FF0000"/>
                </a:solidFill>
                <a:latin typeface="Times New Roman" panose="02020603050405020304" pitchFamily="18" charset="0"/>
                <a:cs typeface="Times New Roman" panose="02020603050405020304" pitchFamily="18" charset="0"/>
              </a:rPr>
              <a:t>请求参数 </a:t>
            </a:r>
            <a:r>
              <a:rPr lang="en-US" altLang="en-US" sz="2800" b="1" dirty="0" err="1" smtClean="0">
                <a:solidFill>
                  <a:srgbClr val="FF0000"/>
                </a:solidFill>
                <a:latin typeface="Times New Roman" panose="02020603050405020304" pitchFamily="18" charset="0"/>
                <a:cs typeface="Times New Roman" panose="02020603050405020304" pitchFamily="18" charset="0"/>
              </a:rPr>
              <a:t>action_flag</a:t>
            </a:r>
            <a:r>
              <a:rPr lang="en-US" altLang="en-US" sz="2800" b="1" dirty="0" smtClean="0">
                <a:solidFill>
                  <a:srgbClr val="FF0000"/>
                </a:solidFill>
                <a:latin typeface="Times New Roman" panose="02020603050405020304" pitchFamily="18" charset="0"/>
                <a:cs typeface="Times New Roman" panose="02020603050405020304" pitchFamily="18" charset="0"/>
              </a:rPr>
              <a:t> </a:t>
            </a:r>
            <a:r>
              <a:rPr lang="zh-CN" altLang="en-US" sz="2800" b="1" dirty="0" smtClean="0">
                <a:solidFill>
                  <a:srgbClr val="FF0000"/>
                </a:solidFill>
                <a:latin typeface="Times New Roman" panose="02020603050405020304" pitchFamily="18" charset="0"/>
                <a:cs typeface="Times New Roman" panose="02020603050405020304" pitchFamily="18" charset="0"/>
              </a:rPr>
              <a:t>的</a:t>
            </a:r>
            <a:r>
              <a:rPr lang="zh-CN" altLang="en-US" sz="2800" b="1" dirty="0" smtClean="0">
                <a:solidFill>
                  <a:srgbClr val="FF0000"/>
                </a:solidFill>
                <a:latin typeface="Times New Roman" panose="02020603050405020304" pitchFamily="18" charset="0"/>
                <a:cs typeface="Times New Roman" panose="02020603050405020304" pitchFamily="18" charset="0"/>
              </a:rPr>
              <a:t>不同</a:t>
            </a:r>
            <a:r>
              <a:rPr lang="zh-CN" altLang="en-US" sz="2800" b="1" dirty="0" smtClean="0">
                <a:latin typeface="Times New Roman" panose="02020603050405020304" pitchFamily="18" charset="0"/>
                <a:cs typeface="Times New Roman" panose="02020603050405020304" pitchFamily="18" charset="0"/>
              </a:rPr>
              <a:t>，而</a:t>
            </a:r>
            <a:r>
              <a:rPr lang="zh-CN" altLang="en-US" sz="2800" b="1" dirty="0" smtClean="0">
                <a:latin typeface="Times New Roman" panose="02020603050405020304" pitchFamily="18" charset="0"/>
                <a:cs typeface="Times New Roman" panose="02020603050405020304" pitchFamily="18" charset="0"/>
              </a:rPr>
              <a:t>调用 </a:t>
            </a:r>
            <a:r>
              <a:rPr lang="en-US" altLang="en-US" sz="2800" b="1" dirty="0" err="1" smtClean="0">
                <a:solidFill>
                  <a:srgbClr val="FF0000"/>
                </a:solidFill>
                <a:latin typeface="Times New Roman" panose="02020603050405020304" pitchFamily="18" charset="0"/>
                <a:cs typeface="Times New Roman" panose="02020603050405020304" pitchFamily="18" charset="0"/>
              </a:rPr>
              <a:t>JsonTool</a:t>
            </a:r>
            <a:r>
              <a:rPr lang="en-US" altLang="en-US" sz="2800" b="1" dirty="0" smtClean="0">
                <a:solidFill>
                  <a:srgbClr val="FF0000"/>
                </a:solidFill>
                <a:latin typeface="Times New Roman" panose="02020603050405020304" pitchFamily="18" charset="0"/>
                <a:cs typeface="Times New Roman" panose="02020603050405020304" pitchFamily="18" charset="0"/>
              </a:rPr>
              <a:t> </a:t>
            </a:r>
            <a:r>
              <a:rPr lang="zh-CN" altLang="en-US" sz="2800" b="1" dirty="0" smtClean="0">
                <a:latin typeface="Times New Roman" panose="02020603050405020304" pitchFamily="18" charset="0"/>
                <a:cs typeface="Times New Roman" panose="02020603050405020304" pitchFamily="18" charset="0"/>
              </a:rPr>
              <a:t>的</a:t>
            </a:r>
            <a:r>
              <a:rPr lang="zh-CN" altLang="en-US" sz="2800" b="1" dirty="0" smtClean="0">
                <a:latin typeface="Times New Roman" panose="02020603050405020304" pitchFamily="18" charset="0"/>
                <a:cs typeface="Times New Roman" panose="02020603050405020304" pitchFamily="18" charset="0"/>
              </a:rPr>
              <a:t>不同实参</a:t>
            </a:r>
            <a:r>
              <a:rPr lang="zh-CN" altLang="en-US" sz="2800" b="1" dirty="0" smtClean="0">
                <a:latin typeface="Times New Roman" panose="02020603050405020304" pitchFamily="18" charset="0"/>
                <a:cs typeface="Times New Roman" panose="02020603050405020304" pitchFamily="18" charset="0"/>
              </a:rPr>
              <a:t>的 </a:t>
            </a:r>
            <a:r>
              <a:rPr lang="en-US" altLang="en-US" sz="2800" b="1" dirty="0" err="1" smtClean="0">
                <a:latin typeface="Times New Roman" panose="02020603050405020304" pitchFamily="18" charset="0"/>
                <a:cs typeface="Times New Roman" panose="02020603050405020304" pitchFamily="18" charset="0"/>
              </a:rPr>
              <a:t>createJsonString</a:t>
            </a:r>
            <a:r>
              <a:rPr lang="en-US" altLang="en-US" sz="2800" b="1" dirty="0" smtClean="0">
                <a:latin typeface="Times New Roman" panose="02020603050405020304" pitchFamily="18" charset="0"/>
                <a:cs typeface="Times New Roman" panose="02020603050405020304" pitchFamily="18" charset="0"/>
              </a:rPr>
              <a:t> </a:t>
            </a:r>
            <a:r>
              <a:rPr lang="zh-CN" altLang="en-US" sz="2800" b="1" dirty="0" smtClean="0">
                <a:latin typeface="Times New Roman" panose="02020603050405020304" pitchFamily="18" charset="0"/>
                <a:cs typeface="Times New Roman" panose="02020603050405020304" pitchFamily="18" charset="0"/>
              </a:rPr>
              <a:t>方法</a:t>
            </a:r>
            <a:r>
              <a:rPr lang="zh-CN" altLang="en-US" sz="2800" b="1" dirty="0" smtClean="0">
                <a:latin typeface="Times New Roman" panose="02020603050405020304" pitchFamily="18" charset="0"/>
                <a:cs typeface="Times New Roman" panose="02020603050405020304" pitchFamily="18" charset="0"/>
              </a:rPr>
              <a:t>，以在返回页面</a:t>
            </a:r>
            <a:r>
              <a:rPr lang="zh-CN" altLang="en-US" sz="2800" b="1" dirty="0" smtClean="0">
                <a:latin typeface="Times New Roman" panose="02020603050405020304" pitchFamily="18" charset="0"/>
                <a:cs typeface="Times New Roman" panose="02020603050405020304" pitchFamily="18" charset="0"/>
              </a:rPr>
              <a:t>输出 </a:t>
            </a:r>
            <a:r>
              <a:rPr lang="en-US" altLang="en-US" sz="2800" b="1" dirty="0" smtClean="0">
                <a:latin typeface="Times New Roman" panose="02020603050405020304" pitchFamily="18" charset="0"/>
                <a:cs typeface="Times New Roman" panose="02020603050405020304" pitchFamily="18" charset="0"/>
              </a:rPr>
              <a:t>JSON</a:t>
            </a:r>
            <a:r>
              <a:rPr lang="zh-CN" altLang="en-US" sz="2800" b="1" dirty="0" smtClean="0">
                <a:latin typeface="Times New Roman" panose="02020603050405020304" pitchFamily="18" charset="0"/>
                <a:cs typeface="Times New Roman" panose="02020603050405020304" pitchFamily="18" charset="0"/>
              </a:rPr>
              <a:t>。</a:t>
            </a:r>
            <a:endParaRPr lang="zh-CN" altLang="en-US" sz="2800" b="1" dirty="0" smtClean="0">
              <a:latin typeface="Times New Roman" panose="02020603050405020304" pitchFamily="18" charset="0"/>
              <a:cs typeface="Times New Roman" panose="02020603050405020304" pitchFamily="18" charset="0"/>
            </a:endParaRPr>
          </a:p>
          <a:p>
            <a:pPr>
              <a:lnSpc>
                <a:spcPct val="150000"/>
              </a:lnSpc>
            </a:pPr>
            <a:endParaRPr lang="en-US" altLang="zh-CN" sz="2800" b="1" dirty="0" smtClean="0">
              <a:latin typeface="Times New Roman" panose="02020603050405020304" pitchFamily="18" charset="0"/>
              <a:cs typeface="Times New Roman" panose="02020603050405020304" pitchFamily="18" charset="0"/>
            </a:endParaRPr>
          </a:p>
        </p:txBody>
      </p:sp>
    </p:spTree>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p:cTn id="13" dur="500" fill="hold"/>
                                        <p:tgtEl>
                                          <p:spTgt spid="20"/>
                                        </p:tgtEl>
                                        <p:attrNameLst>
                                          <p:attrName>ppt_w</p:attrName>
                                        </p:attrNameLst>
                                      </p:cBhvr>
                                      <p:tavLst>
                                        <p:tav tm="0">
                                          <p:val>
                                            <p:fltVal val="0"/>
                                          </p:val>
                                        </p:tav>
                                        <p:tav tm="100000">
                                          <p:val>
                                            <p:strVal val="#ppt_w"/>
                                          </p:val>
                                        </p:tav>
                                      </p:tavLst>
                                    </p:anim>
                                    <p:anim calcmode="lin" valueType="num">
                                      <p:cBhvr>
                                        <p:cTn id="14" dur="500" fill="hold"/>
                                        <p:tgtEl>
                                          <p:spTgt spid="20"/>
                                        </p:tgtEl>
                                        <p:attrNameLst>
                                          <p:attrName>ppt_h</p:attrName>
                                        </p:attrNameLst>
                                      </p:cBhvr>
                                      <p:tavLst>
                                        <p:tav tm="0">
                                          <p:val>
                                            <p:fltVal val="0"/>
                                          </p:val>
                                        </p:tav>
                                        <p:tav tm="100000">
                                          <p:val>
                                            <p:strVal val="#ppt_h"/>
                                          </p:val>
                                        </p:tav>
                                      </p:tavLst>
                                    </p:anim>
                                    <p:animEffect transition="in" filter="fade">
                                      <p:cBhvr>
                                        <p:cTn id="15" dur="500"/>
                                        <p:tgtEl>
                                          <p:spTgt spid="20"/>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p:cTn id="19" dur="500" fill="hold"/>
                                        <p:tgtEl>
                                          <p:spTgt spid="15"/>
                                        </p:tgtEl>
                                        <p:attrNameLst>
                                          <p:attrName>ppt_w</p:attrName>
                                        </p:attrNameLst>
                                      </p:cBhvr>
                                      <p:tavLst>
                                        <p:tav tm="0">
                                          <p:val>
                                            <p:fltVal val="0"/>
                                          </p:val>
                                        </p:tav>
                                        <p:tav tm="100000">
                                          <p:val>
                                            <p:strVal val="#ppt_w"/>
                                          </p:val>
                                        </p:tav>
                                      </p:tavLst>
                                    </p:anim>
                                    <p:anim calcmode="lin" valueType="num">
                                      <p:cBhvr>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flipH="1">
            <a:off x="5523803" y="-41991"/>
            <a:ext cx="2901652" cy="2901652"/>
          </a:xfrm>
          <a:prstGeom prst="line">
            <a:avLst/>
          </a:prstGeom>
          <a:ln w="25400">
            <a:solidFill>
              <a:srgbClr val="F7BA3B"/>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7668344" y="620688"/>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7596336" y="1988840"/>
            <a:ext cx="1979712" cy="1979712"/>
          </a:xfrm>
          <a:prstGeom prst="line">
            <a:avLst/>
          </a:prstGeom>
          <a:ln w="25400">
            <a:solidFill>
              <a:srgbClr val="DA634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6948264" y="4653136"/>
            <a:ext cx="1656184" cy="1656184"/>
          </a:xfrm>
          <a:prstGeom prst="line">
            <a:avLst/>
          </a:prstGeom>
          <a:ln w="25400">
            <a:solidFill>
              <a:srgbClr val="2FB6A8"/>
            </a:solidFill>
            <a:headEnd type="triangle"/>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5292080" y="5517232"/>
            <a:ext cx="767730" cy="767730"/>
          </a:xfrm>
          <a:prstGeom prst="line">
            <a:avLst/>
          </a:prstGeom>
          <a:ln w="25400">
            <a:solidFill>
              <a:srgbClr val="DA634F"/>
            </a:solidFill>
            <a:head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6256186" y="3035885"/>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 name="组合 14"/>
          <p:cNvGrpSpPr/>
          <p:nvPr/>
        </p:nvGrpSpPr>
        <p:grpSpPr>
          <a:xfrm>
            <a:off x="359467" y="872056"/>
            <a:ext cx="702417" cy="702417"/>
            <a:chOff x="2921917" y="2223151"/>
            <a:chExt cx="1527064" cy="1527064"/>
          </a:xfrm>
        </p:grpSpPr>
        <p:grpSp>
          <p:nvGrpSpPr>
            <p:cNvPr id="3" name="组合 15"/>
            <p:cNvGrpSpPr/>
            <p:nvPr/>
          </p:nvGrpSpPr>
          <p:grpSpPr>
            <a:xfrm>
              <a:off x="2921917" y="2223151"/>
              <a:ext cx="1527064" cy="1527064"/>
              <a:chOff x="1200760" y="3842075"/>
              <a:chExt cx="1784148" cy="1784148"/>
            </a:xfrm>
          </p:grpSpPr>
          <p:sp>
            <p:nvSpPr>
              <p:cNvPr id="18" name="椭圆 17"/>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sp>
            <p:nvSpPr>
              <p:cNvPr id="19" name="椭圆 18"/>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grpSp>
        <p:sp>
          <p:nvSpPr>
            <p:cNvPr id="17" name="文本框 168"/>
            <p:cNvSpPr txBox="1"/>
            <p:nvPr/>
          </p:nvSpPr>
          <p:spPr>
            <a:xfrm>
              <a:off x="2921917" y="2490948"/>
              <a:ext cx="1415526" cy="1134770"/>
            </a:xfrm>
            <a:prstGeom prst="rect">
              <a:avLst/>
            </a:prstGeom>
            <a:noFill/>
          </p:spPr>
          <p:txBody>
            <a:bodyPr wrap="square" rtlCol="0">
              <a:spAutoFit/>
            </a:bodyPr>
            <a:lstStyle/>
            <a:p>
              <a:pPr algn="ctr">
                <a:defRPr/>
              </a:pPr>
              <a:r>
                <a:rPr lang="en-US" altLang="zh-CN" sz="2800" dirty="0" smtClean="0">
                  <a:solidFill>
                    <a:prstClr val="white"/>
                  </a:solidFill>
                  <a:latin typeface="微软雅黑" panose="020B0503020204020204" pitchFamily="34" charset="-122"/>
                  <a:ea typeface="微软雅黑" panose="020B0503020204020204" pitchFamily="34" charset="-122"/>
                </a:rPr>
                <a:t>02</a:t>
              </a:r>
              <a:endParaRPr lang="zh-CN" altLang="en-US" sz="2800" dirty="0">
                <a:solidFill>
                  <a:prstClr val="white"/>
                </a:solidFill>
                <a:latin typeface="微软雅黑" panose="020B0503020204020204" pitchFamily="34" charset="-122"/>
                <a:ea typeface="微软雅黑" panose="020B0503020204020204" pitchFamily="34" charset="-122"/>
              </a:endParaRPr>
            </a:p>
          </p:txBody>
        </p:sp>
      </p:grpSp>
      <p:sp>
        <p:nvSpPr>
          <p:cNvPr id="20" name="文本框 6"/>
          <p:cNvSpPr txBox="1"/>
          <p:nvPr/>
        </p:nvSpPr>
        <p:spPr>
          <a:xfrm>
            <a:off x="1349815" y="1002856"/>
            <a:ext cx="5673285"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11.2 </a:t>
            </a:r>
            <a:r>
              <a:rPr lang="zh-CN" altLang="en-US" sz="2400" b="1" dirty="0" smtClean="0">
                <a:solidFill>
                  <a:prstClr val="white"/>
                </a:solidFill>
                <a:latin typeface="微软雅黑" panose="020B0503020204020204" pitchFamily="34" charset="-122"/>
                <a:ea typeface="微软雅黑" panose="020B0503020204020204" pitchFamily="34" charset="-122"/>
              </a:rPr>
              <a:t>服务器端生成 </a:t>
            </a:r>
            <a:r>
              <a:rPr lang="en-US" altLang="zh-CN" sz="2400" b="1" dirty="0" smtClean="0">
                <a:solidFill>
                  <a:prstClr val="white"/>
                </a:solidFill>
                <a:latin typeface="微软雅黑" panose="020B0503020204020204" pitchFamily="34" charset="-122"/>
                <a:ea typeface="微软雅黑" panose="020B0503020204020204" pitchFamily="34" charset="-122"/>
              </a:rPr>
              <a:t>JSON </a:t>
            </a:r>
            <a:r>
              <a:rPr lang="zh-CN" altLang="en-US" sz="2400" b="1" dirty="0" smtClean="0">
                <a:solidFill>
                  <a:prstClr val="white"/>
                </a:solidFill>
                <a:latin typeface="微软雅黑" panose="020B0503020204020204" pitchFamily="34" charset="-122"/>
                <a:ea typeface="微软雅黑" panose="020B0503020204020204" pitchFamily="34" charset="-122"/>
              </a:rPr>
              <a:t>数据</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15" name="文本框 6"/>
          <p:cNvSpPr txBox="1"/>
          <p:nvPr/>
        </p:nvSpPr>
        <p:spPr>
          <a:xfrm>
            <a:off x="1349815" y="1536256"/>
            <a:ext cx="5978085"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a:t>
            </a:r>
            <a:r>
              <a:rPr lang="en-US" altLang="zh-CN" sz="2400" b="1" dirty="0" smtClean="0">
                <a:solidFill>
                  <a:prstClr val="white"/>
                </a:solidFill>
                <a:latin typeface="微软雅黑" panose="020B0503020204020204" pitchFamily="34" charset="-122"/>
                <a:ea typeface="微软雅黑" panose="020B0503020204020204" pitchFamily="34" charset="-122"/>
              </a:rPr>
              <a:t>.2.2 </a:t>
            </a:r>
            <a:r>
              <a:rPr lang="en-US" altLang="zh-CN" sz="2400" b="1" dirty="0" err="1" smtClean="0">
                <a:solidFill>
                  <a:prstClr val="white"/>
                </a:solidFill>
                <a:latin typeface="微软雅黑" panose="020B0503020204020204" pitchFamily="34" charset="-122"/>
                <a:ea typeface="微软雅黑" panose="020B0503020204020204" pitchFamily="34" charset="-122"/>
              </a:rPr>
              <a:t>jsonserver</a:t>
            </a:r>
            <a:r>
              <a:rPr lang="en-US" altLang="zh-CN" sz="2400" b="1" dirty="0" smtClean="0">
                <a:solidFill>
                  <a:prstClr val="white"/>
                </a:solidFill>
                <a:latin typeface="微软雅黑" panose="020B0503020204020204" pitchFamily="34" charset="-122"/>
                <a:ea typeface="微软雅黑" panose="020B0503020204020204" pitchFamily="34" charset="-122"/>
              </a:rPr>
              <a:t> </a:t>
            </a:r>
            <a:r>
              <a:rPr lang="zh-CN" altLang="en-US" sz="2400" b="1" dirty="0" smtClean="0">
                <a:solidFill>
                  <a:prstClr val="white"/>
                </a:solidFill>
                <a:latin typeface="微软雅黑" panose="020B0503020204020204" pitchFamily="34" charset="-122"/>
                <a:ea typeface="微软雅黑" panose="020B0503020204020204" pitchFamily="34" charset="-122"/>
              </a:rPr>
              <a:t>工程主要代码</a:t>
            </a:r>
            <a:endParaRPr lang="zh-CN" altLang="en-US" sz="2400" dirty="0">
              <a:solidFill>
                <a:prstClr val="white"/>
              </a:solidFill>
              <a:latin typeface="微软雅黑" panose="020B0503020204020204" pitchFamily="34" charset="-122"/>
              <a:ea typeface="微软雅黑" panose="020B0503020204020204" pitchFamily="34" charset="-122"/>
            </a:endParaRPr>
          </a:p>
        </p:txBody>
      </p:sp>
      <p:pic>
        <p:nvPicPr>
          <p:cNvPr id="7170" name="Picture 2"/>
          <p:cNvPicPr>
            <a:picLocks noChangeAspect="1" noChangeArrowheads="1"/>
          </p:cNvPicPr>
          <p:nvPr/>
        </p:nvPicPr>
        <p:blipFill>
          <a:blip r:embed="rId1"/>
          <a:srcRect/>
          <a:stretch>
            <a:fillRect/>
          </a:stretch>
        </p:blipFill>
        <p:spPr bwMode="auto">
          <a:xfrm>
            <a:off x="1119187" y="2655888"/>
            <a:ext cx="7117477" cy="2887662"/>
          </a:xfrm>
          <a:prstGeom prst="rect">
            <a:avLst/>
          </a:prstGeom>
          <a:noFill/>
          <a:ln w="9525">
            <a:noFill/>
            <a:miter lim="800000"/>
            <a:headEnd/>
            <a:tailEnd/>
          </a:ln>
          <a:effectLst/>
        </p:spPr>
      </p:pic>
      <p:sp>
        <p:nvSpPr>
          <p:cNvPr id="21" name="圆角矩形 20"/>
          <p:cNvSpPr/>
          <p:nvPr/>
        </p:nvSpPr>
        <p:spPr>
          <a:xfrm>
            <a:off x="1130300" y="2203450"/>
            <a:ext cx="7124700" cy="330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en-US" sz="2000" b="1" dirty="0" smtClean="0">
                <a:latin typeface="Times New Roman" panose="02020603050405020304" pitchFamily="18" charset="0"/>
                <a:cs typeface="Times New Roman" panose="02020603050405020304" pitchFamily="18" charset="0"/>
              </a:rPr>
              <a:t>web.xml </a:t>
            </a:r>
            <a:r>
              <a:rPr lang="zh-CN" altLang="en-US" sz="2000" b="1" dirty="0" smtClean="0">
                <a:latin typeface="Times New Roman" panose="02020603050405020304" pitchFamily="18" charset="0"/>
                <a:cs typeface="Times New Roman" panose="02020603050405020304" pitchFamily="18" charset="0"/>
              </a:rPr>
              <a:t>中</a:t>
            </a:r>
            <a:r>
              <a:rPr lang="zh-CN" altLang="en-US" sz="2000" b="1" dirty="0" smtClean="0">
                <a:latin typeface="Times New Roman" panose="02020603050405020304" pitchFamily="18" charset="0"/>
                <a:cs typeface="Times New Roman" panose="02020603050405020304" pitchFamily="18" charset="0"/>
              </a:rPr>
              <a:t>须</a:t>
            </a:r>
            <a:r>
              <a:rPr lang="zh-CN" altLang="en-US" sz="2000" b="1" dirty="0" smtClean="0">
                <a:latin typeface="Times New Roman" panose="02020603050405020304" pitchFamily="18" charset="0"/>
                <a:cs typeface="Times New Roman" panose="02020603050405020304" pitchFamily="18" charset="0"/>
              </a:rPr>
              <a:t>配置 </a:t>
            </a:r>
            <a:r>
              <a:rPr lang="en-US" altLang="en-US" sz="2000" b="1" dirty="0" err="1" smtClean="0">
                <a:latin typeface="Times New Roman" panose="02020603050405020304" pitchFamily="18" charset="0"/>
                <a:cs typeface="Times New Roman" panose="02020603050405020304" pitchFamily="18" charset="0"/>
              </a:rPr>
              <a:t>servlet</a:t>
            </a:r>
            <a:r>
              <a:rPr lang="en-US" altLang="en-US" sz="2000" b="1" dirty="0" smtClean="0">
                <a:latin typeface="Times New Roman" panose="02020603050405020304" pitchFamily="18" charset="0"/>
                <a:cs typeface="Times New Roman" panose="02020603050405020304" pitchFamily="18" charset="0"/>
              </a:rPr>
              <a:t> </a:t>
            </a:r>
            <a:r>
              <a:rPr lang="zh-CN" altLang="en-US" sz="2000" b="1" dirty="0" smtClean="0">
                <a:latin typeface="Times New Roman" panose="02020603050405020304" pitchFamily="18" charset="0"/>
                <a:cs typeface="Times New Roman" panose="02020603050405020304" pitchFamily="18" charset="0"/>
              </a:rPr>
              <a:t>映射</a:t>
            </a:r>
            <a:r>
              <a:rPr lang="zh-CN" altLang="en-US" sz="2000" b="1" dirty="0" smtClean="0">
                <a:latin typeface="Times New Roman" panose="02020603050405020304" pitchFamily="18" charset="0"/>
                <a:cs typeface="Times New Roman" panose="02020603050405020304" pitchFamily="18" charset="0"/>
              </a:rPr>
              <a:t>如下</a:t>
            </a:r>
            <a:r>
              <a:rPr lang="zh-CN" altLang="en-US" sz="2000" b="1" dirty="0" smtClean="0">
                <a:latin typeface="Times New Roman" panose="02020603050405020304" pitchFamily="18" charset="0"/>
                <a:cs typeface="Times New Roman" panose="02020603050405020304" pitchFamily="18" charset="0"/>
              </a:rPr>
              <a:t>：</a:t>
            </a:r>
            <a:endParaRPr lang="en-US" altLang="zh-CN" sz="2000" b="1" dirty="0" err="1" smtClean="0">
              <a:latin typeface="Times New Roman" panose="02020603050405020304" pitchFamily="18" charset="0"/>
              <a:cs typeface="Times New Roman" panose="02020603050405020304" pitchFamily="18" charset="0"/>
            </a:endParaRPr>
          </a:p>
        </p:txBody>
      </p:sp>
    </p:spTree>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p:cTn id="13" dur="500" fill="hold"/>
                                        <p:tgtEl>
                                          <p:spTgt spid="20"/>
                                        </p:tgtEl>
                                        <p:attrNameLst>
                                          <p:attrName>ppt_w</p:attrName>
                                        </p:attrNameLst>
                                      </p:cBhvr>
                                      <p:tavLst>
                                        <p:tav tm="0">
                                          <p:val>
                                            <p:fltVal val="0"/>
                                          </p:val>
                                        </p:tav>
                                        <p:tav tm="100000">
                                          <p:val>
                                            <p:strVal val="#ppt_w"/>
                                          </p:val>
                                        </p:tav>
                                      </p:tavLst>
                                    </p:anim>
                                    <p:anim calcmode="lin" valueType="num">
                                      <p:cBhvr>
                                        <p:cTn id="14" dur="500" fill="hold"/>
                                        <p:tgtEl>
                                          <p:spTgt spid="20"/>
                                        </p:tgtEl>
                                        <p:attrNameLst>
                                          <p:attrName>ppt_h</p:attrName>
                                        </p:attrNameLst>
                                      </p:cBhvr>
                                      <p:tavLst>
                                        <p:tav tm="0">
                                          <p:val>
                                            <p:fltVal val="0"/>
                                          </p:val>
                                        </p:tav>
                                        <p:tav tm="100000">
                                          <p:val>
                                            <p:strVal val="#ppt_h"/>
                                          </p:val>
                                        </p:tav>
                                      </p:tavLst>
                                    </p:anim>
                                    <p:animEffect transition="in" filter="fade">
                                      <p:cBhvr>
                                        <p:cTn id="15" dur="500"/>
                                        <p:tgtEl>
                                          <p:spTgt spid="20"/>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p:cTn id="19" dur="500" fill="hold"/>
                                        <p:tgtEl>
                                          <p:spTgt spid="15"/>
                                        </p:tgtEl>
                                        <p:attrNameLst>
                                          <p:attrName>ppt_w</p:attrName>
                                        </p:attrNameLst>
                                      </p:cBhvr>
                                      <p:tavLst>
                                        <p:tav tm="0">
                                          <p:val>
                                            <p:fltVal val="0"/>
                                          </p:val>
                                        </p:tav>
                                        <p:tav tm="100000">
                                          <p:val>
                                            <p:strVal val="#ppt_w"/>
                                          </p:val>
                                        </p:tav>
                                      </p:tavLst>
                                    </p:anim>
                                    <p:anim calcmode="lin" valueType="num">
                                      <p:cBhvr>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flipH="1">
            <a:off x="5523803" y="-41991"/>
            <a:ext cx="2901652" cy="2901652"/>
          </a:xfrm>
          <a:prstGeom prst="line">
            <a:avLst/>
          </a:prstGeom>
          <a:ln w="25400">
            <a:solidFill>
              <a:srgbClr val="F7BA3B"/>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7668344" y="620688"/>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7596336" y="1988840"/>
            <a:ext cx="1979712" cy="1979712"/>
          </a:xfrm>
          <a:prstGeom prst="line">
            <a:avLst/>
          </a:prstGeom>
          <a:ln w="25400">
            <a:solidFill>
              <a:srgbClr val="DA634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6948264" y="4653136"/>
            <a:ext cx="1656184" cy="1656184"/>
          </a:xfrm>
          <a:prstGeom prst="line">
            <a:avLst/>
          </a:prstGeom>
          <a:ln w="25400">
            <a:solidFill>
              <a:srgbClr val="2FB6A8"/>
            </a:solidFill>
            <a:headEnd type="triangle"/>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5292080" y="5517232"/>
            <a:ext cx="767730" cy="767730"/>
          </a:xfrm>
          <a:prstGeom prst="line">
            <a:avLst/>
          </a:prstGeom>
          <a:ln w="25400">
            <a:solidFill>
              <a:srgbClr val="DA634F"/>
            </a:solidFill>
            <a:head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6256186" y="3035885"/>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 name="组合 14"/>
          <p:cNvGrpSpPr/>
          <p:nvPr/>
        </p:nvGrpSpPr>
        <p:grpSpPr>
          <a:xfrm>
            <a:off x="359467" y="872056"/>
            <a:ext cx="702417" cy="702417"/>
            <a:chOff x="2921917" y="2223151"/>
            <a:chExt cx="1527064" cy="1527064"/>
          </a:xfrm>
        </p:grpSpPr>
        <p:grpSp>
          <p:nvGrpSpPr>
            <p:cNvPr id="3" name="组合 15"/>
            <p:cNvGrpSpPr/>
            <p:nvPr/>
          </p:nvGrpSpPr>
          <p:grpSpPr>
            <a:xfrm>
              <a:off x="2921917" y="2223151"/>
              <a:ext cx="1527064" cy="1527064"/>
              <a:chOff x="1200760" y="3842075"/>
              <a:chExt cx="1784148" cy="1784148"/>
            </a:xfrm>
          </p:grpSpPr>
          <p:sp>
            <p:nvSpPr>
              <p:cNvPr id="18" name="椭圆 17"/>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sp>
            <p:nvSpPr>
              <p:cNvPr id="19" name="椭圆 18"/>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grpSp>
        <p:sp>
          <p:nvSpPr>
            <p:cNvPr id="17" name="文本框 168"/>
            <p:cNvSpPr txBox="1"/>
            <p:nvPr/>
          </p:nvSpPr>
          <p:spPr>
            <a:xfrm>
              <a:off x="2921917" y="2490948"/>
              <a:ext cx="1415526" cy="1134770"/>
            </a:xfrm>
            <a:prstGeom prst="rect">
              <a:avLst/>
            </a:prstGeom>
            <a:noFill/>
          </p:spPr>
          <p:txBody>
            <a:bodyPr wrap="square" rtlCol="0">
              <a:spAutoFit/>
            </a:bodyPr>
            <a:lstStyle/>
            <a:p>
              <a:pPr algn="ctr">
                <a:defRPr/>
              </a:pPr>
              <a:r>
                <a:rPr lang="en-US" altLang="zh-CN" sz="2800" dirty="0" smtClean="0">
                  <a:solidFill>
                    <a:prstClr val="white"/>
                  </a:solidFill>
                  <a:latin typeface="微软雅黑" panose="020B0503020204020204" pitchFamily="34" charset="-122"/>
                  <a:ea typeface="微软雅黑" panose="020B0503020204020204" pitchFamily="34" charset="-122"/>
                </a:rPr>
                <a:t>03</a:t>
              </a:r>
              <a:endParaRPr lang="zh-CN" altLang="en-US" sz="2800" dirty="0">
                <a:solidFill>
                  <a:prstClr val="white"/>
                </a:solidFill>
                <a:latin typeface="微软雅黑" panose="020B0503020204020204" pitchFamily="34" charset="-122"/>
                <a:ea typeface="微软雅黑" panose="020B0503020204020204" pitchFamily="34" charset="-122"/>
              </a:endParaRPr>
            </a:p>
          </p:txBody>
        </p:sp>
      </p:grpSp>
      <p:sp>
        <p:nvSpPr>
          <p:cNvPr id="20" name="文本框 6"/>
          <p:cNvSpPr txBox="1"/>
          <p:nvPr/>
        </p:nvSpPr>
        <p:spPr>
          <a:xfrm>
            <a:off x="1349814" y="1002856"/>
            <a:ext cx="5685986"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11.3  </a:t>
            </a:r>
            <a:r>
              <a:rPr lang="zh-CN" altLang="en-US" sz="2400" b="1" dirty="0" smtClean="0">
                <a:solidFill>
                  <a:prstClr val="white"/>
                </a:solidFill>
                <a:latin typeface="微软雅黑" panose="020B0503020204020204" pitchFamily="34" charset="-122"/>
                <a:ea typeface="微软雅黑" panose="020B0503020204020204" pitchFamily="34" charset="-122"/>
              </a:rPr>
              <a:t>在</a:t>
            </a:r>
            <a:r>
              <a:rPr lang="zh-CN" altLang="en-US" sz="2400" b="1" dirty="0" smtClean="0">
                <a:solidFill>
                  <a:prstClr val="white"/>
                </a:solidFill>
                <a:latin typeface="微软雅黑" panose="020B0503020204020204" pitchFamily="34" charset="-122"/>
                <a:ea typeface="微软雅黑" panose="020B0503020204020204" pitchFamily="34" charset="-122"/>
              </a:rPr>
              <a:t>手机客户端解析</a:t>
            </a:r>
            <a:r>
              <a:rPr lang="en-US" altLang="zh-CN" sz="2400" b="1" dirty="0" smtClean="0">
                <a:solidFill>
                  <a:prstClr val="white"/>
                </a:solidFill>
                <a:latin typeface="微软雅黑" panose="020B0503020204020204" pitchFamily="34" charset="-122"/>
                <a:ea typeface="微软雅黑" panose="020B0503020204020204" pitchFamily="34" charset="-122"/>
              </a:rPr>
              <a:t>JSON</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21" name="圆角矩形 20"/>
          <p:cNvSpPr/>
          <p:nvPr/>
        </p:nvSpPr>
        <p:spPr>
          <a:xfrm>
            <a:off x="342900" y="1720850"/>
            <a:ext cx="8559800"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2000" b="1" dirty="0" smtClean="0">
                <a:latin typeface="Times New Roman" panose="02020603050405020304" pitchFamily="18" charset="0"/>
                <a:cs typeface="Times New Roman" panose="02020603050405020304" pitchFamily="18" charset="0"/>
              </a:rPr>
              <a:t>启动 </a:t>
            </a:r>
            <a:r>
              <a:rPr lang="en-US" altLang="en-US" sz="2000" b="1" dirty="0" smtClean="0">
                <a:latin typeface="Times New Roman" panose="02020603050405020304" pitchFamily="18" charset="0"/>
                <a:cs typeface="Times New Roman" panose="02020603050405020304" pitchFamily="18" charset="0"/>
              </a:rPr>
              <a:t>Android </a:t>
            </a:r>
            <a:r>
              <a:rPr lang="en-US" altLang="en-US" sz="2000" b="1" dirty="0" smtClean="0">
                <a:latin typeface="Times New Roman" panose="02020603050405020304" pitchFamily="18" charset="0"/>
                <a:cs typeface="Times New Roman" panose="02020603050405020304" pitchFamily="18" charset="0"/>
              </a:rPr>
              <a:t>Studio</a:t>
            </a:r>
            <a:r>
              <a:rPr lang="zh-CN" altLang="en-US" sz="2000" b="1" dirty="0" smtClean="0">
                <a:latin typeface="Times New Roman" panose="02020603050405020304" pitchFamily="18" charset="0"/>
                <a:cs typeface="Times New Roman" panose="02020603050405020304" pitchFamily="18" charset="0"/>
              </a:rPr>
              <a:t>，</a:t>
            </a:r>
            <a:r>
              <a:rPr lang="zh-CN" altLang="en-US" sz="2000" b="1" dirty="0" smtClean="0">
                <a:latin typeface="Times New Roman" panose="02020603050405020304" pitchFamily="18" charset="0"/>
                <a:cs typeface="Times New Roman" panose="02020603050405020304" pitchFamily="18" charset="0"/>
              </a:rPr>
              <a:t>创建 </a:t>
            </a:r>
            <a:r>
              <a:rPr lang="en-US" altLang="en-US" sz="2000" b="1" dirty="0" smtClean="0">
                <a:solidFill>
                  <a:srgbClr val="FF0000"/>
                </a:solidFill>
                <a:latin typeface="Times New Roman" panose="02020603050405020304" pitchFamily="18" charset="0"/>
                <a:cs typeface="Times New Roman" panose="02020603050405020304" pitchFamily="18" charset="0"/>
              </a:rPr>
              <a:t>Ch11</a:t>
            </a:r>
            <a:r>
              <a:rPr lang="en-US" altLang="en-US" sz="2000" b="1" dirty="0" smtClean="0">
                <a:latin typeface="Times New Roman" panose="02020603050405020304" pitchFamily="18" charset="0"/>
                <a:cs typeface="Times New Roman" panose="02020603050405020304" pitchFamily="18" charset="0"/>
              </a:rPr>
              <a:t> </a:t>
            </a:r>
            <a:r>
              <a:rPr lang="zh-CN" altLang="en-US" sz="2000" b="1" dirty="0" smtClean="0">
                <a:latin typeface="Times New Roman" panose="02020603050405020304" pitchFamily="18" charset="0"/>
                <a:cs typeface="Times New Roman" panose="02020603050405020304" pitchFamily="18" charset="0"/>
              </a:rPr>
              <a:t>工程</a:t>
            </a:r>
            <a:r>
              <a:rPr lang="zh-CN" altLang="en-US" sz="2000" b="1" dirty="0" smtClean="0">
                <a:latin typeface="Times New Roman" panose="02020603050405020304" pitchFamily="18" charset="0"/>
                <a:cs typeface="Times New Roman" panose="02020603050405020304" pitchFamily="18" charset="0"/>
              </a:rPr>
              <a:t>，</a:t>
            </a:r>
            <a:r>
              <a:rPr lang="zh-CN" altLang="en-US" sz="2000" b="1" dirty="0" smtClean="0">
                <a:latin typeface="Times New Roman" panose="02020603050405020304" pitchFamily="18" charset="0"/>
                <a:cs typeface="Times New Roman" panose="02020603050405020304" pitchFamily="18" charset="0"/>
              </a:rPr>
              <a:t>在 </a:t>
            </a:r>
            <a:r>
              <a:rPr lang="en-US" altLang="en-US" sz="2000" b="1" dirty="0" smtClean="0">
                <a:latin typeface="Times New Roman" panose="02020603050405020304" pitchFamily="18" charset="0"/>
                <a:cs typeface="Times New Roman" panose="02020603050405020304" pitchFamily="18" charset="0"/>
              </a:rPr>
              <a:t>Ch11 </a:t>
            </a:r>
            <a:r>
              <a:rPr lang="zh-CN" altLang="en-US" sz="2000" b="1" dirty="0" smtClean="0">
                <a:latin typeface="Times New Roman" panose="02020603050405020304" pitchFamily="18" charset="0"/>
                <a:cs typeface="Times New Roman" panose="02020603050405020304" pitchFamily="18" charset="0"/>
              </a:rPr>
              <a:t>工程</a:t>
            </a:r>
            <a:r>
              <a:rPr lang="zh-CN" altLang="en-US" sz="2000" b="1" dirty="0" smtClean="0">
                <a:latin typeface="Times New Roman" panose="02020603050405020304" pitchFamily="18" charset="0"/>
                <a:cs typeface="Times New Roman" panose="02020603050405020304" pitchFamily="18" charset="0"/>
              </a:rPr>
              <a:t>创建</a:t>
            </a:r>
            <a:r>
              <a:rPr lang="zh-CN" altLang="en-US" sz="2000" b="1" dirty="0" smtClean="0">
                <a:latin typeface="Times New Roman" panose="02020603050405020304" pitchFamily="18" charset="0"/>
                <a:cs typeface="Times New Roman" panose="02020603050405020304" pitchFamily="18" charset="0"/>
              </a:rPr>
              <a:t>模块 </a:t>
            </a:r>
            <a:r>
              <a:rPr lang="en-US" altLang="en-US" sz="2000" b="1" dirty="0" err="1" smtClean="0">
                <a:solidFill>
                  <a:srgbClr val="FF0000"/>
                </a:solidFill>
                <a:latin typeface="Times New Roman" panose="02020603050405020304" pitchFamily="18" charset="0"/>
                <a:cs typeface="Times New Roman" panose="02020603050405020304" pitchFamily="18" charset="0"/>
              </a:rPr>
              <a:t>ParseJsonDemo</a:t>
            </a:r>
            <a:r>
              <a:rPr lang="zh-CN" altLang="en-US" sz="2000" b="1" dirty="0" smtClean="0">
                <a:latin typeface="Times New Roman" panose="02020603050405020304" pitchFamily="18" charset="0"/>
                <a:cs typeface="Times New Roman" panose="02020603050405020304" pitchFamily="18" charset="0"/>
              </a:rPr>
              <a:t>，来访问服务器</a:t>
            </a:r>
            <a:r>
              <a:rPr lang="zh-CN" altLang="en-US" sz="2000" b="1" dirty="0" smtClean="0">
                <a:latin typeface="Times New Roman" panose="02020603050405020304" pitchFamily="18" charset="0"/>
                <a:cs typeface="Times New Roman" panose="02020603050405020304" pitchFamily="18" charset="0"/>
              </a:rPr>
              <a:t>的 </a:t>
            </a:r>
            <a:r>
              <a:rPr lang="en-US" altLang="zh-CN" sz="2000" b="1" dirty="0" smtClean="0">
                <a:latin typeface="Times New Roman" panose="02020603050405020304" pitchFamily="18" charset="0"/>
                <a:cs typeface="Times New Roman" panose="02020603050405020304" pitchFamily="18" charset="0"/>
              </a:rPr>
              <a:t>JSON</a:t>
            </a:r>
            <a:r>
              <a:rPr lang="en-US" altLang="en-US" sz="2000" b="1" dirty="0" smtClean="0">
                <a:latin typeface="Times New Roman" panose="02020603050405020304" pitchFamily="18" charset="0"/>
                <a:cs typeface="Times New Roman" panose="02020603050405020304" pitchFamily="18" charset="0"/>
              </a:rPr>
              <a:t> </a:t>
            </a:r>
            <a:r>
              <a:rPr lang="zh-CN" altLang="en-US" sz="2000" b="1" dirty="0" smtClean="0">
                <a:latin typeface="Times New Roman" panose="02020603050405020304" pitchFamily="18" charset="0"/>
                <a:cs typeface="Times New Roman" panose="02020603050405020304" pitchFamily="18" charset="0"/>
              </a:rPr>
              <a:t>数据</a:t>
            </a:r>
            <a:r>
              <a:rPr lang="zh-CN" altLang="en-US" sz="2000" b="1" dirty="0" smtClean="0">
                <a:latin typeface="Times New Roman" panose="02020603050405020304" pitchFamily="18" charset="0"/>
                <a:cs typeface="Times New Roman" panose="02020603050405020304" pitchFamily="18" charset="0"/>
              </a:rPr>
              <a:t>。</a:t>
            </a:r>
            <a:endParaRPr lang="en-US" altLang="zh-CN" sz="2000" b="1" dirty="0" err="1" smtClean="0">
              <a:latin typeface="Times New Roman" panose="02020603050405020304" pitchFamily="18" charset="0"/>
              <a:cs typeface="Times New Roman" panose="02020603050405020304" pitchFamily="18" charset="0"/>
            </a:endParaRPr>
          </a:p>
        </p:txBody>
      </p:sp>
      <p:sp>
        <p:nvSpPr>
          <p:cNvPr id="22" name="圆角矩形 21"/>
          <p:cNvSpPr/>
          <p:nvPr/>
        </p:nvSpPr>
        <p:spPr>
          <a:xfrm>
            <a:off x="342900" y="2876550"/>
            <a:ext cx="8559800" cy="27305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2000" b="1" dirty="0" smtClean="0">
                <a:latin typeface="Times New Roman" panose="02020603050405020304" pitchFamily="18" charset="0"/>
                <a:cs typeface="Times New Roman" panose="02020603050405020304" pitchFamily="18" charset="0"/>
              </a:rPr>
              <a:t>在模块 </a:t>
            </a:r>
            <a:r>
              <a:rPr lang="en-US" altLang="en-US" sz="2000" b="1" dirty="0" err="1" smtClean="0">
                <a:latin typeface="Times New Roman" panose="02020603050405020304" pitchFamily="18" charset="0"/>
                <a:cs typeface="Times New Roman" panose="02020603050405020304" pitchFamily="18" charset="0"/>
              </a:rPr>
              <a:t>ParseJsonDemo</a:t>
            </a:r>
            <a:r>
              <a:rPr lang="en-US" altLang="en-US" sz="2000" b="1" dirty="0" smtClean="0">
                <a:latin typeface="Times New Roman" panose="02020603050405020304" pitchFamily="18" charset="0"/>
                <a:cs typeface="Times New Roman" panose="02020603050405020304" pitchFamily="18" charset="0"/>
              </a:rPr>
              <a:t> </a:t>
            </a:r>
            <a:r>
              <a:rPr lang="zh-CN" altLang="en-US" sz="2000" b="1" dirty="0" smtClean="0">
                <a:latin typeface="Times New Roman" panose="02020603050405020304" pitchFamily="18" charset="0"/>
                <a:cs typeface="Times New Roman" panose="02020603050405020304" pitchFamily="18" charset="0"/>
              </a:rPr>
              <a:t>中</a:t>
            </a:r>
            <a:r>
              <a:rPr lang="zh-CN" altLang="en-US" sz="2000" b="1" dirty="0" smtClean="0">
                <a:latin typeface="Times New Roman" panose="02020603050405020304" pitchFamily="18" charset="0"/>
                <a:cs typeface="Times New Roman" panose="02020603050405020304" pitchFamily="18" charset="0"/>
              </a:rPr>
              <a:t>创建</a:t>
            </a:r>
            <a:r>
              <a:rPr lang="zh-CN" altLang="en-US" sz="2000" b="1" dirty="0" smtClean="0">
                <a:latin typeface="Times New Roman" panose="02020603050405020304" pitchFamily="18" charset="0"/>
                <a:cs typeface="Times New Roman" panose="02020603050405020304" pitchFamily="18" charset="0"/>
              </a:rPr>
              <a:t>文件 </a:t>
            </a:r>
            <a:r>
              <a:rPr lang="en-US" altLang="en-US" sz="2000" b="1" dirty="0" smtClean="0">
                <a:latin typeface="Times New Roman" panose="02020603050405020304" pitchFamily="18" charset="0"/>
                <a:cs typeface="Times New Roman" panose="02020603050405020304" pitchFamily="18" charset="0"/>
              </a:rPr>
              <a:t>MainActivity.java</a:t>
            </a:r>
            <a:r>
              <a:rPr lang="zh-CN" altLang="en-US" sz="2000" b="1" dirty="0" smtClean="0">
                <a:latin typeface="Times New Roman" panose="02020603050405020304" pitchFamily="18" charset="0"/>
                <a:cs typeface="Times New Roman" panose="02020603050405020304" pitchFamily="18" charset="0"/>
              </a:rPr>
              <a:t>、</a:t>
            </a:r>
            <a:r>
              <a:rPr lang="en-US" altLang="en-US" sz="2000" b="1" dirty="0" smtClean="0">
                <a:latin typeface="Times New Roman" panose="02020603050405020304" pitchFamily="18" charset="0"/>
                <a:cs typeface="Times New Roman" panose="02020603050405020304" pitchFamily="18" charset="0"/>
              </a:rPr>
              <a:t>ResultActivity.java</a:t>
            </a:r>
            <a:r>
              <a:rPr lang="zh-CN" altLang="en-US" sz="2000" b="1" dirty="0" smtClean="0">
                <a:latin typeface="Times New Roman" panose="02020603050405020304" pitchFamily="18" charset="0"/>
                <a:cs typeface="Times New Roman" panose="02020603050405020304" pitchFamily="18" charset="0"/>
              </a:rPr>
              <a:t>、</a:t>
            </a:r>
            <a:r>
              <a:rPr lang="en-US" altLang="en-US" sz="2000" b="1" dirty="0" smtClean="0">
                <a:latin typeface="Times New Roman" panose="02020603050405020304" pitchFamily="18" charset="0"/>
                <a:cs typeface="Times New Roman" panose="02020603050405020304" pitchFamily="18" charset="0"/>
              </a:rPr>
              <a:t>OkHttpUtil.java</a:t>
            </a:r>
            <a:r>
              <a:rPr lang="zh-CN" altLang="en-US" sz="2000" b="1" dirty="0" smtClean="0">
                <a:latin typeface="Times New Roman" panose="02020603050405020304" pitchFamily="18" charset="0"/>
                <a:cs typeface="Times New Roman" panose="02020603050405020304" pitchFamily="18" charset="0"/>
              </a:rPr>
              <a:t>（工具类，</a:t>
            </a:r>
            <a:r>
              <a:rPr lang="zh-CN" altLang="en-US" sz="2000" b="1" dirty="0" smtClean="0">
                <a:latin typeface="Times New Roman" panose="02020603050405020304" pitchFamily="18" charset="0"/>
                <a:cs typeface="Times New Roman" panose="02020603050405020304" pitchFamily="18" charset="0"/>
              </a:rPr>
              <a:t>使用 </a:t>
            </a:r>
            <a:r>
              <a:rPr lang="en-US" altLang="en-US" sz="2000" b="1" dirty="0" err="1" smtClean="0">
                <a:latin typeface="Times New Roman" panose="02020603050405020304" pitchFamily="18" charset="0"/>
                <a:cs typeface="Times New Roman" panose="02020603050405020304" pitchFamily="18" charset="0"/>
              </a:rPr>
              <a:t>OkHttpUtil</a:t>
            </a:r>
            <a:r>
              <a:rPr lang="en-US" altLang="en-US" sz="2000" b="1" dirty="0" smtClean="0">
                <a:latin typeface="Times New Roman" panose="02020603050405020304" pitchFamily="18" charset="0"/>
                <a:cs typeface="Times New Roman" panose="02020603050405020304" pitchFamily="18" charset="0"/>
              </a:rPr>
              <a:t> </a:t>
            </a:r>
            <a:r>
              <a:rPr lang="zh-CN" altLang="en-US" sz="2000" b="1" dirty="0" smtClean="0">
                <a:latin typeface="Times New Roman" panose="02020603050405020304" pitchFamily="18" charset="0"/>
                <a:cs typeface="Times New Roman" panose="02020603050405020304" pitchFamily="18" charset="0"/>
              </a:rPr>
              <a:t>访问</a:t>
            </a:r>
            <a:r>
              <a:rPr lang="zh-CN" altLang="en-US" sz="2000" b="1" dirty="0" smtClean="0">
                <a:latin typeface="Times New Roman" panose="02020603050405020304" pitchFamily="18" charset="0"/>
                <a:cs typeface="Times New Roman" panose="02020603050405020304" pitchFamily="18" charset="0"/>
              </a:rPr>
              <a:t>网络）、</a:t>
            </a:r>
            <a:r>
              <a:rPr lang="en-US" altLang="en-US" sz="2000" b="1" dirty="0" smtClean="0">
                <a:latin typeface="Times New Roman" panose="02020603050405020304" pitchFamily="18" charset="0"/>
                <a:cs typeface="Times New Roman" panose="02020603050405020304" pitchFamily="18" charset="0"/>
              </a:rPr>
              <a:t>HttpUtil.java</a:t>
            </a:r>
            <a:r>
              <a:rPr lang="zh-CN" altLang="en-US" sz="2000" b="1" dirty="0" smtClean="0">
                <a:latin typeface="Times New Roman" panose="02020603050405020304" pitchFamily="18" charset="0"/>
                <a:cs typeface="Times New Roman" panose="02020603050405020304" pitchFamily="18" charset="0"/>
              </a:rPr>
              <a:t>（工具类，</a:t>
            </a:r>
            <a:r>
              <a:rPr lang="zh-CN" altLang="en-US" sz="2000" b="1" dirty="0" smtClean="0">
                <a:latin typeface="Times New Roman" panose="02020603050405020304" pitchFamily="18" charset="0"/>
                <a:cs typeface="Times New Roman" panose="02020603050405020304" pitchFamily="18" charset="0"/>
              </a:rPr>
              <a:t>使用 </a:t>
            </a:r>
            <a:r>
              <a:rPr lang="en-US" altLang="en-US" sz="2000" b="1" dirty="0" err="1" smtClean="0">
                <a:latin typeface="Times New Roman" panose="02020603050405020304" pitchFamily="18" charset="0"/>
                <a:cs typeface="Times New Roman" panose="02020603050405020304" pitchFamily="18" charset="0"/>
              </a:rPr>
              <a:t>HttpURLConnection</a:t>
            </a:r>
            <a:r>
              <a:rPr lang="en-US" altLang="en-US" sz="2000" b="1" dirty="0" smtClean="0">
                <a:latin typeface="Times New Roman" panose="02020603050405020304" pitchFamily="18" charset="0"/>
                <a:cs typeface="Times New Roman" panose="02020603050405020304" pitchFamily="18" charset="0"/>
              </a:rPr>
              <a:t> </a:t>
            </a:r>
            <a:r>
              <a:rPr lang="zh-CN" altLang="en-US" sz="2000" b="1" dirty="0" smtClean="0">
                <a:latin typeface="Times New Roman" panose="02020603050405020304" pitchFamily="18" charset="0"/>
                <a:cs typeface="Times New Roman" panose="02020603050405020304" pitchFamily="18" charset="0"/>
              </a:rPr>
              <a:t>访问</a:t>
            </a:r>
            <a:r>
              <a:rPr lang="zh-CN" altLang="en-US" sz="2000" b="1" dirty="0" smtClean="0">
                <a:latin typeface="Times New Roman" panose="02020603050405020304" pitchFamily="18" charset="0"/>
                <a:cs typeface="Times New Roman" panose="02020603050405020304" pitchFamily="18" charset="0"/>
              </a:rPr>
              <a:t>网络）、</a:t>
            </a:r>
            <a:r>
              <a:rPr lang="en-US" altLang="en-US" sz="2000" b="1" dirty="0" smtClean="0">
                <a:latin typeface="Times New Roman" panose="02020603050405020304" pitchFamily="18" charset="0"/>
                <a:cs typeface="Times New Roman" panose="02020603050405020304" pitchFamily="18" charset="0"/>
              </a:rPr>
              <a:t>JsonTool.java</a:t>
            </a:r>
            <a:r>
              <a:rPr lang="zh-CN" altLang="en-US" sz="2000" b="1" dirty="0" smtClean="0">
                <a:latin typeface="Times New Roman" panose="02020603050405020304" pitchFamily="18" charset="0"/>
                <a:cs typeface="Times New Roman" panose="02020603050405020304" pitchFamily="18" charset="0"/>
              </a:rPr>
              <a:t>（工具类，</a:t>
            </a:r>
            <a:r>
              <a:rPr lang="zh-CN" altLang="en-US" sz="2000" b="1" dirty="0" smtClean="0">
                <a:latin typeface="Times New Roman" panose="02020603050405020304" pitchFamily="18" charset="0"/>
                <a:cs typeface="Times New Roman" panose="02020603050405020304" pitchFamily="18" charset="0"/>
              </a:rPr>
              <a:t>把 </a:t>
            </a:r>
            <a:r>
              <a:rPr lang="en-US" altLang="en-US" sz="2000" b="1" dirty="0" smtClean="0">
                <a:latin typeface="Times New Roman" panose="02020603050405020304" pitchFamily="18" charset="0"/>
                <a:cs typeface="Times New Roman" panose="02020603050405020304" pitchFamily="18" charset="0"/>
              </a:rPr>
              <a:t>JSON </a:t>
            </a:r>
            <a:r>
              <a:rPr lang="zh-CN" altLang="en-US" sz="2000" b="1" dirty="0" smtClean="0">
                <a:latin typeface="Times New Roman" panose="02020603050405020304" pitchFamily="18" charset="0"/>
                <a:cs typeface="Times New Roman" panose="02020603050405020304" pitchFamily="18" charset="0"/>
              </a:rPr>
              <a:t>字符串</a:t>
            </a:r>
            <a:r>
              <a:rPr lang="zh-CN" altLang="en-US" sz="2000" b="1" dirty="0" smtClean="0">
                <a:latin typeface="Times New Roman" panose="02020603050405020304" pitchFamily="18" charset="0"/>
                <a:cs typeface="Times New Roman" panose="02020603050405020304" pitchFamily="18" charset="0"/>
              </a:rPr>
              <a:t>转换为容器对象以及实体对象，</a:t>
            </a:r>
            <a:r>
              <a:rPr lang="zh-CN" altLang="en-US" sz="2000" b="1" dirty="0" smtClean="0">
                <a:latin typeface="Times New Roman" panose="02020603050405020304" pitchFamily="18" charset="0"/>
                <a:cs typeface="Times New Roman" panose="02020603050405020304" pitchFamily="18" charset="0"/>
              </a:rPr>
              <a:t>也就是 </a:t>
            </a:r>
            <a:r>
              <a:rPr lang="en-US" altLang="en-US" sz="2000" b="1" dirty="0" err="1" smtClean="0">
                <a:latin typeface="Times New Roman" panose="02020603050405020304" pitchFamily="18" charset="0"/>
                <a:cs typeface="Times New Roman" panose="02020603050405020304" pitchFamily="18" charset="0"/>
              </a:rPr>
              <a:t>JavaBean</a:t>
            </a:r>
            <a:r>
              <a:rPr lang="zh-CN" altLang="en-US" sz="2000" b="1" dirty="0" smtClean="0">
                <a:latin typeface="Times New Roman" panose="02020603050405020304" pitchFamily="18" charset="0"/>
                <a:cs typeface="Times New Roman" panose="02020603050405020304" pitchFamily="18" charset="0"/>
              </a:rPr>
              <a:t>）、</a:t>
            </a:r>
            <a:r>
              <a:rPr lang="en-US" altLang="en-US" sz="2000" b="1" dirty="0" smtClean="0">
                <a:latin typeface="Times New Roman" panose="02020603050405020304" pitchFamily="18" charset="0"/>
                <a:cs typeface="Times New Roman" panose="02020603050405020304" pitchFamily="18" charset="0"/>
              </a:rPr>
              <a:t>Person.java</a:t>
            </a:r>
            <a:r>
              <a:rPr lang="zh-CN" altLang="en-US" sz="2000" b="1" dirty="0" smtClean="0">
                <a:latin typeface="Times New Roman" panose="02020603050405020304" pitchFamily="18" charset="0"/>
                <a:cs typeface="Times New Roman" panose="02020603050405020304" pitchFamily="18" charset="0"/>
              </a:rPr>
              <a:t>，以及用作布局界面</a:t>
            </a:r>
            <a:r>
              <a:rPr lang="zh-CN" altLang="en-US" sz="2000" b="1" dirty="0" smtClean="0">
                <a:latin typeface="Times New Roman" panose="02020603050405020304" pitchFamily="18" charset="0"/>
                <a:cs typeface="Times New Roman" panose="02020603050405020304" pitchFamily="18" charset="0"/>
              </a:rPr>
              <a:t>的 </a:t>
            </a:r>
            <a:r>
              <a:rPr lang="en-US" altLang="en-US" sz="2000" b="1" dirty="0" smtClean="0">
                <a:latin typeface="Times New Roman" panose="02020603050405020304" pitchFamily="18" charset="0"/>
                <a:cs typeface="Times New Roman" panose="02020603050405020304" pitchFamily="18" charset="0"/>
              </a:rPr>
              <a:t>activity_main.xml </a:t>
            </a:r>
            <a:r>
              <a:rPr lang="zh-CN" altLang="en-US" sz="2000" b="1" dirty="0" smtClean="0">
                <a:latin typeface="Times New Roman" panose="02020603050405020304" pitchFamily="18" charset="0"/>
                <a:cs typeface="Times New Roman" panose="02020603050405020304" pitchFamily="18" charset="0"/>
              </a:rPr>
              <a:t>和 </a:t>
            </a:r>
            <a:r>
              <a:rPr lang="en-US" altLang="en-US" sz="2000" b="1" dirty="0" smtClean="0">
                <a:latin typeface="Times New Roman" panose="02020603050405020304" pitchFamily="18" charset="0"/>
                <a:cs typeface="Times New Roman" panose="02020603050405020304" pitchFamily="18" charset="0"/>
              </a:rPr>
              <a:t>activity_result.xml</a:t>
            </a:r>
            <a:r>
              <a:rPr lang="zh-CN" altLang="en-US" sz="2000" b="1" dirty="0" smtClean="0">
                <a:latin typeface="Times New Roman" panose="02020603050405020304" pitchFamily="18" charset="0"/>
                <a:cs typeface="Times New Roman" panose="02020603050405020304" pitchFamily="18" charset="0"/>
              </a:rPr>
              <a:t>。</a:t>
            </a:r>
            <a:endParaRPr lang="zh-CN" altLang="en-US" sz="2000" b="1" dirty="0" smtClean="0">
              <a:latin typeface="Times New Roman" panose="02020603050405020304" pitchFamily="18" charset="0"/>
              <a:cs typeface="Times New Roman" panose="02020603050405020304" pitchFamily="18" charset="0"/>
            </a:endParaRPr>
          </a:p>
        </p:txBody>
      </p:sp>
    </p:spTree>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p:cTn id="13" dur="500" fill="hold"/>
                                        <p:tgtEl>
                                          <p:spTgt spid="20"/>
                                        </p:tgtEl>
                                        <p:attrNameLst>
                                          <p:attrName>ppt_w</p:attrName>
                                        </p:attrNameLst>
                                      </p:cBhvr>
                                      <p:tavLst>
                                        <p:tav tm="0">
                                          <p:val>
                                            <p:fltVal val="0"/>
                                          </p:val>
                                        </p:tav>
                                        <p:tav tm="100000">
                                          <p:val>
                                            <p:strVal val="#ppt_w"/>
                                          </p:val>
                                        </p:tav>
                                      </p:tavLst>
                                    </p:anim>
                                    <p:anim calcmode="lin" valueType="num">
                                      <p:cBhvr>
                                        <p:cTn id="14" dur="500" fill="hold"/>
                                        <p:tgtEl>
                                          <p:spTgt spid="20"/>
                                        </p:tgtEl>
                                        <p:attrNameLst>
                                          <p:attrName>ppt_h</p:attrName>
                                        </p:attrNameLst>
                                      </p:cBhvr>
                                      <p:tavLst>
                                        <p:tav tm="0">
                                          <p:val>
                                            <p:fltVal val="0"/>
                                          </p:val>
                                        </p:tav>
                                        <p:tav tm="100000">
                                          <p:val>
                                            <p:strVal val="#ppt_h"/>
                                          </p:val>
                                        </p:tav>
                                      </p:tavLst>
                                    </p:anim>
                                    <p:animEffect transition="in" filter="fade">
                                      <p:cBhvr>
                                        <p:cTn id="1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flipH="1">
            <a:off x="5523803" y="-41991"/>
            <a:ext cx="2901652" cy="2901652"/>
          </a:xfrm>
          <a:prstGeom prst="line">
            <a:avLst/>
          </a:prstGeom>
          <a:ln w="25400">
            <a:solidFill>
              <a:srgbClr val="F7BA3B"/>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7668344" y="620688"/>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7596336" y="1988840"/>
            <a:ext cx="1979712" cy="1979712"/>
          </a:xfrm>
          <a:prstGeom prst="line">
            <a:avLst/>
          </a:prstGeom>
          <a:ln w="25400">
            <a:solidFill>
              <a:srgbClr val="DA634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6948264" y="4653136"/>
            <a:ext cx="1656184" cy="1656184"/>
          </a:xfrm>
          <a:prstGeom prst="line">
            <a:avLst/>
          </a:prstGeom>
          <a:ln w="25400">
            <a:solidFill>
              <a:srgbClr val="2FB6A8"/>
            </a:solidFill>
            <a:headEnd type="triangle"/>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5292080" y="5517232"/>
            <a:ext cx="767730" cy="767730"/>
          </a:xfrm>
          <a:prstGeom prst="line">
            <a:avLst/>
          </a:prstGeom>
          <a:ln w="25400">
            <a:solidFill>
              <a:srgbClr val="DA634F"/>
            </a:solidFill>
            <a:head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6256186" y="3035885"/>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 name="组合 14"/>
          <p:cNvGrpSpPr/>
          <p:nvPr/>
        </p:nvGrpSpPr>
        <p:grpSpPr>
          <a:xfrm>
            <a:off x="359467" y="872056"/>
            <a:ext cx="702417" cy="702417"/>
            <a:chOff x="2921917" y="2223151"/>
            <a:chExt cx="1527064" cy="1527064"/>
          </a:xfrm>
        </p:grpSpPr>
        <p:grpSp>
          <p:nvGrpSpPr>
            <p:cNvPr id="3" name="组合 15"/>
            <p:cNvGrpSpPr/>
            <p:nvPr/>
          </p:nvGrpSpPr>
          <p:grpSpPr>
            <a:xfrm>
              <a:off x="2921917" y="2223151"/>
              <a:ext cx="1527064" cy="1527064"/>
              <a:chOff x="1200760" y="3842075"/>
              <a:chExt cx="1784148" cy="1784148"/>
            </a:xfrm>
          </p:grpSpPr>
          <p:sp>
            <p:nvSpPr>
              <p:cNvPr id="18" name="椭圆 17"/>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sp>
            <p:nvSpPr>
              <p:cNvPr id="19" name="椭圆 18"/>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grpSp>
        <p:sp>
          <p:nvSpPr>
            <p:cNvPr id="17" name="文本框 168"/>
            <p:cNvSpPr txBox="1"/>
            <p:nvPr/>
          </p:nvSpPr>
          <p:spPr>
            <a:xfrm>
              <a:off x="2921917" y="2490948"/>
              <a:ext cx="1415526" cy="1134770"/>
            </a:xfrm>
            <a:prstGeom prst="rect">
              <a:avLst/>
            </a:prstGeom>
            <a:noFill/>
          </p:spPr>
          <p:txBody>
            <a:bodyPr wrap="square" rtlCol="0">
              <a:spAutoFit/>
            </a:bodyPr>
            <a:lstStyle/>
            <a:p>
              <a:pPr algn="ctr">
                <a:defRPr/>
              </a:pPr>
              <a:r>
                <a:rPr lang="en-US" altLang="zh-CN" sz="2800" dirty="0" smtClean="0">
                  <a:solidFill>
                    <a:prstClr val="white"/>
                  </a:solidFill>
                  <a:latin typeface="微软雅黑" panose="020B0503020204020204" pitchFamily="34" charset="-122"/>
                  <a:ea typeface="微软雅黑" panose="020B0503020204020204" pitchFamily="34" charset="-122"/>
                </a:rPr>
                <a:t>03</a:t>
              </a:r>
              <a:endParaRPr lang="zh-CN" altLang="en-US" sz="2800" dirty="0">
                <a:solidFill>
                  <a:prstClr val="white"/>
                </a:solidFill>
                <a:latin typeface="微软雅黑" panose="020B0503020204020204" pitchFamily="34" charset="-122"/>
                <a:ea typeface="微软雅黑" panose="020B0503020204020204" pitchFamily="34" charset="-122"/>
              </a:endParaRPr>
            </a:p>
          </p:txBody>
        </p:sp>
      </p:grpSp>
      <p:sp>
        <p:nvSpPr>
          <p:cNvPr id="20" name="文本框 6"/>
          <p:cNvSpPr txBox="1"/>
          <p:nvPr/>
        </p:nvSpPr>
        <p:spPr>
          <a:xfrm>
            <a:off x="1349814" y="1002856"/>
            <a:ext cx="5685986"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11.3  </a:t>
            </a:r>
            <a:r>
              <a:rPr lang="zh-CN" altLang="en-US" sz="2400" b="1" dirty="0" smtClean="0">
                <a:solidFill>
                  <a:prstClr val="white"/>
                </a:solidFill>
                <a:latin typeface="微软雅黑" panose="020B0503020204020204" pitchFamily="34" charset="-122"/>
                <a:ea typeface="微软雅黑" panose="020B0503020204020204" pitchFamily="34" charset="-122"/>
              </a:rPr>
              <a:t>在</a:t>
            </a:r>
            <a:r>
              <a:rPr lang="zh-CN" altLang="en-US" sz="2400" b="1" dirty="0" smtClean="0">
                <a:solidFill>
                  <a:prstClr val="white"/>
                </a:solidFill>
                <a:latin typeface="微软雅黑" panose="020B0503020204020204" pitchFamily="34" charset="-122"/>
                <a:ea typeface="微软雅黑" panose="020B0503020204020204" pitchFamily="34" charset="-122"/>
              </a:rPr>
              <a:t>手机客户端解析</a:t>
            </a:r>
            <a:r>
              <a:rPr lang="en-US" altLang="zh-CN" sz="2400" b="1" dirty="0" smtClean="0">
                <a:solidFill>
                  <a:prstClr val="white"/>
                </a:solidFill>
                <a:latin typeface="微软雅黑" panose="020B0503020204020204" pitchFamily="34" charset="-122"/>
                <a:ea typeface="微软雅黑" panose="020B0503020204020204" pitchFamily="34" charset="-122"/>
              </a:rPr>
              <a:t>JSON</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21" name="圆角矩形 20"/>
          <p:cNvSpPr/>
          <p:nvPr/>
        </p:nvSpPr>
        <p:spPr>
          <a:xfrm>
            <a:off x="304800" y="1720850"/>
            <a:ext cx="8559800" cy="3505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en-US" sz="2400" b="1" dirty="0" smtClean="0">
                <a:solidFill>
                  <a:srgbClr val="FF0000"/>
                </a:solidFill>
                <a:latin typeface="Times New Roman" panose="02020603050405020304" pitchFamily="18" charset="0"/>
                <a:cs typeface="Times New Roman" panose="02020603050405020304" pitchFamily="18" charset="0"/>
              </a:rPr>
              <a:t>Android </a:t>
            </a:r>
            <a:r>
              <a:rPr lang="zh-CN" altLang="en-US" sz="2400" b="1" dirty="0" smtClean="0">
                <a:solidFill>
                  <a:srgbClr val="FF0000"/>
                </a:solidFill>
                <a:latin typeface="Times New Roman" panose="02020603050405020304" pitchFamily="18" charset="0"/>
                <a:cs typeface="Times New Roman" panose="02020603050405020304" pitchFamily="18" charset="0"/>
              </a:rPr>
              <a:t>客户端</a:t>
            </a:r>
            <a:r>
              <a:rPr lang="zh-CN" altLang="en-US" sz="2400" b="1" dirty="0" smtClean="0">
                <a:latin typeface="Times New Roman" panose="02020603050405020304" pitchFamily="18" charset="0"/>
                <a:cs typeface="Times New Roman" panose="02020603050405020304" pitchFamily="18" charset="0"/>
              </a:rPr>
              <a:t>用 </a:t>
            </a:r>
            <a:r>
              <a:rPr lang="en-US" altLang="en-US" sz="2400" b="1" dirty="0" smtClean="0">
                <a:latin typeface="Times New Roman" panose="02020603050405020304" pitchFamily="18" charset="0"/>
                <a:cs typeface="Times New Roman" panose="02020603050405020304" pitchFamily="18" charset="0"/>
              </a:rPr>
              <a:t>GET </a:t>
            </a:r>
            <a:r>
              <a:rPr lang="zh-CN" altLang="en-US" sz="2400" b="1" dirty="0" smtClean="0">
                <a:latin typeface="Times New Roman" panose="02020603050405020304" pitchFamily="18" charset="0"/>
                <a:cs typeface="Times New Roman" panose="02020603050405020304" pitchFamily="18" charset="0"/>
              </a:rPr>
              <a:t>方式</a:t>
            </a:r>
            <a:r>
              <a:rPr lang="zh-CN" altLang="en-US" sz="2400" b="1" dirty="0" smtClean="0">
                <a:latin typeface="Times New Roman" panose="02020603050405020304" pitchFamily="18" charset="0"/>
                <a:cs typeface="Times New Roman" panose="02020603050405020304" pitchFamily="18" charset="0"/>
              </a:rPr>
              <a:t>分别获取服务器端</a:t>
            </a:r>
            <a:r>
              <a:rPr lang="zh-CN" altLang="en-US" sz="2400" b="1" dirty="0" smtClean="0">
                <a:latin typeface="Times New Roman" panose="02020603050405020304" pitchFamily="18" charset="0"/>
                <a:cs typeface="Times New Roman" panose="02020603050405020304" pitchFamily="18" charset="0"/>
              </a:rPr>
              <a:t>返回的 </a:t>
            </a:r>
            <a:r>
              <a:rPr lang="en-US" altLang="en-US" sz="2400" b="1" dirty="0" smtClean="0">
                <a:latin typeface="Times New Roman" panose="02020603050405020304" pitchFamily="18" charset="0"/>
                <a:cs typeface="Times New Roman" panose="02020603050405020304" pitchFamily="18" charset="0"/>
              </a:rPr>
              <a:t>JSON </a:t>
            </a:r>
            <a:r>
              <a:rPr lang="zh-CN" altLang="en-US" sz="2400" b="1" dirty="0" smtClean="0">
                <a:latin typeface="Times New Roman" panose="02020603050405020304" pitchFamily="18" charset="0"/>
                <a:cs typeface="Times New Roman" panose="02020603050405020304" pitchFamily="18" charset="0"/>
              </a:rPr>
              <a:t>数据</a:t>
            </a:r>
            <a:r>
              <a:rPr lang="zh-CN" altLang="en-US" sz="2400" b="1" dirty="0" smtClean="0">
                <a:latin typeface="Times New Roman" panose="02020603050405020304" pitchFamily="18" charset="0"/>
                <a:cs typeface="Times New Roman" panose="02020603050405020304" pitchFamily="18" charset="0"/>
              </a:rPr>
              <a:t>，并</a:t>
            </a:r>
            <a:r>
              <a:rPr lang="zh-CN" altLang="en-US" sz="2400" b="1" dirty="0" smtClean="0">
                <a:latin typeface="Times New Roman" panose="02020603050405020304" pitchFamily="18" charset="0"/>
                <a:cs typeface="Times New Roman" panose="02020603050405020304" pitchFamily="18" charset="0"/>
              </a:rPr>
              <a:t>将 </a:t>
            </a:r>
            <a:r>
              <a:rPr lang="en-US" altLang="en-US" sz="2400" b="1" dirty="0" smtClean="0">
                <a:latin typeface="Times New Roman" panose="02020603050405020304" pitchFamily="18" charset="0"/>
                <a:cs typeface="Times New Roman" panose="02020603050405020304" pitchFamily="18" charset="0"/>
              </a:rPr>
              <a:t>4 </a:t>
            </a:r>
            <a:r>
              <a:rPr lang="zh-CN" altLang="en-US" sz="2400" b="1" dirty="0" smtClean="0">
                <a:latin typeface="Times New Roman" panose="02020603050405020304" pitchFamily="18" charset="0"/>
                <a:cs typeface="Times New Roman" panose="02020603050405020304" pitchFamily="18" charset="0"/>
              </a:rPr>
              <a:t>种</a:t>
            </a:r>
            <a:r>
              <a:rPr lang="zh-CN" altLang="en-US" sz="2400" b="1" dirty="0" smtClean="0">
                <a:latin typeface="Times New Roman" panose="02020603050405020304" pitchFamily="18" charset="0"/>
                <a:cs typeface="Times New Roman" panose="02020603050405020304" pitchFamily="18" charset="0"/>
              </a:rPr>
              <a:t>不同</a:t>
            </a:r>
            <a:r>
              <a:rPr lang="zh-CN" altLang="en-US" sz="2400" b="1" dirty="0" smtClean="0">
                <a:latin typeface="Times New Roman" panose="02020603050405020304" pitchFamily="18" charset="0"/>
                <a:cs typeface="Times New Roman" panose="02020603050405020304" pitchFamily="18" charset="0"/>
              </a:rPr>
              <a:t>的 </a:t>
            </a:r>
            <a:r>
              <a:rPr lang="en-US" altLang="zh-CN" sz="2400" b="1" dirty="0" smtClean="0">
                <a:latin typeface="Times New Roman" panose="02020603050405020304" pitchFamily="18" charset="0"/>
                <a:cs typeface="Times New Roman" panose="02020603050405020304" pitchFamily="18" charset="0"/>
              </a:rPr>
              <a:t>JSON </a:t>
            </a:r>
            <a:r>
              <a:rPr lang="zh-CN" altLang="en-US" sz="2400" b="1" dirty="0" smtClean="0">
                <a:latin typeface="Times New Roman" panose="02020603050405020304" pitchFamily="18" charset="0"/>
                <a:cs typeface="Times New Roman" panose="02020603050405020304" pitchFamily="18" charset="0"/>
              </a:rPr>
              <a:t>数据</a:t>
            </a:r>
            <a:r>
              <a:rPr lang="zh-CN" altLang="en-US" sz="2400" b="1" dirty="0" smtClean="0">
                <a:latin typeface="Times New Roman" panose="02020603050405020304" pitchFamily="18" charset="0"/>
                <a:cs typeface="Times New Roman" panose="02020603050405020304" pitchFamily="18" charset="0"/>
              </a:rPr>
              <a:t>解析</a:t>
            </a:r>
            <a:r>
              <a:rPr lang="zh-CN" altLang="en-US" sz="2400" b="1" dirty="0" smtClean="0">
                <a:latin typeface="Times New Roman" panose="02020603050405020304" pitchFamily="18" charset="0"/>
                <a:cs typeface="Times New Roman" panose="02020603050405020304" pitchFamily="18" charset="0"/>
              </a:rPr>
              <a:t>成 </a:t>
            </a:r>
            <a:r>
              <a:rPr lang="en-US" altLang="en-US" sz="2400" b="1" dirty="0" smtClean="0">
                <a:latin typeface="Times New Roman" panose="02020603050405020304" pitchFamily="18" charset="0"/>
                <a:cs typeface="Times New Roman" panose="02020603050405020304" pitchFamily="18" charset="0"/>
              </a:rPr>
              <a:t>4 </a:t>
            </a:r>
            <a:r>
              <a:rPr lang="zh-CN" altLang="en-US" sz="2400" b="1" dirty="0" smtClean="0">
                <a:latin typeface="Times New Roman" panose="02020603050405020304" pitchFamily="18" charset="0"/>
                <a:cs typeface="Times New Roman" panose="02020603050405020304" pitchFamily="18" charset="0"/>
              </a:rPr>
              <a:t>种</a:t>
            </a:r>
            <a:r>
              <a:rPr lang="zh-CN" altLang="en-US" sz="2400" b="1" dirty="0" smtClean="0">
                <a:latin typeface="Times New Roman" panose="02020603050405020304" pitchFamily="18" charset="0"/>
                <a:cs typeface="Times New Roman" panose="02020603050405020304" pitchFamily="18" charset="0"/>
              </a:rPr>
              <a:t>不同的结果类型（</a:t>
            </a:r>
            <a:r>
              <a:rPr lang="en-US" altLang="en-US" sz="2400" b="1" dirty="0" smtClean="0">
                <a:latin typeface="Times New Roman" panose="02020603050405020304" pitchFamily="18" charset="0"/>
                <a:cs typeface="Times New Roman" panose="02020603050405020304" pitchFamily="18" charset="0"/>
              </a:rPr>
              <a:t>(</a:t>
            </a:r>
            <a:r>
              <a:rPr lang="en-US" altLang="en-US" sz="2400" b="1" dirty="0" smtClean="0">
                <a:solidFill>
                  <a:srgbClr val="FF0000"/>
                </a:solidFill>
                <a:latin typeface="Times New Roman" panose="02020603050405020304" pitchFamily="18" charset="0"/>
                <a:cs typeface="Times New Roman" panose="02020603050405020304" pitchFamily="18" charset="0"/>
              </a:rPr>
              <a:t>Person</a:t>
            </a:r>
            <a:r>
              <a:rPr lang="zh-CN" altLang="en-US" sz="2400" b="1" dirty="0" smtClean="0">
                <a:latin typeface="Times New Roman" panose="02020603050405020304" pitchFamily="18" charset="0"/>
                <a:cs typeface="Times New Roman" panose="02020603050405020304" pitchFamily="18" charset="0"/>
              </a:rPr>
              <a:t>，</a:t>
            </a:r>
            <a:r>
              <a:rPr lang="en-US" altLang="en-US" sz="2400" b="1" dirty="0" smtClean="0">
                <a:solidFill>
                  <a:srgbClr val="FF0000"/>
                </a:solidFill>
                <a:latin typeface="Times New Roman" panose="02020603050405020304" pitchFamily="18" charset="0"/>
                <a:cs typeface="Times New Roman" panose="02020603050405020304" pitchFamily="18" charset="0"/>
              </a:rPr>
              <a:t>List&lt;Person&gt;</a:t>
            </a:r>
            <a:r>
              <a:rPr lang="zh-CN" altLang="en-US" sz="2400" b="1" dirty="0" smtClean="0">
                <a:latin typeface="Times New Roman" panose="02020603050405020304" pitchFamily="18" charset="0"/>
                <a:cs typeface="Times New Roman" panose="02020603050405020304" pitchFamily="18" charset="0"/>
              </a:rPr>
              <a:t>，</a:t>
            </a:r>
            <a:r>
              <a:rPr lang="en-US" altLang="en-US" sz="2400" b="1" dirty="0" smtClean="0">
                <a:solidFill>
                  <a:srgbClr val="FF0000"/>
                </a:solidFill>
                <a:latin typeface="Times New Roman" panose="02020603050405020304" pitchFamily="18" charset="0"/>
                <a:cs typeface="Times New Roman" panose="02020603050405020304" pitchFamily="18" charset="0"/>
              </a:rPr>
              <a:t>List&lt;String&gt;</a:t>
            </a:r>
            <a:r>
              <a:rPr lang="zh-CN" altLang="en-US" sz="2400" b="1" dirty="0" smtClean="0">
                <a:latin typeface="Times New Roman" panose="02020603050405020304" pitchFamily="18" charset="0"/>
                <a:cs typeface="Times New Roman" panose="02020603050405020304" pitchFamily="18" charset="0"/>
              </a:rPr>
              <a:t>，</a:t>
            </a:r>
            <a:r>
              <a:rPr lang="en-US" altLang="en-US" sz="2400" b="1" dirty="0" smtClean="0">
                <a:solidFill>
                  <a:srgbClr val="FF0000"/>
                </a:solidFill>
                <a:latin typeface="Times New Roman" panose="02020603050405020304" pitchFamily="18" charset="0"/>
                <a:cs typeface="Times New Roman" panose="02020603050405020304" pitchFamily="18" charset="0"/>
              </a:rPr>
              <a:t>List&lt;Map&lt;String, Object&gt;&gt;</a:t>
            </a:r>
            <a:r>
              <a:rPr lang="en-US" altLang="en-US"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用 </a:t>
            </a:r>
            <a:r>
              <a:rPr lang="en-US" altLang="en-US" sz="2400" b="1" dirty="0" smtClean="0">
                <a:latin typeface="Times New Roman" panose="02020603050405020304" pitchFamily="18" charset="0"/>
                <a:cs typeface="Times New Roman" panose="02020603050405020304" pitchFamily="18" charset="0"/>
              </a:rPr>
              <a:t>Intent </a:t>
            </a:r>
            <a:r>
              <a:rPr lang="zh-CN" altLang="en-US" sz="2400" b="1" dirty="0" smtClean="0">
                <a:latin typeface="Times New Roman" panose="02020603050405020304" pitchFamily="18" charset="0"/>
                <a:cs typeface="Times New Roman" panose="02020603050405020304" pitchFamily="18" charset="0"/>
              </a:rPr>
              <a:t>方式由 </a:t>
            </a:r>
            <a:r>
              <a:rPr lang="en-US" altLang="en-US" sz="2400" b="1" dirty="0" err="1" smtClean="0">
                <a:latin typeface="Times New Roman" panose="02020603050405020304" pitchFamily="18" charset="0"/>
                <a:cs typeface="Times New Roman" panose="02020603050405020304" pitchFamily="18" charset="0"/>
              </a:rPr>
              <a:t>MainActivity</a:t>
            </a:r>
            <a:r>
              <a:rPr lang="en-US" altLang="en-US"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传递给 </a:t>
            </a:r>
            <a:r>
              <a:rPr lang="en-US" altLang="en-US" sz="2400" b="1" dirty="0" err="1" smtClean="0">
                <a:latin typeface="Times New Roman" panose="02020603050405020304" pitchFamily="18" charset="0"/>
                <a:cs typeface="Times New Roman" panose="02020603050405020304" pitchFamily="18" charset="0"/>
              </a:rPr>
              <a:t>ResultActivity</a:t>
            </a:r>
            <a:r>
              <a:rPr lang="zh-CN" altLang="en-US" sz="2400" b="1" dirty="0" smtClean="0">
                <a:latin typeface="Times New Roman" panose="02020603050405020304" pitchFamily="18" charset="0"/>
                <a:cs typeface="Times New Roman" panose="02020603050405020304" pitchFamily="18" charset="0"/>
              </a:rPr>
              <a:t>，</a:t>
            </a:r>
            <a:r>
              <a:rPr lang="zh-CN" altLang="en-US" sz="2400" b="1" dirty="0" smtClean="0">
                <a:latin typeface="Times New Roman" panose="02020603050405020304" pitchFamily="18" charset="0"/>
                <a:cs typeface="Times New Roman" panose="02020603050405020304" pitchFamily="18" charset="0"/>
              </a:rPr>
              <a:t>在 </a:t>
            </a:r>
            <a:r>
              <a:rPr lang="en-US" altLang="en-US" sz="2400" b="1" dirty="0" err="1" smtClean="0">
                <a:latin typeface="Times New Roman" panose="02020603050405020304" pitchFamily="18" charset="0"/>
                <a:cs typeface="Times New Roman" panose="02020603050405020304" pitchFamily="18" charset="0"/>
              </a:rPr>
              <a:t>ResultActvity</a:t>
            </a:r>
            <a:r>
              <a:rPr lang="en-US" altLang="en-US" sz="2400" b="1" dirty="0" smtClean="0">
                <a:latin typeface="Times New Roman" panose="02020603050405020304" pitchFamily="18" charset="0"/>
                <a:cs typeface="Times New Roman" panose="02020603050405020304" pitchFamily="18" charset="0"/>
              </a:rPr>
              <a:t> </a:t>
            </a:r>
            <a:r>
              <a:rPr lang="zh-CN" altLang="en-US" sz="2400" b="1" dirty="0" smtClean="0">
                <a:latin typeface="Times New Roman" panose="02020603050405020304" pitchFamily="18" charset="0"/>
                <a:cs typeface="Times New Roman" panose="02020603050405020304" pitchFamily="18" charset="0"/>
              </a:rPr>
              <a:t>中</a:t>
            </a:r>
            <a:r>
              <a:rPr lang="zh-CN" altLang="en-US" sz="2400" b="1" dirty="0" smtClean="0">
                <a:latin typeface="Times New Roman" panose="02020603050405020304" pitchFamily="18" charset="0"/>
                <a:cs typeface="Times New Roman" panose="02020603050405020304" pitchFamily="18" charset="0"/>
              </a:rPr>
              <a:t>显示解析的结果</a:t>
            </a:r>
            <a:r>
              <a:rPr lang="zh-CN" altLang="en-US" sz="2400" b="1" dirty="0" smtClean="0">
                <a:latin typeface="Times New Roman" panose="02020603050405020304" pitchFamily="18" charset="0"/>
                <a:cs typeface="Times New Roman" panose="02020603050405020304" pitchFamily="18" charset="0"/>
              </a:rPr>
              <a:t>。</a:t>
            </a:r>
            <a:endParaRPr lang="en-US" altLang="zh-CN" sz="2800" b="1" dirty="0" err="1" smtClean="0">
              <a:latin typeface="Times New Roman" panose="02020603050405020304" pitchFamily="18" charset="0"/>
              <a:cs typeface="Times New Roman" panose="02020603050405020304" pitchFamily="18" charset="0"/>
            </a:endParaRPr>
          </a:p>
        </p:txBody>
      </p:sp>
    </p:spTree>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p:cTn id="13" dur="500" fill="hold"/>
                                        <p:tgtEl>
                                          <p:spTgt spid="20"/>
                                        </p:tgtEl>
                                        <p:attrNameLst>
                                          <p:attrName>ppt_w</p:attrName>
                                        </p:attrNameLst>
                                      </p:cBhvr>
                                      <p:tavLst>
                                        <p:tav tm="0">
                                          <p:val>
                                            <p:fltVal val="0"/>
                                          </p:val>
                                        </p:tav>
                                        <p:tav tm="100000">
                                          <p:val>
                                            <p:strVal val="#ppt_w"/>
                                          </p:val>
                                        </p:tav>
                                      </p:tavLst>
                                    </p:anim>
                                    <p:anim calcmode="lin" valueType="num">
                                      <p:cBhvr>
                                        <p:cTn id="14" dur="500" fill="hold"/>
                                        <p:tgtEl>
                                          <p:spTgt spid="20"/>
                                        </p:tgtEl>
                                        <p:attrNameLst>
                                          <p:attrName>ppt_h</p:attrName>
                                        </p:attrNameLst>
                                      </p:cBhvr>
                                      <p:tavLst>
                                        <p:tav tm="0">
                                          <p:val>
                                            <p:fltVal val="0"/>
                                          </p:val>
                                        </p:tav>
                                        <p:tav tm="100000">
                                          <p:val>
                                            <p:strVal val="#ppt_h"/>
                                          </p:val>
                                        </p:tav>
                                      </p:tavLst>
                                    </p:anim>
                                    <p:animEffect transition="in" filter="fade">
                                      <p:cBhvr>
                                        <p:cTn id="1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flipH="1">
            <a:off x="5523803" y="-41991"/>
            <a:ext cx="2901652" cy="2901652"/>
          </a:xfrm>
          <a:prstGeom prst="line">
            <a:avLst/>
          </a:prstGeom>
          <a:ln w="25400">
            <a:solidFill>
              <a:srgbClr val="F7BA3B"/>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7668344" y="620688"/>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7596336" y="1988840"/>
            <a:ext cx="1979712" cy="1979712"/>
          </a:xfrm>
          <a:prstGeom prst="line">
            <a:avLst/>
          </a:prstGeom>
          <a:ln w="25400">
            <a:solidFill>
              <a:srgbClr val="DA634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6948264" y="4653136"/>
            <a:ext cx="1656184" cy="1656184"/>
          </a:xfrm>
          <a:prstGeom prst="line">
            <a:avLst/>
          </a:prstGeom>
          <a:ln w="25400">
            <a:solidFill>
              <a:srgbClr val="2FB6A8"/>
            </a:solidFill>
            <a:headEnd type="triangle"/>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5292080" y="5517232"/>
            <a:ext cx="767730" cy="767730"/>
          </a:xfrm>
          <a:prstGeom prst="line">
            <a:avLst/>
          </a:prstGeom>
          <a:ln w="25400">
            <a:solidFill>
              <a:srgbClr val="DA634F"/>
            </a:solidFill>
            <a:head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6256186" y="3035885"/>
            <a:ext cx="1080120" cy="1080120"/>
          </a:xfrm>
          <a:prstGeom prst="line">
            <a:avLst/>
          </a:prstGeom>
          <a:ln w="25400">
            <a:solidFill>
              <a:srgbClr val="ADD072"/>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 name="组合 14"/>
          <p:cNvGrpSpPr/>
          <p:nvPr/>
        </p:nvGrpSpPr>
        <p:grpSpPr>
          <a:xfrm>
            <a:off x="359467" y="872056"/>
            <a:ext cx="702417" cy="702417"/>
            <a:chOff x="2921917" y="2223151"/>
            <a:chExt cx="1527064" cy="1527064"/>
          </a:xfrm>
        </p:grpSpPr>
        <p:grpSp>
          <p:nvGrpSpPr>
            <p:cNvPr id="3" name="组合 15"/>
            <p:cNvGrpSpPr/>
            <p:nvPr/>
          </p:nvGrpSpPr>
          <p:grpSpPr>
            <a:xfrm>
              <a:off x="2921917" y="2223151"/>
              <a:ext cx="1527064" cy="1527064"/>
              <a:chOff x="1200760" y="3842075"/>
              <a:chExt cx="1784148" cy="1784148"/>
            </a:xfrm>
          </p:grpSpPr>
          <p:sp>
            <p:nvSpPr>
              <p:cNvPr id="18" name="椭圆 17"/>
              <p:cNvSpPr/>
              <p:nvPr/>
            </p:nvSpPr>
            <p:spPr>
              <a:xfrm>
                <a:off x="1200760" y="3842075"/>
                <a:ext cx="1784148" cy="1784148"/>
              </a:xfrm>
              <a:prstGeom prst="ellipse">
                <a:avLst/>
              </a:prstGeom>
              <a:gradFill flip="none" rotWithShape="1">
                <a:gsLst>
                  <a:gs pos="0">
                    <a:srgbClr val="CBCBCB"/>
                  </a:gs>
                  <a:gs pos="100000">
                    <a:srgbClr val="F3F3F3"/>
                  </a:gs>
                </a:gsLst>
                <a:lin ang="2700000" scaled="1"/>
                <a:tileRect/>
              </a:gradFill>
              <a:ln w="31750">
                <a:gradFill flip="none" rotWithShape="1">
                  <a:gsLst>
                    <a:gs pos="0">
                      <a:schemeClr val="bg1"/>
                    </a:gs>
                    <a:gs pos="100000">
                      <a:srgbClr val="CBCBCB"/>
                    </a:gs>
                  </a:gsLst>
                  <a:lin ang="2700000" scaled="1"/>
                  <a:tileRect/>
                </a:gradFill>
              </a:ln>
              <a:effectLst>
                <a:outerShdw blurRad="1270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sp>
            <p:nvSpPr>
              <p:cNvPr id="19" name="椭圆 18"/>
              <p:cNvSpPr/>
              <p:nvPr/>
            </p:nvSpPr>
            <p:spPr>
              <a:xfrm>
                <a:off x="1331074" y="3972389"/>
                <a:ext cx="1523519" cy="1523519"/>
              </a:xfrm>
              <a:prstGeom prst="ellipse">
                <a:avLst/>
              </a:prstGeom>
              <a:gradFill>
                <a:gsLst>
                  <a:gs pos="0">
                    <a:srgbClr val="0070C0"/>
                  </a:gs>
                  <a:gs pos="100000">
                    <a:srgbClr val="00B0F0"/>
                  </a:gs>
                </a:gsLst>
                <a:lin ang="5400000" scaled="0"/>
              </a:gradFill>
              <a:ln>
                <a:noFill/>
              </a:ln>
              <a:effectLst>
                <a:innerShdw blurRad="1016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1200">
                  <a:solidFill>
                    <a:prstClr val="white"/>
                  </a:solidFill>
                  <a:latin typeface="Calibri" panose="020F0502020204030204"/>
                  <a:ea typeface="等线" panose="02010600030101010101" pitchFamily="2" charset="-122"/>
                </a:endParaRPr>
              </a:p>
            </p:txBody>
          </p:sp>
        </p:grpSp>
        <p:sp>
          <p:nvSpPr>
            <p:cNvPr id="17" name="文本框 168"/>
            <p:cNvSpPr txBox="1"/>
            <p:nvPr/>
          </p:nvSpPr>
          <p:spPr>
            <a:xfrm>
              <a:off x="2921917" y="2490948"/>
              <a:ext cx="1415526" cy="1134770"/>
            </a:xfrm>
            <a:prstGeom prst="rect">
              <a:avLst/>
            </a:prstGeom>
            <a:noFill/>
          </p:spPr>
          <p:txBody>
            <a:bodyPr wrap="square" rtlCol="0">
              <a:spAutoFit/>
            </a:bodyPr>
            <a:lstStyle/>
            <a:p>
              <a:pPr algn="ctr">
                <a:defRPr/>
              </a:pPr>
              <a:r>
                <a:rPr lang="en-US" altLang="zh-CN" sz="2800" dirty="0" smtClean="0">
                  <a:solidFill>
                    <a:prstClr val="white"/>
                  </a:solidFill>
                  <a:latin typeface="微软雅黑" panose="020B0503020204020204" pitchFamily="34" charset="-122"/>
                  <a:ea typeface="微软雅黑" panose="020B0503020204020204" pitchFamily="34" charset="-122"/>
                </a:rPr>
                <a:t>03</a:t>
              </a:r>
              <a:endParaRPr lang="zh-CN" altLang="en-US" sz="2800" dirty="0">
                <a:solidFill>
                  <a:prstClr val="white"/>
                </a:solidFill>
                <a:latin typeface="微软雅黑" panose="020B0503020204020204" pitchFamily="34" charset="-122"/>
                <a:ea typeface="微软雅黑" panose="020B0503020204020204" pitchFamily="34" charset="-122"/>
              </a:endParaRPr>
            </a:p>
          </p:txBody>
        </p:sp>
      </p:grpSp>
      <p:sp>
        <p:nvSpPr>
          <p:cNvPr id="20" name="文本框 6"/>
          <p:cNvSpPr txBox="1"/>
          <p:nvPr/>
        </p:nvSpPr>
        <p:spPr>
          <a:xfrm>
            <a:off x="1349814" y="1002856"/>
            <a:ext cx="5685986"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11.3  </a:t>
            </a:r>
            <a:r>
              <a:rPr lang="zh-CN" altLang="en-US" sz="2400" b="1" dirty="0" smtClean="0">
                <a:solidFill>
                  <a:prstClr val="white"/>
                </a:solidFill>
                <a:latin typeface="微软雅黑" panose="020B0503020204020204" pitchFamily="34" charset="-122"/>
                <a:ea typeface="微软雅黑" panose="020B0503020204020204" pitchFamily="34" charset="-122"/>
              </a:rPr>
              <a:t>在</a:t>
            </a:r>
            <a:r>
              <a:rPr lang="zh-CN" altLang="en-US" sz="2400" b="1" dirty="0" smtClean="0">
                <a:solidFill>
                  <a:prstClr val="white"/>
                </a:solidFill>
                <a:latin typeface="微软雅黑" panose="020B0503020204020204" pitchFamily="34" charset="-122"/>
                <a:ea typeface="微软雅黑" panose="020B0503020204020204" pitchFamily="34" charset="-122"/>
              </a:rPr>
              <a:t>手机客户端</a:t>
            </a:r>
            <a:r>
              <a:rPr lang="zh-CN" altLang="en-US" sz="2400" b="1" dirty="0" smtClean="0">
                <a:solidFill>
                  <a:prstClr val="white"/>
                </a:solidFill>
                <a:latin typeface="微软雅黑" panose="020B0503020204020204" pitchFamily="34" charset="-122"/>
                <a:ea typeface="微软雅黑" panose="020B0503020204020204" pitchFamily="34" charset="-122"/>
              </a:rPr>
              <a:t>解析 </a:t>
            </a:r>
            <a:r>
              <a:rPr lang="en-US" altLang="zh-CN" sz="2400" b="1" dirty="0" smtClean="0">
                <a:solidFill>
                  <a:prstClr val="white"/>
                </a:solidFill>
                <a:latin typeface="微软雅黑" panose="020B0503020204020204" pitchFamily="34" charset="-122"/>
                <a:ea typeface="微软雅黑" panose="020B0503020204020204" pitchFamily="34" charset="-122"/>
              </a:rPr>
              <a:t>JSON</a:t>
            </a:r>
            <a:endParaRPr lang="zh-CN" altLang="en-US" sz="2400" dirty="0">
              <a:solidFill>
                <a:prstClr val="white"/>
              </a:solidFill>
              <a:latin typeface="微软雅黑" panose="020B0503020204020204" pitchFamily="34" charset="-122"/>
              <a:ea typeface="微软雅黑" panose="020B0503020204020204" pitchFamily="34" charset="-122"/>
            </a:endParaRPr>
          </a:p>
        </p:txBody>
      </p:sp>
      <p:sp>
        <p:nvSpPr>
          <p:cNvPr id="16" name="文本框 6"/>
          <p:cNvSpPr txBox="1"/>
          <p:nvPr/>
        </p:nvSpPr>
        <p:spPr>
          <a:xfrm>
            <a:off x="1349814" y="1599756"/>
            <a:ext cx="7375086" cy="460375"/>
          </a:xfrm>
          <a:prstGeom prst="rect">
            <a:avLst/>
          </a:prstGeom>
          <a:noFill/>
        </p:spPr>
        <p:txBody>
          <a:bodyPr wrap="square" rtlCol="0">
            <a:spAutoFit/>
          </a:bodyPr>
          <a:lstStyle/>
          <a:p>
            <a:pPr>
              <a:defRPr/>
            </a:pPr>
            <a:r>
              <a:rPr lang="en-US" altLang="zh-CN" sz="2400" b="1" dirty="0" smtClean="0">
                <a:solidFill>
                  <a:prstClr val="white"/>
                </a:solidFill>
                <a:latin typeface="微软雅黑" panose="020B0503020204020204" pitchFamily="34" charset="-122"/>
                <a:ea typeface="微软雅黑" panose="020B0503020204020204" pitchFamily="34" charset="-122"/>
              </a:rPr>
              <a:t>1</a:t>
            </a:r>
            <a:r>
              <a:rPr lang="en-US" altLang="zh-CN" sz="2400" b="1" dirty="0" smtClean="0">
                <a:solidFill>
                  <a:prstClr val="white"/>
                </a:solidFill>
                <a:latin typeface="微软雅黑" panose="020B0503020204020204" pitchFamily="34" charset="-122"/>
                <a:ea typeface="微软雅黑" panose="020B0503020204020204" pitchFamily="34" charset="-122"/>
              </a:rPr>
              <a:t>.  </a:t>
            </a:r>
            <a:r>
              <a:rPr lang="en-US" altLang="en-US" sz="2400" b="1" dirty="0" err="1" smtClean="0">
                <a:solidFill>
                  <a:prstClr val="white"/>
                </a:solidFill>
                <a:latin typeface="微软雅黑" panose="020B0503020204020204" pitchFamily="34" charset="-122"/>
                <a:ea typeface="微软雅黑" panose="020B0503020204020204" pitchFamily="34" charset="-122"/>
              </a:rPr>
              <a:t>ParseJsonDemo</a:t>
            </a:r>
            <a:r>
              <a:rPr lang="en-US" altLang="en-US" sz="2400" b="1" dirty="0" smtClean="0">
                <a:solidFill>
                  <a:prstClr val="white"/>
                </a:solidFill>
                <a:latin typeface="微软雅黑" panose="020B0503020204020204" pitchFamily="34" charset="-122"/>
                <a:ea typeface="微软雅黑" panose="020B0503020204020204" pitchFamily="34" charset="-122"/>
              </a:rPr>
              <a:t> </a:t>
            </a:r>
            <a:r>
              <a:rPr lang="zh-CN" altLang="en-US" sz="2400" b="1" dirty="0" smtClean="0">
                <a:solidFill>
                  <a:prstClr val="white"/>
                </a:solidFill>
                <a:latin typeface="微软雅黑" panose="020B0503020204020204" pitchFamily="34" charset="-122"/>
                <a:ea typeface="微软雅黑" panose="020B0503020204020204" pitchFamily="34" charset="-122"/>
              </a:rPr>
              <a:t>工程</a:t>
            </a:r>
            <a:r>
              <a:rPr lang="zh-CN" altLang="en-US" sz="2400" b="1" dirty="0" smtClean="0">
                <a:solidFill>
                  <a:prstClr val="white"/>
                </a:solidFill>
                <a:latin typeface="微软雅黑" panose="020B0503020204020204" pitchFamily="34" charset="-122"/>
                <a:ea typeface="微软雅黑" panose="020B0503020204020204" pitchFamily="34" charset="-122"/>
              </a:rPr>
              <a:t>目录结构和运行界面</a:t>
            </a:r>
            <a:endParaRPr lang="zh-CN" altLang="en-US" sz="2400" b="1" dirty="0">
              <a:solidFill>
                <a:prstClr val="white"/>
              </a:solidFill>
              <a:latin typeface="微软雅黑" panose="020B0503020204020204" pitchFamily="34" charset="-122"/>
              <a:ea typeface="微软雅黑" panose="020B0503020204020204" pitchFamily="34" charset="-122"/>
            </a:endParaRPr>
          </a:p>
        </p:txBody>
      </p:sp>
      <p:pic>
        <p:nvPicPr>
          <p:cNvPr id="8194" name="Picture 2"/>
          <p:cNvPicPr>
            <a:picLocks noChangeAspect="1" noChangeArrowheads="1"/>
          </p:cNvPicPr>
          <p:nvPr/>
        </p:nvPicPr>
        <p:blipFill>
          <a:blip r:embed="rId1"/>
          <a:srcRect r="8565"/>
          <a:stretch>
            <a:fillRect/>
          </a:stretch>
        </p:blipFill>
        <p:spPr bwMode="auto">
          <a:xfrm>
            <a:off x="1504860" y="2076450"/>
            <a:ext cx="2711540" cy="3798055"/>
          </a:xfrm>
          <a:prstGeom prst="rect">
            <a:avLst/>
          </a:prstGeom>
          <a:noFill/>
          <a:ln w="9525">
            <a:noFill/>
            <a:miter lim="800000"/>
            <a:headEnd/>
            <a:tailEnd/>
          </a:ln>
        </p:spPr>
      </p:pic>
      <p:pic>
        <p:nvPicPr>
          <p:cNvPr id="8196" name="Picture 4"/>
          <p:cNvPicPr>
            <a:picLocks noChangeAspect="1" noChangeArrowheads="1"/>
          </p:cNvPicPr>
          <p:nvPr/>
        </p:nvPicPr>
        <p:blipFill>
          <a:blip r:embed="rId2"/>
          <a:srcRect/>
          <a:stretch>
            <a:fillRect/>
          </a:stretch>
        </p:blipFill>
        <p:spPr bwMode="auto">
          <a:xfrm>
            <a:off x="4989180" y="2114550"/>
            <a:ext cx="2059319" cy="3745310"/>
          </a:xfrm>
          <a:prstGeom prst="rect">
            <a:avLst/>
          </a:prstGeom>
          <a:noFill/>
          <a:ln w="9525">
            <a:noFill/>
            <a:miter lim="800000"/>
            <a:headEnd/>
            <a:tailEnd/>
          </a:ln>
        </p:spPr>
      </p:pic>
    </p:spTree>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p:cTn id="13" dur="500" fill="hold"/>
                                        <p:tgtEl>
                                          <p:spTgt spid="20"/>
                                        </p:tgtEl>
                                        <p:attrNameLst>
                                          <p:attrName>ppt_w</p:attrName>
                                        </p:attrNameLst>
                                      </p:cBhvr>
                                      <p:tavLst>
                                        <p:tav tm="0">
                                          <p:val>
                                            <p:fltVal val="0"/>
                                          </p:val>
                                        </p:tav>
                                        <p:tav tm="100000">
                                          <p:val>
                                            <p:strVal val="#ppt_w"/>
                                          </p:val>
                                        </p:tav>
                                      </p:tavLst>
                                    </p:anim>
                                    <p:anim calcmode="lin" valueType="num">
                                      <p:cBhvr>
                                        <p:cTn id="14" dur="500" fill="hold"/>
                                        <p:tgtEl>
                                          <p:spTgt spid="20"/>
                                        </p:tgtEl>
                                        <p:attrNameLst>
                                          <p:attrName>ppt_h</p:attrName>
                                        </p:attrNameLst>
                                      </p:cBhvr>
                                      <p:tavLst>
                                        <p:tav tm="0">
                                          <p:val>
                                            <p:fltVal val="0"/>
                                          </p:val>
                                        </p:tav>
                                        <p:tav tm="100000">
                                          <p:val>
                                            <p:strVal val="#ppt_h"/>
                                          </p:val>
                                        </p:tav>
                                      </p:tavLst>
                                    </p:anim>
                                    <p:animEffect transition="in" filter="fade">
                                      <p:cBhvr>
                                        <p:cTn id="15" dur="500"/>
                                        <p:tgtEl>
                                          <p:spTgt spid="20"/>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p:cTn id="19" dur="500" fill="hold"/>
                                        <p:tgtEl>
                                          <p:spTgt spid="16"/>
                                        </p:tgtEl>
                                        <p:attrNameLst>
                                          <p:attrName>ppt_w</p:attrName>
                                        </p:attrNameLst>
                                      </p:cBhvr>
                                      <p:tavLst>
                                        <p:tav tm="0">
                                          <p:val>
                                            <p:fltVal val="0"/>
                                          </p:val>
                                        </p:tav>
                                        <p:tav tm="100000">
                                          <p:val>
                                            <p:strVal val="#ppt_w"/>
                                          </p:val>
                                        </p:tav>
                                      </p:tavLst>
                                    </p:anim>
                                    <p:anim calcmode="lin" valueType="num">
                                      <p:cBhvr>
                                        <p:cTn id="20" dur="500" fill="hold"/>
                                        <p:tgtEl>
                                          <p:spTgt spid="16"/>
                                        </p:tgtEl>
                                        <p:attrNameLst>
                                          <p:attrName>ppt_h</p:attrName>
                                        </p:attrNameLst>
                                      </p:cBhvr>
                                      <p:tavLst>
                                        <p:tav tm="0">
                                          <p:val>
                                            <p:fltVal val="0"/>
                                          </p:val>
                                        </p:tav>
                                        <p:tav tm="100000">
                                          <p:val>
                                            <p:strVal val="#ppt_h"/>
                                          </p:val>
                                        </p:tav>
                                      </p:tavLst>
                                    </p:anim>
                                    <p:animEffect transition="in" filter="fade">
                                      <p:cBhvr>
                                        <p:cTn id="2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4"/>
            <a:ext cx="8185830" cy="3867966"/>
          </a:xfrm>
        </p:spPr>
        <p:txBody>
          <a:bodyPr>
            <a:normAutofit/>
          </a:bodyPr>
          <a:lstStyle/>
          <a:p>
            <a:pPr>
              <a:lnSpc>
                <a:spcPct val="120000"/>
              </a:lnSpc>
            </a:pPr>
            <a:r>
              <a:rPr lang="zh-CN" altLang="en-US" sz="1800" b="0" dirty="0">
                <a:solidFill>
                  <a:schemeClr val="tx1">
                    <a:lumMod val="75000"/>
                    <a:lumOff val="25000"/>
                  </a:schemeClr>
                </a:solidFill>
              </a:rPr>
              <a:t>常见的文本数据标注工具主要有实体标注、实体关系标注、文档属性标注、阅读理解、交互意图</a:t>
            </a:r>
            <a:r>
              <a:rPr lang="zh-CN" altLang="en-US" sz="1800" b="0" dirty="0" smtClean="0">
                <a:solidFill>
                  <a:schemeClr val="tx1">
                    <a:lumMod val="75000"/>
                    <a:lumOff val="25000"/>
                  </a:schemeClr>
                </a:solidFill>
              </a:rPr>
              <a:t>等。</a:t>
            </a:r>
            <a:endParaRPr lang="en-US" altLang="zh-CN" sz="1800" b="0" dirty="0" smtClean="0">
              <a:solidFill>
                <a:schemeClr val="tx1">
                  <a:lumMod val="75000"/>
                  <a:lumOff val="25000"/>
                </a:schemeClr>
              </a:solidFill>
            </a:endParaRPr>
          </a:p>
          <a:p>
            <a:pPr>
              <a:lnSpc>
                <a:spcPct val="120000"/>
              </a:lnSpc>
            </a:pP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3</a:t>
            </a:r>
            <a:r>
              <a:rPr lang="zh-CN" altLang="en-US" sz="2000" dirty="0" smtClean="0"/>
              <a:t>.</a:t>
            </a:r>
            <a:r>
              <a:rPr lang="en-US" altLang="zh-CN" sz="2000" dirty="0" smtClean="0"/>
              <a:t>4</a:t>
            </a:r>
            <a:r>
              <a:rPr lang="zh-CN" altLang="en-US" sz="2000" dirty="0" smtClean="0"/>
              <a:t>  文本数据</a:t>
            </a:r>
            <a:r>
              <a:rPr lang="zh-CN" altLang="en-US" sz="2000" dirty="0"/>
              <a:t>标注工具</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sz="2100" b="1" spc="225" dirty="0" smtClean="0">
                <a:solidFill>
                  <a:prstClr val="white"/>
                </a:solidFill>
              </a:rPr>
              <a:t>2</a:t>
            </a:r>
            <a:r>
              <a:rPr sz="2100" b="1" spc="225" dirty="0" smtClean="0">
                <a:solidFill>
                  <a:prstClr val="white"/>
                </a:solidFill>
              </a:rPr>
              <a:t>.</a:t>
            </a:r>
            <a:r>
              <a:rPr lang="en-US" sz="2100" b="1" spc="225" dirty="0" smtClean="0">
                <a:solidFill>
                  <a:prstClr val="white"/>
                </a:solidFill>
              </a:rPr>
              <a:t>3  </a:t>
            </a:r>
            <a:r>
              <a:rPr lang="zh-CN" altLang="en-US" sz="2100" b="1" spc="225" dirty="0" smtClean="0">
                <a:solidFill>
                  <a:prstClr val="white"/>
                </a:solidFill>
              </a:rPr>
              <a:t>数据</a:t>
            </a:r>
            <a:r>
              <a:rPr lang="zh-CN" altLang="en-US" sz="2100" b="1" spc="225" dirty="0">
                <a:solidFill>
                  <a:prstClr val="white"/>
                </a:solidFill>
              </a:rPr>
              <a:t>标注工具与平台</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pic>
        <p:nvPicPr>
          <p:cNvPr id="8194"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94314" y="2675236"/>
            <a:ext cx="8198889" cy="21461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4"/>
            <a:ext cx="8185830" cy="3867966"/>
          </a:xfrm>
        </p:spPr>
        <p:txBody>
          <a:bodyPr>
            <a:normAutofit/>
          </a:bodyPr>
          <a:lstStyle/>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1</a:t>
            </a:r>
            <a:r>
              <a:rPr lang="zh-CN" altLang="en-US" sz="1800" b="0" dirty="0" smtClean="0">
                <a:solidFill>
                  <a:schemeClr val="tx1">
                    <a:lumMod val="75000"/>
                    <a:lumOff val="25000"/>
                  </a:schemeClr>
                </a:solidFill>
              </a:rPr>
              <a:t>）文本句法树</a:t>
            </a:r>
            <a:r>
              <a:rPr lang="zh-CN" altLang="en-US" sz="1800" b="0" dirty="0">
                <a:solidFill>
                  <a:schemeClr val="tx1">
                    <a:lumMod val="75000"/>
                    <a:lumOff val="25000"/>
                  </a:schemeClr>
                </a:solidFill>
              </a:rPr>
              <a:t>标注</a:t>
            </a:r>
            <a:r>
              <a:rPr lang="zh-CN" altLang="en-US" sz="1800" b="0" dirty="0" smtClean="0">
                <a:solidFill>
                  <a:schemeClr val="tx1">
                    <a:lumMod val="75000"/>
                    <a:lumOff val="25000"/>
                  </a:schemeClr>
                </a:solidFill>
              </a:rPr>
              <a:t>：标注</a:t>
            </a:r>
            <a:r>
              <a:rPr lang="zh-CN" altLang="en-US" sz="1800" b="0" dirty="0">
                <a:solidFill>
                  <a:schemeClr val="tx1">
                    <a:lumMod val="75000"/>
                    <a:lumOff val="25000"/>
                  </a:schemeClr>
                </a:solidFill>
              </a:rPr>
              <a:t>人员对文本</a:t>
            </a:r>
            <a:r>
              <a:rPr lang="zh-CN" altLang="en-US" sz="1800" b="0" dirty="0" smtClean="0">
                <a:solidFill>
                  <a:schemeClr val="tx1">
                    <a:lumMod val="75000"/>
                    <a:lumOff val="25000"/>
                  </a:schemeClr>
                </a:solidFill>
              </a:rPr>
              <a:t>进行分词、词性标注、短语机构标注，依存关系标注等更深</a:t>
            </a:r>
            <a:r>
              <a:rPr lang="zh-CN" altLang="en-US" sz="1800" b="0" dirty="0">
                <a:solidFill>
                  <a:schemeClr val="tx1">
                    <a:lumMod val="75000"/>
                    <a:lumOff val="25000"/>
                  </a:schemeClr>
                </a:solidFill>
              </a:rPr>
              <a:t>层次的处理能力，可满足自然语言处理的不同层次的要求。</a:t>
            </a:r>
            <a:endParaRPr lang="en-US" altLang="zh-CN" sz="1800" b="0" dirty="0" smtClean="0">
              <a:solidFill>
                <a:schemeClr val="tx1">
                  <a:lumMod val="75000"/>
                  <a:lumOff val="25000"/>
                </a:schemeClr>
              </a:solidFill>
            </a:endParaRPr>
          </a:p>
          <a:p>
            <a:pPr>
              <a:lnSpc>
                <a:spcPct val="120000"/>
              </a:lnSpc>
            </a:pP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3</a:t>
            </a:r>
            <a:r>
              <a:rPr lang="zh-CN" altLang="en-US" sz="2000" dirty="0" smtClean="0"/>
              <a:t>.</a:t>
            </a:r>
            <a:r>
              <a:rPr lang="en-US" altLang="zh-CN" sz="2000" dirty="0" smtClean="0"/>
              <a:t>4</a:t>
            </a:r>
            <a:r>
              <a:rPr lang="zh-CN" altLang="en-US" sz="2000" dirty="0" smtClean="0"/>
              <a:t>  文本数据</a:t>
            </a:r>
            <a:r>
              <a:rPr lang="zh-CN" altLang="en-US" sz="2000" dirty="0"/>
              <a:t>标注工具</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sz="2100" b="1" spc="225" dirty="0" smtClean="0">
                <a:solidFill>
                  <a:prstClr val="white"/>
                </a:solidFill>
              </a:rPr>
              <a:t>2</a:t>
            </a:r>
            <a:r>
              <a:rPr sz="2100" b="1" spc="225" dirty="0" smtClean="0">
                <a:solidFill>
                  <a:prstClr val="white"/>
                </a:solidFill>
              </a:rPr>
              <a:t>.</a:t>
            </a:r>
            <a:r>
              <a:rPr lang="en-US" sz="2100" b="1" spc="225" dirty="0" smtClean="0">
                <a:solidFill>
                  <a:prstClr val="white"/>
                </a:solidFill>
              </a:rPr>
              <a:t>3  </a:t>
            </a:r>
            <a:r>
              <a:rPr lang="zh-CN" altLang="en-US" sz="2100" b="1" spc="225" dirty="0" smtClean="0">
                <a:solidFill>
                  <a:prstClr val="white"/>
                </a:solidFill>
              </a:rPr>
              <a:t>数据</a:t>
            </a:r>
            <a:r>
              <a:rPr lang="zh-CN" altLang="en-US" sz="2100" b="1" spc="225" dirty="0">
                <a:solidFill>
                  <a:prstClr val="white"/>
                </a:solidFill>
              </a:rPr>
              <a:t>标注工具与平台</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pic>
        <p:nvPicPr>
          <p:cNvPr id="10242" name="图片 38" descr="说明: 文本标注"/>
          <p:cNvPicPr>
            <a:picLocks noChangeArrowheads="1"/>
          </p:cNvPicPr>
          <p:nvPr/>
        </p:nvPicPr>
        <p:blipFill>
          <a:blip r:embed="rId1">
            <a:extLst>
              <a:ext uri="{28A0092B-C50C-407E-A947-70E740481C1C}">
                <a14:useLocalDpi xmlns:a14="http://schemas.microsoft.com/office/drawing/2010/main" val="0"/>
              </a:ext>
            </a:extLst>
          </a:blip>
          <a:srcRect l="12469" t="5656" r="12753" b="10635"/>
          <a:stretch>
            <a:fillRect/>
          </a:stretch>
        </p:blipFill>
        <p:spPr bwMode="auto">
          <a:xfrm>
            <a:off x="1465385" y="2403230"/>
            <a:ext cx="6025661" cy="4208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4"/>
            <a:ext cx="8185830" cy="3867966"/>
          </a:xfrm>
        </p:spPr>
        <p:txBody>
          <a:bodyPr>
            <a:normAutofit/>
          </a:bodyPr>
          <a:lstStyle/>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1</a:t>
            </a:r>
            <a:r>
              <a:rPr lang="zh-CN" altLang="en-US" sz="1800" b="0" smtClean="0">
                <a:solidFill>
                  <a:schemeClr val="tx1">
                    <a:lumMod val="75000"/>
                    <a:lumOff val="25000"/>
                  </a:schemeClr>
                </a:solidFill>
              </a:rPr>
              <a:t>）文本</a:t>
            </a:r>
            <a:r>
              <a:rPr lang="zh-CN" altLang="en-US" sz="1800" b="0" dirty="0">
                <a:solidFill>
                  <a:schemeClr val="tx1">
                    <a:lumMod val="75000"/>
                    <a:lumOff val="25000"/>
                  </a:schemeClr>
                </a:solidFill>
              </a:rPr>
              <a:t>属性标注：标注人员可以对两条文字数据进行对比，也可以根据模板中提供的类别模板对文本内容进行标注，例如选取一句话中的主语、谓语和宾语等。页面最上方有一行文本文字，标注人员通过阅读文本确定文本的主题、时间，发生地点等内容，根据实际情况将相关内容填写在下方的文本框内。</a:t>
            </a:r>
            <a:endParaRPr lang="en-US" altLang="zh-CN" sz="1800" b="0" dirty="0" smtClean="0">
              <a:solidFill>
                <a:schemeClr val="tx1">
                  <a:lumMod val="75000"/>
                  <a:lumOff val="25000"/>
                </a:schemeClr>
              </a:solidFill>
            </a:endParaRPr>
          </a:p>
          <a:p>
            <a:pPr>
              <a:lnSpc>
                <a:spcPct val="120000"/>
              </a:lnSpc>
            </a:pP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3</a:t>
            </a:r>
            <a:r>
              <a:rPr lang="zh-CN" altLang="en-US" sz="2000" dirty="0" smtClean="0"/>
              <a:t>.</a:t>
            </a:r>
            <a:r>
              <a:rPr lang="en-US" altLang="zh-CN" sz="2000" dirty="0" smtClean="0"/>
              <a:t>4</a:t>
            </a:r>
            <a:r>
              <a:rPr lang="zh-CN" altLang="en-US" sz="2000" dirty="0" smtClean="0"/>
              <a:t>  文本数据</a:t>
            </a:r>
            <a:r>
              <a:rPr lang="zh-CN" altLang="en-US" sz="2000" dirty="0"/>
              <a:t>标注工具</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sz="2100" b="1" spc="225" dirty="0" smtClean="0">
                <a:solidFill>
                  <a:prstClr val="white"/>
                </a:solidFill>
              </a:rPr>
              <a:t>2</a:t>
            </a:r>
            <a:r>
              <a:rPr sz="2100" b="1" spc="225" dirty="0" smtClean="0">
                <a:solidFill>
                  <a:prstClr val="white"/>
                </a:solidFill>
              </a:rPr>
              <a:t>.</a:t>
            </a:r>
            <a:r>
              <a:rPr lang="en-US" sz="2100" b="1" spc="225" dirty="0" smtClean="0">
                <a:solidFill>
                  <a:prstClr val="white"/>
                </a:solidFill>
              </a:rPr>
              <a:t>3  </a:t>
            </a:r>
            <a:r>
              <a:rPr lang="zh-CN" altLang="en-US" sz="2100" b="1" spc="225" dirty="0" smtClean="0">
                <a:solidFill>
                  <a:prstClr val="white"/>
                </a:solidFill>
              </a:rPr>
              <a:t>数据</a:t>
            </a:r>
            <a:r>
              <a:rPr lang="zh-CN" altLang="en-US" sz="2100" b="1" spc="225" dirty="0">
                <a:solidFill>
                  <a:prstClr val="white"/>
                </a:solidFill>
              </a:rPr>
              <a:t>标注工具与平台</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pic>
        <p:nvPicPr>
          <p:cNvPr id="11266" name="图片 3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70892" y="2696307"/>
            <a:ext cx="5816144"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4"/>
            <a:ext cx="8185830" cy="3867966"/>
          </a:xfrm>
        </p:spPr>
        <p:txBody>
          <a:bodyPr>
            <a:normAutofit/>
          </a:bodyPr>
          <a:lstStyle/>
          <a:p>
            <a:pPr>
              <a:lnSpc>
                <a:spcPct val="120000"/>
              </a:lnSpc>
            </a:pPr>
            <a:r>
              <a:rPr lang="en-US" altLang="zh-CN" sz="1800" b="0" dirty="0">
                <a:solidFill>
                  <a:schemeClr val="tx1">
                    <a:lumMod val="75000"/>
                    <a:lumOff val="25000"/>
                  </a:schemeClr>
                </a:solidFill>
              </a:rPr>
              <a:t>3D</a:t>
            </a:r>
            <a:r>
              <a:rPr lang="zh-CN" altLang="en-US" sz="1800" b="0" dirty="0">
                <a:solidFill>
                  <a:schemeClr val="tx1">
                    <a:lumMod val="75000"/>
                    <a:lumOff val="25000"/>
                  </a:schemeClr>
                </a:solidFill>
              </a:rPr>
              <a:t>点云标注是指对激光雷达等设备采集的</a:t>
            </a:r>
            <a:r>
              <a:rPr lang="en-US" altLang="zh-CN" sz="1800" b="0" dirty="0">
                <a:solidFill>
                  <a:schemeClr val="tx1">
                    <a:lumMod val="75000"/>
                    <a:lumOff val="25000"/>
                  </a:schemeClr>
                </a:solidFill>
              </a:rPr>
              <a:t>3D</a:t>
            </a:r>
            <a:r>
              <a:rPr lang="zh-CN" altLang="en-US" sz="1800" b="0" dirty="0">
                <a:solidFill>
                  <a:schemeClr val="tx1">
                    <a:lumMod val="75000"/>
                    <a:lumOff val="25000"/>
                  </a:schemeClr>
                </a:solidFill>
              </a:rPr>
              <a:t>图像，通过</a:t>
            </a:r>
            <a:r>
              <a:rPr lang="en-US" altLang="zh-CN" sz="1800" b="0" dirty="0">
                <a:solidFill>
                  <a:schemeClr val="tx1">
                    <a:lumMod val="75000"/>
                    <a:lumOff val="25000"/>
                  </a:schemeClr>
                </a:solidFill>
              </a:rPr>
              <a:t>3D</a:t>
            </a:r>
            <a:r>
              <a:rPr lang="zh-CN" altLang="en-US" sz="1800" b="0" dirty="0">
                <a:solidFill>
                  <a:schemeClr val="tx1">
                    <a:lumMod val="75000"/>
                    <a:lumOff val="25000"/>
                  </a:schemeClr>
                </a:solidFill>
              </a:rPr>
              <a:t>标注框将车辆、行人、广告标志和树木等目标物体标注</a:t>
            </a:r>
            <a:r>
              <a:rPr lang="zh-CN" altLang="en-US" sz="1800" b="0" dirty="0" smtClean="0">
                <a:solidFill>
                  <a:schemeClr val="tx1">
                    <a:lumMod val="75000"/>
                    <a:lumOff val="25000"/>
                  </a:schemeClr>
                </a:solidFill>
              </a:rPr>
              <a:t>出，供</a:t>
            </a:r>
            <a:r>
              <a:rPr lang="zh-CN" altLang="en-US" sz="1800" b="0" dirty="0">
                <a:solidFill>
                  <a:schemeClr val="tx1">
                    <a:lumMod val="75000"/>
                    <a:lumOff val="25000"/>
                  </a:schemeClr>
                </a:solidFill>
              </a:rPr>
              <a:t>计算机视觉、无人驾驶等人工智能模型训练使用。</a:t>
            </a:r>
            <a:endParaRPr lang="en-US" altLang="zh-CN" sz="1800" b="0" dirty="0" smtClean="0">
              <a:solidFill>
                <a:schemeClr val="tx1">
                  <a:lumMod val="75000"/>
                  <a:lumOff val="25000"/>
                </a:schemeClr>
              </a:solidFill>
            </a:endParaRPr>
          </a:p>
          <a:p>
            <a:pPr>
              <a:lnSpc>
                <a:spcPct val="120000"/>
              </a:lnSpc>
            </a:pP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3</a:t>
            </a:r>
            <a:r>
              <a:rPr lang="zh-CN" altLang="en-US" sz="2000" dirty="0" smtClean="0"/>
              <a:t>.</a:t>
            </a:r>
            <a:r>
              <a:rPr lang="en-US" altLang="zh-CN" sz="2000" dirty="0" smtClean="0"/>
              <a:t>5</a:t>
            </a:r>
            <a:r>
              <a:rPr lang="zh-CN" altLang="en-US" sz="2000" dirty="0" smtClean="0"/>
              <a:t>  </a:t>
            </a:r>
            <a:r>
              <a:rPr lang="en-US" altLang="zh-CN" sz="2000" dirty="0" smtClean="0"/>
              <a:t>3D</a:t>
            </a:r>
            <a:r>
              <a:rPr lang="zh-CN" altLang="en-US" sz="2000" dirty="0" smtClean="0"/>
              <a:t>点云标注工具</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sz="2100" b="1" spc="225" dirty="0" smtClean="0">
                <a:solidFill>
                  <a:prstClr val="white"/>
                </a:solidFill>
              </a:rPr>
              <a:t>2</a:t>
            </a:r>
            <a:r>
              <a:rPr sz="2100" b="1" spc="225" dirty="0" smtClean="0">
                <a:solidFill>
                  <a:prstClr val="white"/>
                </a:solidFill>
              </a:rPr>
              <a:t>.</a:t>
            </a:r>
            <a:r>
              <a:rPr lang="en-US" sz="2100" b="1" spc="225" dirty="0" smtClean="0">
                <a:solidFill>
                  <a:prstClr val="white"/>
                </a:solidFill>
              </a:rPr>
              <a:t>3  </a:t>
            </a:r>
            <a:r>
              <a:rPr lang="zh-CN" altLang="en-US" sz="2100" b="1" spc="225" dirty="0" smtClean="0">
                <a:solidFill>
                  <a:prstClr val="white"/>
                </a:solidFill>
              </a:rPr>
              <a:t>数据</a:t>
            </a:r>
            <a:r>
              <a:rPr lang="zh-CN" altLang="en-US" sz="2100" b="1" spc="225" dirty="0">
                <a:solidFill>
                  <a:prstClr val="white"/>
                </a:solidFill>
              </a:rPr>
              <a:t>标注工具与平台</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sp>
        <p:nvSpPr>
          <p:cNvPr id="9" name="TextBox 8"/>
          <p:cNvSpPr txBox="1"/>
          <p:nvPr/>
        </p:nvSpPr>
        <p:spPr>
          <a:xfrm>
            <a:off x="3071446" y="5603631"/>
            <a:ext cx="2719754" cy="307777"/>
          </a:xfrm>
          <a:prstGeom prst="rect">
            <a:avLst/>
          </a:prstGeom>
          <a:noFill/>
        </p:spPr>
        <p:txBody>
          <a:bodyPr wrap="square" rtlCol="0">
            <a:spAutoFit/>
          </a:bodyPr>
          <a:lstStyle/>
          <a:p>
            <a:pPr algn="ctr"/>
            <a:r>
              <a:rPr lang="zh-CN" altLang="en-US" sz="1400" dirty="0" smtClean="0"/>
              <a:t>车辆、行人的</a:t>
            </a:r>
            <a:r>
              <a:rPr lang="en-US" altLang="zh-CN" sz="1400" dirty="0" smtClean="0"/>
              <a:t>3D</a:t>
            </a:r>
            <a:r>
              <a:rPr lang="zh-CN" altLang="en-US" sz="1400" dirty="0" smtClean="0"/>
              <a:t>点云图</a:t>
            </a:r>
            <a:endParaRPr lang="zh-CN" altLang="en-US" sz="1400" dirty="0"/>
          </a:p>
        </p:txBody>
      </p:sp>
      <p:pic>
        <p:nvPicPr>
          <p:cNvPr id="9218" name="图片 521" descr="说明: 在这里插入图片描述"/>
          <p:cNvPicPr>
            <a:picLocks noChangeAspect="1" noChangeArrowheads="1"/>
          </p:cNvPicPr>
          <p:nvPr/>
        </p:nvPicPr>
        <p:blipFill>
          <a:blip r:embed="rId1">
            <a:extLst>
              <a:ext uri="{28A0092B-C50C-407E-A947-70E740481C1C}">
                <a14:useLocalDpi xmlns:a14="http://schemas.microsoft.com/office/drawing/2010/main" val="0"/>
              </a:ext>
            </a:extLst>
          </a:blip>
          <a:srcRect r="38358" b="5348"/>
          <a:stretch>
            <a:fillRect/>
          </a:stretch>
        </p:blipFill>
        <p:spPr bwMode="auto">
          <a:xfrm>
            <a:off x="2342317" y="2671949"/>
            <a:ext cx="4574228" cy="2801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p:cNvGrpSpPr/>
          <p:nvPr/>
        </p:nvGrpSpPr>
        <p:grpSpPr>
          <a:xfrm>
            <a:off x="690258" y="854039"/>
            <a:ext cx="7832785" cy="781050"/>
            <a:chOff x="2788580" y="1152524"/>
            <a:chExt cx="3730770" cy="781050"/>
          </a:xfrm>
        </p:grpSpPr>
        <p:grpSp>
          <p:nvGrpSpPr>
            <p:cNvPr id="6" name="组合 5"/>
            <p:cNvGrpSpPr/>
            <p:nvPr/>
          </p:nvGrpSpPr>
          <p:grpSpPr>
            <a:xfrm>
              <a:off x="2788580" y="1152524"/>
              <a:ext cx="3730770" cy="781050"/>
              <a:chOff x="3725790" y="847725"/>
              <a:chExt cx="3730770" cy="781050"/>
            </a:xfrm>
          </p:grpSpPr>
          <p:grpSp>
            <p:nvGrpSpPr>
              <p:cNvPr id="7" name="组合 6"/>
              <p:cNvGrpSpPr/>
              <p:nvPr/>
            </p:nvGrpSpPr>
            <p:grpSpPr>
              <a:xfrm>
                <a:off x="3725790" y="1019175"/>
                <a:ext cx="627135" cy="609600"/>
                <a:chOff x="3725790" y="1019175"/>
                <a:chExt cx="627135" cy="609600"/>
              </a:xfrm>
            </p:grpSpPr>
            <p:sp>
              <p:nvSpPr>
                <p:cNvPr id="12" name="任意多边形 11"/>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3" name="直角三角形 12"/>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8" name="组合 7"/>
              <p:cNvGrpSpPr/>
              <p:nvPr/>
            </p:nvGrpSpPr>
            <p:grpSpPr>
              <a:xfrm flipH="1">
                <a:off x="6829425" y="1019175"/>
                <a:ext cx="627135" cy="609600"/>
                <a:chOff x="3725790" y="1019175"/>
                <a:chExt cx="627135" cy="609600"/>
              </a:xfrm>
            </p:grpSpPr>
            <p:sp>
              <p:nvSpPr>
                <p:cNvPr id="10" name="任意多边形 9"/>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直角三角形 10"/>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9" name="矩形 8"/>
              <p:cNvSpPr/>
              <p:nvPr/>
            </p:nvSpPr>
            <p:spPr>
              <a:xfrm>
                <a:off x="4181475" y="847725"/>
                <a:ext cx="2819400"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14" name="文本框 14"/>
            <p:cNvSpPr txBox="1"/>
            <p:nvPr/>
          </p:nvSpPr>
          <p:spPr>
            <a:xfrm>
              <a:off x="3247868" y="1169836"/>
              <a:ext cx="2753382" cy="523220"/>
            </a:xfrm>
            <a:prstGeom prst="rect">
              <a:avLst/>
            </a:prstGeom>
            <a:noFill/>
          </p:spPr>
          <p:txBody>
            <a:bodyPr wrap="none" rtlCol="0">
              <a:spAutoFit/>
            </a:bodyPr>
            <a:lstStyle/>
            <a:p>
              <a:pPr algn="ctr"/>
              <a:r>
                <a:rPr lang="zh-CN" altLang="en-US" sz="2800" dirty="0" smtClean="0">
                  <a:solidFill>
                    <a:srgbClr val="FFC000"/>
                  </a:solidFill>
                </a:rPr>
                <a:t>第</a:t>
              </a:r>
              <a:r>
                <a:rPr lang="en-US" altLang="zh-CN" sz="2800" dirty="0">
                  <a:solidFill>
                    <a:srgbClr val="FFC000"/>
                  </a:solidFill>
                </a:rPr>
                <a:t>2</a:t>
              </a:r>
              <a:r>
                <a:rPr lang="zh-CN" altLang="en-US" sz="2800" dirty="0" smtClean="0">
                  <a:solidFill>
                    <a:srgbClr val="FFC000"/>
                  </a:solidFill>
                </a:rPr>
                <a:t>章　数据标注概念、工具与方法</a:t>
              </a:r>
              <a:endParaRPr lang="zh-CN" altLang="en-US" sz="2800" dirty="0" smtClean="0">
                <a:solidFill>
                  <a:srgbClr val="FFC000"/>
                </a:solidFill>
              </a:endParaRPr>
            </a:p>
          </p:txBody>
        </p:sp>
      </p:grpSp>
      <p:sp>
        <p:nvSpPr>
          <p:cNvPr id="48" name="矩形 47"/>
          <p:cNvSpPr/>
          <p:nvPr/>
        </p:nvSpPr>
        <p:spPr>
          <a:xfrm>
            <a:off x="1485903" y="2160000"/>
            <a:ext cx="184731" cy="415498"/>
          </a:xfrm>
          <a:prstGeom prst="rect">
            <a:avLst/>
          </a:prstGeom>
        </p:spPr>
        <p:txBody>
          <a:bodyPr wrap="none">
            <a:spAutoFit/>
          </a:bodyPr>
          <a:lstStyle/>
          <a:p>
            <a:endParaRPr lang="zh-CN" altLang="en-US" sz="2100" spc="225" dirty="0" smtClean="0">
              <a:solidFill>
                <a:schemeClr val="bg1"/>
              </a:solidFill>
            </a:endParaRPr>
          </a:p>
        </p:txBody>
      </p:sp>
      <p:sp>
        <p:nvSpPr>
          <p:cNvPr id="49" name="圆角矩形 48"/>
          <p:cNvSpPr/>
          <p:nvPr/>
        </p:nvSpPr>
        <p:spPr>
          <a:xfrm>
            <a:off x="1414394" y="2183191"/>
            <a:ext cx="6315212"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a:solidFill>
                  <a:schemeClr val="bg1"/>
                </a:solidFill>
              </a:rPr>
              <a:t>2.1 </a:t>
            </a:r>
            <a:r>
              <a:rPr lang="zh-CN" altLang="zh-CN" sz="2000" spc="225" dirty="0">
                <a:solidFill>
                  <a:schemeClr val="bg1"/>
                </a:solidFill>
              </a:rPr>
              <a:t>数据标注的概念及其对人工智能发展的意义</a:t>
            </a:r>
            <a:r>
              <a:rPr lang="en-US" altLang="zh-CN" sz="2000" spc="225" dirty="0">
                <a:solidFill>
                  <a:schemeClr val="bg1"/>
                </a:solidFill>
              </a:rPr>
              <a:t> </a:t>
            </a:r>
            <a:endParaRPr lang="zh-CN" altLang="en-US" sz="2000" spc="225" dirty="0">
              <a:solidFill>
                <a:schemeClr val="bg1"/>
              </a:solidFill>
            </a:endParaRPr>
          </a:p>
        </p:txBody>
      </p:sp>
      <p:sp>
        <p:nvSpPr>
          <p:cNvPr id="32" name="矩形 31"/>
          <p:cNvSpPr/>
          <p:nvPr/>
        </p:nvSpPr>
        <p:spPr>
          <a:xfrm>
            <a:off x="-7143" y="-9147"/>
            <a:ext cx="9158090" cy="3821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36" name="矩形 35"/>
          <p:cNvSpPr/>
          <p:nvPr/>
        </p:nvSpPr>
        <p:spPr>
          <a:xfrm>
            <a:off x="0" y="6669360"/>
            <a:ext cx="9144000" cy="1886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5" name="矩形 44"/>
          <p:cNvSpPr/>
          <p:nvPr/>
        </p:nvSpPr>
        <p:spPr>
          <a:xfrm>
            <a:off x="7929" y="38314"/>
            <a:ext cx="2954655" cy="300082"/>
          </a:xfrm>
          <a:prstGeom prst="rect">
            <a:avLst/>
          </a:prstGeom>
        </p:spPr>
        <p:txBody>
          <a:bodyPr wrap="none">
            <a:spAutoFit/>
          </a:bodyPr>
          <a:lstStyle/>
          <a:p>
            <a:r>
              <a:rPr lang="zh-CN" altLang="en-US" sz="1350" dirty="0">
                <a:solidFill>
                  <a:prstClr val="white"/>
                </a:solidFill>
              </a:rPr>
              <a:t>人工智能技术应用核心课程系列教材</a:t>
            </a:r>
            <a:endParaRPr lang="zh-CN" altLang="en-US" sz="1350" dirty="0">
              <a:solidFill>
                <a:prstClr val="white"/>
              </a:solidFill>
            </a:endParaRPr>
          </a:p>
        </p:txBody>
      </p:sp>
      <p:sp>
        <p:nvSpPr>
          <p:cNvPr id="2" name="圆角矩形 1"/>
          <p:cNvSpPr/>
          <p:nvPr/>
        </p:nvSpPr>
        <p:spPr>
          <a:xfrm>
            <a:off x="1384253" y="3594437"/>
            <a:ext cx="6315213" cy="415498"/>
          </a:xfrm>
          <a:prstGeom prst="round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spc="225" dirty="0">
                <a:solidFill>
                  <a:schemeClr val="bg1"/>
                </a:solidFill>
              </a:rPr>
              <a:t>2.4 </a:t>
            </a:r>
            <a:r>
              <a:rPr lang="zh-CN" altLang="en-US" sz="2000" spc="225" dirty="0">
                <a:solidFill>
                  <a:schemeClr val="bg1"/>
                </a:solidFill>
              </a:rPr>
              <a:t>典型数据标注技术</a:t>
            </a:r>
            <a:endParaRPr lang="zh-CN" altLang="en-US" sz="2000" spc="225" dirty="0">
              <a:solidFill>
                <a:schemeClr val="bg1"/>
              </a:solidFill>
            </a:endParaRPr>
          </a:p>
        </p:txBody>
      </p:sp>
      <p:sp>
        <p:nvSpPr>
          <p:cNvPr id="40" name="圆角矩形 39"/>
          <p:cNvSpPr/>
          <p:nvPr/>
        </p:nvSpPr>
        <p:spPr>
          <a:xfrm>
            <a:off x="1414923" y="2649765"/>
            <a:ext cx="6315212"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a:solidFill>
                  <a:schemeClr val="bg1"/>
                </a:solidFill>
              </a:rPr>
              <a:t>2.2 </a:t>
            </a:r>
            <a:r>
              <a:rPr lang="zh-CN" altLang="en-US" sz="2000" spc="225" dirty="0">
                <a:solidFill>
                  <a:schemeClr val="bg1"/>
                </a:solidFill>
              </a:rPr>
              <a:t>数据标注对象</a:t>
            </a:r>
            <a:endParaRPr lang="zh-CN" altLang="en-US" sz="2000" spc="225" dirty="0">
              <a:solidFill>
                <a:schemeClr val="bg1"/>
              </a:solidFill>
            </a:endParaRPr>
          </a:p>
        </p:txBody>
      </p:sp>
      <p:sp>
        <p:nvSpPr>
          <p:cNvPr id="41" name="圆角矩形 40"/>
          <p:cNvSpPr/>
          <p:nvPr/>
        </p:nvSpPr>
        <p:spPr>
          <a:xfrm>
            <a:off x="1403072" y="3117891"/>
            <a:ext cx="6315212"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a:solidFill>
                  <a:schemeClr val="bg1"/>
                </a:solidFill>
              </a:rPr>
              <a:t>2.3 </a:t>
            </a:r>
            <a:r>
              <a:rPr lang="zh-CN" altLang="en-US" sz="2000" spc="225" dirty="0">
                <a:solidFill>
                  <a:schemeClr val="bg1"/>
                </a:solidFill>
              </a:rPr>
              <a:t>数据标注工具与平台</a:t>
            </a:r>
            <a:endParaRPr lang="zh-CN" altLang="en-US" sz="2000" spc="225" dirty="0">
              <a:solidFill>
                <a:schemeClr val="bg1"/>
              </a:solidFill>
            </a:endParaRPr>
          </a:p>
        </p:txBody>
      </p:sp>
      <p:sp>
        <p:nvSpPr>
          <p:cNvPr id="44" name="圆角矩形 43"/>
          <p:cNvSpPr/>
          <p:nvPr/>
        </p:nvSpPr>
        <p:spPr>
          <a:xfrm>
            <a:off x="1403072" y="4088372"/>
            <a:ext cx="6311995"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smtClean="0">
                <a:solidFill>
                  <a:schemeClr val="bg1"/>
                </a:solidFill>
              </a:rPr>
              <a:t>2.5 </a:t>
            </a:r>
            <a:r>
              <a:rPr lang="zh-CN" altLang="en-US" sz="2000" spc="225" dirty="0" smtClean="0">
                <a:solidFill>
                  <a:schemeClr val="bg1"/>
                </a:solidFill>
              </a:rPr>
              <a:t>数据</a:t>
            </a:r>
            <a:r>
              <a:rPr lang="zh-CN" altLang="en-US" sz="2000" spc="225" dirty="0">
                <a:solidFill>
                  <a:schemeClr val="bg1"/>
                </a:solidFill>
              </a:rPr>
              <a:t>标注工程 </a:t>
            </a:r>
            <a:endParaRPr lang="zh-CN" altLang="en-US" sz="2000" spc="225" dirty="0">
              <a:solidFill>
                <a:schemeClr val="bg1"/>
              </a:solidFill>
            </a:endParaRPr>
          </a:p>
        </p:txBody>
      </p:sp>
      <p:sp>
        <p:nvSpPr>
          <p:cNvPr id="21" name="圆角矩形 20"/>
          <p:cNvSpPr/>
          <p:nvPr/>
        </p:nvSpPr>
        <p:spPr>
          <a:xfrm>
            <a:off x="1395894" y="4540376"/>
            <a:ext cx="6311995"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smtClean="0">
                <a:solidFill>
                  <a:schemeClr val="bg1"/>
                </a:solidFill>
              </a:rPr>
              <a:t>2.6 </a:t>
            </a:r>
            <a:r>
              <a:rPr lang="zh-CN" altLang="en-US" sz="2000" spc="225" dirty="0" smtClean="0">
                <a:solidFill>
                  <a:schemeClr val="bg1"/>
                </a:solidFill>
              </a:rPr>
              <a:t>本章小结 </a:t>
            </a:r>
            <a:endParaRPr lang="zh-CN" altLang="en-US" sz="2000" spc="225" dirty="0">
              <a:solidFill>
                <a:schemeClr val="bg1"/>
              </a:solidFill>
            </a:endParaRPr>
          </a:p>
        </p:txBody>
      </p:sp>
      <p:sp>
        <p:nvSpPr>
          <p:cNvPr id="22" name="圆角矩形 21"/>
          <p:cNvSpPr/>
          <p:nvPr/>
        </p:nvSpPr>
        <p:spPr>
          <a:xfrm>
            <a:off x="1388405" y="5021794"/>
            <a:ext cx="6311995"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smtClean="0">
                <a:solidFill>
                  <a:schemeClr val="bg1"/>
                </a:solidFill>
              </a:rPr>
              <a:t>2.7 </a:t>
            </a:r>
            <a:r>
              <a:rPr lang="zh-CN" altLang="en-US" sz="2000" spc="225" dirty="0" smtClean="0">
                <a:solidFill>
                  <a:schemeClr val="bg1"/>
                </a:solidFill>
              </a:rPr>
              <a:t>作业与练习 </a:t>
            </a:r>
            <a:endParaRPr lang="zh-CN" altLang="en-US" sz="2000" spc="225" dirty="0">
              <a:solidFill>
                <a:schemeClr val="bg1"/>
              </a:solidFill>
            </a:endParaRPr>
          </a:p>
        </p:txBody>
      </p:sp>
    </p:spTree>
  </p:cSld>
  <p:clrMapOvr>
    <a:masterClrMapping/>
  </p:clrMapOvr>
  <p:transition>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396834" y="2616849"/>
            <a:ext cx="8185830" cy="3867966"/>
          </a:xfrm>
        </p:spPr>
        <p:txBody>
          <a:bodyPr>
            <a:normAutofit/>
          </a:bodyPr>
          <a:lstStyle/>
          <a:p>
            <a:pPr>
              <a:lnSpc>
                <a:spcPct val="120000"/>
              </a:lnSpc>
            </a:pPr>
            <a:r>
              <a:rPr lang="zh-CN" altLang="en-US" sz="1800" b="0" dirty="0">
                <a:solidFill>
                  <a:schemeClr val="tx1">
                    <a:lumMod val="75000"/>
                    <a:lumOff val="25000"/>
                  </a:schemeClr>
                </a:solidFill>
              </a:rPr>
              <a:t>人工智能数据的标注技术随着设备的研发会产生新的标注</a:t>
            </a:r>
            <a:r>
              <a:rPr lang="zh-CN" altLang="en-US" sz="1800" b="0" dirty="0" smtClean="0">
                <a:solidFill>
                  <a:schemeClr val="tx1">
                    <a:lumMod val="75000"/>
                    <a:lumOff val="25000"/>
                  </a:schemeClr>
                </a:solidFill>
              </a:rPr>
              <a:t>要求，随着</a:t>
            </a:r>
            <a:r>
              <a:rPr lang="zh-CN" altLang="en-US" sz="1800" b="0" dirty="0">
                <a:solidFill>
                  <a:schemeClr val="tx1">
                    <a:lumMod val="75000"/>
                    <a:lumOff val="25000"/>
                  </a:schemeClr>
                </a:solidFill>
              </a:rPr>
              <a:t>算法技术的发展呈现精度更高、更智能化的特点。以下对语音转写、人脸检测和关键点检测、图像分割、图像识别和视频处理等关键标注技术进行介绍。</a:t>
            </a:r>
            <a:endParaRPr lang="en-US" altLang="zh-CN" sz="1800" b="0" dirty="0" smtClean="0">
              <a:solidFill>
                <a:schemeClr val="tx1">
                  <a:lumMod val="75000"/>
                  <a:lumOff val="25000"/>
                </a:schemeClr>
              </a:solidFill>
            </a:endParaRPr>
          </a:p>
        </p:txBody>
      </p:sp>
      <p:sp>
        <p:nvSpPr>
          <p:cNvPr id="7" name="TextBox 6"/>
          <p:cNvSpPr txBox="1"/>
          <p:nvPr/>
        </p:nvSpPr>
        <p:spPr>
          <a:xfrm>
            <a:off x="25461" y="152805"/>
            <a:ext cx="6438394" cy="738664"/>
          </a:xfrm>
          <a:prstGeom prst="rect">
            <a:avLst/>
          </a:prstGeom>
          <a:noFill/>
        </p:spPr>
        <p:txBody>
          <a:bodyPr wrap="square" rtlCol="0">
            <a:spAutoFit/>
          </a:bodyPr>
          <a:lstStyle/>
          <a:p>
            <a:r>
              <a:rPr lang="en-US" sz="2100" b="1" spc="225" dirty="0" smtClean="0">
                <a:solidFill>
                  <a:prstClr val="white"/>
                </a:solidFill>
              </a:rPr>
              <a:t>2</a:t>
            </a:r>
            <a:r>
              <a:rPr sz="2100" b="1" spc="225" dirty="0" smtClean="0">
                <a:solidFill>
                  <a:prstClr val="white"/>
                </a:solidFill>
              </a:rPr>
              <a:t>.</a:t>
            </a:r>
            <a:r>
              <a:rPr lang="en-US" sz="2100" b="1" spc="225" dirty="0">
                <a:solidFill>
                  <a:prstClr val="white"/>
                </a:solidFill>
              </a:rPr>
              <a:t>4</a:t>
            </a:r>
            <a:r>
              <a:rPr lang="en-US" sz="2100" b="1" spc="225" dirty="0" smtClean="0">
                <a:solidFill>
                  <a:prstClr val="white"/>
                </a:solidFill>
              </a:rPr>
              <a:t>  </a:t>
            </a:r>
            <a:r>
              <a:rPr lang="zh-CN" altLang="en-US" sz="2100" b="1" spc="225" dirty="0" smtClean="0">
                <a:solidFill>
                  <a:prstClr val="white"/>
                </a:solidFill>
              </a:rPr>
              <a:t>典型数据标注技术</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spTree>
  </p:cSld>
  <p:clrMapOvr>
    <a:masterClrMapping/>
  </p:clrMapOvr>
  <p:transition>
    <p:fad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3"/>
            <a:ext cx="8185830" cy="5272781"/>
          </a:xfrm>
        </p:spPr>
        <p:txBody>
          <a:bodyPr>
            <a:normAutofit/>
          </a:bodyPr>
          <a:lstStyle/>
          <a:p>
            <a:pPr>
              <a:lnSpc>
                <a:spcPct val="120000"/>
              </a:lnSpc>
            </a:pPr>
            <a:r>
              <a:rPr lang="zh-CN" altLang="en-US" sz="1800" b="0" dirty="0" smtClean="0">
                <a:solidFill>
                  <a:schemeClr val="tx1">
                    <a:lumMod val="75000"/>
                    <a:lumOff val="25000"/>
                  </a:schemeClr>
                </a:solidFill>
              </a:rPr>
              <a:t>语音</a:t>
            </a:r>
            <a:r>
              <a:rPr lang="zh-CN" altLang="en-US" sz="1800" b="0" dirty="0">
                <a:solidFill>
                  <a:schemeClr val="tx1">
                    <a:lumMod val="75000"/>
                    <a:lumOff val="25000"/>
                  </a:schemeClr>
                </a:solidFill>
              </a:rPr>
              <a:t>转写技术主要包括前端处理</a:t>
            </a:r>
            <a:r>
              <a:rPr lang="zh-CN" altLang="en-US" sz="1800" b="0" dirty="0" smtClean="0">
                <a:solidFill>
                  <a:schemeClr val="tx1">
                    <a:lumMod val="75000"/>
                    <a:lumOff val="25000"/>
                  </a:schemeClr>
                </a:solidFill>
              </a:rPr>
              <a:t>、语音识别相关技术。</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1</a:t>
            </a:r>
            <a:r>
              <a:rPr lang="zh-CN" altLang="en-US" sz="1800" b="0" dirty="0" smtClean="0">
                <a:solidFill>
                  <a:schemeClr val="tx1">
                    <a:lumMod val="75000"/>
                    <a:lumOff val="25000"/>
                  </a:schemeClr>
                </a:solidFill>
              </a:rPr>
              <a:t>）前端</a:t>
            </a:r>
            <a:r>
              <a:rPr lang="zh-CN" altLang="en-US" sz="1800" b="0" dirty="0">
                <a:solidFill>
                  <a:schemeClr val="tx1">
                    <a:lumMod val="75000"/>
                    <a:lumOff val="25000"/>
                  </a:schemeClr>
                </a:solidFill>
              </a:rPr>
              <a:t>处理：将接收到语音信号进行预处理，增强或降噪等</a:t>
            </a:r>
            <a:r>
              <a:rPr lang="zh-CN" altLang="en-US" sz="1800" b="0" dirty="0" smtClean="0">
                <a:solidFill>
                  <a:schemeClr val="tx1">
                    <a:lumMod val="75000"/>
                    <a:lumOff val="25000"/>
                  </a:schemeClr>
                </a:solidFill>
              </a:rPr>
              <a:t>。</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2</a:t>
            </a:r>
            <a:r>
              <a:rPr lang="zh-CN" altLang="en-US" sz="1800" b="0" dirty="0" smtClean="0">
                <a:solidFill>
                  <a:schemeClr val="tx1">
                    <a:lumMod val="75000"/>
                    <a:lumOff val="25000"/>
                  </a:schemeClr>
                </a:solidFill>
              </a:rPr>
              <a:t>）识别过程：首先对预处理后的声音信号进行特征提取，然后进行语音活动</a:t>
            </a:r>
            <a:r>
              <a:rPr lang="zh-CN" altLang="en-US" sz="1800" b="0" dirty="0">
                <a:solidFill>
                  <a:schemeClr val="tx1">
                    <a:lumMod val="75000"/>
                    <a:lumOff val="25000"/>
                  </a:schemeClr>
                </a:solidFill>
              </a:rPr>
              <a:t>检测将语音信号和非语音信号（包括无声段或背景噪声）进行</a:t>
            </a:r>
            <a:r>
              <a:rPr lang="zh-CN" altLang="en-US" sz="1800" b="0" dirty="0" smtClean="0">
                <a:solidFill>
                  <a:schemeClr val="tx1">
                    <a:lumMod val="75000"/>
                    <a:lumOff val="25000"/>
                  </a:schemeClr>
                </a:solidFill>
              </a:rPr>
              <a:t>划分，最后基于声学模型对语音特征进行训练和识别。</a:t>
            </a:r>
            <a:endParaRPr lang="en-US" altLang="zh-CN" sz="1800" b="0" dirty="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常用声学模型</a:t>
            </a:r>
            <a:r>
              <a:rPr lang="zh-CN" altLang="en-US" sz="1800" b="0" dirty="0">
                <a:solidFill>
                  <a:schemeClr val="tx1">
                    <a:lumMod val="75000"/>
                    <a:lumOff val="25000"/>
                  </a:schemeClr>
                </a:solidFill>
              </a:rPr>
              <a:t>包括：隐马尔科模型</a:t>
            </a:r>
            <a:r>
              <a:rPr lang="en-US" altLang="zh-CN" sz="1800" b="0" dirty="0">
                <a:solidFill>
                  <a:schemeClr val="tx1">
                    <a:lumMod val="75000"/>
                    <a:lumOff val="25000"/>
                  </a:schemeClr>
                </a:solidFill>
              </a:rPr>
              <a:t>-</a:t>
            </a:r>
            <a:r>
              <a:rPr lang="zh-CN" altLang="en-US" sz="1800" b="0" dirty="0">
                <a:solidFill>
                  <a:schemeClr val="tx1">
                    <a:lumMod val="75000"/>
                    <a:lumOff val="25000"/>
                  </a:schemeClr>
                </a:solidFill>
              </a:rPr>
              <a:t>高斯混合模型（</a:t>
            </a:r>
            <a:r>
              <a:rPr lang="en-US" altLang="zh-CN" sz="1800" b="0" dirty="0">
                <a:solidFill>
                  <a:schemeClr val="tx1">
                    <a:lumMod val="75000"/>
                    <a:lumOff val="25000"/>
                  </a:schemeClr>
                </a:solidFill>
              </a:rPr>
              <a:t>HMM-GMM</a:t>
            </a:r>
            <a:r>
              <a:rPr lang="zh-CN" altLang="en-US" sz="1800" b="0" dirty="0">
                <a:solidFill>
                  <a:schemeClr val="tx1">
                    <a:lumMod val="75000"/>
                    <a:lumOff val="25000"/>
                  </a:schemeClr>
                </a:solidFill>
              </a:rPr>
              <a:t>）、深度神经网络（</a:t>
            </a:r>
            <a:r>
              <a:rPr lang="en-US" altLang="zh-CN" sz="1800" b="0" dirty="0">
                <a:solidFill>
                  <a:schemeClr val="tx1">
                    <a:lumMod val="75000"/>
                    <a:lumOff val="25000"/>
                  </a:schemeClr>
                </a:solidFill>
              </a:rPr>
              <a:t>DNN</a:t>
            </a:r>
            <a:r>
              <a:rPr lang="zh-CN" altLang="en-US" sz="1800" b="0" dirty="0" smtClean="0">
                <a:solidFill>
                  <a:schemeClr val="tx1">
                    <a:lumMod val="75000"/>
                    <a:lumOff val="25000"/>
                  </a:schemeClr>
                </a:solidFill>
              </a:rPr>
              <a:t>）等。</a:t>
            </a: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4</a:t>
            </a:r>
            <a:r>
              <a:rPr lang="zh-CN" altLang="en-US" sz="2000" dirty="0" smtClean="0"/>
              <a:t>.1  </a:t>
            </a:r>
            <a:r>
              <a:rPr lang="zh-CN" altLang="zh-CN" sz="2000" dirty="0" smtClean="0"/>
              <a:t>语音</a:t>
            </a:r>
            <a:r>
              <a:rPr lang="zh-CN" altLang="zh-CN" sz="2000" dirty="0"/>
              <a:t>转写技术</a:t>
            </a:r>
            <a:endParaRPr lang="zh-CN" altLang="zh-CN" sz="2000" dirty="0"/>
          </a:p>
          <a:p>
            <a:pPr>
              <a:lnSpc>
                <a:spcPct val="150000"/>
              </a:lnSpc>
            </a:pPr>
            <a:endParaRPr lang="en-US" altLang="zh-CN" sz="2000" dirty="0" smtClean="0"/>
          </a:p>
          <a:p>
            <a:pPr>
              <a:lnSpc>
                <a:spcPct val="150000"/>
              </a:lnSpc>
            </a:pP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altLang="zh-CN" sz="2100" b="1" spc="225" dirty="0">
                <a:solidFill>
                  <a:prstClr val="white"/>
                </a:solidFill>
              </a:rPr>
              <a:t>2.4</a:t>
            </a:r>
            <a:r>
              <a:rPr lang="zh-CN" altLang="en-US" sz="2100" b="1" spc="225" dirty="0">
                <a:solidFill>
                  <a:prstClr val="white"/>
                </a:solidFill>
              </a:rPr>
              <a:t>  典型数据标注技术</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spTree>
  </p:cSld>
  <p:clrMapOvr>
    <a:masterClrMapping/>
  </p:clrMapOvr>
  <p:transition>
    <p:fad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3"/>
            <a:ext cx="8185830" cy="5272781"/>
          </a:xfrm>
        </p:spPr>
        <p:txBody>
          <a:bodyPr>
            <a:normAutofit/>
          </a:bodyPr>
          <a:lstStyle/>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1</a:t>
            </a:r>
            <a:r>
              <a:rPr lang="zh-CN" altLang="en-US" sz="1800" b="0" dirty="0" smtClean="0">
                <a:solidFill>
                  <a:schemeClr val="tx1">
                    <a:lumMod val="75000"/>
                    <a:lumOff val="25000"/>
                  </a:schemeClr>
                </a:solidFill>
              </a:rPr>
              <a:t>）面部</a:t>
            </a:r>
            <a:r>
              <a:rPr lang="zh-CN" altLang="en-US" sz="1800" b="0" dirty="0">
                <a:solidFill>
                  <a:schemeClr val="tx1">
                    <a:lumMod val="75000"/>
                    <a:lumOff val="25000"/>
                  </a:schemeClr>
                </a:solidFill>
              </a:rPr>
              <a:t>特征点定位任务即根据输入的人脸图像，自动定位出面部关键特征点，如眼睛、鼻尖、嘴角点、眉毛以及人脸各部件轮廓点等</a:t>
            </a:r>
            <a:r>
              <a:rPr lang="zh-CN" altLang="en-US" sz="1800" b="0" dirty="0" smtClean="0">
                <a:solidFill>
                  <a:schemeClr val="tx1">
                    <a:lumMod val="75000"/>
                    <a:lumOff val="25000"/>
                  </a:schemeClr>
                </a:solidFill>
              </a:rPr>
              <a:t>。</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2</a:t>
            </a:r>
            <a:r>
              <a:rPr lang="zh-CN" altLang="en-US" sz="1800" b="0" dirty="0" smtClean="0">
                <a:solidFill>
                  <a:schemeClr val="tx1">
                    <a:lumMod val="75000"/>
                    <a:lumOff val="25000"/>
                  </a:schemeClr>
                </a:solidFill>
              </a:rPr>
              <a:t>）这</a:t>
            </a:r>
            <a:r>
              <a:rPr lang="zh-CN" altLang="en-US" sz="1800" b="0" dirty="0">
                <a:solidFill>
                  <a:schemeClr val="tx1">
                    <a:lumMod val="75000"/>
                    <a:lumOff val="25000"/>
                  </a:schemeClr>
                </a:solidFill>
              </a:rPr>
              <a:t>项技术的应用很广泛，比如自动人脸识别，表情识别以及人脸动画自动合成等</a:t>
            </a:r>
            <a:r>
              <a:rPr lang="zh-CN" altLang="en-US" sz="1800" b="0" dirty="0" smtClean="0">
                <a:solidFill>
                  <a:schemeClr val="tx1">
                    <a:lumMod val="75000"/>
                    <a:lumOff val="25000"/>
                  </a:schemeClr>
                </a:solidFill>
              </a:rPr>
              <a:t>。</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3</a:t>
            </a:r>
            <a:r>
              <a:rPr lang="zh-CN" altLang="en-US" sz="1800" b="0" dirty="0" smtClean="0">
                <a:solidFill>
                  <a:schemeClr val="tx1">
                    <a:lumMod val="75000"/>
                    <a:lumOff val="25000"/>
                  </a:schemeClr>
                </a:solidFill>
              </a:rPr>
              <a:t>）由于</a:t>
            </a:r>
            <a:r>
              <a:rPr lang="zh-CN" altLang="en-US" sz="1800" b="0" dirty="0">
                <a:solidFill>
                  <a:schemeClr val="tx1">
                    <a:lumMod val="75000"/>
                    <a:lumOff val="25000"/>
                  </a:schemeClr>
                </a:solidFill>
              </a:rPr>
              <a:t>不同的姿态、表情、光照以及遮挡等因素的影响，需要准确地定位出各个关键特征点。早期的人脸识别研究主要针对具有较强约束条件的人脸图像，需要设计巧妙的人脸图像纹理、语义表达的“特征”，进而完成识别模型的训练</a:t>
            </a:r>
            <a:r>
              <a:rPr lang="zh-CN" altLang="en-US" sz="1800" b="0" dirty="0" smtClean="0">
                <a:solidFill>
                  <a:schemeClr val="tx1">
                    <a:lumMod val="75000"/>
                    <a:lumOff val="25000"/>
                  </a:schemeClr>
                </a:solidFill>
              </a:rPr>
              <a:t>。</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4</a:t>
            </a:r>
            <a:r>
              <a:rPr lang="zh-CN" altLang="en-US" sz="1800" b="0" dirty="0">
                <a:solidFill>
                  <a:schemeClr val="tx1">
                    <a:lumMod val="75000"/>
                    <a:lumOff val="25000"/>
                  </a:schemeClr>
                </a:solidFill>
              </a:rPr>
              <a:t>）随着深度学习算法、</a:t>
            </a:r>
            <a:r>
              <a:rPr lang="en-US" altLang="zh-CN" sz="1800" b="0" dirty="0">
                <a:solidFill>
                  <a:schemeClr val="tx1">
                    <a:lumMod val="75000"/>
                    <a:lumOff val="25000"/>
                  </a:schemeClr>
                </a:solidFill>
              </a:rPr>
              <a:t>GPU/FPGA</a:t>
            </a:r>
            <a:r>
              <a:rPr lang="zh-CN" altLang="en-US" sz="1800" b="0" dirty="0">
                <a:solidFill>
                  <a:schemeClr val="tx1">
                    <a:lumMod val="75000"/>
                    <a:lumOff val="25000"/>
                  </a:schemeClr>
                </a:solidFill>
              </a:rPr>
              <a:t>计算力的增强，出现了“端到端”人脸检测技术路线，图像特征的学习被融入神经网络的学习当中，将人脸检测、人脸关键点检测、人脸图像分类一并输出。显然，人脸检测方法又进入了新阶段和新高度。</a:t>
            </a: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4</a:t>
            </a:r>
            <a:r>
              <a:rPr lang="zh-CN" altLang="en-US" sz="2000" dirty="0" smtClean="0"/>
              <a:t>.</a:t>
            </a:r>
            <a:r>
              <a:rPr lang="en-US" altLang="zh-CN" sz="2000" dirty="0"/>
              <a:t>2</a:t>
            </a:r>
            <a:r>
              <a:rPr lang="zh-CN" altLang="en-US" sz="2000" dirty="0" smtClean="0"/>
              <a:t>  人脸检测和关键点检测</a:t>
            </a:r>
            <a:endParaRPr lang="en-US" altLang="zh-CN" sz="2000" dirty="0" smtClean="0"/>
          </a:p>
          <a:p>
            <a:pPr>
              <a:lnSpc>
                <a:spcPct val="150000"/>
              </a:lnSpc>
            </a:pP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altLang="zh-CN" sz="2100" b="1" spc="225" dirty="0">
                <a:solidFill>
                  <a:prstClr val="white"/>
                </a:solidFill>
              </a:rPr>
              <a:t>2.4</a:t>
            </a:r>
            <a:r>
              <a:rPr lang="zh-CN" altLang="en-US" sz="2100" b="1" spc="225" dirty="0">
                <a:solidFill>
                  <a:prstClr val="white"/>
                </a:solidFill>
              </a:rPr>
              <a:t>  典型数据标注技术</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spTree>
  </p:cSld>
  <p:clrMapOvr>
    <a:masterClrMapping/>
  </p:clrMapOvr>
  <p:transition>
    <p:fad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3"/>
            <a:ext cx="8185830" cy="5272781"/>
          </a:xfrm>
        </p:spPr>
        <p:txBody>
          <a:bodyPr>
            <a:normAutofit/>
          </a:bodyPr>
          <a:lstStyle/>
          <a:p>
            <a:pPr>
              <a:lnSpc>
                <a:spcPct val="120000"/>
              </a:lnSpc>
            </a:pPr>
            <a:r>
              <a:rPr lang="zh-CN" altLang="en-US" sz="1800" b="0" dirty="0" smtClean="0">
                <a:solidFill>
                  <a:schemeClr val="tx1">
                    <a:lumMod val="75000"/>
                    <a:lumOff val="25000"/>
                  </a:schemeClr>
                </a:solidFill>
              </a:rPr>
              <a:t>图像分割是要对图像每个像素所属的目标类别进行识别，常见的图像分割算法包括</a:t>
            </a:r>
            <a:r>
              <a:rPr lang="en-US" altLang="zh-CN" sz="1800" b="0" dirty="0" smtClean="0">
                <a:solidFill>
                  <a:schemeClr val="tx1">
                    <a:lumMod val="75000"/>
                    <a:lumOff val="25000"/>
                  </a:schemeClr>
                </a:solidFill>
              </a:rPr>
              <a:t>FCN</a:t>
            </a: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Mask-</a:t>
            </a:r>
            <a:r>
              <a:rPr lang="en-US" altLang="zh-CN" sz="1800" b="0" dirty="0" err="1" smtClean="0">
                <a:solidFill>
                  <a:schemeClr val="tx1">
                    <a:lumMod val="75000"/>
                    <a:lumOff val="25000"/>
                  </a:schemeClr>
                </a:solidFill>
              </a:rPr>
              <a:t>rcnn</a:t>
            </a:r>
            <a:r>
              <a:rPr lang="zh-CN" altLang="en-US" sz="1800" b="0" dirty="0" smtClean="0">
                <a:solidFill>
                  <a:schemeClr val="tx1">
                    <a:lumMod val="75000"/>
                    <a:lumOff val="25000"/>
                  </a:schemeClr>
                </a:solidFill>
              </a:rPr>
              <a:t>等。</a:t>
            </a:r>
            <a:endParaRPr lang="en-US" altLang="zh-CN" sz="1800" b="0" dirty="0" smtClean="0">
              <a:solidFill>
                <a:schemeClr val="tx1">
                  <a:lumMod val="75000"/>
                  <a:lumOff val="25000"/>
                </a:schemeClr>
              </a:solidFill>
            </a:endParaRPr>
          </a:p>
          <a:p>
            <a:pPr>
              <a:lnSpc>
                <a:spcPct val="120000"/>
              </a:lnSpc>
            </a:pPr>
            <a:r>
              <a:rPr lang="zh-CN" altLang="en-US" sz="1800" b="0" dirty="0">
                <a:solidFill>
                  <a:schemeClr val="tx1">
                    <a:lumMod val="75000"/>
                    <a:lumOff val="25000"/>
                  </a:schemeClr>
                </a:solidFill>
              </a:rPr>
              <a:t>目前，目前图像分割的</a:t>
            </a:r>
            <a:r>
              <a:rPr lang="zh-CN" altLang="en-US" sz="1800" b="0" dirty="0" smtClean="0">
                <a:solidFill>
                  <a:schemeClr val="tx1">
                    <a:lumMod val="75000"/>
                    <a:lumOff val="25000"/>
                  </a:schemeClr>
                </a:solidFill>
              </a:rPr>
              <a:t>软件如下表所示：</a:t>
            </a: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4</a:t>
            </a:r>
            <a:r>
              <a:rPr lang="zh-CN" altLang="en-US" sz="2000" dirty="0" smtClean="0"/>
              <a:t>.</a:t>
            </a:r>
            <a:r>
              <a:rPr lang="en-US" altLang="zh-CN" sz="2000" dirty="0" smtClean="0"/>
              <a:t>3</a:t>
            </a:r>
            <a:r>
              <a:rPr lang="zh-CN" altLang="en-US" sz="2000" dirty="0" smtClean="0"/>
              <a:t>  图像分割</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altLang="zh-CN" sz="2100" b="1" spc="225" dirty="0">
                <a:solidFill>
                  <a:prstClr val="white"/>
                </a:solidFill>
              </a:rPr>
              <a:t>2.4</a:t>
            </a:r>
            <a:r>
              <a:rPr lang="zh-CN" altLang="en-US" sz="2100" b="1" spc="225" dirty="0">
                <a:solidFill>
                  <a:prstClr val="white"/>
                </a:solidFill>
              </a:rPr>
              <a:t>  典型数据标注技术</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pic>
        <p:nvPicPr>
          <p:cNvPr id="10241" name="Picture 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43419" y="2610778"/>
            <a:ext cx="6690526" cy="33743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3"/>
            <a:ext cx="8185830" cy="5272781"/>
          </a:xfrm>
        </p:spPr>
        <p:txBody>
          <a:bodyPr>
            <a:normAutofit/>
          </a:bodyPr>
          <a:lstStyle/>
          <a:p>
            <a:pPr>
              <a:lnSpc>
                <a:spcPct val="120000"/>
              </a:lnSpc>
            </a:pPr>
            <a:r>
              <a:rPr lang="zh-CN" altLang="en-US" sz="1800" b="0" dirty="0">
                <a:solidFill>
                  <a:schemeClr val="tx1">
                    <a:lumMod val="75000"/>
                    <a:lumOff val="25000"/>
                  </a:schemeClr>
                </a:solidFill>
              </a:rPr>
              <a:t>视频标注工具</a:t>
            </a:r>
            <a:r>
              <a:rPr lang="en-US" altLang="zh-CN" sz="1800" b="0" dirty="0">
                <a:solidFill>
                  <a:schemeClr val="tx1">
                    <a:lumMod val="75000"/>
                    <a:lumOff val="25000"/>
                  </a:schemeClr>
                </a:solidFill>
              </a:rPr>
              <a:t>Vatic</a:t>
            </a:r>
            <a:r>
              <a:rPr lang="zh-CN" altLang="en-US" sz="1800" b="0" dirty="0">
                <a:solidFill>
                  <a:schemeClr val="tx1">
                    <a:lumMod val="75000"/>
                    <a:lumOff val="25000"/>
                  </a:schemeClr>
                </a:solidFill>
              </a:rPr>
              <a:t>源自麻省理工学院的一个研究项目。输入一段视频，支持自动抽取成粒度合适的标注任务并在流程上支持接入亚马逊众包平台。除此之外，其还有很多实用的特性：简洁使用的图形用户界面，支持多种快捷键操作；基于</a:t>
            </a:r>
            <a:r>
              <a:rPr lang="en-US" altLang="zh-CN" sz="1800" b="0" dirty="0" err="1">
                <a:solidFill>
                  <a:schemeClr val="tx1">
                    <a:lumMod val="75000"/>
                    <a:lumOff val="25000"/>
                  </a:schemeClr>
                </a:solidFill>
              </a:rPr>
              <a:t>opencv</a:t>
            </a:r>
            <a:r>
              <a:rPr lang="zh-CN" altLang="en-US" sz="1800" b="0" dirty="0">
                <a:solidFill>
                  <a:schemeClr val="tx1">
                    <a:lumMod val="75000"/>
                    <a:lumOff val="25000"/>
                  </a:schemeClr>
                </a:solidFill>
              </a:rPr>
              <a:t>的视频跟踪，这样就可以抽样的标注，减少工作量；具体使用时，可以设定要标注的物体属性标签，比如：水果、人、车等等。然后指派任务给到众包平台（也可以是自己的数据工程师）。现阶段支持的标注样式是标注框（</a:t>
            </a:r>
            <a:r>
              <a:rPr lang="en-US" altLang="zh-CN" sz="1800" b="0" dirty="0">
                <a:solidFill>
                  <a:schemeClr val="tx1">
                    <a:lumMod val="75000"/>
                    <a:lumOff val="25000"/>
                  </a:schemeClr>
                </a:solidFill>
              </a:rPr>
              <a:t>box</a:t>
            </a:r>
            <a:r>
              <a:rPr lang="zh-CN" altLang="en-US" sz="1800" b="0" dirty="0">
                <a:solidFill>
                  <a:schemeClr val="tx1">
                    <a:lumMod val="75000"/>
                    <a:lumOff val="25000"/>
                  </a:schemeClr>
                </a:solidFill>
              </a:rPr>
              <a:t>）标注。</a:t>
            </a: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4</a:t>
            </a:r>
            <a:r>
              <a:rPr lang="zh-CN" altLang="en-US" sz="2000" dirty="0" smtClean="0"/>
              <a:t>.</a:t>
            </a:r>
            <a:r>
              <a:rPr lang="en-US" altLang="zh-CN" sz="2000" dirty="0"/>
              <a:t>4</a:t>
            </a:r>
            <a:r>
              <a:rPr lang="zh-CN" altLang="en-US" sz="2000" dirty="0" smtClean="0"/>
              <a:t>  视频类标注</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altLang="zh-CN" sz="2100" b="1" spc="225" dirty="0">
                <a:solidFill>
                  <a:prstClr val="white"/>
                </a:solidFill>
              </a:rPr>
              <a:t>2.4</a:t>
            </a:r>
            <a:r>
              <a:rPr lang="zh-CN" altLang="en-US" sz="2100" b="1" spc="225" dirty="0">
                <a:solidFill>
                  <a:prstClr val="white"/>
                </a:solidFill>
              </a:rPr>
              <a:t>  典型数据标注技术</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spTree>
  </p:cSld>
  <p:clrMapOvr>
    <a:masterClrMapping/>
  </p:clrMapOvr>
  <p:transition>
    <p:fad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p:cNvGrpSpPr/>
          <p:nvPr/>
        </p:nvGrpSpPr>
        <p:grpSpPr>
          <a:xfrm>
            <a:off x="690258" y="854039"/>
            <a:ext cx="7832785" cy="781050"/>
            <a:chOff x="2788580" y="1152524"/>
            <a:chExt cx="3730770" cy="781050"/>
          </a:xfrm>
        </p:grpSpPr>
        <p:grpSp>
          <p:nvGrpSpPr>
            <p:cNvPr id="6" name="组合 5"/>
            <p:cNvGrpSpPr/>
            <p:nvPr/>
          </p:nvGrpSpPr>
          <p:grpSpPr>
            <a:xfrm>
              <a:off x="2788580" y="1152524"/>
              <a:ext cx="3730770" cy="781050"/>
              <a:chOff x="3725790" y="847725"/>
              <a:chExt cx="3730770" cy="781050"/>
            </a:xfrm>
          </p:grpSpPr>
          <p:grpSp>
            <p:nvGrpSpPr>
              <p:cNvPr id="7" name="组合 6"/>
              <p:cNvGrpSpPr/>
              <p:nvPr/>
            </p:nvGrpSpPr>
            <p:grpSpPr>
              <a:xfrm>
                <a:off x="3725790" y="1019175"/>
                <a:ext cx="627135" cy="609600"/>
                <a:chOff x="3725790" y="1019175"/>
                <a:chExt cx="627135" cy="609600"/>
              </a:xfrm>
            </p:grpSpPr>
            <p:sp>
              <p:nvSpPr>
                <p:cNvPr id="12" name="任意多边形 11"/>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3" name="直角三角形 12"/>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8" name="组合 7"/>
              <p:cNvGrpSpPr/>
              <p:nvPr/>
            </p:nvGrpSpPr>
            <p:grpSpPr>
              <a:xfrm flipH="1">
                <a:off x="6829425" y="1019175"/>
                <a:ext cx="627135" cy="609600"/>
                <a:chOff x="3725790" y="1019175"/>
                <a:chExt cx="627135" cy="609600"/>
              </a:xfrm>
            </p:grpSpPr>
            <p:sp>
              <p:nvSpPr>
                <p:cNvPr id="10" name="任意多边形 9"/>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直角三角形 10"/>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9" name="矩形 8"/>
              <p:cNvSpPr/>
              <p:nvPr/>
            </p:nvSpPr>
            <p:spPr>
              <a:xfrm>
                <a:off x="4181475" y="847725"/>
                <a:ext cx="2819400"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14" name="文本框 14"/>
            <p:cNvSpPr txBox="1"/>
            <p:nvPr/>
          </p:nvSpPr>
          <p:spPr>
            <a:xfrm>
              <a:off x="3247868" y="1169836"/>
              <a:ext cx="2753382" cy="523220"/>
            </a:xfrm>
            <a:prstGeom prst="rect">
              <a:avLst/>
            </a:prstGeom>
            <a:noFill/>
          </p:spPr>
          <p:txBody>
            <a:bodyPr wrap="none" rtlCol="0">
              <a:spAutoFit/>
            </a:bodyPr>
            <a:lstStyle/>
            <a:p>
              <a:pPr algn="ctr"/>
              <a:r>
                <a:rPr lang="zh-CN" altLang="en-US" sz="2800" dirty="0" smtClean="0">
                  <a:solidFill>
                    <a:srgbClr val="FFC000"/>
                  </a:solidFill>
                </a:rPr>
                <a:t>第</a:t>
              </a:r>
              <a:r>
                <a:rPr lang="en-US" altLang="zh-CN" sz="2800" dirty="0">
                  <a:solidFill>
                    <a:srgbClr val="FFC000"/>
                  </a:solidFill>
                </a:rPr>
                <a:t>2</a:t>
              </a:r>
              <a:r>
                <a:rPr lang="zh-CN" altLang="en-US" sz="2800" dirty="0" smtClean="0">
                  <a:solidFill>
                    <a:srgbClr val="FFC000"/>
                  </a:solidFill>
                </a:rPr>
                <a:t>章　数据标注概念、工具与方法</a:t>
              </a:r>
              <a:endParaRPr lang="zh-CN" altLang="en-US" sz="2800" dirty="0" smtClean="0">
                <a:solidFill>
                  <a:srgbClr val="FFC000"/>
                </a:solidFill>
              </a:endParaRPr>
            </a:p>
          </p:txBody>
        </p:sp>
      </p:grpSp>
      <p:sp>
        <p:nvSpPr>
          <p:cNvPr id="48" name="矩形 47"/>
          <p:cNvSpPr/>
          <p:nvPr/>
        </p:nvSpPr>
        <p:spPr>
          <a:xfrm>
            <a:off x="1485903" y="2160000"/>
            <a:ext cx="184731" cy="415498"/>
          </a:xfrm>
          <a:prstGeom prst="rect">
            <a:avLst/>
          </a:prstGeom>
        </p:spPr>
        <p:txBody>
          <a:bodyPr wrap="none">
            <a:spAutoFit/>
          </a:bodyPr>
          <a:lstStyle/>
          <a:p>
            <a:endParaRPr lang="zh-CN" altLang="en-US" sz="2100" spc="225" dirty="0" smtClean="0">
              <a:solidFill>
                <a:schemeClr val="bg1"/>
              </a:solidFill>
            </a:endParaRPr>
          </a:p>
        </p:txBody>
      </p:sp>
      <p:sp>
        <p:nvSpPr>
          <p:cNvPr id="49" name="圆角矩形 48"/>
          <p:cNvSpPr/>
          <p:nvPr/>
        </p:nvSpPr>
        <p:spPr>
          <a:xfrm>
            <a:off x="1414394" y="2183191"/>
            <a:ext cx="6315212"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a:solidFill>
                  <a:schemeClr val="bg1"/>
                </a:solidFill>
              </a:rPr>
              <a:t>2.1 </a:t>
            </a:r>
            <a:r>
              <a:rPr lang="zh-CN" altLang="zh-CN" sz="2000" spc="225" dirty="0">
                <a:solidFill>
                  <a:schemeClr val="bg1"/>
                </a:solidFill>
              </a:rPr>
              <a:t>数据标注的概念及其对人工智能发展的意义</a:t>
            </a:r>
            <a:r>
              <a:rPr lang="en-US" altLang="zh-CN" sz="2000" spc="225" dirty="0">
                <a:solidFill>
                  <a:schemeClr val="bg1"/>
                </a:solidFill>
              </a:rPr>
              <a:t> </a:t>
            </a:r>
            <a:endParaRPr lang="zh-CN" altLang="en-US" sz="2000" spc="225" dirty="0">
              <a:solidFill>
                <a:schemeClr val="bg1"/>
              </a:solidFill>
            </a:endParaRPr>
          </a:p>
        </p:txBody>
      </p:sp>
      <p:sp>
        <p:nvSpPr>
          <p:cNvPr id="32" name="矩形 31"/>
          <p:cNvSpPr/>
          <p:nvPr/>
        </p:nvSpPr>
        <p:spPr>
          <a:xfrm>
            <a:off x="-7143" y="-9147"/>
            <a:ext cx="9158090" cy="3821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36" name="矩形 35"/>
          <p:cNvSpPr/>
          <p:nvPr/>
        </p:nvSpPr>
        <p:spPr>
          <a:xfrm>
            <a:off x="0" y="6669360"/>
            <a:ext cx="9144000" cy="1886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5" name="矩形 44"/>
          <p:cNvSpPr/>
          <p:nvPr/>
        </p:nvSpPr>
        <p:spPr>
          <a:xfrm>
            <a:off x="7929" y="38314"/>
            <a:ext cx="2954655" cy="300082"/>
          </a:xfrm>
          <a:prstGeom prst="rect">
            <a:avLst/>
          </a:prstGeom>
        </p:spPr>
        <p:txBody>
          <a:bodyPr wrap="none">
            <a:spAutoFit/>
          </a:bodyPr>
          <a:lstStyle/>
          <a:p>
            <a:r>
              <a:rPr lang="zh-CN" altLang="en-US" sz="1350" dirty="0">
                <a:solidFill>
                  <a:prstClr val="white"/>
                </a:solidFill>
              </a:rPr>
              <a:t>人工智能技术应用核心课程系列教材</a:t>
            </a:r>
            <a:endParaRPr lang="zh-CN" altLang="en-US" sz="1350" dirty="0">
              <a:solidFill>
                <a:prstClr val="white"/>
              </a:solidFill>
            </a:endParaRPr>
          </a:p>
        </p:txBody>
      </p:sp>
      <p:sp>
        <p:nvSpPr>
          <p:cNvPr id="2" name="圆角矩形 1"/>
          <p:cNvSpPr/>
          <p:nvPr/>
        </p:nvSpPr>
        <p:spPr>
          <a:xfrm>
            <a:off x="1384668" y="4050221"/>
            <a:ext cx="6315213" cy="415498"/>
          </a:xfrm>
          <a:prstGeom prst="round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spc="225" dirty="0">
                <a:solidFill>
                  <a:schemeClr val="bg1"/>
                </a:solidFill>
              </a:rPr>
              <a:t>2.5 </a:t>
            </a:r>
            <a:r>
              <a:rPr lang="zh-CN" altLang="en-US" sz="2000" spc="225" dirty="0">
                <a:solidFill>
                  <a:schemeClr val="bg1"/>
                </a:solidFill>
              </a:rPr>
              <a:t>数据标注工程 </a:t>
            </a:r>
            <a:endParaRPr lang="zh-CN" altLang="en-US" sz="2000" spc="225" dirty="0">
              <a:solidFill>
                <a:schemeClr val="bg1"/>
              </a:solidFill>
            </a:endParaRPr>
          </a:p>
        </p:txBody>
      </p:sp>
      <p:sp>
        <p:nvSpPr>
          <p:cNvPr id="40" name="圆角矩形 39"/>
          <p:cNvSpPr/>
          <p:nvPr/>
        </p:nvSpPr>
        <p:spPr>
          <a:xfrm>
            <a:off x="1414923" y="2649765"/>
            <a:ext cx="6315212"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a:solidFill>
                  <a:schemeClr val="bg1"/>
                </a:solidFill>
              </a:rPr>
              <a:t>2.2 </a:t>
            </a:r>
            <a:r>
              <a:rPr lang="zh-CN" altLang="en-US" sz="2000" spc="225" dirty="0">
                <a:solidFill>
                  <a:schemeClr val="bg1"/>
                </a:solidFill>
              </a:rPr>
              <a:t>数据标注对象</a:t>
            </a:r>
            <a:endParaRPr lang="zh-CN" altLang="en-US" sz="2000" spc="225" dirty="0">
              <a:solidFill>
                <a:schemeClr val="bg1"/>
              </a:solidFill>
            </a:endParaRPr>
          </a:p>
        </p:txBody>
      </p:sp>
      <p:sp>
        <p:nvSpPr>
          <p:cNvPr id="41" name="圆角矩形 40"/>
          <p:cNvSpPr/>
          <p:nvPr/>
        </p:nvSpPr>
        <p:spPr>
          <a:xfrm>
            <a:off x="1403072" y="3117891"/>
            <a:ext cx="6315212"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a:solidFill>
                  <a:schemeClr val="bg1"/>
                </a:solidFill>
              </a:rPr>
              <a:t>2.3 </a:t>
            </a:r>
            <a:r>
              <a:rPr lang="zh-CN" altLang="en-US" sz="2000" spc="225" dirty="0">
                <a:solidFill>
                  <a:schemeClr val="bg1"/>
                </a:solidFill>
              </a:rPr>
              <a:t>数据标注工具与平台</a:t>
            </a:r>
            <a:endParaRPr lang="zh-CN" altLang="en-US" sz="2000" spc="225" dirty="0">
              <a:solidFill>
                <a:schemeClr val="bg1"/>
              </a:solidFill>
            </a:endParaRPr>
          </a:p>
        </p:txBody>
      </p:sp>
      <p:sp>
        <p:nvSpPr>
          <p:cNvPr id="44" name="圆角矩形 43"/>
          <p:cNvSpPr/>
          <p:nvPr/>
        </p:nvSpPr>
        <p:spPr>
          <a:xfrm>
            <a:off x="1400637" y="3585683"/>
            <a:ext cx="6311995"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a:solidFill>
                  <a:schemeClr val="bg1"/>
                </a:solidFill>
              </a:rPr>
              <a:t>2.4 </a:t>
            </a:r>
            <a:r>
              <a:rPr lang="zh-CN" altLang="en-US" sz="2000" spc="225" dirty="0">
                <a:solidFill>
                  <a:schemeClr val="bg1"/>
                </a:solidFill>
              </a:rPr>
              <a:t>典型数据标注技术</a:t>
            </a:r>
            <a:endParaRPr lang="zh-CN" altLang="en-US" sz="2000" spc="225" dirty="0">
              <a:solidFill>
                <a:schemeClr val="bg1"/>
              </a:solidFill>
            </a:endParaRPr>
          </a:p>
        </p:txBody>
      </p:sp>
      <p:sp>
        <p:nvSpPr>
          <p:cNvPr id="21" name="圆角矩形 20"/>
          <p:cNvSpPr/>
          <p:nvPr/>
        </p:nvSpPr>
        <p:spPr>
          <a:xfrm>
            <a:off x="1395894" y="4540376"/>
            <a:ext cx="6311995"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smtClean="0">
                <a:solidFill>
                  <a:schemeClr val="bg1"/>
                </a:solidFill>
              </a:rPr>
              <a:t>2.6 </a:t>
            </a:r>
            <a:r>
              <a:rPr lang="zh-CN" altLang="en-US" sz="2000" spc="225" dirty="0" smtClean="0">
                <a:solidFill>
                  <a:schemeClr val="bg1"/>
                </a:solidFill>
              </a:rPr>
              <a:t>本章小结 </a:t>
            </a:r>
            <a:endParaRPr lang="zh-CN" altLang="en-US" sz="2000" spc="225" dirty="0">
              <a:solidFill>
                <a:schemeClr val="bg1"/>
              </a:solidFill>
            </a:endParaRPr>
          </a:p>
        </p:txBody>
      </p:sp>
      <p:sp>
        <p:nvSpPr>
          <p:cNvPr id="22" name="圆角矩形 21"/>
          <p:cNvSpPr/>
          <p:nvPr/>
        </p:nvSpPr>
        <p:spPr>
          <a:xfrm>
            <a:off x="1388405" y="5021794"/>
            <a:ext cx="6311995"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smtClean="0">
                <a:solidFill>
                  <a:schemeClr val="bg1"/>
                </a:solidFill>
              </a:rPr>
              <a:t>2.7 </a:t>
            </a:r>
            <a:r>
              <a:rPr lang="zh-CN" altLang="en-US" sz="2000" spc="225" dirty="0" smtClean="0">
                <a:solidFill>
                  <a:schemeClr val="bg1"/>
                </a:solidFill>
              </a:rPr>
              <a:t>作业与练习 </a:t>
            </a:r>
            <a:endParaRPr lang="zh-CN" altLang="en-US" sz="2000" spc="225" dirty="0">
              <a:solidFill>
                <a:schemeClr val="bg1"/>
              </a:solidFill>
            </a:endParaRPr>
          </a:p>
        </p:txBody>
      </p:sp>
    </p:spTree>
  </p:cSld>
  <p:clrMapOvr>
    <a:masterClrMapping/>
  </p:clrMapOvr>
  <p:transition>
    <p:fad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525788" y="3003710"/>
            <a:ext cx="8185830" cy="5272781"/>
          </a:xfrm>
        </p:spPr>
        <p:txBody>
          <a:bodyPr>
            <a:normAutofit/>
          </a:bodyPr>
          <a:lstStyle/>
          <a:p>
            <a:pPr>
              <a:lnSpc>
                <a:spcPct val="120000"/>
              </a:lnSpc>
            </a:pPr>
            <a:r>
              <a:rPr lang="zh-CN" altLang="en-US" sz="1800" b="0" dirty="0">
                <a:solidFill>
                  <a:schemeClr val="tx1">
                    <a:lumMod val="75000"/>
                    <a:lumOff val="25000"/>
                  </a:schemeClr>
                </a:solidFill>
              </a:rPr>
              <a:t>数据标注工程，也称为工程化数据标注，是指数据产品制造（数据集）的系统化、工程化、流程化的组织与实施过程，可以划分为数据采集、数据处理、数据标注、数据质检、数据验收交付等五大流程。</a:t>
            </a:r>
            <a:endParaRPr lang="en-US" altLang="zh-CN" sz="1800" b="0" dirty="0" smtClean="0">
              <a:solidFill>
                <a:schemeClr val="tx1">
                  <a:lumMod val="75000"/>
                  <a:lumOff val="25000"/>
                </a:schemeClr>
              </a:solidFill>
            </a:endParaRPr>
          </a:p>
        </p:txBody>
      </p:sp>
      <p:sp>
        <p:nvSpPr>
          <p:cNvPr id="7" name="TextBox 6"/>
          <p:cNvSpPr txBox="1"/>
          <p:nvPr/>
        </p:nvSpPr>
        <p:spPr>
          <a:xfrm>
            <a:off x="25461" y="152805"/>
            <a:ext cx="6438394" cy="738664"/>
          </a:xfrm>
          <a:prstGeom prst="rect">
            <a:avLst/>
          </a:prstGeom>
          <a:noFill/>
        </p:spPr>
        <p:txBody>
          <a:bodyPr wrap="square" rtlCol="0">
            <a:spAutoFit/>
          </a:bodyPr>
          <a:lstStyle/>
          <a:p>
            <a:r>
              <a:rPr lang="en-US" altLang="zh-CN" sz="2100" b="1" spc="225" dirty="0" smtClean="0">
                <a:solidFill>
                  <a:prstClr val="white"/>
                </a:solidFill>
              </a:rPr>
              <a:t>2.5</a:t>
            </a:r>
            <a:r>
              <a:rPr lang="zh-CN" altLang="en-US" sz="2100" b="1" spc="225" dirty="0" smtClean="0">
                <a:solidFill>
                  <a:prstClr val="white"/>
                </a:solidFill>
              </a:rPr>
              <a:t>  数据标注工程</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spTree>
  </p:cSld>
  <p:clrMapOvr>
    <a:masterClrMapping/>
  </p:clrMapOvr>
  <p:transition>
    <p:fad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4"/>
            <a:ext cx="8185830" cy="3867966"/>
          </a:xfrm>
        </p:spPr>
        <p:txBody>
          <a:bodyPr>
            <a:normAutofit/>
          </a:bodyPr>
          <a:lstStyle/>
          <a:p>
            <a:pPr>
              <a:lnSpc>
                <a:spcPct val="120000"/>
              </a:lnSpc>
            </a:pPr>
            <a:r>
              <a:rPr lang="zh-CN" altLang="en-US" sz="1800" b="0" dirty="0">
                <a:solidFill>
                  <a:schemeClr val="tx1">
                    <a:lumMod val="75000"/>
                    <a:lumOff val="25000"/>
                  </a:schemeClr>
                </a:solidFill>
              </a:rPr>
              <a:t>数据采集是人工智能数据工厂中生产数据的第一关。人工智能领域必须对采集的数据进行良好的把关，才能有效提高后续质量。数据采集的方法主要四种：互联网数据采集（网络抓取）、众包、行业合作以及各种传感器数据</a:t>
            </a:r>
            <a:r>
              <a:rPr lang="zh-CN" altLang="en-US" sz="1800" b="0" dirty="0" smtClean="0">
                <a:solidFill>
                  <a:schemeClr val="tx1">
                    <a:lumMod val="75000"/>
                    <a:lumOff val="25000"/>
                  </a:schemeClr>
                </a:solidFill>
              </a:rPr>
              <a:t>。</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1</a:t>
            </a:r>
            <a:r>
              <a:rPr lang="zh-CN" altLang="en-US" sz="1800" b="0" dirty="0">
                <a:solidFill>
                  <a:schemeClr val="tx1">
                    <a:lumMod val="75000"/>
                    <a:lumOff val="25000"/>
                  </a:schemeClr>
                </a:solidFill>
              </a:rPr>
              <a:t>）互联网数据采集：互联网数据采集也称网络抓取，主要是通过数据爬虫和网页解析</a:t>
            </a:r>
            <a:r>
              <a:rPr lang="zh-CN" altLang="en-US" sz="1800" b="0" dirty="0" smtClean="0">
                <a:solidFill>
                  <a:schemeClr val="tx1">
                    <a:lumMod val="75000"/>
                    <a:lumOff val="25000"/>
                  </a:schemeClr>
                </a:solidFill>
              </a:rPr>
              <a:t>进行。数据爬虫架构如下图所示：</a:t>
            </a:r>
            <a:endParaRPr lang="en-US" altLang="zh-CN" sz="1800" b="0" dirty="0" smtClean="0">
              <a:solidFill>
                <a:schemeClr val="tx1">
                  <a:lumMod val="75000"/>
                  <a:lumOff val="25000"/>
                </a:schemeClr>
              </a:solidFill>
            </a:endParaRPr>
          </a:p>
          <a:p>
            <a:pPr>
              <a:lnSpc>
                <a:spcPct val="120000"/>
              </a:lnSpc>
            </a:pP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5</a:t>
            </a:r>
            <a:r>
              <a:rPr lang="zh-CN" altLang="en-US" sz="2000" dirty="0" smtClean="0"/>
              <a:t>.</a:t>
            </a:r>
            <a:r>
              <a:rPr lang="en-US" altLang="zh-CN" sz="2000" dirty="0" smtClean="0"/>
              <a:t>1  </a:t>
            </a:r>
            <a:r>
              <a:rPr lang="zh-CN" altLang="en-US" sz="2000" dirty="0" smtClean="0"/>
              <a:t>数据采集</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altLang="zh-CN" sz="2100" b="1" spc="225" dirty="0">
                <a:solidFill>
                  <a:prstClr val="white"/>
                </a:solidFill>
              </a:rPr>
              <a:t>2.5</a:t>
            </a:r>
            <a:r>
              <a:rPr lang="zh-CN" altLang="en-US" sz="2100" b="1" spc="225" dirty="0">
                <a:solidFill>
                  <a:prstClr val="white"/>
                </a:solidFill>
              </a:rPr>
              <a:t>  数据标注工程</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pic>
        <p:nvPicPr>
          <p:cNvPr id="11267" name="图片 140"/>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04405" y="3170711"/>
            <a:ext cx="6734683" cy="3396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4"/>
            <a:ext cx="8185830" cy="3867966"/>
          </a:xfrm>
        </p:spPr>
        <p:txBody>
          <a:bodyPr>
            <a:normAutofit/>
          </a:bodyPr>
          <a:lstStyle/>
          <a:p>
            <a:pPr>
              <a:lnSpc>
                <a:spcPct val="120000"/>
              </a:lnSpc>
            </a:pPr>
            <a:r>
              <a:rPr lang="zh-CN" altLang="en-US" sz="1800" b="0" dirty="0" smtClean="0">
                <a:solidFill>
                  <a:schemeClr val="tx1">
                    <a:lumMod val="75000"/>
                    <a:lumOff val="25000"/>
                  </a:schemeClr>
                </a:solidFill>
              </a:rPr>
              <a:t>（</a:t>
            </a:r>
            <a:r>
              <a:rPr lang="en-US" altLang="zh-CN" sz="1800" b="0" dirty="0">
                <a:solidFill>
                  <a:schemeClr val="tx1">
                    <a:lumMod val="75000"/>
                    <a:lumOff val="25000"/>
                  </a:schemeClr>
                </a:solidFill>
              </a:rPr>
              <a:t>2</a:t>
            </a:r>
            <a:r>
              <a:rPr lang="zh-CN" altLang="en-US" sz="1800" b="0" dirty="0" smtClean="0">
                <a:solidFill>
                  <a:schemeClr val="tx1">
                    <a:lumMod val="75000"/>
                    <a:lumOff val="25000"/>
                  </a:schemeClr>
                </a:solidFill>
              </a:rPr>
              <a:t>）数据众包</a:t>
            </a:r>
            <a:r>
              <a:rPr lang="zh-CN" altLang="en-US" sz="1800" b="0" dirty="0">
                <a:solidFill>
                  <a:schemeClr val="tx1">
                    <a:lumMod val="75000"/>
                    <a:lumOff val="25000"/>
                  </a:schemeClr>
                </a:solidFill>
              </a:rPr>
              <a:t>采集：数据众包采集是以数据支撑平台为基础，集全社会的力量进行采集，并对数据的噪音、错误、遗漏进行发现和纠正。数据众包采集主要应用场景是基于现有的数据采集人力、设备和时间无法满足海量的原始数据采集需求，在成本可接受的范围</a:t>
            </a:r>
            <a:r>
              <a:rPr lang="zh-CN" altLang="en-US" sz="1800" b="0" dirty="0" smtClean="0">
                <a:solidFill>
                  <a:schemeClr val="tx1">
                    <a:lumMod val="75000"/>
                    <a:lumOff val="25000"/>
                  </a:schemeClr>
                </a:solidFill>
              </a:rPr>
              <a:t>内可以</a:t>
            </a:r>
            <a:r>
              <a:rPr lang="zh-CN" altLang="en-US" sz="1800" b="0" dirty="0">
                <a:solidFill>
                  <a:schemeClr val="tx1">
                    <a:lumMod val="75000"/>
                    <a:lumOff val="25000"/>
                  </a:schemeClr>
                </a:solidFill>
              </a:rPr>
              <a:t>采用众包模式。数据众包</a:t>
            </a:r>
            <a:r>
              <a:rPr lang="zh-CN" altLang="en-US" sz="1800" b="0" dirty="0" smtClean="0">
                <a:solidFill>
                  <a:schemeClr val="tx1">
                    <a:lumMod val="75000"/>
                    <a:lumOff val="25000"/>
                  </a:schemeClr>
                </a:solidFill>
              </a:rPr>
              <a:t>采集如下图所示：</a:t>
            </a:r>
            <a:endParaRPr lang="en-US" altLang="zh-CN" sz="1800" b="0" dirty="0" smtClean="0">
              <a:solidFill>
                <a:schemeClr val="tx1">
                  <a:lumMod val="75000"/>
                  <a:lumOff val="25000"/>
                </a:schemeClr>
              </a:solidFill>
            </a:endParaRPr>
          </a:p>
          <a:p>
            <a:pPr>
              <a:lnSpc>
                <a:spcPct val="120000"/>
              </a:lnSpc>
            </a:pP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5</a:t>
            </a:r>
            <a:r>
              <a:rPr lang="zh-CN" altLang="en-US" sz="2000" dirty="0" smtClean="0"/>
              <a:t>.</a:t>
            </a:r>
            <a:r>
              <a:rPr lang="en-US" altLang="zh-CN" sz="2000" dirty="0" smtClean="0"/>
              <a:t>1  </a:t>
            </a:r>
            <a:r>
              <a:rPr lang="zh-CN" altLang="en-US" sz="2000" dirty="0" smtClean="0"/>
              <a:t>数据采集</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altLang="zh-CN" sz="2100" b="1" spc="225" dirty="0">
                <a:solidFill>
                  <a:prstClr val="white"/>
                </a:solidFill>
              </a:rPr>
              <a:t>2.5</a:t>
            </a:r>
            <a:r>
              <a:rPr lang="zh-CN" altLang="en-US" sz="2100" b="1" spc="225" dirty="0">
                <a:solidFill>
                  <a:prstClr val="white"/>
                </a:solidFill>
              </a:rPr>
              <a:t>  数据标注工程</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pic>
        <p:nvPicPr>
          <p:cNvPr id="12290" name="图片 14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39212" y="2772992"/>
            <a:ext cx="7518956" cy="3734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4"/>
            <a:ext cx="8185830" cy="3867966"/>
          </a:xfrm>
        </p:spPr>
        <p:txBody>
          <a:bodyPr>
            <a:normAutofit/>
          </a:bodyPr>
          <a:lstStyle/>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3</a:t>
            </a:r>
            <a:r>
              <a:rPr lang="zh-CN" altLang="en-US" sz="1800" b="0" dirty="0" smtClean="0">
                <a:solidFill>
                  <a:schemeClr val="tx1">
                    <a:lumMod val="75000"/>
                    <a:lumOff val="25000"/>
                  </a:schemeClr>
                </a:solidFill>
              </a:rPr>
              <a:t>）数据行业</a:t>
            </a:r>
            <a:r>
              <a:rPr lang="zh-CN" altLang="en-US" sz="1800" b="0" dirty="0">
                <a:solidFill>
                  <a:schemeClr val="tx1">
                    <a:lumMod val="75000"/>
                    <a:lumOff val="25000"/>
                  </a:schemeClr>
                </a:solidFill>
              </a:rPr>
              <a:t>合作：主要是对拥有庞大和高质量数据资源的行业企业和机构，通过数据连接以及人工智能大数据服务平台对数据进行清洗、处理，并整合、分析，在企业混合云平台中对数据资产的管理与审核，最后将数据用于人工智能应用</a:t>
            </a:r>
            <a:r>
              <a:rPr lang="zh-CN" altLang="en-US" sz="1800" b="0" dirty="0" smtClean="0">
                <a:solidFill>
                  <a:schemeClr val="tx1">
                    <a:lumMod val="75000"/>
                    <a:lumOff val="25000"/>
                  </a:schemeClr>
                </a:solidFill>
              </a:rPr>
              <a:t>。</a:t>
            </a:r>
            <a:endParaRPr lang="en-US" altLang="zh-CN" sz="1800" b="0" dirty="0" smtClean="0">
              <a:solidFill>
                <a:schemeClr val="tx1">
                  <a:lumMod val="75000"/>
                  <a:lumOff val="25000"/>
                </a:schemeClr>
              </a:solidFill>
            </a:endParaRPr>
          </a:p>
          <a:p>
            <a:pPr>
              <a:lnSpc>
                <a:spcPct val="120000"/>
              </a:lnSpc>
            </a:pP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5</a:t>
            </a:r>
            <a:r>
              <a:rPr lang="zh-CN" altLang="en-US" sz="2000" dirty="0" smtClean="0"/>
              <a:t>.</a:t>
            </a:r>
            <a:r>
              <a:rPr lang="en-US" altLang="zh-CN" sz="2000" dirty="0" smtClean="0"/>
              <a:t>1  </a:t>
            </a:r>
            <a:r>
              <a:rPr lang="zh-CN" altLang="en-US" sz="2000" dirty="0" smtClean="0"/>
              <a:t>数据采集</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altLang="zh-CN" sz="2100" b="1" spc="225" dirty="0">
                <a:solidFill>
                  <a:prstClr val="white"/>
                </a:solidFill>
              </a:rPr>
              <a:t>2.5</a:t>
            </a:r>
            <a:r>
              <a:rPr lang="zh-CN" altLang="en-US" sz="2100" b="1" spc="225" dirty="0">
                <a:solidFill>
                  <a:prstClr val="white"/>
                </a:solidFill>
              </a:rPr>
              <a:t>  数据标注工程</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pic>
        <p:nvPicPr>
          <p:cNvPr id="16386" name="图片 13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85893" y="2708031"/>
            <a:ext cx="6748052" cy="3779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4"/>
            <a:ext cx="8185830" cy="3867966"/>
          </a:xfrm>
        </p:spPr>
        <p:txBody>
          <a:bodyPr>
            <a:normAutofit/>
          </a:bodyPr>
          <a:lstStyle/>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4</a:t>
            </a:r>
            <a:r>
              <a:rPr lang="zh-CN" altLang="en-US" sz="1800" b="0" dirty="0">
                <a:solidFill>
                  <a:schemeClr val="tx1">
                    <a:lumMod val="75000"/>
                    <a:lumOff val="25000"/>
                  </a:schemeClr>
                </a:solidFill>
              </a:rPr>
              <a:t>）传感器数据采集：传感器数据采集是计算机与外部物理世界连接的桥梁。在计算机广泛应用的今天，各种录像摄像设备、气候环保监测设备、道路交通监测监控设备等等。不同传感器接收不同类型信号的难易程度差别很大。在实际采集时，噪声也可能带来一些麻烦，传感器的参数对数据采集也有一定的影响，传感器进行数据采集的一般结构</a:t>
            </a:r>
            <a:r>
              <a:rPr lang="zh-CN" altLang="en-US" sz="1800" b="0" dirty="0" smtClean="0">
                <a:solidFill>
                  <a:schemeClr val="tx1">
                    <a:lumMod val="75000"/>
                    <a:lumOff val="25000"/>
                  </a:schemeClr>
                </a:solidFill>
              </a:rPr>
              <a:t>如</a:t>
            </a:r>
            <a:r>
              <a:rPr lang="zh-CN" altLang="en-US" sz="1800" b="0" dirty="0">
                <a:solidFill>
                  <a:schemeClr val="tx1">
                    <a:lumMod val="75000"/>
                    <a:lumOff val="25000"/>
                  </a:schemeClr>
                </a:solidFill>
              </a:rPr>
              <a:t>图</a:t>
            </a:r>
            <a:r>
              <a:rPr lang="zh-CN" altLang="en-US" sz="1800" b="0" dirty="0" smtClean="0">
                <a:solidFill>
                  <a:schemeClr val="tx1">
                    <a:lumMod val="75000"/>
                    <a:lumOff val="25000"/>
                  </a:schemeClr>
                </a:solidFill>
              </a:rPr>
              <a:t>所示。</a:t>
            </a:r>
            <a:endParaRPr lang="en-US" altLang="zh-CN" sz="1800" b="0" dirty="0" smtClean="0">
              <a:solidFill>
                <a:schemeClr val="tx1">
                  <a:lumMod val="75000"/>
                  <a:lumOff val="25000"/>
                </a:schemeClr>
              </a:solidFill>
            </a:endParaRPr>
          </a:p>
          <a:p>
            <a:pPr>
              <a:lnSpc>
                <a:spcPct val="120000"/>
              </a:lnSpc>
            </a:pP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5</a:t>
            </a:r>
            <a:r>
              <a:rPr lang="zh-CN" altLang="en-US" sz="2000" dirty="0" smtClean="0"/>
              <a:t>.</a:t>
            </a:r>
            <a:r>
              <a:rPr lang="en-US" altLang="zh-CN" sz="2000" dirty="0" smtClean="0"/>
              <a:t>1  </a:t>
            </a:r>
            <a:r>
              <a:rPr lang="zh-CN" altLang="en-US" sz="2000" dirty="0" smtClean="0"/>
              <a:t>数据采集</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altLang="zh-CN" sz="2100" b="1" spc="225" dirty="0">
                <a:solidFill>
                  <a:prstClr val="white"/>
                </a:solidFill>
              </a:rPr>
              <a:t>2.5</a:t>
            </a:r>
            <a:r>
              <a:rPr lang="zh-CN" altLang="en-US" sz="2100" b="1" spc="225" dirty="0">
                <a:solidFill>
                  <a:prstClr val="white"/>
                </a:solidFill>
              </a:rPr>
              <a:t>  数据标注工程</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pic>
        <p:nvPicPr>
          <p:cNvPr id="17410" name="图片 13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55077" y="3153507"/>
            <a:ext cx="7054913"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4"/>
            <a:ext cx="8185830" cy="3867966"/>
          </a:xfrm>
        </p:spPr>
        <p:txBody>
          <a:bodyPr>
            <a:normAutofit/>
          </a:bodyPr>
          <a:lstStyle/>
          <a:p>
            <a:pPr>
              <a:lnSpc>
                <a:spcPct val="120000"/>
              </a:lnSpc>
            </a:pPr>
            <a:r>
              <a:rPr lang="zh-CN" altLang="en-US" sz="1800" b="0" dirty="0">
                <a:solidFill>
                  <a:schemeClr val="tx1">
                    <a:lumMod val="75000"/>
                    <a:lumOff val="25000"/>
                  </a:schemeClr>
                </a:solidFill>
              </a:rPr>
              <a:t>数据处理是对采集到的数据进行数据审核、去重、去噪、标准化、规范化、审查、校验等一系列数据整理、转换、清洗</a:t>
            </a:r>
            <a:r>
              <a:rPr lang="zh-CN" altLang="en-US" sz="1800" b="0" dirty="0" smtClean="0">
                <a:solidFill>
                  <a:schemeClr val="tx1">
                    <a:lumMod val="75000"/>
                    <a:lumOff val="25000"/>
                  </a:schemeClr>
                </a:solidFill>
              </a:rPr>
              <a:t>操作。</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1</a:t>
            </a:r>
            <a:r>
              <a:rPr lang="zh-CN" altLang="en-US" sz="1800" b="0" dirty="0" smtClean="0">
                <a:solidFill>
                  <a:schemeClr val="tx1">
                    <a:lumMod val="75000"/>
                    <a:lumOff val="25000"/>
                  </a:schemeClr>
                </a:solidFill>
              </a:rPr>
              <a:t>）数据处理工具：主要用于数据审核和脱敏、语音</a:t>
            </a:r>
            <a:r>
              <a:rPr lang="en-US" altLang="zh-CN" sz="1800" b="0" dirty="0" smtClean="0">
                <a:solidFill>
                  <a:schemeClr val="tx1">
                    <a:lumMod val="75000"/>
                    <a:lumOff val="25000"/>
                  </a:schemeClr>
                </a:solidFill>
              </a:rPr>
              <a:t>&amp;</a:t>
            </a:r>
            <a:r>
              <a:rPr lang="zh-CN" altLang="en-US" sz="1800" b="0" dirty="0" smtClean="0">
                <a:solidFill>
                  <a:schemeClr val="tx1">
                    <a:lumMod val="75000"/>
                    <a:lumOff val="25000"/>
                  </a:schemeClr>
                </a:solidFill>
              </a:rPr>
              <a:t>图像</a:t>
            </a:r>
            <a:r>
              <a:rPr lang="en-US" altLang="zh-CN" sz="1800" b="0" dirty="0" smtClean="0">
                <a:solidFill>
                  <a:schemeClr val="tx1">
                    <a:lumMod val="75000"/>
                    <a:lumOff val="25000"/>
                  </a:schemeClr>
                </a:solidFill>
              </a:rPr>
              <a:t>&amp;</a:t>
            </a:r>
            <a:r>
              <a:rPr lang="zh-CN" altLang="en-US" sz="1800" b="0" dirty="0" smtClean="0">
                <a:solidFill>
                  <a:schemeClr val="tx1">
                    <a:lumMod val="75000"/>
                    <a:lumOff val="25000"/>
                  </a:schemeClr>
                </a:solidFill>
              </a:rPr>
              <a:t>视频</a:t>
            </a:r>
            <a:r>
              <a:rPr lang="en-US" altLang="zh-CN" sz="1800" b="0" dirty="0" smtClean="0">
                <a:solidFill>
                  <a:schemeClr val="tx1">
                    <a:lumMod val="75000"/>
                    <a:lumOff val="25000"/>
                  </a:schemeClr>
                </a:solidFill>
              </a:rPr>
              <a:t>&amp;</a:t>
            </a:r>
            <a:r>
              <a:rPr lang="zh-CN" altLang="en-US" sz="1800" b="0" dirty="0" smtClean="0">
                <a:solidFill>
                  <a:schemeClr val="tx1">
                    <a:lumMod val="75000"/>
                    <a:lumOff val="25000"/>
                  </a:schemeClr>
                </a:solidFill>
              </a:rPr>
              <a:t>文本数据分析和多源数据关联集成。</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2</a:t>
            </a:r>
            <a:r>
              <a:rPr lang="zh-CN" altLang="en-US" sz="1800" b="0" dirty="0">
                <a:solidFill>
                  <a:schemeClr val="tx1">
                    <a:lumMod val="75000"/>
                    <a:lumOff val="25000"/>
                  </a:schemeClr>
                </a:solidFill>
              </a:rPr>
              <a:t>）数据清洗方法：数据清洗包括无效值和缺失值的处理、数据一致性检查、数据查</a:t>
            </a:r>
            <a:r>
              <a:rPr lang="zh-CN" altLang="en-US" sz="1800" b="0" dirty="0" smtClean="0">
                <a:solidFill>
                  <a:schemeClr val="tx1">
                    <a:lumMod val="75000"/>
                    <a:lumOff val="25000"/>
                  </a:schemeClr>
                </a:solidFill>
              </a:rPr>
              <a:t>重等工作。</a:t>
            </a: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5</a:t>
            </a:r>
            <a:r>
              <a:rPr lang="zh-CN" altLang="en-US" sz="2000" dirty="0" smtClean="0"/>
              <a:t>.</a:t>
            </a:r>
            <a:r>
              <a:rPr lang="en-US" altLang="zh-CN" sz="2000" dirty="0" smtClean="0"/>
              <a:t>2  </a:t>
            </a:r>
            <a:r>
              <a:rPr lang="zh-CN" altLang="en-US" sz="2000" dirty="0" smtClean="0"/>
              <a:t>数据处理</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altLang="zh-CN" sz="2100" b="1" spc="225" dirty="0">
                <a:solidFill>
                  <a:prstClr val="white"/>
                </a:solidFill>
              </a:rPr>
              <a:t>2.5</a:t>
            </a:r>
            <a:r>
              <a:rPr lang="zh-CN" altLang="en-US" sz="2100" b="1" spc="225" dirty="0">
                <a:solidFill>
                  <a:prstClr val="white"/>
                </a:solidFill>
              </a:rPr>
              <a:t>  数据标注工程</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spTree>
  </p:cSld>
  <p:clrMapOvr>
    <a:masterClrMapping/>
  </p:clrMapOvr>
  <p:transition>
    <p:fade/>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3"/>
            <a:ext cx="8185830" cy="5436905"/>
          </a:xfrm>
        </p:spPr>
        <p:txBody>
          <a:bodyPr>
            <a:normAutofit lnSpcReduction="10000"/>
          </a:bodyPr>
          <a:lstStyle/>
          <a:p>
            <a:pPr>
              <a:lnSpc>
                <a:spcPct val="120000"/>
              </a:lnSpc>
            </a:pPr>
            <a:r>
              <a:rPr lang="zh-CN" altLang="en-US" sz="1800" b="0" dirty="0">
                <a:solidFill>
                  <a:schemeClr val="tx1">
                    <a:lumMod val="75000"/>
                    <a:lumOff val="25000"/>
                  </a:schemeClr>
                </a:solidFill>
              </a:rPr>
              <a:t>数据标注方式包括人工标注、半自动标注、自动标注、众包等等</a:t>
            </a:r>
            <a:r>
              <a:rPr lang="zh-CN" altLang="en-US" sz="1800" b="0" dirty="0" smtClean="0">
                <a:solidFill>
                  <a:schemeClr val="tx1">
                    <a:lumMod val="75000"/>
                    <a:lumOff val="25000"/>
                  </a:schemeClr>
                </a:solidFill>
              </a:rPr>
              <a:t>。具体步骤如下：数据处理</a:t>
            </a:r>
            <a:r>
              <a:rPr lang="zh-CN" altLang="en-US" sz="1800" b="0" dirty="0">
                <a:solidFill>
                  <a:schemeClr val="tx1">
                    <a:lumMod val="75000"/>
                    <a:lumOff val="25000"/>
                  </a:schemeClr>
                </a:solidFill>
              </a:rPr>
              <a:t>是对采集到的数据进行数据审核、去重、去噪、标准化、规范化、审查、校验等一系列数据整理、转换、清洗</a:t>
            </a:r>
            <a:r>
              <a:rPr lang="zh-CN" altLang="en-US" sz="1800" b="0" dirty="0" smtClean="0">
                <a:solidFill>
                  <a:schemeClr val="tx1">
                    <a:lumMod val="75000"/>
                    <a:lumOff val="25000"/>
                  </a:schemeClr>
                </a:solidFill>
              </a:rPr>
              <a:t>操作。</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1</a:t>
            </a:r>
            <a:r>
              <a:rPr lang="zh-CN" altLang="en-US" sz="1800" b="0" dirty="0">
                <a:solidFill>
                  <a:schemeClr val="tx1">
                    <a:lumMod val="75000"/>
                    <a:lumOff val="25000"/>
                  </a:schemeClr>
                </a:solidFill>
              </a:rPr>
              <a:t>）定义所需标注数据和预估数据量：数据标注前应完成以下五项准备</a:t>
            </a:r>
            <a:r>
              <a:rPr lang="zh-CN" altLang="en-US" sz="1800" b="0" dirty="0" smtClean="0">
                <a:solidFill>
                  <a:schemeClr val="tx1">
                    <a:lumMod val="75000"/>
                    <a:lumOff val="25000"/>
                  </a:schemeClr>
                </a:solidFill>
              </a:rPr>
              <a:t>工作：</a:t>
            </a:r>
            <a:endParaRPr lang="en-US" altLang="zh-CN" sz="1800" b="0" dirty="0" smtClean="0">
              <a:solidFill>
                <a:schemeClr val="tx1">
                  <a:lumMod val="75000"/>
                  <a:lumOff val="25000"/>
                </a:schemeClr>
              </a:solidFill>
            </a:endParaRPr>
          </a:p>
          <a:p>
            <a:pPr>
              <a:lnSpc>
                <a:spcPct val="120000"/>
              </a:lnSpc>
            </a:pPr>
            <a:r>
              <a:rPr lang="en-US" altLang="zh-CN" sz="1800" b="0" dirty="0">
                <a:solidFill>
                  <a:schemeClr val="tx1">
                    <a:lumMod val="75000"/>
                    <a:lumOff val="25000"/>
                  </a:schemeClr>
                </a:solidFill>
              </a:rPr>
              <a:t> </a:t>
            </a:r>
            <a:r>
              <a:rPr lang="en-US" altLang="zh-CN" sz="1800" b="0" dirty="0" smtClean="0">
                <a:solidFill>
                  <a:schemeClr val="tx1">
                    <a:lumMod val="75000"/>
                    <a:lumOff val="25000"/>
                  </a:schemeClr>
                </a:solidFill>
              </a:rPr>
              <a:t>    </a:t>
            </a:r>
            <a:r>
              <a:rPr lang="zh-CN" altLang="en-US" sz="1800" b="0" dirty="0">
                <a:solidFill>
                  <a:schemeClr val="tx1">
                    <a:lumMod val="75000"/>
                    <a:lumOff val="25000"/>
                  </a:schemeClr>
                </a:solidFill>
              </a:rPr>
              <a:t>①分析</a:t>
            </a:r>
            <a:r>
              <a:rPr lang="zh-CN" altLang="en-US" sz="1800" b="0" dirty="0" smtClean="0">
                <a:solidFill>
                  <a:schemeClr val="tx1">
                    <a:lumMod val="75000"/>
                    <a:lumOff val="25000"/>
                  </a:schemeClr>
                </a:solidFill>
              </a:rPr>
              <a:t>数据。明确</a:t>
            </a:r>
            <a:r>
              <a:rPr lang="zh-CN" altLang="en-US" sz="1800" b="0" dirty="0">
                <a:solidFill>
                  <a:schemeClr val="tx1">
                    <a:lumMod val="75000"/>
                    <a:lumOff val="25000"/>
                  </a:schemeClr>
                </a:solidFill>
              </a:rPr>
              <a:t>机器学习和模型训练过程中所需的标注数据类型、量级、用途及应用场景</a:t>
            </a:r>
            <a:r>
              <a:rPr lang="zh-CN" altLang="en-US" sz="1800" b="0" dirty="0" smtClean="0">
                <a:solidFill>
                  <a:schemeClr val="tx1">
                    <a:lumMod val="75000"/>
                    <a:lumOff val="25000"/>
                  </a:schemeClr>
                </a:solidFill>
              </a:rPr>
              <a:t>等。</a:t>
            </a:r>
            <a:endParaRPr lang="en-US" altLang="zh-CN" sz="1800" b="0" dirty="0" smtClean="0">
              <a:solidFill>
                <a:schemeClr val="tx1">
                  <a:lumMod val="75000"/>
                  <a:lumOff val="25000"/>
                </a:schemeClr>
              </a:solidFill>
            </a:endParaRPr>
          </a:p>
          <a:p>
            <a:pPr>
              <a:lnSpc>
                <a:spcPct val="120000"/>
              </a:lnSpc>
            </a:pPr>
            <a:r>
              <a:rPr lang="zh-CN" altLang="en-US" sz="1800" b="0" dirty="0">
                <a:solidFill>
                  <a:schemeClr val="tx1">
                    <a:lumMod val="75000"/>
                    <a:lumOff val="25000"/>
                  </a:schemeClr>
                </a:solidFill>
              </a:rPr>
              <a:t>     ②整理数据。明确数据与标签文件存放的目录结构，在任务分配与回收时，应按指定的目录进行</a:t>
            </a:r>
            <a:r>
              <a:rPr lang="zh-CN" altLang="en-US" sz="1800" b="0" dirty="0" smtClean="0">
                <a:solidFill>
                  <a:schemeClr val="tx1">
                    <a:lumMod val="75000"/>
                    <a:lumOff val="25000"/>
                  </a:schemeClr>
                </a:solidFill>
              </a:rPr>
              <a:t>数据组织。</a:t>
            </a:r>
            <a:endParaRPr lang="en-US" altLang="zh-CN" sz="1800" b="0" dirty="0" smtClean="0">
              <a:solidFill>
                <a:schemeClr val="tx1">
                  <a:lumMod val="75000"/>
                  <a:lumOff val="25000"/>
                </a:schemeClr>
              </a:solidFill>
            </a:endParaRPr>
          </a:p>
          <a:p>
            <a:pPr>
              <a:lnSpc>
                <a:spcPct val="120000"/>
              </a:lnSpc>
            </a:pPr>
            <a:r>
              <a:rPr lang="zh-CN" altLang="en-US" sz="1800" b="0" dirty="0">
                <a:solidFill>
                  <a:schemeClr val="tx1">
                    <a:lumMod val="75000"/>
                    <a:lumOff val="25000"/>
                  </a:schemeClr>
                </a:solidFill>
              </a:rPr>
              <a:t>     ③明确命名规则。应明确数据与标签文件的命名方式，命名规则应避免数据更新送代时的重名，使于数据追踪、标注追踪，且数据文件名与标签文件名应保持</a:t>
            </a:r>
            <a:r>
              <a:rPr lang="zh-CN" altLang="en-US" sz="1800" b="0" dirty="0" smtClean="0">
                <a:solidFill>
                  <a:schemeClr val="tx1">
                    <a:lumMod val="75000"/>
                    <a:lumOff val="25000"/>
                  </a:schemeClr>
                </a:solidFill>
              </a:rPr>
              <a:t>一致。</a:t>
            </a:r>
            <a:endParaRPr lang="en-US" altLang="zh-CN" sz="1800" b="0" dirty="0" smtClean="0">
              <a:solidFill>
                <a:schemeClr val="tx1">
                  <a:lumMod val="75000"/>
                  <a:lumOff val="25000"/>
                </a:schemeClr>
              </a:solidFill>
            </a:endParaRPr>
          </a:p>
          <a:p>
            <a:pPr>
              <a:lnSpc>
                <a:spcPct val="120000"/>
              </a:lnSpc>
            </a:pPr>
            <a:r>
              <a:rPr lang="zh-CN" altLang="en-US" sz="1800" b="0" dirty="0">
                <a:solidFill>
                  <a:schemeClr val="tx1">
                    <a:lumMod val="75000"/>
                    <a:lumOff val="25000"/>
                  </a:schemeClr>
                </a:solidFill>
              </a:rPr>
              <a:t>     ④预估数据量。根据标注任务的人力获取模式、工具选择、标注任务类型、算法选择以及整个项目的成本对所需标注的数据量进行</a:t>
            </a:r>
            <a:r>
              <a:rPr lang="zh-CN" altLang="en-US" sz="1800" b="0" dirty="0" smtClean="0">
                <a:solidFill>
                  <a:schemeClr val="tx1">
                    <a:lumMod val="75000"/>
                    <a:lumOff val="25000"/>
                  </a:schemeClr>
                </a:solidFill>
              </a:rPr>
              <a:t>预估。</a:t>
            </a:r>
            <a:endParaRPr lang="en-US" altLang="zh-CN" sz="1800" b="0" dirty="0" smtClean="0">
              <a:solidFill>
                <a:schemeClr val="tx1">
                  <a:lumMod val="75000"/>
                  <a:lumOff val="25000"/>
                </a:schemeClr>
              </a:solidFill>
            </a:endParaRPr>
          </a:p>
          <a:p>
            <a:pPr>
              <a:lnSpc>
                <a:spcPct val="120000"/>
              </a:lnSpc>
            </a:pPr>
            <a:r>
              <a:rPr lang="zh-CN" altLang="en-US" sz="1800" b="0" dirty="0">
                <a:solidFill>
                  <a:schemeClr val="tx1">
                    <a:lumMod val="75000"/>
                    <a:lumOff val="25000"/>
                  </a:schemeClr>
                </a:solidFill>
              </a:rPr>
              <a:t>     ⑤标注数据定义与需求。明确标注数据的定义并确定最终的需求量。</a:t>
            </a: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5</a:t>
            </a:r>
            <a:r>
              <a:rPr lang="zh-CN" altLang="en-US" sz="2000" dirty="0" smtClean="0"/>
              <a:t>.</a:t>
            </a:r>
            <a:r>
              <a:rPr lang="en-US" altLang="zh-CN" sz="2000" dirty="0"/>
              <a:t>3</a:t>
            </a:r>
            <a:r>
              <a:rPr lang="en-US" altLang="zh-CN" sz="2000" dirty="0" smtClean="0"/>
              <a:t>  </a:t>
            </a:r>
            <a:r>
              <a:rPr lang="zh-CN" altLang="en-US" sz="2000" dirty="0" smtClean="0"/>
              <a:t>数据标注</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altLang="zh-CN" sz="2100" b="1" spc="225" dirty="0">
                <a:solidFill>
                  <a:prstClr val="white"/>
                </a:solidFill>
              </a:rPr>
              <a:t>2.5</a:t>
            </a:r>
            <a:r>
              <a:rPr lang="zh-CN" altLang="en-US" sz="2100" b="1" spc="225" dirty="0">
                <a:solidFill>
                  <a:prstClr val="white"/>
                </a:solidFill>
              </a:rPr>
              <a:t>  数据标注工程</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spTree>
  </p:cSld>
  <p:clrMapOvr>
    <a:masterClrMapping/>
  </p:clrMapOvr>
  <p:transition>
    <p:fade/>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3"/>
            <a:ext cx="8185830" cy="5436905"/>
          </a:xfrm>
        </p:spPr>
        <p:txBody>
          <a:bodyPr>
            <a:normAutofit/>
          </a:bodyPr>
          <a:lstStyle/>
          <a:p>
            <a:pPr>
              <a:lnSpc>
                <a:spcPct val="120000"/>
              </a:lnSpc>
            </a:pPr>
            <a:r>
              <a:rPr lang="zh-CN" altLang="en-US" sz="1800" b="0" dirty="0" smtClean="0">
                <a:solidFill>
                  <a:schemeClr val="tx1">
                    <a:lumMod val="75000"/>
                    <a:lumOff val="25000"/>
                  </a:schemeClr>
                </a:solidFill>
              </a:rPr>
              <a:t>（</a:t>
            </a:r>
            <a:r>
              <a:rPr lang="en-US" altLang="zh-CN" sz="1800" b="0" dirty="0">
                <a:solidFill>
                  <a:schemeClr val="tx1">
                    <a:lumMod val="75000"/>
                    <a:lumOff val="25000"/>
                  </a:schemeClr>
                </a:solidFill>
              </a:rPr>
              <a:t>2</a:t>
            </a:r>
            <a:r>
              <a:rPr lang="zh-CN" altLang="en-US" sz="1800" b="0" dirty="0" smtClean="0">
                <a:solidFill>
                  <a:schemeClr val="tx1">
                    <a:lumMod val="75000"/>
                    <a:lumOff val="25000"/>
                  </a:schemeClr>
                </a:solidFill>
              </a:rPr>
              <a:t>）标注说明规则。</a:t>
            </a:r>
            <a:endParaRPr lang="en-US" altLang="zh-CN" sz="1800" b="0" dirty="0" smtClean="0">
              <a:solidFill>
                <a:schemeClr val="tx1">
                  <a:lumMod val="75000"/>
                  <a:lumOff val="25000"/>
                </a:schemeClr>
              </a:solidFill>
            </a:endParaRPr>
          </a:p>
          <a:p>
            <a:pPr>
              <a:lnSpc>
                <a:spcPct val="120000"/>
              </a:lnSpc>
            </a:pPr>
            <a:r>
              <a:rPr lang="en-US" altLang="zh-CN" sz="1800" b="0" dirty="0" smtClean="0">
                <a:solidFill>
                  <a:schemeClr val="tx1">
                    <a:lumMod val="75000"/>
                    <a:lumOff val="25000"/>
                  </a:schemeClr>
                </a:solidFill>
              </a:rPr>
              <a:t>     </a:t>
            </a:r>
            <a:r>
              <a:rPr lang="zh-CN" altLang="en-US" sz="1800" b="0" dirty="0">
                <a:solidFill>
                  <a:schemeClr val="tx1">
                    <a:lumMod val="75000"/>
                    <a:lumOff val="25000"/>
                  </a:schemeClr>
                </a:solidFill>
              </a:rPr>
              <a:t>①标注说明规则职责分工。数据需求方应负责确保数据标注的规则符合该领域的业务和专业常识，并根据标注规则，检查所标注的数据是否满足数据需求</a:t>
            </a:r>
            <a:r>
              <a:rPr lang="zh-CN" altLang="en-US" sz="1800" b="0" dirty="0" smtClean="0">
                <a:solidFill>
                  <a:schemeClr val="tx1">
                    <a:lumMod val="75000"/>
                    <a:lumOff val="25000"/>
                  </a:schemeClr>
                </a:solidFill>
              </a:rPr>
              <a:t>方。</a:t>
            </a:r>
            <a:endParaRPr lang="en-US" altLang="zh-CN" sz="1800" b="0" dirty="0" smtClean="0">
              <a:solidFill>
                <a:schemeClr val="tx1">
                  <a:lumMod val="75000"/>
                  <a:lumOff val="25000"/>
                </a:schemeClr>
              </a:solidFill>
            </a:endParaRPr>
          </a:p>
          <a:p>
            <a:pPr>
              <a:lnSpc>
                <a:spcPct val="120000"/>
              </a:lnSpc>
            </a:pPr>
            <a:r>
              <a:rPr lang="zh-CN" altLang="en-US" sz="1800" b="0" dirty="0">
                <a:solidFill>
                  <a:schemeClr val="tx1">
                    <a:lumMod val="75000"/>
                    <a:lumOff val="25000"/>
                  </a:schemeClr>
                </a:solidFill>
              </a:rPr>
              <a:t>     ②标注说明规则定义。明确项目背景、意义及数据用场景，包含项目标注工具、任务描述、标注方法、正确示例、常见错误等内容标注。</a:t>
            </a:r>
            <a:endParaRPr lang="en-US" altLang="zh-CN" sz="1800" b="0" dirty="0" smtClean="0">
              <a:solidFill>
                <a:schemeClr val="tx1">
                  <a:lumMod val="75000"/>
                  <a:lumOff val="25000"/>
                </a:schemeClr>
              </a:solidFill>
            </a:endParaRPr>
          </a:p>
          <a:p>
            <a:pPr>
              <a:lnSpc>
                <a:spcPct val="120000"/>
              </a:lnSpc>
            </a:pPr>
            <a:r>
              <a:rPr lang="zh-CN" altLang="en-US" sz="1800" b="0" dirty="0">
                <a:solidFill>
                  <a:schemeClr val="tx1">
                    <a:lumMod val="75000"/>
                    <a:lumOff val="25000"/>
                  </a:schemeClr>
                </a:solidFill>
              </a:rPr>
              <a:t>     ③标注说明规则内容。标注说明规则包括但不</a:t>
            </a:r>
            <a:r>
              <a:rPr lang="zh-CN" altLang="en-US" sz="1800" b="0" dirty="0" smtClean="0">
                <a:solidFill>
                  <a:schemeClr val="tx1">
                    <a:lumMod val="75000"/>
                    <a:lumOff val="25000"/>
                  </a:schemeClr>
                </a:solidFill>
              </a:rPr>
              <a:t>限于项目背景、版本信息、任务描述、保密责任、标注方法、正确示例、注意事项和质量要求。</a:t>
            </a:r>
            <a:endParaRPr lang="en-US" altLang="zh-CN" sz="1800" b="0" dirty="0" smtClean="0">
              <a:solidFill>
                <a:schemeClr val="tx1">
                  <a:lumMod val="75000"/>
                  <a:lumOff val="25000"/>
                </a:schemeClr>
              </a:solidFill>
            </a:endParaRPr>
          </a:p>
          <a:p>
            <a:pPr>
              <a:lnSpc>
                <a:spcPct val="120000"/>
              </a:lnSpc>
            </a:pPr>
            <a:r>
              <a:rPr lang="zh-CN" altLang="en-US" sz="1800" b="0" dirty="0">
                <a:solidFill>
                  <a:schemeClr val="tx1">
                    <a:lumMod val="75000"/>
                    <a:lumOff val="25000"/>
                  </a:schemeClr>
                </a:solidFill>
              </a:rPr>
              <a:t>     ④执行方法及注意事项。应加强数据标注员相关标注规则培训，保证每个标注人员理解标注说明规则，满足技能</a:t>
            </a:r>
            <a:r>
              <a:rPr lang="zh-CN" altLang="en-US" sz="1800" b="0" dirty="0" smtClean="0">
                <a:solidFill>
                  <a:schemeClr val="tx1">
                    <a:lumMod val="75000"/>
                    <a:lumOff val="25000"/>
                  </a:schemeClr>
                </a:solidFill>
              </a:rPr>
              <a:t>要求。</a:t>
            </a:r>
            <a:endParaRPr lang="en-US" altLang="zh-CN" sz="1800" b="0" dirty="0" smtClean="0">
              <a:solidFill>
                <a:schemeClr val="tx1">
                  <a:lumMod val="75000"/>
                  <a:lumOff val="25000"/>
                </a:schemeClr>
              </a:solidFill>
            </a:endParaRPr>
          </a:p>
          <a:p>
            <a:pPr>
              <a:lnSpc>
                <a:spcPct val="120000"/>
              </a:lnSpc>
            </a:pPr>
            <a:r>
              <a:rPr lang="zh-CN" altLang="en-US" sz="1800" b="0" dirty="0">
                <a:solidFill>
                  <a:schemeClr val="tx1">
                    <a:lumMod val="75000"/>
                    <a:lumOff val="25000"/>
                  </a:schemeClr>
                </a:solidFill>
              </a:rPr>
              <a:t>     ⑤标注说明中术语体系规范化。术语体系的规范化至少应</a:t>
            </a:r>
            <a:r>
              <a:rPr lang="zh-CN" altLang="en-US" sz="1800" b="0" dirty="0" smtClean="0">
                <a:solidFill>
                  <a:schemeClr val="tx1">
                    <a:lumMod val="75000"/>
                    <a:lumOff val="25000"/>
                  </a:schemeClr>
                </a:solidFill>
              </a:rPr>
              <a:t>满足国家法规、项目需求方、项目执行方的规定，且确保标注人员对术语和定义理解的一致性。</a:t>
            </a: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5</a:t>
            </a:r>
            <a:r>
              <a:rPr lang="zh-CN" altLang="en-US" sz="2000" dirty="0" smtClean="0"/>
              <a:t>.</a:t>
            </a:r>
            <a:r>
              <a:rPr lang="en-US" altLang="zh-CN" sz="2000" dirty="0"/>
              <a:t>3</a:t>
            </a:r>
            <a:r>
              <a:rPr lang="en-US" altLang="zh-CN" sz="2000" dirty="0" smtClean="0"/>
              <a:t>  </a:t>
            </a:r>
            <a:r>
              <a:rPr lang="zh-CN" altLang="en-US" sz="2000" dirty="0" smtClean="0"/>
              <a:t>数据标注</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altLang="zh-CN" sz="2100" b="1" spc="225" dirty="0">
                <a:solidFill>
                  <a:prstClr val="white"/>
                </a:solidFill>
              </a:rPr>
              <a:t>2.5</a:t>
            </a:r>
            <a:r>
              <a:rPr lang="zh-CN" altLang="en-US" sz="2100" b="1" spc="225" dirty="0">
                <a:solidFill>
                  <a:prstClr val="white"/>
                </a:solidFill>
              </a:rPr>
              <a:t>  数据标注工程</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spTree>
  </p:cSld>
  <p:clrMapOvr>
    <a:masterClrMapping/>
  </p:clrMapOvr>
  <p:transition>
    <p:fade/>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3"/>
            <a:ext cx="8185830" cy="5436905"/>
          </a:xfrm>
        </p:spPr>
        <p:txBody>
          <a:bodyPr>
            <a:normAutofit/>
          </a:bodyPr>
          <a:lstStyle/>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3</a:t>
            </a:r>
            <a:r>
              <a:rPr lang="zh-CN" altLang="en-US" sz="1800" b="0" dirty="0" smtClean="0">
                <a:solidFill>
                  <a:schemeClr val="tx1">
                    <a:lumMod val="75000"/>
                    <a:lumOff val="25000"/>
                  </a:schemeClr>
                </a:solidFill>
              </a:rPr>
              <a:t>）标注人力供给成本。应</a:t>
            </a:r>
            <a:r>
              <a:rPr lang="zh-CN" altLang="en-US" sz="1800" b="0" dirty="0">
                <a:solidFill>
                  <a:schemeClr val="tx1">
                    <a:lumMod val="75000"/>
                    <a:lumOff val="25000"/>
                  </a:schemeClr>
                </a:solidFill>
              </a:rPr>
              <a:t>根据标注任务的数据量级、保密性与资质要求、对业务规程的理解程度、成本预算以及交付时间等各类因素评价并确认标注人力供给方式。标注人力模式可包括：内部自营标注、第三方标注、众包标注</a:t>
            </a:r>
            <a:r>
              <a:rPr lang="zh-CN" altLang="en-US" sz="1800" b="0" dirty="0" smtClean="0">
                <a:solidFill>
                  <a:schemeClr val="tx1">
                    <a:lumMod val="75000"/>
                    <a:lumOff val="25000"/>
                  </a:schemeClr>
                </a:solidFill>
              </a:rPr>
              <a:t>等。</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     </a:t>
            </a: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5</a:t>
            </a:r>
            <a:r>
              <a:rPr lang="zh-CN" altLang="en-US" sz="2000" dirty="0" smtClean="0"/>
              <a:t>.</a:t>
            </a:r>
            <a:r>
              <a:rPr lang="en-US" altLang="zh-CN" sz="2000" dirty="0"/>
              <a:t>3</a:t>
            </a:r>
            <a:r>
              <a:rPr lang="en-US" altLang="zh-CN" sz="2000" dirty="0" smtClean="0"/>
              <a:t>  </a:t>
            </a:r>
            <a:r>
              <a:rPr lang="zh-CN" altLang="en-US" sz="2000" dirty="0" smtClean="0"/>
              <a:t>数据标注</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altLang="zh-CN" sz="2100" b="1" spc="225" dirty="0">
                <a:solidFill>
                  <a:prstClr val="white"/>
                </a:solidFill>
              </a:rPr>
              <a:t>2.5</a:t>
            </a:r>
            <a:r>
              <a:rPr lang="zh-CN" altLang="en-US" sz="2100" b="1" spc="225" dirty="0">
                <a:solidFill>
                  <a:prstClr val="white"/>
                </a:solidFill>
              </a:rPr>
              <a:t>  数据标注工程</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pic>
        <p:nvPicPr>
          <p:cNvPr id="13314"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63959" y="2548906"/>
            <a:ext cx="7942674" cy="323437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3"/>
            <a:ext cx="8185830" cy="5436905"/>
          </a:xfrm>
        </p:spPr>
        <p:txBody>
          <a:bodyPr>
            <a:normAutofit/>
          </a:bodyPr>
          <a:lstStyle/>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4</a:t>
            </a:r>
            <a:r>
              <a:rPr lang="zh-CN" altLang="en-US" sz="1800" b="0" dirty="0">
                <a:solidFill>
                  <a:schemeClr val="tx1">
                    <a:lumMod val="75000"/>
                    <a:lumOff val="25000"/>
                  </a:schemeClr>
                </a:solidFill>
              </a:rPr>
              <a:t>）标注工具和标注平台选择。标注工具应满足以下条件：   </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     ①易</a:t>
            </a:r>
            <a:r>
              <a:rPr lang="zh-CN" altLang="en-US" sz="1800" b="0" dirty="0">
                <a:solidFill>
                  <a:schemeClr val="tx1">
                    <a:lumMod val="75000"/>
                    <a:lumOff val="25000"/>
                  </a:schemeClr>
                </a:solidFill>
              </a:rPr>
              <a:t>操作性：标注工具应降低标注人员的操作难度，提供交互方式的自有</a:t>
            </a:r>
            <a:r>
              <a:rPr lang="zh-CN" altLang="en-US" sz="1800" b="0" dirty="0" smtClean="0">
                <a:solidFill>
                  <a:schemeClr val="tx1">
                    <a:lumMod val="75000"/>
                    <a:lumOff val="25000"/>
                  </a:schemeClr>
                </a:solidFill>
              </a:rPr>
              <a:t>标注。</a:t>
            </a:r>
            <a:endParaRPr lang="zh-CN" altLang="en-US" sz="1800" b="0" dirty="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     ②规范性</a:t>
            </a:r>
            <a:r>
              <a:rPr lang="zh-CN" altLang="en-US" sz="1800" b="0" dirty="0">
                <a:solidFill>
                  <a:schemeClr val="tx1">
                    <a:lumMod val="75000"/>
                    <a:lumOff val="25000"/>
                  </a:schemeClr>
                </a:solidFill>
              </a:rPr>
              <a:t>：标注工具的数据导出格式，应满足或可转换到格式</a:t>
            </a:r>
            <a:r>
              <a:rPr lang="zh-CN" altLang="en-US" sz="1800" b="0" dirty="0" smtClean="0">
                <a:solidFill>
                  <a:schemeClr val="tx1">
                    <a:lumMod val="75000"/>
                    <a:lumOff val="25000"/>
                  </a:schemeClr>
                </a:solidFill>
              </a:rPr>
              <a:t>要求</a:t>
            </a:r>
            <a:r>
              <a:rPr lang="zh-CN" altLang="en-US" sz="1800" b="0" dirty="0">
                <a:solidFill>
                  <a:schemeClr val="tx1">
                    <a:lumMod val="75000"/>
                    <a:lumOff val="25000"/>
                  </a:schemeClr>
                </a:solidFill>
              </a:rPr>
              <a:t>。</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     ③高效</a:t>
            </a:r>
            <a:r>
              <a:rPr lang="zh-CN" altLang="en-US" sz="1800" b="0" dirty="0">
                <a:solidFill>
                  <a:schemeClr val="tx1">
                    <a:lumMod val="75000"/>
                    <a:lumOff val="25000"/>
                  </a:schemeClr>
                </a:solidFill>
              </a:rPr>
              <a:t>性：标注工具应保证标注任务的完成效率</a:t>
            </a:r>
            <a:r>
              <a:rPr lang="zh-CN" altLang="en-US" sz="1800" b="0" dirty="0" smtClean="0">
                <a:solidFill>
                  <a:schemeClr val="tx1">
                    <a:lumMod val="75000"/>
                    <a:lumOff val="25000"/>
                  </a:schemeClr>
                </a:solidFill>
              </a:rPr>
              <a:t>。</a:t>
            </a:r>
            <a:endParaRPr lang="en-US" altLang="zh-CN" sz="1800" b="0" dirty="0" smtClean="0">
              <a:solidFill>
                <a:schemeClr val="tx1">
                  <a:lumMod val="75000"/>
                  <a:lumOff val="25000"/>
                </a:schemeClr>
              </a:solidFill>
            </a:endParaRPr>
          </a:p>
          <a:p>
            <a:pPr>
              <a:lnSpc>
                <a:spcPct val="120000"/>
              </a:lnSpc>
            </a:pPr>
            <a:r>
              <a:rPr lang="zh-CN" altLang="en-US" sz="1800" b="0" dirty="0">
                <a:solidFill>
                  <a:schemeClr val="tx1">
                    <a:lumMod val="75000"/>
                    <a:lumOff val="25000"/>
                  </a:schemeClr>
                </a:solidFill>
              </a:rPr>
              <a:t>标注平台包含标注工具全部功能、团队管理、任务分发、质量审核等环节的模块，且将所有标注环节工具化。规模较大的平台可完成图像、文本、语音或视频等不同任务的标注</a:t>
            </a:r>
            <a:r>
              <a:rPr lang="zh-CN" altLang="en-US" sz="1800" b="0" dirty="0" smtClean="0">
                <a:solidFill>
                  <a:schemeClr val="tx1">
                    <a:lumMod val="75000"/>
                    <a:lumOff val="25000"/>
                  </a:schemeClr>
                </a:solidFill>
              </a:rPr>
              <a:t>。</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当</a:t>
            </a:r>
            <a:r>
              <a:rPr lang="zh-CN" altLang="en-US" sz="1800" b="0" dirty="0">
                <a:solidFill>
                  <a:schemeClr val="tx1">
                    <a:lumMod val="75000"/>
                    <a:lumOff val="25000"/>
                  </a:schemeClr>
                </a:solidFill>
              </a:rPr>
              <a:t>数据量相对较小、数据类型相对单一、标注周期较短时，宜选择标注工具进行标注。当标注量较大、数据类型较多、标注难度较大且周期较长时，宜选择标注平台进行标注。</a:t>
            </a:r>
            <a:endParaRPr lang="zh-CN" altLang="en-US" sz="1800" b="0" dirty="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  </a:t>
            </a: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5</a:t>
            </a:r>
            <a:r>
              <a:rPr lang="zh-CN" altLang="en-US" sz="2000" dirty="0" smtClean="0"/>
              <a:t>.</a:t>
            </a:r>
            <a:r>
              <a:rPr lang="en-US" altLang="zh-CN" sz="2000" dirty="0" smtClean="0"/>
              <a:t>3  </a:t>
            </a:r>
            <a:r>
              <a:rPr lang="zh-CN" altLang="en-US" sz="2000" dirty="0" smtClean="0"/>
              <a:t>数据标注</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altLang="zh-CN" sz="2100" b="1" spc="225" dirty="0">
                <a:solidFill>
                  <a:prstClr val="white"/>
                </a:solidFill>
              </a:rPr>
              <a:t>2.5</a:t>
            </a:r>
            <a:r>
              <a:rPr lang="zh-CN" altLang="en-US" sz="2100" b="1" spc="225" dirty="0">
                <a:solidFill>
                  <a:prstClr val="white"/>
                </a:solidFill>
              </a:rPr>
              <a:t>  数据标注工程</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spTree>
  </p:cSld>
  <p:clrMapOvr>
    <a:masterClrMapping/>
  </p:clrMapOvr>
  <p:transition>
    <p:fade/>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3"/>
            <a:ext cx="8185830" cy="5436905"/>
          </a:xfrm>
        </p:spPr>
        <p:txBody>
          <a:bodyPr>
            <a:normAutofit/>
          </a:bodyPr>
          <a:lstStyle/>
          <a:p>
            <a:pPr>
              <a:lnSpc>
                <a:spcPct val="120000"/>
              </a:lnSpc>
            </a:pPr>
            <a:r>
              <a:rPr lang="zh-CN" altLang="en-US" sz="1800" b="0" dirty="0" smtClean="0">
                <a:solidFill>
                  <a:schemeClr val="tx1">
                    <a:lumMod val="75000"/>
                    <a:lumOff val="25000"/>
                  </a:schemeClr>
                </a:solidFill>
              </a:rPr>
              <a:t>（</a:t>
            </a:r>
            <a:r>
              <a:rPr lang="en-US" altLang="zh-CN" sz="1800" b="0" dirty="0">
                <a:solidFill>
                  <a:schemeClr val="tx1">
                    <a:lumMod val="75000"/>
                    <a:lumOff val="25000"/>
                  </a:schemeClr>
                </a:solidFill>
              </a:rPr>
              <a:t>5</a:t>
            </a:r>
            <a:r>
              <a:rPr lang="zh-CN" altLang="en-US" sz="1800" b="0" dirty="0">
                <a:solidFill>
                  <a:schemeClr val="tx1">
                    <a:lumMod val="75000"/>
                    <a:lumOff val="25000"/>
                  </a:schemeClr>
                </a:solidFill>
              </a:rPr>
              <a:t>）标注任务创建、分发、开展和</a:t>
            </a:r>
            <a:r>
              <a:rPr lang="zh-CN" altLang="en-US" sz="1800" b="0" dirty="0" smtClean="0">
                <a:solidFill>
                  <a:schemeClr val="tx1">
                    <a:lumMod val="75000"/>
                    <a:lumOff val="25000"/>
                  </a:schemeClr>
                </a:solidFill>
              </a:rPr>
              <a:t>回收</a:t>
            </a:r>
            <a:r>
              <a:rPr lang="zh-CN" altLang="en-US" sz="1800" b="0" dirty="0">
                <a:solidFill>
                  <a:schemeClr val="tx1">
                    <a:lumMod val="75000"/>
                    <a:lumOff val="25000"/>
                  </a:schemeClr>
                </a:solidFill>
              </a:rPr>
              <a:t>。</a:t>
            </a:r>
            <a:r>
              <a:rPr lang="zh-CN" altLang="en-US" sz="1800" b="0" dirty="0" smtClean="0">
                <a:solidFill>
                  <a:schemeClr val="tx1">
                    <a:lumMod val="75000"/>
                    <a:lumOff val="25000"/>
                  </a:schemeClr>
                </a:solidFill>
              </a:rPr>
              <a:t>具体内容如下：</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     ①标注任务创建：明确任务基本信息和需求，完成任务配置和数据上传。</a:t>
            </a:r>
            <a:endParaRPr lang="zh-CN" altLang="en-US" sz="1800" b="0" dirty="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     ②标注人物</a:t>
            </a:r>
            <a:r>
              <a:rPr lang="zh-CN" altLang="en-US" sz="1800" b="0" dirty="0">
                <a:solidFill>
                  <a:schemeClr val="tx1">
                    <a:lumMod val="75000"/>
                    <a:lumOff val="25000"/>
                  </a:schemeClr>
                </a:solidFill>
              </a:rPr>
              <a:t>分发：根据任务发布者确定的参数及需求，将标注任务分发给标注</a:t>
            </a:r>
            <a:r>
              <a:rPr lang="zh-CN" altLang="en-US" sz="1800" b="0" dirty="0" smtClean="0">
                <a:solidFill>
                  <a:schemeClr val="tx1">
                    <a:lumMod val="75000"/>
                    <a:lumOff val="25000"/>
                  </a:schemeClr>
                </a:solidFill>
              </a:rPr>
              <a:t>人员，同时规定标注人数、每天工作量、子任务回收时间点、任务结束时间点等内容</a:t>
            </a:r>
            <a:endParaRPr lang="en-US" altLang="zh-CN" sz="1800" b="0" dirty="0" smtClean="0">
              <a:solidFill>
                <a:schemeClr val="tx1">
                  <a:lumMod val="75000"/>
                  <a:lumOff val="25000"/>
                </a:schemeClr>
              </a:solidFill>
            </a:endParaRPr>
          </a:p>
          <a:p>
            <a:pPr>
              <a:lnSpc>
                <a:spcPct val="120000"/>
              </a:lnSpc>
            </a:pPr>
            <a:r>
              <a:rPr lang="zh-CN" altLang="en-US" sz="1800" b="0" dirty="0">
                <a:solidFill>
                  <a:schemeClr val="tx1">
                    <a:lumMod val="75000"/>
                    <a:lumOff val="25000"/>
                  </a:schemeClr>
                </a:solidFill>
              </a:rPr>
              <a:t>     ③标注任务开展</a:t>
            </a:r>
            <a:r>
              <a:rPr lang="zh-CN" altLang="en-US" sz="1800" b="0" dirty="0" smtClean="0">
                <a:solidFill>
                  <a:schemeClr val="tx1">
                    <a:lumMod val="75000"/>
                    <a:lumOff val="25000"/>
                  </a:schemeClr>
                </a:solidFill>
              </a:rPr>
              <a:t>：根据实际任务灵活采用半自动标注或全人工标注。在标注前期，</a:t>
            </a:r>
            <a:r>
              <a:rPr lang="zh-CN" altLang="zh-CN" sz="1800" b="0" dirty="0">
                <a:solidFill>
                  <a:schemeClr val="tx1">
                    <a:lumMod val="75000"/>
                    <a:lumOff val="25000"/>
                  </a:schemeClr>
                </a:solidFill>
              </a:rPr>
              <a:t>可根据标注规则对少量样本先行试标注，将试标注结果反馈给数据需求方，确认标注结果正确无误后，再批量开展数据标注任务</a:t>
            </a:r>
            <a:r>
              <a:rPr lang="zh-CN" altLang="zh-CN" sz="1800" b="0" dirty="0" smtClean="0">
                <a:solidFill>
                  <a:schemeClr val="tx1">
                    <a:lumMod val="75000"/>
                    <a:lumOff val="25000"/>
                  </a:schemeClr>
                </a:solidFill>
              </a:rPr>
              <a:t>。</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     ④标注任务</a:t>
            </a:r>
            <a:r>
              <a:rPr lang="zh-CN" altLang="en-US" sz="1800" b="0" dirty="0">
                <a:solidFill>
                  <a:schemeClr val="tx1">
                    <a:lumMod val="75000"/>
                    <a:lumOff val="25000"/>
                  </a:schemeClr>
                </a:solidFill>
              </a:rPr>
              <a:t>回收：在项目协定的任务将要完成时，项目负责人需回收标注作业，且需保证已分配的任务能被完整交付</a:t>
            </a:r>
            <a:r>
              <a:rPr lang="zh-CN" altLang="en-US" sz="1800" b="0" dirty="0" smtClean="0">
                <a:solidFill>
                  <a:schemeClr val="tx1">
                    <a:lumMod val="75000"/>
                    <a:lumOff val="25000"/>
                  </a:schemeClr>
                </a:solidFill>
              </a:rPr>
              <a:t>。</a:t>
            </a:r>
            <a:endParaRPr lang="en-US" altLang="zh-CN" sz="1800" b="0" dirty="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  </a:t>
            </a: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5</a:t>
            </a:r>
            <a:r>
              <a:rPr lang="zh-CN" altLang="en-US" sz="2000" dirty="0" smtClean="0"/>
              <a:t>.</a:t>
            </a:r>
            <a:r>
              <a:rPr lang="en-US" altLang="zh-CN" sz="2000" dirty="0" smtClean="0"/>
              <a:t>3  </a:t>
            </a:r>
            <a:r>
              <a:rPr lang="zh-CN" altLang="en-US" sz="2000" dirty="0" smtClean="0"/>
              <a:t>数据标注</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altLang="zh-CN" sz="2100" b="1" spc="225" dirty="0">
                <a:solidFill>
                  <a:prstClr val="white"/>
                </a:solidFill>
              </a:rPr>
              <a:t>2.5</a:t>
            </a:r>
            <a:r>
              <a:rPr lang="zh-CN" altLang="en-US" sz="2100" b="1" spc="225" dirty="0">
                <a:solidFill>
                  <a:prstClr val="white"/>
                </a:solidFill>
              </a:rPr>
              <a:t>  数据标注工程</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spTree>
  </p:cSld>
  <p:clrMapOvr>
    <a:masterClrMapping/>
  </p:clrMapOvr>
  <p:transition>
    <p:fade/>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3"/>
            <a:ext cx="8185830" cy="5436905"/>
          </a:xfrm>
        </p:spPr>
        <p:txBody>
          <a:bodyPr>
            <a:normAutofit/>
          </a:bodyPr>
          <a:lstStyle/>
          <a:p>
            <a:pPr>
              <a:lnSpc>
                <a:spcPct val="120000"/>
              </a:lnSpc>
            </a:pPr>
            <a:r>
              <a:rPr lang="zh-CN" altLang="en-US" sz="1800" b="0" dirty="0">
                <a:solidFill>
                  <a:schemeClr val="tx1">
                    <a:lumMod val="75000"/>
                    <a:lumOff val="25000"/>
                  </a:schemeClr>
                </a:solidFill>
              </a:rPr>
              <a:t>数据</a:t>
            </a:r>
            <a:r>
              <a:rPr lang="zh-CN" altLang="en-US" sz="1800" b="0" dirty="0" smtClean="0">
                <a:solidFill>
                  <a:schemeClr val="tx1">
                    <a:lumMod val="75000"/>
                    <a:lumOff val="25000"/>
                  </a:schemeClr>
                </a:solidFill>
              </a:rPr>
              <a:t>质检是保证数据质量的重要环节。在数据质检</a:t>
            </a:r>
            <a:r>
              <a:rPr lang="zh-CN" altLang="en-US" sz="1800" b="0" dirty="0">
                <a:solidFill>
                  <a:schemeClr val="tx1">
                    <a:lumMod val="75000"/>
                    <a:lumOff val="25000"/>
                  </a:schemeClr>
                </a:solidFill>
              </a:rPr>
              <a:t>操作</a:t>
            </a:r>
            <a:r>
              <a:rPr lang="zh-CN" altLang="en-US" sz="1800" b="0" dirty="0" smtClean="0">
                <a:solidFill>
                  <a:schemeClr val="tx1">
                    <a:lumMod val="75000"/>
                    <a:lumOff val="25000"/>
                  </a:schemeClr>
                </a:solidFill>
              </a:rPr>
              <a:t>方面，可通过</a:t>
            </a:r>
            <a:r>
              <a:rPr lang="zh-CN" altLang="en-US" sz="1800" b="0" dirty="0">
                <a:solidFill>
                  <a:schemeClr val="tx1">
                    <a:lumMod val="75000"/>
                    <a:lumOff val="25000"/>
                  </a:schemeClr>
                </a:solidFill>
              </a:rPr>
              <a:t>排查或抽样检查的方式。质检时，一般由多名专职审核人员对数据质量进行层层把关，一旦发现数据不合要求，则交由数据标注人员进行返工复查并纠正，直到最终通过审核为止</a:t>
            </a:r>
            <a:r>
              <a:rPr lang="zh-CN" altLang="en-US" sz="1800" b="0" dirty="0" smtClean="0">
                <a:solidFill>
                  <a:schemeClr val="tx1">
                    <a:lumMod val="75000"/>
                    <a:lumOff val="25000"/>
                  </a:schemeClr>
                </a:solidFill>
              </a:rPr>
              <a:t>。数据质检主要包含以下三个步骤：</a:t>
            </a:r>
            <a:endParaRPr lang="zh-CN" altLang="en-US" sz="1800" b="0" dirty="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     （</a:t>
            </a:r>
            <a:r>
              <a:rPr lang="en-US" altLang="zh-CN" sz="1800" b="0" dirty="0" smtClean="0">
                <a:solidFill>
                  <a:schemeClr val="tx1">
                    <a:lumMod val="75000"/>
                    <a:lumOff val="25000"/>
                  </a:schemeClr>
                </a:solidFill>
              </a:rPr>
              <a:t>1</a:t>
            </a:r>
            <a:r>
              <a:rPr lang="zh-CN" altLang="en-US" sz="1800" b="0" dirty="0" smtClean="0">
                <a:solidFill>
                  <a:schemeClr val="tx1">
                    <a:lumMod val="75000"/>
                    <a:lumOff val="25000"/>
                  </a:schemeClr>
                </a:solidFill>
              </a:rPr>
              <a:t>）质量</a:t>
            </a:r>
            <a:r>
              <a:rPr lang="zh-CN" altLang="en-US" sz="1800" b="0" dirty="0">
                <a:solidFill>
                  <a:schemeClr val="tx1">
                    <a:lumMod val="75000"/>
                    <a:lumOff val="25000"/>
                  </a:schemeClr>
                </a:solidFill>
              </a:rPr>
              <a:t>检查：确保</a:t>
            </a:r>
            <a:r>
              <a:rPr lang="zh-CN" altLang="en-US" sz="1800" b="0" dirty="0" smtClean="0">
                <a:solidFill>
                  <a:schemeClr val="tx1">
                    <a:lumMod val="75000"/>
                    <a:lumOff val="25000"/>
                  </a:schemeClr>
                </a:solidFill>
              </a:rPr>
              <a:t>数据有价值</a:t>
            </a:r>
            <a:r>
              <a:rPr lang="zh-CN" altLang="en-US" sz="1800" b="0" dirty="0">
                <a:solidFill>
                  <a:schemeClr val="tx1">
                    <a:lumMod val="75000"/>
                    <a:lumOff val="25000"/>
                  </a:schemeClr>
                </a:solidFill>
              </a:rPr>
              <a:t>，符合数据需求方的特定应用</a:t>
            </a:r>
            <a:r>
              <a:rPr lang="zh-CN" altLang="en-US" sz="1800" b="0" dirty="0" smtClean="0">
                <a:solidFill>
                  <a:schemeClr val="tx1">
                    <a:lumMod val="75000"/>
                    <a:lumOff val="25000"/>
                  </a:schemeClr>
                </a:solidFill>
              </a:rPr>
              <a:t>目的。</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     （</a:t>
            </a:r>
            <a:r>
              <a:rPr lang="en-US" altLang="zh-CN" sz="1800" b="0" dirty="0" smtClean="0">
                <a:solidFill>
                  <a:schemeClr val="tx1">
                    <a:lumMod val="75000"/>
                    <a:lumOff val="25000"/>
                  </a:schemeClr>
                </a:solidFill>
              </a:rPr>
              <a:t>2</a:t>
            </a:r>
            <a:r>
              <a:rPr lang="zh-CN" altLang="en-US" sz="1800" b="0" dirty="0" smtClean="0">
                <a:solidFill>
                  <a:schemeClr val="tx1">
                    <a:lumMod val="75000"/>
                    <a:lumOff val="25000"/>
                  </a:schemeClr>
                </a:solidFill>
              </a:rPr>
              <a:t>）</a:t>
            </a:r>
            <a:r>
              <a:rPr lang="zh-CN" altLang="en-US" sz="1800" b="0" dirty="0">
                <a:solidFill>
                  <a:schemeClr val="tx1">
                    <a:lumMod val="75000"/>
                    <a:lumOff val="25000"/>
                  </a:schemeClr>
                </a:solidFill>
              </a:rPr>
              <a:t>质量反馈：确保标注过程可控，并</a:t>
            </a:r>
            <a:r>
              <a:rPr lang="zh-CN" altLang="en-US" sz="1800" b="0" dirty="0" smtClean="0">
                <a:solidFill>
                  <a:schemeClr val="tx1">
                    <a:lumMod val="75000"/>
                    <a:lumOff val="25000"/>
                  </a:schemeClr>
                </a:solidFill>
              </a:rPr>
              <a:t>产生预期</a:t>
            </a:r>
            <a:r>
              <a:rPr lang="zh-CN" altLang="en-US" sz="1800" b="0" dirty="0">
                <a:solidFill>
                  <a:schemeClr val="tx1">
                    <a:lumMod val="75000"/>
                    <a:lumOff val="25000"/>
                  </a:schemeClr>
                </a:solidFill>
              </a:rPr>
              <a:t>的结果</a:t>
            </a:r>
            <a:r>
              <a:rPr lang="zh-CN" altLang="en-US" sz="1800" b="0" dirty="0" smtClean="0">
                <a:solidFill>
                  <a:schemeClr val="tx1">
                    <a:lumMod val="75000"/>
                    <a:lumOff val="25000"/>
                  </a:schemeClr>
                </a:solidFill>
              </a:rPr>
              <a:t>。遇到质量较低数据时及时</a:t>
            </a:r>
            <a:r>
              <a:rPr lang="zh-CN" altLang="en-US" sz="1800" b="0" dirty="0">
                <a:solidFill>
                  <a:schemeClr val="tx1">
                    <a:lumMod val="75000"/>
                    <a:lumOff val="25000"/>
                  </a:schemeClr>
                </a:solidFill>
              </a:rPr>
              <a:t>预警反馈</a:t>
            </a:r>
            <a:r>
              <a:rPr lang="zh-CN" altLang="en-US" sz="1800" b="0" dirty="0" smtClean="0">
                <a:solidFill>
                  <a:schemeClr val="tx1">
                    <a:lumMod val="75000"/>
                    <a:lumOff val="25000"/>
                  </a:schemeClr>
                </a:solidFill>
              </a:rPr>
              <a:t>，并查明原因。</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     （</a:t>
            </a:r>
            <a:r>
              <a:rPr lang="en-US" altLang="zh-CN" sz="1800" b="0" dirty="0" smtClean="0">
                <a:solidFill>
                  <a:schemeClr val="tx1">
                    <a:lumMod val="75000"/>
                    <a:lumOff val="25000"/>
                  </a:schemeClr>
                </a:solidFill>
              </a:rPr>
              <a:t>3</a:t>
            </a:r>
            <a:r>
              <a:rPr lang="zh-CN" altLang="en-US" sz="1800" b="0" dirty="0">
                <a:solidFill>
                  <a:schemeClr val="tx1">
                    <a:lumMod val="75000"/>
                    <a:lumOff val="25000"/>
                  </a:schemeClr>
                </a:solidFill>
              </a:rPr>
              <a:t>）质量检查与控制中合格标准的确认</a:t>
            </a:r>
            <a:r>
              <a:rPr lang="zh-CN" altLang="en-US" sz="1800" b="0" dirty="0" smtClean="0">
                <a:solidFill>
                  <a:schemeClr val="tx1">
                    <a:lumMod val="75000"/>
                    <a:lumOff val="25000"/>
                  </a:schemeClr>
                </a:solidFill>
              </a:rPr>
              <a:t>：需在</a:t>
            </a:r>
            <a:r>
              <a:rPr lang="zh-CN" altLang="en-US" sz="1800" b="0" dirty="0">
                <a:solidFill>
                  <a:schemeClr val="tx1">
                    <a:lumMod val="75000"/>
                    <a:lumOff val="25000"/>
                  </a:schemeClr>
                </a:solidFill>
              </a:rPr>
              <a:t>抽查前建立并确认合格标准，并在相关环节贯彻实施。     </a:t>
            </a: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5</a:t>
            </a:r>
            <a:r>
              <a:rPr lang="zh-CN" altLang="en-US" sz="2000" dirty="0" smtClean="0"/>
              <a:t>.</a:t>
            </a:r>
            <a:r>
              <a:rPr lang="en-US" altLang="zh-CN" sz="2000" dirty="0"/>
              <a:t>4</a:t>
            </a:r>
            <a:r>
              <a:rPr lang="en-US" altLang="zh-CN" sz="2000" dirty="0" smtClean="0"/>
              <a:t>  </a:t>
            </a:r>
            <a:r>
              <a:rPr lang="zh-CN" altLang="en-US" sz="2000" dirty="0" smtClean="0"/>
              <a:t>数据质检</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altLang="zh-CN" sz="2100" b="1" spc="225" dirty="0">
                <a:solidFill>
                  <a:prstClr val="white"/>
                </a:solidFill>
              </a:rPr>
              <a:t>2.5</a:t>
            </a:r>
            <a:r>
              <a:rPr lang="zh-CN" altLang="en-US" sz="2100" b="1" spc="225" dirty="0">
                <a:solidFill>
                  <a:prstClr val="white"/>
                </a:solidFill>
              </a:rPr>
              <a:t>  数据标注工程</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spTree>
  </p:cSld>
  <p:clrMapOvr>
    <a:masterClrMapping/>
  </p:clrMapOvr>
  <p:transition>
    <p:fade/>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3"/>
            <a:ext cx="8185830" cy="5436905"/>
          </a:xfrm>
        </p:spPr>
        <p:txBody>
          <a:bodyPr>
            <a:normAutofit/>
          </a:bodyPr>
          <a:lstStyle/>
          <a:p>
            <a:pPr>
              <a:lnSpc>
                <a:spcPct val="120000"/>
              </a:lnSpc>
            </a:pPr>
            <a:r>
              <a:rPr lang="zh-CN" altLang="en-US" sz="1800" b="0" dirty="0">
                <a:solidFill>
                  <a:schemeClr val="tx1">
                    <a:lumMod val="75000"/>
                    <a:lumOff val="25000"/>
                  </a:schemeClr>
                </a:solidFill>
              </a:rPr>
              <a:t>数据标注质量标准：对于数据标注行业，数据标注的质量标准就是标注的准确性，主要包括图像数据标注、语音数据标注、文本数据标注等质量标准</a:t>
            </a:r>
            <a:r>
              <a:rPr lang="zh-CN" altLang="en-US" sz="1800" b="0" dirty="0" smtClean="0">
                <a:solidFill>
                  <a:schemeClr val="tx1">
                    <a:lumMod val="75000"/>
                    <a:lumOff val="25000"/>
                  </a:schemeClr>
                </a:solidFill>
              </a:rPr>
              <a:t>。</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     （</a:t>
            </a:r>
            <a:r>
              <a:rPr lang="en-US" altLang="zh-CN" sz="1800" b="0" dirty="0" smtClean="0">
                <a:solidFill>
                  <a:schemeClr val="tx1">
                    <a:lumMod val="75000"/>
                    <a:lumOff val="25000"/>
                  </a:schemeClr>
                </a:solidFill>
              </a:rPr>
              <a:t>1</a:t>
            </a:r>
            <a:r>
              <a:rPr lang="zh-CN" altLang="en-US" sz="1800" b="0" dirty="0">
                <a:solidFill>
                  <a:schemeClr val="tx1">
                    <a:lumMod val="75000"/>
                    <a:lumOff val="25000"/>
                  </a:schemeClr>
                </a:solidFill>
              </a:rPr>
              <a:t>）图像类型的数据验收</a:t>
            </a:r>
            <a:r>
              <a:rPr lang="zh-CN" altLang="en-US" sz="1800" b="0" dirty="0" smtClean="0">
                <a:solidFill>
                  <a:schemeClr val="tx1">
                    <a:lumMod val="75000"/>
                    <a:lumOff val="25000"/>
                  </a:schemeClr>
                </a:solidFill>
              </a:rPr>
              <a:t>：数据</a:t>
            </a:r>
            <a:r>
              <a:rPr lang="zh-CN" altLang="en-US" sz="1800" b="0" dirty="0">
                <a:solidFill>
                  <a:schemeClr val="tx1">
                    <a:lumMod val="75000"/>
                    <a:lumOff val="25000"/>
                  </a:schemeClr>
                </a:solidFill>
              </a:rPr>
              <a:t>结果为带有标签的数据，包含标签的具体内容，及此图像标签对应的图像空间位置（可选）</a:t>
            </a:r>
            <a:r>
              <a:rPr lang="zh-CN" altLang="en-US" sz="1800" b="0" dirty="0" smtClean="0">
                <a:solidFill>
                  <a:schemeClr val="tx1">
                    <a:lumMod val="75000"/>
                    <a:lumOff val="25000"/>
                  </a:schemeClr>
                </a:solidFill>
              </a:rPr>
              <a:t>。</a:t>
            </a:r>
            <a:r>
              <a:rPr lang="zh-CN" altLang="en-US" sz="1800" b="0" dirty="0">
                <a:solidFill>
                  <a:schemeClr val="tx1">
                    <a:lumMod val="75000"/>
                    <a:lumOff val="25000"/>
                  </a:schemeClr>
                </a:solidFill>
              </a:rPr>
              <a:t>标注文件</a:t>
            </a:r>
            <a:r>
              <a:rPr lang="zh-CN" altLang="en-US" sz="1800" b="0" dirty="0" smtClean="0">
                <a:solidFill>
                  <a:schemeClr val="tx1">
                    <a:lumMod val="75000"/>
                    <a:lumOff val="25000"/>
                  </a:schemeClr>
                </a:solidFill>
              </a:rPr>
              <a:t>输出</a:t>
            </a:r>
            <a:r>
              <a:rPr lang="zh-CN" altLang="en-US" sz="1800" b="0" dirty="0">
                <a:solidFill>
                  <a:schemeClr val="tx1">
                    <a:lumMod val="75000"/>
                    <a:lumOff val="25000"/>
                  </a:schemeClr>
                </a:solidFill>
              </a:rPr>
              <a:t>格式推荐使用易解析、易存储的数据格式，格式包括但不限于</a:t>
            </a:r>
            <a:r>
              <a:rPr lang="en-US" altLang="zh-CN" sz="1800" b="0" dirty="0">
                <a:solidFill>
                  <a:schemeClr val="tx1">
                    <a:lumMod val="75000"/>
                    <a:lumOff val="25000"/>
                  </a:schemeClr>
                </a:solidFill>
              </a:rPr>
              <a:t>JSON</a:t>
            </a:r>
            <a:r>
              <a:rPr lang="zh-CN" altLang="en-US" sz="1800" b="0" dirty="0">
                <a:solidFill>
                  <a:schemeClr val="tx1">
                    <a:lumMod val="75000"/>
                    <a:lumOff val="25000"/>
                  </a:schemeClr>
                </a:solidFill>
              </a:rPr>
              <a:t>或</a:t>
            </a:r>
            <a:r>
              <a:rPr lang="en-US" altLang="zh-CN" sz="1800" b="0" dirty="0">
                <a:solidFill>
                  <a:schemeClr val="tx1">
                    <a:lumMod val="75000"/>
                    <a:lumOff val="25000"/>
                  </a:schemeClr>
                </a:solidFill>
              </a:rPr>
              <a:t>XML</a:t>
            </a:r>
            <a:r>
              <a:rPr lang="zh-CN" altLang="en-US" sz="1800" b="0" dirty="0">
                <a:solidFill>
                  <a:schemeClr val="tx1">
                    <a:lumMod val="75000"/>
                    <a:lumOff val="25000"/>
                  </a:schemeClr>
                </a:solidFill>
              </a:rPr>
              <a:t>。</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     （</a:t>
            </a:r>
            <a:r>
              <a:rPr lang="en-US" altLang="zh-CN" sz="1800" b="0" dirty="0" smtClean="0">
                <a:solidFill>
                  <a:schemeClr val="tx1">
                    <a:lumMod val="75000"/>
                    <a:lumOff val="25000"/>
                  </a:schemeClr>
                </a:solidFill>
              </a:rPr>
              <a:t>2</a:t>
            </a:r>
            <a:r>
              <a:rPr lang="zh-CN" altLang="en-US" sz="1800" b="0" dirty="0">
                <a:solidFill>
                  <a:schemeClr val="tx1">
                    <a:lumMod val="75000"/>
                    <a:lumOff val="25000"/>
                  </a:schemeClr>
                </a:solidFill>
              </a:rPr>
              <a:t>）文本类型的数据验收</a:t>
            </a:r>
            <a:r>
              <a:rPr lang="zh-CN" altLang="en-US" sz="1800" b="0" dirty="0" smtClean="0">
                <a:solidFill>
                  <a:schemeClr val="tx1">
                    <a:lumMod val="75000"/>
                    <a:lumOff val="25000"/>
                  </a:schemeClr>
                </a:solidFill>
              </a:rPr>
              <a:t>：数据</a:t>
            </a:r>
            <a:r>
              <a:rPr lang="zh-CN" altLang="en-US" sz="1800" b="0" dirty="0">
                <a:solidFill>
                  <a:schemeClr val="tx1">
                    <a:lumMod val="75000"/>
                    <a:lumOff val="25000"/>
                  </a:schemeClr>
                </a:solidFill>
              </a:rPr>
              <a:t>结果包含文本标签的位置和标签的具体内容</a:t>
            </a:r>
            <a:r>
              <a:rPr lang="zh-CN" altLang="en-US" sz="1800" b="0" dirty="0" smtClean="0">
                <a:solidFill>
                  <a:schemeClr val="tx1">
                    <a:lumMod val="75000"/>
                    <a:lumOff val="25000"/>
                  </a:schemeClr>
                </a:solidFill>
              </a:rPr>
              <a:t>。标注</a:t>
            </a:r>
            <a:r>
              <a:rPr lang="zh-CN" altLang="en-US" sz="1800" b="0" dirty="0">
                <a:solidFill>
                  <a:schemeClr val="tx1">
                    <a:lumMod val="75000"/>
                    <a:lumOff val="25000"/>
                  </a:schemeClr>
                </a:solidFill>
              </a:rPr>
              <a:t>文件的输出格式推荐使用易解析、易存储的数据格式，包括</a:t>
            </a:r>
            <a:r>
              <a:rPr lang="en-US" altLang="zh-CN" sz="1800" b="0" dirty="0">
                <a:solidFill>
                  <a:schemeClr val="tx1">
                    <a:lumMod val="75000"/>
                    <a:lumOff val="25000"/>
                  </a:schemeClr>
                </a:solidFill>
              </a:rPr>
              <a:t>JSON</a:t>
            </a:r>
            <a:r>
              <a:rPr lang="zh-CN" altLang="en-US" sz="1800" b="0" dirty="0">
                <a:solidFill>
                  <a:schemeClr val="tx1">
                    <a:lumMod val="75000"/>
                    <a:lumOff val="25000"/>
                  </a:schemeClr>
                </a:solidFill>
              </a:rPr>
              <a:t>、</a:t>
            </a:r>
            <a:r>
              <a:rPr lang="en-US" altLang="zh-CN" sz="1800" b="0" dirty="0">
                <a:solidFill>
                  <a:schemeClr val="tx1">
                    <a:lumMod val="75000"/>
                    <a:lumOff val="25000"/>
                  </a:schemeClr>
                </a:solidFill>
              </a:rPr>
              <a:t>XML</a:t>
            </a:r>
            <a:r>
              <a:rPr lang="zh-CN" altLang="en-US" sz="1800" b="0" dirty="0">
                <a:solidFill>
                  <a:schemeClr val="tx1">
                    <a:lumMod val="75000"/>
                    <a:lumOff val="25000"/>
                  </a:schemeClr>
                </a:solidFill>
              </a:rPr>
              <a:t>、</a:t>
            </a:r>
            <a:r>
              <a:rPr lang="en-US" altLang="zh-CN" sz="1800" b="0" dirty="0">
                <a:solidFill>
                  <a:schemeClr val="tx1">
                    <a:lumMod val="75000"/>
                    <a:lumOff val="25000"/>
                  </a:schemeClr>
                </a:solidFill>
              </a:rPr>
              <a:t>TXT</a:t>
            </a:r>
            <a:r>
              <a:rPr lang="zh-CN" altLang="en-US" sz="1800" b="0" dirty="0">
                <a:solidFill>
                  <a:schemeClr val="tx1">
                    <a:lumMod val="75000"/>
                    <a:lumOff val="25000"/>
                  </a:schemeClr>
                </a:solidFill>
              </a:rPr>
              <a:t>等</a:t>
            </a:r>
            <a:r>
              <a:rPr lang="zh-CN" altLang="en-US" sz="1800" b="0" dirty="0" smtClean="0">
                <a:solidFill>
                  <a:schemeClr val="tx1">
                    <a:lumMod val="75000"/>
                    <a:lumOff val="25000"/>
                  </a:schemeClr>
                </a:solidFill>
              </a:rPr>
              <a:t>。</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     （</a:t>
            </a:r>
            <a:r>
              <a:rPr lang="en-US" altLang="zh-CN" sz="1800" b="0" dirty="0" smtClean="0">
                <a:solidFill>
                  <a:schemeClr val="tx1">
                    <a:lumMod val="75000"/>
                    <a:lumOff val="25000"/>
                  </a:schemeClr>
                </a:solidFill>
              </a:rPr>
              <a:t>3</a:t>
            </a:r>
            <a:r>
              <a:rPr lang="zh-CN" altLang="en-US" sz="1800" b="0" dirty="0">
                <a:solidFill>
                  <a:schemeClr val="tx1">
                    <a:lumMod val="75000"/>
                    <a:lumOff val="25000"/>
                  </a:schemeClr>
                </a:solidFill>
              </a:rPr>
              <a:t>）语音类型的数据验收：数据结果包含语音标签的时间位置和标签的具体内容（例如转写内容、说话人信息、噪声等）</a:t>
            </a:r>
            <a:r>
              <a:rPr lang="zh-CN" altLang="en-US" sz="1800" b="0" dirty="0" smtClean="0">
                <a:solidFill>
                  <a:schemeClr val="tx1">
                    <a:lumMod val="75000"/>
                    <a:lumOff val="25000"/>
                  </a:schemeClr>
                </a:solidFill>
              </a:rPr>
              <a:t>。标注</a:t>
            </a:r>
            <a:r>
              <a:rPr lang="zh-CN" altLang="en-US" sz="1800" b="0" dirty="0">
                <a:solidFill>
                  <a:schemeClr val="tx1">
                    <a:lumMod val="75000"/>
                    <a:lumOff val="25000"/>
                  </a:schemeClr>
                </a:solidFill>
              </a:rPr>
              <a:t>文件的输出格式为</a:t>
            </a:r>
            <a:r>
              <a:rPr lang="en-US" altLang="zh-CN" sz="1800" b="0" dirty="0">
                <a:solidFill>
                  <a:schemeClr val="tx1">
                    <a:lumMod val="75000"/>
                    <a:lumOff val="25000"/>
                  </a:schemeClr>
                </a:solidFill>
              </a:rPr>
              <a:t>JSON</a:t>
            </a:r>
            <a:r>
              <a:rPr lang="zh-CN" altLang="en-US" sz="1800" b="0" dirty="0">
                <a:solidFill>
                  <a:schemeClr val="tx1">
                    <a:lumMod val="75000"/>
                    <a:lumOff val="25000"/>
                  </a:schemeClr>
                </a:solidFill>
              </a:rPr>
              <a:t>文件或其他通用输出</a:t>
            </a:r>
            <a:r>
              <a:rPr lang="zh-CN" altLang="en-US" sz="1800" b="0" dirty="0" smtClean="0">
                <a:solidFill>
                  <a:schemeClr val="tx1">
                    <a:lumMod val="75000"/>
                    <a:lumOff val="25000"/>
                  </a:schemeClr>
                </a:solidFill>
              </a:rPr>
              <a:t>格式。</a:t>
            </a:r>
            <a:endParaRPr lang="en-US" altLang="zh-CN" sz="1800" b="0" dirty="0" smtClean="0">
              <a:solidFill>
                <a:schemeClr val="tx1">
                  <a:lumMod val="75000"/>
                  <a:lumOff val="25000"/>
                </a:schemeClr>
              </a:solidFill>
            </a:endParaRPr>
          </a:p>
          <a:p>
            <a:pPr>
              <a:lnSpc>
                <a:spcPct val="120000"/>
              </a:lnSpc>
            </a:pP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5</a:t>
            </a:r>
            <a:r>
              <a:rPr lang="zh-CN" altLang="en-US" sz="2000" dirty="0" smtClean="0"/>
              <a:t>.</a:t>
            </a:r>
            <a:r>
              <a:rPr lang="en-US" altLang="zh-CN" sz="2000" dirty="0" smtClean="0"/>
              <a:t>5  </a:t>
            </a:r>
            <a:r>
              <a:rPr lang="zh-CN" altLang="en-US" sz="2000" dirty="0" smtClean="0"/>
              <a:t>数据交付</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altLang="zh-CN" sz="2100" b="1" spc="225" dirty="0">
                <a:solidFill>
                  <a:prstClr val="white"/>
                </a:solidFill>
              </a:rPr>
              <a:t>2.5</a:t>
            </a:r>
            <a:r>
              <a:rPr lang="zh-CN" altLang="en-US" sz="2100" b="1" spc="225" dirty="0">
                <a:solidFill>
                  <a:prstClr val="white"/>
                </a:solidFill>
              </a:rPr>
              <a:t>  数据标注工程</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spTree>
  </p:cSld>
  <p:clrMapOvr>
    <a:masterClrMapping/>
  </p:clrMapOvr>
  <p:transition>
    <p:fade/>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1339033"/>
            <a:ext cx="8185830" cy="5436905"/>
          </a:xfrm>
        </p:spPr>
        <p:txBody>
          <a:bodyPr>
            <a:normAutofit/>
          </a:bodyPr>
          <a:lstStyle/>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4</a:t>
            </a:r>
            <a:r>
              <a:rPr lang="zh-CN" altLang="en-US" sz="1800" b="0" dirty="0">
                <a:solidFill>
                  <a:schemeClr val="tx1">
                    <a:lumMod val="75000"/>
                    <a:lumOff val="25000"/>
                  </a:schemeClr>
                </a:solidFill>
              </a:rPr>
              <a:t>）视频类型的数据验收：</a:t>
            </a:r>
            <a:r>
              <a:rPr lang="zh-CN" altLang="en-US" sz="1800" b="0" dirty="0" smtClean="0">
                <a:solidFill>
                  <a:schemeClr val="tx1">
                    <a:lumMod val="75000"/>
                    <a:lumOff val="25000"/>
                  </a:schemeClr>
                </a:solidFill>
              </a:rPr>
              <a:t>数据结果</a:t>
            </a:r>
            <a:r>
              <a:rPr lang="zh-CN" altLang="en-US" sz="1800" b="0" dirty="0">
                <a:solidFill>
                  <a:schemeClr val="tx1">
                    <a:lumMod val="75000"/>
                    <a:lumOff val="25000"/>
                  </a:schemeClr>
                </a:solidFill>
              </a:rPr>
              <a:t>可包含视频标签的时间位置、空间位置和标签信息等内容</a:t>
            </a:r>
            <a:r>
              <a:rPr lang="zh-CN" altLang="en-US" sz="1800" b="0" dirty="0" smtClean="0">
                <a:solidFill>
                  <a:schemeClr val="tx1">
                    <a:lumMod val="75000"/>
                    <a:lumOff val="25000"/>
                  </a:schemeClr>
                </a:solidFill>
              </a:rPr>
              <a:t>。标注</a:t>
            </a:r>
            <a:r>
              <a:rPr lang="zh-CN" altLang="en-US" sz="1800" b="0" dirty="0">
                <a:solidFill>
                  <a:schemeClr val="tx1">
                    <a:lumMod val="75000"/>
                    <a:lumOff val="25000"/>
                  </a:schemeClr>
                </a:solidFill>
              </a:rPr>
              <a:t>文件的输出格式推荐使用易解析、易存的数据格式，包括</a:t>
            </a:r>
            <a:r>
              <a:rPr lang="en-US" altLang="zh-CN" sz="1800" b="0" dirty="0">
                <a:solidFill>
                  <a:schemeClr val="tx1">
                    <a:lumMod val="75000"/>
                    <a:lumOff val="25000"/>
                  </a:schemeClr>
                </a:solidFill>
              </a:rPr>
              <a:t>JSON</a:t>
            </a:r>
            <a:r>
              <a:rPr lang="zh-CN" altLang="en-US" sz="1800" b="0" dirty="0">
                <a:solidFill>
                  <a:schemeClr val="tx1">
                    <a:lumMod val="75000"/>
                    <a:lumOff val="25000"/>
                  </a:schemeClr>
                </a:solidFill>
              </a:rPr>
              <a:t>、</a:t>
            </a:r>
            <a:r>
              <a:rPr lang="en-US" altLang="zh-CN" sz="1800" b="0" dirty="0">
                <a:solidFill>
                  <a:schemeClr val="tx1">
                    <a:lumMod val="75000"/>
                    <a:lumOff val="25000"/>
                  </a:schemeClr>
                </a:solidFill>
              </a:rPr>
              <a:t>XML</a:t>
            </a:r>
            <a:r>
              <a:rPr lang="zh-CN" altLang="en-US" sz="1800" b="0" dirty="0">
                <a:solidFill>
                  <a:schemeClr val="tx1">
                    <a:lumMod val="75000"/>
                    <a:lumOff val="25000"/>
                  </a:schemeClr>
                </a:solidFill>
              </a:rPr>
              <a:t>等</a:t>
            </a:r>
            <a:r>
              <a:rPr lang="zh-CN" altLang="en-US" sz="1800" b="0" dirty="0" smtClean="0">
                <a:solidFill>
                  <a:schemeClr val="tx1">
                    <a:lumMod val="75000"/>
                    <a:lumOff val="25000"/>
                  </a:schemeClr>
                </a:solidFill>
              </a:rPr>
              <a:t>。</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5</a:t>
            </a:r>
            <a:r>
              <a:rPr lang="zh-CN" altLang="en-US" sz="1800" b="0" dirty="0">
                <a:solidFill>
                  <a:schemeClr val="tx1">
                    <a:lumMod val="75000"/>
                    <a:lumOff val="25000"/>
                  </a:schemeClr>
                </a:solidFill>
              </a:rPr>
              <a:t>）其他数据：医学影像数据具有其特殊性，因此在此单独定义输出标准。对于 </a:t>
            </a:r>
            <a:r>
              <a:rPr lang="en-US" altLang="zh-CN" sz="1800" b="0" dirty="0">
                <a:solidFill>
                  <a:schemeClr val="tx1">
                    <a:lumMod val="75000"/>
                    <a:lumOff val="25000"/>
                  </a:schemeClr>
                </a:solidFill>
              </a:rPr>
              <a:t>DICOM</a:t>
            </a:r>
            <a:r>
              <a:rPr lang="zh-CN" altLang="en-US" sz="1800" b="0" dirty="0">
                <a:solidFill>
                  <a:schemeClr val="tx1">
                    <a:lumMod val="75000"/>
                    <a:lumOff val="25000"/>
                  </a:schemeClr>
                </a:solidFill>
              </a:rPr>
              <a:t>类型的数据，按照</a:t>
            </a:r>
            <a:r>
              <a:rPr lang="en-US" altLang="zh-CN" sz="1800" b="0" dirty="0">
                <a:solidFill>
                  <a:schemeClr val="tx1">
                    <a:lumMod val="75000"/>
                    <a:lumOff val="25000"/>
                  </a:schemeClr>
                </a:solidFill>
              </a:rPr>
              <a:t>ISO 12052</a:t>
            </a:r>
            <a:r>
              <a:rPr lang="zh-CN" altLang="en-US" sz="1800" b="0" dirty="0">
                <a:solidFill>
                  <a:schemeClr val="tx1">
                    <a:lumMod val="75000"/>
                    <a:lumOff val="25000"/>
                  </a:schemeClr>
                </a:solidFill>
              </a:rPr>
              <a:t>的要求，参照前述图像、文本、语音和视频数据的输出格式，存储在</a:t>
            </a:r>
            <a:r>
              <a:rPr lang="en-US" altLang="zh-CN" sz="1800" b="0" dirty="0">
                <a:solidFill>
                  <a:schemeClr val="tx1">
                    <a:lumMod val="75000"/>
                    <a:lumOff val="25000"/>
                  </a:schemeClr>
                </a:solidFill>
              </a:rPr>
              <a:t>DICOM</a:t>
            </a:r>
            <a:r>
              <a:rPr lang="zh-CN" altLang="en-US" sz="1800" b="0" dirty="0">
                <a:solidFill>
                  <a:schemeClr val="tx1">
                    <a:lumMod val="75000"/>
                    <a:lumOff val="25000"/>
                  </a:schemeClr>
                </a:solidFill>
              </a:rPr>
              <a:t>数据格式的相应标签和数据集合中</a:t>
            </a:r>
            <a:r>
              <a:rPr lang="zh-CN" altLang="en-US" sz="1800" b="0" dirty="0" smtClean="0">
                <a:solidFill>
                  <a:schemeClr val="tx1">
                    <a:lumMod val="75000"/>
                    <a:lumOff val="25000"/>
                  </a:schemeClr>
                </a:solidFill>
              </a:rPr>
              <a:t>。</a:t>
            </a:r>
            <a:endParaRPr lang="en-US" altLang="zh-CN" sz="1800" b="0" dirty="0" smtClean="0">
              <a:solidFill>
                <a:schemeClr val="tx1">
                  <a:lumMod val="75000"/>
                  <a:lumOff val="25000"/>
                </a:schemeClr>
              </a:solidFill>
            </a:endParaRPr>
          </a:p>
          <a:p>
            <a:pPr>
              <a:lnSpc>
                <a:spcPct val="120000"/>
              </a:lnSpc>
            </a:pPr>
            <a:r>
              <a:rPr lang="zh-CN" altLang="en-US" sz="1800" b="0" dirty="0" smtClean="0">
                <a:solidFill>
                  <a:schemeClr val="tx1">
                    <a:lumMod val="75000"/>
                    <a:lumOff val="25000"/>
                  </a:schemeClr>
                </a:solidFill>
              </a:rPr>
              <a:t>（</a:t>
            </a:r>
            <a:r>
              <a:rPr lang="en-US" altLang="zh-CN" sz="1800" b="0" dirty="0" smtClean="0">
                <a:solidFill>
                  <a:schemeClr val="tx1">
                    <a:lumMod val="75000"/>
                    <a:lumOff val="25000"/>
                  </a:schemeClr>
                </a:solidFill>
              </a:rPr>
              <a:t>6</a:t>
            </a:r>
            <a:r>
              <a:rPr lang="zh-CN" altLang="en-US" sz="1800" b="0" dirty="0">
                <a:solidFill>
                  <a:schemeClr val="tx1">
                    <a:lumMod val="75000"/>
                    <a:lumOff val="25000"/>
                  </a:schemeClr>
                </a:solidFill>
              </a:rPr>
              <a:t>）数据</a:t>
            </a:r>
            <a:r>
              <a:rPr lang="zh-CN" altLang="en-US" sz="1800" b="0" dirty="0" smtClean="0">
                <a:solidFill>
                  <a:schemeClr val="tx1">
                    <a:lumMod val="75000"/>
                    <a:lumOff val="25000"/>
                  </a:schemeClr>
                </a:solidFill>
              </a:rPr>
              <a:t>交付：标注</a:t>
            </a:r>
            <a:r>
              <a:rPr lang="zh-CN" altLang="en-US" sz="1800" b="0" dirty="0">
                <a:solidFill>
                  <a:schemeClr val="tx1">
                    <a:lumMod val="75000"/>
                    <a:lumOff val="25000"/>
                  </a:schemeClr>
                </a:solidFill>
              </a:rPr>
              <a:t>团队需对最终提交的数据量进行说明。交付的内容应包括标注结果（必选）、交付和说明文档（可选）、关于标注数据的 </a:t>
            </a:r>
            <a:r>
              <a:rPr lang="en-US" altLang="zh-CN" sz="1800" b="0" dirty="0">
                <a:solidFill>
                  <a:schemeClr val="tx1">
                    <a:lumMod val="75000"/>
                    <a:lumOff val="25000"/>
                  </a:schemeClr>
                </a:solidFill>
              </a:rPr>
              <a:t>Metadata</a:t>
            </a:r>
            <a:r>
              <a:rPr lang="zh-CN" altLang="en-US" sz="1800" b="0" dirty="0">
                <a:solidFill>
                  <a:schemeClr val="tx1">
                    <a:lumMod val="75000"/>
                    <a:lumOff val="25000"/>
                  </a:schemeClr>
                </a:solidFill>
              </a:rPr>
              <a:t>（可选）、原始数据（可选）</a:t>
            </a:r>
            <a:r>
              <a:rPr lang="zh-CN" altLang="en-US" sz="1800" b="0" dirty="0" smtClean="0">
                <a:solidFill>
                  <a:schemeClr val="tx1">
                    <a:lumMod val="75000"/>
                    <a:lumOff val="25000"/>
                  </a:schemeClr>
                </a:solidFill>
              </a:rPr>
              <a:t>等。交付</a:t>
            </a:r>
            <a:r>
              <a:rPr lang="zh-CN" altLang="en-US" sz="1800" b="0" dirty="0">
                <a:solidFill>
                  <a:schemeClr val="tx1">
                    <a:lumMod val="75000"/>
                    <a:lumOff val="25000"/>
                  </a:schemeClr>
                </a:solidFill>
              </a:rPr>
              <a:t>的文件存储</a:t>
            </a:r>
            <a:r>
              <a:rPr lang="zh-CN" altLang="en-US" sz="1800" b="0" dirty="0" smtClean="0">
                <a:solidFill>
                  <a:schemeClr val="tx1">
                    <a:lumMod val="75000"/>
                    <a:lumOff val="25000"/>
                  </a:schemeClr>
                </a:solidFill>
              </a:rPr>
              <a:t>结构如图所示。</a:t>
            </a:r>
            <a:endParaRPr lang="zh-CN" altLang="en-US" sz="1800" b="0" dirty="0">
              <a:solidFill>
                <a:schemeClr val="tx1">
                  <a:lumMod val="75000"/>
                  <a:lumOff val="25000"/>
                </a:schemeClr>
              </a:solidFill>
            </a:endParaRPr>
          </a:p>
          <a:p>
            <a:pPr>
              <a:lnSpc>
                <a:spcPct val="120000"/>
              </a:lnSpc>
            </a:pP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5</a:t>
            </a:r>
            <a:r>
              <a:rPr lang="zh-CN" altLang="en-US" sz="2000" dirty="0" smtClean="0"/>
              <a:t>.</a:t>
            </a:r>
            <a:r>
              <a:rPr lang="en-US" altLang="zh-CN" sz="2000" dirty="0" smtClean="0"/>
              <a:t>5  </a:t>
            </a:r>
            <a:r>
              <a:rPr lang="zh-CN" altLang="en-US" sz="2000" dirty="0" smtClean="0"/>
              <a:t>数据交付</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altLang="zh-CN" sz="2100" b="1" spc="225" dirty="0">
                <a:solidFill>
                  <a:prstClr val="white"/>
                </a:solidFill>
              </a:rPr>
              <a:t>2.5</a:t>
            </a:r>
            <a:r>
              <a:rPr lang="zh-CN" altLang="en-US" sz="2100" b="1" spc="225" dirty="0">
                <a:solidFill>
                  <a:prstClr val="white"/>
                </a:solidFill>
              </a:rPr>
              <a:t>  数据标注工程</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pic>
        <p:nvPicPr>
          <p:cNvPr id="1945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15700" y="4722568"/>
            <a:ext cx="4248516" cy="1864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fade/>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3001108"/>
            <a:ext cx="8185830" cy="3774830"/>
          </a:xfrm>
        </p:spPr>
        <p:txBody>
          <a:bodyPr>
            <a:normAutofit/>
          </a:bodyPr>
          <a:lstStyle/>
          <a:p>
            <a:pPr>
              <a:lnSpc>
                <a:spcPct val="120000"/>
              </a:lnSpc>
            </a:pPr>
            <a:r>
              <a:rPr lang="zh-CN" altLang="en-US" sz="1800" b="0" smtClean="0">
                <a:solidFill>
                  <a:schemeClr val="tx1">
                    <a:lumMod val="75000"/>
                    <a:lumOff val="25000"/>
                  </a:schemeClr>
                </a:solidFill>
              </a:rPr>
              <a:t>在</a:t>
            </a:r>
            <a:r>
              <a:rPr lang="zh-CN" altLang="en-US" sz="1800" b="0" dirty="0">
                <a:solidFill>
                  <a:schemeClr val="tx1">
                    <a:lumMod val="75000"/>
                    <a:lumOff val="25000"/>
                  </a:schemeClr>
                </a:solidFill>
              </a:rPr>
              <a:t>交付数据后，数据需求方应在数据验收期内完成对数据标注结果的验收工作，验收方式包括抽样验收和逐一验收两种。若验收数据质量未达到期望值，数据需求方可要求数据服务提供商对数据进行修正。</a:t>
            </a:r>
            <a:endParaRPr lang="en-US" altLang="zh-CN" sz="1800" b="0" dirty="0" smtClean="0">
              <a:solidFill>
                <a:schemeClr val="tx1">
                  <a:lumMod val="75000"/>
                  <a:lumOff val="25000"/>
                </a:schemeClr>
              </a:solidFill>
            </a:endParaRPr>
          </a:p>
        </p:txBody>
      </p:sp>
      <p:sp>
        <p:nvSpPr>
          <p:cNvPr id="10" name="文本占位符 5"/>
          <p:cNvSpPr>
            <a:spLocks noGrp="1"/>
          </p:cNvSpPr>
          <p:nvPr/>
        </p:nvSpPr>
        <p:spPr>
          <a:xfrm>
            <a:off x="392113" y="799518"/>
            <a:ext cx="7200000" cy="5400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chemeClr val="accent5">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000" dirty="0"/>
              <a:t>2</a:t>
            </a:r>
            <a:r>
              <a:rPr lang="zh-CN" altLang="en-US" sz="2000" dirty="0" smtClean="0"/>
              <a:t>.</a:t>
            </a:r>
            <a:r>
              <a:rPr lang="en-US" altLang="zh-CN" sz="2000" dirty="0"/>
              <a:t>5</a:t>
            </a:r>
            <a:r>
              <a:rPr lang="zh-CN" altLang="en-US" sz="2000" dirty="0" smtClean="0"/>
              <a:t>.</a:t>
            </a:r>
            <a:r>
              <a:rPr lang="en-US" altLang="zh-CN" sz="2000" dirty="0"/>
              <a:t>6</a:t>
            </a:r>
            <a:r>
              <a:rPr lang="en-US" altLang="zh-CN" sz="2000" dirty="0" smtClean="0"/>
              <a:t>  </a:t>
            </a:r>
            <a:r>
              <a:rPr lang="zh-CN" altLang="en-US" sz="2000" dirty="0" smtClean="0"/>
              <a:t>数据验收</a:t>
            </a:r>
            <a:endParaRPr lang="zh-CN" altLang="en-US" sz="2000" dirty="0"/>
          </a:p>
        </p:txBody>
      </p:sp>
      <p:sp>
        <p:nvSpPr>
          <p:cNvPr id="7" name="TextBox 6"/>
          <p:cNvSpPr txBox="1"/>
          <p:nvPr/>
        </p:nvSpPr>
        <p:spPr>
          <a:xfrm>
            <a:off x="25461" y="152805"/>
            <a:ext cx="6438394" cy="738664"/>
          </a:xfrm>
          <a:prstGeom prst="rect">
            <a:avLst/>
          </a:prstGeom>
          <a:noFill/>
        </p:spPr>
        <p:txBody>
          <a:bodyPr wrap="square" rtlCol="0">
            <a:spAutoFit/>
          </a:bodyPr>
          <a:lstStyle/>
          <a:p>
            <a:r>
              <a:rPr lang="en-US" altLang="zh-CN" sz="2100" b="1" spc="225" dirty="0">
                <a:solidFill>
                  <a:prstClr val="white"/>
                </a:solidFill>
              </a:rPr>
              <a:t>2.5</a:t>
            </a:r>
            <a:r>
              <a:rPr lang="zh-CN" altLang="en-US" sz="2100" b="1" spc="225" dirty="0">
                <a:solidFill>
                  <a:prstClr val="white"/>
                </a:solidFill>
              </a:rPr>
              <a:t>  数据标注工程</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spTree>
  </p:cSld>
  <p:clrMapOvr>
    <a:masterClrMapping/>
  </p:clrMapOvr>
  <p:transition>
    <p:fade/>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p:cNvGrpSpPr/>
          <p:nvPr/>
        </p:nvGrpSpPr>
        <p:grpSpPr>
          <a:xfrm>
            <a:off x="690258" y="854039"/>
            <a:ext cx="7832785" cy="781050"/>
            <a:chOff x="2788580" y="1152524"/>
            <a:chExt cx="3730770" cy="781050"/>
          </a:xfrm>
        </p:grpSpPr>
        <p:grpSp>
          <p:nvGrpSpPr>
            <p:cNvPr id="6" name="组合 5"/>
            <p:cNvGrpSpPr/>
            <p:nvPr/>
          </p:nvGrpSpPr>
          <p:grpSpPr>
            <a:xfrm>
              <a:off x="2788580" y="1152524"/>
              <a:ext cx="3730770" cy="781050"/>
              <a:chOff x="3725790" y="847725"/>
              <a:chExt cx="3730770" cy="781050"/>
            </a:xfrm>
          </p:grpSpPr>
          <p:grpSp>
            <p:nvGrpSpPr>
              <p:cNvPr id="7" name="组合 6"/>
              <p:cNvGrpSpPr/>
              <p:nvPr/>
            </p:nvGrpSpPr>
            <p:grpSpPr>
              <a:xfrm>
                <a:off x="3725790" y="1019175"/>
                <a:ext cx="627135" cy="609600"/>
                <a:chOff x="3725790" y="1019175"/>
                <a:chExt cx="627135" cy="609600"/>
              </a:xfrm>
            </p:grpSpPr>
            <p:sp>
              <p:nvSpPr>
                <p:cNvPr id="12" name="任意多边形 11"/>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3" name="直角三角形 12"/>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8" name="组合 7"/>
              <p:cNvGrpSpPr/>
              <p:nvPr/>
            </p:nvGrpSpPr>
            <p:grpSpPr>
              <a:xfrm flipH="1">
                <a:off x="6829425" y="1019175"/>
                <a:ext cx="627135" cy="609600"/>
                <a:chOff x="3725790" y="1019175"/>
                <a:chExt cx="627135" cy="609600"/>
              </a:xfrm>
            </p:grpSpPr>
            <p:sp>
              <p:nvSpPr>
                <p:cNvPr id="10" name="任意多边形 9"/>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直角三角形 10"/>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9" name="矩形 8"/>
              <p:cNvSpPr/>
              <p:nvPr/>
            </p:nvSpPr>
            <p:spPr>
              <a:xfrm>
                <a:off x="4181475" y="847725"/>
                <a:ext cx="2819400"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14" name="文本框 14"/>
            <p:cNvSpPr txBox="1"/>
            <p:nvPr/>
          </p:nvSpPr>
          <p:spPr>
            <a:xfrm>
              <a:off x="3247868" y="1169836"/>
              <a:ext cx="2753382" cy="523220"/>
            </a:xfrm>
            <a:prstGeom prst="rect">
              <a:avLst/>
            </a:prstGeom>
            <a:noFill/>
          </p:spPr>
          <p:txBody>
            <a:bodyPr wrap="none" rtlCol="0">
              <a:spAutoFit/>
            </a:bodyPr>
            <a:lstStyle/>
            <a:p>
              <a:pPr algn="ctr"/>
              <a:r>
                <a:rPr lang="zh-CN" altLang="en-US" sz="2800" dirty="0" smtClean="0">
                  <a:solidFill>
                    <a:srgbClr val="FFC000"/>
                  </a:solidFill>
                </a:rPr>
                <a:t>第</a:t>
              </a:r>
              <a:r>
                <a:rPr lang="en-US" altLang="zh-CN" sz="2800" dirty="0">
                  <a:solidFill>
                    <a:srgbClr val="FFC000"/>
                  </a:solidFill>
                </a:rPr>
                <a:t>2</a:t>
              </a:r>
              <a:r>
                <a:rPr lang="zh-CN" altLang="en-US" sz="2800" dirty="0" smtClean="0">
                  <a:solidFill>
                    <a:srgbClr val="FFC000"/>
                  </a:solidFill>
                </a:rPr>
                <a:t>章　数据标注概念、工具与方法</a:t>
              </a:r>
              <a:endParaRPr lang="zh-CN" altLang="en-US" sz="2800" dirty="0" smtClean="0">
                <a:solidFill>
                  <a:srgbClr val="FFC000"/>
                </a:solidFill>
              </a:endParaRPr>
            </a:p>
          </p:txBody>
        </p:sp>
      </p:grpSp>
      <p:sp>
        <p:nvSpPr>
          <p:cNvPr id="48" name="矩形 47"/>
          <p:cNvSpPr/>
          <p:nvPr/>
        </p:nvSpPr>
        <p:spPr>
          <a:xfrm>
            <a:off x="1485903" y="2160000"/>
            <a:ext cx="184731" cy="415498"/>
          </a:xfrm>
          <a:prstGeom prst="rect">
            <a:avLst/>
          </a:prstGeom>
        </p:spPr>
        <p:txBody>
          <a:bodyPr wrap="none">
            <a:spAutoFit/>
          </a:bodyPr>
          <a:lstStyle/>
          <a:p>
            <a:endParaRPr lang="zh-CN" altLang="en-US" sz="2100" spc="225" dirty="0" smtClean="0">
              <a:solidFill>
                <a:schemeClr val="bg1"/>
              </a:solidFill>
            </a:endParaRPr>
          </a:p>
        </p:txBody>
      </p:sp>
      <p:sp>
        <p:nvSpPr>
          <p:cNvPr id="49" name="圆角矩形 48"/>
          <p:cNvSpPr/>
          <p:nvPr/>
        </p:nvSpPr>
        <p:spPr>
          <a:xfrm>
            <a:off x="1414394" y="2183191"/>
            <a:ext cx="6315212"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a:solidFill>
                  <a:schemeClr val="bg1"/>
                </a:solidFill>
              </a:rPr>
              <a:t>2.1 </a:t>
            </a:r>
            <a:r>
              <a:rPr lang="zh-CN" altLang="zh-CN" sz="2000" spc="225" dirty="0">
                <a:solidFill>
                  <a:schemeClr val="bg1"/>
                </a:solidFill>
              </a:rPr>
              <a:t>数据标注的概念及其对人工智能发展的意义</a:t>
            </a:r>
            <a:r>
              <a:rPr lang="en-US" altLang="zh-CN" sz="2000" spc="225" dirty="0">
                <a:solidFill>
                  <a:schemeClr val="bg1"/>
                </a:solidFill>
              </a:rPr>
              <a:t> </a:t>
            </a:r>
            <a:endParaRPr lang="zh-CN" altLang="en-US" sz="2000" spc="225" dirty="0">
              <a:solidFill>
                <a:schemeClr val="bg1"/>
              </a:solidFill>
            </a:endParaRPr>
          </a:p>
        </p:txBody>
      </p:sp>
      <p:sp>
        <p:nvSpPr>
          <p:cNvPr id="32" name="矩形 31"/>
          <p:cNvSpPr/>
          <p:nvPr/>
        </p:nvSpPr>
        <p:spPr>
          <a:xfrm>
            <a:off x="-7143" y="-9147"/>
            <a:ext cx="9158090" cy="3821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36" name="矩形 35"/>
          <p:cNvSpPr/>
          <p:nvPr/>
        </p:nvSpPr>
        <p:spPr>
          <a:xfrm>
            <a:off x="0" y="6669360"/>
            <a:ext cx="9144000" cy="1886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5" name="矩形 44"/>
          <p:cNvSpPr/>
          <p:nvPr/>
        </p:nvSpPr>
        <p:spPr>
          <a:xfrm>
            <a:off x="7929" y="38314"/>
            <a:ext cx="2954655" cy="300082"/>
          </a:xfrm>
          <a:prstGeom prst="rect">
            <a:avLst/>
          </a:prstGeom>
        </p:spPr>
        <p:txBody>
          <a:bodyPr wrap="none">
            <a:spAutoFit/>
          </a:bodyPr>
          <a:lstStyle/>
          <a:p>
            <a:r>
              <a:rPr lang="zh-CN" altLang="en-US" sz="1350" dirty="0">
                <a:solidFill>
                  <a:prstClr val="white"/>
                </a:solidFill>
              </a:rPr>
              <a:t>人工智能技术应用核心课程系列教材</a:t>
            </a:r>
            <a:endParaRPr lang="zh-CN" altLang="en-US" sz="1350" dirty="0">
              <a:solidFill>
                <a:prstClr val="white"/>
              </a:solidFill>
            </a:endParaRPr>
          </a:p>
        </p:txBody>
      </p:sp>
      <p:sp>
        <p:nvSpPr>
          <p:cNvPr id="2" name="圆角矩形 1"/>
          <p:cNvSpPr/>
          <p:nvPr/>
        </p:nvSpPr>
        <p:spPr>
          <a:xfrm>
            <a:off x="1383765" y="4539894"/>
            <a:ext cx="6315213" cy="415498"/>
          </a:xfrm>
          <a:prstGeom prst="round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spc="225" dirty="0">
                <a:solidFill>
                  <a:schemeClr val="bg1"/>
                </a:solidFill>
              </a:rPr>
              <a:t>2.6 </a:t>
            </a:r>
            <a:r>
              <a:rPr lang="zh-CN" altLang="en-US" sz="2000" spc="225" dirty="0">
                <a:solidFill>
                  <a:schemeClr val="bg1"/>
                </a:solidFill>
              </a:rPr>
              <a:t>本章小结 </a:t>
            </a:r>
            <a:endParaRPr lang="zh-CN" altLang="en-US" sz="2000" spc="225" dirty="0">
              <a:solidFill>
                <a:schemeClr val="bg1"/>
              </a:solidFill>
            </a:endParaRPr>
          </a:p>
        </p:txBody>
      </p:sp>
      <p:sp>
        <p:nvSpPr>
          <p:cNvPr id="40" name="圆角矩形 39"/>
          <p:cNvSpPr/>
          <p:nvPr/>
        </p:nvSpPr>
        <p:spPr>
          <a:xfrm>
            <a:off x="1414923" y="2649765"/>
            <a:ext cx="6315212"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a:solidFill>
                  <a:schemeClr val="bg1"/>
                </a:solidFill>
              </a:rPr>
              <a:t>2.2 </a:t>
            </a:r>
            <a:r>
              <a:rPr lang="zh-CN" altLang="en-US" sz="2000" spc="225" dirty="0">
                <a:solidFill>
                  <a:schemeClr val="bg1"/>
                </a:solidFill>
              </a:rPr>
              <a:t>数据标注对象</a:t>
            </a:r>
            <a:endParaRPr lang="zh-CN" altLang="en-US" sz="2000" spc="225" dirty="0">
              <a:solidFill>
                <a:schemeClr val="bg1"/>
              </a:solidFill>
            </a:endParaRPr>
          </a:p>
        </p:txBody>
      </p:sp>
      <p:sp>
        <p:nvSpPr>
          <p:cNvPr id="41" name="圆角矩形 40"/>
          <p:cNvSpPr/>
          <p:nvPr/>
        </p:nvSpPr>
        <p:spPr>
          <a:xfrm>
            <a:off x="1403072" y="3117891"/>
            <a:ext cx="6315212"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a:solidFill>
                  <a:schemeClr val="bg1"/>
                </a:solidFill>
              </a:rPr>
              <a:t>2.3 </a:t>
            </a:r>
            <a:r>
              <a:rPr lang="zh-CN" altLang="en-US" sz="2000" spc="225" dirty="0">
                <a:solidFill>
                  <a:schemeClr val="bg1"/>
                </a:solidFill>
              </a:rPr>
              <a:t>数据标注工具与平台</a:t>
            </a:r>
            <a:endParaRPr lang="zh-CN" altLang="en-US" sz="2000" spc="225" dirty="0">
              <a:solidFill>
                <a:schemeClr val="bg1"/>
              </a:solidFill>
            </a:endParaRPr>
          </a:p>
        </p:txBody>
      </p:sp>
      <p:sp>
        <p:nvSpPr>
          <p:cNvPr id="44" name="圆角矩形 43"/>
          <p:cNvSpPr/>
          <p:nvPr/>
        </p:nvSpPr>
        <p:spPr>
          <a:xfrm>
            <a:off x="1400637" y="3585683"/>
            <a:ext cx="6311995"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a:solidFill>
                  <a:schemeClr val="bg1"/>
                </a:solidFill>
              </a:rPr>
              <a:t>2.4 </a:t>
            </a:r>
            <a:r>
              <a:rPr lang="zh-CN" altLang="en-US" sz="2000" spc="225" dirty="0">
                <a:solidFill>
                  <a:schemeClr val="bg1"/>
                </a:solidFill>
              </a:rPr>
              <a:t>典型数据标注技术</a:t>
            </a:r>
            <a:endParaRPr lang="zh-CN" altLang="en-US" sz="2000" spc="225" dirty="0">
              <a:solidFill>
                <a:schemeClr val="bg1"/>
              </a:solidFill>
            </a:endParaRPr>
          </a:p>
        </p:txBody>
      </p:sp>
      <p:sp>
        <p:nvSpPr>
          <p:cNvPr id="21" name="圆角矩形 20"/>
          <p:cNvSpPr/>
          <p:nvPr/>
        </p:nvSpPr>
        <p:spPr>
          <a:xfrm>
            <a:off x="1383765" y="5044468"/>
            <a:ext cx="6311995"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a:solidFill>
                  <a:schemeClr val="bg1"/>
                </a:solidFill>
              </a:rPr>
              <a:t>2.7 </a:t>
            </a:r>
            <a:r>
              <a:rPr lang="zh-CN" altLang="en-US" sz="2000" spc="225" dirty="0">
                <a:solidFill>
                  <a:schemeClr val="bg1"/>
                </a:solidFill>
              </a:rPr>
              <a:t>作业与练习 </a:t>
            </a:r>
            <a:endParaRPr lang="zh-CN" altLang="en-US" sz="2000" spc="225" dirty="0">
              <a:solidFill>
                <a:schemeClr val="bg1"/>
              </a:solidFill>
            </a:endParaRPr>
          </a:p>
        </p:txBody>
      </p:sp>
      <p:sp>
        <p:nvSpPr>
          <p:cNvPr id="22" name="圆角矩形 21"/>
          <p:cNvSpPr/>
          <p:nvPr/>
        </p:nvSpPr>
        <p:spPr>
          <a:xfrm>
            <a:off x="1388405" y="4064115"/>
            <a:ext cx="6311995"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a:solidFill>
                  <a:schemeClr val="bg1"/>
                </a:solidFill>
              </a:rPr>
              <a:t>2.5 </a:t>
            </a:r>
            <a:r>
              <a:rPr lang="zh-CN" altLang="en-US" sz="2000" spc="225" dirty="0">
                <a:solidFill>
                  <a:schemeClr val="bg1"/>
                </a:solidFill>
              </a:rPr>
              <a:t>数据标注工程 </a:t>
            </a:r>
            <a:endParaRPr lang="zh-CN" altLang="en-US" sz="2000" spc="225" dirty="0">
              <a:solidFill>
                <a:schemeClr val="bg1"/>
              </a:solidFill>
            </a:endParaRPr>
          </a:p>
        </p:txBody>
      </p:sp>
    </p:spTree>
  </p:cSld>
  <p:clrMapOvr>
    <a:masterClrMapping/>
  </p:clrMapOvr>
  <p:transition>
    <p:fade/>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7"/>
          <p:cNvSpPr>
            <a:spLocks noGrp="1"/>
          </p:cNvSpPr>
          <p:nvPr>
            <p:ph type="body" sz="quarter" idx="13"/>
          </p:nvPr>
        </p:nvSpPr>
        <p:spPr>
          <a:xfrm>
            <a:off x="478896" y="3001108"/>
            <a:ext cx="8185830" cy="3774830"/>
          </a:xfrm>
        </p:spPr>
        <p:txBody>
          <a:bodyPr>
            <a:normAutofit/>
          </a:bodyPr>
          <a:lstStyle/>
          <a:p>
            <a:pPr>
              <a:lnSpc>
                <a:spcPct val="120000"/>
              </a:lnSpc>
            </a:pPr>
            <a:r>
              <a:rPr lang="zh-CN" altLang="en-US" sz="1800" b="0" dirty="0">
                <a:solidFill>
                  <a:schemeClr val="tx1">
                    <a:lumMod val="75000"/>
                    <a:lumOff val="25000"/>
                  </a:schemeClr>
                </a:solidFill>
              </a:rPr>
              <a:t>本章第一节从数据标注对人工智能的重要性和必要性开始论述；第二、三、四则介绍数据标注对象</a:t>
            </a:r>
            <a:r>
              <a:rPr lang="en-US" altLang="zh-CN" sz="1800" b="0" dirty="0">
                <a:solidFill>
                  <a:schemeClr val="tx1">
                    <a:lumMod val="75000"/>
                    <a:lumOff val="25000"/>
                  </a:schemeClr>
                </a:solidFill>
              </a:rPr>
              <a:t>——</a:t>
            </a:r>
            <a:r>
              <a:rPr lang="zh-CN" altLang="en-US" sz="1800" b="0" dirty="0">
                <a:solidFill>
                  <a:schemeClr val="tx1">
                    <a:lumMod val="75000"/>
                    <a:lumOff val="25000"/>
                  </a:schemeClr>
                </a:solidFill>
              </a:rPr>
              <a:t>数据集、数据标注工具、数据标注技术；第五节介绍数据标注流程。使读者全面了解数据标注方法和过程。</a:t>
            </a:r>
            <a:endParaRPr lang="en-US" altLang="zh-CN" sz="1800" b="0" dirty="0" smtClean="0">
              <a:solidFill>
                <a:schemeClr val="tx1">
                  <a:lumMod val="75000"/>
                  <a:lumOff val="25000"/>
                </a:schemeClr>
              </a:solidFill>
            </a:endParaRPr>
          </a:p>
        </p:txBody>
      </p:sp>
      <p:sp>
        <p:nvSpPr>
          <p:cNvPr id="7" name="TextBox 6"/>
          <p:cNvSpPr txBox="1"/>
          <p:nvPr/>
        </p:nvSpPr>
        <p:spPr>
          <a:xfrm>
            <a:off x="25461" y="152805"/>
            <a:ext cx="6438394" cy="738664"/>
          </a:xfrm>
          <a:prstGeom prst="rect">
            <a:avLst/>
          </a:prstGeom>
          <a:noFill/>
        </p:spPr>
        <p:txBody>
          <a:bodyPr wrap="square" rtlCol="0">
            <a:spAutoFit/>
          </a:bodyPr>
          <a:lstStyle/>
          <a:p>
            <a:r>
              <a:rPr lang="en-US" altLang="zh-CN" sz="2100" b="1" spc="225" dirty="0" smtClean="0">
                <a:solidFill>
                  <a:prstClr val="white"/>
                </a:solidFill>
              </a:rPr>
              <a:t>2.6</a:t>
            </a:r>
            <a:r>
              <a:rPr lang="zh-CN" altLang="en-US" sz="2100" b="1" spc="225" dirty="0" smtClean="0">
                <a:solidFill>
                  <a:prstClr val="white"/>
                </a:solidFill>
              </a:rPr>
              <a:t>  本章小结</a:t>
            </a:r>
            <a:endParaRPr lang="zh-CN" altLang="en-US" sz="2100" b="1" spc="225" dirty="0">
              <a:solidFill>
                <a:prstClr val="white"/>
              </a:solidFill>
            </a:endParaRPr>
          </a:p>
          <a:p>
            <a:endParaRPr lang="zh-CN" altLang="en-US" sz="2100" b="1" spc="225" dirty="0">
              <a:solidFill>
                <a:prstClr val="white"/>
              </a:solidFill>
            </a:endParaRPr>
          </a:p>
        </p:txBody>
      </p:sp>
      <p:sp>
        <p:nvSpPr>
          <p:cNvPr id="8" name="TextBox 7"/>
          <p:cNvSpPr txBox="1"/>
          <p:nvPr/>
        </p:nvSpPr>
        <p:spPr>
          <a:xfrm>
            <a:off x="6523891" y="176174"/>
            <a:ext cx="2620109" cy="509370"/>
          </a:xfrm>
          <a:prstGeom prst="rect">
            <a:avLst/>
          </a:prstGeom>
          <a:noFill/>
        </p:spPr>
        <p:txBody>
          <a:bodyPr wrap="square" rtlCol="0">
            <a:spAutoFit/>
          </a:bodyPr>
          <a:lstStyle/>
          <a:p>
            <a:pPr algn="ctr"/>
            <a:r>
              <a:rPr lang="zh-CN" altLang="en-US" sz="1355" dirty="0" smtClean="0">
                <a:solidFill>
                  <a:prstClr val="white"/>
                </a:solidFill>
              </a:rPr>
              <a:t>第</a:t>
            </a:r>
            <a:r>
              <a:rPr lang="en-US" altLang="zh-CN" sz="1355" dirty="0" smtClean="0">
                <a:solidFill>
                  <a:prstClr val="white"/>
                </a:solidFill>
              </a:rPr>
              <a:t>2</a:t>
            </a:r>
            <a:r>
              <a:rPr lang="zh-CN" altLang="en-US" sz="1355" dirty="0">
                <a:solidFill>
                  <a:prstClr val="white"/>
                </a:solidFill>
              </a:rPr>
              <a:t>章　数据标注概念、工具与方法</a:t>
            </a:r>
            <a:endParaRPr lang="zh-CN" altLang="en-US" sz="1355" dirty="0">
              <a:solidFill>
                <a:prstClr val="white"/>
              </a:solidFill>
            </a:endParaRPr>
          </a:p>
        </p:txBody>
      </p:sp>
    </p:spTree>
  </p:cSld>
  <p:clrMapOvr>
    <a:masterClrMapping/>
  </p:clrMapOvr>
  <p:transition>
    <p:fade/>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p:cNvGrpSpPr/>
          <p:nvPr/>
        </p:nvGrpSpPr>
        <p:grpSpPr>
          <a:xfrm>
            <a:off x="690258" y="854039"/>
            <a:ext cx="7832785" cy="781050"/>
            <a:chOff x="2788580" y="1152524"/>
            <a:chExt cx="3730770" cy="781050"/>
          </a:xfrm>
        </p:grpSpPr>
        <p:grpSp>
          <p:nvGrpSpPr>
            <p:cNvPr id="6" name="组合 5"/>
            <p:cNvGrpSpPr/>
            <p:nvPr/>
          </p:nvGrpSpPr>
          <p:grpSpPr>
            <a:xfrm>
              <a:off x="2788580" y="1152524"/>
              <a:ext cx="3730770" cy="781050"/>
              <a:chOff x="3725790" y="847725"/>
              <a:chExt cx="3730770" cy="781050"/>
            </a:xfrm>
          </p:grpSpPr>
          <p:grpSp>
            <p:nvGrpSpPr>
              <p:cNvPr id="7" name="组合 6"/>
              <p:cNvGrpSpPr/>
              <p:nvPr/>
            </p:nvGrpSpPr>
            <p:grpSpPr>
              <a:xfrm>
                <a:off x="3725790" y="1019175"/>
                <a:ext cx="627135" cy="609600"/>
                <a:chOff x="3725790" y="1019175"/>
                <a:chExt cx="627135" cy="609600"/>
              </a:xfrm>
            </p:grpSpPr>
            <p:sp>
              <p:nvSpPr>
                <p:cNvPr id="12" name="任意多边形 11"/>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3" name="直角三角形 12"/>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8" name="组合 7"/>
              <p:cNvGrpSpPr/>
              <p:nvPr/>
            </p:nvGrpSpPr>
            <p:grpSpPr>
              <a:xfrm flipH="1">
                <a:off x="6829425" y="1019175"/>
                <a:ext cx="627135" cy="609600"/>
                <a:chOff x="3725790" y="1019175"/>
                <a:chExt cx="627135" cy="609600"/>
              </a:xfrm>
            </p:grpSpPr>
            <p:sp>
              <p:nvSpPr>
                <p:cNvPr id="10" name="任意多边形 9"/>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直角三角形 10"/>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9" name="矩形 8"/>
              <p:cNvSpPr/>
              <p:nvPr/>
            </p:nvSpPr>
            <p:spPr>
              <a:xfrm>
                <a:off x="4181475" y="847725"/>
                <a:ext cx="2819400"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14" name="文本框 14"/>
            <p:cNvSpPr txBox="1"/>
            <p:nvPr/>
          </p:nvSpPr>
          <p:spPr>
            <a:xfrm>
              <a:off x="3247868" y="1169836"/>
              <a:ext cx="2753382" cy="523220"/>
            </a:xfrm>
            <a:prstGeom prst="rect">
              <a:avLst/>
            </a:prstGeom>
            <a:noFill/>
          </p:spPr>
          <p:txBody>
            <a:bodyPr wrap="none" rtlCol="0">
              <a:spAutoFit/>
            </a:bodyPr>
            <a:lstStyle/>
            <a:p>
              <a:pPr algn="ctr"/>
              <a:r>
                <a:rPr lang="zh-CN" altLang="en-US" sz="2800" dirty="0" smtClean="0">
                  <a:solidFill>
                    <a:srgbClr val="FFC000"/>
                  </a:solidFill>
                </a:rPr>
                <a:t>第</a:t>
              </a:r>
              <a:r>
                <a:rPr lang="en-US" altLang="zh-CN" sz="2800" dirty="0">
                  <a:solidFill>
                    <a:srgbClr val="FFC000"/>
                  </a:solidFill>
                </a:rPr>
                <a:t>2</a:t>
              </a:r>
              <a:r>
                <a:rPr lang="zh-CN" altLang="en-US" sz="2800" dirty="0" smtClean="0">
                  <a:solidFill>
                    <a:srgbClr val="FFC000"/>
                  </a:solidFill>
                </a:rPr>
                <a:t>章　数据标注概念、工具与方法</a:t>
              </a:r>
              <a:endParaRPr lang="zh-CN" altLang="en-US" sz="2800" dirty="0" smtClean="0">
                <a:solidFill>
                  <a:srgbClr val="FFC000"/>
                </a:solidFill>
              </a:endParaRPr>
            </a:p>
          </p:txBody>
        </p:sp>
      </p:grpSp>
      <p:sp>
        <p:nvSpPr>
          <p:cNvPr id="48" name="矩形 47"/>
          <p:cNvSpPr/>
          <p:nvPr/>
        </p:nvSpPr>
        <p:spPr>
          <a:xfrm>
            <a:off x="1485903" y="2160000"/>
            <a:ext cx="184731" cy="415498"/>
          </a:xfrm>
          <a:prstGeom prst="rect">
            <a:avLst/>
          </a:prstGeom>
        </p:spPr>
        <p:txBody>
          <a:bodyPr wrap="none">
            <a:spAutoFit/>
          </a:bodyPr>
          <a:lstStyle/>
          <a:p>
            <a:endParaRPr lang="zh-CN" altLang="en-US" sz="2100" spc="225" dirty="0" smtClean="0">
              <a:solidFill>
                <a:schemeClr val="bg1"/>
              </a:solidFill>
            </a:endParaRPr>
          </a:p>
        </p:txBody>
      </p:sp>
      <p:sp>
        <p:nvSpPr>
          <p:cNvPr id="49" name="圆角矩形 48"/>
          <p:cNvSpPr/>
          <p:nvPr/>
        </p:nvSpPr>
        <p:spPr>
          <a:xfrm>
            <a:off x="1414394" y="2183191"/>
            <a:ext cx="6315212"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a:solidFill>
                  <a:schemeClr val="bg1"/>
                </a:solidFill>
              </a:rPr>
              <a:t>2.1 </a:t>
            </a:r>
            <a:r>
              <a:rPr lang="zh-CN" altLang="zh-CN" sz="2000" spc="225" dirty="0">
                <a:solidFill>
                  <a:schemeClr val="bg1"/>
                </a:solidFill>
              </a:rPr>
              <a:t>数据标注的概念及其对人工智能发展的意义</a:t>
            </a:r>
            <a:r>
              <a:rPr lang="en-US" altLang="zh-CN" sz="2000" spc="225" dirty="0">
                <a:solidFill>
                  <a:schemeClr val="bg1"/>
                </a:solidFill>
              </a:rPr>
              <a:t> </a:t>
            </a:r>
            <a:endParaRPr lang="zh-CN" altLang="en-US" sz="2000" spc="225" dirty="0">
              <a:solidFill>
                <a:schemeClr val="bg1"/>
              </a:solidFill>
            </a:endParaRPr>
          </a:p>
        </p:txBody>
      </p:sp>
      <p:sp>
        <p:nvSpPr>
          <p:cNvPr id="32" name="矩形 31"/>
          <p:cNvSpPr/>
          <p:nvPr/>
        </p:nvSpPr>
        <p:spPr>
          <a:xfrm>
            <a:off x="-7143" y="-9147"/>
            <a:ext cx="9158090" cy="3821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36" name="矩形 35"/>
          <p:cNvSpPr/>
          <p:nvPr/>
        </p:nvSpPr>
        <p:spPr>
          <a:xfrm>
            <a:off x="0" y="6669360"/>
            <a:ext cx="9144000" cy="1886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5" name="矩形 44"/>
          <p:cNvSpPr/>
          <p:nvPr/>
        </p:nvSpPr>
        <p:spPr>
          <a:xfrm>
            <a:off x="7929" y="38314"/>
            <a:ext cx="2954655" cy="300082"/>
          </a:xfrm>
          <a:prstGeom prst="rect">
            <a:avLst/>
          </a:prstGeom>
        </p:spPr>
        <p:txBody>
          <a:bodyPr wrap="none">
            <a:spAutoFit/>
          </a:bodyPr>
          <a:lstStyle/>
          <a:p>
            <a:r>
              <a:rPr lang="zh-CN" altLang="en-US" sz="1350" dirty="0">
                <a:solidFill>
                  <a:prstClr val="white"/>
                </a:solidFill>
              </a:rPr>
              <a:t>人工智能技术应用核心课程系列教材</a:t>
            </a:r>
            <a:endParaRPr lang="zh-CN" altLang="en-US" sz="1350" dirty="0">
              <a:solidFill>
                <a:prstClr val="white"/>
              </a:solidFill>
            </a:endParaRPr>
          </a:p>
        </p:txBody>
      </p:sp>
      <p:sp>
        <p:nvSpPr>
          <p:cNvPr id="2" name="圆角矩形 1"/>
          <p:cNvSpPr/>
          <p:nvPr/>
        </p:nvSpPr>
        <p:spPr>
          <a:xfrm>
            <a:off x="1385187" y="5023237"/>
            <a:ext cx="6315213" cy="415498"/>
          </a:xfrm>
          <a:prstGeom prst="round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spc="225" dirty="0">
                <a:solidFill>
                  <a:schemeClr val="bg1"/>
                </a:solidFill>
              </a:rPr>
              <a:t>2.7 </a:t>
            </a:r>
            <a:r>
              <a:rPr lang="zh-CN" altLang="en-US" sz="2000" spc="225" dirty="0">
                <a:solidFill>
                  <a:schemeClr val="bg1"/>
                </a:solidFill>
              </a:rPr>
              <a:t>作业与练习 </a:t>
            </a:r>
            <a:endParaRPr lang="zh-CN" altLang="en-US" sz="2000" spc="225" dirty="0">
              <a:solidFill>
                <a:schemeClr val="bg1"/>
              </a:solidFill>
            </a:endParaRPr>
          </a:p>
        </p:txBody>
      </p:sp>
      <p:sp>
        <p:nvSpPr>
          <p:cNvPr id="40" name="圆角矩形 39"/>
          <p:cNvSpPr/>
          <p:nvPr/>
        </p:nvSpPr>
        <p:spPr>
          <a:xfrm>
            <a:off x="1414923" y="2649765"/>
            <a:ext cx="6315212"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a:solidFill>
                  <a:schemeClr val="bg1"/>
                </a:solidFill>
              </a:rPr>
              <a:t>2.2 </a:t>
            </a:r>
            <a:r>
              <a:rPr lang="zh-CN" altLang="en-US" sz="2000" spc="225" dirty="0">
                <a:solidFill>
                  <a:schemeClr val="bg1"/>
                </a:solidFill>
              </a:rPr>
              <a:t>数据标注对象</a:t>
            </a:r>
            <a:endParaRPr lang="zh-CN" altLang="en-US" sz="2000" spc="225" dirty="0">
              <a:solidFill>
                <a:schemeClr val="bg1"/>
              </a:solidFill>
            </a:endParaRPr>
          </a:p>
        </p:txBody>
      </p:sp>
      <p:sp>
        <p:nvSpPr>
          <p:cNvPr id="41" name="圆角矩形 40"/>
          <p:cNvSpPr/>
          <p:nvPr/>
        </p:nvSpPr>
        <p:spPr>
          <a:xfrm>
            <a:off x="1403072" y="3117891"/>
            <a:ext cx="6315212"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a:solidFill>
                  <a:schemeClr val="bg1"/>
                </a:solidFill>
              </a:rPr>
              <a:t>2.3 </a:t>
            </a:r>
            <a:r>
              <a:rPr lang="zh-CN" altLang="en-US" sz="2000" spc="225" dirty="0">
                <a:solidFill>
                  <a:schemeClr val="bg1"/>
                </a:solidFill>
              </a:rPr>
              <a:t>数据标注工具与平台</a:t>
            </a:r>
            <a:endParaRPr lang="zh-CN" altLang="en-US" sz="2000" spc="225" dirty="0">
              <a:solidFill>
                <a:schemeClr val="bg1"/>
              </a:solidFill>
            </a:endParaRPr>
          </a:p>
        </p:txBody>
      </p:sp>
      <p:sp>
        <p:nvSpPr>
          <p:cNvPr id="44" name="圆角矩形 43"/>
          <p:cNvSpPr/>
          <p:nvPr/>
        </p:nvSpPr>
        <p:spPr>
          <a:xfrm>
            <a:off x="1400637" y="3585683"/>
            <a:ext cx="6311995"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a:solidFill>
                  <a:schemeClr val="bg1"/>
                </a:solidFill>
              </a:rPr>
              <a:t>2.4 </a:t>
            </a:r>
            <a:r>
              <a:rPr lang="zh-CN" altLang="en-US" sz="2000" spc="225" dirty="0">
                <a:solidFill>
                  <a:schemeClr val="bg1"/>
                </a:solidFill>
              </a:rPr>
              <a:t>典型数据标注技术</a:t>
            </a:r>
            <a:endParaRPr lang="zh-CN" altLang="en-US" sz="2000" spc="225" dirty="0">
              <a:solidFill>
                <a:schemeClr val="bg1"/>
              </a:solidFill>
            </a:endParaRPr>
          </a:p>
        </p:txBody>
      </p:sp>
      <p:sp>
        <p:nvSpPr>
          <p:cNvPr id="21" name="圆角矩形 20"/>
          <p:cNvSpPr/>
          <p:nvPr/>
        </p:nvSpPr>
        <p:spPr>
          <a:xfrm>
            <a:off x="1395894" y="4540376"/>
            <a:ext cx="6311995"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smtClean="0">
                <a:solidFill>
                  <a:schemeClr val="bg1"/>
                </a:solidFill>
              </a:rPr>
              <a:t>2.6 </a:t>
            </a:r>
            <a:r>
              <a:rPr lang="zh-CN" altLang="en-US" sz="2000" spc="225" dirty="0" smtClean="0">
                <a:solidFill>
                  <a:schemeClr val="bg1"/>
                </a:solidFill>
              </a:rPr>
              <a:t>本章小结 </a:t>
            </a:r>
            <a:endParaRPr lang="zh-CN" altLang="en-US" sz="2000" spc="225" dirty="0">
              <a:solidFill>
                <a:schemeClr val="bg1"/>
              </a:solidFill>
            </a:endParaRPr>
          </a:p>
        </p:txBody>
      </p:sp>
      <p:sp>
        <p:nvSpPr>
          <p:cNvPr id="22" name="圆角矩形 21"/>
          <p:cNvSpPr/>
          <p:nvPr/>
        </p:nvSpPr>
        <p:spPr>
          <a:xfrm>
            <a:off x="1388405" y="4064115"/>
            <a:ext cx="6311995" cy="394200"/>
          </a:xfrm>
          <a:prstGeom prst="roundRect">
            <a:avLst>
              <a:gd name="adj" fmla="val 2065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en-US" altLang="zh-CN" sz="2000" spc="225" dirty="0">
                <a:solidFill>
                  <a:schemeClr val="bg1"/>
                </a:solidFill>
              </a:rPr>
              <a:t>2.5 </a:t>
            </a:r>
            <a:r>
              <a:rPr lang="zh-CN" altLang="en-US" sz="2000" spc="225" dirty="0">
                <a:solidFill>
                  <a:schemeClr val="bg1"/>
                </a:solidFill>
              </a:rPr>
              <a:t>数据标注工程 </a:t>
            </a:r>
            <a:endParaRPr lang="zh-CN" altLang="en-US" sz="2000" spc="225" dirty="0">
              <a:solidFill>
                <a:schemeClr val="bg1"/>
              </a:solidFill>
            </a:endParaRPr>
          </a:p>
        </p:txBody>
      </p:sp>
    </p:spTree>
  </p:cSld>
  <p:clrMapOvr>
    <a:masterClrMapping/>
  </p:clrMapOvr>
  <p:transition>
    <p:fade/>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 name="矩形 645"/>
          <p:cNvSpPr/>
          <p:nvPr/>
        </p:nvSpPr>
        <p:spPr>
          <a:xfrm>
            <a:off x="-14288" y="-22224"/>
            <a:ext cx="9169004" cy="688022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prstClr val="white"/>
              </a:solidFill>
            </a:endParaRPr>
          </a:p>
        </p:txBody>
      </p:sp>
      <p:sp>
        <p:nvSpPr>
          <p:cNvPr id="5" name="矩形 4"/>
          <p:cNvSpPr/>
          <p:nvPr/>
        </p:nvSpPr>
        <p:spPr>
          <a:xfrm>
            <a:off x="564073" y="1998178"/>
            <a:ext cx="7961879" cy="4654608"/>
          </a:xfrm>
          <a:prstGeom prst="rect">
            <a:avLst/>
          </a:prstGeom>
        </p:spPr>
        <p:txBody>
          <a:bodyPr wrap="square">
            <a:spAutoFit/>
          </a:bodyPr>
          <a:lstStyle/>
          <a:p>
            <a:pPr>
              <a:lnSpc>
                <a:spcPct val="150000"/>
              </a:lnSpc>
            </a:pPr>
            <a:r>
              <a:rPr lang="en-US" altLang="zh-CN"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．如何理解人工智能与数据标注的关系？</a:t>
            </a:r>
            <a:endParaRPr lang="zh-CN" altLang="en-US"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．什么是数据标注？</a:t>
            </a:r>
            <a:endParaRPr lang="zh-CN" altLang="en-US"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．数据标注的对象包含什么？</a:t>
            </a:r>
            <a:endParaRPr lang="zh-CN" altLang="en-US"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．数据标注工程包括哪些环节？</a:t>
            </a:r>
            <a:endParaRPr lang="zh-CN" altLang="en-US"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．数据标注都有哪些应用工具？</a:t>
            </a:r>
            <a:endParaRPr lang="zh-CN" altLang="en-US"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．数据标注工具有哪些应用场景？</a:t>
            </a:r>
            <a:endParaRPr lang="zh-CN" altLang="en-US"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．数据采集方法有哪些？</a:t>
            </a:r>
            <a:endParaRPr lang="zh-CN" altLang="en-US"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8</a:t>
            </a:r>
            <a:r>
              <a:rPr lang="zh-CN" altLang="en-US"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．数据标注环节包括哪些内容？</a:t>
            </a:r>
            <a:endParaRPr lang="zh-CN" altLang="en-US"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．语音标注涉及的技术有哪些？</a:t>
            </a:r>
            <a:endParaRPr lang="zh-CN" altLang="en-US"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．图像标注涉及的技术有哪些？ </a:t>
            </a:r>
            <a:endParaRPr lang="zh-CN" altLang="en-US" sz="2000" spc="225"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矩形 2"/>
          <p:cNvSpPr/>
          <p:nvPr/>
        </p:nvSpPr>
        <p:spPr>
          <a:xfrm>
            <a:off x="564072" y="1012685"/>
            <a:ext cx="1554480" cy="645160"/>
          </a:xfrm>
          <a:prstGeom prst="rect">
            <a:avLst/>
          </a:prstGeom>
        </p:spPr>
        <p:txBody>
          <a:bodyPr wrap="none">
            <a:spAutoFit/>
          </a:bodyPr>
          <a:lstStyle/>
          <a:p>
            <a:r>
              <a:rPr lang="zh-CN" altLang="en-US" sz="3600" b="1" dirty="0">
                <a:solidFill>
                  <a:srgbClr val="96C527"/>
                </a:solidFill>
              </a:rPr>
              <a:t>习题：</a:t>
            </a:r>
            <a:endParaRPr lang="zh-CN" altLang="en-US" sz="3600" b="1" dirty="0">
              <a:solidFill>
                <a:srgbClr val="96C527"/>
              </a:solidFill>
            </a:endParaRPr>
          </a:p>
        </p:txBody>
      </p:sp>
      <p:cxnSp>
        <p:nvCxnSpPr>
          <p:cNvPr id="6" name="直接连接符 5"/>
          <p:cNvCxnSpPr/>
          <p:nvPr/>
        </p:nvCxnSpPr>
        <p:spPr>
          <a:xfrm>
            <a:off x="564073" y="1615012"/>
            <a:ext cx="1523495" cy="0"/>
          </a:xfrm>
          <a:prstGeom prst="line">
            <a:avLst/>
          </a:prstGeom>
          <a:ln>
            <a:solidFill>
              <a:srgbClr val="96C527"/>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564073" y="1697007"/>
            <a:ext cx="9514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par>
    </p:tnLst>
  </p:timing>
</p:sld>
</file>

<file path=ppt/tags/tag1.xml><?xml version="1.0" encoding="utf-8"?>
<p:tagLst xmlns:p="http://schemas.openxmlformats.org/presentationml/2006/main">
  <p:tag name="KSO_WM_TAG_VERSION" val="1.0"/>
  <p:tag name="KSO_WM_TEMPLATE_CATEGORY" val="custom"/>
  <p:tag name="KSO_WM_TEMPLATE_INDEX" val="20184553"/>
</p:tagLst>
</file>

<file path=ppt/tags/tag2.xml><?xml version="1.0" encoding="utf-8"?>
<p:tagLst xmlns:p="http://schemas.openxmlformats.org/presentationml/2006/main">
  <p:tag name="KSO_WM_TAG_VERSION" val="1.0"/>
  <p:tag name="KSO_WM_TEMPLATE_CATEGORY" val="custom"/>
  <p:tag name="KSO_WM_TEMPLATE_INDEX" val="20184553"/>
</p:tagLst>
</file>

<file path=ppt/tags/tag3.xml><?xml version="1.0" encoding="utf-8"?>
<p:tagLst xmlns:p="http://schemas.openxmlformats.org/presentationml/2006/main">
  <p:tag name="KSO_WM_TEMPLATE_TOPIC_DEFAULT" val="1"/>
  <p:tag name="KSO_WM_TEMPLATE_JOB_ID" val="2"/>
  <p:tag name="KSO_WM_TEMPLATE_SCENE_ID" val="1"/>
  <p:tag name="KSO_WM_TEMPLATE_OUTLINE_ID" val="15"/>
  <p:tag name="KSO_WM_TEMPLATE_TOPIC_ID" val="2869567"/>
  <p:tag name="KSO_WM_BEAUTIFY_FLAG" val="#wm#"/>
  <p:tag name="KSO_WM_TAG_VERSION" val="1.0"/>
  <p:tag name="KSO_WM_TEMPLATE_INDEX" val="20184553"/>
  <p:tag name="KSO_WM_TEMPLATE_CATEGORY" val="custom"/>
  <p:tag name="KSO_WM_TEMPLATE_THUMBS_INDEX" val="1、6、10、14、20、26、27、28、29、31"/>
</p:tagLst>
</file>

<file path=ppt/tags/tag4.xml><?xml version="1.0" encoding="utf-8"?>
<p:tagLst xmlns:p="http://schemas.openxmlformats.org/presentationml/2006/main">
  <p:tag name="KSO_WM_TAG_VERSION" val="1.0"/>
  <p:tag name="KSO_WM_TEMPLATE_CATEGORY" val="custom"/>
  <p:tag name="KSO_WM_TEMPLATE_INDEX" val="20184553"/>
</p:tagLst>
</file>

<file path=ppt/tags/tag5.xml><?xml version="1.0" encoding="utf-8"?>
<p:tagLst xmlns:p="http://schemas.openxmlformats.org/presentationml/2006/main">
  <p:tag name="KSO_WM_TAG_VERSION" val="1.0"/>
  <p:tag name="KSO_WM_TEMPLATE_CATEGORY" val="custom"/>
  <p:tag name="KSO_WM_TEMPLATE_INDEX" val="20184553"/>
</p:tagLst>
</file>

<file path=ppt/tags/tag6.xml><?xml version="1.0" encoding="utf-8"?>
<p:tagLst xmlns:p="http://schemas.openxmlformats.org/presentationml/2006/main">
  <p:tag name="KSO_WM_TEMPLATE_TOPIC_DEFAULT" val="1"/>
  <p:tag name="KSO_WM_TEMPLATE_JOB_ID" val="2"/>
  <p:tag name="KSO_WM_TEMPLATE_SCENE_ID" val="1"/>
  <p:tag name="KSO_WM_TEMPLATE_OUTLINE_ID" val="15"/>
  <p:tag name="KSO_WM_TEMPLATE_TOPIC_ID" val="2869567"/>
  <p:tag name="KSO_WM_BEAUTIFY_FLAG" val="#wm#"/>
  <p:tag name="KSO_WM_TAG_VERSION" val="1.0"/>
  <p:tag name="KSO_WM_TEMPLATE_INDEX" val="20184553"/>
  <p:tag name="KSO_WM_TEMPLATE_CATEGORY" val="custom"/>
  <p:tag name="KSO_WM_TEMPLATE_THUMBS_INDEX" val="1、6、10、14、20、26、27、28、29、31"/>
</p:tagLst>
</file>

<file path=ppt/tags/tag7.xml><?xml version="1.0" encoding="utf-8"?>
<p:tagLst xmlns:p="http://schemas.openxmlformats.org/presentationml/2006/main">
  <p:tag name="KSO_WM_TAG_VERSION" val="1.0"/>
  <p:tag name="KSO_WM_TEMPLATE_CATEGORY" val="custom"/>
  <p:tag name="KSO_WM_TEMPLATE_INDEX" val="20184553"/>
</p:tagLst>
</file>

<file path=ppt/tags/tag8.xml><?xml version="1.0" encoding="utf-8"?>
<p:tagLst xmlns:p="http://schemas.openxmlformats.org/presentationml/2006/main">
  <p:tag name="KSO_WM_TAG_VERSION" val="1.0"/>
  <p:tag name="KSO_WM_TEMPLATE_CATEGORY" val="custom"/>
  <p:tag name="KSO_WM_TEMPLATE_INDEX" val="20184553"/>
</p:tagLst>
</file>

<file path=ppt/tags/tag9.xml><?xml version="1.0" encoding="utf-8"?>
<p:tagLst xmlns:p="http://schemas.openxmlformats.org/presentationml/2006/main">
  <p:tag name="KSO_WM_TEMPLATE_TOPIC_DEFAULT" val="1"/>
  <p:tag name="KSO_WM_TEMPLATE_JOB_ID" val="2"/>
  <p:tag name="KSO_WM_TEMPLATE_SCENE_ID" val="1"/>
  <p:tag name="KSO_WM_TEMPLATE_OUTLINE_ID" val="15"/>
  <p:tag name="KSO_WM_TEMPLATE_TOPIC_ID" val="2869567"/>
  <p:tag name="KSO_WM_BEAUTIFY_FLAG" val="#wm#"/>
  <p:tag name="KSO_WM_TAG_VERSION" val="1.0"/>
  <p:tag name="KSO_WM_TEMPLATE_INDEX" val="20184553"/>
  <p:tag name="KSO_WM_TEMPLATE_CATEGORY" val="custom"/>
  <p:tag name="KSO_WM_TEMPLATE_THUMBS_INDEX" val="1、6、10、14、20、26、27、28、29、31"/>
</p:tagLst>
</file>

<file path=ppt/tags/tag10.xml><?xml version="1.0" encoding="utf-8"?>
<p:tagLst xmlns:p="http://schemas.openxmlformats.org/presentationml/2006/main">
  <p:tag name="KSO_WM_TAG_VERSION" val="1.0"/>
  <p:tag name="KSO_WM_TEMPLATE_CATEGORY" val="custom"/>
  <p:tag name="KSO_WM_TEMPLATE_INDEX" val="20184553"/>
</p:tagLst>
</file>

<file path=ppt/tags/tag11.xml><?xml version="1.0" encoding="utf-8"?>
<p:tagLst xmlns:p="http://schemas.openxmlformats.org/presentationml/2006/main">
  <p:tag name="KSO_WM_TAG_VERSION" val="1.0"/>
  <p:tag name="KSO_WM_TEMPLATE_CATEGORY" val="custom"/>
  <p:tag name="KSO_WM_TEMPLATE_INDEX" val="20184553"/>
</p:tagLst>
</file>

<file path=ppt/tags/tag12.xml><?xml version="1.0" encoding="utf-8"?>
<p:tagLst xmlns:p="http://schemas.openxmlformats.org/presentationml/2006/main">
  <p:tag name="KSO_WM_TEMPLATE_TOPIC_DEFAULT" val="1"/>
  <p:tag name="KSO_WM_TEMPLATE_JOB_ID" val="2"/>
  <p:tag name="KSO_WM_TEMPLATE_SCENE_ID" val="1"/>
  <p:tag name="KSO_WM_TEMPLATE_OUTLINE_ID" val="15"/>
  <p:tag name="KSO_WM_TEMPLATE_TOPIC_ID" val="2869567"/>
  <p:tag name="KSO_WM_BEAUTIFY_FLAG" val="#wm#"/>
  <p:tag name="KSO_WM_TAG_VERSION" val="1.0"/>
  <p:tag name="KSO_WM_TEMPLATE_INDEX" val="20184553"/>
  <p:tag name="KSO_WM_TEMPLATE_CATEGORY" val="custom"/>
  <p:tag name="KSO_WM_TEMPLATE_THUMBS_INDEX" val="1、6、10、14、20、26、27、28、29、31"/>
</p:tagLst>
</file>

<file path=ppt/theme/theme1.xml><?xml version="1.0" encoding="utf-8"?>
<a:theme xmlns:a="http://schemas.openxmlformats.org/drawingml/2006/main" name="Office 主题">
  <a:themeElements>
    <a:clrScheme name="自定义 214">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4">
      <a:majorFont>
        <a:latin typeface="微软雅黑"/>
        <a:ea typeface="微软雅黑"/>
        <a:cs typeface=""/>
      </a:majorFont>
      <a:minorFont>
        <a:latin typeface="微软雅黑"/>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3D89BC"/>
        </a:solidFill>
        <a:ln>
          <a:noFill/>
        </a:ln>
      </a:spPr>
      <a:bodyPr rtlCol="0" anchor="ctr"/>
      <a:lstStyle>
        <a:defPPr algn="ctr">
          <a:defRPr>
            <a:solidFill>
              <a:prstClr val="white"/>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自定义 214">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自定义 214">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主题">
  <a:themeElements>
    <a:clrScheme name="自定义 214">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12760</Words>
  <Application>WPS 演示</Application>
  <PresentationFormat>全屏显示(4:3)</PresentationFormat>
  <Paragraphs>765</Paragraphs>
  <Slides>71</Slides>
  <Notes>46</Notes>
  <HiddenSlides>0</HiddenSlides>
  <MMClips>0</MMClips>
  <ScaleCrop>false</ScaleCrop>
  <HeadingPairs>
    <vt:vector size="6" baseType="variant">
      <vt:variant>
        <vt:lpstr>已用的字体</vt:lpstr>
      </vt:variant>
      <vt:variant>
        <vt:i4>10</vt:i4>
      </vt:variant>
      <vt:variant>
        <vt:lpstr>主题</vt:lpstr>
      </vt:variant>
      <vt:variant>
        <vt:i4>5</vt:i4>
      </vt:variant>
      <vt:variant>
        <vt:lpstr>幻灯片标题</vt:lpstr>
      </vt:variant>
      <vt:variant>
        <vt:i4>71</vt:i4>
      </vt:variant>
    </vt:vector>
  </HeadingPairs>
  <TitlesOfParts>
    <vt:vector size="86" baseType="lpstr">
      <vt:lpstr>Arial</vt:lpstr>
      <vt:lpstr>宋体</vt:lpstr>
      <vt:lpstr>Wingdings</vt:lpstr>
      <vt:lpstr>黑体</vt:lpstr>
      <vt:lpstr>微软雅黑</vt:lpstr>
      <vt:lpstr>Arial Unicode MS</vt:lpstr>
      <vt:lpstr>Calibri</vt:lpstr>
      <vt:lpstr>Calibri</vt:lpstr>
      <vt:lpstr>等线</vt:lpstr>
      <vt:lpstr>Times New Roman</vt:lpstr>
      <vt:lpstr>Office 主题</vt:lpstr>
      <vt:lpstr>1_Office 主题</vt:lpstr>
      <vt:lpstr>2_Office 主题</vt:lpstr>
      <vt:lpstr>3_Office 主题</vt:lpstr>
      <vt:lpstr>4_Office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雁</cp:lastModifiedBy>
  <cp:revision>98</cp:revision>
  <dcterms:created xsi:type="dcterms:W3CDTF">2018-03-01T02:03:00Z</dcterms:created>
  <dcterms:modified xsi:type="dcterms:W3CDTF">2021-12-26T10:39:56Z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2052-11.1.0.11194</vt:lpwstr>
  </property>
  <property fmtid="{D5CDD505-2E9C-101B-9397-08002B2CF9AE}" pid="3" name="ICV">
    <vt:lpwstr>2B4448DC2A1A4163BF99641269F536CD</vt:lpwstr>
  </property>
</Properties>
</file>
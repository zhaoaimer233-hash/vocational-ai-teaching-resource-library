
<file path=[Content_Types].xml><?xml version="1.0" encoding="utf-8"?>
<ns0:Types xmlns:ns0="http://schemas.openxmlformats.org/package/2006/content-types">
  <ns0:Default Extension="xml" ContentType="application/xml"/>
  <ns0:Default Extension="rels" ContentType="application/vnd.openxmlformats-package.relationships+xml"/>
  <ns0:Default Extension="jpeg" ContentType="image/jpeg"/>
  <ns0:Default Extension="jpg" ContentType="image/jpg"/>
  <ns0:Default Extension="svg" ContentType="image/svg+xml"/>
  <ns0:Default Extension="png" ContentType="image/png"/>
  <ns0:Default Extension="gif" ContentType="image/gif"/>
  <ns0:Default Extension="m4v" ContentType="video/mp4"/>
  <ns0:Default Extension="mp4" ContentType="video/mp4"/>
  <ns0:Default Extension="vml" ContentType="application/vnd.openxmlformats-officedocument.vmlDrawing"/>
  <ns0:Default Extension="xlsx" ContentType="application/vnd.openxmlformats-officedocument.spreadsheetml.sheet"/>
  <ns0:Override PartName="/ppt/presentation.xml" ContentType="application/vnd.openxmlformats-officedocument.presentationml.presentation.main+xml"/>
  <ns0:Override PartName="/ppt/notesMasters/notesMaster1.xml" ContentType="application/vnd.openxmlformats-officedocument.presentationml.notesMaster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Masters/slideMaster2.xml" ContentType="application/vnd.openxmlformats-officedocument.presentationml.slideMaster+xml"/>
  <ns0:Override PartName="/ppt/slides/slide2.xml" ContentType="application/vnd.openxmlformats-officedocument.presentationml.slide+xml"/>
  <ns0:Override PartName="/ppt/slideMasters/slideMaster3.xml" ContentType="application/vnd.openxmlformats-officedocument.presentationml.slideMaster+xml"/>
  <ns0:Override PartName="/ppt/slides/slide3.xml" ContentType="application/vnd.openxmlformats-officedocument.presentationml.slide+xml"/>
  <ns0:Override PartName="/ppt/slideMasters/slideMaster4.xml" ContentType="application/vnd.openxmlformats-officedocument.presentationml.slideMaster+xml"/>
  <ns0:Override PartName="/ppt/slides/slide4.xml" ContentType="application/vnd.openxmlformats-officedocument.presentationml.slide+xml"/>
  <ns0:Override PartName="/ppt/slideMasters/slideMaster5.xml" ContentType="application/vnd.openxmlformats-officedocument.presentationml.slideMaster+xml"/>
  <ns0:Override PartName="/ppt/slides/slide5.xml" ContentType="application/vnd.openxmlformats-officedocument.presentationml.slide+xml"/>
  <ns0:Override PartName="/ppt/slideMasters/slideMaster6.xml" ContentType="application/vnd.openxmlformats-officedocument.presentationml.slideMaster+xml"/>
  <ns0:Override PartName="/ppt/slides/slide6.xml" ContentType="application/vnd.openxmlformats-officedocument.presentationml.slide+xml"/>
  <ns0:Override PartName="/ppt/slideMasters/slideMaster7.xml" ContentType="application/vnd.openxmlformats-officedocument.presentationml.slideMaster+xml"/>
  <ns0:Override PartName="/ppt/slides/slide7.xml" ContentType="application/vnd.openxmlformats-officedocument.presentationml.slide+xml"/>
  <ns0:Override PartName="/ppt/slideMasters/slideMaster8.xml" ContentType="application/vnd.openxmlformats-officedocument.presentationml.slideMaster+xml"/>
  <ns0:Override PartName="/ppt/slides/slide8.xml" ContentType="application/vnd.openxmlformats-officedocument.presentationml.slide+xml"/>
  <ns0:Override PartName="/ppt/slideMasters/slideMaster9.xml" ContentType="application/vnd.openxmlformats-officedocument.presentationml.slideMaster+xml"/>
  <ns0:Override PartName="/ppt/slides/slide9.xml" ContentType="application/vnd.openxmlformats-officedocument.presentationml.slide+xml"/>
  <ns0:Override PartName="/ppt/slideMasters/slideMaster10.xml" ContentType="application/vnd.openxmlformats-officedocument.presentationml.slideMaster+xml"/>
  <ns0:Override PartName="/ppt/slides/slide10.xml" ContentType="application/vnd.openxmlformats-officedocument.presentationml.slide+xml"/>
  <ns0:Override PartName="/ppt/slideMasters/slideMaster11.xml" ContentType="application/vnd.openxmlformats-officedocument.presentationml.slideMaster+xml"/>
  <ns0:Override PartName="/ppt/slides/slide11.xml" ContentType="application/vnd.openxmlformats-officedocument.presentationml.slide+xml"/>
  <ns0:Override PartName="/ppt/slideMasters/slideMaster12.xml" ContentType="application/vnd.openxmlformats-officedocument.presentationml.slideMaster+xml"/>
  <ns0:Override PartName="/ppt/slides/slide12.xml" ContentType="application/vnd.openxmlformats-officedocument.presentationml.slide+xml"/>
  <ns0:Override PartName="/ppt/slideMasters/slideMaster13.xml" ContentType="application/vnd.openxmlformats-officedocument.presentationml.slideMaster+xml"/>
  <ns0:Override PartName="/ppt/slides/slide13.xml" ContentType="application/vnd.openxmlformats-officedocument.presentationml.slide+xml"/>
  <ns0:Override PartName="/ppt/slideMasters/slideMaster14.xml" ContentType="application/vnd.openxmlformats-officedocument.presentationml.slideMaster+xml"/>
  <ns0:Override PartName="/ppt/slides/slide14.xml" ContentType="application/vnd.openxmlformats-officedocument.presentationml.slide+xml"/>
  <ns0:Override PartName="/ppt/slideMasters/slideMaster15.xml" ContentType="application/vnd.openxmlformats-officedocument.presentationml.slideMaster+xml"/>
  <ns0:Override PartName="/ppt/slides/slide15.xml" ContentType="application/vnd.openxmlformats-officedocument.presentationml.slide+xml"/>
  <ns0:Override PartName="/ppt/slideMasters/slideMaster16.xml" ContentType="application/vnd.openxmlformats-officedocument.presentationml.slideMaster+xml"/>
  <ns0:Override PartName="/ppt/slides/slide16.xml" ContentType="application/vnd.openxmlformats-officedocument.presentationml.slide+xml"/>
  <ns0:Override PartName="/ppt/slideMasters/slideMaster17.xml" ContentType="application/vnd.openxmlformats-officedocument.presentationml.slideMaster+xml"/>
  <ns0:Override PartName="/ppt/slides/slide17.xml" ContentType="application/vnd.openxmlformats-officedocument.presentationml.slide+xml"/>
  <ns0:Override PartName="/ppt/slideMasters/slideMaster18.xml" ContentType="application/vnd.openxmlformats-officedocument.presentationml.slideMaster+xml"/>
  <ns0:Override PartName="/ppt/slides/slide18.xml" ContentType="application/vnd.openxmlformats-officedocument.presentationml.slide+xml"/>
  <ns0:Override PartName="/ppt/slideMasters/slideMaster19.xml" ContentType="application/vnd.openxmlformats-officedocument.presentationml.slideMaster+xml"/>
  <ns0:Override PartName="/ppt/slides/slide19.xml" ContentType="application/vnd.openxmlformats-officedocument.presentationml.slide+xml"/>
  <ns0:Override PartName="/ppt/slideMasters/slideMaster20.xml" ContentType="application/vnd.openxmlformats-officedocument.presentationml.slideMaster+xml"/>
  <ns0:Override PartName="/ppt/slides/slide20.xml" ContentType="application/vnd.openxmlformats-officedocument.presentationml.slide+xml"/>
  <ns0:Override PartName="/ppt/slideMasters/slideMaster21.xml" ContentType="application/vnd.openxmlformats-officedocument.presentationml.slideMaster+xml"/>
  <ns0:Override PartName="/ppt/slides/slide21.xml" ContentType="application/vnd.openxmlformats-officedocument.presentationml.slide+xml"/>
  <ns0:Override PartName="/ppt/slideMasters/slideMaster22.xml" ContentType="application/vnd.openxmlformats-officedocument.presentationml.slideMaster+xml"/>
  <ns0:Override PartName="/ppt/slides/slide22.xml" ContentType="application/vnd.openxmlformats-officedocument.presentationml.slide+xml"/>
  <ns0:Override PartName="/ppt/slideMasters/slideMaster23.xml" ContentType="application/vnd.openxmlformats-officedocument.presentationml.slideMaster+xml"/>
  <ns0:Override PartName="/ppt/slides/slide23.xml" ContentType="application/vnd.openxmlformats-officedocument.presentationml.slide+xml"/>
  <ns0:Override PartName="/ppt/slideMasters/slideMaster24.xml" ContentType="application/vnd.openxmlformats-officedocument.presentationml.slideMaster+xml"/>
  <ns0:Override PartName="/ppt/slides/slide24.xml" ContentType="application/vnd.openxmlformats-officedocument.presentationml.slide+xml"/>
  <ns0:Override PartName="/ppt/slideMasters/slideMaster25.xml" ContentType="application/vnd.openxmlformats-officedocument.presentationml.slideMaster+xml"/>
  <ns0:Override PartName="/ppt/slides/slide25.xml" ContentType="application/vnd.openxmlformats-officedocument.presentationml.slide+xml"/>
  <ns0:Override PartName="/ppt/slideMasters/slideMaster26.xml" ContentType="application/vnd.openxmlformats-officedocument.presentationml.slideMaster+xml"/>
  <ns0:Override PartName="/ppt/slides/slide26.xml" ContentType="application/vnd.openxmlformats-officedocument.presentationml.slide+xml"/>
  <ns0:Override PartName="/ppt/slideMasters/slideMaster27.xml" ContentType="application/vnd.openxmlformats-officedocument.presentationml.slideMaster+xml"/>
  <ns0:Override PartName="/ppt/slides/slide27.xml" ContentType="application/vnd.openxmlformats-officedocument.presentationml.slide+xml"/>
  <ns0:Override PartName="/ppt/slideMasters/slideMaster28.xml" ContentType="application/vnd.openxmlformats-officedocument.presentationml.slideMaster+xml"/>
  <ns0:Override PartName="/ppt/slides/slide28.xml" ContentType="application/vnd.openxmlformats-officedocument.presentationml.slide+xml"/>
  <ns0:Override PartName="/ppt/slideMasters/slideMaster29.xml" ContentType="application/vnd.openxmlformats-officedocument.presentationml.slideMaster+xml"/>
  <ns0:Override PartName="/ppt/slides/slide29.xml" ContentType="application/vnd.openxmlformats-officedocument.presentationml.slide+xml"/>
  <ns0:Override PartName="/ppt/slideMasters/slideMaster30.xml" ContentType="application/vnd.openxmlformats-officedocument.presentationml.slideMaster+xml"/>
  <ns0:Override PartName="/ppt/slides/slide30.xml" ContentType="application/vnd.openxmlformats-officedocument.presentationml.slide+xml"/>
  <ns0:Override PartName="/ppt/slideMasters/slideMaster31.xml" ContentType="application/vnd.openxmlformats-officedocument.presentationml.slideMaster+xml"/>
  <ns0:Override PartName="/ppt/slides/slide31.xml" ContentType="application/vnd.openxmlformats-officedocument.presentationml.slide+xml"/>
  <ns0:Override PartName="/ppt/slideMasters/slideMaster32.xml" ContentType="application/vnd.openxmlformats-officedocument.presentationml.slideMaster+xml"/>
  <ns0:Override PartName="/ppt/slides/slide32.xml" ContentType="application/vnd.openxmlformats-officedocument.presentationml.slide+xml"/>
  <ns0:Override PartName="/ppt/slideMasters/slideMaster33.xml" ContentType="application/vnd.openxmlformats-officedocument.presentationml.slideMaster+xml"/>
  <ns0:Override PartName="/ppt/slides/slide33.xml" ContentType="application/vnd.openxmlformats-officedocument.presentationml.slide+xml"/>
  <ns0:Override PartName="/ppt/slideMasters/slideMaster34.xml" ContentType="application/vnd.openxmlformats-officedocument.presentationml.slideMaster+xml"/>
  <ns0:Override PartName="/ppt/slides/slide34.xml" ContentType="application/vnd.openxmlformats-officedocument.presentationml.slide+xml"/>
  <ns0:Override PartName="/ppt/slideMasters/slideMaster35.xml" ContentType="application/vnd.openxmlformats-officedocument.presentationml.slideMaster+xml"/>
  <ns0:Override PartName="/ppt/slides/slide35.xml" ContentType="application/vnd.openxmlformats-officedocument.presentationml.slide+xml"/>
  <ns0:Override PartName="/ppt/slideMasters/slideMaster36.xml" ContentType="application/vnd.openxmlformats-officedocument.presentationml.slideMaster+xml"/>
  <ns0:Override PartName="/ppt/slides/slide36.xml" ContentType="application/vnd.openxmlformats-officedocument.presentationml.slide+xml"/>
  <ns0:Override PartName="/ppt/slideMasters/slideMaster37.xml" ContentType="application/vnd.openxmlformats-officedocument.presentationml.slideMaster+xml"/>
  <ns0:Override PartName="/ppt/slides/slide37.xml" ContentType="application/vnd.openxmlformats-officedocument.presentationml.slide+xml"/>
  <ns0:Override PartName="/ppt/slideMasters/slideMaster38.xml" ContentType="application/vnd.openxmlformats-officedocument.presentationml.slideMaster+xml"/>
  <ns0:Override PartName="/ppt/slides/slide38.xml" ContentType="application/vnd.openxmlformats-officedocument.presentationml.slide+xml"/>
  <ns0:Override PartName="/ppt/slideMasters/slideMaster39.xml" ContentType="application/vnd.openxmlformats-officedocument.presentationml.slideMaster+xml"/>
  <ns0:Override PartName="/ppt/slides/slide39.xml" ContentType="application/vnd.openxmlformats-officedocument.presentationml.slide+xml"/>
  <ns0:Override PartName="/ppt/slideMasters/slideMaster40.xml" ContentType="application/vnd.openxmlformats-officedocument.presentationml.slideMaster+xml"/>
  <ns0:Override PartName="/ppt/slides/slide40.xml" ContentType="application/vnd.openxmlformats-officedocument.presentationml.slide+xml"/>
  <ns0:Override PartName="/ppt/slideMasters/slideMaster41.xml" ContentType="application/vnd.openxmlformats-officedocument.presentationml.slideMaster+xml"/>
  <ns0:Override PartName="/ppt/slides/slide41.xml" ContentType="application/vnd.openxmlformats-officedocument.presentationml.slide+xml"/>
  <ns0:Override PartName="/ppt/slideMasters/slideMaster42.xml" ContentType="application/vnd.openxmlformats-officedocument.presentationml.slideMaster+xml"/>
  <ns0:Override PartName="/ppt/slides/slide42.xml" ContentType="application/vnd.openxmlformats-officedocument.presentationml.slide+xml"/>
  <ns0:Override PartName="/ppt/slideMasters/slideMaster43.xml" ContentType="application/vnd.openxmlformats-officedocument.presentationml.slideMaster+xml"/>
  <ns0:Override PartName="/ppt/slides/slide43.xml" ContentType="application/vnd.openxmlformats-officedocument.presentationml.slide+xml"/>
  <ns0:Override PartName="/ppt/slideMasters/slideMaster44.xml" ContentType="application/vnd.openxmlformats-officedocument.presentationml.slideMaster+xml"/>
  <ns0:Override PartName="/ppt/slides/slide44.xml" ContentType="application/vnd.openxmlformats-officedocument.presentationml.slide+xml"/>
  <ns0:Override PartName="/ppt/presProps.xml" ContentType="application/vnd.openxmlformats-officedocument.presentationml.presProps+xml"/>
  <ns0:Override PartName="/ppt/viewProps.xml" ContentType="application/vnd.openxmlformats-officedocument.presentationml.viewProps+xml"/>
  <ns0:Override PartName="/ppt/theme/theme1.xml" ContentType="application/vnd.openxmlformats-officedocument.theme+xml"/>
  <ns0:Override PartName="/ppt/tableStyles.xml" ContentType="application/vnd.openxmlformats-officedocument.presentationml.tableStyles+xml"/>
  <ns0:Override PartName="/ppt/slideLayouts/slideLayout1.xml" ContentType="application/vnd.openxmlformats-officedocument.presentationml.slideLayout+xml"/>
  <ns0:Override PartName="/ppt/notesSlides/notesSlide1.xml" ContentType="application/vnd.openxmlformats-officedocument.presentationml.notesSlide+xml"/>
  <ns0:Override PartName="/ppt/notesSlides/notesSlide2.xml" ContentType="application/vnd.openxmlformats-officedocument.presentationml.notesSlide+xml"/>
  <ns0:Override PartName="/ppt/notesSlides/notesSlide3.xml" ContentType="application/vnd.openxmlformats-officedocument.presentationml.notesSlide+xml"/>
  <ns0:Override PartName="/ppt/notesSlides/notesSlide4.xml" ContentType="application/vnd.openxmlformats-officedocument.presentationml.notesSlide+xml"/>
  <ns0:Override PartName="/ppt/notesSlides/notesSlide5.xml" ContentType="application/vnd.openxmlformats-officedocument.presentationml.notesSlide+xml"/>
  <ns0:Override PartName="/ppt/notesSlides/notesSlide6.xml" ContentType="application/vnd.openxmlformats-officedocument.presentationml.notesSlide+xml"/>
  <ns0:Override PartName="/ppt/notesSlides/notesSlide7.xml" ContentType="application/vnd.openxmlformats-officedocument.presentationml.notesSlide+xml"/>
  <ns0:Override PartName="/ppt/notesSlides/notesSlide8.xml" ContentType="application/vnd.openxmlformats-officedocument.presentationml.notesSlide+xml"/>
  <ns0:Override PartName="/ppt/notesSlides/notesSlide9.xml" ContentType="application/vnd.openxmlformats-officedocument.presentationml.notesSlide+xml"/>
  <ns0:Override PartName="/ppt/notesSlides/notesSlide10.xml" ContentType="application/vnd.openxmlformats-officedocument.presentationml.notesSlide+xml"/>
  <ns0:Override PartName="/ppt/notesSlides/notesSlide11.xml" ContentType="application/vnd.openxmlformats-officedocument.presentationml.notesSlide+xml"/>
  <ns0:Override PartName="/ppt/notesSlides/notesSlide12.xml" ContentType="application/vnd.openxmlformats-officedocument.presentationml.notesSlide+xml"/>
  <ns0:Override PartName="/ppt/notesSlides/notesSlide13.xml" ContentType="application/vnd.openxmlformats-officedocument.presentationml.notesSlide+xml"/>
  <ns0:Override PartName="/ppt/notesSlides/notesSlide14.xml" ContentType="application/vnd.openxmlformats-officedocument.presentationml.notesSlide+xml"/>
  <ns0:Override PartName="/ppt/notesSlides/notesSlide15.xml" ContentType="application/vnd.openxmlformats-officedocument.presentationml.notesSlide+xml"/>
  <ns0:Override PartName="/ppt/notesSlides/notesSlide16.xml" ContentType="application/vnd.openxmlformats-officedocument.presentationml.notesSlide+xml"/>
  <ns0:Override PartName="/ppt/notesSlides/notesSlide17.xml" ContentType="application/vnd.openxmlformats-officedocument.presentationml.notesSlide+xml"/>
  <ns0:Override PartName="/ppt/notesSlides/notesSlide18.xml" ContentType="application/vnd.openxmlformats-officedocument.presentationml.notesSlide+xml"/>
  <ns0:Override PartName="/ppt/notesSlides/notesSlide19.xml" ContentType="application/vnd.openxmlformats-officedocument.presentationml.notesSlide+xml"/>
  <ns0:Override PartName="/ppt/notesSlides/notesSlide20.xml" ContentType="application/vnd.openxmlformats-officedocument.presentationml.notesSlide+xml"/>
  <ns0:Override PartName="/ppt/notesSlides/notesSlide21.xml" ContentType="application/vnd.openxmlformats-officedocument.presentationml.notesSlide+xml"/>
  <ns0:Override PartName="/ppt/notesSlides/notesSlide22.xml" ContentType="application/vnd.openxmlformats-officedocument.presentationml.notesSlide+xml"/>
  <ns0:Override PartName="/ppt/notesSlides/notesSlide23.xml" ContentType="application/vnd.openxmlformats-officedocument.presentationml.notesSlide+xml"/>
  <ns0:Override PartName="/ppt/notesSlides/notesSlide24.xml" ContentType="application/vnd.openxmlformats-officedocument.presentationml.notesSlide+xml"/>
  <ns0:Override PartName="/ppt/notesSlides/notesSlide25.xml" ContentType="application/vnd.openxmlformats-officedocument.presentationml.notesSlide+xml"/>
  <ns0:Override PartName="/ppt/notesSlides/notesSlide26.xml" ContentType="application/vnd.openxmlformats-officedocument.presentationml.notesSlide+xml"/>
  <ns0:Override PartName="/ppt/notesSlides/notesSlide27.xml" ContentType="application/vnd.openxmlformats-officedocument.presentationml.notesSlide+xml"/>
  <ns0:Override PartName="/ppt/notesSlides/notesSlide28.xml" ContentType="application/vnd.openxmlformats-officedocument.presentationml.notesSlide+xml"/>
  <ns0:Override PartName="/ppt/notesSlides/notesSlide29.xml" ContentType="application/vnd.openxmlformats-officedocument.presentationml.notesSlide+xml"/>
  <ns0:Override PartName="/ppt/notesSlides/notesSlide30.xml" ContentType="application/vnd.openxmlformats-officedocument.presentationml.notesSlide+xml"/>
  <ns0:Override PartName="/ppt/notesSlides/notesSlide31.xml" ContentType="application/vnd.openxmlformats-officedocument.presentationml.notesSlide+xml"/>
  <ns0:Override PartName="/ppt/notesSlides/notesSlide32.xml" ContentType="application/vnd.openxmlformats-officedocument.presentationml.notesSlide+xml"/>
  <ns0:Override PartName="/ppt/notesSlides/notesSlide33.xml" ContentType="application/vnd.openxmlformats-officedocument.presentationml.notesSlide+xml"/>
  <ns0:Override PartName="/ppt/notesSlides/notesSlide34.xml" ContentType="application/vnd.openxmlformats-officedocument.presentationml.notesSlide+xml"/>
  <ns0:Override PartName="/ppt/notesSlides/notesSlide35.xml" ContentType="application/vnd.openxmlformats-officedocument.presentationml.notesSlide+xml"/>
  <ns0:Override PartName="/ppt/notesSlides/notesSlide36.xml" ContentType="application/vnd.openxmlformats-officedocument.presentationml.notesSlide+xml"/>
  <ns0:Override PartName="/ppt/notesSlides/notesSlide37.xml" ContentType="application/vnd.openxmlformats-officedocument.presentationml.notesSlide+xml"/>
  <ns0:Override PartName="/ppt/notesSlides/notesSlide38.xml" ContentType="application/vnd.openxmlformats-officedocument.presentationml.notesSlide+xml"/>
  <ns0:Override PartName="/ppt/notesSlides/notesSlide39.xml" ContentType="application/vnd.openxmlformats-officedocument.presentationml.notesSlide+xml"/>
  <ns0:Override PartName="/ppt/notesSlides/notesSlide40.xml" ContentType="application/vnd.openxmlformats-officedocument.presentationml.notesSlide+xml"/>
  <ns0:Override PartName="/ppt/notesSlides/notesSlide41.xml" ContentType="application/vnd.openxmlformats-officedocument.presentationml.notesSlide+xml"/>
  <ns0:Override PartName="/ppt/notesSlides/notesSlide42.xml" ContentType="application/vnd.openxmlformats-officedocument.presentationml.notesSlide+xml"/>
  <ns0:Override PartName="/ppt/notesSlides/notesSlide43.xml" ContentType="application/vnd.openxmlformats-officedocument.presentationml.notesSlide+xml"/>
  <ns0:Override PartName="/ppt/notesSlides/notesSlide44.xml" ContentType="application/vnd.openxmlformats-officedocument.presentationml.notesSlide+xml"/>
  <ns0:Override PartName="/docProps/core.xml" ContentType="application/vnd.openxmlformats-package.core-properties+xml"/>
  <ns0:Override PartName="/docProps/app.xml" ContentType="application/vnd.openxmlformats-officedocument.extended-properties+xml"/>
  <ns0:Override PartName="/docProps/custom.xml" ContentType="application/vnd.openxmlformats-officedocument.custom-properties+xml"/>
</ns0: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notesMasterIdLst>
    <p:notesMasterId r:id="rId4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notesMaster" Target="notesMasters/notesMaster1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e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e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e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e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e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e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e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e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e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e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e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jpe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image" Target="../media/image-31-4.png"/><Relationship Id="rId5" Type="http://schemas.openxmlformats.org/officeDocument/2006/relationships/image" Target="../media/image-31-5.png"/><Relationship Id="rId6" Type="http://schemas.openxmlformats.org/officeDocument/2006/relationships/image" Target="../media/image-3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jpe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jpe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image" Target="../media/image-33-4.png"/><Relationship Id="rId5" Type="http://schemas.openxmlformats.org/officeDocument/2006/relationships/image" Target="../media/image-3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jpeg"/><Relationship Id="rId2" Type="http://schemas.openxmlformats.org/officeDocument/2006/relationships/image" Target="../media/image-3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jpe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image" Target="../media/image-3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jpeg"/><Relationship Id="rId2" Type="http://schemas.openxmlformats.org/officeDocument/2006/relationships/image" Target="../media/image-36-2.png"/><Relationship Id="rId3" Type="http://schemas.openxmlformats.org/officeDocument/2006/relationships/image" Target="../media/image-3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jpeg"/><Relationship Id="rId2" Type="http://schemas.openxmlformats.org/officeDocument/2006/relationships/image" Target="../media/image-3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jpeg"/><Relationship Id="rId2" Type="http://schemas.openxmlformats.org/officeDocument/2006/relationships/image" Target="../media/image-39-2.png"/><Relationship Id="rId3" Type="http://schemas.openxmlformats.org/officeDocument/2006/relationships/image" Target="../media/image-39-3.png"/><Relationship Id="rId4" Type="http://schemas.openxmlformats.org/officeDocument/2006/relationships/image" Target="../media/image-39-4.png"/><Relationship Id="rId5" Type="http://schemas.openxmlformats.org/officeDocument/2006/relationships/image" Target="../media/image-3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jpeg"/><Relationship Id="rId2" Type="http://schemas.openxmlformats.org/officeDocument/2006/relationships/image" Target="../media/image-40-2.png"/><Relationship Id="rId3" Type="http://schemas.openxmlformats.org/officeDocument/2006/relationships/image" Target="../media/image-40-3.png"/><Relationship Id="rId4" Type="http://schemas.openxmlformats.org/officeDocument/2006/relationships/image" Target="../media/image-40-4.png"/><Relationship Id="rId5" Type="http://schemas.openxmlformats.org/officeDocument/2006/relationships/image" Target="../media/image-4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jpeg"/><Relationship Id="rId2" Type="http://schemas.openxmlformats.org/officeDocument/2006/relationships/image" Target="../media/image-41-2.png"/><Relationship Id="rId3" Type="http://schemas.openxmlformats.org/officeDocument/2006/relationships/image" Target="../media/image-41-3.png"/><Relationship Id="rId4" Type="http://schemas.openxmlformats.org/officeDocument/2006/relationships/image" Target="../media/image-41-4.png"/><Relationship Id="rId5" Type="http://schemas.openxmlformats.org/officeDocument/2006/relationships/image" Target="../media/image-41-5.png"/><Relationship Id="rId6" Type="http://schemas.openxmlformats.org/officeDocument/2006/relationships/image" Target="../media/image-4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jpeg"/><Relationship Id="rId2" Type="http://schemas.openxmlformats.org/officeDocument/2006/relationships/image" Target="../media/image-42-2.png"/><Relationship Id="rId3" Type="http://schemas.openxmlformats.org/officeDocument/2006/relationships/image" Target="../media/image-4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jpeg"/><Relationship Id="rId2" Type="http://schemas.openxmlformats.org/officeDocument/2006/relationships/image" Target="../media/image-43-2.png"/><Relationship Id="rId3" Type="http://schemas.openxmlformats.org/officeDocument/2006/relationships/image" Target="../media/image-43-3.png"/><Relationship Id="rId4" Type="http://schemas.openxmlformats.org/officeDocument/2006/relationships/image" Target="../media/image-43-4.png"/><Relationship Id="rId5" Type="http://schemas.openxmlformats.org/officeDocument/2006/relationships/image" Target="../media/image-4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6" r="6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500188"/>
            <a:ext cx="8001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数据质量基础认知</a:t>
            </a:r>
            <a:endParaRPr lang="en-US" sz="3750" dirty="0"/>
          </a:p>
        </p:txBody>
      </p:sp>
      <p:sp>
        <p:nvSpPr>
          <p:cNvPr id="4" name="Text 1"/>
          <p:cNvSpPr/>
          <p:nvPr/>
        </p:nvSpPr>
        <p:spPr>
          <a:xfrm>
            <a:off x="571500" y="2243138"/>
            <a:ext cx="8001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3150"/>
              </a:lnSpc>
              <a:buNone/>
            </a:pPr>
            <a:endParaRPr lang="en-US" sz="2250" dirty="0"/>
          </a:p>
        </p:txBody>
      </p:sp>
      <p:sp>
        <p:nvSpPr>
          <p:cNvPr id="5" name="Shape 2"/>
          <p:cNvSpPr/>
          <p:nvPr/>
        </p:nvSpPr>
        <p:spPr>
          <a:xfrm>
            <a:off x="4269581" y="2976563"/>
            <a:ext cx="604838" cy="114300"/>
          </a:xfrm>
          <a:prstGeom prst="rect">
            <a:avLst/>
          </a:prstGeom>
          <a:solidFill>
            <a:srgbClr val="AE9CE2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3424238"/>
            <a:ext cx="80010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725"/>
              </a:lnSpc>
              <a:buNone/>
            </a:pPr>
            <a:r>
              <a:rPr lang="en-US" sz="12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千问智能PPT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6" r="6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6452" b="6452"/>
          <a:stretch/>
        </p:blipFill>
        <p:spPr>
          <a:xfrm>
            <a:off x="0" y="0"/>
            <a:ext cx="2952750" cy="5143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3433763"/>
            <a:ext cx="1857375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</a:t>
            </a:r>
            <a:endParaRPr lang="en-US" sz="3750" dirty="0"/>
          </a:p>
        </p:txBody>
      </p:sp>
      <p:sp>
        <p:nvSpPr>
          <p:cNvPr id="6" name="Text 2"/>
          <p:cNvSpPr/>
          <p:nvPr/>
        </p:nvSpPr>
        <p:spPr>
          <a:xfrm>
            <a:off x="571500" y="4176713"/>
            <a:ext cx="18097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2250" dirty="0"/>
          </a:p>
        </p:txBody>
      </p:sp>
      <p:sp>
        <p:nvSpPr>
          <p:cNvPr id="7" name="Text 3"/>
          <p:cNvSpPr/>
          <p:nvPr/>
        </p:nvSpPr>
        <p:spPr>
          <a:xfrm>
            <a:off x="3524250" y="673894"/>
            <a:ext cx="35242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1875" b="1" dirty="0">
                <a:solidFill>
                  <a:srgbClr val="AE9C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875" dirty="0"/>
          </a:p>
        </p:txBody>
      </p:sp>
      <p:sp>
        <p:nvSpPr>
          <p:cNvPr id="8" name="Text 4"/>
          <p:cNvSpPr/>
          <p:nvPr/>
        </p:nvSpPr>
        <p:spPr>
          <a:xfrm>
            <a:off x="3990975" y="745331"/>
            <a:ext cx="45815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课程导入：从AI错误看数据质量的重要性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3990975" y="992981"/>
            <a:ext cx="45815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3524250" y="1302544"/>
            <a:ext cx="35242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1875" b="1" dirty="0">
                <a:solidFill>
                  <a:srgbClr val="AE9C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875" dirty="0"/>
          </a:p>
        </p:txBody>
      </p:sp>
      <p:sp>
        <p:nvSpPr>
          <p:cNvPr id="11" name="Text 7"/>
          <p:cNvSpPr/>
          <p:nvPr/>
        </p:nvSpPr>
        <p:spPr>
          <a:xfrm>
            <a:off x="3990975" y="1373981"/>
            <a:ext cx="45815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业务数据的概念与分类体系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3990975" y="1621631"/>
            <a:ext cx="45815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3524250" y="1931194"/>
            <a:ext cx="35242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1875" b="1" dirty="0">
                <a:solidFill>
                  <a:srgbClr val="AE9C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875" dirty="0"/>
          </a:p>
        </p:txBody>
      </p:sp>
      <p:sp>
        <p:nvSpPr>
          <p:cNvPr id="14" name="Text 10"/>
          <p:cNvSpPr/>
          <p:nvPr/>
        </p:nvSpPr>
        <p:spPr>
          <a:xfrm>
            <a:off x="3990975" y="2002631"/>
            <a:ext cx="45815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数据质量的核心评价维度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990975" y="2250281"/>
            <a:ext cx="45815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3524250" y="2559844"/>
            <a:ext cx="35242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1875" b="1" dirty="0">
                <a:solidFill>
                  <a:srgbClr val="AE9C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875" dirty="0"/>
          </a:p>
        </p:txBody>
      </p:sp>
      <p:sp>
        <p:nvSpPr>
          <p:cNvPr id="17" name="Text 13"/>
          <p:cNvSpPr/>
          <p:nvPr/>
        </p:nvSpPr>
        <p:spPr>
          <a:xfrm>
            <a:off x="3990975" y="2631281"/>
            <a:ext cx="45815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常见数据质量问题识别与归类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3990975" y="2878931"/>
            <a:ext cx="45815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3524250" y="3188494"/>
            <a:ext cx="35242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1875" b="1" dirty="0">
                <a:solidFill>
                  <a:srgbClr val="AE9C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875" dirty="0"/>
          </a:p>
        </p:txBody>
      </p:sp>
      <p:sp>
        <p:nvSpPr>
          <p:cNvPr id="20" name="Text 16"/>
          <p:cNvSpPr/>
          <p:nvPr/>
        </p:nvSpPr>
        <p:spPr>
          <a:xfrm>
            <a:off x="3990975" y="3259931"/>
            <a:ext cx="45815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数据质量对人工智能模型的影响机制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3990975" y="3507581"/>
            <a:ext cx="45815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3524250" y="3817144"/>
            <a:ext cx="35242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1875" b="1" dirty="0">
                <a:solidFill>
                  <a:srgbClr val="AE9C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875" dirty="0"/>
          </a:p>
        </p:txBody>
      </p:sp>
      <p:sp>
        <p:nvSpPr>
          <p:cNvPr id="23" name="Text 19"/>
          <p:cNvSpPr/>
          <p:nvPr/>
        </p:nvSpPr>
        <p:spPr>
          <a:xfrm>
            <a:off x="3990975" y="3888581"/>
            <a:ext cx="45815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实践应用与职业素养养成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3990975" y="4136231"/>
            <a:ext cx="45815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6" r="6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647950"/>
            <a:ext cx="4762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课程导入：从AI错误看数据质量的重要性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BFAF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2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6" r="6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展示人工智能因数据错误导致识别失败的真实案例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71500" y="2000250"/>
            <a:ext cx="1714500" cy="21431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AE9C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71500" y="2328863"/>
            <a:ext cx="1714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自动驾驶误判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71500" y="2576513"/>
            <a:ext cx="17145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因训练图像中行人标签缺失，导致系统将真实行人识别为障碍物，引发紧急制动失效。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667000" y="2000250"/>
            <a:ext cx="1714500" cy="21431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AE9C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667000" y="2328863"/>
            <a:ext cx="1714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语音助手误解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667000" y="2576513"/>
            <a:ext cx="17145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背景噪音未过滤且标注不准确，使语音模型将‘关闭灯光’误听为‘打开灯光’。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762500" y="2000250"/>
            <a:ext cx="1714500" cy="21431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AE9C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762500" y="2328863"/>
            <a:ext cx="1714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医疗影像漏诊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762500" y="2576513"/>
            <a:ext cx="17145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CT扫描数据模糊且部分病灶标注遗漏，造成AI未能识别早期肿瘤病变区域。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858000" y="2000250"/>
            <a:ext cx="1714500" cy="21431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AE9C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858000" y="2328863"/>
            <a:ext cx="1714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金融风控误拦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858000" y="2576513"/>
            <a:ext cx="17145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交易记录存在重复与格式错误，致使正常用户被误判为高风险欺诈行为。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6" r="6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引导学生观察并分析模型输出异常的根本原因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81000" y="1428750"/>
            <a:ext cx="8382000" cy="35242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524000" y="3048000"/>
            <a:ext cx="10763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50"/>
              </a:lnSpc>
              <a:buNone/>
            </a:pPr>
            <a:r>
              <a:rPr lang="en-US" sz="1350" b="1" dirty="0">
                <a:solidFill>
                  <a:srgbClr val="3B9D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AI识别局限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648075" y="1571625"/>
            <a:ext cx="95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5BB1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误判案例分析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019675" y="1466850"/>
            <a:ext cx="31051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输入为猫的图像，模型却输出狗，存在明显误判。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5019675" y="1714500"/>
            <a:ext cx="31051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错误源于训练数据中猫狗标签混淆或图像模糊不清。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3648075" y="2162175"/>
            <a:ext cx="95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639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数据质量影响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019675" y="2057400"/>
            <a:ext cx="25717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标注错误导致模型学习到错误的特征关联。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5019675" y="2305050"/>
            <a:ext cx="25717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低分辨率图像使模型难以提取有效特征。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3648075" y="2752725"/>
            <a:ext cx="95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687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模型依赖数据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5019675" y="2647950"/>
            <a:ext cx="28384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模型不具备自主判断能力，完全依赖训练数据。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5019675" y="2895600"/>
            <a:ext cx="28384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数据偏差会被模型放大并固化为决策规则。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3648075" y="3343275"/>
            <a:ext cx="95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615C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学习机制缺陷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5019675" y="3238500"/>
            <a:ext cx="31051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模型无法区分真实与虚假信息，只能拟合已有数据。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5019675" y="3486150"/>
            <a:ext cx="31051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缺乏常识推理能力，对反常结果无自我纠错机制。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3648075" y="3933825"/>
            <a:ext cx="95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6644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系统局限体现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5019675" y="3829050"/>
            <a:ext cx="28384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在边界样本上表现不稳定，易产生不可靠输出。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5019675" y="4076700"/>
            <a:ext cx="28384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面对新场景泛化能力弱，依赖数据覆盖度。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3648075" y="4524375"/>
            <a:ext cx="95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3B9D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教学引导目标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5019675" y="4419600"/>
            <a:ext cx="25717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引导学生发现输出与输入之间的逻辑矛盾。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5019675" y="4667250"/>
            <a:ext cx="25717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培养学生对AI决策过程的批判性思维能力。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6" r="6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16162" b="16162"/>
          <a:stretch/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提出核心问题：为何‘垃圾数据’会产出‘垃圾模型’？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539875" y="2000250"/>
            <a:ext cx="476250" cy="4762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71500" y="2590800"/>
            <a:ext cx="241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问题根源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571500" y="2838450"/>
            <a:ext cx="24130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模型训练依赖数据输入，错误或混乱的数据会导致模型学习错误规律，产生不可靠输出。</a:t>
            </a:r>
            <a:endParaRPr lang="en-US" sz="10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33875" y="2000250"/>
            <a:ext cx="476250" cy="4762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365500" y="2590800"/>
            <a:ext cx="241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质量传导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3365500" y="2838450"/>
            <a:ext cx="2413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低质量数据中的噪声、偏差会被模型放大，直接影响预测准确性与决策可信度。</a:t>
            </a:r>
            <a:endParaRPr lang="en-US" sz="10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7127875" y="2000250"/>
            <a:ext cx="476250" cy="47625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159500" y="2590800"/>
            <a:ext cx="241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责任警示</a:t>
            </a:r>
            <a:endParaRPr lang="en-US" sz="1200" dirty="0"/>
          </a:p>
        </p:txBody>
      </p:sp>
      <p:sp>
        <p:nvSpPr>
          <p:cNvPr id="15" name="Text 8"/>
          <p:cNvSpPr/>
          <p:nvPr/>
        </p:nvSpPr>
        <p:spPr>
          <a:xfrm>
            <a:off x="6159500" y="2838450"/>
            <a:ext cx="24130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数据处理者需对输入负责，确保数据真实、准确，避免因疏忽造成技术与社会风险。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6" r="6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16162" b="16162"/>
          <a:stretch/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引出数据质量作为AI训练基石的关键地位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81000" y="1428750"/>
            <a:ext cx="8382000" cy="330517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28675" y="1571625"/>
            <a:ext cx="1643063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1875" b="1" dirty="0">
                <a:solidFill>
                  <a:srgbClr val="3B9D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875" dirty="0"/>
          </a:p>
        </p:txBody>
      </p:sp>
      <p:sp>
        <p:nvSpPr>
          <p:cNvPr id="9" name="Text 4"/>
          <p:cNvSpPr/>
          <p:nvPr/>
        </p:nvSpPr>
        <p:spPr>
          <a:xfrm>
            <a:off x="771525" y="2038350"/>
            <a:ext cx="1700213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数据重要性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771525" y="2290763"/>
            <a:ext cx="1700213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数据是AI模型的基石，决定其可靠性与性能。高质量数据支撑模型学习与决策，缺一不可。</a:t>
            </a:r>
            <a:endParaRPr lang="en-US" sz="1050" dirty="0"/>
          </a:p>
        </p:txBody>
      </p:sp>
      <p:sp>
        <p:nvSpPr>
          <p:cNvPr id="11" name="Text 6"/>
          <p:cNvSpPr/>
          <p:nvPr/>
        </p:nvSpPr>
        <p:spPr>
          <a:xfrm>
            <a:off x="2795588" y="1571625"/>
            <a:ext cx="1643063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1875" b="1" dirty="0">
                <a:solidFill>
                  <a:srgbClr val="5BB1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875" dirty="0"/>
          </a:p>
        </p:txBody>
      </p:sp>
      <p:sp>
        <p:nvSpPr>
          <p:cNvPr id="12" name="Text 7"/>
          <p:cNvSpPr/>
          <p:nvPr/>
        </p:nvSpPr>
        <p:spPr>
          <a:xfrm>
            <a:off x="2738438" y="2038350"/>
            <a:ext cx="1700213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质量影响大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2738438" y="2290763"/>
            <a:ext cx="1700213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数据质量直接影响模型效果，低质数据易导致错误模式和决策偏差。精准性至关重要。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4762500" y="1571625"/>
            <a:ext cx="1643063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1875" b="1" dirty="0">
                <a:solidFill>
                  <a:srgbClr val="639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875" dirty="0"/>
          </a:p>
        </p:txBody>
      </p:sp>
      <p:sp>
        <p:nvSpPr>
          <p:cNvPr id="15" name="Text 10"/>
          <p:cNvSpPr/>
          <p:nvPr/>
        </p:nvSpPr>
        <p:spPr>
          <a:xfrm>
            <a:off x="4705350" y="2038350"/>
            <a:ext cx="1700213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精准性要求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4705350" y="2290763"/>
            <a:ext cx="1700213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数据需准确无误，避免噪声与错误标签。确保模型学到真实有效的规律。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6729413" y="1571625"/>
            <a:ext cx="1643063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1875" b="1" dirty="0">
                <a:solidFill>
                  <a:srgbClr val="687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875" dirty="0"/>
          </a:p>
        </p:txBody>
      </p:sp>
      <p:sp>
        <p:nvSpPr>
          <p:cNvPr id="18" name="Text 13"/>
          <p:cNvSpPr/>
          <p:nvPr/>
        </p:nvSpPr>
        <p:spPr>
          <a:xfrm>
            <a:off x="6672263" y="2038350"/>
            <a:ext cx="1700213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完整性保障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672263" y="2290763"/>
            <a:ext cx="1700213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完整数据覆盖各类场景，防止信息缺失。提升模型泛化与适应能力。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828675" y="3309938"/>
            <a:ext cx="1643063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1875" b="1" dirty="0">
                <a:solidFill>
                  <a:srgbClr val="615C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875" dirty="0"/>
          </a:p>
        </p:txBody>
      </p:sp>
      <p:sp>
        <p:nvSpPr>
          <p:cNvPr id="21" name="Text 16"/>
          <p:cNvSpPr/>
          <p:nvPr/>
        </p:nvSpPr>
        <p:spPr>
          <a:xfrm>
            <a:off x="771525" y="3776663"/>
            <a:ext cx="1700213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一致性原则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771525" y="4029075"/>
            <a:ext cx="1700213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数据格式与逻辑应统一，减少冲突与矛盾。增强模型训练稳定性。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2795588" y="3309938"/>
            <a:ext cx="1643063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1875" b="1" dirty="0">
                <a:solidFill>
                  <a:srgbClr val="6644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875" dirty="0"/>
          </a:p>
        </p:txBody>
      </p:sp>
      <p:sp>
        <p:nvSpPr>
          <p:cNvPr id="24" name="Text 19"/>
          <p:cNvSpPr/>
          <p:nvPr/>
        </p:nvSpPr>
        <p:spPr>
          <a:xfrm>
            <a:off x="2738438" y="3776663"/>
            <a:ext cx="1700213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数据偏差风险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2738438" y="4029075"/>
            <a:ext cx="1700213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不均衡或偏态数据引发模型偏见。可能导致不公平或错误输出。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4762500" y="3309938"/>
            <a:ext cx="1643063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1875" b="1" dirty="0">
                <a:solidFill>
                  <a:srgbClr val="3B9D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875" dirty="0"/>
          </a:p>
        </p:txBody>
      </p:sp>
      <p:sp>
        <p:nvSpPr>
          <p:cNvPr id="27" name="Text 22"/>
          <p:cNvSpPr/>
          <p:nvPr/>
        </p:nvSpPr>
        <p:spPr>
          <a:xfrm>
            <a:off x="4705350" y="3776663"/>
            <a:ext cx="1700213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模型失效源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4705350" y="4029075"/>
            <a:ext cx="1700213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劣质数据是模型失败主因之一。清洗与校验环节不可或缺。</a:t>
            </a:r>
            <a:endParaRPr lang="en-US" sz="1050" dirty="0"/>
          </a:p>
        </p:txBody>
      </p:sp>
      <p:sp>
        <p:nvSpPr>
          <p:cNvPr id="29" name="Text 24"/>
          <p:cNvSpPr/>
          <p:nvPr/>
        </p:nvSpPr>
        <p:spPr>
          <a:xfrm>
            <a:off x="6729413" y="3309938"/>
            <a:ext cx="1643063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1875" b="1" dirty="0">
                <a:solidFill>
                  <a:srgbClr val="5BB1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875" dirty="0"/>
          </a:p>
        </p:txBody>
      </p:sp>
      <p:sp>
        <p:nvSpPr>
          <p:cNvPr id="30" name="Text 25"/>
          <p:cNvSpPr/>
          <p:nvPr/>
        </p:nvSpPr>
        <p:spPr>
          <a:xfrm>
            <a:off x="6672263" y="3776663"/>
            <a:ext cx="1700213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业务价值基础</a:t>
            </a:r>
            <a:endParaRPr lang="en-US" sz="1200" dirty="0"/>
          </a:p>
        </p:txBody>
      </p:sp>
      <p:sp>
        <p:nvSpPr>
          <p:cNvPr id="31" name="Text 26"/>
          <p:cNvSpPr/>
          <p:nvPr/>
        </p:nvSpPr>
        <p:spPr>
          <a:xfrm>
            <a:off x="6672263" y="4029075"/>
            <a:ext cx="1700213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优质数据驱动AI创造实际价值。连接技术与应用场景的关键纽带。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6" r="6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16162" b="16162"/>
          <a:stretch/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建立数据处理责任感与技术伦理的初步认知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571500" y="2000250"/>
            <a:ext cx="241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数据责任意识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71500" y="2247900"/>
            <a:ext cx="2413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每一份数据都承载着模型决策的后果，处理数据即是承担技术社会责任。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3365500" y="2000250"/>
            <a:ext cx="241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职业诚信准则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3365500" y="2247900"/>
            <a:ext cx="2413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遵守数据规范操作，杜绝随意标注与篡改，树立诚实守信的职业品格。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159500" y="2000250"/>
            <a:ext cx="241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技术向善理念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6159500" y="2247900"/>
            <a:ext cx="2413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以服务社会为目标，用高质量数据推动人工智能健康、公平、可持续发展。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6" r="6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647950"/>
            <a:ext cx="4762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业务数据的概念与分类体系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BFAF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2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6" r="6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定义业务数据及其在人工智能项目中的角色定位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00050" y="1447800"/>
            <a:ext cx="4171950" cy="14097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00075" y="1654969"/>
            <a:ext cx="257175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业务数据定义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600075" y="1945481"/>
            <a:ext cx="2571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业务数据是企业在运营过程中产生并用于支持决策的各类信息记录，反映实际业务活动的真实状态。</a:t>
            </a:r>
            <a:endParaRPr lang="en-US" sz="10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572000" y="1447800"/>
            <a:ext cx="4171950" cy="28194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972175" y="1654969"/>
            <a:ext cx="257175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AI项目中的角色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5972175" y="1945481"/>
            <a:ext cx="2571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作为模型训练的基础素材，业务数据为算法提供学习依据，直接影响人工智能系统的判断能力与输出效果。</a:t>
            </a:r>
            <a:endParaRPr lang="en-US" sz="10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00050" y="2857500"/>
            <a:ext cx="4171950" cy="14097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00075" y="3064669"/>
            <a:ext cx="257175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数据价值定位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600075" y="3355181"/>
            <a:ext cx="2571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高质量业务数据是构建可靠AI模型的核心资产，贯穿数据采集、标注、训练到应用的全过程。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6" r="6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16162" b="16162"/>
          <a:stretch/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解析结构化数据的特点与典型应用场景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8333" b="8333"/>
          <a:stretch/>
        </p:blipFill>
        <p:spPr>
          <a:xfrm>
            <a:off x="571500" y="1428750"/>
            <a:ext cx="1714500" cy="14287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71500" y="3048000"/>
            <a:ext cx="1714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定义明确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571500" y="3295650"/>
            <a:ext cx="17145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结构化数据以行列表格形式组织，具备统一格式和固定字段，便于机器读取与分析。</a:t>
            </a:r>
            <a:endParaRPr lang="en-US" sz="10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8333" b="8333"/>
          <a:stretch/>
        </p:blipFill>
        <p:spPr>
          <a:xfrm>
            <a:off x="2667000" y="1428750"/>
            <a:ext cx="1714500" cy="14287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667000" y="3048000"/>
            <a:ext cx="1714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高标准化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2667000" y="3295650"/>
            <a:ext cx="17145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遵循预设模式如数据库Schema，支持高效查询、统计与批量处理，兼容SQL等工具。</a:t>
            </a:r>
            <a:endParaRPr lang="en-US" sz="10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8333" b="8333"/>
          <a:stretch/>
        </p:blipFill>
        <p:spPr>
          <a:xfrm>
            <a:off x="4762500" y="1428750"/>
            <a:ext cx="1714500" cy="142875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762500" y="3048000"/>
            <a:ext cx="1714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场景广泛</a:t>
            </a:r>
            <a:endParaRPr lang="en-US" sz="1200" dirty="0"/>
          </a:p>
        </p:txBody>
      </p:sp>
      <p:sp>
        <p:nvSpPr>
          <p:cNvPr id="15" name="Text 8"/>
          <p:cNvSpPr/>
          <p:nvPr/>
        </p:nvSpPr>
        <p:spPr>
          <a:xfrm>
            <a:off x="4762500" y="3295650"/>
            <a:ext cx="17145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常见于企业ERP、CRM系统及金融交易记录，支撑精准业务决策与流程自动化。</a:t>
            </a:r>
            <a:endParaRPr lang="en-US" sz="105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8333" b="8333"/>
          <a:stretch/>
        </p:blipFill>
        <p:spPr>
          <a:xfrm>
            <a:off x="6858000" y="1428750"/>
            <a:ext cx="1714500" cy="142875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6858000" y="3048000"/>
            <a:ext cx="1714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易标注性</a:t>
            </a:r>
            <a:endParaRPr lang="en-US" sz="1200" dirty="0"/>
          </a:p>
        </p:txBody>
      </p:sp>
      <p:sp>
        <p:nvSpPr>
          <p:cNvPr id="18" name="Text 10"/>
          <p:cNvSpPr/>
          <p:nvPr/>
        </p:nvSpPr>
        <p:spPr>
          <a:xfrm>
            <a:off x="6858000" y="3295650"/>
            <a:ext cx="17145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字段清晰、语义明确，适合自动化清洗与规则化标注，提升数据处理效率与一致性。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6" r="6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剖析非结构化数据（如图像、文本）的组织形式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81000" y="2000250"/>
            <a:ext cx="8382000" cy="23717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95313" y="3205163"/>
            <a:ext cx="236220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非结构化数据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95313" y="3457575"/>
            <a:ext cx="23622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指以图像、文本、音频等形式存在的数据，占业务数据总量的80%以上，难以直接被AI模型处理。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595313" y="2247900"/>
            <a:ext cx="236220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数据类型多样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95313" y="2500312"/>
            <a:ext cx="23622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包括图像中的像素矩阵、元信息及文本中的自然语言内容，形态自由且缺乏统一格式。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186488" y="2352675"/>
            <a:ext cx="236220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存储方式分散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6186488" y="2605088"/>
            <a:ext cx="2362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通常存储于文件系统或对象存储中，导致数据整合与访问复杂度增加。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6186488" y="3100388"/>
            <a:ext cx="236220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处理挑战显著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186488" y="3352800"/>
            <a:ext cx="23622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面临语义解析困难、标注成本高和标准化程度低等问题，制约了AI模型的有效训练与应用。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6" r="6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介绍半结构化数据（如JSON、XML）的中间形态特征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00050" y="2019300"/>
            <a:ext cx="2781151" cy="22669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2475" y="2869406"/>
            <a:ext cx="2076301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定义与特征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752475" y="3159919"/>
            <a:ext cx="2076301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半结构化数据介于结构化与非结构化之间，具有自描述性标签结构，格式灵活但可解析。</a:t>
            </a:r>
            <a:endParaRPr lang="en-US" sz="10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181201" y="2019300"/>
            <a:ext cx="2781151" cy="22669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533626" y="2869406"/>
            <a:ext cx="2076301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典型格式示例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3533626" y="3159919"/>
            <a:ext cx="2076301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常见形式包括JSON、XML等，广泛用于API传输、配置文件和日志记录中。</a:t>
            </a:r>
            <a:endParaRPr lang="en-US" sz="10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962352" y="2019300"/>
            <a:ext cx="2781151" cy="22669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314777" y="2869406"/>
            <a:ext cx="2076301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应用与挑战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6314777" y="3159919"/>
            <a:ext cx="2076301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支持嵌套与动态字段，便于扩展，但需规范解析以确保数据质量与标注一致性。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6" r="6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16162" b="16162"/>
          <a:stretch/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通过实际样本对比三类数据的采集与存储差异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81000" y="1428750"/>
            <a:ext cx="8382000" cy="340042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766888" y="1514475"/>
            <a:ext cx="266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B9D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4"/>
          <p:cNvSpPr/>
          <p:nvPr/>
        </p:nvSpPr>
        <p:spPr>
          <a:xfrm>
            <a:off x="1085850" y="1905000"/>
            <a:ext cx="1628775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结构化数据源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1085850" y="2195513"/>
            <a:ext cx="1628775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来自数据库自动记录，以表格形式存储。通常存于MySQL等关系型数据库中。便于查询与系统化管理。</a:t>
            </a:r>
            <a:endParaRPr lang="en-US" sz="1050" dirty="0"/>
          </a:p>
        </p:txBody>
      </p:sp>
      <p:sp>
        <p:nvSpPr>
          <p:cNvPr id="11" name="Text 6"/>
          <p:cNvSpPr/>
          <p:nvPr/>
        </p:nvSpPr>
        <p:spPr>
          <a:xfrm>
            <a:off x="3548062" y="1514475"/>
            <a:ext cx="266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BB1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2867025" y="1905000"/>
            <a:ext cx="1628775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非结构化数据源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2867025" y="2195513"/>
            <a:ext cx="1628775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通过传感器或用户上传获取。以文件形式保存在对象存储中。需专用工具进行处理分析。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5329238" y="1514475"/>
            <a:ext cx="266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39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4648200" y="1905000"/>
            <a:ext cx="1628775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半结构化数据源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4648200" y="2195513"/>
            <a:ext cx="1628775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由系统日志或接口生成。常用JSON或XML格式存储。具有灵活性但管理较复杂。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7110413" y="1514475"/>
            <a:ext cx="266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87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429375" y="1905000"/>
            <a:ext cx="1628775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存储方式差异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429375" y="2195513"/>
            <a:ext cx="1628775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结构化数据用表格存储。非结构化数据存为文件。半结构化多用文本格式。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7110413" y="3195638"/>
            <a:ext cx="266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15C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6429375" y="3586163"/>
            <a:ext cx="1628775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数据管理难度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6429375" y="3876675"/>
            <a:ext cx="1628775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结构化数据易于管理。半结构化在解析和版本上较难。非结构化依赖外部工具处理。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5329238" y="3195638"/>
            <a:ext cx="266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644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4648200" y="3586163"/>
            <a:ext cx="1628775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数据查询效率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4648200" y="3876675"/>
            <a:ext cx="1628775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结构化支持高效SQL查询。非结构化需预处理才能检索。半结构化依赖解析工具提升效率。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3548062" y="3195638"/>
            <a:ext cx="266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B9D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500" dirty="0"/>
          </a:p>
        </p:txBody>
      </p:sp>
      <p:sp>
        <p:nvSpPr>
          <p:cNvPr id="27" name="Text 22"/>
          <p:cNvSpPr/>
          <p:nvPr/>
        </p:nvSpPr>
        <p:spPr>
          <a:xfrm>
            <a:off x="2867025" y="3586163"/>
            <a:ext cx="1628775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数据格式特点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2867025" y="3876675"/>
            <a:ext cx="1628775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结构化遵循固定模式。半结构化有标签但不统一。非结构化无固定格式。</a:t>
            </a:r>
            <a:endParaRPr lang="en-US" sz="1050" dirty="0"/>
          </a:p>
        </p:txBody>
      </p:sp>
      <p:sp>
        <p:nvSpPr>
          <p:cNvPr id="29" name="Text 24"/>
          <p:cNvSpPr/>
          <p:nvPr/>
        </p:nvSpPr>
        <p:spPr>
          <a:xfrm>
            <a:off x="1766888" y="3195638"/>
            <a:ext cx="266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BB1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500" dirty="0"/>
          </a:p>
        </p:txBody>
      </p:sp>
      <p:sp>
        <p:nvSpPr>
          <p:cNvPr id="30" name="Text 25"/>
          <p:cNvSpPr/>
          <p:nvPr/>
        </p:nvSpPr>
        <p:spPr>
          <a:xfrm>
            <a:off x="1085850" y="3586163"/>
            <a:ext cx="1628775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处理工具需求</a:t>
            </a:r>
            <a:endParaRPr lang="en-US" sz="1200" dirty="0"/>
          </a:p>
        </p:txBody>
      </p:sp>
      <p:sp>
        <p:nvSpPr>
          <p:cNvPr id="31" name="Text 26"/>
          <p:cNvSpPr/>
          <p:nvPr/>
        </p:nvSpPr>
        <p:spPr>
          <a:xfrm>
            <a:off x="1085850" y="3876675"/>
            <a:ext cx="1628775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结构化可用常规数据库工具。非结构化需AI或批处理工具。半结构化依赖解析器与转换工具。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6" r="6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总结不同数据类型的处理挑战与标注需求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00050" y="2019300"/>
            <a:ext cx="2085975" cy="23383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2475" y="2800350"/>
            <a:ext cx="1381125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结构化数据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752475" y="3090863"/>
            <a:ext cx="1381125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表格数据易处理但需确保字段完整、类型准确，标注时强调规范性与一致性。</a:t>
            </a:r>
            <a:endParaRPr lang="en-US" sz="10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486025" y="2019300"/>
            <a:ext cx="2085975" cy="233838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838450" y="2800350"/>
            <a:ext cx="1381125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非结构化数据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2838450" y="3090863"/>
            <a:ext cx="1381125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图像、文本等需复杂标注工具，处理难度高，依赖人工判读与语义理解。</a:t>
            </a:r>
            <a:endParaRPr lang="en-US" sz="10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572000" y="2019300"/>
            <a:ext cx="2085975" cy="233838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924425" y="2800350"/>
            <a:ext cx="1381125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半结构化数据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4924425" y="3090863"/>
            <a:ext cx="1381125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JSON/XML含部分结构，需解析嵌套信息，标注时注意层级逻辑与格式统一。</a:t>
            </a:r>
            <a:endParaRPr lang="en-US" sz="10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657975" y="2019300"/>
            <a:ext cx="2085975" cy="233838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010400" y="2800350"/>
            <a:ext cx="1381125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标注需求差异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7010400" y="3090863"/>
            <a:ext cx="1381125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不同类型数据对标注精度、工具和流程要求不同，需定制化处理策略。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6" r="6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647950"/>
            <a:ext cx="4762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数据质量的核心评价维度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BFAF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2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6" r="6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阐述数据完整性标准：字段缺失与记录空缺的影响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20395" b="20395"/>
          <a:stretch/>
        </p:blipFill>
        <p:spPr>
          <a:xfrm>
            <a:off x="571500" y="1428750"/>
            <a:ext cx="2413000" cy="14287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66750" y="3048000"/>
            <a:ext cx="2222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完整性定义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666750" y="3295650"/>
            <a:ext cx="2222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数据完整性指数据记录和字段无缺失，确保信息可被完整读取与分析。</a:t>
            </a:r>
            <a:endParaRPr lang="en-US" sz="10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20395" b="20395"/>
          <a:stretch/>
        </p:blipFill>
        <p:spPr>
          <a:xfrm>
            <a:off x="3365500" y="1428750"/>
            <a:ext cx="2413000" cy="14287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460750" y="3048000"/>
            <a:ext cx="2222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缺失影响分析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3460750" y="3295650"/>
            <a:ext cx="2222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字段或记录缺失会导致模型训练样本偏差，降低预测准确性和泛化能力。</a:t>
            </a:r>
            <a:endParaRPr lang="en-US" sz="10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20395" b="20395"/>
          <a:stretch/>
        </p:blipFill>
        <p:spPr>
          <a:xfrm>
            <a:off x="6159500" y="1428750"/>
            <a:ext cx="2413000" cy="14287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254750" y="3048000"/>
            <a:ext cx="2222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典型场景示例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6254750" y="3295650"/>
            <a:ext cx="22225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如用户信息表中缺少联系方式或地址，将直接影响数据分析结果的有效性。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6" r="6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16162" b="16162"/>
          <a:stretch/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讲解数据准确性要求：真实反映客观事实的程度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571500" y="2000250"/>
            <a:ext cx="1714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准确性的定义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71500" y="2247900"/>
            <a:ext cx="17145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数据准确性指数据真实、可靠地反映现实世界实体或事件的程度，是数据质量的核心标准之一。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2667000" y="2000250"/>
            <a:ext cx="1714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错误示例分析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2667000" y="2247900"/>
            <a:ext cx="17145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如将‘年龄’字段录入为‘200岁’或地址信息错填为其他城市，均属于违背客观事实的典型错误。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4762500" y="2000250"/>
            <a:ext cx="1714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影响模型训练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762500" y="2247900"/>
            <a:ext cx="17145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不准确的数据会导致模型学习到错误的特征关联，降低预测精度，甚至引发严重决策偏差。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6858000" y="2000250"/>
            <a:ext cx="1714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保障措施建议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858000" y="2247900"/>
            <a:ext cx="17145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通过规范采集流程、设置校验规则和人工复核机制，可有效提升数据的准确性水平。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6" r="6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16162" b="16162"/>
          <a:stretch/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说明数据一致性原则：跨系统或时间维度的逻辑统一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81000" y="2000250"/>
            <a:ext cx="8382000" cy="237172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95313" y="3205163"/>
            <a:ext cx="236220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统一数据标准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595313" y="3457575"/>
            <a:ext cx="23622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建立统一的数据标准，确保不同系统间的数据定义一致，避免语义歧义和取值差异。</a:t>
            </a:r>
            <a:endParaRPr lang="en-US" sz="1050" dirty="0"/>
          </a:p>
        </p:txBody>
      </p:sp>
      <p:sp>
        <p:nvSpPr>
          <p:cNvPr id="10" name="Text 5"/>
          <p:cNvSpPr/>
          <p:nvPr/>
        </p:nvSpPr>
        <p:spPr>
          <a:xfrm>
            <a:off x="595313" y="2247900"/>
            <a:ext cx="236220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保持时序一致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595313" y="2500312"/>
            <a:ext cx="23622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在时间维度上遵循业务逻辑，防止时序倒置或跳变，确保数据演变过程合理可信。</a:t>
            </a:r>
            <a:endParaRPr lang="en-US" sz="1050" dirty="0"/>
          </a:p>
        </p:txBody>
      </p:sp>
      <p:sp>
        <p:nvSpPr>
          <p:cNvPr id="12" name="Text 7"/>
          <p:cNvSpPr/>
          <p:nvPr/>
        </p:nvSpPr>
        <p:spPr>
          <a:xfrm>
            <a:off x="6186488" y="2247900"/>
            <a:ext cx="236220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维护跨系统同步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6186488" y="2500312"/>
            <a:ext cx="23622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保障数据在多个系统间的同步与一致性，减少信息割裂，提升数据流转的可靠性。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6186488" y="3205163"/>
            <a:ext cx="236220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强化规则约束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6186488" y="3457575"/>
            <a:ext cx="23622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持续维护数据间的关联关系，确保其符合预设规则，增强数据完整性和业务合规性。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6" r="6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强调数据有效性规范：符合预设格式与取值范围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00050" y="1447800"/>
            <a:ext cx="4171950" cy="14097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00075" y="1759744"/>
            <a:ext cx="257175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定义有效性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600075" y="2050256"/>
            <a:ext cx="2571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数据字段需符合预设格式与业务规则，确保可被系统正确解析和处理。</a:t>
            </a:r>
            <a:endParaRPr lang="en-US" sz="10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572000" y="1447800"/>
            <a:ext cx="4171950" cy="14097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972175" y="1759744"/>
            <a:ext cx="257175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格式合规性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5972175" y="2050256"/>
            <a:ext cx="2571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如日期为YYYY-MM-DD、手机号为11位数字，格式错误将导致数据无法识别。</a:t>
            </a:r>
            <a:endParaRPr lang="en-US" sz="10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00050" y="2857500"/>
            <a:ext cx="4171950" cy="14097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00075" y="3169444"/>
            <a:ext cx="257175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取值合理性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600075" y="3459956"/>
            <a:ext cx="2571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数值应在合理范围内，例如年龄0-150，超出则视为无效，影响模型判断。</a:t>
            </a:r>
            <a:endParaRPr lang="en-US" sz="10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572000" y="2857500"/>
            <a:ext cx="4171950" cy="14097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972175" y="3169444"/>
            <a:ext cx="257175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校验机制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5972175" y="3459956"/>
            <a:ext cx="2571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通过正则表达式、数据类型检查等技术手段自动过滤无效输入，保障数据纯净。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6" r="6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16162" b="16162"/>
          <a:stretch/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分析数据及时性价值：时效性对模型预测能力的作用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81000" y="1428750"/>
            <a:ext cx="8382000" cy="340042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914775" y="1885950"/>
            <a:ext cx="131445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3B9D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数据时效性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676275" y="3128962"/>
            <a:ext cx="11049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5BB1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预测准确性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876300" y="3457575"/>
            <a:ext cx="10096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实时数据提升模型对当前趋势的捕捉能力。</a:t>
            </a:r>
            <a:endParaRPr lang="en-US" sz="1050" dirty="0"/>
          </a:p>
        </p:txBody>
      </p:sp>
      <p:sp>
        <p:nvSpPr>
          <p:cNvPr id="11" name="Text 6"/>
          <p:cNvSpPr/>
          <p:nvPr/>
        </p:nvSpPr>
        <p:spPr>
          <a:xfrm>
            <a:off x="876300" y="4124325"/>
            <a:ext cx="10096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延迟数据导致预测结果偏离真实情况。</a:t>
            </a:r>
            <a:endParaRPr lang="en-US" sz="1050" dirty="0"/>
          </a:p>
        </p:txBody>
      </p:sp>
      <p:sp>
        <p:nvSpPr>
          <p:cNvPr id="12" name="Text 7"/>
          <p:cNvSpPr/>
          <p:nvPr/>
        </p:nvSpPr>
        <p:spPr>
          <a:xfrm>
            <a:off x="2009775" y="3128962"/>
            <a:ext cx="11049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639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决策支持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2209800" y="3457575"/>
            <a:ext cx="10096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及时数据支撑快速响应的业务决策。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2209800" y="4124325"/>
            <a:ext cx="10096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过时信息可能导致错误判断和资源浪费。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3343275" y="3128962"/>
            <a:ext cx="11049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687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数据漂移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3543300" y="3457575"/>
            <a:ext cx="10096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分布变化使模型输出不可靠。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3543300" y="3914775"/>
            <a:ext cx="10096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长期未更新数据加剧概念漂移问题。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4676775" y="3128962"/>
            <a:ext cx="11049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615C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特征分布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4876800" y="3457575"/>
            <a:ext cx="10096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输入特征随时间变化影响模型表现。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4876800" y="4124325"/>
            <a:ext cx="10096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分布偏移需通过在线学习动态调整。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6010275" y="3128962"/>
            <a:ext cx="11049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6644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模型稳定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6210300" y="3457575"/>
            <a:ext cx="10096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持续输入新鲜数据维持性能平稳。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6210300" y="4124325"/>
            <a:ext cx="10096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数据断流会导致模型退化和震荡。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7343775" y="3128962"/>
            <a:ext cx="11049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3B9D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训练效果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7543800" y="3457575"/>
            <a:ext cx="10096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高质量实时数据增强学习收敛速度。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7543800" y="4124325"/>
            <a:ext cx="10096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陈旧样本降低模型泛化与适应能力。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6" r="6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归纳五大标准之间的关联性与综合评估路径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00050" y="1447800"/>
            <a:ext cx="2085975" cy="254793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2475" y="2228850"/>
            <a:ext cx="1381125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标准联动性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752475" y="2519363"/>
            <a:ext cx="1381125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完整性缺失常引发准确性问题，五项标准相互影响，需整体考量以避免单一维度优化导致的系统性偏差。</a:t>
            </a:r>
            <a:endParaRPr lang="en-US" sz="10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486025" y="1447800"/>
            <a:ext cx="2085975" cy="254793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838450" y="2228850"/>
            <a:ext cx="1381125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权重动态分配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2838450" y="2519363"/>
            <a:ext cx="1381125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不同场景下各标准重要性不同，应根据业务需求动态调整评价权重，实现针对性质量控制。</a:t>
            </a:r>
            <a:endParaRPr lang="en-US" sz="10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572000" y="1447800"/>
            <a:ext cx="2085975" cy="254793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924425" y="2228850"/>
            <a:ext cx="1381125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综合评分模型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4924425" y="2519363"/>
            <a:ext cx="1381125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构建量化评估矩阵，整合五维指标得分，生成数据质量总评等级，支持可比性分析与决策参考。</a:t>
            </a:r>
            <a:endParaRPr lang="en-US" sz="10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657975" y="1447800"/>
            <a:ext cx="2085975" cy="254793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010400" y="2228850"/>
            <a:ext cx="1381125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闭环改进路径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7010400" y="2519363"/>
            <a:ext cx="1381125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基于评估结果定位薄弱环节，反馈至采集与标注流程，形成‘评估-优化-再评估’的质量提升循环。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6" r="6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647950"/>
            <a:ext cx="4762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常见数据质量问题识别与归类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BFAF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2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6" r="6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16162" b="16162"/>
          <a:stretch/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识别重复记录与冗余信息对训练集的干扰效应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571500" y="2000250"/>
            <a:ext cx="2413000" cy="21431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AE9C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71500" y="2328863"/>
            <a:ext cx="241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重复记录定义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71500" y="2576513"/>
            <a:ext cx="24130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同一数据样本在训练集中多次出现，导致模型过度关注冗余信息，影响学习平衡性。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3365500" y="2000250"/>
            <a:ext cx="2413000" cy="21431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AE9C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3365500" y="2328863"/>
            <a:ext cx="241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冗余信息影响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3365500" y="2576513"/>
            <a:ext cx="2413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无关或重复字段增加噪声，降低特征有效性，干扰模型对关键模式的学习能力。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6159500" y="2000250"/>
            <a:ext cx="2413000" cy="21431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AE9C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159500" y="2328863"/>
            <a:ext cx="241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训练集干扰机制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6159500" y="2576513"/>
            <a:ext cx="2413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重复与冗余数据扭曲样本分布，引发模型偏差，可能导致过拟合与泛化性能下降。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81025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5743" r="5743" t="0" b="0"/>
          <a:stretch/>
        </p:blipFill>
        <p:spPr>
          <a:xfrm>
            <a:off x="0" y="0"/>
            <a:ext cx="9144000" cy="581025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16162" b="16162"/>
          <a:stretch/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发现异常值与极端数值在数值型数据中的表现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81000" y="1428750"/>
            <a:ext cx="8382000" cy="41910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129088" y="3481388"/>
            <a:ext cx="88582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3B9D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异常值处理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2581275" y="1676400"/>
            <a:ext cx="8477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5BB1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定义与成因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419100" y="2047875"/>
            <a:ext cx="25955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显著偏离整体分布的极端数值，不属于正常波动范围。</a:t>
            </a:r>
            <a:endParaRPr lang="en-US" sz="1050" dirty="0"/>
          </a:p>
        </p:txBody>
      </p:sp>
      <p:sp>
        <p:nvSpPr>
          <p:cNvPr id="11" name="Text 6"/>
          <p:cNvSpPr/>
          <p:nvPr/>
        </p:nvSpPr>
        <p:spPr>
          <a:xfrm>
            <a:off x="419100" y="2505075"/>
            <a:ext cx="25955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常由录入错误、传感器故障或测量偏差导致。</a:t>
            </a:r>
            <a:endParaRPr lang="en-US" sz="1050" dirty="0"/>
          </a:p>
        </p:txBody>
      </p:sp>
      <p:sp>
        <p:nvSpPr>
          <p:cNvPr id="12" name="Text 7"/>
          <p:cNvSpPr/>
          <p:nvPr/>
        </p:nvSpPr>
        <p:spPr>
          <a:xfrm>
            <a:off x="2581275" y="3133725"/>
            <a:ext cx="8477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639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识别方法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419100" y="3505200"/>
            <a:ext cx="25955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3σ原则：超出均值±3倍标准差的数据视为异常。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419100" y="3962400"/>
            <a:ext cx="25955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箱线图法：利用四分位距检测上下边界外的离群点。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2581275" y="4591050"/>
            <a:ext cx="8477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687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419100" y="4962525"/>
            <a:ext cx="259556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扭曲均值和方差，误导数据分布判断。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419100" y="5210175"/>
            <a:ext cx="259556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干扰模型训练过程，降低预测准确率。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6076950" y="1552575"/>
            <a:ext cx="8477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615C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处理策略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129338" y="1924050"/>
            <a:ext cx="259556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修正：根据业务逻辑填补合理值。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6129338" y="2171700"/>
            <a:ext cx="259556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剔除：在确认无业务意义时删除异常记录。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6129338" y="2419350"/>
            <a:ext cx="259556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标记：保留但添加标识供模型识别。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6076950" y="2838450"/>
            <a:ext cx="8477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6644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业务关联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6129338" y="3209925"/>
            <a:ext cx="25955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金融风控中异常交易可能是欺诈行为，需保留分析。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6129338" y="3667125"/>
            <a:ext cx="25955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工业监测中突变数据可能反映设备故障，不应盲目剔除。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6076950" y="4295775"/>
            <a:ext cx="8477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3B9D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预防措施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6129338" y="4667250"/>
            <a:ext cx="25955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加强数据采集质量控制，减少人为录入错误。</a:t>
            </a:r>
            <a:endParaRPr lang="en-US" sz="1050" dirty="0"/>
          </a:p>
        </p:txBody>
      </p:sp>
      <p:sp>
        <p:nvSpPr>
          <p:cNvPr id="27" name="Text 22"/>
          <p:cNvSpPr/>
          <p:nvPr/>
        </p:nvSpPr>
        <p:spPr>
          <a:xfrm>
            <a:off x="6129338" y="5124450"/>
            <a:ext cx="25955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建立实时监控机制，及时发现并响应异常波动。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7215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5451" r="5451" t="0" b="0"/>
          <a:stretch/>
        </p:blipFill>
        <p:spPr>
          <a:xfrm>
            <a:off x="0" y="0"/>
            <a:ext cx="9144000" cy="57721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判断格式不统一、编码混乱引发的解析障碍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81000" y="1428750"/>
            <a:ext cx="8382000" cy="41529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95313" y="4414540"/>
            <a:ext cx="236220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格式不一致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95313" y="4666952"/>
            <a:ext cx="236220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日期等字段存在多种数据格式，导致系统解析困难。格式混杂影响数据读取的准确性。需统一格式标准以提升兼容性。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595313" y="3431977"/>
            <a:ext cx="236220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编码冲突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95313" y="3684389"/>
            <a:ext cx="23622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不同编码方式混合存储引发乱码问题。编码不统一阻碍数据正确解析。需规范编码策略保障数据完整性。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595313" y="2449413"/>
            <a:ext cx="236220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命名无序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95313" y="2701826"/>
            <a:ext cx="23622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文件与字段命名缺乏统一规则。命名混乱增加自动化处理难度。应建立命名规范提高可维护性。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595313" y="1466850"/>
            <a:ext cx="236220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结构错乱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95313" y="1719263"/>
            <a:ext cx="23622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数据层级嵌套错误或标签未闭合。结构异常导致解析失败风险上升。需校验数据结构确保有效性。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6186488" y="1571625"/>
            <a:ext cx="236220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解析失败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186488" y="1824038"/>
            <a:ext cx="23622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格式与结构问题共同引发解析中断。系统难以稳定读取异常数据。必须前置校验减少运行时错误。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6186488" y="2554188"/>
            <a:ext cx="236220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数据稳定性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186488" y="2806601"/>
            <a:ext cx="23622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数据质量问题威胁系统稳定性。频繁出错降低服务可靠性。优化输入源可增强整体健壮性。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6186488" y="3536752"/>
            <a:ext cx="236220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自动化受阻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6186488" y="3789164"/>
            <a:ext cx="23622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不一致的数据形式阻碍自动化流程。脚本与工具难以通用化处理。标准化是实现高效自动化的前提。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6186488" y="4519315"/>
            <a:ext cx="236220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管理规范缺失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6186488" y="4771727"/>
            <a:ext cx="23622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缺乏统一的数据管理规范是根本原因。制度建设滞后于技术发展。应制定并执行数据治理标准。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6" r="6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定位标签错误、边界模糊等标注质量问题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00050" y="2019300"/>
            <a:ext cx="2781151" cy="22669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2475" y="2869406"/>
            <a:ext cx="2076301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标签错误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752475" y="3159919"/>
            <a:ext cx="2076301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标注中类别错标或漏标，导致模型学习错误映射关系，影响分类准确性。</a:t>
            </a:r>
            <a:endParaRPr lang="en-US" sz="10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181201" y="2019300"/>
            <a:ext cx="2781151" cy="22669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533626" y="2974181"/>
            <a:ext cx="2076301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边界模糊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3533626" y="3264694"/>
            <a:ext cx="207630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目标对象标注框不精确，过松或过紧，降低模型定位与识别精度。</a:t>
            </a:r>
            <a:endParaRPr lang="en-US" sz="10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962352" y="2019300"/>
            <a:ext cx="2781151" cy="22669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314777" y="2869406"/>
            <a:ext cx="2076301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标准不一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6314777" y="3159919"/>
            <a:ext cx="2076301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多人标注缺乏统一规范，造成相同样本标签不一致，削弱数据可信度。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6" r="6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16162" b="16162"/>
          <a:stretch/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分析数据漂移现象对长期模型性能的潜在威胁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539875" y="2000250"/>
            <a:ext cx="476250" cy="4762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71500" y="2590800"/>
            <a:ext cx="241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何为数据漂移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571500" y="2838450"/>
            <a:ext cx="24130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数据分布随时间发生变化，导致训练数据与实际输入不一致，影响模型判断准确性。</a:t>
            </a:r>
            <a:endParaRPr lang="en-US" sz="10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33875" y="2000250"/>
            <a:ext cx="476250" cy="4762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365500" y="2590800"/>
            <a:ext cx="241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典型表现形式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3365500" y="2838450"/>
            <a:ext cx="2413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特征值范围偏移、类别比例失衡、新出现未见过的数据模式，引发预测失效风险。</a:t>
            </a:r>
            <a:endParaRPr lang="en-US" sz="10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7127875" y="2000250"/>
            <a:ext cx="476250" cy="47625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159500" y="2590800"/>
            <a:ext cx="241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对模型的威胁</a:t>
            </a:r>
            <a:endParaRPr lang="en-US" sz="1200" dirty="0"/>
          </a:p>
        </p:txBody>
      </p:sp>
      <p:sp>
        <p:nvSpPr>
          <p:cNvPr id="15" name="Text 8"/>
          <p:cNvSpPr/>
          <p:nvPr/>
        </p:nvSpPr>
        <p:spPr>
          <a:xfrm>
            <a:off x="6159500" y="2838450"/>
            <a:ext cx="2413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模型性能逐渐下降，泛化能力减弱，严重时导致决策错误，需重新训练或更新。</a:t>
            </a:r>
            <a:endParaRPr 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6" r="6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构建典型问题分类框架以支持系统化排查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71500" y="2000250"/>
            <a:ext cx="1714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问题分类体系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71500" y="2247900"/>
            <a:ext cx="17145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建立结构化、非结构化与半结构化数据的统一问题分类框架，覆盖字段级、记录级与数据集级典型缺陷。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2667000" y="2000250"/>
            <a:ext cx="1714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系统化排查路径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667000" y="2247900"/>
            <a:ext cx="17145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按数据类型与来源设计标准化检查流程，提升问题发现效率与处理一致性。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762500" y="2000250"/>
            <a:ext cx="1714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问题关联分析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762500" y="2247900"/>
            <a:ext cx="17145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识别重复、异常、格式混乱等问题间的耦合关系，避免孤立处理导致遗漏。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858000" y="2000250"/>
            <a:ext cx="1714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质量归因模型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858000" y="2247900"/>
            <a:ext cx="17145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结合标注流程与采集环节追溯问题根源，支持从操作层面改进数据质量。</a:t>
            </a:r>
            <a:endParaRPr lang="en-US" sz="10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6" r="6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647950"/>
            <a:ext cx="4762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数据质量对人工智能模型的影响机制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BFAF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2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6" r="6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16162" b="16162"/>
          <a:stretch/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揭示低质量数据如何导致模型学习偏差与过拟合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8333" b="8333"/>
          <a:stretch/>
        </p:blipFill>
        <p:spPr>
          <a:xfrm>
            <a:off x="571500" y="1428750"/>
            <a:ext cx="1714500" cy="14287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71500" y="3048000"/>
            <a:ext cx="1714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学习偏差根源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571500" y="3295650"/>
            <a:ext cx="17145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低质量数据包含错误标签或样本偏斜，导致模型学习到虚假关联，形成系统性偏差。</a:t>
            </a:r>
            <a:endParaRPr lang="en-US" sz="10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8333" b="8333"/>
          <a:stretch/>
        </p:blipFill>
        <p:spPr>
          <a:xfrm>
            <a:off x="2667000" y="1428750"/>
            <a:ext cx="1714500" cy="14287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667000" y="3048000"/>
            <a:ext cx="1714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过拟合触发机制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2667000" y="3295650"/>
            <a:ext cx="17145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噪声多、重复高的脏数据使模型过度记忆无效特征，降低泛化能力。</a:t>
            </a:r>
            <a:endParaRPr lang="en-US" sz="10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8333" b="8333"/>
          <a:stretch/>
        </p:blipFill>
        <p:spPr>
          <a:xfrm>
            <a:off x="4762500" y="1428750"/>
            <a:ext cx="1714500" cy="142875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762500" y="3048000"/>
            <a:ext cx="1714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特征误导效应</a:t>
            </a:r>
            <a:endParaRPr lang="en-US" sz="1200" dirty="0"/>
          </a:p>
        </p:txBody>
      </p:sp>
      <p:sp>
        <p:nvSpPr>
          <p:cNvPr id="15" name="Text 8"/>
          <p:cNvSpPr/>
          <p:nvPr/>
        </p:nvSpPr>
        <p:spPr>
          <a:xfrm>
            <a:off x="4762500" y="3295650"/>
            <a:ext cx="17145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异常值和不一致字段扭曲特征分布，误导模型权重分配，影响决策准确性。</a:t>
            </a:r>
            <a:endParaRPr lang="en-US" sz="105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8333" b="8333"/>
          <a:stretch/>
        </p:blipFill>
        <p:spPr>
          <a:xfrm>
            <a:off x="6858000" y="1428750"/>
            <a:ext cx="1714500" cy="142875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6858000" y="3048000"/>
            <a:ext cx="1714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训练稳定性差</a:t>
            </a:r>
            <a:endParaRPr lang="en-US" sz="1200" dirty="0"/>
          </a:p>
        </p:txBody>
      </p:sp>
      <p:sp>
        <p:nvSpPr>
          <p:cNvPr id="18" name="Text 10"/>
          <p:cNvSpPr/>
          <p:nvPr/>
        </p:nvSpPr>
        <p:spPr>
          <a:xfrm>
            <a:off x="6858000" y="3295650"/>
            <a:ext cx="17145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数据缺失与格式混乱造成梯度波动，加剧模型训练过程的不稳定性。</a:t>
            </a:r>
            <a:endParaRPr lang="en-US" sz="10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6" r="6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16162" b="16162"/>
          <a:stretch/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演示噪声数据降低模型泛化能力的具体过程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81000" y="1428750"/>
            <a:ext cx="8382000" cy="239077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81050" y="1466850"/>
            <a:ext cx="1557338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噪声干扰影响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781050" y="1843088"/>
            <a:ext cx="1557338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噪声会引入虚假模式，误导模型学习错误特征关联，降低对真实数据规律的识别能力。</a:t>
            </a:r>
            <a:endParaRPr lang="en-US" sz="1050" dirty="0"/>
          </a:p>
        </p:txBody>
      </p:sp>
      <p:sp>
        <p:nvSpPr>
          <p:cNvPr id="10" name="Text 5"/>
          <p:cNvSpPr/>
          <p:nvPr/>
        </p:nvSpPr>
        <p:spPr>
          <a:xfrm>
            <a:off x="2757488" y="1466850"/>
            <a:ext cx="1557338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模型过拟合风险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2757488" y="1843088"/>
            <a:ext cx="1557338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模型可能过度适应含噪样本，导致在训练数据上表现好但在新数据上泛化性能下降。</a:t>
            </a:r>
            <a:endParaRPr lang="en-US" sz="1050" dirty="0"/>
          </a:p>
        </p:txBody>
      </p:sp>
      <p:sp>
        <p:nvSpPr>
          <p:cNvPr id="12" name="Text 7"/>
          <p:cNvSpPr/>
          <p:nvPr/>
        </p:nvSpPr>
        <p:spPr>
          <a:xfrm>
            <a:off x="4733925" y="1466850"/>
            <a:ext cx="1557338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数据分布破坏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4733925" y="1843088"/>
            <a:ext cx="1557338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噪声干扰会改变原始数据分布，破坏一致性，影响模型对真实分布的学习效果。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6710363" y="1466850"/>
            <a:ext cx="1557338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特征提取困难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6710363" y="1843088"/>
            <a:ext cx="155733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噪声掩盖了关键特征，使模型难以捕捉稳定、可迁移的通用特征表达。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781050" y="2852737"/>
            <a:ext cx="3533775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学习效率降低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781050" y="3228975"/>
            <a:ext cx="3533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模型需花费额外资源处理无意义信息，减缓收敛速度并降低学习效率。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4733925" y="2852737"/>
            <a:ext cx="3533775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泛化能力下降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4733925" y="3228975"/>
            <a:ext cx="3533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受噪声影响，模型在未知数据上的预测准确性和鲁棒性显著减弱。</a:t>
            </a:r>
            <a:endParaRPr lang="en-US" sz="10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6" r="6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分析样本不平衡问题对分类器决策边界的扭曲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190625" y="2000250"/>
            <a:ext cx="476250" cy="4762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71500" y="2590800"/>
            <a:ext cx="1714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概念解析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71500" y="2838450"/>
            <a:ext cx="17145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样本不平衡指分类任务中各类别数据量差异悬殊，导致模型偏向多数类。</a:t>
            </a:r>
            <a:endParaRPr lang="en-US" sz="10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286125" y="2000250"/>
            <a:ext cx="476250" cy="4762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667000" y="2590800"/>
            <a:ext cx="1714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边界偏移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2667000" y="2838450"/>
            <a:ext cx="17145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分类器决策边界向少数类倾斜，降低其识别率，影响整体模型公平性。</a:t>
            </a:r>
            <a:endParaRPr lang="en-US" sz="10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381625" y="2000250"/>
            <a:ext cx="476250" cy="4762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762500" y="2590800"/>
            <a:ext cx="1714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学习偏差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4762500" y="2838450"/>
            <a:ext cx="17145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模型难以学习少数类特征，误将稀有模式视为噪声而忽略。</a:t>
            </a:r>
            <a:endParaRPr lang="en-US" sz="10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7477125" y="2000250"/>
            <a:ext cx="476250" cy="47625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858000" y="2590800"/>
            <a:ext cx="1714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实际后果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6858000" y="2838450"/>
            <a:ext cx="17145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在医疗、金融等场景中可能导致关键事件漏判，引发严重应用风险。</a:t>
            </a:r>
            <a:endParaRPr lang="en-US" sz="10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6" r="6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16162" b="16162"/>
          <a:stretch/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探讨脏数据在深度学习中传播误差的路径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571500" y="2000250"/>
            <a:ext cx="1714500" cy="21431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AE9C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71500" y="2328863"/>
            <a:ext cx="1714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误差输入层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71500" y="2576513"/>
            <a:ext cx="17145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脏数据作为初始输入，携带噪声或错误标签进入模型，导致特征提取偏差。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2667000" y="2000250"/>
            <a:ext cx="1714500" cy="21431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AE9C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2667000" y="2328863"/>
            <a:ext cx="1714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误差隐藏层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2667000" y="2576513"/>
            <a:ext cx="17145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网络在训练中将错误模式当作有效特征学习，逐层放大偏差。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4762500" y="2000250"/>
            <a:ext cx="1714500" cy="21431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AE9C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762500" y="2328863"/>
            <a:ext cx="1714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权重污染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762500" y="2576513"/>
            <a:ext cx="17145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反向传播时，基于错误样本更新权重，使模型参数偏离最优解。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6858000" y="2000250"/>
            <a:ext cx="1714500" cy="21431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AE9C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6858000" y="2328863"/>
            <a:ext cx="1714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输出失控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858000" y="2576513"/>
            <a:ext cx="17145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最终预测结果受累积误差影响，产生不可靠、不稳定的输出表现。</a:t>
            </a:r>
            <a:endParaRPr lang="en-US" sz="10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6" r="6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结合案例说明高质量数据提升模型精度的实际效果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00050" y="2019300"/>
            <a:ext cx="2781151" cy="22669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2475" y="2869406"/>
            <a:ext cx="2076301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医疗影像诊断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752475" y="3159919"/>
            <a:ext cx="2076301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使用清洗后高精度标注的肺部CT数据集，模型病灶识别准确率从76%提升至93%，显著降低误诊率。</a:t>
            </a:r>
            <a:endParaRPr lang="en-US" sz="10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181201" y="2019300"/>
            <a:ext cx="2781151" cy="22669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533626" y="2869406"/>
            <a:ext cx="2076301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自动驾驶识别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3533626" y="3159919"/>
            <a:ext cx="2076301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优化道路图像数据质量后，车辆与行人检测F1-score提高21%，极端天气下系统稳定性大幅增强。</a:t>
            </a:r>
            <a:endParaRPr lang="en-US" sz="10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962352" y="2019300"/>
            <a:ext cx="2781151" cy="22669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314777" y="2869406"/>
            <a:ext cx="2076301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金融风控模型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6314777" y="3159919"/>
            <a:ext cx="2076301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引入完整、一致的交易记录数据，欺诈检测召回率上升至89%，有效减少经济损失与用户投诉。</a:t>
            </a:r>
            <a:endParaRPr lang="en-US" sz="10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388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4398" r="4398" t="0" b="0"/>
          <a:stretch/>
        </p:blipFill>
        <p:spPr>
          <a:xfrm>
            <a:off x="0" y="0"/>
            <a:ext cx="9144000" cy="56388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16162" b="16162"/>
          <a:stretch/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建立‘数据即资产’的技术价值观与发展视角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81000" y="1428750"/>
            <a:ext cx="8382000" cy="40195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457325" y="3295650"/>
            <a:ext cx="10763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50"/>
              </a:lnSpc>
              <a:buNone/>
            </a:pPr>
            <a:r>
              <a:rPr lang="en-US" sz="1350" b="1" dirty="0">
                <a:solidFill>
                  <a:srgbClr val="3B9D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数据治理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3581400" y="1695450"/>
            <a:ext cx="95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5BB1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数据质量管理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4953000" y="1466850"/>
            <a:ext cx="2971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数据清洗，去除重复、错误或不完整的数据记录。</a:t>
            </a:r>
            <a:endParaRPr lang="en-US" sz="1050" dirty="0"/>
          </a:p>
        </p:txBody>
      </p:sp>
      <p:sp>
        <p:nvSpPr>
          <p:cNvPr id="11" name="Text 6"/>
          <p:cNvSpPr/>
          <p:nvPr/>
        </p:nvSpPr>
        <p:spPr>
          <a:xfrm>
            <a:off x="4953000" y="1714500"/>
            <a:ext cx="2971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数据标准化，统一格式与命名规范以提升一致性。</a:t>
            </a:r>
            <a:endParaRPr lang="en-US" sz="1050" dirty="0"/>
          </a:p>
        </p:txBody>
      </p:sp>
      <p:sp>
        <p:nvSpPr>
          <p:cNvPr id="12" name="Text 7"/>
          <p:cNvSpPr/>
          <p:nvPr/>
        </p:nvSpPr>
        <p:spPr>
          <a:xfrm>
            <a:off x="4953000" y="1962150"/>
            <a:ext cx="2971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数据验证，通过规则校验确保数据符合业务逻辑。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3581400" y="2533650"/>
            <a:ext cx="95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639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数据资产管理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4953000" y="2305050"/>
            <a:ext cx="2971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元数据管理，记录数据来源、结构与使用方式。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4953000" y="2552700"/>
            <a:ext cx="2971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数据目录构建，便于组织内查找与共享数据资源。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4953000" y="2800350"/>
            <a:ext cx="2971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数据估值模型，评估数据对企业价值的贡献程度。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3581400" y="3248025"/>
            <a:ext cx="95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687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数据安全合规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4953000" y="3143250"/>
            <a:ext cx="2971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访问权限控制，确保敏感数据仅被授权人员访问。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4953000" y="3390900"/>
            <a:ext cx="2971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隐私保护机制，如脱敏、加密防止信息泄露。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3581400" y="3838575"/>
            <a:ext cx="8477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615C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AI协同治理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4848225" y="3733800"/>
            <a:ext cx="3238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训练数据审计，保障模型输入数据的公平性与代表性。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4848225" y="3981450"/>
            <a:ext cx="3238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偏见检测机制，识别并修正数据中潜在的社会偏见。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3581400" y="4429125"/>
            <a:ext cx="95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6644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技术向善实践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4953000" y="4324350"/>
            <a:ext cx="31051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社会责任追溯，确保数据应用符合伦理与公共利益。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4953000" y="4572000"/>
            <a:ext cx="31051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可持续发展导向，推动绿色数据处理与低碳计算。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3581400" y="5019675"/>
            <a:ext cx="95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3B9D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产业可信建设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4953000" y="4914900"/>
            <a:ext cx="3238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跨机构数据协作，建立互信共享机制促进联合创新。</a:t>
            </a:r>
            <a:endParaRPr lang="en-US" sz="1050" dirty="0"/>
          </a:p>
        </p:txBody>
      </p:sp>
      <p:sp>
        <p:nvSpPr>
          <p:cNvPr id="28" name="Text 23"/>
          <p:cNvSpPr/>
          <p:nvPr/>
        </p:nvSpPr>
        <p:spPr>
          <a:xfrm>
            <a:off x="4953000" y="5162550"/>
            <a:ext cx="3238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可解释性增强，提升数据驱动决策的透明度与可信度。</a:t>
            </a:r>
            <a:endParaRPr lang="en-US" sz="10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6" r="6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647950"/>
            <a:ext cx="4762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实践应用与职业素养养成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BFAF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225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534025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3534" r="3534" t="0" b="0"/>
          <a:stretch/>
        </p:blipFill>
        <p:spPr>
          <a:xfrm>
            <a:off x="0" y="0"/>
            <a:ext cx="9144000" cy="55340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开展小组任务：使用标准表格评估给定数据集质量等级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81000" y="1428750"/>
            <a:ext cx="8382000" cy="39147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41797" y="2795588"/>
            <a:ext cx="3810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3B9D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781050" y="4024313"/>
            <a:ext cx="902494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领取数据集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304800" y="4276725"/>
            <a:ext cx="1854994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各组需及时领取标注数据集，确保数据完整接收。领取后核对数据清单，避免遗漏或重复。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1982391" y="3557588"/>
            <a:ext cx="3810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5BB1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1721644" y="1685925"/>
            <a:ext cx="902494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检查完整性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245394" y="1938337"/>
            <a:ext cx="1854994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依据评价表核查数据是否齐全。关注字段、记录和附件的缺失情况。确保无数据空缺。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2922984" y="2795588"/>
            <a:ext cx="3810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639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2662238" y="4024313"/>
            <a:ext cx="902494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验证准确性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2185988" y="4276725"/>
            <a:ext cx="1854994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核对数据内容与实际来源的一致性。识别错误录入或偏差信息。保证数据真实可靠。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3863578" y="3557588"/>
            <a:ext cx="3810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687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3602831" y="1685925"/>
            <a:ext cx="902494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评估一致性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3126581" y="1938337"/>
            <a:ext cx="1854994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检查相同数据在不同位置的统一性。发现逻辑矛盾或格式冲突。确保数据前后一致。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4804172" y="2795588"/>
            <a:ext cx="3810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615C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350" dirty="0"/>
          </a:p>
        </p:txBody>
      </p:sp>
      <p:sp>
        <p:nvSpPr>
          <p:cNvPr id="20" name="Text 16"/>
          <p:cNvSpPr/>
          <p:nvPr/>
        </p:nvSpPr>
        <p:spPr>
          <a:xfrm>
            <a:off x="4543425" y="4024313"/>
            <a:ext cx="902494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确认有效性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4067175" y="4276725"/>
            <a:ext cx="1854994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判断数据是否符合预设格式和规则。排除无效或非法值。保障数据可用性。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5744766" y="3557588"/>
            <a:ext cx="3810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6644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350" dirty="0"/>
          </a:p>
        </p:txBody>
      </p:sp>
      <p:sp>
        <p:nvSpPr>
          <p:cNvPr id="23" name="Text 19"/>
          <p:cNvSpPr/>
          <p:nvPr/>
        </p:nvSpPr>
        <p:spPr>
          <a:xfrm>
            <a:off x="5484019" y="1685925"/>
            <a:ext cx="902494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审查及时性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5007769" y="1938337"/>
            <a:ext cx="1854994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核实数据更新是否在规定时间内完成。检查时间戳与提交周期。确保时效达标。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6685359" y="2795588"/>
            <a:ext cx="3810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3B9D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350" dirty="0"/>
          </a:p>
        </p:txBody>
      </p:sp>
      <p:sp>
        <p:nvSpPr>
          <p:cNvPr id="26" name="Text 22"/>
          <p:cNvSpPr/>
          <p:nvPr/>
        </p:nvSpPr>
        <p:spPr>
          <a:xfrm>
            <a:off x="6424613" y="4024313"/>
            <a:ext cx="902494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记录问题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5948363" y="4276725"/>
            <a:ext cx="1854994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详细填写《数据质量评价表》。标注问题类型与严重等级。保留原始记录以备追溯。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>
            <a:off x="7625953" y="3552825"/>
            <a:ext cx="3810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5BB1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350" dirty="0"/>
          </a:p>
        </p:txBody>
      </p:sp>
      <p:sp>
        <p:nvSpPr>
          <p:cNvPr id="29" name="Text 25"/>
          <p:cNvSpPr/>
          <p:nvPr/>
        </p:nvSpPr>
        <p:spPr>
          <a:xfrm>
            <a:off x="7365206" y="1466850"/>
            <a:ext cx="902494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团队协作分析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6888956" y="1933575"/>
            <a:ext cx="1854994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组内分工合作，共同探讨问题根源。形成统一评估结论。为汇报做好准备。</a:t>
            </a:r>
            <a:endParaRPr lang="en-US" sz="10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6" r="6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16162" b="16162"/>
          <a:stretch/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练习填写数据质量评价表并进行问题归因分析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00050" y="2019300"/>
            <a:ext cx="2781151" cy="22669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52475" y="2869406"/>
            <a:ext cx="2076301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规范填写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752475" y="3159919"/>
            <a:ext cx="2076301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依据标准表格逐项评估数据完整性、准确性等维度，确保评价过程可追溯、可复现。</a:t>
            </a:r>
            <a:endParaRPr lang="en-US" sz="10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3181201" y="2019300"/>
            <a:ext cx="2781151" cy="22669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533626" y="2869406"/>
            <a:ext cx="2076301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问题归因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3533626" y="3159919"/>
            <a:ext cx="2076301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针对发现的质量缺陷，结合数据来源与处理流程，分析产生问题的根本原因。</a:t>
            </a:r>
            <a:endParaRPr lang="en-US" sz="10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5962352" y="2019300"/>
            <a:ext cx="2781151" cy="226695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314777" y="2869406"/>
            <a:ext cx="2076301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改进导向</a:t>
            </a:r>
            <a:endParaRPr lang="en-US" sz="1200" dirty="0"/>
          </a:p>
        </p:txBody>
      </p:sp>
      <p:sp>
        <p:nvSpPr>
          <p:cNvPr id="15" name="Text 8"/>
          <p:cNvSpPr/>
          <p:nvPr/>
        </p:nvSpPr>
        <p:spPr>
          <a:xfrm>
            <a:off x="6314777" y="3159919"/>
            <a:ext cx="2076301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将问题分类汇总，提出具体改进建议，形成从发现问题到优化数据的闭环思维。</a:t>
            </a:r>
            <a:endParaRPr lang="en-US" sz="10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6" r="6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组织小组汇报与互评，提升沟通协作能力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00050" y="1447800"/>
            <a:ext cx="4171950" cy="14097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00075" y="1654969"/>
            <a:ext cx="257175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分组汇报成果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600075" y="1945481"/>
            <a:ext cx="2571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各小组展示数据质量评估结果，清晰陈述问题类型与判定依据，锻炼表达与逻辑呈现能力。</a:t>
            </a:r>
            <a:endParaRPr lang="en-US" sz="10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572000" y="1447800"/>
            <a:ext cx="4171950" cy="14097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972175" y="1759744"/>
            <a:ext cx="257175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交叉互评反馈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5972175" y="2050256"/>
            <a:ext cx="2571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小组间依据评价标准开展互评，提出改进建议，促进批判性思维与质量意识深化。</a:t>
            </a:r>
            <a:endParaRPr lang="en-US" sz="10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00050" y="2857500"/>
            <a:ext cx="4171950" cy="14097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00075" y="3169444"/>
            <a:ext cx="257175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协作问题研讨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600075" y="3459956"/>
            <a:ext cx="2571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围绕争议数据案例展开讨论，协商达成共识，提升团队协作与问题解决实战能力。</a:t>
            </a:r>
            <a:endParaRPr lang="en-US" sz="10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572000" y="2857500"/>
            <a:ext cx="4171950" cy="14097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972175" y="3169444"/>
            <a:ext cx="257175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教师总结引导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5972175" y="3459956"/>
            <a:ext cx="2571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教师点评共性问题，强调沟通规范与责任分工，强化职业场景下的协同工作素养。</a:t>
            </a:r>
            <a:endParaRPr lang="en-US" sz="10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6" r="6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16162" b="16162"/>
          <a:stretch/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强化遵循数据标注流程的规范化操作意识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190625" y="2000250"/>
            <a:ext cx="476250" cy="4762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71500" y="2590800"/>
            <a:ext cx="1714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流程标准化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571500" y="2838450"/>
            <a:ext cx="17145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严格执行标注前准备、标注中审核、标注后复查三阶段流程，确保每一步操作可追溯、可验证。</a:t>
            </a:r>
            <a:endParaRPr lang="en-US" sz="10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3286125" y="2000250"/>
            <a:ext cx="476250" cy="4762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667000" y="2590800"/>
            <a:ext cx="1714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工具规范使用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2667000" y="2838450"/>
            <a:ext cx="17145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统一使用指定标注工具并按配置要求操作，避免因工具误用导致数据格式错误或信息丢失。</a:t>
            </a:r>
            <a:endParaRPr lang="en-US" sz="10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5381625" y="2000250"/>
            <a:ext cx="476250" cy="47625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762500" y="2590800"/>
            <a:ext cx="1714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记录完整留痕</a:t>
            </a:r>
            <a:endParaRPr lang="en-US" sz="1200" dirty="0"/>
          </a:p>
        </p:txBody>
      </p:sp>
      <p:sp>
        <p:nvSpPr>
          <p:cNvPr id="15" name="Text 8"/>
          <p:cNvSpPr/>
          <p:nvPr/>
        </p:nvSpPr>
        <p:spPr>
          <a:xfrm>
            <a:off x="4762500" y="2838450"/>
            <a:ext cx="17145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详细填写标注日志与质量检查表，实现操作过程透明化，为后续评估与责任界定提供依据。</a:t>
            </a:r>
            <a:endParaRPr lang="en-US" sz="105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7477125" y="2000250"/>
            <a:ext cx="476250" cy="47625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6858000" y="2590800"/>
            <a:ext cx="1714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遵守质量准则</a:t>
            </a:r>
            <a:endParaRPr lang="en-US" sz="1200" dirty="0"/>
          </a:p>
        </p:txBody>
      </p:sp>
      <p:sp>
        <p:nvSpPr>
          <p:cNvPr id="18" name="Text 10"/>
          <p:cNvSpPr/>
          <p:nvPr/>
        </p:nvSpPr>
        <p:spPr>
          <a:xfrm>
            <a:off x="6858000" y="2838450"/>
            <a:ext cx="17145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始终对照数据质量标准进行自我核查，杜绝主观随意性，保障标注结果的一致性与可靠性。</a:t>
            </a:r>
            <a:endParaRPr lang="en-US" sz="10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9826" r="9826" t="0" b="0"/>
          <a:stretch/>
        </p:blipFill>
        <p:spPr>
          <a:xfrm>
            <a:off x="0" y="0"/>
            <a:ext cx="9144000" cy="64008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16162" b="16162"/>
          <a:stretch/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引导学生树立诚信、负责、精益求精的职业精神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81000" y="1428750"/>
            <a:ext cx="8382000" cy="47815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95313" y="5043190"/>
            <a:ext cx="236220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坚持诚信为本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595313" y="5295602"/>
            <a:ext cx="236220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以诚信为基础开展工作，确保数据处理过程真实可靠。杜绝任何形式的欺骗行为，维护数据的原始性和公正性。诚信是构建高质量数据体系的根本保障。</a:t>
            </a:r>
            <a:endParaRPr lang="en-US" sz="1050" dirty="0"/>
          </a:p>
        </p:txBody>
      </p:sp>
      <p:sp>
        <p:nvSpPr>
          <p:cNvPr id="10" name="Text 5"/>
          <p:cNvSpPr/>
          <p:nvPr/>
        </p:nvSpPr>
        <p:spPr>
          <a:xfrm>
            <a:off x="595313" y="3851077"/>
            <a:ext cx="236220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如实记录问题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595313" y="4103489"/>
            <a:ext cx="236220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对数据中的异常或问题进行客观记录，不遗漏关键细节。确保问题可追溯、可复盘，提升整体数据可信度。真实记录是透明协作的前提。</a:t>
            </a:r>
            <a:endParaRPr lang="en-US" sz="1050" dirty="0"/>
          </a:p>
        </p:txBody>
      </p:sp>
      <p:sp>
        <p:nvSpPr>
          <p:cNvPr id="12" name="Text 7"/>
          <p:cNvSpPr/>
          <p:nvPr/>
        </p:nvSpPr>
        <p:spPr>
          <a:xfrm>
            <a:off x="595313" y="2658963"/>
            <a:ext cx="236220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杜绝篡改隐瞒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595313" y="2911376"/>
            <a:ext cx="236220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严禁修改或隐藏不利数据，保持信息完整公开。防止因人为干预导致模型偏差。维护数据纯洁性是职业操守的体现。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595313" y="1466850"/>
            <a:ext cx="236220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践行透明原则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595313" y="1719263"/>
            <a:ext cx="236220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推动数据处理流程公开化、规范化，增强团队互信。透明机制有助于及时发现并纠正错误。建立透明文化提升组织效能。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6186488" y="1781175"/>
            <a:ext cx="236220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强化责任意识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6186488" y="2033588"/>
            <a:ext cx="236220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每位成员需认识到自身任务的重要性，对结果负责。个体质量直接影响模型表现和项目成败。责任意识驱动主动作为。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6186488" y="2973288"/>
            <a:ext cx="236220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高标准完任务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186488" y="3225701"/>
            <a:ext cx="23622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严格按照规范执行标注工作，不降低要求。确保每个环节都经得起检验。高标准带来高可靠性输出。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6186488" y="3955852"/>
            <a:ext cx="236220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追求精益求精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6186488" y="4208264"/>
            <a:ext cx="23622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不断优化工作细节，超越基本达标要求。在数据质量上力求极致完美。精进态度推动持续进步。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6186488" y="4938415"/>
            <a:ext cx="236220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主动复查优化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6186488" y="5190827"/>
            <a:ext cx="23622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完成任务后主动进行复核，发现潜在问题并改进。通过迭代提升数据准确性。复查是保障质量的重要环节。</a:t>
            </a:r>
            <a:endParaRPr lang="en-US" sz="10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6" r="6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16162" b="16162"/>
          <a:stretch/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总结课程知识体系，明确后续学习方向与目标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00050" y="2019300"/>
            <a:ext cx="2781151" cy="22669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52475" y="2974181"/>
            <a:ext cx="2076301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知识回顾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752475" y="3264694"/>
            <a:ext cx="207630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系统梳理数据质量五大标准与问题类型，巩固数据评价核心概念。</a:t>
            </a:r>
            <a:endParaRPr lang="en-US" sz="10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3181201" y="2019300"/>
            <a:ext cx="2781151" cy="22669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533626" y="2974181"/>
            <a:ext cx="2076301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能力提升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3533626" y="3264694"/>
            <a:ext cx="207630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通过实操掌握评估流程，强化规范操作意识与团队协作能力。</a:t>
            </a:r>
            <a:endParaRPr lang="en-US" sz="10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5962352" y="2019300"/>
            <a:ext cx="2781151" cy="226695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314777" y="2974181"/>
            <a:ext cx="2076301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未来导向</a:t>
            </a:r>
            <a:endParaRPr lang="en-US" sz="1200" dirty="0"/>
          </a:p>
        </p:txBody>
      </p:sp>
      <p:sp>
        <p:nvSpPr>
          <p:cNvPr id="15" name="Text 8"/>
          <p:cNvSpPr/>
          <p:nvPr/>
        </p:nvSpPr>
        <p:spPr>
          <a:xfrm>
            <a:off x="6314777" y="3264694"/>
            <a:ext cx="207630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明确数据标注进阶路径，树立严谨、诚信、精益求精的职业追求。</a:t>
            </a:r>
            <a:endParaRPr lang="en-US" sz="10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6" r="6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014538"/>
            <a:ext cx="8001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THANKS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3014663"/>
            <a:ext cx="604838" cy="114300"/>
          </a:xfrm>
          <a:prstGeom prst="rect">
            <a:avLst/>
          </a:prstGeom>
          <a:solidFill>
            <a:srgbClr val="AE9CE2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3462337"/>
            <a:ext cx="800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PPT内容由千问AI生成，访问qianwen.com智能生成更多PPT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2026-03-06T03:25:03Z</dcterms:created>
  <dcterms:modified xsi:type="dcterms:W3CDTF">2026-03-06T03:25:03Z</dcterms:modified>
</cp:coreProperties>
</file>

<file path=docProps/custom.xml><?xml version="1.0" encoding="utf-8"?>
<ns0:Properties xmlns:ns0="http://schemas.openxmlformats.org/officeDocument/2006/custom-properties" xmlns:ns1="http://schemas.openxmlformats.org/officeDocument/2006/docPropsVTypes" xmlns="http://schemas.openxmlformats.org/officeDocument/2006/custom-properties" xmlns:vt="http://schemas.openxmlformats.org/officeDocument/2006/docPropsVTypes">
  <ns0:property fmtid="{D5CDD505-2E9C-101B-9397-08002B2CF9AE}" pid="2" name="AIGC">
    <ns1:lpwstr>{"Label": 1, "ContentProducer": "001191330110MADHPQQY7L10000", "ProduceID": "137131cf2e403d14f05a81fbdf5de93d", "ReservedCode1": "353cb3cf1a75ab4871c65221535c78599e09d8e47570669866e5de4f747fb0f0", "ContentPropagator": "001191330110MADHPQQY7L10000", "PropagateID": "137131cf2e403d14f05a81fbdf5de93d", "ReservedCode2": ""}</ns1:lpwstr>
  </ns0:property>
</ns0:Properties>
</file>
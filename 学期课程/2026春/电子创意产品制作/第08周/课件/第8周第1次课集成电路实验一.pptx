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6" r:id="rId4"/>
    <p:sldId id="265" r:id="rId5"/>
    <p:sldId id="262" r:id="rId6"/>
    <p:sldId id="267" r:id="rId7"/>
    <p:sldId id="268" r:id="rId8"/>
    <p:sldId id="269" r:id="rId9"/>
    <p:sldId id="271" r:id="rId10"/>
    <p:sldId id="272" r:id="rId11"/>
    <p:sldId id="273" r:id="rId12"/>
    <p:sldId id="270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5" r:id="rId22"/>
    <p:sldId id="282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300" r:id="rId36"/>
    <p:sldId id="301" r:id="rId37"/>
    <p:sldId id="298" r:id="rId38"/>
    <p:sldId id="299" r:id="rId39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2" autoAdjust="0"/>
    <p:restoredTop sz="94686" autoAdjust="0"/>
  </p:normalViewPr>
  <p:slideViewPr>
    <p:cSldViewPr>
      <p:cViewPr varScale="1">
        <p:scale>
          <a:sx n="81" d="100"/>
          <a:sy n="81" d="100"/>
        </p:scale>
        <p:origin x="150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785E6-4516-4FFA-A29C-300E659B49F9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8AC5E-C7FE-4DA4-A9D3-3530086438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8AC5E-C7FE-4DA4-A9D3-35300864380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8AC5E-C7FE-4DA4-A9D3-35300864380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 hidden="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 hidden="1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 hidden="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58538-9F98-44DC-A243-DB02F24F9DBF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 hidden="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 hidden="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53ED2-FB29-4F29-8CC1-68C43275CC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slide" Target="slide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芯片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CN" sz="3900" b="1">
                <a:latin typeface="华文新魏" pitchFamily="2" charset="-122"/>
                <a:ea typeface="华文新魏" pitchFamily="2" charset="-122"/>
              </a:rPr>
              <a:t>1  555</a:t>
            </a:r>
            <a:r>
              <a:rPr lang="zh-CN" altLang="zh-CN" sz="3900" b="1">
                <a:latin typeface="华文新魏" pitchFamily="2" charset="-122"/>
                <a:ea typeface="华文新魏" pitchFamily="2" charset="-122"/>
              </a:rPr>
              <a:t>集成电路的框图及工作原理</a:t>
            </a:r>
            <a:endParaRPr lang="zh-CN" altLang="zh-CN" sz="3900">
              <a:latin typeface="华文新魏" pitchFamily="2" charset="-122"/>
              <a:ea typeface="华文新魏" pitchFamily="2" charset="-122"/>
            </a:endParaRPr>
          </a:p>
          <a:p>
            <a:pPr>
              <a:buNone/>
            </a:pPr>
            <a:r>
              <a:rPr lang="en-US" altLang="zh-CN"/>
              <a:t>             </a:t>
            </a:r>
            <a:r>
              <a:rPr lang="en-US" altLang="zh-CN" sz="30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3000" b="1">
                <a:latin typeface="黑体" pitchFamily="2" charset="-122"/>
                <a:ea typeface="黑体" pitchFamily="2" charset="-122"/>
              </a:rPr>
              <a:t>集成电路开始是作定时器应用的，后来经过开发，它除了作定时延时控制外，还可用于调光、调温、调压、调速等多种控制及计量检测。此外，还可以组成脉冲振荡、单稳、双稳和脉冲调制电路，用于交流信号源、电源变换、频率变换、脉冲调制等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2636912"/>
            <a:ext cx="8229600" cy="2044823"/>
          </a:xfrm>
        </p:spPr>
        <p:txBody>
          <a:bodyPr/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集成电路内部有几十个元器件，有分压器、比较器、</a:t>
            </a:r>
            <a:r>
              <a:rPr lang="zh-CN" altLang="zh-CN" b="1">
                <a:latin typeface="黑体" pitchFamily="2" charset="-122"/>
                <a:ea typeface="黑体" pitchFamily="2" charset="-122"/>
                <a:hlinkClick r:id="rId2" action="ppaction://hlinksldjump"/>
              </a:rPr>
              <a:t>基本</a:t>
            </a:r>
            <a:r>
              <a:rPr lang="en-US" altLang="zh-CN" b="1">
                <a:latin typeface="黑体" pitchFamily="2" charset="-122"/>
                <a:ea typeface="黑体" pitchFamily="2" charset="-122"/>
                <a:hlinkClick r:id="rId2" action="ppaction://hlinksldjump"/>
              </a:rPr>
              <a:t>R-S</a:t>
            </a:r>
            <a:r>
              <a:rPr lang="zh-CN" altLang="zh-CN" b="1">
                <a:latin typeface="黑体" pitchFamily="2" charset="-122"/>
                <a:ea typeface="黑体" pitchFamily="2" charset="-122"/>
                <a:hlinkClick r:id="rId2" action="ppaction://hlinksldjump"/>
              </a:rPr>
              <a:t>触发器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、放电管以及缓冲器等，是模拟电路和数字电路的混合体，如图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所示。</a:t>
            </a:r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1_13134626.jpg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692696"/>
            <a:ext cx="7920880" cy="547260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4914900" cy="3876675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7" name="TextBox 6"/>
          <p:cNvSpPr txBox="1"/>
          <p:nvPr/>
        </p:nvSpPr>
        <p:spPr>
          <a:xfrm>
            <a:off x="5292080" y="1484784"/>
            <a:ext cx="3707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华文新魏" pitchFamily="2" charset="-122"/>
                <a:ea typeface="华文新魏" pitchFamily="2" charset="-122"/>
              </a:rPr>
              <a:t>各引脚的功能</a:t>
            </a:r>
            <a:endParaRPr lang="en-US" altLang="zh-CN" sz="440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520" y="4149080"/>
            <a:ext cx="7848872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触发端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(TR)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，下比较器的输入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输出端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(Vo)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，有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0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两种状态由输入端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</a:t>
            </a: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所加的电平决定</a:t>
            </a:r>
            <a:endParaRPr lang="en-US" altLang="zh-CN" sz="2800"/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复位端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(MR)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，加上低电平时可使输出为低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电平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4914900" cy="3876675"/>
          </a:xfrm>
          <a:prstGeom prst="rect">
            <a:avLst/>
          </a:prstGeom>
          <a:noFill/>
          <a:ln w="9525">
            <a:noFill/>
            <a:miter lim="800000"/>
          </a:ln>
        </p:spPr>
      </p:pic>
      <p:sp>
        <p:nvSpPr>
          <p:cNvPr id="7" name="TextBox 6"/>
          <p:cNvSpPr txBox="1"/>
          <p:nvPr/>
        </p:nvSpPr>
        <p:spPr>
          <a:xfrm>
            <a:off x="5292080" y="1484784"/>
            <a:ext cx="3707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latin typeface="华文新魏" pitchFamily="2" charset="-122"/>
                <a:ea typeface="华文新魏" pitchFamily="2" charset="-122"/>
              </a:rPr>
              <a:t>各引脚的功能</a:t>
            </a:r>
            <a:endParaRPr lang="en-US" altLang="zh-CN" sz="4400">
              <a:latin typeface="华文新魏" pitchFamily="2" charset="-122"/>
              <a:ea typeface="华文新魏" pitchFamily="2" charset="-122"/>
            </a:endParaRPr>
          </a:p>
          <a:p>
            <a:endParaRPr lang="en-US" altLang="zh-CN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9512" y="4077072"/>
            <a:ext cx="8820472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控制电压端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(Vc),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可用它改变上下触发电平值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阈值端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(TH)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，是上比较器的输入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放电端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(DIS)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，它是内部放电管的输出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有悬空和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接地两种状态，也是由输入端的状态决定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>
              <a:lnSpc>
                <a:spcPts val="3500"/>
              </a:lnSpc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脚是电源端，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脚是地端</a:t>
            </a:r>
            <a:endParaRPr lang="zh-CN" altLang="en-US" sz="2800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140968"/>
            <a:ext cx="8892480" cy="3024336"/>
          </a:xfrm>
        </p:spPr>
        <p:txBody>
          <a:bodyPr>
            <a:normAutofit fontScale="92500"/>
          </a:bodyPr>
          <a:lstStyle/>
          <a:p>
            <a:pPr>
              <a:buNone/>
            </a:pPr>
            <a:endParaRPr lang="en-US" altLang="zh-CN"/>
          </a:p>
          <a:p>
            <a:pPr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可以把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电路等效成一个带放电开关的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R-S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触发器，如图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3(A)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所示，这个特殊的触发器有两个输入端：阈值端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(TH)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可看成是置零端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，要求高电平，触发端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(TR)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可看成是置位端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，要求低电平，有一个输出端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可等效成触发器的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Q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pic>
        <p:nvPicPr>
          <p:cNvPr id="5" name="图片 4" descr="1_1313533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72008" y="116632"/>
            <a:ext cx="5508104" cy="302433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11760" y="116632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err="1">
                          <a:latin typeface="黑体" pitchFamily="2" charset="-122"/>
                          <a:ea typeface="黑体" pitchFamily="2" charset="-122"/>
                        </a:rPr>
                        <a:t>Qn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五角星 7"/>
          <p:cNvSpPr/>
          <p:nvPr/>
        </p:nvSpPr>
        <p:spPr>
          <a:xfrm>
            <a:off x="3707904" y="2132856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五角星 8"/>
          <p:cNvSpPr/>
          <p:nvPr/>
        </p:nvSpPr>
        <p:spPr>
          <a:xfrm>
            <a:off x="3707904" y="1700808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角星 9"/>
          <p:cNvSpPr/>
          <p:nvPr/>
        </p:nvSpPr>
        <p:spPr>
          <a:xfrm>
            <a:off x="4788024" y="2132856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十字星 10">
            <a:hlinkClick r:id="rId3" action="ppaction://hlinksldjump"/>
          </p:cNvPr>
          <p:cNvSpPr/>
          <p:nvPr/>
        </p:nvSpPr>
        <p:spPr>
          <a:xfrm>
            <a:off x="8244408" y="2060848"/>
            <a:ext cx="432048" cy="432048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3501008"/>
            <a:ext cx="9036496" cy="2304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/>
              <a:t> 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放电端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(DIS)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可看成是由内部放电开关控制的一个接点，由触发器的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Q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端控制：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Q=1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时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DIS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端接地，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Q=0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时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DIS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端悬空。另外还有复位端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MR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，控制电压端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Vc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，电源端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和地端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GND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。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 descr="1_1313533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544616" cy="288032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332656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3501008"/>
            <a:ext cx="9036496" cy="230425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zh-CN" b="1">
                <a:latin typeface="黑体" pitchFamily="2" charset="-122"/>
                <a:ea typeface="黑体" pitchFamily="2" charset="-122"/>
              </a:rPr>
              <a:t>这个特殊的触发器有两个特点：</a:t>
            </a: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两个输入端的触发电平要求一高一低，置零端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R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即阈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值端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(TH)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要求高电平，而置位端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即触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发端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(TR)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则要求低电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;</a:t>
            </a:r>
            <a:endParaRPr lang="zh-CN" altLang="zh-CN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 descr="1_1313533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544616" cy="288032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332656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3717032"/>
            <a:ext cx="9036496" cy="2448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两个输入端的触发电平使输出发生翻转的阈值电压值也不同，当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 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端不接控制电压时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：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TH(R)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&gt;2/3VDD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是高电平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1,&lt;2/3VDD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是低电平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   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TR(S)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&gt;1/3VDD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是高电平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1,&lt;1/3VDD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是低电平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。</a:t>
            </a:r>
            <a:endParaRPr lang="zh-CN" altLang="en-US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 descr="1_1313533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544616" cy="288032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332656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3861048"/>
            <a:ext cx="8820472" cy="20162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/>
              <a:t>            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若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在控制端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(Vc)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上控制电压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Vc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时，这时上触发电平就变成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Vc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值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下触发电平就变成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1/2Vc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值，可见改变控制端的控制电压值就可以改变上下触发电平值。</a:t>
            </a:r>
            <a:endParaRPr lang="zh-CN" altLang="en-US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" name="图片 4" descr="1_13135336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544616" cy="288032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27784" y="332656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536" y="1988840"/>
            <a:ext cx="8229600" cy="3773015"/>
          </a:xfrm>
        </p:spPr>
        <p:txBody>
          <a:bodyPr/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集成电路有双极型和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CMOS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型两种。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CMOS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型的优点是功耗低、电源电压低、输入阻抗高，但输出功率较小，输出驱动电流只有几毫安。双极型的优点是输出功率大，驱动电流达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200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毫安，其他指标则不如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CMOS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型的。</a:t>
            </a:r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altLang="zh-CN" b="1"/>
              <a:t>4. </a:t>
            </a:r>
            <a:r>
              <a:rPr lang="zh-CN" altLang="zh-CN" b="1"/>
              <a:t>典型应用电路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9695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zh-CN"/>
              <a:t> </a:t>
            </a:r>
            <a:endParaRPr lang="zh-CN" altLang="zh-CN"/>
          </a:p>
          <a:p>
            <a:pPr>
              <a:buNone/>
            </a:pPr>
            <a:r>
              <a:rPr lang="en-US" altLang="zh-CN"/>
              <a:t>             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的应用电路很多，只要改变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集成电路的外部附加电路，就可以构成几百种应用电路，大体上可分为三类</a:t>
            </a:r>
            <a:r>
              <a:rPr lang="zh-CN" altLang="en-US" sz="4100" b="1"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4100" b="1">
              <a:latin typeface="黑体" pitchFamily="2" charset="-122"/>
              <a:ea typeface="黑体" pitchFamily="2" charset="-122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sz="6400" b="1">
                <a:latin typeface="黑体" pitchFamily="2" charset="-122"/>
                <a:ea typeface="黑体" pitchFamily="2" charset="-122"/>
              </a:rPr>
              <a:t>      555</a:t>
            </a:r>
            <a:r>
              <a:rPr lang="zh-CN" altLang="zh-CN" sz="6400" b="1">
                <a:latin typeface="黑体" pitchFamily="2" charset="-122"/>
                <a:ea typeface="黑体" pitchFamily="2" charset="-122"/>
              </a:rPr>
              <a:t>单稳</a:t>
            </a:r>
            <a:endParaRPr lang="en-US" altLang="zh-CN" sz="6400" b="1">
              <a:latin typeface="黑体" pitchFamily="2" charset="-122"/>
              <a:ea typeface="黑体" pitchFamily="2" charset="-122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sz="6400" b="1">
                <a:latin typeface="黑体" pitchFamily="2" charset="-122"/>
                <a:ea typeface="黑体" pitchFamily="2" charset="-122"/>
              </a:rPr>
              <a:t>      555</a:t>
            </a:r>
            <a:r>
              <a:rPr lang="zh-CN" altLang="zh-CN" sz="6400" b="1">
                <a:latin typeface="黑体" pitchFamily="2" charset="-122"/>
                <a:ea typeface="黑体" pitchFamily="2" charset="-122"/>
              </a:rPr>
              <a:t>双稳</a:t>
            </a:r>
            <a:endParaRPr lang="en-US" altLang="zh-CN" sz="6400" b="1">
              <a:latin typeface="黑体" pitchFamily="2" charset="-122"/>
              <a:ea typeface="黑体" pitchFamily="2" charset="-122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CN" sz="6400" b="1">
                <a:latin typeface="黑体" pitchFamily="2" charset="-122"/>
                <a:ea typeface="黑体" pitchFamily="2" charset="-122"/>
              </a:rPr>
              <a:t>      555</a:t>
            </a:r>
            <a:r>
              <a:rPr lang="zh-CN" altLang="zh-CN" sz="6400" b="1">
                <a:latin typeface="黑体" pitchFamily="2" charset="-122"/>
                <a:ea typeface="黑体" pitchFamily="2" charset="-122"/>
              </a:rPr>
              <a:t>无稳</a:t>
            </a:r>
            <a:r>
              <a:rPr lang="en-US" altLang="zh-CN" sz="6400" b="1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zh-CN" sz="6400" b="1">
                <a:latin typeface="黑体" pitchFamily="2" charset="-122"/>
                <a:ea typeface="黑体" pitchFamily="2" charset="-122"/>
              </a:rPr>
              <a:t>即振荡器</a:t>
            </a:r>
            <a:r>
              <a:rPr lang="en-US" altLang="zh-CN" sz="6400" b="1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zh-CN" sz="6400" b="1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980728"/>
          </a:xfrm>
        </p:spPr>
        <p:txBody>
          <a:bodyPr>
            <a:noAutofit/>
          </a:bodyPr>
          <a:lstStyle/>
          <a:p>
            <a:r>
              <a:rPr lang="en-US" altLang="zh-CN" sz="36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3600" b="1">
                <a:latin typeface="黑体" pitchFamily="2" charset="-122"/>
                <a:ea typeface="黑体" pitchFamily="2" charset="-122"/>
              </a:rPr>
              <a:t>单稳电路</a:t>
            </a:r>
            <a:br>
              <a:rPr lang="zh-CN" altLang="zh-CN" sz="3600" b="1">
                <a:latin typeface="黑体" pitchFamily="2" charset="-122"/>
                <a:ea typeface="黑体" pitchFamily="2" charset="-122"/>
              </a:rPr>
            </a:br>
            <a:endParaRPr lang="zh-CN" altLang="en-US" sz="36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24048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zh-CN" b="1">
                <a:latin typeface="黑体" pitchFamily="2" charset="-122"/>
                <a:ea typeface="黑体" pitchFamily="2" charset="-122"/>
              </a:rPr>
              <a:t>单稳电路有一个稳态和一个暂稳态，是利用电容的充放电形成暂稳态的，因此它的输入端都带有定时电阻和定时电容，常见的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单稳电路有两种</a:t>
            </a:r>
            <a:r>
              <a:rPr lang="zh-CN" altLang="zh-CN"/>
              <a:t>：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1724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4000"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zh-CN" sz="4000">
                <a:latin typeface="黑体" pitchFamily="2" charset="-122"/>
                <a:ea typeface="黑体" pitchFamily="2" charset="-122"/>
              </a:rPr>
              <a:t>人工启动型</a:t>
            </a:r>
          </a:p>
          <a:p>
            <a:pPr>
              <a:buNone/>
            </a:pPr>
            <a:r>
              <a:rPr lang="en-US" altLang="zh-CN"/>
              <a:t> 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将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电路的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脚并接起来接在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定时电路上，在定时电容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，两端接按钮开关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SB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，就成为人工启动型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单稳电路，如图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4(a)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所示，用等效触发器替代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，并略去与单稳工作无关的部分后见图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4(b)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</a:t>
            </a:r>
            <a:endParaRPr lang="zh-CN" altLang="en-US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 descr="1_1313562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827584" y="0"/>
            <a:ext cx="5256584" cy="27809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9523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/>
              <a:t>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下面分析它的工作原理：</a:t>
            </a: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稳态：接上电源后，电容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很快充电到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，从图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4(b)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看到，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触发器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输入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，从功能表看到输出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，这是它的稳态</a:t>
            </a:r>
            <a:r>
              <a:rPr lang="zh-CN" altLang="zh-CN"/>
              <a:t>。</a:t>
            </a:r>
          </a:p>
          <a:p>
            <a:pPr>
              <a:buNone/>
            </a:pPr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4" name="图片 3" descr="1_1313562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5616624" cy="302433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3600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暂稳态：按下开关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SB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上电荷很快放到零，相当于触发器输入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R=0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S=0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，输出立即翻转成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Vo=l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，暂稳态开始。开关放开后，电源又向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充电，经过时间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TD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后，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上电压上升到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&gt;2/3VDD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时，输出又翻转成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Vo=O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，暂稳态结束。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TD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就是单稳电路的定时时间或延时时间，它和定时电阻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和定时电容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的值有关：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TD=1.1RTCT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pic>
        <p:nvPicPr>
          <p:cNvPr id="4" name="图片 3" descr="1_1313562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755576" y="332656"/>
            <a:ext cx="5832648" cy="259228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3284984"/>
            <a:ext cx="8964488" cy="345638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altLang="zh-CN"/>
              <a:t> </a:t>
            </a:r>
            <a:r>
              <a:rPr lang="en-US" altLang="zh-CN" sz="4300" b="1"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zh-CN" sz="4300" b="1">
                <a:latin typeface="黑体" pitchFamily="2" charset="-122"/>
                <a:ea typeface="黑体" pitchFamily="2" charset="-122"/>
              </a:rPr>
              <a:t>脉冲启动型</a:t>
            </a:r>
          </a:p>
          <a:p>
            <a:pPr>
              <a:buNone/>
            </a:pPr>
            <a:r>
              <a:rPr lang="en-US" altLang="zh-CN"/>
              <a:t>             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将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电路的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脚并接起来接在定时电容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上，用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脚作输入就成为脉冲启动型单稳电路，如图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5(a)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所示，电路的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脚平时接高电平，当输入接低电平或输入负脉冲时才启动电路，用等效触发器替代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后见图</a:t>
            </a:r>
            <a:r>
              <a:rPr lang="zh-CN" altLang="en-US" sz="3500" b="1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3500" b="1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3500" b="1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zh-CN" sz="3500" b="1">
                <a:latin typeface="黑体" pitchFamily="2" charset="-122"/>
                <a:ea typeface="黑体" pitchFamily="2" charset="-122"/>
              </a:rPr>
              <a:t>所示</a:t>
            </a:r>
            <a:r>
              <a:rPr lang="zh-CN" altLang="en-US" sz="3500" b="1">
                <a:latin typeface="黑体" pitchFamily="2" charset="-122"/>
                <a:ea typeface="黑体" pitchFamily="2" charset="-122"/>
              </a:rPr>
              <a:t>。</a:t>
            </a:r>
            <a:endParaRPr lang="zh-CN" altLang="zh-CN" sz="3500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 descr="1_1313583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6408712" cy="30963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284984"/>
            <a:ext cx="8229600" cy="2880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zh-CN" b="1">
                <a:latin typeface="黑体" pitchFamily="2" charset="-122"/>
                <a:ea typeface="黑体" pitchFamily="2" charset="-122"/>
              </a:rPr>
              <a:t>下面分析它的工作原理：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endParaRPr lang="zh-CN" altLang="zh-CN" sz="1400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稳态：接上电源后，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DIS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端接地，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上的电压为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即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，输出仍保持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，这是它的稳态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</a:t>
            </a:r>
            <a:endParaRPr lang="zh-CN" altLang="zh-CN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 descr="1_1313583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6408712" cy="30963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3284984"/>
            <a:ext cx="8964488" cy="331236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zh-CN" altLang="zh-CN" sz="3800" b="1">
                <a:latin typeface="黑体" pitchFamily="2" charset="-122"/>
                <a:ea typeface="黑体" pitchFamily="2" charset="-122"/>
              </a:rPr>
              <a:t>暂稳态：输入负脉冲后，输入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S=0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，输出立即翻转成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Vo=1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DIS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端开路，电源通过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RT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向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充电，暂稳态开始。经过时间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TD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后，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上电压上升到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&gt;2/3VDD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时，输入又成为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R=1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S=1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，这时负脉冲已经消失，输出又翻转成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Vo=0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，暂稳态结束。这时内部放电开关接通，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DIS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端接地，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CT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上电荷很快放到零，为下一次定时控制作准备。电路的定时时间</a:t>
            </a:r>
            <a:r>
              <a:rPr lang="en-US" altLang="zh-CN" sz="3800" b="1">
                <a:latin typeface="黑体" pitchFamily="2" charset="-122"/>
                <a:ea typeface="黑体" pitchFamily="2" charset="-122"/>
              </a:rPr>
              <a:t>TD=1.1RTCT</a:t>
            </a:r>
            <a:r>
              <a:rPr lang="zh-CN" altLang="zh-CN" sz="3800" b="1"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buNone/>
            </a:pPr>
            <a:endParaRPr lang="zh-CN" altLang="zh-CN"/>
          </a:p>
        </p:txBody>
      </p:sp>
      <p:pic>
        <p:nvPicPr>
          <p:cNvPr id="4" name="图片 3" descr="1_13135834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6408712" cy="30963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/>
              <a:t>555</a:t>
            </a:r>
            <a:r>
              <a:rPr lang="zh-CN" altLang="zh-CN" b="1"/>
              <a:t>双稳电路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486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zh-CN" b="1">
                <a:latin typeface="黑体" pitchFamily="2" charset="-122"/>
                <a:ea typeface="黑体" pitchFamily="2" charset="-122"/>
              </a:rPr>
              <a:t>常见的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双稳电路有两种：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endParaRPr lang="zh-CN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 sz="4000" b="1">
                <a:latin typeface="黑体" pitchFamily="2" charset="-122"/>
                <a:ea typeface="黑体" pitchFamily="2" charset="-122"/>
              </a:rPr>
              <a:t>1)R-S</a:t>
            </a:r>
            <a:r>
              <a:rPr lang="zh-CN" altLang="zh-CN" sz="4000" b="1">
                <a:latin typeface="黑体" pitchFamily="2" charset="-122"/>
                <a:ea typeface="黑体" pitchFamily="2" charset="-122"/>
              </a:rPr>
              <a:t>触发器型双稳</a:t>
            </a:r>
          </a:p>
          <a:p>
            <a:pPr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      2)</a:t>
            </a:r>
            <a:r>
              <a:rPr lang="zh-CN" altLang="zh-CN" sz="4000" b="1">
                <a:latin typeface="黑体" pitchFamily="2" charset="-122"/>
                <a:ea typeface="黑体" pitchFamily="2" charset="-122"/>
              </a:rPr>
              <a:t>施密特触发器型双稳</a:t>
            </a:r>
            <a:endParaRPr lang="zh-CN" altLang="en-US" sz="4000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140968"/>
            <a:ext cx="8229600" cy="338437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sz="4700" b="1">
                <a:latin typeface="黑体" pitchFamily="2" charset="-122"/>
                <a:ea typeface="黑体" pitchFamily="2" charset="-122"/>
              </a:rPr>
              <a:t>1)R-S</a:t>
            </a:r>
            <a:r>
              <a:rPr lang="zh-CN" altLang="zh-CN" sz="4700" b="1">
                <a:latin typeface="黑体" pitchFamily="2" charset="-122"/>
                <a:ea typeface="黑体" pitchFamily="2" charset="-122"/>
              </a:rPr>
              <a:t>触发器型双稳</a:t>
            </a:r>
          </a:p>
          <a:p>
            <a:pPr>
              <a:buNone/>
            </a:pPr>
            <a:r>
              <a:rPr lang="en-US" altLang="zh-CN" sz="4100" b="1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将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电路的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脚作为两个控制输入端，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端不用，就成为一个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R-S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触发器。注意两个输入端的触发电平和阈值电压不同，如图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6(a)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所示，有时可能只有一个控制端，这时另外一个控制端要设法接死，根据电路要求可以把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端接到电源端，如图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6(b)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所示，也可以把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接地，用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zh-CN" sz="4100" b="1">
                <a:latin typeface="黑体" pitchFamily="2" charset="-122"/>
                <a:ea typeface="黑体" pitchFamily="2" charset="-122"/>
              </a:rPr>
              <a:t>端作输入。</a:t>
            </a:r>
            <a:r>
              <a:rPr lang="en-US" altLang="zh-CN" sz="4100" b="1">
                <a:latin typeface="黑体" pitchFamily="2" charset="-122"/>
                <a:ea typeface="黑体" pitchFamily="2" charset="-122"/>
              </a:rPr>
              <a:t>  </a:t>
            </a:r>
            <a:endParaRPr lang="zh-CN" altLang="en-US" sz="4100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 descr="1_13135929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8144" cy="3068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01008"/>
            <a:ext cx="8229600" cy="26251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有两个输入端的双稳电路常用作电机调速、电源上下限告警等用途。有一个输入端的双稳电路作为单端比较器用于各种检测电路。</a:t>
            </a:r>
          </a:p>
        </p:txBody>
      </p:sp>
      <p:pic>
        <p:nvPicPr>
          <p:cNvPr id="4" name="图片 3" descr="1_13135929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8144" cy="3068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2880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zh-CN" sz="4000" b="1">
                <a:latin typeface="黑体" pitchFamily="2" charset="-122"/>
                <a:ea typeface="黑体" pitchFamily="2" charset="-122"/>
              </a:rPr>
              <a:t>施密特触发器型双稳</a:t>
            </a:r>
          </a:p>
          <a:p>
            <a:pPr>
              <a:buNone/>
            </a:pPr>
            <a:r>
              <a:rPr lang="en-US" altLang="zh-CN"/>
              <a:t> 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将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电路的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脚并接起来接成只有一个输入端的触发器，如图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(a)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所示，这个触发器输出电压和输入电压的关系是一个长方形的回线形，如图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(b)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</a:t>
            </a:r>
          </a:p>
        </p:txBody>
      </p:sp>
      <p:pic>
        <p:nvPicPr>
          <p:cNvPr id="5" name="图片 4" descr="1_13140047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6048672" cy="29249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01008"/>
            <a:ext cx="8435280" cy="26251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/>
              <a:t>  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从曲线可知，当输入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V1=0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时输出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，当输入电压从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上升到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&gt;2/3VDD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后，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翻转成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，当输入电压从最高值下降到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&lt;1/3VDD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后，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又翻转成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。由于它的输入有两个不同的阈值电压，所以，这种电路常用于电子开关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</a:t>
            </a:r>
            <a:endParaRPr lang="zh-CN" altLang="en-US"/>
          </a:p>
        </p:txBody>
      </p:sp>
      <p:pic>
        <p:nvPicPr>
          <p:cNvPr id="5" name="图片 4" descr="1_13140047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6408712" cy="29249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2852936"/>
            <a:ext cx="8229600" cy="7920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zh-CN" sz="2800" b="1">
                <a:latin typeface="黑体" pitchFamily="2" charset="-122"/>
                <a:ea typeface="黑体" pitchFamily="2" charset="-122"/>
              </a:rPr>
              <a:t>各种控制电路、波形的变换和整形，如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上图</a:t>
            </a:r>
            <a:r>
              <a:rPr lang="zh-CN" altLang="zh-CN" sz="2800" b="1">
                <a:latin typeface="黑体" pitchFamily="2" charset="-122"/>
                <a:ea typeface="黑体" pitchFamily="2" charset="-122"/>
              </a:rPr>
              <a:t>所示。</a:t>
            </a:r>
          </a:p>
        </p:txBody>
      </p:sp>
      <p:pic>
        <p:nvPicPr>
          <p:cNvPr id="4" name="图片 3" descr="1_13140047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6336704" cy="2924944"/>
          </a:xfrm>
          <a:prstGeom prst="rect">
            <a:avLst/>
          </a:prstGeom>
        </p:spPr>
      </p:pic>
      <p:pic>
        <p:nvPicPr>
          <p:cNvPr id="5" name="图片 4" descr="1_13140117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179512" y="3429000"/>
            <a:ext cx="8208912" cy="302433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/>
              <a:t>555</a:t>
            </a:r>
            <a:r>
              <a:rPr lang="zh-CN" altLang="zh-CN" b="1"/>
              <a:t>振荡器电路</a:t>
            </a:r>
            <a:r>
              <a:rPr lang="en-US" altLang="zh-CN" b="1"/>
              <a:t>(</a:t>
            </a:r>
            <a:r>
              <a:rPr lang="zh-CN" altLang="zh-CN" b="1"/>
              <a:t>无稳电路</a:t>
            </a:r>
            <a:r>
              <a:rPr lang="en-US" altLang="zh-CN" b="1"/>
              <a:t>)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492896"/>
            <a:ext cx="8229600" cy="12961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由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定时器构成的多谐振荡器如图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9(a)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所示，其工作波形见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下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图。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4005064"/>
            <a:ext cx="8784976" cy="2592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/>
              <a:t>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接通电源后，电源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通过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对电容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充电，当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Uc&lt;1/3VDD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时，振荡器输出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Vo=1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，放电管截止。当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Uc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充电到≥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2/3VDD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后，振荡器输出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翻转成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，此时放电管导通，使放电端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(DIS)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接地，电容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通过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对地放电，使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Uc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下降。</a:t>
            </a:r>
            <a:endParaRPr lang="zh-CN" altLang="en-US" b="1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4" name="图片 3" descr="1_13140305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47564" y="278858"/>
            <a:ext cx="7704856" cy="36450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789040"/>
            <a:ext cx="8964488" cy="26642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b="1"/>
              <a:t>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当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Uc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下降到≤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后，振荡器输出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又翻转成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，此时放电管又截止，使放电端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(DIS)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不接地，电源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通过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R2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又对电容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充电，又使</a:t>
            </a:r>
            <a:r>
              <a:rPr lang="en-US" altLang="zh-CN" b="1" err="1">
                <a:latin typeface="黑体" pitchFamily="2" charset="-122"/>
                <a:ea typeface="黑体" pitchFamily="2" charset="-122"/>
              </a:rPr>
              <a:t>Uc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从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1/3VDD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上升到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2/3VDD,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触发器又发生翻转。</a:t>
            </a:r>
          </a:p>
        </p:txBody>
      </p:sp>
      <p:pic>
        <p:nvPicPr>
          <p:cNvPr id="4" name="图片 3" descr="1_13140305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7704856" cy="36450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77072"/>
            <a:ext cx="8856984" cy="21602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如此周而复始，从而在输出端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Vo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得到连续变化的振荡脉冲波形脉冲宽度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TL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≈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0.7R2C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，由电容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放电时间决定；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TH=0.7(R1+R2)C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，由电容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充电时间决定，脉冲周期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T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≈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TH+TL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</a:t>
            </a:r>
            <a:endParaRPr lang="zh-CN" altLang="en-US"/>
          </a:p>
        </p:txBody>
      </p:sp>
      <p:pic>
        <p:nvPicPr>
          <p:cNvPr id="4" name="图片 3" descr="1_13140305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0"/>
            <a:ext cx="7704856" cy="36450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636912"/>
            <a:ext cx="8229600" cy="2188840"/>
          </a:xfrm>
        </p:spPr>
        <p:txBody>
          <a:bodyPr/>
          <a:lstStyle/>
          <a:p>
            <a:pPr>
              <a:buNone/>
            </a:pPr>
            <a:r>
              <a:rPr lang="en-US" altLang="zh-CN"/>
              <a:t>            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上面仅讨论了由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定时器构成的几种典型应用实例。实际上，由于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555</a:t>
            </a:r>
            <a:r>
              <a:rPr lang="zh-CN" altLang="zh-CN" b="1">
                <a:latin typeface="黑体" pitchFamily="2" charset="-122"/>
                <a:ea typeface="黑体" pitchFamily="2" charset="-122"/>
              </a:rPr>
              <a:t>定时器灵敏度高，功能灵活，因而在电子电路中获得广泛应用。</a:t>
            </a:r>
          </a:p>
          <a:p>
            <a:pPr>
              <a:buNone/>
            </a:pPr>
            <a:endParaRPr lang="zh-CN" altLang="en-US"/>
          </a:p>
        </p:txBody>
      </p:sp>
      <p:sp>
        <p:nvSpPr>
          <p:cNvPr id="4" name="动作按钮: 自定义 3">
            <a:hlinkClick r:id="" action="ppaction://hlinkshowjump?jump=endshow" highlightClick="1"/>
          </p:cNvPr>
          <p:cNvSpPr/>
          <p:nvPr/>
        </p:nvSpPr>
        <p:spPr>
          <a:xfrm>
            <a:off x="5868144" y="5589240"/>
            <a:ext cx="720080" cy="576064"/>
          </a:xfrm>
          <a:prstGeom prst="actionButtonBlan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结束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黑体" pitchFamily="2" charset="-122"/>
                <a:ea typeface="黑体" pitchFamily="2" charset="-122"/>
              </a:rPr>
              <a:t>R-S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触发器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348880"/>
            <a:ext cx="8579296" cy="24048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 R-S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触发器又名复位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置位触发器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R-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复位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RESET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S-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置位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SET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。）</a:t>
            </a:r>
            <a:endParaRPr lang="en-US" altLang="zh-CN" b="1">
              <a:latin typeface="黑体" pitchFamily="2" charset="-122"/>
              <a:ea typeface="黑体" pitchFamily="2" charset="-122"/>
            </a:endParaRPr>
          </a:p>
          <a:p>
            <a:pPr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  基本结构是由两个与非门（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or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或非门）的输入，输出端交叉连接而成。 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3528392" cy="576064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b="1">
                <a:latin typeface="黑体" pitchFamily="2" charset="-122"/>
                <a:ea typeface="黑体" pitchFamily="2" charset="-122"/>
              </a:rPr>
              <a:t>由与非门组成时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： </a:t>
            </a:r>
            <a:br>
              <a:rPr lang="zh-CN" altLang="en-US" b="1">
                <a:latin typeface="黑体" pitchFamily="2" charset="-122"/>
                <a:ea typeface="黑体" pitchFamily="2" charset="-122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R=0,S=0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时状态不定 </a:t>
            </a:r>
          </a:p>
          <a:p>
            <a:pPr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R=1,S=0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时置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1 </a:t>
            </a:r>
          </a:p>
          <a:p>
            <a:pPr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R=0,S=1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时置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0 </a:t>
            </a:r>
          </a:p>
          <a:p>
            <a:pPr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R=1,S=1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时状态不变 </a:t>
            </a:r>
          </a:p>
          <a:p>
            <a:pPr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或非门时输出状态反之</a:t>
            </a:r>
          </a:p>
          <a:p>
            <a:endParaRPr lang="zh-CN" altLang="en-US" sz="2800"/>
          </a:p>
        </p:txBody>
      </p:sp>
      <p:pic>
        <p:nvPicPr>
          <p:cNvPr id="4" name="图片 3" descr="基本R-S触发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268760"/>
            <a:ext cx="5023564" cy="2592288"/>
          </a:xfrm>
          <a:prstGeom prst="rect">
            <a:avLst/>
          </a:prstGeom>
        </p:spPr>
      </p:pic>
      <p:graphicFrame>
        <p:nvGraphicFramePr>
          <p:cNvPr id="5" name="内容占位符 3"/>
          <p:cNvGraphicFramePr/>
          <p:nvPr/>
        </p:nvGraphicFramePr>
        <p:xfrm>
          <a:off x="107504" y="4437112"/>
          <a:ext cx="720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 </a:t>
                      </a:r>
                      <a:r>
                        <a:rPr lang="en-US" baseline="-25000"/>
                        <a:t>n+1 </a:t>
                      </a:r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 </a:t>
                      </a:r>
                      <a:r>
                        <a:rPr lang="en-US" baseline="-25000"/>
                        <a:t>n </a:t>
                      </a:r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宋体" charset="-122"/>
                        </a:rPr>
                        <a:t>禁止</a:t>
                      </a:r>
                      <a:r>
                        <a:rPr lang="zh-CN" altLang="en-US"/>
                        <a:t>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zh-CN" altLang="en-US"/>
                        <a:t> 注：</a:t>
                      </a:r>
                      <a:r>
                        <a:rPr lang="en-US" altLang="zh-CN"/>
                        <a:t>Q</a:t>
                      </a:r>
                      <a:r>
                        <a:rPr lang="en-US" altLang="zh-CN" baseline="-25000"/>
                        <a:t>n+1</a:t>
                      </a:r>
                      <a:r>
                        <a:rPr lang="zh-CN" altLang="en-US"/>
                        <a:t> </a:t>
                      </a:r>
                      <a:r>
                        <a:rPr lang="zh-CN" altLang="en-US">
                          <a:latin typeface="宋体" charset="-122"/>
                        </a:rPr>
                        <a:t>为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Q</a:t>
                      </a:r>
                      <a:r>
                        <a:rPr lang="zh-CN" altLang="en-US"/>
                        <a:t> </a:t>
                      </a:r>
                      <a:r>
                        <a:rPr lang="zh-CN" altLang="en-US">
                          <a:latin typeface="宋体" charset="-122"/>
                        </a:rPr>
                        <a:t>端新状态，</a:t>
                      </a:r>
                      <a:r>
                        <a:rPr lang="zh-CN" altLang="en-US"/>
                        <a:t> </a:t>
                      </a:r>
                      <a:r>
                        <a:rPr lang="en-US" altLang="zh-CN" err="1"/>
                        <a:t>Q</a:t>
                      </a:r>
                      <a:r>
                        <a:rPr lang="en-US" altLang="zh-CN" baseline="-25000" err="1"/>
                        <a:t>n</a:t>
                      </a:r>
                      <a:r>
                        <a:rPr lang="zh-CN" altLang="en-US"/>
                        <a:t> </a:t>
                      </a:r>
                      <a:r>
                        <a:rPr lang="zh-CN" altLang="en-US">
                          <a:latin typeface="宋体" charset="-122"/>
                        </a:rPr>
                        <a:t>为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Q</a:t>
                      </a:r>
                      <a:r>
                        <a:rPr lang="zh-CN" altLang="en-US"/>
                        <a:t> </a:t>
                      </a:r>
                      <a:r>
                        <a:rPr lang="zh-CN" altLang="en-US">
                          <a:latin typeface="宋体" charset="-122"/>
                        </a:rPr>
                        <a:t>端原状态</a:t>
                      </a:r>
                      <a:r>
                        <a:rPr lang="zh-CN" altLang="en-US"/>
                        <a:t> 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39552" y="4797152"/>
          <a:ext cx="3365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4797152"/>
                        <a:ext cx="336550" cy="350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39552" y="5157192"/>
          <a:ext cx="319832" cy="31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DSMT4">
                  <p:embed/>
                </p:oleObj>
              </mc:Choice>
              <mc:Fallback>
                <p:oleObj name="Equation" r:id="rId5" imgW="0" imgH="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552" y="5157192"/>
                        <a:ext cx="319832" cy="31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十字星 9">
            <a:hlinkClick r:id="rId7" action="ppaction://hlinksldjump"/>
          </p:cNvPr>
          <p:cNvSpPr/>
          <p:nvPr/>
        </p:nvSpPr>
        <p:spPr>
          <a:xfrm>
            <a:off x="8028384" y="5517232"/>
            <a:ext cx="432048" cy="648072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黑体" pitchFamily="2" charset="-122"/>
                <a:ea typeface="黑体" pitchFamily="2" charset="-122"/>
              </a:rPr>
              <a:t>R-S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触发器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7544" y="3789040"/>
          <a:ext cx="496855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837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/>
                        <a:t>MR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Vo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DIS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err="1">
                          <a:latin typeface="黑体" pitchFamily="2" charset="-122"/>
                          <a:ea typeface="黑体" pitchFamily="2" charset="-122"/>
                        </a:rPr>
                        <a:t>Qn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开路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latin typeface="黑体" pitchFamily="2" charset="-122"/>
                          <a:ea typeface="黑体" pitchFamily="2" charset="-122"/>
                        </a:rPr>
                        <a:t>0</a:t>
                      </a:r>
                      <a:endParaRPr lang="zh-CN" altLang="en-US" sz="2800" b="1"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>
                          <a:latin typeface="黑体" pitchFamily="2" charset="-122"/>
                          <a:ea typeface="黑体" pitchFamily="2" charset="-122"/>
                        </a:rPr>
                        <a:t>接地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线形标注 1 12"/>
          <p:cNvSpPr/>
          <p:nvPr/>
        </p:nvSpPr>
        <p:spPr>
          <a:xfrm>
            <a:off x="6300192" y="1628800"/>
            <a:ext cx="2088232" cy="720080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R-S</a:t>
            </a:r>
            <a:r>
              <a:rPr lang="zh-CN" altLang="en-US"/>
              <a:t>触发器</a:t>
            </a:r>
          </a:p>
        </p:txBody>
      </p:sp>
      <p:graphicFrame>
        <p:nvGraphicFramePr>
          <p:cNvPr id="15" name="内容占位符 3"/>
          <p:cNvGraphicFramePr/>
          <p:nvPr/>
        </p:nvGraphicFramePr>
        <p:xfrm>
          <a:off x="467544" y="1628800"/>
          <a:ext cx="49685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 </a:t>
                      </a:r>
                      <a:r>
                        <a:rPr lang="en-US" baseline="-25000"/>
                        <a:t>n+1 </a:t>
                      </a:r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 </a:t>
                      </a:r>
                      <a:r>
                        <a:rPr lang="en-US" baseline="-25000"/>
                        <a:t>n </a:t>
                      </a:r>
                      <a:endParaRPr lang="en-US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latin typeface="宋体" charset="-122"/>
                        </a:rPr>
                        <a:t>禁止</a:t>
                      </a:r>
                      <a:r>
                        <a:rPr lang="zh-CN" altLang="en-US"/>
                        <a:t>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zh-CN" altLang="en-US" dirty="0"/>
                        <a:t> 注：</a:t>
                      </a:r>
                      <a:r>
                        <a:rPr lang="en-US" altLang="zh-CN" dirty="0"/>
                        <a:t>Q</a:t>
                      </a:r>
                      <a:r>
                        <a:rPr lang="en-US" altLang="zh-CN" baseline="-25000" dirty="0"/>
                        <a:t>n+1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US" dirty="0">
                          <a:latin typeface="宋体" charset="-122"/>
                        </a:rPr>
                        <a:t>为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Q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US" dirty="0">
                          <a:latin typeface="宋体" charset="-122"/>
                        </a:rPr>
                        <a:t>端新状态，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Q</a:t>
                      </a:r>
                      <a:r>
                        <a:rPr lang="en-US" altLang="zh-CN" baseline="-25000" dirty="0"/>
                        <a:t>n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US" dirty="0">
                          <a:latin typeface="宋体" charset="-122"/>
                        </a:rPr>
                        <a:t>为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Q</a:t>
                      </a:r>
                      <a:r>
                        <a:rPr lang="zh-CN" altLang="en-US" dirty="0"/>
                        <a:t> </a:t>
                      </a:r>
                      <a:r>
                        <a:rPr lang="zh-CN" altLang="en-US" dirty="0">
                          <a:latin typeface="宋体" charset="-122"/>
                        </a:rPr>
                        <a:t>端原状态</a:t>
                      </a:r>
                      <a:r>
                        <a:rPr lang="zh-CN" altLang="en-US" dirty="0"/>
                        <a:t> 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899592" y="1988840"/>
          <a:ext cx="23222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9592" y="1988840"/>
                        <a:ext cx="232220" cy="350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899592" y="2348880"/>
          <a:ext cx="220684" cy="31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9592" y="2348880"/>
                        <a:ext cx="220684" cy="31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线形标注 1 17"/>
          <p:cNvSpPr/>
          <p:nvPr/>
        </p:nvSpPr>
        <p:spPr>
          <a:xfrm>
            <a:off x="6372200" y="4005064"/>
            <a:ext cx="2304256" cy="936104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555</a:t>
            </a:r>
            <a:r>
              <a:rPr lang="zh-CN" altLang="en-US"/>
              <a:t>集成电路</a:t>
            </a:r>
          </a:p>
        </p:txBody>
      </p:sp>
      <p:sp>
        <p:nvSpPr>
          <p:cNvPr id="19" name="五角星 18"/>
          <p:cNvSpPr/>
          <p:nvPr/>
        </p:nvSpPr>
        <p:spPr>
          <a:xfrm>
            <a:off x="1763688" y="5877272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角星 19"/>
          <p:cNvSpPr/>
          <p:nvPr/>
        </p:nvSpPr>
        <p:spPr>
          <a:xfrm>
            <a:off x="1763688" y="5301208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角星 20"/>
          <p:cNvSpPr/>
          <p:nvPr/>
        </p:nvSpPr>
        <p:spPr>
          <a:xfrm>
            <a:off x="2771800" y="5877272"/>
            <a:ext cx="288032" cy="21602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十字星 21">
            <a:hlinkClick r:id="rId6" action="ppaction://hlinksldjump"/>
          </p:cNvPr>
          <p:cNvSpPr/>
          <p:nvPr/>
        </p:nvSpPr>
        <p:spPr>
          <a:xfrm>
            <a:off x="6804248" y="5949280"/>
            <a:ext cx="360040" cy="432048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91AD8-8CAE-EB40-0CF5-EE2D2E36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CC73A-23E6-1617-FC2F-F619A80C6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1.555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集成电路最初是设计用于什么应用？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调光控制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B.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定时器应用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C.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电源变换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D.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频率变换</a:t>
            </a:r>
          </a:p>
          <a:p>
            <a:r>
              <a:rPr lang="en-US" altLang="zh-CN" dirty="0">
                <a:solidFill>
                  <a:srgbClr val="060607"/>
                </a:solidFill>
                <a:latin typeface="-apple-system"/>
              </a:rPr>
              <a:t>2.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在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555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集成电路中，哪个引脚加上低电平时可以使输出为低电平？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A. 2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脚（触发端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TR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）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B. 3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脚（输出端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Vo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） 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C. 4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脚（复位端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MR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）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D. 7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脚（放电端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DIS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）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1397805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D6BCD-5E89-3004-E64D-C1F63E9C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FFC95-5532-07F6-7F2D-C75F0392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3.555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集成电路的振荡器电路（无稳电路）中，输出脉冲的周期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T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是由哪两个时间决定的？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A.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充电时间和放电时间 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B.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触发时间和阈值时间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C.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复位时间和置位时间 </a:t>
            </a:r>
            <a:endParaRPr lang="en-US" altLang="zh-CN" b="0" i="0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D. 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阈值时间和延迟时间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5197059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8F33D-41D5-9A17-9B37-A097B64E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双色闪光灯</a:t>
            </a:r>
            <a:endParaRPr lang="LID4096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15D2B3-62EB-7FE5-0332-1D56368DF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279" y="1600200"/>
            <a:ext cx="5339442" cy="4525963"/>
          </a:xfrm>
        </p:spPr>
      </p:pic>
    </p:spTree>
    <p:extLst>
      <p:ext uri="{BB962C8B-B14F-4D97-AF65-F5344CB8AC3E}">
        <p14:creationId xmlns:p14="http://schemas.microsoft.com/office/powerpoint/2010/main" val="14722409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9EEF3E-0F50-D60D-C2C4-A60295D0A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70" y="692696"/>
            <a:ext cx="8313060" cy="5145435"/>
          </a:xfrm>
        </p:spPr>
      </p:pic>
    </p:spTree>
    <p:extLst>
      <p:ext uri="{BB962C8B-B14F-4D97-AF65-F5344CB8AC3E}">
        <p14:creationId xmlns:p14="http://schemas.microsoft.com/office/powerpoint/2010/main" val="104642147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11.28"/>
  <p:tag name="AS_TITLE" val="Aspose.Slides for .NET 4.0"/>
  <p:tag name="AS_VERSION" val="16.11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441</TotalTime>
  <Words>2190</Words>
  <Application>Microsoft Office PowerPoint</Application>
  <PresentationFormat>全屏显示(4:3)</PresentationFormat>
  <Paragraphs>247</Paragraphs>
  <Slides>38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-apple-system</vt:lpstr>
      <vt:lpstr>黑体</vt:lpstr>
      <vt:lpstr>华文新魏</vt:lpstr>
      <vt:lpstr>宋体</vt:lpstr>
      <vt:lpstr>Arial</vt:lpstr>
      <vt:lpstr>Calibri</vt:lpstr>
      <vt:lpstr>Wingdings</vt:lpstr>
      <vt:lpstr>Office 主题</vt:lpstr>
      <vt:lpstr>Equation</vt:lpstr>
      <vt:lpstr>555芯片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典型应用电路 </vt:lpstr>
      <vt:lpstr>555单稳电路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555双稳电路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555振荡器电路(无稳电路) </vt:lpstr>
      <vt:lpstr>PowerPoint 演示文稿</vt:lpstr>
      <vt:lpstr>PowerPoint 演示文稿</vt:lpstr>
      <vt:lpstr>PowerPoint 演示文稿</vt:lpstr>
      <vt:lpstr>PowerPoint 演示文稿</vt:lpstr>
      <vt:lpstr>R-S触发器</vt:lpstr>
      <vt:lpstr>由与非门组成时：  </vt:lpstr>
      <vt:lpstr>R-S触发器</vt:lpstr>
      <vt:lpstr>作业</vt:lpstr>
      <vt:lpstr>PowerPoint 演示文稿</vt:lpstr>
      <vt:lpstr>双色闪光灯</vt:lpstr>
      <vt:lpstr>PowerPoint 演示文稿</vt:lpstr>
    </vt:vector>
  </TitlesOfParts>
  <Company>太原理工大学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555芯片</dc:title>
  <dc:creator>SUNBIN</dc:creator>
  <cp:lastModifiedBy>国栋 李</cp:lastModifiedBy>
  <cp:revision>36</cp:revision>
  <dcterms:created xsi:type="dcterms:W3CDTF">2011-04-04T15:18:11Z</dcterms:created>
  <dcterms:modified xsi:type="dcterms:W3CDTF">2024-10-22T08:21:28Z</dcterms:modified>
</cp:coreProperties>
</file>
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51-d2t6c4tnfo2stf9die7g.png"/>
          <p:cNvPicPr>
            <a:picLocks noChangeAspect="1"/>
          </p:cNvPicPr>
          <p:nvPr/>
        </p:nvPicPr>
        <p:blipFill>
          <a:blip r:embed="rId1"/>
          <a:srcRect l="10" r="10"/>
          <a:stretch>
            <a:fillRect/>
          </a:stretch>
        </p:blipFill>
        <p:spPr>
          <a:xfrm>
            <a:off x="0" y="0"/>
            <a:ext cx="12213590" cy="68605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9605" y="1426845"/>
            <a:ext cx="7943215" cy="21158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PyQt5文件操作实战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5505" y="3769360"/>
            <a:ext cx="2078990" cy="4787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83305" y="3769360"/>
            <a:ext cx="2078990" cy="4787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50-d2t6c4lnfo2stf9die3g.png"/>
          <p:cNvPicPr>
            <a:picLocks noChangeAspect="1"/>
          </p:cNvPicPr>
          <p:nvPr/>
        </p:nvPicPr>
        <p:blipFill>
          <a:blip r:embed="rId1"/>
          <a:srcRect l="3322" r="3322"/>
          <a:stretch>
            <a:fillRect/>
          </a:stretch>
        </p:blipFill>
        <p:spPr>
          <a:xfrm>
            <a:off x="0" y="0"/>
            <a:ext cx="12208510" cy="68821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505" y="730250"/>
            <a:ext cx="2235200" cy="749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6605" y="1368425"/>
            <a:ext cx="462915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H="1">
            <a:off x="1504315" y="2314575"/>
            <a:ext cx="12700" cy="4679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 flipH="1">
            <a:off x="1504315" y="2936240"/>
            <a:ext cx="12700" cy="4679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 flipH="1">
            <a:off x="1504315" y="3557905"/>
            <a:ext cx="12700" cy="4679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H="1">
            <a:off x="1504315" y="4179570"/>
            <a:ext cx="12700" cy="4679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 flipH="1">
            <a:off x="1504315" y="4801235"/>
            <a:ext cx="12700" cy="4679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 flipH="1">
            <a:off x="1504315" y="5422900"/>
            <a:ext cx="12700" cy="4679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506095" y="2257425"/>
            <a:ext cx="1041400" cy="438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72895" y="2312670"/>
            <a:ext cx="554736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教学目标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6095" y="2879090"/>
            <a:ext cx="1041400" cy="438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72895" y="2934335"/>
            <a:ext cx="559816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文件读写操作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6095" y="3500755"/>
            <a:ext cx="1041400" cy="438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72895" y="3556000"/>
            <a:ext cx="554736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文件复制移动删除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6095" y="4122420"/>
            <a:ext cx="1041400" cy="438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72895" y="4177665"/>
            <a:ext cx="559816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文件属性获取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6095" y="4744085"/>
            <a:ext cx="1041400" cy="438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72895" y="4799330"/>
            <a:ext cx="554736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PyQt5界面整合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6095" y="5365750"/>
            <a:ext cx="1041400" cy="438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72895" y="5427345"/>
            <a:ext cx="559816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综合实训任务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49-d2t6c4dnfo2stf9die2g.jpg"/>
          <p:cNvPicPr>
            <a:picLocks noChangeAspect="1"/>
          </p:cNvPicPr>
          <p:nvPr/>
        </p:nvPicPr>
        <p:blipFill>
          <a:blip r:embed="rId1"/>
          <a:srcRect l="3583" r="3583"/>
          <a:stretch>
            <a:fillRect/>
          </a:stretch>
        </p:blipFill>
        <p:spPr>
          <a:xfrm>
            <a:off x="0" y="-20955"/>
            <a:ext cx="12192000" cy="6911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29690"/>
            <a:ext cx="2071370" cy="17732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013710"/>
            <a:ext cx="5382895" cy="749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教学目标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2:24:51-d2t6c4tnfo2stf9die80.jpg"/>
          <p:cNvPicPr>
            <a:picLocks noChangeAspect="1"/>
          </p:cNvPicPr>
          <p:nvPr/>
        </p:nvPicPr>
        <p:blipFill>
          <a:blip r:embed="rId1"/>
          <a:srcRect l="44049" r="21872"/>
          <a:stretch>
            <a:fillRect/>
          </a:stretch>
        </p:blipFill>
        <p:spPr>
          <a:xfrm>
            <a:off x="0" y="0"/>
            <a:ext cx="4723765" cy="68605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6400" y="1508760"/>
            <a:ext cx="3535680" cy="455676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6400" y="1508760"/>
            <a:ext cx="3535680" cy="45567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5120" y="319405"/>
            <a:ext cx="4144010" cy="438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8325" y="2587625"/>
            <a:ext cx="3178810" cy="0"/>
          </a:xfrm>
          <a:prstGeom prst="line">
            <a:avLst/>
          </a:prstGeom>
          <a:noFill/>
          <a:ln w="31750">
            <a:solidFill>
              <a:srgbClr val="49B2FE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68325" y="2498725"/>
            <a:ext cx="3178810" cy="0"/>
          </a:xfrm>
          <a:prstGeom prst="line">
            <a:avLst/>
          </a:prstGeom>
          <a:noFill/>
          <a:ln w="12700">
            <a:solidFill>
              <a:srgbClr val="49B2FE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5000625" y="123380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0625" y="123380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269230" y="1395095"/>
            <a:ext cx="271145" cy="252730"/>
          </a:xfrm>
          <a:prstGeom prst="triangle">
            <a:avLst/>
          </a:prstGeom>
          <a:solidFill>
            <a:srgbClr val="018EF4"/>
          </a:solidFill>
        </p:spPr>
      </p:sp>
      <p:sp>
        <p:nvSpPr>
          <p:cNvPr id="13" name="Text 10"/>
          <p:cNvSpPr/>
          <p:nvPr/>
        </p:nvSpPr>
        <p:spPr>
          <a:xfrm rot="5400000">
            <a:off x="5269230" y="139509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00625" y="370776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00625" y="370776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 rot="5400000">
            <a:off x="5269230" y="3869055"/>
            <a:ext cx="271145" cy="252730"/>
          </a:xfrm>
          <a:prstGeom prst="triangle">
            <a:avLst/>
          </a:prstGeom>
          <a:solidFill>
            <a:srgbClr val="018EF4"/>
          </a:solidFill>
        </p:spPr>
      </p:sp>
      <p:sp>
        <p:nvSpPr>
          <p:cNvPr id="17" name="Text 14"/>
          <p:cNvSpPr/>
          <p:nvPr/>
        </p:nvSpPr>
        <p:spPr>
          <a:xfrm rot="5400000">
            <a:off x="5269230" y="386905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68325" y="1746250"/>
            <a:ext cx="317881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文件操作相关方法与类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68960" y="2661920"/>
            <a:ext cx="3182620" cy="17065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掌握Python中文件操作的关键类与方法，如open、shutil、os等，明确它们在文件读写、复制、移动、删除及属性获取中的具体应用。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586095" y="1362710"/>
            <a:ext cx="5475605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文件操作原理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3185" y="1706245"/>
            <a:ext cx="5905500" cy="597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理解文件读写、复制移动的底层原理，包括数据流的传输机制、文件指针的移动以及磁盘空间的分配与释放。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86095" y="3836670"/>
            <a:ext cx="5475605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文件属性信息获取方法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3185" y="4180205"/>
            <a:ext cx="5905500" cy="597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学会使用os.stat等方法获取文件的大小、创建时间、修改时间等属性信息，为文件管理提供数据支持。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2105"/>
            <a:ext cx="979995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-5080" y="5532755"/>
            <a:ext cx="12207240" cy="132524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>
            <a:off x="-5080" y="5532755"/>
            <a:ext cx="12207240" cy="1325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3080" y="1412240"/>
            <a:ext cx="2559685" cy="4373880"/>
          </a:xfrm>
          <a:prstGeom prst="round2SameRect">
            <a:avLst>
              <a:gd name="adj1" fmla="val 9523"/>
              <a:gd name="adj2" fmla="val 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FFFFFF">
                    <a:alpha val="0"/>
                  </a:srgbClr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080" y="1412240"/>
            <a:ext cx="2559685" cy="4373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3080" y="1412240"/>
            <a:ext cx="1112520" cy="533400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>
            <a:off x="513080" y="1412240"/>
            <a:ext cx="1112520" cy="533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47720" y="1412240"/>
            <a:ext cx="2559685" cy="4373880"/>
          </a:xfrm>
          <a:prstGeom prst="round2SameRect">
            <a:avLst>
              <a:gd name="adj1" fmla="val 9523"/>
              <a:gd name="adj2" fmla="val 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FFFFFF">
                    <a:alpha val="0"/>
                  </a:srgbClr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7720" y="1412240"/>
            <a:ext cx="2559685" cy="4373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47720" y="1412240"/>
            <a:ext cx="1112520" cy="533400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4" name="Text 12"/>
          <p:cNvSpPr/>
          <p:nvPr/>
        </p:nvSpPr>
        <p:spPr>
          <a:xfrm>
            <a:off x="3347720" y="1412240"/>
            <a:ext cx="1112520" cy="533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82360" y="1412240"/>
            <a:ext cx="2559685" cy="4373880"/>
          </a:xfrm>
          <a:prstGeom prst="round2SameRect">
            <a:avLst>
              <a:gd name="adj1" fmla="val 9523"/>
              <a:gd name="adj2" fmla="val 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FFFFFF">
                    <a:alpha val="0"/>
                  </a:srgbClr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2360" y="1412240"/>
            <a:ext cx="2559685" cy="4373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82360" y="1412240"/>
            <a:ext cx="1112520" cy="533400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8" name="Text 16"/>
          <p:cNvSpPr/>
          <p:nvPr/>
        </p:nvSpPr>
        <p:spPr>
          <a:xfrm>
            <a:off x="6182360" y="1412240"/>
            <a:ext cx="1112520" cy="533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17000" y="1412240"/>
            <a:ext cx="2559685" cy="4373880"/>
          </a:xfrm>
          <a:prstGeom prst="round2SameRect">
            <a:avLst>
              <a:gd name="adj1" fmla="val 9523"/>
              <a:gd name="adj2" fmla="val 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FFFFFF">
                    <a:alpha val="0"/>
                  </a:srgbClr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17000" y="1412240"/>
            <a:ext cx="2559685" cy="4373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17000" y="1412240"/>
            <a:ext cx="1112520" cy="533400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2" name="Text 20"/>
          <p:cNvSpPr/>
          <p:nvPr/>
        </p:nvSpPr>
        <p:spPr>
          <a:xfrm>
            <a:off x="9017000" y="1412240"/>
            <a:ext cx="1112520" cy="5334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-5080" y="6195695"/>
            <a:ext cx="122072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686560" y="6116320"/>
            <a:ext cx="198120" cy="198120"/>
          </a:xfrm>
          <a:prstGeom prst="ellipse">
            <a:avLst/>
          </a:pr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3500000" scaled="1"/>
          </a:gra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86560" y="6116320"/>
            <a:ext cx="198120" cy="198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27880" y="6116320"/>
            <a:ext cx="198120" cy="198120"/>
          </a:xfrm>
          <a:prstGeom prst="ellipse">
            <a:avLst/>
          </a:pr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3500000" scaled="1"/>
          </a:gra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7880" y="6116320"/>
            <a:ext cx="198120" cy="198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69200" y="6116320"/>
            <a:ext cx="198120" cy="198120"/>
          </a:xfrm>
          <a:prstGeom prst="ellipse">
            <a:avLst/>
          </a:pr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3500000" scaled="1"/>
          </a:gra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69200" y="6116320"/>
            <a:ext cx="198120" cy="198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510520" y="6116320"/>
            <a:ext cx="198120" cy="198120"/>
          </a:xfrm>
          <a:prstGeom prst="ellipse">
            <a:avLst/>
          </a:pr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3500000" scaled="1"/>
          </a:gra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0520" y="6116320"/>
            <a:ext cx="198120" cy="198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7400" y="1442720"/>
            <a:ext cx="6197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5330" y="2004695"/>
            <a:ext cx="2138680" cy="5810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使用PyQt5实现文件读写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6280" y="2661285"/>
            <a:ext cx="2176145" cy="1125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能够熟练运用PyQt5框架实现文件的读取与写入功能，确保数据的准确传输和持久化存储。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22040" y="1442720"/>
            <a:ext cx="6197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69970" y="2004695"/>
            <a:ext cx="2138680" cy="5810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实现文件复制、移动、删除功能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50920" y="2661285"/>
            <a:ext cx="2176145" cy="1125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掌握文件的复制、移动和删除操作，确保操作的安全性和可靠性，避免数据丢失。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56680" y="1442720"/>
            <a:ext cx="6197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4610" y="2004695"/>
            <a:ext cx="2138680" cy="5810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设计文件属性展示界面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5560" y="2661285"/>
            <a:ext cx="2176145" cy="1125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设计并实现一个用户友好的文件属性展示界面，方便用户查看文件的详细信息。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91320" y="1442720"/>
            <a:ext cx="6197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39250" y="2004695"/>
            <a:ext cx="2138680" cy="5810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职业素养与思政目标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20200" y="2661285"/>
            <a:ext cx="2176145" cy="1125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养成文件管理规范意识，树立数据安全与责任意识，遵守操作规范，谨慎处理用户数据。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49-d2t6c4dnfo2stf9die2g.jpg"/>
          <p:cNvPicPr>
            <a:picLocks noChangeAspect="1"/>
          </p:cNvPicPr>
          <p:nvPr/>
        </p:nvPicPr>
        <p:blipFill>
          <a:blip r:embed="rId1"/>
          <a:srcRect l="3583" r="3583"/>
          <a:stretch>
            <a:fillRect/>
          </a:stretch>
        </p:blipFill>
        <p:spPr>
          <a:xfrm>
            <a:off x="0" y="-20955"/>
            <a:ext cx="12192000" cy="6911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29690"/>
            <a:ext cx="2071370" cy="17732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013710"/>
            <a:ext cx="5382895" cy="749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文件读写操作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210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PyQt5文件操作应用场景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8355" y="1479550"/>
            <a:ext cx="2606040" cy="444373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48355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6580" y="1479550"/>
            <a:ext cx="2606040" cy="4443730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8" name="Text 6"/>
          <p:cNvSpPr/>
          <p:nvPr/>
        </p:nvSpPr>
        <p:spPr>
          <a:xfrm>
            <a:off x="576580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365" y="1407795"/>
            <a:ext cx="2606040" cy="4443730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>
            <a:off x="6095365" y="1407795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91905" y="1479550"/>
            <a:ext cx="2606040" cy="444373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91905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8195" y="211645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文本读取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9145" y="2773045"/>
            <a:ext cx="2176145" cy="11604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通过PyQt5实现文本文件的读取，将文件内容加载到图形界面中，方便用户查看和编辑。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9970" y="211645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内容展示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50920" y="2773045"/>
            <a:ext cx="2176145" cy="11604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在图形界面中展示文件内容，提供良好的用户体验，支持多种文件格式的显示。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16980" y="2044700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文件保存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7930" y="2701290"/>
            <a:ext cx="2176145" cy="11604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实现文件的保存功能，将用户编辑的内容写入文件，确保数据的持久化存储。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13520" y="211645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图形界面中的作用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94470" y="2773045"/>
            <a:ext cx="2176145" cy="11604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文件操作是图形界面应用程序的核心功能之一，为用户提供便捷的文件管理体验。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文件选择对话框 QFileDialog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3360" y="1508125"/>
            <a:ext cx="11765280" cy="4257040"/>
          </a:xfrm>
          <a:prstGeom prst="roundRect">
            <a:avLst>
              <a:gd name="adj" fmla="val 8569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8000">
                  <a:srgbClr val="77B437">
                    <a:alpha val="0"/>
                  </a:srgbClr>
                </a:gs>
                <a:gs pos="66000">
                  <a:srgbClr val="80BD3F">
                    <a:alpha val="0"/>
                  </a:srgbClr>
                </a:gs>
                <a:gs pos="100000">
                  <a:srgbClr val="49B2FE"/>
                </a:gs>
              </a:gsLst>
              <a:lin ang="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3360" y="1508125"/>
            <a:ext cx="11765280" cy="4257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H="1">
            <a:off x="4675505" y="2216150"/>
            <a:ext cx="2840990" cy="2840990"/>
          </a:xfrm>
          <a:prstGeom prst="ellipse">
            <a:avLst/>
          </a:prstGeom>
          <a:solidFill>
            <a:srgbClr val="95D7F9">
              <a:alpha val="32941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4675505" y="2216150"/>
            <a:ext cx="2840990" cy="28409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H="1">
            <a:off x="3959860" y="1500505"/>
            <a:ext cx="4272280" cy="4272280"/>
          </a:xfrm>
          <a:prstGeom prst="ellipse">
            <a:avLst/>
          </a:prstGeom>
          <a:solidFill>
            <a:srgbClr val="49B2FE">
              <a:alpha val="12941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3959860" y="1500505"/>
            <a:ext cx="4272280" cy="4272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H="1">
            <a:off x="4408805" y="1949450"/>
            <a:ext cx="3374390" cy="337439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49B2F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408805" y="1949450"/>
            <a:ext cx="3374390" cy="33743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flipH="1">
            <a:off x="5010785" y="2551430"/>
            <a:ext cx="2171065" cy="2171065"/>
          </a:xfrm>
          <a:prstGeom prst="ellipse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4" name="Text 12"/>
          <p:cNvSpPr/>
          <p:nvPr/>
        </p:nvSpPr>
        <p:spPr>
          <a:xfrm>
            <a:off x="5010785" y="2551430"/>
            <a:ext cx="2171065" cy="21710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5" name="Image 0" descr="https://kimi-img.moonshot.cn/pub/slides/slides_tmpl/image/25-09-05-12:24:50-d2t6c4lnfo2stf9die50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5610" y="3046730"/>
            <a:ext cx="1189990" cy="118999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79755" y="2103120"/>
            <a:ext cx="3117850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0705" y="2835275"/>
            <a:ext cx="3116580" cy="12676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使用QFileDialog.getOpenFileName方法打开文件选择对话框，允许用户选择文件并返回文件路径。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79155" y="2103120"/>
            <a:ext cx="311785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参数说明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60105" y="2835275"/>
            <a:ext cx="3116580" cy="9507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参数包括对话框标题、初始路径和文件类型过滤器，方便用户快速定位目标文件。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0">
            <a:off x="1001395" y="1683385"/>
            <a:ext cx="2458085" cy="389572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21000000">
            <a:off x="100139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2:24:50-d2t6c4lnfo2stf9die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90" y="1884045"/>
            <a:ext cx="2682240" cy="39077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21000000">
            <a:off x="4618355" y="1683385"/>
            <a:ext cx="2458085" cy="389572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6" name="Text 3"/>
          <p:cNvSpPr/>
          <p:nvPr/>
        </p:nvSpPr>
        <p:spPr>
          <a:xfrm rot="21000000">
            <a:off x="461835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9-05-12:24:50-d2t6c4lnfo2stf9die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1884045"/>
            <a:ext cx="2682240" cy="39077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1000000">
            <a:off x="8235315" y="1683385"/>
            <a:ext cx="2458085" cy="389572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9" name="Text 5"/>
          <p:cNvSpPr/>
          <p:nvPr/>
        </p:nvSpPr>
        <p:spPr>
          <a:xfrm rot="21000000">
            <a:off x="823531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2" descr="https://kimi-img.moonshot.cn/pub/slides/slides_tmpl/image/25-09-05-12:24:50-d2t6c4lnfo2stf9die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7710" y="1884045"/>
            <a:ext cx="2682240" cy="3907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文件读取 read() 方法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3" name="Text 8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81125" y="2271395"/>
            <a:ext cx="2138971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81125" y="2927985"/>
            <a:ext cx="2176145" cy="1125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使用with open语句打开文件，调用read()方法读取文件内容，并将其显示在文本编辑框中。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98085" y="2271395"/>
            <a:ext cx="2138971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编码声明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998085" y="2927985"/>
            <a:ext cx="2176145" cy="844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在打开文件时指定utf-8编码，确保文件内容正确读取，避免乱码问题。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15045" y="2271395"/>
            <a:ext cx="2138971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文本展示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15045" y="2927985"/>
            <a:ext cx="2176145" cy="1125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将读取到的文件内容设置到QTextEdit控件中，实现文件内容的可视化展示。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0">
            <a:off x="1001395" y="1683385"/>
            <a:ext cx="2458085" cy="389572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21000000">
            <a:off x="100139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2:24:50-d2t6c4lnfo2stf9die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90" y="1884045"/>
            <a:ext cx="2682240" cy="3907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文件保存 write() 方法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7" name="Text 4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84955" y="1574800"/>
            <a:ext cx="7435850" cy="176784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4955" y="1574800"/>
            <a:ext cx="7435850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23080" y="1795780"/>
            <a:ext cx="1325880" cy="1325880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1" name="Text 8"/>
          <p:cNvSpPr/>
          <p:nvPr/>
        </p:nvSpPr>
        <p:spPr>
          <a:xfrm>
            <a:off x="4323080" y="179578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99610" y="2058035"/>
            <a:ext cx="972185" cy="679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84955" y="3667760"/>
            <a:ext cx="7435850" cy="176784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84955" y="3667760"/>
            <a:ext cx="7435850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23080" y="3888740"/>
            <a:ext cx="1325880" cy="1325880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6" name="Text 13"/>
          <p:cNvSpPr/>
          <p:nvPr/>
        </p:nvSpPr>
        <p:spPr>
          <a:xfrm>
            <a:off x="4323080" y="388874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99610" y="4150995"/>
            <a:ext cx="972185" cy="679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81125" y="2271395"/>
            <a:ext cx="2138971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81125" y="2927985"/>
            <a:ext cx="2176145" cy="1125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使用QFileDialog获取保存路径后，通过write()方法将文本编辑框的内容写入文件。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07405" y="1724660"/>
            <a:ext cx="5423535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写操作风险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07405" y="2076450"/>
            <a:ext cx="5423535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写操作会覆盖原文件内容，因此在保存前应进行确认提示，避免误操作导致数据丢失。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907405" y="3817620"/>
            <a:ext cx="5423535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编码一致性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07405" y="4169410"/>
            <a:ext cx="5423535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确保写入文件时使用与读取时相同的编码格式，避免因编码不一致导致乱码。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异常处理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92275" y="1971040"/>
            <a:ext cx="9264015" cy="3397885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2275" y="1971040"/>
            <a:ext cx="9264015" cy="3397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0760" y="1432560"/>
            <a:ext cx="4312285" cy="4312285"/>
          </a:xfrm>
          <a:prstGeom prst="ellipse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8" name="Text 6"/>
          <p:cNvSpPr/>
          <p:nvPr/>
        </p:nvSpPr>
        <p:spPr>
          <a:xfrm>
            <a:off x="1000760" y="1432560"/>
            <a:ext cx="4312285" cy="43122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9095" y="2257425"/>
            <a:ext cx="3015615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空路径异常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9095" y="2929255"/>
            <a:ext cx="3015615" cy="11604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当用户未选择文件时，通过QMessageBox.warning提示用户未选择文件，避免程序因空路径报错。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33085" y="2340293"/>
            <a:ext cx="464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其他异常处理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33085" y="2951480"/>
            <a:ext cx="4888865" cy="713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捕获文件被占用、无权限等异常，给出明确提示，确保程序的健壮性和用户体验。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210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文件读写界面结构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1360000">
            <a:off x="860425" y="1380490"/>
            <a:ext cx="4177665" cy="191706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21360000">
            <a:off x="860425" y="1380490"/>
            <a:ext cx="4177665" cy="19170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58850" y="1407160"/>
            <a:ext cx="4714240" cy="2163445"/>
          </a:xfrm>
          <a:prstGeom prst="roundRect">
            <a:avLst>
              <a:gd name="adj" fmla="val 10334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8850" y="1407160"/>
            <a:ext cx="4714240" cy="21634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rot="21360000">
            <a:off x="6443345" y="1380490"/>
            <a:ext cx="4177665" cy="191706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 rot="21360000">
            <a:off x="6443345" y="1380490"/>
            <a:ext cx="4177665" cy="19170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41770" y="1407160"/>
            <a:ext cx="4714240" cy="2163445"/>
          </a:xfrm>
          <a:prstGeom prst="roundRect">
            <a:avLst>
              <a:gd name="adj" fmla="val 10334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1770" y="1407160"/>
            <a:ext cx="4714240" cy="21634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21360000">
            <a:off x="860425" y="3900170"/>
            <a:ext cx="4177665" cy="191706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4" name="Text 12"/>
          <p:cNvSpPr/>
          <p:nvPr/>
        </p:nvSpPr>
        <p:spPr>
          <a:xfrm rot="21360000">
            <a:off x="860425" y="3900170"/>
            <a:ext cx="4177665" cy="19170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58850" y="3926840"/>
            <a:ext cx="4714240" cy="2163445"/>
          </a:xfrm>
          <a:prstGeom prst="roundRect">
            <a:avLst>
              <a:gd name="adj" fmla="val 10334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850" y="3926840"/>
            <a:ext cx="4714240" cy="21634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21360000">
            <a:off x="6443345" y="3900170"/>
            <a:ext cx="4177665" cy="191706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8" name="Text 16"/>
          <p:cNvSpPr/>
          <p:nvPr/>
        </p:nvSpPr>
        <p:spPr>
          <a:xfrm rot="21360000">
            <a:off x="6443345" y="3900170"/>
            <a:ext cx="4177665" cy="19170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41770" y="3926840"/>
            <a:ext cx="4714240" cy="2163445"/>
          </a:xfrm>
          <a:prstGeom prst="roundRect">
            <a:avLst>
              <a:gd name="adj" fmla="val 10334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1770" y="3926840"/>
            <a:ext cx="4714240" cy="21634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7930" y="1621155"/>
            <a:ext cx="431800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按钮区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8880" y="2018665"/>
            <a:ext cx="4394200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包含打开、保存、清空等按钮，为用户提供便捷的操作入口。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7930" y="4140835"/>
            <a:ext cx="431800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文本区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8880" y="4538345"/>
            <a:ext cx="4394200" cy="2813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用于显示文件内容，支持文本编辑和查看。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00850" y="1621155"/>
            <a:ext cx="431800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功能说明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81800" y="2018665"/>
            <a:ext cx="4394200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实现文件的读取、写入、另存为以及文本内容的展示功能。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00850" y="4140835"/>
            <a:ext cx="431800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用户体验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81800" y="4538345"/>
            <a:ext cx="4394200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界面布局简洁明了，操作流程清晰，提升用户使用体验。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49-d2t6c4dnfo2stf9die2g.jpg"/>
          <p:cNvPicPr>
            <a:picLocks noChangeAspect="1"/>
          </p:cNvPicPr>
          <p:nvPr/>
        </p:nvPicPr>
        <p:blipFill>
          <a:blip r:embed="rId1"/>
          <a:srcRect l="3583" r="3583"/>
          <a:stretch>
            <a:fillRect/>
          </a:stretch>
        </p:blipFill>
        <p:spPr>
          <a:xfrm>
            <a:off x="0" y="-20955"/>
            <a:ext cx="12192000" cy="6911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29690"/>
            <a:ext cx="2071370" cy="17732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013710"/>
            <a:ext cx="5382895" cy="749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文件复制移动删除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使用shutil实现文件复制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815975" y="243395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8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 rot="5400000">
            <a:off x="815975" y="243395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1240" y="1775460"/>
            <a:ext cx="3023870" cy="76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8" name="Text 6"/>
          <p:cNvSpPr/>
          <p:nvPr/>
        </p:nvSpPr>
        <p:spPr>
          <a:xfrm>
            <a:off x="1031240" y="177546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7395" y="5783580"/>
            <a:ext cx="1052195" cy="121920"/>
          </a:xfrm>
          <a:prstGeom prst="ellipse">
            <a:avLst/>
          </a:prstGeom>
          <a:solidFill>
            <a:srgbClr val="49B2FE">
              <a:alpha val="65098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2017395" y="578358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4349115" y="203771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8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12" name="Text 10"/>
          <p:cNvSpPr/>
          <p:nvPr/>
        </p:nvSpPr>
        <p:spPr>
          <a:xfrm rot="5400000">
            <a:off x="4349115" y="203771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64380" y="1379220"/>
            <a:ext cx="3023870" cy="76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4" name="Text 12"/>
          <p:cNvSpPr/>
          <p:nvPr/>
        </p:nvSpPr>
        <p:spPr>
          <a:xfrm>
            <a:off x="4564380" y="137922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50535" y="5387340"/>
            <a:ext cx="1052195" cy="121920"/>
          </a:xfrm>
          <a:prstGeom prst="ellipse">
            <a:avLst/>
          </a:prstGeom>
          <a:solidFill>
            <a:srgbClr val="49B2FE">
              <a:alpha val="65098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550535" y="538734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5400000">
            <a:off x="7882255" y="243395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8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18" name="Text 16"/>
          <p:cNvSpPr/>
          <p:nvPr/>
        </p:nvSpPr>
        <p:spPr>
          <a:xfrm rot="5400000">
            <a:off x="7882255" y="243395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97520" y="1775460"/>
            <a:ext cx="3023870" cy="76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0" name="Text 18"/>
          <p:cNvSpPr/>
          <p:nvPr/>
        </p:nvSpPr>
        <p:spPr>
          <a:xfrm>
            <a:off x="8097520" y="177546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83675" y="5783580"/>
            <a:ext cx="1052195" cy="121920"/>
          </a:xfrm>
          <a:prstGeom prst="ellipse">
            <a:avLst/>
          </a:prstGeom>
          <a:solidFill>
            <a:srgbClr val="49B2FE">
              <a:alpha val="65098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9083675" y="578358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4920" y="1833880"/>
            <a:ext cx="255651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6015" y="2593340"/>
            <a:ext cx="2814320" cy="812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使用shutil.copy方法实现文件的复制操作，将源文件复制到目标路径。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98060" y="1437640"/>
            <a:ext cx="255651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参数说明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9155" y="2197100"/>
            <a:ext cx="2814320" cy="1092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第一个参数为源文件路径，第二个参数为目标路径，目标路径可以是文件名或目录。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1200" y="1833880"/>
            <a:ext cx="255651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复制原理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02295" y="2593340"/>
            <a:ext cx="2814320" cy="812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复制操作会创建源文件的一个副本，并将其保存到目标路径，源文件保持不变。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文件移动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35" y="2037715"/>
            <a:ext cx="12191365" cy="137604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635" y="2037715"/>
            <a:ext cx="12191365" cy="13760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53210" y="1925320"/>
            <a:ext cx="4359910" cy="4023360"/>
          </a:xfrm>
          <a:prstGeom prst="roundRect">
            <a:avLst>
              <a:gd name="adj" fmla="val 3066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3210" y="1925320"/>
            <a:ext cx="4359910" cy="40233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68475" y="3101340"/>
            <a:ext cx="3893185" cy="0"/>
          </a:xfrm>
          <a:prstGeom prst="line">
            <a:avLst/>
          </a:prstGeom>
          <a:noFill/>
          <a:ln w="19050">
            <a:solidFill>
              <a:srgbClr val="015FA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374130" y="1925320"/>
            <a:ext cx="4359910" cy="4023360"/>
          </a:xfrm>
          <a:prstGeom prst="roundRect">
            <a:avLst>
              <a:gd name="adj" fmla="val 3066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4130" y="1925320"/>
            <a:ext cx="4359910" cy="40233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9395" y="3101340"/>
            <a:ext cx="3893185" cy="0"/>
          </a:xfrm>
          <a:prstGeom prst="line">
            <a:avLst/>
          </a:prstGeom>
          <a:noFill/>
          <a:ln w="19050">
            <a:solidFill>
              <a:srgbClr val="015FA3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787525" y="2209800"/>
            <a:ext cx="389191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68475" y="3155315"/>
            <a:ext cx="3893185" cy="10239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使用shutil.move方法实现文件的移动操作，将文件从一个位置移动到另一个位置。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8445" y="2209800"/>
            <a:ext cx="389191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移动原理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9395" y="3155315"/>
            <a:ext cx="3893185" cy="6826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移动操作会将文件从源路径删除，并将其重新保存到目标路径。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删除与重命名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1253490"/>
            <a:ext cx="12192000" cy="174688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0" y="1253490"/>
            <a:ext cx="12192000" cy="1746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9-05-12:24:51-d2t6c4tnfo2stf9die70.png"/>
          <p:cNvPicPr>
            <a:picLocks noChangeAspect="1"/>
          </p:cNvPicPr>
          <p:nvPr/>
        </p:nvPicPr>
        <p:blipFill>
          <a:blip r:embed="rId1"/>
          <a:srcRect l="43" r="43"/>
          <a:stretch>
            <a:fillRect/>
          </a:stretch>
        </p:blipFill>
        <p:spPr>
          <a:xfrm>
            <a:off x="7649210" y="1111885"/>
            <a:ext cx="3684905" cy="51542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1695" y="1430020"/>
            <a:ext cx="54025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删除操作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1695" y="1777365"/>
            <a:ext cx="6499225" cy="2901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使用os.remove方法删除指定文件，操作不可恢复，需谨慎使用。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1695" y="3171190"/>
            <a:ext cx="5475605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重命名操作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1695" y="3514725"/>
            <a:ext cx="6136640" cy="2901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使用os.rename方法对文件进行重命名，支持跨目录移动。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1695" y="4805680"/>
            <a:ext cx="5475605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操作风险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1695" y="5149215"/>
            <a:ext cx="6127750" cy="5802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删除和重命名操作都可能影响文件的完整性和可访问性，操作前需进行确认提示。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文件批量操作示例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35" y="5362575"/>
            <a:ext cx="12191365" cy="14954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635" y="5362575"/>
            <a:ext cx="12191365" cy="14954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13425" y="2110740"/>
            <a:ext cx="5360035" cy="2709545"/>
          </a:xfrm>
          <a:custGeom>
            <a:avLst/>
            <a:gdLst/>
            <a:ahLst/>
            <a:cxnLst/>
            <a:rect l="l" t="t" r="r" b="b"/>
            <a:pathLst>
              <a:path w="5360035" h="2709545">
                <a:moveTo>
                  <a:pt x="4633675" y="2709545"/>
                </a:moveTo>
                <a:lnTo>
                  <a:pt x="0" y="2709545"/>
                </a:lnTo>
                <a:lnTo>
                  <a:pt x="726360" y="0"/>
                </a:lnTo>
                <a:lnTo>
                  <a:pt x="5360035" y="0"/>
                </a:lnTo>
                <a:close/>
              </a:path>
            </a:pathLst>
          </a:custGeom>
          <a:gradFill flip="none" rotWithShape="1">
            <a:gsLst>
              <a:gs pos="0">
                <a:srgbClr val="BCD0F7">
                  <a:alpha val="0"/>
                </a:srgbClr>
              </a:gs>
              <a:gs pos="20000">
                <a:srgbClr val="BCD0F7">
                  <a:alpha val="0"/>
                </a:srgbClr>
              </a:gs>
              <a:gs pos="100000">
                <a:srgbClr val="BCD0F7">
                  <a:alpha val="40000"/>
                </a:srgbClr>
              </a:gs>
            </a:gsLst>
            <a:lin ang="10800000" scaled="1"/>
          </a:gradFill>
        </p:spPr>
      </p:sp>
      <p:sp>
        <p:nvSpPr>
          <p:cNvPr id="6" name="Text 4"/>
          <p:cNvSpPr/>
          <p:nvPr/>
        </p:nvSpPr>
        <p:spPr>
          <a:xfrm>
            <a:off x="5813425" y="2110740"/>
            <a:ext cx="5360035" cy="270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21375" y="2241550"/>
            <a:ext cx="5360035" cy="2709545"/>
          </a:xfrm>
          <a:custGeom>
            <a:avLst/>
            <a:gdLst/>
            <a:ahLst/>
            <a:cxnLst/>
            <a:rect l="l" t="t" r="r" b="b"/>
            <a:pathLst>
              <a:path w="5360035" h="2709545">
                <a:moveTo>
                  <a:pt x="4633675" y="2709545"/>
                </a:moveTo>
                <a:lnTo>
                  <a:pt x="0" y="2709545"/>
                </a:lnTo>
                <a:lnTo>
                  <a:pt x="726360" y="0"/>
                </a:lnTo>
                <a:lnTo>
                  <a:pt x="5360035" y="0"/>
                </a:lnTo>
                <a:close/>
              </a:path>
            </a:pathLst>
          </a:custGeom>
          <a:solidFill>
            <a:srgbClr val="FFFFFF"/>
          </a:solidFill>
          <a:ln w="28575">
            <a:gradFill flip="none" rotWithShape="1">
              <a:gsLst>
                <a:gs pos="0">
                  <a:srgbClr val="BCD0F7">
                    <a:alpha val="0"/>
                  </a:srgbClr>
                </a:gs>
                <a:gs pos="30000">
                  <a:srgbClr val="BCD0F7">
                    <a:alpha val="0"/>
                  </a:srgbClr>
                </a:gs>
                <a:gs pos="100000">
                  <a:srgbClr val="91B1F1"/>
                </a:gs>
              </a:gsLst>
              <a:lin ang="10800000" scaled="1"/>
            </a:gra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1375" y="2241550"/>
            <a:ext cx="5360035" cy="270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5670" y="1682115"/>
            <a:ext cx="5360035" cy="2709545"/>
          </a:xfrm>
          <a:custGeom>
            <a:avLst/>
            <a:gdLst/>
            <a:ahLst/>
            <a:cxnLst/>
            <a:rect l="l" t="t" r="r" b="b"/>
            <a:pathLst>
              <a:path w="5360035" h="2709545">
                <a:moveTo>
                  <a:pt x="4633675" y="2709545"/>
                </a:moveTo>
                <a:lnTo>
                  <a:pt x="0" y="2709545"/>
                </a:lnTo>
                <a:lnTo>
                  <a:pt x="726360" y="0"/>
                </a:lnTo>
                <a:lnTo>
                  <a:pt x="5360035" y="0"/>
                </a:lnTo>
                <a:close/>
              </a:path>
            </a:pathLst>
          </a:custGeom>
          <a:gradFill flip="none" rotWithShape="1">
            <a:gsLst>
              <a:gs pos="0">
                <a:srgbClr val="92D1FE">
                  <a:alpha val="0"/>
                </a:srgbClr>
              </a:gs>
              <a:gs pos="20000">
                <a:srgbClr val="92D1FE">
                  <a:alpha val="0"/>
                </a:srgbClr>
              </a:gs>
              <a:gs pos="100000">
                <a:srgbClr val="92D1FE">
                  <a:alpha val="40000"/>
                </a:srgbClr>
              </a:gs>
            </a:gsLst>
            <a:lin ang="0" scaled="1"/>
          </a:gradFill>
        </p:spPr>
      </p:sp>
      <p:sp>
        <p:nvSpPr>
          <p:cNvPr id="10" name="Text 8"/>
          <p:cNvSpPr/>
          <p:nvPr/>
        </p:nvSpPr>
        <p:spPr>
          <a:xfrm>
            <a:off x="915670" y="1682115"/>
            <a:ext cx="5360035" cy="270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9785" y="1556385"/>
            <a:ext cx="5360035" cy="2709545"/>
          </a:xfrm>
          <a:custGeom>
            <a:avLst/>
            <a:gdLst/>
            <a:ahLst/>
            <a:cxnLst/>
            <a:rect l="l" t="t" r="r" b="b"/>
            <a:pathLst>
              <a:path w="5360035" h="2709545">
                <a:moveTo>
                  <a:pt x="4633675" y="2709545"/>
                </a:moveTo>
                <a:lnTo>
                  <a:pt x="0" y="2709545"/>
                </a:lnTo>
                <a:lnTo>
                  <a:pt x="726360" y="0"/>
                </a:lnTo>
                <a:lnTo>
                  <a:pt x="536003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92D1FE">
                    <a:alpha val="0"/>
                  </a:srgbClr>
                </a:gs>
                <a:gs pos="30000">
                  <a:srgbClr val="92D1FE">
                    <a:alpha val="0"/>
                  </a:srgbClr>
                </a:gs>
                <a:gs pos="100000">
                  <a:srgbClr val="49B2FE"/>
                </a:gs>
              </a:gsLst>
              <a:lin ang="0" scaled="1"/>
            </a:gra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785" y="1556385"/>
            <a:ext cx="5360035" cy="27095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99255" y="1338990"/>
            <a:ext cx="1457325" cy="504006"/>
          </a:xfrm>
          <a:prstGeom prst="parallelogram">
            <a:avLst>
              <a:gd name="adj" fmla="val 20892"/>
            </a:avLst>
          </a:prstGeom>
          <a:solidFill>
            <a:srgbClr val="49B2FE"/>
          </a:solidFill>
        </p:spPr>
      </p:sp>
      <p:sp>
        <p:nvSpPr>
          <p:cNvPr id="14" name="Text 12"/>
          <p:cNvSpPr/>
          <p:nvPr/>
        </p:nvSpPr>
        <p:spPr>
          <a:xfrm>
            <a:off x="4199255" y="1338990"/>
            <a:ext cx="1457325" cy="5040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4760" y="2092325"/>
            <a:ext cx="3806190" cy="369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405" y="2514600"/>
            <a:ext cx="4232910" cy="1332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使用os.listdir和shutil.move实现文件的批量移动操作，将指定目录下的文件移动到目标目录。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1285" y="4613685"/>
            <a:ext cx="1457325" cy="504006"/>
          </a:xfrm>
          <a:prstGeom prst="parallelogram">
            <a:avLst>
              <a:gd name="adj" fmla="val 20892"/>
            </a:avLst>
          </a:prstGeom>
          <a:solidFill>
            <a:srgbClr val="2A76EA"/>
          </a:solidFill>
        </p:spPr>
      </p:sp>
      <p:sp>
        <p:nvSpPr>
          <p:cNvPr id="18" name="Text 16"/>
          <p:cNvSpPr/>
          <p:nvPr/>
        </p:nvSpPr>
        <p:spPr>
          <a:xfrm>
            <a:off x="6471285" y="4613685"/>
            <a:ext cx="1457325" cy="5040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4525" y="2595245"/>
            <a:ext cx="3806825" cy="369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注意事项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3017520"/>
            <a:ext cx="4233600" cy="2901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在批量操作前需确保目标目录存在，避免因目录不存在导致操作失败。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典型错误与解决方法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473200"/>
            <a:ext cx="334361" cy="335280"/>
          </a:xfrm>
          <a:prstGeom prst="chevron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2674" y="1473200"/>
            <a:ext cx="334361" cy="335280"/>
          </a:xfrm>
          <a:prstGeom prst="chevron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8" name="Text 6"/>
          <p:cNvSpPr/>
          <p:nvPr/>
        </p:nvSpPr>
        <p:spPr>
          <a:xfrm>
            <a:off x="1342674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38860" y="3398520"/>
            <a:ext cx="4571365" cy="271272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86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31240" y="3383280"/>
            <a:ext cx="4586605" cy="640080"/>
          </a:xfrm>
          <a:prstGeom prst="round2Same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2" name="Text 10"/>
          <p:cNvSpPr/>
          <p:nvPr/>
        </p:nvSpPr>
        <p:spPr>
          <a:xfrm>
            <a:off x="103124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34100" y="3398520"/>
            <a:ext cx="4571365" cy="271272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410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4586605" cy="640080"/>
          </a:xfrm>
          <a:prstGeom prst="round2Same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6" name="Text 14"/>
          <p:cNvSpPr/>
          <p:nvPr/>
        </p:nvSpPr>
        <p:spPr>
          <a:xfrm>
            <a:off x="612648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14195" y="9144000"/>
            <a:ext cx="406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62125" y="1441133"/>
            <a:ext cx="46440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路径错误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1960880"/>
            <a:ext cx="9794240" cy="11703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当文件路径不存在时，会引发FileNotFoundError，需提前检查路径有效性。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3645" y="3503930"/>
            <a:ext cx="420243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文件被占用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900" y="4069080"/>
            <a:ext cx="4185920" cy="1861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当文件被其他程序占用时，无法进行操作，需确保文件未被占用。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18885" y="3503930"/>
            <a:ext cx="420243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无权限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7140" y="4069080"/>
            <a:ext cx="4185920" cy="1861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当用户没有足够权限时，会引发PermissionError，需以管理员身份运行程序或调整文件权限。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49-d2t6c4dnfo2stf9die2g.jpg"/>
          <p:cNvPicPr>
            <a:picLocks noChangeAspect="1"/>
          </p:cNvPicPr>
          <p:nvPr/>
        </p:nvPicPr>
        <p:blipFill>
          <a:blip r:embed="rId1"/>
          <a:srcRect l="3583" r="3583"/>
          <a:stretch>
            <a:fillRect/>
          </a:stretch>
        </p:blipFill>
        <p:spPr>
          <a:xfrm>
            <a:off x="0" y="-20955"/>
            <a:ext cx="12192000" cy="6911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29690"/>
            <a:ext cx="2071370" cy="1861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013710"/>
            <a:ext cx="538289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文件属性获取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1920"/>
            <a:ext cx="12191365" cy="38608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>
            <a:off x="0" y="6471920"/>
            <a:ext cx="12191365" cy="386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7580" y="603885"/>
            <a:ext cx="979995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获取文件属性 os.stat()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391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1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51255" y="5075555"/>
            <a:ext cx="3107690" cy="761365"/>
          </a:xfrm>
          <a:prstGeom prst="rtTriangle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8" name="Text 6"/>
          <p:cNvSpPr/>
          <p:nvPr/>
        </p:nvSpPr>
        <p:spPr>
          <a:xfrm>
            <a:off x="11512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H="1">
            <a:off x="1150620" y="4772025"/>
            <a:ext cx="3107690" cy="1064895"/>
          </a:xfrm>
          <a:prstGeom prst="rtTriangle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>
            <a:off x="11506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808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08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92955" y="5075555"/>
            <a:ext cx="3107690" cy="761365"/>
          </a:xfrm>
          <a:prstGeom prst="rtTriangle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4" name="Text 12"/>
          <p:cNvSpPr/>
          <p:nvPr/>
        </p:nvSpPr>
        <p:spPr>
          <a:xfrm>
            <a:off x="45929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H="1">
            <a:off x="4592320" y="4772025"/>
            <a:ext cx="3107690" cy="1064895"/>
          </a:xfrm>
          <a:prstGeom prst="rtTriangle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6" name="Text 14"/>
          <p:cNvSpPr/>
          <p:nvPr/>
        </p:nvSpPr>
        <p:spPr>
          <a:xfrm>
            <a:off x="45923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225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225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34655" y="5075555"/>
            <a:ext cx="3107690" cy="761365"/>
          </a:xfrm>
          <a:prstGeom prst="rtTriangle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0" name="Text 18"/>
          <p:cNvSpPr/>
          <p:nvPr/>
        </p:nvSpPr>
        <p:spPr>
          <a:xfrm>
            <a:off x="80346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flipH="1">
            <a:off x="8034020" y="4772025"/>
            <a:ext cx="3107690" cy="1064895"/>
          </a:xfrm>
          <a:prstGeom prst="rtTriangle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2" name="Text 20"/>
          <p:cNvSpPr/>
          <p:nvPr/>
        </p:nvSpPr>
        <p:spPr>
          <a:xfrm>
            <a:off x="80340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65885" y="1803400"/>
            <a:ext cx="265557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6835" y="2470785"/>
            <a:ext cx="2694940" cy="2501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使用os.stat方法获取文件的属性信息，返回一个stat_result对象。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7585" y="1803400"/>
            <a:ext cx="265557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属性说明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88535" y="2470785"/>
            <a:ext cx="2694940" cy="2501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返回的属性包括文件大小、创建时间、修改时间等，为文件管理提供数据支持。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49285" y="1803400"/>
            <a:ext cx="265557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30235" y="2470785"/>
            <a:ext cx="2694940" cy="2501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在文件管理器中，通过获取文件属性信息，为用户提供详细的文件信息展示。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属性展示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87805" y="1603375"/>
            <a:ext cx="8989695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7805" y="1603375"/>
            <a:ext cx="8989695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87805" y="3849370"/>
            <a:ext cx="8989695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7805" y="3849370"/>
            <a:ext cx="8989695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0" descr="https://kimi-img.moonshot.cn/pub/slides/slides_tmpl/image/25-09-05-12:24:50-d2t6c4lnfo2stf9die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495" y="1984375"/>
            <a:ext cx="7369810" cy="298450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09-05-12:24:50-d2t6c4lnfo2stf9die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495" y="4199255"/>
            <a:ext cx="7369810" cy="298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995" y="1732280"/>
            <a:ext cx="779208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18945" y="2205355"/>
            <a:ext cx="8404225" cy="10509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使用QLabel控件展示文件属性信息，如文件大小、路径等。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37995" y="3978275"/>
            <a:ext cx="779208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展示效果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18945" y="4451350"/>
            <a:ext cx="8404225" cy="10509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通过格式化字符串将属性信息清晰地展示在界面上，提升用户体验。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时间处理 time.ctime()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2355" y="-13970"/>
            <a:ext cx="3520440" cy="687197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8682355" y="-13970"/>
            <a:ext cx="3520440" cy="68719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8355" y="1833880"/>
            <a:ext cx="9264015" cy="17678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8355" y="1833880"/>
            <a:ext cx="9264015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46480" y="2054860"/>
            <a:ext cx="1325880" cy="13258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8" name="Text 6"/>
          <p:cNvSpPr/>
          <p:nvPr/>
        </p:nvSpPr>
        <p:spPr>
          <a:xfrm>
            <a:off x="1046480" y="205486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8355" y="4079240"/>
            <a:ext cx="9264015" cy="17678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55" y="4079240"/>
            <a:ext cx="9264015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6480" y="4300220"/>
            <a:ext cx="1325880" cy="13258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2" name="Text 10"/>
          <p:cNvSpPr/>
          <p:nvPr/>
        </p:nvSpPr>
        <p:spPr>
          <a:xfrm>
            <a:off x="1046480" y="430022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3010" y="2317115"/>
            <a:ext cx="972185" cy="768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30805" y="2112010"/>
            <a:ext cx="67792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30805" y="2463800"/>
            <a:ext cx="6779260" cy="929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使用time.ctime方法将时间戳转换为可读的字符串格式。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3010" y="4562475"/>
            <a:ext cx="972185" cy="768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30805" y="4357370"/>
            <a:ext cx="67792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0805" y="4709160"/>
            <a:ext cx="6779260" cy="929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在文件属性展示中，将修改时间等时间戳转换为用户可读的格式，方便查看。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2105"/>
            <a:ext cx="979995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任务：文件属性面板设计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755" y="1238885"/>
            <a:ext cx="2736850" cy="795607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>
            <a:off x="960755" y="1238885"/>
            <a:ext cx="2736850" cy="79560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755" y="1802769"/>
            <a:ext cx="4372610" cy="1763391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755" y="1802769"/>
            <a:ext cx="4372610" cy="176339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67475" y="1238885"/>
            <a:ext cx="2736850" cy="795607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>
            <a:off x="6467475" y="1238885"/>
            <a:ext cx="2736850" cy="79560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67475" y="1802769"/>
            <a:ext cx="4372610" cy="1763391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7475" y="1802769"/>
            <a:ext cx="4372610" cy="176339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755" y="3804285"/>
            <a:ext cx="2736850" cy="795607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4" name="Text 12"/>
          <p:cNvSpPr/>
          <p:nvPr/>
        </p:nvSpPr>
        <p:spPr>
          <a:xfrm>
            <a:off x="960755" y="3804285"/>
            <a:ext cx="2736850" cy="79560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755" y="4368169"/>
            <a:ext cx="4372610" cy="1763391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755" y="4368169"/>
            <a:ext cx="4372610" cy="176339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67475" y="3804285"/>
            <a:ext cx="2736850" cy="795607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8" name="Text 16"/>
          <p:cNvSpPr/>
          <p:nvPr/>
        </p:nvSpPr>
        <p:spPr>
          <a:xfrm>
            <a:off x="6467475" y="3804285"/>
            <a:ext cx="2736850" cy="79560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67475" y="4368169"/>
            <a:ext cx="4372610" cy="1763391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7475" y="4368169"/>
            <a:ext cx="4372610" cy="176339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2530" y="1288415"/>
            <a:ext cx="224536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文件名展示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6805" y="1875790"/>
            <a:ext cx="4050030" cy="16167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在属性面板中展示文件的名称，方便用户识别文件。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2530" y="3853815"/>
            <a:ext cx="224536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大小展示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6805" y="4441190"/>
            <a:ext cx="4050030" cy="16414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展示文件的大小信息，以字节为单位，可进行单位转换提升可读性。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99250" y="1288415"/>
            <a:ext cx="224536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路径展示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13525" y="1875790"/>
            <a:ext cx="4050030" cy="1588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展示文件的完整路径，方便用户定位文件位置。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9250" y="3853815"/>
            <a:ext cx="224536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修改时间展示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3525" y="4441190"/>
            <a:ext cx="4050030" cy="1588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展示文件的最后修改时间，使用time.ctime进行格式化处理。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49-d2t6c4dnfo2stf9die2g.jpg"/>
          <p:cNvPicPr>
            <a:picLocks noChangeAspect="1"/>
          </p:cNvPicPr>
          <p:nvPr/>
        </p:nvPicPr>
        <p:blipFill>
          <a:blip r:embed="rId1"/>
          <a:srcRect l="3583" r="3583"/>
          <a:stretch>
            <a:fillRect/>
          </a:stretch>
        </p:blipFill>
        <p:spPr>
          <a:xfrm>
            <a:off x="0" y="-20955"/>
            <a:ext cx="12192000" cy="6911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29690"/>
            <a:ext cx="2071370" cy="17732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013710"/>
            <a:ext cx="5382895" cy="749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PyQt5界面整合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210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主界面设计分析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16200000">
            <a:off x="1388110" y="3980815"/>
            <a:ext cx="960120" cy="2636520"/>
          </a:xfrm>
          <a:prstGeom prst="roundRect">
            <a:avLst/>
          </a:prstGeom>
          <a:solidFill>
            <a:srgbClr val="015FA3"/>
          </a:solidFill>
        </p:spPr>
      </p:sp>
      <p:sp>
        <p:nvSpPr>
          <p:cNvPr id="6" name="Text 4"/>
          <p:cNvSpPr/>
          <p:nvPr/>
        </p:nvSpPr>
        <p:spPr>
          <a:xfrm rot="16200000">
            <a:off x="1388110" y="3980815"/>
            <a:ext cx="960120" cy="26365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1505" y="161861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1505" y="1618615"/>
            <a:ext cx="2513965" cy="4159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0545" y="5077460"/>
            <a:ext cx="2636479" cy="701040"/>
          </a:xfrm>
          <a:custGeom>
            <a:avLst/>
            <a:gdLst/>
            <a:ahLst/>
            <a:cxnLst/>
            <a:rect l="l" t="t" r="r" b="b"/>
            <a:pathLst>
              <a:path w="2636479" h="701040">
                <a:moveTo>
                  <a:pt x="2635885" y="0"/>
                </a:moveTo>
                <a:cubicBezTo>
                  <a:pt x="2635885" y="-635"/>
                  <a:pt x="2637073" y="15875"/>
                  <a:pt x="2636479" y="15240"/>
                </a:cubicBezTo>
                <a:lnTo>
                  <a:pt x="2636479" y="563880"/>
                </a:lnTo>
                <a:cubicBezTo>
                  <a:pt x="2638855" y="641350"/>
                  <a:pt x="2572928" y="702945"/>
                  <a:pt x="2508189" y="701040"/>
                </a:cubicBezTo>
                <a:lnTo>
                  <a:pt x="128290" y="701040"/>
                </a:lnTo>
                <a:cubicBezTo>
                  <a:pt x="56424" y="703580"/>
                  <a:pt x="-1782" y="633095"/>
                  <a:pt x="0" y="563880"/>
                </a:cubicBezTo>
                <a:lnTo>
                  <a:pt x="0" y="64135"/>
                </a:lnTo>
                <a:lnTo>
                  <a:pt x="2635885" y="361315"/>
                </a:lnTo>
                <a:lnTo>
                  <a:pt x="2635885" y="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>
            <a:off x="550545" y="5077460"/>
            <a:ext cx="2636479" cy="701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V="1">
            <a:off x="550545" y="5294630"/>
            <a:ext cx="2635885" cy="483870"/>
          </a:xfrm>
          <a:custGeom>
            <a:avLst/>
            <a:gdLst/>
            <a:ahLst/>
            <a:cxnLst/>
            <a:rect l="l" t="t" r="r" b="b"/>
            <a:pathLst>
              <a:path w="2635885" h="483870">
                <a:moveTo>
                  <a:pt x="0" y="137160"/>
                </a:moveTo>
                <a:cubicBezTo>
                  <a:pt x="-2376" y="60325"/>
                  <a:pt x="63551" y="-1905"/>
                  <a:pt x="128290" y="0"/>
                </a:cubicBezTo>
                <a:lnTo>
                  <a:pt x="2508189" y="0"/>
                </a:lnTo>
                <a:cubicBezTo>
                  <a:pt x="2575304" y="-2540"/>
                  <a:pt x="2631727" y="60960"/>
                  <a:pt x="2635885" y="122555"/>
                </a:cubicBezTo>
                <a:lnTo>
                  <a:pt x="2635885" y="483870"/>
                </a:lnTo>
                <a:lnTo>
                  <a:pt x="0" y="186690"/>
                </a:lnTo>
                <a:lnTo>
                  <a:pt x="0" y="1371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2" name="Text 10"/>
          <p:cNvSpPr/>
          <p:nvPr/>
        </p:nvSpPr>
        <p:spPr>
          <a:xfrm>
            <a:off x="550545" y="5294630"/>
            <a:ext cx="2635885" cy="483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16200000">
            <a:off x="4192270" y="3980815"/>
            <a:ext cx="960120" cy="2636520"/>
          </a:xfrm>
          <a:prstGeom prst="roundRect">
            <a:avLst/>
          </a:prstGeom>
          <a:solidFill>
            <a:srgbClr val="015FA3"/>
          </a:solidFill>
        </p:spPr>
      </p:sp>
      <p:sp>
        <p:nvSpPr>
          <p:cNvPr id="14" name="Text 12"/>
          <p:cNvSpPr/>
          <p:nvPr/>
        </p:nvSpPr>
        <p:spPr>
          <a:xfrm rot="16200000">
            <a:off x="4192270" y="3980815"/>
            <a:ext cx="960120" cy="26365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5665" y="161861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5665" y="1618615"/>
            <a:ext cx="2513965" cy="4159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54705" y="5077460"/>
            <a:ext cx="2636479" cy="701040"/>
          </a:xfrm>
          <a:custGeom>
            <a:avLst/>
            <a:gdLst/>
            <a:ahLst/>
            <a:cxnLst/>
            <a:rect l="l" t="t" r="r" b="b"/>
            <a:pathLst>
              <a:path w="2636479" h="701040">
                <a:moveTo>
                  <a:pt x="2635885" y="0"/>
                </a:moveTo>
                <a:cubicBezTo>
                  <a:pt x="2635885" y="-635"/>
                  <a:pt x="2637073" y="15875"/>
                  <a:pt x="2636479" y="15240"/>
                </a:cubicBezTo>
                <a:lnTo>
                  <a:pt x="2636479" y="563880"/>
                </a:lnTo>
                <a:cubicBezTo>
                  <a:pt x="2638855" y="641350"/>
                  <a:pt x="2572928" y="702945"/>
                  <a:pt x="2508189" y="701040"/>
                </a:cubicBezTo>
                <a:lnTo>
                  <a:pt x="128290" y="701040"/>
                </a:lnTo>
                <a:cubicBezTo>
                  <a:pt x="56424" y="703580"/>
                  <a:pt x="-1782" y="633095"/>
                  <a:pt x="0" y="563880"/>
                </a:cubicBezTo>
                <a:lnTo>
                  <a:pt x="0" y="64135"/>
                </a:lnTo>
                <a:lnTo>
                  <a:pt x="2635885" y="361315"/>
                </a:lnTo>
                <a:lnTo>
                  <a:pt x="2635885" y="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8" name="Text 16"/>
          <p:cNvSpPr/>
          <p:nvPr/>
        </p:nvSpPr>
        <p:spPr>
          <a:xfrm>
            <a:off x="3354705" y="5077460"/>
            <a:ext cx="2636479" cy="701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V="1">
            <a:off x="3354705" y="5294630"/>
            <a:ext cx="2635885" cy="483870"/>
          </a:xfrm>
          <a:custGeom>
            <a:avLst/>
            <a:gdLst/>
            <a:ahLst/>
            <a:cxnLst/>
            <a:rect l="l" t="t" r="r" b="b"/>
            <a:pathLst>
              <a:path w="2635885" h="483870">
                <a:moveTo>
                  <a:pt x="0" y="137160"/>
                </a:moveTo>
                <a:cubicBezTo>
                  <a:pt x="-2376" y="60325"/>
                  <a:pt x="63551" y="-1905"/>
                  <a:pt x="128290" y="0"/>
                </a:cubicBezTo>
                <a:lnTo>
                  <a:pt x="2508189" y="0"/>
                </a:lnTo>
                <a:cubicBezTo>
                  <a:pt x="2575304" y="-2540"/>
                  <a:pt x="2631727" y="60960"/>
                  <a:pt x="2635885" y="122555"/>
                </a:cubicBezTo>
                <a:lnTo>
                  <a:pt x="2635885" y="483870"/>
                </a:lnTo>
                <a:lnTo>
                  <a:pt x="0" y="186690"/>
                </a:lnTo>
                <a:lnTo>
                  <a:pt x="0" y="1371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0" name="Text 18"/>
          <p:cNvSpPr/>
          <p:nvPr/>
        </p:nvSpPr>
        <p:spPr>
          <a:xfrm>
            <a:off x="3354705" y="5294630"/>
            <a:ext cx="2635885" cy="483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16200000">
            <a:off x="6996430" y="3980815"/>
            <a:ext cx="960120" cy="2636520"/>
          </a:xfrm>
          <a:prstGeom prst="roundRect">
            <a:avLst/>
          </a:prstGeom>
          <a:solidFill>
            <a:srgbClr val="015FA3"/>
          </a:solidFill>
        </p:spPr>
      </p:sp>
      <p:sp>
        <p:nvSpPr>
          <p:cNvPr id="22" name="Text 20"/>
          <p:cNvSpPr/>
          <p:nvPr/>
        </p:nvSpPr>
        <p:spPr>
          <a:xfrm rot="16200000">
            <a:off x="6996430" y="3980815"/>
            <a:ext cx="960120" cy="26365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9825" y="161861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9825" y="1618615"/>
            <a:ext cx="2513965" cy="4159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58865" y="5077460"/>
            <a:ext cx="2636479" cy="701040"/>
          </a:xfrm>
          <a:custGeom>
            <a:avLst/>
            <a:gdLst/>
            <a:ahLst/>
            <a:cxnLst/>
            <a:rect l="l" t="t" r="r" b="b"/>
            <a:pathLst>
              <a:path w="2636479" h="701040">
                <a:moveTo>
                  <a:pt x="2635885" y="0"/>
                </a:moveTo>
                <a:cubicBezTo>
                  <a:pt x="2635885" y="-635"/>
                  <a:pt x="2637073" y="15875"/>
                  <a:pt x="2636479" y="15240"/>
                </a:cubicBezTo>
                <a:lnTo>
                  <a:pt x="2636479" y="563880"/>
                </a:lnTo>
                <a:cubicBezTo>
                  <a:pt x="2638855" y="641350"/>
                  <a:pt x="2572928" y="702945"/>
                  <a:pt x="2508189" y="701040"/>
                </a:cubicBezTo>
                <a:lnTo>
                  <a:pt x="128290" y="701040"/>
                </a:lnTo>
                <a:cubicBezTo>
                  <a:pt x="56424" y="703580"/>
                  <a:pt x="-1782" y="633095"/>
                  <a:pt x="0" y="563880"/>
                </a:cubicBezTo>
                <a:lnTo>
                  <a:pt x="0" y="64135"/>
                </a:lnTo>
                <a:lnTo>
                  <a:pt x="2635885" y="361315"/>
                </a:lnTo>
                <a:lnTo>
                  <a:pt x="2635885" y="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6" name="Text 24"/>
          <p:cNvSpPr/>
          <p:nvPr/>
        </p:nvSpPr>
        <p:spPr>
          <a:xfrm>
            <a:off x="6158865" y="5077460"/>
            <a:ext cx="2636479" cy="701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 flipV="1">
            <a:off x="6158865" y="5294630"/>
            <a:ext cx="2635885" cy="483870"/>
          </a:xfrm>
          <a:custGeom>
            <a:avLst/>
            <a:gdLst/>
            <a:ahLst/>
            <a:cxnLst/>
            <a:rect l="l" t="t" r="r" b="b"/>
            <a:pathLst>
              <a:path w="2635885" h="483870">
                <a:moveTo>
                  <a:pt x="0" y="137160"/>
                </a:moveTo>
                <a:cubicBezTo>
                  <a:pt x="-2376" y="60325"/>
                  <a:pt x="63551" y="-1905"/>
                  <a:pt x="128290" y="0"/>
                </a:cubicBezTo>
                <a:lnTo>
                  <a:pt x="2508189" y="0"/>
                </a:lnTo>
                <a:cubicBezTo>
                  <a:pt x="2575304" y="-2540"/>
                  <a:pt x="2631727" y="60960"/>
                  <a:pt x="2635885" y="122555"/>
                </a:cubicBezTo>
                <a:lnTo>
                  <a:pt x="2635885" y="483870"/>
                </a:lnTo>
                <a:lnTo>
                  <a:pt x="0" y="186690"/>
                </a:lnTo>
                <a:lnTo>
                  <a:pt x="0" y="1371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8" name="Text 26"/>
          <p:cNvSpPr/>
          <p:nvPr/>
        </p:nvSpPr>
        <p:spPr>
          <a:xfrm>
            <a:off x="6158865" y="5294630"/>
            <a:ext cx="2635885" cy="483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 rot="16200000">
            <a:off x="9800590" y="3980815"/>
            <a:ext cx="960120" cy="2636520"/>
          </a:xfrm>
          <a:prstGeom prst="roundRect">
            <a:avLst/>
          </a:prstGeom>
          <a:solidFill>
            <a:srgbClr val="015FA3"/>
          </a:solidFill>
        </p:spPr>
      </p:sp>
      <p:sp>
        <p:nvSpPr>
          <p:cNvPr id="30" name="Text 28"/>
          <p:cNvSpPr/>
          <p:nvPr/>
        </p:nvSpPr>
        <p:spPr>
          <a:xfrm rot="16200000">
            <a:off x="9800590" y="3980815"/>
            <a:ext cx="960120" cy="26365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23985" y="161861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23985" y="1618615"/>
            <a:ext cx="2513965" cy="4159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63025" y="5077460"/>
            <a:ext cx="2636479" cy="701040"/>
          </a:xfrm>
          <a:custGeom>
            <a:avLst/>
            <a:gdLst/>
            <a:ahLst/>
            <a:cxnLst/>
            <a:rect l="l" t="t" r="r" b="b"/>
            <a:pathLst>
              <a:path w="2636479" h="701040">
                <a:moveTo>
                  <a:pt x="2635885" y="0"/>
                </a:moveTo>
                <a:cubicBezTo>
                  <a:pt x="2635885" y="-635"/>
                  <a:pt x="2637073" y="15875"/>
                  <a:pt x="2636479" y="15240"/>
                </a:cubicBezTo>
                <a:lnTo>
                  <a:pt x="2636479" y="563880"/>
                </a:lnTo>
                <a:cubicBezTo>
                  <a:pt x="2638855" y="641350"/>
                  <a:pt x="2572928" y="702945"/>
                  <a:pt x="2508189" y="701040"/>
                </a:cubicBezTo>
                <a:lnTo>
                  <a:pt x="128290" y="701040"/>
                </a:lnTo>
                <a:cubicBezTo>
                  <a:pt x="56424" y="703580"/>
                  <a:pt x="-1782" y="633095"/>
                  <a:pt x="0" y="563880"/>
                </a:cubicBezTo>
                <a:lnTo>
                  <a:pt x="0" y="64135"/>
                </a:lnTo>
                <a:lnTo>
                  <a:pt x="2635885" y="361315"/>
                </a:lnTo>
                <a:lnTo>
                  <a:pt x="2635885" y="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34" name="Text 32"/>
          <p:cNvSpPr/>
          <p:nvPr/>
        </p:nvSpPr>
        <p:spPr>
          <a:xfrm>
            <a:off x="8963025" y="5077460"/>
            <a:ext cx="2636479" cy="701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 flipV="1">
            <a:off x="8963025" y="5294630"/>
            <a:ext cx="2635885" cy="483870"/>
          </a:xfrm>
          <a:custGeom>
            <a:avLst/>
            <a:gdLst/>
            <a:ahLst/>
            <a:cxnLst/>
            <a:rect l="l" t="t" r="r" b="b"/>
            <a:pathLst>
              <a:path w="2635885" h="483870">
                <a:moveTo>
                  <a:pt x="0" y="137160"/>
                </a:moveTo>
                <a:cubicBezTo>
                  <a:pt x="-2376" y="60325"/>
                  <a:pt x="63551" y="-1905"/>
                  <a:pt x="128290" y="0"/>
                </a:cubicBezTo>
                <a:lnTo>
                  <a:pt x="2508189" y="0"/>
                </a:lnTo>
                <a:cubicBezTo>
                  <a:pt x="2575304" y="-2540"/>
                  <a:pt x="2631727" y="60960"/>
                  <a:pt x="2635885" y="122555"/>
                </a:cubicBezTo>
                <a:lnTo>
                  <a:pt x="2635885" y="483870"/>
                </a:lnTo>
                <a:lnTo>
                  <a:pt x="0" y="186690"/>
                </a:lnTo>
                <a:lnTo>
                  <a:pt x="0" y="1371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36" name="Text 34"/>
          <p:cNvSpPr/>
          <p:nvPr/>
        </p:nvSpPr>
        <p:spPr>
          <a:xfrm>
            <a:off x="8963025" y="5294630"/>
            <a:ext cx="2635885" cy="483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8830" y="179895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菜单栏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0415" y="2455545"/>
            <a:ext cx="2176145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提供快捷操作入口，方便用户快速访问常用功能。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02990" y="179895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按钮区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584575" y="2455545"/>
            <a:ext cx="2176145" cy="844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集中放置打开、复制、移动、删除等功能按钮，操作便捷。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7150" y="179895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信息展示区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88735" y="2455545"/>
            <a:ext cx="2176145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用于展示文件内容、属性等信息，信息清晰易读。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11310" y="179895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日志区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92895" y="2455545"/>
            <a:ext cx="2176145" cy="844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记录操作日志，方便用户查看操作历史和排查问题。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210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功能模块拆分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-5080" y="5532755"/>
            <a:ext cx="12207240" cy="132524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>
            <a:off x="-5080" y="5532755"/>
            <a:ext cx="12207240" cy="1325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H="1">
            <a:off x="632460" y="1732280"/>
            <a:ext cx="2560955" cy="390144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460" y="1732280"/>
            <a:ext cx="2560955" cy="3901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60" y="1727200"/>
            <a:ext cx="2560955" cy="390144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>
            <a:off x="632460" y="1727200"/>
            <a:ext cx="2560955" cy="3901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60" y="2159000"/>
            <a:ext cx="2560955" cy="374904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460" y="2159000"/>
            <a:ext cx="2560955" cy="3749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flipH="1">
            <a:off x="3360420" y="1732280"/>
            <a:ext cx="2560955" cy="390144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0420" y="1732280"/>
            <a:ext cx="2560955" cy="3901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0420" y="1727200"/>
            <a:ext cx="2560955" cy="390144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6" name="Text 14"/>
          <p:cNvSpPr/>
          <p:nvPr/>
        </p:nvSpPr>
        <p:spPr>
          <a:xfrm>
            <a:off x="3360420" y="1727200"/>
            <a:ext cx="2560955" cy="3901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60420" y="2159000"/>
            <a:ext cx="2560955" cy="374904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0420" y="2159000"/>
            <a:ext cx="2560955" cy="3749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H="1">
            <a:off x="6088380" y="1732280"/>
            <a:ext cx="2560955" cy="390144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8380" y="1732280"/>
            <a:ext cx="2560955" cy="3901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8380" y="1727200"/>
            <a:ext cx="2560955" cy="390144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2" name="Text 20"/>
          <p:cNvSpPr/>
          <p:nvPr/>
        </p:nvSpPr>
        <p:spPr>
          <a:xfrm>
            <a:off x="6088380" y="1727200"/>
            <a:ext cx="2560955" cy="3901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88380" y="2159000"/>
            <a:ext cx="2560955" cy="374904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8380" y="2159000"/>
            <a:ext cx="2560955" cy="3749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H="1">
            <a:off x="8816340" y="1732280"/>
            <a:ext cx="2560955" cy="390144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16340" y="1732280"/>
            <a:ext cx="2560955" cy="3901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16340" y="1727200"/>
            <a:ext cx="2560955" cy="390144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28" name="Text 26"/>
          <p:cNvSpPr/>
          <p:nvPr/>
        </p:nvSpPr>
        <p:spPr>
          <a:xfrm>
            <a:off x="8816340" y="1727200"/>
            <a:ext cx="2560955" cy="39014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816340" y="2159000"/>
            <a:ext cx="2560955" cy="374904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16340" y="2159000"/>
            <a:ext cx="2560955" cy="37490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3915" y="246951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文件选择模块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4865" y="3126105"/>
            <a:ext cx="2176145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负责打开和保存文件，提供文件路径选择功能。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71875" y="246951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文件操作模块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52825" y="3126105"/>
            <a:ext cx="2176145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实现文件的复制、移动、删除等核心操作。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99835" y="246951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属性显示模块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80785" y="3126105"/>
            <a:ext cx="2176145" cy="844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展示文件的详细属性信息，如大小、修改时间等。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27795" y="2469515"/>
            <a:ext cx="213868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异常处理模块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08745" y="3126105"/>
            <a:ext cx="2176145" cy="844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捕获并处理操作过程中可能出现的异常，确保程序稳定运行。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49-d2t6c4dnfo2stf9die2g.jpg"/>
          <p:cNvPicPr>
            <a:picLocks noChangeAspect="1"/>
          </p:cNvPicPr>
          <p:nvPr/>
        </p:nvPicPr>
        <p:blipFill>
          <a:blip r:embed="rId1"/>
          <a:srcRect l="3583" r="3583"/>
          <a:stretch>
            <a:fillRect/>
          </a:stretch>
        </p:blipFill>
        <p:spPr>
          <a:xfrm>
            <a:off x="0" y="-20955"/>
            <a:ext cx="12192000" cy="6911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29690"/>
            <a:ext cx="2071370" cy="17732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013710"/>
            <a:ext cx="5382895" cy="749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综合实训任务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24:51-d2t6c4tnfo2stf9die80.jpg"/>
          <p:cNvPicPr>
            <a:picLocks noChangeAspect="1"/>
          </p:cNvPicPr>
          <p:nvPr/>
        </p:nvPicPr>
        <p:blipFill>
          <a:blip r:embed="rId1"/>
          <a:srcRect r="9714" b="38168"/>
          <a:stretch>
            <a:fillRect/>
          </a:stretch>
        </p:blipFill>
        <p:spPr>
          <a:xfrm>
            <a:off x="5429250" y="1174750"/>
            <a:ext cx="6765290" cy="2349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3210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项目：文件管理器设计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5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-12700" y="1188720"/>
            <a:ext cx="12204700" cy="236283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59000">
                <a:srgbClr val="2F82F3"/>
              </a:gs>
              <a:gs pos="100000">
                <a:srgbClr val="1552E8">
                  <a:alpha val="15000"/>
                </a:srgbClr>
              </a:gs>
            </a:gsLst>
            <a:lin ang="18900000" scaled="1"/>
          </a:gradFill>
        </p:spPr>
      </p:sp>
      <p:sp>
        <p:nvSpPr>
          <p:cNvPr id="7" name="Text 4"/>
          <p:cNvSpPr/>
          <p:nvPr/>
        </p:nvSpPr>
        <p:spPr>
          <a:xfrm>
            <a:off x="-12700" y="1188720"/>
            <a:ext cx="12204700" cy="23628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2160" y="1636395"/>
            <a:ext cx="3249253" cy="4178935"/>
          </a:xfrm>
          <a:prstGeom prst="round2DiagRect">
            <a:avLst>
              <a:gd name="adj1" fmla="val 7758"/>
              <a:gd name="adj2" fmla="val 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160" y="1636395"/>
            <a:ext cx="3249253" cy="41789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9-05-12:24:50-d2t6c4lnfo2stf9die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015" y="3916680"/>
            <a:ext cx="3600000" cy="28384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5-12:24:50-d2t6c4lnfo2stf9die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320" y="3916680"/>
            <a:ext cx="3600000" cy="2838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9462" y="1937385"/>
            <a:ext cx="2844654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文件选择与显示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009462" y="2700655"/>
            <a:ext cx="2766041" cy="28917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实现文件的选择功能，并在界面上显示文件内容。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239895" y="1532890"/>
            <a:ext cx="652399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文件复制、移动、删除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231005" y="1976120"/>
            <a:ext cx="7204075" cy="2926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实现文件的复制、移动和删除操作，确保操作的安全性和可靠性。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336415" y="3649345"/>
            <a:ext cx="336169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属性查看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398010" y="4145915"/>
            <a:ext cx="3267710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提供文件属性查看功能，展示文件的详细信息。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00085" y="3616960"/>
            <a:ext cx="336169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FA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界面美观、逻辑清晰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61680" y="4145915"/>
            <a:ext cx="3267710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设计美观的界面，确保操作逻辑清晰易懂，提升用户体验。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0">
            <a:off x="1001395" y="1683385"/>
            <a:ext cx="2458085" cy="389572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21000000">
            <a:off x="100139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2:24:50-d2t6c4lnfo2stf9die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90" y="1884045"/>
            <a:ext cx="2682240" cy="39077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21000000">
            <a:off x="4618355" y="1683385"/>
            <a:ext cx="2458085" cy="389572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6" name="Text 3"/>
          <p:cNvSpPr/>
          <p:nvPr/>
        </p:nvSpPr>
        <p:spPr>
          <a:xfrm rot="21000000">
            <a:off x="461835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9-05-12:24:50-d2t6c4lnfo2stf9die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0" y="1884045"/>
            <a:ext cx="2682240" cy="39077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1000000">
            <a:off x="8235315" y="1683385"/>
            <a:ext cx="2458085" cy="3895725"/>
          </a:xfrm>
          <a:prstGeom prst="round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9" name="Text 5"/>
          <p:cNvSpPr/>
          <p:nvPr/>
        </p:nvSpPr>
        <p:spPr>
          <a:xfrm rot="21000000">
            <a:off x="823531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2" descr="https://kimi-img.moonshot.cn/pub/slides/slides_tmpl/image/25-09-05-12:24:50-d2t6c4lnfo2stf9die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7710" y="1884045"/>
            <a:ext cx="2682240" cy="3907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项目评分标准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3" name="Text 8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81125" y="2271395"/>
            <a:ext cx="2138971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功能完整性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81125" y="2927985"/>
            <a:ext cx="2176145" cy="844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项目需完整实现文件选择、复制、移动、删除等功能，功能齐全。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98085" y="2271395"/>
            <a:ext cx="2138971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代码规范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998085" y="2927985"/>
            <a:ext cx="2176145" cy="8441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代码需遵循良好的编程规范，注释清晰，变量命名合理。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15045" y="2271395"/>
            <a:ext cx="2138971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界面合理性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15045" y="2927985"/>
            <a:ext cx="2176145" cy="562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界面布局合理，操作便捷，用户体验良好。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580" y="603885"/>
            <a:ext cx="9799955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18EF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项目评分标准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</p:spPr>
      </p:sp>
      <p:sp>
        <p:nvSpPr>
          <p:cNvPr id="4" name="Text 2"/>
          <p:cNvSpPr/>
          <p:nvPr/>
        </p:nvSpPr>
        <p:spPr>
          <a:xfrm>
            <a:off x="318" y="6286500"/>
            <a:ext cx="12191365" cy="5715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06220" y="1386205"/>
            <a:ext cx="4297680" cy="445008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6220" y="1386205"/>
            <a:ext cx="4297680" cy="445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88100" y="1386205"/>
            <a:ext cx="4297680" cy="445008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8100" y="1386205"/>
            <a:ext cx="4297680" cy="445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-3810" y="4144645"/>
            <a:ext cx="12206605" cy="2713355"/>
          </a:xfrm>
          <a:custGeom>
            <a:avLst/>
            <a:gdLst/>
            <a:ahLst/>
            <a:cxnLst/>
            <a:rect l="l" t="t" r="r" b="b"/>
            <a:pathLst>
              <a:path w="12206605" h="2713355">
                <a:moveTo>
                  <a:pt x="0" y="1346200"/>
                </a:moveTo>
                <a:cubicBezTo>
                  <a:pt x="1021080" y="554355"/>
                  <a:pt x="3368040" y="0"/>
                  <a:pt x="6099810" y="0"/>
                </a:cubicBezTo>
                <a:cubicBezTo>
                  <a:pt x="8837930" y="0"/>
                  <a:pt x="11189335" y="556895"/>
                  <a:pt x="12206605" y="1351280"/>
                </a:cubicBezTo>
                <a:lnTo>
                  <a:pt x="12206605" y="2713355"/>
                </a:lnTo>
                <a:lnTo>
                  <a:pt x="0" y="2713355"/>
                </a:lnTo>
                <a:lnTo>
                  <a:pt x="0" y="134620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</p:spPr>
      </p:sp>
      <p:sp>
        <p:nvSpPr>
          <p:cNvPr id="10" name="Text 8"/>
          <p:cNvSpPr/>
          <p:nvPr/>
        </p:nvSpPr>
        <p:spPr>
          <a:xfrm>
            <a:off x="-3810" y="4144645"/>
            <a:ext cx="12206605" cy="27133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88100" y="4146927"/>
            <a:ext cx="4297680" cy="1689358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0"/>
                </a:moveTo>
                <a:lnTo>
                  <a:pt x="55245" y="635"/>
                </a:lnTo>
                <a:lnTo>
                  <a:pt x="227330" y="4446"/>
                </a:lnTo>
                <a:lnTo>
                  <a:pt x="398145" y="9526"/>
                </a:lnTo>
                <a:lnTo>
                  <a:pt x="567690" y="16513"/>
                </a:lnTo>
                <a:lnTo>
                  <a:pt x="735330" y="24134"/>
                </a:lnTo>
                <a:lnTo>
                  <a:pt x="902335" y="33660"/>
                </a:lnTo>
                <a:lnTo>
                  <a:pt x="1067435" y="44457"/>
                </a:lnTo>
                <a:lnTo>
                  <a:pt x="1231265" y="56524"/>
                </a:lnTo>
                <a:lnTo>
                  <a:pt x="1393825" y="70496"/>
                </a:lnTo>
                <a:lnTo>
                  <a:pt x="1554480" y="85103"/>
                </a:lnTo>
                <a:lnTo>
                  <a:pt x="1713230" y="100980"/>
                </a:lnTo>
                <a:lnTo>
                  <a:pt x="1870710" y="118763"/>
                </a:lnTo>
                <a:lnTo>
                  <a:pt x="2026285" y="137181"/>
                </a:lnTo>
                <a:lnTo>
                  <a:pt x="2179955" y="157504"/>
                </a:lnTo>
                <a:lnTo>
                  <a:pt x="2332355" y="178462"/>
                </a:lnTo>
                <a:lnTo>
                  <a:pt x="2482215" y="201326"/>
                </a:lnTo>
                <a:lnTo>
                  <a:pt x="2630170" y="224824"/>
                </a:lnTo>
                <a:lnTo>
                  <a:pt x="2776220" y="249593"/>
                </a:lnTo>
                <a:lnTo>
                  <a:pt x="2919730" y="275632"/>
                </a:lnTo>
                <a:lnTo>
                  <a:pt x="3061335" y="302941"/>
                </a:lnTo>
                <a:lnTo>
                  <a:pt x="3201035" y="330886"/>
                </a:lnTo>
                <a:lnTo>
                  <a:pt x="3338195" y="360100"/>
                </a:lnTo>
                <a:lnTo>
                  <a:pt x="3473450" y="390585"/>
                </a:lnTo>
                <a:lnTo>
                  <a:pt x="3606165" y="422340"/>
                </a:lnTo>
                <a:cubicBezTo>
                  <a:pt x="3863975" y="480768"/>
                  <a:pt x="4330065" y="623665"/>
                  <a:pt x="4297680" y="616044"/>
                </a:cubicBez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</p:spPr>
      </p:sp>
      <p:sp>
        <p:nvSpPr>
          <p:cNvPr id="12" name="Text 10"/>
          <p:cNvSpPr/>
          <p:nvPr/>
        </p:nvSpPr>
        <p:spPr>
          <a:xfrm>
            <a:off x="6388100" y="4146927"/>
            <a:ext cx="4297680" cy="168935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06220" y="4146927"/>
            <a:ext cx="4297680" cy="1689358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616044"/>
                </a:moveTo>
                <a:cubicBezTo>
                  <a:pt x="112395" y="574763"/>
                  <a:pt x="655320" y="425515"/>
                  <a:pt x="691515" y="422340"/>
                </a:cubicBezTo>
                <a:lnTo>
                  <a:pt x="824230" y="390585"/>
                </a:lnTo>
                <a:lnTo>
                  <a:pt x="959485" y="360100"/>
                </a:lnTo>
                <a:lnTo>
                  <a:pt x="1096645" y="330886"/>
                </a:lnTo>
                <a:lnTo>
                  <a:pt x="1236345" y="302941"/>
                </a:lnTo>
                <a:lnTo>
                  <a:pt x="1377950" y="275632"/>
                </a:lnTo>
                <a:lnTo>
                  <a:pt x="1521460" y="249593"/>
                </a:lnTo>
                <a:lnTo>
                  <a:pt x="1667510" y="224824"/>
                </a:lnTo>
                <a:lnTo>
                  <a:pt x="1815465" y="201326"/>
                </a:lnTo>
                <a:lnTo>
                  <a:pt x="1965325" y="178462"/>
                </a:lnTo>
                <a:lnTo>
                  <a:pt x="2117725" y="157504"/>
                </a:lnTo>
                <a:lnTo>
                  <a:pt x="2271395" y="137181"/>
                </a:lnTo>
                <a:lnTo>
                  <a:pt x="2426970" y="118763"/>
                </a:lnTo>
                <a:lnTo>
                  <a:pt x="2584450" y="100980"/>
                </a:lnTo>
                <a:lnTo>
                  <a:pt x="2743200" y="85103"/>
                </a:lnTo>
                <a:lnTo>
                  <a:pt x="2903855" y="70496"/>
                </a:lnTo>
                <a:lnTo>
                  <a:pt x="3066415" y="56524"/>
                </a:lnTo>
                <a:lnTo>
                  <a:pt x="3230245" y="44457"/>
                </a:lnTo>
                <a:lnTo>
                  <a:pt x="3395345" y="33660"/>
                </a:lnTo>
                <a:lnTo>
                  <a:pt x="3562350" y="24134"/>
                </a:lnTo>
                <a:lnTo>
                  <a:pt x="3729990" y="16513"/>
                </a:lnTo>
                <a:lnTo>
                  <a:pt x="3899535" y="9526"/>
                </a:lnTo>
                <a:lnTo>
                  <a:pt x="4070350" y="4446"/>
                </a:lnTo>
                <a:lnTo>
                  <a:pt x="4242435" y="635"/>
                </a:lnTo>
                <a:lnTo>
                  <a:pt x="4297680" y="0"/>
                </a:ln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616044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</p:spPr>
      </p:sp>
      <p:sp>
        <p:nvSpPr>
          <p:cNvPr id="14" name="Text 12"/>
          <p:cNvSpPr/>
          <p:nvPr/>
        </p:nvSpPr>
        <p:spPr>
          <a:xfrm>
            <a:off x="1506220" y="4146927"/>
            <a:ext cx="4297680" cy="168935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6095" y="4744720"/>
            <a:ext cx="375856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稳定性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000" y="1621155"/>
            <a:ext cx="3756660" cy="6826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程序运行稳定，无明显错误和崩溃现象。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57975" y="4744720"/>
            <a:ext cx="375856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9880" y="1621155"/>
            <a:ext cx="3756660" cy="6826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鼓励在功能或界面设计上进行创新，提升项目的竞争力。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552E8"/>
      </a:accent1>
      <a:accent2>
        <a:srgbClr val="49B2FE"/>
      </a:accent2>
      <a:accent3>
        <a:srgbClr val="95D7F9"/>
      </a:accent3>
      <a:accent4>
        <a:srgbClr val="91B1F1"/>
      </a:accent4>
      <a:accent5>
        <a:srgbClr val="4882F4"/>
      </a:accent5>
      <a:accent6>
        <a:srgbClr val="DBD8F5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552E8"/>
      </a:accent1>
      <a:accent2>
        <a:srgbClr val="49B2FE"/>
      </a:accent2>
      <a:accent3>
        <a:srgbClr val="95D7F9"/>
      </a:accent3>
      <a:accent4>
        <a:srgbClr val="91B1F1"/>
      </a:accent4>
      <a:accent5>
        <a:srgbClr val="4882F4"/>
      </a:accent5>
      <a:accent6>
        <a:srgbClr val="DBD8F5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2876</Words>
  <Application>WPS 演示</Application>
  <PresentationFormat>On-screen Show (16:9)</PresentationFormat>
  <Paragraphs>382</Paragraphs>
  <Slides>30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PyQt5文件操作实战</dc:title>
  <dc:creator>Kimi</dc:creator>
  <dc:subject>PyQt5文件操作实战</dc:subject>
  <cp:lastModifiedBy>果冻</cp:lastModifiedBy>
  <cp:revision>2</cp:revision>
  <dcterms:created xsi:type="dcterms:W3CDTF">2025-11-14T17:50:00Z</dcterms:created>
  <dcterms:modified xsi:type="dcterms:W3CDTF">2025-11-14T17:52:17Z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{"Label":"PyQt5文件操作实战","ContentProducer":"001191110108MACG2KBH8F10000","ProduceID":"d4bmmpcr4djr4706uh8g","ReservedCode1":"","ContentPropagator":"001191110108MACG2KBH8F20000","PropagateID":"d4bmmpcr4djr4706uh8g","ReservedCode2":""}</vt:lpwstr>
  </property>
  <property fmtid="{D5CDD505-2E9C-101B-9397-08002B2CF9AE}" pid="3" name="ICV">
    <vt:lpwstr>1B13F11867AD471DA6FCD1F04900E6B5_12</vt:lpwstr>
  </property>
  <property fmtid="{D5CDD505-2E9C-101B-9397-08002B2CF9AE}" pid="4" name="KSOProductBuildVer">
    <vt:lpwstr>2052-12.1.0.23542</vt:lpwstr>
  </property>
</Properties>
</file>
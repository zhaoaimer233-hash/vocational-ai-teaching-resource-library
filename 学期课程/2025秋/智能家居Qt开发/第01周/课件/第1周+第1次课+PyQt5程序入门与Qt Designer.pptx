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08"/>
  </p:notesMasterIdLst>
  <p:handoutMasterIdLst>
    <p:handoutMasterId r:id="rId109"/>
  </p:handoutMasterIdLst>
  <p:sldIdLst>
    <p:sldId id="871" r:id="rId4"/>
    <p:sldId id="881" r:id="rId5"/>
    <p:sldId id="681" r:id="rId6"/>
    <p:sldId id="880" r:id="rId7"/>
    <p:sldId id="1017" r:id="rId8"/>
    <p:sldId id="889" r:id="rId9"/>
    <p:sldId id="916" r:id="rId10"/>
    <p:sldId id="926" r:id="rId11"/>
    <p:sldId id="927" r:id="rId12"/>
    <p:sldId id="686" r:id="rId13"/>
    <p:sldId id="935" r:id="rId14"/>
    <p:sldId id="1018" r:id="rId15"/>
    <p:sldId id="1019" r:id="rId16"/>
    <p:sldId id="936" r:id="rId17"/>
    <p:sldId id="928" r:id="rId18"/>
    <p:sldId id="937" r:id="rId19"/>
    <p:sldId id="938" r:id="rId20"/>
    <p:sldId id="939" r:id="rId21"/>
    <p:sldId id="940" r:id="rId22"/>
    <p:sldId id="941" r:id="rId23"/>
    <p:sldId id="942" r:id="rId24"/>
    <p:sldId id="943" r:id="rId25"/>
    <p:sldId id="944" r:id="rId26"/>
    <p:sldId id="959" r:id="rId27"/>
    <p:sldId id="960" r:id="rId28"/>
    <p:sldId id="961" r:id="rId29"/>
    <p:sldId id="962" r:id="rId30"/>
    <p:sldId id="963" r:id="rId31"/>
    <p:sldId id="964" r:id="rId32"/>
    <p:sldId id="965" r:id="rId33"/>
    <p:sldId id="966" r:id="rId34"/>
    <p:sldId id="967" r:id="rId35"/>
    <p:sldId id="968" r:id="rId36"/>
    <p:sldId id="945" r:id="rId37"/>
    <p:sldId id="969" r:id="rId38"/>
    <p:sldId id="970" r:id="rId39"/>
    <p:sldId id="971" r:id="rId40"/>
    <p:sldId id="972" r:id="rId41"/>
    <p:sldId id="891" r:id="rId42"/>
    <p:sldId id="973" r:id="rId43"/>
    <p:sldId id="974" r:id="rId44"/>
    <p:sldId id="975" r:id="rId45"/>
    <p:sldId id="976" r:id="rId46"/>
    <p:sldId id="687" r:id="rId47"/>
    <p:sldId id="923" r:id="rId48"/>
    <p:sldId id="1020" r:id="rId49"/>
    <p:sldId id="977" r:id="rId50"/>
    <p:sldId id="978" r:id="rId51"/>
    <p:sldId id="979" r:id="rId52"/>
    <p:sldId id="980" r:id="rId53"/>
    <p:sldId id="983" r:id="rId54"/>
    <p:sldId id="984" r:id="rId55"/>
    <p:sldId id="985" r:id="rId56"/>
    <p:sldId id="986" r:id="rId57"/>
    <p:sldId id="987" r:id="rId58"/>
    <p:sldId id="988" r:id="rId59"/>
    <p:sldId id="989" r:id="rId60"/>
    <p:sldId id="990" r:id="rId61"/>
    <p:sldId id="991" r:id="rId62"/>
    <p:sldId id="992" r:id="rId63"/>
    <p:sldId id="993" r:id="rId64"/>
    <p:sldId id="953" r:id="rId65"/>
    <p:sldId id="954" r:id="rId66"/>
    <p:sldId id="1021" r:id="rId67"/>
    <p:sldId id="994" r:id="rId68"/>
    <p:sldId id="995" r:id="rId69"/>
    <p:sldId id="996" r:id="rId70"/>
    <p:sldId id="981" r:id="rId71"/>
    <p:sldId id="982" r:id="rId72"/>
    <p:sldId id="890" r:id="rId73"/>
    <p:sldId id="925" r:id="rId74"/>
    <p:sldId id="997" r:id="rId75"/>
    <p:sldId id="998" r:id="rId76"/>
    <p:sldId id="999" r:id="rId77"/>
    <p:sldId id="1000" r:id="rId78"/>
    <p:sldId id="955" r:id="rId79"/>
    <p:sldId id="956" r:id="rId80"/>
    <p:sldId id="1022" r:id="rId81"/>
    <p:sldId id="1001" r:id="rId82"/>
    <p:sldId id="1002" r:id="rId83"/>
    <p:sldId id="1003" r:id="rId84"/>
    <p:sldId id="1004" r:id="rId85"/>
    <p:sldId id="1005" r:id="rId86"/>
    <p:sldId id="1006" r:id="rId87"/>
    <p:sldId id="1007" r:id="rId88"/>
    <p:sldId id="1008" r:id="rId89"/>
    <p:sldId id="1009" r:id="rId90"/>
    <p:sldId id="1010" r:id="rId91"/>
    <p:sldId id="875" r:id="rId92"/>
    <p:sldId id="913" r:id="rId93"/>
    <p:sldId id="957" r:id="rId94"/>
    <p:sldId id="958" r:id="rId95"/>
    <p:sldId id="1023" r:id="rId96"/>
    <p:sldId id="914" r:id="rId97"/>
    <p:sldId id="1011" r:id="rId98"/>
    <p:sldId id="1012" r:id="rId99"/>
    <p:sldId id="1013" r:id="rId100"/>
    <p:sldId id="1014" r:id="rId101"/>
    <p:sldId id="1015" r:id="rId102"/>
    <p:sldId id="1016" r:id="rId103"/>
    <p:sldId id="911" r:id="rId104"/>
    <p:sldId id="892" r:id="rId105"/>
    <p:sldId id="872" r:id="rId106"/>
    <p:sldId id="873" r:id="rId107"/>
  </p:sldIdLst>
  <p:sldSz cx="9144000" cy="5143500" type="screen16x9"/>
  <p:notesSz cx="6858000" cy="9144000"/>
  <p:custDataLst>
    <p:tags r:id="rId11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D8A"/>
    <a:srgbClr val="125810"/>
    <a:srgbClr val="F6910A"/>
    <a:srgbClr val="EF6011"/>
    <a:srgbClr val="20A31D"/>
    <a:srgbClr val="990033"/>
    <a:srgbClr val="FF7D7D"/>
    <a:srgbClr val="FF3737"/>
    <a:srgbClr val="FF0000"/>
    <a:srgbClr val="FF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2" autoAdjust="0"/>
    <p:restoredTop sz="92523" autoAdjust="0"/>
  </p:normalViewPr>
  <p:slideViewPr>
    <p:cSldViewPr showGuides="1">
      <p:cViewPr varScale="1">
        <p:scale>
          <a:sx n="89" d="100"/>
          <a:sy n="89" d="100"/>
        </p:scale>
        <p:origin x="84" y="8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5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3" Type="http://schemas.openxmlformats.org/officeDocument/2006/relationships/tags" Target="tags/tag1.xml"/><Relationship Id="rId112" Type="http://schemas.openxmlformats.org/officeDocument/2006/relationships/tableStyles" Target="tableStyles.xml"/><Relationship Id="rId111" Type="http://schemas.openxmlformats.org/officeDocument/2006/relationships/viewProps" Target="viewProps.xml"/><Relationship Id="rId110" Type="http://schemas.openxmlformats.org/officeDocument/2006/relationships/presProps" Target="presProps.xml"/><Relationship Id="rId11" Type="http://schemas.openxmlformats.org/officeDocument/2006/relationships/slide" Target="slides/slide8.xml"/><Relationship Id="rId109" Type="http://schemas.openxmlformats.org/officeDocument/2006/relationships/handoutMaster" Target="handoutMasters/handoutMaster1.xml"/><Relationship Id="rId108" Type="http://schemas.openxmlformats.org/officeDocument/2006/relationships/notesMaster" Target="notesMasters/notesMaster1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35E7B8C-6494-44A5-8D1C-A56E7EA14E4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603E0E3-A6A5-4248-A7BB-3D0531AB223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1DAF6D0-16B2-4DFB-B9CD-777FC0C30284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57F44F4-ED3E-41D0-994F-61CD2CD6D71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49297-E2A2-40AF-9E1B-A3EECB6CC53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18E83-50D3-4055-A07C-61C0679FC42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8C413-D41F-41F4-BA82-338FAF84B1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FE9A0-C1A2-46AB-87DF-2AF345B96B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9FE6A-1826-4FCA-B15C-9DB81D71F4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CF735-0401-4A13-BB22-EE0E128B2C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65DAF0-E06D-4F00-8449-3922B94479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94D9A-770F-4F32-8BC2-E5D497E0616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BAA97-851D-4C9E-AFB0-614FC9910A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0215E-09DE-49F6-A899-D0B752F4D8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B94C7-BE1E-41CC-9671-10E0845293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/>
            </a:gs>
            <a:gs pos="15000">
              <a:schemeClr val="bg1"/>
            </a:gs>
            <a:gs pos="83000">
              <a:schemeClr val="bg1"/>
            </a:gs>
            <a:gs pos="100000">
              <a:schemeClr val="tx2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0C3990-52CD-4777-978F-F80E115A024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/>
            </a:gs>
            <a:gs pos="15000">
              <a:schemeClr val="bg1"/>
            </a:gs>
            <a:gs pos="83000">
              <a:schemeClr val="bg1"/>
            </a:gs>
            <a:gs pos="100000">
              <a:schemeClr val="tx2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1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1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1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1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1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1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image" Target="../media/image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1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1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1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1" Type="http://schemas.openxmlformats.org/officeDocument/2006/relationships/image" Target="../media/image2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1" Type="http://schemas.openxmlformats.org/officeDocument/2006/relationships/image" Target="../media/image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1" Type="http://schemas.openxmlformats.org/officeDocument/2006/relationships/image" Target="../media/image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 descr="大标题-10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9588"/>
            <a:ext cx="8001000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684213" y="2316163"/>
            <a:ext cx="74882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lang="en-US" altLang="zh-CN" sz="3600" b="1" dirty="0">
                <a:solidFill>
                  <a:prstClr val="white"/>
                </a:solidFill>
              </a:rPr>
              <a:t>9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章　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PyQt5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常用控件的使用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800100" y="1657350"/>
            <a:ext cx="7543800" cy="24384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2800" dirty="0">
                <a:latin typeface="+mj-lt"/>
                <a:ea typeface="+mj-ea"/>
                <a:cs typeface="+mj-cs"/>
              </a:rPr>
              <a:t>控件是窗口程序的基本组成单位，通过使用控件可以高效地开发窗口应用程序。所以，熟练掌握控件是合理、有效地进行窗口程序开发的重要前提。本章将对开发</a:t>
            </a:r>
            <a:r>
              <a:rPr lang="en-US" altLang="zh-CN" sz="2800" dirty="0">
                <a:latin typeface="+mj-lt"/>
                <a:ea typeface="+mj-ea"/>
                <a:cs typeface="+mj-cs"/>
              </a:rPr>
              <a:t>PyQt5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窗口应用程序中经常用到的控件进行详细讲解。</a:t>
            </a:r>
            <a:endParaRPr lang="zh-CN" altLang="en-U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标题-0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85800" y="1352550"/>
            <a:ext cx="8001000" cy="2136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22244" y="2128217"/>
            <a:ext cx="2629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9.1  </a:t>
            </a:r>
            <a:r>
              <a:rPr lang="zh-CN" altLang="en-US" sz="3200" b="1" dirty="0">
                <a:solidFill>
                  <a:schemeClr val="bg1"/>
                </a:solidFill>
              </a:rPr>
              <a:t>控件概述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104900" y="1581150"/>
            <a:ext cx="6934200" cy="2340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控件是用户可以用来输入或操作数据的对象，也就相当于汽车中的方向盘、油门、刹车、离合器等，它们都是对汽车进行操作的控件。在</a:t>
            </a:r>
            <a:r>
              <a:rPr lang="en-US" altLang="zh-CN" sz="2000" dirty="0"/>
              <a:t>PyQt5</a:t>
            </a:r>
            <a:r>
              <a:rPr lang="zh-CN" altLang="en-US" sz="2000" dirty="0"/>
              <a:t>中，控件的基类位于</a:t>
            </a:r>
            <a:r>
              <a:rPr lang="en-US" altLang="zh-CN" sz="2000" dirty="0" err="1"/>
              <a:t>QFrame</a:t>
            </a:r>
            <a:r>
              <a:rPr lang="zh-CN" altLang="en-US" sz="2000" dirty="0"/>
              <a:t>类，而</a:t>
            </a:r>
            <a:r>
              <a:rPr lang="en-US" altLang="zh-CN" sz="2000" dirty="0" err="1"/>
              <a:t>QFrame</a:t>
            </a:r>
            <a:r>
              <a:rPr lang="zh-CN" altLang="en-US" sz="2000" dirty="0"/>
              <a:t>类继承自</a:t>
            </a:r>
            <a:r>
              <a:rPr lang="en-US" altLang="zh-CN" sz="2000" dirty="0" err="1"/>
              <a:t>QWidget</a:t>
            </a:r>
            <a:r>
              <a:rPr lang="zh-CN" altLang="en-US" sz="2000" dirty="0"/>
              <a:t>类，</a:t>
            </a:r>
            <a:r>
              <a:rPr lang="en-US" altLang="zh-CN" sz="2000" dirty="0" err="1"/>
              <a:t>QWidget</a:t>
            </a:r>
            <a:r>
              <a:rPr lang="zh-CN" altLang="en-US" sz="2000" dirty="0"/>
              <a:t>类是所有用户界面对象的基类。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600200" y="1504951"/>
            <a:ext cx="5181600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认识控件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控件的命名规范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PyQt5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控件的常用命名规范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63539" y="1504950"/>
          <a:ext cx="7816921" cy="33556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2431"/>
                <a:gridCol w="2269402"/>
                <a:gridCol w="1671924"/>
                <a:gridCol w="2083164"/>
              </a:tblGrid>
              <a:tr h="22181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控 件 名 称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说</a:t>
                      </a:r>
                      <a:r>
                        <a:rPr lang="en-US" sz="1100" kern="100">
                          <a:effectLst/>
                        </a:rPr>
                        <a:t>    </a:t>
                      </a:r>
                      <a:r>
                        <a:rPr lang="zh-CN" sz="1100" kern="100">
                          <a:effectLst/>
                        </a:rPr>
                        <a:t>明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控 件 名 称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说</a:t>
                      </a:r>
                      <a:r>
                        <a:rPr lang="en-US" sz="1100" kern="100">
                          <a:effectLst/>
                        </a:rPr>
                        <a:t>    </a:t>
                      </a:r>
                      <a:r>
                        <a:rPr lang="zh-CN" sz="1100" kern="100">
                          <a:effectLst/>
                        </a:rPr>
                        <a:t>明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4128" marR="84128" marT="0" marB="0" anchor="ctr"/>
                </a:tc>
              </a:tr>
              <a:tr h="221810">
                <a:tc gridSpan="4">
                  <a:txBody>
                    <a:bodyPr/>
                    <a:lstStyle/>
                    <a:p>
                      <a:pPr indent="266700" algn="ctr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Layouts</a:t>
                      </a:r>
                      <a:r>
                        <a:rPr lang="zh-CN" sz="1100">
                          <a:effectLst/>
                        </a:rPr>
                        <a:t>—布局管理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12171" marR="112171" marT="56086" marB="56086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VerticalLayout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垂直布局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HorizontalLayout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水平布局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 dirty="0" err="1">
                          <a:effectLst/>
                        </a:rPr>
                        <a:t>GridLayout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网格布局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FormLayout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表单布局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</a:tr>
              <a:tr h="221810">
                <a:tc gridSpan="4">
                  <a:txBody>
                    <a:bodyPr/>
                    <a:lstStyle/>
                    <a:p>
                      <a:pPr indent="266700" algn="ctr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Spacers</a:t>
                      </a:r>
                      <a:r>
                        <a:rPr lang="zh-CN" sz="1100">
                          <a:effectLst/>
                        </a:rPr>
                        <a:t>—弹簧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12171" marR="112171" marT="56086" marB="56086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HorizontalSpacer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水平弹簧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VerticalSpacer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垂直弹簧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/>
                </a:tc>
              </a:tr>
              <a:tr h="221810">
                <a:tc gridSpan="4">
                  <a:txBody>
                    <a:bodyPr/>
                    <a:lstStyle/>
                    <a:p>
                      <a:pPr indent="266700" algn="ctr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Buttons</a:t>
                      </a:r>
                      <a:r>
                        <a:rPr lang="zh-CN" sz="1100">
                          <a:effectLst/>
                        </a:rPr>
                        <a:t>—按钮类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12171" marR="112171" marT="56086" marB="56086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PushButton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按钮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ToolButton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工具按钮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RadioButton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单选按钮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CheckBox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复选框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CommandLinkButton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命令链接按钮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DialogButtonBox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对话框按钮盒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</a:tr>
              <a:tr h="221810">
                <a:tc gridSpan="4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Item Views(Model-Based)</a:t>
                      </a:r>
                      <a:r>
                        <a:rPr lang="zh-CN" sz="1100">
                          <a:effectLst/>
                        </a:rPr>
                        <a:t>—项目视图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12171" marR="112171" marT="56086" marB="56086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ListView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列表视图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TreeView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树视图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TableView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表格视图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ColumnView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列视图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</a:tr>
              <a:tr h="22390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UndoView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撤销命令显示视图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4128" marR="84128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858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PyQt5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控件的常用命名规范（续表）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53147" y="1733550"/>
          <a:ext cx="8039764" cy="2763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3529"/>
                <a:gridCol w="2334097"/>
                <a:gridCol w="1719587"/>
                <a:gridCol w="2142551"/>
              </a:tblGrid>
              <a:tr h="60129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200" kern="100" dirty="0">
                          <a:effectLst/>
                        </a:rPr>
                        <a:t>控 件 名 称</a:t>
                      </a:r>
                      <a:endParaRPr lang="zh-CN" sz="1200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200" kern="100">
                          <a:effectLst/>
                        </a:rPr>
                        <a:t>说</a:t>
                      </a:r>
                      <a:r>
                        <a:rPr lang="en-US" sz="1200" kern="100">
                          <a:effectLst/>
                        </a:rPr>
                        <a:t>    </a:t>
                      </a:r>
                      <a:r>
                        <a:rPr lang="zh-CN" sz="1200" kern="100">
                          <a:effectLst/>
                        </a:rPr>
                        <a:t>明</a:t>
                      </a:r>
                      <a:endParaRPr lang="zh-CN" sz="12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200" kern="100">
                          <a:effectLst/>
                        </a:rPr>
                        <a:t>控 件 名 称</a:t>
                      </a:r>
                      <a:endParaRPr lang="zh-CN" sz="12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200" kern="100">
                          <a:effectLst/>
                        </a:rPr>
                        <a:t>说</a:t>
                      </a:r>
                      <a:r>
                        <a:rPr lang="en-US" sz="1200" kern="100">
                          <a:effectLst/>
                        </a:rPr>
                        <a:t>    </a:t>
                      </a:r>
                      <a:r>
                        <a:rPr lang="zh-CN" sz="1200" kern="100">
                          <a:effectLst/>
                        </a:rPr>
                        <a:t>明</a:t>
                      </a:r>
                      <a:endParaRPr lang="zh-CN" sz="12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3667" marR="93667" marT="0" marB="0" anchor="ctr"/>
                </a:tc>
              </a:tr>
              <a:tr h="220291">
                <a:tc gridSpan="4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Item Widgets(Item-Based)</a:t>
                      </a:r>
                      <a:r>
                        <a:rPr lang="zh-CN" sz="1200">
                          <a:effectLst/>
                        </a:rPr>
                        <a:t>—项目控件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890" marR="124890" marT="62445" marB="62445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237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 dirty="0" err="1">
                          <a:effectLst/>
                        </a:rPr>
                        <a:t>ListWidget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列表控件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TreeWidget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树控件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</a:tr>
              <a:tr h="22237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TableWidget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表格控件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</a:tr>
              <a:tr h="220291">
                <a:tc gridSpan="4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Containers</a:t>
                      </a:r>
                      <a:r>
                        <a:rPr lang="zh-CN" sz="1200">
                          <a:effectLst/>
                        </a:rPr>
                        <a:t>—容器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890" marR="124890" marT="62445" marB="62445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237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GroupBox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分组框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ScrollArea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滚动区域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</a:tr>
              <a:tr h="22237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ToolBox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 dirty="0">
                          <a:effectLst/>
                        </a:rPr>
                        <a:t>工具箱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TabWidget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选项卡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</a:tr>
              <a:tr h="22237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StackedWidget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堆栈窗口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Frame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帧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</a:tr>
              <a:tr h="22237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Widget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小部件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MDIArea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MDI</a:t>
                      </a:r>
                      <a:r>
                        <a:rPr lang="zh-CN" sz="1200">
                          <a:effectLst/>
                        </a:rPr>
                        <a:t>区域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</a:tr>
              <a:tr h="22237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DockWidget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200">
                          <a:effectLst/>
                        </a:rPr>
                        <a:t>停靠窗口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3667" marR="93667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858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PyQt5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控件的常用命名规范（续表）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05689" y="1504950"/>
          <a:ext cx="7332621" cy="34003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1380"/>
                <a:gridCol w="2128800"/>
                <a:gridCol w="1568340"/>
                <a:gridCol w="1954101"/>
              </a:tblGrid>
              <a:tr h="20091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控 件 名 称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说</a:t>
                      </a:r>
                      <a:r>
                        <a:rPr lang="en-US" sz="1100" kern="100">
                          <a:effectLst/>
                        </a:rPr>
                        <a:t>    </a:t>
                      </a:r>
                      <a:r>
                        <a:rPr lang="zh-CN" sz="1100" kern="100">
                          <a:effectLst/>
                        </a:rPr>
                        <a:t>明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控 件 名 称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说</a:t>
                      </a:r>
                      <a:r>
                        <a:rPr lang="en-US" sz="1100" kern="100">
                          <a:effectLst/>
                        </a:rPr>
                        <a:t>    </a:t>
                      </a:r>
                      <a:r>
                        <a:rPr lang="zh-CN" sz="1100" kern="100">
                          <a:effectLst/>
                        </a:rPr>
                        <a:t>明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85429" marR="85429" marT="0" marB="0" anchor="ctr"/>
                </a:tc>
              </a:tr>
              <a:tr h="200915">
                <a:tc gridSpan="4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Input Widgets</a:t>
                      </a:r>
                      <a:r>
                        <a:rPr lang="zh-CN" sz="1100">
                          <a:effectLst/>
                        </a:rPr>
                        <a:t>—输入控件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13905" marR="113905" marT="56952" marB="56952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ComboBox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下拉组合框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FontComboBox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字体组合框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LineEdit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单行文本框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TextEdit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多行文本框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PlainTextEdit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纯文本编辑框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SpinBox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数字选择控件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DoubleSpinBox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小数选择控件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TimeEdit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时间编辑框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DateEdit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日期编辑框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DateTimeEdit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日期时间编辑框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Dial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旋钮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HorizontalScrollBar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横向滚动条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VerticalScrollBar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垂直滚动条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HorizontalSlider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横向滑块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VerticalSlider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垂直滑块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KeySequenceEidt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按键编辑框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0915">
                <a:tc gridSpan="4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Display Widgets</a:t>
                      </a:r>
                      <a:r>
                        <a:rPr lang="zh-CN" sz="1100">
                          <a:effectLst/>
                        </a:rPr>
                        <a:t>—显示控件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13905" marR="113905" marT="56952" marB="56952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Label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标签控件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TextBrowser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文本浏览器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GraphicsView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图形视图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CalendarWidget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日期控件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LCDNumber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液晶数字显示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ProgressBar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进度条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HorizontalLine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水平线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VerticalLine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垂直线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  <a:tr h="20281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OpenGLWidget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1100">
                          <a:effectLst/>
                        </a:rPr>
                        <a:t>开放式图形库工具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29" marR="85429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PyQt5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控件的常用命名规范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54310" y="1504951"/>
          <a:ext cx="8035380" cy="3276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8845"/>
                <a:gridCol w="2008845"/>
                <a:gridCol w="2008845"/>
                <a:gridCol w="2008845"/>
              </a:tblGrid>
              <a:tr h="249988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zh-CN" sz="1100" kern="100" dirty="0">
                          <a:effectLst/>
                        </a:rPr>
                        <a:t>控 件 名 称</a:t>
                      </a:r>
                      <a:endParaRPr lang="zh-CN" sz="1100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zh-CN" sz="1100" kern="100">
                          <a:effectLst/>
                        </a:rPr>
                        <a:t>命</a:t>
                      </a:r>
                      <a:r>
                        <a:rPr lang="en-US" sz="1100" kern="100">
                          <a:effectLst/>
                        </a:rPr>
                        <a:t>    </a:t>
                      </a:r>
                      <a:r>
                        <a:rPr lang="zh-CN" sz="1100" kern="100">
                          <a:effectLst/>
                        </a:rPr>
                        <a:t>名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zh-CN" sz="1100" kern="100">
                          <a:effectLst/>
                        </a:rPr>
                        <a:t>控 件 名 称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zh-CN" sz="1100" kern="100">
                          <a:effectLst/>
                        </a:rPr>
                        <a:t>命</a:t>
                      </a:r>
                      <a:r>
                        <a:rPr lang="en-US" sz="1100" kern="100">
                          <a:effectLst/>
                        </a:rPr>
                        <a:t>    </a:t>
                      </a:r>
                      <a:r>
                        <a:rPr lang="zh-CN" sz="1100" kern="100">
                          <a:effectLst/>
                        </a:rPr>
                        <a:t>名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Label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lab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ListView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lv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 err="1">
                          <a:effectLst/>
                        </a:rPr>
                        <a:t>LineEdit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ledit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ListWidget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lw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TextEidt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TreeView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tv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PlainTextEidt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 err="1">
                          <a:effectLst/>
                        </a:rPr>
                        <a:t>pedit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TreeWidget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TextBrowser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>
                          <a:effectLst/>
                        </a:rPr>
                        <a:t>txt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TableView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tbv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PushButton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pbtn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 err="1">
                          <a:effectLst/>
                        </a:rPr>
                        <a:t>TableWidget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tbw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ToolButton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tbtn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 err="1">
                          <a:effectLst/>
                        </a:rPr>
                        <a:t>GroupBox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gbox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CommandLinkButton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linbtn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 err="1">
                          <a:effectLst/>
                        </a:rPr>
                        <a:t>SpinBox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sbox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RadioButton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rbtn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TabWidget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>
                          <a:effectLst/>
                        </a:rPr>
                        <a:t>tab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CheckBox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ckbox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TimeEdit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>
                          <a:effectLst/>
                        </a:rPr>
                        <a:t>time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ComboBox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cbox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DateEdit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 dirty="0">
                          <a:effectLst/>
                        </a:rPr>
                        <a:t>date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52218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zh-CN" sz="1100">
                          <a:effectLst/>
                        </a:rPr>
                        <a:t>…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500"/>
                        </a:lnSpc>
                      </a:pPr>
                      <a:r>
                        <a:rPr lang="zh-CN" sz="1100" dirty="0">
                          <a:effectLst/>
                        </a:rPr>
                        <a:t>…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标题-0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33400" y="1352550"/>
            <a:ext cx="8277013" cy="220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4146" y="2139375"/>
            <a:ext cx="3041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9.2  </a:t>
            </a:r>
            <a:r>
              <a:rPr lang="zh-CN" altLang="en-US" sz="3200" b="1" dirty="0">
                <a:solidFill>
                  <a:schemeClr val="bg1"/>
                </a:solidFill>
              </a:rPr>
              <a:t>文本类控件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762000" y="1862966"/>
            <a:ext cx="7620000" cy="141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文本类控件主要用来显示或者编辑文本信息，</a:t>
            </a:r>
            <a:r>
              <a:rPr lang="en-US" altLang="zh-CN" sz="2000" dirty="0"/>
              <a:t>PyQt5</a:t>
            </a:r>
            <a:r>
              <a:rPr lang="zh-CN" altLang="en-US" sz="2000" dirty="0"/>
              <a:t>中的文本类控件主要有</a:t>
            </a:r>
            <a:r>
              <a:rPr lang="en-US" altLang="zh-CN" sz="2000" dirty="0"/>
              <a:t>Label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LineEdit</a:t>
            </a:r>
            <a:r>
              <a:rPr lang="zh-CN" altLang="en-US" sz="2000" dirty="0"/>
              <a:t>、</a:t>
            </a:r>
            <a:r>
              <a:rPr lang="en-US" altLang="zh-CN" sz="2000" dirty="0"/>
              <a:t>TextEdit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SpinBox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DoubleSpinBox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LCDNumber</a:t>
            </a:r>
            <a:r>
              <a:rPr lang="zh-CN" altLang="en-US" sz="2000" dirty="0"/>
              <a:t>等。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066800" y="1581150"/>
            <a:ext cx="7239000" cy="2802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/>
              <a:t>Label</a:t>
            </a:r>
            <a:r>
              <a:rPr lang="zh-CN" altLang="en-US" sz="2000" dirty="0"/>
              <a:t>：标签控件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LineEdit</a:t>
            </a:r>
            <a:r>
              <a:rPr lang="zh-CN" altLang="en-US" sz="2000" dirty="0"/>
              <a:t>：单行文本框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/>
              <a:t>TextEdit</a:t>
            </a:r>
            <a:r>
              <a:rPr lang="zh-CN" altLang="en-US" sz="2000" dirty="0"/>
              <a:t>：多行文本框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SpinBox</a:t>
            </a:r>
            <a:r>
              <a:rPr lang="zh-CN" altLang="en-US" sz="2000" dirty="0"/>
              <a:t>：整数数字选择控件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DoubleSpinBox</a:t>
            </a:r>
            <a:r>
              <a:rPr lang="zh-CN" altLang="en-US" sz="2000" dirty="0"/>
              <a:t>：小数数字选择控件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LCDNumber</a:t>
            </a:r>
            <a:r>
              <a:rPr lang="zh-CN" altLang="en-US" sz="2000" dirty="0"/>
              <a:t>：液晶数字显示控件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762000" y="1862966"/>
            <a:ext cx="7620000" cy="1879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Label</a:t>
            </a:r>
            <a:r>
              <a:rPr lang="zh-CN" altLang="en-US" sz="2000" dirty="0"/>
              <a:t>控件，又称为标签控件，它主要用于显示用户不能编辑的文本，标识窗体上的对象（例如，给文本框、列表框添加描述信息等），它对应</a:t>
            </a:r>
            <a:r>
              <a:rPr lang="en-US" altLang="zh-CN" sz="2000" dirty="0"/>
              <a:t>PyQt5</a:t>
            </a:r>
            <a:r>
              <a:rPr lang="zh-CN" altLang="en-US" sz="2000" dirty="0"/>
              <a:t>中的</a:t>
            </a:r>
            <a:r>
              <a:rPr lang="en-US" altLang="zh-CN" sz="2000" dirty="0" err="1"/>
              <a:t>QLabel</a:t>
            </a:r>
            <a:r>
              <a:rPr lang="zh-CN" altLang="en-US" sz="2000" dirty="0"/>
              <a:t>类，</a:t>
            </a:r>
            <a:r>
              <a:rPr lang="en-US" altLang="zh-CN" sz="2000" dirty="0"/>
              <a:t>Label</a:t>
            </a:r>
            <a:r>
              <a:rPr lang="zh-CN" altLang="en-US" sz="2000" dirty="0"/>
              <a:t>控件本质上是</a:t>
            </a:r>
            <a:r>
              <a:rPr lang="en-US" altLang="zh-CN" sz="2000" dirty="0" err="1"/>
              <a:t>QLabel</a:t>
            </a:r>
            <a:r>
              <a:rPr lang="zh-CN" altLang="en-US" sz="2000" dirty="0"/>
              <a:t>类的一个对象。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Label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 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图片 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139" y="2903765"/>
            <a:ext cx="2339721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设置</a:t>
            </a:r>
            <a:r>
              <a:rPr lang="en-US" altLang="zh-CN" sz="3200" dirty="0">
                <a:latin typeface="+mj-lt"/>
                <a:ea typeface="+mj-ea"/>
                <a:cs typeface="+mj-cs"/>
              </a:rPr>
              <a:t>text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属性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图片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666" y="3181350"/>
            <a:ext cx="618066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4419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Horizontal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取值及说明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2193037"/>
          <a:ext cx="5886450" cy="21313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2192"/>
                <a:gridCol w="4004258"/>
              </a:tblGrid>
              <a:tr h="42306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 dirty="0">
                          <a:effectLst/>
                        </a:rPr>
                        <a:t>值</a:t>
                      </a:r>
                      <a:endParaRPr lang="zh-CN" sz="1100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1100" kern="100">
                          <a:effectLst/>
                        </a:rPr>
                        <a:t>说</a:t>
                      </a:r>
                      <a:r>
                        <a:rPr lang="en-US" sz="1100" kern="100">
                          <a:effectLst/>
                        </a:rPr>
                        <a:t>    </a:t>
                      </a:r>
                      <a:r>
                        <a:rPr lang="zh-CN" sz="1100" kern="100">
                          <a:effectLst/>
                        </a:rPr>
                        <a:t>明 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2706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400"/>
                        </a:lnSpc>
                      </a:pPr>
                      <a:r>
                        <a:rPr lang="en-US" sz="1100" dirty="0" err="1">
                          <a:effectLst/>
                        </a:rPr>
                        <a:t>AlignLeft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indent="266700" algn="just">
                        <a:lnSpc>
                          <a:spcPts val="1400"/>
                        </a:lnSpc>
                      </a:pPr>
                      <a:r>
                        <a:rPr lang="zh-CN" sz="1100" dirty="0">
                          <a:effectLst/>
                        </a:rPr>
                        <a:t>左对齐，效果如图</a:t>
                      </a:r>
                      <a:r>
                        <a:rPr lang="en-US" sz="1100" dirty="0">
                          <a:effectLst/>
                        </a:rPr>
                        <a:t>9.4</a:t>
                      </a:r>
                      <a:r>
                        <a:rPr lang="zh-CN" sz="1100" dirty="0">
                          <a:effectLst/>
                        </a:rPr>
                        <a:t>所示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2706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AlignHCenter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indent="266700" algn="just">
                        <a:lnSpc>
                          <a:spcPts val="1400"/>
                        </a:lnSpc>
                      </a:pPr>
                      <a:r>
                        <a:rPr lang="zh-CN" sz="1100" dirty="0">
                          <a:effectLst/>
                        </a:rPr>
                        <a:t>水平居中对齐，效果如图</a:t>
                      </a:r>
                      <a:r>
                        <a:rPr lang="en-US" sz="1100" dirty="0">
                          <a:effectLst/>
                        </a:rPr>
                        <a:t>9.5</a:t>
                      </a:r>
                      <a:r>
                        <a:rPr lang="zh-CN" sz="1100" dirty="0">
                          <a:effectLst/>
                        </a:rPr>
                        <a:t>所示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2706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AlignRight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indent="266700" algn="just">
                        <a:lnSpc>
                          <a:spcPts val="1400"/>
                        </a:lnSpc>
                      </a:pPr>
                      <a:r>
                        <a:rPr lang="zh-CN" sz="1100" dirty="0">
                          <a:effectLst/>
                        </a:rPr>
                        <a:t>右对齐，效果如图</a:t>
                      </a:r>
                      <a:r>
                        <a:rPr lang="en-US" sz="1100" dirty="0">
                          <a:effectLst/>
                        </a:rPr>
                        <a:t>9.6</a:t>
                      </a:r>
                      <a:r>
                        <a:rPr lang="zh-CN" sz="1100" dirty="0">
                          <a:effectLst/>
                        </a:rPr>
                        <a:t>所示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27062">
                <a:tc>
                  <a:txBody>
                    <a:bodyPr/>
                    <a:lstStyle/>
                    <a:p>
                      <a:pPr indent="266700" algn="just">
                        <a:lnSpc>
                          <a:spcPts val="1400"/>
                        </a:lnSpc>
                      </a:pPr>
                      <a:r>
                        <a:rPr lang="en-US" sz="1100">
                          <a:effectLst/>
                        </a:rPr>
                        <a:t>AlignJustify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indent="266700" algn="just">
                        <a:lnSpc>
                          <a:spcPts val="1400"/>
                        </a:lnSpc>
                      </a:pPr>
                      <a:r>
                        <a:rPr lang="zh-CN" sz="1100" dirty="0">
                          <a:effectLst/>
                        </a:rPr>
                        <a:t>两端对齐，效果同</a:t>
                      </a:r>
                      <a:r>
                        <a:rPr lang="en-US" sz="1100" dirty="0" err="1">
                          <a:effectLst/>
                        </a:rPr>
                        <a:t>AlignLeft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Horizontal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的取值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图片 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62150"/>
            <a:ext cx="6096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不同的对齐效果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222600"/>
            <a:ext cx="8458200" cy="1983046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Vertical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的取值 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图片 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629" y="1962150"/>
            <a:ext cx="5858741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7691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不同的对齐效果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089720"/>
            <a:ext cx="8610600" cy="2150266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Label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默认显示长文本的一部分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图片 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263292"/>
            <a:ext cx="3505200" cy="2061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543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设置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wordWrap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属性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图片 5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97" y="3556000"/>
            <a:ext cx="778500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696200" cy="53181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2800" dirty="0">
                <a:latin typeface="+mj-lt"/>
                <a:ea typeface="+mj-ea"/>
                <a:cs typeface="+mj-cs"/>
              </a:rPr>
              <a:t>换行显示文本</a:t>
            </a:r>
            <a:endParaRPr lang="zh-CN" altLang="en-US" sz="24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图片 5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356" y="2190750"/>
            <a:ext cx="397328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543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Label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标签中设置超链接的效果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图片 6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67" y="2571750"/>
            <a:ext cx="2971666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696200" cy="53181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2800" dirty="0">
                <a:latin typeface="+mj-lt"/>
                <a:ea typeface="+mj-ea"/>
                <a:cs typeface="+mj-cs"/>
              </a:rPr>
              <a:t>在</a:t>
            </a:r>
            <a:r>
              <a:rPr lang="en-US" altLang="zh-CN" sz="2800" dirty="0">
                <a:latin typeface="+mj-lt"/>
                <a:ea typeface="+mj-ea"/>
                <a:cs typeface="+mj-cs"/>
              </a:rPr>
              <a:t>Label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标签中显示图片</a:t>
            </a:r>
            <a:endParaRPr lang="zh-CN" altLang="en-US" sz="24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8" name="图片 6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411" y="1962150"/>
            <a:ext cx="5901177" cy="259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543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LineEdit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图片 6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541" y="2876550"/>
            <a:ext cx="433891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696200" cy="53181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2800" dirty="0" err="1">
                <a:latin typeface="+mj-lt"/>
                <a:ea typeface="+mj-ea"/>
                <a:cs typeface="+mj-cs"/>
              </a:rPr>
              <a:t>QLineEdit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07741" y="1362019"/>
          <a:ext cx="7328517" cy="3632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6400"/>
                <a:gridCol w="5652117"/>
              </a:tblGrid>
              <a:tr h="22643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 dirty="0">
                          <a:effectLst/>
                        </a:rPr>
                        <a:t>方</a:t>
                      </a:r>
                      <a:r>
                        <a:rPr lang="en-US" sz="900" kern="100" dirty="0">
                          <a:effectLst/>
                        </a:rPr>
                        <a:t>    </a:t>
                      </a:r>
                      <a:r>
                        <a:rPr lang="zh-CN" sz="900" kern="100" dirty="0">
                          <a:effectLst/>
                        </a:rPr>
                        <a:t>法</a:t>
                      </a:r>
                      <a:endParaRPr lang="zh-CN" sz="900" kern="100" dirty="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5850" marR="65850" marT="0" marB="0" anchor="ctr"/>
                </a:tc>
              </a:tr>
              <a:tr h="1537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设置文本框内容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1537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获取文本框内容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1537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setPlaceholderText()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设置文本框浮显文字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1537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setMaxLength()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设置允许文本框内输入字符的最大长度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1537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setAlignment()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设置文本对齐方式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1537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setReadOnly()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设置文本框只读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1537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setFocus()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使文本框得到焦点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71947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setEchoMode()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设置文本框显示字符的模式，有以下</a:t>
                      </a:r>
                      <a:r>
                        <a:rPr lang="en-US" sz="900">
                          <a:effectLst/>
                        </a:rPr>
                        <a:t>4</a:t>
                      </a:r>
                      <a:r>
                        <a:rPr lang="zh-CN" sz="900">
                          <a:effectLst/>
                        </a:rPr>
                        <a:t>种模式。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QLineEdit.Normal</a:t>
                      </a:r>
                      <a:r>
                        <a:rPr lang="zh-CN" sz="900">
                          <a:effectLst/>
                        </a:rPr>
                        <a:t>：正常显示输入的字符，这是默认设置；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QLineEdit.NoEcho</a:t>
                      </a:r>
                      <a:r>
                        <a:rPr lang="zh-CN" sz="900">
                          <a:effectLst/>
                        </a:rPr>
                        <a:t>：不显示任何输入的字符（不是不输入，只是不显示）；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QLineEdit.Password</a:t>
                      </a:r>
                      <a:r>
                        <a:rPr lang="zh-CN" sz="900">
                          <a:effectLst/>
                        </a:rPr>
                        <a:t>：显示与平台相关的密码掩码字符，而不是实际输入的字符；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QLineEdit.PasswordEchoOnEdit</a:t>
                      </a:r>
                      <a:r>
                        <a:rPr lang="zh-CN" sz="900">
                          <a:effectLst/>
                        </a:rPr>
                        <a:t>：在编辑时显示字符，失去焦点后显示密码掩码字符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57313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setValidator()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设置文本框验证器，有以下</a:t>
                      </a:r>
                      <a:r>
                        <a:rPr lang="en-US" sz="900">
                          <a:effectLst/>
                        </a:rPr>
                        <a:t>3</a:t>
                      </a:r>
                      <a:r>
                        <a:rPr lang="zh-CN" sz="900">
                          <a:effectLst/>
                        </a:rPr>
                        <a:t>种模式。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QIntValidator</a:t>
                      </a:r>
                      <a:r>
                        <a:rPr lang="zh-CN" sz="900">
                          <a:effectLst/>
                        </a:rPr>
                        <a:t>：限制输入整数；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QDoubleValidator</a:t>
                      </a:r>
                      <a:r>
                        <a:rPr lang="zh-CN" sz="900">
                          <a:effectLst/>
                        </a:rPr>
                        <a:t>：限制输入小数；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QRegExpValidator</a:t>
                      </a:r>
                      <a:r>
                        <a:rPr lang="zh-CN" sz="900">
                          <a:effectLst/>
                        </a:rPr>
                        <a:t>：检查输入是否符合设置的正则表达式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71947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setInputMask()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设置掩码，掩码通常由掩码字符和分隔符组成，后面可以跟一个分号和空白字符，空白字符在编辑完成后会从文本框中删除，常用的掩码有以下几种形式。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日期掩码：</a:t>
                      </a:r>
                      <a:r>
                        <a:rPr lang="en-US" sz="900">
                          <a:effectLst/>
                        </a:rPr>
                        <a:t>0000-00-00</a:t>
                      </a:r>
                      <a:r>
                        <a:rPr lang="zh-CN" sz="900">
                          <a:effectLst/>
                        </a:rPr>
                        <a:t>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时间掩码：</a:t>
                      </a:r>
                      <a:r>
                        <a:rPr lang="en-US" sz="900">
                          <a:effectLst/>
                        </a:rPr>
                        <a:t>00:00:00</a:t>
                      </a:r>
                      <a:r>
                        <a:rPr lang="zh-CN" sz="900">
                          <a:effectLst/>
                        </a:rPr>
                        <a:t>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200"/>
                        </a:lnSpc>
                      </a:pPr>
                      <a:r>
                        <a:rPr lang="zh-CN" sz="900">
                          <a:effectLst/>
                        </a:rPr>
                        <a:t>◆ 序列号掩码：</a:t>
                      </a:r>
                      <a:r>
                        <a:rPr lang="en-US" sz="900">
                          <a:effectLst/>
                        </a:rPr>
                        <a:t>&gt;AAAAA-AAAAA-AAAAA-AAAAA-AAAAA;#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  <a:tr h="1537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clear()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清除文本框内容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850" marR="6585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543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QLineEdit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类的常用信号及说明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2512951"/>
          <a:ext cx="5886450" cy="1182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7810"/>
                <a:gridCol w="4448640"/>
              </a:tblGrid>
              <a:tr h="391782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信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号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9548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textChanged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当更改文本框中的内容时发射该信号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9548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editingFinished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当文本框中的内容编辑结束时发射该信号，以按下</a:t>
                      </a:r>
                      <a:r>
                        <a:rPr lang="en-US" sz="900" dirty="0">
                          <a:effectLst/>
                        </a:rPr>
                        <a:t>Enter</a:t>
                      </a:r>
                      <a:r>
                        <a:rPr lang="zh-CN" sz="900" dirty="0">
                          <a:effectLst/>
                        </a:rPr>
                        <a:t>为编辑结束标志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696200" cy="53181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2800" dirty="0">
                <a:latin typeface="+mj-lt"/>
                <a:ea typeface="+mj-ea"/>
                <a:cs typeface="+mj-cs"/>
              </a:rPr>
              <a:t>系统登录窗口设计效果</a:t>
            </a:r>
            <a:endParaRPr lang="zh-CN" altLang="en-US" sz="24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4" name="图片 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874" y="1809750"/>
            <a:ext cx="520825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543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运行效果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780" y="1962150"/>
            <a:ext cx="4878439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696200" cy="53181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2800" dirty="0">
                <a:latin typeface="+mj-lt"/>
                <a:ea typeface="+mj-ea"/>
                <a:cs typeface="+mj-cs"/>
              </a:rPr>
              <a:t>TextEdit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24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图片 7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560" y="2571750"/>
            <a:ext cx="5012880" cy="188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543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QTextEdit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962150"/>
          <a:ext cx="5886450" cy="27431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9472"/>
                <a:gridCol w="4266978"/>
              </a:tblGrid>
              <a:tr h="28093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描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述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8358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setPlainText()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设置文本内容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8358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toPlainText()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获取文本内容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77146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setTextColor()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100"/>
                        </a:lnSpc>
                      </a:pPr>
                      <a:r>
                        <a:rPr lang="zh-CN" sz="900">
                          <a:effectLst/>
                        </a:rPr>
                        <a:t>设置文本颜色，例如，将文本设置为红色，可以将该方法的参数设置为</a:t>
                      </a:r>
                      <a:r>
                        <a:rPr lang="en-US" sz="900">
                          <a:effectLst/>
                        </a:rPr>
                        <a:t>QtGui.QColor(255,0,0)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8358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setTextBackgroundColor()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设置文本的背景颜色，颜色参数与</a:t>
                      </a:r>
                      <a:r>
                        <a:rPr lang="en-US" sz="900">
                          <a:effectLst/>
                        </a:rPr>
                        <a:t>setTextColor()</a:t>
                      </a:r>
                      <a:r>
                        <a:rPr lang="zh-CN" sz="900">
                          <a:effectLst/>
                        </a:rPr>
                        <a:t>相同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8358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setHtml()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</a:t>
                      </a:r>
                      <a:r>
                        <a:rPr lang="en-US" sz="900">
                          <a:effectLst/>
                        </a:rPr>
                        <a:t>HTML</a:t>
                      </a:r>
                      <a:r>
                        <a:rPr lang="zh-CN" sz="900">
                          <a:effectLst/>
                        </a:rPr>
                        <a:t>文档内容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8358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toHtml()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</a:t>
                      </a:r>
                      <a:r>
                        <a:rPr lang="en-US" sz="900">
                          <a:effectLst/>
                        </a:rPr>
                        <a:t>HTML</a:t>
                      </a:r>
                      <a:r>
                        <a:rPr lang="zh-CN" sz="900">
                          <a:effectLst/>
                        </a:rPr>
                        <a:t>文档内容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8358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wordWrapMode()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设置自动换行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8358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clear()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清除所有内容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696200" cy="53181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2800" dirty="0">
                <a:latin typeface="+mj-lt"/>
                <a:ea typeface="+mj-ea"/>
                <a:cs typeface="+mj-cs"/>
              </a:rPr>
              <a:t>使用</a:t>
            </a:r>
            <a:r>
              <a:rPr lang="en-US" altLang="zh-CN" sz="2800" dirty="0">
                <a:latin typeface="+mj-lt"/>
                <a:ea typeface="+mj-ea"/>
                <a:cs typeface="+mj-cs"/>
              </a:rPr>
              <a:t>TextEdit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控件显示多行文本和</a:t>
            </a:r>
            <a:r>
              <a:rPr lang="en-US" altLang="zh-CN" sz="2800" dirty="0">
                <a:latin typeface="+mj-lt"/>
                <a:ea typeface="+mj-ea"/>
                <a:cs typeface="+mj-cs"/>
              </a:rPr>
              <a:t>HTML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文本</a:t>
            </a:r>
            <a:endParaRPr lang="zh-CN" altLang="en-US" sz="24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19" y="2190750"/>
            <a:ext cx="7321761" cy="2393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SpinBox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4" name="图片 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664" y="2571750"/>
            <a:ext cx="4544671" cy="1381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QSpinBox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962150"/>
          <a:ext cx="5886450" cy="25200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3328"/>
                <a:gridCol w="4053122"/>
              </a:tblGrid>
              <a:tr h="35711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描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述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setValue()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设置控件的当前值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setMaximum()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设置最大值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setMinimum()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设置最小值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setRange()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设置取值范围（包括最大值和最小值）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setSingleStep()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单击上下箭头时的步长值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value()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获取控件中的值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使用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SpinBox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控件选择整数数字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2" name="图片 6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224" y="1962150"/>
            <a:ext cx="4987551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DoubleSpinBox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6" name="图片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403" y="3208337"/>
            <a:ext cx="5395194" cy="111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9342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使用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DoubleSpinBox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控件选择小数数字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0" name="图片 8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220" y="2038350"/>
            <a:ext cx="5517559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LCDNumber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4" name="图片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926" y="2574471"/>
            <a:ext cx="536614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858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QLCDNumber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66787" y="1885950"/>
          <a:ext cx="7210425" cy="2667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7810"/>
                <a:gridCol w="5772615"/>
              </a:tblGrid>
              <a:tr h="324558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描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述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2762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setDigitCount()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设置可以显示的数字数量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2762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setProperty()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682339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setMode()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设置显示数字的模式，有</a:t>
                      </a:r>
                      <a:r>
                        <a:rPr lang="en-US" sz="900">
                          <a:effectLst/>
                        </a:rPr>
                        <a:t>4</a:t>
                      </a:r>
                      <a:r>
                        <a:rPr lang="zh-CN" sz="900">
                          <a:effectLst/>
                        </a:rPr>
                        <a:t>种模式：</a:t>
                      </a:r>
                      <a:r>
                        <a:rPr lang="en-US" sz="900">
                          <a:effectLst/>
                        </a:rPr>
                        <a:t>Bin</a:t>
                      </a:r>
                      <a:r>
                        <a:rPr lang="zh-CN" sz="900">
                          <a:effectLst/>
                        </a:rPr>
                        <a:t>（二进制）、</a:t>
                      </a:r>
                      <a:r>
                        <a:rPr lang="en-US" sz="900">
                          <a:effectLst/>
                        </a:rPr>
                        <a:t>Oct</a:t>
                      </a:r>
                      <a:r>
                        <a:rPr lang="zh-CN" sz="900">
                          <a:effectLst/>
                        </a:rPr>
                        <a:t>（八进制）、</a:t>
                      </a:r>
                      <a:r>
                        <a:rPr lang="en-US" sz="900">
                          <a:effectLst/>
                        </a:rPr>
                        <a:t>Dec</a:t>
                      </a:r>
                      <a:r>
                        <a:rPr lang="zh-CN" sz="900">
                          <a:effectLst/>
                        </a:rPr>
                        <a:t>（十进制）、</a:t>
                      </a:r>
                      <a:r>
                        <a:rPr lang="en-US" sz="900">
                          <a:effectLst/>
                        </a:rPr>
                        <a:t>Hex</a:t>
                      </a:r>
                      <a:r>
                        <a:rPr lang="zh-CN" sz="900">
                          <a:effectLst/>
                        </a:rPr>
                        <a:t>（十六进制）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67722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setSegmentStyle()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设置显示样式，有</a:t>
                      </a:r>
                      <a:r>
                        <a:rPr lang="en-US" sz="900">
                          <a:effectLst/>
                        </a:rPr>
                        <a:t>3</a:t>
                      </a:r>
                      <a:r>
                        <a:rPr lang="zh-CN" sz="900">
                          <a:effectLst/>
                        </a:rPr>
                        <a:t>种样式：</a:t>
                      </a:r>
                      <a:r>
                        <a:rPr lang="en-US" sz="900">
                          <a:effectLst/>
                        </a:rPr>
                        <a:t>OutLine</a:t>
                      </a:r>
                      <a:r>
                        <a:rPr lang="zh-CN" sz="900">
                          <a:effectLst/>
                        </a:rPr>
                        <a:t>、</a:t>
                      </a:r>
                      <a:r>
                        <a:rPr lang="en-US" sz="900">
                          <a:effectLst/>
                        </a:rPr>
                        <a:t>Filled</a:t>
                      </a:r>
                      <a:r>
                        <a:rPr lang="zh-CN" sz="900">
                          <a:effectLst/>
                        </a:rPr>
                        <a:t>和</a:t>
                      </a:r>
                      <a:r>
                        <a:rPr lang="en-US" sz="900">
                          <a:effectLst/>
                        </a:rPr>
                        <a:t>Flat</a:t>
                      </a:r>
                      <a:r>
                        <a:rPr lang="zh-CN" sz="900">
                          <a:effectLst/>
                        </a:rPr>
                        <a:t>，它们的效果分别如图</a:t>
                      </a:r>
                      <a:r>
                        <a:rPr lang="en-US" sz="900">
                          <a:effectLst/>
                        </a:rPr>
                        <a:t>9.26</a:t>
                      </a:r>
                      <a:r>
                        <a:rPr lang="zh-CN" sz="900">
                          <a:effectLst/>
                        </a:rPr>
                        <a:t>～图</a:t>
                      </a:r>
                      <a:r>
                        <a:rPr lang="en-US" sz="900">
                          <a:effectLst/>
                        </a:rPr>
                        <a:t>9.28</a:t>
                      </a:r>
                      <a:r>
                        <a:rPr lang="zh-CN" sz="900">
                          <a:effectLst/>
                        </a:rPr>
                        <a:t>所示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2762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value()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获取显示的数值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不同的显示样式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76550"/>
            <a:ext cx="8077200" cy="102089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数字的正常显示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2" name="图片 1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733550"/>
            <a:ext cx="4724400" cy="301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705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大于</a:t>
            </a:r>
            <a:r>
              <a:rPr lang="en-US" altLang="zh-CN" sz="3200" dirty="0">
                <a:latin typeface="+mj-lt"/>
                <a:ea typeface="+mj-ea"/>
                <a:cs typeface="+mj-cs"/>
              </a:rPr>
              <a:t>7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位时以科学计数法形式显示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6" name="图片 1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57350"/>
            <a:ext cx="4724400" cy="301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标题-0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13629" y="1428750"/>
            <a:ext cx="7801771" cy="208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77835" y="2190750"/>
            <a:ext cx="3041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9.3  </a:t>
            </a:r>
            <a:r>
              <a:rPr lang="zh-CN" altLang="en-US" sz="3200" b="1" dirty="0">
                <a:solidFill>
                  <a:schemeClr val="bg1"/>
                </a:solidFill>
              </a:rPr>
              <a:t>按钮类控件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104900" y="1809750"/>
            <a:ext cx="6934200" cy="1879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按钮类控件主要用来执行一些命令操作，</a:t>
            </a:r>
            <a:r>
              <a:rPr lang="en-US" altLang="zh-CN" sz="2000" dirty="0"/>
              <a:t>PyQt5</a:t>
            </a:r>
            <a:r>
              <a:rPr lang="zh-CN" altLang="en-US" sz="2000" dirty="0"/>
              <a:t>中的按钮类控件主要有</a:t>
            </a:r>
            <a:r>
              <a:rPr lang="en-US" altLang="zh-CN" sz="2000" dirty="0" err="1"/>
              <a:t>PushButton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ToolButton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CommandLinkButton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RadioButton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CheckBox</a:t>
            </a:r>
            <a:r>
              <a:rPr lang="zh-CN" altLang="en-US" sz="2000" dirty="0"/>
              <a:t>等，本节将对它们的常用方法及使用方式进行讲解。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752600" y="1581150"/>
            <a:ext cx="5257800" cy="2340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PushButton</a:t>
            </a:r>
            <a:r>
              <a:rPr lang="zh-CN" altLang="en-US" sz="2000" dirty="0"/>
              <a:t>：按钮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ToolButton</a:t>
            </a:r>
            <a:r>
              <a:rPr lang="zh-CN" altLang="en-US" sz="2000" dirty="0"/>
              <a:t>：工具按钮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CommandLinkButton</a:t>
            </a:r>
            <a:r>
              <a:rPr lang="zh-CN" altLang="en-US" sz="2000" dirty="0"/>
              <a:t>：命令链接按钮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RadioButton</a:t>
            </a:r>
            <a:r>
              <a:rPr lang="zh-CN" altLang="en-US" sz="2000" dirty="0"/>
              <a:t>：单选按钮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CheckBox</a:t>
            </a:r>
            <a:r>
              <a:rPr lang="zh-CN" altLang="en-US" sz="2000" dirty="0"/>
              <a:t>：复选框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PushButton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0" name="图片 1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654" y="2647950"/>
            <a:ext cx="5218691" cy="125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477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QPushButton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962150"/>
          <a:ext cx="5886450" cy="25200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9771"/>
                <a:gridCol w="4536679"/>
              </a:tblGrid>
              <a:tr h="35711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设置按钮所显示的文本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获取按钮所显示的文本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setIcon()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设置按钮上的图标，可以将参数设置为</a:t>
                      </a:r>
                      <a:r>
                        <a:rPr lang="en-US" sz="900">
                          <a:effectLst/>
                        </a:rPr>
                        <a:t>QtGui.QIcon('</a:t>
                      </a:r>
                      <a:r>
                        <a:rPr lang="zh-CN" sz="900">
                          <a:effectLst/>
                        </a:rPr>
                        <a:t>图标路径</a:t>
                      </a:r>
                      <a:r>
                        <a:rPr lang="en-US" sz="900">
                          <a:effectLst/>
                        </a:rPr>
                        <a:t>')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setIconSize()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设置按钮图标的大小，参数可以设置为</a:t>
                      </a:r>
                      <a:r>
                        <a:rPr lang="en-US" sz="900">
                          <a:effectLst/>
                        </a:rPr>
                        <a:t>QtCore.QSize(int width</a:t>
                      </a:r>
                      <a:r>
                        <a:rPr lang="zh-CN" sz="900">
                          <a:effectLst/>
                        </a:rPr>
                        <a:t>，</a:t>
                      </a:r>
                      <a:r>
                        <a:rPr lang="en-US" sz="900">
                          <a:effectLst/>
                        </a:rPr>
                        <a:t>int height)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setEnabled()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设置按钮是否可用，参数设置为</a:t>
                      </a:r>
                      <a:r>
                        <a:rPr lang="en-US" sz="900">
                          <a:effectLst/>
                        </a:rPr>
                        <a:t>False</a:t>
                      </a:r>
                      <a:r>
                        <a:rPr lang="zh-CN" sz="900">
                          <a:effectLst/>
                        </a:rPr>
                        <a:t>时，按钮为不可用状态。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604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setShortcut()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设置按钮的快捷键，参数可以设置为键盘中的按键或快捷键，例如</a:t>
                      </a:r>
                      <a:r>
                        <a:rPr lang="en-US" sz="900" dirty="0">
                          <a:effectLst/>
                        </a:rPr>
                        <a:t>'Alt+0'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制作登录窗口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8" name="图片 1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96" y="1986643"/>
            <a:ext cx="731440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ToolButton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2" name="图片 1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834" y="2571750"/>
            <a:ext cx="5560332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0104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文本在图标下面的工具按钮显示效果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6" name="图片 1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785" y="2038350"/>
            <a:ext cx="4212429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CommandLinkButton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0" name="图片 1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500" y="2794001"/>
            <a:ext cx="70490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858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CommandLinkButton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控件的默认效果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266" y="1885950"/>
            <a:ext cx="6689468" cy="265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467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2800" dirty="0">
                <a:latin typeface="+mj-lt"/>
                <a:ea typeface="+mj-ea"/>
                <a:cs typeface="+mj-cs"/>
              </a:rPr>
              <a:t>鼠标移动到</a:t>
            </a:r>
            <a:r>
              <a:rPr lang="en-US" altLang="zh-CN" sz="2800" dirty="0" err="1">
                <a:latin typeface="+mj-lt"/>
                <a:ea typeface="+mj-ea"/>
                <a:cs typeface="+mj-cs"/>
              </a:rPr>
              <a:t>CommandLinkButton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控件上的效果</a:t>
            </a:r>
            <a:endParaRPr lang="zh-CN" altLang="en-U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8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75" y="1885950"/>
            <a:ext cx="6884249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RadioButton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2" name="图片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157" y="2724150"/>
            <a:ext cx="6501686" cy="1356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705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QRadioButton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2343150"/>
          <a:ext cx="5886450" cy="2206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3332"/>
                <a:gridCol w="4053118"/>
              </a:tblGrid>
              <a:tr h="43887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4302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设置单选按钮显示的文本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4302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获取单选按钮显示的文本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3887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setChecked()</a:t>
                      </a:r>
                      <a:r>
                        <a:rPr lang="zh-CN" sz="900">
                          <a:effectLst/>
                        </a:rPr>
                        <a:t>或者</a:t>
                      </a:r>
                      <a:r>
                        <a:rPr lang="en-US" sz="900">
                          <a:effectLst/>
                        </a:rPr>
                        <a:t>setCheckable()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设置单选按钮是否为选中状态，</a:t>
                      </a:r>
                      <a:r>
                        <a:rPr lang="en-US" sz="900">
                          <a:effectLst/>
                        </a:rPr>
                        <a:t>True</a:t>
                      </a:r>
                      <a:r>
                        <a:rPr lang="zh-CN" sz="900">
                          <a:effectLst/>
                        </a:rPr>
                        <a:t>为选中状态，</a:t>
                      </a:r>
                      <a:r>
                        <a:rPr lang="en-US" sz="900">
                          <a:effectLst/>
                        </a:rPr>
                        <a:t>False</a:t>
                      </a:r>
                      <a:r>
                        <a:rPr lang="zh-CN" sz="900">
                          <a:effectLst/>
                        </a:rPr>
                        <a:t>为未选中状态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4302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isChecked()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返回单选按钮的状态，</a:t>
                      </a:r>
                      <a:r>
                        <a:rPr lang="en-US" sz="900" dirty="0">
                          <a:effectLst/>
                        </a:rPr>
                        <a:t>True</a:t>
                      </a:r>
                      <a:r>
                        <a:rPr lang="zh-CN" sz="900" dirty="0">
                          <a:effectLst/>
                        </a:rPr>
                        <a:t>为选中状态，</a:t>
                      </a:r>
                      <a:r>
                        <a:rPr lang="en-US" sz="900" dirty="0">
                          <a:effectLst/>
                        </a:rPr>
                        <a:t>False</a:t>
                      </a:r>
                      <a:r>
                        <a:rPr lang="zh-CN" sz="900" dirty="0">
                          <a:effectLst/>
                        </a:rPr>
                        <a:t>为未选中状态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6294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选中“普通用户”单选按钮的提示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0" name="图片 6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809750"/>
            <a:ext cx="72009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2484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选中“管理员”单选按钮的提示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4" name="图片 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15" y="1809750"/>
            <a:ext cx="7015169" cy="272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CheckBox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8" name="图片 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035" y="2876550"/>
            <a:ext cx="561393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781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CheckBox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控件的三种状态值及说明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2266950"/>
          <a:ext cx="5886450" cy="22798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3225"/>
                <a:gridCol w="2943225"/>
              </a:tblGrid>
              <a:tr h="56595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71297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QT.Checked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0015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选中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571297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QT.PartiallyChecked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0015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半选中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571297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QT.Unchecked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00150"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未选中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0104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通过复选框的选中状态设置用户权限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6" name="图片 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850" y="1962150"/>
            <a:ext cx="5950300" cy="2635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标题-0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13629" y="1428750"/>
            <a:ext cx="7801771" cy="208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65863" y="2190750"/>
            <a:ext cx="3865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9.4  </a:t>
            </a:r>
            <a:r>
              <a:rPr lang="zh-CN" altLang="en-US" sz="3200" b="1" dirty="0">
                <a:solidFill>
                  <a:schemeClr val="bg1"/>
                </a:solidFill>
              </a:rPr>
              <a:t>选择列表类控件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104900" y="1809750"/>
            <a:ext cx="6934200" cy="1879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选择列表类控件主要以列表形式为用户提供选择的项目，用户可以从中选择项，本节将对</a:t>
            </a:r>
            <a:r>
              <a:rPr lang="en-US" altLang="zh-CN" sz="2000" dirty="0"/>
              <a:t>PyQt5</a:t>
            </a:r>
            <a:r>
              <a:rPr lang="zh-CN" altLang="en-US" sz="2000" dirty="0"/>
              <a:t>中的常用选择列表类控件的使用进行讲解，包括</a:t>
            </a:r>
            <a:r>
              <a:rPr lang="en-US" altLang="zh-CN" sz="2000" dirty="0" err="1"/>
              <a:t>ComboBox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FontComboBox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ListWidget</a:t>
            </a:r>
            <a:r>
              <a:rPr lang="zh-CN" altLang="en-US" sz="2000" dirty="0"/>
              <a:t>等。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752600" y="1581150"/>
            <a:ext cx="5257800" cy="141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ComboBox</a:t>
            </a:r>
            <a:r>
              <a:rPr lang="zh-CN" altLang="en-US" sz="2000" dirty="0"/>
              <a:t>：下拉组合框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FontComboBox</a:t>
            </a:r>
            <a:r>
              <a:rPr lang="zh-CN" altLang="en-US" sz="2000" dirty="0"/>
              <a:t>：字体组合框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ListWidget</a:t>
            </a:r>
            <a:r>
              <a:rPr lang="zh-CN" altLang="en-US" sz="2000" dirty="0"/>
              <a:t>：列表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ComboBox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0" name="图片 1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182" y="2571750"/>
            <a:ext cx="5425636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5532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QComboBox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962150"/>
          <a:ext cx="5886450" cy="26802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3225"/>
                <a:gridCol w="2943225"/>
              </a:tblGrid>
              <a:tr h="295321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98111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addItem()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添加一个下拉列表项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8111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addItems()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从列表中添加下拉选项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8111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currentText()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获取选中项的文本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8111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currentIndex()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获取选中项的索引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8111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itemText(index)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获取索引为</a:t>
                      </a:r>
                      <a:r>
                        <a:rPr lang="en-US" sz="900">
                          <a:effectLst/>
                        </a:rPr>
                        <a:t>index</a:t>
                      </a:r>
                      <a:r>
                        <a:rPr lang="zh-CN" sz="900">
                          <a:effectLst/>
                        </a:rPr>
                        <a:t>的项的文本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8111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setItemText(index,text)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设置索引为</a:t>
                      </a:r>
                      <a:r>
                        <a:rPr lang="en-US" sz="900">
                          <a:effectLst/>
                        </a:rPr>
                        <a:t>index</a:t>
                      </a:r>
                      <a:r>
                        <a:rPr lang="zh-CN" sz="900">
                          <a:effectLst/>
                        </a:rPr>
                        <a:t>的项的文本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8111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count()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获取所有选项的数量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8111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clear()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删除所有选项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使用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ComboBox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控件选择职位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8" name="图片 1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078" y="1733550"/>
            <a:ext cx="5505844" cy="2876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FontComboBox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2" name="图片 1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066" y="2914650"/>
            <a:ext cx="604586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选择“华文琥珀”字体的效果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6" name="图片 1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341" y="1809750"/>
            <a:ext cx="572931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选择“楷体”字体的效果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0" name="图片 1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61" y="1657350"/>
            <a:ext cx="592827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ListWidget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4" name="图片 1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097" y="2442368"/>
            <a:ext cx="5367806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705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QListWidget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504950"/>
          <a:ext cx="5886450" cy="35011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3467"/>
                <a:gridCol w="4622983"/>
              </a:tblGrid>
              <a:tr h="25803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04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addItem()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向列表中添加项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604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addItems()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一次向列表中添加多项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604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insertItem()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在指定索引处插入项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604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setCurrentItem()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设置当前选择项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604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item.setToolTip()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设置提示内容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60472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item.isSelected()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判断项是否选中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1680269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setSelectionMode()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设置列表的选择模式，支持以下</a:t>
                      </a:r>
                      <a:r>
                        <a:rPr lang="en-US" sz="900" dirty="0">
                          <a:effectLst/>
                        </a:rPr>
                        <a:t>5</a:t>
                      </a:r>
                      <a:r>
                        <a:rPr lang="zh-CN" sz="900" dirty="0">
                          <a:effectLst/>
                        </a:rPr>
                        <a:t>种模式。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QAbstractItemView.NoSelection</a:t>
                      </a:r>
                      <a:r>
                        <a:rPr lang="zh-CN" sz="900" dirty="0">
                          <a:effectLst/>
                        </a:rPr>
                        <a:t>：不能选择；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QAbstractItemView.SingleSelection</a:t>
                      </a:r>
                      <a:r>
                        <a:rPr lang="zh-CN" sz="900" dirty="0">
                          <a:effectLst/>
                        </a:rPr>
                        <a:t>：单选；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QAbstractItemView.MultiSelection</a:t>
                      </a:r>
                      <a:r>
                        <a:rPr lang="zh-CN" sz="900" dirty="0">
                          <a:effectLst/>
                        </a:rPr>
                        <a:t>：多选；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QAbstractItemView.ExtendedSelection</a:t>
                      </a:r>
                      <a:r>
                        <a:rPr lang="zh-CN" sz="900" dirty="0">
                          <a:effectLst/>
                        </a:rPr>
                        <a:t>：正常单选，按</a:t>
                      </a:r>
                      <a:r>
                        <a:rPr lang="en-US" sz="900" dirty="0">
                          <a:effectLst/>
                        </a:rPr>
                        <a:t>Ctrl</a:t>
                      </a:r>
                      <a:r>
                        <a:rPr lang="zh-CN" sz="900" dirty="0">
                          <a:effectLst/>
                        </a:rPr>
                        <a:t>或者</a:t>
                      </a:r>
                      <a:r>
                        <a:rPr lang="en-US" sz="900" dirty="0">
                          <a:effectLst/>
                        </a:rPr>
                        <a:t>Shift</a:t>
                      </a:r>
                      <a:r>
                        <a:rPr lang="zh-CN" sz="900" dirty="0">
                          <a:effectLst/>
                        </a:rPr>
                        <a:t>键后，可以多选；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QAbstractItemView.ContiguousSelection</a:t>
                      </a:r>
                      <a:r>
                        <a:rPr lang="zh-CN" sz="900" dirty="0">
                          <a:effectLst/>
                        </a:rPr>
                        <a:t>：与</a:t>
                      </a:r>
                      <a:r>
                        <a:rPr lang="en-US" sz="900" dirty="0" err="1">
                          <a:effectLst/>
                        </a:rPr>
                        <a:t>ExtendedSelection</a:t>
                      </a:r>
                      <a:r>
                        <a:rPr lang="zh-CN" sz="900" dirty="0">
                          <a:effectLst/>
                        </a:rPr>
                        <a:t>类似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467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QListWidget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类的常用方法及说明（续表）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431471"/>
          <a:ext cx="5886450" cy="3492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3467"/>
                <a:gridCol w="4622983"/>
              </a:tblGrid>
              <a:tr h="30265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30356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setSelectionBehavior()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设置选择项的方式，支持以下</a:t>
                      </a:r>
                      <a:r>
                        <a:rPr lang="en-US" sz="900">
                          <a:effectLst/>
                        </a:rPr>
                        <a:t>3</a:t>
                      </a:r>
                      <a:r>
                        <a:rPr lang="zh-CN" sz="900">
                          <a:effectLst/>
                        </a:rPr>
                        <a:t>种方式。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QAbstractItemView.SelectItems</a:t>
                      </a:r>
                      <a:r>
                        <a:rPr lang="zh-CN" sz="900">
                          <a:effectLst/>
                        </a:rPr>
                        <a:t>：选中当前项；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QAbstractItemView.SelectRows</a:t>
                      </a:r>
                      <a:r>
                        <a:rPr lang="zh-CN" sz="900">
                          <a:effectLst/>
                        </a:rPr>
                        <a:t>：选中整行；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QAbstractItemView.SelectColumns</a:t>
                      </a:r>
                      <a:r>
                        <a:rPr lang="zh-CN" sz="900">
                          <a:effectLst/>
                        </a:rPr>
                        <a:t>：选中整列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0551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setWordWrap()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设置是否自动换行，</a:t>
                      </a:r>
                      <a:r>
                        <a:rPr lang="en-US" sz="900">
                          <a:effectLst/>
                        </a:rPr>
                        <a:t>True</a:t>
                      </a:r>
                      <a:r>
                        <a:rPr lang="zh-CN" sz="900">
                          <a:effectLst/>
                        </a:rPr>
                        <a:t>表示自动换行，</a:t>
                      </a:r>
                      <a:r>
                        <a:rPr lang="en-US" sz="900">
                          <a:effectLst/>
                        </a:rPr>
                        <a:t>False</a:t>
                      </a:r>
                      <a:r>
                        <a:rPr lang="zh-CN" sz="900">
                          <a:effectLst/>
                        </a:rPr>
                        <a:t>表示不自动换行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969927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setViewMode()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设置显示模式，有以下两种显示模式。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QListView.ListMode</a:t>
                      </a:r>
                      <a:r>
                        <a:rPr lang="zh-CN" sz="900">
                          <a:effectLst/>
                        </a:rPr>
                        <a:t>：以列表形式显示；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QListView.IconMode</a:t>
                      </a:r>
                      <a:r>
                        <a:rPr lang="zh-CN" sz="900">
                          <a:effectLst/>
                        </a:rPr>
                        <a:t>：以图表形式显示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0551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item.text()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获取项的文本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0551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clear()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删除所有列表项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477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对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QListWidget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列表进行数据绑定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6" name="图片 4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620" y="1581150"/>
            <a:ext cx="484476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单击列表项时弹出提示框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0" name="图片 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75" y="2076223"/>
            <a:ext cx="6963250" cy="223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标题-0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13629" y="1428750"/>
            <a:ext cx="7801771" cy="208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83821" y="2190750"/>
            <a:ext cx="2629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9.5  </a:t>
            </a:r>
            <a:r>
              <a:rPr lang="zh-CN" altLang="en-US" sz="3200" b="1" dirty="0">
                <a:solidFill>
                  <a:schemeClr val="bg1"/>
                </a:solidFill>
              </a:rPr>
              <a:t>容器控件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104900" y="1914875"/>
            <a:ext cx="6934200" cy="1879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容器控件可以将窗口中的控件进行分组处理，使窗口的分类更清晰，常用的容器控件有</a:t>
            </a:r>
            <a:r>
              <a:rPr lang="en-US" altLang="zh-CN" sz="2000" dirty="0" err="1"/>
              <a:t>GroupBox</a:t>
            </a:r>
            <a:r>
              <a:rPr lang="zh-CN" altLang="en-US" sz="2000" dirty="0"/>
              <a:t>分组框、</a:t>
            </a:r>
            <a:r>
              <a:rPr lang="en-US" altLang="zh-CN" sz="2000" dirty="0" err="1"/>
              <a:t>TabWidget</a:t>
            </a:r>
            <a:r>
              <a:rPr lang="zh-CN" altLang="en-US" sz="2000" dirty="0"/>
              <a:t>选项卡和</a:t>
            </a:r>
            <a:r>
              <a:rPr lang="en-US" altLang="zh-CN" sz="2000" dirty="0" err="1"/>
              <a:t>ToolBox</a:t>
            </a:r>
            <a:r>
              <a:rPr lang="zh-CN" altLang="en-US" sz="2000" dirty="0"/>
              <a:t>工具盒，本节将对它们的常用方法及使用方式进行详解。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752600" y="1581150"/>
            <a:ext cx="5257800" cy="141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GroupBox</a:t>
            </a:r>
            <a:r>
              <a:rPr lang="zh-CN" altLang="en-US" sz="2000" dirty="0"/>
              <a:t>：分组框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TabWidget</a:t>
            </a:r>
            <a:r>
              <a:rPr lang="zh-CN" altLang="en-US" sz="2000" dirty="0"/>
              <a:t>：选项卡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ToolBox</a:t>
            </a:r>
            <a:r>
              <a:rPr lang="zh-CN" altLang="en-US" sz="2000" dirty="0"/>
              <a:t>：工具盒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GroupBox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4" name="图片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906" y="2650671"/>
            <a:ext cx="630218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019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QGroupBox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657350"/>
          <a:ext cx="5886450" cy="30792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3328"/>
                <a:gridCol w="4053122"/>
              </a:tblGrid>
              <a:tr h="22089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412398">
                <a:tc>
                  <a:txBody>
                    <a:bodyPr/>
                    <a:lstStyle/>
                    <a:p>
                      <a:pPr marL="5334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setAlignment()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设置对齐方式，包括水平对齐和垂直对齐两种</a:t>
                      </a:r>
                      <a:endParaRPr lang="zh-CN" sz="900">
                        <a:effectLst/>
                      </a:endParaRPr>
                    </a:p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水平对齐方式包括如下</a:t>
                      </a:r>
                      <a:r>
                        <a:rPr lang="en-US" sz="900">
                          <a:effectLst/>
                        </a:rPr>
                        <a:t>4</a:t>
                      </a:r>
                      <a:r>
                        <a:rPr lang="zh-CN" sz="900">
                          <a:effectLst/>
                        </a:rPr>
                        <a:t>种。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Qt.AlignLeft</a:t>
                      </a:r>
                      <a:r>
                        <a:rPr lang="zh-CN" sz="900">
                          <a:effectLst/>
                        </a:rPr>
                        <a:t>：左对齐；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Qt.AlignHCenter</a:t>
                      </a:r>
                      <a:r>
                        <a:rPr lang="zh-CN" sz="900">
                          <a:effectLst/>
                        </a:rPr>
                        <a:t>：水平居中对齐；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Qt.AlignRight</a:t>
                      </a:r>
                      <a:r>
                        <a:rPr lang="zh-CN" sz="900">
                          <a:effectLst/>
                        </a:rPr>
                        <a:t>：右对齐；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Qt.AlignJustify</a:t>
                      </a:r>
                      <a:r>
                        <a:rPr lang="zh-CN" sz="900">
                          <a:effectLst/>
                        </a:rPr>
                        <a:t>：两端对齐</a:t>
                      </a:r>
                      <a:endParaRPr lang="zh-CN" sz="900">
                        <a:effectLst/>
                      </a:endParaRPr>
                    </a:p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垂直对齐方式包括如下</a:t>
                      </a:r>
                      <a:r>
                        <a:rPr lang="en-US" sz="900">
                          <a:effectLst/>
                        </a:rPr>
                        <a:t>3</a:t>
                      </a:r>
                      <a:r>
                        <a:rPr lang="zh-CN" sz="900">
                          <a:effectLst/>
                        </a:rPr>
                        <a:t>种。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Qt.AlignTop</a:t>
                      </a:r>
                      <a:r>
                        <a:rPr lang="zh-CN" sz="900">
                          <a:effectLst/>
                        </a:rPr>
                        <a:t>：顶部对齐；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Qt.AlignVCenter</a:t>
                      </a:r>
                      <a:r>
                        <a:rPr lang="zh-CN" sz="900">
                          <a:effectLst/>
                        </a:rPr>
                        <a:t>：垂直居中；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Qt.AlignBottom</a:t>
                      </a:r>
                      <a:r>
                        <a:rPr lang="zh-CN" sz="900">
                          <a:effectLst/>
                        </a:rPr>
                        <a:t>：底部对齐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22977">
                <a:tc>
                  <a:txBody>
                    <a:bodyPr/>
                    <a:lstStyle/>
                    <a:p>
                      <a:pPr marL="5334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setTitle()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设置分组标题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22977">
                <a:tc>
                  <a:txBody>
                    <a:bodyPr/>
                    <a:lstStyle/>
                    <a:p>
                      <a:pPr marL="5334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setFlat()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设置是否以扁平样式显示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TabWidget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2" name="图片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497" y="2724150"/>
            <a:ext cx="6031006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477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3200" dirty="0" err="1">
                <a:latin typeface="+mj-lt"/>
                <a:ea typeface="+mj-ea"/>
                <a:cs typeface="+mj-cs"/>
              </a:rPr>
              <a:t>QTabWidget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885950"/>
          <a:ext cx="5886450" cy="2600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9360"/>
                <a:gridCol w="4357090"/>
              </a:tblGrid>
              <a:tr h="322352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32539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addTab()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添加选项卡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2539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inserTab()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插入选项卡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2539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removeTab()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删除选项卡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2539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currentWidget()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获取当前选项卡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2539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currentIndex()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获取当前选项卡的索引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2539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setCurrentIndex()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设置当前选项卡的索引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25398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setCurrentWidget()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设置当前选项卡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3914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QTabWidget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类的常用方法及说明（续表）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809750"/>
          <a:ext cx="5886450" cy="28030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9360"/>
                <a:gridCol w="4357090"/>
              </a:tblGrid>
              <a:tr h="2661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43986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setTabPosition()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设置选项卡的标题位置，支持以下</a:t>
                      </a:r>
                      <a:r>
                        <a:rPr lang="en-US" sz="900">
                          <a:effectLst/>
                        </a:rPr>
                        <a:t>4</a:t>
                      </a:r>
                      <a:r>
                        <a:rPr lang="zh-CN" sz="900">
                          <a:effectLst/>
                        </a:rPr>
                        <a:t>个位置。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QTabWidget.North</a:t>
                      </a:r>
                      <a:r>
                        <a:rPr lang="zh-CN" sz="900">
                          <a:effectLst/>
                        </a:rPr>
                        <a:t>：标题在北方，即上边，如图</a:t>
                      </a:r>
                      <a:r>
                        <a:rPr lang="en-US" sz="900">
                          <a:effectLst/>
                        </a:rPr>
                        <a:t>9.53</a:t>
                      </a:r>
                      <a:r>
                        <a:rPr lang="zh-CN" sz="900">
                          <a:effectLst/>
                        </a:rPr>
                        <a:t>所示，这是默认值；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QTabWidget.South</a:t>
                      </a:r>
                      <a:r>
                        <a:rPr lang="zh-CN" sz="900">
                          <a:effectLst/>
                        </a:rPr>
                        <a:t>：标题在南方，即下边，如图</a:t>
                      </a:r>
                      <a:r>
                        <a:rPr lang="en-US" sz="900">
                          <a:effectLst/>
                        </a:rPr>
                        <a:t>9.54</a:t>
                      </a:r>
                      <a:r>
                        <a:rPr lang="zh-CN" sz="900">
                          <a:effectLst/>
                        </a:rPr>
                        <a:t>所示；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QTabWidget.West</a:t>
                      </a:r>
                      <a:r>
                        <a:rPr lang="zh-CN" sz="900">
                          <a:effectLst/>
                        </a:rPr>
                        <a:t>：标题在西方，即左边，如图</a:t>
                      </a:r>
                      <a:r>
                        <a:rPr lang="en-US" sz="900">
                          <a:effectLst/>
                        </a:rPr>
                        <a:t>9.55</a:t>
                      </a:r>
                      <a:r>
                        <a:rPr lang="zh-CN" sz="900">
                          <a:effectLst/>
                        </a:rPr>
                        <a:t>所示；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QTabWidget.East</a:t>
                      </a:r>
                      <a:r>
                        <a:rPr lang="zh-CN" sz="900">
                          <a:effectLst/>
                        </a:rPr>
                        <a:t>：题在东方，即右边，如图</a:t>
                      </a:r>
                      <a:r>
                        <a:rPr lang="en-US" sz="900">
                          <a:effectLst/>
                        </a:rPr>
                        <a:t>9.56</a:t>
                      </a:r>
                      <a:r>
                        <a:rPr lang="zh-CN" sz="900">
                          <a:effectLst/>
                        </a:rPr>
                        <a:t>所示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559597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setTabsClosable()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设置是否可以独立关闭选项卡，</a:t>
                      </a:r>
                      <a:r>
                        <a:rPr lang="en-US" sz="900">
                          <a:effectLst/>
                        </a:rPr>
                        <a:t>True</a:t>
                      </a:r>
                      <a:r>
                        <a:rPr lang="zh-CN" sz="900">
                          <a:effectLst/>
                        </a:rPr>
                        <a:t>表示可以关闭，在每个选项卡旁边会有个关闭按钮，如图</a:t>
                      </a:r>
                      <a:r>
                        <a:rPr lang="en-US" sz="900">
                          <a:effectLst/>
                        </a:rPr>
                        <a:t>9.57</a:t>
                      </a:r>
                      <a:r>
                        <a:rPr lang="zh-CN" sz="900">
                          <a:effectLst/>
                        </a:rPr>
                        <a:t>所示；</a:t>
                      </a:r>
                      <a:r>
                        <a:rPr lang="en-US" sz="900">
                          <a:effectLst/>
                        </a:rPr>
                        <a:t>False</a:t>
                      </a:r>
                      <a:r>
                        <a:rPr lang="zh-CN" sz="900">
                          <a:effectLst/>
                        </a:rPr>
                        <a:t>表示不可以关闭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686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setTabText()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设置选项卡标题文本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6869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tabText()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获取指定选项卡的标题文本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设置选项卡的标题位置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54499"/>
            <a:ext cx="8382000" cy="1515894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239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2000" dirty="0">
                <a:latin typeface="+mj-lt"/>
                <a:ea typeface="+mj-ea"/>
                <a:cs typeface="+mj-cs"/>
              </a:rPr>
              <a:t>通过将</a:t>
            </a:r>
            <a:r>
              <a:rPr lang="en-US" altLang="zh-CN" sz="2000" dirty="0" err="1">
                <a:latin typeface="+mj-lt"/>
                <a:ea typeface="+mj-ea"/>
                <a:cs typeface="+mj-cs"/>
              </a:rPr>
              <a:t>setTabsClosable</a:t>
            </a:r>
            <a:r>
              <a:rPr lang="en-US" altLang="zh-CN" sz="2000" dirty="0">
                <a:latin typeface="+mj-lt"/>
                <a:ea typeface="+mj-ea"/>
                <a:cs typeface="+mj-cs"/>
              </a:rPr>
              <a:t>()</a:t>
            </a:r>
            <a:r>
              <a:rPr lang="zh-CN" altLang="en-US" sz="2000" dirty="0">
                <a:latin typeface="+mj-lt"/>
                <a:ea typeface="+mj-ea"/>
                <a:cs typeface="+mj-cs"/>
              </a:rPr>
              <a:t>方法设置为</a:t>
            </a:r>
            <a:r>
              <a:rPr lang="en-US" altLang="zh-CN" sz="2000" dirty="0">
                <a:latin typeface="+mj-lt"/>
                <a:ea typeface="+mj-ea"/>
                <a:cs typeface="+mj-cs"/>
              </a:rPr>
              <a:t>True</a:t>
            </a:r>
            <a:r>
              <a:rPr lang="zh-CN" altLang="en-US" sz="2000" dirty="0">
                <a:latin typeface="+mj-lt"/>
                <a:ea typeface="+mj-ea"/>
                <a:cs typeface="+mj-cs"/>
              </a:rPr>
              <a:t>可以单独关闭选项卡</a:t>
            </a:r>
            <a:endParaRPr lang="zh-CN" altLang="en-US" sz="20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4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815" y="2114550"/>
            <a:ext cx="6152369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添加和删除选项卡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38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733550"/>
            <a:ext cx="4495800" cy="3052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324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显示当前选择的选项卡及其索引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2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370" y="1809750"/>
            <a:ext cx="641926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ToolBox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6" name="图片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359" y="2407444"/>
            <a:ext cx="4765281" cy="1395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QToolBox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733550"/>
          <a:ext cx="5886450" cy="29126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3225"/>
                <a:gridCol w="2943225"/>
              </a:tblGrid>
              <a:tr h="288812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addItem()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添加选项卡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setCurrentIndex()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设置当前选中的选项卡索引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setItemIcon()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设置选项卡的图标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setItemText()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设置选项卡的标题文本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setItemEnabled()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设置选项卡是否可用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inserItem()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插入新选项卡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removeItem()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移除选项卡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itemText()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获取选项卡的文本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291541"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currentIndex()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获取当前选项卡的索引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单击选项卡标题，切换显示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499896"/>
            <a:ext cx="6019800" cy="3434054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标题-0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13629" y="1428750"/>
            <a:ext cx="7801771" cy="208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65863" y="2190750"/>
            <a:ext cx="3865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9.6  </a:t>
            </a:r>
            <a:r>
              <a:rPr lang="zh-CN" altLang="en-US" sz="3200" b="1" dirty="0">
                <a:solidFill>
                  <a:schemeClr val="bg1"/>
                </a:solidFill>
              </a:rPr>
              <a:t>日期时间类控件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257300" y="1733550"/>
            <a:ext cx="6629400" cy="141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日期时间类控件主要是对日期、时间等信息进行编辑、选择或者显示，</a:t>
            </a:r>
            <a:r>
              <a:rPr lang="en-US" altLang="zh-CN" sz="2000" dirty="0"/>
              <a:t>PyQt5</a:t>
            </a:r>
            <a:r>
              <a:rPr lang="zh-CN" altLang="en-US" sz="2000" dirty="0"/>
              <a:t>中提供了</a:t>
            </a:r>
            <a:r>
              <a:rPr lang="en-US" altLang="zh-CN" sz="2000" dirty="0"/>
              <a:t>Date/</a:t>
            </a:r>
            <a:r>
              <a:rPr lang="en-US" altLang="zh-CN" sz="2000" dirty="0" err="1"/>
              <a:t>TimeEdit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DateEdit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TimeEdit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CalendarWidget</a:t>
            </a:r>
            <a:r>
              <a:rPr lang="en-US" altLang="zh-CN" sz="2000" dirty="0"/>
              <a:t> 4</a:t>
            </a:r>
            <a:r>
              <a:rPr lang="zh-CN" altLang="en-US" sz="2000" dirty="0"/>
              <a:t>个相关的控件。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1752600" y="1581150"/>
            <a:ext cx="5257800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日期和（或）时间控件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/>
              <a:t>CalendarWidget</a:t>
            </a:r>
            <a:r>
              <a:rPr lang="zh-CN" altLang="en-US" sz="2000" dirty="0"/>
              <a:t>：日历控件</a:t>
            </a:r>
            <a:endParaRPr lang="zh-CN" altLang="en-US" sz="2000" dirty="0"/>
          </a:p>
        </p:txBody>
      </p:sp>
    </p:spTree>
  </p:cSld>
  <p:clrMapOvr>
    <a:masterClrMapping/>
  </p:clrMapOvr>
  <p:transition>
    <p:wip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2338"/>
            <a:ext cx="8229600" cy="880222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9342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QDateTimeEdit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17430" y="1399540"/>
          <a:ext cx="5709140" cy="3534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3293"/>
                <a:gridCol w="4225847"/>
              </a:tblGrid>
              <a:tr h="153352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setTime()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设置时间，默认为</a:t>
                      </a:r>
                      <a:r>
                        <a:rPr lang="en-US" sz="900">
                          <a:effectLst/>
                        </a:rPr>
                        <a:t>0:00:00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setMaximumTime()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设置最大时间，默认为</a:t>
                      </a:r>
                      <a:r>
                        <a:rPr lang="en-US" sz="900">
                          <a:effectLst/>
                        </a:rPr>
                        <a:t>23:59:59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setMinimumTime()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设置最小时间，默认为</a:t>
                      </a:r>
                      <a:r>
                        <a:rPr lang="en-US" sz="900">
                          <a:effectLst/>
                        </a:rPr>
                        <a:t>0:00:00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843746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setTimeSpec()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获取显示的时间标准，支持以下</a:t>
                      </a:r>
                      <a:r>
                        <a:rPr lang="en-US" sz="900">
                          <a:effectLst/>
                        </a:rPr>
                        <a:t>4</a:t>
                      </a:r>
                      <a:r>
                        <a:rPr lang="zh-CN" sz="900">
                          <a:effectLst/>
                        </a:rPr>
                        <a:t>种值。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</a:t>
                      </a:r>
                      <a:r>
                        <a:rPr lang="en-US" sz="900">
                          <a:effectLst/>
                        </a:rPr>
                        <a:t> LocalTime</a:t>
                      </a:r>
                      <a:r>
                        <a:rPr lang="zh-CN" sz="900">
                          <a:effectLst/>
                        </a:rPr>
                        <a:t>：本地时间；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</a:t>
                      </a:r>
                      <a:r>
                        <a:rPr lang="en-US" sz="900">
                          <a:effectLst/>
                        </a:rPr>
                        <a:t> UTC</a:t>
                      </a:r>
                      <a:r>
                        <a:rPr lang="zh-CN" sz="900">
                          <a:effectLst/>
                        </a:rPr>
                        <a:t>：世界标准时间；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OffsetFromUTC</a:t>
                      </a:r>
                      <a:r>
                        <a:rPr lang="zh-CN" sz="900">
                          <a:effectLst/>
                        </a:rPr>
                        <a:t>：与</a:t>
                      </a:r>
                      <a:r>
                        <a:rPr lang="en-US" sz="900">
                          <a:effectLst/>
                        </a:rPr>
                        <a:t>UTC</a:t>
                      </a:r>
                      <a:r>
                        <a:rPr lang="zh-CN" sz="900">
                          <a:effectLst/>
                        </a:rPr>
                        <a:t>等效的时间；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</a:t>
                      </a:r>
                      <a:r>
                        <a:rPr lang="en-US" sz="900">
                          <a:effectLst/>
                        </a:rPr>
                        <a:t> TimeZone</a:t>
                      </a:r>
                      <a:r>
                        <a:rPr lang="zh-CN" sz="900">
                          <a:effectLst/>
                        </a:rPr>
                        <a:t>：时区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setDateTime()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设置日期时间，默认为</a:t>
                      </a:r>
                      <a:r>
                        <a:rPr lang="en-US" sz="900">
                          <a:effectLst/>
                        </a:rPr>
                        <a:t>2000/1/1 0:00:00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setDate()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设置日期，默认为</a:t>
                      </a:r>
                      <a:r>
                        <a:rPr lang="en-US" sz="900">
                          <a:effectLst/>
                        </a:rPr>
                        <a:t>2000/1/1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setMaximumDate()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设置最大日期，默认为</a:t>
                      </a:r>
                      <a:r>
                        <a:rPr lang="en-US" sz="900">
                          <a:effectLst/>
                        </a:rPr>
                        <a:t>9999/12/31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setMinimumDate()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设置最小日期，默认为</a:t>
                      </a:r>
                      <a:r>
                        <a:rPr lang="en-US" sz="900">
                          <a:effectLst/>
                        </a:rPr>
                        <a:t>1752/9/14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843746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setDisplayFormat()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设置日期、时间的显示样式。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日期样式（</a:t>
                      </a:r>
                      <a:r>
                        <a:rPr lang="en-US" sz="900">
                          <a:effectLst/>
                        </a:rPr>
                        <a:t>yyyy</a:t>
                      </a:r>
                      <a:r>
                        <a:rPr lang="zh-CN" sz="900">
                          <a:effectLst/>
                        </a:rPr>
                        <a:t>表示</a:t>
                      </a:r>
                      <a:r>
                        <a:rPr lang="en-US" sz="900">
                          <a:effectLst/>
                        </a:rPr>
                        <a:t>4</a:t>
                      </a:r>
                      <a:r>
                        <a:rPr lang="zh-CN" sz="900">
                          <a:effectLst/>
                        </a:rPr>
                        <a:t>位数年份，</a:t>
                      </a:r>
                      <a:r>
                        <a:rPr lang="en-US" sz="900">
                          <a:effectLst/>
                        </a:rPr>
                        <a:t>MM</a:t>
                      </a:r>
                      <a:r>
                        <a:rPr lang="zh-CN" sz="900">
                          <a:effectLst/>
                        </a:rPr>
                        <a:t>表示</a:t>
                      </a:r>
                      <a:r>
                        <a:rPr lang="en-US" sz="900">
                          <a:effectLst/>
                        </a:rPr>
                        <a:t>2</a:t>
                      </a:r>
                      <a:r>
                        <a:rPr lang="zh-CN" sz="900">
                          <a:effectLst/>
                        </a:rPr>
                        <a:t>位数月份，</a:t>
                      </a:r>
                      <a:r>
                        <a:rPr lang="en-US" sz="900">
                          <a:effectLst/>
                        </a:rPr>
                        <a:t>dd</a:t>
                      </a:r>
                      <a:r>
                        <a:rPr lang="zh-CN" sz="900">
                          <a:effectLst/>
                        </a:rPr>
                        <a:t>表示</a:t>
                      </a:r>
                      <a:r>
                        <a:rPr lang="en-US" sz="900">
                          <a:effectLst/>
                        </a:rPr>
                        <a:t>2</a:t>
                      </a:r>
                      <a:r>
                        <a:rPr lang="zh-CN" sz="900">
                          <a:effectLst/>
                        </a:rPr>
                        <a:t>位数日）：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yyyy/MM/dd</a:t>
                      </a:r>
                      <a:r>
                        <a:rPr lang="zh-CN" sz="900">
                          <a:effectLst/>
                        </a:rPr>
                        <a:t>、</a:t>
                      </a:r>
                      <a:r>
                        <a:rPr lang="en-US" sz="900">
                          <a:effectLst/>
                        </a:rPr>
                        <a:t>yyyy/M/d</a:t>
                      </a:r>
                      <a:r>
                        <a:rPr lang="zh-CN" sz="900">
                          <a:effectLst/>
                        </a:rPr>
                        <a:t>、</a:t>
                      </a:r>
                      <a:r>
                        <a:rPr lang="en-US" sz="900">
                          <a:effectLst/>
                        </a:rPr>
                        <a:t>yy/MM/dd</a:t>
                      </a:r>
                      <a:r>
                        <a:rPr lang="zh-CN" sz="900">
                          <a:effectLst/>
                        </a:rPr>
                        <a:t>、</a:t>
                      </a:r>
                      <a:r>
                        <a:rPr lang="en-US" sz="900">
                          <a:effectLst/>
                        </a:rPr>
                        <a:t>yy/M/d</a:t>
                      </a:r>
                      <a:r>
                        <a:rPr lang="zh-CN" sz="900">
                          <a:effectLst/>
                        </a:rPr>
                        <a:t>、</a:t>
                      </a:r>
                      <a:r>
                        <a:rPr lang="en-US" sz="900">
                          <a:effectLst/>
                        </a:rPr>
                        <a:t>yy/MM</a:t>
                      </a:r>
                      <a:r>
                        <a:rPr lang="zh-CN" sz="900">
                          <a:effectLst/>
                        </a:rPr>
                        <a:t>和</a:t>
                      </a:r>
                      <a:r>
                        <a:rPr lang="en-US" sz="900">
                          <a:effectLst/>
                        </a:rPr>
                        <a:t>Mm/dd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时间样式（</a:t>
                      </a:r>
                      <a:r>
                        <a:rPr lang="en-US" sz="900">
                          <a:effectLst/>
                        </a:rPr>
                        <a:t>HH</a:t>
                      </a:r>
                      <a:r>
                        <a:rPr lang="zh-CN" sz="900">
                          <a:effectLst/>
                        </a:rPr>
                        <a:t>表示</a:t>
                      </a:r>
                      <a:r>
                        <a:rPr lang="en-US" sz="900">
                          <a:effectLst/>
                        </a:rPr>
                        <a:t>2</a:t>
                      </a:r>
                      <a:r>
                        <a:rPr lang="zh-CN" sz="900">
                          <a:effectLst/>
                        </a:rPr>
                        <a:t>位数小时，</a:t>
                      </a:r>
                      <a:r>
                        <a:rPr lang="en-US" sz="900">
                          <a:effectLst/>
                        </a:rPr>
                        <a:t>mm</a:t>
                      </a:r>
                      <a:r>
                        <a:rPr lang="zh-CN" sz="900">
                          <a:effectLst/>
                        </a:rPr>
                        <a:t>表示</a:t>
                      </a:r>
                      <a:r>
                        <a:rPr lang="en-US" sz="900">
                          <a:effectLst/>
                        </a:rPr>
                        <a:t>2</a:t>
                      </a:r>
                      <a:r>
                        <a:rPr lang="zh-CN" sz="900">
                          <a:effectLst/>
                        </a:rPr>
                        <a:t>位数分钟，</a:t>
                      </a:r>
                      <a:r>
                        <a:rPr lang="en-US" sz="900">
                          <a:effectLst/>
                        </a:rPr>
                        <a:t>ss</a:t>
                      </a:r>
                      <a:r>
                        <a:rPr lang="zh-CN" sz="900">
                          <a:effectLst/>
                        </a:rPr>
                        <a:t>表示</a:t>
                      </a:r>
                      <a:r>
                        <a:rPr lang="en-US" sz="900">
                          <a:effectLst/>
                        </a:rPr>
                        <a:t>2</a:t>
                      </a:r>
                      <a:r>
                        <a:rPr lang="zh-CN" sz="900">
                          <a:effectLst/>
                        </a:rPr>
                        <a:t>位数秒钟）：</a:t>
                      </a:r>
                      <a:endParaRPr lang="zh-CN" sz="900">
                        <a:effectLst/>
                      </a:endParaRPr>
                    </a:p>
                    <a:p>
                      <a:pPr marL="342900" lvl="0" indent="-342900" algn="just">
                        <a:lnSpc>
                          <a:spcPts val="1400"/>
                        </a:lnSpc>
                        <a:buFont typeface="Wingdings" panose="05000000000000000000" pitchFamily="2" charset="2"/>
                        <a:buChar char=""/>
                      </a:pPr>
                      <a:r>
                        <a:rPr lang="en-US" sz="900">
                          <a:effectLst/>
                        </a:rPr>
                        <a:t>HH:mm:ss</a:t>
                      </a:r>
                      <a:r>
                        <a:rPr lang="zh-CN" sz="900">
                          <a:effectLst/>
                        </a:rPr>
                        <a:t>、</a:t>
                      </a:r>
                      <a:r>
                        <a:rPr lang="en-US" sz="900">
                          <a:effectLst/>
                        </a:rPr>
                        <a:t>HH:mm</a:t>
                      </a:r>
                      <a:r>
                        <a:rPr lang="zh-CN" sz="900">
                          <a:effectLst/>
                        </a:rPr>
                        <a:t>、</a:t>
                      </a:r>
                      <a:r>
                        <a:rPr lang="en-US" sz="900">
                          <a:effectLst/>
                        </a:rPr>
                        <a:t>mm:ss</a:t>
                      </a:r>
                      <a:r>
                        <a:rPr lang="zh-CN" sz="900">
                          <a:effectLst/>
                        </a:rPr>
                        <a:t>、</a:t>
                      </a:r>
                      <a:r>
                        <a:rPr lang="en-US" sz="900">
                          <a:effectLst/>
                        </a:rPr>
                        <a:t>H:m</a:t>
                      </a:r>
                      <a:r>
                        <a:rPr lang="zh-CN" sz="900">
                          <a:effectLst/>
                        </a:rPr>
                        <a:t>和</a:t>
                      </a:r>
                      <a:r>
                        <a:rPr lang="en-US" sz="900">
                          <a:effectLst/>
                        </a:rPr>
                        <a:t>m:s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date()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获取显示的日期，返回值为</a:t>
                      </a:r>
                      <a:r>
                        <a:rPr lang="en-US" sz="900">
                          <a:effectLst/>
                        </a:rPr>
                        <a:t>QDate</a:t>
                      </a:r>
                      <a:r>
                        <a:rPr lang="zh-CN" sz="900">
                          <a:effectLst/>
                        </a:rPr>
                        <a:t>类型，如</a:t>
                      </a:r>
                      <a:r>
                        <a:rPr lang="en-US" sz="900">
                          <a:effectLst/>
                        </a:rPr>
                        <a:t>QDate(2000,1,1)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time()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获取显示的时间，返回值为</a:t>
                      </a:r>
                      <a:r>
                        <a:rPr lang="en-US" sz="900">
                          <a:effectLst/>
                        </a:rPr>
                        <a:t>QTime</a:t>
                      </a:r>
                      <a:r>
                        <a:rPr lang="zh-CN" sz="900">
                          <a:effectLst/>
                        </a:rPr>
                        <a:t>类型，如</a:t>
                      </a:r>
                      <a:r>
                        <a:rPr lang="en-US" sz="900">
                          <a:effectLst/>
                        </a:rPr>
                        <a:t>QTime(0,0)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  <a:tr h="155323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dateTime()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获取显示的日期时间，返回值为</a:t>
                      </a:r>
                      <a:r>
                        <a:rPr lang="en-US" sz="900" dirty="0" err="1">
                          <a:effectLst/>
                        </a:rPr>
                        <a:t>QDateTime</a:t>
                      </a:r>
                      <a:r>
                        <a:rPr lang="zh-CN" sz="900" dirty="0">
                          <a:effectLst/>
                        </a:rPr>
                        <a:t>类型，如</a:t>
                      </a:r>
                      <a:r>
                        <a:rPr lang="en-US" sz="900" dirty="0" err="1">
                          <a:effectLst/>
                        </a:rPr>
                        <a:t>QDateTime</a:t>
                      </a:r>
                      <a:r>
                        <a:rPr lang="en-US" sz="900" dirty="0">
                          <a:effectLst/>
                        </a:rPr>
                        <a:t>(2000, 1, 1, 0, 0)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6514" marR="66514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858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QDateTimeEdit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类的常用信号及说明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2120710"/>
          <a:ext cx="5886450" cy="2203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3225"/>
                <a:gridCol w="2943225"/>
              </a:tblGrid>
              <a:tr h="54703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信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号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552202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timeChanged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时间发生改变时发射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552202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dateChanged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日期发生改变时发射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552202">
                <a:tc>
                  <a:txBody>
                    <a:bodyPr/>
                    <a:lstStyle/>
                    <a:p>
                      <a:pPr marL="1066800"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dateTimeChanged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800100"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日期或者时间发生改变时发射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日期时间类控件的显示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2" name="图片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903" y="1962150"/>
            <a:ext cx="461219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3200" dirty="0" err="1">
                <a:latin typeface="+mj-lt"/>
                <a:ea typeface="+mj-ea"/>
                <a:cs typeface="+mj-cs"/>
              </a:rPr>
              <a:t>CalendarWidget</a:t>
            </a:r>
            <a:r>
              <a:rPr lang="zh-CN" altLang="en-US" sz="3200" dirty="0">
                <a:latin typeface="+mj-lt"/>
                <a:ea typeface="+mj-ea"/>
                <a:cs typeface="+mj-cs"/>
              </a:rPr>
              <a:t>控件图标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6" name="图片 1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361" y="2724150"/>
            <a:ext cx="5831278" cy="128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1628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2800" dirty="0" err="1">
                <a:latin typeface="+mj-lt"/>
                <a:ea typeface="+mj-ea"/>
                <a:cs typeface="+mj-cs"/>
              </a:rPr>
              <a:t>QCalendarWidget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类的常用方法及说明</a:t>
            </a:r>
            <a:endParaRPr lang="zh-CN" altLang="en-U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86572" y="1352550"/>
          <a:ext cx="5570855" cy="3607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5036"/>
                <a:gridCol w="3835819"/>
              </a:tblGrid>
              <a:tr h="149638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4903" marR="6490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4903" marR="64903" marT="0" marB="0" anchor="ctr"/>
                </a:tc>
              </a:tr>
              <a:tr h="15156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setSelectedDate()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设置选中的日期，默认为当前日期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</a:tr>
              <a:tr h="15156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setMinimumDate()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设置最小日期，默认为</a:t>
                      </a:r>
                      <a:r>
                        <a:rPr lang="en-US" sz="900">
                          <a:effectLst/>
                        </a:rPr>
                        <a:t>1752/9/14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</a:tr>
              <a:tr h="15156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setMaximumDate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设置最大日期，默认为</a:t>
                      </a:r>
                      <a:r>
                        <a:rPr lang="en-US" sz="900">
                          <a:effectLst/>
                        </a:rPr>
                        <a:t>9999/12/31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</a:tr>
              <a:tr h="132811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setFirstDayOfWeek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设置一周的第一天，取值如下。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Qt.Monday</a:t>
                      </a:r>
                      <a:r>
                        <a:rPr lang="zh-CN" sz="900">
                          <a:effectLst/>
                        </a:rPr>
                        <a:t>：星期一；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Qt.Tuesday</a:t>
                      </a:r>
                      <a:r>
                        <a:rPr lang="zh-CN" sz="900">
                          <a:effectLst/>
                        </a:rPr>
                        <a:t>：星期二；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Qt.Wednesday</a:t>
                      </a:r>
                      <a:r>
                        <a:rPr lang="zh-CN" sz="900">
                          <a:effectLst/>
                        </a:rPr>
                        <a:t>：星期三；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Qt.Thursday</a:t>
                      </a:r>
                      <a:r>
                        <a:rPr lang="zh-CN" sz="900">
                          <a:effectLst/>
                        </a:rPr>
                        <a:t>：星期四；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Qt.Friday</a:t>
                      </a:r>
                      <a:r>
                        <a:rPr lang="zh-CN" sz="900">
                          <a:effectLst/>
                        </a:rPr>
                        <a:t>：星期五；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Qt.Saturday</a:t>
                      </a:r>
                      <a:r>
                        <a:rPr lang="zh-CN" sz="900">
                          <a:effectLst/>
                        </a:rPr>
                        <a:t>：星期六；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Qt.Sunday</a:t>
                      </a:r>
                      <a:r>
                        <a:rPr lang="zh-CN" sz="900">
                          <a:effectLst/>
                        </a:rPr>
                        <a:t>：星期日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</a:tr>
              <a:tr h="151561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setGridVisible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设置是否显示网格线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</a:tr>
              <a:tr h="486774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setSelectionMode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设置选择模式，取值如下。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QCalendarWidget.NoSelection</a:t>
                      </a:r>
                      <a:r>
                        <a:rPr lang="zh-CN" sz="900">
                          <a:effectLst/>
                        </a:rPr>
                        <a:t>：不能选中日期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QCalendarWidget.SingleSelection</a:t>
                      </a:r>
                      <a:r>
                        <a:rPr lang="zh-CN" sz="900">
                          <a:effectLst/>
                        </a:rPr>
                        <a:t>：可以选中一个日期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</a:tr>
              <a:tr h="823309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setHorizontalHeaderFormat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设置水平头部格式，分别如下。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QCalendarWidget.NoHorizontalHeader</a:t>
                      </a:r>
                      <a:r>
                        <a:rPr lang="zh-CN" sz="900" dirty="0">
                          <a:effectLst/>
                        </a:rPr>
                        <a:t>：不显示水平头部；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QCalendarWidget.SingleLetterDayNames</a:t>
                      </a:r>
                      <a:r>
                        <a:rPr lang="zh-CN" sz="900" dirty="0">
                          <a:effectLst/>
                        </a:rPr>
                        <a:t>：“周”；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QCalendarWidget.ShortDayNames</a:t>
                      </a:r>
                      <a:r>
                        <a:rPr lang="zh-CN" sz="900" dirty="0">
                          <a:effectLst/>
                        </a:rPr>
                        <a:t>：简短天的名称，如“周一”；</a:t>
                      </a:r>
                      <a:endParaRPr lang="zh-CN" sz="900" dirty="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◆ </a:t>
                      </a:r>
                      <a:r>
                        <a:rPr lang="en-US" sz="900" dirty="0" err="1">
                          <a:effectLst/>
                        </a:rPr>
                        <a:t>QCalendarWidget.LongDayNames</a:t>
                      </a:r>
                      <a:r>
                        <a:rPr lang="zh-CN" sz="900" dirty="0">
                          <a:effectLst/>
                        </a:rPr>
                        <a:t>：完整天的名称，如“星期一”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4903" marR="64903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73152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en-US" altLang="zh-CN" sz="2800" dirty="0" err="1">
                <a:latin typeface="+mj-lt"/>
                <a:ea typeface="+mj-ea"/>
                <a:cs typeface="+mj-cs"/>
              </a:rPr>
              <a:t>QCalendarWidget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类的常用方法及说明（续表）</a:t>
            </a:r>
            <a:endParaRPr lang="zh-CN" altLang="en-U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28775" y="1809750"/>
          <a:ext cx="5886450" cy="28456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3328"/>
                <a:gridCol w="4053122"/>
              </a:tblGrid>
              <a:tr h="34524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方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法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lang="zh-CN" sz="900" kern="100">
                          <a:effectLst/>
                        </a:rPr>
                        <a:t>说</a:t>
                      </a:r>
                      <a:r>
                        <a:rPr lang="en-US" sz="900" kern="100">
                          <a:effectLst/>
                        </a:rPr>
                        <a:t>    </a:t>
                      </a:r>
                      <a:r>
                        <a:rPr lang="zh-CN" sz="900" kern="100">
                          <a:effectLst/>
                        </a:rPr>
                        <a:t>明</a:t>
                      </a:r>
                      <a:endParaRPr lang="zh-CN" sz="900" kern="100"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106415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setVerticalHeaderFormat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设置对齐方式，有水平和垂直两种，分别如下。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QCalendarWidget.NoVerticalHeader</a:t>
                      </a:r>
                      <a:r>
                        <a:rPr lang="zh-CN" sz="900">
                          <a:effectLst/>
                        </a:rPr>
                        <a:t>：不显示垂直头部；</a:t>
                      </a:r>
                      <a:endParaRPr lang="zh-CN" sz="900">
                        <a:effectLst/>
                      </a:endParaRPr>
                    </a:p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◆ </a:t>
                      </a:r>
                      <a:r>
                        <a:rPr lang="en-US" sz="900">
                          <a:effectLst/>
                        </a:rPr>
                        <a:t>QCalendarWidget.ISOWeekNumbers</a:t>
                      </a:r>
                      <a:r>
                        <a:rPr lang="zh-CN" sz="900">
                          <a:effectLst/>
                        </a:rPr>
                        <a:t>：以星期数字显示垂直头部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8507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setNavigationBarVisible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设置是否显示导航栏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8507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setDateEditEnabled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设置是否可以编辑日期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8507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setDateEditAcceptDelay 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>
                          <a:effectLst/>
                        </a:rPr>
                        <a:t>设置编辑日期的最长间隔，默认为</a:t>
                      </a:r>
                      <a:r>
                        <a:rPr lang="en-US" sz="900">
                          <a:effectLst/>
                        </a:rPr>
                        <a:t>1500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8507"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en-US" sz="900">
                          <a:effectLst/>
                        </a:rPr>
                        <a:t>selectedDate()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</a:pPr>
                      <a:r>
                        <a:rPr lang="zh-CN" sz="900" dirty="0">
                          <a:effectLst/>
                        </a:rPr>
                        <a:t>获取选择的日期，返回值为</a:t>
                      </a:r>
                      <a:r>
                        <a:rPr lang="en-US" sz="900" dirty="0" err="1">
                          <a:effectLst/>
                        </a:rPr>
                        <a:t>QDate</a:t>
                      </a:r>
                      <a:r>
                        <a:rPr lang="zh-CN" sz="900" dirty="0">
                          <a:effectLst/>
                        </a:rPr>
                        <a:t>类型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日历控件效果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78" name="图片 1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365" y="1809750"/>
            <a:ext cx="332527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1143000" y="819150"/>
            <a:ext cx="64770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在弹出对话框中显示选中的日期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02" name="图片 1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44" y="1885950"/>
            <a:ext cx="2790912" cy="2623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标题-03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19200" y="1504950"/>
            <a:ext cx="7420771" cy="198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10692" y="2154021"/>
            <a:ext cx="2008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</a:rPr>
              <a:t>9.7  </a:t>
            </a:r>
            <a:r>
              <a:rPr lang="zh-CN" altLang="en-US" sz="3600" b="1" dirty="0">
                <a:solidFill>
                  <a:schemeClr val="bg1"/>
                </a:solidFill>
              </a:rPr>
              <a:t>小结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 txBox="1"/>
          <p:nvPr/>
        </p:nvSpPr>
        <p:spPr>
          <a:xfrm>
            <a:off x="990600" y="1504950"/>
            <a:ext cx="7543800" cy="35052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2800" dirty="0">
                <a:latin typeface="+mj-lt"/>
                <a:ea typeface="+mj-ea"/>
                <a:cs typeface="+mj-cs"/>
              </a:rPr>
              <a:t>        本章主要介绍了</a:t>
            </a:r>
            <a:r>
              <a:rPr lang="en-US" altLang="zh-CN" sz="2800" dirty="0">
                <a:latin typeface="+mj-lt"/>
                <a:ea typeface="+mj-ea"/>
                <a:cs typeface="+mj-cs"/>
              </a:rPr>
              <a:t>PyQt5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中的常用控件，在讲解的过程中，通过大量的实例演示控件的用法。</a:t>
            </a:r>
            <a:r>
              <a:rPr lang="en-US" altLang="zh-CN" sz="2800" dirty="0">
                <a:latin typeface="+mj-lt"/>
                <a:ea typeface="+mj-ea"/>
                <a:cs typeface="+mj-cs"/>
              </a:rPr>
              <a:t>PyQt5</a:t>
            </a:r>
            <a:r>
              <a:rPr lang="zh-CN" altLang="en-US" sz="2800" dirty="0">
                <a:latin typeface="+mj-lt"/>
                <a:ea typeface="+mj-ea"/>
                <a:cs typeface="+mj-cs"/>
              </a:rPr>
              <a:t>程序中，常用控件大体分为文本类控件、按钮类控件、选择列表类控件、容器控件和日期时间类控件。每个控件都通过实际开发中用到的实例进行讲解，以便读者不仅能够学会控件的使用方法，还能够熟悉每个控件的具体使用场景。</a:t>
            </a:r>
            <a:endParaRPr lang="zh-CN" altLang="en-US" sz="28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Picture 4" descr="按扭1-56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895350"/>
            <a:ext cx="1066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标题 8"/>
          <p:cNvSpPr txBox="1"/>
          <p:nvPr/>
        </p:nvSpPr>
        <p:spPr>
          <a:xfrm>
            <a:off x="1143000" y="819150"/>
            <a:ext cx="5562600" cy="609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 altLang="en-US" sz="3200" dirty="0">
                <a:latin typeface="+mj-lt"/>
                <a:ea typeface="+mj-ea"/>
                <a:cs typeface="+mj-cs"/>
              </a:rPr>
              <a:t>小结</a:t>
            </a:r>
            <a:endParaRPr lang="zh-CN" altLang="en-US" sz="32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PP_MARK_KEY" val="416a8da0-e53d-4dd7-ac2d-e78bf157b3f9"/>
  <p:tag name="COMMONDATA" val="eyJoZGlkIjoiMmIzZmVhYmE3NzY4NGVlMmRlOGE4YzdmZDA0MjA5ZG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79646"/>
        </a:solidFill>
        <a:ln>
          <a:solidFill>
            <a:srgbClr val="F79646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000FF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9755</Words>
  <Application>WPS 演示</Application>
  <PresentationFormat>全屏显示(16:9)</PresentationFormat>
  <Paragraphs>1261</Paragraphs>
  <Slides>104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104</vt:i4>
      </vt:variant>
    </vt:vector>
  </HeadingPairs>
  <TitlesOfParts>
    <vt:vector size="114" baseType="lpstr">
      <vt:lpstr>Arial</vt:lpstr>
      <vt:lpstr>宋体</vt:lpstr>
      <vt:lpstr>Wingdings</vt:lpstr>
      <vt:lpstr>Calibri</vt:lpstr>
      <vt:lpstr>黑体</vt:lpstr>
      <vt:lpstr>Times New Roman</vt:lpstr>
      <vt:lpstr>微软雅黑</vt:lpstr>
      <vt:lpstr>Arial Unicode MS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明日科技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申小琦</dc:creator>
  <cp:lastModifiedBy>小钰</cp:lastModifiedBy>
  <cp:revision>1747</cp:revision>
  <cp:lastPrinted>2113-01-01T00:00:00Z</cp:lastPrinted>
  <dcterms:created xsi:type="dcterms:W3CDTF">2014-11-20T08:27:00Z</dcterms:created>
  <dcterms:modified xsi:type="dcterms:W3CDTF">2023-03-26T07:22:13Z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77B6B7E6D4DD4DBCAAF5DAE00EA0DDB5</vt:lpwstr>
  </property>
  <property fmtid="{D5CDD505-2E9C-101B-9397-08002B2CF9AE}" pid="4" name="KSOProductBuildVer">
    <vt:lpwstr>2052-11.1.0.12980</vt:lpwstr>
  </property>
</Properties>
</file>
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9_cn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9_cn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band"/>
          <p:cNvGrpSpPr/>
          <p:nvPr/>
        </p:nvGrpSpPr>
        <p:grpSpPr>
          <a:xfrm>
            <a:off x="-1123950" y="-514350"/>
            <a:ext cx="6096000" cy="8572500"/>
            <a:chOff x="-1123950" y="-514350"/>
            <a:chExt cx="6096000" cy="8572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4381500" cy="6858000"/>
            </a:xfrm>
            <a:prstGeom prst="rect">
              <a:avLst/>
            </a:prstGeom>
            <a:solidFill>
              <a:srgbClr val="123A6B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2114550" y="-514350"/>
              <a:ext cx="2857500" cy="2857500"/>
            </a:xfrm>
            <a:prstGeom prst="ellipse">
              <a:avLst/>
            </a:prstGeom>
            <a:solidFill>
              <a:srgbClr val="1B4F8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123950" y="4438650"/>
              <a:ext cx="3619500" cy="3619500"/>
            </a:xfrm>
            <a:prstGeom prst="ellipse">
              <a:avLst/>
            </a:prstGeom>
            <a:solidFill>
              <a:srgbClr val="1B4F8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9130" y="965200"/>
              <a:ext cx="2415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spc="30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MACHINE LEARNING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5320" y="1397000"/>
              <a:ext cx="26345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9 周 · 第 1 次课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59892" y="2692400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课 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56844" y="29781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机器学习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9892" y="36068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授课班级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8368" y="3911600"/>
              <a:ext cx="31139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2024级人工智能技术应用班-G5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9892" y="45021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授课教师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7606" y="47942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李国栋</a:t>
              </a:r>
            </a:p>
          </p:txBody>
        </p:sp>
      </p:grpSp>
      <p:grpSp>
        <p:nvGrpSpPr>
          <p:cNvPr id="18" name="title-block"/>
          <p:cNvGrpSpPr/>
          <p:nvPr/>
        </p:nvGrpSpPr>
        <p:grpSpPr>
          <a:xfrm>
            <a:off x="5124450" y="2286000"/>
            <a:ext cx="4769669" cy="2348357"/>
            <a:chOff x="5124450" y="2286000"/>
            <a:chExt cx="4769669" cy="2348357"/>
          </a:xfrm>
        </p:grpSpPr>
        <p:sp>
          <p:nvSpPr>
            <p:cNvPr id="14" name="Rectangle 14"/>
            <p:cNvSpPr/>
            <p:nvPr/>
          </p:nvSpPr>
          <p:spPr>
            <a:xfrm>
              <a:off x="5143500" y="2286000"/>
              <a:ext cx="685800" cy="76200"/>
            </a:xfrm>
            <a:prstGeom prst="rect">
              <a:avLst/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24450" y="2616200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卷积网络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24450" y="3454400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图像分类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35118" y="4311650"/>
              <a:ext cx="47590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Convolutional Neural Network · 手写数字识别</a:t>
              </a:r>
            </a:p>
          </p:txBody>
        </p:sp>
      </p:grpSp>
      <p:grpSp>
        <p:nvGrpSpPr>
          <p:cNvPr id="22" name="meta"/>
          <p:cNvGrpSpPr/>
          <p:nvPr/>
        </p:nvGrpSpPr>
        <p:grpSpPr>
          <a:xfrm>
            <a:off x="5136642" y="5715000"/>
            <a:ext cx="6300216" cy="498983"/>
            <a:chOff x="5136642" y="5715000"/>
            <a:chExt cx="6300216" cy="498983"/>
          </a:xfrm>
        </p:grpSpPr>
        <p:sp>
          <p:nvSpPr>
            <p:cNvPr id="19" name="Line 19"/>
            <p:cNvSpPr/>
            <p:nvPr/>
          </p:nvSpPr>
          <p:spPr>
            <a:xfrm>
              <a:off x="5143500" y="5715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36642" y="5949950"/>
              <a:ext cx="200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2026—2027学年第一学期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06331" y="5949950"/>
              <a:ext cx="1930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教案流水号 2026-D-09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3996421" cy="840867"/>
            <a:chOff x="685800" y="514350"/>
            <a:chExt cx="3996421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375524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Learning Objectives · 第9周 卷积网络图像分类</a:t>
              </a:r>
            </a:p>
          </p:txBody>
        </p:sp>
      </p:grpSp>
      <p:grpSp>
        <p:nvGrpSpPr>
          <p:cNvPr id="11" name="card-knowledge"/>
          <p:cNvGrpSpPr/>
          <p:nvPr/>
        </p:nvGrpSpPr>
        <p:grpSpPr>
          <a:xfrm>
            <a:off x="685800" y="1809750"/>
            <a:ext cx="5238750" cy="1905000"/>
            <a:chOff x="685800" y="1809750"/>
            <a:chExt cx="5238750" cy="19050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5238750" cy="19050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80975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218" y="20447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知识目标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3742" y="2520950"/>
              <a:ext cx="39028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说出卷积核、特征图、池化层与分类层的作用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3742" y="2863850"/>
              <a:ext cx="3357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说出卷积神经网络图像分类的基本流程</a:t>
              </a:r>
            </a:p>
          </p:txBody>
        </p:sp>
      </p:grpSp>
      <p:grpSp>
        <p:nvGrpSpPr>
          <p:cNvPr id="17" name="card-skill"/>
          <p:cNvGrpSpPr/>
          <p:nvPr/>
        </p:nvGrpSpPr>
        <p:grpSpPr>
          <a:xfrm>
            <a:off x="6267450" y="1809750"/>
            <a:ext cx="5238750" cy="1905000"/>
            <a:chOff x="6267450" y="1809750"/>
            <a:chExt cx="523875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267450" y="1809750"/>
              <a:ext cx="5238750" cy="19050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67450" y="180975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1B7F6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63868" y="20447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E5B4C"/>
                  </a:solidFill>
                  <a:latin typeface="+mn-lt"/>
                  <a:ea typeface="+mn-ea"/>
                  <a:cs typeface="+mn-cs"/>
                </a:rPr>
                <a:t>技能目标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65392" y="2520950"/>
              <a:ext cx="4179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能使用 PyTorch 搭建卷积、池化与全连接层模型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5392" y="2863850"/>
              <a:ext cx="3175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能完成模型训练、测试与准确率评价</a:t>
              </a:r>
            </a:p>
          </p:txBody>
        </p:sp>
      </p:grpSp>
      <p:grpSp>
        <p:nvGrpSpPr>
          <p:cNvPr id="23" name="card-quality"/>
          <p:cNvGrpSpPr/>
          <p:nvPr/>
        </p:nvGrpSpPr>
        <p:grpSpPr>
          <a:xfrm>
            <a:off x="685800" y="4038600"/>
            <a:ext cx="5238750" cy="1905000"/>
            <a:chOff x="685800" y="4038600"/>
            <a:chExt cx="5238750" cy="1905000"/>
          </a:xfrm>
        </p:grpSpPr>
        <p:sp>
          <p:nvSpPr>
            <p:cNvPr id="18" name="Rectangle 18"/>
            <p:cNvSpPr/>
            <p:nvPr/>
          </p:nvSpPr>
          <p:spPr>
            <a:xfrm>
              <a:off x="685800" y="4038600"/>
              <a:ext cx="5238750" cy="19050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40386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B4762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2218" y="42735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A17"/>
                  </a:solidFill>
                  <a:latin typeface="+mn-lt"/>
                  <a:ea typeface="+mn-ea"/>
                  <a:cs typeface="+mn-cs"/>
                </a:rPr>
                <a:t>职业素养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3742" y="4749800"/>
              <a:ext cx="353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养成规范编码、科学记录实验的职业习惯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3742" y="5092700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培养独立调试与团队协作能力</a:t>
              </a:r>
            </a:p>
          </p:txBody>
        </p:sp>
      </p:grpSp>
      <p:grpSp>
        <p:nvGrpSpPr>
          <p:cNvPr id="29" name="card-ideology"/>
          <p:cNvGrpSpPr/>
          <p:nvPr/>
        </p:nvGrpSpPr>
        <p:grpSpPr>
          <a:xfrm>
            <a:off x="6267450" y="4038600"/>
            <a:ext cx="5238750" cy="1905000"/>
            <a:chOff x="6267450" y="4038600"/>
            <a:chExt cx="5238750" cy="1905000"/>
          </a:xfrm>
        </p:grpSpPr>
        <p:sp>
          <p:nvSpPr>
            <p:cNvPr id="24" name="Rectangle 24"/>
            <p:cNvSpPr/>
            <p:nvPr/>
          </p:nvSpPr>
          <p:spPr>
            <a:xfrm>
              <a:off x="6267450" y="4038600"/>
              <a:ext cx="5238750" cy="19050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67450" y="40386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7A4E9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3868" y="42735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B3679"/>
                  </a:solidFill>
                  <a:latin typeface="+mn-lt"/>
                  <a:ea typeface="+mn-ea"/>
                  <a:cs typeface="+mn-cs"/>
                </a:rPr>
                <a:t>思政目标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5392" y="4749800"/>
              <a:ext cx="39028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认识计算机视觉技术在智能制造中的应用价值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5392" y="5092700"/>
              <a:ext cx="3175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树立严谨求实、勇于探索的科学精神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30" name="TextBox 30"/>
            <p:cNvSpPr txBox="1"/>
            <p:nvPr/>
          </p:nvSpPr>
          <p:spPr>
            <a:xfrm>
              <a:off x="680085" y="637540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机器学习 · 卷积网络图像分类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3553932" cy="840867"/>
            <a:chOff x="685800" y="514350"/>
            <a:chExt cx="3553932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学习路线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331275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从像素到模型 · 一条完整的图像分类流水线</a:t>
              </a:r>
            </a:p>
          </p:txBody>
        </p:sp>
      </p:grpSp>
      <p:grpSp>
        <p:nvGrpSpPr>
          <p:cNvPr id="13" name="step-1"/>
          <p:cNvGrpSpPr/>
          <p:nvPr/>
        </p:nvGrpSpPr>
        <p:grpSpPr>
          <a:xfrm>
            <a:off x="685800" y="2381250"/>
            <a:ext cx="1905000" cy="2857500"/>
            <a:chOff x="685800" y="2381250"/>
            <a:chExt cx="1905000" cy="2857500"/>
          </a:xfrm>
        </p:grpSpPr>
        <p:sp>
          <p:nvSpPr>
            <p:cNvPr id="6" name="Rectangle 6"/>
            <p:cNvSpPr/>
            <p:nvPr/>
          </p:nvSpPr>
          <p:spPr>
            <a:xfrm>
              <a:off x="685800" y="2381250"/>
              <a:ext cx="1905000" cy="28575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2381250"/>
              <a:ext cx="1905000" cy="571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7636" y="266065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6D6E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780" y="34226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认识图像数据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8304" y="3790950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理解“图像就是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304" y="4038600"/>
              <a:ext cx="747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数字矩阵”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8685" y="4489450"/>
              <a:ext cx="1142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8×8 像素 · 10 类</a:t>
              </a:r>
            </a:p>
          </p:txBody>
        </p:sp>
      </p:grpSp>
      <p:grpSp>
        <p:nvGrpSpPr>
          <p:cNvPr id="21" name="step-2"/>
          <p:cNvGrpSpPr/>
          <p:nvPr/>
        </p:nvGrpSpPr>
        <p:grpSpPr>
          <a:xfrm>
            <a:off x="2790825" y="2381250"/>
            <a:ext cx="1905000" cy="2857500"/>
            <a:chOff x="2790825" y="2381250"/>
            <a:chExt cx="1905000" cy="2857500"/>
          </a:xfrm>
        </p:grpSpPr>
        <p:sp>
          <p:nvSpPr>
            <p:cNvPr id="14" name="Rectangle 14"/>
            <p:cNvSpPr/>
            <p:nvPr/>
          </p:nvSpPr>
          <p:spPr>
            <a:xfrm>
              <a:off x="2790825" y="2381250"/>
              <a:ext cx="1905000" cy="28575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790825" y="2381250"/>
              <a:ext cx="1905000" cy="571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02661" y="266065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6D6E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11805" y="34226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卷积提特征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13329" y="37909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观察卷积核如何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13329" y="40386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提取局部特征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13710" y="4489450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3×3 核 · 特征图</a:t>
              </a:r>
            </a:p>
          </p:txBody>
        </p:sp>
      </p:grpSp>
      <p:grpSp>
        <p:nvGrpSpPr>
          <p:cNvPr id="29" name="step-3"/>
          <p:cNvGrpSpPr/>
          <p:nvPr/>
        </p:nvGrpSpPr>
        <p:grpSpPr>
          <a:xfrm>
            <a:off x="4895850" y="2381250"/>
            <a:ext cx="1905000" cy="2857500"/>
            <a:chOff x="4895850" y="2381250"/>
            <a:chExt cx="1905000" cy="2857500"/>
          </a:xfrm>
        </p:grpSpPr>
        <p:sp>
          <p:nvSpPr>
            <p:cNvPr id="22" name="Rectangle 22"/>
            <p:cNvSpPr/>
            <p:nvPr/>
          </p:nvSpPr>
          <p:spPr>
            <a:xfrm>
              <a:off x="4895850" y="2381250"/>
              <a:ext cx="1905000" cy="28575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895850" y="2381250"/>
              <a:ext cx="1905000" cy="571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07686" y="266065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6D6E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16830" y="34226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数据处理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18354" y="37909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归一化、划分训练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18354" y="40386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验证与测试集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18735" y="4489450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70% / 15% / 15%</a:t>
              </a:r>
            </a:p>
          </p:txBody>
        </p:sp>
      </p:grpSp>
      <p:grpSp>
        <p:nvGrpSpPr>
          <p:cNvPr id="37" name="step-4"/>
          <p:cNvGrpSpPr/>
          <p:nvPr/>
        </p:nvGrpSpPr>
        <p:grpSpPr>
          <a:xfrm>
            <a:off x="7000875" y="2381250"/>
            <a:ext cx="1905000" cy="2857500"/>
            <a:chOff x="7000875" y="2381250"/>
            <a:chExt cx="1905000" cy="2857500"/>
          </a:xfrm>
        </p:grpSpPr>
        <p:sp>
          <p:nvSpPr>
            <p:cNvPr id="30" name="Rectangle 30"/>
            <p:cNvSpPr/>
            <p:nvPr/>
          </p:nvSpPr>
          <p:spPr>
            <a:xfrm>
              <a:off x="7000875" y="2381250"/>
              <a:ext cx="1905000" cy="28575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00875" y="2381250"/>
              <a:ext cx="1905000" cy="571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12711" y="266065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6D6E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21855" y="34226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搭建并训练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23379" y="3790950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卷积→池化→展平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23379" y="4038600"/>
              <a:ext cx="5856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→全连接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23760" y="4489450"/>
              <a:ext cx="838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20 个 Epoch</a:t>
              </a:r>
            </a:p>
          </p:txBody>
        </p:sp>
      </p:grpSp>
      <p:grpSp>
        <p:nvGrpSpPr>
          <p:cNvPr id="45" name="step-5"/>
          <p:cNvGrpSpPr/>
          <p:nvPr/>
        </p:nvGrpSpPr>
        <p:grpSpPr>
          <a:xfrm>
            <a:off x="9105900" y="2381250"/>
            <a:ext cx="1905000" cy="2857500"/>
            <a:chOff x="9105900" y="2381250"/>
            <a:chExt cx="1905000" cy="2857500"/>
          </a:xfrm>
        </p:grpSpPr>
        <p:sp>
          <p:nvSpPr>
            <p:cNvPr id="38" name="Rectangle 38"/>
            <p:cNvSpPr/>
            <p:nvPr/>
          </p:nvSpPr>
          <p:spPr>
            <a:xfrm>
              <a:off x="9105900" y="2381250"/>
              <a:ext cx="1905000" cy="2857500"/>
            </a:xfrm>
            <a:prstGeom prst="roundRect">
              <a:avLst>
                <a:gd name="adj" fmla="val 7000"/>
              </a:avLst>
            </a:prstGeom>
            <a:solidFill>
              <a:srgbClr val="EAF2F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105900" y="2381250"/>
              <a:ext cx="1905000" cy="57150"/>
            </a:xfrm>
            <a:prstGeom prst="roundRect">
              <a:avLst>
                <a:gd name="adj" fmla="val 50000"/>
              </a:avLst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17736" y="266065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0D9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26880" y="34226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评价并预测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28404" y="37909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准确率、分类报告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28404" y="40386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与混淆矩阵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28785" y="4489450"/>
              <a:ext cx="1036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测试集 97.04%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46" name="TextBox 46"/>
            <p:cNvSpPr txBox="1"/>
            <p:nvPr/>
          </p:nvSpPr>
          <p:spPr>
            <a:xfrm>
              <a:off x="680085" y="637540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机器学习 · 卷积网络图像分类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4475810" cy="840867"/>
            <a:chOff x="685800" y="514350"/>
            <a:chExt cx="4475810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图像就是数字矩阵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423463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每张 8×8 的手写数字图片，本质是一组 0～16 的灰度值</a:t>
              </a:r>
            </a:p>
          </p:txBody>
        </p:sp>
      </p:grpSp>
      <p:grpSp>
        <p:nvGrpSpPr>
          <p:cNvPr id="75" name="sample-card"/>
          <p:cNvGrpSpPr/>
          <p:nvPr/>
        </p:nvGrpSpPr>
        <p:grpSpPr>
          <a:xfrm>
            <a:off x="685800" y="1809750"/>
            <a:ext cx="4000500" cy="4476750"/>
            <a:chOff x="685800" y="1809750"/>
            <a:chExt cx="4000500" cy="447675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4000500" cy="4476750"/>
            </a:xfrm>
            <a:prstGeom prst="roundRect">
              <a:avLst>
                <a:gd name="adj" fmla="val 381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49680" y="2127250"/>
              <a:ext cx="1650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样本图像 · 标签 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51585" y="24511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灰度值越大，像素越亮</a:t>
              </a:r>
            </a:p>
          </p:txBody>
        </p:sp>
        <p:grpSp>
          <p:nvGrpSpPr>
            <p:cNvPr id="73" name="pixel-grid"/>
            <p:cNvGrpSpPr/>
            <p:nvPr/>
          </p:nvGrpSpPr>
          <p:grpSpPr>
            <a:xfrm>
              <a:off x="1257300" y="2857500"/>
              <a:ext cx="2590800" cy="2590800"/>
              <a:chOff x="1257300" y="2857500"/>
              <a:chExt cx="2590800" cy="25908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1257300" y="285750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581150" y="285750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1905000" y="2857500"/>
                <a:ext cx="323850" cy="323850"/>
              </a:xfrm>
              <a:prstGeom prst="rect">
                <a:avLst/>
              </a:prstGeom>
              <a:solidFill>
                <a:srgbClr val="B7B7B7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228850" y="2857500"/>
                <a:ext cx="323850" cy="323850"/>
              </a:xfrm>
              <a:prstGeom prst="rect">
                <a:avLst/>
              </a:prstGeom>
              <a:solidFill>
                <a:srgbClr val="45454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552700" y="2857500"/>
                <a:ext cx="323850" cy="323850"/>
              </a:xfrm>
              <a:prstGeom prst="rect">
                <a:avLst/>
              </a:prstGeom>
              <a:solidFill>
                <a:srgbClr val="7E7E7E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876550" y="2857500"/>
                <a:ext cx="323850" cy="323850"/>
              </a:xfrm>
              <a:prstGeom prst="rect">
                <a:avLst/>
              </a:prstGeom>
              <a:solidFill>
                <a:srgbClr val="F1F1F1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200400" y="285750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524250" y="285750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257300" y="31813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1581150" y="31813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905000" y="3181350"/>
                <a:ext cx="323850" cy="323850"/>
              </a:xfrm>
              <a:prstGeom prst="rect">
                <a:avLst/>
              </a:prstGeom>
              <a:solidFill>
                <a:srgbClr val="45454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228850" y="3181350"/>
                <a:ext cx="323850" cy="323850"/>
              </a:xfrm>
              <a:prstGeom prst="rect">
                <a:avLst/>
              </a:prstGeom>
              <a:solidFill>
                <a:srgbClr val="282828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552700" y="3181350"/>
                <a:ext cx="323850" cy="323850"/>
              </a:xfrm>
              <a:prstGeom prst="rect">
                <a:avLst/>
              </a:prstGeom>
              <a:solidFill>
                <a:srgbClr val="707070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876550" y="3181350"/>
                <a:ext cx="323850" cy="323850"/>
              </a:xfrm>
              <a:prstGeom prst="rect">
                <a:avLst/>
              </a:prstGeom>
              <a:solidFill>
                <a:srgbClr val="282828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3200400" y="3181350"/>
                <a:ext cx="323850" cy="323850"/>
              </a:xfrm>
              <a:prstGeom prst="rect">
                <a:avLst/>
              </a:prstGeom>
              <a:solidFill>
                <a:srgbClr val="B7B7B7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3524250" y="31813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1257300" y="350520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581150" y="3505200"/>
                <a:ext cx="323850" cy="323850"/>
              </a:xfrm>
              <a:prstGeom prst="rect">
                <a:avLst/>
              </a:prstGeom>
              <a:solidFill>
                <a:srgbClr val="D4D4D4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1905000" y="3505200"/>
                <a:ext cx="323850" cy="323850"/>
              </a:xfrm>
              <a:prstGeom prst="rect">
                <a:avLst/>
              </a:prstGeom>
              <a:solidFill>
                <a:srgbClr val="282828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2228850" y="3505200"/>
                <a:ext cx="323850" cy="323850"/>
              </a:xfrm>
              <a:prstGeom prst="rect">
                <a:avLst/>
              </a:prstGeom>
              <a:solidFill>
                <a:srgbClr val="E2E2E2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2552700" y="350520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2876550" y="3505200"/>
                <a:ext cx="323850" cy="323850"/>
              </a:xfrm>
              <a:prstGeom prst="rect">
                <a:avLst/>
              </a:prstGeom>
              <a:solidFill>
                <a:srgbClr val="626262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3200400" y="3505200"/>
                <a:ext cx="323850" cy="323850"/>
              </a:xfrm>
              <a:prstGeom prst="rect">
                <a:avLst/>
              </a:prstGeom>
              <a:solidFill>
                <a:srgbClr val="8C8C8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3524250" y="350520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1257300" y="38290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1581150" y="3829050"/>
                <a:ext cx="323850" cy="323850"/>
              </a:xfrm>
              <a:prstGeom prst="rect">
                <a:avLst/>
              </a:prstGeom>
              <a:solidFill>
                <a:srgbClr val="C6C6C6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1905000" y="3829050"/>
                <a:ext cx="323850" cy="323850"/>
              </a:xfrm>
              <a:prstGeom prst="rect">
                <a:avLst/>
              </a:prstGeom>
              <a:solidFill>
                <a:srgbClr val="535353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2228850" y="38290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2552700" y="38290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2876550" y="3829050"/>
                <a:ext cx="323850" cy="323850"/>
              </a:xfrm>
              <a:prstGeom prst="rect">
                <a:avLst/>
              </a:prstGeom>
              <a:solidFill>
                <a:srgbClr val="8C8C8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3200400" y="3829050"/>
                <a:ext cx="323850" cy="323850"/>
              </a:xfrm>
              <a:prstGeom prst="rect">
                <a:avLst/>
              </a:prstGeom>
              <a:solidFill>
                <a:srgbClr val="8C8C8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3524250" y="38290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1257300" y="415290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1581150" y="4152900"/>
                <a:ext cx="323850" cy="323850"/>
              </a:xfrm>
              <a:prstGeom prst="rect">
                <a:avLst/>
              </a:prstGeom>
              <a:solidFill>
                <a:srgbClr val="B7B7B7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1905000" y="4152900"/>
                <a:ext cx="323850" cy="323850"/>
              </a:xfrm>
              <a:prstGeom prst="rect">
                <a:avLst/>
              </a:prstGeom>
              <a:solidFill>
                <a:srgbClr val="8C8C8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2228850" y="415290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2552700" y="415290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2876550" y="4152900"/>
                <a:ext cx="323850" cy="323850"/>
              </a:xfrm>
              <a:prstGeom prst="rect">
                <a:avLst/>
              </a:prstGeom>
              <a:solidFill>
                <a:srgbClr val="7E7E7E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200400" y="4152900"/>
                <a:ext cx="323850" cy="323850"/>
              </a:xfrm>
              <a:prstGeom prst="rect">
                <a:avLst/>
              </a:prstGeom>
              <a:solidFill>
                <a:srgbClr val="8C8C8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3524250" y="415290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1257300" y="44767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1581150" y="4476750"/>
                <a:ext cx="323850" cy="323850"/>
              </a:xfrm>
              <a:prstGeom prst="rect">
                <a:avLst/>
              </a:prstGeom>
              <a:solidFill>
                <a:srgbClr val="C6C6C6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1905000" y="4476750"/>
                <a:ext cx="323850" cy="323850"/>
              </a:xfrm>
              <a:prstGeom prst="rect">
                <a:avLst/>
              </a:prstGeom>
              <a:solidFill>
                <a:srgbClr val="626262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2228850" y="44767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2552700" y="4476750"/>
                <a:ext cx="323850" cy="323850"/>
              </a:xfrm>
              <a:prstGeom prst="rect">
                <a:avLst/>
              </a:prstGeom>
              <a:solidFill>
                <a:srgbClr val="F1F1F1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2876550" y="4476750"/>
                <a:ext cx="323850" cy="323850"/>
              </a:xfrm>
              <a:prstGeom prst="rect">
                <a:avLst/>
              </a:prstGeom>
              <a:solidFill>
                <a:srgbClr val="535353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3200400" y="4476750"/>
                <a:ext cx="323850" cy="323850"/>
              </a:xfrm>
              <a:prstGeom prst="rect">
                <a:avLst/>
              </a:prstGeom>
              <a:solidFill>
                <a:srgbClr val="9B9B9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3524250" y="44767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1257300" y="480060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1581150" y="4800600"/>
                <a:ext cx="323850" cy="323850"/>
              </a:xfrm>
              <a:prstGeom prst="rect">
                <a:avLst/>
              </a:prstGeom>
              <a:solidFill>
                <a:srgbClr val="E2E2E2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1905000" y="4800600"/>
                <a:ext cx="323850" cy="323850"/>
              </a:xfrm>
              <a:prstGeom prst="rect">
                <a:avLst/>
              </a:prstGeom>
              <a:solidFill>
                <a:srgbClr val="373737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2228850" y="4800600"/>
                <a:ext cx="323850" cy="323850"/>
              </a:xfrm>
              <a:prstGeom prst="rect">
                <a:avLst/>
              </a:prstGeom>
              <a:solidFill>
                <a:srgbClr val="B7B7B7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2552700" y="4800600"/>
                <a:ext cx="323850" cy="323850"/>
              </a:xfrm>
              <a:prstGeom prst="rect">
                <a:avLst/>
              </a:prstGeom>
              <a:solidFill>
                <a:srgbClr val="707070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2876550" y="4800600"/>
                <a:ext cx="323850" cy="323850"/>
              </a:xfrm>
              <a:prstGeom prst="rect">
                <a:avLst/>
              </a:prstGeom>
              <a:solidFill>
                <a:srgbClr val="535353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3200400" y="480060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3524250" y="480060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1257300" y="51244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1581150" y="51244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1905000" y="5124450"/>
                <a:ext cx="323850" cy="323850"/>
              </a:xfrm>
              <a:prstGeom prst="rect">
                <a:avLst/>
              </a:prstGeom>
              <a:solidFill>
                <a:srgbClr val="A9A9A9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2228850" y="5124450"/>
                <a:ext cx="323850" cy="323850"/>
              </a:xfrm>
              <a:prstGeom prst="rect">
                <a:avLst/>
              </a:prstGeom>
              <a:solidFill>
                <a:srgbClr val="45454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2552700" y="5124450"/>
                <a:ext cx="323850" cy="323850"/>
              </a:xfrm>
              <a:prstGeom prst="rect">
                <a:avLst/>
              </a:prstGeom>
              <a:solidFill>
                <a:srgbClr val="707070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2876550" y="51244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71" name="Rectangle 71"/>
              <p:cNvSpPr/>
              <p:nvPr/>
            </p:nvSpPr>
            <p:spPr>
              <a:xfrm>
                <a:off x="3200400" y="51244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3524250" y="5124450"/>
                <a:ext cx="323850" cy="3238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251585" y="5765800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8 × 8 = 64 个像素</a:t>
              </a:r>
            </a:p>
          </p:txBody>
        </p:sp>
      </p:grpSp>
      <p:grpSp>
        <p:nvGrpSpPr>
          <p:cNvPr id="79" name="fact-1"/>
          <p:cNvGrpSpPr/>
          <p:nvPr/>
        </p:nvGrpSpPr>
        <p:grpSpPr>
          <a:xfrm>
            <a:off x="5130546" y="1949450"/>
            <a:ext cx="2999537" cy="685546"/>
            <a:chOff x="5130546" y="1949450"/>
            <a:chExt cx="2999537" cy="685546"/>
          </a:xfrm>
        </p:grpSpPr>
        <p:sp>
          <p:nvSpPr>
            <p:cNvPr id="76" name="TextBox 76"/>
            <p:cNvSpPr txBox="1"/>
            <p:nvPr/>
          </p:nvSpPr>
          <p:spPr>
            <a:xfrm>
              <a:off x="5130546" y="1949450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1797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278880" y="20701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张手写数字样本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137404" y="2400300"/>
              <a:ext cx="29926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随 scikit-learn 安装，无需另外下载图片</a:t>
              </a:r>
            </a:p>
          </p:txBody>
        </p:sp>
      </p:grpSp>
      <p:grpSp>
        <p:nvGrpSpPr>
          <p:cNvPr id="83" name="fact-2"/>
          <p:cNvGrpSpPr/>
          <p:nvPr/>
        </p:nvGrpSpPr>
        <p:grpSpPr>
          <a:xfrm>
            <a:off x="5130546" y="3016250"/>
            <a:ext cx="3153004" cy="685546"/>
            <a:chOff x="5130546" y="3016250"/>
            <a:chExt cx="3153004" cy="685546"/>
          </a:xfrm>
        </p:grpSpPr>
        <p:sp>
          <p:nvSpPr>
            <p:cNvPr id="80" name="TextBox 80"/>
            <p:cNvSpPr txBox="1"/>
            <p:nvPr/>
          </p:nvSpPr>
          <p:spPr>
            <a:xfrm>
              <a:off x="5130546" y="3016250"/>
              <a:ext cx="6206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8×8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278880" y="31369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像素的单通道灰度图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137404" y="3467100"/>
              <a:ext cx="3146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数据形状 (1797, 8, 8)，适合课堂快速训练</a:t>
              </a:r>
            </a:p>
          </p:txBody>
        </p:sp>
      </p:grpSp>
      <p:grpSp>
        <p:nvGrpSpPr>
          <p:cNvPr id="87" name="fact-3"/>
          <p:cNvGrpSpPr/>
          <p:nvPr/>
        </p:nvGrpSpPr>
        <p:grpSpPr>
          <a:xfrm>
            <a:off x="5130546" y="4083050"/>
            <a:ext cx="2873921" cy="685546"/>
            <a:chOff x="5130546" y="4083050"/>
            <a:chExt cx="2873921" cy="685546"/>
          </a:xfrm>
        </p:grpSpPr>
        <p:sp>
          <p:nvSpPr>
            <p:cNvPr id="84" name="TextBox 84"/>
            <p:cNvSpPr txBox="1"/>
            <p:nvPr/>
          </p:nvSpPr>
          <p:spPr>
            <a:xfrm>
              <a:off x="5130546" y="4083050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278880" y="4203700"/>
              <a:ext cx="17255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个类别：数字 0～9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137404" y="45339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属于典型的多分类任务</a:t>
              </a:r>
            </a:p>
          </p:txBody>
        </p:sp>
      </p:grpSp>
      <p:grpSp>
        <p:nvGrpSpPr>
          <p:cNvPr id="91" name="fact-4"/>
          <p:cNvGrpSpPr/>
          <p:nvPr/>
        </p:nvGrpSpPr>
        <p:grpSpPr>
          <a:xfrm>
            <a:off x="5130546" y="5149850"/>
            <a:ext cx="2756154" cy="685546"/>
            <a:chOff x="5130546" y="5149850"/>
            <a:chExt cx="2756154" cy="685546"/>
          </a:xfrm>
        </p:grpSpPr>
        <p:sp>
          <p:nvSpPr>
            <p:cNvPr id="88" name="TextBox 88"/>
            <p:cNvSpPr txBox="1"/>
            <p:nvPr/>
          </p:nvSpPr>
          <p:spPr>
            <a:xfrm>
              <a:off x="5130546" y="5149850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8B34B"/>
                  </a:solidFill>
                  <a:latin typeface="+mn-lt"/>
                  <a:ea typeface="+mn-ea"/>
                  <a:cs typeface="+mn-cs"/>
                </a:rPr>
                <a:t>0—16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659880" y="52705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像素取值范围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137404" y="5600700"/>
              <a:ext cx="1853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训练前统一归一化到 0～1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92" name="TextBox 92"/>
            <p:cNvSpPr txBox="1"/>
            <p:nvPr/>
          </p:nvSpPr>
          <p:spPr>
            <a:xfrm>
              <a:off x="680085" y="637540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机器学习 · 卷积网络图像分类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4897979" cy="840867"/>
            <a:chOff x="685800" y="514350"/>
            <a:chExt cx="4897979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卷积核与特征图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465680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3×3 卷积核在图像上滑动，把局部像素加权求和，得到特征图</a:t>
              </a:r>
            </a:p>
          </p:txBody>
        </p:sp>
      </p:grpSp>
      <p:grpSp>
        <p:nvGrpSpPr>
          <p:cNvPr id="74" name="panel-input"/>
          <p:cNvGrpSpPr/>
          <p:nvPr/>
        </p:nvGrpSpPr>
        <p:grpSpPr>
          <a:xfrm>
            <a:off x="685800" y="1905000"/>
            <a:ext cx="2857500" cy="3619500"/>
            <a:chOff x="685800" y="1905000"/>
            <a:chExt cx="2857500" cy="3619500"/>
          </a:xfrm>
        </p:grpSpPr>
        <p:sp>
          <p:nvSpPr>
            <p:cNvPr id="6" name="Rectangle 6"/>
            <p:cNvSpPr/>
            <p:nvPr/>
          </p:nvSpPr>
          <p:spPr>
            <a:xfrm>
              <a:off x="685800" y="1905000"/>
              <a:ext cx="2857500" cy="3619500"/>
            </a:xfrm>
            <a:prstGeom prst="roundRect">
              <a:avLst>
                <a:gd name="adj" fmla="val 533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7161" y="218440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原始图像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9066" y="2501900"/>
              <a:ext cx="11909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8 × 8 · 像素 0～16</a:t>
              </a:r>
            </a:p>
          </p:txBody>
        </p:sp>
        <p:grpSp>
          <p:nvGrpSpPr>
            <p:cNvPr id="73" name="input-grid"/>
            <p:cNvGrpSpPr/>
            <p:nvPr/>
          </p:nvGrpSpPr>
          <p:grpSpPr>
            <a:xfrm>
              <a:off x="1028700" y="2857500"/>
              <a:ext cx="2057400" cy="2057400"/>
              <a:chOff x="1028700" y="2857500"/>
              <a:chExt cx="2057400" cy="20574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1028700" y="285750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285875" y="285750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1543050" y="2857500"/>
                <a:ext cx="257175" cy="257175"/>
              </a:xfrm>
              <a:prstGeom prst="rect">
                <a:avLst/>
              </a:prstGeom>
              <a:solidFill>
                <a:srgbClr val="B7B7B7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1800225" y="2857500"/>
                <a:ext cx="257175" cy="257175"/>
              </a:xfrm>
              <a:prstGeom prst="rect">
                <a:avLst/>
              </a:prstGeom>
              <a:solidFill>
                <a:srgbClr val="45454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057400" y="2857500"/>
                <a:ext cx="257175" cy="257175"/>
              </a:xfrm>
              <a:prstGeom prst="rect">
                <a:avLst/>
              </a:prstGeom>
              <a:solidFill>
                <a:srgbClr val="7E7E7E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314575" y="2857500"/>
                <a:ext cx="257175" cy="257175"/>
              </a:xfrm>
              <a:prstGeom prst="rect">
                <a:avLst/>
              </a:prstGeom>
              <a:solidFill>
                <a:srgbClr val="F1F1F1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2571750" y="285750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2828925" y="285750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028700" y="311467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1285875" y="311467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543050" y="3114675"/>
                <a:ext cx="257175" cy="257175"/>
              </a:xfrm>
              <a:prstGeom prst="rect">
                <a:avLst/>
              </a:prstGeom>
              <a:solidFill>
                <a:srgbClr val="45454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800225" y="3114675"/>
                <a:ext cx="257175" cy="257175"/>
              </a:xfrm>
              <a:prstGeom prst="rect">
                <a:avLst/>
              </a:prstGeom>
              <a:solidFill>
                <a:srgbClr val="282828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057400" y="3114675"/>
                <a:ext cx="257175" cy="257175"/>
              </a:xfrm>
              <a:prstGeom prst="rect">
                <a:avLst/>
              </a:prstGeom>
              <a:solidFill>
                <a:srgbClr val="707070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314575" y="3114675"/>
                <a:ext cx="257175" cy="257175"/>
              </a:xfrm>
              <a:prstGeom prst="rect">
                <a:avLst/>
              </a:prstGeom>
              <a:solidFill>
                <a:srgbClr val="282828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2571750" y="3114675"/>
                <a:ext cx="257175" cy="257175"/>
              </a:xfrm>
              <a:prstGeom prst="rect">
                <a:avLst/>
              </a:prstGeom>
              <a:solidFill>
                <a:srgbClr val="B7B7B7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2828925" y="311467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1028700" y="337185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285875" y="3371850"/>
                <a:ext cx="257175" cy="257175"/>
              </a:xfrm>
              <a:prstGeom prst="rect">
                <a:avLst/>
              </a:prstGeom>
              <a:solidFill>
                <a:srgbClr val="D4D4D4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1543050" y="3371850"/>
                <a:ext cx="257175" cy="257175"/>
              </a:xfrm>
              <a:prstGeom prst="rect">
                <a:avLst/>
              </a:prstGeom>
              <a:solidFill>
                <a:srgbClr val="282828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800225" y="3371850"/>
                <a:ext cx="257175" cy="257175"/>
              </a:xfrm>
              <a:prstGeom prst="rect">
                <a:avLst/>
              </a:prstGeom>
              <a:solidFill>
                <a:srgbClr val="E2E2E2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2057400" y="337185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2314575" y="3371850"/>
                <a:ext cx="257175" cy="257175"/>
              </a:xfrm>
              <a:prstGeom prst="rect">
                <a:avLst/>
              </a:prstGeom>
              <a:solidFill>
                <a:srgbClr val="626262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2571750" y="3371850"/>
                <a:ext cx="257175" cy="257175"/>
              </a:xfrm>
              <a:prstGeom prst="rect">
                <a:avLst/>
              </a:prstGeom>
              <a:solidFill>
                <a:srgbClr val="8C8C8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2828925" y="337185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1028700" y="362902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1285875" y="3629025"/>
                <a:ext cx="257175" cy="257175"/>
              </a:xfrm>
              <a:prstGeom prst="rect">
                <a:avLst/>
              </a:prstGeom>
              <a:solidFill>
                <a:srgbClr val="C6C6C6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1543050" y="3629025"/>
                <a:ext cx="257175" cy="257175"/>
              </a:xfrm>
              <a:prstGeom prst="rect">
                <a:avLst/>
              </a:prstGeom>
              <a:solidFill>
                <a:srgbClr val="535353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1800225" y="362902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2057400" y="362902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2314575" y="3629025"/>
                <a:ext cx="257175" cy="257175"/>
              </a:xfrm>
              <a:prstGeom prst="rect">
                <a:avLst/>
              </a:prstGeom>
              <a:solidFill>
                <a:srgbClr val="8C8C8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2571750" y="3629025"/>
                <a:ext cx="257175" cy="257175"/>
              </a:xfrm>
              <a:prstGeom prst="rect">
                <a:avLst/>
              </a:prstGeom>
              <a:solidFill>
                <a:srgbClr val="8C8C8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2828925" y="362902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1028700" y="388620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1285875" y="3886200"/>
                <a:ext cx="257175" cy="257175"/>
              </a:xfrm>
              <a:prstGeom prst="rect">
                <a:avLst/>
              </a:prstGeom>
              <a:solidFill>
                <a:srgbClr val="B7B7B7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1543050" y="3886200"/>
                <a:ext cx="257175" cy="257175"/>
              </a:xfrm>
              <a:prstGeom prst="rect">
                <a:avLst/>
              </a:prstGeom>
              <a:solidFill>
                <a:srgbClr val="8C8C8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1800225" y="388620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2057400" y="388620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2314575" y="3886200"/>
                <a:ext cx="257175" cy="257175"/>
              </a:xfrm>
              <a:prstGeom prst="rect">
                <a:avLst/>
              </a:prstGeom>
              <a:solidFill>
                <a:srgbClr val="7E7E7E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2571750" y="3886200"/>
                <a:ext cx="257175" cy="257175"/>
              </a:xfrm>
              <a:prstGeom prst="rect">
                <a:avLst/>
              </a:prstGeom>
              <a:solidFill>
                <a:srgbClr val="8C8C8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2828925" y="388620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1028700" y="414337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1285875" y="4143375"/>
                <a:ext cx="257175" cy="257175"/>
              </a:xfrm>
              <a:prstGeom prst="rect">
                <a:avLst/>
              </a:prstGeom>
              <a:solidFill>
                <a:srgbClr val="C6C6C6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1543050" y="4143375"/>
                <a:ext cx="257175" cy="257175"/>
              </a:xfrm>
              <a:prstGeom prst="rect">
                <a:avLst/>
              </a:prstGeom>
              <a:solidFill>
                <a:srgbClr val="626262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1800225" y="414337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2057400" y="4143375"/>
                <a:ext cx="257175" cy="257175"/>
              </a:xfrm>
              <a:prstGeom prst="rect">
                <a:avLst/>
              </a:prstGeom>
              <a:solidFill>
                <a:srgbClr val="F1F1F1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2314575" y="4143375"/>
                <a:ext cx="257175" cy="257175"/>
              </a:xfrm>
              <a:prstGeom prst="rect">
                <a:avLst/>
              </a:prstGeom>
              <a:solidFill>
                <a:srgbClr val="535353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2571750" y="4143375"/>
                <a:ext cx="257175" cy="257175"/>
              </a:xfrm>
              <a:prstGeom prst="rect">
                <a:avLst/>
              </a:prstGeom>
              <a:solidFill>
                <a:srgbClr val="9B9B9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2828925" y="414337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1028700" y="440055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1285875" y="4400550"/>
                <a:ext cx="257175" cy="257175"/>
              </a:xfrm>
              <a:prstGeom prst="rect">
                <a:avLst/>
              </a:prstGeom>
              <a:solidFill>
                <a:srgbClr val="E2E2E2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1543050" y="4400550"/>
                <a:ext cx="257175" cy="257175"/>
              </a:xfrm>
              <a:prstGeom prst="rect">
                <a:avLst/>
              </a:prstGeom>
              <a:solidFill>
                <a:srgbClr val="373737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1800225" y="4400550"/>
                <a:ext cx="257175" cy="257175"/>
              </a:xfrm>
              <a:prstGeom prst="rect">
                <a:avLst/>
              </a:prstGeom>
              <a:solidFill>
                <a:srgbClr val="B7B7B7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2057400" y="4400550"/>
                <a:ext cx="257175" cy="257175"/>
              </a:xfrm>
              <a:prstGeom prst="rect">
                <a:avLst/>
              </a:prstGeom>
              <a:solidFill>
                <a:srgbClr val="707070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2314575" y="4400550"/>
                <a:ext cx="257175" cy="257175"/>
              </a:xfrm>
              <a:prstGeom prst="rect">
                <a:avLst/>
              </a:prstGeom>
              <a:solidFill>
                <a:srgbClr val="535353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2571750" y="440055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2828925" y="440055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1028700" y="465772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1285875" y="465772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1543050" y="4657725"/>
                <a:ext cx="257175" cy="257175"/>
              </a:xfrm>
              <a:prstGeom prst="rect">
                <a:avLst/>
              </a:prstGeom>
              <a:solidFill>
                <a:srgbClr val="A9A9A9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1800225" y="4657725"/>
                <a:ext cx="257175" cy="257175"/>
              </a:xfrm>
              <a:prstGeom prst="rect">
                <a:avLst/>
              </a:prstGeom>
              <a:solidFill>
                <a:srgbClr val="45454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2057400" y="4657725"/>
                <a:ext cx="257175" cy="257175"/>
              </a:xfrm>
              <a:prstGeom prst="rect">
                <a:avLst/>
              </a:prstGeom>
              <a:solidFill>
                <a:srgbClr val="707070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2314575" y="465772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71" name="Rectangle 71"/>
              <p:cNvSpPr/>
              <p:nvPr/>
            </p:nvSpPr>
            <p:spPr>
              <a:xfrm>
                <a:off x="2571750" y="465772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2828925" y="465772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</p:grpSp>
      </p:grpSp>
      <p:grpSp>
        <p:nvGrpSpPr>
          <p:cNvPr id="99" name="panel-kernel"/>
          <p:cNvGrpSpPr/>
          <p:nvPr/>
        </p:nvGrpSpPr>
        <p:grpSpPr>
          <a:xfrm>
            <a:off x="3771900" y="1905000"/>
            <a:ext cx="2476500" cy="3619500"/>
            <a:chOff x="3771900" y="1905000"/>
            <a:chExt cx="2476500" cy="3619500"/>
          </a:xfrm>
        </p:grpSpPr>
        <p:sp>
          <p:nvSpPr>
            <p:cNvPr id="75" name="Rectangle 75"/>
            <p:cNvSpPr/>
            <p:nvPr/>
          </p:nvSpPr>
          <p:spPr>
            <a:xfrm>
              <a:off x="3771900" y="1905000"/>
              <a:ext cx="2476500" cy="3619500"/>
            </a:xfrm>
            <a:prstGeom prst="roundRect">
              <a:avLst>
                <a:gd name="adj" fmla="val 6154"/>
              </a:avLst>
            </a:prstGeom>
            <a:solidFill>
              <a:srgbClr val="FFF8EC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993261" y="2184400"/>
              <a:ext cx="979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8A5A17"/>
                  </a:solidFill>
                  <a:latin typeface="+mn-lt"/>
                  <a:ea typeface="+mn-ea"/>
                  <a:cs typeface="+mn-cs"/>
                </a:rPr>
                <a:t>3×3 卷积核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995166" y="25019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762A"/>
                  </a:solidFill>
                  <a:latin typeface="+mn-lt"/>
                  <a:ea typeface="+mn-ea"/>
                  <a:cs typeface="+mn-cs"/>
                </a:rPr>
                <a:t>垂直边缘检测</a:t>
              </a:r>
            </a:p>
          </p:txBody>
        </p:sp>
        <p:grpSp>
          <p:nvGrpSpPr>
            <p:cNvPr id="96" name="kernel-grid"/>
            <p:cNvGrpSpPr/>
            <p:nvPr/>
          </p:nvGrpSpPr>
          <p:grpSpPr>
            <a:xfrm>
              <a:off x="4114800" y="2857500"/>
              <a:ext cx="1600200" cy="1600200"/>
              <a:chOff x="4114800" y="2857500"/>
              <a:chExt cx="1600200" cy="1600200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4114800" y="2857500"/>
                <a:ext cx="533400" cy="533400"/>
              </a:xfrm>
              <a:prstGeom prst="rect">
                <a:avLst/>
              </a:prstGeom>
              <a:solidFill>
                <a:srgbClr val="F6E3C2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4648200" y="2857500"/>
                <a:ext cx="533400" cy="5334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5181600" y="2857500"/>
                <a:ext cx="533400" cy="533400"/>
              </a:xfrm>
              <a:prstGeom prst="rect">
                <a:avLst/>
              </a:prstGeom>
              <a:solidFill>
                <a:srgbClr val="F6E3C2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81" name="Rectangle 81"/>
              <p:cNvSpPr/>
              <p:nvPr/>
            </p:nvSpPr>
            <p:spPr>
              <a:xfrm>
                <a:off x="4114800" y="3390900"/>
                <a:ext cx="533400" cy="533400"/>
              </a:xfrm>
              <a:prstGeom prst="rect">
                <a:avLst/>
              </a:prstGeom>
              <a:solidFill>
                <a:srgbClr val="F6E3C2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4648200" y="3390900"/>
                <a:ext cx="533400" cy="5334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83" name="Rectangle 83"/>
              <p:cNvSpPr/>
              <p:nvPr/>
            </p:nvSpPr>
            <p:spPr>
              <a:xfrm>
                <a:off x="5181600" y="3390900"/>
                <a:ext cx="533400" cy="533400"/>
              </a:xfrm>
              <a:prstGeom prst="rect">
                <a:avLst/>
              </a:prstGeom>
              <a:solidFill>
                <a:srgbClr val="F6E3C2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4114800" y="3924300"/>
                <a:ext cx="533400" cy="533400"/>
              </a:xfrm>
              <a:prstGeom prst="rect">
                <a:avLst/>
              </a:prstGeom>
              <a:solidFill>
                <a:srgbClr val="F6E3C2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85" name="Rectangle 85"/>
              <p:cNvSpPr/>
              <p:nvPr/>
            </p:nvSpPr>
            <p:spPr>
              <a:xfrm>
                <a:off x="4648200" y="3924300"/>
                <a:ext cx="533400" cy="5334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5181600" y="3924300"/>
                <a:ext cx="533400" cy="533400"/>
              </a:xfrm>
              <a:prstGeom prst="rect">
                <a:avLst/>
              </a:prstGeom>
              <a:solidFill>
                <a:srgbClr val="F6E3C2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4219995" y="2968625"/>
                <a:ext cx="32301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8A5A17"/>
                    </a:solidFill>
                    <a:latin typeface="+mn-lt"/>
                    <a:ea typeface="+mn-ea"/>
                    <a:cs typeface="+mn-cs"/>
                  </a:rPr>
                  <a:t>−1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4829195" y="2968625"/>
                <a:ext cx="171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8A5A17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5362595" y="2968625"/>
                <a:ext cx="171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8A5A17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4219995" y="3502025"/>
                <a:ext cx="32301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8A5A17"/>
                    </a:solidFill>
                    <a:latin typeface="+mn-lt"/>
                    <a:ea typeface="+mn-ea"/>
                    <a:cs typeface="+mn-cs"/>
                  </a:rPr>
                  <a:t>−1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4829195" y="3502025"/>
                <a:ext cx="171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8A5A17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5362595" y="3502025"/>
                <a:ext cx="171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8A5A17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4219995" y="4035425"/>
                <a:ext cx="32301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8A5A17"/>
                    </a:solidFill>
                    <a:latin typeface="+mn-lt"/>
                    <a:ea typeface="+mn-ea"/>
                    <a:cs typeface="+mn-cs"/>
                  </a:rPr>
                  <a:t>−1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4829195" y="4035425"/>
                <a:ext cx="171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8A5A17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5362595" y="4035425"/>
                <a:ext cx="171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8A5A17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</p:grpSp>
        <p:sp>
          <p:nvSpPr>
            <p:cNvPr id="97" name="TextBox 97"/>
            <p:cNvSpPr txBox="1"/>
            <p:nvPr/>
          </p:nvSpPr>
          <p:spPr>
            <a:xfrm>
              <a:off x="3995166" y="4749800"/>
              <a:ext cx="11132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762A"/>
                  </a:solidFill>
                  <a:latin typeface="+mn-lt"/>
                  <a:ea typeface="+mn-ea"/>
                  <a:cs typeface="+mn-cs"/>
                </a:rPr>
                <a:t>左列 −1、右列 +1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3995166" y="49784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762A"/>
                  </a:solidFill>
                  <a:latin typeface="+mn-lt"/>
                  <a:ea typeface="+mn-ea"/>
                  <a:cs typeface="+mn-cs"/>
                </a:rPr>
                <a:t>对竖向边缘响应最强</a:t>
              </a:r>
            </a:p>
          </p:txBody>
        </p:sp>
      </p:grpSp>
      <p:grpSp>
        <p:nvGrpSpPr>
          <p:cNvPr id="168" name="panel-output"/>
          <p:cNvGrpSpPr/>
          <p:nvPr/>
        </p:nvGrpSpPr>
        <p:grpSpPr>
          <a:xfrm>
            <a:off x="6477000" y="1905000"/>
            <a:ext cx="2857500" cy="3619500"/>
            <a:chOff x="6477000" y="1905000"/>
            <a:chExt cx="2857500" cy="3619500"/>
          </a:xfrm>
        </p:grpSpPr>
        <p:sp>
          <p:nvSpPr>
            <p:cNvPr id="100" name="Rectangle 100"/>
            <p:cNvSpPr/>
            <p:nvPr/>
          </p:nvSpPr>
          <p:spPr>
            <a:xfrm>
              <a:off x="6477000" y="1905000"/>
              <a:ext cx="2857500" cy="3619500"/>
            </a:xfrm>
            <a:prstGeom prst="roundRect">
              <a:avLst>
                <a:gd name="adj" fmla="val 5333"/>
              </a:avLst>
            </a:prstGeom>
            <a:solidFill>
              <a:srgbClr val="EAF2FB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698361" y="2184400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输出特征图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700266" y="2501900"/>
              <a:ext cx="1056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8 × 8 · 红负蓝正</a:t>
              </a:r>
            </a:p>
          </p:txBody>
        </p:sp>
        <p:grpSp>
          <p:nvGrpSpPr>
            <p:cNvPr id="167" name="feature-grid"/>
            <p:cNvGrpSpPr/>
            <p:nvPr/>
          </p:nvGrpSpPr>
          <p:grpSpPr>
            <a:xfrm>
              <a:off x="6819900" y="2857500"/>
              <a:ext cx="2057400" cy="2057400"/>
              <a:chOff x="6819900" y="2857500"/>
              <a:chExt cx="2057400" cy="2057400"/>
            </a:xfrm>
          </p:grpSpPr>
          <p:sp>
            <p:nvSpPr>
              <p:cNvPr id="103" name="Rectangle 103"/>
              <p:cNvSpPr/>
              <p:nvPr/>
            </p:nvSpPr>
            <p:spPr>
              <a:xfrm>
                <a:off x="6819900" y="2857500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04" name="Rectangle 104"/>
              <p:cNvSpPr/>
              <p:nvPr/>
            </p:nvSpPr>
            <p:spPr>
              <a:xfrm>
                <a:off x="7077075" y="2857500"/>
                <a:ext cx="257175" cy="257175"/>
              </a:xfrm>
              <a:prstGeom prst="rect">
                <a:avLst/>
              </a:prstGeom>
              <a:solidFill>
                <a:srgbClr val="3679B8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05" name="Rectangle 105"/>
              <p:cNvSpPr/>
              <p:nvPr/>
            </p:nvSpPr>
            <p:spPr>
              <a:xfrm>
                <a:off x="7334250" y="2857500"/>
                <a:ext cx="257175" cy="257175"/>
              </a:xfrm>
              <a:prstGeom prst="rect">
                <a:avLst/>
              </a:prstGeom>
              <a:solidFill>
                <a:srgbClr val="2E74B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06" name="Rectangle 106"/>
              <p:cNvSpPr/>
              <p:nvPr/>
            </p:nvSpPr>
            <p:spPr>
              <a:xfrm>
                <a:off x="7591425" y="2857500"/>
                <a:ext cx="257175" cy="257175"/>
              </a:xfrm>
              <a:prstGeom prst="rect">
                <a:avLst/>
              </a:prstGeom>
              <a:solidFill>
                <a:srgbClr val="D3E2EF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07" name="Rectangle 107"/>
              <p:cNvSpPr/>
              <p:nvPr/>
            </p:nvSpPr>
            <p:spPr>
              <a:xfrm>
                <a:off x="7848600" y="2857500"/>
                <a:ext cx="257175" cy="257175"/>
              </a:xfrm>
              <a:prstGeom prst="rect">
                <a:avLst/>
              </a:prstGeom>
              <a:solidFill>
                <a:srgbClr val="C0392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08" name="Rectangle 108"/>
              <p:cNvSpPr/>
              <p:nvPr/>
            </p:nvSpPr>
            <p:spPr>
              <a:xfrm>
                <a:off x="8105775" y="2857500"/>
                <a:ext cx="257175" cy="257175"/>
              </a:xfrm>
              <a:prstGeom prst="rect">
                <a:avLst/>
              </a:prstGeom>
              <a:solidFill>
                <a:srgbClr val="C24133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09" name="Rectangle 109"/>
              <p:cNvSpPr/>
              <p:nvPr/>
            </p:nvSpPr>
            <p:spPr>
              <a:xfrm>
                <a:off x="8362950" y="2857500"/>
                <a:ext cx="257175" cy="257175"/>
              </a:xfrm>
              <a:prstGeom prst="rect">
                <a:avLst/>
              </a:prstGeom>
              <a:solidFill>
                <a:srgbClr val="D27268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10" name="Rectangle 110"/>
              <p:cNvSpPr/>
              <p:nvPr/>
            </p:nvSpPr>
            <p:spPr>
              <a:xfrm>
                <a:off x="8620125" y="2857500"/>
                <a:ext cx="257175" cy="257175"/>
              </a:xfrm>
              <a:prstGeom prst="rect">
                <a:avLst/>
              </a:prstGeom>
              <a:solidFill>
                <a:srgbClr val="F1D5D2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11" name="Rectangle 111"/>
              <p:cNvSpPr/>
              <p:nvPr/>
            </p:nvSpPr>
            <p:spPr>
              <a:xfrm>
                <a:off x="6819900" y="3114675"/>
                <a:ext cx="257175" cy="257175"/>
              </a:xfrm>
              <a:prstGeom prst="rect">
                <a:avLst/>
              </a:prstGeom>
              <a:solidFill>
                <a:srgbClr val="E4EDF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12" name="Rectangle 112"/>
              <p:cNvSpPr/>
              <p:nvPr/>
            </p:nvSpPr>
            <p:spPr>
              <a:xfrm>
                <a:off x="7077075" y="3114675"/>
                <a:ext cx="257175" cy="257175"/>
              </a:xfrm>
              <a:prstGeom prst="rect">
                <a:avLst/>
              </a:prstGeom>
              <a:solidFill>
                <a:srgbClr val="2E74B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13" name="Rectangle 113"/>
              <p:cNvSpPr/>
              <p:nvPr/>
            </p:nvSpPr>
            <p:spPr>
              <a:xfrm>
                <a:off x="7334250" y="3114675"/>
                <a:ext cx="257175" cy="257175"/>
              </a:xfrm>
              <a:prstGeom prst="rect">
                <a:avLst/>
              </a:prstGeom>
              <a:solidFill>
                <a:srgbClr val="2E74B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14" name="Rectangle 114"/>
              <p:cNvSpPr/>
              <p:nvPr/>
            </p:nvSpPr>
            <p:spPr>
              <a:xfrm>
                <a:off x="7591425" y="3114675"/>
                <a:ext cx="257175" cy="257175"/>
              </a:xfrm>
              <a:prstGeom prst="rect">
                <a:avLst/>
              </a:prstGeom>
              <a:solidFill>
                <a:srgbClr val="DA8B83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15" name="Rectangle 115"/>
              <p:cNvSpPr/>
              <p:nvPr/>
            </p:nvSpPr>
            <p:spPr>
              <a:xfrm>
                <a:off x="7848600" y="3114675"/>
                <a:ext cx="257175" cy="257175"/>
              </a:xfrm>
              <a:prstGeom prst="rect">
                <a:avLst/>
              </a:prstGeom>
              <a:solidFill>
                <a:srgbClr val="F7E6E4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16" name="Rectangle 116"/>
              <p:cNvSpPr/>
              <p:nvPr/>
            </p:nvSpPr>
            <p:spPr>
              <a:xfrm>
                <a:off x="8105775" y="3114675"/>
                <a:ext cx="257175" cy="257175"/>
              </a:xfrm>
              <a:prstGeom prst="rect">
                <a:avLst/>
              </a:prstGeom>
              <a:solidFill>
                <a:srgbClr val="EFCDCA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17" name="Rectangle 117"/>
              <p:cNvSpPr/>
              <p:nvPr/>
            </p:nvSpPr>
            <p:spPr>
              <a:xfrm>
                <a:off x="8362950" y="3114675"/>
                <a:ext cx="257175" cy="257175"/>
              </a:xfrm>
              <a:prstGeom prst="rect">
                <a:avLst/>
              </a:prstGeom>
              <a:solidFill>
                <a:srgbClr val="C0392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18" name="Rectangle 118"/>
              <p:cNvSpPr/>
              <p:nvPr/>
            </p:nvSpPr>
            <p:spPr>
              <a:xfrm>
                <a:off x="8620125" y="3114675"/>
                <a:ext cx="257175" cy="257175"/>
              </a:xfrm>
              <a:prstGeom prst="rect">
                <a:avLst/>
              </a:prstGeom>
              <a:solidFill>
                <a:srgbClr val="DC938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19" name="Rectangle 119"/>
              <p:cNvSpPr/>
              <p:nvPr/>
            </p:nvSpPr>
            <p:spPr>
              <a:xfrm>
                <a:off x="6819900" y="3371850"/>
                <a:ext cx="257175" cy="257175"/>
              </a:xfrm>
              <a:prstGeom prst="rect">
                <a:avLst/>
              </a:prstGeom>
              <a:solidFill>
                <a:srgbClr val="C2D6E9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20" name="Rectangle 120"/>
              <p:cNvSpPr/>
              <p:nvPr/>
            </p:nvSpPr>
            <p:spPr>
              <a:xfrm>
                <a:off x="7077075" y="3371850"/>
                <a:ext cx="257175" cy="257175"/>
              </a:xfrm>
              <a:prstGeom prst="rect">
                <a:avLst/>
              </a:prstGeom>
              <a:solidFill>
                <a:srgbClr val="2E74B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21" name="Rectangle 121"/>
              <p:cNvSpPr/>
              <p:nvPr/>
            </p:nvSpPr>
            <p:spPr>
              <a:xfrm>
                <a:off x="7334250" y="3371850"/>
                <a:ext cx="257175" cy="257175"/>
              </a:xfrm>
              <a:prstGeom prst="rect">
                <a:avLst/>
              </a:prstGeom>
              <a:solidFill>
                <a:srgbClr val="A7C5E0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22" name="Rectangle 122"/>
              <p:cNvSpPr/>
              <p:nvPr/>
            </p:nvSpPr>
            <p:spPr>
              <a:xfrm>
                <a:off x="7591425" y="3371850"/>
                <a:ext cx="257175" cy="257175"/>
              </a:xfrm>
              <a:prstGeom prst="rect">
                <a:avLst/>
              </a:prstGeom>
              <a:solidFill>
                <a:srgbClr val="C0392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23" name="Rectangle 123"/>
              <p:cNvSpPr/>
              <p:nvPr/>
            </p:nvSpPr>
            <p:spPr>
              <a:xfrm>
                <a:off x="7848600" y="3371850"/>
                <a:ext cx="257175" cy="257175"/>
              </a:xfrm>
              <a:prstGeom prst="rect">
                <a:avLst/>
              </a:prstGeom>
              <a:solidFill>
                <a:srgbClr val="6A9CCA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24" name="Rectangle 124"/>
              <p:cNvSpPr/>
              <p:nvPr/>
            </p:nvSpPr>
            <p:spPr>
              <a:xfrm>
                <a:off x="8105775" y="3371850"/>
                <a:ext cx="257175" cy="257175"/>
              </a:xfrm>
              <a:prstGeom prst="rect">
                <a:avLst/>
              </a:prstGeom>
              <a:solidFill>
                <a:srgbClr val="9FBFDD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25" name="Rectangle 125"/>
              <p:cNvSpPr/>
              <p:nvPr/>
            </p:nvSpPr>
            <p:spPr>
              <a:xfrm>
                <a:off x="8362950" y="3371850"/>
                <a:ext cx="257175" cy="257175"/>
              </a:xfrm>
              <a:prstGeom prst="rect">
                <a:avLst/>
              </a:prstGeom>
              <a:solidFill>
                <a:srgbClr val="C0392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26" name="Rectangle 126"/>
              <p:cNvSpPr/>
              <p:nvPr/>
            </p:nvSpPr>
            <p:spPr>
              <a:xfrm>
                <a:off x="8620125" y="3371850"/>
                <a:ext cx="257175" cy="257175"/>
              </a:xfrm>
              <a:prstGeom prst="rect">
                <a:avLst/>
              </a:prstGeom>
              <a:solidFill>
                <a:srgbClr val="C7514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27" name="Rectangle 127"/>
              <p:cNvSpPr/>
              <p:nvPr/>
            </p:nvSpPr>
            <p:spPr>
              <a:xfrm>
                <a:off x="6819900" y="3629025"/>
                <a:ext cx="257175" cy="257175"/>
              </a:xfrm>
              <a:prstGeom prst="rect">
                <a:avLst/>
              </a:prstGeom>
              <a:solidFill>
                <a:srgbClr val="96B9DA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28" name="Rectangle 128"/>
              <p:cNvSpPr/>
              <p:nvPr/>
            </p:nvSpPr>
            <p:spPr>
              <a:xfrm>
                <a:off x="7077075" y="3629025"/>
                <a:ext cx="257175" cy="257175"/>
              </a:xfrm>
              <a:prstGeom prst="rect">
                <a:avLst/>
              </a:prstGeom>
              <a:solidFill>
                <a:srgbClr val="2E74B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29" name="Rectangle 129"/>
              <p:cNvSpPr/>
              <p:nvPr/>
            </p:nvSpPr>
            <p:spPr>
              <a:xfrm>
                <a:off x="7334250" y="3629025"/>
                <a:ext cx="257175" cy="257175"/>
              </a:xfrm>
              <a:prstGeom prst="rect">
                <a:avLst/>
              </a:prstGeom>
              <a:solidFill>
                <a:srgbClr val="E4ACA6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30" name="Rectangle 130"/>
              <p:cNvSpPr/>
              <p:nvPr/>
            </p:nvSpPr>
            <p:spPr>
              <a:xfrm>
                <a:off x="7591425" y="3629025"/>
                <a:ext cx="257175" cy="257175"/>
              </a:xfrm>
              <a:prstGeom prst="rect">
                <a:avLst/>
              </a:prstGeom>
              <a:solidFill>
                <a:srgbClr val="C0392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31" name="Rectangle 131"/>
              <p:cNvSpPr/>
              <p:nvPr/>
            </p:nvSpPr>
            <p:spPr>
              <a:xfrm>
                <a:off x="7848600" y="3629025"/>
                <a:ext cx="257175" cy="257175"/>
              </a:xfrm>
              <a:prstGeom prst="rect">
                <a:avLst/>
              </a:prstGeom>
              <a:solidFill>
                <a:srgbClr val="2E74B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32" name="Rectangle 132"/>
              <p:cNvSpPr/>
              <p:nvPr/>
            </p:nvSpPr>
            <p:spPr>
              <a:xfrm>
                <a:off x="8105775" y="3629025"/>
                <a:ext cx="257175" cy="257175"/>
              </a:xfrm>
              <a:prstGeom prst="rect">
                <a:avLst/>
              </a:prstGeom>
              <a:solidFill>
                <a:srgbClr val="2E74B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33" name="Rectangle 133"/>
              <p:cNvSpPr/>
              <p:nvPr/>
            </p:nvSpPr>
            <p:spPr>
              <a:xfrm>
                <a:off x="8362950" y="3629025"/>
                <a:ext cx="257175" cy="257175"/>
              </a:xfrm>
              <a:prstGeom prst="rect">
                <a:avLst/>
              </a:prstGeom>
              <a:solidFill>
                <a:srgbClr val="C0392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34" name="Rectangle 134"/>
              <p:cNvSpPr/>
              <p:nvPr/>
            </p:nvSpPr>
            <p:spPr>
              <a:xfrm>
                <a:off x="8620125" y="3629025"/>
                <a:ext cx="257175" cy="257175"/>
              </a:xfrm>
              <a:prstGeom prst="rect">
                <a:avLst/>
              </a:prstGeom>
              <a:solidFill>
                <a:srgbClr val="C0392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35" name="Rectangle 135"/>
              <p:cNvSpPr/>
              <p:nvPr/>
            </p:nvSpPr>
            <p:spPr>
              <a:xfrm>
                <a:off x="6819900" y="3886200"/>
                <a:ext cx="257175" cy="257175"/>
              </a:xfrm>
              <a:prstGeom prst="rect">
                <a:avLst/>
              </a:prstGeom>
              <a:solidFill>
                <a:srgbClr val="8DB3D6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36" name="Rectangle 136"/>
              <p:cNvSpPr/>
              <p:nvPr/>
            </p:nvSpPr>
            <p:spPr>
              <a:xfrm>
                <a:off x="7077075" y="3886200"/>
                <a:ext cx="257175" cy="257175"/>
              </a:xfrm>
              <a:prstGeom prst="rect">
                <a:avLst/>
              </a:prstGeom>
              <a:solidFill>
                <a:srgbClr val="2E74B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37" name="Rectangle 137"/>
              <p:cNvSpPr/>
              <p:nvPr/>
            </p:nvSpPr>
            <p:spPr>
              <a:xfrm>
                <a:off x="7334250" y="3886200"/>
                <a:ext cx="257175" cy="257175"/>
              </a:xfrm>
              <a:prstGeom prst="rect">
                <a:avLst/>
              </a:prstGeom>
              <a:solidFill>
                <a:srgbClr val="DC938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38" name="Rectangle 138"/>
              <p:cNvSpPr/>
              <p:nvPr/>
            </p:nvSpPr>
            <p:spPr>
              <a:xfrm>
                <a:off x="7591425" y="3886200"/>
                <a:ext cx="257175" cy="257175"/>
              </a:xfrm>
              <a:prstGeom prst="rect">
                <a:avLst/>
              </a:prstGeom>
              <a:solidFill>
                <a:srgbClr val="C0392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39" name="Rectangle 139"/>
              <p:cNvSpPr/>
              <p:nvPr/>
            </p:nvSpPr>
            <p:spPr>
              <a:xfrm>
                <a:off x="7848600" y="3886200"/>
                <a:ext cx="257175" cy="257175"/>
              </a:xfrm>
              <a:prstGeom prst="rect">
                <a:avLst/>
              </a:prstGeom>
              <a:solidFill>
                <a:srgbClr val="2E74B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40" name="Rectangle 140"/>
              <p:cNvSpPr/>
              <p:nvPr/>
            </p:nvSpPr>
            <p:spPr>
              <a:xfrm>
                <a:off x="8105775" y="3886200"/>
                <a:ext cx="257175" cy="257175"/>
              </a:xfrm>
              <a:prstGeom prst="rect">
                <a:avLst/>
              </a:prstGeom>
              <a:solidFill>
                <a:srgbClr val="3F7FB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41" name="Rectangle 141"/>
              <p:cNvSpPr/>
              <p:nvPr/>
            </p:nvSpPr>
            <p:spPr>
              <a:xfrm>
                <a:off x="8362950" y="3886200"/>
                <a:ext cx="257175" cy="257175"/>
              </a:xfrm>
              <a:prstGeom prst="rect">
                <a:avLst/>
              </a:prstGeom>
              <a:solidFill>
                <a:srgbClr val="C0392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42" name="Rectangle 142"/>
              <p:cNvSpPr/>
              <p:nvPr/>
            </p:nvSpPr>
            <p:spPr>
              <a:xfrm>
                <a:off x="8620125" y="3886200"/>
                <a:ext cx="257175" cy="257175"/>
              </a:xfrm>
              <a:prstGeom prst="rect">
                <a:avLst/>
              </a:prstGeom>
              <a:solidFill>
                <a:srgbClr val="C24133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43" name="Rectangle 143"/>
              <p:cNvSpPr/>
              <p:nvPr/>
            </p:nvSpPr>
            <p:spPr>
              <a:xfrm>
                <a:off x="6819900" y="4143375"/>
                <a:ext cx="257175" cy="257175"/>
              </a:xfrm>
              <a:prstGeom prst="rect">
                <a:avLst/>
              </a:prstGeom>
              <a:solidFill>
                <a:srgbClr val="9FBFDD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44" name="Rectangle 144"/>
              <p:cNvSpPr/>
              <p:nvPr/>
            </p:nvSpPr>
            <p:spPr>
              <a:xfrm>
                <a:off x="7077075" y="4143375"/>
                <a:ext cx="257175" cy="257175"/>
              </a:xfrm>
              <a:prstGeom prst="rect">
                <a:avLst/>
              </a:prstGeom>
              <a:solidFill>
                <a:srgbClr val="2E74B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45" name="Rectangle 145"/>
              <p:cNvSpPr/>
              <p:nvPr/>
            </p:nvSpPr>
            <p:spPr>
              <a:xfrm>
                <a:off x="7334250" y="4143375"/>
                <a:ext cx="257175" cy="257175"/>
              </a:xfrm>
              <a:prstGeom prst="rect">
                <a:avLst/>
              </a:prstGeom>
              <a:solidFill>
                <a:srgbClr val="EFCDCA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46" name="Rectangle 146"/>
              <p:cNvSpPr/>
              <p:nvPr/>
            </p:nvSpPr>
            <p:spPr>
              <a:xfrm>
                <a:off x="7591425" y="4143375"/>
                <a:ext cx="257175" cy="257175"/>
              </a:xfrm>
              <a:prstGeom prst="rect">
                <a:avLst/>
              </a:prstGeom>
              <a:solidFill>
                <a:srgbClr val="C5493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47" name="Rectangle 147"/>
              <p:cNvSpPr/>
              <p:nvPr/>
            </p:nvSpPr>
            <p:spPr>
              <a:xfrm>
                <a:off x="7848600" y="4143375"/>
                <a:ext cx="257175" cy="257175"/>
              </a:xfrm>
              <a:prstGeom prst="rect">
                <a:avLst/>
              </a:prstGeom>
              <a:solidFill>
                <a:srgbClr val="2E74B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48" name="Rectangle 148"/>
              <p:cNvSpPr/>
              <p:nvPr/>
            </p:nvSpPr>
            <p:spPr>
              <a:xfrm>
                <a:off x="8105775" y="4143375"/>
                <a:ext cx="257175" cy="257175"/>
              </a:xfrm>
              <a:prstGeom prst="rect">
                <a:avLst/>
              </a:prstGeom>
              <a:solidFill>
                <a:srgbClr val="DCE7F2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49" name="Rectangle 149"/>
              <p:cNvSpPr/>
              <p:nvPr/>
            </p:nvSpPr>
            <p:spPr>
              <a:xfrm>
                <a:off x="8362950" y="4143375"/>
                <a:ext cx="257175" cy="257175"/>
              </a:xfrm>
              <a:prstGeom prst="rect">
                <a:avLst/>
              </a:prstGeom>
              <a:solidFill>
                <a:srgbClr val="C0392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50" name="Rectangle 150"/>
              <p:cNvSpPr/>
              <p:nvPr/>
            </p:nvSpPr>
            <p:spPr>
              <a:xfrm>
                <a:off x="8620125" y="4143375"/>
                <a:ext cx="257175" cy="257175"/>
              </a:xfrm>
              <a:prstGeom prst="rect">
                <a:avLst/>
              </a:prstGeom>
              <a:solidFill>
                <a:srgbClr val="D7837A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51" name="Rectangle 151"/>
              <p:cNvSpPr/>
              <p:nvPr/>
            </p:nvSpPr>
            <p:spPr>
              <a:xfrm>
                <a:off x="6819900" y="4400550"/>
                <a:ext cx="257175" cy="257175"/>
              </a:xfrm>
              <a:prstGeom prst="rect">
                <a:avLst/>
              </a:prstGeom>
              <a:solidFill>
                <a:srgbClr val="CADCE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52" name="Rectangle 152"/>
              <p:cNvSpPr/>
              <p:nvPr/>
            </p:nvSpPr>
            <p:spPr>
              <a:xfrm>
                <a:off x="7077075" y="4400550"/>
                <a:ext cx="257175" cy="257175"/>
              </a:xfrm>
              <a:prstGeom prst="rect">
                <a:avLst/>
              </a:prstGeom>
              <a:solidFill>
                <a:srgbClr val="2E74B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53" name="Rectangle 153"/>
              <p:cNvSpPr/>
              <p:nvPr/>
            </p:nvSpPr>
            <p:spPr>
              <a:xfrm>
                <a:off x="7334250" y="4400550"/>
                <a:ext cx="257175" cy="257175"/>
              </a:xfrm>
              <a:prstGeom prst="rect">
                <a:avLst/>
              </a:prstGeom>
              <a:solidFill>
                <a:srgbClr val="96B9DA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54" name="Rectangle 154"/>
              <p:cNvSpPr/>
              <p:nvPr/>
            </p:nvSpPr>
            <p:spPr>
              <a:xfrm>
                <a:off x="7591425" y="4400550"/>
                <a:ext cx="257175" cy="257175"/>
              </a:xfrm>
              <a:prstGeom prst="rect">
                <a:avLst/>
              </a:prstGeom>
              <a:solidFill>
                <a:srgbClr val="E4ACA6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55" name="Rectangle 155"/>
              <p:cNvSpPr/>
              <p:nvPr/>
            </p:nvSpPr>
            <p:spPr>
              <a:xfrm>
                <a:off x="7848600" y="4400550"/>
                <a:ext cx="257175" cy="257175"/>
              </a:xfrm>
              <a:prstGeom prst="rect">
                <a:avLst/>
              </a:prstGeom>
              <a:solidFill>
                <a:srgbClr val="CADCEC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56" name="Rectangle 156"/>
              <p:cNvSpPr/>
              <p:nvPr/>
            </p:nvSpPr>
            <p:spPr>
              <a:xfrm>
                <a:off x="8105775" y="4400550"/>
                <a:ext cx="257175" cy="257175"/>
              </a:xfrm>
              <a:prstGeom prst="rect">
                <a:avLst/>
              </a:prstGeom>
              <a:solidFill>
                <a:srgbClr val="DA8B83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57" name="Rectangle 157"/>
              <p:cNvSpPr/>
              <p:nvPr/>
            </p:nvSpPr>
            <p:spPr>
              <a:xfrm>
                <a:off x="8362950" y="4400550"/>
                <a:ext cx="257175" cy="257175"/>
              </a:xfrm>
              <a:prstGeom prst="rect">
                <a:avLst/>
              </a:prstGeom>
              <a:solidFill>
                <a:srgbClr val="C0392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58" name="Rectangle 158"/>
              <p:cNvSpPr/>
              <p:nvPr/>
            </p:nvSpPr>
            <p:spPr>
              <a:xfrm>
                <a:off x="8620125" y="4400550"/>
                <a:ext cx="257175" cy="257175"/>
              </a:xfrm>
              <a:prstGeom prst="rect">
                <a:avLst/>
              </a:prstGeom>
              <a:solidFill>
                <a:srgbClr val="ECC5C1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59" name="Rectangle 159"/>
              <p:cNvSpPr/>
              <p:nvPr/>
            </p:nvSpPr>
            <p:spPr>
              <a:xfrm>
                <a:off x="6819900" y="4657725"/>
                <a:ext cx="257175" cy="257175"/>
              </a:xfrm>
              <a:prstGeom prst="rect">
                <a:avLst/>
              </a:prstGeom>
              <a:solidFill>
                <a:srgbClr val="EDF3F8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60" name="Rectangle 160"/>
              <p:cNvSpPr/>
              <p:nvPr/>
            </p:nvSpPr>
            <p:spPr>
              <a:xfrm>
                <a:off x="7077075" y="4657725"/>
                <a:ext cx="257175" cy="257175"/>
              </a:xfrm>
              <a:prstGeom prst="rect">
                <a:avLst/>
              </a:prstGeom>
              <a:solidFill>
                <a:srgbClr val="2E74B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61" name="Rectangle 161"/>
              <p:cNvSpPr/>
              <p:nvPr/>
            </p:nvSpPr>
            <p:spPr>
              <a:xfrm>
                <a:off x="7334250" y="4657725"/>
                <a:ext cx="257175" cy="257175"/>
              </a:xfrm>
              <a:prstGeom prst="rect">
                <a:avLst/>
              </a:prstGeom>
              <a:solidFill>
                <a:srgbClr val="2E74B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62" name="Rectangle 162"/>
              <p:cNvSpPr/>
              <p:nvPr/>
            </p:nvSpPr>
            <p:spPr>
              <a:xfrm>
                <a:off x="7591425" y="4657725"/>
                <a:ext cx="257175" cy="257175"/>
              </a:xfrm>
              <a:prstGeom prst="rect">
                <a:avLst/>
              </a:prstGeom>
              <a:solidFill>
                <a:srgbClr val="DCE7F2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63" name="Rectangle 163"/>
              <p:cNvSpPr/>
              <p:nvPr/>
            </p:nvSpPr>
            <p:spPr>
              <a:xfrm>
                <a:off x="7848600" y="4657725"/>
                <a:ext cx="257175" cy="257175"/>
              </a:xfrm>
              <a:prstGeom prst="rect">
                <a:avLst/>
              </a:prstGeom>
              <a:solidFill>
                <a:srgbClr val="CD6257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64" name="Rectangle 164"/>
              <p:cNvSpPr/>
              <p:nvPr/>
            </p:nvSpPr>
            <p:spPr>
              <a:xfrm>
                <a:off x="8105775" y="4657725"/>
                <a:ext cx="257175" cy="257175"/>
              </a:xfrm>
              <a:prstGeom prst="rect">
                <a:avLst/>
              </a:prstGeom>
              <a:solidFill>
                <a:srgbClr val="C0392B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65" name="Rectangle 165"/>
              <p:cNvSpPr/>
              <p:nvPr/>
            </p:nvSpPr>
            <p:spPr>
              <a:xfrm>
                <a:off x="8362950" y="4657725"/>
                <a:ext cx="257175" cy="257175"/>
              </a:xfrm>
              <a:prstGeom prst="rect">
                <a:avLst/>
              </a:prstGeom>
              <a:solidFill>
                <a:srgbClr val="DF9C95"/>
              </a:solidFill>
              <a:ln w="9525">
                <a:solidFill>
                  <a:srgbClr val="FFFFFF"/>
                </a:solidFill>
              </a:ln>
            </p:spPr>
          </p:sp>
          <p:sp>
            <p:nvSpPr>
              <p:cNvPr id="166" name="Rectangle 166"/>
              <p:cNvSpPr/>
              <p:nvPr/>
            </p:nvSpPr>
            <p:spPr>
              <a:xfrm>
                <a:off x="8620125" y="4657725"/>
                <a:ext cx="257175" cy="2571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</a:ln>
            </p:spPr>
          </p:sp>
        </p:grpSp>
      </p:grpSp>
      <p:grpSp>
        <p:nvGrpSpPr>
          <p:cNvPr id="177" name="note"/>
          <p:cNvGrpSpPr/>
          <p:nvPr/>
        </p:nvGrpSpPr>
        <p:grpSpPr>
          <a:xfrm>
            <a:off x="9563100" y="1905000"/>
            <a:ext cx="1943100" cy="3619500"/>
            <a:chOff x="9563100" y="1905000"/>
            <a:chExt cx="1943100" cy="3619500"/>
          </a:xfrm>
        </p:grpSpPr>
        <p:sp>
          <p:nvSpPr>
            <p:cNvPr id="169" name="Rectangle 169"/>
            <p:cNvSpPr/>
            <p:nvPr/>
          </p:nvSpPr>
          <p:spPr>
            <a:xfrm>
              <a:off x="9563100" y="1905000"/>
              <a:ext cx="1943100" cy="3619500"/>
            </a:xfrm>
            <a:prstGeom prst="roundRect">
              <a:avLst>
                <a:gd name="adj" fmla="val 784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9784842" y="21971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9785985" y="2641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卷积核是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9785985" y="287020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可学习的小矩阵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9785985" y="32893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演示使用的是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9785985" y="35179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手工设定核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9785985" y="3937000"/>
              <a:ext cx="774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CNN 训练时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9785985" y="41656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参数自动学习</a:t>
              </a:r>
            </a:p>
          </p:txBody>
        </p:sp>
      </p:grpSp>
      <p:grpSp>
        <p:nvGrpSpPr>
          <p:cNvPr id="180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178" name="TextBox 178"/>
            <p:cNvSpPr txBox="1"/>
            <p:nvPr/>
          </p:nvSpPr>
          <p:spPr>
            <a:xfrm>
              <a:off x="680085" y="637540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机器学习 · 卷积网络图像分类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5423535" cy="840867"/>
            <a:chOff x="685800" y="514350"/>
            <a:chExt cx="5423535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239364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CNN 常用组件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51823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五类组件串成一条流水线：卷积提特征，池化降维度，全连接做判断</a:t>
              </a:r>
            </a:p>
          </p:txBody>
        </p:sp>
      </p:grpSp>
      <p:grpSp>
        <p:nvGrpSpPr>
          <p:cNvPr id="12" name="flow-1"/>
          <p:cNvGrpSpPr/>
          <p:nvPr/>
        </p:nvGrpSpPr>
        <p:grpSpPr>
          <a:xfrm>
            <a:off x="685800" y="2152650"/>
            <a:ext cx="1866900" cy="2857500"/>
            <a:chOff x="685800" y="2152650"/>
            <a:chExt cx="1866900" cy="2857500"/>
          </a:xfrm>
        </p:grpSpPr>
        <p:sp>
          <p:nvSpPr>
            <p:cNvPr id="6" name="Rectangle 6"/>
            <p:cNvSpPr/>
            <p:nvPr/>
          </p:nvSpPr>
          <p:spPr>
            <a:xfrm>
              <a:off x="685800" y="2152650"/>
              <a:ext cx="1866900" cy="2857500"/>
            </a:xfrm>
            <a:prstGeom prst="roundRect">
              <a:avLst>
                <a:gd name="adj" fmla="val 714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2152650"/>
              <a:ext cx="1866900" cy="571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2970" y="25019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6D6E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399" y="3086100"/>
              <a:ext cx="6541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卷积层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9066" y="3416300"/>
              <a:ext cx="482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Conv2d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304" y="3771900"/>
              <a:ext cx="12313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用可学习的小矩阵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扫描图像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提取局部特征</a:t>
              </a:r>
            </a:p>
          </p:txBody>
        </p:sp>
      </p:grpSp>
      <p:grpSp>
        <p:nvGrpSpPr>
          <p:cNvPr id="19" name="flow-2"/>
          <p:cNvGrpSpPr/>
          <p:nvPr/>
        </p:nvGrpSpPr>
        <p:grpSpPr>
          <a:xfrm>
            <a:off x="2857500" y="2152650"/>
            <a:ext cx="1866900" cy="2857500"/>
            <a:chOff x="2857500" y="2152650"/>
            <a:chExt cx="1866900" cy="2857500"/>
          </a:xfrm>
        </p:grpSpPr>
        <p:sp>
          <p:nvSpPr>
            <p:cNvPr id="13" name="Rectangle 13"/>
            <p:cNvSpPr/>
            <p:nvPr/>
          </p:nvSpPr>
          <p:spPr>
            <a:xfrm>
              <a:off x="2857500" y="2152650"/>
              <a:ext cx="1866900" cy="2857500"/>
            </a:xfrm>
            <a:prstGeom prst="roundRect">
              <a:avLst>
                <a:gd name="adj" fmla="val 714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857500" y="2152650"/>
              <a:ext cx="1866900" cy="571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74670" y="25019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6D6E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78099" y="30861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激活函数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0766" y="3416300"/>
              <a:ext cx="334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ReLU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80004" y="3771900"/>
              <a:ext cx="10789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把负数变为 0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增加网络的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非线性表达能力</a:t>
              </a:r>
            </a:p>
          </p:txBody>
        </p:sp>
      </p:grpSp>
      <p:grpSp>
        <p:nvGrpSpPr>
          <p:cNvPr id="26" name="flow-3"/>
          <p:cNvGrpSpPr/>
          <p:nvPr/>
        </p:nvGrpSpPr>
        <p:grpSpPr>
          <a:xfrm>
            <a:off x="5029200" y="2152650"/>
            <a:ext cx="1866900" cy="2857500"/>
            <a:chOff x="5029200" y="2152650"/>
            <a:chExt cx="1866900" cy="2857500"/>
          </a:xfrm>
        </p:grpSpPr>
        <p:sp>
          <p:nvSpPr>
            <p:cNvPr id="20" name="Rectangle 20"/>
            <p:cNvSpPr/>
            <p:nvPr/>
          </p:nvSpPr>
          <p:spPr>
            <a:xfrm>
              <a:off x="5029200" y="2152650"/>
              <a:ext cx="1866900" cy="2857500"/>
            </a:xfrm>
            <a:prstGeom prst="roundRect">
              <a:avLst>
                <a:gd name="adj" fmla="val 714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29200" y="2152650"/>
              <a:ext cx="1866900" cy="571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46370" y="25019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6D6E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49799" y="3086100"/>
              <a:ext cx="6541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池化层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52466" y="3416300"/>
              <a:ext cx="7130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MaxPool2d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51704" y="3771900"/>
              <a:ext cx="9265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小区域内保留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较大响应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缩小特征图</a:t>
              </a:r>
            </a:p>
          </p:txBody>
        </p:sp>
      </p:grpSp>
      <p:grpSp>
        <p:nvGrpSpPr>
          <p:cNvPr id="33" name="flow-4"/>
          <p:cNvGrpSpPr/>
          <p:nvPr/>
        </p:nvGrpSpPr>
        <p:grpSpPr>
          <a:xfrm>
            <a:off x="7200900" y="2152650"/>
            <a:ext cx="1866900" cy="2857500"/>
            <a:chOff x="7200900" y="2152650"/>
            <a:chExt cx="1866900" cy="2857500"/>
          </a:xfrm>
        </p:grpSpPr>
        <p:sp>
          <p:nvSpPr>
            <p:cNvPr id="27" name="Rectangle 27"/>
            <p:cNvSpPr/>
            <p:nvPr/>
          </p:nvSpPr>
          <p:spPr>
            <a:xfrm>
              <a:off x="7200900" y="2152650"/>
              <a:ext cx="1866900" cy="2857500"/>
            </a:xfrm>
            <a:prstGeom prst="roundRect">
              <a:avLst>
                <a:gd name="adj" fmla="val 714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00900" y="2152650"/>
              <a:ext cx="1866900" cy="571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18070" y="25019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6D6E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21499" y="308610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展平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4166" y="3416300"/>
              <a:ext cx="523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Flatten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23404" y="3771900"/>
              <a:ext cx="9265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把多维特征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排成一列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连接分类部分</a:t>
              </a:r>
            </a:p>
          </p:txBody>
        </p:sp>
      </p:grpSp>
      <p:grpSp>
        <p:nvGrpSpPr>
          <p:cNvPr id="40" name="flow-5"/>
          <p:cNvGrpSpPr/>
          <p:nvPr/>
        </p:nvGrpSpPr>
        <p:grpSpPr>
          <a:xfrm>
            <a:off x="9372600" y="2152650"/>
            <a:ext cx="2133600" cy="2857500"/>
            <a:chOff x="9372600" y="2152650"/>
            <a:chExt cx="2133600" cy="2857500"/>
          </a:xfrm>
        </p:grpSpPr>
        <p:sp>
          <p:nvSpPr>
            <p:cNvPr id="34" name="Rectangle 34"/>
            <p:cNvSpPr/>
            <p:nvPr/>
          </p:nvSpPr>
          <p:spPr>
            <a:xfrm>
              <a:off x="9372600" y="2152650"/>
              <a:ext cx="2133600" cy="2857500"/>
            </a:xfrm>
            <a:prstGeom prst="roundRect">
              <a:avLst>
                <a:gd name="adj" fmla="val 6250"/>
              </a:avLst>
            </a:prstGeom>
            <a:solidFill>
              <a:srgbClr val="EAF2F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372600" y="2152650"/>
              <a:ext cx="2133600" cy="57150"/>
            </a:xfrm>
            <a:prstGeom prst="roundRect">
              <a:avLst>
                <a:gd name="adj" fmla="val 50000"/>
              </a:avLst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589770" y="25019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0D9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93199" y="30861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全连接层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95866" y="3416300"/>
              <a:ext cx="445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Linear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95104" y="3771900"/>
              <a:ext cx="103327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综合已有特征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输出 10 个类别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的分数</a:t>
              </a:r>
            </a:p>
          </p:txBody>
        </p:sp>
      </p:grpSp>
      <p:grpSp>
        <p:nvGrpSpPr>
          <p:cNvPr id="45" name="caution"/>
          <p:cNvGrpSpPr/>
          <p:nvPr/>
        </p:nvGrpSpPr>
        <p:grpSpPr>
          <a:xfrm>
            <a:off x="685800" y="5295900"/>
            <a:ext cx="10820400" cy="800100"/>
            <a:chOff x="685800" y="5295900"/>
            <a:chExt cx="10820400" cy="800100"/>
          </a:xfrm>
        </p:grpSpPr>
        <p:sp>
          <p:nvSpPr>
            <p:cNvPr id="41" name="Rectangle 41"/>
            <p:cNvSpPr/>
            <p:nvPr/>
          </p:nvSpPr>
          <p:spPr>
            <a:xfrm>
              <a:off x="685800" y="5295900"/>
              <a:ext cx="10820400" cy="800100"/>
            </a:xfrm>
            <a:prstGeom prst="roundRect">
              <a:avLst>
                <a:gd name="adj" fmla="val 14286"/>
              </a:avLst>
            </a:prstGeom>
            <a:solidFill>
              <a:srgbClr val="FFF8EC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85800" y="5295900"/>
              <a:ext cx="57150" cy="800100"/>
            </a:xfrm>
            <a:prstGeom prst="roundRect">
              <a:avLst>
                <a:gd name="adj" fmla="val 50000"/>
              </a:avLst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4504" y="54864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A5A17"/>
                  </a:solidFill>
                  <a:latin typeface="+mn-lt"/>
                  <a:ea typeface="+mn-ea"/>
                  <a:cs typeface="+mn-cs"/>
                </a:rPr>
                <a:t>提醒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4504" y="5753100"/>
              <a:ext cx="6312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5B2A"/>
                  </a:solidFill>
                  <a:latin typeface="+mn-lt"/>
                  <a:ea typeface="+mn-ea"/>
                  <a:cs typeface="+mn-cs"/>
                </a:rPr>
                <a:t>卷积核的数量可以设置；训练会不断调整核内参数，使它们逐渐学到有助于分类的特征。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46" name="TextBox 46"/>
            <p:cNvSpPr txBox="1"/>
            <p:nvPr/>
          </p:nvSpPr>
          <p:spPr>
            <a:xfrm>
              <a:off x="680085" y="637540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机器学习 · 卷积网络图像分类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4079748" cy="840867"/>
            <a:chOff x="685800" y="514350"/>
            <a:chExt cx="4079748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数据处理与数据集划分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363154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神经网络先要把数据整理成适合模型输入的格式</a:t>
              </a:r>
            </a:p>
          </p:txBody>
        </p:sp>
      </p:grpSp>
      <p:grpSp>
        <p:nvGrpSpPr>
          <p:cNvPr id="23" name="steps"/>
          <p:cNvGrpSpPr/>
          <p:nvPr/>
        </p:nvGrpSpPr>
        <p:grpSpPr>
          <a:xfrm>
            <a:off x="685800" y="1809750"/>
            <a:ext cx="5334000" cy="4191000"/>
            <a:chOff x="685800" y="1809750"/>
            <a:chExt cx="5334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5334000" cy="4191000"/>
            </a:xfrm>
            <a:prstGeom prst="roundRect">
              <a:avLst>
                <a:gd name="adj" fmla="val 3636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2599" y="209550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三个准备动作</a:t>
              </a:r>
            </a:p>
          </p:txBody>
        </p:sp>
        <p:grpSp>
          <p:nvGrpSpPr>
            <p:cNvPr id="12" name="step-a"/>
            <p:cNvGrpSpPr/>
            <p:nvPr/>
          </p:nvGrpSpPr>
          <p:grpSpPr>
            <a:xfrm>
              <a:off x="990600" y="2647950"/>
              <a:ext cx="2544928" cy="615696"/>
              <a:chOff x="990600" y="2647950"/>
              <a:chExt cx="2544928" cy="615696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990600" y="2647950"/>
                <a:ext cx="342900" cy="342900"/>
              </a:xfrm>
              <a:prstGeom prst="ellipse">
                <a:avLst/>
              </a:prstGeom>
              <a:solidFill>
                <a:srgbClr val="2E74B5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02715" y="2720975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478661" y="2708275"/>
                <a:ext cx="58795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123A6B"/>
                    </a:solidFill>
                    <a:latin typeface="+mn-lt"/>
                    <a:ea typeface="+mn-ea"/>
                    <a:cs typeface="+mn-cs"/>
                  </a:rPr>
                  <a:t>归一化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479804" y="3028950"/>
                <a:ext cx="20557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B62"/>
                    </a:solidFill>
                    <a:latin typeface="+mn-lt"/>
                    <a:ea typeface="+mn-ea"/>
                    <a:cs typeface="+mn-cs"/>
                  </a:rPr>
                  <a:t>像素 0～16 缩放为浮点 0～1</a:t>
                </a:r>
              </a:p>
            </p:txBody>
          </p:sp>
        </p:grpSp>
        <p:grpSp>
          <p:nvGrpSpPr>
            <p:cNvPr id="17" name="step-b"/>
            <p:cNvGrpSpPr/>
            <p:nvPr/>
          </p:nvGrpSpPr>
          <p:grpSpPr>
            <a:xfrm>
              <a:off x="990600" y="3676650"/>
              <a:ext cx="2939796" cy="818896"/>
              <a:chOff x="990600" y="3676650"/>
              <a:chExt cx="2939796" cy="818896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990600" y="3676650"/>
                <a:ext cx="342900" cy="342900"/>
              </a:xfrm>
              <a:prstGeom prst="ellipse">
                <a:avLst/>
              </a:prstGeom>
              <a:solidFill>
                <a:srgbClr val="2E74B5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02715" y="3749675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478661" y="3736975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123A6B"/>
                    </a:solidFill>
                    <a:latin typeface="+mn-lt"/>
                    <a:ea typeface="+mn-ea"/>
                    <a:cs typeface="+mn-cs"/>
                  </a:rPr>
                  <a:t>划分数据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479804" y="4032250"/>
                <a:ext cx="2450592" cy="4632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200" dirty="0">
                    <a:solidFill>
                      <a:srgbClr val="3A4B62"/>
                    </a:solidFill>
                    <a:latin typeface="+mn-lt"/>
                    <a:ea typeface="+mn-ea"/>
                    <a:cs typeface="+mn-cs"/>
                  </a:rPr>
                  <a:t>训练集更新参数，验证集观察过程，</a:t>
                </a:r>
                <a:br>
                  <a:rPr lang="zh-CN" sz="1200" dirty="0">
                    <a:solidFill>
                      <a:srgbClr val="3A4B6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3A4B62"/>
                    </a:solidFill>
                    <a:latin typeface="+mn-lt"/>
                    <a:ea typeface="+mn-ea"/>
                    <a:cs typeface="+mn-cs"/>
                  </a:rPr>
                  <a:t>测试集做最终评价</a:t>
                </a:r>
              </a:p>
            </p:txBody>
          </p:sp>
        </p:grpSp>
        <p:grpSp>
          <p:nvGrpSpPr>
            <p:cNvPr id="22" name="step-c"/>
            <p:cNvGrpSpPr/>
            <p:nvPr/>
          </p:nvGrpSpPr>
          <p:grpSpPr>
            <a:xfrm>
              <a:off x="990600" y="4705350"/>
              <a:ext cx="2627376" cy="818896"/>
              <a:chOff x="990600" y="4705350"/>
              <a:chExt cx="2627376" cy="818896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990600" y="4705350"/>
                <a:ext cx="342900" cy="342900"/>
              </a:xfrm>
              <a:prstGeom prst="ellipse">
                <a:avLst/>
              </a:prstGeom>
              <a:solidFill>
                <a:srgbClr val="2E74B5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02715" y="4778375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78661" y="4765675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123A6B"/>
                    </a:solidFill>
                    <a:latin typeface="+mn-lt"/>
                    <a:ea typeface="+mn-ea"/>
                    <a:cs typeface="+mn-cs"/>
                  </a:rPr>
                  <a:t>调整形状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79804" y="5060950"/>
                <a:ext cx="2138172" cy="4632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200" dirty="0">
                    <a:solidFill>
                      <a:srgbClr val="3A4B62"/>
                    </a:solidFill>
                    <a:latin typeface="+mn-lt"/>
                    <a:ea typeface="+mn-ea"/>
                    <a:cs typeface="+mn-cs"/>
                  </a:rPr>
                  <a:t>输入格式 [批次, 通道, 高, 宽]</a:t>
                </a:r>
                <a:br>
                  <a:rPr lang="zh-CN" sz="1200" dirty="0">
                    <a:solidFill>
                      <a:srgbClr val="3A4B6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3A4B62"/>
                    </a:solidFill>
                    <a:latin typeface="+mn-lt"/>
                    <a:ea typeface="+mn-ea"/>
                    <a:cs typeface="+mn-cs"/>
                  </a:rPr>
                  <a:t>灰度图通道数为 1</a:t>
                </a:r>
              </a:p>
            </p:txBody>
          </p:sp>
        </p:grpSp>
      </p:grpSp>
      <p:grpSp>
        <p:nvGrpSpPr>
          <p:cNvPr id="36" name="split"/>
          <p:cNvGrpSpPr/>
          <p:nvPr/>
        </p:nvGrpSpPr>
        <p:grpSpPr>
          <a:xfrm>
            <a:off x="6324600" y="1809750"/>
            <a:ext cx="5181600" cy="4191000"/>
            <a:chOff x="6324600" y="1809750"/>
            <a:chExt cx="5181600" cy="4191000"/>
          </a:xfrm>
        </p:grpSpPr>
        <p:sp>
          <p:nvSpPr>
            <p:cNvPr id="24" name="Rectangle 24"/>
            <p:cNvSpPr/>
            <p:nvPr/>
          </p:nvSpPr>
          <p:spPr>
            <a:xfrm>
              <a:off x="6324600" y="1809750"/>
              <a:ext cx="5181600" cy="41910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21399" y="2095500"/>
              <a:ext cx="275397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按约 70% / 15% / 15% 划分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22923" y="2590800"/>
              <a:ext cx="118468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训练集 1257 张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629400" y="2876550"/>
              <a:ext cx="2533650" cy="1714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09354" y="2867025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69.9%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22923" y="3390900"/>
              <a:ext cx="108991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验证集 270 张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29400" y="3676650"/>
              <a:ext cx="542925" cy="171450"/>
            </a:xfrm>
            <a:prstGeom prst="roundRect">
              <a:avLst>
                <a:gd name="adj" fmla="val 50000"/>
              </a:avLst>
            </a:prstGeom>
            <a:solidFill>
              <a:srgbClr val="1B7F6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18629" y="3667125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7F6B"/>
                  </a:solidFill>
                  <a:latin typeface="+mn-lt"/>
                  <a:ea typeface="+mn-ea"/>
                  <a:cs typeface="+mn-cs"/>
                </a:rPr>
                <a:t>15.0%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22923" y="4191000"/>
              <a:ext cx="108991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测试集 270 张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29400" y="4476750"/>
              <a:ext cx="542925" cy="171450"/>
            </a:xfrm>
            <a:prstGeom prst="roundRect">
              <a:avLst>
                <a:gd name="adj" fmla="val 50000"/>
              </a:avLst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18629" y="4467225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762A"/>
                  </a:solidFill>
                  <a:latin typeface="+mn-lt"/>
                  <a:ea typeface="+mn-ea"/>
                  <a:cs typeface="+mn-cs"/>
                </a:rPr>
                <a:t>15.0%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23304" y="4972050"/>
              <a:ext cx="385267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先留出 15% 作为测试集，再从剩余样本中</a:t>
              </a:r>
              <a:br>
                <a:rPr lang="zh-CN" sz="120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划出约 15% 作为验证集，使用 stratify 保持类别比例。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37" name="TextBox 37"/>
            <p:cNvSpPr txBox="1"/>
            <p:nvPr/>
          </p:nvSpPr>
          <p:spPr>
            <a:xfrm>
              <a:off x="680085" y="637540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机器学习 · 卷积网络图像分类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4991207" cy="840867"/>
            <a:chOff x="685800" y="514350"/>
            <a:chExt cx="4991207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284056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搭建 SimpleCNN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47500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两次“卷积 + ReLU + 池化”，再展平接全连接层输出 10 类分数</a:t>
              </a:r>
            </a:p>
          </p:txBody>
        </p:sp>
      </p:grpSp>
      <p:grpSp>
        <p:nvGrpSpPr>
          <p:cNvPr id="27" name="arch"/>
          <p:cNvGrpSpPr/>
          <p:nvPr/>
        </p:nvGrpSpPr>
        <p:grpSpPr>
          <a:xfrm>
            <a:off x="876300" y="1866900"/>
            <a:ext cx="10439400" cy="1123950"/>
            <a:chOff x="876300" y="1866900"/>
            <a:chExt cx="10439400" cy="1123950"/>
          </a:xfrm>
        </p:grpSpPr>
        <p:sp>
          <p:nvSpPr>
            <p:cNvPr id="6" name="Rectangle 6"/>
            <p:cNvSpPr/>
            <p:nvPr/>
          </p:nvSpPr>
          <p:spPr>
            <a:xfrm>
              <a:off x="876300" y="1866900"/>
              <a:ext cx="1409700" cy="1123950"/>
            </a:xfrm>
            <a:prstGeom prst="roundRect">
              <a:avLst>
                <a:gd name="adj" fmla="val 10169"/>
              </a:avLst>
            </a:prstGeom>
            <a:solidFill>
              <a:srgbClr val="EAF2F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02359" y="213360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52931" y="245745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1×8×8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381250" y="1866900"/>
              <a:ext cx="1409700" cy="1123950"/>
            </a:xfrm>
            <a:prstGeom prst="roundRect">
              <a:avLst>
                <a:gd name="adj" fmla="val 10169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91387" y="2133600"/>
              <a:ext cx="9894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卷积 + ReLU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13456" y="245745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16×8×8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86200" y="1866900"/>
              <a:ext cx="1409700" cy="1123950"/>
            </a:xfrm>
            <a:prstGeom prst="roundRect">
              <a:avLst>
                <a:gd name="adj" fmla="val 10169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12259" y="213360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池化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18406" y="245745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16×4×4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91150" y="1866900"/>
              <a:ext cx="1409700" cy="1123950"/>
            </a:xfrm>
            <a:prstGeom prst="roundRect">
              <a:avLst>
                <a:gd name="adj" fmla="val 10169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01287" y="2133600"/>
              <a:ext cx="9894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卷积 + ReLU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23356" y="245745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32×4×4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96100" y="1866900"/>
              <a:ext cx="1409700" cy="1123950"/>
            </a:xfrm>
            <a:prstGeom prst="roundRect">
              <a:avLst>
                <a:gd name="adj" fmla="val 10169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22159" y="213360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池化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28306" y="245745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32×2×2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401050" y="1866900"/>
              <a:ext cx="1409700" cy="1123950"/>
            </a:xfrm>
            <a:prstGeom prst="roundRect">
              <a:avLst>
                <a:gd name="adj" fmla="val 10169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27109" y="213360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展平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66530" y="2457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906000" y="1866900"/>
              <a:ext cx="1409700" cy="1123950"/>
            </a:xfrm>
            <a:prstGeom prst="roundRect">
              <a:avLst>
                <a:gd name="adj" fmla="val 10169"/>
              </a:avLst>
            </a:prstGeom>
            <a:solidFill>
              <a:srgbClr val="FFF8E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45903" y="213360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A17"/>
                  </a:solidFill>
                  <a:latin typeface="+mn-lt"/>
                  <a:ea typeface="+mn-ea"/>
                  <a:cs typeface="+mn-cs"/>
                </a:rPr>
                <a:t>全连接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49357" y="245745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762A"/>
                  </a:solidFill>
                  <a:latin typeface="+mn-lt"/>
                  <a:ea typeface="+mn-ea"/>
                  <a:cs typeface="+mn-cs"/>
                </a:rPr>
                <a:t>10 类分数</a:t>
              </a:r>
            </a:p>
          </p:txBody>
        </p:sp>
      </p:grpSp>
      <p:grpSp>
        <p:nvGrpSpPr>
          <p:cNvPr id="37" name="code"/>
          <p:cNvGrpSpPr/>
          <p:nvPr/>
        </p:nvGrpSpPr>
        <p:grpSpPr>
          <a:xfrm>
            <a:off x="685800" y="3352800"/>
            <a:ext cx="6858000" cy="2743200"/>
            <a:chOff x="685800" y="3352800"/>
            <a:chExt cx="6858000" cy="2743200"/>
          </a:xfrm>
        </p:grpSpPr>
        <p:sp>
          <p:nvSpPr>
            <p:cNvPr id="28" name="Rectangle 28"/>
            <p:cNvSpPr/>
            <p:nvPr/>
          </p:nvSpPr>
          <p:spPr>
            <a:xfrm>
              <a:off x="685800" y="3352800"/>
              <a:ext cx="6858000" cy="2743200"/>
            </a:xfrm>
            <a:prstGeom prst="roundRect">
              <a:avLst>
                <a:gd name="adj" fmla="val 4861"/>
              </a:avLst>
            </a:prstGeom>
            <a:solidFill>
              <a:srgbClr val="0F274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6785" y="3594100"/>
              <a:ext cx="25248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FB3D9"/>
                  </a:solidFill>
                  <a:latin typeface="Consolas"/>
                  <a:ea typeface="Consolas"/>
                  <a:cs typeface="Consolas"/>
                </a:rPr>
                <a:t>model = SimpleCNN().to(device)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785" y="3956050"/>
              <a:ext cx="22792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6EDF7"/>
                  </a:solidFill>
                  <a:latin typeface="Consolas"/>
                  <a:ea typeface="Consolas"/>
                  <a:cs typeface="Consolas"/>
                </a:rPr>
                <a:t>class SimpleCNN(nn.Module):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785" y="4241800"/>
              <a:ext cx="25050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6EDF7"/>
                  </a:solidFill>
                  <a:latin typeface="Consolas"/>
                  <a:ea typeface="Consolas"/>
                  <a:cs typeface="Consolas"/>
                </a:rPr>
                <a:t>self.features = nn.Sequential(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785" y="4527550"/>
              <a:ext cx="35337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6EDF7"/>
                  </a:solidFill>
                  <a:latin typeface="Consolas"/>
                  <a:ea typeface="Consolas"/>
                  <a:cs typeface="Consolas"/>
                </a:rPr>
                <a:t>nn.Conv2d(1, 16, 3, padding=1), nn.ReLU(),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785" y="4813300"/>
              <a:ext cx="135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6EDF7"/>
                  </a:solidFill>
                  <a:latin typeface="Consolas"/>
                  <a:ea typeface="Consolas"/>
                  <a:cs typeface="Consolas"/>
                </a:rPr>
                <a:t>nn.MaxPool2d(2),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6785" y="5099050"/>
              <a:ext cx="3617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6EDF7"/>
                  </a:solidFill>
                  <a:latin typeface="Consolas"/>
                  <a:ea typeface="Consolas"/>
                  <a:cs typeface="Consolas"/>
                </a:rPr>
                <a:t>nn.Conv2d(16, 32, 3, padding=1), nn.ReLU(),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6785" y="5384800"/>
              <a:ext cx="135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6EDF7"/>
                  </a:solidFill>
                  <a:latin typeface="Consolas"/>
                  <a:ea typeface="Consolas"/>
                  <a:cs typeface="Consolas"/>
                </a:rPr>
                <a:t>nn.MaxPool2d(2))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6785" y="5670550"/>
              <a:ext cx="2670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6EDF7"/>
                  </a:solidFill>
                  <a:latin typeface="Consolas"/>
                  <a:ea typeface="Consolas"/>
                  <a:cs typeface="Consolas"/>
                </a:rPr>
                <a:t>self.classifier = nn.Sequential(</a:t>
              </a:r>
            </a:p>
          </p:txBody>
        </p:sp>
      </p:grpSp>
      <p:grpSp>
        <p:nvGrpSpPr>
          <p:cNvPr id="46" name="stats"/>
          <p:cNvGrpSpPr/>
          <p:nvPr/>
        </p:nvGrpSpPr>
        <p:grpSpPr>
          <a:xfrm>
            <a:off x="7772400" y="3352800"/>
            <a:ext cx="3733800" cy="2743200"/>
            <a:chOff x="7772400" y="3352800"/>
            <a:chExt cx="3733800" cy="2743200"/>
          </a:xfrm>
        </p:grpSpPr>
        <p:sp>
          <p:nvSpPr>
            <p:cNvPr id="38" name="Rectangle 38"/>
            <p:cNvSpPr/>
            <p:nvPr/>
          </p:nvSpPr>
          <p:spPr>
            <a:xfrm>
              <a:off x="7772400" y="3352800"/>
              <a:ext cx="3733800" cy="2743200"/>
            </a:xfrm>
            <a:prstGeom prst="roundRect">
              <a:avLst>
                <a:gd name="adj" fmla="val 4861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58150" y="3352800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6,090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70342" y="40449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个可训练参数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077200" y="44386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071104" y="4648200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展平后：32 × 2 × 2 = 128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71104" y="4953000"/>
              <a:ext cx="19221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全连接：Linear(128, 10)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71104" y="5257800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输出 10 个 logits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71485" y="55753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训练时交给交叉熵损失函数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47" name="TextBox 47"/>
            <p:cNvSpPr txBox="1"/>
            <p:nvPr/>
          </p:nvSpPr>
          <p:spPr>
            <a:xfrm>
              <a:off x="680085" y="637540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机器学习 · 卷积网络图像分类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4217340" cy="840867"/>
            <a:chOff x="685800" y="514350"/>
            <a:chExt cx="4217340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训练配置与过程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397616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模型先预测，再与真实标签比较，根据误差调整参数</a:t>
              </a:r>
            </a:p>
          </p:txBody>
        </p:sp>
      </p:grpSp>
      <p:grpSp>
        <p:nvGrpSpPr>
          <p:cNvPr id="24" name="config"/>
          <p:cNvGrpSpPr/>
          <p:nvPr/>
        </p:nvGrpSpPr>
        <p:grpSpPr>
          <a:xfrm>
            <a:off x="685800" y="1809750"/>
            <a:ext cx="4000500" cy="4191000"/>
            <a:chOff x="685800" y="1809750"/>
            <a:chExt cx="4000500" cy="41910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4000500" cy="4191000"/>
            </a:xfrm>
            <a:prstGeom prst="roundRect">
              <a:avLst>
                <a:gd name="adj" fmla="val 381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2599" y="20955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训练配置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4123" y="26289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损失函数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41423" y="2628900"/>
              <a:ext cx="16220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CrossEntropyLoss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90600" y="297180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4123" y="318135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优化器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41423" y="3181350"/>
              <a:ext cx="4533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Adam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90600" y="352425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4123" y="373380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学习率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41423" y="3733800"/>
              <a:ext cx="51051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0.001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990600" y="407670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4123" y="4286250"/>
              <a:ext cx="106140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批大小 Batch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41423" y="4286250"/>
              <a:ext cx="2119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90600" y="462915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4123" y="4838700"/>
              <a:ext cx="13940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训练轮数 EPOCHS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46223" y="4838700"/>
              <a:ext cx="2119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90600" y="518160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4504" y="5391150"/>
              <a:ext cx="2449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完整遍历一次训练集 = 1 个 Epoch</a:t>
              </a:r>
            </a:p>
          </p:txBody>
        </p:sp>
      </p:grpSp>
      <p:grpSp>
        <p:nvGrpSpPr>
          <p:cNvPr id="45" name="curve"/>
          <p:cNvGrpSpPr/>
          <p:nvPr/>
        </p:nvGrpSpPr>
        <p:grpSpPr>
          <a:xfrm>
            <a:off x="4914900" y="1809750"/>
            <a:ext cx="6895915" cy="4191000"/>
            <a:chOff x="4914900" y="1809750"/>
            <a:chExt cx="6895915" cy="4191000"/>
          </a:xfrm>
        </p:grpSpPr>
        <p:sp>
          <p:nvSpPr>
            <p:cNvPr id="25" name="Rectangle 25"/>
            <p:cNvSpPr/>
            <p:nvPr/>
          </p:nvSpPr>
          <p:spPr>
            <a:xfrm>
              <a:off x="4914900" y="1809750"/>
              <a:ext cx="6591300" cy="41910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9525">
              <a:solidFill>
                <a:srgbClr val="DCE5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11699" y="209550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训练损失曲线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13985" y="24130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损失总体下降，说明训练误差在减小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334000" y="26670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C6D6EA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5334000" y="49530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C6D6EA"/>
              </a:solidFill>
            </a:ln>
          </p:spPr>
        </p:sp>
        <p:sp>
          <p:nvSpPr>
            <p:cNvPr id="30" name="Polyline 30"/>
            <p:cNvSpPr/>
            <p:nvPr/>
          </p:nvSpPr>
          <p:spPr>
            <a:xfrm>
              <a:off x="5334000" y="2971800"/>
              <a:ext cx="5715000" cy="1885950"/>
            </a:xfrm>
            <a:custGeom>
              <a:avLst/>
              <a:gdLst/>
              <a:ahLst/>
              <a:cxnLst/>
              <a:rect l="l" t="t" r="r" b="b"/>
              <a:pathLst>
                <a:path w="5715000" h="1885950">
                  <a:moveTo>
                    <a:pt x="0" y="0"/>
                  </a:moveTo>
                  <a:lnTo>
                    <a:pt x="1200150" y="885825"/>
                  </a:lnTo>
                  <a:lnTo>
                    <a:pt x="2705100" y="1704975"/>
                  </a:lnTo>
                  <a:lnTo>
                    <a:pt x="4210050" y="1828800"/>
                  </a:lnTo>
                  <a:lnTo>
                    <a:pt x="5715000" y="1885950"/>
                  </a:lnTo>
                </a:path>
              </a:pathLst>
            </a:custGeom>
            <a:noFill/>
            <a:ln w="38100">
              <a:solidFill>
                <a:srgbClr val="2E74B5"/>
              </a:solidFill>
              <a:round/>
            </a:ln>
          </p:spPr>
        </p:sp>
        <p:sp>
          <p:nvSpPr>
            <p:cNvPr id="31" name="Ellipse 31"/>
            <p:cNvSpPr/>
            <p:nvPr/>
          </p:nvSpPr>
          <p:spPr>
            <a:xfrm>
              <a:off x="5267325" y="2905125"/>
              <a:ext cx="133350" cy="13335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467475" y="3790950"/>
              <a:ext cx="133350" cy="13335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972425" y="4610100"/>
              <a:ext cx="133350" cy="13335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9477375" y="4733925"/>
              <a:ext cx="133350" cy="13335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0982325" y="4791075"/>
              <a:ext cx="133350" cy="133350"/>
            </a:xfrm>
            <a:prstGeom prst="ellipse">
              <a:avLst/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89794" y="51308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9944" y="51308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56023" y="51308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60973" y="51308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65923" y="51308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89608" y="5397500"/>
              <a:ext cx="403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Epoch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10366" y="3073400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2.2730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10366" y="4387850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0.3213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10366" y="4959350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762A"/>
                  </a:solidFill>
                  <a:latin typeface="+mn-lt"/>
                  <a:ea typeface="+mn-ea"/>
                  <a:cs typeface="+mn-cs"/>
                </a:rPr>
                <a:t>0.1129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46" name="TextBox 46"/>
            <p:cNvSpPr txBox="1"/>
            <p:nvPr/>
          </p:nvSpPr>
          <p:spPr>
            <a:xfrm>
              <a:off x="680085" y="637540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机器学习 · 卷积网络图像分类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4079489" cy="840867"/>
            <a:chOff x="685800" y="514350"/>
            <a:chExt cx="4079489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34819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在测试集上评价模型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383831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准确率回答“对了多少”，混淆矩阵回答“错在哪里”</a:t>
              </a:r>
            </a:p>
          </p:txBody>
        </p:sp>
      </p:grpSp>
      <p:grpSp>
        <p:nvGrpSpPr>
          <p:cNvPr id="14" name="hero"/>
          <p:cNvGrpSpPr/>
          <p:nvPr/>
        </p:nvGrpSpPr>
        <p:grpSpPr>
          <a:xfrm>
            <a:off x="685800" y="1809750"/>
            <a:ext cx="4000500" cy="4191000"/>
            <a:chOff x="685800" y="1809750"/>
            <a:chExt cx="4000500" cy="41910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4000500" cy="4191000"/>
            </a:xfrm>
            <a:prstGeom prst="roundRect">
              <a:avLst>
                <a:gd name="adj" fmla="val 3810"/>
              </a:avLst>
            </a:prstGeom>
            <a:solidFill>
              <a:srgbClr val="123A6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3361" y="2489200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测试集准确率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71550" y="2844800"/>
              <a:ext cx="2858052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97.04%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384810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9525">
              <a:solidFill>
                <a:srgbClr val="2E5C9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4504" y="4076700"/>
              <a:ext cx="1344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7DAEF"/>
                  </a:solidFill>
                  <a:latin typeface="+mn-lt"/>
                  <a:ea typeface="+mn-ea"/>
                  <a:cs typeface="+mn-cs"/>
                </a:rPr>
                <a:t>测试集 270 张图片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504" y="440055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7DAEF"/>
                  </a:solidFill>
                  <a:latin typeface="+mn-lt"/>
                  <a:ea typeface="+mn-ea"/>
                  <a:cs typeface="+mn-cs"/>
                </a:rPr>
                <a:t>仅用于最终评价，不参与训练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4504" y="4762500"/>
              <a:ext cx="1580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7DAEF"/>
                  </a:solidFill>
                  <a:latin typeface="+mn-lt"/>
                  <a:ea typeface="+mn-ea"/>
                  <a:cs typeface="+mn-cs"/>
                </a:rPr>
                <a:t>macro avg F1 = 0.97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4504" y="5124450"/>
              <a:ext cx="18457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7DAEF"/>
                  </a:solidFill>
                  <a:latin typeface="+mn-lt"/>
                  <a:ea typeface="+mn-ea"/>
                  <a:cs typeface="+mn-cs"/>
                </a:rPr>
                <a:t>数字 8 召回最低（0.88）</a:t>
              </a:r>
            </a:p>
          </p:txBody>
        </p:sp>
      </p:grpSp>
      <p:grpSp>
        <p:nvGrpSpPr>
          <p:cNvPr id="45" name="recall"/>
          <p:cNvGrpSpPr/>
          <p:nvPr/>
        </p:nvGrpSpPr>
        <p:grpSpPr>
          <a:xfrm>
            <a:off x="4914900" y="1809750"/>
            <a:ext cx="6591300" cy="4191000"/>
            <a:chOff x="4914900" y="1809750"/>
            <a:chExt cx="6591300" cy="4191000"/>
          </a:xfrm>
        </p:grpSpPr>
        <p:sp>
          <p:nvSpPr>
            <p:cNvPr id="15" name="Rectangle 15"/>
            <p:cNvSpPr/>
            <p:nvPr/>
          </p:nvSpPr>
          <p:spPr>
            <a:xfrm>
              <a:off x="4914900" y="1809750"/>
              <a:ext cx="6591300" cy="4191000"/>
            </a:xfrm>
            <a:prstGeom prst="roundRect">
              <a:avLst>
                <a:gd name="adj" fmla="val 3636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12080" y="20891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各类别召回率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14366" y="2387600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召回率 = 该类被正确找出的比例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3985" y="2717800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524500" y="2743200"/>
              <a:ext cx="3619500" cy="1333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52966" y="274002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1.00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13985" y="3060700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524500" y="3086100"/>
              <a:ext cx="3362325" cy="1333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52966" y="308292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0.93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13985" y="3403600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524500" y="3429000"/>
              <a:ext cx="3619500" cy="1333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52966" y="342582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1.00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13985" y="3746500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524500" y="3771900"/>
              <a:ext cx="3619500" cy="1333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52966" y="376872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1.00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13985" y="4089400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524500" y="4114800"/>
              <a:ext cx="3362325" cy="1333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52966" y="411162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0.93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13985" y="4432300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524500" y="4457700"/>
              <a:ext cx="3619500" cy="1333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52966" y="445452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1.00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13985" y="4775200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524500" y="4800600"/>
              <a:ext cx="3619500" cy="1333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52966" y="479742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1.00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13985" y="5118100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24500" y="5143500"/>
              <a:ext cx="3181350" cy="133350"/>
            </a:xfrm>
            <a:prstGeom prst="roundRect">
              <a:avLst>
                <a:gd name="adj" fmla="val 50000"/>
              </a:avLst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52966" y="514032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762A"/>
                  </a:solidFill>
                  <a:latin typeface="+mn-lt"/>
                  <a:ea typeface="+mn-ea"/>
                  <a:cs typeface="+mn-cs"/>
                </a:rPr>
                <a:t>0.88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13985" y="5461000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524500" y="5486400"/>
              <a:ext cx="3476625" cy="1333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52966" y="548322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0.96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46" name="TextBox 46"/>
            <p:cNvSpPr txBox="1"/>
            <p:nvPr/>
          </p:nvSpPr>
          <p:spPr>
            <a:xfrm>
              <a:off x="680085" y="637540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机器学习 · 卷积网络图像分类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4217340" cy="840867"/>
            <a:chOff x="685800" y="514350"/>
            <a:chExt cx="4217340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课堂练习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397616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先保存当前结果，再逐项修改，每次只改变一个因素</a:t>
              </a:r>
            </a:p>
          </p:txBody>
        </p:sp>
      </p:grpSp>
      <p:grpSp>
        <p:nvGrpSpPr>
          <p:cNvPr id="11" name="ex-1"/>
          <p:cNvGrpSpPr/>
          <p:nvPr/>
        </p:nvGrpSpPr>
        <p:grpSpPr>
          <a:xfrm>
            <a:off x="685800" y="1905000"/>
            <a:ext cx="3429000" cy="2857500"/>
            <a:chOff x="685800" y="1905000"/>
            <a:chExt cx="3429000" cy="2857500"/>
          </a:xfrm>
        </p:grpSpPr>
        <p:sp>
          <p:nvSpPr>
            <p:cNvPr id="6" name="Rectangle 6"/>
            <p:cNvSpPr/>
            <p:nvPr/>
          </p:nvSpPr>
          <p:spPr>
            <a:xfrm>
              <a:off x="685800" y="1905000"/>
              <a:ext cx="3429000" cy="2857500"/>
            </a:xfrm>
            <a:prstGeom prst="roundRect">
              <a:avLst>
                <a:gd name="adj" fmla="val 533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90500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218" y="2292350"/>
              <a:ext cx="183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练习一 · 训练轮数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4504" y="2749550"/>
              <a:ext cx="163525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把 EPOCHS 改为 5 和 30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观察训练损失的变化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4504" y="3727450"/>
              <a:ext cx="16885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思考：验证集准确率</a:t>
              </a:r>
              <a:b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一定随轮数持续提高吗？</a:t>
              </a:r>
            </a:p>
          </p:txBody>
        </p:sp>
      </p:grpSp>
      <p:grpSp>
        <p:nvGrpSpPr>
          <p:cNvPr id="17" name="ex-2"/>
          <p:cNvGrpSpPr/>
          <p:nvPr/>
        </p:nvGrpSpPr>
        <p:grpSpPr>
          <a:xfrm>
            <a:off x="4343400" y="1905000"/>
            <a:ext cx="3429000" cy="2857500"/>
            <a:chOff x="4343400" y="1905000"/>
            <a:chExt cx="3429000" cy="2857500"/>
          </a:xfrm>
        </p:grpSpPr>
        <p:sp>
          <p:nvSpPr>
            <p:cNvPr id="12" name="Rectangle 12"/>
            <p:cNvSpPr/>
            <p:nvPr/>
          </p:nvSpPr>
          <p:spPr>
            <a:xfrm>
              <a:off x="4343400" y="1905000"/>
              <a:ext cx="3429000" cy="2857500"/>
            </a:xfrm>
            <a:prstGeom prst="roundRect">
              <a:avLst>
                <a:gd name="adj" fmla="val 533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43400" y="190500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1B7F6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39818" y="2292350"/>
              <a:ext cx="206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E5B4C"/>
                  </a:solidFill>
                  <a:latin typeface="+mn-lt"/>
                  <a:ea typeface="+mn-ea"/>
                  <a:cs typeface="+mn-cs"/>
                </a:rPr>
                <a:t>练习二 · 卷积核数量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42104" y="2749550"/>
              <a:ext cx="186385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第一层 out_channels 16→8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第二层 in_channels 16→8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42104" y="3727450"/>
              <a:ext cx="15361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观察参数量、训练速度</a:t>
              </a:r>
              <a:b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与分类表现的变化</a:t>
              </a:r>
            </a:p>
          </p:txBody>
        </p:sp>
      </p:grpSp>
      <p:grpSp>
        <p:nvGrpSpPr>
          <p:cNvPr id="23" name="ex-3"/>
          <p:cNvGrpSpPr/>
          <p:nvPr/>
        </p:nvGrpSpPr>
        <p:grpSpPr>
          <a:xfrm>
            <a:off x="8001000" y="1905000"/>
            <a:ext cx="3505200" cy="2857500"/>
            <a:chOff x="8001000" y="1905000"/>
            <a:chExt cx="35052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8001000" y="1905000"/>
              <a:ext cx="3505200" cy="2857500"/>
            </a:xfrm>
            <a:prstGeom prst="roundRect">
              <a:avLst>
                <a:gd name="adj" fmla="val 533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01000" y="19050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7A4E9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97418" y="2292350"/>
              <a:ext cx="183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B3679"/>
                  </a:solidFill>
                  <a:latin typeface="+mn-lt"/>
                  <a:ea typeface="+mn-ea"/>
                  <a:cs typeface="+mn-cs"/>
                </a:rPr>
                <a:t>练习三 · 解释结构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9704" y="2749550"/>
              <a:ext cx="210007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输入为什么是 [批次,1,8,8]？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两次池化后为何变成 2×2？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9704" y="3727450"/>
              <a:ext cx="13837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最后一层为什么输出</a:t>
              </a:r>
              <a:b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10 个数？</a:t>
              </a:r>
            </a:p>
          </p:txBody>
        </p:sp>
      </p:grpSp>
      <p:grpSp>
        <p:nvGrpSpPr>
          <p:cNvPr id="28" name="extend"/>
          <p:cNvGrpSpPr/>
          <p:nvPr/>
        </p:nvGrpSpPr>
        <p:grpSpPr>
          <a:xfrm>
            <a:off x="685800" y="5029200"/>
            <a:ext cx="10820400" cy="1047750"/>
            <a:chOff x="685800" y="5029200"/>
            <a:chExt cx="10820400" cy="1047750"/>
          </a:xfrm>
        </p:grpSpPr>
        <p:sp>
          <p:nvSpPr>
            <p:cNvPr id="24" name="Rectangle 24"/>
            <p:cNvSpPr/>
            <p:nvPr/>
          </p:nvSpPr>
          <p:spPr>
            <a:xfrm>
              <a:off x="685800" y="5029200"/>
              <a:ext cx="10820400" cy="1047750"/>
            </a:xfrm>
            <a:prstGeom prst="roundRect">
              <a:avLst>
                <a:gd name="adj" fmla="val 12727"/>
              </a:avLst>
            </a:prstGeom>
            <a:solidFill>
              <a:srgbClr val="EAF2F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" y="502920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3742" y="52260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提高任务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4504" y="5524500"/>
              <a:ext cx="703021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尝试只保留一层卷积，或再增加一层卷积，比较实验结果并记录：网络结构、Epoch 数、测试集准确率。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不要只依据一次实验下结论，请使用相同的数据划分与随机种子进行对比。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29" name="TextBox 29"/>
            <p:cNvSpPr txBox="1"/>
            <p:nvPr/>
          </p:nvSpPr>
          <p:spPr>
            <a:xfrm>
              <a:off x="680085" y="637540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机器学习 · 卷积网络图像分类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summary"/>
          <p:cNvGrpSpPr/>
          <p:nvPr/>
        </p:nvGrpSpPr>
        <p:grpSpPr>
          <a:xfrm>
            <a:off x="685800" y="1123950"/>
            <a:ext cx="5300472" cy="3663696"/>
            <a:chOff x="685800" y="1123950"/>
            <a:chExt cx="5300472" cy="3663696"/>
          </a:xfrm>
        </p:grpSpPr>
        <p:sp>
          <p:nvSpPr>
            <p:cNvPr id="2" name="Rectangle 2"/>
            <p:cNvSpPr/>
            <p:nvPr/>
          </p:nvSpPr>
          <p:spPr>
            <a:xfrm>
              <a:off x="685800" y="11239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1162050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本节小结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714500"/>
              <a:ext cx="501443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图像数据 → 归一化 → 划分数据集 → CNN 建模 → 训练 → 评价 → 预测</a:t>
              </a:r>
            </a:p>
          </p:txBody>
        </p:sp>
        <p:grpSp>
          <p:nvGrpSpPr>
            <p:cNvPr id="9" name="point-1"/>
            <p:cNvGrpSpPr/>
            <p:nvPr/>
          </p:nvGrpSpPr>
          <p:grpSpPr>
            <a:xfrm>
              <a:off x="838200" y="2317750"/>
              <a:ext cx="5148072" cy="564896"/>
              <a:chOff x="838200" y="2317750"/>
              <a:chExt cx="5148072" cy="564896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838200" y="2381250"/>
                <a:ext cx="304800" cy="304800"/>
              </a:xfrm>
              <a:prstGeom prst="ellipse">
                <a:avLst/>
              </a:prstGeom>
              <a:solidFill>
                <a:srgbClr val="2E74B5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934367" y="2447925"/>
                <a:ext cx="112465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288161" y="2317750"/>
                <a:ext cx="211724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123A6B"/>
                    </a:solidFill>
                    <a:latin typeface="+mn-lt"/>
                    <a:ea typeface="+mn-ea"/>
                    <a:cs typeface="+mn-cs"/>
                  </a:rPr>
                  <a:t>卷积提特征，池化降维度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89304" y="2647950"/>
                <a:ext cx="46969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B62"/>
                    </a:solidFill>
                    <a:latin typeface="+mn-lt"/>
                    <a:ea typeface="+mn-ea"/>
                    <a:cs typeface="+mn-cs"/>
                  </a:rPr>
                  <a:t>卷积层提取局部特征，池化层缩小特征图，全连接层输出类别分数</a:t>
                </a:r>
              </a:p>
            </p:txBody>
          </p:sp>
        </p:grpSp>
        <p:grpSp>
          <p:nvGrpSpPr>
            <p:cNvPr id="14" name="point-2"/>
            <p:cNvGrpSpPr/>
            <p:nvPr/>
          </p:nvGrpSpPr>
          <p:grpSpPr>
            <a:xfrm>
              <a:off x="838200" y="3270250"/>
              <a:ext cx="4340352" cy="564896"/>
              <a:chOff x="838200" y="3270250"/>
              <a:chExt cx="4340352" cy="564896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838200" y="3333750"/>
                <a:ext cx="304800" cy="304800"/>
              </a:xfrm>
              <a:prstGeom prst="ellipse">
                <a:avLst/>
              </a:prstGeom>
              <a:solidFill>
                <a:srgbClr val="2E74B5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34367" y="3400425"/>
                <a:ext cx="112465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88161" y="3270250"/>
                <a:ext cx="17349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123A6B"/>
                    </a:solidFill>
                    <a:latin typeface="+mn-lt"/>
                    <a:ea typeface="+mn-ea"/>
                    <a:cs typeface="+mn-cs"/>
                  </a:rPr>
                  <a:t>三个数据集各司其职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89304" y="3600450"/>
                <a:ext cx="38892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B62"/>
                    </a:solidFill>
                    <a:latin typeface="+mn-lt"/>
                    <a:ea typeface="+mn-ea"/>
                    <a:cs typeface="+mn-cs"/>
                  </a:rPr>
                  <a:t>训练集更新参数，验证集观察过程，测试集做最终评价</a:t>
                </a:r>
              </a:p>
            </p:txBody>
          </p:sp>
        </p:grpSp>
        <p:grpSp>
          <p:nvGrpSpPr>
            <p:cNvPr id="19" name="point-3"/>
            <p:cNvGrpSpPr/>
            <p:nvPr/>
          </p:nvGrpSpPr>
          <p:grpSpPr>
            <a:xfrm>
              <a:off x="838200" y="4222750"/>
              <a:ext cx="4986528" cy="564896"/>
              <a:chOff x="838200" y="4222750"/>
              <a:chExt cx="4986528" cy="564896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838200" y="4286250"/>
                <a:ext cx="304800" cy="304800"/>
              </a:xfrm>
              <a:prstGeom prst="ellipse">
                <a:avLst/>
              </a:prstGeom>
              <a:solidFill>
                <a:srgbClr val="E8B34B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34367" y="4352925"/>
                <a:ext cx="112465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88161" y="4222750"/>
                <a:ext cx="135260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123A6B"/>
                    </a:solidFill>
                    <a:latin typeface="+mn-lt"/>
                    <a:ea typeface="+mn-ea"/>
                    <a:cs typeface="+mn-cs"/>
                  </a:rPr>
                  <a:t>更深不一定更好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89304" y="4552950"/>
                <a:ext cx="45354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B62"/>
                    </a:solidFill>
                    <a:latin typeface="+mn-lt"/>
                    <a:ea typeface="+mn-ea"/>
                    <a:cs typeface="+mn-cs"/>
                  </a:rPr>
                  <a:t>网络更深、通道更多还要结合数据量、训练方法与测试结果判断</a:t>
                </a:r>
              </a:p>
            </p:txBody>
          </p:sp>
        </p:grpSp>
      </p:grpSp>
      <p:grpSp>
        <p:nvGrpSpPr>
          <p:cNvPr id="27" name="closing"/>
          <p:cNvGrpSpPr/>
          <p:nvPr/>
        </p:nvGrpSpPr>
        <p:grpSpPr>
          <a:xfrm>
            <a:off x="7962900" y="990600"/>
            <a:ext cx="3619500" cy="4533900"/>
            <a:chOff x="7962900" y="990600"/>
            <a:chExt cx="3619500" cy="4533900"/>
          </a:xfrm>
        </p:grpSpPr>
        <p:sp>
          <p:nvSpPr>
            <p:cNvPr id="21" name="Rectangle 21"/>
            <p:cNvSpPr/>
            <p:nvPr/>
          </p:nvSpPr>
          <p:spPr>
            <a:xfrm>
              <a:off x="7962900" y="1123950"/>
              <a:ext cx="3543300" cy="4400550"/>
            </a:xfrm>
            <a:prstGeom prst="roundRect">
              <a:avLst>
                <a:gd name="adj" fmla="val 4839"/>
              </a:avLst>
            </a:prstGeom>
            <a:solidFill>
              <a:srgbClr val="123A6B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753600" y="990600"/>
              <a:ext cx="1828800" cy="1828800"/>
            </a:xfrm>
            <a:prstGeom prst="ellipse">
              <a:avLst/>
            </a:prstGeom>
            <a:solidFill>
              <a:srgbClr val="1B4F8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04098" y="3657600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感谢观看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13242" y="4292600"/>
              <a:ext cx="1953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THANKS FOR WATCHING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420100" y="476250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38100">
              <a:solidFill>
                <a:srgbClr val="E8B34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14004" y="499110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7DAEF"/>
                  </a:solidFill>
                  <a:latin typeface="+mn-lt"/>
                  <a:ea typeface="+mn-ea"/>
                  <a:cs typeface="+mn-cs"/>
                </a:rPr>
                <a:t>机器学习 · 第 9 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w9_cnn">
  <a:themeElements>
    <a:clrScheme name="w9_cn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9_cnn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9_cn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2026-10-21T07:04:59Z</dcterms:created>
  <dcterms:modified xsi:type="dcterms:W3CDTF">2026-10-21T07:04:59Z</dcterms:modified>
  <cp:category/>
  <cp:contentStatus/>
</cp:coreProperties>
</file>
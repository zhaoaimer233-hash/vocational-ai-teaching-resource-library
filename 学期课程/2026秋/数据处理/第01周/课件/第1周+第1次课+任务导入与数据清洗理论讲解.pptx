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48840"/>
            <a:ext cx="12191695" cy="54864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480560"/>
            <a:ext cx="12191695" cy="18288"/>
          </a:xfrm>
          <a:prstGeom prst="rect">
            <a:avLst/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731520"/>
            <a:ext cx="103601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0">
                <a:solidFill>
                  <a:srgbClr val="555A64"/>
                </a:solidFill>
                <a:latin typeface="微软雅黑"/>
              </a:rPr>
              <a:t>2026—2027学年第一学期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234440"/>
            <a:ext cx="1036015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5400" b="1">
                <a:solidFill>
                  <a:srgbClr val="1F3B66"/>
                </a:solidFill>
                <a:latin typeface="微软雅黑"/>
              </a:rPr>
              <a:t>数据处理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10360152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600" b="0">
                <a:solidFill>
                  <a:srgbClr val="555A64"/>
                </a:solidFill>
                <a:latin typeface="微软雅黑"/>
              </a:rPr>
              <a:t>课题：</a:t>
            </a:r>
            <a:r>
              <a:rPr sz="2600" b="1">
                <a:solidFill>
                  <a:srgbClr val="2E74B5"/>
                </a:solidFill>
                <a:latin typeface="微软雅黑"/>
              </a:rPr>
              <a:t>数据清洗</a:t>
            </a:r>
          </a:p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600" b="0">
                <a:solidFill>
                  <a:srgbClr val="555A64"/>
                </a:solidFill>
                <a:latin typeface="微软雅黑"/>
              </a:rPr>
              <a:t>分课题：</a:t>
            </a:r>
            <a:r>
              <a:rPr sz="2600" b="1">
                <a:solidFill>
                  <a:srgbClr val="2E74B5"/>
                </a:solidFill>
                <a:latin typeface="微软雅黑"/>
              </a:rPr>
              <a:t>任务导入与数据清洗理论讲解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709160"/>
            <a:ext cx="103601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0">
                <a:solidFill>
                  <a:srgbClr val="555A64"/>
                </a:solidFill>
                <a:latin typeface="微软雅黑"/>
              </a:rPr>
              <a:t>授课教师：李国栋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34440"/>
            <a:ext cx="82296" cy="173736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52728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知识目标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52120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1.说出数据处理的概念、作用与基本流程；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2.认识Pandas库及数据清洗的常用方法（缺失值、异常值、重复值处理）。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1234440"/>
            <a:ext cx="82296" cy="173736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252728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技能目标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737360"/>
            <a:ext cx="52120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1.能列举数据处理的基本流程；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2.能识别数据中缺失值、异常值、重复值等常见“脏数据”。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794760"/>
            <a:ext cx="82296" cy="173736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813048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职业素养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297680"/>
            <a:ext cx="52120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1.树立严谨细致的数据质量意识；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2.养成规范记录、主动学习的职业习惯。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3794760"/>
            <a:ext cx="82296" cy="173736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3813048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思政目标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4297680"/>
            <a:ext cx="52120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1.认识数据要素在国家数字经济发展中的重要作用；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2.树立数据安全与诚实守信的价值观念。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目录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548640" cy="54864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307592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组织教学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938528"/>
            <a:ext cx="548640" cy="54864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93852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965960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导入新课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596896"/>
            <a:ext cx="548640" cy="54864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59689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624328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讲授新课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255264"/>
            <a:ext cx="548640" cy="54864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25526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282696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实操演练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913632"/>
            <a:ext cx="548640" cy="54864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9136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941064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巩固练习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4571999"/>
            <a:ext cx="548640" cy="54864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571999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599431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课堂小结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2926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9DC3E6"/>
                </a:solidFill>
                <a:latin typeface="微软雅黑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37160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组织教学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06070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1.点名与学情确认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2.设备与课件检查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3.介绍课程任务要求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4.明确课堂纪律要求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2926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9DC3E6"/>
                </a:solidFill>
                <a:latin typeface="微软雅黑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37160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导入新课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06070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1.展示电商数据、用户行为数据等案例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2.提出“数据为什么需要处理”的问题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3.引出数据处理与数据清洗概念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2926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9DC3E6"/>
                </a:solidFill>
                <a:latin typeface="微软雅黑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37160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讲授新课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06070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1.数据处理的概念与作用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2.数据处理的基本流程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3.数据清洗的概念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4.脏数据常见类型（缺失值、异常值、重复值）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5.Pandas库简介与作用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2926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9DC3E6"/>
                </a:solidFill>
                <a:latin typeface="微软雅黑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37160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实操演练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06070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1.观察样例数据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2.识别数据中的缺失值、异常值、重复值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3.判断应采用的处理方法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2926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9DC3E6"/>
                </a:solidFill>
                <a:latin typeface="微软雅黑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37160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巩固练习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06070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1.数据处理概念辨析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2.脏数据类型判断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3.数据处理流程梳理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4.Pandas库作用回顾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2926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9DC3E6"/>
                </a:solidFill>
                <a:latin typeface="微软雅黑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37160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课堂小结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06070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1.数据处理概念总结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2.数据清洗方法总结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3.脏数据类型总结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4.数据处理流程总结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651760"/>
            <a:ext cx="10360152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6000" b="1">
                <a:solidFill>
                  <a:srgbClr val="FFFFFF"/>
                </a:solidFill>
                <a:latin typeface="微软雅黑"/>
              </a:rPr>
              <a:t>感谢观看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749039"/>
            <a:ext cx="1036015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400" b="0">
                <a:solidFill>
                  <a:srgbClr val="9DC3E6"/>
                </a:solidFill>
                <a:latin typeface="微软雅黑"/>
              </a:rPr>
              <a:t>THANKS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
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72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42870" y="1523327"/>
            <a:ext cx="8306259" cy="209207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5175" b="1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万用表的使用ppt课件pptx</a:t>
            </a:r>
            <a:endParaRPr lang="en-US" sz="5175" b="1" dirty="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7491" y="810388"/>
            <a:ext cx="5298183" cy="5298183"/>
          </a:xfrm>
          <a:prstGeom prst="ellipse">
            <a:avLst/>
          </a:prstGeom>
          <a:solidFill>
            <a:schemeClr val="accent1">
              <a:alpha val="14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938400" y="1451298"/>
            <a:ext cx="4016365" cy="401636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1231235" y="2407957"/>
            <a:ext cx="3626990" cy="252374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86000"/>
              </a:lnSpc>
            </a:pPr>
            <a:r>
              <a:rPr lang="en-US" sz="765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01923" y="2066581"/>
            <a:ext cx="3089320" cy="104165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86000"/>
              </a:lnSpc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22569" y="1019175"/>
            <a:ext cx="5810250" cy="481965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spAutoFit/>
          </a:bodyPr>
          <a:lstStyle/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万用表概述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万用表的结构与原理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万用表的使用方法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万用表的注意事项与维护保养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万用表的应用实例与拓展应用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实验操作与数据分析</a:t>
            </a:r>
          </a:p>
        </p:txBody>
      </p:sp>
      <p:sp>
        <p:nvSpPr>
          <p:cNvPr id="7" name="AutoShape 7"/>
          <p:cNvSpPr/>
          <p:nvPr/>
        </p:nvSpPr>
        <p:spPr>
          <a:xfrm>
            <a:off x="11307391" y="332232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11736478" y="332232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1346376" y="332232"/>
            <a:ext cx="436199" cy="86430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11307391" y="508550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1736478" y="508550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11346376" y="508550"/>
            <a:ext cx="436199" cy="86430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1307391" y="684869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11736478" y="684869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11346376" y="684869"/>
            <a:ext cx="436199" cy="86430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62600" y="2304610"/>
            <a:ext cx="1066800" cy="10668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19050">
            <a:solidFill>
              <a:srgbClr val="000000">
                <a:alpha val="100000"/>
              </a:srgbClr>
            </a:soli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2770323" y="2304610"/>
            <a:ext cx="6651353" cy="103136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5775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35297" y="3578030"/>
            <a:ext cx="5724525" cy="157162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825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万用表概述</a:t>
            </a:r>
          </a:p>
        </p:txBody>
      </p:sp>
      <p:cxnSp>
        <p:nvCxnSpPr>
          <p:cNvPr id="5" name="Connector 5"/>
          <p:cNvCxnSpPr/>
          <p:nvPr/>
        </p:nvCxnSpPr>
        <p:spPr>
          <a:xfrm flipV="1">
            <a:off x="6881808" y="1961467"/>
            <a:ext cx="964777" cy="686285"/>
          </a:xfrm>
          <a:prstGeom prst="line">
            <a:avLst/>
          </a:prstGeom>
          <a:ln w="19050">
            <a:solidFill>
              <a:schemeClr val="dk1"/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 flipV="1">
            <a:off x="4377943" y="2742715"/>
            <a:ext cx="964777" cy="686285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2551" r="32551"/>
          <a:stretch>
            <a:fillRect/>
          </a:stretch>
        </p:blipFill>
        <p:spPr>
          <a:xfrm>
            <a:off x="875314" y="1869245"/>
            <a:ext cx="2050689" cy="391643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23819" r="23819"/>
          <a:stretch>
            <a:fillRect/>
          </a:stretch>
        </p:blipFill>
        <p:spPr>
          <a:xfrm>
            <a:off x="5906739" y="1869245"/>
            <a:ext cx="2050689" cy="39164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l="32551" r="32551"/>
          <a:stretch>
            <a:fillRect/>
          </a:stretch>
        </p:blipFill>
        <p:spPr>
          <a:xfrm>
            <a:off x="3391027" y="1869245"/>
            <a:ext cx="2050689" cy="3916435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8503615" y="1869245"/>
            <a:ext cx="300899" cy="495300"/>
          </a:xfrm>
          <a:custGeom>
            <a:avLst/>
            <a:gdLst/>
            <a:ahLst/>
            <a:cxnLst/>
            <a:rect l="l" t="t" r="r" b="b"/>
            <a:pathLst>
              <a:path w="369275" h="607851">
                <a:moveTo>
                  <a:pt x="139276" y="570066"/>
                </a:moveTo>
                <a:cubicBezTo>
                  <a:pt x="144275" y="565371"/>
                  <a:pt x="152183" y="565744"/>
                  <a:pt x="156809" y="570811"/>
                </a:cubicBezTo>
                <a:cubicBezTo>
                  <a:pt x="171730" y="587133"/>
                  <a:pt x="197544" y="587133"/>
                  <a:pt x="212465" y="570811"/>
                </a:cubicBezTo>
                <a:cubicBezTo>
                  <a:pt x="217091" y="565744"/>
                  <a:pt x="224999" y="565371"/>
                  <a:pt x="229998" y="570066"/>
                </a:cubicBezTo>
                <a:cubicBezTo>
                  <a:pt x="235071" y="574687"/>
                  <a:pt x="235444" y="582512"/>
                  <a:pt x="230818" y="587580"/>
                </a:cubicBezTo>
                <a:cubicBezTo>
                  <a:pt x="218956" y="600473"/>
                  <a:pt x="202170" y="607851"/>
                  <a:pt x="184637" y="607851"/>
                </a:cubicBezTo>
                <a:cubicBezTo>
                  <a:pt x="167105" y="607851"/>
                  <a:pt x="150318" y="600473"/>
                  <a:pt x="138456" y="587580"/>
                </a:cubicBezTo>
                <a:cubicBezTo>
                  <a:pt x="133830" y="582512"/>
                  <a:pt x="134203" y="574687"/>
                  <a:pt x="139276" y="570066"/>
                </a:cubicBezTo>
                <a:close/>
                <a:moveTo>
                  <a:pt x="273919" y="497785"/>
                </a:moveTo>
                <a:cubicBezTo>
                  <a:pt x="280558" y="496146"/>
                  <a:pt x="287345" y="500169"/>
                  <a:pt x="288986" y="506874"/>
                </a:cubicBezTo>
                <a:cubicBezTo>
                  <a:pt x="290627" y="513505"/>
                  <a:pt x="286599" y="520210"/>
                  <a:pt x="279961" y="521849"/>
                </a:cubicBezTo>
                <a:cubicBezTo>
                  <a:pt x="218426" y="537271"/>
                  <a:pt x="156891" y="552619"/>
                  <a:pt x="95356" y="567966"/>
                </a:cubicBezTo>
                <a:cubicBezTo>
                  <a:pt x="88717" y="569605"/>
                  <a:pt x="81930" y="565582"/>
                  <a:pt x="80289" y="558951"/>
                </a:cubicBezTo>
                <a:cubicBezTo>
                  <a:pt x="78648" y="552321"/>
                  <a:pt x="82676" y="545541"/>
                  <a:pt x="89314" y="543902"/>
                </a:cubicBezTo>
                <a:cubicBezTo>
                  <a:pt x="150849" y="528554"/>
                  <a:pt x="212384" y="513207"/>
                  <a:pt x="273919" y="497785"/>
                </a:cubicBezTo>
                <a:close/>
                <a:moveTo>
                  <a:pt x="273919" y="452696"/>
                </a:moveTo>
                <a:cubicBezTo>
                  <a:pt x="280558" y="450984"/>
                  <a:pt x="287345" y="455003"/>
                  <a:pt x="288986" y="461701"/>
                </a:cubicBezTo>
                <a:cubicBezTo>
                  <a:pt x="290627" y="468325"/>
                  <a:pt x="286599" y="475024"/>
                  <a:pt x="279961" y="476736"/>
                </a:cubicBezTo>
                <a:cubicBezTo>
                  <a:pt x="218426" y="492067"/>
                  <a:pt x="156891" y="507399"/>
                  <a:pt x="95356" y="522731"/>
                </a:cubicBezTo>
                <a:cubicBezTo>
                  <a:pt x="88717" y="524443"/>
                  <a:pt x="81930" y="520350"/>
                  <a:pt x="80289" y="513726"/>
                </a:cubicBezTo>
                <a:cubicBezTo>
                  <a:pt x="78648" y="507102"/>
                  <a:pt x="82676" y="500403"/>
                  <a:pt x="89314" y="498691"/>
                </a:cubicBezTo>
                <a:cubicBezTo>
                  <a:pt x="150849" y="483360"/>
                  <a:pt x="212384" y="468028"/>
                  <a:pt x="273919" y="452696"/>
                </a:cubicBezTo>
                <a:close/>
                <a:moveTo>
                  <a:pt x="184673" y="227009"/>
                </a:moveTo>
                <a:cubicBezTo>
                  <a:pt x="189222" y="227009"/>
                  <a:pt x="193698" y="227158"/>
                  <a:pt x="198173" y="227456"/>
                </a:cubicBezTo>
                <a:cubicBezTo>
                  <a:pt x="202723" y="227829"/>
                  <a:pt x="207273" y="228276"/>
                  <a:pt x="211748" y="228947"/>
                </a:cubicBezTo>
                <a:cubicBezTo>
                  <a:pt x="216223" y="229617"/>
                  <a:pt x="220773" y="230437"/>
                  <a:pt x="225248" y="231406"/>
                </a:cubicBezTo>
                <a:cubicBezTo>
                  <a:pt x="229723" y="232449"/>
                  <a:pt x="234199" y="233567"/>
                  <a:pt x="238674" y="234908"/>
                </a:cubicBezTo>
                <a:cubicBezTo>
                  <a:pt x="248370" y="237740"/>
                  <a:pt x="250757" y="250408"/>
                  <a:pt x="242776" y="256593"/>
                </a:cubicBezTo>
                <a:cubicBezTo>
                  <a:pt x="242403" y="256891"/>
                  <a:pt x="242030" y="257190"/>
                  <a:pt x="241657" y="257562"/>
                </a:cubicBezTo>
                <a:cubicBezTo>
                  <a:pt x="241284" y="257935"/>
                  <a:pt x="240837" y="258307"/>
                  <a:pt x="240464" y="258680"/>
                </a:cubicBezTo>
                <a:cubicBezTo>
                  <a:pt x="240091" y="259127"/>
                  <a:pt x="239644" y="259574"/>
                  <a:pt x="239271" y="260021"/>
                </a:cubicBezTo>
                <a:cubicBezTo>
                  <a:pt x="238823" y="260543"/>
                  <a:pt x="238450" y="261065"/>
                  <a:pt x="238003" y="261586"/>
                </a:cubicBezTo>
                <a:cubicBezTo>
                  <a:pt x="237555" y="262182"/>
                  <a:pt x="237182" y="262779"/>
                  <a:pt x="236735" y="263449"/>
                </a:cubicBezTo>
                <a:cubicBezTo>
                  <a:pt x="236287" y="264120"/>
                  <a:pt x="235914" y="264791"/>
                  <a:pt x="235467" y="265461"/>
                </a:cubicBezTo>
                <a:cubicBezTo>
                  <a:pt x="235019" y="266206"/>
                  <a:pt x="234646" y="266952"/>
                  <a:pt x="234199" y="267697"/>
                </a:cubicBezTo>
                <a:cubicBezTo>
                  <a:pt x="233826" y="268442"/>
                  <a:pt x="233453" y="269187"/>
                  <a:pt x="233080" y="269932"/>
                </a:cubicBezTo>
                <a:cubicBezTo>
                  <a:pt x="232632" y="270827"/>
                  <a:pt x="232259" y="271721"/>
                  <a:pt x="231812" y="272615"/>
                </a:cubicBezTo>
                <a:cubicBezTo>
                  <a:pt x="231439" y="273584"/>
                  <a:pt x="230991" y="274553"/>
                  <a:pt x="230618" y="275521"/>
                </a:cubicBezTo>
                <a:cubicBezTo>
                  <a:pt x="230171" y="276565"/>
                  <a:pt x="229798" y="277608"/>
                  <a:pt x="229425" y="278726"/>
                </a:cubicBezTo>
                <a:cubicBezTo>
                  <a:pt x="228978" y="279844"/>
                  <a:pt x="228605" y="280961"/>
                  <a:pt x="228232" y="282079"/>
                </a:cubicBezTo>
                <a:cubicBezTo>
                  <a:pt x="227859" y="283271"/>
                  <a:pt x="227486" y="284464"/>
                  <a:pt x="227113" y="285656"/>
                </a:cubicBezTo>
                <a:cubicBezTo>
                  <a:pt x="226740" y="286923"/>
                  <a:pt x="226367" y="288190"/>
                  <a:pt x="225994" y="289457"/>
                </a:cubicBezTo>
                <a:cubicBezTo>
                  <a:pt x="225621" y="290798"/>
                  <a:pt x="225248" y="292214"/>
                  <a:pt x="224950" y="293555"/>
                </a:cubicBezTo>
                <a:cubicBezTo>
                  <a:pt x="224577" y="294971"/>
                  <a:pt x="224204" y="296387"/>
                  <a:pt x="223906" y="297803"/>
                </a:cubicBezTo>
                <a:cubicBezTo>
                  <a:pt x="223533" y="299293"/>
                  <a:pt x="223234" y="300784"/>
                  <a:pt x="222936" y="302274"/>
                </a:cubicBezTo>
                <a:cubicBezTo>
                  <a:pt x="222265" y="305478"/>
                  <a:pt x="221593" y="308608"/>
                  <a:pt x="221071" y="311813"/>
                </a:cubicBezTo>
                <a:cubicBezTo>
                  <a:pt x="220475" y="315315"/>
                  <a:pt x="219878" y="318817"/>
                  <a:pt x="219430" y="322245"/>
                </a:cubicBezTo>
                <a:cubicBezTo>
                  <a:pt x="218983" y="325152"/>
                  <a:pt x="218610" y="328058"/>
                  <a:pt x="218237" y="330964"/>
                </a:cubicBezTo>
                <a:cubicBezTo>
                  <a:pt x="217789" y="334914"/>
                  <a:pt x="217342" y="338938"/>
                  <a:pt x="216969" y="342887"/>
                </a:cubicBezTo>
                <a:cubicBezTo>
                  <a:pt x="216521" y="347135"/>
                  <a:pt x="216148" y="351383"/>
                  <a:pt x="215776" y="355630"/>
                </a:cubicBezTo>
                <a:cubicBezTo>
                  <a:pt x="215477" y="360101"/>
                  <a:pt x="215179" y="364647"/>
                  <a:pt x="214880" y="369193"/>
                </a:cubicBezTo>
                <a:cubicBezTo>
                  <a:pt x="214508" y="376049"/>
                  <a:pt x="208615" y="381265"/>
                  <a:pt x="201753" y="380818"/>
                </a:cubicBezTo>
                <a:cubicBezTo>
                  <a:pt x="194891" y="380445"/>
                  <a:pt x="189670" y="374558"/>
                  <a:pt x="190117" y="367702"/>
                </a:cubicBezTo>
                <a:cubicBezTo>
                  <a:pt x="190490" y="361517"/>
                  <a:pt x="190863" y="355332"/>
                  <a:pt x="191385" y="349221"/>
                </a:cubicBezTo>
                <a:cubicBezTo>
                  <a:pt x="191684" y="346241"/>
                  <a:pt x="191908" y="343334"/>
                  <a:pt x="192206" y="340428"/>
                </a:cubicBezTo>
                <a:cubicBezTo>
                  <a:pt x="192504" y="337596"/>
                  <a:pt x="192803" y="334839"/>
                  <a:pt x="193101" y="332007"/>
                </a:cubicBezTo>
                <a:cubicBezTo>
                  <a:pt x="193399" y="329325"/>
                  <a:pt x="193772" y="326642"/>
                  <a:pt x="194071" y="323959"/>
                </a:cubicBezTo>
                <a:cubicBezTo>
                  <a:pt x="194294" y="322171"/>
                  <a:pt x="194593" y="320457"/>
                  <a:pt x="194816" y="318743"/>
                </a:cubicBezTo>
                <a:cubicBezTo>
                  <a:pt x="195189" y="316209"/>
                  <a:pt x="195562" y="313750"/>
                  <a:pt x="196010" y="311216"/>
                </a:cubicBezTo>
                <a:cubicBezTo>
                  <a:pt x="196383" y="308832"/>
                  <a:pt x="196756" y="306447"/>
                  <a:pt x="197203" y="303988"/>
                </a:cubicBezTo>
                <a:cubicBezTo>
                  <a:pt x="197651" y="301752"/>
                  <a:pt x="198098" y="299442"/>
                  <a:pt x="198620" y="297132"/>
                </a:cubicBezTo>
                <a:cubicBezTo>
                  <a:pt x="199068" y="294971"/>
                  <a:pt x="199515" y="292810"/>
                  <a:pt x="200038" y="290574"/>
                </a:cubicBezTo>
                <a:cubicBezTo>
                  <a:pt x="200560" y="288488"/>
                  <a:pt x="201082" y="286476"/>
                  <a:pt x="201604" y="284389"/>
                </a:cubicBezTo>
                <a:cubicBezTo>
                  <a:pt x="202126" y="282377"/>
                  <a:pt x="202723" y="280440"/>
                  <a:pt x="203319" y="278502"/>
                </a:cubicBezTo>
                <a:cubicBezTo>
                  <a:pt x="203916" y="276565"/>
                  <a:pt x="204513" y="274702"/>
                  <a:pt x="205110" y="272839"/>
                </a:cubicBezTo>
                <a:cubicBezTo>
                  <a:pt x="205706" y="271125"/>
                  <a:pt x="206378" y="269336"/>
                  <a:pt x="207049" y="267548"/>
                </a:cubicBezTo>
                <a:cubicBezTo>
                  <a:pt x="207720" y="265908"/>
                  <a:pt x="208391" y="264269"/>
                  <a:pt x="209137" y="262629"/>
                </a:cubicBezTo>
                <a:cubicBezTo>
                  <a:pt x="209809" y="260990"/>
                  <a:pt x="210554" y="259425"/>
                  <a:pt x="211300" y="257935"/>
                </a:cubicBezTo>
                <a:cubicBezTo>
                  <a:pt x="211673" y="257190"/>
                  <a:pt x="212046" y="256519"/>
                  <a:pt x="212419" y="255848"/>
                </a:cubicBezTo>
                <a:cubicBezTo>
                  <a:pt x="212643" y="255401"/>
                  <a:pt x="212941" y="254879"/>
                  <a:pt x="213240" y="254358"/>
                </a:cubicBezTo>
                <a:cubicBezTo>
                  <a:pt x="211524" y="254060"/>
                  <a:pt x="209809" y="253762"/>
                  <a:pt x="208093" y="253538"/>
                </a:cubicBezTo>
                <a:cubicBezTo>
                  <a:pt x="204214" y="252942"/>
                  <a:pt x="200336" y="252495"/>
                  <a:pt x="196383" y="252197"/>
                </a:cubicBezTo>
                <a:cubicBezTo>
                  <a:pt x="192504" y="251973"/>
                  <a:pt x="188551" y="251824"/>
                  <a:pt x="184673" y="251824"/>
                </a:cubicBezTo>
                <a:cubicBezTo>
                  <a:pt x="180794" y="251824"/>
                  <a:pt x="176841" y="251899"/>
                  <a:pt x="172962" y="252197"/>
                </a:cubicBezTo>
                <a:cubicBezTo>
                  <a:pt x="169009" y="252495"/>
                  <a:pt x="165131" y="252942"/>
                  <a:pt x="161252" y="253538"/>
                </a:cubicBezTo>
                <a:cubicBezTo>
                  <a:pt x="159537" y="253762"/>
                  <a:pt x="157821" y="254060"/>
                  <a:pt x="156106" y="254358"/>
                </a:cubicBezTo>
                <a:cubicBezTo>
                  <a:pt x="156404" y="254879"/>
                  <a:pt x="156702" y="255401"/>
                  <a:pt x="157001" y="255848"/>
                </a:cubicBezTo>
                <a:cubicBezTo>
                  <a:pt x="157299" y="256519"/>
                  <a:pt x="157672" y="257190"/>
                  <a:pt x="158045" y="257935"/>
                </a:cubicBezTo>
                <a:cubicBezTo>
                  <a:pt x="158791" y="259425"/>
                  <a:pt x="159537" y="260990"/>
                  <a:pt x="160208" y="262629"/>
                </a:cubicBezTo>
                <a:cubicBezTo>
                  <a:pt x="160954" y="264269"/>
                  <a:pt x="161625" y="265908"/>
                  <a:pt x="162296" y="267548"/>
                </a:cubicBezTo>
                <a:cubicBezTo>
                  <a:pt x="162968" y="269336"/>
                  <a:pt x="163639" y="271125"/>
                  <a:pt x="164236" y="272839"/>
                </a:cubicBezTo>
                <a:cubicBezTo>
                  <a:pt x="164832" y="274702"/>
                  <a:pt x="165429" y="276565"/>
                  <a:pt x="166026" y="278502"/>
                </a:cubicBezTo>
                <a:cubicBezTo>
                  <a:pt x="166622" y="280440"/>
                  <a:pt x="167219" y="282377"/>
                  <a:pt x="167741" y="284389"/>
                </a:cubicBezTo>
                <a:cubicBezTo>
                  <a:pt x="168263" y="286476"/>
                  <a:pt x="168785" y="288488"/>
                  <a:pt x="169308" y="290574"/>
                </a:cubicBezTo>
                <a:cubicBezTo>
                  <a:pt x="169830" y="292810"/>
                  <a:pt x="170277" y="294971"/>
                  <a:pt x="170725" y="297132"/>
                </a:cubicBezTo>
                <a:cubicBezTo>
                  <a:pt x="171247" y="299442"/>
                  <a:pt x="171694" y="301752"/>
                  <a:pt x="172142" y="303988"/>
                </a:cubicBezTo>
                <a:cubicBezTo>
                  <a:pt x="172589" y="306447"/>
                  <a:pt x="172962" y="308832"/>
                  <a:pt x="173410" y="311216"/>
                </a:cubicBezTo>
                <a:cubicBezTo>
                  <a:pt x="173783" y="313750"/>
                  <a:pt x="174156" y="316209"/>
                  <a:pt x="174529" y="318743"/>
                </a:cubicBezTo>
                <a:cubicBezTo>
                  <a:pt x="175200" y="323140"/>
                  <a:pt x="175722" y="327611"/>
                  <a:pt x="176244" y="332007"/>
                </a:cubicBezTo>
                <a:cubicBezTo>
                  <a:pt x="176915" y="337745"/>
                  <a:pt x="177438" y="343483"/>
                  <a:pt x="177960" y="349221"/>
                </a:cubicBezTo>
                <a:cubicBezTo>
                  <a:pt x="178482" y="355332"/>
                  <a:pt x="178929" y="361517"/>
                  <a:pt x="179228" y="367702"/>
                </a:cubicBezTo>
                <a:cubicBezTo>
                  <a:pt x="179675" y="374558"/>
                  <a:pt x="174454" y="380445"/>
                  <a:pt x="167592" y="380818"/>
                </a:cubicBezTo>
                <a:cubicBezTo>
                  <a:pt x="160730" y="381265"/>
                  <a:pt x="154838" y="376049"/>
                  <a:pt x="154465" y="369193"/>
                </a:cubicBezTo>
                <a:cubicBezTo>
                  <a:pt x="154166" y="364647"/>
                  <a:pt x="153868" y="360101"/>
                  <a:pt x="153570" y="355630"/>
                </a:cubicBezTo>
                <a:cubicBezTo>
                  <a:pt x="153197" y="351383"/>
                  <a:pt x="152824" y="347135"/>
                  <a:pt x="152451" y="342887"/>
                </a:cubicBezTo>
                <a:cubicBezTo>
                  <a:pt x="152003" y="338938"/>
                  <a:pt x="151556" y="334914"/>
                  <a:pt x="151108" y="330964"/>
                </a:cubicBezTo>
                <a:cubicBezTo>
                  <a:pt x="150735" y="328058"/>
                  <a:pt x="150362" y="325152"/>
                  <a:pt x="149915" y="322245"/>
                </a:cubicBezTo>
                <a:cubicBezTo>
                  <a:pt x="149467" y="318817"/>
                  <a:pt x="148871" y="315315"/>
                  <a:pt x="148274" y="311813"/>
                </a:cubicBezTo>
                <a:cubicBezTo>
                  <a:pt x="147752" y="308608"/>
                  <a:pt x="147080" y="305404"/>
                  <a:pt x="146409" y="302274"/>
                </a:cubicBezTo>
                <a:cubicBezTo>
                  <a:pt x="145812" y="299368"/>
                  <a:pt x="145141" y="296387"/>
                  <a:pt x="144395" y="293555"/>
                </a:cubicBezTo>
                <a:cubicBezTo>
                  <a:pt x="143799" y="290872"/>
                  <a:pt x="143053" y="288264"/>
                  <a:pt x="142232" y="285656"/>
                </a:cubicBezTo>
                <a:cubicBezTo>
                  <a:pt x="141859" y="284464"/>
                  <a:pt x="141486" y="283271"/>
                  <a:pt x="141113" y="282079"/>
                </a:cubicBezTo>
                <a:cubicBezTo>
                  <a:pt x="140741" y="280961"/>
                  <a:pt x="140368" y="279844"/>
                  <a:pt x="139920" y="278726"/>
                </a:cubicBezTo>
                <a:cubicBezTo>
                  <a:pt x="139547" y="277608"/>
                  <a:pt x="139174" y="276565"/>
                  <a:pt x="138727" y="275521"/>
                </a:cubicBezTo>
                <a:cubicBezTo>
                  <a:pt x="138354" y="274553"/>
                  <a:pt x="137906" y="273584"/>
                  <a:pt x="137533" y="272615"/>
                </a:cubicBezTo>
                <a:cubicBezTo>
                  <a:pt x="137086" y="271721"/>
                  <a:pt x="136713" y="270827"/>
                  <a:pt x="136265" y="269932"/>
                </a:cubicBezTo>
                <a:cubicBezTo>
                  <a:pt x="135892" y="269187"/>
                  <a:pt x="135519" y="268442"/>
                  <a:pt x="135146" y="267697"/>
                </a:cubicBezTo>
                <a:cubicBezTo>
                  <a:pt x="134699" y="266952"/>
                  <a:pt x="134326" y="266206"/>
                  <a:pt x="133878" y="265461"/>
                </a:cubicBezTo>
                <a:cubicBezTo>
                  <a:pt x="133431" y="264791"/>
                  <a:pt x="133058" y="264120"/>
                  <a:pt x="132611" y="263449"/>
                </a:cubicBezTo>
                <a:cubicBezTo>
                  <a:pt x="132163" y="262779"/>
                  <a:pt x="131790" y="262182"/>
                  <a:pt x="131343" y="261586"/>
                </a:cubicBezTo>
                <a:cubicBezTo>
                  <a:pt x="130895" y="261065"/>
                  <a:pt x="130522" y="260543"/>
                  <a:pt x="130075" y="260021"/>
                </a:cubicBezTo>
                <a:cubicBezTo>
                  <a:pt x="129702" y="259574"/>
                  <a:pt x="129254" y="259127"/>
                  <a:pt x="128881" y="258680"/>
                </a:cubicBezTo>
                <a:cubicBezTo>
                  <a:pt x="128508" y="258307"/>
                  <a:pt x="128061" y="257935"/>
                  <a:pt x="127688" y="257562"/>
                </a:cubicBezTo>
                <a:cubicBezTo>
                  <a:pt x="127315" y="257190"/>
                  <a:pt x="126942" y="256891"/>
                  <a:pt x="126569" y="256593"/>
                </a:cubicBezTo>
                <a:cubicBezTo>
                  <a:pt x="118588" y="250408"/>
                  <a:pt x="120975" y="237740"/>
                  <a:pt x="130671" y="234908"/>
                </a:cubicBezTo>
                <a:cubicBezTo>
                  <a:pt x="135146" y="233567"/>
                  <a:pt x="139622" y="232449"/>
                  <a:pt x="144097" y="231406"/>
                </a:cubicBezTo>
                <a:cubicBezTo>
                  <a:pt x="148572" y="230437"/>
                  <a:pt x="153122" y="229617"/>
                  <a:pt x="157597" y="228947"/>
                </a:cubicBezTo>
                <a:cubicBezTo>
                  <a:pt x="162147" y="228276"/>
                  <a:pt x="166622" y="227829"/>
                  <a:pt x="171172" y="227456"/>
                </a:cubicBezTo>
                <a:cubicBezTo>
                  <a:pt x="175647" y="227158"/>
                  <a:pt x="180123" y="227009"/>
                  <a:pt x="184673" y="227009"/>
                </a:cubicBezTo>
                <a:close/>
                <a:moveTo>
                  <a:pt x="184638" y="0"/>
                </a:moveTo>
                <a:cubicBezTo>
                  <a:pt x="244994" y="0"/>
                  <a:pt x="301546" y="29424"/>
                  <a:pt x="336088" y="78887"/>
                </a:cubicBezTo>
                <a:cubicBezTo>
                  <a:pt x="370631" y="128350"/>
                  <a:pt x="378763" y="191444"/>
                  <a:pt x="357873" y="248058"/>
                </a:cubicBezTo>
                <a:cubicBezTo>
                  <a:pt x="336461" y="306087"/>
                  <a:pt x="272822" y="336703"/>
                  <a:pt x="262900" y="410227"/>
                </a:cubicBezTo>
                <a:cubicBezTo>
                  <a:pt x="266555" y="409259"/>
                  <a:pt x="270286" y="408365"/>
                  <a:pt x="273941" y="407471"/>
                </a:cubicBezTo>
                <a:cubicBezTo>
                  <a:pt x="280581" y="405757"/>
                  <a:pt x="287370" y="409855"/>
                  <a:pt x="289012" y="416484"/>
                </a:cubicBezTo>
                <a:cubicBezTo>
                  <a:pt x="290653" y="423114"/>
                  <a:pt x="286624" y="429893"/>
                  <a:pt x="279984" y="431532"/>
                </a:cubicBezTo>
                <a:cubicBezTo>
                  <a:pt x="218434" y="446877"/>
                  <a:pt x="156884" y="462222"/>
                  <a:pt x="95334" y="477642"/>
                </a:cubicBezTo>
                <a:cubicBezTo>
                  <a:pt x="88694" y="479281"/>
                  <a:pt x="81905" y="475258"/>
                  <a:pt x="80263" y="468554"/>
                </a:cubicBezTo>
                <a:cubicBezTo>
                  <a:pt x="78622" y="461924"/>
                  <a:pt x="82651" y="455220"/>
                  <a:pt x="89291" y="453507"/>
                </a:cubicBezTo>
                <a:cubicBezTo>
                  <a:pt x="139575" y="440992"/>
                  <a:pt x="189860" y="428403"/>
                  <a:pt x="240145" y="415888"/>
                </a:cubicBezTo>
                <a:cubicBezTo>
                  <a:pt x="238354" y="413132"/>
                  <a:pt x="237757" y="410599"/>
                  <a:pt x="238205" y="407396"/>
                </a:cubicBezTo>
                <a:cubicBezTo>
                  <a:pt x="238876" y="402182"/>
                  <a:pt x="239772" y="397116"/>
                  <a:pt x="240965" y="392051"/>
                </a:cubicBezTo>
                <a:cubicBezTo>
                  <a:pt x="242084" y="387134"/>
                  <a:pt x="243427" y="382367"/>
                  <a:pt x="245069" y="377674"/>
                </a:cubicBezTo>
                <a:cubicBezTo>
                  <a:pt x="246561" y="373130"/>
                  <a:pt x="248277" y="368660"/>
                  <a:pt x="250216" y="364265"/>
                </a:cubicBezTo>
                <a:cubicBezTo>
                  <a:pt x="252007" y="360019"/>
                  <a:pt x="254021" y="355848"/>
                  <a:pt x="256185" y="351751"/>
                </a:cubicBezTo>
                <a:cubicBezTo>
                  <a:pt x="258274" y="347877"/>
                  <a:pt x="260587" y="344004"/>
                  <a:pt x="262900" y="340205"/>
                </a:cubicBezTo>
                <a:cubicBezTo>
                  <a:pt x="265212" y="336554"/>
                  <a:pt x="267600" y="332979"/>
                  <a:pt x="270062" y="329403"/>
                </a:cubicBezTo>
                <a:cubicBezTo>
                  <a:pt x="272449" y="325977"/>
                  <a:pt x="274986" y="322624"/>
                  <a:pt x="277522" y="319347"/>
                </a:cubicBezTo>
                <a:cubicBezTo>
                  <a:pt x="279984" y="316069"/>
                  <a:pt x="282521" y="312941"/>
                  <a:pt x="285058" y="309812"/>
                </a:cubicBezTo>
                <a:cubicBezTo>
                  <a:pt x="287594" y="306758"/>
                  <a:pt x="290056" y="303704"/>
                  <a:pt x="292593" y="300724"/>
                </a:cubicBezTo>
                <a:cubicBezTo>
                  <a:pt x="294906" y="297968"/>
                  <a:pt x="297218" y="295211"/>
                  <a:pt x="299531" y="292530"/>
                </a:cubicBezTo>
                <a:cubicBezTo>
                  <a:pt x="300725" y="291114"/>
                  <a:pt x="301919" y="289699"/>
                  <a:pt x="303038" y="288284"/>
                </a:cubicBezTo>
                <a:cubicBezTo>
                  <a:pt x="305351" y="285528"/>
                  <a:pt x="307663" y="282771"/>
                  <a:pt x="309827" y="279941"/>
                </a:cubicBezTo>
                <a:cubicBezTo>
                  <a:pt x="311990" y="277259"/>
                  <a:pt x="314079" y="274577"/>
                  <a:pt x="316168" y="271821"/>
                </a:cubicBezTo>
                <a:cubicBezTo>
                  <a:pt x="318108" y="269214"/>
                  <a:pt x="320048" y="266532"/>
                  <a:pt x="321838" y="263776"/>
                </a:cubicBezTo>
                <a:cubicBezTo>
                  <a:pt x="323554" y="261169"/>
                  <a:pt x="325270" y="258487"/>
                  <a:pt x="326837" y="255731"/>
                </a:cubicBezTo>
                <a:cubicBezTo>
                  <a:pt x="328329" y="253124"/>
                  <a:pt x="329747" y="250442"/>
                  <a:pt x="331090" y="247686"/>
                </a:cubicBezTo>
                <a:cubicBezTo>
                  <a:pt x="332358" y="245004"/>
                  <a:pt x="333552" y="242248"/>
                  <a:pt x="334596" y="239492"/>
                </a:cubicBezTo>
                <a:cubicBezTo>
                  <a:pt x="352651" y="190550"/>
                  <a:pt x="345563" y="135873"/>
                  <a:pt x="315721" y="93115"/>
                </a:cubicBezTo>
                <a:cubicBezTo>
                  <a:pt x="285804" y="50282"/>
                  <a:pt x="236862" y="24806"/>
                  <a:pt x="184638" y="24806"/>
                </a:cubicBezTo>
                <a:cubicBezTo>
                  <a:pt x="132413" y="24806"/>
                  <a:pt x="83471" y="50282"/>
                  <a:pt x="53554" y="93115"/>
                </a:cubicBezTo>
                <a:cubicBezTo>
                  <a:pt x="23712" y="135873"/>
                  <a:pt x="16624" y="190550"/>
                  <a:pt x="34679" y="239492"/>
                </a:cubicBezTo>
                <a:cubicBezTo>
                  <a:pt x="35425" y="241428"/>
                  <a:pt x="36246" y="243365"/>
                  <a:pt x="37066" y="245302"/>
                </a:cubicBezTo>
                <a:cubicBezTo>
                  <a:pt x="37962" y="247239"/>
                  <a:pt x="38857" y="249175"/>
                  <a:pt x="39827" y="251038"/>
                </a:cubicBezTo>
                <a:cubicBezTo>
                  <a:pt x="40871" y="252975"/>
                  <a:pt x="41916" y="254837"/>
                  <a:pt x="43035" y="256699"/>
                </a:cubicBezTo>
                <a:cubicBezTo>
                  <a:pt x="44154" y="258636"/>
                  <a:pt x="45273" y="260498"/>
                  <a:pt x="46541" y="262361"/>
                </a:cubicBezTo>
                <a:cubicBezTo>
                  <a:pt x="47810" y="264297"/>
                  <a:pt x="49078" y="266234"/>
                  <a:pt x="50421" y="268096"/>
                </a:cubicBezTo>
                <a:cubicBezTo>
                  <a:pt x="51241" y="269288"/>
                  <a:pt x="52062" y="270406"/>
                  <a:pt x="52957" y="271598"/>
                </a:cubicBezTo>
                <a:cubicBezTo>
                  <a:pt x="54375" y="273534"/>
                  <a:pt x="55867" y="275471"/>
                  <a:pt x="57359" y="277333"/>
                </a:cubicBezTo>
                <a:cubicBezTo>
                  <a:pt x="58851" y="279345"/>
                  <a:pt x="60418" y="281281"/>
                  <a:pt x="61985" y="283144"/>
                </a:cubicBezTo>
                <a:cubicBezTo>
                  <a:pt x="63626" y="285155"/>
                  <a:pt x="65267" y="287092"/>
                  <a:pt x="66909" y="289103"/>
                </a:cubicBezTo>
                <a:cubicBezTo>
                  <a:pt x="68774" y="291338"/>
                  <a:pt x="70714" y="293573"/>
                  <a:pt x="72579" y="295882"/>
                </a:cubicBezTo>
                <a:cubicBezTo>
                  <a:pt x="74593" y="298191"/>
                  <a:pt x="76608" y="300575"/>
                  <a:pt x="78547" y="302959"/>
                </a:cubicBezTo>
                <a:cubicBezTo>
                  <a:pt x="80338" y="305119"/>
                  <a:pt x="82128" y="307205"/>
                  <a:pt x="83844" y="309365"/>
                </a:cubicBezTo>
                <a:cubicBezTo>
                  <a:pt x="85635" y="311600"/>
                  <a:pt x="87425" y="313760"/>
                  <a:pt x="89216" y="315995"/>
                </a:cubicBezTo>
                <a:cubicBezTo>
                  <a:pt x="91007" y="318304"/>
                  <a:pt x="92797" y="320613"/>
                  <a:pt x="94513" y="322922"/>
                </a:cubicBezTo>
                <a:cubicBezTo>
                  <a:pt x="96304" y="325306"/>
                  <a:pt x="98020" y="327764"/>
                  <a:pt x="99736" y="330223"/>
                </a:cubicBezTo>
                <a:cubicBezTo>
                  <a:pt x="101526" y="332681"/>
                  <a:pt x="103167" y="335214"/>
                  <a:pt x="104883" y="337821"/>
                </a:cubicBezTo>
                <a:cubicBezTo>
                  <a:pt x="105928" y="339460"/>
                  <a:pt x="106898" y="341024"/>
                  <a:pt x="107868" y="342737"/>
                </a:cubicBezTo>
                <a:cubicBezTo>
                  <a:pt x="109509" y="345419"/>
                  <a:pt x="111076" y="348175"/>
                  <a:pt x="112642" y="350931"/>
                </a:cubicBezTo>
                <a:cubicBezTo>
                  <a:pt x="114135" y="353762"/>
                  <a:pt x="115627" y="356667"/>
                  <a:pt x="116970" y="359572"/>
                </a:cubicBezTo>
                <a:cubicBezTo>
                  <a:pt x="118387" y="362627"/>
                  <a:pt x="119730" y="365681"/>
                  <a:pt x="120998" y="368735"/>
                </a:cubicBezTo>
                <a:cubicBezTo>
                  <a:pt x="122267" y="371938"/>
                  <a:pt x="123386" y="375141"/>
                  <a:pt x="124505" y="378344"/>
                </a:cubicBezTo>
                <a:cubicBezTo>
                  <a:pt x="125549" y="381697"/>
                  <a:pt x="126519" y="385049"/>
                  <a:pt x="127415" y="388401"/>
                </a:cubicBezTo>
                <a:cubicBezTo>
                  <a:pt x="129131" y="395031"/>
                  <a:pt x="125102" y="401809"/>
                  <a:pt x="118462" y="403523"/>
                </a:cubicBezTo>
                <a:cubicBezTo>
                  <a:pt x="111822" y="405236"/>
                  <a:pt x="105033" y="401213"/>
                  <a:pt x="103391" y="394584"/>
                </a:cubicBezTo>
                <a:cubicBezTo>
                  <a:pt x="87276" y="332085"/>
                  <a:pt x="31247" y="301767"/>
                  <a:pt x="11402" y="248058"/>
                </a:cubicBezTo>
                <a:cubicBezTo>
                  <a:pt x="-9488" y="191444"/>
                  <a:pt x="-1356" y="128350"/>
                  <a:pt x="33187" y="78887"/>
                </a:cubicBezTo>
                <a:cubicBezTo>
                  <a:pt x="67729" y="29424"/>
                  <a:pt x="124281" y="0"/>
                  <a:pt x="184638" y="0"/>
                </a:cubicBez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</p:spPr>
      </p:sp>
      <p:sp>
        <p:nvSpPr>
          <p:cNvPr id="6" name="Freeform 6"/>
          <p:cNvSpPr/>
          <p:nvPr/>
        </p:nvSpPr>
        <p:spPr>
          <a:xfrm>
            <a:off x="8503615" y="4081478"/>
            <a:ext cx="334477" cy="307945"/>
          </a:xfrm>
          <a:custGeom>
            <a:avLst/>
            <a:gdLst/>
            <a:ahLst/>
            <a:cxnLst/>
            <a:rect l="l" t="t" r="r" b="b"/>
            <a:pathLst>
              <a:path w="580" h="535">
                <a:moveTo>
                  <a:pt x="164" y="525"/>
                </a:moveTo>
                <a:cubicBezTo>
                  <a:pt x="172" y="534"/>
                  <a:pt x="186" y="535"/>
                  <a:pt x="196" y="526"/>
                </a:cubicBezTo>
                <a:lnTo>
                  <a:pt x="570" y="187"/>
                </a:lnTo>
                <a:cubicBezTo>
                  <a:pt x="579" y="179"/>
                  <a:pt x="580" y="165"/>
                  <a:pt x="572" y="155"/>
                </a:cubicBezTo>
                <a:lnTo>
                  <a:pt x="475" y="49"/>
                </a:lnTo>
                <a:cubicBezTo>
                  <a:pt x="466" y="39"/>
                  <a:pt x="452" y="39"/>
                  <a:pt x="443" y="47"/>
                </a:cubicBezTo>
                <a:lnTo>
                  <a:pt x="124" y="335"/>
                </a:lnTo>
                <a:cubicBezTo>
                  <a:pt x="115" y="344"/>
                  <a:pt x="114" y="358"/>
                  <a:pt x="123" y="367"/>
                </a:cubicBezTo>
                <a:lnTo>
                  <a:pt x="175" y="425"/>
                </a:lnTo>
                <a:cubicBezTo>
                  <a:pt x="183" y="434"/>
                  <a:pt x="198" y="435"/>
                  <a:pt x="207" y="426"/>
                </a:cubicBezTo>
                <a:lnTo>
                  <a:pt x="341" y="305"/>
                </a:lnTo>
                <a:cubicBezTo>
                  <a:pt x="350" y="297"/>
                  <a:pt x="351" y="282"/>
                  <a:pt x="343" y="273"/>
                </a:cubicBezTo>
                <a:lnTo>
                  <a:pt x="327" y="256"/>
                </a:lnTo>
                <a:lnTo>
                  <a:pt x="193" y="378"/>
                </a:lnTo>
                <a:lnTo>
                  <a:pt x="172" y="354"/>
                </a:lnTo>
                <a:lnTo>
                  <a:pt x="457" y="96"/>
                </a:lnTo>
                <a:lnTo>
                  <a:pt x="523" y="169"/>
                </a:lnTo>
                <a:lnTo>
                  <a:pt x="182" y="478"/>
                </a:lnTo>
                <a:lnTo>
                  <a:pt x="58" y="340"/>
                </a:lnTo>
                <a:lnTo>
                  <a:pt x="404" y="26"/>
                </a:lnTo>
                <a:lnTo>
                  <a:pt x="389" y="10"/>
                </a:lnTo>
                <a:cubicBezTo>
                  <a:pt x="380" y="0"/>
                  <a:pt x="366" y="0"/>
                  <a:pt x="357" y="8"/>
                </a:cubicBezTo>
                <a:lnTo>
                  <a:pt x="10" y="322"/>
                </a:lnTo>
                <a:cubicBezTo>
                  <a:pt x="1" y="330"/>
                  <a:pt x="0" y="344"/>
                  <a:pt x="9" y="354"/>
                </a:cubicBezTo>
                <a:lnTo>
                  <a:pt x="164" y="525"/>
                </a:ln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8406414" y="2422663"/>
            <a:ext cx="2708275" cy="13830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万用表是一种多功能的电测量仪表，可以用来测量电压、电流、电阻等多种电学量。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901714" y="1901965"/>
            <a:ext cx="2084387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575" b="1" dirty="0" err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定义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8406414" y="4525963"/>
            <a:ext cx="2708275" cy="13830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35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在电子设备的维修、调试、检测以及电子实验中，万用表是不可或缺的测量工具</a:t>
            </a:r>
            <a:r>
              <a:rPr lang="en-US" sz="135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8901714" y="4005263"/>
            <a:ext cx="2084387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575" b="1" dirty="0" err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作用</a:t>
            </a:r>
            <a:endParaRPr lang="en-US" sz="1100" dirty="0"/>
          </a:p>
        </p:txBody>
      </p:sp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定义与作用</a:t>
              </a: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90089" y="1514981"/>
            <a:ext cx="932011" cy="932011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990089" y="4677159"/>
            <a:ext cx="2409825" cy="104775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96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指针式万用表和数字式万用表。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089" y="3829496"/>
            <a:ext cx="2409825" cy="44767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按显示方式分类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1095003" y="4507169"/>
            <a:ext cx="2676821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>
            <a:off x="3569918" y="4041523"/>
            <a:ext cx="207264" cy="0"/>
          </a:xfrm>
          <a:prstGeom prst="line">
            <a:avLst/>
          </a:prstGeom>
          <a:ln w="381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Freeform 7"/>
          <p:cNvSpPr/>
          <p:nvPr/>
        </p:nvSpPr>
        <p:spPr>
          <a:xfrm>
            <a:off x="3687773" y="3947812"/>
            <a:ext cx="151723" cy="187422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4671297" y="1454147"/>
            <a:ext cx="932011" cy="932011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16943" r="16943"/>
          <a:stretch>
            <a:fillRect/>
          </a:stretch>
        </p:blipFill>
        <p:spPr>
          <a:xfrm>
            <a:off x="5039938" y="1393187"/>
            <a:ext cx="2231507" cy="2231507"/>
          </a:xfrm>
          <a:prstGeom prst="ellipse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671297" y="3829496"/>
            <a:ext cx="2409825" cy="44767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按测量功能分类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4776211" y="4446335"/>
            <a:ext cx="2676821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2" name="Connector 12"/>
          <p:cNvCxnSpPr/>
          <p:nvPr/>
        </p:nvCxnSpPr>
        <p:spPr>
          <a:xfrm>
            <a:off x="7251125" y="4041523"/>
            <a:ext cx="207264" cy="0"/>
          </a:xfrm>
          <a:prstGeom prst="line">
            <a:avLst/>
          </a:prstGeom>
          <a:ln w="38100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3" name="Freeform 13"/>
          <p:cNvSpPr/>
          <p:nvPr/>
        </p:nvSpPr>
        <p:spPr>
          <a:xfrm>
            <a:off x="7368981" y="3947812"/>
            <a:ext cx="151723" cy="187422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373015" y="1454147"/>
            <a:ext cx="932011" cy="932011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l="16895" r="16895"/>
          <a:stretch>
            <a:fillRect/>
          </a:stretch>
        </p:blipFill>
        <p:spPr>
          <a:xfrm>
            <a:off x="8741656" y="1393187"/>
            <a:ext cx="2231507" cy="2231507"/>
          </a:xfrm>
          <a:prstGeom prst="ellipse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373015" y="3829496"/>
            <a:ext cx="2409825" cy="44767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按使用场合分类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8477928" y="4446335"/>
            <a:ext cx="2676821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nector 18"/>
          <p:cNvCxnSpPr/>
          <p:nvPr/>
        </p:nvCxnSpPr>
        <p:spPr>
          <a:xfrm>
            <a:off x="10952843" y="4041523"/>
            <a:ext cx="207264" cy="0"/>
          </a:xfrm>
          <a:prstGeom prst="line">
            <a:avLst/>
          </a:prstGeom>
          <a:ln w="381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Freeform 19"/>
          <p:cNvSpPr/>
          <p:nvPr/>
        </p:nvSpPr>
        <p:spPr>
          <a:xfrm>
            <a:off x="11070699" y="3947812"/>
            <a:ext cx="151723" cy="187422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 l="17603" r="17603"/>
          <a:stretch>
            <a:fillRect/>
          </a:stretch>
        </p:blipFill>
        <p:spPr>
          <a:xfrm>
            <a:off x="1358558" y="1454147"/>
            <a:ext cx="2231507" cy="2231507"/>
          </a:xfrm>
          <a:prstGeom prst="ellipse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4671297" y="4677159"/>
            <a:ext cx="2409825" cy="104775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96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普通万用表和多功能万用表。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73015" y="4677159"/>
            <a:ext cx="2409825" cy="104775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96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便携式万用表和台式万用表。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92065" y="1604894"/>
            <a:ext cx="581025" cy="4572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20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90347" y="1604894"/>
            <a:ext cx="578298" cy="437007"/>
          </a:xfrm>
          <a:prstGeom prst="rect">
            <a:avLst/>
          </a:prstGeom>
        </p:spPr>
        <p:txBody>
          <a:bodyPr vert="horz" wrap="square" lIns="114300" tIns="57150" rIns="114300" bIns="57150" rtlCol="0" anchor="ctr" anchorCtr="1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en-US" sz="20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0564" y="1604894"/>
            <a:ext cx="581025" cy="4572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20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7" name="AutoShape 27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43" name="AutoShape 43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44" name="AutoShape 44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45" name="AutoShape 45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46" name="AutoShape 46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万用表的分类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3859086" flipV="1">
            <a:off x="1527125" y="1469413"/>
            <a:ext cx="2109431" cy="2217572"/>
          </a:xfrm>
          <a:prstGeom prst="parallelogram">
            <a:avLst>
              <a:gd name="adj" fmla="val 54601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1326935" y="4590395"/>
            <a:ext cx="2450691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模拟指针式万用表，采用磁电式表头，通过指针偏转角度来表示被测量的大小。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6675" r="16675"/>
          <a:stretch>
            <a:fillRect/>
          </a:stretch>
        </p:blipFill>
        <p:spPr>
          <a:xfrm>
            <a:off x="1602827" y="1536628"/>
            <a:ext cx="1898907" cy="1898907"/>
          </a:xfrm>
          <a:prstGeom prst="ellipse">
            <a:avLst/>
          </a:prstGeom>
        </p:spPr>
      </p:pic>
      <p:sp>
        <p:nvSpPr>
          <p:cNvPr id="5" name="AutoShape 5"/>
          <p:cNvSpPr/>
          <p:nvPr/>
        </p:nvSpPr>
        <p:spPr>
          <a:xfrm rot="-3859086" flipV="1">
            <a:off x="5041284" y="1457221"/>
            <a:ext cx="2109431" cy="2217572"/>
          </a:xfrm>
          <a:prstGeom prst="parallelogram">
            <a:avLst>
              <a:gd name="adj" fmla="val 54601"/>
            </a:avLst>
          </a:prstGeom>
          <a:solidFill>
            <a:schemeClr val="accent2">
              <a:alpha val="100000"/>
            </a:schemeClr>
          </a:solidFill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0010" b="10010"/>
          <a:stretch>
            <a:fillRect/>
          </a:stretch>
        </p:blipFill>
        <p:spPr>
          <a:xfrm>
            <a:off x="5168347" y="1536628"/>
            <a:ext cx="1898907" cy="1898907"/>
          </a:xfrm>
          <a:prstGeom prst="ellipse">
            <a:avLst/>
          </a:prstGeom>
        </p:spPr>
      </p:pic>
      <p:sp>
        <p:nvSpPr>
          <p:cNvPr id="7" name="AutoShape 7"/>
          <p:cNvSpPr/>
          <p:nvPr/>
        </p:nvSpPr>
        <p:spPr>
          <a:xfrm rot="-3859086" flipV="1">
            <a:off x="8711366" y="1419290"/>
            <a:ext cx="2109431" cy="2217572"/>
          </a:xfrm>
          <a:prstGeom prst="parallelogram">
            <a:avLst>
              <a:gd name="adj" fmla="val 54601"/>
            </a:avLst>
          </a:prstGeom>
          <a:solidFill>
            <a:schemeClr val="accent1">
              <a:alpha val="100000"/>
            </a:schemeClr>
          </a:solidFill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871767" y="1536628"/>
            <a:ext cx="1898907" cy="1898907"/>
          </a:xfrm>
          <a:prstGeom prst="ellipse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66381" y="3766355"/>
            <a:ext cx="2971800" cy="48577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第一代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26739" y="4350852"/>
            <a:ext cx="2651083" cy="97536"/>
            <a:chOff x="1226739" y="4350852"/>
            <a:chExt cx="2651083" cy="97536"/>
          </a:xfrm>
        </p:grpSpPr>
        <p:cxnSp>
          <p:nvCxnSpPr>
            <p:cNvPr id="11" name="Connector 11"/>
            <p:cNvCxnSpPr/>
            <p:nvPr/>
          </p:nvCxnSpPr>
          <p:spPr>
            <a:xfrm flipV="1">
              <a:off x="1287927" y="4399620"/>
              <a:ext cx="2492359" cy="4740"/>
            </a:xfrm>
            <a:prstGeom prst="line">
              <a:avLst/>
            </a:prstGeom>
            <a:ln w="9525">
              <a:solidFill>
                <a:schemeClr val="accent1"/>
              </a:solidFill>
              <a:prstDash val="solid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AutoShape 12"/>
            <p:cNvSpPr/>
            <p:nvPr/>
          </p:nvSpPr>
          <p:spPr>
            <a:xfrm>
              <a:off x="1226739" y="4350852"/>
              <a:ext cx="97536" cy="9753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3780286" y="4350852"/>
              <a:ext cx="97536" cy="9753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4892456" y="4590395"/>
            <a:ext cx="2450691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数字式万用表，采用数字化测量技术，具有更高的精度和稳定性。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41426" y="3746205"/>
            <a:ext cx="2952750" cy="48577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第二代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792260" y="4350852"/>
            <a:ext cx="2651083" cy="97536"/>
            <a:chOff x="4792260" y="4350852"/>
            <a:chExt cx="2651083" cy="97536"/>
          </a:xfrm>
        </p:grpSpPr>
        <p:cxnSp>
          <p:nvCxnSpPr>
            <p:cNvPr id="17" name="Connector 17"/>
            <p:cNvCxnSpPr/>
            <p:nvPr/>
          </p:nvCxnSpPr>
          <p:spPr>
            <a:xfrm flipV="1">
              <a:off x="4853447" y="4399620"/>
              <a:ext cx="2492359" cy="4740"/>
            </a:xfrm>
            <a:prstGeom prst="line">
              <a:avLst/>
            </a:prstGeom>
            <a:ln w="9525">
              <a:solidFill>
                <a:schemeClr val="accent2"/>
              </a:solidFill>
              <a:prstDash val="solid"/>
              <a:headEnd type="none"/>
              <a:tailEnd type="none"/>
            </a:ln>
          </p:spPr>
          <p:style>
            <a:lnRef idx="0">
              <a:schemeClr val="accent2"/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18" name="AutoShape 18"/>
            <p:cNvSpPr/>
            <p:nvPr/>
          </p:nvSpPr>
          <p:spPr>
            <a:xfrm>
              <a:off x="4792260" y="4350852"/>
              <a:ext cx="97536" cy="97536"/>
            </a:xfrm>
            <a:prstGeom prst="ellipse">
              <a:avLst/>
            </a:prstGeom>
            <a:solidFill>
              <a:schemeClr val="accent2">
                <a:alpha val="10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7345807" y="4350852"/>
              <a:ext cx="97536" cy="97536"/>
            </a:xfrm>
            <a:prstGeom prst="ellipse">
              <a:avLst/>
            </a:prstGeom>
            <a:solidFill>
              <a:schemeClr val="accent2">
                <a:alpha val="100000"/>
              </a:scheme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595875" y="4590395"/>
            <a:ext cx="2450691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智能型万用表，具有自动量程、自动关机、数据存储等功能，操作更加便捷。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11508" y="3746205"/>
            <a:ext cx="3019425" cy="48577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第三代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495679" y="4350852"/>
            <a:ext cx="2651083" cy="97536"/>
            <a:chOff x="8495679" y="4350852"/>
            <a:chExt cx="2651083" cy="97536"/>
          </a:xfrm>
        </p:grpSpPr>
        <p:cxnSp>
          <p:nvCxnSpPr>
            <p:cNvPr id="23" name="Connector 23"/>
            <p:cNvCxnSpPr/>
            <p:nvPr/>
          </p:nvCxnSpPr>
          <p:spPr>
            <a:xfrm flipV="1">
              <a:off x="8556866" y="4399620"/>
              <a:ext cx="2492359" cy="4740"/>
            </a:xfrm>
            <a:prstGeom prst="line">
              <a:avLst/>
            </a:prstGeom>
            <a:ln w="9525">
              <a:solidFill>
                <a:schemeClr val="accent1"/>
              </a:solidFill>
              <a:prstDash val="solid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" name="AutoShape 24"/>
            <p:cNvSpPr/>
            <p:nvPr/>
          </p:nvSpPr>
          <p:spPr>
            <a:xfrm>
              <a:off x="8495679" y="4350852"/>
              <a:ext cx="97536" cy="9753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11049226" y="4350852"/>
              <a:ext cx="97536" cy="9753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7" name="AutoShape 27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43" name="AutoShape 43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44" name="AutoShape 44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45" name="AutoShape 45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46" name="AutoShape 46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万用表的发展历程</a:t>
              </a:r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62600" y="2304610"/>
            <a:ext cx="1066800" cy="10668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19050">
            <a:solidFill>
              <a:srgbClr val="000000">
                <a:alpha val="100000"/>
              </a:srgbClr>
            </a:soli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2770323" y="2304610"/>
            <a:ext cx="6651353" cy="103136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5775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35297" y="3578030"/>
            <a:ext cx="5724525" cy="157162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825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万用表的结构与原理</a:t>
            </a:r>
          </a:p>
        </p:txBody>
      </p:sp>
      <p:cxnSp>
        <p:nvCxnSpPr>
          <p:cNvPr id="5" name="Connector 5"/>
          <p:cNvCxnSpPr/>
          <p:nvPr/>
        </p:nvCxnSpPr>
        <p:spPr>
          <a:xfrm flipV="1">
            <a:off x="6881808" y="1961467"/>
            <a:ext cx="964777" cy="686285"/>
          </a:xfrm>
          <a:prstGeom prst="line">
            <a:avLst/>
          </a:prstGeom>
          <a:ln w="19050">
            <a:solidFill>
              <a:schemeClr val="dk1"/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 flipV="1">
            <a:off x="4377943" y="2742715"/>
            <a:ext cx="964777" cy="686285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9060" r="19060"/>
          <a:stretch>
            <a:fillRect/>
          </a:stretch>
        </p:blipFill>
        <p:spPr>
          <a:xfrm>
            <a:off x="6416218" y="1873250"/>
            <a:ext cx="2285143" cy="243967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484" r="484"/>
          <a:stretch>
            <a:fillRect/>
          </a:stretch>
        </p:blipFill>
        <p:spPr>
          <a:xfrm>
            <a:off x="705451" y="1873250"/>
            <a:ext cx="2286000" cy="23083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l="18732" r="18732"/>
          <a:stretch>
            <a:fillRect/>
          </a:stretch>
        </p:blipFill>
        <p:spPr>
          <a:xfrm>
            <a:off x="9265251" y="1892300"/>
            <a:ext cx="2271183" cy="242062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l="18790" r="18790"/>
          <a:stretch>
            <a:fillRect/>
          </a:stretch>
        </p:blipFill>
        <p:spPr>
          <a:xfrm>
            <a:off x="3571418" y="1892300"/>
            <a:ext cx="2266949" cy="242062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6416218" y="3460761"/>
            <a:ext cx="2285143" cy="745998"/>
            <a:chOff x="6416218" y="3460761"/>
            <a:chExt cx="2285143" cy="745998"/>
          </a:xfrm>
        </p:grpSpPr>
        <p:sp>
          <p:nvSpPr>
            <p:cNvPr id="7" name="AutoShape 7"/>
            <p:cNvSpPr/>
            <p:nvPr/>
          </p:nvSpPr>
          <p:spPr>
            <a:xfrm>
              <a:off x="6416218" y="3460761"/>
              <a:ext cx="2285143" cy="745998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416218" y="4197615"/>
            <a:ext cx="2288381" cy="2112169"/>
            <a:chOff x="6416218" y="4197615"/>
            <a:chExt cx="2288381" cy="2112169"/>
          </a:xfrm>
        </p:grpSpPr>
        <p:sp>
          <p:nvSpPr>
            <p:cNvPr id="9" name="AutoShape 9"/>
            <p:cNvSpPr/>
            <p:nvPr/>
          </p:nvSpPr>
          <p:spPr>
            <a:xfrm>
              <a:off x="6416218" y="4197615"/>
              <a:ext cx="2288381" cy="2112169"/>
            </a:xfrm>
            <a:prstGeom prst="rect">
              <a:avLst/>
            </a:prstGeom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571418" y="3460761"/>
            <a:ext cx="2285429" cy="852159"/>
            <a:chOff x="3571418" y="3460761"/>
            <a:chExt cx="2285429" cy="852159"/>
          </a:xfrm>
        </p:grpSpPr>
        <p:sp>
          <p:nvSpPr>
            <p:cNvPr id="11" name="AutoShape 11"/>
            <p:cNvSpPr/>
            <p:nvPr/>
          </p:nvSpPr>
          <p:spPr>
            <a:xfrm>
              <a:off x="3571418" y="3460761"/>
              <a:ext cx="2285429" cy="852159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571418" y="4206759"/>
            <a:ext cx="2288096" cy="2103025"/>
            <a:chOff x="3571418" y="4206759"/>
            <a:chExt cx="2288096" cy="2103025"/>
          </a:xfrm>
        </p:grpSpPr>
        <p:sp>
          <p:nvSpPr>
            <p:cNvPr id="13" name="AutoShape 13"/>
            <p:cNvSpPr/>
            <p:nvPr/>
          </p:nvSpPr>
          <p:spPr>
            <a:xfrm>
              <a:off x="3571418" y="4206759"/>
              <a:ext cx="2288096" cy="2103025"/>
            </a:xfrm>
            <a:prstGeom prst="rect">
              <a:avLst/>
            </a:prstGeom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265251" y="3460761"/>
            <a:ext cx="2286000" cy="745998"/>
            <a:chOff x="9265251" y="3460761"/>
            <a:chExt cx="2286000" cy="745998"/>
          </a:xfrm>
        </p:grpSpPr>
        <p:sp>
          <p:nvSpPr>
            <p:cNvPr id="15" name="AutoShape 15"/>
            <p:cNvSpPr/>
            <p:nvPr/>
          </p:nvSpPr>
          <p:spPr>
            <a:xfrm>
              <a:off x="9265251" y="3460761"/>
              <a:ext cx="2286000" cy="745998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265251" y="4204473"/>
            <a:ext cx="2286000" cy="2105311"/>
            <a:chOff x="9265251" y="4204473"/>
            <a:chExt cx="2286000" cy="2105311"/>
          </a:xfrm>
        </p:grpSpPr>
        <p:sp>
          <p:nvSpPr>
            <p:cNvPr id="17" name="AutoShape 17"/>
            <p:cNvSpPr/>
            <p:nvPr/>
          </p:nvSpPr>
          <p:spPr>
            <a:xfrm>
              <a:off x="9265251" y="4204473"/>
              <a:ext cx="2286000" cy="2105311"/>
            </a:xfrm>
            <a:prstGeom prst="rect">
              <a:avLst/>
            </a:prstGeom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05451" y="3460761"/>
            <a:ext cx="2286000" cy="2849023"/>
            <a:chOff x="705451" y="3460761"/>
            <a:chExt cx="2286000" cy="2849023"/>
          </a:xfrm>
        </p:grpSpPr>
        <p:sp>
          <p:nvSpPr>
            <p:cNvPr id="19" name="AutoShape 19"/>
            <p:cNvSpPr/>
            <p:nvPr/>
          </p:nvSpPr>
          <p:spPr>
            <a:xfrm>
              <a:off x="705451" y="3460761"/>
              <a:ext cx="2286000" cy="88392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05451" y="4206759"/>
              <a:ext cx="2286000" cy="2103025"/>
            </a:xfrm>
            <a:prstGeom prst="rect">
              <a:avLst/>
            </a:prstGeom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2" name="AutoShape 2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万用表的主要结构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6455" y="4477571"/>
            <a:ext cx="2164942" cy="1552257"/>
            <a:chOff x="756455" y="4477571"/>
            <a:chExt cx="2164942" cy="1552257"/>
          </a:xfrm>
        </p:grpSpPr>
        <p:sp>
          <p:nvSpPr>
            <p:cNvPr id="44" name="TextBox 44"/>
            <p:cNvSpPr txBox="1"/>
            <p:nvPr/>
          </p:nvSpPr>
          <p:spPr>
            <a:xfrm>
              <a:off x="756455" y="4477571"/>
              <a:ext cx="2164942" cy="1552257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万用表的显示部分，通常采用指针式或数字式显示。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628568" y="4477571"/>
            <a:ext cx="2164942" cy="1552257"/>
            <a:chOff x="3628568" y="4477571"/>
            <a:chExt cx="2164942" cy="1552257"/>
          </a:xfrm>
        </p:grpSpPr>
        <p:sp>
          <p:nvSpPr>
            <p:cNvPr id="46" name="TextBox 46"/>
            <p:cNvSpPr txBox="1"/>
            <p:nvPr/>
          </p:nvSpPr>
          <p:spPr>
            <a:xfrm>
              <a:off x="3628568" y="4477571"/>
              <a:ext cx="2164942" cy="1552257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包括电阻、电流、电压等测量电路，用于实现各种电量的测量。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66794" y="4477571"/>
            <a:ext cx="2164942" cy="1552257"/>
            <a:chOff x="6466794" y="4477571"/>
            <a:chExt cx="2164942" cy="1552257"/>
          </a:xfrm>
        </p:grpSpPr>
        <p:sp>
          <p:nvSpPr>
            <p:cNvPr id="48" name="TextBox 48"/>
            <p:cNvSpPr txBox="1"/>
            <p:nvPr/>
          </p:nvSpPr>
          <p:spPr>
            <a:xfrm>
              <a:off x="6466794" y="4477571"/>
              <a:ext cx="2164942" cy="1552257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用于选择不同的测量量程，以适应不同大小的被测量。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18371" y="4477571"/>
            <a:ext cx="2164942" cy="1552257"/>
            <a:chOff x="9318371" y="4477571"/>
            <a:chExt cx="2164942" cy="1552257"/>
          </a:xfrm>
        </p:grpSpPr>
        <p:sp>
          <p:nvSpPr>
            <p:cNvPr id="50" name="TextBox 50"/>
            <p:cNvSpPr txBox="1"/>
            <p:nvPr/>
          </p:nvSpPr>
          <p:spPr>
            <a:xfrm>
              <a:off x="9318371" y="4477571"/>
              <a:ext cx="2164942" cy="1552257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用于连接被测电路或元件的引脚，通常有红、黑两个插孔，分别对应正、负极。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05451" y="3588593"/>
            <a:ext cx="2267763" cy="490334"/>
            <a:chOff x="705451" y="3588593"/>
            <a:chExt cx="2267763" cy="490334"/>
          </a:xfrm>
        </p:grpSpPr>
        <p:sp>
          <p:nvSpPr>
            <p:cNvPr id="52" name="TextBox 52"/>
            <p:cNvSpPr txBox="1"/>
            <p:nvPr/>
          </p:nvSpPr>
          <p:spPr>
            <a:xfrm>
              <a:off x="705451" y="3588593"/>
              <a:ext cx="2267763" cy="490334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表头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628568" y="3588593"/>
            <a:ext cx="2267763" cy="490334"/>
            <a:chOff x="3628568" y="3588593"/>
            <a:chExt cx="2267763" cy="490334"/>
          </a:xfrm>
        </p:grpSpPr>
        <p:sp>
          <p:nvSpPr>
            <p:cNvPr id="54" name="TextBox 54"/>
            <p:cNvSpPr txBox="1"/>
            <p:nvPr/>
          </p:nvSpPr>
          <p:spPr>
            <a:xfrm>
              <a:off x="3628568" y="3588593"/>
              <a:ext cx="2267763" cy="490334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测量电路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33598" y="3588593"/>
            <a:ext cx="2267763" cy="490334"/>
            <a:chOff x="6433598" y="3588593"/>
            <a:chExt cx="2267763" cy="490334"/>
          </a:xfrm>
        </p:grpSpPr>
        <p:sp>
          <p:nvSpPr>
            <p:cNvPr id="56" name="TextBox 56"/>
            <p:cNvSpPr txBox="1"/>
            <p:nvPr/>
          </p:nvSpPr>
          <p:spPr>
            <a:xfrm>
              <a:off x="6433598" y="3588593"/>
              <a:ext cx="2267763" cy="490334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量程选择开关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265251" y="3588593"/>
            <a:ext cx="2267763" cy="490334"/>
            <a:chOff x="9265251" y="3588593"/>
            <a:chExt cx="2267763" cy="490334"/>
          </a:xfrm>
        </p:grpSpPr>
        <p:sp>
          <p:nvSpPr>
            <p:cNvPr id="58" name="TextBox 58"/>
            <p:cNvSpPr txBox="1"/>
            <p:nvPr/>
          </p:nvSpPr>
          <p:spPr>
            <a:xfrm>
              <a:off x="9265251" y="3588593"/>
              <a:ext cx="2267763" cy="490334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输入插孔</a:t>
              </a: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1837" y="1604867"/>
            <a:ext cx="3394996" cy="2116741"/>
            <a:chOff x="981837" y="1604867"/>
            <a:chExt cx="3394996" cy="2116741"/>
          </a:xfrm>
        </p:grpSpPr>
        <p:sp>
          <p:nvSpPr>
            <p:cNvPr id="3" name="AutoShape 3"/>
            <p:cNvSpPr/>
            <p:nvPr/>
          </p:nvSpPr>
          <p:spPr>
            <a:xfrm>
              <a:off x="981837" y="1604867"/>
              <a:ext cx="3394996" cy="2116741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>
                <a:defRPr/>
              </a:pPr>
              <a:r>
                <a:rPr lang="en-US" sz="294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</a:t>
              </a:r>
              <a:endParaRPr lang="en-US" sz="11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376738" y="3721608"/>
            <a:ext cx="3394996" cy="2116741"/>
            <a:chOff x="4376738" y="3721608"/>
            <a:chExt cx="3394996" cy="2116741"/>
          </a:xfrm>
        </p:grpSpPr>
        <p:sp>
          <p:nvSpPr>
            <p:cNvPr id="5" name="AutoShape 5"/>
            <p:cNvSpPr/>
            <p:nvPr/>
          </p:nvSpPr>
          <p:spPr>
            <a:xfrm>
              <a:off x="4376738" y="3721608"/>
              <a:ext cx="3394996" cy="2116741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771733" y="1604867"/>
            <a:ext cx="3394996" cy="2116741"/>
            <a:chOff x="7771733" y="1604867"/>
            <a:chExt cx="3394996" cy="2116741"/>
          </a:xfrm>
        </p:grpSpPr>
        <p:sp>
          <p:nvSpPr>
            <p:cNvPr id="7" name="AutoShape 7"/>
            <p:cNvSpPr/>
            <p:nvPr/>
          </p:nvSpPr>
          <p:spPr>
            <a:xfrm>
              <a:off x="7771733" y="1604867"/>
              <a:ext cx="3394996" cy="2116741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t="2627" b="2627"/>
          <a:stretch>
            <a:fillRect/>
          </a:stretch>
        </p:blipFill>
        <p:spPr>
          <a:xfrm>
            <a:off x="981837" y="3694465"/>
            <a:ext cx="3394942" cy="214386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2523" b="2523"/>
          <a:stretch>
            <a:fillRect/>
          </a:stretch>
        </p:blipFill>
        <p:spPr>
          <a:xfrm>
            <a:off x="4376812" y="1577730"/>
            <a:ext cx="3394942" cy="214386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t="2627" b="2627"/>
          <a:stretch>
            <a:fillRect/>
          </a:stretch>
        </p:blipFill>
        <p:spPr>
          <a:xfrm>
            <a:off x="7771733" y="3721608"/>
            <a:ext cx="3394942" cy="2143864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万用表的测量原理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81837" y="1604867"/>
            <a:ext cx="3394996" cy="490334"/>
            <a:chOff x="981837" y="1604867"/>
            <a:chExt cx="3394996" cy="490334"/>
          </a:xfrm>
        </p:grpSpPr>
        <p:sp>
          <p:nvSpPr>
            <p:cNvPr id="34" name="TextBox 34"/>
            <p:cNvSpPr txBox="1"/>
            <p:nvPr/>
          </p:nvSpPr>
          <p:spPr>
            <a:xfrm>
              <a:off x="981837" y="1604867"/>
              <a:ext cx="3394996" cy="490334"/>
            </a:xfrm>
            <a:prstGeom prst="rect">
              <a:avLst/>
            </a:prstGeom>
          </p:spPr>
          <p:txBody>
            <a:bodyPr vert="horz" wrap="square" lIns="66008" tIns="33052" rIns="66008" bIns="33052" rtlCol="0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电阻测量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0562" y="2039620"/>
            <a:ext cx="3286271" cy="1654845"/>
            <a:chOff x="1090562" y="2039620"/>
            <a:chExt cx="3286271" cy="1654845"/>
          </a:xfrm>
        </p:grpSpPr>
        <p:sp>
          <p:nvSpPr>
            <p:cNvPr id="36" name="TextBox 36"/>
            <p:cNvSpPr txBox="1"/>
            <p:nvPr/>
          </p:nvSpPr>
          <p:spPr>
            <a:xfrm>
              <a:off x="1090562" y="2039620"/>
              <a:ext cx="3286271" cy="1654845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通过测量待测电阻上的电压降和流过电阻的电流，利用欧姆定律计算出电阻值。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76833" y="3748751"/>
            <a:ext cx="3394996" cy="490334"/>
            <a:chOff x="4376833" y="3748751"/>
            <a:chExt cx="3394996" cy="490334"/>
          </a:xfrm>
        </p:grpSpPr>
        <p:sp>
          <p:nvSpPr>
            <p:cNvPr id="38" name="TextBox 38"/>
            <p:cNvSpPr txBox="1"/>
            <p:nvPr/>
          </p:nvSpPr>
          <p:spPr>
            <a:xfrm>
              <a:off x="4376833" y="3748751"/>
              <a:ext cx="3394996" cy="490334"/>
            </a:xfrm>
            <a:prstGeom prst="rect">
              <a:avLst/>
            </a:prstGeom>
          </p:spPr>
          <p:txBody>
            <a:bodyPr vert="horz" wrap="square" lIns="66008" tIns="33052" rIns="66008" bIns="33052" rtlCol="0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电流测量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85558" y="4183504"/>
            <a:ext cx="3286271" cy="1654845"/>
            <a:chOff x="4485558" y="4183504"/>
            <a:chExt cx="3286271" cy="1654845"/>
          </a:xfrm>
        </p:grpSpPr>
        <p:sp>
          <p:nvSpPr>
            <p:cNvPr id="40" name="TextBox 40"/>
            <p:cNvSpPr txBox="1"/>
            <p:nvPr/>
          </p:nvSpPr>
          <p:spPr>
            <a:xfrm>
              <a:off x="4485558" y="4183504"/>
              <a:ext cx="3286271" cy="1654845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将万用表串联在电路中，通过测量电路中的电流来得到被测量的电流值。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771733" y="1604867"/>
            <a:ext cx="3394996" cy="490334"/>
            <a:chOff x="7771733" y="1604867"/>
            <a:chExt cx="3394996" cy="490334"/>
          </a:xfrm>
        </p:grpSpPr>
        <p:sp>
          <p:nvSpPr>
            <p:cNvPr id="42" name="TextBox 42"/>
            <p:cNvSpPr txBox="1"/>
            <p:nvPr/>
          </p:nvSpPr>
          <p:spPr>
            <a:xfrm>
              <a:off x="7771733" y="1604867"/>
              <a:ext cx="3394996" cy="490334"/>
            </a:xfrm>
            <a:prstGeom prst="rect">
              <a:avLst/>
            </a:prstGeom>
          </p:spPr>
          <p:txBody>
            <a:bodyPr vert="horz" wrap="square" lIns="66008" tIns="33052" rIns="66008" bIns="33052" rtlCol="0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25" b="1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电压测量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80459" y="2039620"/>
            <a:ext cx="3286271" cy="1654845"/>
            <a:chOff x="7880459" y="2039620"/>
            <a:chExt cx="3286271" cy="1654845"/>
          </a:xfrm>
        </p:grpSpPr>
        <p:sp>
          <p:nvSpPr>
            <p:cNvPr id="44" name="TextBox 44"/>
            <p:cNvSpPr txBox="1"/>
            <p:nvPr/>
          </p:nvSpPr>
          <p:spPr>
            <a:xfrm>
              <a:off x="7880459" y="2039620"/>
              <a:ext cx="3286271" cy="1654845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将万用表并联在电路中，通过测量电路中的电压来得到被测量的电压值。</a:t>
              </a: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9006" y="4720386"/>
            <a:ext cx="2415272" cy="3704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defRPr/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准确度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575643" y="4720386"/>
            <a:ext cx="2415272" cy="3704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defRPr/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分辨率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0535" y="4720386"/>
            <a:ext cx="2415272" cy="3704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defRPr/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量程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27174" y="4720386"/>
            <a:ext cx="2415272" cy="3704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defRPr/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抗干扰能力</a:t>
            </a:r>
            <a:endParaRPr lang="en-US" sz="1100"/>
          </a:p>
        </p:txBody>
      </p:sp>
      <p:grpSp>
        <p:nvGrpSpPr>
          <p:cNvPr id="6" name="Group 6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7" name="AutoShape 7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8" name="AutoShape 8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9" name="AutoShape 9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0" name="AutoShape 10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1" name="AutoShape 11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2" name="AutoShape 12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万用表的性能指标</a:t>
              </a:r>
            </a:p>
          </p:txBody>
        </p:sp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rcRect l="16589" r="16589"/>
          <a:stretch>
            <a:fillRect/>
          </a:stretch>
        </p:blipFill>
        <p:spPr>
          <a:xfrm>
            <a:off x="892584" y="1337857"/>
            <a:ext cx="2465519" cy="2459823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rcRect l="16589" r="16589"/>
          <a:stretch>
            <a:fillRect/>
          </a:stretch>
        </p:blipFill>
        <p:spPr>
          <a:xfrm>
            <a:off x="3570781" y="1337857"/>
            <a:ext cx="2465519" cy="2459823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/>
          <a:srcRect t="116" b="116"/>
          <a:stretch>
            <a:fillRect/>
          </a:stretch>
        </p:blipFill>
        <p:spPr>
          <a:xfrm>
            <a:off x="6248977" y="1337857"/>
            <a:ext cx="2465519" cy="2459823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6"/>
          <a:srcRect t="10541" b="10541"/>
          <a:stretch>
            <a:fillRect/>
          </a:stretch>
        </p:blipFill>
        <p:spPr>
          <a:xfrm>
            <a:off x="8927174" y="1337857"/>
            <a:ext cx="2465519" cy="2459823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410969" y="3111016"/>
            <a:ext cx="1428750" cy="1428750"/>
          </a:xfrm>
          <a:prstGeom prst="rect">
            <a:avLst/>
          </a:prstGeom>
          <a:solidFill>
            <a:schemeClr val="accent1">
              <a:alpha val="7225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4089165" y="3111016"/>
            <a:ext cx="1428750" cy="1428750"/>
          </a:xfrm>
          <a:prstGeom prst="rect">
            <a:avLst/>
          </a:prstGeom>
          <a:solidFill>
            <a:schemeClr val="accent1">
              <a:lumMod val="50000"/>
              <a:alpha val="85000"/>
            </a:schemeClr>
          </a:solidFill>
        </p:spPr>
      </p:sp>
      <p:sp>
        <p:nvSpPr>
          <p:cNvPr id="34" name="AutoShape 34"/>
          <p:cNvSpPr/>
          <p:nvPr/>
        </p:nvSpPr>
        <p:spPr>
          <a:xfrm>
            <a:off x="9445558" y="3111016"/>
            <a:ext cx="1428750" cy="1428750"/>
          </a:xfrm>
          <a:prstGeom prst="rect">
            <a:avLst/>
          </a:prstGeom>
          <a:solidFill>
            <a:schemeClr val="accent1">
              <a:lumMod val="50000"/>
              <a:alpha val="85000"/>
            </a:schemeClr>
          </a:solidFill>
        </p:spPr>
      </p:sp>
      <p:sp>
        <p:nvSpPr>
          <p:cNvPr id="35" name="AutoShape 35"/>
          <p:cNvSpPr/>
          <p:nvPr/>
        </p:nvSpPr>
        <p:spPr>
          <a:xfrm>
            <a:off x="6767362" y="3111016"/>
            <a:ext cx="1428750" cy="142875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</p:sp>
      <p:sp>
        <p:nvSpPr>
          <p:cNvPr id="36" name="TextBox 36"/>
          <p:cNvSpPr txBox="1"/>
          <p:nvPr/>
        </p:nvSpPr>
        <p:spPr>
          <a:xfrm>
            <a:off x="1441168" y="3500231"/>
            <a:ext cx="1368351" cy="68199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21550" y="3500231"/>
            <a:ext cx="1363980" cy="68199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99747" y="3500231"/>
            <a:ext cx="1363980" cy="68199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77944" y="3500231"/>
            <a:ext cx="1363980" cy="68199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AutoShape 40"/>
          <p:cNvSpPr/>
          <p:nvPr/>
        </p:nvSpPr>
        <p:spPr>
          <a:xfrm>
            <a:off x="917707" y="5153111"/>
            <a:ext cx="2415273" cy="9999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defRPr/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表示万用表测量结果的准确程度，通常以误差范围或误差百分比表示。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3595904" y="5153111"/>
            <a:ext cx="2415273" cy="9999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defRPr/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表示万用表能够显示的最小变化量，即最小刻度值。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274100" y="5153111"/>
            <a:ext cx="2415273" cy="9999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defRPr/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表示万用表能够测量的最大和最小电量范围。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952297" y="5153111"/>
            <a:ext cx="2415273" cy="9999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defRPr/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表示万用表在受到外界干扰时，能够保持测量结果稳定的能力。</a:t>
            </a:r>
            <a:endParaRPr lang="en-US" sz="11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62600" y="2304610"/>
            <a:ext cx="1066800" cy="10668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19050">
            <a:solidFill>
              <a:srgbClr val="000000">
                <a:alpha val="100000"/>
              </a:srgbClr>
            </a:soli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2770323" y="2304610"/>
            <a:ext cx="6651353" cy="103136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5775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35297" y="3578030"/>
            <a:ext cx="5724525" cy="157162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825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万用表的使用方法</a:t>
            </a:r>
          </a:p>
        </p:txBody>
      </p:sp>
      <p:cxnSp>
        <p:nvCxnSpPr>
          <p:cNvPr id="5" name="Connector 5"/>
          <p:cNvCxnSpPr/>
          <p:nvPr/>
        </p:nvCxnSpPr>
        <p:spPr>
          <a:xfrm flipV="1">
            <a:off x="6881808" y="1961467"/>
            <a:ext cx="964777" cy="686285"/>
          </a:xfrm>
          <a:prstGeom prst="line">
            <a:avLst/>
          </a:prstGeom>
          <a:ln w="19050">
            <a:solidFill>
              <a:schemeClr val="dk1"/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 flipV="1">
            <a:off x="4377943" y="2742715"/>
            <a:ext cx="964777" cy="686285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925814" y="2630423"/>
            <a:ext cx="2231507" cy="223150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4233" r="14233"/>
          <a:stretch>
            <a:fillRect/>
          </a:stretch>
        </p:blipFill>
        <p:spPr>
          <a:xfrm>
            <a:off x="1438585" y="2630423"/>
            <a:ext cx="2231507" cy="223150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69569" y="1125085"/>
            <a:ext cx="1988995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检查万用表外观是否完好，表笔是否齐全且没有损坏。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l="16667" r="16667"/>
          <a:stretch>
            <a:fillRect/>
          </a:stretch>
        </p:blipFill>
        <p:spPr>
          <a:xfrm>
            <a:off x="8413042" y="2630423"/>
            <a:ext cx="2231507" cy="2231507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4925814" y="2623346"/>
            <a:ext cx="97536" cy="3792083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8394148" y="1069847"/>
            <a:ext cx="97536" cy="3792083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1395307" y="1069847"/>
            <a:ext cx="97536" cy="3792083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5168326" y="5091454"/>
            <a:ext cx="1988995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确认万用表的电池电量充足，以保证测量精度。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48852" y="1125085"/>
            <a:ext cx="1988995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根据测量需求选择合适的档位和功能。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使用前的准备工作</a:t>
              </a:r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1837" y="1604867"/>
            <a:ext cx="3394996" cy="2116741"/>
            <a:chOff x="981837" y="1604867"/>
            <a:chExt cx="3394996" cy="2116741"/>
          </a:xfrm>
        </p:grpSpPr>
        <p:sp>
          <p:nvSpPr>
            <p:cNvPr id="3" name="AutoShape 3"/>
            <p:cNvSpPr/>
            <p:nvPr/>
          </p:nvSpPr>
          <p:spPr>
            <a:xfrm>
              <a:off x="981837" y="1604867"/>
              <a:ext cx="3394996" cy="2116741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>
                <a:defRPr/>
              </a:pPr>
              <a:r>
                <a:rPr lang="en-US" sz="294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</a:t>
              </a:r>
              <a:endParaRPr lang="en-US" sz="11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376738" y="3721608"/>
            <a:ext cx="3394996" cy="2116741"/>
            <a:chOff x="4376738" y="3721608"/>
            <a:chExt cx="3394996" cy="2116741"/>
          </a:xfrm>
        </p:grpSpPr>
        <p:sp>
          <p:nvSpPr>
            <p:cNvPr id="5" name="AutoShape 5"/>
            <p:cNvSpPr/>
            <p:nvPr/>
          </p:nvSpPr>
          <p:spPr>
            <a:xfrm>
              <a:off x="4376738" y="3721608"/>
              <a:ext cx="3394996" cy="2116741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771733" y="1604867"/>
            <a:ext cx="3394996" cy="2116741"/>
            <a:chOff x="7771733" y="1604867"/>
            <a:chExt cx="3394996" cy="2116741"/>
          </a:xfrm>
        </p:grpSpPr>
        <p:sp>
          <p:nvSpPr>
            <p:cNvPr id="7" name="AutoShape 7"/>
            <p:cNvSpPr/>
            <p:nvPr/>
          </p:nvSpPr>
          <p:spPr>
            <a:xfrm>
              <a:off x="7771733" y="1604867"/>
              <a:ext cx="3394996" cy="2116741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t="18873" b="18873"/>
          <a:stretch>
            <a:fillRect/>
          </a:stretch>
        </p:blipFill>
        <p:spPr>
          <a:xfrm>
            <a:off x="981837" y="3694465"/>
            <a:ext cx="3394942" cy="214386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2627" b="2627"/>
          <a:stretch>
            <a:fillRect/>
          </a:stretch>
        </p:blipFill>
        <p:spPr>
          <a:xfrm>
            <a:off x="4376812" y="1577730"/>
            <a:ext cx="3394942" cy="214386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t="29003" b="29003"/>
          <a:stretch>
            <a:fillRect/>
          </a:stretch>
        </p:blipFill>
        <p:spPr>
          <a:xfrm>
            <a:off x="7771733" y="3721608"/>
            <a:ext cx="3394942" cy="2143864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测量电压的方法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57922" y="1822244"/>
            <a:ext cx="3286271" cy="1654845"/>
            <a:chOff x="1057922" y="1822244"/>
            <a:chExt cx="3286271" cy="1654845"/>
          </a:xfrm>
        </p:grpSpPr>
        <p:sp>
          <p:nvSpPr>
            <p:cNvPr id="34" name="TextBox 34"/>
            <p:cNvSpPr txBox="1"/>
            <p:nvPr/>
          </p:nvSpPr>
          <p:spPr>
            <a:xfrm>
              <a:off x="1057922" y="1822244"/>
              <a:ext cx="3286271" cy="1654845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将红表笔插入“VΩ”插孔，黑表笔插入“COM”插孔。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452917" y="3966127"/>
            <a:ext cx="3286271" cy="1654845"/>
            <a:chOff x="4452917" y="3966127"/>
            <a:chExt cx="3286271" cy="1654845"/>
          </a:xfrm>
        </p:grpSpPr>
        <p:sp>
          <p:nvSpPr>
            <p:cNvPr id="36" name="TextBox 36"/>
            <p:cNvSpPr txBox="1"/>
            <p:nvPr/>
          </p:nvSpPr>
          <p:spPr>
            <a:xfrm>
              <a:off x="4452917" y="3966127"/>
              <a:ext cx="3286271" cy="1654845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选择合适的电压档位，将万用表并联在待测电路两端。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847818" y="1822244"/>
            <a:ext cx="3286271" cy="1654845"/>
            <a:chOff x="7847818" y="1822244"/>
            <a:chExt cx="3286271" cy="1654845"/>
          </a:xfrm>
        </p:grpSpPr>
        <p:sp>
          <p:nvSpPr>
            <p:cNvPr id="38" name="TextBox 38"/>
            <p:cNvSpPr txBox="1"/>
            <p:nvPr/>
          </p:nvSpPr>
          <p:spPr>
            <a:xfrm>
              <a:off x="7847818" y="1822244"/>
              <a:ext cx="3286271" cy="1654845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读取万用表显示的电压值，注意选择合适的单位（V）。</a:t>
              </a: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4606" y="1508032"/>
            <a:ext cx="3311882" cy="4326814"/>
          </a:xfrm>
          <a:prstGeom prst="roundRect">
            <a:avLst>
              <a:gd name="adj" fmla="val 95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4391478" y="1508032"/>
            <a:ext cx="3311882" cy="4326814"/>
          </a:xfrm>
          <a:prstGeom prst="roundRect">
            <a:avLst>
              <a:gd name="adj" fmla="val 10537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8167153" y="1508032"/>
            <a:ext cx="3311882" cy="4326814"/>
          </a:xfrm>
          <a:prstGeom prst="roundRect">
            <a:avLst>
              <a:gd name="adj" fmla="val 9247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4588266" y="4240389"/>
            <a:ext cx="2918307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选择合适的电流档位，将万用表串联在待测电路中。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63940" y="4240389"/>
            <a:ext cx="2918307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读取万用表显示的电流值，注意选择合适的单位（mA或A）。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16924" b="16924"/>
          <a:stretch>
            <a:fillRect/>
          </a:stretch>
        </p:blipFill>
        <p:spPr>
          <a:xfrm>
            <a:off x="921958" y="1771933"/>
            <a:ext cx="2672865" cy="2203993"/>
          </a:xfrm>
          <a:prstGeom prst="round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l="12428" r="12428"/>
          <a:stretch>
            <a:fillRect/>
          </a:stretch>
        </p:blipFill>
        <p:spPr>
          <a:xfrm>
            <a:off x="4710987" y="1771933"/>
            <a:ext cx="2672865" cy="2203993"/>
          </a:xfrm>
          <a:prstGeom prst="round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9526" r="9526"/>
          <a:stretch>
            <a:fillRect/>
          </a:stretch>
        </p:blipFill>
        <p:spPr>
          <a:xfrm>
            <a:off x="8486661" y="1771933"/>
            <a:ext cx="2672865" cy="2203993"/>
          </a:xfrm>
          <a:prstGeom prst="round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63829" y="4240389"/>
            <a:ext cx="2916151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将红表笔插入“mA”或“A”插孔，黑表笔插入“COM”插孔。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测量电流的方法</a:t>
              </a: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29970" y="1598804"/>
            <a:ext cx="3048265" cy="4557583"/>
          </a:xfrm>
          <a:prstGeom prst="roundRect">
            <a:avLst>
              <a:gd name="adj" fmla="val 12098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4533906" y="1447444"/>
            <a:ext cx="3048265" cy="4708942"/>
          </a:xfrm>
          <a:prstGeom prst="roundRect">
            <a:avLst>
              <a:gd name="adj" fmla="val 11601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53186" y="1689619"/>
            <a:ext cx="3048265" cy="4466767"/>
          </a:xfrm>
          <a:prstGeom prst="roundRect">
            <a:avLst>
              <a:gd name="adj" fmla="val 12098"/>
            </a:avLst>
          </a:prstGeom>
          <a:solidFill>
            <a:schemeClr val="accent2">
              <a:alpha val="100000"/>
            </a:schemeClr>
          </a:solid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2455" y="1326357"/>
            <a:ext cx="3050440" cy="3050440"/>
          </a:xfrm>
          <a:prstGeom prst="round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33906" y="1327357"/>
            <a:ext cx="3079664" cy="3079664"/>
          </a:xfrm>
          <a:prstGeom prst="round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29970" y="1327357"/>
            <a:ext cx="3079664" cy="3079664"/>
          </a:xfrm>
          <a:prstGeom prst="round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69054" y="4543292"/>
            <a:ext cx="2822670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将红表笔插入“VΩ”插孔，黑表笔插入“COM”插孔。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95472" y="4543292"/>
            <a:ext cx="2822670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选择合适的电阻档位，将待测电阻与万用表连接。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18990" y="4543292"/>
            <a:ext cx="2822670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读取万用表显示的电阻值，注意选择合适的单位（Ω）。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测量电阻的方法</a:t>
              </a: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62600" y="2304610"/>
            <a:ext cx="1066800" cy="10668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19050">
            <a:solidFill>
              <a:srgbClr val="000000">
                <a:alpha val="100000"/>
              </a:srgbClr>
            </a:soli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2770323" y="2304610"/>
            <a:ext cx="6651353" cy="103136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5775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35297" y="3578030"/>
            <a:ext cx="5724525" cy="157162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825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万用表的注意事项与维护保养</a:t>
            </a:r>
          </a:p>
        </p:txBody>
      </p:sp>
      <p:cxnSp>
        <p:nvCxnSpPr>
          <p:cNvPr id="5" name="Connector 5"/>
          <p:cNvCxnSpPr/>
          <p:nvPr/>
        </p:nvCxnSpPr>
        <p:spPr>
          <a:xfrm flipV="1">
            <a:off x="6881808" y="1961467"/>
            <a:ext cx="964777" cy="686285"/>
          </a:xfrm>
          <a:prstGeom prst="line">
            <a:avLst/>
          </a:prstGeom>
          <a:ln w="19050">
            <a:solidFill>
              <a:schemeClr val="dk1"/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 flipV="1">
            <a:off x="4377943" y="2742715"/>
            <a:ext cx="964777" cy="686285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45936" y="2601975"/>
            <a:ext cx="1097280" cy="1097280"/>
          </a:xfrm>
          <a:prstGeom prst="ellipse">
            <a:avLst/>
          </a:prstGeom>
          <a:solidFill>
            <a:schemeClr val="accent4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4723788" y="4992370"/>
            <a:ext cx="1097280" cy="109728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414621" y="4992370"/>
            <a:ext cx="1097280" cy="109728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" name="Freeform 5"/>
          <p:cNvSpPr/>
          <p:nvPr/>
        </p:nvSpPr>
        <p:spPr>
          <a:xfrm rot="2135991">
            <a:off x="6752079" y="3005407"/>
            <a:ext cx="422364" cy="509626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1428750"/>
                </a:lnTo>
                <a:lnTo>
                  <a:pt x="952500" y="1428750"/>
                </a:lnTo>
                <a:lnTo>
                  <a:pt x="952500" y="1905000"/>
                </a:lnTo>
                <a:lnTo>
                  <a:pt x="1905000" y="952500"/>
                </a:ln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</p:spPr>
      </p:sp>
      <p:sp>
        <p:nvSpPr>
          <p:cNvPr id="6" name="Freeform 6"/>
          <p:cNvSpPr/>
          <p:nvPr/>
        </p:nvSpPr>
        <p:spPr>
          <a:xfrm rot="-2296662">
            <a:off x="5082069" y="2980409"/>
            <a:ext cx="422364" cy="509626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1428750"/>
                </a:lnTo>
                <a:lnTo>
                  <a:pt x="952500" y="1428750"/>
                </a:lnTo>
                <a:lnTo>
                  <a:pt x="952500" y="1905000"/>
                </a:lnTo>
                <a:lnTo>
                  <a:pt x="1905000" y="952500"/>
                </a:ln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</p:spPr>
      </p:sp>
      <p:sp>
        <p:nvSpPr>
          <p:cNvPr id="7" name="Freeform 7"/>
          <p:cNvSpPr/>
          <p:nvPr/>
        </p:nvSpPr>
        <p:spPr>
          <a:xfrm rot="-6933846">
            <a:off x="4590610" y="4510035"/>
            <a:ext cx="422364" cy="509626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1428750"/>
                </a:lnTo>
                <a:lnTo>
                  <a:pt x="952500" y="1428750"/>
                </a:lnTo>
                <a:lnTo>
                  <a:pt x="952500" y="1905000"/>
                </a:lnTo>
                <a:lnTo>
                  <a:pt x="1905000" y="952500"/>
                </a:ln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</p:spPr>
      </p:sp>
      <p:sp>
        <p:nvSpPr>
          <p:cNvPr id="8" name="Freeform 8"/>
          <p:cNvSpPr/>
          <p:nvPr/>
        </p:nvSpPr>
        <p:spPr>
          <a:xfrm rot="10800000">
            <a:off x="5884214" y="5286197"/>
            <a:ext cx="422364" cy="509626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1428750"/>
                </a:lnTo>
                <a:lnTo>
                  <a:pt x="952500" y="1428750"/>
                </a:lnTo>
                <a:lnTo>
                  <a:pt x="952500" y="1905000"/>
                </a:lnTo>
                <a:lnTo>
                  <a:pt x="1905000" y="952500"/>
                </a:ln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</p:spPr>
      </p:sp>
      <p:sp>
        <p:nvSpPr>
          <p:cNvPr id="9" name="Freeform 9"/>
          <p:cNvSpPr/>
          <p:nvPr/>
        </p:nvSpPr>
        <p:spPr>
          <a:xfrm rot="6699367">
            <a:off x="7238684" y="4544360"/>
            <a:ext cx="422364" cy="509626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952500"/>
                </a:moveTo>
                <a:lnTo>
                  <a:pt x="952500" y="0"/>
                </a:lnTo>
                <a:lnTo>
                  <a:pt x="952500" y="476250"/>
                </a:lnTo>
                <a:lnTo>
                  <a:pt x="0" y="476250"/>
                </a:lnTo>
                <a:lnTo>
                  <a:pt x="0" y="1428750"/>
                </a:lnTo>
                <a:lnTo>
                  <a:pt x="952500" y="1428750"/>
                </a:lnTo>
                <a:lnTo>
                  <a:pt x="952500" y="1905000"/>
                </a:lnTo>
                <a:lnTo>
                  <a:pt x="1905000" y="952500"/>
                </a:ln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</p:spPr>
      </p:sp>
      <p:sp>
        <p:nvSpPr>
          <p:cNvPr id="10" name="TextBox 10"/>
          <p:cNvSpPr txBox="1"/>
          <p:nvPr/>
        </p:nvSpPr>
        <p:spPr>
          <a:xfrm>
            <a:off x="8171891" y="3318396"/>
            <a:ext cx="3209925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测量前应先估计被测量的大小，选择合适的量程，使指针偏转在满刻度的2/3以上。</a:t>
            </a:r>
          </a:p>
        </p:txBody>
      </p:sp>
      <p:sp>
        <p:nvSpPr>
          <p:cNvPr id="11" name="Freeform 11"/>
          <p:cNvSpPr/>
          <p:nvPr/>
        </p:nvSpPr>
        <p:spPr>
          <a:xfrm>
            <a:off x="5821069" y="2864915"/>
            <a:ext cx="571400" cy="5714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6973593" y="3379295"/>
            <a:ext cx="1097280" cy="1097280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13" name="Freeform 13"/>
          <p:cNvSpPr/>
          <p:nvPr/>
        </p:nvSpPr>
        <p:spPr>
          <a:xfrm>
            <a:off x="7266066" y="3659577"/>
            <a:ext cx="512333" cy="51233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4" name="AutoShape 14"/>
          <p:cNvSpPr/>
          <p:nvPr/>
        </p:nvSpPr>
        <p:spPr>
          <a:xfrm>
            <a:off x="4116258" y="3379295"/>
            <a:ext cx="1097280" cy="109728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5" name="Freeform 15"/>
          <p:cNvSpPr/>
          <p:nvPr/>
        </p:nvSpPr>
        <p:spPr>
          <a:xfrm>
            <a:off x="4418097" y="3668943"/>
            <a:ext cx="493600" cy="4936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6" name="Freeform 16"/>
          <p:cNvSpPr/>
          <p:nvPr/>
        </p:nvSpPr>
        <p:spPr>
          <a:xfrm>
            <a:off x="5034007" y="5314781"/>
            <a:ext cx="476843" cy="47684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6843" y="182880"/>
                </a:moveTo>
                <a:lnTo>
                  <a:pt x="30480" y="182880"/>
                </a:lnTo>
                <a:lnTo>
                  <a:pt x="30480" y="304800"/>
                </a:lnTo>
                <a:lnTo>
                  <a:pt x="0" y="304800"/>
                </a:lnTo>
                <a:lnTo>
                  <a:pt x="0" y="0"/>
                </a:lnTo>
                <a:lnTo>
                  <a:pt x="182880" y="0"/>
                </a:lnTo>
                <a:lnTo>
                  <a:pt x="187957" y="30480"/>
                </a:lnTo>
                <a:lnTo>
                  <a:pt x="304800" y="30480"/>
                </a:lnTo>
                <a:lnTo>
                  <a:pt x="259080" y="121920"/>
                </a:lnTo>
                <a:lnTo>
                  <a:pt x="304800" y="213360"/>
                </a:lnTo>
                <a:lnTo>
                  <a:pt x="121920" y="213360"/>
                </a:lnTo>
                <a:lnTo>
                  <a:pt x="116843" y="18288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7" name="Freeform 17"/>
          <p:cNvSpPr/>
          <p:nvPr/>
        </p:nvSpPr>
        <p:spPr>
          <a:xfrm>
            <a:off x="6589033" y="5255782"/>
            <a:ext cx="570456" cy="57045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10886" y="167269"/>
                </a:moveTo>
                <a:cubicBezTo>
                  <a:pt x="310886" y="167269"/>
                  <a:pt x="267148" y="122672"/>
                  <a:pt x="206873" y="122672"/>
                </a:cubicBezTo>
                <a:cubicBezTo>
                  <a:pt x="147980" y="122672"/>
                  <a:pt x="89764" y="167269"/>
                  <a:pt x="89764" y="167269"/>
                </a:cubicBezTo>
                <a:lnTo>
                  <a:pt x="57064" y="153619"/>
                </a:lnTo>
                <a:lnTo>
                  <a:pt x="57064" y="193662"/>
                </a:lnTo>
                <a:cubicBezTo>
                  <a:pt x="62217" y="195415"/>
                  <a:pt x="65989" y="200158"/>
                  <a:pt x="65989" y="205902"/>
                </a:cubicBezTo>
                <a:cubicBezTo>
                  <a:pt x="65989" y="211703"/>
                  <a:pt x="62141" y="216456"/>
                  <a:pt x="56912" y="218170"/>
                </a:cubicBezTo>
                <a:lnTo>
                  <a:pt x="66580" y="245135"/>
                </a:lnTo>
                <a:lnTo>
                  <a:pt x="38043" y="245135"/>
                </a:lnTo>
                <a:lnTo>
                  <a:pt x="47796" y="217942"/>
                </a:lnTo>
                <a:cubicBezTo>
                  <a:pt x="43110" y="215951"/>
                  <a:pt x="39834" y="211322"/>
                  <a:pt x="39834" y="205902"/>
                </a:cubicBezTo>
                <a:cubicBezTo>
                  <a:pt x="39834" y="200597"/>
                  <a:pt x="43015" y="196082"/>
                  <a:pt x="47558" y="194024"/>
                </a:cubicBezTo>
                <a:lnTo>
                  <a:pt x="47558" y="149647"/>
                </a:lnTo>
                <a:lnTo>
                  <a:pt x="0" y="129816"/>
                </a:lnTo>
                <a:lnTo>
                  <a:pt x="209255" y="35890"/>
                </a:lnTo>
                <a:lnTo>
                  <a:pt x="401241" y="130997"/>
                </a:lnTo>
                <a:lnTo>
                  <a:pt x="310886" y="167269"/>
                </a:lnTo>
                <a:close/>
                <a:moveTo>
                  <a:pt x="204492" y="145266"/>
                </a:moveTo>
                <a:cubicBezTo>
                  <a:pt x="265128" y="145266"/>
                  <a:pt x="294846" y="177365"/>
                  <a:pt x="294846" y="177365"/>
                </a:cubicBezTo>
                <a:lnTo>
                  <a:pt x="294846" y="243945"/>
                </a:lnTo>
                <a:cubicBezTo>
                  <a:pt x="294846" y="243945"/>
                  <a:pt x="263938" y="268910"/>
                  <a:pt x="199739" y="268910"/>
                </a:cubicBezTo>
                <a:cubicBezTo>
                  <a:pt x="135541" y="268910"/>
                  <a:pt x="114138" y="243945"/>
                  <a:pt x="114138" y="243945"/>
                </a:cubicBezTo>
                <a:lnTo>
                  <a:pt x="114138" y="177365"/>
                </a:lnTo>
                <a:cubicBezTo>
                  <a:pt x="114138" y="177365"/>
                  <a:pt x="143856" y="145266"/>
                  <a:pt x="204492" y="145266"/>
                </a:cubicBezTo>
                <a:close/>
                <a:moveTo>
                  <a:pt x="203302" y="254641"/>
                </a:moveTo>
                <a:cubicBezTo>
                  <a:pt x="245326" y="254641"/>
                  <a:pt x="279397" y="246116"/>
                  <a:pt x="279397" y="235620"/>
                </a:cubicBezTo>
                <a:cubicBezTo>
                  <a:pt x="279397" y="225123"/>
                  <a:pt x="245326" y="216599"/>
                  <a:pt x="203302" y="216599"/>
                </a:cubicBezTo>
                <a:cubicBezTo>
                  <a:pt x="161277" y="216599"/>
                  <a:pt x="127216" y="225123"/>
                  <a:pt x="127216" y="235620"/>
                </a:cubicBezTo>
                <a:cubicBezTo>
                  <a:pt x="127216" y="246116"/>
                  <a:pt x="161277" y="254641"/>
                  <a:pt x="203302" y="25464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TextBox 18"/>
          <p:cNvSpPr txBox="1"/>
          <p:nvPr/>
        </p:nvSpPr>
        <p:spPr>
          <a:xfrm>
            <a:off x="7879518" y="4987861"/>
            <a:ext cx="3209925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测量电阻时，应选择合适的倍率档，使指针尽可能指在中心位置。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3186" y="3304902"/>
            <a:ext cx="3209925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万用表使用完毕后，应将选择开关拨到最高电压档或空档，防止下次使用时损坏仪表。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2466" y="4987747"/>
            <a:ext cx="3209925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测量过程中，手不要接触表笔的金属部分，以免影响测量精度和人身安全。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88661" y="1252888"/>
            <a:ext cx="3209925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在使用万用表之前，务必先检查表笔是否插好，档位是否正确，以及电池电量是否充足。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3" name="AutoShape 23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使用万用表的注意事项</a:t>
              </a: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778" r="18778"/>
          <a:stretch>
            <a:fillRect/>
          </a:stretch>
        </p:blipFill>
        <p:spPr>
          <a:xfrm>
            <a:off x="6416218" y="1873250"/>
            <a:ext cx="2285143" cy="243967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6989" r="16989"/>
          <a:stretch>
            <a:fillRect/>
          </a:stretch>
        </p:blipFill>
        <p:spPr>
          <a:xfrm>
            <a:off x="705451" y="1873250"/>
            <a:ext cx="2286000" cy="23083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l="3087" r="3087"/>
          <a:stretch>
            <a:fillRect/>
          </a:stretch>
        </p:blipFill>
        <p:spPr>
          <a:xfrm>
            <a:off x="9265251" y="1892300"/>
            <a:ext cx="2271183" cy="242062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l="27867" r="27867"/>
          <a:stretch>
            <a:fillRect/>
          </a:stretch>
        </p:blipFill>
        <p:spPr>
          <a:xfrm>
            <a:off x="3571418" y="1892300"/>
            <a:ext cx="2266949" cy="242062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6416218" y="3460761"/>
            <a:ext cx="2285143" cy="745998"/>
            <a:chOff x="6416218" y="3460761"/>
            <a:chExt cx="2285143" cy="745998"/>
          </a:xfrm>
        </p:grpSpPr>
        <p:sp>
          <p:nvSpPr>
            <p:cNvPr id="7" name="AutoShape 7"/>
            <p:cNvSpPr/>
            <p:nvPr/>
          </p:nvSpPr>
          <p:spPr>
            <a:xfrm>
              <a:off x="6416218" y="3460761"/>
              <a:ext cx="2285143" cy="745998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416218" y="4197615"/>
            <a:ext cx="2288381" cy="2112169"/>
            <a:chOff x="6416218" y="4197615"/>
            <a:chExt cx="2288381" cy="2112169"/>
          </a:xfrm>
        </p:grpSpPr>
        <p:sp>
          <p:nvSpPr>
            <p:cNvPr id="9" name="AutoShape 9"/>
            <p:cNvSpPr/>
            <p:nvPr/>
          </p:nvSpPr>
          <p:spPr>
            <a:xfrm>
              <a:off x="6416218" y="4197615"/>
              <a:ext cx="2288381" cy="2112169"/>
            </a:xfrm>
            <a:prstGeom prst="rect">
              <a:avLst/>
            </a:prstGeom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571418" y="3460761"/>
            <a:ext cx="2285429" cy="852159"/>
            <a:chOff x="3571418" y="3460761"/>
            <a:chExt cx="2285429" cy="852159"/>
          </a:xfrm>
        </p:grpSpPr>
        <p:sp>
          <p:nvSpPr>
            <p:cNvPr id="11" name="AutoShape 11"/>
            <p:cNvSpPr/>
            <p:nvPr/>
          </p:nvSpPr>
          <p:spPr>
            <a:xfrm>
              <a:off x="3571418" y="3460761"/>
              <a:ext cx="2285429" cy="852159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571418" y="4206759"/>
            <a:ext cx="2288096" cy="2103025"/>
            <a:chOff x="3571418" y="4206759"/>
            <a:chExt cx="2288096" cy="2103025"/>
          </a:xfrm>
        </p:grpSpPr>
        <p:sp>
          <p:nvSpPr>
            <p:cNvPr id="13" name="AutoShape 13"/>
            <p:cNvSpPr/>
            <p:nvPr/>
          </p:nvSpPr>
          <p:spPr>
            <a:xfrm>
              <a:off x="3571418" y="4206759"/>
              <a:ext cx="2288096" cy="2103025"/>
            </a:xfrm>
            <a:prstGeom prst="rect">
              <a:avLst/>
            </a:prstGeom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265251" y="3460761"/>
            <a:ext cx="2286000" cy="745998"/>
            <a:chOff x="9265251" y="3460761"/>
            <a:chExt cx="2286000" cy="745998"/>
          </a:xfrm>
        </p:grpSpPr>
        <p:sp>
          <p:nvSpPr>
            <p:cNvPr id="15" name="AutoShape 15"/>
            <p:cNvSpPr/>
            <p:nvPr/>
          </p:nvSpPr>
          <p:spPr>
            <a:xfrm>
              <a:off x="9265251" y="3460761"/>
              <a:ext cx="2286000" cy="745998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265251" y="4204473"/>
            <a:ext cx="2286000" cy="2105311"/>
            <a:chOff x="9265251" y="4204473"/>
            <a:chExt cx="2286000" cy="2105311"/>
          </a:xfrm>
        </p:grpSpPr>
        <p:sp>
          <p:nvSpPr>
            <p:cNvPr id="17" name="AutoShape 17"/>
            <p:cNvSpPr/>
            <p:nvPr/>
          </p:nvSpPr>
          <p:spPr>
            <a:xfrm>
              <a:off x="9265251" y="4204473"/>
              <a:ext cx="2286000" cy="2105311"/>
            </a:xfrm>
            <a:prstGeom prst="rect">
              <a:avLst/>
            </a:prstGeom>
            <a:solidFill>
              <a:schemeClr val="accent1">
                <a:lumMod val="50000"/>
                <a:alpha val="100000"/>
              </a:scheme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05451" y="3460761"/>
            <a:ext cx="2286000" cy="2849023"/>
            <a:chOff x="705451" y="3460761"/>
            <a:chExt cx="2286000" cy="2849023"/>
          </a:xfrm>
        </p:grpSpPr>
        <p:sp>
          <p:nvSpPr>
            <p:cNvPr id="19" name="AutoShape 19"/>
            <p:cNvSpPr/>
            <p:nvPr/>
          </p:nvSpPr>
          <p:spPr>
            <a:xfrm>
              <a:off x="705451" y="3460761"/>
              <a:ext cx="2286000" cy="88392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05451" y="4206759"/>
              <a:ext cx="2286000" cy="2103025"/>
            </a:xfrm>
            <a:prstGeom prst="rect">
              <a:avLst/>
            </a:prstGeom>
            <a:solidFill>
              <a:schemeClr val="accent1">
                <a:lumMod val="50000"/>
                <a:alpha val="100000"/>
              </a:schemeClr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705451" y="3461492"/>
            <a:ext cx="2287905" cy="720090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025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71418" y="3467100"/>
            <a:ext cx="2287905" cy="720090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025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65251" y="3471017"/>
            <a:ext cx="2287905" cy="720090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025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5" name="AutoShape 25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41" name="AutoShape 41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42" name="AutoShape 42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43" name="AutoShape 43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44" name="AutoShape 44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万用表的维护保养方法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56455" y="4477571"/>
            <a:ext cx="2164942" cy="1552257"/>
            <a:chOff x="756455" y="4477571"/>
            <a:chExt cx="2164942" cy="1552257"/>
          </a:xfrm>
        </p:grpSpPr>
        <p:sp>
          <p:nvSpPr>
            <p:cNvPr id="47" name="TextBox 47"/>
            <p:cNvSpPr txBox="1"/>
            <p:nvPr/>
          </p:nvSpPr>
          <p:spPr>
            <a:xfrm>
              <a:off x="756455" y="4477571"/>
              <a:ext cx="2164942" cy="1552257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万用表应存放在干燥、通风、无腐蚀性气体的地方。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628568" y="4477571"/>
            <a:ext cx="2164942" cy="1552257"/>
            <a:chOff x="3628568" y="4477571"/>
            <a:chExt cx="2164942" cy="1552257"/>
          </a:xfrm>
        </p:grpSpPr>
        <p:sp>
          <p:nvSpPr>
            <p:cNvPr id="49" name="TextBox 49"/>
            <p:cNvSpPr txBox="1"/>
            <p:nvPr/>
          </p:nvSpPr>
          <p:spPr>
            <a:xfrm>
              <a:off x="3628568" y="4477571"/>
              <a:ext cx="2164942" cy="1552257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长期不用的万用表应定期通电驱潮，以保持其良好性能。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466794" y="4477571"/>
            <a:ext cx="2164942" cy="1552257"/>
            <a:chOff x="6466794" y="4477571"/>
            <a:chExt cx="2164942" cy="1552257"/>
          </a:xfrm>
        </p:grpSpPr>
        <p:sp>
          <p:nvSpPr>
            <p:cNvPr id="51" name="TextBox 51"/>
            <p:cNvSpPr txBox="1"/>
            <p:nvPr/>
          </p:nvSpPr>
          <p:spPr>
            <a:xfrm>
              <a:off x="6466794" y="4477571"/>
              <a:ext cx="2164942" cy="1552257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万用表的表笔应定期清洁，保持其良好的导电性能。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318371" y="4477571"/>
            <a:ext cx="2164942" cy="1552257"/>
            <a:chOff x="9318371" y="4477571"/>
            <a:chExt cx="2164942" cy="1552257"/>
          </a:xfrm>
        </p:grpSpPr>
        <p:sp>
          <p:nvSpPr>
            <p:cNvPr id="53" name="TextBox 53"/>
            <p:cNvSpPr txBox="1"/>
            <p:nvPr/>
          </p:nvSpPr>
          <p:spPr>
            <a:xfrm>
              <a:off x="9318371" y="4477571"/>
              <a:ext cx="2164942" cy="1552257"/>
            </a:xfrm>
            <a:prstGeom prst="rect">
              <a:avLst/>
            </a:prstGeom>
          </p:spPr>
          <p:txBody>
            <a:bodyPr vert="horz" wrap="square" lIns="66008" tIns="33052" rIns="66008" bIns="33052" rtlCol="0" anchor="ctr" anchorCtr="1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500">
                  <a:solidFill>
                    <a:srgbClr val="FF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定期对万用表进行校准，以确保其测量精度。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416218" y="3461492"/>
            <a:ext cx="2287905" cy="720090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025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916222" y="4004786"/>
            <a:ext cx="1975009" cy="1972913"/>
          </a:xfrm>
          <a:prstGeom prst="ellipse">
            <a:avLst/>
          </a:prstGeom>
          <a:solidFill>
            <a:srgbClr val="FFFEFE">
              <a:alpha val="0"/>
            </a:srgbClr>
          </a:solidFill>
          <a:ln w="21431">
            <a:solidFill>
              <a:schemeClr val="accent4">
                <a:alpha val="100000"/>
              </a:schemeClr>
            </a:solidFill>
            <a:prstDash val="solid"/>
          </a:ln>
        </p:spPr>
        <p:style>
          <a:lnRef idx="0">
            <a:schemeClr val="accent4"/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4" name="AutoShape 4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6" name="AutoShape 6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7" name="AutoShape 7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8" name="AutoShape 8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9" name="AutoShape 9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0" name="AutoShape 10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1" name="AutoShape 11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2" name="AutoShape 12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常见故障及排除方法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653186" y="3037951"/>
            <a:ext cx="1104138" cy="1103757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6" name="AutoShape 26"/>
          <p:cNvSpPr/>
          <p:nvPr/>
        </p:nvSpPr>
        <p:spPr>
          <a:xfrm>
            <a:off x="1406232" y="3836623"/>
            <a:ext cx="348996" cy="347472"/>
          </a:xfrm>
          <a:prstGeom prst="ellipse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>
            <a:off x="1736178" y="4137422"/>
            <a:ext cx="158686" cy="158877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cxnSp>
        <p:nvCxnSpPr>
          <p:cNvPr id="28" name="Connector 28"/>
          <p:cNvCxnSpPr/>
          <p:nvPr/>
        </p:nvCxnSpPr>
        <p:spPr>
          <a:xfrm>
            <a:off x="1765528" y="3629025"/>
            <a:ext cx="8375194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AutoShape 29"/>
          <p:cNvSpPr/>
          <p:nvPr/>
        </p:nvSpPr>
        <p:spPr>
          <a:xfrm>
            <a:off x="2339362" y="3540109"/>
            <a:ext cx="177832" cy="177832"/>
          </a:xfrm>
          <a:prstGeom prst="diamond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0" name="AutoShape 30"/>
          <p:cNvSpPr/>
          <p:nvPr/>
        </p:nvSpPr>
        <p:spPr>
          <a:xfrm>
            <a:off x="2976490" y="3540109"/>
            <a:ext cx="177832" cy="177832"/>
          </a:xfrm>
          <a:prstGeom prst="diamond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31" name="AutoShape 31"/>
          <p:cNvSpPr/>
          <p:nvPr/>
        </p:nvSpPr>
        <p:spPr>
          <a:xfrm>
            <a:off x="3613712" y="3540109"/>
            <a:ext cx="177832" cy="177832"/>
          </a:xfrm>
          <a:prstGeom prst="diamond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2" name="AutoShape 32"/>
          <p:cNvSpPr/>
          <p:nvPr/>
        </p:nvSpPr>
        <p:spPr>
          <a:xfrm>
            <a:off x="4250839" y="3540109"/>
            <a:ext cx="177832" cy="177832"/>
          </a:xfrm>
          <a:prstGeom prst="diamond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4888062" y="3540109"/>
            <a:ext cx="177832" cy="177832"/>
          </a:xfrm>
          <a:prstGeom prst="diamond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34" name="AutoShape 34"/>
          <p:cNvSpPr/>
          <p:nvPr/>
        </p:nvSpPr>
        <p:spPr>
          <a:xfrm>
            <a:off x="5525189" y="3540109"/>
            <a:ext cx="175736" cy="177832"/>
          </a:xfrm>
          <a:prstGeom prst="diamond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5" name="AutoShape 35"/>
          <p:cNvSpPr/>
          <p:nvPr/>
        </p:nvSpPr>
        <p:spPr>
          <a:xfrm>
            <a:off x="7434666" y="3540109"/>
            <a:ext cx="177832" cy="177832"/>
          </a:xfrm>
          <a:prstGeom prst="diamond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8071793" y="3540109"/>
            <a:ext cx="177832" cy="177832"/>
          </a:xfrm>
          <a:prstGeom prst="diamond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6162412" y="3540109"/>
            <a:ext cx="175736" cy="177832"/>
          </a:xfrm>
          <a:prstGeom prst="diamond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8" name="AutoShape 38"/>
          <p:cNvSpPr/>
          <p:nvPr/>
        </p:nvSpPr>
        <p:spPr>
          <a:xfrm>
            <a:off x="6799634" y="3540109"/>
            <a:ext cx="175736" cy="177832"/>
          </a:xfrm>
          <a:prstGeom prst="diamond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39" name="AutoShape 39"/>
          <p:cNvSpPr/>
          <p:nvPr/>
        </p:nvSpPr>
        <p:spPr>
          <a:xfrm>
            <a:off x="8709016" y="3540109"/>
            <a:ext cx="177832" cy="177832"/>
          </a:xfrm>
          <a:prstGeom prst="diamond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40" name="AutoShape 40"/>
          <p:cNvSpPr/>
          <p:nvPr/>
        </p:nvSpPr>
        <p:spPr>
          <a:xfrm>
            <a:off x="9346238" y="3540109"/>
            <a:ext cx="177832" cy="177832"/>
          </a:xfrm>
          <a:prstGeom prst="diamond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1" name="AutoShape 41"/>
          <p:cNvSpPr/>
          <p:nvPr/>
        </p:nvSpPr>
        <p:spPr>
          <a:xfrm>
            <a:off x="10144125" y="3028426"/>
            <a:ext cx="1104138" cy="1103757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10897172" y="3827098"/>
            <a:ext cx="348996" cy="347472"/>
          </a:xfrm>
          <a:prstGeom prst="ellipse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</p:spPr>
      </p:sp>
      <p:sp>
        <p:nvSpPr>
          <p:cNvPr id="43" name="AutoShape 43"/>
          <p:cNvSpPr/>
          <p:nvPr/>
        </p:nvSpPr>
        <p:spPr>
          <a:xfrm>
            <a:off x="11227117" y="4127897"/>
            <a:ext cx="158686" cy="158877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grpSp>
        <p:nvGrpSpPr>
          <p:cNvPr id="44" name="Group 44"/>
          <p:cNvGrpSpPr/>
          <p:nvPr/>
        </p:nvGrpSpPr>
        <p:grpSpPr>
          <a:xfrm>
            <a:off x="3510796" y="1383030"/>
            <a:ext cx="5170408" cy="1981390"/>
            <a:chOff x="3510796" y="1383030"/>
            <a:chExt cx="5170408" cy="1981390"/>
          </a:xfrm>
        </p:grpSpPr>
        <p:sp>
          <p:nvSpPr>
            <p:cNvPr id="45" name="AutoShape 45"/>
            <p:cNvSpPr/>
            <p:nvPr/>
          </p:nvSpPr>
          <p:spPr>
            <a:xfrm>
              <a:off x="6706195" y="1383030"/>
              <a:ext cx="1975009" cy="1975009"/>
            </a:xfrm>
            <a:prstGeom prst="ellipse">
              <a:avLst/>
            </a:prstGeom>
            <a:solidFill>
              <a:srgbClr val="FFFEFE">
                <a:alpha val="0"/>
              </a:srgbClr>
            </a:solidFill>
            <a:ln w="21431">
              <a:solidFill>
                <a:schemeClr val="accent2">
                  <a:alpha val="100000"/>
                </a:schemeClr>
              </a:solidFill>
              <a:prstDash val="solid"/>
            </a:ln>
          </p:spPr>
          <p:style>
            <a:lnRef idx="0">
              <a:schemeClr val="accent2"/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46" name="AutoShape 46"/>
            <p:cNvSpPr/>
            <p:nvPr/>
          </p:nvSpPr>
          <p:spPr>
            <a:xfrm>
              <a:off x="3510796" y="1391507"/>
              <a:ext cx="1972913" cy="1972913"/>
            </a:xfrm>
            <a:prstGeom prst="ellipse">
              <a:avLst/>
            </a:prstGeom>
            <a:solidFill>
              <a:srgbClr val="FFFEFE">
                <a:alpha val="0"/>
              </a:srgbClr>
            </a:solidFill>
            <a:ln w="21431">
              <a:solidFill>
                <a:schemeClr val="accent1">
                  <a:alpha val="100000"/>
                </a:schemeClr>
              </a:solidFill>
              <a:prstDash val="solid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7" name="TextBox 47"/>
            <p:cNvSpPr txBox="1"/>
            <p:nvPr/>
          </p:nvSpPr>
          <p:spPr>
            <a:xfrm>
              <a:off x="3620861" y="1720882"/>
              <a:ext cx="1862848" cy="466725"/>
            </a:xfrm>
            <a:prstGeom prst="rect">
              <a:avLst/>
            </a:prstGeom>
          </p:spPr>
          <p:txBody>
            <a:bodyPr vert="horz" wrap="square" lIns="95250" tIns="95250" rIns="47625" bIns="95250" rtlCol="0" anchor="ctr" anchorCtr="1">
              <a:noAutofit/>
            </a:bodyPr>
            <a:lstStyle/>
            <a:p>
              <a:pPr>
                <a:lnSpc>
                  <a:spcPct val="80000"/>
                </a:lnSpc>
                <a:spcBef>
                  <a:spcPts val="375"/>
                </a:spcBef>
              </a:pPr>
              <a:r>
                <a:rPr lang="en-US" sz="1575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电池电量不足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62276" y="1720882"/>
              <a:ext cx="1862848" cy="466725"/>
            </a:xfrm>
            <a:prstGeom prst="rect">
              <a:avLst/>
            </a:prstGeom>
          </p:spPr>
          <p:txBody>
            <a:bodyPr vert="horz" wrap="square" lIns="95250" tIns="95250" rIns="47625" bIns="95250" rtlCol="0" anchor="ctr" anchorCtr="1">
              <a:noAutofit/>
            </a:bodyPr>
            <a:lstStyle/>
            <a:p>
              <a:pPr>
                <a:lnSpc>
                  <a:spcPct val="80000"/>
                </a:lnSpc>
                <a:spcBef>
                  <a:spcPts val="375"/>
                </a:spcBef>
              </a:pPr>
              <a:r>
                <a:rPr lang="en-US" sz="1575" b="1">
                  <a:solidFill>
                    <a:schemeClr val="accent2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表头损坏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55288" y="2044732"/>
              <a:ext cx="1483930" cy="1058052"/>
            </a:xfrm>
            <a:prstGeom prst="rect">
              <a:avLst/>
            </a:prstGeom>
          </p:spPr>
          <p:txBody>
            <a:bodyPr vert="horz" wrap="square" lIns="95250" tIns="95250" rIns="47625" bIns="95250" rtlCol="0" anchor="t" anchorCtr="1">
              <a:no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sz="12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更换新电池，注意电池型号和极性。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51735" y="2122338"/>
              <a:ext cx="1483930" cy="902839"/>
            </a:xfrm>
            <a:prstGeom prst="rect">
              <a:avLst/>
            </a:prstGeom>
          </p:spPr>
          <p:txBody>
            <a:bodyPr vert="horz" wrap="square" lIns="95250" tIns="95250" rIns="47625" bIns="95250" rtlCol="0" anchor="t" anchorCtr="1">
              <a:no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sz="12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送专业维修部门检修或更换表头。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4303236" y="1457395"/>
              <a:ext cx="388033" cy="388033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80975"/>
                  </a:moveTo>
                  <a:lnTo>
                    <a:pt x="247650" y="123825"/>
                  </a:lnTo>
                  <a:lnTo>
                    <a:pt x="247650" y="38100"/>
                  </a:lnTo>
                  <a:lnTo>
                    <a:pt x="209550" y="38100"/>
                  </a:lnTo>
                  <a:lnTo>
                    <a:pt x="209550" y="85725"/>
                  </a:lnTo>
                  <a:lnTo>
                    <a:pt x="152400" y="28575"/>
                  </a:lnTo>
                  <a:lnTo>
                    <a:pt x="0" y="180975"/>
                  </a:lnTo>
                  <a:lnTo>
                    <a:pt x="0" y="190500"/>
                  </a:lnTo>
                  <a:lnTo>
                    <a:pt x="38100" y="190500"/>
                  </a:lnTo>
                  <a:lnTo>
                    <a:pt x="38100" y="285750"/>
                  </a:lnTo>
                  <a:lnTo>
                    <a:pt x="133350" y="285750"/>
                  </a:lnTo>
                  <a:lnTo>
                    <a:pt x="133350" y="228600"/>
                  </a:lnTo>
                  <a:lnTo>
                    <a:pt x="171450" y="228600"/>
                  </a:lnTo>
                  <a:lnTo>
                    <a:pt x="171450" y="285750"/>
                  </a:lnTo>
                  <a:lnTo>
                    <a:pt x="266700" y="285750"/>
                  </a:lnTo>
                  <a:lnTo>
                    <a:pt x="266700" y="190500"/>
                  </a:lnTo>
                  <a:lnTo>
                    <a:pt x="304800" y="19050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7482437" y="1457395"/>
              <a:ext cx="422525" cy="422525"/>
            </a:xfrm>
            <a:custGeom>
              <a:avLst/>
              <a:gdLst/>
              <a:ahLst/>
              <a:cxnLst/>
              <a:rect l="l" t="t" r="r" b="b"/>
              <a:pathLst>
                <a:path w="323850" h="304800">
                  <a:moveTo>
                    <a:pt x="265490" y="266700"/>
                  </a:moveTo>
                  <a:cubicBezTo>
                    <a:pt x="265490" y="266700"/>
                    <a:pt x="318068" y="266757"/>
                    <a:pt x="325450" y="215313"/>
                  </a:cubicBezTo>
                  <a:cubicBezTo>
                    <a:pt x="328965" y="159058"/>
                    <a:pt x="274625" y="147971"/>
                    <a:pt x="274625" y="147971"/>
                  </a:cubicBezTo>
                  <a:cubicBezTo>
                    <a:pt x="274625" y="147971"/>
                    <a:pt x="280807" y="64694"/>
                    <a:pt x="204511" y="55197"/>
                  </a:cubicBezTo>
                  <a:cubicBezTo>
                    <a:pt x="139122" y="48520"/>
                    <a:pt x="119224" y="109290"/>
                    <a:pt x="119224" y="109290"/>
                  </a:cubicBezTo>
                  <a:cubicBezTo>
                    <a:pt x="119224" y="109290"/>
                    <a:pt x="99527" y="90354"/>
                    <a:pt x="72809" y="105823"/>
                  </a:cubicBezTo>
                  <a:cubicBezTo>
                    <a:pt x="48892" y="120587"/>
                    <a:pt x="53121" y="147618"/>
                    <a:pt x="53121" y="147618"/>
                  </a:cubicBezTo>
                  <a:cubicBezTo>
                    <a:pt x="53121" y="147618"/>
                    <a:pt x="0" y="157944"/>
                    <a:pt x="0" y="212084"/>
                  </a:cubicBezTo>
                  <a:cubicBezTo>
                    <a:pt x="1191" y="266157"/>
                    <a:pt x="57693" y="266700"/>
                    <a:pt x="57693" y="266700"/>
                  </a:cubicBez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53" name="AutoShape 53"/>
          <p:cNvSpPr/>
          <p:nvPr/>
        </p:nvSpPr>
        <p:spPr>
          <a:xfrm>
            <a:off x="5116990" y="4002691"/>
            <a:ext cx="1975009" cy="1975009"/>
          </a:xfrm>
          <a:prstGeom prst="ellipse">
            <a:avLst/>
          </a:prstGeom>
          <a:solidFill>
            <a:srgbClr val="FFFEFE">
              <a:alpha val="0"/>
            </a:srgbClr>
          </a:solidFill>
          <a:ln w="21431">
            <a:solidFill>
              <a:schemeClr val="accent3">
                <a:alpha val="100000"/>
              </a:schemeClr>
            </a:solidFill>
            <a:prstDash val="solid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sp>
      <p:sp>
        <p:nvSpPr>
          <p:cNvPr id="54" name="AutoShape 54"/>
          <p:cNvSpPr/>
          <p:nvPr/>
        </p:nvSpPr>
        <p:spPr>
          <a:xfrm>
            <a:off x="8300769" y="4023836"/>
            <a:ext cx="1975009" cy="1972913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chemeClr val="accent6">
                <a:alpha val="100000"/>
              </a:schemeClr>
            </a:solidFill>
            <a:prstDash val="solid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sp>
        <p:nvSpPr>
          <p:cNvPr id="55" name="TextBox 55"/>
          <p:cNvSpPr txBox="1"/>
          <p:nvPr/>
        </p:nvSpPr>
        <p:spPr>
          <a:xfrm>
            <a:off x="2060171" y="4450985"/>
            <a:ext cx="1862848" cy="466725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575" b="1">
                <a:solidFill>
                  <a:schemeClr val="accent4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表笔接触不良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00576" y="4450985"/>
            <a:ext cx="1862848" cy="466725"/>
          </a:xfrm>
          <a:prstGeom prst="rect">
            <a:avLst/>
          </a:prstGeom>
        </p:spPr>
        <p:txBody>
          <a:bodyPr vert="horz" wrap="square" lIns="95250" tIns="95250" rIns="47625" bIns="95250" rtlCol="0" anchor="ctr" anchorCtr="1">
            <a:no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575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档位选择不当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356850" y="4450985"/>
            <a:ext cx="1862848" cy="466725"/>
          </a:xfrm>
          <a:prstGeom prst="rect">
            <a:avLst/>
          </a:prstGeom>
        </p:spPr>
        <p:txBody>
          <a:bodyPr vert="horz" wrap="square" lIns="95250" tIns="95250" rIns="47625" bIns="95250" rtlCol="0" anchor="ctr" anchorCtr="1">
            <a:no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575" b="1">
                <a:solidFill>
                  <a:schemeClr val="accent4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其他故障</a:t>
            </a:r>
          </a:p>
        </p:txBody>
      </p:sp>
      <p:sp>
        <p:nvSpPr>
          <p:cNvPr id="58" name="AutoShape 58"/>
          <p:cNvSpPr/>
          <p:nvPr/>
        </p:nvSpPr>
        <p:spPr>
          <a:xfrm>
            <a:off x="8615094" y="4850347"/>
            <a:ext cx="1346359" cy="708660"/>
          </a:xfrm>
          <a:prstGeom prst="rect">
            <a:avLst/>
          </a:prstGeom>
          <a:solidFill>
            <a:srgbClr val="FFFFFF">
              <a:alpha val="0"/>
            </a:srgbClr>
          </a:solidFill>
        </p:spPr>
      </p:sp>
      <p:sp>
        <p:nvSpPr>
          <p:cNvPr id="59" name="TextBox 59"/>
          <p:cNvSpPr txBox="1"/>
          <p:nvPr/>
        </p:nvSpPr>
        <p:spPr>
          <a:xfrm>
            <a:off x="2202233" y="4850347"/>
            <a:ext cx="1483930" cy="946140"/>
          </a:xfrm>
          <a:prstGeom prst="rect">
            <a:avLst/>
          </a:prstGeom>
        </p:spPr>
        <p:txBody>
          <a:bodyPr vert="horz" wrap="square" lIns="95250" tIns="95250" rIns="47625" bIns="95250" rtlCol="0" anchor="ctr" anchorCtr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清洁表笔插头和插座，确保接触良好。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362530" y="4850347"/>
            <a:ext cx="1483930" cy="929437"/>
          </a:xfrm>
          <a:prstGeom prst="rect">
            <a:avLst/>
          </a:prstGeom>
        </p:spPr>
        <p:txBody>
          <a:bodyPr vert="horz" wrap="square" lIns="95250" tIns="95250" rIns="47625" bIns="95250" rtlCol="0" anchor="ctr" anchorCtr="1">
            <a:noAutofit/>
          </a:bodyPr>
          <a:lstStyle/>
          <a:p>
            <a:pPr>
              <a:lnSpc>
                <a:spcPct val="150000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重新选择合适的档位进行测量。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546309" y="4850347"/>
            <a:ext cx="1483930" cy="946140"/>
          </a:xfrm>
          <a:prstGeom prst="rect">
            <a:avLst/>
          </a:prstGeom>
        </p:spPr>
        <p:txBody>
          <a:bodyPr vert="horz" wrap="square" lIns="95250" tIns="95250" rIns="47625" bIns="95250" rtlCol="0" anchor="ctr" anchorCtr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根据故障现象和万用表的使用说明书进行排查和维修。</a:t>
            </a:r>
          </a:p>
        </p:txBody>
      </p:sp>
      <p:sp>
        <p:nvSpPr>
          <p:cNvPr id="62" name="Freeform 62"/>
          <p:cNvSpPr/>
          <p:nvPr/>
        </p:nvSpPr>
        <p:spPr>
          <a:xfrm>
            <a:off x="2710345" y="4111847"/>
            <a:ext cx="386763" cy="38676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0960" y="167640"/>
                </a:moveTo>
                <a:lnTo>
                  <a:pt x="30480" y="167640"/>
                </a:lnTo>
                <a:cubicBezTo>
                  <a:pt x="13649" y="167640"/>
                  <a:pt x="0" y="153991"/>
                  <a:pt x="0" y="137160"/>
                </a:cubicBezTo>
                <a:lnTo>
                  <a:pt x="0" y="137160"/>
                </a:lnTo>
                <a:lnTo>
                  <a:pt x="0" y="76200"/>
                </a:lnTo>
                <a:cubicBezTo>
                  <a:pt x="0" y="59436"/>
                  <a:pt x="13716" y="45720"/>
                  <a:pt x="30480" y="45720"/>
                </a:cubicBezTo>
                <a:lnTo>
                  <a:pt x="60960" y="45720"/>
                </a:lnTo>
                <a:lnTo>
                  <a:pt x="60960" y="15240"/>
                </a:lnTo>
                <a:lnTo>
                  <a:pt x="274320" y="15240"/>
                </a:lnTo>
                <a:lnTo>
                  <a:pt x="274320" y="167640"/>
                </a:lnTo>
                <a:cubicBezTo>
                  <a:pt x="274320" y="201311"/>
                  <a:pt x="247031" y="228600"/>
                  <a:pt x="213360" y="228600"/>
                </a:cubicBezTo>
                <a:lnTo>
                  <a:pt x="213360" y="228600"/>
                </a:lnTo>
                <a:lnTo>
                  <a:pt x="121920" y="228600"/>
                </a:lnTo>
                <a:cubicBezTo>
                  <a:pt x="88249" y="228600"/>
                  <a:pt x="60960" y="201311"/>
                  <a:pt x="60960" y="167640"/>
                </a:cubicBezTo>
                <a:lnTo>
                  <a:pt x="60960" y="167640"/>
                </a:lnTo>
                <a:close/>
                <a:moveTo>
                  <a:pt x="60960" y="137160"/>
                </a:moveTo>
                <a:lnTo>
                  <a:pt x="60960" y="76200"/>
                </a:lnTo>
                <a:lnTo>
                  <a:pt x="30480" y="76200"/>
                </a:lnTo>
                <a:lnTo>
                  <a:pt x="30480" y="137160"/>
                </a:lnTo>
                <a:lnTo>
                  <a:pt x="60960" y="137160"/>
                </a:lnTo>
                <a:close/>
                <a:moveTo>
                  <a:pt x="30480" y="259080"/>
                </a:moveTo>
                <a:lnTo>
                  <a:pt x="30480" y="243840"/>
                </a:lnTo>
                <a:lnTo>
                  <a:pt x="304800" y="243840"/>
                </a:lnTo>
                <a:lnTo>
                  <a:pt x="304800" y="259080"/>
                </a:lnTo>
                <a:lnTo>
                  <a:pt x="243840" y="289560"/>
                </a:lnTo>
                <a:lnTo>
                  <a:pt x="91440" y="289560"/>
                </a:lnTo>
                <a:lnTo>
                  <a:pt x="30480" y="25908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63" name="Freeform 63"/>
          <p:cNvSpPr/>
          <p:nvPr/>
        </p:nvSpPr>
        <p:spPr>
          <a:xfrm>
            <a:off x="5932036" y="4134410"/>
            <a:ext cx="344918" cy="34491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31" y="114795"/>
                </a:moveTo>
                <a:lnTo>
                  <a:pt x="147647" y="273187"/>
                </a:lnTo>
                <a:lnTo>
                  <a:pt x="96469" y="114795"/>
                </a:lnTo>
                <a:lnTo>
                  <a:pt x="20031" y="114795"/>
                </a:lnTo>
                <a:close/>
                <a:moveTo>
                  <a:pt x="110338" y="114795"/>
                </a:moveTo>
                <a:lnTo>
                  <a:pt x="155534" y="273510"/>
                </a:lnTo>
                <a:lnTo>
                  <a:pt x="194424" y="114795"/>
                </a:lnTo>
                <a:lnTo>
                  <a:pt x="110338" y="114795"/>
                </a:lnTo>
                <a:close/>
                <a:moveTo>
                  <a:pt x="162411" y="273187"/>
                </a:moveTo>
                <a:lnTo>
                  <a:pt x="285264" y="114795"/>
                </a:lnTo>
                <a:lnTo>
                  <a:pt x="209417" y="114795"/>
                </a:lnTo>
                <a:lnTo>
                  <a:pt x="162411" y="273187"/>
                </a:lnTo>
                <a:close/>
                <a:moveTo>
                  <a:pt x="285550" y="104432"/>
                </a:moveTo>
                <a:lnTo>
                  <a:pt x="248717" y="41453"/>
                </a:lnTo>
                <a:lnTo>
                  <a:pt x="211865" y="104432"/>
                </a:lnTo>
                <a:lnTo>
                  <a:pt x="285550" y="104432"/>
                </a:lnTo>
                <a:close/>
                <a:moveTo>
                  <a:pt x="237134" y="37843"/>
                </a:moveTo>
                <a:lnTo>
                  <a:pt x="163449" y="37843"/>
                </a:lnTo>
                <a:lnTo>
                  <a:pt x="200282" y="102984"/>
                </a:lnTo>
                <a:lnTo>
                  <a:pt x="237134" y="37843"/>
                </a:lnTo>
                <a:close/>
                <a:moveTo>
                  <a:pt x="188957" y="104432"/>
                </a:moveTo>
                <a:lnTo>
                  <a:pt x="152124" y="41453"/>
                </a:lnTo>
                <a:lnTo>
                  <a:pt x="115281" y="104432"/>
                </a:lnTo>
                <a:lnTo>
                  <a:pt x="188957" y="104432"/>
                </a:lnTo>
                <a:close/>
                <a:moveTo>
                  <a:pt x="141341" y="37843"/>
                </a:moveTo>
                <a:lnTo>
                  <a:pt x="67666" y="37843"/>
                </a:lnTo>
                <a:lnTo>
                  <a:pt x="104508" y="102984"/>
                </a:lnTo>
                <a:lnTo>
                  <a:pt x="141341" y="37843"/>
                </a:lnTo>
                <a:close/>
                <a:moveTo>
                  <a:pt x="56093" y="41453"/>
                </a:moveTo>
                <a:lnTo>
                  <a:pt x="19260" y="104432"/>
                </a:lnTo>
                <a:lnTo>
                  <a:pt x="92935" y="104432"/>
                </a:lnTo>
                <a:lnTo>
                  <a:pt x="56093" y="41453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64" name="Freeform 64"/>
          <p:cNvSpPr/>
          <p:nvPr/>
        </p:nvSpPr>
        <p:spPr>
          <a:xfrm>
            <a:off x="9085634" y="4181761"/>
            <a:ext cx="405279" cy="40527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033" y="152400"/>
                </a:moveTo>
                <a:cubicBezTo>
                  <a:pt x="190033" y="90992"/>
                  <a:pt x="221771" y="56493"/>
                  <a:pt x="221771" y="56493"/>
                </a:cubicBezTo>
                <a:cubicBezTo>
                  <a:pt x="221771" y="56493"/>
                  <a:pt x="193758" y="33766"/>
                  <a:pt x="151924" y="33766"/>
                </a:cubicBezTo>
                <a:cubicBezTo>
                  <a:pt x="110090" y="33766"/>
                  <a:pt x="82067" y="56512"/>
                  <a:pt x="82067" y="56512"/>
                </a:cubicBezTo>
                <a:cubicBezTo>
                  <a:pt x="82067" y="56512"/>
                  <a:pt x="114376" y="82753"/>
                  <a:pt x="114376" y="152400"/>
                </a:cubicBezTo>
                <a:cubicBezTo>
                  <a:pt x="114376" y="219608"/>
                  <a:pt x="81858" y="248145"/>
                  <a:pt x="81858" y="248145"/>
                </a:cubicBezTo>
                <a:cubicBezTo>
                  <a:pt x="81858" y="248145"/>
                  <a:pt x="115662" y="271034"/>
                  <a:pt x="151924" y="271034"/>
                </a:cubicBezTo>
                <a:cubicBezTo>
                  <a:pt x="189043" y="271034"/>
                  <a:pt x="221799" y="248269"/>
                  <a:pt x="221799" y="248269"/>
                </a:cubicBezTo>
                <a:cubicBezTo>
                  <a:pt x="221799" y="248269"/>
                  <a:pt x="190033" y="218503"/>
                  <a:pt x="190033" y="152400"/>
                </a:cubicBezTo>
                <a:close/>
                <a:moveTo>
                  <a:pt x="74095" y="62789"/>
                </a:moveTo>
                <a:cubicBezTo>
                  <a:pt x="74095" y="62789"/>
                  <a:pt x="34633" y="86839"/>
                  <a:pt x="34633" y="152800"/>
                </a:cubicBezTo>
                <a:cubicBezTo>
                  <a:pt x="34633" y="218751"/>
                  <a:pt x="74533" y="240335"/>
                  <a:pt x="74533" y="240335"/>
                </a:cubicBezTo>
                <a:cubicBezTo>
                  <a:pt x="74533" y="240335"/>
                  <a:pt x="103613" y="218742"/>
                  <a:pt x="103613" y="152800"/>
                </a:cubicBezTo>
                <a:cubicBezTo>
                  <a:pt x="103613" y="86839"/>
                  <a:pt x="74095" y="62789"/>
                  <a:pt x="74095" y="62789"/>
                </a:cubicBezTo>
                <a:close/>
                <a:moveTo>
                  <a:pt x="229753" y="64570"/>
                </a:moveTo>
                <a:cubicBezTo>
                  <a:pt x="229753" y="64570"/>
                  <a:pt x="200244" y="86839"/>
                  <a:pt x="200244" y="152800"/>
                </a:cubicBezTo>
                <a:cubicBezTo>
                  <a:pt x="200244" y="218751"/>
                  <a:pt x="229305" y="240335"/>
                  <a:pt x="229305" y="240335"/>
                </a:cubicBezTo>
                <a:cubicBezTo>
                  <a:pt x="229305" y="240335"/>
                  <a:pt x="270158" y="218742"/>
                  <a:pt x="270158" y="152800"/>
                </a:cubicBezTo>
                <a:cubicBezTo>
                  <a:pt x="270158" y="86839"/>
                  <a:pt x="229753" y="64570"/>
                  <a:pt x="229753" y="6457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62600" y="2304610"/>
            <a:ext cx="1066800" cy="10668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19050">
            <a:solidFill>
              <a:srgbClr val="000000">
                <a:alpha val="100000"/>
              </a:srgbClr>
            </a:soli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2770323" y="2304610"/>
            <a:ext cx="6651353" cy="103136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5775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35297" y="3578030"/>
            <a:ext cx="5724525" cy="157162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825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万用表的应用实例与拓展应用</a:t>
            </a:r>
          </a:p>
        </p:txBody>
      </p:sp>
      <p:cxnSp>
        <p:nvCxnSpPr>
          <p:cNvPr id="5" name="Connector 5"/>
          <p:cNvCxnSpPr/>
          <p:nvPr/>
        </p:nvCxnSpPr>
        <p:spPr>
          <a:xfrm flipV="1">
            <a:off x="6881808" y="1961467"/>
            <a:ext cx="964777" cy="686285"/>
          </a:xfrm>
          <a:prstGeom prst="line">
            <a:avLst/>
          </a:prstGeom>
          <a:ln w="19050">
            <a:solidFill>
              <a:schemeClr val="dk1"/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 flipV="1">
            <a:off x="4377943" y="2742715"/>
            <a:ext cx="964777" cy="686285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85416" y="3075841"/>
            <a:ext cx="1954703" cy="1969616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660673" y="3426081"/>
            <a:ext cx="2699191" cy="271978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5288494" y="1513149"/>
            <a:ext cx="1721774" cy="172177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280421" y="2711491"/>
            <a:ext cx="3039989" cy="1257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利用万用表测量电子元件的电阻值，判断元件是否正常工作。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6797" r="16797"/>
          <a:stretch>
            <a:fillRect/>
          </a:stretch>
        </p:blipFill>
        <p:spPr>
          <a:xfrm>
            <a:off x="5399254" y="1623909"/>
            <a:ext cx="1500254" cy="1500254"/>
          </a:xfrm>
          <a:prstGeom prst="ellipse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13814" y="2226284"/>
            <a:ext cx="2703493" cy="39852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77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电阻测量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00757" y="1971492"/>
            <a:ext cx="3121877" cy="128739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通过测量电路中的电压值，了解电路的工作状态及电源供电情况。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00757" y="1513149"/>
            <a:ext cx="2703493" cy="39852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电压测量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16675" r="16675"/>
          <a:stretch>
            <a:fillRect/>
          </a:stretch>
        </p:blipFill>
        <p:spPr>
          <a:xfrm>
            <a:off x="5820154" y="3595858"/>
            <a:ext cx="2380229" cy="2380229"/>
          </a:xfrm>
          <a:prstGeom prst="ellipse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637042" y="3234923"/>
            <a:ext cx="1651452" cy="1651452"/>
          </a:xfrm>
          <a:prstGeom prst="ellipse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621512" y="4777233"/>
            <a:ext cx="3219450" cy="1257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测量电路中的电流值，以判断电路负载情况及是否存在短路等问题。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21512" y="4318890"/>
            <a:ext cx="2703493" cy="39852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电流测量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5" name="AutoShape 15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在电子测量中的应用实例</a:t>
              </a:r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2974" y="2746815"/>
            <a:ext cx="3456116" cy="3055762"/>
          </a:xfrm>
          <a:prstGeom prst="roundRect">
            <a:avLst>
              <a:gd name="adj" fmla="val 12500"/>
            </a:avLst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AutoShape 3"/>
          <p:cNvSpPr/>
          <p:nvPr/>
        </p:nvSpPr>
        <p:spPr>
          <a:xfrm>
            <a:off x="4367942" y="2746815"/>
            <a:ext cx="3456116" cy="3055762"/>
          </a:xfrm>
          <a:prstGeom prst="roundRect">
            <a:avLst>
              <a:gd name="adj" fmla="val 12500"/>
            </a:avLst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AutoShape 4"/>
          <p:cNvSpPr/>
          <p:nvPr/>
        </p:nvSpPr>
        <p:spPr>
          <a:xfrm>
            <a:off x="8133696" y="2746815"/>
            <a:ext cx="3456116" cy="3055762"/>
          </a:xfrm>
          <a:prstGeom prst="roundRect">
            <a:avLst>
              <a:gd name="adj" fmla="val 12500"/>
            </a:avLst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utoShape 5"/>
          <p:cNvSpPr/>
          <p:nvPr/>
        </p:nvSpPr>
        <p:spPr>
          <a:xfrm rot="-2700000" flipH="1" flipV="1">
            <a:off x="5274866" y="1333321"/>
            <a:ext cx="1642268" cy="1642268"/>
          </a:xfrm>
          <a:prstGeom prst="teardrop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4583677" y="3404616"/>
            <a:ext cx="3024645" cy="3217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64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元件测试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3687" y="3923118"/>
            <a:ext cx="2964626" cy="158000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在维修过程中，利用万用表测试电子元件的性能参数，确保元件符合维修要求。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5818204" y="5524781"/>
            <a:ext cx="555593" cy="81705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 rot="-2700000" flipH="1" flipV="1">
            <a:off x="1499898" y="1333321"/>
            <a:ext cx="1642268" cy="1642268"/>
          </a:xfrm>
          <a:prstGeom prst="teardrop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0" name="TextBox 10"/>
          <p:cNvSpPr txBox="1"/>
          <p:nvPr/>
        </p:nvSpPr>
        <p:spPr>
          <a:xfrm>
            <a:off x="808710" y="3404616"/>
            <a:ext cx="3024645" cy="3217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64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故障诊断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719" y="3923118"/>
            <a:ext cx="2964626" cy="158000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使用万用表检测电路中的故障点，如开路、短路等，以便进行维修。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2043236" y="5524781"/>
            <a:ext cx="555593" cy="81705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 rot="-2700000" flipH="1" flipV="1">
            <a:off x="9040620" y="1333321"/>
            <a:ext cx="1642268" cy="1642268"/>
          </a:xfrm>
          <a:prstGeom prst="teardrop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TextBox 14"/>
          <p:cNvSpPr txBox="1"/>
          <p:nvPr/>
        </p:nvSpPr>
        <p:spPr>
          <a:xfrm>
            <a:off x="8349432" y="3404616"/>
            <a:ext cx="3024645" cy="3217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64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安全检测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79441" y="3923118"/>
            <a:ext cx="2964626" cy="158000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在维修完成后，使用万用表进行安全检测，确保电路无安全隐患。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9583957" y="5524781"/>
            <a:ext cx="555593" cy="81705"/>
          </a:xfrm>
          <a:prstGeom prst="roundRect">
            <a:avLst>
              <a:gd name="adj" fmla="val 12500"/>
            </a:avLst>
          </a:prstGeom>
          <a:solidFill>
            <a:schemeClr val="accent2">
              <a:alpha val="100000"/>
            </a:schemeClr>
          </a:solidFill>
        </p:spPr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alphaModFix/>
          </a:blip>
          <a:srcRect t="2344" b="2344"/>
          <a:stretch>
            <a:fillRect/>
          </a:stretch>
        </p:blipFill>
        <p:spPr>
          <a:xfrm>
            <a:off x="1583319" y="1416742"/>
            <a:ext cx="1475427" cy="1475427"/>
          </a:xfrm>
          <a:prstGeom prst="ellipse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alphaModFix/>
          </a:blip>
          <a:srcRect l="16675" r="16675"/>
          <a:stretch>
            <a:fillRect/>
          </a:stretch>
        </p:blipFill>
        <p:spPr>
          <a:xfrm>
            <a:off x="5358286" y="1416742"/>
            <a:ext cx="1475427" cy="1475427"/>
          </a:xfrm>
          <a:prstGeom prst="ellipse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/>
          </a:blip>
          <a:srcRect l="20190" r="20190"/>
          <a:stretch>
            <a:fillRect/>
          </a:stretch>
        </p:blipFill>
        <p:spPr>
          <a:xfrm>
            <a:off x="9121095" y="1416742"/>
            <a:ext cx="1475427" cy="1475427"/>
          </a:xfrm>
          <a:prstGeom prst="ellipse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1" name="AutoShape 21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3" name="AutoShape 33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4" name="AutoShape 34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5" name="AutoShape 35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6" name="AutoShape 36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37" name="AutoShape 37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8" name="AutoShape 38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9" name="AutoShape 39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40" name="AutoShape 40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在电气维修中的应用实例</a:t>
              </a: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82796" y="3116804"/>
            <a:ext cx="5783287" cy="1160526"/>
            <a:chOff x="5982796" y="3116804"/>
            <a:chExt cx="5783287" cy="1160526"/>
          </a:xfrm>
        </p:grpSpPr>
        <p:sp>
          <p:nvSpPr>
            <p:cNvPr id="3" name="TextBox 3"/>
            <p:cNvSpPr txBox="1"/>
            <p:nvPr/>
          </p:nvSpPr>
          <p:spPr>
            <a:xfrm>
              <a:off x="5982796" y="3116804"/>
              <a:ext cx="4521094" cy="39852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化学实验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2796" y="3575147"/>
              <a:ext cx="5783287" cy="702183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在化学实验中，万用表可用于测量电化学反应中的电压、电流等参数，以研究化学反应的机理和过程。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82796" y="4769459"/>
            <a:ext cx="5783287" cy="1160526"/>
            <a:chOff x="5982796" y="4769459"/>
            <a:chExt cx="5783287" cy="1160526"/>
          </a:xfrm>
        </p:grpSpPr>
        <p:sp>
          <p:nvSpPr>
            <p:cNvPr id="6" name="TextBox 6"/>
            <p:cNvSpPr txBox="1"/>
            <p:nvPr/>
          </p:nvSpPr>
          <p:spPr>
            <a:xfrm>
              <a:off x="5982796" y="4769459"/>
              <a:ext cx="4521094" cy="398526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生物医学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2796" y="5227802"/>
              <a:ext cx="5783287" cy="702183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在生物医学领域，万用表可用于测量生物电信号，如心电图、脑电图等，以了解生物体的生理状态。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82796" y="1468163"/>
            <a:ext cx="4521094" cy="39852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物理实验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82796" y="1926506"/>
            <a:ext cx="5700871" cy="70218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在物理实验中，利用万用表测量电阻、电压、电流等物理量，以验证物理定律和定理。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16772" r="16772"/>
          <a:stretch>
            <a:fillRect/>
          </a:stretch>
        </p:blipFill>
        <p:spPr>
          <a:xfrm>
            <a:off x="869006" y="1293634"/>
            <a:ext cx="4563024" cy="4563025"/>
          </a:xfrm>
          <a:prstGeom prst="diamond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拓展应用到其他领域</a:t>
              </a:r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62600" y="2304610"/>
            <a:ext cx="1066800" cy="10668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19050">
            <a:solidFill>
              <a:srgbClr val="000000">
                <a:alpha val="100000"/>
              </a:srgbClr>
            </a:soli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2770323" y="2304610"/>
            <a:ext cx="6651353" cy="103136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sz="5775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35297" y="3578030"/>
            <a:ext cx="5724525" cy="1571625"/>
          </a:xfrm>
          <a:prstGeom prst="rect">
            <a:avLst/>
          </a:prstGeom>
        </p:spPr>
        <p:txBody>
          <a:bodyPr vert="horz" wrap="square" lIns="114300" tIns="57150" rIns="114300" bIns="57150" rtlCol="0" anchor="t" anchorCtr="1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825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实验操作与数据分析</a:t>
            </a:r>
          </a:p>
        </p:txBody>
      </p:sp>
      <p:cxnSp>
        <p:nvCxnSpPr>
          <p:cNvPr id="5" name="Connector 5"/>
          <p:cNvCxnSpPr/>
          <p:nvPr/>
        </p:nvCxnSpPr>
        <p:spPr>
          <a:xfrm flipV="1">
            <a:off x="6881808" y="1961467"/>
            <a:ext cx="964777" cy="686285"/>
          </a:xfrm>
          <a:prstGeom prst="line">
            <a:avLst/>
          </a:prstGeom>
          <a:ln w="19050">
            <a:solidFill>
              <a:schemeClr val="dk1"/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 flipV="1">
            <a:off x="4377943" y="2742715"/>
            <a:ext cx="964777" cy="686285"/>
          </a:xfrm>
          <a:prstGeom prst="line">
            <a:avLst/>
          </a:prstGeom>
          <a:ln w="19050">
            <a:solidFill>
              <a:schemeClr val="dk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789747" y="1388509"/>
            <a:ext cx="8008040" cy="1267968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3467252" y="1671934"/>
            <a:ext cx="7220692" cy="70218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掌握万用表的基本使用方法</a:t>
            </a:r>
          </a:p>
        </p:txBody>
      </p:sp>
      <p:sp>
        <p:nvSpPr>
          <p:cNvPr id="4" name="AutoShape 4"/>
          <p:cNvSpPr/>
          <p:nvPr/>
        </p:nvSpPr>
        <p:spPr>
          <a:xfrm>
            <a:off x="1491031" y="3030193"/>
            <a:ext cx="8008040" cy="1267968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1643863" y="3325809"/>
            <a:ext cx="7220692" cy="70218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学会使用万用表进行电压、电流和电阻的测量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21899" b="21899"/>
          <a:stretch>
            <a:fillRect/>
          </a:stretch>
        </p:blipFill>
        <p:spPr>
          <a:xfrm>
            <a:off x="539110" y="1388510"/>
            <a:ext cx="2256056" cy="126796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21899" b="21899"/>
          <a:stretch>
            <a:fillRect/>
          </a:stretch>
        </p:blipFill>
        <p:spPr>
          <a:xfrm>
            <a:off x="9486879" y="3030193"/>
            <a:ext cx="2256056" cy="1267968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795409" y="4664094"/>
            <a:ext cx="8008040" cy="1267968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3472914" y="4947518"/>
            <a:ext cx="7220692" cy="70218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了解万用表在实验数据分析中的应用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t="21899" b="21899"/>
          <a:stretch>
            <a:fillRect/>
          </a:stretch>
        </p:blipFill>
        <p:spPr>
          <a:xfrm>
            <a:off x="544772" y="4664094"/>
            <a:ext cx="2256056" cy="1267968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实验目的与要求</a:t>
              </a: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83977" y="4209792"/>
            <a:ext cx="2895600" cy="6953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结束实验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83977" y="4727993"/>
            <a:ext cx="2733843" cy="14142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断开电路连接，整理实验器材</a:t>
            </a:r>
          </a:p>
        </p:txBody>
      </p:sp>
      <p:sp>
        <p:nvSpPr>
          <p:cNvPr id="4" name="Freeform 4"/>
          <p:cNvSpPr/>
          <p:nvPr/>
        </p:nvSpPr>
        <p:spPr>
          <a:xfrm>
            <a:off x="909579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" name="Freeform 5"/>
          <p:cNvSpPr/>
          <p:nvPr/>
        </p:nvSpPr>
        <p:spPr>
          <a:xfrm>
            <a:off x="1383312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6" name="Freeform 6"/>
          <p:cNvSpPr/>
          <p:nvPr/>
        </p:nvSpPr>
        <p:spPr>
          <a:xfrm>
            <a:off x="1841106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7" name="Freeform 7"/>
          <p:cNvSpPr/>
          <p:nvPr/>
        </p:nvSpPr>
        <p:spPr>
          <a:xfrm>
            <a:off x="3020614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8" name="Freeform 8"/>
          <p:cNvSpPr/>
          <p:nvPr/>
        </p:nvSpPr>
        <p:spPr>
          <a:xfrm>
            <a:off x="3494346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9" name="Freeform 9"/>
          <p:cNvSpPr/>
          <p:nvPr/>
        </p:nvSpPr>
        <p:spPr>
          <a:xfrm>
            <a:off x="3952140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0" name="Freeform 10"/>
          <p:cNvSpPr/>
          <p:nvPr/>
        </p:nvSpPr>
        <p:spPr>
          <a:xfrm>
            <a:off x="5131648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1" name="Freeform 11"/>
          <p:cNvSpPr/>
          <p:nvPr/>
        </p:nvSpPr>
        <p:spPr>
          <a:xfrm>
            <a:off x="5605381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2" name="Freeform 12"/>
          <p:cNvSpPr/>
          <p:nvPr/>
        </p:nvSpPr>
        <p:spPr>
          <a:xfrm>
            <a:off x="6063174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3" name="Freeform 13"/>
          <p:cNvSpPr/>
          <p:nvPr/>
        </p:nvSpPr>
        <p:spPr>
          <a:xfrm>
            <a:off x="7242682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4" name="Freeform 14"/>
          <p:cNvSpPr/>
          <p:nvPr/>
        </p:nvSpPr>
        <p:spPr>
          <a:xfrm>
            <a:off x="7716414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5" name="Freeform 15"/>
          <p:cNvSpPr/>
          <p:nvPr/>
        </p:nvSpPr>
        <p:spPr>
          <a:xfrm>
            <a:off x="8174209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6" name="Freeform 16"/>
          <p:cNvSpPr/>
          <p:nvPr/>
        </p:nvSpPr>
        <p:spPr>
          <a:xfrm>
            <a:off x="9353716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7" name="Freeform 17"/>
          <p:cNvSpPr/>
          <p:nvPr/>
        </p:nvSpPr>
        <p:spPr>
          <a:xfrm>
            <a:off x="9827449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8" name="Freeform 18"/>
          <p:cNvSpPr/>
          <p:nvPr/>
        </p:nvSpPr>
        <p:spPr>
          <a:xfrm>
            <a:off x="10285243" y="3581229"/>
            <a:ext cx="947465" cy="43349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143000" y="0"/>
                </a:lnTo>
                <a:lnTo>
                  <a:pt x="1905000" y="952500"/>
                </a:lnTo>
                <a:lnTo>
                  <a:pt x="1143000" y="1905000"/>
                </a:lnTo>
                <a:lnTo>
                  <a:pt x="0" y="1905000"/>
                </a:lnTo>
                <a:lnTo>
                  <a:pt x="762000" y="952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9" name="TextBox 19"/>
          <p:cNvSpPr txBox="1"/>
          <p:nvPr/>
        </p:nvSpPr>
        <p:spPr>
          <a:xfrm>
            <a:off x="6755784" y="1326066"/>
            <a:ext cx="2895600" cy="6953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进行测量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55784" y="1852616"/>
            <a:ext cx="2733843" cy="14142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根据实验要求进行相应的电压、电流或电阻测量，并记录实验数据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85608" y="4209792"/>
            <a:ext cx="2895600" cy="6953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连接电路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85608" y="4753712"/>
            <a:ext cx="2733843" cy="14142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将万用表正确接入待测电路或元件中，注意连接方式和极性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3234" y="4209792"/>
            <a:ext cx="2895600" cy="6953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准备实验器材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3234" y="4753712"/>
            <a:ext cx="2733843" cy="14142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万用表、待测电路或元件、连接线等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88463" y="1338258"/>
            <a:ext cx="2895600" cy="6953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选择合适的测量档位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88463" y="1852616"/>
            <a:ext cx="2733675" cy="139065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根据待测物理量的范围选择合适的测量档位，避免损坏万用表或影响测量精度</a:t>
            </a:r>
          </a:p>
        </p:txBody>
      </p:sp>
      <p:cxnSp>
        <p:nvCxnSpPr>
          <p:cNvPr id="27" name="Connector 27"/>
          <p:cNvCxnSpPr/>
          <p:nvPr/>
        </p:nvCxnSpPr>
        <p:spPr>
          <a:xfrm flipV="1">
            <a:off x="1820468" y="2574173"/>
            <a:ext cx="0" cy="970187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8" name="AutoShape 28"/>
          <p:cNvSpPr/>
          <p:nvPr/>
        </p:nvSpPr>
        <p:spPr>
          <a:xfrm>
            <a:off x="1716131" y="3695836"/>
            <a:ext cx="219484" cy="219484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1777091" y="3756797"/>
            <a:ext cx="97564" cy="9756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0" name="AutoShape 30"/>
          <p:cNvSpPr/>
          <p:nvPr/>
        </p:nvSpPr>
        <p:spPr>
          <a:xfrm>
            <a:off x="1449074" y="1852616"/>
            <a:ext cx="742789" cy="742789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31" name="Freeform 31"/>
          <p:cNvSpPr/>
          <p:nvPr/>
        </p:nvSpPr>
        <p:spPr>
          <a:xfrm>
            <a:off x="1640033" y="2043387"/>
            <a:ext cx="356542" cy="35654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chemeClr val="lt1">
              <a:alpha val="100000"/>
            </a:schemeClr>
          </a:solidFill>
        </p:spPr>
      </p:sp>
      <p:cxnSp>
        <p:nvCxnSpPr>
          <p:cNvPr id="32" name="Connector 32"/>
          <p:cNvCxnSpPr/>
          <p:nvPr/>
        </p:nvCxnSpPr>
        <p:spPr>
          <a:xfrm flipV="1">
            <a:off x="6061516" y="2590940"/>
            <a:ext cx="0" cy="961926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33" name="AutoShape 33"/>
          <p:cNvSpPr/>
          <p:nvPr/>
        </p:nvSpPr>
        <p:spPr>
          <a:xfrm>
            <a:off x="5957179" y="3676027"/>
            <a:ext cx="219484" cy="219484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34" name="AutoShape 34"/>
          <p:cNvSpPr/>
          <p:nvPr/>
        </p:nvSpPr>
        <p:spPr>
          <a:xfrm>
            <a:off x="6018139" y="3736987"/>
            <a:ext cx="97564" cy="9756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35" name="Connector 35"/>
          <p:cNvCxnSpPr/>
          <p:nvPr/>
        </p:nvCxnSpPr>
        <p:spPr>
          <a:xfrm flipV="1">
            <a:off x="10265608" y="2571732"/>
            <a:ext cx="0" cy="961926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36" name="AutoShape 36"/>
          <p:cNvSpPr/>
          <p:nvPr/>
        </p:nvSpPr>
        <p:spPr>
          <a:xfrm>
            <a:off x="10161272" y="3681204"/>
            <a:ext cx="219484" cy="219484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10222231" y="3742164"/>
            <a:ext cx="97564" cy="9756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8" name="AutoShape 38"/>
          <p:cNvSpPr/>
          <p:nvPr/>
        </p:nvSpPr>
        <p:spPr>
          <a:xfrm>
            <a:off x="5707718" y="1852616"/>
            <a:ext cx="742789" cy="742789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cxnSp>
        <p:nvCxnSpPr>
          <p:cNvPr id="39" name="Connector 39"/>
          <p:cNvCxnSpPr/>
          <p:nvPr/>
        </p:nvCxnSpPr>
        <p:spPr>
          <a:xfrm flipV="1">
            <a:off x="3943694" y="3835635"/>
            <a:ext cx="0" cy="1284763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40" name="AutoShape 40"/>
          <p:cNvSpPr/>
          <p:nvPr/>
        </p:nvSpPr>
        <p:spPr>
          <a:xfrm>
            <a:off x="3833953" y="3688233"/>
            <a:ext cx="219484" cy="219484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41" name="AutoShape 41"/>
          <p:cNvSpPr/>
          <p:nvPr/>
        </p:nvSpPr>
        <p:spPr>
          <a:xfrm>
            <a:off x="3894913" y="3749193"/>
            <a:ext cx="97564" cy="9756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42" name="Connector 42"/>
          <p:cNvCxnSpPr/>
          <p:nvPr/>
        </p:nvCxnSpPr>
        <p:spPr>
          <a:xfrm flipV="1">
            <a:off x="8191601" y="3822284"/>
            <a:ext cx="0" cy="1284763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43" name="AutoShape 43"/>
          <p:cNvSpPr/>
          <p:nvPr/>
        </p:nvSpPr>
        <p:spPr>
          <a:xfrm>
            <a:off x="8081859" y="3688233"/>
            <a:ext cx="219484" cy="219484"/>
          </a:xfrm>
          <a:prstGeom prst="ellipse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44" name="AutoShape 44"/>
          <p:cNvSpPr/>
          <p:nvPr/>
        </p:nvSpPr>
        <p:spPr>
          <a:xfrm>
            <a:off x="8142819" y="3749193"/>
            <a:ext cx="97564" cy="9756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5" name="AutoShape 45"/>
          <p:cNvSpPr/>
          <p:nvPr/>
        </p:nvSpPr>
        <p:spPr>
          <a:xfrm>
            <a:off x="3560108" y="5063734"/>
            <a:ext cx="742789" cy="742789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46" name="AutoShape 46"/>
          <p:cNvSpPr/>
          <p:nvPr/>
        </p:nvSpPr>
        <p:spPr>
          <a:xfrm>
            <a:off x="7820207" y="5063734"/>
            <a:ext cx="742789" cy="742789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47" name="Freeform 47"/>
          <p:cNvSpPr/>
          <p:nvPr/>
        </p:nvSpPr>
        <p:spPr>
          <a:xfrm>
            <a:off x="5856595" y="2003865"/>
            <a:ext cx="452190" cy="45219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  <a:close/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48" name="AutoShape 48"/>
          <p:cNvSpPr/>
          <p:nvPr/>
        </p:nvSpPr>
        <p:spPr>
          <a:xfrm>
            <a:off x="9900600" y="1852616"/>
            <a:ext cx="742789" cy="742789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49" name="Freeform 49"/>
          <p:cNvSpPr/>
          <p:nvPr/>
        </p:nvSpPr>
        <p:spPr>
          <a:xfrm>
            <a:off x="10075821" y="2040441"/>
            <a:ext cx="383872" cy="38387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  <a:close/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50" name="Freeform 50"/>
          <p:cNvSpPr/>
          <p:nvPr/>
        </p:nvSpPr>
        <p:spPr>
          <a:xfrm>
            <a:off x="3785185" y="5283154"/>
            <a:ext cx="355388" cy="35538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6843" y="182880"/>
                </a:moveTo>
                <a:lnTo>
                  <a:pt x="30480" y="182880"/>
                </a:lnTo>
                <a:lnTo>
                  <a:pt x="30480" y="304800"/>
                </a:lnTo>
                <a:lnTo>
                  <a:pt x="0" y="304800"/>
                </a:lnTo>
                <a:lnTo>
                  <a:pt x="0" y="0"/>
                </a:lnTo>
                <a:lnTo>
                  <a:pt x="182880" y="0"/>
                </a:lnTo>
                <a:lnTo>
                  <a:pt x="187957" y="30480"/>
                </a:lnTo>
                <a:lnTo>
                  <a:pt x="304800" y="30480"/>
                </a:lnTo>
                <a:lnTo>
                  <a:pt x="259080" y="121920"/>
                </a:lnTo>
                <a:lnTo>
                  <a:pt x="304800" y="213360"/>
                </a:lnTo>
                <a:lnTo>
                  <a:pt x="121920" y="213360"/>
                </a:lnTo>
                <a:lnTo>
                  <a:pt x="116843" y="182880"/>
                </a:lnTo>
                <a:close/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51" name="Freeform 51"/>
          <p:cNvSpPr/>
          <p:nvPr/>
        </p:nvSpPr>
        <p:spPr>
          <a:xfrm>
            <a:off x="7917111" y="5228967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10886" y="167269"/>
                </a:moveTo>
                <a:cubicBezTo>
                  <a:pt x="310886" y="167269"/>
                  <a:pt x="267148" y="122672"/>
                  <a:pt x="206873" y="122672"/>
                </a:cubicBezTo>
                <a:cubicBezTo>
                  <a:pt x="147980" y="122672"/>
                  <a:pt x="89764" y="167269"/>
                  <a:pt x="89764" y="167269"/>
                </a:cubicBezTo>
                <a:lnTo>
                  <a:pt x="57064" y="153619"/>
                </a:lnTo>
                <a:lnTo>
                  <a:pt x="57064" y="193662"/>
                </a:lnTo>
                <a:cubicBezTo>
                  <a:pt x="62217" y="195415"/>
                  <a:pt x="65989" y="200158"/>
                  <a:pt x="65989" y="205902"/>
                </a:cubicBezTo>
                <a:cubicBezTo>
                  <a:pt x="65989" y="211703"/>
                  <a:pt x="62141" y="216456"/>
                  <a:pt x="56912" y="218170"/>
                </a:cubicBezTo>
                <a:lnTo>
                  <a:pt x="66580" y="245135"/>
                </a:lnTo>
                <a:lnTo>
                  <a:pt x="38043" y="245135"/>
                </a:lnTo>
                <a:lnTo>
                  <a:pt x="47796" y="217942"/>
                </a:lnTo>
                <a:cubicBezTo>
                  <a:pt x="43110" y="215951"/>
                  <a:pt x="39834" y="211322"/>
                  <a:pt x="39834" y="205902"/>
                </a:cubicBezTo>
                <a:cubicBezTo>
                  <a:pt x="39834" y="200597"/>
                  <a:pt x="43015" y="196082"/>
                  <a:pt x="47558" y="194024"/>
                </a:cubicBezTo>
                <a:lnTo>
                  <a:pt x="47558" y="149647"/>
                </a:lnTo>
                <a:lnTo>
                  <a:pt x="0" y="129816"/>
                </a:lnTo>
                <a:lnTo>
                  <a:pt x="209255" y="35890"/>
                </a:lnTo>
                <a:lnTo>
                  <a:pt x="401241" y="130997"/>
                </a:lnTo>
                <a:lnTo>
                  <a:pt x="310886" y="167269"/>
                </a:lnTo>
                <a:close/>
                <a:moveTo>
                  <a:pt x="204492" y="145266"/>
                </a:moveTo>
                <a:cubicBezTo>
                  <a:pt x="265128" y="145266"/>
                  <a:pt x="294846" y="177365"/>
                  <a:pt x="294846" y="177365"/>
                </a:cubicBezTo>
                <a:lnTo>
                  <a:pt x="294846" y="243945"/>
                </a:lnTo>
                <a:cubicBezTo>
                  <a:pt x="294846" y="243945"/>
                  <a:pt x="263938" y="268910"/>
                  <a:pt x="199739" y="268910"/>
                </a:cubicBezTo>
                <a:cubicBezTo>
                  <a:pt x="135541" y="268910"/>
                  <a:pt x="114138" y="243945"/>
                  <a:pt x="114138" y="243945"/>
                </a:cubicBezTo>
                <a:lnTo>
                  <a:pt x="114138" y="177365"/>
                </a:lnTo>
                <a:cubicBezTo>
                  <a:pt x="114138" y="177365"/>
                  <a:pt x="143856" y="145266"/>
                  <a:pt x="204492" y="145266"/>
                </a:cubicBezTo>
                <a:close/>
                <a:moveTo>
                  <a:pt x="203302" y="254641"/>
                </a:moveTo>
                <a:cubicBezTo>
                  <a:pt x="245326" y="254641"/>
                  <a:pt x="279397" y="246116"/>
                  <a:pt x="279397" y="235620"/>
                </a:cubicBezTo>
                <a:cubicBezTo>
                  <a:pt x="279397" y="225123"/>
                  <a:pt x="245326" y="216599"/>
                  <a:pt x="203302" y="216599"/>
                </a:cubicBezTo>
                <a:cubicBezTo>
                  <a:pt x="161277" y="216599"/>
                  <a:pt x="127216" y="225123"/>
                  <a:pt x="127216" y="235620"/>
                </a:cubicBezTo>
                <a:cubicBezTo>
                  <a:pt x="127216" y="246116"/>
                  <a:pt x="161277" y="254641"/>
                  <a:pt x="203302" y="254641"/>
                </a:cubicBezTo>
                <a:close/>
              </a:path>
            </a:pathLst>
          </a:custGeom>
          <a:solidFill>
            <a:schemeClr val="lt1">
              <a:alpha val="100000"/>
            </a:schemeClr>
          </a:solidFill>
        </p:spPr>
      </p:sp>
      <p:grpSp>
        <p:nvGrpSpPr>
          <p:cNvPr id="52" name="Group 52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53" name="AutoShape 53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54" name="AutoShape 54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55" name="AutoShape 55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56" name="AutoShape 56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57" name="AutoShape 57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58" name="AutoShape 58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59" name="AutoShape 59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60" name="AutoShape 60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61" name="AutoShape 61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62" name="AutoShape 62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63" name="AutoShape 63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64" name="AutoShape 64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65" name="AutoShape 65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66" name="AutoShape 66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67" name="AutoShape 67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68" name="AutoShape 68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69" name="AutoShape 69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70" name="AutoShape 70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71" name="AutoShape 71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72" name="AutoShape 72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实验步骤与操作过程</a:t>
              </a:r>
            </a:p>
          </p:txBody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3829" y="1628258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" name="TextBox 3"/>
          <p:cNvSpPr txBox="1"/>
          <p:nvPr/>
        </p:nvSpPr>
        <p:spPr>
          <a:xfrm>
            <a:off x="994345" y="2028557"/>
            <a:ext cx="4394883" cy="70218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对实验数据进行整理、计算和分析，得出相应的电压、电流和电阻值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4345" y="1509487"/>
            <a:ext cx="4152900" cy="495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0825" r="20825"/>
          <a:stretch>
            <a:fillRect/>
          </a:stretch>
        </p:blipFill>
        <p:spPr>
          <a:xfrm>
            <a:off x="6096000" y="1153983"/>
            <a:ext cx="5194482" cy="5194482"/>
          </a:xfrm>
          <a:prstGeom prst="ellipse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4345" y="3637901"/>
            <a:ext cx="4394883" cy="70218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将实验数据与理论值进行比较，分析误差产生的原因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4345" y="3118831"/>
            <a:ext cx="4152900" cy="495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结果比较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4345" y="5274339"/>
            <a:ext cx="4394883" cy="70218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根据实验结果和误差分析，得出实验结论，并对实验过程中遇到的问题进行讨论和改进建议。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345" y="4755268"/>
            <a:ext cx="4152900" cy="495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96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结论总结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3829" y="3237602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63829" y="4874039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grpSp>
        <p:nvGrpSpPr>
          <p:cNvPr id="12" name="Group 12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3" name="AutoShape 13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4" name="AutoShape 14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15" name="AutoShape 15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16" name="AutoShape 16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17" name="AutoShape 17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9" name="AutoShape 19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0" name="AutoShape 20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1" name="AutoShape 21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2" name="AutoShape 22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4" name="AutoShape 24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25" name="AutoShape 25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27" name="AutoShape 27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28" name="AutoShape 28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9" name="AutoShape 29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</p:spPr>
        </p:sp>
        <p:sp>
          <p:nvSpPr>
            <p:cNvPr id="30" name="AutoShape 30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</p:spPr>
        </p:sp>
        <p:sp>
          <p:nvSpPr>
            <p:cNvPr id="31" name="AutoShape 31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</p:spPr>
        </p:sp>
        <p:sp>
          <p:nvSpPr>
            <p:cNvPr id="32" name="AutoShape 32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数据分析与结论</a:t>
              </a:r>
            </a:p>
          </p:txBody>
        </p:sp>
      </p:grp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908" y="2419067"/>
            <a:ext cx="8524185" cy="11811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64000"/>
              </a:lnSpc>
            </a:pPr>
            <a:r>
              <a:rPr lang="en-US" sz="7650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感谢您的观看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1637" y="3688916"/>
            <a:ext cx="3028725" cy="42900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64000"/>
              </a:lnSpc>
            </a:pPr>
            <a:r>
              <a:rPr lang="en-US" sz="30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AF5FF"/>
      </a:lt1>
      <a:dk2>
        <a:srgbClr val="062F00"/>
      </a:dk2>
      <a:lt2>
        <a:srgbClr val="FFFFFF"/>
      </a:lt2>
      <a:accent1>
        <a:srgbClr val="AF79DE"/>
      </a:accent1>
      <a:accent2>
        <a:srgbClr val="BC95E8"/>
      </a:accent2>
      <a:accent3>
        <a:srgbClr val="816BB7"/>
      </a:accent3>
      <a:accent4>
        <a:srgbClr val="618CD0"/>
      </a:accent4>
      <a:accent5>
        <a:srgbClr val="76A1E5"/>
      </a:accent5>
      <a:accent6>
        <a:srgbClr val="FEE08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Uigh" typeface="Microsoft Uighur"/>
        <a:font script="Beng" typeface="Vrinda"/>
        <a:font script="Thai" typeface="Angsana New"/>
        <a:font script="Mlym" typeface="Kartika"/>
        <a:font script="Yiii" typeface="Microsoft Yi Baiti"/>
        <a:font script="Cher" typeface="Plantagenet Cherokee"/>
        <a:font script="Orya" typeface="Kalinga"/>
        <a:font script="Gujr" typeface="Shruti"/>
        <a:font script="Viet" typeface="Times New Roman"/>
        <a:font script="Arab" typeface="Times New Roman"/>
        <a:font script="Hebr" typeface="Times New Roman"/>
        <a:font script="Telu" typeface="Gautami"/>
        <a:font script="Ethi" typeface="Nyala"/>
        <a:font script="Jpan" typeface="ＭＳ Ｐゴシック"/>
        <a:font script="Sinh" typeface="Iskoola Pota"/>
        <a:font script="Taml" typeface="Latha"/>
        <a:font script="Deva" typeface="Mangal"/>
        <a:font script="Knda" typeface="Tunga"/>
        <a:font script="Tibt" typeface="Microsoft Himalaya"/>
        <a:font script="Khmr" typeface="MoolBoran"/>
        <a:font script="Hant" typeface="新細明體"/>
        <a:font script="Laoo" typeface="DokChampa"/>
        <a:font script="Mong" typeface="Mongolian Baiti"/>
        <a:font script="Hans" typeface="宋体"/>
        <a:font script="Guru" typeface="Raavi"/>
        <a:font script="Thaa" typeface="MV Boli"/>
        <a:font script="Cans" typeface="Euphemia"/>
        <a:font script="Hang" typeface="맑은 고딕"/>
        <a:font script="Syrc" typeface="Estrangelo Edessa"/>
      </a:majorFont>
      <a:minorFont>
        <a:latin typeface="Calibri"/>
        <a:ea typeface=""/>
        <a:cs typeface=""/>
        <a:font script="Uigh" typeface="Microsoft Uighur"/>
        <a:font script="Beng" typeface="Vrinda"/>
        <a:font script="Thai" typeface="Cordia New"/>
        <a:font script="Mlym" typeface="Kartika"/>
        <a:font script="Yiii" typeface="Microsoft Yi Baiti"/>
        <a:font script="Cher" typeface="Plantagenet Cherokee"/>
        <a:font script="Orya" typeface="Kalinga"/>
        <a:font script="Gujr" typeface="Shruti"/>
        <a:font script="Viet" typeface="Arial"/>
        <a:font script="Arab" typeface="Arial"/>
        <a:font script="Hebr" typeface="Arial"/>
        <a:font script="Telu" typeface="Gautami"/>
        <a:font script="Ethi" typeface="Nyala"/>
        <a:font script="Jpan" typeface="ＭＳ Ｐゴシック"/>
        <a:font script="Sinh" typeface="Iskoola Pota"/>
        <a:font script="Taml" typeface="Latha"/>
        <a:font script="Deva" typeface="Mangal"/>
        <a:font script="Knda" typeface="Tunga"/>
        <a:font script="Tibt" typeface="Microsoft Himalaya"/>
        <a:font script="Khmr" typeface="DaunPenh"/>
        <a:font script="Hant" typeface="新細明體"/>
        <a:font script="Laoo" typeface="DokChampa"/>
        <a:font script="Mong" typeface="Mongolian Baiti"/>
        <a:font script="Hans" typeface="宋体"/>
        <a:font script="Guru" typeface="Raavi"/>
        <a:font script="Thaa" typeface="MV Boli"/>
        <a:font script="Cans" typeface="Euphemia"/>
        <a:font script="Hang" typeface="맑은 고딕"/>
        <a:font script="Syrc" typeface="Estrangelo Edess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443</Words>
  <Application>Microsoft Office PowerPoint</Application>
  <PresentationFormat>宽屏</PresentationFormat>
  <Paragraphs>161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国栋 李</cp:lastModifiedBy>
  <cp:revision>2</cp:revision>
  <dcterms:created xsi:type="dcterms:W3CDTF">2006-08-16T00:00:00Z</dcterms:created>
  <dcterms:modified xsi:type="dcterms:W3CDTF">2024-09-03T02:43:41Z</dcterms:modified>
</cp:coreProperties>
</file>
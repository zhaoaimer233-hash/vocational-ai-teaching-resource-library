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48840"/>
            <a:ext cx="12191695" cy="54864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480560"/>
            <a:ext cx="12191695" cy="18288"/>
          </a:xfrm>
          <a:prstGeom prst="rect">
            <a:avLst/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731520"/>
            <a:ext cx="103601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0">
                <a:solidFill>
                  <a:srgbClr val="555A64"/>
                </a:solidFill>
                <a:latin typeface="微软雅黑"/>
              </a:rPr>
              <a:t>2026—2027学年第一学期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234440"/>
            <a:ext cx="1036015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5400" b="1">
                <a:solidFill>
                  <a:srgbClr val="1F3B66"/>
                </a:solidFill>
                <a:latin typeface="微软雅黑"/>
              </a:rPr>
              <a:t>智能产品安装与调试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10360152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2600" b="0">
                <a:solidFill>
                  <a:srgbClr val="555A64"/>
                </a:solidFill>
                <a:latin typeface="微软雅黑"/>
              </a:rPr>
              <a:t>课题：</a:t>
            </a:r>
            <a:r>
              <a:rPr sz="2600" b="1">
                <a:solidFill>
                  <a:srgbClr val="2E74B5"/>
                </a:solidFill>
                <a:latin typeface="微软雅黑"/>
              </a:rPr>
              <a:t>百变小飞机器人</a:t>
            </a:r>
          </a:p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2600" b="0">
                <a:solidFill>
                  <a:srgbClr val="555A64"/>
                </a:solidFill>
                <a:latin typeface="微软雅黑"/>
              </a:rPr>
              <a:t>分课题：</a:t>
            </a:r>
            <a:r>
              <a:rPr sz="2600" b="1">
                <a:solidFill>
                  <a:srgbClr val="2E74B5"/>
                </a:solidFill>
                <a:latin typeface="微软雅黑"/>
              </a:rPr>
              <a:t>舵机与RGB灯带认知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709160"/>
            <a:ext cx="103601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0">
                <a:solidFill>
                  <a:srgbClr val="555A64"/>
                </a:solidFill>
                <a:latin typeface="微软雅黑"/>
              </a:rPr>
              <a:t>授课教师：李国栋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学习目标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34440"/>
            <a:ext cx="82296" cy="173736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52728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知识目标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52120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▪  1.说出舵机的接口、角度控制、限位与校正方法；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▪  2.说出RGB灯带的组成与控制方式。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1234440"/>
            <a:ext cx="82296" cy="173736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252728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技能目标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737360"/>
            <a:ext cx="52120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▪  1.能连接舵机并完成角度控制；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▪  2.能连接RGB灯带并完成基本灯光控制。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794760"/>
            <a:ext cx="82296" cy="173736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813048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职业素养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297680"/>
            <a:ext cx="52120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▪  1.养成规范接线、爱护设备的职业习惯；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▪  2.培养细致观察、团队协作意识。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3794760"/>
            <a:ext cx="82296" cy="173736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3813048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思政目标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4297680"/>
            <a:ext cx="52120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▪  1.认识我国机器人产业的发展成就；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▪  2.树立精益求精、追求卓越的工匠精神。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目录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548640" cy="54864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307592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组织教学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938528"/>
            <a:ext cx="548640" cy="54864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93852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965960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导入新课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596896"/>
            <a:ext cx="548640" cy="54864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59689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624328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讲授新课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255264"/>
            <a:ext cx="548640" cy="54864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25526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282696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实操演练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913632"/>
            <a:ext cx="548640" cy="54864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9136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941064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巩固练习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4571999"/>
            <a:ext cx="548640" cy="54864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571999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599431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课堂小结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2926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9DC3E6"/>
                </a:solidFill>
                <a:latin typeface="微软雅黑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37160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组织教学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06070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1.点名与学情确认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2.设备与器材检查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3.介绍课程任务要求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4.明确实训纪律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2926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9DC3E6"/>
                </a:solidFill>
                <a:latin typeface="微软雅黑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37160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导入新课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06070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1.回顾机器人底盘驱动调试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2.提出“机器人如何完成动作和提示”的问题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3.引出舵机与RGB灯带主题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2926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9DC3E6"/>
                </a:solidFill>
                <a:latin typeface="微软雅黑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37160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讲授新课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06070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1.舵机的作用与接口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2.舵机角度控制方法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3.舵机限位与校正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4.RGB灯带组成与控制方式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2926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9DC3E6"/>
                </a:solidFill>
                <a:latin typeface="微软雅黑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37160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实操演练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06070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1.连接舵机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2.完成舵机角度控制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3.进行舵机限位与校正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4.连接RGB灯带并控制灯光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5.记录参数表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2926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9DC3E6"/>
                </a:solidFill>
                <a:latin typeface="微软雅黑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37160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巩固练习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06070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1.舵机接口辨析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2.角度控制要点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3.限位与校正要点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4.RGB灯带控制方式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2926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9DC3E6"/>
                </a:solidFill>
                <a:latin typeface="微软雅黑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37160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课堂小结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06070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1.舵机接口总结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2.角度控制总结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3.限位校正总结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4.RGB灯带总结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651760"/>
            <a:ext cx="10360152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6000" b="1">
                <a:solidFill>
                  <a:srgbClr val="FFFFFF"/>
                </a:solidFill>
                <a:latin typeface="微软雅黑"/>
              </a:rPr>
              <a:t>感谢观看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749039"/>
            <a:ext cx="1036015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400" b="0">
                <a:solidFill>
                  <a:srgbClr val="9DC3E6"/>
                </a:solidFill>
                <a:latin typeface="微软雅黑"/>
              </a:rPr>
              <a:t>THANKS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
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9_color_q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9_color_q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band"/>
          <p:cNvGrpSpPr/>
          <p:nvPr/>
        </p:nvGrpSpPr>
        <p:grpSpPr>
          <a:xfrm>
            <a:off x="-1123950" y="-514350"/>
            <a:ext cx="6096000" cy="8572500"/>
            <a:chOff x="-1123950" y="-514350"/>
            <a:chExt cx="6096000" cy="8572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4381500" cy="6858000"/>
            </a:xfrm>
            <a:prstGeom prst="rect">
              <a:avLst/>
            </a:prstGeom>
            <a:solidFill>
              <a:srgbClr val="123A6B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2114550" y="-514350"/>
              <a:ext cx="2857500" cy="2857500"/>
            </a:xfrm>
            <a:prstGeom prst="ellipse">
              <a:avLst/>
            </a:prstGeom>
            <a:solidFill>
              <a:srgbClr val="1B4F8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123950" y="4438650"/>
              <a:ext cx="3619500" cy="3619500"/>
            </a:xfrm>
            <a:prstGeom prst="ellipse">
              <a:avLst/>
            </a:prstGeom>
            <a:solidFill>
              <a:srgbClr val="1B4F8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9130" y="965200"/>
              <a:ext cx="20848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spc="300" dirty="0">
                  <a:solidFill>
                    <a:srgbClr val="9CC3E6"/>
                  </a:solidFill>
                  <a:latin typeface="+mn-lt"/>
                  <a:ea typeface="+mn-ea"/>
                  <a:cs typeface="+mn-cs"/>
                </a:rPr>
                <a:t>SMART PRODUCT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5320" y="1397000"/>
              <a:ext cx="26345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9 周 · 第 1 次课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59892" y="2692400"/>
              <a:ext cx="431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CC3E6"/>
                  </a:solidFill>
                  <a:latin typeface="+mn-lt"/>
                  <a:ea typeface="+mn-ea"/>
                  <a:cs typeface="+mn-cs"/>
                </a:rPr>
                <a:t>课 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57606" y="300355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智能产品安装与调试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9892" y="36068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CC3E6"/>
                  </a:solidFill>
                  <a:latin typeface="+mn-lt"/>
                  <a:ea typeface="+mn-ea"/>
                  <a:cs typeface="+mn-cs"/>
                </a:rPr>
                <a:t>授课班级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8368" y="3911600"/>
              <a:ext cx="31139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2024级人工智能技术应用班-G5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9892" y="45021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CC3E6"/>
                  </a:solidFill>
                  <a:latin typeface="+mn-lt"/>
                  <a:ea typeface="+mn-ea"/>
                  <a:cs typeface="+mn-cs"/>
                </a:rPr>
                <a:t>授课教师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7606" y="479425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李国栋</a:t>
              </a:r>
            </a:p>
          </p:txBody>
        </p:sp>
      </p:grpSp>
      <p:grpSp>
        <p:nvGrpSpPr>
          <p:cNvPr id="18" name="title-block"/>
          <p:cNvGrpSpPr/>
          <p:nvPr/>
        </p:nvGrpSpPr>
        <p:grpSpPr>
          <a:xfrm>
            <a:off x="5124450" y="2286000"/>
            <a:ext cx="3168015" cy="2347341"/>
            <a:chOff x="5124450" y="2286000"/>
            <a:chExt cx="3168015" cy="2347341"/>
          </a:xfrm>
        </p:grpSpPr>
        <p:sp>
          <p:nvSpPr>
            <p:cNvPr id="14" name="Rectangle 14"/>
            <p:cNvSpPr/>
            <p:nvPr/>
          </p:nvSpPr>
          <p:spPr>
            <a:xfrm>
              <a:off x="5143500" y="2286000"/>
              <a:ext cx="685800" cy="76200"/>
            </a:xfrm>
            <a:prstGeom prst="rect">
              <a:avLst/>
            </a:prstGeom>
            <a:solidFill>
              <a:srgbClr val="E8B34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24450" y="2628900"/>
              <a:ext cx="1916049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颜色与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24450" y="3467100"/>
              <a:ext cx="3168015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二维码识别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35499" y="4324350"/>
              <a:ext cx="305760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颜色空间 · 阈值分割 · 识别流程</a:t>
              </a:r>
            </a:p>
          </p:txBody>
        </p:sp>
      </p:grpSp>
      <p:grpSp>
        <p:nvGrpSpPr>
          <p:cNvPr id="22" name="meta"/>
          <p:cNvGrpSpPr/>
          <p:nvPr/>
        </p:nvGrpSpPr>
        <p:grpSpPr>
          <a:xfrm>
            <a:off x="5136642" y="5715000"/>
            <a:ext cx="6300216" cy="498983"/>
            <a:chOff x="5136642" y="5715000"/>
            <a:chExt cx="6300216" cy="498983"/>
          </a:xfrm>
        </p:grpSpPr>
        <p:sp>
          <p:nvSpPr>
            <p:cNvPr id="19" name="Line 19"/>
            <p:cNvSpPr/>
            <p:nvPr/>
          </p:nvSpPr>
          <p:spPr>
            <a:xfrm>
              <a:off x="5143500" y="5715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DCE5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36642" y="594995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课题：移动机器人智能视觉调试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506331" y="5949950"/>
              <a:ext cx="19305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教案流水号 2026-D-15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3996421" cy="840867"/>
            <a:chOff x="685800" y="514350"/>
            <a:chExt cx="3996421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375524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Learning Objectives · 第9周 颜色与二维码识别</a:t>
              </a:r>
            </a:p>
          </p:txBody>
        </p:sp>
      </p:grpSp>
      <p:grpSp>
        <p:nvGrpSpPr>
          <p:cNvPr id="11" name="card-1"/>
          <p:cNvGrpSpPr/>
          <p:nvPr/>
        </p:nvGrpSpPr>
        <p:grpSpPr>
          <a:xfrm>
            <a:off x="685800" y="1809750"/>
            <a:ext cx="5238750" cy="1905000"/>
            <a:chOff x="685800" y="1809750"/>
            <a:chExt cx="5238750" cy="1905000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5238750" cy="1905000"/>
            </a:xfrm>
            <a:prstGeom prst="roundRect">
              <a:avLst>
                <a:gd name="adj" fmla="val 700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80975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218" y="20447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4B5"/>
                  </a:solidFill>
                  <a:latin typeface="+mn-lt"/>
                  <a:ea typeface="+mn-ea"/>
                  <a:cs typeface="+mn-cs"/>
                </a:rPr>
                <a:t>知识目标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3742" y="2520950"/>
              <a:ext cx="3175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1. 说出颜色空间与阈值分割的基本原理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3742" y="2863850"/>
              <a:ext cx="24489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2. 说出二维码识别的基本流程</a:t>
              </a:r>
            </a:p>
          </p:txBody>
        </p:sp>
      </p:grpSp>
      <p:grpSp>
        <p:nvGrpSpPr>
          <p:cNvPr id="17" name="card-2"/>
          <p:cNvGrpSpPr/>
          <p:nvPr/>
        </p:nvGrpSpPr>
        <p:grpSpPr>
          <a:xfrm>
            <a:off x="6267450" y="1809750"/>
            <a:ext cx="5238750" cy="1905000"/>
            <a:chOff x="6267450" y="1809750"/>
            <a:chExt cx="5238750" cy="1905000"/>
          </a:xfrm>
        </p:grpSpPr>
        <p:sp>
          <p:nvSpPr>
            <p:cNvPr id="12" name="Rectangle 12"/>
            <p:cNvSpPr/>
            <p:nvPr/>
          </p:nvSpPr>
          <p:spPr>
            <a:xfrm>
              <a:off x="6267450" y="1809750"/>
              <a:ext cx="5238750" cy="1905000"/>
            </a:xfrm>
            <a:prstGeom prst="roundRect">
              <a:avLst>
                <a:gd name="adj" fmla="val 700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67450" y="180975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1B7F6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63868" y="20447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7F6B"/>
                  </a:solidFill>
                  <a:latin typeface="+mn-lt"/>
                  <a:ea typeface="+mn-ea"/>
                  <a:cs typeface="+mn-cs"/>
                </a:rPr>
                <a:t>技能目标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65392" y="2520950"/>
              <a:ext cx="2812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1. 能完成颜色阈值分割与参数调整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65392" y="2863850"/>
              <a:ext cx="2994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2. 能完成二维码识别测试并记录参数</a:t>
              </a:r>
            </a:p>
          </p:txBody>
        </p:sp>
      </p:grpSp>
      <p:grpSp>
        <p:nvGrpSpPr>
          <p:cNvPr id="23" name="card-3"/>
          <p:cNvGrpSpPr/>
          <p:nvPr/>
        </p:nvGrpSpPr>
        <p:grpSpPr>
          <a:xfrm>
            <a:off x="685800" y="4038600"/>
            <a:ext cx="5238750" cy="1905000"/>
            <a:chOff x="685800" y="4038600"/>
            <a:chExt cx="5238750" cy="1905000"/>
          </a:xfrm>
        </p:grpSpPr>
        <p:sp>
          <p:nvSpPr>
            <p:cNvPr id="18" name="Rectangle 18"/>
            <p:cNvSpPr/>
            <p:nvPr/>
          </p:nvSpPr>
          <p:spPr>
            <a:xfrm>
              <a:off x="685800" y="4038600"/>
              <a:ext cx="5238750" cy="1905000"/>
            </a:xfrm>
            <a:prstGeom prst="roundRect">
              <a:avLst>
                <a:gd name="adj" fmla="val 700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403860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B4762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2218" y="42735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B4762A"/>
                  </a:solidFill>
                  <a:latin typeface="+mn-lt"/>
                  <a:ea typeface="+mn-ea"/>
                  <a:cs typeface="+mn-cs"/>
                </a:rPr>
                <a:t>职业素养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3742" y="4749800"/>
              <a:ext cx="2812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1. 养成规范调试、记录参数的习惯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3742" y="5092700"/>
              <a:ext cx="2630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2. 培养细致观察与问题排查意识</a:t>
              </a:r>
            </a:p>
          </p:txBody>
        </p:sp>
      </p:grpSp>
      <p:grpSp>
        <p:nvGrpSpPr>
          <p:cNvPr id="29" name="card-4"/>
          <p:cNvGrpSpPr/>
          <p:nvPr/>
        </p:nvGrpSpPr>
        <p:grpSpPr>
          <a:xfrm>
            <a:off x="6267450" y="4038600"/>
            <a:ext cx="5238750" cy="1905000"/>
            <a:chOff x="6267450" y="4038600"/>
            <a:chExt cx="5238750" cy="1905000"/>
          </a:xfrm>
        </p:grpSpPr>
        <p:sp>
          <p:nvSpPr>
            <p:cNvPr id="24" name="Rectangle 24"/>
            <p:cNvSpPr/>
            <p:nvPr/>
          </p:nvSpPr>
          <p:spPr>
            <a:xfrm>
              <a:off x="6267450" y="4038600"/>
              <a:ext cx="5238750" cy="1905000"/>
            </a:xfrm>
            <a:prstGeom prst="roundRect">
              <a:avLst>
                <a:gd name="adj" fmla="val 700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67450" y="403860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7A4E9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63868" y="42735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7A4E9E"/>
                  </a:solidFill>
                  <a:latin typeface="+mn-lt"/>
                  <a:ea typeface="+mn-ea"/>
                  <a:cs typeface="+mn-cs"/>
                </a:rPr>
                <a:t>思政目标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65392" y="4749800"/>
              <a:ext cx="3539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1. 认识机器视觉在智能制造与物流中的应用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65392" y="5092700"/>
              <a:ext cx="3175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2. 树立精益求精、追求卓越的工匠精神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30" name="TextBox 30"/>
            <p:cNvSpPr txBox="1"/>
            <p:nvPr/>
          </p:nvSpPr>
          <p:spPr>
            <a:xfrm>
              <a:off x="680085" y="6375400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智能产品安装与调试 · 颜色与二维码识别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4205127" cy="840867"/>
            <a:chOff x="685800" y="514350"/>
            <a:chExt cx="4205127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399100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颜色空间：RGB 与 HSV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381425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同一种颜色有两种描述方式，识别任务更常用 HSV</a:t>
              </a:r>
            </a:p>
          </p:txBody>
        </p:sp>
      </p:grpSp>
      <p:grpSp>
        <p:nvGrpSpPr>
          <p:cNvPr id="16" name="rgb"/>
          <p:cNvGrpSpPr/>
          <p:nvPr/>
        </p:nvGrpSpPr>
        <p:grpSpPr>
          <a:xfrm>
            <a:off x="685800" y="1905000"/>
            <a:ext cx="5143500" cy="3143250"/>
            <a:chOff x="685800" y="1905000"/>
            <a:chExt cx="5143500" cy="3143250"/>
          </a:xfrm>
        </p:grpSpPr>
        <p:sp>
          <p:nvSpPr>
            <p:cNvPr id="6" name="Rectangle 6"/>
            <p:cNvSpPr/>
            <p:nvPr/>
          </p:nvSpPr>
          <p:spPr>
            <a:xfrm>
              <a:off x="685800" y="1905000"/>
              <a:ext cx="5143500" cy="3143250"/>
            </a:xfrm>
            <a:prstGeom prst="roundRect">
              <a:avLst>
                <a:gd name="adj" fmla="val 4848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2218" y="2178050"/>
              <a:ext cx="13857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RGB 颜色空间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4885" y="25273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红、绿、蓝三通道亮度叠加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1104900" y="3105150"/>
              <a:ext cx="647700" cy="647700"/>
            </a:xfrm>
            <a:prstGeom prst="ellipse">
              <a:avLst/>
            </a:prstGeom>
            <a:solidFill>
              <a:srgbClr val="D9453B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924050" y="3105150"/>
              <a:ext cx="647700" cy="647700"/>
            </a:xfrm>
            <a:prstGeom prst="ellipse">
              <a:avLst/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743200" y="3105150"/>
              <a:ext cx="647700" cy="6477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79225" y="3860800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98375" y="3860800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17525" y="3860800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4504" y="4324350"/>
              <a:ext cx="29077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光照变化时，三个通道的数值会一起变化，</a:t>
              </a:r>
              <a:b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阈值不易稳定。</a:t>
              </a:r>
            </a:p>
          </p:txBody>
        </p:sp>
      </p:grpSp>
      <p:grpSp>
        <p:nvGrpSpPr>
          <p:cNvPr id="29" name="hsv"/>
          <p:cNvGrpSpPr/>
          <p:nvPr/>
        </p:nvGrpSpPr>
        <p:grpSpPr>
          <a:xfrm>
            <a:off x="6172200" y="1905000"/>
            <a:ext cx="5334000" cy="3143250"/>
            <a:chOff x="6172200" y="1905000"/>
            <a:chExt cx="5334000" cy="3143250"/>
          </a:xfrm>
        </p:grpSpPr>
        <p:sp>
          <p:nvSpPr>
            <p:cNvPr id="17" name="Rectangle 17"/>
            <p:cNvSpPr/>
            <p:nvPr/>
          </p:nvSpPr>
          <p:spPr>
            <a:xfrm>
              <a:off x="6172200" y="1905000"/>
              <a:ext cx="5334000" cy="3143250"/>
            </a:xfrm>
            <a:prstGeom prst="roundRect">
              <a:avLst>
                <a:gd name="adj" fmla="val 4848"/>
              </a:avLst>
            </a:prstGeom>
            <a:solidFill>
              <a:srgbClr val="EAF2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68618" y="2178050"/>
              <a:ext cx="13857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HSV 颜色空间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71285" y="2527300"/>
              <a:ext cx="17746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色调 H、饱和度 S、明度 V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77000" y="3009900"/>
              <a:ext cx="609600" cy="609600"/>
            </a:xfrm>
            <a:prstGeom prst="rect">
              <a:avLst/>
            </a:prstGeom>
            <a:solidFill>
              <a:srgbClr val="D9453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24700" y="3009900"/>
              <a:ext cx="609600" cy="609600"/>
            </a:xfrm>
            <a:prstGeom prst="rect">
              <a:avLst/>
            </a:prstGeom>
            <a:solidFill>
              <a:srgbClr val="E8973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772400" y="3009900"/>
              <a:ext cx="609600" cy="609600"/>
            </a:xfrm>
            <a:prstGeom prst="rect">
              <a:avLst/>
            </a:prstGeom>
            <a:solidFill>
              <a:srgbClr val="E8C93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420100" y="3009900"/>
              <a:ext cx="609600" cy="609600"/>
            </a:xfrm>
            <a:prstGeom prst="rect">
              <a:avLst/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067800" y="3009900"/>
              <a:ext cx="609600" cy="60960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715500" y="3009900"/>
              <a:ext cx="609600" cy="609600"/>
            </a:xfrm>
            <a:prstGeom prst="rect">
              <a:avLst/>
            </a:prstGeom>
            <a:solidFill>
              <a:srgbClr val="7A4E9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71285" y="3822700"/>
              <a:ext cx="1353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H 色调：颜色的种类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71285" y="4089400"/>
              <a:ext cx="15038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S 饱和度：颜色的纯度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1285" y="4356100"/>
              <a:ext cx="1353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V 明度：颜色的亮暗</a:t>
              </a:r>
            </a:p>
          </p:txBody>
        </p:sp>
      </p:grpSp>
      <p:grpSp>
        <p:nvGrpSpPr>
          <p:cNvPr id="34" name="why"/>
          <p:cNvGrpSpPr/>
          <p:nvPr/>
        </p:nvGrpSpPr>
        <p:grpSpPr>
          <a:xfrm>
            <a:off x="685800" y="5295900"/>
            <a:ext cx="10820400" cy="800100"/>
            <a:chOff x="685800" y="5295900"/>
            <a:chExt cx="10820400" cy="800100"/>
          </a:xfrm>
        </p:grpSpPr>
        <p:sp>
          <p:nvSpPr>
            <p:cNvPr id="30" name="Rectangle 30"/>
            <p:cNvSpPr/>
            <p:nvPr/>
          </p:nvSpPr>
          <p:spPr>
            <a:xfrm>
              <a:off x="685800" y="5295900"/>
              <a:ext cx="10820400" cy="800100"/>
            </a:xfrm>
            <a:prstGeom prst="roundRect">
              <a:avLst>
                <a:gd name="adj" fmla="val 14286"/>
              </a:avLst>
            </a:prstGeom>
            <a:solidFill>
              <a:srgbClr val="FFF8EC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85800" y="5295900"/>
              <a:ext cx="57150" cy="800100"/>
            </a:xfrm>
            <a:prstGeom prst="roundRect">
              <a:avLst>
                <a:gd name="adj" fmla="val 50000"/>
              </a:avLst>
            </a:prstGeom>
            <a:solidFill>
              <a:srgbClr val="E8B34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84504" y="5486400"/>
              <a:ext cx="11693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A5A17"/>
                  </a:solidFill>
                  <a:latin typeface="+mn-lt"/>
                  <a:ea typeface="+mn-ea"/>
                  <a:cs typeface="+mn-cs"/>
                </a:rPr>
                <a:t>为什么常用 HSV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4504" y="5753100"/>
              <a:ext cx="6330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5B2A"/>
                  </a:solidFill>
                  <a:latin typeface="+mn-lt"/>
                  <a:ea typeface="+mn-ea"/>
                  <a:cs typeface="+mn-cs"/>
                </a:rPr>
                <a:t>颜色主要由 H（色调）决定，把 H 限制在一个区间，就能把目标颜色从背景中分离出来。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35" name="TextBox 35"/>
            <p:cNvSpPr txBox="1"/>
            <p:nvPr/>
          </p:nvSpPr>
          <p:spPr>
            <a:xfrm>
              <a:off x="680085" y="6375400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智能产品安装与调试 · 颜色与二维码识别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5673884" cy="840867"/>
            <a:chOff x="685800" y="514350"/>
            <a:chExt cx="5673884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54597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阈值分割：把目标颜色“抠”出来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397616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对每个像素判断是否落在阈值区间内，得到黑白掩膜</a:t>
              </a:r>
            </a:p>
          </p:txBody>
        </p:sp>
      </p:grpSp>
      <p:grpSp>
        <p:nvGrpSpPr>
          <p:cNvPr id="13" name="rule"/>
          <p:cNvGrpSpPr/>
          <p:nvPr/>
        </p:nvGrpSpPr>
        <p:grpSpPr>
          <a:xfrm>
            <a:off x="685800" y="1905000"/>
            <a:ext cx="6667500" cy="2857500"/>
            <a:chOff x="685800" y="1905000"/>
            <a:chExt cx="6667500" cy="2857500"/>
          </a:xfrm>
        </p:grpSpPr>
        <p:sp>
          <p:nvSpPr>
            <p:cNvPr id="6" name="Rectangle 6"/>
            <p:cNvSpPr/>
            <p:nvPr/>
          </p:nvSpPr>
          <p:spPr>
            <a:xfrm>
              <a:off x="685800" y="1905000"/>
              <a:ext cx="6667500" cy="2857500"/>
            </a:xfrm>
            <a:prstGeom prst="roundRect">
              <a:avLst>
                <a:gd name="adj" fmla="val 5333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2599" y="21907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判断规则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2980" y="2736850"/>
              <a:ext cx="3961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E74B5"/>
                  </a:solidFill>
                  <a:latin typeface="Consolas"/>
                  <a:ea typeface="Consolas"/>
                  <a:cs typeface="Consolas"/>
                </a:rPr>
                <a:t>mask = (H_low &lt;= H) &amp; (H &lt;= H_high)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2980" y="3041650"/>
              <a:ext cx="33089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E74B5"/>
                  </a:solidFill>
                  <a:latin typeface="Consolas"/>
                  <a:ea typeface="Consolas"/>
                  <a:cs typeface="Consolas"/>
                </a:rPr>
                <a:t>&amp; (S_low &lt;= S) &amp; (V_low &lt;= V)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4504" y="3581400"/>
              <a:ext cx="261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满足条件 → 记为 255（白色，目标）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4504" y="388620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不满足 → 记为 0（黑色，背景）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4885" y="4337050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区间上下限就是需要反复调试的“阈值”。</a:t>
              </a:r>
            </a:p>
          </p:txBody>
        </p:sp>
      </p:grpSp>
      <p:grpSp>
        <p:nvGrpSpPr>
          <p:cNvPr id="21" name="tuning"/>
          <p:cNvGrpSpPr/>
          <p:nvPr/>
        </p:nvGrpSpPr>
        <p:grpSpPr>
          <a:xfrm>
            <a:off x="7658100" y="1905000"/>
            <a:ext cx="3848100" cy="2857500"/>
            <a:chOff x="7658100" y="1905000"/>
            <a:chExt cx="3848100" cy="2857500"/>
          </a:xfrm>
        </p:grpSpPr>
        <p:sp>
          <p:nvSpPr>
            <p:cNvPr id="14" name="Rectangle 14"/>
            <p:cNvSpPr/>
            <p:nvPr/>
          </p:nvSpPr>
          <p:spPr>
            <a:xfrm>
              <a:off x="7658100" y="1905000"/>
              <a:ext cx="3848100" cy="2857500"/>
            </a:xfrm>
            <a:prstGeom prst="roundRect">
              <a:avLst>
                <a:gd name="adj" fmla="val 5333"/>
              </a:avLst>
            </a:prstGeom>
            <a:solidFill>
              <a:srgbClr val="EAF2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54899" y="21907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23A6B"/>
                  </a:solidFill>
                  <a:latin typeface="+mn-lt"/>
                  <a:ea typeface="+mn-ea"/>
                  <a:cs typeface="+mn-cs"/>
                </a:rPr>
                <a:t>调参步骤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56423" y="2705100"/>
              <a:ext cx="163270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1. 采集一张目标图像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56423" y="3086100"/>
              <a:ext cx="19773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2. 取目标区域像素值范围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56423" y="3467100"/>
              <a:ext cx="19773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3. 设定上下限并观察掩膜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56423" y="3848100"/>
              <a:ext cx="214964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4. 微调区间，直到掩膜干净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57185" y="42989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记录最终阈值，便于复现</a:t>
              </a:r>
            </a:p>
          </p:txBody>
        </p:sp>
      </p:grpSp>
      <p:grpSp>
        <p:nvGrpSpPr>
          <p:cNvPr id="26" name="record"/>
          <p:cNvGrpSpPr/>
          <p:nvPr/>
        </p:nvGrpSpPr>
        <p:grpSpPr>
          <a:xfrm>
            <a:off x="685800" y="5010150"/>
            <a:ext cx="10820400" cy="1085850"/>
            <a:chOff x="685800" y="5010150"/>
            <a:chExt cx="10820400" cy="1085850"/>
          </a:xfrm>
        </p:grpSpPr>
        <p:sp>
          <p:nvSpPr>
            <p:cNvPr id="22" name="Rectangle 22"/>
            <p:cNvSpPr/>
            <p:nvPr/>
          </p:nvSpPr>
          <p:spPr>
            <a:xfrm>
              <a:off x="685800" y="5010150"/>
              <a:ext cx="10820400" cy="1085850"/>
            </a:xfrm>
            <a:prstGeom prst="roundRect">
              <a:avLst>
                <a:gd name="adj" fmla="val 12281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5800" y="5010150"/>
              <a:ext cx="57150" cy="10858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3742" y="52070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阶段成果：识别流程图与阈值记录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4504" y="5543550"/>
              <a:ext cx="8723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流程图写清“采集 → 转换颜色空间 → 阈值分割 → 轮廓筛选 → 输出结果”，阈值记录表写清颜色、H/S/V 上下限与测试时间。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27" name="TextBox 27"/>
            <p:cNvSpPr txBox="1"/>
            <p:nvPr/>
          </p:nvSpPr>
          <p:spPr>
            <a:xfrm>
              <a:off x="680085" y="6375400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智能产品安装与调试 · 颜色与二维码识别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2928747" cy="840867"/>
            <a:chOff x="685800" y="514350"/>
            <a:chExt cx="2928747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二维码识别流程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263212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从“看到”到“读出内容”，一共四步</a:t>
              </a:r>
            </a:p>
          </p:txBody>
        </p:sp>
      </p:grpSp>
      <p:grpSp>
        <p:nvGrpSpPr>
          <p:cNvPr id="11" name="qstep-1"/>
          <p:cNvGrpSpPr/>
          <p:nvPr/>
        </p:nvGrpSpPr>
        <p:grpSpPr>
          <a:xfrm>
            <a:off x="685800" y="2000250"/>
            <a:ext cx="5143500" cy="1524000"/>
            <a:chOff x="685800" y="2000250"/>
            <a:chExt cx="5143500" cy="1524000"/>
          </a:xfrm>
        </p:grpSpPr>
        <p:sp>
          <p:nvSpPr>
            <p:cNvPr id="6" name="Rectangle 6"/>
            <p:cNvSpPr/>
            <p:nvPr/>
          </p:nvSpPr>
          <p:spPr>
            <a:xfrm>
              <a:off x="685800" y="2000250"/>
              <a:ext cx="5143500" cy="1524000"/>
            </a:xfrm>
            <a:prstGeom prst="roundRect">
              <a:avLst>
                <a:gd name="adj" fmla="val 875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76122" y="2324100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C6D6E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01749" y="23431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采集图像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03654" y="2724150"/>
              <a:ext cx="25242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摄像头获取画面并转为灰度/彩色图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04416" y="3073400"/>
              <a:ext cx="653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步骤 1 / 4</a:t>
              </a:r>
            </a:p>
          </p:txBody>
        </p:sp>
      </p:grpSp>
      <p:grpSp>
        <p:nvGrpSpPr>
          <p:cNvPr id="17" name="qstep-2"/>
          <p:cNvGrpSpPr/>
          <p:nvPr/>
        </p:nvGrpSpPr>
        <p:grpSpPr>
          <a:xfrm>
            <a:off x="6096000" y="2000250"/>
            <a:ext cx="5143500" cy="1524000"/>
            <a:chOff x="6096000" y="2000250"/>
            <a:chExt cx="5143500" cy="1524000"/>
          </a:xfrm>
        </p:grpSpPr>
        <p:sp>
          <p:nvSpPr>
            <p:cNvPr id="12" name="Rectangle 12"/>
            <p:cNvSpPr/>
            <p:nvPr/>
          </p:nvSpPr>
          <p:spPr>
            <a:xfrm>
              <a:off x="6096000" y="2000250"/>
              <a:ext cx="5143500" cy="1524000"/>
            </a:xfrm>
            <a:prstGeom prst="roundRect">
              <a:avLst>
                <a:gd name="adj" fmla="val 875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386322" y="2324100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C6D6E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11949" y="2343150"/>
              <a:ext cx="10795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定位二维码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13854" y="272415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在画面中找到疑似二维码区域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14616" y="3073400"/>
              <a:ext cx="653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步骤 2 / 4</a:t>
              </a:r>
            </a:p>
          </p:txBody>
        </p:sp>
      </p:grpSp>
      <p:grpSp>
        <p:nvGrpSpPr>
          <p:cNvPr id="23" name="qstep-3"/>
          <p:cNvGrpSpPr/>
          <p:nvPr/>
        </p:nvGrpSpPr>
        <p:grpSpPr>
          <a:xfrm>
            <a:off x="685800" y="3810000"/>
            <a:ext cx="5143500" cy="1524000"/>
            <a:chOff x="685800" y="3810000"/>
            <a:chExt cx="5143500" cy="1524000"/>
          </a:xfrm>
        </p:grpSpPr>
        <p:sp>
          <p:nvSpPr>
            <p:cNvPr id="18" name="Rectangle 18"/>
            <p:cNvSpPr/>
            <p:nvPr/>
          </p:nvSpPr>
          <p:spPr>
            <a:xfrm>
              <a:off x="685800" y="3810000"/>
              <a:ext cx="5143500" cy="1524000"/>
            </a:xfrm>
            <a:prstGeom prst="roundRect">
              <a:avLst>
                <a:gd name="adj" fmla="val 875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6122" y="4133850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C6D6E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01749" y="41529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解码识别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03654" y="453390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解析二维码中的编码内容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04416" y="4883150"/>
              <a:ext cx="653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步骤 3 / 4</a:t>
              </a:r>
            </a:p>
          </p:txBody>
        </p:sp>
      </p:grpSp>
      <p:grpSp>
        <p:nvGrpSpPr>
          <p:cNvPr id="29" name="qstep-4"/>
          <p:cNvGrpSpPr/>
          <p:nvPr/>
        </p:nvGrpSpPr>
        <p:grpSpPr>
          <a:xfrm>
            <a:off x="6096000" y="3810000"/>
            <a:ext cx="5143500" cy="1524000"/>
            <a:chOff x="6096000" y="3810000"/>
            <a:chExt cx="5143500" cy="1524000"/>
          </a:xfrm>
        </p:grpSpPr>
        <p:sp>
          <p:nvSpPr>
            <p:cNvPr id="24" name="Rectangle 24"/>
            <p:cNvSpPr/>
            <p:nvPr/>
          </p:nvSpPr>
          <p:spPr>
            <a:xfrm>
              <a:off x="6096000" y="3810000"/>
              <a:ext cx="5143500" cy="1524000"/>
            </a:xfrm>
            <a:prstGeom prst="roundRect">
              <a:avLst>
                <a:gd name="adj" fmla="val 875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6322" y="4133850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C6D6E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11949" y="41529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13854" y="453390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把识别内容交给主控程序使用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14616" y="4883150"/>
              <a:ext cx="653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步骤 4 / 4</a:t>
              </a:r>
            </a:p>
          </p:txBody>
        </p:sp>
      </p:grpSp>
      <p:grpSp>
        <p:nvGrpSpPr>
          <p:cNvPr id="31" name="tip"/>
          <p:cNvGrpSpPr/>
          <p:nvPr/>
        </p:nvGrpSpPr>
        <p:grpSpPr>
          <a:xfrm>
            <a:off x="679704" y="5772150"/>
            <a:ext cx="5827776" cy="234696"/>
            <a:chOff x="679704" y="5772150"/>
            <a:chExt cx="5827776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679704" y="5772150"/>
              <a:ext cx="582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C92"/>
                  </a:solidFill>
                  <a:latin typeface="+mn-lt"/>
                  <a:ea typeface="+mn-ea"/>
                  <a:cs typeface="+mn-cs"/>
                </a:rPr>
                <a:t>提示：二维码过小、反光或倾斜都会影响识别率，必要时调整摄像头距离与补光。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32" name="TextBox 32"/>
            <p:cNvSpPr txBox="1"/>
            <p:nvPr/>
          </p:nvSpPr>
          <p:spPr>
            <a:xfrm>
              <a:off x="680085" y="6375400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智能产品安装与调试 · 颜色与二维码识别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4045026" cy="840867"/>
            <a:chOff x="685800" y="514350"/>
            <a:chExt cx="4045026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实操任务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38038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两人一组，完成颜色识别与二维码识别并记录参数</a:t>
              </a:r>
            </a:p>
          </p:txBody>
        </p:sp>
      </p:grpSp>
      <p:grpSp>
        <p:nvGrpSpPr>
          <p:cNvPr id="13" name="task-a"/>
          <p:cNvGrpSpPr/>
          <p:nvPr/>
        </p:nvGrpSpPr>
        <p:grpSpPr>
          <a:xfrm>
            <a:off x="685800" y="1905000"/>
            <a:ext cx="5238750" cy="2381250"/>
            <a:chOff x="685800" y="1905000"/>
            <a:chExt cx="5238750" cy="2381250"/>
          </a:xfrm>
        </p:grpSpPr>
        <p:sp>
          <p:nvSpPr>
            <p:cNvPr id="6" name="Rectangle 6"/>
            <p:cNvSpPr/>
            <p:nvPr/>
          </p:nvSpPr>
          <p:spPr>
            <a:xfrm>
              <a:off x="685800" y="1905000"/>
              <a:ext cx="5238750" cy="2381250"/>
            </a:xfrm>
            <a:prstGeom prst="roundRect">
              <a:avLst>
                <a:gd name="adj" fmla="val 560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905000"/>
              <a:ext cx="5238750" cy="57150"/>
            </a:xfrm>
            <a:prstGeom prst="roundRect">
              <a:avLst>
                <a:gd name="adj" fmla="val 50000"/>
              </a:avLst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599" y="2247900"/>
              <a:ext cx="17617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任务一 · 颜色识别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4123" y="2705100"/>
              <a:ext cx="163270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1. 采集目标颜色图像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4123" y="3048000"/>
              <a:ext cx="241494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2. 设定 H/S/V 阈值并生成掩膜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4123" y="3390900"/>
              <a:ext cx="19773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3. 微调阈值直到掩膜干净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4123" y="3733800"/>
              <a:ext cx="128807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4. 记录阈值区间</a:t>
              </a:r>
            </a:p>
          </p:txBody>
        </p:sp>
      </p:grpSp>
      <p:grpSp>
        <p:nvGrpSpPr>
          <p:cNvPr id="21" name="task-b"/>
          <p:cNvGrpSpPr/>
          <p:nvPr/>
        </p:nvGrpSpPr>
        <p:grpSpPr>
          <a:xfrm>
            <a:off x="6267450" y="1905000"/>
            <a:ext cx="5238750" cy="2381250"/>
            <a:chOff x="6267450" y="1905000"/>
            <a:chExt cx="5238750" cy="2381250"/>
          </a:xfrm>
        </p:grpSpPr>
        <p:sp>
          <p:nvSpPr>
            <p:cNvPr id="14" name="Rectangle 14"/>
            <p:cNvSpPr/>
            <p:nvPr/>
          </p:nvSpPr>
          <p:spPr>
            <a:xfrm>
              <a:off x="6267450" y="1905000"/>
              <a:ext cx="5238750" cy="2381250"/>
            </a:xfrm>
            <a:prstGeom prst="roundRect">
              <a:avLst>
                <a:gd name="adj" fmla="val 5600"/>
              </a:avLst>
            </a:prstGeom>
            <a:solidFill>
              <a:srgbClr val="F3F7FC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67450" y="1905000"/>
              <a:ext cx="5238750" cy="57150"/>
            </a:xfrm>
            <a:prstGeom prst="roundRect">
              <a:avLst>
                <a:gd name="adj" fmla="val 50000"/>
              </a:avLst>
            </a:prstGeom>
            <a:solidFill>
              <a:srgbClr val="1B7F6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64249" y="2247900"/>
              <a:ext cx="19744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E5B4C"/>
                  </a:solidFill>
                  <a:latin typeface="+mn-lt"/>
                  <a:ea typeface="+mn-ea"/>
                  <a:cs typeface="+mn-cs"/>
                </a:rPr>
                <a:t>任务二 · 二维码识别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65773" y="2705100"/>
              <a:ext cx="180501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1. 采集含二维码的图像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5773" y="3048000"/>
              <a:ext cx="146038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2. 定位二维码区域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65773" y="3390900"/>
              <a:ext cx="180501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3. 解码并显示识别内容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65773" y="3733800"/>
              <a:ext cx="146038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4. 记录识别成功率</a:t>
              </a:r>
            </a:p>
          </p:txBody>
        </p:sp>
      </p:grpSp>
      <p:grpSp>
        <p:nvGrpSpPr>
          <p:cNvPr id="28" name="deliver"/>
          <p:cNvGrpSpPr/>
          <p:nvPr/>
        </p:nvGrpSpPr>
        <p:grpSpPr>
          <a:xfrm>
            <a:off x="685800" y="4552950"/>
            <a:ext cx="10820400" cy="1543050"/>
            <a:chOff x="685800" y="4552950"/>
            <a:chExt cx="10820400" cy="1543050"/>
          </a:xfrm>
        </p:grpSpPr>
        <p:sp>
          <p:nvSpPr>
            <p:cNvPr id="22" name="Rectangle 22"/>
            <p:cNvSpPr/>
            <p:nvPr/>
          </p:nvSpPr>
          <p:spPr>
            <a:xfrm>
              <a:off x="685800" y="4552950"/>
              <a:ext cx="10820400" cy="1543050"/>
            </a:xfrm>
            <a:prstGeom prst="roundRect">
              <a:avLst>
                <a:gd name="adj" fmla="val 8642"/>
              </a:avLst>
            </a:prstGeom>
            <a:solidFill>
              <a:srgbClr val="FFF8E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5800" y="4552950"/>
              <a:ext cx="57150" cy="1543050"/>
            </a:xfrm>
            <a:prstGeom prst="roundRect">
              <a:avLst>
                <a:gd name="adj" fmla="val 50000"/>
              </a:avLst>
            </a:prstGeom>
            <a:solidFill>
              <a:srgbClr val="E8B34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3742" y="47688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5A17"/>
                  </a:solidFill>
                  <a:latin typeface="+mn-lt"/>
                  <a:ea typeface="+mn-ea"/>
                  <a:cs typeface="+mn-cs"/>
                </a:rPr>
                <a:t>提交要求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4504" y="5124450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5B2A"/>
                  </a:solidFill>
                  <a:latin typeface="+mn-lt"/>
                  <a:ea typeface="+mn-ea"/>
                  <a:cs typeface="+mn-cs"/>
                </a:rPr>
                <a:t>① 识别流程图（采集 → 转换 → 分割 → 筛选 → 输出）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4504" y="5410200"/>
              <a:ext cx="39009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5B2A"/>
                  </a:solidFill>
                  <a:latin typeface="+mn-lt"/>
                  <a:ea typeface="+mn-ea"/>
                  <a:cs typeface="+mn-cs"/>
                </a:rPr>
                <a:t>② 颜色阈值记录表（颜色、H/S/V 上下限、测试时间）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4504" y="5695950"/>
              <a:ext cx="25726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5B2A"/>
                  </a:solidFill>
                  <a:latin typeface="+mn-lt"/>
                  <a:ea typeface="+mn-ea"/>
                  <a:cs typeface="+mn-cs"/>
                </a:rPr>
                <a:t>③ 二维码识别结果截图与成功率统计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29" name="TextBox 29"/>
            <p:cNvSpPr txBox="1"/>
            <p:nvPr/>
          </p:nvSpPr>
          <p:spPr>
            <a:xfrm>
              <a:off x="680085" y="6375400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智能产品安装与调试 · 颜色与二维码识别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85800" y="514350"/>
            <a:ext cx="4596430" cy="840867"/>
            <a:chOff x="685800" y="514350"/>
            <a:chExt cx="4596430" cy="840867"/>
          </a:xfrm>
        </p:grpSpPr>
        <p:sp>
          <p:nvSpPr>
            <p:cNvPr id="2" name="Rectangle 2"/>
            <p:cNvSpPr/>
            <p:nvPr/>
          </p:nvSpPr>
          <p:spPr>
            <a:xfrm>
              <a:off x="685800" y="514350"/>
              <a:ext cx="57150" cy="514350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922" y="552450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本节小结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6973" y="1104900"/>
              <a:ext cx="435525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2"/>
                  </a:solidFill>
                  <a:latin typeface="+mn-lt"/>
                  <a:ea typeface="+mn-ea"/>
                  <a:cs typeface="+mn-cs"/>
                </a:rPr>
                <a:t>颜色识别解决“是什么颜色”，二维码识别解决“写了什么”</a:t>
              </a:r>
            </a:p>
          </p:txBody>
        </p:sp>
      </p:grpSp>
      <p:grpSp>
        <p:nvGrpSpPr>
          <p:cNvPr id="11" name="p1"/>
          <p:cNvGrpSpPr/>
          <p:nvPr/>
        </p:nvGrpSpPr>
        <p:grpSpPr>
          <a:xfrm>
            <a:off x="838200" y="2089150"/>
            <a:ext cx="2905963" cy="869696"/>
            <a:chOff x="838200" y="2089150"/>
            <a:chExt cx="2905963" cy="869696"/>
          </a:xfrm>
        </p:grpSpPr>
        <p:sp>
          <p:nvSpPr>
            <p:cNvPr id="6" name="Ellipse 6"/>
            <p:cNvSpPr/>
            <p:nvPr/>
          </p:nvSpPr>
          <p:spPr>
            <a:xfrm>
              <a:off x="838200" y="2152650"/>
              <a:ext cx="304800" cy="3048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34367" y="2219325"/>
              <a:ext cx="1124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88161" y="208915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颜色空间的选择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9304" y="2438400"/>
              <a:ext cx="24548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RGB 直观，HSV 更适合按色调分割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9304" y="2724150"/>
              <a:ext cx="2334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识别任务优先在 HSV 上设定阈值</a:t>
              </a:r>
            </a:p>
          </p:txBody>
        </p:sp>
      </p:grpSp>
      <p:grpSp>
        <p:nvGrpSpPr>
          <p:cNvPr id="17" name="p2"/>
          <p:cNvGrpSpPr/>
          <p:nvPr/>
        </p:nvGrpSpPr>
        <p:grpSpPr>
          <a:xfrm>
            <a:off x="838200" y="3498850"/>
            <a:ext cx="3048000" cy="869696"/>
            <a:chOff x="838200" y="3498850"/>
            <a:chExt cx="3048000" cy="869696"/>
          </a:xfrm>
        </p:grpSpPr>
        <p:sp>
          <p:nvSpPr>
            <p:cNvPr id="12" name="Ellipse 12"/>
            <p:cNvSpPr/>
            <p:nvPr/>
          </p:nvSpPr>
          <p:spPr>
            <a:xfrm>
              <a:off x="838200" y="3562350"/>
              <a:ext cx="304800" cy="304800"/>
            </a:xfrm>
            <a:prstGeom prst="ellipse">
              <a:avLst/>
            </a:prstGeom>
            <a:solidFill>
              <a:srgbClr val="2E74B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4367" y="3629025"/>
              <a:ext cx="1124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88161" y="3498850"/>
              <a:ext cx="19557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阈值分割的关键是“调”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89304" y="384810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阈值不是固定值，随光照与背景变化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89304" y="413385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调完必须记录，否则无法复现</a:t>
              </a:r>
            </a:p>
          </p:txBody>
        </p:sp>
      </p:grpSp>
      <p:grpSp>
        <p:nvGrpSpPr>
          <p:cNvPr id="23" name="p3"/>
          <p:cNvGrpSpPr/>
          <p:nvPr/>
        </p:nvGrpSpPr>
        <p:grpSpPr>
          <a:xfrm>
            <a:off x="838200" y="4908550"/>
            <a:ext cx="2724912" cy="869696"/>
            <a:chOff x="838200" y="4908550"/>
            <a:chExt cx="2724912" cy="869696"/>
          </a:xfrm>
        </p:grpSpPr>
        <p:sp>
          <p:nvSpPr>
            <p:cNvPr id="18" name="Ellipse 18"/>
            <p:cNvSpPr/>
            <p:nvPr/>
          </p:nvSpPr>
          <p:spPr>
            <a:xfrm>
              <a:off x="838200" y="4972050"/>
              <a:ext cx="304800" cy="304800"/>
            </a:xfrm>
            <a:prstGeom prst="ellipse">
              <a:avLst/>
            </a:prstGeom>
            <a:solidFill>
              <a:srgbClr val="E8B34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4367" y="5038725"/>
              <a:ext cx="1124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88161" y="4908550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2742"/>
                  </a:solidFill>
                  <a:latin typeface="+mn-lt"/>
                  <a:ea typeface="+mn-ea"/>
                  <a:cs typeface="+mn-cs"/>
                </a:rPr>
                <a:t>识别流程要标准化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89304" y="5257800"/>
              <a:ext cx="18618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采集 → 定位 → 解码 → 输出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89304" y="554355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B62"/>
                  </a:solidFill>
                  <a:latin typeface="+mn-lt"/>
                  <a:ea typeface="+mn-ea"/>
                  <a:cs typeface="+mn-cs"/>
                </a:rPr>
                <a:t>流程图是小组分工与验收的依据</a:t>
              </a:r>
            </a:p>
          </p:txBody>
        </p:sp>
      </p:grpSp>
      <p:grpSp>
        <p:nvGrpSpPr>
          <p:cNvPr id="30" name="closing"/>
          <p:cNvGrpSpPr/>
          <p:nvPr/>
        </p:nvGrpSpPr>
        <p:grpSpPr>
          <a:xfrm>
            <a:off x="7962900" y="1676400"/>
            <a:ext cx="3619500" cy="4324350"/>
            <a:chOff x="7962900" y="1676400"/>
            <a:chExt cx="3619500" cy="4324350"/>
          </a:xfrm>
        </p:grpSpPr>
        <p:sp>
          <p:nvSpPr>
            <p:cNvPr id="24" name="Rectangle 24"/>
            <p:cNvSpPr/>
            <p:nvPr/>
          </p:nvSpPr>
          <p:spPr>
            <a:xfrm>
              <a:off x="7962900" y="1809750"/>
              <a:ext cx="3543300" cy="4191000"/>
            </a:xfrm>
            <a:prstGeom prst="roundRect">
              <a:avLst>
                <a:gd name="adj" fmla="val 4839"/>
              </a:avLst>
            </a:prstGeom>
            <a:solidFill>
              <a:srgbClr val="123A6B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753600" y="1676400"/>
              <a:ext cx="1828800" cy="1828800"/>
            </a:xfrm>
            <a:prstGeom prst="ellipse">
              <a:avLst/>
            </a:prstGeom>
            <a:solidFill>
              <a:srgbClr val="1B4F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04860" y="410845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下节预告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13623" y="472440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7DAEF"/>
                  </a:solidFill>
                  <a:latin typeface="+mn-lt"/>
                  <a:ea typeface="+mn-ea"/>
                  <a:cs typeface="+mn-cs"/>
                </a:rPr>
                <a:t>视觉导航功能联调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420100" y="5143500"/>
              <a:ext cx="1104900" cy="9525"/>
            </a:xfrm>
            <a:custGeom>
              <a:avLst/>
              <a:gdLst/>
              <a:ahLst/>
              <a:cxnLst/>
              <a:rect l="l" t="t" r="r" b="b"/>
              <a:pathLst>
                <a:path w="1104900" h="9525">
                  <a:moveTo>
                    <a:pt x="0" y="0"/>
                  </a:moveTo>
                  <a:lnTo>
                    <a:pt x="1104900" y="0"/>
                  </a:lnTo>
                </a:path>
              </a:pathLst>
            </a:custGeom>
            <a:noFill/>
            <a:ln w="38100">
              <a:solidFill>
                <a:srgbClr val="E8B34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14004" y="535305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C3E6"/>
                  </a:solidFill>
                  <a:latin typeface="+mn-lt"/>
                  <a:ea typeface="+mn-ea"/>
                  <a:cs typeface="+mn-cs"/>
                </a:rPr>
                <a:t>把识别结果接到机器人动作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80085" y="6375400"/>
            <a:ext cx="10831830" cy="220028"/>
            <a:chOff x="680085" y="6375400"/>
            <a:chExt cx="10831830" cy="220028"/>
          </a:xfrm>
        </p:grpSpPr>
        <p:sp>
          <p:nvSpPr>
            <p:cNvPr id="31" name="TextBox 31"/>
            <p:cNvSpPr txBox="1"/>
            <p:nvPr/>
          </p:nvSpPr>
          <p:spPr>
            <a:xfrm>
              <a:off x="680085" y="6375400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智能产品安装与调试 · 颜色与二维码识别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334633" y="63754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494A8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w9_color_qr">
  <a:themeElements>
    <a:clrScheme name="w9_color_q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9_color_qr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9_color_q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2026-10-21T07:05:50Z</dcterms:created>
  <dcterms:modified xsi:type="dcterms:W3CDTF">2026-10-21T07:05:50Z</dcterms:modified>
  <cp:category/>
  <cp:contentStatus/>
</cp:coreProperties>
</file>
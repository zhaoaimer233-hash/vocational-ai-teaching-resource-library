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w9_visual_nav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9_visual_nav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band"/>
          <p:cNvGrpSpPr/>
          <p:nvPr/>
        </p:nvGrpSpPr>
        <p:grpSpPr>
          <a:xfrm>
            <a:off x="-1123950" y="-514350"/>
            <a:ext cx="6096000" cy="8572500"/>
            <a:chOff x="-1123950" y="-514350"/>
            <a:chExt cx="6096000" cy="8572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4381500" cy="6858000"/>
            </a:xfrm>
            <a:prstGeom prst="rect">
              <a:avLst/>
            </a:prstGeom>
            <a:solidFill>
              <a:srgbClr val="123A6B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2114550" y="-514350"/>
              <a:ext cx="2857500" cy="2857500"/>
            </a:xfrm>
            <a:prstGeom prst="ellipse">
              <a:avLst/>
            </a:prstGeom>
            <a:solidFill>
              <a:srgbClr val="1B4F8F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123950" y="4438650"/>
              <a:ext cx="3619500" cy="3619500"/>
            </a:xfrm>
            <a:prstGeom prst="ellipse">
              <a:avLst/>
            </a:prstGeom>
            <a:solidFill>
              <a:srgbClr val="1B4F8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9130" y="965200"/>
              <a:ext cx="20848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spc="300" dirty="0">
                  <a:solidFill>
                    <a:srgbClr val="9CC3E6"/>
                  </a:solidFill>
                  <a:latin typeface="+mn-lt"/>
                  <a:ea typeface="+mn-ea"/>
                  <a:cs typeface="+mn-cs"/>
                </a:rPr>
                <a:t>SMART PRODUCT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5320" y="1397000"/>
              <a:ext cx="26345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9 周 · 第 2 次课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59892" y="2692400"/>
              <a:ext cx="431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CC3E6"/>
                  </a:solidFill>
                  <a:latin typeface="+mn-lt"/>
                  <a:ea typeface="+mn-ea"/>
                  <a:cs typeface="+mn-cs"/>
                </a:rPr>
                <a:t>课 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57606" y="300355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智能产品安装与调试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59892" y="36068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CC3E6"/>
                  </a:solidFill>
                  <a:latin typeface="+mn-lt"/>
                  <a:ea typeface="+mn-ea"/>
                  <a:cs typeface="+mn-cs"/>
                </a:rPr>
                <a:t>授课班级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8368" y="3911600"/>
              <a:ext cx="31139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2024级人工智能技术应用班-G5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9892" y="45021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CC3E6"/>
                  </a:solidFill>
                  <a:latin typeface="+mn-lt"/>
                  <a:ea typeface="+mn-ea"/>
                  <a:cs typeface="+mn-cs"/>
                </a:rPr>
                <a:t>授课教师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7606" y="479425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李国栋</a:t>
              </a:r>
            </a:p>
          </p:txBody>
        </p:sp>
      </p:grpSp>
      <p:grpSp>
        <p:nvGrpSpPr>
          <p:cNvPr id="18" name="title-block"/>
          <p:cNvGrpSpPr/>
          <p:nvPr/>
        </p:nvGrpSpPr>
        <p:grpSpPr>
          <a:xfrm>
            <a:off x="5124450" y="2286000"/>
            <a:ext cx="3281355" cy="2347341"/>
            <a:chOff x="5124450" y="2286000"/>
            <a:chExt cx="3281355" cy="2347341"/>
          </a:xfrm>
        </p:grpSpPr>
        <p:sp>
          <p:nvSpPr>
            <p:cNvPr id="14" name="Rectangle 14"/>
            <p:cNvSpPr/>
            <p:nvPr/>
          </p:nvSpPr>
          <p:spPr>
            <a:xfrm>
              <a:off x="5143500" y="2286000"/>
              <a:ext cx="685800" cy="76200"/>
            </a:xfrm>
            <a:prstGeom prst="rect">
              <a:avLst/>
            </a:prstGeom>
            <a:solidFill>
              <a:srgbClr val="E8B34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24450" y="2628900"/>
              <a:ext cx="2542032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视觉导航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24450" y="3467100"/>
              <a:ext cx="2542032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2E74B5"/>
                  </a:solidFill>
                  <a:latin typeface="+mn-lt"/>
                  <a:ea typeface="+mn-ea"/>
                  <a:cs typeface="+mn-cs"/>
                </a:rPr>
                <a:t>功能联调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35499" y="4324350"/>
              <a:ext cx="327030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识别结果 × 底盘动作 · 稳定性测试</a:t>
              </a:r>
            </a:p>
          </p:txBody>
        </p:sp>
      </p:grpSp>
      <p:grpSp>
        <p:nvGrpSpPr>
          <p:cNvPr id="22" name="meta"/>
          <p:cNvGrpSpPr/>
          <p:nvPr/>
        </p:nvGrpSpPr>
        <p:grpSpPr>
          <a:xfrm>
            <a:off x="5136642" y="5715000"/>
            <a:ext cx="6300216" cy="498983"/>
            <a:chOff x="5136642" y="5715000"/>
            <a:chExt cx="6300216" cy="498983"/>
          </a:xfrm>
        </p:grpSpPr>
        <p:sp>
          <p:nvSpPr>
            <p:cNvPr id="19" name="Line 19"/>
            <p:cNvSpPr/>
            <p:nvPr/>
          </p:nvSpPr>
          <p:spPr>
            <a:xfrm>
              <a:off x="5143500" y="5715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136642" y="594995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课题：移动机器人智能视觉调试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506331" y="5949950"/>
              <a:ext cx="19305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教案流水号 2026-D-16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3996421" cy="840867"/>
            <a:chOff x="685800" y="514350"/>
            <a:chExt cx="3996421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375524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Learning Objectives · 第9周 视觉导航功能联调</a:t>
              </a:r>
            </a:p>
          </p:txBody>
        </p:sp>
      </p:grpSp>
      <p:grpSp>
        <p:nvGrpSpPr>
          <p:cNvPr id="11" name="card-1"/>
          <p:cNvGrpSpPr/>
          <p:nvPr/>
        </p:nvGrpSpPr>
        <p:grpSpPr>
          <a:xfrm>
            <a:off x="685800" y="1809750"/>
            <a:ext cx="5238750" cy="1905000"/>
            <a:chOff x="685800" y="1809750"/>
            <a:chExt cx="5238750" cy="1905000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5238750" cy="1905000"/>
            </a:xfrm>
            <a:prstGeom prst="roundRect">
              <a:avLst>
                <a:gd name="adj" fmla="val 700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80975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218" y="20447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4B5"/>
                  </a:solidFill>
                  <a:latin typeface="+mn-lt"/>
                  <a:ea typeface="+mn-ea"/>
                  <a:cs typeface="+mn-cs"/>
                </a:rPr>
                <a:t>知识目标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3742" y="2520950"/>
              <a:ext cx="3357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1. 说出颜色、二维码识别案例的部署方法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3742" y="2863850"/>
              <a:ext cx="3539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2. 说出识别结果与底盘动作关联的控制逻辑</a:t>
              </a:r>
            </a:p>
          </p:txBody>
        </p:sp>
      </p:grpSp>
      <p:grpSp>
        <p:nvGrpSpPr>
          <p:cNvPr id="17" name="card-2"/>
          <p:cNvGrpSpPr/>
          <p:nvPr/>
        </p:nvGrpSpPr>
        <p:grpSpPr>
          <a:xfrm>
            <a:off x="6267450" y="1809750"/>
            <a:ext cx="5238750" cy="1905000"/>
            <a:chOff x="6267450" y="1809750"/>
            <a:chExt cx="5238750" cy="1905000"/>
          </a:xfrm>
        </p:grpSpPr>
        <p:sp>
          <p:nvSpPr>
            <p:cNvPr id="12" name="Rectangle 12"/>
            <p:cNvSpPr/>
            <p:nvPr/>
          </p:nvSpPr>
          <p:spPr>
            <a:xfrm>
              <a:off x="6267450" y="1809750"/>
              <a:ext cx="5238750" cy="1905000"/>
            </a:xfrm>
            <a:prstGeom prst="roundRect">
              <a:avLst>
                <a:gd name="adj" fmla="val 700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67450" y="180975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1B7F6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63868" y="20447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7F6B"/>
                  </a:solidFill>
                  <a:latin typeface="+mn-lt"/>
                  <a:ea typeface="+mn-ea"/>
                  <a:cs typeface="+mn-cs"/>
                </a:rPr>
                <a:t>技能目标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65392" y="2520950"/>
              <a:ext cx="2630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1. 能部署颜色与二维码识别案例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65392" y="2863850"/>
              <a:ext cx="2994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2. 能关联底盘动作并完成稳定性测试</a:t>
              </a:r>
            </a:p>
          </p:txBody>
        </p:sp>
      </p:grpSp>
      <p:grpSp>
        <p:nvGrpSpPr>
          <p:cNvPr id="23" name="card-3"/>
          <p:cNvGrpSpPr/>
          <p:nvPr/>
        </p:nvGrpSpPr>
        <p:grpSpPr>
          <a:xfrm>
            <a:off x="685800" y="4038600"/>
            <a:ext cx="5238750" cy="1905000"/>
            <a:chOff x="685800" y="4038600"/>
            <a:chExt cx="5238750" cy="1905000"/>
          </a:xfrm>
        </p:grpSpPr>
        <p:sp>
          <p:nvSpPr>
            <p:cNvPr id="18" name="Rectangle 18"/>
            <p:cNvSpPr/>
            <p:nvPr/>
          </p:nvSpPr>
          <p:spPr>
            <a:xfrm>
              <a:off x="685800" y="4038600"/>
              <a:ext cx="5238750" cy="1905000"/>
            </a:xfrm>
            <a:prstGeom prst="roundRect">
              <a:avLst>
                <a:gd name="adj" fmla="val 700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403860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B4762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2218" y="42735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B4762A"/>
                  </a:solidFill>
                  <a:latin typeface="+mn-lt"/>
                  <a:ea typeface="+mn-ea"/>
                  <a:cs typeface="+mn-cs"/>
                </a:rPr>
                <a:t>职业素养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3742" y="4749800"/>
              <a:ext cx="3175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1. 培养规范联调、严谨测试的职业习惯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3742" y="5092700"/>
              <a:ext cx="2267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2. 强化团队协作与质量意识</a:t>
              </a:r>
            </a:p>
          </p:txBody>
        </p:sp>
      </p:grpSp>
      <p:grpSp>
        <p:nvGrpSpPr>
          <p:cNvPr id="29" name="card-4"/>
          <p:cNvGrpSpPr/>
          <p:nvPr/>
        </p:nvGrpSpPr>
        <p:grpSpPr>
          <a:xfrm>
            <a:off x="6267450" y="4038600"/>
            <a:ext cx="5238750" cy="1905000"/>
            <a:chOff x="6267450" y="4038600"/>
            <a:chExt cx="5238750" cy="1905000"/>
          </a:xfrm>
        </p:grpSpPr>
        <p:sp>
          <p:nvSpPr>
            <p:cNvPr id="24" name="Rectangle 24"/>
            <p:cNvSpPr/>
            <p:nvPr/>
          </p:nvSpPr>
          <p:spPr>
            <a:xfrm>
              <a:off x="6267450" y="4038600"/>
              <a:ext cx="5238750" cy="1905000"/>
            </a:xfrm>
            <a:prstGeom prst="roundRect">
              <a:avLst>
                <a:gd name="adj" fmla="val 700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67450" y="403860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7A4E9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63868" y="42735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7A4E9E"/>
                  </a:solidFill>
                  <a:latin typeface="+mn-lt"/>
                  <a:ea typeface="+mn-ea"/>
                  <a:cs typeface="+mn-cs"/>
                </a:rPr>
                <a:t>思政目标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65392" y="4749800"/>
              <a:ext cx="39028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1. 认识视觉导航在智能物流与无人系统中的应用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65392" y="5092700"/>
              <a:ext cx="2630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2. 树立系统思维与工程责任意识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30" name="TextBox 30"/>
            <p:cNvSpPr txBox="1"/>
            <p:nvPr/>
          </p:nvSpPr>
          <p:spPr>
            <a:xfrm>
              <a:off x="680085" y="6375400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智能产品安装与调试 · 视觉导航功能联调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3312414" cy="840867"/>
            <a:chOff x="685800" y="514350"/>
            <a:chExt cx="3312414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30982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视觉导航系统组成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25976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感知、决策、执行三部分连成闭环</a:t>
              </a:r>
            </a:p>
          </p:txBody>
        </p:sp>
      </p:grpSp>
      <p:grpSp>
        <p:nvGrpSpPr>
          <p:cNvPr id="11" name="blk-1"/>
          <p:cNvGrpSpPr/>
          <p:nvPr/>
        </p:nvGrpSpPr>
        <p:grpSpPr>
          <a:xfrm>
            <a:off x="685800" y="2190750"/>
            <a:ext cx="2705100" cy="2095500"/>
            <a:chOff x="685800" y="2190750"/>
            <a:chExt cx="2705100" cy="2095500"/>
          </a:xfrm>
        </p:grpSpPr>
        <p:sp>
          <p:nvSpPr>
            <p:cNvPr id="6" name="Rectangle 6"/>
            <p:cNvSpPr/>
            <p:nvPr/>
          </p:nvSpPr>
          <p:spPr>
            <a:xfrm>
              <a:off x="685800" y="2190750"/>
              <a:ext cx="2705100" cy="2095500"/>
            </a:xfrm>
            <a:prstGeom prst="roundRect">
              <a:avLst>
                <a:gd name="adj" fmla="val 7273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2190750"/>
              <a:ext cx="2705100" cy="571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218" y="257810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4504" y="2990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采集画面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4885" y="3498850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环节 1</a:t>
              </a:r>
            </a:p>
          </p:txBody>
        </p:sp>
      </p:grpSp>
      <p:grpSp>
        <p:nvGrpSpPr>
          <p:cNvPr id="17" name="blk-2"/>
          <p:cNvGrpSpPr/>
          <p:nvPr/>
        </p:nvGrpSpPr>
        <p:grpSpPr>
          <a:xfrm>
            <a:off x="3390900" y="2190750"/>
            <a:ext cx="2705100" cy="2095500"/>
            <a:chOff x="3390900" y="2190750"/>
            <a:chExt cx="27051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3390900" y="2190750"/>
              <a:ext cx="2705100" cy="2095500"/>
            </a:xfrm>
            <a:prstGeom prst="roundRect">
              <a:avLst>
                <a:gd name="adj" fmla="val 7273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390900" y="2190750"/>
              <a:ext cx="2705100" cy="57150"/>
            </a:xfrm>
            <a:prstGeom prst="roundRect">
              <a:avLst>
                <a:gd name="adj" fmla="val 50000"/>
              </a:avLst>
            </a:prstGeom>
            <a:solidFill>
              <a:srgbClr val="1B7F6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87318" y="25781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主控程序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89604" y="29908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识别与决策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89985" y="3498850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环节 2</a:t>
              </a:r>
            </a:p>
          </p:txBody>
        </p:sp>
      </p:grpSp>
      <p:grpSp>
        <p:nvGrpSpPr>
          <p:cNvPr id="23" name="blk-3"/>
          <p:cNvGrpSpPr/>
          <p:nvPr/>
        </p:nvGrpSpPr>
        <p:grpSpPr>
          <a:xfrm>
            <a:off x="6096000" y="2190750"/>
            <a:ext cx="2705100" cy="2095500"/>
            <a:chOff x="6096000" y="2190750"/>
            <a:chExt cx="2705100" cy="2095500"/>
          </a:xfrm>
        </p:grpSpPr>
        <p:sp>
          <p:nvSpPr>
            <p:cNvPr id="18" name="Rectangle 18"/>
            <p:cNvSpPr/>
            <p:nvPr/>
          </p:nvSpPr>
          <p:spPr>
            <a:xfrm>
              <a:off x="6096000" y="2190750"/>
              <a:ext cx="2705100" cy="2095500"/>
            </a:xfrm>
            <a:prstGeom prst="roundRect">
              <a:avLst>
                <a:gd name="adj" fmla="val 7273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96000" y="2190750"/>
              <a:ext cx="2705100" cy="57150"/>
            </a:xfrm>
            <a:prstGeom prst="roundRect">
              <a:avLst>
                <a:gd name="adj" fmla="val 50000"/>
              </a:avLst>
            </a:prstGeom>
            <a:solidFill>
              <a:srgbClr val="B4762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92418" y="25781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底盘驱动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94704" y="2990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执行动作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95085" y="3498850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环节 3</a:t>
              </a:r>
            </a:p>
          </p:txBody>
        </p:sp>
      </p:grpSp>
      <p:grpSp>
        <p:nvGrpSpPr>
          <p:cNvPr id="29" name="blk-4"/>
          <p:cNvGrpSpPr/>
          <p:nvPr/>
        </p:nvGrpSpPr>
        <p:grpSpPr>
          <a:xfrm>
            <a:off x="8801100" y="2190750"/>
            <a:ext cx="2705100" cy="2095500"/>
            <a:chOff x="8801100" y="2190750"/>
            <a:chExt cx="27051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8801100" y="2190750"/>
              <a:ext cx="2705100" cy="2095500"/>
            </a:xfrm>
            <a:prstGeom prst="roundRect">
              <a:avLst>
                <a:gd name="adj" fmla="val 7273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801100" y="2190750"/>
              <a:ext cx="2705100" cy="57150"/>
            </a:xfrm>
            <a:prstGeom prst="roundRect">
              <a:avLst>
                <a:gd name="adj" fmla="val 50000"/>
              </a:avLst>
            </a:prstGeom>
            <a:solidFill>
              <a:srgbClr val="7A4E9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97518" y="25781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反馈校验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99804" y="2990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确认结果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00185" y="3498850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环节 4</a:t>
              </a:r>
            </a:p>
          </p:txBody>
        </p:sp>
      </p:grpSp>
      <p:grpSp>
        <p:nvGrpSpPr>
          <p:cNvPr id="34" name="loop"/>
          <p:cNvGrpSpPr/>
          <p:nvPr/>
        </p:nvGrpSpPr>
        <p:grpSpPr>
          <a:xfrm>
            <a:off x="685800" y="4629150"/>
            <a:ext cx="10820400" cy="1428750"/>
            <a:chOff x="685800" y="4629150"/>
            <a:chExt cx="10820400" cy="1428750"/>
          </a:xfrm>
        </p:grpSpPr>
        <p:sp>
          <p:nvSpPr>
            <p:cNvPr id="30" name="Rectangle 30"/>
            <p:cNvSpPr/>
            <p:nvPr/>
          </p:nvSpPr>
          <p:spPr>
            <a:xfrm>
              <a:off x="685800" y="4629150"/>
              <a:ext cx="10820400" cy="1428750"/>
            </a:xfrm>
            <a:prstGeom prst="roundRect">
              <a:avLst>
                <a:gd name="adj" fmla="val 9333"/>
              </a:avLst>
            </a:prstGeom>
            <a:solidFill>
              <a:srgbClr val="EAF2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3361" y="4851400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闭环逻辑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4123" y="5238750"/>
              <a:ext cx="752582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摄像头采集画面 → 主控识别颜色或二维码 → 输出识别结果 → 底盘按约定动作行驶 → 再次采集确认。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4123" y="5581650"/>
              <a:ext cx="50272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任一环节出错，车辆都会“看得见却走不对”，因此必须逐段排查。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35" name="TextBox 35"/>
            <p:cNvSpPr txBox="1"/>
            <p:nvPr/>
          </p:nvSpPr>
          <p:spPr>
            <a:xfrm>
              <a:off x="680085" y="6375400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智能产品安装与调试 · 视觉导航功能联调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3355772" cy="840867"/>
            <a:chOff x="685800" y="514350"/>
            <a:chExt cx="3355772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识别案例部署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311459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把上节课验证过的识别程序接入整车工程</a:t>
              </a:r>
            </a:p>
          </p:txBody>
        </p:sp>
      </p:grpSp>
      <p:grpSp>
        <p:nvGrpSpPr>
          <p:cNvPr id="14" name="case-color"/>
          <p:cNvGrpSpPr/>
          <p:nvPr/>
        </p:nvGrpSpPr>
        <p:grpSpPr>
          <a:xfrm>
            <a:off x="685800" y="1905000"/>
            <a:ext cx="5238750" cy="2857500"/>
            <a:chOff x="685800" y="1905000"/>
            <a:chExt cx="5238750" cy="2857500"/>
          </a:xfrm>
        </p:grpSpPr>
        <p:sp>
          <p:nvSpPr>
            <p:cNvPr id="6" name="Rectangle 6"/>
            <p:cNvSpPr/>
            <p:nvPr/>
          </p:nvSpPr>
          <p:spPr>
            <a:xfrm>
              <a:off x="685800" y="1905000"/>
              <a:ext cx="5238750" cy="2857500"/>
            </a:xfrm>
            <a:prstGeom prst="roundRect">
              <a:avLst>
                <a:gd name="adj" fmla="val 5333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905000"/>
              <a:ext cx="5238750" cy="571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599" y="2266950"/>
              <a:ext cx="12922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颜色识别案例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4123" y="2724150"/>
              <a:ext cx="197732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1. 载入颜色阈值配置文件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4123" y="3086100"/>
              <a:ext cx="197732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2. 打开摄像头并采集画面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4123" y="3448050"/>
              <a:ext cx="214964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3. 输出目标颜色与中心坐标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4123" y="3810000"/>
              <a:ext cx="180501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4. 在画面上标注识别框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4885" y="426085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验证：遮挡、移开时识别结果应随之变化</a:t>
              </a:r>
            </a:p>
          </p:txBody>
        </p:sp>
      </p:grpSp>
      <p:grpSp>
        <p:nvGrpSpPr>
          <p:cNvPr id="23" name="case-qr"/>
          <p:cNvGrpSpPr/>
          <p:nvPr/>
        </p:nvGrpSpPr>
        <p:grpSpPr>
          <a:xfrm>
            <a:off x="6267450" y="1905000"/>
            <a:ext cx="5238750" cy="2857500"/>
            <a:chOff x="6267450" y="1905000"/>
            <a:chExt cx="5238750" cy="2857500"/>
          </a:xfrm>
        </p:grpSpPr>
        <p:sp>
          <p:nvSpPr>
            <p:cNvPr id="15" name="Rectangle 15"/>
            <p:cNvSpPr/>
            <p:nvPr/>
          </p:nvSpPr>
          <p:spPr>
            <a:xfrm>
              <a:off x="6267450" y="1905000"/>
              <a:ext cx="5238750" cy="2857500"/>
            </a:xfrm>
            <a:prstGeom prst="roundRect">
              <a:avLst>
                <a:gd name="adj" fmla="val 5333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267450" y="1905000"/>
              <a:ext cx="5238750" cy="57150"/>
            </a:xfrm>
            <a:prstGeom prst="roundRect">
              <a:avLst>
                <a:gd name="adj" fmla="val 50000"/>
              </a:avLst>
            </a:prstGeom>
            <a:solidFill>
              <a:srgbClr val="1B7F6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64249" y="2266950"/>
              <a:ext cx="15048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E5B4C"/>
                  </a:solidFill>
                  <a:latin typeface="+mn-lt"/>
                  <a:ea typeface="+mn-ea"/>
                  <a:cs typeface="+mn-cs"/>
                </a:rPr>
                <a:t>二维码识别案例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5773" y="2724150"/>
              <a:ext cx="180501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1. 载入二维码识别模块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65773" y="3086100"/>
              <a:ext cx="163270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2. 摄像头对准二维码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65773" y="3448050"/>
              <a:ext cx="180501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3. 解码并打印识别内容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65773" y="3810000"/>
              <a:ext cx="128807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4. 保存识别日志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66535" y="4260850"/>
              <a:ext cx="2446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验证：不同距离、不同角度各测 5 次</a:t>
              </a:r>
            </a:p>
          </p:txBody>
        </p:sp>
      </p:grpSp>
      <p:grpSp>
        <p:nvGrpSpPr>
          <p:cNvPr id="28" name="note"/>
          <p:cNvGrpSpPr/>
          <p:nvPr/>
        </p:nvGrpSpPr>
        <p:grpSpPr>
          <a:xfrm>
            <a:off x="685800" y="5010150"/>
            <a:ext cx="10820400" cy="1085850"/>
            <a:chOff x="685800" y="5010150"/>
            <a:chExt cx="10820400" cy="1085850"/>
          </a:xfrm>
        </p:grpSpPr>
        <p:sp>
          <p:nvSpPr>
            <p:cNvPr id="24" name="Rectangle 24"/>
            <p:cNvSpPr/>
            <p:nvPr/>
          </p:nvSpPr>
          <p:spPr>
            <a:xfrm>
              <a:off x="685800" y="5010150"/>
              <a:ext cx="10820400" cy="1085850"/>
            </a:xfrm>
            <a:prstGeom prst="roundRect">
              <a:avLst>
                <a:gd name="adj" fmla="val 12281"/>
              </a:avLst>
            </a:prstGeom>
            <a:solidFill>
              <a:srgbClr val="FFF8E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5800" y="5010150"/>
              <a:ext cx="57150" cy="1085850"/>
            </a:xfrm>
            <a:prstGeom prst="roundRect">
              <a:avLst>
                <a:gd name="adj" fmla="val 50000"/>
              </a:avLst>
            </a:prstGeom>
            <a:solidFill>
              <a:srgbClr val="E8B34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3742" y="52070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5A17"/>
                  </a:solidFill>
                  <a:latin typeface="+mn-lt"/>
                  <a:ea typeface="+mn-ea"/>
                  <a:cs typeface="+mn-cs"/>
                </a:rPr>
                <a:t>部署注意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4504" y="5543550"/>
              <a:ext cx="88971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5B2A"/>
                  </a:solidFill>
                  <a:latin typeface="+mn-lt"/>
                  <a:ea typeface="+mn-ea"/>
                  <a:cs typeface="+mn-cs"/>
                </a:rPr>
                <a:t>识别程序要在整车工程中独立成模块，输入画面、输出结果，不要把识别代码和底盘控制代码混在一起，否则很难定位问题。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29" name="TextBox 29"/>
            <p:cNvSpPr txBox="1"/>
            <p:nvPr/>
          </p:nvSpPr>
          <p:spPr>
            <a:xfrm>
              <a:off x="680085" y="6375400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智能产品安装与调试 · 视觉导航功能联调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3775692" cy="840867"/>
            <a:chOff x="685800" y="514350"/>
            <a:chExt cx="3775692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356157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识别结果 → 底盘动作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24253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先定规则，再写代码，最后测试</a:t>
              </a:r>
            </a:p>
          </p:txBody>
        </p:sp>
      </p:grpSp>
      <p:grpSp>
        <p:nvGrpSpPr>
          <p:cNvPr id="24" name="table"/>
          <p:cNvGrpSpPr/>
          <p:nvPr/>
        </p:nvGrpSpPr>
        <p:grpSpPr>
          <a:xfrm>
            <a:off x="685800" y="1905000"/>
            <a:ext cx="6667500" cy="3619500"/>
            <a:chOff x="685800" y="1905000"/>
            <a:chExt cx="6667500" cy="3619500"/>
          </a:xfrm>
        </p:grpSpPr>
        <p:sp>
          <p:nvSpPr>
            <p:cNvPr id="6" name="Rectangle 6"/>
            <p:cNvSpPr/>
            <p:nvPr/>
          </p:nvSpPr>
          <p:spPr>
            <a:xfrm>
              <a:off x="685800" y="1905000"/>
              <a:ext cx="6667500" cy="3619500"/>
            </a:xfrm>
            <a:prstGeom prst="roundRect">
              <a:avLst>
                <a:gd name="adj" fmla="val 4211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2599" y="2190750"/>
              <a:ext cx="12922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映射规则示例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90600" y="2647950"/>
              <a:ext cx="2857500" cy="419100"/>
            </a:xfrm>
            <a:prstGeom prst="roundRect">
              <a:avLst>
                <a:gd name="adj" fmla="val 18182"/>
              </a:avLst>
            </a:prstGeom>
            <a:solidFill>
              <a:srgbClr val="123A6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3962400" y="2647950"/>
              <a:ext cx="3086100" cy="419100"/>
            </a:xfrm>
            <a:prstGeom prst="roundRect">
              <a:avLst>
                <a:gd name="adj" fmla="val 18182"/>
              </a:avLst>
            </a:prstGeom>
            <a:solidFill>
              <a:srgbClr val="123A6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75004" y="27717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识别结果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46804" y="27717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底盘动作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90600" y="323850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75004" y="34290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识别到红色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46804" y="342900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向前直行 2 秒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990600" y="377190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75004" y="39624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识别到绿色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46804" y="3962400"/>
              <a:ext cx="973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原地左转 90°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990600" y="430530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75004" y="4495800"/>
              <a:ext cx="11265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识别到二维码 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46804" y="449580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沿路线 1 巡检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483870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75004" y="50292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未识别到目标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46804" y="50292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停车并提示</a:t>
              </a:r>
            </a:p>
          </p:txBody>
        </p:sp>
      </p:grpSp>
      <p:grpSp>
        <p:nvGrpSpPr>
          <p:cNvPr id="34" name="logic"/>
          <p:cNvGrpSpPr/>
          <p:nvPr/>
        </p:nvGrpSpPr>
        <p:grpSpPr>
          <a:xfrm>
            <a:off x="7658100" y="1905000"/>
            <a:ext cx="3848100" cy="3619500"/>
            <a:chOff x="7658100" y="1905000"/>
            <a:chExt cx="3848100" cy="3619500"/>
          </a:xfrm>
        </p:grpSpPr>
        <p:sp>
          <p:nvSpPr>
            <p:cNvPr id="25" name="Rectangle 25"/>
            <p:cNvSpPr/>
            <p:nvPr/>
          </p:nvSpPr>
          <p:spPr>
            <a:xfrm>
              <a:off x="7658100" y="1905000"/>
              <a:ext cx="3848100" cy="3619500"/>
            </a:xfrm>
            <a:prstGeom prst="roundRect">
              <a:avLst>
                <a:gd name="adj" fmla="val 4211"/>
              </a:avLst>
            </a:prstGeom>
            <a:solidFill>
              <a:srgbClr val="EAF2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54899" y="21907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实现思路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56804" y="2705100"/>
              <a:ext cx="12076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1. 读取识别结果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56804" y="3067050"/>
              <a:ext cx="16922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2. 用分支语句匹配规则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56804" y="3429000"/>
              <a:ext cx="1530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3. 调用底盘运动函数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56804" y="3790950"/>
              <a:ext cx="16922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4. 加入超时与异常处理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7962900" y="42481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C6D6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57185" y="448945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规则要写成表，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57185" y="473710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便于修改与验收。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35" name="TextBox 35"/>
            <p:cNvSpPr txBox="1"/>
            <p:nvPr/>
          </p:nvSpPr>
          <p:spPr>
            <a:xfrm>
              <a:off x="680085" y="6375400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智能产品安装与调试 · 视觉导航功能联调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3528085" cy="840867"/>
            <a:chOff x="685800" y="514350"/>
            <a:chExt cx="3528085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30982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稳定性测试与优化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32869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同一任务连续跑多次，看成功率与失败原因</a:t>
              </a:r>
            </a:p>
          </p:txBody>
        </p:sp>
      </p:grpSp>
      <p:grpSp>
        <p:nvGrpSpPr>
          <p:cNvPr id="13" name="test"/>
          <p:cNvGrpSpPr/>
          <p:nvPr/>
        </p:nvGrpSpPr>
        <p:grpSpPr>
          <a:xfrm>
            <a:off x="685800" y="1905000"/>
            <a:ext cx="5238750" cy="2857500"/>
            <a:chOff x="685800" y="1905000"/>
            <a:chExt cx="5238750" cy="2857500"/>
          </a:xfrm>
        </p:grpSpPr>
        <p:sp>
          <p:nvSpPr>
            <p:cNvPr id="6" name="Rectangle 6"/>
            <p:cNvSpPr/>
            <p:nvPr/>
          </p:nvSpPr>
          <p:spPr>
            <a:xfrm>
              <a:off x="685800" y="1905000"/>
              <a:ext cx="5238750" cy="2857500"/>
            </a:xfrm>
            <a:prstGeom prst="roundRect">
              <a:avLst>
                <a:gd name="adj" fmla="val 5333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2599" y="220980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测试方法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4123" y="2686050"/>
              <a:ext cx="180501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1. 固定路线与光照条件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4123" y="3048000"/>
              <a:ext cx="175332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2. 连续执行任务 10 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4123" y="3409950"/>
              <a:ext cx="214964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3. 记录成功次数与失败现象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4123" y="3771900"/>
              <a:ext cx="163270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4. 分类统计失败原因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4885" y="422275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建议两人一组：一人操作，一人记录</a:t>
              </a:r>
            </a:p>
          </p:txBody>
        </p:sp>
      </p:grpSp>
      <p:grpSp>
        <p:nvGrpSpPr>
          <p:cNvPr id="21" name="opt"/>
          <p:cNvGrpSpPr/>
          <p:nvPr/>
        </p:nvGrpSpPr>
        <p:grpSpPr>
          <a:xfrm>
            <a:off x="6267450" y="1905000"/>
            <a:ext cx="5238750" cy="2857500"/>
            <a:chOff x="6267450" y="1905000"/>
            <a:chExt cx="5238750" cy="2857500"/>
          </a:xfrm>
        </p:grpSpPr>
        <p:sp>
          <p:nvSpPr>
            <p:cNvPr id="14" name="Rectangle 14"/>
            <p:cNvSpPr/>
            <p:nvPr/>
          </p:nvSpPr>
          <p:spPr>
            <a:xfrm>
              <a:off x="6267450" y="1905000"/>
              <a:ext cx="5238750" cy="2857500"/>
            </a:xfrm>
            <a:prstGeom prst="roundRect">
              <a:avLst>
                <a:gd name="adj" fmla="val 5333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64249" y="2209800"/>
              <a:ext cx="15048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常见问题与对策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65773" y="2686050"/>
              <a:ext cx="21065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识别不稳 → 调整阈值或补光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65773" y="3048000"/>
              <a:ext cx="193425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动作偏差 → 校准转向时间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5773" y="3409950"/>
              <a:ext cx="21065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偶发失败 → 增加重试与超时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65773" y="3771900"/>
              <a:ext cx="193425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节拍过慢 → 简化识别流程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66535" y="42227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每次只改一个参数，改完再测</a:t>
              </a:r>
            </a:p>
          </p:txBody>
        </p:sp>
      </p:grpSp>
      <p:grpSp>
        <p:nvGrpSpPr>
          <p:cNvPr id="26" name="kpi"/>
          <p:cNvGrpSpPr/>
          <p:nvPr/>
        </p:nvGrpSpPr>
        <p:grpSpPr>
          <a:xfrm>
            <a:off x="685800" y="5010150"/>
            <a:ext cx="10820400" cy="1085850"/>
            <a:chOff x="685800" y="5010150"/>
            <a:chExt cx="10820400" cy="1085850"/>
          </a:xfrm>
        </p:grpSpPr>
        <p:sp>
          <p:nvSpPr>
            <p:cNvPr id="22" name="Rectangle 22"/>
            <p:cNvSpPr/>
            <p:nvPr/>
          </p:nvSpPr>
          <p:spPr>
            <a:xfrm>
              <a:off x="685800" y="5010150"/>
              <a:ext cx="10820400" cy="1085850"/>
            </a:xfrm>
            <a:prstGeom prst="roundRect">
              <a:avLst>
                <a:gd name="adj" fmla="val 12281"/>
              </a:avLst>
            </a:prstGeom>
            <a:solidFill>
              <a:srgbClr val="EAF2F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5800" y="5010150"/>
              <a:ext cx="57150" cy="1085850"/>
            </a:xfrm>
            <a:prstGeom prst="roundRect">
              <a:avLst>
                <a:gd name="adj" fmla="val 50000"/>
              </a:avLst>
            </a:prstGeom>
            <a:solidFill>
              <a:srgbClr val="E8B34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3742" y="52260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验收指标建议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4504" y="5562600"/>
              <a:ext cx="6312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任务成功率 ≥ 80%，单次任务耗时稳定，无碰撞与越界；失败时能安全停车并给出提示。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27" name="TextBox 27"/>
            <p:cNvSpPr txBox="1"/>
            <p:nvPr/>
          </p:nvSpPr>
          <p:spPr>
            <a:xfrm>
              <a:off x="680085" y="6375400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智能产品安装与调试 · 视觉导航功能联调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2873294" cy="840867"/>
            <a:chOff x="685800" y="514350"/>
            <a:chExt cx="2873294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本节小结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263212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联调的本质：把“识别”变成“动作”</a:t>
              </a:r>
            </a:p>
          </p:txBody>
        </p:sp>
      </p:grpSp>
      <p:grpSp>
        <p:nvGrpSpPr>
          <p:cNvPr id="11" name="p1"/>
          <p:cNvGrpSpPr/>
          <p:nvPr/>
        </p:nvGrpSpPr>
        <p:grpSpPr>
          <a:xfrm>
            <a:off x="838200" y="2089150"/>
            <a:ext cx="3209544" cy="869696"/>
            <a:chOff x="838200" y="2089150"/>
            <a:chExt cx="3209544" cy="869696"/>
          </a:xfrm>
        </p:grpSpPr>
        <p:sp>
          <p:nvSpPr>
            <p:cNvPr id="6" name="Ellipse 6"/>
            <p:cNvSpPr/>
            <p:nvPr/>
          </p:nvSpPr>
          <p:spPr>
            <a:xfrm>
              <a:off x="838200" y="2152650"/>
              <a:ext cx="304800" cy="3048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34367" y="2219325"/>
              <a:ext cx="1124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88161" y="208915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先部署，再关联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9304" y="243840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识别案例单独验证通过后，再接入整车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9304" y="272415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模块边界清晰，才好排查问题</a:t>
              </a:r>
            </a:p>
          </p:txBody>
        </p:sp>
      </p:grpSp>
      <p:grpSp>
        <p:nvGrpSpPr>
          <p:cNvPr id="17" name="p2"/>
          <p:cNvGrpSpPr/>
          <p:nvPr/>
        </p:nvGrpSpPr>
        <p:grpSpPr>
          <a:xfrm>
            <a:off x="838200" y="3498850"/>
            <a:ext cx="2240280" cy="869696"/>
            <a:chOff x="838200" y="3498850"/>
            <a:chExt cx="2240280" cy="869696"/>
          </a:xfrm>
        </p:grpSpPr>
        <p:sp>
          <p:nvSpPr>
            <p:cNvPr id="12" name="Ellipse 12"/>
            <p:cNvSpPr/>
            <p:nvPr/>
          </p:nvSpPr>
          <p:spPr>
            <a:xfrm>
              <a:off x="838200" y="3562350"/>
              <a:ext cx="304800" cy="3048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4367" y="3629025"/>
              <a:ext cx="1124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88161" y="3498850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规则要成表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89304" y="384810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识别结果与动作一一对应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89304" y="413385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改规则只改表，不改逻辑</a:t>
              </a:r>
            </a:p>
          </p:txBody>
        </p:sp>
      </p:grpSp>
      <p:grpSp>
        <p:nvGrpSpPr>
          <p:cNvPr id="23" name="p3"/>
          <p:cNvGrpSpPr/>
          <p:nvPr/>
        </p:nvGrpSpPr>
        <p:grpSpPr>
          <a:xfrm>
            <a:off x="838200" y="4908550"/>
            <a:ext cx="2886456" cy="869696"/>
            <a:chOff x="838200" y="4908550"/>
            <a:chExt cx="2886456" cy="869696"/>
          </a:xfrm>
        </p:grpSpPr>
        <p:sp>
          <p:nvSpPr>
            <p:cNvPr id="18" name="Ellipse 18"/>
            <p:cNvSpPr/>
            <p:nvPr/>
          </p:nvSpPr>
          <p:spPr>
            <a:xfrm>
              <a:off x="838200" y="4972050"/>
              <a:ext cx="304800" cy="304800"/>
            </a:xfrm>
            <a:prstGeom prst="ellipse">
              <a:avLst/>
            </a:prstGeom>
            <a:solidFill>
              <a:srgbClr val="E8B34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4367" y="5038725"/>
              <a:ext cx="1124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88161" y="490855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稳定性靠测出来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89304" y="525780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连续多次测试，分类统计失败原因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89304" y="554355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一次只改一个参数，改完再测</a:t>
              </a:r>
            </a:p>
          </p:txBody>
        </p:sp>
      </p:grpSp>
      <p:grpSp>
        <p:nvGrpSpPr>
          <p:cNvPr id="30" name="closing"/>
          <p:cNvGrpSpPr/>
          <p:nvPr/>
        </p:nvGrpSpPr>
        <p:grpSpPr>
          <a:xfrm>
            <a:off x="7962900" y="1676400"/>
            <a:ext cx="3619500" cy="4324350"/>
            <a:chOff x="7962900" y="1676400"/>
            <a:chExt cx="3619500" cy="4324350"/>
          </a:xfrm>
        </p:grpSpPr>
        <p:sp>
          <p:nvSpPr>
            <p:cNvPr id="24" name="Rectangle 24"/>
            <p:cNvSpPr/>
            <p:nvPr/>
          </p:nvSpPr>
          <p:spPr>
            <a:xfrm>
              <a:off x="7962900" y="1809750"/>
              <a:ext cx="3543300" cy="4191000"/>
            </a:xfrm>
            <a:prstGeom prst="roundRect">
              <a:avLst>
                <a:gd name="adj" fmla="val 4839"/>
              </a:avLst>
            </a:prstGeom>
            <a:solidFill>
              <a:srgbClr val="123A6B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753600" y="1676400"/>
              <a:ext cx="1828800" cy="1828800"/>
            </a:xfrm>
            <a:prstGeom prst="ellipse">
              <a:avLst/>
            </a:prstGeom>
            <a:solidFill>
              <a:srgbClr val="1B4F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04860" y="410845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下节预告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13623" y="4724400"/>
              <a:ext cx="20807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7DAEF"/>
                  </a:solidFill>
                  <a:latin typeface="+mn-lt"/>
                  <a:ea typeface="+mn-ea"/>
                  <a:cs typeface="+mn-cs"/>
                </a:rPr>
                <a:t>人脸、手势与交通标志识别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420100" y="5143500"/>
              <a:ext cx="1104900" cy="9525"/>
            </a:xfrm>
            <a:custGeom>
              <a:avLst/>
              <a:gdLst/>
              <a:ahLst/>
              <a:cxnLst/>
              <a:rect l="l" t="t" r="r" b="b"/>
              <a:pathLst>
                <a:path w="1104900" h="9525">
                  <a:moveTo>
                    <a:pt x="0" y="0"/>
                  </a:moveTo>
                  <a:lnTo>
                    <a:pt x="1104900" y="0"/>
                  </a:lnTo>
                </a:path>
              </a:pathLst>
            </a:custGeom>
            <a:noFill/>
            <a:ln w="38100">
              <a:solidFill>
                <a:srgbClr val="E8B34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14004" y="535305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C3E6"/>
                  </a:solidFill>
                  <a:latin typeface="+mn-lt"/>
                  <a:ea typeface="+mn-ea"/>
                  <a:cs typeface="+mn-cs"/>
                </a:rPr>
                <a:t>比较不同识别任务的输入条件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31" name="TextBox 31"/>
            <p:cNvSpPr txBox="1"/>
            <p:nvPr/>
          </p:nvSpPr>
          <p:spPr>
            <a:xfrm>
              <a:off x="680085" y="6375400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智能产品安装与调试 · 视觉导航功能联调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w9_visual_nav">
  <a:themeElements>
    <a:clrScheme name="w9_visual_nav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9_visual_nav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9_visual_nav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2026-10-21T07:06:27Z</dcterms:created>
  <dcterms:modified xsi:type="dcterms:W3CDTF">2026-10-21T07:06:27Z</dcterms:modified>
  <cp:category/>
  <cp:contentStatus/>
</cp:coreProperties>
</file>
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1"/>
    <p:sldId id="266" r:id="rId12"/>
    <p:sldId id="267" r:id="rId13"/>
    <p:sldId id="268" r:id="rId14"/>
    <p:sldId id="311" r:id="rId15"/>
    <p:sldId id="312" r:id="rId16"/>
    <p:sldId id="313" r:id="rId17"/>
    <p:sldId id="269" r:id="rId18"/>
    <p:sldId id="270" r:id="rId19"/>
    <p:sldId id="271" r:id="rId20"/>
    <p:sldId id="272" r:id="rId21"/>
    <p:sldId id="273" r:id="rId22"/>
    <p:sldId id="274" r:id="rId23"/>
    <p:sldId id="276" r:id="rId24"/>
    <p:sldId id="277" r:id="rId25"/>
    <p:sldId id="278" r:id="rId26"/>
    <p:sldId id="280" r:id="rId27"/>
    <p:sldId id="281" r:id="rId28"/>
    <p:sldId id="282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8" r:id="rId43"/>
    <p:sldId id="299" r:id="rId44"/>
    <p:sldId id="300" r:id="rId45"/>
    <p:sldId id="302" r:id="rId46"/>
    <p:sldId id="303" r:id="rId47"/>
    <p:sldId id="304" r:id="rId48"/>
    <p:sldId id="305" r:id="rId49"/>
    <p:sldId id="306" r:id="rId50"/>
    <p:sldId id="307" r:id="rId51"/>
    <p:sldId id="309" r:id="rId52"/>
    <p:sldId id="310" r:id="rId53"/>
  </p:sldIdLst>
  <p:sldSz cx="10692130" cy="75603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93" d="100"/>
          <a:sy n="93" d="100"/>
        </p:scale>
        <p:origin x="-78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6749" y="1143000"/>
            <a:ext cx="436450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小朋友借用爸爸妈妈的手机，和Siri、小爱同学等聊聊天，你就会发现它们可以像小朋友一样和你聊天，“你叫什么？”、“你吃了吗？”、“你是男生还是女生？”、“你家在哪？”、“你今天开心吗？”……。</a:t>
            </a:r>
            <a:endParaRPr lang="zh-CN" altLang="en-US"/>
          </a:p>
          <a:p>
            <a:r>
              <a:rPr lang="zh-CN" altLang="en-US"/>
              <a:t>你和小朋友之间都聊什么呢？试着和人工智能语音助力聊聊天吧，可能还会逗得你哈哈笑呢。</a:t>
            </a:r>
            <a:endParaRPr lang="zh-CN" altLang="en-US"/>
          </a:p>
          <a:p>
            <a:r>
              <a:rPr lang="zh-CN" altLang="en-US"/>
              <a:t>除此之外，它们还能替你搜索一些信息：</a:t>
            </a:r>
            <a:endParaRPr lang="zh-CN" altLang="en-US"/>
          </a:p>
          <a:p>
            <a:r>
              <a:rPr lang="zh-CN" altLang="en-US"/>
              <a:t>突然你不会背诵《春晓》这首诗了，试着问Siri吧，“田忌赛马”是什么意思也可以问小爱同学；查日历、查找附近的商城、药店、图书馆等地理位置都可以问它们哦。它们就是人工智能的应用哦，它们能把手机变成聪明 的小秘书。</a:t>
            </a:r>
            <a:endParaRPr lang="zh-CN" altLang="en-US"/>
          </a:p>
          <a:p>
            <a:r>
              <a:rPr lang="zh-CN" altLang="en-US"/>
              <a:t>对了，小朋友们你们可以拿着聊天的智能点读笔和这个类似，比如UU的小鸡球球点读笔，就能自由对话聊天，能问它知识，如果你家里也有，快拿起家里智能点读笔试试吧。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有那一位小朋友小朋友对自己画画有信心</a:t>
            </a:r>
            <a:r>
              <a:rPr lang="zh-CN" altLang="en-US"/>
              <a:t>呢？</a:t>
            </a:r>
            <a:endParaRPr lang="zh-CN" altLang="en-US"/>
          </a:p>
          <a:p>
            <a:r>
              <a:rPr lang="zh-CN" altLang="en-US"/>
              <a:t>跟</a:t>
            </a:r>
            <a:r>
              <a:rPr lang="en-US" altLang="zh-CN"/>
              <a:t>ai</a:t>
            </a:r>
            <a:r>
              <a:rPr lang="zh-CN" altLang="en-US"/>
              <a:t>比试</a:t>
            </a:r>
            <a:r>
              <a:rPr lang="zh-CN" altLang="en-US"/>
              <a:t>一下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6DD26-32A4-2A43-990A-6F7E5E7378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AF604-6CBA-6F4A-A6F6-26E48A4D0EE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microsoft.com/office/2007/relationships/media" Target="../media/media1.mp3"/><Relationship Id="rId3" Type="http://schemas.openxmlformats.org/officeDocument/2006/relationships/audio" Target="../media/media1.mp3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jpeg"/><Relationship Id="rId1" Type="http://schemas.openxmlformats.org/officeDocument/2006/relationships/image" Target="../media/image2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jpeg"/><Relationship Id="rId1" Type="http://schemas.openxmlformats.org/officeDocument/2006/relationships/image" Target="../media/image27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image" Target="../media/image31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image" Target="../media/image36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2.jpeg"/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image" Target="../media/image39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5.jpeg"/><Relationship Id="rId1" Type="http://schemas.openxmlformats.org/officeDocument/2006/relationships/image" Target="../media/image44.jpe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1.jpeg"/><Relationship Id="rId5" Type="http://schemas.openxmlformats.org/officeDocument/2006/relationships/image" Target="../media/image50.jpeg"/><Relationship Id="rId4" Type="http://schemas.openxmlformats.org/officeDocument/2006/relationships/image" Target="../media/image49.jpeg"/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image" Target="../media/image4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2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3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5.jpeg"/><Relationship Id="rId1" Type="http://schemas.openxmlformats.org/officeDocument/2006/relationships/image" Target="../media/image5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7.jpeg"/><Relationship Id="rId1" Type="http://schemas.openxmlformats.org/officeDocument/2006/relationships/image" Target="../media/image56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9.jpeg"/><Relationship Id="rId1" Type="http://schemas.openxmlformats.org/officeDocument/2006/relationships/image" Target="../media/image58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0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2.jpeg"/><Relationship Id="rId1" Type="http://schemas.openxmlformats.org/officeDocument/2006/relationships/image" Target="../media/image61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3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4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6.jpeg"/><Relationship Id="rId1" Type="http://schemas.openxmlformats.org/officeDocument/2006/relationships/image" Target="../media/image65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8.jpeg"/><Relationship Id="rId1" Type="http://schemas.openxmlformats.org/officeDocument/2006/relationships/image" Target="../media/image67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9.jpe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2.jpeg"/><Relationship Id="rId2" Type="http://schemas.openxmlformats.org/officeDocument/2006/relationships/image" Target="../media/image71.jpeg"/><Relationship Id="rId1" Type="http://schemas.openxmlformats.org/officeDocument/2006/relationships/image" Target="../media/image70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4.jpeg"/><Relationship Id="rId1" Type="http://schemas.openxmlformats.org/officeDocument/2006/relationships/image" Target="../media/image73.jpeg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5.png"/><Relationship Id="rId3" Type="http://schemas.openxmlformats.org/officeDocument/2006/relationships/tags" Target="../tags/tag1.xml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6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7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9.jpeg"/><Relationship Id="rId1" Type="http://schemas.openxmlformats.org/officeDocument/2006/relationships/image" Target="../media/image78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1.jpeg"/><Relationship Id="rId1" Type="http://schemas.openxmlformats.org/officeDocument/2006/relationships/image" Target="../media/image80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2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3.jpeg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8.jpeg"/><Relationship Id="rId4" Type="http://schemas.openxmlformats.org/officeDocument/2006/relationships/image" Target="../media/image87.jpeg"/><Relationship Id="rId3" Type="http://schemas.openxmlformats.org/officeDocument/2006/relationships/image" Target="../media/image86.jpeg"/><Relationship Id="rId2" Type="http://schemas.openxmlformats.org/officeDocument/2006/relationships/image" Target="../media/image85.jpeg"/><Relationship Id="rId1" Type="http://schemas.openxmlformats.org/officeDocument/2006/relationships/image" Target="../media/image84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9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0680" y="2392680"/>
            <a:ext cx="2781300" cy="2781300"/>
          </a:xfrm>
          <a:prstGeom prst="rect">
            <a:avLst/>
          </a:prstGeom>
        </p:spPr>
      </p:pic>
      <p:sp>
        <p:nvSpPr>
          <p:cNvPr id="2" name="TextBox 13"/>
          <p:cNvSpPr txBox="1"/>
          <p:nvPr/>
        </p:nvSpPr>
        <p:spPr>
          <a:xfrm>
            <a:off x="5186204" y="2998049"/>
            <a:ext cx="3511602" cy="15279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002665">
              <a:lnSpc>
                <a:spcPct val="110000"/>
              </a:lnSpc>
            </a:pPr>
            <a:r>
              <a:rPr lang="zh-CN" altLang="en-US" sz="3850" spc="60" dirty="0">
                <a:solidFill>
                  <a:srgbClr val="0B0B0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第一讲</a:t>
            </a:r>
            <a:endParaRPr lang="zh-CN" altLang="en-US" sz="3850" spc="60" dirty="0">
              <a:solidFill>
                <a:srgbClr val="0B0B0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865"/>
              </a:lnSpc>
            </a:pPr>
            <a:endParaRPr lang="en-US" dirty="0" smtClean="0"/>
          </a:p>
          <a:p>
            <a:pPr marL="0">
              <a:lnSpc>
                <a:spcPct val="110000"/>
              </a:lnSpc>
            </a:pPr>
            <a:r>
              <a:rPr lang="zh-CN" altLang="en-US" sz="3850" spc="90" dirty="0">
                <a:solidFill>
                  <a:srgbClr val="0B0B0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什么是人</a:t>
            </a:r>
            <a:r>
              <a:rPr lang="zh-CN" altLang="en-US" sz="3850" spc="80" dirty="0">
                <a:solidFill>
                  <a:srgbClr val="0B0B0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工智能</a:t>
            </a:r>
            <a:endParaRPr lang="zh-CN" altLang="en-US" sz="3850" spc="80" dirty="0">
              <a:solidFill>
                <a:srgbClr val="0B0B0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314503" y="6428098"/>
            <a:ext cx="205647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1050" spc="80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8480" y="2164080"/>
            <a:ext cx="2819400" cy="176022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" y="2392680"/>
            <a:ext cx="2194560" cy="1470660"/>
          </a:xfrm>
          <a:prstGeom prst="rect">
            <a:avLst/>
          </a:prstGeom>
        </p:spPr>
      </p:pic>
      <p:sp>
        <p:nvSpPr>
          <p:cNvPr id="2" name="TextBox 19"/>
          <p:cNvSpPr txBox="1"/>
          <p:nvPr/>
        </p:nvSpPr>
        <p:spPr>
          <a:xfrm>
            <a:off x="815406" y="1027704"/>
            <a:ext cx="4543563" cy="6454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智能机器：千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年梦想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15334" y="4618534"/>
            <a:ext cx="5002989" cy="9726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51130" indent="-151130" hangingPunct="0">
              <a:lnSpc>
                <a:spcPct val="101000"/>
              </a:lnSpc>
            </a:pPr>
            <a:r>
              <a:rPr lang="en-US" altLang="zh-CN" sz="2100" spc="30" dirty="0">
                <a:solidFill>
                  <a:srgbClr val="323232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2100" spc="-69" dirty="0">
                <a:solidFill>
                  <a:srgbClr val="323232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zh-CN" altLang="en-US" sz="2100" spc="89" dirty="0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鲁班是设计智能机器的大师。《</a:t>
            </a:r>
            <a:r>
              <a:rPr lang="zh-CN" altLang="en-US" sz="2100" spc="114" dirty="0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墨子</a:t>
            </a:r>
            <a:r>
              <a:rPr lang="en-US" altLang="zh-CN" sz="2100" spc="34" dirty="0">
                <a:solidFill>
                  <a:srgbClr val="323232"/>
                </a:solidFill>
                <a:latin typeface="Times New Roman" panose="02020603050405020304"/>
                <a:ea typeface="Times New Roman" panose="02020603050405020304"/>
              </a:rPr>
              <a:t>·</a:t>
            </a:r>
            <a:r>
              <a:rPr lang="zh-CN" altLang="en-US" sz="2100" spc="89" dirty="0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鲁</a:t>
            </a:r>
            <a:r>
              <a:rPr lang="zh-CN" altLang="en-US" sz="2100" spc="10" dirty="0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lang="zh-CN" altLang="en-US" sz="2100" spc="20" dirty="0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》中记载：“公输</a:t>
            </a:r>
            <a:r>
              <a:rPr lang="zh-CN" altLang="en-US" sz="2100" spc="10" dirty="0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子削竹木以为鹊，成</a:t>
            </a:r>
            <a:r>
              <a:rPr lang="zh-CN" altLang="en-US" sz="2100" spc="-5" dirty="0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而飞之</a:t>
            </a:r>
            <a:r>
              <a:rPr lang="zh-CN" altLang="en-US" sz="2100" dirty="0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，三日不下。”</a:t>
            </a:r>
            <a:endParaRPr lang="zh-CN" altLang="en-US" sz="2100" dirty="0">
              <a:solidFill>
                <a:srgbClr val="3232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198083" y="1989280"/>
            <a:ext cx="4052139" cy="43312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9000"/>
              </a:lnSpc>
            </a:pPr>
            <a:r>
              <a:rPr lang="zh-CN" altLang="en-US" sz="1600" spc="8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鲁班（前</a:t>
            </a:r>
            <a:r>
              <a:rPr lang="en-US" altLang="zh-CN" sz="1600" spc="40" dirty="0">
                <a:solidFill>
                  <a:srgbClr val="1E2020"/>
                </a:solidFill>
                <a:latin typeface="Times New Roman" panose="02020603050405020304"/>
                <a:ea typeface="Times New Roman" panose="02020603050405020304"/>
              </a:rPr>
              <a:t>507</a:t>
            </a:r>
            <a:r>
              <a:rPr lang="zh-CN" altLang="en-US" sz="1600" spc="8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年－</a:t>
            </a:r>
            <a:r>
              <a:rPr lang="en-US" altLang="zh-CN" sz="1600" spc="34" dirty="0">
                <a:solidFill>
                  <a:srgbClr val="1E2020"/>
                </a:solidFill>
                <a:latin typeface="Times New Roman" panose="02020603050405020304"/>
                <a:ea typeface="Times New Roman" panose="02020603050405020304"/>
              </a:rPr>
              <a:t>?</a:t>
            </a:r>
            <a:r>
              <a:rPr lang="zh-CN" altLang="en-US" sz="1600" spc="8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），姬姓</a:t>
            </a:r>
            <a:r>
              <a:rPr lang="zh-CN" altLang="en-US" sz="1600" spc="8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，公输氏，名</a:t>
            </a:r>
            <a:br>
              <a:rPr lang="zh-CN" altLang="en-US" sz="1600" spc="8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600" spc="-1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班，又称公输盘、</a:t>
            </a:r>
            <a: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公输般，尊称公输子，是</a:t>
            </a:r>
            <a:b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600" spc="-1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春秋末叶著名工匠</a:t>
            </a:r>
            <a: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家，被后世尊为中国工匠</a:t>
            </a:r>
            <a:b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600" spc="-1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师祖。据说鲁班出</a:t>
            </a:r>
            <a: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生于鲁国的一个世代大家</a:t>
            </a:r>
            <a:b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族</a:t>
            </a:r>
            <a:r>
              <a:rPr lang="en-US" altLang="zh-CN" sz="1600" spc="-15" dirty="0">
                <a:solidFill>
                  <a:srgbClr val="1E2020"/>
                </a:solidFill>
                <a:latin typeface="Times New Roman" panose="02020603050405020304"/>
                <a:ea typeface="Times New Roman" panose="02020603050405020304"/>
              </a:rPr>
              <a:t>——</a:t>
            </a:r>
            <a:r>
              <a:rPr lang="zh-CN" altLang="en-US" sz="1600" spc="-1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公输族，由于他</a:t>
            </a:r>
            <a: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是鲁国人，被称为鲁</a:t>
            </a:r>
            <a:b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600" spc="-1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班或者鲁般，后来</a:t>
            </a:r>
            <a: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，鲁班此姓名被流传得最</a:t>
            </a:r>
            <a:b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600" spc="3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为广泛，成为通称。鲁班生于约公元前</a:t>
            </a:r>
            <a:r>
              <a:rPr lang="en-US" altLang="zh-CN" sz="1600" spc="25" dirty="0">
                <a:solidFill>
                  <a:srgbClr val="1E2020"/>
                </a:solidFill>
                <a:latin typeface="Times New Roman" panose="02020603050405020304"/>
                <a:ea typeface="Times New Roman" panose="02020603050405020304"/>
              </a:rPr>
              <a:t>507</a:t>
            </a:r>
            <a:br>
              <a:rPr lang="en-US" altLang="zh-CN" sz="1600" spc="25" dirty="0">
                <a:solidFill>
                  <a:srgbClr val="1E2020"/>
                </a:solidFill>
                <a:latin typeface="Times New Roman" panose="02020603050405020304"/>
                <a:ea typeface="Times New Roman" panose="02020603050405020304"/>
              </a:rPr>
            </a:br>
            <a:r>
              <a:rPr lang="zh-CN" altLang="en-US" sz="1600" spc="7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年（周敬王十三年），</a:t>
            </a:r>
            <a:r>
              <a:rPr lang="en-US" altLang="zh-CN" sz="1600" spc="44" dirty="0">
                <a:solidFill>
                  <a:srgbClr val="1E2020"/>
                </a:solidFill>
                <a:latin typeface="Times New Roman" panose="02020603050405020304"/>
                <a:ea typeface="Times New Roman" panose="02020603050405020304"/>
              </a:rPr>
              <a:t>40</a:t>
            </a:r>
            <a:r>
              <a:rPr lang="zh-CN" altLang="en-US" sz="1600" spc="8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年后隐</a:t>
            </a:r>
            <a:r>
              <a:rPr lang="zh-CN" altLang="en-US" sz="1600" spc="7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居于历山</a:t>
            </a:r>
            <a:br>
              <a:rPr lang="zh-CN" altLang="en-US" sz="1600" spc="7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600" spc="-2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（今济南市东南，</a:t>
            </a:r>
            <a:r>
              <a:rPr lang="zh-CN" altLang="en-US" sz="1600" spc="-1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又名千佛山）。</a:t>
            </a:r>
            <a:endParaRPr lang="zh-CN" altLang="en-US" sz="1600" spc="-15" dirty="0">
              <a:solidFill>
                <a:srgbClr val="1E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860"/>
              </a:lnSpc>
            </a:pPr>
            <a:endParaRPr lang="en-US" dirty="0" smtClean="0"/>
          </a:p>
          <a:p>
            <a:pPr marL="0" hangingPunct="0">
              <a:lnSpc>
                <a:spcPct val="99000"/>
              </a:lnSpc>
            </a:pPr>
            <a:r>
              <a:rPr lang="zh-CN" altLang="en-US" sz="1600" spc="-1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由于在中国流传着</a:t>
            </a:r>
            <a: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许多他对建筑及木工等行</a:t>
            </a:r>
            <a:b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600" spc="-1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业贡献的传说，被</a:t>
            </a:r>
            <a: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认为是他设计的工具及建</a:t>
            </a:r>
            <a:b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600" spc="-1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造法则，被沿用至</a:t>
            </a:r>
            <a: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今，是以鲁班被后世奉为</a:t>
            </a:r>
            <a:b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600" spc="-1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工匠祖师，戏班亦奉鲁班为</a:t>
            </a:r>
            <a: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师。因此鲁班又</a:t>
            </a:r>
            <a:endParaRPr lang="zh-CN" altLang="en-US" sz="1600" spc="-10" dirty="0">
              <a:solidFill>
                <a:srgbClr val="1E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>
              <a:lnSpc>
                <a:spcPct val="99000"/>
              </a:lnSpc>
            </a:pPr>
            <a:r>
              <a:rPr lang="zh-CN" altLang="en-US" sz="1600" spc="-1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鲁班仙师、公输先师、巧圣先师、鲁班爷、</a:t>
            </a:r>
            <a:endParaRPr lang="zh-CN" altLang="en-US" sz="1600" spc="-10" dirty="0">
              <a:solidFill>
                <a:srgbClr val="1E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hangingPunct="0">
              <a:lnSpc>
                <a:spcPct val="99000"/>
              </a:lnSpc>
            </a:pPr>
            <a:r>
              <a:rPr lang="zh-CN" altLang="en-US" sz="1600" spc="-1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鲁班公、鲁班圣祖</a:t>
            </a:r>
            <a: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、鲁班先师及鲁班祖师等</a:t>
            </a:r>
            <a:b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600" spc="-1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等不同的称呼。在</a:t>
            </a:r>
            <a: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中国各地都建有鲁班殿或</a:t>
            </a:r>
            <a:br>
              <a:rPr lang="zh-CN" altLang="en-US" sz="1600" spc="-1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600" spc="-2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者是鲁班庙。</a:t>
            </a:r>
            <a:r>
              <a:rPr lang="en-US" altLang="zh-CN" sz="1600" spc="-5" dirty="0">
                <a:solidFill>
                  <a:srgbClr val="1E2020"/>
                </a:solidFill>
                <a:latin typeface="Times New Roman" panose="02020603050405020304"/>
                <a:ea typeface="Times New Roman" panose="02020603050405020304"/>
              </a:rPr>
              <a:t>--</a:t>
            </a:r>
            <a:r>
              <a:rPr lang="zh-CN" altLang="en-US" sz="1600" spc="-2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维基百科</a:t>
            </a:r>
            <a:r>
              <a:rPr lang="en-US" altLang="zh-CN" sz="1600" dirty="0">
                <a:solidFill>
                  <a:srgbClr val="1E2020"/>
                </a:solidFill>
                <a:latin typeface="Times New Roman" panose="02020603050405020304"/>
                <a:ea typeface="Times New Roman" panose="02020603050405020304"/>
              </a:rPr>
              <a:t>/</a:t>
            </a:r>
            <a:r>
              <a:rPr lang="zh-CN" altLang="en-US" sz="1600" spc="-2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鲁班</a:t>
            </a:r>
            <a:endParaRPr lang="zh-CN" altLang="en-US" sz="1600" spc="-20" dirty="0">
              <a:solidFill>
                <a:srgbClr val="1E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80" y="1965960"/>
            <a:ext cx="2385060" cy="263652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860" y="1927860"/>
            <a:ext cx="2087880" cy="263652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359" y="1927860"/>
            <a:ext cx="1996439" cy="2636520"/>
          </a:xfrm>
          <a:prstGeom prst="rect">
            <a:avLst/>
          </a:prstGeom>
        </p:spPr>
      </p:pic>
      <p:sp>
        <p:nvSpPr>
          <p:cNvPr id="2" name="TextBox 27"/>
          <p:cNvSpPr txBox="1"/>
          <p:nvPr/>
        </p:nvSpPr>
        <p:spPr>
          <a:xfrm>
            <a:off x="895168" y="1130472"/>
            <a:ext cx="9418924" cy="45597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智能机器：千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年梦想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450"/>
              </a:lnSpc>
            </a:pPr>
            <a:endParaRPr lang="en-US" dirty="0" smtClean="0"/>
          </a:p>
          <a:p>
            <a:pPr marL="346075" hangingPunct="0">
              <a:lnSpc>
                <a:spcPct val="101000"/>
              </a:lnSpc>
            </a:pPr>
            <a:r>
              <a:rPr lang="zh-CN" altLang="en-US" sz="1750" spc="-10" dirty="0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sz="1750" spc="-10" dirty="0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列子·汤问</a:t>
            </a:r>
            <a:r>
              <a:rPr lang="zh-CN" altLang="en-US" sz="1750" spc="-15" dirty="0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》记载了一位名叫偃师的巧匠，</a:t>
            </a:r>
            <a:r>
              <a:rPr lang="zh-CN" altLang="en-US" sz="1750" spc="-10" dirty="0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制作的机器人惟妙惟肖。他带着自己的歌舞机器</a:t>
            </a:r>
            <a:r>
              <a:rPr lang="zh-CN" altLang="en-US" sz="1750" spc="35" dirty="0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人拜见周穆王，机器人竟然向穆王的嫔妃们</a:t>
            </a:r>
            <a:r>
              <a:rPr lang="zh-CN" altLang="en-US" sz="1750" spc="30" dirty="0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抛媚眼，惹得穆王大怒，要治偃师的罪。偃师无</a:t>
            </a:r>
            <a:r>
              <a:rPr lang="zh-CN" altLang="en-US" sz="1750" spc="5" dirty="0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奈，将其剖开</a:t>
            </a:r>
            <a:r>
              <a:rPr lang="zh-CN" altLang="en-US" sz="1750" dirty="0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，穆王才相信跳舞的是机器人。</a:t>
            </a:r>
            <a:endParaRPr lang="zh-CN" altLang="en-US" sz="1750" dirty="0">
              <a:solidFill>
                <a:srgbClr val="3232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314503" y="6428098"/>
            <a:ext cx="205647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endParaRPr lang="zh-CN" altLang="en-US" sz="1050" spc="80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860" y="1927860"/>
            <a:ext cx="3779520" cy="212598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74520"/>
            <a:ext cx="3451860" cy="2179320"/>
          </a:xfrm>
          <a:prstGeom prst="rect">
            <a:avLst/>
          </a:prstGeom>
        </p:spPr>
      </p:pic>
      <p:sp>
        <p:nvSpPr>
          <p:cNvPr id="2" name="TextBox 33"/>
          <p:cNvSpPr txBox="1"/>
          <p:nvPr/>
        </p:nvSpPr>
        <p:spPr>
          <a:xfrm>
            <a:off x="379548" y="1202862"/>
            <a:ext cx="4543563" cy="6454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智能机器：千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年梦想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934233" y="4202077"/>
            <a:ext cx="3775240" cy="8091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1000"/>
              </a:lnSpc>
            </a:pPr>
            <a:r>
              <a:rPr lang="zh-CN" altLang="en-US" sz="1750" spc="9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阿拉伯的学者</a:t>
            </a:r>
            <a:r>
              <a:rPr lang="zh-CN" altLang="en-US" sz="1750" spc="104" dirty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加扎利</a:t>
            </a:r>
            <a:r>
              <a:rPr lang="zh-CN" altLang="en-US" sz="1750" spc="270" dirty="0">
                <a:solidFill>
                  <a:srgbClr val="20202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750" spc="44" dirty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(1136-1206)</a:t>
            </a:r>
            <a:br>
              <a:rPr lang="zh-CN" altLang="en-US" sz="1750" spc="44" dirty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100" dirty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制作的机器玩偶，传说会吹</a:t>
            </a:r>
            <a:r>
              <a:rPr lang="zh-CN" altLang="en-US" sz="1750" spc="94" dirty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拉弹唱，</a:t>
            </a:r>
            <a:r>
              <a:rPr lang="zh-CN" altLang="en-US" sz="1750" spc="5" dirty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还可以组</a:t>
            </a:r>
            <a:r>
              <a:rPr lang="zh-CN" altLang="en-US" sz="1750" dirty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团演奏，非常巧妙。</a:t>
            </a:r>
            <a:endParaRPr lang="zh-CN" altLang="en-US" sz="1750" dirty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5425486" y="4207738"/>
            <a:ext cx="4980364" cy="2406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0000"/>
              </a:lnSpc>
            </a:pPr>
            <a:r>
              <a:rPr lang="zh-CN" altLang="en-US" sz="175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加扎利</a:t>
            </a:r>
            <a:r>
              <a:rPr lang="zh-CN" altLang="en-US" sz="1750" dirty="0">
                <a:solidFill>
                  <a:srgbClr val="1E202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75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(1136年－1206年)</a:t>
            </a:r>
            <a:r>
              <a:rPr lang="zh-CN" altLang="en-US" sz="1750" spc="-64" dirty="0">
                <a:solidFill>
                  <a:srgbClr val="1E202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75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是一位杰出的阿拉伯博</a:t>
            </a:r>
            <a:r>
              <a:rPr lang="zh-CN" altLang="en-US" sz="1750" spc="-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学者</a:t>
            </a:r>
            <a:r>
              <a:rPr lang="zh-CN" altLang="en-US" sz="175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，集发明家，机械工程师，工匠，艺术家，数</a:t>
            </a:r>
            <a:r>
              <a:rPr lang="zh-CN" altLang="en-US" sz="1750" spc="-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学家</a:t>
            </a:r>
            <a:r>
              <a:rPr lang="zh-CN" altLang="en-US" sz="175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和天文学家于一身。他来自美索不达米亚，生</a:t>
            </a:r>
            <a:r>
              <a:rPr lang="zh-CN" altLang="en-US" sz="1750" spc="34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活在伊斯兰黄金时代（中</a:t>
            </a:r>
            <a:r>
              <a:rPr lang="zh-CN" altLang="en-US" sz="1750" spc="2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世纪）。1206年他出版</a:t>
            </a:r>
            <a:br>
              <a:rPr lang="zh-CN" altLang="en-US" sz="1750" spc="2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-5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了</a:t>
            </a:r>
            <a:r>
              <a:rPr lang="zh-CN" altLang="en-US" sz="1750" spc="-2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Kitáb</a:t>
            </a:r>
            <a:r>
              <a:rPr lang="zh-CN" altLang="en-US" sz="1750" spc="-25" dirty="0">
                <a:solidFill>
                  <a:srgbClr val="1E202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750" spc="-3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fí</a:t>
            </a:r>
            <a:r>
              <a:rPr lang="zh-CN" altLang="en-US" sz="1750" spc="-25" dirty="0">
                <a:solidFill>
                  <a:srgbClr val="1E202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750" spc="-3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ma‘rifat</a:t>
            </a:r>
            <a:r>
              <a:rPr lang="zh-CN" altLang="en-US" sz="1750" spc="-30" dirty="0">
                <a:solidFill>
                  <a:srgbClr val="1E202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750" spc="-2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al-hiyal</a:t>
            </a:r>
            <a:r>
              <a:rPr lang="zh-CN" altLang="en-US" sz="1750" spc="-30" dirty="0">
                <a:solidFill>
                  <a:srgbClr val="1E202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750" spc="-2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al-handasiyya</a:t>
            </a:r>
            <a:endParaRPr lang="zh-CN" altLang="en-US" sz="1750" spc="-25" dirty="0">
              <a:solidFill>
                <a:srgbClr val="1E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hangingPunct="0">
              <a:lnSpc>
                <a:spcPct val="100000"/>
              </a:lnSpc>
            </a:pPr>
            <a:r>
              <a:rPr lang="zh-CN" altLang="en-US" sz="1750" spc="2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（精巧机械装置的</a:t>
            </a:r>
            <a:r>
              <a:rPr lang="zh-CN" altLang="en-US" sz="1750" spc="1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知识之书），描述了50种机械</a:t>
            </a:r>
            <a:br>
              <a:rPr lang="zh-CN" altLang="en-US" sz="1750" spc="1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-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设备</a:t>
            </a:r>
            <a:r>
              <a:rPr lang="zh-CN" altLang="en-US" sz="175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以及如何制造他们。上图是他制作的一个通过</a:t>
            </a:r>
            <a:r>
              <a:rPr lang="zh-CN" altLang="en-US" sz="1750" spc="-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水流来冲击机</a:t>
            </a:r>
            <a:r>
              <a:rPr lang="zh-CN" altLang="en-US" sz="175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械装置产生动作的机器，可能是历史</a:t>
            </a:r>
            <a:endParaRPr lang="zh-CN" altLang="en-US" sz="1750" dirty="0">
              <a:solidFill>
                <a:srgbClr val="1E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>
              <a:lnSpc>
                <a:spcPct val="100000"/>
              </a:lnSpc>
              <a:tabLst>
                <a:tab pos="4888865" algn="l"/>
              </a:tabLst>
            </a:pPr>
            <a:r>
              <a:rPr lang="zh-CN" altLang="en-US" sz="175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上最早的可编程自动机器。	</a:t>
            </a:r>
            <a:r>
              <a:rPr lang="zh-CN" altLang="en-US" sz="1050" spc="5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endParaRPr lang="zh-CN" altLang="en-US" sz="1050" spc="50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8"/>
          <p:cNvSpPr txBox="1"/>
          <p:nvPr/>
        </p:nvSpPr>
        <p:spPr>
          <a:xfrm>
            <a:off x="2604603" y="2906756"/>
            <a:ext cx="5896545" cy="15276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让机器做人能</a:t>
            </a:r>
            <a:r>
              <a:rPr lang="zh-CN" altLang="en-US" sz="38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做的事，今天</a:t>
            </a:r>
            <a:endParaRPr lang="zh-CN" altLang="en-US" sz="3850" spc="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860"/>
              </a:lnSpc>
            </a:pPr>
            <a:endParaRPr lang="en-US" dirty="0" smtClean="0"/>
          </a:p>
          <a:p>
            <a:pPr marL="0" indent="48895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我们称之为</a:t>
            </a:r>
            <a:r>
              <a:rPr lang="zh-CN" altLang="en-US" sz="38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人工智能。</a:t>
            </a:r>
            <a:endParaRPr lang="zh-CN" altLang="en-US" sz="3850" spc="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0314503" y="6428098"/>
            <a:ext cx="205647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endParaRPr lang="zh-CN" altLang="en-US" sz="1050" spc="80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1897380"/>
            <a:ext cx="6728459" cy="4114800"/>
          </a:xfrm>
          <a:prstGeom prst="rect">
            <a:avLst/>
          </a:prstGeom>
        </p:spPr>
      </p:pic>
      <p:sp>
        <p:nvSpPr>
          <p:cNvPr id="2" name="TextBox 43"/>
          <p:cNvSpPr txBox="1"/>
          <p:nvPr/>
        </p:nvSpPr>
        <p:spPr>
          <a:xfrm>
            <a:off x="379548" y="1202862"/>
            <a:ext cx="3938534" cy="32754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人工智能无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所不在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135"/>
              </a:lnSpc>
            </a:pPr>
            <a:endParaRPr lang="en-US" dirty="0" smtClean="0"/>
          </a:p>
          <a:p>
            <a:pPr marL="403860" indent="-201295" hangingPunct="0">
              <a:lnSpc>
                <a:spcPct val="95000"/>
              </a:lnSpc>
            </a:pPr>
            <a:r>
              <a:rPr lang="en-US" altLang="zh-CN" sz="1750" spc="4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4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spc="1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刷脸支付极大简化了支</a:t>
            </a:r>
            <a:br>
              <a:rPr lang="zh-CN" altLang="en-US" sz="1750" spc="1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12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付流程，从此以</a:t>
            </a:r>
            <a:r>
              <a:rPr lang="zh-CN" altLang="en-US" sz="1750" spc="1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后们带</a:t>
            </a:r>
            <a:br>
              <a:rPr lang="zh-CN" altLang="en-US" sz="1750" spc="1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12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着一张脸就可以</a:t>
            </a:r>
            <a:r>
              <a:rPr lang="zh-CN" altLang="en-US" sz="1750" spc="1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畅通无</a:t>
            </a:r>
            <a:br>
              <a:rPr lang="zh-CN" altLang="en-US" sz="1750" spc="1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12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阻了，不用担心</a:t>
            </a:r>
            <a:r>
              <a:rPr lang="zh-CN" altLang="en-US" sz="1750" spc="1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忘了带</a:t>
            </a:r>
            <a:br>
              <a:rPr lang="zh-CN" altLang="en-US" sz="1750" spc="1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12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钱，也不用担心</a:t>
            </a:r>
            <a:r>
              <a:rPr lang="zh-CN" altLang="en-US" sz="1750" spc="1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信用卡</a:t>
            </a:r>
            <a:br>
              <a:rPr lang="zh-CN" altLang="en-US" sz="1750" spc="1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盗刷。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350"/>
              </a:lnSpc>
            </a:pPr>
            <a:endParaRPr lang="en-US" dirty="0" smtClean="0"/>
          </a:p>
          <a:p>
            <a:pPr marL="0" indent="202565">
              <a:lnSpc>
                <a:spcPct val="100000"/>
              </a:lnSpc>
            </a:pPr>
            <a:r>
              <a:rPr lang="en-US" altLang="zh-CN" sz="1750" spc="44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3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spc="12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刷脸支付背后就是大名</a:t>
            </a:r>
            <a:endParaRPr lang="zh-CN" altLang="en-US" sz="1750" spc="129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03860">
              <a:lnSpc>
                <a:spcPct val="100000"/>
              </a:lnSpc>
            </a:pP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鼎鼎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的人脸识别技术。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0314503" y="6428098"/>
            <a:ext cx="205647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endParaRPr lang="zh-CN" altLang="en-US" sz="1050" spc="80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4279" y="1912620"/>
            <a:ext cx="6438900" cy="3832860"/>
          </a:xfrm>
          <a:prstGeom prst="rect">
            <a:avLst/>
          </a:prstGeom>
        </p:spPr>
      </p:pic>
      <p:sp>
        <p:nvSpPr>
          <p:cNvPr id="2" name="TextBox 48"/>
          <p:cNvSpPr txBox="1"/>
          <p:nvPr/>
        </p:nvSpPr>
        <p:spPr>
          <a:xfrm>
            <a:off x="379548" y="1202862"/>
            <a:ext cx="3938534" cy="3163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人工智能无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所不在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775"/>
              </a:lnSpc>
            </a:pPr>
            <a:endParaRPr lang="en-US" dirty="0" smtClean="0"/>
          </a:p>
          <a:p>
            <a:pPr marL="579120" indent="-201295" hangingPunct="0">
              <a:lnSpc>
                <a:spcPct val="96000"/>
              </a:lnSpc>
            </a:pPr>
            <a:r>
              <a:rPr lang="en-US" altLang="zh-CN" sz="1750" spc="44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5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spc="12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语音助手让机器听懂</a:t>
            </a:r>
            <a:br>
              <a:rPr lang="zh-CN" altLang="en-US" sz="1750" spc="12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13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我们的</a:t>
            </a:r>
            <a:r>
              <a:rPr lang="zh-CN" altLang="en-US" sz="1750" spc="13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声音。只需要</a:t>
            </a:r>
            <a:br>
              <a:rPr lang="zh-CN" altLang="en-US" sz="1750" spc="13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13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说出我</a:t>
            </a:r>
            <a:r>
              <a:rPr lang="zh-CN" altLang="en-US" sz="1750" spc="13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们的命令，机</a:t>
            </a:r>
            <a:br>
              <a:rPr lang="zh-CN" altLang="en-US" sz="1750" spc="13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器就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会忠实执行。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0314503" y="6428098"/>
            <a:ext cx="205647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endParaRPr lang="zh-CN" altLang="en-US" sz="1050" spc="80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" y="3002280"/>
            <a:ext cx="4038600" cy="301752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79" y="3002280"/>
            <a:ext cx="3009900" cy="301752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220" y="1950720"/>
            <a:ext cx="2065020" cy="4404360"/>
          </a:xfrm>
          <a:prstGeom prst="rect">
            <a:avLst/>
          </a:prstGeom>
        </p:spPr>
      </p:pic>
      <p:sp>
        <p:nvSpPr>
          <p:cNvPr id="2" name="TextBox 55"/>
          <p:cNvSpPr txBox="1"/>
          <p:nvPr/>
        </p:nvSpPr>
        <p:spPr>
          <a:xfrm>
            <a:off x="379548" y="1202862"/>
            <a:ext cx="7324742" cy="17524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人工智能无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所不在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345"/>
              </a:lnSpc>
            </a:pPr>
            <a:endParaRPr lang="en-US" dirty="0" smtClean="0"/>
          </a:p>
          <a:p>
            <a:pPr marL="636905" indent="-201295" hangingPunct="0">
              <a:lnSpc>
                <a:spcPct val="101000"/>
              </a:lnSpc>
            </a:pPr>
            <a:r>
              <a:rPr lang="en-US" altLang="zh-CN" sz="17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今日头条、抖音、微博等各种媒体会把信息自动推送给我们，这些媒</a:t>
            </a: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体通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过自动推荐技术，理解我们的喜欢，查知我们的需求，可以实现</a:t>
            </a:r>
            <a:r>
              <a:rPr lang="zh-CN" altLang="en-US" sz="175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精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准推送。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3860" y="2087880"/>
            <a:ext cx="5173980" cy="3474720"/>
          </a:xfrm>
          <a:prstGeom prst="rect">
            <a:avLst/>
          </a:prstGeom>
        </p:spPr>
      </p:pic>
      <p:sp>
        <p:nvSpPr>
          <p:cNvPr id="2" name="TextBox 60"/>
          <p:cNvSpPr txBox="1"/>
          <p:nvPr/>
        </p:nvSpPr>
        <p:spPr>
          <a:xfrm>
            <a:off x="379548" y="1202862"/>
            <a:ext cx="4241289" cy="32891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人工智能无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所不在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65"/>
              </a:lnSpc>
            </a:pPr>
            <a:endParaRPr lang="en-US" dirty="0" smtClean="0"/>
          </a:p>
          <a:p>
            <a:pPr marL="650875" indent="-201295" hangingPunct="0">
              <a:lnSpc>
                <a:spcPct val="96000"/>
              </a:lnSpc>
            </a:pPr>
            <a:r>
              <a:rPr lang="en-US" altLang="zh-CN" sz="1750" spc="2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spc="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我们也可以用Baidu,</a:t>
            </a:r>
            <a:r>
              <a:rPr lang="zh-CN" altLang="en-US" sz="1750" spc="44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750" spc="5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Bing等搜索</a:t>
            </a:r>
            <a:br>
              <a:rPr lang="zh-CN" altLang="en-US" sz="1750" spc="5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引擎在互联网上搜索信</a:t>
            </a: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息，获取知</a:t>
            </a:r>
            <a:b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识。</a:t>
            </a:r>
            <a:endParaRPr lang="zh-CN" altLang="en-US" sz="1750" spc="-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450"/>
              </a:lnSpc>
            </a:pPr>
            <a:endParaRPr lang="en-US" dirty="0" smtClean="0"/>
          </a:p>
          <a:p>
            <a:pPr marL="0" indent="449580">
              <a:lnSpc>
                <a:spcPct val="100000"/>
              </a:lnSpc>
            </a:pPr>
            <a:r>
              <a:rPr lang="en-US" altLang="zh-CN" sz="17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12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这些搜索引擎越来越强大，不仅可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650875">
              <a:lnSpc>
                <a:spcPct val="93000"/>
              </a:lnSpc>
            </a:pPr>
            <a:r>
              <a:rPr lang="zh-CN" altLang="en-US" sz="17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以搜索</a:t>
            </a:r>
            <a:r>
              <a:rPr lang="zh-CN" altLang="en-US" sz="17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网页，还可以搜索图像、视</a:t>
            </a:r>
            <a:endParaRPr lang="zh-CN" altLang="en-US" sz="17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650875">
              <a:lnSpc>
                <a:spcPct val="100000"/>
              </a:lnSpc>
            </a:pPr>
            <a:r>
              <a:rPr lang="zh-CN" altLang="en-US" sz="17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频</a:t>
            </a:r>
            <a:r>
              <a:rPr lang="zh-CN" altLang="en-US" sz="17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、论文，甚至可以和人直接对话。</a:t>
            </a:r>
            <a:endParaRPr lang="zh-CN" altLang="en-US" sz="17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80" y="1927860"/>
            <a:ext cx="8115300" cy="4221479"/>
          </a:xfrm>
          <a:prstGeom prst="rect">
            <a:avLst/>
          </a:prstGeom>
        </p:spPr>
      </p:pic>
      <p:sp>
        <p:nvSpPr>
          <p:cNvPr id="2" name="TextBox 65"/>
          <p:cNvSpPr txBox="1"/>
          <p:nvPr/>
        </p:nvSpPr>
        <p:spPr>
          <a:xfrm>
            <a:off x="379548" y="1202862"/>
            <a:ext cx="4052834" cy="6454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人工智能无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处不在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3780" y="4579620"/>
            <a:ext cx="571500" cy="579120"/>
          </a:xfrm>
          <a:prstGeom prst="rect">
            <a:avLst/>
          </a:prstGeom>
        </p:spPr>
      </p:pic>
      <p:sp>
        <p:nvSpPr>
          <p:cNvPr id="2" name="Freeform 70"/>
          <p:cNvSpPr/>
          <p:nvPr/>
        </p:nvSpPr>
        <p:spPr>
          <a:xfrm>
            <a:off x="5327650" y="2660650"/>
            <a:ext cx="4654550" cy="2965450"/>
          </a:xfrm>
          <a:custGeom>
            <a:avLst/>
            <a:gdLst>
              <a:gd name="connsiteX0" fmla="*/ 18542 w 4654550"/>
              <a:gd name="connsiteY0" fmla="*/ 500126 h 2965450"/>
              <a:gd name="connsiteX1" fmla="*/ 512318 w 4654550"/>
              <a:gd name="connsiteY1" fmla="*/ 6350 h 2965450"/>
              <a:gd name="connsiteX2" fmla="*/ 4171442 w 4654550"/>
              <a:gd name="connsiteY2" fmla="*/ 6350 h 2965450"/>
              <a:gd name="connsiteX3" fmla="*/ 4665218 w 4654550"/>
              <a:gd name="connsiteY3" fmla="*/ 500126 h 2965450"/>
              <a:gd name="connsiteX4" fmla="*/ 4665218 w 4654550"/>
              <a:gd name="connsiteY4" fmla="*/ 2475230 h 2965450"/>
              <a:gd name="connsiteX5" fmla="*/ 4171442 w 4654550"/>
              <a:gd name="connsiteY5" fmla="*/ 2969006 h 2965450"/>
              <a:gd name="connsiteX6" fmla="*/ 512318 w 4654550"/>
              <a:gd name="connsiteY6" fmla="*/ 2969006 h 2965450"/>
              <a:gd name="connsiteX7" fmla="*/ 18542 w 4654550"/>
              <a:gd name="connsiteY7" fmla="*/ 2475230 h 2965450"/>
              <a:gd name="connsiteX8" fmla="*/ 18542 w 4654550"/>
              <a:gd name="connsiteY8" fmla="*/ 500126 h 2965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54550" h="2965450">
                <a:moveTo>
                  <a:pt x="18542" y="500126"/>
                </a:moveTo>
                <a:cubicBezTo>
                  <a:pt x="18542" y="227330"/>
                  <a:pt x="239522" y="6350"/>
                  <a:pt x="512318" y="6350"/>
                </a:cubicBezTo>
                <a:lnTo>
                  <a:pt x="4171442" y="6350"/>
                </a:lnTo>
                <a:cubicBezTo>
                  <a:pt x="4444238" y="6350"/>
                  <a:pt x="4665218" y="227330"/>
                  <a:pt x="4665218" y="500126"/>
                </a:cubicBezTo>
                <a:lnTo>
                  <a:pt x="4665218" y="2475230"/>
                </a:lnTo>
                <a:cubicBezTo>
                  <a:pt x="4665218" y="2748026"/>
                  <a:pt x="4444238" y="2969006"/>
                  <a:pt x="4171442" y="2969006"/>
                </a:cubicBezTo>
                <a:lnTo>
                  <a:pt x="512318" y="2969006"/>
                </a:lnTo>
                <a:cubicBezTo>
                  <a:pt x="239522" y="2969006"/>
                  <a:pt x="18542" y="2748026"/>
                  <a:pt x="18542" y="2475230"/>
                </a:cubicBezTo>
                <a:lnTo>
                  <a:pt x="18542" y="500126"/>
                </a:lnTo>
                <a:close/>
              </a:path>
            </a:pathLst>
          </a:custGeom>
          <a:solidFill>
            <a:srgbClr val="0000FE">
              <a:alpha val="0"/>
            </a:srgbClr>
          </a:solidFill>
          <a:ln w="10667">
            <a:solidFill>
              <a:srgbClr val="6F2E9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2" name="Picture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" y="3002280"/>
            <a:ext cx="4312920" cy="2423160"/>
          </a:xfrm>
          <a:prstGeom prst="rect">
            <a:avLst/>
          </a:prstGeom>
        </p:spPr>
      </p:pic>
      <p:sp>
        <p:nvSpPr>
          <p:cNvPr id="3" name="TextBox 72"/>
          <p:cNvSpPr txBox="1"/>
          <p:nvPr/>
        </p:nvSpPr>
        <p:spPr>
          <a:xfrm>
            <a:off x="379548" y="1202862"/>
            <a:ext cx="9214077" cy="29656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-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</a:t>
            </a:r>
            <a:r>
              <a:rPr lang="zh-CN" altLang="en-US" sz="3850" spc="-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人震惊的人工智能-AI谱曲</a:t>
            </a:r>
            <a:endParaRPr lang="zh-CN" altLang="en-US" sz="3850" spc="-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800"/>
              </a:lnSpc>
            </a:pPr>
            <a:endParaRPr lang="en-US" dirty="0" smtClean="0"/>
          </a:p>
          <a:p>
            <a:pPr marL="0" indent="5598795">
              <a:lnSpc>
                <a:spcPct val="100000"/>
              </a:lnSpc>
            </a:pPr>
            <a:r>
              <a:rPr lang="zh-CN" altLang="en-US" sz="1750" spc="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街机游戏的主旋</a:t>
            </a:r>
            <a:r>
              <a:rPr lang="zh-CN" altLang="en-US" sz="1750" spc="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律，节奏快，乐观，</a:t>
            </a:r>
            <a:endParaRPr lang="zh-CN" altLang="en-US" sz="1750" spc="2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598795" hangingPunct="0">
              <a:lnSpc>
                <a:spcPct val="100000"/>
              </a:lnSpc>
            </a:pPr>
            <a:r>
              <a:rPr lang="zh-CN" altLang="en-US" sz="1750" spc="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朗朗上</a:t>
            </a:r>
            <a:r>
              <a:rPr lang="zh-CN" altLang="en-US" sz="1750" spc="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口，电吉他演奏。音乐重复</a:t>
            </a:r>
            <a:br>
              <a:rPr lang="zh-CN" altLang="en-US" sz="1750" spc="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且易于</a:t>
            </a:r>
            <a:r>
              <a:rPr lang="zh-CN" altLang="en-US" sz="1750" spc="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记忆，但带有意想不到的声</a:t>
            </a:r>
            <a:br>
              <a:rPr lang="zh-CN" altLang="en-US" sz="1750" spc="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音，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如钹碰撞或鼓声。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13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jimeng-2025-07-21-7767-街机热血电音之旅">
            <a:hlinkClick r:id="" action="ppaction://media"/>
          </p:cNvPr>
          <p:cNvPicPr/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83780" y="4663440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300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AI绘画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9469120" cy="1534795"/>
          </a:xfrm>
        </p:spPr>
        <p:txBody>
          <a:bodyPr/>
          <a:p>
            <a:r>
              <a:rPr lang="zh-CN" altLang="en-US"/>
              <a:t>AI绘画是指使用人工智能（Artificial Intelligence，AI）技术生成或辅助创作绘画作品的过程。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585" y="2686685"/>
            <a:ext cx="6156960" cy="45948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43965" y="274638"/>
            <a:ext cx="8229600" cy="1143000"/>
          </a:xfrm>
        </p:spPr>
        <p:txBody>
          <a:bodyPr>
            <a:normAutofit/>
          </a:bodyPr>
          <a:p>
            <a:r>
              <a:rPr lang="zh-CN" altLang="en-US"/>
              <a:t>哪一幅画是</a:t>
            </a:r>
            <a:r>
              <a:rPr lang="en-US" altLang="zh-CN"/>
              <a:t>ai</a:t>
            </a:r>
            <a:r>
              <a:rPr lang="zh-CN" altLang="en-US"/>
              <a:t>画的？</a:t>
            </a:r>
            <a:endParaRPr lang="zh-CN" altLang="en-US">
              <a:sym typeface="+mn-ea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6132195" y="1414145"/>
            <a:ext cx="3341370" cy="5593715"/>
          </a:xfrm>
          <a:prstGeom prst="rect">
            <a:avLst/>
          </a:prstGeom>
        </p:spPr>
      </p:pic>
      <p:pic>
        <p:nvPicPr>
          <p:cNvPr id="5" name="图片 4" descr="阳光玫瑰葡萄，工笔重彩技法融合西方写实光影，葡萄粒表面布满透明露珠，茎叶纹理与果霜细节清晰可见，郎世宁风格中西合璧笔触，超清8K分辨率展现果肉透光质感，背景虚化处理突出主体，高饱和度矿物颜料呈现紫红渐..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620" y="1417955"/>
            <a:ext cx="2943860" cy="52349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这两幅</a:t>
            </a:r>
            <a:r>
              <a:rPr lang="zh-CN" altLang="en-US"/>
              <a:t>呢？</a:t>
            </a:r>
            <a:endParaRPr lang="zh-CN" altLang="en-US"/>
          </a:p>
        </p:txBody>
      </p:sp>
      <p:pic>
        <p:nvPicPr>
          <p:cNvPr id="4" name="图片 3" descr="一只橘猫带着墨镜，带着旅行包可爱版真实清晰在一座雪山上拍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060" y="1353820"/>
            <a:ext cx="3279775" cy="5831840"/>
          </a:xfrm>
          <a:prstGeom prst="rect">
            <a:avLst/>
          </a:prstGeom>
        </p:spPr>
      </p:pic>
      <p:pic>
        <p:nvPicPr>
          <p:cNvPr id="5" name="图片 4" descr="黑猫侧面头像剪影，简约，蓝色毛茸茸的轮廓光，直毛，特写，纯色背景，高清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315" y="1417955"/>
            <a:ext cx="3244215" cy="57677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80" y="2087880"/>
            <a:ext cx="9982200" cy="3314700"/>
          </a:xfrm>
          <a:prstGeom prst="rect">
            <a:avLst/>
          </a:prstGeom>
        </p:spPr>
      </p:pic>
      <p:sp>
        <p:nvSpPr>
          <p:cNvPr id="2" name="TextBox 77"/>
          <p:cNvSpPr txBox="1"/>
          <p:nvPr/>
        </p:nvSpPr>
        <p:spPr>
          <a:xfrm>
            <a:off x="379548" y="1202862"/>
            <a:ext cx="6598287" cy="47457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-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让人震惊的人工智能-A</a:t>
            </a:r>
            <a:r>
              <a:rPr lang="zh-CN" altLang="en-US" sz="385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I写小说</a:t>
            </a:r>
            <a:endParaRPr lang="zh-CN" altLang="en-US" sz="3850" spc="-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95"/>
              </a:lnSpc>
            </a:pPr>
            <a:endParaRPr lang="en-US" dirty="0" smtClean="0"/>
          </a:p>
          <a:p>
            <a:pPr marL="0" indent="3775075">
              <a:lnSpc>
                <a:spcPct val="109000"/>
              </a:lnSpc>
            </a:pPr>
            <a:r>
              <a:rPr lang="zh-CN" altLang="en-US" sz="1600" spc="-8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https</a:t>
            </a:r>
            <a:r>
              <a:rPr lang="zh-CN" altLang="en-US" sz="1600" spc="-7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://if.caiyunai.com/</a:t>
            </a:r>
            <a:endParaRPr lang="zh-CN" altLang="en-US" sz="1600" spc="-7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14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6380" y="2087880"/>
            <a:ext cx="4023360" cy="3909060"/>
          </a:xfrm>
          <a:prstGeom prst="rect">
            <a:avLst/>
          </a:prstGeom>
        </p:spPr>
      </p:pic>
      <p:pic>
        <p:nvPicPr>
          <p:cNvPr id="83" name="Picture 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2087880"/>
            <a:ext cx="3870960" cy="3924300"/>
          </a:xfrm>
          <a:prstGeom prst="rect">
            <a:avLst/>
          </a:prstGeom>
        </p:spPr>
      </p:pic>
      <p:sp>
        <p:nvSpPr>
          <p:cNvPr id="2" name="TextBox 83"/>
          <p:cNvSpPr txBox="1"/>
          <p:nvPr/>
        </p:nvSpPr>
        <p:spPr>
          <a:xfrm>
            <a:off x="379548" y="1202862"/>
            <a:ext cx="8179868" cy="6454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-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让人震惊的人工智</a:t>
            </a:r>
            <a:r>
              <a:rPr lang="zh-CN" altLang="en-US" sz="385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能-AI寻找抗癌药物</a:t>
            </a:r>
            <a:endParaRPr lang="zh-CN" altLang="en-US" sz="3850" spc="-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TextBox 84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" y="1927860"/>
            <a:ext cx="4732020" cy="3078480"/>
          </a:xfrm>
          <a:prstGeom prst="rect">
            <a:avLst/>
          </a:prstGeom>
        </p:spPr>
      </p:pic>
      <p:pic>
        <p:nvPicPr>
          <p:cNvPr id="89" name="Picture 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220" y="1912620"/>
            <a:ext cx="4556760" cy="3421379"/>
          </a:xfrm>
          <a:prstGeom prst="rect">
            <a:avLst/>
          </a:prstGeom>
        </p:spPr>
      </p:pic>
      <p:sp>
        <p:nvSpPr>
          <p:cNvPr id="2" name="TextBox 89"/>
          <p:cNvSpPr txBox="1"/>
          <p:nvPr/>
        </p:nvSpPr>
        <p:spPr>
          <a:xfrm>
            <a:off x="379548" y="1202862"/>
            <a:ext cx="8179868" cy="6454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-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让人震惊的人工智</a:t>
            </a:r>
            <a:r>
              <a:rPr lang="zh-CN" altLang="en-US" sz="385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能-AI为数学家出题</a:t>
            </a:r>
            <a:endParaRPr lang="zh-CN" altLang="en-US" sz="3850" spc="-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TextBox 90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3"/>
          <p:cNvSpPr txBox="1"/>
          <p:nvPr/>
        </p:nvSpPr>
        <p:spPr>
          <a:xfrm>
            <a:off x="379548" y="1202862"/>
            <a:ext cx="9104771" cy="27765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重要性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310"/>
              </a:lnSpc>
            </a:pPr>
            <a:endParaRPr lang="en-US" dirty="0" smtClean="0"/>
          </a:p>
          <a:p>
            <a:pPr marL="0" indent="435610">
              <a:lnSpc>
                <a:spcPct val="100000"/>
              </a:lnSpc>
            </a:pPr>
            <a:r>
              <a:rPr lang="en-US" altLang="zh-CN" sz="17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8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人类社会从狩猎时代开始，历经农耕时代、蒸汽时代、电气时代、信息时代，走入智能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636905">
              <a:lnSpc>
                <a:spcPct val="100000"/>
              </a:lnSpc>
            </a:pP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时代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是历史的必然。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845"/>
              </a:lnSpc>
            </a:pPr>
            <a:endParaRPr lang="en-US" dirty="0" smtClean="0"/>
          </a:p>
          <a:p>
            <a:pPr marL="636905" indent="-201295" hangingPunct="0">
              <a:lnSpc>
                <a:spcPct val="101000"/>
              </a:lnSpc>
            </a:pPr>
            <a:r>
              <a:rPr lang="en-US" altLang="zh-CN" sz="17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6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今天，几乎没有哪一个领域不在进行着智能化革命。人工智能已经渗透到人类生产生活</a:t>
            </a: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的方方面面，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对这一技术的无知就如同耕地的农民不知道有电，银行职员不会用电脑一</a:t>
            </a: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样，注定无法理解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时代的发展，难以在未来社会生存。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TextBox 94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17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7"/>
          <p:cNvSpPr/>
          <p:nvPr/>
        </p:nvSpPr>
        <p:spPr>
          <a:xfrm>
            <a:off x="565150" y="5378450"/>
            <a:ext cx="9544050" cy="603250"/>
          </a:xfrm>
          <a:custGeom>
            <a:avLst/>
            <a:gdLst>
              <a:gd name="connsiteX0" fmla="*/ 13969 w 9544050"/>
              <a:gd name="connsiteY0" fmla="*/ 109473 h 603250"/>
              <a:gd name="connsiteX1" fmla="*/ 114553 w 9544050"/>
              <a:gd name="connsiteY1" fmla="*/ 10413 h 603250"/>
              <a:gd name="connsiteX2" fmla="*/ 9449054 w 9544050"/>
              <a:gd name="connsiteY2" fmla="*/ 10413 h 603250"/>
              <a:gd name="connsiteX3" fmla="*/ 9548114 w 9544050"/>
              <a:gd name="connsiteY3" fmla="*/ 109473 h 603250"/>
              <a:gd name="connsiteX4" fmla="*/ 9548114 w 9544050"/>
              <a:gd name="connsiteY4" fmla="*/ 508761 h 603250"/>
              <a:gd name="connsiteX5" fmla="*/ 9449054 w 9544050"/>
              <a:gd name="connsiteY5" fmla="*/ 609345 h 603250"/>
              <a:gd name="connsiteX6" fmla="*/ 114553 w 9544050"/>
              <a:gd name="connsiteY6" fmla="*/ 609345 h 603250"/>
              <a:gd name="connsiteX7" fmla="*/ 13969 w 9544050"/>
              <a:gd name="connsiteY7" fmla="*/ 508761 h 603250"/>
              <a:gd name="connsiteX8" fmla="*/ 13969 w 9544050"/>
              <a:gd name="connsiteY8" fmla="*/ 109473 h 60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44050" h="603250">
                <a:moveTo>
                  <a:pt x="13969" y="109473"/>
                </a:moveTo>
                <a:cubicBezTo>
                  <a:pt x="13969" y="54609"/>
                  <a:pt x="59689" y="10413"/>
                  <a:pt x="114553" y="10413"/>
                </a:cubicBezTo>
                <a:lnTo>
                  <a:pt x="9449054" y="10413"/>
                </a:lnTo>
                <a:cubicBezTo>
                  <a:pt x="9503918" y="10413"/>
                  <a:pt x="9548114" y="54609"/>
                  <a:pt x="9548114" y="109473"/>
                </a:cubicBezTo>
                <a:lnTo>
                  <a:pt x="9548114" y="508761"/>
                </a:lnTo>
                <a:cubicBezTo>
                  <a:pt x="9548114" y="563625"/>
                  <a:pt x="9503918" y="609345"/>
                  <a:pt x="9449054" y="609345"/>
                </a:cubicBezTo>
                <a:lnTo>
                  <a:pt x="114553" y="609345"/>
                </a:lnTo>
                <a:cubicBezTo>
                  <a:pt x="59689" y="609345"/>
                  <a:pt x="13969" y="563625"/>
                  <a:pt x="13969" y="508761"/>
                </a:cubicBezTo>
                <a:lnTo>
                  <a:pt x="13969" y="109473"/>
                </a:lnTo>
                <a:close/>
              </a:path>
            </a:pathLst>
          </a:custGeom>
          <a:solidFill>
            <a:srgbClr val="4371C2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reeform 98"/>
          <p:cNvSpPr/>
          <p:nvPr/>
        </p:nvSpPr>
        <p:spPr>
          <a:xfrm>
            <a:off x="565150" y="5378450"/>
            <a:ext cx="9544050" cy="603250"/>
          </a:xfrm>
          <a:custGeom>
            <a:avLst/>
            <a:gdLst>
              <a:gd name="connsiteX0" fmla="*/ 13969 w 9544050"/>
              <a:gd name="connsiteY0" fmla="*/ 109473 h 603250"/>
              <a:gd name="connsiteX1" fmla="*/ 114553 w 9544050"/>
              <a:gd name="connsiteY1" fmla="*/ 10413 h 603250"/>
              <a:gd name="connsiteX2" fmla="*/ 9449054 w 9544050"/>
              <a:gd name="connsiteY2" fmla="*/ 10413 h 603250"/>
              <a:gd name="connsiteX3" fmla="*/ 9548114 w 9544050"/>
              <a:gd name="connsiteY3" fmla="*/ 109473 h 603250"/>
              <a:gd name="connsiteX4" fmla="*/ 9548114 w 9544050"/>
              <a:gd name="connsiteY4" fmla="*/ 508761 h 603250"/>
              <a:gd name="connsiteX5" fmla="*/ 9449054 w 9544050"/>
              <a:gd name="connsiteY5" fmla="*/ 609345 h 603250"/>
              <a:gd name="connsiteX6" fmla="*/ 114553 w 9544050"/>
              <a:gd name="connsiteY6" fmla="*/ 609345 h 603250"/>
              <a:gd name="connsiteX7" fmla="*/ 13969 w 9544050"/>
              <a:gd name="connsiteY7" fmla="*/ 508761 h 603250"/>
              <a:gd name="connsiteX8" fmla="*/ 13969 w 9544050"/>
              <a:gd name="connsiteY8" fmla="*/ 109473 h 60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44050" h="603250">
                <a:moveTo>
                  <a:pt x="13969" y="109473"/>
                </a:moveTo>
                <a:cubicBezTo>
                  <a:pt x="13969" y="54609"/>
                  <a:pt x="59689" y="10413"/>
                  <a:pt x="114553" y="10413"/>
                </a:cubicBezTo>
                <a:lnTo>
                  <a:pt x="9449054" y="10413"/>
                </a:lnTo>
                <a:cubicBezTo>
                  <a:pt x="9503918" y="10413"/>
                  <a:pt x="9548114" y="54609"/>
                  <a:pt x="9548114" y="109473"/>
                </a:cubicBezTo>
                <a:lnTo>
                  <a:pt x="9548114" y="508761"/>
                </a:lnTo>
                <a:cubicBezTo>
                  <a:pt x="9548114" y="563625"/>
                  <a:pt x="9503918" y="609345"/>
                  <a:pt x="9449054" y="609345"/>
                </a:cubicBezTo>
                <a:lnTo>
                  <a:pt x="114553" y="609345"/>
                </a:lnTo>
                <a:cubicBezTo>
                  <a:pt x="59689" y="609345"/>
                  <a:pt x="13969" y="563625"/>
                  <a:pt x="13969" y="508761"/>
                </a:cubicBezTo>
                <a:lnTo>
                  <a:pt x="13969" y="10947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667">
            <a:solidFill>
              <a:srgbClr val="2E518D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9"/>
          <p:cNvSpPr txBox="1"/>
          <p:nvPr/>
        </p:nvSpPr>
        <p:spPr>
          <a:xfrm>
            <a:off x="379548" y="1202862"/>
            <a:ext cx="9515145" cy="4652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什么是人工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智能？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00"/>
              </a:lnSpc>
            </a:pPr>
            <a:endParaRPr lang="en-US" dirty="0" smtClean="0"/>
          </a:p>
          <a:p>
            <a:pPr marL="0" indent="435610">
              <a:lnSpc>
                <a:spcPct val="110000"/>
              </a:lnSpc>
            </a:pPr>
            <a:r>
              <a:rPr lang="en-US" altLang="zh-CN" sz="17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 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人工智能是制造智能机器的科学与工程。</a:t>
            </a:r>
            <a:r>
              <a:rPr lang="zh-CN" altLang="en-US" sz="1750" spc="-5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约翰-麦卡锡，“人工智能”概念的提出者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740"/>
              </a:lnSpc>
            </a:pPr>
            <a:endParaRPr lang="en-US" dirty="0" smtClean="0"/>
          </a:p>
          <a:p>
            <a:pPr marL="0" indent="435610">
              <a:lnSpc>
                <a:spcPct val="100000"/>
              </a:lnSpc>
            </a:pPr>
            <a:r>
              <a:rPr lang="en-US" altLang="zh-CN" sz="1750" spc="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“人工智能就是研究如何使计算机做过去只有人才能做的智能工作。”</a:t>
            </a:r>
            <a:r>
              <a:rPr lang="zh-CN" altLang="en-US" sz="1750" spc="2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750" spc="3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17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麻省理工学院</a:t>
            </a:r>
            <a:endParaRPr lang="zh-CN" altLang="en-US" sz="1750" spc="1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636905">
              <a:lnSpc>
                <a:spcPct val="100000"/>
              </a:lnSpc>
            </a:pPr>
            <a:r>
              <a:rPr lang="zh-CN" altLang="en-US" sz="1750" spc="-1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帕特里克</a:t>
            </a:r>
            <a:r>
              <a:rPr lang="zh-CN" altLang="en-US" sz="1750" spc="-1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·温斯顿</a:t>
            </a:r>
            <a:endParaRPr lang="zh-CN" altLang="en-US" sz="1750" spc="-12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65"/>
              </a:lnSpc>
            </a:pPr>
            <a:endParaRPr lang="en-US" dirty="0" smtClean="0"/>
          </a:p>
          <a:p>
            <a:pPr marL="0" indent="426720">
              <a:lnSpc>
                <a:spcPct val="110000"/>
              </a:lnSpc>
            </a:pPr>
            <a:r>
              <a:rPr lang="zh-CN" altLang="en-US" sz="2100" spc="5" dirty="0">
                <a:solidFill>
                  <a:srgbClr val="FEFEFE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目前没有统一的定义，但</a:t>
            </a:r>
            <a:r>
              <a:rPr lang="zh-CN" altLang="en-US" sz="2100" dirty="0">
                <a:solidFill>
                  <a:srgbClr val="FEFEFE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学科的基础任务是明确的，即让机器拥有人的智慧。</a:t>
            </a:r>
            <a:endParaRPr lang="zh-CN" altLang="en-US" sz="2100" dirty="0">
              <a:solidFill>
                <a:srgbClr val="FEFEFE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TextBox 100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18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5128260"/>
            <a:ext cx="830580" cy="1074419"/>
          </a:xfrm>
          <a:prstGeom prst="rect">
            <a:avLst/>
          </a:prstGeom>
        </p:spPr>
      </p:pic>
      <p:pic>
        <p:nvPicPr>
          <p:cNvPr id="105" name="Picture 1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780" y="5021580"/>
            <a:ext cx="1242060" cy="1257300"/>
          </a:xfrm>
          <a:prstGeom prst="rect">
            <a:avLst/>
          </a:prstGeom>
        </p:spPr>
      </p:pic>
      <p:sp>
        <p:nvSpPr>
          <p:cNvPr id="2" name="Freeform 105"/>
          <p:cNvSpPr/>
          <p:nvPr/>
        </p:nvSpPr>
        <p:spPr>
          <a:xfrm>
            <a:off x="1398269" y="2693670"/>
            <a:ext cx="3084829" cy="3656329"/>
          </a:xfrm>
          <a:custGeom>
            <a:avLst/>
            <a:gdLst>
              <a:gd name="connsiteX0" fmla="*/ 20574 w 3084829"/>
              <a:gd name="connsiteY0" fmla="*/ 528066 h 3656329"/>
              <a:gd name="connsiteX1" fmla="*/ 532638 w 3084829"/>
              <a:gd name="connsiteY1" fmla="*/ 16001 h 3656329"/>
              <a:gd name="connsiteX2" fmla="*/ 2579370 w 3084829"/>
              <a:gd name="connsiteY2" fmla="*/ 16001 h 3656329"/>
              <a:gd name="connsiteX3" fmla="*/ 3091434 w 3084829"/>
              <a:gd name="connsiteY3" fmla="*/ 528066 h 3656329"/>
              <a:gd name="connsiteX4" fmla="*/ 3091434 w 3084829"/>
              <a:gd name="connsiteY4" fmla="*/ 3155441 h 3656329"/>
              <a:gd name="connsiteX5" fmla="*/ 2579370 w 3084829"/>
              <a:gd name="connsiteY5" fmla="*/ 3667505 h 3656329"/>
              <a:gd name="connsiteX6" fmla="*/ 532638 w 3084829"/>
              <a:gd name="connsiteY6" fmla="*/ 3667505 h 3656329"/>
              <a:gd name="connsiteX7" fmla="*/ 20574 w 3084829"/>
              <a:gd name="connsiteY7" fmla="*/ 3155441 h 3656329"/>
              <a:gd name="connsiteX8" fmla="*/ 20574 w 3084829"/>
              <a:gd name="connsiteY8" fmla="*/ 528066 h 3656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84829" h="3656329">
                <a:moveTo>
                  <a:pt x="20574" y="528066"/>
                </a:moveTo>
                <a:cubicBezTo>
                  <a:pt x="20574" y="244601"/>
                  <a:pt x="250697" y="16001"/>
                  <a:pt x="532638" y="16001"/>
                </a:cubicBezTo>
                <a:lnTo>
                  <a:pt x="2579370" y="16001"/>
                </a:lnTo>
                <a:cubicBezTo>
                  <a:pt x="2862834" y="16001"/>
                  <a:pt x="3091434" y="244601"/>
                  <a:pt x="3091434" y="528066"/>
                </a:cubicBezTo>
                <a:lnTo>
                  <a:pt x="3091434" y="3155441"/>
                </a:lnTo>
                <a:cubicBezTo>
                  <a:pt x="3091434" y="3438905"/>
                  <a:pt x="2862834" y="3667505"/>
                  <a:pt x="2579370" y="3667505"/>
                </a:cubicBezTo>
                <a:lnTo>
                  <a:pt x="532638" y="3667505"/>
                </a:lnTo>
                <a:cubicBezTo>
                  <a:pt x="250697" y="3667505"/>
                  <a:pt x="20574" y="3438905"/>
                  <a:pt x="20574" y="3155441"/>
                </a:cubicBezTo>
                <a:lnTo>
                  <a:pt x="20574" y="5280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2859">
            <a:solidFill>
              <a:srgbClr val="2E518D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reeform 106"/>
          <p:cNvSpPr/>
          <p:nvPr/>
        </p:nvSpPr>
        <p:spPr>
          <a:xfrm>
            <a:off x="5665470" y="2693670"/>
            <a:ext cx="3084829" cy="3656329"/>
          </a:xfrm>
          <a:custGeom>
            <a:avLst/>
            <a:gdLst>
              <a:gd name="connsiteX0" fmla="*/ 17526 w 3084829"/>
              <a:gd name="connsiteY0" fmla="*/ 528066 h 3656329"/>
              <a:gd name="connsiteX1" fmla="*/ 528066 w 3084829"/>
              <a:gd name="connsiteY1" fmla="*/ 16001 h 3656329"/>
              <a:gd name="connsiteX2" fmla="*/ 2576322 w 3084829"/>
              <a:gd name="connsiteY2" fmla="*/ 16001 h 3656329"/>
              <a:gd name="connsiteX3" fmla="*/ 3086862 w 3084829"/>
              <a:gd name="connsiteY3" fmla="*/ 528066 h 3656329"/>
              <a:gd name="connsiteX4" fmla="*/ 3086862 w 3084829"/>
              <a:gd name="connsiteY4" fmla="*/ 3155441 h 3656329"/>
              <a:gd name="connsiteX5" fmla="*/ 2576322 w 3084829"/>
              <a:gd name="connsiteY5" fmla="*/ 3667505 h 3656329"/>
              <a:gd name="connsiteX6" fmla="*/ 528066 w 3084829"/>
              <a:gd name="connsiteY6" fmla="*/ 3667505 h 3656329"/>
              <a:gd name="connsiteX7" fmla="*/ 17526 w 3084829"/>
              <a:gd name="connsiteY7" fmla="*/ 3155441 h 3656329"/>
              <a:gd name="connsiteX8" fmla="*/ 17526 w 3084829"/>
              <a:gd name="connsiteY8" fmla="*/ 528066 h 3656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84829" h="3656329">
                <a:moveTo>
                  <a:pt x="17526" y="528066"/>
                </a:moveTo>
                <a:cubicBezTo>
                  <a:pt x="17526" y="244601"/>
                  <a:pt x="246126" y="16001"/>
                  <a:pt x="528066" y="16001"/>
                </a:cubicBezTo>
                <a:lnTo>
                  <a:pt x="2576322" y="16001"/>
                </a:lnTo>
                <a:cubicBezTo>
                  <a:pt x="2858262" y="16001"/>
                  <a:pt x="3086862" y="244601"/>
                  <a:pt x="3086862" y="528066"/>
                </a:cubicBezTo>
                <a:lnTo>
                  <a:pt x="3086862" y="3155441"/>
                </a:lnTo>
                <a:cubicBezTo>
                  <a:pt x="3086862" y="3438905"/>
                  <a:pt x="2858262" y="3667505"/>
                  <a:pt x="2576322" y="3667505"/>
                </a:cubicBezTo>
                <a:lnTo>
                  <a:pt x="528066" y="3667505"/>
                </a:lnTo>
                <a:cubicBezTo>
                  <a:pt x="246126" y="3667505"/>
                  <a:pt x="17526" y="3438905"/>
                  <a:pt x="17526" y="3155441"/>
                </a:cubicBezTo>
                <a:lnTo>
                  <a:pt x="17526" y="5280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2859">
            <a:solidFill>
              <a:srgbClr val="2E518D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7"/>
          <p:cNvSpPr txBox="1"/>
          <p:nvPr/>
        </p:nvSpPr>
        <p:spPr>
          <a:xfrm>
            <a:off x="379548" y="1202862"/>
            <a:ext cx="6456130" cy="20113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什么是人工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智能？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25"/>
              </a:lnSpc>
            </a:pPr>
            <a:endParaRPr lang="en-US" dirty="0" smtClean="0"/>
          </a:p>
          <a:p>
            <a:pPr marL="0" indent="435610">
              <a:lnSpc>
                <a:spcPct val="110000"/>
              </a:lnSpc>
            </a:pP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一般认为，人工智能是用</a:t>
            </a:r>
            <a:r>
              <a:rPr lang="zh-CN" altLang="en-US" sz="1750" spc="-5" dirty="0">
                <a:solidFill>
                  <a:srgbClr val="FE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计算机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来模拟人类</a:t>
            </a:r>
            <a:r>
              <a:rPr lang="zh-CN" altLang="en-US" sz="1750" dirty="0">
                <a:solidFill>
                  <a:srgbClr val="FE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智能行为</a:t>
            </a:r>
            <a:r>
              <a:rPr lang="zh-CN" altLang="en-US" sz="175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科学。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905"/>
              </a:lnSpc>
            </a:pPr>
            <a:endParaRPr lang="en-US" dirty="0" smtClean="0"/>
          </a:p>
          <a:p>
            <a:pPr marL="0" indent="2376170">
              <a:lnSpc>
                <a:spcPct val="110000"/>
              </a:lnSpc>
            </a:pPr>
            <a:r>
              <a:rPr lang="zh-CN" altLang="en-US" sz="175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  <a:endParaRPr lang="zh-CN" altLang="en-US" sz="1750" spc="-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" name="TextBox 108"/>
          <p:cNvSpPr txBox="1"/>
          <p:nvPr/>
        </p:nvSpPr>
        <p:spPr>
          <a:xfrm>
            <a:off x="6827556" y="2931444"/>
            <a:ext cx="902714" cy="2933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75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能行为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" name="TextBox 109"/>
          <p:cNvSpPr txBox="1"/>
          <p:nvPr/>
        </p:nvSpPr>
        <p:spPr>
          <a:xfrm>
            <a:off x="1752652" y="3475078"/>
            <a:ext cx="2462467" cy="13426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0000"/>
              </a:lnSpc>
            </a:pPr>
            <a:r>
              <a:rPr lang="zh-CN" altLang="en-US" sz="175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当前人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工智能方法都是通</a:t>
            </a:r>
            <a:r>
              <a:rPr lang="zh-CN" altLang="en-US" sz="175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过计算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实现的，因此计算</a:t>
            </a:r>
            <a:r>
              <a:rPr lang="zh-CN" altLang="en-US" sz="175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机是基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本工具。基于物理</a:t>
            </a:r>
            <a:r>
              <a:rPr lang="zh-CN" altLang="en-US" sz="175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过程实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现的功能一般不作</a:t>
            </a:r>
            <a:r>
              <a:rPr lang="zh-CN" altLang="en-US" sz="1750" spc="-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为人工智能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的研究对象。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TextBox 110"/>
          <p:cNvSpPr txBox="1"/>
          <p:nvPr/>
        </p:nvSpPr>
        <p:spPr>
          <a:xfrm>
            <a:off x="5913082" y="3485856"/>
            <a:ext cx="2736143" cy="1342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0000"/>
              </a:lnSpc>
            </a:pPr>
            <a:r>
              <a:rPr lang="zh-CN" altLang="en-US" sz="1750" spc="3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</a:t>
            </a:r>
            <a:r>
              <a:rPr lang="zh-CN" altLang="en-US" sz="1750" spc="3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起源于对人类思维</a:t>
            </a:r>
            <a:r>
              <a:rPr lang="zh-CN" altLang="en-US" sz="1750" spc="3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的模拟，</a:t>
            </a:r>
            <a:r>
              <a:rPr lang="zh-CN" altLang="en-US" sz="1750" spc="3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关注那些需要“动</a:t>
            </a:r>
            <a:r>
              <a:rPr lang="zh-CN" altLang="en-US" sz="1750" spc="8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脑子”</a:t>
            </a:r>
            <a:r>
              <a:rPr lang="zh-CN" altLang="en-US" sz="1750" spc="234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750" spc="9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才能完成的工作，</a:t>
            </a:r>
            <a:r>
              <a:rPr lang="zh-CN" altLang="en-US" sz="1750" spc="3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或称为“</a:t>
            </a:r>
            <a:r>
              <a:rPr lang="zh-CN" altLang="en-US" sz="1750" spc="3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智能行为”，如感</a:t>
            </a: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知、记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忆、动作、推理等。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TextBox 111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1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720" y="2788920"/>
            <a:ext cx="2156460" cy="1226820"/>
          </a:xfrm>
          <a:prstGeom prst="rect">
            <a:avLst/>
          </a:prstGeom>
        </p:spPr>
      </p:pic>
      <p:pic>
        <p:nvPicPr>
          <p:cNvPr id="119" name="Picture 1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579" y="2727960"/>
            <a:ext cx="5509260" cy="1325880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380" y="5173980"/>
            <a:ext cx="1295400" cy="1508760"/>
          </a:xfrm>
          <a:prstGeom prst="rect">
            <a:avLst/>
          </a:prstGeom>
        </p:spPr>
      </p:pic>
      <p:pic>
        <p:nvPicPr>
          <p:cNvPr id="121" name="Picture 1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520" y="5135880"/>
            <a:ext cx="2727960" cy="1493520"/>
          </a:xfrm>
          <a:prstGeom prst="rect">
            <a:avLst/>
          </a:prstGeom>
        </p:spPr>
      </p:pic>
      <p:pic>
        <p:nvPicPr>
          <p:cNvPr id="122" name="Picture 1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8980" y="5135880"/>
            <a:ext cx="1714500" cy="1508760"/>
          </a:xfrm>
          <a:prstGeom prst="rect">
            <a:avLst/>
          </a:prstGeom>
        </p:spPr>
      </p:pic>
      <p:sp>
        <p:nvSpPr>
          <p:cNvPr id="2" name="TextBox 122"/>
          <p:cNvSpPr txBox="1"/>
          <p:nvPr/>
        </p:nvSpPr>
        <p:spPr>
          <a:xfrm>
            <a:off x="379548" y="1202862"/>
            <a:ext cx="9378167" cy="38617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关于人工智能的误解：AI就</a:t>
            </a:r>
            <a:r>
              <a:rPr lang="zh-CN" altLang="en-US" sz="38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是机器人？</a:t>
            </a:r>
            <a:endParaRPr lang="zh-CN" altLang="en-US" sz="3850" spc="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335"/>
              </a:lnSpc>
            </a:pPr>
            <a:endParaRPr lang="en-US" dirty="0" smtClean="0"/>
          </a:p>
          <a:p>
            <a:pPr marL="0" indent="603250">
              <a:lnSpc>
                <a:spcPct val="100000"/>
              </a:lnSpc>
            </a:pPr>
            <a:r>
              <a:rPr lang="en-US" altLang="zh-CN" sz="17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10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人工智能是对思维的模拟，未必具有硬件形式，也未必是人形。很多强大的人工智能，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804545">
              <a:lnSpc>
                <a:spcPct val="100000"/>
              </a:lnSpc>
            </a:pPr>
            <a:r>
              <a:rPr lang="zh-CN" altLang="en-US" sz="1750" spc="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比如AlphaG</a:t>
            </a:r>
            <a:r>
              <a:rPr lang="zh-CN" altLang="en-US" sz="1750" spc="6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o，只是一个计算程序。</a:t>
            </a:r>
            <a:endParaRPr lang="zh-CN" altLang="en-US" sz="1750" spc="6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440"/>
              </a:lnSpc>
            </a:pPr>
            <a:endParaRPr lang="en-US" dirty="0" smtClean="0"/>
          </a:p>
          <a:p>
            <a:pPr marL="0" indent="603250">
              <a:lnSpc>
                <a:spcPct val="100000"/>
              </a:lnSpc>
            </a:pPr>
            <a:r>
              <a:rPr lang="en-US" altLang="zh-CN" sz="17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 </a:t>
            </a:r>
            <a:r>
              <a:rPr lang="zh-CN" altLang="en-US" sz="17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反过来，机器人也未必是智能的，一些机器人仅是做些重复性操作，智能度并不高。</a:t>
            </a:r>
            <a:endParaRPr lang="zh-CN" altLang="en-US" sz="17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903605">
              <a:lnSpc>
                <a:spcPct val="100000"/>
              </a:lnSpc>
            </a:pP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当然，并不是说智能不高的机器人就用处不大，机器人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的作用和智能并没有直接关系，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903605">
              <a:lnSpc>
                <a:spcPct val="100000"/>
              </a:lnSpc>
            </a:pP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一些功能简单，甚至没什么智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能可言的机器人可能用处非常大，比如焊接机械手。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3" name="TextBox 123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Picture 1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720" y="2087880"/>
            <a:ext cx="3299460" cy="2217420"/>
          </a:xfrm>
          <a:prstGeom prst="rect">
            <a:avLst/>
          </a:prstGeom>
        </p:spPr>
      </p:pic>
      <p:pic>
        <p:nvPicPr>
          <p:cNvPr id="128" name="Picture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465320"/>
            <a:ext cx="1706880" cy="1722120"/>
          </a:xfrm>
          <a:prstGeom prst="rect">
            <a:avLst/>
          </a:prstGeom>
        </p:spPr>
      </p:pic>
      <p:pic>
        <p:nvPicPr>
          <p:cNvPr id="129" name="Picture 1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680" y="4465320"/>
            <a:ext cx="1714500" cy="1722120"/>
          </a:xfrm>
          <a:prstGeom prst="rect">
            <a:avLst/>
          </a:prstGeom>
        </p:spPr>
      </p:pic>
      <p:sp>
        <p:nvSpPr>
          <p:cNvPr id="2" name="TextBox 129"/>
          <p:cNvSpPr txBox="1"/>
          <p:nvPr/>
        </p:nvSpPr>
        <p:spPr>
          <a:xfrm>
            <a:off x="379548" y="1202862"/>
            <a:ext cx="7854555" cy="4699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关于人工智能的误解：A</a:t>
            </a:r>
            <a:r>
              <a:rPr lang="zh-CN" altLang="en-US" sz="38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I就是编程？</a:t>
            </a:r>
            <a:endParaRPr lang="zh-CN" altLang="en-US" sz="3850" spc="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5"/>
              </a:lnSpc>
            </a:pPr>
            <a:endParaRPr lang="en-US" dirty="0" smtClean="0"/>
          </a:p>
          <a:p>
            <a:pPr marL="850265" indent="-250190" hangingPunct="0">
              <a:lnSpc>
                <a:spcPct val="95000"/>
              </a:lnSpc>
            </a:pPr>
            <a:r>
              <a:rPr lang="en-US" altLang="zh-CN" sz="1750" spc="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 </a:t>
            </a:r>
            <a:r>
              <a:rPr lang="zh-CN" altLang="en-US" sz="1750" spc="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编程是用计算机语言和机器沟通的方式。就像</a:t>
            </a:r>
            <a:br>
              <a:rPr lang="zh-CN" altLang="en-US" sz="1750" spc="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3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人和</a:t>
            </a:r>
            <a:r>
              <a:rPr lang="zh-CN" altLang="en-US" sz="1750" spc="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人沟通要用语言一样，人和机器沟通也需</a:t>
            </a:r>
            <a:br>
              <a:rPr lang="zh-CN" altLang="en-US" sz="1750" spc="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18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要一种语言。常用的</a:t>
            </a:r>
            <a:r>
              <a:rPr lang="zh-CN" altLang="en-US" sz="1750" spc="18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编程语言包括C/C++,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b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17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Python,</a:t>
            </a:r>
            <a:r>
              <a:rPr lang="zh-CN" altLang="en-US" sz="1750" spc="5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750" spc="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Java等。人们通过编程给计算机下指</a:t>
            </a:r>
            <a:br>
              <a:rPr lang="zh-CN" altLang="en-US" sz="1750" spc="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令，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完成想要的任务。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545"/>
              </a:lnSpc>
            </a:pPr>
            <a:endParaRPr lang="en-US" dirty="0" smtClean="0"/>
          </a:p>
          <a:p>
            <a:pPr marL="850265" indent="-250190" hangingPunct="0">
              <a:lnSpc>
                <a:spcPct val="95000"/>
              </a:lnSpc>
            </a:pPr>
            <a:r>
              <a:rPr lang="en-US" altLang="zh-CN" sz="1750" spc="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2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 </a:t>
            </a:r>
            <a:r>
              <a:rPr lang="zh-CN" altLang="en-US" sz="1750" spc="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编程不等于人工智能。人工智能需要编程，但</a:t>
            </a:r>
            <a:br>
              <a:rPr lang="zh-CN" altLang="en-US" sz="1750" spc="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远远超出编程的范畴。</a:t>
            </a:r>
            <a:r>
              <a:rPr lang="zh-CN" altLang="en-US" sz="1750" spc="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可以类比于认字和写小</a:t>
            </a:r>
            <a:br>
              <a:rPr lang="zh-CN" altLang="en-US" sz="1750" spc="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说。认字是基础技能，</a:t>
            </a:r>
            <a:r>
              <a:rPr lang="zh-CN" altLang="en-US" sz="1750" spc="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如果不认字，写小说会</a:t>
            </a:r>
            <a:br>
              <a:rPr lang="zh-CN" altLang="en-US" sz="1750" spc="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比较困难，但不能说会</a:t>
            </a:r>
            <a:r>
              <a:rPr lang="zh-CN" altLang="en-US" sz="1750" spc="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认字就会写小说，就能</a:t>
            </a:r>
            <a:br>
              <a:rPr lang="zh-CN" altLang="en-US" sz="1750" spc="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为小说家。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0" name="TextBox 130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22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Picture 1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8720" y="2087880"/>
            <a:ext cx="2689860" cy="1638300"/>
          </a:xfrm>
          <a:prstGeom prst="rect">
            <a:avLst/>
          </a:prstGeom>
        </p:spPr>
      </p:pic>
      <p:pic>
        <p:nvPicPr>
          <p:cNvPr id="135" name="Picture 1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580" y="2087880"/>
            <a:ext cx="2804160" cy="1699260"/>
          </a:xfrm>
          <a:prstGeom prst="rect">
            <a:avLst/>
          </a:prstGeom>
        </p:spPr>
      </p:pic>
      <p:pic>
        <p:nvPicPr>
          <p:cNvPr id="136" name="Picture 1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820" y="3870960"/>
            <a:ext cx="2613660" cy="1577340"/>
          </a:xfrm>
          <a:prstGeom prst="rect">
            <a:avLst/>
          </a:prstGeom>
        </p:spPr>
      </p:pic>
      <p:pic>
        <p:nvPicPr>
          <p:cNvPr id="137" name="Picture 1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4780" y="3870960"/>
            <a:ext cx="2712720" cy="1531620"/>
          </a:xfrm>
          <a:prstGeom prst="rect">
            <a:avLst/>
          </a:prstGeom>
        </p:spPr>
      </p:pic>
      <p:sp>
        <p:nvSpPr>
          <p:cNvPr id="2" name="TextBox 137"/>
          <p:cNvSpPr txBox="1"/>
          <p:nvPr/>
        </p:nvSpPr>
        <p:spPr>
          <a:xfrm>
            <a:off x="379548" y="1202862"/>
            <a:ext cx="5405814" cy="40031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人工智能是一</a:t>
            </a:r>
            <a:r>
              <a:rPr lang="zh-CN" altLang="en-US" sz="38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门基础学科</a:t>
            </a:r>
            <a:endParaRPr lang="zh-CN" altLang="en-US" sz="3850" spc="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485"/>
              </a:lnSpc>
            </a:pPr>
            <a:endParaRPr lang="en-US" dirty="0" smtClean="0"/>
          </a:p>
          <a:p>
            <a:pPr marL="0" indent="481330">
              <a:lnSpc>
                <a:spcPct val="110000"/>
              </a:lnSpc>
            </a:pPr>
            <a:r>
              <a:rPr lang="en-US" altLang="zh-CN" sz="17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6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人工智能人工智能已经在物理、化学、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682625">
              <a:lnSpc>
                <a:spcPct val="110000"/>
              </a:lnSpc>
              <a:spcBef>
                <a:spcPts val="205"/>
              </a:spcBef>
            </a:pP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医学、材料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等各个领域大显身手。这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682625">
              <a:lnSpc>
                <a:spcPct val="110000"/>
              </a:lnSpc>
              <a:spcBef>
                <a:spcPts val="220"/>
              </a:spcBef>
            </a:pP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是因为数据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量的增加已经超出了人们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682625">
              <a:lnSpc>
                <a:spcPct val="110000"/>
              </a:lnSpc>
              <a:spcBef>
                <a:spcPts val="210"/>
              </a:spcBef>
            </a:pP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所能处理的极限，只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有依赖人工智能。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490"/>
              </a:lnSpc>
            </a:pPr>
            <a:endParaRPr lang="en-US" dirty="0" smtClean="0"/>
          </a:p>
          <a:p>
            <a:pPr marL="682625" indent="-201295" hangingPunct="0">
              <a:lnSpc>
                <a:spcPct val="120000"/>
              </a:lnSpc>
            </a:pPr>
            <a:r>
              <a:rPr lang="en-US" altLang="zh-CN" sz="17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3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将成为所有学科进一步发展的基础工</a:t>
            </a:r>
            <a:b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具。因此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，我们应该像学习数学那样</a:t>
            </a:r>
            <a:b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习人工智能。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8" name="TextBox 138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23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Picture 1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0359" y="2087880"/>
            <a:ext cx="2758440" cy="2842260"/>
          </a:xfrm>
          <a:prstGeom prst="rect">
            <a:avLst/>
          </a:prstGeom>
        </p:spPr>
      </p:pic>
      <p:sp>
        <p:nvSpPr>
          <p:cNvPr id="2" name="TextBox 145"/>
          <p:cNvSpPr txBox="1"/>
          <p:nvPr/>
        </p:nvSpPr>
        <p:spPr>
          <a:xfrm>
            <a:off x="379548" y="1202862"/>
            <a:ext cx="5008479" cy="38004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总结</a:t>
            </a:r>
            <a:endParaRPr lang="zh-CN" altLang="en-US" sz="3850" spc="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345"/>
              </a:lnSpc>
            </a:pPr>
            <a:endParaRPr lang="en-US" dirty="0" smtClean="0"/>
          </a:p>
          <a:p>
            <a:pPr marL="636905" indent="-201295" hangingPunct="0">
              <a:lnSpc>
                <a:spcPct val="101000"/>
              </a:lnSpc>
            </a:pPr>
            <a:r>
              <a:rPr lang="en-US" altLang="zh-CN" sz="17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6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人工智能是用计算机模拟人类智能行为的科</a:t>
            </a:r>
            <a:r>
              <a:rPr lang="zh-CN" altLang="en-US" sz="17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学，包括两个核心内容</a:t>
            </a: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（1）以计算为手段；</a:t>
            </a:r>
            <a:r>
              <a:rPr lang="zh-CN" altLang="en-US" sz="1750" spc="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（2）模</a:t>
            </a:r>
            <a:r>
              <a:rPr lang="zh-CN" altLang="en-US" sz="17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拟人类思维。</a:t>
            </a:r>
            <a:endParaRPr lang="zh-CN" altLang="en-US" sz="1750" spc="1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805"/>
              </a:lnSpc>
            </a:pPr>
            <a:endParaRPr lang="en-US" dirty="0" smtClean="0"/>
          </a:p>
          <a:p>
            <a:pPr marL="636905" indent="-201295" hangingPunct="0">
              <a:lnSpc>
                <a:spcPct val="101000"/>
              </a:lnSpc>
            </a:pPr>
            <a:r>
              <a:rPr lang="en-US" altLang="zh-CN" sz="17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人工智能不是编程，也不是机器人。人工智</a:t>
            </a:r>
            <a:r>
              <a:rPr lang="zh-CN" altLang="en-US" sz="175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能是一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门基础科学，在未来是众多科学发展</a:t>
            </a: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基础工具。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645"/>
              </a:lnSpc>
            </a:pPr>
            <a:endParaRPr lang="en-US" dirty="0" smtClean="0"/>
          </a:p>
          <a:p>
            <a:pPr marL="0" indent="435610">
              <a:lnSpc>
                <a:spcPct val="110000"/>
              </a:lnSpc>
            </a:pPr>
            <a:r>
              <a:rPr lang="en-US" altLang="zh-CN" sz="17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6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学好人工智能，是对现代公民的基本要求。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6" name="TextBox 146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25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820" y="4122420"/>
            <a:ext cx="2346960" cy="2103120"/>
          </a:xfrm>
          <a:prstGeom prst="rect">
            <a:avLst/>
          </a:prstGeom>
        </p:spPr>
      </p:pic>
      <p:pic>
        <p:nvPicPr>
          <p:cNvPr id="151" name="Picture 1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4328160"/>
            <a:ext cx="3627120" cy="2049780"/>
          </a:xfrm>
          <a:prstGeom prst="rect">
            <a:avLst/>
          </a:prstGeom>
        </p:spPr>
      </p:pic>
      <p:sp>
        <p:nvSpPr>
          <p:cNvPr id="2" name="TextBox 151"/>
          <p:cNvSpPr txBox="1"/>
          <p:nvPr/>
        </p:nvSpPr>
        <p:spPr>
          <a:xfrm>
            <a:off x="379548" y="1202862"/>
            <a:ext cx="8615095" cy="239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动动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脑筋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370"/>
              </a:lnSpc>
            </a:pPr>
            <a:endParaRPr lang="en-US" dirty="0" smtClean="0"/>
          </a:p>
          <a:p>
            <a:pPr marL="685800" indent="-250190" hangingPunct="0">
              <a:lnSpc>
                <a:spcPct val="101000"/>
              </a:lnSpc>
            </a:pPr>
            <a:r>
              <a:rPr lang="en-US" altLang="zh-CN" sz="1750" spc="-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1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 </a:t>
            </a:r>
            <a:r>
              <a:rPr lang="zh-CN" altLang="en-US" sz="1750" spc="-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19世纪末，著名物理学家皮埃尔·居里（居里夫人的丈夫）在自己的实验室里发现</a:t>
            </a:r>
            <a:r>
              <a:rPr lang="zh-CN" altLang="en-US" sz="1750" spc="3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磁石的一个物理特性：当磁石加热到一定温度时磁性会消失。后来，人们把</a:t>
            </a:r>
            <a:r>
              <a:rPr lang="zh-CN" altLang="en-US" sz="1750" spc="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这个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温度叫作“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居里点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795"/>
              </a:lnSpc>
            </a:pPr>
            <a:endParaRPr lang="en-US" dirty="0" smtClean="0"/>
          </a:p>
          <a:p>
            <a:pPr marL="0" indent="435610">
              <a:lnSpc>
                <a:spcPct val="100000"/>
              </a:lnSpc>
            </a:pPr>
            <a:r>
              <a:rPr lang="en-US" altLang="zh-CN" sz="1750" spc="1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1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 </a:t>
            </a:r>
            <a:r>
              <a:rPr lang="zh-CN" altLang="en-US" sz="1750" spc="3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人们利用这一现象设计了电饭锅，当米饭煮熟后会“智能”地断开电源。思考一</a:t>
            </a:r>
            <a:endParaRPr lang="zh-CN" altLang="en-US" sz="1750" spc="3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685800">
              <a:lnSpc>
                <a:spcPct val="100000"/>
              </a:lnSpc>
            </a:pP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下，电饭锅这种自动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断开电源的功能算是人工智能技术吗？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2" name="TextBox 152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Picture 1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0280" y="1592580"/>
            <a:ext cx="1447800" cy="1447800"/>
          </a:xfrm>
          <a:prstGeom prst="rect">
            <a:avLst/>
          </a:prstGeom>
        </p:spPr>
      </p:pic>
      <p:pic>
        <p:nvPicPr>
          <p:cNvPr id="156" name="Picture 1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235" y="1226820"/>
            <a:ext cx="1905000" cy="1722120"/>
          </a:xfrm>
          <a:prstGeom prst="rect">
            <a:avLst/>
          </a:prstGeom>
        </p:spPr>
      </p:pic>
      <p:pic>
        <p:nvPicPr>
          <p:cNvPr id="157" name="Picture 1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780" y="3208020"/>
            <a:ext cx="1447800" cy="1135380"/>
          </a:xfrm>
          <a:prstGeom prst="rect">
            <a:avLst/>
          </a:prstGeom>
        </p:spPr>
      </p:pic>
      <p:pic>
        <p:nvPicPr>
          <p:cNvPr id="158" name="Picture 1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5720" y="3154680"/>
            <a:ext cx="784860" cy="1371600"/>
          </a:xfrm>
          <a:prstGeom prst="rect">
            <a:avLst/>
          </a:prstGeom>
        </p:spPr>
      </p:pic>
      <p:pic>
        <p:nvPicPr>
          <p:cNvPr id="159" name="Picture 15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8720" y="3345179"/>
            <a:ext cx="1813560" cy="1219200"/>
          </a:xfrm>
          <a:prstGeom prst="rect">
            <a:avLst/>
          </a:prstGeom>
        </p:spPr>
      </p:pic>
      <p:pic>
        <p:nvPicPr>
          <p:cNvPr id="160" name="Picture 1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4732020"/>
            <a:ext cx="4770120" cy="1623060"/>
          </a:xfrm>
          <a:prstGeom prst="rect">
            <a:avLst/>
          </a:prstGeom>
        </p:spPr>
      </p:pic>
      <p:sp>
        <p:nvSpPr>
          <p:cNvPr id="2" name="TextBox 160"/>
          <p:cNvSpPr txBox="1"/>
          <p:nvPr/>
        </p:nvSpPr>
        <p:spPr>
          <a:xfrm>
            <a:off x="379548" y="1202862"/>
            <a:ext cx="4900830" cy="4015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动动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脑筋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25"/>
              </a:lnSpc>
            </a:pPr>
            <a:endParaRPr lang="en-US" dirty="0" smtClean="0"/>
          </a:p>
          <a:p>
            <a:pPr marL="0" indent="435610">
              <a:lnSpc>
                <a:spcPct val="110000"/>
              </a:lnSpc>
            </a:pP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你认为下面哪台机器最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智能？说说你的理由。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836930">
              <a:lnSpc>
                <a:spcPct val="110000"/>
              </a:lnSpc>
              <a:spcBef>
                <a:spcPts val="220"/>
              </a:spcBef>
            </a:pPr>
            <a:r>
              <a:rPr lang="zh-CN" altLang="en-US" sz="1750" spc="3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A：一台可以</a:t>
            </a:r>
            <a:r>
              <a:rPr lang="zh-CN" altLang="en-US" sz="1750" spc="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定时的机械闹钟</a:t>
            </a:r>
            <a:endParaRPr lang="zh-CN" altLang="en-US" sz="1750" spc="2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836930">
              <a:lnSpc>
                <a:spcPct val="100000"/>
              </a:lnSpc>
              <a:spcBef>
                <a:spcPts val="330"/>
              </a:spcBef>
            </a:pPr>
            <a:r>
              <a:rPr lang="zh-CN" altLang="en-US" sz="1750" spc="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B：一台可以自动完</a:t>
            </a:r>
            <a:r>
              <a:rPr lang="zh-CN" altLang="en-US" sz="17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成清洗、甩干、烘</a:t>
            </a:r>
            <a:endParaRPr lang="zh-CN" altLang="en-US" sz="17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836930">
              <a:lnSpc>
                <a:spcPct val="100000"/>
              </a:lnSpc>
            </a:pP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干操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作的自动洗衣机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36930" hangingPunct="0">
              <a:lnSpc>
                <a:spcPct val="103000"/>
              </a:lnSpc>
              <a:spcBef>
                <a:spcPts val="380"/>
              </a:spcBef>
            </a:pPr>
            <a:r>
              <a:rPr lang="zh-CN" altLang="en-US" sz="17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C：</a:t>
            </a:r>
            <a:r>
              <a:rPr lang="zh-CN" altLang="en-US" sz="1750" spc="-314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7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一个撞了“南墙”可以回头的扫地</a:t>
            </a:r>
            <a:br>
              <a:rPr lang="zh-CN" altLang="en-US" sz="17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75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机器人</a:t>
            </a:r>
            <a:endParaRPr lang="zh-CN" altLang="en-US" sz="1750" spc="-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836930">
              <a:lnSpc>
                <a:spcPct val="110000"/>
              </a:lnSpc>
              <a:spcBef>
                <a:spcPts val="230"/>
              </a:spcBef>
            </a:pPr>
            <a:r>
              <a:rPr lang="zh-CN" altLang="en-US" sz="1750" spc="4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D：一部</a:t>
            </a:r>
            <a:r>
              <a:rPr lang="zh-CN" altLang="en-US" sz="1750" spc="3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可玩儿小游戏的手机</a:t>
            </a:r>
            <a:endParaRPr lang="zh-CN" altLang="en-US" sz="1750" spc="34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836930">
              <a:lnSpc>
                <a:spcPct val="110000"/>
              </a:lnSpc>
              <a:spcBef>
                <a:spcPts val="230"/>
              </a:spcBef>
            </a:pPr>
            <a:r>
              <a:rPr lang="zh-CN" altLang="en-US" sz="17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E：一台可遥控的无</a:t>
            </a: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人机</a:t>
            </a:r>
            <a:endParaRPr lang="zh-CN" altLang="en-US" sz="1750" spc="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836930">
              <a:lnSpc>
                <a:spcPct val="110000"/>
              </a:lnSpc>
              <a:spcBef>
                <a:spcPts val="220"/>
              </a:spcBef>
            </a:pPr>
            <a:r>
              <a:rPr lang="zh-CN" altLang="en-US" sz="17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F：一群互相协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作的足球机器人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836930">
              <a:lnSpc>
                <a:spcPct val="110000"/>
              </a:lnSpc>
              <a:spcBef>
                <a:spcPts val="230"/>
              </a:spcBef>
            </a:pPr>
            <a:r>
              <a:rPr lang="zh-CN" altLang="en-US" sz="1750" spc="3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G：一台可以打印</a:t>
            </a:r>
            <a:r>
              <a:rPr lang="zh-CN" altLang="en-US" sz="1750" spc="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出文档的激光打印机</a:t>
            </a:r>
            <a:endParaRPr lang="zh-CN" altLang="en-US" sz="1750" spc="2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1" name="TextBox 161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27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360" y="2659380"/>
            <a:ext cx="3550920" cy="2286000"/>
          </a:xfrm>
          <a:prstGeom prst="rect">
            <a:avLst/>
          </a:prstGeom>
        </p:spPr>
      </p:pic>
      <p:sp>
        <p:nvSpPr>
          <p:cNvPr id="2" name="TextBox 13"/>
          <p:cNvSpPr txBox="1"/>
          <p:nvPr/>
        </p:nvSpPr>
        <p:spPr>
          <a:xfrm>
            <a:off x="5620624" y="2998049"/>
            <a:ext cx="3022808" cy="8902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865"/>
              </a:lnSpc>
            </a:pPr>
            <a:endParaRPr lang="en-US" dirty="0" smtClean="0"/>
          </a:p>
          <a:p>
            <a:pPr marL="0">
              <a:lnSpc>
                <a:spcPct val="110000"/>
              </a:lnSpc>
            </a:pPr>
            <a:r>
              <a:rPr lang="zh-CN" altLang="en-US" sz="3850" spc="90" dirty="0">
                <a:solidFill>
                  <a:srgbClr val="0B0B0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让人惊讶</a:t>
            </a:r>
            <a:r>
              <a:rPr lang="zh-CN" altLang="en-US" sz="3850" spc="80" dirty="0">
                <a:solidFill>
                  <a:srgbClr val="0B0B0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的AI</a:t>
            </a:r>
            <a:endParaRPr lang="zh-CN" altLang="en-US" sz="3850" spc="80" dirty="0">
              <a:solidFill>
                <a:srgbClr val="0B0B0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314503" y="6428098"/>
            <a:ext cx="205647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1050" spc="80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8960" y="2442845"/>
            <a:ext cx="4488179" cy="2674620"/>
          </a:xfrm>
          <a:prstGeom prst="rect">
            <a:avLst/>
          </a:prstGeom>
        </p:spPr>
      </p:pic>
      <p:sp>
        <p:nvSpPr>
          <p:cNvPr id="2" name="TextBox 17"/>
          <p:cNvSpPr txBox="1"/>
          <p:nvPr/>
        </p:nvSpPr>
        <p:spPr>
          <a:xfrm>
            <a:off x="379548" y="1201424"/>
            <a:ext cx="4696975" cy="4516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37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Alph</a:t>
            </a:r>
            <a:r>
              <a:rPr lang="zh-CN" altLang="en-US" sz="3850" spc="3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aGo</a:t>
            </a:r>
            <a:endParaRPr lang="zh-CN" altLang="en-US" sz="3850" spc="36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775"/>
              </a:lnSpc>
            </a:pPr>
            <a:endParaRPr lang="en-US" dirty="0" smtClean="0"/>
          </a:p>
          <a:p>
            <a:pPr marL="403860" indent="-201295" hangingPunct="0">
              <a:lnSpc>
                <a:spcPct val="100000"/>
              </a:lnSpc>
            </a:pPr>
            <a:r>
              <a:rPr lang="en-US" altLang="zh-CN" sz="2100" spc="7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2100" spc="40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zh-CN" altLang="en-US" sz="2100" spc="14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2015年10月，AlphaGo击败樊麾，</a:t>
            </a:r>
            <a:r>
              <a:rPr lang="zh-CN" altLang="en-US" sz="2100" spc="13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成为第一个无需让</a:t>
            </a:r>
            <a:r>
              <a:rPr lang="zh-CN" altLang="en-US" sz="2100" spc="12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子即可在19路棋</a:t>
            </a:r>
            <a:r>
              <a:rPr lang="zh-CN" altLang="en-US" sz="210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盘上击败围棋职业棋手的</a:t>
            </a:r>
            <a:r>
              <a:rPr lang="zh-CN" altLang="en-US" sz="2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电脑围棋程</a:t>
            </a:r>
            <a:r>
              <a:rPr lang="zh-CN" altLang="en-US" sz="2100" spc="18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序。这一成果发表在201</a:t>
            </a:r>
            <a:r>
              <a:rPr lang="zh-CN" altLang="en-US" sz="2100" spc="18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6年1月的</a:t>
            </a:r>
            <a:r>
              <a:rPr lang="zh-CN" altLang="en-US" sz="210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《自然</a:t>
            </a:r>
            <a:r>
              <a:rPr lang="zh-CN" altLang="en-US" sz="2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》杂志上。</a:t>
            </a:r>
            <a:endParaRPr lang="zh-CN" altLang="en-US" sz="21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855"/>
              </a:lnSpc>
            </a:pPr>
            <a:endParaRPr lang="en-US" dirty="0" smtClean="0"/>
          </a:p>
          <a:p>
            <a:pPr marL="403860" indent="-201295" hangingPunct="0">
              <a:lnSpc>
                <a:spcPct val="100000"/>
              </a:lnSpc>
            </a:pPr>
            <a:r>
              <a:rPr lang="en-US" altLang="zh-CN" sz="2100" spc="1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2100" spc="35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zh-CN" altLang="en-US" sz="2100" spc="20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2016年3月，AlphaGo在一场五番</a:t>
            </a:r>
            <a:r>
              <a:rPr lang="zh-CN" altLang="en-US" sz="2100" spc="7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棋比赛中4以:1击</a:t>
            </a:r>
            <a:r>
              <a:rPr lang="zh-CN" altLang="en-US" sz="2100" spc="6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败顶尖职业棋手李</a:t>
            </a:r>
            <a:r>
              <a:rPr lang="zh-CN" altLang="en-US" sz="210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世石，成为第一个不借助</a:t>
            </a:r>
            <a:r>
              <a:rPr lang="zh-CN" altLang="en-US" sz="2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让子而击败</a:t>
            </a:r>
            <a:r>
              <a:rPr lang="zh-CN" altLang="en-US" sz="210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围棋职业九段棋手的电脑</a:t>
            </a:r>
            <a:r>
              <a:rPr lang="zh-CN" altLang="en-US" sz="2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围棋程序。</a:t>
            </a:r>
            <a:r>
              <a:rPr lang="zh-CN" altLang="en-US" sz="2100" spc="17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五局赛后韩国棋院授予A</a:t>
            </a:r>
            <a:r>
              <a:rPr lang="zh-CN" altLang="en-US" sz="2100" spc="17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lphaGo有</a:t>
            </a:r>
            <a:r>
              <a:rPr lang="zh-CN" altLang="en-US" sz="210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史以来</a:t>
            </a:r>
            <a:r>
              <a:rPr lang="zh-CN" altLang="en-US" sz="2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第一位名誉职业九段。</a:t>
            </a:r>
            <a:endParaRPr lang="zh-CN" altLang="en-US" sz="21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314503" y="6428098"/>
            <a:ext cx="205647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endParaRPr lang="zh-CN" altLang="en-US" sz="1050" spc="80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" y="3947160"/>
            <a:ext cx="4175760" cy="229362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960" y="1821180"/>
            <a:ext cx="4236720" cy="4594860"/>
          </a:xfrm>
          <a:prstGeom prst="rect">
            <a:avLst/>
          </a:prstGeom>
        </p:spPr>
      </p:pic>
      <p:sp>
        <p:nvSpPr>
          <p:cNvPr id="2" name="TextBox 23"/>
          <p:cNvSpPr txBox="1"/>
          <p:nvPr/>
        </p:nvSpPr>
        <p:spPr>
          <a:xfrm>
            <a:off x="379548" y="1201424"/>
            <a:ext cx="4895481" cy="2168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2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Alph</a:t>
            </a:r>
            <a:r>
              <a:rPr lang="zh-CN" altLang="en-US" sz="3850" spc="2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aGo背后的技术</a:t>
            </a:r>
            <a:endParaRPr lang="zh-CN" altLang="en-US" sz="3850" spc="22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615"/>
              </a:lnSpc>
            </a:pPr>
            <a:endParaRPr lang="en-US" dirty="0" smtClean="0"/>
          </a:p>
          <a:p>
            <a:pPr marL="0" indent="202565">
              <a:lnSpc>
                <a:spcPct val="110000"/>
              </a:lnSpc>
            </a:pPr>
            <a:r>
              <a:rPr lang="en-US" altLang="zh-CN" sz="17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5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树搜索，模拟走棋过程寻找最优走法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770"/>
              </a:lnSpc>
            </a:pPr>
            <a:endParaRPr lang="en-US" dirty="0" smtClean="0"/>
          </a:p>
          <a:p>
            <a:pPr marL="0" indent="202565">
              <a:lnSpc>
                <a:spcPct val="100000"/>
              </a:lnSpc>
            </a:pPr>
            <a:r>
              <a:rPr lang="en-US" altLang="zh-CN" sz="1750" spc="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深度神经网络，用来快速预测走棋和判断棋局</a:t>
            </a:r>
            <a:endParaRPr lang="zh-CN" altLang="en-US" sz="1750" spc="1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03860">
              <a:lnSpc>
                <a:spcPct val="100000"/>
              </a:lnSpc>
            </a:pPr>
            <a:r>
              <a:rPr lang="zh-CN" altLang="en-US" sz="175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形势</a:t>
            </a:r>
            <a:endParaRPr lang="zh-CN" altLang="en-US" sz="1750" spc="-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725"/>
              </a:lnSpc>
            </a:pPr>
            <a:endParaRPr lang="en-US" dirty="0" smtClean="0"/>
          </a:p>
          <a:p>
            <a:pPr marL="0" indent="202565">
              <a:lnSpc>
                <a:spcPct val="110000"/>
              </a:lnSpc>
            </a:pPr>
            <a:r>
              <a:rPr lang="en-US" altLang="zh-CN" sz="17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5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自我对弈，机器自己和自己下棋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314503" y="6428098"/>
            <a:ext cx="205647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endParaRPr lang="zh-CN" altLang="en-US" sz="1050" spc="80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380" y="3726179"/>
            <a:ext cx="3581400" cy="238506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080" y="3535679"/>
            <a:ext cx="3703320" cy="2575560"/>
          </a:xfrm>
          <a:prstGeom prst="rect">
            <a:avLst/>
          </a:prstGeom>
        </p:spPr>
      </p:pic>
      <p:sp>
        <p:nvSpPr>
          <p:cNvPr id="2" name="TextBox 29"/>
          <p:cNvSpPr txBox="1"/>
          <p:nvPr/>
        </p:nvSpPr>
        <p:spPr>
          <a:xfrm>
            <a:off x="379548" y="1201424"/>
            <a:ext cx="9494629" cy="52460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37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Alph</a:t>
            </a:r>
            <a:r>
              <a:rPr lang="zh-CN" altLang="en-US" sz="3850" spc="3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aGo</a:t>
            </a:r>
            <a:endParaRPr lang="zh-CN" altLang="en-US" sz="3850" spc="36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720"/>
              </a:lnSpc>
            </a:pPr>
            <a:endParaRPr lang="en-US" dirty="0" smtClean="0"/>
          </a:p>
          <a:p>
            <a:pPr marL="0" indent="202565">
              <a:lnSpc>
                <a:spcPct val="100000"/>
              </a:lnSpc>
            </a:pPr>
            <a:r>
              <a:rPr lang="en-US" altLang="zh-CN" sz="1750" spc="44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13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spc="9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2016年12月至2017年1月，AlphaGo以“Master”为名，在网络快棋赛中进行对战测试，</a:t>
            </a:r>
            <a:endParaRPr lang="zh-CN" altLang="en-US" sz="1750" spc="94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03860">
              <a:lnSpc>
                <a:spcPct val="100000"/>
              </a:lnSpc>
            </a:pPr>
            <a:r>
              <a:rPr lang="zh-CN" altLang="en-US" sz="1750" spc="4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获6</a:t>
            </a:r>
            <a:r>
              <a:rPr lang="zh-CN" altLang="en-US" sz="1750" spc="3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0局全胜战绩。</a:t>
            </a:r>
            <a:endParaRPr lang="zh-CN" altLang="en-US" sz="1750" spc="34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815"/>
              </a:lnSpc>
            </a:pPr>
            <a:endParaRPr lang="en-US" dirty="0" smtClean="0"/>
          </a:p>
          <a:p>
            <a:pPr marL="0" indent="202565">
              <a:lnSpc>
                <a:spcPct val="100000"/>
              </a:lnSpc>
            </a:pPr>
            <a:r>
              <a:rPr lang="en-US" altLang="zh-CN" sz="1750" spc="8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71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zh-CN" altLang="en-US" sz="1750" spc="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2017年5月在乌镇围棋峰会上，AlphaGo对战柯洁获全胜。赛后中国围棋协会授予</a:t>
            </a:r>
            <a:endParaRPr lang="zh-CN" altLang="en-US" sz="1750" spc="2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03860">
              <a:lnSpc>
                <a:spcPct val="100000"/>
              </a:lnSpc>
            </a:pPr>
            <a:r>
              <a:rPr lang="zh-CN" altLang="en-US" sz="1750" spc="6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AlphaGo职业围棋九段的</a:t>
            </a:r>
            <a:r>
              <a:rPr lang="zh-CN" altLang="en-US" sz="1750" spc="6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称号。</a:t>
            </a:r>
            <a:endParaRPr lang="zh-CN" altLang="en-US" sz="1750" spc="64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555"/>
              </a:lnSpc>
            </a:pPr>
            <a:endParaRPr lang="en-US" dirty="0" smtClean="0"/>
          </a:p>
          <a:p>
            <a:pPr marL="0" indent="5405755">
              <a:lnSpc>
                <a:spcPct val="112000"/>
              </a:lnSpc>
            </a:pPr>
            <a:r>
              <a:rPr lang="zh-CN" altLang="en-US" sz="1200" spc="5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媒</a:t>
            </a:r>
            <a:r>
              <a:rPr lang="zh-CN" altLang="en-US" sz="1200" spc="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体为人机大战准备的宣传画。来源：华中大研科协GAST</a:t>
            </a:r>
            <a:endParaRPr lang="zh-CN" altLang="en-US" sz="1200" spc="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314503" y="6428098"/>
            <a:ext cx="91347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endParaRPr lang="zh-CN" altLang="en-US" sz="1050" spc="80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5480" y="3916679"/>
            <a:ext cx="4343400" cy="24003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" y="4069079"/>
            <a:ext cx="4312920" cy="2103120"/>
          </a:xfrm>
          <a:prstGeom prst="rect">
            <a:avLst/>
          </a:prstGeom>
        </p:spPr>
      </p:pic>
      <p:sp>
        <p:nvSpPr>
          <p:cNvPr id="2" name="TextBox 35"/>
          <p:cNvSpPr txBox="1"/>
          <p:nvPr/>
        </p:nvSpPr>
        <p:spPr>
          <a:xfrm>
            <a:off x="379548" y="1201424"/>
            <a:ext cx="9496851" cy="16777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37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Alph</a:t>
            </a:r>
            <a:r>
              <a:rPr lang="zh-CN" altLang="en-US" sz="3850" spc="3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aGo</a:t>
            </a:r>
            <a:endParaRPr lang="zh-CN" altLang="en-US" sz="3850" spc="36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755"/>
              </a:lnSpc>
            </a:pPr>
            <a:endParaRPr lang="en-US" dirty="0" smtClean="0"/>
          </a:p>
          <a:p>
            <a:pPr marL="403860" indent="-201295" hangingPunct="0">
              <a:lnSpc>
                <a:spcPct val="101000"/>
              </a:lnSpc>
            </a:pPr>
            <a:r>
              <a:rPr lang="en-US" altLang="zh-CN" sz="1750" spc="44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4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spc="7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2017年10月，DeepMind发布AlphaGo</a:t>
            </a:r>
            <a:r>
              <a:rPr lang="zh-CN" altLang="en-US" sz="1750" spc="8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750" spc="1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Zero，完全抛弃人类棋谱，从一无所知开始学习，</a:t>
            </a:r>
            <a:r>
              <a:rPr lang="zh-CN" altLang="en-US" sz="1750" spc="18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经过20天的自我对弈后获得和AlphaGo</a:t>
            </a:r>
            <a:r>
              <a:rPr lang="zh-CN" altLang="en-US" sz="1750" spc="135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750" spc="1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Master</a:t>
            </a:r>
            <a:r>
              <a:rPr lang="zh-CN" altLang="en-US" sz="1750" spc="135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750" spc="18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相同的棋艺，40天后超过AlphaGo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750" spc="8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Mast</a:t>
            </a:r>
            <a:r>
              <a:rPr lang="zh-CN" altLang="en-US" sz="1750" spc="7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er。</a:t>
            </a:r>
            <a:endParaRPr lang="zh-CN" altLang="en-US" sz="1750" spc="7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314503" y="6428098"/>
            <a:ext cx="205647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endParaRPr lang="zh-CN" altLang="en-US" sz="1050" spc="80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9"/>
          <p:cNvSpPr/>
          <p:nvPr/>
        </p:nvSpPr>
        <p:spPr>
          <a:xfrm>
            <a:off x="6978650" y="2178050"/>
            <a:ext cx="2978150" cy="4146550"/>
          </a:xfrm>
          <a:custGeom>
            <a:avLst/>
            <a:gdLst>
              <a:gd name="connsiteX0" fmla="*/ 14985 w 2978150"/>
              <a:gd name="connsiteY0" fmla="*/ 8890 h 4146550"/>
              <a:gd name="connsiteX1" fmla="*/ 2989835 w 2978150"/>
              <a:gd name="connsiteY1" fmla="*/ 8890 h 4146550"/>
              <a:gd name="connsiteX2" fmla="*/ 2989835 w 2978150"/>
              <a:gd name="connsiteY2" fmla="*/ 4157218 h 4146550"/>
              <a:gd name="connsiteX3" fmla="*/ 14985 w 2978150"/>
              <a:gd name="connsiteY3" fmla="*/ 4157218 h 4146550"/>
              <a:gd name="connsiteX4" fmla="*/ 14985 w 2978150"/>
              <a:gd name="connsiteY4" fmla="*/ 8890 h 414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8150" h="4146550">
                <a:moveTo>
                  <a:pt x="14985" y="8890"/>
                </a:moveTo>
                <a:lnTo>
                  <a:pt x="2989835" y="8890"/>
                </a:lnTo>
                <a:lnTo>
                  <a:pt x="2989835" y="4157218"/>
                </a:lnTo>
                <a:lnTo>
                  <a:pt x="14985" y="4157218"/>
                </a:lnTo>
                <a:lnTo>
                  <a:pt x="14985" y="889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" y="2164080"/>
            <a:ext cx="6172200" cy="4198620"/>
          </a:xfrm>
          <a:prstGeom prst="rect">
            <a:avLst/>
          </a:prstGeom>
        </p:spPr>
      </p:pic>
      <p:sp>
        <p:nvSpPr>
          <p:cNvPr id="3" name="Freeform 41"/>
          <p:cNvSpPr/>
          <p:nvPr/>
        </p:nvSpPr>
        <p:spPr>
          <a:xfrm>
            <a:off x="717550" y="2165350"/>
            <a:ext cx="6153150" cy="4184650"/>
          </a:xfrm>
          <a:custGeom>
            <a:avLst/>
            <a:gdLst>
              <a:gd name="connsiteX0" fmla="*/ 13970 w 6153150"/>
              <a:gd name="connsiteY0" fmla="*/ 17017 h 4184650"/>
              <a:gd name="connsiteX1" fmla="*/ 6161785 w 6153150"/>
              <a:gd name="connsiteY1" fmla="*/ 17017 h 4184650"/>
              <a:gd name="connsiteX2" fmla="*/ 6161785 w 6153150"/>
              <a:gd name="connsiteY2" fmla="*/ 4186682 h 4184650"/>
              <a:gd name="connsiteX3" fmla="*/ 13970 w 6153150"/>
              <a:gd name="connsiteY3" fmla="*/ 4186682 h 4184650"/>
              <a:gd name="connsiteX4" fmla="*/ 13970 w 6153150"/>
              <a:gd name="connsiteY4" fmla="*/ 17017 h 418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53150" h="4184650">
                <a:moveTo>
                  <a:pt x="13970" y="17017"/>
                </a:moveTo>
                <a:lnTo>
                  <a:pt x="6161785" y="17017"/>
                </a:lnTo>
                <a:lnTo>
                  <a:pt x="6161785" y="4186682"/>
                </a:lnTo>
                <a:lnTo>
                  <a:pt x="13970" y="4186682"/>
                </a:lnTo>
                <a:lnTo>
                  <a:pt x="13970" y="1701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379548" y="1143437"/>
            <a:ext cx="2542979" cy="6454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28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强悍</a:t>
            </a:r>
            <a:r>
              <a:rPr lang="zh-CN" altLang="en-US" sz="3850" spc="27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的GPT</a:t>
            </a:r>
            <a:endParaRPr lang="zh-CN" altLang="en-US" sz="3850" spc="279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7074434" y="2228757"/>
            <a:ext cx="2824751" cy="4362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01295" indent="-201295" hangingPunct="0">
              <a:lnSpc>
                <a:spcPct val="100000"/>
              </a:lnSpc>
            </a:pPr>
            <a:r>
              <a:rPr lang="en-US" altLang="zh-CN" sz="2100" spc="104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2100" spc="34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zh-CN" altLang="en-US" sz="2100" spc="22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GPT-4在很多专业的</a:t>
            </a:r>
            <a:r>
              <a:rPr lang="zh-CN" altLang="en-US" sz="2100" spc="17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学术考试上已经</a:t>
            </a:r>
            <a:r>
              <a:rPr lang="zh-CN" altLang="en-US" sz="2100" spc="17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超越</a:t>
            </a:r>
            <a:r>
              <a:rPr lang="zh-CN" altLang="en-US" sz="2100" spc="27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90</a:t>
            </a:r>
            <a:r>
              <a:rPr lang="zh-CN" altLang="en-US" sz="2100" spc="2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%的人类，比如在</a:t>
            </a:r>
            <a:r>
              <a:rPr lang="zh-CN" altLang="en-US" sz="2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GRE</a:t>
            </a:r>
            <a:r>
              <a:rPr lang="zh-CN" altLang="en-US" sz="2100" spc="-254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</a:t>
            </a:r>
            <a:r>
              <a:rPr lang="zh-CN" altLang="en-US" sz="2100" spc="-254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</a:t>
            </a:r>
            <a:r>
              <a:rPr lang="zh-CN" altLang="en-US" sz="2100" spc="-259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</a:t>
            </a:r>
            <a:r>
              <a:rPr lang="zh-CN" altLang="en-US" sz="2100" spc="-254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考</a:t>
            </a:r>
            <a:r>
              <a:rPr lang="zh-CN" altLang="en-US" sz="2100" spc="-254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试</a:t>
            </a:r>
            <a:r>
              <a:rPr lang="zh-CN" altLang="en-US" sz="2100" spc="-264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sz="2100" spc="1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</a:t>
            </a:r>
            <a:r>
              <a:rPr lang="zh-CN" altLang="en-US" sz="2100" spc="14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0年全美生物考试</a:t>
            </a:r>
            <a:r>
              <a:rPr lang="zh-CN" altLang="en-US" sz="210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中，几</a:t>
            </a:r>
            <a:r>
              <a:rPr lang="zh-CN" altLang="en-US" sz="2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乎拿到满分。</a:t>
            </a:r>
            <a:endParaRPr lang="zh-CN" altLang="en-US" sz="21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755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100" spc="104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2100" spc="32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zh-CN" altLang="en-US" sz="2100" spc="23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下一代GPT-5据说更</a:t>
            </a:r>
            <a:endParaRPr lang="zh-CN" altLang="en-US" sz="2100" spc="234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01295">
              <a:lnSpc>
                <a:spcPct val="100000"/>
              </a:lnSpc>
            </a:pPr>
            <a:r>
              <a:rPr lang="zh-CN" altLang="en-US" sz="210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强大。</a:t>
            </a:r>
            <a:endParaRPr lang="zh-CN" altLang="en-US" sz="2100" spc="-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900"/>
              </a:lnSpc>
            </a:pPr>
            <a:endParaRPr lang="en-US" dirty="0" smtClean="0"/>
          </a:p>
          <a:p>
            <a:pPr marL="0" indent="2720340">
              <a:lnSpc>
                <a:spcPct val="110000"/>
              </a:lnSpc>
            </a:pPr>
            <a:r>
              <a:rPr lang="zh-CN" altLang="en-US" sz="1050" spc="8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endParaRPr lang="zh-CN" altLang="en-US" sz="1050" spc="80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5380" y="3078480"/>
            <a:ext cx="5074920" cy="25146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2842260"/>
            <a:ext cx="2750820" cy="2750820"/>
          </a:xfrm>
          <a:prstGeom prst="rect">
            <a:avLst/>
          </a:prstGeom>
        </p:spPr>
      </p:pic>
      <p:sp>
        <p:nvSpPr>
          <p:cNvPr id="2" name="TextBox 48"/>
          <p:cNvSpPr txBox="1"/>
          <p:nvPr/>
        </p:nvSpPr>
        <p:spPr>
          <a:xfrm>
            <a:off x="379548" y="1201424"/>
            <a:ext cx="8649116" cy="11440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美颜</a:t>
            </a:r>
            <a:endParaRPr lang="zh-CN" altLang="en-US" sz="3850" spc="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615"/>
              </a:lnSpc>
            </a:pPr>
            <a:endParaRPr lang="en-US" dirty="0" smtClean="0"/>
          </a:p>
          <a:p>
            <a:pPr marL="0" indent="202565">
              <a:lnSpc>
                <a:spcPct val="110000"/>
              </a:lnSpc>
            </a:pPr>
            <a:r>
              <a:rPr lang="en-US" altLang="zh-CN" sz="17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8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西佛吉尼亚大学合作的美颜效果。最左侧为原始照片，美颜程度从左到右依次增强。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0314503" y="6428098"/>
            <a:ext cx="205647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endParaRPr lang="zh-CN" altLang="en-US" sz="1050" spc="80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3620" y="1320800"/>
            <a:ext cx="7566659" cy="4914900"/>
          </a:xfrm>
          <a:prstGeom prst="rect">
            <a:avLst/>
          </a:prstGeom>
        </p:spPr>
      </p:pic>
      <p:sp>
        <p:nvSpPr>
          <p:cNvPr id="2" name="TextBox 52"/>
          <p:cNvSpPr txBox="1"/>
          <p:nvPr/>
        </p:nvSpPr>
        <p:spPr>
          <a:xfrm>
            <a:off x="379548" y="1201424"/>
            <a:ext cx="2089917" cy="6454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风格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转换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2775213" y="6235430"/>
            <a:ext cx="7744826" cy="3689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38000"/>
              </a:lnSpc>
              <a:tabLst>
                <a:tab pos="7459980" algn="l"/>
              </a:tabLst>
            </a:pPr>
            <a:r>
              <a:rPr lang="zh-CN" altLang="en-US" sz="17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A是原图，B,C,D为转化后的图，其中每幅图左下角的是风格图片。	</a:t>
            </a:r>
            <a:r>
              <a:rPr lang="zh-CN" altLang="en-US" sz="1050" spc="75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endParaRPr lang="zh-CN" altLang="en-US" sz="1050" spc="75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5480" y="2887980"/>
            <a:ext cx="6819900" cy="3200400"/>
          </a:xfrm>
          <a:prstGeom prst="rect">
            <a:avLst/>
          </a:prstGeom>
        </p:spPr>
      </p:pic>
      <p:sp>
        <p:nvSpPr>
          <p:cNvPr id="2" name="TextBox 57"/>
          <p:cNvSpPr txBox="1"/>
          <p:nvPr/>
        </p:nvSpPr>
        <p:spPr>
          <a:xfrm>
            <a:off x="379548" y="1201424"/>
            <a:ext cx="8204109" cy="11440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蒙娜丽莎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的笑容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615"/>
              </a:lnSpc>
            </a:pPr>
            <a:endParaRPr lang="en-US" dirty="0" smtClean="0"/>
          </a:p>
          <a:p>
            <a:pPr marL="0" indent="202565">
              <a:lnSpc>
                <a:spcPct val="110000"/>
              </a:lnSpc>
            </a:pPr>
            <a:r>
              <a:rPr lang="en-US" altLang="zh-CN" sz="17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7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通过提取人脸部的表情特征，将其应用在蒙娜丽莎上，可以让她笑的更加灿烂。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259" y="3192780"/>
            <a:ext cx="3208020" cy="234696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750820"/>
            <a:ext cx="6088380" cy="3451860"/>
          </a:xfrm>
          <a:prstGeom prst="rect">
            <a:avLst/>
          </a:prstGeom>
        </p:spPr>
      </p:pic>
      <p:sp>
        <p:nvSpPr>
          <p:cNvPr id="2" name="TextBox 63"/>
          <p:cNvSpPr txBox="1"/>
          <p:nvPr/>
        </p:nvSpPr>
        <p:spPr>
          <a:xfrm>
            <a:off x="379548" y="1201424"/>
            <a:ext cx="4199043" cy="11440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语音识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别合成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615"/>
              </a:lnSpc>
            </a:pPr>
            <a:endParaRPr lang="en-US" dirty="0" smtClean="0"/>
          </a:p>
          <a:p>
            <a:pPr marL="0" indent="202565">
              <a:lnSpc>
                <a:spcPct val="110000"/>
              </a:lnSpc>
            </a:pPr>
            <a:r>
              <a:rPr lang="en-US" altLang="zh-CN" sz="17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6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机器可以识别并合成声音，帮助导航。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219" y="3345179"/>
            <a:ext cx="2506980" cy="25146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160" y="2827020"/>
            <a:ext cx="6256020" cy="3535679"/>
          </a:xfrm>
          <a:prstGeom prst="rect">
            <a:avLst/>
          </a:prstGeom>
        </p:spPr>
      </p:pic>
      <p:sp>
        <p:nvSpPr>
          <p:cNvPr id="2" name="TextBox 69"/>
          <p:cNvSpPr txBox="1"/>
          <p:nvPr/>
        </p:nvSpPr>
        <p:spPr>
          <a:xfrm>
            <a:off x="379548" y="1201424"/>
            <a:ext cx="9274354" cy="14042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家居报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警器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720"/>
              </a:lnSpc>
            </a:pPr>
            <a:endParaRPr lang="en-US" dirty="0" smtClean="0"/>
          </a:p>
          <a:p>
            <a:pPr marL="0" indent="202565">
              <a:lnSpc>
                <a:spcPct val="100000"/>
              </a:lnSpc>
            </a:pPr>
            <a:r>
              <a:rPr lang="en-US" altLang="zh-CN" sz="1750" spc="1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1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spc="3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校园和居家声音报警器，可以通过声音进行呼救，适合安装在卫生间、卧室等场所，既保</a:t>
            </a:r>
            <a:endParaRPr lang="zh-CN" altLang="en-US" sz="1750" spc="34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03860">
              <a:lnSpc>
                <a:spcPct val="100000"/>
              </a:lnSpc>
            </a:pP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护了个人隐私，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同时也守护了老人和儿童的安全。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13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3580" y="2598420"/>
            <a:ext cx="7246620" cy="4099560"/>
          </a:xfrm>
          <a:prstGeom prst="rect">
            <a:avLst/>
          </a:prstGeom>
        </p:spPr>
      </p:pic>
      <p:sp>
        <p:nvSpPr>
          <p:cNvPr id="2" name="TextBox 74"/>
          <p:cNvSpPr txBox="1"/>
          <p:nvPr/>
        </p:nvSpPr>
        <p:spPr>
          <a:xfrm>
            <a:off x="379548" y="1201424"/>
            <a:ext cx="9274354" cy="14042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机器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诗人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720"/>
              </a:lnSpc>
            </a:pPr>
            <a:endParaRPr lang="en-US" dirty="0" smtClean="0"/>
          </a:p>
          <a:p>
            <a:pPr marL="0" indent="202565">
              <a:lnSpc>
                <a:spcPct val="100000"/>
              </a:lnSpc>
            </a:pPr>
            <a:r>
              <a:rPr lang="en-US" altLang="zh-CN" sz="1750" spc="1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1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spc="3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央视报导清华大学的“薇薇”作诗系统，可以生成非常自然的诗句，甚至可以超过很多人</a:t>
            </a:r>
            <a:endParaRPr lang="zh-CN" altLang="en-US" sz="1750" spc="34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03860">
              <a:lnSpc>
                <a:spcPct val="100000"/>
              </a:lnSpc>
            </a:pPr>
            <a:r>
              <a:rPr lang="zh-CN" altLang="en-US" sz="175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诗人。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14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7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6980" y="3360420"/>
            <a:ext cx="3771900" cy="2537460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3375660"/>
            <a:ext cx="2522220" cy="2522220"/>
          </a:xfrm>
          <a:prstGeom prst="rect">
            <a:avLst/>
          </a:prstGeom>
        </p:spPr>
      </p:pic>
      <p:pic>
        <p:nvPicPr>
          <p:cNvPr id="81" name="Picture 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660" y="3375660"/>
            <a:ext cx="2522220" cy="2522220"/>
          </a:xfrm>
          <a:prstGeom prst="rect">
            <a:avLst/>
          </a:prstGeom>
        </p:spPr>
      </p:pic>
      <p:sp>
        <p:nvSpPr>
          <p:cNvPr id="2" name="TextBox 81"/>
          <p:cNvSpPr txBox="1"/>
          <p:nvPr/>
        </p:nvSpPr>
        <p:spPr>
          <a:xfrm>
            <a:off x="379548" y="1201424"/>
            <a:ext cx="9503532" cy="14042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文字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作画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720"/>
              </a:lnSpc>
            </a:pPr>
            <a:endParaRPr lang="en-US" dirty="0" smtClean="0"/>
          </a:p>
          <a:p>
            <a:pPr marL="0" indent="202565">
              <a:lnSpc>
                <a:spcPct val="100000"/>
              </a:lnSpc>
            </a:pPr>
            <a:r>
              <a:rPr lang="en-US" altLang="zh-CN" sz="1750" spc="2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10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spc="6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OpenAI的DALL-E系统，可以听从人的指挥生成图片。最右侧图是给系统输入“泰迪熊作为</a:t>
            </a:r>
            <a:endParaRPr lang="zh-CN" altLang="en-US" sz="1750" spc="69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03860">
              <a:lnSpc>
                <a:spcPct val="100000"/>
              </a:lnSpc>
            </a:pP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疯狂的科学家在混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合发光的化学物质”后生成的图片。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8860" y="3375660"/>
            <a:ext cx="3055620" cy="1897380"/>
          </a:xfrm>
          <a:prstGeom prst="rect">
            <a:avLst/>
          </a:prstGeom>
        </p:spPr>
      </p:pic>
      <p:sp>
        <p:nvSpPr>
          <p:cNvPr id="2" name="Freeform 87"/>
          <p:cNvSpPr/>
          <p:nvPr/>
        </p:nvSpPr>
        <p:spPr>
          <a:xfrm>
            <a:off x="6115050" y="3371850"/>
            <a:ext cx="3054350" cy="1885950"/>
          </a:xfrm>
          <a:custGeom>
            <a:avLst/>
            <a:gdLst>
              <a:gd name="connsiteX0" fmla="*/ 8382 w 3054350"/>
              <a:gd name="connsiteY0" fmla="*/ 12953 h 1885950"/>
              <a:gd name="connsiteX1" fmla="*/ 3054857 w 3054350"/>
              <a:gd name="connsiteY1" fmla="*/ 12953 h 1885950"/>
              <a:gd name="connsiteX2" fmla="*/ 3054857 w 3054350"/>
              <a:gd name="connsiteY2" fmla="*/ 1888998 h 1885950"/>
              <a:gd name="connsiteX3" fmla="*/ 8382 w 3054350"/>
              <a:gd name="connsiteY3" fmla="*/ 1888998 h 1885950"/>
              <a:gd name="connsiteX4" fmla="*/ 8382 w 3054350"/>
              <a:gd name="connsiteY4" fmla="*/ 12953 h 188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54350" h="1885950">
                <a:moveTo>
                  <a:pt x="8382" y="12953"/>
                </a:moveTo>
                <a:lnTo>
                  <a:pt x="3054857" y="12953"/>
                </a:lnTo>
                <a:lnTo>
                  <a:pt x="3054857" y="1888998"/>
                </a:lnTo>
                <a:lnTo>
                  <a:pt x="8382" y="1888998"/>
                </a:lnTo>
                <a:lnTo>
                  <a:pt x="8382" y="1295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">
            <a:solidFill>
              <a:srgbClr val="4371C2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reeform 88"/>
          <p:cNvSpPr/>
          <p:nvPr/>
        </p:nvSpPr>
        <p:spPr>
          <a:xfrm>
            <a:off x="6064250" y="5886450"/>
            <a:ext cx="3244850" cy="628650"/>
          </a:xfrm>
          <a:custGeom>
            <a:avLst/>
            <a:gdLst>
              <a:gd name="connsiteX0" fmla="*/ 16510 w 3244850"/>
              <a:gd name="connsiteY0" fmla="*/ 14478 h 628650"/>
              <a:gd name="connsiteX1" fmla="*/ 3245866 w 3244850"/>
              <a:gd name="connsiteY1" fmla="*/ 14478 h 628650"/>
              <a:gd name="connsiteX2" fmla="*/ 3245866 w 3244850"/>
              <a:gd name="connsiteY2" fmla="*/ 634746 h 628650"/>
              <a:gd name="connsiteX3" fmla="*/ 16510 w 3244850"/>
              <a:gd name="connsiteY3" fmla="*/ 634746 h 628650"/>
              <a:gd name="connsiteX4" fmla="*/ 16510 w 3244850"/>
              <a:gd name="connsiteY4" fmla="*/ 14478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44850" h="628650">
                <a:moveTo>
                  <a:pt x="16510" y="14478"/>
                </a:moveTo>
                <a:lnTo>
                  <a:pt x="3245866" y="14478"/>
                </a:lnTo>
                <a:lnTo>
                  <a:pt x="3245866" y="634746"/>
                </a:lnTo>
                <a:lnTo>
                  <a:pt x="16510" y="634746"/>
                </a:lnTo>
                <a:lnTo>
                  <a:pt x="16510" y="144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">
            <a:solidFill>
              <a:srgbClr val="4371C2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0" name="Picture 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" y="3459479"/>
            <a:ext cx="4800600" cy="2956560"/>
          </a:xfrm>
          <a:prstGeom prst="rect">
            <a:avLst/>
          </a:prstGeom>
        </p:spPr>
      </p:pic>
      <p:sp>
        <p:nvSpPr>
          <p:cNvPr id="3" name="Freeform 90"/>
          <p:cNvSpPr/>
          <p:nvPr/>
        </p:nvSpPr>
        <p:spPr>
          <a:xfrm>
            <a:off x="7219950" y="5340350"/>
            <a:ext cx="933450" cy="539750"/>
          </a:xfrm>
          <a:custGeom>
            <a:avLst/>
            <a:gdLst>
              <a:gd name="connsiteX0" fmla="*/ 8382 w 933450"/>
              <a:gd name="connsiteY0" fmla="*/ 278638 h 539750"/>
              <a:gd name="connsiteX1" fmla="*/ 241554 w 933450"/>
              <a:gd name="connsiteY1" fmla="*/ 278638 h 539750"/>
              <a:gd name="connsiteX2" fmla="*/ 241554 w 933450"/>
              <a:gd name="connsiteY2" fmla="*/ 18034 h 539750"/>
              <a:gd name="connsiteX3" fmla="*/ 707898 w 933450"/>
              <a:gd name="connsiteY3" fmla="*/ 18034 h 539750"/>
              <a:gd name="connsiteX4" fmla="*/ 707898 w 933450"/>
              <a:gd name="connsiteY4" fmla="*/ 278638 h 539750"/>
              <a:gd name="connsiteX5" fmla="*/ 941070 w 933450"/>
              <a:gd name="connsiteY5" fmla="*/ 278638 h 539750"/>
              <a:gd name="connsiteX6" fmla="*/ 474726 w 933450"/>
              <a:gd name="connsiteY6" fmla="*/ 540766 h 539750"/>
              <a:gd name="connsiteX7" fmla="*/ 8382 w 933450"/>
              <a:gd name="connsiteY7" fmla="*/ 278638 h 53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33450" h="539750">
                <a:moveTo>
                  <a:pt x="8382" y="278638"/>
                </a:moveTo>
                <a:lnTo>
                  <a:pt x="241554" y="278638"/>
                </a:lnTo>
                <a:lnTo>
                  <a:pt x="241554" y="18034"/>
                </a:lnTo>
                <a:lnTo>
                  <a:pt x="707898" y="18034"/>
                </a:lnTo>
                <a:lnTo>
                  <a:pt x="707898" y="278638"/>
                </a:lnTo>
                <a:lnTo>
                  <a:pt x="941070" y="278638"/>
                </a:lnTo>
                <a:lnTo>
                  <a:pt x="474726" y="540766"/>
                </a:lnTo>
                <a:lnTo>
                  <a:pt x="8382" y="278638"/>
                </a:lnTo>
                <a:close/>
              </a:path>
            </a:pathLst>
          </a:custGeom>
          <a:solidFill>
            <a:srgbClr val="4371C2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reeform 91"/>
          <p:cNvSpPr/>
          <p:nvPr/>
        </p:nvSpPr>
        <p:spPr>
          <a:xfrm>
            <a:off x="7219950" y="5340350"/>
            <a:ext cx="933450" cy="539750"/>
          </a:xfrm>
          <a:custGeom>
            <a:avLst/>
            <a:gdLst>
              <a:gd name="connsiteX0" fmla="*/ 8382 w 933450"/>
              <a:gd name="connsiteY0" fmla="*/ 278638 h 539750"/>
              <a:gd name="connsiteX1" fmla="*/ 241554 w 933450"/>
              <a:gd name="connsiteY1" fmla="*/ 278638 h 539750"/>
              <a:gd name="connsiteX2" fmla="*/ 241554 w 933450"/>
              <a:gd name="connsiteY2" fmla="*/ 18034 h 539750"/>
              <a:gd name="connsiteX3" fmla="*/ 707898 w 933450"/>
              <a:gd name="connsiteY3" fmla="*/ 18034 h 539750"/>
              <a:gd name="connsiteX4" fmla="*/ 707898 w 933450"/>
              <a:gd name="connsiteY4" fmla="*/ 278638 h 539750"/>
              <a:gd name="connsiteX5" fmla="*/ 941070 w 933450"/>
              <a:gd name="connsiteY5" fmla="*/ 278638 h 539750"/>
              <a:gd name="connsiteX6" fmla="*/ 474726 w 933450"/>
              <a:gd name="connsiteY6" fmla="*/ 540766 h 539750"/>
              <a:gd name="connsiteX7" fmla="*/ 8382 w 933450"/>
              <a:gd name="connsiteY7" fmla="*/ 278638 h 53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33450" h="539750">
                <a:moveTo>
                  <a:pt x="8382" y="278638"/>
                </a:moveTo>
                <a:lnTo>
                  <a:pt x="241554" y="278638"/>
                </a:lnTo>
                <a:lnTo>
                  <a:pt x="241554" y="18034"/>
                </a:lnTo>
                <a:lnTo>
                  <a:pt x="707898" y="18034"/>
                </a:lnTo>
                <a:lnTo>
                  <a:pt x="707898" y="278638"/>
                </a:lnTo>
                <a:lnTo>
                  <a:pt x="941070" y="278638"/>
                </a:lnTo>
                <a:lnTo>
                  <a:pt x="474726" y="540766"/>
                </a:lnTo>
                <a:lnTo>
                  <a:pt x="8382" y="27863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667">
            <a:solidFill>
              <a:srgbClr val="2E518D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2"/>
          <p:cNvSpPr txBox="1"/>
          <p:nvPr/>
        </p:nvSpPr>
        <p:spPr>
          <a:xfrm>
            <a:off x="379548" y="1201424"/>
            <a:ext cx="9067424" cy="52737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AI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预测分子性能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720"/>
              </a:lnSpc>
            </a:pPr>
            <a:endParaRPr lang="en-US" dirty="0" smtClean="0"/>
          </a:p>
          <a:p>
            <a:pPr marL="0" indent="202565">
              <a:lnSpc>
                <a:spcPct val="100000"/>
              </a:lnSpc>
            </a:pPr>
            <a:r>
              <a:rPr lang="en-US" altLang="zh-CN" sz="1750" spc="1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8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spc="4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清华大学的研究者利用自然语言理解技术阅读分子式，可以自动生成对分子式的语言描</a:t>
            </a:r>
            <a:endParaRPr lang="zh-CN" altLang="en-US" sz="1750" spc="4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03860">
              <a:lnSpc>
                <a:spcPct val="100000"/>
              </a:lnSpc>
            </a:pP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述，并判断分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子式或化学反应是否合理。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815"/>
              </a:lnSpc>
            </a:pPr>
            <a:endParaRPr lang="en-US" dirty="0" smtClean="0"/>
          </a:p>
          <a:p>
            <a:pPr marL="0" indent="202565">
              <a:lnSpc>
                <a:spcPct val="100000"/>
              </a:lnSpc>
            </a:pPr>
            <a:r>
              <a:rPr lang="en-US" altLang="zh-CN" sz="1750" spc="1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8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spc="4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他们首先把分子式转成一个序列，再将这一序列当成一种语言进行解读，即可得到对分</a:t>
            </a:r>
            <a:endParaRPr lang="zh-CN" altLang="en-US" sz="1750" spc="4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03860">
              <a:lnSpc>
                <a:spcPct val="100000"/>
              </a:lnSpc>
            </a:pP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子式或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化学反应的描述。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35"/>
              </a:lnSpc>
            </a:pPr>
            <a:endParaRPr lang="en-US" dirty="0" smtClean="0"/>
          </a:p>
          <a:p>
            <a:pPr marL="0" indent="5780405">
              <a:lnSpc>
                <a:spcPct val="100000"/>
              </a:lnSpc>
            </a:pPr>
            <a:r>
              <a:rPr lang="zh-CN" altLang="en-US" sz="1750" spc="109" dirty="0">
                <a:solidFill>
                  <a:srgbClr val="6F2E9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图中所示是一种抗</a:t>
            </a:r>
            <a:r>
              <a:rPr lang="zh-CN" altLang="en-US" sz="1750" spc="104" dirty="0">
                <a:solidFill>
                  <a:srgbClr val="6F2E9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炎羟基酸，</a:t>
            </a:r>
            <a:endParaRPr lang="zh-CN" altLang="en-US" sz="1750" spc="104" dirty="0">
              <a:solidFill>
                <a:srgbClr val="6F2E9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5780405">
              <a:lnSpc>
                <a:spcPct val="100000"/>
              </a:lnSpc>
            </a:pPr>
            <a:r>
              <a:rPr lang="zh-CN" altLang="en-US" sz="1750" spc="5" dirty="0">
                <a:solidFill>
                  <a:srgbClr val="6F2E9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具有阻碍</a:t>
            </a:r>
            <a:r>
              <a:rPr lang="zh-CN" altLang="en-US" sz="1750" dirty="0">
                <a:solidFill>
                  <a:srgbClr val="6F2E9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氨基酸复制的能力。</a:t>
            </a:r>
            <a:endParaRPr lang="zh-CN" altLang="en-US" sz="1750" dirty="0">
              <a:solidFill>
                <a:srgbClr val="6F2E9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TextBox 93"/>
          <p:cNvSpPr txBox="1"/>
          <p:nvPr/>
        </p:nvSpPr>
        <p:spPr>
          <a:xfrm>
            <a:off x="10235266" y="6428098"/>
            <a:ext cx="1704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17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7"/>
          <p:cNvSpPr txBox="1"/>
          <p:nvPr/>
        </p:nvSpPr>
        <p:spPr>
          <a:xfrm>
            <a:off x="379548" y="1201424"/>
            <a:ext cx="2580646" cy="6454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动作机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器人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TextBox 98"/>
          <p:cNvSpPr txBox="1"/>
          <p:nvPr/>
        </p:nvSpPr>
        <p:spPr>
          <a:xfrm>
            <a:off x="1897366" y="6252270"/>
            <a:ext cx="8622673" cy="352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32000"/>
              </a:lnSpc>
              <a:tabLst>
                <a:tab pos="8337550" algn="l"/>
              </a:tabLst>
            </a:pPr>
            <a:r>
              <a:rPr lang="zh-CN" altLang="en-US" sz="175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波士顿动力推出的机器狗，面对外力推搡时依然可以保持平衡。	</a:t>
            </a:r>
            <a:r>
              <a:rPr lang="zh-CN" altLang="en-US" sz="1050" spc="75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18</a:t>
            </a:r>
            <a:endParaRPr lang="zh-CN" altLang="en-US" sz="1050" spc="75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28954594596-1-192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69265" y="1036320"/>
            <a:ext cx="9753600" cy="548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19" y="1249680"/>
            <a:ext cx="8671559" cy="5379720"/>
          </a:xfrm>
          <a:prstGeom prst="rect">
            <a:avLst/>
          </a:prstGeom>
        </p:spPr>
      </p:pic>
      <p:sp>
        <p:nvSpPr>
          <p:cNvPr id="2" name="TextBox 101"/>
          <p:cNvSpPr txBox="1"/>
          <p:nvPr/>
        </p:nvSpPr>
        <p:spPr>
          <a:xfrm>
            <a:off x="379548" y="1201424"/>
            <a:ext cx="5269843" cy="6454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Google自</a:t>
            </a:r>
            <a:r>
              <a:rPr lang="zh-CN" altLang="en-US" sz="3850" spc="1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动抓取机器人</a:t>
            </a:r>
            <a:endParaRPr lang="zh-CN" altLang="en-US" sz="3850" spc="1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TextBox 102"/>
          <p:cNvSpPr txBox="1"/>
          <p:nvPr/>
        </p:nvSpPr>
        <p:spPr>
          <a:xfrm>
            <a:off x="2584651" y="6428098"/>
            <a:ext cx="7935388" cy="3767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41000"/>
              </a:lnSpc>
              <a:tabLst>
                <a:tab pos="7650480" algn="l"/>
              </a:tabLst>
            </a:pPr>
            <a:r>
              <a:rPr lang="zh-CN" altLang="en-US" sz="1750" spc="15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Google</a:t>
            </a:r>
            <a:r>
              <a:rPr lang="zh-CN" altLang="en-US" sz="1750" spc="4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的自动抓取机器人</a:t>
            </a:r>
            <a:r>
              <a:rPr lang="zh-CN" altLang="en-US" sz="1750" spc="44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1750" spc="34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可以从无到有学习抓取技巧	</a:t>
            </a:r>
            <a:r>
              <a:rPr lang="zh-CN" altLang="en-US" sz="1050" spc="75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endParaRPr lang="zh-CN" altLang="en-US" sz="1050" spc="75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2964180"/>
            <a:ext cx="9448800" cy="2689860"/>
          </a:xfrm>
          <a:prstGeom prst="rect">
            <a:avLst/>
          </a:prstGeom>
        </p:spPr>
      </p:pic>
      <p:sp>
        <p:nvSpPr>
          <p:cNvPr id="2" name="TextBox 108"/>
          <p:cNvSpPr txBox="1"/>
          <p:nvPr/>
        </p:nvSpPr>
        <p:spPr>
          <a:xfrm>
            <a:off x="379548" y="1201424"/>
            <a:ext cx="4975582" cy="11440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38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3850" spc="38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ayDreamer</a:t>
            </a:r>
            <a:endParaRPr lang="zh-CN" altLang="en-US" sz="3850" spc="384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615"/>
              </a:lnSpc>
            </a:pPr>
            <a:endParaRPr lang="en-US" dirty="0" smtClean="0"/>
          </a:p>
          <a:p>
            <a:pPr marL="0" indent="202565">
              <a:lnSpc>
                <a:spcPct val="110000"/>
              </a:lnSpc>
            </a:pPr>
            <a:r>
              <a:rPr lang="en-US" altLang="zh-CN" sz="1750" spc="1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4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spc="3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UCBerkley自主学习机器人，只需训练1个小时</a:t>
            </a:r>
            <a:endParaRPr lang="zh-CN" altLang="en-US" sz="1750" spc="34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" name="TextBox 109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1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" y="3398520"/>
            <a:ext cx="2971800" cy="1668780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720" y="2583180"/>
            <a:ext cx="6256020" cy="3528060"/>
          </a:xfrm>
          <a:prstGeom prst="rect">
            <a:avLst/>
          </a:prstGeom>
        </p:spPr>
      </p:pic>
      <p:sp>
        <p:nvSpPr>
          <p:cNvPr id="2" name="TextBox 114"/>
          <p:cNvSpPr txBox="1"/>
          <p:nvPr/>
        </p:nvSpPr>
        <p:spPr>
          <a:xfrm>
            <a:off x="379548" y="1201424"/>
            <a:ext cx="5756571" cy="11440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无人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机群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615"/>
              </a:lnSpc>
            </a:pPr>
            <a:endParaRPr lang="en-US" dirty="0" smtClean="0"/>
          </a:p>
          <a:p>
            <a:pPr marL="0" indent="202565">
              <a:lnSpc>
                <a:spcPct val="110000"/>
              </a:lnSpc>
            </a:pPr>
            <a:r>
              <a:rPr lang="en-US" altLang="zh-CN" sz="1750" dirty="0">
                <a:solidFill>
                  <a:srgbClr val="1E202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64" dirty="0">
                <a:solidFill>
                  <a:srgbClr val="1E202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dirty="0">
                <a:solidFill>
                  <a:srgbClr val="1E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无人机已经在勘探、救援、航拍甚至战场上大显身手。</a:t>
            </a:r>
            <a:endParaRPr lang="zh-CN" altLang="en-US" sz="1750" dirty="0">
              <a:solidFill>
                <a:srgbClr val="1E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5" name="TextBox 115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22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3878579"/>
            <a:ext cx="4945380" cy="2727960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460" y="2011680"/>
            <a:ext cx="3596640" cy="3848100"/>
          </a:xfrm>
          <a:prstGeom prst="rect">
            <a:avLst/>
          </a:prstGeom>
        </p:spPr>
      </p:pic>
      <p:sp>
        <p:nvSpPr>
          <p:cNvPr id="2" name="TextBox 120"/>
          <p:cNvSpPr txBox="1"/>
          <p:nvPr/>
        </p:nvSpPr>
        <p:spPr>
          <a:xfrm>
            <a:off x="379548" y="1201424"/>
            <a:ext cx="5454400" cy="24786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AI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帮助天文学家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775"/>
              </a:lnSpc>
            </a:pPr>
            <a:endParaRPr lang="en-US" dirty="0" smtClean="0"/>
          </a:p>
          <a:p>
            <a:pPr marL="403860" indent="-201295" hangingPunct="0">
              <a:lnSpc>
                <a:spcPct val="100000"/>
              </a:lnSpc>
            </a:pPr>
            <a:r>
              <a:rPr lang="en-US" altLang="zh-CN" sz="2100" spc="34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2100" spc="35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zh-CN" altLang="en-US" sz="2100" spc="10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座落在贵州的“中国天眼”大型射电望</a:t>
            </a:r>
            <a:br>
              <a:rPr lang="zh-CN" altLang="en-US" sz="2100" spc="10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100" spc="14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远镜每天瞭望星空，产生150</a:t>
            </a:r>
            <a:r>
              <a:rPr lang="zh-CN" altLang="en-US" sz="2100" spc="13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TB的数据，</a:t>
            </a:r>
            <a:r>
              <a:rPr lang="zh-CN" altLang="en-US" sz="2100" spc="10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已经超出了人可以理解的范围。人</a:t>
            </a:r>
            <a:r>
              <a:rPr lang="zh-CN" altLang="en-US" sz="2100" spc="10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工智</a:t>
            </a:r>
            <a:br>
              <a:rPr lang="zh-CN" altLang="en-US" sz="2100" spc="10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100" spc="109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能技术可以帮助科学家们</a:t>
            </a:r>
            <a:r>
              <a:rPr lang="zh-CN" altLang="en-US" sz="2100" spc="10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从这些海量数</a:t>
            </a:r>
            <a:endParaRPr lang="zh-CN" altLang="en-US" sz="2100" spc="104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03860">
              <a:lnSpc>
                <a:spcPct val="100000"/>
              </a:lnSpc>
            </a:pPr>
            <a:r>
              <a:rPr lang="zh-CN" altLang="en-US" sz="210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据中发</a:t>
            </a:r>
            <a:r>
              <a:rPr lang="zh-CN" altLang="en-US" sz="2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现未知的宇宙奥秘。</a:t>
            </a:r>
            <a:endParaRPr lang="zh-CN" altLang="en-US" sz="21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1" name="TextBox 121"/>
          <p:cNvSpPr txBox="1"/>
          <p:nvPr/>
        </p:nvSpPr>
        <p:spPr>
          <a:xfrm>
            <a:off x="5943579" y="5986970"/>
            <a:ext cx="4227158" cy="4907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600" spc="-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科学</a:t>
            </a:r>
            <a:r>
              <a:rPr lang="zh-CN" altLang="en-US" sz="1600" spc="-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家用人工智能的方法模拟宇宙的演化，包括</a:t>
            </a:r>
            <a:endParaRPr lang="zh-CN" altLang="en-US" sz="1600" spc="-2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>
              <a:lnSpc>
                <a:spcPct val="100000"/>
              </a:lnSpc>
            </a:pPr>
            <a:r>
              <a:rPr lang="zh-CN" altLang="en-US" sz="1600" spc="-2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星系</a:t>
            </a:r>
            <a:r>
              <a:rPr lang="zh-CN" altLang="en-US" sz="1600" spc="-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的生成和暗物质的分布，得到极高精度。</a:t>
            </a:r>
            <a:endParaRPr lang="zh-CN" altLang="en-US" sz="1600" spc="-2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" name="TextBox 122"/>
          <p:cNvSpPr txBox="1"/>
          <p:nvPr/>
        </p:nvSpPr>
        <p:spPr>
          <a:xfrm>
            <a:off x="10235266" y="6428098"/>
            <a:ext cx="1704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23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8780" y="2011680"/>
            <a:ext cx="4632960" cy="4632960"/>
          </a:xfrm>
          <a:prstGeom prst="rect">
            <a:avLst/>
          </a:prstGeom>
        </p:spPr>
      </p:pic>
      <p:sp>
        <p:nvSpPr>
          <p:cNvPr id="2" name="TextBox 126"/>
          <p:cNvSpPr txBox="1"/>
          <p:nvPr/>
        </p:nvSpPr>
        <p:spPr>
          <a:xfrm>
            <a:off x="379548" y="1201424"/>
            <a:ext cx="5163697" cy="45148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显微镜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775"/>
              </a:lnSpc>
            </a:pPr>
            <a:endParaRPr lang="en-US" dirty="0" smtClean="0"/>
          </a:p>
          <a:p>
            <a:pPr marL="403860" indent="-201295" hangingPunct="0">
              <a:lnSpc>
                <a:spcPct val="100000"/>
              </a:lnSpc>
            </a:pPr>
            <a:r>
              <a:rPr lang="en-US" altLang="zh-CN" sz="2100" spc="3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2100" spc="37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zh-CN" altLang="en-US" sz="2100" spc="9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中国科学院生物物理研究所、清华大</a:t>
            </a:r>
            <a:br>
              <a:rPr lang="zh-CN" altLang="en-US" sz="2100" spc="9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100" spc="10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学、</a:t>
            </a:r>
            <a:r>
              <a:rPr lang="zh-CN" altLang="en-US" sz="2100" spc="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美国霍华德休斯医学研究所的研</a:t>
            </a:r>
            <a:br>
              <a:rPr lang="zh-CN" altLang="en-US" sz="2100" spc="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100" spc="10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究者</a:t>
            </a:r>
            <a:r>
              <a:rPr lang="zh-CN" altLang="en-US" sz="2100" spc="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利用人工智能来增强显微镜的能</a:t>
            </a:r>
            <a:br>
              <a:rPr lang="zh-CN" altLang="en-US" sz="2100" spc="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100" spc="10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力，</a:t>
            </a:r>
            <a:r>
              <a:rPr lang="zh-CN" altLang="en-US" sz="2100" spc="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可以清楚地观察到细胞的生长过</a:t>
            </a:r>
            <a:br>
              <a:rPr lang="zh-CN" altLang="en-US" sz="2100" spc="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100" spc="-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程。</a:t>
            </a:r>
            <a:endParaRPr lang="zh-CN" altLang="en-US" sz="2100" spc="-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855"/>
              </a:lnSpc>
            </a:pPr>
            <a:endParaRPr lang="en-US" dirty="0" smtClean="0"/>
          </a:p>
          <a:p>
            <a:pPr marL="403860" indent="-201295" hangingPunct="0">
              <a:lnSpc>
                <a:spcPct val="100000"/>
              </a:lnSpc>
            </a:pPr>
            <a:r>
              <a:rPr lang="en-US" altLang="zh-CN" sz="2100" spc="34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2100" spc="35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zh-CN" altLang="en-US" sz="2100" spc="9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这种AI显微镜将光学图片进行学习，</a:t>
            </a:r>
            <a:br>
              <a:rPr lang="zh-CN" altLang="en-US" sz="2100" spc="9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100" spc="10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找到图片底层的构造规律，通过</a:t>
            </a:r>
            <a:r>
              <a:rPr lang="zh-CN" altLang="en-US" sz="2100" spc="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这些</a:t>
            </a:r>
            <a:br>
              <a:rPr lang="zh-CN" altLang="en-US" sz="2100" spc="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100" spc="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规律可</a:t>
            </a:r>
            <a:r>
              <a:rPr lang="zh-CN" altLang="en-US" sz="2100" spc="9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以从不清晰的光学图片中“猜”</a:t>
            </a:r>
            <a:r>
              <a:rPr lang="zh-CN" altLang="en-US" sz="2100" spc="10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出背后的高清图像。虽然这些猜</a:t>
            </a:r>
            <a:r>
              <a:rPr lang="zh-CN" altLang="en-US" sz="2100" spc="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测可</a:t>
            </a:r>
            <a:br>
              <a:rPr lang="zh-CN" altLang="en-US" sz="2100" spc="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100" spc="10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能有一些不真实的成本</a:t>
            </a:r>
            <a:r>
              <a:rPr lang="zh-CN" altLang="en-US" sz="2100" spc="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，但总可以向</a:t>
            </a:r>
            <a:endParaRPr lang="zh-CN" altLang="en-US" sz="2100" spc="1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03860">
              <a:lnSpc>
                <a:spcPct val="100000"/>
              </a:lnSpc>
            </a:pPr>
            <a:r>
              <a:rPr lang="zh-CN" altLang="en-US" sz="210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人们揭</a:t>
            </a:r>
            <a:r>
              <a:rPr lang="zh-CN" altLang="en-US" sz="2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示大量的真实细节。</a:t>
            </a:r>
            <a:endParaRPr lang="zh-CN" altLang="en-US" sz="21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7" name="TextBox 127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24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2620" y="3268979"/>
            <a:ext cx="6408420" cy="3528060"/>
          </a:xfrm>
          <a:prstGeom prst="rect">
            <a:avLst/>
          </a:prstGeom>
        </p:spPr>
      </p:pic>
      <p:sp>
        <p:nvSpPr>
          <p:cNvPr id="2" name="TextBox 131"/>
          <p:cNvSpPr txBox="1"/>
          <p:nvPr/>
        </p:nvSpPr>
        <p:spPr>
          <a:xfrm>
            <a:off x="379548" y="1201424"/>
            <a:ext cx="9503532" cy="24284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帮助化学家预</a:t>
            </a:r>
            <a:r>
              <a:rPr lang="zh-CN" altLang="en-US" sz="38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测蛋的质结构</a:t>
            </a:r>
            <a:endParaRPr lang="zh-CN" altLang="en-US" sz="3850" spc="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615"/>
              </a:lnSpc>
            </a:pPr>
            <a:endParaRPr lang="en-US" dirty="0" smtClean="0"/>
          </a:p>
          <a:p>
            <a:pPr marL="0" indent="202565">
              <a:lnSpc>
                <a:spcPct val="110000"/>
              </a:lnSpc>
            </a:pPr>
            <a:r>
              <a:rPr lang="en-US" altLang="zh-CN" sz="17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8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蛋白质的空间结构是由构成它的氨基酸链折叠而成的，这一结构决定了蛋白质的基础功能。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770"/>
              </a:lnSpc>
            </a:pPr>
            <a:endParaRPr lang="en-US" dirty="0" smtClean="0"/>
          </a:p>
          <a:p>
            <a:pPr marL="0" indent="202565">
              <a:lnSpc>
                <a:spcPct val="100000"/>
              </a:lnSpc>
            </a:pPr>
            <a:r>
              <a:rPr lang="en-US" altLang="zh-CN" sz="1750" spc="2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6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spc="7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英国DeepMind的研究者利用深度神经网络来预测蛋白质的空间结构，精度达到一个原子的</a:t>
            </a:r>
            <a:endParaRPr lang="zh-CN" altLang="en-US" sz="1750" spc="7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03860">
              <a:lnSpc>
                <a:spcPct val="100000"/>
              </a:lnSpc>
            </a:pPr>
            <a:r>
              <a:rPr lang="zh-CN" altLang="en-US" sz="1750" spc="-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尺度。</a:t>
            </a:r>
            <a:endParaRPr lang="zh-CN" altLang="en-US" sz="1750" spc="-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835"/>
              </a:lnSpc>
            </a:pPr>
            <a:endParaRPr lang="en-US" dirty="0" smtClean="0"/>
          </a:p>
          <a:p>
            <a:pPr marL="0" indent="202565">
              <a:lnSpc>
                <a:spcPct val="100000"/>
              </a:lnSpc>
            </a:pPr>
            <a:r>
              <a:rPr lang="en-US" altLang="zh-CN" sz="1750" spc="1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spc="4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这一技术改变了分子生物学，以往人们需要花十年时间完成的空间测量，现在只需几分钟就</a:t>
            </a:r>
            <a:endParaRPr lang="zh-CN" altLang="en-US" sz="1750" spc="4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03860">
              <a:lnSpc>
                <a:spcPct val="100000"/>
              </a:lnSpc>
            </a:pP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以完成了。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2" name="TextBox 132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25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1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120" y="3688079"/>
            <a:ext cx="1798320" cy="1790700"/>
          </a:xfrm>
          <a:prstGeom prst="rect">
            <a:avLst/>
          </a:prstGeom>
        </p:spPr>
      </p:pic>
      <p:pic>
        <p:nvPicPr>
          <p:cNvPr id="137" name="Picture 1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79" y="3764279"/>
            <a:ext cx="1638300" cy="1638300"/>
          </a:xfrm>
          <a:prstGeom prst="rect">
            <a:avLst/>
          </a:prstGeom>
        </p:spPr>
      </p:pic>
      <p:pic>
        <p:nvPicPr>
          <p:cNvPr id="138" name="Picture 1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180" y="3688079"/>
            <a:ext cx="1813560" cy="1813560"/>
          </a:xfrm>
          <a:prstGeom prst="rect">
            <a:avLst/>
          </a:prstGeom>
        </p:spPr>
      </p:pic>
      <p:pic>
        <p:nvPicPr>
          <p:cNvPr id="139" name="Picture 1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5660" y="4259579"/>
            <a:ext cx="906780" cy="876300"/>
          </a:xfrm>
          <a:prstGeom prst="rect">
            <a:avLst/>
          </a:prstGeom>
        </p:spPr>
      </p:pic>
      <p:pic>
        <p:nvPicPr>
          <p:cNvPr id="140" name="Picture 1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420" y="4259579"/>
            <a:ext cx="922019" cy="876300"/>
          </a:xfrm>
          <a:prstGeom prst="rect">
            <a:avLst/>
          </a:prstGeom>
        </p:spPr>
      </p:pic>
      <p:sp>
        <p:nvSpPr>
          <p:cNvPr id="2" name="TextBox 140"/>
          <p:cNvSpPr txBox="1"/>
          <p:nvPr/>
        </p:nvSpPr>
        <p:spPr>
          <a:xfrm>
            <a:off x="379548" y="1201424"/>
            <a:ext cx="9269900" cy="16302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工智能技术快速发展的原因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5"/>
              </a:lnSpc>
            </a:pPr>
            <a:endParaRPr lang="en-US" dirty="0" smtClean="0"/>
          </a:p>
          <a:p>
            <a:pPr marL="0" indent="202565">
              <a:lnSpc>
                <a:spcPct val="110000"/>
              </a:lnSpc>
            </a:pPr>
            <a:r>
              <a:rPr lang="en-US" altLang="zh-CN" sz="1750" spc="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3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总结起来，当前人工智能发展可以归因于三个主要因素：海量的数据积累+强大的计算能力</a:t>
            </a:r>
            <a:endParaRPr lang="zh-CN" altLang="en-US" sz="1750" spc="1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845"/>
              </a:lnSpc>
            </a:pPr>
            <a:endParaRPr lang="en-US" dirty="0" smtClean="0"/>
          </a:p>
          <a:p>
            <a:pPr marL="0" indent="403860">
              <a:lnSpc>
                <a:spcPct val="110000"/>
              </a:lnSpc>
            </a:pPr>
            <a:r>
              <a:rPr lang="zh-CN" altLang="en-US" sz="1750" spc="5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+深度学习算</a:t>
            </a:r>
            <a:r>
              <a:rPr lang="zh-CN" altLang="en-US" sz="1750" spc="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法。</a:t>
            </a:r>
            <a:endParaRPr lang="zh-CN" altLang="en-US" sz="1750" spc="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1" name="TextBox 141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Picture 1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5020" y="2087880"/>
            <a:ext cx="3474720" cy="3474720"/>
          </a:xfrm>
          <a:prstGeom prst="rect">
            <a:avLst/>
          </a:prstGeom>
        </p:spPr>
      </p:pic>
      <p:sp>
        <p:nvSpPr>
          <p:cNvPr id="2" name="TextBox 147"/>
          <p:cNvSpPr txBox="1"/>
          <p:nvPr/>
        </p:nvSpPr>
        <p:spPr>
          <a:xfrm>
            <a:off x="379548" y="1201424"/>
            <a:ext cx="5004509" cy="4257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总结</a:t>
            </a:r>
            <a:endParaRPr lang="zh-CN" altLang="en-US" sz="3850" spc="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5"/>
              </a:lnSpc>
            </a:pPr>
            <a:endParaRPr lang="en-US" dirty="0" smtClean="0"/>
          </a:p>
          <a:p>
            <a:pPr marL="403860" indent="-201295" hangingPunct="0">
              <a:lnSpc>
                <a:spcPct val="150000"/>
              </a:lnSpc>
            </a:pPr>
            <a:r>
              <a:rPr lang="en-US" altLang="zh-CN" sz="1750" spc="1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2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spc="5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人工智能蓬勃发展，不仅在传统人工智能领域</a:t>
            </a:r>
            <a:r>
              <a:rPr lang="zh-CN" altLang="en-US" sz="1750" spc="5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取得突破性进展，而且扩展到生物、</a:t>
            </a:r>
            <a:r>
              <a:rPr lang="zh-CN" altLang="en-US" sz="1750" spc="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化学、天</a:t>
            </a:r>
            <a:r>
              <a:rPr lang="zh-CN" altLang="en-US" sz="1750" spc="5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文学、医学甚至文学艺术等各个领域</a:t>
            </a:r>
            <a:r>
              <a:rPr lang="zh-CN" altLang="en-US" sz="1750" spc="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，引发了</a:t>
            </a: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新一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轮技术革命。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895"/>
              </a:lnSpc>
            </a:pPr>
            <a:endParaRPr lang="en-US" dirty="0" smtClean="0"/>
          </a:p>
          <a:p>
            <a:pPr marL="0" indent="202565">
              <a:lnSpc>
                <a:spcPct val="110000"/>
              </a:lnSpc>
            </a:pPr>
            <a:r>
              <a:rPr lang="en-US" altLang="zh-CN" sz="1750" spc="2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4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spc="5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这一发展得益于数据的积累，计算能力的提高</a:t>
            </a:r>
            <a:endParaRPr lang="zh-CN" altLang="en-US" sz="1750" spc="5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845"/>
              </a:lnSpc>
            </a:pPr>
            <a:endParaRPr lang="en-US" dirty="0" smtClean="0"/>
          </a:p>
          <a:p>
            <a:pPr marL="0" indent="403860">
              <a:lnSpc>
                <a:spcPct val="110000"/>
              </a:lnSpc>
            </a:pP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和新的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学习方法的应用。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720"/>
              </a:lnSpc>
            </a:pPr>
            <a:endParaRPr lang="en-US" dirty="0" smtClean="0"/>
          </a:p>
          <a:p>
            <a:pPr marL="0" indent="202565">
              <a:lnSpc>
                <a:spcPct val="110000"/>
              </a:lnSpc>
            </a:pPr>
            <a:r>
              <a:rPr lang="en-US" altLang="zh-CN" sz="1750" spc="2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4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spc="5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学习人工智能，不仅是学习这门学科本身，更</a:t>
            </a:r>
            <a:endParaRPr lang="zh-CN" altLang="en-US" sz="1750" spc="5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845"/>
              </a:lnSpc>
            </a:pPr>
            <a:endParaRPr lang="en-US" dirty="0" smtClean="0"/>
          </a:p>
          <a:p>
            <a:pPr marL="0" indent="403860">
              <a:lnSpc>
                <a:spcPct val="110000"/>
              </a:lnSpc>
            </a:pP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重要的是为未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来从事各个行业打好基础。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8" name="TextBox 148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28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Picture 1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3220" y="3040380"/>
            <a:ext cx="4884420" cy="3489960"/>
          </a:xfrm>
          <a:prstGeom prst="rect">
            <a:avLst/>
          </a:prstGeom>
        </p:spPr>
      </p:pic>
      <p:sp>
        <p:nvSpPr>
          <p:cNvPr id="2" name="TextBox 157"/>
          <p:cNvSpPr txBox="1"/>
          <p:nvPr/>
        </p:nvSpPr>
        <p:spPr>
          <a:xfrm>
            <a:off x="379548" y="1201424"/>
            <a:ext cx="9496153" cy="16302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3850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动动</a:t>
            </a:r>
            <a:r>
              <a:rPr lang="zh-CN" altLang="en-US" sz="3850" spc="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脑筋</a:t>
            </a:r>
            <a:endParaRPr lang="zh-CN" altLang="en-US" sz="3850" spc="1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5"/>
              </a:lnSpc>
            </a:pPr>
            <a:endParaRPr lang="en-US" dirty="0" smtClean="0"/>
          </a:p>
          <a:p>
            <a:pPr marL="0" indent="202565">
              <a:lnSpc>
                <a:spcPct val="110000"/>
              </a:lnSpc>
            </a:pPr>
            <a:r>
              <a:rPr lang="en-US" altLang="zh-CN" sz="1750" spc="1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•</a:t>
            </a:r>
            <a:r>
              <a:rPr lang="en-US" altLang="zh-CN" sz="1750" spc="8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zh-CN" altLang="en-US" sz="1750" spc="34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人工智能已经融入到我们的生活之中，如便捷的刷脸支付，帮我们扫地的机器人。想一想，</a:t>
            </a:r>
            <a:endParaRPr lang="zh-CN" altLang="en-US" sz="1750" spc="34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845"/>
              </a:lnSpc>
            </a:pPr>
            <a:endParaRPr lang="en-US" dirty="0" smtClean="0"/>
          </a:p>
          <a:p>
            <a:pPr marL="0" indent="405130">
              <a:lnSpc>
                <a:spcPct val="110000"/>
              </a:lnSpc>
            </a:pPr>
            <a:r>
              <a:rPr lang="zh-CN" altLang="en-US" sz="1750" spc="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你身边还哪</a:t>
            </a:r>
            <a:r>
              <a:rPr lang="zh-CN" altLang="en-US" sz="17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些有趣的人工智能设备？</a:t>
            </a:r>
            <a:endParaRPr lang="zh-CN" altLang="en-US" sz="17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8" name="TextBox 158"/>
          <p:cNvSpPr txBox="1"/>
          <p:nvPr/>
        </p:nvSpPr>
        <p:spPr>
          <a:xfrm>
            <a:off x="10235266" y="6428098"/>
            <a:ext cx="284773" cy="17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000"/>
              </a:lnSpc>
            </a:pPr>
            <a:r>
              <a:rPr lang="zh-CN" altLang="en-US" sz="1050" spc="89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</a:t>
            </a:r>
            <a:endParaRPr lang="zh-CN" altLang="en-US" sz="1050" spc="89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4847</Words>
  <Application>WPS 演示</Application>
  <PresentationFormat>On-screen Show (4:3)</PresentationFormat>
  <Paragraphs>577</Paragraphs>
  <Slides>50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9" baseType="lpstr">
      <vt:lpstr>Arial</vt:lpstr>
      <vt:lpstr>宋体</vt:lpstr>
      <vt:lpstr>Wingdings</vt:lpstr>
      <vt:lpstr>Arial</vt:lpstr>
      <vt:lpstr>Times New Roman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MR</cp:lastModifiedBy>
  <cp:revision>5</cp:revision>
  <dcterms:created xsi:type="dcterms:W3CDTF">2011-01-21T15:00:00Z</dcterms:created>
  <dcterms:modified xsi:type="dcterms:W3CDTF">2025-07-21T16:10:57Z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400D44A104AA47578B4EB7D9626F92C3_12</vt:lpwstr>
  </property>
  <property fmtid="{D5CDD505-2E9C-101B-9397-08002B2CF9AE}" pid="3" name="KSOProductBuildVer">
    <vt:lpwstr>2052-12.8.2.18205</vt:lpwstr>
  </property>
</Properties>
</file>